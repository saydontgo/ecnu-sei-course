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67"/>
  </p:notesMasterIdLst>
  <p:sldIdLst>
    <p:sldId id="4261" r:id="rId2"/>
    <p:sldId id="783" r:id="rId3"/>
    <p:sldId id="798" r:id="rId4"/>
    <p:sldId id="4280" r:id="rId5"/>
    <p:sldId id="15667" r:id="rId6"/>
    <p:sldId id="789" r:id="rId7"/>
    <p:sldId id="799" r:id="rId8"/>
    <p:sldId id="800" r:id="rId9"/>
    <p:sldId id="801" r:id="rId10"/>
    <p:sldId id="802" r:id="rId11"/>
    <p:sldId id="805" r:id="rId12"/>
    <p:sldId id="4279" r:id="rId13"/>
    <p:sldId id="784" r:id="rId14"/>
    <p:sldId id="785" r:id="rId15"/>
    <p:sldId id="786" r:id="rId16"/>
    <p:sldId id="806" r:id="rId17"/>
    <p:sldId id="791" r:id="rId18"/>
    <p:sldId id="792" r:id="rId19"/>
    <p:sldId id="793" r:id="rId20"/>
    <p:sldId id="686" r:id="rId21"/>
    <p:sldId id="687" r:id="rId22"/>
    <p:sldId id="688" r:id="rId23"/>
    <p:sldId id="689" r:id="rId24"/>
    <p:sldId id="690" r:id="rId25"/>
    <p:sldId id="691" r:id="rId26"/>
    <p:sldId id="808" r:id="rId27"/>
    <p:sldId id="810" r:id="rId28"/>
    <p:sldId id="811" r:id="rId29"/>
    <p:sldId id="812" r:id="rId30"/>
    <p:sldId id="813" r:id="rId31"/>
    <p:sldId id="814" r:id="rId32"/>
    <p:sldId id="815" r:id="rId33"/>
    <p:sldId id="816" r:id="rId34"/>
    <p:sldId id="817" r:id="rId35"/>
    <p:sldId id="818" r:id="rId36"/>
    <p:sldId id="787" r:id="rId37"/>
    <p:sldId id="788" r:id="rId38"/>
    <p:sldId id="820" r:id="rId39"/>
    <p:sldId id="821" r:id="rId40"/>
    <p:sldId id="822" r:id="rId41"/>
    <p:sldId id="823" r:id="rId42"/>
    <p:sldId id="824" r:id="rId43"/>
    <p:sldId id="825" r:id="rId44"/>
    <p:sldId id="826" r:id="rId45"/>
    <p:sldId id="827" r:id="rId46"/>
    <p:sldId id="828" r:id="rId47"/>
    <p:sldId id="693" r:id="rId48"/>
    <p:sldId id="15686" r:id="rId49"/>
    <p:sldId id="15687" r:id="rId50"/>
    <p:sldId id="15688" r:id="rId51"/>
    <p:sldId id="860" r:id="rId52"/>
    <p:sldId id="15672" r:id="rId53"/>
    <p:sldId id="15673" r:id="rId54"/>
    <p:sldId id="15674" r:id="rId55"/>
    <p:sldId id="15675" r:id="rId56"/>
    <p:sldId id="15676" r:id="rId57"/>
    <p:sldId id="15677" r:id="rId58"/>
    <p:sldId id="15678" r:id="rId59"/>
    <p:sldId id="15679" r:id="rId60"/>
    <p:sldId id="15680" r:id="rId61"/>
    <p:sldId id="15685" r:id="rId62"/>
    <p:sldId id="15682" r:id="rId63"/>
    <p:sldId id="15683" r:id="rId64"/>
    <p:sldId id="15684" r:id="rId65"/>
    <p:sldId id="4278" r:id="rId6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FDBE"/>
    <a:srgbClr val="DCFDAB"/>
    <a:srgbClr val="FFAAA9"/>
    <a:srgbClr val="DBFDAA"/>
    <a:srgbClr val="FFE1E1"/>
    <a:srgbClr val="ECE5F7"/>
    <a:srgbClr val="E1D6F2"/>
    <a:srgbClr val="DCFDAD"/>
    <a:srgbClr val="D4C5EC"/>
    <a:srgbClr val="FFDA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57" autoAdjust="0"/>
    <p:restoredTop sz="89333" autoAdjust="0"/>
  </p:normalViewPr>
  <p:slideViewPr>
    <p:cSldViewPr snapToGrid="0">
      <p:cViewPr varScale="1">
        <p:scale>
          <a:sx n="98" d="100"/>
          <a:sy n="98" d="100"/>
        </p:scale>
        <p:origin x="2046" y="90"/>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2.wmf"/><Relationship Id="rId7" Type="http://schemas.openxmlformats.org/officeDocument/2006/relationships/image" Target="../media/image66.wmf"/><Relationship Id="rId2" Type="http://schemas.openxmlformats.org/officeDocument/2006/relationships/image" Target="../media/image61.wmf"/><Relationship Id="rId1" Type="http://schemas.openxmlformats.org/officeDocument/2006/relationships/image" Target="../media/image60.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 Id="rId9" Type="http://schemas.openxmlformats.org/officeDocument/2006/relationships/image" Target="../media/image68.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 Id="rId9" Type="http://schemas.openxmlformats.org/officeDocument/2006/relationships/image" Target="../media/image7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89.wmf"/><Relationship Id="rId1" Type="http://schemas.openxmlformats.org/officeDocument/2006/relationships/image" Target="../media/image88.wmf"/><Relationship Id="rId4" Type="http://schemas.openxmlformats.org/officeDocument/2006/relationships/image" Target="../media/image9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t>2025/10/28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t>‹#›</a:t>
            </a:fld>
            <a:endParaRPr lang="zh-CN" altLang="en-US"/>
          </a:p>
        </p:txBody>
      </p:sp>
    </p:spTree>
    <p:extLst>
      <p:ext uri="{BB962C8B-B14F-4D97-AF65-F5344CB8AC3E}">
        <p14:creationId xmlns:p14="http://schemas.microsoft.com/office/powerpoint/2010/main" val="208239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0000" y="728663"/>
            <a:ext cx="4778375" cy="3584575"/>
          </a:xfrm>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2049674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0000" y="728663"/>
            <a:ext cx="4778375" cy="3584575"/>
          </a:xfrm>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204967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0000" y="728663"/>
            <a:ext cx="4778375" cy="3584575"/>
          </a:xfrm>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181404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0000" y="728663"/>
            <a:ext cx="4778375" cy="3584575"/>
          </a:xfrm>
        </p:spPr>
      </p:sp>
      <p:sp>
        <p:nvSpPr>
          <p:cNvPr id="3" name="备注占位符 2"/>
          <p:cNvSpPr>
            <a:spLocks noGrp="1"/>
          </p:cNvSpPr>
          <p:nvPr>
            <p:ph type="body" idx="1"/>
          </p:nvPr>
        </p:nvSpPr>
        <p:spPr/>
        <p:txBody>
          <a:bodyPr/>
          <a:lstStyle/>
          <a:p>
            <a:pPr marL="0" marR="0" indent="0" algn="l" defTabSz="963613" rtl="0" eaLnBrk="0" fontAlgn="base" latinLnBrk="0" hangingPunct="0">
              <a:lnSpc>
                <a:spcPct val="100000"/>
              </a:lnSpc>
              <a:spcBef>
                <a:spcPct val="30000"/>
              </a:spcBef>
              <a:spcAft>
                <a:spcPct val="0"/>
              </a:spcAft>
              <a:buClrTx/>
              <a:buSzTx/>
              <a:buFontTx/>
              <a:buNone/>
              <a:tabLst/>
              <a:defRPr/>
            </a:pPr>
            <a:endParaRPr lang="en-US" altLang="zh-CN" sz="1200" b="0" dirty="0">
              <a:latin typeface="华文细黑" pitchFamily="2" charset="-122"/>
              <a:ea typeface="华文细黑" pitchFamily="2" charset="-122"/>
            </a:endParaRPr>
          </a:p>
        </p:txBody>
      </p:sp>
    </p:spTree>
    <p:extLst>
      <p:ext uri="{BB962C8B-B14F-4D97-AF65-F5344CB8AC3E}">
        <p14:creationId xmlns:p14="http://schemas.microsoft.com/office/powerpoint/2010/main" val="181404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0000" y="728663"/>
            <a:ext cx="4778375" cy="3584575"/>
          </a:xfrm>
        </p:spPr>
      </p:sp>
      <p:sp>
        <p:nvSpPr>
          <p:cNvPr id="3" name="备注占位符 2"/>
          <p:cNvSpPr>
            <a:spLocks noGrp="1"/>
          </p:cNvSpPr>
          <p:nvPr>
            <p:ph type="body" idx="1"/>
          </p:nvPr>
        </p:nvSpPr>
        <p:spPr/>
        <p:txBody>
          <a:bodyPr/>
          <a:lstStyle/>
          <a:p>
            <a:endParaRPr/>
          </a:p>
        </p:txBody>
      </p:sp>
    </p:spTree>
    <p:extLst>
      <p:ext uri="{BB962C8B-B14F-4D97-AF65-F5344CB8AC3E}">
        <p14:creationId xmlns:p14="http://schemas.microsoft.com/office/powerpoint/2010/main" val="181404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0000" y="728663"/>
            <a:ext cx="4778375" cy="3584575"/>
          </a:xfrm>
        </p:spPr>
      </p:sp>
      <p:sp>
        <p:nvSpPr>
          <p:cNvPr id="3" name="备注占位符 2"/>
          <p:cNvSpPr>
            <a:spLocks noGrp="1"/>
          </p:cNvSpPr>
          <p:nvPr>
            <p:ph type="body" idx="1"/>
          </p:nvPr>
        </p:nvSpPr>
        <p:spPr/>
        <p:txBody>
          <a:bodyPr/>
          <a:lstStyle/>
          <a:p>
            <a:pPr marL="0" marR="0" indent="0" algn="l" defTabSz="963613" rtl="0" eaLnBrk="0" fontAlgn="base" latinLnBrk="0" hangingPunct="0">
              <a:lnSpc>
                <a:spcPct val="100000"/>
              </a:lnSpc>
              <a:spcBef>
                <a:spcPct val="30000"/>
              </a:spcBef>
              <a:spcAft>
                <a:spcPct val="0"/>
              </a:spcAft>
              <a:buClrTx/>
              <a:buSzTx/>
              <a:buFontTx/>
              <a:buNone/>
              <a:tabLst/>
              <a:defRPr/>
            </a:pPr>
            <a:endParaRPr lang="en-US" altLang="zh-CN" sz="1200" b="0" dirty="0">
              <a:latin typeface="华文细黑" pitchFamily="2" charset="-122"/>
              <a:ea typeface="华文细黑" pitchFamily="2" charset="-122"/>
            </a:endParaRPr>
          </a:p>
        </p:txBody>
      </p:sp>
    </p:spTree>
    <p:extLst>
      <p:ext uri="{BB962C8B-B14F-4D97-AF65-F5344CB8AC3E}">
        <p14:creationId xmlns:p14="http://schemas.microsoft.com/office/powerpoint/2010/main" val="181404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3004129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63613"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Arial" pitchFamily="34" charset="0"/>
              <a:ea typeface="+mn-ea"/>
              <a:cs typeface="+mn-cs"/>
            </a:endParaRPr>
          </a:p>
        </p:txBody>
      </p:sp>
    </p:spTree>
    <p:extLst>
      <p:ext uri="{BB962C8B-B14F-4D97-AF65-F5344CB8AC3E}">
        <p14:creationId xmlns:p14="http://schemas.microsoft.com/office/powerpoint/2010/main" val="3898501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63613" rtl="0" eaLnBrk="0" fontAlgn="base" latinLnBrk="0" hangingPunct="0">
              <a:lnSpc>
                <a:spcPct val="100000"/>
              </a:lnSpc>
              <a:spcBef>
                <a:spcPct val="30000"/>
              </a:spcBef>
              <a:spcAft>
                <a:spcPct val="0"/>
              </a:spcAft>
              <a:buClrTx/>
              <a:buSzTx/>
              <a:buFontTx/>
              <a:buNone/>
              <a:tabLst/>
              <a:defRPr/>
            </a:pPr>
            <a:endParaRPr lang="en-US" altLang="zh-CN" dirty="0">
              <a:latin typeface="Times New Roman" pitchFamily="18" charset="0"/>
              <a:cs typeface="Times New Roman" pitchFamily="18" charset="0"/>
            </a:endParaRPr>
          </a:p>
        </p:txBody>
      </p:sp>
    </p:spTree>
    <p:extLst>
      <p:ext uri="{BB962C8B-B14F-4D97-AF65-F5344CB8AC3E}">
        <p14:creationId xmlns:p14="http://schemas.microsoft.com/office/powerpoint/2010/main" val="2699535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63613" rtl="0" eaLnBrk="0" fontAlgn="base" latinLnBrk="0" hangingPunct="0">
              <a:lnSpc>
                <a:spcPct val="100000"/>
              </a:lnSpc>
              <a:spcBef>
                <a:spcPct val="30000"/>
              </a:spcBef>
              <a:spcAft>
                <a:spcPct val="0"/>
              </a:spcAft>
              <a:buClrTx/>
              <a:buSzTx/>
              <a:buFontTx/>
              <a:buNone/>
              <a:tabLst/>
              <a:defRPr/>
            </a:pPr>
            <a:endParaRPr/>
          </a:p>
        </p:txBody>
      </p:sp>
    </p:spTree>
    <p:extLst>
      <p:ext uri="{BB962C8B-B14F-4D97-AF65-F5344CB8AC3E}">
        <p14:creationId xmlns:p14="http://schemas.microsoft.com/office/powerpoint/2010/main" val="2840608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63613"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Arial" pitchFamily="34" charset="0"/>
              <a:ea typeface="+mn-ea"/>
              <a:cs typeface="+mn-cs"/>
            </a:endParaRPr>
          </a:p>
        </p:txBody>
      </p:sp>
    </p:spTree>
    <p:extLst>
      <p:ext uri="{BB962C8B-B14F-4D97-AF65-F5344CB8AC3E}">
        <p14:creationId xmlns:p14="http://schemas.microsoft.com/office/powerpoint/2010/main" val="1523192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77A7-DDA6-9473-F970-5A01FEBA6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13A132-CF74-6378-1D0A-ED12971559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630AEC-13EF-F01A-18A0-3E210CD82CBC}"/>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一个效果好的聚类算法，其聚类结果需满足“内部聚合，外部分离”的要求，即能够将相似数据划分为同一个簇，相异样本划分到不同的簇。当数据集具有真实的类别标签时，可以通过比较聚类结果与类别标签进行聚类算法的性能评价，常用的评价指标包括列联矩阵、成对混淆矩阵、兰德系数等，此类指标统称为外部指标。</a:t>
            </a:r>
            <a:endParaRPr lang="en-US" altLang="zh-CN" sz="1800" dirty="0"/>
          </a:p>
        </p:txBody>
      </p:sp>
      <p:sp>
        <p:nvSpPr>
          <p:cNvPr id="4" name="灯片编号占位符 3">
            <a:extLst>
              <a:ext uri="{FF2B5EF4-FFF2-40B4-BE49-F238E27FC236}">
                <a16:creationId xmlns:a16="http://schemas.microsoft.com/office/drawing/2014/main" id="{209B230C-4A81-5233-1760-1D61177233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16056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E100-E38E-4B3A-59B0-3222BBD191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7B4147-ACD7-2EF7-875C-CC221DB3E2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4D5528-51A8-87B0-EF74-8D6ED242ED5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237F67F6-9DA2-0159-3B90-2EFF76A5D1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3665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AB20C-4294-7BAE-F4A4-ABA1E18A28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E7619E-97F6-CB23-0074-3B2C72460E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26E8AC-847B-B305-181F-D51DE03ED0A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D1F9220F-9B03-32FB-352C-CD7F818D40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26763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1CFDB-8E23-462A-E27E-58839BF779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445741-4484-A0AA-B77D-E0523C64B4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1241D1-6049-1521-84B0-1DB83D033CA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内部指标不依赖外部标签，仅通过簇内相似度和簇间相异度的计算对聚类结果进行度量，从而达到评估聚类算法的目的。</a:t>
            </a:r>
            <a:endParaRPr lang="en-US" altLang="zh-CN" sz="1800" dirty="0"/>
          </a:p>
        </p:txBody>
      </p:sp>
      <p:sp>
        <p:nvSpPr>
          <p:cNvPr id="4" name="灯片编号占位符 3">
            <a:extLst>
              <a:ext uri="{FF2B5EF4-FFF2-40B4-BE49-F238E27FC236}">
                <a16:creationId xmlns:a16="http://schemas.microsoft.com/office/drawing/2014/main" id="{0485EAA4-8668-E693-A271-3CD2D918B9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00316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F2E83-62FD-D619-BB5C-F71E33AA96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4F86B8-101A-19EA-B436-4D9F06471A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A5EB62-52E1-4175-752F-19E21F4782B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782ADA05-6C6D-2555-558F-BC9BA89940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53892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5D4D6-6A9F-B577-E957-384C9E6D7D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BC9B41-FAE9-6E7D-D6E3-0C6F005E59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1AF796-D848-8466-1893-38E4E4E15D2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7C288D8D-599C-17A4-CE4E-75F2F4248E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39414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5C450-607E-BE55-5EA8-1701652BA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1567B3-A728-94CA-3B89-B30CC01B78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9036BD-7059-D7E0-EAD6-B9DEFFE07A58}"/>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09B0EFC2-9477-0E26-E19D-698EBFC3B4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090598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47574-81CD-68F1-DE0A-3AB14879CC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B538E1-7C21-5B5D-ED53-97E7B6A440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CB6078-7C82-BE62-7869-5E4B9A442C1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7FBC7E8F-57AD-E9F6-904C-CAECE89451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037719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941C-F77A-7503-2E9B-EE13F7FB56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1AA682-1CFA-F6AF-F2F0-C03F0396FF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0F3692-1AB6-AFFB-DEAD-CBEAAA41753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2CE5F5BD-E924-B4AC-04C6-08CC392BD7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04608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1D8D8-EDA2-42D1-B100-A1F4D58222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0BE8E2-6E88-D40F-2FB3-76A1D879C2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FA7CF1-6010-61E9-B4D8-E69CB40B92B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3D195D6F-F02B-3C72-4E45-D076730A20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588291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39F2-B500-D84B-75A8-8A06571EE0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B977DA-0578-7FF9-9D9E-1B8E895B26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3B98A9-4FC6-2F0F-D6EC-70DE93939C0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如图所示，当簇数量为</a:t>
            </a:r>
            <a:r>
              <a:rPr lang="en-US" altLang="zh-CN" sz="1800" dirty="0"/>
              <a:t>4</a:t>
            </a:r>
            <a:r>
              <a:rPr lang="zh-CN" altLang="en-US" sz="1800" dirty="0"/>
              <a:t>时（图中红色标记点），簇内距离平方和的下降速率显著变缓，因此将数据集划分为</a:t>
            </a:r>
            <a:r>
              <a:rPr lang="en-US" altLang="zh-CN" sz="1800" dirty="0"/>
              <a:t>4</a:t>
            </a:r>
            <a:r>
              <a:rPr lang="zh-CN" altLang="en-US" sz="1800" dirty="0"/>
              <a:t>个簇是较为合理的。</a:t>
            </a:r>
            <a:endParaRPr lang="en-US" altLang="zh-CN" sz="1800" dirty="0"/>
          </a:p>
        </p:txBody>
      </p:sp>
      <p:sp>
        <p:nvSpPr>
          <p:cNvPr id="4" name="灯片编号占位符 3">
            <a:extLst>
              <a:ext uri="{FF2B5EF4-FFF2-40B4-BE49-F238E27FC236}">
                <a16:creationId xmlns:a16="http://schemas.microsoft.com/office/drawing/2014/main" id="{9736E35F-E109-A687-939C-C68B689AFE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70768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621A-A3F7-FA32-778C-AAE9E04281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AFB10E-8F8F-CCAD-37FA-03F474EFC6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E991A3-53B7-B9B2-5C16-A541A3F25E9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如图所示，当簇数量为</a:t>
            </a:r>
            <a:r>
              <a:rPr lang="en-US" altLang="zh-CN" sz="1800" dirty="0"/>
              <a:t>4</a:t>
            </a:r>
            <a:r>
              <a:rPr lang="zh-CN" altLang="en-US" sz="1800" dirty="0"/>
              <a:t>时（图中红色标记点），轮廓系数达到最大值，这也与肘部法则得到的结果是一致的。</a:t>
            </a:r>
            <a:endParaRPr lang="en-US" altLang="zh-CN" sz="1800" dirty="0"/>
          </a:p>
        </p:txBody>
      </p:sp>
      <p:sp>
        <p:nvSpPr>
          <p:cNvPr id="4" name="灯片编号占位符 3">
            <a:extLst>
              <a:ext uri="{FF2B5EF4-FFF2-40B4-BE49-F238E27FC236}">
                <a16:creationId xmlns:a16="http://schemas.microsoft.com/office/drawing/2014/main" id="{76FA46B0-1498-01F5-0EB5-6556CF3466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852904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2025/10/28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768356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2025/10/28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6045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2025/10/28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737392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2025/10/28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530504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2025/10/28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575560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2025/10/28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3692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2025/10/28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629537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2025/10/28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6188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2025/10/28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84366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2025/10/28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3096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2025/10/28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600507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9144000" cy="1014998"/>
          </a:xfrm>
          <a:prstGeom prst="rect">
            <a:avLst/>
          </a:prstGeom>
        </p:spPr>
      </p:pic>
      <p:sp>
        <p:nvSpPr>
          <p:cNvPr id="2" name="Rectangle 1"/>
          <p:cNvSpPr/>
          <p:nvPr userDrawn="1"/>
        </p:nvSpPr>
        <p:spPr>
          <a:xfrm>
            <a:off x="4486993" y="0"/>
            <a:ext cx="151634"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87333687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2025/10/28</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1023876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363" indent="-360363"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363"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8888" indent="-268288"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288"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8.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55.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4.wmf"/><Relationship Id="rId4" Type="http://schemas.openxmlformats.org/officeDocument/2006/relationships/oleObject" Target="../embeddings/oleObject1.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57.w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56.wmf"/><Relationship Id="rId4" Type="http://schemas.openxmlformats.org/officeDocument/2006/relationships/oleObject" Target="../embeddings/oleObject3.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59.wmf"/><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58.wmf"/><Relationship Id="rId4" Type="http://schemas.openxmlformats.org/officeDocument/2006/relationships/oleObject" Target="../embeddings/oleObject5.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64.wmf"/><Relationship Id="rId18" Type="http://schemas.openxmlformats.org/officeDocument/2006/relationships/oleObject" Target="../embeddings/oleObject14.bin"/><Relationship Id="rId3" Type="http://schemas.openxmlformats.org/officeDocument/2006/relationships/notesSlide" Target="../notesSlides/notesSlide16.xml"/><Relationship Id="rId21" Type="http://schemas.openxmlformats.org/officeDocument/2006/relationships/image" Target="../media/image68.wmf"/><Relationship Id="rId7" Type="http://schemas.openxmlformats.org/officeDocument/2006/relationships/image" Target="../media/image61.wmf"/><Relationship Id="rId12" Type="http://schemas.openxmlformats.org/officeDocument/2006/relationships/oleObject" Target="../embeddings/oleObject11.bin"/><Relationship Id="rId17" Type="http://schemas.openxmlformats.org/officeDocument/2006/relationships/image" Target="../media/image66.wmf"/><Relationship Id="rId2" Type="http://schemas.openxmlformats.org/officeDocument/2006/relationships/slideLayout" Target="../slideLayouts/slideLayout6.xml"/><Relationship Id="rId16" Type="http://schemas.openxmlformats.org/officeDocument/2006/relationships/oleObject" Target="../embeddings/oleObject13.bin"/><Relationship Id="rId20" Type="http://schemas.openxmlformats.org/officeDocument/2006/relationships/oleObject" Target="../embeddings/oleObject15.bin"/><Relationship Id="rId1" Type="http://schemas.openxmlformats.org/officeDocument/2006/relationships/vmlDrawing" Target="../drawings/vmlDrawing4.vml"/><Relationship Id="rId6" Type="http://schemas.openxmlformats.org/officeDocument/2006/relationships/oleObject" Target="../embeddings/oleObject8.bin"/><Relationship Id="rId11" Type="http://schemas.openxmlformats.org/officeDocument/2006/relationships/image" Target="../media/image63.wmf"/><Relationship Id="rId5" Type="http://schemas.openxmlformats.org/officeDocument/2006/relationships/image" Target="../media/image60.wmf"/><Relationship Id="rId15" Type="http://schemas.openxmlformats.org/officeDocument/2006/relationships/image" Target="../media/image65.wmf"/><Relationship Id="rId10" Type="http://schemas.openxmlformats.org/officeDocument/2006/relationships/oleObject" Target="../embeddings/oleObject10.bin"/><Relationship Id="rId19" Type="http://schemas.openxmlformats.org/officeDocument/2006/relationships/image" Target="../media/image67.wmf"/><Relationship Id="rId4" Type="http://schemas.openxmlformats.org/officeDocument/2006/relationships/oleObject" Target="../embeddings/oleObject7.bin"/><Relationship Id="rId9" Type="http://schemas.openxmlformats.org/officeDocument/2006/relationships/image" Target="../media/image62.wmf"/><Relationship Id="rId14" Type="http://schemas.openxmlformats.org/officeDocument/2006/relationships/oleObject" Target="../embeddings/oleObject12.bin"/><Relationship Id="rId22" Type="http://schemas.openxmlformats.org/officeDocument/2006/relationships/image" Target="../media/image69.png"/></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72.wmf"/><Relationship Id="rId18" Type="http://schemas.openxmlformats.org/officeDocument/2006/relationships/oleObject" Target="../embeddings/oleObject22.bin"/><Relationship Id="rId3" Type="http://schemas.openxmlformats.org/officeDocument/2006/relationships/notesSlide" Target="../notesSlides/notesSlide17.xml"/><Relationship Id="rId21" Type="http://schemas.openxmlformats.org/officeDocument/2006/relationships/image" Target="../media/image76.wmf"/><Relationship Id="rId7" Type="http://schemas.openxmlformats.org/officeDocument/2006/relationships/image" Target="../media/image69.wmf"/><Relationship Id="rId12" Type="http://schemas.openxmlformats.org/officeDocument/2006/relationships/oleObject" Target="../embeddings/oleObject19.bin"/><Relationship Id="rId17" Type="http://schemas.openxmlformats.org/officeDocument/2006/relationships/image" Target="../media/image74.wmf"/><Relationship Id="rId2" Type="http://schemas.openxmlformats.org/officeDocument/2006/relationships/slideLayout" Target="../slideLayouts/slideLayout6.xml"/><Relationship Id="rId16" Type="http://schemas.openxmlformats.org/officeDocument/2006/relationships/oleObject" Target="../embeddings/oleObject21.bin"/><Relationship Id="rId20" Type="http://schemas.openxmlformats.org/officeDocument/2006/relationships/oleObject" Target="../embeddings/oleObject23.bin"/><Relationship Id="rId1" Type="http://schemas.openxmlformats.org/officeDocument/2006/relationships/vmlDrawing" Target="../drawings/vmlDrawing5.vml"/><Relationship Id="rId6" Type="http://schemas.openxmlformats.org/officeDocument/2006/relationships/oleObject" Target="../embeddings/oleObject16.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73.wmf"/><Relationship Id="rId10" Type="http://schemas.openxmlformats.org/officeDocument/2006/relationships/oleObject" Target="../embeddings/oleObject18.bin"/><Relationship Id="rId19" Type="http://schemas.openxmlformats.org/officeDocument/2006/relationships/image" Target="../media/image75.wmf"/><Relationship Id="rId4" Type="http://schemas.openxmlformats.org/officeDocument/2006/relationships/oleObject" Target="../embeddings/oleObject15.bin"/><Relationship Id="rId9" Type="http://schemas.openxmlformats.org/officeDocument/2006/relationships/image" Target="../media/image70.wmf"/><Relationship Id="rId14" Type="http://schemas.openxmlformats.org/officeDocument/2006/relationships/oleObject" Target="../embeddings/oleObject20.bin"/></Relationships>
</file>

<file path=ppt/slides/_rels/slide58.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79.svg"/><Relationship Id="rId4" Type="http://schemas.openxmlformats.org/officeDocument/2006/relationships/image" Target="../media/image78.png"/></Relationships>
</file>

<file path=ppt/slides/_rels/slide59.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81.emf"/></Relationships>
</file>

<file path=ppt/slides/_rels/slide60.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83.emf"/></Relationships>
</file>

<file path=ppt/slides/_rels/slide6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notesSlide" Target="../notesSlides/notesSlide21.xml"/><Relationship Id="rId7" Type="http://schemas.openxmlformats.org/officeDocument/2006/relationships/image" Target="../media/image86.wmf"/><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oleObject" Target="../embeddings/oleObject25.bin"/><Relationship Id="rId5" Type="http://schemas.openxmlformats.org/officeDocument/2006/relationships/image" Target="../media/image85.wmf"/><Relationship Id="rId4" Type="http://schemas.openxmlformats.org/officeDocument/2006/relationships/oleObject" Target="../embeddings/oleObject24.bin"/><Relationship Id="rId9" Type="http://schemas.openxmlformats.org/officeDocument/2006/relationships/image" Target="../media/image87.wmf"/></Relationships>
</file>

<file path=ppt/slides/_rels/slide63.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notesSlide" Target="../notesSlides/notesSlide22.xml"/><Relationship Id="rId7" Type="http://schemas.openxmlformats.org/officeDocument/2006/relationships/oleObject" Target="../embeddings/oleObject28.bin"/><Relationship Id="rId12" Type="http://schemas.openxmlformats.org/officeDocument/2006/relationships/image" Target="../media/image90.wmf"/><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88.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75.wmf"/><Relationship Id="rId4" Type="http://schemas.openxmlformats.org/officeDocument/2006/relationships/image" Target="../media/image91.emf"/><Relationship Id="rId9" Type="http://schemas.openxmlformats.org/officeDocument/2006/relationships/oleObject" Target="../embeddings/oleObject29.bin"/></Relationships>
</file>

<file path=ppt/slides/_rels/slide64.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64739" y="2797189"/>
            <a:ext cx="8713694" cy="2138947"/>
          </a:xfrm>
        </p:spPr>
        <p:txBody>
          <a:bodyPr anchor="ctr">
            <a:normAutofit fontScale="90000"/>
          </a:bodyPr>
          <a:lstStyle/>
          <a:p>
            <a:pPr>
              <a:lnSpc>
                <a:spcPct val="150000"/>
              </a:lnSpc>
            </a:pPr>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rPr>
              <a:t>Chapter08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聚类</a:t>
            </a:r>
            <a:b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br>
            <a:br>
              <a:rPr lang="en-US" altLang="zh-CN" sz="3600" b="1" dirty="0"/>
            </a:br>
            <a:r>
              <a:rPr lang="zh-CN" altLang="en-US" sz="2700" b="1" dirty="0">
                <a:solidFill>
                  <a:srgbClr val="002060"/>
                </a:solidFill>
                <a:latin typeface="微软雅黑" panose="020B0503020204020204" pitchFamily="34" charset="-122"/>
                <a:ea typeface="微软雅黑" panose="020B0503020204020204" pitchFamily="34" charset="-122"/>
              </a:rPr>
              <a:t>授课老师：王丽苹</a:t>
            </a:r>
            <a:br>
              <a:rPr lang="en-US" altLang="zh-CN" sz="31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br>
            <a:br>
              <a:rPr lang="en-US" altLang="zh-CN" sz="3100" dirty="0">
                <a:solidFill>
                  <a:srgbClr val="002060"/>
                </a:solidFill>
                <a:latin typeface="微软雅黑" panose="020B0503020204020204" pitchFamily="34" charset="-122"/>
                <a:ea typeface="微软雅黑" panose="020B0503020204020204" pitchFamily="34" charset="-122"/>
              </a:rPr>
            </a:br>
            <a:r>
              <a:rPr lang="zh-CN" altLang="en-US" sz="3100" dirty="0">
                <a:solidFill>
                  <a:srgbClr val="002060"/>
                </a:solidFill>
                <a:latin typeface="+mn-ea"/>
                <a:ea typeface="+mn-ea"/>
              </a:rPr>
              <a:t> </a:t>
            </a:r>
            <a:br>
              <a:rPr lang="en-US" altLang="zh-CN" sz="3100" dirty="0">
                <a:solidFill>
                  <a:srgbClr val="002060"/>
                </a:solidFill>
              </a:rPr>
            </a:br>
            <a:endParaRPr lang="zh-CN" altLang="en-US" sz="3100" dirty="0">
              <a:solidFill>
                <a:srgbClr val="002060"/>
              </a:solidFill>
            </a:endParaRPr>
          </a:p>
        </p:txBody>
      </p:sp>
      <p:sp>
        <p:nvSpPr>
          <p:cNvPr id="3" name="副标题 2"/>
          <p:cNvSpPr>
            <a:spLocks noGrp="1"/>
          </p:cNvSpPr>
          <p:nvPr>
            <p:ph type="subTitle" idx="1"/>
          </p:nvPr>
        </p:nvSpPr>
        <p:spPr>
          <a:xfrm>
            <a:off x="1192586" y="4060811"/>
            <a:ext cx="6858000" cy="950912"/>
          </a:xfrm>
        </p:spPr>
        <p:txBody>
          <a:bodyPr/>
          <a:lstStyle/>
          <a:p>
            <a:r>
              <a:rPr lang="en-US" altLang="zh-CN" b="1" dirty="0">
                <a:ea typeface="微软雅黑" panose="020B0503020204020204" pitchFamily="34" charset="-122"/>
                <a:cs typeface="微软雅黑" panose="020B0503020204020204" pitchFamily="34" charset="-122"/>
              </a:rPr>
              <a:t>2025</a:t>
            </a:r>
            <a:r>
              <a:rPr lang="zh-CN" altLang="en-US" b="1" dirty="0">
                <a:ea typeface="微软雅黑" panose="020B0503020204020204" pitchFamily="34" charset="-122"/>
                <a:cs typeface="微软雅黑" panose="020B0503020204020204" pitchFamily="34" charset="-122"/>
              </a:rPr>
              <a:t>年 秋</a:t>
            </a:r>
          </a:p>
        </p:txBody>
      </p:sp>
      <p:sp>
        <p:nvSpPr>
          <p:cNvPr id="4" name="矩形 3"/>
          <p:cNvSpPr/>
          <p:nvPr/>
        </p:nvSpPr>
        <p:spPr>
          <a:xfrm>
            <a:off x="5994072" y="180871"/>
            <a:ext cx="3149928"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a:t>
            </a:r>
            <a:r>
              <a:rPr lang="zh-CN" altLang="en-US" sz="2000" b="1" dirty="0">
                <a:solidFill>
                  <a:srgbClr val="002060"/>
                </a:solidFill>
                <a:latin typeface="微软雅黑" panose="020B0503020204020204" pitchFamily="34" charset="-122"/>
                <a:ea typeface="微软雅黑" panose="020B0503020204020204" pitchFamily="34" charset="-122"/>
              </a:rPr>
              <a:t>数据挖掘</a:t>
            </a:r>
            <a:r>
              <a:rPr lang="en-US" altLang="zh-CN" sz="2000" b="1" dirty="0">
                <a:solidFill>
                  <a:srgbClr val="002060"/>
                </a:solidFill>
                <a:latin typeface="微软雅黑" panose="020B0503020204020204" pitchFamily="34" charset="-122"/>
                <a:ea typeface="微软雅黑" panose="020B0503020204020204" pitchFamily="34" charset="-122"/>
              </a:rPr>
              <a:t>》</a:t>
            </a:r>
            <a:r>
              <a:rPr lang="en-US" altLang="zh-CN" sz="2000" b="1" dirty="0">
                <a:solidFill>
                  <a:srgbClr val="002060"/>
                </a:solidFill>
              </a:rPr>
              <a:t>Data Mining</a:t>
            </a:r>
            <a:endParaRPr lang="zh-CN" altLang="en-US" sz="2000" b="1" dirty="0">
              <a:solidFill>
                <a:srgbClr val="002060"/>
              </a:solidFill>
            </a:endParaRPr>
          </a:p>
        </p:txBody>
      </p:sp>
    </p:spTree>
    <p:extLst>
      <p:ext uri="{BB962C8B-B14F-4D97-AF65-F5344CB8AC3E}">
        <p14:creationId xmlns:p14="http://schemas.microsoft.com/office/powerpoint/2010/main" val="1251715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聚类分析</a:t>
            </a:r>
          </a:p>
        </p:txBody>
      </p:sp>
      <p:sp>
        <p:nvSpPr>
          <p:cNvPr id="3" name="内容占位符 2"/>
          <p:cNvSpPr>
            <a:spLocks noGrp="1"/>
          </p:cNvSpPr>
          <p:nvPr>
            <p:ph idx="1"/>
          </p:nvPr>
        </p:nvSpPr>
        <p:spPr/>
        <p:txBody>
          <a:bodyPr>
            <a:normAutofit/>
          </a:bodyPr>
          <a:lstStyle/>
          <a:p>
            <a:r>
              <a:rPr lang="zh-CN" altLang="en-US" dirty="0"/>
              <a:t>聚类是将物理或抽象对象的集合划分成为由类似的对象组成的多个属类的过程。</a:t>
            </a:r>
          </a:p>
        </p:txBody>
      </p:sp>
      <p:sp>
        <p:nvSpPr>
          <p:cNvPr id="8" name="AutoShape 10"/>
          <p:cNvSpPr>
            <a:spLocks noChangeArrowheads="1"/>
          </p:cNvSpPr>
          <p:nvPr/>
        </p:nvSpPr>
        <p:spPr bwMode="auto">
          <a:xfrm>
            <a:off x="2835809" y="3425282"/>
            <a:ext cx="110905" cy="99176"/>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9" name="AutoShape 11"/>
          <p:cNvSpPr>
            <a:spLocks noChangeArrowheads="1"/>
          </p:cNvSpPr>
          <p:nvPr/>
        </p:nvSpPr>
        <p:spPr bwMode="auto">
          <a:xfrm>
            <a:off x="3142002" y="3425283"/>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0" name="AutoShape 12"/>
          <p:cNvSpPr>
            <a:spLocks noChangeArrowheads="1"/>
          </p:cNvSpPr>
          <p:nvPr/>
        </p:nvSpPr>
        <p:spPr bwMode="auto">
          <a:xfrm>
            <a:off x="3039937" y="3197107"/>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1" name="AutoShape 13"/>
          <p:cNvSpPr>
            <a:spLocks noChangeArrowheads="1"/>
          </p:cNvSpPr>
          <p:nvPr/>
        </p:nvSpPr>
        <p:spPr bwMode="auto">
          <a:xfrm>
            <a:off x="3039939" y="3653458"/>
            <a:ext cx="159125" cy="142295"/>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2" name="AutoShape 14"/>
          <p:cNvSpPr>
            <a:spLocks noChangeArrowheads="1"/>
          </p:cNvSpPr>
          <p:nvPr/>
        </p:nvSpPr>
        <p:spPr bwMode="auto">
          <a:xfrm>
            <a:off x="3550262" y="3425283"/>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3" name="AutoShape 15"/>
          <p:cNvSpPr>
            <a:spLocks noChangeArrowheads="1"/>
          </p:cNvSpPr>
          <p:nvPr/>
        </p:nvSpPr>
        <p:spPr bwMode="auto">
          <a:xfrm>
            <a:off x="3346134" y="3273165"/>
            <a:ext cx="96439" cy="86240"/>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4" name="AutoShape 16"/>
          <p:cNvSpPr>
            <a:spLocks noChangeArrowheads="1"/>
          </p:cNvSpPr>
          <p:nvPr/>
        </p:nvSpPr>
        <p:spPr bwMode="auto">
          <a:xfrm>
            <a:off x="2631677" y="3197107"/>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5" name="AutoShape 17"/>
          <p:cNvSpPr>
            <a:spLocks noChangeArrowheads="1"/>
          </p:cNvSpPr>
          <p:nvPr/>
        </p:nvSpPr>
        <p:spPr bwMode="auto">
          <a:xfrm>
            <a:off x="3346132" y="3577400"/>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6" name="AutoShape 18"/>
          <p:cNvSpPr>
            <a:spLocks noChangeArrowheads="1"/>
          </p:cNvSpPr>
          <p:nvPr/>
        </p:nvSpPr>
        <p:spPr bwMode="auto">
          <a:xfrm>
            <a:off x="2631677" y="3577400"/>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7" name="AutoShape 19"/>
          <p:cNvSpPr>
            <a:spLocks noChangeArrowheads="1"/>
          </p:cNvSpPr>
          <p:nvPr/>
        </p:nvSpPr>
        <p:spPr bwMode="auto">
          <a:xfrm>
            <a:off x="998638" y="4033752"/>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8" name="AutoShape 20"/>
          <p:cNvSpPr>
            <a:spLocks noChangeArrowheads="1"/>
          </p:cNvSpPr>
          <p:nvPr/>
        </p:nvSpPr>
        <p:spPr bwMode="auto">
          <a:xfrm>
            <a:off x="1304833" y="4109810"/>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9" name="AutoShape 21"/>
          <p:cNvSpPr>
            <a:spLocks noChangeArrowheads="1"/>
          </p:cNvSpPr>
          <p:nvPr/>
        </p:nvSpPr>
        <p:spPr bwMode="auto">
          <a:xfrm>
            <a:off x="1227008" y="4419601"/>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0" name="AutoShape 22"/>
          <p:cNvSpPr>
            <a:spLocks noChangeArrowheads="1"/>
          </p:cNvSpPr>
          <p:nvPr/>
        </p:nvSpPr>
        <p:spPr bwMode="auto">
          <a:xfrm>
            <a:off x="1611028" y="4109810"/>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1" name="AutoShape 23"/>
          <p:cNvSpPr>
            <a:spLocks noChangeArrowheads="1"/>
          </p:cNvSpPr>
          <p:nvPr/>
        </p:nvSpPr>
        <p:spPr bwMode="auto">
          <a:xfrm>
            <a:off x="1406898" y="3881634"/>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2" name="AutoShape 24"/>
          <p:cNvSpPr>
            <a:spLocks noChangeArrowheads="1"/>
          </p:cNvSpPr>
          <p:nvPr/>
        </p:nvSpPr>
        <p:spPr bwMode="auto">
          <a:xfrm>
            <a:off x="1611028" y="4337986"/>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3" name="AutoShape 25"/>
          <p:cNvSpPr>
            <a:spLocks noChangeArrowheads="1"/>
          </p:cNvSpPr>
          <p:nvPr/>
        </p:nvSpPr>
        <p:spPr bwMode="auto">
          <a:xfrm>
            <a:off x="998638" y="4261927"/>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4" name="AutoShape 26"/>
          <p:cNvSpPr>
            <a:spLocks noChangeArrowheads="1"/>
          </p:cNvSpPr>
          <p:nvPr/>
        </p:nvSpPr>
        <p:spPr bwMode="auto">
          <a:xfrm>
            <a:off x="3346132" y="4490103"/>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5" name="AutoShape 27"/>
          <p:cNvSpPr>
            <a:spLocks noChangeArrowheads="1"/>
          </p:cNvSpPr>
          <p:nvPr/>
        </p:nvSpPr>
        <p:spPr bwMode="auto">
          <a:xfrm>
            <a:off x="3958522" y="4566161"/>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6" name="AutoShape 28"/>
          <p:cNvSpPr>
            <a:spLocks noChangeArrowheads="1"/>
          </p:cNvSpPr>
          <p:nvPr/>
        </p:nvSpPr>
        <p:spPr bwMode="auto">
          <a:xfrm>
            <a:off x="3652327" y="4718278"/>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7" name="AutoShape 29"/>
          <p:cNvSpPr>
            <a:spLocks noChangeArrowheads="1"/>
          </p:cNvSpPr>
          <p:nvPr/>
        </p:nvSpPr>
        <p:spPr bwMode="auto">
          <a:xfrm>
            <a:off x="3346132" y="4870395"/>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8" name="AutoShape 30"/>
          <p:cNvSpPr>
            <a:spLocks noChangeArrowheads="1"/>
          </p:cNvSpPr>
          <p:nvPr/>
        </p:nvSpPr>
        <p:spPr bwMode="auto">
          <a:xfrm>
            <a:off x="3754392" y="4870395"/>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9" name="AutoShape 31"/>
          <p:cNvSpPr>
            <a:spLocks noChangeArrowheads="1"/>
          </p:cNvSpPr>
          <p:nvPr/>
        </p:nvSpPr>
        <p:spPr bwMode="auto">
          <a:xfrm flipV="1">
            <a:off x="3535555" y="4524197"/>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30" name="AutoShape 32"/>
          <p:cNvSpPr>
            <a:spLocks noChangeArrowheads="1"/>
          </p:cNvSpPr>
          <p:nvPr/>
        </p:nvSpPr>
        <p:spPr bwMode="auto">
          <a:xfrm>
            <a:off x="3754392" y="4414044"/>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33" name="Oval 37"/>
          <p:cNvSpPr>
            <a:spLocks noChangeArrowheads="1"/>
          </p:cNvSpPr>
          <p:nvPr/>
        </p:nvSpPr>
        <p:spPr bwMode="auto">
          <a:xfrm>
            <a:off x="794508" y="3679444"/>
            <a:ext cx="1156736" cy="1034713"/>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38"/>
          <p:cNvSpPr>
            <a:spLocks noChangeArrowheads="1"/>
          </p:cNvSpPr>
          <p:nvPr/>
        </p:nvSpPr>
        <p:spPr bwMode="auto">
          <a:xfrm>
            <a:off x="2393528" y="2980018"/>
            <a:ext cx="1494827" cy="988762"/>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Oval 39"/>
          <p:cNvSpPr>
            <a:spLocks noChangeArrowheads="1"/>
          </p:cNvSpPr>
          <p:nvPr/>
        </p:nvSpPr>
        <p:spPr bwMode="auto">
          <a:xfrm>
            <a:off x="3107980" y="4257169"/>
            <a:ext cx="1156736" cy="904780"/>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arrow2"/>
          <p:cNvSpPr>
            <a:spLocks noChangeShapeType="1"/>
          </p:cNvSpPr>
          <p:nvPr/>
        </p:nvSpPr>
        <p:spPr bwMode="auto">
          <a:xfrm flipH="1" flipV="1">
            <a:off x="3442571" y="3707333"/>
            <a:ext cx="354349" cy="706709"/>
          </a:xfrm>
          <a:prstGeom prst="line">
            <a:avLst/>
          </a:prstGeom>
          <a:noFill/>
          <a:ln w="25400">
            <a:solidFill>
              <a:srgbClr val="00206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arrow1"/>
          <p:cNvSpPr>
            <a:spLocks noChangeShapeType="1"/>
          </p:cNvSpPr>
          <p:nvPr/>
        </p:nvSpPr>
        <p:spPr bwMode="auto">
          <a:xfrm flipV="1">
            <a:off x="1377130" y="4419600"/>
            <a:ext cx="233899" cy="48317"/>
          </a:xfrm>
          <a:prstGeom prst="line">
            <a:avLst/>
          </a:prstGeom>
          <a:noFill/>
          <a:ln w="25400">
            <a:solidFill>
              <a:srgbClr val="00206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
          <p:cNvSpPr>
            <a:spLocks noChangeShapeType="1"/>
          </p:cNvSpPr>
          <p:nvPr/>
        </p:nvSpPr>
        <p:spPr bwMode="auto">
          <a:xfrm flipV="1">
            <a:off x="1406900" y="4709559"/>
            <a:ext cx="816519" cy="5839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2"/>
          <p:cNvSpPr>
            <a:spLocks noChangeShapeType="1"/>
          </p:cNvSpPr>
          <p:nvPr/>
        </p:nvSpPr>
        <p:spPr bwMode="auto">
          <a:xfrm>
            <a:off x="2223417" y="2892873"/>
            <a:ext cx="0" cy="18254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1"/>
          <p:cNvSpPr>
            <a:spLocks noChangeShapeType="1"/>
          </p:cNvSpPr>
          <p:nvPr/>
        </p:nvSpPr>
        <p:spPr bwMode="auto">
          <a:xfrm>
            <a:off x="2223417" y="4718277"/>
            <a:ext cx="2412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矩形 3"/>
          <p:cNvSpPr/>
          <p:nvPr/>
        </p:nvSpPr>
        <p:spPr>
          <a:xfrm>
            <a:off x="5257800" y="3148284"/>
            <a:ext cx="1415772" cy="1200329"/>
          </a:xfrm>
          <a:prstGeom prst="rect">
            <a:avLst/>
          </a:prstGeom>
        </p:spPr>
        <p:txBody>
          <a:bodyPr wrap="none">
            <a:spAutoFit/>
          </a:bodyPr>
          <a:lstStyle/>
          <a:p>
            <a:r>
              <a:rPr lang="zh-CN" altLang="en-US" sz="2400" dirty="0">
                <a:latin typeface="华文细黑" pitchFamily="2" charset="-122"/>
                <a:ea typeface="华文细黑" pitchFamily="2" charset="-122"/>
              </a:rPr>
              <a:t>比较相近</a:t>
            </a:r>
            <a:endParaRPr lang="en-US" altLang="zh-CN" sz="2400" dirty="0">
              <a:latin typeface="华文细黑" pitchFamily="2" charset="-122"/>
              <a:ea typeface="华文细黑" pitchFamily="2" charset="-122"/>
            </a:endParaRPr>
          </a:p>
          <a:p>
            <a:r>
              <a:rPr lang="zh-CN" altLang="en-US" sz="2400" dirty="0">
                <a:latin typeface="华文细黑" pitchFamily="2" charset="-122"/>
                <a:ea typeface="华文细黑" pitchFamily="2" charset="-122"/>
              </a:rPr>
              <a:t>比较相似</a:t>
            </a:r>
            <a:endParaRPr lang="en-US" altLang="zh-CN" sz="2400" dirty="0">
              <a:latin typeface="华文细黑" pitchFamily="2" charset="-122"/>
              <a:ea typeface="华文细黑" pitchFamily="2" charset="-122"/>
            </a:endParaRPr>
          </a:p>
          <a:p>
            <a:r>
              <a:rPr lang="zh-CN" altLang="en-US" sz="2400" dirty="0">
                <a:latin typeface="华文细黑" pitchFamily="2" charset="-122"/>
                <a:ea typeface="华文细黑" pitchFamily="2" charset="-122"/>
              </a:rPr>
              <a:t>比较相像</a:t>
            </a:r>
          </a:p>
        </p:txBody>
      </p:sp>
      <p:pic>
        <p:nvPicPr>
          <p:cNvPr id="32" name="图片 31"/>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86402" y="4539350"/>
            <a:ext cx="732959" cy="659663"/>
          </a:xfrm>
          <a:prstGeom prst="rect">
            <a:avLst/>
          </a:prstGeom>
        </p:spPr>
      </p:pic>
      <p:sp>
        <p:nvSpPr>
          <p:cNvPr id="71" name="矩形 70"/>
          <p:cNvSpPr/>
          <p:nvPr/>
        </p:nvSpPr>
        <p:spPr>
          <a:xfrm>
            <a:off x="6051828" y="4661432"/>
            <a:ext cx="1415772" cy="461665"/>
          </a:xfrm>
          <a:prstGeom prst="rect">
            <a:avLst/>
          </a:prstGeom>
        </p:spPr>
        <p:txBody>
          <a:bodyPr wrap="none">
            <a:spAutoFit/>
          </a:bodyPr>
          <a:lstStyle/>
          <a:p>
            <a:r>
              <a:rPr lang="zh-CN" altLang="en-US" sz="2400" dirty="0">
                <a:latin typeface="华文细黑" pitchFamily="2" charset="-122"/>
                <a:ea typeface="华文细黑" pitchFamily="2" charset="-122"/>
              </a:rPr>
              <a:t>如何衡量</a:t>
            </a:r>
          </a:p>
        </p:txBody>
      </p:sp>
      <p:sp>
        <p:nvSpPr>
          <p:cNvPr id="72" name="线形标注 2 71"/>
          <p:cNvSpPr/>
          <p:nvPr/>
        </p:nvSpPr>
        <p:spPr>
          <a:xfrm>
            <a:off x="3962400" y="3805674"/>
            <a:ext cx="1371600" cy="385326"/>
          </a:xfrm>
          <a:prstGeom prst="borderCallout2">
            <a:avLst>
              <a:gd name="adj1" fmla="val 18750"/>
              <a:gd name="adj2" fmla="val -1190"/>
              <a:gd name="adj3" fmla="val 18194"/>
              <a:gd name="adj4" fmla="val -10119"/>
              <a:gd name="adj5" fmla="val 51190"/>
              <a:gd name="adj6" fmla="val -25207"/>
            </a:avLst>
          </a:prstGeom>
          <a:ln w="19050">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solidFill>
                  <a:srgbClr val="C00000"/>
                </a:solidFill>
                <a:latin typeface="幼圆" pitchFamily="49" charset="-122"/>
                <a:ea typeface="幼圆" pitchFamily="49" charset="-122"/>
              </a:rPr>
              <a:t>簇间最大化</a:t>
            </a:r>
          </a:p>
        </p:txBody>
      </p:sp>
      <p:sp>
        <p:nvSpPr>
          <p:cNvPr id="73" name="线形标注 2 72"/>
          <p:cNvSpPr/>
          <p:nvPr/>
        </p:nvSpPr>
        <p:spPr>
          <a:xfrm>
            <a:off x="1756200" y="4876800"/>
            <a:ext cx="1368000" cy="385326"/>
          </a:xfrm>
          <a:prstGeom prst="borderCallout2">
            <a:avLst>
              <a:gd name="adj1" fmla="val 18750"/>
              <a:gd name="adj2" fmla="val -170"/>
              <a:gd name="adj3" fmla="val 17876"/>
              <a:gd name="adj4" fmla="val -7483"/>
              <a:gd name="adj5" fmla="val -105202"/>
              <a:gd name="adj6" fmla="val -20283"/>
            </a:avLst>
          </a:prstGeom>
          <a:ln w="19050">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solidFill>
                  <a:srgbClr val="C00000"/>
                </a:solidFill>
                <a:latin typeface="幼圆" pitchFamily="49" charset="-122"/>
                <a:ea typeface="幼圆" pitchFamily="49" charset="-122"/>
              </a:rPr>
              <a:t>簇内最小化</a:t>
            </a:r>
          </a:p>
        </p:txBody>
      </p:sp>
    </p:spTree>
    <p:extLst>
      <p:ext uri="{BB962C8B-B14F-4D97-AF65-F5344CB8AC3E}">
        <p14:creationId xmlns:p14="http://schemas.microsoft.com/office/powerpoint/2010/main" val="27062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down)">
                                      <p:cBhvr>
                                        <p:cTn id="18" dur="500"/>
                                        <p:tgtEl>
                                          <p:spTgt spid="36"/>
                                        </p:tgtEl>
                                      </p:cBhvr>
                                    </p:animEffect>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childTnLst>
                          </p:cTn>
                        </p:par>
                        <p:par>
                          <p:cTn id="89" fill="hold">
                            <p:stCondLst>
                              <p:cond delay="1000"/>
                            </p:stCondLst>
                            <p:childTnLst>
                              <p:par>
                                <p:cTn id="90" presetID="1" presetClass="emph" presetSubtype="2" fill="hold" nodeType="afterEffect">
                                  <p:stCondLst>
                                    <p:cond delay="0"/>
                                  </p:stCondLst>
                                  <p:childTnLst>
                                    <p:animClr clrSpc="rgb" dir="cw">
                                      <p:cBhvr>
                                        <p:cTn id="91" dur="1000" fill="hold"/>
                                        <p:tgtEl>
                                          <p:spTgt spid="17"/>
                                        </p:tgtEl>
                                        <p:attrNameLst>
                                          <p:attrName>fillcolor</p:attrName>
                                        </p:attrNameLst>
                                      </p:cBhvr>
                                      <p:to>
                                        <a:srgbClr val="FF0000"/>
                                      </p:to>
                                    </p:animClr>
                                    <p:set>
                                      <p:cBhvr>
                                        <p:cTn id="92" dur="1000" fill="hold"/>
                                        <p:tgtEl>
                                          <p:spTgt spid="17"/>
                                        </p:tgtEl>
                                        <p:attrNameLst>
                                          <p:attrName>fill.type</p:attrName>
                                        </p:attrNameLst>
                                      </p:cBhvr>
                                      <p:to>
                                        <p:strVal val="solid"/>
                                      </p:to>
                                    </p:set>
                                    <p:set>
                                      <p:cBhvr>
                                        <p:cTn id="93" dur="1000" fill="hold"/>
                                        <p:tgtEl>
                                          <p:spTgt spid="17"/>
                                        </p:tgtEl>
                                        <p:attrNameLst>
                                          <p:attrName>fill.on</p:attrName>
                                        </p:attrNameLst>
                                      </p:cBhvr>
                                      <p:to>
                                        <p:strVal val="true"/>
                                      </p:to>
                                    </p:set>
                                  </p:childTnLst>
                                </p:cTn>
                              </p:par>
                              <p:par>
                                <p:cTn id="94" presetID="1" presetClass="emph" presetSubtype="2" fill="hold" nodeType="withEffect">
                                  <p:stCondLst>
                                    <p:cond delay="0"/>
                                  </p:stCondLst>
                                  <p:childTnLst>
                                    <p:animClr clrSpc="rgb" dir="cw">
                                      <p:cBhvr>
                                        <p:cTn id="95" dur="1000" fill="hold"/>
                                        <p:tgtEl>
                                          <p:spTgt spid="18"/>
                                        </p:tgtEl>
                                        <p:attrNameLst>
                                          <p:attrName>fillcolor</p:attrName>
                                        </p:attrNameLst>
                                      </p:cBhvr>
                                      <p:to>
                                        <a:srgbClr val="FF0000"/>
                                      </p:to>
                                    </p:animClr>
                                    <p:set>
                                      <p:cBhvr>
                                        <p:cTn id="96" dur="1000" fill="hold"/>
                                        <p:tgtEl>
                                          <p:spTgt spid="18"/>
                                        </p:tgtEl>
                                        <p:attrNameLst>
                                          <p:attrName>fill.type</p:attrName>
                                        </p:attrNameLst>
                                      </p:cBhvr>
                                      <p:to>
                                        <p:strVal val="solid"/>
                                      </p:to>
                                    </p:set>
                                    <p:set>
                                      <p:cBhvr>
                                        <p:cTn id="97" dur="1000" fill="hold"/>
                                        <p:tgtEl>
                                          <p:spTgt spid="18"/>
                                        </p:tgtEl>
                                        <p:attrNameLst>
                                          <p:attrName>fill.on</p:attrName>
                                        </p:attrNameLst>
                                      </p:cBhvr>
                                      <p:to>
                                        <p:strVal val="true"/>
                                      </p:to>
                                    </p:set>
                                  </p:childTnLst>
                                </p:cTn>
                              </p:par>
                              <p:par>
                                <p:cTn id="98" presetID="1" presetClass="emph" presetSubtype="2" fill="hold" nodeType="withEffect">
                                  <p:stCondLst>
                                    <p:cond delay="0"/>
                                  </p:stCondLst>
                                  <p:childTnLst>
                                    <p:animClr clrSpc="rgb" dir="cw">
                                      <p:cBhvr>
                                        <p:cTn id="99" dur="1000" fill="hold"/>
                                        <p:tgtEl>
                                          <p:spTgt spid="19"/>
                                        </p:tgtEl>
                                        <p:attrNameLst>
                                          <p:attrName>fillcolor</p:attrName>
                                        </p:attrNameLst>
                                      </p:cBhvr>
                                      <p:to>
                                        <a:srgbClr val="FF0000"/>
                                      </p:to>
                                    </p:animClr>
                                    <p:set>
                                      <p:cBhvr>
                                        <p:cTn id="100" dur="1000" fill="hold"/>
                                        <p:tgtEl>
                                          <p:spTgt spid="19"/>
                                        </p:tgtEl>
                                        <p:attrNameLst>
                                          <p:attrName>fill.type</p:attrName>
                                        </p:attrNameLst>
                                      </p:cBhvr>
                                      <p:to>
                                        <p:strVal val="solid"/>
                                      </p:to>
                                    </p:set>
                                    <p:set>
                                      <p:cBhvr>
                                        <p:cTn id="101" dur="1000" fill="hold"/>
                                        <p:tgtEl>
                                          <p:spTgt spid="19"/>
                                        </p:tgtEl>
                                        <p:attrNameLst>
                                          <p:attrName>fill.on</p:attrName>
                                        </p:attrNameLst>
                                      </p:cBhvr>
                                      <p:to>
                                        <p:strVal val="true"/>
                                      </p:to>
                                    </p:set>
                                  </p:childTnLst>
                                </p:cTn>
                              </p:par>
                              <p:par>
                                <p:cTn id="102" presetID="1" presetClass="emph" presetSubtype="2" fill="hold" nodeType="withEffect">
                                  <p:stCondLst>
                                    <p:cond delay="0"/>
                                  </p:stCondLst>
                                  <p:childTnLst>
                                    <p:animClr clrSpc="rgb" dir="cw">
                                      <p:cBhvr>
                                        <p:cTn id="103" dur="1000" fill="hold"/>
                                        <p:tgtEl>
                                          <p:spTgt spid="20"/>
                                        </p:tgtEl>
                                        <p:attrNameLst>
                                          <p:attrName>fillcolor</p:attrName>
                                        </p:attrNameLst>
                                      </p:cBhvr>
                                      <p:to>
                                        <a:srgbClr val="FF0000"/>
                                      </p:to>
                                    </p:animClr>
                                    <p:set>
                                      <p:cBhvr>
                                        <p:cTn id="104" dur="1000" fill="hold"/>
                                        <p:tgtEl>
                                          <p:spTgt spid="20"/>
                                        </p:tgtEl>
                                        <p:attrNameLst>
                                          <p:attrName>fill.type</p:attrName>
                                        </p:attrNameLst>
                                      </p:cBhvr>
                                      <p:to>
                                        <p:strVal val="solid"/>
                                      </p:to>
                                    </p:set>
                                    <p:set>
                                      <p:cBhvr>
                                        <p:cTn id="105" dur="1000" fill="hold"/>
                                        <p:tgtEl>
                                          <p:spTgt spid="20"/>
                                        </p:tgtEl>
                                        <p:attrNameLst>
                                          <p:attrName>fill.on</p:attrName>
                                        </p:attrNameLst>
                                      </p:cBhvr>
                                      <p:to>
                                        <p:strVal val="true"/>
                                      </p:to>
                                    </p:set>
                                  </p:childTnLst>
                                </p:cTn>
                              </p:par>
                              <p:par>
                                <p:cTn id="106" presetID="1" presetClass="emph" presetSubtype="2" fill="hold" nodeType="withEffect">
                                  <p:stCondLst>
                                    <p:cond delay="0"/>
                                  </p:stCondLst>
                                  <p:childTnLst>
                                    <p:animClr clrSpc="rgb" dir="cw">
                                      <p:cBhvr>
                                        <p:cTn id="107" dur="1000" fill="hold"/>
                                        <p:tgtEl>
                                          <p:spTgt spid="21"/>
                                        </p:tgtEl>
                                        <p:attrNameLst>
                                          <p:attrName>fillcolor</p:attrName>
                                        </p:attrNameLst>
                                      </p:cBhvr>
                                      <p:to>
                                        <a:srgbClr val="FF0000"/>
                                      </p:to>
                                    </p:animClr>
                                    <p:set>
                                      <p:cBhvr>
                                        <p:cTn id="108" dur="1000" fill="hold"/>
                                        <p:tgtEl>
                                          <p:spTgt spid="21"/>
                                        </p:tgtEl>
                                        <p:attrNameLst>
                                          <p:attrName>fill.type</p:attrName>
                                        </p:attrNameLst>
                                      </p:cBhvr>
                                      <p:to>
                                        <p:strVal val="solid"/>
                                      </p:to>
                                    </p:set>
                                    <p:set>
                                      <p:cBhvr>
                                        <p:cTn id="109" dur="1000" fill="hold"/>
                                        <p:tgtEl>
                                          <p:spTgt spid="21"/>
                                        </p:tgtEl>
                                        <p:attrNameLst>
                                          <p:attrName>fill.on</p:attrName>
                                        </p:attrNameLst>
                                      </p:cBhvr>
                                      <p:to>
                                        <p:strVal val="true"/>
                                      </p:to>
                                    </p:set>
                                  </p:childTnLst>
                                </p:cTn>
                              </p:par>
                              <p:par>
                                <p:cTn id="110" presetID="1" presetClass="emph" presetSubtype="2" fill="hold" nodeType="withEffect">
                                  <p:stCondLst>
                                    <p:cond delay="0"/>
                                  </p:stCondLst>
                                  <p:childTnLst>
                                    <p:animClr clrSpc="rgb" dir="cw">
                                      <p:cBhvr>
                                        <p:cTn id="111" dur="1000" fill="hold"/>
                                        <p:tgtEl>
                                          <p:spTgt spid="22"/>
                                        </p:tgtEl>
                                        <p:attrNameLst>
                                          <p:attrName>fillcolor</p:attrName>
                                        </p:attrNameLst>
                                      </p:cBhvr>
                                      <p:to>
                                        <a:srgbClr val="FF0000"/>
                                      </p:to>
                                    </p:animClr>
                                    <p:set>
                                      <p:cBhvr>
                                        <p:cTn id="112" dur="1000" fill="hold"/>
                                        <p:tgtEl>
                                          <p:spTgt spid="22"/>
                                        </p:tgtEl>
                                        <p:attrNameLst>
                                          <p:attrName>fill.type</p:attrName>
                                        </p:attrNameLst>
                                      </p:cBhvr>
                                      <p:to>
                                        <p:strVal val="solid"/>
                                      </p:to>
                                    </p:set>
                                    <p:set>
                                      <p:cBhvr>
                                        <p:cTn id="113" dur="1000" fill="hold"/>
                                        <p:tgtEl>
                                          <p:spTgt spid="22"/>
                                        </p:tgtEl>
                                        <p:attrNameLst>
                                          <p:attrName>fill.on</p:attrName>
                                        </p:attrNameLst>
                                      </p:cBhvr>
                                      <p:to>
                                        <p:strVal val="true"/>
                                      </p:to>
                                    </p:set>
                                  </p:childTnLst>
                                </p:cTn>
                              </p:par>
                              <p:par>
                                <p:cTn id="114" presetID="1" presetClass="emph" presetSubtype="2" fill="hold" nodeType="withEffect">
                                  <p:stCondLst>
                                    <p:cond delay="0"/>
                                  </p:stCondLst>
                                  <p:childTnLst>
                                    <p:animClr clrSpc="rgb" dir="cw">
                                      <p:cBhvr>
                                        <p:cTn id="115" dur="1000" fill="hold"/>
                                        <p:tgtEl>
                                          <p:spTgt spid="23"/>
                                        </p:tgtEl>
                                        <p:attrNameLst>
                                          <p:attrName>fillcolor</p:attrName>
                                        </p:attrNameLst>
                                      </p:cBhvr>
                                      <p:to>
                                        <a:srgbClr val="FF0000"/>
                                      </p:to>
                                    </p:animClr>
                                    <p:set>
                                      <p:cBhvr>
                                        <p:cTn id="116" dur="1000" fill="hold"/>
                                        <p:tgtEl>
                                          <p:spTgt spid="23"/>
                                        </p:tgtEl>
                                        <p:attrNameLst>
                                          <p:attrName>fill.type</p:attrName>
                                        </p:attrNameLst>
                                      </p:cBhvr>
                                      <p:to>
                                        <p:strVal val="solid"/>
                                      </p:to>
                                    </p:set>
                                    <p:set>
                                      <p:cBhvr>
                                        <p:cTn id="117" dur="1000" fill="hold"/>
                                        <p:tgtEl>
                                          <p:spTgt spid="23"/>
                                        </p:tgtEl>
                                        <p:attrNameLst>
                                          <p:attrName>fill.on</p:attrName>
                                        </p:attrNameLst>
                                      </p:cBhvr>
                                      <p:to>
                                        <p:strVal val="true"/>
                                      </p:to>
                                    </p:set>
                                  </p:childTnLst>
                                </p:cTn>
                              </p:par>
                            </p:childTnLst>
                          </p:cTn>
                        </p:par>
                        <p:par>
                          <p:cTn id="118" fill="hold">
                            <p:stCondLst>
                              <p:cond delay="2000"/>
                            </p:stCondLst>
                            <p:childTnLst>
                              <p:par>
                                <p:cTn id="119" presetID="1" presetClass="emph" presetSubtype="2" fill="hold" nodeType="afterEffect">
                                  <p:stCondLst>
                                    <p:cond delay="0"/>
                                  </p:stCondLst>
                                  <p:childTnLst>
                                    <p:animClr clrSpc="rgb" dir="cw">
                                      <p:cBhvr>
                                        <p:cTn id="120" dur="1000" fill="hold"/>
                                        <p:tgtEl>
                                          <p:spTgt spid="8"/>
                                        </p:tgtEl>
                                        <p:attrNameLst>
                                          <p:attrName>fillcolor</p:attrName>
                                        </p:attrNameLst>
                                      </p:cBhvr>
                                      <p:to>
                                        <a:srgbClr val="3891A7"/>
                                      </p:to>
                                    </p:animClr>
                                    <p:set>
                                      <p:cBhvr>
                                        <p:cTn id="121" dur="1000" fill="hold"/>
                                        <p:tgtEl>
                                          <p:spTgt spid="8"/>
                                        </p:tgtEl>
                                        <p:attrNameLst>
                                          <p:attrName>fill.type</p:attrName>
                                        </p:attrNameLst>
                                      </p:cBhvr>
                                      <p:to>
                                        <p:strVal val="solid"/>
                                      </p:to>
                                    </p:set>
                                    <p:set>
                                      <p:cBhvr>
                                        <p:cTn id="122" dur="1000" fill="hold"/>
                                        <p:tgtEl>
                                          <p:spTgt spid="8"/>
                                        </p:tgtEl>
                                        <p:attrNameLst>
                                          <p:attrName>fill.on</p:attrName>
                                        </p:attrNameLst>
                                      </p:cBhvr>
                                      <p:to>
                                        <p:strVal val="true"/>
                                      </p:to>
                                    </p:set>
                                  </p:childTnLst>
                                </p:cTn>
                              </p:par>
                              <p:par>
                                <p:cTn id="123" presetID="1" presetClass="emph" presetSubtype="2" fill="hold" nodeType="withEffect">
                                  <p:stCondLst>
                                    <p:cond delay="0"/>
                                  </p:stCondLst>
                                  <p:childTnLst>
                                    <p:animClr clrSpc="rgb" dir="cw">
                                      <p:cBhvr>
                                        <p:cTn id="124" dur="1000" fill="hold"/>
                                        <p:tgtEl>
                                          <p:spTgt spid="9"/>
                                        </p:tgtEl>
                                        <p:attrNameLst>
                                          <p:attrName>fillcolor</p:attrName>
                                        </p:attrNameLst>
                                      </p:cBhvr>
                                      <p:to>
                                        <a:srgbClr val="3891A7"/>
                                      </p:to>
                                    </p:animClr>
                                    <p:set>
                                      <p:cBhvr>
                                        <p:cTn id="125" dur="1000" fill="hold"/>
                                        <p:tgtEl>
                                          <p:spTgt spid="9"/>
                                        </p:tgtEl>
                                        <p:attrNameLst>
                                          <p:attrName>fill.type</p:attrName>
                                        </p:attrNameLst>
                                      </p:cBhvr>
                                      <p:to>
                                        <p:strVal val="solid"/>
                                      </p:to>
                                    </p:set>
                                    <p:set>
                                      <p:cBhvr>
                                        <p:cTn id="126" dur="1000" fill="hold"/>
                                        <p:tgtEl>
                                          <p:spTgt spid="9"/>
                                        </p:tgtEl>
                                        <p:attrNameLst>
                                          <p:attrName>fill.on</p:attrName>
                                        </p:attrNameLst>
                                      </p:cBhvr>
                                      <p:to>
                                        <p:strVal val="true"/>
                                      </p:to>
                                    </p:set>
                                  </p:childTnLst>
                                </p:cTn>
                              </p:par>
                              <p:par>
                                <p:cTn id="127" presetID="1" presetClass="emph" presetSubtype="2" fill="hold" nodeType="withEffect">
                                  <p:stCondLst>
                                    <p:cond delay="0"/>
                                  </p:stCondLst>
                                  <p:childTnLst>
                                    <p:animClr clrSpc="rgb" dir="cw">
                                      <p:cBhvr>
                                        <p:cTn id="128" dur="1000" fill="hold"/>
                                        <p:tgtEl>
                                          <p:spTgt spid="10"/>
                                        </p:tgtEl>
                                        <p:attrNameLst>
                                          <p:attrName>fillcolor</p:attrName>
                                        </p:attrNameLst>
                                      </p:cBhvr>
                                      <p:to>
                                        <a:srgbClr val="3891A7"/>
                                      </p:to>
                                    </p:animClr>
                                    <p:set>
                                      <p:cBhvr>
                                        <p:cTn id="129" dur="1000" fill="hold"/>
                                        <p:tgtEl>
                                          <p:spTgt spid="10"/>
                                        </p:tgtEl>
                                        <p:attrNameLst>
                                          <p:attrName>fill.type</p:attrName>
                                        </p:attrNameLst>
                                      </p:cBhvr>
                                      <p:to>
                                        <p:strVal val="solid"/>
                                      </p:to>
                                    </p:set>
                                    <p:set>
                                      <p:cBhvr>
                                        <p:cTn id="130" dur="1000" fill="hold"/>
                                        <p:tgtEl>
                                          <p:spTgt spid="10"/>
                                        </p:tgtEl>
                                        <p:attrNameLst>
                                          <p:attrName>fill.on</p:attrName>
                                        </p:attrNameLst>
                                      </p:cBhvr>
                                      <p:to>
                                        <p:strVal val="true"/>
                                      </p:to>
                                    </p:set>
                                  </p:childTnLst>
                                </p:cTn>
                              </p:par>
                              <p:par>
                                <p:cTn id="131" presetID="1" presetClass="emph" presetSubtype="2" fill="hold" nodeType="withEffect">
                                  <p:stCondLst>
                                    <p:cond delay="0"/>
                                  </p:stCondLst>
                                  <p:childTnLst>
                                    <p:animClr clrSpc="rgb" dir="cw">
                                      <p:cBhvr>
                                        <p:cTn id="132" dur="1000" fill="hold"/>
                                        <p:tgtEl>
                                          <p:spTgt spid="11"/>
                                        </p:tgtEl>
                                        <p:attrNameLst>
                                          <p:attrName>fillcolor</p:attrName>
                                        </p:attrNameLst>
                                      </p:cBhvr>
                                      <p:to>
                                        <a:srgbClr val="3891A7"/>
                                      </p:to>
                                    </p:animClr>
                                    <p:set>
                                      <p:cBhvr>
                                        <p:cTn id="133" dur="1000" fill="hold"/>
                                        <p:tgtEl>
                                          <p:spTgt spid="11"/>
                                        </p:tgtEl>
                                        <p:attrNameLst>
                                          <p:attrName>fill.type</p:attrName>
                                        </p:attrNameLst>
                                      </p:cBhvr>
                                      <p:to>
                                        <p:strVal val="solid"/>
                                      </p:to>
                                    </p:set>
                                    <p:set>
                                      <p:cBhvr>
                                        <p:cTn id="134" dur="1000" fill="hold"/>
                                        <p:tgtEl>
                                          <p:spTgt spid="11"/>
                                        </p:tgtEl>
                                        <p:attrNameLst>
                                          <p:attrName>fill.on</p:attrName>
                                        </p:attrNameLst>
                                      </p:cBhvr>
                                      <p:to>
                                        <p:strVal val="true"/>
                                      </p:to>
                                    </p:set>
                                  </p:childTnLst>
                                </p:cTn>
                              </p:par>
                              <p:par>
                                <p:cTn id="135" presetID="1" presetClass="emph" presetSubtype="2" fill="hold" nodeType="withEffect">
                                  <p:stCondLst>
                                    <p:cond delay="0"/>
                                  </p:stCondLst>
                                  <p:childTnLst>
                                    <p:animClr clrSpc="rgb" dir="cw">
                                      <p:cBhvr>
                                        <p:cTn id="136" dur="1000" fill="hold"/>
                                        <p:tgtEl>
                                          <p:spTgt spid="12"/>
                                        </p:tgtEl>
                                        <p:attrNameLst>
                                          <p:attrName>fillcolor</p:attrName>
                                        </p:attrNameLst>
                                      </p:cBhvr>
                                      <p:to>
                                        <a:srgbClr val="3891A7"/>
                                      </p:to>
                                    </p:animClr>
                                    <p:set>
                                      <p:cBhvr>
                                        <p:cTn id="137" dur="1000" fill="hold"/>
                                        <p:tgtEl>
                                          <p:spTgt spid="12"/>
                                        </p:tgtEl>
                                        <p:attrNameLst>
                                          <p:attrName>fill.type</p:attrName>
                                        </p:attrNameLst>
                                      </p:cBhvr>
                                      <p:to>
                                        <p:strVal val="solid"/>
                                      </p:to>
                                    </p:set>
                                    <p:set>
                                      <p:cBhvr>
                                        <p:cTn id="138" dur="1000" fill="hold"/>
                                        <p:tgtEl>
                                          <p:spTgt spid="12"/>
                                        </p:tgtEl>
                                        <p:attrNameLst>
                                          <p:attrName>fill.on</p:attrName>
                                        </p:attrNameLst>
                                      </p:cBhvr>
                                      <p:to>
                                        <p:strVal val="true"/>
                                      </p:to>
                                    </p:set>
                                  </p:childTnLst>
                                </p:cTn>
                              </p:par>
                              <p:par>
                                <p:cTn id="139" presetID="1" presetClass="emph" presetSubtype="2" fill="hold" nodeType="withEffect">
                                  <p:stCondLst>
                                    <p:cond delay="0"/>
                                  </p:stCondLst>
                                  <p:childTnLst>
                                    <p:animClr clrSpc="rgb" dir="cw">
                                      <p:cBhvr>
                                        <p:cTn id="140" dur="1000" fill="hold"/>
                                        <p:tgtEl>
                                          <p:spTgt spid="13"/>
                                        </p:tgtEl>
                                        <p:attrNameLst>
                                          <p:attrName>fillcolor</p:attrName>
                                        </p:attrNameLst>
                                      </p:cBhvr>
                                      <p:to>
                                        <a:srgbClr val="3891A7"/>
                                      </p:to>
                                    </p:animClr>
                                    <p:set>
                                      <p:cBhvr>
                                        <p:cTn id="141" dur="1000" fill="hold"/>
                                        <p:tgtEl>
                                          <p:spTgt spid="13"/>
                                        </p:tgtEl>
                                        <p:attrNameLst>
                                          <p:attrName>fill.type</p:attrName>
                                        </p:attrNameLst>
                                      </p:cBhvr>
                                      <p:to>
                                        <p:strVal val="solid"/>
                                      </p:to>
                                    </p:set>
                                    <p:set>
                                      <p:cBhvr>
                                        <p:cTn id="142" dur="1000" fill="hold"/>
                                        <p:tgtEl>
                                          <p:spTgt spid="13"/>
                                        </p:tgtEl>
                                        <p:attrNameLst>
                                          <p:attrName>fill.on</p:attrName>
                                        </p:attrNameLst>
                                      </p:cBhvr>
                                      <p:to>
                                        <p:strVal val="true"/>
                                      </p:to>
                                    </p:set>
                                  </p:childTnLst>
                                </p:cTn>
                              </p:par>
                              <p:par>
                                <p:cTn id="143" presetID="1" presetClass="emph" presetSubtype="2" fill="hold" nodeType="withEffect">
                                  <p:stCondLst>
                                    <p:cond delay="0"/>
                                  </p:stCondLst>
                                  <p:childTnLst>
                                    <p:animClr clrSpc="rgb" dir="cw">
                                      <p:cBhvr>
                                        <p:cTn id="144" dur="1000" fill="hold"/>
                                        <p:tgtEl>
                                          <p:spTgt spid="14"/>
                                        </p:tgtEl>
                                        <p:attrNameLst>
                                          <p:attrName>fillcolor</p:attrName>
                                        </p:attrNameLst>
                                      </p:cBhvr>
                                      <p:to>
                                        <a:srgbClr val="3891A7"/>
                                      </p:to>
                                    </p:animClr>
                                    <p:set>
                                      <p:cBhvr>
                                        <p:cTn id="145" dur="1000" fill="hold"/>
                                        <p:tgtEl>
                                          <p:spTgt spid="14"/>
                                        </p:tgtEl>
                                        <p:attrNameLst>
                                          <p:attrName>fill.type</p:attrName>
                                        </p:attrNameLst>
                                      </p:cBhvr>
                                      <p:to>
                                        <p:strVal val="solid"/>
                                      </p:to>
                                    </p:set>
                                    <p:set>
                                      <p:cBhvr>
                                        <p:cTn id="146" dur="1000" fill="hold"/>
                                        <p:tgtEl>
                                          <p:spTgt spid="14"/>
                                        </p:tgtEl>
                                        <p:attrNameLst>
                                          <p:attrName>fill.on</p:attrName>
                                        </p:attrNameLst>
                                      </p:cBhvr>
                                      <p:to>
                                        <p:strVal val="true"/>
                                      </p:to>
                                    </p:set>
                                  </p:childTnLst>
                                </p:cTn>
                              </p:par>
                              <p:par>
                                <p:cTn id="147" presetID="1" presetClass="emph" presetSubtype="2" fill="hold" nodeType="withEffect">
                                  <p:stCondLst>
                                    <p:cond delay="0"/>
                                  </p:stCondLst>
                                  <p:childTnLst>
                                    <p:animClr clrSpc="rgb" dir="cw">
                                      <p:cBhvr>
                                        <p:cTn id="148" dur="1000" fill="hold"/>
                                        <p:tgtEl>
                                          <p:spTgt spid="15"/>
                                        </p:tgtEl>
                                        <p:attrNameLst>
                                          <p:attrName>fillcolor</p:attrName>
                                        </p:attrNameLst>
                                      </p:cBhvr>
                                      <p:to>
                                        <a:srgbClr val="3891A7"/>
                                      </p:to>
                                    </p:animClr>
                                    <p:set>
                                      <p:cBhvr>
                                        <p:cTn id="149" dur="1000" fill="hold"/>
                                        <p:tgtEl>
                                          <p:spTgt spid="15"/>
                                        </p:tgtEl>
                                        <p:attrNameLst>
                                          <p:attrName>fill.type</p:attrName>
                                        </p:attrNameLst>
                                      </p:cBhvr>
                                      <p:to>
                                        <p:strVal val="solid"/>
                                      </p:to>
                                    </p:set>
                                    <p:set>
                                      <p:cBhvr>
                                        <p:cTn id="150" dur="1000" fill="hold"/>
                                        <p:tgtEl>
                                          <p:spTgt spid="15"/>
                                        </p:tgtEl>
                                        <p:attrNameLst>
                                          <p:attrName>fill.on</p:attrName>
                                        </p:attrNameLst>
                                      </p:cBhvr>
                                      <p:to>
                                        <p:strVal val="true"/>
                                      </p:to>
                                    </p:set>
                                  </p:childTnLst>
                                </p:cTn>
                              </p:par>
                              <p:par>
                                <p:cTn id="151" presetID="1" presetClass="emph" presetSubtype="2" fill="hold" nodeType="withEffect">
                                  <p:stCondLst>
                                    <p:cond delay="0"/>
                                  </p:stCondLst>
                                  <p:childTnLst>
                                    <p:animClr clrSpc="rgb" dir="cw">
                                      <p:cBhvr>
                                        <p:cTn id="152" dur="1000" fill="hold"/>
                                        <p:tgtEl>
                                          <p:spTgt spid="16"/>
                                        </p:tgtEl>
                                        <p:attrNameLst>
                                          <p:attrName>fillcolor</p:attrName>
                                        </p:attrNameLst>
                                      </p:cBhvr>
                                      <p:to>
                                        <a:srgbClr val="3891A7"/>
                                      </p:to>
                                    </p:animClr>
                                    <p:set>
                                      <p:cBhvr>
                                        <p:cTn id="153" dur="1000" fill="hold"/>
                                        <p:tgtEl>
                                          <p:spTgt spid="16"/>
                                        </p:tgtEl>
                                        <p:attrNameLst>
                                          <p:attrName>fill.type</p:attrName>
                                        </p:attrNameLst>
                                      </p:cBhvr>
                                      <p:to>
                                        <p:strVal val="solid"/>
                                      </p:to>
                                    </p:set>
                                    <p:set>
                                      <p:cBhvr>
                                        <p:cTn id="154" dur="1000" fill="hold"/>
                                        <p:tgtEl>
                                          <p:spTgt spid="16"/>
                                        </p:tgtEl>
                                        <p:attrNameLst>
                                          <p:attrName>fill.on</p:attrName>
                                        </p:attrNameLst>
                                      </p:cBhvr>
                                      <p:to>
                                        <p:strVal val="true"/>
                                      </p:to>
                                    </p:set>
                                  </p:childTnLst>
                                </p:cTn>
                              </p:par>
                            </p:childTnLst>
                          </p:cTn>
                        </p:par>
                        <p:par>
                          <p:cTn id="155" fill="hold">
                            <p:stCondLst>
                              <p:cond delay="3000"/>
                            </p:stCondLst>
                            <p:childTnLst>
                              <p:par>
                                <p:cTn id="156" presetID="1" presetClass="emph" presetSubtype="2" fill="hold" nodeType="afterEffect">
                                  <p:stCondLst>
                                    <p:cond delay="0"/>
                                  </p:stCondLst>
                                  <p:childTnLst>
                                    <p:animClr clrSpc="rgb" dir="cw">
                                      <p:cBhvr>
                                        <p:cTn id="157" dur="1000" fill="hold"/>
                                        <p:tgtEl>
                                          <p:spTgt spid="24"/>
                                        </p:tgtEl>
                                        <p:attrNameLst>
                                          <p:attrName>fillcolor</p:attrName>
                                        </p:attrNameLst>
                                      </p:cBhvr>
                                      <p:to>
                                        <a:srgbClr val="FEB80A"/>
                                      </p:to>
                                    </p:animClr>
                                    <p:set>
                                      <p:cBhvr>
                                        <p:cTn id="158" dur="1000" fill="hold"/>
                                        <p:tgtEl>
                                          <p:spTgt spid="24"/>
                                        </p:tgtEl>
                                        <p:attrNameLst>
                                          <p:attrName>fill.type</p:attrName>
                                        </p:attrNameLst>
                                      </p:cBhvr>
                                      <p:to>
                                        <p:strVal val="solid"/>
                                      </p:to>
                                    </p:set>
                                    <p:set>
                                      <p:cBhvr>
                                        <p:cTn id="159" dur="1000" fill="hold"/>
                                        <p:tgtEl>
                                          <p:spTgt spid="24"/>
                                        </p:tgtEl>
                                        <p:attrNameLst>
                                          <p:attrName>fill.on</p:attrName>
                                        </p:attrNameLst>
                                      </p:cBhvr>
                                      <p:to>
                                        <p:strVal val="true"/>
                                      </p:to>
                                    </p:set>
                                  </p:childTnLst>
                                </p:cTn>
                              </p:par>
                              <p:par>
                                <p:cTn id="160" presetID="1" presetClass="emph" presetSubtype="2" fill="hold" nodeType="withEffect">
                                  <p:stCondLst>
                                    <p:cond delay="0"/>
                                  </p:stCondLst>
                                  <p:childTnLst>
                                    <p:animClr clrSpc="rgb" dir="cw">
                                      <p:cBhvr>
                                        <p:cTn id="161" dur="1000" fill="hold"/>
                                        <p:tgtEl>
                                          <p:spTgt spid="25"/>
                                        </p:tgtEl>
                                        <p:attrNameLst>
                                          <p:attrName>fillcolor</p:attrName>
                                        </p:attrNameLst>
                                      </p:cBhvr>
                                      <p:to>
                                        <a:srgbClr val="FEB80A"/>
                                      </p:to>
                                    </p:animClr>
                                    <p:set>
                                      <p:cBhvr>
                                        <p:cTn id="162" dur="1000" fill="hold"/>
                                        <p:tgtEl>
                                          <p:spTgt spid="25"/>
                                        </p:tgtEl>
                                        <p:attrNameLst>
                                          <p:attrName>fill.type</p:attrName>
                                        </p:attrNameLst>
                                      </p:cBhvr>
                                      <p:to>
                                        <p:strVal val="solid"/>
                                      </p:to>
                                    </p:set>
                                    <p:set>
                                      <p:cBhvr>
                                        <p:cTn id="163" dur="1000" fill="hold"/>
                                        <p:tgtEl>
                                          <p:spTgt spid="25"/>
                                        </p:tgtEl>
                                        <p:attrNameLst>
                                          <p:attrName>fill.on</p:attrName>
                                        </p:attrNameLst>
                                      </p:cBhvr>
                                      <p:to>
                                        <p:strVal val="true"/>
                                      </p:to>
                                    </p:set>
                                  </p:childTnLst>
                                </p:cTn>
                              </p:par>
                              <p:par>
                                <p:cTn id="164" presetID="1" presetClass="emph" presetSubtype="2" fill="hold" nodeType="withEffect">
                                  <p:stCondLst>
                                    <p:cond delay="0"/>
                                  </p:stCondLst>
                                  <p:childTnLst>
                                    <p:animClr clrSpc="rgb" dir="cw">
                                      <p:cBhvr>
                                        <p:cTn id="165" dur="1000" fill="hold"/>
                                        <p:tgtEl>
                                          <p:spTgt spid="26"/>
                                        </p:tgtEl>
                                        <p:attrNameLst>
                                          <p:attrName>fillcolor</p:attrName>
                                        </p:attrNameLst>
                                      </p:cBhvr>
                                      <p:to>
                                        <a:srgbClr val="FEB80A"/>
                                      </p:to>
                                    </p:animClr>
                                    <p:set>
                                      <p:cBhvr>
                                        <p:cTn id="166" dur="1000" fill="hold"/>
                                        <p:tgtEl>
                                          <p:spTgt spid="26"/>
                                        </p:tgtEl>
                                        <p:attrNameLst>
                                          <p:attrName>fill.type</p:attrName>
                                        </p:attrNameLst>
                                      </p:cBhvr>
                                      <p:to>
                                        <p:strVal val="solid"/>
                                      </p:to>
                                    </p:set>
                                    <p:set>
                                      <p:cBhvr>
                                        <p:cTn id="167" dur="1000" fill="hold"/>
                                        <p:tgtEl>
                                          <p:spTgt spid="26"/>
                                        </p:tgtEl>
                                        <p:attrNameLst>
                                          <p:attrName>fill.on</p:attrName>
                                        </p:attrNameLst>
                                      </p:cBhvr>
                                      <p:to>
                                        <p:strVal val="true"/>
                                      </p:to>
                                    </p:set>
                                  </p:childTnLst>
                                </p:cTn>
                              </p:par>
                              <p:par>
                                <p:cTn id="168" presetID="1" presetClass="emph" presetSubtype="2" fill="hold" nodeType="withEffect">
                                  <p:stCondLst>
                                    <p:cond delay="0"/>
                                  </p:stCondLst>
                                  <p:childTnLst>
                                    <p:animClr clrSpc="rgb" dir="cw">
                                      <p:cBhvr>
                                        <p:cTn id="169" dur="1000" fill="hold"/>
                                        <p:tgtEl>
                                          <p:spTgt spid="27"/>
                                        </p:tgtEl>
                                        <p:attrNameLst>
                                          <p:attrName>fillcolor</p:attrName>
                                        </p:attrNameLst>
                                      </p:cBhvr>
                                      <p:to>
                                        <a:srgbClr val="FEB80A"/>
                                      </p:to>
                                    </p:animClr>
                                    <p:set>
                                      <p:cBhvr>
                                        <p:cTn id="170" dur="1000" fill="hold"/>
                                        <p:tgtEl>
                                          <p:spTgt spid="27"/>
                                        </p:tgtEl>
                                        <p:attrNameLst>
                                          <p:attrName>fill.type</p:attrName>
                                        </p:attrNameLst>
                                      </p:cBhvr>
                                      <p:to>
                                        <p:strVal val="solid"/>
                                      </p:to>
                                    </p:set>
                                    <p:set>
                                      <p:cBhvr>
                                        <p:cTn id="171" dur="1000" fill="hold"/>
                                        <p:tgtEl>
                                          <p:spTgt spid="27"/>
                                        </p:tgtEl>
                                        <p:attrNameLst>
                                          <p:attrName>fill.on</p:attrName>
                                        </p:attrNameLst>
                                      </p:cBhvr>
                                      <p:to>
                                        <p:strVal val="true"/>
                                      </p:to>
                                    </p:set>
                                  </p:childTnLst>
                                </p:cTn>
                              </p:par>
                              <p:par>
                                <p:cTn id="172" presetID="1" presetClass="emph" presetSubtype="2" fill="hold" nodeType="withEffect">
                                  <p:stCondLst>
                                    <p:cond delay="0"/>
                                  </p:stCondLst>
                                  <p:childTnLst>
                                    <p:animClr clrSpc="rgb" dir="cw">
                                      <p:cBhvr>
                                        <p:cTn id="173" dur="1000" fill="hold"/>
                                        <p:tgtEl>
                                          <p:spTgt spid="28"/>
                                        </p:tgtEl>
                                        <p:attrNameLst>
                                          <p:attrName>fillcolor</p:attrName>
                                        </p:attrNameLst>
                                      </p:cBhvr>
                                      <p:to>
                                        <a:srgbClr val="FEB80A"/>
                                      </p:to>
                                    </p:animClr>
                                    <p:set>
                                      <p:cBhvr>
                                        <p:cTn id="174" dur="1000" fill="hold"/>
                                        <p:tgtEl>
                                          <p:spTgt spid="28"/>
                                        </p:tgtEl>
                                        <p:attrNameLst>
                                          <p:attrName>fill.type</p:attrName>
                                        </p:attrNameLst>
                                      </p:cBhvr>
                                      <p:to>
                                        <p:strVal val="solid"/>
                                      </p:to>
                                    </p:set>
                                    <p:set>
                                      <p:cBhvr>
                                        <p:cTn id="175" dur="1000" fill="hold"/>
                                        <p:tgtEl>
                                          <p:spTgt spid="28"/>
                                        </p:tgtEl>
                                        <p:attrNameLst>
                                          <p:attrName>fill.on</p:attrName>
                                        </p:attrNameLst>
                                      </p:cBhvr>
                                      <p:to>
                                        <p:strVal val="true"/>
                                      </p:to>
                                    </p:set>
                                  </p:childTnLst>
                                </p:cTn>
                              </p:par>
                              <p:par>
                                <p:cTn id="176" presetID="1" presetClass="emph" presetSubtype="2" fill="hold" nodeType="withEffect">
                                  <p:stCondLst>
                                    <p:cond delay="0"/>
                                  </p:stCondLst>
                                  <p:childTnLst>
                                    <p:animClr clrSpc="rgb" dir="cw">
                                      <p:cBhvr>
                                        <p:cTn id="177" dur="1000" fill="hold"/>
                                        <p:tgtEl>
                                          <p:spTgt spid="29"/>
                                        </p:tgtEl>
                                        <p:attrNameLst>
                                          <p:attrName>fillcolor</p:attrName>
                                        </p:attrNameLst>
                                      </p:cBhvr>
                                      <p:to>
                                        <a:srgbClr val="FEB80A"/>
                                      </p:to>
                                    </p:animClr>
                                    <p:set>
                                      <p:cBhvr>
                                        <p:cTn id="178" dur="1000" fill="hold"/>
                                        <p:tgtEl>
                                          <p:spTgt spid="29"/>
                                        </p:tgtEl>
                                        <p:attrNameLst>
                                          <p:attrName>fill.type</p:attrName>
                                        </p:attrNameLst>
                                      </p:cBhvr>
                                      <p:to>
                                        <p:strVal val="solid"/>
                                      </p:to>
                                    </p:set>
                                    <p:set>
                                      <p:cBhvr>
                                        <p:cTn id="179" dur="1000" fill="hold"/>
                                        <p:tgtEl>
                                          <p:spTgt spid="29"/>
                                        </p:tgtEl>
                                        <p:attrNameLst>
                                          <p:attrName>fill.on</p:attrName>
                                        </p:attrNameLst>
                                      </p:cBhvr>
                                      <p:to>
                                        <p:strVal val="true"/>
                                      </p:to>
                                    </p:set>
                                  </p:childTnLst>
                                </p:cTn>
                              </p:par>
                              <p:par>
                                <p:cTn id="180" presetID="1" presetClass="emph" presetSubtype="2" fill="hold" nodeType="withEffect">
                                  <p:stCondLst>
                                    <p:cond delay="0"/>
                                  </p:stCondLst>
                                  <p:childTnLst>
                                    <p:animClr clrSpc="rgb" dir="cw">
                                      <p:cBhvr>
                                        <p:cTn id="181" dur="1000" fill="hold"/>
                                        <p:tgtEl>
                                          <p:spTgt spid="30"/>
                                        </p:tgtEl>
                                        <p:attrNameLst>
                                          <p:attrName>fillcolor</p:attrName>
                                        </p:attrNameLst>
                                      </p:cBhvr>
                                      <p:to>
                                        <a:srgbClr val="FEB80A"/>
                                      </p:to>
                                    </p:animClr>
                                    <p:set>
                                      <p:cBhvr>
                                        <p:cTn id="182" dur="1000" fill="hold"/>
                                        <p:tgtEl>
                                          <p:spTgt spid="30"/>
                                        </p:tgtEl>
                                        <p:attrNameLst>
                                          <p:attrName>fill.type</p:attrName>
                                        </p:attrNameLst>
                                      </p:cBhvr>
                                      <p:to>
                                        <p:strVal val="solid"/>
                                      </p:to>
                                    </p:set>
                                    <p:set>
                                      <p:cBhvr>
                                        <p:cTn id="183" dur="1000" fill="hold"/>
                                        <p:tgtEl>
                                          <p:spTgt spid="30"/>
                                        </p:tgtEl>
                                        <p:attrNameLst>
                                          <p:attrName>fill.on</p:attrName>
                                        </p:attrNameLst>
                                      </p:cBhvr>
                                      <p:to>
                                        <p:strVal val="true"/>
                                      </p:to>
                                    </p:set>
                                  </p:childTnLst>
                                </p:cTn>
                              </p:par>
                            </p:childTnLst>
                          </p:cTn>
                        </p:par>
                        <p:par>
                          <p:cTn id="184" fill="hold">
                            <p:stCondLst>
                              <p:cond delay="4000"/>
                            </p:stCondLst>
                            <p:childTnLst>
                              <p:par>
                                <p:cTn id="185" presetID="10" presetClass="entr" presetSubtype="0" fill="hold" grpId="0" nodeType="afterEffect">
                                  <p:stCondLst>
                                    <p:cond delay="0"/>
                                  </p:stCondLst>
                                  <p:childTnLst>
                                    <p:set>
                                      <p:cBhvr>
                                        <p:cTn id="186" dur="1" fill="hold">
                                          <p:stCondLst>
                                            <p:cond delay="0"/>
                                          </p:stCondLst>
                                        </p:cTn>
                                        <p:tgtEl>
                                          <p:spTgt spid="33"/>
                                        </p:tgtEl>
                                        <p:attrNameLst>
                                          <p:attrName>style.visibility</p:attrName>
                                        </p:attrNameLst>
                                      </p:cBhvr>
                                      <p:to>
                                        <p:strVal val="visible"/>
                                      </p:to>
                                    </p:set>
                                    <p:animEffect transition="in" filter="fade">
                                      <p:cBhvr>
                                        <p:cTn id="187" dur="500"/>
                                        <p:tgtEl>
                                          <p:spTgt spid="33"/>
                                        </p:tgtEl>
                                      </p:cBhvr>
                                    </p:animEffect>
                                  </p:childTnLst>
                                </p:cTn>
                              </p:par>
                            </p:childTnLst>
                          </p:cTn>
                        </p:par>
                        <p:par>
                          <p:cTn id="188" fill="hold">
                            <p:stCondLst>
                              <p:cond delay="4500"/>
                            </p:stCondLst>
                            <p:childTnLst>
                              <p:par>
                                <p:cTn id="189" presetID="10" presetClass="entr" presetSubtype="0" fill="hold" grpId="0" nodeType="afterEffect">
                                  <p:stCondLst>
                                    <p:cond delay="0"/>
                                  </p:stCondLst>
                                  <p:childTnLst>
                                    <p:set>
                                      <p:cBhvr>
                                        <p:cTn id="190" dur="1" fill="hold">
                                          <p:stCondLst>
                                            <p:cond delay="0"/>
                                          </p:stCondLst>
                                        </p:cTn>
                                        <p:tgtEl>
                                          <p:spTgt spid="34"/>
                                        </p:tgtEl>
                                        <p:attrNameLst>
                                          <p:attrName>style.visibility</p:attrName>
                                        </p:attrNameLst>
                                      </p:cBhvr>
                                      <p:to>
                                        <p:strVal val="visible"/>
                                      </p:to>
                                    </p:set>
                                    <p:animEffect transition="in" filter="fade">
                                      <p:cBhvr>
                                        <p:cTn id="191" dur="500"/>
                                        <p:tgtEl>
                                          <p:spTgt spid="34"/>
                                        </p:tgtEl>
                                      </p:cBhvr>
                                    </p:animEffect>
                                  </p:childTnLst>
                                </p:cTn>
                              </p:par>
                            </p:childTnLst>
                          </p:cTn>
                        </p:par>
                        <p:par>
                          <p:cTn id="192" fill="hold">
                            <p:stCondLst>
                              <p:cond delay="5000"/>
                            </p:stCondLst>
                            <p:childTnLst>
                              <p:par>
                                <p:cTn id="193" presetID="10" presetClass="entr" presetSubtype="0" fill="hold" grpId="0" nodeType="afterEffect">
                                  <p:stCondLst>
                                    <p:cond delay="0"/>
                                  </p:stCondLst>
                                  <p:childTnLst>
                                    <p:set>
                                      <p:cBhvr>
                                        <p:cTn id="194" dur="1" fill="hold">
                                          <p:stCondLst>
                                            <p:cond delay="0"/>
                                          </p:stCondLst>
                                        </p:cTn>
                                        <p:tgtEl>
                                          <p:spTgt spid="35"/>
                                        </p:tgtEl>
                                        <p:attrNameLst>
                                          <p:attrName>style.visibility</p:attrName>
                                        </p:attrNameLst>
                                      </p:cBhvr>
                                      <p:to>
                                        <p:strVal val="visible"/>
                                      </p:to>
                                    </p:set>
                                    <p:animEffect transition="in" filter="fade">
                                      <p:cBhvr>
                                        <p:cTn id="195" dur="500"/>
                                        <p:tgtEl>
                                          <p:spTgt spid="35"/>
                                        </p:tgtEl>
                                      </p:cBhvr>
                                    </p:animEffect>
                                  </p:childTnLst>
                                </p:cTn>
                              </p:par>
                            </p:childTnLst>
                          </p:cTn>
                        </p:par>
                      </p:childTnLst>
                    </p:cTn>
                  </p:par>
                  <p:par>
                    <p:cTn id="196" fill="hold">
                      <p:stCondLst>
                        <p:cond delay="indefinite"/>
                      </p:stCondLst>
                      <p:childTnLst>
                        <p:par>
                          <p:cTn id="197" fill="hold">
                            <p:stCondLst>
                              <p:cond delay="0"/>
                            </p:stCondLst>
                            <p:childTnLst>
                              <p:par>
                                <p:cTn id="198" presetID="10" presetClass="entr" presetSubtype="0" fill="hold" grpId="0" nodeType="clickEffect">
                                  <p:stCondLst>
                                    <p:cond delay="0"/>
                                  </p:stCondLst>
                                  <p:childTnLst>
                                    <p:set>
                                      <p:cBhvr>
                                        <p:cTn id="199" dur="1" fill="hold">
                                          <p:stCondLst>
                                            <p:cond delay="0"/>
                                          </p:stCondLst>
                                        </p:cTn>
                                        <p:tgtEl>
                                          <p:spTgt spid="4">
                                            <p:txEl>
                                              <p:pRg st="0" end="0"/>
                                            </p:txEl>
                                          </p:spTgt>
                                        </p:tgtEl>
                                        <p:attrNameLst>
                                          <p:attrName>style.visibility</p:attrName>
                                        </p:attrNameLst>
                                      </p:cBhvr>
                                      <p:to>
                                        <p:strVal val="visible"/>
                                      </p:to>
                                    </p:set>
                                    <p:animEffect transition="in" filter="fade">
                                      <p:cBhvr>
                                        <p:cTn id="200" dur="500"/>
                                        <p:tgtEl>
                                          <p:spTgt spid="4">
                                            <p:txEl>
                                              <p:pRg st="0" end="0"/>
                                            </p:txEl>
                                          </p:spTgt>
                                        </p:tgtEl>
                                      </p:cBhvr>
                                    </p:animEffect>
                                  </p:childTnLst>
                                </p:cTn>
                              </p:par>
                            </p:childTnLst>
                          </p:cTn>
                        </p:par>
                        <p:par>
                          <p:cTn id="201" fill="hold">
                            <p:stCondLst>
                              <p:cond delay="500"/>
                            </p:stCondLst>
                            <p:childTnLst>
                              <p:par>
                                <p:cTn id="202" presetID="10" presetClass="entr" presetSubtype="0" fill="hold" grpId="0" nodeType="afterEffect">
                                  <p:stCondLst>
                                    <p:cond delay="0"/>
                                  </p:stCondLst>
                                  <p:childTnLst>
                                    <p:set>
                                      <p:cBhvr>
                                        <p:cTn id="203" dur="1" fill="hold">
                                          <p:stCondLst>
                                            <p:cond delay="0"/>
                                          </p:stCondLst>
                                        </p:cTn>
                                        <p:tgtEl>
                                          <p:spTgt spid="4">
                                            <p:txEl>
                                              <p:pRg st="1" end="1"/>
                                            </p:txEl>
                                          </p:spTgt>
                                        </p:tgtEl>
                                        <p:attrNameLst>
                                          <p:attrName>style.visibility</p:attrName>
                                        </p:attrNameLst>
                                      </p:cBhvr>
                                      <p:to>
                                        <p:strVal val="visible"/>
                                      </p:to>
                                    </p:set>
                                    <p:animEffect transition="in" filter="fade">
                                      <p:cBhvr>
                                        <p:cTn id="204" dur="500"/>
                                        <p:tgtEl>
                                          <p:spTgt spid="4">
                                            <p:txEl>
                                              <p:pRg st="1" end="1"/>
                                            </p:txEl>
                                          </p:spTgt>
                                        </p:tgtEl>
                                      </p:cBhvr>
                                    </p:animEffect>
                                  </p:childTnLst>
                                </p:cTn>
                              </p:par>
                            </p:childTnLst>
                          </p:cTn>
                        </p:par>
                        <p:par>
                          <p:cTn id="205" fill="hold">
                            <p:stCondLst>
                              <p:cond delay="1000"/>
                            </p:stCondLst>
                            <p:childTnLst>
                              <p:par>
                                <p:cTn id="206" presetID="10" presetClass="entr" presetSubtype="0" fill="hold" grpId="0" nodeType="afterEffect">
                                  <p:stCondLst>
                                    <p:cond delay="0"/>
                                  </p:stCondLst>
                                  <p:childTnLst>
                                    <p:set>
                                      <p:cBhvr>
                                        <p:cTn id="207" dur="1" fill="hold">
                                          <p:stCondLst>
                                            <p:cond delay="0"/>
                                          </p:stCondLst>
                                        </p:cTn>
                                        <p:tgtEl>
                                          <p:spTgt spid="4">
                                            <p:txEl>
                                              <p:pRg st="2" end="2"/>
                                            </p:txEl>
                                          </p:spTgt>
                                        </p:tgtEl>
                                        <p:attrNameLst>
                                          <p:attrName>style.visibility</p:attrName>
                                        </p:attrNameLst>
                                      </p:cBhvr>
                                      <p:to>
                                        <p:strVal val="visible"/>
                                      </p:to>
                                    </p:set>
                                    <p:animEffect transition="in" filter="fade">
                                      <p:cBhvr>
                                        <p:cTn id="208" dur="500"/>
                                        <p:tgtEl>
                                          <p:spTgt spid="4">
                                            <p:txEl>
                                              <p:pRg st="2" end="2"/>
                                            </p:txEl>
                                          </p:spTgt>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grpId="0" nodeType="clickEffect">
                                  <p:stCondLst>
                                    <p:cond delay="0"/>
                                  </p:stCondLst>
                                  <p:childTnLst>
                                    <p:set>
                                      <p:cBhvr>
                                        <p:cTn id="212" dur="1" fill="hold">
                                          <p:stCondLst>
                                            <p:cond delay="0"/>
                                          </p:stCondLst>
                                        </p:cTn>
                                        <p:tgtEl>
                                          <p:spTgt spid="71"/>
                                        </p:tgtEl>
                                        <p:attrNameLst>
                                          <p:attrName>style.visibility</p:attrName>
                                        </p:attrNameLst>
                                      </p:cBhvr>
                                      <p:to>
                                        <p:strVal val="visible"/>
                                      </p:to>
                                    </p:set>
                                    <p:animEffect transition="in" filter="fade">
                                      <p:cBhvr>
                                        <p:cTn id="213" dur="500"/>
                                        <p:tgtEl>
                                          <p:spTgt spid="71"/>
                                        </p:tgtEl>
                                      </p:cBhvr>
                                    </p:animEffect>
                                  </p:childTnLst>
                                </p:cTn>
                              </p:par>
                              <p:par>
                                <p:cTn id="214" presetID="10" presetClass="entr" presetSubtype="0" fill="hold" nodeType="withEffect">
                                  <p:stCondLst>
                                    <p:cond delay="0"/>
                                  </p:stCondLst>
                                  <p:childTnLst>
                                    <p:set>
                                      <p:cBhvr>
                                        <p:cTn id="215" dur="1" fill="hold">
                                          <p:stCondLst>
                                            <p:cond delay="0"/>
                                          </p:stCondLst>
                                        </p:cTn>
                                        <p:tgtEl>
                                          <p:spTgt spid="32"/>
                                        </p:tgtEl>
                                        <p:attrNameLst>
                                          <p:attrName>style.visibility</p:attrName>
                                        </p:attrNameLst>
                                      </p:cBhvr>
                                      <p:to>
                                        <p:strVal val="visible"/>
                                      </p:to>
                                    </p:set>
                                    <p:animEffect transition="in" filter="fade">
                                      <p:cBhvr>
                                        <p:cTn id="216" dur="500"/>
                                        <p:tgtEl>
                                          <p:spTgt spid="32"/>
                                        </p:tgtEl>
                                      </p:cBhvr>
                                    </p:animEffect>
                                  </p:childTnLst>
                                </p:cTn>
                              </p:par>
                            </p:childTnLst>
                          </p:cTn>
                        </p:par>
                      </p:childTnLst>
                    </p:cTn>
                  </p:par>
                  <p:par>
                    <p:cTn id="217" fill="hold">
                      <p:stCondLst>
                        <p:cond delay="indefinite"/>
                      </p:stCondLst>
                      <p:childTnLst>
                        <p:par>
                          <p:cTn id="218" fill="hold">
                            <p:stCondLst>
                              <p:cond delay="0"/>
                            </p:stCondLst>
                            <p:childTnLst>
                              <p:par>
                                <p:cTn id="219" presetID="22" presetClass="entr" presetSubtype="4" fill="hold" grpId="0" nodeType="clickEffect">
                                  <p:stCondLst>
                                    <p:cond delay="0"/>
                                  </p:stCondLst>
                                  <p:childTnLst>
                                    <p:set>
                                      <p:cBhvr>
                                        <p:cTn id="220" dur="1" fill="hold">
                                          <p:stCondLst>
                                            <p:cond delay="0"/>
                                          </p:stCondLst>
                                        </p:cTn>
                                        <p:tgtEl>
                                          <p:spTgt spid="40"/>
                                        </p:tgtEl>
                                        <p:attrNameLst>
                                          <p:attrName>style.visibility</p:attrName>
                                        </p:attrNameLst>
                                      </p:cBhvr>
                                      <p:to>
                                        <p:strVal val="visible"/>
                                      </p:to>
                                    </p:set>
                                    <p:animEffect transition="in" filter="wipe(down)">
                                      <p:cBhvr>
                                        <p:cTn id="221" dur="500"/>
                                        <p:tgtEl>
                                          <p:spTgt spid="40"/>
                                        </p:tgtEl>
                                      </p:cBhvr>
                                    </p:animEffect>
                                  </p:childTnLst>
                                </p:cTn>
                              </p:par>
                            </p:childTnLst>
                          </p:cTn>
                        </p:par>
                        <p:par>
                          <p:cTn id="222" fill="hold">
                            <p:stCondLst>
                              <p:cond delay="500"/>
                            </p:stCondLst>
                            <p:childTnLst>
                              <p:par>
                                <p:cTn id="223" presetID="22" presetClass="entr" presetSubtype="4" fill="hold" grpId="0" nodeType="afterEffect">
                                  <p:stCondLst>
                                    <p:cond delay="0"/>
                                  </p:stCondLst>
                                  <p:childTnLst>
                                    <p:set>
                                      <p:cBhvr>
                                        <p:cTn id="224" dur="1" fill="hold">
                                          <p:stCondLst>
                                            <p:cond delay="0"/>
                                          </p:stCondLst>
                                        </p:cTn>
                                        <p:tgtEl>
                                          <p:spTgt spid="39"/>
                                        </p:tgtEl>
                                        <p:attrNameLst>
                                          <p:attrName>style.visibility</p:attrName>
                                        </p:attrNameLst>
                                      </p:cBhvr>
                                      <p:to>
                                        <p:strVal val="visible"/>
                                      </p:to>
                                    </p:set>
                                    <p:animEffect transition="in" filter="wipe(down)">
                                      <p:cBhvr>
                                        <p:cTn id="225" dur="1000"/>
                                        <p:tgtEl>
                                          <p:spTgt spid="39"/>
                                        </p:tgtEl>
                                      </p:cBhvr>
                                    </p:animEffect>
                                  </p:childTnLst>
                                </p:cTn>
                              </p:par>
                            </p:childTnLst>
                          </p:cTn>
                        </p:par>
                      </p:childTnLst>
                    </p:cTn>
                  </p:par>
                  <p:par>
                    <p:cTn id="226" fill="hold">
                      <p:stCondLst>
                        <p:cond delay="indefinite"/>
                      </p:stCondLst>
                      <p:childTnLst>
                        <p:par>
                          <p:cTn id="227" fill="hold">
                            <p:stCondLst>
                              <p:cond delay="0"/>
                            </p:stCondLst>
                            <p:childTnLst>
                              <p:par>
                                <p:cTn id="228" presetID="22" presetClass="entr" presetSubtype="4" fill="hold" grpId="0" nodeType="clickEffect">
                                  <p:stCondLst>
                                    <p:cond delay="0"/>
                                  </p:stCondLst>
                                  <p:childTnLst>
                                    <p:set>
                                      <p:cBhvr>
                                        <p:cTn id="229" dur="1" fill="hold">
                                          <p:stCondLst>
                                            <p:cond delay="0"/>
                                          </p:stCondLst>
                                        </p:cTn>
                                        <p:tgtEl>
                                          <p:spTgt spid="72"/>
                                        </p:tgtEl>
                                        <p:attrNameLst>
                                          <p:attrName>style.visibility</p:attrName>
                                        </p:attrNameLst>
                                      </p:cBhvr>
                                      <p:to>
                                        <p:strVal val="visible"/>
                                      </p:to>
                                    </p:set>
                                    <p:animEffect transition="in" filter="wipe(down)">
                                      <p:cBhvr>
                                        <p:cTn id="230" dur="500"/>
                                        <p:tgtEl>
                                          <p:spTgt spid="72"/>
                                        </p:tgtEl>
                                      </p:cBhvr>
                                    </p:animEffect>
                                  </p:childTnLst>
                                </p:cTn>
                              </p:par>
                              <p:par>
                                <p:cTn id="231" presetID="22" presetClass="entr" presetSubtype="1" fill="hold" grpId="0" nodeType="withEffect">
                                  <p:stCondLst>
                                    <p:cond delay="0"/>
                                  </p:stCondLst>
                                  <p:childTnLst>
                                    <p:set>
                                      <p:cBhvr>
                                        <p:cTn id="232" dur="1" fill="hold">
                                          <p:stCondLst>
                                            <p:cond delay="0"/>
                                          </p:stCondLst>
                                        </p:cTn>
                                        <p:tgtEl>
                                          <p:spTgt spid="73"/>
                                        </p:tgtEl>
                                        <p:attrNameLst>
                                          <p:attrName>style.visibility</p:attrName>
                                        </p:attrNameLst>
                                      </p:cBhvr>
                                      <p:to>
                                        <p:strVal val="visible"/>
                                      </p:to>
                                    </p:set>
                                    <p:animEffect transition="in" filter="wipe(up)">
                                      <p:cBhvr>
                                        <p:cTn id="233"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3" grpId="0" animBg="1"/>
      <p:bldP spid="34" grpId="0" animBg="1"/>
      <p:bldP spid="35" grpId="0" animBg="1"/>
      <p:bldP spid="39" grpId="0" animBg="1"/>
      <p:bldP spid="40" grpId="0" animBg="1"/>
      <p:bldP spid="36" grpId="0" animBg="1"/>
      <p:bldP spid="5" grpId="0" animBg="1"/>
      <p:bldP spid="6" grpId="0" animBg="1"/>
      <p:bldP spid="4" grpId="0" uiExpand="1" build="p"/>
      <p:bldP spid="71" grpId="0"/>
      <p:bldP spid="72" grpId="0" animBg="1"/>
      <p:bldP spid="7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聚类分析</a:t>
            </a:r>
            <a:endParaRPr lang="zh-CN" altLang="en-US" dirty="0"/>
          </a:p>
        </p:txBody>
      </p:sp>
      <p:sp>
        <p:nvSpPr>
          <p:cNvPr id="31" name="内容占位符 30"/>
          <p:cNvSpPr>
            <a:spLocks noGrp="1"/>
          </p:cNvSpPr>
          <p:nvPr>
            <p:ph idx="1"/>
          </p:nvPr>
        </p:nvSpPr>
        <p:spPr/>
        <p:txBody>
          <a:bodyPr/>
          <a:lstStyle/>
          <a:p>
            <a:r>
              <a:rPr lang="zh-CN" altLang="en-US" dirty="0"/>
              <a:t>聚类是将物理或抽象对象的集合划分成为由类似的对象组成的多个属类的过程。</a:t>
            </a:r>
          </a:p>
        </p:txBody>
      </p:sp>
      <p:sp>
        <p:nvSpPr>
          <p:cNvPr id="8" name="AutoShape 10"/>
          <p:cNvSpPr>
            <a:spLocks noChangeArrowheads="1"/>
          </p:cNvSpPr>
          <p:nvPr/>
        </p:nvSpPr>
        <p:spPr bwMode="auto">
          <a:xfrm>
            <a:off x="3178924" y="3878465"/>
            <a:ext cx="110905" cy="99176"/>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9" name="AutoShape 11"/>
          <p:cNvSpPr>
            <a:spLocks noChangeArrowheads="1"/>
          </p:cNvSpPr>
          <p:nvPr/>
        </p:nvSpPr>
        <p:spPr bwMode="auto">
          <a:xfrm>
            <a:off x="1676400" y="4594861"/>
            <a:ext cx="144592" cy="129933"/>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0" name="AutoShape 12"/>
          <p:cNvSpPr>
            <a:spLocks noChangeArrowheads="1"/>
          </p:cNvSpPr>
          <p:nvPr/>
        </p:nvSpPr>
        <p:spPr bwMode="auto">
          <a:xfrm>
            <a:off x="2522408" y="3909061"/>
            <a:ext cx="144592" cy="129933"/>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1" name="AutoShape 13"/>
          <p:cNvSpPr>
            <a:spLocks noChangeArrowheads="1"/>
          </p:cNvSpPr>
          <p:nvPr/>
        </p:nvSpPr>
        <p:spPr bwMode="auto">
          <a:xfrm>
            <a:off x="2590802" y="3634741"/>
            <a:ext cx="159125" cy="142295"/>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2" name="AutoShape 14"/>
          <p:cNvSpPr>
            <a:spLocks noChangeArrowheads="1"/>
          </p:cNvSpPr>
          <p:nvPr/>
        </p:nvSpPr>
        <p:spPr bwMode="auto">
          <a:xfrm>
            <a:off x="3033499" y="4807828"/>
            <a:ext cx="144592" cy="129933"/>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3" name="AutoShape 15"/>
          <p:cNvSpPr>
            <a:spLocks noChangeArrowheads="1"/>
          </p:cNvSpPr>
          <p:nvPr/>
        </p:nvSpPr>
        <p:spPr bwMode="auto">
          <a:xfrm>
            <a:off x="3200402" y="4577200"/>
            <a:ext cx="96439" cy="86240"/>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4" name="AutoShape 16"/>
          <p:cNvSpPr>
            <a:spLocks noChangeArrowheads="1"/>
          </p:cNvSpPr>
          <p:nvPr/>
        </p:nvSpPr>
        <p:spPr bwMode="auto">
          <a:xfrm>
            <a:off x="3436808" y="4533508"/>
            <a:ext cx="144592" cy="129933"/>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5" name="AutoShape 17"/>
          <p:cNvSpPr>
            <a:spLocks noChangeArrowheads="1"/>
          </p:cNvSpPr>
          <p:nvPr/>
        </p:nvSpPr>
        <p:spPr bwMode="auto">
          <a:xfrm>
            <a:off x="3581400" y="4865622"/>
            <a:ext cx="144592" cy="129933"/>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6" name="AutoShape 18"/>
          <p:cNvSpPr>
            <a:spLocks noChangeArrowheads="1"/>
          </p:cNvSpPr>
          <p:nvPr/>
        </p:nvSpPr>
        <p:spPr bwMode="auto">
          <a:xfrm>
            <a:off x="3055808" y="5013568"/>
            <a:ext cx="144592" cy="129933"/>
          </a:xfrm>
          <a:prstGeom prst="flowChartExtract">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7" name="AutoShape 19"/>
          <p:cNvSpPr>
            <a:spLocks noChangeArrowheads="1"/>
          </p:cNvSpPr>
          <p:nvPr/>
        </p:nvSpPr>
        <p:spPr bwMode="auto">
          <a:xfrm>
            <a:off x="1752600" y="4053448"/>
            <a:ext cx="144592" cy="129933"/>
          </a:xfrm>
          <a:prstGeom prst="star4">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8" name="AutoShape 20"/>
          <p:cNvSpPr>
            <a:spLocks noChangeArrowheads="1"/>
          </p:cNvSpPr>
          <p:nvPr/>
        </p:nvSpPr>
        <p:spPr bwMode="auto">
          <a:xfrm>
            <a:off x="2903408" y="3847708"/>
            <a:ext cx="144592" cy="129933"/>
          </a:xfrm>
          <a:prstGeom prst="star4">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19" name="AutoShape 21"/>
          <p:cNvSpPr>
            <a:spLocks noChangeArrowheads="1"/>
          </p:cNvSpPr>
          <p:nvPr/>
        </p:nvSpPr>
        <p:spPr bwMode="auto">
          <a:xfrm>
            <a:off x="2827208" y="4569724"/>
            <a:ext cx="144592" cy="129933"/>
          </a:xfrm>
          <a:prstGeom prst="star4">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0" name="AutoShape 22"/>
          <p:cNvSpPr>
            <a:spLocks noChangeArrowheads="1"/>
          </p:cNvSpPr>
          <p:nvPr/>
        </p:nvSpPr>
        <p:spPr bwMode="auto">
          <a:xfrm>
            <a:off x="3276600" y="3566161"/>
            <a:ext cx="144592" cy="129933"/>
          </a:xfrm>
          <a:prstGeom prst="star4">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1" name="AutoShape 23"/>
          <p:cNvSpPr>
            <a:spLocks noChangeArrowheads="1"/>
          </p:cNvSpPr>
          <p:nvPr/>
        </p:nvSpPr>
        <p:spPr bwMode="auto">
          <a:xfrm>
            <a:off x="2979608" y="3634741"/>
            <a:ext cx="144592" cy="129933"/>
          </a:xfrm>
          <a:prstGeom prst="star4">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2" name="AutoShape 24"/>
          <p:cNvSpPr>
            <a:spLocks noChangeArrowheads="1"/>
          </p:cNvSpPr>
          <p:nvPr/>
        </p:nvSpPr>
        <p:spPr bwMode="auto">
          <a:xfrm>
            <a:off x="1386385" y="4052029"/>
            <a:ext cx="144592" cy="129933"/>
          </a:xfrm>
          <a:prstGeom prst="star4">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3" name="AutoShape 25"/>
          <p:cNvSpPr>
            <a:spLocks noChangeArrowheads="1"/>
          </p:cNvSpPr>
          <p:nvPr/>
        </p:nvSpPr>
        <p:spPr bwMode="auto">
          <a:xfrm>
            <a:off x="1828800" y="4259188"/>
            <a:ext cx="144592" cy="129933"/>
          </a:xfrm>
          <a:prstGeom prst="star4">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4" name="AutoShape 26"/>
          <p:cNvSpPr>
            <a:spLocks noChangeArrowheads="1"/>
          </p:cNvSpPr>
          <p:nvPr/>
        </p:nvSpPr>
        <p:spPr bwMode="auto">
          <a:xfrm>
            <a:off x="3360608" y="3840481"/>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5" name="AutoShape 27"/>
          <p:cNvSpPr>
            <a:spLocks noChangeArrowheads="1"/>
          </p:cNvSpPr>
          <p:nvPr/>
        </p:nvSpPr>
        <p:spPr bwMode="auto">
          <a:xfrm>
            <a:off x="3276600" y="4791648"/>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6" name="AutoShape 28"/>
          <p:cNvSpPr>
            <a:spLocks noChangeArrowheads="1"/>
          </p:cNvSpPr>
          <p:nvPr/>
        </p:nvSpPr>
        <p:spPr bwMode="auto">
          <a:xfrm>
            <a:off x="1608008" y="4317519"/>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7" name="AutoShape 29"/>
          <p:cNvSpPr>
            <a:spLocks noChangeArrowheads="1"/>
          </p:cNvSpPr>
          <p:nvPr/>
        </p:nvSpPr>
        <p:spPr bwMode="auto">
          <a:xfrm>
            <a:off x="1379408" y="4495749"/>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8" name="AutoShape 30"/>
          <p:cNvSpPr>
            <a:spLocks noChangeArrowheads="1"/>
          </p:cNvSpPr>
          <p:nvPr/>
        </p:nvSpPr>
        <p:spPr bwMode="auto">
          <a:xfrm>
            <a:off x="3581400" y="4643699"/>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29" name="AutoShape 31"/>
          <p:cNvSpPr>
            <a:spLocks noChangeArrowheads="1"/>
          </p:cNvSpPr>
          <p:nvPr/>
        </p:nvSpPr>
        <p:spPr bwMode="auto">
          <a:xfrm flipV="1">
            <a:off x="1912808" y="4594861"/>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30" name="AutoShape 32"/>
          <p:cNvSpPr>
            <a:spLocks noChangeArrowheads="1"/>
          </p:cNvSpPr>
          <p:nvPr/>
        </p:nvSpPr>
        <p:spPr bwMode="auto">
          <a:xfrm>
            <a:off x="1579269" y="3847708"/>
            <a:ext cx="144592" cy="129933"/>
          </a:xfrm>
          <a:prstGeom prst="octagon">
            <a:avLst>
              <a:gd name="adj" fmla="val 29287"/>
            </a:avLst>
          </a:prstGeom>
          <a:solidFill>
            <a:schemeClr val="tx1">
              <a:lumMod val="50000"/>
              <a:lumOff val="50000"/>
            </a:schemeClr>
          </a:solidFill>
          <a:ln w="9525">
            <a:solidFill>
              <a:schemeClr val="tx1"/>
            </a:solidFill>
            <a:miter lim="800000"/>
            <a:headEnd/>
            <a:tailEnd/>
          </a:ln>
          <a:effectLst/>
        </p:spPr>
        <p:txBody>
          <a:bodyPr wrap="none" anchor="ctr"/>
          <a:lstStyle/>
          <a:p>
            <a:endParaRPr lang="zh-CN" altLang="en-US"/>
          </a:p>
        </p:txBody>
      </p:sp>
      <p:sp>
        <p:nvSpPr>
          <p:cNvPr id="38" name="矩形 37"/>
          <p:cNvSpPr/>
          <p:nvPr/>
        </p:nvSpPr>
        <p:spPr>
          <a:xfrm>
            <a:off x="4860000" y="3449250"/>
            <a:ext cx="4140000" cy="2289858"/>
          </a:xfrm>
          <a:prstGeom prst="rect">
            <a:avLst/>
          </a:prstGeom>
        </p:spPr>
        <p:txBody>
          <a:bodyPr wrap="square" lIns="0" tIns="0" rIns="0" bIns="0">
            <a:spAutoFit/>
          </a:bodyPr>
          <a:lstStyle/>
          <a:p>
            <a:pPr>
              <a:lnSpc>
                <a:spcPct val="120000"/>
              </a:lnSpc>
            </a:pPr>
            <a:r>
              <a:rPr lang="zh-CN" altLang="en-US" sz="2400" dirty="0">
                <a:latin typeface="华文细黑" pitchFamily="2" charset="-122"/>
                <a:ea typeface="华文细黑" pitchFamily="2" charset="-122"/>
              </a:rPr>
              <a:t>聚类分析按照一定的算法规则，将判定为较为</a:t>
            </a:r>
            <a:r>
              <a:rPr lang="zh-CN" altLang="en-US" sz="2400" dirty="0">
                <a:solidFill>
                  <a:srgbClr val="C00000"/>
                </a:solidFill>
                <a:latin typeface="华文细黑" pitchFamily="2" charset="-122"/>
                <a:ea typeface="华文细黑" pitchFamily="2" charset="-122"/>
              </a:rPr>
              <a:t>相近</a:t>
            </a:r>
            <a:r>
              <a:rPr lang="zh-CN" altLang="en-US" sz="2400" dirty="0">
                <a:latin typeface="华文细黑" pitchFamily="2" charset="-122"/>
                <a:ea typeface="华文细黑" pitchFamily="2" charset="-122"/>
              </a:rPr>
              <a:t>和</a:t>
            </a:r>
            <a:r>
              <a:rPr lang="zh-CN" altLang="en-US" sz="2400" dirty="0">
                <a:solidFill>
                  <a:srgbClr val="C00000"/>
                </a:solidFill>
                <a:latin typeface="华文细黑" pitchFamily="2" charset="-122"/>
                <a:ea typeface="华文细黑" pitchFamily="2" charset="-122"/>
              </a:rPr>
              <a:t>相似</a:t>
            </a:r>
            <a:r>
              <a:rPr lang="zh-CN" altLang="en-US" sz="2400" dirty="0">
                <a:latin typeface="华文细黑" pitchFamily="2" charset="-122"/>
                <a:ea typeface="华文细黑" pitchFamily="2" charset="-122"/>
              </a:rPr>
              <a:t>的对象，或具有相互</a:t>
            </a:r>
            <a:r>
              <a:rPr lang="zh-CN" altLang="en-US" sz="2400" dirty="0">
                <a:solidFill>
                  <a:srgbClr val="C00000"/>
                </a:solidFill>
                <a:latin typeface="华文细黑" pitchFamily="2" charset="-122"/>
                <a:ea typeface="华文细黑" pitchFamily="2" charset="-122"/>
              </a:rPr>
              <a:t>依赖和关联</a:t>
            </a:r>
            <a:r>
              <a:rPr lang="zh-CN" altLang="en-US" sz="2400" dirty="0">
                <a:latin typeface="华文细黑" pitchFamily="2" charset="-122"/>
                <a:ea typeface="华文细黑" pitchFamily="2" charset="-122"/>
              </a:rPr>
              <a:t>关系的数据聚集为自相似的组群，构成不同的</a:t>
            </a:r>
            <a:r>
              <a:rPr lang="zh-CN" altLang="en-US" sz="2800" dirty="0">
                <a:solidFill>
                  <a:srgbClr val="C00000"/>
                </a:solidFill>
                <a:latin typeface="华文细黑" pitchFamily="2" charset="-122"/>
                <a:ea typeface="华文细黑" pitchFamily="2" charset="-122"/>
              </a:rPr>
              <a:t>簇</a:t>
            </a:r>
            <a:r>
              <a:rPr lang="zh-CN" altLang="en-US" sz="2400" dirty="0">
                <a:latin typeface="华文细黑" pitchFamily="2" charset="-122"/>
                <a:ea typeface="华文细黑" pitchFamily="2" charset="-122"/>
              </a:rPr>
              <a:t>。</a:t>
            </a:r>
            <a:endParaRPr lang="en-US" altLang="zh-CN" sz="2400" dirty="0">
              <a:latin typeface="华文细黑" pitchFamily="2" charset="-122"/>
              <a:ea typeface="华文细黑" pitchFamily="2" charset="-122"/>
            </a:endParaRPr>
          </a:p>
        </p:txBody>
      </p:sp>
      <p:sp>
        <p:nvSpPr>
          <p:cNvPr id="36" name="Line 3"/>
          <p:cNvSpPr>
            <a:spLocks noChangeShapeType="1"/>
          </p:cNvSpPr>
          <p:nvPr/>
        </p:nvSpPr>
        <p:spPr bwMode="auto">
          <a:xfrm flipV="1">
            <a:off x="1406900" y="4709559"/>
            <a:ext cx="816519" cy="5839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2"/>
          <p:cNvSpPr>
            <a:spLocks noChangeShapeType="1"/>
          </p:cNvSpPr>
          <p:nvPr/>
        </p:nvSpPr>
        <p:spPr bwMode="auto">
          <a:xfrm>
            <a:off x="2223417" y="3180935"/>
            <a:ext cx="0" cy="1555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1"/>
          <p:cNvSpPr>
            <a:spLocks noChangeShapeType="1"/>
          </p:cNvSpPr>
          <p:nvPr/>
        </p:nvSpPr>
        <p:spPr bwMode="auto">
          <a:xfrm>
            <a:off x="2223417" y="4718277"/>
            <a:ext cx="2088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云形标注 36"/>
          <p:cNvSpPr/>
          <p:nvPr/>
        </p:nvSpPr>
        <p:spPr>
          <a:xfrm>
            <a:off x="5486400" y="2400300"/>
            <a:ext cx="2667000" cy="1048950"/>
          </a:xfrm>
          <a:prstGeom prst="cloudCallout">
            <a:avLst>
              <a:gd name="adj1" fmla="val -38049"/>
              <a:gd name="adj2" fmla="val 1422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en-US" sz="2400" dirty="0">
                <a:latin typeface="华文细黑" pitchFamily="2" charset="-122"/>
                <a:ea typeface="华文细黑" pitchFamily="2" charset="-122"/>
              </a:rPr>
              <a:t>物以类聚</a:t>
            </a:r>
            <a:endParaRPr lang="en-US" altLang="zh-CN" sz="2400" dirty="0">
              <a:latin typeface="华文细黑" pitchFamily="2" charset="-122"/>
              <a:ea typeface="华文细黑" pitchFamily="2" charset="-122"/>
            </a:endParaRPr>
          </a:p>
          <a:p>
            <a:pPr algn="ctr"/>
            <a:r>
              <a:rPr lang="zh-CN" altLang="en-US" sz="2400" dirty="0">
                <a:latin typeface="华文细黑" pitchFamily="2" charset="-122"/>
                <a:ea typeface="华文细黑" pitchFamily="2" charset="-122"/>
              </a:rPr>
              <a:t>人以群分</a:t>
            </a:r>
          </a:p>
        </p:txBody>
      </p:sp>
    </p:spTree>
    <p:extLst>
      <p:ext uri="{BB962C8B-B14F-4D97-AF65-F5344CB8AC3E}">
        <p14:creationId xmlns:p14="http://schemas.microsoft.com/office/powerpoint/2010/main" val="340822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912EE-1D75-407A-8313-28EDB195FB80}"/>
              </a:ext>
            </a:extLst>
          </p:cNvPr>
          <p:cNvSpPr>
            <a:spLocks noGrp="1"/>
          </p:cNvSpPr>
          <p:nvPr>
            <p:ph type="title"/>
          </p:nvPr>
        </p:nvSpPr>
        <p:spPr/>
        <p:txBody>
          <a:bodyPr/>
          <a:lstStyle/>
          <a:p>
            <a:r>
              <a:rPr lang="zh-CN" altLang="en-US" dirty="0"/>
              <a:t>聚类的基本概念</a:t>
            </a:r>
          </a:p>
        </p:txBody>
      </p:sp>
      <p:sp>
        <p:nvSpPr>
          <p:cNvPr id="3" name="内容占位符 2">
            <a:extLst>
              <a:ext uri="{FF2B5EF4-FFF2-40B4-BE49-F238E27FC236}">
                <a16:creationId xmlns:a16="http://schemas.microsoft.com/office/drawing/2014/main" id="{FC675671-6475-4BEA-899F-8E5847E7B0C6}"/>
              </a:ext>
            </a:extLst>
          </p:cNvPr>
          <p:cNvSpPr>
            <a:spLocks noGrp="1"/>
          </p:cNvSpPr>
          <p:nvPr>
            <p:ph idx="1"/>
          </p:nvPr>
        </p:nvSpPr>
        <p:spPr/>
        <p:txBody>
          <a:bodyPr/>
          <a:lstStyle/>
          <a:p>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聚类（</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rPr>
              <a:t>Clustering</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）：是基于特定的</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距离或相似性度量</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，将数据集划分为</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k</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个子集合，使得相似样本被划分为同一个子集合，而相异样本被划归到不同的子集合的过程。该过程满足下式：</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indent="0">
              <a:buNone/>
            </a:pPr>
            <a:endParaRPr lang="zh-CN" altLang="en-US" dirty="0"/>
          </a:p>
        </p:txBody>
      </p:sp>
      <p:sp>
        <p:nvSpPr>
          <p:cNvPr id="4" name="灯片编号占位符 3">
            <a:extLst>
              <a:ext uri="{FF2B5EF4-FFF2-40B4-BE49-F238E27FC236}">
                <a16:creationId xmlns:a16="http://schemas.microsoft.com/office/drawing/2014/main" id="{9FF403B2-A6E4-47F3-8AB9-F660930AE9D3}"/>
              </a:ext>
            </a:extLst>
          </p:cNvPr>
          <p:cNvSpPr>
            <a:spLocks noGrp="1"/>
          </p:cNvSpPr>
          <p:nvPr>
            <p:ph type="sldNum" sz="quarter" idx="12"/>
          </p:nvPr>
        </p:nvSpPr>
        <p:spPr/>
        <p:txBody>
          <a:bodyPr/>
          <a:lstStyle/>
          <a:p>
            <a:fld id="{5AD84F5B-1672-4D3F-9FEC-5DF89A7B7912}" type="slidenum">
              <a:rPr lang="zh-CN" altLang="en-US" smtClean="0"/>
              <a:t>4</a:t>
            </a:fld>
            <a:endParaRPr lang="zh-CN" altLang="en-US"/>
          </a:p>
        </p:txBody>
      </p:sp>
      <p:pic>
        <p:nvPicPr>
          <p:cNvPr id="6" name="图片 5">
            <a:extLst>
              <a:ext uri="{FF2B5EF4-FFF2-40B4-BE49-F238E27FC236}">
                <a16:creationId xmlns:a16="http://schemas.microsoft.com/office/drawing/2014/main" id="{296B52D6-0044-45AC-BCFE-9DF00284403E}"/>
              </a:ext>
            </a:extLst>
          </p:cNvPr>
          <p:cNvPicPr>
            <a:picLocks noChangeAspect="1"/>
          </p:cNvPicPr>
          <p:nvPr/>
        </p:nvPicPr>
        <p:blipFill>
          <a:blip r:embed="rId2"/>
          <a:stretch>
            <a:fillRect/>
          </a:stretch>
        </p:blipFill>
        <p:spPr>
          <a:xfrm>
            <a:off x="1508125" y="2645212"/>
            <a:ext cx="6127750" cy="2159000"/>
          </a:xfrm>
          <a:prstGeom prst="rect">
            <a:avLst/>
          </a:prstGeom>
        </p:spPr>
      </p:pic>
      <p:sp>
        <p:nvSpPr>
          <p:cNvPr id="8" name="文本框 7">
            <a:extLst>
              <a:ext uri="{FF2B5EF4-FFF2-40B4-BE49-F238E27FC236}">
                <a16:creationId xmlns:a16="http://schemas.microsoft.com/office/drawing/2014/main" id="{D25EF254-C53F-4B6C-AFB4-B0AF1E79A4EA}"/>
              </a:ext>
            </a:extLst>
          </p:cNvPr>
          <p:cNvSpPr txBox="1"/>
          <p:nvPr/>
        </p:nvSpPr>
        <p:spPr>
          <a:xfrm>
            <a:off x="958850" y="4985450"/>
            <a:ext cx="6127750" cy="874407"/>
          </a:xfrm>
          <a:prstGeom prst="rect">
            <a:avLst/>
          </a:prstGeom>
          <a:noFill/>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其中</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C</a:t>
            </a:r>
            <a:r>
              <a:rPr lang="en-US" altLang="zh-CN" b="1" baseline="-25000" dirty="0">
                <a:solidFill>
                  <a:prstClr val="black"/>
                </a:solidFill>
                <a:latin typeface="微软雅黑" panose="020B0503020204020204" pitchFamily="34" charset="-122"/>
                <a:ea typeface="微软雅黑" panose="020B0503020204020204" pitchFamily="34" charset="-122"/>
              </a:rPr>
              <a:t>i</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表示第</a:t>
            </a:r>
            <a:r>
              <a:rPr kumimoji="0" lang="en-US" altLang="zh-CN" sz="18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i</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个子集合，又称为簇（</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Cluster</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lang="zh-CN" altLang="en-US" b="1" dirty="0">
                <a:solidFill>
                  <a:prstClr val="black"/>
                </a:solidFill>
                <a:latin typeface="微软雅黑" panose="020B0503020204020204" pitchFamily="34" charset="-122"/>
                <a:ea typeface="微软雅黑" panose="020B0503020204020204" pitchFamily="34" charset="-122"/>
              </a:rPr>
              <a:t>；</a:t>
            </a:r>
            <a:endPar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R="0" lvl="0" algn="l" defTabSz="914400" rtl="0" eaLnBrk="0" fontAlgn="base" latinLnBrk="0" hangingPunct="0">
              <a:lnSpc>
                <a:spcPct val="150000"/>
              </a:lnSpc>
              <a:spcBef>
                <a:spcPct val="0"/>
              </a:spcBef>
              <a:spcAft>
                <a:spcPct val="0"/>
              </a:spcAft>
              <a:buClrTx/>
              <a:buSzTx/>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所有</a:t>
            </a:r>
            <a:r>
              <a:rPr lang="en-US" altLang="zh-CN" b="1" dirty="0">
                <a:solidFill>
                  <a:prstClr val="black"/>
                </a:solidFill>
                <a:latin typeface="微软雅黑" panose="020B0503020204020204" pitchFamily="34" charset="-122"/>
                <a:ea typeface="微软雅黑" panose="020B0503020204020204" pitchFamily="34" charset="-122"/>
              </a:rPr>
              <a:t>C</a:t>
            </a:r>
            <a:r>
              <a:rPr lang="en-US" altLang="zh-CN" b="1" baseline="-25000" dirty="0">
                <a:solidFill>
                  <a:prstClr val="black"/>
                </a:solidFill>
                <a:latin typeface="微软雅黑" panose="020B0503020204020204" pitchFamily="34" charset="-122"/>
                <a:ea typeface="微软雅黑" panose="020B0503020204020204" pitchFamily="34" charset="-122"/>
              </a:rPr>
              <a:t>i</a:t>
            </a:r>
            <a:r>
              <a:rPr lang="zh-CN" altLang="en-US" b="1" dirty="0">
                <a:solidFill>
                  <a:prstClr val="black"/>
                </a:solidFill>
                <a:latin typeface="微软雅黑" panose="020B0503020204020204" pitchFamily="34" charset="-122"/>
                <a:ea typeface="微软雅黑" panose="020B0503020204020204" pitchFamily="34" charset="-122"/>
              </a:rPr>
              <a:t>的并集为</a:t>
            </a:r>
            <a:r>
              <a:rPr lang="en-US" altLang="zh-CN" b="1" dirty="0">
                <a:solidFill>
                  <a:prstClr val="black"/>
                </a:solidFill>
                <a:latin typeface="微软雅黑" panose="020B0503020204020204" pitchFamily="34" charset="-122"/>
                <a:ea typeface="微软雅黑" panose="020B0503020204020204" pitchFamily="34" charset="-122"/>
              </a:rPr>
              <a:t>C</a:t>
            </a:r>
            <a:r>
              <a:rPr lang="zh-CN" altLang="en-US" b="1" dirty="0">
                <a:solidFill>
                  <a:prstClr val="black"/>
                </a:solidFill>
                <a:latin typeface="微软雅黑" panose="020B0503020204020204" pitchFamily="34" charset="-122"/>
                <a:ea typeface="微软雅黑" panose="020B0503020204020204" pitchFamily="34" charset="-122"/>
              </a:rPr>
              <a:t>；</a:t>
            </a:r>
            <a:endParaRPr lang="en-US" altLang="zh-CN" b="1" dirty="0">
              <a:solidFill>
                <a:prstClr val="black"/>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E6015E25-5E36-43CC-AB7A-41730FF2E09C}"/>
              </a:ext>
            </a:extLst>
          </p:cNvPr>
          <p:cNvPicPr>
            <a:picLocks noChangeAspect="1"/>
          </p:cNvPicPr>
          <p:nvPr/>
        </p:nvPicPr>
        <p:blipFill>
          <a:blip r:embed="rId3"/>
          <a:stretch>
            <a:fillRect/>
          </a:stretch>
        </p:blipFill>
        <p:spPr>
          <a:xfrm>
            <a:off x="4352925" y="3130550"/>
            <a:ext cx="438150" cy="596900"/>
          </a:xfrm>
          <a:prstGeom prst="rect">
            <a:avLst/>
          </a:prstGeom>
        </p:spPr>
      </p:pic>
    </p:spTree>
    <p:extLst>
      <p:ext uri="{BB962C8B-B14F-4D97-AF65-F5344CB8AC3E}">
        <p14:creationId xmlns:p14="http://schemas.microsoft.com/office/powerpoint/2010/main" val="1784529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E746A-7B39-4D6C-A0CB-9E4D27EA441D}"/>
              </a:ext>
            </a:extLst>
          </p:cNvPr>
          <p:cNvSpPr>
            <a:spLocks noGrp="1"/>
          </p:cNvSpPr>
          <p:nvPr>
            <p:ph type="title"/>
          </p:nvPr>
        </p:nvSpPr>
        <p:spPr/>
        <p:txBody>
          <a:bodyPr/>
          <a:lstStyle/>
          <a:p>
            <a:r>
              <a:rPr lang="zh-CN" altLang="en-US" dirty="0"/>
              <a:t>聚类的基本概念</a:t>
            </a:r>
          </a:p>
        </p:txBody>
      </p:sp>
      <p:sp>
        <p:nvSpPr>
          <p:cNvPr id="3" name="内容占位符 2">
            <a:extLst>
              <a:ext uri="{FF2B5EF4-FFF2-40B4-BE49-F238E27FC236}">
                <a16:creationId xmlns:a16="http://schemas.microsoft.com/office/drawing/2014/main" id="{42B1D2C6-EB0B-4297-B777-A46CA60D15A8}"/>
              </a:ext>
            </a:extLst>
          </p:cNvPr>
          <p:cNvSpPr>
            <a:spLocks noGrp="1"/>
          </p:cNvSpPr>
          <p:nvPr>
            <p:ph idx="1"/>
          </p:nvPr>
        </p:nvSpPr>
        <p:spPr/>
        <p:txBody>
          <a:bodyPr/>
          <a:lstStyle/>
          <a:p>
            <a:r>
              <a:rPr lang="zh-CN" altLang="en-US" b="1" dirty="0">
                <a:solidFill>
                  <a:prstClr val="black"/>
                </a:solidFill>
                <a:latin typeface="微软雅黑" panose="020B0503020204020204" pitchFamily="34" charset="-122"/>
                <a:ea typeface="微软雅黑" panose="020B0503020204020204" pitchFamily="34" charset="-122"/>
              </a:rPr>
              <a:t>质心</a:t>
            </a:r>
            <a:r>
              <a:rPr lang="en-US" altLang="zh-CN" b="1" dirty="0">
                <a:solidFill>
                  <a:prstClr val="black"/>
                </a:solidFill>
                <a:latin typeface="微软雅黑" panose="020B0503020204020204" pitchFamily="34" charset="-122"/>
                <a:ea typeface="微软雅黑" panose="020B0503020204020204" pitchFamily="34" charset="-122"/>
              </a:rPr>
              <a:t>m</a:t>
            </a:r>
            <a:r>
              <a:rPr lang="zh-CN" altLang="en-US" b="1" dirty="0">
                <a:solidFill>
                  <a:prstClr val="black"/>
                </a:solidFill>
                <a:latin typeface="微软雅黑" panose="020B0503020204020204" pitchFamily="34" charset="-122"/>
                <a:ea typeface="微软雅黑" panose="020B0503020204020204" pitchFamily="34" charset="-122"/>
              </a:rPr>
              <a:t>：质心为簇内样本的平均值，簇</a:t>
            </a:r>
            <a:r>
              <a:rPr lang="en-US" altLang="zh-CN" b="1" dirty="0">
                <a:solidFill>
                  <a:prstClr val="black"/>
                </a:solidFill>
                <a:latin typeface="微软雅黑" panose="020B0503020204020204" pitchFamily="34" charset="-122"/>
                <a:ea typeface="微软雅黑" panose="020B0503020204020204" pitchFamily="34" charset="-122"/>
              </a:rPr>
              <a:t>C</a:t>
            </a:r>
            <a:r>
              <a:rPr lang="en-US" altLang="zh-CN" b="1" baseline="-25000" dirty="0">
                <a:solidFill>
                  <a:prstClr val="black"/>
                </a:solidFill>
                <a:latin typeface="微软雅黑" panose="020B0503020204020204" pitchFamily="34" charset="-122"/>
                <a:ea typeface="微软雅黑" panose="020B0503020204020204" pitchFamily="34" charset="-122"/>
              </a:rPr>
              <a:t>i</a:t>
            </a:r>
            <a:r>
              <a:rPr lang="zh-CN" altLang="en-US" b="1" dirty="0">
                <a:solidFill>
                  <a:prstClr val="black"/>
                </a:solidFill>
                <a:latin typeface="微软雅黑" panose="020B0503020204020204" pitchFamily="34" charset="-122"/>
                <a:ea typeface="微软雅黑" panose="020B0503020204020204" pitchFamily="34" charset="-122"/>
              </a:rPr>
              <a:t>有</a:t>
            </a:r>
            <a:r>
              <a:rPr lang="en-US" altLang="zh-CN" b="1" dirty="0" err="1">
                <a:solidFill>
                  <a:prstClr val="black"/>
                </a:solidFill>
                <a:latin typeface="微软雅黑" panose="020B0503020204020204" pitchFamily="34" charset="-122"/>
                <a:ea typeface="微软雅黑" panose="020B0503020204020204" pitchFamily="34" charset="-122"/>
              </a:rPr>
              <a:t>n</a:t>
            </a:r>
            <a:r>
              <a:rPr lang="en-US" altLang="zh-CN" b="1" baseline="-25000" dirty="0" err="1">
                <a:solidFill>
                  <a:prstClr val="black"/>
                </a:solidFill>
                <a:latin typeface="微软雅黑" panose="020B0503020204020204" pitchFamily="34" charset="-122"/>
                <a:ea typeface="微软雅黑" panose="020B0503020204020204" pitchFamily="34" charset="-122"/>
              </a:rPr>
              <a:t>i</a:t>
            </a:r>
            <a:r>
              <a:rPr lang="zh-CN" altLang="en-US" b="1" dirty="0">
                <a:solidFill>
                  <a:prstClr val="black"/>
                </a:solidFill>
                <a:latin typeface="微软雅黑" panose="020B0503020204020204" pitchFamily="34" charset="-122"/>
                <a:ea typeface="微软雅黑" panose="020B0503020204020204" pitchFamily="34" charset="-122"/>
              </a:rPr>
              <a:t>个数据，则质心计算公式如下：</a:t>
            </a:r>
            <a:endParaRPr lang="en-US" altLang="zh-CN" b="1" dirty="0">
              <a:solidFill>
                <a:prstClr val="black"/>
              </a:solidFill>
              <a:latin typeface="微软雅黑" panose="020B0503020204020204" pitchFamily="34" charset="-122"/>
              <a:ea typeface="微软雅黑" panose="020B0503020204020204" pitchFamily="34" charset="-122"/>
            </a:endParaRPr>
          </a:p>
          <a:p>
            <a:endParaRPr lang="en-US" altLang="zh-CN" b="1" dirty="0">
              <a:solidFill>
                <a:prstClr val="black"/>
              </a:solidFill>
              <a:latin typeface="微软雅黑" panose="020B0503020204020204" pitchFamily="34" charset="-122"/>
              <a:ea typeface="微软雅黑" panose="020B0503020204020204" pitchFamily="34" charset="-122"/>
            </a:endParaRPr>
          </a:p>
          <a:p>
            <a:endParaRPr lang="en-US" altLang="zh-CN" b="1" dirty="0">
              <a:solidFill>
                <a:prstClr val="black"/>
              </a:solidFill>
              <a:latin typeface="微软雅黑" panose="020B0503020204020204" pitchFamily="34" charset="-122"/>
              <a:ea typeface="微软雅黑" panose="020B0503020204020204" pitchFamily="34" charset="-122"/>
            </a:endParaRPr>
          </a:p>
          <a:p>
            <a:r>
              <a:rPr lang="zh-CN" altLang="en-US" b="1" dirty="0">
                <a:solidFill>
                  <a:prstClr val="black"/>
                </a:solidFill>
                <a:latin typeface="微软雅黑" panose="020B0503020204020204" pitchFamily="34" charset="-122"/>
                <a:ea typeface="微软雅黑" panose="020B0503020204020204" pitchFamily="34" charset="-122"/>
              </a:rPr>
              <a:t>半径 </a:t>
            </a:r>
            <a:r>
              <a:rPr lang="en-US" altLang="zh-CN" b="1" dirty="0">
                <a:solidFill>
                  <a:prstClr val="black"/>
                </a:solidFill>
                <a:latin typeface="微软雅黑" panose="020B0503020204020204" pitchFamily="34" charset="-122"/>
                <a:ea typeface="微软雅黑" panose="020B0503020204020204" pitchFamily="34" charset="-122"/>
              </a:rPr>
              <a:t>r</a:t>
            </a:r>
            <a:r>
              <a:rPr lang="zh-CN" altLang="en-US" b="1" dirty="0">
                <a:solidFill>
                  <a:prstClr val="black"/>
                </a:solidFill>
                <a:latin typeface="微软雅黑" panose="020B0503020204020204" pitchFamily="34" charset="-122"/>
                <a:ea typeface="微软雅黑" panose="020B0503020204020204" pitchFamily="34" charset="-122"/>
              </a:rPr>
              <a:t>：半径为簇内所有样本到质心距离的均方差的平方根，计算公式如下：</a:t>
            </a:r>
          </a:p>
          <a:p>
            <a:pPr marL="0" indent="0">
              <a:buNone/>
            </a:pPr>
            <a:endParaRPr lang="en-US" altLang="zh-CN" b="1"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06FC91A8-464F-4E6D-8C7C-DC63C8038C6F}"/>
              </a:ext>
            </a:extLst>
          </p:cNvPr>
          <p:cNvSpPr>
            <a:spLocks noGrp="1"/>
          </p:cNvSpPr>
          <p:nvPr>
            <p:ph type="sldNum" sz="quarter" idx="12"/>
          </p:nvPr>
        </p:nvSpPr>
        <p:spPr/>
        <p:txBody>
          <a:bodyPr/>
          <a:lstStyle/>
          <a:p>
            <a:fld id="{5AD84F5B-1672-4D3F-9FEC-5DF89A7B7912}" type="slidenum">
              <a:rPr lang="zh-CN" altLang="en-US" smtClean="0"/>
              <a:t>5</a:t>
            </a:fld>
            <a:endParaRPr lang="zh-CN" altLang="en-US"/>
          </a:p>
        </p:txBody>
      </p:sp>
      <p:pic>
        <p:nvPicPr>
          <p:cNvPr id="6" name="图片 5">
            <a:extLst>
              <a:ext uri="{FF2B5EF4-FFF2-40B4-BE49-F238E27FC236}">
                <a16:creationId xmlns:a16="http://schemas.microsoft.com/office/drawing/2014/main" id="{CD40479C-34C4-4F68-B2B6-7C3970C78120}"/>
              </a:ext>
            </a:extLst>
          </p:cNvPr>
          <p:cNvPicPr>
            <a:picLocks noChangeAspect="1"/>
          </p:cNvPicPr>
          <p:nvPr/>
        </p:nvPicPr>
        <p:blipFill>
          <a:blip r:embed="rId2"/>
          <a:stretch>
            <a:fillRect/>
          </a:stretch>
        </p:blipFill>
        <p:spPr>
          <a:xfrm>
            <a:off x="2923230" y="1994103"/>
            <a:ext cx="2597150" cy="1060450"/>
          </a:xfrm>
          <a:prstGeom prst="rect">
            <a:avLst/>
          </a:prstGeom>
        </p:spPr>
      </p:pic>
      <p:pic>
        <p:nvPicPr>
          <p:cNvPr id="10" name="图片 9">
            <a:extLst>
              <a:ext uri="{FF2B5EF4-FFF2-40B4-BE49-F238E27FC236}">
                <a16:creationId xmlns:a16="http://schemas.microsoft.com/office/drawing/2014/main" id="{24443533-FE62-445E-8283-DDA98DEBF5A9}"/>
              </a:ext>
            </a:extLst>
          </p:cNvPr>
          <p:cNvPicPr>
            <a:picLocks noChangeAspect="1"/>
          </p:cNvPicPr>
          <p:nvPr/>
        </p:nvPicPr>
        <p:blipFill>
          <a:blip r:embed="rId3"/>
          <a:stretch>
            <a:fillRect/>
          </a:stretch>
        </p:blipFill>
        <p:spPr>
          <a:xfrm>
            <a:off x="2372333" y="4271933"/>
            <a:ext cx="2628900" cy="1054100"/>
          </a:xfrm>
          <a:prstGeom prst="rect">
            <a:avLst/>
          </a:prstGeom>
        </p:spPr>
      </p:pic>
    </p:spTree>
    <p:extLst>
      <p:ext uri="{BB962C8B-B14F-4D97-AF65-F5344CB8AC3E}">
        <p14:creationId xmlns:p14="http://schemas.microsoft.com/office/powerpoint/2010/main" val="120200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聚类分析</a:t>
            </a:r>
          </a:p>
        </p:txBody>
      </p:sp>
      <p:sp>
        <p:nvSpPr>
          <p:cNvPr id="3" name="内容占位符 2"/>
          <p:cNvSpPr>
            <a:spLocks noGrp="1"/>
          </p:cNvSpPr>
          <p:nvPr>
            <p:ph idx="1"/>
          </p:nvPr>
        </p:nvSpPr>
        <p:spPr/>
        <p:txBody>
          <a:bodyPr>
            <a:normAutofit/>
          </a:bodyPr>
          <a:lstStyle/>
          <a:p>
            <a:r>
              <a:rPr lang="zh-CN" altLang="en-US" dirty="0"/>
              <a:t>将数据划分成有意义或有用的组群，在各种应用中，一个簇中的数据对象可以被作为一个整体来对待</a:t>
            </a:r>
            <a:endParaRPr lang="en-US" altLang="zh-CN" dirty="0"/>
          </a:p>
          <a:p>
            <a:r>
              <a:rPr lang="zh-CN" altLang="en-US" dirty="0"/>
              <a:t>应用</a:t>
            </a:r>
            <a:endParaRPr lang="en-US" altLang="zh-CN" dirty="0"/>
          </a:p>
        </p:txBody>
      </p:sp>
      <p:pic>
        <p:nvPicPr>
          <p:cNvPr id="12290" name="Picture 2" descr="查看源图像"/>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8499"/>
          <a:stretch/>
        </p:blipFill>
        <p:spPr bwMode="auto">
          <a:xfrm>
            <a:off x="918754" y="3517398"/>
            <a:ext cx="3653246" cy="219760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4762500" y="3832470"/>
            <a:ext cx="4152900" cy="1446550"/>
          </a:xfrm>
          <a:prstGeom prst="rect">
            <a:avLst/>
          </a:prstGeom>
        </p:spPr>
        <p:txBody>
          <a:bodyPr wrap="square">
            <a:spAutoFit/>
          </a:bodyPr>
          <a:lstStyle/>
          <a:p>
            <a:r>
              <a:rPr lang="zh-CN" altLang="en-US" sz="2200" dirty="0">
                <a:latin typeface="华文细黑" pitchFamily="2" charset="-122"/>
                <a:ea typeface="华文细黑" pitchFamily="2" charset="-122"/>
              </a:rPr>
              <a:t>商务 </a:t>
            </a:r>
            <a:r>
              <a:rPr lang="en-US" altLang="zh-CN" sz="2200" dirty="0">
                <a:latin typeface="华文细黑" pitchFamily="2" charset="-122"/>
                <a:ea typeface="华文细黑" pitchFamily="2" charset="-122"/>
              </a:rPr>
              <a:t>- </a:t>
            </a:r>
            <a:r>
              <a:rPr lang="zh-CN" altLang="en-US" sz="2200" dirty="0">
                <a:latin typeface="华文细黑" pitchFamily="2" charset="-122"/>
                <a:ea typeface="华文细黑" pitchFamily="2" charset="-122"/>
              </a:rPr>
              <a:t>从客户信息库中发现不同的客户群，以购买模式来刻画不同的客户群的特征，进行有针对性的精准营销</a:t>
            </a:r>
          </a:p>
        </p:txBody>
      </p:sp>
    </p:spTree>
    <p:extLst>
      <p:ext uri="{BB962C8B-B14F-4D97-AF65-F5344CB8AC3E}">
        <p14:creationId xmlns:p14="http://schemas.microsoft.com/office/powerpoint/2010/main" val="376779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聚类分析</a:t>
            </a:r>
          </a:p>
        </p:txBody>
      </p:sp>
      <p:sp>
        <p:nvSpPr>
          <p:cNvPr id="3" name="内容占位符 2"/>
          <p:cNvSpPr>
            <a:spLocks noGrp="1"/>
          </p:cNvSpPr>
          <p:nvPr>
            <p:ph idx="1"/>
          </p:nvPr>
        </p:nvSpPr>
        <p:spPr/>
        <p:txBody>
          <a:bodyPr>
            <a:normAutofit/>
          </a:bodyPr>
          <a:lstStyle/>
          <a:p>
            <a:r>
              <a:rPr lang="zh-CN" altLang="en-US" dirty="0"/>
              <a:t>将数据划分成有意义或有用的组群，在各种应用中，一个簇中的数据对象可以被作为一个整体来对待</a:t>
            </a:r>
            <a:endParaRPr lang="en-US" altLang="zh-CN" dirty="0"/>
          </a:p>
          <a:p>
            <a:r>
              <a:rPr lang="zh-CN" altLang="en-US" dirty="0"/>
              <a:t>应用</a:t>
            </a:r>
          </a:p>
        </p:txBody>
      </p:sp>
      <p:pic>
        <p:nvPicPr>
          <p:cNvPr id="13316" name="Picture 4" descr="http://photonj.photo.store.qq.com/psc?/V12ENsJh00nZl4/m*TTJoI3x9iCCJx4ECa9pKZQoRMKGjuPQiTXfbrkeFMKZLr0nJr3EANogvbTKWadNtQZf717kWDBV65o4sd68A!!/b&amp;bo=0AJlA9ACZQMRECc!&amp;rf=viewer_311"/>
          <p:cNvPicPr>
            <a:picLocks noChangeAspect="1" noChangeArrowheads="1"/>
          </p:cNvPicPr>
          <p:nvPr/>
        </p:nvPicPr>
        <p:blipFill>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523998" y="2880886"/>
            <a:ext cx="2770758" cy="30132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4762500" y="3832470"/>
            <a:ext cx="4152900" cy="1107996"/>
          </a:xfrm>
          <a:prstGeom prst="rect">
            <a:avLst/>
          </a:prstGeom>
        </p:spPr>
        <p:txBody>
          <a:bodyPr wrap="square">
            <a:spAutoFit/>
          </a:bodyPr>
          <a:lstStyle/>
          <a:p>
            <a:r>
              <a:rPr lang="zh-CN" altLang="en-US" sz="2200" dirty="0">
                <a:latin typeface="华文细黑" pitchFamily="2" charset="-122"/>
                <a:ea typeface="华文细黑" pitchFamily="2" charset="-122"/>
              </a:rPr>
              <a:t>生物学 </a:t>
            </a:r>
            <a:r>
              <a:rPr lang="en-US" altLang="zh-CN" sz="2200" dirty="0">
                <a:latin typeface="华文细黑" pitchFamily="2" charset="-122"/>
                <a:ea typeface="华文细黑" pitchFamily="2" charset="-122"/>
              </a:rPr>
              <a:t>-</a:t>
            </a:r>
            <a:r>
              <a:rPr lang="zh-CN" altLang="en-US" sz="2200" dirty="0">
                <a:latin typeface="华文细黑" pitchFamily="2" charset="-122"/>
                <a:ea typeface="华文细黑" pitchFamily="2" charset="-122"/>
              </a:rPr>
              <a:t>通过对基因进行类别划分，推导动植物的分类，获得对种群中固有结构的认识</a:t>
            </a:r>
          </a:p>
        </p:txBody>
      </p:sp>
      <p:pic>
        <p:nvPicPr>
          <p:cNvPr id="13318" name="Picture 6" descr="https://n.sinaimg.cn/spider2020130/296/w599h497/20200130/5e3d-intiarp4001491.jpg"/>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90602" y="3277249"/>
            <a:ext cx="3601247" cy="2689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01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fade">
                                      <p:cBhvr>
                                        <p:cTn id="7" dur="1000"/>
                                        <p:tgtEl>
                                          <p:spTgt spid="133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13316"/>
                                        </p:tgtEl>
                                      </p:cBhvr>
                                    </p:animEffect>
                                    <p:set>
                                      <p:cBhvr>
                                        <p:cTn id="15" dur="1" fill="hold">
                                          <p:stCondLst>
                                            <p:cond delay="499"/>
                                          </p:stCondLst>
                                        </p:cTn>
                                        <p:tgtEl>
                                          <p:spTgt spid="13316"/>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13318"/>
                                        </p:tgtEl>
                                        <p:attrNameLst>
                                          <p:attrName>style.visibility</p:attrName>
                                        </p:attrNameLst>
                                      </p:cBhvr>
                                      <p:to>
                                        <p:strVal val="visible"/>
                                      </p:to>
                                    </p:set>
                                    <p:animEffect transition="in" filter="fade">
                                      <p:cBhvr>
                                        <p:cTn id="18" dur="10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聚类分析</a:t>
            </a:r>
          </a:p>
        </p:txBody>
      </p:sp>
      <p:sp>
        <p:nvSpPr>
          <p:cNvPr id="3" name="内容占位符 2"/>
          <p:cNvSpPr>
            <a:spLocks noGrp="1"/>
          </p:cNvSpPr>
          <p:nvPr>
            <p:ph idx="1"/>
          </p:nvPr>
        </p:nvSpPr>
        <p:spPr/>
        <p:txBody>
          <a:bodyPr>
            <a:normAutofit/>
          </a:bodyPr>
          <a:lstStyle/>
          <a:p>
            <a:r>
              <a:rPr lang="zh-CN" altLang="en-US" dirty="0"/>
              <a:t>将数据划分成有意义或有用的组群，在各种应用中，一个簇中的数据对象可以被作为一个整体来对待</a:t>
            </a:r>
            <a:endParaRPr lang="en-US" altLang="zh-CN" dirty="0"/>
          </a:p>
          <a:p>
            <a:r>
              <a:rPr lang="zh-CN" altLang="en-US" dirty="0"/>
              <a:t>应用</a:t>
            </a:r>
          </a:p>
        </p:txBody>
      </p:sp>
      <p:pic>
        <p:nvPicPr>
          <p:cNvPr id="14338" name="Picture 2" descr="https://www.fortunebuilders.com/wp-content/uploads/2015/02/tulsa-county-map.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1" y="3429000"/>
            <a:ext cx="3330875" cy="2541814"/>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4762500" y="3832470"/>
            <a:ext cx="4152900" cy="1862048"/>
          </a:xfrm>
          <a:prstGeom prst="rect">
            <a:avLst/>
          </a:prstGeom>
        </p:spPr>
        <p:txBody>
          <a:bodyPr wrap="square">
            <a:spAutoFit/>
          </a:bodyPr>
          <a:lstStyle/>
          <a:p>
            <a:pPr>
              <a:spcAft>
                <a:spcPts val="600"/>
              </a:spcAft>
            </a:pPr>
            <a:r>
              <a:rPr lang="zh-CN" altLang="en-US" sz="2200" dirty="0">
                <a:latin typeface="华文细黑" pitchFamily="2" charset="-122"/>
                <a:ea typeface="华文细黑" pitchFamily="2" charset="-122"/>
              </a:rPr>
              <a:t>地理 </a:t>
            </a:r>
            <a:r>
              <a:rPr lang="en-US" altLang="zh-CN" sz="2200" dirty="0">
                <a:latin typeface="华文细黑" pitchFamily="2" charset="-122"/>
                <a:ea typeface="华文细黑" pitchFamily="2" charset="-122"/>
              </a:rPr>
              <a:t>- </a:t>
            </a:r>
            <a:r>
              <a:rPr lang="zh-CN" altLang="en-US" sz="2200" dirty="0">
                <a:latin typeface="华文细黑" pitchFamily="2" charset="-122"/>
                <a:ea typeface="华文细黑" pitchFamily="2" charset="-122"/>
              </a:rPr>
              <a:t>从地球观测数据库中的数据确定地理上相似的地区</a:t>
            </a:r>
          </a:p>
          <a:p>
            <a:pPr>
              <a:spcAft>
                <a:spcPts val="600"/>
              </a:spcAft>
            </a:pPr>
            <a:r>
              <a:rPr lang="zh-CN" altLang="en-US" sz="2200" dirty="0">
                <a:latin typeface="华文细黑" pitchFamily="2" charset="-122"/>
                <a:ea typeface="华文细黑" pitchFamily="2" charset="-122"/>
              </a:rPr>
              <a:t>房地产 </a:t>
            </a:r>
            <a:r>
              <a:rPr lang="en-US" altLang="zh-CN" sz="2200" dirty="0">
                <a:latin typeface="华文细黑" pitchFamily="2" charset="-122"/>
                <a:ea typeface="华文细黑" pitchFamily="2" charset="-122"/>
              </a:rPr>
              <a:t>- </a:t>
            </a:r>
            <a:r>
              <a:rPr lang="zh-CN" altLang="en-US" sz="2200" dirty="0">
                <a:latin typeface="华文细黑" pitchFamily="2" charset="-122"/>
                <a:ea typeface="华文细黑" pitchFamily="2" charset="-122"/>
              </a:rPr>
              <a:t>根据房屋的类型、价值和地理位置对商品房进行分组，区别处理</a:t>
            </a:r>
          </a:p>
        </p:txBody>
      </p:sp>
    </p:spTree>
    <p:extLst>
      <p:ext uri="{BB962C8B-B14F-4D97-AF65-F5344CB8AC3E}">
        <p14:creationId xmlns:p14="http://schemas.microsoft.com/office/powerpoint/2010/main" val="2739743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聚类分析</a:t>
            </a:r>
          </a:p>
        </p:txBody>
      </p:sp>
      <p:sp>
        <p:nvSpPr>
          <p:cNvPr id="3" name="内容占位符 2"/>
          <p:cNvSpPr>
            <a:spLocks noGrp="1"/>
          </p:cNvSpPr>
          <p:nvPr>
            <p:ph idx="1"/>
          </p:nvPr>
        </p:nvSpPr>
        <p:spPr/>
        <p:txBody>
          <a:bodyPr>
            <a:normAutofit/>
          </a:bodyPr>
          <a:lstStyle/>
          <a:p>
            <a:r>
              <a:rPr lang="zh-CN" altLang="en-US" dirty="0"/>
              <a:t>将数据划分成有意义或有用的组群，在各种应用中，一个簇中的数据对象可以被作为一个整体来对待</a:t>
            </a:r>
            <a:endParaRPr lang="en-US" altLang="zh-CN" dirty="0"/>
          </a:p>
          <a:p>
            <a:r>
              <a:rPr lang="zh-CN" altLang="en-US" dirty="0"/>
              <a:t>应用</a:t>
            </a:r>
          </a:p>
        </p:txBody>
      </p:sp>
      <p:sp>
        <p:nvSpPr>
          <p:cNvPr id="6" name="矩形 5"/>
          <p:cNvSpPr/>
          <p:nvPr/>
        </p:nvSpPr>
        <p:spPr>
          <a:xfrm>
            <a:off x="4762500" y="3832470"/>
            <a:ext cx="4152900" cy="1107996"/>
          </a:xfrm>
          <a:prstGeom prst="rect">
            <a:avLst/>
          </a:prstGeom>
        </p:spPr>
        <p:txBody>
          <a:bodyPr wrap="square">
            <a:spAutoFit/>
          </a:bodyPr>
          <a:lstStyle/>
          <a:p>
            <a:r>
              <a:rPr lang="zh-CN" altLang="en-US" sz="2200" dirty="0">
                <a:latin typeface="华文细黑" pitchFamily="2" charset="-122"/>
                <a:ea typeface="华文细黑" pitchFamily="2" charset="-122"/>
              </a:rPr>
              <a:t>信息 </a:t>
            </a:r>
            <a:r>
              <a:rPr lang="en-US" altLang="zh-CN" sz="2200" dirty="0">
                <a:latin typeface="华文细黑" pitchFamily="2" charset="-122"/>
                <a:ea typeface="华文细黑" pitchFamily="2" charset="-122"/>
              </a:rPr>
              <a:t>- </a:t>
            </a:r>
            <a:r>
              <a:rPr lang="zh-CN" altLang="en-US" sz="2200" dirty="0">
                <a:latin typeface="华文细黑" pitchFamily="2" charset="-122"/>
                <a:ea typeface="华文细黑" pitchFamily="2" charset="-122"/>
              </a:rPr>
              <a:t>对</a:t>
            </a:r>
            <a:r>
              <a:rPr lang="en-US" altLang="zh-CN" sz="2200" dirty="0">
                <a:latin typeface="华文细黑" pitchFamily="2" charset="-122"/>
                <a:ea typeface="华文细黑" pitchFamily="2" charset="-122"/>
              </a:rPr>
              <a:t>Web</a:t>
            </a:r>
            <a:r>
              <a:rPr lang="zh-CN" altLang="en-US" sz="2200" dirty="0">
                <a:latin typeface="华文细黑" pitchFamily="2" charset="-122"/>
                <a:ea typeface="华文细黑" pitchFamily="2" charset="-122"/>
              </a:rPr>
              <a:t>上的文档进行处理分类，以便于进行分类检索和发现信息</a:t>
            </a:r>
          </a:p>
        </p:txBody>
      </p:sp>
      <p:pic>
        <p:nvPicPr>
          <p:cNvPr id="12290" name="Picture 2" descr="https://timgsa.baidu.com/timg?image&amp;quality=80&amp;size=b9999_10000&amp;sec=1588153068611&amp;di=128129935880f72d62c07bb68c743bab&amp;imgtype=0&amp;src=http%3A%2F%2Fpic.aiyingli.com%2Fwp-content%2Fuploads%2F2017%2F08%2F20170807_59883d6fc561c.png"/>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1" y="3441534"/>
            <a:ext cx="4322255" cy="2425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577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与分类相区别</a:t>
            </a:r>
            <a:endParaRPr lang="zh-CN" altLang="en-US" dirty="0"/>
          </a:p>
        </p:txBody>
      </p:sp>
      <p:sp>
        <p:nvSpPr>
          <p:cNvPr id="3" name="内容占位符 2"/>
          <p:cNvSpPr>
            <a:spLocks noGrp="1"/>
          </p:cNvSpPr>
          <p:nvPr>
            <p:ph idx="1"/>
          </p:nvPr>
        </p:nvSpPr>
        <p:spPr/>
        <p:txBody>
          <a:bodyPr/>
          <a:lstStyle/>
          <a:p>
            <a:r>
              <a:rPr lang="zh-CN" altLang="en-US" dirty="0"/>
              <a:t>分类</a:t>
            </a:r>
            <a:endParaRPr lang="en-US" altLang="zh-CN" dirty="0"/>
          </a:p>
          <a:p>
            <a:pPr lvl="1"/>
            <a:r>
              <a:rPr lang="zh-CN" altLang="en-US" dirty="0"/>
              <a:t>训练数据 </a:t>
            </a:r>
            <a:r>
              <a:rPr lang="en-US" altLang="zh-CN" dirty="0">
                <a:sym typeface="Wingdings" pitchFamily="2" charset="2"/>
              </a:rPr>
              <a:t> </a:t>
            </a:r>
            <a:r>
              <a:rPr lang="zh-CN" altLang="en-US" dirty="0">
                <a:sym typeface="Wingdings" pitchFamily="2" charset="2"/>
              </a:rPr>
              <a:t>规则 </a:t>
            </a:r>
            <a:r>
              <a:rPr lang="en-US" altLang="zh-CN" dirty="0">
                <a:sym typeface="Wingdings" pitchFamily="2" charset="2"/>
              </a:rPr>
              <a:t> </a:t>
            </a:r>
            <a:r>
              <a:rPr lang="zh-CN" altLang="en-US" dirty="0">
                <a:sym typeface="Wingdings" pitchFamily="2" charset="2"/>
              </a:rPr>
              <a:t>标注</a:t>
            </a:r>
            <a:endParaRPr lang="en-US" altLang="zh-CN" dirty="0">
              <a:sym typeface="Wingdings" pitchFamily="2" charset="2"/>
            </a:endParaRPr>
          </a:p>
          <a:p>
            <a:pPr lvl="1"/>
            <a:r>
              <a:rPr lang="en-US" altLang="zh-CN" dirty="0">
                <a:sym typeface="Wingdings" pitchFamily="2" charset="2"/>
              </a:rPr>
              <a:t>Supervised </a:t>
            </a:r>
            <a:r>
              <a:rPr lang="zh-CN" altLang="en-US" dirty="0">
                <a:sym typeface="Wingdings" pitchFamily="2" charset="2"/>
              </a:rPr>
              <a:t>有监督的</a:t>
            </a:r>
            <a:endParaRPr lang="en-US" altLang="zh-CN" dirty="0">
              <a:sym typeface="Wingdings" pitchFamily="2" charset="2"/>
            </a:endParaRPr>
          </a:p>
          <a:p>
            <a:r>
              <a:rPr lang="zh-CN" altLang="en-US" dirty="0"/>
              <a:t>聚类</a:t>
            </a:r>
            <a:endParaRPr lang="en-US" altLang="zh-CN" dirty="0"/>
          </a:p>
          <a:p>
            <a:pPr lvl="1"/>
            <a:r>
              <a:rPr lang="zh-CN" altLang="en-US" dirty="0"/>
              <a:t>数据 </a:t>
            </a:r>
            <a:r>
              <a:rPr lang="en-US" altLang="zh-CN" dirty="0">
                <a:sym typeface="Wingdings" pitchFamily="2" charset="2"/>
              </a:rPr>
              <a:t> </a:t>
            </a:r>
            <a:r>
              <a:rPr lang="zh-CN" altLang="en-US" dirty="0">
                <a:sym typeface="Wingdings" pitchFamily="2" charset="2"/>
              </a:rPr>
              <a:t>相似 </a:t>
            </a:r>
            <a:r>
              <a:rPr lang="en-US" altLang="zh-CN" dirty="0">
                <a:sym typeface="Wingdings" pitchFamily="2" charset="2"/>
              </a:rPr>
              <a:t> </a:t>
            </a:r>
            <a:r>
              <a:rPr lang="zh-CN" altLang="en-US" dirty="0">
                <a:sym typeface="Wingdings" pitchFamily="2" charset="2"/>
              </a:rPr>
              <a:t>簇</a:t>
            </a:r>
            <a:endParaRPr lang="en-US" altLang="zh-CN" dirty="0"/>
          </a:p>
          <a:p>
            <a:pPr lvl="1"/>
            <a:r>
              <a:rPr lang="en-US" altLang="zh-CN" dirty="0"/>
              <a:t>Unsupervised </a:t>
            </a:r>
            <a:r>
              <a:rPr lang="zh-CN" altLang="en-US" dirty="0"/>
              <a:t>无监督的</a:t>
            </a:r>
            <a:endParaRPr lang="en-US" altLang="zh-CN" dirty="0"/>
          </a:p>
          <a:p>
            <a:pPr lvl="1"/>
            <a:endParaRPr lang="zh-CN" altLang="en-US" dirty="0"/>
          </a:p>
        </p:txBody>
      </p:sp>
    </p:spTree>
    <p:extLst>
      <p:ext uri="{BB962C8B-B14F-4D97-AF65-F5344CB8AC3E}">
        <p14:creationId xmlns:p14="http://schemas.microsoft.com/office/powerpoint/2010/main" val="979280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聚类算法分类</a:t>
            </a:r>
          </a:p>
        </p:txBody>
      </p:sp>
      <p:sp>
        <p:nvSpPr>
          <p:cNvPr id="4" name="Rectangle 25"/>
          <p:cNvSpPr>
            <a:spLocks noChangeArrowheads="1"/>
          </p:cNvSpPr>
          <p:nvPr/>
        </p:nvSpPr>
        <p:spPr bwMode="auto">
          <a:xfrm>
            <a:off x="1" y="87832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43"/>
          <p:cNvSpPr>
            <a:spLocks noChangeArrowheads="1"/>
          </p:cNvSpPr>
          <p:nvPr/>
        </p:nvSpPr>
        <p:spPr bwMode="auto">
          <a:xfrm>
            <a:off x="1" y="339292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zh-CN" altLang="zh-CN">
              <a:latin typeface="Arial" pitchFamily="34" charset="0"/>
              <a:ea typeface="宋体" pitchFamily="2" charset="-122"/>
              <a:cs typeface="宋体" pitchFamily="2" charset="-122"/>
            </a:endParaRPr>
          </a:p>
        </p:txBody>
      </p:sp>
      <p:pic>
        <p:nvPicPr>
          <p:cNvPr id="32" name="图片 31">
            <a:extLst>
              <a:ext uri="{FF2B5EF4-FFF2-40B4-BE49-F238E27FC236}">
                <a16:creationId xmlns:a16="http://schemas.microsoft.com/office/drawing/2014/main" id="{270F933C-7946-789A-A2AE-F28B4E6C9A81}"/>
              </a:ext>
            </a:extLst>
          </p:cNvPr>
          <p:cNvPicPr>
            <a:picLocks noChangeAspect="1"/>
          </p:cNvPicPr>
          <p:nvPr/>
        </p:nvPicPr>
        <p:blipFill>
          <a:blip r:embed="rId2"/>
          <a:stretch>
            <a:fillRect/>
          </a:stretch>
        </p:blipFill>
        <p:spPr>
          <a:xfrm>
            <a:off x="0" y="1561422"/>
            <a:ext cx="4715893" cy="2966316"/>
          </a:xfrm>
          <a:prstGeom prst="rect">
            <a:avLst/>
          </a:prstGeom>
        </p:spPr>
      </p:pic>
      <p:pic>
        <p:nvPicPr>
          <p:cNvPr id="5" name="图片 4">
            <a:extLst>
              <a:ext uri="{FF2B5EF4-FFF2-40B4-BE49-F238E27FC236}">
                <a16:creationId xmlns:a16="http://schemas.microsoft.com/office/drawing/2014/main" id="{C40978CE-CE4B-4846-88B2-BB8CE4AA4047}"/>
              </a:ext>
            </a:extLst>
          </p:cNvPr>
          <p:cNvPicPr>
            <a:picLocks noChangeAspect="1"/>
          </p:cNvPicPr>
          <p:nvPr/>
        </p:nvPicPr>
        <p:blipFill>
          <a:blip r:embed="rId3"/>
          <a:stretch>
            <a:fillRect/>
          </a:stretch>
        </p:blipFill>
        <p:spPr>
          <a:xfrm>
            <a:off x="4850376" y="1561422"/>
            <a:ext cx="4042408" cy="3022198"/>
          </a:xfrm>
          <a:prstGeom prst="rect">
            <a:avLst/>
          </a:prstGeom>
        </p:spPr>
      </p:pic>
    </p:spTree>
    <p:extLst>
      <p:ext uri="{BB962C8B-B14F-4D97-AF65-F5344CB8AC3E}">
        <p14:creationId xmlns:p14="http://schemas.microsoft.com/office/powerpoint/2010/main" val="1288943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DCC7A0-84D6-426C-9836-B733458F6E26}"/>
              </a:ext>
            </a:extLst>
          </p:cNvPr>
          <p:cNvSpPr>
            <a:spLocks noGrp="1"/>
          </p:cNvSpPr>
          <p:nvPr>
            <p:ph type="title"/>
          </p:nvPr>
        </p:nvSpPr>
        <p:spPr/>
        <p:txBody>
          <a:bodyPr/>
          <a:lstStyle/>
          <a:p>
            <a:r>
              <a:rPr lang="zh-CN" altLang="en-US" dirty="0"/>
              <a:t>聚类算法分类</a:t>
            </a:r>
          </a:p>
        </p:txBody>
      </p:sp>
      <p:sp>
        <p:nvSpPr>
          <p:cNvPr id="4" name="灯片编号占位符 3">
            <a:extLst>
              <a:ext uri="{FF2B5EF4-FFF2-40B4-BE49-F238E27FC236}">
                <a16:creationId xmlns:a16="http://schemas.microsoft.com/office/drawing/2014/main" id="{773A2E6B-2E74-4547-8CCD-C7B6C8AFEC47}"/>
              </a:ext>
            </a:extLst>
          </p:cNvPr>
          <p:cNvSpPr>
            <a:spLocks noGrp="1"/>
          </p:cNvSpPr>
          <p:nvPr>
            <p:ph type="sldNum" sz="quarter" idx="12"/>
          </p:nvPr>
        </p:nvSpPr>
        <p:spPr/>
        <p:txBody>
          <a:bodyPr/>
          <a:lstStyle/>
          <a:p>
            <a:fld id="{5AD84F5B-1672-4D3F-9FEC-5DF89A7B7912}" type="slidenum">
              <a:rPr lang="zh-CN" altLang="en-US" smtClean="0"/>
              <a:t>12</a:t>
            </a:fld>
            <a:endParaRPr lang="zh-CN" altLang="en-US"/>
          </a:p>
        </p:txBody>
      </p:sp>
      <p:pic>
        <p:nvPicPr>
          <p:cNvPr id="5" name="图形 4">
            <a:extLst>
              <a:ext uri="{FF2B5EF4-FFF2-40B4-BE49-F238E27FC236}">
                <a16:creationId xmlns:a16="http://schemas.microsoft.com/office/drawing/2014/main" id="{01FB5E57-B45F-E4AB-E087-00CA7F7668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9966" y="813262"/>
            <a:ext cx="7324068" cy="5231477"/>
          </a:xfrm>
          <a:prstGeom prst="rect">
            <a:avLst/>
          </a:prstGeom>
        </p:spPr>
      </p:pic>
    </p:spTree>
    <p:extLst>
      <p:ext uri="{BB962C8B-B14F-4D97-AF65-F5344CB8AC3E}">
        <p14:creationId xmlns:p14="http://schemas.microsoft.com/office/powerpoint/2010/main" val="2777608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聚类算法分类</a:t>
            </a:r>
          </a:p>
        </p:txBody>
      </p:sp>
      <p:sp>
        <p:nvSpPr>
          <p:cNvPr id="3" name="内容占位符 2"/>
          <p:cNvSpPr>
            <a:spLocks noGrp="1"/>
          </p:cNvSpPr>
          <p:nvPr>
            <p:ph idx="1"/>
          </p:nvPr>
        </p:nvSpPr>
        <p:spPr/>
        <p:txBody>
          <a:bodyPr/>
          <a:lstStyle/>
          <a:p>
            <a:r>
              <a:rPr lang="zh-CN" altLang="en-US" dirty="0"/>
              <a:t>按分类方法</a:t>
            </a:r>
            <a:endParaRPr lang="en-US" altLang="zh-CN" dirty="0"/>
          </a:p>
          <a:p>
            <a:pPr lvl="1"/>
            <a:r>
              <a:rPr lang="zh-CN" altLang="en-US" dirty="0"/>
              <a:t>划分聚类 </a:t>
            </a:r>
            <a:endParaRPr lang="en-US" altLang="zh-CN" dirty="0"/>
          </a:p>
          <a:p>
            <a:endParaRPr lang="zh-CN" altLang="en-US" dirty="0"/>
          </a:p>
        </p:txBody>
      </p:sp>
      <p:pic>
        <p:nvPicPr>
          <p:cNvPr id="4" name="Picture 3"/>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7550" t="6718" r="9227" b="9800"/>
          <a:stretch/>
        </p:blipFill>
        <p:spPr bwMode="auto">
          <a:xfrm>
            <a:off x="1828800" y="3032216"/>
            <a:ext cx="6754108" cy="2144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6255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聚类算法分类</a:t>
            </a:r>
          </a:p>
        </p:txBody>
      </p:sp>
      <p:sp>
        <p:nvSpPr>
          <p:cNvPr id="3" name="内容占位符 2"/>
          <p:cNvSpPr>
            <a:spLocks noGrp="1"/>
          </p:cNvSpPr>
          <p:nvPr>
            <p:ph idx="1"/>
          </p:nvPr>
        </p:nvSpPr>
        <p:spPr/>
        <p:txBody>
          <a:bodyPr/>
          <a:lstStyle/>
          <a:p>
            <a:r>
              <a:rPr lang="zh-CN" altLang="en-US" dirty="0"/>
              <a:t>按分类方法</a:t>
            </a:r>
            <a:endParaRPr lang="en-US" altLang="zh-CN" dirty="0"/>
          </a:p>
          <a:p>
            <a:pPr lvl="1"/>
            <a:r>
              <a:rPr lang="zh-CN" altLang="en-US" dirty="0"/>
              <a:t>划分聚类</a:t>
            </a:r>
            <a:endParaRPr lang="en-US" altLang="zh-CN" dirty="0"/>
          </a:p>
          <a:p>
            <a:pPr lvl="1"/>
            <a:r>
              <a:rPr lang="zh-CN" altLang="en-US" dirty="0"/>
              <a:t>层次聚类</a:t>
            </a:r>
            <a:endParaRPr lang="en-US" altLang="zh-CN" dirty="0"/>
          </a:p>
          <a:p>
            <a:endParaRPr lang="zh-CN" altLang="en-US" dirty="0"/>
          </a:p>
        </p:txBody>
      </p:sp>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001" t="6359" r="4110" b="12988"/>
          <a:stretch/>
        </p:blipFill>
        <p:spPr bwMode="auto">
          <a:xfrm>
            <a:off x="838202" y="3360421"/>
            <a:ext cx="8001001" cy="1874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6519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聚类算法分类</a:t>
            </a:r>
          </a:p>
        </p:txBody>
      </p:sp>
      <p:sp>
        <p:nvSpPr>
          <p:cNvPr id="3" name="内容占位符 2"/>
          <p:cNvSpPr>
            <a:spLocks noGrp="1"/>
          </p:cNvSpPr>
          <p:nvPr>
            <p:ph idx="1"/>
          </p:nvPr>
        </p:nvSpPr>
        <p:spPr/>
        <p:txBody>
          <a:bodyPr/>
          <a:lstStyle/>
          <a:p>
            <a:r>
              <a:rPr lang="zh-CN" altLang="en-US" dirty="0"/>
              <a:t>按分类方法</a:t>
            </a:r>
            <a:endParaRPr lang="en-US" altLang="zh-CN" dirty="0"/>
          </a:p>
          <a:p>
            <a:pPr lvl="1"/>
            <a:r>
              <a:rPr lang="zh-CN" altLang="en-US" dirty="0"/>
              <a:t>划分聚类</a:t>
            </a:r>
            <a:endParaRPr lang="en-US" altLang="zh-CN" dirty="0"/>
          </a:p>
          <a:p>
            <a:pPr lvl="1"/>
            <a:r>
              <a:rPr lang="zh-CN" altLang="en-US" dirty="0"/>
              <a:t>层次聚类</a:t>
            </a:r>
            <a:endParaRPr lang="en-US" altLang="zh-CN" dirty="0"/>
          </a:p>
          <a:p>
            <a:pPr lvl="1"/>
            <a:r>
              <a:rPr lang="zh-CN" altLang="en-US" dirty="0"/>
              <a:t>基于密度的聚类</a:t>
            </a:r>
            <a:endParaRPr lang="en-US" altLang="zh-CN" dirty="0"/>
          </a:p>
          <a:p>
            <a:endParaRPr lang="zh-CN" altLang="en-US" dirty="0"/>
          </a:p>
        </p:txBody>
      </p:sp>
      <p:pic>
        <p:nvPicPr>
          <p:cNvPr id="9222" name="Picture 6"/>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05088" y="3501868"/>
            <a:ext cx="5238750" cy="230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9665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聚类算法分类</a:t>
            </a:r>
          </a:p>
        </p:txBody>
      </p:sp>
      <p:sp>
        <p:nvSpPr>
          <p:cNvPr id="4" name="内容占位符 3"/>
          <p:cNvSpPr>
            <a:spLocks noGrp="1"/>
          </p:cNvSpPr>
          <p:nvPr>
            <p:ph idx="1"/>
          </p:nvPr>
        </p:nvSpPr>
        <p:spPr/>
        <p:txBody>
          <a:bodyPr/>
          <a:lstStyle/>
          <a:p>
            <a:r>
              <a:rPr lang="zh-CN" altLang="en-US" dirty="0"/>
              <a:t>按划分方法分类</a:t>
            </a:r>
            <a:endParaRPr lang="en-US" altLang="zh-CN" dirty="0"/>
          </a:p>
          <a:p>
            <a:pPr lvl="1"/>
            <a:r>
              <a:rPr lang="zh-CN" altLang="en-US" dirty="0"/>
              <a:t>互斥聚类</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4114800" y="2880360"/>
            <a:ext cx="4220598" cy="2916000"/>
          </a:xfrm>
          <a:prstGeom prst="rect">
            <a:avLst/>
          </a:prstGeom>
          <a:noFill/>
          <a:ln>
            <a:noFill/>
          </a:ln>
        </p:spPr>
      </p:pic>
    </p:spTree>
    <p:extLst>
      <p:ext uri="{BB962C8B-B14F-4D97-AF65-F5344CB8AC3E}">
        <p14:creationId xmlns:p14="http://schemas.microsoft.com/office/powerpoint/2010/main" val="3101094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聚类算法分类</a:t>
            </a:r>
          </a:p>
        </p:txBody>
      </p:sp>
      <p:sp>
        <p:nvSpPr>
          <p:cNvPr id="4" name="内容占位符 3"/>
          <p:cNvSpPr>
            <a:spLocks noGrp="1"/>
          </p:cNvSpPr>
          <p:nvPr>
            <p:ph idx="1"/>
          </p:nvPr>
        </p:nvSpPr>
        <p:spPr/>
        <p:txBody>
          <a:bodyPr/>
          <a:lstStyle/>
          <a:p>
            <a:r>
              <a:rPr lang="zh-CN" altLang="en-US" dirty="0"/>
              <a:t>按划分方法分类</a:t>
            </a:r>
            <a:endParaRPr lang="en-US" altLang="zh-CN" dirty="0"/>
          </a:p>
          <a:p>
            <a:pPr lvl="1"/>
            <a:r>
              <a:rPr lang="zh-CN" altLang="en-US" dirty="0"/>
              <a:t>互斥聚类</a:t>
            </a:r>
            <a:endParaRPr lang="en-US" altLang="zh-CN" dirty="0"/>
          </a:p>
          <a:p>
            <a:pPr lvl="1"/>
            <a:r>
              <a:rPr lang="zh-CN" altLang="en-US" dirty="0"/>
              <a:t>非互斥聚类</a:t>
            </a:r>
          </a:p>
          <a:p>
            <a:pPr lvl="1"/>
            <a:endParaRPr lang="zh-CN" altLang="en-US"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3240002" y="2477250"/>
            <a:ext cx="4217819" cy="2916000"/>
          </a:xfrm>
          <a:prstGeom prst="rect">
            <a:avLst/>
          </a:prstGeom>
          <a:noFill/>
          <a:ln>
            <a:noFill/>
          </a:ln>
        </p:spPr>
      </p:pic>
    </p:spTree>
    <p:extLst>
      <p:ext uri="{BB962C8B-B14F-4D97-AF65-F5344CB8AC3E}">
        <p14:creationId xmlns:p14="http://schemas.microsoft.com/office/powerpoint/2010/main" val="526912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聚类算法分类</a:t>
            </a:r>
          </a:p>
        </p:txBody>
      </p:sp>
      <p:sp>
        <p:nvSpPr>
          <p:cNvPr id="4" name="内容占位符 3"/>
          <p:cNvSpPr>
            <a:spLocks noGrp="1"/>
          </p:cNvSpPr>
          <p:nvPr>
            <p:ph idx="1"/>
          </p:nvPr>
        </p:nvSpPr>
        <p:spPr/>
        <p:txBody>
          <a:bodyPr/>
          <a:lstStyle/>
          <a:p>
            <a:r>
              <a:rPr lang="zh-CN" altLang="en-US" dirty="0"/>
              <a:t>按划分方法分类</a:t>
            </a:r>
            <a:endParaRPr lang="en-US" altLang="zh-CN" dirty="0"/>
          </a:p>
          <a:p>
            <a:pPr lvl="1"/>
            <a:r>
              <a:rPr lang="zh-CN" altLang="en-US" dirty="0"/>
              <a:t>互斥聚类</a:t>
            </a:r>
            <a:endParaRPr lang="en-US" altLang="zh-CN" dirty="0"/>
          </a:p>
          <a:p>
            <a:pPr lvl="1"/>
            <a:r>
              <a:rPr lang="zh-CN" altLang="en-US" dirty="0"/>
              <a:t>非互斥聚类</a:t>
            </a:r>
            <a:endParaRPr lang="en-US" altLang="zh-CN" dirty="0"/>
          </a:p>
          <a:p>
            <a:pPr lvl="1"/>
            <a:r>
              <a:rPr lang="zh-CN" altLang="en-US" dirty="0"/>
              <a:t>模糊聚类</a:t>
            </a:r>
          </a:p>
          <a:p>
            <a:pPr lvl="1"/>
            <a:endParaRPr lang="zh-CN" altLang="en-US" dirty="0"/>
          </a:p>
          <a:p>
            <a:pPr lvl="1"/>
            <a:endParaRPr lang="zh-CN" altLang="en-US" dirty="0"/>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3886202" y="2674620"/>
            <a:ext cx="3975229" cy="2916000"/>
          </a:xfrm>
          <a:prstGeom prst="rect">
            <a:avLst/>
          </a:prstGeom>
          <a:noFill/>
        </p:spPr>
      </p:pic>
    </p:spTree>
    <p:extLst>
      <p:ext uri="{BB962C8B-B14F-4D97-AF65-F5344CB8AC3E}">
        <p14:creationId xmlns:p14="http://schemas.microsoft.com/office/powerpoint/2010/main" val="3892413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聚类算法分类</a:t>
            </a:r>
          </a:p>
        </p:txBody>
      </p:sp>
      <p:sp>
        <p:nvSpPr>
          <p:cNvPr id="4" name="内容占位符 3"/>
          <p:cNvSpPr>
            <a:spLocks noGrp="1"/>
          </p:cNvSpPr>
          <p:nvPr>
            <p:ph idx="1"/>
          </p:nvPr>
        </p:nvSpPr>
        <p:spPr/>
        <p:txBody>
          <a:bodyPr/>
          <a:lstStyle/>
          <a:p>
            <a:r>
              <a:rPr lang="zh-CN" altLang="en-US" dirty="0"/>
              <a:t>按划分范围分类</a:t>
            </a:r>
            <a:endParaRPr lang="en-US" altLang="zh-CN" dirty="0"/>
          </a:p>
          <a:p>
            <a:pPr lvl="1"/>
            <a:r>
              <a:rPr lang="zh-CN" altLang="en-US" dirty="0"/>
              <a:t>完全聚类</a:t>
            </a:r>
            <a:r>
              <a:rPr lang="en-US" altLang="zh-CN" dirty="0"/>
              <a:t>(complete Clustering)</a:t>
            </a:r>
          </a:p>
          <a:p>
            <a:pPr lvl="1"/>
            <a:r>
              <a:rPr lang="zh-CN" altLang="en-US" dirty="0"/>
              <a:t>部分聚类</a:t>
            </a:r>
            <a:r>
              <a:rPr lang="en-US" altLang="zh-CN" dirty="0"/>
              <a:t>(partial Clustering)</a:t>
            </a:r>
            <a:endParaRPr lang="zh-CN" altLang="en-US" dirty="0"/>
          </a:p>
          <a:p>
            <a:pPr lvl="1"/>
            <a:endParaRPr lang="zh-CN" altLang="en-US" dirty="0"/>
          </a:p>
        </p:txBody>
      </p:sp>
    </p:spTree>
    <p:extLst>
      <p:ext uri="{BB962C8B-B14F-4D97-AF65-F5344CB8AC3E}">
        <p14:creationId xmlns:p14="http://schemas.microsoft.com/office/powerpoint/2010/main" val="3540064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9144000" cy="817808"/>
          </a:xfrm>
        </p:spPr>
        <p:txBody>
          <a:bodyPr/>
          <a:lstStyle/>
          <a:p>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均值聚类算法描述</a:t>
            </a:r>
            <a:endParaRPr lang="zh-CN" altLang="en-US"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p:cNvSpPr/>
              <p:nvPr/>
            </p:nvSpPr>
            <p:spPr>
              <a:xfrm>
                <a:off x="301059" y="1275964"/>
                <a:ext cx="8814367" cy="3770969"/>
              </a:xfrm>
              <a:prstGeom prst="rect">
                <a:avLst/>
              </a:prstGeom>
            </p:spPr>
            <p:txBody>
              <a:bodyPr wrap="square">
                <a:spAutoFit/>
              </a:bodyPr>
              <a:lstStyle/>
              <a:p>
                <a:pPr marL="285750" indent="-285750">
                  <a:buFont typeface="Wingdings" panose="05000000000000000000" pitchFamily="2" charset="2"/>
                  <a:buChar char="l"/>
                </a:pPr>
                <a:r>
                  <a:rPr lang="zh-CN" altLang="en-US" b="1" dirty="0">
                    <a:latin typeface="楷体" panose="02010609060101010101" pitchFamily="49" charset="-122"/>
                    <a:ea typeface="楷体" panose="02010609060101010101" pitchFamily="49" charset="-122"/>
                  </a:rPr>
                  <a:t>定义：</a:t>
                </a:r>
                <a:endParaRPr lang="en-US" altLang="zh-CN" b="1" dirty="0">
                  <a:latin typeface="楷体" panose="02010609060101010101" pitchFamily="49" charset="-122"/>
                  <a:ea typeface="楷体" panose="02010609060101010101" pitchFamily="49" charset="-122"/>
                </a:endParaRPr>
              </a:p>
              <a:p>
                <a:pPr marL="742950" lvl="1" indent="-285750">
                  <a:lnSpc>
                    <a:spcPct val="150000"/>
                  </a:lnSpc>
                  <a:buFont typeface="Wingdings" panose="05000000000000000000" pitchFamily="2" charset="2"/>
                  <a:buChar char="l"/>
                </a:pPr>
                <a14:m>
                  <m:oMath xmlns:m="http://schemas.openxmlformats.org/officeDocument/2006/math">
                    <m:r>
                      <a:rPr lang="en-US" altLang="zh-CN" b="1" i="1" smtClean="0">
                        <a:latin typeface="Cambria Math"/>
                        <a:ea typeface="黑体" panose="02010609060101010101" pitchFamily="49" charset="-122"/>
                      </a:rPr>
                      <m:t>𝒏</m:t>
                    </m:r>
                  </m:oMath>
                </a14:m>
                <a:r>
                  <a:rPr lang="zh-CN" altLang="en-US" b="1" dirty="0">
                    <a:latin typeface="楷体" panose="02010609060101010101" pitchFamily="49" charset="-122"/>
                    <a:ea typeface="楷体" panose="02010609060101010101" pitchFamily="49" charset="-122"/>
                    <a:cs typeface="Times New Roman" panose="02020603050405020304" pitchFamily="18" charset="0"/>
                  </a:rPr>
                  <a:t>个</a:t>
                </a:r>
                <a14:m>
                  <m:oMath xmlns:m="http://schemas.openxmlformats.org/officeDocument/2006/math">
                    <m:r>
                      <a:rPr lang="en-US" altLang="zh-CN" b="1" i="1" smtClean="0">
                        <a:latin typeface="Cambria Math"/>
                        <a:ea typeface="黑体" panose="02010609060101010101" pitchFamily="49" charset="-122"/>
                      </a:rPr>
                      <m:t>𝒎</m:t>
                    </m:r>
                  </m:oMath>
                </a14:m>
                <a:r>
                  <a:rPr lang="en-US" altLang="zh-CN" b="1" dirty="0">
                    <a:latin typeface="楷体" panose="02010609060101010101" pitchFamily="49" charset="-122"/>
                    <a:ea typeface="楷体" panose="02010609060101010101" pitchFamily="49" charset="-122"/>
                    <a:cs typeface="Times New Roman" panose="02020603050405020304" pitchFamily="18" charset="0"/>
                  </a:rPr>
                  <a:t>-</a:t>
                </a:r>
                <a:r>
                  <a:rPr lang="zh-CN" altLang="en-US" b="1" dirty="0">
                    <a:latin typeface="楷体" panose="02010609060101010101" pitchFamily="49" charset="-122"/>
                    <a:ea typeface="楷体" panose="02010609060101010101" pitchFamily="49" charset="-122"/>
                    <a:cs typeface="Times New Roman" panose="02020603050405020304" pitchFamily="18" charset="0"/>
                  </a:rPr>
                  <a:t>维数据</a:t>
                </a:r>
                <a14:m>
                  <m:oMath xmlns:m="http://schemas.openxmlformats.org/officeDocument/2006/math">
                    <m:sSub>
                      <m:sSubPr>
                        <m:ctrlPr>
                          <a:rPr lang="en-US" altLang="zh-CN" b="1" i="1" smtClean="0">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m:t>
                        </m:r>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𝟏</m:t>
                        </m:r>
                      </m:sub>
                    </m:sSub>
                    <m:r>
                      <a:rPr lang="en-US" altLang="zh-CN" b="1" i="1" smtClean="0">
                        <a:latin typeface="Cambria Math"/>
                        <a:ea typeface="黑体" panose="02010609060101010101" pitchFamily="49" charset="-122"/>
                      </a:rPr>
                      <m:t>,</m:t>
                    </m:r>
                    <m:sSub>
                      <m:sSubPr>
                        <m:ctrlPr>
                          <a:rPr lang="en-US" altLang="zh-CN" b="1" i="1" smtClean="0">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𝟐</m:t>
                        </m:r>
                      </m:sub>
                    </m:sSub>
                    <m:r>
                      <a:rPr lang="en-US" altLang="zh-CN" b="1" i="1" smtClean="0">
                        <a:latin typeface="Cambria Math"/>
                        <a:ea typeface="黑体" panose="02010609060101010101" pitchFamily="49" charset="-122"/>
                      </a:rPr>
                      <m:t>,…,</m:t>
                    </m:r>
                    <m:sSub>
                      <m:sSubPr>
                        <m:ctrlPr>
                          <a:rPr lang="en-US" altLang="zh-CN" b="1" i="1" smtClean="0">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𝒏</m:t>
                        </m:r>
                      </m:sub>
                    </m:sSub>
                    <m:r>
                      <a:rPr lang="en-US" altLang="zh-CN" b="1" i="1" smtClean="0">
                        <a:latin typeface="Cambria Math"/>
                        <a:ea typeface="黑体" panose="02010609060101010101" pitchFamily="49" charset="-122"/>
                      </a:rPr>
                      <m:t>}</m:t>
                    </m:r>
                  </m:oMath>
                </a14:m>
                <a:r>
                  <a:rPr lang="zh-CN" altLang="en-US" b="1" dirty="0">
                    <a:latin typeface="楷体" panose="02010609060101010101" pitchFamily="49" charset="-122"/>
                    <a:ea typeface="楷体" panose="02010609060101010101" pitchFamily="49" charset="-122"/>
                    <a:cs typeface="Times New Roman" panose="02020603050405020304" pitchFamily="18" charset="0"/>
                  </a:rPr>
                  <a:t>，</a:t>
                </a:r>
                <a14:m>
                  <m:oMath xmlns:m="http://schemas.openxmlformats.org/officeDocument/2006/math">
                    <m:sSub>
                      <m:sSubPr>
                        <m:ctrlPr>
                          <a:rPr lang="en-US" altLang="zh-CN" b="1" i="1" dirty="0" smtClean="0">
                            <a:latin typeface="Cambria Math" panose="02040503050406030204" pitchFamily="18" charset="0"/>
                            <a:ea typeface="黑体" panose="02010609060101010101" pitchFamily="49" charset="-122"/>
                          </a:rPr>
                        </m:ctrlPr>
                      </m:sSubPr>
                      <m:e>
                        <m:r>
                          <a:rPr lang="en-US" altLang="zh-CN" b="1" i="1" dirty="0" smtClean="0">
                            <a:latin typeface="Cambria Math"/>
                            <a:ea typeface="黑体" panose="02010609060101010101" pitchFamily="49" charset="-122"/>
                          </a:rPr>
                          <m:t>𝒙</m:t>
                        </m:r>
                      </m:e>
                      <m:sub>
                        <m:r>
                          <a:rPr lang="en-US" altLang="zh-CN" b="1" i="1" dirty="0" smtClean="0">
                            <a:latin typeface="Cambria Math"/>
                            <a:ea typeface="黑体" panose="02010609060101010101" pitchFamily="49" charset="-122"/>
                          </a:rPr>
                          <m:t>𝒊</m:t>
                        </m:r>
                      </m:sub>
                    </m:sSub>
                    <m:r>
                      <a:rPr lang="en-US" altLang="zh-CN" b="1" i="1" dirty="0" smtClean="0">
                        <a:latin typeface="Cambria Math"/>
                        <a:ea typeface="Cambria Math"/>
                      </a:rPr>
                      <m:t>∈</m:t>
                    </m:r>
                    <m:sSup>
                      <m:sSupPr>
                        <m:ctrlPr>
                          <a:rPr lang="en-US" altLang="zh-CN" b="1" i="1" dirty="0" smtClean="0">
                            <a:latin typeface="Cambria Math" panose="02040503050406030204" pitchFamily="18" charset="0"/>
                            <a:ea typeface="Cambria Math"/>
                          </a:rPr>
                        </m:ctrlPr>
                      </m:sSupPr>
                      <m:e>
                        <m:r>
                          <a:rPr lang="en-US" altLang="zh-CN" b="1" i="1" dirty="0" smtClean="0">
                            <a:latin typeface="Cambria Math"/>
                            <a:ea typeface="Cambria Math"/>
                          </a:rPr>
                          <m:t>𝑹</m:t>
                        </m:r>
                      </m:e>
                      <m:sup>
                        <m:r>
                          <a:rPr lang="en-US" altLang="zh-CN" b="1" i="1" dirty="0" smtClean="0">
                            <a:latin typeface="Cambria Math"/>
                            <a:ea typeface="Cambria Math"/>
                          </a:rPr>
                          <m:t>𝒎</m:t>
                        </m:r>
                      </m:sup>
                    </m:sSup>
                    <m:r>
                      <a:rPr lang="en-US" altLang="zh-CN" b="1" i="1" dirty="0" smtClean="0">
                        <a:latin typeface="Cambria Math"/>
                        <a:ea typeface="Cambria Math"/>
                      </a:rPr>
                      <m:t>(</m:t>
                    </m:r>
                    <m:r>
                      <a:rPr lang="en-US" altLang="zh-CN" b="1" i="1" dirty="0" smtClean="0">
                        <a:latin typeface="Cambria Math"/>
                        <a:ea typeface="Cambria Math"/>
                      </a:rPr>
                      <m:t>𝟏</m:t>
                    </m:r>
                    <m:r>
                      <a:rPr lang="en-US" altLang="zh-CN" b="1" i="1" dirty="0" smtClean="0">
                        <a:latin typeface="Cambria Math"/>
                        <a:ea typeface="Cambria Math"/>
                      </a:rPr>
                      <m:t>≤</m:t>
                    </m:r>
                    <m:r>
                      <a:rPr lang="en-US" altLang="zh-CN" b="1" i="1" dirty="0" smtClean="0">
                        <a:latin typeface="Cambria Math"/>
                        <a:ea typeface="Cambria Math"/>
                      </a:rPr>
                      <m:t>𝒊</m:t>
                    </m:r>
                    <m:r>
                      <a:rPr lang="en-US" altLang="zh-CN" b="1" i="1" dirty="0" smtClean="0">
                        <a:latin typeface="Cambria Math"/>
                        <a:ea typeface="Cambria Math"/>
                      </a:rPr>
                      <m:t>≤</m:t>
                    </m:r>
                    <m:r>
                      <a:rPr lang="en-US" altLang="zh-CN" b="1" i="1" dirty="0" smtClean="0">
                        <a:latin typeface="Cambria Math"/>
                        <a:ea typeface="Cambria Math"/>
                      </a:rPr>
                      <m:t>𝒏</m:t>
                    </m:r>
                    <m:r>
                      <a:rPr lang="en-US" altLang="zh-CN" b="1" i="1" dirty="0" smtClean="0">
                        <a:latin typeface="Cambria Math"/>
                        <a:ea typeface="Cambria Math"/>
                      </a:rPr>
                      <m:t>)</m:t>
                    </m:r>
                  </m:oMath>
                </a14:m>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pPr marL="742950" lvl="1" indent="-285750">
                  <a:lnSpc>
                    <a:spcPct val="150000"/>
                  </a:lnSpc>
                  <a:buFont typeface="Wingdings" panose="05000000000000000000" pitchFamily="2" charset="2"/>
                  <a:buChar char="l"/>
                </a:pPr>
                <a:r>
                  <a:rPr lang="zh-CN" altLang="en-US" b="1" dirty="0">
                    <a:latin typeface="楷体" panose="02010609060101010101" pitchFamily="49" charset="-122"/>
                    <a:ea typeface="楷体" panose="02010609060101010101" pitchFamily="49" charset="-122"/>
                    <a:cs typeface="Times New Roman" panose="02020603050405020304" pitchFamily="18" charset="0"/>
                  </a:rPr>
                  <a:t>两个</a:t>
                </a:r>
                <a14:m>
                  <m:oMath xmlns:m="http://schemas.openxmlformats.org/officeDocument/2006/math">
                    <m:r>
                      <a:rPr lang="en-US" altLang="zh-CN" b="1" i="1" smtClean="0">
                        <a:latin typeface="Cambria Math"/>
                        <a:ea typeface="黑体" panose="02010609060101010101" pitchFamily="49" charset="-122"/>
                      </a:rPr>
                      <m:t>𝒎</m:t>
                    </m:r>
                  </m:oMath>
                </a14:m>
                <a:r>
                  <a:rPr lang="zh-CN" altLang="en-US" b="1" dirty="0">
                    <a:latin typeface="楷体" panose="02010609060101010101" pitchFamily="49" charset="-122"/>
                    <a:ea typeface="楷体" panose="02010609060101010101" pitchFamily="49" charset="-122"/>
                    <a:cs typeface="Times New Roman" panose="02020603050405020304" pitchFamily="18" charset="0"/>
                  </a:rPr>
                  <a:t>维数据之间的欧氏距离为</a:t>
                </a:r>
                <a:endParaRPr lang="en-US" altLang="zh-CN" b="1" i="1" dirty="0">
                  <a:latin typeface="楷体" panose="02010609060101010101" pitchFamily="49" charset="-122"/>
                  <a:ea typeface="楷体" panose="02010609060101010101" pitchFamily="49" charset="-122"/>
                </a:endParaRPr>
              </a:p>
              <a:p>
                <a:pPr lvl="1">
                  <a:lnSpc>
                    <a:spcPct val="150000"/>
                  </a:lnSpc>
                </a:pPr>
                <a14:m>
                  <m:oMath xmlns:m="http://schemas.openxmlformats.org/officeDocument/2006/math">
                    <m:r>
                      <a:rPr lang="en-US" altLang="zh-CN" b="1" i="1" smtClean="0">
                        <a:latin typeface="Cambria Math"/>
                        <a:ea typeface="黑体" panose="02010609060101010101" pitchFamily="49" charset="-122"/>
                      </a:rPr>
                      <m:t>𝒅</m:t>
                    </m:r>
                    <m:d>
                      <m:dPr>
                        <m:ctrlPr>
                          <a:rPr lang="en-US" altLang="zh-CN" b="1" i="1" smtClean="0">
                            <a:latin typeface="Cambria Math" panose="02040503050406030204" pitchFamily="18" charset="0"/>
                            <a:ea typeface="黑体" panose="02010609060101010101" pitchFamily="49" charset="-122"/>
                          </a:rPr>
                        </m:ctrlPr>
                      </m:dPr>
                      <m:e>
                        <m:sSub>
                          <m:sSubPr>
                            <m:ctrlPr>
                              <a:rPr lang="en-US" altLang="zh-CN" b="1" i="1" smtClean="0">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𝒊</m:t>
                            </m:r>
                          </m:sub>
                        </m:sSub>
                        <m:r>
                          <a:rPr lang="en-US" altLang="zh-CN" b="1" i="1" smtClean="0">
                            <a:latin typeface="Cambria Math"/>
                            <a:ea typeface="黑体" panose="02010609060101010101" pitchFamily="49" charset="-122"/>
                          </a:rPr>
                          <m:t>,</m:t>
                        </m:r>
                        <m:sSub>
                          <m:sSubPr>
                            <m:ctrlPr>
                              <a:rPr lang="en-US" altLang="zh-CN" b="1" i="1" smtClean="0">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𝒋</m:t>
                            </m:r>
                          </m:sub>
                        </m:sSub>
                      </m:e>
                    </m:d>
                    <m:r>
                      <a:rPr lang="en-US" altLang="zh-CN" b="1" i="1" smtClean="0">
                        <a:latin typeface="Cambria Math"/>
                        <a:ea typeface="黑体" panose="02010609060101010101" pitchFamily="49" charset="-122"/>
                      </a:rPr>
                      <m:t>=</m:t>
                    </m:r>
                    <m:rad>
                      <m:radPr>
                        <m:degHide m:val="on"/>
                        <m:ctrlPr>
                          <a:rPr lang="en-US" altLang="zh-CN" b="1" i="1" smtClean="0">
                            <a:latin typeface="Cambria Math" panose="02040503050406030204" pitchFamily="18" charset="0"/>
                            <a:ea typeface="黑体" panose="02010609060101010101" pitchFamily="49" charset="-122"/>
                          </a:rPr>
                        </m:ctrlPr>
                      </m:radPr>
                      <m:deg/>
                      <m:e>
                        <m:sSup>
                          <m:sSupPr>
                            <m:ctrlPr>
                              <a:rPr lang="en-US" altLang="zh-CN" b="1" i="1" smtClean="0">
                                <a:latin typeface="Cambria Math" panose="02040503050406030204" pitchFamily="18" charset="0"/>
                                <a:ea typeface="黑体" panose="02010609060101010101" pitchFamily="49" charset="-122"/>
                              </a:rPr>
                            </m:ctrlPr>
                          </m:sSupPr>
                          <m:e>
                            <m:r>
                              <a:rPr lang="en-US" altLang="zh-CN" b="1" i="1" smtClean="0">
                                <a:latin typeface="Cambria Math"/>
                                <a:ea typeface="黑体" panose="02010609060101010101" pitchFamily="49" charset="-122"/>
                              </a:rPr>
                              <m:t>(</m:t>
                            </m:r>
                            <m:sSubSup>
                              <m:sSubSupPr>
                                <m:ctrlPr>
                                  <a:rPr lang="en-US" altLang="zh-CN" b="1" i="1" smtClean="0">
                                    <a:latin typeface="Cambria Math" panose="02040503050406030204" pitchFamily="18" charset="0"/>
                                    <a:ea typeface="黑体" panose="02010609060101010101" pitchFamily="49" charset="-122"/>
                                  </a:rPr>
                                </m:ctrlPr>
                              </m:sSubSupPr>
                              <m:e>
                                <m:r>
                                  <a:rPr lang="en-US" altLang="zh-CN" b="1" i="1" smtClean="0">
                                    <a:latin typeface="Cambria Math"/>
                                    <a:ea typeface="黑体" panose="02010609060101010101" pitchFamily="49" charset="-122"/>
                                  </a:rPr>
                                  <m:t>𝒙</m:t>
                                </m:r>
                              </m:e>
                              <m:sub>
                                <m:r>
                                  <a:rPr lang="en-US" altLang="zh-CN" b="1" i="1" smtClean="0">
                                    <a:latin typeface="Cambria Math"/>
                                  </a:rPr>
                                  <m:t>𝒊</m:t>
                                </m:r>
                                <m:r>
                                  <a:rPr lang="en-US" altLang="zh-CN" b="1" i="1" smtClean="0">
                                    <a:latin typeface="Cambria Math"/>
                                  </a:rPr>
                                  <m:t>𝟏</m:t>
                                </m:r>
                              </m:sub>
                              <m:sup/>
                            </m:sSubSup>
                            <m:r>
                              <a:rPr lang="en-US" altLang="zh-CN" b="1" i="1" smtClean="0">
                                <a:latin typeface="Cambria Math"/>
                              </a:rPr>
                              <m:t>−</m:t>
                            </m:r>
                            <m:sSubSup>
                              <m:sSubSupPr>
                                <m:ctrlPr>
                                  <a:rPr lang="en-US" altLang="zh-CN" b="1" i="1" smtClean="0">
                                    <a:latin typeface="Cambria Math" panose="02040503050406030204" pitchFamily="18" charset="0"/>
                                  </a:rPr>
                                </m:ctrlPr>
                              </m:sSubSupPr>
                              <m:e>
                                <m:r>
                                  <a:rPr lang="en-US" altLang="zh-CN" b="1" i="1" smtClean="0">
                                    <a:latin typeface="Cambria Math"/>
                                  </a:rPr>
                                  <m:t>𝒙</m:t>
                                </m:r>
                              </m:e>
                              <m:sub>
                                <m:r>
                                  <a:rPr lang="en-US" altLang="zh-CN" b="1" i="1" smtClean="0">
                                    <a:latin typeface="Cambria Math"/>
                                  </a:rPr>
                                  <m:t>𝒋</m:t>
                                </m:r>
                                <m:r>
                                  <a:rPr lang="en-US" altLang="zh-CN" b="1" i="1" smtClean="0">
                                    <a:latin typeface="Cambria Math"/>
                                  </a:rPr>
                                  <m:t>𝟏</m:t>
                                </m:r>
                              </m:sub>
                              <m:sup/>
                            </m:sSubSup>
                            <m:r>
                              <a:rPr lang="en-US" altLang="zh-CN" b="1" i="1" smtClean="0">
                                <a:latin typeface="Cambria Math"/>
                                <a:ea typeface="黑体" panose="02010609060101010101" pitchFamily="49" charset="-122"/>
                              </a:rPr>
                              <m:t>)</m:t>
                            </m:r>
                          </m:e>
                          <m:sup>
                            <m:r>
                              <a:rPr lang="en-US" altLang="zh-CN" b="1" i="1" smtClean="0">
                                <a:latin typeface="Cambria Math"/>
                                <a:ea typeface="黑体" panose="02010609060101010101" pitchFamily="49" charset="-122"/>
                              </a:rPr>
                              <m:t>𝟐</m:t>
                            </m:r>
                          </m:sup>
                        </m:sSup>
                        <m:r>
                          <a:rPr lang="en-US" altLang="zh-CN" b="1" i="1" smtClean="0">
                            <a:latin typeface="Cambria Math"/>
                            <a:ea typeface="黑体" panose="02010609060101010101" pitchFamily="49" charset="-122"/>
                          </a:rPr>
                          <m:t>+</m:t>
                        </m:r>
                        <m:sSup>
                          <m:sSupPr>
                            <m:ctrlPr>
                              <a:rPr lang="en-US" altLang="zh-CN" b="1" i="1">
                                <a:latin typeface="Cambria Math" panose="02040503050406030204" pitchFamily="18" charset="0"/>
                                <a:ea typeface="黑体" panose="02010609060101010101" pitchFamily="49" charset="-122"/>
                              </a:rPr>
                            </m:ctrlPr>
                          </m:sSupPr>
                          <m:e>
                            <m:r>
                              <a:rPr lang="en-US" altLang="zh-CN" b="1" i="1" smtClean="0">
                                <a:latin typeface="Cambria Math"/>
                                <a:ea typeface="黑体" panose="02010609060101010101" pitchFamily="49" charset="-122"/>
                              </a:rPr>
                              <m:t>(</m:t>
                            </m:r>
                            <m:sSubSup>
                              <m:sSubSupPr>
                                <m:ctrlPr>
                                  <a:rPr lang="en-US" altLang="zh-CN" b="1" i="1">
                                    <a:latin typeface="Cambria Math" panose="02040503050406030204" pitchFamily="18" charset="0"/>
                                    <a:ea typeface="黑体" panose="02010609060101010101" pitchFamily="49" charset="-122"/>
                                  </a:rPr>
                                </m:ctrlPr>
                              </m:sSubSupPr>
                              <m:e>
                                <m:r>
                                  <a:rPr lang="en-US" altLang="zh-CN" b="1" i="1" smtClean="0">
                                    <a:latin typeface="Cambria Math"/>
                                    <a:ea typeface="黑体" panose="02010609060101010101" pitchFamily="49" charset="-122"/>
                                  </a:rPr>
                                  <m:t>𝒙</m:t>
                                </m:r>
                              </m:e>
                              <m:sub>
                                <m:r>
                                  <a:rPr lang="en-US" altLang="zh-CN" b="1" i="1" smtClean="0">
                                    <a:latin typeface="Cambria Math"/>
                                  </a:rPr>
                                  <m:t>𝒊</m:t>
                                </m:r>
                                <m:r>
                                  <a:rPr lang="en-US" altLang="zh-CN" b="1" i="1" smtClean="0">
                                    <a:latin typeface="Cambria Math"/>
                                  </a:rPr>
                                  <m:t>𝟐</m:t>
                                </m:r>
                              </m:sub>
                              <m:sup/>
                            </m:sSubSup>
                            <m:r>
                              <a:rPr lang="en-US" altLang="zh-CN" b="1" i="1" smtClean="0">
                                <a:latin typeface="Cambria Math"/>
                              </a:rPr>
                              <m:t>−</m:t>
                            </m:r>
                            <m:sSubSup>
                              <m:sSubSupPr>
                                <m:ctrlPr>
                                  <a:rPr lang="en-US" altLang="zh-CN" b="1" i="1">
                                    <a:latin typeface="Cambria Math" panose="02040503050406030204" pitchFamily="18" charset="0"/>
                                  </a:rPr>
                                </m:ctrlPr>
                              </m:sSubSupPr>
                              <m:e>
                                <m:r>
                                  <a:rPr lang="en-US" altLang="zh-CN" b="1" i="1" smtClean="0">
                                    <a:latin typeface="Cambria Math"/>
                                  </a:rPr>
                                  <m:t>𝒙</m:t>
                                </m:r>
                              </m:e>
                              <m:sub>
                                <m:r>
                                  <a:rPr lang="en-US" altLang="zh-CN" b="1" i="1" smtClean="0">
                                    <a:latin typeface="Cambria Math"/>
                                  </a:rPr>
                                  <m:t>𝒋</m:t>
                                </m:r>
                                <m:r>
                                  <a:rPr lang="en-US" altLang="zh-CN" b="1" i="1" smtClean="0">
                                    <a:latin typeface="Cambria Math"/>
                                  </a:rPr>
                                  <m:t>𝟐</m:t>
                                </m:r>
                              </m:sub>
                              <m:sup/>
                            </m:sSubSup>
                            <m:r>
                              <a:rPr lang="en-US" altLang="zh-CN" b="1" i="1" smtClean="0">
                                <a:latin typeface="Cambria Math"/>
                                <a:ea typeface="黑体" panose="02010609060101010101" pitchFamily="49" charset="-122"/>
                              </a:rPr>
                              <m:t>)</m:t>
                            </m:r>
                          </m:e>
                          <m:sup>
                            <m:r>
                              <a:rPr lang="en-US" altLang="zh-CN" b="1" i="1" smtClean="0">
                                <a:latin typeface="Cambria Math"/>
                                <a:ea typeface="黑体" panose="02010609060101010101" pitchFamily="49" charset="-122"/>
                              </a:rPr>
                              <m:t>𝟐</m:t>
                            </m:r>
                          </m:sup>
                        </m:sSup>
                        <m:r>
                          <a:rPr lang="en-US" altLang="zh-CN" b="1" i="1" smtClean="0">
                            <a:latin typeface="Cambria Math"/>
                            <a:ea typeface="黑体" panose="02010609060101010101" pitchFamily="49" charset="-122"/>
                          </a:rPr>
                          <m:t>+…+</m:t>
                        </m:r>
                        <m:sSup>
                          <m:sSupPr>
                            <m:ctrlPr>
                              <a:rPr lang="en-US" altLang="zh-CN" b="1" i="1">
                                <a:latin typeface="Cambria Math" panose="02040503050406030204" pitchFamily="18" charset="0"/>
                                <a:ea typeface="黑体" panose="02010609060101010101" pitchFamily="49" charset="-122"/>
                              </a:rPr>
                            </m:ctrlPr>
                          </m:sSupPr>
                          <m:e>
                            <m:r>
                              <a:rPr lang="en-US" altLang="zh-CN" b="1" i="1" smtClean="0">
                                <a:latin typeface="Cambria Math"/>
                                <a:ea typeface="黑体" panose="02010609060101010101" pitchFamily="49" charset="-122"/>
                              </a:rPr>
                              <m:t>(</m:t>
                            </m:r>
                            <m:sSubSup>
                              <m:sSubSupPr>
                                <m:ctrlPr>
                                  <a:rPr lang="en-US" altLang="zh-CN" b="1" i="1">
                                    <a:latin typeface="Cambria Math" panose="02040503050406030204" pitchFamily="18" charset="0"/>
                                    <a:ea typeface="黑体" panose="02010609060101010101" pitchFamily="49" charset="-122"/>
                                  </a:rPr>
                                </m:ctrlPr>
                              </m:sSubSupPr>
                              <m:e>
                                <m:r>
                                  <a:rPr lang="en-US" altLang="zh-CN" b="1" i="1" smtClean="0">
                                    <a:latin typeface="Cambria Math"/>
                                    <a:ea typeface="黑体" panose="02010609060101010101" pitchFamily="49" charset="-122"/>
                                  </a:rPr>
                                  <m:t>𝒙</m:t>
                                </m:r>
                              </m:e>
                              <m:sub>
                                <m:r>
                                  <a:rPr lang="en-US" altLang="zh-CN" b="1" i="1" smtClean="0">
                                    <a:latin typeface="Cambria Math"/>
                                  </a:rPr>
                                  <m:t>𝒊𝒎</m:t>
                                </m:r>
                              </m:sub>
                              <m:sup/>
                            </m:sSubSup>
                            <m:r>
                              <a:rPr lang="en-US" altLang="zh-CN" b="1" i="1" smtClean="0">
                                <a:latin typeface="Cambria Math"/>
                              </a:rPr>
                              <m:t>−</m:t>
                            </m:r>
                            <m:sSubSup>
                              <m:sSubSupPr>
                                <m:ctrlPr>
                                  <a:rPr lang="en-US" altLang="zh-CN" b="1" i="1">
                                    <a:latin typeface="Cambria Math" panose="02040503050406030204" pitchFamily="18" charset="0"/>
                                  </a:rPr>
                                </m:ctrlPr>
                              </m:sSubSupPr>
                              <m:e>
                                <m:r>
                                  <a:rPr lang="en-US" altLang="zh-CN" b="1" i="1" smtClean="0">
                                    <a:latin typeface="Cambria Math"/>
                                  </a:rPr>
                                  <m:t>𝒙</m:t>
                                </m:r>
                              </m:e>
                              <m:sub>
                                <m:r>
                                  <a:rPr lang="en-US" altLang="zh-CN" b="1" i="1" smtClean="0">
                                    <a:latin typeface="Cambria Math"/>
                                  </a:rPr>
                                  <m:t>𝒋𝒎</m:t>
                                </m:r>
                              </m:sub>
                              <m:sup/>
                            </m:sSubSup>
                            <m:r>
                              <a:rPr lang="en-US" altLang="zh-CN" b="1" i="1" smtClean="0">
                                <a:latin typeface="Cambria Math"/>
                                <a:ea typeface="黑体" panose="02010609060101010101" pitchFamily="49" charset="-122"/>
                              </a:rPr>
                              <m:t>)</m:t>
                            </m:r>
                          </m:e>
                          <m:sup>
                            <m:r>
                              <a:rPr lang="en-US" altLang="zh-CN" b="1" i="1" smtClean="0">
                                <a:latin typeface="Cambria Math"/>
                                <a:ea typeface="黑体" panose="02010609060101010101" pitchFamily="49" charset="-122"/>
                              </a:rPr>
                              <m:t>𝟐</m:t>
                            </m:r>
                          </m:sup>
                        </m:sSup>
                      </m:e>
                    </m:rad>
                  </m:oMath>
                </a14:m>
                <a:r>
                  <a:rPr lang="en-US" altLang="zh-CN" b="1" dirty="0">
                    <a:latin typeface="楷体" panose="02010609060101010101" pitchFamily="49" charset="-122"/>
                    <a:ea typeface="楷体" panose="02010609060101010101" pitchFamily="49" charset="-122"/>
                    <a:cs typeface="Times New Roman" panose="02020603050405020304" pitchFamily="18" charset="0"/>
                  </a:rPr>
                  <a:t> </a:t>
                </a:r>
              </a:p>
              <a:p>
                <a:pPr lvl="1">
                  <a:lnSpc>
                    <a:spcPct val="150000"/>
                  </a:lnSpc>
                </a:pPr>
                <a:r>
                  <a:rPr lang="en-US" altLang="zh-CN" b="1" dirty="0">
                    <a:latin typeface="楷体" panose="02010609060101010101" pitchFamily="49" charset="-122"/>
                    <a:ea typeface="楷体" panose="02010609060101010101" pitchFamily="49" charset="-122"/>
                  </a:rPr>
                  <a:t>        </a:t>
                </a:r>
                <a14:m>
                  <m:oMath xmlns:m="http://schemas.openxmlformats.org/officeDocument/2006/math">
                    <m:r>
                      <a:rPr lang="en-US" altLang="zh-CN" b="1" i="1" smtClean="0">
                        <a:latin typeface="Cambria Math"/>
                        <a:ea typeface="黑体" panose="02010609060101010101" pitchFamily="49" charset="-122"/>
                      </a:rPr>
                      <m:t>𝒅</m:t>
                    </m:r>
                    <m:d>
                      <m:dPr>
                        <m:ctrlPr>
                          <a:rPr lang="en-US" altLang="zh-CN" b="1" i="1">
                            <a:latin typeface="Cambria Math" panose="02040503050406030204" pitchFamily="18" charset="0"/>
                            <a:ea typeface="黑体" panose="02010609060101010101" pitchFamily="49" charset="-122"/>
                          </a:rPr>
                        </m:ctrlPr>
                      </m:dPr>
                      <m:e>
                        <m:sSub>
                          <m:sSubPr>
                            <m:ctrlPr>
                              <a:rPr lang="en-US" altLang="zh-CN" b="1" i="1">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𝒊</m:t>
                            </m:r>
                          </m:sub>
                        </m:sSub>
                        <m:r>
                          <a:rPr lang="en-US" altLang="zh-CN" b="1" i="1" smtClean="0">
                            <a:latin typeface="Cambria Math"/>
                            <a:ea typeface="黑体" panose="02010609060101010101" pitchFamily="49" charset="-122"/>
                          </a:rPr>
                          <m:t>,</m:t>
                        </m:r>
                        <m:sSub>
                          <m:sSubPr>
                            <m:ctrlPr>
                              <a:rPr lang="en-US" altLang="zh-CN" b="1" i="1">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𝒋</m:t>
                            </m:r>
                          </m:sub>
                        </m:sSub>
                      </m:e>
                    </m:d>
                  </m:oMath>
                </a14:m>
                <a:r>
                  <a:rPr lang="zh-CN" altLang="en-US" b="1" dirty="0">
                    <a:latin typeface="楷体" panose="02010609060101010101" pitchFamily="49" charset="-122"/>
                    <a:ea typeface="楷体" panose="02010609060101010101" pitchFamily="49" charset="-122"/>
                    <a:cs typeface="Times New Roman" panose="02020603050405020304" pitchFamily="18" charset="0"/>
                  </a:rPr>
                  <a:t>值越小，表示</a:t>
                </a:r>
                <a14:m>
                  <m:oMath xmlns:m="http://schemas.openxmlformats.org/officeDocument/2006/math">
                    <m:sSub>
                      <m:sSubPr>
                        <m:ctrlPr>
                          <a:rPr lang="en-US" altLang="zh-CN" b="1" i="1">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𝒊</m:t>
                        </m:r>
                      </m:sub>
                    </m:sSub>
                  </m:oMath>
                </a14:m>
                <a:r>
                  <a:rPr lang="zh-CN" altLang="en-US" b="1" dirty="0">
                    <a:latin typeface="楷体" panose="02010609060101010101" pitchFamily="49" charset="-122"/>
                    <a:ea typeface="楷体" panose="02010609060101010101" pitchFamily="49" charset="-122"/>
                    <a:cs typeface="Times New Roman" panose="02020603050405020304" pitchFamily="18" charset="0"/>
                  </a:rPr>
                  <a:t>和</a:t>
                </a:r>
                <a14:m>
                  <m:oMath xmlns:m="http://schemas.openxmlformats.org/officeDocument/2006/math">
                    <m:sSub>
                      <m:sSubPr>
                        <m:ctrlPr>
                          <a:rPr lang="en-US" altLang="zh-CN" b="1" i="1">
                            <a:latin typeface="Cambria Math" panose="02040503050406030204" pitchFamily="18" charset="0"/>
                            <a:ea typeface="黑体" panose="02010609060101010101" pitchFamily="49" charset="-122"/>
                          </a:rPr>
                        </m:ctrlPr>
                      </m:sSubPr>
                      <m:e>
                        <m:r>
                          <a:rPr lang="en-US" altLang="zh-CN" b="1" i="1" smtClean="0">
                            <a:latin typeface="Cambria Math"/>
                            <a:ea typeface="黑体" panose="02010609060101010101" pitchFamily="49" charset="-122"/>
                          </a:rPr>
                          <m:t>𝒙</m:t>
                        </m:r>
                      </m:e>
                      <m:sub>
                        <m:r>
                          <a:rPr lang="en-US" altLang="zh-CN" b="1" i="1" smtClean="0">
                            <a:latin typeface="Cambria Math"/>
                            <a:ea typeface="黑体" panose="02010609060101010101" pitchFamily="49" charset="-122"/>
                          </a:rPr>
                          <m:t>𝒋</m:t>
                        </m:r>
                      </m:sub>
                    </m:sSub>
                  </m:oMath>
                </a14:m>
                <a:r>
                  <a:rPr lang="zh-CN" altLang="en-US" b="1" dirty="0">
                    <a:latin typeface="楷体" panose="02010609060101010101" pitchFamily="49" charset="-122"/>
                    <a:ea typeface="楷体" panose="02010609060101010101" pitchFamily="49" charset="-122"/>
                    <a:cs typeface="Times New Roman" panose="02020603050405020304" pitchFamily="18" charset="0"/>
                  </a:rPr>
                  <a:t>越相似；反之越不相似</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pPr marL="742950" lvl="1" indent="-285750">
                  <a:lnSpc>
                    <a:spcPct val="150000"/>
                  </a:lnSpc>
                  <a:buFont typeface="Wingdings" panose="05000000000000000000" pitchFamily="2" charset="2"/>
                  <a:buChar char="l"/>
                </a:pPr>
                <a:r>
                  <a:rPr lang="zh-CN" altLang="en-US" b="1" dirty="0">
                    <a:latin typeface="楷体" panose="02010609060101010101" pitchFamily="49" charset="-122"/>
                    <a:ea typeface="楷体" panose="02010609060101010101" pitchFamily="49" charset="-122"/>
                    <a:cs typeface="Times New Roman" panose="02020603050405020304" pitchFamily="18" charset="0"/>
                  </a:rPr>
                  <a:t>聚类集合数目</a:t>
                </a:r>
                <a14:m>
                  <m:oMath xmlns:m="http://schemas.openxmlformats.org/officeDocument/2006/math">
                    <m:r>
                      <a:rPr lang="en-US" altLang="zh-CN" b="1" i="1" smtClean="0">
                        <a:latin typeface="Cambria Math"/>
                        <a:ea typeface="黑体" panose="02010609060101010101" pitchFamily="49" charset="-122"/>
                      </a:rPr>
                      <m:t>𝒌</m:t>
                    </m:r>
                  </m:oMath>
                </a14:m>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pPr marL="285750" lvl="1" indent="-285750">
                  <a:lnSpc>
                    <a:spcPct val="150000"/>
                  </a:lnSpc>
                  <a:buFont typeface="Wingdings" panose="05000000000000000000" pitchFamily="2" charset="2"/>
                  <a:buChar char="l"/>
                </a:pPr>
                <a:r>
                  <a:rPr lang="zh-CN" altLang="en-US" b="1" dirty="0">
                    <a:latin typeface="楷体" panose="02010609060101010101" pitchFamily="49" charset="-122"/>
                    <a:ea typeface="楷体" panose="02010609060101010101" pitchFamily="49" charset="-122"/>
                    <a:cs typeface="Times New Roman" panose="02020603050405020304" pitchFamily="18" charset="0"/>
                  </a:rPr>
                  <a:t>问题：如何将</a:t>
                </a:r>
                <a14:m>
                  <m:oMath xmlns:m="http://schemas.openxmlformats.org/officeDocument/2006/math">
                    <m:r>
                      <a:rPr lang="en-US" altLang="zh-CN" b="1" i="1" smtClean="0">
                        <a:latin typeface="Cambria Math"/>
                        <a:ea typeface="黑体" panose="02010609060101010101" pitchFamily="49" charset="-122"/>
                      </a:rPr>
                      <m:t>𝒏</m:t>
                    </m:r>
                  </m:oMath>
                </a14:m>
                <a:r>
                  <a:rPr lang="zh-CN" altLang="en-US" b="1" dirty="0">
                    <a:latin typeface="楷体" panose="02010609060101010101" pitchFamily="49" charset="-122"/>
                    <a:ea typeface="楷体" panose="02010609060101010101" pitchFamily="49" charset="-122"/>
                    <a:cs typeface="Times New Roman" panose="02020603050405020304" pitchFamily="18" charset="0"/>
                  </a:rPr>
                  <a:t>个数据依据其相似度大小将它们分别聚类到</a:t>
                </a:r>
                <a14:m>
                  <m:oMath xmlns:m="http://schemas.openxmlformats.org/officeDocument/2006/math">
                    <m:r>
                      <a:rPr lang="en-US" altLang="zh-CN" b="1" i="1" smtClean="0">
                        <a:latin typeface="Cambria Math"/>
                        <a:ea typeface="黑体" panose="02010609060101010101" pitchFamily="49" charset="-122"/>
                      </a:rPr>
                      <m:t>𝒌</m:t>
                    </m:r>
                  </m:oMath>
                </a14:m>
                <a:r>
                  <a:rPr lang="zh-CN" altLang="en-US" b="1" dirty="0">
                    <a:latin typeface="楷体" panose="02010609060101010101" pitchFamily="49" charset="-122"/>
                    <a:ea typeface="楷体" panose="02010609060101010101" pitchFamily="49" charset="-122"/>
                    <a:cs typeface="Times New Roman" panose="02020603050405020304" pitchFamily="18" charset="0"/>
                  </a:rPr>
                  <a:t>个集合，使得每个数据仅属于一个聚类集合。</a:t>
                </a:r>
              </a:p>
            </p:txBody>
          </p:sp>
        </mc:Choice>
        <mc:Fallback xmlns="">
          <p:sp>
            <p:nvSpPr>
              <p:cNvPr id="5" name="矩形 4"/>
              <p:cNvSpPr>
                <a:spLocks noRot="1" noChangeAspect="1" noMove="1" noResize="1" noEditPoints="1" noAdjustHandles="1" noChangeArrowheads="1" noChangeShapeType="1" noTextEdit="1"/>
              </p:cNvSpPr>
              <p:nvPr/>
            </p:nvSpPr>
            <p:spPr>
              <a:xfrm>
                <a:off x="301059" y="1275964"/>
                <a:ext cx="8814367" cy="3770969"/>
              </a:xfrm>
              <a:prstGeom prst="rect">
                <a:avLst/>
              </a:prstGeom>
              <a:blipFill>
                <a:blip r:embed="rId2"/>
                <a:stretch>
                  <a:fillRect l="-415" t="-808" r="-6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07328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bwMode="auto">
          <a:xfrm>
            <a:off x="336668" y="1429016"/>
            <a:ext cx="3606682" cy="557808"/>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marR="0" lvl="1" indent="-442913" defTabSz="914400" eaLnBrk="1" fontAlgn="base" latinLnBrk="0" hangingPunct="1">
              <a:lnSpc>
                <a:spcPct val="150000"/>
              </a:lnSpc>
              <a:spcBef>
                <a:spcPct val="0"/>
              </a:spcBef>
              <a:spcAft>
                <a:spcPct val="0"/>
              </a:spcAft>
              <a:buClr>
                <a:srgbClr val="FF0000"/>
              </a:buClr>
              <a:buSzTx/>
              <a:buFont typeface="Wingdings" pitchFamily="2" charset="2"/>
              <a:buChar char="n"/>
              <a:tabLst/>
              <a:defRPr/>
            </a:pPr>
            <a:r>
              <a:rPr kumimoji="0" lang="zh-CN" altLang="en-US" sz="2000" b="1"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Times New Roman" panose="02020603050405020304" pitchFamily="18" charset="0"/>
              </a:rPr>
              <a:t>第一步：初始化聚类质心</a:t>
            </a:r>
            <a:endParaRPr kumimoji="0" lang="en-US" altLang="zh-CN" sz="2000" b="1"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12" name="标题 1"/>
          <p:cNvSpPr>
            <a:spLocks noGrp="1"/>
          </p:cNvSpPr>
          <p:nvPr>
            <p:ph type="title"/>
          </p:nvPr>
        </p:nvSpPr>
        <p:spPr>
          <a:xfrm>
            <a:off x="521884" y="210094"/>
            <a:ext cx="7507706" cy="657727"/>
          </a:xfrm>
        </p:spPr>
        <p:txBody>
          <a:bodyPr/>
          <a:lstStyle/>
          <a:p>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均值聚类算法：</a:t>
            </a:r>
            <a:r>
              <a:rPr lang="zh-CN" altLang="en-US" sz="2400" kern="0" dirty="0">
                <a:solidFill>
                  <a:srgbClr val="0070C0"/>
                </a:solidFill>
                <a:latin typeface="Times New Roman" pitchFamily="18" charset="0"/>
                <a:cs typeface="Times New Roman" pitchFamily="18" charset="0"/>
              </a:rPr>
              <a:t>初始化</a:t>
            </a:r>
            <a:endParaRPr lang="zh-CN" altLang="en-US"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161926" y="2635069"/>
                <a:ext cx="8905874" cy="1608646"/>
              </a:xfrm>
              <a:prstGeom prst="rect">
                <a:avLst/>
              </a:prstGeom>
            </p:spPr>
            <p:txBody>
              <a:bodyPr wrap="square">
                <a:spAutoFit/>
              </a:bodyPr>
              <a:lstStyle/>
              <a:p>
                <a:pPr marL="742950" lvl="1" indent="-285750">
                  <a:lnSpc>
                    <a:spcPct val="200000"/>
                  </a:lnSpc>
                  <a:buFont typeface="Wingdings" panose="05000000000000000000" pitchFamily="2" charset="2"/>
                  <a:buChar char="l"/>
                </a:pPr>
                <a:r>
                  <a:rPr lang="zh-CN" altLang="en-US" sz="2400" b="1" dirty="0">
                    <a:latin typeface="楷体" panose="02010609060101010101" pitchFamily="49" charset="-122"/>
                    <a:ea typeface="楷体" panose="02010609060101010101" pitchFamily="49" charset="-122"/>
                    <a:cs typeface="Times New Roman" panose="02020603050405020304" pitchFamily="18" charset="0"/>
                  </a:rPr>
                  <a:t>初始化</a:t>
                </a:r>
                <a14:m>
                  <m:oMath xmlns:m="http://schemas.openxmlformats.org/officeDocument/2006/math">
                    <m:r>
                      <a:rPr lang="en-US" altLang="zh-CN" sz="2400" b="1" i="1" smtClean="0">
                        <a:latin typeface="Cambria Math"/>
                        <a:ea typeface="黑体" panose="02010609060101010101" pitchFamily="49" charset="-122"/>
                      </a:rPr>
                      <m:t>𝒌</m:t>
                    </m:r>
                  </m:oMath>
                </a14:m>
                <a:r>
                  <a:rPr lang="zh-CN" altLang="en-US" sz="2400" b="1" dirty="0">
                    <a:latin typeface="楷体" panose="02010609060101010101" pitchFamily="49" charset="-122"/>
                    <a:ea typeface="楷体" panose="02010609060101010101" pitchFamily="49" charset="-122"/>
                    <a:cs typeface="Times New Roman" panose="02020603050405020304" pitchFamily="18" charset="0"/>
                  </a:rPr>
                  <a:t>个聚类质心</a:t>
                </a:r>
                <a14:m>
                  <m:oMath xmlns:m="http://schemas.openxmlformats.org/officeDocument/2006/math">
                    <m:sSub>
                      <m:sSubPr>
                        <m:ctrlPr>
                          <a:rPr lang="en-US" altLang="zh-CN" sz="2400" b="1" i="1">
                            <a:latin typeface="Cambria Math" panose="02040503050406030204" pitchFamily="18" charset="0"/>
                            <a:ea typeface="黑体" panose="02010609060101010101" pitchFamily="49" charset="-122"/>
                          </a:rPr>
                        </m:ctrlPr>
                      </m:sSubPr>
                      <m:e>
                        <m:r>
                          <a:rPr lang="en-US" altLang="zh-CN" sz="2400" b="1" i="1" smtClean="0">
                            <a:latin typeface="Cambria Math"/>
                            <a:ea typeface="黑体" panose="02010609060101010101" pitchFamily="49" charset="-122"/>
                          </a:rPr>
                          <m:t>𝒄</m:t>
                        </m:r>
                        <m:r>
                          <a:rPr lang="en-US" altLang="zh-CN" sz="2400" b="1" i="1" smtClean="0">
                            <a:latin typeface="Cambria Math"/>
                            <a:ea typeface="黑体" panose="02010609060101010101" pitchFamily="49" charset="-122"/>
                          </a:rPr>
                          <m:t>={</m:t>
                        </m:r>
                        <m:r>
                          <a:rPr lang="en-US" altLang="zh-CN" sz="2400" b="1" i="1" smtClean="0">
                            <a:latin typeface="Cambria Math"/>
                            <a:ea typeface="黑体" panose="02010609060101010101" pitchFamily="49" charset="-122"/>
                          </a:rPr>
                          <m:t>𝒄</m:t>
                        </m:r>
                      </m:e>
                      <m:sub>
                        <m:r>
                          <a:rPr lang="en-US" altLang="zh-CN" sz="2400" b="1" i="1">
                            <a:latin typeface="Cambria Math"/>
                            <a:ea typeface="黑体" panose="02010609060101010101" pitchFamily="49" charset="-122"/>
                          </a:rPr>
                          <m:t>𝟏</m:t>
                        </m:r>
                      </m:sub>
                    </m:sSub>
                    <m:r>
                      <a:rPr lang="en-US" altLang="zh-CN" sz="2400" b="1" i="1">
                        <a:latin typeface="Cambria Math"/>
                        <a:ea typeface="黑体" panose="02010609060101010101" pitchFamily="49" charset="-122"/>
                      </a:rPr>
                      <m:t>,</m:t>
                    </m:r>
                    <m:sSub>
                      <m:sSubPr>
                        <m:ctrlPr>
                          <a:rPr lang="en-US" altLang="zh-CN" sz="2400" b="1" i="1">
                            <a:latin typeface="Cambria Math" panose="02040503050406030204" pitchFamily="18" charset="0"/>
                            <a:ea typeface="黑体" panose="02010609060101010101" pitchFamily="49" charset="-122"/>
                          </a:rPr>
                        </m:ctrlPr>
                      </m:sSubPr>
                      <m:e>
                        <m:r>
                          <a:rPr lang="en-US" altLang="zh-CN" sz="2400" b="1" i="1" smtClean="0">
                            <a:latin typeface="Cambria Math"/>
                            <a:ea typeface="黑体" panose="02010609060101010101" pitchFamily="49" charset="-122"/>
                          </a:rPr>
                          <m:t>𝒄</m:t>
                        </m:r>
                      </m:e>
                      <m:sub>
                        <m:r>
                          <a:rPr lang="en-US" altLang="zh-CN" sz="2400" b="1" i="1">
                            <a:latin typeface="Cambria Math"/>
                            <a:ea typeface="黑体" panose="02010609060101010101" pitchFamily="49" charset="-122"/>
                          </a:rPr>
                          <m:t>𝟐</m:t>
                        </m:r>
                      </m:sub>
                    </m:sSub>
                    <m:r>
                      <a:rPr lang="en-US" altLang="zh-CN" sz="2400" b="1" i="1">
                        <a:latin typeface="Cambria Math"/>
                        <a:ea typeface="黑体" panose="02010609060101010101" pitchFamily="49" charset="-122"/>
                      </a:rPr>
                      <m:t>,…,</m:t>
                    </m:r>
                    <m:sSub>
                      <m:sSubPr>
                        <m:ctrlPr>
                          <a:rPr lang="en-US" altLang="zh-CN" sz="2400" b="1" i="1">
                            <a:latin typeface="Cambria Math" panose="02040503050406030204" pitchFamily="18" charset="0"/>
                            <a:ea typeface="黑体" panose="02010609060101010101" pitchFamily="49" charset="-122"/>
                          </a:rPr>
                        </m:ctrlPr>
                      </m:sSubPr>
                      <m:e>
                        <m:r>
                          <a:rPr lang="en-US" altLang="zh-CN" sz="2400" b="1" i="1" smtClean="0">
                            <a:latin typeface="Cambria Math"/>
                            <a:ea typeface="黑体" panose="02010609060101010101" pitchFamily="49" charset="-122"/>
                          </a:rPr>
                          <m:t>𝒄</m:t>
                        </m:r>
                      </m:e>
                      <m:sub>
                        <m:r>
                          <a:rPr lang="en-US" altLang="zh-CN" sz="2400" b="1" i="1" smtClean="0">
                            <a:latin typeface="Cambria Math"/>
                            <a:ea typeface="黑体" panose="02010609060101010101" pitchFamily="49" charset="-122"/>
                          </a:rPr>
                          <m:t>𝒌</m:t>
                        </m:r>
                      </m:sub>
                    </m:sSub>
                    <m:r>
                      <a:rPr lang="en-US" altLang="zh-CN" sz="2400" b="1" i="1">
                        <a:latin typeface="Cambria Math"/>
                        <a:ea typeface="黑体" panose="02010609060101010101" pitchFamily="49" charset="-122"/>
                      </a:rPr>
                      <m:t>}</m:t>
                    </m:r>
                  </m:oMath>
                </a14:m>
                <a:r>
                  <a:rPr lang="zh-CN" altLang="en-US" sz="2400" b="1" dirty="0">
                    <a:latin typeface="楷体" panose="02010609060101010101" pitchFamily="49" charset="-122"/>
                    <a:ea typeface="楷体" panose="02010609060101010101" pitchFamily="49" charset="-122"/>
                    <a:cs typeface="Times New Roman" panose="02020603050405020304" pitchFamily="18" charset="0"/>
                  </a:rPr>
                  <a:t>，</a:t>
                </a:r>
                <a14:m>
                  <m:oMath xmlns:m="http://schemas.openxmlformats.org/officeDocument/2006/math">
                    <m:sSub>
                      <m:sSubPr>
                        <m:ctrlPr>
                          <a:rPr lang="en-US" altLang="zh-CN" sz="2400" b="1" i="1" dirty="0">
                            <a:latin typeface="Cambria Math" panose="02040503050406030204" pitchFamily="18" charset="0"/>
                            <a:ea typeface="黑体" panose="02010609060101010101" pitchFamily="49" charset="-122"/>
                          </a:rPr>
                        </m:ctrlPr>
                      </m:sSubPr>
                      <m:e>
                        <m:r>
                          <a:rPr lang="en-US" altLang="zh-CN" sz="2400" b="1" i="1" dirty="0" smtClean="0">
                            <a:latin typeface="Cambria Math"/>
                            <a:ea typeface="黑体" panose="02010609060101010101" pitchFamily="49" charset="-122"/>
                          </a:rPr>
                          <m:t>𝒄</m:t>
                        </m:r>
                      </m:e>
                      <m:sub>
                        <m:r>
                          <a:rPr lang="en-US" altLang="zh-CN" sz="2400" b="1" i="1" dirty="0" smtClean="0">
                            <a:latin typeface="Cambria Math"/>
                            <a:ea typeface="黑体" panose="02010609060101010101" pitchFamily="49" charset="-122"/>
                          </a:rPr>
                          <m:t>𝒋</m:t>
                        </m:r>
                      </m:sub>
                    </m:sSub>
                    <m:r>
                      <a:rPr lang="en-US" altLang="zh-CN" sz="2400" b="1" i="1" dirty="0">
                        <a:latin typeface="Cambria Math"/>
                        <a:ea typeface="Cambria Math"/>
                      </a:rPr>
                      <m:t>∈</m:t>
                    </m:r>
                    <m:sSup>
                      <m:sSupPr>
                        <m:ctrlPr>
                          <a:rPr lang="en-US" altLang="zh-CN" sz="2400" b="1" i="1" dirty="0">
                            <a:latin typeface="Cambria Math" panose="02040503050406030204" pitchFamily="18" charset="0"/>
                            <a:ea typeface="Cambria Math"/>
                          </a:rPr>
                        </m:ctrlPr>
                      </m:sSupPr>
                      <m:e>
                        <m:r>
                          <a:rPr lang="en-US" altLang="zh-CN" sz="2400" b="1" i="1" dirty="0">
                            <a:latin typeface="Cambria Math"/>
                            <a:ea typeface="Cambria Math"/>
                          </a:rPr>
                          <m:t>𝑹</m:t>
                        </m:r>
                      </m:e>
                      <m:sup>
                        <m:r>
                          <a:rPr lang="en-US" altLang="zh-CN" sz="2400" b="1" i="1" dirty="0">
                            <a:latin typeface="Cambria Math"/>
                            <a:ea typeface="Cambria Math"/>
                          </a:rPr>
                          <m:t>𝒎</m:t>
                        </m:r>
                      </m:sup>
                    </m:sSup>
                    <m:r>
                      <a:rPr lang="en-US" altLang="zh-CN" sz="2400" b="1" i="1" dirty="0">
                        <a:latin typeface="Cambria Math"/>
                        <a:ea typeface="Cambria Math"/>
                      </a:rPr>
                      <m:t>(</m:t>
                    </m:r>
                    <m:r>
                      <a:rPr lang="en-US" altLang="zh-CN" sz="2400" b="1" i="1" dirty="0">
                        <a:latin typeface="Cambria Math"/>
                        <a:ea typeface="Cambria Math"/>
                      </a:rPr>
                      <m:t>𝟏</m:t>
                    </m:r>
                    <m:r>
                      <a:rPr lang="en-US" altLang="zh-CN" sz="2400" b="1" i="1" dirty="0">
                        <a:latin typeface="Cambria Math"/>
                        <a:ea typeface="Cambria Math"/>
                      </a:rPr>
                      <m:t>≤</m:t>
                    </m:r>
                    <m:r>
                      <a:rPr lang="en-US" altLang="zh-CN" sz="2400" b="1" i="1" dirty="0" smtClean="0">
                        <a:latin typeface="Cambria Math"/>
                        <a:ea typeface="Cambria Math"/>
                      </a:rPr>
                      <m:t>𝒋</m:t>
                    </m:r>
                    <m:r>
                      <a:rPr lang="en-US" altLang="zh-CN" sz="2400" b="1" i="1" dirty="0">
                        <a:latin typeface="Cambria Math"/>
                        <a:ea typeface="Cambria Math"/>
                      </a:rPr>
                      <m:t>≤</m:t>
                    </m:r>
                    <m:r>
                      <a:rPr lang="en-US" altLang="zh-CN" sz="2400" b="1" i="1" dirty="0" smtClean="0">
                        <a:latin typeface="Cambria Math"/>
                        <a:ea typeface="Cambria Math"/>
                      </a:rPr>
                      <m:t>𝒌</m:t>
                    </m:r>
                    <m:r>
                      <a:rPr lang="en-US" altLang="zh-CN" sz="2400" b="1" i="1" dirty="0">
                        <a:latin typeface="Cambria Math"/>
                        <a:ea typeface="Cambria Math"/>
                      </a:rPr>
                      <m:t>)</m:t>
                    </m:r>
                  </m:oMath>
                </a14:m>
                <a:endParaRPr lang="en-US" altLang="zh-CN" sz="2400" b="1" dirty="0">
                  <a:latin typeface="楷体" panose="02010609060101010101" pitchFamily="49" charset="-122"/>
                  <a:ea typeface="楷体" panose="02010609060101010101" pitchFamily="49" charset="-122"/>
                  <a:cs typeface="Times New Roman" panose="02020603050405020304" pitchFamily="18" charset="0"/>
                </a:endParaRPr>
              </a:p>
              <a:p>
                <a:pPr marL="742950" lvl="1" indent="-285750">
                  <a:lnSpc>
                    <a:spcPct val="200000"/>
                  </a:lnSpc>
                  <a:buFont typeface="Wingdings" panose="05000000000000000000" pitchFamily="2" charset="2"/>
                  <a:buChar char="l"/>
                </a:pPr>
                <a:r>
                  <a:rPr lang="zh-CN" altLang="en-US" sz="2400" b="1" dirty="0">
                    <a:latin typeface="楷体" panose="02010609060101010101" pitchFamily="49" charset="-122"/>
                    <a:ea typeface="楷体" panose="02010609060101010101" pitchFamily="49" charset="-122"/>
                    <a:cs typeface="Times New Roman" panose="02020603050405020304" pitchFamily="18" charset="0"/>
                  </a:rPr>
                  <a:t>每个聚类质心</a:t>
                </a:r>
                <a14:m>
                  <m:oMath xmlns:m="http://schemas.openxmlformats.org/officeDocument/2006/math">
                    <m:sSub>
                      <m:sSubPr>
                        <m:ctrlPr>
                          <a:rPr lang="en-US" altLang="zh-CN" sz="2400" b="1" i="1" dirty="0">
                            <a:latin typeface="Cambria Math" panose="02040503050406030204" pitchFamily="18" charset="0"/>
                            <a:ea typeface="黑体" panose="02010609060101010101" pitchFamily="49" charset="-122"/>
                          </a:rPr>
                        </m:ctrlPr>
                      </m:sSubPr>
                      <m:e>
                        <m:r>
                          <a:rPr lang="en-US" altLang="zh-CN" sz="2400" b="1" i="1" dirty="0">
                            <a:latin typeface="Cambria Math"/>
                            <a:ea typeface="黑体" panose="02010609060101010101" pitchFamily="49" charset="-122"/>
                          </a:rPr>
                          <m:t>𝒄</m:t>
                        </m:r>
                      </m:e>
                      <m:sub>
                        <m:r>
                          <a:rPr lang="en-US" altLang="zh-CN" sz="2400" b="1" i="1" dirty="0">
                            <a:latin typeface="Cambria Math"/>
                            <a:ea typeface="黑体" panose="02010609060101010101" pitchFamily="49" charset="-122"/>
                          </a:rPr>
                          <m:t>𝒋</m:t>
                        </m:r>
                      </m:sub>
                    </m:sSub>
                  </m:oMath>
                </a14:m>
                <a:r>
                  <a:rPr lang="zh-CN" altLang="en-US" sz="2400" b="1" dirty="0">
                    <a:latin typeface="楷体" panose="02010609060101010101" pitchFamily="49" charset="-122"/>
                    <a:ea typeface="楷体" panose="02010609060101010101" pitchFamily="49" charset="-122"/>
                    <a:cs typeface="Times New Roman" panose="02020603050405020304" pitchFamily="18" charset="0"/>
                  </a:rPr>
                  <a:t>所在集合记为</a:t>
                </a:r>
                <a14:m>
                  <m:oMath xmlns:m="http://schemas.openxmlformats.org/officeDocument/2006/math">
                    <m:sSub>
                      <m:sSubPr>
                        <m:ctrlPr>
                          <a:rPr lang="en-US" altLang="zh-CN" sz="2400" b="1" i="1" dirty="0">
                            <a:latin typeface="Cambria Math" panose="02040503050406030204" pitchFamily="18" charset="0"/>
                            <a:ea typeface="黑体" panose="02010609060101010101" pitchFamily="49" charset="-122"/>
                          </a:rPr>
                        </m:ctrlPr>
                      </m:sSubPr>
                      <m:e>
                        <m:r>
                          <a:rPr lang="en-US" altLang="zh-CN" sz="2400" b="1" i="1" dirty="0" smtClean="0">
                            <a:latin typeface="Cambria Math"/>
                            <a:ea typeface="黑体" panose="02010609060101010101" pitchFamily="49" charset="-122"/>
                          </a:rPr>
                          <m:t>𝑮</m:t>
                        </m:r>
                      </m:e>
                      <m:sub>
                        <m:r>
                          <a:rPr lang="en-US" altLang="zh-CN" sz="2400" b="1" i="1" dirty="0">
                            <a:latin typeface="Cambria Math"/>
                            <a:ea typeface="黑体" panose="02010609060101010101" pitchFamily="49" charset="-122"/>
                          </a:rPr>
                          <m:t>𝒋</m:t>
                        </m:r>
                      </m:sub>
                    </m:sSub>
                  </m:oMath>
                </a14:m>
                <a:endParaRPr lang="en-US" altLang="zh-CN" sz="2400" b="1"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161926" y="2635069"/>
                <a:ext cx="8905874" cy="1608646"/>
              </a:xfrm>
              <a:prstGeom prst="rect">
                <a:avLst/>
              </a:prstGeom>
              <a:blipFill>
                <a:blip r:embed="rId2"/>
                <a:stretch>
                  <a:fillRect b="-45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92494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bwMode="auto">
          <a:xfrm>
            <a:off x="336667" y="1429016"/>
            <a:ext cx="6835658" cy="557808"/>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lvl="1" indent="-442913" fontAlgn="base">
              <a:lnSpc>
                <a:spcPct val="150000"/>
              </a:lnSpc>
              <a:spcBef>
                <a:spcPct val="0"/>
              </a:spcBef>
              <a:spcAft>
                <a:spcPct val="0"/>
              </a:spcAft>
              <a:buClr>
                <a:srgbClr val="FF0000"/>
              </a:buClr>
              <a:buFont typeface="Wingdings" pitchFamily="2" charset="2"/>
              <a:buChar char="n"/>
              <a:defRPr/>
            </a:pPr>
            <a:r>
              <a:rPr lang="zh-CN" altLang="en-US"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第二步：将每个待聚类数据放入唯一一个聚类集合中</a:t>
            </a:r>
            <a:endParaRPr lang="en-US" altLang="zh-CN"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2" name="标题 1"/>
          <p:cNvSpPr>
            <a:spLocks noGrp="1"/>
          </p:cNvSpPr>
          <p:nvPr>
            <p:ph type="title"/>
          </p:nvPr>
        </p:nvSpPr>
        <p:spPr>
          <a:xfrm>
            <a:off x="495300" y="188060"/>
            <a:ext cx="7507706" cy="657727"/>
          </a:xfrm>
        </p:spPr>
        <p:txBody>
          <a:bodyPr/>
          <a:lstStyle/>
          <a:p>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均值聚类算法：</a:t>
            </a:r>
            <a:r>
              <a:rPr lang="zh-CN" altLang="en-US" sz="2400" kern="0" dirty="0">
                <a:solidFill>
                  <a:srgbClr val="0070C0"/>
                </a:solidFill>
                <a:latin typeface="Times New Roman" pitchFamily="18" charset="0"/>
                <a:cs typeface="Times New Roman" pitchFamily="18" charset="0"/>
              </a:rPr>
              <a:t>对数据进行聚类</a:t>
            </a:r>
            <a:endParaRPr lang="zh-CN" altLang="en-US"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495300" y="2444568"/>
                <a:ext cx="8439150" cy="2833020"/>
              </a:xfrm>
              <a:prstGeom prst="rect">
                <a:avLst/>
              </a:prstGeom>
            </p:spPr>
            <p:txBody>
              <a:bodyPr wrap="square">
                <a:spAutoFit/>
              </a:bodyPr>
              <a:lstStyle/>
              <a:p>
                <a:pPr marL="742950" lvl="1" indent="-285750">
                  <a:lnSpc>
                    <a:spcPct val="150000"/>
                  </a:lnSpc>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rPr>
                  <a:t>计算待聚类数据</a:t>
                </a:r>
                <a14:m>
                  <m:oMath xmlns:m="http://schemas.openxmlformats.org/officeDocument/2006/math">
                    <m:sSub>
                      <m:sSubPr>
                        <m:ctrlPr>
                          <a:rPr lang="en-US" altLang="zh-CN" sz="2400" i="1" dirty="0">
                            <a:latin typeface="Cambria Math" panose="02040503050406030204" pitchFamily="18" charset="0"/>
                            <a:ea typeface="黑体" panose="02010609060101010101" pitchFamily="49" charset="-122"/>
                          </a:rPr>
                        </m:ctrlPr>
                      </m:sSubPr>
                      <m:e>
                        <m:r>
                          <a:rPr lang="en-US" altLang="zh-CN" sz="2400" i="1" dirty="0">
                            <a:latin typeface="Cambria Math"/>
                            <a:ea typeface="黑体" panose="02010609060101010101" pitchFamily="49" charset="-122"/>
                          </a:rPr>
                          <m:t>𝑥</m:t>
                        </m:r>
                      </m:e>
                      <m:sub>
                        <m:r>
                          <a:rPr lang="en-US" altLang="zh-CN" sz="2400" i="1" dirty="0">
                            <a:latin typeface="Cambria Math"/>
                            <a:ea typeface="黑体" panose="02010609060101010101" pitchFamily="49" charset="-122"/>
                          </a:rPr>
                          <m:t>𝑖</m:t>
                        </m:r>
                      </m:sub>
                    </m:sSub>
                  </m:oMath>
                </a14:m>
                <a:r>
                  <a:rPr lang="zh-CN" altLang="en-US" sz="2400" dirty="0">
                    <a:latin typeface="楷体" panose="02010609060101010101" pitchFamily="49" charset="-122"/>
                    <a:ea typeface="楷体" panose="02010609060101010101" pitchFamily="49" charset="-122"/>
                  </a:rPr>
                  <a:t>和质心</a:t>
                </a:r>
                <a14:m>
                  <m:oMath xmlns:m="http://schemas.openxmlformats.org/officeDocument/2006/math">
                    <m:sSub>
                      <m:sSubPr>
                        <m:ctrlPr>
                          <a:rPr lang="en-US" altLang="zh-CN" sz="2400" i="1" dirty="0">
                            <a:latin typeface="Cambria Math" panose="02040503050406030204" pitchFamily="18" charset="0"/>
                            <a:ea typeface="黑体" panose="02010609060101010101" pitchFamily="49" charset="-122"/>
                          </a:rPr>
                        </m:ctrlPr>
                      </m:sSubPr>
                      <m:e>
                        <m:r>
                          <a:rPr lang="en-US" altLang="zh-CN" sz="2400" i="1" dirty="0">
                            <a:latin typeface="Cambria Math"/>
                            <a:ea typeface="黑体" panose="02010609060101010101" pitchFamily="49" charset="-122"/>
                          </a:rPr>
                          <m:t>𝑐</m:t>
                        </m:r>
                      </m:e>
                      <m:sub>
                        <m:r>
                          <a:rPr lang="en-US" altLang="zh-CN" sz="2400" i="1" dirty="0">
                            <a:latin typeface="Cambria Math"/>
                            <a:ea typeface="黑体" panose="02010609060101010101" pitchFamily="49" charset="-122"/>
                          </a:rPr>
                          <m:t>𝑗</m:t>
                        </m:r>
                      </m:sub>
                    </m:sSub>
                  </m:oMath>
                </a14:m>
                <a:r>
                  <a:rPr lang="zh-CN" altLang="en-US" sz="2400" dirty="0">
                    <a:latin typeface="楷体" panose="02010609060101010101" pitchFamily="49" charset="-122"/>
                    <a:ea typeface="楷体" panose="02010609060101010101" pitchFamily="49" charset="-122"/>
                  </a:rPr>
                  <a:t>之间的欧氏距离</a:t>
                </a:r>
                <a14:m>
                  <m:oMath xmlns:m="http://schemas.openxmlformats.org/officeDocument/2006/math">
                    <m:r>
                      <a:rPr lang="en-US" altLang="zh-CN" sz="2400" b="0" i="1" smtClean="0">
                        <a:latin typeface="Cambria Math"/>
                        <a:ea typeface="黑体" panose="02010609060101010101" pitchFamily="49" charset="-122"/>
                      </a:rPr>
                      <m:t>𝑑</m:t>
                    </m:r>
                    <m:d>
                      <m:dPr>
                        <m:ctrlPr>
                          <a:rPr lang="en-US" altLang="zh-CN" sz="2400" i="1">
                            <a:latin typeface="Cambria Math" panose="02040503050406030204" pitchFamily="18" charset="0"/>
                            <a:ea typeface="黑体" panose="02010609060101010101" pitchFamily="49" charset="-122"/>
                          </a:rPr>
                        </m:ctrlPr>
                      </m:dPr>
                      <m:e>
                        <m:sSub>
                          <m:sSubPr>
                            <m:ctrlPr>
                              <a:rPr lang="en-US" altLang="zh-CN" sz="2400" i="1">
                                <a:latin typeface="Cambria Math" panose="02040503050406030204" pitchFamily="18" charset="0"/>
                                <a:ea typeface="黑体" panose="02010609060101010101" pitchFamily="49" charset="-122"/>
                              </a:rPr>
                            </m:ctrlPr>
                          </m:sSubPr>
                          <m:e>
                            <m:r>
                              <a:rPr lang="en-US" altLang="zh-CN" sz="2400" i="1">
                                <a:latin typeface="Cambria Math"/>
                                <a:ea typeface="黑体" panose="02010609060101010101" pitchFamily="49" charset="-122"/>
                              </a:rPr>
                              <m:t>𝑥</m:t>
                            </m:r>
                          </m:e>
                          <m:sub>
                            <m:r>
                              <a:rPr lang="en-US" altLang="zh-CN" sz="2400" i="1">
                                <a:latin typeface="Cambria Math"/>
                                <a:ea typeface="黑体" panose="02010609060101010101" pitchFamily="49" charset="-122"/>
                              </a:rPr>
                              <m:t>𝑖</m:t>
                            </m:r>
                          </m:sub>
                        </m:sSub>
                        <m:r>
                          <a:rPr lang="en-US" altLang="zh-CN" sz="2400" i="1">
                            <a:latin typeface="Cambria Math"/>
                            <a:ea typeface="黑体" panose="02010609060101010101" pitchFamily="49" charset="-122"/>
                          </a:rPr>
                          <m:t>,</m:t>
                        </m:r>
                        <m:sSub>
                          <m:sSubPr>
                            <m:ctrlPr>
                              <a:rPr lang="en-US" altLang="zh-CN" sz="2400" i="1">
                                <a:latin typeface="Cambria Math" panose="02040503050406030204" pitchFamily="18" charset="0"/>
                                <a:ea typeface="黑体" panose="02010609060101010101" pitchFamily="49" charset="-122"/>
                              </a:rPr>
                            </m:ctrlPr>
                          </m:sSubPr>
                          <m:e>
                            <m:r>
                              <a:rPr lang="en-US" altLang="zh-CN" sz="2400" b="0" i="1" smtClean="0">
                                <a:latin typeface="Cambria Math"/>
                                <a:ea typeface="黑体" panose="02010609060101010101" pitchFamily="49" charset="-122"/>
                              </a:rPr>
                              <m:t>𝑐</m:t>
                            </m:r>
                          </m:e>
                          <m:sub>
                            <m:r>
                              <a:rPr lang="en-US" altLang="zh-CN" sz="2400" i="1">
                                <a:latin typeface="Cambria Math"/>
                                <a:ea typeface="黑体" panose="02010609060101010101" pitchFamily="49" charset="-122"/>
                              </a:rPr>
                              <m:t>𝑗</m:t>
                            </m:r>
                          </m:sub>
                        </m:sSub>
                      </m:e>
                    </m:d>
                    <m:r>
                      <a:rPr lang="en-US" altLang="zh-CN" sz="2400" i="1">
                        <a:latin typeface="Cambria Math"/>
                        <a:ea typeface="黑体" panose="02010609060101010101" pitchFamily="49" charset="-122"/>
                      </a:rPr>
                      <m:t> </m:t>
                    </m:r>
                    <m:d>
                      <m:dPr>
                        <m:ctrlPr>
                          <a:rPr lang="en-US" altLang="zh-CN" sz="2400" b="0" i="1" dirty="0" smtClean="0">
                            <a:latin typeface="Cambria Math" panose="02040503050406030204" pitchFamily="18" charset="0"/>
                            <a:ea typeface="Cambria Math"/>
                          </a:rPr>
                        </m:ctrlPr>
                      </m:dPr>
                      <m:e>
                        <m:r>
                          <a:rPr lang="en-US" altLang="zh-CN" sz="2400" b="0" i="1" dirty="0" smtClean="0">
                            <a:latin typeface="Cambria Math"/>
                            <a:ea typeface="Cambria Math"/>
                          </a:rPr>
                          <m:t>1≤</m:t>
                        </m:r>
                        <m:r>
                          <a:rPr lang="en-US" altLang="zh-CN" sz="2400" b="0" i="1" dirty="0" smtClean="0">
                            <a:latin typeface="Cambria Math"/>
                            <a:ea typeface="Cambria Math"/>
                          </a:rPr>
                          <m:t>𝑖</m:t>
                        </m:r>
                        <m:r>
                          <a:rPr lang="en-US" altLang="zh-CN" sz="2400" b="0" i="1" dirty="0" smtClean="0">
                            <a:latin typeface="Cambria Math"/>
                            <a:ea typeface="Cambria Math"/>
                          </a:rPr>
                          <m:t>≤</m:t>
                        </m:r>
                        <m:r>
                          <a:rPr lang="en-US" altLang="zh-CN" sz="2400" b="0" i="1" dirty="0" smtClean="0">
                            <a:latin typeface="Cambria Math"/>
                            <a:ea typeface="Cambria Math"/>
                          </a:rPr>
                          <m:t>𝑛</m:t>
                        </m:r>
                        <m:r>
                          <a:rPr lang="en-US" altLang="zh-CN" sz="2400" b="0" i="1" dirty="0" smtClean="0">
                            <a:latin typeface="Cambria Math"/>
                            <a:ea typeface="Cambria Math"/>
                          </a:rPr>
                          <m:t>,1≤</m:t>
                        </m:r>
                        <m:r>
                          <a:rPr lang="en-US" altLang="zh-CN" sz="2400" b="0" i="1" dirty="0" smtClean="0">
                            <a:latin typeface="Cambria Math"/>
                            <a:ea typeface="Cambria Math"/>
                          </a:rPr>
                          <m:t>𝑗</m:t>
                        </m:r>
                        <m:r>
                          <a:rPr lang="en-US" altLang="zh-CN" sz="2400" i="1" dirty="0">
                            <a:latin typeface="Cambria Math"/>
                            <a:ea typeface="Cambria Math"/>
                          </a:rPr>
                          <m:t>≤</m:t>
                        </m:r>
                        <m:r>
                          <a:rPr lang="en-US" altLang="zh-CN" sz="2400" b="0" i="1" dirty="0" smtClean="0">
                            <a:latin typeface="Cambria Math"/>
                            <a:ea typeface="Cambria Math"/>
                          </a:rPr>
                          <m:t>𝑘</m:t>
                        </m:r>
                      </m:e>
                    </m:d>
                  </m:oMath>
                </a14:m>
                <a:endParaRPr lang="en-US" altLang="zh-CN" sz="2400" dirty="0">
                  <a:latin typeface="楷体" panose="02010609060101010101" pitchFamily="49" charset="-122"/>
                  <a:ea typeface="楷体" panose="02010609060101010101" pitchFamily="49" charset="-122"/>
                </a:endParaRPr>
              </a:p>
              <a:p>
                <a:pPr marL="742950" lvl="1" indent="-285750">
                  <a:lnSpc>
                    <a:spcPct val="150000"/>
                  </a:lnSpc>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cs typeface="Times New Roman" panose="02020603050405020304" pitchFamily="18" charset="0"/>
                  </a:rPr>
                  <a:t>将每个</a:t>
                </a:r>
                <a14:m>
                  <m:oMath xmlns:m="http://schemas.openxmlformats.org/officeDocument/2006/math">
                    <m:sSub>
                      <m:sSubPr>
                        <m:ctrlPr>
                          <a:rPr lang="en-US" altLang="zh-CN" sz="2400" i="1" dirty="0">
                            <a:latin typeface="Cambria Math" panose="02040503050406030204" pitchFamily="18" charset="0"/>
                            <a:ea typeface="黑体" panose="02010609060101010101" pitchFamily="49" charset="-122"/>
                          </a:rPr>
                        </m:ctrlPr>
                      </m:sSubPr>
                      <m:e>
                        <m:r>
                          <a:rPr lang="en-US" altLang="zh-CN" sz="2400" i="1" dirty="0">
                            <a:latin typeface="Cambria Math"/>
                            <a:ea typeface="黑体" panose="02010609060101010101" pitchFamily="49" charset="-122"/>
                          </a:rPr>
                          <m:t>𝑥</m:t>
                        </m:r>
                      </m:e>
                      <m:sub>
                        <m:r>
                          <a:rPr lang="en-US" altLang="zh-CN" sz="2400" i="1" dirty="0">
                            <a:latin typeface="Cambria Math"/>
                            <a:ea typeface="黑体" panose="02010609060101010101" pitchFamily="49" charset="-122"/>
                          </a:rPr>
                          <m:t>𝑖</m:t>
                        </m:r>
                      </m:sub>
                    </m:sSub>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放入与之距离最近聚类质心所在聚类集合中，即</a:t>
                </a:r>
                <a14:m>
                  <m:oMath xmlns:m="http://schemas.openxmlformats.org/officeDocument/2006/math">
                    <m:func>
                      <m:funcPr>
                        <m:ctrlPr>
                          <a:rPr lang="en-US" altLang="zh-CN" sz="2400" i="1" smtClean="0">
                            <a:latin typeface="Cambria Math" panose="02040503050406030204" pitchFamily="18" charset="0"/>
                            <a:ea typeface="黑体" panose="02010609060101010101" pitchFamily="49" charset="-122"/>
                          </a:rPr>
                        </m:ctrlPr>
                      </m:funcPr>
                      <m:fName>
                        <m:limLow>
                          <m:limLowPr>
                            <m:ctrlPr>
                              <a:rPr lang="en-US" altLang="zh-CN" sz="2400" i="1" smtClean="0">
                                <a:latin typeface="Cambria Math" panose="02040503050406030204" pitchFamily="18" charset="0"/>
                                <a:ea typeface="黑体" panose="02010609060101010101" pitchFamily="49" charset="-122"/>
                              </a:rPr>
                            </m:ctrlPr>
                          </m:limLowPr>
                          <m:e>
                            <m:r>
                              <a:rPr lang="en-US" altLang="zh-CN" sz="2400" b="0" i="0" smtClean="0">
                                <a:latin typeface="Cambria Math"/>
                                <a:ea typeface="黑体" panose="02010609060101010101" pitchFamily="49" charset="-122"/>
                              </a:rPr>
                              <m:t>  </m:t>
                            </m:r>
                            <m:r>
                              <m:rPr>
                                <m:sty m:val="p"/>
                              </m:rPr>
                              <a:rPr lang="en-US" altLang="zh-CN" sz="2400" b="0" i="0" smtClean="0">
                                <a:latin typeface="Cambria Math"/>
                                <a:ea typeface="黑体" panose="02010609060101010101" pitchFamily="49" charset="-122"/>
                              </a:rPr>
                              <m:t>argmin</m:t>
                            </m:r>
                          </m:e>
                          <m:lim>
                            <m:sSub>
                              <m:sSubPr>
                                <m:ctrlPr>
                                  <a:rPr lang="en-US" altLang="zh-CN" sz="2400" i="1" smtClean="0">
                                    <a:latin typeface="Cambria Math" panose="02040503050406030204" pitchFamily="18" charset="0"/>
                                    <a:ea typeface="黑体" panose="02010609060101010101" pitchFamily="49" charset="-122"/>
                                  </a:rPr>
                                </m:ctrlPr>
                              </m:sSubPr>
                              <m:e>
                                <m:r>
                                  <a:rPr lang="en-US" altLang="zh-CN" sz="2400" b="0" i="1" smtClean="0">
                                    <a:latin typeface="Cambria Math"/>
                                    <a:ea typeface="黑体" panose="02010609060101010101" pitchFamily="49" charset="-122"/>
                                  </a:rPr>
                                  <m:t>𝑐</m:t>
                                </m:r>
                              </m:e>
                              <m:sub>
                                <m:r>
                                  <a:rPr lang="en-US" altLang="zh-CN" sz="2400" b="0" i="1" smtClean="0">
                                    <a:latin typeface="Cambria Math"/>
                                    <a:ea typeface="黑体" panose="02010609060101010101" pitchFamily="49" charset="-122"/>
                                  </a:rPr>
                                  <m:t>𝑗</m:t>
                                </m:r>
                                <m:r>
                                  <a:rPr lang="en-US" altLang="zh-CN" sz="2400" b="0" i="1" smtClean="0">
                                    <a:latin typeface="Cambria Math"/>
                                    <a:ea typeface="Cambria Math"/>
                                  </a:rPr>
                                  <m:t>∈</m:t>
                                </m:r>
                                <m:r>
                                  <a:rPr lang="en-US" altLang="zh-CN" sz="2400" b="0" i="1" smtClean="0">
                                    <a:latin typeface="Cambria Math"/>
                                    <a:ea typeface="Cambria Math"/>
                                  </a:rPr>
                                  <m:t>𝐶</m:t>
                                </m:r>
                              </m:sub>
                            </m:sSub>
                          </m:lim>
                        </m:limLow>
                      </m:fName>
                      <m:e>
                        <m:r>
                          <a:rPr lang="en-US" altLang="zh-CN" sz="2400" b="0" i="1" smtClean="0">
                            <a:latin typeface="Cambria Math"/>
                            <a:ea typeface="黑体" panose="02010609060101010101" pitchFamily="49" charset="-122"/>
                          </a:rPr>
                          <m:t>𝑑</m:t>
                        </m:r>
                        <m:r>
                          <a:rPr lang="en-US" altLang="zh-CN" sz="2400" b="0" i="1" smtClean="0">
                            <a:latin typeface="Cambria Math"/>
                            <a:ea typeface="黑体" panose="02010609060101010101" pitchFamily="49" charset="-122"/>
                          </a:rPr>
                          <m:t>(</m:t>
                        </m:r>
                        <m:sSub>
                          <m:sSubPr>
                            <m:ctrlPr>
                              <a:rPr lang="en-US" altLang="zh-CN" sz="2400" b="0" i="1" smtClean="0">
                                <a:latin typeface="Cambria Math" panose="02040503050406030204" pitchFamily="18" charset="0"/>
                                <a:ea typeface="黑体" panose="02010609060101010101" pitchFamily="49" charset="-122"/>
                              </a:rPr>
                            </m:ctrlPr>
                          </m:sSubPr>
                          <m:e>
                            <m:r>
                              <a:rPr lang="en-US" altLang="zh-CN" sz="2400" b="0" i="1" smtClean="0">
                                <a:latin typeface="Cambria Math"/>
                                <a:ea typeface="黑体" panose="02010609060101010101" pitchFamily="49" charset="-122"/>
                              </a:rPr>
                              <m:t>𝑥</m:t>
                            </m:r>
                          </m:e>
                          <m:sub>
                            <m:r>
                              <a:rPr lang="en-US" altLang="zh-CN" sz="2400" b="0" i="1" smtClean="0">
                                <a:latin typeface="Cambria Math"/>
                                <a:ea typeface="黑体" panose="02010609060101010101" pitchFamily="49" charset="-122"/>
                              </a:rPr>
                              <m:t>𝑖</m:t>
                            </m:r>
                          </m:sub>
                        </m:sSub>
                        <m:r>
                          <a:rPr lang="en-US" altLang="zh-CN" sz="2400" b="0" i="1" smtClean="0">
                            <a:latin typeface="Cambria Math"/>
                            <a:ea typeface="黑体" panose="02010609060101010101" pitchFamily="49" charset="-122"/>
                          </a:rPr>
                          <m:t>,</m:t>
                        </m:r>
                        <m:sSub>
                          <m:sSubPr>
                            <m:ctrlPr>
                              <a:rPr lang="en-US" altLang="zh-CN" sz="2400" b="0" i="1" smtClean="0">
                                <a:latin typeface="Cambria Math" panose="02040503050406030204" pitchFamily="18" charset="0"/>
                                <a:ea typeface="黑体" panose="02010609060101010101" pitchFamily="49" charset="-122"/>
                              </a:rPr>
                            </m:ctrlPr>
                          </m:sSubPr>
                          <m:e>
                            <m:r>
                              <a:rPr lang="en-US" altLang="zh-CN" sz="2400" b="0" i="1" smtClean="0">
                                <a:latin typeface="Cambria Math"/>
                                <a:ea typeface="黑体" panose="02010609060101010101" pitchFamily="49" charset="-122"/>
                              </a:rPr>
                              <m:t>𝑐</m:t>
                            </m:r>
                          </m:e>
                          <m:sub>
                            <m:r>
                              <a:rPr lang="en-US" altLang="zh-CN" sz="2400" b="0" i="1" smtClean="0">
                                <a:latin typeface="Cambria Math"/>
                                <a:ea typeface="黑体" panose="02010609060101010101" pitchFamily="49" charset="-122"/>
                              </a:rPr>
                              <m:t>𝑗</m:t>
                            </m:r>
                          </m:sub>
                        </m:sSub>
                        <m:r>
                          <a:rPr lang="en-US" altLang="zh-CN" sz="2400" b="0" i="1" smtClean="0">
                            <a:latin typeface="Cambria Math"/>
                            <a:ea typeface="黑体" panose="02010609060101010101" pitchFamily="49" charset="-122"/>
                          </a:rPr>
                          <m:t>)</m:t>
                        </m:r>
                      </m:e>
                    </m:func>
                  </m:oMath>
                </a14:m>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495300" y="2444568"/>
                <a:ext cx="8439150" cy="2833020"/>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16285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bwMode="auto">
          <a:xfrm>
            <a:off x="336667" y="1429016"/>
            <a:ext cx="6835658" cy="557808"/>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lvl="1" indent="-442913" fontAlgn="base">
              <a:lnSpc>
                <a:spcPct val="150000"/>
              </a:lnSpc>
              <a:spcBef>
                <a:spcPct val="0"/>
              </a:spcBef>
              <a:spcAft>
                <a:spcPct val="0"/>
              </a:spcAft>
              <a:buClr>
                <a:srgbClr val="FF0000"/>
              </a:buClr>
              <a:buFont typeface="Wingdings" pitchFamily="2" charset="2"/>
              <a:buChar char="n"/>
              <a:defRPr/>
            </a:pPr>
            <a:r>
              <a:rPr lang="zh-CN" altLang="en-US"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第三步：根据聚类结果、更新聚类质心</a:t>
            </a:r>
            <a:endParaRPr lang="en-US" altLang="zh-CN"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2" name="标题 1"/>
          <p:cNvSpPr>
            <a:spLocks noGrp="1"/>
          </p:cNvSpPr>
          <p:nvPr>
            <p:ph type="title"/>
          </p:nvPr>
        </p:nvSpPr>
        <p:spPr>
          <a:xfrm>
            <a:off x="488833" y="155010"/>
            <a:ext cx="7507706" cy="657727"/>
          </a:xfrm>
        </p:spPr>
        <p:txBody>
          <a:bodyPr/>
          <a:lstStyle/>
          <a:p>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均值聚类算法：</a:t>
            </a:r>
            <a:r>
              <a:rPr lang="zh-CN" altLang="en-US" sz="2400" kern="0" dirty="0">
                <a:solidFill>
                  <a:srgbClr val="0070C0"/>
                </a:solidFill>
                <a:latin typeface="Times New Roman" pitchFamily="18" charset="0"/>
                <a:cs typeface="Times New Roman" pitchFamily="18" charset="0"/>
              </a:rPr>
              <a:t>更新聚类质心</a:t>
            </a:r>
            <a:endParaRPr lang="zh-CN" altLang="en-US"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336667" y="2444568"/>
                <a:ext cx="8597783" cy="1559466"/>
              </a:xfrm>
              <a:prstGeom prst="rect">
                <a:avLst/>
              </a:prstGeom>
            </p:spPr>
            <p:txBody>
              <a:bodyPr wrap="square">
                <a:spAutoFit/>
              </a:bodyPr>
              <a:lstStyle/>
              <a:p>
                <a:pPr marL="742950" lvl="1" indent="-285750">
                  <a:lnSpc>
                    <a:spcPct val="150000"/>
                  </a:lnSpc>
                  <a:buFont typeface="Wingdings" panose="05000000000000000000" pitchFamily="2" charset="2"/>
                  <a:buChar char="l"/>
                </a:pPr>
                <a:r>
                  <a:rPr lang="zh-CN" altLang="en-US" sz="2400" dirty="0">
                    <a:latin typeface="楷体" panose="02010609060101010101" pitchFamily="49" charset="-122"/>
                    <a:ea typeface="楷体" panose="02010609060101010101" pitchFamily="49" charset="-122"/>
                  </a:rPr>
                  <a:t>根据每个聚类集合中所包含的数据，更新该聚类集合质心值，</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即：</a:t>
                </a:r>
                <a14:m>
                  <m:oMath xmlns:m="http://schemas.openxmlformats.org/officeDocument/2006/math">
                    <m:sSub>
                      <m:sSubPr>
                        <m:ctrlPr>
                          <a:rPr lang="en-US" altLang="zh-CN" sz="2400" i="1" smtClean="0">
                            <a:solidFill>
                              <a:srgbClr val="FF0000"/>
                            </a:solidFill>
                            <a:latin typeface="Cambria Math" panose="02040503050406030204" pitchFamily="18" charset="0"/>
                            <a:ea typeface="黑体" panose="02010609060101010101" pitchFamily="49" charset="-122"/>
                          </a:rPr>
                        </m:ctrlPr>
                      </m:sSubPr>
                      <m:e>
                        <m:r>
                          <a:rPr lang="en-US" altLang="zh-CN" sz="2400" i="1">
                            <a:solidFill>
                              <a:srgbClr val="FF0000"/>
                            </a:solidFill>
                            <a:latin typeface="Cambria Math"/>
                            <a:ea typeface="黑体" panose="02010609060101010101" pitchFamily="49" charset="-122"/>
                          </a:rPr>
                          <m:t>𝑐</m:t>
                        </m:r>
                      </m:e>
                      <m:sub>
                        <m:r>
                          <a:rPr lang="en-US" altLang="zh-CN" sz="2400" i="1">
                            <a:solidFill>
                              <a:srgbClr val="FF0000"/>
                            </a:solidFill>
                            <a:latin typeface="Cambria Math"/>
                            <a:ea typeface="黑体" panose="02010609060101010101" pitchFamily="49" charset="-122"/>
                          </a:rPr>
                          <m:t>𝑗</m:t>
                        </m:r>
                      </m:sub>
                    </m:sSub>
                    <m:r>
                      <a:rPr lang="en-US" altLang="zh-CN" sz="2400" b="0" i="1" smtClean="0">
                        <a:latin typeface="Cambria Math"/>
                        <a:ea typeface="黑体" panose="02010609060101010101" pitchFamily="49" charset="-122"/>
                      </a:rPr>
                      <m:t>=</m:t>
                    </m:r>
                    <m:f>
                      <m:fPr>
                        <m:ctrlPr>
                          <a:rPr lang="en-US" altLang="zh-CN" sz="2400" b="0" i="1" smtClean="0">
                            <a:latin typeface="Cambria Math" panose="02040503050406030204" pitchFamily="18" charset="0"/>
                            <a:ea typeface="黑体" panose="02010609060101010101" pitchFamily="49" charset="-122"/>
                          </a:rPr>
                        </m:ctrlPr>
                      </m:fPr>
                      <m:num>
                        <m:r>
                          <a:rPr lang="en-US" altLang="zh-CN" sz="2400" b="0" i="1" smtClean="0">
                            <a:latin typeface="Cambria Math"/>
                            <a:ea typeface="黑体" panose="02010609060101010101" pitchFamily="49" charset="-122"/>
                          </a:rPr>
                          <m:t>1</m:t>
                        </m:r>
                      </m:num>
                      <m:den>
                        <m:r>
                          <a:rPr lang="en-US" altLang="zh-CN" sz="2400" b="0" i="1" smtClean="0">
                            <a:latin typeface="Cambria Math"/>
                            <a:ea typeface="黑体" panose="02010609060101010101" pitchFamily="49" charset="-122"/>
                          </a:rPr>
                          <m:t>|</m:t>
                        </m:r>
                        <m:sSub>
                          <m:sSubPr>
                            <m:ctrlPr>
                              <a:rPr lang="en-US" altLang="zh-CN" sz="2400" b="0" i="1" smtClean="0">
                                <a:latin typeface="Cambria Math" panose="02040503050406030204" pitchFamily="18" charset="0"/>
                                <a:ea typeface="黑体" panose="02010609060101010101" pitchFamily="49" charset="-122"/>
                              </a:rPr>
                            </m:ctrlPr>
                          </m:sSubPr>
                          <m:e>
                            <m:r>
                              <a:rPr lang="en-US" altLang="zh-CN" sz="2400" b="0" i="1" smtClean="0">
                                <a:latin typeface="Cambria Math"/>
                                <a:ea typeface="黑体" panose="02010609060101010101" pitchFamily="49" charset="-122"/>
                              </a:rPr>
                              <m:t>𝐺</m:t>
                            </m:r>
                          </m:e>
                          <m:sub>
                            <m:r>
                              <a:rPr lang="en-US" altLang="zh-CN" sz="2400" b="0" i="1" smtClean="0">
                                <a:latin typeface="Cambria Math"/>
                                <a:ea typeface="黑体" panose="02010609060101010101" pitchFamily="49" charset="-122"/>
                              </a:rPr>
                              <m:t>𝑗</m:t>
                            </m:r>
                          </m:sub>
                        </m:sSub>
                        <m:r>
                          <a:rPr lang="en-US" altLang="zh-CN" sz="2400" b="0" i="1" smtClean="0">
                            <a:latin typeface="Cambria Math"/>
                            <a:ea typeface="黑体" panose="02010609060101010101" pitchFamily="49" charset="-122"/>
                          </a:rPr>
                          <m:t>|</m:t>
                        </m:r>
                      </m:den>
                    </m:f>
                    <m:nary>
                      <m:naryPr>
                        <m:chr m:val="∑"/>
                        <m:supHide m:val="on"/>
                        <m:ctrlPr>
                          <a:rPr lang="en-US" altLang="zh-CN" sz="2400" b="0" i="1" smtClean="0">
                            <a:latin typeface="Cambria Math" panose="02040503050406030204" pitchFamily="18" charset="0"/>
                            <a:ea typeface="黑体" panose="02010609060101010101" pitchFamily="49" charset="-122"/>
                          </a:rPr>
                        </m:ctrlPr>
                      </m:naryPr>
                      <m:sub>
                        <m:sSub>
                          <m:sSubPr>
                            <m:ctrlPr>
                              <a:rPr lang="en-US" altLang="zh-CN" sz="2400" b="0" i="1" smtClean="0">
                                <a:latin typeface="Cambria Math" panose="02040503050406030204" pitchFamily="18" charset="0"/>
                                <a:ea typeface="黑体" panose="02010609060101010101" pitchFamily="49" charset="-122"/>
                              </a:rPr>
                            </m:ctrlPr>
                          </m:sSubPr>
                          <m:e>
                            <m:r>
                              <a:rPr lang="en-US" altLang="zh-CN" sz="2400" b="0" i="1" smtClean="0">
                                <a:latin typeface="Cambria Math"/>
                                <a:ea typeface="黑体" panose="02010609060101010101" pitchFamily="49" charset="-122"/>
                              </a:rPr>
                              <m:t>𝑥</m:t>
                            </m:r>
                          </m:e>
                          <m:sub>
                            <m:r>
                              <a:rPr lang="en-US" altLang="zh-CN" sz="2400" b="0" i="1" smtClean="0">
                                <a:latin typeface="Cambria Math"/>
                                <a:ea typeface="黑体" panose="02010609060101010101" pitchFamily="49" charset="-122"/>
                              </a:rPr>
                              <m:t>𝑖</m:t>
                            </m:r>
                          </m:sub>
                        </m:sSub>
                        <m:r>
                          <m:rPr>
                            <m:brk m:alnAt="7"/>
                          </m:rPr>
                          <a:rPr lang="en-US" altLang="zh-CN" sz="2400" b="0" i="1" smtClean="0">
                            <a:latin typeface="Cambria Math"/>
                            <a:ea typeface="Cambria Math"/>
                          </a:rPr>
                          <m:t>∈</m:t>
                        </m:r>
                        <m:sSub>
                          <m:sSubPr>
                            <m:ctrlPr>
                              <a:rPr lang="en-US" altLang="zh-CN" sz="2400" b="0" i="1" smtClean="0">
                                <a:latin typeface="Cambria Math" panose="02040503050406030204" pitchFamily="18" charset="0"/>
                                <a:ea typeface="Cambria Math"/>
                              </a:rPr>
                            </m:ctrlPr>
                          </m:sSubPr>
                          <m:e>
                            <m:r>
                              <a:rPr lang="en-US" altLang="zh-CN" sz="2400" b="0" i="1" smtClean="0">
                                <a:latin typeface="Cambria Math"/>
                                <a:ea typeface="Cambria Math"/>
                              </a:rPr>
                              <m:t>𝐺</m:t>
                            </m:r>
                          </m:e>
                          <m:sub>
                            <m:r>
                              <a:rPr lang="en-US" altLang="zh-CN" sz="2400" b="0" i="1" smtClean="0">
                                <a:latin typeface="Cambria Math"/>
                                <a:ea typeface="Cambria Math"/>
                              </a:rPr>
                              <m:t>𝑗</m:t>
                            </m:r>
                          </m:sub>
                        </m:sSub>
                      </m:sub>
                      <m:sup/>
                      <m:e>
                        <m:sSub>
                          <m:sSubPr>
                            <m:ctrlPr>
                              <a:rPr lang="en-US" altLang="zh-CN" sz="2400" b="0" i="1" smtClean="0">
                                <a:latin typeface="Cambria Math" panose="02040503050406030204" pitchFamily="18" charset="0"/>
                                <a:ea typeface="黑体" panose="02010609060101010101" pitchFamily="49" charset="-122"/>
                              </a:rPr>
                            </m:ctrlPr>
                          </m:sSubPr>
                          <m:e>
                            <m:r>
                              <a:rPr lang="en-US" altLang="zh-CN" sz="2400" b="0" i="1" smtClean="0">
                                <a:latin typeface="Cambria Math"/>
                                <a:ea typeface="黑体" panose="02010609060101010101" pitchFamily="49" charset="-122"/>
                              </a:rPr>
                              <m:t>𝑥</m:t>
                            </m:r>
                          </m:e>
                          <m:sub>
                            <m:r>
                              <a:rPr lang="en-US" altLang="zh-CN" sz="2400" b="0" i="1" smtClean="0">
                                <a:latin typeface="Cambria Math"/>
                                <a:ea typeface="黑体" panose="02010609060101010101" pitchFamily="49" charset="-122"/>
                              </a:rPr>
                              <m:t>𝑖</m:t>
                            </m:r>
                          </m:sub>
                        </m:sSub>
                      </m:e>
                    </m:nary>
                  </m:oMath>
                </a14:m>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36667" y="2444568"/>
                <a:ext cx="8597783" cy="1559466"/>
              </a:xfrm>
              <a:prstGeom prst="rect">
                <a:avLst/>
              </a:prstGeom>
              <a:blipFill>
                <a:blip r:embed="rId2"/>
                <a:stretch>
                  <a:fillRect r="-4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42383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bwMode="auto">
          <a:xfrm>
            <a:off x="336667" y="1429016"/>
            <a:ext cx="6835658" cy="557808"/>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lvl="1" indent="-442913" fontAlgn="base">
              <a:lnSpc>
                <a:spcPct val="150000"/>
              </a:lnSpc>
              <a:spcBef>
                <a:spcPct val="0"/>
              </a:spcBef>
              <a:spcAft>
                <a:spcPct val="0"/>
              </a:spcAft>
              <a:buClr>
                <a:srgbClr val="FF0000"/>
              </a:buClr>
              <a:buFont typeface="Wingdings" pitchFamily="2" charset="2"/>
              <a:buChar char="n"/>
              <a:defRPr/>
            </a:pPr>
            <a:r>
              <a:rPr lang="zh-CN" altLang="en-US"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第四步：算法循环迭代，直到满足条件</a:t>
            </a:r>
            <a:endParaRPr lang="en-US" altLang="zh-CN"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2" name="标题 1"/>
          <p:cNvSpPr>
            <a:spLocks noGrp="1"/>
          </p:cNvSpPr>
          <p:nvPr>
            <p:ph type="title"/>
          </p:nvPr>
        </p:nvSpPr>
        <p:spPr>
          <a:xfrm>
            <a:off x="650992" y="254162"/>
            <a:ext cx="7507706" cy="657727"/>
          </a:xfrm>
        </p:spPr>
        <p:txBody>
          <a:bodyPr/>
          <a:lstStyle/>
          <a:p>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均值聚类算法：</a:t>
            </a:r>
            <a:r>
              <a:rPr lang="zh-CN" altLang="en-US" sz="2400" kern="0" dirty="0">
                <a:solidFill>
                  <a:srgbClr val="0070C0"/>
                </a:solidFill>
                <a:latin typeface="Times New Roman" pitchFamily="18" charset="0"/>
                <a:cs typeface="Times New Roman" pitchFamily="18" charset="0"/>
              </a:rPr>
              <a:t>继续迭代</a:t>
            </a:r>
            <a:endParaRPr lang="zh-CN" altLang="en-US" sz="2400" b="1" dirty="0">
              <a:latin typeface="Times New Roman" panose="02020603050405020304" pitchFamily="18" charset="0"/>
              <a:cs typeface="Times New Roman" panose="02020603050405020304" pitchFamily="18" charset="0"/>
            </a:endParaRPr>
          </a:p>
        </p:txBody>
      </p:sp>
      <p:sp>
        <p:nvSpPr>
          <p:cNvPr id="5" name="圆角矩形 4"/>
          <p:cNvSpPr/>
          <p:nvPr/>
        </p:nvSpPr>
        <p:spPr bwMode="auto">
          <a:xfrm>
            <a:off x="650992" y="2800616"/>
            <a:ext cx="8340608" cy="557808"/>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lvl="1" indent="-442913" fontAlgn="base">
              <a:lnSpc>
                <a:spcPct val="150000"/>
              </a:lnSpc>
              <a:spcBef>
                <a:spcPct val="0"/>
              </a:spcBef>
              <a:spcAft>
                <a:spcPct val="0"/>
              </a:spcAft>
              <a:buClr>
                <a:srgbClr val="FF0000"/>
              </a:buClr>
              <a:buFont typeface="Wingdings" pitchFamily="2" charset="2"/>
              <a:buChar char="n"/>
              <a:defRPr/>
            </a:pPr>
            <a:r>
              <a:rPr lang="zh-CN" altLang="en-US" sz="15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在新聚类质心基础上，根据欧氏距离大小，将每个待聚类数据放入唯一一个聚类集合中</a:t>
            </a:r>
            <a:endParaRPr lang="en-US" altLang="zh-CN" sz="15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6" name="圆角矩形 5"/>
          <p:cNvSpPr/>
          <p:nvPr/>
        </p:nvSpPr>
        <p:spPr bwMode="auto">
          <a:xfrm>
            <a:off x="650992" y="3715016"/>
            <a:ext cx="8340608" cy="557808"/>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marR="0" lvl="1" indent="-442913" fontAlgn="base">
              <a:lnSpc>
                <a:spcPct val="150000"/>
              </a:lnSpc>
              <a:spcBef>
                <a:spcPct val="0"/>
              </a:spcBef>
              <a:spcAft>
                <a:spcPct val="0"/>
              </a:spcAft>
              <a:buClr>
                <a:srgbClr val="FF0000"/>
              </a:buClr>
              <a:buSzTx/>
              <a:buFont typeface="Wingdings" pitchFamily="2" charset="2"/>
              <a:buChar char="n"/>
              <a:tabLst/>
              <a:defRPr/>
            </a:pPr>
            <a:r>
              <a:rPr lang="zh-CN" altLang="en-US" sz="15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根据新的聚类结果、更新聚类质心</a:t>
            </a:r>
            <a:endParaRPr lang="en-US" altLang="zh-CN" sz="15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2" name="矩形 1"/>
          <p:cNvSpPr/>
          <p:nvPr/>
        </p:nvSpPr>
        <p:spPr>
          <a:xfrm>
            <a:off x="1752600" y="4731147"/>
            <a:ext cx="5648326" cy="1273875"/>
          </a:xfrm>
          <a:prstGeom prst="rect">
            <a:avLst/>
          </a:prstGeom>
        </p:spPr>
        <p:txBody>
          <a:bodyPr wrap="square">
            <a:spAutoFit/>
          </a:bodyPr>
          <a:lstStyle/>
          <a:p>
            <a:pPr>
              <a:lnSpc>
                <a:spcPct val="150000"/>
              </a:lnSpc>
            </a:pPr>
            <a:r>
              <a:rPr lang="zh-CN" altLang="en-US" b="1" dirty="0">
                <a:latin typeface="楷体" panose="02010609060101010101" pitchFamily="49" charset="-122"/>
                <a:ea typeface="楷体" panose="02010609060101010101" pitchFamily="49" charset="-122"/>
                <a:cs typeface="Times New Roman" panose="02020603050405020304" pitchFamily="18" charset="0"/>
              </a:rPr>
              <a:t>聚类迭代满足如下任意一个条件，则聚类停止：</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b="1" dirty="0">
                <a:latin typeface="楷体" panose="02010609060101010101" pitchFamily="49" charset="-122"/>
                <a:ea typeface="楷体" panose="02010609060101010101" pitchFamily="49" charset="-122"/>
                <a:cs typeface="Times New Roman" panose="02020603050405020304" pitchFamily="18" charset="0"/>
              </a:rPr>
              <a:t>已经达到了迭代次数上限</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b="1" dirty="0">
                <a:latin typeface="楷体" panose="02010609060101010101" pitchFamily="49" charset="-122"/>
                <a:ea typeface="楷体" panose="02010609060101010101" pitchFamily="49" charset="-122"/>
                <a:cs typeface="Times New Roman" panose="02020603050405020304" pitchFamily="18" charset="0"/>
              </a:rPr>
              <a:t>前后两次迭代中，聚类质心基本保持不变</a:t>
            </a:r>
          </a:p>
        </p:txBody>
      </p:sp>
    </p:spTree>
    <p:extLst>
      <p:ext uri="{BB962C8B-B14F-4D97-AF65-F5344CB8AC3E}">
        <p14:creationId xmlns:p14="http://schemas.microsoft.com/office/powerpoint/2010/main" val="172695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椭圆形标注 20"/>
          <p:cNvSpPr/>
          <p:nvPr/>
        </p:nvSpPr>
        <p:spPr>
          <a:xfrm>
            <a:off x="2676526" y="2669518"/>
            <a:ext cx="1557011" cy="1216681"/>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黑体" pitchFamily="49" charset="-122"/>
            </a:endParaRPr>
          </a:p>
        </p:txBody>
      </p:sp>
      <p:sp>
        <p:nvSpPr>
          <p:cNvPr id="9" name="标题 1"/>
          <p:cNvSpPr>
            <a:spLocks noGrp="1"/>
          </p:cNvSpPr>
          <p:nvPr>
            <p:ph type="title"/>
          </p:nvPr>
        </p:nvSpPr>
        <p:spPr>
          <a:xfrm>
            <a:off x="506221" y="143993"/>
            <a:ext cx="8334874" cy="657727"/>
          </a:xfrm>
        </p:spPr>
        <p:txBody>
          <a:bodyPr/>
          <a:lstStyle/>
          <a:p>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均值聚类算法的另一个视角：</a:t>
            </a:r>
            <a:r>
              <a:rPr lang="zh-CN" altLang="en-US" sz="2400" kern="0" dirty="0">
                <a:solidFill>
                  <a:srgbClr val="0070C0"/>
                </a:solidFill>
                <a:latin typeface="Times New Roman" pitchFamily="18" charset="0"/>
                <a:cs typeface="Times New Roman" pitchFamily="18" charset="0"/>
              </a:rPr>
              <a:t>最小化每个类簇的方差</a:t>
            </a:r>
            <a:r>
              <a:rPr lang="en-US" altLang="zh-CN" sz="2400" kern="0" dirty="0">
                <a:solidFill>
                  <a:srgbClr val="0070C0"/>
                </a:solidFill>
                <a:latin typeface="Times New Roman" pitchFamily="18" charset="0"/>
                <a:cs typeface="Times New Roman" pitchFamily="18" charset="0"/>
              </a:rPr>
              <a:t>SSE</a:t>
            </a:r>
            <a:endParaRPr lang="zh-CN" altLang="en-US" sz="2400" b="1" dirty="0">
              <a:latin typeface="Times New Roman" panose="02020603050405020304" pitchFamily="18" charset="0"/>
              <a:cs typeface="Times New Roman" panose="02020603050405020304" pitchFamily="18" charset="0"/>
            </a:endParaRPr>
          </a:p>
        </p:txBody>
      </p:sp>
      <p:sp>
        <p:nvSpPr>
          <p:cNvPr id="11" name="圆角矩形 10"/>
          <p:cNvSpPr/>
          <p:nvPr/>
        </p:nvSpPr>
        <p:spPr bwMode="auto">
          <a:xfrm>
            <a:off x="336667" y="1429016"/>
            <a:ext cx="7264283" cy="557808"/>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lvl="1" indent="-442913" fontAlgn="base">
              <a:lnSpc>
                <a:spcPct val="150000"/>
              </a:lnSpc>
              <a:spcBef>
                <a:spcPct val="0"/>
              </a:spcBef>
              <a:spcAft>
                <a:spcPct val="0"/>
              </a:spcAft>
              <a:buClr>
                <a:srgbClr val="FF0000"/>
              </a:buClr>
              <a:buFont typeface="Wingdings" pitchFamily="2" charset="2"/>
              <a:buChar char="n"/>
              <a:defRPr/>
            </a:pPr>
            <a:r>
              <a:rPr lang="zh-CN" altLang="en-US"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rPr>
              <a:t>方差：用来计算变量（观察值）与样本平均值之间的差异</a:t>
            </a:r>
            <a:endParaRPr lang="en-US" altLang="zh-CN" sz="2000" b="1" kern="0"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p:cNvSpPr txBox="1"/>
              <p:nvPr/>
            </p:nvSpPr>
            <p:spPr>
              <a:xfrm>
                <a:off x="1378363" y="2611120"/>
                <a:ext cx="5552289" cy="9130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altLang="zh-CN" i="1" smtClean="0">
                              <a:latin typeface="Cambria Math" panose="02040503050406030204" pitchFamily="18" charset="0"/>
                              <a:ea typeface="黑体" pitchFamily="49" charset="-122"/>
                            </a:rPr>
                          </m:ctrlPr>
                        </m:funcPr>
                        <m:fName>
                          <m:limLow>
                            <m:limLowPr>
                              <m:ctrlPr>
                                <a:rPr lang="en-US" altLang="zh-CN" i="1" smtClean="0">
                                  <a:latin typeface="Cambria Math" panose="02040503050406030204" pitchFamily="18" charset="0"/>
                                  <a:ea typeface="黑体" pitchFamily="49" charset="-122"/>
                                </a:rPr>
                              </m:ctrlPr>
                            </m:limLowPr>
                            <m:e>
                              <m:r>
                                <m:rPr>
                                  <m:sty m:val="p"/>
                                </m:rPr>
                                <a:rPr lang="en-US" altLang="zh-CN" b="0" i="0" smtClean="0">
                                  <a:latin typeface="Cambria Math"/>
                                  <a:ea typeface="黑体" pitchFamily="49" charset="-122"/>
                                </a:rPr>
                                <m:t>arg</m:t>
                              </m:r>
                              <m:r>
                                <a:rPr lang="en-US" altLang="zh-CN" b="0" i="0" smtClean="0">
                                  <a:latin typeface="Cambria Math"/>
                                  <a:ea typeface="黑体" pitchFamily="49" charset="-122"/>
                                </a:rPr>
                                <m:t> </m:t>
                              </m:r>
                              <m:r>
                                <m:rPr>
                                  <m:sty m:val="p"/>
                                </m:rPr>
                                <a:rPr lang="en-US" altLang="zh-CN" i="0" smtClean="0">
                                  <a:latin typeface="Cambria Math"/>
                                  <a:ea typeface="黑体" pitchFamily="49" charset="-122"/>
                                </a:rPr>
                                <m:t>min</m:t>
                              </m:r>
                            </m:e>
                            <m:lim>
                              <m:r>
                                <a:rPr lang="en-US" altLang="zh-CN" b="0" i="1" smtClean="0">
                                  <a:latin typeface="Cambria Math"/>
                                  <a:ea typeface="黑体" pitchFamily="49" charset="-122"/>
                                </a:rPr>
                                <m:t>𝐺</m:t>
                              </m:r>
                            </m:lim>
                          </m:limLow>
                          <m:nary>
                            <m:naryPr>
                              <m:chr m:val="∑"/>
                              <m:ctrlPr>
                                <a:rPr lang="en-US" altLang="zh-CN" i="1" smtClean="0">
                                  <a:latin typeface="Cambria Math" panose="02040503050406030204" pitchFamily="18" charset="0"/>
                                  <a:ea typeface="黑体" pitchFamily="49" charset="-122"/>
                                </a:rPr>
                              </m:ctrlPr>
                            </m:naryPr>
                            <m:sub>
                              <m:r>
                                <m:rPr>
                                  <m:brk m:alnAt="23"/>
                                </m:rPr>
                                <a:rPr lang="en-US" altLang="zh-CN" b="0" i="1" smtClean="0">
                                  <a:latin typeface="Cambria Math"/>
                                  <a:ea typeface="黑体" pitchFamily="49" charset="-122"/>
                                </a:rPr>
                                <m:t>𝑖</m:t>
                              </m:r>
                              <m:r>
                                <a:rPr lang="en-US" altLang="zh-CN" b="0" i="1" smtClean="0">
                                  <a:latin typeface="Cambria Math"/>
                                  <a:ea typeface="黑体" pitchFamily="49" charset="-122"/>
                                </a:rPr>
                                <m:t>=1</m:t>
                              </m:r>
                            </m:sub>
                            <m:sup>
                              <m:r>
                                <a:rPr lang="en-US" altLang="zh-CN" b="0" i="1" smtClean="0">
                                  <a:latin typeface="Cambria Math"/>
                                  <a:ea typeface="黑体" pitchFamily="49" charset="-122"/>
                                </a:rPr>
                                <m:t>𝑘</m:t>
                              </m:r>
                            </m:sup>
                            <m:e>
                              <m:nary>
                                <m:naryPr>
                                  <m:chr m:val="∑"/>
                                  <m:supHide m:val="on"/>
                                  <m:ctrlPr>
                                    <a:rPr lang="en-US" altLang="zh-CN" i="1" smtClean="0">
                                      <a:latin typeface="Cambria Math" panose="02040503050406030204" pitchFamily="18" charset="0"/>
                                      <a:ea typeface="黑体" pitchFamily="49" charset="-122"/>
                                    </a:rPr>
                                  </m:ctrlPr>
                                </m:naryPr>
                                <m:sub>
                                  <m:r>
                                    <m:rPr>
                                      <m:brk m:alnAt="7"/>
                                    </m:rPr>
                                    <a:rPr lang="en-US" altLang="zh-CN" b="0" i="1" smtClean="0">
                                      <a:latin typeface="Cambria Math"/>
                                      <a:ea typeface="黑体" pitchFamily="49" charset="-122"/>
                                    </a:rPr>
                                    <m:t>𝑥</m:t>
                                  </m:r>
                                  <m:r>
                                    <a:rPr lang="en-US" altLang="zh-CN" i="1" smtClean="0">
                                      <a:latin typeface="Cambria Math"/>
                                      <a:ea typeface="Cambria Math"/>
                                    </a:rPr>
                                    <m:t>∈</m:t>
                                  </m:r>
                                  <m:sSub>
                                    <m:sSubPr>
                                      <m:ctrlPr>
                                        <a:rPr lang="en-US" altLang="zh-CN" b="0" i="1" smtClean="0">
                                          <a:latin typeface="Cambria Math" panose="02040503050406030204" pitchFamily="18" charset="0"/>
                                          <a:ea typeface="Cambria Math"/>
                                        </a:rPr>
                                      </m:ctrlPr>
                                    </m:sSubPr>
                                    <m:e>
                                      <m:r>
                                        <a:rPr lang="en-US" altLang="zh-CN" b="0" i="1" smtClean="0">
                                          <a:latin typeface="Cambria Math"/>
                                          <a:ea typeface="Cambria Math"/>
                                        </a:rPr>
                                        <m:t>𝐺</m:t>
                                      </m:r>
                                    </m:e>
                                    <m:sub>
                                      <m:r>
                                        <a:rPr lang="en-US" altLang="zh-CN" b="0" i="1" smtClean="0">
                                          <a:latin typeface="Cambria Math"/>
                                          <a:ea typeface="Cambria Math"/>
                                        </a:rPr>
                                        <m:t>𝑖</m:t>
                                      </m:r>
                                    </m:sub>
                                  </m:sSub>
                                </m:sub>
                                <m:sup/>
                                <m:e>
                                  <m:sSup>
                                    <m:sSupPr>
                                      <m:ctrlPr>
                                        <a:rPr lang="en-US" altLang="zh-CN" i="1" smtClean="0">
                                          <a:latin typeface="Cambria Math" panose="02040503050406030204" pitchFamily="18" charset="0"/>
                                          <a:ea typeface="黑体" pitchFamily="49" charset="-122"/>
                                        </a:rPr>
                                      </m:ctrlPr>
                                    </m:sSupPr>
                                    <m:e>
                                      <m:r>
                                        <a:rPr lang="en-US" altLang="zh-CN" b="0" i="1" smtClean="0">
                                          <a:latin typeface="Cambria Math"/>
                                          <a:ea typeface="黑体" pitchFamily="49" charset="-122"/>
                                        </a:rPr>
                                        <m:t>||</m:t>
                                      </m:r>
                                      <m:r>
                                        <a:rPr lang="en-US" altLang="zh-CN" b="0" i="1" smtClean="0">
                                          <a:latin typeface="Cambria Math"/>
                                          <a:ea typeface="黑体" pitchFamily="49" charset="-122"/>
                                        </a:rPr>
                                        <m:t>𝑥</m:t>
                                      </m:r>
                                      <m:r>
                                        <a:rPr lang="en-US" altLang="zh-CN" b="0" i="1" smtClean="0">
                                          <a:latin typeface="Cambria Math"/>
                                          <a:ea typeface="黑体" pitchFamily="49" charset="-122"/>
                                        </a:rPr>
                                        <m:t>−</m:t>
                                      </m:r>
                                      <m:sSub>
                                        <m:sSubPr>
                                          <m:ctrlPr>
                                            <a:rPr lang="en-US" altLang="zh-CN" b="0" i="1" smtClean="0">
                                              <a:latin typeface="Cambria Math" panose="02040503050406030204" pitchFamily="18" charset="0"/>
                                              <a:ea typeface="黑体" pitchFamily="49" charset="-122"/>
                                            </a:rPr>
                                          </m:ctrlPr>
                                        </m:sSubPr>
                                        <m:e>
                                          <m:r>
                                            <a:rPr lang="en-US" altLang="zh-CN" b="0" i="1" smtClean="0">
                                              <a:latin typeface="Cambria Math"/>
                                              <a:ea typeface="黑体" pitchFamily="49" charset="-122"/>
                                            </a:rPr>
                                            <m:t>𝐺</m:t>
                                          </m:r>
                                        </m:e>
                                        <m:sub>
                                          <m:r>
                                            <a:rPr lang="en-US" altLang="zh-CN" b="0" i="1" smtClean="0">
                                              <a:latin typeface="Cambria Math"/>
                                              <a:ea typeface="黑体" pitchFamily="49" charset="-122"/>
                                            </a:rPr>
                                            <m:t>𝑖</m:t>
                                          </m:r>
                                        </m:sub>
                                      </m:sSub>
                                      <m:r>
                                        <a:rPr lang="en-US" altLang="zh-CN" b="0" i="1" smtClean="0">
                                          <a:latin typeface="Cambria Math"/>
                                          <a:ea typeface="黑体" pitchFamily="49" charset="-122"/>
                                        </a:rPr>
                                        <m:t>||</m:t>
                                      </m:r>
                                    </m:e>
                                    <m:sup>
                                      <m:r>
                                        <a:rPr lang="en-US" altLang="zh-CN" b="0" i="1" smtClean="0">
                                          <a:latin typeface="Cambria Math"/>
                                          <a:ea typeface="黑体" pitchFamily="49" charset="-122"/>
                                        </a:rPr>
                                        <m:t>2</m:t>
                                      </m:r>
                                    </m:sup>
                                  </m:sSup>
                                  <m:r>
                                    <a:rPr lang="en-US" altLang="zh-CN" b="0" i="1" smtClean="0">
                                      <a:latin typeface="Cambria Math"/>
                                      <a:ea typeface="黑体" pitchFamily="49" charset="-122"/>
                                    </a:rPr>
                                    <m:t>=</m:t>
                                  </m:r>
                                  <m:func>
                                    <m:funcPr>
                                      <m:ctrlPr>
                                        <a:rPr lang="en-US" altLang="zh-CN" b="0" i="1" smtClean="0">
                                          <a:latin typeface="Cambria Math" panose="02040503050406030204" pitchFamily="18" charset="0"/>
                                          <a:ea typeface="黑体" pitchFamily="49" charset="-122"/>
                                        </a:rPr>
                                      </m:ctrlPr>
                                    </m:funcPr>
                                    <m:fName>
                                      <m:limLow>
                                        <m:limLowPr>
                                          <m:ctrlPr>
                                            <a:rPr lang="en-US" altLang="zh-CN" b="0" i="1" smtClean="0">
                                              <a:latin typeface="Cambria Math" panose="02040503050406030204" pitchFamily="18" charset="0"/>
                                              <a:ea typeface="黑体" pitchFamily="49" charset="-122"/>
                                            </a:rPr>
                                          </m:ctrlPr>
                                        </m:limLowPr>
                                        <m:e>
                                          <m:r>
                                            <m:rPr>
                                              <m:sty m:val="p"/>
                                            </m:rPr>
                                            <a:rPr lang="en-US" altLang="zh-CN" b="0" i="0" smtClean="0">
                                              <a:latin typeface="Cambria Math"/>
                                              <a:ea typeface="黑体" pitchFamily="49" charset="-122"/>
                                            </a:rPr>
                                            <m:t>arg</m:t>
                                          </m:r>
                                          <m:r>
                                            <a:rPr lang="en-US" altLang="zh-CN" b="0" i="0" smtClean="0">
                                              <a:latin typeface="Cambria Math"/>
                                              <a:ea typeface="黑体" pitchFamily="49" charset="-122"/>
                                            </a:rPr>
                                            <m:t> </m:t>
                                          </m:r>
                                          <m:r>
                                            <m:rPr>
                                              <m:sty m:val="p"/>
                                            </m:rPr>
                                            <a:rPr lang="en-US" altLang="zh-CN" b="0" i="0" smtClean="0">
                                              <a:latin typeface="Cambria Math"/>
                                              <a:ea typeface="黑体" pitchFamily="49" charset="-122"/>
                                            </a:rPr>
                                            <m:t>min</m:t>
                                          </m:r>
                                        </m:e>
                                        <m:lim>
                                          <m:r>
                                            <a:rPr lang="en-US" altLang="zh-CN" b="0" i="1" smtClean="0">
                                              <a:latin typeface="Cambria Math"/>
                                              <a:ea typeface="黑体" pitchFamily="49" charset="-122"/>
                                            </a:rPr>
                                            <m:t>𝐺</m:t>
                                          </m:r>
                                        </m:lim>
                                      </m:limLow>
                                    </m:fName>
                                    <m:e>
                                      <m:nary>
                                        <m:naryPr>
                                          <m:chr m:val="∑"/>
                                          <m:ctrlPr>
                                            <a:rPr lang="en-US" altLang="zh-CN" b="0" i="1" smtClean="0">
                                              <a:latin typeface="Cambria Math" panose="02040503050406030204" pitchFamily="18" charset="0"/>
                                              <a:ea typeface="黑体" pitchFamily="49" charset="-122"/>
                                            </a:rPr>
                                          </m:ctrlPr>
                                        </m:naryPr>
                                        <m:sub>
                                          <m:r>
                                            <m:rPr>
                                              <m:brk m:alnAt="23"/>
                                            </m:rPr>
                                            <a:rPr lang="en-US" altLang="zh-CN" b="0" i="1" smtClean="0">
                                              <a:latin typeface="Cambria Math"/>
                                              <a:ea typeface="黑体" pitchFamily="49" charset="-122"/>
                                            </a:rPr>
                                            <m:t>𝑖</m:t>
                                          </m:r>
                                          <m:r>
                                            <a:rPr lang="en-US" altLang="zh-CN" b="0" i="1" smtClean="0">
                                              <a:latin typeface="Cambria Math"/>
                                              <a:ea typeface="黑体" pitchFamily="49" charset="-122"/>
                                            </a:rPr>
                                            <m:t>=1</m:t>
                                          </m:r>
                                        </m:sub>
                                        <m:sup>
                                          <m:r>
                                            <a:rPr lang="en-US" altLang="zh-CN" b="0" i="1" smtClean="0">
                                              <a:latin typeface="Cambria Math"/>
                                              <a:ea typeface="黑体" pitchFamily="49" charset="-122"/>
                                            </a:rPr>
                                            <m:t>𝑘</m:t>
                                          </m:r>
                                        </m:sup>
                                        <m:e>
                                          <m:r>
                                            <a:rPr lang="en-US" altLang="zh-CN" b="0" i="1" smtClean="0">
                                              <a:latin typeface="Cambria Math"/>
                                              <a:ea typeface="黑体" pitchFamily="49" charset="-122"/>
                                            </a:rPr>
                                            <m:t>|</m:t>
                                          </m:r>
                                          <m:sSub>
                                            <m:sSubPr>
                                              <m:ctrlPr>
                                                <a:rPr lang="en-US" altLang="zh-CN" b="0" i="1" smtClean="0">
                                                  <a:latin typeface="Cambria Math" panose="02040503050406030204" pitchFamily="18" charset="0"/>
                                                  <a:ea typeface="黑体" pitchFamily="49" charset="-122"/>
                                                </a:rPr>
                                              </m:ctrlPr>
                                            </m:sSubPr>
                                            <m:e>
                                              <m:r>
                                                <a:rPr lang="en-US" altLang="zh-CN" b="0" i="1" smtClean="0">
                                                  <a:latin typeface="Cambria Math"/>
                                                  <a:ea typeface="黑体" pitchFamily="49" charset="-122"/>
                                                </a:rPr>
                                                <m:t>𝐺</m:t>
                                              </m:r>
                                            </m:e>
                                            <m:sub>
                                              <m:r>
                                                <a:rPr lang="en-US" altLang="zh-CN" b="0" i="1" smtClean="0">
                                                  <a:latin typeface="Cambria Math"/>
                                                  <a:ea typeface="黑体" pitchFamily="49" charset="-122"/>
                                                </a:rPr>
                                                <m:t>𝑖</m:t>
                                              </m:r>
                                            </m:sub>
                                          </m:sSub>
                                          <m:r>
                                            <a:rPr lang="en-US" altLang="zh-CN" b="0" i="1" smtClean="0">
                                              <a:latin typeface="Cambria Math"/>
                                              <a:ea typeface="黑体" pitchFamily="49" charset="-122"/>
                                            </a:rPr>
                                            <m:t>|</m:t>
                                          </m:r>
                                        </m:e>
                                      </m:nary>
                                    </m:e>
                                  </m:func>
                                  <m:r>
                                    <a:rPr lang="en-US" altLang="zh-CN" b="0" i="1" smtClean="0">
                                      <a:latin typeface="Cambria Math"/>
                                      <a:ea typeface="黑体" pitchFamily="49" charset="-122"/>
                                    </a:rPr>
                                    <m:t>𝑉𝑎𝑟</m:t>
                                  </m:r>
                                </m:e>
                              </m:nary>
                              <m:sSub>
                                <m:sSubPr>
                                  <m:ctrlPr>
                                    <a:rPr lang="en-US" altLang="zh-CN" i="1" smtClean="0">
                                      <a:latin typeface="Cambria Math" panose="02040503050406030204" pitchFamily="18" charset="0"/>
                                      <a:ea typeface="黑体" pitchFamily="49" charset="-122"/>
                                    </a:rPr>
                                  </m:ctrlPr>
                                </m:sSubPr>
                                <m:e>
                                  <m:r>
                                    <a:rPr lang="en-US" altLang="zh-CN" b="0" i="1" smtClean="0">
                                      <a:latin typeface="Cambria Math"/>
                                      <a:ea typeface="黑体" pitchFamily="49" charset="-122"/>
                                    </a:rPr>
                                    <m:t>𝐺</m:t>
                                  </m:r>
                                </m:e>
                                <m:sub>
                                  <m:r>
                                    <a:rPr lang="en-US" altLang="zh-CN" b="0" i="1" smtClean="0">
                                      <a:latin typeface="Cambria Math"/>
                                      <a:ea typeface="黑体" pitchFamily="49" charset="-122"/>
                                    </a:rPr>
                                    <m:t>𝑖</m:t>
                                  </m:r>
                                </m:sub>
                              </m:sSub>
                            </m:e>
                          </m:nary>
                        </m:fName>
                        <m:e/>
                      </m:func>
                    </m:oMath>
                  </m:oMathPara>
                </a14:m>
                <a:endParaRPr lang="zh-CN" altLang="en-US" dirty="0">
                  <a:ea typeface="黑体" pitchFamily="49" charset="-122"/>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378363" y="1958340"/>
                <a:ext cx="5710346" cy="913070"/>
              </a:xfrm>
              <a:prstGeom prst="rect">
                <a:avLst/>
              </a:prstGeom>
              <a:blipFill rotWithShape="1">
                <a:blip r:embed="rId2"/>
                <a:stretch>
                  <a:fillRect/>
                </a:stretch>
              </a:blipFill>
            </p:spPr>
            <p:txBody>
              <a:bodyPr/>
              <a:lstStyle/>
              <a:p>
                <a:r>
                  <a:rPr lang="zh-CN" altLang="en-US">
                    <a:noFill/>
                  </a:rPr>
                  <a:t> </a:t>
                </a:r>
              </a:p>
            </p:txBody>
          </p:sp>
        </mc:Fallback>
      </mc:AlternateContent>
      <p:cxnSp>
        <p:nvCxnSpPr>
          <p:cNvPr id="13" name="直接连接符 12"/>
          <p:cNvCxnSpPr/>
          <p:nvPr/>
        </p:nvCxnSpPr>
        <p:spPr>
          <a:xfrm flipV="1">
            <a:off x="2819401" y="4038601"/>
            <a:ext cx="1285875" cy="127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矩形 13"/>
              <p:cNvSpPr/>
              <p:nvPr/>
            </p:nvSpPr>
            <p:spPr>
              <a:xfrm>
                <a:off x="1400059" y="4365191"/>
                <a:ext cx="5058885" cy="521168"/>
              </a:xfrm>
              <a:prstGeom prst="rect">
                <a:avLst/>
              </a:prstGeom>
            </p:spPr>
            <p:txBody>
              <a:bodyPr wrap="none">
                <a:spAutoFit/>
              </a:bodyPr>
              <a:lstStyle/>
              <a:p>
                <a:r>
                  <a:rPr lang="zh-CN" altLang="en-US" dirty="0">
                    <a:latin typeface="楷体" panose="02010609060101010101" pitchFamily="49" charset="-122"/>
                    <a:ea typeface="楷体" panose="02010609060101010101" pitchFamily="49" charset="-122"/>
                    <a:cs typeface="Times New Roman" panose="02020603050405020304" pitchFamily="18" charset="0"/>
                  </a:rPr>
                  <a:t>第</a:t>
                </a:r>
                <a14:m>
                  <m:oMath xmlns:m="http://schemas.openxmlformats.org/officeDocument/2006/math">
                    <m:r>
                      <a:rPr lang="en-US" altLang="zh-CN" b="0" i="1" smtClean="0">
                        <a:latin typeface="Cambria Math"/>
                        <a:ea typeface="黑体" panose="02010609060101010101" pitchFamily="49" charset="-122"/>
                        <a:cs typeface="Times New Roman" panose="02020603050405020304" pitchFamily="18" charset="0"/>
                      </a:rPr>
                      <m:t>𝑖</m:t>
                    </m:r>
                  </m:oMath>
                </a14:m>
                <a:r>
                  <a:rPr lang="zh-CN" altLang="en-US" dirty="0">
                    <a:latin typeface="楷体" panose="02010609060101010101" pitchFamily="49" charset="-122"/>
                    <a:ea typeface="楷体" panose="02010609060101010101" pitchFamily="49" charset="-122"/>
                    <a:cs typeface="Times New Roman" panose="02020603050405020304" pitchFamily="18" charset="0"/>
                  </a:rPr>
                  <a:t>个类簇的方差</a:t>
                </a:r>
                <a:r>
                  <a:rPr lang="en-US" altLang="zh-CN" dirty="0">
                    <a:latin typeface="楷体" panose="02010609060101010101" pitchFamily="49" charset="-122"/>
                    <a:ea typeface="楷体" panose="02010609060101010101" pitchFamily="49" charset="-122"/>
                    <a:cs typeface="Times New Roman" panose="02020603050405020304" pitchFamily="18" charset="0"/>
                  </a:rPr>
                  <a:t>:</a:t>
                </a:r>
                <a:r>
                  <a:rPr lang="zh-CN" altLang="en-US" dirty="0">
                    <a:latin typeface="楷体" panose="02010609060101010101" pitchFamily="49" charset="-122"/>
                    <a:ea typeface="楷体" panose="02010609060101010101" pitchFamily="49" charset="-122"/>
                    <a:cs typeface="Times New Roman" panose="02020603050405020304" pitchFamily="18" charset="0"/>
                  </a:rPr>
                  <a:t> </a:t>
                </a:r>
                <a14:m>
                  <m:oMath xmlns:m="http://schemas.openxmlformats.org/officeDocument/2006/math">
                    <m:r>
                      <m:rPr>
                        <m:sty m:val="p"/>
                      </m:rPr>
                      <a:rPr lang="en-US" altLang="zh-CN" b="0" i="0" smtClean="0">
                        <a:latin typeface="Cambria Math"/>
                        <a:ea typeface="黑体" panose="02010609060101010101" pitchFamily="49" charset="-122"/>
                        <a:cs typeface="Times New Roman" panose="02020603050405020304" pitchFamily="18" charset="0"/>
                      </a:rPr>
                      <m:t>var</m:t>
                    </m:r>
                    <m:d>
                      <m:d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a:ea typeface="黑体" panose="02010609060101010101" pitchFamily="49" charset="-122"/>
                                <a:cs typeface="Times New Roman" panose="02020603050405020304" pitchFamily="18" charset="0"/>
                              </a:rPr>
                              <m:t>𝐺</m:t>
                            </m:r>
                          </m:e>
                          <m:sub>
                            <m:r>
                              <a:rPr lang="en-US" altLang="zh-CN" b="0" i="1" smtClean="0">
                                <a:latin typeface="Cambria Math"/>
                                <a:ea typeface="黑体" panose="02010609060101010101" pitchFamily="49" charset="-122"/>
                                <a:cs typeface="Times New Roman" panose="02020603050405020304" pitchFamily="18" charset="0"/>
                              </a:rPr>
                              <m:t>𝑖</m:t>
                            </m:r>
                          </m:sub>
                        </m:sSub>
                      </m:e>
                    </m:d>
                    <m:r>
                      <a:rPr lang="en-US" altLang="zh-CN" b="0" i="0" smtClean="0">
                        <a:latin typeface="Cambria Math"/>
                        <a:ea typeface="黑体" panose="02010609060101010101" pitchFamily="49" charset="-122"/>
                        <a:cs typeface="Times New Roman" panose="02020603050405020304" pitchFamily="18" charset="0"/>
                      </a:rPr>
                      <m:t>=</m:t>
                    </m:r>
                    <m:f>
                      <m:fPr>
                        <m:ctrlPr>
                          <a:rPr lang="en-US" altLang="zh-CN" i="1" smtClean="0">
                            <a:latin typeface="Cambria Math" panose="02040503050406030204" pitchFamily="18" charset="0"/>
                            <a:ea typeface="黑体" panose="02010609060101010101" pitchFamily="49" charset="-122"/>
                            <a:cs typeface="Times New Roman" panose="02020603050405020304" pitchFamily="18" charset="0"/>
                          </a:rPr>
                        </m:ctrlPr>
                      </m:fPr>
                      <m:num>
                        <m:r>
                          <a:rPr lang="en-US" altLang="zh-CN" b="0" i="1" smtClean="0">
                            <a:latin typeface="Cambria Math"/>
                            <a:ea typeface="黑体" panose="02010609060101010101" pitchFamily="49" charset="-122"/>
                            <a:cs typeface="Times New Roman" panose="02020603050405020304" pitchFamily="18" charset="0"/>
                          </a:rPr>
                          <m:t>1</m:t>
                        </m:r>
                      </m:num>
                      <m:den>
                        <m:r>
                          <a:rPr lang="en-US" altLang="zh-CN" b="0" i="1" smtClean="0">
                            <a:latin typeface="Cambria Math"/>
                            <a:ea typeface="黑体" panose="02010609060101010101" pitchFamily="49" charset="-122"/>
                            <a:cs typeface="Times New Roman" panose="02020603050405020304" pitchFamily="18" charset="0"/>
                          </a:rPr>
                          <m:t>|</m:t>
                        </m:r>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a:ea typeface="黑体" panose="02010609060101010101" pitchFamily="49" charset="-122"/>
                                <a:cs typeface="Times New Roman" panose="02020603050405020304" pitchFamily="18" charset="0"/>
                              </a:rPr>
                              <m:t>𝐺</m:t>
                            </m:r>
                          </m:e>
                          <m:sub>
                            <m:r>
                              <a:rPr lang="en-US" altLang="zh-CN" b="0" i="1" smtClean="0">
                                <a:latin typeface="Cambria Math"/>
                                <a:ea typeface="黑体" panose="02010609060101010101" pitchFamily="49" charset="-122"/>
                                <a:cs typeface="Times New Roman" panose="02020603050405020304" pitchFamily="18" charset="0"/>
                              </a:rPr>
                              <m:t>𝑖</m:t>
                            </m:r>
                          </m:sub>
                        </m:sSub>
                        <m:r>
                          <a:rPr lang="en-US" altLang="zh-CN" b="0" i="1" smtClean="0">
                            <a:latin typeface="Cambria Math"/>
                            <a:ea typeface="黑体" panose="02010609060101010101" pitchFamily="49" charset="-122"/>
                            <a:cs typeface="Times New Roman" panose="02020603050405020304" pitchFamily="18" charset="0"/>
                          </a:rPr>
                          <m:t>|</m:t>
                        </m:r>
                      </m:den>
                    </m:f>
                    <m:nary>
                      <m:naryPr>
                        <m:chr m:val="∑"/>
                        <m:supHide m:val="on"/>
                        <m:ctrlPr>
                          <a:rPr lang="en-US" altLang="zh-CN" i="1" smtClean="0">
                            <a:latin typeface="Cambria Math" panose="02040503050406030204" pitchFamily="18" charset="0"/>
                            <a:ea typeface="黑体" panose="02010609060101010101" pitchFamily="49" charset="-122"/>
                            <a:cs typeface="Times New Roman" panose="02020603050405020304" pitchFamily="18" charset="0"/>
                          </a:rPr>
                        </m:ctrlPr>
                      </m:naryPr>
                      <m:sub>
                        <m:r>
                          <m:rPr>
                            <m:brk m:alnAt="7"/>
                          </m:rPr>
                          <a:rPr lang="en-US" altLang="zh-CN" b="0" i="1" smtClean="0">
                            <a:latin typeface="Cambria Math"/>
                            <a:ea typeface="黑体" panose="02010609060101010101" pitchFamily="49" charset="-122"/>
                            <a:cs typeface="Times New Roman" panose="02020603050405020304" pitchFamily="18" charset="0"/>
                          </a:rPr>
                          <m:t>𝑥</m:t>
                        </m:r>
                        <m:r>
                          <a:rPr lang="en-US" altLang="zh-CN" b="0" i="1" smtClean="0">
                            <a:latin typeface="Cambria Math"/>
                            <a:ea typeface="Cambria Math"/>
                            <a:cs typeface="Times New Roman" panose="02020603050405020304" pitchFamily="18" charset="0"/>
                          </a:rPr>
                          <m:t>∈</m:t>
                        </m:r>
                        <m:sSub>
                          <m:sSubPr>
                            <m:ctrlPr>
                              <a:rPr lang="en-US" altLang="zh-CN" b="0" i="1" smtClean="0">
                                <a:latin typeface="Cambria Math" panose="02040503050406030204" pitchFamily="18" charset="0"/>
                                <a:ea typeface="Cambria Math"/>
                                <a:cs typeface="Times New Roman" panose="02020603050405020304" pitchFamily="18" charset="0"/>
                              </a:rPr>
                            </m:ctrlPr>
                          </m:sSubPr>
                          <m:e>
                            <m:r>
                              <a:rPr lang="en-US" altLang="zh-CN" b="0" i="1" smtClean="0">
                                <a:latin typeface="Cambria Math"/>
                                <a:ea typeface="Cambria Math"/>
                                <a:cs typeface="Times New Roman" panose="02020603050405020304" pitchFamily="18" charset="0"/>
                              </a:rPr>
                              <m:t>𝐺</m:t>
                            </m:r>
                          </m:e>
                          <m:sub>
                            <m:r>
                              <a:rPr lang="en-US" altLang="zh-CN" b="0" i="1" smtClean="0">
                                <a:latin typeface="Cambria Math"/>
                                <a:ea typeface="Cambria Math"/>
                                <a:cs typeface="Times New Roman" panose="02020603050405020304" pitchFamily="18" charset="0"/>
                              </a:rPr>
                              <m:t>𝑖</m:t>
                            </m:r>
                          </m:sub>
                        </m:sSub>
                      </m:sub>
                      <m:sup/>
                      <m:e>
                        <m:sSup>
                          <m:sSupPr>
                            <m:ctrlPr>
                              <a:rPr lang="en-US" altLang="zh-CN" i="1" smtClean="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b="0" i="1" smtClean="0">
                                <a:latin typeface="Cambria Math"/>
                                <a:ea typeface="黑体" panose="02010609060101010101" pitchFamily="49" charset="-122"/>
                                <a:cs typeface="Times New Roman" panose="02020603050405020304" pitchFamily="18" charset="0"/>
                              </a:rPr>
                              <m:t>||</m:t>
                            </m:r>
                            <m:r>
                              <a:rPr lang="en-US" altLang="zh-CN" b="0" i="1" smtClean="0">
                                <a:latin typeface="Cambria Math"/>
                                <a:ea typeface="黑体" panose="02010609060101010101" pitchFamily="49" charset="-122"/>
                                <a:cs typeface="Times New Roman" panose="02020603050405020304" pitchFamily="18" charset="0"/>
                              </a:rPr>
                              <m:t>𝑥</m:t>
                            </m:r>
                            <m:r>
                              <a:rPr lang="en-US" altLang="zh-CN" b="0" i="1" smtClean="0">
                                <a:latin typeface="Cambria Math"/>
                                <a:ea typeface="黑体" panose="02010609060101010101" pitchFamily="49" charset="-122"/>
                                <a:cs typeface="Times New Roman" panose="02020603050405020304" pitchFamily="18" charset="0"/>
                              </a:rPr>
                              <m:t>−</m:t>
                            </m:r>
                            <m:sSub>
                              <m:sSubPr>
                                <m:ctrlPr>
                                  <a:rPr lang="en-US" altLang="zh-CN"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a:ea typeface="黑体" panose="02010609060101010101" pitchFamily="49" charset="-122"/>
                                    <a:cs typeface="Times New Roman" panose="02020603050405020304" pitchFamily="18" charset="0"/>
                                  </a:rPr>
                                  <m:t>𝐺</m:t>
                                </m:r>
                              </m:e>
                              <m:sub>
                                <m:r>
                                  <a:rPr lang="en-US" altLang="zh-CN" b="0" i="1" smtClean="0">
                                    <a:latin typeface="Cambria Math"/>
                                    <a:ea typeface="黑体" panose="02010609060101010101" pitchFamily="49" charset="-122"/>
                                    <a:cs typeface="Times New Roman" panose="02020603050405020304" pitchFamily="18" charset="0"/>
                                  </a:rPr>
                                  <m:t>𝑖</m:t>
                                </m:r>
                              </m:sub>
                            </m:sSub>
                            <m:r>
                              <a:rPr lang="en-US" altLang="zh-CN" b="0" i="1" smtClean="0">
                                <a:latin typeface="Cambria Math"/>
                                <a:ea typeface="黑体" panose="02010609060101010101" pitchFamily="49" charset="-122"/>
                                <a:cs typeface="Times New Roman" panose="02020603050405020304" pitchFamily="18" charset="0"/>
                              </a:rPr>
                              <m:t>||</m:t>
                            </m:r>
                          </m:e>
                          <m:sup>
                            <m:r>
                              <a:rPr lang="en-US" altLang="zh-CN" b="0" i="1" smtClean="0">
                                <a:latin typeface="Cambria Math"/>
                                <a:ea typeface="黑体" panose="02010609060101010101" pitchFamily="49" charset="-122"/>
                                <a:cs typeface="Times New Roman" panose="02020603050405020304" pitchFamily="18" charset="0"/>
                              </a:rPr>
                              <m:t>2</m:t>
                            </m:r>
                          </m:sup>
                        </m:sSup>
                      </m:e>
                    </m:nary>
                  </m:oMath>
                </a14:m>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1400059" y="4365191"/>
                <a:ext cx="5058885" cy="521168"/>
              </a:xfrm>
              <a:prstGeom prst="rect">
                <a:avLst/>
              </a:prstGeom>
              <a:blipFill>
                <a:blip r:embed="rId3"/>
                <a:stretch>
                  <a:fillRect l="-1084" t="-73256" b="-112791"/>
                </a:stretch>
              </a:blipFill>
            </p:spPr>
            <p:txBody>
              <a:bodyPr/>
              <a:lstStyle/>
              <a:p>
                <a:r>
                  <a:rPr lang="zh-CN" altLang="en-US">
                    <a:noFill/>
                  </a:rPr>
                  <a:t> </a:t>
                </a:r>
              </a:p>
            </p:txBody>
          </p:sp>
        </mc:Fallback>
      </mc:AlternateContent>
      <p:sp>
        <p:nvSpPr>
          <p:cNvPr id="18" name="矩形 17"/>
          <p:cNvSpPr/>
          <p:nvPr/>
        </p:nvSpPr>
        <p:spPr>
          <a:xfrm>
            <a:off x="336666" y="5187197"/>
            <a:ext cx="8673984" cy="773289"/>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sz="1600" b="1" dirty="0">
                <a:latin typeface="楷体" panose="02010609060101010101" pitchFamily="49" charset="-122"/>
                <a:ea typeface="楷体" panose="02010609060101010101" pitchFamily="49" charset="-122"/>
                <a:cs typeface="Times New Roman" panose="02020603050405020304" pitchFamily="18" charset="0"/>
              </a:rPr>
              <a:t>欧氏距离与方差量纲相同</a:t>
            </a:r>
            <a:endParaRPr lang="en-US" altLang="zh-CN" sz="1600" b="1" dirty="0">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1600" b="1" dirty="0">
                <a:latin typeface="楷体" panose="02010609060101010101" pitchFamily="49" charset="-122"/>
                <a:ea typeface="楷体" panose="02010609060101010101" pitchFamily="49" charset="-122"/>
                <a:cs typeface="Times New Roman" panose="02020603050405020304" pitchFamily="18" charset="0"/>
              </a:rPr>
              <a:t>最小化每个类簇方差将使得最终聚类结果中每个聚类集合中所包含数据呈现出来差异性最小。</a:t>
            </a:r>
          </a:p>
        </p:txBody>
      </p:sp>
      <p:cxnSp>
        <p:nvCxnSpPr>
          <p:cNvPr id="19" name="直接箭头连接符 18"/>
          <p:cNvCxnSpPr/>
          <p:nvPr/>
        </p:nvCxnSpPr>
        <p:spPr>
          <a:xfrm flipV="1">
            <a:off x="3462337" y="4111191"/>
            <a:ext cx="0" cy="377391"/>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464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K-means</a:t>
            </a:r>
            <a:r>
              <a:rPr lang="zh-CN" altLang="en-US" dirty="0"/>
              <a:t>示例</a:t>
            </a:r>
          </a:p>
        </p:txBody>
      </p:sp>
      <p:sp>
        <p:nvSpPr>
          <p:cNvPr id="6" name="矩形 5"/>
          <p:cNvSpPr/>
          <p:nvPr/>
        </p:nvSpPr>
        <p:spPr>
          <a:xfrm>
            <a:off x="634818" y="3276601"/>
            <a:ext cx="1107996" cy="276999"/>
          </a:xfrm>
          <a:prstGeom prst="rect">
            <a:avLst/>
          </a:prstGeom>
        </p:spPr>
        <p:txBody>
          <a:bodyPr wrap="none">
            <a:spAutoFit/>
          </a:bodyPr>
          <a:lstStyle/>
          <a:p>
            <a:r>
              <a:rPr lang="zh-CN" altLang="en-US" sz="1200" dirty="0">
                <a:latin typeface="华文细黑" pitchFamily="2" charset="-122"/>
                <a:ea typeface="华文细黑" pitchFamily="2" charset="-122"/>
              </a:rPr>
              <a:t>选择初始质心</a:t>
            </a:r>
          </a:p>
        </p:txBody>
      </p:sp>
      <p:sp>
        <p:nvSpPr>
          <p:cNvPr id="9" name="矩形 8"/>
          <p:cNvSpPr/>
          <p:nvPr/>
        </p:nvSpPr>
        <p:spPr>
          <a:xfrm>
            <a:off x="2438400" y="3276601"/>
            <a:ext cx="1908000" cy="461665"/>
          </a:xfrm>
          <a:prstGeom prst="rect">
            <a:avLst/>
          </a:prstGeom>
        </p:spPr>
        <p:txBody>
          <a:bodyPr wrap="square">
            <a:spAutoFit/>
          </a:bodyPr>
          <a:lstStyle/>
          <a:p>
            <a:r>
              <a:rPr lang="zh-CN" altLang="en-US" sz="1200" dirty="0">
                <a:latin typeface="华文细黑" pitchFamily="2" charset="-122"/>
                <a:ea typeface="华文细黑" pitchFamily="2" charset="-122"/>
              </a:rPr>
              <a:t>将数据点指派到初始质心（</a:t>
            </a:r>
            <a:r>
              <a:rPr lang="en-US" altLang="zh-CN" sz="1200" dirty="0">
                <a:latin typeface="华文细黑" pitchFamily="2" charset="-122"/>
                <a:ea typeface="华文细黑" pitchFamily="2" charset="-122"/>
              </a:rPr>
              <a:t>SSE=305</a:t>
            </a:r>
            <a:r>
              <a:rPr lang="zh-CN" altLang="en-US" sz="1200" dirty="0">
                <a:latin typeface="华文细黑" pitchFamily="2" charset="-122"/>
                <a:ea typeface="华文细黑" pitchFamily="2" charset="-122"/>
              </a:rPr>
              <a:t>）</a:t>
            </a:r>
          </a:p>
        </p:txBody>
      </p:sp>
      <p:sp>
        <p:nvSpPr>
          <p:cNvPr id="10" name="矩形 9"/>
          <p:cNvSpPr/>
          <p:nvPr/>
        </p:nvSpPr>
        <p:spPr>
          <a:xfrm>
            <a:off x="4648200" y="3276601"/>
            <a:ext cx="1908000" cy="646331"/>
          </a:xfrm>
          <a:prstGeom prst="rect">
            <a:avLst/>
          </a:prstGeom>
        </p:spPr>
        <p:txBody>
          <a:bodyPr wrap="square">
            <a:spAutoFit/>
          </a:bodyPr>
          <a:lstStyle/>
          <a:p>
            <a:r>
              <a:rPr lang="zh-CN" altLang="en-US" sz="1200" dirty="0">
                <a:latin typeface="华文细黑" pitchFamily="2" charset="-122"/>
                <a:ea typeface="华文细黑" pitchFamily="2" charset="-122"/>
              </a:rPr>
              <a:t>第</a:t>
            </a:r>
            <a:r>
              <a:rPr lang="en-US" altLang="zh-CN" sz="1200" dirty="0">
                <a:latin typeface="华文细黑" pitchFamily="2" charset="-122"/>
                <a:ea typeface="华文细黑" pitchFamily="2" charset="-122"/>
              </a:rPr>
              <a:t>1</a:t>
            </a:r>
            <a:r>
              <a:rPr lang="zh-CN" altLang="en-US" sz="1200" dirty="0">
                <a:latin typeface="华文细黑" pitchFamily="2" charset="-122"/>
                <a:ea typeface="华文细黑" pitchFamily="2" charset="-122"/>
              </a:rPr>
              <a:t>次迭代：重新计算质心，并将数据点指派到质心（</a:t>
            </a:r>
            <a:r>
              <a:rPr lang="en-US" altLang="zh-CN" sz="1200" dirty="0">
                <a:latin typeface="华文细黑" pitchFamily="2" charset="-122"/>
                <a:ea typeface="华文细黑" pitchFamily="2" charset="-122"/>
              </a:rPr>
              <a:t>SSE=268</a:t>
            </a:r>
            <a:r>
              <a:rPr lang="zh-CN" altLang="en-US" sz="1200" dirty="0">
                <a:latin typeface="华文细黑" pitchFamily="2" charset="-122"/>
                <a:ea typeface="华文细黑" pitchFamily="2" charset="-122"/>
              </a:rPr>
              <a:t>）</a:t>
            </a:r>
          </a:p>
        </p:txBody>
      </p:sp>
      <p:sp>
        <p:nvSpPr>
          <p:cNvPr id="16" name="矩形 15"/>
          <p:cNvSpPr/>
          <p:nvPr/>
        </p:nvSpPr>
        <p:spPr>
          <a:xfrm>
            <a:off x="228600" y="5710535"/>
            <a:ext cx="1944000" cy="461665"/>
          </a:xfrm>
          <a:prstGeom prst="rect">
            <a:avLst/>
          </a:prstGeom>
        </p:spPr>
        <p:txBody>
          <a:bodyPr wrap="square">
            <a:spAutoFit/>
          </a:bodyPr>
          <a:lstStyle/>
          <a:p>
            <a:r>
              <a:rPr lang="zh-CN" altLang="en-US" sz="1200" dirty="0">
                <a:latin typeface="华文细黑" pitchFamily="2" charset="-122"/>
                <a:ea typeface="华文细黑" pitchFamily="2" charset="-122"/>
              </a:rPr>
              <a:t>第</a:t>
            </a:r>
            <a:r>
              <a:rPr lang="en-US" altLang="zh-CN" sz="1200" dirty="0">
                <a:latin typeface="华文细黑" pitchFamily="2" charset="-122"/>
                <a:ea typeface="华文细黑" pitchFamily="2" charset="-122"/>
              </a:rPr>
              <a:t>2</a:t>
            </a:r>
            <a:r>
              <a:rPr lang="zh-CN" altLang="en-US" sz="1200" dirty="0">
                <a:latin typeface="华文细黑" pitchFamily="2" charset="-122"/>
                <a:ea typeface="华文细黑" pitchFamily="2" charset="-122"/>
              </a:rPr>
              <a:t>次迭代：重新计算质心并指派到质心</a:t>
            </a:r>
            <a:r>
              <a:rPr lang="en-US" altLang="zh-CN" sz="1200" dirty="0">
                <a:latin typeface="华文细黑" pitchFamily="2" charset="-122"/>
                <a:ea typeface="华文细黑" pitchFamily="2" charset="-122"/>
              </a:rPr>
              <a:t>(SSE=264)</a:t>
            </a:r>
            <a:endParaRPr lang="zh-CN" altLang="en-US" sz="1200" dirty="0">
              <a:latin typeface="华文细黑" pitchFamily="2" charset="-122"/>
              <a:ea typeface="华文细黑" pitchFamily="2" charset="-122"/>
            </a:endParaRPr>
          </a:p>
        </p:txBody>
      </p:sp>
      <p:sp>
        <p:nvSpPr>
          <p:cNvPr id="17" name="矩形 16"/>
          <p:cNvSpPr/>
          <p:nvPr/>
        </p:nvSpPr>
        <p:spPr>
          <a:xfrm>
            <a:off x="2438400" y="5710535"/>
            <a:ext cx="1872000" cy="461665"/>
          </a:xfrm>
          <a:prstGeom prst="rect">
            <a:avLst/>
          </a:prstGeom>
        </p:spPr>
        <p:txBody>
          <a:bodyPr wrap="square">
            <a:spAutoFit/>
          </a:bodyPr>
          <a:lstStyle/>
          <a:p>
            <a:r>
              <a:rPr lang="zh-CN" altLang="en-US" sz="1200" dirty="0">
                <a:latin typeface="华文细黑" pitchFamily="2" charset="-122"/>
                <a:ea typeface="华文细黑" pitchFamily="2" charset="-122"/>
              </a:rPr>
              <a:t>第</a:t>
            </a:r>
            <a:r>
              <a:rPr lang="en-US" altLang="zh-CN" sz="1200" dirty="0">
                <a:latin typeface="华文细黑" pitchFamily="2" charset="-122"/>
                <a:ea typeface="华文细黑" pitchFamily="2" charset="-122"/>
              </a:rPr>
              <a:t>3</a:t>
            </a:r>
            <a:r>
              <a:rPr lang="zh-CN" altLang="en-US" sz="1200" dirty="0">
                <a:latin typeface="华文细黑" pitchFamily="2" charset="-122"/>
                <a:ea typeface="华文细黑" pitchFamily="2" charset="-122"/>
              </a:rPr>
              <a:t>次，重新计算质心并指派</a:t>
            </a:r>
            <a:r>
              <a:rPr lang="en-US" altLang="zh-CN" sz="1200" dirty="0">
                <a:latin typeface="华文细黑" pitchFamily="2" charset="-122"/>
                <a:ea typeface="华文细黑" pitchFamily="2" charset="-122"/>
              </a:rPr>
              <a:t>.</a:t>
            </a:r>
            <a:r>
              <a:rPr lang="zh-CN" altLang="en-US" sz="1200" dirty="0">
                <a:latin typeface="华文细黑" pitchFamily="2" charset="-122"/>
                <a:ea typeface="华文细黑" pitchFamily="2" charset="-122"/>
              </a:rPr>
              <a:t>最终结果</a:t>
            </a:r>
            <a:r>
              <a:rPr lang="en-US" altLang="zh-CN" sz="1200" dirty="0">
                <a:latin typeface="华文细黑" pitchFamily="2" charset="-122"/>
                <a:ea typeface="华文细黑" pitchFamily="2" charset="-122"/>
              </a:rPr>
              <a:t>(SSE=262)</a:t>
            </a:r>
            <a:endParaRPr lang="zh-CN" altLang="en-US" sz="1200" dirty="0">
              <a:latin typeface="华文细黑" pitchFamily="2" charset="-122"/>
              <a:ea typeface="华文细黑" pitchFamily="2" charset="-122"/>
            </a:endParaRPr>
          </a:p>
        </p:txBody>
      </p:sp>
      <p:sp>
        <p:nvSpPr>
          <p:cNvPr id="18" name="矩形 17"/>
          <p:cNvSpPr/>
          <p:nvPr/>
        </p:nvSpPr>
        <p:spPr>
          <a:xfrm>
            <a:off x="4724400" y="5710535"/>
            <a:ext cx="1800000" cy="461665"/>
          </a:xfrm>
          <a:prstGeom prst="rect">
            <a:avLst/>
          </a:prstGeom>
        </p:spPr>
        <p:txBody>
          <a:bodyPr wrap="square">
            <a:spAutoFit/>
          </a:bodyPr>
          <a:lstStyle/>
          <a:p>
            <a:r>
              <a:rPr lang="zh-CN" altLang="en-US" sz="1200" dirty="0">
                <a:latin typeface="华文细黑" pitchFamily="2" charset="-122"/>
                <a:ea typeface="华文细黑" pitchFamily="2" charset="-122"/>
              </a:rPr>
              <a:t>第</a:t>
            </a:r>
            <a:r>
              <a:rPr lang="en-US" altLang="zh-CN" sz="1200" dirty="0">
                <a:latin typeface="华文细黑" pitchFamily="2" charset="-122"/>
                <a:ea typeface="华文细黑" pitchFamily="2" charset="-122"/>
              </a:rPr>
              <a:t>4</a:t>
            </a:r>
            <a:r>
              <a:rPr lang="zh-CN" altLang="en-US" sz="1200" dirty="0">
                <a:latin typeface="华文细黑" pitchFamily="2" charset="-122"/>
                <a:ea typeface="华文细黑" pitchFamily="2" charset="-122"/>
              </a:rPr>
              <a:t>次，质心不再变化，得到最终结果</a:t>
            </a:r>
            <a:r>
              <a:rPr lang="en-US" altLang="zh-CN" sz="1200" dirty="0">
                <a:latin typeface="华文细黑" pitchFamily="2" charset="-122"/>
                <a:ea typeface="华文细黑" pitchFamily="2" charset="-122"/>
              </a:rPr>
              <a:t>(SSE=262)</a:t>
            </a:r>
            <a:endParaRPr lang="zh-CN" altLang="en-US" sz="1200" dirty="0">
              <a:latin typeface="华文细黑" pitchFamily="2" charset="-122"/>
              <a:ea typeface="华文细黑" pitchFamily="2" charset="-122"/>
            </a:endParaRPr>
          </a:p>
        </p:txBody>
      </p:sp>
      <p:sp>
        <p:nvSpPr>
          <p:cNvPr id="19" name="矩形 18"/>
          <p:cNvSpPr/>
          <p:nvPr/>
        </p:nvSpPr>
        <p:spPr>
          <a:xfrm>
            <a:off x="6553200" y="2017878"/>
            <a:ext cx="2520000" cy="1569660"/>
          </a:xfrm>
          <a:prstGeom prst="rect">
            <a:avLst/>
          </a:prstGeom>
        </p:spPr>
        <p:txBody>
          <a:bodyPr wrap="square">
            <a:spAutoFit/>
          </a:bodyPr>
          <a:lstStyle/>
          <a:p>
            <a:pPr>
              <a:lnSpc>
                <a:spcPct val="120000"/>
              </a:lnSpc>
            </a:pPr>
            <a:r>
              <a:rPr lang="zh-CN" altLang="en-US" sz="2000" dirty="0">
                <a:solidFill>
                  <a:srgbClr val="C00000"/>
                </a:solidFill>
                <a:latin typeface="华文细黑" pitchFamily="2" charset="-122"/>
                <a:ea typeface="华文细黑" pitchFamily="2" charset="-122"/>
              </a:rPr>
              <a:t>迭代终止条件：</a:t>
            </a:r>
            <a:endParaRPr lang="en-US" altLang="zh-CN" sz="2000" dirty="0">
              <a:solidFill>
                <a:srgbClr val="C00000"/>
              </a:solidFill>
              <a:latin typeface="华文细黑" pitchFamily="2" charset="-122"/>
              <a:ea typeface="华文细黑" pitchFamily="2" charset="-122"/>
            </a:endParaRPr>
          </a:p>
          <a:p>
            <a:pPr marL="457200" indent="-457200">
              <a:lnSpc>
                <a:spcPct val="120000"/>
              </a:lnSpc>
              <a:buAutoNum type="arabicParenR"/>
            </a:pPr>
            <a:r>
              <a:rPr lang="zh-CN" altLang="en-US" sz="2000" dirty="0">
                <a:solidFill>
                  <a:srgbClr val="C00000"/>
                </a:solidFill>
                <a:latin typeface="华文细黑" pitchFamily="2" charset="-122"/>
                <a:ea typeface="华文细黑" pitchFamily="2" charset="-122"/>
              </a:rPr>
              <a:t>质心不再</a:t>
            </a:r>
            <a:r>
              <a:rPr lang="zh-CN" altLang="en-US" sz="2000" dirty="0">
                <a:solidFill>
                  <a:srgbClr val="C00000"/>
                </a:solidFill>
                <a:latin typeface="楷体" pitchFamily="49" charset="-122"/>
                <a:ea typeface="楷体" pitchFamily="49" charset="-122"/>
              </a:rPr>
              <a:t>变化</a:t>
            </a:r>
            <a:r>
              <a:rPr lang="zh-CN" altLang="en-US" sz="2000" dirty="0">
                <a:solidFill>
                  <a:srgbClr val="C00000"/>
                </a:solidFill>
                <a:latin typeface="华文细黑" pitchFamily="2" charset="-122"/>
                <a:ea typeface="华文细黑" pitchFamily="2" charset="-122"/>
              </a:rPr>
              <a:t>；</a:t>
            </a:r>
            <a:endParaRPr lang="en-US" altLang="zh-CN" sz="2000" dirty="0">
              <a:solidFill>
                <a:srgbClr val="C00000"/>
              </a:solidFill>
              <a:latin typeface="华文细黑" pitchFamily="2" charset="-122"/>
              <a:ea typeface="华文细黑" pitchFamily="2" charset="-122"/>
            </a:endParaRPr>
          </a:p>
          <a:p>
            <a:pPr>
              <a:lnSpc>
                <a:spcPct val="120000"/>
              </a:lnSpc>
            </a:pPr>
            <a:r>
              <a:rPr lang="zh-CN" altLang="en-US" sz="2000" dirty="0">
                <a:solidFill>
                  <a:srgbClr val="C00000"/>
                </a:solidFill>
                <a:latin typeface="华文细黑" pitchFamily="2" charset="-122"/>
                <a:ea typeface="华文细黑" pitchFamily="2" charset="-122"/>
              </a:rPr>
              <a:t>或</a:t>
            </a:r>
            <a:endParaRPr lang="en-US" altLang="zh-CN" sz="2000" dirty="0">
              <a:solidFill>
                <a:srgbClr val="C00000"/>
              </a:solidFill>
              <a:latin typeface="华文细黑" pitchFamily="2" charset="-122"/>
              <a:ea typeface="华文细黑" pitchFamily="2" charset="-122"/>
            </a:endParaRPr>
          </a:p>
          <a:p>
            <a:pPr>
              <a:lnSpc>
                <a:spcPct val="120000"/>
              </a:lnSpc>
            </a:pPr>
            <a:r>
              <a:rPr lang="en-US" altLang="zh-CN" sz="2000" dirty="0">
                <a:solidFill>
                  <a:srgbClr val="C00000"/>
                </a:solidFill>
                <a:latin typeface="华文细黑" pitchFamily="2" charset="-122"/>
                <a:ea typeface="华文细黑" pitchFamily="2" charset="-122"/>
              </a:rPr>
              <a:t>2) SSE</a:t>
            </a:r>
            <a:r>
              <a:rPr lang="zh-CN" altLang="en-US" sz="2000" dirty="0">
                <a:solidFill>
                  <a:srgbClr val="C00000"/>
                </a:solidFill>
                <a:latin typeface="华文细黑" pitchFamily="2" charset="-122"/>
                <a:ea typeface="华文细黑" pitchFamily="2" charset="-122"/>
              </a:rPr>
              <a:t>不再变优。</a:t>
            </a:r>
          </a:p>
        </p:txBody>
      </p:sp>
      <p:sp>
        <p:nvSpPr>
          <p:cNvPr id="20" name="矩形 19"/>
          <p:cNvSpPr/>
          <p:nvPr/>
        </p:nvSpPr>
        <p:spPr>
          <a:xfrm>
            <a:off x="6553201" y="4198204"/>
            <a:ext cx="2520000" cy="1354217"/>
          </a:xfrm>
          <a:prstGeom prst="rect">
            <a:avLst/>
          </a:prstGeom>
        </p:spPr>
        <p:txBody>
          <a:bodyPr wrap="square">
            <a:spAutoFit/>
          </a:bodyPr>
          <a:lstStyle/>
          <a:p>
            <a:pPr>
              <a:lnSpc>
                <a:spcPct val="120000"/>
              </a:lnSpc>
              <a:spcAft>
                <a:spcPts val="1200"/>
              </a:spcAft>
            </a:pPr>
            <a:r>
              <a:rPr lang="en-US" altLang="zh-CN" sz="2000" dirty="0">
                <a:solidFill>
                  <a:srgbClr val="C00000"/>
                </a:solidFill>
                <a:latin typeface="华文细黑" pitchFamily="2" charset="-122"/>
                <a:ea typeface="华文细黑" pitchFamily="2" charset="-122"/>
              </a:rPr>
              <a:t>SSE – </a:t>
            </a:r>
            <a:r>
              <a:rPr lang="zh-CN" altLang="en-US" sz="2000" dirty="0">
                <a:solidFill>
                  <a:srgbClr val="C00000"/>
                </a:solidFill>
                <a:latin typeface="华文细黑" pitchFamily="2" charset="-122"/>
                <a:ea typeface="华文细黑" pitchFamily="2" charset="-122"/>
              </a:rPr>
              <a:t>目标函数</a:t>
            </a:r>
            <a:endParaRPr lang="en-US" altLang="zh-CN" sz="2000" dirty="0">
              <a:solidFill>
                <a:srgbClr val="C00000"/>
              </a:solidFill>
              <a:latin typeface="华文细黑" pitchFamily="2" charset="-122"/>
              <a:ea typeface="华文细黑" pitchFamily="2" charset="-122"/>
            </a:endParaRPr>
          </a:p>
          <a:p>
            <a:pPr>
              <a:lnSpc>
                <a:spcPct val="120000"/>
              </a:lnSpc>
              <a:spcAft>
                <a:spcPts val="1200"/>
              </a:spcAft>
            </a:pPr>
            <a:r>
              <a:rPr lang="zh-CN" altLang="en-US" sz="2000" dirty="0">
                <a:solidFill>
                  <a:srgbClr val="C00000"/>
                </a:solidFill>
                <a:latin typeface="华文细黑" pitchFamily="2" charset="-122"/>
                <a:ea typeface="华文细黑" pitchFamily="2" charset="-122"/>
              </a:rPr>
              <a:t>聚类就是使目标函数最优的过程。</a:t>
            </a: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600" y="1524000"/>
            <a:ext cx="1800000"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939" y="1524000"/>
            <a:ext cx="1800000"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14601" y="1524000"/>
            <a:ext cx="1800661"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24400" y="1524000"/>
            <a:ext cx="1800000"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2940" y="3921372"/>
            <a:ext cx="1800661"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514600" y="3933960"/>
            <a:ext cx="1800000"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24400" y="3933960"/>
            <a:ext cx="1800000"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灯片编号占位符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26</a:t>
            </a:fld>
            <a:endParaRPr kumimoji="0" lang="en-US"/>
          </a:p>
        </p:txBody>
      </p:sp>
    </p:spTree>
    <p:extLst>
      <p:ext uri="{BB962C8B-B14F-4D97-AF65-F5344CB8AC3E}">
        <p14:creationId xmlns:p14="http://schemas.microsoft.com/office/powerpoint/2010/main" val="250384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500"/>
                                        <p:tgtEl>
                                          <p:spTgt spid="102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1029"/>
                                        </p:tgtEl>
                                        <p:attrNameLst>
                                          <p:attrName>style.visibility</p:attrName>
                                        </p:attrNameLst>
                                      </p:cBhvr>
                                      <p:to>
                                        <p:strVal val="visible"/>
                                      </p:to>
                                    </p:set>
                                    <p:animEffect transition="in" filter="fade">
                                      <p:cBhvr>
                                        <p:cTn id="23" dur="500"/>
                                        <p:tgtEl>
                                          <p:spTgt spid="102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030"/>
                                        </p:tgtEl>
                                        <p:attrNameLst>
                                          <p:attrName>style.visibility</p:attrName>
                                        </p:attrNameLst>
                                      </p:cBhvr>
                                      <p:to>
                                        <p:strVal val="visible"/>
                                      </p:to>
                                    </p:set>
                                    <p:animEffect transition="in" filter="fade">
                                      <p:cBhvr>
                                        <p:cTn id="31" dur="500"/>
                                        <p:tgtEl>
                                          <p:spTgt spid="103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31"/>
                                        </p:tgtEl>
                                        <p:attrNameLst>
                                          <p:attrName>style.visibility</p:attrName>
                                        </p:attrNameLst>
                                      </p:cBhvr>
                                      <p:to>
                                        <p:strVal val="visible"/>
                                      </p:to>
                                    </p:set>
                                    <p:animEffect transition="in" filter="fade">
                                      <p:cBhvr>
                                        <p:cTn id="36" dur="500"/>
                                        <p:tgtEl>
                                          <p:spTgt spid="10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32"/>
                                        </p:tgtEl>
                                        <p:attrNameLst>
                                          <p:attrName>style.visibility</p:attrName>
                                        </p:attrNameLst>
                                      </p:cBhvr>
                                      <p:to>
                                        <p:strVal val="visible"/>
                                      </p:to>
                                    </p:set>
                                    <p:animEffect transition="in" filter="fade">
                                      <p:cBhvr>
                                        <p:cTn id="44" dur="500"/>
                                        <p:tgtEl>
                                          <p:spTgt spid="103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
                                            <p:txEl>
                                              <p:pRg st="0" end="0"/>
                                            </p:txEl>
                                          </p:spTgt>
                                        </p:tgtEl>
                                        <p:attrNameLst>
                                          <p:attrName>style.visibility</p:attrName>
                                        </p:attrNameLst>
                                      </p:cBhvr>
                                      <p:to>
                                        <p:strVal val="visible"/>
                                      </p:to>
                                    </p:set>
                                    <p:animEffect transition="in" filter="fade">
                                      <p:cBhvr>
                                        <p:cTn id="60" dur="500"/>
                                        <p:tgtEl>
                                          <p:spTgt spid="19">
                                            <p:txEl>
                                              <p:pRg st="0" end="0"/>
                                            </p:txEl>
                                          </p:spTgt>
                                        </p:tgtEl>
                                      </p:cBhvr>
                                    </p:animEffec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19">
                                            <p:txEl>
                                              <p:pRg st="1" end="1"/>
                                            </p:txEl>
                                          </p:spTgt>
                                        </p:tgtEl>
                                        <p:attrNameLst>
                                          <p:attrName>style.visibility</p:attrName>
                                        </p:attrNameLst>
                                      </p:cBhvr>
                                      <p:to>
                                        <p:strVal val="visible"/>
                                      </p:to>
                                    </p:set>
                                    <p:animEffect transition="in" filter="fade">
                                      <p:cBhvr>
                                        <p:cTn id="64" dur="500"/>
                                        <p:tgtEl>
                                          <p:spTgt spid="19">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9">
                                            <p:txEl>
                                              <p:pRg st="2" end="2"/>
                                            </p:txEl>
                                          </p:spTgt>
                                        </p:tgtEl>
                                        <p:attrNameLst>
                                          <p:attrName>style.visibility</p:attrName>
                                        </p:attrNameLst>
                                      </p:cBhvr>
                                      <p:to>
                                        <p:strVal val="visible"/>
                                      </p:to>
                                    </p:set>
                                    <p:animEffect transition="in" filter="fade">
                                      <p:cBhvr>
                                        <p:cTn id="69" dur="500"/>
                                        <p:tgtEl>
                                          <p:spTgt spid="19">
                                            <p:txEl>
                                              <p:pRg st="2" end="2"/>
                                            </p:txEl>
                                          </p:spTgt>
                                        </p:tgtEl>
                                      </p:cBhvr>
                                    </p:animEffect>
                                  </p:childTnLst>
                                </p:cTn>
                              </p:par>
                            </p:childTnLst>
                          </p:cTn>
                        </p:par>
                        <p:par>
                          <p:cTn id="70" fill="hold">
                            <p:stCondLst>
                              <p:cond delay="500"/>
                            </p:stCondLst>
                            <p:childTnLst>
                              <p:par>
                                <p:cTn id="71" presetID="10" presetClass="entr" presetSubtype="0" fill="hold" grpId="0" nodeType="afterEffect">
                                  <p:stCondLst>
                                    <p:cond delay="0"/>
                                  </p:stCondLst>
                                  <p:childTnLst>
                                    <p:set>
                                      <p:cBhvr>
                                        <p:cTn id="72" dur="1" fill="hold">
                                          <p:stCondLst>
                                            <p:cond delay="0"/>
                                          </p:stCondLst>
                                        </p:cTn>
                                        <p:tgtEl>
                                          <p:spTgt spid="19">
                                            <p:txEl>
                                              <p:pRg st="3" end="3"/>
                                            </p:txEl>
                                          </p:spTgt>
                                        </p:tgtEl>
                                        <p:attrNameLst>
                                          <p:attrName>style.visibility</p:attrName>
                                        </p:attrNameLst>
                                      </p:cBhvr>
                                      <p:to>
                                        <p:strVal val="visible"/>
                                      </p:to>
                                    </p:set>
                                    <p:animEffect transition="in" filter="fade">
                                      <p:cBhvr>
                                        <p:cTn id="73" dur="500"/>
                                        <p:tgtEl>
                                          <p:spTgt spid="19">
                                            <p:txEl>
                                              <p:pRg st="3" end="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0">
                                            <p:txEl>
                                              <p:pRg st="0" end="0"/>
                                            </p:txEl>
                                          </p:spTgt>
                                        </p:tgtEl>
                                        <p:attrNameLst>
                                          <p:attrName>style.visibility</p:attrName>
                                        </p:attrNameLst>
                                      </p:cBhvr>
                                      <p:to>
                                        <p:strVal val="visible"/>
                                      </p:to>
                                    </p:set>
                                    <p:animEffect transition="in" filter="fade">
                                      <p:cBhvr>
                                        <p:cTn id="78" dur="500"/>
                                        <p:tgtEl>
                                          <p:spTgt spid="20">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0">
                                            <p:txEl>
                                              <p:pRg st="1" end="1"/>
                                            </p:txEl>
                                          </p:spTgt>
                                        </p:tgtEl>
                                        <p:attrNameLst>
                                          <p:attrName>style.visibility</p:attrName>
                                        </p:attrNameLst>
                                      </p:cBhvr>
                                      <p:to>
                                        <p:strVal val="visible"/>
                                      </p:to>
                                    </p:set>
                                    <p:animEffect transition="in" filter="fade">
                                      <p:cBhvr>
                                        <p:cTn id="83"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6" grpId="0"/>
      <p:bldP spid="17" grpId="0"/>
      <p:bldP spid="18" grpId="0"/>
      <p:bldP spid="19" grpId="0" uiExpand="1" build="p"/>
      <p:bldP spid="20"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itchFamily="18" charset="0"/>
                <a:cs typeface="Times New Roman" pitchFamily="18" charset="0"/>
              </a:rPr>
              <a:t>应用要点</a:t>
            </a:r>
            <a:endParaRPr lang="zh-CN" altLang="en-US" dirty="0"/>
          </a:p>
        </p:txBody>
      </p:sp>
      <p:sp>
        <p:nvSpPr>
          <p:cNvPr id="7" name="内容占位符 6"/>
          <p:cNvSpPr>
            <a:spLocks noGrp="1"/>
          </p:cNvSpPr>
          <p:nvPr>
            <p:ph idx="1"/>
          </p:nvPr>
        </p:nvSpPr>
        <p:spPr/>
        <p:txBody>
          <a:bodyPr>
            <a:normAutofit/>
          </a:bodyPr>
          <a:lstStyle/>
          <a:p>
            <a:r>
              <a:rPr lang="zh-CN" altLang="zh-CN" dirty="0">
                <a:latin typeface="Times New Roman" pitchFamily="18" charset="0"/>
                <a:cs typeface="Times New Roman" pitchFamily="18" charset="0"/>
              </a:rPr>
              <a:t>实际</a:t>
            </a:r>
            <a:r>
              <a:rPr lang="zh-CN" altLang="en-US" dirty="0">
                <a:latin typeface="Times New Roman" pitchFamily="18" charset="0"/>
                <a:cs typeface="Times New Roman" pitchFamily="18" charset="0"/>
              </a:rPr>
              <a:t>应用</a:t>
            </a:r>
            <a:r>
              <a:rPr lang="zh-CN" altLang="zh-CN" dirty="0">
                <a:latin typeface="Times New Roman" pitchFamily="18" charset="0"/>
                <a:cs typeface="Times New Roman" pitchFamily="18" charset="0"/>
              </a:rPr>
              <a:t>的数据挖掘数据往往是</a:t>
            </a:r>
            <a:r>
              <a:rPr lang="zh-CN" altLang="zh-CN"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多维的</a:t>
            </a:r>
            <a:r>
              <a:rPr lang="zh-CN" altLang="zh-CN" dirty="0">
                <a:latin typeface="Times New Roman" pitchFamily="18" charset="0"/>
                <a:cs typeface="Times New Roman" pitchFamily="18" charset="0"/>
              </a:rPr>
              <a:t>，且各属性在计算相似性时所占的</a:t>
            </a:r>
            <a:r>
              <a:rPr lang="zh-CN" altLang="zh-CN"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权重</a:t>
            </a:r>
            <a:r>
              <a:rPr lang="zh-CN" altLang="zh-CN" dirty="0">
                <a:latin typeface="Times New Roman" pitchFamily="18" charset="0"/>
                <a:cs typeface="Times New Roman" pitchFamily="18" charset="0"/>
              </a:rPr>
              <a:t>也不尽相同，对相似性定义也有</a:t>
            </a:r>
            <a:r>
              <a:rPr lang="zh-CN" altLang="zh-CN"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多种表达</a:t>
            </a:r>
            <a:r>
              <a:rPr lang="zh-CN" altLang="zh-CN" dirty="0">
                <a:latin typeface="Times New Roman" pitchFamily="18" charset="0"/>
                <a:cs typeface="Times New Roman" pitchFamily="18" charset="0"/>
              </a:rPr>
              <a:t>，有时需要不断地调整和评估，并结合行业领域知识，才能最为有效地完成聚类。</a:t>
            </a:r>
            <a:endParaRPr lang="zh-CN" altLang="en-US" dirty="0">
              <a:latin typeface="Times New Roman" pitchFamily="18" charset="0"/>
              <a:cs typeface="Times New Roman" pitchFamily="18" charset="0"/>
            </a:endParaRPr>
          </a:p>
        </p:txBody>
      </p:sp>
      <p:sp>
        <p:nvSpPr>
          <p:cNvPr id="3" name="灯片编号占位符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27</a:t>
            </a:fld>
            <a:endParaRPr kumimoji="0"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88" y="3581400"/>
            <a:ext cx="7808913" cy="2461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矩形 3"/>
              <p:cNvSpPr/>
              <p:nvPr/>
            </p:nvSpPr>
            <p:spPr>
              <a:xfrm rot="21365645">
                <a:off x="-142177" y="4938099"/>
                <a:ext cx="9473363" cy="429220"/>
              </a:xfrm>
              <a:prstGeom prst="rect">
                <a:avLst/>
              </a:prstGeom>
              <a:solidFill>
                <a:schemeClr val="accent6">
                  <a:lumMod val="20000"/>
                  <a:lumOff val="80000"/>
                </a:schemeClr>
              </a:solidFill>
              <a:ln>
                <a:solidFill>
                  <a:schemeClr val="accent6">
                    <a:lumMod val="60000"/>
                    <a:lumOff val="40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latin typeface="Cambria Math"/>
                          <a:cs typeface="Times New Roman" pitchFamily="18" charset="0"/>
                        </a:rPr>
                        <m:t>𝒅𝒊𝒔𝒕</m:t>
                      </m:r>
                      <m:r>
                        <a:rPr lang="en-US" altLang="zh-CN" b="1" i="1">
                          <a:latin typeface="Cambria Math"/>
                          <a:cs typeface="Times New Roman" pitchFamily="18" charset="0"/>
                        </a:rPr>
                        <m:t>=</m:t>
                      </m:r>
                      <m:rad>
                        <m:radPr>
                          <m:degHide m:val="on"/>
                          <m:ctrlPr>
                            <a:rPr lang="en-US" altLang="zh-CN" i="1">
                              <a:latin typeface="Cambria Math" panose="02040503050406030204" pitchFamily="18" charset="0"/>
                              <a:cs typeface="Times New Roman" pitchFamily="18" charset="0"/>
                            </a:rPr>
                          </m:ctrlPr>
                        </m:radPr>
                        <m:deg/>
                        <m:e>
                          <m:sSup>
                            <m:sSupPr>
                              <m:ctrlPr>
                                <a:rPr lang="en-US" altLang="zh-CN" i="1">
                                  <a:latin typeface="Cambria Math" panose="02040503050406030204" pitchFamily="18" charset="0"/>
                                  <a:cs typeface="Times New Roman" pitchFamily="18" charset="0"/>
                                </a:rPr>
                              </m:ctrlPr>
                            </m:sSupPr>
                            <m:e>
                              <m:d>
                                <m:dPr>
                                  <m:ctrlPr>
                                    <a:rPr lang="en-US" altLang="zh-CN" i="1">
                                      <a:latin typeface="Cambria Math" panose="02040503050406030204" pitchFamily="18" charset="0"/>
                                      <a:cs typeface="Times New Roman" pitchFamily="18" charset="0"/>
                                    </a:rPr>
                                  </m:ctrlPr>
                                </m:dPr>
                                <m:e>
                                  <m:sSub>
                                    <m:sSubPr>
                                      <m:ctrlPr>
                                        <a:rPr lang="en-US" altLang="zh-CN" i="1">
                                          <a:latin typeface="Cambria Math" panose="02040503050406030204" pitchFamily="18" charset="0"/>
                                          <a:cs typeface="Times New Roman" pitchFamily="18" charset="0"/>
                                        </a:rPr>
                                      </m:ctrlPr>
                                    </m:sSubPr>
                                    <m:e>
                                      <m:r>
                                        <a:rPr lang="en-US" altLang="zh-CN" b="1" i="1">
                                          <a:latin typeface="Cambria Math"/>
                                          <a:cs typeface="Times New Roman" pitchFamily="18" charset="0"/>
                                        </a:rPr>
                                        <m:t>𝑴𝑮𝑷</m:t>
                                      </m:r>
                                    </m:e>
                                    <m:sub>
                                      <m:r>
                                        <a:rPr lang="en-US" altLang="zh-CN" b="1" i="1">
                                          <a:latin typeface="Cambria Math"/>
                                          <a:cs typeface="Times New Roman" pitchFamily="18" charset="0"/>
                                        </a:rPr>
                                        <m:t>𝟏</m:t>
                                      </m:r>
                                    </m:sub>
                                  </m:sSub>
                                  <m:r>
                                    <a:rPr lang="en-US" altLang="zh-CN" b="1" i="1">
                                      <a:latin typeface="Cambria Math"/>
                                      <a:cs typeface="Times New Roman" pitchFamily="18" charset="0"/>
                                    </a:rPr>
                                    <m:t>−</m:t>
                                  </m:r>
                                  <m:sSub>
                                    <m:sSubPr>
                                      <m:ctrlPr>
                                        <a:rPr lang="en-US" altLang="zh-CN" i="1">
                                          <a:latin typeface="Cambria Math" panose="02040503050406030204" pitchFamily="18" charset="0"/>
                                          <a:cs typeface="Times New Roman" pitchFamily="18" charset="0"/>
                                        </a:rPr>
                                      </m:ctrlPr>
                                    </m:sSubPr>
                                    <m:e>
                                      <m:r>
                                        <a:rPr lang="en-US" altLang="zh-CN" b="1" i="1">
                                          <a:latin typeface="Cambria Math"/>
                                          <a:cs typeface="Times New Roman" pitchFamily="18" charset="0"/>
                                        </a:rPr>
                                        <m:t>𝑴𝑮𝑷</m:t>
                                      </m:r>
                                    </m:e>
                                    <m:sub>
                                      <m:r>
                                        <a:rPr lang="en-US" altLang="zh-CN" b="1" i="1">
                                          <a:latin typeface="Cambria Math"/>
                                          <a:cs typeface="Times New Roman" pitchFamily="18" charset="0"/>
                                        </a:rPr>
                                        <m:t>𝟐</m:t>
                                      </m:r>
                                    </m:sub>
                                  </m:sSub>
                                </m:e>
                              </m:d>
                            </m:e>
                            <m:sup>
                              <m:r>
                                <a:rPr lang="en-US" altLang="zh-CN" b="1" i="1">
                                  <a:latin typeface="Cambria Math"/>
                                  <a:cs typeface="Times New Roman" pitchFamily="18" charset="0"/>
                                </a:rPr>
                                <m:t>𝟐</m:t>
                              </m:r>
                            </m:sup>
                          </m:sSup>
                          <m:r>
                            <a:rPr lang="en-US" altLang="zh-CN" b="1" i="1">
                              <a:latin typeface="Cambria Math"/>
                              <a:cs typeface="Times New Roman" pitchFamily="18" charset="0"/>
                            </a:rPr>
                            <m:t>+</m:t>
                          </m:r>
                          <m:sSup>
                            <m:sSupPr>
                              <m:ctrlPr>
                                <a:rPr lang="en-US" altLang="zh-CN" i="1">
                                  <a:latin typeface="Cambria Math" panose="02040503050406030204" pitchFamily="18" charset="0"/>
                                  <a:cs typeface="Times New Roman" pitchFamily="18" charset="0"/>
                                </a:rPr>
                              </m:ctrlPr>
                            </m:sSupPr>
                            <m:e>
                              <m:d>
                                <m:dPr>
                                  <m:ctrlPr>
                                    <a:rPr lang="en-US" altLang="zh-CN" i="1">
                                      <a:latin typeface="Cambria Math" panose="02040503050406030204" pitchFamily="18" charset="0"/>
                                      <a:cs typeface="Times New Roman" pitchFamily="18" charset="0"/>
                                    </a:rPr>
                                  </m:ctrlPr>
                                </m:dPr>
                                <m:e>
                                  <m:sSub>
                                    <m:sSubPr>
                                      <m:ctrlPr>
                                        <a:rPr lang="en-US" altLang="zh-CN" i="1">
                                          <a:latin typeface="Cambria Math" panose="02040503050406030204" pitchFamily="18" charset="0"/>
                                          <a:cs typeface="Times New Roman" pitchFamily="18" charset="0"/>
                                        </a:rPr>
                                      </m:ctrlPr>
                                    </m:sSubPr>
                                    <m:e>
                                      <m:r>
                                        <a:rPr lang="en-US" altLang="zh-CN" b="1" i="1">
                                          <a:latin typeface="Cambria Math"/>
                                          <a:cs typeface="Times New Roman" pitchFamily="18" charset="0"/>
                                        </a:rPr>
                                        <m:t>𝑪𝒚𝒍</m:t>
                                      </m:r>
                                    </m:e>
                                    <m:sub>
                                      <m:r>
                                        <a:rPr lang="en-US" altLang="zh-CN" b="1" i="1">
                                          <a:latin typeface="Cambria Math"/>
                                          <a:cs typeface="Times New Roman" pitchFamily="18" charset="0"/>
                                        </a:rPr>
                                        <m:t>𝟏</m:t>
                                      </m:r>
                                    </m:sub>
                                  </m:sSub>
                                  <m:r>
                                    <a:rPr lang="en-US" altLang="zh-CN" b="1" i="1">
                                      <a:latin typeface="Cambria Math"/>
                                      <a:cs typeface="Times New Roman" pitchFamily="18" charset="0"/>
                                    </a:rPr>
                                    <m:t>−</m:t>
                                  </m:r>
                                  <m:sSub>
                                    <m:sSubPr>
                                      <m:ctrlPr>
                                        <a:rPr lang="en-US" altLang="zh-CN" i="1">
                                          <a:latin typeface="Cambria Math" panose="02040503050406030204" pitchFamily="18" charset="0"/>
                                          <a:cs typeface="Times New Roman" pitchFamily="18" charset="0"/>
                                        </a:rPr>
                                      </m:ctrlPr>
                                    </m:sSubPr>
                                    <m:e>
                                      <m:r>
                                        <a:rPr lang="en-US" altLang="zh-CN" b="1" i="1">
                                          <a:latin typeface="Cambria Math"/>
                                          <a:cs typeface="Times New Roman" pitchFamily="18" charset="0"/>
                                        </a:rPr>
                                        <m:t>𝑪𝒚𝒍</m:t>
                                      </m:r>
                                    </m:e>
                                    <m:sub>
                                      <m:r>
                                        <a:rPr lang="en-US" altLang="zh-CN" b="1" i="1">
                                          <a:latin typeface="Cambria Math"/>
                                          <a:cs typeface="Times New Roman" pitchFamily="18" charset="0"/>
                                        </a:rPr>
                                        <m:t>𝟐</m:t>
                                      </m:r>
                                    </m:sub>
                                  </m:sSub>
                                </m:e>
                              </m:d>
                            </m:e>
                            <m:sup>
                              <m:r>
                                <a:rPr lang="en-US" altLang="zh-CN" b="1" i="1">
                                  <a:latin typeface="Cambria Math"/>
                                  <a:cs typeface="Times New Roman" pitchFamily="18" charset="0"/>
                                </a:rPr>
                                <m:t>𝟐</m:t>
                              </m:r>
                            </m:sup>
                          </m:sSup>
                          <m:r>
                            <a:rPr lang="en-US" altLang="zh-CN" b="1" i="1">
                              <a:latin typeface="Cambria Math"/>
                              <a:cs typeface="Times New Roman" pitchFamily="18" charset="0"/>
                            </a:rPr>
                            <m:t>+</m:t>
                          </m:r>
                          <m:sSup>
                            <m:sSupPr>
                              <m:ctrlPr>
                                <a:rPr lang="en-US" altLang="zh-CN" i="1">
                                  <a:latin typeface="Cambria Math" panose="02040503050406030204" pitchFamily="18" charset="0"/>
                                  <a:cs typeface="Times New Roman" pitchFamily="18" charset="0"/>
                                </a:rPr>
                              </m:ctrlPr>
                            </m:sSupPr>
                            <m:e>
                              <m:d>
                                <m:dPr>
                                  <m:ctrlPr>
                                    <a:rPr lang="en-US" altLang="zh-CN" i="1">
                                      <a:latin typeface="Cambria Math" panose="02040503050406030204" pitchFamily="18" charset="0"/>
                                      <a:cs typeface="Times New Roman" pitchFamily="18" charset="0"/>
                                    </a:rPr>
                                  </m:ctrlPr>
                                </m:dPr>
                                <m:e>
                                  <m:sSub>
                                    <m:sSubPr>
                                      <m:ctrlPr>
                                        <a:rPr lang="en-US" altLang="zh-CN" i="1">
                                          <a:latin typeface="Cambria Math" panose="02040503050406030204" pitchFamily="18" charset="0"/>
                                          <a:cs typeface="Times New Roman" pitchFamily="18" charset="0"/>
                                        </a:rPr>
                                      </m:ctrlPr>
                                    </m:sSubPr>
                                    <m:e>
                                      <m:r>
                                        <a:rPr lang="en-US" altLang="zh-CN" b="1" i="1">
                                          <a:latin typeface="Cambria Math"/>
                                          <a:cs typeface="Times New Roman" pitchFamily="18" charset="0"/>
                                        </a:rPr>
                                        <m:t>𝑫𝒓𝑹𝒂𝒕𝒊𝒐</m:t>
                                      </m:r>
                                    </m:e>
                                    <m:sub>
                                      <m:r>
                                        <a:rPr lang="en-US" altLang="zh-CN" b="1" i="1">
                                          <a:latin typeface="Cambria Math"/>
                                          <a:cs typeface="Times New Roman" pitchFamily="18" charset="0"/>
                                        </a:rPr>
                                        <m:t>𝟏</m:t>
                                      </m:r>
                                    </m:sub>
                                  </m:sSub>
                                  <m:r>
                                    <a:rPr lang="en-US" altLang="zh-CN" b="1" i="1">
                                      <a:latin typeface="Cambria Math"/>
                                      <a:cs typeface="Times New Roman" pitchFamily="18" charset="0"/>
                                    </a:rPr>
                                    <m:t>−</m:t>
                                  </m:r>
                                  <m:sSub>
                                    <m:sSubPr>
                                      <m:ctrlPr>
                                        <a:rPr lang="en-US" altLang="zh-CN" i="1">
                                          <a:latin typeface="Cambria Math" panose="02040503050406030204" pitchFamily="18" charset="0"/>
                                          <a:cs typeface="Times New Roman" pitchFamily="18" charset="0"/>
                                        </a:rPr>
                                      </m:ctrlPr>
                                    </m:sSubPr>
                                    <m:e>
                                      <m:r>
                                        <a:rPr lang="en-US" altLang="zh-CN" b="1" i="1">
                                          <a:latin typeface="Cambria Math"/>
                                          <a:cs typeface="Times New Roman" pitchFamily="18" charset="0"/>
                                        </a:rPr>
                                        <m:t>𝑫𝒓𝑹𝒂𝒕𝒊𝒐</m:t>
                                      </m:r>
                                    </m:e>
                                    <m:sub>
                                      <m:r>
                                        <a:rPr lang="en-US" altLang="zh-CN" b="1" i="1">
                                          <a:latin typeface="Cambria Math"/>
                                          <a:cs typeface="Times New Roman" pitchFamily="18" charset="0"/>
                                        </a:rPr>
                                        <m:t>𝟐</m:t>
                                      </m:r>
                                    </m:sub>
                                  </m:sSub>
                                </m:e>
                              </m:d>
                            </m:e>
                            <m:sup>
                              <m:r>
                                <a:rPr lang="en-US" altLang="zh-CN" b="1" i="1">
                                  <a:latin typeface="Cambria Math"/>
                                  <a:cs typeface="Times New Roman" pitchFamily="18" charset="0"/>
                                </a:rPr>
                                <m:t>𝟐</m:t>
                              </m:r>
                            </m:sup>
                          </m:sSup>
                          <m:r>
                            <a:rPr lang="en-US" altLang="zh-CN" b="1" i="1">
                              <a:latin typeface="Cambria Math"/>
                              <a:cs typeface="Times New Roman" pitchFamily="18" charset="0"/>
                            </a:rPr>
                            <m:t>+</m:t>
                          </m:r>
                          <m:sSup>
                            <m:sSupPr>
                              <m:ctrlPr>
                                <a:rPr lang="en-US" altLang="zh-CN" i="1">
                                  <a:latin typeface="Cambria Math" panose="02040503050406030204" pitchFamily="18" charset="0"/>
                                  <a:cs typeface="Times New Roman" pitchFamily="18" charset="0"/>
                                </a:rPr>
                              </m:ctrlPr>
                            </m:sSupPr>
                            <m:e>
                              <m:d>
                                <m:dPr>
                                  <m:ctrlPr>
                                    <a:rPr lang="en-US" altLang="zh-CN" i="1">
                                      <a:latin typeface="Cambria Math" panose="02040503050406030204" pitchFamily="18" charset="0"/>
                                      <a:cs typeface="Times New Roman" pitchFamily="18" charset="0"/>
                                    </a:rPr>
                                  </m:ctrlPr>
                                </m:dPr>
                                <m:e>
                                  <m:sSub>
                                    <m:sSubPr>
                                      <m:ctrlPr>
                                        <a:rPr lang="en-US" altLang="zh-CN" i="1">
                                          <a:latin typeface="Cambria Math" panose="02040503050406030204" pitchFamily="18" charset="0"/>
                                          <a:cs typeface="Times New Roman" pitchFamily="18" charset="0"/>
                                        </a:rPr>
                                      </m:ctrlPr>
                                    </m:sSubPr>
                                    <m:e>
                                      <m:r>
                                        <a:rPr lang="en-US" altLang="zh-CN" b="1" i="1">
                                          <a:latin typeface="Cambria Math"/>
                                          <a:cs typeface="Times New Roman" pitchFamily="18" charset="0"/>
                                        </a:rPr>
                                        <m:t>𝑯𝑷</m:t>
                                      </m:r>
                                    </m:e>
                                    <m:sub>
                                      <m:r>
                                        <a:rPr lang="en-US" altLang="zh-CN" b="1" i="1">
                                          <a:latin typeface="Cambria Math"/>
                                          <a:cs typeface="Times New Roman" pitchFamily="18" charset="0"/>
                                        </a:rPr>
                                        <m:t>𝟏</m:t>
                                      </m:r>
                                    </m:sub>
                                  </m:sSub>
                                  <m:r>
                                    <a:rPr lang="en-US" altLang="zh-CN" b="1" i="1">
                                      <a:latin typeface="Cambria Math"/>
                                      <a:cs typeface="Times New Roman" pitchFamily="18" charset="0"/>
                                    </a:rPr>
                                    <m:t>−</m:t>
                                  </m:r>
                                  <m:sSub>
                                    <m:sSubPr>
                                      <m:ctrlPr>
                                        <a:rPr lang="en-US" altLang="zh-CN" i="1">
                                          <a:latin typeface="Cambria Math" panose="02040503050406030204" pitchFamily="18" charset="0"/>
                                          <a:cs typeface="Times New Roman" pitchFamily="18" charset="0"/>
                                        </a:rPr>
                                      </m:ctrlPr>
                                    </m:sSubPr>
                                    <m:e>
                                      <m:r>
                                        <a:rPr lang="en-US" altLang="zh-CN" b="1" i="1">
                                          <a:latin typeface="Cambria Math"/>
                                          <a:cs typeface="Times New Roman" pitchFamily="18" charset="0"/>
                                        </a:rPr>
                                        <m:t>𝑯𝑷</m:t>
                                      </m:r>
                                    </m:e>
                                    <m:sub>
                                      <m:r>
                                        <a:rPr lang="en-US" altLang="zh-CN" b="1" i="1">
                                          <a:latin typeface="Cambria Math"/>
                                          <a:cs typeface="Times New Roman" pitchFamily="18" charset="0"/>
                                        </a:rPr>
                                        <m:t>𝟐</m:t>
                                      </m:r>
                                    </m:sub>
                                  </m:sSub>
                                </m:e>
                              </m:d>
                            </m:e>
                            <m:sup>
                              <m:r>
                                <a:rPr lang="en-US" altLang="zh-CN" b="1" i="1">
                                  <a:latin typeface="Cambria Math"/>
                                  <a:cs typeface="Times New Roman" pitchFamily="18" charset="0"/>
                                </a:rPr>
                                <m:t>𝟐</m:t>
                              </m:r>
                            </m:sup>
                          </m:sSup>
                        </m:e>
                      </m:rad>
                    </m:oMath>
                  </m:oMathPara>
                </a14:m>
                <a:endParaRPr lang="zh-CN" altLang="en-US" i="1" dirty="0"/>
              </a:p>
            </p:txBody>
          </p:sp>
        </mc:Choice>
        <mc:Fallback xmlns="">
          <p:sp>
            <p:nvSpPr>
              <p:cNvPr id="4" name="矩形 3"/>
              <p:cNvSpPr>
                <a:spLocks noRot="1" noChangeAspect="1" noMove="1" noResize="1" noEditPoints="1" noAdjustHandles="1" noChangeArrowheads="1" noChangeShapeType="1" noTextEdit="1"/>
              </p:cNvSpPr>
              <p:nvPr/>
            </p:nvSpPr>
            <p:spPr>
              <a:xfrm rot="21365645">
                <a:off x="-142177" y="4938099"/>
                <a:ext cx="9473363" cy="429220"/>
              </a:xfrm>
              <a:prstGeom prst="rect">
                <a:avLst/>
              </a:prstGeom>
              <a:blipFill>
                <a:blip r:embed="rId4"/>
                <a:stretch>
                  <a:fillRect/>
                </a:stretch>
              </a:blipFill>
              <a:ln>
                <a:solidFill>
                  <a:schemeClr val="accent6">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rot="21365645">
                <a:off x="-1064917" y="4917346"/>
                <a:ext cx="11363304" cy="429220"/>
              </a:xfrm>
              <a:prstGeom prst="rect">
                <a:avLst/>
              </a:prstGeom>
              <a:solidFill>
                <a:schemeClr val="accent6">
                  <a:lumMod val="20000"/>
                  <a:lumOff val="80000"/>
                </a:schemeClr>
              </a:solidFill>
              <a:ln>
                <a:solidFill>
                  <a:schemeClr val="accent6">
                    <a:lumMod val="60000"/>
                    <a:lumOff val="40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𝒅𝒊𝒔𝒕</m:t>
                      </m:r>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rad>
                        <m:radPr>
                          <m:degHide m:val="on"/>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radPr>
                        <m:deg/>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𝟎</m:t>
                          </m:r>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r>
                            <a:rPr lang="en-US" altLang="zh-CN" b="1" i="1">
                              <a:solidFill>
                                <a:srgbClr val="C00000"/>
                              </a:solidFill>
                              <a:effectLst>
                                <a:outerShdw blurRad="38100" dist="38100" dir="2700000" algn="tl">
                                  <a:srgbClr val="000000">
                                    <a:alpha val="43137"/>
                                  </a:srgbClr>
                                </a:outerShdw>
                              </a:effectLst>
                              <a:latin typeface="Cambria Math"/>
                              <a:ea typeface="Cambria Math"/>
                              <a:cs typeface="Times New Roman" pitchFamily="18" charset="0"/>
                            </a:rPr>
                            <m:t>×</m:t>
                          </m:r>
                          <m:sSup>
                            <m:sSup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pPr>
                            <m:e>
                              <m:d>
                                <m:d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dPr>
                                <m:e>
                                  <m:sSub>
                                    <m:sSub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b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𝑴𝑮𝑷</m:t>
                                      </m:r>
                                    </m:e>
                                    <m: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𝟏</m:t>
                                      </m:r>
                                    </m:sub>
                                  </m:s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sSub>
                                    <m:sSub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b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𝑴𝑮𝑷</m:t>
                                      </m:r>
                                    </m:e>
                                    <m: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sub>
                                  </m:sSub>
                                </m:e>
                              </m:d>
                            </m:e>
                            <m:sup>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sup>
                          </m:sSup>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sSup>
                            <m:sSup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pPr>
                            <m:e>
                              <m:d>
                                <m:d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dPr>
                                <m:e>
                                  <m:sSub>
                                    <m:sSub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b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𝑪𝒚𝒍</m:t>
                                      </m:r>
                                    </m:e>
                                    <m: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𝟏</m:t>
                                      </m:r>
                                    </m:sub>
                                  </m:s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sSub>
                                    <m:sSub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b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𝑪𝒚𝒍</m:t>
                                      </m:r>
                                    </m:e>
                                    <m: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sub>
                                  </m:sSub>
                                </m:e>
                              </m:d>
                            </m:e>
                            <m:sup>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sup>
                          </m:sSup>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sSup>
                            <m:sSup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p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𝟎</m:t>
                              </m:r>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𝟑</m:t>
                              </m:r>
                              <m:r>
                                <a:rPr lang="en-US" altLang="zh-CN" b="1" i="1">
                                  <a:solidFill>
                                    <a:srgbClr val="C00000"/>
                                  </a:solidFill>
                                  <a:effectLst>
                                    <a:outerShdw blurRad="38100" dist="38100" dir="2700000" algn="tl">
                                      <a:srgbClr val="000000">
                                        <a:alpha val="43137"/>
                                      </a:srgbClr>
                                    </a:outerShdw>
                                  </a:effectLst>
                                  <a:latin typeface="Cambria Math"/>
                                  <a:ea typeface="Cambria Math"/>
                                  <a:cs typeface="Times New Roman" pitchFamily="18" charset="0"/>
                                </a:rPr>
                                <m:t>×</m:t>
                              </m:r>
                              <m:d>
                                <m:d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dPr>
                                <m:e>
                                  <m:sSub>
                                    <m:sSub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b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𝑫𝒓𝑹𝒂𝒕𝒊𝒐</m:t>
                                      </m:r>
                                    </m:e>
                                    <m: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𝟏</m:t>
                                      </m:r>
                                    </m:sub>
                                  </m:s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sSub>
                                    <m:sSub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b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𝑫𝒓𝑹𝒂𝒕𝒊𝒐</m:t>
                                      </m:r>
                                    </m:e>
                                    <m: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sub>
                                  </m:sSub>
                                </m:e>
                              </m:d>
                            </m:e>
                            <m:sup>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sup>
                          </m:sSup>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𝟎</m:t>
                          </m:r>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𝟓</m:t>
                          </m:r>
                          <m:r>
                            <a:rPr lang="zh-CN" altLang="en-US" i="1">
                              <a:solidFill>
                                <a:srgbClr val="C00000"/>
                              </a:solidFill>
                              <a:effectLst>
                                <a:outerShdw blurRad="38100" dist="38100" dir="2700000" algn="tl">
                                  <a:srgbClr val="000000">
                                    <a:alpha val="43137"/>
                                  </a:srgbClr>
                                </a:outerShdw>
                              </a:effectLst>
                              <a:latin typeface="Cambria Math"/>
                              <a:cs typeface="Times New Roman" pitchFamily="18" charset="0"/>
                            </a:rPr>
                            <m:t>×</m:t>
                          </m:r>
                          <m:sSup>
                            <m:sSup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pPr>
                            <m:e>
                              <m:d>
                                <m:d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dPr>
                                <m:e>
                                  <m:sSub>
                                    <m:sSub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b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𝑯𝑷</m:t>
                                      </m:r>
                                    </m:e>
                                    <m: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𝟏</m:t>
                                      </m:r>
                                    </m:sub>
                                  </m:s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m:t>
                                  </m:r>
                                  <m:sSub>
                                    <m:sSubPr>
                                      <m:ctrlPr>
                                        <a:rPr lang="en-US" altLang="zh-CN"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itchFamily="18" charset="0"/>
                                        </a:rPr>
                                      </m:ctrlPr>
                                    </m:sSubPr>
                                    <m:e>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𝑯𝑷</m:t>
                                      </m:r>
                                    </m:e>
                                    <m:sub>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sub>
                                  </m:sSub>
                                </m:e>
                              </m:d>
                            </m:e>
                            <m:sup>
                              <m:r>
                                <a:rPr lang="en-US" altLang="zh-CN" b="1" i="1">
                                  <a:solidFill>
                                    <a:srgbClr val="C00000"/>
                                  </a:solidFill>
                                  <a:effectLst>
                                    <a:outerShdw blurRad="38100" dist="38100" dir="2700000" algn="tl">
                                      <a:srgbClr val="000000">
                                        <a:alpha val="43137"/>
                                      </a:srgbClr>
                                    </a:outerShdw>
                                  </a:effectLst>
                                  <a:latin typeface="Cambria Math"/>
                                  <a:cs typeface="Times New Roman" pitchFamily="18" charset="0"/>
                                </a:rPr>
                                <m:t>𝟐</m:t>
                              </m:r>
                            </m:sup>
                          </m:sSup>
                        </m:e>
                      </m:rad>
                    </m:oMath>
                  </m:oMathPara>
                </a14:m>
                <a:endParaRPr lang="zh-CN" altLang="en-US" i="1" dirty="0">
                  <a:solidFill>
                    <a:srgbClr val="C00000"/>
                  </a:solidFill>
                  <a:effectLst>
                    <a:outerShdw blurRad="38100" dist="38100" dir="2700000" algn="tl">
                      <a:srgbClr val="000000">
                        <a:alpha val="43137"/>
                      </a:srgbClr>
                    </a:outerShdw>
                  </a:effectLst>
                </a:endParaRPr>
              </a:p>
            </p:txBody>
          </p:sp>
        </mc:Choice>
        <mc:Fallback xmlns="">
          <p:sp>
            <p:nvSpPr>
              <p:cNvPr id="8" name="矩形 7"/>
              <p:cNvSpPr>
                <a:spLocks noRot="1" noChangeAspect="1" noMove="1" noResize="1" noEditPoints="1" noAdjustHandles="1" noChangeArrowheads="1" noChangeShapeType="1" noTextEdit="1"/>
              </p:cNvSpPr>
              <p:nvPr/>
            </p:nvSpPr>
            <p:spPr>
              <a:xfrm rot="21365645">
                <a:off x="-1064917" y="4917346"/>
                <a:ext cx="11363304" cy="429220"/>
              </a:xfrm>
              <a:prstGeom prst="rect">
                <a:avLst/>
              </a:prstGeom>
              <a:blipFill>
                <a:blip r:embed="rId5"/>
                <a:stretch>
                  <a:fillRect/>
                </a:stretch>
              </a:blipFill>
              <a:ln>
                <a:solidFill>
                  <a:schemeClr val="accent6">
                    <a:lumMod val="60000"/>
                    <a:lumOff val="4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388309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10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mph" presetSubtype="0" nodeType="clickEffect">
                                  <p:stCondLst>
                                    <p:cond delay="0"/>
                                  </p:stCondLst>
                                  <p:childTnLst>
                                    <p:set>
                                      <p:cBhvr rctx="PPT">
                                        <p:cTn id="16" dur="indefinite"/>
                                        <p:tgtEl>
                                          <p:spTgt spid="1026"/>
                                        </p:tgtEl>
                                        <p:attrNameLst>
                                          <p:attrName>style.opacity</p:attrName>
                                        </p:attrNameLst>
                                      </p:cBhvr>
                                      <p:to>
                                        <p:strVal val="0.25"/>
                                      </p:to>
                                    </p:set>
                                    <p:animEffect filter="image" prLst="opacity: 0.25">
                                      <p:cBhvr rctx="IE">
                                        <p:cTn id="17" dur="indefinite"/>
                                        <p:tgtEl>
                                          <p:spTgt spid="10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4"/>
                                        </p:tgtEl>
                                      </p:cBhvr>
                                    </p:animEffect>
                                    <p:set>
                                      <p:cBhvr>
                                        <p:cTn id="25" dur="1" fill="hold">
                                          <p:stCondLst>
                                            <p:cond delay="499"/>
                                          </p:stCondLst>
                                        </p:cTn>
                                        <p:tgtEl>
                                          <p:spTgt spid="4"/>
                                        </p:tgtEl>
                                        <p:attrNameLst>
                                          <p:attrName>style.visibility</p:attrName>
                                        </p:attrNameLst>
                                      </p:cBhvr>
                                      <p:to>
                                        <p:strVal val="hidden"/>
                                      </p:to>
                                    </p:se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4" grpId="0" animBg="1"/>
      <p:bldP spid="4" grpId="1"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itchFamily="18" charset="0"/>
                <a:cs typeface="Times New Roman" pitchFamily="18" charset="0"/>
              </a:rPr>
              <a:t>应用要点</a:t>
            </a:r>
            <a:endParaRPr lang="zh-CN" altLang="en-US" dirty="0"/>
          </a:p>
        </p:txBody>
      </p:sp>
      <p:sp>
        <p:nvSpPr>
          <p:cNvPr id="3" name="内容占位符 2"/>
          <p:cNvSpPr>
            <a:spLocks noGrp="1"/>
          </p:cNvSpPr>
          <p:nvPr>
            <p:ph idx="1"/>
          </p:nvPr>
        </p:nvSpPr>
        <p:spPr/>
        <p:txBody>
          <a:bodyPr/>
          <a:lstStyle/>
          <a:p>
            <a:r>
              <a:rPr lang="zh-CN" altLang="zh-CN" dirty="0">
                <a:cs typeface="Times New Roman" pitchFamily="18" charset="0"/>
              </a:rPr>
              <a:t>在考虑这些因素的情况下，</a:t>
            </a:r>
            <a:r>
              <a:rPr lang="en-US" altLang="zh-CN" dirty="0">
                <a:cs typeface="Times New Roman" pitchFamily="18" charset="0"/>
              </a:rPr>
              <a:t>K-Means</a:t>
            </a:r>
            <a:r>
              <a:rPr lang="zh-CN" altLang="zh-CN" dirty="0">
                <a:cs typeface="Times New Roman" pitchFamily="18" charset="0"/>
              </a:rPr>
              <a:t>聚类算法往往会非常复杂且运算开销巨大</a:t>
            </a:r>
            <a:endParaRPr lang="en-US" altLang="zh-CN" dirty="0">
              <a:cs typeface="Times New Roman" pitchFamily="18" charset="0"/>
            </a:endParaRPr>
          </a:p>
          <a:p>
            <a:r>
              <a:rPr lang="zh-CN" altLang="en-US" dirty="0">
                <a:cs typeface="Times New Roman" pitchFamily="18" charset="0"/>
              </a:rPr>
              <a:t>需要领域、行业、业务方面的知识</a:t>
            </a:r>
            <a:endParaRPr lang="zh-CN" altLang="zh-CN" dirty="0">
              <a:cs typeface="Times New Roman" pitchFamily="18" charset="0"/>
            </a:endParaRPr>
          </a:p>
          <a:p>
            <a:endParaRPr lang="zh-CN" altLang="en-US" dirty="0">
              <a:cs typeface="Times New Roman" pitchFamily="18" charset="0"/>
            </a:endParaRPr>
          </a:p>
          <a:p>
            <a:endParaRPr lang="zh-CN" altLang="en-US" dirty="0"/>
          </a:p>
        </p:txBody>
      </p:sp>
      <p:sp>
        <p:nvSpPr>
          <p:cNvPr id="4" name="灯片编号占位符 3"/>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28</a:t>
            </a:fld>
            <a:endParaRPr kumimoji="0" lang="en-US"/>
          </a:p>
        </p:txBody>
      </p:sp>
    </p:spTree>
    <p:extLst>
      <p:ext uri="{BB962C8B-B14F-4D97-AF65-F5344CB8AC3E}">
        <p14:creationId xmlns:p14="http://schemas.microsoft.com/office/powerpoint/2010/main" val="1862041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基本算法过程</a:t>
            </a:r>
          </a:p>
        </p:txBody>
      </p:sp>
      <p:sp>
        <p:nvSpPr>
          <p:cNvPr id="19" name="灯片编号占位符 1"/>
          <p:cNvSpPr>
            <a:spLocks noGrp="1"/>
          </p:cNvSpPr>
          <p:nvPr>
            <p:ph type="sldNum" sz="quarter" idx="12"/>
          </p:nvPr>
        </p:nvSpPr>
        <p:spPr/>
        <p:txBody>
          <a:bodyPr/>
          <a:lstStyle/>
          <a:p>
            <a:fld id="{6435AE0B-8C6B-4385-9ECF-079FDFACE1FC}" type="slidenum">
              <a:rPr lang="en-US" altLang="zh-CN" smtClean="0">
                <a:ea typeface="华文细黑" pitchFamily="2" charset="-122"/>
              </a:rPr>
              <a:pPr/>
              <a:t>29</a:t>
            </a:fld>
            <a:endParaRPr lang="en-US" altLang="zh-CN" dirty="0">
              <a:ea typeface="华文细黑" pitchFamily="2" charset="-122"/>
            </a:endParaRPr>
          </a:p>
        </p:txBody>
      </p:sp>
      <p:sp>
        <p:nvSpPr>
          <p:cNvPr id="5" name="矩形 4"/>
          <p:cNvSpPr/>
          <p:nvPr/>
        </p:nvSpPr>
        <p:spPr>
          <a:xfrm>
            <a:off x="2438000" y="3970150"/>
            <a:ext cx="6426600" cy="907941"/>
          </a:xfrm>
          <a:prstGeom prst="rect">
            <a:avLst/>
          </a:prstGeom>
        </p:spPr>
        <p:txBody>
          <a:bodyPr wrap="square">
            <a:spAutoFit/>
          </a:bodyPr>
          <a:lstStyle/>
          <a:p>
            <a:pPr>
              <a:lnSpc>
                <a:spcPct val="120000"/>
              </a:lnSpc>
              <a:spcAft>
                <a:spcPts val="600"/>
              </a:spcAft>
            </a:pPr>
            <a:r>
              <a:rPr lang="zh-CN" altLang="zh-CN" sz="2000" dirty="0">
                <a:latin typeface="Times New Roman" pitchFamily="18" charset="0"/>
                <a:ea typeface="华文细黑" pitchFamily="2" charset="-122"/>
                <a:cs typeface="Times New Roman" pitchFamily="18" charset="0"/>
              </a:rPr>
              <a:t>选择适当的初始质心是基本</a:t>
            </a:r>
            <a:r>
              <a:rPr lang="en-US" altLang="zh-CN" sz="2000" i="1" dirty="0">
                <a:latin typeface="Times New Roman" pitchFamily="18" charset="0"/>
                <a:ea typeface="华文细黑" pitchFamily="2" charset="-122"/>
                <a:cs typeface="Times New Roman" pitchFamily="18" charset="0"/>
              </a:rPr>
              <a:t>K-Means</a:t>
            </a:r>
            <a:r>
              <a:rPr lang="zh-CN" altLang="zh-CN" sz="2000" dirty="0">
                <a:latin typeface="Times New Roman" pitchFamily="18" charset="0"/>
                <a:ea typeface="华文细黑" pitchFamily="2" charset="-122"/>
                <a:cs typeface="Times New Roman" pitchFamily="18" charset="0"/>
              </a:rPr>
              <a:t>算法的关键步骤。</a:t>
            </a:r>
            <a:endParaRPr lang="en-US" altLang="zh-CN" sz="2000" dirty="0">
              <a:latin typeface="Times New Roman" pitchFamily="18" charset="0"/>
              <a:ea typeface="华文细黑" pitchFamily="2" charset="-122"/>
              <a:cs typeface="Times New Roman" pitchFamily="18" charset="0"/>
            </a:endParaRPr>
          </a:p>
          <a:p>
            <a:pPr>
              <a:lnSpc>
                <a:spcPct val="120000"/>
              </a:lnSpc>
              <a:spcAft>
                <a:spcPts val="600"/>
              </a:spcAft>
            </a:pPr>
            <a:r>
              <a:rPr lang="zh-CN" altLang="zh-CN" sz="2000" dirty="0">
                <a:latin typeface="Times New Roman" pitchFamily="18" charset="0"/>
                <a:ea typeface="华文细黑" pitchFamily="2" charset="-122"/>
                <a:cs typeface="Times New Roman" pitchFamily="18" charset="0"/>
              </a:rPr>
              <a:t>选择不同的质心，聚类的结果也有所不同。</a:t>
            </a:r>
          </a:p>
        </p:txBody>
      </p:sp>
      <p:sp>
        <p:nvSpPr>
          <p:cNvPr id="11" name="TextBox 10"/>
          <p:cNvSpPr txBox="1"/>
          <p:nvPr/>
        </p:nvSpPr>
        <p:spPr>
          <a:xfrm rot="21288056">
            <a:off x="2008041" y="5254525"/>
            <a:ext cx="2736000" cy="400110"/>
          </a:xfrm>
          <a:prstGeom prst="rect">
            <a:avLst/>
          </a:prstGeom>
          <a:noFill/>
        </p:spPr>
        <p:txBody>
          <a:bodyPr wrap="square" rtlCol="0">
            <a:spAutoFit/>
          </a:bodyPr>
          <a:lstStyle/>
          <a:p>
            <a:r>
              <a:rPr lang="zh-CN" altLang="en-US" sz="2000" dirty="0">
                <a:solidFill>
                  <a:srgbClr val="C00000"/>
                </a:solidFill>
                <a:latin typeface="幼圆" pitchFamily="49" charset="-122"/>
                <a:ea typeface="幼圆" pitchFamily="49" charset="-122"/>
              </a:rPr>
              <a:t> 如何选择初始质心？</a:t>
            </a:r>
          </a:p>
        </p:txBody>
      </p:sp>
      <p:pic>
        <p:nvPicPr>
          <p:cNvPr id="12" name="Picture 4" descr="http://p3.so.qhmsg.com/bdr/_240_/t01047bfb8da3060813.jpg"/>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61773" t="15209" b="6666"/>
          <a:stretch/>
        </p:blipFill>
        <p:spPr bwMode="auto">
          <a:xfrm>
            <a:off x="1524001" y="5199460"/>
            <a:ext cx="657225" cy="7441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p:nvGraphicFramePr>
        <p:xfrm>
          <a:off x="609600" y="1647660"/>
          <a:ext cx="4968000" cy="1857540"/>
        </p:xfrm>
        <a:graphic>
          <a:graphicData uri="http://schemas.openxmlformats.org/drawingml/2006/table">
            <a:tbl>
              <a:tblPr bandRow="1">
                <a:tableStyleId>{0E3FDE45-AF77-4B5C-9715-49D594BDF05E}</a:tableStyleId>
              </a:tblPr>
              <a:tblGrid>
                <a:gridCol w="306015">
                  <a:extLst>
                    <a:ext uri="{9D8B030D-6E8A-4147-A177-3AD203B41FA5}">
                      <a16:colId xmlns:a16="http://schemas.microsoft.com/office/drawing/2014/main" val="20000"/>
                    </a:ext>
                  </a:extLst>
                </a:gridCol>
                <a:gridCol w="4661985">
                  <a:extLst>
                    <a:ext uri="{9D8B030D-6E8A-4147-A177-3AD203B41FA5}">
                      <a16:colId xmlns:a16="http://schemas.microsoft.com/office/drawing/2014/main" val="20001"/>
                    </a:ext>
                  </a:extLst>
                </a:gridCol>
              </a:tblGrid>
              <a:tr h="418675">
                <a:tc gridSpan="2">
                  <a:txBody>
                    <a:bodyPr/>
                    <a:lstStyle/>
                    <a:p>
                      <a:pPr algn="just">
                        <a:spcAft>
                          <a:spcPts val="0"/>
                        </a:spcAft>
                      </a:pPr>
                      <a:r>
                        <a:rPr lang="en-US" altLang="zh-CN" sz="1800" kern="100" dirty="0">
                          <a:effectLst/>
                          <a:latin typeface="Times New Roman" pitchFamily="18" charset="0"/>
                          <a:ea typeface="华文细黑" pitchFamily="2" charset="-122"/>
                          <a:cs typeface="Times New Roman" pitchFamily="18" charset="0"/>
                        </a:rPr>
                        <a:t>【</a:t>
                      </a:r>
                      <a:r>
                        <a:rPr lang="zh-CN" altLang="en-US" sz="1800" kern="100" dirty="0">
                          <a:effectLst/>
                          <a:latin typeface="Times New Roman" pitchFamily="18" charset="0"/>
                          <a:ea typeface="华文细黑" pitchFamily="2" charset="-122"/>
                          <a:cs typeface="Times New Roman" pitchFamily="18" charset="0"/>
                        </a:rPr>
                        <a:t>算法</a:t>
                      </a:r>
                      <a:r>
                        <a:rPr lang="en-US" altLang="zh-CN" sz="1800" kern="100" dirty="0">
                          <a:effectLst/>
                          <a:latin typeface="Times New Roman" pitchFamily="18" charset="0"/>
                          <a:ea typeface="华文细黑" pitchFamily="2" charset="-122"/>
                          <a:cs typeface="Times New Roman" pitchFamily="18" charset="0"/>
                        </a:rPr>
                        <a:t>】K-means</a:t>
                      </a:r>
                      <a:r>
                        <a:rPr lang="zh-CN" altLang="en-US" sz="1800" kern="100" dirty="0">
                          <a:effectLst/>
                          <a:latin typeface="Times New Roman" pitchFamily="18" charset="0"/>
                          <a:ea typeface="华文细黑" pitchFamily="2" charset="-122"/>
                          <a:cs typeface="Times New Roman" pitchFamily="18" charset="0"/>
                        </a:rPr>
                        <a:t>聚类算法</a:t>
                      </a:r>
                    </a:p>
                  </a:txBody>
                  <a:tcPr marL="68580" marR="68580" marT="0" marB="0" anchor="ctr">
                    <a:lnB w="12700" cap="flat" cmpd="sng" algn="ctr">
                      <a:solidFill>
                        <a:schemeClr val="tx1"/>
                      </a:solidFill>
                      <a:prstDash val="solid"/>
                      <a:round/>
                      <a:headEnd type="none" w="med" len="med"/>
                      <a:tailEnd type="none" w="med" len="med"/>
                    </a:lnB>
                  </a:tcPr>
                </a:tc>
                <a:tc hMerge="1">
                  <a:txBody>
                    <a:bodyPr/>
                    <a:lstStyle/>
                    <a:p>
                      <a:pPr algn="just">
                        <a:spcAft>
                          <a:spcPts val="0"/>
                        </a:spcAft>
                      </a:pPr>
                      <a:endParaRPr lang="zh-CN" sz="2000" kern="100" dirty="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0"/>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1</a:t>
                      </a:r>
                      <a:r>
                        <a:rPr lang="zh-CN" sz="1800" kern="100">
                          <a:effectLst/>
                          <a:latin typeface="Times New Roman" pitchFamily="18" charset="0"/>
                          <a:ea typeface="华文细黑" pitchFamily="2" charset="-122"/>
                          <a:cs typeface="Times New Roman" pitchFamily="18" charset="0"/>
                        </a:rPr>
                        <a:t>：</a:t>
                      </a:r>
                    </a:p>
                  </a:txBody>
                  <a:tcPr marL="68580" marR="68580" marT="0" marB="0">
                    <a:lnT w="12700" cap="flat" cmpd="sng" algn="ctr">
                      <a:solidFill>
                        <a:schemeClr val="tx1"/>
                      </a:solidFill>
                      <a:prstDash val="solid"/>
                      <a:round/>
                      <a:headEnd type="none" w="med" len="med"/>
                      <a:tailEnd type="none" w="med" len="med"/>
                    </a:lnT>
                  </a:tcPr>
                </a:tc>
                <a:tc>
                  <a:txBody>
                    <a:bodyPr/>
                    <a:lstStyle/>
                    <a:p>
                      <a:pPr algn="just">
                        <a:spcAft>
                          <a:spcPts val="0"/>
                        </a:spcAft>
                      </a:pPr>
                      <a:r>
                        <a:rPr lang="zh-CN" sz="1800" kern="100" dirty="0">
                          <a:effectLst/>
                          <a:latin typeface="Times New Roman" pitchFamily="18" charset="0"/>
                          <a:ea typeface="华文细黑" pitchFamily="2" charset="-122"/>
                          <a:cs typeface="Times New Roman" pitchFamily="18" charset="0"/>
                        </a:rPr>
                        <a:t>选择</a:t>
                      </a:r>
                      <a:r>
                        <a:rPr lang="en-US" sz="1800" kern="100" dirty="0">
                          <a:effectLst/>
                          <a:latin typeface="Times New Roman" pitchFamily="18" charset="0"/>
                          <a:ea typeface="华文细黑" pitchFamily="2" charset="-122"/>
                          <a:cs typeface="Times New Roman" pitchFamily="18" charset="0"/>
                        </a:rPr>
                        <a:t>k</a:t>
                      </a:r>
                      <a:r>
                        <a:rPr lang="zh-CN" sz="1800" kern="100" dirty="0">
                          <a:effectLst/>
                          <a:latin typeface="Times New Roman" pitchFamily="18" charset="0"/>
                          <a:ea typeface="华文细黑" pitchFamily="2" charset="-122"/>
                          <a:cs typeface="Times New Roman" pitchFamily="18" charset="0"/>
                        </a:rPr>
                        <a:t>个点作为初始的质心</a:t>
                      </a: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2</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repeat</a:t>
                      </a:r>
                      <a:endParaRPr lang="zh-CN" sz="1800" kern="10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2"/>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3</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将每个点指派到最近的质心，形成</a:t>
                      </a:r>
                      <a:r>
                        <a:rPr lang="en-US" sz="1800" kern="100">
                          <a:effectLst/>
                          <a:latin typeface="Times New Roman" pitchFamily="18" charset="0"/>
                          <a:ea typeface="华文细黑" pitchFamily="2" charset="-122"/>
                          <a:cs typeface="Times New Roman" pitchFamily="18" charset="0"/>
                        </a:rPr>
                        <a:t>k</a:t>
                      </a:r>
                      <a:r>
                        <a:rPr lang="zh-CN" sz="1800" kern="100">
                          <a:effectLst/>
                          <a:latin typeface="Times New Roman" pitchFamily="18" charset="0"/>
                          <a:ea typeface="华文细黑" pitchFamily="2" charset="-122"/>
                          <a:cs typeface="Times New Roman" pitchFamily="18" charset="0"/>
                        </a:rPr>
                        <a:t>个簇</a:t>
                      </a:r>
                    </a:p>
                  </a:txBody>
                  <a:tcPr marL="68580" marR="68580" marT="0" marB="0"/>
                </a:tc>
                <a:extLst>
                  <a:ext uri="{0D108BD9-81ED-4DB2-BD59-A6C34878D82A}">
                    <a16:rowId xmlns:a16="http://schemas.microsoft.com/office/drawing/2014/main" val="10003"/>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4</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重新计算每个簇的质心</a:t>
                      </a:r>
                    </a:p>
                  </a:txBody>
                  <a:tcPr marL="68580" marR="68580" marT="0" marB="0"/>
                </a:tc>
                <a:extLst>
                  <a:ext uri="{0D108BD9-81ED-4DB2-BD59-A6C34878D82A}">
                    <a16:rowId xmlns:a16="http://schemas.microsoft.com/office/drawing/2014/main" val="10004"/>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5</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dirty="0">
                          <a:effectLst/>
                          <a:latin typeface="Times New Roman" pitchFamily="18" charset="0"/>
                          <a:ea typeface="华文细黑" pitchFamily="2" charset="-122"/>
                          <a:cs typeface="Times New Roman" pitchFamily="18" charset="0"/>
                        </a:rPr>
                        <a:t>until</a:t>
                      </a:r>
                      <a:r>
                        <a:rPr lang="zh-CN" sz="1800" kern="100" dirty="0">
                          <a:effectLst/>
                          <a:latin typeface="Times New Roman" pitchFamily="18" charset="0"/>
                          <a:ea typeface="华文细黑" pitchFamily="2" charset="-122"/>
                          <a:cs typeface="Times New Roman" pitchFamily="18" charset="0"/>
                        </a:rPr>
                        <a:t>质心不发生变化</a:t>
                      </a:r>
                    </a:p>
                  </a:txBody>
                  <a:tcPr marL="68580" marR="68580" marT="0" marB="0"/>
                </a:tc>
                <a:extLst>
                  <a:ext uri="{0D108BD9-81ED-4DB2-BD59-A6C34878D82A}">
                    <a16:rowId xmlns:a16="http://schemas.microsoft.com/office/drawing/2014/main" val="10005"/>
                  </a:ext>
                </a:extLst>
              </a:tr>
            </a:tbl>
          </a:graphicData>
        </a:graphic>
      </p:graphicFrame>
      <p:cxnSp>
        <p:nvCxnSpPr>
          <p:cNvPr id="4" name="直接连接符 3"/>
          <p:cNvCxnSpPr/>
          <p:nvPr/>
        </p:nvCxnSpPr>
        <p:spPr>
          <a:xfrm>
            <a:off x="990600" y="2362200"/>
            <a:ext cx="2592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91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基本算法过程</a:t>
            </a:r>
          </a:p>
        </p:txBody>
      </p:sp>
      <p:sp>
        <p:nvSpPr>
          <p:cNvPr id="7" name="矩形 6"/>
          <p:cNvSpPr/>
          <p:nvPr/>
        </p:nvSpPr>
        <p:spPr>
          <a:xfrm>
            <a:off x="285991" y="3733800"/>
            <a:ext cx="2634936"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华文细黑" pitchFamily="2" charset="-122"/>
                <a:ea typeface="华文细黑" pitchFamily="2" charset="-122"/>
                <a:cs typeface="Times New Roman" pitchFamily="18" charset="0"/>
              </a:rPr>
              <a:t>1. </a:t>
            </a:r>
            <a:r>
              <a:rPr lang="zh-CN" altLang="zh-CN" sz="2000" dirty="0">
                <a:latin typeface="华文细黑" pitchFamily="2" charset="-122"/>
                <a:ea typeface="华文细黑" pitchFamily="2" charset="-122"/>
                <a:cs typeface="Times New Roman" pitchFamily="18" charset="0"/>
              </a:rPr>
              <a:t>随机选择质心</a:t>
            </a:r>
          </a:p>
        </p:txBody>
      </p:sp>
      <p:graphicFrame>
        <p:nvGraphicFramePr>
          <p:cNvPr id="6" name="表格 5"/>
          <p:cNvGraphicFramePr>
            <a:graphicFrameLocks noGrp="1"/>
          </p:cNvGraphicFramePr>
          <p:nvPr/>
        </p:nvGraphicFramePr>
        <p:xfrm>
          <a:off x="609600" y="1647660"/>
          <a:ext cx="4968000" cy="1857540"/>
        </p:xfrm>
        <a:graphic>
          <a:graphicData uri="http://schemas.openxmlformats.org/drawingml/2006/table">
            <a:tbl>
              <a:tblPr bandRow="1">
                <a:tableStyleId>{0E3FDE45-AF77-4B5C-9715-49D594BDF05E}</a:tableStyleId>
              </a:tblPr>
              <a:tblGrid>
                <a:gridCol w="306015">
                  <a:extLst>
                    <a:ext uri="{9D8B030D-6E8A-4147-A177-3AD203B41FA5}">
                      <a16:colId xmlns:a16="http://schemas.microsoft.com/office/drawing/2014/main" val="20000"/>
                    </a:ext>
                  </a:extLst>
                </a:gridCol>
                <a:gridCol w="4661985">
                  <a:extLst>
                    <a:ext uri="{9D8B030D-6E8A-4147-A177-3AD203B41FA5}">
                      <a16:colId xmlns:a16="http://schemas.microsoft.com/office/drawing/2014/main" val="20001"/>
                    </a:ext>
                  </a:extLst>
                </a:gridCol>
              </a:tblGrid>
              <a:tr h="418675">
                <a:tc gridSpan="2">
                  <a:txBody>
                    <a:bodyPr/>
                    <a:lstStyle/>
                    <a:p>
                      <a:pPr algn="just">
                        <a:spcAft>
                          <a:spcPts val="0"/>
                        </a:spcAft>
                      </a:pPr>
                      <a:r>
                        <a:rPr lang="en-US" altLang="zh-CN" sz="1800" kern="100" dirty="0">
                          <a:effectLst/>
                          <a:latin typeface="Times New Roman" pitchFamily="18" charset="0"/>
                          <a:ea typeface="华文细黑" pitchFamily="2" charset="-122"/>
                          <a:cs typeface="Times New Roman" pitchFamily="18" charset="0"/>
                        </a:rPr>
                        <a:t>【</a:t>
                      </a:r>
                      <a:r>
                        <a:rPr lang="zh-CN" altLang="en-US" sz="1800" kern="100" dirty="0">
                          <a:effectLst/>
                          <a:latin typeface="Times New Roman" pitchFamily="18" charset="0"/>
                          <a:ea typeface="华文细黑" pitchFamily="2" charset="-122"/>
                          <a:cs typeface="Times New Roman" pitchFamily="18" charset="0"/>
                        </a:rPr>
                        <a:t>算法</a:t>
                      </a:r>
                      <a:r>
                        <a:rPr lang="en-US" altLang="zh-CN" sz="1800" kern="100" dirty="0">
                          <a:effectLst/>
                          <a:latin typeface="Times New Roman" pitchFamily="18" charset="0"/>
                          <a:ea typeface="华文细黑" pitchFamily="2" charset="-122"/>
                          <a:cs typeface="Times New Roman" pitchFamily="18" charset="0"/>
                        </a:rPr>
                        <a:t>】K-means</a:t>
                      </a:r>
                      <a:r>
                        <a:rPr lang="zh-CN" altLang="en-US" sz="1800" kern="100" dirty="0">
                          <a:effectLst/>
                          <a:latin typeface="Times New Roman" pitchFamily="18" charset="0"/>
                          <a:ea typeface="华文细黑" pitchFamily="2" charset="-122"/>
                          <a:cs typeface="Times New Roman" pitchFamily="18" charset="0"/>
                        </a:rPr>
                        <a:t>聚类算法</a:t>
                      </a:r>
                    </a:p>
                  </a:txBody>
                  <a:tcPr marL="68580" marR="68580" marT="0" marB="0" anchor="ctr">
                    <a:lnB w="12700" cap="flat" cmpd="sng" algn="ctr">
                      <a:solidFill>
                        <a:schemeClr val="tx1"/>
                      </a:solidFill>
                      <a:prstDash val="solid"/>
                      <a:round/>
                      <a:headEnd type="none" w="med" len="med"/>
                      <a:tailEnd type="none" w="med" len="med"/>
                    </a:lnB>
                  </a:tcPr>
                </a:tc>
                <a:tc hMerge="1">
                  <a:txBody>
                    <a:bodyPr/>
                    <a:lstStyle/>
                    <a:p>
                      <a:pPr algn="just">
                        <a:spcAft>
                          <a:spcPts val="0"/>
                        </a:spcAft>
                      </a:pPr>
                      <a:endParaRPr lang="zh-CN" sz="2000" kern="100" dirty="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0"/>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1</a:t>
                      </a:r>
                      <a:r>
                        <a:rPr lang="zh-CN" sz="1800" kern="100">
                          <a:effectLst/>
                          <a:latin typeface="Times New Roman" pitchFamily="18" charset="0"/>
                          <a:ea typeface="华文细黑" pitchFamily="2" charset="-122"/>
                          <a:cs typeface="Times New Roman" pitchFamily="18" charset="0"/>
                        </a:rPr>
                        <a:t>：</a:t>
                      </a:r>
                    </a:p>
                  </a:txBody>
                  <a:tcPr marL="68580" marR="68580" marT="0" marB="0">
                    <a:lnT w="12700" cap="flat" cmpd="sng" algn="ctr">
                      <a:solidFill>
                        <a:schemeClr val="tx1"/>
                      </a:solidFill>
                      <a:prstDash val="solid"/>
                      <a:round/>
                      <a:headEnd type="none" w="med" len="med"/>
                      <a:tailEnd type="none" w="med" len="med"/>
                    </a:lnT>
                  </a:tcPr>
                </a:tc>
                <a:tc>
                  <a:txBody>
                    <a:bodyPr/>
                    <a:lstStyle/>
                    <a:p>
                      <a:pPr algn="just">
                        <a:spcAft>
                          <a:spcPts val="0"/>
                        </a:spcAft>
                      </a:pPr>
                      <a:r>
                        <a:rPr lang="zh-CN" sz="1800" kern="100" dirty="0">
                          <a:effectLst/>
                          <a:latin typeface="Times New Roman" pitchFamily="18" charset="0"/>
                          <a:ea typeface="华文细黑" pitchFamily="2" charset="-122"/>
                          <a:cs typeface="Times New Roman" pitchFamily="18" charset="0"/>
                        </a:rPr>
                        <a:t>选择</a:t>
                      </a:r>
                      <a:r>
                        <a:rPr lang="en-US" sz="1800" kern="100" dirty="0">
                          <a:effectLst/>
                          <a:latin typeface="Times New Roman" pitchFamily="18" charset="0"/>
                          <a:ea typeface="华文细黑" pitchFamily="2" charset="-122"/>
                          <a:cs typeface="Times New Roman" pitchFamily="18" charset="0"/>
                        </a:rPr>
                        <a:t>k</a:t>
                      </a:r>
                      <a:r>
                        <a:rPr lang="zh-CN" sz="1800" kern="100" dirty="0">
                          <a:effectLst/>
                          <a:latin typeface="Times New Roman" pitchFamily="18" charset="0"/>
                          <a:ea typeface="华文细黑" pitchFamily="2" charset="-122"/>
                          <a:cs typeface="Times New Roman" pitchFamily="18" charset="0"/>
                        </a:rPr>
                        <a:t>个点作为初始的质心</a:t>
                      </a: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2</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repeat</a:t>
                      </a:r>
                      <a:endParaRPr lang="zh-CN" sz="1800" kern="10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2"/>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3</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将每个点指派到最近的质心，形成</a:t>
                      </a:r>
                      <a:r>
                        <a:rPr lang="en-US" sz="1800" kern="100">
                          <a:effectLst/>
                          <a:latin typeface="Times New Roman" pitchFamily="18" charset="0"/>
                          <a:ea typeface="华文细黑" pitchFamily="2" charset="-122"/>
                          <a:cs typeface="Times New Roman" pitchFamily="18" charset="0"/>
                        </a:rPr>
                        <a:t>k</a:t>
                      </a:r>
                      <a:r>
                        <a:rPr lang="zh-CN" sz="1800" kern="100">
                          <a:effectLst/>
                          <a:latin typeface="Times New Roman" pitchFamily="18" charset="0"/>
                          <a:ea typeface="华文细黑" pitchFamily="2" charset="-122"/>
                          <a:cs typeface="Times New Roman" pitchFamily="18" charset="0"/>
                        </a:rPr>
                        <a:t>个簇</a:t>
                      </a:r>
                    </a:p>
                  </a:txBody>
                  <a:tcPr marL="68580" marR="68580" marT="0" marB="0"/>
                </a:tc>
                <a:extLst>
                  <a:ext uri="{0D108BD9-81ED-4DB2-BD59-A6C34878D82A}">
                    <a16:rowId xmlns:a16="http://schemas.microsoft.com/office/drawing/2014/main" val="10003"/>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4</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重新计算每个簇的质心</a:t>
                      </a:r>
                    </a:p>
                  </a:txBody>
                  <a:tcPr marL="68580" marR="68580" marT="0" marB="0"/>
                </a:tc>
                <a:extLst>
                  <a:ext uri="{0D108BD9-81ED-4DB2-BD59-A6C34878D82A}">
                    <a16:rowId xmlns:a16="http://schemas.microsoft.com/office/drawing/2014/main" val="10004"/>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5</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dirty="0">
                          <a:effectLst/>
                          <a:latin typeface="Times New Roman" pitchFamily="18" charset="0"/>
                          <a:ea typeface="华文细黑" pitchFamily="2" charset="-122"/>
                          <a:cs typeface="Times New Roman" pitchFamily="18" charset="0"/>
                        </a:rPr>
                        <a:t>until</a:t>
                      </a:r>
                      <a:r>
                        <a:rPr lang="zh-CN" sz="1800" kern="100" dirty="0">
                          <a:effectLst/>
                          <a:latin typeface="Times New Roman" pitchFamily="18" charset="0"/>
                          <a:ea typeface="华文细黑" pitchFamily="2" charset="-122"/>
                          <a:cs typeface="Times New Roman" pitchFamily="18" charset="0"/>
                        </a:rPr>
                        <a:t>质心不发生变化</a:t>
                      </a:r>
                    </a:p>
                  </a:txBody>
                  <a:tcPr marL="68580" marR="68580" marT="0" marB="0"/>
                </a:tc>
                <a:extLst>
                  <a:ext uri="{0D108BD9-81ED-4DB2-BD59-A6C34878D82A}">
                    <a16:rowId xmlns:a16="http://schemas.microsoft.com/office/drawing/2014/main" val="10005"/>
                  </a:ext>
                </a:extLst>
              </a:tr>
            </a:tbl>
          </a:graphicData>
        </a:graphic>
      </p:graphicFrame>
      <p:cxnSp>
        <p:nvCxnSpPr>
          <p:cNvPr id="4" name="直接连接符 3"/>
          <p:cNvCxnSpPr/>
          <p:nvPr/>
        </p:nvCxnSpPr>
        <p:spPr>
          <a:xfrm>
            <a:off x="990600" y="2362200"/>
            <a:ext cx="2592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30</a:t>
            </a:fld>
            <a:endParaRPr kumimoji="0" lang="en-US"/>
          </a:p>
        </p:txBody>
      </p:sp>
    </p:spTree>
    <p:extLst>
      <p:ext uri="{BB962C8B-B14F-4D97-AF65-F5344CB8AC3E}">
        <p14:creationId xmlns:p14="http://schemas.microsoft.com/office/powerpoint/2010/main" val="3324600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基本算法过程</a:t>
            </a:r>
            <a:r>
              <a:rPr lang="en-US" altLang="zh-CN" dirty="0"/>
              <a:t>-</a:t>
            </a:r>
            <a:r>
              <a:rPr lang="zh-CN" altLang="en-US" dirty="0"/>
              <a:t>随机选择质心</a:t>
            </a:r>
          </a:p>
        </p:txBody>
      </p:sp>
      <p:pic>
        <p:nvPicPr>
          <p:cNvPr id="2050"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52020" b="50000"/>
          <a:stretch/>
        </p:blipFill>
        <p:spPr bwMode="auto">
          <a:xfrm>
            <a:off x="228600" y="1600201"/>
            <a:ext cx="2413001" cy="222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椭圆 4"/>
          <p:cNvSpPr/>
          <p:nvPr/>
        </p:nvSpPr>
        <p:spPr>
          <a:xfrm>
            <a:off x="914400" y="2590800"/>
            <a:ext cx="228600" cy="2286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ea typeface="华文细黑" pitchFamily="2" charset="-122"/>
            </a:endParaRPr>
          </a:p>
        </p:txBody>
      </p:sp>
      <p:sp>
        <p:nvSpPr>
          <p:cNvPr id="9" name="椭圆 8"/>
          <p:cNvSpPr/>
          <p:nvPr/>
        </p:nvSpPr>
        <p:spPr>
          <a:xfrm>
            <a:off x="1881777" y="2338977"/>
            <a:ext cx="228600" cy="2286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ea typeface="华文细黑" pitchFamily="2" charset="-122"/>
            </a:endParaRPr>
          </a:p>
        </p:txBody>
      </p:sp>
      <p:sp>
        <p:nvSpPr>
          <p:cNvPr id="10" name="椭圆 9"/>
          <p:cNvSpPr/>
          <p:nvPr/>
        </p:nvSpPr>
        <p:spPr>
          <a:xfrm>
            <a:off x="1447800" y="3048000"/>
            <a:ext cx="228600" cy="2286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ea typeface="华文细黑" pitchFamily="2" charset="-122"/>
            </a:endParaRPr>
          </a:p>
        </p:txBody>
      </p:sp>
      <p:pic>
        <p:nvPicPr>
          <p:cNvPr id="7"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48232" b="50000"/>
          <a:stretch/>
        </p:blipFill>
        <p:spPr bwMode="auto">
          <a:xfrm>
            <a:off x="2819401" y="1600201"/>
            <a:ext cx="2603501" cy="222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50000" r="52020"/>
          <a:stretch/>
        </p:blipFill>
        <p:spPr bwMode="auto">
          <a:xfrm>
            <a:off x="5562600" y="1600201"/>
            <a:ext cx="2413000" cy="222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0000" t="50000"/>
          <a:stretch/>
        </p:blipFill>
        <p:spPr bwMode="auto">
          <a:xfrm>
            <a:off x="228600" y="3944128"/>
            <a:ext cx="2514601" cy="222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灯片编号占位符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31</a:t>
            </a:fld>
            <a:endParaRPr kumimoji="0" lang="en-US"/>
          </a:p>
        </p:txBody>
      </p:sp>
    </p:spTree>
    <p:extLst>
      <p:ext uri="{BB962C8B-B14F-4D97-AF65-F5344CB8AC3E}">
        <p14:creationId xmlns:p14="http://schemas.microsoft.com/office/powerpoint/2010/main" val="68925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childTnLst>
                          </p:cTn>
                        </p:par>
                        <p:par>
                          <p:cTn id="13" fill="hold">
                            <p:stCondLst>
                              <p:cond delay="1000"/>
                            </p:stCondLst>
                            <p:childTnLst>
                              <p:par>
                                <p:cTn id="14" presetID="21"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heel(1)">
                                      <p:cBhvr>
                                        <p:cTn id="16" dur="1000"/>
                                        <p:tgtEl>
                                          <p:spTgt spid="9"/>
                                        </p:tgtEl>
                                      </p:cBhvr>
                                    </p:animEffect>
                                  </p:childTnLst>
                                </p:cTn>
                              </p:par>
                            </p:childTnLst>
                          </p:cTn>
                        </p:par>
                        <p:par>
                          <p:cTn id="17" fill="hold">
                            <p:stCondLst>
                              <p:cond delay="2000"/>
                            </p:stCondLst>
                            <p:childTnLst>
                              <p:par>
                                <p:cTn id="18" presetID="21" presetClass="entr" presetSubtype="1"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heel(1)">
                                      <p:cBhvr>
                                        <p:cTn id="20" dur="10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基本算法过程</a:t>
            </a:r>
          </a:p>
        </p:txBody>
      </p:sp>
      <p:pic>
        <p:nvPicPr>
          <p:cNvPr id="3074" name="Picture 2"/>
          <p:cNvPicPr>
            <a:picLocks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66938" b="50000"/>
          <a:stretch/>
        </p:blipFill>
        <p:spPr bwMode="auto">
          <a:xfrm>
            <a:off x="252000" y="1676400"/>
            <a:ext cx="246380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椭圆 6"/>
          <p:cNvSpPr/>
          <p:nvPr/>
        </p:nvSpPr>
        <p:spPr>
          <a:xfrm>
            <a:off x="762000" y="3048000"/>
            <a:ext cx="228600" cy="2286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ea typeface="华文细黑" pitchFamily="2" charset="-122"/>
            </a:endParaRPr>
          </a:p>
        </p:txBody>
      </p:sp>
      <p:sp>
        <p:nvSpPr>
          <p:cNvPr id="8" name="椭圆 7"/>
          <p:cNvSpPr/>
          <p:nvPr/>
        </p:nvSpPr>
        <p:spPr>
          <a:xfrm>
            <a:off x="990600" y="3276600"/>
            <a:ext cx="228600" cy="2286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ea typeface="华文细黑" pitchFamily="2" charset="-122"/>
            </a:endParaRPr>
          </a:p>
        </p:txBody>
      </p:sp>
      <p:sp>
        <p:nvSpPr>
          <p:cNvPr id="9" name="椭圆 8"/>
          <p:cNvSpPr/>
          <p:nvPr/>
        </p:nvSpPr>
        <p:spPr>
          <a:xfrm>
            <a:off x="762000" y="3352800"/>
            <a:ext cx="228600" cy="2286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ea typeface="华文细黑" pitchFamily="2" charset="-122"/>
            </a:endParaRPr>
          </a:p>
        </p:txBody>
      </p:sp>
      <p:pic>
        <p:nvPicPr>
          <p:cNvPr id="10" name="Picture 2"/>
          <p:cNvPicPr>
            <a:picLocks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33317" r="33365" b="50000"/>
          <a:stretch/>
        </p:blipFill>
        <p:spPr bwMode="auto">
          <a:xfrm>
            <a:off x="2736575" y="1676400"/>
            <a:ext cx="248285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65853" b="50000"/>
          <a:stretch/>
        </p:blipFill>
        <p:spPr bwMode="auto">
          <a:xfrm>
            <a:off x="5172076" y="1676400"/>
            <a:ext cx="2544625"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50000" r="66938"/>
          <a:stretch/>
        </p:blipFill>
        <p:spPr bwMode="auto">
          <a:xfrm>
            <a:off x="252000" y="3836400"/>
            <a:ext cx="246380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33234" t="50000" r="33533"/>
          <a:stretch/>
        </p:blipFill>
        <p:spPr bwMode="auto">
          <a:xfrm>
            <a:off x="2742925" y="3836400"/>
            <a:ext cx="2476500" cy="21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0000" t="50000"/>
          <a:stretch/>
        </p:blipFill>
        <p:spPr bwMode="auto">
          <a:xfrm>
            <a:off x="5270401" y="3829501"/>
            <a:ext cx="2514601" cy="2228073"/>
          </a:xfrm>
          <a:prstGeom prst="rect">
            <a:avLst/>
          </a:prstGeom>
          <a:solidFill>
            <a:schemeClr val="bg1"/>
          </a:solidFill>
          <a:ln>
            <a:noFill/>
          </a:ln>
          <a:effectLst/>
        </p:spPr>
      </p:pic>
      <p:pic>
        <p:nvPicPr>
          <p:cNvPr id="14" name="Picture 2"/>
          <p:cNvPicPr>
            <a:picLocks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67077" t="50000"/>
          <a:stretch/>
        </p:blipFill>
        <p:spPr bwMode="auto">
          <a:xfrm>
            <a:off x="5263288" y="3836400"/>
            <a:ext cx="2453413" cy="2160000"/>
          </a:xfrm>
          <a:prstGeom prst="rect">
            <a:avLst/>
          </a:prstGeom>
          <a:solidFill>
            <a:schemeClr val="bg1"/>
          </a:solidFill>
          <a:ln>
            <a:noFill/>
          </a:ln>
          <a:effectLst/>
        </p:spPr>
      </p:pic>
      <p:sp>
        <p:nvSpPr>
          <p:cNvPr id="16" name="线形标注 2 15"/>
          <p:cNvSpPr/>
          <p:nvPr/>
        </p:nvSpPr>
        <p:spPr>
          <a:xfrm>
            <a:off x="6534627" y="946666"/>
            <a:ext cx="1295400" cy="369332"/>
          </a:xfrm>
          <a:prstGeom prst="borderCallout2">
            <a:avLst>
              <a:gd name="adj1" fmla="val 43096"/>
              <a:gd name="adj2" fmla="val -1636"/>
              <a:gd name="adj3" fmla="val 43083"/>
              <a:gd name="adj4" fmla="val -5931"/>
              <a:gd name="adj5" fmla="val 105536"/>
              <a:gd name="adj6" fmla="val -22144"/>
            </a:avLst>
          </a:prstGeom>
          <a:ln w="12700">
            <a:solidFill>
              <a:srgbClr val="C00000"/>
            </a:solidFill>
            <a:headEnd type="none" w="med" len="med"/>
            <a:tailEnd type="triangle" w="med" len="lg"/>
          </a:ln>
        </p:spPr>
        <p:txBody>
          <a:bodyPr wrap="square">
            <a:spAutoFit/>
          </a:bodyPr>
          <a:lstStyle/>
          <a:p>
            <a:pPr marL="12700"/>
            <a:r>
              <a:rPr lang="en-US" altLang="zh-CN" dirty="0">
                <a:latin typeface="Times New Roman" pitchFamily="18" charset="0"/>
                <a:ea typeface="华文细黑" pitchFamily="2" charset="-122"/>
                <a:cs typeface="Times New Roman" pitchFamily="18" charset="0"/>
              </a:rPr>
              <a:t>SSE</a:t>
            </a:r>
            <a:r>
              <a:rPr lang="zh-CN" altLang="en-US" dirty="0">
                <a:latin typeface="Times New Roman" pitchFamily="18" charset="0"/>
                <a:ea typeface="华文细黑" pitchFamily="2" charset="-122"/>
                <a:cs typeface="Times New Roman" pitchFamily="18" charset="0"/>
              </a:rPr>
              <a:t>较大</a:t>
            </a:r>
          </a:p>
        </p:txBody>
      </p:sp>
      <p:sp>
        <p:nvSpPr>
          <p:cNvPr id="3" name="灯片编号占位符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32</a:t>
            </a:fld>
            <a:endParaRPr kumimoji="0" lang="en-US"/>
          </a:p>
        </p:txBody>
      </p:sp>
    </p:spTree>
    <p:extLst>
      <p:ext uri="{BB962C8B-B14F-4D97-AF65-F5344CB8AC3E}">
        <p14:creationId xmlns:p14="http://schemas.microsoft.com/office/powerpoint/2010/main" val="105335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1000"/>
                                        <p:tgtEl>
                                          <p:spTgt spid="7"/>
                                        </p:tgtEl>
                                      </p:cBhvr>
                                    </p:animEffect>
                                  </p:childTnLst>
                                </p:cTn>
                              </p:par>
                            </p:childTnLst>
                          </p:cTn>
                        </p:par>
                        <p:par>
                          <p:cTn id="13" fill="hold">
                            <p:stCondLst>
                              <p:cond delay="1000"/>
                            </p:stCondLst>
                            <p:childTnLst>
                              <p:par>
                                <p:cTn id="14" presetID="21" presetClass="entr" presetSubtype="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heel(1)">
                                      <p:cBhvr>
                                        <p:cTn id="16" dur="1000"/>
                                        <p:tgtEl>
                                          <p:spTgt spid="8"/>
                                        </p:tgtEl>
                                      </p:cBhvr>
                                    </p:animEffect>
                                  </p:childTnLst>
                                </p:cTn>
                              </p:par>
                            </p:childTnLst>
                          </p:cTn>
                        </p:par>
                        <p:par>
                          <p:cTn id="17" fill="hold">
                            <p:stCondLst>
                              <p:cond delay="2000"/>
                            </p:stCondLst>
                            <p:childTnLst>
                              <p:par>
                                <p:cTn id="18" presetID="21" presetClass="entr" presetSubtype="1"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heel(1)">
                                      <p:cBhvr>
                                        <p:cTn id="20" dur="10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par>
                          <p:cTn id="38" fill="hold">
                            <p:stCondLst>
                              <p:cond delay="2000"/>
                            </p:stCondLst>
                            <p:childTnLst>
                              <p:par>
                                <p:cTn id="39" presetID="10" presetClass="entr" presetSubtype="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10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500"/>
                                        <p:tgtEl>
                                          <p:spTgt spid="14"/>
                                        </p:tgtEl>
                                      </p:cBhvr>
                                    </p:animEffect>
                                    <p:set>
                                      <p:cBhvr>
                                        <p:cTn id="49" dur="1" fill="hold">
                                          <p:stCondLst>
                                            <p:cond delay="499"/>
                                          </p:stCondLst>
                                        </p:cTn>
                                        <p:tgtEl>
                                          <p:spTgt spid="1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基本算法过程</a:t>
            </a:r>
          </a:p>
        </p:txBody>
      </p:sp>
      <p:sp>
        <p:nvSpPr>
          <p:cNvPr id="7" name="矩形 6"/>
          <p:cNvSpPr/>
          <p:nvPr/>
        </p:nvSpPr>
        <p:spPr>
          <a:xfrm>
            <a:off x="285991" y="3733800"/>
            <a:ext cx="2634936"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华文细黑" pitchFamily="2" charset="-122"/>
                <a:ea typeface="华文细黑" pitchFamily="2" charset="-122"/>
                <a:cs typeface="Times New Roman" pitchFamily="18" charset="0"/>
              </a:rPr>
              <a:t>1. </a:t>
            </a:r>
            <a:r>
              <a:rPr lang="zh-CN" altLang="zh-CN" sz="2000" dirty="0">
                <a:latin typeface="华文细黑" pitchFamily="2" charset="-122"/>
                <a:ea typeface="华文细黑" pitchFamily="2" charset="-122"/>
                <a:cs typeface="Times New Roman" pitchFamily="18" charset="0"/>
              </a:rPr>
              <a:t>随机选择质心</a:t>
            </a:r>
          </a:p>
        </p:txBody>
      </p:sp>
      <p:sp>
        <p:nvSpPr>
          <p:cNvPr id="9" name="矩形 8"/>
          <p:cNvSpPr/>
          <p:nvPr/>
        </p:nvSpPr>
        <p:spPr>
          <a:xfrm>
            <a:off x="2209800" y="3733800"/>
            <a:ext cx="6324600" cy="36933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dirty="0">
                <a:solidFill>
                  <a:srgbClr val="C00000"/>
                </a:solidFill>
                <a:latin typeface="幼圆" pitchFamily="49" charset="-122"/>
                <a:ea typeface="幼圆" pitchFamily="49" charset="-122"/>
                <a:cs typeface="Times New Roman" pitchFamily="18" charset="0"/>
              </a:rPr>
              <a:t>随机地指定</a:t>
            </a:r>
            <a:r>
              <a:rPr lang="en-US" altLang="zh-CN" i="1" dirty="0">
                <a:solidFill>
                  <a:srgbClr val="C00000"/>
                </a:solidFill>
                <a:latin typeface="幼圆" pitchFamily="49" charset="-122"/>
                <a:ea typeface="幼圆" pitchFamily="49" charset="-122"/>
                <a:cs typeface="Times New Roman" pitchFamily="18" charset="0"/>
              </a:rPr>
              <a:t>k</a:t>
            </a:r>
            <a:r>
              <a:rPr lang="zh-CN" altLang="zh-CN" dirty="0">
                <a:solidFill>
                  <a:srgbClr val="C00000"/>
                </a:solidFill>
                <a:latin typeface="幼圆" pitchFamily="49" charset="-122"/>
                <a:ea typeface="幼圆" pitchFamily="49" charset="-122"/>
                <a:cs typeface="Times New Roman" pitchFamily="18" charset="0"/>
              </a:rPr>
              <a:t>个点作为初始质心点</a:t>
            </a:r>
            <a:r>
              <a:rPr lang="zh-CN" altLang="en-US" dirty="0">
                <a:solidFill>
                  <a:srgbClr val="C00000"/>
                </a:solidFill>
                <a:latin typeface="幼圆" pitchFamily="49" charset="-122"/>
                <a:ea typeface="幼圆" pitchFamily="49" charset="-122"/>
                <a:cs typeface="Times New Roman" pitchFamily="18" charset="0"/>
              </a:rPr>
              <a:t>，</a:t>
            </a:r>
            <a:r>
              <a:rPr lang="zh-CN" altLang="zh-CN" dirty="0">
                <a:solidFill>
                  <a:srgbClr val="C00000"/>
                </a:solidFill>
                <a:latin typeface="幼圆" pitchFamily="49" charset="-122"/>
                <a:ea typeface="幼圆" pitchFamily="49" charset="-122"/>
                <a:cs typeface="Times New Roman" pitchFamily="18" charset="0"/>
              </a:rPr>
              <a:t>但是簇的质量常常</a:t>
            </a:r>
            <a:r>
              <a:rPr lang="zh-CN" altLang="en-US" dirty="0">
                <a:solidFill>
                  <a:srgbClr val="C00000"/>
                </a:solidFill>
                <a:latin typeface="幼圆" pitchFamily="49" charset="-122"/>
                <a:ea typeface="幼圆" pitchFamily="49" charset="-122"/>
                <a:cs typeface="Times New Roman" pitchFamily="18" charset="0"/>
              </a:rPr>
              <a:t>不高</a:t>
            </a:r>
            <a:r>
              <a:rPr lang="zh-CN" altLang="zh-CN" dirty="0">
                <a:solidFill>
                  <a:srgbClr val="C00000"/>
                </a:solidFill>
                <a:latin typeface="幼圆" pitchFamily="49" charset="-122"/>
                <a:ea typeface="幼圆" pitchFamily="49" charset="-122"/>
                <a:cs typeface="Times New Roman" pitchFamily="18" charset="0"/>
              </a:rPr>
              <a:t>。</a:t>
            </a:r>
          </a:p>
        </p:txBody>
      </p:sp>
      <p:sp>
        <p:nvSpPr>
          <p:cNvPr id="10" name="矩形 9"/>
          <p:cNvSpPr/>
          <p:nvPr/>
        </p:nvSpPr>
        <p:spPr>
          <a:xfrm>
            <a:off x="304800" y="4139841"/>
            <a:ext cx="3277800"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Times New Roman" pitchFamily="18" charset="0"/>
                <a:ea typeface="华文细黑" pitchFamily="2" charset="-122"/>
                <a:cs typeface="Times New Roman" pitchFamily="18" charset="0"/>
              </a:rPr>
              <a:t>2.</a:t>
            </a:r>
            <a:r>
              <a:rPr lang="zh-CN" altLang="en-US" sz="2000" dirty="0">
                <a:latin typeface="Times New Roman" pitchFamily="18" charset="0"/>
                <a:ea typeface="华文细黑" pitchFamily="2" charset="-122"/>
                <a:cs typeface="Times New Roman" pitchFamily="18" charset="0"/>
              </a:rPr>
              <a:t>最小误差平方和</a:t>
            </a:r>
            <a:r>
              <a:rPr lang="en-US" altLang="zh-CN" sz="2000" dirty="0">
                <a:latin typeface="Times New Roman" pitchFamily="18" charset="0"/>
                <a:ea typeface="华文细黑" pitchFamily="2" charset="-122"/>
                <a:cs typeface="Times New Roman" pitchFamily="18" charset="0"/>
              </a:rPr>
              <a:t>SSE</a:t>
            </a:r>
            <a:r>
              <a:rPr lang="zh-CN" altLang="en-US" sz="2000" dirty="0">
                <a:latin typeface="Times New Roman" pitchFamily="18" charset="0"/>
                <a:ea typeface="华文细黑" pitchFamily="2" charset="-122"/>
                <a:cs typeface="Times New Roman" pitchFamily="18" charset="0"/>
              </a:rPr>
              <a:t>法</a:t>
            </a:r>
            <a:endParaRPr lang="zh-CN" altLang="zh-CN" sz="2000" dirty="0">
              <a:latin typeface="Times New Roman" pitchFamily="18" charset="0"/>
              <a:ea typeface="华文细黑" pitchFamily="2" charset="-122"/>
              <a:cs typeface="Times New Roman" pitchFamily="18" charset="0"/>
            </a:endParaRPr>
          </a:p>
        </p:txBody>
      </p:sp>
      <p:sp>
        <p:nvSpPr>
          <p:cNvPr id="11" name="矩形 10"/>
          <p:cNvSpPr/>
          <p:nvPr/>
        </p:nvSpPr>
        <p:spPr>
          <a:xfrm>
            <a:off x="3173681" y="4154270"/>
            <a:ext cx="5741719"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latin typeface="Times New Roman" pitchFamily="18" charset="0"/>
                <a:ea typeface="华文细黑" pitchFamily="2" charset="-122"/>
                <a:cs typeface="Times New Roman" pitchFamily="18" charset="0"/>
              </a:rPr>
              <a:t>多次运行，每次使用一组不同的随机初始质心，然后选取具有最小</a:t>
            </a:r>
            <a:r>
              <a:rPr lang="en-US" altLang="zh-CN" dirty="0">
                <a:latin typeface="Times New Roman" pitchFamily="18" charset="0"/>
                <a:ea typeface="华文细黑" pitchFamily="2" charset="-122"/>
                <a:cs typeface="Times New Roman" pitchFamily="18" charset="0"/>
              </a:rPr>
              <a:t>SSE</a:t>
            </a:r>
            <a:r>
              <a:rPr lang="zh-CN" altLang="en-US" dirty="0">
                <a:latin typeface="Times New Roman" pitchFamily="18" charset="0"/>
                <a:ea typeface="华文细黑" pitchFamily="2" charset="-122"/>
                <a:cs typeface="Times New Roman" pitchFamily="18" charset="0"/>
              </a:rPr>
              <a:t>（误差的平方和）的簇集。</a:t>
            </a:r>
          </a:p>
        </p:txBody>
      </p:sp>
      <p:graphicFrame>
        <p:nvGraphicFramePr>
          <p:cNvPr id="12" name="表格 11"/>
          <p:cNvGraphicFramePr>
            <a:graphicFrameLocks noGrp="1"/>
          </p:cNvGraphicFramePr>
          <p:nvPr/>
        </p:nvGraphicFramePr>
        <p:xfrm>
          <a:off x="609600" y="1647660"/>
          <a:ext cx="4968000" cy="1857540"/>
        </p:xfrm>
        <a:graphic>
          <a:graphicData uri="http://schemas.openxmlformats.org/drawingml/2006/table">
            <a:tbl>
              <a:tblPr bandRow="1">
                <a:tableStyleId>{0E3FDE45-AF77-4B5C-9715-49D594BDF05E}</a:tableStyleId>
              </a:tblPr>
              <a:tblGrid>
                <a:gridCol w="306015">
                  <a:extLst>
                    <a:ext uri="{9D8B030D-6E8A-4147-A177-3AD203B41FA5}">
                      <a16:colId xmlns:a16="http://schemas.microsoft.com/office/drawing/2014/main" val="20000"/>
                    </a:ext>
                  </a:extLst>
                </a:gridCol>
                <a:gridCol w="4661985">
                  <a:extLst>
                    <a:ext uri="{9D8B030D-6E8A-4147-A177-3AD203B41FA5}">
                      <a16:colId xmlns:a16="http://schemas.microsoft.com/office/drawing/2014/main" val="20001"/>
                    </a:ext>
                  </a:extLst>
                </a:gridCol>
              </a:tblGrid>
              <a:tr h="418675">
                <a:tc gridSpan="2">
                  <a:txBody>
                    <a:bodyPr/>
                    <a:lstStyle/>
                    <a:p>
                      <a:pPr algn="just">
                        <a:spcAft>
                          <a:spcPts val="0"/>
                        </a:spcAft>
                      </a:pPr>
                      <a:r>
                        <a:rPr lang="en-US" altLang="zh-CN" sz="1800" kern="100" dirty="0">
                          <a:effectLst/>
                          <a:latin typeface="Times New Roman" pitchFamily="18" charset="0"/>
                          <a:ea typeface="华文细黑" pitchFamily="2" charset="-122"/>
                          <a:cs typeface="Times New Roman" pitchFamily="18" charset="0"/>
                        </a:rPr>
                        <a:t>【</a:t>
                      </a:r>
                      <a:r>
                        <a:rPr lang="zh-CN" altLang="en-US" sz="1800" kern="100" dirty="0">
                          <a:effectLst/>
                          <a:latin typeface="Times New Roman" pitchFamily="18" charset="0"/>
                          <a:ea typeface="华文细黑" pitchFamily="2" charset="-122"/>
                          <a:cs typeface="Times New Roman" pitchFamily="18" charset="0"/>
                        </a:rPr>
                        <a:t>算法</a:t>
                      </a:r>
                      <a:r>
                        <a:rPr lang="en-US" altLang="zh-CN" sz="1800" kern="100" dirty="0">
                          <a:effectLst/>
                          <a:latin typeface="Times New Roman" pitchFamily="18" charset="0"/>
                          <a:ea typeface="华文细黑" pitchFamily="2" charset="-122"/>
                          <a:cs typeface="Times New Roman" pitchFamily="18" charset="0"/>
                        </a:rPr>
                        <a:t>】K-means</a:t>
                      </a:r>
                      <a:r>
                        <a:rPr lang="zh-CN" altLang="en-US" sz="1800" kern="100" dirty="0">
                          <a:effectLst/>
                          <a:latin typeface="Times New Roman" pitchFamily="18" charset="0"/>
                          <a:ea typeface="华文细黑" pitchFamily="2" charset="-122"/>
                          <a:cs typeface="Times New Roman" pitchFamily="18" charset="0"/>
                        </a:rPr>
                        <a:t>聚类算法</a:t>
                      </a:r>
                    </a:p>
                  </a:txBody>
                  <a:tcPr marL="68580" marR="68580" marT="0" marB="0" anchor="ctr">
                    <a:lnB w="12700" cap="flat" cmpd="sng" algn="ctr">
                      <a:solidFill>
                        <a:schemeClr val="tx1"/>
                      </a:solidFill>
                      <a:prstDash val="solid"/>
                      <a:round/>
                      <a:headEnd type="none" w="med" len="med"/>
                      <a:tailEnd type="none" w="med" len="med"/>
                    </a:lnB>
                  </a:tcPr>
                </a:tc>
                <a:tc hMerge="1">
                  <a:txBody>
                    <a:bodyPr/>
                    <a:lstStyle/>
                    <a:p>
                      <a:pPr algn="just">
                        <a:spcAft>
                          <a:spcPts val="0"/>
                        </a:spcAft>
                      </a:pPr>
                      <a:endParaRPr lang="zh-CN" sz="2000" kern="100" dirty="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0"/>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1</a:t>
                      </a:r>
                      <a:r>
                        <a:rPr lang="zh-CN" sz="1800" kern="100">
                          <a:effectLst/>
                          <a:latin typeface="Times New Roman" pitchFamily="18" charset="0"/>
                          <a:ea typeface="华文细黑" pitchFamily="2" charset="-122"/>
                          <a:cs typeface="Times New Roman" pitchFamily="18" charset="0"/>
                        </a:rPr>
                        <a:t>：</a:t>
                      </a:r>
                    </a:p>
                  </a:txBody>
                  <a:tcPr marL="68580" marR="68580" marT="0" marB="0">
                    <a:lnT w="12700" cap="flat" cmpd="sng" algn="ctr">
                      <a:solidFill>
                        <a:schemeClr val="tx1"/>
                      </a:solidFill>
                      <a:prstDash val="solid"/>
                      <a:round/>
                      <a:headEnd type="none" w="med" len="med"/>
                      <a:tailEnd type="none" w="med" len="med"/>
                    </a:lnT>
                  </a:tcPr>
                </a:tc>
                <a:tc>
                  <a:txBody>
                    <a:bodyPr/>
                    <a:lstStyle/>
                    <a:p>
                      <a:pPr algn="just">
                        <a:spcAft>
                          <a:spcPts val="0"/>
                        </a:spcAft>
                      </a:pPr>
                      <a:r>
                        <a:rPr lang="zh-CN" sz="1800" kern="100" dirty="0">
                          <a:effectLst/>
                          <a:latin typeface="Times New Roman" pitchFamily="18" charset="0"/>
                          <a:ea typeface="华文细黑" pitchFamily="2" charset="-122"/>
                          <a:cs typeface="Times New Roman" pitchFamily="18" charset="0"/>
                        </a:rPr>
                        <a:t>选择</a:t>
                      </a:r>
                      <a:r>
                        <a:rPr lang="en-US" sz="1800" kern="100" dirty="0">
                          <a:effectLst/>
                          <a:latin typeface="Times New Roman" pitchFamily="18" charset="0"/>
                          <a:ea typeface="华文细黑" pitchFamily="2" charset="-122"/>
                          <a:cs typeface="Times New Roman" pitchFamily="18" charset="0"/>
                        </a:rPr>
                        <a:t>k</a:t>
                      </a:r>
                      <a:r>
                        <a:rPr lang="zh-CN" sz="1800" kern="100" dirty="0">
                          <a:effectLst/>
                          <a:latin typeface="Times New Roman" pitchFamily="18" charset="0"/>
                          <a:ea typeface="华文细黑" pitchFamily="2" charset="-122"/>
                          <a:cs typeface="Times New Roman" pitchFamily="18" charset="0"/>
                        </a:rPr>
                        <a:t>个点作为初始的质心</a:t>
                      </a: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2</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repeat</a:t>
                      </a:r>
                      <a:endParaRPr lang="zh-CN" sz="1800" kern="10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2"/>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3</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将每个点指派到最近的质心，形成</a:t>
                      </a:r>
                      <a:r>
                        <a:rPr lang="en-US" sz="1800" kern="100">
                          <a:effectLst/>
                          <a:latin typeface="Times New Roman" pitchFamily="18" charset="0"/>
                          <a:ea typeface="华文细黑" pitchFamily="2" charset="-122"/>
                          <a:cs typeface="Times New Roman" pitchFamily="18" charset="0"/>
                        </a:rPr>
                        <a:t>k</a:t>
                      </a:r>
                      <a:r>
                        <a:rPr lang="zh-CN" sz="1800" kern="100">
                          <a:effectLst/>
                          <a:latin typeface="Times New Roman" pitchFamily="18" charset="0"/>
                          <a:ea typeface="华文细黑" pitchFamily="2" charset="-122"/>
                          <a:cs typeface="Times New Roman" pitchFamily="18" charset="0"/>
                        </a:rPr>
                        <a:t>个簇</a:t>
                      </a:r>
                    </a:p>
                  </a:txBody>
                  <a:tcPr marL="68580" marR="68580" marT="0" marB="0"/>
                </a:tc>
                <a:extLst>
                  <a:ext uri="{0D108BD9-81ED-4DB2-BD59-A6C34878D82A}">
                    <a16:rowId xmlns:a16="http://schemas.microsoft.com/office/drawing/2014/main" val="10003"/>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4</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重新计算每个簇的质心</a:t>
                      </a:r>
                    </a:p>
                  </a:txBody>
                  <a:tcPr marL="68580" marR="68580" marT="0" marB="0"/>
                </a:tc>
                <a:extLst>
                  <a:ext uri="{0D108BD9-81ED-4DB2-BD59-A6C34878D82A}">
                    <a16:rowId xmlns:a16="http://schemas.microsoft.com/office/drawing/2014/main" val="10004"/>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5</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dirty="0">
                          <a:effectLst/>
                          <a:latin typeface="Times New Roman" pitchFamily="18" charset="0"/>
                          <a:ea typeface="华文细黑" pitchFamily="2" charset="-122"/>
                          <a:cs typeface="Times New Roman" pitchFamily="18" charset="0"/>
                        </a:rPr>
                        <a:t>until</a:t>
                      </a:r>
                      <a:r>
                        <a:rPr lang="zh-CN" sz="1800" kern="100" dirty="0">
                          <a:effectLst/>
                          <a:latin typeface="Times New Roman" pitchFamily="18" charset="0"/>
                          <a:ea typeface="华文细黑" pitchFamily="2" charset="-122"/>
                          <a:cs typeface="Times New Roman" pitchFamily="18" charset="0"/>
                        </a:rPr>
                        <a:t>质心不发生变化</a:t>
                      </a:r>
                    </a:p>
                  </a:txBody>
                  <a:tcPr marL="68580" marR="68580" marT="0" marB="0"/>
                </a:tc>
                <a:extLst>
                  <a:ext uri="{0D108BD9-81ED-4DB2-BD59-A6C34878D82A}">
                    <a16:rowId xmlns:a16="http://schemas.microsoft.com/office/drawing/2014/main" val="10005"/>
                  </a:ext>
                </a:extLst>
              </a:tr>
            </a:tbl>
          </a:graphicData>
        </a:graphic>
      </p:graphicFrame>
      <p:cxnSp>
        <p:nvCxnSpPr>
          <p:cNvPr id="4" name="直接连接符 3"/>
          <p:cNvCxnSpPr/>
          <p:nvPr/>
        </p:nvCxnSpPr>
        <p:spPr>
          <a:xfrm>
            <a:off x="990600" y="2362200"/>
            <a:ext cx="2592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33</a:t>
            </a:fld>
            <a:endParaRPr kumimoji="0" lang="en-US"/>
          </a:p>
        </p:txBody>
      </p:sp>
    </p:spTree>
    <p:extLst>
      <p:ext uri="{BB962C8B-B14F-4D97-AF65-F5344CB8AC3E}">
        <p14:creationId xmlns:p14="http://schemas.microsoft.com/office/powerpoint/2010/main" val="461872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基本算法过程</a:t>
            </a:r>
          </a:p>
        </p:txBody>
      </p:sp>
      <p:sp>
        <p:nvSpPr>
          <p:cNvPr id="7" name="矩形 6"/>
          <p:cNvSpPr/>
          <p:nvPr/>
        </p:nvSpPr>
        <p:spPr>
          <a:xfrm>
            <a:off x="285991" y="3733800"/>
            <a:ext cx="2634936"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华文细黑" pitchFamily="2" charset="-122"/>
                <a:ea typeface="华文细黑" pitchFamily="2" charset="-122"/>
                <a:cs typeface="Times New Roman" pitchFamily="18" charset="0"/>
              </a:rPr>
              <a:t>1. </a:t>
            </a:r>
            <a:r>
              <a:rPr lang="zh-CN" altLang="zh-CN" sz="2000" dirty="0">
                <a:latin typeface="华文细黑" pitchFamily="2" charset="-122"/>
                <a:ea typeface="华文细黑" pitchFamily="2" charset="-122"/>
                <a:cs typeface="Times New Roman" pitchFamily="18" charset="0"/>
              </a:rPr>
              <a:t>随机选择质心</a:t>
            </a:r>
          </a:p>
        </p:txBody>
      </p:sp>
      <p:sp>
        <p:nvSpPr>
          <p:cNvPr id="10" name="矩形 9"/>
          <p:cNvSpPr/>
          <p:nvPr/>
        </p:nvSpPr>
        <p:spPr>
          <a:xfrm>
            <a:off x="304800" y="4139841"/>
            <a:ext cx="3277800"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Times New Roman" pitchFamily="18" charset="0"/>
                <a:ea typeface="华文细黑" pitchFamily="2" charset="-122"/>
                <a:cs typeface="Times New Roman" pitchFamily="18" charset="0"/>
              </a:rPr>
              <a:t>2.</a:t>
            </a:r>
            <a:r>
              <a:rPr lang="zh-CN" altLang="en-US" sz="2000" dirty="0">
                <a:latin typeface="Times New Roman" pitchFamily="18" charset="0"/>
                <a:ea typeface="华文细黑" pitchFamily="2" charset="-122"/>
                <a:cs typeface="Times New Roman" pitchFamily="18" charset="0"/>
              </a:rPr>
              <a:t>最小误差平方和</a:t>
            </a:r>
            <a:r>
              <a:rPr lang="en-US" altLang="zh-CN" sz="2000" dirty="0">
                <a:latin typeface="Times New Roman" pitchFamily="18" charset="0"/>
                <a:ea typeface="华文细黑" pitchFamily="2" charset="-122"/>
                <a:cs typeface="Times New Roman" pitchFamily="18" charset="0"/>
              </a:rPr>
              <a:t>SSE</a:t>
            </a:r>
            <a:r>
              <a:rPr lang="zh-CN" altLang="en-US" sz="2000" dirty="0">
                <a:latin typeface="Times New Roman" pitchFamily="18" charset="0"/>
                <a:ea typeface="华文细黑" pitchFamily="2" charset="-122"/>
                <a:cs typeface="Times New Roman" pitchFamily="18" charset="0"/>
              </a:rPr>
              <a:t>法</a:t>
            </a:r>
            <a:endParaRPr lang="zh-CN" altLang="zh-CN" sz="2000" dirty="0">
              <a:latin typeface="Times New Roman" pitchFamily="18" charset="0"/>
              <a:ea typeface="华文细黑" pitchFamily="2" charset="-122"/>
              <a:cs typeface="Times New Roman" pitchFamily="18" charset="0"/>
            </a:endParaRPr>
          </a:p>
        </p:txBody>
      </p:sp>
      <p:sp>
        <p:nvSpPr>
          <p:cNvPr id="12" name="矩形 11"/>
          <p:cNvSpPr/>
          <p:nvPr/>
        </p:nvSpPr>
        <p:spPr>
          <a:xfrm>
            <a:off x="304800" y="4583668"/>
            <a:ext cx="2209800"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Times New Roman" pitchFamily="18" charset="0"/>
                <a:ea typeface="华文细黑" pitchFamily="2" charset="-122"/>
                <a:cs typeface="Times New Roman" pitchFamily="18" charset="0"/>
              </a:rPr>
              <a:t>3. </a:t>
            </a:r>
            <a:r>
              <a:rPr lang="zh-CN" altLang="en-US" sz="2000" dirty="0">
                <a:latin typeface="Times New Roman" pitchFamily="18" charset="0"/>
                <a:ea typeface="华文细黑" pitchFamily="2" charset="-122"/>
                <a:cs typeface="Times New Roman" pitchFamily="18" charset="0"/>
              </a:rPr>
              <a:t>层次聚类法</a:t>
            </a:r>
          </a:p>
        </p:txBody>
      </p:sp>
      <p:sp>
        <p:nvSpPr>
          <p:cNvPr id="13" name="矩形 12"/>
          <p:cNvSpPr/>
          <p:nvPr/>
        </p:nvSpPr>
        <p:spPr>
          <a:xfrm>
            <a:off x="2209800" y="4572001"/>
            <a:ext cx="6768000" cy="146976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0000"/>
              </a:lnSpc>
              <a:spcAft>
                <a:spcPts val="600"/>
              </a:spcAft>
            </a:pPr>
            <a:r>
              <a:rPr lang="zh-CN" altLang="en-US" dirty="0">
                <a:latin typeface="Times New Roman" pitchFamily="18" charset="0"/>
                <a:ea typeface="华文细黑" pitchFamily="2" charset="-122"/>
                <a:cs typeface="Times New Roman" pitchFamily="18" charset="0"/>
              </a:rPr>
              <a:t>使用层次聚类技术对样本进行聚类，从聚类结果中提取</a:t>
            </a:r>
            <a:r>
              <a:rPr lang="en-US" altLang="zh-CN" i="1" dirty="0">
                <a:latin typeface="Times New Roman" pitchFamily="18" charset="0"/>
                <a:ea typeface="华文细黑" pitchFamily="2" charset="-122"/>
                <a:cs typeface="Times New Roman" pitchFamily="18" charset="0"/>
              </a:rPr>
              <a:t>k</a:t>
            </a:r>
            <a:r>
              <a:rPr lang="zh-CN" altLang="en-US" dirty="0">
                <a:latin typeface="Times New Roman" pitchFamily="18" charset="0"/>
                <a:ea typeface="华文细黑" pitchFamily="2" charset="-122"/>
                <a:cs typeface="Times New Roman" pitchFamily="18" charset="0"/>
              </a:rPr>
              <a:t>个簇，并以这些簇的质心为初始质心。</a:t>
            </a:r>
          </a:p>
          <a:p>
            <a:pPr>
              <a:lnSpc>
                <a:spcPct val="120000"/>
              </a:lnSpc>
              <a:spcAft>
                <a:spcPts val="600"/>
              </a:spcAft>
            </a:pPr>
            <a:r>
              <a:rPr lang="zh-CN" altLang="en-US" dirty="0">
                <a:latin typeface="Times New Roman" pitchFamily="18" charset="0"/>
                <a:ea typeface="华文细黑" pitchFamily="2" charset="-122"/>
                <a:cs typeface="Times New Roman" pitchFamily="18" charset="0"/>
              </a:rPr>
              <a:t>方法通常很有效，但仅限于样本相对较小（层次聚类开销较大）而且</a:t>
            </a:r>
            <a:r>
              <a:rPr lang="en-US" altLang="zh-CN" i="1" dirty="0">
                <a:latin typeface="Times New Roman" pitchFamily="18" charset="0"/>
                <a:ea typeface="华文细黑" pitchFamily="2" charset="-122"/>
                <a:cs typeface="Times New Roman" pitchFamily="18" charset="0"/>
              </a:rPr>
              <a:t>k </a:t>
            </a:r>
            <a:r>
              <a:rPr lang="zh-CN" altLang="en-US" dirty="0">
                <a:latin typeface="Times New Roman" pitchFamily="18" charset="0"/>
                <a:ea typeface="华文细黑" pitchFamily="2" charset="-122"/>
                <a:cs typeface="Times New Roman" pitchFamily="18" charset="0"/>
              </a:rPr>
              <a:t>相对于样本大小较小的情况。</a:t>
            </a:r>
          </a:p>
        </p:txBody>
      </p:sp>
      <p:graphicFrame>
        <p:nvGraphicFramePr>
          <p:cNvPr id="14" name="表格 13"/>
          <p:cNvGraphicFramePr>
            <a:graphicFrameLocks noGrp="1"/>
          </p:cNvGraphicFramePr>
          <p:nvPr/>
        </p:nvGraphicFramePr>
        <p:xfrm>
          <a:off x="609600" y="1647660"/>
          <a:ext cx="4968000" cy="1857540"/>
        </p:xfrm>
        <a:graphic>
          <a:graphicData uri="http://schemas.openxmlformats.org/drawingml/2006/table">
            <a:tbl>
              <a:tblPr bandRow="1">
                <a:tableStyleId>{0E3FDE45-AF77-4B5C-9715-49D594BDF05E}</a:tableStyleId>
              </a:tblPr>
              <a:tblGrid>
                <a:gridCol w="306015">
                  <a:extLst>
                    <a:ext uri="{9D8B030D-6E8A-4147-A177-3AD203B41FA5}">
                      <a16:colId xmlns:a16="http://schemas.microsoft.com/office/drawing/2014/main" val="20000"/>
                    </a:ext>
                  </a:extLst>
                </a:gridCol>
                <a:gridCol w="4661985">
                  <a:extLst>
                    <a:ext uri="{9D8B030D-6E8A-4147-A177-3AD203B41FA5}">
                      <a16:colId xmlns:a16="http://schemas.microsoft.com/office/drawing/2014/main" val="20001"/>
                    </a:ext>
                  </a:extLst>
                </a:gridCol>
              </a:tblGrid>
              <a:tr h="418675">
                <a:tc gridSpan="2">
                  <a:txBody>
                    <a:bodyPr/>
                    <a:lstStyle/>
                    <a:p>
                      <a:pPr algn="just">
                        <a:spcAft>
                          <a:spcPts val="0"/>
                        </a:spcAft>
                      </a:pPr>
                      <a:r>
                        <a:rPr lang="en-US" altLang="zh-CN" sz="1800" kern="100" dirty="0">
                          <a:effectLst/>
                          <a:latin typeface="Times New Roman" pitchFamily="18" charset="0"/>
                          <a:ea typeface="华文细黑" pitchFamily="2" charset="-122"/>
                          <a:cs typeface="Times New Roman" pitchFamily="18" charset="0"/>
                        </a:rPr>
                        <a:t>【</a:t>
                      </a:r>
                      <a:r>
                        <a:rPr lang="zh-CN" altLang="en-US" sz="1800" kern="100" dirty="0">
                          <a:effectLst/>
                          <a:latin typeface="Times New Roman" pitchFamily="18" charset="0"/>
                          <a:ea typeface="华文细黑" pitchFamily="2" charset="-122"/>
                          <a:cs typeface="Times New Roman" pitchFamily="18" charset="0"/>
                        </a:rPr>
                        <a:t>算法</a:t>
                      </a:r>
                      <a:r>
                        <a:rPr lang="en-US" altLang="zh-CN" sz="1800" kern="100" dirty="0">
                          <a:effectLst/>
                          <a:latin typeface="Times New Roman" pitchFamily="18" charset="0"/>
                          <a:ea typeface="华文细黑" pitchFamily="2" charset="-122"/>
                          <a:cs typeface="Times New Roman" pitchFamily="18" charset="0"/>
                        </a:rPr>
                        <a:t>】K-means</a:t>
                      </a:r>
                      <a:r>
                        <a:rPr lang="zh-CN" altLang="en-US" sz="1800" kern="100" dirty="0">
                          <a:effectLst/>
                          <a:latin typeface="Times New Roman" pitchFamily="18" charset="0"/>
                          <a:ea typeface="华文细黑" pitchFamily="2" charset="-122"/>
                          <a:cs typeface="Times New Roman" pitchFamily="18" charset="0"/>
                        </a:rPr>
                        <a:t>聚类算法</a:t>
                      </a:r>
                    </a:p>
                  </a:txBody>
                  <a:tcPr marL="68580" marR="68580" marT="0" marB="0" anchor="ctr">
                    <a:lnB w="12700" cap="flat" cmpd="sng" algn="ctr">
                      <a:solidFill>
                        <a:schemeClr val="tx1"/>
                      </a:solidFill>
                      <a:prstDash val="solid"/>
                      <a:round/>
                      <a:headEnd type="none" w="med" len="med"/>
                      <a:tailEnd type="none" w="med" len="med"/>
                    </a:lnB>
                  </a:tcPr>
                </a:tc>
                <a:tc hMerge="1">
                  <a:txBody>
                    <a:bodyPr/>
                    <a:lstStyle/>
                    <a:p>
                      <a:pPr algn="just">
                        <a:spcAft>
                          <a:spcPts val="0"/>
                        </a:spcAft>
                      </a:pPr>
                      <a:endParaRPr lang="zh-CN" sz="2000" kern="100" dirty="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0"/>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1</a:t>
                      </a:r>
                      <a:r>
                        <a:rPr lang="zh-CN" sz="1800" kern="100">
                          <a:effectLst/>
                          <a:latin typeface="Times New Roman" pitchFamily="18" charset="0"/>
                          <a:ea typeface="华文细黑" pitchFamily="2" charset="-122"/>
                          <a:cs typeface="Times New Roman" pitchFamily="18" charset="0"/>
                        </a:rPr>
                        <a:t>：</a:t>
                      </a:r>
                    </a:p>
                  </a:txBody>
                  <a:tcPr marL="68580" marR="68580" marT="0" marB="0">
                    <a:lnT w="12700" cap="flat" cmpd="sng" algn="ctr">
                      <a:solidFill>
                        <a:schemeClr val="tx1"/>
                      </a:solidFill>
                      <a:prstDash val="solid"/>
                      <a:round/>
                      <a:headEnd type="none" w="med" len="med"/>
                      <a:tailEnd type="none" w="med" len="med"/>
                    </a:lnT>
                  </a:tcPr>
                </a:tc>
                <a:tc>
                  <a:txBody>
                    <a:bodyPr/>
                    <a:lstStyle/>
                    <a:p>
                      <a:pPr algn="just">
                        <a:spcAft>
                          <a:spcPts val="0"/>
                        </a:spcAft>
                      </a:pPr>
                      <a:r>
                        <a:rPr lang="zh-CN" sz="1800" kern="100" dirty="0">
                          <a:effectLst/>
                          <a:latin typeface="Times New Roman" pitchFamily="18" charset="0"/>
                          <a:ea typeface="华文细黑" pitchFamily="2" charset="-122"/>
                          <a:cs typeface="Times New Roman" pitchFamily="18" charset="0"/>
                        </a:rPr>
                        <a:t>选择</a:t>
                      </a:r>
                      <a:r>
                        <a:rPr lang="en-US" sz="1800" kern="100" dirty="0">
                          <a:effectLst/>
                          <a:latin typeface="Times New Roman" pitchFamily="18" charset="0"/>
                          <a:ea typeface="华文细黑" pitchFamily="2" charset="-122"/>
                          <a:cs typeface="Times New Roman" pitchFamily="18" charset="0"/>
                        </a:rPr>
                        <a:t>k</a:t>
                      </a:r>
                      <a:r>
                        <a:rPr lang="zh-CN" sz="1800" kern="100" dirty="0">
                          <a:effectLst/>
                          <a:latin typeface="Times New Roman" pitchFamily="18" charset="0"/>
                          <a:ea typeface="华文细黑" pitchFamily="2" charset="-122"/>
                          <a:cs typeface="Times New Roman" pitchFamily="18" charset="0"/>
                        </a:rPr>
                        <a:t>个点作为初始的质心</a:t>
                      </a: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2</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repeat</a:t>
                      </a:r>
                      <a:endParaRPr lang="zh-CN" sz="1800" kern="10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2"/>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3</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将每个点指派到最近的质心，形成</a:t>
                      </a:r>
                      <a:r>
                        <a:rPr lang="en-US" sz="1800" kern="100">
                          <a:effectLst/>
                          <a:latin typeface="Times New Roman" pitchFamily="18" charset="0"/>
                          <a:ea typeface="华文细黑" pitchFamily="2" charset="-122"/>
                          <a:cs typeface="Times New Roman" pitchFamily="18" charset="0"/>
                        </a:rPr>
                        <a:t>k</a:t>
                      </a:r>
                      <a:r>
                        <a:rPr lang="zh-CN" sz="1800" kern="100">
                          <a:effectLst/>
                          <a:latin typeface="Times New Roman" pitchFamily="18" charset="0"/>
                          <a:ea typeface="华文细黑" pitchFamily="2" charset="-122"/>
                          <a:cs typeface="Times New Roman" pitchFamily="18" charset="0"/>
                        </a:rPr>
                        <a:t>个簇</a:t>
                      </a:r>
                    </a:p>
                  </a:txBody>
                  <a:tcPr marL="68580" marR="68580" marT="0" marB="0"/>
                </a:tc>
                <a:extLst>
                  <a:ext uri="{0D108BD9-81ED-4DB2-BD59-A6C34878D82A}">
                    <a16:rowId xmlns:a16="http://schemas.microsoft.com/office/drawing/2014/main" val="10003"/>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4</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重新计算每个簇的质心</a:t>
                      </a:r>
                    </a:p>
                  </a:txBody>
                  <a:tcPr marL="68580" marR="68580" marT="0" marB="0"/>
                </a:tc>
                <a:extLst>
                  <a:ext uri="{0D108BD9-81ED-4DB2-BD59-A6C34878D82A}">
                    <a16:rowId xmlns:a16="http://schemas.microsoft.com/office/drawing/2014/main" val="10004"/>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5</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dirty="0">
                          <a:effectLst/>
                          <a:latin typeface="Times New Roman" pitchFamily="18" charset="0"/>
                          <a:ea typeface="华文细黑" pitchFamily="2" charset="-122"/>
                          <a:cs typeface="Times New Roman" pitchFamily="18" charset="0"/>
                        </a:rPr>
                        <a:t>until</a:t>
                      </a:r>
                      <a:r>
                        <a:rPr lang="zh-CN" sz="1800" kern="100" dirty="0">
                          <a:effectLst/>
                          <a:latin typeface="Times New Roman" pitchFamily="18" charset="0"/>
                          <a:ea typeface="华文细黑" pitchFamily="2" charset="-122"/>
                          <a:cs typeface="Times New Roman" pitchFamily="18" charset="0"/>
                        </a:rPr>
                        <a:t>质心不发生变化</a:t>
                      </a:r>
                    </a:p>
                  </a:txBody>
                  <a:tcPr marL="68580" marR="68580" marT="0" marB="0"/>
                </a:tc>
                <a:extLst>
                  <a:ext uri="{0D108BD9-81ED-4DB2-BD59-A6C34878D82A}">
                    <a16:rowId xmlns:a16="http://schemas.microsoft.com/office/drawing/2014/main" val="10005"/>
                  </a:ext>
                </a:extLst>
              </a:tr>
            </a:tbl>
          </a:graphicData>
        </a:graphic>
      </p:graphicFrame>
      <p:cxnSp>
        <p:nvCxnSpPr>
          <p:cNvPr id="4" name="直接连接符 3"/>
          <p:cNvCxnSpPr/>
          <p:nvPr/>
        </p:nvCxnSpPr>
        <p:spPr>
          <a:xfrm>
            <a:off x="990600" y="2362200"/>
            <a:ext cx="2592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34</a:t>
            </a:fld>
            <a:endParaRPr kumimoji="0" lang="en-US"/>
          </a:p>
        </p:txBody>
      </p:sp>
    </p:spTree>
    <p:extLst>
      <p:ext uri="{BB962C8B-B14F-4D97-AF65-F5344CB8AC3E}">
        <p14:creationId xmlns:p14="http://schemas.microsoft.com/office/powerpoint/2010/main" val="1644779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基本算法过程</a:t>
            </a:r>
          </a:p>
        </p:txBody>
      </p:sp>
      <p:sp>
        <p:nvSpPr>
          <p:cNvPr id="7" name="矩形 6"/>
          <p:cNvSpPr/>
          <p:nvPr/>
        </p:nvSpPr>
        <p:spPr>
          <a:xfrm>
            <a:off x="285991" y="3733800"/>
            <a:ext cx="2634936"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华文细黑" pitchFamily="2" charset="-122"/>
                <a:ea typeface="华文细黑" pitchFamily="2" charset="-122"/>
                <a:cs typeface="Times New Roman" pitchFamily="18" charset="0"/>
              </a:rPr>
              <a:t>1. </a:t>
            </a:r>
            <a:r>
              <a:rPr lang="zh-CN" altLang="zh-CN" sz="2000" dirty="0">
                <a:latin typeface="华文细黑" pitchFamily="2" charset="-122"/>
                <a:ea typeface="华文细黑" pitchFamily="2" charset="-122"/>
                <a:cs typeface="Times New Roman" pitchFamily="18" charset="0"/>
              </a:rPr>
              <a:t>随机选择质心</a:t>
            </a:r>
          </a:p>
        </p:txBody>
      </p:sp>
      <p:sp>
        <p:nvSpPr>
          <p:cNvPr id="10" name="矩形 9"/>
          <p:cNvSpPr/>
          <p:nvPr/>
        </p:nvSpPr>
        <p:spPr>
          <a:xfrm>
            <a:off x="304800" y="4139841"/>
            <a:ext cx="3277800"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Times New Roman" pitchFamily="18" charset="0"/>
                <a:ea typeface="华文细黑" pitchFamily="2" charset="-122"/>
                <a:cs typeface="Times New Roman" pitchFamily="18" charset="0"/>
              </a:rPr>
              <a:t>2.</a:t>
            </a:r>
            <a:r>
              <a:rPr lang="zh-CN" altLang="en-US" sz="2000" dirty="0">
                <a:latin typeface="Times New Roman" pitchFamily="18" charset="0"/>
                <a:ea typeface="华文细黑" pitchFamily="2" charset="-122"/>
                <a:cs typeface="Times New Roman" pitchFamily="18" charset="0"/>
              </a:rPr>
              <a:t>最小误差平方和</a:t>
            </a:r>
            <a:r>
              <a:rPr lang="en-US" altLang="zh-CN" sz="2000" dirty="0">
                <a:latin typeface="Times New Roman" pitchFamily="18" charset="0"/>
                <a:ea typeface="华文细黑" pitchFamily="2" charset="-122"/>
                <a:cs typeface="Times New Roman" pitchFamily="18" charset="0"/>
              </a:rPr>
              <a:t>SSE</a:t>
            </a:r>
            <a:r>
              <a:rPr lang="zh-CN" altLang="en-US" sz="2000" dirty="0">
                <a:latin typeface="Times New Roman" pitchFamily="18" charset="0"/>
                <a:ea typeface="华文细黑" pitchFamily="2" charset="-122"/>
                <a:cs typeface="Times New Roman" pitchFamily="18" charset="0"/>
              </a:rPr>
              <a:t>法</a:t>
            </a:r>
            <a:endParaRPr lang="zh-CN" altLang="zh-CN" sz="2000" dirty="0">
              <a:latin typeface="Times New Roman" pitchFamily="18" charset="0"/>
              <a:ea typeface="华文细黑" pitchFamily="2" charset="-122"/>
              <a:cs typeface="Times New Roman" pitchFamily="18" charset="0"/>
            </a:endParaRPr>
          </a:p>
        </p:txBody>
      </p:sp>
      <p:sp>
        <p:nvSpPr>
          <p:cNvPr id="12" name="矩形 11"/>
          <p:cNvSpPr/>
          <p:nvPr/>
        </p:nvSpPr>
        <p:spPr>
          <a:xfrm>
            <a:off x="304800" y="4583668"/>
            <a:ext cx="2209800"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Times New Roman" pitchFamily="18" charset="0"/>
                <a:ea typeface="华文细黑" pitchFamily="2" charset="-122"/>
                <a:cs typeface="Times New Roman" pitchFamily="18" charset="0"/>
              </a:rPr>
              <a:t>3. </a:t>
            </a:r>
            <a:r>
              <a:rPr lang="zh-CN" altLang="en-US" sz="2000" dirty="0">
                <a:latin typeface="Times New Roman" pitchFamily="18" charset="0"/>
                <a:ea typeface="华文细黑" pitchFamily="2" charset="-122"/>
                <a:cs typeface="Times New Roman" pitchFamily="18" charset="0"/>
              </a:rPr>
              <a:t>层次聚类法</a:t>
            </a:r>
          </a:p>
        </p:txBody>
      </p:sp>
      <p:sp>
        <p:nvSpPr>
          <p:cNvPr id="9" name="矩形 8"/>
          <p:cNvSpPr/>
          <p:nvPr/>
        </p:nvSpPr>
        <p:spPr>
          <a:xfrm>
            <a:off x="304800" y="5010090"/>
            <a:ext cx="1752600"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latin typeface="Times New Roman" pitchFamily="18" charset="0"/>
                <a:ea typeface="华文细黑" pitchFamily="2" charset="-122"/>
                <a:cs typeface="Times New Roman" pitchFamily="18" charset="0"/>
              </a:rPr>
              <a:t>4. </a:t>
            </a:r>
            <a:r>
              <a:rPr lang="zh-CN" altLang="en-US" sz="2000" dirty="0">
                <a:latin typeface="Times New Roman" pitchFamily="18" charset="0"/>
                <a:ea typeface="华文细黑" pitchFamily="2" charset="-122"/>
                <a:cs typeface="Times New Roman" pitchFamily="18" charset="0"/>
              </a:rPr>
              <a:t>离散质心法</a:t>
            </a:r>
          </a:p>
        </p:txBody>
      </p:sp>
      <p:sp>
        <p:nvSpPr>
          <p:cNvPr id="11" name="矩形 10"/>
          <p:cNvSpPr/>
          <p:nvPr/>
        </p:nvSpPr>
        <p:spPr>
          <a:xfrm>
            <a:off x="1981200" y="4902673"/>
            <a:ext cx="4356000" cy="139281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L="266700" indent="-266700">
              <a:lnSpc>
                <a:spcPct val="120000"/>
              </a:lnSpc>
            </a:pPr>
            <a:r>
              <a:rPr lang="en-US" altLang="zh-CN" dirty="0">
                <a:latin typeface="Times New Roman" pitchFamily="18" charset="0"/>
                <a:ea typeface="华文细黑" pitchFamily="2" charset="-122"/>
                <a:cs typeface="Times New Roman" pitchFamily="18" charset="0"/>
              </a:rPr>
              <a:t>① </a:t>
            </a:r>
            <a:r>
              <a:rPr lang="zh-CN" altLang="en-US" dirty="0">
                <a:latin typeface="Times New Roman" pitchFamily="18" charset="0"/>
                <a:ea typeface="华文细黑" pitchFamily="2" charset="-122"/>
                <a:cs typeface="Times New Roman" pitchFamily="18" charset="0"/>
              </a:rPr>
              <a:t>随机地选择或选取所有点的质心作为第一个初始质心。</a:t>
            </a:r>
          </a:p>
          <a:p>
            <a:pPr marL="266700" indent="-266700">
              <a:lnSpc>
                <a:spcPct val="120000"/>
              </a:lnSpc>
            </a:pPr>
            <a:r>
              <a:rPr lang="en-US" altLang="zh-CN" dirty="0">
                <a:latin typeface="宋体"/>
                <a:ea typeface="宋体"/>
                <a:cs typeface="Times New Roman" pitchFamily="18" charset="0"/>
              </a:rPr>
              <a:t>②</a:t>
            </a:r>
            <a:r>
              <a:rPr lang="en-US" altLang="zh-CN" dirty="0">
                <a:latin typeface="Times New Roman" pitchFamily="18" charset="0"/>
                <a:ea typeface="华文细黑" pitchFamily="2" charset="-122"/>
                <a:cs typeface="Times New Roman" pitchFamily="18" charset="0"/>
              </a:rPr>
              <a:t> </a:t>
            </a:r>
            <a:r>
              <a:rPr lang="zh-CN" altLang="en-US" dirty="0">
                <a:latin typeface="Times New Roman" pitchFamily="18" charset="0"/>
                <a:ea typeface="华文细黑" pitchFamily="2" charset="-122"/>
                <a:cs typeface="Times New Roman" pitchFamily="18" charset="0"/>
              </a:rPr>
              <a:t>每个后继初始质心，选择离已经选取过的初始质心最远的点。</a:t>
            </a:r>
          </a:p>
        </p:txBody>
      </p:sp>
      <p:sp>
        <p:nvSpPr>
          <p:cNvPr id="14" name="线形标注 2 13"/>
          <p:cNvSpPr/>
          <p:nvPr/>
        </p:nvSpPr>
        <p:spPr>
          <a:xfrm>
            <a:off x="6028508" y="3659162"/>
            <a:ext cx="2736000" cy="646331"/>
          </a:xfrm>
          <a:prstGeom prst="borderCallout2">
            <a:avLst>
              <a:gd name="adj1" fmla="val 43096"/>
              <a:gd name="adj2" fmla="val -1636"/>
              <a:gd name="adj3" fmla="val 43083"/>
              <a:gd name="adj4" fmla="val -5931"/>
              <a:gd name="adj5" fmla="val 220064"/>
              <a:gd name="adj6" fmla="val -16733"/>
            </a:avLst>
          </a:prstGeom>
          <a:ln w="12700">
            <a:solidFill>
              <a:srgbClr val="C00000"/>
            </a:solidFill>
            <a:headEnd type="none" w="med" len="med"/>
            <a:tailEnd type="triangle" w="med" len="lg"/>
          </a:ln>
        </p:spPr>
        <p:txBody>
          <a:bodyPr wrap="square">
            <a:spAutoFit/>
          </a:bodyPr>
          <a:lstStyle/>
          <a:p>
            <a:pPr marL="12700"/>
            <a:r>
              <a:rPr lang="zh-CN" altLang="en-US" dirty="0">
                <a:latin typeface="Times New Roman" pitchFamily="18" charset="0"/>
                <a:ea typeface="华文细黑" pitchFamily="2" charset="-122"/>
                <a:cs typeface="Times New Roman" pitchFamily="18" charset="0"/>
              </a:rPr>
              <a:t>确保选择的初始质心不仅是随机的，且是散开的。</a:t>
            </a:r>
          </a:p>
        </p:txBody>
      </p:sp>
      <p:sp>
        <p:nvSpPr>
          <p:cNvPr id="15" name="线形标注 2 14"/>
          <p:cNvSpPr/>
          <p:nvPr/>
        </p:nvSpPr>
        <p:spPr>
          <a:xfrm>
            <a:off x="6408000" y="4463406"/>
            <a:ext cx="2736000" cy="923330"/>
          </a:xfrm>
          <a:prstGeom prst="borderCallout2">
            <a:avLst>
              <a:gd name="adj1" fmla="val 43096"/>
              <a:gd name="adj2" fmla="val -1636"/>
              <a:gd name="adj3" fmla="val 43083"/>
              <a:gd name="adj4" fmla="val -5931"/>
              <a:gd name="adj5" fmla="val 138547"/>
              <a:gd name="adj6" fmla="val -11199"/>
            </a:avLst>
          </a:prstGeom>
          <a:ln w="12700">
            <a:solidFill>
              <a:srgbClr val="C00000"/>
            </a:solidFill>
            <a:headEnd type="none" w="med" len="med"/>
            <a:tailEnd type="triangle" w="med" len="lg"/>
          </a:ln>
        </p:spPr>
        <p:txBody>
          <a:bodyPr wrap="square">
            <a:spAutoFit/>
          </a:bodyPr>
          <a:lstStyle/>
          <a:p>
            <a:pPr marL="12700"/>
            <a:r>
              <a:rPr lang="zh-CN" altLang="en-US" dirty="0">
                <a:latin typeface="Times New Roman" pitchFamily="18" charset="0"/>
                <a:ea typeface="华文细黑" pitchFamily="2" charset="-122"/>
                <a:cs typeface="Times New Roman" pitchFamily="18" charset="0"/>
              </a:rPr>
              <a:t>可能选中离群点，且求离当前初始质心集最远的点开销也非常大。</a:t>
            </a:r>
          </a:p>
        </p:txBody>
      </p:sp>
      <p:graphicFrame>
        <p:nvGraphicFramePr>
          <p:cNvPr id="16" name="表格 15"/>
          <p:cNvGraphicFramePr>
            <a:graphicFrameLocks noGrp="1"/>
          </p:cNvGraphicFramePr>
          <p:nvPr/>
        </p:nvGraphicFramePr>
        <p:xfrm>
          <a:off x="609600" y="1647660"/>
          <a:ext cx="4968000" cy="1857540"/>
        </p:xfrm>
        <a:graphic>
          <a:graphicData uri="http://schemas.openxmlformats.org/drawingml/2006/table">
            <a:tbl>
              <a:tblPr bandRow="1">
                <a:tableStyleId>{0E3FDE45-AF77-4B5C-9715-49D594BDF05E}</a:tableStyleId>
              </a:tblPr>
              <a:tblGrid>
                <a:gridCol w="306015">
                  <a:extLst>
                    <a:ext uri="{9D8B030D-6E8A-4147-A177-3AD203B41FA5}">
                      <a16:colId xmlns:a16="http://schemas.microsoft.com/office/drawing/2014/main" val="20000"/>
                    </a:ext>
                  </a:extLst>
                </a:gridCol>
                <a:gridCol w="4661985">
                  <a:extLst>
                    <a:ext uri="{9D8B030D-6E8A-4147-A177-3AD203B41FA5}">
                      <a16:colId xmlns:a16="http://schemas.microsoft.com/office/drawing/2014/main" val="20001"/>
                    </a:ext>
                  </a:extLst>
                </a:gridCol>
              </a:tblGrid>
              <a:tr h="418675">
                <a:tc gridSpan="2">
                  <a:txBody>
                    <a:bodyPr/>
                    <a:lstStyle/>
                    <a:p>
                      <a:pPr algn="just">
                        <a:spcAft>
                          <a:spcPts val="0"/>
                        </a:spcAft>
                      </a:pPr>
                      <a:r>
                        <a:rPr lang="en-US" altLang="zh-CN" sz="1800" kern="100" dirty="0">
                          <a:effectLst/>
                          <a:latin typeface="Times New Roman" pitchFamily="18" charset="0"/>
                          <a:ea typeface="华文细黑" pitchFamily="2" charset="-122"/>
                          <a:cs typeface="Times New Roman" pitchFamily="18" charset="0"/>
                        </a:rPr>
                        <a:t>【</a:t>
                      </a:r>
                      <a:r>
                        <a:rPr lang="zh-CN" altLang="en-US" sz="1800" kern="100" dirty="0">
                          <a:effectLst/>
                          <a:latin typeface="Times New Roman" pitchFamily="18" charset="0"/>
                          <a:ea typeface="华文细黑" pitchFamily="2" charset="-122"/>
                          <a:cs typeface="Times New Roman" pitchFamily="18" charset="0"/>
                        </a:rPr>
                        <a:t>算法</a:t>
                      </a:r>
                      <a:r>
                        <a:rPr lang="en-US" altLang="zh-CN" sz="1800" kern="100" dirty="0">
                          <a:effectLst/>
                          <a:latin typeface="Times New Roman" pitchFamily="18" charset="0"/>
                          <a:ea typeface="华文细黑" pitchFamily="2" charset="-122"/>
                          <a:cs typeface="Times New Roman" pitchFamily="18" charset="0"/>
                        </a:rPr>
                        <a:t>】K-means</a:t>
                      </a:r>
                      <a:r>
                        <a:rPr lang="zh-CN" altLang="en-US" sz="1800" kern="100" dirty="0">
                          <a:effectLst/>
                          <a:latin typeface="Times New Roman" pitchFamily="18" charset="0"/>
                          <a:ea typeface="华文细黑" pitchFamily="2" charset="-122"/>
                          <a:cs typeface="Times New Roman" pitchFamily="18" charset="0"/>
                        </a:rPr>
                        <a:t>聚类算法</a:t>
                      </a:r>
                    </a:p>
                  </a:txBody>
                  <a:tcPr marL="68580" marR="68580" marT="0" marB="0" anchor="ctr">
                    <a:lnB w="12700" cap="flat" cmpd="sng" algn="ctr">
                      <a:solidFill>
                        <a:schemeClr val="tx1"/>
                      </a:solidFill>
                      <a:prstDash val="solid"/>
                      <a:round/>
                      <a:headEnd type="none" w="med" len="med"/>
                      <a:tailEnd type="none" w="med" len="med"/>
                    </a:lnB>
                  </a:tcPr>
                </a:tc>
                <a:tc hMerge="1">
                  <a:txBody>
                    <a:bodyPr/>
                    <a:lstStyle/>
                    <a:p>
                      <a:pPr algn="just">
                        <a:spcAft>
                          <a:spcPts val="0"/>
                        </a:spcAft>
                      </a:pPr>
                      <a:endParaRPr lang="zh-CN" sz="2000" kern="100" dirty="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0"/>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1</a:t>
                      </a:r>
                      <a:r>
                        <a:rPr lang="zh-CN" sz="1800" kern="100">
                          <a:effectLst/>
                          <a:latin typeface="Times New Roman" pitchFamily="18" charset="0"/>
                          <a:ea typeface="华文细黑" pitchFamily="2" charset="-122"/>
                          <a:cs typeface="Times New Roman" pitchFamily="18" charset="0"/>
                        </a:rPr>
                        <a:t>：</a:t>
                      </a:r>
                    </a:p>
                  </a:txBody>
                  <a:tcPr marL="68580" marR="68580" marT="0" marB="0">
                    <a:lnT w="12700" cap="flat" cmpd="sng" algn="ctr">
                      <a:solidFill>
                        <a:schemeClr val="tx1"/>
                      </a:solidFill>
                      <a:prstDash val="solid"/>
                      <a:round/>
                      <a:headEnd type="none" w="med" len="med"/>
                      <a:tailEnd type="none" w="med" len="med"/>
                    </a:lnT>
                  </a:tcPr>
                </a:tc>
                <a:tc>
                  <a:txBody>
                    <a:bodyPr/>
                    <a:lstStyle/>
                    <a:p>
                      <a:pPr algn="just">
                        <a:spcAft>
                          <a:spcPts val="0"/>
                        </a:spcAft>
                      </a:pPr>
                      <a:r>
                        <a:rPr lang="zh-CN" sz="1800" kern="100" dirty="0">
                          <a:effectLst/>
                          <a:latin typeface="Times New Roman" pitchFamily="18" charset="0"/>
                          <a:ea typeface="华文细黑" pitchFamily="2" charset="-122"/>
                          <a:cs typeface="Times New Roman" pitchFamily="18" charset="0"/>
                        </a:rPr>
                        <a:t>选择</a:t>
                      </a:r>
                      <a:r>
                        <a:rPr lang="en-US" sz="1800" kern="100" dirty="0">
                          <a:effectLst/>
                          <a:latin typeface="Times New Roman" pitchFamily="18" charset="0"/>
                          <a:ea typeface="华文细黑" pitchFamily="2" charset="-122"/>
                          <a:cs typeface="Times New Roman" pitchFamily="18" charset="0"/>
                        </a:rPr>
                        <a:t>k</a:t>
                      </a:r>
                      <a:r>
                        <a:rPr lang="zh-CN" sz="1800" kern="100" dirty="0">
                          <a:effectLst/>
                          <a:latin typeface="Times New Roman" pitchFamily="18" charset="0"/>
                          <a:ea typeface="华文细黑" pitchFamily="2" charset="-122"/>
                          <a:cs typeface="Times New Roman" pitchFamily="18" charset="0"/>
                        </a:rPr>
                        <a:t>个点作为初始的质心</a:t>
                      </a: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2</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repeat</a:t>
                      </a:r>
                      <a:endParaRPr lang="zh-CN" sz="1800" kern="100">
                        <a:effectLst/>
                        <a:latin typeface="Times New Roman" pitchFamily="18" charset="0"/>
                        <a:ea typeface="华文细黑" pitchFamily="2" charset="-122"/>
                        <a:cs typeface="Times New Roman" pitchFamily="18" charset="0"/>
                      </a:endParaRPr>
                    </a:p>
                  </a:txBody>
                  <a:tcPr marL="68580" marR="68580" marT="0" marB="0"/>
                </a:tc>
                <a:extLst>
                  <a:ext uri="{0D108BD9-81ED-4DB2-BD59-A6C34878D82A}">
                    <a16:rowId xmlns:a16="http://schemas.microsoft.com/office/drawing/2014/main" val="10002"/>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3</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将每个点指派到最近的质心，形成</a:t>
                      </a:r>
                      <a:r>
                        <a:rPr lang="en-US" sz="1800" kern="100">
                          <a:effectLst/>
                          <a:latin typeface="Times New Roman" pitchFamily="18" charset="0"/>
                          <a:ea typeface="华文细黑" pitchFamily="2" charset="-122"/>
                          <a:cs typeface="Times New Roman" pitchFamily="18" charset="0"/>
                        </a:rPr>
                        <a:t>k</a:t>
                      </a:r>
                      <a:r>
                        <a:rPr lang="zh-CN" sz="1800" kern="100">
                          <a:effectLst/>
                          <a:latin typeface="Times New Roman" pitchFamily="18" charset="0"/>
                          <a:ea typeface="华文细黑" pitchFamily="2" charset="-122"/>
                          <a:cs typeface="Times New Roman" pitchFamily="18" charset="0"/>
                        </a:rPr>
                        <a:t>个簇</a:t>
                      </a:r>
                    </a:p>
                  </a:txBody>
                  <a:tcPr marL="68580" marR="68580" marT="0" marB="0"/>
                </a:tc>
                <a:extLst>
                  <a:ext uri="{0D108BD9-81ED-4DB2-BD59-A6C34878D82A}">
                    <a16:rowId xmlns:a16="http://schemas.microsoft.com/office/drawing/2014/main" val="10003"/>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4</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indent="266700" algn="just">
                        <a:spcAft>
                          <a:spcPts val="0"/>
                        </a:spcAft>
                      </a:pPr>
                      <a:r>
                        <a:rPr lang="zh-CN" sz="1800" kern="100">
                          <a:effectLst/>
                          <a:latin typeface="Times New Roman" pitchFamily="18" charset="0"/>
                          <a:ea typeface="华文细黑" pitchFamily="2" charset="-122"/>
                          <a:cs typeface="Times New Roman" pitchFamily="18" charset="0"/>
                        </a:rPr>
                        <a:t>重新计算每个簇的质心</a:t>
                      </a:r>
                    </a:p>
                  </a:txBody>
                  <a:tcPr marL="68580" marR="68580" marT="0" marB="0"/>
                </a:tc>
                <a:extLst>
                  <a:ext uri="{0D108BD9-81ED-4DB2-BD59-A6C34878D82A}">
                    <a16:rowId xmlns:a16="http://schemas.microsoft.com/office/drawing/2014/main" val="10004"/>
                  </a:ext>
                </a:extLst>
              </a:tr>
              <a:tr h="287773">
                <a:tc>
                  <a:txBody>
                    <a:bodyPr/>
                    <a:lstStyle/>
                    <a:p>
                      <a:pPr algn="just">
                        <a:spcAft>
                          <a:spcPts val="0"/>
                        </a:spcAft>
                      </a:pPr>
                      <a:r>
                        <a:rPr lang="en-US" sz="1800" kern="100">
                          <a:effectLst/>
                          <a:latin typeface="Times New Roman" pitchFamily="18" charset="0"/>
                          <a:ea typeface="华文细黑" pitchFamily="2" charset="-122"/>
                          <a:cs typeface="Times New Roman" pitchFamily="18" charset="0"/>
                        </a:rPr>
                        <a:t>5</a:t>
                      </a:r>
                      <a:r>
                        <a:rPr lang="zh-CN" sz="1800" kern="100">
                          <a:effectLst/>
                          <a:latin typeface="Times New Roman" pitchFamily="18" charset="0"/>
                          <a:ea typeface="华文细黑" pitchFamily="2" charset="-122"/>
                          <a:cs typeface="Times New Roman" pitchFamily="18" charset="0"/>
                        </a:rPr>
                        <a:t>：</a:t>
                      </a:r>
                    </a:p>
                  </a:txBody>
                  <a:tcPr marL="68580" marR="68580" marT="0" marB="0"/>
                </a:tc>
                <a:tc>
                  <a:txBody>
                    <a:bodyPr/>
                    <a:lstStyle/>
                    <a:p>
                      <a:pPr algn="just">
                        <a:spcAft>
                          <a:spcPts val="0"/>
                        </a:spcAft>
                      </a:pPr>
                      <a:r>
                        <a:rPr lang="en-US" sz="1800" kern="100" dirty="0">
                          <a:effectLst/>
                          <a:latin typeface="Times New Roman" pitchFamily="18" charset="0"/>
                          <a:ea typeface="华文细黑" pitchFamily="2" charset="-122"/>
                          <a:cs typeface="Times New Roman" pitchFamily="18" charset="0"/>
                        </a:rPr>
                        <a:t>until</a:t>
                      </a:r>
                      <a:r>
                        <a:rPr lang="zh-CN" sz="1800" kern="100" dirty="0">
                          <a:effectLst/>
                          <a:latin typeface="Times New Roman" pitchFamily="18" charset="0"/>
                          <a:ea typeface="华文细黑" pitchFamily="2" charset="-122"/>
                          <a:cs typeface="Times New Roman" pitchFamily="18" charset="0"/>
                        </a:rPr>
                        <a:t>质心不发生变化</a:t>
                      </a:r>
                    </a:p>
                  </a:txBody>
                  <a:tcPr marL="68580" marR="68580" marT="0" marB="0"/>
                </a:tc>
                <a:extLst>
                  <a:ext uri="{0D108BD9-81ED-4DB2-BD59-A6C34878D82A}">
                    <a16:rowId xmlns:a16="http://schemas.microsoft.com/office/drawing/2014/main" val="10005"/>
                  </a:ext>
                </a:extLst>
              </a:tr>
            </a:tbl>
          </a:graphicData>
        </a:graphic>
      </p:graphicFrame>
      <p:cxnSp>
        <p:nvCxnSpPr>
          <p:cNvPr id="4" name="直接连接符 3"/>
          <p:cNvCxnSpPr/>
          <p:nvPr/>
        </p:nvCxnSpPr>
        <p:spPr>
          <a:xfrm>
            <a:off x="990600" y="2362200"/>
            <a:ext cx="2592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35</a:t>
            </a:fld>
            <a:endParaRPr kumimoji="0" lang="en-US"/>
          </a:p>
        </p:txBody>
      </p:sp>
    </p:spTree>
    <p:extLst>
      <p:ext uri="{BB962C8B-B14F-4D97-AF65-F5344CB8AC3E}">
        <p14:creationId xmlns:p14="http://schemas.microsoft.com/office/powerpoint/2010/main" val="1856763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算法特点</a:t>
            </a:r>
            <a:endParaRPr lang="zh-CN" altLang="en-US" dirty="0"/>
          </a:p>
        </p:txBody>
      </p:sp>
      <p:sp>
        <p:nvSpPr>
          <p:cNvPr id="3" name="内容占位符 2"/>
          <p:cNvSpPr>
            <a:spLocks noGrp="1"/>
          </p:cNvSpPr>
          <p:nvPr>
            <p:ph idx="1"/>
          </p:nvPr>
        </p:nvSpPr>
        <p:spPr/>
        <p:txBody>
          <a:bodyPr>
            <a:normAutofit/>
          </a:bodyPr>
          <a:lstStyle/>
          <a:p>
            <a:pPr lvl="0"/>
            <a:r>
              <a:rPr lang="zh-CN" altLang="zh-CN" sz="2600" dirty="0">
                <a:cs typeface="Times New Roman" pitchFamily="18" charset="0"/>
              </a:rPr>
              <a:t>对</a:t>
            </a:r>
            <a:r>
              <a:rPr lang="en-US" altLang="zh-CN" sz="2600" dirty="0">
                <a:cs typeface="Times New Roman" pitchFamily="18" charset="0"/>
              </a:rPr>
              <a:t> </a:t>
            </a:r>
            <a:r>
              <a:rPr lang="en-US" altLang="zh-CN" sz="2600" i="1" dirty="0">
                <a:cs typeface="Times New Roman" pitchFamily="18" charset="0"/>
              </a:rPr>
              <a:t>k </a:t>
            </a:r>
            <a:r>
              <a:rPr lang="zh-CN" altLang="zh-CN" sz="2600" dirty="0">
                <a:cs typeface="Times New Roman" pitchFamily="18" charset="0"/>
              </a:rPr>
              <a:t>值较为敏感</a:t>
            </a:r>
            <a:endParaRPr lang="en-US" altLang="zh-CN" sz="2600" dirty="0">
              <a:cs typeface="Times New Roman" pitchFamily="18" charset="0"/>
            </a:endParaRPr>
          </a:p>
          <a:p>
            <a:endParaRPr lang="zh-CN" altLang="en-US" sz="2600" dirty="0"/>
          </a:p>
          <a:p>
            <a:pPr marL="82296" indent="0">
              <a:buNone/>
            </a:pPr>
            <a:endParaRPr lang="en-US" altLang="zh-CN" sz="2600" dirty="0">
              <a:cs typeface="Times New Roman" pitchFamily="18" charset="0"/>
            </a:endParaRPr>
          </a:p>
        </p:txBody>
      </p:sp>
      <p:grpSp>
        <p:nvGrpSpPr>
          <p:cNvPr id="7" name="组合 6"/>
          <p:cNvGrpSpPr/>
          <p:nvPr/>
        </p:nvGrpSpPr>
        <p:grpSpPr>
          <a:xfrm>
            <a:off x="2328000" y="3226800"/>
            <a:ext cx="2160000" cy="2232000"/>
            <a:chOff x="5819647" y="-790575"/>
            <a:chExt cx="2844000" cy="2657475"/>
          </a:xfrm>
        </p:grpSpPr>
        <p:pic>
          <p:nvPicPr>
            <p:cNvPr id="8" name="Picture 4"/>
            <p:cNvPicPr>
              <a:picLocks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19647" y="-790575"/>
              <a:ext cx="2844000"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6353047" y="1130197"/>
              <a:ext cx="684000" cy="40309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=2</a:t>
              </a:r>
              <a:endParaRPr lang="zh-CN" altLang="zh-CN" sz="1600" dirty="0">
                <a:latin typeface="Times New Roman" pitchFamily="18" charset="0"/>
                <a:ea typeface="华文细黑" pitchFamily="2" charset="-122"/>
                <a:cs typeface="Times New Roman" pitchFamily="18" charset="0"/>
              </a:endParaRPr>
            </a:p>
          </p:txBody>
        </p:sp>
      </p:grpSp>
      <p:grpSp>
        <p:nvGrpSpPr>
          <p:cNvPr id="10" name="组合 9"/>
          <p:cNvGrpSpPr/>
          <p:nvPr/>
        </p:nvGrpSpPr>
        <p:grpSpPr>
          <a:xfrm>
            <a:off x="6831600" y="3226800"/>
            <a:ext cx="2160000" cy="2232000"/>
            <a:chOff x="6172200" y="838200"/>
            <a:chExt cx="2809875" cy="2628900"/>
          </a:xfrm>
        </p:grpSpPr>
        <p:pic>
          <p:nvPicPr>
            <p:cNvPr id="11"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72200" y="838200"/>
              <a:ext cx="2809875"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p:nvPr/>
          </p:nvSpPr>
          <p:spPr>
            <a:xfrm>
              <a:off x="6753466" y="2650267"/>
              <a:ext cx="637937" cy="39875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=4</a:t>
              </a:r>
              <a:endParaRPr lang="zh-CN" altLang="zh-CN" sz="1600" dirty="0">
                <a:latin typeface="Times New Roman" pitchFamily="18" charset="0"/>
                <a:ea typeface="华文细黑" pitchFamily="2" charset="-122"/>
                <a:cs typeface="Times New Roman" pitchFamily="18" charset="0"/>
              </a:endParaRPr>
            </a:p>
          </p:txBody>
        </p:sp>
      </p:grpSp>
      <p:grpSp>
        <p:nvGrpSpPr>
          <p:cNvPr id="13" name="组合 12"/>
          <p:cNvGrpSpPr/>
          <p:nvPr/>
        </p:nvGrpSpPr>
        <p:grpSpPr>
          <a:xfrm>
            <a:off x="4579800" y="3200400"/>
            <a:ext cx="2160000" cy="2232000"/>
            <a:chOff x="3733799" y="3032039"/>
            <a:chExt cx="2858400" cy="2686050"/>
          </a:xfrm>
        </p:grpSpPr>
        <p:pic>
          <p:nvPicPr>
            <p:cNvPr id="14" name="Picture 3"/>
            <p:cNvPicPr>
              <a:picLocks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33799" y="3032039"/>
              <a:ext cx="28584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4381200" y="4991100"/>
              <a:ext cx="648001" cy="40742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=3</a:t>
              </a:r>
              <a:endParaRPr lang="zh-CN" altLang="zh-CN" sz="1600" dirty="0">
                <a:latin typeface="Times New Roman" pitchFamily="18" charset="0"/>
                <a:ea typeface="华文细黑" pitchFamily="2" charset="-122"/>
                <a:cs typeface="Times New Roman" pitchFamily="18" charset="0"/>
              </a:endParaRPr>
            </a:p>
          </p:txBody>
        </p:sp>
      </p:grpSp>
      <p:grpSp>
        <p:nvGrpSpPr>
          <p:cNvPr id="16" name="组合 15"/>
          <p:cNvGrpSpPr/>
          <p:nvPr/>
        </p:nvGrpSpPr>
        <p:grpSpPr>
          <a:xfrm>
            <a:off x="76200" y="3200400"/>
            <a:ext cx="2160000" cy="2232000"/>
            <a:chOff x="4271190" y="1817860"/>
            <a:chExt cx="3143250" cy="2705100"/>
          </a:xfrm>
        </p:grpSpPr>
        <p:sp>
          <p:nvSpPr>
            <p:cNvPr id="17" name="矩形 16"/>
            <p:cNvSpPr/>
            <p:nvPr/>
          </p:nvSpPr>
          <p:spPr>
            <a:xfrm>
              <a:off x="4569094" y="3922932"/>
              <a:ext cx="797541" cy="41031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=4</a:t>
              </a:r>
              <a:endParaRPr lang="zh-CN" altLang="zh-CN" sz="1600" dirty="0">
                <a:latin typeface="Times New Roman" pitchFamily="18" charset="0"/>
                <a:ea typeface="华文细黑" pitchFamily="2" charset="-122"/>
                <a:cs typeface="Times New Roman" pitchFamily="18" charset="0"/>
              </a:endParaRPr>
            </a:p>
          </p:txBody>
        </p:sp>
        <p:pic>
          <p:nvPicPr>
            <p:cNvPr id="20" name="Picture 5"/>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1190" y="1817860"/>
              <a:ext cx="3143250"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 name="矩形 3"/>
          <p:cNvSpPr/>
          <p:nvPr/>
        </p:nvSpPr>
        <p:spPr>
          <a:xfrm rot="21409278">
            <a:off x="828879" y="2159376"/>
            <a:ext cx="3642296" cy="707886"/>
          </a:xfrm>
          <a:prstGeom prst="rect">
            <a:avLst/>
          </a:prstGeom>
        </p:spPr>
        <p:txBody>
          <a:bodyPr wrap="square">
            <a:spAutoFit/>
          </a:bodyPr>
          <a:lstStyle/>
          <a:p>
            <a:pPr marL="0" lvl="1"/>
            <a:r>
              <a:rPr lang="zh-CN" altLang="zh-CN" sz="2000" dirty="0">
                <a:solidFill>
                  <a:srgbClr val="C00000"/>
                </a:solidFill>
                <a:latin typeface="华文细黑" pitchFamily="2" charset="-122"/>
                <a:ea typeface="华文细黑" pitchFamily="2" charset="-122"/>
                <a:cs typeface="Times New Roman" pitchFamily="18" charset="0"/>
              </a:rPr>
              <a:t>不同的距离初始值对同样的数据样本可能得到不同的结果</a:t>
            </a:r>
          </a:p>
        </p:txBody>
      </p:sp>
      <p:sp>
        <p:nvSpPr>
          <p:cNvPr id="5" name="矩形 4"/>
          <p:cNvSpPr/>
          <p:nvPr/>
        </p:nvSpPr>
        <p:spPr>
          <a:xfrm rot="21208409">
            <a:off x="5076806" y="2159375"/>
            <a:ext cx="3509588" cy="707886"/>
          </a:xfrm>
          <a:prstGeom prst="rect">
            <a:avLst/>
          </a:prstGeom>
        </p:spPr>
        <p:txBody>
          <a:bodyPr wrap="square">
            <a:spAutoFit/>
          </a:bodyPr>
          <a:lstStyle/>
          <a:p>
            <a:pPr marL="0" lvl="1"/>
            <a:r>
              <a:rPr lang="zh-CN" altLang="zh-CN" sz="2000" dirty="0">
                <a:solidFill>
                  <a:srgbClr val="C00000"/>
                </a:solidFill>
                <a:latin typeface="华文细黑" pitchFamily="2" charset="-122"/>
                <a:ea typeface="华文细黑" pitchFamily="2" charset="-122"/>
                <a:cs typeface="Times New Roman" pitchFamily="18" charset="0"/>
              </a:rPr>
              <a:t>事先判断簇的划分个数非常困难并往往带有很大的随意性</a:t>
            </a:r>
            <a:endParaRPr lang="en-US" altLang="zh-CN" dirty="0"/>
          </a:p>
        </p:txBody>
      </p:sp>
      <p:sp>
        <p:nvSpPr>
          <p:cNvPr id="6" name="灯片编号占位符 5"/>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36</a:t>
            </a:fld>
            <a:endParaRPr kumimoji="0" lang="en-US"/>
          </a:p>
        </p:txBody>
      </p:sp>
    </p:spTree>
    <p:extLst>
      <p:ext uri="{BB962C8B-B14F-4D97-AF65-F5344CB8AC3E}">
        <p14:creationId xmlns:p14="http://schemas.microsoft.com/office/powerpoint/2010/main" val="2682027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算法特点</a:t>
            </a:r>
            <a:endParaRPr lang="zh-CN" altLang="en-US" dirty="0"/>
          </a:p>
        </p:txBody>
      </p:sp>
      <p:sp>
        <p:nvSpPr>
          <p:cNvPr id="3" name="内容占位符 2"/>
          <p:cNvSpPr>
            <a:spLocks noGrp="1"/>
          </p:cNvSpPr>
          <p:nvPr>
            <p:ph idx="1"/>
          </p:nvPr>
        </p:nvSpPr>
        <p:spPr/>
        <p:txBody>
          <a:bodyPr>
            <a:normAutofit/>
          </a:bodyPr>
          <a:lstStyle/>
          <a:p>
            <a:r>
              <a:rPr lang="zh-CN" altLang="en-US" sz="2600" dirty="0"/>
              <a:t>对离群点、噪声敏感</a:t>
            </a:r>
          </a:p>
          <a:p>
            <a:endParaRPr lang="zh-CN" altLang="en-US" sz="2600" dirty="0"/>
          </a:p>
          <a:p>
            <a:pPr marL="82296" indent="0">
              <a:buNone/>
            </a:pPr>
            <a:endParaRPr lang="en-US" altLang="zh-CN"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8200" y="2133600"/>
            <a:ext cx="4261574" cy="35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1001" y="2133600"/>
            <a:ext cx="4235487" cy="35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矩形 17"/>
          <p:cNvSpPr/>
          <p:nvPr/>
        </p:nvSpPr>
        <p:spPr>
          <a:xfrm>
            <a:off x="5164200" y="2590800"/>
            <a:ext cx="1008000"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600" dirty="0">
                <a:latin typeface="Times New Roman" pitchFamily="18" charset="0"/>
                <a:ea typeface="华文细黑" pitchFamily="2" charset="-122"/>
                <a:cs typeface="Times New Roman" pitchFamily="18" charset="0"/>
              </a:rPr>
              <a:t>有离群点</a:t>
            </a:r>
            <a:endParaRPr lang="zh-CN" altLang="zh-CN" sz="1600" dirty="0">
              <a:latin typeface="Times New Roman" pitchFamily="18" charset="0"/>
              <a:ea typeface="华文细黑" pitchFamily="2" charset="-122"/>
              <a:cs typeface="Times New Roman" pitchFamily="18" charset="0"/>
            </a:endParaRPr>
          </a:p>
        </p:txBody>
      </p:sp>
      <p:sp>
        <p:nvSpPr>
          <p:cNvPr id="19" name="矩形 18"/>
          <p:cNvSpPr/>
          <p:nvPr/>
        </p:nvSpPr>
        <p:spPr>
          <a:xfrm>
            <a:off x="4172349" y="5726668"/>
            <a:ext cx="646902" cy="400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2000" i="1" dirty="0">
                <a:latin typeface="Times New Roman" pitchFamily="18" charset="0"/>
                <a:ea typeface="华文细黑" pitchFamily="2" charset="-122"/>
                <a:cs typeface="Times New Roman" pitchFamily="18" charset="0"/>
              </a:rPr>
              <a:t>k</a:t>
            </a:r>
            <a:r>
              <a:rPr lang="en-US" altLang="zh-CN" sz="2000" dirty="0">
                <a:latin typeface="Times New Roman" pitchFamily="18" charset="0"/>
                <a:ea typeface="华文细黑" pitchFamily="2" charset="-122"/>
                <a:cs typeface="Times New Roman" pitchFamily="18" charset="0"/>
              </a:rPr>
              <a:t>=2</a:t>
            </a:r>
            <a:endParaRPr lang="zh-CN" altLang="zh-CN" sz="2000" dirty="0">
              <a:latin typeface="Times New Roman" pitchFamily="18" charset="0"/>
              <a:ea typeface="华文细黑" pitchFamily="2" charset="-122"/>
              <a:cs typeface="Times New Roman" pitchFamily="18" charset="0"/>
            </a:endParaRPr>
          </a:p>
        </p:txBody>
      </p:sp>
      <p:sp>
        <p:nvSpPr>
          <p:cNvPr id="8" name="矩形 7"/>
          <p:cNvSpPr/>
          <p:nvPr/>
        </p:nvSpPr>
        <p:spPr>
          <a:xfrm>
            <a:off x="4648200" y="866511"/>
            <a:ext cx="4277949" cy="1225144"/>
          </a:xfrm>
          <a:prstGeom prst="rect">
            <a:avLst/>
          </a:prstGeom>
        </p:spPr>
        <p:txBody>
          <a:bodyPr wrap="square">
            <a:spAutoFit/>
          </a:bodyPr>
          <a:lstStyle/>
          <a:p>
            <a:pPr>
              <a:lnSpc>
                <a:spcPct val="120000"/>
              </a:lnSpc>
            </a:pPr>
            <a:r>
              <a:rPr lang="zh-CN" altLang="en-US" sz="2400" dirty="0">
                <a:solidFill>
                  <a:srgbClr val="C00000"/>
                </a:solidFill>
                <a:latin typeface="幼圆" pitchFamily="49" charset="-122"/>
                <a:ea typeface="幼圆" pitchFamily="49" charset="-122"/>
                <a:cs typeface="Times New Roman" pitchFamily="18" charset="0"/>
              </a:rPr>
              <a:t>离群点</a:t>
            </a:r>
            <a:endParaRPr lang="en-US" altLang="zh-CN" sz="2400" dirty="0">
              <a:solidFill>
                <a:srgbClr val="C00000"/>
              </a:solidFill>
              <a:latin typeface="幼圆" pitchFamily="49" charset="-122"/>
              <a:ea typeface="幼圆" pitchFamily="49" charset="-122"/>
              <a:cs typeface="Times New Roman" pitchFamily="18" charset="0"/>
            </a:endParaRPr>
          </a:p>
          <a:p>
            <a:pPr lvl="1">
              <a:lnSpc>
                <a:spcPct val="120000"/>
              </a:lnSpc>
            </a:pPr>
            <a:r>
              <a:rPr lang="zh-CN" altLang="en-US" sz="2000" dirty="0">
                <a:solidFill>
                  <a:srgbClr val="C00000"/>
                </a:solidFill>
                <a:latin typeface="幼圆" pitchFamily="49" charset="-122"/>
                <a:ea typeface="幼圆" pitchFamily="49" charset="-122"/>
                <a:cs typeface="Times New Roman" pitchFamily="18" charset="0"/>
              </a:rPr>
              <a:t>导致：</a:t>
            </a:r>
            <a:r>
              <a:rPr lang="en-US" altLang="zh-CN" sz="2000" dirty="0">
                <a:solidFill>
                  <a:srgbClr val="C00000"/>
                </a:solidFill>
                <a:latin typeface="幼圆" pitchFamily="49" charset="-122"/>
                <a:ea typeface="幼圆" pitchFamily="49" charset="-122"/>
                <a:cs typeface="Times New Roman" pitchFamily="18" charset="0"/>
              </a:rPr>
              <a:t>SSE</a:t>
            </a:r>
            <a:r>
              <a:rPr lang="zh-CN" altLang="en-US" sz="2000" dirty="0">
                <a:solidFill>
                  <a:srgbClr val="C00000"/>
                </a:solidFill>
                <a:latin typeface="幼圆" pitchFamily="49" charset="-122"/>
                <a:ea typeface="幼圆" pitchFamily="49" charset="-122"/>
                <a:cs typeface="Times New Roman" pitchFamily="18" charset="0"/>
              </a:rPr>
              <a:t>高，质心代表性变差</a:t>
            </a:r>
            <a:endParaRPr lang="en-US" altLang="zh-CN" sz="2000" dirty="0">
              <a:solidFill>
                <a:srgbClr val="C00000"/>
              </a:solidFill>
              <a:latin typeface="幼圆" pitchFamily="49" charset="-122"/>
              <a:ea typeface="幼圆" pitchFamily="49" charset="-122"/>
              <a:cs typeface="Times New Roman" pitchFamily="18" charset="0"/>
            </a:endParaRPr>
          </a:p>
          <a:p>
            <a:pPr lvl="1">
              <a:lnSpc>
                <a:spcPct val="120000"/>
              </a:lnSpc>
            </a:pPr>
            <a:r>
              <a:rPr lang="zh-CN" altLang="en-US" sz="2000" dirty="0">
                <a:solidFill>
                  <a:srgbClr val="C00000"/>
                </a:solidFill>
                <a:latin typeface="幼圆" pitchFamily="49" charset="-122"/>
                <a:ea typeface="幼圆" pitchFamily="49" charset="-122"/>
                <a:cs typeface="Times New Roman" pitchFamily="18" charset="0"/>
              </a:rPr>
              <a:t>如何识别、如何处理</a:t>
            </a:r>
          </a:p>
        </p:txBody>
      </p:sp>
      <p:sp>
        <p:nvSpPr>
          <p:cNvPr id="4" name="灯片编号占位符 3"/>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37</a:t>
            </a:fld>
            <a:endParaRPr kumimoji="0" lang="en-US"/>
          </a:p>
        </p:txBody>
      </p:sp>
    </p:spTree>
    <p:extLst>
      <p:ext uri="{BB962C8B-B14F-4D97-AF65-F5344CB8AC3E}">
        <p14:creationId xmlns:p14="http://schemas.microsoft.com/office/powerpoint/2010/main" val="14691403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算法特点</a:t>
            </a:r>
            <a:endParaRPr lang="zh-CN" altLang="en-US" dirty="0"/>
          </a:p>
        </p:txBody>
      </p:sp>
      <p:sp>
        <p:nvSpPr>
          <p:cNvPr id="3" name="内容占位符 2"/>
          <p:cNvSpPr>
            <a:spLocks noGrp="1"/>
          </p:cNvSpPr>
          <p:nvPr>
            <p:ph idx="1"/>
          </p:nvPr>
        </p:nvSpPr>
        <p:spPr/>
        <p:txBody>
          <a:bodyPr>
            <a:normAutofit/>
          </a:bodyPr>
          <a:lstStyle/>
          <a:p>
            <a:r>
              <a:rPr lang="zh-CN" altLang="en-US" sz="2600" dirty="0"/>
              <a:t>对离群点、噪声敏感</a:t>
            </a:r>
          </a:p>
          <a:p>
            <a:endParaRPr lang="zh-CN" altLang="en-US" sz="2600" dirty="0"/>
          </a:p>
          <a:p>
            <a:pPr marL="82296" indent="0">
              <a:buNone/>
            </a:pPr>
            <a:endParaRPr lang="en-US" altLang="zh-CN" dirty="0">
              <a:latin typeface="Times New Roman" pitchFamily="18" charset="0"/>
              <a:cs typeface="Times New Roman" pitchFamily="18" charset="0"/>
            </a:endParaRPr>
          </a:p>
        </p:txBody>
      </p:sp>
      <p:pic>
        <p:nvPicPr>
          <p:cNvPr id="10" name="图片 9"/>
          <p:cNvPicPr>
            <a:picLocks noChangeAspect="1"/>
          </p:cNvPicPr>
          <p:nvPr/>
        </p:nvPicPr>
        <p:blipFill>
          <a:blip r:embed="rId2">
            <a:clrChange>
              <a:clrFrom>
                <a:srgbClr val="FFFFFF"/>
              </a:clrFrom>
              <a:clrTo>
                <a:srgbClr val="FFFFFF">
                  <a:alpha val="0"/>
                </a:srgbClr>
              </a:clrTo>
            </a:clrChange>
          </a:blip>
          <a:stretch>
            <a:fillRect/>
          </a:stretch>
        </p:blipFill>
        <p:spPr>
          <a:xfrm>
            <a:off x="1569600" y="2165380"/>
            <a:ext cx="6660000" cy="1653639"/>
          </a:xfrm>
          <a:prstGeom prst="rect">
            <a:avLst/>
          </a:prstGeom>
        </p:spPr>
      </p:pic>
      <p:pic>
        <p:nvPicPr>
          <p:cNvPr id="11" name="图片 10"/>
          <p:cNvPicPr>
            <a:picLocks noChangeAspect="1"/>
          </p:cNvPicPr>
          <p:nvPr/>
        </p:nvPicPr>
        <p:blipFill>
          <a:blip r:embed="rId3">
            <a:clrChange>
              <a:clrFrom>
                <a:srgbClr val="FFFFFF"/>
              </a:clrFrom>
              <a:clrTo>
                <a:srgbClr val="FFFFFF">
                  <a:alpha val="0"/>
                </a:srgbClr>
              </a:clrTo>
            </a:clrChange>
          </a:blip>
          <a:stretch>
            <a:fillRect/>
          </a:stretch>
        </p:blipFill>
        <p:spPr>
          <a:xfrm>
            <a:off x="1569600" y="4164548"/>
            <a:ext cx="6660000" cy="1779053"/>
          </a:xfrm>
          <a:prstGeom prst="rect">
            <a:avLst/>
          </a:prstGeom>
        </p:spPr>
      </p:pic>
      <p:sp>
        <p:nvSpPr>
          <p:cNvPr id="4" name="矩形 3"/>
          <p:cNvSpPr/>
          <p:nvPr/>
        </p:nvSpPr>
        <p:spPr>
          <a:xfrm>
            <a:off x="5181601" y="1823305"/>
            <a:ext cx="2723823" cy="369332"/>
          </a:xfrm>
          <a:prstGeom prst="rect">
            <a:avLst/>
          </a:prstGeom>
        </p:spPr>
        <p:txBody>
          <a:bodyPr wrap="none">
            <a:spAutoFit/>
          </a:bodyPr>
          <a:lstStyle/>
          <a:p>
            <a:r>
              <a:rPr lang="zh-CN" altLang="zh-CN" dirty="0">
                <a:solidFill>
                  <a:srgbClr val="C00000"/>
                </a:solidFill>
                <a:latin typeface="华文细黑" pitchFamily="2" charset="-122"/>
                <a:ea typeface="华文细黑" pitchFamily="2" charset="-122"/>
              </a:rPr>
              <a:t>无离散点的聚类迭代过程</a:t>
            </a:r>
            <a:endParaRPr lang="zh-CN" altLang="en-US" dirty="0">
              <a:solidFill>
                <a:srgbClr val="C00000"/>
              </a:solidFill>
              <a:latin typeface="华文细黑" pitchFamily="2" charset="-122"/>
              <a:ea typeface="华文细黑" pitchFamily="2" charset="-122"/>
            </a:endParaRPr>
          </a:p>
        </p:txBody>
      </p:sp>
      <p:sp>
        <p:nvSpPr>
          <p:cNvPr id="12" name="矩形 11"/>
          <p:cNvSpPr/>
          <p:nvPr/>
        </p:nvSpPr>
        <p:spPr>
          <a:xfrm>
            <a:off x="5181601" y="5879068"/>
            <a:ext cx="2723823" cy="369332"/>
          </a:xfrm>
          <a:prstGeom prst="rect">
            <a:avLst/>
          </a:prstGeom>
        </p:spPr>
        <p:txBody>
          <a:bodyPr wrap="none">
            <a:spAutoFit/>
          </a:bodyPr>
          <a:lstStyle/>
          <a:p>
            <a:r>
              <a:rPr lang="zh-CN" altLang="en-US" dirty="0">
                <a:solidFill>
                  <a:srgbClr val="C00000"/>
                </a:solidFill>
                <a:latin typeface="华文细黑" pitchFamily="2" charset="-122"/>
                <a:ea typeface="华文细黑" pitchFamily="2" charset="-122"/>
              </a:rPr>
              <a:t>有</a:t>
            </a:r>
            <a:r>
              <a:rPr lang="zh-CN" altLang="zh-CN" dirty="0">
                <a:solidFill>
                  <a:srgbClr val="C00000"/>
                </a:solidFill>
                <a:latin typeface="华文细黑" pitchFamily="2" charset="-122"/>
                <a:ea typeface="华文细黑" pitchFamily="2" charset="-122"/>
              </a:rPr>
              <a:t>离散点的聚类迭代过程</a:t>
            </a:r>
            <a:endParaRPr lang="zh-CN" altLang="en-US" dirty="0">
              <a:solidFill>
                <a:srgbClr val="C00000"/>
              </a:solidFill>
              <a:latin typeface="华文细黑" pitchFamily="2" charset="-122"/>
              <a:ea typeface="华文细黑" pitchFamily="2" charset="-122"/>
            </a:endParaRPr>
          </a:p>
        </p:txBody>
      </p:sp>
      <p:sp>
        <p:nvSpPr>
          <p:cNvPr id="5" name="灯片编号占位符 4"/>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38</a:t>
            </a:fld>
            <a:endParaRPr kumimoji="0" lang="en-US"/>
          </a:p>
        </p:txBody>
      </p:sp>
    </p:spTree>
    <p:extLst>
      <p:ext uri="{BB962C8B-B14F-4D97-AF65-F5344CB8AC3E}">
        <p14:creationId xmlns:p14="http://schemas.microsoft.com/office/powerpoint/2010/main" val="16320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算法特点</a:t>
            </a:r>
            <a:endParaRPr lang="zh-CN" altLang="en-US" dirty="0"/>
          </a:p>
        </p:txBody>
      </p:sp>
      <p:sp>
        <p:nvSpPr>
          <p:cNvPr id="3" name="内容占位符 2"/>
          <p:cNvSpPr>
            <a:spLocks noGrp="1"/>
          </p:cNvSpPr>
          <p:nvPr>
            <p:ph idx="1"/>
          </p:nvPr>
        </p:nvSpPr>
        <p:spPr/>
        <p:txBody>
          <a:bodyPr>
            <a:normAutofit/>
          </a:bodyPr>
          <a:lstStyle/>
          <a:p>
            <a:r>
              <a:rPr lang="zh-CN" altLang="en-US" sz="2600" dirty="0"/>
              <a:t>不能处理非球形簇</a:t>
            </a:r>
            <a:endParaRPr lang="en-US" altLang="zh-CN" dirty="0">
              <a:latin typeface="Times New Roman" pitchFamily="18" charset="0"/>
              <a:cs typeface="Times New Roman" pitchFamily="18" charset="0"/>
            </a:endParaRPr>
          </a:p>
        </p:txBody>
      </p:sp>
      <p:grpSp>
        <p:nvGrpSpPr>
          <p:cNvPr id="6" name="组合 5"/>
          <p:cNvGrpSpPr/>
          <p:nvPr/>
        </p:nvGrpSpPr>
        <p:grpSpPr>
          <a:xfrm>
            <a:off x="140044" y="2099449"/>
            <a:ext cx="2738551" cy="2440609"/>
            <a:chOff x="140043" y="1902941"/>
            <a:chExt cx="2895600" cy="2590800"/>
          </a:xfrm>
        </p:grpSpPr>
        <p:pic>
          <p:nvPicPr>
            <p:cNvPr id="7" name="Picture 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043" y="1902941"/>
              <a:ext cx="28956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578434" y="3715811"/>
              <a:ext cx="1065806" cy="35938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600" dirty="0">
                  <a:latin typeface="华文细黑" pitchFamily="2" charset="-122"/>
                  <a:ea typeface="华文细黑" pitchFamily="2" charset="-122"/>
                  <a:cs typeface="Times New Roman" pitchFamily="18" charset="0"/>
                </a:rPr>
                <a:t>原始数据</a:t>
              </a:r>
              <a:endParaRPr lang="zh-CN" altLang="zh-CN" sz="1600" dirty="0">
                <a:latin typeface="华文细黑" pitchFamily="2" charset="-122"/>
                <a:ea typeface="华文细黑" pitchFamily="2" charset="-122"/>
                <a:cs typeface="Times New Roman" pitchFamily="18" charset="0"/>
              </a:endParaRPr>
            </a:p>
          </p:txBody>
        </p:sp>
      </p:grpSp>
      <p:grpSp>
        <p:nvGrpSpPr>
          <p:cNvPr id="9" name="组合 8"/>
          <p:cNvGrpSpPr/>
          <p:nvPr/>
        </p:nvGrpSpPr>
        <p:grpSpPr>
          <a:xfrm>
            <a:off x="2878595" y="2874443"/>
            <a:ext cx="2689749" cy="2503418"/>
            <a:chOff x="5819647" y="-790575"/>
            <a:chExt cx="2844000" cy="2657475"/>
          </a:xfrm>
        </p:grpSpPr>
        <p:pic>
          <p:nvPicPr>
            <p:cNvPr id="10" name="Picture 4"/>
            <p:cNvPicPr>
              <a:picLocks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19647" y="-790575"/>
              <a:ext cx="2844000"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6353047" y="1130197"/>
              <a:ext cx="684000" cy="35938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=2</a:t>
              </a:r>
              <a:endParaRPr lang="zh-CN" altLang="zh-CN" sz="1600" dirty="0">
                <a:latin typeface="Times New Roman" pitchFamily="18" charset="0"/>
                <a:ea typeface="华文细黑" pitchFamily="2" charset="-122"/>
                <a:cs typeface="Times New Roman" pitchFamily="18" charset="0"/>
              </a:endParaRPr>
            </a:p>
          </p:txBody>
        </p:sp>
      </p:grpSp>
      <p:grpSp>
        <p:nvGrpSpPr>
          <p:cNvPr id="12" name="组合 11"/>
          <p:cNvGrpSpPr/>
          <p:nvPr/>
        </p:nvGrpSpPr>
        <p:grpSpPr>
          <a:xfrm>
            <a:off x="6250662" y="3605080"/>
            <a:ext cx="2657475" cy="2476500"/>
            <a:chOff x="6172200" y="838200"/>
            <a:chExt cx="2809875" cy="2628900"/>
          </a:xfrm>
        </p:grpSpPr>
        <p:pic>
          <p:nvPicPr>
            <p:cNvPr id="13" name="Picture 8"/>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72200" y="838200"/>
              <a:ext cx="2809875"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6753465" y="2650267"/>
              <a:ext cx="637936" cy="35938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=4</a:t>
              </a:r>
              <a:endParaRPr lang="zh-CN" altLang="zh-CN" sz="1600" dirty="0">
                <a:latin typeface="Times New Roman" pitchFamily="18" charset="0"/>
                <a:ea typeface="华文细黑" pitchFamily="2" charset="-122"/>
                <a:cs typeface="Times New Roman" pitchFamily="18" charset="0"/>
              </a:endParaRPr>
            </a:p>
          </p:txBody>
        </p:sp>
      </p:grpSp>
      <p:grpSp>
        <p:nvGrpSpPr>
          <p:cNvPr id="15" name="组合 14"/>
          <p:cNvGrpSpPr/>
          <p:nvPr/>
        </p:nvGrpSpPr>
        <p:grpSpPr>
          <a:xfrm>
            <a:off x="5615912" y="846341"/>
            <a:ext cx="2703368" cy="2530337"/>
            <a:chOff x="3733799" y="3032039"/>
            <a:chExt cx="2858400" cy="2686050"/>
          </a:xfrm>
        </p:grpSpPr>
        <p:pic>
          <p:nvPicPr>
            <p:cNvPr id="16" name="Picture 3"/>
            <p:cNvPicPr>
              <a:picLocks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33799" y="3032039"/>
              <a:ext cx="28584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矩形 16"/>
            <p:cNvSpPr/>
            <p:nvPr/>
          </p:nvSpPr>
          <p:spPr>
            <a:xfrm>
              <a:off x="4381200" y="4991100"/>
              <a:ext cx="648000" cy="35938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=3</a:t>
              </a:r>
              <a:endParaRPr lang="zh-CN" altLang="zh-CN" sz="1600" dirty="0">
                <a:latin typeface="Times New Roman" pitchFamily="18" charset="0"/>
                <a:ea typeface="华文细黑" pitchFamily="2" charset="-122"/>
                <a:cs typeface="Times New Roman" pitchFamily="18" charset="0"/>
              </a:endParaRPr>
            </a:p>
          </p:txBody>
        </p:sp>
      </p:grpSp>
      <p:sp>
        <p:nvSpPr>
          <p:cNvPr id="4" name="灯片编号占位符 3"/>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39</a:t>
            </a:fld>
            <a:endParaRPr kumimoji="0" lang="en-US"/>
          </a:p>
        </p:txBody>
      </p:sp>
    </p:spTree>
    <p:extLst>
      <p:ext uri="{BB962C8B-B14F-4D97-AF65-F5344CB8AC3E}">
        <p14:creationId xmlns:p14="http://schemas.microsoft.com/office/powerpoint/2010/main" val="2940391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算法特点</a:t>
            </a:r>
            <a:endParaRPr lang="zh-CN" altLang="en-US" dirty="0"/>
          </a:p>
        </p:txBody>
      </p:sp>
      <p:sp>
        <p:nvSpPr>
          <p:cNvPr id="3" name="内容占位符 2"/>
          <p:cNvSpPr>
            <a:spLocks noGrp="1"/>
          </p:cNvSpPr>
          <p:nvPr>
            <p:ph idx="1"/>
          </p:nvPr>
        </p:nvSpPr>
        <p:spPr/>
        <p:txBody>
          <a:bodyPr>
            <a:normAutofit/>
          </a:bodyPr>
          <a:lstStyle/>
          <a:p>
            <a:r>
              <a:rPr lang="zh-CN" altLang="en-US" sz="2600" dirty="0"/>
              <a:t>不能处理不同尺寸的簇</a:t>
            </a:r>
          </a:p>
          <a:p>
            <a:pPr marL="82296" indent="0">
              <a:buNone/>
            </a:pPr>
            <a:endParaRPr lang="en-US" altLang="zh-CN" dirty="0">
              <a:latin typeface="Times New Roman" pitchFamily="18" charset="0"/>
              <a:cs typeface="Times New Roman" pitchFamily="18" charset="0"/>
            </a:endParaRPr>
          </a:p>
        </p:txBody>
      </p:sp>
      <p:grpSp>
        <p:nvGrpSpPr>
          <p:cNvPr id="4" name="组合 3"/>
          <p:cNvGrpSpPr/>
          <p:nvPr/>
        </p:nvGrpSpPr>
        <p:grpSpPr>
          <a:xfrm>
            <a:off x="1295400" y="2371501"/>
            <a:ext cx="3123810" cy="2666667"/>
            <a:chOff x="461319" y="1856293"/>
            <a:chExt cx="3123810" cy="2666667"/>
          </a:xfrm>
        </p:grpSpPr>
        <p:sp>
          <p:nvSpPr>
            <p:cNvPr id="21" name="矩形 20"/>
            <p:cNvSpPr/>
            <p:nvPr/>
          </p:nvSpPr>
          <p:spPr>
            <a:xfrm>
              <a:off x="838200" y="3757772"/>
              <a:ext cx="646902"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=2</a:t>
              </a:r>
              <a:endParaRPr lang="zh-CN" altLang="zh-CN" sz="1600" dirty="0">
                <a:latin typeface="Times New Roman" pitchFamily="18" charset="0"/>
                <a:ea typeface="华文细黑" pitchFamily="2" charset="-122"/>
                <a:cs typeface="Times New Roman" pitchFamily="18" charset="0"/>
              </a:endParaRPr>
            </a:p>
          </p:txBody>
        </p:sp>
        <p:pic>
          <p:nvPicPr>
            <p:cNvPr id="5124"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461319" y="1856293"/>
              <a:ext cx="3123810" cy="2666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 name="组合 4"/>
          <p:cNvGrpSpPr/>
          <p:nvPr/>
        </p:nvGrpSpPr>
        <p:grpSpPr>
          <a:xfrm>
            <a:off x="5181471" y="2371500"/>
            <a:ext cx="3143250" cy="2705100"/>
            <a:chOff x="4271190" y="1817860"/>
            <a:chExt cx="3143250" cy="2705100"/>
          </a:xfrm>
        </p:grpSpPr>
        <p:sp>
          <p:nvSpPr>
            <p:cNvPr id="22" name="矩形 21"/>
            <p:cNvSpPr/>
            <p:nvPr/>
          </p:nvSpPr>
          <p:spPr>
            <a:xfrm>
              <a:off x="4648200" y="3771900"/>
              <a:ext cx="603336"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=4</a:t>
              </a:r>
              <a:endParaRPr lang="zh-CN" altLang="zh-CN" sz="1600" dirty="0">
                <a:latin typeface="Times New Roman" pitchFamily="18" charset="0"/>
                <a:ea typeface="华文细黑" pitchFamily="2" charset="-122"/>
                <a:cs typeface="Times New Roman" pitchFamily="18" charset="0"/>
              </a:endParaRPr>
            </a:p>
          </p:txBody>
        </p:sp>
        <p:pic>
          <p:nvPicPr>
            <p:cNvPr id="5125" name="Picture 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1190" y="1817860"/>
              <a:ext cx="3143250"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 name="灯片编号占位符 5"/>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40</a:t>
            </a:fld>
            <a:endParaRPr kumimoji="0" lang="en-US"/>
          </a:p>
        </p:txBody>
      </p:sp>
    </p:spTree>
    <p:extLst>
      <p:ext uri="{BB962C8B-B14F-4D97-AF65-F5344CB8AC3E}">
        <p14:creationId xmlns:p14="http://schemas.microsoft.com/office/powerpoint/2010/main" val="429490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算法特点</a:t>
            </a:r>
            <a:endParaRPr lang="zh-CN" altLang="en-US" dirty="0"/>
          </a:p>
        </p:txBody>
      </p:sp>
      <p:sp>
        <p:nvSpPr>
          <p:cNvPr id="3" name="内容占位符 2"/>
          <p:cNvSpPr>
            <a:spLocks noGrp="1"/>
          </p:cNvSpPr>
          <p:nvPr>
            <p:ph idx="1"/>
          </p:nvPr>
        </p:nvSpPr>
        <p:spPr/>
        <p:txBody>
          <a:bodyPr>
            <a:normAutofit/>
          </a:bodyPr>
          <a:lstStyle/>
          <a:p>
            <a:r>
              <a:rPr lang="zh-CN" altLang="en-US" sz="2600" dirty="0"/>
              <a:t>不能处理不同尺寸的簇</a:t>
            </a:r>
          </a:p>
          <a:p>
            <a:pPr marL="82296" indent="0">
              <a:buNone/>
            </a:pPr>
            <a:endParaRPr lang="en-US" altLang="zh-CN" dirty="0">
              <a:latin typeface="Times New Roman" pitchFamily="18" charset="0"/>
              <a:cs typeface="Times New Roman" pitchFamily="18" charset="0"/>
            </a:endParaRPr>
          </a:p>
        </p:txBody>
      </p:sp>
      <p:grpSp>
        <p:nvGrpSpPr>
          <p:cNvPr id="6" name="组合 5"/>
          <p:cNvGrpSpPr/>
          <p:nvPr/>
        </p:nvGrpSpPr>
        <p:grpSpPr>
          <a:xfrm>
            <a:off x="1266825" y="2371501"/>
            <a:ext cx="3167766" cy="2619375"/>
            <a:chOff x="381000" y="1817860"/>
            <a:chExt cx="3167766" cy="2619375"/>
          </a:xfrm>
        </p:grpSpPr>
        <p:pic>
          <p:nvPicPr>
            <p:cNvPr id="5123"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1000" y="1817860"/>
              <a:ext cx="3114675"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矩形 20"/>
            <p:cNvSpPr/>
            <p:nvPr/>
          </p:nvSpPr>
          <p:spPr>
            <a:xfrm>
              <a:off x="2901864" y="3890546"/>
              <a:ext cx="646902"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=3</a:t>
              </a:r>
              <a:endParaRPr lang="zh-CN" altLang="zh-CN" sz="1600" dirty="0">
                <a:latin typeface="Times New Roman" pitchFamily="18" charset="0"/>
                <a:ea typeface="华文细黑" pitchFamily="2" charset="-122"/>
                <a:cs typeface="Times New Roman" pitchFamily="18" charset="0"/>
              </a:endParaRPr>
            </a:p>
          </p:txBody>
        </p:sp>
      </p:grpSp>
      <p:grpSp>
        <p:nvGrpSpPr>
          <p:cNvPr id="7" name="组合 6"/>
          <p:cNvGrpSpPr/>
          <p:nvPr/>
        </p:nvGrpSpPr>
        <p:grpSpPr>
          <a:xfrm>
            <a:off x="5000626" y="2371500"/>
            <a:ext cx="3076575" cy="2667000"/>
            <a:chOff x="4114800" y="1794047"/>
            <a:chExt cx="3076575" cy="2667000"/>
          </a:xfrm>
        </p:grpSpPr>
        <p:sp>
          <p:nvSpPr>
            <p:cNvPr id="22" name="矩形 21"/>
            <p:cNvSpPr/>
            <p:nvPr/>
          </p:nvSpPr>
          <p:spPr>
            <a:xfrm>
              <a:off x="6553200" y="3904674"/>
              <a:ext cx="603336"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600" i="1" dirty="0">
                  <a:latin typeface="Times New Roman" pitchFamily="18" charset="0"/>
                  <a:ea typeface="华文细黑" pitchFamily="2" charset="-122"/>
                  <a:cs typeface="Times New Roman" pitchFamily="18" charset="0"/>
                </a:rPr>
                <a:t>k</a:t>
              </a:r>
              <a:r>
                <a:rPr lang="en-US" altLang="zh-CN" sz="1600" dirty="0">
                  <a:latin typeface="Times New Roman" pitchFamily="18" charset="0"/>
                  <a:ea typeface="华文细黑" pitchFamily="2" charset="-122"/>
                  <a:cs typeface="Times New Roman" pitchFamily="18" charset="0"/>
                </a:rPr>
                <a:t>=4</a:t>
              </a:r>
              <a:endParaRPr lang="zh-CN" altLang="zh-CN" sz="1600" dirty="0">
                <a:latin typeface="Times New Roman" pitchFamily="18" charset="0"/>
                <a:ea typeface="华文细黑" pitchFamily="2" charset="-122"/>
                <a:cs typeface="Times New Roman" pitchFamily="18" charset="0"/>
              </a:endParaRPr>
            </a:p>
          </p:txBody>
        </p:sp>
        <p:pic>
          <p:nvPicPr>
            <p:cNvPr id="6146"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14800" y="1794047"/>
              <a:ext cx="3076575"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 name="灯片编号占位符 3"/>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41</a:t>
            </a:fld>
            <a:endParaRPr kumimoji="0" lang="en-US"/>
          </a:p>
        </p:txBody>
      </p:sp>
    </p:spTree>
    <p:extLst>
      <p:ext uri="{BB962C8B-B14F-4D97-AF65-F5344CB8AC3E}">
        <p14:creationId xmlns:p14="http://schemas.microsoft.com/office/powerpoint/2010/main" val="409457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算法特点</a:t>
            </a:r>
            <a:endParaRPr lang="zh-CN" altLang="en-US" dirty="0"/>
          </a:p>
        </p:txBody>
      </p:sp>
      <p:sp>
        <p:nvSpPr>
          <p:cNvPr id="3" name="内容占位符 2"/>
          <p:cNvSpPr>
            <a:spLocks noGrp="1"/>
          </p:cNvSpPr>
          <p:nvPr>
            <p:ph idx="1"/>
          </p:nvPr>
        </p:nvSpPr>
        <p:spPr/>
        <p:txBody>
          <a:bodyPr>
            <a:normAutofit/>
          </a:bodyPr>
          <a:lstStyle/>
          <a:p>
            <a:r>
              <a:rPr lang="zh-CN" altLang="en-US" sz="2600" dirty="0"/>
              <a:t>不能处理不同密度的簇</a:t>
            </a:r>
            <a:endParaRPr lang="en-US" altLang="zh-CN" sz="2600" dirty="0"/>
          </a:p>
          <a:p>
            <a:pPr marL="82296" indent="0">
              <a:buNone/>
            </a:pPr>
            <a:endParaRPr lang="en-US" altLang="zh-CN" dirty="0">
              <a:latin typeface="Times New Roman" pitchFamily="18" charset="0"/>
              <a:cs typeface="Times New Roman" pitchFamily="18" charset="0"/>
            </a:endParaRPr>
          </a:p>
        </p:txBody>
      </p:sp>
      <p:pic>
        <p:nvPicPr>
          <p:cNvPr id="11" name="图片 10"/>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246" t="2643" r="1417" b="2230"/>
          <a:stretch/>
        </p:blipFill>
        <p:spPr bwMode="auto">
          <a:xfrm>
            <a:off x="568636" y="2667000"/>
            <a:ext cx="4460564" cy="2700000"/>
          </a:xfrm>
          <a:prstGeom prst="rect">
            <a:avLst/>
          </a:prstGeom>
          <a:noFill/>
          <a:ln>
            <a:noFill/>
          </a:ln>
          <a:extLst>
            <a:ext uri="{53640926-AAD7-44D8-BBD7-CCE9431645EC}">
              <a14:shadowObscured xmlns:a14="http://schemas.microsoft.com/office/drawing/2010/main"/>
            </a:ext>
          </a:extLst>
        </p:spPr>
      </p:pic>
      <p:pic>
        <p:nvPicPr>
          <p:cNvPr id="12" name="图片 11"/>
          <p:cNvPicPr>
            <a:picLocks noChangeAspect="1"/>
          </p:cNvPicPr>
          <p:nvPr/>
        </p:nvPicPr>
        <p:blipFill>
          <a:blip r:embed="rId3">
            <a:clrChange>
              <a:clrFrom>
                <a:srgbClr val="FFFFFF"/>
              </a:clrFrom>
              <a:clrTo>
                <a:srgbClr val="FFFFFF">
                  <a:alpha val="0"/>
                </a:srgbClr>
              </a:clrTo>
            </a:clrChange>
          </a:blip>
          <a:stretch>
            <a:fillRect/>
          </a:stretch>
        </p:blipFill>
        <p:spPr>
          <a:xfrm>
            <a:off x="5334000" y="2698223"/>
            <a:ext cx="3227226" cy="2520000"/>
          </a:xfrm>
          <a:prstGeom prst="rect">
            <a:avLst/>
          </a:prstGeom>
        </p:spPr>
      </p:pic>
      <p:sp>
        <p:nvSpPr>
          <p:cNvPr id="4" name="矩形 3"/>
          <p:cNvSpPr/>
          <p:nvPr/>
        </p:nvSpPr>
        <p:spPr>
          <a:xfrm>
            <a:off x="2296217" y="5376446"/>
            <a:ext cx="1107996" cy="369332"/>
          </a:xfrm>
          <a:prstGeom prst="rect">
            <a:avLst/>
          </a:prstGeom>
        </p:spPr>
        <p:txBody>
          <a:bodyPr wrap="none">
            <a:spAutoFit/>
          </a:bodyPr>
          <a:lstStyle/>
          <a:p>
            <a:r>
              <a:rPr lang="zh-CN" altLang="en-US" dirty="0">
                <a:ea typeface="华文细黑" pitchFamily="2" charset="-122"/>
              </a:rPr>
              <a:t>原始数据</a:t>
            </a:r>
          </a:p>
        </p:txBody>
      </p:sp>
      <p:sp>
        <p:nvSpPr>
          <p:cNvPr id="14" name="矩形 13"/>
          <p:cNvSpPr/>
          <p:nvPr/>
        </p:nvSpPr>
        <p:spPr>
          <a:xfrm>
            <a:off x="6688569" y="5385726"/>
            <a:ext cx="601447" cy="369332"/>
          </a:xfrm>
          <a:prstGeom prst="rect">
            <a:avLst/>
          </a:prstGeom>
        </p:spPr>
        <p:txBody>
          <a:bodyPr wrap="none">
            <a:spAutoFit/>
          </a:bodyPr>
          <a:lstStyle/>
          <a:p>
            <a:r>
              <a:rPr lang="en-US" altLang="zh-CN" dirty="0">
                <a:ea typeface="华文细黑" pitchFamily="2" charset="-122"/>
              </a:rPr>
              <a:t>K=2</a:t>
            </a:r>
            <a:endParaRPr lang="zh-CN" altLang="en-US" dirty="0">
              <a:ea typeface="华文细黑" pitchFamily="2" charset="-122"/>
            </a:endParaRPr>
          </a:p>
        </p:txBody>
      </p:sp>
      <p:sp>
        <p:nvSpPr>
          <p:cNvPr id="5" name="灯片编号占位符 4"/>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42</a:t>
            </a:fld>
            <a:endParaRPr kumimoji="0" lang="en-US"/>
          </a:p>
        </p:txBody>
      </p:sp>
    </p:spTree>
    <p:extLst>
      <p:ext uri="{BB962C8B-B14F-4D97-AF65-F5344CB8AC3E}">
        <p14:creationId xmlns:p14="http://schemas.microsoft.com/office/powerpoint/2010/main" val="390240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算法特点</a:t>
            </a:r>
            <a:endParaRPr lang="zh-CN" altLang="en-US" dirty="0"/>
          </a:p>
        </p:txBody>
      </p:sp>
      <p:sp>
        <p:nvSpPr>
          <p:cNvPr id="3" name="内容占位符 2"/>
          <p:cNvSpPr>
            <a:spLocks noGrp="1"/>
          </p:cNvSpPr>
          <p:nvPr>
            <p:ph idx="1"/>
          </p:nvPr>
        </p:nvSpPr>
        <p:spPr/>
        <p:txBody>
          <a:bodyPr/>
          <a:lstStyle/>
          <a:p>
            <a:r>
              <a:rPr lang="zh-CN" altLang="en-US" dirty="0"/>
              <a:t>计算开销大</a:t>
            </a:r>
            <a:endParaRPr lang="en-US" altLang="zh-CN" dirty="0"/>
          </a:p>
          <a:p>
            <a:pPr lvl="1"/>
            <a:r>
              <a:rPr lang="zh-CN" altLang="en-US" dirty="0">
                <a:cs typeface="Times New Roman" pitchFamily="18" charset="0"/>
              </a:rPr>
              <a:t>需要迭代进行数据点之间的邻近度计算，以调整质心并指派到簇。当数据量较大时，算法的时间开销非常大</a:t>
            </a:r>
            <a:endParaRPr lang="en-US" altLang="zh-CN" dirty="0">
              <a:cs typeface="Times New Roman" pitchFamily="18" charset="0"/>
            </a:endParaRPr>
          </a:p>
          <a:p>
            <a:r>
              <a:rPr lang="zh-CN" altLang="en-US" dirty="0">
                <a:cs typeface="Times New Roman" pitchFamily="18" charset="0"/>
              </a:rPr>
              <a:t>算法简单，易于理解</a:t>
            </a:r>
            <a:endParaRPr lang="en-US" altLang="zh-CN" dirty="0">
              <a:cs typeface="Times New Roman" pitchFamily="18" charset="0"/>
            </a:endParaRPr>
          </a:p>
          <a:p>
            <a:pPr lvl="0"/>
            <a:r>
              <a:rPr lang="zh-CN" altLang="en-US" dirty="0">
                <a:cs typeface="Times New Roman" pitchFamily="18" charset="0"/>
                <a:hlinkClick r:id="" action="ppaction://noaction"/>
              </a:rPr>
              <a:t>二分</a:t>
            </a:r>
            <a:r>
              <a:rPr lang="en-US" altLang="zh-CN" i="1" dirty="0">
                <a:cs typeface="Times New Roman" pitchFamily="18" charset="0"/>
                <a:hlinkClick r:id="" action="ppaction://noaction"/>
              </a:rPr>
              <a:t>k</a:t>
            </a:r>
            <a:r>
              <a:rPr lang="zh-CN" altLang="en-US" dirty="0">
                <a:cs typeface="Times New Roman" pitchFamily="18" charset="0"/>
                <a:hlinkClick r:id="" action="ppaction://noaction"/>
              </a:rPr>
              <a:t>均值</a:t>
            </a:r>
            <a:r>
              <a:rPr lang="zh-CN" altLang="en-US" dirty="0">
                <a:cs typeface="Times New Roman" pitchFamily="18" charset="0"/>
              </a:rPr>
              <a:t>等变种算法运行良好，不受初始化问题的影响</a:t>
            </a:r>
            <a:endParaRPr lang="en-US" altLang="zh-CN" dirty="0">
              <a:cs typeface="Times New Roman" pitchFamily="18" charset="0"/>
            </a:endParaRPr>
          </a:p>
          <a:p>
            <a:pPr marL="82296" indent="0">
              <a:buNone/>
            </a:pPr>
            <a:endParaRPr lang="zh-CN" altLang="en-US" dirty="0">
              <a:cs typeface="Times New Roman" pitchFamily="18" charset="0"/>
            </a:endParaRPr>
          </a:p>
          <a:p>
            <a:endParaRPr lang="en-US" altLang="zh-CN" dirty="0">
              <a:cs typeface="Times New Roman" pitchFamily="18" charset="0"/>
            </a:endParaRPr>
          </a:p>
          <a:p>
            <a:endParaRPr lang="zh-CN" altLang="en-US" dirty="0"/>
          </a:p>
        </p:txBody>
      </p:sp>
      <p:sp>
        <p:nvSpPr>
          <p:cNvPr id="4" name="灯片编号占位符 3"/>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43</a:t>
            </a:fld>
            <a:endParaRPr kumimoji="0" lang="en-US"/>
          </a:p>
        </p:txBody>
      </p:sp>
    </p:spTree>
    <p:extLst>
      <p:ext uri="{BB962C8B-B14F-4D97-AF65-F5344CB8AC3E}">
        <p14:creationId xmlns:p14="http://schemas.microsoft.com/office/powerpoint/2010/main" val="24672688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一些问题</a:t>
            </a:r>
          </a:p>
        </p:txBody>
      </p:sp>
      <p:sp>
        <p:nvSpPr>
          <p:cNvPr id="2" name="内容占位符 1"/>
          <p:cNvSpPr>
            <a:spLocks noGrp="1"/>
          </p:cNvSpPr>
          <p:nvPr>
            <p:ph idx="1"/>
          </p:nvPr>
        </p:nvSpPr>
        <p:spPr/>
        <p:txBody>
          <a:bodyPr>
            <a:noAutofit/>
          </a:bodyPr>
          <a:lstStyle/>
          <a:p>
            <a:r>
              <a:rPr lang="zh-CN" altLang="en-US" sz="2800" dirty="0"/>
              <a:t>空簇</a:t>
            </a:r>
            <a:endParaRPr lang="en-US" altLang="zh-CN" sz="2800" dirty="0"/>
          </a:p>
          <a:p>
            <a:pPr lvl="1"/>
            <a:r>
              <a:rPr lang="zh-CN" altLang="en-US" sz="2400" dirty="0"/>
              <a:t>所有的点在指派时都没有分配到某簇，就会得到空簇</a:t>
            </a:r>
            <a:endParaRPr lang="en-US" altLang="zh-CN" sz="2400" dirty="0"/>
          </a:p>
          <a:p>
            <a:pPr lvl="1"/>
            <a:r>
              <a:rPr lang="zh-CN" altLang="en-US" sz="2400" dirty="0"/>
              <a:t>解决：选择一个替补质心</a:t>
            </a:r>
            <a:endParaRPr lang="en-US" altLang="zh-CN" sz="2400" dirty="0"/>
          </a:p>
          <a:p>
            <a:pPr lvl="2"/>
            <a:r>
              <a:rPr lang="zh-CN" altLang="en-US" sz="2400" dirty="0"/>
              <a:t>找一个距当前任何质心最远的点</a:t>
            </a:r>
            <a:endParaRPr lang="en-US" altLang="zh-CN" sz="2400" dirty="0"/>
          </a:p>
          <a:p>
            <a:pPr lvl="2"/>
            <a:r>
              <a:rPr lang="zh-CN" altLang="en-US" sz="2400" dirty="0"/>
              <a:t>从最大</a:t>
            </a:r>
            <a:r>
              <a:rPr lang="en-US" altLang="zh-CN" sz="2400" dirty="0"/>
              <a:t>SSE</a:t>
            </a:r>
            <a:r>
              <a:rPr lang="zh-CN" altLang="en-US" sz="2400" dirty="0"/>
              <a:t>簇中选一个替补质心，继续分裂簇，降低</a:t>
            </a:r>
            <a:r>
              <a:rPr lang="en-US" altLang="zh-CN" sz="2400" dirty="0"/>
              <a:t>SSE</a:t>
            </a:r>
          </a:p>
        </p:txBody>
      </p:sp>
      <p:sp>
        <p:nvSpPr>
          <p:cNvPr id="4" name="灯片编号占位符 3"/>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44</a:t>
            </a:fld>
            <a:endParaRPr kumimoji="0" lang="en-US"/>
          </a:p>
        </p:txBody>
      </p:sp>
    </p:spTree>
    <p:extLst>
      <p:ext uri="{BB962C8B-B14F-4D97-AF65-F5344CB8AC3E}">
        <p14:creationId xmlns:p14="http://schemas.microsoft.com/office/powerpoint/2010/main" val="39883612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一些问题</a:t>
            </a:r>
          </a:p>
        </p:txBody>
      </p:sp>
      <p:sp>
        <p:nvSpPr>
          <p:cNvPr id="2" name="内容占位符 1"/>
          <p:cNvSpPr>
            <a:spLocks noGrp="1"/>
          </p:cNvSpPr>
          <p:nvPr>
            <p:ph idx="1"/>
          </p:nvPr>
        </p:nvSpPr>
        <p:spPr/>
        <p:txBody>
          <a:bodyPr>
            <a:normAutofit/>
          </a:bodyPr>
          <a:lstStyle/>
          <a:p>
            <a:r>
              <a:rPr lang="zh-CN" altLang="en-US" sz="2800" dirty="0"/>
              <a:t>后处理降低簇</a:t>
            </a:r>
            <a:r>
              <a:rPr lang="en-US" altLang="zh-CN" sz="2800" dirty="0"/>
              <a:t>SSE</a:t>
            </a:r>
          </a:p>
          <a:p>
            <a:pPr lvl="1"/>
            <a:r>
              <a:rPr lang="zh-CN" altLang="en-US" sz="2400" dirty="0"/>
              <a:t>进一步分裂簇（选</a:t>
            </a:r>
            <a:r>
              <a:rPr lang="en-US" altLang="zh-CN" sz="2400" dirty="0"/>
              <a:t>SSE</a:t>
            </a:r>
            <a:r>
              <a:rPr lang="zh-CN" altLang="en-US" sz="2400" dirty="0"/>
              <a:t>最大的簇）</a:t>
            </a:r>
            <a:endParaRPr lang="en-US" altLang="zh-CN" sz="2400" dirty="0"/>
          </a:p>
          <a:p>
            <a:pPr lvl="1"/>
            <a:r>
              <a:rPr lang="zh-CN" altLang="en-US" sz="2400" dirty="0"/>
              <a:t>引进一个新的质心（选离所有簇质心最远的点）</a:t>
            </a:r>
            <a:endParaRPr lang="en-US" altLang="zh-CN" sz="2400" dirty="0"/>
          </a:p>
          <a:p>
            <a:pPr lvl="1"/>
            <a:r>
              <a:rPr lang="zh-CN" altLang="en-US" sz="2400" dirty="0"/>
              <a:t>拆散一个簇（删除其质心，重新指派其中的点）</a:t>
            </a:r>
            <a:endParaRPr lang="en-US" altLang="zh-CN" sz="2400" dirty="0"/>
          </a:p>
          <a:p>
            <a:pPr lvl="1"/>
            <a:r>
              <a:rPr lang="zh-CN" altLang="en-US" sz="2400" dirty="0"/>
              <a:t>合并两个簇</a:t>
            </a:r>
            <a:endParaRPr lang="en-US" altLang="zh-CN" sz="2400" dirty="0"/>
          </a:p>
          <a:p>
            <a:r>
              <a:rPr lang="zh-CN" altLang="en-US" sz="2800" dirty="0"/>
              <a:t>增量地更新质心</a:t>
            </a:r>
            <a:endParaRPr lang="en-US" altLang="zh-CN" sz="2800" dirty="0"/>
          </a:p>
          <a:p>
            <a:pPr lvl="1"/>
            <a:r>
              <a:rPr lang="zh-CN" altLang="en-US" sz="2400" dirty="0"/>
              <a:t>在点到簇的每次指派后，增量地更新质心，而不是在所有的点都指派到簇中之后才更新质心</a:t>
            </a:r>
          </a:p>
        </p:txBody>
      </p:sp>
      <p:sp>
        <p:nvSpPr>
          <p:cNvPr id="4" name="灯片编号占位符 3"/>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45</a:t>
            </a:fld>
            <a:endParaRPr kumimoji="0" lang="en-US"/>
          </a:p>
        </p:txBody>
      </p:sp>
    </p:spTree>
    <p:extLst>
      <p:ext uri="{BB962C8B-B14F-4D97-AF65-F5344CB8AC3E}">
        <p14:creationId xmlns:p14="http://schemas.microsoft.com/office/powerpoint/2010/main" val="352632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750"/>
                                        <p:tgtEl>
                                          <p:spTgt spid="2">
                                            <p:txEl>
                                              <p:pRg st="1" end="1"/>
                                            </p:txEl>
                                          </p:spTgt>
                                        </p:tgtEl>
                                      </p:cBhvr>
                                    </p:animEffect>
                                  </p:childTnLst>
                                </p:cTn>
                              </p:par>
                            </p:childTnLst>
                          </p:cTn>
                        </p:par>
                        <p:par>
                          <p:cTn id="12" fill="hold">
                            <p:stCondLst>
                              <p:cond delay="1250"/>
                            </p:stCondLst>
                            <p:childTnLst>
                              <p:par>
                                <p:cTn id="13" presetID="10" presetClass="entr" presetSubtype="0"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750"/>
                                        <p:tgtEl>
                                          <p:spTgt spid="2">
                                            <p:txEl>
                                              <p:pRg st="2" end="2"/>
                                            </p:txEl>
                                          </p:spTgt>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750"/>
                                        <p:tgtEl>
                                          <p:spTgt spid="2">
                                            <p:txEl>
                                              <p:pRg st="3" end="3"/>
                                            </p:txEl>
                                          </p:spTgt>
                                        </p:tgtEl>
                                      </p:cBhvr>
                                    </p:animEffect>
                                  </p:childTnLst>
                                </p:cTn>
                              </p:par>
                            </p:childTnLst>
                          </p:cTn>
                        </p:par>
                        <p:par>
                          <p:cTn id="20" fill="hold">
                            <p:stCondLst>
                              <p:cond delay="2750"/>
                            </p:stCondLst>
                            <p:childTnLst>
                              <p:par>
                                <p:cTn id="21" presetID="10" presetClass="entr" presetSubtype="0"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75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500"/>
                                        <p:tgtEl>
                                          <p:spTgt spid="2">
                                            <p:txEl>
                                              <p:pRg st="5" end="5"/>
                                            </p:txEl>
                                          </p:spTgt>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75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小结</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p:txBody>
              <a:bodyPr/>
              <a:lstStyle/>
              <a:p>
                <a:r>
                  <a:rPr lang="en-US" altLang="zh-CN" dirty="0"/>
                  <a:t>K-Means</a:t>
                </a:r>
                <a:r>
                  <a:rPr lang="zh-CN" altLang="en-US" dirty="0"/>
                  <a:t>算法较为简单清晰</a:t>
                </a:r>
                <a:endParaRPr lang="en-US" altLang="zh-CN" dirty="0"/>
              </a:p>
              <a:p>
                <a:r>
                  <a:rPr lang="zh-CN" altLang="en-US" dirty="0"/>
                  <a:t>高维数据的应用上，需要做相应的调整</a:t>
                </a:r>
                <a:endParaRPr lang="en-US" altLang="zh-CN" dirty="0"/>
              </a:p>
              <a:p>
                <a:r>
                  <a:rPr lang="zh-CN" altLang="en-US" dirty="0"/>
                  <a:t>欧氏距离假设数据每个维度之间的重要性是一样的</a:t>
                </a:r>
                <a:endParaRPr lang="en-US" altLang="zh-CN" dirty="0"/>
              </a:p>
              <a:p>
                <a:r>
                  <a:rPr lang="zh-CN" altLang="en-US" dirty="0"/>
                  <a:t>在相似度度量确定的情况下，</a:t>
                </a:r>
                <a:r>
                  <a:rPr lang="en-US" altLang="zh-CN" i="1" dirty="0"/>
                  <a:t>k</a:t>
                </a:r>
                <a:r>
                  <a:rPr lang="zh-CN" altLang="en-US" dirty="0"/>
                  <a:t>是唯一的算法参数，也非常关键，很多时候我们并不知道数据应被聚类的数目（难题）</a:t>
                </a:r>
                <a:endParaRPr lang="en-US" altLang="zh-CN" dirty="0"/>
              </a:p>
              <a:p>
                <a:r>
                  <a:rPr lang="zh-CN" altLang="en-US" dirty="0"/>
                  <a:t>需要初始化聚类质心，初始化聚类中心对聚类结果有较大的影响</a:t>
                </a:r>
                <a:endParaRPr lang="en-US" altLang="zh-CN" dirty="0"/>
              </a:p>
              <a:p>
                <a:r>
                  <a:rPr lang="zh-CN" altLang="en-US" dirty="0"/>
                  <a:t>算法是迭代执行，时间开销非常大</a:t>
                </a:r>
                <a:endParaRPr lang="en-US" altLang="zh-CN" dirty="0"/>
              </a:p>
              <a:p>
                <a:pPr lvl="1"/>
                <a14:m>
                  <m:oMath xmlns:m="http://schemas.openxmlformats.org/officeDocument/2006/math">
                    <m:sSup>
                      <m:sSupPr>
                        <m:ctrlPr>
                          <a:rPr lang="pt-BR" altLang="zh-CN" i="1" smtClean="0">
                            <a:latin typeface="Cambria Math" panose="02040503050406030204" pitchFamily="18" charset="0"/>
                          </a:rPr>
                        </m:ctrlPr>
                      </m:sSupPr>
                      <m:e>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sup>
                        <m:r>
                          <a:rPr lang="en-US" altLang="zh-CN" b="0" i="1" smtClean="0">
                            <a:latin typeface="Cambria Math" panose="02040503050406030204" pitchFamily="18" charset="0"/>
                          </a:rPr>
                          <m:t>𝑘𝑑</m:t>
                        </m:r>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r>
                      <a:rPr lang="zh-CN" altLang="en-US" i="1">
                        <a:latin typeface="Cambria Math" panose="02040503050406030204" pitchFamily="18" charset="0"/>
                      </a:rPr>
                      <m:t>时间</m:t>
                    </m:r>
                  </m:oMath>
                </a14:m>
                <a:r>
                  <a:rPr lang="zh-CN" altLang="en-US" dirty="0"/>
                  <a:t>复杂度内收敛。</a:t>
                </a:r>
                <a:r>
                  <a:rPr lang="en-US" altLang="zh-CN" dirty="0"/>
                  <a:t>k</a:t>
                </a:r>
                <a:r>
                  <a:rPr lang="zh-CN" altLang="en-US" dirty="0"/>
                  <a:t>为簇的数量，</a:t>
                </a:r>
                <a:r>
                  <a:rPr lang="en-US" altLang="zh-CN" dirty="0"/>
                  <a:t>d</a:t>
                </a:r>
                <a:r>
                  <a:rPr lang="zh-CN" altLang="en-US" dirty="0"/>
                  <a:t>为样本维度，</a:t>
                </a:r>
                <a:r>
                  <a:rPr lang="en-US" altLang="zh-CN" dirty="0"/>
                  <a:t>n</a:t>
                </a:r>
                <a:r>
                  <a:rPr lang="zh-CN" altLang="en-US" dirty="0"/>
                  <a:t>为样本量</a:t>
                </a:r>
                <a:endParaRPr lang="en-US" altLang="zh-CN" dirty="0"/>
              </a:p>
              <a:p>
                <a:pPr marL="0" indent="0">
                  <a:buNone/>
                </a:pPr>
                <a:endParaRPr lang="en-US" altLang="zh-CN" dirty="0"/>
              </a:p>
              <a:p>
                <a:pPr marL="82296" indent="0">
                  <a:buNone/>
                </a:pPr>
                <a:endParaRPr lang="en-US" altLang="zh-CN" dirty="0"/>
              </a:p>
              <a:p>
                <a:pPr marL="402336" lvl="1" indent="0">
                  <a:buNone/>
                </a:pPr>
                <a:endParaRPr lang="zh-CN" altLang="en-US" dirty="0"/>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blipFill>
                <a:blip r:embed="rId2"/>
                <a:stretch>
                  <a:fillRect l="-618" t="-108"/>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46</a:t>
            </a:fld>
            <a:endParaRPr kumimoji="0" lang="en-US"/>
          </a:p>
        </p:txBody>
      </p:sp>
    </p:spTree>
    <p:extLst>
      <p:ext uri="{BB962C8B-B14F-4D97-AF65-F5344CB8AC3E}">
        <p14:creationId xmlns:p14="http://schemas.microsoft.com/office/powerpoint/2010/main" val="287588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500"/>
                                        <p:tgtEl>
                                          <p:spTgt spid="4">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animEffect transition="in" filter="fade">
                                      <p:cBhvr>
                                        <p:cTn id="30"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576968" y="166027"/>
            <a:ext cx="7507706" cy="657727"/>
          </a:xfrm>
        </p:spPr>
        <p:txBody>
          <a:bodyPr/>
          <a:lstStyle/>
          <a:p>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均值聚类算法的应用</a:t>
            </a:r>
            <a:endParaRPr lang="zh-CN" altLang="en-US" sz="2400" b="1" dirty="0">
              <a:latin typeface="Times New Roman" panose="02020603050405020304" pitchFamily="18" charset="0"/>
              <a:cs typeface="Times New Roman" panose="02020603050405020304" pitchFamily="18" charset="0"/>
            </a:endParaRPr>
          </a:p>
        </p:txBody>
      </p:sp>
      <p:pic>
        <p:nvPicPr>
          <p:cNvPr id="4" name="Picture 3"/>
          <p:cNvPicPr>
            <a:picLocks noChangeAspect="1" noChangeArrowheads="1"/>
          </p:cNvPicPr>
          <p:nvPr/>
        </p:nvPicPr>
        <p:blipFill>
          <a:blip r:embed="rId2" cstate="print"/>
          <a:srcRect/>
          <a:stretch>
            <a:fillRect/>
          </a:stretch>
        </p:blipFill>
        <p:spPr bwMode="auto">
          <a:xfrm>
            <a:off x="271094" y="1770917"/>
            <a:ext cx="3672256" cy="3626584"/>
          </a:xfrm>
          <a:prstGeom prst="rect">
            <a:avLst/>
          </a:prstGeom>
          <a:noFill/>
          <a:ln w="9525">
            <a:noFill/>
            <a:miter lim="800000"/>
            <a:headEnd/>
            <a:tailEnd/>
          </a:ln>
        </p:spPr>
      </p:pic>
      <p:sp>
        <p:nvSpPr>
          <p:cNvPr id="5" name="圆角矩形 4"/>
          <p:cNvSpPr/>
          <p:nvPr/>
        </p:nvSpPr>
        <p:spPr bwMode="auto">
          <a:xfrm>
            <a:off x="1211287" y="5783468"/>
            <a:ext cx="1884338" cy="619533"/>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Times New Roman" pitchFamily="18" charset="0"/>
                <a:ea typeface="微软雅黑" pitchFamily="34" charset="-122"/>
                <a:cs typeface="Times New Roman" pitchFamily="18" charset="0"/>
              </a:rPr>
              <a:t>图像压缩</a:t>
            </a:r>
            <a:endParaRPr kumimoji="0" lang="en-US" altLang="zh-CN" sz="2000" b="1" i="0" u="none" strike="noStrike" kern="0" cap="none" spc="0" normalizeH="0" baseline="0" noProof="0" dirty="0">
              <a:ln>
                <a:noFill/>
              </a:ln>
              <a:solidFill>
                <a:srgbClr val="0070C0"/>
              </a:solidFill>
              <a:effectLst/>
              <a:uLnTx/>
              <a:uFillTx/>
              <a:latin typeface="Times New Roman" pitchFamily="18" charset="0"/>
              <a:ea typeface="微软雅黑" pitchFamily="34" charset="-122"/>
              <a:cs typeface="Times New Roman" pitchFamily="18" charset="0"/>
            </a:endParaRPr>
          </a:p>
        </p:txBody>
      </p:sp>
      <p:sp>
        <p:nvSpPr>
          <p:cNvPr id="8" name="矩形 2"/>
          <p:cNvSpPr>
            <a:spLocks noChangeArrowheads="1"/>
          </p:cNvSpPr>
          <p:nvPr/>
        </p:nvSpPr>
        <p:spPr bwMode="auto">
          <a:xfrm>
            <a:off x="4152899" y="5784673"/>
            <a:ext cx="47529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黑体" pitchFamily="49" charset="-122"/>
                <a:ea typeface="黑体" pitchFamily="49" charset="-122"/>
              </a:defRPr>
            </a:lvl1pPr>
            <a:lvl2pPr marL="742950" indent="-285750" eaLnBrk="0" hangingPunct="0">
              <a:defRPr sz="2000">
                <a:solidFill>
                  <a:schemeClr val="tx1"/>
                </a:solidFill>
                <a:latin typeface="黑体" pitchFamily="49" charset="-122"/>
                <a:ea typeface="黑体" pitchFamily="49" charset="-122"/>
              </a:defRPr>
            </a:lvl2pPr>
            <a:lvl3pPr marL="1143000" indent="-228600" eaLnBrk="0" hangingPunct="0">
              <a:defRPr sz="2000">
                <a:solidFill>
                  <a:schemeClr val="tx1"/>
                </a:solidFill>
                <a:latin typeface="黑体" pitchFamily="49" charset="-122"/>
                <a:ea typeface="黑体" pitchFamily="49" charset="-122"/>
              </a:defRPr>
            </a:lvl3pPr>
            <a:lvl4pPr marL="1600200" indent="-228600" eaLnBrk="0" hangingPunct="0">
              <a:defRPr sz="2000">
                <a:solidFill>
                  <a:schemeClr val="tx1"/>
                </a:solidFill>
                <a:latin typeface="黑体" pitchFamily="49" charset="-122"/>
                <a:ea typeface="黑体" pitchFamily="49" charset="-122"/>
              </a:defRPr>
            </a:lvl4pPr>
            <a:lvl5pPr marL="2057400" indent="-228600" eaLnBrk="0" hangingPunct="0">
              <a:defRPr sz="2000">
                <a:solidFill>
                  <a:schemeClr val="tx1"/>
                </a:solidFill>
                <a:latin typeface="黑体" pitchFamily="49" charset="-122"/>
                <a:ea typeface="黑体" pitchFamily="49" charset="-122"/>
              </a:defRPr>
            </a:lvl5pPr>
            <a:lvl6pPr marL="25146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6pPr>
            <a:lvl7pPr marL="29718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7pPr>
            <a:lvl8pPr marL="34290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8pPr>
            <a:lvl9pPr marL="38862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9pPr>
          </a:lstStyle>
          <a:p>
            <a:pPr algn="just" eaLnBrk="1" hangingPunct="1"/>
            <a:r>
              <a:rPr lang="zh-CN" altLang="en-US" sz="1200" dirty="0">
                <a:solidFill>
                  <a:schemeClr val="accent2">
                    <a:lumMod val="75000"/>
                  </a:schemeClr>
                </a:solidFill>
                <a:latin typeface="Times New Roman" panose="02020603050405020304" pitchFamily="18" charset="0"/>
                <a:ea typeface="楷体" panose="02010609060101010101" pitchFamily="49" charset="-122"/>
                <a:cs typeface="Times New Roman" panose="02020603050405020304" pitchFamily="18" charset="0"/>
              </a:rPr>
              <a:t>文本分类：</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将</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200</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多万篇论文聚类到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29,000</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个类别，包括化学、工程、生物、传染疾病、生物信息、脑科学、社会科学、计算机科学等及给出了每个类别中的代表单词</a:t>
            </a:r>
            <a:endParaRPr lang="en-US" altLang="zh-CN" sz="1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122" name="Picture 2" descr="Fig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2899" y="1101687"/>
            <a:ext cx="4752975" cy="4571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4978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聚类算法的评估</a:t>
            </a:r>
          </a:p>
        </p:txBody>
      </p:sp>
      <p:sp>
        <p:nvSpPr>
          <p:cNvPr id="4" name="左大括号 3"/>
          <p:cNvSpPr/>
          <p:nvPr/>
        </p:nvSpPr>
        <p:spPr>
          <a:xfrm>
            <a:off x="1371600" y="2514600"/>
            <a:ext cx="288000" cy="2124000"/>
          </a:xfrm>
          <a:prstGeom prst="leftBrace">
            <a:avLst>
              <a:gd name="adj1" fmla="val 37614"/>
              <a:gd name="adj2" fmla="val 50000"/>
            </a:avLst>
          </a:prstGeom>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sz="2000" dirty="0">
              <a:latin typeface="Times New Roman" pitchFamily="18" charset="0"/>
              <a:ea typeface="华文细黑" pitchFamily="2" charset="-122"/>
            </a:endParaRPr>
          </a:p>
        </p:txBody>
      </p:sp>
      <p:sp>
        <p:nvSpPr>
          <p:cNvPr id="5" name="矩形 4"/>
          <p:cNvSpPr/>
          <p:nvPr/>
        </p:nvSpPr>
        <p:spPr>
          <a:xfrm>
            <a:off x="1696522" y="2362201"/>
            <a:ext cx="3467616" cy="584775"/>
          </a:xfrm>
          <a:prstGeom prst="rect">
            <a:avLst/>
          </a:prstGeom>
        </p:spPr>
        <p:txBody>
          <a:bodyPr wrap="none">
            <a:spAutoFit/>
          </a:bodyPr>
          <a:lstStyle/>
          <a:p>
            <a:r>
              <a:rPr lang="zh-CN" altLang="en-US" sz="3200" dirty="0">
                <a:latin typeface="Times New Roman" pitchFamily="18" charset="0"/>
                <a:ea typeface="华文细黑" pitchFamily="2" charset="-122"/>
              </a:rPr>
              <a:t>聚类算法自身评估</a:t>
            </a:r>
          </a:p>
        </p:txBody>
      </p:sp>
      <p:sp>
        <p:nvSpPr>
          <p:cNvPr id="6" name="矩形 5"/>
          <p:cNvSpPr/>
          <p:nvPr/>
        </p:nvSpPr>
        <p:spPr>
          <a:xfrm>
            <a:off x="1714600" y="4114801"/>
            <a:ext cx="3034805" cy="584775"/>
          </a:xfrm>
          <a:prstGeom prst="rect">
            <a:avLst/>
          </a:prstGeom>
        </p:spPr>
        <p:txBody>
          <a:bodyPr wrap="none">
            <a:spAutoFit/>
          </a:bodyPr>
          <a:lstStyle/>
          <a:p>
            <a:r>
              <a:rPr lang="zh-CN" altLang="en-US" sz="3200" dirty="0">
                <a:latin typeface="Times New Roman" pitchFamily="18" charset="0"/>
                <a:ea typeface="华文细黑" pitchFamily="2" charset="-122"/>
              </a:rPr>
              <a:t>聚类结果的评估</a:t>
            </a:r>
          </a:p>
        </p:txBody>
      </p:sp>
    </p:spTree>
    <p:extLst>
      <p:ext uri="{BB962C8B-B14F-4D97-AF65-F5344CB8AC3E}">
        <p14:creationId xmlns:p14="http://schemas.microsoft.com/office/powerpoint/2010/main" val="2029488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ormAutofit/>
          </a:bodyPr>
          <a:lstStyle/>
          <a:p>
            <a:r>
              <a:rPr lang="zh-CN" altLang="en-US" dirty="0"/>
              <a:t>聚类算法评估</a:t>
            </a:r>
          </a:p>
        </p:txBody>
      </p:sp>
      <p:sp>
        <p:nvSpPr>
          <p:cNvPr id="3" name="内容占位符 2"/>
          <p:cNvSpPr>
            <a:spLocks noGrp="1"/>
          </p:cNvSpPr>
          <p:nvPr>
            <p:ph idx="1"/>
          </p:nvPr>
        </p:nvSpPr>
        <p:spPr/>
        <p:txBody>
          <a:bodyPr>
            <a:normAutofit/>
          </a:bodyPr>
          <a:lstStyle/>
          <a:p>
            <a:r>
              <a:rPr lang="zh-CN" altLang="en-US" dirty="0"/>
              <a:t>可伸缩性 </a:t>
            </a:r>
            <a:endParaRPr lang="en-US" altLang="zh-CN" dirty="0"/>
          </a:p>
          <a:p>
            <a:r>
              <a:rPr lang="zh-CN" altLang="en-US" dirty="0"/>
              <a:t>处理不同字段类型的能力</a:t>
            </a:r>
          </a:p>
          <a:p>
            <a:r>
              <a:rPr lang="zh-CN" altLang="en-US" dirty="0"/>
              <a:t>处理任意形状的数据集</a:t>
            </a:r>
            <a:endParaRPr lang="en-US" altLang="zh-CN" dirty="0"/>
          </a:p>
          <a:p>
            <a:r>
              <a:rPr lang="zh-CN" altLang="en-US" dirty="0"/>
              <a:t>领域知识运用最小化</a:t>
            </a:r>
            <a:r>
              <a:rPr lang="en-US" altLang="zh-CN" sz="1800" dirty="0"/>
              <a:t>(</a:t>
            </a:r>
            <a:r>
              <a:rPr lang="zh-CN" altLang="en-US" sz="1800" dirty="0"/>
              <a:t>决定输入参数时</a:t>
            </a:r>
            <a:r>
              <a:rPr lang="en-US" altLang="zh-CN" sz="1800" dirty="0"/>
              <a:t>)</a:t>
            </a:r>
            <a:endParaRPr lang="en-US" altLang="zh-CN" dirty="0"/>
          </a:p>
          <a:p>
            <a:r>
              <a:rPr lang="zh-CN" altLang="en-US" dirty="0"/>
              <a:t>处理高维数据的能力</a:t>
            </a:r>
          </a:p>
          <a:p>
            <a:r>
              <a:rPr lang="zh-CN" altLang="en-US" dirty="0"/>
              <a:t>处理噪声点数据的能力</a:t>
            </a:r>
            <a:endParaRPr lang="en-US" altLang="zh-CN" dirty="0"/>
          </a:p>
          <a:p>
            <a:r>
              <a:rPr lang="zh-CN" altLang="en-US" dirty="0"/>
              <a:t>对数据顺序的不敏感性</a:t>
            </a:r>
          </a:p>
          <a:p>
            <a:r>
              <a:rPr lang="zh-CN" altLang="en-US" dirty="0"/>
              <a:t>可解释性和可用性</a:t>
            </a:r>
          </a:p>
          <a:p>
            <a:endParaRPr lang="zh-CN" altLang="en-US" dirty="0"/>
          </a:p>
        </p:txBody>
      </p:sp>
      <p:sp>
        <p:nvSpPr>
          <p:cNvPr id="4" name="矩形 3"/>
          <p:cNvSpPr/>
          <p:nvPr/>
        </p:nvSpPr>
        <p:spPr>
          <a:xfrm>
            <a:off x="4038600" y="3581400"/>
            <a:ext cx="4800600" cy="2308324"/>
          </a:xfrm>
          <a:prstGeom prst="rect">
            <a:avLst/>
          </a:prstGeom>
        </p:spPr>
        <p:txBody>
          <a:bodyPr wrap="square">
            <a:spAutoFit/>
          </a:bodyPr>
          <a:lstStyle/>
          <a:p>
            <a:pPr marL="177800" indent="-177800">
              <a:lnSpc>
                <a:spcPct val="120000"/>
              </a:lnSpc>
              <a:buFont typeface="Arial" pitchFamily="34" charset="0"/>
              <a:buChar char="•"/>
            </a:pPr>
            <a:r>
              <a:rPr lang="zh-CN" altLang="zh-CN" sz="2000" dirty="0">
                <a:solidFill>
                  <a:srgbClr val="C00000"/>
                </a:solidFill>
                <a:latin typeface="华文细黑" pitchFamily="2" charset="-122"/>
                <a:ea typeface="华文细黑" pitchFamily="2" charset="-122"/>
              </a:rPr>
              <a:t>算法是否适用于大数据量，算法的效率是否满足大数据量高复杂性的要求</a:t>
            </a:r>
          </a:p>
          <a:p>
            <a:pPr marL="177800" indent="-177800">
              <a:lnSpc>
                <a:spcPct val="120000"/>
              </a:lnSpc>
              <a:buFont typeface="Arial" pitchFamily="34" charset="0"/>
              <a:buChar char="•"/>
            </a:pPr>
            <a:r>
              <a:rPr lang="zh-CN" altLang="zh-CN" sz="2000" dirty="0">
                <a:solidFill>
                  <a:srgbClr val="C00000"/>
                </a:solidFill>
                <a:latin typeface="华文细黑" pitchFamily="2" charset="-122"/>
                <a:ea typeface="华文细黑" pitchFamily="2" charset="-122"/>
              </a:rPr>
              <a:t>是否能够应付不同的数据类型，能否处理符号属性</a:t>
            </a:r>
          </a:p>
          <a:p>
            <a:pPr marL="177800" indent="-177800">
              <a:lnSpc>
                <a:spcPct val="120000"/>
              </a:lnSpc>
              <a:buFont typeface="Arial" pitchFamily="34" charset="0"/>
              <a:buChar char="•"/>
            </a:pPr>
            <a:r>
              <a:rPr lang="zh-CN" altLang="zh-CN" sz="2000" dirty="0">
                <a:solidFill>
                  <a:srgbClr val="C00000"/>
                </a:solidFill>
                <a:latin typeface="华文细黑" pitchFamily="2" charset="-122"/>
                <a:ea typeface="华文细黑" pitchFamily="2" charset="-122"/>
              </a:rPr>
              <a:t>是否能发现不同类型的聚类</a:t>
            </a:r>
          </a:p>
          <a:p>
            <a:pPr marL="177800" indent="-177800">
              <a:lnSpc>
                <a:spcPct val="120000"/>
              </a:lnSpc>
              <a:buFont typeface="Arial" pitchFamily="34" charset="0"/>
              <a:buChar char="•"/>
            </a:pPr>
            <a:r>
              <a:rPr lang="zh-CN" altLang="zh-CN" sz="2000" dirty="0">
                <a:solidFill>
                  <a:srgbClr val="C00000"/>
                </a:solidFill>
                <a:latin typeface="华文细黑" pitchFamily="2" charset="-122"/>
                <a:ea typeface="华文细黑" pitchFamily="2" charset="-122"/>
              </a:rPr>
              <a:t>是否能应付脏数据或异常数据</a:t>
            </a:r>
          </a:p>
        </p:txBody>
      </p:sp>
    </p:spTree>
    <p:extLst>
      <p:ext uri="{BB962C8B-B14F-4D97-AF65-F5344CB8AC3E}">
        <p14:creationId xmlns:p14="http://schemas.microsoft.com/office/powerpoint/2010/main" val="5781276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2306" name="Rectangle 2"/>
          <p:cNvSpPr>
            <a:spLocks noGrp="1" noChangeArrowheads="1"/>
          </p:cNvSpPr>
          <p:nvPr>
            <p:ph type="title"/>
          </p:nvPr>
        </p:nvSpPr>
        <p:spPr/>
        <p:txBody>
          <a:bodyPr>
            <a:normAutofit/>
          </a:bodyPr>
          <a:lstStyle/>
          <a:p>
            <a:r>
              <a:rPr lang="zh-CN" altLang="en-US" dirty="0"/>
              <a:t>聚类结果评估</a:t>
            </a:r>
          </a:p>
        </p:txBody>
      </p:sp>
      <p:sp>
        <p:nvSpPr>
          <p:cNvPr id="1762307" name="Rectangle 3"/>
          <p:cNvSpPr>
            <a:spLocks noGrp="1" noChangeArrowheads="1"/>
          </p:cNvSpPr>
          <p:nvPr>
            <p:ph idx="1"/>
          </p:nvPr>
        </p:nvSpPr>
        <p:spPr/>
        <p:txBody>
          <a:bodyPr>
            <a:normAutofit/>
          </a:bodyPr>
          <a:lstStyle/>
          <a:p>
            <a:r>
              <a:rPr lang="zh-CN" altLang="en-US" dirty="0">
                <a:solidFill>
                  <a:srgbClr val="C00000"/>
                </a:solidFill>
              </a:rPr>
              <a:t>簇</a:t>
            </a:r>
            <a:r>
              <a:rPr lang="zh-CN" altLang="en-US" dirty="0"/>
              <a:t>评估、</a:t>
            </a:r>
            <a:r>
              <a:rPr lang="zh-CN" altLang="en-US" dirty="0">
                <a:solidFill>
                  <a:srgbClr val="C00000"/>
                </a:solidFill>
              </a:rPr>
              <a:t>簇</a:t>
            </a:r>
            <a:r>
              <a:rPr lang="zh-CN" altLang="en-US" dirty="0"/>
              <a:t>确认</a:t>
            </a:r>
            <a:r>
              <a:rPr lang="en-US" altLang="zh-CN" dirty="0"/>
              <a:t>Cluster Validity</a:t>
            </a:r>
          </a:p>
          <a:p>
            <a:r>
              <a:rPr lang="zh-CN" altLang="en-US" dirty="0"/>
              <a:t>内容</a:t>
            </a:r>
            <a:endParaRPr lang="en-US" altLang="zh-CN" dirty="0"/>
          </a:p>
          <a:p>
            <a:pPr lvl="1"/>
            <a:r>
              <a:rPr lang="zh-CN" altLang="en-US" dirty="0"/>
              <a:t>比较两个簇的特性</a:t>
            </a:r>
            <a:endParaRPr lang="en-US" altLang="zh-CN" dirty="0"/>
          </a:p>
          <a:p>
            <a:pPr lvl="1"/>
            <a:r>
              <a:rPr lang="zh-CN" altLang="en-US" dirty="0"/>
              <a:t>比较不同的算法、参数的得到的两组簇</a:t>
            </a:r>
            <a:endParaRPr lang="en-US" altLang="zh-CN" dirty="0"/>
          </a:p>
          <a:p>
            <a:pPr lvl="1"/>
            <a:r>
              <a:rPr lang="zh-CN" altLang="en-US" dirty="0"/>
              <a:t>通过比较两组簇来比较聚类算法</a:t>
            </a:r>
            <a:endParaRPr lang="en-US" altLang="zh-CN" dirty="0"/>
          </a:p>
          <a:p>
            <a:pPr lvl="1"/>
            <a:r>
              <a:rPr lang="zh-CN" altLang="en-US" dirty="0"/>
              <a:t>避免得到的簇是来自噪声数据的</a:t>
            </a:r>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2306" name="Rectangle 2"/>
          <p:cNvSpPr>
            <a:spLocks noGrp="1" noChangeArrowheads="1"/>
          </p:cNvSpPr>
          <p:nvPr>
            <p:ph type="title"/>
          </p:nvPr>
        </p:nvSpPr>
        <p:spPr/>
        <p:txBody>
          <a:bodyPr/>
          <a:lstStyle/>
          <a:p>
            <a:r>
              <a:rPr lang="zh-CN" altLang="en-US" dirty="0"/>
              <a:t>簇评估：</a:t>
            </a:r>
          </a:p>
        </p:txBody>
      </p:sp>
      <p:sp>
        <p:nvSpPr>
          <p:cNvPr id="9" name="矩形 8"/>
          <p:cNvSpPr/>
          <p:nvPr/>
        </p:nvSpPr>
        <p:spPr>
          <a:xfrm>
            <a:off x="493694" y="3274568"/>
            <a:ext cx="954107" cy="400110"/>
          </a:xfrm>
          <a:prstGeom prst="rect">
            <a:avLst/>
          </a:prstGeom>
        </p:spPr>
        <p:txBody>
          <a:bodyPr wrap="none">
            <a:spAutoFit/>
          </a:bodyPr>
          <a:lstStyle/>
          <a:p>
            <a:pPr algn="r"/>
            <a:r>
              <a:rPr lang="zh-CN" altLang="en-US" sz="2000" dirty="0">
                <a:latin typeface="Times New Roman" pitchFamily="18" charset="0"/>
                <a:ea typeface="华文细黑" pitchFamily="2" charset="-122"/>
              </a:rPr>
              <a:t>簇评估</a:t>
            </a:r>
          </a:p>
        </p:txBody>
      </p:sp>
      <p:sp>
        <p:nvSpPr>
          <p:cNvPr id="11" name="矩形 10"/>
          <p:cNvSpPr/>
          <p:nvPr/>
        </p:nvSpPr>
        <p:spPr>
          <a:xfrm>
            <a:off x="1656548" y="2035272"/>
            <a:ext cx="954107" cy="400110"/>
          </a:xfrm>
          <a:prstGeom prst="rect">
            <a:avLst/>
          </a:prstGeom>
        </p:spPr>
        <p:txBody>
          <a:bodyPr wrap="none">
            <a:spAutoFit/>
          </a:bodyPr>
          <a:lstStyle/>
          <a:p>
            <a:r>
              <a:rPr lang="zh-CN" altLang="en-US" sz="2000" dirty="0">
                <a:latin typeface="Times New Roman" pitchFamily="18" charset="0"/>
                <a:ea typeface="华文细黑" pitchFamily="2" charset="-122"/>
              </a:rPr>
              <a:t>非监督</a:t>
            </a:r>
          </a:p>
        </p:txBody>
      </p:sp>
      <p:sp>
        <p:nvSpPr>
          <p:cNvPr id="12" name="矩形 11"/>
          <p:cNvSpPr/>
          <p:nvPr/>
        </p:nvSpPr>
        <p:spPr>
          <a:xfrm>
            <a:off x="1656548" y="3264320"/>
            <a:ext cx="954107" cy="400110"/>
          </a:xfrm>
          <a:prstGeom prst="rect">
            <a:avLst/>
          </a:prstGeom>
        </p:spPr>
        <p:txBody>
          <a:bodyPr wrap="none">
            <a:spAutoFit/>
          </a:bodyPr>
          <a:lstStyle/>
          <a:p>
            <a:r>
              <a:rPr lang="zh-CN" altLang="en-US" sz="2000" dirty="0">
                <a:latin typeface="Times New Roman" pitchFamily="18" charset="0"/>
                <a:ea typeface="华文细黑" pitchFamily="2" charset="-122"/>
              </a:rPr>
              <a:t>监督的</a:t>
            </a:r>
          </a:p>
        </p:txBody>
      </p:sp>
      <p:sp>
        <p:nvSpPr>
          <p:cNvPr id="13" name="矩形 12"/>
          <p:cNvSpPr/>
          <p:nvPr/>
        </p:nvSpPr>
        <p:spPr>
          <a:xfrm>
            <a:off x="1656548" y="4493367"/>
            <a:ext cx="954107" cy="400110"/>
          </a:xfrm>
          <a:prstGeom prst="rect">
            <a:avLst/>
          </a:prstGeom>
        </p:spPr>
        <p:txBody>
          <a:bodyPr wrap="none">
            <a:spAutoFit/>
          </a:bodyPr>
          <a:lstStyle/>
          <a:p>
            <a:r>
              <a:rPr lang="zh-CN" altLang="en-US" sz="2000" dirty="0">
                <a:latin typeface="Times New Roman" pitchFamily="18" charset="0"/>
                <a:ea typeface="华文细黑" pitchFamily="2" charset="-122"/>
              </a:rPr>
              <a:t>相对的</a:t>
            </a:r>
          </a:p>
        </p:txBody>
      </p:sp>
      <p:sp>
        <p:nvSpPr>
          <p:cNvPr id="10" name="左大括号 9"/>
          <p:cNvSpPr/>
          <p:nvPr/>
        </p:nvSpPr>
        <p:spPr>
          <a:xfrm>
            <a:off x="1447800" y="2161480"/>
            <a:ext cx="216000" cy="2628000"/>
          </a:xfrm>
          <a:prstGeom prst="leftBrace">
            <a:avLst>
              <a:gd name="adj1" fmla="val 37614"/>
              <a:gd name="adj2" fmla="val 50000"/>
            </a:avLst>
          </a:prstGeom>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dirty="0">
              <a:latin typeface="Times New Roman" pitchFamily="18" charset="0"/>
              <a:ea typeface="华文细黑" pitchFamily="2" charset="-122"/>
            </a:endParaRPr>
          </a:p>
        </p:txBody>
      </p:sp>
      <p:sp>
        <p:nvSpPr>
          <p:cNvPr id="15" name="矩形 14"/>
          <p:cNvSpPr/>
          <p:nvPr/>
        </p:nvSpPr>
        <p:spPr>
          <a:xfrm>
            <a:off x="2779694" y="1676400"/>
            <a:ext cx="954107" cy="400110"/>
          </a:xfrm>
          <a:prstGeom prst="rect">
            <a:avLst/>
          </a:prstGeom>
        </p:spPr>
        <p:txBody>
          <a:bodyPr wrap="none">
            <a:spAutoFit/>
          </a:bodyPr>
          <a:lstStyle/>
          <a:p>
            <a:r>
              <a:rPr lang="zh-CN" altLang="en-US" sz="2000" dirty="0">
                <a:latin typeface="Times New Roman" pitchFamily="18" charset="0"/>
                <a:ea typeface="华文细黑" pitchFamily="2" charset="-122"/>
              </a:rPr>
              <a:t>凝聚性</a:t>
            </a:r>
          </a:p>
        </p:txBody>
      </p:sp>
      <p:sp>
        <p:nvSpPr>
          <p:cNvPr id="16" name="矩形 15"/>
          <p:cNvSpPr/>
          <p:nvPr/>
        </p:nvSpPr>
        <p:spPr>
          <a:xfrm>
            <a:off x="2770367" y="2257063"/>
            <a:ext cx="954107" cy="400110"/>
          </a:xfrm>
          <a:prstGeom prst="rect">
            <a:avLst/>
          </a:prstGeom>
        </p:spPr>
        <p:txBody>
          <a:bodyPr wrap="none">
            <a:spAutoFit/>
          </a:bodyPr>
          <a:lstStyle/>
          <a:p>
            <a:r>
              <a:rPr lang="zh-CN" altLang="en-US" sz="2000" dirty="0">
                <a:latin typeface="Times New Roman" pitchFamily="18" charset="0"/>
                <a:ea typeface="华文细黑" pitchFamily="2" charset="-122"/>
              </a:rPr>
              <a:t>分离性</a:t>
            </a:r>
          </a:p>
        </p:txBody>
      </p:sp>
      <p:sp>
        <p:nvSpPr>
          <p:cNvPr id="18" name="左大括号 17"/>
          <p:cNvSpPr/>
          <p:nvPr/>
        </p:nvSpPr>
        <p:spPr>
          <a:xfrm flipV="1">
            <a:off x="2566241" y="1788859"/>
            <a:ext cx="144000" cy="801629"/>
          </a:xfrm>
          <a:prstGeom prst="leftBrace">
            <a:avLst>
              <a:gd name="adj1" fmla="val 72619"/>
              <a:gd name="adj2" fmla="val 50000"/>
            </a:avLst>
          </a:prstGeom>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dirty="0">
              <a:latin typeface="Times New Roman" pitchFamily="18" charset="0"/>
              <a:ea typeface="华文细黑" pitchFamily="2" charset="-122"/>
            </a:endParaRPr>
          </a:p>
        </p:txBody>
      </p:sp>
      <p:sp>
        <p:nvSpPr>
          <p:cNvPr id="19" name="矩形 18"/>
          <p:cNvSpPr/>
          <p:nvPr/>
        </p:nvSpPr>
        <p:spPr>
          <a:xfrm>
            <a:off x="2770366" y="2952690"/>
            <a:ext cx="4544834" cy="400110"/>
          </a:xfrm>
          <a:prstGeom prst="rect">
            <a:avLst/>
          </a:prstGeom>
        </p:spPr>
        <p:txBody>
          <a:bodyPr wrap="none">
            <a:spAutoFit/>
          </a:bodyPr>
          <a:lstStyle/>
          <a:p>
            <a:r>
              <a:rPr lang="zh-CN" altLang="en-US" sz="2000" dirty="0">
                <a:latin typeface="Times New Roman" pitchFamily="18" charset="0"/>
                <a:ea typeface="华文细黑" pitchFamily="2" charset="-122"/>
              </a:rPr>
              <a:t>已知分类，对聚类结果进行检验和评估</a:t>
            </a:r>
          </a:p>
        </p:txBody>
      </p:sp>
      <p:sp>
        <p:nvSpPr>
          <p:cNvPr id="20" name="矩形 19"/>
          <p:cNvSpPr/>
          <p:nvPr/>
        </p:nvSpPr>
        <p:spPr>
          <a:xfrm>
            <a:off x="2770366" y="3527063"/>
            <a:ext cx="3259226" cy="400110"/>
          </a:xfrm>
          <a:prstGeom prst="rect">
            <a:avLst/>
          </a:prstGeom>
        </p:spPr>
        <p:txBody>
          <a:bodyPr wrap="none">
            <a:spAutoFit/>
          </a:bodyPr>
          <a:lstStyle/>
          <a:p>
            <a:r>
              <a:rPr lang="zh-CN" altLang="en-US" sz="2000" dirty="0">
                <a:latin typeface="Times New Roman" pitchFamily="18" charset="0"/>
                <a:ea typeface="华文细黑" pitchFamily="2" charset="-122"/>
              </a:rPr>
              <a:t>准确率、</a:t>
            </a:r>
            <a:r>
              <a:rPr lang="zh-CN" altLang="en-US" sz="1600" dirty="0">
                <a:latin typeface="华文细黑" pitchFamily="2" charset="-122"/>
                <a:ea typeface="华文细黑" pitchFamily="2" charset="-122"/>
              </a:rPr>
              <a:t>精度、召回率、</a:t>
            </a:r>
            <a:r>
              <a:rPr lang="en-US" altLang="zh-CN" sz="1600" dirty="0">
                <a:latin typeface="华文细黑" pitchFamily="2" charset="-122"/>
                <a:ea typeface="华文细黑" pitchFamily="2" charset="-122"/>
              </a:rPr>
              <a:t>F</a:t>
            </a:r>
            <a:r>
              <a:rPr lang="zh-CN" altLang="en-US" sz="1600" dirty="0">
                <a:latin typeface="华文细黑" pitchFamily="2" charset="-122"/>
                <a:ea typeface="华文细黑" pitchFamily="2" charset="-122"/>
              </a:rPr>
              <a:t>度量</a:t>
            </a:r>
          </a:p>
        </p:txBody>
      </p:sp>
      <p:sp>
        <p:nvSpPr>
          <p:cNvPr id="21" name="左大括号 20"/>
          <p:cNvSpPr/>
          <p:nvPr/>
        </p:nvSpPr>
        <p:spPr>
          <a:xfrm flipV="1">
            <a:off x="2553960" y="3058859"/>
            <a:ext cx="144000" cy="801629"/>
          </a:xfrm>
          <a:prstGeom prst="leftBrace">
            <a:avLst>
              <a:gd name="adj1" fmla="val 72619"/>
              <a:gd name="adj2" fmla="val 50000"/>
            </a:avLst>
          </a:prstGeom>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dirty="0">
              <a:latin typeface="Times New Roman" pitchFamily="18" charset="0"/>
              <a:ea typeface="华文细黑" pitchFamily="2" charset="-122"/>
            </a:endParaRPr>
          </a:p>
        </p:txBody>
      </p:sp>
      <p:sp>
        <p:nvSpPr>
          <p:cNvPr id="22" name="矩形 21"/>
          <p:cNvSpPr/>
          <p:nvPr/>
        </p:nvSpPr>
        <p:spPr>
          <a:xfrm>
            <a:off x="2770366" y="4265033"/>
            <a:ext cx="2492990" cy="400110"/>
          </a:xfrm>
          <a:prstGeom prst="rect">
            <a:avLst/>
          </a:prstGeom>
        </p:spPr>
        <p:txBody>
          <a:bodyPr wrap="none">
            <a:spAutoFit/>
          </a:bodyPr>
          <a:lstStyle/>
          <a:p>
            <a:r>
              <a:rPr lang="zh-CN" altLang="en-US" sz="2000" dirty="0">
                <a:latin typeface="Times New Roman" pitchFamily="18" charset="0"/>
                <a:ea typeface="华文细黑" pitchFamily="2" charset="-122"/>
              </a:rPr>
              <a:t>不同聚类方法的比较</a:t>
            </a:r>
          </a:p>
        </p:txBody>
      </p:sp>
      <p:sp>
        <p:nvSpPr>
          <p:cNvPr id="23" name="矩形 22"/>
          <p:cNvSpPr/>
          <p:nvPr/>
        </p:nvSpPr>
        <p:spPr>
          <a:xfrm>
            <a:off x="2770366" y="4888468"/>
            <a:ext cx="1306768" cy="369332"/>
          </a:xfrm>
          <a:prstGeom prst="rect">
            <a:avLst/>
          </a:prstGeom>
        </p:spPr>
        <p:txBody>
          <a:bodyPr wrap="none">
            <a:spAutoFit/>
          </a:bodyPr>
          <a:lstStyle/>
          <a:p>
            <a:r>
              <a:rPr lang="en-US" altLang="zh-CN" dirty="0">
                <a:latin typeface="Times New Roman" pitchFamily="18" charset="0"/>
                <a:ea typeface="华文细黑" pitchFamily="2" charset="-122"/>
              </a:rPr>
              <a:t>SSE  vs.  </a:t>
            </a:r>
            <a:r>
              <a:rPr lang="zh-CN" altLang="en-US" dirty="0">
                <a:latin typeface="Times New Roman" pitchFamily="18" charset="0"/>
                <a:ea typeface="华文细黑" pitchFamily="2" charset="-122"/>
              </a:rPr>
              <a:t>熵</a:t>
            </a:r>
            <a:endParaRPr lang="zh-CN" altLang="en-US" dirty="0">
              <a:latin typeface="华文细黑" pitchFamily="2" charset="-122"/>
              <a:ea typeface="华文细黑" pitchFamily="2" charset="-122"/>
            </a:endParaRPr>
          </a:p>
        </p:txBody>
      </p:sp>
      <p:sp>
        <p:nvSpPr>
          <p:cNvPr id="24" name="左大括号 23"/>
          <p:cNvSpPr/>
          <p:nvPr/>
        </p:nvSpPr>
        <p:spPr>
          <a:xfrm flipV="1">
            <a:off x="2553958" y="4275889"/>
            <a:ext cx="144000" cy="990000"/>
          </a:xfrm>
          <a:prstGeom prst="leftBrace">
            <a:avLst>
              <a:gd name="adj1" fmla="val 60397"/>
              <a:gd name="adj2" fmla="val 50000"/>
            </a:avLst>
          </a:prstGeom>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dirty="0">
              <a:latin typeface="Times New Roman" pitchFamily="18" charset="0"/>
              <a:ea typeface="华文细黑" pitchFamily="2" charset="-122"/>
            </a:endParaRPr>
          </a:p>
        </p:txBody>
      </p:sp>
    </p:spTree>
    <p:extLst>
      <p:ext uri="{BB962C8B-B14F-4D97-AF65-F5344CB8AC3E}">
        <p14:creationId xmlns:p14="http://schemas.microsoft.com/office/powerpoint/2010/main" val="36735622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CAE6-1D05-718E-19BA-BBBF383DC502}"/>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FF7A5698-B440-646D-3B20-3A5705E0CB45}"/>
              </a:ext>
            </a:extLst>
          </p:cNvPr>
          <p:cNvSpPr/>
          <p:nvPr/>
        </p:nvSpPr>
        <p:spPr>
          <a:xfrm>
            <a:off x="979464" y="1307650"/>
            <a:ext cx="7771549" cy="1289905"/>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1</a:t>
            </a:r>
            <a:r>
              <a:rPr lang="zh-CN" altLang="en-US" b="1" dirty="0">
                <a:solidFill>
                  <a:prstClr val="black"/>
                </a:solidFill>
                <a:latin typeface="微软雅黑" panose="020B0503020204020204" pitchFamily="34" charset="-122"/>
                <a:ea typeface="微软雅黑" panose="020B0503020204020204" pitchFamily="34" charset="-122"/>
              </a:rPr>
              <a:t>）列联矩阵（</a:t>
            </a:r>
            <a:r>
              <a:rPr lang="en-US" altLang="zh-CN" b="1" dirty="0">
                <a:solidFill>
                  <a:prstClr val="black"/>
                </a:solidFill>
                <a:latin typeface="微软雅黑" panose="020B0503020204020204" pitchFamily="34" charset="-122"/>
                <a:ea typeface="微软雅黑" panose="020B0503020204020204" pitchFamily="34" charset="-122"/>
              </a:rPr>
              <a:t>Contingency matrix</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需要样本的标签辅助</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prstClr val="black"/>
                </a:solidFill>
                <a:latin typeface="微软雅黑" panose="020B0503020204020204" pitchFamily="34" charset="-122"/>
                <a:ea typeface="微软雅黑" panose="020B0503020204020204" pitchFamily="34" charset="-122"/>
              </a:rPr>
              <a:t>：是一个二维矩阵，行代表真实类别标签，列代表聚类结果的簇标签，矩阵中的每个值为对应的</a:t>
            </a:r>
            <a:r>
              <a:rPr lang="zh-CN" altLang="en-US" b="1" dirty="0">
                <a:solidFill>
                  <a:srgbClr val="FF0000"/>
                </a:solidFill>
                <a:latin typeface="微软雅黑" panose="020B0503020204020204" pitchFamily="34" charset="-122"/>
                <a:ea typeface="微软雅黑" panose="020B0503020204020204" pitchFamily="34" charset="-122"/>
              </a:rPr>
              <a:t>统计频数</a:t>
            </a:r>
            <a:r>
              <a:rPr lang="zh-CN" altLang="en-US" b="1" dirty="0">
                <a:solidFill>
                  <a:prstClr val="black"/>
                </a:solidFill>
                <a:latin typeface="微软雅黑" panose="020B0503020204020204" pitchFamily="34" charset="-122"/>
                <a:ea typeface="微软雅黑" panose="020B0503020204020204" pitchFamily="34" charset="-122"/>
              </a:rPr>
              <a:t>。</a:t>
            </a:r>
            <a:endParaRPr lang="en-US" altLang="zh-CN" b="1" dirty="0">
              <a:solidFill>
                <a:prstClr val="black"/>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CCA793F1-30FE-ADDE-097D-601B386ED662}"/>
              </a:ext>
            </a:extLst>
          </p:cNvPr>
          <p:cNvPicPr>
            <a:picLocks noChangeAspect="1"/>
          </p:cNvPicPr>
          <p:nvPr/>
        </p:nvPicPr>
        <p:blipFill>
          <a:blip r:embed="rId3"/>
          <a:stretch>
            <a:fillRect/>
          </a:stretch>
        </p:blipFill>
        <p:spPr>
          <a:xfrm>
            <a:off x="851876" y="2944089"/>
            <a:ext cx="7771549" cy="3018965"/>
          </a:xfrm>
          <a:prstGeom prst="rect">
            <a:avLst/>
          </a:prstGeom>
        </p:spPr>
      </p:pic>
      <p:sp>
        <p:nvSpPr>
          <p:cNvPr id="5" name="标题 4">
            <a:extLst>
              <a:ext uri="{FF2B5EF4-FFF2-40B4-BE49-F238E27FC236}">
                <a16:creationId xmlns:a16="http://schemas.microsoft.com/office/drawing/2014/main" id="{68083082-C4B3-46B2-B926-0BC66064754C}"/>
              </a:ext>
            </a:extLst>
          </p:cNvPr>
          <p:cNvSpPr>
            <a:spLocks noGrp="1"/>
          </p:cNvSpPr>
          <p:nvPr>
            <p:ph type="title"/>
          </p:nvPr>
        </p:nvSpPr>
        <p:spPr/>
        <p:txBody>
          <a:bodyPr/>
          <a:lstStyle/>
          <a:p>
            <a:r>
              <a:rPr lang="en-US" altLang="zh-CN" dirty="0"/>
              <a:t>8.1.3 </a:t>
            </a:r>
            <a:r>
              <a:rPr lang="zh-CN" altLang="en-US" dirty="0">
                <a:sym typeface="Times New Roman" panose="02020603050405020304" pitchFamily="18" charset="0"/>
              </a:rPr>
              <a:t>聚类算法评价指标</a:t>
            </a:r>
            <a:endParaRPr lang="zh-CN" altLang="en-US" dirty="0"/>
          </a:p>
        </p:txBody>
      </p:sp>
      <p:sp>
        <p:nvSpPr>
          <p:cNvPr id="10" name="矩形: 圆角 55">
            <a:extLst>
              <a:ext uri="{FF2B5EF4-FFF2-40B4-BE49-F238E27FC236}">
                <a16:creationId xmlns:a16="http://schemas.microsoft.com/office/drawing/2014/main" id="{0EC80B3F-CBCB-44BD-9CBA-2B8E8F11D854}"/>
              </a:ext>
            </a:extLst>
          </p:cNvPr>
          <p:cNvSpPr/>
          <p:nvPr/>
        </p:nvSpPr>
        <p:spPr>
          <a:xfrm>
            <a:off x="0" y="930751"/>
            <a:ext cx="1455842"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外部指标</a:t>
            </a:r>
          </a:p>
        </p:txBody>
      </p:sp>
    </p:spTree>
    <p:extLst>
      <p:ext uri="{BB962C8B-B14F-4D97-AF65-F5344CB8AC3E}">
        <p14:creationId xmlns:p14="http://schemas.microsoft.com/office/powerpoint/2010/main" val="385360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DC87-C809-11BF-79C2-67E265D0DF4D}"/>
            </a:ext>
          </a:extLst>
        </p:cNvPr>
        <p:cNvGrpSpPr/>
        <p:nvPr/>
      </p:nvGrpSpPr>
      <p:grpSpPr>
        <a:xfrm>
          <a:off x="0" y="0"/>
          <a:ext cx="0" cy="0"/>
          <a:chOff x="0" y="0"/>
          <a:chExt cx="0" cy="0"/>
        </a:xfrm>
      </p:grpSpPr>
      <p:sp>
        <p:nvSpPr>
          <p:cNvPr id="4" name="矩形: 圆角 55">
            <a:extLst>
              <a:ext uri="{FF2B5EF4-FFF2-40B4-BE49-F238E27FC236}">
                <a16:creationId xmlns:a16="http://schemas.microsoft.com/office/drawing/2014/main" id="{DC4FB3B9-5C8A-C483-429A-71461482A1C4}"/>
              </a:ext>
            </a:extLst>
          </p:cNvPr>
          <p:cNvSpPr/>
          <p:nvPr/>
        </p:nvSpPr>
        <p:spPr>
          <a:xfrm>
            <a:off x="0" y="934411"/>
            <a:ext cx="1455842"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外部指标</a:t>
            </a:r>
          </a:p>
        </p:txBody>
      </p:sp>
      <p:sp>
        <p:nvSpPr>
          <p:cNvPr id="6" name="矩形 5">
            <a:extLst>
              <a:ext uri="{FF2B5EF4-FFF2-40B4-BE49-F238E27FC236}">
                <a16:creationId xmlns:a16="http://schemas.microsoft.com/office/drawing/2014/main" id="{7D3A996F-B671-28C3-DB2C-F13183444204}"/>
              </a:ext>
            </a:extLst>
          </p:cNvPr>
          <p:cNvSpPr/>
          <p:nvPr/>
        </p:nvSpPr>
        <p:spPr>
          <a:xfrm>
            <a:off x="727921" y="1528215"/>
            <a:ext cx="7783385" cy="874407"/>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2</a:t>
            </a:r>
            <a:r>
              <a:rPr lang="zh-CN" altLang="en-US" b="1" dirty="0">
                <a:solidFill>
                  <a:prstClr val="black"/>
                </a:solidFill>
                <a:latin typeface="微软雅黑" panose="020B0503020204020204" pitchFamily="34" charset="-122"/>
                <a:ea typeface="微软雅黑" panose="020B0503020204020204" pitchFamily="34" charset="-122"/>
              </a:rPr>
              <a:t>）成对混淆矩阵（</a:t>
            </a:r>
            <a:r>
              <a:rPr lang="en-US" altLang="zh-CN" b="1" dirty="0">
                <a:solidFill>
                  <a:prstClr val="black"/>
                </a:solidFill>
                <a:latin typeface="微软雅黑" panose="020B0503020204020204" pitchFamily="34" charset="-122"/>
                <a:ea typeface="微软雅黑" panose="020B0503020204020204" pitchFamily="34" charset="-122"/>
              </a:rPr>
              <a:t>Pair confusion matrix</a:t>
            </a:r>
            <a:r>
              <a:rPr lang="zh-CN" altLang="en-US" b="1" dirty="0">
                <a:solidFill>
                  <a:prstClr val="black"/>
                </a:solidFill>
                <a:latin typeface="微软雅黑" panose="020B0503020204020204" pitchFamily="34" charset="-122"/>
                <a:ea typeface="微软雅黑" panose="020B0503020204020204" pitchFamily="34" charset="-122"/>
              </a:rPr>
              <a:t>）：将数据进行</a:t>
            </a:r>
            <a:r>
              <a:rPr lang="zh-CN" altLang="en-US" b="1" dirty="0">
                <a:solidFill>
                  <a:srgbClr val="FF0000"/>
                </a:solidFill>
                <a:latin typeface="微软雅黑" panose="020B0503020204020204" pitchFamily="34" charset="-122"/>
                <a:ea typeface="微软雅黑" panose="020B0503020204020204" pitchFamily="34" charset="-122"/>
              </a:rPr>
              <a:t>成对组合</a:t>
            </a:r>
            <a:r>
              <a:rPr lang="zh-CN" altLang="en-US" b="1" dirty="0">
                <a:solidFill>
                  <a:prstClr val="black"/>
                </a:solidFill>
                <a:latin typeface="微软雅黑" panose="020B0503020204020204" pitchFamily="34" charset="-122"/>
                <a:ea typeface="微软雅黑" panose="020B0503020204020204" pitchFamily="34" charset="-122"/>
              </a:rPr>
              <a:t>，分别统计存在正确聚类与错误聚类的数量，用于评估聚类算法性能。</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9C6A4D39-AF75-DBE8-C128-04B14E3D54A1}"/>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8" name="对象 7">
            <a:extLst>
              <a:ext uri="{FF2B5EF4-FFF2-40B4-BE49-F238E27FC236}">
                <a16:creationId xmlns:a16="http://schemas.microsoft.com/office/drawing/2014/main" id="{ED95349C-1142-266A-1577-1901CA7CC816}"/>
              </a:ext>
            </a:extLst>
          </p:cNvPr>
          <p:cNvGraphicFramePr>
            <a:graphicFrameLocks noChangeAspect="1"/>
          </p:cNvGraphicFramePr>
          <p:nvPr>
            <p:extLst>
              <p:ext uri="{D42A27DB-BD31-4B8C-83A1-F6EECF244321}">
                <p14:modId xmlns:p14="http://schemas.microsoft.com/office/powerpoint/2010/main" val="2673071028"/>
              </p:ext>
            </p:extLst>
          </p:nvPr>
        </p:nvGraphicFramePr>
        <p:xfrm>
          <a:off x="3198754" y="2494153"/>
          <a:ext cx="1807269" cy="1105081"/>
        </p:xfrm>
        <a:graphic>
          <a:graphicData uri="http://schemas.openxmlformats.org/presentationml/2006/ole">
            <mc:AlternateContent xmlns:mc="http://schemas.openxmlformats.org/markup-compatibility/2006">
              <mc:Choice xmlns:v="urn:schemas-microsoft-com:vml" Requires="v">
                <p:oleObj spid="_x0000_s1036" name="Equation" r:id="rId4" imgW="736600" imgH="457200" progId="Equation.DSMT4">
                  <p:embed/>
                </p:oleObj>
              </mc:Choice>
              <mc:Fallback>
                <p:oleObj name="Equation" r:id="rId4" imgW="736600" imgH="457200" progId="Equation.DSMT4">
                  <p:embed/>
                  <p:pic>
                    <p:nvPicPr>
                      <p:cNvPr id="8" name="对象 7">
                        <a:extLst>
                          <a:ext uri="{FF2B5EF4-FFF2-40B4-BE49-F238E27FC236}">
                            <a16:creationId xmlns:a16="http://schemas.microsoft.com/office/drawing/2014/main" id="{ED95349C-1142-266A-1577-1901CA7CC8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8754" y="2494153"/>
                        <a:ext cx="1807269" cy="1105081"/>
                      </a:xfrm>
                      <a:prstGeom prst="rect">
                        <a:avLst/>
                      </a:prstGeom>
                      <a:noFill/>
                    </p:spPr>
                  </p:pic>
                </p:oleObj>
              </mc:Fallback>
            </mc:AlternateContent>
          </a:graphicData>
        </a:graphic>
      </p:graphicFrame>
      <p:sp>
        <p:nvSpPr>
          <p:cNvPr id="10" name="矩形 9">
            <a:extLst>
              <a:ext uri="{FF2B5EF4-FFF2-40B4-BE49-F238E27FC236}">
                <a16:creationId xmlns:a16="http://schemas.microsoft.com/office/drawing/2014/main" id="{DE2636D4-6C61-27D1-A58A-5D3ACF4875F0}"/>
              </a:ext>
            </a:extLst>
          </p:cNvPr>
          <p:cNvSpPr/>
          <p:nvPr/>
        </p:nvSpPr>
        <p:spPr>
          <a:xfrm>
            <a:off x="5585323" y="2394051"/>
            <a:ext cx="3198754" cy="1289905"/>
          </a:xfrm>
          <a:prstGeom prst="rect">
            <a:avLst/>
          </a:prstGeom>
        </p:spPr>
        <p:txBody>
          <a:bodyPr wrap="square">
            <a:spAutoFit/>
          </a:bodyPr>
          <a:lstStyle/>
          <a:p>
            <a:pPr defTabSz="685800" eaLnBrk="0" fontAlgn="base" hangingPunct="0">
              <a:lnSpc>
                <a:spcPct val="150000"/>
              </a:lnSpc>
              <a:spcBef>
                <a:spcPct val="0"/>
              </a:spcBef>
              <a:spcAft>
                <a:spcPct val="0"/>
              </a:spcAft>
              <a:defRPr/>
            </a:pPr>
            <a:r>
              <a:rPr lang="en-US" altLang="zh-CN" b="1" dirty="0">
                <a:solidFill>
                  <a:prstClr val="black"/>
                </a:solidFill>
                <a:latin typeface="微软雅黑" panose="020B0503020204020204" pitchFamily="34" charset="-122"/>
                <a:ea typeface="微软雅黑" panose="020B0503020204020204" pitchFamily="34" charset="-122"/>
              </a:rPr>
              <a:t>TN</a:t>
            </a:r>
            <a:r>
              <a:rPr lang="zh-CN" altLang="en-US" b="1" dirty="0">
                <a:solidFill>
                  <a:prstClr val="black"/>
                </a:solidFill>
                <a:latin typeface="微软雅黑" panose="020B0503020204020204" pitchFamily="34" charset="-122"/>
                <a:ea typeface="微软雅黑" panose="020B0503020204020204" pitchFamily="34" charset="-122"/>
              </a:rPr>
              <a:t>和</a:t>
            </a:r>
            <a:r>
              <a:rPr lang="en-US" altLang="zh-CN" b="1" dirty="0">
                <a:solidFill>
                  <a:prstClr val="black"/>
                </a:solidFill>
                <a:latin typeface="微软雅黑" panose="020B0503020204020204" pitchFamily="34" charset="-122"/>
                <a:ea typeface="微软雅黑" panose="020B0503020204020204" pitchFamily="34" charset="-122"/>
              </a:rPr>
              <a:t>TP</a:t>
            </a:r>
            <a:r>
              <a:rPr lang="zh-CN" altLang="en-US" b="1" dirty="0">
                <a:solidFill>
                  <a:prstClr val="black"/>
                </a:solidFill>
                <a:latin typeface="微软雅黑" panose="020B0503020204020204" pitchFamily="34" charset="-122"/>
                <a:ea typeface="微软雅黑" panose="020B0503020204020204" pitchFamily="34" charset="-122"/>
              </a:rPr>
              <a:t>值越大，</a:t>
            </a:r>
            <a:endParaRPr lang="en-US" altLang="zh-CN" b="1" dirty="0">
              <a:solidFill>
                <a:prstClr val="black"/>
              </a:solidFill>
              <a:latin typeface="微软雅黑" panose="020B0503020204020204" pitchFamily="34" charset="-122"/>
              <a:ea typeface="微软雅黑" panose="020B0503020204020204" pitchFamily="34" charset="-122"/>
            </a:endParaRPr>
          </a:p>
          <a:p>
            <a:pPr defTabSz="685800" eaLnBrk="0" fontAlgn="base" hangingPunct="0">
              <a:lnSpc>
                <a:spcPct val="150000"/>
              </a:lnSpc>
              <a:spcBef>
                <a:spcPct val="0"/>
              </a:spcBef>
              <a:spcAft>
                <a:spcPct val="0"/>
              </a:spcAft>
              <a:defRPr/>
            </a:pPr>
            <a:r>
              <a:rPr lang="en-US" altLang="zh-CN" b="1" dirty="0">
                <a:solidFill>
                  <a:prstClr val="black"/>
                </a:solidFill>
                <a:latin typeface="微软雅黑" panose="020B0503020204020204" pitchFamily="34" charset="-122"/>
                <a:ea typeface="微软雅黑" panose="020B0503020204020204" pitchFamily="34" charset="-122"/>
              </a:rPr>
              <a:t>FN</a:t>
            </a:r>
            <a:r>
              <a:rPr lang="zh-CN" altLang="en-US" b="1" dirty="0">
                <a:solidFill>
                  <a:prstClr val="black"/>
                </a:solidFill>
                <a:latin typeface="微软雅黑" panose="020B0503020204020204" pitchFamily="34" charset="-122"/>
                <a:ea typeface="微软雅黑" panose="020B0503020204020204" pitchFamily="34" charset="-122"/>
              </a:rPr>
              <a:t>和</a:t>
            </a:r>
            <a:r>
              <a:rPr lang="en-US" altLang="zh-CN" b="1" dirty="0">
                <a:solidFill>
                  <a:prstClr val="black"/>
                </a:solidFill>
                <a:latin typeface="微软雅黑" panose="020B0503020204020204" pitchFamily="34" charset="-122"/>
                <a:ea typeface="微软雅黑" panose="020B0503020204020204" pitchFamily="34" charset="-122"/>
              </a:rPr>
              <a:t>FP</a:t>
            </a:r>
            <a:r>
              <a:rPr lang="zh-CN" altLang="en-US" b="1" dirty="0">
                <a:solidFill>
                  <a:prstClr val="black"/>
                </a:solidFill>
                <a:latin typeface="微软雅黑" panose="020B0503020204020204" pitchFamily="34" charset="-122"/>
                <a:ea typeface="微软雅黑" panose="020B0503020204020204" pitchFamily="34" charset="-122"/>
              </a:rPr>
              <a:t>值越接近于</a:t>
            </a:r>
            <a:r>
              <a:rPr lang="en-US" altLang="zh-CN" b="1" dirty="0">
                <a:solidFill>
                  <a:prstClr val="black"/>
                </a:solidFill>
                <a:latin typeface="微软雅黑" panose="020B0503020204020204" pitchFamily="34" charset="-122"/>
                <a:ea typeface="微软雅黑" panose="020B0503020204020204" pitchFamily="34" charset="-122"/>
              </a:rPr>
              <a:t>0</a:t>
            </a:r>
            <a:r>
              <a:rPr lang="zh-CN" altLang="en-US" b="1" dirty="0">
                <a:solidFill>
                  <a:prstClr val="black"/>
                </a:solidFill>
                <a:latin typeface="微软雅黑" panose="020B0503020204020204" pitchFamily="34" charset="-122"/>
                <a:ea typeface="微软雅黑" panose="020B0503020204020204" pitchFamily="34" charset="-122"/>
              </a:rPr>
              <a:t>，</a:t>
            </a:r>
            <a:endParaRPr lang="en-US" altLang="zh-CN" b="1" dirty="0">
              <a:solidFill>
                <a:prstClr val="black"/>
              </a:solidFill>
              <a:latin typeface="微软雅黑" panose="020B0503020204020204" pitchFamily="34" charset="-122"/>
              <a:ea typeface="微软雅黑" panose="020B0503020204020204" pitchFamily="34" charset="-122"/>
            </a:endParaRPr>
          </a:p>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表明聚类结果越好。</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12" name="Rectangle 4">
            <a:extLst>
              <a:ext uri="{FF2B5EF4-FFF2-40B4-BE49-F238E27FC236}">
                <a16:creationId xmlns:a16="http://schemas.microsoft.com/office/drawing/2014/main" id="{AE9A5C74-0124-FD27-3363-68D2DDE2793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3" name="对象 12">
            <a:extLst>
              <a:ext uri="{FF2B5EF4-FFF2-40B4-BE49-F238E27FC236}">
                <a16:creationId xmlns:a16="http://schemas.microsoft.com/office/drawing/2014/main" id="{A8565722-A16D-3BAC-8E73-B683042E2D01}"/>
              </a:ext>
            </a:extLst>
          </p:cNvPr>
          <p:cNvGraphicFramePr>
            <a:graphicFrameLocks noChangeAspect="1"/>
          </p:cNvGraphicFramePr>
          <p:nvPr>
            <p:extLst>
              <p:ext uri="{D42A27DB-BD31-4B8C-83A1-F6EECF244321}">
                <p14:modId xmlns:p14="http://schemas.microsoft.com/office/powerpoint/2010/main" val="3162503808"/>
              </p:ext>
            </p:extLst>
          </p:nvPr>
        </p:nvGraphicFramePr>
        <p:xfrm>
          <a:off x="2843697" y="3737493"/>
          <a:ext cx="3688019" cy="812299"/>
        </p:xfrm>
        <a:graphic>
          <a:graphicData uri="http://schemas.openxmlformats.org/presentationml/2006/ole">
            <mc:AlternateContent xmlns:mc="http://schemas.openxmlformats.org/markup-compatibility/2006">
              <mc:Choice xmlns:v="urn:schemas-microsoft-com:vml" Requires="v">
                <p:oleObj spid="_x0000_s1037" name="Equation" r:id="rId6" imgW="1879600" imgH="419100" progId="Equation.DSMT4">
                  <p:embed/>
                </p:oleObj>
              </mc:Choice>
              <mc:Fallback>
                <p:oleObj name="Equation" r:id="rId6" imgW="1879600" imgH="419100" progId="Equation.DSMT4">
                  <p:embed/>
                  <p:pic>
                    <p:nvPicPr>
                      <p:cNvPr id="13" name="对象 12">
                        <a:extLst>
                          <a:ext uri="{FF2B5EF4-FFF2-40B4-BE49-F238E27FC236}">
                            <a16:creationId xmlns:a16="http://schemas.microsoft.com/office/drawing/2014/main" id="{A8565722-A16D-3BAC-8E73-B683042E2D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3697" y="3737493"/>
                        <a:ext cx="3688019" cy="812299"/>
                      </a:xfrm>
                      <a:prstGeom prst="rect">
                        <a:avLst/>
                      </a:prstGeom>
                      <a:noFill/>
                    </p:spPr>
                  </p:pic>
                </p:oleObj>
              </mc:Fallback>
            </mc:AlternateContent>
          </a:graphicData>
        </a:graphic>
      </p:graphicFrame>
      <p:sp>
        <p:nvSpPr>
          <p:cNvPr id="14" name="矩形 13">
            <a:extLst>
              <a:ext uri="{FF2B5EF4-FFF2-40B4-BE49-F238E27FC236}">
                <a16:creationId xmlns:a16="http://schemas.microsoft.com/office/drawing/2014/main" id="{760039DB-962D-9A75-CBA3-D874588A24C8}"/>
              </a:ext>
            </a:extLst>
          </p:cNvPr>
          <p:cNvSpPr/>
          <p:nvPr/>
        </p:nvSpPr>
        <p:spPr>
          <a:xfrm>
            <a:off x="1721020" y="3914188"/>
            <a:ext cx="1122677" cy="458908"/>
          </a:xfrm>
          <a:prstGeom prst="rect">
            <a:avLst/>
          </a:prstGeom>
        </p:spPr>
        <p:txBody>
          <a:bodyPr wrap="square">
            <a:spAutoFit/>
          </a:bodyPr>
          <a:lstStyle/>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其中，</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9" name="标题 8">
            <a:extLst>
              <a:ext uri="{FF2B5EF4-FFF2-40B4-BE49-F238E27FC236}">
                <a16:creationId xmlns:a16="http://schemas.microsoft.com/office/drawing/2014/main" id="{EAC4D910-99E4-47DC-AA93-C8F9DA8AFE31}"/>
              </a:ext>
            </a:extLst>
          </p:cNvPr>
          <p:cNvSpPr>
            <a:spLocks noGrp="1"/>
          </p:cNvSpPr>
          <p:nvPr>
            <p:ph type="title"/>
          </p:nvPr>
        </p:nvSpPr>
        <p:spPr/>
        <p:txBody>
          <a:bodyPr/>
          <a:lstStyle/>
          <a:p>
            <a:r>
              <a:rPr lang="en-US" altLang="zh-CN" dirty="0"/>
              <a:t>8.1.3 </a:t>
            </a:r>
            <a:r>
              <a:rPr lang="zh-CN" altLang="en-US" dirty="0">
                <a:sym typeface="Times New Roman" panose="02020603050405020304" pitchFamily="18" charset="0"/>
              </a:rPr>
              <a:t>聚类算法评价指标</a:t>
            </a:r>
            <a:endParaRPr lang="zh-CN" altLang="en-US" dirty="0"/>
          </a:p>
        </p:txBody>
      </p:sp>
      <p:sp>
        <p:nvSpPr>
          <p:cNvPr id="15" name="矩形 14">
            <a:extLst>
              <a:ext uri="{FF2B5EF4-FFF2-40B4-BE49-F238E27FC236}">
                <a16:creationId xmlns:a16="http://schemas.microsoft.com/office/drawing/2014/main" id="{A7D2CD91-7894-4448-8417-C6B00E7FEE4E}"/>
              </a:ext>
            </a:extLst>
          </p:cNvPr>
          <p:cNvSpPr/>
          <p:nvPr/>
        </p:nvSpPr>
        <p:spPr>
          <a:xfrm>
            <a:off x="1545525" y="4592920"/>
            <a:ext cx="6965781" cy="1705403"/>
          </a:xfrm>
          <a:prstGeom prst="rect">
            <a:avLst/>
          </a:prstGeom>
        </p:spPr>
        <p:txBody>
          <a:bodyPr wrap="square">
            <a:spAutoFit/>
          </a:bodyPr>
          <a:lstStyle/>
          <a:p>
            <a:pPr defTabSz="685800" eaLnBrk="0" fontAlgn="base" hangingPunct="0">
              <a:lnSpc>
                <a:spcPct val="150000"/>
              </a:lnSpc>
              <a:spcBef>
                <a:spcPct val="0"/>
              </a:spcBef>
              <a:spcAft>
                <a:spcPct val="0"/>
              </a:spcAft>
              <a:defRPr/>
            </a:pPr>
            <a:r>
              <a:rPr lang="en-US" altLang="zh-CN" b="1" dirty="0">
                <a:solidFill>
                  <a:prstClr val="black"/>
                </a:solidFill>
                <a:latin typeface="微软雅黑" panose="020B0503020204020204" pitchFamily="34" charset="-122"/>
                <a:ea typeface="微软雅黑" panose="020B0503020204020204" pitchFamily="34" charset="-122"/>
              </a:rPr>
              <a:t>TN</a:t>
            </a:r>
            <a:r>
              <a:rPr lang="zh-CN" altLang="en-US" b="1" dirty="0">
                <a:solidFill>
                  <a:prstClr val="black"/>
                </a:solidFill>
                <a:latin typeface="微软雅黑" panose="020B0503020204020204" pitchFamily="34" charset="-122"/>
                <a:ea typeface="微软雅黑" panose="020B0503020204020204" pitchFamily="34" charset="-122"/>
              </a:rPr>
              <a:t>：实际属于不同类，聚类中也是在不同簇；</a:t>
            </a:r>
            <a:endParaRPr lang="en-US" altLang="zh-CN" b="1" dirty="0">
              <a:solidFill>
                <a:prstClr val="black"/>
              </a:solidFill>
              <a:latin typeface="微软雅黑" panose="020B0503020204020204" pitchFamily="34" charset="-122"/>
              <a:ea typeface="微软雅黑" panose="020B0503020204020204" pitchFamily="34" charset="-122"/>
            </a:endParaRPr>
          </a:p>
          <a:p>
            <a:pPr defTabSz="685800" eaLnBrk="0" fontAlgn="base" hangingPunct="0">
              <a:lnSpc>
                <a:spcPct val="150000"/>
              </a:lnSpc>
              <a:spcBef>
                <a:spcPct val="0"/>
              </a:spcBef>
              <a:spcAft>
                <a:spcPct val="0"/>
              </a:spcAft>
              <a:defRPr/>
            </a:pPr>
            <a:r>
              <a:rPr lang="en-US" altLang="zh-CN" b="1" dirty="0">
                <a:solidFill>
                  <a:prstClr val="black"/>
                </a:solidFill>
                <a:latin typeface="微软雅黑" panose="020B0503020204020204" pitchFamily="34" charset="-122"/>
                <a:ea typeface="微软雅黑" panose="020B0503020204020204" pitchFamily="34" charset="-122"/>
              </a:rPr>
              <a:t>TP</a:t>
            </a:r>
            <a:r>
              <a:rPr lang="zh-CN" altLang="en-US" b="1" dirty="0">
                <a:solidFill>
                  <a:prstClr val="black"/>
                </a:solidFill>
                <a:latin typeface="微软雅黑" panose="020B0503020204020204" pitchFamily="34" charset="-122"/>
                <a:ea typeface="微软雅黑" panose="020B0503020204020204" pitchFamily="34" charset="-122"/>
              </a:rPr>
              <a:t>：实际属于同类，聚类中也是在同簇；</a:t>
            </a:r>
            <a:endParaRPr lang="en-US" altLang="zh-CN" b="1" dirty="0">
              <a:solidFill>
                <a:prstClr val="black"/>
              </a:solidFill>
              <a:latin typeface="微软雅黑" panose="020B0503020204020204" pitchFamily="34" charset="-122"/>
              <a:ea typeface="微软雅黑" panose="020B0503020204020204" pitchFamily="34" charset="-122"/>
            </a:endParaRPr>
          </a:p>
          <a:p>
            <a:pPr defTabSz="685800" eaLnBrk="0" fontAlgn="base" hangingPunct="0">
              <a:lnSpc>
                <a:spcPct val="150000"/>
              </a:lnSpc>
              <a:spcBef>
                <a:spcPct val="0"/>
              </a:spcBef>
              <a:spcAft>
                <a:spcPct val="0"/>
              </a:spcAft>
              <a:defRPr/>
            </a:pPr>
            <a:r>
              <a:rPr lang="en-US" altLang="zh-CN" b="1" dirty="0">
                <a:solidFill>
                  <a:prstClr val="black"/>
                </a:solidFill>
                <a:latin typeface="微软雅黑" panose="020B0503020204020204" pitchFamily="34" charset="-122"/>
                <a:ea typeface="微软雅黑" panose="020B0503020204020204" pitchFamily="34" charset="-122"/>
              </a:rPr>
              <a:t>FP</a:t>
            </a:r>
            <a:r>
              <a:rPr lang="zh-CN" altLang="en-US" b="1" dirty="0">
                <a:solidFill>
                  <a:prstClr val="black"/>
                </a:solidFill>
                <a:latin typeface="微软雅黑" panose="020B0503020204020204" pitchFamily="34" charset="-122"/>
                <a:ea typeface="微软雅黑" panose="020B0503020204020204" pitchFamily="34" charset="-122"/>
              </a:rPr>
              <a:t>：实际属于同类，聚类中在不同簇；</a:t>
            </a:r>
            <a:endParaRPr lang="en-US" altLang="zh-CN" b="1" dirty="0">
              <a:solidFill>
                <a:prstClr val="black"/>
              </a:solidFill>
              <a:latin typeface="微软雅黑" panose="020B0503020204020204" pitchFamily="34" charset="-122"/>
              <a:ea typeface="微软雅黑" panose="020B0503020204020204" pitchFamily="34" charset="-122"/>
            </a:endParaRPr>
          </a:p>
          <a:p>
            <a:pPr defTabSz="685800" eaLnBrk="0" fontAlgn="base" hangingPunct="0">
              <a:lnSpc>
                <a:spcPct val="150000"/>
              </a:lnSpc>
              <a:spcBef>
                <a:spcPct val="0"/>
              </a:spcBef>
              <a:spcAft>
                <a:spcPct val="0"/>
              </a:spcAft>
              <a:defRPr/>
            </a:pPr>
            <a:r>
              <a:rPr lang="en-US" altLang="zh-CN" b="1" dirty="0">
                <a:solidFill>
                  <a:prstClr val="black"/>
                </a:solidFill>
                <a:latin typeface="微软雅黑" panose="020B0503020204020204" pitchFamily="34" charset="-122"/>
                <a:ea typeface="微软雅黑" panose="020B0503020204020204" pitchFamily="34" charset="-122"/>
              </a:rPr>
              <a:t>FN:  </a:t>
            </a:r>
            <a:r>
              <a:rPr lang="zh-CN" altLang="en-US" b="1" dirty="0">
                <a:solidFill>
                  <a:prstClr val="black"/>
                </a:solidFill>
                <a:latin typeface="微软雅黑" panose="020B0503020204020204" pitchFamily="34" charset="-122"/>
                <a:ea typeface="微软雅黑" panose="020B0503020204020204" pitchFamily="34" charset="-122"/>
              </a:rPr>
              <a:t>实际属于不同类，聚类中是在同簇；</a:t>
            </a:r>
            <a:endParaRPr lang="en-US" altLang="zh-CN" b="1"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1026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02787-094E-B2A0-797F-0435C70A6017}"/>
            </a:ext>
          </a:extLst>
        </p:cNvPr>
        <p:cNvGrpSpPr/>
        <p:nvPr/>
      </p:nvGrpSpPr>
      <p:grpSpPr>
        <a:xfrm>
          <a:off x="0" y="0"/>
          <a:ext cx="0" cy="0"/>
          <a:chOff x="0" y="0"/>
          <a:chExt cx="0" cy="0"/>
        </a:xfrm>
      </p:grpSpPr>
      <p:sp>
        <p:nvSpPr>
          <p:cNvPr id="4" name="矩形: 圆角 55">
            <a:extLst>
              <a:ext uri="{FF2B5EF4-FFF2-40B4-BE49-F238E27FC236}">
                <a16:creationId xmlns:a16="http://schemas.microsoft.com/office/drawing/2014/main" id="{B4EC81D5-B722-2960-60C2-1974F5499CB9}"/>
              </a:ext>
            </a:extLst>
          </p:cNvPr>
          <p:cNvSpPr/>
          <p:nvPr/>
        </p:nvSpPr>
        <p:spPr>
          <a:xfrm>
            <a:off x="0" y="1060666"/>
            <a:ext cx="1455842"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外部指标</a:t>
            </a:r>
          </a:p>
        </p:txBody>
      </p:sp>
      <p:sp>
        <p:nvSpPr>
          <p:cNvPr id="6" name="矩形 5">
            <a:extLst>
              <a:ext uri="{FF2B5EF4-FFF2-40B4-BE49-F238E27FC236}">
                <a16:creationId xmlns:a16="http://schemas.microsoft.com/office/drawing/2014/main" id="{D1ECD36A-0E1D-84A8-F5DC-1E343189FAE8}"/>
              </a:ext>
            </a:extLst>
          </p:cNvPr>
          <p:cNvSpPr/>
          <p:nvPr/>
        </p:nvSpPr>
        <p:spPr>
          <a:xfrm>
            <a:off x="800778" y="1612722"/>
            <a:ext cx="7175118" cy="874407"/>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3</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Fowlkes-Mallows</a:t>
            </a:r>
            <a:r>
              <a:rPr lang="zh-CN" altLang="en-US" b="1" dirty="0">
                <a:solidFill>
                  <a:prstClr val="black"/>
                </a:solidFill>
                <a:latin typeface="微软雅黑" panose="020B0503020204020204" pitchFamily="34" charset="-122"/>
                <a:ea typeface="微软雅黑" panose="020B0503020204020204" pitchFamily="34" charset="-122"/>
              </a:rPr>
              <a:t>指数：通过计算</a:t>
            </a:r>
            <a:r>
              <a:rPr lang="zh-CN" altLang="en-US" b="1" dirty="0">
                <a:solidFill>
                  <a:srgbClr val="FF0000"/>
                </a:solidFill>
                <a:latin typeface="微软雅黑" panose="020B0503020204020204" pitchFamily="34" charset="-122"/>
                <a:ea typeface="微软雅黑" panose="020B0503020204020204" pitchFamily="34" charset="-122"/>
              </a:rPr>
              <a:t>正确聚类的样本对比例</a:t>
            </a:r>
            <a:r>
              <a:rPr lang="zh-CN" altLang="en-US" b="1" dirty="0">
                <a:solidFill>
                  <a:prstClr val="black"/>
                </a:solidFill>
                <a:latin typeface="微软雅黑" panose="020B0503020204020204" pitchFamily="34" charset="-122"/>
                <a:ea typeface="微软雅黑" panose="020B0503020204020204" pitchFamily="34" charset="-122"/>
              </a:rPr>
              <a:t>来度量聚类结果的指标，取值范围是</a:t>
            </a:r>
            <a:r>
              <a:rPr lang="en-US" altLang="zh-CN" b="1" dirty="0">
                <a:solidFill>
                  <a:prstClr val="black"/>
                </a:solidFill>
                <a:latin typeface="微软雅黑" panose="020B0503020204020204" pitchFamily="34" charset="-122"/>
                <a:ea typeface="微软雅黑" panose="020B0503020204020204" pitchFamily="34" charset="-122"/>
              </a:rPr>
              <a:t>[0,1]</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1</a:t>
            </a:r>
            <a:r>
              <a:rPr lang="zh-CN" altLang="en-US" b="1" dirty="0">
                <a:solidFill>
                  <a:prstClr val="black"/>
                </a:solidFill>
                <a:latin typeface="微软雅黑" panose="020B0503020204020204" pitchFamily="34" charset="-122"/>
                <a:ea typeface="微软雅黑" panose="020B0503020204020204" pitchFamily="34" charset="-122"/>
              </a:rPr>
              <a:t>表示最佳的聚类效果。</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44422823-93F9-639B-204F-401F868E6818}"/>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2" name="Rectangle 4">
            <a:extLst>
              <a:ext uri="{FF2B5EF4-FFF2-40B4-BE49-F238E27FC236}">
                <a16:creationId xmlns:a16="http://schemas.microsoft.com/office/drawing/2014/main" id="{D6F44350-FD45-67A5-C7BC-60415B11EF9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9" name="Rectangle 2">
            <a:extLst>
              <a:ext uri="{FF2B5EF4-FFF2-40B4-BE49-F238E27FC236}">
                <a16:creationId xmlns:a16="http://schemas.microsoft.com/office/drawing/2014/main" id="{B75ACF19-A817-ACF3-B868-EBB707B4E2C0}"/>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1" name="对象 10">
            <a:extLst>
              <a:ext uri="{FF2B5EF4-FFF2-40B4-BE49-F238E27FC236}">
                <a16:creationId xmlns:a16="http://schemas.microsoft.com/office/drawing/2014/main" id="{055B8C8F-38D5-65D4-9890-619E080A037C}"/>
              </a:ext>
            </a:extLst>
          </p:cNvPr>
          <p:cNvGraphicFramePr>
            <a:graphicFrameLocks noChangeAspect="1"/>
          </p:cNvGraphicFramePr>
          <p:nvPr>
            <p:extLst>
              <p:ext uri="{D42A27DB-BD31-4B8C-83A1-F6EECF244321}">
                <p14:modId xmlns:p14="http://schemas.microsoft.com/office/powerpoint/2010/main" val="3323635848"/>
              </p:ext>
            </p:extLst>
          </p:nvPr>
        </p:nvGraphicFramePr>
        <p:xfrm>
          <a:off x="2598347" y="2502769"/>
          <a:ext cx="3705175" cy="851291"/>
        </p:xfrm>
        <a:graphic>
          <a:graphicData uri="http://schemas.openxmlformats.org/presentationml/2006/ole">
            <mc:AlternateContent xmlns:mc="http://schemas.openxmlformats.org/markup-compatibility/2006">
              <mc:Choice xmlns:v="urn:schemas-microsoft-com:vml" Requires="v">
                <p:oleObj spid="_x0000_s2060" name="Equation" r:id="rId4" imgW="1866900" imgH="482600" progId="Equation.DSMT4">
                  <p:embed/>
                </p:oleObj>
              </mc:Choice>
              <mc:Fallback>
                <p:oleObj name="Equation" r:id="rId4" imgW="1866900" imgH="482600" progId="Equation.DSMT4">
                  <p:embed/>
                  <p:pic>
                    <p:nvPicPr>
                      <p:cNvPr id="11" name="对象 10">
                        <a:extLst>
                          <a:ext uri="{FF2B5EF4-FFF2-40B4-BE49-F238E27FC236}">
                            <a16:creationId xmlns:a16="http://schemas.microsoft.com/office/drawing/2014/main" id="{055B8C8F-38D5-65D4-9890-619E080A03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8347" y="2502769"/>
                        <a:ext cx="3705175" cy="851291"/>
                      </a:xfrm>
                      <a:prstGeom prst="rect">
                        <a:avLst/>
                      </a:prstGeom>
                      <a:noFill/>
                    </p:spPr>
                  </p:pic>
                </p:oleObj>
              </mc:Fallback>
            </mc:AlternateContent>
          </a:graphicData>
        </a:graphic>
      </p:graphicFrame>
      <p:sp>
        <p:nvSpPr>
          <p:cNvPr id="15" name="矩形 14">
            <a:extLst>
              <a:ext uri="{FF2B5EF4-FFF2-40B4-BE49-F238E27FC236}">
                <a16:creationId xmlns:a16="http://schemas.microsoft.com/office/drawing/2014/main" id="{3A8C4A17-D893-0192-9851-68885CED8010}"/>
              </a:ext>
            </a:extLst>
          </p:cNvPr>
          <p:cNvSpPr/>
          <p:nvPr/>
        </p:nvSpPr>
        <p:spPr>
          <a:xfrm>
            <a:off x="144754" y="3642767"/>
            <a:ext cx="8866511" cy="1289905"/>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4</a:t>
            </a:r>
            <a:r>
              <a:rPr lang="zh-CN" altLang="en-US" b="1" dirty="0">
                <a:solidFill>
                  <a:prstClr val="black"/>
                </a:solidFill>
                <a:latin typeface="微软雅黑" panose="020B0503020204020204" pitchFamily="34" charset="-122"/>
                <a:ea typeface="微软雅黑" panose="020B0503020204020204" pitchFamily="34" charset="-122"/>
              </a:rPr>
              <a:t>）兰德系数（</a:t>
            </a:r>
            <a:r>
              <a:rPr lang="en-US" altLang="zh-CN" b="1" dirty="0">
                <a:solidFill>
                  <a:prstClr val="black"/>
                </a:solidFill>
                <a:latin typeface="微软雅黑" panose="020B0503020204020204" pitchFamily="34" charset="-122"/>
                <a:ea typeface="微软雅黑" panose="020B0503020204020204" pitchFamily="34" charset="-122"/>
              </a:rPr>
              <a:t>Rand Index</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RI</a:t>
            </a:r>
            <a:r>
              <a:rPr lang="zh-CN" altLang="en-US" b="1" dirty="0">
                <a:solidFill>
                  <a:prstClr val="black"/>
                </a:solidFill>
                <a:latin typeface="微软雅黑" panose="020B0503020204020204" pitchFamily="34" charset="-122"/>
                <a:ea typeface="微软雅黑" panose="020B0503020204020204" pitchFamily="34" charset="-122"/>
              </a:rPr>
              <a:t>）：通过计算</a:t>
            </a:r>
            <a:r>
              <a:rPr lang="zh-CN" altLang="en-US" b="1" dirty="0">
                <a:solidFill>
                  <a:srgbClr val="FF0000"/>
                </a:solidFill>
                <a:latin typeface="微软雅黑" panose="020B0503020204020204" pitchFamily="34" charset="-122"/>
                <a:ea typeface="微软雅黑" panose="020B0503020204020204" pitchFamily="34" charset="-122"/>
              </a:rPr>
              <a:t>属于同一类别的样本对比例</a:t>
            </a:r>
            <a:r>
              <a:rPr lang="zh-CN" altLang="en-US" b="1" dirty="0">
                <a:solidFill>
                  <a:prstClr val="black"/>
                </a:solidFill>
                <a:latin typeface="微软雅黑" panose="020B0503020204020204" pitchFamily="34" charset="-122"/>
                <a:ea typeface="微软雅黑" panose="020B0503020204020204" pitchFamily="34" charset="-122"/>
              </a:rPr>
              <a:t>进行聚类结果度量的指标，主要用于比较聚类结果与已知的真实分类（或另一个聚类结果）之间的相似度。该系数的取值范围是</a:t>
            </a:r>
            <a:r>
              <a:rPr lang="en-US" altLang="zh-CN" b="1" dirty="0">
                <a:solidFill>
                  <a:prstClr val="black"/>
                </a:solidFill>
                <a:latin typeface="微软雅黑" panose="020B0503020204020204" pitchFamily="34" charset="-122"/>
                <a:ea typeface="微软雅黑" panose="020B0503020204020204" pitchFamily="34" charset="-122"/>
              </a:rPr>
              <a:t>[0,1] </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1</a:t>
            </a:r>
            <a:r>
              <a:rPr lang="zh-CN" altLang="en-US" b="1" dirty="0">
                <a:solidFill>
                  <a:prstClr val="black"/>
                </a:solidFill>
                <a:latin typeface="微软雅黑" panose="020B0503020204020204" pitchFamily="34" charset="-122"/>
                <a:ea typeface="微软雅黑" panose="020B0503020204020204" pitchFamily="34" charset="-122"/>
              </a:rPr>
              <a:t>表示最理想的聚类效果。</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16" name="Rectangle 4">
            <a:extLst>
              <a:ext uri="{FF2B5EF4-FFF2-40B4-BE49-F238E27FC236}">
                <a16:creationId xmlns:a16="http://schemas.microsoft.com/office/drawing/2014/main" id="{751521F5-B10A-2C3B-A7D8-00D4B8371FD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7" name="对象 16">
            <a:extLst>
              <a:ext uri="{FF2B5EF4-FFF2-40B4-BE49-F238E27FC236}">
                <a16:creationId xmlns:a16="http://schemas.microsoft.com/office/drawing/2014/main" id="{42A5218B-D23E-50B5-AF61-59CFFD870C5E}"/>
              </a:ext>
            </a:extLst>
          </p:cNvPr>
          <p:cNvGraphicFramePr>
            <a:graphicFrameLocks noChangeAspect="1"/>
          </p:cNvGraphicFramePr>
          <p:nvPr/>
        </p:nvGraphicFramePr>
        <p:xfrm>
          <a:off x="2255132" y="5008922"/>
          <a:ext cx="4633736" cy="880499"/>
        </p:xfrm>
        <a:graphic>
          <a:graphicData uri="http://schemas.openxmlformats.org/presentationml/2006/ole">
            <mc:AlternateContent xmlns:mc="http://schemas.openxmlformats.org/markup-compatibility/2006">
              <mc:Choice xmlns:v="urn:schemas-microsoft-com:vml" Requires="v">
                <p:oleObj spid="_x0000_s2061" name="Equation" r:id="rId6" imgW="2476500" imgH="469900" progId="Equation.DSMT4">
                  <p:embed/>
                </p:oleObj>
              </mc:Choice>
              <mc:Fallback>
                <p:oleObj name="Equation" r:id="rId6" imgW="2476500" imgH="469900" progId="Equation.DSMT4">
                  <p:embed/>
                  <p:pic>
                    <p:nvPicPr>
                      <p:cNvPr id="17" name="对象 16">
                        <a:extLst>
                          <a:ext uri="{FF2B5EF4-FFF2-40B4-BE49-F238E27FC236}">
                            <a16:creationId xmlns:a16="http://schemas.microsoft.com/office/drawing/2014/main" id="{42A5218B-D23E-50B5-AF61-59CFFD870C5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5132" y="5008922"/>
                        <a:ext cx="4633736" cy="880499"/>
                      </a:xfrm>
                      <a:prstGeom prst="rect">
                        <a:avLst/>
                      </a:prstGeom>
                      <a:noFill/>
                    </p:spPr>
                  </p:pic>
                </p:oleObj>
              </mc:Fallback>
            </mc:AlternateContent>
          </a:graphicData>
        </a:graphic>
      </p:graphicFrame>
      <p:sp>
        <p:nvSpPr>
          <p:cNvPr id="8" name="标题 7">
            <a:extLst>
              <a:ext uri="{FF2B5EF4-FFF2-40B4-BE49-F238E27FC236}">
                <a16:creationId xmlns:a16="http://schemas.microsoft.com/office/drawing/2014/main" id="{8038E95E-21BA-440E-BFFA-1AC9CF16FE45}"/>
              </a:ext>
            </a:extLst>
          </p:cNvPr>
          <p:cNvSpPr>
            <a:spLocks noGrp="1"/>
          </p:cNvSpPr>
          <p:nvPr>
            <p:ph type="title"/>
          </p:nvPr>
        </p:nvSpPr>
        <p:spPr/>
        <p:txBody>
          <a:bodyPr/>
          <a:lstStyle/>
          <a:p>
            <a:r>
              <a:rPr lang="en-US" altLang="zh-CN" dirty="0"/>
              <a:t>8.1.3 </a:t>
            </a:r>
            <a:r>
              <a:rPr lang="zh-CN" altLang="en-US" dirty="0">
                <a:sym typeface="Times New Roman" panose="02020603050405020304" pitchFamily="18" charset="0"/>
              </a:rPr>
              <a:t>聚类算法评价指标</a:t>
            </a:r>
            <a:endParaRPr lang="zh-CN" altLang="en-US" dirty="0"/>
          </a:p>
        </p:txBody>
      </p:sp>
    </p:spTree>
    <p:extLst>
      <p:ext uri="{BB962C8B-B14F-4D97-AF65-F5344CB8AC3E}">
        <p14:creationId xmlns:p14="http://schemas.microsoft.com/office/powerpoint/2010/main" val="214434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571C-C966-CBEC-E4DE-AE0A942A27C9}"/>
            </a:ext>
          </a:extLst>
        </p:cNvPr>
        <p:cNvGrpSpPr/>
        <p:nvPr/>
      </p:nvGrpSpPr>
      <p:grpSpPr>
        <a:xfrm>
          <a:off x="0" y="0"/>
          <a:ext cx="0" cy="0"/>
          <a:chOff x="0" y="0"/>
          <a:chExt cx="0" cy="0"/>
        </a:xfrm>
      </p:grpSpPr>
      <p:sp>
        <p:nvSpPr>
          <p:cNvPr id="4" name="矩形: 圆角 55">
            <a:extLst>
              <a:ext uri="{FF2B5EF4-FFF2-40B4-BE49-F238E27FC236}">
                <a16:creationId xmlns:a16="http://schemas.microsoft.com/office/drawing/2014/main" id="{C5169961-ABFE-48DA-E49B-CCB8239DFD68}"/>
              </a:ext>
            </a:extLst>
          </p:cNvPr>
          <p:cNvSpPr/>
          <p:nvPr/>
        </p:nvSpPr>
        <p:spPr>
          <a:xfrm>
            <a:off x="0" y="1060666"/>
            <a:ext cx="1455842"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内部指标</a:t>
            </a:r>
          </a:p>
        </p:txBody>
      </p:sp>
      <p:sp>
        <p:nvSpPr>
          <p:cNvPr id="6" name="矩形 5">
            <a:extLst>
              <a:ext uri="{FF2B5EF4-FFF2-40B4-BE49-F238E27FC236}">
                <a16:creationId xmlns:a16="http://schemas.microsoft.com/office/drawing/2014/main" id="{C3F2111D-D93D-D2AD-EE07-0ABA233CE1EA}"/>
              </a:ext>
            </a:extLst>
          </p:cNvPr>
          <p:cNvSpPr/>
          <p:nvPr/>
        </p:nvSpPr>
        <p:spPr>
          <a:xfrm>
            <a:off x="113236" y="2457724"/>
            <a:ext cx="8503191" cy="874407"/>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1</a:t>
            </a:r>
            <a:r>
              <a:rPr lang="zh-CN" altLang="en-US" b="1" dirty="0">
                <a:solidFill>
                  <a:prstClr val="black"/>
                </a:solidFill>
                <a:latin typeface="微软雅黑" panose="020B0503020204020204" pitchFamily="34" charset="-122"/>
                <a:ea typeface="微软雅黑" panose="020B0503020204020204" pitchFamily="34" charset="-122"/>
              </a:rPr>
              <a:t>）轮廓系数（</a:t>
            </a:r>
            <a:r>
              <a:rPr lang="en-US" altLang="zh-CN" b="1" dirty="0">
                <a:solidFill>
                  <a:prstClr val="black"/>
                </a:solidFill>
                <a:latin typeface="微软雅黑" panose="020B0503020204020204" pitchFamily="34" charset="-122"/>
                <a:ea typeface="微软雅黑" panose="020B0503020204020204" pitchFamily="34" charset="-122"/>
              </a:rPr>
              <a:t>Silhouette Coefficient</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SC</a:t>
            </a:r>
            <a:r>
              <a:rPr lang="zh-CN" altLang="en-US" b="1" dirty="0">
                <a:solidFill>
                  <a:prstClr val="black"/>
                </a:solidFill>
                <a:latin typeface="微软雅黑" panose="020B0503020204020204" pitchFamily="34" charset="-122"/>
                <a:ea typeface="微软雅黑" panose="020B0503020204020204" pitchFamily="34" charset="-122"/>
              </a:rPr>
              <a:t>）：通过计算数据的</a:t>
            </a:r>
            <a:r>
              <a:rPr lang="zh-CN" altLang="en-US" b="1" dirty="0">
                <a:solidFill>
                  <a:srgbClr val="FF0000"/>
                </a:solidFill>
                <a:latin typeface="微软雅黑" panose="020B0503020204020204" pitchFamily="34" charset="-122"/>
                <a:ea typeface="微软雅黑" panose="020B0503020204020204" pitchFamily="34" charset="-122"/>
              </a:rPr>
              <a:t>簇内平均距离和簇间平均距离</a:t>
            </a:r>
            <a:r>
              <a:rPr lang="zh-CN" altLang="en-US" b="1" dirty="0">
                <a:solidFill>
                  <a:prstClr val="black"/>
                </a:solidFill>
                <a:latin typeface="微软雅黑" panose="020B0503020204020204" pitchFamily="34" charset="-122"/>
                <a:ea typeface="微软雅黑" panose="020B0503020204020204" pitchFamily="34" charset="-122"/>
              </a:rPr>
              <a:t>进行聚类效果评估的指标。</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EA160E7A-70D0-03FB-7714-50ECA8277711}"/>
              </a:ext>
            </a:extLst>
          </p:cNvPr>
          <p:cNvSpPr txBox="1">
            <a:spLocks noChangeArrowheads="1"/>
          </p:cNvSpPr>
          <p:nvPr/>
        </p:nvSpPr>
        <p:spPr>
          <a:xfrm>
            <a:off x="431296" y="1700664"/>
            <a:ext cx="8281407" cy="700248"/>
          </a:xfrm>
          <a:prstGeom prst="rect">
            <a:avLst/>
          </a:prstGeom>
          <a:ln>
            <a:solidFill>
              <a:schemeClr val="tx1"/>
            </a:solidFill>
          </a:ln>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1800" dirty="0">
                <a:solidFill>
                  <a:schemeClr val="tx1"/>
                </a:solidFill>
                <a:effectLst/>
              </a:rPr>
              <a:t>不依赖外部标签，仅通过</a:t>
            </a:r>
            <a:r>
              <a:rPr lang="zh-CN" altLang="en-US" sz="1800" dirty="0">
                <a:solidFill>
                  <a:srgbClr val="FF0000"/>
                </a:solidFill>
                <a:effectLst/>
              </a:rPr>
              <a:t>簇内相似度和簇间相异度</a:t>
            </a:r>
            <a:r>
              <a:rPr lang="zh-CN" altLang="en-US" sz="1800" dirty="0">
                <a:solidFill>
                  <a:schemeClr val="tx1"/>
                </a:solidFill>
                <a:effectLst/>
              </a:rPr>
              <a:t>的计算对聚类结果进行度量。</a:t>
            </a:r>
          </a:p>
        </p:txBody>
      </p:sp>
      <p:sp>
        <p:nvSpPr>
          <p:cNvPr id="8" name="矩形 7">
            <a:extLst>
              <a:ext uri="{FF2B5EF4-FFF2-40B4-BE49-F238E27FC236}">
                <a16:creationId xmlns:a16="http://schemas.microsoft.com/office/drawing/2014/main" id="{B79AA666-5521-FAC1-5761-C8B33341A409}"/>
              </a:ext>
            </a:extLst>
          </p:cNvPr>
          <p:cNvSpPr/>
          <p:nvPr/>
        </p:nvSpPr>
        <p:spPr>
          <a:xfrm>
            <a:off x="431296" y="3332131"/>
            <a:ext cx="3300464" cy="458908"/>
          </a:xfrm>
          <a:prstGeom prst="rect">
            <a:avLst/>
          </a:prstGeom>
        </p:spPr>
        <p:txBody>
          <a:bodyPr wrap="square">
            <a:spAutoFit/>
          </a:bodyPr>
          <a:lstStyle/>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样本  的轮廓系数的计算如下：</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10" name="Rectangle 2">
            <a:extLst>
              <a:ext uri="{FF2B5EF4-FFF2-40B4-BE49-F238E27FC236}">
                <a16:creationId xmlns:a16="http://schemas.microsoft.com/office/drawing/2014/main" id="{FD973E3E-9334-6D54-2E97-8572ED95497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1" name="对象 10">
            <a:extLst>
              <a:ext uri="{FF2B5EF4-FFF2-40B4-BE49-F238E27FC236}">
                <a16:creationId xmlns:a16="http://schemas.microsoft.com/office/drawing/2014/main" id="{FBCDA9FB-4073-16C8-B7BA-5A653495CF64}"/>
              </a:ext>
            </a:extLst>
          </p:cNvPr>
          <p:cNvGraphicFramePr>
            <a:graphicFrameLocks noChangeAspect="1"/>
          </p:cNvGraphicFramePr>
          <p:nvPr>
            <p:extLst>
              <p:ext uri="{D42A27DB-BD31-4B8C-83A1-F6EECF244321}">
                <p14:modId xmlns:p14="http://schemas.microsoft.com/office/powerpoint/2010/main" val="674007270"/>
              </p:ext>
            </p:extLst>
          </p:nvPr>
        </p:nvGraphicFramePr>
        <p:xfrm>
          <a:off x="950168" y="3406667"/>
          <a:ext cx="246965" cy="339213"/>
        </p:xfrm>
        <a:graphic>
          <a:graphicData uri="http://schemas.openxmlformats.org/presentationml/2006/ole">
            <mc:AlternateContent xmlns:mc="http://schemas.openxmlformats.org/markup-compatibility/2006">
              <mc:Choice xmlns:v="urn:schemas-microsoft-com:vml" Requires="v">
                <p:oleObj spid="_x0000_s3084" name="Equation" r:id="rId4" imgW="88560" imgH="164880" progId="Equation.DSMT4">
                  <p:embed/>
                </p:oleObj>
              </mc:Choice>
              <mc:Fallback>
                <p:oleObj name="Equation" r:id="rId4" imgW="88560" imgH="164880" progId="Equation.DSMT4">
                  <p:embed/>
                  <p:pic>
                    <p:nvPicPr>
                      <p:cNvPr id="11" name="对象 10">
                        <a:extLst>
                          <a:ext uri="{FF2B5EF4-FFF2-40B4-BE49-F238E27FC236}">
                            <a16:creationId xmlns:a16="http://schemas.microsoft.com/office/drawing/2014/main" id="{FBCDA9FB-4073-16C8-B7BA-5A653495CF64}"/>
                          </a:ext>
                        </a:extLst>
                      </p:cNvPr>
                      <p:cNvPicPr>
                        <a:picLocks noChangeAspect="1" noChangeArrowheads="1"/>
                      </p:cNvPicPr>
                      <p:nvPr/>
                    </p:nvPicPr>
                    <p:blipFill>
                      <a:blip r:embed="rId5"/>
                      <a:srcRect/>
                      <a:stretch>
                        <a:fillRect/>
                      </a:stretch>
                    </p:blipFill>
                    <p:spPr bwMode="auto">
                      <a:xfrm>
                        <a:off x="950168" y="3406667"/>
                        <a:ext cx="246965" cy="339213"/>
                      </a:xfrm>
                      <a:prstGeom prst="rect">
                        <a:avLst/>
                      </a:prstGeom>
                      <a:noFill/>
                    </p:spPr>
                  </p:pic>
                </p:oleObj>
              </mc:Fallback>
            </mc:AlternateContent>
          </a:graphicData>
        </a:graphic>
      </p:graphicFrame>
      <p:sp>
        <p:nvSpPr>
          <p:cNvPr id="12" name="Rectangle 4">
            <a:extLst>
              <a:ext uri="{FF2B5EF4-FFF2-40B4-BE49-F238E27FC236}">
                <a16:creationId xmlns:a16="http://schemas.microsoft.com/office/drawing/2014/main" id="{838AF627-8672-5546-B4D3-D9B849A018E2}"/>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3" name="对象 12">
            <a:extLst>
              <a:ext uri="{FF2B5EF4-FFF2-40B4-BE49-F238E27FC236}">
                <a16:creationId xmlns:a16="http://schemas.microsoft.com/office/drawing/2014/main" id="{543E88FA-5454-E4EE-AD7B-8D3E0D572B16}"/>
              </a:ext>
            </a:extLst>
          </p:cNvPr>
          <p:cNvGraphicFramePr>
            <a:graphicFrameLocks noChangeAspect="1"/>
          </p:cNvGraphicFramePr>
          <p:nvPr/>
        </p:nvGraphicFramePr>
        <p:xfrm>
          <a:off x="3663569" y="4119746"/>
          <a:ext cx="1816863" cy="708269"/>
        </p:xfrm>
        <a:graphic>
          <a:graphicData uri="http://schemas.openxmlformats.org/presentationml/2006/ole">
            <mc:AlternateContent xmlns:mc="http://schemas.openxmlformats.org/markup-compatibility/2006">
              <mc:Choice xmlns:v="urn:schemas-microsoft-com:vml" Requires="v">
                <p:oleObj spid="_x0000_s3085" name="Equation" r:id="rId6" imgW="1129810" imgH="444307" progId="Equation.DSMT4">
                  <p:embed/>
                </p:oleObj>
              </mc:Choice>
              <mc:Fallback>
                <p:oleObj name="Equation" r:id="rId6" imgW="1129810" imgH="444307" progId="Equation.DSMT4">
                  <p:embed/>
                  <p:pic>
                    <p:nvPicPr>
                      <p:cNvPr id="13" name="对象 12">
                        <a:extLst>
                          <a:ext uri="{FF2B5EF4-FFF2-40B4-BE49-F238E27FC236}">
                            <a16:creationId xmlns:a16="http://schemas.microsoft.com/office/drawing/2014/main" id="{543E88FA-5454-E4EE-AD7B-8D3E0D572B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63569" y="4119746"/>
                        <a:ext cx="1816863" cy="708269"/>
                      </a:xfrm>
                      <a:prstGeom prst="rect">
                        <a:avLst/>
                      </a:prstGeom>
                      <a:noFill/>
                    </p:spPr>
                  </p:pic>
                </p:oleObj>
              </mc:Fallback>
            </mc:AlternateContent>
          </a:graphicData>
        </a:graphic>
      </p:graphicFrame>
      <p:sp>
        <p:nvSpPr>
          <p:cNvPr id="14" name="Rectangle 2">
            <a:extLst>
              <a:ext uri="{FF2B5EF4-FFF2-40B4-BE49-F238E27FC236}">
                <a16:creationId xmlns:a16="http://schemas.microsoft.com/office/drawing/2014/main" id="{80F15571-EA39-0A0A-BBA3-A4AFFB1EE706}"/>
              </a:ext>
            </a:extLst>
          </p:cNvPr>
          <p:cNvSpPr txBox="1">
            <a:spLocks noChangeArrowheads="1"/>
          </p:cNvSpPr>
          <p:nvPr/>
        </p:nvSpPr>
        <p:spPr>
          <a:xfrm>
            <a:off x="5005697" y="3708992"/>
            <a:ext cx="1114424" cy="297996"/>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内聚度</a:t>
            </a:r>
          </a:p>
        </p:txBody>
      </p:sp>
      <p:sp>
        <p:nvSpPr>
          <p:cNvPr id="15" name="Rectangle 2">
            <a:extLst>
              <a:ext uri="{FF2B5EF4-FFF2-40B4-BE49-F238E27FC236}">
                <a16:creationId xmlns:a16="http://schemas.microsoft.com/office/drawing/2014/main" id="{7D4FB4C0-6FAD-2EDD-5A8B-81B01F4A2D32}"/>
              </a:ext>
            </a:extLst>
          </p:cNvPr>
          <p:cNvSpPr txBox="1">
            <a:spLocks noChangeArrowheads="1"/>
          </p:cNvSpPr>
          <p:nvPr/>
        </p:nvSpPr>
        <p:spPr>
          <a:xfrm>
            <a:off x="3807620" y="3708619"/>
            <a:ext cx="1114424" cy="297996"/>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分离度</a:t>
            </a:r>
          </a:p>
        </p:txBody>
      </p:sp>
      <p:cxnSp>
        <p:nvCxnSpPr>
          <p:cNvPr id="17" name="直接箭头连接符 16">
            <a:extLst>
              <a:ext uri="{FF2B5EF4-FFF2-40B4-BE49-F238E27FC236}">
                <a16:creationId xmlns:a16="http://schemas.microsoft.com/office/drawing/2014/main" id="{D89D1F1A-F7B8-88B7-35BD-8AEF1B9DF231}"/>
              </a:ext>
            </a:extLst>
          </p:cNvPr>
          <p:cNvCxnSpPr>
            <a:cxnSpLocks/>
          </p:cNvCxnSpPr>
          <p:nvPr/>
        </p:nvCxnSpPr>
        <p:spPr>
          <a:xfrm flipV="1">
            <a:off x="5056416" y="4006615"/>
            <a:ext cx="216848" cy="136760"/>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CB9C2A4-3B7A-177C-5E41-AD7741526436}"/>
              </a:ext>
            </a:extLst>
          </p:cNvPr>
          <p:cNvCxnSpPr>
            <a:cxnSpLocks/>
            <a:stCxn id="13" idx="0"/>
            <a:endCxn id="15" idx="2"/>
          </p:cNvCxnSpPr>
          <p:nvPr/>
        </p:nvCxnSpPr>
        <p:spPr>
          <a:xfrm flipH="1" flipV="1">
            <a:off x="4364832" y="4006615"/>
            <a:ext cx="207168" cy="113132"/>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1AEE6340-E975-4F77-D311-4FD31D94A4BF}"/>
              </a:ext>
            </a:extLst>
          </p:cNvPr>
          <p:cNvSpPr/>
          <p:nvPr/>
        </p:nvSpPr>
        <p:spPr>
          <a:xfrm>
            <a:off x="597514" y="4717871"/>
            <a:ext cx="7741804" cy="874407"/>
          </a:xfrm>
          <a:prstGeom prst="rect">
            <a:avLst/>
          </a:prstGeom>
        </p:spPr>
        <p:txBody>
          <a:bodyPr wrap="square">
            <a:spAutoFit/>
          </a:bodyPr>
          <a:lstStyle/>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所有样本轮廓系数的平均值可以作为数据集的轮廓系数，轮廓系数的取值范围是</a:t>
            </a:r>
            <a:r>
              <a:rPr lang="en-US" altLang="zh-CN" b="1" dirty="0">
                <a:solidFill>
                  <a:prstClr val="black"/>
                </a:solidFill>
                <a:latin typeface="微软雅黑" panose="020B0503020204020204" pitchFamily="34" charset="-122"/>
                <a:ea typeface="微软雅黑" panose="020B0503020204020204" pitchFamily="34" charset="-122"/>
              </a:rPr>
              <a:t>[-1,1]</a:t>
            </a:r>
            <a:r>
              <a:rPr lang="zh-CN" altLang="en-US" b="1" dirty="0">
                <a:solidFill>
                  <a:prstClr val="black"/>
                </a:solidFill>
                <a:latin typeface="微软雅黑" panose="020B0503020204020204" pitchFamily="34" charset="-122"/>
                <a:ea typeface="微软雅黑" panose="020B0503020204020204" pitchFamily="34" charset="-122"/>
              </a:rPr>
              <a:t>，值越高表示聚类效果越好。</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9" name="标题 8">
            <a:extLst>
              <a:ext uri="{FF2B5EF4-FFF2-40B4-BE49-F238E27FC236}">
                <a16:creationId xmlns:a16="http://schemas.microsoft.com/office/drawing/2014/main" id="{C97BE520-645E-4DDF-A47C-C827898F6D20}"/>
              </a:ext>
            </a:extLst>
          </p:cNvPr>
          <p:cNvSpPr>
            <a:spLocks noGrp="1"/>
          </p:cNvSpPr>
          <p:nvPr>
            <p:ph type="title"/>
          </p:nvPr>
        </p:nvSpPr>
        <p:spPr/>
        <p:txBody>
          <a:bodyPr/>
          <a:lstStyle/>
          <a:p>
            <a:r>
              <a:rPr lang="en-US" altLang="zh-CN" dirty="0"/>
              <a:t>8.1.3 </a:t>
            </a:r>
            <a:r>
              <a:rPr lang="zh-CN" altLang="en-US" dirty="0">
                <a:sym typeface="Times New Roman" panose="02020603050405020304" pitchFamily="18" charset="0"/>
              </a:rPr>
              <a:t>聚类算法评价指标</a:t>
            </a:r>
            <a:endParaRPr lang="zh-CN" altLang="en-US" dirty="0"/>
          </a:p>
        </p:txBody>
      </p:sp>
      <p:sp>
        <p:nvSpPr>
          <p:cNvPr id="19" name="矩形 18">
            <a:extLst>
              <a:ext uri="{FF2B5EF4-FFF2-40B4-BE49-F238E27FC236}">
                <a16:creationId xmlns:a16="http://schemas.microsoft.com/office/drawing/2014/main" id="{FF099787-5AF7-40EA-9B9D-E55B806585D5}"/>
              </a:ext>
            </a:extLst>
          </p:cNvPr>
          <p:cNvSpPr/>
          <p:nvPr/>
        </p:nvSpPr>
        <p:spPr>
          <a:xfrm>
            <a:off x="597514" y="5592278"/>
            <a:ext cx="7741804" cy="874407"/>
          </a:xfrm>
          <a:prstGeom prst="rect">
            <a:avLst/>
          </a:prstGeom>
        </p:spPr>
        <p:txBody>
          <a:bodyPr wrap="square">
            <a:spAutoFit/>
          </a:bodyPr>
          <a:lstStyle/>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内聚度</a:t>
            </a:r>
            <a:r>
              <a:rPr lang="en-US" altLang="zh-CN" b="1" dirty="0">
                <a:solidFill>
                  <a:prstClr val="black"/>
                </a:solidFill>
                <a:latin typeface="微软雅黑" panose="020B0503020204020204" pitchFamily="34" charset="-122"/>
                <a:ea typeface="微软雅黑" panose="020B0503020204020204" pitchFamily="34" charset="-122"/>
              </a:rPr>
              <a:t>a</a:t>
            </a:r>
            <a:r>
              <a:rPr lang="en-US" altLang="zh-CN" b="1" baseline="-25000" dirty="0">
                <a:solidFill>
                  <a:prstClr val="black"/>
                </a:solidFill>
                <a:latin typeface="微软雅黑" panose="020B0503020204020204" pitchFamily="34" charset="-122"/>
                <a:ea typeface="微软雅黑" panose="020B0503020204020204" pitchFamily="34" charset="-122"/>
              </a:rPr>
              <a:t>i</a:t>
            </a:r>
            <a:r>
              <a:rPr lang="zh-CN" altLang="en-US" b="1" dirty="0">
                <a:solidFill>
                  <a:prstClr val="black"/>
                </a:solidFill>
                <a:latin typeface="微软雅黑" panose="020B0503020204020204" pitchFamily="34" charset="-122"/>
                <a:ea typeface="微软雅黑" panose="020B0503020204020204" pitchFamily="34" charset="-122"/>
              </a:rPr>
              <a:t>：样本</a:t>
            </a:r>
            <a:r>
              <a:rPr lang="en-US" altLang="zh-CN" b="1" dirty="0" err="1">
                <a:solidFill>
                  <a:prstClr val="black"/>
                </a:solidFill>
                <a:latin typeface="微软雅黑" panose="020B0503020204020204" pitchFamily="34" charset="-122"/>
                <a:ea typeface="微软雅黑" panose="020B0503020204020204" pitchFamily="34" charset="-122"/>
              </a:rPr>
              <a:t>i</a:t>
            </a:r>
            <a:r>
              <a:rPr lang="zh-CN" altLang="en-US" b="1" dirty="0">
                <a:solidFill>
                  <a:prstClr val="black"/>
                </a:solidFill>
                <a:latin typeface="微软雅黑" panose="020B0503020204020204" pitchFamily="34" charset="-122"/>
                <a:ea typeface="微软雅黑" panose="020B0503020204020204" pitchFamily="34" charset="-122"/>
              </a:rPr>
              <a:t>到本簇其他样本的平均距离；</a:t>
            </a:r>
            <a:endParaRPr lang="en-US" altLang="zh-CN" b="1" dirty="0">
              <a:solidFill>
                <a:prstClr val="black"/>
              </a:solidFill>
              <a:latin typeface="微软雅黑" panose="020B0503020204020204" pitchFamily="34" charset="-122"/>
              <a:ea typeface="微软雅黑" panose="020B0503020204020204" pitchFamily="34" charset="-122"/>
            </a:endParaRPr>
          </a:p>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分离度</a:t>
            </a:r>
            <a:r>
              <a:rPr lang="en-US" altLang="zh-CN" b="1" dirty="0">
                <a:solidFill>
                  <a:prstClr val="black"/>
                </a:solidFill>
                <a:latin typeface="微软雅黑" panose="020B0503020204020204" pitchFamily="34" charset="-122"/>
                <a:ea typeface="微软雅黑" panose="020B0503020204020204" pitchFamily="34" charset="-122"/>
              </a:rPr>
              <a:t>b</a:t>
            </a:r>
            <a:r>
              <a:rPr lang="en-US" altLang="zh-CN" b="1" baseline="-25000" dirty="0">
                <a:solidFill>
                  <a:prstClr val="black"/>
                </a:solidFill>
                <a:latin typeface="微软雅黑" panose="020B0503020204020204" pitchFamily="34" charset="-122"/>
                <a:ea typeface="微软雅黑" panose="020B0503020204020204" pitchFamily="34" charset="-122"/>
              </a:rPr>
              <a:t>i</a:t>
            </a:r>
            <a:r>
              <a:rPr lang="zh-CN" altLang="en-US" b="1" dirty="0">
                <a:solidFill>
                  <a:prstClr val="black"/>
                </a:solidFill>
                <a:latin typeface="微软雅黑" panose="020B0503020204020204" pitchFamily="34" charset="-122"/>
                <a:ea typeface="微软雅黑" panose="020B0503020204020204" pitchFamily="34" charset="-122"/>
              </a:rPr>
              <a:t>：样本</a:t>
            </a:r>
            <a:r>
              <a:rPr lang="en-US" altLang="zh-CN" b="1" dirty="0" err="1">
                <a:solidFill>
                  <a:prstClr val="black"/>
                </a:solidFill>
                <a:latin typeface="微软雅黑" panose="020B0503020204020204" pitchFamily="34" charset="-122"/>
                <a:ea typeface="微软雅黑" panose="020B0503020204020204" pitchFamily="34" charset="-122"/>
              </a:rPr>
              <a:t>i</a:t>
            </a:r>
            <a:r>
              <a:rPr lang="zh-CN" altLang="en-US" b="1" dirty="0">
                <a:solidFill>
                  <a:prstClr val="black"/>
                </a:solidFill>
                <a:latin typeface="微软雅黑" panose="020B0503020204020204" pitchFamily="34" charset="-122"/>
                <a:ea typeface="微软雅黑" panose="020B0503020204020204" pitchFamily="34" charset="-122"/>
              </a:rPr>
              <a:t>到下一个最近簇所有样本的平均距离；</a:t>
            </a:r>
            <a:endParaRPr lang="en-US" altLang="zh-CN" b="1"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449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16E00-D556-50E0-0F99-C331BF25F919}"/>
            </a:ext>
          </a:extLst>
        </p:cNvPr>
        <p:cNvGrpSpPr/>
        <p:nvPr/>
      </p:nvGrpSpPr>
      <p:grpSpPr>
        <a:xfrm>
          <a:off x="0" y="0"/>
          <a:ext cx="0" cy="0"/>
          <a:chOff x="0" y="0"/>
          <a:chExt cx="0" cy="0"/>
        </a:xfrm>
      </p:grpSpPr>
      <p:sp>
        <p:nvSpPr>
          <p:cNvPr id="4" name="矩形: 圆角 55">
            <a:extLst>
              <a:ext uri="{FF2B5EF4-FFF2-40B4-BE49-F238E27FC236}">
                <a16:creationId xmlns:a16="http://schemas.microsoft.com/office/drawing/2014/main" id="{19F4389F-95D0-AB12-E2C5-DB87FF6ABFDD}"/>
              </a:ext>
            </a:extLst>
          </p:cNvPr>
          <p:cNvSpPr/>
          <p:nvPr/>
        </p:nvSpPr>
        <p:spPr>
          <a:xfrm>
            <a:off x="0" y="988199"/>
            <a:ext cx="1455842"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内部指标</a:t>
            </a:r>
          </a:p>
        </p:txBody>
      </p:sp>
      <p:sp>
        <p:nvSpPr>
          <p:cNvPr id="6" name="矩形 5">
            <a:extLst>
              <a:ext uri="{FF2B5EF4-FFF2-40B4-BE49-F238E27FC236}">
                <a16:creationId xmlns:a16="http://schemas.microsoft.com/office/drawing/2014/main" id="{7A652BAE-8ED6-D6FE-002E-5AEDA7A9E30D}"/>
              </a:ext>
            </a:extLst>
          </p:cNvPr>
          <p:cNvSpPr/>
          <p:nvPr/>
        </p:nvSpPr>
        <p:spPr>
          <a:xfrm>
            <a:off x="504654" y="1584786"/>
            <a:ext cx="8376699" cy="874407"/>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2</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err="1">
                <a:solidFill>
                  <a:prstClr val="black"/>
                </a:solidFill>
                <a:latin typeface="微软雅黑" panose="020B0503020204020204" pitchFamily="34" charset="-122"/>
                <a:ea typeface="微软雅黑" panose="020B0503020204020204" pitchFamily="34" charset="-122"/>
              </a:rPr>
              <a:t>Calinski-Harabasz</a:t>
            </a:r>
            <a:r>
              <a:rPr lang="zh-CN" altLang="en-US" b="1" dirty="0">
                <a:solidFill>
                  <a:prstClr val="black"/>
                </a:solidFill>
                <a:latin typeface="微软雅黑" panose="020B0503020204020204" pitchFamily="34" charset="-122"/>
                <a:ea typeface="微软雅黑" panose="020B0503020204020204" pitchFamily="34" charset="-122"/>
              </a:rPr>
              <a:t>指数：通过计算</a:t>
            </a:r>
            <a:r>
              <a:rPr lang="zh-CN" altLang="en-US" b="1" dirty="0">
                <a:solidFill>
                  <a:srgbClr val="FF0000"/>
                </a:solidFill>
                <a:latin typeface="微软雅黑" panose="020B0503020204020204" pitchFamily="34" charset="-122"/>
                <a:ea typeface="微软雅黑" panose="020B0503020204020204" pitchFamily="34" charset="-122"/>
              </a:rPr>
              <a:t>簇内的方差和簇间的方差</a:t>
            </a:r>
            <a:r>
              <a:rPr lang="zh-CN" altLang="en-US" b="1" dirty="0">
                <a:solidFill>
                  <a:prstClr val="black"/>
                </a:solidFill>
                <a:latin typeface="微软雅黑" panose="020B0503020204020204" pitchFamily="34" charset="-122"/>
                <a:ea typeface="微软雅黑" panose="020B0503020204020204" pitchFamily="34" charset="-122"/>
              </a:rPr>
              <a:t>进行聚类效果评估的指标，指数值越高表示簇间距离大、簇内距离小，聚类效果越好。</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10" name="Rectangle 2">
            <a:extLst>
              <a:ext uri="{FF2B5EF4-FFF2-40B4-BE49-F238E27FC236}">
                <a16:creationId xmlns:a16="http://schemas.microsoft.com/office/drawing/2014/main" id="{3E756DBA-BCD7-5B61-3CBB-82FF390A01EC}"/>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2" name="Rectangle 4">
            <a:extLst>
              <a:ext uri="{FF2B5EF4-FFF2-40B4-BE49-F238E27FC236}">
                <a16:creationId xmlns:a16="http://schemas.microsoft.com/office/drawing/2014/main" id="{3BF33A8A-C431-2AC0-78D5-B841A61C659A}"/>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4" name="Rectangle 2">
            <a:extLst>
              <a:ext uri="{FF2B5EF4-FFF2-40B4-BE49-F238E27FC236}">
                <a16:creationId xmlns:a16="http://schemas.microsoft.com/office/drawing/2014/main" id="{CF0D0F9A-659D-6B9D-D6A0-001DFE6A74AE}"/>
              </a:ext>
            </a:extLst>
          </p:cNvPr>
          <p:cNvSpPr txBox="1">
            <a:spLocks noChangeArrowheads="1"/>
          </p:cNvSpPr>
          <p:nvPr/>
        </p:nvSpPr>
        <p:spPr>
          <a:xfrm>
            <a:off x="243298" y="3982647"/>
            <a:ext cx="2059630" cy="297996"/>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簇内散度矩阵</a:t>
            </a:r>
          </a:p>
        </p:txBody>
      </p:sp>
      <p:sp>
        <p:nvSpPr>
          <p:cNvPr id="15" name="Rectangle 2">
            <a:extLst>
              <a:ext uri="{FF2B5EF4-FFF2-40B4-BE49-F238E27FC236}">
                <a16:creationId xmlns:a16="http://schemas.microsoft.com/office/drawing/2014/main" id="{E04AE8B9-0A1E-4805-FFD2-81A1A4BF68E9}"/>
              </a:ext>
            </a:extLst>
          </p:cNvPr>
          <p:cNvSpPr txBox="1">
            <a:spLocks noChangeArrowheads="1"/>
          </p:cNvSpPr>
          <p:nvPr/>
        </p:nvSpPr>
        <p:spPr>
          <a:xfrm>
            <a:off x="57220" y="3045357"/>
            <a:ext cx="1898040" cy="297996"/>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簇间散度矩阵</a:t>
            </a:r>
          </a:p>
        </p:txBody>
      </p:sp>
      <p:cxnSp>
        <p:nvCxnSpPr>
          <p:cNvPr id="17" name="直接箭头连接符 16">
            <a:extLst>
              <a:ext uri="{FF2B5EF4-FFF2-40B4-BE49-F238E27FC236}">
                <a16:creationId xmlns:a16="http://schemas.microsoft.com/office/drawing/2014/main" id="{7214F346-A18A-644D-C2EC-10C8D956F38F}"/>
              </a:ext>
            </a:extLst>
          </p:cNvPr>
          <p:cNvCxnSpPr>
            <a:cxnSpLocks/>
            <a:endCxn id="21" idx="3"/>
          </p:cNvCxnSpPr>
          <p:nvPr/>
        </p:nvCxnSpPr>
        <p:spPr>
          <a:xfrm flipH="1">
            <a:off x="3224901" y="4302158"/>
            <a:ext cx="1133248" cy="196783"/>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CFAF7E9-68B2-F2E5-897F-E7DFE97A0628}"/>
              </a:ext>
            </a:extLst>
          </p:cNvPr>
          <p:cNvCxnSpPr>
            <a:cxnSpLocks/>
          </p:cNvCxnSpPr>
          <p:nvPr/>
        </p:nvCxnSpPr>
        <p:spPr>
          <a:xfrm flipH="1" flipV="1">
            <a:off x="3186377" y="3580558"/>
            <a:ext cx="1171772" cy="226877"/>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0595A8BF-4BC3-EFFB-8920-1C1462D43097}"/>
              </a:ext>
            </a:extLst>
          </p:cNvPr>
          <p:cNvSpPr/>
          <p:nvPr/>
        </p:nvSpPr>
        <p:spPr>
          <a:xfrm>
            <a:off x="632373" y="4831064"/>
            <a:ext cx="7741804" cy="874407"/>
          </a:xfrm>
          <a:prstGeom prst="rect">
            <a:avLst/>
          </a:prstGeom>
        </p:spPr>
        <p:txBody>
          <a:bodyPr wrap="square">
            <a:spAutoFit/>
          </a:bodyPr>
          <a:lstStyle/>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其中，  为样本，   为簇的样本集合，   为簇的质心，  为数据集的质心，  为簇的样本数量，  为聚类数，    为总的样本量。</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9" name="Rectangle 2">
            <a:extLst>
              <a:ext uri="{FF2B5EF4-FFF2-40B4-BE49-F238E27FC236}">
                <a16:creationId xmlns:a16="http://schemas.microsoft.com/office/drawing/2014/main" id="{94552061-0869-09BA-9FE1-72BCD16EE14A}"/>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6" name="对象 15">
            <a:extLst>
              <a:ext uri="{FF2B5EF4-FFF2-40B4-BE49-F238E27FC236}">
                <a16:creationId xmlns:a16="http://schemas.microsoft.com/office/drawing/2014/main" id="{2C0F9F37-50C1-61EE-3143-F9A22D5B0DC1}"/>
              </a:ext>
            </a:extLst>
          </p:cNvPr>
          <p:cNvGraphicFramePr>
            <a:graphicFrameLocks noChangeAspect="1"/>
          </p:cNvGraphicFramePr>
          <p:nvPr/>
        </p:nvGraphicFramePr>
        <p:xfrm>
          <a:off x="3302734" y="3614104"/>
          <a:ext cx="2402153" cy="851290"/>
        </p:xfrm>
        <a:graphic>
          <a:graphicData uri="http://schemas.openxmlformats.org/presentationml/2006/ole">
            <mc:AlternateContent xmlns:mc="http://schemas.openxmlformats.org/markup-compatibility/2006">
              <mc:Choice xmlns:v="urn:schemas-microsoft-com:vml" Requires="v">
                <p:oleObj spid="_x0000_s4153" name="Equation" r:id="rId4" imgW="1371600" imgH="469900" progId="Equation.DSMT4">
                  <p:embed/>
                </p:oleObj>
              </mc:Choice>
              <mc:Fallback>
                <p:oleObj name="Equation" r:id="rId4" imgW="1371600" imgH="469900" progId="Equation.DSMT4">
                  <p:embed/>
                  <p:pic>
                    <p:nvPicPr>
                      <p:cNvPr id="16" name="对象 15">
                        <a:extLst>
                          <a:ext uri="{FF2B5EF4-FFF2-40B4-BE49-F238E27FC236}">
                            <a16:creationId xmlns:a16="http://schemas.microsoft.com/office/drawing/2014/main" id="{2C0F9F37-50C1-61EE-3143-F9A22D5B0D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2734" y="3614104"/>
                        <a:ext cx="2402153" cy="851290"/>
                      </a:xfrm>
                      <a:prstGeom prst="rect">
                        <a:avLst/>
                      </a:prstGeom>
                      <a:noFill/>
                    </p:spPr>
                  </p:pic>
                </p:oleObj>
              </mc:Fallback>
            </mc:AlternateContent>
          </a:graphicData>
        </a:graphic>
      </p:graphicFrame>
      <p:sp>
        <p:nvSpPr>
          <p:cNvPr id="20" name="Rectangle 4">
            <a:extLst>
              <a:ext uri="{FF2B5EF4-FFF2-40B4-BE49-F238E27FC236}">
                <a16:creationId xmlns:a16="http://schemas.microsoft.com/office/drawing/2014/main" id="{D53A3796-73BB-13A4-89FD-1B0B0192968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21" name="对象 20">
            <a:extLst>
              <a:ext uri="{FF2B5EF4-FFF2-40B4-BE49-F238E27FC236}">
                <a16:creationId xmlns:a16="http://schemas.microsoft.com/office/drawing/2014/main" id="{B88E3E5F-D95E-59DC-C028-BBE806088468}"/>
              </a:ext>
            </a:extLst>
          </p:cNvPr>
          <p:cNvGraphicFramePr>
            <a:graphicFrameLocks noChangeAspect="1"/>
          </p:cNvGraphicFramePr>
          <p:nvPr/>
        </p:nvGraphicFramePr>
        <p:xfrm>
          <a:off x="80454" y="4261039"/>
          <a:ext cx="3144447" cy="475805"/>
        </p:xfrm>
        <a:graphic>
          <a:graphicData uri="http://schemas.openxmlformats.org/presentationml/2006/ole">
            <mc:AlternateContent xmlns:mc="http://schemas.openxmlformats.org/markup-compatibility/2006">
              <mc:Choice xmlns:v="urn:schemas-microsoft-com:vml" Requires="v">
                <p:oleObj spid="_x0000_s4154" name="Equation" r:id="rId6" imgW="2184400" imgH="330200" progId="Equation.DSMT4">
                  <p:embed/>
                </p:oleObj>
              </mc:Choice>
              <mc:Fallback>
                <p:oleObj name="Equation" r:id="rId6" imgW="2184400" imgH="330200" progId="Equation.DSMT4">
                  <p:embed/>
                  <p:pic>
                    <p:nvPicPr>
                      <p:cNvPr id="21" name="对象 20">
                        <a:extLst>
                          <a:ext uri="{FF2B5EF4-FFF2-40B4-BE49-F238E27FC236}">
                            <a16:creationId xmlns:a16="http://schemas.microsoft.com/office/drawing/2014/main" id="{B88E3E5F-D95E-59DC-C028-BBE80608846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454" y="4261039"/>
                        <a:ext cx="3144447" cy="475805"/>
                      </a:xfrm>
                      <a:prstGeom prst="rect">
                        <a:avLst/>
                      </a:prstGeom>
                      <a:noFill/>
                    </p:spPr>
                  </p:pic>
                </p:oleObj>
              </mc:Fallback>
            </mc:AlternateContent>
          </a:graphicData>
        </a:graphic>
      </p:graphicFrame>
      <p:sp>
        <p:nvSpPr>
          <p:cNvPr id="24" name="Rectangle 6">
            <a:extLst>
              <a:ext uri="{FF2B5EF4-FFF2-40B4-BE49-F238E27FC236}">
                <a16:creationId xmlns:a16="http://schemas.microsoft.com/office/drawing/2014/main" id="{84F2CA00-21B3-7E15-911F-57F4BEAF1CBE}"/>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25" name="对象 24">
            <a:extLst>
              <a:ext uri="{FF2B5EF4-FFF2-40B4-BE49-F238E27FC236}">
                <a16:creationId xmlns:a16="http://schemas.microsoft.com/office/drawing/2014/main" id="{ED490BE6-3B37-9CAB-E161-6A366420A68B}"/>
              </a:ext>
            </a:extLst>
          </p:cNvPr>
          <p:cNvGraphicFramePr>
            <a:graphicFrameLocks noChangeAspect="1"/>
          </p:cNvGraphicFramePr>
          <p:nvPr/>
        </p:nvGraphicFramePr>
        <p:xfrm>
          <a:off x="57220" y="3406772"/>
          <a:ext cx="3046475" cy="501687"/>
        </p:xfrm>
        <a:graphic>
          <a:graphicData uri="http://schemas.openxmlformats.org/presentationml/2006/ole">
            <mc:AlternateContent xmlns:mc="http://schemas.openxmlformats.org/markup-compatibility/2006">
              <mc:Choice xmlns:v="urn:schemas-microsoft-com:vml" Requires="v">
                <p:oleObj spid="_x0000_s4155" name="Equation" r:id="rId8" imgW="1993035" imgH="317362" progId="Equation.DSMT4">
                  <p:embed/>
                </p:oleObj>
              </mc:Choice>
              <mc:Fallback>
                <p:oleObj name="Equation" r:id="rId8" imgW="1993035" imgH="317362" progId="Equation.DSMT4">
                  <p:embed/>
                  <p:pic>
                    <p:nvPicPr>
                      <p:cNvPr id="25" name="对象 24">
                        <a:extLst>
                          <a:ext uri="{FF2B5EF4-FFF2-40B4-BE49-F238E27FC236}">
                            <a16:creationId xmlns:a16="http://schemas.microsoft.com/office/drawing/2014/main" id="{ED490BE6-3B37-9CAB-E161-6A366420A6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220" y="3406772"/>
                        <a:ext cx="3046475" cy="501687"/>
                      </a:xfrm>
                      <a:prstGeom prst="rect">
                        <a:avLst/>
                      </a:prstGeom>
                      <a:noFill/>
                    </p:spPr>
                  </p:pic>
                </p:oleObj>
              </mc:Fallback>
            </mc:AlternateContent>
          </a:graphicData>
        </a:graphic>
      </p:graphicFrame>
      <p:sp>
        <p:nvSpPr>
          <p:cNvPr id="41" name="Rectangle 8">
            <a:extLst>
              <a:ext uri="{FF2B5EF4-FFF2-40B4-BE49-F238E27FC236}">
                <a16:creationId xmlns:a16="http://schemas.microsoft.com/office/drawing/2014/main" id="{E6870BA5-B43F-AB8A-12BF-6743F21BF5E8}"/>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42" name="对象 41">
            <a:extLst>
              <a:ext uri="{FF2B5EF4-FFF2-40B4-BE49-F238E27FC236}">
                <a16:creationId xmlns:a16="http://schemas.microsoft.com/office/drawing/2014/main" id="{75E7C5DA-B45A-9F43-8C18-BCDF828BF641}"/>
              </a:ext>
            </a:extLst>
          </p:cNvPr>
          <p:cNvGraphicFramePr>
            <a:graphicFrameLocks noChangeAspect="1"/>
          </p:cNvGraphicFramePr>
          <p:nvPr/>
        </p:nvGraphicFramePr>
        <p:xfrm>
          <a:off x="1289263" y="4997143"/>
          <a:ext cx="221456" cy="210741"/>
        </p:xfrm>
        <a:graphic>
          <a:graphicData uri="http://schemas.openxmlformats.org/presentationml/2006/ole">
            <mc:AlternateContent xmlns:mc="http://schemas.openxmlformats.org/markup-compatibility/2006">
              <mc:Choice xmlns:v="urn:schemas-microsoft-com:vml" Requires="v">
                <p:oleObj spid="_x0000_s4156" name="Equation" r:id="rId10" imgW="291960" imgH="304560" progId="Equation.DSMT4">
                  <p:embed/>
                </p:oleObj>
              </mc:Choice>
              <mc:Fallback>
                <p:oleObj name="Equation" r:id="rId10" imgW="291960" imgH="304560" progId="Equation.DSMT4">
                  <p:embed/>
                  <p:pic>
                    <p:nvPicPr>
                      <p:cNvPr id="42" name="对象 41">
                        <a:extLst>
                          <a:ext uri="{FF2B5EF4-FFF2-40B4-BE49-F238E27FC236}">
                            <a16:creationId xmlns:a16="http://schemas.microsoft.com/office/drawing/2014/main" id="{75E7C5DA-B45A-9F43-8C18-BCDF828BF641}"/>
                          </a:ext>
                        </a:extLst>
                      </p:cNvPr>
                      <p:cNvPicPr>
                        <a:picLocks noChangeAspect="1" noChangeArrowheads="1"/>
                      </p:cNvPicPr>
                      <p:nvPr/>
                    </p:nvPicPr>
                    <p:blipFill>
                      <a:blip r:embed="rId11"/>
                      <a:srcRect/>
                      <a:stretch>
                        <a:fillRect/>
                      </a:stretch>
                    </p:blipFill>
                    <p:spPr bwMode="auto">
                      <a:xfrm>
                        <a:off x="1289263" y="4997143"/>
                        <a:ext cx="221456" cy="2107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Rectangle 10">
            <a:extLst>
              <a:ext uri="{FF2B5EF4-FFF2-40B4-BE49-F238E27FC236}">
                <a16:creationId xmlns:a16="http://schemas.microsoft.com/office/drawing/2014/main" id="{5B97A2F6-C813-41C7-E967-BF1D0AE45D11}"/>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44" name="对象 43">
            <a:extLst>
              <a:ext uri="{FF2B5EF4-FFF2-40B4-BE49-F238E27FC236}">
                <a16:creationId xmlns:a16="http://schemas.microsoft.com/office/drawing/2014/main" id="{855FD204-6CC5-958C-1827-BD0D0B74B13F}"/>
              </a:ext>
            </a:extLst>
          </p:cNvPr>
          <p:cNvGraphicFramePr>
            <a:graphicFrameLocks noChangeAspect="1"/>
          </p:cNvGraphicFramePr>
          <p:nvPr/>
        </p:nvGraphicFramePr>
        <p:xfrm>
          <a:off x="2312655" y="4943062"/>
          <a:ext cx="311944" cy="373856"/>
        </p:xfrm>
        <a:graphic>
          <a:graphicData uri="http://schemas.openxmlformats.org/presentationml/2006/ole">
            <mc:AlternateContent xmlns:mc="http://schemas.openxmlformats.org/markup-compatibility/2006">
              <mc:Choice xmlns:v="urn:schemas-microsoft-com:vml" Requires="v">
                <p:oleObj spid="_x0000_s4157" name="Equation" r:id="rId12" imgW="406080" imgH="495000" progId="Equation.DSMT4">
                  <p:embed/>
                </p:oleObj>
              </mc:Choice>
              <mc:Fallback>
                <p:oleObj name="Equation" r:id="rId12" imgW="406080" imgH="495000" progId="Equation.DSMT4">
                  <p:embed/>
                  <p:pic>
                    <p:nvPicPr>
                      <p:cNvPr id="44" name="对象 43">
                        <a:extLst>
                          <a:ext uri="{FF2B5EF4-FFF2-40B4-BE49-F238E27FC236}">
                            <a16:creationId xmlns:a16="http://schemas.microsoft.com/office/drawing/2014/main" id="{855FD204-6CC5-958C-1827-BD0D0B74B13F}"/>
                          </a:ext>
                        </a:extLst>
                      </p:cNvPr>
                      <p:cNvPicPr>
                        <a:picLocks noChangeAspect="1" noChangeArrowheads="1"/>
                      </p:cNvPicPr>
                      <p:nvPr/>
                    </p:nvPicPr>
                    <p:blipFill>
                      <a:blip r:embed="rId13"/>
                      <a:srcRect/>
                      <a:stretch>
                        <a:fillRect/>
                      </a:stretch>
                    </p:blipFill>
                    <p:spPr bwMode="auto">
                      <a:xfrm>
                        <a:off x="2312655" y="4943062"/>
                        <a:ext cx="311944" cy="373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Rectangle 12">
            <a:extLst>
              <a:ext uri="{FF2B5EF4-FFF2-40B4-BE49-F238E27FC236}">
                <a16:creationId xmlns:a16="http://schemas.microsoft.com/office/drawing/2014/main" id="{33F346DC-1FAE-A710-7240-29249CD2B390}"/>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46" name="对象 45">
            <a:extLst>
              <a:ext uri="{FF2B5EF4-FFF2-40B4-BE49-F238E27FC236}">
                <a16:creationId xmlns:a16="http://schemas.microsoft.com/office/drawing/2014/main" id="{0459EFC7-FC69-45EA-27AE-2A42BEF847C8}"/>
              </a:ext>
            </a:extLst>
          </p:cNvPr>
          <p:cNvGraphicFramePr>
            <a:graphicFrameLocks noChangeAspect="1"/>
          </p:cNvGraphicFramePr>
          <p:nvPr/>
        </p:nvGraphicFramePr>
        <p:xfrm>
          <a:off x="4337777" y="4914740"/>
          <a:ext cx="330995" cy="373856"/>
        </p:xfrm>
        <a:graphic>
          <a:graphicData uri="http://schemas.openxmlformats.org/presentationml/2006/ole">
            <mc:AlternateContent xmlns:mc="http://schemas.openxmlformats.org/markup-compatibility/2006">
              <mc:Choice xmlns:v="urn:schemas-microsoft-com:vml" Requires="v">
                <p:oleObj spid="_x0000_s4158" name="Equation" r:id="rId14" imgW="419040" imgH="495000" progId="Equation.DSMT4">
                  <p:embed/>
                </p:oleObj>
              </mc:Choice>
              <mc:Fallback>
                <p:oleObj name="Equation" r:id="rId14" imgW="419040" imgH="495000" progId="Equation.DSMT4">
                  <p:embed/>
                  <p:pic>
                    <p:nvPicPr>
                      <p:cNvPr id="46" name="对象 45">
                        <a:extLst>
                          <a:ext uri="{FF2B5EF4-FFF2-40B4-BE49-F238E27FC236}">
                            <a16:creationId xmlns:a16="http://schemas.microsoft.com/office/drawing/2014/main" id="{0459EFC7-FC69-45EA-27AE-2A42BEF847C8}"/>
                          </a:ext>
                        </a:extLst>
                      </p:cNvPr>
                      <p:cNvPicPr>
                        <a:picLocks noChangeAspect="1" noChangeArrowheads="1"/>
                      </p:cNvPicPr>
                      <p:nvPr/>
                    </p:nvPicPr>
                    <p:blipFill>
                      <a:blip r:embed="rId15"/>
                      <a:srcRect/>
                      <a:stretch>
                        <a:fillRect/>
                      </a:stretch>
                    </p:blipFill>
                    <p:spPr bwMode="auto">
                      <a:xfrm>
                        <a:off x="4337777" y="4914740"/>
                        <a:ext cx="330995" cy="373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Rectangle 14">
            <a:extLst>
              <a:ext uri="{FF2B5EF4-FFF2-40B4-BE49-F238E27FC236}">
                <a16:creationId xmlns:a16="http://schemas.microsoft.com/office/drawing/2014/main" id="{0565A851-3A43-D4E5-7F54-C8A9CE5A39B2}"/>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48" name="对象 47">
            <a:extLst>
              <a:ext uri="{FF2B5EF4-FFF2-40B4-BE49-F238E27FC236}">
                <a16:creationId xmlns:a16="http://schemas.microsoft.com/office/drawing/2014/main" id="{3E894B64-4501-A565-943A-36AE838D24ED}"/>
              </a:ext>
            </a:extLst>
          </p:cNvPr>
          <p:cNvGraphicFramePr>
            <a:graphicFrameLocks noChangeAspect="1"/>
          </p:cNvGraphicFramePr>
          <p:nvPr/>
        </p:nvGraphicFramePr>
        <p:xfrm>
          <a:off x="5949515" y="5018323"/>
          <a:ext cx="248841" cy="166688"/>
        </p:xfrm>
        <a:graphic>
          <a:graphicData uri="http://schemas.openxmlformats.org/presentationml/2006/ole">
            <mc:AlternateContent xmlns:mc="http://schemas.openxmlformats.org/markup-compatibility/2006">
              <mc:Choice xmlns:v="urn:schemas-microsoft-com:vml" Requires="v">
                <p:oleObj spid="_x0000_s4159" name="Equation" r:id="rId16" imgW="317160" imgH="241200" progId="Equation.DSMT4">
                  <p:embed/>
                </p:oleObj>
              </mc:Choice>
              <mc:Fallback>
                <p:oleObj name="Equation" r:id="rId16" imgW="317160" imgH="241200" progId="Equation.DSMT4">
                  <p:embed/>
                  <p:pic>
                    <p:nvPicPr>
                      <p:cNvPr id="48" name="对象 47">
                        <a:extLst>
                          <a:ext uri="{FF2B5EF4-FFF2-40B4-BE49-F238E27FC236}">
                            <a16:creationId xmlns:a16="http://schemas.microsoft.com/office/drawing/2014/main" id="{3E894B64-4501-A565-943A-36AE838D24ED}"/>
                          </a:ext>
                        </a:extLst>
                      </p:cNvPr>
                      <p:cNvPicPr>
                        <a:picLocks noChangeAspect="1" noChangeArrowheads="1"/>
                      </p:cNvPicPr>
                      <p:nvPr/>
                    </p:nvPicPr>
                    <p:blipFill>
                      <a:blip r:embed="rId17"/>
                      <a:srcRect/>
                      <a:stretch>
                        <a:fillRect/>
                      </a:stretch>
                    </p:blipFill>
                    <p:spPr bwMode="auto">
                      <a:xfrm>
                        <a:off x="5949515" y="5018323"/>
                        <a:ext cx="248841" cy="166688"/>
                      </a:xfrm>
                      <a:prstGeom prst="rect">
                        <a:avLst/>
                      </a:prstGeom>
                      <a:noFill/>
                    </p:spPr>
                  </p:pic>
                </p:oleObj>
              </mc:Fallback>
            </mc:AlternateContent>
          </a:graphicData>
        </a:graphic>
      </p:graphicFrame>
      <p:sp>
        <p:nvSpPr>
          <p:cNvPr id="49" name="Rectangle 16">
            <a:extLst>
              <a:ext uri="{FF2B5EF4-FFF2-40B4-BE49-F238E27FC236}">
                <a16:creationId xmlns:a16="http://schemas.microsoft.com/office/drawing/2014/main" id="{AFA780F1-AB6E-50D5-0898-E2A04C7F87E5}"/>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50" name="对象 49">
            <a:extLst>
              <a:ext uri="{FF2B5EF4-FFF2-40B4-BE49-F238E27FC236}">
                <a16:creationId xmlns:a16="http://schemas.microsoft.com/office/drawing/2014/main" id="{6A936C64-E545-E0E2-305E-20627322E8A5}"/>
              </a:ext>
            </a:extLst>
          </p:cNvPr>
          <p:cNvGraphicFramePr>
            <a:graphicFrameLocks noChangeAspect="1"/>
          </p:cNvGraphicFramePr>
          <p:nvPr/>
        </p:nvGraphicFramePr>
        <p:xfrm>
          <a:off x="7937608" y="4891588"/>
          <a:ext cx="266700" cy="373856"/>
        </p:xfrm>
        <a:graphic>
          <a:graphicData uri="http://schemas.openxmlformats.org/presentationml/2006/ole">
            <mc:AlternateContent xmlns:mc="http://schemas.openxmlformats.org/markup-compatibility/2006">
              <mc:Choice xmlns:v="urn:schemas-microsoft-com:vml" Requires="v">
                <p:oleObj spid="_x0000_s4160" name="Equation" r:id="rId18" imgW="342720" imgH="495000" progId="Equation.DSMT4">
                  <p:embed/>
                </p:oleObj>
              </mc:Choice>
              <mc:Fallback>
                <p:oleObj name="Equation" r:id="rId18" imgW="342720" imgH="495000" progId="Equation.DSMT4">
                  <p:embed/>
                  <p:pic>
                    <p:nvPicPr>
                      <p:cNvPr id="50" name="对象 49">
                        <a:extLst>
                          <a:ext uri="{FF2B5EF4-FFF2-40B4-BE49-F238E27FC236}">
                            <a16:creationId xmlns:a16="http://schemas.microsoft.com/office/drawing/2014/main" id="{6A936C64-E545-E0E2-305E-20627322E8A5}"/>
                          </a:ext>
                        </a:extLst>
                      </p:cNvPr>
                      <p:cNvPicPr>
                        <a:picLocks noChangeAspect="1" noChangeArrowheads="1"/>
                      </p:cNvPicPr>
                      <p:nvPr/>
                    </p:nvPicPr>
                    <p:blipFill>
                      <a:blip r:embed="rId19"/>
                      <a:srcRect/>
                      <a:stretch>
                        <a:fillRect/>
                      </a:stretch>
                    </p:blipFill>
                    <p:spPr bwMode="auto">
                      <a:xfrm>
                        <a:off x="7937608" y="4891588"/>
                        <a:ext cx="266700" cy="373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 name="Rectangle 18">
            <a:extLst>
              <a:ext uri="{FF2B5EF4-FFF2-40B4-BE49-F238E27FC236}">
                <a16:creationId xmlns:a16="http://schemas.microsoft.com/office/drawing/2014/main" id="{B1F40D5C-D41B-7199-E60A-896F481CC16C}"/>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52" name="对象 51">
            <a:extLst>
              <a:ext uri="{FF2B5EF4-FFF2-40B4-BE49-F238E27FC236}">
                <a16:creationId xmlns:a16="http://schemas.microsoft.com/office/drawing/2014/main" id="{2F774777-BB56-532C-1FC2-23A33C0FE309}"/>
              </a:ext>
            </a:extLst>
          </p:cNvPr>
          <p:cNvGraphicFramePr>
            <a:graphicFrameLocks noChangeAspect="1"/>
          </p:cNvGraphicFramePr>
          <p:nvPr/>
        </p:nvGraphicFramePr>
        <p:xfrm>
          <a:off x="2468626" y="5357952"/>
          <a:ext cx="183356" cy="283369"/>
        </p:xfrm>
        <a:graphic>
          <a:graphicData uri="http://schemas.openxmlformats.org/presentationml/2006/ole">
            <mc:AlternateContent xmlns:mc="http://schemas.openxmlformats.org/markup-compatibility/2006">
              <mc:Choice xmlns:v="urn:schemas-microsoft-com:vml" Requires="v">
                <p:oleObj spid="_x0000_s4161" name="Equation" r:id="rId20" imgW="241200" imgH="342720" progId="Equation.DSMT4">
                  <p:embed/>
                </p:oleObj>
              </mc:Choice>
              <mc:Fallback>
                <p:oleObj name="Equation" r:id="rId20" imgW="241200" imgH="342720" progId="Equation.DSMT4">
                  <p:embed/>
                  <p:pic>
                    <p:nvPicPr>
                      <p:cNvPr id="52" name="对象 51">
                        <a:extLst>
                          <a:ext uri="{FF2B5EF4-FFF2-40B4-BE49-F238E27FC236}">
                            <a16:creationId xmlns:a16="http://schemas.microsoft.com/office/drawing/2014/main" id="{2F774777-BB56-532C-1FC2-23A33C0FE309}"/>
                          </a:ext>
                        </a:extLst>
                      </p:cNvPr>
                      <p:cNvPicPr>
                        <a:picLocks noChangeAspect="1" noChangeArrowheads="1"/>
                      </p:cNvPicPr>
                      <p:nvPr/>
                    </p:nvPicPr>
                    <p:blipFill>
                      <a:blip r:embed="rId21"/>
                      <a:srcRect/>
                      <a:stretch>
                        <a:fillRect/>
                      </a:stretch>
                    </p:blipFill>
                    <p:spPr bwMode="auto">
                      <a:xfrm>
                        <a:off x="2468626" y="5357952"/>
                        <a:ext cx="183356" cy="283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标题 4">
            <a:extLst>
              <a:ext uri="{FF2B5EF4-FFF2-40B4-BE49-F238E27FC236}">
                <a16:creationId xmlns:a16="http://schemas.microsoft.com/office/drawing/2014/main" id="{20F8D4A3-0DB7-47D7-A6CF-833B4D4C6E34}"/>
              </a:ext>
            </a:extLst>
          </p:cNvPr>
          <p:cNvSpPr>
            <a:spLocks noGrp="1"/>
          </p:cNvSpPr>
          <p:nvPr>
            <p:ph type="title"/>
          </p:nvPr>
        </p:nvSpPr>
        <p:spPr/>
        <p:txBody>
          <a:bodyPr/>
          <a:lstStyle/>
          <a:p>
            <a:r>
              <a:rPr lang="en-US" altLang="zh-CN" dirty="0"/>
              <a:t>8.1.3 </a:t>
            </a:r>
            <a:r>
              <a:rPr lang="zh-CN" altLang="en-US" dirty="0">
                <a:sym typeface="Times New Roman" panose="02020603050405020304" pitchFamily="18" charset="0"/>
              </a:rPr>
              <a:t>聚类算法评价指标</a:t>
            </a:r>
            <a:endParaRPr lang="zh-CN" altLang="en-US" dirty="0"/>
          </a:p>
        </p:txBody>
      </p:sp>
      <p:sp>
        <p:nvSpPr>
          <p:cNvPr id="33" name="Rectangle 2">
            <a:extLst>
              <a:ext uri="{FF2B5EF4-FFF2-40B4-BE49-F238E27FC236}">
                <a16:creationId xmlns:a16="http://schemas.microsoft.com/office/drawing/2014/main" id="{585CAE8C-7DD2-46FA-A4C3-B52118D8544B}"/>
              </a:ext>
            </a:extLst>
          </p:cNvPr>
          <p:cNvSpPr txBox="1">
            <a:spLocks noChangeArrowheads="1"/>
          </p:cNvSpPr>
          <p:nvPr/>
        </p:nvSpPr>
        <p:spPr>
          <a:xfrm>
            <a:off x="3554254" y="3146551"/>
            <a:ext cx="1898040" cy="297996"/>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en-US" altLang="zh-CN" sz="1800" dirty="0">
                <a:solidFill>
                  <a:srgbClr val="00CCFF"/>
                </a:solidFill>
                <a:effectLst/>
              </a:rPr>
              <a:t>Tr</a:t>
            </a:r>
            <a:r>
              <a:rPr lang="zh-CN" altLang="en-US" sz="1800" dirty="0">
                <a:solidFill>
                  <a:srgbClr val="00CCFF"/>
                </a:solidFill>
                <a:effectLst/>
              </a:rPr>
              <a:t>为矩阵的迹</a:t>
            </a:r>
          </a:p>
        </p:txBody>
      </p:sp>
      <mc:AlternateContent xmlns:mc="http://schemas.openxmlformats.org/markup-compatibility/2006" xmlns:a14="http://schemas.microsoft.com/office/drawing/2010/main">
        <mc:Choice Requires="a14">
          <p:sp>
            <p:nvSpPr>
              <p:cNvPr id="34" name="对象 33">
                <a:extLst>
                  <a:ext uri="{FF2B5EF4-FFF2-40B4-BE49-F238E27FC236}">
                    <a16:creationId xmlns:a16="http://schemas.microsoft.com/office/drawing/2014/main" id="{298323B8-C54F-4CF4-9BD7-B8B45D98F0DC}"/>
                  </a:ext>
                </a:extLst>
              </p:cNvPr>
              <p:cNvSpPr txBox="1"/>
              <p:nvPr/>
            </p:nvSpPr>
            <p:spPr bwMode="auto">
              <a:xfrm>
                <a:off x="3746499" y="5313363"/>
                <a:ext cx="311943" cy="48632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m:rPr>
                              <m:sty m:val="p"/>
                            </m:rPr>
                            <a:rPr lang="en-US" altLang="zh-CN" i="1">
                              <a:solidFill>
                                <a:srgbClr val="000000"/>
                              </a:solidFill>
                              <a:latin typeface="Cambria Math" panose="02040503050406030204" pitchFamily="18" charset="0"/>
                            </a:rPr>
                            <m:t>E</m:t>
                          </m:r>
                        </m:sub>
                      </m:sSub>
                    </m:oMath>
                  </m:oMathPara>
                </a14:m>
                <a:endParaRPr lang="zh-CN" altLang="en-US" dirty="0"/>
              </a:p>
            </p:txBody>
          </p:sp>
        </mc:Choice>
        <mc:Fallback xmlns="">
          <p:sp>
            <p:nvSpPr>
              <p:cNvPr id="34" name="对象 33">
                <a:extLst>
                  <a:ext uri="{FF2B5EF4-FFF2-40B4-BE49-F238E27FC236}">
                    <a16:creationId xmlns:a16="http://schemas.microsoft.com/office/drawing/2014/main" id="{298323B8-C54F-4CF4-9BD7-B8B45D98F0DC}"/>
                  </a:ext>
                </a:extLst>
              </p:cNvPr>
              <p:cNvSpPr txBox="1">
                <a:spLocks noRot="1" noChangeAspect="1" noMove="1" noResize="1" noEditPoints="1" noAdjustHandles="1" noChangeArrowheads="1" noChangeShapeType="1" noTextEdit="1"/>
              </p:cNvSpPr>
              <p:nvPr/>
            </p:nvSpPr>
            <p:spPr bwMode="auto">
              <a:xfrm>
                <a:off x="3746499" y="5313363"/>
                <a:ext cx="311943" cy="486328"/>
              </a:xfrm>
              <a:prstGeom prst="rect">
                <a:avLst/>
              </a:prstGeom>
              <a:blipFill>
                <a:blip r:embed="rId22"/>
                <a:stretch>
                  <a:fillRect r="-274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357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P spid="15" grpId="0"/>
      <p:bldP spid="3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BF99-45DE-25B1-BAC7-AE47472B8BED}"/>
            </a:ext>
          </a:extLst>
        </p:cNvPr>
        <p:cNvGrpSpPr/>
        <p:nvPr/>
      </p:nvGrpSpPr>
      <p:grpSpPr>
        <a:xfrm>
          <a:off x="0" y="0"/>
          <a:ext cx="0" cy="0"/>
          <a:chOff x="0" y="0"/>
          <a:chExt cx="0" cy="0"/>
        </a:xfrm>
      </p:grpSpPr>
      <p:sp>
        <p:nvSpPr>
          <p:cNvPr id="4" name="矩形: 圆角 55">
            <a:extLst>
              <a:ext uri="{FF2B5EF4-FFF2-40B4-BE49-F238E27FC236}">
                <a16:creationId xmlns:a16="http://schemas.microsoft.com/office/drawing/2014/main" id="{DD3A02E3-ED00-BB98-61F9-238E118436C5}"/>
              </a:ext>
            </a:extLst>
          </p:cNvPr>
          <p:cNvSpPr/>
          <p:nvPr/>
        </p:nvSpPr>
        <p:spPr>
          <a:xfrm>
            <a:off x="138565" y="1032114"/>
            <a:ext cx="1455842"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内部指标</a:t>
            </a:r>
          </a:p>
        </p:txBody>
      </p:sp>
      <p:sp>
        <p:nvSpPr>
          <p:cNvPr id="6" name="矩形 5">
            <a:extLst>
              <a:ext uri="{FF2B5EF4-FFF2-40B4-BE49-F238E27FC236}">
                <a16:creationId xmlns:a16="http://schemas.microsoft.com/office/drawing/2014/main" id="{770FA820-3B96-A612-C60A-4970E2A3DE9A}"/>
              </a:ext>
            </a:extLst>
          </p:cNvPr>
          <p:cNvSpPr/>
          <p:nvPr/>
        </p:nvSpPr>
        <p:spPr>
          <a:xfrm>
            <a:off x="701098" y="1860431"/>
            <a:ext cx="8258076" cy="874407"/>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3</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Davies-Bouldin</a:t>
            </a:r>
            <a:r>
              <a:rPr lang="zh-CN" altLang="en-US" b="1" dirty="0">
                <a:solidFill>
                  <a:prstClr val="black"/>
                </a:solidFill>
                <a:latin typeface="微软雅黑" panose="020B0503020204020204" pitchFamily="34" charset="-122"/>
                <a:ea typeface="微软雅黑" panose="020B0503020204020204" pitchFamily="34" charset="-122"/>
              </a:rPr>
              <a:t>指数：通过计算</a:t>
            </a:r>
            <a:r>
              <a:rPr lang="zh-CN" altLang="en-US" b="1" dirty="0">
                <a:solidFill>
                  <a:srgbClr val="FF0000"/>
                </a:solidFill>
                <a:latin typeface="微软雅黑" panose="020B0503020204020204" pitchFamily="34" charset="-122"/>
                <a:ea typeface="微软雅黑" panose="020B0503020204020204" pitchFamily="34" charset="-122"/>
              </a:rPr>
              <a:t>簇内样本到质心平均距离和最近簇质心之间的距离</a:t>
            </a:r>
            <a:r>
              <a:rPr lang="zh-CN" altLang="en-US" b="1" dirty="0">
                <a:solidFill>
                  <a:prstClr val="black"/>
                </a:solidFill>
                <a:latin typeface="微软雅黑" panose="020B0503020204020204" pitchFamily="34" charset="-122"/>
                <a:ea typeface="微软雅黑" panose="020B0503020204020204" pitchFamily="34" charset="-122"/>
              </a:rPr>
              <a:t>进行聚类结果评估的指标。数值越高，聚类效果越好。</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10" name="Rectangle 2">
            <a:extLst>
              <a:ext uri="{FF2B5EF4-FFF2-40B4-BE49-F238E27FC236}">
                <a16:creationId xmlns:a16="http://schemas.microsoft.com/office/drawing/2014/main" id="{13AA3FE9-D83A-C537-BA8D-EE11916DE9E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2" name="Rectangle 4">
            <a:extLst>
              <a:ext uri="{FF2B5EF4-FFF2-40B4-BE49-F238E27FC236}">
                <a16:creationId xmlns:a16="http://schemas.microsoft.com/office/drawing/2014/main" id="{43B260D9-DF4C-926F-BDA2-82279F35681A}"/>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cxnSp>
        <p:nvCxnSpPr>
          <p:cNvPr id="18" name="直接箭头连接符 17">
            <a:extLst>
              <a:ext uri="{FF2B5EF4-FFF2-40B4-BE49-F238E27FC236}">
                <a16:creationId xmlns:a16="http://schemas.microsoft.com/office/drawing/2014/main" id="{669D15C0-51BA-026D-623F-3C531F4BBA49}"/>
              </a:ext>
            </a:extLst>
          </p:cNvPr>
          <p:cNvCxnSpPr>
            <a:cxnSpLocks/>
            <a:stCxn id="8" idx="3"/>
          </p:cNvCxnSpPr>
          <p:nvPr/>
        </p:nvCxnSpPr>
        <p:spPr>
          <a:xfrm>
            <a:off x="4572000" y="3429000"/>
            <a:ext cx="519242" cy="0"/>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81E43005-61A0-98F2-F560-578FD61E3CD8}"/>
              </a:ext>
            </a:extLst>
          </p:cNvPr>
          <p:cNvSpPr/>
          <p:nvPr/>
        </p:nvSpPr>
        <p:spPr>
          <a:xfrm>
            <a:off x="847013" y="4171733"/>
            <a:ext cx="7741804" cy="874407"/>
          </a:xfrm>
          <a:prstGeom prst="rect">
            <a:avLst/>
          </a:prstGeom>
        </p:spPr>
        <p:txBody>
          <a:bodyPr wrap="square">
            <a:spAutoFit/>
          </a:bodyPr>
          <a:lstStyle/>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其中，  为簇的数量，  为簇之间的相似度， 为簇    中所有数据到质心距离的平均值，  为簇    和     质心的距离。</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9" name="Rectangle 2">
            <a:extLst>
              <a:ext uri="{FF2B5EF4-FFF2-40B4-BE49-F238E27FC236}">
                <a16:creationId xmlns:a16="http://schemas.microsoft.com/office/drawing/2014/main" id="{36128CF2-FA60-C637-ADEF-E0838BA473EA}"/>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20" name="Rectangle 4">
            <a:extLst>
              <a:ext uri="{FF2B5EF4-FFF2-40B4-BE49-F238E27FC236}">
                <a16:creationId xmlns:a16="http://schemas.microsoft.com/office/drawing/2014/main" id="{E01D5700-A554-B920-DA9A-BB82771FEC19}"/>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24" name="Rectangle 6">
            <a:extLst>
              <a:ext uri="{FF2B5EF4-FFF2-40B4-BE49-F238E27FC236}">
                <a16:creationId xmlns:a16="http://schemas.microsoft.com/office/drawing/2014/main" id="{161ACFD3-9AD9-3557-830D-6C031946D85C}"/>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1" name="Rectangle 8">
            <a:extLst>
              <a:ext uri="{FF2B5EF4-FFF2-40B4-BE49-F238E27FC236}">
                <a16:creationId xmlns:a16="http://schemas.microsoft.com/office/drawing/2014/main" id="{234D0982-C264-6DB8-7AD8-54A168E6BB22}"/>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3" name="Rectangle 10">
            <a:extLst>
              <a:ext uri="{FF2B5EF4-FFF2-40B4-BE49-F238E27FC236}">
                <a16:creationId xmlns:a16="http://schemas.microsoft.com/office/drawing/2014/main" id="{DFF23A29-2ACF-70FD-977D-BA157FC4A812}"/>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5" name="Rectangle 12">
            <a:extLst>
              <a:ext uri="{FF2B5EF4-FFF2-40B4-BE49-F238E27FC236}">
                <a16:creationId xmlns:a16="http://schemas.microsoft.com/office/drawing/2014/main" id="{7625CC49-1058-8EB1-9546-F298AE0FA6FC}"/>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7" name="Rectangle 14">
            <a:extLst>
              <a:ext uri="{FF2B5EF4-FFF2-40B4-BE49-F238E27FC236}">
                <a16:creationId xmlns:a16="http://schemas.microsoft.com/office/drawing/2014/main" id="{40EFD6C4-1B83-B223-D5A4-B803FBF7C8B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9" name="Rectangle 16">
            <a:extLst>
              <a:ext uri="{FF2B5EF4-FFF2-40B4-BE49-F238E27FC236}">
                <a16:creationId xmlns:a16="http://schemas.microsoft.com/office/drawing/2014/main" id="{B8FC75FB-7F6A-4DF5-381A-944834812DA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51" name="Rectangle 18">
            <a:extLst>
              <a:ext uri="{FF2B5EF4-FFF2-40B4-BE49-F238E27FC236}">
                <a16:creationId xmlns:a16="http://schemas.microsoft.com/office/drawing/2014/main" id="{B6AB484C-045C-CCCF-33EB-2D489DA5A55A}"/>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52" name="对象 51">
            <a:extLst>
              <a:ext uri="{FF2B5EF4-FFF2-40B4-BE49-F238E27FC236}">
                <a16:creationId xmlns:a16="http://schemas.microsoft.com/office/drawing/2014/main" id="{DE09FF47-482B-9F80-EDCD-C63777154EE4}"/>
              </a:ext>
            </a:extLst>
          </p:cNvPr>
          <p:cNvGraphicFramePr>
            <a:graphicFrameLocks noChangeAspect="1"/>
          </p:cNvGraphicFramePr>
          <p:nvPr>
            <p:extLst>
              <p:ext uri="{D42A27DB-BD31-4B8C-83A1-F6EECF244321}">
                <p14:modId xmlns:p14="http://schemas.microsoft.com/office/powerpoint/2010/main" val="4137766103"/>
              </p:ext>
            </p:extLst>
          </p:nvPr>
        </p:nvGraphicFramePr>
        <p:xfrm>
          <a:off x="1528500" y="4270828"/>
          <a:ext cx="183356" cy="283369"/>
        </p:xfrm>
        <a:graphic>
          <a:graphicData uri="http://schemas.openxmlformats.org/presentationml/2006/ole">
            <mc:AlternateContent xmlns:mc="http://schemas.openxmlformats.org/markup-compatibility/2006">
              <mc:Choice xmlns:v="urn:schemas-microsoft-com:vml" Requires="v">
                <p:oleObj spid="_x0000_s5167" name="Equation" r:id="rId4" imgW="241200" imgH="342720" progId="Equation.DSMT4">
                  <p:embed/>
                </p:oleObj>
              </mc:Choice>
              <mc:Fallback>
                <p:oleObj name="Equation" r:id="rId4" imgW="241200" imgH="342720" progId="Equation.DSMT4">
                  <p:embed/>
                  <p:pic>
                    <p:nvPicPr>
                      <p:cNvPr id="52" name="对象 51">
                        <a:extLst>
                          <a:ext uri="{FF2B5EF4-FFF2-40B4-BE49-F238E27FC236}">
                            <a16:creationId xmlns:a16="http://schemas.microsoft.com/office/drawing/2014/main" id="{DE09FF47-482B-9F80-EDCD-C63777154EE4}"/>
                          </a:ext>
                        </a:extLst>
                      </p:cNvPr>
                      <p:cNvPicPr>
                        <a:picLocks noChangeAspect="1" noChangeArrowheads="1"/>
                      </p:cNvPicPr>
                      <p:nvPr/>
                    </p:nvPicPr>
                    <p:blipFill>
                      <a:blip r:embed="rId5"/>
                      <a:srcRect/>
                      <a:stretch>
                        <a:fillRect/>
                      </a:stretch>
                    </p:blipFill>
                    <p:spPr bwMode="auto">
                      <a:xfrm>
                        <a:off x="1528500" y="4270828"/>
                        <a:ext cx="183356" cy="283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2">
            <a:extLst>
              <a:ext uri="{FF2B5EF4-FFF2-40B4-BE49-F238E27FC236}">
                <a16:creationId xmlns:a16="http://schemas.microsoft.com/office/drawing/2014/main" id="{58426A96-7C44-73AB-B87D-AEA7FC3331A0}"/>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8" name="对象 7">
            <a:extLst>
              <a:ext uri="{FF2B5EF4-FFF2-40B4-BE49-F238E27FC236}">
                <a16:creationId xmlns:a16="http://schemas.microsoft.com/office/drawing/2014/main" id="{FE0DD92B-A970-11E5-5BF3-25F47F91A0A3}"/>
              </a:ext>
            </a:extLst>
          </p:cNvPr>
          <p:cNvGraphicFramePr>
            <a:graphicFrameLocks noChangeAspect="1"/>
          </p:cNvGraphicFramePr>
          <p:nvPr>
            <p:extLst>
              <p:ext uri="{D42A27DB-BD31-4B8C-83A1-F6EECF244321}">
                <p14:modId xmlns:p14="http://schemas.microsoft.com/office/powerpoint/2010/main" val="4040858917"/>
              </p:ext>
            </p:extLst>
          </p:nvPr>
        </p:nvGraphicFramePr>
        <p:xfrm>
          <a:off x="2116930" y="3086100"/>
          <a:ext cx="2455070" cy="685800"/>
        </p:xfrm>
        <a:graphic>
          <a:graphicData uri="http://schemas.openxmlformats.org/presentationml/2006/ole">
            <mc:AlternateContent xmlns:mc="http://schemas.openxmlformats.org/markup-compatibility/2006">
              <mc:Choice xmlns:v="urn:schemas-microsoft-com:vml" Requires="v">
                <p:oleObj spid="_x0000_s5168" name="Equation" r:id="rId6" imgW="3276360" imgH="888840" progId="Equation.DSMT4">
                  <p:embed/>
                </p:oleObj>
              </mc:Choice>
              <mc:Fallback>
                <p:oleObj name="Equation" r:id="rId6" imgW="3276360" imgH="888840" progId="Equation.DSMT4">
                  <p:embed/>
                  <p:pic>
                    <p:nvPicPr>
                      <p:cNvPr id="8" name="对象 7">
                        <a:extLst>
                          <a:ext uri="{FF2B5EF4-FFF2-40B4-BE49-F238E27FC236}">
                            <a16:creationId xmlns:a16="http://schemas.microsoft.com/office/drawing/2014/main" id="{FE0DD92B-A970-11E5-5BF3-25F47F91A0A3}"/>
                          </a:ext>
                        </a:extLst>
                      </p:cNvPr>
                      <p:cNvPicPr>
                        <a:picLocks noChangeAspect="1" noChangeArrowheads="1"/>
                      </p:cNvPicPr>
                      <p:nvPr/>
                    </p:nvPicPr>
                    <p:blipFill>
                      <a:blip r:embed="rId7"/>
                      <a:srcRect/>
                      <a:stretch>
                        <a:fillRect/>
                      </a:stretch>
                    </p:blipFill>
                    <p:spPr bwMode="auto">
                      <a:xfrm>
                        <a:off x="2116930" y="3086100"/>
                        <a:ext cx="245507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4">
            <a:extLst>
              <a:ext uri="{FF2B5EF4-FFF2-40B4-BE49-F238E27FC236}">
                <a16:creationId xmlns:a16="http://schemas.microsoft.com/office/drawing/2014/main" id="{9E969636-E8AE-A395-D48F-CFE9C12FAF34}"/>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22" name="对象 21">
            <a:extLst>
              <a:ext uri="{FF2B5EF4-FFF2-40B4-BE49-F238E27FC236}">
                <a16:creationId xmlns:a16="http://schemas.microsoft.com/office/drawing/2014/main" id="{3A5490FD-0D5E-31F1-D7B9-BD9D3BEE3AD1}"/>
              </a:ext>
            </a:extLst>
          </p:cNvPr>
          <p:cNvGraphicFramePr>
            <a:graphicFrameLocks noChangeAspect="1"/>
          </p:cNvGraphicFramePr>
          <p:nvPr>
            <p:extLst>
              <p:ext uri="{D42A27DB-BD31-4B8C-83A1-F6EECF244321}">
                <p14:modId xmlns:p14="http://schemas.microsoft.com/office/powerpoint/2010/main" val="568634534"/>
              </p:ext>
            </p:extLst>
          </p:nvPr>
        </p:nvGraphicFramePr>
        <p:xfrm>
          <a:off x="5130498" y="3086100"/>
          <a:ext cx="1246585" cy="828675"/>
        </p:xfrm>
        <a:graphic>
          <a:graphicData uri="http://schemas.openxmlformats.org/presentationml/2006/ole">
            <mc:AlternateContent xmlns:mc="http://schemas.openxmlformats.org/markup-compatibility/2006">
              <mc:Choice xmlns:v="urn:schemas-microsoft-com:vml" Requires="v">
                <p:oleObj spid="_x0000_s5169" name="Equation" r:id="rId8" imgW="1688760" imgH="1079280" progId="Equation.DSMT4">
                  <p:embed/>
                </p:oleObj>
              </mc:Choice>
              <mc:Fallback>
                <p:oleObj name="Equation" r:id="rId8" imgW="1688760" imgH="1079280" progId="Equation.DSMT4">
                  <p:embed/>
                  <p:pic>
                    <p:nvPicPr>
                      <p:cNvPr id="22" name="对象 21">
                        <a:extLst>
                          <a:ext uri="{FF2B5EF4-FFF2-40B4-BE49-F238E27FC236}">
                            <a16:creationId xmlns:a16="http://schemas.microsoft.com/office/drawing/2014/main" id="{3A5490FD-0D5E-31F1-D7B9-BD9D3BEE3AD1}"/>
                          </a:ext>
                        </a:extLst>
                      </p:cNvPr>
                      <p:cNvPicPr>
                        <a:picLocks noChangeAspect="1" noChangeArrowheads="1"/>
                      </p:cNvPicPr>
                      <p:nvPr/>
                    </p:nvPicPr>
                    <p:blipFill>
                      <a:blip r:embed="rId9"/>
                      <a:srcRect/>
                      <a:stretch>
                        <a:fillRect/>
                      </a:stretch>
                    </p:blipFill>
                    <p:spPr bwMode="auto">
                      <a:xfrm>
                        <a:off x="5130498" y="3086100"/>
                        <a:ext cx="1246585"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6">
            <a:extLst>
              <a:ext uri="{FF2B5EF4-FFF2-40B4-BE49-F238E27FC236}">
                <a16:creationId xmlns:a16="http://schemas.microsoft.com/office/drawing/2014/main" id="{9127B094-599F-131C-0F48-41357FC3DB3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26" name="对象 25">
            <a:extLst>
              <a:ext uri="{FF2B5EF4-FFF2-40B4-BE49-F238E27FC236}">
                <a16:creationId xmlns:a16="http://schemas.microsoft.com/office/drawing/2014/main" id="{D29B0957-23AE-062F-80E1-AEFF3B22E3B2}"/>
              </a:ext>
            </a:extLst>
          </p:cNvPr>
          <p:cNvGraphicFramePr>
            <a:graphicFrameLocks noChangeAspect="1"/>
          </p:cNvGraphicFramePr>
          <p:nvPr>
            <p:extLst>
              <p:ext uri="{D42A27DB-BD31-4B8C-83A1-F6EECF244321}">
                <p14:modId xmlns:p14="http://schemas.microsoft.com/office/powerpoint/2010/main" val="3691241749"/>
              </p:ext>
            </p:extLst>
          </p:nvPr>
        </p:nvGraphicFramePr>
        <p:xfrm>
          <a:off x="2966153" y="4270829"/>
          <a:ext cx="311945" cy="373856"/>
        </p:xfrm>
        <a:graphic>
          <a:graphicData uri="http://schemas.openxmlformats.org/presentationml/2006/ole">
            <mc:AlternateContent xmlns:mc="http://schemas.openxmlformats.org/markup-compatibility/2006">
              <mc:Choice xmlns:v="urn:schemas-microsoft-com:vml" Requires="v">
                <p:oleObj spid="_x0000_s5170" name="Equation" r:id="rId10" imgW="406080" imgH="495000" progId="Equation.DSMT4">
                  <p:embed/>
                </p:oleObj>
              </mc:Choice>
              <mc:Fallback>
                <p:oleObj name="Equation" r:id="rId10" imgW="406080" imgH="495000" progId="Equation.DSMT4">
                  <p:embed/>
                  <p:pic>
                    <p:nvPicPr>
                      <p:cNvPr id="26" name="对象 25">
                        <a:extLst>
                          <a:ext uri="{FF2B5EF4-FFF2-40B4-BE49-F238E27FC236}">
                            <a16:creationId xmlns:a16="http://schemas.microsoft.com/office/drawing/2014/main" id="{D29B0957-23AE-062F-80E1-AEFF3B22E3B2}"/>
                          </a:ext>
                        </a:extLst>
                      </p:cNvPr>
                      <p:cNvPicPr>
                        <a:picLocks noChangeAspect="1" noChangeArrowheads="1"/>
                      </p:cNvPicPr>
                      <p:nvPr/>
                    </p:nvPicPr>
                    <p:blipFill>
                      <a:blip r:embed="rId11"/>
                      <a:srcRect/>
                      <a:stretch>
                        <a:fillRect/>
                      </a:stretch>
                    </p:blipFill>
                    <p:spPr bwMode="auto">
                      <a:xfrm>
                        <a:off x="2966153" y="4270829"/>
                        <a:ext cx="311945" cy="373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8">
            <a:extLst>
              <a:ext uri="{FF2B5EF4-FFF2-40B4-BE49-F238E27FC236}">
                <a16:creationId xmlns:a16="http://schemas.microsoft.com/office/drawing/2014/main" id="{1C24BFFF-B390-107D-6C97-769975AFD19B}"/>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29" name="对象 28">
            <a:extLst>
              <a:ext uri="{FF2B5EF4-FFF2-40B4-BE49-F238E27FC236}">
                <a16:creationId xmlns:a16="http://schemas.microsoft.com/office/drawing/2014/main" id="{72B74481-A1CC-59CE-E423-C0A00DBF9CC6}"/>
              </a:ext>
            </a:extLst>
          </p:cNvPr>
          <p:cNvGraphicFramePr>
            <a:graphicFrameLocks noChangeAspect="1"/>
          </p:cNvGraphicFramePr>
          <p:nvPr>
            <p:extLst>
              <p:ext uri="{D42A27DB-BD31-4B8C-83A1-F6EECF244321}">
                <p14:modId xmlns:p14="http://schemas.microsoft.com/office/powerpoint/2010/main" val="2929024995"/>
              </p:ext>
            </p:extLst>
          </p:nvPr>
        </p:nvGraphicFramePr>
        <p:xfrm>
          <a:off x="5148200" y="4242252"/>
          <a:ext cx="175022" cy="340520"/>
        </p:xfrm>
        <a:graphic>
          <a:graphicData uri="http://schemas.openxmlformats.org/presentationml/2006/ole">
            <mc:AlternateContent xmlns:mc="http://schemas.openxmlformats.org/markup-compatibility/2006">
              <mc:Choice xmlns:v="urn:schemas-microsoft-com:vml" Requires="v">
                <p:oleObj spid="_x0000_s5171" name="Equation" r:id="rId12" imgW="215640" imgH="444240" progId="Equation.DSMT4">
                  <p:embed/>
                </p:oleObj>
              </mc:Choice>
              <mc:Fallback>
                <p:oleObj name="Equation" r:id="rId12" imgW="215640" imgH="444240" progId="Equation.DSMT4">
                  <p:embed/>
                  <p:pic>
                    <p:nvPicPr>
                      <p:cNvPr id="29" name="对象 28">
                        <a:extLst>
                          <a:ext uri="{FF2B5EF4-FFF2-40B4-BE49-F238E27FC236}">
                            <a16:creationId xmlns:a16="http://schemas.microsoft.com/office/drawing/2014/main" id="{72B74481-A1CC-59CE-E423-C0A00DBF9CC6}"/>
                          </a:ext>
                        </a:extLst>
                      </p:cNvPr>
                      <p:cNvPicPr>
                        <a:picLocks noChangeAspect="1" noChangeArrowheads="1"/>
                      </p:cNvPicPr>
                      <p:nvPr/>
                    </p:nvPicPr>
                    <p:blipFill>
                      <a:blip r:embed="rId13"/>
                      <a:srcRect/>
                      <a:stretch>
                        <a:fillRect/>
                      </a:stretch>
                    </p:blipFill>
                    <p:spPr bwMode="auto">
                      <a:xfrm>
                        <a:off x="5148200" y="4242252"/>
                        <a:ext cx="175022" cy="340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Rectangle 10">
            <a:extLst>
              <a:ext uri="{FF2B5EF4-FFF2-40B4-BE49-F238E27FC236}">
                <a16:creationId xmlns:a16="http://schemas.microsoft.com/office/drawing/2014/main" id="{60C8C804-3D48-7D18-B0BA-6B4F22BAD5F3}"/>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31" name="对象 30">
            <a:extLst>
              <a:ext uri="{FF2B5EF4-FFF2-40B4-BE49-F238E27FC236}">
                <a16:creationId xmlns:a16="http://schemas.microsoft.com/office/drawing/2014/main" id="{8352836E-B069-869C-4871-33A26EFF07EC}"/>
              </a:ext>
            </a:extLst>
          </p:cNvPr>
          <p:cNvGraphicFramePr>
            <a:graphicFrameLocks noChangeAspect="1"/>
          </p:cNvGraphicFramePr>
          <p:nvPr>
            <p:extLst>
              <p:ext uri="{D42A27DB-BD31-4B8C-83A1-F6EECF244321}">
                <p14:modId xmlns:p14="http://schemas.microsoft.com/office/powerpoint/2010/main" val="905052077"/>
              </p:ext>
            </p:extLst>
          </p:nvPr>
        </p:nvGraphicFramePr>
        <p:xfrm>
          <a:off x="5809632" y="4287496"/>
          <a:ext cx="247650" cy="340520"/>
        </p:xfrm>
        <a:graphic>
          <a:graphicData uri="http://schemas.openxmlformats.org/presentationml/2006/ole">
            <mc:AlternateContent xmlns:mc="http://schemas.openxmlformats.org/markup-compatibility/2006">
              <mc:Choice xmlns:v="urn:schemas-microsoft-com:vml" Requires="v">
                <p:oleObj spid="_x0000_s5172" name="Equation" r:id="rId14" imgW="342720" imgH="444240" progId="Equation.DSMT4">
                  <p:embed/>
                </p:oleObj>
              </mc:Choice>
              <mc:Fallback>
                <p:oleObj name="Equation" r:id="rId14" imgW="342720" imgH="444240" progId="Equation.DSMT4">
                  <p:embed/>
                  <p:pic>
                    <p:nvPicPr>
                      <p:cNvPr id="31" name="对象 30">
                        <a:extLst>
                          <a:ext uri="{FF2B5EF4-FFF2-40B4-BE49-F238E27FC236}">
                            <a16:creationId xmlns:a16="http://schemas.microsoft.com/office/drawing/2014/main" id="{8352836E-B069-869C-4871-33A26EFF07EC}"/>
                          </a:ext>
                        </a:extLst>
                      </p:cNvPr>
                      <p:cNvPicPr>
                        <a:picLocks noChangeAspect="1" noChangeArrowheads="1"/>
                      </p:cNvPicPr>
                      <p:nvPr/>
                    </p:nvPicPr>
                    <p:blipFill>
                      <a:blip r:embed="rId15"/>
                      <a:srcRect/>
                      <a:stretch>
                        <a:fillRect/>
                      </a:stretch>
                    </p:blipFill>
                    <p:spPr bwMode="auto">
                      <a:xfrm>
                        <a:off x="5809632" y="4287496"/>
                        <a:ext cx="247650" cy="340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Rectangle 12">
            <a:extLst>
              <a:ext uri="{FF2B5EF4-FFF2-40B4-BE49-F238E27FC236}">
                <a16:creationId xmlns:a16="http://schemas.microsoft.com/office/drawing/2014/main" id="{DA7FC4D8-7639-AAAC-5BF1-5D0B12F2C1D4}"/>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33" name="对象 32">
            <a:extLst>
              <a:ext uri="{FF2B5EF4-FFF2-40B4-BE49-F238E27FC236}">
                <a16:creationId xmlns:a16="http://schemas.microsoft.com/office/drawing/2014/main" id="{3400645E-5B31-3882-E84A-196ECC4658BB}"/>
              </a:ext>
            </a:extLst>
          </p:cNvPr>
          <p:cNvGraphicFramePr>
            <a:graphicFrameLocks noChangeAspect="1"/>
          </p:cNvGraphicFramePr>
          <p:nvPr>
            <p:extLst>
              <p:ext uri="{D42A27DB-BD31-4B8C-83A1-F6EECF244321}">
                <p14:modId xmlns:p14="http://schemas.microsoft.com/office/powerpoint/2010/main" val="3126237821"/>
              </p:ext>
            </p:extLst>
          </p:nvPr>
        </p:nvGraphicFramePr>
        <p:xfrm>
          <a:off x="1938211" y="4644685"/>
          <a:ext cx="275035" cy="373856"/>
        </p:xfrm>
        <a:graphic>
          <a:graphicData uri="http://schemas.openxmlformats.org/presentationml/2006/ole">
            <mc:AlternateContent xmlns:mc="http://schemas.openxmlformats.org/markup-compatibility/2006">
              <mc:Choice xmlns:v="urn:schemas-microsoft-com:vml" Requires="v">
                <p:oleObj spid="_x0000_s5173" name="Equation" r:id="rId16" imgW="380880" imgH="495000" progId="Equation.DSMT4">
                  <p:embed/>
                </p:oleObj>
              </mc:Choice>
              <mc:Fallback>
                <p:oleObj name="Equation" r:id="rId16" imgW="380880" imgH="495000" progId="Equation.DSMT4">
                  <p:embed/>
                  <p:pic>
                    <p:nvPicPr>
                      <p:cNvPr id="33" name="对象 32">
                        <a:extLst>
                          <a:ext uri="{FF2B5EF4-FFF2-40B4-BE49-F238E27FC236}">
                            <a16:creationId xmlns:a16="http://schemas.microsoft.com/office/drawing/2014/main" id="{3400645E-5B31-3882-E84A-196ECC4658BB}"/>
                          </a:ext>
                        </a:extLst>
                      </p:cNvPr>
                      <p:cNvPicPr>
                        <a:picLocks noChangeAspect="1" noChangeArrowheads="1"/>
                      </p:cNvPicPr>
                      <p:nvPr/>
                    </p:nvPicPr>
                    <p:blipFill>
                      <a:blip r:embed="rId17"/>
                      <a:srcRect/>
                      <a:stretch>
                        <a:fillRect/>
                      </a:stretch>
                    </p:blipFill>
                    <p:spPr bwMode="auto">
                      <a:xfrm>
                        <a:off x="1938211" y="4644685"/>
                        <a:ext cx="275035" cy="373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Rectangle 14">
            <a:extLst>
              <a:ext uri="{FF2B5EF4-FFF2-40B4-BE49-F238E27FC236}">
                <a16:creationId xmlns:a16="http://schemas.microsoft.com/office/drawing/2014/main" id="{2E0CF872-1EED-8462-6E30-FE099C74227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35" name="对象 34">
            <a:extLst>
              <a:ext uri="{FF2B5EF4-FFF2-40B4-BE49-F238E27FC236}">
                <a16:creationId xmlns:a16="http://schemas.microsoft.com/office/drawing/2014/main" id="{D37E0174-2C5F-7737-3E8A-E8B2467143F1}"/>
              </a:ext>
            </a:extLst>
          </p:cNvPr>
          <p:cNvGraphicFramePr>
            <a:graphicFrameLocks noChangeAspect="1"/>
          </p:cNvGraphicFramePr>
          <p:nvPr>
            <p:extLst>
              <p:ext uri="{D42A27DB-BD31-4B8C-83A1-F6EECF244321}">
                <p14:modId xmlns:p14="http://schemas.microsoft.com/office/powerpoint/2010/main" val="2727349542"/>
              </p:ext>
            </p:extLst>
          </p:nvPr>
        </p:nvGraphicFramePr>
        <p:xfrm>
          <a:off x="2653886" y="4678021"/>
          <a:ext cx="247650" cy="340520"/>
        </p:xfrm>
        <a:graphic>
          <a:graphicData uri="http://schemas.openxmlformats.org/presentationml/2006/ole">
            <mc:AlternateContent xmlns:mc="http://schemas.openxmlformats.org/markup-compatibility/2006">
              <mc:Choice xmlns:v="urn:schemas-microsoft-com:vml" Requires="v">
                <p:oleObj spid="_x0000_s5174" name="Equation" r:id="rId18" imgW="342720" imgH="444240" progId="Equation.DSMT4">
                  <p:embed/>
                </p:oleObj>
              </mc:Choice>
              <mc:Fallback>
                <p:oleObj name="Equation" r:id="rId18" imgW="342720" imgH="444240" progId="Equation.DSMT4">
                  <p:embed/>
                  <p:pic>
                    <p:nvPicPr>
                      <p:cNvPr id="35" name="对象 34">
                        <a:extLst>
                          <a:ext uri="{FF2B5EF4-FFF2-40B4-BE49-F238E27FC236}">
                            <a16:creationId xmlns:a16="http://schemas.microsoft.com/office/drawing/2014/main" id="{D37E0174-2C5F-7737-3E8A-E8B2467143F1}"/>
                          </a:ext>
                        </a:extLst>
                      </p:cNvPr>
                      <p:cNvPicPr>
                        <a:picLocks noChangeAspect="1" noChangeArrowheads="1"/>
                      </p:cNvPicPr>
                      <p:nvPr/>
                    </p:nvPicPr>
                    <p:blipFill>
                      <a:blip r:embed="rId19"/>
                      <a:srcRect/>
                      <a:stretch>
                        <a:fillRect/>
                      </a:stretch>
                    </p:blipFill>
                    <p:spPr bwMode="auto">
                      <a:xfrm>
                        <a:off x="2653886" y="4678021"/>
                        <a:ext cx="247650" cy="340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Rectangle 16">
            <a:extLst>
              <a:ext uri="{FF2B5EF4-FFF2-40B4-BE49-F238E27FC236}">
                <a16:creationId xmlns:a16="http://schemas.microsoft.com/office/drawing/2014/main" id="{CB72707B-83D2-5145-B3F6-75EF42DB8DBC}"/>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37" name="对象 36">
            <a:extLst>
              <a:ext uri="{FF2B5EF4-FFF2-40B4-BE49-F238E27FC236}">
                <a16:creationId xmlns:a16="http://schemas.microsoft.com/office/drawing/2014/main" id="{1D17B02C-BF37-9AA2-8B68-4DAE0D00F4ED}"/>
              </a:ext>
            </a:extLst>
          </p:cNvPr>
          <p:cNvGraphicFramePr>
            <a:graphicFrameLocks noChangeAspect="1"/>
          </p:cNvGraphicFramePr>
          <p:nvPr>
            <p:extLst>
              <p:ext uri="{D42A27DB-BD31-4B8C-83A1-F6EECF244321}">
                <p14:modId xmlns:p14="http://schemas.microsoft.com/office/powerpoint/2010/main" val="2492351115"/>
              </p:ext>
            </p:extLst>
          </p:nvPr>
        </p:nvGraphicFramePr>
        <p:xfrm>
          <a:off x="3174968" y="4678022"/>
          <a:ext cx="302420" cy="373856"/>
        </p:xfrm>
        <a:graphic>
          <a:graphicData uri="http://schemas.openxmlformats.org/presentationml/2006/ole">
            <mc:AlternateContent xmlns:mc="http://schemas.openxmlformats.org/markup-compatibility/2006">
              <mc:Choice xmlns:v="urn:schemas-microsoft-com:vml" Requires="v">
                <p:oleObj spid="_x0000_s5175" name="Equation" r:id="rId20" imgW="393480" imgH="495000" progId="Equation.DSMT4">
                  <p:embed/>
                </p:oleObj>
              </mc:Choice>
              <mc:Fallback>
                <p:oleObj name="Equation" r:id="rId20" imgW="393480" imgH="495000" progId="Equation.DSMT4">
                  <p:embed/>
                  <p:pic>
                    <p:nvPicPr>
                      <p:cNvPr id="37" name="对象 36">
                        <a:extLst>
                          <a:ext uri="{FF2B5EF4-FFF2-40B4-BE49-F238E27FC236}">
                            <a16:creationId xmlns:a16="http://schemas.microsoft.com/office/drawing/2014/main" id="{1D17B02C-BF37-9AA2-8B68-4DAE0D00F4ED}"/>
                          </a:ext>
                        </a:extLst>
                      </p:cNvPr>
                      <p:cNvPicPr>
                        <a:picLocks noChangeAspect="1" noChangeArrowheads="1"/>
                      </p:cNvPicPr>
                      <p:nvPr/>
                    </p:nvPicPr>
                    <p:blipFill>
                      <a:blip r:embed="rId21"/>
                      <a:srcRect/>
                      <a:stretch>
                        <a:fillRect/>
                      </a:stretch>
                    </p:blipFill>
                    <p:spPr bwMode="auto">
                      <a:xfrm>
                        <a:off x="3174968" y="4678022"/>
                        <a:ext cx="302420" cy="373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标题 10">
            <a:extLst>
              <a:ext uri="{FF2B5EF4-FFF2-40B4-BE49-F238E27FC236}">
                <a16:creationId xmlns:a16="http://schemas.microsoft.com/office/drawing/2014/main" id="{D8FE665C-8D5B-41D2-847F-6C6519F0C192}"/>
              </a:ext>
            </a:extLst>
          </p:cNvPr>
          <p:cNvSpPr>
            <a:spLocks noGrp="1"/>
          </p:cNvSpPr>
          <p:nvPr>
            <p:ph type="title"/>
          </p:nvPr>
        </p:nvSpPr>
        <p:spPr/>
        <p:txBody>
          <a:bodyPr/>
          <a:lstStyle/>
          <a:p>
            <a:r>
              <a:rPr lang="en-US" altLang="zh-CN" dirty="0"/>
              <a:t>8.1.3 </a:t>
            </a:r>
            <a:r>
              <a:rPr lang="zh-CN" altLang="en-US" dirty="0">
                <a:sym typeface="Times New Roman" panose="02020603050405020304" pitchFamily="18" charset="0"/>
              </a:rPr>
              <a:t>聚类算法评价指标</a:t>
            </a:r>
            <a:endParaRPr lang="zh-CN" altLang="en-US" dirty="0"/>
          </a:p>
        </p:txBody>
      </p:sp>
    </p:spTree>
    <p:extLst>
      <p:ext uri="{BB962C8B-B14F-4D97-AF65-F5344CB8AC3E}">
        <p14:creationId xmlns:p14="http://schemas.microsoft.com/office/powerpoint/2010/main" val="228940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39DAD-DF17-3C51-623F-90F06785BA8F}"/>
            </a:ext>
          </a:extLst>
        </p:cNvPr>
        <p:cNvGrpSpPr/>
        <p:nvPr/>
      </p:nvGrpSpPr>
      <p:grpSpPr>
        <a:xfrm>
          <a:off x="0" y="0"/>
          <a:ext cx="0" cy="0"/>
          <a:chOff x="0" y="0"/>
          <a:chExt cx="0" cy="0"/>
        </a:xfrm>
      </p:grpSpPr>
      <p:sp>
        <p:nvSpPr>
          <p:cNvPr id="4" name="矩形: 圆角 55">
            <a:extLst>
              <a:ext uri="{FF2B5EF4-FFF2-40B4-BE49-F238E27FC236}">
                <a16:creationId xmlns:a16="http://schemas.microsoft.com/office/drawing/2014/main" id="{6A43DD0D-F148-4A71-A149-432E835CB30C}"/>
              </a:ext>
            </a:extLst>
          </p:cNvPr>
          <p:cNvSpPr/>
          <p:nvPr/>
        </p:nvSpPr>
        <p:spPr>
          <a:xfrm>
            <a:off x="124615" y="2106034"/>
            <a:ext cx="1608320"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en-US" altLang="zh-CN"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Python</a:t>
            </a: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示例</a:t>
            </a:r>
          </a:p>
        </p:txBody>
      </p:sp>
      <p:pic>
        <p:nvPicPr>
          <p:cNvPr id="15" name="图片 14">
            <a:extLst>
              <a:ext uri="{FF2B5EF4-FFF2-40B4-BE49-F238E27FC236}">
                <a16:creationId xmlns:a16="http://schemas.microsoft.com/office/drawing/2014/main" id="{F0E50D4A-735B-3592-B1DC-22DE1A100969}"/>
              </a:ext>
            </a:extLst>
          </p:cNvPr>
          <p:cNvPicPr>
            <a:picLocks noChangeAspect="1"/>
          </p:cNvPicPr>
          <p:nvPr/>
        </p:nvPicPr>
        <p:blipFill>
          <a:blip r:embed="rId3"/>
          <a:stretch>
            <a:fillRect/>
          </a:stretch>
        </p:blipFill>
        <p:spPr>
          <a:xfrm>
            <a:off x="124615" y="2793977"/>
            <a:ext cx="5422848" cy="2731138"/>
          </a:xfrm>
          <a:prstGeom prst="rect">
            <a:avLst/>
          </a:prstGeom>
        </p:spPr>
      </p:pic>
      <p:pic>
        <p:nvPicPr>
          <p:cNvPr id="16" name="图形 1182613014">
            <a:extLst>
              <a:ext uri="{FF2B5EF4-FFF2-40B4-BE49-F238E27FC236}">
                <a16:creationId xmlns:a16="http://schemas.microsoft.com/office/drawing/2014/main" id="{EF564E54-EF37-F9D0-7CA8-18293CABDC66}"/>
              </a:ext>
            </a:extLst>
          </p:cNvPr>
          <p:cNvPicPr>
            <a:picLocks noChangeAspect="1"/>
          </p:cNvPicPr>
          <p:nvPr/>
        </p:nvPicPr>
        <p:blipFill>
          <a:blip r:embed="rId4">
            <a:extLst>
              <a:ext uri="{96DAC541-7B7A-43D3-8B79-37D633B846F1}">
                <asvg:svgBlip xmlns:asvg="http://schemas.microsoft.com/office/drawing/2016/SVG/main" r:embed="rId5"/>
              </a:ext>
            </a:extLst>
          </a:blip>
          <a:srcRect l="7561" t="8862" r="8645" b="3302"/>
          <a:stretch>
            <a:fillRect/>
          </a:stretch>
        </p:blipFill>
        <p:spPr>
          <a:xfrm>
            <a:off x="5846752" y="3002427"/>
            <a:ext cx="2952284" cy="2323585"/>
          </a:xfrm>
          <a:prstGeom prst="rect">
            <a:avLst/>
          </a:prstGeom>
        </p:spPr>
      </p:pic>
      <p:sp>
        <p:nvSpPr>
          <p:cNvPr id="6" name="标题 5">
            <a:extLst>
              <a:ext uri="{FF2B5EF4-FFF2-40B4-BE49-F238E27FC236}">
                <a16:creationId xmlns:a16="http://schemas.microsoft.com/office/drawing/2014/main" id="{0EF6400F-A7FB-40E7-B5A8-2D85D47454B2}"/>
              </a:ext>
            </a:extLst>
          </p:cNvPr>
          <p:cNvSpPr>
            <a:spLocks noGrp="1"/>
          </p:cNvSpPr>
          <p:nvPr>
            <p:ph type="title"/>
          </p:nvPr>
        </p:nvSpPr>
        <p:spPr/>
        <p:txBody>
          <a:bodyPr/>
          <a:lstStyle/>
          <a:p>
            <a:r>
              <a:rPr lang="zh-CN" altLang="en-US" dirty="0">
                <a:sym typeface="Times New Roman" panose="02020603050405020304" pitchFamily="18" charset="0"/>
              </a:rPr>
              <a:t>案例：聚类算法评价指标</a:t>
            </a:r>
            <a:endParaRPr lang="zh-CN" altLang="en-US" dirty="0"/>
          </a:p>
        </p:txBody>
      </p:sp>
    </p:spTree>
    <p:extLst>
      <p:ext uri="{BB962C8B-B14F-4D97-AF65-F5344CB8AC3E}">
        <p14:creationId xmlns:p14="http://schemas.microsoft.com/office/powerpoint/2010/main" val="1182187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59936-4B66-0BD2-BAFB-5C1E9E84369D}"/>
            </a:ext>
          </a:extLst>
        </p:cNvPr>
        <p:cNvGrpSpPr/>
        <p:nvPr/>
      </p:nvGrpSpPr>
      <p:grpSpPr>
        <a:xfrm>
          <a:off x="0" y="0"/>
          <a:ext cx="0" cy="0"/>
          <a:chOff x="0" y="0"/>
          <a:chExt cx="0" cy="0"/>
        </a:xfrm>
      </p:grpSpPr>
      <p:sp>
        <p:nvSpPr>
          <p:cNvPr id="4" name="矩形: 圆角 55">
            <a:extLst>
              <a:ext uri="{FF2B5EF4-FFF2-40B4-BE49-F238E27FC236}">
                <a16:creationId xmlns:a16="http://schemas.microsoft.com/office/drawing/2014/main" id="{35D52C7A-2D11-4E0B-C524-1B4E798DC836}"/>
              </a:ext>
            </a:extLst>
          </p:cNvPr>
          <p:cNvSpPr/>
          <p:nvPr/>
        </p:nvSpPr>
        <p:spPr>
          <a:xfrm>
            <a:off x="124615" y="2106034"/>
            <a:ext cx="1608320"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en-US" altLang="zh-CN"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Python</a:t>
            </a: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示例</a:t>
            </a:r>
          </a:p>
        </p:txBody>
      </p:sp>
      <p:pic>
        <p:nvPicPr>
          <p:cNvPr id="8" name="图片 7">
            <a:extLst>
              <a:ext uri="{FF2B5EF4-FFF2-40B4-BE49-F238E27FC236}">
                <a16:creationId xmlns:a16="http://schemas.microsoft.com/office/drawing/2014/main" id="{DD60E05B-04A9-C48A-96AF-9D09529D1935}"/>
              </a:ext>
            </a:extLst>
          </p:cNvPr>
          <p:cNvPicPr>
            <a:picLocks noChangeAspect="1"/>
          </p:cNvPicPr>
          <p:nvPr/>
        </p:nvPicPr>
        <p:blipFill>
          <a:blip r:embed="rId3"/>
          <a:stretch>
            <a:fillRect/>
          </a:stretch>
        </p:blipFill>
        <p:spPr>
          <a:xfrm>
            <a:off x="124615" y="2730753"/>
            <a:ext cx="5095015" cy="2993464"/>
          </a:xfrm>
          <a:prstGeom prst="rect">
            <a:avLst/>
          </a:prstGeom>
        </p:spPr>
      </p:pic>
      <p:pic>
        <p:nvPicPr>
          <p:cNvPr id="13" name="图片 12">
            <a:extLst>
              <a:ext uri="{FF2B5EF4-FFF2-40B4-BE49-F238E27FC236}">
                <a16:creationId xmlns:a16="http://schemas.microsoft.com/office/drawing/2014/main" id="{2B2BC666-BB23-0A29-A71B-98177EDCE7AB}"/>
              </a:ext>
            </a:extLst>
          </p:cNvPr>
          <p:cNvPicPr>
            <a:picLocks noChangeAspect="1"/>
          </p:cNvPicPr>
          <p:nvPr/>
        </p:nvPicPr>
        <p:blipFill>
          <a:blip r:embed="rId4"/>
          <a:srcRect r="60307"/>
          <a:stretch/>
        </p:blipFill>
        <p:spPr>
          <a:xfrm>
            <a:off x="5972912" y="2106033"/>
            <a:ext cx="2524043" cy="3557077"/>
          </a:xfrm>
          <a:prstGeom prst="rect">
            <a:avLst/>
          </a:prstGeom>
        </p:spPr>
      </p:pic>
      <p:sp>
        <p:nvSpPr>
          <p:cNvPr id="6" name="标题 5">
            <a:extLst>
              <a:ext uri="{FF2B5EF4-FFF2-40B4-BE49-F238E27FC236}">
                <a16:creationId xmlns:a16="http://schemas.microsoft.com/office/drawing/2014/main" id="{56A6FCB9-AA6F-4F73-A33F-476F79DA4DCE}"/>
              </a:ext>
            </a:extLst>
          </p:cNvPr>
          <p:cNvSpPr>
            <a:spLocks noGrp="1"/>
          </p:cNvSpPr>
          <p:nvPr>
            <p:ph type="title"/>
          </p:nvPr>
        </p:nvSpPr>
        <p:spPr/>
        <p:txBody>
          <a:bodyPr/>
          <a:lstStyle/>
          <a:p>
            <a:r>
              <a:rPr lang="zh-CN" altLang="en-US" dirty="0">
                <a:sym typeface="Times New Roman" panose="02020603050405020304" pitchFamily="18" charset="0"/>
              </a:rPr>
              <a:t>案例：聚类算法评价指标</a:t>
            </a:r>
            <a:endParaRPr lang="zh-CN" altLang="en-US" dirty="0"/>
          </a:p>
        </p:txBody>
      </p:sp>
    </p:spTree>
    <p:extLst>
      <p:ext uri="{BB962C8B-B14F-4D97-AF65-F5344CB8AC3E}">
        <p14:creationId xmlns:p14="http://schemas.microsoft.com/office/powerpoint/2010/main" val="2195965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6DFE-E27A-D9D5-26C3-0971BD515E4B}"/>
            </a:ext>
          </a:extLst>
        </p:cNvPr>
        <p:cNvGrpSpPr/>
        <p:nvPr/>
      </p:nvGrpSpPr>
      <p:grpSpPr>
        <a:xfrm>
          <a:off x="0" y="0"/>
          <a:ext cx="0" cy="0"/>
          <a:chOff x="0" y="0"/>
          <a:chExt cx="0" cy="0"/>
        </a:xfrm>
      </p:grpSpPr>
      <p:sp>
        <p:nvSpPr>
          <p:cNvPr id="4" name="矩形: 圆角 55">
            <a:extLst>
              <a:ext uri="{FF2B5EF4-FFF2-40B4-BE49-F238E27FC236}">
                <a16:creationId xmlns:a16="http://schemas.microsoft.com/office/drawing/2014/main" id="{7669DA7E-73F9-30F7-D383-05BC92EDE7B9}"/>
              </a:ext>
            </a:extLst>
          </p:cNvPr>
          <p:cNvSpPr/>
          <p:nvPr/>
        </p:nvSpPr>
        <p:spPr>
          <a:xfrm>
            <a:off x="124615" y="2106034"/>
            <a:ext cx="1608320"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en-US" altLang="zh-CN"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Python</a:t>
            </a: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示例</a:t>
            </a:r>
          </a:p>
        </p:txBody>
      </p:sp>
      <p:sp>
        <p:nvSpPr>
          <p:cNvPr id="10" name="Rectangle 2">
            <a:extLst>
              <a:ext uri="{FF2B5EF4-FFF2-40B4-BE49-F238E27FC236}">
                <a16:creationId xmlns:a16="http://schemas.microsoft.com/office/drawing/2014/main" id="{0FD0B011-7E1C-EF44-F3B5-919CEF02732A}"/>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2" name="Rectangle 4">
            <a:extLst>
              <a:ext uri="{FF2B5EF4-FFF2-40B4-BE49-F238E27FC236}">
                <a16:creationId xmlns:a16="http://schemas.microsoft.com/office/drawing/2014/main" id="{C8342262-1CE5-CB88-D8E7-3E40B698E78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9" name="Rectangle 2">
            <a:extLst>
              <a:ext uri="{FF2B5EF4-FFF2-40B4-BE49-F238E27FC236}">
                <a16:creationId xmlns:a16="http://schemas.microsoft.com/office/drawing/2014/main" id="{8DD163F6-35A1-7E15-0DCE-586DA4E94B66}"/>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20" name="Rectangle 4">
            <a:extLst>
              <a:ext uri="{FF2B5EF4-FFF2-40B4-BE49-F238E27FC236}">
                <a16:creationId xmlns:a16="http://schemas.microsoft.com/office/drawing/2014/main" id="{1A6E60BC-A9CE-AB03-8357-B62CA41CBC39}"/>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24" name="Rectangle 6">
            <a:extLst>
              <a:ext uri="{FF2B5EF4-FFF2-40B4-BE49-F238E27FC236}">
                <a16:creationId xmlns:a16="http://schemas.microsoft.com/office/drawing/2014/main" id="{E2CEAFFD-0E23-5CAD-6D75-B8DDE5B7E84E}"/>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1" name="Rectangle 8">
            <a:extLst>
              <a:ext uri="{FF2B5EF4-FFF2-40B4-BE49-F238E27FC236}">
                <a16:creationId xmlns:a16="http://schemas.microsoft.com/office/drawing/2014/main" id="{BEE5EC50-BB5C-C3FA-C2FE-DE72544ABD12}"/>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3" name="Rectangle 10">
            <a:extLst>
              <a:ext uri="{FF2B5EF4-FFF2-40B4-BE49-F238E27FC236}">
                <a16:creationId xmlns:a16="http://schemas.microsoft.com/office/drawing/2014/main" id="{9DDF7DD1-6263-9CE1-06E7-99A0EA18CD14}"/>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5" name="Rectangle 12">
            <a:extLst>
              <a:ext uri="{FF2B5EF4-FFF2-40B4-BE49-F238E27FC236}">
                <a16:creationId xmlns:a16="http://schemas.microsoft.com/office/drawing/2014/main" id="{98372255-EC65-529E-3D3B-5FB27A70B3D0}"/>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7" name="Rectangle 14">
            <a:extLst>
              <a:ext uri="{FF2B5EF4-FFF2-40B4-BE49-F238E27FC236}">
                <a16:creationId xmlns:a16="http://schemas.microsoft.com/office/drawing/2014/main" id="{FA79BAE7-D600-FD1D-1C4E-E307C901C903}"/>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49" name="Rectangle 16">
            <a:extLst>
              <a:ext uri="{FF2B5EF4-FFF2-40B4-BE49-F238E27FC236}">
                <a16:creationId xmlns:a16="http://schemas.microsoft.com/office/drawing/2014/main" id="{79B1B972-C25A-BDAA-6985-0BA8C13A4376}"/>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51" name="Rectangle 18">
            <a:extLst>
              <a:ext uri="{FF2B5EF4-FFF2-40B4-BE49-F238E27FC236}">
                <a16:creationId xmlns:a16="http://schemas.microsoft.com/office/drawing/2014/main" id="{1E2486F0-97DC-028D-C048-87ABEA262C3E}"/>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5" name="Rectangle 2">
            <a:extLst>
              <a:ext uri="{FF2B5EF4-FFF2-40B4-BE49-F238E27FC236}">
                <a16:creationId xmlns:a16="http://schemas.microsoft.com/office/drawing/2014/main" id="{1DD8D896-F624-4594-1CA0-2983A685FD7B}"/>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9" name="Rectangle 4">
            <a:extLst>
              <a:ext uri="{FF2B5EF4-FFF2-40B4-BE49-F238E27FC236}">
                <a16:creationId xmlns:a16="http://schemas.microsoft.com/office/drawing/2014/main" id="{54648D84-B86F-2F2F-D056-3674BFB53389}"/>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23" name="Rectangle 6">
            <a:extLst>
              <a:ext uri="{FF2B5EF4-FFF2-40B4-BE49-F238E27FC236}">
                <a16:creationId xmlns:a16="http://schemas.microsoft.com/office/drawing/2014/main" id="{E7045631-F441-0C56-FE35-9305385568EC}"/>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27" name="Rectangle 8">
            <a:extLst>
              <a:ext uri="{FF2B5EF4-FFF2-40B4-BE49-F238E27FC236}">
                <a16:creationId xmlns:a16="http://schemas.microsoft.com/office/drawing/2014/main" id="{7C03C6F7-39BF-2889-5477-5746C6497D00}"/>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30" name="Rectangle 10">
            <a:extLst>
              <a:ext uri="{FF2B5EF4-FFF2-40B4-BE49-F238E27FC236}">
                <a16:creationId xmlns:a16="http://schemas.microsoft.com/office/drawing/2014/main" id="{2D52C546-4EF9-2C6C-791D-48EE865231CA}"/>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32" name="Rectangle 12">
            <a:extLst>
              <a:ext uri="{FF2B5EF4-FFF2-40B4-BE49-F238E27FC236}">
                <a16:creationId xmlns:a16="http://schemas.microsoft.com/office/drawing/2014/main" id="{612582E6-F4BB-6CCB-970A-B607E1BBF68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34" name="Rectangle 14">
            <a:extLst>
              <a:ext uri="{FF2B5EF4-FFF2-40B4-BE49-F238E27FC236}">
                <a16:creationId xmlns:a16="http://schemas.microsoft.com/office/drawing/2014/main" id="{9C64F652-5E54-8685-B7C2-8457FBE67374}"/>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36" name="Rectangle 16">
            <a:extLst>
              <a:ext uri="{FF2B5EF4-FFF2-40B4-BE49-F238E27FC236}">
                <a16:creationId xmlns:a16="http://schemas.microsoft.com/office/drawing/2014/main" id="{EBBD4A6B-E15A-D7C4-F9CB-82F7E091EA9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pic>
        <p:nvPicPr>
          <p:cNvPr id="11" name="图片 10">
            <a:extLst>
              <a:ext uri="{FF2B5EF4-FFF2-40B4-BE49-F238E27FC236}">
                <a16:creationId xmlns:a16="http://schemas.microsoft.com/office/drawing/2014/main" id="{8423F78C-7770-921A-65E1-CDE5804460B6}"/>
              </a:ext>
            </a:extLst>
          </p:cNvPr>
          <p:cNvPicPr>
            <a:picLocks noChangeAspect="1"/>
          </p:cNvPicPr>
          <p:nvPr/>
        </p:nvPicPr>
        <p:blipFill>
          <a:blip r:embed="rId3"/>
          <a:stretch>
            <a:fillRect/>
          </a:stretch>
        </p:blipFill>
        <p:spPr>
          <a:xfrm>
            <a:off x="709230" y="2689560"/>
            <a:ext cx="7725541" cy="1514431"/>
          </a:xfrm>
          <a:prstGeom prst="rect">
            <a:avLst/>
          </a:prstGeom>
        </p:spPr>
      </p:pic>
      <p:pic>
        <p:nvPicPr>
          <p:cNvPr id="15" name="图片 14">
            <a:extLst>
              <a:ext uri="{FF2B5EF4-FFF2-40B4-BE49-F238E27FC236}">
                <a16:creationId xmlns:a16="http://schemas.microsoft.com/office/drawing/2014/main" id="{585D271B-0B5C-D858-731F-F416F8A84F34}"/>
              </a:ext>
            </a:extLst>
          </p:cNvPr>
          <p:cNvPicPr>
            <a:picLocks noChangeAspect="1"/>
          </p:cNvPicPr>
          <p:nvPr/>
        </p:nvPicPr>
        <p:blipFill>
          <a:blip r:embed="rId4"/>
          <a:srcRect r="56514"/>
          <a:stretch/>
        </p:blipFill>
        <p:spPr>
          <a:xfrm>
            <a:off x="2692910" y="4463074"/>
            <a:ext cx="3620731" cy="864323"/>
          </a:xfrm>
          <a:prstGeom prst="rect">
            <a:avLst/>
          </a:prstGeom>
        </p:spPr>
      </p:pic>
      <p:sp>
        <p:nvSpPr>
          <p:cNvPr id="6" name="标题 5">
            <a:extLst>
              <a:ext uri="{FF2B5EF4-FFF2-40B4-BE49-F238E27FC236}">
                <a16:creationId xmlns:a16="http://schemas.microsoft.com/office/drawing/2014/main" id="{949F84EC-1765-46C0-94D1-4AF24AFB0F99}"/>
              </a:ext>
            </a:extLst>
          </p:cNvPr>
          <p:cNvSpPr>
            <a:spLocks noGrp="1"/>
          </p:cNvSpPr>
          <p:nvPr>
            <p:ph type="title"/>
          </p:nvPr>
        </p:nvSpPr>
        <p:spPr/>
        <p:txBody>
          <a:bodyPr/>
          <a:lstStyle/>
          <a:p>
            <a:r>
              <a:rPr lang="zh-CN" altLang="en-US" dirty="0">
                <a:sym typeface="Times New Roman" panose="02020603050405020304" pitchFamily="18" charset="0"/>
              </a:rPr>
              <a:t>案例：聚类算法评价指标</a:t>
            </a:r>
            <a:endParaRPr lang="zh-CN" altLang="en-US" dirty="0"/>
          </a:p>
        </p:txBody>
      </p:sp>
    </p:spTree>
    <p:extLst>
      <p:ext uri="{BB962C8B-B14F-4D97-AF65-F5344CB8AC3E}">
        <p14:creationId xmlns:p14="http://schemas.microsoft.com/office/powerpoint/2010/main" val="2080888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14472-9DF4-4F08-BF87-AE654B14B97E}"/>
              </a:ext>
            </a:extLst>
          </p:cNvPr>
          <p:cNvSpPr>
            <a:spLocks noGrp="1"/>
          </p:cNvSpPr>
          <p:nvPr>
            <p:ph type="title"/>
          </p:nvPr>
        </p:nvSpPr>
        <p:spPr/>
        <p:txBody>
          <a:bodyPr/>
          <a:lstStyle/>
          <a:p>
            <a:r>
              <a:rPr lang="en-US" altLang="zh-CN" dirty="0"/>
              <a:t>8.1.4 </a:t>
            </a:r>
            <a:r>
              <a:rPr lang="zh-CN" altLang="en-US" dirty="0"/>
              <a:t>簇数量的确定</a:t>
            </a:r>
          </a:p>
        </p:txBody>
      </p:sp>
      <p:sp>
        <p:nvSpPr>
          <p:cNvPr id="4" name="灯片编号占位符 3">
            <a:extLst>
              <a:ext uri="{FF2B5EF4-FFF2-40B4-BE49-F238E27FC236}">
                <a16:creationId xmlns:a16="http://schemas.microsoft.com/office/drawing/2014/main" id="{37F42388-26DA-4F32-8AA3-7283A6C52B45}"/>
              </a:ext>
            </a:extLst>
          </p:cNvPr>
          <p:cNvSpPr>
            <a:spLocks noGrp="1"/>
          </p:cNvSpPr>
          <p:nvPr>
            <p:ph type="sldNum" sz="quarter" idx="12"/>
          </p:nvPr>
        </p:nvSpPr>
        <p:spPr/>
        <p:txBody>
          <a:bodyPr/>
          <a:lstStyle/>
          <a:p>
            <a:fld id="{5AD84F5B-1672-4D3F-9FEC-5DF89A7B7912}" type="slidenum">
              <a:rPr lang="zh-CN" altLang="en-US" smtClean="0"/>
              <a:t>61</a:t>
            </a:fld>
            <a:endParaRPr lang="zh-CN" altLang="en-US"/>
          </a:p>
        </p:txBody>
      </p:sp>
      <p:pic>
        <p:nvPicPr>
          <p:cNvPr id="5" name="图片 4">
            <a:extLst>
              <a:ext uri="{FF2B5EF4-FFF2-40B4-BE49-F238E27FC236}">
                <a16:creationId xmlns:a16="http://schemas.microsoft.com/office/drawing/2014/main" id="{52305886-B5EE-4DD6-BEF4-FDA8A4AEC5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009081" y="1890580"/>
            <a:ext cx="7523341" cy="2765322"/>
          </a:xfrm>
          <a:prstGeom prst="rect">
            <a:avLst/>
          </a:prstGeom>
          <a:noFill/>
        </p:spPr>
      </p:pic>
      <p:sp>
        <p:nvSpPr>
          <p:cNvPr id="6" name="Rectangle 2">
            <a:extLst>
              <a:ext uri="{FF2B5EF4-FFF2-40B4-BE49-F238E27FC236}">
                <a16:creationId xmlns:a16="http://schemas.microsoft.com/office/drawing/2014/main" id="{B97AE60E-DBE2-45A7-A12C-06C850A6D998}"/>
              </a:ext>
            </a:extLst>
          </p:cNvPr>
          <p:cNvSpPr txBox="1">
            <a:spLocks noChangeArrowheads="1"/>
          </p:cNvSpPr>
          <p:nvPr/>
        </p:nvSpPr>
        <p:spPr>
          <a:xfrm>
            <a:off x="3288696" y="4794921"/>
            <a:ext cx="2615993" cy="297996"/>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不同簇数量的聚类结果</a:t>
            </a:r>
          </a:p>
        </p:txBody>
      </p:sp>
    </p:spTree>
    <p:extLst>
      <p:ext uri="{BB962C8B-B14F-4D97-AF65-F5344CB8AC3E}">
        <p14:creationId xmlns:p14="http://schemas.microsoft.com/office/powerpoint/2010/main" val="130655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0D5E0-51E4-941F-0C79-3041A0B558E2}"/>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036E0F51-3F70-0D15-81C6-8A1972D75967}"/>
              </a:ext>
            </a:extLst>
          </p:cNvPr>
          <p:cNvSpPr/>
          <p:nvPr/>
        </p:nvSpPr>
        <p:spPr>
          <a:xfrm>
            <a:off x="988694" y="3383763"/>
            <a:ext cx="6870241" cy="874407"/>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1</a:t>
            </a:r>
            <a:r>
              <a:rPr lang="zh-CN" altLang="en-US" b="1" dirty="0">
                <a:solidFill>
                  <a:prstClr val="black"/>
                </a:solidFill>
                <a:latin typeface="微软雅黑" panose="020B0503020204020204" pitchFamily="34" charset="-122"/>
                <a:ea typeface="微软雅黑" panose="020B0503020204020204" pitchFamily="34" charset="-122"/>
              </a:rPr>
              <a:t>）经验取值法：是一种快速的取值方法，给定   个数据，簇数量可以近似为：</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42F8A0B9-451F-2667-CF71-55A16590428B}"/>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8" name="对象 7">
            <a:extLst>
              <a:ext uri="{FF2B5EF4-FFF2-40B4-BE49-F238E27FC236}">
                <a16:creationId xmlns:a16="http://schemas.microsoft.com/office/drawing/2014/main" id="{32C4BE57-8821-4095-FD91-20802D815A03}"/>
              </a:ext>
            </a:extLst>
          </p:cNvPr>
          <p:cNvGraphicFramePr>
            <a:graphicFrameLocks noChangeAspect="1"/>
          </p:cNvGraphicFramePr>
          <p:nvPr>
            <p:extLst>
              <p:ext uri="{D42A27DB-BD31-4B8C-83A1-F6EECF244321}">
                <p14:modId xmlns:p14="http://schemas.microsoft.com/office/powerpoint/2010/main" val="420889896"/>
              </p:ext>
            </p:extLst>
          </p:nvPr>
        </p:nvGraphicFramePr>
        <p:xfrm>
          <a:off x="6274790" y="3562698"/>
          <a:ext cx="173831" cy="166688"/>
        </p:xfrm>
        <a:graphic>
          <a:graphicData uri="http://schemas.openxmlformats.org/presentationml/2006/ole">
            <mc:AlternateContent xmlns:mc="http://schemas.openxmlformats.org/markup-compatibility/2006">
              <mc:Choice xmlns:v="urn:schemas-microsoft-com:vml" Requires="v">
                <p:oleObj spid="_x0000_s6158" name="Equation" r:id="rId4" imgW="228600" imgH="241200" progId="Equation.DSMT4">
                  <p:embed/>
                </p:oleObj>
              </mc:Choice>
              <mc:Fallback>
                <p:oleObj name="Equation" r:id="rId4" imgW="228600" imgH="241200" progId="Equation.DSMT4">
                  <p:embed/>
                  <p:pic>
                    <p:nvPicPr>
                      <p:cNvPr id="8" name="对象 7">
                        <a:extLst>
                          <a:ext uri="{FF2B5EF4-FFF2-40B4-BE49-F238E27FC236}">
                            <a16:creationId xmlns:a16="http://schemas.microsoft.com/office/drawing/2014/main" id="{32C4BE57-8821-4095-FD91-20802D815A03}"/>
                          </a:ext>
                        </a:extLst>
                      </p:cNvPr>
                      <p:cNvPicPr>
                        <a:picLocks noChangeAspect="1" noChangeArrowheads="1"/>
                      </p:cNvPicPr>
                      <p:nvPr/>
                    </p:nvPicPr>
                    <p:blipFill>
                      <a:blip r:embed="rId5"/>
                      <a:srcRect/>
                      <a:stretch>
                        <a:fillRect/>
                      </a:stretch>
                    </p:blipFill>
                    <p:spPr bwMode="auto">
                      <a:xfrm>
                        <a:off x="6274790" y="3562698"/>
                        <a:ext cx="173831" cy="166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4">
            <a:extLst>
              <a:ext uri="{FF2B5EF4-FFF2-40B4-BE49-F238E27FC236}">
                <a16:creationId xmlns:a16="http://schemas.microsoft.com/office/drawing/2014/main" id="{2C4AE48D-5ECE-E3F9-D49D-021A97EAAE41}"/>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1" name="对象 10">
            <a:extLst>
              <a:ext uri="{FF2B5EF4-FFF2-40B4-BE49-F238E27FC236}">
                <a16:creationId xmlns:a16="http://schemas.microsoft.com/office/drawing/2014/main" id="{6165FFB2-07F5-AFD0-13C8-250D94BD3F61}"/>
              </a:ext>
            </a:extLst>
          </p:cNvPr>
          <p:cNvGraphicFramePr>
            <a:graphicFrameLocks noChangeAspect="1"/>
          </p:cNvGraphicFramePr>
          <p:nvPr>
            <p:extLst>
              <p:ext uri="{D42A27DB-BD31-4B8C-83A1-F6EECF244321}">
                <p14:modId xmlns:p14="http://schemas.microsoft.com/office/powerpoint/2010/main" val="1223352802"/>
              </p:ext>
            </p:extLst>
          </p:nvPr>
        </p:nvGraphicFramePr>
        <p:xfrm>
          <a:off x="3287266" y="4373979"/>
          <a:ext cx="1076325" cy="408385"/>
        </p:xfrm>
        <a:graphic>
          <a:graphicData uri="http://schemas.openxmlformats.org/presentationml/2006/ole">
            <mc:AlternateContent xmlns:mc="http://schemas.openxmlformats.org/markup-compatibility/2006">
              <mc:Choice xmlns:v="urn:schemas-microsoft-com:vml" Requires="v">
                <p:oleObj spid="_x0000_s6159" name="Equation" r:id="rId6" imgW="1434960" imgH="558720" progId="Equation.DSMT4">
                  <p:embed/>
                </p:oleObj>
              </mc:Choice>
              <mc:Fallback>
                <p:oleObj name="Equation" r:id="rId6" imgW="1434960" imgH="558720" progId="Equation.DSMT4">
                  <p:embed/>
                  <p:pic>
                    <p:nvPicPr>
                      <p:cNvPr id="11" name="对象 10">
                        <a:extLst>
                          <a:ext uri="{FF2B5EF4-FFF2-40B4-BE49-F238E27FC236}">
                            <a16:creationId xmlns:a16="http://schemas.microsoft.com/office/drawing/2014/main" id="{6165FFB2-07F5-AFD0-13C8-250D94BD3F61}"/>
                          </a:ext>
                        </a:extLst>
                      </p:cNvPr>
                      <p:cNvPicPr>
                        <a:picLocks noChangeAspect="1" noChangeArrowheads="1"/>
                      </p:cNvPicPr>
                      <p:nvPr/>
                    </p:nvPicPr>
                    <p:blipFill>
                      <a:blip r:embed="rId7"/>
                      <a:srcRect/>
                      <a:stretch>
                        <a:fillRect/>
                      </a:stretch>
                    </p:blipFill>
                    <p:spPr bwMode="auto">
                      <a:xfrm>
                        <a:off x="3287266" y="4373979"/>
                        <a:ext cx="1076325" cy="4083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a:extLst>
              <a:ext uri="{FF2B5EF4-FFF2-40B4-BE49-F238E27FC236}">
                <a16:creationId xmlns:a16="http://schemas.microsoft.com/office/drawing/2014/main" id="{52B42ED4-FBC3-4B0C-AD80-294EC19D4DD9}"/>
              </a:ext>
            </a:extLst>
          </p:cNvPr>
          <p:cNvSpPr/>
          <p:nvPr/>
        </p:nvSpPr>
        <p:spPr>
          <a:xfrm>
            <a:off x="1242618" y="4786161"/>
            <a:ext cx="7741804" cy="458908"/>
          </a:xfrm>
          <a:prstGeom prst="rect">
            <a:avLst/>
          </a:prstGeom>
        </p:spPr>
        <p:txBody>
          <a:bodyPr wrap="square">
            <a:spAutoFit/>
          </a:bodyPr>
          <a:lstStyle/>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在簇分布较均匀的情况下，该方法使得每个簇包含约        个样本。</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13" name="Rectangle 6">
            <a:extLst>
              <a:ext uri="{FF2B5EF4-FFF2-40B4-BE49-F238E27FC236}">
                <a16:creationId xmlns:a16="http://schemas.microsoft.com/office/drawing/2014/main" id="{F3EEAEC1-63FC-84FF-FD80-2E436BD2C146}"/>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4" name="对象 13">
            <a:extLst>
              <a:ext uri="{FF2B5EF4-FFF2-40B4-BE49-F238E27FC236}">
                <a16:creationId xmlns:a16="http://schemas.microsoft.com/office/drawing/2014/main" id="{64A53B0B-FAE5-C82D-1072-000723076626}"/>
              </a:ext>
            </a:extLst>
          </p:cNvPr>
          <p:cNvGraphicFramePr>
            <a:graphicFrameLocks noChangeAspect="1"/>
          </p:cNvGraphicFramePr>
          <p:nvPr>
            <p:extLst>
              <p:ext uri="{D42A27DB-BD31-4B8C-83A1-F6EECF244321}">
                <p14:modId xmlns:p14="http://schemas.microsoft.com/office/powerpoint/2010/main" val="1877924890"/>
              </p:ext>
            </p:extLst>
          </p:nvPr>
        </p:nvGraphicFramePr>
        <p:xfrm>
          <a:off x="6545690" y="4885499"/>
          <a:ext cx="552450" cy="359570"/>
        </p:xfrm>
        <a:graphic>
          <a:graphicData uri="http://schemas.openxmlformats.org/presentationml/2006/ole">
            <mc:AlternateContent xmlns:mc="http://schemas.openxmlformats.org/markup-compatibility/2006">
              <mc:Choice xmlns:v="urn:schemas-microsoft-com:vml" Requires="v">
                <p:oleObj spid="_x0000_s6160" name="Equation" r:id="rId8" imgW="711000" imgH="469800" progId="Equation.DSMT4">
                  <p:embed/>
                </p:oleObj>
              </mc:Choice>
              <mc:Fallback>
                <p:oleObj name="Equation" r:id="rId8" imgW="711000" imgH="469800" progId="Equation.DSMT4">
                  <p:embed/>
                  <p:pic>
                    <p:nvPicPr>
                      <p:cNvPr id="14" name="对象 13">
                        <a:extLst>
                          <a:ext uri="{FF2B5EF4-FFF2-40B4-BE49-F238E27FC236}">
                            <a16:creationId xmlns:a16="http://schemas.microsoft.com/office/drawing/2014/main" id="{64A53B0B-FAE5-C82D-1072-000723076626}"/>
                          </a:ext>
                        </a:extLst>
                      </p:cNvPr>
                      <p:cNvPicPr>
                        <a:picLocks noChangeAspect="1" noChangeArrowheads="1"/>
                      </p:cNvPicPr>
                      <p:nvPr/>
                    </p:nvPicPr>
                    <p:blipFill>
                      <a:blip r:embed="rId9"/>
                      <a:srcRect/>
                      <a:stretch>
                        <a:fillRect/>
                      </a:stretch>
                    </p:blipFill>
                    <p:spPr bwMode="auto">
                      <a:xfrm>
                        <a:off x="6545690" y="4885499"/>
                        <a:ext cx="552450" cy="359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2">
            <a:extLst>
              <a:ext uri="{FF2B5EF4-FFF2-40B4-BE49-F238E27FC236}">
                <a16:creationId xmlns:a16="http://schemas.microsoft.com/office/drawing/2014/main" id="{7890D317-8FD0-3B05-CAC7-EF513FE442D2}"/>
              </a:ext>
            </a:extLst>
          </p:cNvPr>
          <p:cNvSpPr txBox="1">
            <a:spLocks noChangeArrowheads="1"/>
          </p:cNvSpPr>
          <p:nvPr/>
        </p:nvSpPr>
        <p:spPr>
          <a:xfrm>
            <a:off x="598842" y="2242700"/>
            <a:ext cx="7946315" cy="700248"/>
          </a:xfrm>
          <a:prstGeom prst="rect">
            <a:avLst/>
          </a:prstGeom>
          <a:ln>
            <a:solidFill>
              <a:schemeClr val="tx1"/>
            </a:solidFill>
          </a:ln>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1800" dirty="0">
                <a:solidFill>
                  <a:schemeClr val="tx1"/>
                </a:solidFill>
                <a:effectLst/>
              </a:rPr>
              <a:t>许多聚类算法需要指定拟划分的簇数量作为参数。因此，选择合适的簇数量可以确保获得有意义的聚类结构，反映数据内在的分布。</a:t>
            </a:r>
          </a:p>
        </p:txBody>
      </p:sp>
      <p:sp>
        <p:nvSpPr>
          <p:cNvPr id="4" name="标题 3">
            <a:extLst>
              <a:ext uri="{FF2B5EF4-FFF2-40B4-BE49-F238E27FC236}">
                <a16:creationId xmlns:a16="http://schemas.microsoft.com/office/drawing/2014/main" id="{3855E378-DA46-49D6-876D-1AE48E4D5D80}"/>
              </a:ext>
            </a:extLst>
          </p:cNvPr>
          <p:cNvSpPr>
            <a:spLocks noGrp="1"/>
          </p:cNvSpPr>
          <p:nvPr>
            <p:ph type="title"/>
          </p:nvPr>
        </p:nvSpPr>
        <p:spPr/>
        <p:txBody>
          <a:bodyPr/>
          <a:lstStyle/>
          <a:p>
            <a:r>
              <a:rPr lang="en-US" altLang="zh-CN" dirty="0"/>
              <a:t>8.1.4 </a:t>
            </a:r>
            <a:r>
              <a:rPr lang="zh-CN" altLang="en-US" dirty="0"/>
              <a:t>簇数量的确定</a:t>
            </a:r>
          </a:p>
        </p:txBody>
      </p:sp>
    </p:spTree>
    <p:extLst>
      <p:ext uri="{BB962C8B-B14F-4D97-AF65-F5344CB8AC3E}">
        <p14:creationId xmlns:p14="http://schemas.microsoft.com/office/powerpoint/2010/main" val="334456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A6D3D-B8A2-8385-CD22-2A348C7CD09A}"/>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329EC3C5-D802-931D-48D6-3471FD431EF7}"/>
              </a:ext>
            </a:extLst>
          </p:cNvPr>
          <p:cNvSpPr/>
          <p:nvPr/>
        </p:nvSpPr>
        <p:spPr>
          <a:xfrm>
            <a:off x="227901" y="2103925"/>
            <a:ext cx="8584261" cy="874407"/>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2</a:t>
            </a:r>
            <a:r>
              <a:rPr lang="zh-CN" altLang="en-US" b="1" dirty="0">
                <a:solidFill>
                  <a:prstClr val="black"/>
                </a:solidFill>
                <a:latin typeface="微软雅黑" panose="020B0503020204020204" pitchFamily="34" charset="-122"/>
                <a:ea typeface="微软雅黑" panose="020B0503020204020204" pitchFamily="34" charset="-122"/>
              </a:rPr>
              <a:t>）肘部法则（</a:t>
            </a:r>
            <a:r>
              <a:rPr lang="en-US" altLang="zh-CN" b="1" dirty="0">
                <a:solidFill>
                  <a:prstClr val="black"/>
                </a:solidFill>
                <a:latin typeface="微软雅黑" panose="020B0503020204020204" pitchFamily="34" charset="-122"/>
                <a:ea typeface="微软雅黑" panose="020B0503020204020204" pitchFamily="34" charset="-122"/>
              </a:rPr>
              <a:t>Elbow Method</a:t>
            </a:r>
            <a:r>
              <a:rPr lang="zh-CN" altLang="en-US" b="1" dirty="0">
                <a:solidFill>
                  <a:prstClr val="black"/>
                </a:solidFill>
                <a:latin typeface="微软雅黑" panose="020B0503020204020204" pitchFamily="34" charset="-122"/>
                <a:ea typeface="微软雅黑" panose="020B0503020204020204" pitchFamily="34" charset="-122"/>
              </a:rPr>
              <a:t>）：通过寻找</a:t>
            </a:r>
            <a:r>
              <a:rPr lang="zh-CN" altLang="en-US" b="1" dirty="0">
                <a:solidFill>
                  <a:srgbClr val="FF0000"/>
                </a:solidFill>
                <a:latin typeface="微软雅黑" panose="020B0503020204020204" pitchFamily="34" charset="-122"/>
                <a:ea typeface="微软雅黑" panose="020B0503020204020204" pitchFamily="34" charset="-122"/>
              </a:rPr>
              <a:t>簇内距离平方和</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Within-cluster Sum of Square Error</a:t>
            </a: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SSE</a:t>
            </a:r>
            <a:r>
              <a:rPr lang="zh-CN" altLang="en-US" b="1" dirty="0">
                <a:solidFill>
                  <a:prstClr val="black"/>
                </a:solidFill>
                <a:latin typeface="微软雅黑" panose="020B0503020204020204" pitchFamily="34" charset="-122"/>
                <a:ea typeface="微软雅黑" panose="020B0503020204020204" pitchFamily="34" charset="-122"/>
              </a:rPr>
              <a:t>）下降率显著变化的点确定最佳聚类数。</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53C4AE35-ABFE-F762-C96B-32400391E20B}"/>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0" name="Rectangle 4">
            <a:extLst>
              <a:ext uri="{FF2B5EF4-FFF2-40B4-BE49-F238E27FC236}">
                <a16:creationId xmlns:a16="http://schemas.microsoft.com/office/drawing/2014/main" id="{CD17BDB5-F982-25B9-C503-1B6E268A2880}"/>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3" name="Rectangle 6">
            <a:extLst>
              <a:ext uri="{FF2B5EF4-FFF2-40B4-BE49-F238E27FC236}">
                <a16:creationId xmlns:a16="http://schemas.microsoft.com/office/drawing/2014/main" id="{72EF274F-106B-23B0-8A59-F61D855FE912}"/>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pic>
        <p:nvPicPr>
          <p:cNvPr id="4" name="图片 3">
            <a:extLst>
              <a:ext uri="{FF2B5EF4-FFF2-40B4-BE49-F238E27FC236}">
                <a16:creationId xmlns:a16="http://schemas.microsoft.com/office/drawing/2014/main" id="{8432A704-FADD-B42F-D4E4-7FF733832E4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69" t="6087" r="51941" b="9847"/>
          <a:stretch/>
        </p:blipFill>
        <p:spPr bwMode="auto">
          <a:xfrm>
            <a:off x="5066069" y="3016929"/>
            <a:ext cx="3259395" cy="2797673"/>
          </a:xfrm>
          <a:prstGeom prst="rect">
            <a:avLst/>
          </a:prstGeom>
          <a:noFill/>
          <a:ln>
            <a:noFill/>
          </a:ln>
          <a:extLst>
            <a:ext uri="{53640926-AAD7-44D8-BBD7-CCE9431645EC}">
              <a14:shadowObscured xmlns:a14="http://schemas.microsoft.com/office/drawing/2010/main"/>
            </a:ext>
          </a:extLst>
        </p:spPr>
      </p:pic>
      <p:sp>
        <p:nvSpPr>
          <p:cNvPr id="9" name="Rectangle 2">
            <a:extLst>
              <a:ext uri="{FF2B5EF4-FFF2-40B4-BE49-F238E27FC236}">
                <a16:creationId xmlns:a16="http://schemas.microsoft.com/office/drawing/2014/main" id="{765CE9F9-7152-7AF8-7391-8DBD2D9349D1}"/>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5" name="对象 14">
            <a:extLst>
              <a:ext uri="{FF2B5EF4-FFF2-40B4-BE49-F238E27FC236}">
                <a16:creationId xmlns:a16="http://schemas.microsoft.com/office/drawing/2014/main" id="{9033FE9D-3F24-0ABF-7BEB-6907594DF291}"/>
              </a:ext>
            </a:extLst>
          </p:cNvPr>
          <p:cNvGraphicFramePr>
            <a:graphicFrameLocks noChangeAspect="1"/>
          </p:cNvGraphicFramePr>
          <p:nvPr/>
        </p:nvGraphicFramePr>
        <p:xfrm>
          <a:off x="627648" y="3719249"/>
          <a:ext cx="3105150" cy="523875"/>
        </p:xfrm>
        <a:graphic>
          <a:graphicData uri="http://schemas.openxmlformats.org/presentationml/2006/ole">
            <mc:AlternateContent xmlns:mc="http://schemas.openxmlformats.org/markup-compatibility/2006">
              <mc:Choice xmlns:v="urn:schemas-microsoft-com:vml" Requires="v">
                <p:oleObj spid="_x0000_s7190" name="Equation" r:id="rId5" imgW="4140000" imgH="698400" progId="Equation.DSMT4">
                  <p:embed/>
                </p:oleObj>
              </mc:Choice>
              <mc:Fallback>
                <p:oleObj name="Equation" r:id="rId5" imgW="4140000" imgH="698400" progId="Equation.DSMT4">
                  <p:embed/>
                  <p:pic>
                    <p:nvPicPr>
                      <p:cNvPr id="15" name="对象 14">
                        <a:extLst>
                          <a:ext uri="{FF2B5EF4-FFF2-40B4-BE49-F238E27FC236}">
                            <a16:creationId xmlns:a16="http://schemas.microsoft.com/office/drawing/2014/main" id="{9033FE9D-3F24-0ABF-7BEB-6907594DF291}"/>
                          </a:ext>
                        </a:extLst>
                      </p:cNvPr>
                      <p:cNvPicPr>
                        <a:picLocks noChangeAspect="1" noChangeArrowheads="1"/>
                      </p:cNvPicPr>
                      <p:nvPr/>
                    </p:nvPicPr>
                    <p:blipFill>
                      <a:blip r:embed="rId6"/>
                      <a:srcRect/>
                      <a:stretch>
                        <a:fillRect/>
                      </a:stretch>
                    </p:blipFill>
                    <p:spPr bwMode="auto">
                      <a:xfrm>
                        <a:off x="627648" y="3719249"/>
                        <a:ext cx="310515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a:extLst>
              <a:ext uri="{FF2B5EF4-FFF2-40B4-BE49-F238E27FC236}">
                <a16:creationId xmlns:a16="http://schemas.microsoft.com/office/drawing/2014/main" id="{D434C511-3D95-55F6-0843-84D319B33E09}"/>
              </a:ext>
            </a:extLst>
          </p:cNvPr>
          <p:cNvSpPr/>
          <p:nvPr/>
        </p:nvSpPr>
        <p:spPr>
          <a:xfrm>
            <a:off x="556655" y="4318283"/>
            <a:ext cx="4381306" cy="874407"/>
          </a:xfrm>
          <a:prstGeom prst="rect">
            <a:avLst/>
          </a:prstGeom>
        </p:spPr>
        <p:txBody>
          <a:bodyPr wrap="square">
            <a:spAutoFit/>
          </a:bodyPr>
          <a:lstStyle/>
          <a:p>
            <a:pPr defTabSz="685800" eaLnBrk="0" fontAlgn="base" hangingPunct="0">
              <a:lnSpc>
                <a:spcPct val="150000"/>
              </a:lnSpc>
              <a:spcBef>
                <a:spcPct val="0"/>
              </a:spcBef>
              <a:spcAft>
                <a:spcPct val="0"/>
              </a:spcAft>
              <a:defRPr/>
            </a:pPr>
            <a:r>
              <a:rPr lang="zh-CN" altLang="en-US" b="1" dirty="0">
                <a:solidFill>
                  <a:prstClr val="black"/>
                </a:solidFill>
                <a:latin typeface="微软雅黑" panose="020B0503020204020204" pitchFamily="34" charset="-122"/>
                <a:ea typeface="微软雅黑" panose="020B0503020204020204" pitchFamily="34" charset="-122"/>
              </a:rPr>
              <a:t>其中， 为簇    的数据，  为簇     的质心。</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18" name="Rectangle 4">
            <a:extLst>
              <a:ext uri="{FF2B5EF4-FFF2-40B4-BE49-F238E27FC236}">
                <a16:creationId xmlns:a16="http://schemas.microsoft.com/office/drawing/2014/main" id="{5A282E1D-10AA-F4F9-AD20-49611F851431}"/>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19" name="对象 18">
            <a:extLst>
              <a:ext uri="{FF2B5EF4-FFF2-40B4-BE49-F238E27FC236}">
                <a16:creationId xmlns:a16="http://schemas.microsoft.com/office/drawing/2014/main" id="{2CF7B894-48CB-D99D-D6C6-B51BA9A3BC0F}"/>
              </a:ext>
            </a:extLst>
          </p:cNvPr>
          <p:cNvGraphicFramePr>
            <a:graphicFrameLocks noChangeAspect="1"/>
          </p:cNvGraphicFramePr>
          <p:nvPr/>
        </p:nvGraphicFramePr>
        <p:xfrm>
          <a:off x="1188991" y="4536178"/>
          <a:ext cx="173831" cy="166688"/>
        </p:xfrm>
        <a:graphic>
          <a:graphicData uri="http://schemas.openxmlformats.org/presentationml/2006/ole">
            <mc:AlternateContent xmlns:mc="http://schemas.openxmlformats.org/markup-compatibility/2006">
              <mc:Choice xmlns:v="urn:schemas-microsoft-com:vml" Requires="v">
                <p:oleObj spid="_x0000_s7191" name="Equation" r:id="rId7" imgW="228600" imgH="241200" progId="Equation.DSMT4">
                  <p:embed/>
                </p:oleObj>
              </mc:Choice>
              <mc:Fallback>
                <p:oleObj name="Equation" r:id="rId7" imgW="228600" imgH="241200" progId="Equation.DSMT4">
                  <p:embed/>
                  <p:pic>
                    <p:nvPicPr>
                      <p:cNvPr id="19" name="对象 18">
                        <a:extLst>
                          <a:ext uri="{FF2B5EF4-FFF2-40B4-BE49-F238E27FC236}">
                            <a16:creationId xmlns:a16="http://schemas.microsoft.com/office/drawing/2014/main" id="{2CF7B894-48CB-D99D-D6C6-B51BA9A3BC0F}"/>
                          </a:ext>
                        </a:extLst>
                      </p:cNvPr>
                      <p:cNvPicPr>
                        <a:picLocks noChangeAspect="1" noChangeArrowheads="1"/>
                      </p:cNvPicPr>
                      <p:nvPr/>
                    </p:nvPicPr>
                    <p:blipFill>
                      <a:blip r:embed="rId8"/>
                      <a:srcRect/>
                      <a:stretch>
                        <a:fillRect/>
                      </a:stretch>
                    </p:blipFill>
                    <p:spPr bwMode="auto">
                      <a:xfrm>
                        <a:off x="1188991" y="4536178"/>
                        <a:ext cx="173831" cy="166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6">
            <a:extLst>
              <a:ext uri="{FF2B5EF4-FFF2-40B4-BE49-F238E27FC236}">
                <a16:creationId xmlns:a16="http://schemas.microsoft.com/office/drawing/2014/main" id="{A6F51A18-38CB-5770-DB97-F3ADF0064928}"/>
              </a:ext>
            </a:extLst>
          </p:cNvPr>
          <p:cNvSpPr>
            <a:spLocks noChangeArrowheads="1"/>
          </p:cNvSpPr>
          <p:nvPr/>
        </p:nvSpPr>
        <p:spPr bwMode="auto">
          <a:xfrm>
            <a:off x="420924" y="73963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21" name="对象 20">
            <a:extLst>
              <a:ext uri="{FF2B5EF4-FFF2-40B4-BE49-F238E27FC236}">
                <a16:creationId xmlns:a16="http://schemas.microsoft.com/office/drawing/2014/main" id="{62DA9A28-7BAB-3291-21AF-4C637124C6EB}"/>
              </a:ext>
            </a:extLst>
          </p:cNvPr>
          <p:cNvGraphicFramePr>
            <a:graphicFrameLocks noChangeAspect="1"/>
          </p:cNvGraphicFramePr>
          <p:nvPr/>
        </p:nvGraphicFramePr>
        <p:xfrm>
          <a:off x="3658115" y="4449263"/>
          <a:ext cx="261938" cy="340519"/>
        </p:xfrm>
        <a:graphic>
          <a:graphicData uri="http://schemas.openxmlformats.org/presentationml/2006/ole">
            <mc:AlternateContent xmlns:mc="http://schemas.openxmlformats.org/markup-compatibility/2006">
              <mc:Choice xmlns:v="urn:schemas-microsoft-com:vml" Requires="v">
                <p:oleObj spid="_x0000_s7192" name="Equation" r:id="rId9" imgW="342720" imgH="444240" progId="Equation.DSMT4">
                  <p:embed/>
                </p:oleObj>
              </mc:Choice>
              <mc:Fallback>
                <p:oleObj name="Equation" r:id="rId9" imgW="342720" imgH="444240" progId="Equation.DSMT4">
                  <p:embed/>
                  <p:pic>
                    <p:nvPicPr>
                      <p:cNvPr id="21" name="对象 20">
                        <a:extLst>
                          <a:ext uri="{FF2B5EF4-FFF2-40B4-BE49-F238E27FC236}">
                            <a16:creationId xmlns:a16="http://schemas.microsoft.com/office/drawing/2014/main" id="{62DA9A28-7BAB-3291-21AF-4C637124C6EB}"/>
                          </a:ext>
                        </a:extLst>
                      </p:cNvPr>
                      <p:cNvPicPr>
                        <a:picLocks noChangeAspect="1" noChangeArrowheads="1"/>
                      </p:cNvPicPr>
                      <p:nvPr/>
                    </p:nvPicPr>
                    <p:blipFill>
                      <a:blip r:embed="rId10"/>
                      <a:srcRect/>
                      <a:stretch>
                        <a:fillRect/>
                      </a:stretch>
                    </p:blipFill>
                    <p:spPr bwMode="auto">
                      <a:xfrm>
                        <a:off x="3658115" y="4449263"/>
                        <a:ext cx="261938" cy="3405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8">
            <a:extLst>
              <a:ext uri="{FF2B5EF4-FFF2-40B4-BE49-F238E27FC236}">
                <a16:creationId xmlns:a16="http://schemas.microsoft.com/office/drawing/2014/main" id="{504FCDEE-7668-2086-E712-5D47B24EAEC2}"/>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graphicFrame>
        <p:nvGraphicFramePr>
          <p:cNvPr id="23" name="对象 22">
            <a:extLst>
              <a:ext uri="{FF2B5EF4-FFF2-40B4-BE49-F238E27FC236}">
                <a16:creationId xmlns:a16="http://schemas.microsoft.com/office/drawing/2014/main" id="{FBF96571-F482-C667-52DF-322013952793}"/>
              </a:ext>
            </a:extLst>
          </p:cNvPr>
          <p:cNvGraphicFramePr>
            <a:graphicFrameLocks noChangeAspect="1"/>
          </p:cNvGraphicFramePr>
          <p:nvPr/>
        </p:nvGraphicFramePr>
        <p:xfrm>
          <a:off x="2877335" y="4403436"/>
          <a:ext cx="258366" cy="340519"/>
        </p:xfrm>
        <a:graphic>
          <a:graphicData uri="http://schemas.openxmlformats.org/presentationml/2006/ole">
            <mc:AlternateContent xmlns:mc="http://schemas.openxmlformats.org/markup-compatibility/2006">
              <mc:Choice xmlns:v="urn:schemas-microsoft-com:vml" Requires="v">
                <p:oleObj spid="_x0000_s7193" name="Equation" r:id="rId11" imgW="368280" imgH="444240" progId="Equation.DSMT4">
                  <p:embed/>
                </p:oleObj>
              </mc:Choice>
              <mc:Fallback>
                <p:oleObj name="Equation" r:id="rId11" imgW="368280" imgH="444240" progId="Equation.DSMT4">
                  <p:embed/>
                  <p:pic>
                    <p:nvPicPr>
                      <p:cNvPr id="23" name="对象 22">
                        <a:extLst>
                          <a:ext uri="{FF2B5EF4-FFF2-40B4-BE49-F238E27FC236}">
                            <a16:creationId xmlns:a16="http://schemas.microsoft.com/office/drawing/2014/main" id="{FBF96571-F482-C667-52DF-322013952793}"/>
                          </a:ext>
                        </a:extLst>
                      </p:cNvPr>
                      <p:cNvPicPr>
                        <a:picLocks noChangeAspect="1" noChangeArrowheads="1"/>
                      </p:cNvPicPr>
                      <p:nvPr/>
                    </p:nvPicPr>
                    <p:blipFill>
                      <a:blip r:embed="rId12"/>
                      <a:srcRect/>
                      <a:stretch>
                        <a:fillRect/>
                      </a:stretch>
                    </p:blipFill>
                    <p:spPr bwMode="auto">
                      <a:xfrm>
                        <a:off x="2877335" y="4403436"/>
                        <a:ext cx="258366" cy="3405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a:extLst>
              <a:ext uri="{FF2B5EF4-FFF2-40B4-BE49-F238E27FC236}">
                <a16:creationId xmlns:a16="http://schemas.microsoft.com/office/drawing/2014/main" id="{9BD7A153-C21C-FA9D-C087-38B03F8F750E}"/>
              </a:ext>
            </a:extLst>
          </p:cNvPr>
          <p:cNvGraphicFramePr>
            <a:graphicFrameLocks noChangeAspect="1"/>
          </p:cNvGraphicFramePr>
          <p:nvPr/>
        </p:nvGraphicFramePr>
        <p:xfrm>
          <a:off x="1832119" y="4449262"/>
          <a:ext cx="261938" cy="340519"/>
        </p:xfrm>
        <a:graphic>
          <a:graphicData uri="http://schemas.openxmlformats.org/presentationml/2006/ole">
            <mc:AlternateContent xmlns:mc="http://schemas.openxmlformats.org/markup-compatibility/2006">
              <mc:Choice xmlns:v="urn:schemas-microsoft-com:vml" Requires="v">
                <p:oleObj spid="_x0000_s7194" name="Equation" r:id="rId9" imgW="342720" imgH="444240" progId="Equation.DSMT4">
                  <p:embed/>
                </p:oleObj>
              </mc:Choice>
              <mc:Fallback>
                <p:oleObj name="Equation" r:id="rId9" imgW="342720" imgH="444240" progId="Equation.DSMT4">
                  <p:embed/>
                  <p:pic>
                    <p:nvPicPr>
                      <p:cNvPr id="24" name="对象 23">
                        <a:extLst>
                          <a:ext uri="{FF2B5EF4-FFF2-40B4-BE49-F238E27FC236}">
                            <a16:creationId xmlns:a16="http://schemas.microsoft.com/office/drawing/2014/main" id="{9BD7A153-C21C-FA9D-C087-38B03F8F750E}"/>
                          </a:ext>
                        </a:extLst>
                      </p:cNvPr>
                      <p:cNvPicPr>
                        <a:picLocks noChangeAspect="1" noChangeArrowheads="1"/>
                      </p:cNvPicPr>
                      <p:nvPr/>
                    </p:nvPicPr>
                    <p:blipFill>
                      <a:blip r:embed="rId10"/>
                      <a:srcRect/>
                      <a:stretch>
                        <a:fillRect/>
                      </a:stretch>
                    </p:blipFill>
                    <p:spPr bwMode="auto">
                      <a:xfrm>
                        <a:off x="1832119" y="4449262"/>
                        <a:ext cx="261938" cy="3405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标题 7">
            <a:extLst>
              <a:ext uri="{FF2B5EF4-FFF2-40B4-BE49-F238E27FC236}">
                <a16:creationId xmlns:a16="http://schemas.microsoft.com/office/drawing/2014/main" id="{1C06C4F7-995B-4D41-8BD4-12578A10A1AA}"/>
              </a:ext>
            </a:extLst>
          </p:cNvPr>
          <p:cNvSpPr>
            <a:spLocks noGrp="1"/>
          </p:cNvSpPr>
          <p:nvPr>
            <p:ph type="title"/>
          </p:nvPr>
        </p:nvSpPr>
        <p:spPr/>
        <p:txBody>
          <a:bodyPr/>
          <a:lstStyle/>
          <a:p>
            <a:r>
              <a:rPr lang="en-US" altLang="zh-CN" dirty="0"/>
              <a:t>8.1.4 </a:t>
            </a:r>
            <a:r>
              <a:rPr lang="zh-CN" altLang="en-US" dirty="0"/>
              <a:t>簇数量的确定</a:t>
            </a:r>
          </a:p>
        </p:txBody>
      </p:sp>
    </p:spTree>
    <p:extLst>
      <p:ext uri="{BB962C8B-B14F-4D97-AF65-F5344CB8AC3E}">
        <p14:creationId xmlns:p14="http://schemas.microsoft.com/office/powerpoint/2010/main" val="18384870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B0C28-DADA-C44A-B69F-CB8B200092B6}"/>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2DD30CCB-1036-A572-A584-AAB7971824D8}"/>
              </a:ext>
            </a:extLst>
          </p:cNvPr>
          <p:cNvSpPr/>
          <p:nvPr/>
        </p:nvSpPr>
        <p:spPr>
          <a:xfrm>
            <a:off x="227901" y="2103925"/>
            <a:ext cx="8584261" cy="874407"/>
          </a:xfrm>
          <a:prstGeom prst="rect">
            <a:avLst/>
          </a:prstGeom>
        </p:spPr>
        <p:txBody>
          <a:bodyPr wrap="square">
            <a:spAutoFit/>
          </a:bodyPr>
          <a:lstStyle/>
          <a:p>
            <a:pPr marL="257175" indent="-257175" defTabSz="685800" eaLnBrk="0" fontAlgn="base" hangingPunct="0">
              <a:lnSpc>
                <a:spcPct val="150000"/>
              </a:lnSpc>
              <a:spcBef>
                <a:spcPct val="0"/>
              </a:spcBef>
              <a:spcAft>
                <a:spcPct val="0"/>
              </a:spcAft>
              <a:buFont typeface="Arial" pitchFamily="34" charset="0"/>
              <a:buChar char="•"/>
              <a:defRPr/>
            </a:pPr>
            <a:r>
              <a:rPr lang="zh-CN" altLang="en-US" b="1" dirty="0">
                <a:solidFill>
                  <a:prstClr val="black"/>
                </a:solidFill>
                <a:latin typeface="微软雅黑" panose="020B0503020204020204" pitchFamily="34" charset="-122"/>
                <a:ea typeface="微软雅黑" panose="020B0503020204020204" pitchFamily="34" charset="-122"/>
              </a:rPr>
              <a:t>（</a:t>
            </a:r>
            <a:r>
              <a:rPr lang="en-US" altLang="zh-CN" b="1" dirty="0">
                <a:solidFill>
                  <a:prstClr val="black"/>
                </a:solidFill>
                <a:latin typeface="微软雅黑" panose="020B0503020204020204" pitchFamily="34" charset="-122"/>
                <a:ea typeface="微软雅黑" panose="020B0503020204020204" pitchFamily="34" charset="-122"/>
              </a:rPr>
              <a:t>3</a:t>
            </a:r>
            <a:r>
              <a:rPr lang="zh-CN" altLang="en-US" b="1" dirty="0">
                <a:solidFill>
                  <a:prstClr val="black"/>
                </a:solidFill>
                <a:latin typeface="微软雅黑" panose="020B0503020204020204" pitchFamily="34" charset="-122"/>
                <a:ea typeface="微软雅黑" panose="020B0503020204020204" pitchFamily="34" charset="-122"/>
              </a:rPr>
              <a:t>）内部指标：通过选择不同的簇值多次运行聚类算法，使内部指标达到最优值时的簇值为最佳聚类值。</a:t>
            </a:r>
            <a:endParaRPr lang="en-US" altLang="zh-CN" b="1" dirty="0">
              <a:solidFill>
                <a:prstClr val="black"/>
              </a:solidFill>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43F48712-BB39-227E-80B5-AFAF9D1DD753}"/>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0" name="Rectangle 4">
            <a:extLst>
              <a:ext uri="{FF2B5EF4-FFF2-40B4-BE49-F238E27FC236}">
                <a16:creationId xmlns:a16="http://schemas.microsoft.com/office/drawing/2014/main" id="{5187650C-03D8-377B-4877-1D314FA7C91A}"/>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3" name="Rectangle 6">
            <a:extLst>
              <a:ext uri="{FF2B5EF4-FFF2-40B4-BE49-F238E27FC236}">
                <a16:creationId xmlns:a16="http://schemas.microsoft.com/office/drawing/2014/main" id="{EB2CD855-EBBF-85B2-27FF-75BB7D5CF6BE}"/>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9" name="Rectangle 2">
            <a:extLst>
              <a:ext uri="{FF2B5EF4-FFF2-40B4-BE49-F238E27FC236}">
                <a16:creationId xmlns:a16="http://schemas.microsoft.com/office/drawing/2014/main" id="{8A9ACD45-8A6D-41CF-11D4-442C4497D66C}"/>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18" name="Rectangle 4">
            <a:extLst>
              <a:ext uri="{FF2B5EF4-FFF2-40B4-BE49-F238E27FC236}">
                <a16:creationId xmlns:a16="http://schemas.microsoft.com/office/drawing/2014/main" id="{71C05B2B-E464-EF8F-5A33-2745B3F04969}"/>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20" name="Rectangle 6">
            <a:extLst>
              <a:ext uri="{FF2B5EF4-FFF2-40B4-BE49-F238E27FC236}">
                <a16:creationId xmlns:a16="http://schemas.microsoft.com/office/drawing/2014/main" id="{A45E225E-CD6A-0F80-4E60-A526D750D5DC}"/>
              </a:ext>
            </a:extLst>
          </p:cNvPr>
          <p:cNvSpPr>
            <a:spLocks noChangeArrowheads="1"/>
          </p:cNvSpPr>
          <p:nvPr/>
        </p:nvSpPr>
        <p:spPr bwMode="auto">
          <a:xfrm>
            <a:off x="420924" y="73963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sp>
        <p:nvSpPr>
          <p:cNvPr id="22" name="Rectangle 8">
            <a:extLst>
              <a:ext uri="{FF2B5EF4-FFF2-40B4-BE49-F238E27FC236}">
                <a16:creationId xmlns:a16="http://schemas.microsoft.com/office/drawing/2014/main" id="{A955971B-7CFB-C6B9-2A94-08ACF500172C}"/>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sz="1350"/>
          </a:p>
        </p:txBody>
      </p:sp>
      <p:pic>
        <p:nvPicPr>
          <p:cNvPr id="8" name="图片 7">
            <a:extLst>
              <a:ext uri="{FF2B5EF4-FFF2-40B4-BE49-F238E27FC236}">
                <a16:creationId xmlns:a16="http://schemas.microsoft.com/office/drawing/2014/main" id="{B9D9C44D-EE24-1E03-E0DF-7D38046FE9B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7949" t="6087" r="4141" b="10457"/>
          <a:stretch/>
        </p:blipFill>
        <p:spPr bwMode="auto">
          <a:xfrm>
            <a:off x="2973296" y="3060826"/>
            <a:ext cx="3059958" cy="2530121"/>
          </a:xfrm>
          <a:prstGeom prst="rect">
            <a:avLst/>
          </a:prstGeom>
          <a:noFill/>
          <a:ln>
            <a:noFill/>
          </a:ln>
          <a:extLst>
            <a:ext uri="{53640926-AAD7-44D8-BBD7-CCE9431645EC}">
              <a14:shadowObscured xmlns:a14="http://schemas.microsoft.com/office/drawing/2010/main"/>
            </a:ext>
          </a:extLst>
        </p:spPr>
      </p:pic>
      <p:sp>
        <p:nvSpPr>
          <p:cNvPr id="4" name="标题 3">
            <a:extLst>
              <a:ext uri="{FF2B5EF4-FFF2-40B4-BE49-F238E27FC236}">
                <a16:creationId xmlns:a16="http://schemas.microsoft.com/office/drawing/2014/main" id="{53462AC6-1F76-414E-BC47-996612A3983B}"/>
              </a:ext>
            </a:extLst>
          </p:cNvPr>
          <p:cNvSpPr>
            <a:spLocks noGrp="1"/>
          </p:cNvSpPr>
          <p:nvPr>
            <p:ph type="title"/>
          </p:nvPr>
        </p:nvSpPr>
        <p:spPr/>
        <p:txBody>
          <a:bodyPr/>
          <a:lstStyle/>
          <a:p>
            <a:r>
              <a:rPr lang="en-US" altLang="zh-CN" dirty="0"/>
              <a:t>8.1.4 </a:t>
            </a:r>
            <a:r>
              <a:rPr lang="zh-CN" altLang="en-US" dirty="0"/>
              <a:t>簇数量的确定</a:t>
            </a:r>
          </a:p>
        </p:txBody>
      </p:sp>
    </p:spTree>
    <p:extLst>
      <p:ext uri="{BB962C8B-B14F-4D97-AF65-F5344CB8AC3E}">
        <p14:creationId xmlns:p14="http://schemas.microsoft.com/office/powerpoint/2010/main" val="39338419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A35C535-0254-4C0D-814D-19B8A81C611A}"/>
              </a:ext>
            </a:extLst>
          </p:cNvPr>
          <p:cNvSpPr>
            <a:spLocks noGrp="1"/>
          </p:cNvSpPr>
          <p:nvPr>
            <p:ph type="ctrTitle"/>
          </p:nvPr>
        </p:nvSpPr>
        <p:spPr>
          <a:xfrm>
            <a:off x="685800" y="2389134"/>
            <a:ext cx="7772400" cy="2079732"/>
          </a:xfrm>
        </p:spPr>
        <p:txBody>
          <a:bodyPr>
            <a:normAutofit fontScale="90000"/>
          </a:bodyPr>
          <a:lstStyle/>
          <a:p>
            <a:r>
              <a:rPr lang="en-US" altLang="zh-CN" b="1" dirty="0"/>
              <a:t>Q/A</a:t>
            </a:r>
            <a:br>
              <a:rPr lang="en-US" altLang="zh-CN" b="1" dirty="0"/>
            </a:br>
            <a:br>
              <a:rPr lang="en-US" altLang="zh-CN" b="1" dirty="0"/>
            </a:br>
            <a:r>
              <a:rPr lang="en-US" altLang="zh-CN" b="1" dirty="0"/>
              <a:t>  </a:t>
            </a:r>
            <a:r>
              <a:rPr lang="zh-CN" altLang="en-US" b="1" dirty="0"/>
              <a:t>谢谢！</a:t>
            </a:r>
          </a:p>
        </p:txBody>
      </p:sp>
    </p:spTree>
    <p:extLst>
      <p:ext uri="{BB962C8B-B14F-4D97-AF65-F5344CB8AC3E}">
        <p14:creationId xmlns:p14="http://schemas.microsoft.com/office/powerpoint/2010/main" val="3896923420"/>
      </p:ext>
    </p:extLst>
  </p:cSld>
  <p:clrMapOvr>
    <a:masterClrMapping/>
  </p:clrMapOvr>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白底灰边-Office2010风格" id="{A4FB97DD-19BC-49FC-8F3F-E7D8E49AC664}" vid="{03B40C34-2A24-480B-ADA3-2497218558F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白底灰边-Office2010风格</Template>
  <TotalTime>16347</TotalTime>
  <Words>3503</Words>
  <Application>Microsoft Office PowerPoint</Application>
  <PresentationFormat>全屏显示(4:3)</PresentationFormat>
  <Paragraphs>417</Paragraphs>
  <Slides>65</Slides>
  <Notes>23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9" baseType="lpstr">
      <vt:lpstr>等线</vt:lpstr>
      <vt:lpstr>黑体</vt:lpstr>
      <vt:lpstr>华文细黑</vt:lpstr>
      <vt:lpstr>楷体</vt:lpstr>
      <vt:lpstr>宋体</vt:lpstr>
      <vt:lpstr>微软雅黑</vt:lpstr>
      <vt:lpstr>幼圆</vt:lpstr>
      <vt:lpstr>Arial</vt:lpstr>
      <vt:lpstr>Calibri</vt:lpstr>
      <vt:lpstr>Cambria Math</vt:lpstr>
      <vt:lpstr>Times New Roman</vt:lpstr>
      <vt:lpstr>Wingdings</vt:lpstr>
      <vt:lpstr>白底灰边-Office2010风格</vt:lpstr>
      <vt:lpstr>Equation</vt:lpstr>
      <vt:lpstr>Chapter08 聚类  授课老师：王丽苹    </vt:lpstr>
      <vt:lpstr>聚类分析</vt:lpstr>
      <vt:lpstr>聚类分析</vt:lpstr>
      <vt:lpstr>聚类的基本概念</vt:lpstr>
      <vt:lpstr>聚类的基本概念</vt:lpstr>
      <vt:lpstr>聚类分析</vt:lpstr>
      <vt:lpstr>聚类分析</vt:lpstr>
      <vt:lpstr>聚类分析</vt:lpstr>
      <vt:lpstr>聚类分析</vt:lpstr>
      <vt:lpstr>与分类相区别</vt:lpstr>
      <vt:lpstr>聚类算法分类</vt:lpstr>
      <vt:lpstr>聚类算法分类</vt:lpstr>
      <vt:lpstr>聚类算法分类</vt:lpstr>
      <vt:lpstr>聚类算法分类</vt:lpstr>
      <vt:lpstr>聚类算法分类</vt:lpstr>
      <vt:lpstr>聚类算法分类</vt:lpstr>
      <vt:lpstr>聚类算法分类</vt:lpstr>
      <vt:lpstr>聚类算法分类</vt:lpstr>
      <vt:lpstr>聚类算法分类</vt:lpstr>
      <vt:lpstr>K均值聚类算法描述</vt:lpstr>
      <vt:lpstr>K均值聚类算法：初始化</vt:lpstr>
      <vt:lpstr>K均值聚类算法：对数据进行聚类</vt:lpstr>
      <vt:lpstr>K均值聚类算法：更新聚类质心</vt:lpstr>
      <vt:lpstr>K均值聚类算法：继续迭代</vt:lpstr>
      <vt:lpstr>K均值聚类算法的另一个视角：最小化每个类簇的方差SSE</vt:lpstr>
      <vt:lpstr>K-means示例</vt:lpstr>
      <vt:lpstr>应用要点</vt:lpstr>
      <vt:lpstr>应用要点</vt:lpstr>
      <vt:lpstr>基本算法过程</vt:lpstr>
      <vt:lpstr>基本算法过程</vt:lpstr>
      <vt:lpstr>基本算法过程-随机选择质心</vt:lpstr>
      <vt:lpstr>基本算法过程</vt:lpstr>
      <vt:lpstr>基本算法过程</vt:lpstr>
      <vt:lpstr>基本算法过程</vt:lpstr>
      <vt:lpstr>基本算法过程</vt:lpstr>
      <vt:lpstr>算法特点</vt:lpstr>
      <vt:lpstr>算法特点</vt:lpstr>
      <vt:lpstr>算法特点</vt:lpstr>
      <vt:lpstr>算法特点</vt:lpstr>
      <vt:lpstr>算法特点</vt:lpstr>
      <vt:lpstr>算法特点</vt:lpstr>
      <vt:lpstr>算法特点</vt:lpstr>
      <vt:lpstr>算法特点</vt:lpstr>
      <vt:lpstr>一些问题</vt:lpstr>
      <vt:lpstr>一些问题</vt:lpstr>
      <vt:lpstr>小结</vt:lpstr>
      <vt:lpstr>K均值聚类算法的应用</vt:lpstr>
      <vt:lpstr>聚类算法的评估</vt:lpstr>
      <vt:lpstr>聚类算法评估</vt:lpstr>
      <vt:lpstr>聚类结果评估</vt:lpstr>
      <vt:lpstr>簇评估：</vt:lpstr>
      <vt:lpstr>8.1.3 聚类算法评价指标</vt:lpstr>
      <vt:lpstr>8.1.3 聚类算法评价指标</vt:lpstr>
      <vt:lpstr>8.1.3 聚类算法评价指标</vt:lpstr>
      <vt:lpstr>8.1.3 聚类算法评价指标</vt:lpstr>
      <vt:lpstr>8.1.3 聚类算法评价指标</vt:lpstr>
      <vt:lpstr>8.1.3 聚类算法评价指标</vt:lpstr>
      <vt:lpstr>案例：聚类算法评价指标</vt:lpstr>
      <vt:lpstr>案例：聚类算法评价指标</vt:lpstr>
      <vt:lpstr>案例：聚类算法评价指标</vt:lpstr>
      <vt:lpstr>8.1.4 簇数量的确定</vt:lpstr>
      <vt:lpstr>8.1.4 簇数量的确定</vt:lpstr>
      <vt:lpstr>8.1.4 簇数量的确定</vt:lpstr>
      <vt:lpstr>8.1.4 簇数量的确定</vt:lpstr>
      <vt:lpstr>Q/A    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wuxf</dc:creator>
  <cp:lastModifiedBy>Liping Wang</cp:lastModifiedBy>
  <cp:revision>1675</cp:revision>
  <dcterms:created xsi:type="dcterms:W3CDTF">2018-01-15T02:11:01Z</dcterms:created>
  <dcterms:modified xsi:type="dcterms:W3CDTF">2025-10-28T11:39:28Z</dcterms:modified>
</cp:coreProperties>
</file>