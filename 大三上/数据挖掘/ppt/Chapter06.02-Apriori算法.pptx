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4"/>
  </p:notesMasterIdLst>
  <p:sldIdLst>
    <p:sldId id="4261" r:id="rId2"/>
    <p:sldId id="430" r:id="rId3"/>
    <p:sldId id="431" r:id="rId4"/>
    <p:sldId id="269" r:id="rId5"/>
    <p:sldId id="436" r:id="rId6"/>
    <p:sldId id="437" r:id="rId7"/>
    <p:sldId id="290" r:id="rId8"/>
    <p:sldId id="438" r:id="rId9"/>
    <p:sldId id="279" r:id="rId10"/>
    <p:sldId id="441" r:id="rId11"/>
    <p:sldId id="276" r:id="rId12"/>
    <p:sldId id="443" r:id="rId13"/>
    <p:sldId id="444" r:id="rId14"/>
    <p:sldId id="445" r:id="rId15"/>
    <p:sldId id="285" r:id="rId16"/>
    <p:sldId id="446" r:id="rId17"/>
    <p:sldId id="454" r:id="rId18"/>
    <p:sldId id="455" r:id="rId19"/>
    <p:sldId id="277" r:id="rId20"/>
    <p:sldId id="451" r:id="rId21"/>
    <p:sldId id="293" r:id="rId22"/>
    <p:sldId id="447" r:id="rId23"/>
    <p:sldId id="294" r:id="rId24"/>
    <p:sldId id="450" r:id="rId25"/>
    <p:sldId id="296" r:id="rId26"/>
    <p:sldId id="4280" r:id="rId27"/>
    <p:sldId id="452" r:id="rId28"/>
    <p:sldId id="427" r:id="rId29"/>
    <p:sldId id="298" r:id="rId30"/>
    <p:sldId id="474" r:id="rId31"/>
    <p:sldId id="301" r:id="rId32"/>
    <p:sldId id="299" r:id="rId33"/>
    <p:sldId id="476" r:id="rId34"/>
    <p:sldId id="429" r:id="rId35"/>
    <p:sldId id="458" r:id="rId36"/>
    <p:sldId id="464" r:id="rId37"/>
    <p:sldId id="475" r:id="rId38"/>
    <p:sldId id="468" r:id="rId39"/>
    <p:sldId id="469" r:id="rId40"/>
    <p:sldId id="470" r:id="rId41"/>
    <p:sldId id="473" r:id="rId42"/>
    <p:sldId id="472" r:id="rId43"/>
    <p:sldId id="461" r:id="rId44"/>
    <p:sldId id="305" r:id="rId45"/>
    <p:sldId id="462" r:id="rId46"/>
    <p:sldId id="463" r:id="rId47"/>
    <p:sldId id="477" r:id="rId48"/>
    <p:sldId id="456" r:id="rId49"/>
    <p:sldId id="314" r:id="rId50"/>
    <p:sldId id="315" r:id="rId51"/>
    <p:sldId id="316" r:id="rId52"/>
    <p:sldId id="453" r:id="rId53"/>
    <p:sldId id="317" r:id="rId54"/>
    <p:sldId id="4282" r:id="rId55"/>
    <p:sldId id="318" r:id="rId56"/>
    <p:sldId id="428" r:id="rId57"/>
    <p:sldId id="423" r:id="rId58"/>
    <p:sldId id="403" r:id="rId59"/>
    <p:sldId id="4283" r:id="rId60"/>
    <p:sldId id="321" r:id="rId61"/>
    <p:sldId id="410" r:id="rId62"/>
    <p:sldId id="420" r:id="rId63"/>
    <p:sldId id="405" r:id="rId64"/>
    <p:sldId id="413" r:id="rId65"/>
    <p:sldId id="415" r:id="rId66"/>
    <p:sldId id="418" r:id="rId67"/>
    <p:sldId id="417" r:id="rId68"/>
    <p:sldId id="4284" r:id="rId69"/>
    <p:sldId id="416" r:id="rId70"/>
    <p:sldId id="424" r:id="rId71"/>
    <p:sldId id="426" r:id="rId72"/>
    <p:sldId id="4278" r:id="rId7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DBE"/>
    <a:srgbClr val="DCFDAB"/>
    <a:srgbClr val="FFAAA9"/>
    <a:srgbClr val="DBFDAA"/>
    <a:srgbClr val="FFE1E1"/>
    <a:srgbClr val="ECE5F7"/>
    <a:srgbClr val="E1D6F2"/>
    <a:srgbClr val="DCFDAD"/>
    <a:srgbClr val="D4C5EC"/>
    <a:srgbClr val="FFD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46" autoAdjust="0"/>
    <p:restoredTop sz="89333" autoAdjust="0"/>
  </p:normalViewPr>
  <p:slideViewPr>
    <p:cSldViewPr snapToGrid="0">
      <p:cViewPr varScale="1">
        <p:scale>
          <a:sx n="98" d="100"/>
          <a:sy n="98" d="100"/>
        </p:scale>
        <p:origin x="153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37CF0-5B85-4F82-8895-487FD940EFF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61C67-365B-455B-8333-B2F385616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9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925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98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806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7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370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408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604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159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006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656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643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677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sz="1000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625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993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6896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603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5529" lvl="2">
              <a:spcBef>
                <a:spcPts val="348"/>
              </a:spcBef>
              <a:buClr>
                <a:schemeClr val="accent1"/>
              </a:buClr>
              <a:buSzPct val="68000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3103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defTabSz="796077">
              <a:defRPr/>
            </a:pPr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824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824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2" defTabSz="796077">
              <a:defRPr/>
            </a:pP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733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8208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514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1100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8290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sz="1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051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r>
              <a:rPr lang="en-US" altLang="zh-CN" sz="1000" dirty="0"/>
              <a:t>{}</a:t>
            </a:r>
            <a:r>
              <a:rPr lang="zh-CN" altLang="en-US" sz="1000" dirty="0"/>
              <a:t>中为选中的</a:t>
            </a:r>
            <a:endParaRPr lang="en-US" altLang="zh-CN" sz="1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051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构建方式</a:t>
            </a:r>
            <a:r>
              <a:rPr lang="en-US" altLang="zh-CN" dirty="0"/>
              <a:t>key</a:t>
            </a:r>
            <a:r>
              <a:rPr lang="zh-CN" altLang="en-US" dirty="0"/>
              <a:t>依次除以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5….,</a:t>
            </a:r>
            <a:r>
              <a:rPr lang="zh-CN" altLang="en-US" dirty="0"/>
              <a:t>如果位置可以哦那个就结束，不可用就继续计算下一个编码</a:t>
            </a:r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2182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7186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sz="1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8428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334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566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116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9857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1954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7730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6885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7914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0496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0418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1406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3109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4329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4329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8337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9472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11021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3000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0279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sz="17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49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sz="17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499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84688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3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53535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85487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5721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444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defTabSz="796077">
                  <a:defRPr/>
                </a:pPr>
                <a:r>
                  <a:rPr lang="zh-CN" altLang="en-US" dirty="0"/>
                  <a:t>非常幸运，关联规则的置信度也遵循先验规则，也就是说，在关联规则格结构中，如果如图所示中的</a:t>
                </a:r>
                <a:r>
                  <a:rPr lang="en-US" altLang="zh-CN" dirty="0" err="1"/>
                  <a:t>bcd</a:t>
                </a:r>
                <a:r>
                  <a:rPr lang="en-US" altLang="zh-CN" dirty="0"/>
                  <a:t>-&gt;a</a:t>
                </a:r>
                <a:r>
                  <a:rPr lang="zh-CN" altLang="en-US" dirty="0"/>
                  <a:t>的置信度较低，不满足置信度阈值要求，那么在红色虚线框中的关联规则的置信度，也会低于</a:t>
                </a:r>
                <a:r>
                  <a:rPr lang="en-US" altLang="zh-CN" dirty="0" err="1"/>
                  <a:t>bcd</a:t>
                </a:r>
                <a:r>
                  <a:rPr lang="en-US" altLang="zh-CN" dirty="0"/>
                  <a:t>-&gt;a</a:t>
                </a:r>
                <a:r>
                  <a:rPr lang="zh-CN" altLang="en-US" dirty="0"/>
                  <a:t>的关联规则的置信度，也将必不满足置信度阈值要求，因此，在关联规则提取过程中，可以将这些候选关联规则剪枝；</a:t>
                </a:r>
                <a:endParaRPr lang="en-US" altLang="zh-CN" dirty="0"/>
              </a:p>
              <a:p>
                <a:pPr defTabSz="796077">
                  <a:defRPr/>
                </a:pPr>
                <a:endParaRPr lang="en-US" altLang="zh-CN" dirty="0"/>
              </a:p>
              <a:p>
                <a:pPr defTabSz="796077">
                  <a:defRPr/>
                </a:pPr>
                <a:r>
                  <a:rPr lang="zh-CN" altLang="en-US" dirty="0"/>
                  <a:t>这个定理就是，如果规则</a:t>
                </a:r>
                <a:r>
                  <a:rPr lang="en-US" altLang="zh-CN" dirty="0"/>
                  <a:t>x-&gt;(z-y)</a:t>
                </a:r>
                <a:r>
                  <a:rPr lang="zh-CN" altLang="en-US" dirty="0"/>
                  <a:t> 不满足置信度阈值，</a:t>
                </a:r>
                <a:r>
                  <a:rPr lang="zh-CN" altLang="zh-CN" sz="17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CN" sz="1700" i="1">
                            <a:solidFill>
                              <a:srgbClr val="C0000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1700" i="1">
                            <a:solidFill>
                              <a:srgbClr val="C0000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7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700" i="1">
                        <a:solidFill>
                          <a:srgbClr val="C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𝑋</m:t>
                    </m:r>
                    <m:r>
                      <a:rPr lang="en-US" altLang="zh-CN" sz="1700" i="1">
                        <a:solidFill>
                          <a:srgbClr val="C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17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的子集</a:t>
                </a:r>
                <a:r>
                  <a:rPr lang="zh-CN" altLang="zh-CN" sz="17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，则形如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7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00" i="1">
                                <a:solidFill>
                                  <a:srgbClr val="C0000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700" i="1">
                                <a:solidFill>
                                  <a:srgbClr val="C0000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1700" i="1">
                        <a:solidFill>
                          <a:srgbClr val="C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700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𝑍</m:t>
                        </m:r>
                        <m:r>
                          <a:rPr lang="en-US" altLang="zh-CN" sz="1700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7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00" i="1">
                                <a:solidFill>
                                  <a:srgbClr val="C0000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700" i="1">
                                <a:solidFill>
                                  <a:srgbClr val="C0000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7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</a:t>
                </a:r>
                <a:r>
                  <a:rPr lang="zh-CN" altLang="zh-CN" sz="17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</a:t>
                </a:r>
                <a:r>
                  <a:rPr lang="zh-CN" altLang="en-US" sz="17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关联</a:t>
                </a:r>
                <a:r>
                  <a:rPr lang="zh-CN" altLang="zh-CN" sz="17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规则一定也不满足置信度阈值</a:t>
                </a:r>
                <a:r>
                  <a:rPr lang="zh-CN" altLang="en-US" sz="17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要求。</a:t>
                </a:r>
                <a:endParaRPr lang="en-US" altLang="zh-CN" sz="1700" dirty="0">
                  <a:solidFill>
                    <a:srgbClr val="C00000"/>
                  </a:solidFill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defTabSz="796077">
                  <a:defRPr/>
                </a:pPr>
                <a:endParaRPr lang="en-US" altLang="zh-CN" dirty="0"/>
              </a:p>
              <a:p>
                <a:pPr defTabSz="796077">
                  <a:defRPr/>
                </a:pPr>
                <a:r>
                  <a:rPr lang="zh-CN" altLang="en-US" dirty="0"/>
                  <a:t>这个定理呢，可以简单证明，</a:t>
                </a:r>
                <a:endParaRPr lang="en-US" altLang="zh-CN" dirty="0"/>
              </a:p>
              <a:p>
                <a:pPr marL="1183058" lvl="1" indent="-785020">
                  <a:lnSpc>
                    <a:spcPct val="110000"/>
                  </a:lnSpc>
                </a:pPr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考虑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700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𝑍</m:t>
                        </m:r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1700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𝑍</m:t>
                        </m:r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这样两个规则（这里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1700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∈</m:t>
                    </m:r>
                    <m:r>
                      <a:rPr lang="en-US" altLang="zh-CN" sz="1700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）。</a:t>
                </a:r>
                <a:endParaRPr lang="en-US" altLang="zh-CN" sz="1700" dirty="0">
                  <a:solidFill>
                    <a:srgbClr val="002060"/>
                  </a:solidFill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marL="1183058" lvl="1" indent="-785020">
                  <a:lnSpc>
                    <a:spcPct val="110000"/>
                  </a:lnSpc>
                </a:pPr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这两个规则的置信度分别为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1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zh-CN" altLang="en-US" sz="21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𝑍</m:t>
                            </m:r>
                          </m:e>
                        </m:d>
                      </m:num>
                      <m:den>
                        <m:r>
                          <a:rPr lang="zh-CN" altLang="en-US" sz="21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1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1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zh-CN" altLang="en-US" sz="21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𝑍</m:t>
                            </m:r>
                          </m:e>
                        </m:d>
                      </m:num>
                      <m:den>
                        <m:r>
                          <a:rPr lang="zh-CN" altLang="en-US" sz="21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1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华文细黑" pitchFamily="2" charset="-122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100" i="1">
                                    <a:solidFill>
                                      <a:srgbClr val="002060"/>
                                    </a:solidFill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zh-CN" altLang="en-US" sz="2100" i="1">
                                    <a:solidFill>
                                      <a:srgbClr val="002060"/>
                                    </a:solidFill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</a:rPr>
                                  <m:t>‘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zh-CN" altLang="en-US" sz="21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</a:t>
                </a:r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。</a:t>
                </a:r>
                <a:endParaRPr lang="en-US" altLang="zh-CN" sz="1700" dirty="0">
                  <a:solidFill>
                    <a:srgbClr val="002060"/>
                  </a:solidFill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marL="1183058" lvl="1" indent="-785020">
                  <a:lnSpc>
                    <a:spcPct val="110000"/>
                  </a:lnSpc>
                </a:pPr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700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𝑋</m:t>
                    </m:r>
                    <m:r>
                      <a:rPr lang="en-US" altLang="zh-CN" sz="1700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的子集，所以</a:t>
                </a:r>
                <a14:m>
                  <m:oMath xmlns:m="http://schemas.openxmlformats.org/officeDocument/2006/math">
                    <m:r>
                      <a:rPr lang="zh-CN" altLang="en-US" sz="1700" i="1">
                        <a:solidFill>
                          <a:srgbClr val="002060"/>
                        </a:solidFill>
                        <a:latin typeface="Cambria Math"/>
                        <a:ea typeface="华文细黑" pitchFamily="2" charset="-122"/>
                        <a:cs typeface="Times New Roman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zh-CN" altLang="en-US" sz="1700" i="1">
                        <a:solidFill>
                          <a:srgbClr val="002060"/>
                        </a:solidFill>
                        <a:latin typeface="Cambria Math"/>
                        <a:ea typeface="华文细黑" pitchFamily="2" charset="-122"/>
                        <a:cs typeface="Times New Roman" pitchFamily="18" charset="0"/>
                      </a:rPr>
                      <m:t>≥</m:t>
                    </m:r>
                    <m:r>
                      <a:rPr lang="zh-CN" altLang="en-US" sz="1700" i="1">
                        <a:solidFill>
                          <a:srgbClr val="002060"/>
                        </a:solidFill>
                        <a:latin typeface="Cambria Math"/>
                        <a:ea typeface="华文细黑" pitchFamily="2" charset="-122"/>
                        <a:cs typeface="Times New Roman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，有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1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zh-CN" altLang="en-US" sz="21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𝑍</m:t>
                            </m:r>
                          </m:e>
                        </m:d>
                      </m:num>
                      <m:den>
                        <m:r>
                          <a:rPr lang="zh-CN" altLang="en-US" sz="21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</m:d>
                      </m:den>
                    </m:f>
                    <m:r>
                      <a:rPr lang="en-US" altLang="zh-CN" sz="2100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≥</m:t>
                    </m:r>
                    <m:f>
                      <m:fPr>
                        <m:ctrlPr>
                          <a:rPr lang="en-US" altLang="zh-CN" sz="21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zh-CN" altLang="en-US" sz="21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𝑍</m:t>
                            </m:r>
                          </m:e>
                        </m:d>
                      </m:num>
                      <m:den>
                        <m:r>
                          <a:rPr lang="zh-CN" altLang="en-US" sz="21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1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1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华文细黑" pitchFamily="2" charset="-122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100" i="1">
                                    <a:solidFill>
                                      <a:srgbClr val="002060"/>
                                    </a:solidFill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2100" i="1">
                                    <a:solidFill>
                                      <a:srgbClr val="002060"/>
                                    </a:solidFill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。</a:t>
                </a:r>
                <a:endParaRPr lang="en-US" altLang="zh-CN" sz="1700" dirty="0">
                  <a:solidFill>
                    <a:srgbClr val="002060"/>
                  </a:solidFill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marL="1183058" lvl="1" indent="-785020">
                  <a:lnSpc>
                    <a:spcPct val="110000"/>
                  </a:lnSpc>
                </a:pPr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因此，规则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700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𝑍</m:t>
                        </m:r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sz="17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的置信度不可能大于规则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1700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𝑍</m:t>
                        </m:r>
                        <m:r>
                          <a:rPr lang="en-US" altLang="zh-CN" sz="1700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7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的置信度。</a:t>
                </a:r>
                <a:endParaRPr lang="en-US" altLang="zh-CN" dirty="0"/>
              </a:p>
              <a:p>
                <a:pPr marL="785020" indent="-785020">
                  <a:lnSpc>
                    <a:spcPct val="110000"/>
                  </a:lnSpc>
                </a:pPr>
                <a:r>
                  <a:rPr lang="en-US" altLang="zh-CN" dirty="0"/>
                  <a:t>---end---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 smtClean="0"/>
                  <a:t>非常幸运，关联规则的置信度也遵循先验规则，也就是说，在关联规则格结构中，如果如图所示中的</a:t>
                </a:r>
                <a:r>
                  <a:rPr lang="en-US" altLang="zh-CN" dirty="0" err="1" smtClean="0"/>
                  <a:t>bcd</a:t>
                </a:r>
                <a:r>
                  <a:rPr lang="en-US" altLang="zh-CN" dirty="0" smtClean="0"/>
                  <a:t>-&gt;a</a:t>
                </a:r>
                <a:r>
                  <a:rPr lang="zh-CN" altLang="en-US" dirty="0" smtClean="0"/>
                  <a:t>的置信度较低，不满足置信度阈值要求，那么在红色虚线框中的关联规则的置信度，也会低于</a:t>
                </a:r>
                <a:r>
                  <a:rPr lang="en-US" altLang="zh-CN" dirty="0" err="1" smtClean="0"/>
                  <a:t>bcd</a:t>
                </a:r>
                <a:r>
                  <a:rPr lang="en-US" altLang="zh-CN" dirty="0" smtClean="0"/>
                  <a:t>-&gt;a</a:t>
                </a:r>
                <a:r>
                  <a:rPr lang="zh-CN" altLang="en-US" dirty="0" smtClean="0"/>
                  <a:t>的关联规则的置信度，也将必不满足置信度阈值要求，因此，在关联规则提取过程中，可以将这些候选关联规则剪枝；</a:t>
                </a: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 smtClean="0"/>
                  <a:t>这个定理就是，如果规则</a:t>
                </a:r>
                <a:r>
                  <a:rPr lang="en-US" altLang="zh-CN" dirty="0" smtClean="0"/>
                  <a:t>x-&gt;(z-y)</a:t>
                </a:r>
                <a:r>
                  <a:rPr lang="zh-CN" altLang="en-US" dirty="0" smtClean="0"/>
                  <a:t> 不满足置信度阈值，</a:t>
                </a:r>
                <a:r>
                  <a:rPr lang="zh-CN" altLang="zh-CN" sz="2000" dirty="0" smtClean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而</a:t>
                </a:r>
                <a:r>
                  <a:rPr lang="en-US" altLang="zh-CN" sz="2000" i="0">
                    <a:solidFill>
                      <a:srgbClr val="C0000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𝑋^′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是</a:t>
                </a:r>
                <a:r>
                  <a:rPr lang="en-US" altLang="zh-CN" sz="2000" i="0">
                    <a:solidFill>
                      <a:srgbClr val="C0000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𝑋 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的子集</a:t>
                </a:r>
                <a:r>
                  <a:rPr lang="zh-CN" altLang="zh-CN" sz="2000" dirty="0" smtClean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，</a:t>
                </a:r>
                <a:r>
                  <a:rPr lang="zh-CN" altLang="zh-CN" sz="20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则形如</a:t>
                </a:r>
                <a:r>
                  <a:rPr lang="en-US" altLang="zh-CN" sz="2000" i="0">
                    <a:solidFill>
                      <a:srgbClr val="C0000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{𝑋^′ }</a:t>
                </a:r>
                <a:r>
                  <a:rPr lang="en-US" altLang="zh-CN" sz="2000" i="0">
                    <a:solidFill>
                      <a:srgbClr val="C0000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→{</a:t>
                </a:r>
                <a:r>
                  <a:rPr lang="en-US" altLang="zh-CN" sz="2000" b="0" i="0" smtClean="0">
                    <a:solidFill>
                      <a:srgbClr val="C0000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𝑍</a:t>
                </a:r>
                <a:r>
                  <a:rPr lang="en-US" altLang="zh-CN" sz="2000" i="0">
                    <a:solidFill>
                      <a:srgbClr val="C0000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−</a:t>
                </a:r>
                <a:r>
                  <a:rPr lang="en-US" altLang="zh-CN" sz="2000" i="0">
                    <a:solidFill>
                      <a:srgbClr val="C0000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𝑋^′ }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</a:t>
                </a:r>
                <a:r>
                  <a:rPr lang="zh-CN" altLang="zh-CN" sz="2000" dirty="0" smtClean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</a:t>
                </a:r>
                <a:r>
                  <a:rPr lang="zh-CN" altLang="en-US" sz="2000" dirty="0" smtClean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关联</a:t>
                </a:r>
                <a:r>
                  <a:rPr lang="zh-CN" altLang="zh-CN" sz="2000" dirty="0" smtClean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规则</a:t>
                </a:r>
                <a:r>
                  <a:rPr lang="zh-CN" altLang="zh-CN" sz="20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一定也不满足置信度</a:t>
                </a:r>
                <a:r>
                  <a:rPr lang="zh-CN" altLang="zh-CN" sz="2000" dirty="0" smtClean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阈值</a:t>
                </a:r>
                <a:r>
                  <a:rPr lang="zh-CN" altLang="en-US" sz="2000" dirty="0" smtClean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要求。</a:t>
                </a:r>
                <a:endParaRPr lang="en-US" altLang="zh-CN" sz="2000" dirty="0" smtClean="0">
                  <a:solidFill>
                    <a:srgbClr val="C00000"/>
                  </a:solidFill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 smtClean="0"/>
                  <a:t>这个定理呢，可以简单证明，</a:t>
                </a:r>
                <a:endParaRPr lang="en-US" altLang="zh-CN" dirty="0" smtClean="0"/>
              </a:p>
              <a:p>
                <a:pPr marL="1358900" lvl="1" indent="-901700">
                  <a:lnSpc>
                    <a:spcPct val="110000"/>
                  </a:lnSpc>
                </a:pP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考虑 </a:t>
                </a:r>
                <a:r>
                  <a:rPr lang="en-US" altLang="zh-CN" sz="200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{</a:t>
                </a:r>
                <a:r>
                  <a:rPr lang="en-US" altLang="zh-CN" sz="2000" b="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𝑋}</a:t>
                </a:r>
                <a:r>
                  <a:rPr lang="en-US" altLang="zh-CN" sz="2000" i="0" smtClean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→{</a:t>
                </a:r>
                <a:r>
                  <a:rPr lang="en-US" altLang="zh-CN" sz="2000" b="0" i="0" smtClean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𝑍−𝑋}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和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{𝑋^′ }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→{</a:t>
                </a:r>
                <a:r>
                  <a:rPr lang="en-US" altLang="zh-CN" sz="2000" b="0" i="0" smtClean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𝑍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−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𝑋^′ }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这样两个规则（这里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𝑋^′</a:t>
                </a:r>
                <a:r>
                  <a:rPr lang="en-US" altLang="zh-CN" sz="2000" i="0" smtClean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∈</a:t>
                </a:r>
                <a:r>
                  <a:rPr lang="en-US" altLang="zh-CN" sz="2000" b="0" i="0" smtClean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𝑋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）。</a:t>
                </a:r>
                <a:endParaRPr lang="en-US" altLang="zh-CN" sz="2000" dirty="0" smtClean="0">
                  <a:solidFill>
                    <a:srgbClr val="002060"/>
                  </a:solidFill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marL="1358900" lvl="1" indent="-901700">
                  <a:lnSpc>
                    <a:spcPct val="110000"/>
                  </a:lnSpc>
                </a:pP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这</a:t>
                </a:r>
                <a:r>
                  <a:rPr lang="zh-CN" altLang="en-US" sz="20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两个规则的置信度分别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为</a:t>
                </a:r>
                <a:r>
                  <a:rPr lang="zh-CN" altLang="en-US" sz="240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𝜎</a:t>
                </a:r>
                <a:r>
                  <a:rPr lang="en-US" altLang="zh-CN" sz="240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(</a:t>
                </a:r>
                <a:r>
                  <a:rPr lang="en-US" altLang="zh-CN" sz="2400" b="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𝑍)/</a:t>
                </a:r>
                <a:r>
                  <a:rPr lang="zh-CN" altLang="en-US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𝜎</a:t>
                </a:r>
                <a:r>
                  <a:rPr lang="en-US" altLang="zh-CN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(</a:t>
                </a:r>
                <a:r>
                  <a:rPr lang="en-US" altLang="zh-CN" sz="2400" b="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𝑋) </a:t>
                </a:r>
                <a:r>
                  <a:rPr lang="zh-CN" altLang="en-US" sz="24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和</a:t>
                </a:r>
                <a:r>
                  <a:rPr lang="zh-CN" altLang="en-US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𝜎</a:t>
                </a:r>
                <a:r>
                  <a:rPr lang="en-US" altLang="zh-CN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(</a:t>
                </a:r>
                <a:r>
                  <a:rPr lang="en-US" altLang="zh-CN" sz="2400" b="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𝑍)</a:t>
                </a:r>
                <a:r>
                  <a:rPr lang="en-US" altLang="zh-CN" sz="2400" b="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/</a:t>
                </a:r>
                <a:r>
                  <a:rPr lang="zh-CN" altLang="en-US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𝜎</a:t>
                </a:r>
                <a:r>
                  <a:rPr lang="en-US" altLang="zh-CN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(𝑋^</a:t>
                </a:r>
                <a:r>
                  <a:rPr lang="zh-CN" altLang="en-US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‘ )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。</a:t>
                </a:r>
                <a:endParaRPr lang="en-US" altLang="zh-CN" sz="2000" dirty="0" smtClean="0">
                  <a:solidFill>
                    <a:srgbClr val="002060"/>
                  </a:solidFill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marL="1358900" lvl="1" indent="-901700">
                  <a:lnSpc>
                    <a:spcPct val="110000"/>
                  </a:lnSpc>
                </a:pP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因为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𝑋^′</a:t>
                </a:r>
                <a:r>
                  <a:rPr lang="zh-CN" altLang="en-US" sz="20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是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𝑋 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</a:t>
                </a:r>
                <a:r>
                  <a:rPr lang="zh-CN" altLang="en-US" sz="20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子集，所以</a:t>
                </a:r>
                <a:r>
                  <a:rPr lang="zh-CN" altLang="en-US" sz="20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𝜎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(𝑋^</a:t>
                </a:r>
                <a:r>
                  <a:rPr lang="en-US" altLang="zh-CN" sz="2000" b="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′ )</a:t>
                </a:r>
                <a:r>
                  <a:rPr lang="zh-CN" altLang="en-US" sz="200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≥</a:t>
                </a:r>
                <a:r>
                  <a:rPr lang="zh-CN" altLang="en-US" sz="20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𝜎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(</a:t>
                </a:r>
                <a:r>
                  <a:rPr lang="en-US" altLang="zh-CN" sz="2000" b="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𝑋)</a:t>
                </a:r>
                <a:r>
                  <a:rPr lang="zh-CN" altLang="en-US" sz="20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，有</a:t>
                </a:r>
                <a:r>
                  <a:rPr lang="zh-CN" altLang="en-US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𝜎</a:t>
                </a:r>
                <a:r>
                  <a:rPr lang="en-US" altLang="zh-CN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(</a:t>
                </a:r>
                <a:r>
                  <a:rPr lang="en-US" altLang="zh-CN" sz="2400" b="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𝑍)</a:t>
                </a:r>
                <a:r>
                  <a:rPr lang="en-US" altLang="zh-CN" sz="2400" b="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/</a:t>
                </a:r>
                <a:r>
                  <a:rPr lang="zh-CN" altLang="en-US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𝜎</a:t>
                </a:r>
                <a:r>
                  <a:rPr lang="en-US" altLang="zh-CN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(𝑋) </a:t>
                </a:r>
                <a:r>
                  <a:rPr lang="en-US" altLang="zh-CN" sz="2400" i="0" smtClean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≥</a:t>
                </a:r>
                <a:r>
                  <a:rPr lang="zh-CN" altLang="en-US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𝜎</a:t>
                </a:r>
                <a:r>
                  <a:rPr lang="en-US" altLang="zh-CN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(</a:t>
                </a:r>
                <a:r>
                  <a:rPr lang="en-US" altLang="zh-CN" sz="2400" b="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𝑍)</a:t>
                </a:r>
                <a:r>
                  <a:rPr lang="en-US" altLang="zh-CN" sz="2400" b="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/</a:t>
                </a:r>
                <a:r>
                  <a:rPr lang="zh-CN" altLang="en-US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𝜎</a:t>
                </a:r>
                <a:r>
                  <a:rPr lang="en-US" altLang="zh-CN" sz="24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(𝑋^</a:t>
                </a:r>
                <a:r>
                  <a:rPr lang="en-US" altLang="zh-CN" sz="2400" b="0" i="0" smtClean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′ ) 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。</a:t>
                </a:r>
                <a:endParaRPr lang="en-US" altLang="zh-CN" sz="2000" dirty="0" smtClean="0">
                  <a:solidFill>
                    <a:srgbClr val="002060"/>
                  </a:solidFill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marL="1358900" lvl="1" indent="-901700">
                  <a:lnSpc>
                    <a:spcPct val="110000"/>
                  </a:lnSpc>
                </a:pP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因此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，规则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{𝑋}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→{𝑍</a:t>
                </a:r>
                <a:r>
                  <a:rPr lang="en-US" altLang="zh-CN" sz="2000" b="0" i="0" smtClean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−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𝑋}</a:t>
                </a:r>
                <a:r>
                  <a:rPr lang="zh-CN" altLang="en-US" sz="20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的置信度不可能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大于规则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{𝑋^′ }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→{𝑍−</a:t>
                </a:r>
                <a:r>
                  <a:rPr lang="en-US" altLang="zh-CN" sz="2000" i="0">
                    <a:solidFill>
                      <a:srgbClr val="002060"/>
                    </a:solidFill>
                    <a:latin typeface="Cambria Math"/>
                    <a:ea typeface="华文细黑" pitchFamily="2" charset="-122"/>
                    <a:cs typeface="Times New Roman" pitchFamily="18" charset="0"/>
                  </a:rPr>
                  <a:t>𝑋^′ }</a:t>
                </a:r>
                <a:r>
                  <a:rPr lang="zh-CN" altLang="en-US" dirty="0" smtClean="0"/>
                  <a:t>的置信度。</a:t>
                </a:r>
                <a:endParaRPr lang="en-US" altLang="zh-CN" dirty="0" smtClean="0"/>
              </a:p>
              <a:p>
                <a:pPr marL="901700" lvl="0" indent="-901700">
                  <a:lnSpc>
                    <a:spcPct val="110000"/>
                  </a:lnSpc>
                </a:pPr>
                <a:r>
                  <a:rPr lang="en-US" altLang="zh-CN" dirty="0" smtClean="0"/>
                  <a:t>---end---</a:t>
                </a:r>
                <a:endParaRPr lang="zh-CN" altLang="en-US" dirty="0" smtClean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85870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如果我们换一种表达方式，那就是，</a:t>
                </a:r>
                <a:endParaRPr lang="en-US" altLang="zh-CN" dirty="0"/>
              </a:p>
              <a:p>
                <a:pPr defTabSz="796077">
                  <a:defRPr/>
                </a:pPr>
                <a:r>
                  <a:rPr lang="zh-CN" altLang="en-US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如果规则 </a:t>
                </a:r>
                <a:r>
                  <a:rPr lang="en-US" altLang="zh-CN" sz="1700" i="1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 </a:t>
                </a:r>
                <a:r>
                  <a:rPr lang="en-US" altLang="zh-CN" sz="1700" i="1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zh-CN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zh-CN" altLang="en-US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不满足置信度阈值，则形如  </a:t>
                </a:r>
                <a:r>
                  <a:rPr lang="en-US" altLang="zh-CN" sz="1700" i="1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-</a:t>
                </a:r>
                <a:r>
                  <a:rPr lang="en-US" altLang="zh-CN" sz="1700" i="1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/>
                  </a:rPr>
                  <a:t></a:t>
                </a:r>
                <a:r>
                  <a:rPr lang="en-US" altLang="zh-CN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</a:t>
                </a:r>
                <a:r>
                  <a:rPr lang="en-US" altLang="zh-CN" sz="1700" i="1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zh-CN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+</a:t>
                </a:r>
                <a:r>
                  <a:rPr lang="en-US" altLang="zh-CN" sz="1700" i="1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/>
                  </a:rPr>
                  <a:t></a:t>
                </a:r>
                <a:r>
                  <a:rPr lang="en-US" altLang="zh-CN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/>
                  </a:rPr>
                  <a:t> </a:t>
                </a:r>
                <a:r>
                  <a:rPr lang="zh-CN" altLang="en-US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的规则一定也不满足置信度阈值，其中 </a:t>
                </a:r>
                <a:r>
                  <a:rPr lang="en-US" altLang="zh-CN" sz="1700" i="1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/>
                  </a:rPr>
                  <a:t></a:t>
                </a:r>
                <a:r>
                  <a:rPr lang="en-US" altLang="zh-CN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/>
                  </a:rPr>
                  <a:t> </a:t>
                </a:r>
                <a:r>
                  <a:rPr lang="zh-CN" altLang="en-US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是 </a:t>
                </a:r>
                <a:r>
                  <a:rPr lang="en-US" altLang="zh-CN" sz="1700" i="1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zh-CN" altLang="en-US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的子集。</a:t>
                </a:r>
              </a:p>
              <a:p>
                <a:r>
                  <a:rPr lang="zh-CN" altLang="en-US" dirty="0"/>
                  <a:t>也就是说，</a:t>
                </a:r>
                <a:r>
                  <a:rPr lang="zh-CN" altLang="en-US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如果规则 </a:t>
                </a:r>
                <a:r>
                  <a:rPr lang="en-US" altLang="zh-CN" sz="1700" i="1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 </a:t>
                </a:r>
                <a:r>
                  <a:rPr lang="en-US" altLang="zh-CN" sz="1700" i="1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zh-CN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zh-CN" altLang="en-US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不满足置信度阈值，那么，如果把前件</a:t>
                </a:r>
                <a:r>
                  <a:rPr lang="en-US" altLang="zh-CN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zh-CN" altLang="en-US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项集中的一部分，搬到后件中，这样所构成的关联规则的置信度也一定不满足置信度阈值。</a:t>
                </a:r>
                <a:endParaRPr lang="en-US" altLang="zh-CN" sz="1700" dirty="0">
                  <a:solidFill>
                    <a:schemeClr val="accent6">
                      <a:lumMod val="50000"/>
                    </a:schemeClr>
                  </a:solidFill>
                  <a:cs typeface="Times New Roman" pitchFamily="18" charset="0"/>
                  <a:sym typeface="Symbol" pitchFamily="18" charset="2"/>
                </a:endParaRPr>
              </a:p>
              <a:p>
                <a:endParaRPr lang="en-US" altLang="zh-CN" sz="1700" dirty="0">
                  <a:solidFill>
                    <a:schemeClr val="accent6">
                      <a:lumMod val="50000"/>
                    </a:schemeClr>
                  </a:solidFill>
                  <a:cs typeface="Times New Roman" pitchFamily="18" charset="0"/>
                  <a:sym typeface="Symbol" pitchFamily="18" charset="2"/>
                </a:endParaRPr>
              </a:p>
              <a:p>
                <a:pPr defTabSz="796077">
                  <a:defRPr/>
                </a:pPr>
                <a:r>
                  <a:rPr lang="zh-CN" altLang="en-US" sz="17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例如：一定会有</a:t>
                </a:r>
                <a14:m>
                  <m:oMath xmlns:m="http://schemas.openxmlformats.org/officeDocument/2006/math">
                    <m:r>
                      <a:rPr lang="en-US" altLang="zh-CN" sz="17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cs typeface="Times New Roman" pitchFamily="18" charset="0"/>
                        <a:sym typeface="Symbol" pitchFamily="18" charset="2"/>
                      </a:rPr>
                      <m:t>𝑐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({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A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B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C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}</m:t>
                    </m:r>
                    <m:r>
                      <a:rPr lang="en-US" altLang="zh-CN" sz="17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cs typeface="Times New Roman" pitchFamily="18" charset="0"/>
                        <a:sym typeface="Wingdings 3"/>
                      </a:rPr>
                      <m:t>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{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D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}) </m:t>
                    </m:r>
                    <m:r>
                      <m:rPr>
                        <m:nor/>
                      </m:rPr>
                      <a:rPr lang="en-US" altLang="zh-CN" sz="1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cs typeface="Times New Roman" pitchFamily="18" charset="0"/>
                        <a:sym typeface="Symbol" pitchFamily="18" charset="2"/>
                      </a:rPr>
                      <m:t>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a:rPr lang="en-US" altLang="zh-CN" sz="17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cs typeface="Times New Roman" pitchFamily="18" charset="0"/>
                        <a:sym typeface="Symbol" pitchFamily="18" charset="2"/>
                      </a:rPr>
                      <m:t>𝑐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({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A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B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}</m:t>
                    </m:r>
                    <m:r>
                      <a:rPr lang="en-US" altLang="zh-CN" sz="17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cs typeface="Times New Roman" pitchFamily="18" charset="0"/>
                        <a:sym typeface="Wingdings 3"/>
                      </a:rPr>
                      <m:t>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{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C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D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})  </m:t>
                    </m:r>
                    <m:r>
                      <a:rPr lang="en-US" altLang="zh-CN" sz="17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cs typeface="Times New Roman" pitchFamily="18" charset="0"/>
                        <a:sym typeface="Symbol" pitchFamily="18" charset="2"/>
                      </a:rPr>
                      <m:t>𝑐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({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A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}</m:t>
                    </m:r>
                    <m:r>
                      <a:rPr lang="en-US" altLang="zh-CN" sz="17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cs typeface="Times New Roman" pitchFamily="18" charset="0"/>
                        <a:sym typeface="Wingdings 3"/>
                      </a:rPr>
                      <m:t>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{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B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C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D</m:t>
                    </m:r>
                    <m:r>
                      <m:rPr>
                        <m:nor/>
                      </m:rPr>
                      <a:rPr lang="en-US" altLang="zh-CN" sz="17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})</m:t>
                    </m:r>
                  </m:oMath>
                </a14:m>
                <a:endParaRPr lang="zh-CN" altLang="en-US" sz="1700" dirty="0">
                  <a:solidFill>
                    <a:schemeClr val="accent6">
                      <a:lumMod val="50000"/>
                    </a:schemeClr>
                  </a:solidFill>
                  <a:cs typeface="Times New Roman" pitchFamily="18" charset="0"/>
                </a:endParaRPr>
              </a:p>
              <a:p>
                <a:r>
                  <a:rPr lang="zh-CN" altLang="en-US" dirty="0"/>
                  <a:t>这里是它的推导过程。</a:t>
                </a:r>
                <a:endParaRPr lang="en-US" altLang="zh-CN" dirty="0"/>
              </a:p>
              <a:p>
                <a:r>
                  <a:rPr lang="en-US" altLang="zh-CN" dirty="0"/>
                  <a:t>---end---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如果我们换一种表达方式，那就是，</a:t>
                </a:r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如果规则 </a:t>
                </a:r>
                <a:r>
                  <a:rPr lang="en-US" altLang="zh-CN" sz="2000" i="1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 </a:t>
                </a:r>
                <a:r>
                  <a:rPr lang="en-US" altLang="zh-CN" sz="2000" i="1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zh-CN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zh-CN" altLang="en-US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不满足置信度阈值，则形如  </a:t>
                </a:r>
                <a:r>
                  <a:rPr lang="en-US" altLang="zh-CN" sz="2000" i="1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-</a:t>
                </a:r>
                <a:r>
                  <a:rPr lang="en-US" altLang="zh-CN" sz="2000" i="1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/>
                  </a:rPr>
                  <a:t></a:t>
                </a:r>
                <a:r>
                  <a:rPr lang="en-US" altLang="zh-CN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</a:t>
                </a:r>
                <a:r>
                  <a:rPr lang="en-US" altLang="zh-CN" sz="2000" i="1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zh-CN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+</a:t>
                </a:r>
                <a:r>
                  <a:rPr lang="en-US" altLang="zh-CN" sz="2000" i="1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/>
                  </a:rPr>
                  <a:t></a:t>
                </a:r>
                <a:r>
                  <a:rPr lang="en-US" altLang="zh-CN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/>
                  </a:rPr>
                  <a:t> </a:t>
                </a:r>
                <a:r>
                  <a:rPr lang="zh-CN" altLang="en-US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的规则一定也不满足置信度阈值，其中 </a:t>
                </a:r>
                <a:r>
                  <a:rPr lang="en-US" altLang="zh-CN" sz="2000" i="1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/>
                  </a:rPr>
                  <a:t></a:t>
                </a:r>
                <a:r>
                  <a:rPr lang="en-US" altLang="zh-CN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/>
                  </a:rPr>
                  <a:t> </a:t>
                </a:r>
                <a:r>
                  <a:rPr lang="zh-CN" altLang="en-US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是 </a:t>
                </a:r>
                <a:r>
                  <a:rPr lang="en-US" altLang="zh-CN" sz="2000" i="1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zh-CN" altLang="en-US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的子集。</a:t>
                </a:r>
              </a:p>
              <a:p>
                <a:r>
                  <a:rPr lang="zh-CN" altLang="en-US" dirty="0" smtClean="0"/>
                  <a:t>也就是说，</a:t>
                </a:r>
                <a:r>
                  <a:rPr lang="zh-CN" altLang="en-US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如果规则 </a:t>
                </a:r>
                <a:r>
                  <a:rPr lang="en-US" altLang="zh-CN" sz="2000" i="1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 </a:t>
                </a:r>
                <a:r>
                  <a:rPr lang="en-US" altLang="zh-CN" sz="2000" i="1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zh-CN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zh-CN" altLang="en-US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不满足置信度阈值，那么，如果把前件</a:t>
                </a:r>
                <a:r>
                  <a:rPr lang="en-US" altLang="zh-CN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zh-CN" altLang="en-US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项集中的一部分，搬到后件中，这样所构成的关联规则的置信度也一定不满足置信度阈值。</a:t>
                </a:r>
                <a:endParaRPr lang="en-US" altLang="zh-CN" sz="2000" dirty="0" smtClean="0">
                  <a:solidFill>
                    <a:schemeClr val="accent6">
                      <a:lumMod val="50000"/>
                    </a:schemeClr>
                  </a:solidFill>
                  <a:cs typeface="Times New Roman" pitchFamily="18" charset="0"/>
                  <a:sym typeface="Symbol" pitchFamily="18" charset="2"/>
                </a:endParaRPr>
              </a:p>
              <a:p>
                <a:endParaRPr lang="en-US" altLang="zh-CN" sz="2000" dirty="0" smtClean="0">
                  <a:solidFill>
                    <a:schemeClr val="accent6">
                      <a:lumMod val="50000"/>
                    </a:schemeClr>
                  </a:solidFill>
                  <a:cs typeface="Times New Roman" pitchFamily="18" charset="0"/>
                  <a:sym typeface="Symbol" pitchFamily="18" charset="2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 smtClean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例如：一定会有</a:t>
                </a:r>
                <a:r>
                  <a:rPr lang="en-US" altLang="zh-CN" sz="2000" i="0" dirty="0" smtClean="0">
                    <a:solidFill>
                      <a:schemeClr val="accent6">
                        <a:lumMod val="50000"/>
                      </a:schemeClr>
                    </a:solidFill>
                    <a:latin typeface="Cambria Math"/>
                    <a:cs typeface="Times New Roman" pitchFamily="18" charset="0"/>
                    <a:sym typeface="Symbol" pitchFamily="18" charset="2"/>
                  </a:rPr>
                  <a:t>𝑐</a:t>
                </a:r>
                <a:r>
                  <a:rPr lang="en-US" altLang="zh-CN" sz="2000" i="0" dirty="0">
                    <a:solidFill>
                      <a:schemeClr val="accent6">
                        <a:lumMod val="50000"/>
                      </a:schemeClr>
                    </a:solidFill>
                    <a:latin typeface="Cambria Math"/>
                    <a:cs typeface="Times New Roman" pitchFamily="18" charset="0"/>
                    <a:sym typeface="Symbol" pitchFamily="18" charset="2"/>
                  </a:rPr>
                  <a:t>"</a:t>
                </a:r>
                <a:r>
                  <a:rPr lang="en-US" altLang="zh-CN" sz="2000" i="0" dirty="0">
                    <a:solidFill>
                      <a:schemeClr val="accent6">
                        <a:lumMod val="50000"/>
                      </a:schemeClr>
                    </a:solidFill>
                    <a:latin typeface="Cambria Math"/>
                    <a:cs typeface="Times New Roman" pitchFamily="18" charset="0"/>
                    <a:sym typeface="Symbol" pitchFamily="18" charset="2"/>
                  </a:rPr>
                  <a:t>({A B C}</a:t>
                </a:r>
                <a:r>
                  <a:rPr lang="en-US" altLang="zh-CN" sz="2000" i="0" dirty="0">
                    <a:solidFill>
                      <a:schemeClr val="accent6">
                        <a:lumMod val="50000"/>
                      </a:schemeClr>
                    </a:solidFill>
                    <a:latin typeface="Cambria Math"/>
                    <a:cs typeface="Times New Roman" pitchFamily="18" charset="0"/>
                    <a:sym typeface="Wingdings 3"/>
                  </a:rPr>
                  <a:t>" </a:t>
                </a:r>
                <a:r>
                  <a:rPr lang="en-US" altLang="zh-CN" sz="2000" i="0" dirty="0">
                    <a:solidFill>
                      <a:schemeClr val="accent6">
                        <a:lumMod val="50000"/>
                      </a:schemeClr>
                    </a:solidFill>
                    <a:latin typeface="Cambria Math"/>
                    <a:cs typeface="Times New Roman" pitchFamily="18" charset="0"/>
                    <a:sym typeface="Symbol" pitchFamily="18" charset="2"/>
                  </a:rPr>
                  <a:t>"{D}) </a:t>
                </a:r>
                <a:r>
                  <a:rPr lang="en-US" altLang="zh-CN" sz="2000" b="1" i="0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/>
                    <a:cs typeface="Times New Roman" pitchFamily="18" charset="0"/>
                    <a:sym typeface="Symbol" pitchFamily="18" charset="2"/>
                  </a:rPr>
                  <a:t></a:t>
                </a:r>
                <a:r>
                  <a:rPr lang="en-US" altLang="zh-CN" sz="2000" i="0" dirty="0">
                    <a:solidFill>
                      <a:schemeClr val="accent6">
                        <a:lumMod val="50000"/>
                      </a:schemeClr>
                    </a:solidFill>
                    <a:latin typeface="Cambria Math"/>
                    <a:cs typeface="Times New Roman" pitchFamily="18" charset="0"/>
                    <a:sym typeface="Symbol" pitchFamily="18" charset="2"/>
                  </a:rPr>
                  <a:t> " 𝑐"({A B}</a:t>
                </a:r>
                <a:r>
                  <a:rPr lang="en-US" altLang="zh-CN" sz="2000" i="0" dirty="0">
                    <a:solidFill>
                      <a:schemeClr val="accent6">
                        <a:lumMod val="50000"/>
                      </a:schemeClr>
                    </a:solidFill>
                    <a:latin typeface="Cambria Math"/>
                    <a:cs typeface="Times New Roman" pitchFamily="18" charset="0"/>
                    <a:sym typeface="Wingdings 3"/>
                  </a:rPr>
                  <a:t>" </a:t>
                </a:r>
                <a:r>
                  <a:rPr lang="en-US" altLang="zh-CN" sz="2000" i="0" dirty="0">
                    <a:solidFill>
                      <a:schemeClr val="accent6">
                        <a:lumMod val="50000"/>
                      </a:schemeClr>
                    </a:solidFill>
                    <a:latin typeface="Cambria Math"/>
                    <a:cs typeface="Times New Roman" pitchFamily="18" charset="0"/>
                    <a:sym typeface="Symbol" pitchFamily="18" charset="2"/>
                  </a:rPr>
                  <a:t>"{C D})  " 𝑐"({A}</a:t>
                </a:r>
                <a:r>
                  <a:rPr lang="en-US" altLang="zh-CN" sz="2000" i="0" dirty="0" smtClean="0">
                    <a:solidFill>
                      <a:schemeClr val="accent6">
                        <a:lumMod val="50000"/>
                      </a:schemeClr>
                    </a:solidFill>
                    <a:latin typeface="Cambria Math"/>
                    <a:cs typeface="Times New Roman" pitchFamily="18" charset="0"/>
                    <a:sym typeface="Wingdings 3"/>
                  </a:rPr>
                  <a:t>" </a:t>
                </a:r>
                <a:r>
                  <a:rPr lang="en-US" altLang="zh-CN" sz="2000" i="0" dirty="0">
                    <a:solidFill>
                      <a:schemeClr val="accent6">
                        <a:lumMod val="50000"/>
                      </a:schemeClr>
                    </a:solidFill>
                    <a:latin typeface="Cambria Math"/>
                    <a:cs typeface="Times New Roman" pitchFamily="18" charset="0"/>
                    <a:sym typeface="Symbol" pitchFamily="18" charset="2"/>
                  </a:rPr>
                  <a:t>"{</a:t>
                </a:r>
                <a:r>
                  <a:rPr lang="en-US" altLang="zh-CN" sz="2000" i="0" dirty="0" smtClean="0">
                    <a:solidFill>
                      <a:schemeClr val="accent6">
                        <a:lumMod val="50000"/>
                      </a:schemeClr>
                    </a:solidFill>
                    <a:latin typeface="Cambria Math"/>
                    <a:cs typeface="Times New Roman" pitchFamily="18" charset="0"/>
                    <a:sym typeface="Symbol" pitchFamily="18" charset="2"/>
                  </a:rPr>
                  <a:t>B </a:t>
                </a:r>
                <a:r>
                  <a:rPr lang="en-US" altLang="zh-CN" sz="2000" i="0" dirty="0">
                    <a:solidFill>
                      <a:schemeClr val="accent6">
                        <a:lumMod val="50000"/>
                      </a:schemeClr>
                    </a:solidFill>
                    <a:latin typeface="Cambria Math"/>
                    <a:cs typeface="Times New Roman" pitchFamily="18" charset="0"/>
                    <a:sym typeface="Symbol" pitchFamily="18" charset="2"/>
                  </a:rPr>
                  <a:t>C D})</a:t>
                </a:r>
                <a:r>
                  <a:rPr lang="zh-CN" altLang="en-US" sz="2000" i="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"</a:t>
                </a:r>
                <a:endParaRPr lang="zh-CN" altLang="en-US" sz="2000" dirty="0">
                  <a:solidFill>
                    <a:schemeClr val="accent6">
                      <a:lumMod val="50000"/>
                    </a:schemeClr>
                  </a:solidFill>
                  <a:cs typeface="Times New Roman" pitchFamily="18" charset="0"/>
                </a:endParaRPr>
              </a:p>
              <a:p>
                <a:r>
                  <a:rPr lang="zh-CN" altLang="en-US" dirty="0" smtClean="0"/>
                  <a:t>这里是它的推导过程。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---end---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9045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96969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6724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78768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55613" y="650875"/>
            <a:ext cx="4340225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7960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从频繁</a:t>
            </a:r>
            <a:r>
              <a:rPr lang="en-US" altLang="zh-CN" dirty="0"/>
              <a:t>2-</a:t>
            </a:r>
            <a:r>
              <a:rPr lang="zh-CN" altLang="en-US" dirty="0"/>
              <a:t>项集和频繁</a:t>
            </a:r>
            <a:r>
              <a:rPr lang="en-US" altLang="zh-CN" dirty="0"/>
              <a:t>1-</a:t>
            </a:r>
            <a:r>
              <a:rPr lang="zh-CN" altLang="en-US" dirty="0"/>
              <a:t>项集以及它们的支持度计数，</a:t>
            </a:r>
          </a:p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80161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55691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796077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73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73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68288" y="650875"/>
            <a:ext cx="5788026" cy="32559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70454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8917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405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578" y="1057014"/>
            <a:ext cx="7772400" cy="1535184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9778" y="402987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AFABB-F632-4F91-92AF-0E2D2EA81731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35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3C160-1CF6-4197-853C-5DD8144FA9BE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45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389" y="1057014"/>
            <a:ext cx="7772400" cy="15336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978" y="4027400"/>
            <a:ext cx="6858000" cy="165600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54B1-0884-4633-8327-893DAA1E511F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39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50BB-E4E8-4483-82DA-D58DEBC4998C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50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BCF-E610-4FCE-ADC3-9F4D58E19C5C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56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A7D6D-E156-4C2B-9FF2-B27706CE389A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92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FCEF-073A-4FC7-8BAD-A662F97179A2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53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6709-067F-4154-9C9A-D56718F28438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4C65-E77B-45F2-BD81-CFF9643C0CCF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66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6368-F392-4465-AD91-AE646936C52B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96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E443-EA00-4061-899C-73E3EB4E23B9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50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399"/>
            <a:ext cx="9144000" cy="817721"/>
          </a:xfrm>
          <a:prstGeom prst="rect">
            <a:avLst/>
          </a:prstGeom>
        </p:spPr>
        <p:txBody>
          <a:bodyPr vert="horz" lIns="91440" tIns="14400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23" y="906011"/>
            <a:ext cx="8883941" cy="5637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525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l">
              <a:defRPr sz="1200" b="1">
                <a:solidFill>
                  <a:srgbClr val="002060"/>
                </a:solidFill>
              </a:defRPr>
            </a:lvl1pPr>
          </a:lstStyle>
          <a:p>
            <a:fld id="{7181A378-AD84-4E06-B1B5-6D5F5ACB78AE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3417" y="6660859"/>
            <a:ext cx="4597165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ctr">
              <a:defRPr sz="1200" b="0">
                <a:solidFill>
                  <a:srgbClr val="002060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r">
              <a:defRPr sz="1200" b="1">
                <a:solidFill>
                  <a:srgbClr val="002060"/>
                </a:solidFill>
              </a:defRPr>
            </a:lvl1pPr>
          </a:lstStyle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8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Wingdings" panose="05000000000000000000" pitchFamily="2" charset="2"/>
        <a:buChar char="n"/>
        <a:defRPr sz="2400" kern="1200">
          <a:solidFill>
            <a:srgbClr val="002060"/>
          </a:solidFill>
          <a:latin typeface="+mn-lt"/>
          <a:ea typeface="+mn-ea"/>
          <a:cs typeface="+mn-cs"/>
        </a:defRPr>
      </a:lvl1pPr>
      <a:lvl2pPr marL="720725" indent="-360363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u"/>
        <a:defRPr sz="2000" kern="1200">
          <a:solidFill>
            <a:srgbClr val="002060"/>
          </a:solidFill>
          <a:latin typeface="+mn-lt"/>
          <a:ea typeface="+mn-ea"/>
          <a:cs typeface="+mn-cs"/>
        </a:defRPr>
      </a:lvl2pPr>
      <a:lvl3pPr marL="990600" indent="-26987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l"/>
        <a:defRPr sz="1800" kern="1200">
          <a:solidFill>
            <a:srgbClr val="002060"/>
          </a:solidFill>
          <a:latin typeface="+mn-lt"/>
          <a:ea typeface="+mn-ea"/>
          <a:cs typeface="+mn-cs"/>
        </a:defRPr>
      </a:lvl3pPr>
      <a:lvl4pPr marL="1258888" indent="-268288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p"/>
        <a:defRPr sz="1600" kern="1200">
          <a:solidFill>
            <a:srgbClr val="002060"/>
          </a:solidFill>
          <a:latin typeface="+mn-lt"/>
          <a:ea typeface="+mn-ea"/>
          <a:cs typeface="+mn-cs"/>
        </a:defRPr>
      </a:lvl4pPr>
      <a:lvl5pPr marL="1527175" indent="-268288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Ø"/>
        <a:defRPr sz="16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priori_algorith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6.emf"/><Relationship Id="rId4" Type="http://schemas.openxmlformats.org/officeDocument/2006/relationships/image" Target="../media/image2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image" Target="../media/image34.emf"/><Relationship Id="rId7" Type="http://schemas.openxmlformats.org/officeDocument/2006/relationships/image" Target="../media/image38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Relationship Id="rId9" Type="http://schemas.openxmlformats.org/officeDocument/2006/relationships/image" Target="../media/image40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1.png"/><Relationship Id="rId5" Type="http://schemas.openxmlformats.org/officeDocument/2006/relationships/image" Target="../media/image42.wmf"/><Relationship Id="rId4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8.wmf"/><Relationship Id="rId4" Type="http://schemas.openxmlformats.org/officeDocument/2006/relationships/oleObject" Target="../embeddings/oleObject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9.png"/><Relationship Id="rId5" Type="http://schemas.openxmlformats.org/officeDocument/2006/relationships/image" Target="../media/image58.emf"/><Relationship Id="rId4" Type="http://schemas.openxmlformats.org/officeDocument/2006/relationships/oleObject" Target="../embeddings/oleObject5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70.png"/><Relationship Id="rId4" Type="http://schemas.openxmlformats.org/officeDocument/2006/relationships/image" Target="../media/image7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72.png"/><Relationship Id="rId4" Type="http://schemas.openxmlformats.org/officeDocument/2006/relationships/image" Target="../media/image7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6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4739" y="2797189"/>
            <a:ext cx="8713694" cy="213894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Chapter06 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Apriori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</a:t>
            </a:r>
            <a:b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600" b="1" dirty="0"/>
            </a:br>
            <a:r>
              <a:rPr lang="zh-CN" altLang="en-US" sz="2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授课老师：王丽苹</a:t>
            </a:r>
            <a:br>
              <a:rPr lang="en-US" altLang="zh-CN" sz="3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100" dirty="0">
                <a:solidFill>
                  <a:srgbClr val="002060"/>
                </a:solidFill>
                <a:latin typeface="+mn-ea"/>
                <a:ea typeface="+mn-ea"/>
              </a:rPr>
              <a:t> </a:t>
            </a:r>
            <a:br>
              <a:rPr lang="en-US" altLang="zh-CN" sz="3100" dirty="0">
                <a:solidFill>
                  <a:srgbClr val="002060"/>
                </a:solidFill>
              </a:rPr>
            </a:br>
            <a:endParaRPr lang="zh-CN" altLang="en-US" sz="3100" dirty="0">
              <a:solidFill>
                <a:srgbClr val="00206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2586" y="4060811"/>
            <a:ext cx="6858000" cy="950912"/>
          </a:xfrm>
        </p:spPr>
        <p:txBody>
          <a:bodyPr/>
          <a:lstStyle/>
          <a:p>
            <a:r>
              <a:rPr lang="en-US" altLang="zh-CN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年 秋</a:t>
            </a:r>
          </a:p>
        </p:txBody>
      </p:sp>
      <p:sp>
        <p:nvSpPr>
          <p:cNvPr id="4" name="矩形 3"/>
          <p:cNvSpPr/>
          <p:nvPr/>
        </p:nvSpPr>
        <p:spPr>
          <a:xfrm>
            <a:off x="5994072" y="180871"/>
            <a:ext cx="31499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数据挖掘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en-US" altLang="zh-CN" sz="2000" b="1" dirty="0">
                <a:solidFill>
                  <a:srgbClr val="002060"/>
                </a:solidFill>
              </a:rPr>
              <a:t>Data Mining</a:t>
            </a:r>
            <a:endParaRPr lang="zh-CN" altLang="en-US" sz="2000" b="1" dirty="0">
              <a:solidFill>
                <a:srgbClr val="00206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326596-715A-4D3E-AC91-F660CAD89DC6}"/>
              </a:ext>
            </a:extLst>
          </p:cNvPr>
          <p:cNvSpPr txBox="1"/>
          <p:nvPr/>
        </p:nvSpPr>
        <p:spPr>
          <a:xfrm>
            <a:off x="2441122" y="5465020"/>
            <a:ext cx="3282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如何快速计算得到频繁项集？</a:t>
            </a:r>
          </a:p>
        </p:txBody>
      </p:sp>
    </p:spTree>
    <p:extLst>
      <p:ext uri="{BB962C8B-B14F-4D97-AF65-F5344CB8AC3E}">
        <p14:creationId xmlns:p14="http://schemas.microsoft.com/office/powerpoint/2010/main" val="1251715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关联分析原理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47"/>
              <p:cNvSpPr txBox="1"/>
              <p:nvPr/>
            </p:nvSpPr>
            <p:spPr>
              <a:xfrm>
                <a:off x="2842474" y="3632984"/>
                <a:ext cx="3673742" cy="3240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84262" tIns="42131" rIns="84262" bIns="4213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/>
                          <a:ea typeface="Cambria Math"/>
                          <a:cs typeface="Times New Roman"/>
                        </a:rPr>
                        <m:t>{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𝑋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→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𝑌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|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𝑠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  <a:ea typeface="Cambria Math"/>
                              <a:cs typeface="宋体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  <a:cs typeface="宋体"/>
                            </a:rPr>
                            <m:t>𝑋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  <a:cs typeface="宋体"/>
                            </a:rPr>
                            <m:t>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  <a:cs typeface="宋体"/>
                            </a:rPr>
                            <m:t>𝑌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≥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𝑚𝑖𝑛𝑆𝑢𝑝</m:t>
                      </m:r>
                      <m:r>
                        <a:rPr lang="en-US" sz="1600" i="1">
                          <a:latin typeface="Cambria Math"/>
                          <a:ea typeface="Cambria Math"/>
                          <a:cs typeface="Times New Roman"/>
                        </a:rPr>
                        <m:t>}</m:t>
                      </m:r>
                    </m:oMath>
                  </m:oMathPara>
                </a14:m>
                <a:endParaRPr lang="zh-CN" altLang="en-US" sz="3200" dirty="0">
                  <a:latin typeface="宋体"/>
                  <a:cs typeface="宋体"/>
                </a:endParaRPr>
              </a:p>
            </p:txBody>
          </p:sp>
        </mc:Choice>
        <mc:Fallback>
          <p:sp>
            <p:nvSpPr>
              <p:cNvPr id="9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474" y="3632984"/>
                <a:ext cx="3673742" cy="324000"/>
              </a:xfrm>
              <a:prstGeom prst="rect">
                <a:avLst/>
              </a:prstGeom>
              <a:blipFill>
                <a:blip r:embed="rId3"/>
                <a:stretch>
                  <a:fillRect b="-30189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46"/>
          <p:cNvSpPr txBox="1"/>
          <p:nvPr/>
        </p:nvSpPr>
        <p:spPr>
          <a:xfrm>
            <a:off x="2122797" y="3632396"/>
            <a:ext cx="879612" cy="30777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zh-CN" altLang="en-US" sz="2000">
                <a:latin typeface="宋体"/>
                <a:ea typeface="华文细黑"/>
                <a:cs typeface="Times New Roman"/>
              </a:rPr>
              <a:t>规则</a:t>
            </a:r>
            <a:endParaRPr lang="zh-CN" altLang="en-US" sz="32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600322"/>
              <p:cNvSpPr txBox="1"/>
              <p:nvPr/>
            </p:nvSpPr>
            <p:spPr>
              <a:xfrm>
                <a:off x="3282170" y="2869587"/>
                <a:ext cx="3165628" cy="3240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{</m:t>
                      </m:r>
                      <m:r>
                        <a:rPr lang="en-US" kern="100">
                          <a:latin typeface="Cambria Math"/>
                          <a:ea typeface="宋体"/>
                          <a:cs typeface="Times New Roman"/>
                        </a:rPr>
                        <m:t>(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𝑋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,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𝑌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)|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𝑠</m:t>
                      </m:r>
                      <m:d>
                        <m:dPr>
                          <m:ctrlPr>
                            <a:rPr lang="zh-CN" altLang="en-US" i="1" kern="100"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𝑋</m:t>
                          </m:r>
                          <m:r>
                            <a:rPr lang="en-US" kern="100"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𝑋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,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𝑌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)</m:t>
                          </m:r>
                        </m:e>
                      </m:d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≥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𝑚𝑖𝑛𝑆𝑢𝑝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}</m:t>
                      </m:r>
                    </m:oMath>
                  </m:oMathPara>
                </a14:m>
                <a:endParaRPr lang="zh-CN" altLang="en-US" sz="2000" kern="100" dirty="0">
                  <a:latin typeface="Times New Roman"/>
                  <a:ea typeface="宋体"/>
                  <a:cs typeface="Times New Roman"/>
                </a:endParaRPr>
              </a:p>
            </p:txBody>
          </p:sp>
        </mc:Choice>
        <mc:Fallback>
          <p:sp>
            <p:nvSpPr>
              <p:cNvPr id="11" name="文本框 6003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170" y="2869587"/>
                <a:ext cx="3165628" cy="324000"/>
              </a:xfrm>
              <a:prstGeom prst="rect">
                <a:avLst/>
              </a:prstGeom>
              <a:blipFill>
                <a:blip r:embed="rId4"/>
                <a:stretch>
                  <a:fillRect t="-1887" b="-18868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600323"/>
              <p:cNvSpPr txBox="1"/>
              <p:nvPr/>
            </p:nvSpPr>
            <p:spPr>
              <a:xfrm>
                <a:off x="3929949" y="1988840"/>
                <a:ext cx="1275028" cy="3240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{</m:t>
                      </m:r>
                      <m:sSub>
                        <m:sSubPr>
                          <m:ctrlPr>
                            <a:rPr lang="zh-CN" altLang="en-US" i="1" kern="100"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𝑡</m:t>
                          </m:r>
                        </m:e>
                        <m:sub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𝑖</m:t>
                          </m:r>
                        </m:sub>
                      </m:sSub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|</m:t>
                      </m:r>
                      <m:sSub>
                        <m:sSubPr>
                          <m:ctrlPr>
                            <a:rPr lang="zh-CN" altLang="en-US" i="1" kern="100"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𝑡</m:t>
                          </m:r>
                        </m:e>
                        <m:sub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𝑖</m:t>
                          </m:r>
                        </m:sub>
                      </m:sSub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∈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𝑇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}</m:t>
                      </m:r>
                    </m:oMath>
                  </m:oMathPara>
                </a14:m>
                <a:endParaRPr lang="zh-CN" altLang="en-US" sz="2000" kern="100" dirty="0">
                  <a:latin typeface="Times New Roman"/>
                  <a:ea typeface="宋体"/>
                  <a:cs typeface="Times New Roman"/>
                </a:endParaRPr>
              </a:p>
            </p:txBody>
          </p:sp>
        </mc:Choice>
        <mc:Fallback>
          <p:sp>
            <p:nvSpPr>
              <p:cNvPr id="12" name="文本框 6003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949" y="1988840"/>
                <a:ext cx="1275028" cy="324000"/>
              </a:xfrm>
              <a:prstGeom prst="rect">
                <a:avLst/>
              </a:prstGeom>
              <a:blipFill>
                <a:blip r:embed="rId5"/>
                <a:stretch>
                  <a:fillRect b="-20755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600324"/>
              <p:cNvSpPr txBox="1"/>
              <p:nvPr/>
            </p:nvSpPr>
            <p:spPr>
              <a:xfrm>
                <a:off x="2468846" y="4538790"/>
                <a:ext cx="5525120" cy="3240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84262" tIns="42131" rIns="84262" bIns="4213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{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𝑋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→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𝑌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|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𝑠</m:t>
                      </m:r>
                      <m:d>
                        <m:dPr>
                          <m:ctrlPr>
                            <a:rPr lang="zh-CN" altLang="en-US" i="1" kern="100"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𝑋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→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𝑌</m:t>
                          </m:r>
                        </m:e>
                      </m:d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≥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𝑚𝑖𝑛𝑆𝑢𝑝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,</m:t>
                      </m:r>
                      <m:r>
                        <a:rPr lang="en-US" kern="100">
                          <a:latin typeface="Cambria Math"/>
                          <a:ea typeface="宋体"/>
                          <a:cs typeface="Times New Roman"/>
                        </a:rPr>
                        <m:t> 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𝑐</m:t>
                      </m:r>
                      <m:d>
                        <m:dPr>
                          <m:ctrlPr>
                            <a:rPr lang="zh-CN" altLang="en-US" i="1" kern="100"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𝑋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→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𝑌</m:t>
                          </m:r>
                        </m:e>
                      </m:d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≥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𝑚𝑖𝑛𝐶𝑜𝑛𝑓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}</m:t>
                      </m:r>
                    </m:oMath>
                  </m:oMathPara>
                </a14:m>
                <a:endParaRPr lang="zh-CN" altLang="en-US" sz="2000" kern="100">
                  <a:latin typeface="Times New Roman"/>
                  <a:ea typeface="宋体"/>
                  <a:cs typeface="Times New Roman"/>
                </a:endParaRPr>
              </a:p>
            </p:txBody>
          </p:sp>
        </mc:Choice>
        <mc:Fallback>
          <p:sp>
            <p:nvSpPr>
              <p:cNvPr id="13" name="文本框 6003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6" y="4538790"/>
                <a:ext cx="5525120" cy="324000"/>
              </a:xfrm>
              <a:prstGeom prst="rect">
                <a:avLst/>
              </a:prstGeom>
              <a:blipFill>
                <a:blip r:embed="rId6"/>
                <a:stretch>
                  <a:fillRect b="-32075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600325"/>
          <p:cNvSpPr txBox="1"/>
          <p:nvPr/>
        </p:nvSpPr>
        <p:spPr>
          <a:xfrm>
            <a:off x="3117487" y="1999836"/>
            <a:ext cx="879612" cy="30777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zh-CN" altLang="en-US" sz="2000" kern="100">
                <a:latin typeface="Times New Roman"/>
                <a:ea typeface="华文细黑"/>
                <a:cs typeface="Times New Roman"/>
              </a:rPr>
              <a:t>事务</a:t>
            </a:r>
            <a:endParaRPr lang="zh-CN" altLang="en-US" sz="2000" kern="10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" name="右箭头 14"/>
          <p:cNvSpPr/>
          <p:nvPr/>
        </p:nvSpPr>
        <p:spPr>
          <a:xfrm rot="5400000">
            <a:off x="4081185" y="2480073"/>
            <a:ext cx="333381" cy="261111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4262" tIns="42131" rIns="84262" bIns="421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/>
          </a:p>
        </p:txBody>
      </p:sp>
      <p:sp>
        <p:nvSpPr>
          <p:cNvPr id="16" name="文本框 18"/>
          <p:cNvSpPr txBox="1"/>
          <p:nvPr/>
        </p:nvSpPr>
        <p:spPr>
          <a:xfrm>
            <a:off x="1619674" y="4532771"/>
            <a:ext cx="1062031" cy="30777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>
                <a:latin typeface="宋体"/>
                <a:ea typeface="华文细黑"/>
                <a:cs typeface="Times New Roman"/>
              </a:rPr>
              <a:t>关联规则</a:t>
            </a:r>
            <a:endParaRPr lang="zh-CN" altLang="en-US" sz="3200">
              <a:latin typeface="宋体"/>
              <a:cs typeface="宋体"/>
            </a:endParaRPr>
          </a:p>
        </p:txBody>
      </p:sp>
      <p:sp>
        <p:nvSpPr>
          <p:cNvPr id="17" name="文本框 600328"/>
          <p:cNvSpPr txBox="1"/>
          <p:nvPr/>
        </p:nvSpPr>
        <p:spPr>
          <a:xfrm>
            <a:off x="2288308" y="2842550"/>
            <a:ext cx="1062031" cy="30777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kern="100">
                <a:latin typeface="Times New Roman"/>
                <a:ea typeface="华文细黑"/>
                <a:cs typeface="Times New Roman"/>
              </a:rPr>
              <a:t>频繁项集</a:t>
            </a:r>
            <a:endParaRPr lang="zh-CN" altLang="en-US" sz="2000" kern="10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8" name="右箭头 17"/>
          <p:cNvSpPr/>
          <p:nvPr/>
        </p:nvSpPr>
        <p:spPr>
          <a:xfrm rot="5400000">
            <a:off x="4062444" y="3276415"/>
            <a:ext cx="333381" cy="261111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4262" tIns="42131" rIns="84262" bIns="421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/>
          </a:p>
        </p:txBody>
      </p:sp>
      <p:sp>
        <p:nvSpPr>
          <p:cNvPr id="19" name="右箭头 18"/>
          <p:cNvSpPr/>
          <p:nvPr/>
        </p:nvSpPr>
        <p:spPr>
          <a:xfrm rot="5400000">
            <a:off x="4081183" y="4168962"/>
            <a:ext cx="333381" cy="261111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4262" tIns="42131" rIns="84262" bIns="421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/>
              <p:cNvSpPr/>
              <p:nvPr/>
            </p:nvSpPr>
            <p:spPr>
              <a:xfrm>
                <a:off x="4309513" y="4130330"/>
                <a:ext cx="14866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←</m:t>
                      </m:r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𝑚𝑖𝑛𝐶𝑜𝑛𝑓</m:t>
                      </m:r>
                    </m:oMath>
                  </m:oMathPara>
                </a14:m>
                <a:endParaRPr lang="zh-CN" altLang="zh-CN" sz="2800" dirty="0">
                  <a:latin typeface="宋体"/>
                  <a:cs typeface="宋体"/>
                </a:endParaRPr>
              </a:p>
            </p:txBody>
          </p:sp>
        </mc:Choice>
        <mc:Fallback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513" y="4130330"/>
                <a:ext cx="1486625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/>
            </p:nvSpPr>
            <p:spPr>
              <a:xfrm>
                <a:off x="4309513" y="2438648"/>
                <a:ext cx="13448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←</m:t>
                      </m:r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𝑚𝑖𝑛𝑆𝑢𝑝</m:t>
                      </m:r>
                    </m:oMath>
                  </m:oMathPara>
                </a14:m>
                <a:endParaRPr lang="zh-CN" altLang="zh-CN" sz="2800" dirty="0">
                  <a:latin typeface="宋体"/>
                  <a:cs typeface="宋体"/>
                </a:endParaRPr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513" y="2438648"/>
                <a:ext cx="1344855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08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25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/>
      <p:bldP spid="17" grpId="0"/>
      <p:bldP spid="18" grpId="0" animBg="1"/>
      <p:bldP spid="19" grpId="0" animBg="1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关联分析原理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47"/>
              <p:cNvSpPr txBox="1"/>
              <p:nvPr/>
            </p:nvSpPr>
            <p:spPr>
              <a:xfrm>
                <a:off x="3043577" y="4465951"/>
                <a:ext cx="3673742" cy="3240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84262" tIns="42131" rIns="84262" bIns="4213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/>
                          <a:ea typeface="Cambria Math"/>
                          <a:cs typeface="Times New Roman"/>
                        </a:rPr>
                        <m:t>{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𝑋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→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𝑌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|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𝑠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  <a:ea typeface="Cambria Math"/>
                              <a:cs typeface="宋体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  <a:cs typeface="宋体"/>
                            </a:rPr>
                            <m:t>𝑋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  <a:cs typeface="宋体"/>
                            </a:rPr>
                            <m:t>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  <a:cs typeface="宋体"/>
                            </a:rPr>
                            <m:t>𝑌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≥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宋体"/>
                        </a:rPr>
                        <m:t>𝑚𝑖𝑛𝑆𝑢𝑝</m:t>
                      </m:r>
                      <m:r>
                        <a:rPr lang="en-US" sz="1600" i="1">
                          <a:latin typeface="Cambria Math"/>
                          <a:ea typeface="Cambria Math"/>
                          <a:cs typeface="Times New Roman"/>
                        </a:rPr>
                        <m:t>}</m:t>
                      </m:r>
                    </m:oMath>
                  </m:oMathPara>
                </a14:m>
                <a:endParaRPr lang="zh-CN" altLang="en-US" sz="3200" dirty="0">
                  <a:latin typeface="宋体"/>
                  <a:cs typeface="宋体"/>
                </a:endParaRPr>
              </a:p>
            </p:txBody>
          </p:sp>
        </mc:Choice>
        <mc:Fallback>
          <p:sp>
            <p:nvSpPr>
              <p:cNvPr id="9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577" y="4465951"/>
                <a:ext cx="3673742" cy="324000"/>
              </a:xfrm>
              <a:prstGeom prst="rect">
                <a:avLst/>
              </a:prstGeom>
              <a:blipFill>
                <a:blip r:embed="rId3"/>
                <a:stretch>
                  <a:fillRect b="-30189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46"/>
          <p:cNvSpPr txBox="1"/>
          <p:nvPr/>
        </p:nvSpPr>
        <p:spPr>
          <a:xfrm>
            <a:off x="2323900" y="4465952"/>
            <a:ext cx="879612" cy="30777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zh-CN" altLang="en-US" sz="2000">
                <a:latin typeface="宋体"/>
                <a:ea typeface="华文细黑"/>
                <a:cs typeface="Times New Roman"/>
              </a:rPr>
              <a:t>规则</a:t>
            </a:r>
            <a:endParaRPr lang="zh-CN" altLang="en-US" sz="32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600322"/>
              <p:cNvSpPr txBox="1"/>
              <p:nvPr/>
            </p:nvSpPr>
            <p:spPr>
              <a:xfrm>
                <a:off x="3422596" y="3688265"/>
                <a:ext cx="3165628" cy="3240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{</m:t>
                      </m:r>
                      <m:r>
                        <a:rPr lang="en-US" kern="100">
                          <a:latin typeface="Cambria Math"/>
                          <a:ea typeface="宋体"/>
                          <a:cs typeface="Times New Roman"/>
                        </a:rPr>
                        <m:t>(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𝑋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,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𝑌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)|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𝑠</m:t>
                      </m:r>
                      <m:d>
                        <m:dPr>
                          <m:ctrlPr>
                            <a:rPr lang="zh-CN" altLang="en-US" i="1" kern="100"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𝑋</m:t>
                          </m:r>
                          <m:r>
                            <a:rPr lang="en-US" kern="100"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𝑋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,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𝑌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)</m:t>
                          </m:r>
                        </m:e>
                      </m:d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≥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𝑚𝑖𝑛𝑆𝑢𝑝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}</m:t>
                      </m:r>
                    </m:oMath>
                  </m:oMathPara>
                </a14:m>
                <a:endParaRPr lang="zh-CN" altLang="en-US" sz="2000" kern="100" dirty="0">
                  <a:latin typeface="Times New Roman"/>
                  <a:ea typeface="宋体"/>
                  <a:cs typeface="Times New Roman"/>
                </a:endParaRPr>
              </a:p>
            </p:txBody>
          </p:sp>
        </mc:Choice>
        <mc:Fallback>
          <p:sp>
            <p:nvSpPr>
              <p:cNvPr id="11" name="文本框 6003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596" y="3688265"/>
                <a:ext cx="3165628" cy="324000"/>
              </a:xfrm>
              <a:prstGeom prst="rect">
                <a:avLst/>
              </a:prstGeom>
              <a:blipFill>
                <a:blip r:embed="rId4"/>
                <a:stretch>
                  <a:fillRect b="-20755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600323"/>
              <p:cNvSpPr txBox="1"/>
              <p:nvPr/>
            </p:nvSpPr>
            <p:spPr>
              <a:xfrm>
                <a:off x="3929949" y="2003278"/>
                <a:ext cx="1275028" cy="3240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{</m:t>
                      </m:r>
                      <m:sSub>
                        <m:sSubPr>
                          <m:ctrlPr>
                            <a:rPr lang="zh-CN" altLang="en-US" i="1" kern="100"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𝑡</m:t>
                          </m:r>
                        </m:e>
                        <m:sub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𝑖</m:t>
                          </m:r>
                        </m:sub>
                      </m:sSub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|</m:t>
                      </m:r>
                      <m:sSub>
                        <m:sSubPr>
                          <m:ctrlPr>
                            <a:rPr lang="zh-CN" altLang="en-US" i="1" kern="100"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𝑡</m:t>
                          </m:r>
                        </m:e>
                        <m:sub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𝑖</m:t>
                          </m:r>
                        </m:sub>
                      </m:sSub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∈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𝑇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}</m:t>
                      </m:r>
                    </m:oMath>
                  </m:oMathPara>
                </a14:m>
                <a:endParaRPr lang="zh-CN" altLang="en-US" sz="2000" kern="100" dirty="0">
                  <a:latin typeface="Times New Roman"/>
                  <a:ea typeface="宋体"/>
                  <a:cs typeface="Times New Roman"/>
                </a:endParaRPr>
              </a:p>
            </p:txBody>
          </p:sp>
        </mc:Choice>
        <mc:Fallback>
          <p:sp>
            <p:nvSpPr>
              <p:cNvPr id="12" name="文本框 6003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949" y="2003278"/>
                <a:ext cx="1275028" cy="324000"/>
              </a:xfrm>
              <a:prstGeom prst="rect">
                <a:avLst/>
              </a:prstGeom>
              <a:blipFill>
                <a:blip r:embed="rId5"/>
                <a:stretch>
                  <a:fillRect t="-1887" b="-18868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600324"/>
              <p:cNvSpPr txBox="1"/>
              <p:nvPr/>
            </p:nvSpPr>
            <p:spPr>
              <a:xfrm>
                <a:off x="2468846" y="5281412"/>
                <a:ext cx="5525120" cy="3240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84262" tIns="42131" rIns="84262" bIns="4213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{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𝑋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→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𝑌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|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𝑠</m:t>
                      </m:r>
                      <m:d>
                        <m:dPr>
                          <m:ctrlPr>
                            <a:rPr lang="zh-CN" altLang="en-US" i="1" kern="100"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𝑋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→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𝑌</m:t>
                          </m:r>
                        </m:e>
                      </m:d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≥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𝑚𝑖𝑛𝑆𝑢𝑝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,</m:t>
                      </m:r>
                      <m:r>
                        <a:rPr lang="en-US" kern="100">
                          <a:latin typeface="Cambria Math"/>
                          <a:ea typeface="宋体"/>
                          <a:cs typeface="Times New Roman"/>
                        </a:rPr>
                        <m:t> 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𝑐</m:t>
                      </m:r>
                      <m:d>
                        <m:dPr>
                          <m:ctrlPr>
                            <a:rPr lang="zh-CN" altLang="en-US" i="1" kern="100"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𝑋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→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𝑌</m:t>
                          </m:r>
                        </m:e>
                      </m:d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≥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𝑚𝑖𝑛𝐶𝑜𝑛𝑓</m:t>
                      </m:r>
                      <m:r>
                        <a:rPr lang="en-US" i="1" kern="100">
                          <a:latin typeface="Cambria Math"/>
                          <a:ea typeface="Cambria Math"/>
                          <a:cs typeface="Times New Roman"/>
                        </a:rPr>
                        <m:t>}</m:t>
                      </m:r>
                    </m:oMath>
                  </m:oMathPara>
                </a14:m>
                <a:endParaRPr lang="zh-CN" altLang="en-US" sz="2000" kern="100">
                  <a:latin typeface="Times New Roman"/>
                  <a:ea typeface="宋体"/>
                  <a:cs typeface="Times New Roman"/>
                </a:endParaRPr>
              </a:p>
            </p:txBody>
          </p:sp>
        </mc:Choice>
        <mc:Fallback>
          <p:sp>
            <p:nvSpPr>
              <p:cNvPr id="13" name="文本框 6003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6" y="5281412"/>
                <a:ext cx="5525120" cy="324000"/>
              </a:xfrm>
              <a:prstGeom prst="rect">
                <a:avLst/>
              </a:prstGeom>
              <a:blipFill>
                <a:blip r:embed="rId6"/>
                <a:stretch>
                  <a:fillRect b="-31481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600325"/>
          <p:cNvSpPr txBox="1"/>
          <p:nvPr/>
        </p:nvSpPr>
        <p:spPr>
          <a:xfrm>
            <a:off x="3117487" y="2003279"/>
            <a:ext cx="879612" cy="30777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zh-CN" altLang="en-US" sz="2000" kern="100" dirty="0">
                <a:latin typeface="Times New Roman"/>
                <a:ea typeface="华文细黑"/>
                <a:cs typeface="Times New Roman"/>
              </a:rPr>
              <a:t>事务</a:t>
            </a:r>
            <a:endParaRPr lang="zh-CN" altLang="en-US" sz="20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" name="右箭头 14"/>
          <p:cNvSpPr/>
          <p:nvPr/>
        </p:nvSpPr>
        <p:spPr>
          <a:xfrm rot="5400000">
            <a:off x="4081185" y="2483684"/>
            <a:ext cx="333381" cy="261111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4262" tIns="42131" rIns="84262" bIns="421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/>
          </a:p>
        </p:txBody>
      </p:sp>
      <p:sp>
        <p:nvSpPr>
          <p:cNvPr id="16" name="文本框 18"/>
          <p:cNvSpPr txBox="1"/>
          <p:nvPr/>
        </p:nvSpPr>
        <p:spPr>
          <a:xfrm>
            <a:off x="1619674" y="5275392"/>
            <a:ext cx="1062031" cy="30777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>
                <a:latin typeface="宋体"/>
                <a:ea typeface="华文细黑"/>
                <a:cs typeface="Times New Roman"/>
              </a:rPr>
              <a:t>关联规则</a:t>
            </a:r>
            <a:endParaRPr lang="zh-CN" altLang="en-US" sz="3200">
              <a:latin typeface="宋体"/>
              <a:cs typeface="宋体"/>
            </a:endParaRPr>
          </a:p>
        </p:txBody>
      </p:sp>
      <p:sp>
        <p:nvSpPr>
          <p:cNvPr id="17" name="文本框 600328"/>
          <p:cNvSpPr txBox="1"/>
          <p:nvPr/>
        </p:nvSpPr>
        <p:spPr>
          <a:xfrm>
            <a:off x="2428733" y="3688266"/>
            <a:ext cx="1062031" cy="30777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kern="100">
                <a:latin typeface="Times New Roman"/>
                <a:ea typeface="华文细黑"/>
                <a:cs typeface="Times New Roman"/>
              </a:rPr>
              <a:t>频繁项集</a:t>
            </a:r>
            <a:endParaRPr lang="zh-CN" altLang="en-US" sz="2000" kern="10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8" name="右箭头 17"/>
          <p:cNvSpPr/>
          <p:nvPr/>
        </p:nvSpPr>
        <p:spPr>
          <a:xfrm rot="5400000">
            <a:off x="4062444" y="4103864"/>
            <a:ext cx="333381" cy="261111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4262" tIns="42131" rIns="84262" bIns="421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/>
          </a:p>
        </p:txBody>
      </p:sp>
      <p:sp>
        <p:nvSpPr>
          <p:cNvPr id="19" name="右箭头 18"/>
          <p:cNvSpPr/>
          <p:nvPr/>
        </p:nvSpPr>
        <p:spPr>
          <a:xfrm rot="5400000">
            <a:off x="4081183" y="4911583"/>
            <a:ext cx="333381" cy="261111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4262" tIns="42131" rIns="84262" bIns="421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59423"/>
              <p:cNvSpPr txBox="1"/>
              <p:nvPr/>
            </p:nvSpPr>
            <p:spPr>
              <a:xfrm>
                <a:off x="3404614" y="2901675"/>
                <a:ext cx="3183610" cy="3240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Times New Roman"/>
                        </a:rPr>
                        <m:t>{</m:t>
                      </m:r>
                      <m:r>
                        <a:rPr lang="en-US">
                          <a:solidFill>
                            <a:srgbClr val="C00000"/>
                          </a:solidFill>
                          <a:latin typeface="Cambria Math"/>
                          <a:ea typeface="宋体"/>
                          <a:cs typeface="Times New Roman"/>
                        </a:rPr>
                        <m:t>(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Times New Roman"/>
                        </a:rPr>
                        <m:t>𝑋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Times New Roman"/>
                        </a:rPr>
                        <m:t>,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Times New Roman"/>
                        </a:rPr>
                        <m:t>𝑌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Times New Roman"/>
                        </a:rPr>
                        <m:t>)|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Times New Roman"/>
                        </a:rPr>
                        <m:t>𝑋</m:t>
                      </m:r>
                      <m:r>
                        <a:rPr lang="en-US" sz="200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m:t>⊆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m:t>∀</m:t>
                      </m:r>
                      <m:sSub>
                        <m:sSubPr>
                          <m:ctrlPr>
                            <a:rPr lang="zh-CN" altLang="en-US" i="1" kern="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  <a:cs typeface="Times New Roman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  <a:cs typeface="Times New Roman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Times New Roman"/>
                        </a:rPr>
                        <m:t>,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Times New Roman"/>
                        </a:rPr>
                        <m:t>𝑌</m:t>
                      </m:r>
                      <m:r>
                        <a:rPr lang="en-US" sz="200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m:t>⊆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m:t>∀</m:t>
                      </m:r>
                      <m:sSub>
                        <m:sSubPr>
                          <m:ctrlPr>
                            <a:rPr lang="zh-CN" altLang="en-US" i="1" kern="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  <a:cs typeface="Times New Roman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  <a:cs typeface="Times New Roman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Times New Roman"/>
                        </a:rPr>
                        <m:t>,</m:t>
                      </m:r>
                      <m:sSub>
                        <m:sSubPr>
                          <m:ctrlPr>
                            <a:rPr lang="zh-CN" altLang="en-US" i="1" kern="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  <a:cs typeface="Times New Roman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  <a:cs typeface="Times New Roman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宋体"/>
                        </a:rPr>
                        <m:t>∈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宋体"/>
                        </a:rPr>
                        <m:t>𝑇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Times New Roman"/>
                        </a:rPr>
                        <m:t>}</m:t>
                      </m:r>
                    </m:oMath>
                  </m:oMathPara>
                </a14:m>
                <a:endParaRPr lang="zh-CN" altLang="en-US" sz="3200" dirty="0">
                  <a:solidFill>
                    <a:srgbClr val="C00000"/>
                  </a:solidFill>
                  <a:latin typeface="宋体"/>
                  <a:cs typeface="宋体"/>
                </a:endParaRPr>
              </a:p>
            </p:txBody>
          </p:sp>
        </mc:Choice>
        <mc:Fallback>
          <p:sp>
            <p:nvSpPr>
              <p:cNvPr id="20" name="文本框 594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614" y="2901675"/>
                <a:ext cx="3183610" cy="324000"/>
              </a:xfrm>
              <a:prstGeom prst="rect">
                <a:avLst/>
              </a:prstGeom>
              <a:blipFill>
                <a:blip r:embed="rId7"/>
                <a:stretch>
                  <a:fillRect l="-3059" r="-3059" b="-20755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600071"/>
          <p:cNvSpPr txBox="1"/>
          <p:nvPr/>
        </p:nvSpPr>
        <p:spPr>
          <a:xfrm>
            <a:off x="2209086" y="2925177"/>
            <a:ext cx="1224000" cy="30777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Times New Roman"/>
                <a:ea typeface="华文细黑"/>
                <a:cs typeface="Times New Roman"/>
              </a:rPr>
              <a:t>候选项集</a:t>
            </a:r>
            <a:endParaRPr lang="zh-CN" altLang="en-US" sz="3200" dirty="0">
              <a:solidFill>
                <a:srgbClr val="C00000"/>
              </a:solidFill>
              <a:latin typeface="宋体"/>
              <a:cs typeface="宋体"/>
            </a:endParaRPr>
          </a:p>
        </p:txBody>
      </p:sp>
      <p:sp>
        <p:nvSpPr>
          <p:cNvPr id="22" name="右箭头 21"/>
          <p:cNvSpPr/>
          <p:nvPr/>
        </p:nvSpPr>
        <p:spPr>
          <a:xfrm rot="5400000">
            <a:off x="4072092" y="3313004"/>
            <a:ext cx="332834" cy="288000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4262" tIns="42131" rIns="84262" bIns="421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/>
          </a:p>
        </p:txBody>
      </p:sp>
      <p:sp>
        <p:nvSpPr>
          <p:cNvPr id="24" name="圆角矩形 23"/>
          <p:cNvSpPr/>
          <p:nvPr/>
        </p:nvSpPr>
        <p:spPr>
          <a:xfrm>
            <a:off x="1907705" y="2816751"/>
            <a:ext cx="4968553" cy="1195514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>
                <a:latin typeface="宋体"/>
                <a:cs typeface="宋体"/>
              </a:rPr>
              <a:t> </a:t>
            </a:r>
            <a:endParaRPr lang="zh-CN" altLang="en-US" sz="3200">
              <a:latin typeface="宋体"/>
              <a:cs typeface="宋体"/>
            </a:endParaRPr>
          </a:p>
        </p:txBody>
      </p:sp>
      <p:sp>
        <p:nvSpPr>
          <p:cNvPr id="23" name="文本框 600325"/>
          <p:cNvSpPr txBox="1"/>
          <p:nvPr/>
        </p:nvSpPr>
        <p:spPr>
          <a:xfrm>
            <a:off x="1992925" y="2925177"/>
            <a:ext cx="303548" cy="30777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zh-CN" altLang="en-US" sz="2000" b="1" kern="100" dirty="0">
                <a:solidFill>
                  <a:srgbClr val="0000FF"/>
                </a:solidFill>
                <a:latin typeface="Times New Roman"/>
                <a:ea typeface="华文细黑"/>
                <a:cs typeface="Times New Roman"/>
                <a:sym typeface="Wingdings"/>
              </a:rPr>
              <a:t></a:t>
            </a:r>
            <a:endParaRPr lang="zh-CN" altLang="en-US" sz="2000" b="1" kern="100" dirty="0">
              <a:solidFill>
                <a:srgbClr val="0000FF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25" name="文本框 600325"/>
          <p:cNvSpPr txBox="1"/>
          <p:nvPr/>
        </p:nvSpPr>
        <p:spPr>
          <a:xfrm>
            <a:off x="2048130" y="3735267"/>
            <a:ext cx="303548" cy="30777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zh-CN" altLang="en-US" sz="2000" b="1" kern="100" dirty="0">
                <a:solidFill>
                  <a:srgbClr val="0000FF"/>
                </a:solidFill>
                <a:latin typeface="Times New Roman"/>
                <a:ea typeface="华文细黑"/>
                <a:cs typeface="Times New Roman"/>
                <a:sym typeface="Wingdings"/>
              </a:rPr>
              <a:t></a:t>
            </a:r>
            <a:endParaRPr lang="zh-CN" altLang="en-US" sz="2000" b="1" kern="100" dirty="0">
              <a:solidFill>
                <a:srgbClr val="0000FF"/>
              </a:solidFill>
              <a:latin typeface="Times New Roman"/>
              <a:ea typeface="宋体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/>
              <p:cNvSpPr/>
              <p:nvPr/>
            </p:nvSpPr>
            <p:spPr>
              <a:xfrm>
                <a:off x="4309513" y="4846396"/>
                <a:ext cx="14866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←</m:t>
                      </m:r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𝑚𝑖𝑛𝐶𝑜𝑛𝑓</m:t>
                      </m:r>
                    </m:oMath>
                  </m:oMathPara>
                </a14:m>
                <a:endParaRPr lang="zh-CN" altLang="zh-CN" sz="2800" dirty="0">
                  <a:latin typeface="宋体"/>
                  <a:cs typeface="宋体"/>
                </a:endParaRPr>
              </a:p>
            </p:txBody>
          </p:sp>
        </mc:Choice>
        <mc:Fallback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513" y="4846396"/>
                <a:ext cx="1486625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/>
              <p:cNvSpPr/>
              <p:nvPr/>
            </p:nvSpPr>
            <p:spPr>
              <a:xfrm>
                <a:off x="4309513" y="2392085"/>
                <a:ext cx="13448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←</m:t>
                      </m:r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𝑚𝑖𝑛𝑆𝑢𝑝</m:t>
                      </m:r>
                    </m:oMath>
                  </m:oMathPara>
                </a14:m>
                <a:endParaRPr lang="zh-CN" altLang="zh-CN" sz="2800" dirty="0">
                  <a:latin typeface="宋体"/>
                  <a:cs typeface="宋体"/>
                </a:endParaRPr>
              </a:p>
            </p:txBody>
          </p:sp>
        </mc:Choice>
        <mc:Fallback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513" y="2392085"/>
                <a:ext cx="1344855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52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0" grpId="0"/>
      <p:bldP spid="21" grpId="0"/>
      <p:bldP spid="22" grpId="0" animBg="1"/>
      <p:bldP spid="24" grpId="0" animBg="1"/>
      <p:bldP spid="23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产生候选项集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由项产生候选项集</a:t>
            </a:r>
            <a:endParaRPr lang="en-US" altLang="zh-CN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zh-CN" altLang="en-US" dirty="0"/>
              <a:t>，</a:t>
            </a:r>
            <a:r>
              <a:rPr lang="en-US" altLang="zh-CN" dirty="0"/>
              <a:t>E</a:t>
            </a:r>
            <a:r>
              <a:rPr lang="zh-CN" altLang="en-US" dirty="0"/>
              <a:t>五个</a:t>
            </a:r>
            <a:r>
              <a:rPr lang="en-US" altLang="zh-CN" dirty="0"/>
              <a:t>Item</a:t>
            </a:r>
          </a:p>
          <a:p>
            <a:pPr lvl="1"/>
            <a:r>
              <a:rPr lang="zh-CN" altLang="en-US" dirty="0"/>
              <a:t>产生</a:t>
            </a:r>
            <a:r>
              <a:rPr lang="en-US" altLang="zh-CN" dirty="0"/>
              <a:t>2</a:t>
            </a:r>
            <a:r>
              <a:rPr lang="en-US" altLang="zh-CN" baseline="30000" dirty="0"/>
              <a:t>5</a:t>
            </a:r>
            <a:r>
              <a:rPr lang="en-US" altLang="zh-CN" dirty="0"/>
              <a:t>=32</a:t>
            </a:r>
            <a:r>
              <a:rPr lang="zh-CN" altLang="zh-CN" dirty="0"/>
              <a:t>个</a:t>
            </a:r>
            <a:r>
              <a:rPr lang="zh-CN" altLang="en-US" dirty="0"/>
              <a:t>项集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11763" y="2211778"/>
            <a:ext cx="6590477" cy="3778572"/>
          </a:xfrm>
          <a:prstGeom prst="rect">
            <a:avLst/>
          </a:prstGeom>
          <a:noFill/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88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fr-FR" dirty="0"/>
              <a:t>暴力破解</a:t>
            </a:r>
            <a:r>
              <a:rPr lang="fr-FR" altLang="zh-CN" dirty="0"/>
              <a:t>(Brute-force)</a:t>
            </a:r>
            <a:r>
              <a:rPr lang="zh-CN" altLang="fr-FR" dirty="0"/>
              <a:t>法</a:t>
            </a:r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8016" indent="0">
              <a:buSzPct val="100000"/>
              <a:buNone/>
            </a:pPr>
            <a:r>
              <a:rPr lang="zh-CN" altLang="en-US" dirty="0"/>
              <a:t>算法过程：</a:t>
            </a:r>
            <a:endParaRPr lang="en-US" altLang="zh-CN" sz="14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3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641" y="3451741"/>
            <a:ext cx="2017956" cy="2504741"/>
          </a:xfrm>
          <a:prstGeom prst="rect">
            <a:avLst/>
          </a:prstGeom>
        </p:spPr>
      </p:pic>
      <p:sp>
        <p:nvSpPr>
          <p:cNvPr id="34" name="TextBox 7"/>
          <p:cNvSpPr txBox="1"/>
          <p:nvPr/>
        </p:nvSpPr>
        <p:spPr>
          <a:xfrm>
            <a:off x="4110979" y="3279310"/>
            <a:ext cx="734332" cy="1723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eaLnBrk="0" fontAlgn="base" hangingPunct="0"/>
            <a:r>
              <a:rPr lang="zh-CN" altLang="en-US" sz="1000" b="1" dirty="0">
                <a:solidFill>
                  <a:srgbClr val="000000"/>
                </a:solidFill>
                <a:latin typeface="宋体"/>
                <a:ea typeface="华文细黑"/>
                <a:cs typeface="Times New Roman"/>
              </a:rPr>
              <a:t>候选项集</a:t>
            </a:r>
            <a:endParaRPr lang="zh-CN" altLang="en-US" sz="1400" dirty="0">
              <a:latin typeface="宋体"/>
              <a:cs typeface="宋体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436098" y="3274775"/>
            <a:ext cx="883733" cy="1768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eaLnBrk="0" fontAlgn="base" hangingPunct="0"/>
            <a:r>
              <a:rPr lang="zh-CN" altLang="en-US" sz="1000" b="1" dirty="0">
                <a:solidFill>
                  <a:srgbClr val="000000"/>
                </a:solidFill>
                <a:latin typeface="宋体"/>
                <a:ea typeface="华文细黑"/>
                <a:cs typeface="Times New Roman"/>
              </a:rPr>
              <a:t>支持度计数</a:t>
            </a:r>
            <a:endParaRPr lang="zh-CN" altLang="en-US" sz="1400" dirty="0">
              <a:latin typeface="宋体"/>
              <a:cs typeface="宋体"/>
            </a:endParaRPr>
          </a:p>
        </p:txBody>
      </p:sp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5436096" y="3454633"/>
          <a:ext cx="684000" cy="24786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78" name="表格 77"/>
          <p:cNvGraphicFramePr>
            <a:graphicFrameLocks noGrp="1"/>
          </p:cNvGraphicFramePr>
          <p:nvPr/>
        </p:nvGraphicFramePr>
        <p:xfrm>
          <a:off x="7343586" y="3882651"/>
          <a:ext cx="1311910" cy="498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876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{</a:t>
                      </a:r>
                      <a:r>
                        <a:rPr kumimoji="0" lang="zh-CN" altLang="en-US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面包，牛奶</a:t>
                      </a: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}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{</a:t>
                      </a:r>
                      <a:r>
                        <a:rPr kumimoji="0" lang="zh-CN" altLang="en-US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面包，尿布</a:t>
                      </a: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}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……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…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9" name="表格 78"/>
          <p:cNvGraphicFramePr>
            <a:graphicFrameLocks noGrp="1"/>
          </p:cNvGraphicFramePr>
          <p:nvPr/>
        </p:nvGraphicFramePr>
        <p:xfrm>
          <a:off x="7343586" y="4530722"/>
          <a:ext cx="1692910" cy="997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876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{</a:t>
                      </a:r>
                      <a:r>
                        <a:rPr kumimoji="0" lang="zh-CN" altLang="en-US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面包，牛奶</a:t>
                      </a: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}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{</a:t>
                      </a:r>
                      <a:r>
                        <a:rPr kumimoji="0" lang="zh-CN" altLang="en-US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面包，尿布</a:t>
                      </a: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}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{</a:t>
                      </a:r>
                      <a:r>
                        <a:rPr kumimoji="0" lang="zh-CN" altLang="en-US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面包，啤酒</a:t>
                      </a: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}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……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…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{</a:t>
                      </a:r>
                      <a:r>
                        <a:rPr kumimoji="0" lang="zh-CN" altLang="en-US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面包，牛奶，尿布</a:t>
                      </a: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}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……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ts val="600"/>
                        </a:lnSpc>
                      </a:pPr>
                      <a:r>
                        <a:rPr kumimoji="0" lang="en-US" altLang="zh-CN" sz="9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…</a:t>
                      </a:r>
                      <a:endParaRPr kumimoji="0" lang="zh-CN" altLang="en-US" sz="9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1148" marB="41148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80" name="直接箭头连接符 79"/>
          <p:cNvCxnSpPr>
            <a:endCxn id="78" idx="1"/>
          </p:cNvCxnSpPr>
          <p:nvPr/>
        </p:nvCxnSpPr>
        <p:spPr>
          <a:xfrm>
            <a:off x="6273594" y="3858702"/>
            <a:ext cx="1069992" cy="27331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endCxn id="78" idx="1"/>
          </p:cNvCxnSpPr>
          <p:nvPr/>
        </p:nvCxnSpPr>
        <p:spPr>
          <a:xfrm>
            <a:off x="6273594" y="3993150"/>
            <a:ext cx="1069992" cy="1388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endCxn id="79" idx="1"/>
          </p:cNvCxnSpPr>
          <p:nvPr/>
        </p:nvCxnSpPr>
        <p:spPr>
          <a:xfrm>
            <a:off x="6273594" y="4583321"/>
            <a:ext cx="1069992" cy="44613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endCxn id="79" idx="1"/>
          </p:cNvCxnSpPr>
          <p:nvPr/>
        </p:nvCxnSpPr>
        <p:spPr>
          <a:xfrm>
            <a:off x="6273594" y="4723463"/>
            <a:ext cx="1069992" cy="3059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endCxn id="78" idx="1"/>
          </p:cNvCxnSpPr>
          <p:nvPr/>
        </p:nvCxnSpPr>
        <p:spPr>
          <a:xfrm>
            <a:off x="6273594" y="4108964"/>
            <a:ext cx="1069992" cy="2305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endCxn id="78" idx="1"/>
          </p:cNvCxnSpPr>
          <p:nvPr/>
        </p:nvCxnSpPr>
        <p:spPr>
          <a:xfrm flipV="1">
            <a:off x="6273594" y="4132015"/>
            <a:ext cx="1069992" cy="11709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endCxn id="79" idx="1"/>
          </p:cNvCxnSpPr>
          <p:nvPr/>
        </p:nvCxnSpPr>
        <p:spPr>
          <a:xfrm>
            <a:off x="6273594" y="4848273"/>
            <a:ext cx="1069992" cy="18117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endCxn id="79" idx="1"/>
          </p:cNvCxnSpPr>
          <p:nvPr/>
        </p:nvCxnSpPr>
        <p:spPr>
          <a:xfrm>
            <a:off x="6273594" y="4988415"/>
            <a:ext cx="1069992" cy="4103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6479493" y="3688229"/>
            <a:ext cx="88036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50" dirty="0">
                <a:latin typeface="Times New Roman" pitchFamily="18" charset="0"/>
                <a:cs typeface="Times New Roman" pitchFamily="18" charset="0"/>
              </a:rPr>
              <a:t>minSup=3/N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6479492" y="4465915"/>
            <a:ext cx="88036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50" dirty="0">
                <a:latin typeface="Times New Roman" pitchFamily="18" charset="0"/>
                <a:cs typeface="Times New Roman" pitchFamily="18" charset="0"/>
              </a:rPr>
              <a:t>minSup=2/N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0" name="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28" y="4107508"/>
            <a:ext cx="1767708" cy="939278"/>
          </a:xfrm>
          <a:prstGeom prst="rect">
            <a:avLst/>
          </a:prstGeom>
        </p:spPr>
      </p:pic>
      <p:sp>
        <p:nvSpPr>
          <p:cNvPr id="51" name="TextBox 2"/>
          <p:cNvSpPr txBox="1"/>
          <p:nvPr/>
        </p:nvSpPr>
        <p:spPr>
          <a:xfrm>
            <a:off x="384024" y="3927596"/>
            <a:ext cx="460964" cy="207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eaLnBrk="0" fontAlgn="base" hangingPunct="0"/>
            <a:r>
              <a:rPr lang="zh-CN" altLang="en-US" sz="900" b="1" dirty="0">
                <a:solidFill>
                  <a:srgbClr val="000000"/>
                </a:solidFill>
                <a:latin typeface="宋体"/>
                <a:ea typeface="华文细黑"/>
                <a:cs typeface="Times New Roman"/>
              </a:rPr>
              <a:t>事务</a:t>
            </a:r>
            <a:endParaRPr lang="zh-CN" altLang="en-US" sz="1200" dirty="0">
              <a:latin typeface="宋体"/>
              <a:cs typeface="宋体"/>
            </a:endParaRPr>
          </a:p>
        </p:txBody>
      </p:sp>
      <p:pic>
        <p:nvPicPr>
          <p:cNvPr id="53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084275"/>
            <a:ext cx="432000" cy="900099"/>
          </a:xfrm>
          <a:prstGeom prst="rect">
            <a:avLst/>
          </a:prstGeom>
          <a:ln w="3175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54" name="直接箭头连接符 53"/>
          <p:cNvCxnSpPr/>
          <p:nvPr/>
        </p:nvCxnSpPr>
        <p:spPr>
          <a:xfrm flipV="1">
            <a:off x="2195736" y="4660005"/>
            <a:ext cx="648072" cy="1439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V="1">
            <a:off x="2195736" y="4279937"/>
            <a:ext cx="648072" cy="35518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2195736" y="4511860"/>
            <a:ext cx="648072" cy="1481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2195736" y="4326961"/>
            <a:ext cx="648072" cy="5812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 flipV="1">
            <a:off x="2195736" y="4390819"/>
            <a:ext cx="648072" cy="4131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V="1">
            <a:off x="2195736" y="4390819"/>
            <a:ext cx="648072" cy="24430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2195736" y="4511860"/>
            <a:ext cx="648072" cy="39638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2195736" y="4326961"/>
            <a:ext cx="648072" cy="6385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V="1">
            <a:off x="2195736" y="4276935"/>
            <a:ext cx="648072" cy="70743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V="1">
            <a:off x="2195736" y="4908242"/>
            <a:ext cx="648072" cy="7069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endCxn id="53" idx="1"/>
          </p:cNvCxnSpPr>
          <p:nvPr/>
        </p:nvCxnSpPr>
        <p:spPr>
          <a:xfrm flipV="1">
            <a:off x="2195736" y="4534323"/>
            <a:ext cx="648072" cy="1008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 rot="5400000">
            <a:off x="3504134" y="4584241"/>
            <a:ext cx="388800" cy="64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/>
                <a:ea typeface="宋体"/>
                <a:cs typeface="Times New Roman"/>
              </a:rPr>
              <a:t>……</a:t>
            </a:r>
            <a:endParaRPr lang="zh-CN" altLang="en-US" sz="1200" dirty="0">
              <a:latin typeface="宋体"/>
              <a:cs typeface="宋体"/>
            </a:endParaRPr>
          </a:p>
        </p:txBody>
      </p:sp>
      <p:cxnSp>
        <p:nvCxnSpPr>
          <p:cNvPr id="75" name="直接箭头连接符 74"/>
          <p:cNvCxnSpPr/>
          <p:nvPr/>
        </p:nvCxnSpPr>
        <p:spPr>
          <a:xfrm flipV="1">
            <a:off x="3311944" y="3537955"/>
            <a:ext cx="756000" cy="82621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V="1">
            <a:off x="3311944" y="3705844"/>
            <a:ext cx="756000" cy="6574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 flipV="1">
            <a:off x="3311944" y="3841973"/>
            <a:ext cx="756000" cy="5341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 flipV="1">
            <a:off x="3311944" y="4018937"/>
            <a:ext cx="756000" cy="34925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>
            <a:off x="3311944" y="4377405"/>
            <a:ext cx="756000" cy="15082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 flipV="1">
            <a:off x="3311944" y="3705845"/>
            <a:ext cx="756000" cy="82621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 flipV="1">
            <a:off x="3311944" y="3873734"/>
            <a:ext cx="756000" cy="6574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V="1">
            <a:off x="3311944" y="4009863"/>
            <a:ext cx="756000" cy="5341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 flipV="1">
            <a:off x="3311944" y="4186827"/>
            <a:ext cx="756000" cy="34925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V="1">
            <a:off x="3311944" y="3537954"/>
            <a:ext cx="756000" cy="100666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3311944" y="4549833"/>
            <a:ext cx="756000" cy="133536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8" name="内容占位符 1"/>
          <p:cNvSpPr txBox="1">
            <a:spLocks/>
          </p:cNvSpPr>
          <p:nvPr/>
        </p:nvSpPr>
        <p:spPr>
          <a:xfrm>
            <a:off x="399878" y="2152432"/>
            <a:ext cx="3740074" cy="1852633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1pPr>
            <a:lvl2pPr marL="640080" indent="-23774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Font typeface="Verdana"/>
              <a:buChar char="◦"/>
              <a:defRPr kumimoji="0" sz="24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2pPr>
            <a:lvl3pPr marL="886968" indent="-22860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2"/>
              </a:buClr>
              <a:buFont typeface="Wingdings 2"/>
              <a:buChar char=""/>
              <a:defRPr kumimoji="0" sz="20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3pPr>
            <a:lvl4pPr marL="1097280" indent="-173736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3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4pPr>
            <a:lvl5pPr marL="1298448" indent="-18288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76225" indent="-261938">
              <a:buClrTx/>
              <a:buSzPct val="100000"/>
              <a:buFont typeface="+mj-lt"/>
              <a:buAutoNum type="arabicPeriod"/>
            </a:pPr>
            <a:r>
              <a:rPr lang="zh-CN" altLang="en-US" sz="1800" dirty="0"/>
              <a:t>根据购物篮事务数据</a:t>
            </a:r>
            <a:endParaRPr lang="en-US" altLang="zh-CN" sz="1800" dirty="0"/>
          </a:p>
          <a:p>
            <a:pPr marL="276225" indent="-261938">
              <a:buClrTx/>
              <a:buSzPct val="100000"/>
              <a:buFont typeface="+mj-lt"/>
              <a:buAutoNum type="arabicPeriod"/>
            </a:pPr>
            <a:r>
              <a:rPr lang="zh-CN" altLang="en-US" sz="1800" dirty="0"/>
              <a:t>产生项列表</a:t>
            </a:r>
            <a:endParaRPr lang="en-US" altLang="zh-CN" sz="1800" dirty="0"/>
          </a:p>
          <a:p>
            <a:pPr marL="276225" indent="-261938">
              <a:buClrTx/>
              <a:buSzPct val="100000"/>
              <a:buFont typeface="+mj-lt"/>
              <a:buAutoNum type="arabicPeriod"/>
            </a:pPr>
            <a:r>
              <a:rPr lang="zh-CN" altLang="en-US" sz="1800" dirty="0"/>
              <a:t>产生候选项集</a:t>
            </a:r>
            <a:endParaRPr lang="en-US" altLang="zh-CN" sz="1800" dirty="0"/>
          </a:p>
          <a:p>
            <a:pPr marL="276225" indent="-261938">
              <a:buClrTx/>
              <a:buSzPct val="100000"/>
              <a:buFont typeface="+mj-lt"/>
              <a:buAutoNum type="arabicPeriod"/>
            </a:pPr>
            <a:r>
              <a:rPr lang="zh-CN" altLang="en-US" sz="1800" dirty="0"/>
              <a:t>计算每个项集的支持度</a:t>
            </a:r>
            <a:r>
              <a:rPr lang="en-US" altLang="zh-CN" sz="1800" dirty="0"/>
              <a:t>(/</a:t>
            </a:r>
            <a:r>
              <a:rPr lang="zh-CN" altLang="en-US" sz="1800" dirty="0"/>
              <a:t>计数</a:t>
            </a:r>
            <a:r>
              <a:rPr lang="en-US" altLang="zh-CN" sz="1800" dirty="0"/>
              <a:t>)</a:t>
            </a:r>
          </a:p>
          <a:p>
            <a:pPr marL="276225" indent="-261938">
              <a:buClrTx/>
              <a:buSzPct val="100000"/>
              <a:buFont typeface="+mj-lt"/>
              <a:buAutoNum type="arabicPeriod"/>
            </a:pPr>
            <a:r>
              <a:rPr lang="zh-CN" altLang="en-US" sz="1800" dirty="0"/>
              <a:t>确定阈值，得到频繁项集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367041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3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3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3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3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3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3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3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3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4" grpId="0"/>
      <p:bldP spid="49" grpId="0"/>
      <p:bldP spid="88" grpId="0"/>
      <p:bldP spid="88" grpId="1"/>
      <p:bldP spid="89" grpId="0"/>
      <p:bldP spid="51" grpId="0"/>
      <p:bldP spid="74" grpId="0"/>
      <p:bldP spid="48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fr-FR" dirty="0"/>
              <a:t>暴力破解</a:t>
            </a:r>
            <a:r>
              <a:rPr lang="fr-FR" altLang="zh-CN" dirty="0"/>
              <a:t>(Brute-force)</a:t>
            </a:r>
            <a:r>
              <a:rPr lang="zh-CN" altLang="fr-FR" dirty="0"/>
              <a:t>法</a:t>
            </a:r>
            <a:endParaRPr lang="en-US" altLang="zh-C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1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28" y="4107508"/>
            <a:ext cx="1767708" cy="939278"/>
          </a:xfrm>
          <a:prstGeom prst="rect">
            <a:avLst/>
          </a:prstGeom>
        </p:spPr>
      </p:pic>
      <p:sp>
        <p:nvSpPr>
          <p:cNvPr id="32" name="TextBox 2"/>
          <p:cNvSpPr txBox="1"/>
          <p:nvPr/>
        </p:nvSpPr>
        <p:spPr>
          <a:xfrm>
            <a:off x="384024" y="3927596"/>
            <a:ext cx="460964" cy="207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eaLnBrk="0" fontAlgn="base" hangingPunct="0"/>
            <a:r>
              <a:rPr lang="zh-CN" altLang="en-US" sz="900" b="1" dirty="0">
                <a:solidFill>
                  <a:srgbClr val="000000"/>
                </a:solidFill>
                <a:latin typeface="宋体"/>
                <a:ea typeface="华文细黑"/>
                <a:cs typeface="Times New Roman"/>
              </a:rPr>
              <a:t>事务</a:t>
            </a:r>
            <a:endParaRPr lang="zh-CN" altLang="en-US" sz="1200" dirty="0">
              <a:latin typeface="宋体"/>
              <a:cs typeface="宋体"/>
            </a:endParaRPr>
          </a:p>
        </p:txBody>
      </p:sp>
      <p:pic>
        <p:nvPicPr>
          <p:cNvPr id="33" name="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641" y="3451741"/>
            <a:ext cx="2017956" cy="2504741"/>
          </a:xfrm>
          <a:prstGeom prst="rect">
            <a:avLst/>
          </a:prstGeom>
        </p:spPr>
      </p:pic>
      <p:sp>
        <p:nvSpPr>
          <p:cNvPr id="34" name="TextBox 7"/>
          <p:cNvSpPr txBox="1"/>
          <p:nvPr/>
        </p:nvSpPr>
        <p:spPr>
          <a:xfrm>
            <a:off x="4110979" y="3279310"/>
            <a:ext cx="734332" cy="1723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eaLnBrk="0" fontAlgn="base" hangingPunct="0"/>
            <a:r>
              <a:rPr lang="zh-CN" altLang="en-US" sz="1000" b="1" dirty="0">
                <a:solidFill>
                  <a:srgbClr val="000000"/>
                </a:solidFill>
                <a:latin typeface="宋体"/>
                <a:ea typeface="华文细黑"/>
                <a:cs typeface="Times New Roman"/>
              </a:rPr>
              <a:t>候选项集</a:t>
            </a:r>
            <a:endParaRPr lang="zh-CN" altLang="en-US" sz="1400" dirty="0">
              <a:latin typeface="宋体"/>
              <a:cs typeface="宋体"/>
            </a:endParaRPr>
          </a:p>
        </p:txBody>
      </p:sp>
      <p:sp>
        <p:nvSpPr>
          <p:cNvPr id="46" name="矩形 45"/>
          <p:cNvSpPr/>
          <p:nvPr/>
        </p:nvSpPr>
        <p:spPr>
          <a:xfrm rot="5400000">
            <a:off x="3504134" y="4584241"/>
            <a:ext cx="388800" cy="64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/>
                <a:ea typeface="宋体"/>
                <a:cs typeface="Times New Roman"/>
              </a:rPr>
              <a:t>……</a:t>
            </a:r>
            <a:endParaRPr lang="zh-CN" altLang="en-US" sz="1200" dirty="0">
              <a:latin typeface="宋体"/>
              <a:cs typeface="宋体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V="1">
            <a:off x="3311944" y="3537955"/>
            <a:ext cx="756000" cy="82621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3311944" y="3705844"/>
            <a:ext cx="756000" cy="6574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3311944" y="3841973"/>
            <a:ext cx="756000" cy="5341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3311944" y="4018937"/>
            <a:ext cx="756000" cy="34925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3311944" y="4377405"/>
            <a:ext cx="756000" cy="15082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V="1">
            <a:off x="3311944" y="3705845"/>
            <a:ext cx="756000" cy="82621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3311944" y="3873734"/>
            <a:ext cx="756000" cy="6574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V="1">
            <a:off x="3311944" y="4009863"/>
            <a:ext cx="756000" cy="5341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V="1">
            <a:off x="3311944" y="4186827"/>
            <a:ext cx="756000" cy="34925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3311944" y="3537954"/>
            <a:ext cx="756000" cy="100666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3311944" y="4549833"/>
            <a:ext cx="756000" cy="133536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582245" y="1744014"/>
            <a:ext cx="3295334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算法的时间复杂度为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O(NMW)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N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为事务的项数</a:t>
            </a:r>
            <a:endParaRPr lang="en-US" altLang="zh-CN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W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为事务中项集的维度</a:t>
            </a:r>
            <a:endParaRPr lang="en-US" altLang="zh-CN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M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为候选项集的项数</a:t>
            </a:r>
          </a:p>
        </p:txBody>
      </p:sp>
      <p:pic>
        <p:nvPicPr>
          <p:cNvPr id="49153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084275"/>
            <a:ext cx="432000" cy="900099"/>
          </a:xfrm>
          <a:prstGeom prst="rect">
            <a:avLst/>
          </a:prstGeom>
          <a:ln w="3175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40" name="直接箭头连接符 39"/>
          <p:cNvCxnSpPr/>
          <p:nvPr/>
        </p:nvCxnSpPr>
        <p:spPr>
          <a:xfrm flipV="1">
            <a:off x="2195736" y="4660005"/>
            <a:ext cx="648072" cy="1439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2195736" y="4279937"/>
            <a:ext cx="648072" cy="35518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2195736" y="4511860"/>
            <a:ext cx="648072" cy="1481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2195736" y="4326961"/>
            <a:ext cx="648072" cy="5812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V="1">
            <a:off x="2195736" y="4390819"/>
            <a:ext cx="648072" cy="4131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V="1">
            <a:off x="2195736" y="4390819"/>
            <a:ext cx="648072" cy="24430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2195736" y="4511860"/>
            <a:ext cx="648072" cy="39638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2195736" y="4326961"/>
            <a:ext cx="648072" cy="6385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V="1">
            <a:off x="2195736" y="4276935"/>
            <a:ext cx="648072" cy="70743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 flipV="1">
            <a:off x="2195736" y="4908242"/>
            <a:ext cx="648072" cy="7069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endCxn id="49153" idx="1"/>
          </p:cNvCxnSpPr>
          <p:nvPr/>
        </p:nvCxnSpPr>
        <p:spPr>
          <a:xfrm flipV="1">
            <a:off x="2195736" y="4534323"/>
            <a:ext cx="648072" cy="1008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5436098" y="3274775"/>
            <a:ext cx="883733" cy="1768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eaLnBrk="0" fontAlgn="base" hangingPunct="0"/>
            <a:r>
              <a:rPr lang="zh-CN" altLang="en-US" sz="1000" b="1" dirty="0">
                <a:solidFill>
                  <a:srgbClr val="000000"/>
                </a:solidFill>
                <a:latin typeface="宋体"/>
                <a:ea typeface="华文细黑"/>
                <a:cs typeface="Times New Roman"/>
              </a:rPr>
              <a:t>支持度计数</a:t>
            </a:r>
            <a:endParaRPr lang="zh-CN" altLang="en-US" sz="1400" dirty="0">
              <a:latin typeface="宋体"/>
              <a:cs typeface="宋体"/>
            </a:endParaRPr>
          </a:p>
        </p:txBody>
      </p:sp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5452191" y="3454633"/>
          <a:ext cx="684000" cy="24786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4913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</a:pPr>
                      <a:r>
                        <a:rPr lang="en-US" altLang="zh-CN" sz="700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6" name="左大括号 75"/>
          <p:cNvSpPr/>
          <p:nvPr/>
        </p:nvSpPr>
        <p:spPr>
          <a:xfrm flipH="1">
            <a:off x="6180851" y="3451741"/>
            <a:ext cx="120533" cy="2485841"/>
          </a:xfrm>
          <a:prstGeom prst="leftBrace">
            <a:avLst>
              <a:gd name="adj1" fmla="val 56944"/>
              <a:gd name="adj2" fmla="val 50000"/>
            </a:avLst>
          </a:prstGeom>
          <a:ln w="127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" name="TextBox 30"/>
          <p:cNvSpPr txBox="1"/>
          <p:nvPr/>
        </p:nvSpPr>
        <p:spPr>
          <a:xfrm>
            <a:off x="6302947" y="4603858"/>
            <a:ext cx="221955" cy="17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56515" eaLnBrk="0" fontAlgn="base" hangingPunct="0"/>
            <a:r>
              <a:rPr lang="en-US" sz="9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宋体"/>
                <a:cs typeface="Times New Roman"/>
              </a:rPr>
              <a:t>M</a:t>
            </a:r>
            <a:endParaRPr lang="zh-CN" altLang="en-US" sz="12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/>
              <a:cs typeface="宋体"/>
            </a:endParaRPr>
          </a:p>
        </p:txBody>
      </p:sp>
      <p:sp>
        <p:nvSpPr>
          <p:cNvPr id="50" name="左大括号 49"/>
          <p:cNvSpPr/>
          <p:nvPr/>
        </p:nvSpPr>
        <p:spPr>
          <a:xfrm>
            <a:off x="181702" y="4279937"/>
            <a:ext cx="120533" cy="760133"/>
          </a:xfrm>
          <a:prstGeom prst="leftBrace">
            <a:avLst>
              <a:gd name="adj1" fmla="val 56944"/>
              <a:gd name="adj2" fmla="val 50000"/>
            </a:avLst>
          </a:prstGeom>
          <a:ln w="127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TextBox 26"/>
          <p:cNvSpPr txBox="1"/>
          <p:nvPr/>
        </p:nvSpPr>
        <p:spPr>
          <a:xfrm>
            <a:off x="-36512" y="4509877"/>
            <a:ext cx="372583" cy="265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fontAlgn="base" hangingPunct="0"/>
            <a:r>
              <a:rPr lang="en-US" sz="9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宋体"/>
                <a:cs typeface="Times New Roman"/>
              </a:rPr>
              <a:t>N</a:t>
            </a:r>
            <a:endParaRPr lang="zh-CN" altLang="en-US" sz="12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/>
              <a:cs typeface="宋体"/>
            </a:endParaRPr>
          </a:p>
        </p:txBody>
      </p:sp>
      <p:sp>
        <p:nvSpPr>
          <p:cNvPr id="53" name="左大括号 52"/>
          <p:cNvSpPr/>
          <p:nvPr/>
        </p:nvSpPr>
        <p:spPr>
          <a:xfrm rot="16200000" flipV="1">
            <a:off x="1463144" y="4603626"/>
            <a:ext cx="102721" cy="1084799"/>
          </a:xfrm>
          <a:prstGeom prst="leftBrace">
            <a:avLst>
              <a:gd name="adj1" fmla="val 56944"/>
              <a:gd name="adj2" fmla="val 50000"/>
            </a:avLst>
          </a:prstGeom>
          <a:ln w="127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8016" indent="0">
              <a:buSzPct val="100000"/>
              <a:buNone/>
            </a:pPr>
            <a:r>
              <a:rPr lang="zh-CN" altLang="en-US" dirty="0"/>
              <a:t>算法过程：</a:t>
            </a:r>
            <a:endParaRPr lang="zh-CN" altLang="en-US" sz="2000" dirty="0"/>
          </a:p>
        </p:txBody>
      </p:sp>
      <p:sp>
        <p:nvSpPr>
          <p:cNvPr id="54" name="TextBox 28"/>
          <p:cNvSpPr txBox="1"/>
          <p:nvPr/>
        </p:nvSpPr>
        <p:spPr>
          <a:xfrm>
            <a:off x="1344060" y="5181993"/>
            <a:ext cx="392891" cy="2945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fontAlgn="base" hangingPunct="0"/>
            <a:r>
              <a:rPr lang="en-US" sz="10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宋体"/>
                <a:cs typeface="Times New Roman"/>
              </a:rPr>
              <a:t>W</a:t>
            </a:r>
            <a:endParaRPr lang="zh-CN" altLang="en-US" sz="12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/>
              <a:cs typeface="宋体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4" name="内容占位符 1"/>
          <p:cNvSpPr txBox="1">
            <a:spLocks/>
          </p:cNvSpPr>
          <p:nvPr/>
        </p:nvSpPr>
        <p:spPr>
          <a:xfrm>
            <a:off x="503630" y="1617256"/>
            <a:ext cx="3740074" cy="1852633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1pPr>
            <a:lvl2pPr marL="640080" indent="-23774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Font typeface="Verdana"/>
              <a:buChar char="◦"/>
              <a:defRPr kumimoji="0" sz="24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2pPr>
            <a:lvl3pPr marL="886968" indent="-22860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2"/>
              </a:buClr>
              <a:buFont typeface="Wingdings 2"/>
              <a:buChar char=""/>
              <a:defRPr kumimoji="0" sz="20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3pPr>
            <a:lvl4pPr marL="1097280" indent="-173736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3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4pPr>
            <a:lvl5pPr marL="1298448" indent="-18288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76225" indent="-261938">
              <a:buClrTx/>
              <a:buSzPct val="100000"/>
              <a:buFont typeface="+mj-lt"/>
              <a:buAutoNum type="arabicPeriod"/>
            </a:pPr>
            <a:r>
              <a:rPr lang="zh-CN" altLang="en-US" sz="1800" dirty="0"/>
              <a:t>根据购物篮事务数据</a:t>
            </a:r>
            <a:endParaRPr lang="en-US" altLang="zh-CN" sz="1800" dirty="0"/>
          </a:p>
          <a:p>
            <a:pPr marL="276225" indent="-261938">
              <a:buClrTx/>
              <a:buSzPct val="100000"/>
              <a:buFont typeface="+mj-lt"/>
              <a:buAutoNum type="arabicPeriod"/>
            </a:pPr>
            <a:r>
              <a:rPr lang="zh-CN" altLang="en-US" sz="1800" dirty="0"/>
              <a:t>产生项列表</a:t>
            </a:r>
            <a:endParaRPr lang="en-US" altLang="zh-CN" sz="1800" dirty="0"/>
          </a:p>
          <a:p>
            <a:pPr marL="276225" indent="-261938">
              <a:buClrTx/>
              <a:buSzPct val="100000"/>
              <a:buFont typeface="+mj-lt"/>
              <a:buAutoNum type="arabicPeriod"/>
            </a:pPr>
            <a:r>
              <a:rPr lang="zh-CN" altLang="en-US" sz="1800" dirty="0"/>
              <a:t>产生候选项集</a:t>
            </a:r>
            <a:endParaRPr lang="en-US" altLang="zh-CN" sz="1800" dirty="0"/>
          </a:p>
          <a:p>
            <a:pPr marL="276225" indent="-261938">
              <a:buClrTx/>
              <a:buSzPct val="100000"/>
              <a:buFont typeface="+mj-lt"/>
              <a:buAutoNum type="arabicPeriod"/>
            </a:pPr>
            <a:r>
              <a:rPr lang="zh-CN" altLang="en-US" sz="1800" dirty="0"/>
              <a:t>计算每个项集的支持度</a:t>
            </a:r>
            <a:r>
              <a:rPr lang="en-US" altLang="zh-CN" sz="1800" dirty="0"/>
              <a:t>(/</a:t>
            </a:r>
            <a:r>
              <a:rPr lang="zh-CN" altLang="en-US" sz="1800" dirty="0"/>
              <a:t>计数</a:t>
            </a:r>
            <a:r>
              <a:rPr lang="en-US" altLang="zh-CN" sz="1800" dirty="0"/>
              <a:t>)</a:t>
            </a:r>
          </a:p>
          <a:p>
            <a:pPr marL="276225" indent="-261938">
              <a:buClrTx/>
              <a:buSzPct val="100000"/>
              <a:buFont typeface="+mj-lt"/>
              <a:buAutoNum type="arabicPeriod"/>
            </a:pPr>
            <a:r>
              <a:rPr lang="zh-CN" altLang="en-US" sz="1800" dirty="0"/>
              <a:t>确定阈值，得到频繁项集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366895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" presetClass="emph" presetSubtype="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3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" presetClass="emph" presetSubtype="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5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3" presetClass="emph" presetSubtype="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6" grpId="0" animBg="1"/>
      <p:bldP spid="77" grpId="0"/>
      <p:bldP spid="77" grpId="1"/>
      <p:bldP spid="77" grpId="2"/>
      <p:bldP spid="50" grpId="0" animBg="1"/>
      <p:bldP spid="51" grpId="0"/>
      <p:bldP spid="51" grpId="1"/>
      <p:bldP spid="51" grpId="2"/>
      <p:bldP spid="53" grpId="0" animBg="1"/>
      <p:bldP spid="54" grpId="0"/>
      <p:bldP spid="54" grpId="1"/>
      <p:bldP spid="54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产生频繁项集</a:t>
            </a:r>
          </a:p>
        </p:txBody>
      </p:sp>
      <p:sp>
        <p:nvSpPr>
          <p:cNvPr id="2" name="矩形 1"/>
          <p:cNvSpPr/>
          <p:nvPr/>
        </p:nvSpPr>
        <p:spPr>
          <a:xfrm>
            <a:off x="451859" y="979062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细黑" pitchFamily="2" charset="-122"/>
                <a:ea typeface="华文细黑" pitchFamily="2" charset="-122"/>
              </a:rPr>
              <a:t>改进的：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D247BB-1109-408A-8074-7EB153505EA8}"/>
              </a:ext>
            </a:extLst>
          </p:cNvPr>
          <p:cNvSpPr/>
          <p:nvPr/>
        </p:nvSpPr>
        <p:spPr>
          <a:xfrm>
            <a:off x="3114000" y="1659224"/>
            <a:ext cx="2916000" cy="596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82296">
              <a:lnSpc>
                <a:spcPct val="130000"/>
              </a:lnSpc>
              <a:buClr>
                <a:srgbClr val="3891A7"/>
              </a:buClr>
              <a:buSzPct val="80000"/>
            </a:pP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先验算法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Apriori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FC557F-FDC4-4588-87C5-0E1D26AB1D0F}"/>
              </a:ext>
            </a:extLst>
          </p:cNvPr>
          <p:cNvSpPr/>
          <p:nvPr/>
        </p:nvSpPr>
        <p:spPr>
          <a:xfrm>
            <a:off x="3132256" y="2528948"/>
            <a:ext cx="2916000" cy="5963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82296">
              <a:lnSpc>
                <a:spcPct val="130000"/>
              </a:lnSpc>
              <a:buClr>
                <a:srgbClr val="3891A7"/>
              </a:buClr>
              <a:buSzPct val="80000"/>
            </a:pP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FP-Growth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算法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F7C1C9-BDDB-455D-AF2A-AF9BB3EDF5DD}"/>
              </a:ext>
            </a:extLst>
          </p:cNvPr>
          <p:cNvSpPr/>
          <p:nvPr/>
        </p:nvSpPr>
        <p:spPr>
          <a:xfrm>
            <a:off x="3114000" y="3398672"/>
            <a:ext cx="2916000" cy="596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82296">
              <a:lnSpc>
                <a:spcPct val="130000"/>
              </a:lnSpc>
              <a:buClr>
                <a:srgbClr val="3891A7"/>
              </a:buClr>
              <a:buSzPct val="80000"/>
            </a:pP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Eclat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算法</a:t>
            </a:r>
            <a:endParaRPr lang="en-US" altLang="zh-CN" sz="2800" dirty="0">
              <a:solidFill>
                <a:prstClr val="black"/>
              </a:solidFill>
              <a:latin typeface="Times New Roman" pitchFamily="18" charset="0"/>
              <a:ea typeface="华文细黑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C7A1F3-32C8-4F83-AC03-E23588EC1DB6}"/>
              </a:ext>
            </a:extLst>
          </p:cNvPr>
          <p:cNvSpPr/>
          <p:nvPr/>
        </p:nvSpPr>
        <p:spPr>
          <a:xfrm>
            <a:off x="3114000" y="4346217"/>
            <a:ext cx="2916000" cy="5963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82296">
              <a:lnSpc>
                <a:spcPct val="130000"/>
              </a:lnSpc>
              <a:buClr>
                <a:srgbClr val="3891A7"/>
              </a:buClr>
              <a:buSzPct val="80000"/>
            </a:pP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H-mine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3777666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先验算法</a:t>
            </a:r>
            <a:r>
              <a:rPr lang="en-US" altLang="zh-CN" dirty="0"/>
              <a:t>Apriori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Apriori</a:t>
            </a:r>
            <a:r>
              <a:rPr lang="zh-CN" altLang="en-US" dirty="0"/>
              <a:t>算法是一种基于</a:t>
            </a:r>
            <a:r>
              <a:rPr lang="en-US" altLang="zh-CN" dirty="0"/>
              <a:t>Apriori</a:t>
            </a:r>
            <a:r>
              <a:rPr lang="zh-CN" altLang="en-US" dirty="0"/>
              <a:t>原理的，最有影响的挖掘单维布尔关联规则频繁项集的算法</a:t>
            </a:r>
            <a:endParaRPr lang="en-US" altLang="zh-CN" dirty="0"/>
          </a:p>
          <a:p>
            <a:r>
              <a:rPr lang="zh-CN" altLang="en-US" dirty="0"/>
              <a:t>该算法能较大程度上降低算法复杂度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https://en.wikipedia.org/wiki/Apriori_algorithm</a:t>
            </a:r>
            <a:endParaRPr lang="en-US" altLang="zh-CN" dirty="0"/>
          </a:p>
          <a:p>
            <a:pPr algn="just"/>
            <a:r>
              <a:rPr lang="en-US" altLang="zh-CN" sz="2000" dirty="0"/>
              <a:t>Rakesh Agrawal and Ramakrishnan Srikant. Fast algorithms for mining association rules. Proceedings of the 20th International Conference on Very Large Data Bases, VLDB, pages 487-499, Santiago, Chile, September 1994.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241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先验原理</a:t>
            </a:r>
            <a:r>
              <a:rPr lang="en-US" altLang="zh-CN" dirty="0"/>
              <a:t>Apriori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zh-CN" altLang="en-US" dirty="0"/>
              <a:t>如果一个项集是频繁的，则它的所有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子集</a:t>
            </a:r>
            <a:r>
              <a:rPr lang="zh-CN" altLang="en-US" dirty="0"/>
              <a:t>一定也是频繁的；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576" y="2270077"/>
            <a:ext cx="7200000" cy="3556790"/>
          </a:xfrm>
          <a:prstGeom prst="rect">
            <a:avLst/>
          </a:prstGeom>
          <a:noFill/>
        </p:spPr>
      </p:pic>
      <p:sp>
        <p:nvSpPr>
          <p:cNvPr id="5" name="线形标注 2 4"/>
          <p:cNvSpPr/>
          <p:nvPr/>
        </p:nvSpPr>
        <p:spPr>
          <a:xfrm>
            <a:off x="6547403" y="1553531"/>
            <a:ext cx="2376264" cy="770081"/>
          </a:xfrm>
          <a:prstGeom prst="borderCallout2">
            <a:avLst>
              <a:gd name="adj1" fmla="val 18750"/>
              <a:gd name="adj2" fmla="val -1263"/>
              <a:gd name="adj3" fmla="val 18750"/>
              <a:gd name="adj4" fmla="val -16667"/>
              <a:gd name="adj5" fmla="val -15860"/>
              <a:gd name="adj6" fmla="val -28201"/>
            </a:avLst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对于一个项集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{C D E}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，其子集为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{C D}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、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{C E}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或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{D E}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，也可以是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{C}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、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{D}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或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{E}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。</a:t>
            </a:r>
            <a:endParaRPr lang="zh-CN" altLang="en-US" sz="1100" dirty="0">
              <a:solidFill>
                <a:srgbClr val="C00000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179251" y="1416310"/>
            <a:ext cx="648072" cy="0"/>
          </a:xfrm>
          <a:prstGeom prst="lin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000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先验原理</a:t>
            </a:r>
            <a:r>
              <a:rPr lang="en-US" altLang="zh-CN" dirty="0"/>
              <a:t>Apriori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zh-CN" altLang="en-US" dirty="0"/>
              <a:t>相反，如果一个项集是非频繁的，则它的所有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超集</a:t>
            </a:r>
            <a:r>
              <a:rPr lang="zh-CN" altLang="en-US" dirty="0"/>
              <a:t>也一定是非频繁的。</a:t>
            </a:r>
          </a:p>
        </p:txBody>
      </p:sp>
      <p:sp>
        <p:nvSpPr>
          <p:cNvPr id="4" name="线形标注 2 3"/>
          <p:cNvSpPr/>
          <p:nvPr/>
        </p:nvSpPr>
        <p:spPr>
          <a:xfrm>
            <a:off x="6709265" y="1571311"/>
            <a:ext cx="2308899" cy="885698"/>
          </a:xfrm>
          <a:prstGeom prst="borderCallout2">
            <a:avLst>
              <a:gd name="adj1" fmla="val 19245"/>
              <a:gd name="adj2" fmla="val -545"/>
              <a:gd name="adj3" fmla="val 18524"/>
              <a:gd name="adj4" fmla="val -8076"/>
              <a:gd name="adj5" fmla="val -16577"/>
              <a:gd name="adj6" fmla="val -9236"/>
            </a:avLst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对于项集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{A B}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，其超集为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{A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 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B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 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C}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、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{A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 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B D}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、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{A B E}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，或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{A B C D}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、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{A B C E}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、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{A B D E}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、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{A B C D E}</a:t>
            </a:r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华文细黑" pitchFamily="2" charset="-122"/>
                <a:ea typeface="华文细黑" pitchFamily="2" charset="-122"/>
              </a:rPr>
              <a:t>。</a:t>
            </a:r>
            <a:endParaRPr lang="zh-CN" altLang="en-US" sz="1100" dirty="0">
              <a:solidFill>
                <a:srgbClr val="C0000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385228" y="1412527"/>
            <a:ext cx="648072" cy="0"/>
          </a:xfrm>
          <a:prstGeom prst="lin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328" y="2277288"/>
            <a:ext cx="7488000" cy="3744000"/>
          </a:xfrm>
          <a:prstGeom prst="rect">
            <a:avLst/>
          </a:prstGeom>
          <a:noFill/>
        </p:spPr>
      </p:pic>
      <p:sp>
        <p:nvSpPr>
          <p:cNvPr id="7" name="矩形 6"/>
          <p:cNvSpPr/>
          <p:nvPr/>
        </p:nvSpPr>
        <p:spPr>
          <a:xfrm rot="20913670">
            <a:off x="5157034" y="4405617"/>
            <a:ext cx="3831289" cy="120032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/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根据先验原理，图中若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AB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项集是非频繁的，则在虚线包围中的所有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AB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项集的超集都是非频繁的，可以将这些项集剪除，称其为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剪枝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。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20913670">
            <a:off x="6720551" y="3743657"/>
            <a:ext cx="2268000" cy="3693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algn="ctr"/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支持度度量的单调性</a:t>
            </a:r>
          </a:p>
        </p:txBody>
      </p:sp>
    </p:spTree>
    <p:extLst>
      <p:ext uri="{BB962C8B-B14F-4D97-AF65-F5344CB8AC3E}">
        <p14:creationId xmlns:p14="http://schemas.microsoft.com/office/powerpoint/2010/main" val="174423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：产生频繁项集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CN" altLang="en-US" dirty="0">
                <a:solidFill>
                  <a:srgbClr val="381850"/>
                </a:solidFill>
              </a:rPr>
              <a:t>利用先验原理，产生频繁项集。</a:t>
            </a:r>
            <a:endParaRPr lang="en-US" altLang="zh-CN" dirty="0">
              <a:solidFill>
                <a:srgbClr val="38185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4" y="2801251"/>
            <a:ext cx="19800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频繁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1-</a:t>
            </a:r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项集：</a:t>
            </a:r>
            <a:endParaRPr lang="zh-CN" altLang="en-US" sz="24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94250" y="3196821"/>
            <a:ext cx="302240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共有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6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个项，即</a:t>
            </a:r>
            <a:r>
              <a:rPr lang="zh-CN" altLang="en-US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1-</a:t>
            </a:r>
            <a:r>
              <a:rPr lang="zh-CN" altLang="en-US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  <a:endParaRPr lang="en-US" altLang="zh-CN" sz="16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其中，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可乐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和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鸡蛋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的支持度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计数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)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不满足阈值要求，所以被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剪除。</a:t>
            </a:r>
            <a:endParaRPr lang="en-US" altLang="zh-CN" sz="16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得到</a:t>
            </a:r>
            <a:r>
              <a:rPr lang="zh-CN" altLang="en-US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频繁</a:t>
            </a:r>
            <a:r>
              <a:rPr lang="en-US" altLang="zh-CN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1-</a:t>
            </a:r>
            <a:r>
              <a:rPr lang="zh-CN" altLang="en-US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3894248" y="3177319"/>
            <a:ext cx="3096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5"/>
          <a:stretch/>
        </p:blipFill>
        <p:spPr bwMode="auto">
          <a:xfrm>
            <a:off x="5349322" y="901520"/>
            <a:ext cx="3764838" cy="972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99140" y="2308810"/>
            <a:ext cx="73692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设定支持度阈值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minSup=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60%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，也就是最小支持度计数为</a:t>
            </a:r>
            <a:r>
              <a:rPr lang="en-US" altLang="zh-CN" sz="2000" b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2302615" y="3433832"/>
            <a:ext cx="1260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302502" y="4384951"/>
            <a:ext cx="1260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18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29" y="2845922"/>
            <a:ext cx="1555785" cy="168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18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056" y="2854249"/>
            <a:ext cx="1587400" cy="123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48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：产生频繁项集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CN" altLang="en-US" dirty="0">
                <a:solidFill>
                  <a:srgbClr val="381850"/>
                </a:solidFill>
              </a:rPr>
              <a:t>利用先验原理，产生频繁项集。</a:t>
            </a:r>
            <a:endParaRPr lang="en-US" altLang="zh-CN" dirty="0">
              <a:solidFill>
                <a:srgbClr val="38185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4" y="2801251"/>
            <a:ext cx="19800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频繁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2-</a:t>
            </a:r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项集：</a:t>
            </a:r>
            <a:endParaRPr lang="zh-CN" altLang="en-US" sz="24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5"/>
          <a:stretch/>
        </p:blipFill>
        <p:spPr bwMode="auto">
          <a:xfrm>
            <a:off x="5349322" y="901520"/>
            <a:ext cx="3764838" cy="972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 rot="21070630">
            <a:off x="2995004" y="4514440"/>
            <a:ext cx="3132000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其中，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面包，啤酒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和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牛奶，啤酒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的支持度（计数）不满足阈值要求，被剪枝</a:t>
            </a:r>
            <a:endParaRPr lang="en-US" altLang="zh-CN" sz="16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得到</a:t>
            </a:r>
            <a:r>
              <a:rPr lang="zh-CN" altLang="en-US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频繁</a:t>
            </a:r>
            <a:r>
              <a:rPr lang="en-US" altLang="zh-CN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2-</a:t>
            </a:r>
            <a:r>
              <a:rPr lang="zh-CN" altLang="en-US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</a:p>
        </p:txBody>
      </p:sp>
      <p:pic>
        <p:nvPicPr>
          <p:cNvPr id="25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5" y="3137306"/>
            <a:ext cx="1930868" cy="174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6" name="直接箭头连接符 25"/>
          <p:cNvCxnSpPr/>
          <p:nvPr/>
        </p:nvCxnSpPr>
        <p:spPr>
          <a:xfrm>
            <a:off x="3252855" y="3411355"/>
            <a:ext cx="2664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203848" y="3432943"/>
            <a:ext cx="2736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由频繁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1-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项集中的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个项，可以组合出共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6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个</a:t>
            </a:r>
            <a:r>
              <a:rPr lang="zh-CN" altLang="en-US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2-</a:t>
            </a:r>
            <a:r>
              <a:rPr lang="zh-CN" altLang="en-US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</a:p>
        </p:txBody>
      </p:sp>
      <p:pic>
        <p:nvPicPr>
          <p:cNvPr id="32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32"/>
          <a:stretch/>
        </p:blipFill>
        <p:spPr bwMode="auto">
          <a:xfrm>
            <a:off x="2051720" y="3231266"/>
            <a:ext cx="794772" cy="123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169" name="Picture 1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83" y="4628066"/>
            <a:ext cx="1847211" cy="119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8" name="直接箭头连接符 17"/>
          <p:cNvCxnSpPr/>
          <p:nvPr/>
        </p:nvCxnSpPr>
        <p:spPr>
          <a:xfrm flipH="1">
            <a:off x="2987824" y="4293096"/>
            <a:ext cx="2952000" cy="468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945156" y="2706285"/>
            <a:ext cx="18633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计算支持度计数</a:t>
            </a:r>
          </a:p>
        </p:txBody>
      </p:sp>
      <p:sp>
        <p:nvSpPr>
          <p:cNvPr id="12" name="任意多边形 11"/>
          <p:cNvSpPr/>
          <p:nvPr/>
        </p:nvSpPr>
        <p:spPr>
          <a:xfrm>
            <a:off x="5863611" y="2986334"/>
            <a:ext cx="1732726" cy="326968"/>
          </a:xfrm>
          <a:custGeom>
            <a:avLst/>
            <a:gdLst>
              <a:gd name="connsiteX0" fmla="*/ 2484 w 1856684"/>
              <a:gd name="connsiteY0" fmla="*/ 451639 h 451639"/>
              <a:gd name="connsiteX1" fmla="*/ 243784 w 1856684"/>
              <a:gd name="connsiteY1" fmla="*/ 32539 h 451639"/>
              <a:gd name="connsiteX2" fmla="*/ 1539184 w 1856684"/>
              <a:gd name="connsiteY2" fmla="*/ 45239 h 451639"/>
              <a:gd name="connsiteX3" fmla="*/ 1856684 w 1856684"/>
              <a:gd name="connsiteY3" fmla="*/ 184939 h 451639"/>
              <a:gd name="connsiteX0" fmla="*/ 2484 w 1856684"/>
              <a:gd name="connsiteY0" fmla="*/ 446455 h 446455"/>
              <a:gd name="connsiteX1" fmla="*/ 243784 w 1856684"/>
              <a:gd name="connsiteY1" fmla="*/ 27355 h 446455"/>
              <a:gd name="connsiteX2" fmla="*/ 1539184 w 1856684"/>
              <a:gd name="connsiteY2" fmla="*/ 40055 h 446455"/>
              <a:gd name="connsiteX3" fmla="*/ 1744765 w 1856684"/>
              <a:gd name="connsiteY3" fmla="*/ 34581 h 446455"/>
              <a:gd name="connsiteX4" fmla="*/ 1856684 w 1856684"/>
              <a:gd name="connsiteY4" fmla="*/ 179755 h 446455"/>
              <a:gd name="connsiteX0" fmla="*/ 1771 w 1855971"/>
              <a:gd name="connsiteY0" fmla="*/ 461416 h 461416"/>
              <a:gd name="connsiteX1" fmla="*/ 243071 w 1855971"/>
              <a:gd name="connsiteY1" fmla="*/ 42316 h 461416"/>
              <a:gd name="connsiteX2" fmla="*/ 1464653 w 1855971"/>
              <a:gd name="connsiteY2" fmla="*/ 15184 h 461416"/>
              <a:gd name="connsiteX3" fmla="*/ 1744052 w 1855971"/>
              <a:gd name="connsiteY3" fmla="*/ 49542 h 461416"/>
              <a:gd name="connsiteX4" fmla="*/ 1855971 w 1855971"/>
              <a:gd name="connsiteY4" fmla="*/ 194716 h 461416"/>
              <a:gd name="connsiteX0" fmla="*/ 886 w 1855086"/>
              <a:gd name="connsiteY0" fmla="*/ 522384 h 522384"/>
              <a:gd name="connsiteX1" fmla="*/ 242186 w 1855086"/>
              <a:gd name="connsiteY1" fmla="*/ 103284 h 522384"/>
              <a:gd name="connsiteX2" fmla="*/ 1279523 w 1855086"/>
              <a:gd name="connsiteY2" fmla="*/ 55 h 522384"/>
              <a:gd name="connsiteX3" fmla="*/ 1743167 w 1855086"/>
              <a:gd name="connsiteY3" fmla="*/ 110510 h 522384"/>
              <a:gd name="connsiteX4" fmla="*/ 1855086 w 1855086"/>
              <a:gd name="connsiteY4" fmla="*/ 255684 h 522384"/>
              <a:gd name="connsiteX0" fmla="*/ 461 w 1909252"/>
              <a:gd name="connsiteY0" fmla="*/ 493839 h 493839"/>
              <a:gd name="connsiteX1" fmla="*/ 296352 w 1909252"/>
              <a:gd name="connsiteY1" fmla="*/ 103276 h 493839"/>
              <a:gd name="connsiteX2" fmla="*/ 1333689 w 1909252"/>
              <a:gd name="connsiteY2" fmla="*/ 47 h 493839"/>
              <a:gd name="connsiteX3" fmla="*/ 1797333 w 1909252"/>
              <a:gd name="connsiteY3" fmla="*/ 110502 h 493839"/>
              <a:gd name="connsiteX4" fmla="*/ 1909252 w 1909252"/>
              <a:gd name="connsiteY4" fmla="*/ 255676 h 493839"/>
              <a:gd name="connsiteX0" fmla="*/ 0 w 1908791"/>
              <a:gd name="connsiteY0" fmla="*/ 493838 h 493838"/>
              <a:gd name="connsiteX1" fmla="*/ 295891 w 1908791"/>
              <a:gd name="connsiteY1" fmla="*/ 103275 h 493838"/>
              <a:gd name="connsiteX2" fmla="*/ 1333228 w 1908791"/>
              <a:gd name="connsiteY2" fmla="*/ 46 h 493838"/>
              <a:gd name="connsiteX3" fmla="*/ 1796872 w 1908791"/>
              <a:gd name="connsiteY3" fmla="*/ 110501 h 493838"/>
              <a:gd name="connsiteX4" fmla="*/ 1908791 w 1908791"/>
              <a:gd name="connsiteY4" fmla="*/ 255675 h 493838"/>
              <a:gd name="connsiteX0" fmla="*/ 0 w 1908791"/>
              <a:gd name="connsiteY0" fmla="*/ 493838 h 493838"/>
              <a:gd name="connsiteX1" fmla="*/ 439193 w 1908791"/>
              <a:gd name="connsiteY1" fmla="*/ 103275 h 493838"/>
              <a:gd name="connsiteX2" fmla="*/ 1333228 w 1908791"/>
              <a:gd name="connsiteY2" fmla="*/ 46 h 493838"/>
              <a:gd name="connsiteX3" fmla="*/ 1796872 w 1908791"/>
              <a:gd name="connsiteY3" fmla="*/ 110501 h 493838"/>
              <a:gd name="connsiteX4" fmla="*/ 1908791 w 1908791"/>
              <a:gd name="connsiteY4" fmla="*/ 255675 h 493838"/>
              <a:gd name="connsiteX0" fmla="*/ 0 w 1908791"/>
              <a:gd name="connsiteY0" fmla="*/ 496880 h 496880"/>
              <a:gd name="connsiteX1" fmla="*/ 439193 w 1908791"/>
              <a:gd name="connsiteY1" fmla="*/ 106317 h 496880"/>
              <a:gd name="connsiteX2" fmla="*/ 1333228 w 1908791"/>
              <a:gd name="connsiteY2" fmla="*/ 3088 h 496880"/>
              <a:gd name="connsiteX3" fmla="*/ 1564860 w 1908791"/>
              <a:gd name="connsiteY3" fmla="*/ 37446 h 496880"/>
              <a:gd name="connsiteX4" fmla="*/ 1908791 w 1908791"/>
              <a:gd name="connsiteY4" fmla="*/ 258717 h 496880"/>
              <a:gd name="connsiteX0" fmla="*/ 0 w 1908791"/>
              <a:gd name="connsiteY0" fmla="*/ 496880 h 496880"/>
              <a:gd name="connsiteX1" fmla="*/ 439193 w 1908791"/>
              <a:gd name="connsiteY1" fmla="*/ 106317 h 496880"/>
              <a:gd name="connsiteX2" fmla="*/ 1333228 w 1908791"/>
              <a:gd name="connsiteY2" fmla="*/ 3088 h 496880"/>
              <a:gd name="connsiteX3" fmla="*/ 1564860 w 1908791"/>
              <a:gd name="connsiteY3" fmla="*/ 37446 h 496880"/>
              <a:gd name="connsiteX4" fmla="*/ 1908791 w 1908791"/>
              <a:gd name="connsiteY4" fmla="*/ 258717 h 496880"/>
              <a:gd name="connsiteX0" fmla="*/ 0 w 1908791"/>
              <a:gd name="connsiteY0" fmla="*/ 497433 h 497433"/>
              <a:gd name="connsiteX1" fmla="*/ 439193 w 1908791"/>
              <a:gd name="connsiteY1" fmla="*/ 106870 h 497433"/>
              <a:gd name="connsiteX2" fmla="*/ 1333228 w 1908791"/>
              <a:gd name="connsiteY2" fmla="*/ 3641 h 497433"/>
              <a:gd name="connsiteX3" fmla="*/ 1564860 w 1908791"/>
              <a:gd name="connsiteY3" fmla="*/ 37999 h 497433"/>
              <a:gd name="connsiteX4" fmla="*/ 1908791 w 1908791"/>
              <a:gd name="connsiteY4" fmla="*/ 259270 h 497433"/>
              <a:gd name="connsiteX0" fmla="*/ 0 w 1908791"/>
              <a:gd name="connsiteY0" fmla="*/ 497434 h 497434"/>
              <a:gd name="connsiteX1" fmla="*/ 439193 w 1908791"/>
              <a:gd name="connsiteY1" fmla="*/ 106871 h 497434"/>
              <a:gd name="connsiteX2" fmla="*/ 1333228 w 1908791"/>
              <a:gd name="connsiteY2" fmla="*/ 3642 h 497434"/>
              <a:gd name="connsiteX3" fmla="*/ 1564860 w 1908791"/>
              <a:gd name="connsiteY3" fmla="*/ 38000 h 497434"/>
              <a:gd name="connsiteX4" fmla="*/ 1908791 w 1908791"/>
              <a:gd name="connsiteY4" fmla="*/ 259271 h 497434"/>
              <a:gd name="connsiteX0" fmla="*/ 0 w 1908791"/>
              <a:gd name="connsiteY0" fmla="*/ 504115 h 504115"/>
              <a:gd name="connsiteX1" fmla="*/ 439193 w 1908791"/>
              <a:gd name="connsiteY1" fmla="*/ 113552 h 504115"/>
              <a:gd name="connsiteX2" fmla="*/ 1333228 w 1908791"/>
              <a:gd name="connsiteY2" fmla="*/ 10323 h 504115"/>
              <a:gd name="connsiteX3" fmla="*/ 1564860 w 1908791"/>
              <a:gd name="connsiteY3" fmla="*/ 44681 h 504115"/>
              <a:gd name="connsiteX4" fmla="*/ 1908791 w 1908791"/>
              <a:gd name="connsiteY4" fmla="*/ 265952 h 504115"/>
              <a:gd name="connsiteX0" fmla="*/ 0 w 1908791"/>
              <a:gd name="connsiteY0" fmla="*/ 498550 h 498550"/>
              <a:gd name="connsiteX1" fmla="*/ 439193 w 1908791"/>
              <a:gd name="connsiteY1" fmla="*/ 107987 h 498550"/>
              <a:gd name="connsiteX2" fmla="*/ 1333228 w 1908791"/>
              <a:gd name="connsiteY2" fmla="*/ 4758 h 498550"/>
              <a:gd name="connsiteX3" fmla="*/ 1564860 w 1908791"/>
              <a:gd name="connsiteY3" fmla="*/ 39116 h 498550"/>
              <a:gd name="connsiteX4" fmla="*/ 1908791 w 1908791"/>
              <a:gd name="connsiteY4" fmla="*/ 260387 h 498550"/>
              <a:gd name="connsiteX0" fmla="*/ 0 w 1908791"/>
              <a:gd name="connsiteY0" fmla="*/ 511614 h 511614"/>
              <a:gd name="connsiteX1" fmla="*/ 439193 w 1908791"/>
              <a:gd name="connsiteY1" fmla="*/ 121051 h 511614"/>
              <a:gd name="connsiteX2" fmla="*/ 1091623 w 1908791"/>
              <a:gd name="connsiteY2" fmla="*/ 6637 h 511614"/>
              <a:gd name="connsiteX3" fmla="*/ 1333228 w 1908791"/>
              <a:gd name="connsiteY3" fmla="*/ 17822 h 511614"/>
              <a:gd name="connsiteX4" fmla="*/ 1564860 w 1908791"/>
              <a:gd name="connsiteY4" fmla="*/ 52180 h 511614"/>
              <a:gd name="connsiteX5" fmla="*/ 1908791 w 1908791"/>
              <a:gd name="connsiteY5" fmla="*/ 273451 h 511614"/>
              <a:gd name="connsiteX0" fmla="*/ 0 w 1908791"/>
              <a:gd name="connsiteY0" fmla="*/ 514732 h 514732"/>
              <a:gd name="connsiteX1" fmla="*/ 439193 w 1908791"/>
              <a:gd name="connsiteY1" fmla="*/ 124169 h 514732"/>
              <a:gd name="connsiteX2" fmla="*/ 1091623 w 1908791"/>
              <a:gd name="connsiteY2" fmla="*/ 9755 h 514732"/>
              <a:gd name="connsiteX3" fmla="*/ 1391154 w 1908791"/>
              <a:gd name="connsiteY3" fmla="*/ 9405 h 514732"/>
              <a:gd name="connsiteX4" fmla="*/ 1564860 w 1908791"/>
              <a:gd name="connsiteY4" fmla="*/ 55298 h 514732"/>
              <a:gd name="connsiteX5" fmla="*/ 1908791 w 1908791"/>
              <a:gd name="connsiteY5" fmla="*/ 276569 h 514732"/>
              <a:gd name="connsiteX0" fmla="*/ 0 w 1908791"/>
              <a:gd name="connsiteY0" fmla="*/ 508988 h 508988"/>
              <a:gd name="connsiteX1" fmla="*/ 439193 w 1908791"/>
              <a:gd name="connsiteY1" fmla="*/ 118425 h 508988"/>
              <a:gd name="connsiteX2" fmla="*/ 1091623 w 1908791"/>
              <a:gd name="connsiteY2" fmla="*/ 4011 h 508988"/>
              <a:gd name="connsiteX3" fmla="*/ 1564860 w 1908791"/>
              <a:gd name="connsiteY3" fmla="*/ 49554 h 508988"/>
              <a:gd name="connsiteX4" fmla="*/ 1908791 w 1908791"/>
              <a:gd name="connsiteY4" fmla="*/ 270825 h 508988"/>
              <a:gd name="connsiteX0" fmla="*/ 0 w 1908791"/>
              <a:gd name="connsiteY0" fmla="*/ 506005 h 506005"/>
              <a:gd name="connsiteX1" fmla="*/ 439193 w 1908791"/>
              <a:gd name="connsiteY1" fmla="*/ 115442 h 506005"/>
              <a:gd name="connsiteX2" fmla="*/ 1091623 w 1908791"/>
              <a:gd name="connsiteY2" fmla="*/ 1028 h 506005"/>
              <a:gd name="connsiteX3" fmla="*/ 1763462 w 1908791"/>
              <a:gd name="connsiteY3" fmla="*/ 121548 h 506005"/>
              <a:gd name="connsiteX4" fmla="*/ 1908791 w 1908791"/>
              <a:gd name="connsiteY4" fmla="*/ 267842 h 506005"/>
              <a:gd name="connsiteX0" fmla="*/ 0 w 1908791"/>
              <a:gd name="connsiteY0" fmla="*/ 506418 h 506418"/>
              <a:gd name="connsiteX1" fmla="*/ 439193 w 1908791"/>
              <a:gd name="connsiteY1" fmla="*/ 115855 h 506418"/>
              <a:gd name="connsiteX2" fmla="*/ 1091623 w 1908791"/>
              <a:gd name="connsiteY2" fmla="*/ 1441 h 506418"/>
              <a:gd name="connsiteX3" fmla="*/ 1763462 w 1908791"/>
              <a:gd name="connsiteY3" fmla="*/ 121961 h 506418"/>
              <a:gd name="connsiteX4" fmla="*/ 1908791 w 1908791"/>
              <a:gd name="connsiteY4" fmla="*/ 268255 h 50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8791" h="506418">
                <a:moveTo>
                  <a:pt x="0" y="506418"/>
                </a:moveTo>
                <a:cubicBezTo>
                  <a:pt x="170012" y="207075"/>
                  <a:pt x="257256" y="200018"/>
                  <a:pt x="439193" y="115855"/>
                </a:cubicBezTo>
                <a:cubicBezTo>
                  <a:pt x="621130" y="31692"/>
                  <a:pt x="904012" y="12919"/>
                  <a:pt x="1091623" y="1441"/>
                </a:cubicBezTo>
                <a:cubicBezTo>
                  <a:pt x="1279234" y="-10037"/>
                  <a:pt x="1677189" y="48596"/>
                  <a:pt x="1763462" y="121961"/>
                </a:cubicBezTo>
                <a:cubicBezTo>
                  <a:pt x="1849735" y="195326"/>
                  <a:pt x="1884978" y="251804"/>
                  <a:pt x="1908791" y="268255"/>
                </a:cubicBezTo>
              </a:path>
            </a:pathLst>
          </a:cu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282925" y="3785184"/>
            <a:ext cx="1476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6282925" y="4251581"/>
            <a:ext cx="1476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1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437"/>
          <a:stretch/>
        </p:blipFill>
        <p:spPr bwMode="auto">
          <a:xfrm>
            <a:off x="6156177" y="3137306"/>
            <a:ext cx="1130769" cy="174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99140" y="2308810"/>
            <a:ext cx="73692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设定支持度阈值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minSup=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60%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，也就是最小支持度计数为</a:t>
            </a:r>
            <a:r>
              <a:rPr lang="en-US" altLang="zh-CN" sz="2000" b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2828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 uiExpand="1" build="p"/>
      <p:bldP spid="27" grpId="0"/>
      <p:bldP spid="21" grpId="0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：产生频繁项集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CN" altLang="en-US" dirty="0">
                <a:solidFill>
                  <a:srgbClr val="381850"/>
                </a:solidFill>
              </a:rPr>
              <a:t>利用先验原理，产生频繁项集。</a:t>
            </a:r>
            <a:endParaRPr lang="en-US" altLang="zh-CN" dirty="0">
              <a:solidFill>
                <a:srgbClr val="381850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5"/>
          <a:stretch/>
        </p:blipFill>
        <p:spPr bwMode="auto">
          <a:xfrm>
            <a:off x="5349322" y="901520"/>
            <a:ext cx="3764838" cy="972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矩形 17"/>
          <p:cNvSpPr/>
          <p:nvPr/>
        </p:nvSpPr>
        <p:spPr>
          <a:xfrm>
            <a:off x="5878430" y="4489598"/>
            <a:ext cx="320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产生频繁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2-</a:t>
            </a:r>
            <a:r>
              <a:rPr lang="zh-CN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zh-CN" altLang="en-US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时，对支持度不满足要求的</a:t>
            </a:r>
            <a:r>
              <a:rPr lang="zh-CN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zh-CN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面包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啤酒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和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zh-CN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牛奶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啤酒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zh-CN" altLang="en-US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进行了剪除处理，按照先验原理，也可以将候选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en-US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项集中的这些项集所在的项集剪除。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6084168" y="3617420"/>
            <a:ext cx="1080040" cy="0"/>
            <a:chOff x="1583712" y="4945732"/>
            <a:chExt cx="1080040" cy="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1583712" y="4945732"/>
              <a:ext cx="324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2339752" y="4945732"/>
              <a:ext cx="324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6100008" y="4336301"/>
            <a:ext cx="684040" cy="0"/>
            <a:chOff x="1547664" y="4945732"/>
            <a:chExt cx="684040" cy="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1547664" y="4945732"/>
              <a:ext cx="396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907704" y="4945732"/>
              <a:ext cx="324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202" y="3258397"/>
            <a:ext cx="2148789" cy="119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5" name="组合 24"/>
          <p:cNvGrpSpPr/>
          <p:nvPr/>
        </p:nvGrpSpPr>
        <p:grpSpPr>
          <a:xfrm>
            <a:off x="6096316" y="4087032"/>
            <a:ext cx="684032" cy="0"/>
            <a:chOff x="1583712" y="4945732"/>
            <a:chExt cx="684032" cy="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1583712" y="4945732"/>
              <a:ext cx="396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1871744" y="4945732"/>
              <a:ext cx="396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矩形 29"/>
          <p:cNvSpPr/>
          <p:nvPr/>
        </p:nvSpPr>
        <p:spPr>
          <a:xfrm>
            <a:off x="180002" y="2801251"/>
            <a:ext cx="19800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频繁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项集：</a:t>
            </a:r>
            <a:endParaRPr lang="zh-CN" altLang="en-US" sz="24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pic>
        <p:nvPicPr>
          <p:cNvPr id="37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32"/>
          <a:stretch/>
        </p:blipFill>
        <p:spPr bwMode="auto">
          <a:xfrm>
            <a:off x="3333940" y="3258397"/>
            <a:ext cx="794772" cy="123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8" name="直接箭头连接符 37"/>
          <p:cNvCxnSpPr/>
          <p:nvPr/>
        </p:nvCxnSpPr>
        <p:spPr>
          <a:xfrm>
            <a:off x="1672614" y="3416176"/>
            <a:ext cx="1548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1672616" y="3505555"/>
            <a:ext cx="1547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获取频繁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2-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项集中的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个项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4193037" y="3421681"/>
            <a:ext cx="1656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4193039" y="3511061"/>
            <a:ext cx="16514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组合出共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个</a:t>
            </a:r>
            <a:r>
              <a:rPr lang="zh-CN" altLang="en-US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en-US" sz="16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813" y="3258397"/>
            <a:ext cx="1382260" cy="119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8" name="直接连接符 27"/>
          <p:cNvCxnSpPr/>
          <p:nvPr/>
        </p:nvCxnSpPr>
        <p:spPr>
          <a:xfrm>
            <a:off x="6012352" y="3857797"/>
            <a:ext cx="1728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17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640"/>
          <a:stretch/>
        </p:blipFill>
        <p:spPr bwMode="auto">
          <a:xfrm>
            <a:off x="539552" y="3274727"/>
            <a:ext cx="1078036" cy="119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430"/>
          <a:stretch/>
        </p:blipFill>
        <p:spPr bwMode="auto">
          <a:xfrm>
            <a:off x="885484" y="4837300"/>
            <a:ext cx="1382260" cy="4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946595" y="5113988"/>
            <a:ext cx="1229817" cy="1551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箭头连接符 32"/>
          <p:cNvCxnSpPr/>
          <p:nvPr/>
        </p:nvCxnSpPr>
        <p:spPr>
          <a:xfrm flipH="1">
            <a:off x="2268184" y="4293096"/>
            <a:ext cx="3600000" cy="576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5876976" y="2738750"/>
            <a:ext cx="18633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计算支持度计数</a:t>
            </a:r>
          </a:p>
        </p:txBody>
      </p:sp>
      <p:sp>
        <p:nvSpPr>
          <p:cNvPr id="36" name="任意多边形 35"/>
          <p:cNvSpPr/>
          <p:nvPr/>
        </p:nvSpPr>
        <p:spPr>
          <a:xfrm>
            <a:off x="5848251" y="3066281"/>
            <a:ext cx="1855971" cy="297913"/>
          </a:xfrm>
          <a:custGeom>
            <a:avLst/>
            <a:gdLst>
              <a:gd name="connsiteX0" fmla="*/ 2484 w 1856684"/>
              <a:gd name="connsiteY0" fmla="*/ 451639 h 451639"/>
              <a:gd name="connsiteX1" fmla="*/ 243784 w 1856684"/>
              <a:gd name="connsiteY1" fmla="*/ 32539 h 451639"/>
              <a:gd name="connsiteX2" fmla="*/ 1539184 w 1856684"/>
              <a:gd name="connsiteY2" fmla="*/ 45239 h 451639"/>
              <a:gd name="connsiteX3" fmla="*/ 1856684 w 1856684"/>
              <a:gd name="connsiteY3" fmla="*/ 184939 h 451639"/>
              <a:gd name="connsiteX0" fmla="*/ 2484 w 1856684"/>
              <a:gd name="connsiteY0" fmla="*/ 446455 h 446455"/>
              <a:gd name="connsiteX1" fmla="*/ 243784 w 1856684"/>
              <a:gd name="connsiteY1" fmla="*/ 27355 h 446455"/>
              <a:gd name="connsiteX2" fmla="*/ 1539184 w 1856684"/>
              <a:gd name="connsiteY2" fmla="*/ 40055 h 446455"/>
              <a:gd name="connsiteX3" fmla="*/ 1744765 w 1856684"/>
              <a:gd name="connsiteY3" fmla="*/ 34581 h 446455"/>
              <a:gd name="connsiteX4" fmla="*/ 1856684 w 1856684"/>
              <a:gd name="connsiteY4" fmla="*/ 179755 h 446455"/>
              <a:gd name="connsiteX0" fmla="*/ 1771 w 1855971"/>
              <a:gd name="connsiteY0" fmla="*/ 461416 h 461416"/>
              <a:gd name="connsiteX1" fmla="*/ 243071 w 1855971"/>
              <a:gd name="connsiteY1" fmla="*/ 42316 h 461416"/>
              <a:gd name="connsiteX2" fmla="*/ 1464653 w 1855971"/>
              <a:gd name="connsiteY2" fmla="*/ 15184 h 461416"/>
              <a:gd name="connsiteX3" fmla="*/ 1744052 w 1855971"/>
              <a:gd name="connsiteY3" fmla="*/ 49542 h 461416"/>
              <a:gd name="connsiteX4" fmla="*/ 1855971 w 1855971"/>
              <a:gd name="connsiteY4" fmla="*/ 194716 h 461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5971" h="461416">
                <a:moveTo>
                  <a:pt x="1771" y="461416"/>
                </a:moveTo>
                <a:cubicBezTo>
                  <a:pt x="-5638" y="285732"/>
                  <a:pt x="-743" y="116688"/>
                  <a:pt x="243071" y="42316"/>
                </a:cubicBezTo>
                <a:cubicBezTo>
                  <a:pt x="486885" y="-32056"/>
                  <a:pt x="1214490" y="13980"/>
                  <a:pt x="1464653" y="15184"/>
                </a:cubicBezTo>
                <a:cubicBezTo>
                  <a:pt x="1714816" y="16388"/>
                  <a:pt x="1691135" y="26259"/>
                  <a:pt x="1744052" y="49542"/>
                </a:cubicBezTo>
                <a:cubicBezTo>
                  <a:pt x="1796969" y="72825"/>
                  <a:pt x="1832158" y="178265"/>
                  <a:pt x="1855971" y="194716"/>
                </a:cubicBezTo>
              </a:path>
            </a:pathLst>
          </a:cu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 rot="21070630">
            <a:off x="2523283" y="4535391"/>
            <a:ext cx="3222189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其中，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zh-CN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面包，牛奶，</a:t>
            </a:r>
            <a:r>
              <a:rPr lang="zh-CN" altLang="en-US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尿布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的支持度（计数）不满足阈值要求，被剪枝</a:t>
            </a:r>
            <a:endParaRPr lang="en-US" altLang="zh-CN" sz="14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得到</a:t>
            </a:r>
            <a:r>
              <a:rPr lang="zh-CN" altLang="en-US" sz="14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频繁</a:t>
            </a:r>
            <a:r>
              <a:rPr lang="en-US" altLang="zh-CN" sz="14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en-US" sz="1400" u="sng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zh-CN" altLang="en-US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99140" y="2308810"/>
            <a:ext cx="73692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设定支持度阈值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minSup=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60%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，也就是最小支持度计数为</a:t>
            </a:r>
            <a:r>
              <a:rPr lang="en-US" altLang="zh-CN" sz="2000" b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7945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0" grpId="0"/>
      <p:bldP spid="39" grpId="0"/>
      <p:bldP spid="42" grpId="0"/>
      <p:bldP spid="5" grpId="0" animBg="1"/>
      <p:bldP spid="35" grpId="0"/>
      <p:bldP spid="36" grpId="0" animBg="1"/>
      <p:bldP spid="4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：产生频繁项集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CN" altLang="en-US" dirty="0">
                <a:solidFill>
                  <a:srgbClr val="381850"/>
                </a:solidFill>
              </a:rPr>
              <a:t>利用先验原理，产生频繁项集。</a:t>
            </a:r>
            <a:endParaRPr lang="en-US" altLang="zh-CN" dirty="0">
              <a:solidFill>
                <a:srgbClr val="381850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5"/>
          <a:stretch/>
        </p:blipFill>
        <p:spPr bwMode="auto">
          <a:xfrm>
            <a:off x="5349322" y="901520"/>
            <a:ext cx="3764838" cy="972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矩形 27"/>
          <p:cNvSpPr/>
          <p:nvPr/>
        </p:nvSpPr>
        <p:spPr>
          <a:xfrm>
            <a:off x="323528" y="3002175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latin typeface="华文细黑" pitchFamily="2" charset="-122"/>
                <a:ea typeface="华文细黑" pitchFamily="2" charset="-122"/>
              </a:rPr>
              <a:t>枚举所有项集</a:t>
            </a:r>
            <a:r>
              <a:rPr lang="zh-CN" altLang="en-US" sz="2400" dirty="0">
                <a:latin typeface="华文细黑" pitchFamily="2" charset="-122"/>
                <a:ea typeface="华文细黑" pitchFamily="2" charset="-122"/>
              </a:rPr>
              <a:t>来</a:t>
            </a:r>
            <a:r>
              <a:rPr lang="zh-CN" altLang="zh-CN" sz="2400" dirty="0">
                <a:latin typeface="华文细黑" pitchFamily="2" charset="-122"/>
                <a:ea typeface="华文细黑" pitchFamily="2" charset="-122"/>
              </a:rPr>
              <a:t>产生候选项集</a:t>
            </a:r>
            <a:r>
              <a:rPr lang="zh-CN" altLang="en-US" sz="2400" dirty="0">
                <a:latin typeface="华文细黑" pitchFamily="2" charset="-122"/>
                <a:ea typeface="华文细黑" pitchFamily="2" charset="-122"/>
              </a:rPr>
              <a:t>：</a:t>
            </a: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682159" y="3015523"/>
          <a:ext cx="4296601" cy="38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公式" r:id="rId5" imgW="2082600" imgH="241200" progId="Equation.3">
                  <p:embed/>
                </p:oleObj>
              </mc:Choice>
              <mc:Fallback>
                <p:oleObj name="公式" r:id="rId5" imgW="2082600" imgH="241200" progId="Equation.3">
                  <p:embed/>
                  <p:pic>
                    <p:nvPicPr>
                      <p:cNvPr id="31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2159" y="3015523"/>
                        <a:ext cx="4296601" cy="388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334616" y="3758786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latin typeface="华文细黑" pitchFamily="2" charset="-122"/>
                <a:ea typeface="华文细黑" pitchFamily="2" charset="-122"/>
              </a:rPr>
              <a:t>使用先验原理，将减少为</a:t>
            </a:r>
            <a:endParaRPr lang="zh-CN" altLang="en-US" sz="2400" dirty="0">
              <a:latin typeface="华文细黑" pitchFamily="2" charset="-122"/>
              <a:ea typeface="华文细黑" pitchFamily="2" charset="-122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3923928" y="3772133"/>
          <a:ext cx="3409152" cy="38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公式" r:id="rId7" imgW="1625400" imgH="241200" progId="Equation.3">
                  <p:embed/>
                </p:oleObj>
              </mc:Choice>
              <mc:Fallback>
                <p:oleObj name="公式" r:id="rId7" imgW="1625400" imgH="241200" progId="Equation.3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3772133"/>
                        <a:ext cx="3409152" cy="388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99140" y="2308810"/>
            <a:ext cx="73692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设定支持度阈值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minSup=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60%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，也就是最小支持度计数为</a:t>
            </a:r>
            <a:r>
              <a:rPr lang="en-US" altLang="zh-CN" sz="2000" b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7181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先验算法</a:t>
            </a:r>
            <a:r>
              <a:rPr lang="en-US" altLang="zh-CN" dirty="0"/>
              <a:t>Apriori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zh-CN" altLang="en-US" dirty="0"/>
              <a:t>算法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"/>
          <a:stretch/>
        </p:blipFill>
        <p:spPr bwMode="auto">
          <a:xfrm>
            <a:off x="2123729" y="2380064"/>
            <a:ext cx="4956657" cy="3532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线形标注 2 5"/>
          <p:cNvSpPr/>
          <p:nvPr/>
        </p:nvSpPr>
        <p:spPr>
          <a:xfrm>
            <a:off x="4572000" y="1823272"/>
            <a:ext cx="3168352" cy="453600"/>
          </a:xfrm>
          <a:prstGeom prst="borderCallout2">
            <a:avLst>
              <a:gd name="adj1" fmla="val 26112"/>
              <a:gd name="adj2" fmla="val -1103"/>
              <a:gd name="adj3" fmla="val 28531"/>
              <a:gd name="adj4" fmla="val -6104"/>
              <a:gd name="adj5" fmla="val 399987"/>
              <a:gd name="adj6" fmla="val -17879"/>
            </a:avLst>
          </a:prstGeom>
          <a:solidFill>
            <a:schemeClr val="bg1"/>
          </a:solidFill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函数</a:t>
            </a:r>
            <a:r>
              <a:rPr lang="en-US" altLang="zh-CN" sz="1600" i="1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apriori_gen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()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来产生候选项集</a:t>
            </a:r>
            <a:endParaRPr lang="zh-CN" altLang="en-US" sz="16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8" name="线形标注 2 7"/>
          <p:cNvSpPr/>
          <p:nvPr/>
        </p:nvSpPr>
        <p:spPr>
          <a:xfrm>
            <a:off x="143728" y="3218452"/>
            <a:ext cx="1980000" cy="642596"/>
          </a:xfrm>
          <a:prstGeom prst="borderCallout2">
            <a:avLst>
              <a:gd name="adj1" fmla="val 48807"/>
              <a:gd name="adj2" fmla="val 101577"/>
              <a:gd name="adj3" fmla="val 47626"/>
              <a:gd name="adj4" fmla="val 141909"/>
              <a:gd name="adj5" fmla="val 137007"/>
              <a:gd name="adj6" fmla="val 177674"/>
            </a:avLst>
          </a:prstGeom>
          <a:solidFill>
            <a:schemeClr val="bg1"/>
          </a:solidFill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subset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()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来识别属于事务</a:t>
            </a:r>
            <a:r>
              <a:rPr lang="en-US" altLang="zh-CN" sz="16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</a:t>
            </a:r>
            <a:r>
              <a:rPr lang="zh-CN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的候选项集</a:t>
            </a:r>
            <a:endParaRPr lang="zh-CN" altLang="en-US" sz="16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7" name="线形标注 2 6"/>
          <p:cNvSpPr/>
          <p:nvPr/>
        </p:nvSpPr>
        <p:spPr>
          <a:xfrm>
            <a:off x="107504" y="4653136"/>
            <a:ext cx="1620000" cy="642596"/>
          </a:xfrm>
          <a:prstGeom prst="borderCallout2">
            <a:avLst>
              <a:gd name="adj1" fmla="val 49988"/>
              <a:gd name="adj2" fmla="val 103079"/>
              <a:gd name="adj3" fmla="val 50578"/>
              <a:gd name="adj4" fmla="val 185667"/>
              <a:gd name="adj5" fmla="val -264"/>
              <a:gd name="adj6" fmla="val 218975"/>
            </a:avLst>
          </a:prstGeom>
          <a:solidFill>
            <a:schemeClr val="bg1"/>
          </a:solidFill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σ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</a:t>
            </a:r>
            <a:r>
              <a:rPr lang="en-US" altLang="zh-CN" sz="16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c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)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为候选项集的支持度计数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948504" y="3371508"/>
            <a:ext cx="2160000" cy="156966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i </a:t>
            </a:r>
            <a:r>
              <a:rPr lang="zh-CN" altLang="en-US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  <a:r>
              <a:rPr lang="zh-CN" altLang="zh-CN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某数据项</a:t>
            </a:r>
            <a:endParaRPr lang="en-US" altLang="zh-CN" sz="1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1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I </a:t>
            </a:r>
            <a:r>
              <a:rPr lang="zh-CN" altLang="en-US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  <a:r>
              <a:rPr lang="zh-CN" altLang="zh-CN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数据集中数据项集合</a:t>
            </a:r>
            <a:endParaRPr lang="en-US" altLang="zh-CN" sz="1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1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t </a:t>
            </a:r>
            <a:r>
              <a:rPr lang="zh-CN" altLang="en-US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  <a:r>
              <a:rPr lang="zh-CN" altLang="zh-CN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事务项</a:t>
            </a:r>
            <a:endParaRPr lang="en-US" altLang="zh-CN" sz="1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1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 </a:t>
            </a:r>
            <a:r>
              <a:rPr lang="zh-CN" altLang="en-US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  <a:r>
              <a:rPr lang="zh-CN" altLang="zh-CN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事务项的集合</a:t>
            </a:r>
            <a:endParaRPr lang="en-US" altLang="zh-CN" sz="1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1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N </a:t>
            </a:r>
            <a:r>
              <a:rPr lang="zh-CN" altLang="en-US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  <a:r>
              <a:rPr lang="zh-CN" altLang="zh-CN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事务集合中事务项的数量</a:t>
            </a:r>
            <a:endParaRPr lang="en-US" altLang="zh-CN" sz="1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1200" i="1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C</a:t>
            </a:r>
            <a:r>
              <a:rPr lang="en-US" altLang="zh-CN" sz="1200" i="1" baseline="-25000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1200" i="1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  <a:r>
              <a:rPr lang="zh-CN" altLang="zh-CN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sz="1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-</a:t>
            </a:r>
            <a:r>
              <a:rPr lang="zh-CN" altLang="zh-CN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项集的集合</a:t>
            </a:r>
            <a:endParaRPr lang="en-US" altLang="zh-CN" sz="1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1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c </a:t>
            </a:r>
            <a:r>
              <a:rPr lang="zh-CN" altLang="en-US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  <a:r>
              <a:rPr lang="zh-CN" altLang="zh-CN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候选项集</a:t>
            </a:r>
            <a:endParaRPr lang="en-US" altLang="zh-CN" sz="1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1200" i="1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sz="1200" i="1" baseline="-25000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1200" i="1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  <a:r>
              <a:rPr lang="zh-CN" altLang="zh-CN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频繁</a:t>
            </a:r>
            <a:r>
              <a:rPr lang="en-US" altLang="zh-CN" sz="1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-</a:t>
            </a:r>
            <a:r>
              <a:rPr lang="zh-CN" altLang="zh-CN" sz="1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项集的集合</a:t>
            </a:r>
            <a:endParaRPr lang="en-US" altLang="zh-CN" sz="1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91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先验算法</a:t>
            </a:r>
            <a:r>
              <a:rPr lang="en-US" altLang="zh-CN" dirty="0"/>
              <a:t>Apriori</a:t>
            </a:r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1386320" y="4420957"/>
            <a:ext cx="4263256" cy="324000"/>
            <a:chOff x="971823" y="3775654"/>
            <a:chExt cx="4263256" cy="36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47"/>
                <p:cNvSpPr txBox="1"/>
                <p:nvPr/>
              </p:nvSpPr>
              <p:spPr>
                <a:xfrm>
                  <a:off x="1709694" y="3775654"/>
                  <a:ext cx="3525385" cy="360000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73687" tIns="36844" rIns="73687" bIns="3684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/>
                            <a:ea typeface="Cambria Math"/>
                            <a:cs typeface="Times New Roman"/>
                          </a:rPr>
                          <m:t>{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  <a:cs typeface="宋体"/>
                          </a:rPr>
                          <m:t>𝑋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  <a:cs typeface="宋体"/>
                          </a:rPr>
                          <m:t>→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  <a:cs typeface="宋体"/>
                          </a:rPr>
                          <m:t>𝑌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  <a:cs typeface="宋体"/>
                          </a:rPr>
                          <m:t>|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  <a:cs typeface="宋体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  <a:ea typeface="Cambria Math"/>
                                <a:cs typeface="宋体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宋体"/>
                              </a:rPr>
                              <m:t>𝑋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宋体"/>
                              </a:rPr>
                              <m:t>→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宋体"/>
                              </a:rPr>
                              <m:t>𝑌</m:t>
                            </m:r>
                          </m:e>
                        </m:d>
                        <m:r>
                          <a:rPr lang="en-US" sz="2000" i="1">
                            <a:latin typeface="Cambria Math"/>
                            <a:ea typeface="Cambria Math"/>
                            <a:cs typeface="宋体"/>
                          </a:rPr>
                          <m:t>≥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  <a:cs typeface="宋体"/>
                          </a:rPr>
                          <m:t>𝑚𝑖𝑛𝑆𝑢𝑝</m:t>
                        </m:r>
                        <m:r>
                          <a:rPr lang="en-US" sz="1600" i="1">
                            <a:latin typeface="Cambria Math"/>
                            <a:ea typeface="Cambria Math"/>
                            <a:cs typeface="Times New Roman"/>
                          </a:rPr>
                          <m:t>}</m:t>
                        </m:r>
                      </m:oMath>
                    </m:oMathPara>
                  </a14:m>
                  <a:endParaRPr lang="zh-CN" altLang="en-US" sz="3600" dirty="0">
                    <a:latin typeface="华文细黑" pitchFamily="2" charset="-122"/>
                    <a:ea typeface="华文细黑" pitchFamily="2" charset="-122"/>
                    <a:cs typeface="宋体"/>
                  </a:endParaRPr>
                </a:p>
              </p:txBody>
            </p:sp>
          </mc:Choice>
          <mc:Fallback xmlns="">
            <p:sp>
              <p:nvSpPr>
                <p:cNvPr id="4" name="文本框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694" y="3775654"/>
                  <a:ext cx="3525385" cy="36000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6949"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文本框 46"/>
            <p:cNvSpPr txBox="1"/>
            <p:nvPr/>
          </p:nvSpPr>
          <p:spPr>
            <a:xfrm>
              <a:off x="971823" y="3775654"/>
              <a:ext cx="900378" cy="341974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zh-CN" altLang="en-US" sz="2000">
                  <a:latin typeface="华文细黑" pitchFamily="2" charset="-122"/>
                  <a:ea typeface="华文细黑" pitchFamily="2" charset="-122"/>
                  <a:cs typeface="Times New Roman"/>
                </a:rPr>
                <a:t>规则</a:t>
              </a:r>
              <a:endParaRPr lang="zh-CN" altLang="en-US" sz="360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200321" y="2104088"/>
            <a:ext cx="2138948" cy="324000"/>
            <a:chOff x="1785824" y="956754"/>
            <a:chExt cx="2138948" cy="36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315396"/>
                <p:cNvSpPr txBox="1"/>
                <p:nvPr/>
              </p:nvSpPr>
              <p:spPr>
                <a:xfrm>
                  <a:off x="2618857" y="956754"/>
                  <a:ext cx="1305915" cy="360000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0" tIns="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{</m:t>
                        </m:r>
                        <m:sSub>
                          <m:sSubPr>
                            <m:ctrlPr>
                              <a:rPr lang="zh-CN" altLang="en-US" i="1" kern="100">
                                <a:latin typeface="Cambria Math" panose="02040503050406030204" pitchFamily="18" charset="0"/>
                                <a:ea typeface="Cambria Math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𝑖</m:t>
                            </m:r>
                          </m:sub>
                        </m:sSub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|</m:t>
                        </m:r>
                        <m:sSub>
                          <m:sSubPr>
                            <m:ctrlPr>
                              <a:rPr lang="zh-CN" altLang="en-US" i="1" kern="100">
                                <a:latin typeface="Cambria Math" panose="02040503050406030204" pitchFamily="18" charset="0"/>
                                <a:ea typeface="Cambria Math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𝑖</m:t>
                            </m:r>
                          </m:sub>
                        </m:sSub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∈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𝑇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}</m:t>
                        </m:r>
                      </m:oMath>
                    </m:oMathPara>
                  </a14:m>
                  <a:endParaRPr lang="zh-CN" altLang="en-US" sz="2400" kern="100">
                    <a:latin typeface="华文细黑" pitchFamily="2" charset="-122"/>
                    <a:ea typeface="华文细黑" pitchFamily="2" charset="-122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7" name="文本框 3153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8857" y="956754"/>
                  <a:ext cx="1305915" cy="36000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8475"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315398"/>
            <p:cNvSpPr txBox="1"/>
            <p:nvPr/>
          </p:nvSpPr>
          <p:spPr>
            <a:xfrm>
              <a:off x="1785824" y="956754"/>
              <a:ext cx="900378" cy="341974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zh-CN" altLang="en-US" sz="2000" kern="100" dirty="0">
                  <a:latin typeface="华文细黑" pitchFamily="2" charset="-122"/>
                  <a:ea typeface="华文细黑" pitchFamily="2" charset="-122"/>
                  <a:cs typeface="Times New Roman"/>
                </a:rPr>
                <a:t>事务</a:t>
              </a:r>
              <a:endParaRPr lang="zh-CN" altLang="en-US" sz="2400" kern="100" dirty="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</p:grpSp>
      <p:sp>
        <p:nvSpPr>
          <p:cNvPr id="10" name="右箭头 9"/>
          <p:cNvSpPr/>
          <p:nvPr/>
        </p:nvSpPr>
        <p:spPr>
          <a:xfrm rot="5400000">
            <a:off x="3183694" y="2477007"/>
            <a:ext cx="349351" cy="266453"/>
          </a:xfrm>
          <a:prstGeom prst="rightArrow">
            <a:avLst>
              <a:gd name="adj1" fmla="val 50000"/>
              <a:gd name="adj2" fmla="val 3436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3687" tIns="36844" rIns="73687" bIns="368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800">
              <a:latin typeface="华文细黑" pitchFamily="2" charset="-122"/>
              <a:ea typeface="华文细黑" pitchFamily="2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49993" y="5149991"/>
            <a:ext cx="6624736" cy="324000"/>
            <a:chOff x="251520" y="4826221"/>
            <a:chExt cx="6624736" cy="36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315397"/>
                <p:cNvSpPr txBox="1"/>
                <p:nvPr/>
              </p:nvSpPr>
              <p:spPr>
                <a:xfrm>
                  <a:off x="1214851" y="4826221"/>
                  <a:ext cx="5661405" cy="360000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73687" tIns="36844" rIns="73687" bIns="3684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{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𝑋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→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𝑌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|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i="1" kern="100">
                                <a:latin typeface="Cambria Math" panose="02040503050406030204" pitchFamily="18" charset="0"/>
                                <a:ea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𝑋</m:t>
                            </m:r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→</m:t>
                            </m:r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𝑌</m:t>
                            </m:r>
                          </m:e>
                        </m:d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≥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𝑚𝑖𝑛𝑆𝑢𝑝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,</m:t>
                        </m:r>
                        <m:r>
                          <a:rPr lang="en-US" kern="100">
                            <a:latin typeface="Cambria Math"/>
                            <a:ea typeface="宋体"/>
                            <a:cs typeface="Times New Roman"/>
                          </a:rPr>
                          <m:t> 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𝑐</m:t>
                        </m:r>
                        <m:d>
                          <m:dPr>
                            <m:ctrlPr>
                              <a:rPr lang="zh-CN" altLang="en-US" i="1" kern="100">
                                <a:latin typeface="Cambria Math" panose="02040503050406030204" pitchFamily="18" charset="0"/>
                                <a:ea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𝑋</m:t>
                            </m:r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→</m:t>
                            </m:r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𝑌</m:t>
                            </m:r>
                          </m:e>
                        </m:d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≥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𝑚𝑖𝑛𝐶𝑜𝑛𝑓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}</m:t>
                        </m:r>
                      </m:oMath>
                    </m:oMathPara>
                  </a14:m>
                  <a:endParaRPr lang="zh-CN" altLang="en-US" sz="2400" kern="100" dirty="0">
                    <a:latin typeface="华文细黑" pitchFamily="2" charset="-122"/>
                    <a:ea typeface="华文细黑" pitchFamily="2" charset="-122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8" name="文本框 3153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4851" y="4826221"/>
                  <a:ext cx="5661405" cy="36000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8644"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8"/>
            <p:cNvSpPr txBox="1"/>
            <p:nvPr/>
          </p:nvSpPr>
          <p:spPr>
            <a:xfrm>
              <a:off x="251520" y="4826221"/>
              <a:ext cx="1086310" cy="341974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zh-CN" altLang="en-US" sz="2000" dirty="0">
                  <a:latin typeface="华文细黑" pitchFamily="2" charset="-122"/>
                  <a:ea typeface="华文细黑" pitchFamily="2" charset="-122"/>
                  <a:cs typeface="Times New Roman"/>
                </a:rPr>
                <a:t>关联规则</a:t>
              </a:r>
              <a:endParaRPr lang="zh-CN" altLang="en-US" sz="3600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13" name="右箭头 12"/>
          <p:cNvSpPr/>
          <p:nvPr/>
        </p:nvSpPr>
        <p:spPr>
          <a:xfrm rot="5400000">
            <a:off x="3164661" y="4089719"/>
            <a:ext cx="349351" cy="266453"/>
          </a:xfrm>
          <a:prstGeom prst="rightArrow">
            <a:avLst>
              <a:gd name="adj1" fmla="val 50000"/>
              <a:gd name="adj2" fmla="val 3436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3687" tIns="36844" rIns="73687" bIns="368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80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4" name="右箭头 13"/>
          <p:cNvSpPr/>
          <p:nvPr/>
        </p:nvSpPr>
        <p:spPr>
          <a:xfrm rot="5400000">
            <a:off x="3183694" y="4867406"/>
            <a:ext cx="349351" cy="266453"/>
          </a:xfrm>
          <a:prstGeom prst="rightArrow">
            <a:avLst>
              <a:gd name="adj1" fmla="val 50000"/>
              <a:gd name="adj2" fmla="val 3436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3687" tIns="36844" rIns="73687" bIns="368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800">
              <a:latin typeface="华文细黑" pitchFamily="2" charset="-122"/>
              <a:ea typeface="华文细黑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82041" y="2816932"/>
            <a:ext cx="4840736" cy="1134000"/>
            <a:chOff x="467544" y="1993404"/>
            <a:chExt cx="4840736" cy="1260000"/>
          </a:xfrm>
        </p:grpSpPr>
        <p:grpSp>
          <p:nvGrpSpPr>
            <p:cNvPr id="39" name="组合 38"/>
            <p:cNvGrpSpPr/>
            <p:nvPr/>
          </p:nvGrpSpPr>
          <p:grpSpPr>
            <a:xfrm>
              <a:off x="935223" y="2857500"/>
              <a:ext cx="4261791" cy="360000"/>
              <a:chOff x="935223" y="2951028"/>
              <a:chExt cx="4261791" cy="360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文本框 315395"/>
                  <p:cNvSpPr txBox="1"/>
                  <p:nvPr/>
                </p:nvSpPr>
                <p:spPr>
                  <a:xfrm>
                    <a:off x="1954187" y="2951028"/>
                    <a:ext cx="3242827" cy="360000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style>
                  <a:lnRef idx="0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0" tIns="0" rIns="0" bIns="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{</m:t>
                          </m:r>
                          <m:r>
                            <a:rPr lang="en-US" kern="100"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𝑋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,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𝑌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)|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en-US" i="1" kern="100">
                                  <a:latin typeface="Cambria Math" panose="02040503050406030204" pitchFamily="18" charset="0"/>
                                  <a:ea typeface="Cambria Math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latin typeface="Cambria Math"/>
                                  <a:ea typeface="Cambria Math"/>
                                  <a:cs typeface="Times New Roman"/>
                                </a:rPr>
                                <m:t>𝑋</m:t>
                              </m:r>
                              <m:r>
                                <a:rPr lang="en-US" kern="100">
                                  <a:latin typeface="Cambria Math"/>
                                  <a:ea typeface="宋体"/>
                                  <a:cs typeface="Times New Roman"/>
                                </a:rPr>
                                <m:t>(</m:t>
                              </m:r>
                              <m:r>
                                <a:rPr lang="en-US" i="1" kern="100">
                                  <a:latin typeface="Cambria Math"/>
                                  <a:ea typeface="Cambria Math"/>
                                  <a:cs typeface="Times New Roman"/>
                                </a:rPr>
                                <m:t>𝑋</m:t>
                              </m:r>
                              <m:r>
                                <a:rPr lang="en-US" i="1" kern="100">
                                  <a:latin typeface="Cambria Math"/>
                                  <a:ea typeface="Cambria Math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i="1" kern="100">
                                  <a:latin typeface="Cambria Math"/>
                                  <a:ea typeface="Cambria Math"/>
                                  <a:cs typeface="Times New Roman"/>
                                </a:rPr>
                                <m:t>𝑌</m:t>
                              </m:r>
                              <m:r>
                                <a:rPr lang="en-US" i="1" kern="100">
                                  <a:latin typeface="Cambria Math"/>
                                  <a:ea typeface="Cambria Math"/>
                                  <a:cs typeface="Times New Roman"/>
                                </a:rPr>
                                <m:t>)</m:t>
                              </m:r>
                            </m:e>
                          </m:d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≥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𝑚𝑖𝑛𝑆𝑢𝑝</m:t>
                          </m:r>
                          <m:r>
                            <a:rPr lang="en-US" i="1" kern="100">
                              <a:latin typeface="Cambria Math"/>
                              <a:ea typeface="Cambria Math"/>
                              <a:cs typeface="Times New Roman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2400" kern="100">
                      <a:latin typeface="华文细黑" pitchFamily="2" charset="-122"/>
                      <a:ea typeface="华文细黑" pitchFamily="2" charset="-122"/>
                      <a:cs typeface="Times New Roman"/>
                    </a:endParaRPr>
                  </a:p>
                </p:txBody>
              </p:sp>
            </mc:Choice>
            <mc:Fallback xmlns="">
              <p:sp>
                <p:nvSpPr>
                  <p:cNvPr id="6" name="文本框 31539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4187" y="2951028"/>
                    <a:ext cx="3242827" cy="360000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1695" b="-6780"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文本框 315401"/>
              <p:cNvSpPr txBox="1"/>
              <p:nvPr/>
            </p:nvSpPr>
            <p:spPr>
              <a:xfrm>
                <a:off x="935223" y="2951028"/>
                <a:ext cx="1086310" cy="341974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just"/>
                <a:r>
                  <a:rPr lang="zh-CN" altLang="en-US" sz="2000" kern="100">
                    <a:latin typeface="华文细黑" pitchFamily="2" charset="-122"/>
                    <a:ea typeface="华文细黑" pitchFamily="2" charset="-122"/>
                    <a:cs typeface="Times New Roman"/>
                  </a:rPr>
                  <a:t>频繁项集</a:t>
                </a:r>
                <a:endParaRPr lang="zh-CN" altLang="en-US" sz="2400" kern="100">
                  <a:latin typeface="华文细黑" pitchFamily="2" charset="-122"/>
                  <a:ea typeface="华文细黑" pitchFamily="2" charset="-122"/>
                  <a:cs typeface="Times New Roman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467544" y="2092186"/>
              <a:ext cx="4750778" cy="360000"/>
              <a:chOff x="503333" y="2092186"/>
              <a:chExt cx="4750778" cy="360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59423"/>
                  <p:cNvSpPr txBox="1"/>
                  <p:nvPr/>
                </p:nvSpPr>
                <p:spPr>
                  <a:xfrm>
                    <a:off x="1992252" y="2092186"/>
                    <a:ext cx="3261859" cy="360000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style>
                  <a:lnRef idx="0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0" tIns="0" rIns="0" bIns="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/>
                              <a:ea typeface="Cambria Math"/>
                              <a:cs typeface="Times New Roman"/>
                            </a:rPr>
                            <m:t>{</m:t>
                          </m:r>
                          <m:r>
                            <a:rPr lang="en-US"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  <a:cs typeface="Times New Roman"/>
                            </a:rPr>
                            <m:t>𝑋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  <a:cs typeface="Times New Roman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  <a:cs typeface="Times New Roman"/>
                            </a:rPr>
                            <m:t>𝑌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  <a:cs typeface="Times New Roman"/>
                            </a:rPr>
                            <m:t>)|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  <a:cs typeface="Times New Roman"/>
                            </a:rPr>
                            <m:t>𝑋</m:t>
                          </m:r>
                          <m:r>
                            <a:rPr lang="en-US" sz="2000">
                              <a:solidFill>
                                <a:srgbClr val="333333"/>
                              </a:solidFill>
                              <a:latin typeface="Cambria Math"/>
                              <a:cs typeface="Cambria Math"/>
                            </a:rPr>
                            <m:t>⊆</m:t>
                          </m:r>
                          <m:r>
                            <a:rPr lang="en-US" sz="2000" i="1">
                              <a:solidFill>
                                <a:srgbClr val="333333"/>
                              </a:solidFill>
                              <a:latin typeface="Cambria Math"/>
                              <a:cs typeface="Cambria Math"/>
                            </a:rPr>
                            <m:t>∀</m:t>
                          </m:r>
                          <m:sSub>
                            <m:sSubPr>
                              <m:ctrlPr>
                                <a:rPr lang="zh-CN" altLang="en-US" i="1" kern="100">
                                  <a:latin typeface="Cambria Math" panose="02040503050406030204" pitchFamily="18" charset="0"/>
                                  <a:ea typeface="Cambria Math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Times New Roman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  <a:ea typeface="Cambria Math"/>
                              <a:cs typeface="Times New Roman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  <a:cs typeface="Times New Roman"/>
                            </a:rPr>
                            <m:t>𝑌</m:t>
                          </m:r>
                          <m:r>
                            <a:rPr lang="en-US" sz="2000">
                              <a:solidFill>
                                <a:srgbClr val="333333"/>
                              </a:solidFill>
                              <a:latin typeface="Cambria Math"/>
                              <a:cs typeface="Cambria Math"/>
                            </a:rPr>
                            <m:t>⊆</m:t>
                          </m:r>
                          <m:r>
                            <a:rPr lang="en-US" sz="2000" i="1">
                              <a:solidFill>
                                <a:srgbClr val="333333"/>
                              </a:solidFill>
                              <a:latin typeface="Cambria Math"/>
                              <a:cs typeface="Cambria Math"/>
                            </a:rPr>
                            <m:t>∀</m:t>
                          </m:r>
                          <m:sSub>
                            <m:sSubPr>
                              <m:ctrlPr>
                                <a:rPr lang="zh-CN" altLang="en-US" i="1" kern="100">
                                  <a:latin typeface="Cambria Math" panose="02040503050406030204" pitchFamily="18" charset="0"/>
                                  <a:ea typeface="Cambria Math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Times New Roman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  <a:ea typeface="Cambria Math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 kern="100">
                                  <a:latin typeface="Cambria Math" panose="02040503050406030204" pitchFamily="18" charset="0"/>
                                  <a:ea typeface="Cambria Math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Times New Roman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  <a:ea typeface="Cambria Math"/>
                              <a:cs typeface="宋体"/>
                            </a:rPr>
                            <m:t>∈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  <a:cs typeface="宋体"/>
                            </a:rPr>
                            <m:t>𝑇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  <a:cs typeface="Times New Roman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3600">
                      <a:latin typeface="华文细黑" pitchFamily="2" charset="-122"/>
                      <a:ea typeface="华文细黑" pitchFamily="2" charset="-122"/>
                      <a:cs typeface="宋体"/>
                    </a:endParaRPr>
                  </a:p>
                </p:txBody>
              </p:sp>
            </mc:Choice>
            <mc:Fallback xmlns="">
              <p:sp>
                <p:nvSpPr>
                  <p:cNvPr id="15" name="文本框 594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2252" y="2092186"/>
                    <a:ext cx="3261859" cy="360000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1869" r="-1869" b="-8475"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文本框 600071"/>
              <p:cNvSpPr txBox="1"/>
              <p:nvPr/>
            </p:nvSpPr>
            <p:spPr>
              <a:xfrm>
                <a:off x="503333" y="2092186"/>
                <a:ext cx="1455246" cy="341974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r"/>
                <a:r>
                  <a:rPr lang="zh-CN" altLang="en-US" sz="2000">
                    <a:latin typeface="华文细黑" pitchFamily="2" charset="-122"/>
                    <a:ea typeface="华文细黑" pitchFamily="2" charset="-122"/>
                    <a:cs typeface="Times New Roman"/>
                  </a:rPr>
                  <a:t>候选项集</a:t>
                </a:r>
                <a:endParaRPr lang="zh-CN" altLang="en-US" sz="3600">
                  <a:latin typeface="华文细黑" pitchFamily="2" charset="-122"/>
                  <a:ea typeface="华文细黑" pitchFamily="2" charset="-122"/>
                  <a:cs typeface="宋体"/>
                </a:endParaRPr>
              </a:p>
            </p:txBody>
          </p:sp>
        </p:grpSp>
        <p:sp>
          <p:nvSpPr>
            <p:cNvPr id="17" name="右箭头 16"/>
            <p:cNvSpPr/>
            <p:nvPr/>
          </p:nvSpPr>
          <p:spPr>
            <a:xfrm rot="5400000">
              <a:off x="2753448" y="2487042"/>
              <a:ext cx="388168" cy="264989"/>
            </a:xfrm>
            <a:prstGeom prst="rightArrow">
              <a:avLst>
                <a:gd name="adj1" fmla="val 50000"/>
                <a:gd name="adj2" fmla="val 34363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3687" tIns="36844" rIns="73687" bIns="368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800">
                <a:latin typeface="华文细黑" pitchFamily="2" charset="-122"/>
                <a:ea typeface="华文细黑" pitchFamily="2" charset="-122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668768" y="1993404"/>
              <a:ext cx="4639512" cy="1260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>
                  <a:latin typeface="华文细黑" pitchFamily="2" charset="-122"/>
                  <a:ea typeface="华文细黑" pitchFamily="2" charset="-122"/>
                  <a:cs typeface="宋体"/>
                </a:rPr>
                <a:t> </a:t>
              </a:r>
              <a:endParaRPr lang="zh-CN" altLang="en-US" sz="360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18" name="圆角矩形 17"/>
          <p:cNvSpPr/>
          <p:nvPr/>
        </p:nvSpPr>
        <p:spPr>
          <a:xfrm>
            <a:off x="7074730" y="1196753"/>
            <a:ext cx="1817751" cy="3953239"/>
          </a:xfrm>
          <a:prstGeom prst="roundRect">
            <a:avLst>
              <a:gd name="adj" fmla="val 4963"/>
            </a:avLst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>
                <a:solidFill>
                  <a:srgbClr val="000000"/>
                </a:solidFill>
                <a:latin typeface="华文细黑" pitchFamily="2" charset="-122"/>
                <a:ea typeface="华文细黑" pitchFamily="2" charset="-122"/>
                <a:cs typeface="宋体"/>
              </a:rPr>
              <a:t>Apriori</a:t>
            </a:r>
            <a:r>
              <a:rPr lang="zh-CN" altLang="en-US" sz="1600">
                <a:solidFill>
                  <a:srgbClr val="000000"/>
                </a:solidFill>
                <a:latin typeface="华文细黑" pitchFamily="2" charset="-122"/>
                <a:ea typeface="华文细黑" pitchFamily="2" charset="-122"/>
                <a:cs typeface="Times New Roman"/>
              </a:rPr>
              <a:t>原理</a:t>
            </a:r>
            <a:endParaRPr lang="zh-CN" altLang="en-US" sz="3600">
              <a:latin typeface="华文细黑" pitchFamily="2" charset="-122"/>
              <a:ea typeface="华文细黑" pitchFamily="2" charset="-122"/>
              <a:cs typeface="宋体"/>
            </a:endParaRPr>
          </a:p>
        </p:txBody>
      </p:sp>
      <p:sp>
        <p:nvSpPr>
          <p:cNvPr id="20" name="文本框 46"/>
          <p:cNvSpPr txBox="1"/>
          <p:nvPr/>
        </p:nvSpPr>
        <p:spPr>
          <a:xfrm>
            <a:off x="7172478" y="2233668"/>
            <a:ext cx="1620000" cy="24622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R="54610" algn="ctr"/>
            <a:r>
              <a:rPr lang="zh-CN" altLang="en-US" sz="1600">
                <a:latin typeface="华文细黑" pitchFamily="2" charset="-122"/>
                <a:ea typeface="华文细黑" pitchFamily="2" charset="-122"/>
                <a:cs typeface="Times New Roman"/>
              </a:rPr>
              <a:t>频繁</a:t>
            </a:r>
            <a:r>
              <a:rPr lang="en-US" sz="1600">
                <a:latin typeface="华文细黑" pitchFamily="2" charset="-122"/>
                <a:ea typeface="华文细黑" pitchFamily="2" charset="-122"/>
                <a:cs typeface="宋体"/>
              </a:rPr>
              <a:t>1-</a:t>
            </a:r>
            <a:r>
              <a:rPr lang="zh-CN" altLang="en-US" sz="1600">
                <a:latin typeface="华文细黑" pitchFamily="2" charset="-122"/>
                <a:ea typeface="华文细黑" pitchFamily="2" charset="-122"/>
                <a:cs typeface="Times New Roman"/>
              </a:rPr>
              <a:t>项集</a:t>
            </a:r>
            <a:endParaRPr lang="zh-CN" altLang="en-US" sz="3600">
              <a:latin typeface="华文细黑" pitchFamily="2" charset="-122"/>
              <a:ea typeface="华文细黑" pitchFamily="2" charset="-122"/>
              <a:cs typeface="宋体"/>
            </a:endParaRPr>
          </a:p>
        </p:txBody>
      </p:sp>
      <p:sp>
        <p:nvSpPr>
          <p:cNvPr id="21" name="文本框 1240090"/>
          <p:cNvSpPr txBox="1"/>
          <p:nvPr/>
        </p:nvSpPr>
        <p:spPr>
          <a:xfrm>
            <a:off x="7281653" y="1689526"/>
            <a:ext cx="1404000" cy="40972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54610" algn="ctr"/>
            <a:r>
              <a:rPr lang="zh-CN" altLang="en-US" sz="1600" dirty="0">
                <a:latin typeface="华文细黑" pitchFamily="2" charset="-122"/>
                <a:ea typeface="华文细黑" pitchFamily="2" charset="-122"/>
                <a:cs typeface="Times New Roman"/>
              </a:rPr>
              <a:t>候选</a:t>
            </a:r>
            <a:r>
              <a:rPr lang="en-US" sz="1600" dirty="0">
                <a:latin typeface="华文细黑" pitchFamily="2" charset="-122"/>
                <a:ea typeface="华文细黑" pitchFamily="2" charset="-122"/>
                <a:cs typeface="宋体"/>
              </a:rPr>
              <a:t>1-</a:t>
            </a:r>
            <a:r>
              <a:rPr lang="zh-CN" altLang="en-US" sz="1600" dirty="0">
                <a:latin typeface="华文细黑" pitchFamily="2" charset="-122"/>
                <a:ea typeface="华文细黑" pitchFamily="2" charset="-122"/>
                <a:cs typeface="Times New Roman"/>
              </a:rPr>
              <a:t>项集</a:t>
            </a:r>
            <a:endParaRPr lang="zh-CN" altLang="en-US" sz="3600" dirty="0">
              <a:latin typeface="华文细黑" pitchFamily="2" charset="-122"/>
              <a:ea typeface="华文细黑" pitchFamily="2" charset="-122"/>
              <a:cs typeface="宋体"/>
            </a:endParaRPr>
          </a:p>
        </p:txBody>
      </p:sp>
      <p:sp>
        <p:nvSpPr>
          <p:cNvPr id="22" name="右箭头 21"/>
          <p:cNvSpPr/>
          <p:nvPr/>
        </p:nvSpPr>
        <p:spPr>
          <a:xfrm rot="5400000">
            <a:off x="7861417" y="1979838"/>
            <a:ext cx="226800" cy="216000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3687" tIns="36844" rIns="73687" bIns="368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3600" dirty="0">
                <a:latin typeface="华文细黑" pitchFamily="2" charset="-122"/>
                <a:ea typeface="华文细黑" pitchFamily="2" charset="-122"/>
                <a:cs typeface="宋体"/>
              </a:rPr>
              <a:t> </a:t>
            </a:r>
            <a:endParaRPr lang="zh-CN" altLang="en-US" sz="3600" dirty="0">
              <a:latin typeface="华文细黑" pitchFamily="2" charset="-122"/>
              <a:ea typeface="华文细黑" pitchFamily="2" charset="-122"/>
              <a:cs typeface="宋体"/>
            </a:endParaRPr>
          </a:p>
        </p:txBody>
      </p:sp>
      <p:sp>
        <p:nvSpPr>
          <p:cNvPr id="23" name="文本框 18"/>
          <p:cNvSpPr txBox="1"/>
          <p:nvPr/>
        </p:nvSpPr>
        <p:spPr>
          <a:xfrm>
            <a:off x="7279738" y="2752126"/>
            <a:ext cx="1404000" cy="24622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600">
                <a:latin typeface="华文细黑" pitchFamily="2" charset="-122"/>
                <a:ea typeface="华文细黑" pitchFamily="2" charset="-122"/>
                <a:cs typeface="Times New Roman"/>
              </a:rPr>
              <a:t>候选</a:t>
            </a:r>
            <a:r>
              <a:rPr lang="en-US" sz="1600">
                <a:latin typeface="华文细黑" pitchFamily="2" charset="-122"/>
                <a:ea typeface="华文细黑" pitchFamily="2" charset="-122"/>
                <a:cs typeface="宋体"/>
              </a:rPr>
              <a:t>2-</a:t>
            </a:r>
            <a:r>
              <a:rPr lang="zh-CN" altLang="en-US" sz="1600">
                <a:latin typeface="华文细黑" pitchFamily="2" charset="-122"/>
                <a:ea typeface="华文细黑" pitchFamily="2" charset="-122"/>
                <a:cs typeface="Times New Roman"/>
              </a:rPr>
              <a:t>项集</a:t>
            </a:r>
            <a:endParaRPr lang="zh-CN" altLang="en-US" sz="3600">
              <a:latin typeface="华文细黑" pitchFamily="2" charset="-122"/>
              <a:ea typeface="华文细黑" pitchFamily="2" charset="-122"/>
              <a:cs typeface="宋体"/>
            </a:endParaRPr>
          </a:p>
        </p:txBody>
      </p:sp>
      <p:sp>
        <p:nvSpPr>
          <p:cNvPr id="24" name="右箭头 23"/>
          <p:cNvSpPr/>
          <p:nvPr/>
        </p:nvSpPr>
        <p:spPr>
          <a:xfrm rot="5400000">
            <a:off x="7861417" y="2483838"/>
            <a:ext cx="226800" cy="216000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3687" tIns="36844" rIns="73687" bIns="368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3600">
                <a:latin typeface="华文细黑" pitchFamily="2" charset="-122"/>
                <a:ea typeface="华文细黑" pitchFamily="2" charset="-122"/>
                <a:cs typeface="宋体"/>
              </a:rPr>
              <a:t> </a:t>
            </a:r>
            <a:endParaRPr lang="zh-CN" altLang="en-US" sz="3600">
              <a:latin typeface="华文细黑" pitchFamily="2" charset="-122"/>
              <a:ea typeface="华文细黑" pitchFamily="2" charset="-122"/>
              <a:cs typeface="宋体"/>
            </a:endParaRPr>
          </a:p>
        </p:txBody>
      </p:sp>
      <p:sp>
        <p:nvSpPr>
          <p:cNvPr id="25" name="右箭头 24"/>
          <p:cNvSpPr/>
          <p:nvPr/>
        </p:nvSpPr>
        <p:spPr>
          <a:xfrm rot="5400000">
            <a:off x="7861417" y="3000911"/>
            <a:ext cx="226800" cy="216000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3687" tIns="36844" rIns="73687" bIns="368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3600">
                <a:latin typeface="华文细黑" pitchFamily="2" charset="-122"/>
                <a:ea typeface="华文细黑" pitchFamily="2" charset="-122"/>
                <a:cs typeface="宋体"/>
              </a:rPr>
              <a:t> </a:t>
            </a:r>
            <a:endParaRPr lang="zh-CN" altLang="en-US" sz="3600">
              <a:latin typeface="华文细黑" pitchFamily="2" charset="-122"/>
              <a:ea typeface="华文细黑" pitchFamily="2" charset="-122"/>
              <a:cs typeface="宋体"/>
            </a:endParaRPr>
          </a:p>
        </p:txBody>
      </p:sp>
      <p:sp>
        <p:nvSpPr>
          <p:cNvPr id="26" name="文本框 46"/>
          <p:cNvSpPr txBox="1"/>
          <p:nvPr/>
        </p:nvSpPr>
        <p:spPr>
          <a:xfrm>
            <a:off x="7128425" y="3335391"/>
            <a:ext cx="1728000" cy="49244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R="54610" algn="ctr"/>
            <a:r>
              <a:rPr lang="zh-CN" altLang="en-US" sz="1600" dirty="0">
                <a:latin typeface="华文细黑" pitchFamily="2" charset="-122"/>
                <a:ea typeface="华文细黑" pitchFamily="2" charset="-122"/>
                <a:cs typeface="Times New Roman"/>
              </a:rPr>
              <a:t>频繁</a:t>
            </a:r>
            <a:r>
              <a:rPr lang="en-US" sz="1600" dirty="0">
                <a:latin typeface="华文细黑" pitchFamily="2" charset="-122"/>
                <a:ea typeface="华文细黑" pitchFamily="2" charset="-122"/>
                <a:cs typeface="宋体"/>
              </a:rPr>
              <a:t>2-</a:t>
            </a:r>
            <a:r>
              <a:rPr lang="zh-CN" altLang="en-US" sz="1600" dirty="0">
                <a:latin typeface="华文细黑" pitchFamily="2" charset="-122"/>
                <a:ea typeface="华文细黑" pitchFamily="2" charset="-122"/>
                <a:cs typeface="Times New Roman"/>
              </a:rPr>
              <a:t>项集</a:t>
            </a:r>
            <a:endParaRPr lang="zh-CN" altLang="en-US" sz="3600" dirty="0">
              <a:latin typeface="华文细黑" pitchFamily="2" charset="-122"/>
              <a:ea typeface="华文细黑" pitchFamily="2" charset="-122"/>
              <a:cs typeface="宋体"/>
            </a:endParaRPr>
          </a:p>
          <a:p>
            <a:pPr marR="54610" algn="ctr"/>
            <a:r>
              <a:rPr lang="en-US" sz="1600" dirty="0">
                <a:latin typeface="华文细黑" pitchFamily="2" charset="-122"/>
                <a:ea typeface="华文细黑" pitchFamily="2" charset="-122"/>
                <a:cs typeface="宋体"/>
              </a:rPr>
              <a:t>……</a:t>
            </a:r>
            <a:endParaRPr lang="zh-CN" altLang="en-US" sz="3600" dirty="0">
              <a:latin typeface="华文细黑" pitchFamily="2" charset="-122"/>
              <a:ea typeface="华文细黑" pitchFamily="2" charset="-122"/>
              <a:cs typeface="宋体"/>
            </a:endParaRPr>
          </a:p>
        </p:txBody>
      </p:sp>
      <p:sp>
        <p:nvSpPr>
          <p:cNvPr id="27" name="文本框 46"/>
          <p:cNvSpPr txBox="1"/>
          <p:nvPr/>
        </p:nvSpPr>
        <p:spPr>
          <a:xfrm>
            <a:off x="7296978" y="4177884"/>
            <a:ext cx="1512000" cy="24622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R="54610" algn="ctr"/>
            <a:r>
              <a:rPr lang="zh-CN" altLang="en-US" sz="1600" dirty="0">
                <a:latin typeface="华文细黑" pitchFamily="2" charset="-122"/>
                <a:ea typeface="华文细黑" pitchFamily="2" charset="-122"/>
                <a:cs typeface="Times New Roman"/>
              </a:rPr>
              <a:t>候选</a:t>
            </a:r>
            <a:r>
              <a:rPr lang="en-US" sz="1600" dirty="0">
                <a:latin typeface="华文细黑" pitchFamily="2" charset="-122"/>
                <a:ea typeface="华文细黑" pitchFamily="2" charset="-122"/>
                <a:cs typeface="宋体"/>
              </a:rPr>
              <a:t>k-</a:t>
            </a:r>
            <a:r>
              <a:rPr lang="zh-CN" altLang="en-US" sz="1600" dirty="0">
                <a:latin typeface="华文细黑" pitchFamily="2" charset="-122"/>
                <a:ea typeface="华文细黑" pitchFamily="2" charset="-122"/>
                <a:cs typeface="Times New Roman"/>
              </a:rPr>
              <a:t>项集</a:t>
            </a:r>
            <a:endParaRPr lang="zh-CN" altLang="en-US" sz="3600" dirty="0">
              <a:latin typeface="华文细黑" pitchFamily="2" charset="-122"/>
              <a:ea typeface="华文细黑" pitchFamily="2" charset="-122"/>
              <a:cs typeface="宋体"/>
            </a:endParaRPr>
          </a:p>
        </p:txBody>
      </p:sp>
      <p:sp>
        <p:nvSpPr>
          <p:cNvPr id="28" name="右箭头 27"/>
          <p:cNvSpPr/>
          <p:nvPr/>
        </p:nvSpPr>
        <p:spPr>
          <a:xfrm rot="5400000">
            <a:off x="7861449" y="3866368"/>
            <a:ext cx="226800" cy="216000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3687" tIns="36844" rIns="73687" bIns="368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3600">
                <a:latin typeface="华文细黑" pitchFamily="2" charset="-122"/>
                <a:ea typeface="华文细黑" pitchFamily="2" charset="-122"/>
                <a:cs typeface="宋体"/>
              </a:rPr>
              <a:t> </a:t>
            </a:r>
            <a:endParaRPr lang="zh-CN" altLang="en-US" sz="3600">
              <a:latin typeface="华文细黑" pitchFamily="2" charset="-122"/>
              <a:ea typeface="华文细黑" pitchFamily="2" charset="-122"/>
              <a:cs typeface="宋体"/>
            </a:endParaRPr>
          </a:p>
        </p:txBody>
      </p:sp>
      <p:sp>
        <p:nvSpPr>
          <p:cNvPr id="29" name="文本框 46"/>
          <p:cNvSpPr txBox="1"/>
          <p:nvPr/>
        </p:nvSpPr>
        <p:spPr>
          <a:xfrm>
            <a:off x="7182921" y="4761149"/>
            <a:ext cx="1620000" cy="24622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R="54610" algn="ctr"/>
            <a:r>
              <a:rPr lang="zh-CN" altLang="en-US" sz="1600" dirty="0">
                <a:latin typeface="华文细黑" pitchFamily="2" charset="-122"/>
                <a:ea typeface="华文细黑" pitchFamily="2" charset="-122"/>
                <a:cs typeface="Times New Roman"/>
              </a:rPr>
              <a:t>频繁</a:t>
            </a:r>
            <a:r>
              <a:rPr lang="en-US" sz="1600" dirty="0">
                <a:latin typeface="华文细黑" pitchFamily="2" charset="-122"/>
                <a:ea typeface="华文细黑" pitchFamily="2" charset="-122"/>
                <a:cs typeface="宋体"/>
              </a:rPr>
              <a:t>k-</a:t>
            </a:r>
            <a:r>
              <a:rPr lang="zh-CN" altLang="en-US" sz="1600" dirty="0">
                <a:latin typeface="华文细黑" pitchFamily="2" charset="-122"/>
                <a:ea typeface="华文细黑" pitchFamily="2" charset="-122"/>
                <a:cs typeface="Times New Roman"/>
              </a:rPr>
              <a:t>项集</a:t>
            </a:r>
            <a:endParaRPr lang="zh-CN" altLang="en-US" sz="3600" dirty="0">
              <a:latin typeface="华文细黑" pitchFamily="2" charset="-122"/>
              <a:ea typeface="华文细黑" pitchFamily="2" charset="-122"/>
              <a:cs typeface="宋体"/>
            </a:endParaRPr>
          </a:p>
        </p:txBody>
      </p:sp>
      <p:sp>
        <p:nvSpPr>
          <p:cNvPr id="30" name="右箭头 29"/>
          <p:cNvSpPr/>
          <p:nvPr/>
        </p:nvSpPr>
        <p:spPr>
          <a:xfrm rot="5400000">
            <a:off x="7861417" y="4470964"/>
            <a:ext cx="226800" cy="216000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3687" tIns="36844" rIns="73687" bIns="368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3600">
                <a:latin typeface="华文细黑" pitchFamily="2" charset="-122"/>
                <a:ea typeface="华文细黑" pitchFamily="2" charset="-122"/>
                <a:cs typeface="宋体"/>
              </a:rPr>
              <a:t> </a:t>
            </a:r>
            <a:endParaRPr lang="zh-CN" altLang="en-US" sz="3600">
              <a:latin typeface="华文细黑" pitchFamily="2" charset="-122"/>
              <a:ea typeface="华文细黑" pitchFamily="2" charset="-122"/>
              <a:cs typeface="宋体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5722771" y="1326611"/>
            <a:ext cx="1332000" cy="3823380"/>
            <a:chOff x="4969895" y="356096"/>
            <a:chExt cx="1204300" cy="5569454"/>
          </a:xfrm>
        </p:grpSpPr>
        <p:cxnSp>
          <p:nvCxnSpPr>
            <p:cNvPr id="31" name="直接连接符 30"/>
            <p:cNvCxnSpPr/>
            <p:nvPr/>
          </p:nvCxnSpPr>
          <p:spPr>
            <a:xfrm flipV="1">
              <a:off x="4969896" y="356096"/>
              <a:ext cx="1171751" cy="26823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4969895" y="2958673"/>
              <a:ext cx="1204300" cy="29668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30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8" grpId="0" animBg="1"/>
      <p:bldP spid="20" grpId="0"/>
      <p:bldP spid="21" grpId="0"/>
      <p:bldP spid="22" grpId="0" animBg="1"/>
      <p:bldP spid="23" grpId="0"/>
      <p:bldP spid="24" grpId="0" animBg="1"/>
      <p:bldP spid="25" grpId="0" animBg="1"/>
      <p:bldP spid="26" grpId="0"/>
      <p:bldP spid="27" grpId="0"/>
      <p:bldP spid="28" grpId="0" animBg="1"/>
      <p:bldP spid="29" grpId="0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79514" y="1873627"/>
          <a:ext cx="3456383" cy="29260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TID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Items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T1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I1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I2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I5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I7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T2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I2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I4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I6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T3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I2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I3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I6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T4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I1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I2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I4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T5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I1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I3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I6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T6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I2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I3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T7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I1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I2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I3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I6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I7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T8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I1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I2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I3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I5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I7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T9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I1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I3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T10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I1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I2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I3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I5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I6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I7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T11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I1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I2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I3</a:t>
                      </a:r>
                      <a:r>
                        <a:rPr lang="zh-CN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I7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4355976" y="1549593"/>
            <a:ext cx="4716016" cy="939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华文细黑" pitchFamily="2" charset="-122"/>
                <a:ea typeface="华文细黑" pitchFamily="2" charset="-122"/>
              </a:rPr>
              <a:t>求所有的频繁项集（设支持度计数阈值为</a:t>
            </a:r>
            <a:r>
              <a:rPr lang="en-US" altLang="zh-CN" sz="2400" dirty="0">
                <a:latin typeface="华文细黑" pitchFamily="2" charset="-122"/>
                <a:ea typeface="华文细黑" pitchFamily="2" charset="-122"/>
              </a:rPr>
              <a:t>4</a:t>
            </a:r>
            <a:r>
              <a:rPr lang="zh-CN" altLang="en-US" sz="2400" dirty="0">
                <a:latin typeface="华文细黑" pitchFamily="2" charset="-122"/>
                <a:ea typeface="华文细黑" pitchFamily="2" charset="-122"/>
              </a:rPr>
              <a:t>，即支持度阈值为</a:t>
            </a:r>
            <a:r>
              <a:rPr lang="en-US" altLang="zh-CN" sz="2400" dirty="0">
                <a:latin typeface="华文细黑" pitchFamily="2" charset="-122"/>
                <a:ea typeface="华文细黑" pitchFamily="2" charset="-122"/>
              </a:rPr>
              <a:t>4/11</a:t>
            </a:r>
            <a:r>
              <a:rPr lang="zh-CN" altLang="en-US" sz="2400" dirty="0">
                <a:latin typeface="华文细黑" pitchFamily="2" charset="-122"/>
                <a:ea typeface="华文细黑" pitchFamily="2" charset="-122"/>
              </a:rPr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499992" y="2663160"/>
          <a:ext cx="4211999" cy="29260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570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2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2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02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02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TID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I1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I2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I3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I4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I5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I6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I7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T1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T2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T3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T4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T5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T6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T7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T8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T9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T10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T11</a:t>
                      </a:r>
                      <a:endParaRPr lang="zh-CN" sz="28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65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428" y="5422795"/>
            <a:ext cx="1972980" cy="539071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190" y="3040157"/>
            <a:ext cx="1433970" cy="1754266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4810563"/>
            <a:ext cx="1972980" cy="5390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9" name="文本框 1653153"/>
          <p:cNvSpPr txBox="1"/>
          <p:nvPr/>
        </p:nvSpPr>
        <p:spPr>
          <a:xfrm>
            <a:off x="253918" y="2124493"/>
            <a:ext cx="927304" cy="36933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1200" kern="100">
                <a:latin typeface="Times New Roman"/>
                <a:ea typeface="华文细黑"/>
                <a:cs typeface="Times New Roman"/>
              </a:rPr>
              <a:t>扫描数据，对每项计数</a:t>
            </a:r>
            <a:endParaRPr lang="zh-CN" altLang="en-US" kern="10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0" name="文本框 1653154"/>
          <p:cNvSpPr txBox="1"/>
          <p:nvPr/>
        </p:nvSpPr>
        <p:spPr>
          <a:xfrm>
            <a:off x="2699792" y="1958294"/>
            <a:ext cx="1584000" cy="553998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选择候选支持度计数≥支持度计数阈值，产生频繁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1-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项集</a:t>
            </a:r>
            <a:r>
              <a:rPr lang="en-US" sz="1200" i="1" kern="100" dirty="0">
                <a:latin typeface="Times New Roman"/>
                <a:ea typeface="华文细黑"/>
                <a:cs typeface="Times New Roman"/>
              </a:rPr>
              <a:t>F</a:t>
            </a:r>
            <a:r>
              <a:rPr lang="en-US" sz="1200" kern="100" baseline="-25000" dirty="0">
                <a:latin typeface="Times New Roman"/>
                <a:ea typeface="华文细黑"/>
                <a:cs typeface="Times New Roman"/>
              </a:rPr>
              <a:t>1</a:t>
            </a:r>
            <a:endParaRPr lang="zh-CN" altLang="en-US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1" name="文本框 1653155"/>
          <p:cNvSpPr txBox="1"/>
          <p:nvPr/>
        </p:nvSpPr>
        <p:spPr>
          <a:xfrm>
            <a:off x="5868144" y="1938434"/>
            <a:ext cx="1438870" cy="7022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由</a:t>
            </a:r>
            <a:r>
              <a:rPr lang="en-US" sz="1200" i="1" kern="100" dirty="0">
                <a:latin typeface="Times New Roman"/>
                <a:ea typeface="华文细黑"/>
                <a:cs typeface="Times New Roman"/>
              </a:rPr>
              <a:t>F</a:t>
            </a:r>
            <a:r>
              <a:rPr lang="en-US" sz="1200" kern="100" baseline="-25000" dirty="0">
                <a:latin typeface="Times New Roman"/>
                <a:ea typeface="华文细黑"/>
                <a:cs typeface="Times New Roman"/>
              </a:rPr>
              <a:t>1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组合产生候选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2-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项集</a:t>
            </a:r>
            <a:r>
              <a:rPr lang="en-US" sz="1200" i="1" kern="100" dirty="0">
                <a:latin typeface="Times New Roman"/>
                <a:ea typeface="华文细黑"/>
                <a:cs typeface="Times New Roman"/>
              </a:rPr>
              <a:t>C</a:t>
            </a:r>
            <a:r>
              <a:rPr lang="en-US" sz="1200" kern="100" baseline="-25000" dirty="0">
                <a:latin typeface="Times New Roman"/>
                <a:ea typeface="华文细黑"/>
                <a:cs typeface="Times New Roman"/>
              </a:rPr>
              <a:t>2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。再次扫描数据，计算</a:t>
            </a:r>
            <a:r>
              <a:rPr lang="en-US" sz="1200" i="1" kern="100" dirty="0">
                <a:latin typeface="Times New Roman"/>
                <a:ea typeface="华文细黑"/>
                <a:cs typeface="Times New Roman"/>
              </a:rPr>
              <a:t>C</a:t>
            </a:r>
            <a:r>
              <a:rPr lang="en-US" sz="1200" kern="100" baseline="-25000" dirty="0">
                <a:latin typeface="Times New Roman"/>
                <a:ea typeface="华文细黑"/>
                <a:cs typeface="Times New Roman"/>
              </a:rPr>
              <a:t>2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各项集支持度计数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  <a:p>
            <a:pPr algn="just"/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 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277286" y="2521699"/>
            <a:ext cx="830327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2650640" y="2521699"/>
            <a:ext cx="16200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5805228" y="2640902"/>
            <a:ext cx="154622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6084168" y="3688229"/>
            <a:ext cx="12960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22"/>
          <p:cNvSpPr txBox="1"/>
          <p:nvPr/>
        </p:nvSpPr>
        <p:spPr>
          <a:xfrm>
            <a:off x="6041203" y="3291023"/>
            <a:ext cx="1411119" cy="36933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根据支持度阈值确定频繁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2-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项集</a:t>
            </a:r>
            <a:r>
              <a:rPr lang="en-US" sz="1200" i="1" kern="100" dirty="0">
                <a:latin typeface="Times New Roman"/>
                <a:ea typeface="华文细黑"/>
                <a:cs typeface="Times New Roman"/>
              </a:rPr>
              <a:t>F</a:t>
            </a:r>
            <a:r>
              <a:rPr lang="en-US" sz="1200" kern="100" baseline="-25000" dirty="0">
                <a:latin typeface="Times New Roman"/>
                <a:ea typeface="华文细黑"/>
                <a:cs typeface="Times New Roman"/>
              </a:rPr>
              <a:t>2</a:t>
            </a:r>
            <a:endParaRPr lang="zh-CN" altLang="en-US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7" name="肘形连接符 16"/>
          <p:cNvCxnSpPr>
            <a:stCxn id="30" idx="3"/>
          </p:cNvCxnSpPr>
          <p:nvPr/>
        </p:nvCxnSpPr>
        <p:spPr>
          <a:xfrm>
            <a:off x="7625100" y="5080099"/>
            <a:ext cx="475292" cy="430051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22"/>
          <p:cNvSpPr txBox="1"/>
          <p:nvPr/>
        </p:nvSpPr>
        <p:spPr>
          <a:xfrm>
            <a:off x="1871992" y="3689261"/>
            <a:ext cx="2628000" cy="81000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由</a:t>
            </a:r>
            <a:r>
              <a:rPr lang="en-US" sz="1200" i="1" kern="100" dirty="0">
                <a:latin typeface="Times New Roman"/>
                <a:ea typeface="华文细黑"/>
                <a:cs typeface="Times New Roman"/>
              </a:rPr>
              <a:t>F</a:t>
            </a:r>
            <a:r>
              <a:rPr lang="en-US" sz="1200" kern="100" baseline="-25000" dirty="0">
                <a:latin typeface="Times New Roman"/>
                <a:ea typeface="华文细黑"/>
                <a:cs typeface="Times New Roman"/>
              </a:rPr>
              <a:t>2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中各项组合产生候选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3-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项集。因其中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{I1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，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I6}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、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{I6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，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I7}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是非频繁的，可对其超集进行基于非频繁子集的剪枝。</a:t>
            </a:r>
            <a:endParaRPr lang="zh-CN" altLang="en-US" sz="900" kern="100" dirty="0">
              <a:latin typeface="Times New Roman"/>
              <a:ea typeface="宋体"/>
              <a:cs typeface="Times New Roman"/>
            </a:endParaRPr>
          </a:p>
          <a:p>
            <a:pPr algn="just"/>
            <a:r>
              <a:rPr lang="en-US" sz="900" kern="100" dirty="0">
                <a:latin typeface="Times New Roman"/>
                <a:ea typeface="华文细黑"/>
                <a:cs typeface="Times New Roman"/>
              </a:rPr>
              <a:t> </a:t>
            </a:r>
            <a:endParaRPr lang="zh-CN" altLang="en-US" sz="900" kern="100" dirty="0">
              <a:latin typeface="Times New Roman"/>
              <a:ea typeface="宋体"/>
              <a:cs typeface="Times New Roman"/>
            </a:endParaRPr>
          </a:p>
          <a:p>
            <a:pPr algn="just"/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再次扫描数据，计算各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3-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项集支持度计数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9" name="文本框 122"/>
          <p:cNvSpPr txBox="1"/>
          <p:nvPr/>
        </p:nvSpPr>
        <p:spPr>
          <a:xfrm>
            <a:off x="4139953" y="4810052"/>
            <a:ext cx="1476000" cy="80021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由</a:t>
            </a:r>
            <a:r>
              <a:rPr lang="en-US" sz="1200" i="1" kern="100" dirty="0">
                <a:latin typeface="Times New Roman"/>
                <a:ea typeface="华文细黑"/>
                <a:cs typeface="Times New Roman"/>
              </a:rPr>
              <a:t>F</a:t>
            </a:r>
            <a:r>
              <a:rPr lang="en-US" sz="1200" kern="100" baseline="-25000" dirty="0">
                <a:latin typeface="Times New Roman"/>
                <a:ea typeface="华文细黑"/>
                <a:cs typeface="Times New Roman"/>
              </a:rPr>
              <a:t>3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中的各项组合产生候选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4-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项集</a:t>
            </a:r>
            <a:r>
              <a:rPr lang="en-US" sz="1200" i="1" kern="100" dirty="0">
                <a:latin typeface="Times New Roman"/>
                <a:ea typeface="华文细黑"/>
                <a:cs typeface="Times New Roman"/>
              </a:rPr>
              <a:t>C</a:t>
            </a:r>
            <a:r>
              <a:rPr lang="en-US" sz="1200" kern="100" baseline="-25000" dirty="0">
                <a:latin typeface="Times New Roman"/>
                <a:ea typeface="华文细黑"/>
                <a:cs typeface="Times New Roman"/>
              </a:rPr>
              <a:t>4</a:t>
            </a:r>
            <a:endParaRPr lang="zh-CN" altLang="en-US" sz="400" kern="100" dirty="0">
              <a:latin typeface="Times New Roman"/>
              <a:ea typeface="宋体"/>
              <a:cs typeface="Times New Roman"/>
            </a:endParaRPr>
          </a:p>
          <a:p>
            <a:pPr algn="just"/>
            <a:r>
              <a:rPr lang="en-US" sz="400" kern="100" dirty="0">
                <a:latin typeface="华文细黑"/>
                <a:ea typeface="宋体"/>
                <a:cs typeface="Times New Roman"/>
              </a:rPr>
              <a:t> </a:t>
            </a:r>
            <a:endParaRPr lang="zh-CN" altLang="en-US" sz="400" kern="100" dirty="0">
              <a:latin typeface="Times New Roman"/>
              <a:ea typeface="宋体"/>
              <a:cs typeface="Times New Roman"/>
            </a:endParaRPr>
          </a:p>
          <a:p>
            <a:pPr algn="just"/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再次扫描数据，计算各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4-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项集支持度计数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20" name="文本框 122"/>
          <p:cNvSpPr txBox="1"/>
          <p:nvPr/>
        </p:nvSpPr>
        <p:spPr>
          <a:xfrm>
            <a:off x="827584" y="5406707"/>
            <a:ext cx="1404000" cy="36933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根据支持度阈值确定频繁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3-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项集</a:t>
            </a:r>
            <a:r>
              <a:rPr lang="en-US" sz="1200" i="1" kern="100" dirty="0">
                <a:latin typeface="Times New Roman"/>
                <a:ea typeface="华文细黑"/>
                <a:cs typeface="Times New Roman"/>
              </a:rPr>
              <a:t>F</a:t>
            </a:r>
            <a:r>
              <a:rPr lang="en-US" sz="1200" kern="100" baseline="-25000" dirty="0">
                <a:latin typeface="Times New Roman"/>
                <a:ea typeface="华文细黑"/>
                <a:cs typeface="Times New Roman"/>
              </a:rPr>
              <a:t>3</a:t>
            </a:r>
            <a:endParaRPr lang="zh-CN" altLang="en-US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21" name="文本框 122"/>
          <p:cNvSpPr txBox="1"/>
          <p:nvPr/>
        </p:nvSpPr>
        <p:spPr>
          <a:xfrm>
            <a:off x="8193722" y="5070614"/>
            <a:ext cx="684000" cy="36933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产生频繁</a:t>
            </a:r>
            <a:r>
              <a:rPr lang="en-US" sz="1200" kern="100" dirty="0">
                <a:latin typeface="Times New Roman"/>
                <a:ea typeface="华文细黑"/>
                <a:cs typeface="Times New Roman"/>
              </a:rPr>
              <a:t>4-</a:t>
            </a:r>
            <a:r>
              <a:rPr lang="zh-CN" altLang="en-US" sz="1200" kern="100" dirty="0">
                <a:latin typeface="Times New Roman"/>
                <a:ea typeface="华文细黑"/>
                <a:cs typeface="Times New Roman"/>
              </a:rPr>
              <a:t>项集</a:t>
            </a:r>
            <a:r>
              <a:rPr lang="en-US" sz="1200" i="1" kern="100" dirty="0">
                <a:latin typeface="Times New Roman"/>
                <a:ea typeface="华文细黑"/>
                <a:cs typeface="Times New Roman"/>
              </a:rPr>
              <a:t>F</a:t>
            </a:r>
            <a:r>
              <a:rPr lang="en-US" sz="1200" kern="100" baseline="-25000" dirty="0">
                <a:latin typeface="Times New Roman"/>
                <a:ea typeface="华文细黑"/>
                <a:cs typeface="Times New Roman"/>
              </a:rPr>
              <a:t>4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 flipH="1">
            <a:off x="1763688" y="4293096"/>
            <a:ext cx="28080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/>
          <p:cNvCxnSpPr/>
          <p:nvPr/>
        </p:nvCxnSpPr>
        <p:spPr>
          <a:xfrm>
            <a:off x="725685" y="5415071"/>
            <a:ext cx="1608072" cy="378997"/>
          </a:xfrm>
          <a:prstGeom prst="bentConnector3">
            <a:avLst>
              <a:gd name="adj1" fmla="val -124"/>
            </a:avLst>
          </a:prstGeom>
          <a:ln w="28575">
            <a:solidFill>
              <a:schemeClr val="tx1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4067944" y="5178794"/>
            <a:ext cx="15840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543" y="1842614"/>
            <a:ext cx="1322100" cy="123346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5287" y="2068050"/>
            <a:ext cx="1433970" cy="192786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04" y="3276433"/>
            <a:ext cx="1657710" cy="210146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4571" y="4831806"/>
            <a:ext cx="1657710" cy="1059869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4526" y="1744013"/>
            <a:ext cx="1271250" cy="1580666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4735390" y="1651448"/>
            <a:ext cx="6286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Wingdings"/>
              </a:rPr>
              <a:t></a:t>
            </a:r>
            <a:endParaRPr lang="zh-CN" alt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932040" y="2852937"/>
            <a:ext cx="6286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Wingdings"/>
              </a:rPr>
              <a:t></a:t>
            </a:r>
            <a:endParaRPr lang="zh-CN" alt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987824" y="4675784"/>
            <a:ext cx="6286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Wingdings"/>
              </a:rPr>
              <a:t></a:t>
            </a:r>
            <a:endParaRPr lang="zh-CN" alt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111654" y="5229201"/>
            <a:ext cx="6286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Wingdings"/>
              </a:rPr>
              <a:t></a:t>
            </a:r>
            <a:endParaRPr lang="zh-CN" alt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351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6" grpId="0"/>
      <p:bldP spid="18" grpId="0"/>
      <p:bldP spid="19" grpId="0"/>
      <p:bldP spid="20" grpId="0"/>
      <p:bldP spid="21" grpId="0"/>
      <p:bldP spid="33" grpId="0"/>
      <p:bldP spid="34" grpId="0"/>
      <p:bldP spid="35" grpId="0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几个问题</a:t>
            </a:r>
          </a:p>
        </p:txBody>
      </p:sp>
      <p:sp>
        <p:nvSpPr>
          <p:cNvPr id="4" name="矩形 3"/>
          <p:cNvSpPr/>
          <p:nvPr/>
        </p:nvSpPr>
        <p:spPr>
          <a:xfrm>
            <a:off x="3131840" y="2317924"/>
            <a:ext cx="4248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改进组合产生候选项集的方法</a:t>
            </a:r>
            <a:endParaRPr lang="en-US" altLang="zh-CN" sz="2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78614" y="2792426"/>
            <a:ext cx="19370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728" lvl="2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altLang="zh-CN" sz="24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sz="24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k-1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2"/>
              </a:rPr>
              <a:t></a:t>
            </a:r>
            <a:r>
              <a:rPr lang="en-US" altLang="zh-CN" sz="24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sz="24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方法</a:t>
            </a:r>
          </a:p>
        </p:txBody>
      </p:sp>
      <p:sp>
        <p:nvSpPr>
          <p:cNvPr id="6" name="矩形 5"/>
          <p:cNvSpPr/>
          <p:nvPr/>
        </p:nvSpPr>
        <p:spPr>
          <a:xfrm>
            <a:off x="3861475" y="3207924"/>
            <a:ext cx="21085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728" lvl="2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altLang="zh-CN" sz="24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sz="24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k-1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2"/>
              </a:rPr>
              <a:t></a:t>
            </a:r>
            <a:r>
              <a:rPr lang="en-US" altLang="zh-CN" sz="24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sz="24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k-1</a:t>
            </a:r>
            <a:r>
              <a:rPr lang="zh-CN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方法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70195" y="2197663"/>
            <a:ext cx="2745623" cy="5963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02336" lvl="1">
              <a:lnSpc>
                <a:spcPct val="130000"/>
              </a:lnSpc>
              <a:buClr>
                <a:srgbClr val="3891A7"/>
              </a:buClr>
            </a:pP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产生候选项集</a:t>
            </a:r>
            <a:endParaRPr lang="en-US" altLang="zh-CN" sz="2800" dirty="0">
              <a:solidFill>
                <a:prstClr val="black"/>
              </a:solidFill>
              <a:latin typeface="Times New Roman" pitchFamily="18" charset="0"/>
              <a:ea typeface="华文细黑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0195" y="3230606"/>
            <a:ext cx="2386551" cy="5963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02336" lvl="1">
              <a:lnSpc>
                <a:spcPct val="130000"/>
              </a:lnSpc>
              <a:buClr>
                <a:srgbClr val="3891A7"/>
              </a:buClr>
            </a:pP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计算支持度</a:t>
            </a:r>
          </a:p>
        </p:txBody>
      </p:sp>
    </p:spTree>
    <p:extLst>
      <p:ext uri="{BB962C8B-B14F-4D97-AF65-F5344CB8AC3E}">
        <p14:creationId xmlns:p14="http://schemas.microsoft.com/office/powerpoint/2010/main" val="168582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产生候选项集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lvl="2" indent="0">
              <a:spcBef>
                <a:spcPts val="400"/>
              </a:spcBef>
              <a:buClr>
                <a:schemeClr val="accent1"/>
              </a:buClr>
              <a:buSzPct val="68000"/>
              <a:buNone/>
            </a:pPr>
            <a:r>
              <a:rPr lang="en-US" altLang="zh-CN" sz="2400" b="1" dirty="0"/>
              <a:t>F</a:t>
            </a:r>
            <a:r>
              <a:rPr lang="en-US" altLang="zh-CN" sz="2400" b="1" baseline="-25000" dirty="0"/>
              <a:t>k-1</a:t>
            </a:r>
            <a:r>
              <a:rPr lang="en-US" altLang="zh-CN" sz="2400" b="1" dirty="0">
                <a:sym typeface="Wingdings 2"/>
              </a:rPr>
              <a:t></a:t>
            </a:r>
            <a:r>
              <a:rPr lang="en-US" altLang="zh-CN" sz="2400" b="1" dirty="0"/>
              <a:t>F</a:t>
            </a:r>
            <a:r>
              <a:rPr lang="en-US" altLang="zh-CN" sz="2400" b="1" baseline="-25000" dirty="0"/>
              <a:t>1</a:t>
            </a:r>
            <a:r>
              <a:rPr lang="zh-CN" altLang="zh-CN" sz="2400" b="1" dirty="0"/>
              <a:t>方法</a:t>
            </a:r>
          </a:p>
          <a:p>
            <a:pPr marL="402336" lvl="1" indent="0">
              <a:buNone/>
            </a:pPr>
            <a:r>
              <a:rPr lang="zh-CN" altLang="en-US" dirty="0"/>
              <a:t>利用已经得到的频繁</a:t>
            </a:r>
            <a:r>
              <a:rPr lang="en-US" altLang="zh-CN" dirty="0"/>
              <a:t>1-</a:t>
            </a:r>
            <a:r>
              <a:rPr lang="zh-CN" altLang="en-US" dirty="0"/>
              <a:t>项集和频繁</a:t>
            </a:r>
            <a:r>
              <a:rPr lang="en-US" altLang="zh-CN" dirty="0"/>
              <a:t>(k-1)-</a:t>
            </a:r>
            <a:r>
              <a:rPr lang="zh-CN" altLang="en-US" dirty="0"/>
              <a:t>项集，组合产生候选</a:t>
            </a:r>
            <a:r>
              <a:rPr lang="en-US" altLang="zh-CN" dirty="0"/>
              <a:t>k-</a:t>
            </a:r>
            <a:r>
              <a:rPr lang="zh-CN" altLang="en-US" dirty="0"/>
              <a:t>项集，在经过剪枝，得到频繁</a:t>
            </a:r>
            <a:r>
              <a:rPr lang="en-US" altLang="zh-CN" dirty="0"/>
              <a:t>k-</a:t>
            </a:r>
            <a:r>
              <a:rPr lang="zh-CN" altLang="en-US" dirty="0"/>
              <a:t>项集。</a:t>
            </a:r>
            <a:endParaRPr lang="en-US" altLang="zh-CN" dirty="0"/>
          </a:p>
          <a:p>
            <a:pPr marL="393192" lvl="1" indent="0">
              <a:buNone/>
            </a:pPr>
            <a:endParaRPr lang="zh-CN" altLang="en-US" dirty="0"/>
          </a:p>
        </p:txBody>
      </p:sp>
      <p:pic>
        <p:nvPicPr>
          <p:cNvPr id="5" name="Picture 4" descr="SWScan00065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4" b="13574"/>
          <a:stretch/>
        </p:blipFill>
        <p:spPr bwMode="auto">
          <a:xfrm>
            <a:off x="611560" y="3078032"/>
            <a:ext cx="5760000" cy="287124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矩形 3"/>
          <p:cNvSpPr/>
          <p:nvPr/>
        </p:nvSpPr>
        <p:spPr>
          <a:xfrm>
            <a:off x="4716016" y="4919567"/>
            <a:ext cx="41764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每个频繁</a:t>
            </a:r>
            <a:r>
              <a:rPr lang="en-US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k-</a:t>
            </a: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项集都由一个频繁</a:t>
            </a:r>
            <a:r>
              <a:rPr lang="en-US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(k-1)-</a:t>
            </a: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项集和一个频繁</a:t>
            </a:r>
            <a:r>
              <a:rPr lang="en-US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1-</a:t>
            </a: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项集组成的，方法是完备的。</a:t>
            </a:r>
            <a:endParaRPr lang="en-US" altLang="zh-CN" sz="2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771800" y="4568565"/>
            <a:ext cx="288000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635896" y="4568565"/>
            <a:ext cx="288000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771800" y="4750404"/>
            <a:ext cx="288000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35896" y="4750404"/>
            <a:ext cx="288000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203880" y="5066895"/>
            <a:ext cx="288000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635896" y="5066895"/>
            <a:ext cx="288000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59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7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产生候选项集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923928" y="2784568"/>
          <a:ext cx="2090880" cy="35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公式" r:id="rId4" imgW="1256755" imgH="266584" progId="Equation.3">
                  <p:embed/>
                </p:oleObj>
              </mc:Choice>
              <mc:Fallback>
                <p:oleObj name="公式" r:id="rId4" imgW="1256755" imgH="266584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2784568"/>
                        <a:ext cx="2090880" cy="35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4" descr="SWScan00065"/>
          <p:cNvPicPr>
            <a:picLocks noChangeAspect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4" b="13574"/>
          <a:stretch/>
        </p:blipFill>
        <p:spPr bwMode="auto">
          <a:xfrm>
            <a:off x="683568" y="3078451"/>
            <a:ext cx="5760000" cy="287124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8" name="内容占位符 1"/>
          <p:cNvSpPr txBox="1">
            <a:spLocks/>
          </p:cNvSpPr>
          <p:nvPr/>
        </p:nvSpPr>
        <p:spPr>
          <a:xfrm>
            <a:off x="162768" y="1700811"/>
            <a:ext cx="8917735" cy="421104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1pPr>
            <a:lvl2pPr marL="640080" indent="-23774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Font typeface="Verdana"/>
              <a:buChar char="◦"/>
              <a:defRPr kumimoji="0" sz="24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2pPr>
            <a:lvl3pPr marL="886968" indent="-22860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2"/>
              </a:buClr>
              <a:buFont typeface="Wingdings 2"/>
              <a:buChar char=""/>
              <a:defRPr kumimoji="0" sz="20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3pPr>
            <a:lvl4pPr marL="1097280" indent="-173736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3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4pPr>
            <a:lvl5pPr marL="1298448" indent="-18288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lvl="2" indent="0">
              <a:spcBef>
                <a:spcPts val="400"/>
              </a:spcBef>
              <a:buClr>
                <a:schemeClr val="accent1"/>
              </a:buClr>
              <a:buSzPct val="68000"/>
              <a:buNone/>
            </a:pPr>
            <a:r>
              <a:rPr lang="en-US" altLang="zh-CN" sz="2400" b="1" dirty="0"/>
              <a:t>F</a:t>
            </a:r>
            <a:r>
              <a:rPr lang="en-US" altLang="zh-CN" sz="2400" b="1" baseline="-25000" dirty="0"/>
              <a:t>k-1</a:t>
            </a:r>
            <a:r>
              <a:rPr lang="en-US" altLang="zh-CN" sz="2400" b="1" dirty="0">
                <a:sym typeface="Wingdings 2"/>
              </a:rPr>
              <a:t></a:t>
            </a:r>
            <a:r>
              <a:rPr lang="en-US" altLang="zh-CN" sz="2400" b="1" dirty="0"/>
              <a:t>F</a:t>
            </a:r>
            <a:r>
              <a:rPr lang="en-US" altLang="zh-CN" sz="2400" b="1" baseline="-25000" dirty="0"/>
              <a:t>1</a:t>
            </a:r>
            <a:r>
              <a:rPr lang="zh-CN" altLang="zh-CN" sz="2400" b="1" dirty="0"/>
              <a:t>方法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7" name="内容占位符 1"/>
          <p:cNvSpPr txBox="1">
            <a:spLocks/>
          </p:cNvSpPr>
          <p:nvPr/>
        </p:nvSpPr>
        <p:spPr>
          <a:xfrm>
            <a:off x="2771801" y="2132857"/>
            <a:ext cx="4608675" cy="108012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1pPr>
            <a:lvl2pPr marL="640080" indent="-23774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Font typeface="Verdana"/>
              <a:buChar char="◦"/>
              <a:defRPr kumimoji="0" sz="24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2pPr>
            <a:lvl3pPr marL="886968" indent="-22860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2"/>
              </a:buClr>
              <a:buFont typeface="Wingdings 2"/>
              <a:buChar char=""/>
              <a:defRPr kumimoji="0" sz="20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3pPr>
            <a:lvl4pPr marL="1097280" indent="-173736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3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4pPr>
            <a:lvl5pPr marL="1298448" indent="-18288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763" lvl="1" indent="0">
              <a:buNone/>
            </a:pPr>
            <a:r>
              <a:rPr lang="zh-CN" altLang="en-US" dirty="0"/>
              <a:t>将产生</a:t>
            </a:r>
            <a:r>
              <a:rPr lang="en-US" altLang="zh-CN" dirty="0"/>
              <a:t>|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k</a:t>
            </a:r>
            <a:r>
              <a:rPr lang="en-US" altLang="zh-CN" baseline="-25000" dirty="0"/>
              <a:t>-1</a:t>
            </a:r>
            <a:r>
              <a:rPr lang="en-US" altLang="zh-CN" dirty="0"/>
              <a:t> |×|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|</a:t>
            </a:r>
            <a:r>
              <a:rPr lang="zh-CN" altLang="en-US" dirty="0"/>
              <a:t>个候选</a:t>
            </a:r>
            <a:r>
              <a:rPr lang="en-US" altLang="zh-CN" i="1" dirty="0"/>
              <a:t>k</a:t>
            </a:r>
            <a:r>
              <a:rPr lang="en-US" altLang="zh-CN" dirty="0"/>
              <a:t>-</a:t>
            </a:r>
            <a:r>
              <a:rPr lang="zh-CN" altLang="en-US" dirty="0"/>
              <a:t>项集</a:t>
            </a:r>
            <a:endParaRPr lang="en-US" altLang="zh-CN" dirty="0"/>
          </a:p>
          <a:p>
            <a:pPr marL="4763" lvl="1" indent="0">
              <a:buNone/>
            </a:pPr>
            <a:r>
              <a:rPr lang="zh-CN" altLang="en-US" dirty="0"/>
              <a:t>复杂度</a:t>
            </a:r>
          </a:p>
        </p:txBody>
      </p:sp>
    </p:spTree>
    <p:extLst>
      <p:ext uri="{BB962C8B-B14F-4D97-AF65-F5344CB8AC3E}">
        <p14:creationId xmlns:p14="http://schemas.microsoft.com/office/powerpoint/2010/main" val="261161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产生候选项集</a:t>
            </a:r>
          </a:p>
        </p:txBody>
      </p:sp>
      <p:pic>
        <p:nvPicPr>
          <p:cNvPr id="16" name="Picture 4" descr="SWScan00065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4" b="13574"/>
          <a:stretch/>
        </p:blipFill>
        <p:spPr bwMode="auto">
          <a:xfrm>
            <a:off x="683568" y="3078451"/>
            <a:ext cx="5760000" cy="287124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右大括号 10"/>
          <p:cNvSpPr/>
          <p:nvPr/>
        </p:nvSpPr>
        <p:spPr>
          <a:xfrm>
            <a:off x="1907704" y="3877445"/>
            <a:ext cx="720000" cy="1755000"/>
          </a:xfrm>
          <a:prstGeom prst="rightBrace">
            <a:avLst>
              <a:gd name="adj1" fmla="val 32871"/>
              <a:gd name="adj2" fmla="val 56692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大括号 11"/>
          <p:cNvSpPr/>
          <p:nvPr/>
        </p:nvSpPr>
        <p:spPr>
          <a:xfrm>
            <a:off x="1907704" y="4012265"/>
            <a:ext cx="576064" cy="1485000"/>
          </a:xfrm>
          <a:prstGeom prst="rightBrace">
            <a:avLst>
              <a:gd name="adj1" fmla="val 32871"/>
              <a:gd name="adj2" fmla="val 57937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内容占位符 1"/>
          <p:cNvSpPr txBox="1">
            <a:spLocks/>
          </p:cNvSpPr>
          <p:nvPr/>
        </p:nvSpPr>
        <p:spPr>
          <a:xfrm>
            <a:off x="162768" y="1700811"/>
            <a:ext cx="8917735" cy="421104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1pPr>
            <a:lvl2pPr marL="640080" indent="-23774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Font typeface="Verdana"/>
              <a:buChar char="◦"/>
              <a:defRPr kumimoji="0" sz="24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2pPr>
            <a:lvl3pPr marL="886968" indent="-22860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2"/>
              </a:buClr>
              <a:buFont typeface="Wingdings 2"/>
              <a:buChar char=""/>
              <a:defRPr kumimoji="0" sz="20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3pPr>
            <a:lvl4pPr marL="1097280" indent="-173736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3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4pPr>
            <a:lvl5pPr marL="1298448" indent="-18288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lvl="2" indent="0">
              <a:spcBef>
                <a:spcPts val="400"/>
              </a:spcBef>
              <a:buClr>
                <a:schemeClr val="accent1"/>
              </a:buClr>
              <a:buSzPct val="68000"/>
              <a:buNone/>
            </a:pPr>
            <a:r>
              <a:rPr lang="en-US" altLang="zh-CN" sz="2400" b="1" dirty="0"/>
              <a:t>F</a:t>
            </a:r>
            <a:r>
              <a:rPr lang="en-US" altLang="zh-CN" sz="2400" b="1" baseline="-25000" dirty="0"/>
              <a:t>k-1</a:t>
            </a:r>
            <a:r>
              <a:rPr lang="en-US" altLang="zh-CN" sz="2400" b="1" dirty="0">
                <a:sym typeface="Wingdings 2"/>
              </a:rPr>
              <a:t></a:t>
            </a:r>
            <a:r>
              <a:rPr lang="en-US" altLang="zh-CN" sz="2400" b="1" dirty="0"/>
              <a:t>F</a:t>
            </a:r>
            <a:r>
              <a:rPr lang="en-US" altLang="zh-CN" sz="2400" b="1" baseline="-25000" dirty="0"/>
              <a:t>1</a:t>
            </a:r>
            <a:r>
              <a:rPr lang="zh-CN" altLang="zh-CN" sz="2400" b="1" dirty="0"/>
              <a:t>方法</a:t>
            </a:r>
          </a:p>
          <a:p>
            <a:pPr marL="402336" lvl="1" indent="0"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难以避免重复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528269" y="1772816"/>
            <a:ext cx="6588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比蛮力方法改进明显，但仍产生大量不必要的候选项集。</a:t>
            </a:r>
            <a:endParaRPr lang="zh-CN" altLang="zh-CN" sz="2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28269" y="2068050"/>
            <a:ext cx="6588000" cy="797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例如，通过合并</a:t>
            </a:r>
            <a:r>
              <a:rPr lang="en-US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啤酒，尿布</a:t>
            </a:r>
            <a:r>
              <a:rPr lang="en-US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}</a:t>
            </a: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和</a:t>
            </a:r>
            <a:r>
              <a:rPr lang="en-US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牛奶</a:t>
            </a:r>
            <a:r>
              <a:rPr lang="en-US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}</a:t>
            </a: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而得到的候选是不必要的。因为它的子集</a:t>
            </a:r>
            <a:r>
              <a:rPr lang="en-US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啤酒，牛奶</a:t>
            </a:r>
            <a:r>
              <a:rPr lang="en-US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}</a:t>
            </a: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是非频繁的。</a:t>
            </a:r>
            <a:endParaRPr lang="zh-CN" altLang="zh-CN" sz="2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44504" y="2799160"/>
            <a:ext cx="626400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确保每个频繁项集中的项以字典序存储，每个频繁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(k-1)-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项集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X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只用字典序比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X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中所有的项都大的频繁项进行扩展（如：项集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面包，尿布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}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可以用项集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牛奶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}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扩展，因为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“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牛奶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”(milk)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在字典序下比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“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面包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”(bread)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和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“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尿布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”(diaper)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都大）。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664040" y="4653136"/>
            <a:ext cx="1512000" cy="36933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algn="ctr"/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81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4" grpId="0" animBg="1"/>
      <p:bldP spid="14" grpId="1"/>
      <p:bldP spid="15" grpId="0" animBg="1"/>
      <p:bldP spid="15" grpId="1"/>
      <p:bldP spid="10" grpId="0" animBg="1"/>
      <p:bldP spid="13" grpId="0" animBg="1"/>
      <p:bldP spid="1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产生候选项集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15516" y="1408355"/>
            <a:ext cx="8712968" cy="4212468"/>
          </a:xfrm>
        </p:spPr>
        <p:txBody>
          <a:bodyPr>
            <a:normAutofit/>
          </a:bodyPr>
          <a:lstStyle/>
          <a:p>
            <a:pPr marL="109728" lvl="2" indent="0">
              <a:spcBef>
                <a:spcPts val="400"/>
              </a:spcBef>
              <a:buClr>
                <a:schemeClr val="accent1"/>
              </a:buClr>
              <a:buSzPct val="68000"/>
              <a:buNone/>
            </a:pPr>
            <a:r>
              <a:rPr lang="en-US" altLang="zh-CN" sz="2400" b="1" dirty="0"/>
              <a:t>F</a:t>
            </a:r>
            <a:r>
              <a:rPr lang="en-US" altLang="zh-CN" sz="2400" b="1" baseline="-25000" dirty="0"/>
              <a:t>k-1</a:t>
            </a:r>
            <a:r>
              <a:rPr lang="en-US" altLang="zh-CN" sz="2400" b="1" dirty="0">
                <a:sym typeface="Wingdings 2"/>
              </a:rPr>
              <a:t></a:t>
            </a:r>
            <a:r>
              <a:rPr lang="en-US" altLang="zh-CN" sz="2400" b="1" dirty="0"/>
              <a:t>F</a:t>
            </a:r>
            <a:r>
              <a:rPr lang="en-US" altLang="zh-CN" sz="2400" b="1" baseline="-25000" dirty="0"/>
              <a:t>k-1</a:t>
            </a:r>
            <a:r>
              <a:rPr lang="zh-CN" altLang="zh-CN" sz="2400" b="1" dirty="0"/>
              <a:t>方法</a:t>
            </a:r>
          </a:p>
          <a:p>
            <a:pPr marL="449263" lvl="1" indent="-236538"/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合并一对频繁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-1)-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项集，仅当它们的前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个项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经排序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都相同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263" lvl="1" indent="-236538"/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例如：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263" lvl="1" indent="-236538"/>
            <a:endParaRPr lang="en-US" altLang="zh-CN" sz="2200" dirty="0">
              <a:cs typeface="Times New Roman" panose="02020603050405020304" pitchFamily="18" charset="0"/>
            </a:endParaRPr>
          </a:p>
          <a:p>
            <a:pPr marL="720725" lvl="2" defTabSz="72390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lvl="2" defTabSz="72390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算法不会合并项集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啤酒，尿布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尿布，牛奶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，因为它们的第一个项不相同）。</a:t>
            </a:r>
          </a:p>
        </p:txBody>
      </p:sp>
      <p:sp>
        <p:nvSpPr>
          <p:cNvPr id="4" name="矩形 3"/>
          <p:cNvSpPr/>
          <p:nvPr/>
        </p:nvSpPr>
        <p:spPr>
          <a:xfrm>
            <a:off x="899593" y="2975350"/>
            <a:ext cx="1560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华文细黑" pitchFamily="2" charset="-122"/>
                <a:cs typeface="Times New Roman" panose="02020603050405020304" pitchFamily="18" charset="0"/>
              </a:rPr>
              <a:t>{</a:t>
            </a:r>
            <a:r>
              <a:rPr lang="zh-CN" altLang="en-US" dirty="0">
                <a:latin typeface="Times New Roman" panose="02020603050405020304" pitchFamily="18" charset="0"/>
                <a:ea typeface="华文细黑" pitchFamily="2" charset="-122"/>
                <a:cs typeface="Times New Roman" panose="02020603050405020304" pitchFamily="18" charset="0"/>
              </a:rPr>
              <a:t>面包，尿布</a:t>
            </a:r>
            <a:r>
              <a:rPr lang="en-US" altLang="zh-CN" dirty="0">
                <a:latin typeface="Times New Roman" panose="02020603050405020304" pitchFamily="18" charset="0"/>
                <a:ea typeface="华文细黑" pitchFamily="2" charset="-122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ea typeface="华文细黑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99593" y="3364621"/>
            <a:ext cx="1560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华文细黑" pitchFamily="2" charset="-122"/>
                <a:cs typeface="Times New Roman" panose="02020603050405020304" pitchFamily="18" charset="0"/>
              </a:rPr>
              <a:t>{</a:t>
            </a:r>
            <a:r>
              <a:rPr lang="zh-CN" altLang="en-US" dirty="0">
                <a:latin typeface="Times New Roman" panose="02020603050405020304" pitchFamily="18" charset="0"/>
                <a:ea typeface="华文细黑" pitchFamily="2" charset="-122"/>
                <a:cs typeface="Times New Roman" panose="02020603050405020304" pitchFamily="18" charset="0"/>
              </a:rPr>
              <a:t>面包，牛奶</a:t>
            </a:r>
            <a:r>
              <a:rPr lang="en-US" altLang="zh-CN" dirty="0">
                <a:latin typeface="Times New Roman" panose="02020603050405020304" pitchFamily="18" charset="0"/>
                <a:ea typeface="华文细黑" pitchFamily="2" charset="-122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ea typeface="华文细黑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07492" y="3145257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华文细黑" pitchFamily="2" charset="-122"/>
                <a:cs typeface="Times New Roman" panose="02020603050405020304" pitchFamily="18" charset="0"/>
              </a:rPr>
              <a:t>{</a:t>
            </a:r>
            <a:r>
              <a:rPr lang="zh-CN" altLang="en-US" dirty="0">
                <a:latin typeface="Times New Roman" panose="02020603050405020304" pitchFamily="18" charset="0"/>
                <a:ea typeface="华文细黑" pitchFamily="2" charset="-122"/>
                <a:cs typeface="Times New Roman" panose="02020603050405020304" pitchFamily="18" charset="0"/>
              </a:rPr>
              <a:t>面包，尿布，牛奶</a:t>
            </a:r>
            <a:r>
              <a:rPr lang="en-US" altLang="zh-CN" dirty="0">
                <a:latin typeface="Times New Roman" panose="02020603050405020304" pitchFamily="18" charset="0"/>
                <a:ea typeface="华文细黑" pitchFamily="2" charset="-122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ea typeface="华文细黑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十字形 6"/>
          <p:cNvSpPr/>
          <p:nvPr/>
        </p:nvSpPr>
        <p:spPr>
          <a:xfrm>
            <a:off x="1554755" y="3274679"/>
            <a:ext cx="208932" cy="194614"/>
          </a:xfrm>
          <a:prstGeom prst="plus">
            <a:avLst>
              <a:gd name="adj" fmla="val 50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右箭头 7"/>
          <p:cNvSpPr/>
          <p:nvPr/>
        </p:nvSpPr>
        <p:spPr>
          <a:xfrm>
            <a:off x="2410325" y="3291626"/>
            <a:ext cx="217458" cy="4865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矩形 10"/>
          <p:cNvSpPr/>
          <p:nvPr/>
        </p:nvSpPr>
        <p:spPr>
          <a:xfrm>
            <a:off x="971600" y="2996952"/>
            <a:ext cx="612000" cy="756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矩形 20"/>
          <p:cNvSpPr/>
          <p:nvPr/>
        </p:nvSpPr>
        <p:spPr>
          <a:xfrm>
            <a:off x="1727752" y="2996952"/>
            <a:ext cx="612000" cy="756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34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 animBg="1"/>
      <p:bldP spid="11" grpId="0" animBg="1"/>
      <p:bldP spid="11" grpId="1" animBg="1"/>
      <p:bldP spid="21" grpId="0" animBg="1"/>
      <p:bldP spid="21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产生候选项集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9512" y="1013602"/>
            <a:ext cx="8784976" cy="1404156"/>
          </a:xfrm>
        </p:spPr>
        <p:txBody>
          <a:bodyPr>
            <a:normAutofit/>
          </a:bodyPr>
          <a:lstStyle/>
          <a:p>
            <a:pPr marL="109728" lvl="2" indent="0">
              <a:spcBef>
                <a:spcPts val="400"/>
              </a:spcBef>
              <a:buClr>
                <a:schemeClr val="accent1"/>
              </a:buClr>
              <a:buSzPct val="68000"/>
              <a:buNone/>
            </a:pPr>
            <a:r>
              <a:rPr lang="en-US" altLang="zh-CN" sz="2400" b="1" dirty="0"/>
              <a:t>F</a:t>
            </a:r>
            <a:r>
              <a:rPr lang="en-US" altLang="zh-CN" sz="2400" b="1" baseline="-25000" dirty="0"/>
              <a:t>k-1</a:t>
            </a:r>
            <a:r>
              <a:rPr lang="en-US" altLang="zh-CN" sz="2400" b="1" dirty="0">
                <a:sym typeface="Wingdings 2"/>
              </a:rPr>
              <a:t></a:t>
            </a:r>
            <a:r>
              <a:rPr lang="en-US" altLang="zh-CN" sz="2400" b="1" dirty="0"/>
              <a:t>F</a:t>
            </a:r>
            <a:r>
              <a:rPr lang="en-US" altLang="zh-CN" sz="2400" b="1" baseline="-25000" dirty="0"/>
              <a:t>k-1</a:t>
            </a:r>
            <a:r>
              <a:rPr lang="zh-CN" altLang="zh-CN" sz="2400" b="1" dirty="0"/>
              <a:t>方法</a:t>
            </a:r>
          </a:p>
          <a:p>
            <a:pPr marL="449263" lvl="1" indent="-236538"/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合并一对频繁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-1)-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项集，仅当它们的前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个项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经排序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都相同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340658"/>
              </p:ext>
            </p:extLst>
          </p:nvPr>
        </p:nvGraphicFramePr>
        <p:xfrm>
          <a:off x="1264268" y="2172593"/>
          <a:ext cx="1397318" cy="1668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7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频繁</a:t>
                      </a:r>
                      <a:r>
                        <a:rPr lang="en-US" altLang="zh-CN" sz="1200" dirty="0"/>
                        <a:t>2-</a:t>
                      </a:r>
                      <a:r>
                        <a:rPr lang="zh-CN" altLang="en-US" sz="1200" dirty="0"/>
                        <a:t>项集</a:t>
                      </a: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项集</a:t>
                      </a:r>
                    </a:p>
                  </a:txBody>
                  <a:tcPr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</a:t>
                      </a:r>
                      <a:r>
                        <a:rPr lang="zh-CN" altLang="en-US" sz="1200" dirty="0"/>
                        <a:t>啤酒，尿布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</a:t>
                      </a:r>
                      <a:r>
                        <a:rPr lang="zh-CN" altLang="en-US" sz="1200" dirty="0"/>
                        <a:t>面包，尿布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</a:t>
                      </a:r>
                      <a:r>
                        <a:rPr lang="zh-CN" altLang="en-US" sz="1200" dirty="0"/>
                        <a:t>面包，牛奶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</a:t>
                      </a:r>
                      <a:r>
                        <a:rPr lang="zh-CN" altLang="en-US" sz="1200" dirty="0"/>
                        <a:t>尿布，牛奶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984697"/>
              </p:ext>
            </p:extLst>
          </p:nvPr>
        </p:nvGraphicFramePr>
        <p:xfrm>
          <a:off x="1264268" y="3927780"/>
          <a:ext cx="1397318" cy="1668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7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频繁</a:t>
                      </a:r>
                      <a:r>
                        <a:rPr lang="en-US" altLang="zh-CN" sz="1200" dirty="0"/>
                        <a:t>2-</a:t>
                      </a:r>
                      <a:r>
                        <a:rPr lang="zh-CN" altLang="en-US" sz="1200" dirty="0"/>
                        <a:t>项集</a:t>
                      </a: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项集</a:t>
                      </a:r>
                    </a:p>
                  </a:txBody>
                  <a:tcPr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</a:t>
                      </a:r>
                      <a:r>
                        <a:rPr lang="zh-CN" altLang="en-US" sz="1200" dirty="0"/>
                        <a:t>啤酒，尿布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</a:t>
                      </a:r>
                      <a:r>
                        <a:rPr lang="zh-CN" altLang="en-US" sz="1200" dirty="0"/>
                        <a:t>面包，尿布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</a:t>
                      </a:r>
                      <a:r>
                        <a:rPr lang="zh-CN" altLang="en-US" sz="1200" dirty="0"/>
                        <a:t>面包，牛奶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</a:t>
                      </a:r>
                      <a:r>
                        <a:rPr lang="zh-CN" altLang="en-US" sz="1200" dirty="0"/>
                        <a:t>尿布，牛奶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593692"/>
              </p:ext>
            </p:extLst>
          </p:nvPr>
        </p:nvGraphicFramePr>
        <p:xfrm>
          <a:off x="3537698" y="3395826"/>
          <a:ext cx="2006918" cy="834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6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候选产生</a:t>
                      </a: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项集</a:t>
                      </a:r>
                    </a:p>
                  </a:txBody>
                  <a:tcPr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</a:t>
                      </a:r>
                      <a:r>
                        <a:rPr lang="zh-CN" altLang="en-US" sz="1200" dirty="0"/>
                        <a:t>面包，尿布，牛奶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252147"/>
              </p:ext>
            </p:extLst>
          </p:nvPr>
        </p:nvGraphicFramePr>
        <p:xfrm>
          <a:off x="6444208" y="3393114"/>
          <a:ext cx="2006918" cy="834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6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候选剪枝</a:t>
                      </a: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项集</a:t>
                      </a:r>
                    </a:p>
                  </a:txBody>
                  <a:tcPr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</a:t>
                      </a:r>
                      <a:r>
                        <a:rPr lang="zh-CN" altLang="en-US" sz="1200" dirty="0"/>
                        <a:t>面包，尿布，牛奶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661586" y="3006984"/>
            <a:ext cx="876114" cy="1755187"/>
            <a:chOff x="5973589" y="2388590"/>
            <a:chExt cx="1018474" cy="1950208"/>
          </a:xfrm>
        </p:grpSpPr>
        <p:cxnSp>
          <p:nvCxnSpPr>
            <p:cNvPr id="20" name="直接箭头连接符 19"/>
            <p:cNvCxnSpPr>
              <a:stCxn id="9" idx="3"/>
              <a:endCxn id="18" idx="1"/>
            </p:cNvCxnSpPr>
            <p:nvPr/>
          </p:nvCxnSpPr>
          <p:spPr>
            <a:xfrm>
              <a:off x="5973589" y="2388590"/>
              <a:ext cx="1018472" cy="89559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17" idx="3"/>
              <a:endCxn id="18" idx="1"/>
            </p:cNvCxnSpPr>
            <p:nvPr/>
          </p:nvCxnSpPr>
          <p:spPr>
            <a:xfrm flipV="1">
              <a:off x="5973591" y="3284188"/>
              <a:ext cx="1018472" cy="105461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接箭头连接符 26"/>
          <p:cNvCxnSpPr>
            <a:stCxn id="18" idx="3"/>
            <a:endCxn id="19" idx="1"/>
          </p:cNvCxnSpPr>
          <p:nvPr/>
        </p:nvCxnSpPr>
        <p:spPr>
          <a:xfrm flipV="1">
            <a:off x="5544616" y="3810309"/>
            <a:ext cx="899592" cy="2712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21197171">
            <a:off x="4569450" y="2312430"/>
            <a:ext cx="435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由于每个候选都由一对频繁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(k-1)-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项集合并而成，因此，需要附加的候选剪枝步骤来确保该候选的其余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k-2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个子集是频繁的。</a:t>
            </a:r>
            <a:endParaRPr lang="zh-CN" altLang="zh-CN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A929624-4BA0-4C9B-BFB5-FA595EE612C8}"/>
              </a:ext>
            </a:extLst>
          </p:cNvPr>
          <p:cNvSpPr txBox="1"/>
          <p:nvPr/>
        </p:nvSpPr>
        <p:spPr>
          <a:xfrm>
            <a:off x="4029683" y="5274249"/>
            <a:ext cx="465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例如：</a:t>
            </a:r>
            <a:r>
              <a:rPr lang="en-US" altLang="zh-CN" dirty="0"/>
              <a:t>F2​={{</a:t>
            </a:r>
            <a:r>
              <a:rPr lang="en-US" altLang="zh-CN" dirty="0" err="1"/>
              <a:t>a,b</a:t>
            </a:r>
            <a:r>
              <a:rPr lang="en-US" altLang="zh-CN" dirty="0"/>
              <a:t>},{</a:t>
            </a:r>
            <a:r>
              <a:rPr lang="en-US" altLang="zh-CN" dirty="0" err="1"/>
              <a:t>a,c</a:t>
            </a:r>
            <a:r>
              <a:rPr lang="en-US" altLang="zh-CN" dirty="0"/>
              <a:t>},{</a:t>
            </a:r>
            <a:r>
              <a:rPr lang="en-US" altLang="zh-CN" dirty="0" err="1"/>
              <a:t>a,d</a:t>
            </a:r>
            <a:r>
              <a:rPr lang="en-US" altLang="zh-CN" dirty="0"/>
              <a:t>},{</a:t>
            </a:r>
            <a:r>
              <a:rPr lang="en-US" altLang="zh-CN" dirty="0" err="1"/>
              <a:t>b,c</a:t>
            </a:r>
            <a:r>
              <a:rPr lang="en-US" altLang="zh-CN" dirty="0"/>
              <a:t>},{</a:t>
            </a:r>
            <a:r>
              <a:rPr lang="en-US" altLang="zh-CN" dirty="0" err="1"/>
              <a:t>c,d</a:t>
            </a:r>
            <a:r>
              <a:rPr lang="en-US" altLang="zh-CN" dirty="0"/>
              <a:t>}}</a:t>
            </a:r>
          </a:p>
          <a:p>
            <a:r>
              <a:rPr lang="en-US" altLang="zh-CN" dirty="0"/>
              <a:t>F2</a:t>
            </a:r>
            <a:r>
              <a:rPr lang="en-US" altLang="zh-CN" sz="1800" b="1" dirty="0">
                <a:sym typeface="Wingdings 2"/>
              </a:rPr>
              <a:t> </a:t>
            </a:r>
            <a:r>
              <a:rPr lang="en-US" altLang="zh-CN" dirty="0"/>
              <a:t> F2</a:t>
            </a:r>
            <a:r>
              <a:rPr lang="en-US" altLang="zh-CN" sz="1800" b="1" dirty="0">
                <a:sym typeface="Wingdings 2"/>
              </a:rPr>
              <a:t> </a:t>
            </a:r>
            <a:r>
              <a:rPr lang="zh-CN" altLang="en-US" sz="1800" b="1" dirty="0">
                <a:sym typeface="Wingdings 2"/>
              </a:rPr>
              <a:t>？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7100E7-B380-4D94-B537-92AC2EFA3A72}"/>
              </a:ext>
            </a:extLst>
          </p:cNvPr>
          <p:cNvSpPr txBox="1"/>
          <p:nvPr/>
        </p:nvSpPr>
        <p:spPr>
          <a:xfrm>
            <a:off x="4029683" y="6005326"/>
            <a:ext cx="4654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Ans</a:t>
            </a:r>
            <a:r>
              <a:rPr lang="zh-CN" altLang="en-US" dirty="0">
                <a:solidFill>
                  <a:srgbClr val="C00000"/>
                </a:solidFill>
              </a:rPr>
              <a:t>： </a:t>
            </a:r>
            <a:r>
              <a:rPr lang="en-US" altLang="zh-CN" dirty="0"/>
              <a:t>L2​</a:t>
            </a:r>
            <a:r>
              <a:rPr lang="en-US" altLang="zh-CN" sz="1800" b="1" dirty="0">
                <a:sym typeface="Wingdings 2"/>
              </a:rPr>
              <a:t>  </a:t>
            </a:r>
            <a:r>
              <a:rPr lang="en-US" altLang="zh-CN" dirty="0"/>
              <a:t>L2​={{</a:t>
            </a:r>
            <a:r>
              <a:rPr lang="en-US" altLang="zh-CN" dirty="0" err="1"/>
              <a:t>a,b,c</a:t>
            </a:r>
            <a:r>
              <a:rPr lang="en-US" altLang="zh-CN" dirty="0"/>
              <a:t>},{</a:t>
            </a:r>
            <a:r>
              <a:rPr lang="en-US" altLang="zh-CN" dirty="0" err="1"/>
              <a:t>a,b,d</a:t>
            </a:r>
            <a:r>
              <a:rPr lang="en-US" altLang="zh-CN" dirty="0"/>
              <a:t>},{</a:t>
            </a:r>
            <a:r>
              <a:rPr lang="en-US" altLang="zh-CN" dirty="0" err="1"/>
              <a:t>a,c,d</a:t>
            </a:r>
            <a:r>
              <a:rPr lang="en-US" altLang="zh-CN" dirty="0"/>
              <a:t>}}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248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929" y="1652783"/>
            <a:ext cx="6944517" cy="3134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产生候选项集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</a:p>
        </p:txBody>
      </p:sp>
      <p:sp>
        <p:nvSpPr>
          <p:cNvPr id="2" name="矩形 1"/>
          <p:cNvSpPr/>
          <p:nvPr/>
        </p:nvSpPr>
        <p:spPr>
          <a:xfrm>
            <a:off x="4454543" y="2992132"/>
            <a:ext cx="396000" cy="216024"/>
          </a:xfrm>
          <a:prstGeom prst="rect">
            <a:avLst/>
          </a:prstGeom>
          <a:noFill/>
          <a:ln w="127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562511" y="3251361"/>
            <a:ext cx="1764000" cy="216024"/>
          </a:xfrm>
          <a:prstGeom prst="rect">
            <a:avLst/>
          </a:prstGeom>
          <a:noFill/>
          <a:ln w="127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9" name="线形标注 2 8"/>
          <p:cNvSpPr/>
          <p:nvPr/>
        </p:nvSpPr>
        <p:spPr>
          <a:xfrm>
            <a:off x="134223" y="2767182"/>
            <a:ext cx="1836000" cy="642596"/>
          </a:xfrm>
          <a:prstGeom prst="borderCallout2">
            <a:avLst>
              <a:gd name="adj1" fmla="val 48807"/>
              <a:gd name="adj2" fmla="val 101577"/>
              <a:gd name="adj3" fmla="val 48376"/>
              <a:gd name="adj4" fmla="val 142558"/>
              <a:gd name="adj5" fmla="val 44689"/>
              <a:gd name="adj6" fmla="val 236373"/>
            </a:avLst>
          </a:prstGeom>
          <a:solidFill>
            <a:schemeClr val="bg1"/>
          </a:solidFill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join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()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：合并组合</a:t>
            </a:r>
            <a:r>
              <a:rPr lang="en-US" altLang="zh-CN" sz="16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l</a:t>
            </a:r>
            <a:r>
              <a:rPr lang="en-US" altLang="zh-CN" sz="16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、</a:t>
            </a:r>
            <a:r>
              <a:rPr lang="en-US" altLang="zh-CN" sz="16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l</a:t>
            </a:r>
            <a:r>
              <a:rPr lang="en-US" altLang="zh-CN" sz="16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前</a:t>
            </a:r>
            <a:r>
              <a:rPr lang="en-US" altLang="zh-CN" sz="16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-2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个项</a:t>
            </a:r>
          </a:p>
        </p:txBody>
      </p:sp>
      <p:sp>
        <p:nvSpPr>
          <p:cNvPr id="10" name="线形标注 2 9"/>
          <p:cNvSpPr/>
          <p:nvPr/>
        </p:nvSpPr>
        <p:spPr>
          <a:xfrm>
            <a:off x="134223" y="3573672"/>
            <a:ext cx="1836000" cy="772210"/>
          </a:xfrm>
          <a:prstGeom prst="borderCallout2">
            <a:avLst>
              <a:gd name="adj1" fmla="val 48807"/>
              <a:gd name="adj2" fmla="val 101577"/>
              <a:gd name="adj3" fmla="val 48376"/>
              <a:gd name="adj4" fmla="val 142558"/>
              <a:gd name="adj5" fmla="val -12117"/>
              <a:gd name="adj6" fmla="val 241778"/>
            </a:avLst>
          </a:prstGeom>
          <a:solidFill>
            <a:schemeClr val="bg1"/>
          </a:solidFill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has….</a:t>
            </a:r>
            <a:r>
              <a:rPr lang="en-US" altLang="zh-CN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()</a:t>
            </a:r>
            <a:r>
              <a:rPr lang="zh-CN" altLang="en-US" sz="16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：检验候选项集中是否有非频繁项</a:t>
            </a:r>
          </a:p>
        </p:txBody>
      </p:sp>
    </p:spTree>
    <p:extLst>
      <p:ext uri="{BB962C8B-B14F-4D97-AF65-F5344CB8AC3E}">
        <p14:creationId xmlns:p14="http://schemas.microsoft.com/office/powerpoint/2010/main" val="336915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89D4C-AD93-4B0F-A585-2DEDFBB1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算法示例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使用 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sz="36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k-1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2"/>
              </a:rPr>
              <a:t>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sz="36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k-1</a:t>
            </a:r>
            <a:r>
              <a:rPr lang="zh-CN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方法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D845F-9A26-4096-916E-5AE25E49D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图形 12">
            <a:extLst>
              <a:ext uri="{FF2B5EF4-FFF2-40B4-BE49-F238E27FC236}">
                <a16:creationId xmlns:a16="http://schemas.microsoft.com/office/drawing/2014/main" id="{EE00BE88-33BE-DD61-6FDA-622EB890AA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6648" y="1055743"/>
            <a:ext cx="7099654" cy="5371493"/>
          </a:xfrm>
          <a:prstGeom prst="rect">
            <a:avLst/>
          </a:prstGeom>
        </p:spPr>
      </p:pic>
      <p:pic>
        <p:nvPicPr>
          <p:cNvPr id="6" name="table">
            <a:extLst>
              <a:ext uri="{FF2B5EF4-FFF2-40B4-BE49-F238E27FC236}">
                <a16:creationId xmlns:a16="http://schemas.microsoft.com/office/drawing/2014/main" id="{765B6263-A45D-4789-B482-F55AED679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38929"/>
            <a:ext cx="1956648" cy="310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28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几个问题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2336" lvl="1" indent="0">
              <a:buNone/>
            </a:pPr>
            <a:endParaRPr lang="en-US" altLang="zh-CN" sz="2800" dirty="0"/>
          </a:p>
          <a:p>
            <a:pPr marL="402336" lvl="1" indent="0">
              <a:buNone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产生候选项集</a:t>
            </a:r>
            <a:endParaRPr lang="en-US" altLang="zh-CN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02336" lvl="1" indent="0">
              <a:buNone/>
            </a:pPr>
            <a:endParaRPr lang="en-US" altLang="zh-CN" sz="2800" dirty="0"/>
          </a:p>
          <a:p>
            <a:pPr marL="402336" lvl="1" indent="0">
              <a:buNone/>
            </a:pPr>
            <a:r>
              <a:rPr lang="zh-CN" altLang="en-US" sz="2800" dirty="0"/>
              <a:t>计算支持度</a:t>
            </a:r>
          </a:p>
          <a:p>
            <a:pPr marL="402336" lvl="1" indent="0">
              <a:buNone/>
            </a:pPr>
            <a:endParaRPr lang="en-US" altLang="zh-CN" sz="2800" dirty="0"/>
          </a:p>
        </p:txBody>
      </p:sp>
      <p:sp>
        <p:nvSpPr>
          <p:cNvPr id="4" name="矩形 3"/>
          <p:cNvSpPr/>
          <p:nvPr/>
        </p:nvSpPr>
        <p:spPr>
          <a:xfrm>
            <a:off x="2339752" y="3743683"/>
            <a:ext cx="4248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用事务去逐个统计候选项集</a:t>
            </a:r>
          </a:p>
        </p:txBody>
      </p:sp>
      <p:sp>
        <p:nvSpPr>
          <p:cNvPr id="5" name="矩形 4"/>
          <p:cNvSpPr/>
          <p:nvPr/>
        </p:nvSpPr>
        <p:spPr>
          <a:xfrm>
            <a:off x="2339754" y="4188683"/>
            <a:ext cx="38779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枚举各事务中的项集并计数</a:t>
            </a:r>
          </a:p>
        </p:txBody>
      </p:sp>
      <p:sp>
        <p:nvSpPr>
          <p:cNvPr id="6" name="矩形 5"/>
          <p:cNvSpPr/>
          <p:nvPr/>
        </p:nvSpPr>
        <p:spPr>
          <a:xfrm>
            <a:off x="2339752" y="4633683"/>
            <a:ext cx="27318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利用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Hash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树计数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038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用事务去逐个统计候选项集</a:t>
            </a:r>
          </a:p>
        </p:txBody>
      </p:sp>
      <p:pic>
        <p:nvPicPr>
          <p:cNvPr id="8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887" y="3057009"/>
            <a:ext cx="2409944" cy="1324107"/>
          </a:xfrm>
          <a:prstGeom prst="rect">
            <a:avLst/>
          </a:prstGeom>
        </p:spPr>
      </p:pic>
      <p:sp>
        <p:nvSpPr>
          <p:cNvPr id="9" name="TextBox 2"/>
          <p:cNvSpPr txBox="1"/>
          <p:nvPr/>
        </p:nvSpPr>
        <p:spPr>
          <a:xfrm>
            <a:off x="1184883" y="2803383"/>
            <a:ext cx="628440" cy="2925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eaLnBrk="0" fontAlgn="base" hangingPunct="0"/>
            <a:r>
              <a:rPr lang="zh-CN" altLang="en-US" sz="1400" b="1" dirty="0">
                <a:solidFill>
                  <a:srgbClr val="000000"/>
                </a:solidFill>
                <a:latin typeface="宋体"/>
                <a:ea typeface="华文细黑"/>
                <a:cs typeface="Times New Roman"/>
              </a:rPr>
              <a:t>事务</a:t>
            </a:r>
            <a:endParaRPr lang="zh-CN" altLang="en-US" sz="2400" dirty="0">
              <a:latin typeface="宋体"/>
              <a:cs typeface="宋体"/>
            </a:endParaRPr>
          </a:p>
        </p:txBody>
      </p:sp>
      <p:pic>
        <p:nvPicPr>
          <p:cNvPr id="10" name="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395" y="2123096"/>
            <a:ext cx="2751111" cy="3530952"/>
          </a:xfrm>
          <a:prstGeom prst="rect">
            <a:avLst/>
          </a:prstGeom>
        </p:spPr>
      </p:pic>
      <p:sp>
        <p:nvSpPr>
          <p:cNvPr id="11" name="TextBox 7"/>
          <p:cNvSpPr txBox="1"/>
          <p:nvPr/>
        </p:nvSpPr>
        <p:spPr>
          <a:xfrm>
            <a:off x="4893303" y="1880022"/>
            <a:ext cx="1001126" cy="2430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eaLnBrk="0" fontAlgn="base" hangingPunct="0"/>
            <a:r>
              <a:rPr lang="zh-CN" altLang="en-US" sz="1400" b="1" dirty="0">
                <a:solidFill>
                  <a:srgbClr val="000000"/>
                </a:solidFill>
                <a:latin typeface="宋体"/>
                <a:ea typeface="华文细黑"/>
                <a:cs typeface="Times New Roman"/>
              </a:rPr>
              <a:t>候选项集</a:t>
            </a:r>
            <a:endParaRPr lang="zh-CN" altLang="en-US" sz="2400" dirty="0">
              <a:latin typeface="宋体"/>
              <a:cs typeface="宋体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3623869" y="2244634"/>
            <a:ext cx="1182591" cy="116472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3623869" y="2481310"/>
            <a:ext cx="1182591" cy="92675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3623869" y="2673210"/>
            <a:ext cx="1182591" cy="7529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3623869" y="2922679"/>
            <a:ext cx="1182591" cy="49234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3623869" y="3428014"/>
            <a:ext cx="1182591" cy="18360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6664107" y="1873628"/>
            <a:ext cx="1204807" cy="2493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eaLnBrk="0" fontAlgn="base" hangingPunct="0"/>
            <a:r>
              <a:rPr lang="zh-CN" altLang="en-US" sz="1400" b="1" dirty="0">
                <a:solidFill>
                  <a:srgbClr val="000000"/>
                </a:solidFill>
                <a:latin typeface="宋体"/>
                <a:ea typeface="华文细黑"/>
                <a:cs typeface="Times New Roman"/>
              </a:rPr>
              <a:t>支持度计数</a:t>
            </a:r>
            <a:endParaRPr lang="zh-CN" altLang="en-US" sz="2400" dirty="0">
              <a:latin typeface="宋体"/>
              <a:cs typeface="宋体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3623869" y="2481311"/>
            <a:ext cx="1182591" cy="116472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3623869" y="2717986"/>
            <a:ext cx="1182591" cy="92675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3623869" y="2909886"/>
            <a:ext cx="1182591" cy="7529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3623869" y="3159355"/>
            <a:ext cx="1182591" cy="49234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3623869" y="2244634"/>
            <a:ext cx="1182591" cy="141909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3623869" y="3671085"/>
            <a:ext cx="1182591" cy="16200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左大括号 25"/>
          <p:cNvSpPr/>
          <p:nvPr/>
        </p:nvSpPr>
        <p:spPr>
          <a:xfrm>
            <a:off x="909053" y="3300082"/>
            <a:ext cx="164325" cy="1071565"/>
          </a:xfrm>
          <a:prstGeom prst="leftBrace">
            <a:avLst>
              <a:gd name="adj1" fmla="val 56944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/>
          </a:p>
        </p:txBody>
      </p:sp>
      <p:sp>
        <p:nvSpPr>
          <p:cNvPr id="27" name="TextBox 26"/>
          <p:cNvSpPr txBox="1"/>
          <p:nvPr/>
        </p:nvSpPr>
        <p:spPr>
          <a:xfrm>
            <a:off x="611561" y="3624230"/>
            <a:ext cx="507949" cy="373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fontAlgn="base" hangingPunct="0"/>
            <a:r>
              <a:rPr lang="en-US" sz="1400" b="1">
                <a:solidFill>
                  <a:srgbClr val="000000"/>
                </a:solidFill>
                <a:latin typeface="Arial"/>
                <a:ea typeface="宋体"/>
                <a:cs typeface="Times New Roman"/>
              </a:rPr>
              <a:t>N</a:t>
            </a:r>
            <a:endParaRPr lang="zh-CN" altLang="en-US" sz="2400">
              <a:latin typeface="宋体"/>
              <a:cs typeface="宋体"/>
            </a:endParaRPr>
          </a:p>
        </p:txBody>
      </p:sp>
      <p:sp>
        <p:nvSpPr>
          <p:cNvPr id="28" name="左大括号 27"/>
          <p:cNvSpPr/>
          <p:nvPr/>
        </p:nvSpPr>
        <p:spPr>
          <a:xfrm rot="16200000" flipV="1">
            <a:off x="2653679" y="3781550"/>
            <a:ext cx="144806" cy="1478923"/>
          </a:xfrm>
          <a:prstGeom prst="leftBrace">
            <a:avLst>
              <a:gd name="adj1" fmla="val 56944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/>
          </a:p>
        </p:txBody>
      </p:sp>
      <p:sp>
        <p:nvSpPr>
          <p:cNvPr id="29" name="TextBox 28"/>
          <p:cNvSpPr txBox="1"/>
          <p:nvPr/>
        </p:nvSpPr>
        <p:spPr>
          <a:xfrm>
            <a:off x="2493714" y="4571716"/>
            <a:ext cx="535635" cy="4151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fontAlgn="base" hangingPunct="0"/>
            <a:r>
              <a:rPr lang="en-US" sz="1600" b="1">
                <a:solidFill>
                  <a:srgbClr val="000000"/>
                </a:solidFill>
                <a:latin typeface="Arial"/>
                <a:ea typeface="宋体"/>
                <a:cs typeface="Times New Roman"/>
              </a:rPr>
              <a:t>W</a:t>
            </a:r>
            <a:endParaRPr lang="zh-CN" altLang="en-US" sz="2400">
              <a:latin typeface="宋体"/>
              <a:cs typeface="宋体"/>
            </a:endParaRPr>
          </a:p>
        </p:txBody>
      </p:sp>
      <p:sp>
        <p:nvSpPr>
          <p:cNvPr id="30" name="左大括号 29"/>
          <p:cNvSpPr/>
          <p:nvPr/>
        </p:nvSpPr>
        <p:spPr>
          <a:xfrm flipH="1">
            <a:off x="7703352" y="2123097"/>
            <a:ext cx="164325" cy="3504308"/>
          </a:xfrm>
          <a:prstGeom prst="leftBrace">
            <a:avLst>
              <a:gd name="adj1" fmla="val 56944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/>
          </a:p>
        </p:txBody>
      </p:sp>
      <p:sp>
        <p:nvSpPr>
          <p:cNvPr id="31" name="TextBox 30"/>
          <p:cNvSpPr txBox="1"/>
          <p:nvPr/>
        </p:nvSpPr>
        <p:spPr>
          <a:xfrm>
            <a:off x="7869807" y="3747245"/>
            <a:ext cx="302595" cy="2513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56515" eaLnBrk="0" fontAlgn="base" hangingPunct="0"/>
            <a:r>
              <a:rPr lang="en-US" sz="1400" b="1">
                <a:solidFill>
                  <a:srgbClr val="000000"/>
                </a:solidFill>
                <a:latin typeface="Arial"/>
                <a:ea typeface="宋体"/>
                <a:cs typeface="Times New Roman"/>
              </a:rPr>
              <a:t>M</a:t>
            </a:r>
            <a:endParaRPr lang="zh-CN" altLang="en-US" sz="2400">
              <a:latin typeface="宋体"/>
              <a:cs typeface="宋体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3623869" y="2802550"/>
            <a:ext cx="1182591" cy="116472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V="1">
            <a:off x="3623869" y="3039226"/>
            <a:ext cx="1182591" cy="92675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3623869" y="3231126"/>
            <a:ext cx="1182591" cy="7529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3623869" y="3480595"/>
            <a:ext cx="1182591" cy="49234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3623869" y="3985930"/>
            <a:ext cx="1182591" cy="15840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3623869" y="3039227"/>
            <a:ext cx="1182591" cy="116472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3623869" y="3275902"/>
            <a:ext cx="1182591" cy="92675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V="1">
            <a:off x="3623869" y="3467802"/>
            <a:ext cx="1182591" cy="7529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V="1">
            <a:off x="3623869" y="3717271"/>
            <a:ext cx="1182591" cy="49234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3623869" y="2802550"/>
            <a:ext cx="1182591" cy="141909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3623869" y="4229001"/>
            <a:ext cx="1182591" cy="13320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3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0"/>
                                            </p:cond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3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8"/>
                                            </p:cond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4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2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75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0"/>
                                            </p:cond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9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4"/>
                                            </p:cond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5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8"/>
                                            </p:cond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2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2"/>
                                            </p:cond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35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6"/>
                                            </p:cond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0"/>
                                            </p:cond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65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4"/>
                                            </p:cond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8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8"/>
                                            </p:cond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95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2"/>
                                            </p:cond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1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6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25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0"/>
                                            </p:cond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4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4"/>
                                            </p:cond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55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8"/>
                                            </p:cond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7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2"/>
                                            </p:cond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85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6"/>
                                            </p:cond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0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0"/>
                                            </p:cond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15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4"/>
                                            </p:cond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3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445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6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75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90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50"/>
                            </p:stCondLst>
                            <p:childTnLst>
                              <p:par>
                                <p:cTn id="1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2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35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500"/>
                            </p:stCondLst>
                            <p:childTnLst>
                              <p:par>
                                <p:cTn id="1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65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950"/>
                            </p:stCondLst>
                            <p:childTnLst>
                              <p:par>
                                <p:cTn id="1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2"/>
                                            </p:cond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61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6"/>
                                            </p:cond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6250"/>
                            </p:stCondLst>
                            <p:childTnLst>
                              <p:par>
                                <p:cTn id="1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1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80"/>
                                            </p:cond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6400"/>
                            </p:stCondLst>
                            <p:childTnLst>
                              <p:par>
                                <p:cTn id="1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84"/>
                                            </p:cond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6550"/>
                            </p:stCondLst>
                            <p:childTnLst>
                              <p:par>
                                <p:cTn id="1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1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88"/>
                                            </p:cond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6700"/>
                            </p:stCondLst>
                            <p:childTnLst>
                              <p:par>
                                <p:cTn id="1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1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2"/>
                                            </p:cond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6850"/>
                            </p:stCondLst>
                            <p:childTnLst>
                              <p:par>
                                <p:cTn id="1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1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6"/>
                                            </p:cond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1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0"/>
                                            </p:cond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7150"/>
                            </p:stCondLst>
                            <p:childTnLst>
                              <p:par>
                                <p:cTn id="2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1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4"/>
                                            </p:cond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7300"/>
                            </p:stCondLst>
                            <p:childTnLst>
                              <p:par>
                                <p:cTn id="2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8"/>
                                            </p:cond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7450"/>
                            </p:stCondLst>
                            <p:childTnLst>
                              <p:par>
                                <p:cTn id="2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1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2"/>
                                            </p:cond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7600"/>
                            </p:stCondLst>
                            <p:childTnLst>
                              <p:par>
                                <p:cTn id="2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6"/>
                                            </p:cond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7750"/>
                            </p:stCondLst>
                            <p:childTnLst>
                              <p:par>
                                <p:cTn id="2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20"/>
                                            </p:cond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7900"/>
                            </p:stCondLst>
                            <p:childTnLst>
                              <p:par>
                                <p:cTn id="2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1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24"/>
                                            </p:cond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8050"/>
                            </p:stCondLst>
                            <p:childTnLst>
                              <p:par>
                                <p:cTn id="2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28"/>
                                            </p:cond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8200"/>
                            </p:stCondLst>
                            <p:childTnLst>
                              <p:par>
                                <p:cTn id="2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1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2"/>
                                            </p:cond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8350"/>
                            </p:stCondLst>
                            <p:childTnLst>
                              <p:par>
                                <p:cTn id="2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1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6"/>
                                            </p:cond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8500"/>
                            </p:stCondLst>
                            <p:childTnLst>
                              <p:par>
                                <p:cTn id="2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1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40"/>
                                            </p:cond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8650"/>
                            </p:stCondLst>
                            <p:childTnLst>
                              <p:par>
                                <p:cTn id="2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1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44"/>
                                            </p:cond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800"/>
                            </p:stCondLst>
                            <p:childTnLst>
                              <p:par>
                                <p:cTn id="2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1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48"/>
                                            </p:cond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8950"/>
                            </p:stCondLst>
                            <p:childTnLst>
                              <p:par>
                                <p:cTn id="2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52"/>
                                            </p:cond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9100"/>
                            </p:stCondLst>
                            <p:childTnLst>
                              <p:par>
                                <p:cTn id="2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1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56"/>
                                            </p:cond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9250"/>
                            </p:stCondLst>
                            <p:childTnLst>
                              <p:par>
                                <p:cTn id="2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9400"/>
                            </p:stCondLst>
                            <p:childTnLst>
                              <p:par>
                                <p:cTn id="2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9550"/>
                            </p:stCondLst>
                            <p:childTnLst>
                              <p:par>
                                <p:cTn id="2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1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9700"/>
                            </p:stCondLst>
                            <p:childTnLst>
                              <p:par>
                                <p:cTn id="2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9850"/>
                            </p:stCondLst>
                            <p:childTnLst>
                              <p:par>
                                <p:cTn id="2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1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0000"/>
                            </p:stCondLst>
                            <p:childTnLst>
                              <p:par>
                                <p:cTn id="2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1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10150"/>
                            </p:stCondLst>
                            <p:childTnLst>
                              <p:par>
                                <p:cTn id="2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1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10300"/>
                            </p:stCondLst>
                            <p:childTnLst>
                              <p:par>
                                <p:cTn id="2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1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10450"/>
                            </p:stCondLst>
                            <p:childTnLst>
                              <p:par>
                                <p:cTn id="2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1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10600"/>
                            </p:stCondLst>
                            <p:childTnLst>
                              <p:par>
                                <p:cTn id="2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0750"/>
                            </p:stCondLst>
                            <p:childTnLst>
                              <p:par>
                                <p:cTn id="3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1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8" grpId="0"/>
      <p:bldP spid="26" grpId="0" animBg="1"/>
      <p:bldP spid="27" grpId="0"/>
      <p:bldP spid="28" grpId="0" animBg="1"/>
      <p:bldP spid="29" grpId="0"/>
      <p:bldP spid="30" grpId="0" animBg="1"/>
      <p:bldP spid="3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枚举各事务中的项集并计数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dirty="0"/>
                  <a:t>逐条遍历事务数据集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𝑡</m:t>
                        </m:r>
                      </m:e>
                      <m:e>
                        <m:r>
                          <a:rPr lang="en-US" altLang="zh-CN" i="1">
                            <a:latin typeface="Cambria Math"/>
                          </a:rPr>
                          <m:t>𝑡</m:t>
                        </m:r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𝑇</m:t>
                        </m:r>
                      </m:e>
                    </m:d>
                  </m:oMath>
                </a14:m>
                <a:endParaRPr lang="en-US" altLang="zh-CN" i="1" dirty="0"/>
              </a:p>
              <a:p>
                <a:pPr lvl="1"/>
                <a:r>
                  <a:rPr lang="zh-CN" altLang="en-US" dirty="0"/>
                  <a:t>将事务数据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𝑡</m:t>
                    </m:r>
                  </m:oMath>
                </a14:m>
                <a:r>
                  <a:rPr lang="zh-CN" altLang="en-US" dirty="0"/>
                  <a:t>中的数据项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𝑖</m:t>
                        </m:r>
                      </m:e>
                      <m:e>
                        <m:r>
                          <a:rPr lang="en-US" altLang="zh-CN" i="1">
                            <a:latin typeface="Cambria Math"/>
                          </a:rPr>
                          <m:t>𝑖</m:t>
                        </m:r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𝐼</m:t>
                        </m:r>
                      </m:e>
                    </m:d>
                  </m:oMath>
                </a14:m>
                <a:r>
                  <a:rPr lang="zh-CN" altLang="en-US" dirty="0"/>
                  <a:t>进行组合</a:t>
                </a:r>
                <a:endParaRPr lang="en-US" altLang="zh-CN" dirty="0"/>
              </a:p>
              <a:p>
                <a:pPr lvl="2"/>
                <a:r>
                  <a:rPr lang="zh-CN" altLang="en-US" dirty="0">
                    <a:sym typeface="Wingdings 3"/>
                  </a:rPr>
                  <a:t></a:t>
                </a:r>
                <a:r>
                  <a:rPr lang="en-US" altLang="zh-CN" dirty="0">
                    <a:sym typeface="Wingdings 3"/>
                  </a:rPr>
                  <a:t>2-</a:t>
                </a:r>
                <a:r>
                  <a:rPr lang="zh-CN" altLang="en-US" dirty="0">
                    <a:sym typeface="Wingdings 3"/>
                  </a:rPr>
                  <a:t>项集</a:t>
                </a:r>
                <a:endParaRPr lang="en-US" altLang="zh-CN" dirty="0">
                  <a:sym typeface="Wingdings 3"/>
                </a:endParaRPr>
              </a:p>
              <a:p>
                <a:pPr lvl="2"/>
                <a:r>
                  <a:rPr lang="zh-CN" altLang="en-US" dirty="0">
                    <a:sym typeface="Wingdings 3"/>
                  </a:rPr>
                  <a:t></a:t>
                </a:r>
                <a:r>
                  <a:rPr lang="en-US" altLang="zh-CN" dirty="0">
                    <a:sym typeface="Wingdings 3"/>
                  </a:rPr>
                  <a:t>3-</a:t>
                </a:r>
                <a:r>
                  <a:rPr lang="zh-CN" altLang="en-US" dirty="0">
                    <a:sym typeface="Wingdings 3"/>
                  </a:rPr>
                  <a:t>项集</a:t>
                </a:r>
                <a:endParaRPr lang="en-US" altLang="zh-CN" dirty="0">
                  <a:sym typeface="Wingdings 3"/>
                </a:endParaRPr>
              </a:p>
              <a:p>
                <a:pPr lvl="2"/>
                <a:r>
                  <a:rPr lang="en-US" altLang="zh-CN" dirty="0">
                    <a:sym typeface="Wingdings 3"/>
                  </a:rPr>
                  <a:t>……</a:t>
                </a:r>
              </a:p>
              <a:p>
                <a:pPr lvl="2"/>
                <a:r>
                  <a:rPr lang="zh-CN" altLang="en-US" dirty="0">
                    <a:sym typeface="Wingdings 3"/>
                  </a:rPr>
                  <a:t></a:t>
                </a:r>
                <a:r>
                  <a:rPr lang="en-US" altLang="zh-CN" i="1" dirty="0">
                    <a:sym typeface="Wingdings 3"/>
                  </a:rPr>
                  <a:t>n</a:t>
                </a:r>
                <a:r>
                  <a:rPr lang="en-US" altLang="zh-CN" dirty="0">
                    <a:sym typeface="Wingdings 3"/>
                  </a:rPr>
                  <a:t>-</a:t>
                </a:r>
                <a:r>
                  <a:rPr lang="zh-CN" altLang="en-US" dirty="0">
                    <a:sym typeface="Wingdings 3"/>
                  </a:rPr>
                  <a:t>项集</a:t>
                </a:r>
                <a:endParaRPr lang="en-US" altLang="zh-CN" dirty="0">
                  <a:sym typeface="Wingdings 3"/>
                </a:endParaRPr>
              </a:p>
              <a:p>
                <a:r>
                  <a:rPr lang="zh-CN" altLang="en-US" dirty="0"/>
                  <a:t>例如：事务</a:t>
                </a:r>
                <a:r>
                  <a:rPr lang="en-US" altLang="zh-CN" i="1" dirty="0">
                    <a:cs typeface="Times New Roman" pitchFamily="18" charset="0"/>
                  </a:rPr>
                  <a:t>t</a:t>
                </a:r>
                <a:r>
                  <a:rPr lang="zh-CN" altLang="en-US" dirty="0"/>
                  <a:t>，包含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个项</a:t>
                </a:r>
                <a:r>
                  <a:rPr lang="en-US" altLang="zh-CN" dirty="0"/>
                  <a:t>{1,2,3,5,6}</a:t>
                </a:r>
                <a:r>
                  <a:rPr lang="zh-CN" altLang="en-US" dirty="0"/>
                  <a:t>，考虑</a:t>
                </a:r>
                <a:r>
                  <a:rPr lang="en-US" altLang="zh-CN" dirty="0"/>
                  <a:t>3-</a:t>
                </a:r>
                <a:r>
                  <a:rPr lang="zh-CN" altLang="en-US" dirty="0"/>
                  <a:t>项集，则有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5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3</m:t>
                        </m:r>
                      </m:sup>
                    </m:sSubSup>
                    <m:r>
                      <a:rPr lang="en-US" altLang="zh-CN" i="1">
                        <a:latin typeface="Cambria Math"/>
                      </a:rPr>
                      <m:t>=10</m:t>
                    </m:r>
                  </m:oMath>
                </a14:m>
                <a:r>
                  <a:rPr lang="zh-CN" altLang="en-US" dirty="0"/>
                  <a:t> 个</a:t>
                </a:r>
                <a:r>
                  <a:rPr lang="en-US" altLang="zh-CN" dirty="0"/>
                  <a:t>3-</a:t>
                </a:r>
                <a:r>
                  <a:rPr lang="zh-CN" altLang="en-US" dirty="0"/>
                  <a:t>项集</a:t>
                </a:r>
                <a:r>
                  <a:rPr lang="en-US" altLang="zh-CN" dirty="0"/>
                  <a:t>{1 2 3}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{1 2 5}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{1 2 6}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{1 3 5}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{1 3 6}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{1 5 6}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{2 3 5}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{2 3 6}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{2 5 6}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{3 5 6}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r="-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149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枚举各事务中的项集并计数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15492" name="Picture 13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24"/>
          <a:stretch/>
        </p:blipFill>
        <p:spPr bwMode="auto">
          <a:xfrm>
            <a:off x="35496" y="1772817"/>
            <a:ext cx="9036000" cy="3602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755577" y="4941168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…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7822" y="4941168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…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-76195" y="5426060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588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15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</a:t>
            </a:r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2767" y="1700812"/>
            <a:ext cx="1996966" cy="626467"/>
          </a:xfrm>
        </p:spPr>
        <p:txBody>
          <a:bodyPr>
            <a:normAutofit/>
          </a:bodyPr>
          <a:lstStyle/>
          <a:p>
            <a:r>
              <a:rPr lang="en-US" altLang="zh-CN" dirty="0"/>
              <a:t>Hash</a:t>
            </a:r>
            <a:r>
              <a:rPr lang="zh-CN" altLang="en-US" dirty="0"/>
              <a:t>树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3892774" y="1947604"/>
            <a:ext cx="4783682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7807%2=1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插入</a:t>
            </a:r>
            <a:endParaRPr lang="en-US" altLang="zh-CN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249%2=1</a:t>
            </a:r>
            <a:r>
              <a:rPr lang="zh-CN" altLang="en-US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冲突，</a:t>
            </a: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249%3=0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插入</a:t>
            </a:r>
            <a:endParaRPr lang="en-US" altLang="zh-CN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1073%2=1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冲突</a:t>
            </a:r>
            <a:r>
              <a:rPr lang="zh-CN" altLang="en-US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，</a:t>
            </a: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1073%3=2</a:t>
            </a:r>
            <a:r>
              <a:rPr lang="zh-CN" altLang="en-US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插入</a:t>
            </a:r>
            <a:endParaRPr lang="en-US" altLang="zh-CN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658%2=0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插入</a:t>
            </a:r>
            <a:endParaRPr lang="en-US" altLang="zh-CN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930%2=0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冲突，</a:t>
            </a:r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930%3=0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插入</a:t>
            </a:r>
            <a:endParaRPr lang="en-US" altLang="zh-CN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2272%2=0</a:t>
            </a:r>
            <a:r>
              <a:rPr lang="zh-CN" altLang="en-US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冲突，</a:t>
            </a: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2272%3=1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插入</a:t>
            </a:r>
            <a:endParaRPr lang="en-US" altLang="zh-CN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8544%2=0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冲突，</a:t>
            </a:r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8544%3=0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冲突，</a:t>
            </a:r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8544%5=4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插入</a:t>
            </a:r>
            <a:endParaRPr lang="en-US" altLang="zh-CN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1878%2=0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冲突，</a:t>
            </a:r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1878%3=0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冲突，</a:t>
            </a:r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1878%5=3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插入</a:t>
            </a:r>
            <a:endParaRPr lang="en-US" altLang="zh-CN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8923%2=1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冲突</a:t>
            </a:r>
            <a:r>
              <a:rPr lang="zh-CN" altLang="en-US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，</a:t>
            </a: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8923%3=1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插入</a:t>
            </a:r>
            <a:endParaRPr lang="en-US" altLang="zh-CN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8709%2=1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冲突，</a:t>
            </a:r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8709%3=0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冲突，</a:t>
            </a:r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8709%5=4</a:t>
            </a:r>
            <a:r>
              <a:rPr lang="zh-CN" alt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插入</a:t>
            </a:r>
          </a:p>
        </p:txBody>
      </p:sp>
      <p:grpSp>
        <p:nvGrpSpPr>
          <p:cNvPr id="16405" name="组合 16404"/>
          <p:cNvGrpSpPr/>
          <p:nvPr/>
        </p:nvGrpSpPr>
        <p:grpSpPr>
          <a:xfrm>
            <a:off x="397928" y="2392086"/>
            <a:ext cx="3309977" cy="2370157"/>
            <a:chOff x="119991" y="1633364"/>
            <a:chExt cx="3309977" cy="2633508"/>
          </a:xfrm>
        </p:grpSpPr>
        <p:sp>
          <p:nvSpPr>
            <p:cNvPr id="6" name="椭圆 5"/>
            <p:cNvSpPr/>
            <p:nvPr/>
          </p:nvSpPr>
          <p:spPr>
            <a:xfrm>
              <a:off x="1691680" y="1633364"/>
              <a:ext cx="432048" cy="4320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4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root</a:t>
              </a:r>
              <a:endParaRPr lang="zh-CN" altLang="en-US" sz="1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187624" y="2302623"/>
              <a:ext cx="432048" cy="4320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2195736" y="2302623"/>
              <a:ext cx="432048" cy="4320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52039" y="3135971"/>
              <a:ext cx="432048" cy="4320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19991" y="3834824"/>
              <a:ext cx="432048" cy="4320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827584" y="3834824"/>
              <a:ext cx="432048" cy="4320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2386449" y="3135971"/>
              <a:ext cx="432048" cy="4320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2045668" y="3834824"/>
              <a:ext cx="432048" cy="4320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2997920" y="3135971"/>
              <a:ext cx="432048" cy="4320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382301" y="2065412"/>
              <a:ext cx="255198" cy="2735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0</a:t>
              </a:r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2109555" y="2065412"/>
              <a:ext cx="255198" cy="2735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1</a:t>
              </a:r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cxnSp>
          <p:nvCxnSpPr>
            <p:cNvPr id="18" name="直接连接符 17"/>
            <p:cNvCxnSpPr>
              <a:stCxn id="6" idx="3"/>
              <a:endCxn id="8" idx="7"/>
            </p:cNvCxnSpPr>
            <p:nvPr/>
          </p:nvCxnSpPr>
          <p:spPr>
            <a:xfrm flipH="1">
              <a:off x="1556400" y="2002140"/>
              <a:ext cx="198552" cy="3637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6" idx="5"/>
              <a:endCxn id="9" idx="1"/>
            </p:cNvCxnSpPr>
            <p:nvPr/>
          </p:nvCxnSpPr>
          <p:spPr>
            <a:xfrm>
              <a:off x="2060456" y="2002140"/>
              <a:ext cx="198552" cy="3637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>
              <a:stCxn id="8" idx="3"/>
              <a:endCxn id="10" idx="0"/>
            </p:cNvCxnSpPr>
            <p:nvPr/>
          </p:nvCxnSpPr>
          <p:spPr>
            <a:xfrm flipH="1">
              <a:off x="768063" y="2671399"/>
              <a:ext cx="482833" cy="4645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>
              <a:stCxn id="8" idx="4"/>
              <a:endCxn id="35" idx="0"/>
            </p:cNvCxnSpPr>
            <p:nvPr/>
          </p:nvCxnSpPr>
          <p:spPr>
            <a:xfrm flipH="1">
              <a:off x="1379533" y="2734671"/>
              <a:ext cx="24115" cy="4013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>
              <a:stCxn id="9" idx="4"/>
              <a:endCxn id="13" idx="0"/>
            </p:cNvCxnSpPr>
            <p:nvPr/>
          </p:nvCxnSpPr>
          <p:spPr>
            <a:xfrm>
              <a:off x="2411760" y="2734671"/>
              <a:ext cx="190713" cy="4013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>
              <a:stCxn id="9" idx="5"/>
              <a:endCxn id="15" idx="1"/>
            </p:cNvCxnSpPr>
            <p:nvPr/>
          </p:nvCxnSpPr>
          <p:spPr>
            <a:xfrm>
              <a:off x="2564512" y="2671399"/>
              <a:ext cx="496680" cy="52784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>
              <a:stCxn id="9" idx="3"/>
              <a:endCxn id="34" idx="0"/>
            </p:cNvCxnSpPr>
            <p:nvPr/>
          </p:nvCxnSpPr>
          <p:spPr>
            <a:xfrm flipH="1">
              <a:off x="1991003" y="2671399"/>
              <a:ext cx="268005" cy="4645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>
              <a:stCxn id="10" idx="3"/>
              <a:endCxn id="11" idx="0"/>
            </p:cNvCxnSpPr>
            <p:nvPr/>
          </p:nvCxnSpPr>
          <p:spPr>
            <a:xfrm flipH="1">
              <a:off x="336015" y="3504747"/>
              <a:ext cx="279296" cy="3300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stCxn id="10" idx="4"/>
              <a:endCxn id="12" idx="1"/>
            </p:cNvCxnSpPr>
            <p:nvPr/>
          </p:nvCxnSpPr>
          <p:spPr>
            <a:xfrm>
              <a:off x="768063" y="3568019"/>
              <a:ext cx="122793" cy="3300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1774979" y="3135971"/>
              <a:ext cx="432048" cy="4320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1163509" y="3135971"/>
              <a:ext cx="432048" cy="4320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cxnSp>
          <p:nvCxnSpPr>
            <p:cNvPr id="51" name="直接连接符 50"/>
            <p:cNvCxnSpPr>
              <a:stCxn id="34" idx="5"/>
              <a:endCxn id="14" idx="0"/>
            </p:cNvCxnSpPr>
            <p:nvPr/>
          </p:nvCxnSpPr>
          <p:spPr>
            <a:xfrm>
              <a:off x="2143755" y="3504747"/>
              <a:ext cx="117937" cy="3300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矩形 56"/>
            <p:cNvSpPr/>
            <p:nvPr/>
          </p:nvSpPr>
          <p:spPr>
            <a:xfrm>
              <a:off x="781236" y="2785492"/>
              <a:ext cx="255198" cy="2735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0</a:t>
              </a:r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1331640" y="2785492"/>
              <a:ext cx="255198" cy="2735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1</a:t>
              </a:r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1933364" y="2785492"/>
              <a:ext cx="255198" cy="2735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0</a:t>
              </a:r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2804634" y="2785492"/>
              <a:ext cx="255198" cy="2735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2</a:t>
              </a:r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179512" y="3619391"/>
              <a:ext cx="255198" cy="2735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3</a:t>
              </a:r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860418" y="3619391"/>
              <a:ext cx="255198" cy="2735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4</a:t>
              </a:r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2221396" y="3619391"/>
              <a:ext cx="255198" cy="2735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4</a:t>
              </a:r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2300578" y="2785492"/>
              <a:ext cx="255198" cy="2735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1</a:t>
              </a:r>
              <a:endParaRPr lang="zh-CN" altLang="en-US" sz="1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65" name="椭圆 64"/>
          <p:cNvSpPr/>
          <p:nvPr/>
        </p:nvSpPr>
        <p:spPr>
          <a:xfrm>
            <a:off x="1465559" y="2994419"/>
            <a:ext cx="432048" cy="38884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658</a:t>
            </a:r>
            <a:endParaRPr lang="zh-CN" altLang="en-US" sz="1000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2473671" y="2994419"/>
            <a:ext cx="432048" cy="38884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7807</a:t>
            </a:r>
            <a:endParaRPr lang="zh-CN" altLang="en-US" sz="1000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829974" y="3744432"/>
            <a:ext cx="432048" cy="38884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930</a:t>
            </a:r>
            <a:endParaRPr lang="zh-CN" altLang="en-US" sz="1000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397926" y="4373400"/>
            <a:ext cx="432048" cy="38884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1878</a:t>
            </a:r>
            <a:endParaRPr lang="zh-CN" altLang="en-US" sz="1000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1105519" y="4373400"/>
            <a:ext cx="432048" cy="38884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8544</a:t>
            </a:r>
            <a:endParaRPr lang="zh-CN" altLang="en-US" sz="1000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2664384" y="3744432"/>
            <a:ext cx="432048" cy="38884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8923</a:t>
            </a:r>
            <a:endParaRPr lang="zh-CN" altLang="en-US" sz="1000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2323603" y="4373400"/>
            <a:ext cx="432048" cy="38884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8709</a:t>
            </a:r>
            <a:endParaRPr lang="zh-CN" altLang="en-US" sz="1000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3275855" y="3744432"/>
            <a:ext cx="432048" cy="38884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1073</a:t>
            </a:r>
            <a:endParaRPr lang="zh-CN" altLang="en-US" sz="1000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2052914" y="3744432"/>
            <a:ext cx="432048" cy="38884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249</a:t>
            </a:r>
            <a:endParaRPr lang="zh-CN" altLang="en-US" sz="1000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1441444" y="3744432"/>
            <a:ext cx="432048" cy="38884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2272</a:t>
            </a:r>
            <a:endParaRPr lang="zh-CN" altLang="en-US" sz="1000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979712" y="1753652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散列树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51774" y="2627620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</a:rPr>
              <a:t>n%2</a:t>
            </a:r>
            <a:endParaRPr lang="zh-CN" altLang="en-US" sz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3529" y="3275692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</a:rPr>
              <a:t>n%3</a:t>
            </a:r>
            <a:endParaRPr lang="zh-CN" altLang="en-US" sz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5497" y="3933056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</a:rPr>
              <a:t>n%5</a:t>
            </a:r>
            <a:endParaRPr lang="zh-CN" altLang="en-US" sz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053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5" grpId="0"/>
      <p:bldP spid="5" grpId="1"/>
      <p:bldP spid="20" grpId="0"/>
      <p:bldP spid="52" grpId="0"/>
      <p:bldP spid="5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</a:t>
            </a:r>
            <a:r>
              <a:rPr lang="zh-CN" altLang="en-US" dirty="0"/>
              <a:t>树原理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395536" y="1772817"/>
            <a:ext cx="7920880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【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质数分辨定理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】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选取任意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n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个互不相同的质数：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</a:t>
            </a:r>
            <a:r>
              <a:rPr lang="en-US" altLang="zh-CN" sz="20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 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&lt; 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</a:t>
            </a:r>
            <a:r>
              <a:rPr lang="en-US" altLang="zh-CN" sz="20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 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&lt; …… &lt; 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</a:t>
            </a:r>
            <a:r>
              <a:rPr lang="en-US" altLang="zh-CN" sz="20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n-1 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&lt; </a:t>
            </a:r>
            <a:r>
              <a:rPr lang="en-US" altLang="zh-CN" sz="2000" i="1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</a:t>
            </a:r>
            <a:r>
              <a:rPr lang="en-US" altLang="zh-CN" sz="2000" baseline="-25000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n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(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n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∈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N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)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，定义</a:t>
            </a:r>
            <a:endParaRPr lang="en-US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endParaRPr lang="en-US" altLang="zh-CN" sz="1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设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≤ 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20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 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&lt; 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20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 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&lt; </a:t>
            </a:r>
            <a:r>
              <a:rPr lang="en-US" altLang="zh-CN" sz="2000" i="1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</a:t>
            </a:r>
            <a:r>
              <a:rPr lang="en-US" altLang="zh-CN" sz="2000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+</a:t>
            </a:r>
            <a:r>
              <a:rPr lang="en-US" altLang="zh-CN" sz="2000" i="1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（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20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 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20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 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∈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N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），那么对于任意的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i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∈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[1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n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]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20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  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mod 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</a:t>
            </a:r>
            <a:r>
              <a:rPr lang="en-US" altLang="zh-CN" sz="20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i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) = (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20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  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mod  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</a:t>
            </a:r>
            <a:r>
              <a:rPr lang="en-US" altLang="zh-CN" sz="20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i 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)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不可能总成立。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555777" y="2267720"/>
          <a:ext cx="140017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公式" r:id="rId4" imgW="672840" imgH="431640" progId="Equation.3">
                  <p:embed/>
                </p:oleObj>
              </mc:Choice>
              <mc:Fallback>
                <p:oleObj name="公式" r:id="rId4" imgW="672840" imgH="43164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7" y="2267720"/>
                        <a:ext cx="1400175" cy="657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467544" y="3781100"/>
            <a:ext cx="7992888" cy="72802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简单地说就是：</a:t>
            </a:r>
            <a:r>
              <a:rPr lang="en-US" altLang="zh-CN" i="1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n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个不同的质数可以“分辨”的连续整数的个数和他们的乘积相等。“分辨”就是指这些连续的整数不可能有完全相同的余数序列。</a:t>
            </a:r>
          </a:p>
        </p:txBody>
      </p:sp>
      <p:sp>
        <p:nvSpPr>
          <p:cNvPr id="7" name="矩形 6"/>
          <p:cNvSpPr/>
          <p:nvPr/>
        </p:nvSpPr>
        <p:spPr>
          <a:xfrm>
            <a:off x="467544" y="4581129"/>
            <a:ext cx="7992000" cy="1089529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例如：从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</a:t>
            </a: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起的连续质数，连续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10</a:t>
            </a: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个质数就可以分辨大约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M(10) = 2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  <a:sym typeface="Symbol"/>
              </a:rPr>
              <a:t>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  <a:sym typeface="Symbol"/>
              </a:rPr>
              <a:t>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5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  <a:sym typeface="Symbol"/>
              </a:rPr>
              <a:t>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7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  <a:sym typeface="Symbol"/>
              </a:rPr>
              <a:t>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1 1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  <a:sym typeface="Symbol"/>
              </a:rPr>
              <a:t>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1 3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  <a:sym typeface="Symbol"/>
              </a:rPr>
              <a:t>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1 7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  <a:sym typeface="Symbol"/>
              </a:rPr>
              <a:t>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1 9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  <a:sym typeface="Symbol"/>
              </a:rPr>
              <a:t>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2 3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  <a:sym typeface="Symbol"/>
              </a:rPr>
              <a:t>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29 = 6464693230</a:t>
            </a: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个数，已经超过计算机中常用整数（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32bit</a:t>
            </a: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）的表达范围。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5094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963091" y="5586413"/>
            <a:ext cx="457200" cy="3571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2774510" y="503466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华文细黑" pitchFamily="2" charset="-122"/>
                <a:ea typeface="华文细黑" pitchFamily="2" charset="-122"/>
              </a:rPr>
              <a:t>候选项集</a:t>
            </a:r>
          </a:p>
        </p:txBody>
      </p:sp>
      <p:grpSp>
        <p:nvGrpSpPr>
          <p:cNvPr id="109" name="组合 108"/>
          <p:cNvGrpSpPr/>
          <p:nvPr/>
        </p:nvGrpSpPr>
        <p:grpSpPr>
          <a:xfrm>
            <a:off x="3927706" y="3308778"/>
            <a:ext cx="3740638" cy="2424478"/>
            <a:chOff x="3927706" y="2451528"/>
            <a:chExt cx="3740638" cy="2424478"/>
          </a:xfrm>
        </p:grpSpPr>
        <p:sp>
          <p:nvSpPr>
            <p:cNvPr id="5" name="文本框 160"/>
            <p:cNvSpPr txBox="1"/>
            <p:nvPr/>
          </p:nvSpPr>
          <p:spPr>
            <a:xfrm>
              <a:off x="6440913" y="3724305"/>
              <a:ext cx="584146" cy="207468"/>
            </a:xfrm>
            <a:prstGeom prst="rect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 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-{</a:t>
              </a:r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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 </a:t>
              </a:r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sp>
          <p:nvSpPr>
            <p:cNvPr id="6" name="文本框 154"/>
            <p:cNvSpPr txBox="1"/>
            <p:nvPr/>
          </p:nvSpPr>
          <p:spPr>
            <a:xfrm>
              <a:off x="4797860" y="3075930"/>
              <a:ext cx="634941" cy="2074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-{</a:t>
              </a:r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  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}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sp>
          <p:nvSpPr>
            <p:cNvPr id="8" name="文本框 155"/>
            <p:cNvSpPr txBox="1"/>
            <p:nvPr/>
          </p:nvSpPr>
          <p:spPr>
            <a:xfrm>
              <a:off x="5571406" y="3075806"/>
              <a:ext cx="584146" cy="207468"/>
            </a:xfrm>
            <a:prstGeom prst="rect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-{</a:t>
              </a:r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  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}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sp>
          <p:nvSpPr>
            <p:cNvPr id="9" name="文本框 156"/>
            <p:cNvSpPr txBox="1"/>
            <p:nvPr/>
          </p:nvSpPr>
          <p:spPr>
            <a:xfrm>
              <a:off x="6264011" y="3075806"/>
              <a:ext cx="457158" cy="207468"/>
            </a:xfrm>
            <a:prstGeom prst="rect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-{</a:t>
              </a:r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  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}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cxnSp>
          <p:nvCxnSpPr>
            <p:cNvPr id="10" name="直接箭头连接符 9"/>
            <p:cNvCxnSpPr>
              <a:stCxn id="44" idx="2"/>
              <a:endCxn id="6" idx="0"/>
            </p:cNvCxnSpPr>
            <p:nvPr/>
          </p:nvCxnSpPr>
          <p:spPr>
            <a:xfrm flipH="1">
              <a:off x="5115331" y="2643758"/>
              <a:ext cx="664989" cy="43217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>
              <a:stCxn id="44" idx="2"/>
              <a:endCxn id="8" idx="0"/>
            </p:cNvCxnSpPr>
            <p:nvPr/>
          </p:nvCxnSpPr>
          <p:spPr>
            <a:xfrm>
              <a:off x="5780320" y="2643758"/>
              <a:ext cx="83159" cy="432048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>
              <a:stCxn id="44" idx="2"/>
              <a:endCxn id="9" idx="0"/>
            </p:cNvCxnSpPr>
            <p:nvPr/>
          </p:nvCxnSpPr>
          <p:spPr>
            <a:xfrm>
              <a:off x="5780320" y="2643758"/>
              <a:ext cx="712270" cy="432048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59"/>
            <p:cNvSpPr txBox="1"/>
            <p:nvPr/>
          </p:nvSpPr>
          <p:spPr>
            <a:xfrm>
              <a:off x="4025973" y="3724305"/>
              <a:ext cx="634941" cy="207468"/>
            </a:xfrm>
            <a:prstGeom prst="rect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900" b="1" kern="100" dirty="0">
                  <a:solidFill>
                    <a:srgbClr val="C00000"/>
                  </a:solidFill>
                  <a:latin typeface="Gulim" pitchFamily="34" charset="-127"/>
                  <a:ea typeface="Gulim" pitchFamily="34" charset="-127"/>
                  <a:cs typeface="Times New Roman"/>
                  <a:sym typeface="Wingdings"/>
                </a:rPr>
                <a:t> 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-{</a:t>
              </a:r>
              <a:r>
                <a:rPr lang="en-US" altLang="zh-CN" sz="900" b="1" kern="100" dirty="0">
                  <a:solidFill>
                    <a:srgbClr val="C00000"/>
                  </a:solidFill>
                  <a:latin typeface="Gulim" pitchFamily="34" charset="-127"/>
                  <a:ea typeface="Gulim" pitchFamily="34" charset="-127"/>
                  <a:cs typeface="Times New Roman"/>
                  <a:sym typeface="Wingdings"/>
                </a:rPr>
                <a:t>   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}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sp>
          <p:nvSpPr>
            <p:cNvPr id="14" name="文本框 160"/>
            <p:cNvSpPr txBox="1"/>
            <p:nvPr/>
          </p:nvSpPr>
          <p:spPr>
            <a:xfrm>
              <a:off x="5109103" y="3724305"/>
              <a:ext cx="584146" cy="207468"/>
            </a:xfrm>
            <a:prstGeom prst="rect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 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-{</a:t>
              </a:r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  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}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cxnSp>
          <p:nvCxnSpPr>
            <p:cNvPr id="15" name="直接箭头连接符 14"/>
            <p:cNvCxnSpPr>
              <a:stCxn id="6" idx="2"/>
              <a:endCxn id="13" idx="0"/>
            </p:cNvCxnSpPr>
            <p:nvPr/>
          </p:nvCxnSpPr>
          <p:spPr>
            <a:xfrm flipH="1">
              <a:off x="4343444" y="3283398"/>
              <a:ext cx="771887" cy="440907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6" idx="2"/>
              <a:endCxn id="14" idx="0"/>
            </p:cNvCxnSpPr>
            <p:nvPr/>
          </p:nvCxnSpPr>
          <p:spPr>
            <a:xfrm>
              <a:off x="5115331" y="3283398"/>
              <a:ext cx="285845" cy="440907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5"/>
            <p:cNvSpPr txBox="1"/>
            <p:nvPr/>
          </p:nvSpPr>
          <p:spPr>
            <a:xfrm>
              <a:off x="4611034" y="4327171"/>
              <a:ext cx="324000" cy="20746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kern="100">
                  <a:latin typeface="Gulim" pitchFamily="34" charset="-127"/>
                  <a:ea typeface="Gulim" pitchFamily="34" charset="-127"/>
                  <a:cs typeface="Times New Roman"/>
                </a:rPr>
                <a:t>1 2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3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sp>
          <p:nvSpPr>
            <p:cNvPr id="18" name="文本框 166"/>
            <p:cNvSpPr txBox="1"/>
            <p:nvPr/>
          </p:nvSpPr>
          <p:spPr>
            <a:xfrm>
              <a:off x="6661018" y="4327171"/>
              <a:ext cx="324000" cy="20746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kern="100">
                  <a:latin typeface="Gulim" pitchFamily="34" charset="-127"/>
                  <a:ea typeface="Gulim" pitchFamily="34" charset="-127"/>
                  <a:cs typeface="Times New Roman"/>
                </a:rPr>
                <a:t>2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3 5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sp>
          <p:nvSpPr>
            <p:cNvPr id="19" name="文本框 167"/>
            <p:cNvSpPr txBox="1"/>
            <p:nvPr/>
          </p:nvSpPr>
          <p:spPr>
            <a:xfrm>
              <a:off x="5294362" y="4327171"/>
              <a:ext cx="324000" cy="20746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1 3 5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cxnSp>
          <p:nvCxnSpPr>
            <p:cNvPr id="20" name="直接箭头连接符 19"/>
            <p:cNvCxnSpPr>
              <a:stCxn id="13" idx="2"/>
              <a:endCxn id="21" idx="0"/>
            </p:cNvCxnSpPr>
            <p:nvPr/>
          </p:nvCxnSpPr>
          <p:spPr>
            <a:xfrm flipH="1">
              <a:off x="4089706" y="3931773"/>
              <a:ext cx="253738" cy="3953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171"/>
            <p:cNvSpPr txBox="1"/>
            <p:nvPr/>
          </p:nvSpPr>
          <p:spPr>
            <a:xfrm>
              <a:off x="3927706" y="4327171"/>
              <a:ext cx="324000" cy="20746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kern="100">
                  <a:latin typeface="Gulim" pitchFamily="34" charset="-127"/>
                  <a:ea typeface="Gulim" pitchFamily="34" charset="-127"/>
                  <a:cs typeface="Times New Roman"/>
                </a:rPr>
                <a:t>1 2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5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sp>
          <p:nvSpPr>
            <p:cNvPr id="22" name="文本框 172"/>
            <p:cNvSpPr txBox="1"/>
            <p:nvPr/>
          </p:nvSpPr>
          <p:spPr>
            <a:xfrm>
              <a:off x="5636026" y="4327171"/>
              <a:ext cx="324000" cy="20746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1 3 6	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sp>
          <p:nvSpPr>
            <p:cNvPr id="23" name="文本框 173"/>
            <p:cNvSpPr txBox="1"/>
            <p:nvPr/>
          </p:nvSpPr>
          <p:spPr>
            <a:xfrm>
              <a:off x="4952698" y="4327171"/>
              <a:ext cx="324000" cy="20746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kern="100">
                  <a:latin typeface="Gulim" pitchFamily="34" charset="-127"/>
                  <a:ea typeface="Gulim" pitchFamily="34" charset="-127"/>
                  <a:cs typeface="Times New Roman"/>
                </a:rPr>
                <a:t>1 5 6</a:t>
              </a:r>
              <a:endParaRPr lang="zh-CN" altLang="en-US" sz="900" kern="10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cxnSp>
          <p:nvCxnSpPr>
            <p:cNvPr id="24" name="直接箭头连接符 23"/>
            <p:cNvCxnSpPr>
              <a:stCxn id="13" idx="2"/>
              <a:endCxn id="17" idx="0"/>
            </p:cNvCxnSpPr>
            <p:nvPr/>
          </p:nvCxnSpPr>
          <p:spPr>
            <a:xfrm>
              <a:off x="4343444" y="3931773"/>
              <a:ext cx="429590" cy="395398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14" idx="2"/>
              <a:endCxn id="19" idx="0"/>
            </p:cNvCxnSpPr>
            <p:nvPr/>
          </p:nvCxnSpPr>
          <p:spPr>
            <a:xfrm>
              <a:off x="5401176" y="3931773"/>
              <a:ext cx="55186" cy="3953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38" idx="2"/>
              <a:endCxn id="27" idx="0"/>
            </p:cNvCxnSpPr>
            <p:nvPr/>
          </p:nvCxnSpPr>
          <p:spPr>
            <a:xfrm>
              <a:off x="6112401" y="3939902"/>
              <a:ext cx="368953" cy="387269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184"/>
            <p:cNvSpPr txBox="1"/>
            <p:nvPr/>
          </p:nvSpPr>
          <p:spPr>
            <a:xfrm>
              <a:off x="6319354" y="4327171"/>
              <a:ext cx="324000" cy="20746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kern="100">
                  <a:latin typeface="Gulim" pitchFamily="34" charset="-127"/>
                  <a:ea typeface="Gulim" pitchFamily="34" charset="-127"/>
                  <a:cs typeface="Times New Roman"/>
                </a:rPr>
                <a:t>2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5 6	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sp>
          <p:nvSpPr>
            <p:cNvPr id="28" name="文本框 185"/>
            <p:cNvSpPr txBox="1"/>
            <p:nvPr/>
          </p:nvSpPr>
          <p:spPr>
            <a:xfrm>
              <a:off x="7002682" y="4327171"/>
              <a:ext cx="324000" cy="20746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kern="100">
                  <a:latin typeface="Gulim" pitchFamily="34" charset="-127"/>
                  <a:ea typeface="Gulim" pitchFamily="34" charset="-127"/>
                  <a:cs typeface="Times New Roman"/>
                </a:rPr>
                <a:t>2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3 6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cxnSp>
          <p:nvCxnSpPr>
            <p:cNvPr id="29" name="直接箭头连接符 28"/>
            <p:cNvCxnSpPr>
              <a:stCxn id="8" idx="2"/>
              <a:endCxn id="5" idx="0"/>
            </p:cNvCxnSpPr>
            <p:nvPr/>
          </p:nvCxnSpPr>
          <p:spPr>
            <a:xfrm>
              <a:off x="5863479" y="3283274"/>
              <a:ext cx="869507" cy="441031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36" idx="2"/>
              <a:endCxn id="23" idx="0"/>
            </p:cNvCxnSpPr>
            <p:nvPr/>
          </p:nvCxnSpPr>
          <p:spPr>
            <a:xfrm>
              <a:off x="4876868" y="3937980"/>
              <a:ext cx="237830" cy="389191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14" idx="2"/>
              <a:endCxn id="22" idx="0"/>
            </p:cNvCxnSpPr>
            <p:nvPr/>
          </p:nvCxnSpPr>
          <p:spPr>
            <a:xfrm>
              <a:off x="5401176" y="3931773"/>
              <a:ext cx="396850" cy="395398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5" idx="2"/>
              <a:endCxn id="18" idx="0"/>
            </p:cNvCxnSpPr>
            <p:nvPr/>
          </p:nvCxnSpPr>
          <p:spPr>
            <a:xfrm>
              <a:off x="6732986" y="3931773"/>
              <a:ext cx="90032" cy="395398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5" idx="2"/>
              <a:endCxn id="28" idx="0"/>
            </p:cNvCxnSpPr>
            <p:nvPr/>
          </p:nvCxnSpPr>
          <p:spPr>
            <a:xfrm>
              <a:off x="6732986" y="3931773"/>
              <a:ext cx="431696" cy="395398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171"/>
            <p:cNvSpPr txBox="1"/>
            <p:nvPr/>
          </p:nvSpPr>
          <p:spPr>
            <a:xfrm>
              <a:off x="4269370" y="4327171"/>
              <a:ext cx="324000" cy="20746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kern="100">
                  <a:latin typeface="Gulim" pitchFamily="34" charset="-127"/>
                  <a:ea typeface="Gulim" pitchFamily="34" charset="-127"/>
                  <a:cs typeface="Times New Roman"/>
                </a:rPr>
                <a:t>1 2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6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cxnSp>
          <p:nvCxnSpPr>
            <p:cNvPr id="35" name="直接箭头连接符 34"/>
            <p:cNvCxnSpPr>
              <a:stCxn id="13" idx="2"/>
              <a:endCxn id="34" idx="0"/>
            </p:cNvCxnSpPr>
            <p:nvPr/>
          </p:nvCxnSpPr>
          <p:spPr>
            <a:xfrm>
              <a:off x="4343444" y="3931773"/>
              <a:ext cx="87926" cy="395398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159"/>
            <p:cNvSpPr txBox="1"/>
            <p:nvPr/>
          </p:nvSpPr>
          <p:spPr>
            <a:xfrm>
              <a:off x="4686385" y="3730512"/>
              <a:ext cx="380965" cy="207468"/>
            </a:xfrm>
            <a:prstGeom prst="rect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900" b="1" kern="100" dirty="0">
                  <a:solidFill>
                    <a:srgbClr val="C00000"/>
                  </a:solidFill>
                  <a:latin typeface="Gulim" pitchFamily="34" charset="-127"/>
                  <a:ea typeface="Gulim" pitchFamily="34" charset="-127"/>
                  <a:cs typeface="Times New Roman"/>
                  <a:sym typeface="Wingdings"/>
                </a:rPr>
                <a:t> 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-{</a:t>
              </a:r>
              <a:r>
                <a:rPr lang="en-US" altLang="zh-CN" sz="900" b="1" kern="100" dirty="0">
                  <a:solidFill>
                    <a:srgbClr val="C00000"/>
                  </a:solidFill>
                  <a:latin typeface="Gulim" pitchFamily="34" charset="-127"/>
                  <a:ea typeface="Gulim" pitchFamily="34" charset="-127"/>
                  <a:cs typeface="Times New Roman"/>
                  <a:sym typeface="Wingdings"/>
                </a:rPr>
                <a:t>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}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cxnSp>
          <p:nvCxnSpPr>
            <p:cNvPr id="37" name="直接箭头连接符 36"/>
            <p:cNvCxnSpPr>
              <a:stCxn id="6" idx="2"/>
              <a:endCxn id="36" idx="0"/>
            </p:cNvCxnSpPr>
            <p:nvPr/>
          </p:nvCxnSpPr>
          <p:spPr>
            <a:xfrm flipH="1">
              <a:off x="4876868" y="3283398"/>
              <a:ext cx="238463" cy="447114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159"/>
            <p:cNvSpPr txBox="1"/>
            <p:nvPr/>
          </p:nvSpPr>
          <p:spPr>
            <a:xfrm>
              <a:off x="5921918" y="3732434"/>
              <a:ext cx="380965" cy="207468"/>
            </a:xfrm>
            <a:prstGeom prst="rect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 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-{</a:t>
              </a:r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 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}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cxnSp>
          <p:nvCxnSpPr>
            <p:cNvPr id="39" name="直接箭头连接符 38"/>
            <p:cNvCxnSpPr>
              <a:stCxn id="8" idx="2"/>
              <a:endCxn id="38" idx="0"/>
            </p:cNvCxnSpPr>
            <p:nvPr/>
          </p:nvCxnSpPr>
          <p:spPr>
            <a:xfrm>
              <a:off x="5863479" y="3283274"/>
              <a:ext cx="248922" cy="44916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159"/>
            <p:cNvSpPr txBox="1"/>
            <p:nvPr/>
          </p:nvSpPr>
          <p:spPr>
            <a:xfrm>
              <a:off x="7062649" y="3724305"/>
              <a:ext cx="380965" cy="207468"/>
            </a:xfrm>
            <a:prstGeom prst="rect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 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-{</a:t>
              </a:r>
              <a:r>
                <a:rPr lang="en-US" altLang="zh-CN" sz="900" b="1" kern="100" dirty="0">
                  <a:solidFill>
                    <a:srgbClr val="C00000"/>
                  </a:solidFill>
                  <a:latin typeface="Gulim"/>
                  <a:ea typeface="宋体"/>
                  <a:cs typeface="Times New Roman"/>
                  <a:sym typeface="Wingdings"/>
                </a:rPr>
                <a:t></a:t>
              </a:r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}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cxnSp>
          <p:nvCxnSpPr>
            <p:cNvPr id="41" name="直接箭头连接符 40"/>
            <p:cNvCxnSpPr>
              <a:stCxn id="9" idx="2"/>
              <a:endCxn id="40" idx="0"/>
            </p:cNvCxnSpPr>
            <p:nvPr/>
          </p:nvCxnSpPr>
          <p:spPr>
            <a:xfrm>
              <a:off x="6492590" y="3283274"/>
              <a:ext cx="760542" cy="44103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184"/>
            <p:cNvSpPr txBox="1"/>
            <p:nvPr/>
          </p:nvSpPr>
          <p:spPr>
            <a:xfrm>
              <a:off x="7344344" y="4322716"/>
              <a:ext cx="324000" cy="20746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kern="100" dirty="0">
                  <a:latin typeface="Gulim" pitchFamily="34" charset="-127"/>
                  <a:ea typeface="Gulim" pitchFamily="34" charset="-127"/>
                  <a:cs typeface="Times New Roman"/>
                </a:rPr>
                <a:t>3 5 6	</a:t>
              </a:r>
              <a:endParaRPr lang="zh-CN" altLang="en-US" sz="900" kern="100" dirty="0"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cxnSp>
          <p:nvCxnSpPr>
            <p:cNvPr id="43" name="直接箭头连接符 42"/>
            <p:cNvCxnSpPr>
              <a:stCxn id="40" idx="2"/>
              <a:endCxn id="42" idx="0"/>
            </p:cNvCxnSpPr>
            <p:nvPr/>
          </p:nvCxnSpPr>
          <p:spPr>
            <a:xfrm>
              <a:off x="7253132" y="3931773"/>
              <a:ext cx="253212" cy="390943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151"/>
            <p:cNvSpPr txBox="1"/>
            <p:nvPr/>
          </p:nvSpPr>
          <p:spPr>
            <a:xfrm>
              <a:off x="5363108" y="2451528"/>
              <a:ext cx="834423" cy="192230"/>
            </a:xfrm>
            <a:prstGeom prst="rect">
              <a:avLst/>
            </a:prstGeom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100" b="1" kern="100" dirty="0">
                  <a:solidFill>
                    <a:srgbClr val="C00000"/>
                  </a:solidFill>
                  <a:latin typeface="Gulim" pitchFamily="34" charset="-127"/>
                  <a:ea typeface="Gulim" pitchFamily="34" charset="-127"/>
                  <a:cs typeface="Times New Roman"/>
                </a:rPr>
                <a:t>{</a:t>
              </a:r>
              <a:r>
                <a:rPr lang="en-US" sz="1100" b="1" kern="100" dirty="0">
                  <a:solidFill>
                    <a:srgbClr val="C00000"/>
                  </a:solidFill>
                  <a:latin typeface="Gulim" pitchFamily="34" charset="-127"/>
                  <a:ea typeface="Gulim" pitchFamily="34" charset="-127"/>
                  <a:cs typeface="Times New Roman"/>
                  <a:sym typeface="Wingdings"/>
                </a:rPr>
                <a:t> </a:t>
              </a:r>
              <a:r>
                <a:rPr lang="en-US" altLang="zh-CN" sz="1100" b="1" kern="100" dirty="0">
                  <a:solidFill>
                    <a:srgbClr val="C00000"/>
                  </a:solidFill>
                  <a:latin typeface="Gulim" pitchFamily="34" charset="-127"/>
                  <a:ea typeface="Gulim" pitchFamily="34" charset="-127"/>
                  <a:cs typeface="Times New Roman"/>
                  <a:sym typeface="Wingdings"/>
                </a:rPr>
                <a:t>  </a:t>
              </a:r>
              <a:r>
                <a:rPr lang="en-US" sz="1100" b="1" kern="100" dirty="0">
                  <a:solidFill>
                    <a:srgbClr val="C00000"/>
                  </a:solidFill>
                  <a:latin typeface="Gulim" pitchFamily="34" charset="-127"/>
                  <a:ea typeface="Gulim" pitchFamily="34" charset="-127"/>
                  <a:cs typeface="Times New Roman"/>
                </a:rPr>
                <a:t>}</a:t>
              </a:r>
              <a:endParaRPr lang="zh-CN" altLang="en-US" sz="1100" kern="100" dirty="0">
                <a:solidFill>
                  <a:srgbClr val="C00000"/>
                </a:solidFill>
                <a:latin typeface="Gulim" pitchFamily="34" charset="-127"/>
                <a:ea typeface="Gulim" pitchFamily="34" charset="-127"/>
                <a:cs typeface="Times New Roman"/>
              </a:endParaRPr>
            </a:p>
          </p:txBody>
        </p:sp>
        <p:sp>
          <p:nvSpPr>
            <p:cNvPr id="50" name="文本框 172"/>
            <p:cNvSpPr txBox="1"/>
            <p:nvPr/>
          </p:nvSpPr>
          <p:spPr>
            <a:xfrm>
              <a:off x="5977690" y="4327171"/>
              <a:ext cx="324000" cy="20746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spcAft>
                  <a:spcPts val="0"/>
                </a:spcAft>
                <a:defRPr sz="900" b="1" kern="100">
                  <a:effectLst/>
                  <a:latin typeface="Gulim" pitchFamily="34" charset="-127"/>
                  <a:ea typeface="Gulim" pitchFamily="34" charset="-127"/>
                  <a:cs typeface="Times New Roman"/>
                </a:defRPr>
              </a:lvl1pPr>
            </a:lstStyle>
            <a:p>
              <a:r>
                <a:rPr lang="en-US" dirty="0"/>
                <a:t>1 3 6	</a:t>
              </a:r>
              <a:endParaRPr lang="zh-CN" altLang="en-US" dirty="0"/>
            </a:p>
          </p:txBody>
        </p:sp>
        <p:sp>
          <p:nvSpPr>
            <p:cNvPr id="63" name="矩形 62"/>
            <p:cNvSpPr/>
            <p:nvPr/>
          </p:nvSpPr>
          <p:spPr>
            <a:xfrm>
              <a:off x="5144769" y="4537452"/>
              <a:ext cx="169469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latin typeface="华文细黑" pitchFamily="2" charset="-122"/>
                  <a:ea typeface="华文细黑" pitchFamily="2" charset="-122"/>
                </a:rPr>
                <a:t>候选项集</a:t>
              </a:r>
              <a:r>
                <a:rPr lang="en-US" altLang="zh-CN" sz="1600" dirty="0">
                  <a:latin typeface="华文细黑" pitchFamily="2" charset="-122"/>
                  <a:ea typeface="华文细黑" pitchFamily="2" charset="-122"/>
                </a:rPr>
                <a:t>Hash</a:t>
              </a:r>
              <a:r>
                <a:rPr lang="zh-CN" altLang="en-US" sz="1600" dirty="0">
                  <a:latin typeface="华文细黑" pitchFamily="2" charset="-122"/>
                  <a:ea typeface="华文细黑" pitchFamily="2" charset="-122"/>
                </a:rPr>
                <a:t>树</a:t>
              </a:r>
            </a:p>
          </p:txBody>
        </p:sp>
      </p:grpSp>
      <p:pic>
        <p:nvPicPr>
          <p:cNvPr id="107" name="图片 106"/>
          <p:cNvPicPr>
            <a:picLocks noChangeAspect="1"/>
          </p:cNvPicPr>
          <p:nvPr/>
        </p:nvPicPr>
        <p:blipFill rotWithShape="1">
          <a:blip r:embed="rId3"/>
          <a:srcRect r="53871"/>
          <a:stretch/>
        </p:blipFill>
        <p:spPr>
          <a:xfrm>
            <a:off x="2953211" y="3196970"/>
            <a:ext cx="648000" cy="1888598"/>
          </a:xfrm>
          <a:prstGeom prst="rect">
            <a:avLst/>
          </a:prstGeom>
        </p:spPr>
      </p:pic>
      <p:pic>
        <p:nvPicPr>
          <p:cNvPr id="108" name="图片 1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534" y="3175485"/>
            <a:ext cx="1433970" cy="1927865"/>
          </a:xfrm>
          <a:prstGeom prst="rect">
            <a:avLst/>
          </a:prstGeom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351" y="871562"/>
            <a:ext cx="2602764" cy="2341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0" name="直接箭头连接符 109"/>
          <p:cNvCxnSpPr/>
          <p:nvPr/>
        </p:nvCxnSpPr>
        <p:spPr>
          <a:xfrm flipV="1">
            <a:off x="3652914" y="4114308"/>
            <a:ext cx="576000" cy="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 flipV="1">
            <a:off x="7020336" y="4149080"/>
            <a:ext cx="576000" cy="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 rot="5400000" flipV="1">
            <a:off x="5519825" y="3068936"/>
            <a:ext cx="432000" cy="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>
            <a:off x="142185" y="2078846"/>
            <a:ext cx="313502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根据候选项集</a:t>
            </a:r>
            <a:endParaRPr lang="en-US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建立起候选项集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Hash</a:t>
            </a:r>
            <a:r>
              <a:rPr lang="zh-CN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树</a:t>
            </a:r>
            <a:endParaRPr lang="en-US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遍历事务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在树中散列事务项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匹配的候选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endParaRPr lang="en-US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zh-CN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支持度计数加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</a:t>
            </a:r>
            <a:endParaRPr lang="zh-CN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96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8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2" grpId="1"/>
      <p:bldP spid="104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计算支持度</a:t>
            </a:r>
            <a:endParaRPr lang="zh-CN" altLang="en-US" dirty="0"/>
          </a:p>
        </p:txBody>
      </p:sp>
      <p:sp>
        <p:nvSpPr>
          <p:cNvPr id="118" name="内容占位符 1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63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34</a:t>
            </a:fld>
            <a:endParaRPr lang="zh-CN" altLang="en-US"/>
          </a:p>
        </p:txBody>
      </p:sp>
      <p:grpSp>
        <p:nvGrpSpPr>
          <p:cNvPr id="115" name="组合 114"/>
          <p:cNvGrpSpPr>
            <a:grpSpLocks noChangeAspect="1"/>
          </p:cNvGrpSpPr>
          <p:nvPr/>
        </p:nvGrpSpPr>
        <p:grpSpPr>
          <a:xfrm>
            <a:off x="1763688" y="3636359"/>
            <a:ext cx="3425482" cy="918102"/>
            <a:chOff x="5481516" y="2060848"/>
            <a:chExt cx="2126719" cy="760008"/>
          </a:xfrm>
        </p:grpSpPr>
        <p:sp>
          <p:nvSpPr>
            <p:cNvPr id="10" name="文本框 26"/>
            <p:cNvSpPr txBox="1"/>
            <p:nvPr/>
          </p:nvSpPr>
          <p:spPr>
            <a:xfrm>
              <a:off x="6391042" y="2060848"/>
              <a:ext cx="481690" cy="22930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11" name="流程图: 联系 10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12" name="直接箭头连接符 11"/>
            <p:cNvCxnSpPr>
              <a:stCxn id="11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11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11" idx="3"/>
            </p:cNvCxnSpPr>
            <p:nvPr/>
          </p:nvCxnSpPr>
          <p:spPr>
            <a:xfrm flipH="1">
              <a:off x="5481516" y="2333964"/>
              <a:ext cx="1027059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 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4, 7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7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8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3, 6, 9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5114582" y="3573016"/>
            <a:ext cx="30989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Hash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函数：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h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) = 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mod 3</a:t>
            </a:r>
          </a:p>
        </p:txBody>
      </p:sp>
      <p:sp>
        <p:nvSpPr>
          <p:cNvPr id="17" name="矩形 16"/>
          <p:cNvSpPr/>
          <p:nvPr/>
        </p:nvSpPr>
        <p:spPr>
          <a:xfrm>
            <a:off x="832206" y="2391272"/>
            <a:ext cx="44598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华文细黑" pitchFamily="2" charset="-122"/>
                <a:ea typeface="华文细黑" pitchFamily="2" charset="-122"/>
              </a:rPr>
              <a:t>事务中，项集为 </a:t>
            </a:r>
            <a:r>
              <a:rPr lang="en-US" altLang="zh-CN" sz="2400" dirty="0">
                <a:latin typeface="华文细黑" pitchFamily="2" charset="-122"/>
                <a:ea typeface="华文细黑" pitchFamily="2" charset="-122"/>
              </a:rPr>
              <a:t>{1, 2, 3, 4, 5, 6}</a:t>
            </a:r>
            <a:endParaRPr lang="en-US" altLang="zh-CN" sz="2400" b="1" dirty="0">
              <a:latin typeface="Gulim" pitchFamily="34" charset="-127"/>
              <a:ea typeface="Gulim" pitchFamily="34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373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118" name="内容占位符 1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细黑" pitchFamily="2" charset="-122"/>
              </a:rPr>
              <a:t>【</a:t>
            </a:r>
            <a:r>
              <a:rPr lang="zh-CN" altLang="en-US" dirty="0">
                <a:latin typeface="华文细黑" pitchFamily="2" charset="-122"/>
              </a:rPr>
              <a:t>例</a:t>
            </a:r>
            <a:r>
              <a:rPr lang="en-US" altLang="zh-CN" dirty="0">
                <a:latin typeface="华文细黑" pitchFamily="2" charset="-122"/>
              </a:rPr>
              <a:t>】</a:t>
            </a:r>
            <a:r>
              <a:rPr lang="zh-CN" altLang="en-US" dirty="0">
                <a:latin typeface="华文细黑" pitchFamily="2" charset="-122"/>
              </a:rPr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  <a:p>
            <a:pPr marL="82296" indent="0">
              <a:buNone/>
            </a:pPr>
            <a:endParaRPr lang="zh-CN" altLang="en-US" dirty="0"/>
          </a:p>
        </p:txBody>
      </p:sp>
      <p:grpSp>
        <p:nvGrpSpPr>
          <p:cNvPr id="115" name="组合 114"/>
          <p:cNvGrpSpPr>
            <a:grpSpLocks noChangeAspect="1"/>
          </p:cNvGrpSpPr>
          <p:nvPr/>
        </p:nvGrpSpPr>
        <p:grpSpPr>
          <a:xfrm>
            <a:off x="5949008" y="1095942"/>
            <a:ext cx="3015479" cy="808213"/>
            <a:chOff x="5481517" y="2060848"/>
            <a:chExt cx="2126718" cy="760008"/>
          </a:xfrm>
        </p:grpSpPr>
        <p:sp>
          <p:nvSpPr>
            <p:cNvPr id="10" name="文本框 26"/>
            <p:cNvSpPr txBox="1"/>
            <p:nvPr/>
          </p:nvSpPr>
          <p:spPr>
            <a:xfrm>
              <a:off x="6358296" y="2060848"/>
              <a:ext cx="547184" cy="260478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11" name="流程图: 联系 10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12" name="直接箭头连接符 11"/>
            <p:cNvCxnSpPr>
              <a:stCxn id="11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11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11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 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4, 7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7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8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3, 6, 9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35" name="文本框 155"/>
          <p:cNvSpPr txBox="1"/>
          <p:nvPr/>
        </p:nvSpPr>
        <p:spPr>
          <a:xfrm>
            <a:off x="5544024" y="3659018"/>
            <a:ext cx="82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2-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{3 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1" name="文本框 156"/>
          <p:cNvSpPr txBox="1"/>
          <p:nvPr/>
        </p:nvSpPr>
        <p:spPr>
          <a:xfrm>
            <a:off x="8208392" y="3659018"/>
            <a:ext cx="64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42" name="直接箭头连接符 41"/>
          <p:cNvCxnSpPr>
            <a:stCxn id="32" idx="2"/>
            <a:endCxn id="33" idx="0"/>
          </p:cNvCxnSpPr>
          <p:nvPr/>
        </p:nvCxnSpPr>
        <p:spPr>
          <a:xfrm flipH="1">
            <a:off x="2321616" y="3104964"/>
            <a:ext cx="3618376" cy="554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2" idx="2"/>
            <a:endCxn id="35" idx="0"/>
          </p:cNvCxnSpPr>
          <p:nvPr/>
        </p:nvCxnSpPr>
        <p:spPr>
          <a:xfrm>
            <a:off x="5939992" y="3104964"/>
            <a:ext cx="18032" cy="554054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32" idx="2"/>
            <a:endCxn id="41" idx="0"/>
          </p:cNvCxnSpPr>
          <p:nvPr/>
        </p:nvCxnSpPr>
        <p:spPr>
          <a:xfrm>
            <a:off x="5939992" y="3104964"/>
            <a:ext cx="2592400" cy="554054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189"/>
          <p:cNvSpPr txBox="1"/>
          <p:nvPr/>
        </p:nvSpPr>
        <p:spPr>
          <a:xfrm>
            <a:off x="7740352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3 4 5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04" name="直接箭头连接符 103"/>
          <p:cNvCxnSpPr>
            <a:stCxn id="113" idx="2"/>
            <a:endCxn id="77" idx="0"/>
          </p:cNvCxnSpPr>
          <p:nvPr/>
        </p:nvCxnSpPr>
        <p:spPr>
          <a:xfrm>
            <a:off x="7902328" y="4672691"/>
            <a:ext cx="36024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755576" y="2327278"/>
            <a:ext cx="56124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项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{1},{2},{3},{4},{5},{6}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构成</a:t>
            </a:r>
            <a:r>
              <a:rPr lang="en-US" altLang="zh-CN" sz="20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3-</a:t>
            </a:r>
            <a:r>
              <a:rPr lang="zh-CN" altLang="en-US" sz="20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项集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的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Hash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树结构</a:t>
            </a:r>
            <a:endParaRPr lang="en-US" altLang="zh-CN" sz="2000" b="1" dirty="0">
              <a:latin typeface="Gulim" pitchFamily="34" charset="-127"/>
              <a:ea typeface="Gulim" pitchFamily="34" charset="-127"/>
              <a:cs typeface="Times New Roman" pitchFamily="18" charset="0"/>
            </a:endParaRPr>
          </a:p>
        </p:txBody>
      </p:sp>
      <p:sp>
        <p:nvSpPr>
          <p:cNvPr id="113" name="文本框 159"/>
          <p:cNvSpPr txBox="1"/>
          <p:nvPr/>
        </p:nvSpPr>
        <p:spPr>
          <a:xfrm>
            <a:off x="7524328" y="4456690"/>
            <a:ext cx="756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3 4-{5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14" name="直接箭头连接符 113"/>
          <p:cNvCxnSpPr>
            <a:stCxn id="41" idx="2"/>
            <a:endCxn id="113" idx="0"/>
          </p:cNvCxnSpPr>
          <p:nvPr/>
        </p:nvCxnSpPr>
        <p:spPr>
          <a:xfrm flipH="1">
            <a:off x="7902328" y="3875019"/>
            <a:ext cx="630064" cy="5816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>
            <a:stCxn id="113" idx="2"/>
            <a:endCxn id="120" idx="0"/>
          </p:cNvCxnSpPr>
          <p:nvPr/>
        </p:nvCxnSpPr>
        <p:spPr>
          <a:xfrm>
            <a:off x="7902330" y="4672691"/>
            <a:ext cx="492903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84"/>
          <p:cNvSpPr txBox="1"/>
          <p:nvPr/>
        </p:nvSpPr>
        <p:spPr>
          <a:xfrm>
            <a:off x="8197231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3 4 6	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25" name="直接箭头连接符 124"/>
          <p:cNvCxnSpPr>
            <a:stCxn id="32" idx="2"/>
            <a:endCxn id="124" idx="0"/>
          </p:cNvCxnSpPr>
          <p:nvPr/>
        </p:nvCxnSpPr>
        <p:spPr>
          <a:xfrm flipH="1">
            <a:off x="3095784" y="3104964"/>
            <a:ext cx="2844208" cy="554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159"/>
          <p:cNvSpPr txBox="1"/>
          <p:nvPr/>
        </p:nvSpPr>
        <p:spPr>
          <a:xfrm>
            <a:off x="8316392" y="4456690"/>
            <a:ext cx="54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3 5-{6}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29" name="直接箭头连接符 128"/>
          <p:cNvCxnSpPr>
            <a:stCxn id="41" idx="2"/>
            <a:endCxn id="128" idx="0"/>
          </p:cNvCxnSpPr>
          <p:nvPr/>
        </p:nvCxnSpPr>
        <p:spPr>
          <a:xfrm>
            <a:off x="8532392" y="3875019"/>
            <a:ext cx="54000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184"/>
          <p:cNvSpPr txBox="1"/>
          <p:nvPr/>
        </p:nvSpPr>
        <p:spPr>
          <a:xfrm>
            <a:off x="8654112" y="5411806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3 5 6	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45" name="直接箭头连接符 144"/>
          <p:cNvCxnSpPr>
            <a:stCxn id="128" idx="2"/>
            <a:endCxn id="132" idx="0"/>
          </p:cNvCxnSpPr>
          <p:nvPr/>
        </p:nvCxnSpPr>
        <p:spPr>
          <a:xfrm>
            <a:off x="8586392" y="4672690"/>
            <a:ext cx="265720" cy="739116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59"/>
          <p:cNvSpPr txBox="1"/>
          <p:nvPr/>
        </p:nvSpPr>
        <p:spPr>
          <a:xfrm>
            <a:off x="2951880" y="4456690"/>
            <a:ext cx="54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4 5-{6}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83" name="直接箭头连接符 82"/>
          <p:cNvCxnSpPr>
            <a:stCxn id="85" idx="2"/>
            <a:endCxn id="61" idx="0"/>
          </p:cNvCxnSpPr>
          <p:nvPr/>
        </p:nvCxnSpPr>
        <p:spPr>
          <a:xfrm>
            <a:off x="2645672" y="4672691"/>
            <a:ext cx="324128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48" idx="2"/>
            <a:endCxn id="60" idx="0"/>
          </p:cNvCxnSpPr>
          <p:nvPr/>
        </p:nvCxnSpPr>
        <p:spPr>
          <a:xfrm>
            <a:off x="4229968" y="4672691"/>
            <a:ext cx="567348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>
            <a:stCxn id="124" idx="2"/>
            <a:endCxn id="135" idx="0"/>
          </p:cNvCxnSpPr>
          <p:nvPr/>
        </p:nvCxnSpPr>
        <p:spPr>
          <a:xfrm>
            <a:off x="3095784" y="3875019"/>
            <a:ext cx="126096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本框 171"/>
          <p:cNvSpPr txBox="1"/>
          <p:nvPr/>
        </p:nvSpPr>
        <p:spPr>
          <a:xfrm>
            <a:off x="3228679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4 5 6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41" name="直接箭头连接符 140"/>
          <p:cNvCxnSpPr>
            <a:stCxn id="135" idx="2"/>
            <a:endCxn id="140" idx="0"/>
          </p:cNvCxnSpPr>
          <p:nvPr/>
        </p:nvCxnSpPr>
        <p:spPr>
          <a:xfrm>
            <a:off x="3221882" y="4672691"/>
            <a:ext cx="204799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71"/>
          <p:cNvSpPr txBox="1"/>
          <p:nvPr/>
        </p:nvSpPr>
        <p:spPr>
          <a:xfrm>
            <a:off x="1914143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100" b="1" kern="100" dirty="0">
                <a:latin typeface="Gulim"/>
                <a:ea typeface="宋体"/>
                <a:cs typeface="Times New Roman"/>
              </a:rPr>
              <a:t>3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09" name="直接箭头连接符 108"/>
          <p:cNvCxnSpPr>
            <a:stCxn id="47" idx="2"/>
            <a:endCxn id="108" idx="0"/>
          </p:cNvCxnSpPr>
          <p:nvPr/>
        </p:nvCxnSpPr>
        <p:spPr>
          <a:xfrm>
            <a:off x="1889570" y="4672691"/>
            <a:ext cx="222575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160"/>
          <p:cNvSpPr txBox="1"/>
          <p:nvPr/>
        </p:nvSpPr>
        <p:spPr>
          <a:xfrm>
            <a:off x="6660232" y="4456690"/>
            <a:ext cx="82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24" name="文本框 159"/>
          <p:cNvSpPr txBox="1"/>
          <p:nvPr/>
        </p:nvSpPr>
        <p:spPr>
          <a:xfrm>
            <a:off x="2807784" y="3659018"/>
            <a:ext cx="576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4-{5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0" name="文本框 171"/>
          <p:cNvSpPr txBox="1"/>
          <p:nvPr/>
        </p:nvSpPr>
        <p:spPr>
          <a:xfrm>
            <a:off x="1000385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4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3" name="文本框 154"/>
          <p:cNvSpPr txBox="1"/>
          <p:nvPr/>
        </p:nvSpPr>
        <p:spPr>
          <a:xfrm>
            <a:off x="1871616" y="3659018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1-{2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 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56" name="直接箭头连接符 55"/>
          <p:cNvCxnSpPr>
            <a:stCxn id="47" idx="2"/>
            <a:endCxn id="50" idx="0"/>
          </p:cNvCxnSpPr>
          <p:nvPr/>
        </p:nvCxnSpPr>
        <p:spPr>
          <a:xfrm flipH="1">
            <a:off x="1198387" y="4672691"/>
            <a:ext cx="691183" cy="7437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151"/>
          <p:cNvSpPr txBox="1"/>
          <p:nvPr/>
        </p:nvSpPr>
        <p:spPr>
          <a:xfrm>
            <a:off x="5255992" y="2904410"/>
            <a:ext cx="1368000" cy="20055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{</a:t>
            </a:r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7" name="文本框 171"/>
          <p:cNvSpPr txBox="1"/>
          <p:nvPr/>
        </p:nvSpPr>
        <p:spPr>
          <a:xfrm>
            <a:off x="3685558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1 3 4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3" name="直接箭头连接符 62"/>
          <p:cNvCxnSpPr>
            <a:stCxn id="48" idx="2"/>
            <a:endCxn id="57" idx="0"/>
          </p:cNvCxnSpPr>
          <p:nvPr/>
        </p:nvCxnSpPr>
        <p:spPr>
          <a:xfrm flipH="1">
            <a:off x="3883558" y="4672691"/>
            <a:ext cx="346410" cy="7437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166"/>
          <p:cNvSpPr txBox="1"/>
          <p:nvPr/>
        </p:nvSpPr>
        <p:spPr>
          <a:xfrm>
            <a:off x="6883711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3 5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8" name="直接箭头连接符 67"/>
          <p:cNvCxnSpPr>
            <a:stCxn id="106" idx="2"/>
            <a:endCxn id="72" idx="0"/>
          </p:cNvCxnSpPr>
          <p:nvPr/>
        </p:nvCxnSpPr>
        <p:spPr>
          <a:xfrm>
            <a:off x="5958042" y="4672691"/>
            <a:ext cx="209913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184"/>
          <p:cNvSpPr txBox="1"/>
          <p:nvPr/>
        </p:nvSpPr>
        <p:spPr>
          <a:xfrm>
            <a:off x="5969953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5 6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73" name="文本框 185"/>
          <p:cNvSpPr txBox="1"/>
          <p:nvPr/>
        </p:nvSpPr>
        <p:spPr>
          <a:xfrm>
            <a:off x="7308304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3 6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76" name="直接箭头连接符 75"/>
          <p:cNvCxnSpPr>
            <a:stCxn id="35" idx="2"/>
            <a:endCxn id="87" idx="0"/>
          </p:cNvCxnSpPr>
          <p:nvPr/>
        </p:nvCxnSpPr>
        <p:spPr>
          <a:xfrm>
            <a:off x="5958024" y="3875019"/>
            <a:ext cx="1116208" cy="581673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159"/>
          <p:cNvSpPr txBox="1"/>
          <p:nvPr/>
        </p:nvSpPr>
        <p:spPr>
          <a:xfrm>
            <a:off x="35568" y="4456690"/>
            <a:ext cx="64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4-{5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93" name="直接箭头连接符 92"/>
          <p:cNvCxnSpPr>
            <a:stCxn id="87" idx="2"/>
            <a:endCxn id="54" idx="0"/>
          </p:cNvCxnSpPr>
          <p:nvPr/>
        </p:nvCxnSpPr>
        <p:spPr>
          <a:xfrm>
            <a:off x="7074234" y="4672691"/>
            <a:ext cx="7479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>
            <a:stCxn id="87" idx="2"/>
            <a:endCxn id="73" idx="0"/>
          </p:cNvCxnSpPr>
          <p:nvPr/>
        </p:nvCxnSpPr>
        <p:spPr>
          <a:xfrm>
            <a:off x="7074232" y="4672691"/>
            <a:ext cx="432072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33" idx="2"/>
            <a:endCxn id="65" idx="0"/>
          </p:cNvCxnSpPr>
          <p:nvPr/>
        </p:nvCxnSpPr>
        <p:spPr>
          <a:xfrm flipH="1">
            <a:off x="359568" y="3875019"/>
            <a:ext cx="1962048" cy="5816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167"/>
          <p:cNvSpPr txBox="1"/>
          <p:nvPr/>
        </p:nvSpPr>
        <p:spPr>
          <a:xfrm>
            <a:off x="143552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1 4 5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88" name="文本框 171"/>
          <p:cNvSpPr txBox="1"/>
          <p:nvPr/>
        </p:nvSpPr>
        <p:spPr>
          <a:xfrm>
            <a:off x="6426832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3 4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89" name="直接箭头连接符 88"/>
          <p:cNvCxnSpPr>
            <a:stCxn id="87" idx="2"/>
            <a:endCxn id="88" idx="0"/>
          </p:cNvCxnSpPr>
          <p:nvPr/>
        </p:nvCxnSpPr>
        <p:spPr>
          <a:xfrm flipH="1">
            <a:off x="6624832" y="4672691"/>
            <a:ext cx="449400" cy="7437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159"/>
          <p:cNvSpPr txBox="1"/>
          <p:nvPr/>
        </p:nvSpPr>
        <p:spPr>
          <a:xfrm>
            <a:off x="4823944" y="4456690"/>
            <a:ext cx="756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4-{5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97" name="直接箭头连接符 96"/>
          <p:cNvCxnSpPr>
            <a:stCxn id="35" idx="2"/>
            <a:endCxn id="95" idx="0"/>
          </p:cNvCxnSpPr>
          <p:nvPr/>
        </p:nvCxnSpPr>
        <p:spPr>
          <a:xfrm flipH="1">
            <a:off x="5201944" y="3875019"/>
            <a:ext cx="756080" cy="5816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167"/>
          <p:cNvSpPr txBox="1"/>
          <p:nvPr/>
        </p:nvSpPr>
        <p:spPr>
          <a:xfrm>
            <a:off x="5056195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4 5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00" name="直接箭头连接符 99"/>
          <p:cNvCxnSpPr>
            <a:stCxn id="95" idx="2"/>
            <a:endCxn id="99" idx="0"/>
          </p:cNvCxnSpPr>
          <p:nvPr/>
        </p:nvCxnSpPr>
        <p:spPr>
          <a:xfrm>
            <a:off x="5201946" y="4672691"/>
            <a:ext cx="52251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71"/>
          <p:cNvSpPr txBox="1"/>
          <p:nvPr/>
        </p:nvSpPr>
        <p:spPr>
          <a:xfrm>
            <a:off x="5513074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4 6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03" name="直接箭头连接符 102"/>
          <p:cNvCxnSpPr>
            <a:stCxn id="95" idx="2"/>
            <a:endCxn id="102" idx="0"/>
          </p:cNvCxnSpPr>
          <p:nvPr/>
        </p:nvCxnSpPr>
        <p:spPr>
          <a:xfrm>
            <a:off x="5201944" y="4672691"/>
            <a:ext cx="509130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59"/>
          <p:cNvSpPr txBox="1"/>
          <p:nvPr/>
        </p:nvSpPr>
        <p:spPr>
          <a:xfrm>
            <a:off x="5688040" y="4456690"/>
            <a:ext cx="54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5-{6}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07" name="直接箭头连接符 106"/>
          <p:cNvCxnSpPr>
            <a:stCxn id="35" idx="2"/>
            <a:endCxn id="106" idx="0"/>
          </p:cNvCxnSpPr>
          <p:nvPr/>
        </p:nvCxnSpPr>
        <p:spPr>
          <a:xfrm>
            <a:off x="5958024" y="3875019"/>
            <a:ext cx="16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159"/>
          <p:cNvSpPr txBox="1"/>
          <p:nvPr/>
        </p:nvSpPr>
        <p:spPr>
          <a:xfrm>
            <a:off x="1439568" y="4456690"/>
            <a:ext cx="90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2-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{3 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8" name="文本框 160"/>
          <p:cNvSpPr txBox="1"/>
          <p:nvPr/>
        </p:nvSpPr>
        <p:spPr>
          <a:xfrm>
            <a:off x="3815968" y="4456690"/>
            <a:ext cx="82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3 -{4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51" name="直接箭头连接符 50"/>
          <p:cNvCxnSpPr>
            <a:stCxn id="33" idx="2"/>
            <a:endCxn id="47" idx="0"/>
          </p:cNvCxnSpPr>
          <p:nvPr/>
        </p:nvCxnSpPr>
        <p:spPr>
          <a:xfrm flipH="1">
            <a:off x="1889568" y="3875019"/>
            <a:ext cx="432048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3" idx="2"/>
            <a:endCxn id="48" idx="0"/>
          </p:cNvCxnSpPr>
          <p:nvPr/>
        </p:nvCxnSpPr>
        <p:spPr>
          <a:xfrm>
            <a:off x="2321616" y="3875019"/>
            <a:ext cx="1908352" cy="581673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165"/>
          <p:cNvSpPr txBox="1"/>
          <p:nvPr/>
        </p:nvSpPr>
        <p:spPr>
          <a:xfrm>
            <a:off x="2339752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100" b="1" kern="100" dirty="0">
                <a:latin typeface="Gulim"/>
                <a:ea typeface="宋体"/>
                <a:cs typeface="Times New Roman"/>
              </a:rPr>
              <a:t>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70" name="直接箭头连接符 69"/>
          <p:cNvCxnSpPr>
            <a:stCxn id="65" idx="2"/>
            <a:endCxn id="69" idx="0"/>
          </p:cNvCxnSpPr>
          <p:nvPr/>
        </p:nvCxnSpPr>
        <p:spPr>
          <a:xfrm flipH="1">
            <a:off x="341552" y="4672691"/>
            <a:ext cx="18016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167"/>
          <p:cNvSpPr txBox="1"/>
          <p:nvPr/>
        </p:nvSpPr>
        <p:spPr>
          <a:xfrm>
            <a:off x="4142437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58" name="直接箭头连接符 57"/>
          <p:cNvCxnSpPr>
            <a:stCxn id="47" idx="2"/>
            <a:endCxn id="59" idx="0"/>
          </p:cNvCxnSpPr>
          <p:nvPr/>
        </p:nvCxnSpPr>
        <p:spPr>
          <a:xfrm flipH="1">
            <a:off x="1655264" y="4672691"/>
            <a:ext cx="234304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171"/>
          <p:cNvSpPr txBox="1"/>
          <p:nvPr/>
        </p:nvSpPr>
        <p:spPr>
          <a:xfrm>
            <a:off x="1457264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60" name="文本框 172"/>
          <p:cNvSpPr txBox="1"/>
          <p:nvPr/>
        </p:nvSpPr>
        <p:spPr>
          <a:xfrm>
            <a:off x="4599316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61" name="文本框 173"/>
          <p:cNvSpPr txBox="1"/>
          <p:nvPr/>
        </p:nvSpPr>
        <p:spPr>
          <a:xfrm>
            <a:off x="2771800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1 5 6</a:t>
            </a:r>
            <a:endParaRPr lang="zh-CN" altLang="en-US" sz="1100" kern="10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2" name="直接箭头连接符 61"/>
          <p:cNvCxnSpPr>
            <a:stCxn id="47" idx="2"/>
            <a:endCxn id="53" idx="0"/>
          </p:cNvCxnSpPr>
          <p:nvPr/>
        </p:nvCxnSpPr>
        <p:spPr>
          <a:xfrm>
            <a:off x="1889568" y="4672691"/>
            <a:ext cx="648184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48" idx="2"/>
            <a:endCxn id="55" idx="0"/>
          </p:cNvCxnSpPr>
          <p:nvPr/>
        </p:nvCxnSpPr>
        <p:spPr>
          <a:xfrm>
            <a:off x="4229970" y="4672691"/>
            <a:ext cx="110469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167"/>
          <p:cNvSpPr txBox="1"/>
          <p:nvPr/>
        </p:nvSpPr>
        <p:spPr>
          <a:xfrm>
            <a:off x="575600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1 4 6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75" name="直接箭头连接符 74"/>
          <p:cNvCxnSpPr>
            <a:stCxn id="65" idx="2"/>
            <a:endCxn id="74" idx="0"/>
          </p:cNvCxnSpPr>
          <p:nvPr/>
        </p:nvCxnSpPr>
        <p:spPr>
          <a:xfrm>
            <a:off x="359568" y="4672691"/>
            <a:ext cx="414032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159"/>
          <p:cNvSpPr txBox="1"/>
          <p:nvPr/>
        </p:nvSpPr>
        <p:spPr>
          <a:xfrm>
            <a:off x="2375672" y="4456690"/>
            <a:ext cx="54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5-{6}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86" name="直接箭头连接符 85"/>
          <p:cNvCxnSpPr>
            <a:stCxn id="33" idx="2"/>
            <a:endCxn id="85" idx="0"/>
          </p:cNvCxnSpPr>
          <p:nvPr/>
        </p:nvCxnSpPr>
        <p:spPr>
          <a:xfrm>
            <a:off x="2321616" y="3875019"/>
            <a:ext cx="324056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087744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划去线"/>
          <p:cNvCxnSpPr/>
          <p:nvPr/>
        </p:nvCxnSpPr>
        <p:spPr>
          <a:xfrm>
            <a:off x="1799704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划去线"/>
          <p:cNvCxnSpPr/>
          <p:nvPr/>
        </p:nvCxnSpPr>
        <p:spPr>
          <a:xfrm>
            <a:off x="1907704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划去线"/>
          <p:cNvCxnSpPr/>
          <p:nvPr/>
        </p:nvCxnSpPr>
        <p:spPr>
          <a:xfrm>
            <a:off x="2051720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划去线"/>
          <p:cNvCxnSpPr/>
          <p:nvPr/>
        </p:nvCxnSpPr>
        <p:spPr>
          <a:xfrm>
            <a:off x="2195736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划去线"/>
          <p:cNvCxnSpPr/>
          <p:nvPr/>
        </p:nvCxnSpPr>
        <p:spPr>
          <a:xfrm>
            <a:off x="2231752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划去线"/>
          <p:cNvCxnSpPr/>
          <p:nvPr/>
        </p:nvCxnSpPr>
        <p:spPr>
          <a:xfrm>
            <a:off x="4247976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划去线"/>
          <p:cNvCxnSpPr/>
          <p:nvPr/>
        </p:nvCxnSpPr>
        <p:spPr>
          <a:xfrm>
            <a:off x="4355976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划去线"/>
          <p:cNvCxnSpPr/>
          <p:nvPr/>
        </p:nvCxnSpPr>
        <p:spPr>
          <a:xfrm>
            <a:off x="4464000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划去线"/>
          <p:cNvCxnSpPr/>
          <p:nvPr/>
        </p:nvCxnSpPr>
        <p:spPr>
          <a:xfrm>
            <a:off x="2339752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划去线"/>
          <p:cNvCxnSpPr/>
          <p:nvPr/>
        </p:nvCxnSpPr>
        <p:spPr>
          <a:xfrm>
            <a:off x="395536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划去线"/>
          <p:cNvCxnSpPr/>
          <p:nvPr/>
        </p:nvCxnSpPr>
        <p:spPr>
          <a:xfrm>
            <a:off x="503560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划去线"/>
          <p:cNvCxnSpPr/>
          <p:nvPr/>
        </p:nvCxnSpPr>
        <p:spPr>
          <a:xfrm>
            <a:off x="2492152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划去线"/>
          <p:cNvCxnSpPr/>
          <p:nvPr/>
        </p:nvCxnSpPr>
        <p:spPr>
          <a:xfrm>
            <a:off x="2735808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划去线"/>
          <p:cNvCxnSpPr/>
          <p:nvPr/>
        </p:nvCxnSpPr>
        <p:spPr>
          <a:xfrm>
            <a:off x="5573396" y="2996952"/>
            <a:ext cx="72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划去线"/>
          <p:cNvCxnSpPr/>
          <p:nvPr/>
        </p:nvCxnSpPr>
        <p:spPr>
          <a:xfrm>
            <a:off x="5710448" y="2996952"/>
            <a:ext cx="72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划去线"/>
          <p:cNvCxnSpPr/>
          <p:nvPr/>
        </p:nvCxnSpPr>
        <p:spPr>
          <a:xfrm>
            <a:off x="5832152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划去线"/>
          <p:cNvCxnSpPr/>
          <p:nvPr/>
        </p:nvCxnSpPr>
        <p:spPr>
          <a:xfrm>
            <a:off x="7020272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划去线"/>
          <p:cNvCxnSpPr/>
          <p:nvPr/>
        </p:nvCxnSpPr>
        <p:spPr>
          <a:xfrm>
            <a:off x="7164288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划去线"/>
          <p:cNvCxnSpPr/>
          <p:nvPr/>
        </p:nvCxnSpPr>
        <p:spPr>
          <a:xfrm>
            <a:off x="7308304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划去线"/>
          <p:cNvCxnSpPr/>
          <p:nvPr/>
        </p:nvCxnSpPr>
        <p:spPr>
          <a:xfrm>
            <a:off x="5940152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划去线"/>
          <p:cNvCxnSpPr/>
          <p:nvPr/>
        </p:nvCxnSpPr>
        <p:spPr>
          <a:xfrm>
            <a:off x="5220072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划去线"/>
          <p:cNvCxnSpPr/>
          <p:nvPr/>
        </p:nvCxnSpPr>
        <p:spPr>
          <a:xfrm>
            <a:off x="5372472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划去线"/>
          <p:cNvCxnSpPr/>
          <p:nvPr/>
        </p:nvCxnSpPr>
        <p:spPr>
          <a:xfrm>
            <a:off x="6048176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划去线"/>
          <p:cNvCxnSpPr/>
          <p:nvPr/>
        </p:nvCxnSpPr>
        <p:spPr>
          <a:xfrm>
            <a:off x="6048176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划去线"/>
          <p:cNvCxnSpPr/>
          <p:nvPr/>
        </p:nvCxnSpPr>
        <p:spPr>
          <a:xfrm>
            <a:off x="5847500" y="2996952"/>
            <a:ext cx="72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划去线"/>
          <p:cNvCxnSpPr/>
          <p:nvPr/>
        </p:nvCxnSpPr>
        <p:spPr>
          <a:xfrm>
            <a:off x="8424440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划去线"/>
          <p:cNvCxnSpPr/>
          <p:nvPr/>
        </p:nvCxnSpPr>
        <p:spPr>
          <a:xfrm>
            <a:off x="7920384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划去线"/>
          <p:cNvCxnSpPr/>
          <p:nvPr/>
        </p:nvCxnSpPr>
        <p:spPr>
          <a:xfrm>
            <a:off x="8072784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划去线"/>
          <p:cNvCxnSpPr/>
          <p:nvPr/>
        </p:nvCxnSpPr>
        <p:spPr>
          <a:xfrm>
            <a:off x="8568456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划去线"/>
          <p:cNvCxnSpPr/>
          <p:nvPr/>
        </p:nvCxnSpPr>
        <p:spPr>
          <a:xfrm>
            <a:off x="8676456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划去线"/>
          <p:cNvCxnSpPr/>
          <p:nvPr/>
        </p:nvCxnSpPr>
        <p:spPr>
          <a:xfrm>
            <a:off x="5984552" y="2996952"/>
            <a:ext cx="72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划去线"/>
          <p:cNvCxnSpPr/>
          <p:nvPr/>
        </p:nvCxnSpPr>
        <p:spPr>
          <a:xfrm>
            <a:off x="3059832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划去线"/>
          <p:cNvCxnSpPr/>
          <p:nvPr/>
        </p:nvCxnSpPr>
        <p:spPr>
          <a:xfrm>
            <a:off x="3311872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02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5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5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5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5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5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5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5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50"/>
                            </p:stCondLst>
                            <p:childTnLst>
                              <p:par>
                                <p:cTn id="2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500"/>
                            </p:stCondLst>
                            <p:childTnLst>
                              <p:par>
                                <p:cTn id="2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250"/>
                            </p:stCondLst>
                            <p:childTnLst>
                              <p:par>
                                <p:cTn id="2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00"/>
                            </p:stCondLst>
                            <p:childTnLst>
                              <p:par>
                                <p:cTn id="2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250"/>
                            </p:stCondLst>
                            <p:childTnLst>
                              <p:par>
                                <p:cTn id="2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"/>
                            </p:stCondLst>
                            <p:childTnLst>
                              <p:par>
                                <p:cTn id="2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25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500"/>
                            </p:stCondLst>
                            <p:childTnLst>
                              <p:par>
                                <p:cTn id="2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1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250"/>
                            </p:stCondLst>
                            <p:childTnLst>
                              <p:par>
                                <p:cTn id="2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50"/>
                            </p:stCondLst>
                            <p:childTnLst>
                              <p:par>
                                <p:cTn id="2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500"/>
                            </p:stCondLst>
                            <p:childTnLst>
                              <p:par>
                                <p:cTn id="2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250"/>
                            </p:stCondLst>
                            <p:childTnLst>
                              <p:par>
                                <p:cTn id="2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500"/>
                            </p:stCondLst>
                            <p:childTnLst>
                              <p:par>
                                <p:cTn id="2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0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250"/>
                            </p:stCondLst>
                            <p:childTnLst>
                              <p:par>
                                <p:cTn id="2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500"/>
                            </p:stCondLst>
                            <p:childTnLst>
                              <p:par>
                                <p:cTn id="2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2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3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250"/>
                            </p:stCondLst>
                            <p:childTnLst>
                              <p:par>
                                <p:cTn id="3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500"/>
                            </p:stCondLst>
                            <p:childTnLst>
                              <p:par>
                                <p:cTn id="3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1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6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250"/>
                            </p:stCondLst>
                            <p:childTnLst>
                              <p:par>
                                <p:cTn id="3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500"/>
                            </p:stCondLst>
                            <p:childTnLst>
                              <p:par>
                                <p:cTn id="3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2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9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50"/>
                            </p:stCondLst>
                            <p:childTnLst>
                              <p:par>
                                <p:cTn id="3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00"/>
                            </p:stCondLst>
                            <p:childTnLst>
                              <p:par>
                                <p:cTn id="3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7" dur="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2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250"/>
                            </p:stCondLst>
                            <p:childTnLst>
                              <p:par>
                                <p:cTn id="3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500"/>
                            </p:stCondLst>
                            <p:childTnLst>
                              <p:par>
                                <p:cTn id="3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0" dur="2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5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250"/>
                            </p:stCondLst>
                            <p:childTnLst>
                              <p:par>
                                <p:cTn id="3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500"/>
                            </p:stCondLst>
                            <p:childTnLst>
                              <p:par>
                                <p:cTn id="3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3" dur="2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8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250"/>
                            </p:stCondLst>
                            <p:childTnLst>
                              <p:par>
                                <p:cTn id="3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500"/>
                            </p:stCondLst>
                            <p:childTnLst>
                              <p:par>
                                <p:cTn id="3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6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1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250"/>
                            </p:stCondLst>
                            <p:childTnLst>
                              <p:par>
                                <p:cTn id="3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500"/>
                            </p:stCondLst>
                            <p:childTnLst>
                              <p:par>
                                <p:cTn id="3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9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4" dur="2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250"/>
                            </p:stCondLst>
                            <p:childTnLst>
                              <p:par>
                                <p:cTn id="3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2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500"/>
                            </p:stCondLst>
                            <p:childTnLst>
                              <p:par>
                                <p:cTn id="4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2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7" dur="25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250"/>
                            </p:stCondLst>
                            <p:childTnLst>
                              <p:par>
                                <p:cTn id="4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2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500"/>
                            </p:stCondLst>
                            <p:childTnLst>
                              <p:par>
                                <p:cTn id="4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5" dur="2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0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1" fill="hold">
                            <p:stCondLst>
                              <p:cond delay="250"/>
                            </p:stCondLst>
                            <p:childTnLst>
                              <p:par>
                                <p:cTn id="4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500"/>
                            </p:stCondLst>
                            <p:childTnLst>
                              <p:par>
                                <p:cTn id="4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8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3" dur="2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250"/>
                            </p:stCondLst>
                            <p:childTnLst>
                              <p:par>
                                <p:cTn id="4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2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500"/>
                            </p:stCondLst>
                            <p:childTnLst>
                              <p:par>
                                <p:cTn id="4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1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6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7" fill="hold">
                            <p:stCondLst>
                              <p:cond delay="250"/>
                            </p:stCondLst>
                            <p:childTnLst>
                              <p:par>
                                <p:cTn id="4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0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1" fill="hold">
                            <p:stCondLst>
                              <p:cond delay="500"/>
                            </p:stCondLst>
                            <p:childTnLst>
                              <p:par>
                                <p:cTn id="4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4" dur="2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1" grpId="0" animBg="1"/>
      <p:bldP spid="77" grpId="0" animBg="1"/>
      <p:bldP spid="49" grpId="0"/>
      <p:bldP spid="113" grpId="0" animBg="1"/>
      <p:bldP spid="120" grpId="0" animBg="1"/>
      <p:bldP spid="128" grpId="0" animBg="1"/>
      <p:bldP spid="132" grpId="0" animBg="1"/>
      <p:bldP spid="135" grpId="0" animBg="1"/>
      <p:bldP spid="140" grpId="0" animBg="1"/>
      <p:bldP spid="108" grpId="0" animBg="1"/>
      <p:bldP spid="87" grpId="0" animBg="1"/>
      <p:bldP spid="124" grpId="0" animBg="1"/>
      <p:bldP spid="50" grpId="0" animBg="1"/>
      <p:bldP spid="33" grpId="0" animBg="1"/>
      <p:bldP spid="32" grpId="0" animBg="1"/>
      <p:bldP spid="57" grpId="0" animBg="1"/>
      <p:bldP spid="54" grpId="0" animBg="1"/>
      <p:bldP spid="72" grpId="0" animBg="1"/>
      <p:bldP spid="73" grpId="0" animBg="1"/>
      <p:bldP spid="65" grpId="0" animBg="1"/>
      <p:bldP spid="69" grpId="0" animBg="1"/>
      <p:bldP spid="88" grpId="0" animBg="1"/>
      <p:bldP spid="95" grpId="0" animBg="1"/>
      <p:bldP spid="99" grpId="0" animBg="1"/>
      <p:bldP spid="102" grpId="0" animBg="1"/>
      <p:bldP spid="106" grpId="0" animBg="1"/>
      <p:bldP spid="47" grpId="0" animBg="1"/>
      <p:bldP spid="48" grpId="0" animBg="1"/>
      <p:bldP spid="53" grpId="0" animBg="1"/>
      <p:bldP spid="55" grpId="0" animBg="1"/>
      <p:bldP spid="59" grpId="0" animBg="1"/>
      <p:bldP spid="60" grpId="0" animBg="1"/>
      <p:bldP spid="61" grpId="0" animBg="1"/>
      <p:bldP spid="74" grpId="0" animBg="1"/>
      <p:bldP spid="8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118" name="内容占位符 1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细黑" pitchFamily="2" charset="-122"/>
              </a:rPr>
              <a:t>【</a:t>
            </a:r>
            <a:r>
              <a:rPr lang="zh-CN" altLang="en-US" dirty="0">
                <a:latin typeface="华文细黑" pitchFamily="2" charset="-122"/>
              </a:rPr>
              <a:t>例</a:t>
            </a:r>
            <a:r>
              <a:rPr lang="en-US" altLang="zh-CN" dirty="0">
                <a:latin typeface="华文细黑" pitchFamily="2" charset="-122"/>
              </a:rPr>
              <a:t>】</a:t>
            </a:r>
            <a:r>
              <a:rPr lang="zh-CN" altLang="en-US" dirty="0">
                <a:latin typeface="华文细黑" pitchFamily="2" charset="-122"/>
              </a:rPr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  <a:p>
            <a:pPr marL="82296" indent="0"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36</a:t>
            </a:fld>
            <a:endParaRPr lang="zh-CN" altLang="en-US"/>
          </a:p>
        </p:txBody>
      </p:sp>
      <p:grpSp>
        <p:nvGrpSpPr>
          <p:cNvPr id="29" name="组合 28"/>
          <p:cNvGrpSpPr>
            <a:grpSpLocks noChangeAspect="1"/>
          </p:cNvGrpSpPr>
          <p:nvPr/>
        </p:nvGrpSpPr>
        <p:grpSpPr>
          <a:xfrm>
            <a:off x="5949008" y="1095942"/>
            <a:ext cx="3015479" cy="808213"/>
            <a:chOff x="5481517" y="2060848"/>
            <a:chExt cx="2126718" cy="760008"/>
          </a:xfrm>
        </p:grpSpPr>
        <p:sp>
          <p:nvSpPr>
            <p:cNvPr id="30" name="文本框 26"/>
            <p:cNvSpPr txBox="1"/>
            <p:nvPr/>
          </p:nvSpPr>
          <p:spPr>
            <a:xfrm>
              <a:off x="6358296" y="2060848"/>
              <a:ext cx="547184" cy="260478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31" name="流程图: 联系 30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32" name="直接箭头连接符 31"/>
            <p:cNvCxnSpPr>
              <a:stCxn id="31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31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stCxn id="31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 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4, 7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36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37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3, 6, 9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5220448" y="2624426"/>
            <a:ext cx="338400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: </a:t>
            </a:r>
          </a:p>
          <a:p>
            <a:pPr marL="266700" lvl="1">
              <a:spcBef>
                <a:spcPct val="50000"/>
              </a:spcBef>
            </a:pP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{1 2 3 5}, {1 2 3 6}, {1 2 5 6}, {1 3 5 6}, {2 3 5 6}</a:t>
            </a:r>
          </a:p>
        </p:txBody>
      </p:sp>
      <p:sp>
        <p:nvSpPr>
          <p:cNvPr id="28" name="矩形 27"/>
          <p:cNvSpPr/>
          <p:nvPr/>
        </p:nvSpPr>
        <p:spPr>
          <a:xfrm>
            <a:off x="611936" y="2624426"/>
            <a:ext cx="4320000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: </a:t>
            </a:r>
          </a:p>
          <a:p>
            <a:pPr marL="266700" lvl="1">
              <a:spcBef>
                <a:spcPct val="50000"/>
              </a:spcBef>
            </a:pP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{1 2 3}, {1 2 5}, {1 2 6}, {1 3 5}, {1 3 6}, {1 5 6}, {2 3 5}, {2 3 6}, {2 5 6}, {3 5 6}</a:t>
            </a:r>
          </a:p>
        </p:txBody>
      </p:sp>
    </p:spTree>
    <p:extLst>
      <p:ext uri="{BB962C8B-B14F-4D97-AF65-F5344CB8AC3E}">
        <p14:creationId xmlns:p14="http://schemas.microsoft.com/office/powerpoint/2010/main" val="239426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118" name="内容占位符 1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细黑" pitchFamily="2" charset="-122"/>
              </a:rPr>
              <a:t>【</a:t>
            </a:r>
            <a:r>
              <a:rPr lang="zh-CN" altLang="en-US" dirty="0">
                <a:latin typeface="华文细黑" pitchFamily="2" charset="-122"/>
              </a:rPr>
              <a:t>例</a:t>
            </a:r>
            <a:r>
              <a:rPr lang="en-US" altLang="zh-CN" dirty="0">
                <a:latin typeface="华文细黑" pitchFamily="2" charset="-122"/>
              </a:rPr>
              <a:t>】</a:t>
            </a:r>
            <a:r>
              <a:rPr lang="zh-CN" altLang="en-US" dirty="0">
                <a:latin typeface="华文细黑" pitchFamily="2" charset="-122"/>
              </a:rPr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  <a:p>
            <a:pPr marL="82296" indent="0">
              <a:buNone/>
            </a:pPr>
            <a:endParaRPr lang="zh-CN" altLang="en-US" dirty="0"/>
          </a:p>
        </p:txBody>
      </p:sp>
      <p:cxnSp>
        <p:nvCxnSpPr>
          <p:cNvPr id="155" name="直接箭头连接符 154"/>
          <p:cNvCxnSpPr>
            <a:stCxn id="182" idx="2"/>
            <a:endCxn id="180" idx="0"/>
          </p:cNvCxnSpPr>
          <p:nvPr/>
        </p:nvCxnSpPr>
        <p:spPr>
          <a:xfrm flipH="1">
            <a:off x="2321616" y="3104964"/>
            <a:ext cx="3618376" cy="554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文本框 171"/>
          <p:cNvSpPr txBox="1"/>
          <p:nvPr/>
        </p:nvSpPr>
        <p:spPr>
          <a:xfrm>
            <a:off x="1914143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100" b="1" kern="100" dirty="0">
                <a:latin typeface="Gulim"/>
                <a:ea typeface="宋体"/>
                <a:cs typeface="Times New Roman"/>
              </a:rPr>
              <a:t>3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76" name="直接箭头连接符 175"/>
          <p:cNvCxnSpPr>
            <a:stCxn id="205" idx="2"/>
            <a:endCxn id="175" idx="0"/>
          </p:cNvCxnSpPr>
          <p:nvPr/>
        </p:nvCxnSpPr>
        <p:spPr>
          <a:xfrm>
            <a:off x="1889570" y="4672691"/>
            <a:ext cx="222575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54"/>
          <p:cNvSpPr txBox="1"/>
          <p:nvPr/>
        </p:nvSpPr>
        <p:spPr>
          <a:xfrm>
            <a:off x="1871616" y="3659018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1-{2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82" name="文本框 151"/>
          <p:cNvSpPr txBox="1"/>
          <p:nvPr/>
        </p:nvSpPr>
        <p:spPr>
          <a:xfrm>
            <a:off x="5255992" y="2904410"/>
            <a:ext cx="1368000" cy="20055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{</a:t>
            </a:r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205" name="文本框 159"/>
          <p:cNvSpPr txBox="1"/>
          <p:nvPr/>
        </p:nvSpPr>
        <p:spPr>
          <a:xfrm>
            <a:off x="1439568" y="4456690"/>
            <a:ext cx="90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2-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{3}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207" name="直接箭头连接符 206"/>
          <p:cNvCxnSpPr>
            <a:stCxn id="180" idx="2"/>
            <a:endCxn id="205" idx="0"/>
          </p:cNvCxnSpPr>
          <p:nvPr/>
        </p:nvCxnSpPr>
        <p:spPr>
          <a:xfrm flipH="1">
            <a:off x="1889568" y="3875019"/>
            <a:ext cx="432048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/>
          <p:nvPr/>
        </p:nvCxnSpPr>
        <p:spPr>
          <a:xfrm>
            <a:off x="2303760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划去线"/>
          <p:cNvCxnSpPr/>
          <p:nvPr/>
        </p:nvCxnSpPr>
        <p:spPr>
          <a:xfrm>
            <a:off x="1979712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划去线"/>
          <p:cNvCxnSpPr/>
          <p:nvPr/>
        </p:nvCxnSpPr>
        <p:spPr>
          <a:xfrm>
            <a:off x="5778000" y="2981250"/>
            <a:ext cx="72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0" y="2197663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: {1 2 3}, {1 2 5}, {1 2 6}, {1 3 5}, {1 3 6}, {1 5 6}, {2 3 5}, {2 3 6}, {2 5 6}, {3 5 6}</a:t>
            </a:r>
          </a:p>
        </p:txBody>
      </p:sp>
      <p:sp>
        <p:nvSpPr>
          <p:cNvPr id="258" name="矩形 257"/>
          <p:cNvSpPr/>
          <p:nvPr/>
        </p:nvSpPr>
        <p:spPr>
          <a:xfrm>
            <a:off x="1331640" y="2195370"/>
            <a:ext cx="648000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indent="-190500"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{1</a:t>
            </a:r>
            <a:r>
              <a:rPr lang="en-US" altLang="zh-CN" b="1" kern="1400" dirty="0"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 </a:t>
            </a:r>
            <a:r>
              <a:rPr lang="en-US" altLang="zh-CN" b="1" dirty="0"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2 3}</a:t>
            </a:r>
          </a:p>
        </p:txBody>
      </p:sp>
      <p:sp>
        <p:nvSpPr>
          <p:cNvPr id="259" name="矩形 258"/>
          <p:cNvSpPr/>
          <p:nvPr/>
        </p:nvSpPr>
        <p:spPr>
          <a:xfrm>
            <a:off x="264136" y="2544310"/>
            <a:ext cx="35830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由候选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3-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项集生成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Hash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树结构</a:t>
            </a:r>
            <a:endParaRPr lang="en-US" altLang="zh-CN" b="1" dirty="0">
              <a:latin typeface="Gulim" pitchFamily="34" charset="-127"/>
              <a:ea typeface="Gulim" pitchFamily="34" charset="-127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37</a:t>
            </a:fld>
            <a:endParaRPr lang="zh-CN" altLang="en-US"/>
          </a:p>
        </p:txBody>
      </p:sp>
      <p:grpSp>
        <p:nvGrpSpPr>
          <p:cNvPr id="29" name="组合 28"/>
          <p:cNvGrpSpPr>
            <a:grpSpLocks noChangeAspect="1"/>
          </p:cNvGrpSpPr>
          <p:nvPr/>
        </p:nvGrpSpPr>
        <p:grpSpPr>
          <a:xfrm>
            <a:off x="5949008" y="1095942"/>
            <a:ext cx="3015479" cy="808213"/>
            <a:chOff x="5481517" y="2060848"/>
            <a:chExt cx="2126718" cy="760008"/>
          </a:xfrm>
        </p:grpSpPr>
        <p:sp>
          <p:nvSpPr>
            <p:cNvPr id="30" name="文本框 26"/>
            <p:cNvSpPr txBox="1"/>
            <p:nvPr/>
          </p:nvSpPr>
          <p:spPr>
            <a:xfrm>
              <a:off x="6358296" y="2060848"/>
              <a:ext cx="547184" cy="260478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31" name="流程图: 联系 30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32" name="直接箭头连接符 31"/>
            <p:cNvCxnSpPr>
              <a:stCxn id="31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31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stCxn id="31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 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4, 7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36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37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3, 6, 9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472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5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animBg="1"/>
      <p:bldP spid="180" grpId="0" animBg="1"/>
      <p:bldP spid="182" grpId="0" animBg="1"/>
      <p:bldP spid="205" grpId="0" animBg="1"/>
      <p:bldP spid="152" grpId="0"/>
      <p:bldP spid="258" grpId="0" animBg="1"/>
      <p:bldP spid="25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118" name="内容占位符 1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细黑" pitchFamily="2" charset="-122"/>
              </a:rPr>
              <a:t>【</a:t>
            </a:r>
            <a:r>
              <a:rPr lang="zh-CN" altLang="en-US" dirty="0">
                <a:latin typeface="华文细黑" pitchFamily="2" charset="-122"/>
              </a:rPr>
              <a:t>例</a:t>
            </a:r>
            <a:r>
              <a:rPr lang="en-US" altLang="zh-CN" dirty="0">
                <a:latin typeface="华文细黑" pitchFamily="2" charset="-122"/>
              </a:rPr>
              <a:t>】</a:t>
            </a:r>
            <a:r>
              <a:rPr lang="zh-CN" altLang="en-US" dirty="0">
                <a:latin typeface="华文细黑" pitchFamily="2" charset="-122"/>
              </a:rPr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  <a:p>
            <a:pPr marL="82296" indent="0">
              <a:buNone/>
            </a:pPr>
            <a:endParaRPr lang="zh-CN" altLang="en-US" dirty="0"/>
          </a:p>
        </p:txBody>
      </p:sp>
      <p:grpSp>
        <p:nvGrpSpPr>
          <p:cNvPr id="115" name="组合 114"/>
          <p:cNvGrpSpPr>
            <a:grpSpLocks noChangeAspect="1"/>
          </p:cNvGrpSpPr>
          <p:nvPr/>
        </p:nvGrpSpPr>
        <p:grpSpPr>
          <a:xfrm>
            <a:off x="5539007" y="1095941"/>
            <a:ext cx="3425480" cy="918102"/>
            <a:chOff x="5481517" y="2060848"/>
            <a:chExt cx="2126718" cy="760008"/>
          </a:xfrm>
        </p:grpSpPr>
        <p:sp>
          <p:nvSpPr>
            <p:cNvPr id="10" name="文本框 26"/>
            <p:cNvSpPr txBox="1"/>
            <p:nvPr/>
          </p:nvSpPr>
          <p:spPr>
            <a:xfrm>
              <a:off x="6391042" y="2060848"/>
              <a:ext cx="481690" cy="22930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11" name="流程图: 联系 10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12" name="直接箭头连接符 11"/>
            <p:cNvCxnSpPr>
              <a:stCxn id="11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11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11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 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4, 7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7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8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3, 6, 9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175" name="文本框 171"/>
          <p:cNvSpPr txBox="1"/>
          <p:nvPr/>
        </p:nvSpPr>
        <p:spPr>
          <a:xfrm>
            <a:off x="1914143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100" b="1" kern="100" dirty="0">
                <a:latin typeface="Gulim"/>
                <a:ea typeface="宋体"/>
                <a:cs typeface="Times New Roman"/>
              </a:rPr>
              <a:t>3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76" name="直接箭头连接符 175"/>
          <p:cNvCxnSpPr>
            <a:stCxn id="205" idx="2"/>
            <a:endCxn id="175" idx="0"/>
          </p:cNvCxnSpPr>
          <p:nvPr/>
        </p:nvCxnSpPr>
        <p:spPr>
          <a:xfrm>
            <a:off x="1889570" y="4672691"/>
            <a:ext cx="222575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54"/>
          <p:cNvSpPr txBox="1"/>
          <p:nvPr/>
        </p:nvSpPr>
        <p:spPr>
          <a:xfrm>
            <a:off x="1871616" y="3659018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1-{2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82" name="文本框 151"/>
          <p:cNvSpPr txBox="1"/>
          <p:nvPr/>
        </p:nvSpPr>
        <p:spPr>
          <a:xfrm>
            <a:off x="5255992" y="2904410"/>
            <a:ext cx="1368000" cy="20055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{</a:t>
            </a:r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205" name="文本框 159"/>
          <p:cNvSpPr txBox="1"/>
          <p:nvPr/>
        </p:nvSpPr>
        <p:spPr>
          <a:xfrm>
            <a:off x="1439568" y="4456690"/>
            <a:ext cx="90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2-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{3}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29" name="文本框 154"/>
          <p:cNvSpPr txBox="1"/>
          <p:nvPr/>
        </p:nvSpPr>
        <p:spPr>
          <a:xfrm>
            <a:off x="1871616" y="3659018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1-{2 </a:t>
            </a:r>
            <a:r>
              <a:rPr lang="en-US" altLang="zh-CN" sz="11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5</a:t>
            </a:r>
            <a:r>
              <a:rPr lang="en-US" sz="11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}</a:t>
            </a:r>
            <a:endParaRPr lang="zh-CN" altLang="en-US" sz="1100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30" name="文本框 151"/>
          <p:cNvSpPr txBox="1"/>
          <p:nvPr/>
        </p:nvSpPr>
        <p:spPr>
          <a:xfrm>
            <a:off x="5255992" y="2904410"/>
            <a:ext cx="1368000" cy="20055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{</a:t>
            </a:r>
            <a:r>
              <a:rPr lang="en-US" sz="1200" b="1" kern="10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2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5</a:t>
            </a:r>
            <a:r>
              <a:rPr lang="en-US" sz="12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}</a:t>
            </a:r>
            <a:endParaRPr lang="zh-CN" altLang="en-US" sz="1200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31" name="文本框 159"/>
          <p:cNvSpPr txBox="1"/>
          <p:nvPr/>
        </p:nvSpPr>
        <p:spPr>
          <a:xfrm>
            <a:off x="1439568" y="4456690"/>
            <a:ext cx="90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1 2-</a:t>
            </a:r>
            <a:r>
              <a:rPr lang="en-US" sz="11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{</a:t>
            </a:r>
            <a:r>
              <a:rPr lang="en-US" altLang="zh-CN" sz="11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5</a:t>
            </a:r>
            <a:r>
              <a:rPr lang="en-US" sz="11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}</a:t>
            </a:r>
            <a:endParaRPr lang="zh-CN" altLang="en-US" sz="1100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32" name="直接箭头连接符 31"/>
          <p:cNvCxnSpPr>
            <a:stCxn id="29" idx="2"/>
            <a:endCxn id="31" idx="0"/>
          </p:cNvCxnSpPr>
          <p:nvPr/>
        </p:nvCxnSpPr>
        <p:spPr>
          <a:xfrm flipH="1">
            <a:off x="1889568" y="3875019"/>
            <a:ext cx="432048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303760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划去线"/>
          <p:cNvCxnSpPr/>
          <p:nvPr/>
        </p:nvCxnSpPr>
        <p:spPr>
          <a:xfrm>
            <a:off x="1979712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划去线"/>
          <p:cNvCxnSpPr/>
          <p:nvPr/>
        </p:nvCxnSpPr>
        <p:spPr>
          <a:xfrm>
            <a:off x="5760144" y="2956086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endCxn id="37" idx="0"/>
          </p:cNvCxnSpPr>
          <p:nvPr/>
        </p:nvCxnSpPr>
        <p:spPr>
          <a:xfrm flipH="1">
            <a:off x="1655264" y="4672691"/>
            <a:ext cx="234304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171"/>
          <p:cNvSpPr txBox="1"/>
          <p:nvPr/>
        </p:nvSpPr>
        <p:spPr>
          <a:xfrm>
            <a:off x="1457264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0" y="2197663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: {1 2 3}, {1 2 5}, {1 2 6}, {1 3 5}, {1 3 6}, {1 5 6}, {2 3 5}, {2 3 6}, {2 5 6}, {3 5 6}</a:t>
            </a:r>
          </a:p>
        </p:txBody>
      </p:sp>
      <p:sp>
        <p:nvSpPr>
          <p:cNvPr id="39" name="矩形 38"/>
          <p:cNvSpPr/>
          <p:nvPr/>
        </p:nvSpPr>
        <p:spPr>
          <a:xfrm>
            <a:off x="264136" y="2544310"/>
            <a:ext cx="35830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由候选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3-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项集生成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Hash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树结构</a:t>
            </a:r>
            <a:endParaRPr lang="en-US" altLang="zh-CN" b="1" dirty="0">
              <a:latin typeface="Gulim" pitchFamily="34" charset="-127"/>
              <a:ea typeface="Gulim" pitchFamily="34" charset="-127"/>
              <a:cs typeface="Times New Roman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123800" y="2195370"/>
            <a:ext cx="648000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indent="-190500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{1</a:t>
            </a:r>
            <a:r>
              <a:rPr lang="en-US" altLang="zh-CN" b="1" kern="1400" dirty="0">
                <a:solidFill>
                  <a:srgbClr val="FF0000"/>
                </a:solidFill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2 5}</a:t>
            </a:r>
          </a:p>
        </p:txBody>
      </p:sp>
      <p:cxnSp>
        <p:nvCxnSpPr>
          <p:cNvPr id="155" name="直接箭头连接符 154"/>
          <p:cNvCxnSpPr>
            <a:stCxn id="182" idx="2"/>
            <a:endCxn id="180" idx="0"/>
          </p:cNvCxnSpPr>
          <p:nvPr/>
        </p:nvCxnSpPr>
        <p:spPr>
          <a:xfrm flipH="1">
            <a:off x="2321616" y="3104964"/>
            <a:ext cx="3618376" cy="554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75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7" grpId="0" animBg="1"/>
      <p:bldP spid="4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118" name="内容占位符 1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细黑" pitchFamily="2" charset="-122"/>
              </a:rPr>
              <a:t>【</a:t>
            </a:r>
            <a:r>
              <a:rPr lang="zh-CN" altLang="en-US" dirty="0">
                <a:latin typeface="华文细黑" pitchFamily="2" charset="-122"/>
              </a:rPr>
              <a:t>例</a:t>
            </a:r>
            <a:r>
              <a:rPr lang="en-US" altLang="zh-CN" dirty="0">
                <a:latin typeface="华文细黑" pitchFamily="2" charset="-122"/>
              </a:rPr>
              <a:t>】</a:t>
            </a:r>
            <a:r>
              <a:rPr lang="zh-CN" altLang="en-US" dirty="0">
                <a:latin typeface="华文细黑" pitchFamily="2" charset="-122"/>
              </a:rPr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  <a:p>
            <a:pPr marL="82296" indent="0">
              <a:buNone/>
            </a:pPr>
            <a:endParaRPr lang="zh-CN" altLang="en-US" dirty="0"/>
          </a:p>
        </p:txBody>
      </p:sp>
      <p:grpSp>
        <p:nvGrpSpPr>
          <p:cNvPr id="115" name="组合 114"/>
          <p:cNvGrpSpPr>
            <a:grpSpLocks noChangeAspect="1"/>
          </p:cNvGrpSpPr>
          <p:nvPr/>
        </p:nvGrpSpPr>
        <p:grpSpPr>
          <a:xfrm>
            <a:off x="5539007" y="1095941"/>
            <a:ext cx="3425480" cy="918102"/>
            <a:chOff x="5481517" y="2060848"/>
            <a:chExt cx="2126718" cy="760008"/>
          </a:xfrm>
        </p:grpSpPr>
        <p:sp>
          <p:nvSpPr>
            <p:cNvPr id="10" name="文本框 26"/>
            <p:cNvSpPr txBox="1"/>
            <p:nvPr/>
          </p:nvSpPr>
          <p:spPr>
            <a:xfrm>
              <a:off x="6391042" y="2060848"/>
              <a:ext cx="481690" cy="22930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11" name="流程图: 联系 10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12" name="直接箭头连接符 11"/>
            <p:cNvCxnSpPr>
              <a:stCxn id="11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11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11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 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4, 7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7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8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3, 6, 9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175" name="文本框 171"/>
          <p:cNvSpPr txBox="1"/>
          <p:nvPr/>
        </p:nvSpPr>
        <p:spPr>
          <a:xfrm>
            <a:off x="1914143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100" b="1" kern="100" dirty="0">
                <a:latin typeface="Gulim"/>
                <a:ea typeface="宋体"/>
                <a:cs typeface="Times New Roman"/>
              </a:rPr>
              <a:t>3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76" name="直接箭头连接符 175"/>
          <p:cNvCxnSpPr>
            <a:stCxn id="205" idx="2"/>
            <a:endCxn id="175" idx="0"/>
          </p:cNvCxnSpPr>
          <p:nvPr/>
        </p:nvCxnSpPr>
        <p:spPr>
          <a:xfrm>
            <a:off x="1889570" y="4672691"/>
            <a:ext cx="222575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54"/>
          <p:cNvSpPr txBox="1"/>
          <p:nvPr/>
        </p:nvSpPr>
        <p:spPr>
          <a:xfrm>
            <a:off x="1871616" y="3659018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1-{2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82" name="文本框 151"/>
          <p:cNvSpPr txBox="1"/>
          <p:nvPr/>
        </p:nvSpPr>
        <p:spPr>
          <a:xfrm>
            <a:off x="5255992" y="2904410"/>
            <a:ext cx="1368000" cy="20055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{</a:t>
            </a:r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205" name="文本框 159"/>
          <p:cNvSpPr txBox="1"/>
          <p:nvPr/>
        </p:nvSpPr>
        <p:spPr>
          <a:xfrm>
            <a:off x="1439568" y="4456690"/>
            <a:ext cx="90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2-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{3}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29" name="文本框 154"/>
          <p:cNvSpPr txBox="1"/>
          <p:nvPr/>
        </p:nvSpPr>
        <p:spPr>
          <a:xfrm>
            <a:off x="1871616" y="3659018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1-{2 </a:t>
            </a:r>
            <a:r>
              <a:rPr lang="en-US" altLang="zh-CN" sz="11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5</a:t>
            </a:r>
            <a:r>
              <a:rPr lang="en-US" sz="11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}</a:t>
            </a:r>
            <a:endParaRPr lang="zh-CN" altLang="en-US" sz="1100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30" name="文本框 151"/>
          <p:cNvSpPr txBox="1"/>
          <p:nvPr/>
        </p:nvSpPr>
        <p:spPr>
          <a:xfrm>
            <a:off x="5255992" y="2904410"/>
            <a:ext cx="1368000" cy="20055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{</a:t>
            </a:r>
            <a:r>
              <a:rPr lang="en-US" sz="1200" b="1" kern="10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2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5</a:t>
            </a:r>
            <a:r>
              <a:rPr lang="en-US" sz="12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}</a:t>
            </a:r>
            <a:endParaRPr lang="zh-CN" altLang="en-US" sz="1200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31" name="文本框 159"/>
          <p:cNvSpPr txBox="1"/>
          <p:nvPr/>
        </p:nvSpPr>
        <p:spPr>
          <a:xfrm>
            <a:off x="1439568" y="4456690"/>
            <a:ext cx="90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1 2-</a:t>
            </a:r>
            <a:r>
              <a:rPr lang="en-US" sz="11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{</a:t>
            </a:r>
            <a:r>
              <a:rPr lang="en-US" altLang="zh-CN" sz="11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5</a:t>
            </a:r>
            <a:r>
              <a:rPr lang="en-US" sz="11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}</a:t>
            </a:r>
            <a:endParaRPr lang="zh-CN" altLang="en-US" sz="1100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36" name="直接箭头连接符 35"/>
          <p:cNvCxnSpPr>
            <a:endCxn id="37" idx="0"/>
          </p:cNvCxnSpPr>
          <p:nvPr/>
        </p:nvCxnSpPr>
        <p:spPr>
          <a:xfrm flipH="1">
            <a:off x="1655264" y="4672691"/>
            <a:ext cx="234304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171"/>
          <p:cNvSpPr txBox="1"/>
          <p:nvPr/>
        </p:nvSpPr>
        <p:spPr>
          <a:xfrm>
            <a:off x="1457264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9" name="文本框 154"/>
          <p:cNvSpPr txBox="1"/>
          <p:nvPr/>
        </p:nvSpPr>
        <p:spPr>
          <a:xfrm>
            <a:off x="1871616" y="3659018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1-{2 </a:t>
            </a:r>
            <a:r>
              <a:rPr lang="en-US" sz="1100" b="1" kern="100" dirty="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6}</a:t>
            </a:r>
            <a:endParaRPr lang="zh-CN" altLang="en-US" sz="1100" kern="100" dirty="0">
              <a:solidFill>
                <a:srgbClr val="00B05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40" name="文本框 151"/>
          <p:cNvSpPr txBox="1"/>
          <p:nvPr/>
        </p:nvSpPr>
        <p:spPr>
          <a:xfrm>
            <a:off x="5255992" y="2904410"/>
            <a:ext cx="1368000" cy="20055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{</a:t>
            </a:r>
            <a:r>
              <a:rPr lang="en-US" sz="1200" b="1" kern="10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6}</a:t>
            </a:r>
            <a:endParaRPr lang="zh-CN" altLang="en-US" sz="1200" kern="100" dirty="0">
              <a:solidFill>
                <a:srgbClr val="00B05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41" name="文本框 159"/>
          <p:cNvSpPr txBox="1"/>
          <p:nvPr/>
        </p:nvSpPr>
        <p:spPr>
          <a:xfrm>
            <a:off x="1439568" y="4456690"/>
            <a:ext cx="90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1 2-</a:t>
            </a:r>
            <a:r>
              <a:rPr lang="en-US" sz="1100" b="1" kern="100" dirty="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{6}</a:t>
            </a:r>
            <a:endParaRPr lang="zh-CN" altLang="en-US" sz="1100" kern="100" dirty="0">
              <a:solidFill>
                <a:srgbClr val="00B05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42" name="直接箭头连接符 41"/>
          <p:cNvCxnSpPr>
            <a:stCxn id="39" idx="2"/>
            <a:endCxn id="41" idx="0"/>
          </p:cNvCxnSpPr>
          <p:nvPr/>
        </p:nvCxnSpPr>
        <p:spPr>
          <a:xfrm flipH="1">
            <a:off x="1889568" y="3875019"/>
            <a:ext cx="432048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165"/>
          <p:cNvSpPr txBox="1"/>
          <p:nvPr/>
        </p:nvSpPr>
        <p:spPr>
          <a:xfrm>
            <a:off x="2339752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100" b="1" kern="100" dirty="0">
                <a:latin typeface="Gulim"/>
                <a:ea typeface="宋体"/>
                <a:cs typeface="Times New Roman"/>
              </a:rPr>
              <a:t>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44" name="直接箭头连接符 43"/>
          <p:cNvCxnSpPr>
            <a:stCxn id="41" idx="2"/>
            <a:endCxn id="43" idx="0"/>
          </p:cNvCxnSpPr>
          <p:nvPr/>
        </p:nvCxnSpPr>
        <p:spPr>
          <a:xfrm>
            <a:off x="1889568" y="4672691"/>
            <a:ext cx="648184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2303760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划去线"/>
          <p:cNvCxnSpPr/>
          <p:nvPr/>
        </p:nvCxnSpPr>
        <p:spPr>
          <a:xfrm>
            <a:off x="2015728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划去线"/>
          <p:cNvCxnSpPr/>
          <p:nvPr/>
        </p:nvCxnSpPr>
        <p:spPr>
          <a:xfrm>
            <a:off x="5760144" y="297535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0" y="2197663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: {1 2 3}, {1 2 5}, {1 2 6}, {1 3 5}, {1 3 6}, {1 5 6}, {2 3 5}, {2 3 6}, {2 5 6}, {3 5 6}</a:t>
            </a:r>
          </a:p>
        </p:txBody>
      </p:sp>
      <p:sp>
        <p:nvSpPr>
          <p:cNvPr id="49" name="矩形 48"/>
          <p:cNvSpPr/>
          <p:nvPr/>
        </p:nvSpPr>
        <p:spPr>
          <a:xfrm>
            <a:off x="264136" y="2544310"/>
            <a:ext cx="35830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由候选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3-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项集生成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Hash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树结构</a:t>
            </a:r>
            <a:endParaRPr lang="en-US" altLang="zh-CN" b="1" dirty="0">
              <a:latin typeface="Gulim" pitchFamily="34" charset="-127"/>
              <a:ea typeface="Gulim" pitchFamily="34" charset="-127"/>
              <a:cs typeface="Times New Roman" pitchFamily="18" charset="0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2915888" y="2198623"/>
            <a:ext cx="648000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indent="-190500">
              <a:spcBef>
                <a:spcPct val="50000"/>
              </a:spcBef>
            </a:pPr>
            <a:r>
              <a:rPr lang="en-US" altLang="zh-CN" b="1" dirty="0">
                <a:solidFill>
                  <a:srgbClr val="00B05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{1 2 6}</a:t>
            </a:r>
          </a:p>
        </p:txBody>
      </p:sp>
      <p:cxnSp>
        <p:nvCxnSpPr>
          <p:cNvPr id="38" name="直接箭头连接符 37"/>
          <p:cNvCxnSpPr>
            <a:stCxn id="40" idx="2"/>
            <a:endCxn id="39" idx="0"/>
          </p:cNvCxnSpPr>
          <p:nvPr/>
        </p:nvCxnSpPr>
        <p:spPr>
          <a:xfrm flipH="1">
            <a:off x="2321616" y="3104964"/>
            <a:ext cx="3618376" cy="554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1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3" grpId="0" animBg="1"/>
      <p:bldP spid="25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118" name="内容占位符 1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细黑" pitchFamily="2" charset="-122"/>
              </a:rPr>
              <a:t>【</a:t>
            </a:r>
            <a:r>
              <a:rPr lang="zh-CN" altLang="en-US" dirty="0">
                <a:latin typeface="华文细黑" pitchFamily="2" charset="-122"/>
              </a:rPr>
              <a:t>例</a:t>
            </a:r>
            <a:r>
              <a:rPr lang="en-US" altLang="zh-CN" dirty="0">
                <a:latin typeface="华文细黑" pitchFamily="2" charset="-122"/>
              </a:rPr>
              <a:t>】</a:t>
            </a:r>
            <a:r>
              <a:rPr lang="zh-CN" altLang="en-US" dirty="0">
                <a:latin typeface="华文细黑" pitchFamily="2" charset="-122"/>
              </a:rPr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  <a:p>
            <a:pPr marL="82296" indent="0">
              <a:buNone/>
            </a:pPr>
            <a:endParaRPr lang="zh-CN" altLang="en-US" dirty="0"/>
          </a:p>
        </p:txBody>
      </p:sp>
      <p:grpSp>
        <p:nvGrpSpPr>
          <p:cNvPr id="115" name="组合 114"/>
          <p:cNvGrpSpPr>
            <a:grpSpLocks noChangeAspect="1"/>
          </p:cNvGrpSpPr>
          <p:nvPr/>
        </p:nvGrpSpPr>
        <p:grpSpPr>
          <a:xfrm>
            <a:off x="5539007" y="1095941"/>
            <a:ext cx="3425480" cy="918102"/>
            <a:chOff x="5481517" y="2060848"/>
            <a:chExt cx="2126718" cy="760008"/>
          </a:xfrm>
        </p:grpSpPr>
        <p:sp>
          <p:nvSpPr>
            <p:cNvPr id="10" name="文本框 26"/>
            <p:cNvSpPr txBox="1"/>
            <p:nvPr/>
          </p:nvSpPr>
          <p:spPr>
            <a:xfrm>
              <a:off x="6391042" y="2060848"/>
              <a:ext cx="481690" cy="22930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11" name="流程图: 联系 10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12" name="直接箭头连接符 11"/>
            <p:cNvCxnSpPr>
              <a:stCxn id="11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11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11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 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4, 7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7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8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3, 6, 9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175" name="文本框 171"/>
          <p:cNvSpPr txBox="1"/>
          <p:nvPr/>
        </p:nvSpPr>
        <p:spPr>
          <a:xfrm>
            <a:off x="1914143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100" b="1" kern="100" dirty="0">
                <a:latin typeface="Gulim"/>
                <a:ea typeface="宋体"/>
                <a:cs typeface="Times New Roman"/>
              </a:rPr>
              <a:t>3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76" name="直接箭头连接符 175"/>
          <p:cNvCxnSpPr>
            <a:endCxn id="175" idx="0"/>
          </p:cNvCxnSpPr>
          <p:nvPr/>
        </p:nvCxnSpPr>
        <p:spPr>
          <a:xfrm>
            <a:off x="1889570" y="4672691"/>
            <a:ext cx="222575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endCxn id="37" idx="0"/>
          </p:cNvCxnSpPr>
          <p:nvPr/>
        </p:nvCxnSpPr>
        <p:spPr>
          <a:xfrm flipH="1">
            <a:off x="1655264" y="4672691"/>
            <a:ext cx="234304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171"/>
          <p:cNvSpPr txBox="1"/>
          <p:nvPr/>
        </p:nvSpPr>
        <p:spPr>
          <a:xfrm>
            <a:off x="1457264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9" name="文本框 154"/>
          <p:cNvSpPr txBox="1"/>
          <p:nvPr/>
        </p:nvSpPr>
        <p:spPr>
          <a:xfrm>
            <a:off x="1871616" y="3659018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1-{2 </a:t>
            </a:r>
            <a:r>
              <a:rPr lang="en-US" sz="1100" b="1" kern="100" dirty="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6}</a:t>
            </a:r>
            <a:endParaRPr lang="zh-CN" altLang="en-US" sz="1100" kern="100" dirty="0">
              <a:solidFill>
                <a:srgbClr val="00B05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40" name="文本框 151"/>
          <p:cNvSpPr txBox="1"/>
          <p:nvPr/>
        </p:nvSpPr>
        <p:spPr>
          <a:xfrm>
            <a:off x="5255992" y="2904410"/>
            <a:ext cx="1368000" cy="20055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{</a:t>
            </a:r>
            <a:r>
              <a:rPr lang="en-US" sz="1200" b="1" kern="10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6}</a:t>
            </a:r>
            <a:endParaRPr lang="zh-CN" altLang="en-US" sz="1200" kern="100" dirty="0">
              <a:solidFill>
                <a:srgbClr val="00B05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41" name="文本框 159"/>
          <p:cNvSpPr txBox="1"/>
          <p:nvPr/>
        </p:nvSpPr>
        <p:spPr>
          <a:xfrm>
            <a:off x="1439568" y="4456690"/>
            <a:ext cx="90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1 2-</a:t>
            </a:r>
            <a:r>
              <a:rPr lang="en-US" sz="1100" b="1" kern="100" dirty="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{6}</a:t>
            </a:r>
            <a:endParaRPr lang="zh-CN" altLang="en-US" sz="1100" kern="100" dirty="0">
              <a:solidFill>
                <a:srgbClr val="00B05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42" name="直接箭头连接符 41"/>
          <p:cNvCxnSpPr>
            <a:stCxn id="39" idx="2"/>
            <a:endCxn id="41" idx="0"/>
          </p:cNvCxnSpPr>
          <p:nvPr/>
        </p:nvCxnSpPr>
        <p:spPr>
          <a:xfrm flipH="1">
            <a:off x="1889568" y="3875019"/>
            <a:ext cx="432048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165"/>
          <p:cNvSpPr txBox="1"/>
          <p:nvPr/>
        </p:nvSpPr>
        <p:spPr>
          <a:xfrm>
            <a:off x="2339752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100" b="1" kern="100" dirty="0">
                <a:latin typeface="Gulim"/>
                <a:ea typeface="宋体"/>
                <a:cs typeface="Times New Roman"/>
              </a:rPr>
              <a:t>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44" name="直接箭头连接符 43"/>
          <p:cNvCxnSpPr>
            <a:stCxn id="41" idx="2"/>
            <a:endCxn id="43" idx="0"/>
          </p:cNvCxnSpPr>
          <p:nvPr/>
        </p:nvCxnSpPr>
        <p:spPr>
          <a:xfrm>
            <a:off x="1889568" y="4672691"/>
            <a:ext cx="648184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60" idx="2"/>
            <a:endCxn id="59" idx="0"/>
          </p:cNvCxnSpPr>
          <p:nvPr/>
        </p:nvCxnSpPr>
        <p:spPr>
          <a:xfrm flipH="1">
            <a:off x="2321616" y="3104964"/>
            <a:ext cx="3618376" cy="554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154"/>
          <p:cNvSpPr txBox="1"/>
          <p:nvPr/>
        </p:nvSpPr>
        <p:spPr>
          <a:xfrm>
            <a:off x="1871616" y="3659018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solidFill>
                  <a:srgbClr val="7030A0"/>
                </a:solidFill>
                <a:latin typeface="Gulim"/>
                <a:ea typeface="宋体"/>
                <a:cs typeface="Times New Roman"/>
              </a:rPr>
              <a:t>1-{3 5}</a:t>
            </a:r>
            <a:endParaRPr lang="zh-CN" altLang="en-US" sz="1100" kern="100" dirty="0">
              <a:solidFill>
                <a:srgbClr val="7030A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60" name="文本框 151"/>
          <p:cNvSpPr txBox="1"/>
          <p:nvPr/>
        </p:nvSpPr>
        <p:spPr>
          <a:xfrm>
            <a:off x="5255992" y="2904410"/>
            <a:ext cx="1368000" cy="20055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solidFill>
                  <a:srgbClr val="7030A0"/>
                </a:solidFill>
                <a:latin typeface="Gulim"/>
                <a:ea typeface="宋体"/>
                <a:cs typeface="Times New Roman"/>
              </a:rPr>
              <a:t>{1 3 5}</a:t>
            </a:r>
            <a:endParaRPr lang="zh-CN" altLang="en-US" sz="1200" kern="100" dirty="0">
              <a:solidFill>
                <a:srgbClr val="7030A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61" name="文本框 160"/>
          <p:cNvSpPr txBox="1"/>
          <p:nvPr/>
        </p:nvSpPr>
        <p:spPr>
          <a:xfrm>
            <a:off x="3815968" y="4456690"/>
            <a:ext cx="82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solidFill>
                  <a:srgbClr val="7030A0"/>
                </a:solidFill>
                <a:latin typeface="Gulim"/>
                <a:ea typeface="宋体"/>
                <a:cs typeface="Times New Roman"/>
              </a:rPr>
              <a:t>1 3-{5}</a:t>
            </a:r>
            <a:endParaRPr lang="zh-CN" altLang="en-US" sz="1100" kern="100" dirty="0">
              <a:solidFill>
                <a:srgbClr val="7030A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2" name="直接箭头连接符 61"/>
          <p:cNvCxnSpPr>
            <a:stCxn id="59" idx="2"/>
            <a:endCxn id="61" idx="0"/>
          </p:cNvCxnSpPr>
          <p:nvPr/>
        </p:nvCxnSpPr>
        <p:spPr>
          <a:xfrm>
            <a:off x="2321616" y="3875019"/>
            <a:ext cx="1908352" cy="581673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167"/>
          <p:cNvSpPr txBox="1"/>
          <p:nvPr/>
        </p:nvSpPr>
        <p:spPr>
          <a:xfrm>
            <a:off x="4142437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4" name="直接箭头连接符 63"/>
          <p:cNvCxnSpPr>
            <a:stCxn id="61" idx="2"/>
            <a:endCxn id="63" idx="0"/>
          </p:cNvCxnSpPr>
          <p:nvPr/>
        </p:nvCxnSpPr>
        <p:spPr>
          <a:xfrm>
            <a:off x="4229970" y="4672691"/>
            <a:ext cx="110469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2267744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划去线"/>
          <p:cNvCxnSpPr/>
          <p:nvPr/>
        </p:nvCxnSpPr>
        <p:spPr>
          <a:xfrm>
            <a:off x="4319984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划去线"/>
          <p:cNvCxnSpPr/>
          <p:nvPr/>
        </p:nvCxnSpPr>
        <p:spPr>
          <a:xfrm>
            <a:off x="5760144" y="2956086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0" y="2197663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: {1 2 3}, {1 2 5}, {1 2 6}, {1 3 5}, {1 3 6}, {1 5 6}, {2 3 5}, {2 3 6}, {2 5 6}, {3 5 6}</a:t>
            </a:r>
          </a:p>
        </p:txBody>
      </p:sp>
      <p:sp>
        <p:nvSpPr>
          <p:cNvPr id="69" name="矩形 68"/>
          <p:cNvSpPr/>
          <p:nvPr/>
        </p:nvSpPr>
        <p:spPr>
          <a:xfrm>
            <a:off x="264136" y="2544310"/>
            <a:ext cx="35830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由候选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3-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项集生成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Hash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树结构</a:t>
            </a:r>
            <a:endParaRPr lang="en-US" altLang="zh-CN" b="1" dirty="0">
              <a:latin typeface="Gulim" pitchFamily="34" charset="-127"/>
              <a:ea typeface="Gulim" pitchFamily="34" charset="-127"/>
              <a:cs typeface="Times New Roman" pitchFamily="18" charset="0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3707904" y="2197663"/>
            <a:ext cx="648000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indent="-190500">
              <a:spcBef>
                <a:spcPct val="50000"/>
              </a:spcBef>
            </a:pPr>
            <a:r>
              <a:rPr lang="en-US" altLang="zh-CN" sz="1600" b="1" dirty="0">
                <a:solidFill>
                  <a:srgbClr val="7030A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{1 3 5}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15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 animBg="1"/>
      <p:bldP spid="63" grpId="0" animBg="1"/>
      <p:bldP spid="25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文本框 151"/>
          <p:cNvSpPr txBox="1"/>
          <p:nvPr/>
        </p:nvSpPr>
        <p:spPr>
          <a:xfrm>
            <a:off x="5255992" y="2904410"/>
            <a:ext cx="1368000" cy="20055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solidFill>
                  <a:srgbClr val="7030A0"/>
                </a:solidFill>
                <a:latin typeface="Gulim"/>
                <a:ea typeface="宋体"/>
                <a:cs typeface="Times New Roman"/>
              </a:rPr>
              <a:t>{1 3 5}</a:t>
            </a:r>
            <a:endParaRPr lang="zh-CN" altLang="en-US" sz="1200" kern="100" dirty="0">
              <a:solidFill>
                <a:srgbClr val="7030A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48" name="文本框 151"/>
          <p:cNvSpPr txBox="1"/>
          <p:nvPr/>
        </p:nvSpPr>
        <p:spPr>
          <a:xfrm>
            <a:off x="5255992" y="2904410"/>
            <a:ext cx="1368000" cy="20055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{1 3 6}</a:t>
            </a:r>
            <a:endParaRPr lang="zh-CN" altLang="en-US" sz="1200" kern="100" dirty="0">
              <a:solidFill>
                <a:srgbClr val="C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57" name="文本框 154"/>
          <p:cNvSpPr txBox="1"/>
          <p:nvPr/>
        </p:nvSpPr>
        <p:spPr>
          <a:xfrm>
            <a:off x="1871616" y="3665151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solidFill>
                  <a:srgbClr val="7030A0"/>
                </a:solidFill>
                <a:latin typeface="Gulim"/>
                <a:ea typeface="宋体"/>
                <a:cs typeface="Times New Roman"/>
              </a:rPr>
              <a:t>1-{3 5}</a:t>
            </a:r>
            <a:endParaRPr lang="zh-CN" altLang="en-US" sz="1100" kern="100" dirty="0">
              <a:solidFill>
                <a:srgbClr val="7030A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118" name="内容占位符 1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细黑" pitchFamily="2" charset="-122"/>
              </a:rPr>
              <a:t>【</a:t>
            </a:r>
            <a:r>
              <a:rPr lang="zh-CN" altLang="en-US" dirty="0">
                <a:latin typeface="华文细黑" pitchFamily="2" charset="-122"/>
              </a:rPr>
              <a:t>例</a:t>
            </a:r>
            <a:r>
              <a:rPr lang="en-US" altLang="zh-CN" dirty="0">
                <a:latin typeface="华文细黑" pitchFamily="2" charset="-122"/>
              </a:rPr>
              <a:t>】</a:t>
            </a:r>
            <a:r>
              <a:rPr lang="zh-CN" altLang="en-US" dirty="0">
                <a:latin typeface="华文细黑" pitchFamily="2" charset="-122"/>
              </a:rPr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  <a:p>
            <a:pPr marL="82296" indent="0">
              <a:buNone/>
            </a:pPr>
            <a:endParaRPr lang="zh-CN" altLang="en-US" dirty="0"/>
          </a:p>
        </p:txBody>
      </p:sp>
      <p:grpSp>
        <p:nvGrpSpPr>
          <p:cNvPr id="115" name="组合 114"/>
          <p:cNvGrpSpPr>
            <a:grpSpLocks noChangeAspect="1"/>
          </p:cNvGrpSpPr>
          <p:nvPr/>
        </p:nvGrpSpPr>
        <p:grpSpPr>
          <a:xfrm>
            <a:off x="5539007" y="1095941"/>
            <a:ext cx="3425480" cy="918102"/>
            <a:chOff x="5481517" y="2060848"/>
            <a:chExt cx="2126718" cy="760008"/>
          </a:xfrm>
        </p:grpSpPr>
        <p:sp>
          <p:nvSpPr>
            <p:cNvPr id="10" name="文本框 26"/>
            <p:cNvSpPr txBox="1"/>
            <p:nvPr/>
          </p:nvSpPr>
          <p:spPr>
            <a:xfrm>
              <a:off x="6391042" y="2060848"/>
              <a:ext cx="481690" cy="22930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11" name="流程图: 联系 10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12" name="直接箭头连接符 11"/>
            <p:cNvCxnSpPr>
              <a:stCxn id="11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11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11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 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4, 7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7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8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3, 6, 9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175" name="文本框 171"/>
          <p:cNvSpPr txBox="1"/>
          <p:nvPr/>
        </p:nvSpPr>
        <p:spPr>
          <a:xfrm>
            <a:off x="1914143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100" b="1" kern="100" dirty="0">
                <a:latin typeface="Gulim"/>
                <a:ea typeface="宋体"/>
                <a:cs typeface="Times New Roman"/>
              </a:rPr>
              <a:t>3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7" name="文本框 171"/>
          <p:cNvSpPr txBox="1"/>
          <p:nvPr/>
        </p:nvSpPr>
        <p:spPr>
          <a:xfrm>
            <a:off x="1457264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3" name="文本框 165"/>
          <p:cNvSpPr txBox="1"/>
          <p:nvPr/>
        </p:nvSpPr>
        <p:spPr>
          <a:xfrm>
            <a:off x="2339752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100" b="1" kern="100" dirty="0">
                <a:latin typeface="Gulim"/>
                <a:ea typeface="宋体"/>
                <a:cs typeface="Times New Roman"/>
              </a:rPr>
              <a:t>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9" name="文本框 154"/>
          <p:cNvSpPr txBox="1"/>
          <p:nvPr/>
        </p:nvSpPr>
        <p:spPr>
          <a:xfrm>
            <a:off x="1871616" y="3659018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solidFill>
                  <a:srgbClr val="7030A0"/>
                </a:solidFill>
                <a:latin typeface="Gulim"/>
                <a:ea typeface="宋体"/>
                <a:cs typeface="Times New Roman"/>
              </a:rPr>
              <a:t>1-{3 5}</a:t>
            </a:r>
            <a:endParaRPr lang="zh-CN" altLang="en-US" sz="1100" kern="100" dirty="0">
              <a:solidFill>
                <a:srgbClr val="7030A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63" name="文本框 167"/>
          <p:cNvSpPr txBox="1"/>
          <p:nvPr/>
        </p:nvSpPr>
        <p:spPr>
          <a:xfrm>
            <a:off x="4142437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4" name="直接箭头连接符 63"/>
          <p:cNvCxnSpPr>
            <a:stCxn id="61" idx="2"/>
            <a:endCxn id="63" idx="0"/>
          </p:cNvCxnSpPr>
          <p:nvPr/>
        </p:nvCxnSpPr>
        <p:spPr>
          <a:xfrm>
            <a:off x="4229970" y="4672691"/>
            <a:ext cx="110469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160"/>
          <p:cNvSpPr txBox="1"/>
          <p:nvPr/>
        </p:nvSpPr>
        <p:spPr>
          <a:xfrm>
            <a:off x="3815968" y="4456690"/>
            <a:ext cx="82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solidFill>
                  <a:srgbClr val="7030A0"/>
                </a:solidFill>
                <a:latin typeface="Gulim"/>
                <a:ea typeface="宋体"/>
                <a:cs typeface="Times New Roman"/>
              </a:rPr>
              <a:t>1 3-{5}</a:t>
            </a:r>
            <a:endParaRPr lang="zh-CN" altLang="en-US" sz="1100" kern="100" dirty="0">
              <a:solidFill>
                <a:srgbClr val="7030A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76" name="直接箭头连接符 175"/>
          <p:cNvCxnSpPr>
            <a:endCxn id="175" idx="0"/>
          </p:cNvCxnSpPr>
          <p:nvPr/>
        </p:nvCxnSpPr>
        <p:spPr>
          <a:xfrm>
            <a:off x="1889570" y="4672691"/>
            <a:ext cx="222575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endCxn id="37" idx="0"/>
          </p:cNvCxnSpPr>
          <p:nvPr/>
        </p:nvCxnSpPr>
        <p:spPr>
          <a:xfrm flipH="1">
            <a:off x="1655264" y="4672691"/>
            <a:ext cx="234304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41" idx="2"/>
            <a:endCxn id="43" idx="0"/>
          </p:cNvCxnSpPr>
          <p:nvPr/>
        </p:nvCxnSpPr>
        <p:spPr>
          <a:xfrm>
            <a:off x="1889568" y="4672691"/>
            <a:ext cx="648184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159"/>
          <p:cNvSpPr txBox="1"/>
          <p:nvPr/>
        </p:nvSpPr>
        <p:spPr>
          <a:xfrm>
            <a:off x="1439568" y="4456690"/>
            <a:ext cx="90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1 2-</a:t>
            </a:r>
            <a:r>
              <a:rPr lang="en-US" sz="1100" b="1" kern="100" dirty="0">
                <a:solidFill>
                  <a:srgbClr val="00B050"/>
                </a:solidFill>
                <a:latin typeface="Gulim"/>
                <a:ea typeface="宋体"/>
                <a:cs typeface="Times New Roman"/>
              </a:rPr>
              <a:t>{6}</a:t>
            </a:r>
            <a:endParaRPr lang="zh-CN" altLang="en-US" sz="1100" kern="100" dirty="0">
              <a:solidFill>
                <a:srgbClr val="00B05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42" name="直接箭头连接符 41"/>
          <p:cNvCxnSpPr>
            <a:endCxn id="41" idx="0"/>
          </p:cNvCxnSpPr>
          <p:nvPr/>
        </p:nvCxnSpPr>
        <p:spPr>
          <a:xfrm flipH="1">
            <a:off x="1889568" y="3875019"/>
            <a:ext cx="432048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49" idx="2"/>
            <a:endCxn id="51" idx="0"/>
          </p:cNvCxnSpPr>
          <p:nvPr/>
        </p:nvCxnSpPr>
        <p:spPr>
          <a:xfrm>
            <a:off x="4229968" y="4672691"/>
            <a:ext cx="567348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154"/>
          <p:cNvSpPr txBox="1"/>
          <p:nvPr/>
        </p:nvSpPr>
        <p:spPr>
          <a:xfrm>
            <a:off x="1871616" y="3659018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1-{3 6}</a:t>
            </a:r>
            <a:endParaRPr lang="zh-CN" altLang="en-US" sz="1100" kern="100" dirty="0">
              <a:solidFill>
                <a:srgbClr val="C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49" name="文本框 160"/>
          <p:cNvSpPr txBox="1"/>
          <p:nvPr/>
        </p:nvSpPr>
        <p:spPr>
          <a:xfrm>
            <a:off x="3815968" y="4456690"/>
            <a:ext cx="82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1 3-{6}</a:t>
            </a:r>
            <a:endParaRPr lang="zh-CN" altLang="en-US" sz="1100" kern="100" dirty="0">
              <a:solidFill>
                <a:srgbClr val="C0000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50" name="直接箭头连接符 49"/>
          <p:cNvCxnSpPr>
            <a:stCxn id="57" idx="2"/>
            <a:endCxn id="49" idx="0"/>
          </p:cNvCxnSpPr>
          <p:nvPr/>
        </p:nvCxnSpPr>
        <p:spPr>
          <a:xfrm>
            <a:off x="2321616" y="3881152"/>
            <a:ext cx="1908352" cy="575539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172"/>
          <p:cNvSpPr txBox="1"/>
          <p:nvPr/>
        </p:nvSpPr>
        <p:spPr>
          <a:xfrm>
            <a:off x="4599316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52" name="划去线"/>
          <p:cNvCxnSpPr/>
          <p:nvPr/>
        </p:nvCxnSpPr>
        <p:spPr>
          <a:xfrm>
            <a:off x="2303760" y="3718418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划去线"/>
          <p:cNvCxnSpPr/>
          <p:nvPr/>
        </p:nvCxnSpPr>
        <p:spPr>
          <a:xfrm>
            <a:off x="4319984" y="451609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划去线"/>
          <p:cNvCxnSpPr/>
          <p:nvPr/>
        </p:nvCxnSpPr>
        <p:spPr>
          <a:xfrm>
            <a:off x="5760144" y="2975350"/>
            <a:ext cx="108000" cy="9720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0" y="2197663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: {1 2 3}, {1 2 5}, {1 2 6}, {1 3 5}, {1 3 6}, {1 5 6}, {2 3 5}, {2 3 6}, {2 5 6}, {3 5 6}</a:t>
            </a:r>
          </a:p>
        </p:txBody>
      </p:sp>
      <p:sp>
        <p:nvSpPr>
          <p:cNvPr id="56" name="矩形 55"/>
          <p:cNvSpPr/>
          <p:nvPr/>
        </p:nvSpPr>
        <p:spPr>
          <a:xfrm>
            <a:off x="264136" y="2544310"/>
            <a:ext cx="35830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由候选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3-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项集生成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Hash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树结构</a:t>
            </a:r>
            <a:endParaRPr lang="en-US" altLang="zh-CN" b="1" dirty="0">
              <a:latin typeface="Gulim" pitchFamily="34" charset="-127"/>
              <a:ea typeface="Gulim" pitchFamily="34" charset="-127"/>
              <a:cs typeface="Times New Roman" pitchFamily="18" charset="0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4499992" y="2211513"/>
            <a:ext cx="648000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indent="-190500">
              <a:spcBef>
                <a:spcPct val="50000"/>
              </a:spcBef>
            </a:pPr>
            <a:r>
              <a:rPr lang="en-US" altLang="zh-CN" sz="1600" b="1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{1 3 6}</a:t>
            </a:r>
          </a:p>
        </p:txBody>
      </p:sp>
      <p:cxnSp>
        <p:nvCxnSpPr>
          <p:cNvPr id="58" name="直接箭头连接符 57"/>
          <p:cNvCxnSpPr>
            <a:endCxn id="59" idx="0"/>
          </p:cNvCxnSpPr>
          <p:nvPr/>
        </p:nvCxnSpPr>
        <p:spPr>
          <a:xfrm flipH="1">
            <a:off x="2321616" y="3104964"/>
            <a:ext cx="3618376" cy="554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2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7" grpId="0" animBg="1"/>
      <p:bldP spid="47" grpId="0" animBg="1"/>
      <p:bldP spid="49" grpId="0" animBg="1"/>
      <p:bldP spid="51" grpId="0" animBg="1"/>
      <p:bldP spid="25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118" name="内容占位符 1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细黑" pitchFamily="2" charset="-122"/>
              </a:rPr>
              <a:t>【</a:t>
            </a:r>
            <a:r>
              <a:rPr lang="zh-CN" altLang="en-US" dirty="0">
                <a:latin typeface="华文细黑" pitchFamily="2" charset="-122"/>
              </a:rPr>
              <a:t>例</a:t>
            </a:r>
            <a:r>
              <a:rPr lang="en-US" altLang="zh-CN" dirty="0">
                <a:latin typeface="华文细黑" pitchFamily="2" charset="-122"/>
              </a:rPr>
              <a:t>】</a:t>
            </a:r>
            <a:r>
              <a:rPr lang="zh-CN" altLang="en-US" dirty="0">
                <a:latin typeface="华文细黑" pitchFamily="2" charset="-122"/>
              </a:rPr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  <a:p>
            <a:pPr marL="82296" indent="0">
              <a:buNone/>
            </a:pPr>
            <a:endParaRPr lang="zh-CN" altLang="en-US" dirty="0"/>
          </a:p>
        </p:txBody>
      </p:sp>
      <p:grpSp>
        <p:nvGrpSpPr>
          <p:cNvPr id="115" name="组合 114"/>
          <p:cNvGrpSpPr>
            <a:grpSpLocks noChangeAspect="1"/>
          </p:cNvGrpSpPr>
          <p:nvPr/>
        </p:nvGrpSpPr>
        <p:grpSpPr>
          <a:xfrm>
            <a:off x="5539007" y="1095941"/>
            <a:ext cx="3425480" cy="918102"/>
            <a:chOff x="5481517" y="2060848"/>
            <a:chExt cx="2126718" cy="760008"/>
          </a:xfrm>
        </p:grpSpPr>
        <p:sp>
          <p:nvSpPr>
            <p:cNvPr id="10" name="文本框 26"/>
            <p:cNvSpPr txBox="1"/>
            <p:nvPr/>
          </p:nvSpPr>
          <p:spPr>
            <a:xfrm>
              <a:off x="6391042" y="2060848"/>
              <a:ext cx="481690" cy="22930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11" name="流程图: 联系 10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12" name="直接箭头连接符 11"/>
            <p:cNvCxnSpPr>
              <a:stCxn id="11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11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11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 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4, 7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7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8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 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</a:t>
              </a:r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, 6, 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153" name="文本框 155"/>
          <p:cNvSpPr txBox="1"/>
          <p:nvPr/>
        </p:nvSpPr>
        <p:spPr>
          <a:xfrm>
            <a:off x="5544024" y="3659018"/>
            <a:ext cx="82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2-{3 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4" name="文本框 156"/>
          <p:cNvSpPr txBox="1"/>
          <p:nvPr/>
        </p:nvSpPr>
        <p:spPr>
          <a:xfrm>
            <a:off x="8208392" y="3659018"/>
            <a:ext cx="64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55" name="直接箭头连接符 154"/>
          <p:cNvCxnSpPr>
            <a:stCxn id="182" idx="2"/>
            <a:endCxn id="180" idx="0"/>
          </p:cNvCxnSpPr>
          <p:nvPr/>
        </p:nvCxnSpPr>
        <p:spPr>
          <a:xfrm flipH="1">
            <a:off x="2321616" y="3104964"/>
            <a:ext cx="3618376" cy="554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stCxn id="182" idx="2"/>
            <a:endCxn id="153" idx="0"/>
          </p:cNvCxnSpPr>
          <p:nvPr/>
        </p:nvCxnSpPr>
        <p:spPr>
          <a:xfrm>
            <a:off x="5939992" y="3104964"/>
            <a:ext cx="18032" cy="554054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/>
          <p:cNvCxnSpPr>
            <a:stCxn id="182" idx="2"/>
            <a:endCxn id="154" idx="0"/>
          </p:cNvCxnSpPr>
          <p:nvPr/>
        </p:nvCxnSpPr>
        <p:spPr>
          <a:xfrm>
            <a:off x="5939992" y="3104964"/>
            <a:ext cx="2592400" cy="554054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文本框 159"/>
          <p:cNvSpPr txBox="1"/>
          <p:nvPr/>
        </p:nvSpPr>
        <p:spPr>
          <a:xfrm>
            <a:off x="8316392" y="4456690"/>
            <a:ext cx="54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3 5-{6}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66" name="直接箭头连接符 165"/>
          <p:cNvCxnSpPr>
            <a:stCxn id="154" idx="2"/>
            <a:endCxn id="165" idx="0"/>
          </p:cNvCxnSpPr>
          <p:nvPr/>
        </p:nvCxnSpPr>
        <p:spPr>
          <a:xfrm>
            <a:off x="8532392" y="3875019"/>
            <a:ext cx="54000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文本框 184"/>
          <p:cNvSpPr txBox="1"/>
          <p:nvPr/>
        </p:nvSpPr>
        <p:spPr>
          <a:xfrm>
            <a:off x="8654112" y="5411806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3 5 6	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68" name="直接箭头连接符 167"/>
          <p:cNvCxnSpPr>
            <a:stCxn id="165" idx="2"/>
            <a:endCxn id="167" idx="0"/>
          </p:cNvCxnSpPr>
          <p:nvPr/>
        </p:nvCxnSpPr>
        <p:spPr>
          <a:xfrm>
            <a:off x="8586392" y="4672690"/>
            <a:ext cx="265720" cy="739116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>
            <a:stCxn id="220" idx="2"/>
            <a:endCxn id="215" idx="0"/>
          </p:cNvCxnSpPr>
          <p:nvPr/>
        </p:nvCxnSpPr>
        <p:spPr>
          <a:xfrm>
            <a:off x="2645672" y="4672691"/>
            <a:ext cx="324128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>
            <a:stCxn id="206" idx="2"/>
            <a:endCxn id="214" idx="0"/>
          </p:cNvCxnSpPr>
          <p:nvPr/>
        </p:nvCxnSpPr>
        <p:spPr>
          <a:xfrm>
            <a:off x="4229968" y="4672691"/>
            <a:ext cx="567348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文本框 171"/>
          <p:cNvSpPr txBox="1"/>
          <p:nvPr/>
        </p:nvSpPr>
        <p:spPr>
          <a:xfrm>
            <a:off x="1914143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100" b="1" kern="100" dirty="0">
                <a:latin typeface="Gulim"/>
                <a:ea typeface="宋体"/>
                <a:cs typeface="Times New Roman"/>
              </a:rPr>
              <a:t>3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76" name="直接箭头连接符 175"/>
          <p:cNvCxnSpPr>
            <a:stCxn id="205" idx="2"/>
            <a:endCxn id="175" idx="0"/>
          </p:cNvCxnSpPr>
          <p:nvPr/>
        </p:nvCxnSpPr>
        <p:spPr>
          <a:xfrm>
            <a:off x="1889570" y="4672691"/>
            <a:ext cx="222575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文本框 160"/>
          <p:cNvSpPr txBox="1"/>
          <p:nvPr/>
        </p:nvSpPr>
        <p:spPr>
          <a:xfrm>
            <a:off x="6660232" y="4456690"/>
            <a:ext cx="82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80" name="文本框 154"/>
          <p:cNvSpPr txBox="1"/>
          <p:nvPr/>
        </p:nvSpPr>
        <p:spPr>
          <a:xfrm>
            <a:off x="1871616" y="3659018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1-{2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 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82" name="文本框 151"/>
          <p:cNvSpPr txBox="1"/>
          <p:nvPr/>
        </p:nvSpPr>
        <p:spPr>
          <a:xfrm>
            <a:off x="5255992" y="2904410"/>
            <a:ext cx="1368000" cy="20055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{</a:t>
            </a:r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85" name="文本框 166"/>
          <p:cNvSpPr txBox="1"/>
          <p:nvPr/>
        </p:nvSpPr>
        <p:spPr>
          <a:xfrm>
            <a:off x="6883711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3 5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86" name="直接箭头连接符 185"/>
          <p:cNvCxnSpPr>
            <a:stCxn id="203" idx="2"/>
            <a:endCxn id="187" idx="0"/>
          </p:cNvCxnSpPr>
          <p:nvPr/>
        </p:nvCxnSpPr>
        <p:spPr>
          <a:xfrm>
            <a:off x="5958042" y="4672691"/>
            <a:ext cx="209913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文本框 184"/>
          <p:cNvSpPr txBox="1"/>
          <p:nvPr/>
        </p:nvSpPr>
        <p:spPr>
          <a:xfrm>
            <a:off x="5969953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5 6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88" name="文本框 185"/>
          <p:cNvSpPr txBox="1"/>
          <p:nvPr/>
        </p:nvSpPr>
        <p:spPr>
          <a:xfrm>
            <a:off x="7308304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3 6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89" name="直接箭头连接符 188"/>
          <p:cNvCxnSpPr>
            <a:stCxn id="153" idx="2"/>
            <a:endCxn id="177" idx="0"/>
          </p:cNvCxnSpPr>
          <p:nvPr/>
        </p:nvCxnSpPr>
        <p:spPr>
          <a:xfrm>
            <a:off x="5958024" y="3875019"/>
            <a:ext cx="1116208" cy="581673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>
            <a:stCxn id="177" idx="2"/>
            <a:endCxn id="185" idx="0"/>
          </p:cNvCxnSpPr>
          <p:nvPr/>
        </p:nvCxnSpPr>
        <p:spPr>
          <a:xfrm>
            <a:off x="7074234" y="4672691"/>
            <a:ext cx="7479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>
            <a:stCxn id="177" idx="2"/>
            <a:endCxn id="188" idx="0"/>
          </p:cNvCxnSpPr>
          <p:nvPr/>
        </p:nvCxnSpPr>
        <p:spPr>
          <a:xfrm>
            <a:off x="7074232" y="4672691"/>
            <a:ext cx="432072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文本框 159"/>
          <p:cNvSpPr txBox="1"/>
          <p:nvPr/>
        </p:nvSpPr>
        <p:spPr>
          <a:xfrm>
            <a:off x="5688040" y="4456690"/>
            <a:ext cx="54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5-{6}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204" name="直接箭头连接符 203"/>
          <p:cNvCxnSpPr>
            <a:stCxn id="153" idx="2"/>
            <a:endCxn id="203" idx="0"/>
          </p:cNvCxnSpPr>
          <p:nvPr/>
        </p:nvCxnSpPr>
        <p:spPr>
          <a:xfrm>
            <a:off x="5958024" y="3875019"/>
            <a:ext cx="16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文本框 159"/>
          <p:cNvSpPr txBox="1"/>
          <p:nvPr/>
        </p:nvSpPr>
        <p:spPr>
          <a:xfrm>
            <a:off x="1439568" y="4456690"/>
            <a:ext cx="90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2-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{3 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206" name="文本框 160"/>
          <p:cNvSpPr txBox="1"/>
          <p:nvPr/>
        </p:nvSpPr>
        <p:spPr>
          <a:xfrm>
            <a:off x="3815968" y="4456690"/>
            <a:ext cx="82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3 -{4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207" name="直接箭头连接符 206"/>
          <p:cNvCxnSpPr>
            <a:stCxn id="180" idx="2"/>
            <a:endCxn id="205" idx="0"/>
          </p:cNvCxnSpPr>
          <p:nvPr/>
        </p:nvCxnSpPr>
        <p:spPr>
          <a:xfrm flipH="1">
            <a:off x="1889568" y="3875019"/>
            <a:ext cx="432048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/>
          <p:cNvCxnSpPr>
            <a:stCxn id="180" idx="2"/>
            <a:endCxn id="206" idx="0"/>
          </p:cNvCxnSpPr>
          <p:nvPr/>
        </p:nvCxnSpPr>
        <p:spPr>
          <a:xfrm>
            <a:off x="2321616" y="3875019"/>
            <a:ext cx="1908352" cy="581673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文本框 165"/>
          <p:cNvSpPr txBox="1"/>
          <p:nvPr/>
        </p:nvSpPr>
        <p:spPr>
          <a:xfrm>
            <a:off x="2339752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altLang="zh-CN" sz="1100" b="1" kern="100" dirty="0">
                <a:latin typeface="Gulim"/>
                <a:ea typeface="宋体"/>
                <a:cs typeface="Times New Roman"/>
              </a:rPr>
              <a:t>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211" name="文本框 167"/>
          <p:cNvSpPr txBox="1"/>
          <p:nvPr/>
        </p:nvSpPr>
        <p:spPr>
          <a:xfrm>
            <a:off x="4142437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212" name="直接箭头连接符 211"/>
          <p:cNvCxnSpPr>
            <a:stCxn id="205" idx="2"/>
            <a:endCxn id="213" idx="0"/>
          </p:cNvCxnSpPr>
          <p:nvPr/>
        </p:nvCxnSpPr>
        <p:spPr>
          <a:xfrm flipH="1">
            <a:off x="1655264" y="4672691"/>
            <a:ext cx="234304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文本框 171"/>
          <p:cNvSpPr txBox="1"/>
          <p:nvPr/>
        </p:nvSpPr>
        <p:spPr>
          <a:xfrm>
            <a:off x="1457264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214" name="文本框 172"/>
          <p:cNvSpPr txBox="1"/>
          <p:nvPr/>
        </p:nvSpPr>
        <p:spPr>
          <a:xfrm>
            <a:off x="4599316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215" name="文本框 173"/>
          <p:cNvSpPr txBox="1"/>
          <p:nvPr/>
        </p:nvSpPr>
        <p:spPr>
          <a:xfrm>
            <a:off x="2771800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1 5 6</a:t>
            </a:r>
            <a:endParaRPr lang="zh-CN" altLang="en-US" sz="1100" kern="10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216" name="直接箭头连接符 215"/>
          <p:cNvCxnSpPr>
            <a:stCxn id="205" idx="2"/>
            <a:endCxn id="209" idx="0"/>
          </p:cNvCxnSpPr>
          <p:nvPr/>
        </p:nvCxnSpPr>
        <p:spPr>
          <a:xfrm>
            <a:off x="1889568" y="4672691"/>
            <a:ext cx="648184" cy="743755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>
            <a:stCxn id="206" idx="2"/>
            <a:endCxn id="211" idx="0"/>
          </p:cNvCxnSpPr>
          <p:nvPr/>
        </p:nvCxnSpPr>
        <p:spPr>
          <a:xfrm>
            <a:off x="4229970" y="4672691"/>
            <a:ext cx="110469" cy="7437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文本框 159"/>
          <p:cNvSpPr txBox="1"/>
          <p:nvPr/>
        </p:nvSpPr>
        <p:spPr>
          <a:xfrm>
            <a:off x="2375672" y="4456690"/>
            <a:ext cx="54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5-{6}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221" name="直接箭头连接符 220"/>
          <p:cNvCxnSpPr>
            <a:stCxn id="180" idx="2"/>
            <a:endCxn id="220" idx="0"/>
          </p:cNvCxnSpPr>
          <p:nvPr/>
        </p:nvCxnSpPr>
        <p:spPr>
          <a:xfrm>
            <a:off x="2321616" y="3875019"/>
            <a:ext cx="324056" cy="58167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0" y="2197663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: {1 2 3}, {1 2 5}, {1 2 6}, {1 3 5}, {1 3 6}, {1 5 6}, {2 3 5}, {2 3 6}, {2 5 6}, {3 5 6}</a:t>
            </a:r>
          </a:p>
        </p:txBody>
      </p:sp>
      <p:sp>
        <p:nvSpPr>
          <p:cNvPr id="122" name="矩形 121"/>
          <p:cNvSpPr/>
          <p:nvPr/>
        </p:nvSpPr>
        <p:spPr>
          <a:xfrm>
            <a:off x="264136" y="2544310"/>
            <a:ext cx="35830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由候选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3-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项集生成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Hash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树结构</a:t>
            </a:r>
            <a:endParaRPr lang="en-US" altLang="zh-CN" b="1" dirty="0">
              <a:latin typeface="Gulim" pitchFamily="34" charset="-127"/>
              <a:ea typeface="Gulim" pitchFamily="34" charset="-127"/>
              <a:cs typeface="Times New Roman" pitchFamily="18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8434800" y="2197663"/>
            <a:ext cx="648000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indent="-190500">
              <a:spcBef>
                <a:spcPct val="50000"/>
              </a:spcBef>
            </a:pPr>
            <a:r>
              <a:rPr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{3 5 6}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17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nimBg="1"/>
      <p:bldP spid="154" grpId="0" animBg="1"/>
      <p:bldP spid="165" grpId="0" animBg="1"/>
      <p:bldP spid="167" grpId="0" animBg="1"/>
      <p:bldP spid="177" grpId="0" animBg="1"/>
      <p:bldP spid="185" grpId="0" animBg="1"/>
      <p:bldP spid="187" grpId="0" animBg="1"/>
      <p:bldP spid="188" grpId="0" animBg="1"/>
      <p:bldP spid="203" grpId="0" animBg="1"/>
      <p:bldP spid="215" grpId="0" animBg="1"/>
      <p:bldP spid="220" grpId="0" animBg="1"/>
      <p:bldP spid="1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118" name="内容占位符 1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细黑" pitchFamily="2" charset="-122"/>
              </a:rPr>
              <a:t>【</a:t>
            </a:r>
            <a:r>
              <a:rPr lang="zh-CN" altLang="en-US" dirty="0">
                <a:latin typeface="华文细黑" pitchFamily="2" charset="-122"/>
              </a:rPr>
              <a:t>例</a:t>
            </a:r>
            <a:r>
              <a:rPr lang="en-US" altLang="zh-CN" dirty="0">
                <a:latin typeface="华文细黑" pitchFamily="2" charset="-122"/>
              </a:rPr>
              <a:t>】</a:t>
            </a:r>
            <a:r>
              <a:rPr lang="zh-CN" altLang="en-US" dirty="0">
                <a:latin typeface="华文细黑" pitchFamily="2" charset="-122"/>
              </a:rPr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  <a:p>
            <a:pPr marL="82296" indent="0">
              <a:buNone/>
            </a:pPr>
            <a:endParaRPr lang="zh-CN" altLang="en-US" dirty="0"/>
          </a:p>
        </p:txBody>
      </p:sp>
      <p:grpSp>
        <p:nvGrpSpPr>
          <p:cNvPr id="115" name="组合 114"/>
          <p:cNvGrpSpPr>
            <a:grpSpLocks noChangeAspect="1"/>
          </p:cNvGrpSpPr>
          <p:nvPr/>
        </p:nvGrpSpPr>
        <p:grpSpPr>
          <a:xfrm>
            <a:off x="5539007" y="1095941"/>
            <a:ext cx="3425480" cy="918102"/>
            <a:chOff x="5481517" y="2060848"/>
            <a:chExt cx="2126718" cy="760008"/>
          </a:xfrm>
        </p:grpSpPr>
        <p:sp>
          <p:nvSpPr>
            <p:cNvPr id="10" name="文本框 26"/>
            <p:cNvSpPr txBox="1"/>
            <p:nvPr/>
          </p:nvSpPr>
          <p:spPr>
            <a:xfrm>
              <a:off x="6391042" y="2060848"/>
              <a:ext cx="481690" cy="22930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11" name="流程图: 联系 10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12" name="直接箭头连接符 11"/>
            <p:cNvCxnSpPr>
              <a:stCxn id="11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11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11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 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4, 7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7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28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3, 6, 9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87" name="文本框 160"/>
          <p:cNvSpPr txBox="1"/>
          <p:nvPr/>
        </p:nvSpPr>
        <p:spPr>
          <a:xfrm>
            <a:off x="6660232" y="4452459"/>
            <a:ext cx="82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3" name="文本框 154"/>
          <p:cNvSpPr txBox="1"/>
          <p:nvPr/>
        </p:nvSpPr>
        <p:spPr>
          <a:xfrm>
            <a:off x="1871616" y="3656152"/>
            <a:ext cx="900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1-{2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 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2" name="文本框 151"/>
          <p:cNvSpPr txBox="1"/>
          <p:nvPr/>
        </p:nvSpPr>
        <p:spPr>
          <a:xfrm>
            <a:off x="5616200" y="2841098"/>
            <a:ext cx="648000" cy="27000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b="1" kern="100" dirty="0">
                <a:latin typeface="Gulim"/>
                <a:ea typeface="宋体"/>
                <a:cs typeface="Times New Roman"/>
              </a:rPr>
              <a:t>root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5" name="文本框 155"/>
          <p:cNvSpPr txBox="1"/>
          <p:nvPr/>
        </p:nvSpPr>
        <p:spPr>
          <a:xfrm>
            <a:off x="5544024" y="3656023"/>
            <a:ext cx="82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2-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{3 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1" name="文本框 156"/>
          <p:cNvSpPr txBox="1"/>
          <p:nvPr/>
        </p:nvSpPr>
        <p:spPr>
          <a:xfrm>
            <a:off x="8208392" y="3656023"/>
            <a:ext cx="64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42" name="直接箭头连接符 41"/>
          <p:cNvCxnSpPr>
            <a:stCxn id="32" idx="2"/>
            <a:endCxn id="33" idx="0"/>
          </p:cNvCxnSpPr>
          <p:nvPr/>
        </p:nvCxnSpPr>
        <p:spPr>
          <a:xfrm flipH="1">
            <a:off x="2321616" y="3111098"/>
            <a:ext cx="3618584" cy="545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2" idx="2"/>
            <a:endCxn id="35" idx="0"/>
          </p:cNvCxnSpPr>
          <p:nvPr/>
        </p:nvCxnSpPr>
        <p:spPr>
          <a:xfrm>
            <a:off x="5940200" y="3111098"/>
            <a:ext cx="17824" cy="544926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32" idx="2"/>
            <a:endCxn id="41" idx="0"/>
          </p:cNvCxnSpPr>
          <p:nvPr/>
        </p:nvCxnSpPr>
        <p:spPr>
          <a:xfrm>
            <a:off x="5940200" y="3111098"/>
            <a:ext cx="2592192" cy="544926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159"/>
          <p:cNvSpPr txBox="1"/>
          <p:nvPr/>
        </p:nvSpPr>
        <p:spPr>
          <a:xfrm>
            <a:off x="1439568" y="4452459"/>
            <a:ext cx="90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2-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{3 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8" name="文本框 160"/>
          <p:cNvSpPr txBox="1"/>
          <p:nvPr/>
        </p:nvSpPr>
        <p:spPr>
          <a:xfrm>
            <a:off x="3815968" y="4452459"/>
            <a:ext cx="828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3 -{4 5 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51" name="直接箭头连接符 50"/>
          <p:cNvCxnSpPr>
            <a:stCxn id="33" idx="2"/>
            <a:endCxn id="47" idx="0"/>
          </p:cNvCxnSpPr>
          <p:nvPr/>
        </p:nvCxnSpPr>
        <p:spPr>
          <a:xfrm flipH="1">
            <a:off x="1889568" y="3872153"/>
            <a:ext cx="432048" cy="580307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3" idx="2"/>
            <a:endCxn id="48" idx="0"/>
          </p:cNvCxnSpPr>
          <p:nvPr/>
        </p:nvCxnSpPr>
        <p:spPr>
          <a:xfrm>
            <a:off x="2321616" y="3872153"/>
            <a:ext cx="1908352" cy="580307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165"/>
          <p:cNvSpPr txBox="1"/>
          <p:nvPr/>
        </p:nvSpPr>
        <p:spPr>
          <a:xfrm>
            <a:off x="2339752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4" name="文本框 166"/>
          <p:cNvSpPr txBox="1"/>
          <p:nvPr/>
        </p:nvSpPr>
        <p:spPr>
          <a:xfrm>
            <a:off x="6883711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3 5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5" name="文本框 167"/>
          <p:cNvSpPr txBox="1"/>
          <p:nvPr/>
        </p:nvSpPr>
        <p:spPr>
          <a:xfrm>
            <a:off x="4142437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58" name="直接箭头连接符 57"/>
          <p:cNvCxnSpPr>
            <a:stCxn id="47" idx="2"/>
            <a:endCxn id="59" idx="0"/>
          </p:cNvCxnSpPr>
          <p:nvPr/>
        </p:nvCxnSpPr>
        <p:spPr>
          <a:xfrm flipH="1">
            <a:off x="1655264" y="4668460"/>
            <a:ext cx="234304" cy="747986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171"/>
          <p:cNvSpPr txBox="1"/>
          <p:nvPr/>
        </p:nvSpPr>
        <p:spPr>
          <a:xfrm>
            <a:off x="1457264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60" name="文本框 172"/>
          <p:cNvSpPr txBox="1"/>
          <p:nvPr/>
        </p:nvSpPr>
        <p:spPr>
          <a:xfrm>
            <a:off x="4599316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1 3 6	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61" name="文本框 173"/>
          <p:cNvSpPr txBox="1"/>
          <p:nvPr/>
        </p:nvSpPr>
        <p:spPr>
          <a:xfrm>
            <a:off x="2771800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1 5 6</a:t>
            </a:r>
            <a:endParaRPr lang="zh-CN" altLang="en-US" sz="1100" kern="10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2" name="直接箭头连接符 61"/>
          <p:cNvCxnSpPr>
            <a:stCxn id="47" idx="2"/>
            <a:endCxn id="53" idx="0"/>
          </p:cNvCxnSpPr>
          <p:nvPr/>
        </p:nvCxnSpPr>
        <p:spPr>
          <a:xfrm>
            <a:off x="1889568" y="4668460"/>
            <a:ext cx="648184" cy="747986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48" idx="2"/>
            <a:endCxn id="55" idx="0"/>
          </p:cNvCxnSpPr>
          <p:nvPr/>
        </p:nvCxnSpPr>
        <p:spPr>
          <a:xfrm>
            <a:off x="4229970" y="4668460"/>
            <a:ext cx="110469" cy="747986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106" idx="2"/>
            <a:endCxn id="72" idx="0"/>
          </p:cNvCxnSpPr>
          <p:nvPr/>
        </p:nvCxnSpPr>
        <p:spPr>
          <a:xfrm>
            <a:off x="5958042" y="4676923"/>
            <a:ext cx="209913" cy="739523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184"/>
          <p:cNvSpPr txBox="1"/>
          <p:nvPr/>
        </p:nvSpPr>
        <p:spPr>
          <a:xfrm>
            <a:off x="5969953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5 6	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73" name="文本框 185"/>
          <p:cNvSpPr txBox="1"/>
          <p:nvPr/>
        </p:nvSpPr>
        <p:spPr>
          <a:xfrm>
            <a:off x="7308304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3 6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76" name="直接箭头连接符 75"/>
          <p:cNvCxnSpPr>
            <a:stCxn id="35" idx="2"/>
            <a:endCxn id="87" idx="0"/>
          </p:cNvCxnSpPr>
          <p:nvPr/>
        </p:nvCxnSpPr>
        <p:spPr>
          <a:xfrm>
            <a:off x="5958024" y="3872024"/>
            <a:ext cx="1116208" cy="580436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85" idx="2"/>
            <a:endCxn id="61" idx="0"/>
          </p:cNvCxnSpPr>
          <p:nvPr/>
        </p:nvCxnSpPr>
        <p:spPr>
          <a:xfrm>
            <a:off x="2645672" y="4674922"/>
            <a:ext cx="324128" cy="741524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48" idx="2"/>
            <a:endCxn id="60" idx="0"/>
          </p:cNvCxnSpPr>
          <p:nvPr/>
        </p:nvCxnSpPr>
        <p:spPr>
          <a:xfrm>
            <a:off x="4229968" y="4668460"/>
            <a:ext cx="567348" cy="747986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stCxn id="87" idx="2"/>
            <a:endCxn id="54" idx="0"/>
          </p:cNvCxnSpPr>
          <p:nvPr/>
        </p:nvCxnSpPr>
        <p:spPr>
          <a:xfrm>
            <a:off x="7074234" y="4668460"/>
            <a:ext cx="7479" cy="747986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>
            <a:stCxn id="87" idx="2"/>
            <a:endCxn id="73" idx="0"/>
          </p:cNvCxnSpPr>
          <p:nvPr/>
        </p:nvCxnSpPr>
        <p:spPr>
          <a:xfrm>
            <a:off x="7074232" y="4668460"/>
            <a:ext cx="432072" cy="747986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71"/>
          <p:cNvSpPr txBox="1"/>
          <p:nvPr/>
        </p:nvSpPr>
        <p:spPr>
          <a:xfrm>
            <a:off x="1914143" y="5416445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6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09" name="直接箭头连接符 108"/>
          <p:cNvCxnSpPr>
            <a:stCxn id="47" idx="2"/>
            <a:endCxn id="108" idx="0"/>
          </p:cNvCxnSpPr>
          <p:nvPr/>
        </p:nvCxnSpPr>
        <p:spPr>
          <a:xfrm>
            <a:off x="1889570" y="4668460"/>
            <a:ext cx="222575" cy="747986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159"/>
          <p:cNvSpPr txBox="1"/>
          <p:nvPr/>
        </p:nvSpPr>
        <p:spPr>
          <a:xfrm>
            <a:off x="2375672" y="4458921"/>
            <a:ext cx="54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5-{6}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86" name="直接箭头连接符 85"/>
          <p:cNvCxnSpPr>
            <a:stCxn id="33" idx="2"/>
            <a:endCxn id="85" idx="0"/>
          </p:cNvCxnSpPr>
          <p:nvPr/>
        </p:nvCxnSpPr>
        <p:spPr>
          <a:xfrm>
            <a:off x="2321616" y="3872153"/>
            <a:ext cx="324056" cy="586769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59"/>
          <p:cNvSpPr txBox="1"/>
          <p:nvPr/>
        </p:nvSpPr>
        <p:spPr>
          <a:xfrm>
            <a:off x="5688040" y="4460922"/>
            <a:ext cx="54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100" b="1" kern="100" dirty="0">
                <a:latin typeface="Gulim"/>
                <a:ea typeface="宋体"/>
                <a:cs typeface="Times New Roman"/>
              </a:rPr>
              <a:t>5-{6}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07" name="直接箭头连接符 106"/>
          <p:cNvCxnSpPr>
            <a:stCxn id="35" idx="2"/>
            <a:endCxn id="106" idx="0"/>
          </p:cNvCxnSpPr>
          <p:nvPr/>
        </p:nvCxnSpPr>
        <p:spPr>
          <a:xfrm>
            <a:off x="5958024" y="3872024"/>
            <a:ext cx="16" cy="588899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159"/>
          <p:cNvSpPr txBox="1"/>
          <p:nvPr/>
        </p:nvSpPr>
        <p:spPr>
          <a:xfrm>
            <a:off x="8316392" y="4452459"/>
            <a:ext cx="540000" cy="2160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3 5-{6}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29" name="直接箭头连接符 128"/>
          <p:cNvCxnSpPr>
            <a:stCxn id="41" idx="2"/>
            <a:endCxn id="128" idx="0"/>
          </p:cNvCxnSpPr>
          <p:nvPr/>
        </p:nvCxnSpPr>
        <p:spPr>
          <a:xfrm>
            <a:off x="8532392" y="3872024"/>
            <a:ext cx="54000" cy="580436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184"/>
          <p:cNvSpPr txBox="1"/>
          <p:nvPr/>
        </p:nvSpPr>
        <p:spPr>
          <a:xfrm>
            <a:off x="8654112" y="5411806"/>
            <a:ext cx="396000" cy="216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3 5 6	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45" name="直接箭头连接符 144"/>
          <p:cNvCxnSpPr>
            <a:stCxn id="128" idx="2"/>
            <a:endCxn id="132" idx="0"/>
          </p:cNvCxnSpPr>
          <p:nvPr/>
        </p:nvCxnSpPr>
        <p:spPr>
          <a:xfrm>
            <a:off x="8586392" y="4668461"/>
            <a:ext cx="265720" cy="743347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151"/>
          <p:cNvSpPr txBox="1"/>
          <p:nvPr/>
        </p:nvSpPr>
        <p:spPr>
          <a:xfrm>
            <a:off x="5333461" y="2780928"/>
            <a:ext cx="1182757" cy="280714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{1 </a:t>
            </a:r>
            <a:r>
              <a:rPr lang="en-US" altLang="zh-CN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3</a:t>
            </a:r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 </a:t>
            </a:r>
            <a:r>
              <a:rPr lang="en-US" altLang="zh-CN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4 </a:t>
            </a:r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6}</a:t>
            </a:r>
            <a:endParaRPr lang="zh-CN" altLang="en-US" sz="1600" kern="100" dirty="0">
              <a:solidFill>
                <a:srgbClr val="C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57" name="矩形 56"/>
          <p:cNvSpPr/>
          <p:nvPr/>
        </p:nvSpPr>
        <p:spPr>
          <a:xfrm rot="21132142">
            <a:off x="354811" y="2398220"/>
            <a:ext cx="4104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事务数据项 </a:t>
            </a:r>
            <a:r>
              <a:rPr lang="en-US" altLang="zh-CN" i="1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 </a:t>
            </a:r>
            <a:r>
              <a:rPr lang="zh-CN" altLang="en-US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按照同样的规则进行散列，如果能够到达叶结点中的候选项集，则对其支持度计数加</a:t>
            </a:r>
            <a:r>
              <a:rPr lang="en-US" altLang="zh-CN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。</a:t>
            </a:r>
          </a:p>
        </p:txBody>
      </p:sp>
      <p:cxnSp>
        <p:nvCxnSpPr>
          <p:cNvPr id="63" name="直接箭头连接符 62"/>
          <p:cNvCxnSpPr>
            <a:stCxn id="32" idx="2"/>
            <a:endCxn id="33" idx="0"/>
          </p:cNvCxnSpPr>
          <p:nvPr/>
        </p:nvCxnSpPr>
        <p:spPr>
          <a:xfrm flipH="1">
            <a:off x="2321616" y="3111098"/>
            <a:ext cx="3618584" cy="545054"/>
          </a:xfrm>
          <a:prstGeom prst="straightConnector1">
            <a:avLst/>
          </a:prstGeom>
          <a:ln w="57150">
            <a:solidFill>
              <a:srgbClr val="7030A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151"/>
          <p:cNvSpPr txBox="1"/>
          <p:nvPr/>
        </p:nvSpPr>
        <p:spPr>
          <a:xfrm>
            <a:off x="2771800" y="3623421"/>
            <a:ext cx="936000" cy="28071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1</a:t>
            </a:r>
            <a:r>
              <a:rPr lang="en-US" altLang="zh-CN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-</a:t>
            </a:r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{</a:t>
            </a:r>
            <a:r>
              <a:rPr lang="en-US" altLang="zh-CN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3</a:t>
            </a:r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 </a:t>
            </a:r>
            <a:r>
              <a:rPr lang="en-US" altLang="zh-CN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4 </a:t>
            </a:r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6}</a:t>
            </a:r>
            <a:endParaRPr lang="zh-CN" altLang="en-US" sz="1600" kern="100" dirty="0">
              <a:solidFill>
                <a:srgbClr val="C0000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6" name="直接箭头连接符 65"/>
          <p:cNvCxnSpPr>
            <a:stCxn id="33" idx="2"/>
            <a:endCxn id="48" idx="0"/>
          </p:cNvCxnSpPr>
          <p:nvPr/>
        </p:nvCxnSpPr>
        <p:spPr>
          <a:xfrm>
            <a:off x="2321616" y="3872153"/>
            <a:ext cx="1908352" cy="580307"/>
          </a:xfrm>
          <a:prstGeom prst="straightConnector1">
            <a:avLst/>
          </a:prstGeom>
          <a:ln w="57150">
            <a:solidFill>
              <a:srgbClr val="7030A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151"/>
          <p:cNvSpPr txBox="1"/>
          <p:nvPr/>
        </p:nvSpPr>
        <p:spPr>
          <a:xfrm>
            <a:off x="4212064" y="4185201"/>
            <a:ext cx="936000" cy="28071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1 3</a:t>
            </a:r>
            <a:r>
              <a:rPr lang="en-US" altLang="zh-CN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-</a:t>
            </a:r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{</a:t>
            </a:r>
            <a:r>
              <a:rPr lang="en-US" altLang="zh-CN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4 </a:t>
            </a:r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6}</a:t>
            </a:r>
            <a:endParaRPr lang="zh-CN" altLang="en-US" sz="1600" kern="100" dirty="0">
              <a:solidFill>
                <a:srgbClr val="C0000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9" name="直接箭头连接符 68"/>
          <p:cNvCxnSpPr>
            <a:stCxn id="48" idx="2"/>
            <a:endCxn id="60" idx="0"/>
          </p:cNvCxnSpPr>
          <p:nvPr/>
        </p:nvCxnSpPr>
        <p:spPr>
          <a:xfrm>
            <a:off x="4229968" y="4668460"/>
            <a:ext cx="567348" cy="747986"/>
          </a:xfrm>
          <a:prstGeom prst="straightConnector1">
            <a:avLst/>
          </a:prstGeom>
          <a:ln w="57150">
            <a:solidFill>
              <a:srgbClr val="7030A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172"/>
          <p:cNvSpPr txBox="1"/>
          <p:nvPr/>
        </p:nvSpPr>
        <p:spPr>
          <a:xfrm>
            <a:off x="4599316" y="5416445"/>
            <a:ext cx="396000" cy="2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kern="100" dirty="0">
                <a:latin typeface="Gulim"/>
                <a:ea typeface="宋体"/>
                <a:cs typeface="Times New Roman"/>
              </a:rPr>
              <a:t>1 3 6	</a:t>
            </a:r>
            <a:endParaRPr lang="zh-CN" altLang="en-US" sz="11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71" name="文本框 151"/>
          <p:cNvSpPr txBox="1"/>
          <p:nvPr/>
        </p:nvSpPr>
        <p:spPr>
          <a:xfrm>
            <a:off x="5333461" y="2780928"/>
            <a:ext cx="1182757" cy="280714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{</a:t>
            </a:r>
            <a:r>
              <a:rPr lang="en-US" altLang="zh-CN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3</a:t>
            </a:r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 </a:t>
            </a:r>
            <a:r>
              <a:rPr lang="en-US" altLang="zh-CN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4 </a:t>
            </a:r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6}</a:t>
            </a:r>
            <a:endParaRPr lang="zh-CN" altLang="en-US" sz="1600" kern="100" dirty="0">
              <a:solidFill>
                <a:srgbClr val="C0000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74" name="直接箭头连接符 73"/>
          <p:cNvCxnSpPr>
            <a:stCxn id="32" idx="2"/>
            <a:endCxn id="41" idx="0"/>
          </p:cNvCxnSpPr>
          <p:nvPr/>
        </p:nvCxnSpPr>
        <p:spPr>
          <a:xfrm>
            <a:off x="5940200" y="3111098"/>
            <a:ext cx="2592192" cy="544926"/>
          </a:xfrm>
          <a:prstGeom prst="straightConnector1">
            <a:avLst/>
          </a:prstGeom>
          <a:ln w="57150">
            <a:solidFill>
              <a:srgbClr val="7030A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151"/>
          <p:cNvSpPr txBox="1"/>
          <p:nvPr/>
        </p:nvSpPr>
        <p:spPr>
          <a:xfrm>
            <a:off x="8100392" y="3243268"/>
            <a:ext cx="936000" cy="28071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3-</a:t>
            </a:r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{</a:t>
            </a:r>
            <a:r>
              <a:rPr lang="en-US" altLang="zh-CN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4 </a:t>
            </a:r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6}</a:t>
            </a:r>
            <a:endParaRPr lang="zh-CN" altLang="en-US" sz="1600" kern="100" dirty="0">
              <a:solidFill>
                <a:srgbClr val="C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77" name="文本框 151"/>
          <p:cNvSpPr txBox="1"/>
          <p:nvPr/>
        </p:nvSpPr>
        <p:spPr>
          <a:xfrm>
            <a:off x="5348823" y="2780928"/>
            <a:ext cx="1182757" cy="280714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{</a:t>
            </a:r>
            <a:r>
              <a:rPr lang="en-US" altLang="zh-CN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4 </a:t>
            </a:r>
            <a:r>
              <a:rPr lang="en-US" sz="1600" b="1" kern="100" dirty="0">
                <a:solidFill>
                  <a:srgbClr val="C00000"/>
                </a:solidFill>
                <a:latin typeface="Gulim"/>
                <a:ea typeface="宋体"/>
                <a:cs typeface="Times New Roman"/>
              </a:rPr>
              <a:t>6}</a:t>
            </a:r>
            <a:endParaRPr lang="zh-CN" altLang="en-US" sz="1600" kern="100" dirty="0">
              <a:solidFill>
                <a:srgbClr val="C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82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6" grpId="1" animBg="1"/>
      <p:bldP spid="57" grpId="0"/>
      <p:bldP spid="65" grpId="0"/>
      <p:bldP spid="65" grpId="1"/>
      <p:bldP spid="67" grpId="0"/>
      <p:bldP spid="67" grpId="1"/>
      <p:bldP spid="70" grpId="0" animBg="1"/>
      <p:bldP spid="71" grpId="0" animBg="1"/>
      <p:bldP spid="75" grpId="0"/>
      <p:bldP spid="75" grpId="1"/>
      <p:bldP spid="7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17" name="内容占位符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细黑" pitchFamily="2" charset="-122"/>
              </a:rPr>
              <a:t>【</a:t>
            </a:r>
            <a:r>
              <a:rPr lang="zh-CN" altLang="en-US" dirty="0">
                <a:latin typeface="华文细黑" pitchFamily="2" charset="-122"/>
              </a:rPr>
              <a:t>例</a:t>
            </a:r>
            <a:r>
              <a:rPr lang="en-US" altLang="zh-CN" dirty="0">
                <a:latin typeface="华文细黑" pitchFamily="2" charset="-122"/>
              </a:rPr>
              <a:t>】</a:t>
            </a:r>
            <a:r>
              <a:rPr lang="zh-CN" altLang="en-US" dirty="0">
                <a:latin typeface="华文细黑" pitchFamily="2" charset="-122"/>
              </a:rPr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</p:txBody>
      </p:sp>
      <p:cxnSp>
        <p:nvCxnSpPr>
          <p:cNvPr id="51" name="直接箭头连接符 50"/>
          <p:cNvCxnSpPr>
            <a:stCxn id="33" idx="2"/>
            <a:endCxn id="47" idx="0"/>
          </p:cNvCxnSpPr>
          <p:nvPr/>
        </p:nvCxnSpPr>
        <p:spPr>
          <a:xfrm flipH="1">
            <a:off x="2283375" y="3523836"/>
            <a:ext cx="1233656" cy="435730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77" idx="2"/>
            <a:endCxn id="96" idx="0"/>
          </p:cNvCxnSpPr>
          <p:nvPr/>
        </p:nvCxnSpPr>
        <p:spPr>
          <a:xfrm>
            <a:off x="3639819" y="4955474"/>
            <a:ext cx="988364" cy="56907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165"/>
          <p:cNvSpPr txBox="1"/>
          <p:nvPr/>
        </p:nvSpPr>
        <p:spPr>
          <a:xfrm>
            <a:off x="1373418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5" name="文本框 167"/>
          <p:cNvSpPr txBox="1"/>
          <p:nvPr/>
        </p:nvSpPr>
        <p:spPr>
          <a:xfrm>
            <a:off x="4955136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1 3 5 6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58" name="直接箭头连接符 57"/>
          <p:cNvCxnSpPr>
            <a:stCxn id="56" idx="2"/>
            <a:endCxn id="59" idx="0"/>
          </p:cNvCxnSpPr>
          <p:nvPr/>
        </p:nvCxnSpPr>
        <p:spPr>
          <a:xfrm>
            <a:off x="986528" y="4955474"/>
            <a:ext cx="59939" cy="56907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171"/>
          <p:cNvSpPr txBox="1"/>
          <p:nvPr/>
        </p:nvSpPr>
        <p:spPr>
          <a:xfrm>
            <a:off x="776465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2" name="直接箭头连接符 61"/>
          <p:cNvCxnSpPr>
            <a:stCxn id="56" idx="2"/>
            <a:endCxn id="53" idx="0"/>
          </p:cNvCxnSpPr>
          <p:nvPr/>
        </p:nvCxnSpPr>
        <p:spPr>
          <a:xfrm>
            <a:off x="986526" y="4955474"/>
            <a:ext cx="656892" cy="56907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78" idx="2"/>
            <a:endCxn id="55" idx="0"/>
          </p:cNvCxnSpPr>
          <p:nvPr/>
        </p:nvCxnSpPr>
        <p:spPr>
          <a:xfrm>
            <a:off x="4548250" y="4955474"/>
            <a:ext cx="676886" cy="56907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121" idx="2"/>
            <a:endCxn id="72" idx="0"/>
          </p:cNvCxnSpPr>
          <p:nvPr/>
        </p:nvCxnSpPr>
        <p:spPr>
          <a:xfrm>
            <a:off x="6185112" y="4955474"/>
            <a:ext cx="233930" cy="56907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184"/>
          <p:cNvSpPr txBox="1"/>
          <p:nvPr/>
        </p:nvSpPr>
        <p:spPr>
          <a:xfrm>
            <a:off x="6149042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3 4 5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08" name="文本框 171"/>
          <p:cNvSpPr txBox="1"/>
          <p:nvPr/>
        </p:nvSpPr>
        <p:spPr>
          <a:xfrm>
            <a:off x="1970371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4 5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09" name="直接箭头连接符 108"/>
          <p:cNvCxnSpPr>
            <a:stCxn id="47" idx="2"/>
            <a:endCxn id="56" idx="0"/>
          </p:cNvCxnSpPr>
          <p:nvPr/>
        </p:nvCxnSpPr>
        <p:spPr>
          <a:xfrm flipH="1">
            <a:off x="986528" y="4186366"/>
            <a:ext cx="1296849" cy="542308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65" idx="2"/>
            <a:endCxn id="108" idx="0"/>
          </p:cNvCxnSpPr>
          <p:nvPr/>
        </p:nvCxnSpPr>
        <p:spPr>
          <a:xfrm>
            <a:off x="1930957" y="4955474"/>
            <a:ext cx="309414" cy="56907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/>
          <p:cNvGrpSpPr>
            <a:grpSpLocks noChangeAspect="1"/>
          </p:cNvGrpSpPr>
          <p:nvPr/>
        </p:nvGrpSpPr>
        <p:grpSpPr>
          <a:xfrm>
            <a:off x="5539007" y="1095941"/>
            <a:ext cx="3425480" cy="918102"/>
            <a:chOff x="5481517" y="2060848"/>
            <a:chExt cx="2126718" cy="760008"/>
          </a:xfrm>
        </p:grpSpPr>
        <p:sp>
          <p:nvSpPr>
            <p:cNvPr id="38" name="文本框 26"/>
            <p:cNvSpPr txBox="1"/>
            <p:nvPr/>
          </p:nvSpPr>
          <p:spPr>
            <a:xfrm>
              <a:off x="6391042" y="2060848"/>
              <a:ext cx="481690" cy="22930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39" name="流程图: 联系 38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40" name="直接箭头连接符 39"/>
            <p:cNvCxnSpPr>
              <a:stCxn id="39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9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39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50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54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3,6,9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57" name="矩形 56"/>
          <p:cNvSpPr/>
          <p:nvPr/>
        </p:nvSpPr>
        <p:spPr>
          <a:xfrm>
            <a:off x="755576" y="2327278"/>
            <a:ext cx="56124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项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{1},{2},{3},{4},{5},{6}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构成的</a:t>
            </a:r>
            <a:r>
              <a:rPr lang="en-US" altLang="zh-CN" sz="20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4-</a:t>
            </a:r>
            <a:r>
              <a:rPr lang="zh-CN" altLang="en-US" sz="20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项集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Hash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树结构</a:t>
            </a:r>
            <a:endParaRPr lang="en-US" altLang="zh-CN" b="1" dirty="0">
              <a:latin typeface="Gulim" pitchFamily="34" charset="-127"/>
              <a:ea typeface="Gulim" pitchFamily="34" charset="-127"/>
              <a:cs typeface="Times New Roman" pitchFamily="18" charset="0"/>
            </a:endParaRPr>
          </a:p>
        </p:txBody>
      </p:sp>
      <p:cxnSp>
        <p:nvCxnSpPr>
          <p:cNvPr id="61" name="直接箭头连接符 60"/>
          <p:cNvCxnSpPr>
            <a:stCxn id="33" idx="2"/>
            <a:endCxn id="60" idx="0"/>
          </p:cNvCxnSpPr>
          <p:nvPr/>
        </p:nvCxnSpPr>
        <p:spPr>
          <a:xfrm>
            <a:off x="3517031" y="3523836"/>
            <a:ext cx="1272894" cy="4357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171"/>
          <p:cNvSpPr txBox="1"/>
          <p:nvPr/>
        </p:nvSpPr>
        <p:spPr>
          <a:xfrm>
            <a:off x="179512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3 4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9" name="直接箭头连接符 68"/>
          <p:cNvCxnSpPr>
            <a:stCxn id="56" idx="2"/>
            <a:endCxn id="67" idx="0"/>
          </p:cNvCxnSpPr>
          <p:nvPr/>
        </p:nvCxnSpPr>
        <p:spPr>
          <a:xfrm flipH="1">
            <a:off x="449512" y="4955474"/>
            <a:ext cx="537014" cy="569076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171"/>
          <p:cNvSpPr txBox="1"/>
          <p:nvPr/>
        </p:nvSpPr>
        <p:spPr>
          <a:xfrm>
            <a:off x="2567324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4 6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71" name="直接箭头连接符 70"/>
          <p:cNvCxnSpPr>
            <a:stCxn id="47" idx="2"/>
            <a:endCxn id="66" idx="0"/>
          </p:cNvCxnSpPr>
          <p:nvPr/>
        </p:nvCxnSpPr>
        <p:spPr>
          <a:xfrm>
            <a:off x="2283377" y="4186366"/>
            <a:ext cx="466013" cy="5423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stCxn id="47" idx="2"/>
            <a:endCxn id="65" idx="0"/>
          </p:cNvCxnSpPr>
          <p:nvPr/>
        </p:nvCxnSpPr>
        <p:spPr>
          <a:xfrm flipH="1">
            <a:off x="1930957" y="4186366"/>
            <a:ext cx="352418" cy="5423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stCxn id="65" idx="2"/>
            <a:endCxn id="70" idx="0"/>
          </p:cNvCxnSpPr>
          <p:nvPr/>
        </p:nvCxnSpPr>
        <p:spPr>
          <a:xfrm>
            <a:off x="1930959" y="4955474"/>
            <a:ext cx="906367" cy="56907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171"/>
          <p:cNvSpPr txBox="1"/>
          <p:nvPr/>
        </p:nvSpPr>
        <p:spPr>
          <a:xfrm>
            <a:off x="3164277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6" name="文本框 159"/>
          <p:cNvSpPr txBox="1"/>
          <p:nvPr/>
        </p:nvSpPr>
        <p:spPr>
          <a:xfrm>
            <a:off x="500526" y="4728674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76" name="直接箭头连接符 75"/>
          <p:cNvCxnSpPr>
            <a:stCxn id="66" idx="2"/>
            <a:endCxn id="75" idx="0"/>
          </p:cNvCxnSpPr>
          <p:nvPr/>
        </p:nvCxnSpPr>
        <p:spPr>
          <a:xfrm>
            <a:off x="2749390" y="4955474"/>
            <a:ext cx="684889" cy="56907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48" idx="2"/>
            <a:endCxn id="77" idx="0"/>
          </p:cNvCxnSpPr>
          <p:nvPr/>
        </p:nvCxnSpPr>
        <p:spPr>
          <a:xfrm>
            <a:off x="3626652" y="4186366"/>
            <a:ext cx="13169" cy="5423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48" idx="2"/>
            <a:endCxn id="78" idx="0"/>
          </p:cNvCxnSpPr>
          <p:nvPr/>
        </p:nvCxnSpPr>
        <p:spPr>
          <a:xfrm>
            <a:off x="3626650" y="4186366"/>
            <a:ext cx="921600" cy="5423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167"/>
          <p:cNvSpPr txBox="1"/>
          <p:nvPr/>
        </p:nvSpPr>
        <p:spPr>
          <a:xfrm>
            <a:off x="3761230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1 3 4 5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84" name="直接箭头连接符 83"/>
          <p:cNvCxnSpPr>
            <a:stCxn id="77" idx="2"/>
            <a:endCxn id="83" idx="0"/>
          </p:cNvCxnSpPr>
          <p:nvPr/>
        </p:nvCxnSpPr>
        <p:spPr>
          <a:xfrm>
            <a:off x="3639821" y="4955474"/>
            <a:ext cx="391411" cy="56907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167"/>
          <p:cNvSpPr txBox="1"/>
          <p:nvPr/>
        </p:nvSpPr>
        <p:spPr>
          <a:xfrm>
            <a:off x="4358183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1 3 4 6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99" name="文本框 167"/>
          <p:cNvSpPr txBox="1"/>
          <p:nvPr/>
        </p:nvSpPr>
        <p:spPr>
          <a:xfrm>
            <a:off x="5552089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1 4 5 6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00" name="直接箭头连接符 99"/>
          <p:cNvCxnSpPr>
            <a:stCxn id="93" idx="2"/>
            <a:endCxn id="99" idx="0"/>
          </p:cNvCxnSpPr>
          <p:nvPr/>
        </p:nvCxnSpPr>
        <p:spPr>
          <a:xfrm>
            <a:off x="5330681" y="4955474"/>
            <a:ext cx="491408" cy="56907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60" idx="2"/>
            <a:endCxn id="93" idx="0"/>
          </p:cNvCxnSpPr>
          <p:nvPr/>
        </p:nvCxnSpPr>
        <p:spPr>
          <a:xfrm>
            <a:off x="4789925" y="4186366"/>
            <a:ext cx="540756" cy="5423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>
            <a:stCxn id="33" idx="2"/>
            <a:endCxn id="48" idx="0"/>
          </p:cNvCxnSpPr>
          <p:nvPr/>
        </p:nvCxnSpPr>
        <p:spPr>
          <a:xfrm>
            <a:off x="3517033" y="3523836"/>
            <a:ext cx="109619" cy="435730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本框 184"/>
          <p:cNvSpPr txBox="1"/>
          <p:nvPr/>
        </p:nvSpPr>
        <p:spPr>
          <a:xfrm>
            <a:off x="6745995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3 4 6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24" name="文本框 184"/>
          <p:cNvSpPr txBox="1"/>
          <p:nvPr/>
        </p:nvSpPr>
        <p:spPr>
          <a:xfrm>
            <a:off x="7342948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27" name="直接箭头连接符 126"/>
          <p:cNvCxnSpPr>
            <a:stCxn id="121" idx="2"/>
            <a:endCxn id="123" idx="0"/>
          </p:cNvCxnSpPr>
          <p:nvPr/>
        </p:nvCxnSpPr>
        <p:spPr>
          <a:xfrm>
            <a:off x="6185114" y="4955474"/>
            <a:ext cx="830883" cy="56907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>
            <a:stCxn id="115" idx="2"/>
            <a:endCxn id="122" idx="0"/>
          </p:cNvCxnSpPr>
          <p:nvPr/>
        </p:nvCxnSpPr>
        <p:spPr>
          <a:xfrm>
            <a:off x="5899202" y="4186366"/>
            <a:ext cx="1158343" cy="5423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>
            <a:stCxn id="122" idx="2"/>
            <a:endCxn id="124" idx="0"/>
          </p:cNvCxnSpPr>
          <p:nvPr/>
        </p:nvCxnSpPr>
        <p:spPr>
          <a:xfrm>
            <a:off x="7057545" y="4955474"/>
            <a:ext cx="555405" cy="56907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>
            <a:stCxn id="35" idx="2"/>
            <a:endCxn id="115" idx="0"/>
          </p:cNvCxnSpPr>
          <p:nvPr/>
        </p:nvCxnSpPr>
        <p:spPr>
          <a:xfrm>
            <a:off x="5706075" y="3523730"/>
            <a:ext cx="193127" cy="435836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>
            <a:stCxn id="35" idx="2"/>
            <a:endCxn id="116" idx="0"/>
          </p:cNvCxnSpPr>
          <p:nvPr/>
        </p:nvCxnSpPr>
        <p:spPr>
          <a:xfrm>
            <a:off x="5706073" y="3523730"/>
            <a:ext cx="1320402" cy="4358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184"/>
          <p:cNvSpPr txBox="1"/>
          <p:nvPr/>
        </p:nvSpPr>
        <p:spPr>
          <a:xfrm>
            <a:off x="7939901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4 5 6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50" name="直接箭头连接符 149"/>
          <p:cNvCxnSpPr>
            <a:stCxn id="116" idx="2"/>
            <a:endCxn id="149" idx="0"/>
          </p:cNvCxnSpPr>
          <p:nvPr/>
        </p:nvCxnSpPr>
        <p:spPr>
          <a:xfrm>
            <a:off x="7026477" y="4186366"/>
            <a:ext cx="813499" cy="5423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>
            <a:stCxn id="149" idx="2"/>
            <a:endCxn id="147" idx="0"/>
          </p:cNvCxnSpPr>
          <p:nvPr/>
        </p:nvCxnSpPr>
        <p:spPr>
          <a:xfrm>
            <a:off x="7839976" y="4955474"/>
            <a:ext cx="369927" cy="56907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60"/>
          <p:cNvSpPr txBox="1"/>
          <p:nvPr/>
        </p:nvSpPr>
        <p:spPr>
          <a:xfrm>
            <a:off x="6679543" y="4728674"/>
            <a:ext cx="756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77" name="文本框 160"/>
          <p:cNvSpPr txBox="1"/>
          <p:nvPr/>
        </p:nvSpPr>
        <p:spPr>
          <a:xfrm>
            <a:off x="3153819" y="4728674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 4-{5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78" name="文本框 160"/>
          <p:cNvSpPr txBox="1"/>
          <p:nvPr/>
        </p:nvSpPr>
        <p:spPr>
          <a:xfrm>
            <a:off x="4170250" y="4728674"/>
            <a:ext cx="756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 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93" name="文本框 160"/>
          <p:cNvSpPr txBox="1"/>
          <p:nvPr/>
        </p:nvSpPr>
        <p:spPr>
          <a:xfrm>
            <a:off x="4970681" y="4728674"/>
            <a:ext cx="720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4 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49" name="文本框 159"/>
          <p:cNvSpPr txBox="1"/>
          <p:nvPr/>
        </p:nvSpPr>
        <p:spPr>
          <a:xfrm>
            <a:off x="7479974" y="4728674"/>
            <a:ext cx="720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4 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65" name="文本框 159"/>
          <p:cNvSpPr txBox="1"/>
          <p:nvPr/>
        </p:nvSpPr>
        <p:spPr>
          <a:xfrm>
            <a:off x="1516957" y="4728674"/>
            <a:ext cx="828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4-{5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66" name="文本框 159"/>
          <p:cNvSpPr txBox="1"/>
          <p:nvPr/>
        </p:nvSpPr>
        <p:spPr>
          <a:xfrm>
            <a:off x="2389388" y="4728674"/>
            <a:ext cx="720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21" name="文本框 160"/>
          <p:cNvSpPr txBox="1"/>
          <p:nvPr/>
        </p:nvSpPr>
        <p:spPr>
          <a:xfrm>
            <a:off x="5735112" y="4728674"/>
            <a:ext cx="900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4-{5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7" name="文本框 159"/>
          <p:cNvSpPr txBox="1"/>
          <p:nvPr/>
        </p:nvSpPr>
        <p:spPr>
          <a:xfrm>
            <a:off x="1743375" y="3959566"/>
            <a:ext cx="1080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2-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{3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8" name="文本框 160"/>
          <p:cNvSpPr txBox="1"/>
          <p:nvPr/>
        </p:nvSpPr>
        <p:spPr>
          <a:xfrm>
            <a:off x="3140650" y="3959566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60" name="文本框 160"/>
          <p:cNvSpPr txBox="1"/>
          <p:nvPr/>
        </p:nvSpPr>
        <p:spPr>
          <a:xfrm>
            <a:off x="4429925" y="3959566"/>
            <a:ext cx="720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4-{5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16" name="文本框 159"/>
          <p:cNvSpPr txBox="1"/>
          <p:nvPr/>
        </p:nvSpPr>
        <p:spPr>
          <a:xfrm>
            <a:off x="6648475" y="3959566"/>
            <a:ext cx="756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4-{5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15" name="文本框 159"/>
          <p:cNvSpPr txBox="1"/>
          <p:nvPr/>
        </p:nvSpPr>
        <p:spPr>
          <a:xfrm>
            <a:off x="5467200" y="3959566"/>
            <a:ext cx="864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42" name="直接箭头连接符 41"/>
          <p:cNvCxnSpPr>
            <a:stCxn id="32" idx="2"/>
            <a:endCxn id="33" idx="0"/>
          </p:cNvCxnSpPr>
          <p:nvPr/>
        </p:nvCxnSpPr>
        <p:spPr>
          <a:xfrm flipH="1">
            <a:off x="3517033" y="2975351"/>
            <a:ext cx="2171025" cy="3216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2" idx="2"/>
            <a:endCxn id="35" idx="0"/>
          </p:cNvCxnSpPr>
          <p:nvPr/>
        </p:nvCxnSpPr>
        <p:spPr>
          <a:xfrm>
            <a:off x="5688058" y="2975351"/>
            <a:ext cx="18017" cy="321581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32" idx="2"/>
            <a:endCxn id="41" idx="0"/>
          </p:cNvCxnSpPr>
          <p:nvPr/>
        </p:nvCxnSpPr>
        <p:spPr>
          <a:xfrm>
            <a:off x="5688056" y="2975351"/>
            <a:ext cx="1602192" cy="321581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154"/>
          <p:cNvSpPr txBox="1"/>
          <p:nvPr/>
        </p:nvSpPr>
        <p:spPr>
          <a:xfrm>
            <a:off x="3031031" y="3297037"/>
            <a:ext cx="972000" cy="226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1-{2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2" name="文本框 151"/>
          <p:cNvSpPr txBox="1"/>
          <p:nvPr/>
        </p:nvSpPr>
        <p:spPr>
          <a:xfrm>
            <a:off x="5076056" y="2748550"/>
            <a:ext cx="1224000" cy="22680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{1 2 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5" name="文本框 155"/>
          <p:cNvSpPr txBox="1"/>
          <p:nvPr/>
        </p:nvSpPr>
        <p:spPr>
          <a:xfrm>
            <a:off x="5220073" y="3296930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2-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{3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1" name="文本框 156"/>
          <p:cNvSpPr txBox="1"/>
          <p:nvPr/>
        </p:nvSpPr>
        <p:spPr>
          <a:xfrm>
            <a:off x="6804248" y="3296930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8" name="文本框 159"/>
          <p:cNvSpPr txBox="1"/>
          <p:nvPr/>
        </p:nvSpPr>
        <p:spPr>
          <a:xfrm>
            <a:off x="7721749" y="3959566"/>
            <a:ext cx="756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3 4-{5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9" name="文本框 159"/>
          <p:cNvSpPr txBox="1"/>
          <p:nvPr/>
        </p:nvSpPr>
        <p:spPr>
          <a:xfrm>
            <a:off x="8244408" y="4728674"/>
            <a:ext cx="756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3 4 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61" name="文本框 184"/>
          <p:cNvSpPr txBox="1"/>
          <p:nvPr/>
        </p:nvSpPr>
        <p:spPr>
          <a:xfrm>
            <a:off x="8536861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3 4 5 6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62" name="直接箭头连接符 161"/>
          <p:cNvCxnSpPr>
            <a:stCxn id="41" idx="2"/>
            <a:endCxn id="158" idx="0"/>
          </p:cNvCxnSpPr>
          <p:nvPr/>
        </p:nvCxnSpPr>
        <p:spPr>
          <a:xfrm>
            <a:off x="7290250" y="3523730"/>
            <a:ext cx="809501" cy="4358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>
            <a:stCxn id="158" idx="2"/>
            <a:endCxn id="159" idx="0"/>
          </p:cNvCxnSpPr>
          <p:nvPr/>
        </p:nvCxnSpPr>
        <p:spPr>
          <a:xfrm>
            <a:off x="8099751" y="4186366"/>
            <a:ext cx="522659" cy="5423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>
            <a:stCxn id="159" idx="2"/>
            <a:endCxn id="161" idx="0"/>
          </p:cNvCxnSpPr>
          <p:nvPr/>
        </p:nvCxnSpPr>
        <p:spPr>
          <a:xfrm>
            <a:off x="8622410" y="4955474"/>
            <a:ext cx="184453" cy="56907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>
            <a:stCxn id="115" idx="2"/>
            <a:endCxn id="121" idx="0"/>
          </p:cNvCxnSpPr>
          <p:nvPr/>
        </p:nvCxnSpPr>
        <p:spPr>
          <a:xfrm>
            <a:off x="5899200" y="4186366"/>
            <a:ext cx="285912" cy="5423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22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75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25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75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25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75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25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75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0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25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65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750"/>
                            </p:stCondLst>
                            <p:childTnLst>
                              <p:par>
                                <p:cTn id="1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725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500"/>
                            </p:stCondLst>
                            <p:childTnLst>
                              <p:par>
                                <p:cTn id="1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775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80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8250"/>
                            </p:stCondLst>
                            <p:childTnLst>
                              <p:par>
                                <p:cTn id="1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85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8750"/>
                            </p:stCondLst>
                            <p:childTnLst>
                              <p:par>
                                <p:cTn id="1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9000"/>
                            </p:stCondLst>
                            <p:childTnLst>
                              <p:par>
                                <p:cTn id="1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9250"/>
                            </p:stCondLst>
                            <p:childTnLst>
                              <p:par>
                                <p:cTn id="1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9500"/>
                            </p:stCondLst>
                            <p:childTnLst>
                              <p:par>
                                <p:cTn id="1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9750"/>
                            </p:stCondLst>
                            <p:childTnLst>
                              <p:par>
                                <p:cTn id="1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500"/>
                            </p:stCondLst>
                            <p:childTnLst>
                              <p:par>
                                <p:cTn id="1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750"/>
                            </p:stCondLst>
                            <p:childTnLst>
                              <p:par>
                                <p:cTn id="1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1250"/>
                            </p:stCondLst>
                            <p:childTnLst>
                              <p:par>
                                <p:cTn id="1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1500"/>
                            </p:stCondLst>
                            <p:childTnLst>
                              <p:par>
                                <p:cTn id="1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1750"/>
                            </p:stCondLst>
                            <p:childTnLst>
                              <p:par>
                                <p:cTn id="1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2250"/>
                            </p:stCondLst>
                            <p:childTnLst>
                              <p:par>
                                <p:cTn id="1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2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2750"/>
                            </p:stCondLst>
                            <p:childTnLst>
                              <p:par>
                                <p:cTn id="1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3000"/>
                            </p:stCondLst>
                            <p:childTnLst>
                              <p:par>
                                <p:cTn id="2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3250"/>
                            </p:stCondLst>
                            <p:childTnLst>
                              <p:par>
                                <p:cTn id="2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3500"/>
                            </p:stCondLst>
                            <p:childTnLst>
                              <p:par>
                                <p:cTn id="2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3750"/>
                            </p:stCondLst>
                            <p:childTnLst>
                              <p:par>
                                <p:cTn id="2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4000"/>
                            </p:stCondLst>
                            <p:childTnLst>
                              <p:par>
                                <p:cTn id="2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4250"/>
                            </p:stCondLst>
                            <p:childTnLst>
                              <p:par>
                                <p:cTn id="2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4500"/>
                            </p:stCondLst>
                            <p:childTnLst>
                              <p:par>
                                <p:cTn id="2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4750"/>
                            </p:stCondLst>
                            <p:childTnLst>
                              <p:par>
                                <p:cTn id="2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2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5250"/>
                            </p:stCondLst>
                            <p:childTnLst>
                              <p:par>
                                <p:cTn id="2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5500"/>
                            </p:stCondLst>
                            <p:childTnLst>
                              <p:par>
                                <p:cTn id="2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5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15750"/>
                            </p:stCondLst>
                            <p:childTnLst>
                              <p:par>
                                <p:cTn id="2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9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6000"/>
                            </p:stCondLst>
                            <p:childTnLst>
                              <p:par>
                                <p:cTn id="2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6250"/>
                            </p:stCondLst>
                            <p:childTnLst>
                              <p:par>
                                <p:cTn id="2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7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6500"/>
                            </p:stCondLst>
                            <p:childTnLst>
                              <p:par>
                                <p:cTn id="2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1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16750"/>
                            </p:stCondLst>
                            <p:childTnLst>
                              <p:par>
                                <p:cTn id="2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5" dur="2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17000"/>
                            </p:stCondLst>
                            <p:childTnLst>
                              <p:par>
                                <p:cTn id="2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25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17250"/>
                            </p:stCondLst>
                            <p:childTnLst>
                              <p:par>
                                <p:cTn id="2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3" dur="2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7500"/>
                            </p:stCondLst>
                            <p:childTnLst>
                              <p:par>
                                <p:cTn id="2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2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7750"/>
                            </p:stCondLst>
                            <p:childTnLst>
                              <p:par>
                                <p:cTn id="2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1" dur="25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18000"/>
                            </p:stCondLst>
                            <p:childTnLst>
                              <p:par>
                                <p:cTn id="2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2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5" grpId="0" animBg="1"/>
      <p:bldP spid="59" grpId="0" animBg="1"/>
      <p:bldP spid="72" grpId="0" animBg="1"/>
      <p:bldP spid="108" grpId="0" animBg="1"/>
      <p:bldP spid="57" grpId="0"/>
      <p:bldP spid="67" grpId="0" animBg="1"/>
      <p:bldP spid="70" grpId="0" animBg="1"/>
      <p:bldP spid="75" grpId="0" animBg="1"/>
      <p:bldP spid="56" grpId="0" animBg="1"/>
      <p:bldP spid="83" grpId="0" animBg="1"/>
      <p:bldP spid="96" grpId="0" animBg="1"/>
      <p:bldP spid="99" grpId="0" animBg="1"/>
      <p:bldP spid="123" grpId="0" animBg="1"/>
      <p:bldP spid="124" grpId="0" animBg="1"/>
      <p:bldP spid="147" grpId="0" animBg="1"/>
      <p:bldP spid="122" grpId="0" animBg="1"/>
      <p:bldP spid="77" grpId="0" animBg="1"/>
      <p:bldP spid="78" grpId="0" animBg="1"/>
      <p:bldP spid="93" grpId="0" animBg="1"/>
      <p:bldP spid="149" grpId="0" animBg="1"/>
      <p:bldP spid="65" grpId="0" animBg="1"/>
      <p:bldP spid="66" grpId="0" animBg="1"/>
      <p:bldP spid="121" grpId="0" animBg="1"/>
      <p:bldP spid="47" grpId="0" animBg="1"/>
      <p:bldP spid="48" grpId="0" animBg="1"/>
      <p:bldP spid="60" grpId="0" animBg="1"/>
      <p:bldP spid="116" grpId="0" animBg="1"/>
      <p:bldP spid="115" grpId="0" animBg="1"/>
      <p:bldP spid="33" grpId="0" animBg="1"/>
      <p:bldP spid="32" grpId="0" animBg="1"/>
      <p:bldP spid="35" grpId="0" animBg="1"/>
      <p:bldP spid="41" grpId="0" animBg="1"/>
      <p:bldP spid="158" grpId="0" animBg="1"/>
      <p:bldP spid="159" grpId="0" animBg="1"/>
      <p:bldP spid="16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17" name="内容占位符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细黑" pitchFamily="2" charset="-122"/>
              </a:rPr>
              <a:t>【</a:t>
            </a:r>
            <a:r>
              <a:rPr lang="zh-CN" altLang="en-US" dirty="0">
                <a:latin typeface="华文细黑" pitchFamily="2" charset="-122"/>
              </a:rPr>
              <a:t>例</a:t>
            </a:r>
            <a:r>
              <a:rPr lang="en-US" altLang="zh-CN" dirty="0">
                <a:latin typeface="华文细黑" pitchFamily="2" charset="-122"/>
              </a:rPr>
              <a:t>】</a:t>
            </a:r>
            <a:r>
              <a:rPr lang="zh-CN" altLang="en-US" dirty="0">
                <a:latin typeface="华文细黑" pitchFamily="2" charset="-122"/>
              </a:rPr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</p:txBody>
      </p:sp>
      <p:cxnSp>
        <p:nvCxnSpPr>
          <p:cNvPr id="51" name="直接箭头连接符 50"/>
          <p:cNvCxnSpPr>
            <a:stCxn id="33" idx="2"/>
            <a:endCxn id="47" idx="0"/>
          </p:cNvCxnSpPr>
          <p:nvPr/>
        </p:nvCxnSpPr>
        <p:spPr>
          <a:xfrm flipH="1">
            <a:off x="2283375" y="3523836"/>
            <a:ext cx="1233656" cy="435730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165"/>
          <p:cNvSpPr txBox="1"/>
          <p:nvPr/>
        </p:nvSpPr>
        <p:spPr>
          <a:xfrm>
            <a:off x="1373418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5" name="文本框 167"/>
          <p:cNvSpPr txBox="1"/>
          <p:nvPr/>
        </p:nvSpPr>
        <p:spPr>
          <a:xfrm>
            <a:off x="4955136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1 3 5 6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58" name="直接箭头连接符 57"/>
          <p:cNvCxnSpPr>
            <a:stCxn id="56" idx="2"/>
            <a:endCxn id="59" idx="0"/>
          </p:cNvCxnSpPr>
          <p:nvPr/>
        </p:nvCxnSpPr>
        <p:spPr>
          <a:xfrm>
            <a:off x="986528" y="4955474"/>
            <a:ext cx="59939" cy="56907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171"/>
          <p:cNvSpPr txBox="1"/>
          <p:nvPr/>
        </p:nvSpPr>
        <p:spPr>
          <a:xfrm>
            <a:off x="776465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2" name="直接箭头连接符 61"/>
          <p:cNvCxnSpPr>
            <a:stCxn id="56" idx="2"/>
            <a:endCxn id="53" idx="0"/>
          </p:cNvCxnSpPr>
          <p:nvPr/>
        </p:nvCxnSpPr>
        <p:spPr>
          <a:xfrm>
            <a:off x="986526" y="4955474"/>
            <a:ext cx="656892" cy="56907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78" idx="2"/>
            <a:endCxn id="55" idx="0"/>
          </p:cNvCxnSpPr>
          <p:nvPr/>
        </p:nvCxnSpPr>
        <p:spPr>
          <a:xfrm>
            <a:off x="4548250" y="4955474"/>
            <a:ext cx="676886" cy="56907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stCxn id="47" idx="2"/>
            <a:endCxn id="56" idx="0"/>
          </p:cNvCxnSpPr>
          <p:nvPr/>
        </p:nvCxnSpPr>
        <p:spPr>
          <a:xfrm flipH="1">
            <a:off x="986528" y="4186366"/>
            <a:ext cx="1296849" cy="542308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/>
          <p:cNvGrpSpPr>
            <a:grpSpLocks noChangeAspect="1"/>
          </p:cNvGrpSpPr>
          <p:nvPr/>
        </p:nvGrpSpPr>
        <p:grpSpPr>
          <a:xfrm>
            <a:off x="5539007" y="1095941"/>
            <a:ext cx="3425480" cy="918102"/>
            <a:chOff x="5481517" y="2060848"/>
            <a:chExt cx="2126718" cy="760008"/>
          </a:xfrm>
        </p:grpSpPr>
        <p:sp>
          <p:nvSpPr>
            <p:cNvPr id="38" name="文本框 26"/>
            <p:cNvSpPr txBox="1"/>
            <p:nvPr/>
          </p:nvSpPr>
          <p:spPr>
            <a:xfrm>
              <a:off x="6391042" y="2060848"/>
              <a:ext cx="481690" cy="22930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39" name="流程图: 联系 38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40" name="直接箭头连接符 39"/>
            <p:cNvCxnSpPr>
              <a:stCxn id="39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9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39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50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54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3,6,9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cxnSp>
        <p:nvCxnSpPr>
          <p:cNvPr id="71" name="直接箭头连接符 70"/>
          <p:cNvCxnSpPr>
            <a:stCxn id="47" idx="2"/>
            <a:endCxn id="66" idx="0"/>
          </p:cNvCxnSpPr>
          <p:nvPr/>
        </p:nvCxnSpPr>
        <p:spPr>
          <a:xfrm>
            <a:off x="2283377" y="4186366"/>
            <a:ext cx="466013" cy="5423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171"/>
          <p:cNvSpPr txBox="1"/>
          <p:nvPr/>
        </p:nvSpPr>
        <p:spPr>
          <a:xfrm>
            <a:off x="3164277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6" name="文本框 159"/>
          <p:cNvSpPr txBox="1"/>
          <p:nvPr/>
        </p:nvSpPr>
        <p:spPr>
          <a:xfrm>
            <a:off x="500526" y="4728674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76" name="直接箭头连接符 75"/>
          <p:cNvCxnSpPr>
            <a:stCxn id="66" idx="2"/>
            <a:endCxn id="75" idx="0"/>
          </p:cNvCxnSpPr>
          <p:nvPr/>
        </p:nvCxnSpPr>
        <p:spPr>
          <a:xfrm>
            <a:off x="2749390" y="4955474"/>
            <a:ext cx="684889" cy="56907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48" idx="2"/>
            <a:endCxn id="78" idx="0"/>
          </p:cNvCxnSpPr>
          <p:nvPr/>
        </p:nvCxnSpPr>
        <p:spPr>
          <a:xfrm>
            <a:off x="3626650" y="4186366"/>
            <a:ext cx="921600" cy="5423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>
            <a:stCxn id="33" idx="2"/>
            <a:endCxn id="48" idx="0"/>
          </p:cNvCxnSpPr>
          <p:nvPr/>
        </p:nvCxnSpPr>
        <p:spPr>
          <a:xfrm>
            <a:off x="3517033" y="3523836"/>
            <a:ext cx="109619" cy="435730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框 184"/>
          <p:cNvSpPr txBox="1"/>
          <p:nvPr/>
        </p:nvSpPr>
        <p:spPr>
          <a:xfrm>
            <a:off x="7342948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33" name="直接箭头连接符 132"/>
          <p:cNvCxnSpPr>
            <a:stCxn id="115" idx="2"/>
            <a:endCxn id="122" idx="0"/>
          </p:cNvCxnSpPr>
          <p:nvPr/>
        </p:nvCxnSpPr>
        <p:spPr>
          <a:xfrm>
            <a:off x="5899202" y="4186366"/>
            <a:ext cx="1158343" cy="5423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>
            <a:stCxn id="122" idx="2"/>
            <a:endCxn id="124" idx="0"/>
          </p:cNvCxnSpPr>
          <p:nvPr/>
        </p:nvCxnSpPr>
        <p:spPr>
          <a:xfrm>
            <a:off x="7057545" y="4955474"/>
            <a:ext cx="555405" cy="56907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>
            <a:stCxn id="35" idx="2"/>
            <a:endCxn id="115" idx="0"/>
          </p:cNvCxnSpPr>
          <p:nvPr/>
        </p:nvCxnSpPr>
        <p:spPr>
          <a:xfrm>
            <a:off x="5706075" y="3523730"/>
            <a:ext cx="193127" cy="435836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60"/>
          <p:cNvSpPr txBox="1"/>
          <p:nvPr/>
        </p:nvSpPr>
        <p:spPr>
          <a:xfrm>
            <a:off x="6679543" y="4728674"/>
            <a:ext cx="756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78" name="文本框 160"/>
          <p:cNvSpPr txBox="1"/>
          <p:nvPr/>
        </p:nvSpPr>
        <p:spPr>
          <a:xfrm>
            <a:off x="4170250" y="4728674"/>
            <a:ext cx="756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 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66" name="文本框 159"/>
          <p:cNvSpPr txBox="1"/>
          <p:nvPr/>
        </p:nvSpPr>
        <p:spPr>
          <a:xfrm>
            <a:off x="2389388" y="4728674"/>
            <a:ext cx="720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7" name="文本框 159"/>
          <p:cNvSpPr txBox="1"/>
          <p:nvPr/>
        </p:nvSpPr>
        <p:spPr>
          <a:xfrm>
            <a:off x="1743375" y="3959566"/>
            <a:ext cx="1080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2-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{3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8" name="文本框 160"/>
          <p:cNvSpPr txBox="1"/>
          <p:nvPr/>
        </p:nvSpPr>
        <p:spPr>
          <a:xfrm>
            <a:off x="3140650" y="3959566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15" name="文本框 159"/>
          <p:cNvSpPr txBox="1"/>
          <p:nvPr/>
        </p:nvSpPr>
        <p:spPr>
          <a:xfrm>
            <a:off x="5467200" y="3959566"/>
            <a:ext cx="864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42" name="直接箭头连接符 41"/>
          <p:cNvCxnSpPr>
            <a:stCxn id="32" idx="2"/>
            <a:endCxn id="33" idx="0"/>
          </p:cNvCxnSpPr>
          <p:nvPr/>
        </p:nvCxnSpPr>
        <p:spPr>
          <a:xfrm flipH="1">
            <a:off x="3517033" y="2975351"/>
            <a:ext cx="2171025" cy="3216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2" idx="2"/>
            <a:endCxn id="35" idx="0"/>
          </p:cNvCxnSpPr>
          <p:nvPr/>
        </p:nvCxnSpPr>
        <p:spPr>
          <a:xfrm>
            <a:off x="5688058" y="2975351"/>
            <a:ext cx="18017" cy="321581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154"/>
          <p:cNvSpPr txBox="1"/>
          <p:nvPr/>
        </p:nvSpPr>
        <p:spPr>
          <a:xfrm>
            <a:off x="3031031" y="3297037"/>
            <a:ext cx="972000" cy="226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1-{2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2" name="文本框 151"/>
          <p:cNvSpPr txBox="1"/>
          <p:nvPr/>
        </p:nvSpPr>
        <p:spPr>
          <a:xfrm>
            <a:off x="5076056" y="2748550"/>
            <a:ext cx="1224000" cy="22680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{</a:t>
            </a:r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5" name="文本框 155"/>
          <p:cNvSpPr txBox="1"/>
          <p:nvPr/>
        </p:nvSpPr>
        <p:spPr>
          <a:xfrm>
            <a:off x="5220073" y="3296930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2-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{3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467547" y="2262470"/>
            <a:ext cx="73122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3" lvl="1">
              <a:spcBef>
                <a:spcPct val="50000"/>
              </a:spcBef>
            </a:pP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候选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4-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: {1 2 3 5}, {1 2 3 6}, {1 2 5 6}, {1 3 5 6}, {2 3 5 6}</a:t>
            </a:r>
          </a:p>
        </p:txBody>
      </p:sp>
      <p:sp>
        <p:nvSpPr>
          <p:cNvPr id="46" name="矩形 45"/>
          <p:cNvSpPr/>
          <p:nvPr/>
        </p:nvSpPr>
        <p:spPr>
          <a:xfrm>
            <a:off x="251520" y="2748550"/>
            <a:ext cx="35830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由候选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4-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项集生成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Hash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树结构</a:t>
            </a:r>
            <a:endParaRPr lang="en-US" altLang="zh-CN" b="1" dirty="0">
              <a:latin typeface="Gulim" pitchFamily="34" charset="-127"/>
              <a:ea typeface="Gulim" pitchFamily="34" charset="-127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66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9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1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2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1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3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1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4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1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7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1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8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1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9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1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1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100"/>
                            </p:stCondLst>
                            <p:childTnLst>
                              <p:par>
                                <p:cTn id="1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1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2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3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1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400"/>
                            </p:stCondLst>
                            <p:childTnLst>
                              <p:par>
                                <p:cTn id="1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1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1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6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1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700"/>
                            </p:stCondLst>
                            <p:childTnLst>
                              <p:par>
                                <p:cTn id="1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1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8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1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5" grpId="0" animBg="1"/>
      <p:bldP spid="59" grpId="0" animBg="1"/>
      <p:bldP spid="75" grpId="0" animBg="1"/>
      <p:bldP spid="56" grpId="0" animBg="1"/>
      <p:bldP spid="124" grpId="0" animBg="1"/>
      <p:bldP spid="122" grpId="0" animBg="1"/>
      <p:bldP spid="78" grpId="0" animBg="1"/>
      <p:bldP spid="66" grpId="0" animBg="1"/>
      <p:bldP spid="47" grpId="0" animBg="1"/>
      <p:bldP spid="48" grpId="0" animBg="1"/>
      <p:bldP spid="115" grpId="0" animBg="1"/>
      <p:bldP spid="33" grpId="0" animBg="1"/>
      <p:bldP spid="32" grpId="0" animBg="1"/>
      <p:bldP spid="35" grpId="0" animBg="1"/>
      <p:bldP spid="86" grpId="0"/>
      <p:bldP spid="4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计算支持度</a:t>
            </a:r>
          </a:p>
        </p:txBody>
      </p:sp>
      <p:sp>
        <p:nvSpPr>
          <p:cNvPr id="17" name="内容占位符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细黑" pitchFamily="2" charset="-122"/>
              </a:rPr>
              <a:t>【</a:t>
            </a:r>
            <a:r>
              <a:rPr lang="zh-CN" altLang="en-US" dirty="0">
                <a:latin typeface="华文细黑" pitchFamily="2" charset="-122"/>
              </a:rPr>
              <a:t>例</a:t>
            </a:r>
            <a:r>
              <a:rPr lang="en-US" altLang="zh-CN" dirty="0">
                <a:latin typeface="华文细黑" pitchFamily="2" charset="-122"/>
              </a:rPr>
              <a:t>】</a:t>
            </a:r>
            <a:r>
              <a:rPr lang="zh-CN" altLang="en-US" dirty="0">
                <a:latin typeface="华文细黑" pitchFamily="2" charset="-122"/>
              </a:rPr>
              <a:t>利用</a:t>
            </a:r>
            <a:r>
              <a:rPr lang="en-US" altLang="zh-CN" dirty="0"/>
              <a:t>Hash</a:t>
            </a:r>
            <a:r>
              <a:rPr lang="zh-CN" altLang="en-US" dirty="0"/>
              <a:t>树计算支持度计数</a:t>
            </a:r>
          </a:p>
        </p:txBody>
      </p:sp>
      <p:cxnSp>
        <p:nvCxnSpPr>
          <p:cNvPr id="51" name="直接箭头连接符 50"/>
          <p:cNvCxnSpPr>
            <a:stCxn id="33" idx="2"/>
            <a:endCxn id="47" idx="0"/>
          </p:cNvCxnSpPr>
          <p:nvPr/>
        </p:nvCxnSpPr>
        <p:spPr>
          <a:xfrm flipH="1">
            <a:off x="2283375" y="3523836"/>
            <a:ext cx="1233656" cy="435730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165"/>
          <p:cNvSpPr txBox="1"/>
          <p:nvPr/>
        </p:nvSpPr>
        <p:spPr>
          <a:xfrm>
            <a:off x="1373418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5" name="文本框 167"/>
          <p:cNvSpPr txBox="1"/>
          <p:nvPr/>
        </p:nvSpPr>
        <p:spPr>
          <a:xfrm>
            <a:off x="4955136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1 3 5 6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58" name="直接箭头连接符 57"/>
          <p:cNvCxnSpPr>
            <a:stCxn id="56" idx="2"/>
            <a:endCxn id="59" idx="0"/>
          </p:cNvCxnSpPr>
          <p:nvPr/>
        </p:nvCxnSpPr>
        <p:spPr>
          <a:xfrm>
            <a:off x="986528" y="4955474"/>
            <a:ext cx="59939" cy="56907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171"/>
          <p:cNvSpPr txBox="1"/>
          <p:nvPr/>
        </p:nvSpPr>
        <p:spPr>
          <a:xfrm>
            <a:off x="776465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62" name="直接箭头连接符 61"/>
          <p:cNvCxnSpPr>
            <a:stCxn id="56" idx="2"/>
            <a:endCxn id="53" idx="0"/>
          </p:cNvCxnSpPr>
          <p:nvPr/>
        </p:nvCxnSpPr>
        <p:spPr>
          <a:xfrm>
            <a:off x="986526" y="4955474"/>
            <a:ext cx="656892" cy="56907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78" idx="2"/>
            <a:endCxn id="55" idx="0"/>
          </p:cNvCxnSpPr>
          <p:nvPr/>
        </p:nvCxnSpPr>
        <p:spPr>
          <a:xfrm>
            <a:off x="4548250" y="4955474"/>
            <a:ext cx="676886" cy="56907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stCxn id="47" idx="2"/>
            <a:endCxn id="56" idx="0"/>
          </p:cNvCxnSpPr>
          <p:nvPr/>
        </p:nvCxnSpPr>
        <p:spPr>
          <a:xfrm flipH="1">
            <a:off x="986528" y="4186366"/>
            <a:ext cx="1296849" cy="542308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/>
          <p:cNvGrpSpPr>
            <a:grpSpLocks noChangeAspect="1"/>
          </p:cNvGrpSpPr>
          <p:nvPr/>
        </p:nvGrpSpPr>
        <p:grpSpPr>
          <a:xfrm>
            <a:off x="5539007" y="1095941"/>
            <a:ext cx="3425480" cy="918102"/>
            <a:chOff x="5481517" y="2060848"/>
            <a:chExt cx="2126718" cy="760008"/>
          </a:xfrm>
        </p:grpSpPr>
        <p:sp>
          <p:nvSpPr>
            <p:cNvPr id="38" name="文本框 26"/>
            <p:cNvSpPr txBox="1"/>
            <p:nvPr/>
          </p:nvSpPr>
          <p:spPr>
            <a:xfrm>
              <a:off x="6391042" y="2060848"/>
              <a:ext cx="481690" cy="22930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39" name="流程图: 联系 38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40" name="直接箭头连接符 39"/>
            <p:cNvCxnSpPr>
              <a:stCxn id="39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9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39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50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54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3,6,9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cxnSp>
        <p:nvCxnSpPr>
          <p:cNvPr id="71" name="直接箭头连接符 70"/>
          <p:cNvCxnSpPr>
            <a:stCxn id="47" idx="2"/>
            <a:endCxn id="66" idx="0"/>
          </p:cNvCxnSpPr>
          <p:nvPr/>
        </p:nvCxnSpPr>
        <p:spPr>
          <a:xfrm>
            <a:off x="2283377" y="4186366"/>
            <a:ext cx="466013" cy="5423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171"/>
          <p:cNvSpPr txBox="1"/>
          <p:nvPr/>
        </p:nvSpPr>
        <p:spPr>
          <a:xfrm>
            <a:off x="3164277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6" name="文本框 159"/>
          <p:cNvSpPr txBox="1"/>
          <p:nvPr/>
        </p:nvSpPr>
        <p:spPr>
          <a:xfrm>
            <a:off x="500526" y="4728674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76" name="直接箭头连接符 75"/>
          <p:cNvCxnSpPr>
            <a:stCxn id="66" idx="2"/>
            <a:endCxn id="75" idx="0"/>
          </p:cNvCxnSpPr>
          <p:nvPr/>
        </p:nvCxnSpPr>
        <p:spPr>
          <a:xfrm>
            <a:off x="2749390" y="4955474"/>
            <a:ext cx="684889" cy="56907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48" idx="2"/>
            <a:endCxn id="78" idx="0"/>
          </p:cNvCxnSpPr>
          <p:nvPr/>
        </p:nvCxnSpPr>
        <p:spPr>
          <a:xfrm>
            <a:off x="3626650" y="4186366"/>
            <a:ext cx="921600" cy="5423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>
            <a:stCxn id="33" idx="2"/>
            <a:endCxn id="48" idx="0"/>
          </p:cNvCxnSpPr>
          <p:nvPr/>
        </p:nvCxnSpPr>
        <p:spPr>
          <a:xfrm>
            <a:off x="3517033" y="3523836"/>
            <a:ext cx="109619" cy="435730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框 184"/>
          <p:cNvSpPr txBox="1"/>
          <p:nvPr/>
        </p:nvSpPr>
        <p:spPr>
          <a:xfrm>
            <a:off x="7342948" y="5524550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33" name="直接箭头连接符 132"/>
          <p:cNvCxnSpPr>
            <a:stCxn id="115" idx="2"/>
            <a:endCxn id="122" idx="0"/>
          </p:cNvCxnSpPr>
          <p:nvPr/>
        </p:nvCxnSpPr>
        <p:spPr>
          <a:xfrm>
            <a:off x="5899202" y="4186366"/>
            <a:ext cx="1158343" cy="5423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>
            <a:stCxn id="122" idx="2"/>
            <a:endCxn id="124" idx="0"/>
          </p:cNvCxnSpPr>
          <p:nvPr/>
        </p:nvCxnSpPr>
        <p:spPr>
          <a:xfrm>
            <a:off x="7057545" y="4955474"/>
            <a:ext cx="555405" cy="56907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>
            <a:stCxn id="35" idx="2"/>
            <a:endCxn id="115" idx="0"/>
          </p:cNvCxnSpPr>
          <p:nvPr/>
        </p:nvCxnSpPr>
        <p:spPr>
          <a:xfrm>
            <a:off x="5706075" y="3523730"/>
            <a:ext cx="193127" cy="435836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60"/>
          <p:cNvSpPr txBox="1"/>
          <p:nvPr/>
        </p:nvSpPr>
        <p:spPr>
          <a:xfrm>
            <a:off x="6679543" y="4728674"/>
            <a:ext cx="756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78" name="文本框 160"/>
          <p:cNvSpPr txBox="1"/>
          <p:nvPr/>
        </p:nvSpPr>
        <p:spPr>
          <a:xfrm>
            <a:off x="4170250" y="4728674"/>
            <a:ext cx="756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 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66" name="文本框 159"/>
          <p:cNvSpPr txBox="1"/>
          <p:nvPr/>
        </p:nvSpPr>
        <p:spPr>
          <a:xfrm>
            <a:off x="2389388" y="4728674"/>
            <a:ext cx="720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7" name="文本框 159"/>
          <p:cNvSpPr txBox="1"/>
          <p:nvPr/>
        </p:nvSpPr>
        <p:spPr>
          <a:xfrm>
            <a:off x="1743375" y="3959566"/>
            <a:ext cx="1080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2-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{3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8" name="文本框 160"/>
          <p:cNvSpPr txBox="1"/>
          <p:nvPr/>
        </p:nvSpPr>
        <p:spPr>
          <a:xfrm>
            <a:off x="3140650" y="3959566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15" name="文本框 159"/>
          <p:cNvSpPr txBox="1"/>
          <p:nvPr/>
        </p:nvSpPr>
        <p:spPr>
          <a:xfrm>
            <a:off x="5467200" y="3959566"/>
            <a:ext cx="864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42" name="直接箭头连接符 41"/>
          <p:cNvCxnSpPr>
            <a:endCxn id="33" idx="0"/>
          </p:cNvCxnSpPr>
          <p:nvPr/>
        </p:nvCxnSpPr>
        <p:spPr>
          <a:xfrm flipH="1">
            <a:off x="3517033" y="2975351"/>
            <a:ext cx="2171025" cy="3216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endCxn id="35" idx="0"/>
          </p:cNvCxnSpPr>
          <p:nvPr/>
        </p:nvCxnSpPr>
        <p:spPr>
          <a:xfrm>
            <a:off x="5688058" y="2975351"/>
            <a:ext cx="18017" cy="321581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154"/>
          <p:cNvSpPr txBox="1"/>
          <p:nvPr/>
        </p:nvSpPr>
        <p:spPr>
          <a:xfrm>
            <a:off x="3031031" y="3297037"/>
            <a:ext cx="972000" cy="226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1-{2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5" name="文本框 155"/>
          <p:cNvSpPr txBox="1"/>
          <p:nvPr/>
        </p:nvSpPr>
        <p:spPr>
          <a:xfrm>
            <a:off x="5220073" y="3296930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2-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{3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6" name="文本框 151"/>
          <p:cNvSpPr txBox="1"/>
          <p:nvPr/>
        </p:nvSpPr>
        <p:spPr>
          <a:xfrm>
            <a:off x="5393365" y="2716121"/>
            <a:ext cx="648000" cy="226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b="1" kern="100" dirty="0">
                <a:latin typeface="Gulim"/>
                <a:ea typeface="宋体"/>
                <a:cs typeface="Times New Roman"/>
              </a:rPr>
              <a:t>root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61" name="文本框 151"/>
          <p:cNvSpPr txBox="1"/>
          <p:nvPr/>
        </p:nvSpPr>
        <p:spPr>
          <a:xfrm>
            <a:off x="5105365" y="2716121"/>
            <a:ext cx="1224000" cy="2268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{</a:t>
            </a:r>
            <a:r>
              <a:rPr lang="en-US" sz="1600" b="1" kern="10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1 2 </a:t>
            </a:r>
            <a:r>
              <a:rPr lang="en-US" sz="16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3 5 6}</a:t>
            </a:r>
            <a:endParaRPr lang="zh-CN" altLang="en-US" sz="1600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888835" y="2973434"/>
            <a:ext cx="4763821" cy="2554383"/>
          </a:xfrm>
          <a:custGeom>
            <a:avLst/>
            <a:gdLst>
              <a:gd name="connsiteX0" fmla="*/ 4673693 w 4673693"/>
              <a:gd name="connsiteY0" fmla="*/ 0 h 2909455"/>
              <a:gd name="connsiteX1" fmla="*/ 2536134 w 4673693"/>
              <a:gd name="connsiteY1" fmla="*/ 356260 h 2909455"/>
              <a:gd name="connsiteX2" fmla="*/ 2536134 w 4673693"/>
              <a:gd name="connsiteY2" fmla="*/ 973777 h 2909455"/>
              <a:gd name="connsiteX3" fmla="*/ 1324851 w 4673693"/>
              <a:gd name="connsiteY3" fmla="*/ 1353787 h 2909455"/>
              <a:gd name="connsiteX4" fmla="*/ 1134846 w 4673693"/>
              <a:gd name="connsiteY4" fmla="*/ 1615044 h 2909455"/>
              <a:gd name="connsiteX5" fmla="*/ 101693 w 4673693"/>
              <a:gd name="connsiteY5" fmla="*/ 2042556 h 2909455"/>
              <a:gd name="connsiteX6" fmla="*/ 42316 w 4673693"/>
              <a:gd name="connsiteY6" fmla="*/ 2327564 h 2909455"/>
              <a:gd name="connsiteX7" fmla="*/ 137319 w 4673693"/>
              <a:gd name="connsiteY7" fmla="*/ 2909455 h 2909455"/>
              <a:gd name="connsiteX0" fmla="*/ 4673693 w 4673693"/>
              <a:gd name="connsiteY0" fmla="*/ 0 h 2909455"/>
              <a:gd name="connsiteX1" fmla="*/ 2536134 w 4673693"/>
              <a:gd name="connsiteY1" fmla="*/ 356260 h 2909455"/>
              <a:gd name="connsiteX2" fmla="*/ 2393630 w 4673693"/>
              <a:gd name="connsiteY2" fmla="*/ 748146 h 2909455"/>
              <a:gd name="connsiteX3" fmla="*/ 1324851 w 4673693"/>
              <a:gd name="connsiteY3" fmla="*/ 1353787 h 2909455"/>
              <a:gd name="connsiteX4" fmla="*/ 1134846 w 4673693"/>
              <a:gd name="connsiteY4" fmla="*/ 1615044 h 2909455"/>
              <a:gd name="connsiteX5" fmla="*/ 101693 w 4673693"/>
              <a:gd name="connsiteY5" fmla="*/ 2042556 h 2909455"/>
              <a:gd name="connsiteX6" fmla="*/ 42316 w 4673693"/>
              <a:gd name="connsiteY6" fmla="*/ 2327564 h 2909455"/>
              <a:gd name="connsiteX7" fmla="*/ 137319 w 4673693"/>
              <a:gd name="connsiteY7" fmla="*/ 2909455 h 2909455"/>
              <a:gd name="connsiteX0" fmla="*/ 4673693 w 4673693"/>
              <a:gd name="connsiteY0" fmla="*/ 0 h 2909455"/>
              <a:gd name="connsiteX1" fmla="*/ 2702388 w 4673693"/>
              <a:gd name="connsiteY1" fmla="*/ 344385 h 2909455"/>
              <a:gd name="connsiteX2" fmla="*/ 2393630 w 4673693"/>
              <a:gd name="connsiteY2" fmla="*/ 748146 h 2909455"/>
              <a:gd name="connsiteX3" fmla="*/ 1324851 w 4673693"/>
              <a:gd name="connsiteY3" fmla="*/ 1353787 h 2909455"/>
              <a:gd name="connsiteX4" fmla="*/ 1134846 w 4673693"/>
              <a:gd name="connsiteY4" fmla="*/ 1615044 h 2909455"/>
              <a:gd name="connsiteX5" fmla="*/ 101693 w 4673693"/>
              <a:gd name="connsiteY5" fmla="*/ 2042556 h 2909455"/>
              <a:gd name="connsiteX6" fmla="*/ 42316 w 4673693"/>
              <a:gd name="connsiteY6" fmla="*/ 2327564 h 2909455"/>
              <a:gd name="connsiteX7" fmla="*/ 137319 w 4673693"/>
              <a:gd name="connsiteY7" fmla="*/ 2909455 h 2909455"/>
              <a:gd name="connsiteX0" fmla="*/ 4673693 w 4673693"/>
              <a:gd name="connsiteY0" fmla="*/ 0 h 2909455"/>
              <a:gd name="connsiteX1" fmla="*/ 2702388 w 4673693"/>
              <a:gd name="connsiteY1" fmla="*/ 344385 h 2909455"/>
              <a:gd name="connsiteX2" fmla="*/ 2393630 w 4673693"/>
              <a:gd name="connsiteY2" fmla="*/ 748146 h 2909455"/>
              <a:gd name="connsiteX3" fmla="*/ 1312975 w 4673693"/>
              <a:gd name="connsiteY3" fmla="*/ 1140032 h 2909455"/>
              <a:gd name="connsiteX4" fmla="*/ 1134846 w 4673693"/>
              <a:gd name="connsiteY4" fmla="*/ 1615044 h 2909455"/>
              <a:gd name="connsiteX5" fmla="*/ 101693 w 4673693"/>
              <a:gd name="connsiteY5" fmla="*/ 2042556 h 2909455"/>
              <a:gd name="connsiteX6" fmla="*/ 42316 w 4673693"/>
              <a:gd name="connsiteY6" fmla="*/ 2327564 h 2909455"/>
              <a:gd name="connsiteX7" fmla="*/ 137319 w 4673693"/>
              <a:gd name="connsiteY7" fmla="*/ 2909455 h 2909455"/>
              <a:gd name="connsiteX0" fmla="*/ 4683694 w 4683694"/>
              <a:gd name="connsiteY0" fmla="*/ 0 h 2909455"/>
              <a:gd name="connsiteX1" fmla="*/ 2712389 w 4683694"/>
              <a:gd name="connsiteY1" fmla="*/ 344385 h 2909455"/>
              <a:gd name="connsiteX2" fmla="*/ 2403631 w 4683694"/>
              <a:gd name="connsiteY2" fmla="*/ 748146 h 2909455"/>
              <a:gd name="connsiteX3" fmla="*/ 1322976 w 4683694"/>
              <a:gd name="connsiteY3" fmla="*/ 1140032 h 2909455"/>
              <a:gd name="connsiteX4" fmla="*/ 1287351 w 4683694"/>
              <a:gd name="connsiteY4" fmla="*/ 1425039 h 2909455"/>
              <a:gd name="connsiteX5" fmla="*/ 111694 w 4683694"/>
              <a:gd name="connsiteY5" fmla="*/ 2042556 h 2909455"/>
              <a:gd name="connsiteX6" fmla="*/ 52317 w 4683694"/>
              <a:gd name="connsiteY6" fmla="*/ 2327564 h 2909455"/>
              <a:gd name="connsiteX7" fmla="*/ 147320 w 4683694"/>
              <a:gd name="connsiteY7" fmla="*/ 2909455 h 2909455"/>
              <a:gd name="connsiteX0" fmla="*/ 4691800 w 4691800"/>
              <a:gd name="connsiteY0" fmla="*/ 0 h 2909455"/>
              <a:gd name="connsiteX1" fmla="*/ 2720495 w 4691800"/>
              <a:gd name="connsiteY1" fmla="*/ 344385 h 2909455"/>
              <a:gd name="connsiteX2" fmla="*/ 2411737 w 4691800"/>
              <a:gd name="connsiteY2" fmla="*/ 748146 h 2909455"/>
              <a:gd name="connsiteX3" fmla="*/ 1331082 w 4691800"/>
              <a:gd name="connsiteY3" fmla="*/ 1140032 h 2909455"/>
              <a:gd name="connsiteX4" fmla="*/ 1295457 w 4691800"/>
              <a:gd name="connsiteY4" fmla="*/ 1425039 h 2909455"/>
              <a:gd name="connsiteX5" fmla="*/ 107925 w 4691800"/>
              <a:gd name="connsiteY5" fmla="*/ 1995055 h 2909455"/>
              <a:gd name="connsiteX6" fmla="*/ 60423 w 4691800"/>
              <a:gd name="connsiteY6" fmla="*/ 2327564 h 2909455"/>
              <a:gd name="connsiteX7" fmla="*/ 155426 w 4691800"/>
              <a:gd name="connsiteY7" fmla="*/ 2909455 h 2909455"/>
              <a:gd name="connsiteX0" fmla="*/ 4728195 w 4728195"/>
              <a:gd name="connsiteY0" fmla="*/ 0 h 2909455"/>
              <a:gd name="connsiteX1" fmla="*/ 2756890 w 4728195"/>
              <a:gd name="connsiteY1" fmla="*/ 344385 h 2909455"/>
              <a:gd name="connsiteX2" fmla="*/ 2448132 w 4728195"/>
              <a:gd name="connsiteY2" fmla="*/ 748146 h 2909455"/>
              <a:gd name="connsiteX3" fmla="*/ 1367477 w 4728195"/>
              <a:gd name="connsiteY3" fmla="*/ 1140032 h 2909455"/>
              <a:gd name="connsiteX4" fmla="*/ 1331852 w 4728195"/>
              <a:gd name="connsiteY4" fmla="*/ 1425039 h 2909455"/>
              <a:gd name="connsiteX5" fmla="*/ 144320 w 4728195"/>
              <a:gd name="connsiteY5" fmla="*/ 1995055 h 2909455"/>
              <a:gd name="connsiteX6" fmla="*/ 25566 w 4728195"/>
              <a:gd name="connsiteY6" fmla="*/ 2268187 h 2909455"/>
              <a:gd name="connsiteX7" fmla="*/ 191821 w 4728195"/>
              <a:gd name="connsiteY7" fmla="*/ 2909455 h 2909455"/>
              <a:gd name="connsiteX0" fmla="*/ 4728195 w 4728195"/>
              <a:gd name="connsiteY0" fmla="*/ 0 h 2909455"/>
              <a:gd name="connsiteX1" fmla="*/ 3552538 w 4728195"/>
              <a:gd name="connsiteY1" fmla="*/ 249382 h 2909455"/>
              <a:gd name="connsiteX2" fmla="*/ 2756890 w 4728195"/>
              <a:gd name="connsiteY2" fmla="*/ 344385 h 2909455"/>
              <a:gd name="connsiteX3" fmla="*/ 2448132 w 4728195"/>
              <a:gd name="connsiteY3" fmla="*/ 748146 h 2909455"/>
              <a:gd name="connsiteX4" fmla="*/ 1367477 w 4728195"/>
              <a:gd name="connsiteY4" fmla="*/ 1140032 h 2909455"/>
              <a:gd name="connsiteX5" fmla="*/ 1331852 w 4728195"/>
              <a:gd name="connsiteY5" fmla="*/ 1425039 h 2909455"/>
              <a:gd name="connsiteX6" fmla="*/ 144320 w 4728195"/>
              <a:gd name="connsiteY6" fmla="*/ 1995055 h 2909455"/>
              <a:gd name="connsiteX7" fmla="*/ 25566 w 4728195"/>
              <a:gd name="connsiteY7" fmla="*/ 2268187 h 2909455"/>
              <a:gd name="connsiteX8" fmla="*/ 191821 w 4728195"/>
              <a:gd name="connsiteY8" fmla="*/ 2909455 h 2909455"/>
              <a:gd name="connsiteX0" fmla="*/ 4728195 w 4728195"/>
              <a:gd name="connsiteY0" fmla="*/ 0 h 2909455"/>
              <a:gd name="connsiteX1" fmla="*/ 3552538 w 4728195"/>
              <a:gd name="connsiteY1" fmla="*/ 249382 h 2909455"/>
              <a:gd name="connsiteX2" fmla="*/ 2673763 w 4728195"/>
              <a:gd name="connsiteY2" fmla="*/ 427512 h 2909455"/>
              <a:gd name="connsiteX3" fmla="*/ 2448132 w 4728195"/>
              <a:gd name="connsiteY3" fmla="*/ 748146 h 2909455"/>
              <a:gd name="connsiteX4" fmla="*/ 1367477 w 4728195"/>
              <a:gd name="connsiteY4" fmla="*/ 1140032 h 2909455"/>
              <a:gd name="connsiteX5" fmla="*/ 1331852 w 4728195"/>
              <a:gd name="connsiteY5" fmla="*/ 1425039 h 2909455"/>
              <a:gd name="connsiteX6" fmla="*/ 144320 w 4728195"/>
              <a:gd name="connsiteY6" fmla="*/ 1995055 h 2909455"/>
              <a:gd name="connsiteX7" fmla="*/ 25566 w 4728195"/>
              <a:gd name="connsiteY7" fmla="*/ 2268187 h 2909455"/>
              <a:gd name="connsiteX8" fmla="*/ 191821 w 4728195"/>
              <a:gd name="connsiteY8" fmla="*/ 2909455 h 2909455"/>
              <a:gd name="connsiteX0" fmla="*/ 4763821 w 4763821"/>
              <a:gd name="connsiteY0" fmla="*/ 0 h 2838203"/>
              <a:gd name="connsiteX1" fmla="*/ 3552538 w 4763821"/>
              <a:gd name="connsiteY1" fmla="*/ 178130 h 2838203"/>
              <a:gd name="connsiteX2" fmla="*/ 2673763 w 4763821"/>
              <a:gd name="connsiteY2" fmla="*/ 356260 h 2838203"/>
              <a:gd name="connsiteX3" fmla="*/ 2448132 w 4763821"/>
              <a:gd name="connsiteY3" fmla="*/ 676894 h 2838203"/>
              <a:gd name="connsiteX4" fmla="*/ 1367477 w 4763821"/>
              <a:gd name="connsiteY4" fmla="*/ 1068780 h 2838203"/>
              <a:gd name="connsiteX5" fmla="*/ 1331852 w 4763821"/>
              <a:gd name="connsiteY5" fmla="*/ 1353787 h 2838203"/>
              <a:gd name="connsiteX6" fmla="*/ 144320 w 4763821"/>
              <a:gd name="connsiteY6" fmla="*/ 1923803 h 2838203"/>
              <a:gd name="connsiteX7" fmla="*/ 25566 w 4763821"/>
              <a:gd name="connsiteY7" fmla="*/ 2196935 h 2838203"/>
              <a:gd name="connsiteX8" fmla="*/ 191821 w 4763821"/>
              <a:gd name="connsiteY8" fmla="*/ 2838203 h 283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63821" h="2838203">
                <a:moveTo>
                  <a:pt x="4763821" y="0"/>
                </a:moveTo>
                <a:cubicBezTo>
                  <a:pt x="4556003" y="29688"/>
                  <a:pt x="3881089" y="120733"/>
                  <a:pt x="3552538" y="178130"/>
                </a:cubicBezTo>
                <a:cubicBezTo>
                  <a:pt x="3223987" y="235528"/>
                  <a:pt x="2857831" y="273133"/>
                  <a:pt x="2673763" y="356260"/>
                </a:cubicBezTo>
                <a:cubicBezTo>
                  <a:pt x="2489695" y="439387"/>
                  <a:pt x="2665846" y="558141"/>
                  <a:pt x="2448132" y="676894"/>
                </a:cubicBezTo>
                <a:cubicBezTo>
                  <a:pt x="2230418" y="795647"/>
                  <a:pt x="1553524" y="955965"/>
                  <a:pt x="1367477" y="1068780"/>
                </a:cubicBezTo>
                <a:cubicBezTo>
                  <a:pt x="1181430" y="1181596"/>
                  <a:pt x="1535712" y="1211283"/>
                  <a:pt x="1331852" y="1353787"/>
                </a:cubicBezTo>
                <a:cubicBezTo>
                  <a:pt x="1127993" y="1496291"/>
                  <a:pt x="362034" y="1783278"/>
                  <a:pt x="144320" y="1923803"/>
                </a:cubicBezTo>
                <a:cubicBezTo>
                  <a:pt x="-73394" y="2064328"/>
                  <a:pt x="17649" y="2044535"/>
                  <a:pt x="25566" y="2196935"/>
                </a:cubicBezTo>
                <a:cubicBezTo>
                  <a:pt x="33483" y="2349335"/>
                  <a:pt x="147288" y="2619499"/>
                  <a:pt x="191821" y="2838203"/>
                </a:cubicBezTo>
              </a:path>
            </a:pathLst>
          </a:custGeom>
          <a:ln w="57150">
            <a:solidFill>
              <a:srgbClr val="7030A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/>
        </p:nvSpPr>
        <p:spPr>
          <a:xfrm>
            <a:off x="971600" y="2975351"/>
            <a:ext cx="4680000" cy="2543695"/>
          </a:xfrm>
          <a:custGeom>
            <a:avLst/>
            <a:gdLst>
              <a:gd name="connsiteX0" fmla="*/ 4673693 w 4673693"/>
              <a:gd name="connsiteY0" fmla="*/ 0 h 2909455"/>
              <a:gd name="connsiteX1" fmla="*/ 2536134 w 4673693"/>
              <a:gd name="connsiteY1" fmla="*/ 356260 h 2909455"/>
              <a:gd name="connsiteX2" fmla="*/ 2536134 w 4673693"/>
              <a:gd name="connsiteY2" fmla="*/ 973777 h 2909455"/>
              <a:gd name="connsiteX3" fmla="*/ 1324851 w 4673693"/>
              <a:gd name="connsiteY3" fmla="*/ 1353787 h 2909455"/>
              <a:gd name="connsiteX4" fmla="*/ 1134846 w 4673693"/>
              <a:gd name="connsiteY4" fmla="*/ 1615044 h 2909455"/>
              <a:gd name="connsiteX5" fmla="*/ 101693 w 4673693"/>
              <a:gd name="connsiteY5" fmla="*/ 2042556 h 2909455"/>
              <a:gd name="connsiteX6" fmla="*/ 42316 w 4673693"/>
              <a:gd name="connsiteY6" fmla="*/ 2327564 h 2909455"/>
              <a:gd name="connsiteX7" fmla="*/ 137319 w 4673693"/>
              <a:gd name="connsiteY7" fmla="*/ 2909455 h 2909455"/>
              <a:gd name="connsiteX0" fmla="*/ 4673693 w 4673693"/>
              <a:gd name="connsiteY0" fmla="*/ 0 h 2909455"/>
              <a:gd name="connsiteX1" fmla="*/ 2536134 w 4673693"/>
              <a:gd name="connsiteY1" fmla="*/ 356260 h 2909455"/>
              <a:gd name="connsiteX2" fmla="*/ 2393630 w 4673693"/>
              <a:gd name="connsiteY2" fmla="*/ 748146 h 2909455"/>
              <a:gd name="connsiteX3" fmla="*/ 1324851 w 4673693"/>
              <a:gd name="connsiteY3" fmla="*/ 1353787 h 2909455"/>
              <a:gd name="connsiteX4" fmla="*/ 1134846 w 4673693"/>
              <a:gd name="connsiteY4" fmla="*/ 1615044 h 2909455"/>
              <a:gd name="connsiteX5" fmla="*/ 101693 w 4673693"/>
              <a:gd name="connsiteY5" fmla="*/ 2042556 h 2909455"/>
              <a:gd name="connsiteX6" fmla="*/ 42316 w 4673693"/>
              <a:gd name="connsiteY6" fmla="*/ 2327564 h 2909455"/>
              <a:gd name="connsiteX7" fmla="*/ 137319 w 4673693"/>
              <a:gd name="connsiteY7" fmla="*/ 2909455 h 2909455"/>
              <a:gd name="connsiteX0" fmla="*/ 4673693 w 4673693"/>
              <a:gd name="connsiteY0" fmla="*/ 0 h 2909455"/>
              <a:gd name="connsiteX1" fmla="*/ 2702388 w 4673693"/>
              <a:gd name="connsiteY1" fmla="*/ 344385 h 2909455"/>
              <a:gd name="connsiteX2" fmla="*/ 2393630 w 4673693"/>
              <a:gd name="connsiteY2" fmla="*/ 748146 h 2909455"/>
              <a:gd name="connsiteX3" fmla="*/ 1324851 w 4673693"/>
              <a:gd name="connsiteY3" fmla="*/ 1353787 h 2909455"/>
              <a:gd name="connsiteX4" fmla="*/ 1134846 w 4673693"/>
              <a:gd name="connsiteY4" fmla="*/ 1615044 h 2909455"/>
              <a:gd name="connsiteX5" fmla="*/ 101693 w 4673693"/>
              <a:gd name="connsiteY5" fmla="*/ 2042556 h 2909455"/>
              <a:gd name="connsiteX6" fmla="*/ 42316 w 4673693"/>
              <a:gd name="connsiteY6" fmla="*/ 2327564 h 2909455"/>
              <a:gd name="connsiteX7" fmla="*/ 137319 w 4673693"/>
              <a:gd name="connsiteY7" fmla="*/ 2909455 h 2909455"/>
              <a:gd name="connsiteX0" fmla="*/ 4673693 w 4673693"/>
              <a:gd name="connsiteY0" fmla="*/ 0 h 2909455"/>
              <a:gd name="connsiteX1" fmla="*/ 2702388 w 4673693"/>
              <a:gd name="connsiteY1" fmla="*/ 344385 h 2909455"/>
              <a:gd name="connsiteX2" fmla="*/ 2393630 w 4673693"/>
              <a:gd name="connsiteY2" fmla="*/ 748146 h 2909455"/>
              <a:gd name="connsiteX3" fmla="*/ 1312975 w 4673693"/>
              <a:gd name="connsiteY3" fmla="*/ 1140032 h 2909455"/>
              <a:gd name="connsiteX4" fmla="*/ 1134846 w 4673693"/>
              <a:gd name="connsiteY4" fmla="*/ 1615044 h 2909455"/>
              <a:gd name="connsiteX5" fmla="*/ 101693 w 4673693"/>
              <a:gd name="connsiteY5" fmla="*/ 2042556 h 2909455"/>
              <a:gd name="connsiteX6" fmla="*/ 42316 w 4673693"/>
              <a:gd name="connsiteY6" fmla="*/ 2327564 h 2909455"/>
              <a:gd name="connsiteX7" fmla="*/ 137319 w 4673693"/>
              <a:gd name="connsiteY7" fmla="*/ 2909455 h 2909455"/>
              <a:gd name="connsiteX0" fmla="*/ 4683694 w 4683694"/>
              <a:gd name="connsiteY0" fmla="*/ 0 h 2909455"/>
              <a:gd name="connsiteX1" fmla="*/ 2712389 w 4683694"/>
              <a:gd name="connsiteY1" fmla="*/ 344385 h 2909455"/>
              <a:gd name="connsiteX2" fmla="*/ 2403631 w 4683694"/>
              <a:gd name="connsiteY2" fmla="*/ 748146 h 2909455"/>
              <a:gd name="connsiteX3" fmla="*/ 1322976 w 4683694"/>
              <a:gd name="connsiteY3" fmla="*/ 1140032 h 2909455"/>
              <a:gd name="connsiteX4" fmla="*/ 1287351 w 4683694"/>
              <a:gd name="connsiteY4" fmla="*/ 1425039 h 2909455"/>
              <a:gd name="connsiteX5" fmla="*/ 111694 w 4683694"/>
              <a:gd name="connsiteY5" fmla="*/ 2042556 h 2909455"/>
              <a:gd name="connsiteX6" fmla="*/ 52317 w 4683694"/>
              <a:gd name="connsiteY6" fmla="*/ 2327564 h 2909455"/>
              <a:gd name="connsiteX7" fmla="*/ 147320 w 4683694"/>
              <a:gd name="connsiteY7" fmla="*/ 2909455 h 2909455"/>
              <a:gd name="connsiteX0" fmla="*/ 4691800 w 4691800"/>
              <a:gd name="connsiteY0" fmla="*/ 0 h 2909455"/>
              <a:gd name="connsiteX1" fmla="*/ 2720495 w 4691800"/>
              <a:gd name="connsiteY1" fmla="*/ 344385 h 2909455"/>
              <a:gd name="connsiteX2" fmla="*/ 2411737 w 4691800"/>
              <a:gd name="connsiteY2" fmla="*/ 748146 h 2909455"/>
              <a:gd name="connsiteX3" fmla="*/ 1331082 w 4691800"/>
              <a:gd name="connsiteY3" fmla="*/ 1140032 h 2909455"/>
              <a:gd name="connsiteX4" fmla="*/ 1295457 w 4691800"/>
              <a:gd name="connsiteY4" fmla="*/ 1425039 h 2909455"/>
              <a:gd name="connsiteX5" fmla="*/ 107925 w 4691800"/>
              <a:gd name="connsiteY5" fmla="*/ 1995055 h 2909455"/>
              <a:gd name="connsiteX6" fmla="*/ 60423 w 4691800"/>
              <a:gd name="connsiteY6" fmla="*/ 2327564 h 2909455"/>
              <a:gd name="connsiteX7" fmla="*/ 155426 w 4691800"/>
              <a:gd name="connsiteY7" fmla="*/ 2909455 h 2909455"/>
              <a:gd name="connsiteX0" fmla="*/ 4728195 w 4728195"/>
              <a:gd name="connsiteY0" fmla="*/ 0 h 2909455"/>
              <a:gd name="connsiteX1" fmla="*/ 2756890 w 4728195"/>
              <a:gd name="connsiteY1" fmla="*/ 344385 h 2909455"/>
              <a:gd name="connsiteX2" fmla="*/ 2448132 w 4728195"/>
              <a:gd name="connsiteY2" fmla="*/ 748146 h 2909455"/>
              <a:gd name="connsiteX3" fmla="*/ 1367477 w 4728195"/>
              <a:gd name="connsiteY3" fmla="*/ 1140032 h 2909455"/>
              <a:gd name="connsiteX4" fmla="*/ 1331852 w 4728195"/>
              <a:gd name="connsiteY4" fmla="*/ 1425039 h 2909455"/>
              <a:gd name="connsiteX5" fmla="*/ 144320 w 4728195"/>
              <a:gd name="connsiteY5" fmla="*/ 1995055 h 2909455"/>
              <a:gd name="connsiteX6" fmla="*/ 25566 w 4728195"/>
              <a:gd name="connsiteY6" fmla="*/ 2268187 h 2909455"/>
              <a:gd name="connsiteX7" fmla="*/ 191821 w 4728195"/>
              <a:gd name="connsiteY7" fmla="*/ 2909455 h 2909455"/>
              <a:gd name="connsiteX0" fmla="*/ 4728195 w 4728195"/>
              <a:gd name="connsiteY0" fmla="*/ 0 h 2909455"/>
              <a:gd name="connsiteX1" fmla="*/ 3552538 w 4728195"/>
              <a:gd name="connsiteY1" fmla="*/ 249382 h 2909455"/>
              <a:gd name="connsiteX2" fmla="*/ 2756890 w 4728195"/>
              <a:gd name="connsiteY2" fmla="*/ 344385 h 2909455"/>
              <a:gd name="connsiteX3" fmla="*/ 2448132 w 4728195"/>
              <a:gd name="connsiteY3" fmla="*/ 748146 h 2909455"/>
              <a:gd name="connsiteX4" fmla="*/ 1367477 w 4728195"/>
              <a:gd name="connsiteY4" fmla="*/ 1140032 h 2909455"/>
              <a:gd name="connsiteX5" fmla="*/ 1331852 w 4728195"/>
              <a:gd name="connsiteY5" fmla="*/ 1425039 h 2909455"/>
              <a:gd name="connsiteX6" fmla="*/ 144320 w 4728195"/>
              <a:gd name="connsiteY6" fmla="*/ 1995055 h 2909455"/>
              <a:gd name="connsiteX7" fmla="*/ 25566 w 4728195"/>
              <a:gd name="connsiteY7" fmla="*/ 2268187 h 2909455"/>
              <a:gd name="connsiteX8" fmla="*/ 191821 w 4728195"/>
              <a:gd name="connsiteY8" fmla="*/ 2909455 h 2909455"/>
              <a:gd name="connsiteX0" fmla="*/ 4728195 w 4728195"/>
              <a:gd name="connsiteY0" fmla="*/ 0 h 2909455"/>
              <a:gd name="connsiteX1" fmla="*/ 3552538 w 4728195"/>
              <a:gd name="connsiteY1" fmla="*/ 249382 h 2909455"/>
              <a:gd name="connsiteX2" fmla="*/ 2673763 w 4728195"/>
              <a:gd name="connsiteY2" fmla="*/ 427512 h 2909455"/>
              <a:gd name="connsiteX3" fmla="*/ 2448132 w 4728195"/>
              <a:gd name="connsiteY3" fmla="*/ 748146 h 2909455"/>
              <a:gd name="connsiteX4" fmla="*/ 1367477 w 4728195"/>
              <a:gd name="connsiteY4" fmla="*/ 1140032 h 2909455"/>
              <a:gd name="connsiteX5" fmla="*/ 1331852 w 4728195"/>
              <a:gd name="connsiteY5" fmla="*/ 1425039 h 2909455"/>
              <a:gd name="connsiteX6" fmla="*/ 144320 w 4728195"/>
              <a:gd name="connsiteY6" fmla="*/ 1995055 h 2909455"/>
              <a:gd name="connsiteX7" fmla="*/ 25566 w 4728195"/>
              <a:gd name="connsiteY7" fmla="*/ 2268187 h 2909455"/>
              <a:gd name="connsiteX8" fmla="*/ 191821 w 4728195"/>
              <a:gd name="connsiteY8" fmla="*/ 2909455 h 2909455"/>
              <a:gd name="connsiteX0" fmla="*/ 4763821 w 4763821"/>
              <a:gd name="connsiteY0" fmla="*/ 0 h 2838203"/>
              <a:gd name="connsiteX1" fmla="*/ 3552538 w 4763821"/>
              <a:gd name="connsiteY1" fmla="*/ 178130 h 2838203"/>
              <a:gd name="connsiteX2" fmla="*/ 2673763 w 4763821"/>
              <a:gd name="connsiteY2" fmla="*/ 356260 h 2838203"/>
              <a:gd name="connsiteX3" fmla="*/ 2448132 w 4763821"/>
              <a:gd name="connsiteY3" fmla="*/ 676894 h 2838203"/>
              <a:gd name="connsiteX4" fmla="*/ 1367477 w 4763821"/>
              <a:gd name="connsiteY4" fmla="*/ 1068780 h 2838203"/>
              <a:gd name="connsiteX5" fmla="*/ 1331852 w 4763821"/>
              <a:gd name="connsiteY5" fmla="*/ 1353787 h 2838203"/>
              <a:gd name="connsiteX6" fmla="*/ 144320 w 4763821"/>
              <a:gd name="connsiteY6" fmla="*/ 1923803 h 2838203"/>
              <a:gd name="connsiteX7" fmla="*/ 25566 w 4763821"/>
              <a:gd name="connsiteY7" fmla="*/ 2196935 h 2838203"/>
              <a:gd name="connsiteX8" fmla="*/ 191821 w 4763821"/>
              <a:gd name="connsiteY8" fmla="*/ 2838203 h 2838203"/>
              <a:gd name="connsiteX0" fmla="*/ 4800204 w 4800204"/>
              <a:gd name="connsiteY0" fmla="*/ 0 h 2826328"/>
              <a:gd name="connsiteX1" fmla="*/ 3588921 w 4800204"/>
              <a:gd name="connsiteY1" fmla="*/ 178130 h 2826328"/>
              <a:gd name="connsiteX2" fmla="*/ 2710146 w 4800204"/>
              <a:gd name="connsiteY2" fmla="*/ 356260 h 2826328"/>
              <a:gd name="connsiteX3" fmla="*/ 2484515 w 4800204"/>
              <a:gd name="connsiteY3" fmla="*/ 676894 h 2826328"/>
              <a:gd name="connsiteX4" fmla="*/ 1403860 w 4800204"/>
              <a:gd name="connsiteY4" fmla="*/ 1068780 h 2826328"/>
              <a:gd name="connsiteX5" fmla="*/ 1368235 w 4800204"/>
              <a:gd name="connsiteY5" fmla="*/ 1353787 h 2826328"/>
              <a:gd name="connsiteX6" fmla="*/ 180703 w 4800204"/>
              <a:gd name="connsiteY6" fmla="*/ 1923803 h 2826328"/>
              <a:gd name="connsiteX7" fmla="*/ 61949 w 4800204"/>
              <a:gd name="connsiteY7" fmla="*/ 2196935 h 2826328"/>
              <a:gd name="connsiteX8" fmla="*/ 750718 w 4800204"/>
              <a:gd name="connsiteY8" fmla="*/ 2826328 h 2826328"/>
              <a:gd name="connsiteX0" fmla="*/ 4793109 w 4793109"/>
              <a:gd name="connsiteY0" fmla="*/ 0 h 2826328"/>
              <a:gd name="connsiteX1" fmla="*/ 3581826 w 4793109"/>
              <a:gd name="connsiteY1" fmla="*/ 178130 h 2826328"/>
              <a:gd name="connsiteX2" fmla="*/ 2703051 w 4793109"/>
              <a:gd name="connsiteY2" fmla="*/ 356260 h 2826328"/>
              <a:gd name="connsiteX3" fmla="*/ 2477420 w 4793109"/>
              <a:gd name="connsiteY3" fmla="*/ 676894 h 2826328"/>
              <a:gd name="connsiteX4" fmla="*/ 1396765 w 4793109"/>
              <a:gd name="connsiteY4" fmla="*/ 1068780 h 2826328"/>
              <a:gd name="connsiteX5" fmla="*/ 1361140 w 4793109"/>
              <a:gd name="connsiteY5" fmla="*/ 1353787 h 2826328"/>
              <a:gd name="connsiteX6" fmla="*/ 173608 w 4793109"/>
              <a:gd name="connsiteY6" fmla="*/ 1923803 h 2826328"/>
              <a:gd name="connsiteX7" fmla="*/ 54854 w 4793109"/>
              <a:gd name="connsiteY7" fmla="*/ 2196935 h 2826328"/>
              <a:gd name="connsiteX8" fmla="*/ 644346 w 4793109"/>
              <a:gd name="connsiteY8" fmla="*/ 2571974 h 2826328"/>
              <a:gd name="connsiteX9" fmla="*/ 743623 w 4793109"/>
              <a:gd name="connsiteY9" fmla="*/ 2826328 h 2826328"/>
              <a:gd name="connsiteX0" fmla="*/ 4738168 w 4738168"/>
              <a:gd name="connsiteY0" fmla="*/ 0 h 2826328"/>
              <a:gd name="connsiteX1" fmla="*/ 3526885 w 4738168"/>
              <a:gd name="connsiteY1" fmla="*/ 178130 h 2826328"/>
              <a:gd name="connsiteX2" fmla="*/ 2648110 w 4738168"/>
              <a:gd name="connsiteY2" fmla="*/ 356260 h 2826328"/>
              <a:gd name="connsiteX3" fmla="*/ 2422479 w 4738168"/>
              <a:gd name="connsiteY3" fmla="*/ 676894 h 2826328"/>
              <a:gd name="connsiteX4" fmla="*/ 1341824 w 4738168"/>
              <a:gd name="connsiteY4" fmla="*/ 1068780 h 2826328"/>
              <a:gd name="connsiteX5" fmla="*/ 1306199 w 4738168"/>
              <a:gd name="connsiteY5" fmla="*/ 1353787 h 2826328"/>
              <a:gd name="connsiteX6" fmla="*/ 118667 w 4738168"/>
              <a:gd name="connsiteY6" fmla="*/ 1923803 h 2826328"/>
              <a:gd name="connsiteX7" fmla="*/ 95280 w 4738168"/>
              <a:gd name="connsiteY7" fmla="*/ 2230594 h 2826328"/>
              <a:gd name="connsiteX8" fmla="*/ 589405 w 4738168"/>
              <a:gd name="connsiteY8" fmla="*/ 2571974 h 2826328"/>
              <a:gd name="connsiteX9" fmla="*/ 688682 w 4738168"/>
              <a:gd name="connsiteY9" fmla="*/ 2826328 h 2826328"/>
              <a:gd name="connsiteX0" fmla="*/ 4724094 w 4724094"/>
              <a:gd name="connsiteY0" fmla="*/ 0 h 2826328"/>
              <a:gd name="connsiteX1" fmla="*/ 3512811 w 4724094"/>
              <a:gd name="connsiteY1" fmla="*/ 178130 h 2826328"/>
              <a:gd name="connsiteX2" fmla="*/ 2634036 w 4724094"/>
              <a:gd name="connsiteY2" fmla="*/ 356260 h 2826328"/>
              <a:gd name="connsiteX3" fmla="*/ 2408405 w 4724094"/>
              <a:gd name="connsiteY3" fmla="*/ 676894 h 2826328"/>
              <a:gd name="connsiteX4" fmla="*/ 1327750 w 4724094"/>
              <a:gd name="connsiteY4" fmla="*/ 1068780 h 2826328"/>
              <a:gd name="connsiteX5" fmla="*/ 1292125 w 4724094"/>
              <a:gd name="connsiteY5" fmla="*/ 1353787 h 2826328"/>
              <a:gd name="connsiteX6" fmla="*/ 127032 w 4724094"/>
              <a:gd name="connsiteY6" fmla="*/ 1867705 h 2826328"/>
              <a:gd name="connsiteX7" fmla="*/ 81206 w 4724094"/>
              <a:gd name="connsiteY7" fmla="*/ 2230594 h 2826328"/>
              <a:gd name="connsiteX8" fmla="*/ 575331 w 4724094"/>
              <a:gd name="connsiteY8" fmla="*/ 2571974 h 2826328"/>
              <a:gd name="connsiteX9" fmla="*/ 674608 w 4724094"/>
              <a:gd name="connsiteY9" fmla="*/ 2826328 h 282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4094" h="2826328">
                <a:moveTo>
                  <a:pt x="4724094" y="0"/>
                </a:moveTo>
                <a:cubicBezTo>
                  <a:pt x="4516276" y="29688"/>
                  <a:pt x="3841362" y="120733"/>
                  <a:pt x="3512811" y="178130"/>
                </a:cubicBezTo>
                <a:cubicBezTo>
                  <a:pt x="3184260" y="235528"/>
                  <a:pt x="2818104" y="273133"/>
                  <a:pt x="2634036" y="356260"/>
                </a:cubicBezTo>
                <a:cubicBezTo>
                  <a:pt x="2449968" y="439387"/>
                  <a:pt x="2626119" y="558141"/>
                  <a:pt x="2408405" y="676894"/>
                </a:cubicBezTo>
                <a:cubicBezTo>
                  <a:pt x="2190691" y="795647"/>
                  <a:pt x="1513797" y="955965"/>
                  <a:pt x="1327750" y="1068780"/>
                </a:cubicBezTo>
                <a:cubicBezTo>
                  <a:pt x="1141703" y="1181596"/>
                  <a:pt x="1492245" y="1220633"/>
                  <a:pt x="1292125" y="1353787"/>
                </a:cubicBezTo>
                <a:cubicBezTo>
                  <a:pt x="1092005" y="1486941"/>
                  <a:pt x="328852" y="1721571"/>
                  <a:pt x="127032" y="1867705"/>
                </a:cubicBezTo>
                <a:cubicBezTo>
                  <a:pt x="-74788" y="2013839"/>
                  <a:pt x="6490" y="2113216"/>
                  <a:pt x="81206" y="2230594"/>
                </a:cubicBezTo>
                <a:cubicBezTo>
                  <a:pt x="155922" y="2347972"/>
                  <a:pt x="460536" y="2467075"/>
                  <a:pt x="575331" y="2571974"/>
                </a:cubicBezTo>
                <a:cubicBezTo>
                  <a:pt x="690126" y="2676873"/>
                  <a:pt x="645907" y="2791416"/>
                  <a:pt x="674608" y="2826328"/>
                </a:cubicBezTo>
              </a:path>
            </a:pathLst>
          </a:custGeom>
          <a:ln w="57150">
            <a:solidFill>
              <a:srgbClr val="7030A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151"/>
          <p:cNvSpPr txBox="1"/>
          <p:nvPr/>
        </p:nvSpPr>
        <p:spPr>
          <a:xfrm>
            <a:off x="5105365" y="2716121"/>
            <a:ext cx="1224000" cy="2268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{2 3 5 6}</a:t>
            </a:r>
            <a:endParaRPr lang="zh-CN" altLang="en-US" sz="1600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5724130" y="2962497"/>
            <a:ext cx="1935125" cy="2574142"/>
          </a:xfrm>
          <a:custGeom>
            <a:avLst/>
            <a:gdLst>
              <a:gd name="connsiteX0" fmla="*/ 0 w 1935125"/>
              <a:gd name="connsiteY0" fmla="*/ 0 h 2860158"/>
              <a:gd name="connsiteX1" fmla="*/ 10632 w 1935125"/>
              <a:gd name="connsiteY1" fmla="*/ 372139 h 2860158"/>
              <a:gd name="connsiteX2" fmla="*/ 31897 w 1935125"/>
              <a:gd name="connsiteY2" fmla="*/ 659218 h 2860158"/>
              <a:gd name="connsiteX3" fmla="*/ 212651 w 1935125"/>
              <a:gd name="connsiteY3" fmla="*/ 1127051 h 2860158"/>
              <a:gd name="connsiteX4" fmla="*/ 244548 w 1935125"/>
              <a:gd name="connsiteY4" fmla="*/ 1392865 h 2860158"/>
              <a:gd name="connsiteX5" fmla="*/ 1329069 w 1935125"/>
              <a:gd name="connsiteY5" fmla="*/ 1977656 h 2860158"/>
              <a:gd name="connsiteX6" fmla="*/ 1371600 w 1935125"/>
              <a:gd name="connsiteY6" fmla="*/ 2232837 h 2860158"/>
              <a:gd name="connsiteX7" fmla="*/ 1935125 w 1935125"/>
              <a:gd name="connsiteY7" fmla="*/ 2860158 h 286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125" h="2860158">
                <a:moveTo>
                  <a:pt x="0" y="0"/>
                </a:moveTo>
                <a:cubicBezTo>
                  <a:pt x="2658" y="131134"/>
                  <a:pt x="5316" y="262269"/>
                  <a:pt x="10632" y="372139"/>
                </a:cubicBezTo>
                <a:cubicBezTo>
                  <a:pt x="15948" y="482009"/>
                  <a:pt x="-1773" y="533399"/>
                  <a:pt x="31897" y="659218"/>
                </a:cubicBezTo>
                <a:cubicBezTo>
                  <a:pt x="65567" y="785037"/>
                  <a:pt x="177209" y="1004777"/>
                  <a:pt x="212651" y="1127051"/>
                </a:cubicBezTo>
                <a:cubicBezTo>
                  <a:pt x="248093" y="1249325"/>
                  <a:pt x="58478" y="1251098"/>
                  <a:pt x="244548" y="1392865"/>
                </a:cubicBezTo>
                <a:cubicBezTo>
                  <a:pt x="430618" y="1534632"/>
                  <a:pt x="1141227" y="1837661"/>
                  <a:pt x="1329069" y="1977656"/>
                </a:cubicBezTo>
                <a:cubicBezTo>
                  <a:pt x="1516911" y="2117651"/>
                  <a:pt x="1270591" y="2085753"/>
                  <a:pt x="1371600" y="2232837"/>
                </a:cubicBezTo>
                <a:cubicBezTo>
                  <a:pt x="1472609" y="2379921"/>
                  <a:pt x="1703867" y="2620039"/>
                  <a:pt x="1935125" y="2860158"/>
                </a:cubicBezTo>
              </a:path>
            </a:pathLst>
          </a:custGeom>
          <a:ln w="57150">
            <a:solidFill>
              <a:srgbClr val="7030A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165"/>
          <p:cNvSpPr txBox="1"/>
          <p:nvPr/>
        </p:nvSpPr>
        <p:spPr>
          <a:xfrm>
            <a:off x="1364950" y="5519045"/>
            <a:ext cx="540000" cy="226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68" name="文本框 171"/>
          <p:cNvSpPr txBox="1"/>
          <p:nvPr/>
        </p:nvSpPr>
        <p:spPr>
          <a:xfrm>
            <a:off x="767997" y="5519045"/>
            <a:ext cx="540000" cy="226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69" name="文本框 184"/>
          <p:cNvSpPr txBox="1"/>
          <p:nvPr/>
        </p:nvSpPr>
        <p:spPr>
          <a:xfrm>
            <a:off x="7334480" y="5519045"/>
            <a:ext cx="540000" cy="226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2" name="矩形 51"/>
          <p:cNvSpPr/>
          <p:nvPr/>
        </p:nvSpPr>
        <p:spPr>
          <a:xfrm rot="21132142">
            <a:off x="354811" y="2398220"/>
            <a:ext cx="4104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事务数据项 </a:t>
            </a:r>
            <a:r>
              <a:rPr lang="en-US" altLang="zh-CN" i="1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 </a:t>
            </a:r>
            <a:r>
              <a:rPr lang="zh-CN" altLang="en-US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按照同样的规则进行散列，如果能够到达叶结点中的候选项集，则对其支持度计数加</a:t>
            </a:r>
            <a:r>
              <a:rPr lang="en-US" altLang="zh-CN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。</a:t>
            </a:r>
          </a:p>
        </p:txBody>
      </p:sp>
      <p:sp>
        <p:nvSpPr>
          <p:cNvPr id="57" name="文本框 151"/>
          <p:cNvSpPr txBox="1"/>
          <p:nvPr/>
        </p:nvSpPr>
        <p:spPr>
          <a:xfrm>
            <a:off x="5105365" y="2716121"/>
            <a:ext cx="1224000" cy="2268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kern="100" dirty="0">
                <a:solidFill>
                  <a:srgbClr val="FF0000"/>
                </a:solidFill>
                <a:latin typeface="Gulim"/>
                <a:ea typeface="宋体"/>
                <a:cs typeface="Times New Roman"/>
              </a:rPr>
              <a:t>{3 5 6}</a:t>
            </a:r>
            <a:endParaRPr lang="zh-CN" altLang="en-US" sz="1600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00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750"/>
                            </p:stCondLst>
                            <p:childTnLst>
                              <p:par>
                                <p:cTn id="56" presetID="10" presetClass="exit" presetSubtype="0" fill="hold" grpId="1" nodeType="after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5" grpId="0" animBg="1"/>
      <p:bldP spid="5" grpId="1" animBg="1"/>
      <p:bldP spid="63" grpId="0" animBg="1"/>
      <p:bldP spid="63" grpId="1" animBg="1"/>
      <p:bldP spid="65" grpId="0" animBg="1"/>
      <p:bldP spid="6" grpId="0" animBg="1"/>
      <p:bldP spid="6" grpId="1" animBg="1"/>
      <p:bldP spid="67" grpId="0" animBg="1"/>
      <p:bldP spid="68" grpId="0" animBg="1"/>
      <p:bldP spid="69" grpId="0" animBg="1"/>
      <p:bldP spid="52" grpId="0"/>
      <p:bldP spid="5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文本框 171"/>
          <p:cNvSpPr txBox="1"/>
          <p:nvPr/>
        </p:nvSpPr>
        <p:spPr>
          <a:xfrm>
            <a:off x="6840336" y="3710472"/>
            <a:ext cx="252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 dirty="0">
                <a:latin typeface="Gulim"/>
                <a:ea typeface="宋体"/>
                <a:cs typeface="Times New Roman"/>
              </a:rPr>
              <a:t> 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62" name="文本框 171"/>
          <p:cNvSpPr txBox="1"/>
          <p:nvPr/>
        </p:nvSpPr>
        <p:spPr>
          <a:xfrm>
            <a:off x="4644008" y="3710472"/>
            <a:ext cx="252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 dirty="0">
                <a:latin typeface="Gulim"/>
                <a:ea typeface="宋体"/>
                <a:cs typeface="Times New Roman"/>
              </a:rPr>
              <a:t> 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61" name="文本框 171"/>
          <p:cNvSpPr txBox="1"/>
          <p:nvPr/>
        </p:nvSpPr>
        <p:spPr>
          <a:xfrm>
            <a:off x="1151784" y="3710472"/>
            <a:ext cx="252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 dirty="0">
                <a:latin typeface="Gulim"/>
                <a:ea typeface="宋体"/>
                <a:cs typeface="Times New Roman"/>
              </a:rPr>
              <a:t> 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60" name="文本框 171"/>
          <p:cNvSpPr txBox="1"/>
          <p:nvPr/>
        </p:nvSpPr>
        <p:spPr>
          <a:xfrm>
            <a:off x="5827296" y="3710472"/>
            <a:ext cx="252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 dirty="0">
                <a:latin typeface="Gulim"/>
                <a:ea typeface="宋体"/>
                <a:cs typeface="Times New Roman"/>
              </a:rPr>
              <a:t> 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9" name="文本框 171"/>
          <p:cNvSpPr txBox="1"/>
          <p:nvPr/>
        </p:nvSpPr>
        <p:spPr>
          <a:xfrm>
            <a:off x="3677011" y="3710472"/>
            <a:ext cx="252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 dirty="0">
                <a:latin typeface="Gulim"/>
                <a:ea typeface="宋体"/>
                <a:cs typeface="Times New Roman"/>
              </a:rPr>
              <a:t> 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8" name="文本框 171"/>
          <p:cNvSpPr txBox="1"/>
          <p:nvPr/>
        </p:nvSpPr>
        <p:spPr>
          <a:xfrm>
            <a:off x="2272899" y="3710472"/>
            <a:ext cx="252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 dirty="0">
                <a:latin typeface="Gulim"/>
                <a:ea typeface="宋体"/>
                <a:cs typeface="Times New Roman"/>
              </a:rPr>
              <a:t> 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7" name="文本框 171"/>
          <p:cNvSpPr txBox="1"/>
          <p:nvPr/>
        </p:nvSpPr>
        <p:spPr>
          <a:xfrm>
            <a:off x="8141467" y="4602664"/>
            <a:ext cx="396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 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6" name="文本框 171"/>
          <p:cNvSpPr txBox="1"/>
          <p:nvPr/>
        </p:nvSpPr>
        <p:spPr>
          <a:xfrm>
            <a:off x="5868144" y="4602664"/>
            <a:ext cx="396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 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5" name="文本框 171"/>
          <p:cNvSpPr txBox="1"/>
          <p:nvPr/>
        </p:nvSpPr>
        <p:spPr>
          <a:xfrm>
            <a:off x="4536080" y="4602664"/>
            <a:ext cx="396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 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4" name="文本框 171"/>
          <p:cNvSpPr txBox="1"/>
          <p:nvPr/>
        </p:nvSpPr>
        <p:spPr>
          <a:xfrm>
            <a:off x="2380867" y="4602664"/>
            <a:ext cx="396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 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3" name="文本框 171"/>
          <p:cNvSpPr txBox="1"/>
          <p:nvPr/>
        </p:nvSpPr>
        <p:spPr>
          <a:xfrm>
            <a:off x="3207018" y="4602664"/>
            <a:ext cx="396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 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</a:t>
            </a:r>
            <a:r>
              <a:rPr lang="zh-CN" altLang="en-US" dirty="0"/>
              <a:t>候选项集</a:t>
            </a:r>
            <a:r>
              <a:rPr lang="en-US" altLang="zh-CN" dirty="0"/>
              <a:t>Hash</a:t>
            </a:r>
            <a:r>
              <a:rPr lang="zh-CN" altLang="en-US" dirty="0"/>
              <a:t>树</a:t>
            </a:r>
          </a:p>
        </p:txBody>
      </p:sp>
      <p:grpSp>
        <p:nvGrpSpPr>
          <p:cNvPr id="37" name="组合 36"/>
          <p:cNvGrpSpPr>
            <a:grpSpLocks noChangeAspect="1"/>
          </p:cNvGrpSpPr>
          <p:nvPr/>
        </p:nvGrpSpPr>
        <p:grpSpPr>
          <a:xfrm>
            <a:off x="5539007" y="1095941"/>
            <a:ext cx="3425480" cy="918102"/>
            <a:chOff x="5481517" y="2060848"/>
            <a:chExt cx="2126718" cy="760008"/>
          </a:xfrm>
        </p:grpSpPr>
        <p:sp>
          <p:nvSpPr>
            <p:cNvPr id="38" name="文本框 26"/>
            <p:cNvSpPr txBox="1"/>
            <p:nvPr/>
          </p:nvSpPr>
          <p:spPr>
            <a:xfrm>
              <a:off x="6391042" y="2060848"/>
              <a:ext cx="481690" cy="22930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b="1" dirty="0">
                  <a:latin typeface="华文细黑" pitchFamily="2" charset="-122"/>
                  <a:ea typeface="华文细黑" pitchFamily="2" charset="-122"/>
                  <a:cs typeface="宋体"/>
                </a:rPr>
                <a:t>Hash</a:t>
              </a:r>
              <a:r>
                <a:rPr lang="zh-CN" alt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树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39" name="流程图: 联系 38"/>
            <p:cNvSpPr/>
            <p:nvPr/>
          </p:nvSpPr>
          <p:spPr>
            <a:xfrm>
              <a:off x="6502029" y="2288178"/>
              <a:ext cx="44701" cy="53642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华文细黑" pitchFamily="2" charset="-122"/>
                <a:ea typeface="华文细黑" pitchFamily="2" charset="-122"/>
              </a:endParaRPr>
            </a:p>
          </p:txBody>
        </p:sp>
        <p:cxnSp>
          <p:nvCxnSpPr>
            <p:cNvPr id="40" name="直接箭头连接符 39"/>
            <p:cNvCxnSpPr>
              <a:stCxn id="39" idx="5"/>
            </p:cNvCxnSpPr>
            <p:nvPr/>
          </p:nvCxnSpPr>
          <p:spPr>
            <a:xfrm>
              <a:off x="6540184" y="2333964"/>
              <a:ext cx="1068051" cy="48689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9" idx="4"/>
            </p:cNvCxnSpPr>
            <p:nvPr/>
          </p:nvCxnSpPr>
          <p:spPr>
            <a:xfrm>
              <a:off x="6524380" y="2341819"/>
              <a:ext cx="20496" cy="46202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39" idx="3"/>
            </p:cNvCxnSpPr>
            <p:nvPr/>
          </p:nvCxnSpPr>
          <p:spPr>
            <a:xfrm flipH="1">
              <a:off x="5481517" y="2333964"/>
              <a:ext cx="1027058" cy="469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154"/>
            <p:cNvSpPr txBox="1"/>
            <p:nvPr/>
          </p:nvSpPr>
          <p:spPr>
            <a:xfrm>
              <a:off x="5681339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1,</a:t>
              </a:r>
              <a:r>
                <a:rPr lang="en-US" altLang="zh-CN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4,7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50" name="文本框 154"/>
            <p:cNvSpPr txBox="1"/>
            <p:nvPr/>
          </p:nvSpPr>
          <p:spPr>
            <a:xfrm>
              <a:off x="6329583" y="2473205"/>
              <a:ext cx="491715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>
                  <a:latin typeface="华文细黑" pitchFamily="2" charset="-122"/>
                  <a:ea typeface="华文细黑" pitchFamily="2" charset="-122"/>
                  <a:cs typeface="Times New Roman"/>
                </a:rPr>
                <a:t>2,5,8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  <p:sp>
          <p:nvSpPr>
            <p:cNvPr id="54" name="文本框 154"/>
            <p:cNvSpPr txBox="1"/>
            <p:nvPr/>
          </p:nvSpPr>
          <p:spPr>
            <a:xfrm>
              <a:off x="6888355" y="2473205"/>
              <a:ext cx="581118" cy="2357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latin typeface="华文细黑" pitchFamily="2" charset="-122"/>
                  <a:ea typeface="华文细黑" pitchFamily="2" charset="-122"/>
                  <a:cs typeface="Times New Roman"/>
                </a:rPr>
                <a:t>3,6,9</a:t>
              </a:r>
              <a:endParaRPr lang="zh-CN" altLang="en-US" dirty="0">
                <a:latin typeface="华文细黑" pitchFamily="2" charset="-122"/>
                <a:ea typeface="华文细黑" pitchFamily="2" charset="-122"/>
                <a:cs typeface="宋体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47</a:t>
            </a:fld>
            <a:endParaRPr lang="zh-CN" altLang="en-US"/>
          </a:p>
        </p:txBody>
      </p:sp>
      <p:cxnSp>
        <p:nvCxnSpPr>
          <p:cNvPr id="60" name="直接箭头连接符 59"/>
          <p:cNvCxnSpPr>
            <a:stCxn id="139" idx="2"/>
            <a:endCxn id="129" idx="0"/>
          </p:cNvCxnSpPr>
          <p:nvPr/>
        </p:nvCxnSpPr>
        <p:spPr>
          <a:xfrm>
            <a:off x="2753745" y="3212976"/>
            <a:ext cx="5155" cy="497496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165"/>
          <p:cNvSpPr txBox="1"/>
          <p:nvPr/>
        </p:nvSpPr>
        <p:spPr>
          <a:xfrm>
            <a:off x="3996080" y="5434448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73" name="文本框 167"/>
          <p:cNvSpPr txBox="1"/>
          <p:nvPr/>
        </p:nvSpPr>
        <p:spPr>
          <a:xfrm>
            <a:off x="4638981" y="5434448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1 3 5 6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74" name="直接箭头连接符 73"/>
          <p:cNvCxnSpPr>
            <a:stCxn id="95" idx="2"/>
            <a:endCxn id="77" idx="0"/>
          </p:cNvCxnSpPr>
          <p:nvPr/>
        </p:nvCxnSpPr>
        <p:spPr>
          <a:xfrm flipH="1">
            <a:off x="3669127" y="4829464"/>
            <a:ext cx="25940" cy="604984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171"/>
          <p:cNvSpPr txBox="1"/>
          <p:nvPr/>
        </p:nvSpPr>
        <p:spPr>
          <a:xfrm>
            <a:off x="3399127" y="5434448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79" name="直接箭头连接符 78"/>
          <p:cNvCxnSpPr>
            <a:stCxn id="95" idx="2"/>
            <a:endCxn id="72" idx="0"/>
          </p:cNvCxnSpPr>
          <p:nvPr/>
        </p:nvCxnSpPr>
        <p:spPr>
          <a:xfrm>
            <a:off x="3695068" y="4829464"/>
            <a:ext cx="571013" cy="604984"/>
          </a:xfrm>
          <a:prstGeom prst="straightConnector1">
            <a:avLst/>
          </a:prstGeom>
          <a:ln w="28575">
            <a:solidFill>
              <a:srgbClr val="0000FF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121" idx="2"/>
            <a:endCxn id="73" idx="0"/>
          </p:cNvCxnSpPr>
          <p:nvPr/>
        </p:nvCxnSpPr>
        <p:spPr>
          <a:xfrm flipH="1">
            <a:off x="4908982" y="4829464"/>
            <a:ext cx="5099" cy="604984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129" idx="2"/>
            <a:endCxn id="95" idx="0"/>
          </p:cNvCxnSpPr>
          <p:nvPr/>
        </p:nvCxnSpPr>
        <p:spPr>
          <a:xfrm>
            <a:off x="2758899" y="3937272"/>
            <a:ext cx="936168" cy="665392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stCxn id="139" idx="2"/>
            <a:endCxn id="131" idx="0"/>
          </p:cNvCxnSpPr>
          <p:nvPr/>
        </p:nvCxnSpPr>
        <p:spPr>
          <a:xfrm flipH="1">
            <a:off x="1511784" y="3212976"/>
            <a:ext cx="1241960" cy="4974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>
            <a:stCxn id="129" idx="2"/>
            <a:endCxn id="127" idx="0"/>
          </p:cNvCxnSpPr>
          <p:nvPr/>
        </p:nvCxnSpPr>
        <p:spPr>
          <a:xfrm flipH="1">
            <a:off x="2740867" y="3937272"/>
            <a:ext cx="18032" cy="665392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171"/>
          <p:cNvSpPr txBox="1"/>
          <p:nvPr/>
        </p:nvSpPr>
        <p:spPr>
          <a:xfrm>
            <a:off x="2483768" y="5434448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95" name="文本框 159"/>
          <p:cNvSpPr txBox="1"/>
          <p:nvPr/>
        </p:nvSpPr>
        <p:spPr>
          <a:xfrm>
            <a:off x="3209067" y="4602664"/>
            <a:ext cx="972000" cy="22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96" name="直接箭头连接符 95"/>
          <p:cNvCxnSpPr>
            <a:stCxn id="127" idx="2"/>
            <a:endCxn id="94" idx="0"/>
          </p:cNvCxnSpPr>
          <p:nvPr/>
        </p:nvCxnSpPr>
        <p:spPr>
          <a:xfrm>
            <a:off x="2740868" y="4829464"/>
            <a:ext cx="12901" cy="604984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130" idx="2"/>
            <a:endCxn id="121" idx="0"/>
          </p:cNvCxnSpPr>
          <p:nvPr/>
        </p:nvCxnSpPr>
        <p:spPr>
          <a:xfrm>
            <a:off x="4108202" y="3937272"/>
            <a:ext cx="805878" cy="665392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stCxn id="139" idx="2"/>
            <a:endCxn id="130" idx="0"/>
          </p:cNvCxnSpPr>
          <p:nvPr/>
        </p:nvCxnSpPr>
        <p:spPr>
          <a:xfrm>
            <a:off x="2753744" y="3212976"/>
            <a:ext cx="1354458" cy="497496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84"/>
          <p:cNvSpPr txBox="1"/>
          <p:nvPr/>
        </p:nvSpPr>
        <p:spPr>
          <a:xfrm>
            <a:off x="6558875" y="5434448"/>
            <a:ext cx="540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3 5 6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11" name="直接箭头连接符 110"/>
          <p:cNvCxnSpPr>
            <a:stCxn id="134" idx="2"/>
            <a:endCxn id="119" idx="0"/>
          </p:cNvCxnSpPr>
          <p:nvPr/>
        </p:nvCxnSpPr>
        <p:spPr>
          <a:xfrm flipH="1">
            <a:off x="6246144" y="3937272"/>
            <a:ext cx="13152" cy="665392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>
            <a:stCxn id="119" idx="2"/>
            <a:endCxn id="108" idx="0"/>
          </p:cNvCxnSpPr>
          <p:nvPr/>
        </p:nvCxnSpPr>
        <p:spPr>
          <a:xfrm>
            <a:off x="6246145" y="4829464"/>
            <a:ext cx="582731" cy="604984"/>
          </a:xfrm>
          <a:prstGeom prst="straightConnector1">
            <a:avLst/>
          </a:prstGeom>
          <a:ln w="28575">
            <a:solidFill>
              <a:srgbClr val="0000FF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>
            <a:stCxn id="142" idx="2"/>
            <a:endCxn id="134" idx="0"/>
          </p:cNvCxnSpPr>
          <p:nvPr/>
        </p:nvCxnSpPr>
        <p:spPr>
          <a:xfrm>
            <a:off x="5495076" y="3212870"/>
            <a:ext cx="764220" cy="497603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>
            <a:stCxn id="142" idx="2"/>
            <a:endCxn id="132" idx="0"/>
          </p:cNvCxnSpPr>
          <p:nvPr/>
        </p:nvCxnSpPr>
        <p:spPr>
          <a:xfrm flipH="1">
            <a:off x="5022008" y="3212870"/>
            <a:ext cx="473068" cy="4976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60"/>
          <p:cNvSpPr txBox="1"/>
          <p:nvPr/>
        </p:nvSpPr>
        <p:spPr>
          <a:xfrm>
            <a:off x="5868144" y="4602664"/>
            <a:ext cx="756000" cy="22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21" name="文本框 160"/>
          <p:cNvSpPr txBox="1"/>
          <p:nvPr/>
        </p:nvSpPr>
        <p:spPr>
          <a:xfrm>
            <a:off x="4536080" y="4602664"/>
            <a:ext cx="756000" cy="22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1 3 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27" name="文本框 159"/>
          <p:cNvSpPr txBox="1"/>
          <p:nvPr/>
        </p:nvSpPr>
        <p:spPr>
          <a:xfrm>
            <a:off x="2380867" y="4602664"/>
            <a:ext cx="720000" cy="22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1 2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5-{6}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29" name="文本框 159"/>
          <p:cNvSpPr txBox="1"/>
          <p:nvPr/>
        </p:nvSpPr>
        <p:spPr>
          <a:xfrm>
            <a:off x="2272899" y="3710472"/>
            <a:ext cx="972000" cy="22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 dirty="0">
                <a:latin typeface="Gulim"/>
                <a:ea typeface="宋体"/>
                <a:cs typeface="Times New Roman"/>
              </a:rPr>
              <a:t>1 2-{3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30" name="文本框 160"/>
          <p:cNvSpPr txBox="1"/>
          <p:nvPr/>
        </p:nvSpPr>
        <p:spPr>
          <a:xfrm>
            <a:off x="3677012" y="3710472"/>
            <a:ext cx="862381" cy="22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 dirty="0">
                <a:latin typeface="Gulim"/>
                <a:ea typeface="宋体"/>
                <a:cs typeface="Times New Roman"/>
              </a:rPr>
              <a:t>1 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31" name="文本框 160"/>
          <p:cNvSpPr txBox="1"/>
          <p:nvPr/>
        </p:nvSpPr>
        <p:spPr>
          <a:xfrm>
            <a:off x="1151784" y="3710472"/>
            <a:ext cx="720000" cy="22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 dirty="0">
                <a:latin typeface="Gulim"/>
                <a:ea typeface="宋体"/>
                <a:cs typeface="Times New Roman"/>
              </a:rPr>
              <a:t>1 4-{5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32" name="文本框 159"/>
          <p:cNvSpPr txBox="1"/>
          <p:nvPr/>
        </p:nvSpPr>
        <p:spPr>
          <a:xfrm>
            <a:off x="4644008" y="3710472"/>
            <a:ext cx="756000" cy="22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>
                <a:latin typeface="Gulim"/>
                <a:ea typeface="宋体"/>
                <a:cs typeface="Times New Roman"/>
              </a:rPr>
              <a:t>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4-{5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34" name="文本框 159"/>
          <p:cNvSpPr txBox="1"/>
          <p:nvPr/>
        </p:nvSpPr>
        <p:spPr>
          <a:xfrm>
            <a:off x="5827296" y="3710472"/>
            <a:ext cx="864000" cy="22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 dirty="0">
                <a:latin typeface="Gulim"/>
                <a:ea typeface="宋体"/>
                <a:cs typeface="Times New Roman"/>
              </a:rPr>
              <a:t>2 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35" name="直接箭头连接符 134"/>
          <p:cNvCxnSpPr>
            <a:stCxn id="141" idx="2"/>
            <a:endCxn id="139" idx="0"/>
          </p:cNvCxnSpPr>
          <p:nvPr/>
        </p:nvCxnSpPr>
        <p:spPr>
          <a:xfrm flipH="1">
            <a:off x="2753745" y="2503672"/>
            <a:ext cx="2723315" cy="4825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>
            <a:stCxn id="141" idx="2"/>
            <a:endCxn id="142" idx="0"/>
          </p:cNvCxnSpPr>
          <p:nvPr/>
        </p:nvCxnSpPr>
        <p:spPr>
          <a:xfrm>
            <a:off x="5477060" y="2503673"/>
            <a:ext cx="18017" cy="482397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>
            <a:stCxn id="141" idx="2"/>
            <a:endCxn id="143" idx="0"/>
          </p:cNvCxnSpPr>
          <p:nvPr/>
        </p:nvCxnSpPr>
        <p:spPr>
          <a:xfrm>
            <a:off x="5477060" y="2503673"/>
            <a:ext cx="1741181" cy="482397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本框 154"/>
          <p:cNvSpPr txBox="1"/>
          <p:nvPr/>
        </p:nvSpPr>
        <p:spPr>
          <a:xfrm>
            <a:off x="2267744" y="2986176"/>
            <a:ext cx="972000" cy="226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1-{2 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41" name="文本框 151"/>
          <p:cNvSpPr txBox="1"/>
          <p:nvPr/>
        </p:nvSpPr>
        <p:spPr>
          <a:xfrm>
            <a:off x="4865059" y="2276872"/>
            <a:ext cx="1224000" cy="22680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{1 2 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42" name="文本框 155"/>
          <p:cNvSpPr txBox="1"/>
          <p:nvPr/>
        </p:nvSpPr>
        <p:spPr>
          <a:xfrm>
            <a:off x="5009076" y="2986069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>
                <a:latin typeface="Gulim"/>
                <a:ea typeface="宋体"/>
                <a:cs typeface="Times New Roman"/>
              </a:rPr>
              <a:t>2-</a:t>
            </a:r>
            <a:r>
              <a:rPr lang="en-US" sz="1200" b="1" kern="100" dirty="0">
                <a:latin typeface="Gulim"/>
                <a:ea typeface="宋体"/>
                <a:cs typeface="Times New Roman"/>
              </a:rPr>
              <a:t>{3 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43" name="文本框 156"/>
          <p:cNvSpPr txBox="1"/>
          <p:nvPr/>
        </p:nvSpPr>
        <p:spPr>
          <a:xfrm>
            <a:off x="6732240" y="2986069"/>
            <a:ext cx="972000" cy="22680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3-{4 5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44" name="文本框 159"/>
          <p:cNvSpPr txBox="1"/>
          <p:nvPr/>
        </p:nvSpPr>
        <p:spPr>
          <a:xfrm>
            <a:off x="6840336" y="3710472"/>
            <a:ext cx="756000" cy="22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 dirty="0">
                <a:latin typeface="Gulim"/>
                <a:ea typeface="宋体"/>
                <a:cs typeface="Times New Roman"/>
              </a:rPr>
              <a:t>3 5-{ 6}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45" name="文本框 159"/>
          <p:cNvSpPr txBox="1"/>
          <p:nvPr/>
        </p:nvSpPr>
        <p:spPr>
          <a:xfrm>
            <a:off x="8141468" y="4602664"/>
            <a:ext cx="606997" cy="22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kern="100" dirty="0">
                <a:latin typeface="Gulim"/>
                <a:ea typeface="宋体"/>
                <a:cs typeface="Times New Roman"/>
              </a:rPr>
              <a:t>3 5 6-{}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47" name="直接箭头连接符 146"/>
          <p:cNvCxnSpPr>
            <a:stCxn id="143" idx="2"/>
            <a:endCxn id="144" idx="0"/>
          </p:cNvCxnSpPr>
          <p:nvPr/>
        </p:nvCxnSpPr>
        <p:spPr>
          <a:xfrm>
            <a:off x="7218240" y="3212870"/>
            <a:ext cx="96" cy="497603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>
            <a:stCxn id="144" idx="2"/>
            <a:endCxn id="145" idx="0"/>
          </p:cNvCxnSpPr>
          <p:nvPr/>
        </p:nvCxnSpPr>
        <p:spPr>
          <a:xfrm>
            <a:off x="7218336" y="3937272"/>
            <a:ext cx="1226630" cy="665392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文本框 171"/>
          <p:cNvSpPr txBox="1"/>
          <p:nvPr/>
        </p:nvSpPr>
        <p:spPr>
          <a:xfrm>
            <a:off x="238635" y="2050072"/>
            <a:ext cx="396000" cy="226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0" tIns="360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latin typeface="Gulim"/>
                <a:ea typeface="宋体"/>
                <a:cs typeface="Times New Roman"/>
              </a:rPr>
              <a:t> </a:t>
            </a:r>
            <a:endParaRPr lang="zh-CN" altLang="en-US" sz="12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83568" y="196491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候选项集</a:t>
            </a:r>
          </a:p>
        </p:txBody>
      </p:sp>
    </p:spTree>
    <p:extLst>
      <p:ext uri="{BB962C8B-B14F-4D97-AF65-F5344CB8AC3E}">
        <p14:creationId xmlns:p14="http://schemas.microsoft.com/office/powerpoint/2010/main" val="80999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animBg="1"/>
      <p:bldP spid="1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能够采取措施，高效地处理支持度计数的计算问题，是提高关联算法算法效率的关键一环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8770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Apriori</a:t>
            </a:r>
            <a:r>
              <a:rPr lang="zh-CN" altLang="en-US" dirty="0"/>
              <a:t>算法复杂度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影响</a:t>
            </a:r>
            <a:r>
              <a:rPr lang="en-US" altLang="zh-CN" dirty="0"/>
              <a:t>Apriori</a:t>
            </a:r>
            <a:r>
              <a:rPr lang="zh-CN" altLang="en-US" dirty="0"/>
              <a:t>算法的计算复杂度的因素 </a:t>
            </a:r>
            <a:endParaRPr lang="en-US" altLang="zh-CN" dirty="0"/>
          </a:p>
          <a:p>
            <a:pPr lvl="1"/>
            <a:r>
              <a:rPr lang="zh-CN" altLang="en-US" dirty="0"/>
              <a:t>支持度阈值</a:t>
            </a:r>
          </a:p>
          <a:p>
            <a:pPr lvl="2"/>
            <a:r>
              <a:rPr lang="zh-CN" altLang="en-US" sz="2000" dirty="0"/>
              <a:t>降低支持度阈值通常</a:t>
            </a:r>
            <a:r>
              <a:rPr lang="zh-CN" altLang="en-US" dirty="0"/>
              <a:t>会</a:t>
            </a:r>
            <a:r>
              <a:rPr lang="zh-CN" altLang="en-US" sz="2000" dirty="0"/>
              <a:t>导致</a:t>
            </a:r>
            <a:r>
              <a:rPr lang="zh-CN" altLang="en-US" dirty="0"/>
              <a:t>产生更多的频繁项集，</a:t>
            </a:r>
            <a:r>
              <a:rPr lang="zh-CN" altLang="en-US" sz="2000" dirty="0"/>
              <a:t>计算复杂度增加</a:t>
            </a:r>
          </a:p>
          <a:p>
            <a:pPr lvl="1"/>
            <a:r>
              <a:rPr lang="zh-CN" altLang="en-US" dirty="0"/>
              <a:t>数据项个数</a:t>
            </a:r>
            <a:endParaRPr lang="en-US" altLang="zh-CN" dirty="0"/>
          </a:p>
          <a:p>
            <a:pPr lvl="2"/>
            <a:r>
              <a:rPr lang="zh-CN" altLang="en-US" sz="2000" dirty="0"/>
              <a:t>随着数据项个数增加，需要更多的空间来存储项的支持度计数</a:t>
            </a:r>
            <a:endParaRPr lang="en-US" altLang="zh-CN" sz="2000" dirty="0"/>
          </a:p>
          <a:p>
            <a:pPr lvl="2"/>
            <a:r>
              <a:rPr lang="zh-CN" altLang="en-US" sz="2000" dirty="0"/>
              <a:t>候选项集、频繁项集的数目也随之增加，计算量和</a:t>
            </a:r>
            <a:r>
              <a:rPr lang="en-US" altLang="zh-CN" sz="2000" dirty="0"/>
              <a:t>I/O</a:t>
            </a:r>
            <a:r>
              <a:rPr lang="zh-CN" altLang="en-US" sz="2000" dirty="0"/>
              <a:t>开销将随之增加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9855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Apriori</a:t>
            </a:r>
            <a:r>
              <a:rPr lang="zh-CN" altLang="en-US" dirty="0"/>
              <a:t>算法复杂度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影响</a:t>
            </a:r>
            <a:r>
              <a:rPr lang="en-US" altLang="zh-CN" dirty="0"/>
              <a:t>Apriori</a:t>
            </a:r>
            <a:r>
              <a:rPr lang="zh-CN" altLang="en-US" dirty="0"/>
              <a:t>算法的计算复杂度的因素 </a:t>
            </a:r>
            <a:endParaRPr lang="en-US" altLang="zh-CN" dirty="0"/>
          </a:p>
          <a:p>
            <a:pPr lvl="1"/>
            <a:r>
              <a:rPr lang="zh-CN" altLang="en-US" dirty="0"/>
              <a:t>事务数</a:t>
            </a:r>
          </a:p>
          <a:p>
            <a:pPr lvl="2"/>
            <a:r>
              <a:rPr lang="zh-CN" altLang="en-US" sz="2000" dirty="0"/>
              <a:t>运行时间随着事务数增加而增加</a:t>
            </a:r>
          </a:p>
          <a:p>
            <a:pPr lvl="1"/>
            <a:r>
              <a:rPr lang="zh-CN" altLang="en-US" dirty="0"/>
              <a:t>事务的平均宽度</a:t>
            </a:r>
          </a:p>
          <a:p>
            <a:pPr lvl="2"/>
            <a:r>
              <a:rPr lang="zh-CN" altLang="en-US" sz="2000" dirty="0"/>
              <a:t>频繁项集的最大长度随事务平均宽度增加而增加</a:t>
            </a:r>
          </a:p>
          <a:p>
            <a:pPr lvl="2"/>
            <a:r>
              <a:rPr lang="zh-CN" altLang="en-US" sz="2000" dirty="0"/>
              <a:t>随着事务宽度的增加，事务中将包含更多的项集，这将增加支持度计数时</a:t>
            </a:r>
            <a:r>
              <a:rPr lang="en-US" altLang="zh-CN" sz="2000" dirty="0"/>
              <a:t>Hash</a:t>
            </a:r>
            <a:r>
              <a:rPr lang="zh-CN" altLang="en-US" sz="2000" dirty="0"/>
              <a:t>树的遍历次数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34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Apriori</a:t>
            </a:r>
            <a:r>
              <a:rPr lang="zh-CN" altLang="en-US" dirty="0"/>
              <a:t>算法复杂度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94" y="2025224"/>
            <a:ext cx="7702938" cy="34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2123728" y="5185994"/>
            <a:ext cx="792000" cy="2592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67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Apriori</a:t>
            </a:r>
            <a:r>
              <a:rPr lang="zh-CN" altLang="en-US" dirty="0"/>
              <a:t>算法复杂度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060848"/>
            <a:ext cx="7598258" cy="34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979712" y="5185994"/>
            <a:ext cx="792000" cy="2592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73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如何产生关联规则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215848" y="2197664"/>
                <a:ext cx="8632500" cy="11330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87525" indent="-1787525">
                  <a:lnSpc>
                    <a:spcPct val="150000"/>
                  </a:lnSpc>
                </a:pPr>
                <a:r>
                  <a:rPr lang="en-US" altLang="zh-CN" sz="2400" dirty="0">
                    <a:latin typeface="华文细黑" pitchFamily="2" charset="-122"/>
                    <a:ea typeface="华文细黑" pitchFamily="2" charset="-122"/>
                  </a:rPr>
                  <a:t>【</a:t>
                </a:r>
                <a:r>
                  <a:rPr lang="zh-CN" altLang="zh-CN" sz="2400" dirty="0">
                    <a:latin typeface="华文细黑" pitchFamily="2" charset="-122"/>
                    <a:ea typeface="华文细黑" pitchFamily="2" charset="-122"/>
                  </a:rPr>
                  <a:t>关联规则</a:t>
                </a:r>
                <a:r>
                  <a:rPr lang="en-US" altLang="zh-CN" sz="2400" dirty="0">
                    <a:latin typeface="华文细黑" pitchFamily="2" charset="-122"/>
                    <a:ea typeface="华文细黑" pitchFamily="2" charset="-122"/>
                  </a:rPr>
                  <a:t>】</a:t>
                </a:r>
                <a:r>
                  <a:rPr lang="zh-CN" altLang="zh-CN" sz="2400" dirty="0">
                    <a:latin typeface="华文细黑" pitchFamily="2" charset="-122"/>
                    <a:ea typeface="华文细黑" pitchFamily="2" charset="-122"/>
                  </a:rPr>
                  <a:t>形如</a:t>
                </a:r>
                <a:r>
                  <a:rPr lang="en-US" altLang="zh-CN" sz="2400" dirty="0">
                    <a:latin typeface="华文细黑" pitchFamily="2" charset="-122"/>
                    <a:ea typeface="华文细黑" pitchFamily="2" charset="-122"/>
                  </a:rPr>
                  <a:t> </a:t>
                </a:r>
                <a:r>
                  <a:rPr lang="en-US" altLang="zh-CN" sz="2400" i="1" dirty="0">
                    <a:latin typeface="华文宋体" pitchFamily="2" charset="-122"/>
                    <a:ea typeface="华文宋体" pitchFamily="2" charset="-122"/>
                  </a:rPr>
                  <a:t>X</a:t>
                </a:r>
                <a:r>
                  <a:rPr lang="en-US" altLang="zh-CN" sz="2400" dirty="0">
                    <a:latin typeface="华文宋体" pitchFamily="2" charset="-122"/>
                    <a:ea typeface="华文宋体" pitchFamily="2" charset="-122"/>
                  </a:rPr>
                  <a:t>→</a:t>
                </a:r>
                <a:r>
                  <a:rPr lang="en-US" altLang="zh-CN" sz="2400" i="1" dirty="0">
                    <a:latin typeface="华文宋体" pitchFamily="2" charset="-122"/>
                    <a:ea typeface="华文宋体" pitchFamily="2" charset="-122"/>
                  </a:rPr>
                  <a:t>Y </a:t>
                </a:r>
                <a:r>
                  <a:rPr lang="zh-CN" altLang="zh-CN" sz="2400" dirty="0">
                    <a:latin typeface="华文细黑" pitchFamily="2" charset="-122"/>
                    <a:ea typeface="华文细黑" pitchFamily="2" charset="-122"/>
                  </a:rPr>
                  <a:t>的蕴含表达式 ，其中</a:t>
                </a:r>
                <a:r>
                  <a:rPr lang="en-US" altLang="zh-CN" sz="2400" dirty="0">
                    <a:latin typeface="华文细黑" pitchFamily="2" charset="-122"/>
                    <a:ea typeface="华文细黑" pitchFamily="2" charset="-122"/>
                  </a:rPr>
                  <a:t> </a:t>
                </a:r>
                <a:r>
                  <a:rPr lang="en-US" altLang="zh-CN" sz="2400" i="1" dirty="0">
                    <a:latin typeface="华文宋体" pitchFamily="2" charset="-122"/>
                    <a:ea typeface="华文宋体" pitchFamily="2" charset="-122"/>
                  </a:rPr>
                  <a:t>X </a:t>
                </a:r>
                <a:r>
                  <a:rPr lang="zh-CN" altLang="zh-CN" sz="2400" dirty="0">
                    <a:latin typeface="华文细黑" pitchFamily="2" charset="-122"/>
                    <a:ea typeface="华文细黑" pitchFamily="2" charset="-122"/>
                  </a:rPr>
                  <a:t>和</a:t>
                </a:r>
                <a:r>
                  <a:rPr lang="en-US" altLang="zh-CN" sz="2400" dirty="0">
                    <a:latin typeface="华文细黑" pitchFamily="2" charset="-122"/>
                    <a:ea typeface="华文细黑" pitchFamily="2" charset="-122"/>
                  </a:rPr>
                  <a:t> </a:t>
                </a:r>
                <a:r>
                  <a:rPr lang="en-US" altLang="zh-CN" sz="2400" i="1" dirty="0">
                    <a:latin typeface="华文宋体" pitchFamily="2" charset="-122"/>
                    <a:ea typeface="华文宋体" pitchFamily="2" charset="-122"/>
                  </a:rPr>
                  <a:t>Y </a:t>
                </a:r>
                <a:r>
                  <a:rPr lang="zh-CN" altLang="zh-CN" sz="2400" dirty="0">
                    <a:latin typeface="华文细黑" pitchFamily="2" charset="-122"/>
                    <a:ea typeface="华文细黑" pitchFamily="2" charset="-122"/>
                  </a:rPr>
                  <a:t>是不相交的项集，即有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华文细黑" pitchFamily="2" charset="-122"/>
                      </a:rPr>
                      <m:t>𝑋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∩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𝑌</m:t>
                    </m:r>
                    <m:r>
                      <a:rPr lang="en-US" altLang="zh-CN" sz="2400" i="1">
                        <a:latin typeface="Cambria Math"/>
                        <a:ea typeface="华文细黑" pitchFamily="2" charset="-122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zh-CN" altLang="zh-CN" sz="2400" dirty="0">
                    <a:latin typeface="华文细黑" pitchFamily="2" charset="-122"/>
                    <a:ea typeface="华文细黑" pitchFamily="2" charset="-122"/>
                  </a:rPr>
                  <a:t>。</a:t>
                </a:r>
                <a:endParaRPr lang="en-US" altLang="zh-CN" sz="2400" dirty="0">
                  <a:latin typeface="华文细黑" pitchFamily="2" charset="-122"/>
                  <a:ea typeface="华文细黑" pitchFamily="2" charset="-122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48" y="2197664"/>
                <a:ext cx="8632500" cy="1133002"/>
              </a:xfrm>
              <a:prstGeom prst="rect">
                <a:avLst/>
              </a:prstGeom>
              <a:blipFill>
                <a:blip r:embed="rId3"/>
                <a:stretch>
                  <a:fillRect l="-1059" r="-141" b="-118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0F21CA-5FE0-44B5-8D35-C3D42C58EC2B}"/>
              </a:ext>
            </a:extLst>
          </p:cNvPr>
          <p:cNvSpPr/>
          <p:nvPr/>
        </p:nvSpPr>
        <p:spPr>
          <a:xfrm>
            <a:off x="874086" y="3862810"/>
            <a:ext cx="7725165" cy="579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87525" indent="-1787525">
              <a:lnSpc>
                <a:spcPct val="150000"/>
              </a:lnSpc>
            </a:pPr>
            <a:r>
              <a:rPr lang="zh-CN" altLang="en-US" sz="2400" dirty="0">
                <a:latin typeface="华文细黑" pitchFamily="2" charset="-122"/>
                <a:ea typeface="华文细黑" pitchFamily="2" charset="-122"/>
              </a:rPr>
              <a:t>若</a:t>
            </a:r>
            <a:r>
              <a:rPr lang="en-US" altLang="zh-CN" sz="2400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sz="2400" dirty="0">
                <a:latin typeface="华文细黑" pitchFamily="2" charset="-122"/>
                <a:ea typeface="华文细黑" pitchFamily="2" charset="-122"/>
              </a:rPr>
              <a:t>面包，牛奶，蛋糕</a:t>
            </a:r>
            <a:r>
              <a:rPr lang="en-US" altLang="zh-CN" sz="2400" dirty="0">
                <a:latin typeface="华文细黑" pitchFamily="2" charset="-122"/>
                <a:ea typeface="华文细黑" pitchFamily="2" charset="-122"/>
              </a:rPr>
              <a:t>}</a:t>
            </a:r>
            <a:r>
              <a:rPr lang="zh-CN" altLang="en-US" sz="2400" dirty="0">
                <a:latin typeface="华文细黑" pitchFamily="2" charset="-122"/>
                <a:ea typeface="华文细黑" pitchFamily="2" charset="-122"/>
              </a:rPr>
              <a:t>为频繁项集，关联规则是什么？</a:t>
            </a:r>
            <a:endParaRPr lang="en-US" altLang="zh-CN" sz="2400" dirty="0"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098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关联规则产生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15701" y="4178401"/>
          <a:ext cx="1303973" cy="1600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8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604">
                <a:tc gridSpan="2">
                  <a:txBody>
                    <a:bodyPr/>
                    <a:lstStyle/>
                    <a:p>
                      <a:r>
                        <a:rPr lang="zh-CN" altLang="en-US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事务</a:t>
                      </a: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lang="en-US" altLang="zh-C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</a:t>
                      </a:r>
                      <a:endParaRPr lang="zh-CN" altLang="en-US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</a:t>
                      </a:r>
                      <a:endParaRPr lang="zh-CN" altLang="en-US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lang="en-US" altLang="zh-C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300" b="0" i="1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1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3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300" b="0" i="1" kern="1200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3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300" b="0" i="1" kern="1200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1300" b="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lang="en-US" altLang="zh-C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3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300" b="0" i="1" kern="1200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3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300" b="0" i="1" kern="1200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1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3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300" b="0" i="1" kern="1200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1300" b="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lang="en-US" altLang="zh-C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3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300" b="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3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300" b="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3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300" b="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,...</a:t>
                      </a:r>
                      <a:endParaRPr lang="zh-CN" altLang="en-US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lang="en-US" altLang="zh-C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</a:t>
                      </a:r>
                      <a:endParaRPr lang="zh-CN" altLang="en-US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右箭头 4"/>
          <p:cNvSpPr/>
          <p:nvPr/>
        </p:nvSpPr>
        <p:spPr>
          <a:xfrm>
            <a:off x="1907832" y="4437155"/>
            <a:ext cx="900000" cy="388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7" name="矩形 6"/>
          <p:cNvSpPr/>
          <p:nvPr/>
        </p:nvSpPr>
        <p:spPr>
          <a:xfrm>
            <a:off x="7740352" y="4178403"/>
            <a:ext cx="1107996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关联规则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{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6426288" y="4825984"/>
            <a:ext cx="1404000" cy="259200"/>
          </a:xfrm>
          <a:prstGeom prst="wedgeRectCallout">
            <a:avLst>
              <a:gd name="adj1" fmla="val -19590"/>
              <a:gd name="adj2" fmla="val -42313"/>
            </a:avLst>
          </a:prstGeom>
          <a:noFill/>
          <a:ln w="12700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 ≥ minConf</a:t>
            </a:r>
            <a:endParaRPr lang="zh-CN" alt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166040" y="4178402"/>
            <a:ext cx="1422184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候选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关联规则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{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87824" y="4178401"/>
            <a:ext cx="1542410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频繁项集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支持度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4211960" y="4437155"/>
            <a:ext cx="828000" cy="388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12" name="右箭头 11"/>
          <p:cNvSpPr/>
          <p:nvPr/>
        </p:nvSpPr>
        <p:spPr>
          <a:xfrm>
            <a:off x="6660288" y="4437155"/>
            <a:ext cx="936000" cy="388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15" name="矩形 14"/>
          <p:cNvSpPr/>
          <p:nvPr/>
        </p:nvSpPr>
        <p:spPr>
          <a:xfrm>
            <a:off x="1655832" y="4858384"/>
            <a:ext cx="1404000" cy="226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 ≥ minSup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51520" y="1218069"/>
            <a:ext cx="8596828" cy="3120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0113" indent="-900113">
              <a:lnSpc>
                <a:spcPct val="120000"/>
              </a:lnSpc>
            </a:pPr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方法：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对于频繁</a:t>
            </a:r>
            <a:r>
              <a:rPr lang="en-US" altLang="zh-CN" sz="2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-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 </a:t>
            </a:r>
            <a:r>
              <a:rPr lang="en-US" altLang="zh-CN" sz="2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Z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endParaRPr lang="en-US" altLang="zh-CN" sz="2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marL="900113" indent="-900113">
              <a:lnSpc>
                <a:spcPct val="120000"/>
              </a:lnSpc>
            </a:pP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	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将集合 </a:t>
            </a:r>
            <a:r>
              <a:rPr lang="en-US" altLang="zh-CN" sz="2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Z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划分为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en-US" altLang="zh-CN" sz="2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X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和 </a:t>
            </a:r>
            <a:r>
              <a:rPr lang="en-US" altLang="zh-CN" sz="2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Y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两个不重叠子集，</a:t>
            </a:r>
            <a:endParaRPr lang="en-US" altLang="zh-CN" sz="2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marL="900113" indent="-900113">
              <a:lnSpc>
                <a:spcPct val="120000"/>
              </a:lnSpc>
            </a:pP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	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由 </a:t>
            </a:r>
            <a:r>
              <a:rPr lang="en-US" altLang="zh-CN" sz="2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X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和 </a:t>
            </a:r>
            <a:r>
              <a:rPr lang="en-US" altLang="zh-CN" sz="2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Y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生成“候选”的关联规则。</a:t>
            </a:r>
            <a:endParaRPr lang="en-US" altLang="zh-CN" sz="2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marL="900113" indent="-900113">
              <a:lnSpc>
                <a:spcPct val="120000"/>
              </a:lnSpc>
            </a:pP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	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若候选规则 </a:t>
            </a:r>
            <a:r>
              <a:rPr lang="en-US" altLang="zh-CN" sz="2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X</a:t>
            </a:r>
            <a:r>
              <a:rPr lang="en-US" altLang="zh-CN" sz="2200" dirty="0">
                <a:latin typeface="华文细黑" pitchFamily="2" charset="-122"/>
                <a:ea typeface="华文细黑" pitchFamily="2" charset="-122"/>
                <a:sym typeface="Symbol" pitchFamily="18" charset="2"/>
              </a:rPr>
              <a:t></a:t>
            </a:r>
            <a:r>
              <a:rPr lang="en-US" altLang="zh-CN" sz="2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Y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的置信度满足阈值，</a:t>
            </a:r>
            <a:endParaRPr lang="en-US" altLang="zh-CN" sz="2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marL="900113" indent="-900113">
              <a:lnSpc>
                <a:spcPct val="120000"/>
              </a:lnSpc>
            </a:pP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	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则 </a:t>
            </a:r>
            <a:r>
              <a:rPr lang="en-US" altLang="zh-CN" sz="2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X</a:t>
            </a:r>
            <a:r>
              <a:rPr lang="en-US" altLang="zh-CN" sz="2200" dirty="0">
                <a:latin typeface="华文细黑" pitchFamily="2" charset="-122"/>
                <a:ea typeface="华文细黑" pitchFamily="2" charset="-122"/>
                <a:sym typeface="Symbol" pitchFamily="18" charset="2"/>
              </a:rPr>
              <a:t></a:t>
            </a:r>
            <a:r>
              <a:rPr lang="en-US" altLang="zh-CN" sz="22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Y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为关联规则。</a:t>
            </a:r>
          </a:p>
          <a:p>
            <a:pPr marL="900113" indent="-900113">
              <a:lnSpc>
                <a:spcPct val="120000"/>
              </a:lnSpc>
            </a:pPr>
            <a:endParaRPr lang="zh-CN" altLang="en-US" sz="24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marL="900113" indent="-900113">
              <a:lnSpc>
                <a:spcPct val="120000"/>
              </a:lnSpc>
            </a:pPr>
            <a:endParaRPr lang="en-US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131840" y="3947458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Z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5140" y="3947458"/>
            <a:ext cx="11985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3"/>
              </a:rPr>
              <a:t></a:t>
            </a:r>
            <a:r>
              <a:rPr lang="en-US" altLang="zh-CN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3"/>
              </a:rPr>
              <a:t>Y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云形标注 5"/>
              <p:cNvSpPr/>
              <p:nvPr/>
            </p:nvSpPr>
            <p:spPr>
              <a:xfrm>
                <a:off x="5664425" y="751608"/>
                <a:ext cx="2304256" cy="791858"/>
              </a:xfrm>
              <a:prstGeom prst="cloudCallout">
                <a:avLst>
                  <a:gd name="adj1" fmla="val -105307"/>
                  <a:gd name="adj2" fmla="val 75213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ea typeface="华文细黑" pitchFamily="2" charset="-122"/>
                        </a:rPr>
                        <m:t>𝑋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∪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𝑌</m:t>
                      </m:r>
                      <m:r>
                        <a:rPr lang="en-US" altLang="zh-CN" i="1">
                          <a:latin typeface="Cambria Math"/>
                          <a:ea typeface="华文细黑" pitchFamily="2" charset="-122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  <a:ea typeface="华文细黑" pitchFamily="2" charset="-122"/>
                        </a:rPr>
                        <m:t>𝑍</m:t>
                      </m:r>
                    </m:oMath>
                  </m:oMathPara>
                </a14:m>
                <a:endParaRPr lang="en-US" altLang="zh-CN" i="1" dirty="0">
                  <a:latin typeface="Cambria Math"/>
                  <a:ea typeface="华文细黑" pitchFamily="2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ea typeface="华文细黑" pitchFamily="2" charset="-122"/>
                        </a:rPr>
                        <m:t>𝑋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∩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𝑌</m:t>
                      </m:r>
                      <m:r>
                        <a:rPr lang="en-US" altLang="zh-CN" i="1">
                          <a:latin typeface="Cambria Math"/>
                          <a:ea typeface="华文细黑" pitchFamily="2" charset="-122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∅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云形标注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425" y="751608"/>
                <a:ext cx="2304256" cy="791858"/>
              </a:xfrm>
              <a:prstGeom prst="cloudCallout">
                <a:avLst>
                  <a:gd name="adj1" fmla="val -105307"/>
                  <a:gd name="adj2" fmla="val 75213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/>
          <p:cNvCxnSpPr/>
          <p:nvPr/>
        </p:nvCxnSpPr>
        <p:spPr>
          <a:xfrm>
            <a:off x="3222040" y="2105805"/>
            <a:ext cx="1944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6354280" y="2660720"/>
            <a:ext cx="2682216" cy="120032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254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这样的规则必然已经满足支持度阈值，因为它们是由频繁项集产生的</a:t>
            </a:r>
          </a:p>
        </p:txBody>
      </p:sp>
    </p:spTree>
    <p:extLst>
      <p:ext uri="{BB962C8B-B14F-4D97-AF65-F5344CB8AC3E}">
        <p14:creationId xmlns:p14="http://schemas.microsoft.com/office/powerpoint/2010/main" val="102864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25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2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9" grpId="0"/>
      <p:bldP spid="10" grpId="0"/>
      <p:bldP spid="11" grpId="0" animBg="1"/>
      <p:bldP spid="12" grpId="0" animBg="1"/>
      <p:bldP spid="15" grpId="0"/>
      <p:bldP spid="14" grpId="0" uiExpand="1" build="p"/>
      <p:bldP spid="16" grpId="0"/>
      <p:bldP spid="17" grpId="0"/>
      <p:bldP spid="6" grpId="0" animBg="1"/>
      <p:bldP spid="6" grpId="1" animBg="1"/>
      <p:bldP spid="2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关联规则产生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从频繁项集产生候选的关联规则</a:t>
            </a:r>
            <a:endParaRPr lang="en-US" altLang="zh-CN" dirty="0"/>
          </a:p>
          <a:p>
            <a:pPr lvl="1"/>
            <a:r>
              <a:rPr lang="zh-CN" altLang="en-US" dirty="0">
                <a:sym typeface="Symbol" pitchFamily="18" charset="2"/>
              </a:rPr>
              <a:t>例：频繁项集 </a:t>
            </a:r>
            <a:r>
              <a:rPr lang="en-US" altLang="zh-CN" dirty="0">
                <a:sym typeface="Symbol" pitchFamily="18" charset="2"/>
              </a:rPr>
              <a:t>{A B C D} </a:t>
            </a:r>
            <a:r>
              <a:rPr lang="zh-CN" altLang="en-US" dirty="0">
                <a:sym typeface="Symbol" pitchFamily="18" charset="2"/>
              </a:rPr>
              <a:t>，候选规则有：</a:t>
            </a:r>
            <a:endParaRPr lang="en-US" altLang="zh-CN" dirty="0">
              <a:sym typeface="Symbol" pitchFamily="18" charset="2"/>
            </a:endParaRPr>
          </a:p>
          <a:p>
            <a:pPr lvl="2"/>
            <a:r>
              <a:rPr lang="en-US" altLang="zh-CN" dirty="0">
                <a:sym typeface="Symbol" pitchFamily="18" charset="2"/>
              </a:rPr>
              <a:t>{A B C}{D}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ym typeface="Symbol" pitchFamily="18" charset="2"/>
              </a:rPr>
              <a:t>{A B D}{C}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ym typeface="Symbol" pitchFamily="18" charset="2"/>
              </a:rPr>
              <a:t> {A C D}{B}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ym typeface="Symbol" pitchFamily="18" charset="2"/>
              </a:rPr>
              <a:t> {B C D} { A}</a:t>
            </a:r>
          </a:p>
          <a:p>
            <a:pPr lvl="2"/>
            <a:r>
              <a:rPr lang="en-US" altLang="zh-CN" dirty="0">
                <a:sym typeface="Symbol" pitchFamily="18" charset="2"/>
              </a:rPr>
              <a:t>{A B}  {C D}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ym typeface="Symbol" pitchFamily="18" charset="2"/>
              </a:rPr>
              <a:t>{A C} {B D}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ym typeface="Symbol" pitchFamily="18" charset="2"/>
              </a:rPr>
              <a:t>{A D} {B C}</a:t>
            </a:r>
            <a:r>
              <a:rPr lang="zh-CN" altLang="en-US" dirty="0">
                <a:sym typeface="Symbol" pitchFamily="18" charset="2"/>
              </a:rPr>
              <a:t>，</a:t>
            </a:r>
            <a:endParaRPr lang="en-US" altLang="zh-CN" dirty="0">
              <a:sym typeface="Symbol" pitchFamily="18" charset="2"/>
            </a:endParaRPr>
          </a:p>
          <a:p>
            <a:pPr lvl="2"/>
            <a:r>
              <a:rPr lang="en-US" altLang="zh-CN" dirty="0">
                <a:sym typeface="Symbol" pitchFamily="18" charset="2"/>
              </a:rPr>
              <a:t>{B C}  {A D}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ym typeface="Symbol" pitchFamily="18" charset="2"/>
              </a:rPr>
              <a:t>{B D} {A C}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ym typeface="Symbol" pitchFamily="18" charset="2"/>
              </a:rPr>
              <a:t>{C D} {A B}</a:t>
            </a:r>
          </a:p>
          <a:p>
            <a:pPr lvl="2"/>
            <a:r>
              <a:rPr lang="en-US" altLang="zh-CN" dirty="0">
                <a:sym typeface="Symbol" pitchFamily="18" charset="2"/>
              </a:rPr>
              <a:t>{ A } {B C D}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ym typeface="Symbol" pitchFamily="18" charset="2"/>
              </a:rPr>
              <a:t>{B}{A C D}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ym typeface="Symbol" pitchFamily="18" charset="2"/>
              </a:rPr>
              <a:t>{C} {A B D}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ym typeface="Symbol" pitchFamily="18" charset="2"/>
              </a:rPr>
              <a:t>{D} {A B C}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55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233928" y="1614534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Symbol" pitchFamily="18" charset="2"/>
              </a:rPr>
              <a:t>前件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Symbol" pitchFamily="18" charset="2"/>
              </a:rPr>
              <a:t>3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Symbol" pitchFamily="18" charset="2"/>
              </a:rPr>
              <a:t>，后件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Symbol" pitchFamily="18" charset="2"/>
              </a:rPr>
              <a:t>1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88945" y="2869990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Symbol" pitchFamily="18" charset="2"/>
              </a:rPr>
              <a:t>前件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Symbol" pitchFamily="18" charset="2"/>
              </a:rPr>
              <a:t>2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Symbol" pitchFamily="18" charset="2"/>
              </a:rPr>
              <a:t>，后件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Symbol" pitchFamily="18" charset="2"/>
              </a:rPr>
              <a:t>2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20632" y="3479446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Symbol" pitchFamily="18" charset="2"/>
              </a:rPr>
              <a:t>前件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Symbol" pitchFamily="18" charset="2"/>
              </a:rPr>
              <a:t>1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Symbol" pitchFamily="18" charset="2"/>
              </a:rPr>
              <a:t>，后件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Symbol" pitchFamily="18" charset="2"/>
              </a:rPr>
              <a:t>3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346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关联规则产生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lang="zh-CN" altLang="zh-CN" dirty="0"/>
              <a:t>关联规则</a:t>
            </a:r>
            <a:r>
              <a:rPr lang="en-US" altLang="zh-CN" i="1" dirty="0"/>
              <a:t>X</a:t>
            </a:r>
            <a:r>
              <a:rPr lang="en-US" altLang="zh-CN" dirty="0">
                <a:sym typeface="Wingdings 3"/>
              </a:rPr>
              <a:t></a:t>
            </a:r>
            <a:r>
              <a:rPr lang="en-US" altLang="zh-CN" i="1" dirty="0">
                <a:sym typeface="Wingdings" pitchFamily="2" charset="2"/>
              </a:rPr>
              <a:t>Y</a:t>
            </a:r>
            <a:r>
              <a:rPr lang="zh-CN" altLang="zh-CN" dirty="0"/>
              <a:t>的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强度</a:t>
            </a:r>
            <a:r>
              <a:rPr lang="zh-CN" altLang="en-US" dirty="0"/>
              <a:t>的度量指标：</a:t>
            </a:r>
            <a:endParaRPr lang="en-US" altLang="zh-CN" dirty="0"/>
          </a:p>
          <a:p>
            <a:pPr lvl="1">
              <a:spcAft>
                <a:spcPts val="300"/>
              </a:spcAft>
            </a:pPr>
            <a:r>
              <a:rPr lang="zh-CN" altLang="zh-CN" dirty="0"/>
              <a:t>支持度</a:t>
            </a:r>
            <a:r>
              <a:rPr lang="en-US" altLang="zh-CN" dirty="0"/>
              <a:t> </a:t>
            </a:r>
            <a:r>
              <a:rPr lang="en-US" altLang="zh-CN" i="1" dirty="0"/>
              <a:t>s </a:t>
            </a:r>
            <a:r>
              <a:rPr lang="zh-CN" altLang="en-US" dirty="0"/>
              <a:t>：</a:t>
            </a:r>
            <a:r>
              <a:rPr lang="zh-CN" altLang="zh-CN" dirty="0"/>
              <a:t>确定规则可以用于给定数据集的频繁程度</a:t>
            </a:r>
            <a:endParaRPr lang="en-US" altLang="zh-CN" dirty="0"/>
          </a:p>
          <a:p>
            <a:pPr lvl="1">
              <a:spcAft>
                <a:spcPts val="300"/>
              </a:spcAft>
            </a:pPr>
            <a:r>
              <a:rPr lang="zh-CN" altLang="zh-CN" dirty="0"/>
              <a:t>置信度</a:t>
            </a:r>
            <a:r>
              <a:rPr lang="en-US" altLang="zh-CN" i="1" dirty="0"/>
              <a:t> c </a:t>
            </a:r>
            <a:r>
              <a:rPr lang="zh-CN" altLang="en-US" dirty="0"/>
              <a:t>：</a:t>
            </a:r>
            <a:r>
              <a:rPr lang="zh-CN" altLang="zh-CN" dirty="0"/>
              <a:t>确定</a:t>
            </a:r>
            <a:r>
              <a:rPr lang="en-US" altLang="zh-CN" dirty="0"/>
              <a:t> </a:t>
            </a:r>
            <a:r>
              <a:rPr lang="en-US" altLang="zh-CN" i="1" dirty="0"/>
              <a:t>Y </a:t>
            </a:r>
            <a:r>
              <a:rPr lang="zh-CN" altLang="zh-CN" dirty="0"/>
              <a:t>在包含</a:t>
            </a:r>
            <a:r>
              <a:rPr lang="en-US" altLang="zh-CN" dirty="0"/>
              <a:t> </a:t>
            </a:r>
            <a:r>
              <a:rPr lang="en-US" altLang="zh-CN" i="1" dirty="0"/>
              <a:t>X </a:t>
            </a:r>
            <a:r>
              <a:rPr lang="zh-CN" altLang="zh-CN" dirty="0"/>
              <a:t>的事务中出现的频繁程度</a:t>
            </a:r>
            <a:endParaRPr lang="en-US" altLang="zh-CN" dirty="0"/>
          </a:p>
          <a:p>
            <a:pPr>
              <a:spcAft>
                <a:spcPts val="300"/>
              </a:spcAft>
            </a:pPr>
            <a:r>
              <a:rPr lang="zh-CN" altLang="en-US" dirty="0">
                <a:cs typeface="Times New Roman" pitchFamily="18" charset="0"/>
                <a:sym typeface="Symbol" pitchFamily="18" charset="2"/>
              </a:rPr>
              <a:t>计算关联规则的置信度并不需要再次扫描事务数据集</a:t>
            </a:r>
            <a:endParaRPr lang="zh-CN" altLang="en-US" dirty="0"/>
          </a:p>
          <a:p>
            <a:pPr>
              <a:spcAft>
                <a:spcPts val="300"/>
              </a:spcAft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56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755576" y="3770344"/>
                <a:ext cx="8064896" cy="18958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300"/>
                  </a:spcAft>
                  <a:buClr>
                    <a:schemeClr val="accent1"/>
                  </a:buClr>
                  <a:buSzPct val="80000"/>
                </a:pPr>
                <a:r>
                  <a:rPr lang="zh-CN" altLang="en-US" sz="24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  <a:sym typeface="Symbol" pitchFamily="18" charset="2"/>
                  </a:rPr>
                  <a:t>例：规则</a:t>
                </a:r>
                <a:r>
                  <a:rPr lang="en-US" altLang="zh-CN" sz="24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  <a:sym typeface="Symbol" pitchFamily="18" charset="2"/>
                  </a:rPr>
                  <a:t>{A B C} {D}</a:t>
                </a:r>
                <a:r>
                  <a:rPr lang="zh-CN" altLang="en-US" sz="24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  <a:sym typeface="Symbol" pitchFamily="18" charset="2"/>
                  </a:rPr>
                  <a:t>的置信度为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华文细黑" pitchFamily="2" charset="-122"/>
                        <a:cs typeface="Times New Roman" pitchFamily="18" charset="0"/>
                        <a:sym typeface="Symbol" pitchFamily="18" charset="2"/>
                      </a:rPr>
                      <m:t>𝑐</m:t>
                    </m:r>
                    <m:r>
                      <a:rPr lang="en-US" altLang="zh-CN" sz="2400" i="1">
                        <a:latin typeface="Cambria Math"/>
                        <a:ea typeface="华文细黑" pitchFamily="2" charset="-122"/>
                        <a:cs typeface="Times New Roman" pitchFamily="18" charset="0"/>
                        <a:sym typeface="Symbol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/>
                            <a:ea typeface="华文细黑" pitchFamily="2" charset="-122"/>
                            <a:cs typeface="Times New Roman" pitchFamily="18" charset="0"/>
                            <a:sym typeface="Symbol" pitchFamily="18" charset="2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  <a:sym typeface="Symbol" pitchFamily="18" charset="2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  <m:t>𝐴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  <m:t>𝐵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  <m:t>𝐶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zh-CN" altLang="en-US" sz="2400" i="1">
                            <a:latin typeface="Cambria Math"/>
                            <a:ea typeface="华文细黑" pitchFamily="2" charset="-122"/>
                            <a:cs typeface="Times New Roman" pitchFamily="18" charset="0"/>
                            <a:sym typeface="Symbol" pitchFamily="18" charset="2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  <a:sym typeface="Symbol" pitchFamily="18" charset="2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  <m:t>𝐴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  <m:t>𝐵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  <a:sym typeface="Symbol" pitchFamily="18" charset="2"/>
                                  </a:rPr>
                                  <m:t>𝐶</m:t>
                                </m:r>
                              </m:e>
                            </m:d>
                          </m:e>
                        </m:d>
                      </m:den>
                    </m:f>
                  </m:oMath>
                </a14:m>
                <a:r>
                  <a:rPr lang="zh-CN" altLang="en-US" sz="24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  <a:sym typeface="Symbol" pitchFamily="18" charset="2"/>
                  </a:rPr>
                  <a:t>，</a:t>
                </a:r>
                <a:endParaRPr lang="en-US" altLang="zh-CN" sz="2400" dirty="0">
                  <a:latin typeface="Times New Roman" pitchFamily="18" charset="0"/>
                  <a:ea typeface="华文细黑" pitchFamily="2" charset="-122"/>
                  <a:cs typeface="Times New Roman" pitchFamily="18" charset="0"/>
                  <a:sym typeface="Symbol" pitchFamily="18" charset="2"/>
                </a:endParaRPr>
              </a:p>
              <a:p>
                <a:pPr marL="623888" indent="-623888">
                  <a:lnSpc>
                    <a:spcPct val="130000"/>
                  </a:lnSpc>
                  <a:spcAft>
                    <a:spcPts val="300"/>
                  </a:spcAft>
                  <a:buClr>
                    <a:schemeClr val="accent1"/>
                  </a:buClr>
                  <a:buSzPct val="80000"/>
                </a:pPr>
                <a:r>
                  <a:rPr lang="en-US" altLang="zh-CN" sz="24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  <a:sym typeface="Symbol" pitchFamily="18" charset="2"/>
                  </a:rPr>
                  <a:t>	</a:t>
                </a:r>
                <a:r>
                  <a:rPr lang="zh-CN" altLang="en-US" sz="24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  <a:sym typeface="Symbol" pitchFamily="18" charset="2"/>
                  </a:rPr>
                  <a:t>两个项集的支持度计数已经在产生频繁项集时得到，</a:t>
                </a:r>
                <a:endParaRPr lang="en-US" altLang="zh-CN" sz="2400" dirty="0">
                  <a:latin typeface="Times New Roman" pitchFamily="18" charset="0"/>
                  <a:ea typeface="华文细黑" pitchFamily="2" charset="-122"/>
                  <a:cs typeface="Times New Roman" pitchFamily="18" charset="0"/>
                  <a:sym typeface="Symbol" pitchFamily="18" charset="2"/>
                </a:endParaRPr>
              </a:p>
              <a:p>
                <a:pPr marL="623888" indent="-623888">
                  <a:lnSpc>
                    <a:spcPct val="130000"/>
                  </a:lnSpc>
                  <a:spcAft>
                    <a:spcPts val="300"/>
                  </a:spcAft>
                  <a:buClr>
                    <a:schemeClr val="accent1"/>
                  </a:buClr>
                  <a:buSzPct val="80000"/>
                </a:pPr>
                <a:r>
                  <a:rPr lang="en-US" altLang="zh-CN" sz="24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  <a:sym typeface="Symbol" pitchFamily="18" charset="2"/>
                  </a:rPr>
                  <a:t>	</a:t>
                </a:r>
                <a:r>
                  <a:rPr lang="zh-CN" altLang="en-US" sz="24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  <a:sym typeface="Symbol" pitchFamily="18" charset="2"/>
                  </a:rPr>
                  <a:t>不必再扫描整个数据集</a:t>
                </a:r>
                <a:endParaRPr lang="en-US" altLang="zh-CN" sz="2400" dirty="0">
                  <a:latin typeface="Times New Roman" pitchFamily="18" charset="0"/>
                  <a:ea typeface="华文细黑" pitchFamily="2" charset="-122"/>
                  <a:cs typeface="Times New Roman" pitchFamily="18" charset="0"/>
                  <a:sym typeface="Symbol" pitchFamily="18" charset="2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770344"/>
                <a:ext cx="8064896" cy="1895840"/>
              </a:xfrm>
              <a:prstGeom prst="rect">
                <a:avLst/>
              </a:prstGeom>
              <a:blipFill>
                <a:blip r:embed="rId3"/>
                <a:stretch>
                  <a:fillRect l="-1209" b="-35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81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生成</a:t>
            </a:r>
            <a:r>
              <a:rPr lang="en-US" altLang="zh-CN" dirty="0"/>
              <a:t>“</a:t>
            </a:r>
            <a:r>
              <a:rPr lang="zh-CN" altLang="en-US" dirty="0"/>
              <a:t>候选”规则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矩形 4"/>
          <p:cNvSpPr>
            <a:spLocks/>
          </p:cNvSpPr>
          <p:nvPr/>
        </p:nvSpPr>
        <p:spPr>
          <a:xfrm>
            <a:off x="2948345" y="2598665"/>
            <a:ext cx="3024000" cy="648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r>
              <a:rPr lang="zh-CN" altLang="en-US" sz="2400" dirty="0">
                <a:latin typeface="华文细黑" pitchFamily="2" charset="-122"/>
                <a:ea typeface="华文细黑" pitchFamily="2" charset="-122"/>
              </a:rPr>
              <a:t>暴力破解法</a:t>
            </a:r>
            <a:endParaRPr lang="en-US" altLang="zh-CN" sz="2400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6" name="矩形 5"/>
          <p:cNvSpPr>
            <a:spLocks/>
          </p:cNvSpPr>
          <p:nvPr/>
        </p:nvSpPr>
        <p:spPr>
          <a:xfrm>
            <a:off x="2948345" y="3927281"/>
            <a:ext cx="3024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r>
              <a:rPr lang="zh-CN" altLang="en-US" sz="2400" dirty="0">
                <a:latin typeface="华文细黑" pitchFamily="2" charset="-122"/>
                <a:ea typeface="华文细黑" pitchFamily="2" charset="-122"/>
              </a:rPr>
              <a:t>基于</a:t>
            </a:r>
            <a:r>
              <a:rPr lang="en-US" altLang="zh-CN" sz="2400" dirty="0">
                <a:latin typeface="华文细黑" pitchFamily="2" charset="-122"/>
                <a:ea typeface="华文细黑" pitchFamily="2" charset="-122"/>
              </a:rPr>
              <a:t>Apriori</a:t>
            </a:r>
            <a:r>
              <a:rPr lang="zh-CN" altLang="en-US" sz="2400" dirty="0">
                <a:latin typeface="华文细黑" pitchFamily="2" charset="-122"/>
                <a:ea typeface="华文细黑" pitchFamily="2" charset="-122"/>
              </a:rPr>
              <a:t>的方法</a:t>
            </a:r>
          </a:p>
        </p:txBody>
      </p:sp>
    </p:spTree>
    <p:extLst>
      <p:ext uri="{BB962C8B-B14F-4D97-AF65-F5344CB8AC3E}">
        <p14:creationId xmlns:p14="http://schemas.microsoft.com/office/powerpoint/2010/main" val="194612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暴力破解法</a:t>
            </a:r>
            <a:r>
              <a:rPr lang="en-US" altLang="zh-CN" dirty="0"/>
              <a:t>(Brute-force approach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370268" y="3381239"/>
                <a:ext cx="8287951" cy="20433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spcAft>
                    <a:spcPts val="300"/>
                  </a:spcAft>
                  <a:buFont typeface="Arial" pitchFamily="34" charset="0"/>
                  <a:buChar char="•"/>
                </a:pPr>
                <a:r>
                  <a:rPr lang="zh-CN" altLang="en-US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项数为</a:t>
                </a:r>
                <a:r>
                  <a:rPr lang="en-US" altLang="zh-CN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d</a:t>
                </a:r>
                <a:r>
                  <a:rPr lang="zh-CN" altLang="en-US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的数据集，可能产生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effectLst>
                              <a:outerShdw blurRad="50800" dist="38100" dir="18900000" algn="b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effectLst>
                              <a:outerShdw blurRad="50800" dist="38100" dir="18900000" algn="b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effectLst>
                              <a:outerShdw blurRad="50800" dist="38100" dir="18900000" algn="b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effectLst>
                              <a:outerShdw blurRad="50800" dist="38100" dir="18900000" algn="b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zh-CN" altLang="en-US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个频繁</a:t>
                </a:r>
                <a:r>
                  <a:rPr lang="en-US" altLang="zh-CN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k-</a:t>
                </a:r>
                <a:r>
                  <a:rPr lang="zh-CN" altLang="en-US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项集（</a:t>
                </a:r>
                <a:r>
                  <a:rPr lang="en-US" altLang="zh-CN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k=1,2,…,d</a:t>
                </a:r>
                <a:r>
                  <a:rPr lang="zh-CN" altLang="en-US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）；</a:t>
                </a:r>
                <a:endParaRPr lang="en-US" altLang="zh-CN" sz="2000" dirty="0">
                  <a:solidFill>
                    <a:srgbClr val="00206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marL="285750" indent="-285750">
                  <a:lnSpc>
                    <a:spcPct val="120000"/>
                  </a:lnSpc>
                  <a:spcAft>
                    <a:spcPts val="300"/>
                  </a:spcAft>
                  <a:buFont typeface="Arial" pitchFamily="34" charset="0"/>
                  <a:buChar char="•"/>
                </a:pPr>
                <a:r>
                  <a:rPr lang="zh-CN" altLang="en-US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每个频繁</a:t>
                </a:r>
                <a:r>
                  <a:rPr lang="en-US" altLang="zh-CN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k-</a:t>
                </a:r>
                <a:r>
                  <a:rPr lang="zh-CN" altLang="en-US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项集，</a:t>
                </a:r>
                <a:r>
                  <a:rPr lang="zh-CN" altLang="zh-CN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可能</a:t>
                </a:r>
                <a:r>
                  <a:rPr lang="zh-CN" altLang="en-US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组合产生多达 </a:t>
                </a:r>
                <a:r>
                  <a:rPr lang="en-US" altLang="zh-CN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2</a:t>
                </a:r>
                <a:r>
                  <a:rPr lang="en-US" altLang="zh-CN" sz="2000" baseline="30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ea typeface="华文细黑" pitchFamily="2" charset="-122"/>
                    <a:cs typeface="Times New Roman" pitchFamily="18" charset="0"/>
                  </a:rPr>
                  <a:t>k</a:t>
                </a:r>
                <a:r>
                  <a:rPr lang="en-US" altLang="zh-CN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-2 </a:t>
                </a:r>
                <a:r>
                  <a:rPr lang="zh-CN" altLang="en-US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个候选关联规则；</a:t>
                </a:r>
              </a:p>
              <a:p>
                <a:pPr marL="285750" indent="-285750">
                  <a:lnSpc>
                    <a:spcPct val="120000"/>
                  </a:lnSpc>
                  <a:spcAft>
                    <a:spcPts val="300"/>
                  </a:spcAft>
                  <a:buFont typeface="Arial" pitchFamily="34" charset="0"/>
                  <a:buChar char="•"/>
                </a:pPr>
                <a:r>
                  <a:rPr lang="zh-CN" altLang="zh-CN" sz="2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可以从数据集提取的规则的数量达指数级</a:t>
                </a:r>
                <a:endParaRPr lang="en-US" altLang="zh-CN" sz="2000" dirty="0">
                  <a:solidFill>
                    <a:srgbClr val="00206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marL="742950" lvl="1" indent="-285750">
                  <a:lnSpc>
                    <a:spcPct val="120000"/>
                  </a:lnSpc>
                  <a:spcAft>
                    <a:spcPts val="300"/>
                  </a:spcAft>
                  <a:buFont typeface="Arial" pitchFamily="34" charset="0"/>
                  <a:buChar char="•"/>
                </a:pPr>
                <a:r>
                  <a:rPr lang="zh-CN" altLang="zh-CN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从包含</a:t>
                </a:r>
                <a:r>
                  <a:rPr lang="en-US" altLang="zh-CN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d</a:t>
                </a:r>
                <a:r>
                  <a:rPr lang="zh-CN" altLang="zh-CN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个项的数据集提取的可能规则的总数</a:t>
                </a:r>
                <a:r>
                  <a:rPr lang="en-US" altLang="zh-CN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R=3</a:t>
                </a:r>
                <a:r>
                  <a:rPr lang="en-US" altLang="zh-CN" baseline="30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d</a:t>
                </a:r>
                <a:r>
                  <a:rPr lang="en-US" altLang="zh-CN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-2</a:t>
                </a:r>
                <a:r>
                  <a:rPr lang="en-US" altLang="zh-CN" baseline="30000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d+1</a:t>
                </a:r>
                <a:r>
                  <a:rPr lang="en-US" altLang="zh-CN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+1</a:t>
                </a:r>
              </a:p>
              <a:p>
                <a:pPr marL="742950" lvl="1" indent="-285750">
                  <a:lnSpc>
                    <a:spcPct val="120000"/>
                  </a:lnSpc>
                  <a:spcAft>
                    <a:spcPts val="300"/>
                  </a:spcAft>
                  <a:buFont typeface="Arial" pitchFamily="34" charset="0"/>
                  <a:buChar char="•"/>
                </a:pPr>
                <a:r>
                  <a:rPr lang="zh-CN" altLang="zh-CN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如果</a:t>
                </a:r>
                <a:r>
                  <a:rPr lang="en-US" altLang="zh-CN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d = 6</a:t>
                </a:r>
                <a:r>
                  <a:rPr lang="zh-CN" altLang="zh-CN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，则</a:t>
                </a:r>
                <a:r>
                  <a:rPr lang="en-US" altLang="zh-CN" dirty="0">
                    <a:solidFill>
                      <a:srgbClr val="00206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R = 602</a:t>
                </a:r>
                <a:endParaRPr lang="zh-CN" altLang="zh-CN" dirty="0">
                  <a:solidFill>
                    <a:srgbClr val="00206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68" y="3381239"/>
                <a:ext cx="8287951" cy="2043316"/>
              </a:xfrm>
              <a:prstGeom prst="rect">
                <a:avLst/>
              </a:prstGeom>
              <a:blipFill>
                <a:blip r:embed="rId3"/>
                <a:stretch>
                  <a:fillRect l="-809" t="-1194" b="-26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267" y="1219288"/>
            <a:ext cx="5256584" cy="220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 rot="20588632">
            <a:off x="6586254" y="2662073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rgbClr val="C0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计算代价过高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58</a:t>
            </a:fld>
            <a:endParaRPr lang="zh-CN" altLang="en-US"/>
          </a:p>
        </p:txBody>
      </p:sp>
      <p:pic>
        <p:nvPicPr>
          <p:cNvPr id="50177" name="Picture 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19" y="1525157"/>
            <a:ext cx="3672408" cy="1163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5410827" y="1331133"/>
            <a:ext cx="2936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sz="1200" b="1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endParaRPr lang="zh-CN" altLang="en-US" sz="12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454466" y="1331133"/>
            <a:ext cx="119857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en-US" altLang="zh-CN" sz="12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h</a:t>
            </a:r>
            <a:r>
              <a:rPr lang="en-US" altLang="zh-CN" sz="1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3"/>
              </a:rPr>
              <a:t></a:t>
            </a:r>
            <a:r>
              <a:rPr lang="en-US" altLang="zh-CN" sz="12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3"/>
              </a:rPr>
              <a:t>f</a:t>
            </a:r>
            <a:r>
              <a:rPr lang="en-US" altLang="zh-CN" sz="1200" b="1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3"/>
              </a:rPr>
              <a:t>k</a:t>
            </a:r>
            <a:r>
              <a:rPr lang="en-US" altLang="zh-CN" sz="1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3"/>
              </a:rPr>
              <a:t>-</a:t>
            </a:r>
            <a:r>
              <a:rPr lang="en-US" altLang="zh-CN" sz="12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3"/>
              </a:rPr>
              <a:t>h</a:t>
            </a:r>
            <a:endParaRPr lang="zh-CN" altLang="en-US" sz="12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44704" y="1320100"/>
            <a:ext cx="720000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en-US" altLang="zh-CN" sz="12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h</a:t>
            </a:r>
            <a:r>
              <a:rPr lang="en-US" altLang="zh-CN" sz="1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3"/>
              </a:rPr>
              <a:t></a:t>
            </a:r>
            <a:r>
              <a:rPr lang="en-US" altLang="zh-CN" sz="12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3"/>
              </a:rPr>
              <a:t>f</a:t>
            </a:r>
            <a:r>
              <a:rPr lang="en-US" altLang="zh-CN" sz="1200" b="1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3"/>
              </a:rPr>
              <a:t>k</a:t>
            </a:r>
            <a:r>
              <a:rPr lang="en-US" altLang="zh-CN" sz="1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3"/>
              </a:rPr>
              <a:t>-</a:t>
            </a:r>
            <a:r>
              <a:rPr lang="en-US" altLang="zh-CN" sz="12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 3"/>
              </a:rPr>
              <a:t>h</a:t>
            </a:r>
            <a:endParaRPr lang="zh-CN" altLang="en-US" sz="12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05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Apriori</a:t>
            </a:r>
            <a:r>
              <a:rPr lang="zh-CN" altLang="en-US" dirty="0"/>
              <a:t>原理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6198" y="2135284"/>
            <a:ext cx="7488000" cy="3369600"/>
          </a:xfrm>
          <a:prstGeom prst="rect">
            <a:avLst/>
          </a:prstGeom>
          <a:noFill/>
        </p:spPr>
      </p:pic>
      <p:sp>
        <p:nvSpPr>
          <p:cNvPr id="12" name="矩形 11"/>
          <p:cNvSpPr/>
          <p:nvPr/>
        </p:nvSpPr>
        <p:spPr>
          <a:xfrm rot="20913670">
            <a:off x="6746339" y="3436550"/>
            <a:ext cx="2268000" cy="3693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algn="ctr"/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支持度度量的单调性</a:t>
            </a:r>
          </a:p>
        </p:txBody>
      </p:sp>
    </p:spTree>
    <p:extLst>
      <p:ext uri="{BB962C8B-B14F-4D97-AF65-F5344CB8AC3E}">
        <p14:creationId xmlns:p14="http://schemas.microsoft.com/office/powerpoint/2010/main" val="139857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按照</a:t>
            </a:r>
            <a:r>
              <a:rPr lang="en-US" altLang="zh-CN" dirty="0"/>
              <a:t>Apriori</a:t>
            </a:r>
            <a:r>
              <a:rPr lang="zh-CN" altLang="en-US" dirty="0"/>
              <a:t>原理</a:t>
            </a:r>
          </a:p>
        </p:txBody>
      </p:sp>
      <p:sp>
        <p:nvSpPr>
          <p:cNvPr id="4" name="矩形 3"/>
          <p:cNvSpPr/>
          <p:nvPr/>
        </p:nvSpPr>
        <p:spPr>
          <a:xfrm>
            <a:off x="251520" y="1744014"/>
            <a:ext cx="4248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  <a:sym typeface="Symbol" pitchFamily="18" charset="2"/>
              </a:rPr>
              <a:t>置信度也遵循“先验”规则</a:t>
            </a:r>
            <a:endParaRPr lang="zh-CN" altLang="en-US" sz="24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630958" y="1355171"/>
          <a:ext cx="4333530" cy="2351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Visio" r:id="rId4" imgW="8671306" imgH="4782859" progId="Visio.Drawing.6">
                  <p:embed/>
                </p:oleObj>
              </mc:Choice>
              <mc:Fallback>
                <p:oleObj name="Visio" r:id="rId4" imgW="8671306" imgH="4782859" progId="Visio.Drawing.6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958" y="1355171"/>
                        <a:ext cx="4333530" cy="2351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"/>
          <p:cNvSpPr>
            <a:spLocks/>
          </p:cNvSpPr>
          <p:nvPr/>
        </p:nvSpPr>
        <p:spPr bwMode="auto">
          <a:xfrm>
            <a:off x="4572000" y="1744014"/>
            <a:ext cx="3096000" cy="2069107"/>
          </a:xfrm>
          <a:custGeom>
            <a:avLst/>
            <a:gdLst>
              <a:gd name="T0" fmla="*/ 256 w 3712"/>
              <a:gd name="T1" fmla="*/ 376 h 2808"/>
              <a:gd name="T2" fmla="*/ 736 w 3712"/>
              <a:gd name="T3" fmla="*/ 88 h 2808"/>
              <a:gd name="T4" fmla="*/ 2176 w 3712"/>
              <a:gd name="T5" fmla="*/ 904 h 2808"/>
              <a:gd name="T6" fmla="*/ 2656 w 3712"/>
              <a:gd name="T7" fmla="*/ 1768 h 2808"/>
              <a:gd name="T8" fmla="*/ 3520 w 3712"/>
              <a:gd name="T9" fmla="*/ 2296 h 2808"/>
              <a:gd name="T10" fmla="*/ 3376 w 3712"/>
              <a:gd name="T11" fmla="*/ 2584 h 2808"/>
              <a:gd name="T12" fmla="*/ 1504 w 3712"/>
              <a:gd name="T13" fmla="*/ 2776 h 2808"/>
              <a:gd name="T14" fmla="*/ 352 w 3712"/>
              <a:gd name="T15" fmla="*/ 2392 h 2808"/>
              <a:gd name="T16" fmla="*/ 16 w 3712"/>
              <a:gd name="T17" fmla="*/ 1288 h 2808"/>
              <a:gd name="T18" fmla="*/ 256 w 3712"/>
              <a:gd name="T19" fmla="*/ 376 h 2808"/>
              <a:gd name="connsiteX0" fmla="*/ 651 w 9699"/>
              <a:gd name="connsiteY0" fmla="*/ 1109 h 9268"/>
              <a:gd name="connsiteX1" fmla="*/ 1944 w 9699"/>
              <a:gd name="connsiteY1" fmla="*/ 83 h 9268"/>
              <a:gd name="connsiteX2" fmla="*/ 5823 w 9699"/>
              <a:gd name="connsiteY2" fmla="*/ 2989 h 9268"/>
              <a:gd name="connsiteX3" fmla="*/ 7116 w 9699"/>
              <a:gd name="connsiteY3" fmla="*/ 6066 h 9268"/>
              <a:gd name="connsiteX4" fmla="*/ 9444 w 9699"/>
              <a:gd name="connsiteY4" fmla="*/ 7947 h 9268"/>
              <a:gd name="connsiteX5" fmla="*/ 9056 w 9699"/>
              <a:gd name="connsiteY5" fmla="*/ 8972 h 9268"/>
              <a:gd name="connsiteX6" fmla="*/ 4254 w 9699"/>
              <a:gd name="connsiteY6" fmla="*/ 9230 h 9268"/>
              <a:gd name="connsiteX7" fmla="*/ 909 w 9699"/>
              <a:gd name="connsiteY7" fmla="*/ 8289 h 9268"/>
              <a:gd name="connsiteX8" fmla="*/ 4 w 9699"/>
              <a:gd name="connsiteY8" fmla="*/ 4357 h 9268"/>
              <a:gd name="connsiteX9" fmla="*/ 651 w 9699"/>
              <a:gd name="connsiteY9" fmla="*/ 1109 h 9268"/>
              <a:gd name="connsiteX0" fmla="*/ 565 w 9894"/>
              <a:gd name="connsiteY0" fmla="*/ 1205 h 10008"/>
              <a:gd name="connsiteX1" fmla="*/ 1898 w 9894"/>
              <a:gd name="connsiteY1" fmla="*/ 98 h 10008"/>
              <a:gd name="connsiteX2" fmla="*/ 5898 w 9894"/>
              <a:gd name="connsiteY2" fmla="*/ 3233 h 10008"/>
              <a:gd name="connsiteX3" fmla="*/ 7231 w 9894"/>
              <a:gd name="connsiteY3" fmla="*/ 6553 h 10008"/>
              <a:gd name="connsiteX4" fmla="*/ 9631 w 9894"/>
              <a:gd name="connsiteY4" fmla="*/ 8583 h 10008"/>
              <a:gd name="connsiteX5" fmla="*/ 9231 w 9894"/>
              <a:gd name="connsiteY5" fmla="*/ 9689 h 10008"/>
              <a:gd name="connsiteX6" fmla="*/ 4280 w 9894"/>
              <a:gd name="connsiteY6" fmla="*/ 9967 h 10008"/>
              <a:gd name="connsiteX7" fmla="*/ 831 w 9894"/>
              <a:gd name="connsiteY7" fmla="*/ 8952 h 10008"/>
              <a:gd name="connsiteX8" fmla="*/ 5 w 9894"/>
              <a:gd name="connsiteY8" fmla="*/ 5352 h 10008"/>
              <a:gd name="connsiteX9" fmla="*/ 565 w 9894"/>
              <a:gd name="connsiteY9" fmla="*/ 1205 h 10008"/>
              <a:gd name="connsiteX0" fmla="*/ 595 w 10024"/>
              <a:gd name="connsiteY0" fmla="*/ 1204 h 10015"/>
              <a:gd name="connsiteX1" fmla="*/ 1942 w 10024"/>
              <a:gd name="connsiteY1" fmla="*/ 98 h 10015"/>
              <a:gd name="connsiteX2" fmla="*/ 5985 w 10024"/>
              <a:gd name="connsiteY2" fmla="*/ 3230 h 10015"/>
              <a:gd name="connsiteX3" fmla="*/ 7332 w 10024"/>
              <a:gd name="connsiteY3" fmla="*/ 6548 h 10015"/>
              <a:gd name="connsiteX4" fmla="*/ 9758 w 10024"/>
              <a:gd name="connsiteY4" fmla="*/ 8576 h 10015"/>
              <a:gd name="connsiteX5" fmla="*/ 9354 w 10024"/>
              <a:gd name="connsiteY5" fmla="*/ 9681 h 10015"/>
              <a:gd name="connsiteX6" fmla="*/ 4350 w 10024"/>
              <a:gd name="connsiteY6" fmla="*/ 9959 h 10015"/>
              <a:gd name="connsiteX7" fmla="*/ 1438 w 10024"/>
              <a:gd name="connsiteY7" fmla="*/ 8716 h 10015"/>
              <a:gd name="connsiteX8" fmla="*/ 29 w 10024"/>
              <a:gd name="connsiteY8" fmla="*/ 5348 h 10015"/>
              <a:gd name="connsiteX9" fmla="*/ 595 w 10024"/>
              <a:gd name="connsiteY9" fmla="*/ 1204 h 10015"/>
              <a:gd name="connsiteX0" fmla="*/ 1500 w 9996"/>
              <a:gd name="connsiteY0" fmla="*/ 1443 h 9979"/>
              <a:gd name="connsiteX1" fmla="*/ 1914 w 9996"/>
              <a:gd name="connsiteY1" fmla="*/ 62 h 9979"/>
              <a:gd name="connsiteX2" fmla="*/ 5957 w 9996"/>
              <a:gd name="connsiteY2" fmla="*/ 3194 h 9979"/>
              <a:gd name="connsiteX3" fmla="*/ 7304 w 9996"/>
              <a:gd name="connsiteY3" fmla="*/ 6512 h 9979"/>
              <a:gd name="connsiteX4" fmla="*/ 9730 w 9996"/>
              <a:gd name="connsiteY4" fmla="*/ 8540 h 9979"/>
              <a:gd name="connsiteX5" fmla="*/ 9326 w 9996"/>
              <a:gd name="connsiteY5" fmla="*/ 9645 h 9979"/>
              <a:gd name="connsiteX6" fmla="*/ 4322 w 9996"/>
              <a:gd name="connsiteY6" fmla="*/ 9923 h 9979"/>
              <a:gd name="connsiteX7" fmla="*/ 1410 w 9996"/>
              <a:gd name="connsiteY7" fmla="*/ 8680 h 9979"/>
              <a:gd name="connsiteX8" fmla="*/ 1 w 9996"/>
              <a:gd name="connsiteY8" fmla="*/ 5312 h 9979"/>
              <a:gd name="connsiteX9" fmla="*/ 1500 w 9996"/>
              <a:gd name="connsiteY9" fmla="*/ 1443 h 9979"/>
              <a:gd name="connsiteX0" fmla="*/ 1501 w 10000"/>
              <a:gd name="connsiteY0" fmla="*/ 459 h 9013"/>
              <a:gd name="connsiteX1" fmla="*/ 4284 w 10000"/>
              <a:gd name="connsiteY1" fmla="*/ 270 h 9013"/>
              <a:gd name="connsiteX2" fmla="*/ 5959 w 10000"/>
              <a:gd name="connsiteY2" fmla="*/ 2214 h 9013"/>
              <a:gd name="connsiteX3" fmla="*/ 7307 w 10000"/>
              <a:gd name="connsiteY3" fmla="*/ 5539 h 9013"/>
              <a:gd name="connsiteX4" fmla="*/ 9734 w 10000"/>
              <a:gd name="connsiteY4" fmla="*/ 7571 h 9013"/>
              <a:gd name="connsiteX5" fmla="*/ 9330 w 10000"/>
              <a:gd name="connsiteY5" fmla="*/ 8678 h 9013"/>
              <a:gd name="connsiteX6" fmla="*/ 4324 w 10000"/>
              <a:gd name="connsiteY6" fmla="*/ 8957 h 9013"/>
              <a:gd name="connsiteX7" fmla="*/ 1411 w 10000"/>
              <a:gd name="connsiteY7" fmla="*/ 7711 h 9013"/>
              <a:gd name="connsiteX8" fmla="*/ 1 w 10000"/>
              <a:gd name="connsiteY8" fmla="*/ 4336 h 9013"/>
              <a:gd name="connsiteX9" fmla="*/ 1501 w 10000"/>
              <a:gd name="connsiteY9" fmla="*/ 459 h 9013"/>
              <a:gd name="connsiteX0" fmla="*/ 1501 w 10000"/>
              <a:gd name="connsiteY0" fmla="*/ 524 h 10015"/>
              <a:gd name="connsiteX1" fmla="*/ 4284 w 10000"/>
              <a:gd name="connsiteY1" fmla="*/ 315 h 10015"/>
              <a:gd name="connsiteX2" fmla="*/ 5205 w 10000"/>
              <a:gd name="connsiteY2" fmla="*/ 2726 h 10015"/>
              <a:gd name="connsiteX3" fmla="*/ 7307 w 10000"/>
              <a:gd name="connsiteY3" fmla="*/ 6161 h 10015"/>
              <a:gd name="connsiteX4" fmla="*/ 9734 w 10000"/>
              <a:gd name="connsiteY4" fmla="*/ 8415 h 10015"/>
              <a:gd name="connsiteX5" fmla="*/ 9330 w 10000"/>
              <a:gd name="connsiteY5" fmla="*/ 9643 h 10015"/>
              <a:gd name="connsiteX6" fmla="*/ 4324 w 10000"/>
              <a:gd name="connsiteY6" fmla="*/ 9953 h 10015"/>
              <a:gd name="connsiteX7" fmla="*/ 1411 w 10000"/>
              <a:gd name="connsiteY7" fmla="*/ 8570 h 10015"/>
              <a:gd name="connsiteX8" fmla="*/ 1 w 10000"/>
              <a:gd name="connsiteY8" fmla="*/ 4826 h 10015"/>
              <a:gd name="connsiteX9" fmla="*/ 1501 w 10000"/>
              <a:gd name="connsiteY9" fmla="*/ 524 h 10015"/>
              <a:gd name="connsiteX0" fmla="*/ 1501 w 10000"/>
              <a:gd name="connsiteY0" fmla="*/ 652 h 10143"/>
              <a:gd name="connsiteX1" fmla="*/ 3710 w 10000"/>
              <a:gd name="connsiteY1" fmla="*/ 239 h 10143"/>
              <a:gd name="connsiteX2" fmla="*/ 5205 w 10000"/>
              <a:gd name="connsiteY2" fmla="*/ 2854 h 10143"/>
              <a:gd name="connsiteX3" fmla="*/ 7307 w 10000"/>
              <a:gd name="connsiteY3" fmla="*/ 6289 h 10143"/>
              <a:gd name="connsiteX4" fmla="*/ 9734 w 10000"/>
              <a:gd name="connsiteY4" fmla="*/ 8543 h 10143"/>
              <a:gd name="connsiteX5" fmla="*/ 9330 w 10000"/>
              <a:gd name="connsiteY5" fmla="*/ 9771 h 10143"/>
              <a:gd name="connsiteX6" fmla="*/ 4324 w 10000"/>
              <a:gd name="connsiteY6" fmla="*/ 10081 h 10143"/>
              <a:gd name="connsiteX7" fmla="*/ 1411 w 10000"/>
              <a:gd name="connsiteY7" fmla="*/ 8698 h 10143"/>
              <a:gd name="connsiteX8" fmla="*/ 1 w 10000"/>
              <a:gd name="connsiteY8" fmla="*/ 4954 h 10143"/>
              <a:gd name="connsiteX9" fmla="*/ 1501 w 10000"/>
              <a:gd name="connsiteY9" fmla="*/ 652 h 10143"/>
              <a:gd name="connsiteX0" fmla="*/ 1501 w 10040"/>
              <a:gd name="connsiteY0" fmla="*/ 652 h 10143"/>
              <a:gd name="connsiteX1" fmla="*/ 3710 w 10040"/>
              <a:gd name="connsiteY1" fmla="*/ 239 h 10143"/>
              <a:gd name="connsiteX2" fmla="*/ 5205 w 10040"/>
              <a:gd name="connsiteY2" fmla="*/ 2854 h 10143"/>
              <a:gd name="connsiteX3" fmla="*/ 6733 w 10040"/>
              <a:gd name="connsiteY3" fmla="*/ 4503 h 10143"/>
              <a:gd name="connsiteX4" fmla="*/ 9734 w 10040"/>
              <a:gd name="connsiteY4" fmla="*/ 8543 h 10143"/>
              <a:gd name="connsiteX5" fmla="*/ 9330 w 10040"/>
              <a:gd name="connsiteY5" fmla="*/ 9771 h 10143"/>
              <a:gd name="connsiteX6" fmla="*/ 4324 w 10040"/>
              <a:gd name="connsiteY6" fmla="*/ 10081 h 10143"/>
              <a:gd name="connsiteX7" fmla="*/ 1411 w 10040"/>
              <a:gd name="connsiteY7" fmla="*/ 8698 h 10143"/>
              <a:gd name="connsiteX8" fmla="*/ 1 w 10040"/>
              <a:gd name="connsiteY8" fmla="*/ 4954 h 10143"/>
              <a:gd name="connsiteX9" fmla="*/ 1501 w 10040"/>
              <a:gd name="connsiteY9" fmla="*/ 652 h 10143"/>
              <a:gd name="connsiteX0" fmla="*/ 1501 w 10030"/>
              <a:gd name="connsiteY0" fmla="*/ 652 h 10143"/>
              <a:gd name="connsiteX1" fmla="*/ 3710 w 10030"/>
              <a:gd name="connsiteY1" fmla="*/ 239 h 10143"/>
              <a:gd name="connsiteX2" fmla="*/ 5205 w 10030"/>
              <a:gd name="connsiteY2" fmla="*/ 2854 h 10143"/>
              <a:gd name="connsiteX3" fmla="*/ 6877 w 10030"/>
              <a:gd name="connsiteY3" fmla="*/ 4503 h 10143"/>
              <a:gd name="connsiteX4" fmla="*/ 9734 w 10030"/>
              <a:gd name="connsiteY4" fmla="*/ 8543 h 10143"/>
              <a:gd name="connsiteX5" fmla="*/ 9330 w 10030"/>
              <a:gd name="connsiteY5" fmla="*/ 9771 h 10143"/>
              <a:gd name="connsiteX6" fmla="*/ 4324 w 10030"/>
              <a:gd name="connsiteY6" fmla="*/ 10081 h 10143"/>
              <a:gd name="connsiteX7" fmla="*/ 1411 w 10030"/>
              <a:gd name="connsiteY7" fmla="*/ 8698 h 10143"/>
              <a:gd name="connsiteX8" fmla="*/ 1 w 10030"/>
              <a:gd name="connsiteY8" fmla="*/ 4954 h 10143"/>
              <a:gd name="connsiteX9" fmla="*/ 1501 w 10030"/>
              <a:gd name="connsiteY9" fmla="*/ 652 h 10143"/>
              <a:gd name="connsiteX0" fmla="*/ 1501 w 9952"/>
              <a:gd name="connsiteY0" fmla="*/ 652 h 10143"/>
              <a:gd name="connsiteX1" fmla="*/ 3710 w 9952"/>
              <a:gd name="connsiteY1" fmla="*/ 239 h 10143"/>
              <a:gd name="connsiteX2" fmla="*/ 5205 w 9952"/>
              <a:gd name="connsiteY2" fmla="*/ 2854 h 10143"/>
              <a:gd name="connsiteX3" fmla="*/ 6877 w 9952"/>
              <a:gd name="connsiteY3" fmla="*/ 4503 h 10143"/>
              <a:gd name="connsiteX4" fmla="*/ 8025 w 9952"/>
              <a:gd name="connsiteY4" fmla="*/ 6413 h 10143"/>
              <a:gd name="connsiteX5" fmla="*/ 9734 w 9952"/>
              <a:gd name="connsiteY5" fmla="*/ 8543 h 10143"/>
              <a:gd name="connsiteX6" fmla="*/ 9330 w 9952"/>
              <a:gd name="connsiteY6" fmla="*/ 9771 h 10143"/>
              <a:gd name="connsiteX7" fmla="*/ 4324 w 9952"/>
              <a:gd name="connsiteY7" fmla="*/ 10081 h 10143"/>
              <a:gd name="connsiteX8" fmla="*/ 1411 w 9952"/>
              <a:gd name="connsiteY8" fmla="*/ 8698 h 10143"/>
              <a:gd name="connsiteX9" fmla="*/ 1 w 9952"/>
              <a:gd name="connsiteY9" fmla="*/ 4954 h 10143"/>
              <a:gd name="connsiteX10" fmla="*/ 1501 w 9952"/>
              <a:gd name="connsiteY10" fmla="*/ 652 h 10143"/>
              <a:gd name="connsiteX0" fmla="*/ 1508 w 9804"/>
              <a:gd name="connsiteY0" fmla="*/ 643 h 10021"/>
              <a:gd name="connsiteX1" fmla="*/ 3728 w 9804"/>
              <a:gd name="connsiteY1" fmla="*/ 236 h 10021"/>
              <a:gd name="connsiteX2" fmla="*/ 5230 w 9804"/>
              <a:gd name="connsiteY2" fmla="*/ 2814 h 10021"/>
              <a:gd name="connsiteX3" fmla="*/ 6910 w 9804"/>
              <a:gd name="connsiteY3" fmla="*/ 4440 h 10021"/>
              <a:gd name="connsiteX4" fmla="*/ 8064 w 9804"/>
              <a:gd name="connsiteY4" fmla="*/ 6323 h 10021"/>
              <a:gd name="connsiteX5" fmla="*/ 9384 w 9804"/>
              <a:gd name="connsiteY5" fmla="*/ 7669 h 10021"/>
              <a:gd name="connsiteX6" fmla="*/ 9375 w 9804"/>
              <a:gd name="connsiteY6" fmla="*/ 9633 h 10021"/>
              <a:gd name="connsiteX7" fmla="*/ 4345 w 9804"/>
              <a:gd name="connsiteY7" fmla="*/ 9939 h 10021"/>
              <a:gd name="connsiteX8" fmla="*/ 1418 w 9804"/>
              <a:gd name="connsiteY8" fmla="*/ 8575 h 10021"/>
              <a:gd name="connsiteX9" fmla="*/ 1 w 9804"/>
              <a:gd name="connsiteY9" fmla="*/ 4884 h 10021"/>
              <a:gd name="connsiteX10" fmla="*/ 1508 w 9804"/>
              <a:gd name="connsiteY10" fmla="*/ 643 h 1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04" h="10021">
                <a:moveTo>
                  <a:pt x="1508" y="643"/>
                </a:moveTo>
                <a:cubicBezTo>
                  <a:pt x="2129" y="-132"/>
                  <a:pt x="3108" y="-126"/>
                  <a:pt x="3728" y="236"/>
                </a:cubicBezTo>
                <a:cubicBezTo>
                  <a:pt x="4348" y="597"/>
                  <a:pt x="4700" y="2113"/>
                  <a:pt x="5230" y="2814"/>
                </a:cubicBezTo>
                <a:cubicBezTo>
                  <a:pt x="5761" y="3515"/>
                  <a:pt x="6438" y="3855"/>
                  <a:pt x="6910" y="4440"/>
                </a:cubicBezTo>
                <a:cubicBezTo>
                  <a:pt x="7382" y="5024"/>
                  <a:pt x="7585" y="5659"/>
                  <a:pt x="8064" y="6323"/>
                </a:cubicBezTo>
                <a:cubicBezTo>
                  <a:pt x="8542" y="6986"/>
                  <a:pt x="9166" y="7116"/>
                  <a:pt x="9384" y="7669"/>
                </a:cubicBezTo>
                <a:cubicBezTo>
                  <a:pt x="9603" y="8221"/>
                  <a:pt x="10215" y="9255"/>
                  <a:pt x="9375" y="9633"/>
                </a:cubicBezTo>
                <a:cubicBezTo>
                  <a:pt x="8535" y="10011"/>
                  <a:pt x="5670" y="10114"/>
                  <a:pt x="4345" y="9939"/>
                </a:cubicBezTo>
                <a:cubicBezTo>
                  <a:pt x="3018" y="9762"/>
                  <a:pt x="2117" y="9618"/>
                  <a:pt x="1418" y="8575"/>
                </a:cubicBezTo>
                <a:cubicBezTo>
                  <a:pt x="717" y="7531"/>
                  <a:pt x="-14" y="6206"/>
                  <a:pt x="1" y="4884"/>
                </a:cubicBezTo>
                <a:cubicBezTo>
                  <a:pt x="16" y="3563"/>
                  <a:pt x="887" y="1418"/>
                  <a:pt x="1508" y="643"/>
                </a:cubicBezTo>
                <a:close/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888058" y="3169771"/>
            <a:ext cx="1041181" cy="7078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defRPr>
            </a:lvl1pPr>
            <a:lvl2pPr marL="355600" lvl="1">
              <a:defRPr sz="20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defRPr>
            </a:lvl2pPr>
            <a:lvl3pPr marL="449263" lvl="2">
              <a:defRPr sz="20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defRPr>
            </a:lvl3pPr>
          </a:lstStyle>
          <a:p>
            <a:r>
              <a:rPr lang="zh-CN" altLang="en-US" dirty="0"/>
              <a:t>被剪枝的规则</a:t>
            </a: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4788080" y="1805424"/>
            <a:ext cx="396000" cy="143137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888056" y="1484784"/>
            <a:ext cx="972000" cy="7078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defRPr>
            </a:lvl1pPr>
            <a:lvl2pPr marL="355600" lvl="1">
              <a:defRPr sz="20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defRPr>
            </a:lvl2pPr>
            <a:lvl3pPr marL="449263" lvl="2">
              <a:defRPr sz="20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defRPr>
            </a:lvl3pPr>
          </a:lstStyle>
          <a:p>
            <a:r>
              <a:rPr lang="zh-CN" altLang="en-US" dirty="0"/>
              <a:t>低置信度规则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60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179512" y="1961885"/>
                <a:ext cx="3564000" cy="2123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sz="22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【定理】如果</a:t>
                </a:r>
                <a:r>
                  <a:rPr lang="zh-CN" altLang="en-US" sz="22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规则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𝑍</m:t>
                        </m:r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zh-CN" sz="22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不满足置信度阈值，而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𝑋</m:t>
                    </m:r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的子集</a:t>
                </a:r>
                <a:r>
                  <a:rPr lang="zh-CN" altLang="zh-CN" sz="22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，则形如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solidFill>
                                  <a:srgbClr val="C0000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200" i="1">
                                <a:solidFill>
                                  <a:srgbClr val="C0000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𝑍</m:t>
                        </m:r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solidFill>
                                  <a:srgbClr val="C0000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200" i="1">
                                <a:solidFill>
                                  <a:srgbClr val="C0000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</a:t>
                </a:r>
                <a:r>
                  <a:rPr lang="zh-CN" altLang="zh-CN" sz="2200" dirty="0">
                    <a:solidFill>
                      <a:srgbClr val="C0000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的规则一定也不满足置信度阈值。</a:t>
                </a: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961885"/>
                <a:ext cx="3564000" cy="2123658"/>
              </a:xfrm>
              <a:prstGeom prst="rect">
                <a:avLst/>
              </a:prstGeom>
              <a:blipFill>
                <a:blip r:embed="rId6"/>
                <a:stretch>
                  <a:fillRect l="-2222" t="-287" r="-9744" b="-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35496" y="4109682"/>
                <a:ext cx="9036000" cy="1843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01700" indent="-901700">
                  <a:lnSpc>
                    <a:spcPct val="110000"/>
                  </a:lnSpc>
                </a:pPr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简单证明：考虑如下两个规则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𝑍</m:t>
                        </m:r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𝑍</m:t>
                        </m:r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，其中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∈</m:t>
                    </m:r>
                    <m:r>
                      <a:rPr lang="en-US" altLang="zh-CN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。</a:t>
                </a:r>
                <a:endParaRPr lang="en-US" altLang="zh-CN" dirty="0">
                  <a:solidFill>
                    <a:srgbClr val="002060"/>
                  </a:solidFill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marL="1168400">
                  <a:lnSpc>
                    <a:spcPct val="110000"/>
                  </a:lnSpc>
                </a:pPr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这两个规则的置信度分别为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𝑍</m:t>
                            </m:r>
                          </m:e>
                        </m:d>
                      </m:num>
                      <m:den>
                        <m:r>
                          <a:rPr lang="zh-CN" altLang="en-US" sz="20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0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𝑍</m:t>
                            </m:r>
                          </m:e>
                        </m:d>
                      </m:num>
                      <m:den>
                        <m:r>
                          <a:rPr lang="zh-CN" altLang="en-US" sz="20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华文细黑" pitchFamily="2" charset="-122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zh-CN" altLang="en-US" sz="2000" i="1">
                                    <a:solidFill>
                                      <a:srgbClr val="002060"/>
                                    </a:solidFill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</a:rPr>
                                  <m:t>‘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zh-CN" altLang="en-US" sz="2000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</a:t>
                </a:r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。</a:t>
                </a:r>
                <a:endParaRPr lang="en-US" altLang="zh-CN" dirty="0">
                  <a:solidFill>
                    <a:srgbClr val="002060"/>
                  </a:solidFill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marL="1168400">
                  <a:lnSpc>
                    <a:spcPct val="110000"/>
                  </a:lnSpc>
                </a:pPr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由于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𝑋</m:t>
                    </m:r>
                    <m:r>
                      <a:rPr lang="en-US" altLang="zh-CN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的子集，所以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2060"/>
                        </a:solidFill>
                        <a:latin typeface="Cambria Math"/>
                        <a:ea typeface="华文细黑" pitchFamily="2" charset="-122"/>
                        <a:cs typeface="Times New Roman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zh-CN" altLang="en-US" i="1">
                        <a:solidFill>
                          <a:srgbClr val="002060"/>
                        </a:solidFill>
                        <a:latin typeface="Cambria Math"/>
                        <a:ea typeface="华文细黑" pitchFamily="2" charset="-122"/>
                        <a:cs typeface="Times New Roman" pitchFamily="18" charset="0"/>
                      </a:rPr>
                      <m:t>≥</m:t>
                    </m:r>
                    <m:r>
                      <a:rPr lang="zh-CN" altLang="en-US" i="1">
                        <a:solidFill>
                          <a:srgbClr val="002060"/>
                        </a:solidFill>
                        <a:latin typeface="Cambria Math"/>
                        <a:ea typeface="华文细黑" pitchFamily="2" charset="-122"/>
                        <a:cs typeface="Times New Roman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，有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𝑍</m:t>
                            </m:r>
                          </m:e>
                        </m:d>
                      </m:num>
                      <m:den>
                        <m:r>
                          <a:rPr lang="zh-CN" altLang="en-US" sz="20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</m:d>
                      </m:den>
                    </m:f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≥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𝑍</m:t>
                            </m:r>
                          </m:e>
                        </m:d>
                      </m:num>
                      <m:den>
                        <m:r>
                          <a:rPr lang="zh-CN" altLang="en-US" sz="2000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华文细黑" pitchFamily="2" charset="-122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/>
                                    <a:ea typeface="华文细黑" pitchFamily="2" charset="-122"/>
                                    <a:cs typeface="Times New Roman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。</a:t>
                </a:r>
                <a:endParaRPr lang="en-US" altLang="zh-CN" dirty="0">
                  <a:solidFill>
                    <a:srgbClr val="002060"/>
                  </a:solidFill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pPr marL="1168400">
                  <a:lnSpc>
                    <a:spcPct val="110000"/>
                  </a:lnSpc>
                </a:pPr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因此，规则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华文细黑" pitchFamily="2" charset="-122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𝑍</m:t>
                        </m:r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的置信度不可能大于规则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细黑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solidFill>
                          <a:srgbClr val="00206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𝑍</m:t>
                        </m:r>
                        <m:r>
                          <a:rPr lang="en-US" altLang="zh-CN" i="1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华文细黑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/>
                                <a:ea typeface="华文细黑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solidFill>
                      <a:srgbClr val="002060"/>
                    </a:solidFill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 。</a:t>
                </a:r>
                <a:endParaRPr lang="zh-CN" altLang="zh-CN" dirty="0">
                  <a:solidFill>
                    <a:srgbClr val="002060"/>
                  </a:solidFill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4109682"/>
                <a:ext cx="9036000" cy="1843325"/>
              </a:xfrm>
              <a:prstGeom prst="rect">
                <a:avLst/>
              </a:prstGeom>
              <a:blipFill>
                <a:blip r:embed="rId7"/>
                <a:stretch>
                  <a:fillRect l="-607" t="-1320" b="-1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8" grpId="0" uiExpand="1" build="p" bldLvl="5" animBg="1"/>
      <p:bldP spid="9" grpId="0"/>
      <p:bldP spid="10" grpId="0" animBg="1"/>
      <p:bldP spid="11" grpId="0"/>
      <p:bldP spid="12" grpId="0"/>
      <p:bldP spid="1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按照</a:t>
            </a:r>
            <a:r>
              <a:rPr lang="en-US" altLang="zh-CN" dirty="0" err="1"/>
              <a:t>Apriori</a:t>
            </a:r>
            <a:r>
              <a:rPr lang="zh-CN" altLang="en-US" dirty="0"/>
              <a:t>原理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如果规则 </a:t>
            </a:r>
            <a:r>
              <a:rPr lang="en-US" altLang="zh-CN" i="1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 </a:t>
            </a:r>
            <a:r>
              <a:rPr lang="en-US" altLang="zh-CN" i="1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Y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不满足置信度阈值，则形如  </a:t>
            </a:r>
            <a:r>
              <a:rPr lang="en-US" altLang="zh-CN" i="1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i="1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/>
              </a:rPr>
              <a:t>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i="1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Y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+</a:t>
            </a:r>
            <a:r>
              <a:rPr lang="en-US" altLang="zh-CN" i="1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/>
              </a:rPr>
              <a:t>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/>
              </a:rPr>
              <a:t>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的规则一定也不满足置信度阈值，其中 </a:t>
            </a:r>
            <a:r>
              <a:rPr lang="en-US" altLang="zh-CN" i="1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/>
              </a:rPr>
              <a:t>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/>
              </a:rPr>
              <a:t>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是 </a:t>
            </a:r>
            <a:r>
              <a:rPr lang="en-US" altLang="zh-CN" i="1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的子集。</a:t>
            </a:r>
          </a:p>
          <a:p>
            <a:pPr marL="449263" lvl="2"/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  <a:sym typeface="Symbol" pitchFamily="18" charset="2"/>
              </a:rPr>
              <a:t>例如：</a:t>
            </a:r>
            <a:endParaRPr lang="en-US" altLang="zh-CN" sz="2400" dirty="0">
              <a:solidFill>
                <a:schemeClr val="accent6">
                  <a:lumMod val="50000"/>
                </a:schemeClr>
              </a:solidFill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61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4"/>
              <p:cNvSpPr txBox="1">
                <a:spLocks/>
              </p:cNvSpPr>
              <p:nvPr/>
            </p:nvSpPr>
            <p:spPr>
              <a:xfrm>
                <a:off x="2775852" y="3573016"/>
                <a:ext cx="5893399" cy="200902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65760" indent="-283464" algn="l" rtl="0" eaLnBrk="1" latinLnBrk="0" hangingPunct="1">
                  <a:lnSpc>
                    <a:spcPct val="130000"/>
                  </a:lnSpc>
                  <a:spcBef>
                    <a:spcPts val="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 kumimoji="0" sz="2800" kern="1200" baseline="0">
                    <a:solidFill>
                      <a:schemeClr val="tx1"/>
                    </a:solidFill>
                    <a:latin typeface="Times New Roman" pitchFamily="18" charset="0"/>
                    <a:ea typeface="华文细黑" pitchFamily="2" charset="-122"/>
                    <a:cs typeface="+mn-cs"/>
                  </a:defRPr>
                </a:lvl1pPr>
                <a:lvl2pPr marL="640080" indent="-237744" algn="l" rtl="0" eaLnBrk="1" latinLnBrk="0" hangingPunct="1">
                  <a:lnSpc>
                    <a:spcPct val="130000"/>
                  </a:lnSpc>
                  <a:spcBef>
                    <a:spcPts val="0"/>
                  </a:spcBef>
                  <a:buClr>
                    <a:schemeClr val="accent1"/>
                  </a:buClr>
                  <a:buFont typeface="Verdana"/>
                  <a:buChar char="◦"/>
                  <a:defRPr kumimoji="0" sz="2400" kern="1200" baseline="0">
                    <a:solidFill>
                      <a:schemeClr val="tx1"/>
                    </a:solidFill>
                    <a:latin typeface="Times New Roman" pitchFamily="18" charset="0"/>
                    <a:ea typeface="华文细黑" pitchFamily="2" charset="-122"/>
                    <a:cs typeface="+mn-cs"/>
                  </a:defRPr>
                </a:lvl2pPr>
                <a:lvl3pPr marL="886968" indent="-228600" algn="l" rtl="0" eaLnBrk="1" latinLnBrk="0" hangingPunct="1">
                  <a:lnSpc>
                    <a:spcPct val="130000"/>
                  </a:lnSpc>
                  <a:spcBef>
                    <a:spcPts val="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2000" kern="1200" baseline="0">
                    <a:solidFill>
                      <a:schemeClr val="tx1"/>
                    </a:solidFill>
                    <a:latin typeface="Times New Roman" pitchFamily="18" charset="0"/>
                    <a:ea typeface="华文细黑" pitchFamily="2" charset="-122"/>
                    <a:cs typeface="+mn-cs"/>
                  </a:defRPr>
                </a:lvl3pPr>
                <a:lvl4pPr marL="1097280" indent="-173736" algn="l" rtl="0" eaLnBrk="1" latinLnBrk="0" hangingPunct="1">
                  <a:lnSpc>
                    <a:spcPct val="130000"/>
                  </a:lnSpc>
                  <a:spcBef>
                    <a:spcPts val="0"/>
                  </a:spcBef>
                  <a:buClr>
                    <a:schemeClr val="accent3"/>
                  </a:buClr>
                  <a:buFont typeface="Wingdings 2"/>
                  <a:buChar char=""/>
                  <a:defRPr kumimoji="0" sz="1800" kern="1200" baseline="0">
                    <a:solidFill>
                      <a:schemeClr val="tx1"/>
                    </a:solidFill>
                    <a:latin typeface="Times New Roman" pitchFamily="18" charset="0"/>
                    <a:ea typeface="华文细黑" pitchFamily="2" charset="-122"/>
                    <a:cs typeface="+mn-cs"/>
                  </a:defRPr>
                </a:lvl4pPr>
                <a:lvl5pPr marL="1298448" indent="-182880" algn="l" rtl="0" eaLnBrk="1" latinLnBrk="0" hangingPunct="1">
                  <a:lnSpc>
                    <a:spcPct val="130000"/>
                  </a:lnSpc>
                  <a:spcBef>
                    <a:spcPts val="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1800" kern="1200" baseline="0">
                    <a:solidFill>
                      <a:schemeClr val="tx1"/>
                    </a:solidFill>
                    <a:latin typeface="Times New Roman" pitchFamily="18" charset="0"/>
                    <a:ea typeface="华文细黑" pitchFamily="2" charset="-122"/>
                    <a:cs typeface="+mn-cs"/>
                  </a:defRPr>
                </a:lvl5pPr>
                <a:lvl6pPr marL="150876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5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71907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92024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3055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marL="8128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因  </a:t>
                </a:r>
                <a:r>
                  <a:rPr lang="el-GR" altLang="zh-CN" sz="20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sz="2000" i="1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σ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({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A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B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})  </m:t>
                    </m:r>
                    <m:r>
                      <m:rPr>
                        <m:nor/>
                      </m:rPr>
                      <a:rPr lang="el-GR" altLang="zh-CN" sz="2000" i="1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σ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({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A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B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C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})</m:t>
                    </m:r>
                    <m:r>
                      <a:rPr lang="en-US" altLang="zh-CN" sz="20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endParaRPr lang="en-US" altLang="zh-CN" sz="2000" dirty="0">
                  <a:solidFill>
                    <a:schemeClr val="accent6">
                      <a:lumMod val="50000"/>
                    </a:schemeClr>
                  </a:solidFill>
                  <a:cs typeface="Times New Roman" pitchFamily="18" charset="0"/>
                  <a:sym typeface="Symbol" pitchFamily="18" charset="2"/>
                </a:endParaRPr>
              </a:p>
              <a:p>
                <a:pPr marL="8128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有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0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altLang="zh-CN" sz="20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σ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({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})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altLang="zh-CN" sz="20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σ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({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})</m:t>
                        </m:r>
                      </m:den>
                    </m:f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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f>
                      <m:fPr>
                        <m:ctrlPr>
                          <a:rPr lang="en-US" altLang="zh-CN" sz="20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altLang="zh-CN" sz="20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σ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({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})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altLang="zh-CN" sz="20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σ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({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cs typeface="Times New Roman" pitchFamily="18" charset="0"/>
                            <a:sym typeface="Symbol" pitchFamily="18" charset="2"/>
                          </a:rPr>
                          <m:t>})</m:t>
                        </m:r>
                      </m:den>
                    </m:f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endParaRPr lang="en-US" altLang="zh-CN" sz="2000" dirty="0">
                  <a:solidFill>
                    <a:schemeClr val="accent6">
                      <a:lumMod val="50000"/>
                    </a:schemeClr>
                  </a:solidFill>
                  <a:cs typeface="Times New Roman" pitchFamily="18" charset="0"/>
                  <a:sym typeface="Symbol" pitchFamily="18" charset="2"/>
                </a:endParaRPr>
              </a:p>
              <a:p>
                <a:pPr marL="8128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solidFill>
                      <a:schemeClr val="accent6">
                        <a:lumMod val="50000"/>
                      </a:schemeClr>
                    </a:solidFill>
                    <a:cs typeface="Times New Roman" pitchFamily="18" charset="0"/>
                    <a:sym typeface="Symbol" pitchFamily="18" charset="2"/>
                  </a:rPr>
                  <a:t>即  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cs typeface="Times New Roman" pitchFamily="18" charset="0"/>
                        <a:sym typeface="Symbol" pitchFamily="18" charset="2"/>
                      </a:rPr>
                      <m:t>𝑐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({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A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B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C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}</m:t>
                    </m:r>
                    <m:r>
                      <a:rPr lang="en-US" altLang="zh-CN" sz="20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ea typeface="Cambria Math"/>
                        <a:cs typeface="Times New Roman" pitchFamily="18" charset="0"/>
                        <a:sym typeface="Symbol" pitchFamily="18" charset="2"/>
                      </a:rPr>
                      <m:t>→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{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D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})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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a:rPr lang="en-US" altLang="zh-CN" sz="20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cs typeface="Times New Roman" pitchFamily="18" charset="0"/>
                        <a:sym typeface="Symbol" pitchFamily="18" charset="2"/>
                      </a:rPr>
                      <m:t>𝑐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({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A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B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}</m:t>
                    </m:r>
                    <m:r>
                      <a:rPr lang="en-US" altLang="zh-CN" sz="20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ea typeface="Cambria Math"/>
                        <a:cs typeface="Times New Roman" pitchFamily="18" charset="0"/>
                        <a:sym typeface="Symbol" pitchFamily="18" charset="2"/>
                      </a:rPr>
                      <m:t>→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{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C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D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accent6">
                            <a:lumMod val="50000"/>
                          </a:schemeClr>
                        </a:solidFill>
                        <a:cs typeface="Times New Roman" pitchFamily="18" charset="0"/>
                        <a:sym typeface="Symbol" pitchFamily="18" charset="2"/>
                      </a:rPr>
                      <m:t>})</m:t>
                    </m:r>
                  </m:oMath>
                </a14:m>
                <a:endParaRPr lang="en-US" altLang="zh-CN" sz="2000" dirty="0">
                  <a:solidFill>
                    <a:schemeClr val="accent6">
                      <a:lumMod val="50000"/>
                    </a:schemeClr>
                  </a:solidFill>
                  <a:cs typeface="Times New Roman" pitchFamily="18" charset="0"/>
                  <a:sym typeface="Symbol" pitchFamily="18" charset="2"/>
                </a:endParaRPr>
              </a:p>
            </p:txBody>
          </p:sp>
        </mc:Choice>
        <mc:Fallback>
          <p:sp>
            <p:nvSpPr>
              <p:cNvPr id="6" name="内容占位符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852" y="3573016"/>
                <a:ext cx="5893399" cy="2009023"/>
              </a:xfrm>
              <a:prstGeom prst="rect">
                <a:avLst/>
              </a:prstGeom>
              <a:blipFill>
                <a:blip r:embed="rId3"/>
                <a:stretch>
                  <a:fillRect l="-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4"/>
              <p:cNvSpPr txBox="1">
                <a:spLocks/>
              </p:cNvSpPr>
              <p:nvPr/>
            </p:nvSpPr>
            <p:spPr>
              <a:xfrm>
                <a:off x="414000" y="2852936"/>
                <a:ext cx="8316000" cy="5760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65760" indent="-283464" algn="l" rtl="0" eaLnBrk="1" latinLnBrk="0" hangingPunct="1">
                  <a:lnSpc>
                    <a:spcPct val="130000"/>
                  </a:lnSpc>
                  <a:spcBef>
                    <a:spcPts val="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 kumimoji="0" sz="2800" kern="1200" baseline="0">
                    <a:solidFill>
                      <a:schemeClr val="tx1"/>
                    </a:solidFill>
                    <a:latin typeface="Times New Roman" pitchFamily="18" charset="0"/>
                    <a:ea typeface="华文细黑" pitchFamily="2" charset="-122"/>
                    <a:cs typeface="+mn-cs"/>
                  </a:defRPr>
                </a:lvl1pPr>
                <a:lvl2pPr marL="640080" indent="-237744" algn="l" rtl="0" eaLnBrk="1" latinLnBrk="0" hangingPunct="1">
                  <a:lnSpc>
                    <a:spcPct val="130000"/>
                  </a:lnSpc>
                  <a:spcBef>
                    <a:spcPts val="0"/>
                  </a:spcBef>
                  <a:buClr>
                    <a:schemeClr val="accent1"/>
                  </a:buClr>
                  <a:buFont typeface="Verdana"/>
                  <a:buChar char="◦"/>
                  <a:defRPr kumimoji="0" sz="2400" kern="1200" baseline="0">
                    <a:solidFill>
                      <a:schemeClr val="tx1"/>
                    </a:solidFill>
                    <a:latin typeface="Times New Roman" pitchFamily="18" charset="0"/>
                    <a:ea typeface="华文细黑" pitchFamily="2" charset="-122"/>
                    <a:cs typeface="+mn-cs"/>
                  </a:defRPr>
                </a:lvl2pPr>
                <a:lvl3pPr marL="886968" indent="-228600" algn="l" rtl="0" eaLnBrk="1" latinLnBrk="0" hangingPunct="1">
                  <a:lnSpc>
                    <a:spcPct val="130000"/>
                  </a:lnSpc>
                  <a:spcBef>
                    <a:spcPts val="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2000" kern="1200" baseline="0">
                    <a:solidFill>
                      <a:schemeClr val="tx1"/>
                    </a:solidFill>
                    <a:latin typeface="Times New Roman" pitchFamily="18" charset="0"/>
                    <a:ea typeface="华文细黑" pitchFamily="2" charset="-122"/>
                    <a:cs typeface="+mn-cs"/>
                  </a:defRPr>
                </a:lvl3pPr>
                <a:lvl4pPr marL="1097280" indent="-173736" algn="l" rtl="0" eaLnBrk="1" latinLnBrk="0" hangingPunct="1">
                  <a:lnSpc>
                    <a:spcPct val="130000"/>
                  </a:lnSpc>
                  <a:spcBef>
                    <a:spcPts val="0"/>
                  </a:spcBef>
                  <a:buClr>
                    <a:schemeClr val="accent3"/>
                  </a:buClr>
                  <a:buFont typeface="Wingdings 2"/>
                  <a:buChar char=""/>
                  <a:defRPr kumimoji="0" sz="1800" kern="1200" baseline="0">
                    <a:solidFill>
                      <a:schemeClr val="tx1"/>
                    </a:solidFill>
                    <a:latin typeface="Times New Roman" pitchFamily="18" charset="0"/>
                    <a:ea typeface="华文细黑" pitchFamily="2" charset="-122"/>
                    <a:cs typeface="+mn-cs"/>
                  </a:defRPr>
                </a:lvl4pPr>
                <a:lvl5pPr marL="1298448" indent="-182880" algn="l" rtl="0" eaLnBrk="1" latinLnBrk="0" hangingPunct="1">
                  <a:lnSpc>
                    <a:spcPct val="130000"/>
                  </a:lnSpc>
                  <a:spcBef>
                    <a:spcPts val="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1800" kern="1200" baseline="0">
                    <a:solidFill>
                      <a:schemeClr val="tx1"/>
                    </a:solidFill>
                    <a:latin typeface="Times New Roman" pitchFamily="18" charset="0"/>
                    <a:ea typeface="华文细黑" pitchFamily="2" charset="-122"/>
                    <a:cs typeface="+mn-cs"/>
                  </a:defRPr>
                </a:lvl5pPr>
                <a:lvl6pPr marL="150876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5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71907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92024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3055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marL="476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cs typeface="Times New Roman" pitchFamily="18" charset="0"/>
                          <a:sym typeface="Symbol" pitchFamily="18" charset="2"/>
                        </a:rPr>
                        <m:t>𝑐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({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B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}</m:t>
                      </m:r>
                      <m:r>
                        <a:rPr lang="en-US" altLang="zh-CN" sz="2600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cs typeface="Times New Roman" pitchFamily="18" charset="0"/>
                          <a:sym typeface="Wingdings 3"/>
                        </a:rPr>
                        <m:t>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{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}) </m:t>
                      </m:r>
                      <m:r>
                        <m:rPr>
                          <m:nor/>
                        </m:rPr>
                        <a:rPr lang="en-US" altLang="zh-CN" sz="26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Times New Roman" pitchFamily="18" charset="0"/>
                          <a:sym typeface="Symbol" pitchFamily="18" charset="2"/>
                        </a:rPr>
                        <m:t> </m:t>
                      </m:r>
                      <m:r>
                        <a:rPr lang="en-US" altLang="zh-CN" sz="2600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cs typeface="Times New Roman" pitchFamily="18" charset="0"/>
                          <a:sym typeface="Symbol" pitchFamily="18" charset="2"/>
                        </a:rPr>
                        <m:t>𝑐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({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B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}</m:t>
                      </m:r>
                      <m:r>
                        <a:rPr lang="en-US" altLang="zh-CN" sz="2600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cs typeface="Times New Roman" pitchFamily="18" charset="0"/>
                          <a:sym typeface="Wingdings 3"/>
                        </a:rPr>
                        <m:t>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{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}) </m:t>
                      </m:r>
                      <m:r>
                        <m:rPr>
                          <m:nor/>
                        </m:rPr>
                        <a:rPr lang="en-US" altLang="zh-CN" sz="26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Times New Roman" pitchFamily="18" charset="0"/>
                          <a:sym typeface="Symbol" pitchFamily="18" charset="2"/>
                        </a:rPr>
                        <m:t>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 </m:t>
                      </m:r>
                      <m:r>
                        <a:rPr lang="en-US" altLang="zh-CN" sz="2600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cs typeface="Times New Roman" pitchFamily="18" charset="0"/>
                          <a:sym typeface="Symbol" pitchFamily="18" charset="2"/>
                        </a:rPr>
                        <m:t>𝑐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({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}</m:t>
                      </m:r>
                      <m:r>
                        <a:rPr lang="en-US" altLang="zh-CN" sz="2600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cs typeface="Times New Roman" pitchFamily="18" charset="0"/>
                          <a:sym typeface="Wingdings 3"/>
                        </a:rPr>
                        <m:t>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{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B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600" dirty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Times New Roman" pitchFamily="18" charset="0"/>
                          <a:sym typeface="Symbol" pitchFamily="18" charset="2"/>
                        </a:rPr>
                        <m:t>})</m:t>
                      </m:r>
                    </m:oMath>
                  </m:oMathPara>
                </a14:m>
                <a:endParaRPr lang="zh-CN" altLang="en-US" sz="2600" dirty="0">
                  <a:solidFill>
                    <a:schemeClr val="accent6">
                      <a:lumMod val="50000"/>
                    </a:schemeClr>
                  </a:solidFill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7" name="内容占位符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00" y="2852936"/>
                <a:ext cx="8316000" cy="5760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980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算法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08820"/>
            <a:ext cx="5848350" cy="1294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3429000"/>
            <a:ext cx="5760640" cy="203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6156175" y="1808820"/>
            <a:ext cx="2880000" cy="72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针对每一个不同大小的频繁项集，依次处理。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156176" y="2820412"/>
            <a:ext cx="288032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根据频繁项集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en-US" altLang="zh-CN" sz="1600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sz="1600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16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和后件 </a:t>
            </a:r>
            <a:r>
              <a:rPr lang="en-US" altLang="zh-CN" sz="1600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S</a:t>
            </a:r>
            <a:r>
              <a:rPr lang="en-US" altLang="zh-CN" sz="1600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，计算规则 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</a:t>
            </a:r>
            <a:r>
              <a:rPr lang="en-US" altLang="zh-CN" sz="1600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sz="1600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- </a:t>
            </a:r>
            <a:r>
              <a:rPr lang="en-US" altLang="zh-CN" sz="1600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S</a:t>
            </a:r>
            <a:r>
              <a:rPr lang="en-US" altLang="zh-CN" sz="1600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)→</a:t>
            </a:r>
            <a:r>
              <a:rPr lang="en-US" altLang="zh-CN" sz="1600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S</a:t>
            </a:r>
            <a:r>
              <a:rPr lang="en-US" altLang="zh-CN" sz="1600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</a:t>
            </a:r>
            <a:r>
              <a:rPr lang="en-US" altLang="zh-CN" sz="16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的置信度，若满足阈值要求，则确认该规则并输出；</a:t>
            </a:r>
            <a:endParaRPr lang="en-US" altLang="zh-CN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基于后件</a:t>
            </a:r>
            <a:r>
              <a:rPr lang="en-US" altLang="zh-CN" sz="1600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S</a:t>
            </a:r>
            <a:r>
              <a:rPr lang="en-US" altLang="zh-CN" sz="1600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，产生增加了一个项的后件</a:t>
            </a:r>
            <a:r>
              <a:rPr lang="en-US" altLang="zh-CN" sz="16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S</a:t>
            </a:r>
            <a:r>
              <a:rPr lang="en-US" altLang="zh-CN" sz="16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m+1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的集合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en-US" altLang="zh-CN" sz="16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S</a:t>
            </a:r>
            <a:r>
              <a:rPr lang="en-US" altLang="zh-CN" sz="16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m+1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，对其中的每各后件</a:t>
            </a:r>
            <a:r>
              <a:rPr lang="en-US" altLang="zh-CN" sz="16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S</a:t>
            </a:r>
            <a:r>
              <a:rPr lang="en-US" altLang="zh-CN" sz="16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m+1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，结合频繁项集</a:t>
            </a:r>
            <a:r>
              <a:rPr lang="en-US" altLang="zh-CN" sz="1600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sz="1600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，递归调用</a:t>
            </a:r>
            <a:r>
              <a:rPr lang="en-US" altLang="zh-CN" sz="16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gen_rules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()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，处理所有的规则组合。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5" name="矩形标注 4"/>
          <p:cNvSpPr/>
          <p:nvPr/>
        </p:nvSpPr>
        <p:spPr>
          <a:xfrm>
            <a:off x="107504" y="3429000"/>
            <a:ext cx="5868000" cy="2038950"/>
          </a:xfrm>
          <a:prstGeom prst="wedgeRectCallout">
            <a:avLst>
              <a:gd name="adj1" fmla="val -23500"/>
              <a:gd name="adj2" fmla="val -68561"/>
            </a:avLst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932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购物篮分析</a:t>
            </a:r>
          </a:p>
        </p:txBody>
      </p:sp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8" y="1871972"/>
            <a:ext cx="3016017" cy="18461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6804250" y="1095941"/>
            <a:ext cx="17363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支持度计数≥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871972"/>
            <a:ext cx="2792540" cy="19170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矩形 12"/>
          <p:cNvSpPr/>
          <p:nvPr/>
        </p:nvSpPr>
        <p:spPr>
          <a:xfrm>
            <a:off x="3515263" y="2292383"/>
            <a:ext cx="11287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转换为二元数据</a:t>
            </a:r>
          </a:p>
        </p:txBody>
      </p:sp>
      <p:sp>
        <p:nvSpPr>
          <p:cNvPr id="14" name="矩形 13"/>
          <p:cNvSpPr/>
          <p:nvPr/>
        </p:nvSpPr>
        <p:spPr>
          <a:xfrm>
            <a:off x="1568856" y="4077073"/>
            <a:ext cx="9560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去除非频繁项</a:t>
            </a:r>
          </a:p>
        </p:txBody>
      </p:sp>
      <p:sp>
        <p:nvSpPr>
          <p:cNvPr id="19" name="矩形 18"/>
          <p:cNvSpPr/>
          <p:nvPr/>
        </p:nvSpPr>
        <p:spPr>
          <a:xfrm>
            <a:off x="3979785" y="4077074"/>
            <a:ext cx="9560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组合产生候选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项集，并计数</a:t>
            </a:r>
          </a:p>
        </p:txBody>
      </p:sp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3853921"/>
            <a:ext cx="1379457" cy="1722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1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818" y="3853920"/>
            <a:ext cx="1435081" cy="134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1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745" y="3853921"/>
            <a:ext cx="1557452" cy="2102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7645082" y="2296271"/>
            <a:ext cx="14634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按列求和，统计各数据项计数</a:t>
            </a:r>
          </a:p>
        </p:txBody>
      </p:sp>
      <p:sp>
        <p:nvSpPr>
          <p:cNvPr id="23" name="矩形 22"/>
          <p:cNvSpPr/>
          <p:nvPr/>
        </p:nvSpPr>
        <p:spPr>
          <a:xfrm>
            <a:off x="6513085" y="4077073"/>
            <a:ext cx="9560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去除非频繁项</a:t>
            </a:r>
          </a:p>
        </p:txBody>
      </p:sp>
      <p:pic>
        <p:nvPicPr>
          <p:cNvPr id="4711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044" y="3853922"/>
            <a:ext cx="1557452" cy="1912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08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4" grpId="0"/>
      <p:bldP spid="19" grpId="0"/>
      <p:bldP spid="20" grpId="0"/>
      <p:bldP spid="2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购物篮分析</a:t>
            </a:r>
          </a:p>
        </p:txBody>
      </p:sp>
      <p:sp>
        <p:nvSpPr>
          <p:cNvPr id="5" name="矩形 4"/>
          <p:cNvSpPr/>
          <p:nvPr/>
        </p:nvSpPr>
        <p:spPr>
          <a:xfrm>
            <a:off x="6804250" y="1095941"/>
            <a:ext cx="17363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支持度计数≥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40469" y="2024668"/>
            <a:ext cx="16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组合产生候选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（</a:t>
            </a:r>
            <a:r>
              <a:rPr lang="en-US" altLang="zh-CN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k-1</a:t>
            </a:r>
            <a:r>
              <a:rPr lang="en-US" altLang="zh-CN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dirty="0">
                <a:latin typeface="宋体"/>
                <a:ea typeface="宋体"/>
                <a:cs typeface="Times New Roman" pitchFamily="18" charset="0"/>
                <a:sym typeface="Symbol"/>
              </a:rPr>
              <a:t></a:t>
            </a:r>
            <a:r>
              <a:rPr lang="en-US" altLang="zh-CN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k-1 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）</a:t>
            </a:r>
          </a:p>
        </p:txBody>
      </p:sp>
      <p:sp>
        <p:nvSpPr>
          <p:cNvPr id="23" name="矩形 22"/>
          <p:cNvSpPr/>
          <p:nvPr/>
        </p:nvSpPr>
        <p:spPr>
          <a:xfrm>
            <a:off x="5340800" y="2024668"/>
            <a:ext cx="176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去除非频繁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项集超集和非频繁项</a:t>
            </a:r>
          </a:p>
        </p:txBody>
      </p:sp>
      <p:pic>
        <p:nvPicPr>
          <p:cNvPr id="4711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08821"/>
            <a:ext cx="1557452" cy="1912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129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952" y="1808820"/>
            <a:ext cx="1805369" cy="2296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1" y="1808821"/>
            <a:ext cx="1805369" cy="1153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12" y="4866503"/>
            <a:ext cx="2150840" cy="581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矩形 20"/>
          <p:cNvSpPr/>
          <p:nvPr/>
        </p:nvSpPr>
        <p:spPr>
          <a:xfrm>
            <a:off x="830865" y="4220172"/>
            <a:ext cx="25554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组合产生候选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（</a:t>
            </a:r>
            <a:r>
              <a:rPr lang="en-US" altLang="zh-CN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k-1</a:t>
            </a:r>
            <a:r>
              <a:rPr lang="en-US" altLang="zh-CN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dirty="0">
                <a:latin typeface="宋体"/>
                <a:ea typeface="宋体"/>
                <a:cs typeface="Times New Roman" pitchFamily="18" charset="0"/>
                <a:sym typeface="Symbol"/>
              </a:rPr>
              <a:t></a:t>
            </a:r>
            <a:r>
              <a:rPr lang="en-US" altLang="zh-CN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k-1 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）</a:t>
            </a:r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976" y="4866503"/>
            <a:ext cx="2150840" cy="581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矩形 21"/>
          <p:cNvSpPr/>
          <p:nvPr/>
        </p:nvSpPr>
        <p:spPr>
          <a:xfrm>
            <a:off x="4769976" y="4373648"/>
            <a:ext cx="3906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去除非频繁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项集超集和非频繁项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21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21" grpId="0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购物篮分析</a:t>
            </a:r>
          </a:p>
        </p:txBody>
      </p:sp>
      <p:sp>
        <p:nvSpPr>
          <p:cNvPr id="5" name="矩形 4"/>
          <p:cNvSpPr/>
          <p:nvPr/>
        </p:nvSpPr>
        <p:spPr>
          <a:xfrm>
            <a:off x="6804250" y="1095941"/>
            <a:ext cx="17363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支持度计数≥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04248" y="1383914"/>
            <a:ext cx="1544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置信度≥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0.85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14763"/>
            <a:ext cx="1557452" cy="1912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872" y="1922195"/>
            <a:ext cx="1638205" cy="2738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253" y="2236887"/>
            <a:ext cx="1638205" cy="351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23"/>
          <p:cNvSpPr/>
          <p:nvPr/>
        </p:nvSpPr>
        <p:spPr>
          <a:xfrm>
            <a:off x="1951357" y="2411596"/>
            <a:ext cx="11804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生成规则</a:t>
            </a:r>
          </a:p>
        </p:txBody>
      </p:sp>
      <p:sp>
        <p:nvSpPr>
          <p:cNvPr id="25" name="矩形 24"/>
          <p:cNvSpPr/>
          <p:nvPr/>
        </p:nvSpPr>
        <p:spPr>
          <a:xfrm>
            <a:off x="5574034" y="2286006"/>
            <a:ext cx="8701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提取关联规则</a:t>
            </a:r>
          </a:p>
        </p:txBody>
      </p:sp>
      <p:pic>
        <p:nvPicPr>
          <p:cNvPr id="29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356" y="3196524"/>
            <a:ext cx="1080000" cy="1009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矩形 33"/>
          <p:cNvSpPr/>
          <p:nvPr/>
        </p:nvSpPr>
        <p:spPr>
          <a:xfrm>
            <a:off x="3220983" y="3620141"/>
            <a:ext cx="1584000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3220983" y="4138599"/>
            <a:ext cx="1584000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59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4" grpId="0"/>
      <p:bldP spid="25" grpId="0"/>
      <p:bldP spid="34" grpId="0" animBg="1"/>
      <p:bldP spid="3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购物篮分析</a:t>
            </a:r>
          </a:p>
        </p:txBody>
      </p:sp>
      <p:sp>
        <p:nvSpPr>
          <p:cNvPr id="5" name="矩形 4"/>
          <p:cNvSpPr/>
          <p:nvPr/>
        </p:nvSpPr>
        <p:spPr>
          <a:xfrm>
            <a:off x="6804250" y="1095941"/>
            <a:ext cx="17363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支持度计数≥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04248" y="1383914"/>
            <a:ext cx="1544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置信度≥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0.85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4" y="1991746"/>
            <a:ext cx="1805369" cy="1153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08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340" y="1744013"/>
            <a:ext cx="1800982" cy="4212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矩形 25"/>
          <p:cNvSpPr/>
          <p:nvPr/>
        </p:nvSpPr>
        <p:spPr>
          <a:xfrm>
            <a:off x="2090596" y="2195572"/>
            <a:ext cx="11132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生成规则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364088" y="1780236"/>
            <a:ext cx="33843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提取时，可先提取前件为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项集，后件为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项集的规则，如果置信度不满足要求，则不再提取前件为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项集后件为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项集的规则。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419872" y="3299386"/>
            <a:ext cx="1800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419872" y="1744013"/>
            <a:ext cx="1800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419872" y="2197663"/>
            <a:ext cx="1800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419872" y="2521699"/>
            <a:ext cx="1800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3419872" y="2845735"/>
            <a:ext cx="1800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419872" y="3931272"/>
            <a:ext cx="1800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3419872" y="4384922"/>
            <a:ext cx="1800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3419872" y="5032994"/>
            <a:ext cx="1800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3419872" y="5486645"/>
            <a:ext cx="1800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3419872" y="3607236"/>
            <a:ext cx="1800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3671872" y="3460766"/>
            <a:ext cx="1548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3419872" y="4708958"/>
            <a:ext cx="1800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419872" y="5788715"/>
            <a:ext cx="1800000" cy="14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299387"/>
            <a:ext cx="1080000" cy="1326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64" y="4169120"/>
            <a:ext cx="1080000" cy="1009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32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7" presetClass="emph" presetSubtype="2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7" presetClass="emph" presetSubtype="2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7" presetClass="emph" presetSubtype="2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7" presetClass="emph" presetSubtype="2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7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7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500"/>
                            </p:stCondLst>
                            <p:childTnLst>
                              <p:par>
                                <p:cTn id="9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7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000"/>
                            </p:stCondLst>
                            <p:childTnLst>
                              <p:par>
                                <p:cTn id="10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500"/>
                            </p:stCondLst>
                            <p:childTnLst>
                              <p:par>
                                <p:cTn id="112" presetID="7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3" grpId="0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8" grpId="0" animBg="1"/>
      <p:bldP spid="28" grpId="1" animBg="1"/>
      <p:bldP spid="30" grpId="0" animBg="1"/>
      <p:bldP spid="30" grpId="1" animBg="1"/>
      <p:bldP spid="31" grpId="0" animBg="1"/>
      <p:bldP spid="31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9" grpId="0" animBg="1"/>
      <p:bldP spid="40" grpId="0" animBg="1"/>
      <p:bldP spid="4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469" y="2003242"/>
            <a:ext cx="2518601" cy="290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4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购物篮分析</a:t>
            </a:r>
          </a:p>
        </p:txBody>
      </p:sp>
      <p:sp>
        <p:nvSpPr>
          <p:cNvPr id="5" name="矩形 4"/>
          <p:cNvSpPr/>
          <p:nvPr/>
        </p:nvSpPr>
        <p:spPr>
          <a:xfrm>
            <a:off x="6804250" y="1095941"/>
            <a:ext cx="17363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支持度计数≥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04248" y="1383914"/>
            <a:ext cx="1544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置信度≥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0.85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87891"/>
            <a:ext cx="2150840" cy="581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2544087" y="2003243"/>
            <a:ext cx="6597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生成规则</a:t>
            </a:r>
          </a:p>
        </p:txBody>
      </p:sp>
      <p:sp>
        <p:nvSpPr>
          <p:cNvPr id="21" name="矩形 20"/>
          <p:cNvSpPr/>
          <p:nvPr/>
        </p:nvSpPr>
        <p:spPr>
          <a:xfrm>
            <a:off x="5940152" y="2003241"/>
            <a:ext cx="30963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提取时，可先提取前件为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项集，后件为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1-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项集的规则，若置信度满足要求，才继续提取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" pitchFamily="2" charset="2"/>
              </a:rPr>
              <a:t>2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" pitchFamily="2" charset="2"/>
              </a:rPr>
              <a:t>形式的规则，否则向下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剪枝；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如果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" pitchFamily="2" charset="2"/>
              </a:rPr>
              <a:t>2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" pitchFamily="2" charset="2"/>
              </a:rPr>
              <a:t>形式的规则满足要求，才继续提取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" pitchFamily="2" charset="2"/>
              </a:rPr>
              <a:t>13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  <a:sym typeface="Wingdings" pitchFamily="2" charset="2"/>
              </a:rPr>
              <a:t>形式的规则。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229467" y="2011177"/>
            <a:ext cx="2492982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229467" y="3364193"/>
            <a:ext cx="2492982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3229467" y="4239108"/>
            <a:ext cx="2492982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3235102" y="4749891"/>
            <a:ext cx="2492982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436449" y="2197663"/>
            <a:ext cx="2286000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3436449" y="2683735"/>
            <a:ext cx="2286000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436449" y="3023964"/>
            <a:ext cx="2286000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436449" y="4401108"/>
            <a:ext cx="2286000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67</a:t>
            </a:fld>
            <a:endParaRPr lang="zh-CN" altLang="en-US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95" y="2899046"/>
            <a:ext cx="1260000" cy="8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900065"/>
            <a:ext cx="1080000" cy="1326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368" y="3445193"/>
            <a:ext cx="1080000" cy="1009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055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50"/>
                                        <p:tgtEl>
                                          <p:spTgt spid="4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7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00"/>
                            </p:stCondLst>
                            <p:childTnLst>
                              <p:par>
                                <p:cTn id="5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6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0"/>
                            </p:stCondLst>
                            <p:childTnLst>
                              <p:par>
                                <p:cTn id="6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500"/>
                            </p:stCondLst>
                            <p:childTnLst>
                              <p:par>
                                <p:cTn id="6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9500"/>
                            </p:stCondLst>
                            <p:childTnLst>
                              <p:par>
                                <p:cTn id="7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500"/>
                            </p:stCondLst>
                            <p:childTnLst>
                              <p:par>
                                <p:cTn id="7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1500"/>
                            </p:stCondLst>
                            <p:childTnLst>
                              <p:par>
                                <p:cTn id="8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uiExpand="1" build="p"/>
      <p:bldP spid="22" grpId="0" animBg="1"/>
      <p:bldP spid="23" grpId="0" animBg="1"/>
      <p:bldP spid="28" grpId="0" animBg="1"/>
      <p:bldP spid="29" grpId="0" animBg="1"/>
      <p:bldP spid="30" grpId="0" animBg="1"/>
      <p:bldP spid="30" grpId="1" animBg="1"/>
      <p:bldP spid="31" grpId="0" animBg="1"/>
      <p:bldP spid="32" grpId="0" animBg="1"/>
      <p:bldP spid="3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6" y="1844824"/>
            <a:ext cx="2518601" cy="290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4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购物篮分析</a:t>
            </a:r>
          </a:p>
        </p:txBody>
      </p:sp>
      <p:sp>
        <p:nvSpPr>
          <p:cNvPr id="5" name="矩形 4"/>
          <p:cNvSpPr/>
          <p:nvPr/>
        </p:nvSpPr>
        <p:spPr>
          <a:xfrm>
            <a:off x="6804250" y="1095941"/>
            <a:ext cx="17363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支持度计数≥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04248" y="1383914"/>
            <a:ext cx="1544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置信度≥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0.85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7504" y="1852759"/>
            <a:ext cx="2492982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07504" y="3205775"/>
            <a:ext cx="2492982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07504" y="4080690"/>
            <a:ext cx="2492982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13139" y="4591473"/>
            <a:ext cx="2492982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14486" y="2039245"/>
            <a:ext cx="2286000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314486" y="2525317"/>
            <a:ext cx="2286000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14486" y="2865546"/>
            <a:ext cx="2286000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14486" y="4242690"/>
            <a:ext cx="2286000" cy="16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16" name="root"/>
          <p:cNvSpPr/>
          <p:nvPr/>
        </p:nvSpPr>
        <p:spPr>
          <a:xfrm>
            <a:off x="5439801" y="2348881"/>
            <a:ext cx="830509" cy="42881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{I1,I2,I3,I7}</a:t>
            </a:r>
            <a:endParaRPr lang="zh-CN" altLang="en-US" sz="900" b="1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17" name="椭圆 1-1"/>
          <p:cNvSpPr/>
          <p:nvPr/>
        </p:nvSpPr>
        <p:spPr>
          <a:xfrm>
            <a:off x="3497436" y="3165451"/>
            <a:ext cx="968533" cy="427664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{I1,I2,I3}</a:t>
            </a:r>
            <a:r>
              <a:rPr lang="zh-CN" alt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{I7}</a:t>
            </a:r>
            <a:endParaRPr lang="zh-CN" altLang="en-US" sz="900" b="1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18" name="椭圆 1-2"/>
          <p:cNvSpPr/>
          <p:nvPr/>
        </p:nvSpPr>
        <p:spPr>
          <a:xfrm>
            <a:off x="4737546" y="3165451"/>
            <a:ext cx="968533" cy="427664"/>
          </a:xfrm>
          <a:prstGeom prst="ellipse">
            <a:avLst/>
          </a:prstGeom>
          <a:noFill/>
          <a:ln w="19050">
            <a:solidFill>
              <a:srgbClr val="009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{I1,I2,I7}</a:t>
            </a:r>
            <a:r>
              <a:rPr lang="zh-CN" alt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{I3}</a:t>
            </a:r>
            <a:endParaRPr lang="zh-CN" altLang="en-US" sz="900" b="1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19" name="椭圆 1-3"/>
          <p:cNvSpPr/>
          <p:nvPr/>
        </p:nvSpPr>
        <p:spPr>
          <a:xfrm>
            <a:off x="5977657" y="3165451"/>
            <a:ext cx="968533" cy="427664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{I1,I3,I7}</a:t>
            </a:r>
            <a:r>
              <a:rPr lang="zh-CN" alt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{I2}</a:t>
            </a:r>
            <a:endParaRPr lang="zh-CN" altLang="en-US" sz="900" b="1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20" name="椭圆 1-4"/>
          <p:cNvSpPr/>
          <p:nvPr/>
        </p:nvSpPr>
        <p:spPr>
          <a:xfrm>
            <a:off x="7217768" y="3165451"/>
            <a:ext cx="968533" cy="427664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{I2,I3,I7}</a:t>
            </a:r>
            <a:r>
              <a:rPr lang="zh-CN" alt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{I1}</a:t>
            </a:r>
            <a:endParaRPr lang="zh-CN" altLang="en-US" sz="900" b="1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27" name="椭圆 2-6"/>
          <p:cNvSpPr/>
          <p:nvPr/>
        </p:nvSpPr>
        <p:spPr>
          <a:xfrm>
            <a:off x="8103493" y="4171095"/>
            <a:ext cx="884141" cy="427664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{I3,I7}</a:t>
            </a:r>
            <a:r>
              <a:rPr lang="zh-CN" alt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 I2}</a:t>
            </a:r>
            <a:endParaRPr lang="zh-CN" altLang="en-US" sz="900" b="1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34" name="椭圆 2-5"/>
          <p:cNvSpPr/>
          <p:nvPr/>
        </p:nvSpPr>
        <p:spPr>
          <a:xfrm>
            <a:off x="6970964" y="4171095"/>
            <a:ext cx="884141" cy="427664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{I2,I7}</a:t>
            </a:r>
            <a:r>
              <a:rPr lang="zh-CN" alt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 I3}</a:t>
            </a:r>
            <a:endParaRPr lang="zh-CN" altLang="en-US" sz="900" b="1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60" name="椭圆 2-4"/>
          <p:cNvSpPr/>
          <p:nvPr/>
        </p:nvSpPr>
        <p:spPr>
          <a:xfrm>
            <a:off x="5897129" y="4171095"/>
            <a:ext cx="884141" cy="427664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{I1,I7}</a:t>
            </a:r>
            <a:r>
              <a:rPr lang="zh-CN" alt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{I2, I3}</a:t>
            </a:r>
            <a:endParaRPr lang="zh-CN" altLang="en-US" sz="900" b="1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25" name="椭圆 2-3"/>
          <p:cNvSpPr/>
          <p:nvPr/>
        </p:nvSpPr>
        <p:spPr>
          <a:xfrm>
            <a:off x="4827410" y="4171095"/>
            <a:ext cx="884141" cy="427664"/>
          </a:xfrm>
          <a:prstGeom prst="ellipse">
            <a:avLst/>
          </a:prstGeom>
          <a:noFill/>
          <a:ln w="19050">
            <a:solidFill>
              <a:srgbClr val="009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{I2,I3}</a:t>
            </a:r>
            <a:r>
              <a:rPr lang="zh-CN" altLang="en-US" sz="900" b="1" kern="10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 I7}</a:t>
            </a:r>
            <a:endParaRPr lang="zh-CN" altLang="en-US" sz="900" b="1" kern="10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24" name="椭圆 2-2"/>
          <p:cNvSpPr/>
          <p:nvPr/>
        </p:nvSpPr>
        <p:spPr>
          <a:xfrm>
            <a:off x="3763602" y="4171095"/>
            <a:ext cx="884141" cy="427664"/>
          </a:xfrm>
          <a:prstGeom prst="ellipse">
            <a:avLst/>
          </a:prstGeom>
          <a:noFill/>
          <a:ln w="19050">
            <a:solidFill>
              <a:srgbClr val="009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{I1,I3}</a:t>
            </a:r>
            <a:r>
              <a:rPr lang="zh-CN" alt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{I2, I7}</a:t>
            </a:r>
            <a:endParaRPr lang="zh-CN" altLang="en-US" sz="900" b="1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21" name="椭圆 2-1"/>
          <p:cNvSpPr/>
          <p:nvPr/>
        </p:nvSpPr>
        <p:spPr>
          <a:xfrm>
            <a:off x="2699793" y="4171095"/>
            <a:ext cx="884141" cy="427664"/>
          </a:xfrm>
          <a:prstGeom prst="ellipse">
            <a:avLst/>
          </a:prstGeom>
          <a:noFill/>
          <a:ln w="19050">
            <a:solidFill>
              <a:srgbClr val="009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{I1,I2}</a:t>
            </a:r>
            <a:r>
              <a:rPr lang="zh-CN" alt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{I3, I7}</a:t>
            </a:r>
            <a:endParaRPr lang="zh-CN" altLang="en-US" sz="900" b="1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35" name="line1-4"/>
          <p:cNvCxnSpPr>
            <a:stCxn id="16" idx="4"/>
            <a:endCxn id="17" idx="0"/>
          </p:cNvCxnSpPr>
          <p:nvPr/>
        </p:nvCxnSpPr>
        <p:spPr>
          <a:xfrm flipH="1">
            <a:off x="3981702" y="2777691"/>
            <a:ext cx="1873353" cy="3877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line1-3"/>
          <p:cNvCxnSpPr>
            <a:stCxn id="16" idx="4"/>
            <a:endCxn id="18" idx="0"/>
          </p:cNvCxnSpPr>
          <p:nvPr/>
        </p:nvCxnSpPr>
        <p:spPr>
          <a:xfrm flipH="1">
            <a:off x="5221813" y="2777691"/>
            <a:ext cx="633243" cy="3877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ne1-2"/>
          <p:cNvCxnSpPr>
            <a:stCxn id="16" idx="4"/>
            <a:endCxn id="19" idx="0"/>
          </p:cNvCxnSpPr>
          <p:nvPr/>
        </p:nvCxnSpPr>
        <p:spPr>
          <a:xfrm>
            <a:off x="5855054" y="2777691"/>
            <a:ext cx="606868" cy="3877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line1-1"/>
          <p:cNvCxnSpPr>
            <a:stCxn id="16" idx="4"/>
            <a:endCxn id="20" idx="0"/>
          </p:cNvCxnSpPr>
          <p:nvPr/>
        </p:nvCxnSpPr>
        <p:spPr>
          <a:xfrm>
            <a:off x="5855055" y="2777691"/>
            <a:ext cx="1846979" cy="3877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17" idx="4"/>
            <a:endCxn id="21" idx="0"/>
          </p:cNvCxnSpPr>
          <p:nvPr/>
        </p:nvCxnSpPr>
        <p:spPr>
          <a:xfrm flipH="1">
            <a:off x="3141864" y="3593115"/>
            <a:ext cx="839839" cy="57798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18" idx="4"/>
            <a:endCxn id="34" idx="0"/>
          </p:cNvCxnSpPr>
          <p:nvPr/>
        </p:nvCxnSpPr>
        <p:spPr>
          <a:xfrm>
            <a:off x="5221812" y="3593115"/>
            <a:ext cx="2191222" cy="57798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17" idx="4"/>
            <a:endCxn id="24" idx="0"/>
          </p:cNvCxnSpPr>
          <p:nvPr/>
        </p:nvCxnSpPr>
        <p:spPr>
          <a:xfrm>
            <a:off x="3981702" y="3593115"/>
            <a:ext cx="223970" cy="57798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19" idx="4"/>
            <a:endCxn id="27" idx="0"/>
          </p:cNvCxnSpPr>
          <p:nvPr/>
        </p:nvCxnSpPr>
        <p:spPr>
          <a:xfrm>
            <a:off x="6461923" y="3593115"/>
            <a:ext cx="2083640" cy="57798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17" idx="4"/>
            <a:endCxn id="25" idx="0"/>
          </p:cNvCxnSpPr>
          <p:nvPr/>
        </p:nvCxnSpPr>
        <p:spPr>
          <a:xfrm>
            <a:off x="3981702" y="3593115"/>
            <a:ext cx="1287778" cy="57798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3-4"/>
          <p:cNvSpPr/>
          <p:nvPr/>
        </p:nvSpPr>
        <p:spPr>
          <a:xfrm>
            <a:off x="7196718" y="5368735"/>
            <a:ext cx="925943" cy="427664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{I7}</a:t>
            </a:r>
            <a:r>
              <a:rPr lang="zh-CN" altLang="en-US" sz="900" b="1" kern="10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 I2, I3}</a:t>
            </a:r>
            <a:endParaRPr lang="zh-CN" altLang="en-US" sz="900" b="1" kern="10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45" name="椭圆 3-3"/>
          <p:cNvSpPr/>
          <p:nvPr/>
        </p:nvSpPr>
        <p:spPr>
          <a:xfrm>
            <a:off x="5943266" y="5368735"/>
            <a:ext cx="925943" cy="427664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{I3}</a:t>
            </a:r>
            <a:r>
              <a:rPr lang="zh-CN" altLang="en-US" sz="900" b="1" kern="10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 I2, I7}</a:t>
            </a:r>
            <a:endParaRPr lang="zh-CN" altLang="en-US" sz="900" b="1" kern="10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63" name="椭圆 3-2"/>
          <p:cNvSpPr/>
          <p:nvPr/>
        </p:nvSpPr>
        <p:spPr>
          <a:xfrm>
            <a:off x="4689813" y="5377601"/>
            <a:ext cx="925943" cy="427664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{I2}</a:t>
            </a:r>
            <a:r>
              <a:rPr lang="zh-CN" alt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{I1, I2, I7}</a:t>
            </a:r>
            <a:endParaRPr lang="zh-CN" altLang="en-US" sz="900" b="1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sp>
        <p:nvSpPr>
          <p:cNvPr id="64" name="椭圆 3-1"/>
          <p:cNvSpPr/>
          <p:nvPr/>
        </p:nvSpPr>
        <p:spPr>
          <a:xfrm>
            <a:off x="3436360" y="5377601"/>
            <a:ext cx="925943" cy="427664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{I1}</a:t>
            </a:r>
            <a:r>
              <a:rPr lang="zh-CN" alt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→</a:t>
            </a:r>
            <a:r>
              <a:rPr lang="en-US" sz="900" b="1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{I2, I3, I7}</a:t>
            </a:r>
            <a:endParaRPr lang="zh-CN" altLang="en-US" sz="900" b="1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46" name="直接连接符 45"/>
          <p:cNvCxnSpPr>
            <a:stCxn id="60" idx="4"/>
            <a:endCxn id="44" idx="0"/>
          </p:cNvCxnSpPr>
          <p:nvPr/>
        </p:nvCxnSpPr>
        <p:spPr>
          <a:xfrm>
            <a:off x="6339199" y="4598759"/>
            <a:ext cx="1320490" cy="76997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stCxn id="24" idx="4"/>
            <a:endCxn id="45" idx="0"/>
          </p:cNvCxnSpPr>
          <p:nvPr/>
        </p:nvCxnSpPr>
        <p:spPr>
          <a:xfrm>
            <a:off x="4205673" y="4598759"/>
            <a:ext cx="2200565" cy="76997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321563"/>
          <p:cNvSpPr txBox="1"/>
          <p:nvPr/>
        </p:nvSpPr>
        <p:spPr>
          <a:xfrm>
            <a:off x="4440689" y="3232077"/>
            <a:ext cx="132502" cy="180000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050" b="1" kern="100" dirty="0">
                <a:solidFill>
                  <a:srgbClr val="C00000"/>
                </a:solidFill>
                <a:latin typeface="Times New Roman"/>
                <a:ea typeface="宋体"/>
                <a:cs typeface="Times New Roman"/>
                <a:sym typeface="Wingdings"/>
              </a:rPr>
              <a:t></a:t>
            </a:r>
            <a:endParaRPr lang="zh-CN" altLang="en-US" sz="105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49" name="文本框 5"/>
          <p:cNvSpPr txBox="1"/>
          <p:nvPr/>
        </p:nvSpPr>
        <p:spPr>
          <a:xfrm>
            <a:off x="5663974" y="3208000"/>
            <a:ext cx="134214" cy="180000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050" b="1" dirty="0">
                <a:solidFill>
                  <a:srgbClr val="C00000"/>
                </a:solidFill>
                <a:latin typeface="Times New Roman"/>
                <a:cs typeface="Times New Roman"/>
                <a:sym typeface="Wingdings"/>
              </a:rPr>
              <a:t></a:t>
            </a:r>
            <a:endParaRPr lang="zh-CN" altLang="en-US" sz="1400" dirty="0">
              <a:latin typeface="宋体"/>
              <a:cs typeface="宋体"/>
            </a:endParaRPr>
          </a:p>
        </p:txBody>
      </p:sp>
      <p:sp>
        <p:nvSpPr>
          <p:cNvPr id="50" name="文本框 5"/>
          <p:cNvSpPr txBox="1"/>
          <p:nvPr/>
        </p:nvSpPr>
        <p:spPr>
          <a:xfrm>
            <a:off x="6883315" y="3209146"/>
            <a:ext cx="134214" cy="180000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050" b="1" dirty="0">
                <a:solidFill>
                  <a:srgbClr val="C00000"/>
                </a:solidFill>
                <a:latin typeface="Times New Roman"/>
                <a:cs typeface="Times New Roman"/>
                <a:sym typeface="Wingdings"/>
              </a:rPr>
              <a:t></a:t>
            </a:r>
            <a:endParaRPr lang="zh-CN" altLang="en-US" sz="1400" dirty="0">
              <a:latin typeface="宋体"/>
              <a:cs typeface="宋体"/>
            </a:endParaRPr>
          </a:p>
        </p:txBody>
      </p:sp>
      <p:sp>
        <p:nvSpPr>
          <p:cNvPr id="51" name="文本框 5"/>
          <p:cNvSpPr txBox="1"/>
          <p:nvPr/>
        </p:nvSpPr>
        <p:spPr>
          <a:xfrm>
            <a:off x="8149520" y="3208000"/>
            <a:ext cx="134214" cy="180000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050" b="1" dirty="0">
                <a:solidFill>
                  <a:srgbClr val="C00000"/>
                </a:solidFill>
                <a:latin typeface="Times New Roman"/>
                <a:cs typeface="Times New Roman"/>
                <a:sym typeface="Wingdings"/>
              </a:rPr>
              <a:t></a:t>
            </a:r>
            <a:endParaRPr lang="zh-CN" altLang="en-US" sz="1400" dirty="0">
              <a:latin typeface="宋体"/>
              <a:cs typeface="宋体"/>
            </a:endParaRPr>
          </a:p>
        </p:txBody>
      </p:sp>
      <p:sp>
        <p:nvSpPr>
          <p:cNvPr id="52" name="文本框 321567"/>
          <p:cNvSpPr txBox="1"/>
          <p:nvPr/>
        </p:nvSpPr>
        <p:spPr>
          <a:xfrm>
            <a:off x="3537901" y="4209819"/>
            <a:ext cx="132502" cy="188537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altLang="zh-CN" sz="1050" b="1" dirty="0">
                <a:solidFill>
                  <a:srgbClr val="C00000"/>
                </a:solidFill>
                <a:latin typeface="Times New Roman"/>
                <a:cs typeface="Times New Roman"/>
                <a:sym typeface="Wingdings"/>
              </a:rPr>
              <a:t></a:t>
            </a:r>
            <a:endParaRPr lang="zh-CN" altLang="en-US" sz="105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53" name="文本框 5"/>
          <p:cNvSpPr txBox="1"/>
          <p:nvPr/>
        </p:nvSpPr>
        <p:spPr>
          <a:xfrm>
            <a:off x="5693929" y="4209819"/>
            <a:ext cx="108842" cy="188537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050" b="1">
                <a:solidFill>
                  <a:srgbClr val="C00000"/>
                </a:solidFill>
                <a:latin typeface="Times New Roman"/>
                <a:cs typeface="Times New Roman"/>
                <a:sym typeface="Wingdings"/>
              </a:rPr>
              <a:t></a:t>
            </a:r>
            <a:endParaRPr lang="zh-CN" altLang="en-US" sz="1400">
              <a:latin typeface="宋体"/>
              <a:cs typeface="宋体"/>
            </a:endParaRPr>
          </a:p>
        </p:txBody>
      </p:sp>
      <p:sp>
        <p:nvSpPr>
          <p:cNvPr id="54" name="文本框 5"/>
          <p:cNvSpPr txBox="1"/>
          <p:nvPr/>
        </p:nvSpPr>
        <p:spPr>
          <a:xfrm>
            <a:off x="4627745" y="4209819"/>
            <a:ext cx="108842" cy="188537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050" b="1" dirty="0">
                <a:solidFill>
                  <a:srgbClr val="C00000"/>
                </a:solidFill>
                <a:latin typeface="Times New Roman"/>
                <a:cs typeface="Times New Roman"/>
                <a:sym typeface="Wingdings"/>
              </a:rPr>
              <a:t></a:t>
            </a:r>
            <a:endParaRPr lang="zh-CN" altLang="en-US" sz="1400" dirty="0">
              <a:latin typeface="宋体"/>
              <a:cs typeface="宋体"/>
            </a:endParaRPr>
          </a:p>
        </p:txBody>
      </p:sp>
      <p:sp>
        <p:nvSpPr>
          <p:cNvPr id="55" name="文本框 5"/>
          <p:cNvSpPr txBox="1"/>
          <p:nvPr/>
        </p:nvSpPr>
        <p:spPr>
          <a:xfrm>
            <a:off x="8892480" y="4209819"/>
            <a:ext cx="108842" cy="188537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050" b="1" dirty="0">
                <a:solidFill>
                  <a:srgbClr val="C00000"/>
                </a:solidFill>
                <a:latin typeface="Times New Roman"/>
                <a:cs typeface="Times New Roman"/>
                <a:sym typeface="Wingdings"/>
              </a:rPr>
              <a:t></a:t>
            </a:r>
            <a:endParaRPr lang="zh-CN" altLang="en-US" sz="1400" dirty="0">
              <a:latin typeface="宋体"/>
              <a:cs typeface="宋体"/>
            </a:endParaRPr>
          </a:p>
        </p:txBody>
      </p:sp>
      <p:cxnSp>
        <p:nvCxnSpPr>
          <p:cNvPr id="57" name="直接连接符 56"/>
          <p:cNvCxnSpPr>
            <a:stCxn id="20" idx="4"/>
            <a:endCxn id="27" idx="0"/>
          </p:cNvCxnSpPr>
          <p:nvPr/>
        </p:nvCxnSpPr>
        <p:spPr>
          <a:xfrm>
            <a:off x="7702035" y="3593115"/>
            <a:ext cx="843529" cy="577980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20" idx="4"/>
            <a:endCxn id="25" idx="0"/>
          </p:cNvCxnSpPr>
          <p:nvPr/>
        </p:nvCxnSpPr>
        <p:spPr>
          <a:xfrm flipH="1">
            <a:off x="5269480" y="3593115"/>
            <a:ext cx="2432554" cy="577980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20" idx="4"/>
            <a:endCxn id="34" idx="0"/>
          </p:cNvCxnSpPr>
          <p:nvPr/>
        </p:nvCxnSpPr>
        <p:spPr>
          <a:xfrm flipH="1">
            <a:off x="7413034" y="3593115"/>
            <a:ext cx="289000" cy="577980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18" idx="4"/>
            <a:endCxn id="60" idx="0"/>
          </p:cNvCxnSpPr>
          <p:nvPr/>
        </p:nvCxnSpPr>
        <p:spPr>
          <a:xfrm>
            <a:off x="5221813" y="3593115"/>
            <a:ext cx="1117387" cy="57798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stCxn id="21" idx="4"/>
            <a:endCxn id="63" idx="0"/>
          </p:cNvCxnSpPr>
          <p:nvPr/>
        </p:nvCxnSpPr>
        <p:spPr>
          <a:xfrm>
            <a:off x="3141864" y="4598759"/>
            <a:ext cx="2010921" cy="77884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21" idx="4"/>
            <a:endCxn id="64" idx="0"/>
          </p:cNvCxnSpPr>
          <p:nvPr/>
        </p:nvCxnSpPr>
        <p:spPr>
          <a:xfrm>
            <a:off x="3141863" y="4598759"/>
            <a:ext cx="757468" cy="77884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stCxn id="18" idx="4"/>
            <a:endCxn id="21" idx="0"/>
          </p:cNvCxnSpPr>
          <p:nvPr/>
        </p:nvCxnSpPr>
        <p:spPr>
          <a:xfrm flipH="1">
            <a:off x="3141864" y="3593115"/>
            <a:ext cx="2079949" cy="577980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19" idx="4"/>
            <a:endCxn id="24" idx="0"/>
          </p:cNvCxnSpPr>
          <p:nvPr/>
        </p:nvCxnSpPr>
        <p:spPr>
          <a:xfrm flipH="1">
            <a:off x="4205673" y="3593115"/>
            <a:ext cx="2256251" cy="577980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19" idx="4"/>
            <a:endCxn id="60" idx="0"/>
          </p:cNvCxnSpPr>
          <p:nvPr/>
        </p:nvCxnSpPr>
        <p:spPr>
          <a:xfrm flipH="1">
            <a:off x="6339199" y="3593115"/>
            <a:ext cx="122724" cy="577980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24" idx="4"/>
            <a:endCxn id="64" idx="0"/>
          </p:cNvCxnSpPr>
          <p:nvPr/>
        </p:nvCxnSpPr>
        <p:spPr>
          <a:xfrm flipH="1">
            <a:off x="3899332" y="4598759"/>
            <a:ext cx="306341" cy="778842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25" idx="4"/>
            <a:endCxn id="63" idx="0"/>
          </p:cNvCxnSpPr>
          <p:nvPr/>
        </p:nvCxnSpPr>
        <p:spPr>
          <a:xfrm flipH="1">
            <a:off x="5152784" y="4598759"/>
            <a:ext cx="116696" cy="778842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25" idx="4"/>
            <a:endCxn id="45" idx="0"/>
          </p:cNvCxnSpPr>
          <p:nvPr/>
        </p:nvCxnSpPr>
        <p:spPr>
          <a:xfrm>
            <a:off x="5269481" y="4598759"/>
            <a:ext cx="1136757" cy="769976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60" idx="4"/>
            <a:endCxn id="64" idx="0"/>
          </p:cNvCxnSpPr>
          <p:nvPr/>
        </p:nvCxnSpPr>
        <p:spPr>
          <a:xfrm flipH="1">
            <a:off x="3899331" y="4598759"/>
            <a:ext cx="2439868" cy="778842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34" idx="4"/>
            <a:endCxn id="63" idx="0"/>
          </p:cNvCxnSpPr>
          <p:nvPr/>
        </p:nvCxnSpPr>
        <p:spPr>
          <a:xfrm flipH="1">
            <a:off x="5152784" y="4598759"/>
            <a:ext cx="2260250" cy="778842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34" idx="4"/>
            <a:endCxn id="44" idx="0"/>
          </p:cNvCxnSpPr>
          <p:nvPr/>
        </p:nvCxnSpPr>
        <p:spPr>
          <a:xfrm>
            <a:off x="7413035" y="4598759"/>
            <a:ext cx="246655" cy="769976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>
            <a:stCxn id="27" idx="4"/>
            <a:endCxn id="44" idx="0"/>
          </p:cNvCxnSpPr>
          <p:nvPr/>
        </p:nvCxnSpPr>
        <p:spPr>
          <a:xfrm flipH="1">
            <a:off x="7659689" y="4598759"/>
            <a:ext cx="885874" cy="769976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27" idx="4"/>
            <a:endCxn id="45" idx="0"/>
          </p:cNvCxnSpPr>
          <p:nvPr/>
        </p:nvCxnSpPr>
        <p:spPr>
          <a:xfrm flipH="1">
            <a:off x="6406237" y="4598759"/>
            <a:ext cx="2139326" cy="769976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云形标注 77"/>
          <p:cNvSpPr/>
          <p:nvPr/>
        </p:nvSpPr>
        <p:spPr>
          <a:xfrm>
            <a:off x="-3852936" y="2348880"/>
            <a:ext cx="3024336" cy="1829522"/>
          </a:xfrm>
          <a:prstGeom prst="cloudCallou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在格结构中，由这些关联规则向下衍生出来的规则，需要进行置</a:t>
            </a:r>
            <a:r>
              <a:rPr lang="zh-CN" altLang="en-US" b="1" dirty="0"/>
              <a:t>信度阈值</a:t>
            </a:r>
            <a:r>
              <a:rPr lang="zh-CN" altLang="en-US" dirty="0"/>
              <a:t>检验；</a:t>
            </a:r>
          </a:p>
        </p:txBody>
      </p:sp>
    </p:spTree>
    <p:extLst>
      <p:ext uri="{BB962C8B-B14F-4D97-AF65-F5344CB8AC3E}">
        <p14:creationId xmlns:p14="http://schemas.microsoft.com/office/powerpoint/2010/main" val="105605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7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500"/>
                            </p:stCondLst>
                            <p:childTnLst>
                              <p:par>
                                <p:cTn id="13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000"/>
                            </p:stCondLst>
                            <p:childTnLst>
                              <p:par>
                                <p:cTn id="14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5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4000"/>
                            </p:stCondLst>
                            <p:childTnLst>
                              <p:par>
                                <p:cTn id="15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4500"/>
                            </p:stCondLst>
                            <p:childTnLst>
                              <p:par>
                                <p:cTn id="15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50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6000"/>
                            </p:stCondLst>
                            <p:childTnLst>
                              <p:par>
                                <p:cTn id="17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200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 animBg="1"/>
      <p:bldP spid="29" grpId="0" animBg="1"/>
      <p:bldP spid="30" grpId="0" animBg="1"/>
      <p:bldP spid="30" grpId="1" animBg="1"/>
      <p:bldP spid="31" grpId="0" animBg="1"/>
      <p:bldP spid="32" grpId="0" animBg="1"/>
      <p:bldP spid="3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7" grpId="0" animBg="1"/>
      <p:bldP spid="34" grpId="0" animBg="1"/>
      <p:bldP spid="60" grpId="0" animBg="1"/>
      <p:bldP spid="25" grpId="0" animBg="1"/>
      <p:bldP spid="24" grpId="0" animBg="1"/>
      <p:bldP spid="21" grpId="0" animBg="1"/>
      <p:bldP spid="44" grpId="0" animBg="1"/>
      <p:bldP spid="45" grpId="0" animBg="1"/>
      <p:bldP spid="63" grpId="0" animBg="1"/>
      <p:bldP spid="64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购物篮分析</a:t>
            </a:r>
          </a:p>
        </p:txBody>
      </p:sp>
      <p:sp>
        <p:nvSpPr>
          <p:cNvPr id="5" name="矩形 4"/>
          <p:cNvSpPr/>
          <p:nvPr/>
        </p:nvSpPr>
        <p:spPr>
          <a:xfrm>
            <a:off x="6804250" y="1095941"/>
            <a:ext cx="17363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支持度计数≥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04248" y="1383914"/>
            <a:ext cx="1544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置信度≥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0.85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4" y="1712446"/>
            <a:ext cx="3016017" cy="1846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801" y="1938435"/>
            <a:ext cx="1638205" cy="351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矩形 35"/>
          <p:cNvSpPr/>
          <p:nvPr/>
        </p:nvSpPr>
        <p:spPr>
          <a:xfrm>
            <a:off x="179512" y="4141880"/>
            <a:ext cx="29885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关联规则： </a:t>
            </a:r>
            <a:endParaRPr lang="en-US" altLang="zh-CN" b="1" dirty="0">
              <a:latin typeface="Courier New" pitchFamily="49" charset="0"/>
              <a:ea typeface="华文细黑" pitchFamily="2" charset="-122"/>
              <a:cs typeface="Courier New" pitchFamily="49" charset="0"/>
            </a:endParaRPr>
          </a:p>
          <a:p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    {I7}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{I1}</a:t>
            </a:r>
            <a:r>
              <a:rPr lang="zh-CN" altLang="en-US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，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1.0</a:t>
            </a:r>
          </a:p>
          <a:p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    {I7}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{I2}</a:t>
            </a:r>
            <a:r>
              <a:rPr lang="zh-CN" altLang="en-US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，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1.0</a:t>
            </a:r>
            <a:endParaRPr lang="zh-CN" altLang="en-US" b="1" dirty="0">
              <a:latin typeface="Courier New" pitchFamily="49" charset="0"/>
              <a:ea typeface="华文细黑" pitchFamily="2" charset="-122"/>
              <a:cs typeface="Courier New" pitchFamily="49" charset="0"/>
            </a:endParaRPr>
          </a:p>
        </p:txBody>
      </p:sp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964" y="3429000"/>
            <a:ext cx="2518601" cy="692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7" name="直接箭头连接符 36"/>
          <p:cNvCxnSpPr/>
          <p:nvPr/>
        </p:nvCxnSpPr>
        <p:spPr>
          <a:xfrm>
            <a:off x="3471765" y="2207908"/>
            <a:ext cx="1532285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711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799" y="2392086"/>
            <a:ext cx="1972532" cy="86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" name="矩形 38"/>
          <p:cNvSpPr/>
          <p:nvPr/>
        </p:nvSpPr>
        <p:spPr>
          <a:xfrm>
            <a:off x="5976488" y="4401110"/>
            <a:ext cx="298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{I1 I2 I3}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{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I7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}</a:t>
            </a:r>
            <a:r>
              <a:rPr lang="zh-CN" altLang="en-US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，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1.0</a:t>
            </a:r>
          </a:p>
          <a:p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{I1 I3 I7}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{I2}</a:t>
            </a:r>
            <a:r>
              <a:rPr lang="zh-CN" altLang="en-US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，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1.0</a:t>
            </a:r>
          </a:p>
          <a:p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{I3 I7}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{I1 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I2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}</a:t>
            </a:r>
            <a:r>
              <a:rPr lang="zh-CN" altLang="en-US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，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1.0</a:t>
            </a:r>
          </a:p>
          <a:p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{I2 I3 I7}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{I1}</a:t>
            </a:r>
            <a:r>
              <a:rPr lang="zh-CN" altLang="en-US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，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1.0</a:t>
            </a:r>
            <a:endParaRPr lang="zh-CN" altLang="en-US" b="1" dirty="0">
              <a:latin typeface="Courier New" pitchFamily="49" charset="0"/>
              <a:ea typeface="华文细黑" pitchFamily="2" charset="-122"/>
              <a:cs typeface="Courier New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24144" y="4401108"/>
            <a:ext cx="28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I1 I7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}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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I2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}</a:t>
            </a:r>
            <a:r>
              <a:rPr lang="zh-CN" altLang="en-US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，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1.0</a:t>
            </a:r>
          </a:p>
          <a:p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I7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}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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I1 I2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}</a:t>
            </a:r>
            <a:r>
              <a:rPr lang="zh-CN" altLang="en-US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，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1.0</a:t>
            </a:r>
          </a:p>
          <a:p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I2 I7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}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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I1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}</a:t>
            </a:r>
            <a:r>
              <a:rPr lang="zh-CN" altLang="en-US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，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1.0</a:t>
            </a:r>
          </a:p>
          <a:p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I3 I7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}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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I1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}</a:t>
            </a:r>
            <a:r>
              <a:rPr lang="zh-CN" altLang="en-US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，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1.0</a:t>
            </a:r>
          </a:p>
          <a:p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I3 I7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}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  <a:sym typeface="Wingdings" pitchFamily="2" charset="2"/>
              </a:rPr>
              <a:t>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{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I2</a:t>
            </a:r>
            <a:r>
              <a:rPr lang="en-US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}</a:t>
            </a:r>
            <a:r>
              <a:rPr lang="zh-CN" altLang="en-US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，</a:t>
            </a:r>
            <a:r>
              <a:rPr lang="nn-NO" altLang="zh-CN" b="1" dirty="0">
                <a:latin typeface="Courier New" pitchFamily="49" charset="0"/>
                <a:ea typeface="华文细黑" pitchFamily="2" charset="-122"/>
                <a:cs typeface="Courier New" pitchFamily="49" charset="0"/>
              </a:rPr>
              <a:t>1.0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6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  <p:bldP spid="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关联规则的强度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关联规则</a:t>
            </a:r>
            <a:r>
              <a:rPr lang="en-US" altLang="zh-CN" i="1" dirty="0"/>
              <a:t>X</a:t>
            </a:r>
            <a:r>
              <a:rPr lang="en-US" altLang="zh-CN" dirty="0">
                <a:sym typeface="Wingdings 3"/>
              </a:rPr>
              <a:t></a:t>
            </a:r>
            <a:r>
              <a:rPr lang="en-US" altLang="zh-CN" i="1" dirty="0">
                <a:sym typeface="Wingdings" pitchFamily="2" charset="2"/>
              </a:rPr>
              <a:t>Y</a:t>
            </a:r>
            <a:r>
              <a:rPr lang="zh-CN" altLang="zh-CN" dirty="0"/>
              <a:t>的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强度</a:t>
            </a:r>
            <a:r>
              <a:rPr lang="zh-CN" altLang="en-US" dirty="0"/>
              <a:t>的度量指标：</a:t>
            </a:r>
            <a:endParaRPr lang="en-US" altLang="zh-CN" dirty="0"/>
          </a:p>
          <a:p>
            <a:pPr lvl="1"/>
            <a:r>
              <a:rPr lang="zh-CN" altLang="zh-CN" dirty="0"/>
              <a:t>支持度</a:t>
            </a:r>
            <a:r>
              <a:rPr lang="en-US" altLang="zh-CN" dirty="0"/>
              <a:t> </a:t>
            </a:r>
            <a:r>
              <a:rPr lang="en-US" altLang="zh-CN" i="1" dirty="0"/>
              <a:t>s </a:t>
            </a:r>
            <a:r>
              <a:rPr lang="zh-CN" altLang="en-US" dirty="0"/>
              <a:t>：</a:t>
            </a:r>
            <a:r>
              <a:rPr lang="zh-CN" altLang="zh-CN" dirty="0"/>
              <a:t>确定规则可以用于给定数据集的频繁程度</a:t>
            </a:r>
            <a:endParaRPr lang="en-US" altLang="zh-CN" dirty="0"/>
          </a:p>
          <a:p>
            <a:pPr lvl="1"/>
            <a:r>
              <a:rPr lang="zh-CN" altLang="zh-CN" dirty="0"/>
              <a:t>置信度</a:t>
            </a:r>
            <a:r>
              <a:rPr lang="en-US" altLang="zh-CN" i="1" dirty="0"/>
              <a:t> c </a:t>
            </a:r>
            <a:r>
              <a:rPr lang="zh-CN" altLang="en-US" dirty="0"/>
              <a:t>：</a:t>
            </a:r>
            <a:r>
              <a:rPr lang="zh-CN" altLang="zh-CN" dirty="0"/>
              <a:t>确定</a:t>
            </a:r>
            <a:r>
              <a:rPr lang="en-US" altLang="zh-CN" dirty="0"/>
              <a:t> </a:t>
            </a:r>
            <a:r>
              <a:rPr lang="en-US" altLang="zh-CN" i="1" dirty="0"/>
              <a:t>Y </a:t>
            </a:r>
            <a:r>
              <a:rPr lang="zh-CN" altLang="zh-CN" dirty="0"/>
              <a:t>在包含</a:t>
            </a:r>
            <a:r>
              <a:rPr lang="en-US" altLang="zh-CN" dirty="0"/>
              <a:t> </a:t>
            </a:r>
            <a:r>
              <a:rPr lang="en-US" altLang="zh-CN" i="1" dirty="0"/>
              <a:t>X </a:t>
            </a:r>
            <a:r>
              <a:rPr lang="zh-CN" altLang="zh-CN" dirty="0"/>
              <a:t>的事务中出现的频繁程度</a:t>
            </a:r>
            <a:endParaRPr lang="en-US" altLang="zh-CN" dirty="0"/>
          </a:p>
          <a:p>
            <a:pPr lvl="1"/>
            <a:r>
              <a:rPr lang="zh-CN" altLang="en-US" dirty="0"/>
              <a:t>其他度量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83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从频繁项集中提取关联规则，是关联分析的重要一环</a:t>
            </a:r>
            <a:endParaRPr lang="en-US" altLang="zh-CN" dirty="0"/>
          </a:p>
          <a:p>
            <a:r>
              <a:rPr lang="zh-CN" altLang="en-US" dirty="0"/>
              <a:t>运用</a:t>
            </a:r>
            <a:r>
              <a:rPr lang="en-US" altLang="zh-CN" dirty="0"/>
              <a:t>Apriori</a:t>
            </a:r>
            <a:r>
              <a:rPr lang="zh-CN" altLang="en-US" dirty="0"/>
              <a:t>原理生成规则，可以大大降低计算复杂度</a:t>
            </a:r>
            <a:endParaRPr lang="en-US" altLang="zh-CN" dirty="0"/>
          </a:p>
          <a:p>
            <a:r>
              <a:rPr lang="zh-CN" altLang="en-US" dirty="0"/>
              <a:t>用计算机编程实现这一过程时，可以通过嵌套调用的方法来递归生成完备的关联规则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99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A35C535-0254-4C0D-814D-19B8A81C6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389134"/>
            <a:ext cx="7772400" cy="2079732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Q/A</a:t>
            </a:r>
            <a:br>
              <a:rPr lang="en-US" altLang="zh-CN" b="1" dirty="0"/>
            </a:br>
            <a:br>
              <a:rPr lang="en-US" altLang="zh-CN" b="1" dirty="0"/>
            </a:br>
            <a:r>
              <a:rPr lang="en-US" altLang="zh-CN" b="1" dirty="0"/>
              <a:t>  </a:t>
            </a:r>
            <a:r>
              <a:rPr lang="zh-CN" altLang="en-US" b="1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3896923420"/>
      </p:ext>
    </p:extLst>
  </p:cSld>
  <p:clrMapOvr>
    <a:masterClrMapping/>
  </p:clrMapOvr>
</p:sld>
</file>

<file path=ppt/theme/theme1.xml><?xml version="1.0" encoding="utf-8"?>
<a:theme xmlns:a="http://schemas.openxmlformats.org/drawingml/2006/main" name="白底灰边-Office2010风格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黑体+Times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白底灰边-Office2010风格" id="{A4FB97DD-19BC-49FC-8F3F-E7D8E49AC664}" vid="{03B40C34-2A24-480B-ADA3-2497218558F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白底灰边-Office2010风格</Template>
  <TotalTime>16466</TotalTime>
  <Words>7186</Words>
  <Application>Microsoft Office PowerPoint</Application>
  <PresentationFormat>全屏显示(4:3)</PresentationFormat>
  <Paragraphs>1205</Paragraphs>
  <Slides>72</Slides>
  <Notes>67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90" baseType="lpstr">
      <vt:lpstr>Arial Unicode MS</vt:lpstr>
      <vt:lpstr>Gulim</vt:lpstr>
      <vt:lpstr>黑体</vt:lpstr>
      <vt:lpstr>华文宋体</vt:lpstr>
      <vt:lpstr>华文细黑</vt:lpstr>
      <vt:lpstr>宋体</vt:lpstr>
      <vt:lpstr>微软雅黑</vt:lpstr>
      <vt:lpstr>Arial</vt:lpstr>
      <vt:lpstr>Calibri</vt:lpstr>
      <vt:lpstr>Cambria Math</vt:lpstr>
      <vt:lpstr>Courier New</vt:lpstr>
      <vt:lpstr>Times New Roman</vt:lpstr>
      <vt:lpstr>Verdana</vt:lpstr>
      <vt:lpstr>Wingdings</vt:lpstr>
      <vt:lpstr>Wingdings 2</vt:lpstr>
      <vt:lpstr>白底灰边-Office2010风格</vt:lpstr>
      <vt:lpstr>公式</vt:lpstr>
      <vt:lpstr>Visio</vt:lpstr>
      <vt:lpstr>Chapter06 Apriori 算法  授课老师：王丽苹    </vt:lpstr>
      <vt:lpstr>关联分析原理</vt:lpstr>
      <vt:lpstr>关联分析原理</vt:lpstr>
      <vt:lpstr>产生候选项集</vt:lpstr>
      <vt:lpstr>暴力破解(Brute-force)法</vt:lpstr>
      <vt:lpstr>暴力破解(Brute-force)法</vt:lpstr>
      <vt:lpstr>产生频繁项集</vt:lpstr>
      <vt:lpstr>先验算法Apriori</vt:lpstr>
      <vt:lpstr>先验原理Apriori</vt:lpstr>
      <vt:lpstr>先验原理Apriori</vt:lpstr>
      <vt:lpstr>例1：产生频繁项集</vt:lpstr>
      <vt:lpstr>例1：产生频繁项集</vt:lpstr>
      <vt:lpstr>例1：产生频繁项集</vt:lpstr>
      <vt:lpstr>例1：产生频繁项集</vt:lpstr>
      <vt:lpstr>先验算法Apriori</vt:lpstr>
      <vt:lpstr>先验算法Apriori</vt:lpstr>
      <vt:lpstr>练习1</vt:lpstr>
      <vt:lpstr>练习1</vt:lpstr>
      <vt:lpstr>几个问题</vt:lpstr>
      <vt:lpstr>产生候选项集</vt:lpstr>
      <vt:lpstr>产生候选项集</vt:lpstr>
      <vt:lpstr>产生候选项集</vt:lpstr>
      <vt:lpstr>产生候选项集</vt:lpstr>
      <vt:lpstr>产生候选项集</vt:lpstr>
      <vt:lpstr>产生候选项集</vt:lpstr>
      <vt:lpstr>算法示例使用 Fk-1Fk-1方法</vt:lpstr>
      <vt:lpstr>几个问题</vt:lpstr>
      <vt:lpstr>用事务去逐个统计候选项集</vt:lpstr>
      <vt:lpstr>枚举各事务中的项集并计数</vt:lpstr>
      <vt:lpstr>枚举各事务中的项集并计数</vt:lpstr>
      <vt:lpstr>利用Hash树计算支持度</vt:lpstr>
      <vt:lpstr>Hash树原理</vt:lpstr>
      <vt:lpstr>计算支持度</vt:lpstr>
      <vt:lpstr>计算支持度</vt:lpstr>
      <vt:lpstr>计算支持度</vt:lpstr>
      <vt:lpstr>计算支持度</vt:lpstr>
      <vt:lpstr>计算支持度</vt:lpstr>
      <vt:lpstr>计算支持度</vt:lpstr>
      <vt:lpstr>计算支持度</vt:lpstr>
      <vt:lpstr>计算支持度</vt:lpstr>
      <vt:lpstr>计算支持度</vt:lpstr>
      <vt:lpstr>计算支持度</vt:lpstr>
      <vt:lpstr>计算支持度</vt:lpstr>
      <vt:lpstr>计算支持度</vt:lpstr>
      <vt:lpstr>计算支持度</vt:lpstr>
      <vt:lpstr>计算支持度</vt:lpstr>
      <vt:lpstr>K-候选项集Hash树</vt:lpstr>
      <vt:lpstr>小结</vt:lpstr>
      <vt:lpstr>Apriori算法复杂度</vt:lpstr>
      <vt:lpstr>Apriori算法复杂度</vt:lpstr>
      <vt:lpstr>Apriori算法复杂度</vt:lpstr>
      <vt:lpstr>Apriori算法复杂度</vt:lpstr>
      <vt:lpstr>如何产生关联规则</vt:lpstr>
      <vt:lpstr>关联规则产生</vt:lpstr>
      <vt:lpstr>关联规则产生</vt:lpstr>
      <vt:lpstr>关联规则产生</vt:lpstr>
      <vt:lpstr>生成“候选”规则</vt:lpstr>
      <vt:lpstr>暴力破解法(Brute-force approach）</vt:lpstr>
      <vt:lpstr>Apriori原理</vt:lpstr>
      <vt:lpstr>按照Apriori原理</vt:lpstr>
      <vt:lpstr>按照Apriori原理</vt:lpstr>
      <vt:lpstr>算法</vt:lpstr>
      <vt:lpstr>【例】购物篮分析</vt:lpstr>
      <vt:lpstr>【例】购物篮分析</vt:lpstr>
      <vt:lpstr>【例】购物篮分析</vt:lpstr>
      <vt:lpstr>【例】购物篮分析</vt:lpstr>
      <vt:lpstr>【例】购物篮分析</vt:lpstr>
      <vt:lpstr>【例】购物篮分析</vt:lpstr>
      <vt:lpstr>【例】购物篮分析</vt:lpstr>
      <vt:lpstr>关联规则的强度</vt:lpstr>
      <vt:lpstr>小结</vt:lpstr>
      <vt:lpstr>Q/A    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wuxf</dc:creator>
  <cp:lastModifiedBy>Liping Wang</cp:lastModifiedBy>
  <cp:revision>1678</cp:revision>
  <dcterms:created xsi:type="dcterms:W3CDTF">2018-01-15T02:11:01Z</dcterms:created>
  <dcterms:modified xsi:type="dcterms:W3CDTF">2025-11-12T12:12:18Z</dcterms:modified>
</cp:coreProperties>
</file>