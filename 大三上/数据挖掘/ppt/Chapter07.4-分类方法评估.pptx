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6"/>
  </p:notesMasterIdLst>
  <p:sldIdLst>
    <p:sldId id="732" r:id="rId2"/>
    <p:sldId id="583" r:id="rId3"/>
    <p:sldId id="584" r:id="rId4"/>
    <p:sldId id="585" r:id="rId5"/>
    <p:sldId id="586" r:id="rId6"/>
    <p:sldId id="587" r:id="rId7"/>
    <p:sldId id="588" r:id="rId8"/>
    <p:sldId id="589" r:id="rId9"/>
    <p:sldId id="605" r:id="rId10"/>
    <p:sldId id="590" r:id="rId11"/>
    <p:sldId id="591" r:id="rId12"/>
    <p:sldId id="592" r:id="rId13"/>
    <p:sldId id="593" r:id="rId14"/>
    <p:sldId id="594" r:id="rId15"/>
    <p:sldId id="595" r:id="rId16"/>
    <p:sldId id="597" r:id="rId17"/>
    <p:sldId id="596" r:id="rId18"/>
    <p:sldId id="598" r:id="rId19"/>
    <p:sldId id="599" r:id="rId20"/>
    <p:sldId id="600" r:id="rId21"/>
    <p:sldId id="601" r:id="rId22"/>
    <p:sldId id="602" r:id="rId23"/>
    <p:sldId id="603" r:id="rId24"/>
    <p:sldId id="604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4FFE032-328D-49EB-B855-902367DC258C}">
          <p14:sldIdLst>
            <p14:sldId id="732"/>
            <p14:sldId id="583"/>
            <p14:sldId id="584"/>
            <p14:sldId id="585"/>
            <p14:sldId id="586"/>
            <p14:sldId id="587"/>
            <p14:sldId id="588"/>
            <p14:sldId id="589"/>
            <p14:sldId id="605"/>
            <p14:sldId id="590"/>
            <p14:sldId id="591"/>
            <p14:sldId id="592"/>
            <p14:sldId id="593"/>
            <p14:sldId id="594"/>
            <p14:sldId id="595"/>
            <p14:sldId id="597"/>
            <p14:sldId id="596"/>
            <p14:sldId id="598"/>
            <p14:sldId id="599"/>
            <p14:sldId id="600"/>
            <p14:sldId id="601"/>
            <p14:sldId id="602"/>
            <p14:sldId id="603"/>
            <p14:sldId id="604"/>
          </p14:sldIdLst>
        </p14:section>
        <p14:section name="默认节" id="{192AD7C6-2A2E-4B11-AEAB-D0CE9CBC7A9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0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0BD"/>
    <a:srgbClr val="FFAAA9"/>
    <a:srgbClr val="FFE1E1"/>
    <a:srgbClr val="E3FDBE"/>
    <a:srgbClr val="DCFDAB"/>
    <a:srgbClr val="DBFDAA"/>
    <a:srgbClr val="ECE5F7"/>
    <a:srgbClr val="E1D6F2"/>
    <a:srgbClr val="DCFDAD"/>
    <a:srgbClr val="D4C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91"/>
    <p:restoredTop sz="85429" autoAdjust="0"/>
  </p:normalViewPr>
  <p:slideViewPr>
    <p:cSldViewPr snapToGrid="0">
      <p:cViewPr varScale="1">
        <p:scale>
          <a:sx n="75" d="100"/>
          <a:sy n="75" d="100"/>
        </p:scale>
        <p:origin x="1516" y="36"/>
      </p:cViewPr>
      <p:guideLst>
        <p:guide orient="horz" pos="20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7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50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TPRw</a:t>
            </a:r>
            <a:r>
              <a:rPr lang="en-US" altLang="zh-CN" dirty="0"/>
              <a:t>= 0.25*1+2/3*3/4= 0.75</a:t>
            </a:r>
          </a:p>
          <a:p>
            <a:endParaRPr lang="en-US" altLang="zh-CN" dirty="0"/>
          </a:p>
          <a:p>
            <a:r>
              <a:rPr lang="en-US" altLang="zh-CN" dirty="0"/>
              <a:t>FPR = 0.25*1/3+3/4*0=1/12=0.0833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61C67-365B-455B-8333-B2F3856160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22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71BA0-65A0-4D88-A88C-52F75FE82250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58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71BA0-65A0-4D88-A88C-52F75FE82250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159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71BA0-65A0-4D88-A88C-52F75FE82250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972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71BA0-65A0-4D88-A88C-52F75FE82250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307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227D-433A-4170-8D2B-E743DE67A5F1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9C89-BBCE-4C16-9614-B392A3BA7400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C58C-8C13-420D-9F96-6FD1211AE27D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7DDF-30FD-4764-8426-0026019C1AAC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F5C-BF27-42B1-8595-0049D859747C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C1734-FB7A-4CAC-8F01-A63331DA0709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9143-C5CC-4FB9-B516-421555419196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448D0-E7CD-40CF-B7B6-207F8438BDBB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FC7B-D54D-402D-AFC8-A99A536E4442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0CEF-4BE9-4574-B75B-6BD7A9EE6402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5DC-7D2B-4988-996B-80F44C80492F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8F42B7E9-5AE7-4498-A2E4-548B41822D3C}" type="datetime1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680" indent="-36068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6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9205" indent="-26860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60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png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3712" y="2369184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监督学习模型的评估</a:t>
            </a:r>
            <a:br>
              <a:rPr lang="en-US" altLang="zh-CN" sz="3600" b="1" dirty="0"/>
            </a:br>
            <a:r>
              <a:rPr lang="zh-CN" altLang="en-US" sz="3600" b="1" dirty="0">
                <a:solidFill>
                  <a:schemeClr val="tx2"/>
                </a:solidFill>
              </a:rPr>
              <a:t>王丽苹</a:t>
            </a:r>
            <a:br>
              <a:rPr lang="en-US" altLang="zh-CN" sz="3100" dirty="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zh-CN" altLang="en-US" sz="31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chemeClr val="tx1"/>
                </a:solidFill>
              </a:rPr>
            </a:br>
            <a:endParaRPr lang="zh-CN" altLang="en-US" sz="3100" dirty="0">
              <a:solidFill>
                <a:schemeClr val="tx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fld id="{3504A2C2-073E-4849-B03F-707659FDD997}" type="datetimeyyyy">
              <a:rPr lang="en-US" altLang="zh-CN" b="1" smtClean="0">
                <a:ea typeface="微软雅黑" panose="020B0503020204020204" pitchFamily="34" charset="-122"/>
                <a:cs typeface="微软雅黑" panose="020B0503020204020204" pitchFamily="34" charset="-122"/>
              </a:rPr>
              <a:pPr/>
              <a:t>2025</a:t>
            </a:fld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4C42C8-C228-45C7-A723-EEC9F9A89A72}"/>
              </a:ext>
            </a:extLst>
          </p:cNvPr>
          <p:cNvSpPr/>
          <p:nvPr/>
        </p:nvSpPr>
        <p:spPr>
          <a:xfrm>
            <a:off x="6474416" y="35264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《</a:t>
            </a:r>
            <a:r>
              <a:rPr lang="zh-CN" altLang="en-US" sz="2000" dirty="0"/>
              <a:t>数据挖掘</a:t>
            </a:r>
            <a:r>
              <a:rPr lang="en-US" altLang="zh-CN" sz="2000" dirty="0"/>
              <a:t>》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115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模型评估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一个好的分类算法不仅要能够很好的拟合训练数据，而且对未知样本也要能准确分类。</a:t>
            </a:r>
            <a:endParaRPr lang="en-US" altLang="zh-CN" dirty="0"/>
          </a:p>
          <a:p>
            <a:r>
              <a:rPr lang="zh-CN" altLang="en-US" dirty="0"/>
              <a:t>模型建立之后，需要对其性能进行评估</a:t>
            </a:r>
            <a:endParaRPr lang="en-US" altLang="zh-CN" dirty="0"/>
          </a:p>
          <a:p>
            <a:pPr lvl="1"/>
            <a:r>
              <a:rPr lang="zh-CN" altLang="en-US" dirty="0"/>
              <a:t>准确性评估</a:t>
            </a:r>
            <a:endParaRPr lang="en-US" altLang="zh-CN" dirty="0"/>
          </a:p>
          <a:p>
            <a:pPr lvl="1"/>
            <a:r>
              <a:rPr lang="zh-CN" altLang="en-US" dirty="0"/>
              <a:t>有效性评估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2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线形标注 2 4"/>
          <p:cNvSpPr/>
          <p:nvPr/>
        </p:nvSpPr>
        <p:spPr>
          <a:xfrm>
            <a:off x="4284328" y="2511003"/>
            <a:ext cx="3312000" cy="864000"/>
          </a:xfrm>
          <a:prstGeom prst="borderCallout2">
            <a:avLst>
              <a:gd name="adj1" fmla="val 18750"/>
              <a:gd name="adj2" fmla="val -1669"/>
              <a:gd name="adj3" fmla="val 18750"/>
              <a:gd name="adj4" fmla="val -10591"/>
              <a:gd name="adj5" fmla="val 33566"/>
              <a:gd name="adj6" fmla="val -5940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latin typeface="幼圆" pitchFamily="49" charset="-122"/>
                <a:ea typeface="幼圆" pitchFamily="49" charset="-122"/>
              </a:rPr>
              <a:t>评价是否模型能够在一定的程度上满足准确性的标准</a:t>
            </a:r>
          </a:p>
        </p:txBody>
      </p:sp>
      <p:sp>
        <p:nvSpPr>
          <p:cNvPr id="6" name="线形标注 2 5"/>
          <p:cNvSpPr/>
          <p:nvPr/>
        </p:nvSpPr>
        <p:spPr>
          <a:xfrm>
            <a:off x="1223200" y="4408830"/>
            <a:ext cx="2664000" cy="720000"/>
          </a:xfrm>
          <a:prstGeom prst="borderCallout2">
            <a:avLst>
              <a:gd name="adj1" fmla="val 18054"/>
              <a:gd name="adj2" fmla="val -811"/>
              <a:gd name="adj3" fmla="val 19446"/>
              <a:gd name="adj4" fmla="val -9405"/>
              <a:gd name="adj5" fmla="val -140709"/>
              <a:gd name="adj6" fmla="val -220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latin typeface="幼圆" pitchFamily="49" charset="-122"/>
                <a:ea typeface="幼圆" pitchFamily="49" charset="-122"/>
              </a:rPr>
              <a:t>评价是否模型能够处理实际的问题（数据）</a:t>
            </a:r>
          </a:p>
        </p:txBody>
      </p:sp>
      <p:sp>
        <p:nvSpPr>
          <p:cNvPr id="7" name="线形标注 2 6"/>
          <p:cNvSpPr/>
          <p:nvPr/>
        </p:nvSpPr>
        <p:spPr>
          <a:xfrm>
            <a:off x="4211664" y="3458894"/>
            <a:ext cx="3240000" cy="1116000"/>
          </a:xfrm>
          <a:prstGeom prst="borderCallout2">
            <a:avLst>
              <a:gd name="adj1" fmla="val 18750"/>
              <a:gd name="adj2" fmla="val -1669"/>
              <a:gd name="adj3" fmla="val 18750"/>
              <a:gd name="adj4" fmla="val -10591"/>
              <a:gd name="adj5" fmla="val -57115"/>
              <a:gd name="adj6" fmla="val -5823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latin typeface="幼圆" pitchFamily="49" charset="-122"/>
                <a:ea typeface="幼圆" pitchFamily="49" charset="-122"/>
              </a:rPr>
              <a:t>分类算法的准确性评估的主要采用混淆矩阵、</a:t>
            </a:r>
            <a:r>
              <a:rPr lang="en-US" altLang="zh-CN" sz="2000" dirty="0">
                <a:latin typeface="幼圆" pitchFamily="49" charset="-122"/>
                <a:ea typeface="幼圆" pitchFamily="49" charset="-122"/>
              </a:rPr>
              <a:t>ROC</a:t>
            </a:r>
            <a:r>
              <a:rPr lang="zh-CN" altLang="en-US" sz="2000" dirty="0">
                <a:latin typeface="幼圆" pitchFamily="49" charset="-122"/>
                <a:ea typeface="幼圆" pitchFamily="49" charset="-122"/>
              </a:rPr>
              <a:t>曲线、提升度等方法和指标。</a:t>
            </a:r>
          </a:p>
        </p:txBody>
      </p:sp>
    </p:spTree>
    <p:extLst>
      <p:ext uri="{BB962C8B-B14F-4D97-AF65-F5344CB8AC3E}">
        <p14:creationId xmlns:p14="http://schemas.microsoft.com/office/powerpoint/2010/main" val="390466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二元分类评估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考虑一个二分问题，实例有正</a:t>
            </a:r>
            <a:r>
              <a:rPr lang="en-US" altLang="zh-CN" sz="2000" dirty="0"/>
              <a:t> </a:t>
            </a:r>
            <a:r>
              <a:rPr lang="en-US" altLang="zh-CN" dirty="0"/>
              <a:t>(positive) </a:t>
            </a:r>
            <a:r>
              <a:rPr lang="zh-CN" altLang="zh-CN" dirty="0"/>
              <a:t>类和负</a:t>
            </a:r>
            <a:r>
              <a:rPr lang="en-US" altLang="zh-CN" sz="2000" dirty="0"/>
              <a:t> </a:t>
            </a:r>
            <a:r>
              <a:rPr lang="en-US" altLang="zh-CN" dirty="0"/>
              <a:t>(negative)</a:t>
            </a:r>
            <a:r>
              <a:rPr lang="en-US" altLang="zh-CN" sz="3200" dirty="0"/>
              <a:t> </a:t>
            </a:r>
            <a:r>
              <a:rPr lang="zh-CN" altLang="zh-CN" dirty="0"/>
              <a:t>类两个类别。</a:t>
            </a:r>
            <a:endParaRPr lang="en-US" altLang="zh-CN" dirty="0"/>
          </a:p>
          <a:p>
            <a:r>
              <a:rPr lang="zh-CN" altLang="zh-CN" dirty="0"/>
              <a:t>进行分类预测分析时，会出现四种情况：</a:t>
            </a:r>
          </a:p>
          <a:p>
            <a:pPr lvl="1"/>
            <a:r>
              <a:rPr lang="zh-CN" altLang="zh-CN" dirty="0"/>
              <a:t>实例是正且被预测为正，记为</a:t>
            </a:r>
            <a:r>
              <a:rPr lang="en-US" altLang="zh-CN" dirty="0"/>
              <a:t>TP(true positive)</a:t>
            </a:r>
            <a:r>
              <a:rPr lang="zh-CN" altLang="zh-CN" dirty="0"/>
              <a:t>，称为真阳性；</a:t>
            </a:r>
          </a:p>
          <a:p>
            <a:pPr lvl="1"/>
            <a:r>
              <a:rPr lang="zh-CN" altLang="zh-CN" dirty="0"/>
              <a:t>实例为正而被预测为负，记为</a:t>
            </a:r>
            <a:r>
              <a:rPr lang="en-US" altLang="zh-CN" dirty="0"/>
              <a:t>FN(false negative)</a:t>
            </a:r>
            <a:r>
              <a:rPr lang="zh-CN" altLang="zh-CN" dirty="0"/>
              <a:t>，称为假阴性；</a:t>
            </a:r>
          </a:p>
          <a:p>
            <a:pPr lvl="1"/>
            <a:r>
              <a:rPr lang="zh-CN" altLang="zh-CN" dirty="0"/>
              <a:t>实例为负而被预测为正，记为</a:t>
            </a:r>
            <a:r>
              <a:rPr lang="en-US" altLang="zh-CN" dirty="0"/>
              <a:t>FP(false positive)</a:t>
            </a:r>
            <a:r>
              <a:rPr lang="zh-CN" altLang="zh-CN" dirty="0"/>
              <a:t>，称为假阳性；</a:t>
            </a:r>
          </a:p>
          <a:p>
            <a:pPr lvl="1"/>
            <a:r>
              <a:rPr lang="zh-CN" altLang="zh-CN" dirty="0"/>
              <a:t>实例为负且被预测为负，记为</a:t>
            </a:r>
            <a:r>
              <a:rPr lang="en-US" altLang="zh-CN" dirty="0"/>
              <a:t>TN(true negative)</a:t>
            </a:r>
            <a:r>
              <a:rPr lang="zh-CN" altLang="zh-CN" dirty="0"/>
              <a:t>，称为真阴性；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3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07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二元分类评估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对各种预测情况的实例数进行统计，并填入混淆矩阵，则可以根据这组数据，计算分类预测的几项评价指标。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4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32248" y="2852935"/>
          <a:ext cx="5892080" cy="2952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4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062"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预测分类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合计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062">
                <a:tc>
                  <a:txBody>
                    <a:bodyPr/>
                    <a:lstStyle/>
                    <a:p>
                      <a:endParaRPr lang="zh-CN" altLang="en-US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Positive</a:t>
                      </a:r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Negative</a:t>
                      </a:r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36">
                <a:tc rowSpan="2"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真分类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Positive</a:t>
                      </a:r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++</a:t>
                      </a:r>
                      <a:endParaRPr lang="zh-CN" altLang="en-US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+-</a:t>
                      </a:r>
                      <a:endParaRPr lang="zh-CN" altLang="en-US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36">
                <a:tc vMerge="1"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Negative</a:t>
                      </a:r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-+</a:t>
                      </a:r>
                      <a:endParaRPr lang="zh-CN" altLang="en-US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lang="en-US" altLang="zh-CN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--</a:t>
                      </a:r>
                      <a:endParaRPr lang="zh-CN" altLang="en-US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3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合计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943235" y="4139788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54951" y="4139788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36021" y="482386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62166" y="4823864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49273" y="5507940"/>
            <a:ext cx="840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TP+FP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50570" y="5507940"/>
            <a:ext cx="917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FN+TN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2078" y="4139788"/>
            <a:ext cx="878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TP+FN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12078" y="4823864"/>
            <a:ext cx="878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FP+TN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813730" y="5507940"/>
            <a:ext cx="1702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TP+FP+TN+FN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14007" y="513860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预测正</a:t>
            </a:r>
          </a:p>
        </p:txBody>
      </p:sp>
      <p:sp>
        <p:nvSpPr>
          <p:cNvPr id="17" name="矩形 16"/>
          <p:cNvSpPr/>
          <p:nvPr/>
        </p:nvSpPr>
        <p:spPr>
          <a:xfrm>
            <a:off x="4750570" y="513860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预测负</a:t>
            </a:r>
          </a:p>
        </p:txBody>
      </p:sp>
      <p:sp>
        <p:nvSpPr>
          <p:cNvPr id="18" name="矩形 17"/>
          <p:cNvSpPr/>
          <p:nvPr/>
        </p:nvSpPr>
        <p:spPr>
          <a:xfrm>
            <a:off x="6309861" y="377045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真正</a:t>
            </a:r>
          </a:p>
        </p:txBody>
      </p:sp>
      <p:sp>
        <p:nvSpPr>
          <p:cNvPr id="19" name="矩形 18"/>
          <p:cNvSpPr/>
          <p:nvPr/>
        </p:nvSpPr>
        <p:spPr>
          <a:xfrm>
            <a:off x="6309861" y="445453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真负</a:t>
            </a:r>
          </a:p>
        </p:txBody>
      </p:sp>
      <p:sp>
        <p:nvSpPr>
          <p:cNvPr id="20" name="矩形 19"/>
          <p:cNvSpPr/>
          <p:nvPr/>
        </p:nvSpPr>
        <p:spPr>
          <a:xfrm>
            <a:off x="6111087" y="51386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样本总数</a:t>
            </a:r>
          </a:p>
        </p:txBody>
      </p:sp>
    </p:spTree>
    <p:extLst>
      <p:ext uri="{BB962C8B-B14F-4D97-AF65-F5344CB8AC3E}">
        <p14:creationId xmlns:p14="http://schemas.microsoft.com/office/powerpoint/2010/main" val="287627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模型性能的评价指标有很多，目前应用较为广泛的有准确度、精确度、灵敏度、召回率、特异性等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5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线形标注 2(带强调线) 4"/>
          <p:cNvSpPr/>
          <p:nvPr/>
        </p:nvSpPr>
        <p:spPr>
          <a:xfrm>
            <a:off x="3023828" y="2130066"/>
            <a:ext cx="3096344" cy="800100"/>
          </a:xfrm>
          <a:prstGeom prst="accentCallout2">
            <a:avLst>
              <a:gd name="adj1" fmla="val 18750"/>
              <a:gd name="adj2" fmla="val -3411"/>
              <a:gd name="adj3" fmla="val 18750"/>
              <a:gd name="adj4" fmla="val -16667"/>
              <a:gd name="adj5" fmla="val -31261"/>
              <a:gd name="adj6" fmla="val -282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较为偏向于非对称二元分类算法评估指标</a:t>
            </a:r>
          </a:p>
        </p:txBody>
      </p:sp>
    </p:spTree>
    <p:extLst>
      <p:ext uri="{BB962C8B-B14F-4D97-AF65-F5344CB8AC3E}">
        <p14:creationId xmlns:p14="http://schemas.microsoft.com/office/powerpoint/2010/main" val="162098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6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552" y="1700809"/>
            <a:ext cx="10695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准确度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Accuracy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23729" y="1700808"/>
          <a:ext cx="2289845" cy="69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7" name="公式" r:id="rId3" imgW="1282700" imgH="393700" progId="Equation.3">
                  <p:embed/>
                </p:oleObj>
              </mc:Choice>
              <mc:Fallback>
                <p:oleObj name="公式" r:id="rId3" imgW="1282700" imgH="3937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9" y="1700808"/>
                        <a:ext cx="2289845" cy="691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4572000" y="1700808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对于整个数据集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包括阳性和阴性数据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，预测总共的准确比例，表示算法对真阳和真阴性样本分类的正确性。</a:t>
            </a:r>
          </a:p>
          <a:p>
            <a:r>
              <a:rPr lang="zh-CN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准确率是一个较为简明和直观的评价指标，但如果在正负分类样本不平衡的情况下，仍有较大的缺陷。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552" y="3788535"/>
            <a:ext cx="10759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错误率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Error rate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123728" y="3788534"/>
          <a:ext cx="22431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公式" r:id="rId5" imgW="1257120" imgH="393480" progId="Equation.3">
                  <p:embed/>
                </p:oleObj>
              </mc:Choice>
              <mc:Fallback>
                <p:oleObj name="公式" r:id="rId5" imgW="1257120" imgH="39348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788534"/>
                        <a:ext cx="2243138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572000" y="3788534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000" dirty="0">
                <a:latin typeface="Times New Roman" pitchFamily="18" charset="0"/>
                <a:cs typeface="Times New Roman" pitchFamily="18" charset="0"/>
              </a:rPr>
              <a:t>描述被分类器错分的比例。</a:t>
            </a:r>
          </a:p>
          <a:p>
            <a:r>
              <a:rPr lang="zh-CN" altLang="zh-CN" sz="2000" dirty="0">
                <a:latin typeface="Times New Roman" pitchFamily="18" charset="0"/>
                <a:cs typeface="Times New Roman" pitchFamily="18" charset="0"/>
              </a:rPr>
              <a:t>有：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Error_rate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= 1 - Accuracy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9552" y="4797153"/>
            <a:ext cx="10438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精确度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Precision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23729" y="4797425"/>
          <a:ext cx="10191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公式" r:id="rId7" imgW="571320" imgH="393480" progId="Equation.3">
                  <p:embed/>
                </p:oleObj>
              </mc:Choice>
              <mc:Fallback>
                <p:oleObj name="公式" r:id="rId7" imgW="571320" imgH="39348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9" y="4797425"/>
                        <a:ext cx="1019175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4572000" y="479715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表示被分为正例的示例中实际为正例的比例。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17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uiExpand="1" build="p"/>
      <p:bldP spid="10" grpId="0"/>
      <p:bldP spid="12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7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552" y="1700809"/>
            <a:ext cx="11721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灵敏度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Sensitivity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30724" y="2362439"/>
          <a:ext cx="10652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公式" r:id="rId3" imgW="596880" imgH="393480" progId="Equation.3">
                  <p:embed/>
                </p:oleObj>
              </mc:Choice>
              <mc:Fallback>
                <p:oleObj name="公式" r:id="rId3" imgW="596880" imgH="39348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724" y="2362439"/>
                        <a:ext cx="1065212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4572000" y="2046795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表示在分类为阳性的实例，占所有真正阳性实例的比例，反映了分类算法对真阳性样本分类的准确度。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灵敏度越大表示分类算法对真阳性样本分类越准确。</a:t>
            </a:r>
          </a:p>
        </p:txBody>
      </p:sp>
      <p:sp>
        <p:nvSpPr>
          <p:cNvPr id="16" name="矩形 15"/>
          <p:cNvSpPr/>
          <p:nvPr/>
        </p:nvSpPr>
        <p:spPr>
          <a:xfrm>
            <a:off x="539553" y="2420888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召回率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Recall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9553" y="3068960"/>
            <a:ext cx="19816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真阳性率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TPR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(true positive rate)</a:t>
            </a:r>
            <a:endParaRPr lang="zh-CN" altLang="en-US" sz="1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2555776" y="1736514"/>
            <a:ext cx="216000" cy="1944000"/>
          </a:xfrm>
          <a:prstGeom prst="rightBrace">
            <a:avLst>
              <a:gd name="adj1" fmla="val 31547"/>
              <a:gd name="adj2" fmla="val 50339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itchFamily="18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894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uiExpand="1" build="p"/>
      <p:bldP spid="16" grpId="0"/>
      <p:bldP spid="17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8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553" y="1669163"/>
            <a:ext cx="19816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假阳性率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(false positive rate)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930724" y="1669162"/>
          <a:ext cx="10652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公式" r:id="rId3" imgW="596880" imgH="393480" progId="Equation.3">
                  <p:embed/>
                </p:oleObj>
              </mc:Choice>
              <mc:Fallback>
                <p:oleObj name="公式" r:id="rId3" imgW="596880" imgH="393480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724" y="1669162"/>
                        <a:ext cx="1065212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572000" y="1669162"/>
                <a:ext cx="4572000" cy="22836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也称为</a:t>
                </a: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false alarm rate</a:t>
                </a:r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，反映了分类算法错分为阳性的阴实例占所有阴实例的比例。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按照定义，有： </a:t>
                </a:r>
                <a:endParaRPr lang="en-US" altLang="zh-CN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𝐹𝑃𝑅</m:t>
                      </m:r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𝐹𝑃</m:t>
                          </m:r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𝑇𝑁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𝐹𝑃</m:t>
                          </m:r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𝑇𝑁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=1−</m:t>
                      </m:r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𝑠𝑝𝑒𝑐𝑖𝑓𝑖𝑐𝑖𝑡𝑦</m:t>
                      </m:r>
                    </m:oMath>
                  </m:oMathPara>
                </a14:m>
                <a:endParaRPr lang="zh-CN" altLang="en-US" dirty="0"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669162"/>
                <a:ext cx="4572000" cy="2283638"/>
              </a:xfrm>
              <a:prstGeom prst="rect">
                <a:avLst/>
              </a:prstGeom>
              <a:blipFill>
                <a:blip r:embed="rId5"/>
                <a:stretch>
                  <a:fillRect l="-1333" t="-2139" r="-933" b="-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7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9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552" y="1700809"/>
            <a:ext cx="1184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特异性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Specificity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30724" y="2114329"/>
          <a:ext cx="10652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公式" r:id="rId3" imgW="596880" imgH="393480" progId="Equation.3">
                  <p:embed/>
                </p:oleObj>
              </mc:Choice>
              <mc:Fallback>
                <p:oleObj name="公式" r:id="rId3" imgW="596880" imgH="39348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724" y="2114329"/>
                        <a:ext cx="1065212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572000" y="1484784"/>
                <a:ext cx="4572000" cy="195124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表示在分类为阴性的数据中，算法对阴性样本分类的准确度。特异性越大表示分类算法对真阴性样本分类越准确。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按照定义，有： </a:t>
                </a:r>
                <a:endParaRPr lang="en-US" altLang="zh-CN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𝑠𝑝𝑒𝑐𝑖𝑓𝑖𝑐𝑖𝑡𝑦</m:t>
                      </m:r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𝑇𝑁𝑅</m:t>
                      </m:r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𝑇𝑁</m:t>
                          </m:r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  <a:cs typeface="Times New Roman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=1−</m:t>
                      </m:r>
                      <m:r>
                        <a:rPr lang="en-US" altLang="zh-CN" i="1">
                          <a:latin typeface="Cambria Math"/>
                          <a:cs typeface="Times New Roman" pitchFamily="18" charset="0"/>
                        </a:rPr>
                        <m:t>𝐹𝑃𝑅</m:t>
                      </m:r>
                    </m:oMath>
                  </m:oMathPara>
                </a14:m>
                <a:endParaRPr lang="zh-CN" altLang="en-US" dirty="0"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484784"/>
                <a:ext cx="4572000" cy="1951240"/>
              </a:xfrm>
              <a:prstGeom prst="rect">
                <a:avLst/>
              </a:prstGeom>
              <a:blipFill>
                <a:blip r:embed="rId5"/>
                <a:stretch>
                  <a:fillRect l="-1333" t="-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539553" y="2492896"/>
            <a:ext cx="21242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真阴性率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TNR</a:t>
            </a:r>
            <a:r>
              <a:rPr lang="en-US" altLang="zh-CN" sz="1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(true negative rate)</a:t>
            </a:r>
            <a:endParaRPr lang="zh-CN" altLang="en-US" sz="1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2555776" y="1722404"/>
            <a:ext cx="216000" cy="1476000"/>
          </a:xfrm>
          <a:prstGeom prst="rightBrace">
            <a:avLst>
              <a:gd name="adj1" fmla="val 31547"/>
              <a:gd name="adj2" fmla="val 49861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itchFamily="18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9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build="p"/>
      <p:bldP spid="17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评估基于对称属性分类（如分类属性为对称的</a:t>
            </a:r>
            <a:r>
              <a:rPr lang="en-US" altLang="zh-CN" dirty="0"/>
              <a:t>Nominal</a:t>
            </a:r>
            <a:r>
              <a:rPr lang="zh-CN" altLang="en-US" dirty="0"/>
              <a:t>属性）的准确性的综合评价指标</a:t>
            </a:r>
            <a:endParaRPr lang="en-US" altLang="zh-CN" dirty="0"/>
          </a:p>
          <a:p>
            <a:pPr lvl="1"/>
            <a:r>
              <a:rPr lang="zh-CN" altLang="en-US" dirty="0"/>
              <a:t>马修相关系数</a:t>
            </a:r>
            <a:endParaRPr lang="en-US" altLang="zh-CN" dirty="0"/>
          </a:p>
          <a:p>
            <a:pPr lvl="1"/>
            <a:r>
              <a:rPr lang="en-US" altLang="zh-CN" dirty="0"/>
              <a:t>F</a:t>
            </a:r>
            <a:r>
              <a:rPr lang="zh-CN" altLang="en-US" dirty="0"/>
              <a:t>度量</a:t>
            </a:r>
            <a:endParaRPr lang="en-US" altLang="zh-CN" dirty="0"/>
          </a:p>
          <a:p>
            <a:pPr lvl="1"/>
            <a:r>
              <a:rPr lang="zh-CN" altLang="en-US" dirty="0"/>
              <a:t>等等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10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80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马修相关系数</a:t>
            </a:r>
            <a:r>
              <a:rPr lang="en-US" altLang="zh-CN" dirty="0"/>
              <a:t>MCC(Mathew correlation coefficient)</a:t>
            </a:r>
          </a:p>
          <a:p>
            <a:pPr lvl="1"/>
            <a:r>
              <a:rPr lang="en-US" altLang="zh-CN" dirty="0"/>
              <a:t>MCC</a:t>
            </a:r>
            <a:r>
              <a:rPr lang="zh-CN" altLang="en-US" dirty="0"/>
              <a:t>表征实际与预测的分类结果的关联程度，即算法结果的可靠性。计算公式为：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11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115616" y="3068960"/>
          <a:ext cx="6326770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公式" r:id="rId3" imgW="3441700" imgH="457200" progId="Equation.3">
                  <p:embed/>
                </p:oleObj>
              </mc:Choice>
              <mc:Fallback>
                <p:oleObj name="公式" r:id="rId3" imgW="3441700" imgH="457200" progId="Equation.3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068960"/>
                        <a:ext cx="6326770" cy="82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 rot="21283388">
            <a:off x="6529500" y="2874273"/>
            <a:ext cx="24137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值域范围为</a:t>
            </a:r>
            <a:r>
              <a:rPr lang="en-US" altLang="zh-CN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[-1</a:t>
            </a:r>
            <a:r>
              <a:rPr lang="zh-CN" altLang="zh-CN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1]</a:t>
            </a:r>
            <a:endParaRPr lang="zh-CN" altLang="zh-CN" sz="2000" dirty="0">
              <a:solidFill>
                <a:srgbClr val="C00000"/>
              </a:solidFill>
              <a:latin typeface="幼圆" pitchFamily="49" charset="-122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 rot="21225938">
            <a:off x="4990151" y="5085816"/>
            <a:ext cx="392400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当两个类别的样本数量相差较大时</a:t>
            </a:r>
            <a:r>
              <a:rPr lang="zh-CN" altLang="en-US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（分布不平衡）</a:t>
            </a:r>
            <a:r>
              <a:rPr lang="zh-CN" altLang="zh-CN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，用</a:t>
            </a:r>
            <a:r>
              <a:rPr lang="en-US" altLang="zh-CN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MCC</a:t>
            </a:r>
            <a:r>
              <a:rPr lang="zh-CN" altLang="zh-CN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来衡量预测效果比用准确度</a:t>
            </a:r>
            <a:r>
              <a:rPr lang="en-US" altLang="zh-CN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accuracy </a:t>
            </a:r>
            <a:r>
              <a:rPr lang="zh-CN" altLang="zh-CN" dirty="0">
                <a:latin typeface="幼圆" pitchFamily="49" charset="-122"/>
                <a:ea typeface="幼圆" pitchFamily="49" charset="-122"/>
                <a:cs typeface="Times New Roman" pitchFamily="18" charset="0"/>
              </a:rPr>
              <a:t>更为合理。</a:t>
            </a:r>
          </a:p>
        </p:txBody>
      </p:sp>
      <p:sp>
        <p:nvSpPr>
          <p:cNvPr id="9" name="矩形 8"/>
          <p:cNvSpPr/>
          <p:nvPr/>
        </p:nvSpPr>
        <p:spPr>
          <a:xfrm>
            <a:off x="755576" y="3933057"/>
            <a:ext cx="4392488" cy="1469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当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FN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均为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时，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MCC=1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，表示分类结果完全正确；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当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TN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均为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是，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MCC=-1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，表示分类结果完全错误。</a:t>
            </a:r>
          </a:p>
        </p:txBody>
      </p:sp>
    </p:spTree>
    <p:extLst>
      <p:ext uri="{BB962C8B-B14F-4D97-AF65-F5344CB8AC3E}">
        <p14:creationId xmlns:p14="http://schemas.microsoft.com/office/powerpoint/2010/main" val="147704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 animBg="1"/>
      <p:bldP spid="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12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Precision</a:t>
            </a:r>
            <a:r>
              <a:rPr lang="zh-CN" altLang="en-US" dirty="0"/>
              <a:t>和</a:t>
            </a:r>
            <a:r>
              <a:rPr lang="en-US" altLang="zh-CN" dirty="0"/>
              <a:t>Recall</a:t>
            </a:r>
            <a:r>
              <a:rPr lang="zh-CN" altLang="en-US" dirty="0"/>
              <a:t>指标得出的结论有时出现背离时，需要对二者进行综合考虑，最常见的指标就是</a:t>
            </a:r>
            <a:r>
              <a:rPr lang="en-US" altLang="zh-CN" dirty="0"/>
              <a:t>F-Measure(</a:t>
            </a:r>
            <a:r>
              <a:rPr lang="zh-CN" altLang="en-US" dirty="0"/>
              <a:t>也称</a:t>
            </a:r>
            <a:r>
              <a:rPr lang="en-US" altLang="zh-CN" dirty="0"/>
              <a:t>F-Score)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F-Measure</a:t>
            </a:r>
            <a:r>
              <a:rPr lang="zh-CN" altLang="en-US" dirty="0"/>
              <a:t>是</a:t>
            </a:r>
            <a:r>
              <a:rPr lang="en-US" altLang="zh-CN" dirty="0"/>
              <a:t>Precision</a:t>
            </a:r>
            <a:r>
              <a:rPr lang="zh-CN" altLang="en-US" dirty="0"/>
              <a:t>和</a:t>
            </a:r>
            <a:r>
              <a:rPr lang="en-US" altLang="zh-CN" dirty="0"/>
              <a:t>Recall</a:t>
            </a:r>
            <a:r>
              <a:rPr lang="zh-CN" altLang="en-US" dirty="0"/>
              <a:t>加权调和平均：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83568" y="3212976"/>
          <a:ext cx="302433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公式" r:id="rId3" imgW="2095500" imgH="457200" progId="Equation.3">
                  <p:embed/>
                </p:oleObj>
              </mc:Choice>
              <mc:Fallback>
                <p:oleObj name="公式" r:id="rId3" imgW="2095500" imgH="4572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212976"/>
                        <a:ext cx="302433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779912" y="3033064"/>
          <a:ext cx="5309732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8" name="公式" r:id="rId5" imgW="4165600" imgH="787400" progId="Equation.3">
                  <p:embed/>
                </p:oleObj>
              </mc:Choice>
              <mc:Fallback>
                <p:oleObj name="公式" r:id="rId5" imgW="4165600" imgH="7874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033064"/>
                        <a:ext cx="5309732" cy="97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83569" y="4149080"/>
            <a:ext cx="60260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l-GR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β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为参数值，当</a:t>
            </a:r>
            <a:r>
              <a:rPr lang="el-GR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β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=1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时，即为最常见的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</a:t>
            </a:r>
            <a:r>
              <a:rPr lang="en-US" altLang="zh-CN" sz="2000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-measure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了：</a:t>
            </a:r>
            <a:endParaRPr lang="zh-CN" altLang="en-US" sz="4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55574" y="4725142"/>
          <a:ext cx="4140000" cy="60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公式" r:id="rId7" imgW="3035300" imgH="419100" progId="Equation.3">
                  <p:embed/>
                </p:oleObj>
              </mc:Choice>
              <mc:Fallback>
                <p:oleObj name="公式" r:id="rId7" imgW="3035300" imgH="41910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4" y="4725142"/>
                        <a:ext cx="4140000" cy="6002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5148064" y="4941168"/>
            <a:ext cx="38884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lang="zh-CN" altLang="zh-CN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综合了</a:t>
            </a:r>
            <a:r>
              <a:rPr lang="en-US" altLang="zh-CN" dirty="0" err="1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Precesion</a:t>
            </a:r>
            <a:r>
              <a:rPr lang="zh-CN" altLang="zh-CN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Recall</a:t>
            </a:r>
            <a:r>
              <a:rPr lang="zh-CN" altLang="zh-CN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的评估结果，当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F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lang="zh-CN" altLang="zh-CN" dirty="0">
                <a:solidFill>
                  <a:srgbClr val="C0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较高时则能说明试验方法比较有效。</a:t>
            </a:r>
          </a:p>
        </p:txBody>
      </p:sp>
    </p:spTree>
    <p:extLst>
      <p:ext uri="{BB962C8B-B14F-4D97-AF65-F5344CB8AC3E}">
        <p14:creationId xmlns:p14="http://schemas.microsoft.com/office/powerpoint/2010/main" val="268365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7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322142" y="4866476"/>
          <a:ext cx="825922" cy="122634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2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predicted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158375"/>
              </p:ext>
            </p:extLst>
          </p:nvPr>
        </p:nvGraphicFramePr>
        <p:xfrm>
          <a:off x="604042" y="1306973"/>
          <a:ext cx="4351416" cy="280831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78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outlook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temperature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humidity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windy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play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sunny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hot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hot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cool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cool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cool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sunny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hot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3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13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417" y="1800182"/>
            <a:ext cx="3455448" cy="231510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03156" y="4866476"/>
          <a:ext cx="3917616" cy="112871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58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outlook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temperature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humidity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windy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actual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sunny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hot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33710" y="4499828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测试数据集</a:t>
            </a:r>
            <a:endParaRPr lang="zh-CN" altLang="en-US" sz="4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52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14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194264" y="836712"/>
          <a:ext cx="4743538" cy="112871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58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outlook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temperature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humidity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windy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actual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predicted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rainy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high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sunny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mild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TRUE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7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overcast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hot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normal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FALSE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左大括号 6"/>
          <p:cNvSpPr/>
          <p:nvPr/>
        </p:nvSpPr>
        <p:spPr>
          <a:xfrm>
            <a:off x="179512" y="2245514"/>
            <a:ext cx="144016" cy="3955718"/>
          </a:xfrm>
          <a:prstGeom prst="leftBrace">
            <a:avLst>
              <a:gd name="adj1" fmla="val 59039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itchFamily="18" charset="0"/>
              <a:ea typeface="华文细黑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3528" y="2060848"/>
            <a:ext cx="496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class=no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positive   </a:t>
            </a:r>
            <a:r>
              <a:rPr lang="en-US" altLang="zh-CN" b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/   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class=yes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negative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3528" y="4149080"/>
            <a:ext cx="5040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class=yes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positive  </a:t>
            </a:r>
            <a:r>
              <a:rPr lang="en-US" altLang="zh-CN" sz="2000" b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/  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class=no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negative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83568" y="2420888"/>
                <a:ext cx="1853952" cy="1374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TPR(=Recall)=1.0</a:t>
                </a:r>
              </a:p>
              <a:p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FPR=1/3</a:t>
                </a:r>
              </a:p>
              <a:p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Precision=1/2</a:t>
                </a:r>
              </a:p>
              <a:p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1600" baseline="-250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1</a:t>
                </a:r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-Measure=2/3</a:t>
                </a:r>
              </a:p>
              <a:p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MCC=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1600" dirty="0"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20888"/>
                <a:ext cx="1853952" cy="1374094"/>
              </a:xfrm>
              <a:prstGeom prst="rect">
                <a:avLst/>
              </a:prstGeom>
              <a:blipFill>
                <a:blip r:embed="rId3"/>
                <a:stretch>
                  <a:fillRect l="-1645" t="-1327" b="-52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683568" y="4653136"/>
                <a:ext cx="1853952" cy="1374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TPR(=Recall)=2/3</a:t>
                </a:r>
                <a:r>
                  <a:rPr lang="zh-CN" altLang="en-US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</a:t>
                </a:r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FPR=0</a:t>
                </a:r>
                <a:r>
                  <a:rPr lang="zh-CN" altLang="en-US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</a:t>
                </a:r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Precision=1</a:t>
                </a:r>
                <a:r>
                  <a:rPr lang="zh-CN" altLang="en-US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</a:t>
                </a:r>
                <a:endParaRPr lang="en-US" altLang="zh-CN" sz="1600" dirty="0"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  <a:p>
                <a:r>
                  <a:rPr lang="en-US" altLang="zh-CN" sz="1600" i="1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1600" baseline="-250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1</a:t>
                </a:r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-Measure=4/5</a:t>
                </a:r>
                <a:r>
                  <a:rPr lang="zh-CN" altLang="en-US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，</a:t>
                </a:r>
                <a:r>
                  <a:rPr lang="en-US" altLang="zh-CN" sz="1600" dirty="0">
                    <a:latin typeface="Times New Roman" pitchFamily="18" charset="0"/>
                    <a:ea typeface="华文细黑" pitchFamily="2" charset="-122"/>
                    <a:cs typeface="Times New Roman" pitchFamily="18" charset="0"/>
                  </a:rPr>
                  <a:t>MCC=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1600" dirty="0">
                  <a:latin typeface="Times New Roman" pitchFamily="18" charset="0"/>
                  <a:ea typeface="华文细黑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653136"/>
                <a:ext cx="1853952" cy="1374094"/>
              </a:xfrm>
              <a:prstGeom prst="rect">
                <a:avLst/>
              </a:prstGeom>
              <a:blipFill>
                <a:blip r:embed="rId4"/>
                <a:stretch>
                  <a:fillRect l="-1645" t="-1327" r="-4605" b="-52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413456" y="2354822"/>
          <a:ext cx="3724464" cy="1706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(a) class=no</a:t>
                      </a:r>
                      <a:r>
                        <a:rPr lang="zh-CN" sz="1400" kern="100" dirty="0">
                          <a:effectLst/>
                          <a:latin typeface="Times New Roman" pitchFamily="18" charset="0"/>
                          <a:ea typeface="华文细黑" pitchFamily="2" charset="-122"/>
                        </a:rPr>
                        <a:t>为</a:t>
                      </a: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positive</a:t>
                      </a:r>
                      <a:endParaRPr lang="zh-CN" sz="1400" kern="100" dirty="0">
                        <a:effectLst/>
                        <a:latin typeface="Times New Roman"/>
                        <a:ea typeface="楷体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255">
                <a:tc rowSpan="2" gridSpan="2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 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 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itchFamily="18" charset="0"/>
                          <a:ea typeface="华文细黑" pitchFamily="2" charset="-122"/>
                        </a:rPr>
                        <a:t>预测分类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positive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(class=no)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negative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(class=yes)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itchFamily="18" charset="0"/>
                          <a:ea typeface="华文细黑" pitchFamily="2" charset="-122"/>
                        </a:rPr>
                        <a:t>真正分类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positive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(class=no)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TP=1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FN=0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negative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(class=yes)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FP=1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TN=2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413456" y="4458424"/>
          <a:ext cx="3724464" cy="1706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(b) class=yes</a:t>
                      </a:r>
                      <a:r>
                        <a:rPr lang="zh-CN" sz="1400" kern="100" dirty="0">
                          <a:effectLst/>
                          <a:latin typeface="Times New Roman" pitchFamily="18" charset="0"/>
                          <a:ea typeface="华文细黑" pitchFamily="2" charset="-122"/>
                        </a:rPr>
                        <a:t>为</a:t>
                      </a: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positive</a:t>
                      </a:r>
                      <a:endParaRPr lang="zh-CN" sz="1400" kern="100" dirty="0">
                        <a:effectLst/>
                        <a:latin typeface="Times New Roman"/>
                        <a:ea typeface="楷体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255">
                <a:tc rowSpan="2" gridSpan="2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itchFamily="18" charset="0"/>
                          <a:ea typeface="华文细黑" pitchFamily="2" charset="-122"/>
                        </a:rPr>
                        <a:t>预测分类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positive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(class=yes)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negative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(class=no)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 pitchFamily="18" charset="0"/>
                          <a:ea typeface="华文细黑" pitchFamily="2" charset="-122"/>
                        </a:rPr>
                        <a:t>真正分类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positive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(class=yes)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TP=2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FN=1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negative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华文细黑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(class=no)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FP=0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</a:rPr>
                        <a:t>TN=1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6192448" y="2564905"/>
            <a:ext cx="2916056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评估的综合结果，可按测试数据中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class=no</a:t>
            </a:r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class=yes</a:t>
            </a:r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的实例数量，进行加权平均求得</a:t>
            </a:r>
            <a:r>
              <a:rPr lang="zh-CN" altLang="en-US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  <a:endParaRPr lang="en-US" altLang="zh-CN" sz="2000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endParaRPr lang="en-US" altLang="zh-CN" sz="700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本例可得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TPR</a:t>
            </a:r>
            <a:r>
              <a:rPr lang="en-US" altLang="zh-CN" sz="2000" baseline="-25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wa</a:t>
            </a:r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</a:t>
            </a:r>
            <a:r>
              <a:rPr lang="en-US" altLang="zh-CN" sz="2000" baseline="-25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wa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 = (0.750</a:t>
            </a:r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0.083)</a:t>
            </a:r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  <a:endParaRPr lang="en-US" altLang="zh-CN" sz="2000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endParaRPr lang="en-US" altLang="zh-CN" sz="600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用上述数据建立的分类模型经测试评估，结果良好</a:t>
            </a:r>
            <a:r>
              <a:rPr lang="zh-CN" altLang="en-US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9911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build="p"/>
      <p:bldP spid="12" grpId="0" build="p"/>
      <p:bldP spid="10" grpId="0"/>
      <p:bldP spid="14" grpId="0"/>
      <p:bldP spid="1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ROC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ROC</a:t>
            </a:r>
            <a:r>
              <a:rPr lang="zh-CN" altLang="en-US" dirty="0"/>
              <a:t>曲线</a:t>
            </a:r>
            <a:r>
              <a:rPr lang="en-US" altLang="zh-CN" dirty="0"/>
              <a:t>(receiver operating characteristic curve)</a:t>
            </a:r>
            <a:r>
              <a:rPr lang="zh-CN" altLang="en-US" dirty="0"/>
              <a:t>也称为</a:t>
            </a:r>
            <a:r>
              <a:rPr lang="zh-CN" altLang="en-US" dirty="0">
                <a:solidFill>
                  <a:srgbClr val="C00000"/>
                </a:solidFill>
              </a:rPr>
              <a:t>受试者工作特性曲线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接受者操作特性曲线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绘制在二维的</a:t>
            </a:r>
            <a:r>
              <a:rPr lang="en-US" altLang="zh-CN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ROC</a:t>
            </a:r>
            <a:r>
              <a:rPr lang="zh-CN" altLang="en-US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空间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zh-CN" altLang="en-US" dirty="0"/>
              <a:t>纵坐标：真阳性率</a:t>
            </a:r>
            <a:r>
              <a:rPr lang="en-US" altLang="zh-CN" dirty="0"/>
              <a:t>TPR</a:t>
            </a:r>
            <a:r>
              <a:rPr lang="zh-CN" altLang="en-US" dirty="0"/>
              <a:t>（即灵敏度）</a:t>
            </a:r>
            <a:endParaRPr lang="en-US" altLang="zh-CN" dirty="0"/>
          </a:p>
          <a:p>
            <a:pPr lvl="1"/>
            <a:r>
              <a:rPr lang="zh-CN" altLang="en-US" dirty="0"/>
              <a:t>横坐标：假阳性率</a:t>
            </a:r>
            <a:r>
              <a:rPr lang="en-US" altLang="zh-CN" dirty="0"/>
              <a:t>FPR</a:t>
            </a:r>
            <a:r>
              <a:rPr lang="zh-CN" altLang="en-US" dirty="0"/>
              <a:t>（即 </a:t>
            </a:r>
            <a:r>
              <a:rPr lang="en-US" altLang="zh-CN" dirty="0"/>
              <a:t>1-specificity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/>
              <a:t>ROC</a:t>
            </a:r>
            <a:r>
              <a:rPr lang="zh-CN" altLang="en-US" dirty="0"/>
              <a:t>曲线的位置和变化情况，可以对分类预测结果的真阳性率</a:t>
            </a:r>
            <a:r>
              <a:rPr lang="en-US" altLang="zh-CN" dirty="0"/>
              <a:t>TPR/</a:t>
            </a:r>
            <a:r>
              <a:rPr lang="zh-CN" altLang="en-US" dirty="0"/>
              <a:t>假阳性率</a:t>
            </a:r>
            <a:r>
              <a:rPr lang="en-US" altLang="zh-CN" dirty="0"/>
              <a:t>FPR</a:t>
            </a:r>
            <a:r>
              <a:rPr lang="zh-CN" altLang="en-US" dirty="0"/>
              <a:t>的对应变化进行掌握和评价。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081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16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99992" y="953434"/>
            <a:ext cx="453650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对于离散型的分类器，例如决策树分类器，每一组测试数据集将产生一组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(TPR</a:t>
            </a:r>
            <a:r>
              <a:rPr lang="zh-CN" altLang="en-US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FPR)</a:t>
            </a:r>
            <a:r>
              <a:rPr lang="zh-CN" altLang="en-US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坐标数据点，可对应地标注在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en-US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空间坐标上。</a:t>
            </a:r>
          </a:p>
        </p:txBody>
      </p:sp>
      <p:pic>
        <p:nvPicPr>
          <p:cNvPr id="6" name="图片 5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" t="1786" r="2097" b="3456"/>
          <a:stretch/>
        </p:blipFill>
        <p:spPr bwMode="auto">
          <a:xfrm>
            <a:off x="179512" y="1928316"/>
            <a:ext cx="4186410" cy="410165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线形标注 2 7"/>
          <p:cNvSpPr/>
          <p:nvPr/>
        </p:nvSpPr>
        <p:spPr>
          <a:xfrm>
            <a:off x="1619672" y="1196752"/>
            <a:ext cx="2746250" cy="684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9191"/>
              <a:gd name="adj6" fmla="val -3047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(TPR=1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FPR=0)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是理想的分类预测特性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4514332" y="2348880"/>
            <a:ext cx="3946100" cy="1044000"/>
          </a:xfrm>
          <a:prstGeom prst="borderCallout2">
            <a:avLst>
              <a:gd name="adj1" fmla="val 21916"/>
              <a:gd name="adj2" fmla="val -1943"/>
              <a:gd name="adj3" fmla="val 20860"/>
              <a:gd name="adj4" fmla="val -7923"/>
              <a:gd name="adj5" fmla="val 65518"/>
              <a:gd name="adj6" fmla="val -3149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(TPR=0.7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FPR=0.7)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表示分类预测结果完全随机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点位于对角线上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0" name="线形标注 2 9"/>
          <p:cNvSpPr/>
          <p:nvPr/>
        </p:nvSpPr>
        <p:spPr>
          <a:xfrm>
            <a:off x="4514333" y="3501008"/>
            <a:ext cx="4162123" cy="1044000"/>
          </a:xfrm>
          <a:prstGeom prst="borderCallout2">
            <a:avLst>
              <a:gd name="adj1" fmla="val 21916"/>
              <a:gd name="adj2" fmla="val -1943"/>
              <a:gd name="adj3" fmla="val 20860"/>
              <a:gd name="adj4" fmla="val -7923"/>
              <a:gd name="adj5" fmla="val 124638"/>
              <a:gd name="adj6" fmla="val -38325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(TPR=0.2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FPR=0.6)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较大，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TPR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较小，结果难以接受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点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位于对角线下方</a:t>
            </a:r>
          </a:p>
        </p:txBody>
      </p:sp>
      <p:sp>
        <p:nvSpPr>
          <p:cNvPr id="12" name="线形标注 2 11"/>
          <p:cNvSpPr/>
          <p:nvPr/>
        </p:nvSpPr>
        <p:spPr>
          <a:xfrm>
            <a:off x="4514332" y="4869160"/>
            <a:ext cx="4522164" cy="827976"/>
          </a:xfrm>
          <a:prstGeom prst="borderCallout2">
            <a:avLst>
              <a:gd name="adj1" fmla="val 21916"/>
              <a:gd name="adj2" fmla="val -1943"/>
              <a:gd name="adj3" fmla="val 20860"/>
              <a:gd name="adj4" fmla="val -7923"/>
              <a:gd name="adj5" fmla="val -225931"/>
              <a:gd name="adj6" fmla="val -7460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】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中，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(</a:t>
            </a:r>
            <a:r>
              <a:rPr lang="en-US" altLang="zh-CN" sz="2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TPR</a:t>
            </a:r>
            <a:r>
              <a:rPr lang="en-US" altLang="zh-CN" sz="2000" baseline="-25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wa</a:t>
            </a:r>
            <a:r>
              <a:rPr lang="en-US" altLang="zh-CN" sz="2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,FPR</a:t>
            </a:r>
            <a:r>
              <a:rPr lang="en-US" altLang="zh-CN" sz="2000" baseline="-25000" dirty="0" err="1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wa</a:t>
            </a:r>
            <a:r>
              <a:rPr lang="en-US" altLang="zh-CN" sz="20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)=(0.750,0.083) 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对应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D</a:t>
            </a:r>
            <a:r>
              <a:rPr lang="zh-CN" altLang="en-US" sz="2000" baseline="-25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点，指标较好。</a:t>
            </a:r>
          </a:p>
        </p:txBody>
      </p:sp>
      <p:sp>
        <p:nvSpPr>
          <p:cNvPr id="13" name="线形标注 2 12"/>
          <p:cNvSpPr/>
          <p:nvPr/>
        </p:nvSpPr>
        <p:spPr>
          <a:xfrm flipH="1">
            <a:off x="1475656" y="2492968"/>
            <a:ext cx="1044000" cy="648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419"/>
              <a:gd name="adj6" fmla="val -2652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？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r>
              <a:rPr lang="en-US" altLang="zh-CN" sz="2000" dirty="0" err="1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vs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 P</a:t>
            </a:r>
            <a:r>
              <a:rPr lang="zh-CN" altLang="en-US" sz="2000" baseline="-25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？</a:t>
            </a:r>
            <a:endParaRPr lang="zh-CN" altLang="en-US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33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uiExpand="1" build="allAtOnce" animBg="1"/>
      <p:bldP spid="8" grpId="1" build="allAtOnce" animBg="1"/>
      <p:bldP spid="9" grpId="0" uiExpand="1" build="p" animBg="1"/>
      <p:bldP spid="9" grpId="1" build="allAtOnce" animBg="1"/>
      <p:bldP spid="10" grpId="0" uiExpand="1" build="p" animBg="1"/>
      <p:bldP spid="10" grpId="1" build="allAtOnce" animBg="1"/>
      <p:bldP spid="12" grpId="0" uiExpand="1" build="p" animBg="1"/>
      <p:bldP spid="12" grpId="1" build="allAtOnce" animBg="1"/>
      <p:bldP spid="13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17</a:t>
            </a:fld>
            <a:endParaRPr lang="en-US" altLang="zh-CN"/>
          </a:p>
        </p:txBody>
      </p:sp>
      <p:pic>
        <p:nvPicPr>
          <p:cNvPr id="6" name="图片 5"/>
          <p:cNvPicPr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35297" r="55344" b="4859"/>
          <a:stretch/>
        </p:blipFill>
        <p:spPr bwMode="auto">
          <a:xfrm>
            <a:off x="2339752" y="1700809"/>
            <a:ext cx="4320480" cy="39293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893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ROC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18</a:t>
            </a:fld>
            <a:endParaRPr lang="en-US" altLang="zh-CN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331640" y="2060848"/>
          <a:ext cx="6769100" cy="60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真实值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预测概率值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0.3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0.3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0.45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0.45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0.6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0.85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0.95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907704" y="1628800"/>
            <a:ext cx="5616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分类器的实例类别真实值以及输出的预测概率值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7544" y="2708921"/>
            <a:ext cx="842493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对于给定的阈值，当预测概率值大于阈值时，判定为类别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1(positive)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，否则为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0(negative)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设置不同的阈值，对预测类别进行判定，并根据所得到的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FN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TN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数值，可以计算得到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7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组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(TPR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FPR)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值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331640" y="4101048"/>
          <a:ext cx="652859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阈值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0.09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0.24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0.39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0.69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0.84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0.99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TP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FN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FP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TN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TPR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0.75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0.75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FPR</a:t>
                      </a:r>
                      <a:endParaRPr lang="zh-CN" sz="24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0.8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0.6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0.2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81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  <p:bldP spid="10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ROC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19</a:t>
            </a:fld>
            <a:endParaRPr lang="en-US" altLang="zh-CN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363888" y="746666"/>
          <a:ext cx="6528592" cy="1706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0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阈值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0.09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0.24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0.39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0.69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0.84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0.99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TP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FN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FP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TN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TPR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0.75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0.75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FPR</a:t>
                      </a:r>
                      <a:endParaRPr lang="zh-CN" sz="20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0.8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0.6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0.2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图片 10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1" y="2564905"/>
            <a:ext cx="3609145" cy="3615241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4211960" y="2667703"/>
            <a:ext cx="4572000" cy="1725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曲线所覆盖的面积即为</a:t>
            </a:r>
            <a:r>
              <a:rPr lang="en-US" altLang="zh-CN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AUC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，可以直观的判断分类器的性能。</a:t>
            </a:r>
            <a:endParaRPr lang="en-US" altLang="zh-CN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AUC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越大则性能越好。</a:t>
            </a:r>
            <a:endParaRPr lang="en-US" altLang="zh-CN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对于该例的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AUC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值为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0.8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7068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5297" r="55344" b="5278"/>
          <a:stretch/>
        </p:blipFill>
        <p:spPr bwMode="auto">
          <a:xfrm>
            <a:off x="179512" y="1772817"/>
            <a:ext cx="3096345" cy="27359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矩形 2"/>
          <p:cNvSpPr/>
          <p:nvPr/>
        </p:nvSpPr>
        <p:spPr>
          <a:xfrm>
            <a:off x="3131840" y="1628800"/>
            <a:ext cx="59046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的评估方法将灵敏度与特异性以图示方法结合在一起，可直观地观察和判别分类算法的特异性和敏感性之间的关系，是算法准确性的综合代表，具有简单、直观的特点。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不固定分类界值，允许中间状态存在，利于使用者结合专业知识，权衡漏判与误判的影响，选择最为符合实际应用要求的参数值。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借助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，也可在共同标尺下直观地比较不同的分类算法的效果（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ROC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越凸近左上角表明价值越大，曲线下面积可评价算法准确性）</a:t>
            </a:r>
            <a:endParaRPr lang="zh-CN" altLang="en-US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5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PRC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PRC(precision-recall curve)</a:t>
            </a:r>
            <a:r>
              <a:rPr lang="zh-CN" altLang="en-US" dirty="0"/>
              <a:t>是以</a:t>
            </a:r>
            <a:r>
              <a:rPr lang="en-US" altLang="zh-CN" dirty="0"/>
              <a:t>recall</a:t>
            </a:r>
            <a:r>
              <a:rPr lang="zh-CN" altLang="en-US" dirty="0"/>
              <a:t>为横坐标，</a:t>
            </a:r>
            <a:r>
              <a:rPr lang="en-US" altLang="zh-CN" dirty="0"/>
              <a:t>precision </a:t>
            </a:r>
            <a:r>
              <a:rPr lang="zh-CN" altLang="en-US" dirty="0"/>
              <a:t>为纵坐标的曲线图形</a:t>
            </a:r>
            <a:endParaRPr lang="en-US" altLang="zh-CN" dirty="0"/>
          </a:p>
          <a:p>
            <a:pPr lvl="1"/>
            <a:r>
              <a:rPr lang="en-US" altLang="zh-CN" dirty="0"/>
              <a:t>ROC</a:t>
            </a:r>
            <a:r>
              <a:rPr lang="zh-CN" altLang="en-US" dirty="0"/>
              <a:t>中的</a:t>
            </a:r>
            <a:r>
              <a:rPr lang="en-US" altLang="zh-CN" dirty="0"/>
              <a:t>FPR</a:t>
            </a:r>
            <a:r>
              <a:rPr lang="zh-CN" altLang="en-US" dirty="0"/>
              <a:t>值受到</a:t>
            </a:r>
            <a:r>
              <a:rPr lang="en-US" altLang="zh-CN" dirty="0"/>
              <a:t>Positive</a:t>
            </a:r>
            <a:r>
              <a:rPr lang="zh-CN" altLang="en-US" dirty="0"/>
              <a:t>的实例和</a:t>
            </a:r>
            <a:r>
              <a:rPr lang="en-US" altLang="zh-CN" dirty="0"/>
              <a:t>Negative</a:t>
            </a:r>
            <a:r>
              <a:rPr lang="zh-CN" altLang="zh-CN" dirty="0"/>
              <a:t>的实例数量</a:t>
            </a:r>
            <a:r>
              <a:rPr lang="zh-CN" altLang="en-US" dirty="0"/>
              <a:t>对比的影响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r>
              <a:rPr lang="en-US" altLang="zh-CN" dirty="0"/>
              <a:t>Negative</a:t>
            </a:r>
            <a:r>
              <a:rPr lang="zh-CN" altLang="zh-CN" dirty="0"/>
              <a:t>的实例</a:t>
            </a:r>
            <a:r>
              <a:rPr lang="zh-CN" altLang="en-US" dirty="0"/>
              <a:t>比例很大的情况下，</a:t>
            </a:r>
            <a:r>
              <a:rPr lang="en-US" altLang="zh-CN" dirty="0"/>
              <a:t>FPR</a:t>
            </a:r>
            <a:r>
              <a:rPr lang="zh-CN" altLang="en-US" dirty="0"/>
              <a:t>必然较小，对真实情况产生偏差</a:t>
            </a:r>
            <a:endParaRPr lang="en-US" altLang="zh-CN" dirty="0"/>
          </a:p>
          <a:p>
            <a:pPr lvl="1"/>
            <a:r>
              <a:rPr lang="en-US" altLang="zh-CN" dirty="0"/>
              <a:t>Precision</a:t>
            </a:r>
            <a:r>
              <a:rPr lang="zh-CN" altLang="en-US" dirty="0"/>
              <a:t>综合考虑了</a:t>
            </a:r>
            <a:r>
              <a:rPr lang="en-US" altLang="zh-CN" dirty="0"/>
              <a:t>TP</a:t>
            </a:r>
            <a:r>
              <a:rPr lang="zh-CN" altLang="en-US" dirty="0"/>
              <a:t>和</a:t>
            </a:r>
            <a:r>
              <a:rPr lang="en-US" altLang="zh-CN" dirty="0"/>
              <a:t>FP</a:t>
            </a:r>
            <a:r>
              <a:rPr lang="zh-CN" altLang="en-US" dirty="0"/>
              <a:t>的值，因此在极度不平衡的数据下（</a:t>
            </a:r>
            <a:r>
              <a:rPr lang="en-US" altLang="zh-CN" dirty="0"/>
              <a:t>Positive</a:t>
            </a:r>
            <a:r>
              <a:rPr lang="zh-CN" altLang="en-US" dirty="0"/>
              <a:t>的样本较少），</a:t>
            </a:r>
            <a:r>
              <a:rPr lang="en-US" altLang="zh-CN" dirty="0"/>
              <a:t>PR</a:t>
            </a:r>
            <a:r>
              <a:rPr lang="zh-CN" altLang="en-US" dirty="0"/>
              <a:t>曲线可能比</a:t>
            </a:r>
            <a:r>
              <a:rPr lang="en-US" altLang="zh-CN" dirty="0"/>
              <a:t>ROC</a:t>
            </a:r>
            <a:r>
              <a:rPr lang="zh-CN" altLang="en-US" dirty="0"/>
              <a:t>曲线得出更为准确的结论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511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zh-CN" altLang="zh-CN" dirty="0"/>
              <a:t>【例】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31640" y="2060848"/>
          <a:ext cx="6769100" cy="548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真实值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预测概率值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0.1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0.3</a:t>
                      </a:r>
                      <a:endParaRPr lang="zh-CN" sz="18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0.3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0.45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0.45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0.55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0.6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0.85</a:t>
                      </a:r>
                      <a:endParaRPr lang="zh-CN" sz="1800" kern="10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0.95</a:t>
                      </a:r>
                      <a:endParaRPr lang="zh-CN" sz="1800" kern="100" dirty="0">
                        <a:effectLst/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907704" y="1628800"/>
            <a:ext cx="5616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分类器的实例类别真实值以及输出的预测概率值</a:t>
            </a:r>
            <a:endParaRPr lang="zh-CN" altLang="en-US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17752" y="4045040"/>
          <a:ext cx="5690552" cy="18695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阈值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0.375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0.575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0.725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0.9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0.975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TP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FN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FP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TN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recall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0.25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precision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0.44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0.67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1.00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1.00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539552" y="2708921"/>
            <a:ext cx="8352928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对于给定的阈值，当预测概率值大于阈值时，判定为类别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1(positive)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，否则为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0(negative)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设置不同的阈值，对预测类别进行判定，并根据所得到的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TP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FN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FP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TN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数值，可以计算得到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8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组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en-US" altLang="zh-CN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recall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precision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  <a:r>
              <a:rPr lang="zh-CN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值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61631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zh-CN" altLang="zh-CN" dirty="0"/>
              <a:t>【例】</a:t>
            </a:r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203848" y="764704"/>
          <a:ext cx="5690552" cy="18695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阈值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0.375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0.575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0.725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0.9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0.975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TP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FN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FP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TN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华文细黑"/>
                          <a:cs typeface="Times New Roman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recall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0.25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precision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0.44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0.50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0.75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0.67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1.00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1.00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3140969"/>
            <a:ext cx="4266882" cy="27171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4644008" y="3068961"/>
            <a:ext cx="4464000" cy="2648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zh-CN" sz="22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可以看到随着召回率的提升，算法一直保持着相对较高的精确度。</a:t>
            </a:r>
            <a:endParaRPr lang="en-US" altLang="zh-CN" sz="2200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zh-CN" sz="22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根据</a:t>
            </a:r>
            <a:r>
              <a:rPr lang="en-US" altLang="zh-CN" sz="22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PRC</a:t>
            </a:r>
            <a:r>
              <a:rPr lang="zh-CN" altLang="zh-CN" sz="22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图，以及分类方法在实际中的应用，可以权衡召回率和精确度的大小，选择某一数值作为匹配阈值，</a:t>
            </a:r>
            <a:r>
              <a:rPr lang="zh-CN" altLang="en-US" sz="22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以确定</a:t>
            </a:r>
            <a:r>
              <a:rPr lang="zh-CN" altLang="zh-CN" sz="22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模型。</a:t>
            </a:r>
            <a:endParaRPr lang="zh-CN" altLang="en-US" sz="2200" dirty="0">
              <a:solidFill>
                <a:srgbClr val="C00000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73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应对分类模型进行准确性评估</a:t>
            </a:r>
            <a:endParaRPr lang="en-US" altLang="zh-CN" dirty="0"/>
          </a:p>
          <a:p>
            <a:r>
              <a:rPr lang="zh-CN" altLang="en-US" dirty="0"/>
              <a:t>二元分类</a:t>
            </a:r>
            <a:endParaRPr lang="en-US" altLang="zh-CN" dirty="0"/>
          </a:p>
          <a:p>
            <a:pPr lvl="1"/>
            <a:r>
              <a:rPr lang="zh-CN" altLang="en-US" dirty="0"/>
              <a:t>对称型</a:t>
            </a:r>
            <a:endParaRPr lang="en-US" altLang="zh-CN" dirty="0"/>
          </a:p>
          <a:p>
            <a:pPr lvl="1"/>
            <a:r>
              <a:rPr lang="zh-CN" altLang="en-US" dirty="0"/>
              <a:t>非对称型</a:t>
            </a:r>
            <a:endParaRPr lang="en-US" altLang="zh-CN" dirty="0"/>
          </a:p>
          <a:p>
            <a:r>
              <a:rPr lang="zh-CN" altLang="en-US" dirty="0"/>
              <a:t>模型的确定与实际应用密切相关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>
                <a:defRPr/>
              </a:pPr>
              <a:t>24</a:t>
            </a:fld>
            <a:endParaRPr lang="en-US" altLang="zh-CN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31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25035</TotalTime>
  <Words>2160</Words>
  <Application>Microsoft Office PowerPoint</Application>
  <PresentationFormat>全屏显示(4:3)</PresentationFormat>
  <Paragraphs>630</Paragraphs>
  <Slides>24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 Unicode MS</vt:lpstr>
      <vt:lpstr>黑体</vt:lpstr>
      <vt:lpstr>华文细黑</vt:lpstr>
      <vt:lpstr>楷体</vt:lpstr>
      <vt:lpstr>微软雅黑</vt:lpstr>
      <vt:lpstr>幼圆</vt:lpstr>
      <vt:lpstr>Arial</vt:lpstr>
      <vt:lpstr>Calibri</vt:lpstr>
      <vt:lpstr>Cambria Math</vt:lpstr>
      <vt:lpstr>Times New Roman</vt:lpstr>
      <vt:lpstr>Wingdings</vt:lpstr>
      <vt:lpstr>白底灰边-Office2010风格</vt:lpstr>
      <vt:lpstr>公式</vt:lpstr>
      <vt:lpstr>监督学习模型的评估 王丽苹   </vt:lpstr>
      <vt:lpstr>模型评估</vt:lpstr>
      <vt:lpstr>二元分类评估</vt:lpstr>
      <vt:lpstr>二元分类评估</vt:lpstr>
      <vt:lpstr>评价指标</vt:lpstr>
      <vt:lpstr>评价指标</vt:lpstr>
      <vt:lpstr>评价指标</vt:lpstr>
      <vt:lpstr>评价指标</vt:lpstr>
      <vt:lpstr>评价指标</vt:lpstr>
      <vt:lpstr>评价指标</vt:lpstr>
      <vt:lpstr>评价指标</vt:lpstr>
      <vt:lpstr>评价指标</vt:lpstr>
      <vt:lpstr>【例】</vt:lpstr>
      <vt:lpstr>【例】</vt:lpstr>
      <vt:lpstr>ROC</vt:lpstr>
      <vt:lpstr>ROC</vt:lpstr>
      <vt:lpstr>ROC</vt:lpstr>
      <vt:lpstr>ROC</vt:lpstr>
      <vt:lpstr>ROC</vt:lpstr>
      <vt:lpstr>ROC</vt:lpstr>
      <vt:lpstr>PRC</vt:lpstr>
      <vt:lpstr>PRC</vt:lpstr>
      <vt:lpstr>PRC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1600</cp:revision>
  <dcterms:created xsi:type="dcterms:W3CDTF">2018-01-15T02:11:00Z</dcterms:created>
  <dcterms:modified xsi:type="dcterms:W3CDTF">2025-11-18T07:15:11Z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