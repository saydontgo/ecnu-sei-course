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4"/>
  </p:notesMasterIdLst>
  <p:sldIdLst>
    <p:sldId id="732" r:id="rId2"/>
    <p:sldId id="612" r:id="rId3"/>
    <p:sldId id="745" r:id="rId4"/>
    <p:sldId id="738" r:id="rId5"/>
    <p:sldId id="739" r:id="rId6"/>
    <p:sldId id="740" r:id="rId7"/>
    <p:sldId id="746" r:id="rId8"/>
    <p:sldId id="737" r:id="rId9"/>
    <p:sldId id="614" r:id="rId10"/>
    <p:sldId id="747" r:id="rId11"/>
    <p:sldId id="742" r:id="rId12"/>
    <p:sldId id="857" r:id="rId13"/>
    <p:sldId id="744" r:id="rId14"/>
    <p:sldId id="751" r:id="rId15"/>
    <p:sldId id="752" r:id="rId16"/>
    <p:sldId id="753" r:id="rId17"/>
    <p:sldId id="754" r:id="rId18"/>
    <p:sldId id="755" r:id="rId19"/>
    <p:sldId id="618" r:id="rId20"/>
    <p:sldId id="749" r:id="rId21"/>
    <p:sldId id="743" r:id="rId22"/>
    <p:sldId id="750" r:id="rId23"/>
    <p:sldId id="620" r:id="rId24"/>
    <p:sldId id="756" r:id="rId25"/>
    <p:sldId id="757" r:id="rId26"/>
    <p:sldId id="758" r:id="rId27"/>
    <p:sldId id="15725" r:id="rId28"/>
    <p:sldId id="15713" r:id="rId29"/>
    <p:sldId id="15714" r:id="rId30"/>
    <p:sldId id="15717" r:id="rId31"/>
    <p:sldId id="378" r:id="rId32"/>
    <p:sldId id="759" r:id="rId33"/>
    <p:sldId id="380" r:id="rId34"/>
    <p:sldId id="15727" r:id="rId35"/>
    <p:sldId id="381" r:id="rId36"/>
    <p:sldId id="15728" r:id="rId37"/>
    <p:sldId id="15729" r:id="rId38"/>
    <p:sldId id="15730" r:id="rId39"/>
    <p:sldId id="383" r:id="rId40"/>
    <p:sldId id="15715" r:id="rId41"/>
    <p:sldId id="15718" r:id="rId42"/>
    <p:sldId id="4278" r:id="rId4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0BD"/>
    <a:srgbClr val="E3FDBE"/>
    <a:srgbClr val="DCFDAB"/>
    <a:srgbClr val="FFAAA9"/>
    <a:srgbClr val="DBFDAA"/>
    <a:srgbClr val="FFE1E1"/>
    <a:srgbClr val="ECE5F7"/>
    <a:srgbClr val="E1D6F2"/>
    <a:srgbClr val="DCFDAD"/>
    <a:srgbClr val="D4C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91"/>
    <p:restoredTop sz="67685" autoAdjust="0"/>
  </p:normalViewPr>
  <p:slideViewPr>
    <p:cSldViewPr snapToGrid="0">
      <p:cViewPr varScale="1">
        <p:scale>
          <a:sx n="59" d="100"/>
          <a:sy n="59" d="100"/>
        </p:scale>
        <p:origin x="1996" y="44"/>
      </p:cViewPr>
      <p:guideLst>
        <p:guide orient="horz" pos="208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89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37CF0-5B85-4F82-8895-487FD940EFF8}" type="datetimeFigureOut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61C67-365B-455B-8333-B2F3856160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50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/index.php?title=Xiaowei_Xu&amp;action=edit&amp;redlink=1" TargetMode="External"/><Relationship Id="rId13" Type="http://schemas.openxmlformats.org/officeDocument/2006/relationships/hyperlink" Target="https://en.wikipedia.org/wiki/Special:BookSources/1-57735-004-9" TargetMode="External"/><Relationship Id="rId3" Type="http://schemas.openxmlformats.org/officeDocument/2006/relationships/hyperlink" Target="https://en.wikipedia.org/wiki/Hans-Peter_Kriegel" TargetMode="External"/><Relationship Id="rId7" Type="http://schemas.openxmlformats.org/officeDocument/2006/relationships/hyperlink" Target="https://en.wikipedia.org/wiki/Martin_Ester" TargetMode="External"/><Relationship Id="rId12" Type="http://schemas.openxmlformats.org/officeDocument/2006/relationships/hyperlink" Target="https://en.wikipedia.org/wiki/ISBN_(identifier)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i.org/10.1145%2F304181.304187" TargetMode="External"/><Relationship Id="rId11" Type="http://schemas.openxmlformats.org/officeDocument/2006/relationships/hyperlink" Target="https://citeseerx.ist.psu.edu/viewdoc/summary?doi=10.1.1.71.1980" TargetMode="External"/><Relationship Id="rId5" Type="http://schemas.openxmlformats.org/officeDocument/2006/relationships/hyperlink" Target="https://en.wikipedia.org/wiki/Doi_(identifier)" TargetMode="External"/><Relationship Id="rId10" Type="http://schemas.openxmlformats.org/officeDocument/2006/relationships/hyperlink" Target="https://en.wikipedia.org/wiki/CiteSeerX_(identifier)" TargetMode="External"/><Relationship Id="rId4" Type="http://schemas.openxmlformats.org/officeDocument/2006/relationships/hyperlink" Target="https://en.wikipedia.org/w/index.php?title=J%C3%B6rg_Sander&amp;action=edit&amp;redlink=1" TargetMode="External"/><Relationship Id="rId9" Type="http://schemas.openxmlformats.org/officeDocument/2006/relationships/hyperlink" Target="https://en.wikipedia.org/wiki/AAAI_Press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None/>
            </a:pP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Ankerst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altLang="zh-CN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Mihael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 </a:t>
            </a:r>
            <a:r>
              <a:rPr lang="en-US" altLang="zh-CN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Breunig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Markus M.; </a:t>
            </a:r>
            <a:r>
              <a:rPr lang="en-US" altLang="zh-CN" b="0" i="1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ans-Peter Kriegel"/>
              </a:rPr>
              <a:t>Kriegel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ans-Peter Kriegel"/>
              </a:rPr>
              <a:t>, Hans-Peter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US" altLang="zh-CN" b="0" i="1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4" tooltip="Jörg Sander (page does not exist)"/>
              </a:rPr>
              <a:t>Sander, </a:t>
            </a:r>
            <a:r>
              <a:rPr lang="en-US" altLang="zh-CN" b="0" i="1" u="none" strike="noStrike" dirty="0" err="1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4" tooltip="Jörg Sander (page does not exist)"/>
              </a:rPr>
              <a:t>Jörg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(1999). "OPTICS: Ordering points to identify the clustering structure". ACM SIGMOD Record. </a:t>
            </a:r>
            <a:r>
              <a:rPr lang="en-US" altLang="zh-CN" b="1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28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(2): 49–60.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Doi (identifier)"/>
              </a:rPr>
              <a:t>doi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/>
              </a:rPr>
              <a:t>10.1145/304181.304187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zh-CN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Martin Ester"/>
              </a:rPr>
              <a:t>Martin Ester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ans-Peter Kriegel"/>
              </a:rPr>
              <a:t>Hans-Peter </a:t>
            </a:r>
            <a:r>
              <a:rPr lang="en-US" altLang="zh-CN" b="0" i="1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Hans-Peter Kriegel"/>
              </a:rPr>
              <a:t>Kriegel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US" altLang="zh-CN" b="0" i="1" u="none" strike="noStrike" dirty="0" err="1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4" tooltip="Jörg Sander (page does not exist)"/>
              </a:rPr>
              <a:t>Jörg</a:t>
            </a:r>
            <a:r>
              <a:rPr lang="en-US" altLang="zh-CN" b="0" i="1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4" tooltip="Jörg Sander (page does not exist)"/>
              </a:rPr>
              <a:t> Sander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 </a:t>
            </a:r>
            <a:r>
              <a:rPr lang="en-US" altLang="zh-CN" b="0" i="1" u="none" strike="noStrike" dirty="0" err="1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8" tooltip="Xiaowei Xu (page does not exist)"/>
              </a:rPr>
              <a:t>Xiaowei</a:t>
            </a:r>
            <a:r>
              <a:rPr lang="en-US" altLang="zh-CN" b="0" i="1" u="none" strike="noStrike" dirty="0">
                <a:solidFill>
                  <a:srgbClr val="BF3C2C"/>
                </a:solidFill>
                <a:effectLst/>
                <a:latin typeface="Arial" panose="020B0604020202020204" pitchFamily="34" charset="0"/>
                <a:hlinkClick r:id="rId8" tooltip="Xiaowei Xu (page does not exist)"/>
              </a:rPr>
              <a:t> Xu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(1996). </a:t>
            </a:r>
            <a:r>
              <a:rPr lang="en-US" altLang="zh-CN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Evangelos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b="0" i="1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Simoudis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; Jiawei Han; Usama M. Fayyad (eds.). A density-based algorithm for discovering clusters in large spatial databases with noise. Proceedings of the Second International Conference on Knowledge Discovery and Data Mining (KDD-96).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 tooltip="AAAI Press"/>
              </a:rPr>
              <a:t>AAAI Press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pp. 226–231. </a:t>
            </a:r>
            <a:r>
              <a:rPr lang="en-US" altLang="zh-CN" b="0" i="1" u="none" strike="noStrike" dirty="0" err="1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0" tooltip="CiteSeerX (identifier)"/>
              </a:rPr>
              <a:t>CiteSeerX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1"/>
              </a:rPr>
              <a:t>10.1.1.71.1980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2" tooltip="ISBN (identifier)"/>
              </a:rPr>
              <a:t>ISBN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zh-CN" b="0" i="1" u="none" strike="noStrike" dirty="0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13" tooltip="Special:BookSources/1-57735-004-9"/>
              </a:rPr>
              <a:t>1-57735-004-9</a:t>
            </a:r>
            <a:r>
              <a:rPr lang="en-US" altLang="zh-CN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zh-CN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61C67-365B-455B-8333-B2F3856160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808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32261-620F-426D-A9F2-7CDD461E6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31ABD8-EFBB-1E5C-326D-4A1472C62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E131C1C-D8CD-4720-3E24-F5E12A9D5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988B28-2F51-84A3-2207-7FD4ED681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458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5962-84E3-B65A-B2E4-E934E7F4E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612774-3F45-3DB7-6F40-B1048B9E3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54F3BE-AA86-C2A3-E83B-622C942C5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82F969-61E3-A1D4-ECB5-BA7116601A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272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4053A-FF72-DFA8-403F-7BF4020D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4B5B56-E404-4BBD-AFC7-046897105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C2EA9B-E6CE-E32F-27ED-8BCC9E6AA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9EA483-23CC-E6FB-E02C-0A4EC580D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91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33E5-DC69-062F-28E1-B059B1753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9FABCD-6911-2964-48F9-88A13CA62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E08600-885B-D031-A1C5-25CCE3818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8DFDEB-9776-E5CF-9450-AFA205158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293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半径参数</a:t>
            </a:r>
            <a:r>
              <a:rPr lang="zh-CN" altLang="en-US" sz="1400" dirty="0">
                <a:solidFill>
                  <a:srgbClr val="C00000"/>
                </a:solidFill>
              </a:rPr>
              <a:t>𝜀可以设置为无穷大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161C67-365B-455B-8333-B2F3856160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096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74B9A-62F8-3E10-8524-DA1454F8E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5ABD35B-95D5-F8BE-0A4A-41E8BD912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D08CD5C-EDDF-F096-FA8F-A97F9F9BC2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EC935F-3FB8-EDFF-AC58-DC8BFF7CE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0524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A9F08-8E39-E5B3-DC73-286DFF220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45BF14-51D3-935E-8883-47BBEFD24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52C1CA-3218-5820-2CC8-837ABE25C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A3C9AD-15A7-951A-24C9-1F7C8DBDA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67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2578" y="1057014"/>
            <a:ext cx="7772400" cy="1535184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9778" y="402987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389" y="1057014"/>
            <a:ext cx="7772400" cy="15336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978" y="4027400"/>
            <a:ext cx="6858000" cy="1656000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E54B1-0884-4633-8327-893DAA1E511F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A7D6D-E156-4C2B-9FF2-B27706CE389A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E443-EA00-4061-899C-73E3EB4E23B9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9144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4486993" y="0"/>
            <a:ext cx="151634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66672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399"/>
            <a:ext cx="9144000" cy="817721"/>
          </a:xfrm>
          <a:prstGeom prst="rect">
            <a:avLst/>
          </a:prstGeom>
        </p:spPr>
        <p:txBody>
          <a:bodyPr vert="horz" lIns="91440" tIns="14400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23" y="906011"/>
            <a:ext cx="8883941" cy="5637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-525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l">
              <a:defRPr sz="1200" b="1">
                <a:solidFill>
                  <a:srgbClr val="002060"/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2025/11/6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3417" y="6660859"/>
            <a:ext cx="4597165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ctr">
              <a:defRPr sz="1200" b="0">
                <a:solidFill>
                  <a:srgbClr val="002060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660859"/>
            <a:ext cx="2057400" cy="197140"/>
          </a:xfrm>
          <a:prstGeom prst="rect">
            <a:avLst/>
          </a:prstGeom>
        </p:spPr>
        <p:txBody>
          <a:bodyPr vert="horz" lIns="91440" tIns="36000" rIns="91440" bIns="45720" rtlCol="0" anchor="ctr"/>
          <a:lstStyle>
            <a:lvl1pPr algn="r">
              <a:defRPr sz="1200" b="1">
                <a:solidFill>
                  <a:srgbClr val="002060"/>
                </a:solidFill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60680" indent="-36068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Wingdings" panose="05000000000000000000" pitchFamily="2" charset="2"/>
        <a:buChar char="n"/>
        <a:defRPr sz="2400" kern="1200">
          <a:solidFill>
            <a:srgbClr val="002060"/>
          </a:solidFill>
          <a:latin typeface="+mn-lt"/>
          <a:ea typeface="+mn-ea"/>
          <a:cs typeface="+mn-cs"/>
        </a:defRPr>
      </a:lvl1pPr>
      <a:lvl2pPr marL="720725" indent="-3606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u"/>
        <a:defRPr sz="2000" kern="1200">
          <a:solidFill>
            <a:srgbClr val="002060"/>
          </a:solidFill>
          <a:latin typeface="+mn-lt"/>
          <a:ea typeface="+mn-ea"/>
          <a:cs typeface="+mn-cs"/>
        </a:defRPr>
      </a:lvl2pPr>
      <a:lvl3pPr marL="990600" indent="-26987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l"/>
        <a:defRPr sz="1800" kern="1200">
          <a:solidFill>
            <a:srgbClr val="002060"/>
          </a:solidFill>
          <a:latin typeface="+mn-lt"/>
          <a:ea typeface="+mn-ea"/>
          <a:cs typeface="+mn-cs"/>
        </a:defRPr>
      </a:lvl3pPr>
      <a:lvl4pPr marL="125920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p"/>
        <a:defRPr sz="1600" kern="1200">
          <a:solidFill>
            <a:srgbClr val="002060"/>
          </a:solidFill>
          <a:latin typeface="+mn-lt"/>
          <a:ea typeface="+mn-ea"/>
          <a:cs typeface="+mn-cs"/>
        </a:defRPr>
      </a:lvl4pPr>
      <a:lvl5pPr marL="1527175" indent="-268605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Wingdings" panose="05000000000000000000" pitchFamily="2" charset="2"/>
        <a:buChar char="Ø"/>
        <a:defRPr sz="1600" kern="1200">
          <a:solidFill>
            <a:srgbClr val="00206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1.png"/><Relationship Id="rId4" Type="http://schemas.openxmlformats.org/officeDocument/2006/relationships/oleObject" Target="../embeddings/oleObject1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2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3712" y="1828800"/>
            <a:ext cx="8713694" cy="2232011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8.5 DBSCAN</a:t>
            </a:r>
            <a:b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基于密度的空间聚类方法</a:t>
            </a:r>
            <a:br>
              <a:rPr lang="en-US" altLang="zh-CN" sz="3600" b="1" dirty="0"/>
            </a:br>
            <a:r>
              <a:rPr lang="zh-CN" altLang="en-US" sz="3600" b="1" dirty="0">
                <a:solidFill>
                  <a:schemeClr val="tx2"/>
                </a:solidFill>
              </a:rPr>
              <a:t>王丽苹</a:t>
            </a:r>
            <a:br>
              <a:rPr lang="en-US" altLang="zh-CN" sz="3100" dirty="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zh-CN" altLang="en-US" sz="3100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br>
              <a:rPr lang="en-US" altLang="zh-CN" sz="3100" dirty="0">
                <a:solidFill>
                  <a:schemeClr val="tx1"/>
                </a:solidFill>
              </a:rPr>
            </a:br>
            <a:endParaRPr lang="zh-CN" altLang="en-US" sz="3100" dirty="0">
              <a:solidFill>
                <a:schemeClr val="tx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2586" y="4060811"/>
            <a:ext cx="6858000" cy="950912"/>
          </a:xfrm>
        </p:spPr>
        <p:txBody>
          <a:bodyPr/>
          <a:lstStyle/>
          <a:p>
            <a:fld id="{3504A2C2-073E-4849-B03F-707659FDD997}" type="datetimeyyyy">
              <a:rPr lang="en-US" altLang="zh-CN" b="1" smtClean="0">
                <a:ea typeface="微软雅黑" panose="020B0503020204020204" pitchFamily="34" charset="-122"/>
                <a:cs typeface="微软雅黑" panose="020B0503020204020204" pitchFamily="34" charset="-122"/>
              </a:rPr>
              <a:pPr/>
              <a:t>2025</a:t>
            </a:fld>
            <a:r>
              <a:rPr lang="en-US" altLang="zh-CN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 dirty="0">
                <a:ea typeface="微软雅黑" panose="020B0503020204020204" pitchFamily="34" charset="-122"/>
                <a:cs typeface="微软雅黑" panose="020B0503020204020204" pitchFamily="34" charset="-122"/>
              </a:rPr>
              <a:t>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4C42C8-C228-45C7-A723-EEC9F9A89A72}"/>
              </a:ext>
            </a:extLst>
          </p:cNvPr>
          <p:cNvSpPr/>
          <p:nvPr/>
        </p:nvSpPr>
        <p:spPr>
          <a:xfrm>
            <a:off x="6206546" y="254574"/>
            <a:ext cx="17620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《</a:t>
            </a:r>
            <a:r>
              <a:rPr lang="zh-CN" altLang="en-US" sz="2000" dirty="0"/>
              <a:t>数据挖掘</a:t>
            </a:r>
            <a:r>
              <a:rPr lang="en-US" altLang="zh-CN" sz="2000" dirty="0"/>
              <a:t>》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31157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dirty="0"/>
              <a:t>DBSCAN</a:t>
            </a:r>
            <a:r>
              <a:rPr lang="zh-CN" altLang="en-US" dirty="0"/>
              <a:t>算法</a:t>
            </a:r>
          </a:p>
        </p:txBody>
      </p:sp>
      <p:sp>
        <p:nvSpPr>
          <p:cNvPr id="16496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将具有足够密度的区域划分为簇，并在具有噪声点的空间数据中发现任意形状的簇，它将簇定义为以一定密度相连的点的最大集合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 rot="19958119">
            <a:off x="4013079" y="4621437"/>
            <a:ext cx="99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简单</a:t>
            </a:r>
            <a:endParaRPr lang="en-US" altLang="zh-CN" sz="24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 rot="19958119">
            <a:off x="2946279" y="4850037"/>
            <a:ext cx="99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有效</a:t>
            </a:r>
            <a:endParaRPr lang="en-US" altLang="zh-CN" sz="24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334001" y="2685726"/>
            <a:ext cx="3530900" cy="34827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矩形 2"/>
          <p:cNvSpPr/>
          <p:nvPr/>
        </p:nvSpPr>
        <p:spPr>
          <a:xfrm>
            <a:off x="3323884" y="454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  <a:latin typeface="Times New Roman" pitchFamily="18" charset="0"/>
                <a:ea typeface="Verdana" pitchFamily="34" charset="0"/>
                <a:cs typeface="Times New Roman" pitchFamily="18" charset="0"/>
              </a:rPr>
              <a:t>Density-Based Spatial Clustering of Application with Noise</a:t>
            </a:r>
          </a:p>
        </p:txBody>
      </p:sp>
      <p:sp>
        <p:nvSpPr>
          <p:cNvPr id="4" name="椭圆 3"/>
          <p:cNvSpPr/>
          <p:nvPr/>
        </p:nvSpPr>
        <p:spPr>
          <a:xfrm rot="18529369">
            <a:off x="7031607" y="3746200"/>
            <a:ext cx="574503" cy="1957825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 rot="1965300">
            <a:off x="5839715" y="3234365"/>
            <a:ext cx="574503" cy="1527620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 rot="18816418">
            <a:off x="6176146" y="4553177"/>
            <a:ext cx="574503" cy="1584000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 rot="18816418">
            <a:off x="7449166" y="3175775"/>
            <a:ext cx="1120913" cy="1489101"/>
          </a:xfrm>
          <a:custGeom>
            <a:avLst/>
            <a:gdLst>
              <a:gd name="connsiteX0" fmla="*/ 0 w 862750"/>
              <a:gd name="connsiteY0" fmla="*/ 744148 h 1488296"/>
              <a:gd name="connsiteX1" fmla="*/ 431375 w 862750"/>
              <a:gd name="connsiteY1" fmla="*/ 0 h 1488296"/>
              <a:gd name="connsiteX2" fmla="*/ 862750 w 862750"/>
              <a:gd name="connsiteY2" fmla="*/ 744148 h 1488296"/>
              <a:gd name="connsiteX3" fmla="*/ 431375 w 862750"/>
              <a:gd name="connsiteY3" fmla="*/ 1488296 h 1488296"/>
              <a:gd name="connsiteX4" fmla="*/ 0 w 862750"/>
              <a:gd name="connsiteY4" fmla="*/ 744148 h 1488296"/>
              <a:gd name="connsiteX0" fmla="*/ 0 w 1055454"/>
              <a:gd name="connsiteY0" fmla="*/ 746303 h 1494721"/>
              <a:gd name="connsiteX1" fmla="*/ 431375 w 1055454"/>
              <a:gd name="connsiteY1" fmla="*/ 2155 h 1494721"/>
              <a:gd name="connsiteX2" fmla="*/ 1055454 w 1055454"/>
              <a:gd name="connsiteY2" fmla="*/ 948613 h 1494721"/>
              <a:gd name="connsiteX3" fmla="*/ 431375 w 1055454"/>
              <a:gd name="connsiteY3" fmla="*/ 1490451 h 1494721"/>
              <a:gd name="connsiteX4" fmla="*/ 0 w 1055454"/>
              <a:gd name="connsiteY4" fmla="*/ 746303 h 1494721"/>
              <a:gd name="connsiteX0" fmla="*/ 0 w 1067273"/>
              <a:gd name="connsiteY0" fmla="*/ 746671 h 1492858"/>
              <a:gd name="connsiteX1" fmla="*/ 431375 w 1067273"/>
              <a:gd name="connsiteY1" fmla="*/ 2523 h 1492858"/>
              <a:gd name="connsiteX2" fmla="*/ 769935 w 1067273"/>
              <a:gd name="connsiteY2" fmla="*/ 519758 h 1492858"/>
              <a:gd name="connsiteX3" fmla="*/ 1055454 w 1067273"/>
              <a:gd name="connsiteY3" fmla="*/ 948981 h 1492858"/>
              <a:gd name="connsiteX4" fmla="*/ 431375 w 1067273"/>
              <a:gd name="connsiteY4" fmla="*/ 1490819 h 1492858"/>
              <a:gd name="connsiteX5" fmla="*/ 0 w 1067273"/>
              <a:gd name="connsiteY5" fmla="*/ 746671 h 1492858"/>
              <a:gd name="connsiteX0" fmla="*/ 0 w 1055454"/>
              <a:gd name="connsiteY0" fmla="*/ 746671 h 1496810"/>
              <a:gd name="connsiteX1" fmla="*/ 431375 w 1055454"/>
              <a:gd name="connsiteY1" fmla="*/ 2523 h 1496810"/>
              <a:gd name="connsiteX2" fmla="*/ 769935 w 1055454"/>
              <a:gd name="connsiteY2" fmla="*/ 519758 h 1496810"/>
              <a:gd name="connsiteX3" fmla="*/ 1055454 w 1055454"/>
              <a:gd name="connsiteY3" fmla="*/ 948981 h 1496810"/>
              <a:gd name="connsiteX4" fmla="*/ 558457 w 1055454"/>
              <a:gd name="connsiteY4" fmla="*/ 1089521 h 1496810"/>
              <a:gd name="connsiteX5" fmla="*/ 431375 w 1055454"/>
              <a:gd name="connsiteY5" fmla="*/ 1490819 h 1496810"/>
              <a:gd name="connsiteX6" fmla="*/ 0 w 1055454"/>
              <a:gd name="connsiteY6" fmla="*/ 746671 h 1496810"/>
              <a:gd name="connsiteX0" fmla="*/ 6110 w 1061564"/>
              <a:gd name="connsiteY0" fmla="*/ 746671 h 1642389"/>
              <a:gd name="connsiteX1" fmla="*/ 437485 w 1061564"/>
              <a:gd name="connsiteY1" fmla="*/ 2523 h 1642389"/>
              <a:gd name="connsiteX2" fmla="*/ 776045 w 1061564"/>
              <a:gd name="connsiteY2" fmla="*/ 519758 h 1642389"/>
              <a:gd name="connsiteX3" fmla="*/ 1061564 w 1061564"/>
              <a:gd name="connsiteY3" fmla="*/ 948981 h 1642389"/>
              <a:gd name="connsiteX4" fmla="*/ 564567 w 1061564"/>
              <a:gd name="connsiteY4" fmla="*/ 1089521 h 1642389"/>
              <a:gd name="connsiteX5" fmla="*/ 209334 w 1061564"/>
              <a:gd name="connsiteY5" fmla="*/ 1637979 h 1642389"/>
              <a:gd name="connsiteX6" fmla="*/ 6110 w 1061564"/>
              <a:gd name="connsiteY6" fmla="*/ 746671 h 1642389"/>
              <a:gd name="connsiteX0" fmla="*/ 5941 w 1067534"/>
              <a:gd name="connsiteY0" fmla="*/ 627867 h 1643587"/>
              <a:gd name="connsiteX1" fmla="*/ 443455 w 1067534"/>
              <a:gd name="connsiteY1" fmla="*/ 645 h 1643587"/>
              <a:gd name="connsiteX2" fmla="*/ 782015 w 1067534"/>
              <a:gd name="connsiteY2" fmla="*/ 517880 h 1643587"/>
              <a:gd name="connsiteX3" fmla="*/ 1067534 w 1067534"/>
              <a:gd name="connsiteY3" fmla="*/ 947103 h 1643587"/>
              <a:gd name="connsiteX4" fmla="*/ 570537 w 1067534"/>
              <a:gd name="connsiteY4" fmla="*/ 1087643 h 1643587"/>
              <a:gd name="connsiteX5" fmla="*/ 215304 w 1067534"/>
              <a:gd name="connsiteY5" fmla="*/ 1636101 h 1643587"/>
              <a:gd name="connsiteX6" fmla="*/ 5941 w 1067534"/>
              <a:gd name="connsiteY6" fmla="*/ 627867 h 1643587"/>
              <a:gd name="connsiteX0" fmla="*/ 5941 w 1067534"/>
              <a:gd name="connsiteY0" fmla="*/ 627223 h 1642943"/>
              <a:gd name="connsiteX1" fmla="*/ 443455 w 1067534"/>
              <a:gd name="connsiteY1" fmla="*/ 1 h 1642943"/>
              <a:gd name="connsiteX2" fmla="*/ 628055 w 1067534"/>
              <a:gd name="connsiteY2" fmla="*/ 631087 h 1642943"/>
              <a:gd name="connsiteX3" fmla="*/ 1067534 w 1067534"/>
              <a:gd name="connsiteY3" fmla="*/ 946459 h 1642943"/>
              <a:gd name="connsiteX4" fmla="*/ 570537 w 1067534"/>
              <a:gd name="connsiteY4" fmla="*/ 1086999 h 1642943"/>
              <a:gd name="connsiteX5" fmla="*/ 215304 w 1067534"/>
              <a:gd name="connsiteY5" fmla="*/ 1635457 h 1642943"/>
              <a:gd name="connsiteX6" fmla="*/ 5941 w 1067534"/>
              <a:gd name="connsiteY6" fmla="*/ 627223 h 1642943"/>
              <a:gd name="connsiteX0" fmla="*/ 5407 w 1067000"/>
              <a:gd name="connsiteY0" fmla="*/ 627223 h 1639016"/>
              <a:gd name="connsiteX1" fmla="*/ 442921 w 1067000"/>
              <a:gd name="connsiteY1" fmla="*/ 1 h 1639016"/>
              <a:gd name="connsiteX2" fmla="*/ 627521 w 1067000"/>
              <a:gd name="connsiteY2" fmla="*/ 631087 h 1639016"/>
              <a:gd name="connsiteX3" fmla="*/ 1067000 w 1067000"/>
              <a:gd name="connsiteY3" fmla="*/ 946459 h 1639016"/>
              <a:gd name="connsiteX4" fmla="*/ 455336 w 1067000"/>
              <a:gd name="connsiteY4" fmla="*/ 966617 h 1639016"/>
              <a:gd name="connsiteX5" fmla="*/ 214770 w 1067000"/>
              <a:gd name="connsiteY5" fmla="*/ 1635457 h 1639016"/>
              <a:gd name="connsiteX6" fmla="*/ 5407 w 1067000"/>
              <a:gd name="connsiteY6" fmla="*/ 627223 h 1639016"/>
              <a:gd name="connsiteX0" fmla="*/ 5606 w 1067199"/>
              <a:gd name="connsiteY0" fmla="*/ 627223 h 1635636"/>
              <a:gd name="connsiteX1" fmla="*/ 443120 w 1067199"/>
              <a:gd name="connsiteY1" fmla="*/ 1 h 1635636"/>
              <a:gd name="connsiteX2" fmla="*/ 627720 w 1067199"/>
              <a:gd name="connsiteY2" fmla="*/ 631087 h 1635636"/>
              <a:gd name="connsiteX3" fmla="*/ 1067199 w 1067199"/>
              <a:gd name="connsiteY3" fmla="*/ 946459 h 1635636"/>
              <a:gd name="connsiteX4" fmla="*/ 455535 w 1067199"/>
              <a:gd name="connsiteY4" fmla="*/ 966617 h 1635636"/>
              <a:gd name="connsiteX5" fmla="*/ 214969 w 1067199"/>
              <a:gd name="connsiteY5" fmla="*/ 1635457 h 1635636"/>
              <a:gd name="connsiteX6" fmla="*/ 196541 w 1067199"/>
              <a:gd name="connsiteY6" fmla="*/ 894871 h 1635636"/>
              <a:gd name="connsiteX7" fmla="*/ 5606 w 1067199"/>
              <a:gd name="connsiteY7" fmla="*/ 627223 h 1635636"/>
              <a:gd name="connsiteX0" fmla="*/ 5860 w 1057630"/>
              <a:gd name="connsiteY0" fmla="*/ 568849 h 1635820"/>
              <a:gd name="connsiteX1" fmla="*/ 433551 w 1057630"/>
              <a:gd name="connsiteY1" fmla="*/ 185 h 1635820"/>
              <a:gd name="connsiteX2" fmla="*/ 618151 w 1057630"/>
              <a:gd name="connsiteY2" fmla="*/ 631271 h 1635820"/>
              <a:gd name="connsiteX3" fmla="*/ 1057630 w 1057630"/>
              <a:gd name="connsiteY3" fmla="*/ 946643 h 1635820"/>
              <a:gd name="connsiteX4" fmla="*/ 445966 w 1057630"/>
              <a:gd name="connsiteY4" fmla="*/ 966801 h 1635820"/>
              <a:gd name="connsiteX5" fmla="*/ 205400 w 1057630"/>
              <a:gd name="connsiteY5" fmla="*/ 1635641 h 1635820"/>
              <a:gd name="connsiteX6" fmla="*/ 186972 w 1057630"/>
              <a:gd name="connsiteY6" fmla="*/ 895055 h 1635820"/>
              <a:gd name="connsiteX7" fmla="*/ 5860 w 1057630"/>
              <a:gd name="connsiteY7" fmla="*/ 568849 h 1635820"/>
              <a:gd name="connsiteX0" fmla="*/ 294 w 1052064"/>
              <a:gd name="connsiteY0" fmla="*/ 574805 h 1641776"/>
              <a:gd name="connsiteX1" fmla="*/ 228867 w 1052064"/>
              <a:gd name="connsiteY1" fmla="*/ 330993 h 1641776"/>
              <a:gd name="connsiteX2" fmla="*/ 427985 w 1052064"/>
              <a:gd name="connsiteY2" fmla="*/ 6141 h 1641776"/>
              <a:gd name="connsiteX3" fmla="*/ 612585 w 1052064"/>
              <a:gd name="connsiteY3" fmla="*/ 637227 h 1641776"/>
              <a:gd name="connsiteX4" fmla="*/ 1052064 w 1052064"/>
              <a:gd name="connsiteY4" fmla="*/ 952599 h 1641776"/>
              <a:gd name="connsiteX5" fmla="*/ 440400 w 1052064"/>
              <a:gd name="connsiteY5" fmla="*/ 972757 h 1641776"/>
              <a:gd name="connsiteX6" fmla="*/ 199834 w 1052064"/>
              <a:gd name="connsiteY6" fmla="*/ 1641597 h 1641776"/>
              <a:gd name="connsiteX7" fmla="*/ 181406 w 1052064"/>
              <a:gd name="connsiteY7" fmla="*/ 901011 h 1641776"/>
              <a:gd name="connsiteX8" fmla="*/ 294 w 1052064"/>
              <a:gd name="connsiteY8" fmla="*/ 574805 h 1641776"/>
              <a:gd name="connsiteX0" fmla="*/ 294 w 1052064"/>
              <a:gd name="connsiteY0" fmla="*/ 574805 h 1489101"/>
              <a:gd name="connsiteX1" fmla="*/ 228867 w 1052064"/>
              <a:gd name="connsiteY1" fmla="*/ 330993 h 1489101"/>
              <a:gd name="connsiteX2" fmla="*/ 427985 w 1052064"/>
              <a:gd name="connsiteY2" fmla="*/ 6141 h 1489101"/>
              <a:gd name="connsiteX3" fmla="*/ 612585 w 1052064"/>
              <a:gd name="connsiteY3" fmla="*/ 637227 h 1489101"/>
              <a:gd name="connsiteX4" fmla="*/ 1052064 w 1052064"/>
              <a:gd name="connsiteY4" fmla="*/ 952599 h 1489101"/>
              <a:gd name="connsiteX5" fmla="*/ 440400 w 1052064"/>
              <a:gd name="connsiteY5" fmla="*/ 972757 h 1489101"/>
              <a:gd name="connsiteX6" fmla="*/ 136351 w 1052064"/>
              <a:gd name="connsiteY6" fmla="*/ 1488861 h 1489101"/>
              <a:gd name="connsiteX7" fmla="*/ 181406 w 1052064"/>
              <a:gd name="connsiteY7" fmla="*/ 901011 h 1489101"/>
              <a:gd name="connsiteX8" fmla="*/ 294 w 1052064"/>
              <a:gd name="connsiteY8" fmla="*/ 574805 h 148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2064" h="1489101">
                <a:moveTo>
                  <a:pt x="294" y="574805"/>
                </a:moveTo>
                <a:cubicBezTo>
                  <a:pt x="8204" y="479802"/>
                  <a:pt x="157585" y="425770"/>
                  <a:pt x="228867" y="330993"/>
                </a:cubicBezTo>
                <a:cubicBezTo>
                  <a:pt x="300149" y="236216"/>
                  <a:pt x="364032" y="-44898"/>
                  <a:pt x="427985" y="6141"/>
                </a:cubicBezTo>
                <a:cubicBezTo>
                  <a:pt x="491938" y="57180"/>
                  <a:pt x="508572" y="479484"/>
                  <a:pt x="612585" y="637227"/>
                </a:cubicBezTo>
                <a:cubicBezTo>
                  <a:pt x="716598" y="794970"/>
                  <a:pt x="1052273" y="820855"/>
                  <a:pt x="1052064" y="952599"/>
                </a:cubicBezTo>
                <a:cubicBezTo>
                  <a:pt x="1051855" y="1084343"/>
                  <a:pt x="544413" y="882451"/>
                  <a:pt x="440400" y="972757"/>
                </a:cubicBezTo>
                <a:cubicBezTo>
                  <a:pt x="336387" y="1063063"/>
                  <a:pt x="179517" y="1500819"/>
                  <a:pt x="136351" y="1488861"/>
                </a:cubicBezTo>
                <a:cubicBezTo>
                  <a:pt x="93185" y="1476903"/>
                  <a:pt x="216300" y="1069050"/>
                  <a:pt x="181406" y="901011"/>
                </a:cubicBezTo>
                <a:cubicBezTo>
                  <a:pt x="146512" y="732972"/>
                  <a:pt x="-7616" y="669808"/>
                  <a:pt x="294" y="574805"/>
                </a:cubicBezTo>
                <a:close/>
              </a:path>
            </a:pathLst>
          </a:cu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 rot="18529369">
            <a:off x="6781092" y="2721093"/>
            <a:ext cx="540000" cy="648000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7315" y="2738735"/>
            <a:ext cx="37921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基于密度的空间聚类方法</a:t>
            </a:r>
            <a:endParaRPr lang="en-US" altLang="zh-CN" sz="24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32648" y="3630615"/>
            <a:ext cx="2803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具有噪声点的数据</a:t>
            </a:r>
            <a:endParaRPr lang="en-US" altLang="zh-CN" sz="24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462950" y="1356360"/>
            <a:ext cx="1371600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7083951" y="1885950"/>
            <a:ext cx="720000" cy="0"/>
          </a:xfrm>
          <a:prstGeom prst="line">
            <a:avLst/>
          </a:prstGeom>
          <a:ln w="381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DBSCAN</a:t>
            </a:r>
            <a:r>
              <a:rPr lang="zh-CN" altLang="en-US" dirty="0"/>
              <a:t>算法</a:t>
            </a:r>
          </a:p>
        </p:txBody>
      </p:sp>
      <p:sp>
        <p:nvSpPr>
          <p:cNvPr id="16496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密度足够</a:t>
            </a:r>
            <a:endParaRPr lang="en-US" altLang="zh-CN" dirty="0"/>
          </a:p>
          <a:p>
            <a:pPr lvl="1"/>
            <a:r>
              <a:rPr lang="zh-CN" altLang="en-US" dirty="0"/>
              <a:t>单位区域内数据点个数不小于给定阈值</a:t>
            </a:r>
            <a:endParaRPr lang="en-US" altLang="zh-CN" dirty="0"/>
          </a:p>
          <a:p>
            <a:r>
              <a:rPr lang="zh-CN" altLang="en-US" dirty="0"/>
              <a:t>相连</a:t>
            </a:r>
            <a:endParaRPr lang="en-US" altLang="zh-CN" dirty="0"/>
          </a:p>
          <a:p>
            <a:pPr lvl="1"/>
            <a:r>
              <a:rPr lang="zh-CN" altLang="en-US" dirty="0"/>
              <a:t>这些“密度足够”的区域是</a:t>
            </a:r>
            <a:br>
              <a:rPr lang="en-US" altLang="zh-CN" dirty="0"/>
            </a:br>
            <a:r>
              <a:rPr lang="zh-CN" altLang="en-US" dirty="0"/>
              <a:t>连通的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334001" y="2685726"/>
            <a:ext cx="3530900" cy="348275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椭圆 11"/>
          <p:cNvSpPr/>
          <p:nvPr/>
        </p:nvSpPr>
        <p:spPr>
          <a:xfrm rot="18529369">
            <a:off x="7545443" y="3583042"/>
            <a:ext cx="252000" cy="252000"/>
          </a:xfrm>
          <a:prstGeom prst="ellipse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0"/>
          <p:cNvSpPr/>
          <p:nvPr/>
        </p:nvSpPr>
        <p:spPr>
          <a:xfrm rot="18816418">
            <a:off x="7449166" y="3175775"/>
            <a:ext cx="1120913" cy="1489101"/>
          </a:xfrm>
          <a:custGeom>
            <a:avLst/>
            <a:gdLst>
              <a:gd name="connsiteX0" fmla="*/ 0 w 862750"/>
              <a:gd name="connsiteY0" fmla="*/ 744148 h 1488296"/>
              <a:gd name="connsiteX1" fmla="*/ 431375 w 862750"/>
              <a:gd name="connsiteY1" fmla="*/ 0 h 1488296"/>
              <a:gd name="connsiteX2" fmla="*/ 862750 w 862750"/>
              <a:gd name="connsiteY2" fmla="*/ 744148 h 1488296"/>
              <a:gd name="connsiteX3" fmla="*/ 431375 w 862750"/>
              <a:gd name="connsiteY3" fmla="*/ 1488296 h 1488296"/>
              <a:gd name="connsiteX4" fmla="*/ 0 w 862750"/>
              <a:gd name="connsiteY4" fmla="*/ 744148 h 1488296"/>
              <a:gd name="connsiteX0" fmla="*/ 0 w 1055454"/>
              <a:gd name="connsiteY0" fmla="*/ 746303 h 1494721"/>
              <a:gd name="connsiteX1" fmla="*/ 431375 w 1055454"/>
              <a:gd name="connsiteY1" fmla="*/ 2155 h 1494721"/>
              <a:gd name="connsiteX2" fmla="*/ 1055454 w 1055454"/>
              <a:gd name="connsiteY2" fmla="*/ 948613 h 1494721"/>
              <a:gd name="connsiteX3" fmla="*/ 431375 w 1055454"/>
              <a:gd name="connsiteY3" fmla="*/ 1490451 h 1494721"/>
              <a:gd name="connsiteX4" fmla="*/ 0 w 1055454"/>
              <a:gd name="connsiteY4" fmla="*/ 746303 h 1494721"/>
              <a:gd name="connsiteX0" fmla="*/ 0 w 1067273"/>
              <a:gd name="connsiteY0" fmla="*/ 746671 h 1492858"/>
              <a:gd name="connsiteX1" fmla="*/ 431375 w 1067273"/>
              <a:gd name="connsiteY1" fmla="*/ 2523 h 1492858"/>
              <a:gd name="connsiteX2" fmla="*/ 769935 w 1067273"/>
              <a:gd name="connsiteY2" fmla="*/ 519758 h 1492858"/>
              <a:gd name="connsiteX3" fmla="*/ 1055454 w 1067273"/>
              <a:gd name="connsiteY3" fmla="*/ 948981 h 1492858"/>
              <a:gd name="connsiteX4" fmla="*/ 431375 w 1067273"/>
              <a:gd name="connsiteY4" fmla="*/ 1490819 h 1492858"/>
              <a:gd name="connsiteX5" fmla="*/ 0 w 1067273"/>
              <a:gd name="connsiteY5" fmla="*/ 746671 h 1492858"/>
              <a:gd name="connsiteX0" fmla="*/ 0 w 1055454"/>
              <a:gd name="connsiteY0" fmla="*/ 746671 h 1496810"/>
              <a:gd name="connsiteX1" fmla="*/ 431375 w 1055454"/>
              <a:gd name="connsiteY1" fmla="*/ 2523 h 1496810"/>
              <a:gd name="connsiteX2" fmla="*/ 769935 w 1055454"/>
              <a:gd name="connsiteY2" fmla="*/ 519758 h 1496810"/>
              <a:gd name="connsiteX3" fmla="*/ 1055454 w 1055454"/>
              <a:gd name="connsiteY3" fmla="*/ 948981 h 1496810"/>
              <a:gd name="connsiteX4" fmla="*/ 558457 w 1055454"/>
              <a:gd name="connsiteY4" fmla="*/ 1089521 h 1496810"/>
              <a:gd name="connsiteX5" fmla="*/ 431375 w 1055454"/>
              <a:gd name="connsiteY5" fmla="*/ 1490819 h 1496810"/>
              <a:gd name="connsiteX6" fmla="*/ 0 w 1055454"/>
              <a:gd name="connsiteY6" fmla="*/ 746671 h 1496810"/>
              <a:gd name="connsiteX0" fmla="*/ 6110 w 1061564"/>
              <a:gd name="connsiteY0" fmla="*/ 746671 h 1642389"/>
              <a:gd name="connsiteX1" fmla="*/ 437485 w 1061564"/>
              <a:gd name="connsiteY1" fmla="*/ 2523 h 1642389"/>
              <a:gd name="connsiteX2" fmla="*/ 776045 w 1061564"/>
              <a:gd name="connsiteY2" fmla="*/ 519758 h 1642389"/>
              <a:gd name="connsiteX3" fmla="*/ 1061564 w 1061564"/>
              <a:gd name="connsiteY3" fmla="*/ 948981 h 1642389"/>
              <a:gd name="connsiteX4" fmla="*/ 564567 w 1061564"/>
              <a:gd name="connsiteY4" fmla="*/ 1089521 h 1642389"/>
              <a:gd name="connsiteX5" fmla="*/ 209334 w 1061564"/>
              <a:gd name="connsiteY5" fmla="*/ 1637979 h 1642389"/>
              <a:gd name="connsiteX6" fmla="*/ 6110 w 1061564"/>
              <a:gd name="connsiteY6" fmla="*/ 746671 h 1642389"/>
              <a:gd name="connsiteX0" fmla="*/ 5941 w 1067534"/>
              <a:gd name="connsiteY0" fmla="*/ 627867 h 1643587"/>
              <a:gd name="connsiteX1" fmla="*/ 443455 w 1067534"/>
              <a:gd name="connsiteY1" fmla="*/ 645 h 1643587"/>
              <a:gd name="connsiteX2" fmla="*/ 782015 w 1067534"/>
              <a:gd name="connsiteY2" fmla="*/ 517880 h 1643587"/>
              <a:gd name="connsiteX3" fmla="*/ 1067534 w 1067534"/>
              <a:gd name="connsiteY3" fmla="*/ 947103 h 1643587"/>
              <a:gd name="connsiteX4" fmla="*/ 570537 w 1067534"/>
              <a:gd name="connsiteY4" fmla="*/ 1087643 h 1643587"/>
              <a:gd name="connsiteX5" fmla="*/ 215304 w 1067534"/>
              <a:gd name="connsiteY5" fmla="*/ 1636101 h 1643587"/>
              <a:gd name="connsiteX6" fmla="*/ 5941 w 1067534"/>
              <a:gd name="connsiteY6" fmla="*/ 627867 h 1643587"/>
              <a:gd name="connsiteX0" fmla="*/ 5941 w 1067534"/>
              <a:gd name="connsiteY0" fmla="*/ 627223 h 1642943"/>
              <a:gd name="connsiteX1" fmla="*/ 443455 w 1067534"/>
              <a:gd name="connsiteY1" fmla="*/ 1 h 1642943"/>
              <a:gd name="connsiteX2" fmla="*/ 628055 w 1067534"/>
              <a:gd name="connsiteY2" fmla="*/ 631087 h 1642943"/>
              <a:gd name="connsiteX3" fmla="*/ 1067534 w 1067534"/>
              <a:gd name="connsiteY3" fmla="*/ 946459 h 1642943"/>
              <a:gd name="connsiteX4" fmla="*/ 570537 w 1067534"/>
              <a:gd name="connsiteY4" fmla="*/ 1086999 h 1642943"/>
              <a:gd name="connsiteX5" fmla="*/ 215304 w 1067534"/>
              <a:gd name="connsiteY5" fmla="*/ 1635457 h 1642943"/>
              <a:gd name="connsiteX6" fmla="*/ 5941 w 1067534"/>
              <a:gd name="connsiteY6" fmla="*/ 627223 h 1642943"/>
              <a:gd name="connsiteX0" fmla="*/ 5407 w 1067000"/>
              <a:gd name="connsiteY0" fmla="*/ 627223 h 1639016"/>
              <a:gd name="connsiteX1" fmla="*/ 442921 w 1067000"/>
              <a:gd name="connsiteY1" fmla="*/ 1 h 1639016"/>
              <a:gd name="connsiteX2" fmla="*/ 627521 w 1067000"/>
              <a:gd name="connsiteY2" fmla="*/ 631087 h 1639016"/>
              <a:gd name="connsiteX3" fmla="*/ 1067000 w 1067000"/>
              <a:gd name="connsiteY3" fmla="*/ 946459 h 1639016"/>
              <a:gd name="connsiteX4" fmla="*/ 455336 w 1067000"/>
              <a:gd name="connsiteY4" fmla="*/ 966617 h 1639016"/>
              <a:gd name="connsiteX5" fmla="*/ 214770 w 1067000"/>
              <a:gd name="connsiteY5" fmla="*/ 1635457 h 1639016"/>
              <a:gd name="connsiteX6" fmla="*/ 5407 w 1067000"/>
              <a:gd name="connsiteY6" fmla="*/ 627223 h 1639016"/>
              <a:gd name="connsiteX0" fmla="*/ 5606 w 1067199"/>
              <a:gd name="connsiteY0" fmla="*/ 627223 h 1635636"/>
              <a:gd name="connsiteX1" fmla="*/ 443120 w 1067199"/>
              <a:gd name="connsiteY1" fmla="*/ 1 h 1635636"/>
              <a:gd name="connsiteX2" fmla="*/ 627720 w 1067199"/>
              <a:gd name="connsiteY2" fmla="*/ 631087 h 1635636"/>
              <a:gd name="connsiteX3" fmla="*/ 1067199 w 1067199"/>
              <a:gd name="connsiteY3" fmla="*/ 946459 h 1635636"/>
              <a:gd name="connsiteX4" fmla="*/ 455535 w 1067199"/>
              <a:gd name="connsiteY4" fmla="*/ 966617 h 1635636"/>
              <a:gd name="connsiteX5" fmla="*/ 214969 w 1067199"/>
              <a:gd name="connsiteY5" fmla="*/ 1635457 h 1635636"/>
              <a:gd name="connsiteX6" fmla="*/ 196541 w 1067199"/>
              <a:gd name="connsiteY6" fmla="*/ 894871 h 1635636"/>
              <a:gd name="connsiteX7" fmla="*/ 5606 w 1067199"/>
              <a:gd name="connsiteY7" fmla="*/ 627223 h 1635636"/>
              <a:gd name="connsiteX0" fmla="*/ 5860 w 1057630"/>
              <a:gd name="connsiteY0" fmla="*/ 568849 h 1635820"/>
              <a:gd name="connsiteX1" fmla="*/ 433551 w 1057630"/>
              <a:gd name="connsiteY1" fmla="*/ 185 h 1635820"/>
              <a:gd name="connsiteX2" fmla="*/ 618151 w 1057630"/>
              <a:gd name="connsiteY2" fmla="*/ 631271 h 1635820"/>
              <a:gd name="connsiteX3" fmla="*/ 1057630 w 1057630"/>
              <a:gd name="connsiteY3" fmla="*/ 946643 h 1635820"/>
              <a:gd name="connsiteX4" fmla="*/ 445966 w 1057630"/>
              <a:gd name="connsiteY4" fmla="*/ 966801 h 1635820"/>
              <a:gd name="connsiteX5" fmla="*/ 205400 w 1057630"/>
              <a:gd name="connsiteY5" fmla="*/ 1635641 h 1635820"/>
              <a:gd name="connsiteX6" fmla="*/ 186972 w 1057630"/>
              <a:gd name="connsiteY6" fmla="*/ 895055 h 1635820"/>
              <a:gd name="connsiteX7" fmla="*/ 5860 w 1057630"/>
              <a:gd name="connsiteY7" fmla="*/ 568849 h 1635820"/>
              <a:gd name="connsiteX0" fmla="*/ 294 w 1052064"/>
              <a:gd name="connsiteY0" fmla="*/ 574805 h 1641776"/>
              <a:gd name="connsiteX1" fmla="*/ 228867 w 1052064"/>
              <a:gd name="connsiteY1" fmla="*/ 330993 h 1641776"/>
              <a:gd name="connsiteX2" fmla="*/ 427985 w 1052064"/>
              <a:gd name="connsiteY2" fmla="*/ 6141 h 1641776"/>
              <a:gd name="connsiteX3" fmla="*/ 612585 w 1052064"/>
              <a:gd name="connsiteY3" fmla="*/ 637227 h 1641776"/>
              <a:gd name="connsiteX4" fmla="*/ 1052064 w 1052064"/>
              <a:gd name="connsiteY4" fmla="*/ 952599 h 1641776"/>
              <a:gd name="connsiteX5" fmla="*/ 440400 w 1052064"/>
              <a:gd name="connsiteY5" fmla="*/ 972757 h 1641776"/>
              <a:gd name="connsiteX6" fmla="*/ 199834 w 1052064"/>
              <a:gd name="connsiteY6" fmla="*/ 1641597 h 1641776"/>
              <a:gd name="connsiteX7" fmla="*/ 181406 w 1052064"/>
              <a:gd name="connsiteY7" fmla="*/ 901011 h 1641776"/>
              <a:gd name="connsiteX8" fmla="*/ 294 w 1052064"/>
              <a:gd name="connsiteY8" fmla="*/ 574805 h 1641776"/>
              <a:gd name="connsiteX0" fmla="*/ 294 w 1052064"/>
              <a:gd name="connsiteY0" fmla="*/ 574805 h 1489101"/>
              <a:gd name="connsiteX1" fmla="*/ 228867 w 1052064"/>
              <a:gd name="connsiteY1" fmla="*/ 330993 h 1489101"/>
              <a:gd name="connsiteX2" fmla="*/ 427985 w 1052064"/>
              <a:gd name="connsiteY2" fmla="*/ 6141 h 1489101"/>
              <a:gd name="connsiteX3" fmla="*/ 612585 w 1052064"/>
              <a:gd name="connsiteY3" fmla="*/ 637227 h 1489101"/>
              <a:gd name="connsiteX4" fmla="*/ 1052064 w 1052064"/>
              <a:gd name="connsiteY4" fmla="*/ 952599 h 1489101"/>
              <a:gd name="connsiteX5" fmla="*/ 440400 w 1052064"/>
              <a:gd name="connsiteY5" fmla="*/ 972757 h 1489101"/>
              <a:gd name="connsiteX6" fmla="*/ 136351 w 1052064"/>
              <a:gd name="connsiteY6" fmla="*/ 1488861 h 1489101"/>
              <a:gd name="connsiteX7" fmla="*/ 181406 w 1052064"/>
              <a:gd name="connsiteY7" fmla="*/ 901011 h 1489101"/>
              <a:gd name="connsiteX8" fmla="*/ 294 w 1052064"/>
              <a:gd name="connsiteY8" fmla="*/ 574805 h 1489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2064" h="1489101">
                <a:moveTo>
                  <a:pt x="294" y="574805"/>
                </a:moveTo>
                <a:cubicBezTo>
                  <a:pt x="8204" y="479802"/>
                  <a:pt x="157585" y="425770"/>
                  <a:pt x="228867" y="330993"/>
                </a:cubicBezTo>
                <a:cubicBezTo>
                  <a:pt x="300149" y="236216"/>
                  <a:pt x="364032" y="-44898"/>
                  <a:pt x="427985" y="6141"/>
                </a:cubicBezTo>
                <a:cubicBezTo>
                  <a:pt x="491938" y="57180"/>
                  <a:pt x="508572" y="479484"/>
                  <a:pt x="612585" y="637227"/>
                </a:cubicBezTo>
                <a:cubicBezTo>
                  <a:pt x="716598" y="794970"/>
                  <a:pt x="1052273" y="820855"/>
                  <a:pt x="1052064" y="952599"/>
                </a:cubicBezTo>
                <a:cubicBezTo>
                  <a:pt x="1051855" y="1084343"/>
                  <a:pt x="544413" y="882451"/>
                  <a:pt x="440400" y="972757"/>
                </a:cubicBezTo>
                <a:cubicBezTo>
                  <a:pt x="336387" y="1063063"/>
                  <a:pt x="179517" y="1500819"/>
                  <a:pt x="136351" y="1488861"/>
                </a:cubicBezTo>
                <a:cubicBezTo>
                  <a:pt x="93185" y="1476903"/>
                  <a:pt x="216300" y="1069050"/>
                  <a:pt x="181406" y="901011"/>
                </a:cubicBezTo>
                <a:cubicBezTo>
                  <a:pt x="146512" y="732972"/>
                  <a:pt x="-7616" y="669808"/>
                  <a:pt x="294" y="574805"/>
                </a:cubicBezTo>
                <a:close/>
              </a:path>
            </a:pathLst>
          </a:cu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829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邻域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3200" y="2214266"/>
            <a:ext cx="7956000" cy="4924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与某被考察点的距离小于给定的阈值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Eps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的空间范围。</a:t>
            </a:r>
          </a:p>
        </p:txBody>
      </p:sp>
      <p:sp>
        <p:nvSpPr>
          <p:cNvPr id="8" name="线形标注 1(无边框) 7"/>
          <p:cNvSpPr/>
          <p:nvPr/>
        </p:nvSpPr>
        <p:spPr>
          <a:xfrm>
            <a:off x="7086600" y="1371600"/>
            <a:ext cx="1524000" cy="762000"/>
          </a:xfrm>
          <a:prstGeom prst="callout1">
            <a:avLst>
              <a:gd name="adj1" fmla="val 47083"/>
              <a:gd name="adj2" fmla="val -1666"/>
              <a:gd name="adj3" fmla="val 112500"/>
              <a:gd name="adj4" fmla="val -38333"/>
            </a:avLst>
          </a:prstGeom>
          <a:noFill/>
          <a:ln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Eps</a:t>
            </a:r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是用户指定的参数</a:t>
            </a:r>
          </a:p>
        </p:txBody>
      </p:sp>
      <p:sp>
        <p:nvSpPr>
          <p:cNvPr id="9" name="文本框 109"/>
          <p:cNvSpPr txBox="1"/>
          <p:nvPr/>
        </p:nvSpPr>
        <p:spPr>
          <a:xfrm>
            <a:off x="6705600" y="4267201"/>
            <a:ext cx="263752" cy="1649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23713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ts val="1200"/>
              </a:lnSpc>
            </a:pPr>
            <a:r>
              <a:rPr lang="en-US" sz="1600" kern="100" dirty="0">
                <a:solidFill>
                  <a:srgbClr val="000000"/>
                </a:solidFill>
                <a:latin typeface="Arial Unicode MS"/>
                <a:ea typeface="宋体"/>
                <a:cs typeface="Times New Roman"/>
              </a:rPr>
              <a:t>A</a:t>
            </a:r>
            <a:endParaRPr lang="zh-CN" altLang="en-US" sz="2000" kern="100" dirty="0">
              <a:latin typeface="Times New Roman"/>
              <a:ea typeface="宋体"/>
              <a:cs typeface="Times New Roman"/>
            </a:endParaRPr>
          </a:p>
        </p:txBody>
      </p:sp>
      <p:cxnSp>
        <p:nvCxnSpPr>
          <p:cNvPr id="10" name="直接箭头连接符 9"/>
          <p:cNvCxnSpPr>
            <a:stCxn id="11" idx="3"/>
          </p:cNvCxnSpPr>
          <p:nvPr/>
        </p:nvCxnSpPr>
        <p:spPr>
          <a:xfrm flipH="1">
            <a:off x="5257801" y="4448656"/>
            <a:ext cx="1327895" cy="656744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5078522" y="2895600"/>
            <a:ext cx="3060000" cy="3060000"/>
            <a:chOff x="5078522" y="2324100"/>
            <a:chExt cx="3060000" cy="3060000"/>
          </a:xfrm>
        </p:grpSpPr>
        <p:sp>
          <p:nvSpPr>
            <p:cNvPr id="4" name="椭圆 3"/>
            <p:cNvSpPr/>
            <p:nvPr/>
          </p:nvSpPr>
          <p:spPr>
            <a:xfrm>
              <a:off x="5078522" y="2324100"/>
              <a:ext cx="3060000" cy="30600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6576240" y="3821495"/>
              <a:ext cx="64565" cy="6521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</p:grpSp>
      <p:sp>
        <p:nvSpPr>
          <p:cNvPr id="14" name="文本框 108"/>
          <p:cNvSpPr txBox="1"/>
          <p:nvPr/>
        </p:nvSpPr>
        <p:spPr>
          <a:xfrm rot="20137828">
            <a:off x="5705747" y="4601821"/>
            <a:ext cx="432000" cy="171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23713" bIns="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kern="100" dirty="0" err="1">
                <a:solidFill>
                  <a:srgbClr val="000000"/>
                </a:solidFill>
                <a:latin typeface="Arial Unicode MS"/>
                <a:ea typeface="宋体"/>
                <a:cs typeface="Times New Roman"/>
              </a:rPr>
              <a:t>Eps</a:t>
            </a:r>
            <a:endParaRPr lang="zh-CN" altLang="en-US" sz="2800" kern="100" dirty="0">
              <a:latin typeface="Times New Roman"/>
              <a:ea typeface="宋体"/>
              <a:cs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220301"/>
            <a:ext cx="945600" cy="49244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距离</a:t>
            </a:r>
          </a:p>
        </p:txBody>
      </p:sp>
    </p:spTree>
    <p:extLst>
      <p:ext uri="{BB962C8B-B14F-4D97-AF65-F5344CB8AC3E}">
        <p14:creationId xmlns:p14="http://schemas.microsoft.com/office/powerpoint/2010/main" val="210731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邻域</a:t>
            </a:r>
          </a:p>
          <a:p>
            <a:r>
              <a:rPr lang="zh-CN" altLang="en-US" dirty="0"/>
              <a:t>核心点</a:t>
            </a:r>
          </a:p>
        </p:txBody>
      </p:sp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4075119" y="3288383"/>
            <a:ext cx="3454281" cy="2838821"/>
            <a:chOff x="981019" y="3722358"/>
            <a:chExt cx="2121136" cy="1725942"/>
          </a:xfrm>
        </p:grpSpPr>
        <p:sp>
          <p:nvSpPr>
            <p:cNvPr id="12" name="椭圆 11"/>
            <p:cNvSpPr/>
            <p:nvPr/>
          </p:nvSpPr>
          <p:spPr>
            <a:xfrm>
              <a:off x="981019" y="3722358"/>
              <a:ext cx="1725942" cy="1725942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1841230" y="4529471"/>
              <a:ext cx="40138" cy="401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cxnSp>
          <p:nvCxnSpPr>
            <p:cNvPr id="14" name="直接箭头连接符 13"/>
            <p:cNvCxnSpPr>
              <a:stCxn id="13" idx="6"/>
            </p:cNvCxnSpPr>
            <p:nvPr/>
          </p:nvCxnSpPr>
          <p:spPr>
            <a:xfrm>
              <a:off x="1881368" y="4549541"/>
              <a:ext cx="825594" cy="3578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1169856" y="4026440"/>
              <a:ext cx="39647" cy="396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47659" y="4490407"/>
              <a:ext cx="39647" cy="396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7" name="椭圆 16"/>
            <p:cNvSpPr/>
            <p:nvPr/>
          </p:nvSpPr>
          <p:spPr>
            <a:xfrm>
              <a:off x="2139126" y="3940780"/>
              <a:ext cx="39647" cy="396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8" name="椭圆 17"/>
            <p:cNvSpPr/>
            <p:nvPr/>
          </p:nvSpPr>
          <p:spPr>
            <a:xfrm>
              <a:off x="1979558" y="4756358"/>
              <a:ext cx="39647" cy="3964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19" name="椭圆 18"/>
            <p:cNvSpPr/>
            <p:nvPr/>
          </p:nvSpPr>
          <p:spPr>
            <a:xfrm>
              <a:off x="1459292" y="4176294"/>
              <a:ext cx="38938" cy="389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20" name="椭圆 19"/>
            <p:cNvSpPr/>
            <p:nvPr/>
          </p:nvSpPr>
          <p:spPr>
            <a:xfrm>
              <a:off x="1967667" y="5048877"/>
              <a:ext cx="38938" cy="3893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21" name="椭圆 20"/>
            <p:cNvSpPr/>
            <p:nvPr/>
          </p:nvSpPr>
          <p:spPr>
            <a:xfrm>
              <a:off x="2272121" y="5084277"/>
              <a:ext cx="38231" cy="3823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1600"/>
            </a:p>
          </p:txBody>
        </p:sp>
        <p:sp>
          <p:nvSpPr>
            <p:cNvPr id="25" name="文本框 220185"/>
            <p:cNvSpPr txBox="1"/>
            <p:nvPr/>
          </p:nvSpPr>
          <p:spPr>
            <a:xfrm>
              <a:off x="2549501" y="3807851"/>
              <a:ext cx="552654" cy="2297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47425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600" kern="100" dirty="0" err="1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minPts</a:t>
              </a:r>
              <a:r>
                <a:rPr lang="en-US" sz="1600" kern="100" dirty="0">
                  <a:solidFill>
                    <a:srgbClr val="000000"/>
                  </a:solidFill>
                  <a:latin typeface="Times New Roman" pitchFamily="18" charset="0"/>
                  <a:ea typeface="宋体"/>
                  <a:cs typeface="Times New Roman" pitchFamily="18" charset="0"/>
                </a:rPr>
                <a:t>=6</a:t>
              </a:r>
            </a:p>
            <a:p>
              <a:r>
                <a:rPr lang="en-US" sz="1600" kern="100" dirty="0" err="1">
                  <a:solidFill>
                    <a:srgbClr val="000000"/>
                  </a:solidFill>
                  <a:latin typeface="Times New Roman" pitchFamily="18" charset="0"/>
                  <a:ea typeface="Arial Unicode MS"/>
                  <a:cs typeface="Times New Roman" pitchFamily="18" charset="0"/>
                </a:rPr>
                <a:t>Eps</a:t>
              </a:r>
              <a:r>
                <a:rPr lang="en-US" sz="1600" kern="100" dirty="0">
                  <a:solidFill>
                    <a:srgbClr val="000000"/>
                  </a:solidFill>
                  <a:latin typeface="Times New Roman" pitchFamily="18" charset="0"/>
                  <a:ea typeface="Arial Unicode MS"/>
                  <a:cs typeface="Times New Roman" pitchFamily="18" charset="0"/>
                </a:rPr>
                <a:t>=0.5</a:t>
              </a:r>
              <a:endParaRPr lang="zh-CN" altLang="en-US" sz="2800" kern="100" dirty="0">
                <a:latin typeface="Times New Roman" pitchFamily="18" charset="0"/>
                <a:ea typeface="宋体"/>
                <a:cs typeface="Times New Roman" pitchFamily="18" charset="0"/>
              </a:endParaRPr>
            </a:p>
          </p:txBody>
        </p:sp>
        <p:sp>
          <p:nvSpPr>
            <p:cNvPr id="32" name="文本框 108"/>
            <p:cNvSpPr txBox="1"/>
            <p:nvPr/>
          </p:nvSpPr>
          <p:spPr>
            <a:xfrm rot="165820">
              <a:off x="2282104" y="4462720"/>
              <a:ext cx="265274" cy="93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100" kern="100" dirty="0" err="1">
                  <a:solidFill>
                    <a:srgbClr val="000000"/>
                  </a:solidFill>
                  <a:latin typeface="Arial Unicode MS"/>
                  <a:ea typeface="宋体"/>
                  <a:cs typeface="Times New Roman"/>
                </a:rPr>
                <a:t>Eps</a:t>
              </a:r>
              <a:endParaRPr lang="zh-CN" altLang="en-US" sz="1600" kern="100" dirty="0">
                <a:latin typeface="Times New Roman"/>
                <a:ea typeface="宋体"/>
                <a:cs typeface="Times New Roman"/>
              </a:endParaRPr>
            </a:p>
          </p:txBody>
        </p:sp>
        <p:sp>
          <p:nvSpPr>
            <p:cNvPr id="33" name="文本框 109"/>
            <p:cNvSpPr txBox="1"/>
            <p:nvPr/>
          </p:nvSpPr>
          <p:spPr>
            <a:xfrm>
              <a:off x="1722781" y="4468607"/>
              <a:ext cx="115168" cy="93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ts val="1200"/>
                </a:lnSpc>
              </a:pPr>
              <a:r>
                <a:rPr lang="en-US" sz="1200" kern="100" dirty="0">
                  <a:solidFill>
                    <a:srgbClr val="000000"/>
                  </a:solidFill>
                  <a:latin typeface="Arial Unicode MS"/>
                  <a:ea typeface="宋体"/>
                  <a:cs typeface="Times New Roman"/>
                </a:rPr>
                <a:t>A</a:t>
              </a:r>
              <a:endParaRPr lang="zh-CN" altLang="en-US" sz="1600" kern="100" dirty="0">
                <a:latin typeface="Times New Roman"/>
                <a:ea typeface="宋体"/>
                <a:cs typeface="Times New Roman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83200" y="2743200"/>
            <a:ext cx="7092000" cy="8925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给定邻域内的点的个数超过给定的阈值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minPts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2600" dirty="0">
                <a:solidFill>
                  <a:srgbClr val="C00000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核心点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4" name="线形标注 1(无边框) 23"/>
          <p:cNvSpPr/>
          <p:nvPr/>
        </p:nvSpPr>
        <p:spPr>
          <a:xfrm>
            <a:off x="7391400" y="1981200"/>
            <a:ext cx="1524000" cy="762000"/>
          </a:xfrm>
          <a:prstGeom prst="callout1">
            <a:avLst>
              <a:gd name="adj1" fmla="val 47083"/>
              <a:gd name="adj2" fmla="val -1666"/>
              <a:gd name="adj3" fmla="val 112500"/>
              <a:gd name="adj4" fmla="val -38333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minPts</a:t>
            </a:r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是用户指定的参数</a:t>
            </a:r>
          </a:p>
        </p:txBody>
      </p:sp>
      <p:sp>
        <p:nvSpPr>
          <p:cNvPr id="27" name="线形标注 1(无边框) 26"/>
          <p:cNvSpPr/>
          <p:nvPr/>
        </p:nvSpPr>
        <p:spPr>
          <a:xfrm>
            <a:off x="5867400" y="3962400"/>
            <a:ext cx="762000" cy="555442"/>
          </a:xfrm>
          <a:prstGeom prst="callout1">
            <a:avLst>
              <a:gd name="adj1" fmla="val 47083"/>
              <a:gd name="adj2" fmla="val -1666"/>
              <a:gd name="adj3" fmla="val 110323"/>
              <a:gd name="adj4" fmla="val -41450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16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核心点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core</a:t>
            </a:r>
            <a:endParaRPr lang="zh-CN" altLang="en-US" sz="16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806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邻域</a:t>
            </a:r>
          </a:p>
          <a:p>
            <a:r>
              <a:rPr lang="zh-CN" altLang="en-US" dirty="0"/>
              <a:t>核心点</a:t>
            </a:r>
          </a:p>
          <a:p>
            <a:r>
              <a:rPr lang="zh-CN" altLang="en-US" dirty="0"/>
              <a:t>边界点</a:t>
            </a:r>
            <a:endParaRPr lang="en-US" altLang="zh-CN" dirty="0"/>
          </a:p>
        </p:txBody>
      </p:sp>
      <p:grpSp>
        <p:nvGrpSpPr>
          <p:cNvPr id="33" name="组合 32"/>
          <p:cNvGrpSpPr>
            <a:grpSpLocks noChangeAspect="1"/>
          </p:cNvGrpSpPr>
          <p:nvPr/>
        </p:nvGrpSpPr>
        <p:grpSpPr>
          <a:xfrm>
            <a:off x="5164851" y="2988164"/>
            <a:ext cx="3304097" cy="3107834"/>
            <a:chOff x="4613995" y="2904868"/>
            <a:chExt cx="2623040" cy="2467232"/>
          </a:xfrm>
        </p:grpSpPr>
        <p:sp>
          <p:nvSpPr>
            <p:cNvPr id="11" name="椭圆 10"/>
            <p:cNvSpPr/>
            <p:nvPr/>
          </p:nvSpPr>
          <p:spPr>
            <a:xfrm>
              <a:off x="5359231" y="3566305"/>
              <a:ext cx="1805795" cy="180579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259240" y="4410760"/>
              <a:ext cx="41995" cy="4199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3" name="直接箭头连接符 12"/>
            <p:cNvCxnSpPr>
              <a:stCxn id="12" idx="6"/>
            </p:cNvCxnSpPr>
            <p:nvPr/>
          </p:nvCxnSpPr>
          <p:spPr>
            <a:xfrm>
              <a:off x="6301235" y="4431758"/>
              <a:ext cx="863790" cy="3744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/>
          </p:nvSpPr>
          <p:spPr>
            <a:xfrm>
              <a:off x="5556804" y="3884455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847460" y="4369889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570919" y="3794832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403968" y="4648144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859631" y="4041243"/>
              <a:ext cx="40740" cy="407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6391528" y="4954197"/>
              <a:ext cx="40740" cy="407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710067" y="4991235"/>
              <a:ext cx="40000" cy="40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613995" y="3053533"/>
              <a:ext cx="1805205" cy="18052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4" name="文本框 220185"/>
            <p:cNvSpPr txBox="1"/>
            <p:nvPr/>
          </p:nvSpPr>
          <p:spPr>
            <a:xfrm>
              <a:off x="5628051" y="2904868"/>
              <a:ext cx="1600452" cy="1684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47425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minPts</a:t>
              </a:r>
              <a:r>
                <a:rPr 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=6</a:t>
              </a:r>
              <a:r>
                <a:rPr lang="zh-CN" alt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，</a:t>
              </a:r>
              <a:r>
                <a:rPr lang="en-US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Eps</a:t>
              </a:r>
              <a:r>
                <a:rPr 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=0.5</a:t>
              </a:r>
              <a:r>
                <a:rPr lang="en-US" kern="1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 </a:t>
              </a:r>
              <a:endParaRPr lang="zh-CN" altLang="en-US" sz="24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6" name="文本框 220188"/>
            <p:cNvSpPr txBox="1"/>
            <p:nvPr/>
          </p:nvSpPr>
          <p:spPr>
            <a:xfrm>
              <a:off x="6276465" y="3109376"/>
              <a:ext cx="960570" cy="307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90000"/>
                </a:lnSpc>
              </a:pPr>
              <a:endParaRPr lang="zh-CN" altLang="en-US" sz="28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165197" y="3382314"/>
              <a:ext cx="40740" cy="40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1" name="文本框 108"/>
            <p:cNvSpPr txBox="1"/>
            <p:nvPr/>
          </p:nvSpPr>
          <p:spPr>
            <a:xfrm>
              <a:off x="6570899" y="4341786"/>
              <a:ext cx="469057" cy="126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ts val="1200"/>
                </a:lnSpc>
              </a:pPr>
              <a:r>
                <a:rPr lang="en-US" sz="1200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Eps</a:t>
              </a:r>
              <a:endParaRPr lang="zh-CN" altLang="en-US" sz="28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2" name="文本框 109"/>
            <p:cNvSpPr txBox="1"/>
            <p:nvPr/>
          </p:nvSpPr>
          <p:spPr>
            <a:xfrm>
              <a:off x="6135313" y="4306970"/>
              <a:ext cx="144925" cy="137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ts val="1200"/>
                </a:lnSpc>
              </a:pPr>
              <a:r>
                <a:rPr lang="en-US" sz="2000" kern="10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A</a:t>
              </a:r>
              <a:endParaRPr lang="zh-CN" altLang="en-US" sz="2800" kern="1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83200" y="3276601"/>
            <a:ext cx="4104000" cy="209288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落在某一核心点的邻域内（也可能落在多个核心点的邻域内），但因其邻域内的点数未达到阈值</a:t>
            </a:r>
            <a:r>
              <a:rPr lang="en-US" altLang="zh-CN" sz="2600" dirty="0" err="1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minPts</a:t>
            </a:r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而不能成为核心点的点 。</a:t>
            </a:r>
          </a:p>
        </p:txBody>
      </p:sp>
      <p:sp>
        <p:nvSpPr>
          <p:cNvPr id="29" name="线形标注 1(无边框) 28"/>
          <p:cNvSpPr/>
          <p:nvPr/>
        </p:nvSpPr>
        <p:spPr>
          <a:xfrm>
            <a:off x="7620000" y="4267200"/>
            <a:ext cx="762000" cy="555442"/>
          </a:xfrm>
          <a:prstGeom prst="callout1">
            <a:avLst>
              <a:gd name="adj1" fmla="val 47083"/>
              <a:gd name="adj2" fmla="val -1666"/>
              <a:gd name="adj3" fmla="val 110323"/>
              <a:gd name="adj4" fmla="val -41450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核心点</a:t>
            </a:r>
          </a:p>
          <a:p>
            <a:r>
              <a:rPr lang="en-US" altLang="zh-CN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core</a:t>
            </a:r>
            <a:endParaRPr lang="zh-CN" altLang="en-US" sz="12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4" name="线形标注 1(无边框) 33"/>
          <p:cNvSpPr/>
          <p:nvPr/>
        </p:nvSpPr>
        <p:spPr>
          <a:xfrm flipH="1">
            <a:off x="5410200" y="4092758"/>
            <a:ext cx="576000" cy="555442"/>
          </a:xfrm>
          <a:prstGeom prst="callout1">
            <a:avLst>
              <a:gd name="adj1" fmla="val 47083"/>
              <a:gd name="adj2" fmla="val -1666"/>
              <a:gd name="adj3" fmla="val 28010"/>
              <a:gd name="adj4" fmla="val -60083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r"/>
            <a:r>
              <a:rPr lang="zh-CN" altLang="en-US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边界点</a:t>
            </a:r>
          </a:p>
          <a:p>
            <a:pPr algn="r"/>
            <a:r>
              <a:rPr lang="en-US" altLang="zh-CN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border</a:t>
            </a:r>
            <a:endParaRPr lang="zh-CN" altLang="en-US" sz="12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7529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邻域</a:t>
            </a:r>
          </a:p>
          <a:p>
            <a:r>
              <a:rPr lang="zh-CN" altLang="en-US" dirty="0"/>
              <a:t>核心点</a:t>
            </a:r>
          </a:p>
          <a:p>
            <a:r>
              <a:rPr lang="zh-CN" altLang="en-US" dirty="0"/>
              <a:t>边界点</a:t>
            </a:r>
            <a:endParaRPr lang="en-US" altLang="zh-CN" dirty="0"/>
          </a:p>
          <a:p>
            <a:r>
              <a:rPr lang="zh-CN" altLang="en-US" dirty="0"/>
              <a:t>噪声点 </a:t>
            </a:r>
            <a:endParaRPr lang="en-US" altLang="zh-CN" dirty="0"/>
          </a:p>
          <a:p>
            <a:endParaRPr lang="en-US" altLang="zh-CN" dirty="0"/>
          </a:p>
        </p:txBody>
      </p:sp>
      <p:grpSp>
        <p:nvGrpSpPr>
          <p:cNvPr id="33" name="组合 32"/>
          <p:cNvGrpSpPr>
            <a:grpSpLocks noChangeAspect="1"/>
          </p:cNvGrpSpPr>
          <p:nvPr/>
        </p:nvGrpSpPr>
        <p:grpSpPr>
          <a:xfrm>
            <a:off x="5164851" y="2988164"/>
            <a:ext cx="3304097" cy="3107834"/>
            <a:chOff x="4613995" y="2904868"/>
            <a:chExt cx="2623040" cy="2467232"/>
          </a:xfrm>
        </p:grpSpPr>
        <p:sp>
          <p:nvSpPr>
            <p:cNvPr id="11" name="椭圆 10"/>
            <p:cNvSpPr/>
            <p:nvPr/>
          </p:nvSpPr>
          <p:spPr>
            <a:xfrm>
              <a:off x="5359231" y="3566305"/>
              <a:ext cx="1805795" cy="180579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6259240" y="4410760"/>
              <a:ext cx="41995" cy="4199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3" name="直接箭头连接符 12"/>
            <p:cNvCxnSpPr>
              <a:stCxn id="12" idx="6"/>
            </p:cNvCxnSpPr>
            <p:nvPr/>
          </p:nvCxnSpPr>
          <p:spPr>
            <a:xfrm>
              <a:off x="6301235" y="4431758"/>
              <a:ext cx="863790" cy="3744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/>
            <p:cNvSpPr/>
            <p:nvPr/>
          </p:nvSpPr>
          <p:spPr>
            <a:xfrm>
              <a:off x="5556804" y="3884455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5847460" y="4369889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6570919" y="3794832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6403968" y="4648144"/>
              <a:ext cx="41482" cy="4148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859631" y="4041243"/>
              <a:ext cx="40740" cy="407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6391528" y="4954197"/>
              <a:ext cx="40740" cy="407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6710067" y="4991235"/>
              <a:ext cx="40000" cy="40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613995" y="3053533"/>
              <a:ext cx="1805205" cy="1805205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4" name="文本框 220185"/>
            <p:cNvSpPr txBox="1"/>
            <p:nvPr/>
          </p:nvSpPr>
          <p:spPr>
            <a:xfrm>
              <a:off x="5628051" y="2904868"/>
              <a:ext cx="1600452" cy="1684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47425" bIns="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minPts</a:t>
              </a:r>
              <a:r>
                <a:rPr 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=6</a:t>
              </a:r>
              <a:r>
                <a:rPr lang="zh-CN" alt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，</a:t>
              </a:r>
              <a:r>
                <a:rPr lang="en-US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Eps</a:t>
              </a:r>
              <a:r>
                <a:rPr lang="en-US" kern="100" dirty="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=0.5</a:t>
              </a:r>
              <a:r>
                <a:rPr lang="en-US" kern="100" dirty="0"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 </a:t>
              </a:r>
              <a:endParaRPr lang="zh-CN" altLang="en-US" sz="24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6" name="文本框 220188"/>
            <p:cNvSpPr txBox="1"/>
            <p:nvPr/>
          </p:nvSpPr>
          <p:spPr>
            <a:xfrm>
              <a:off x="6276465" y="3109376"/>
              <a:ext cx="960570" cy="3078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ct val="90000"/>
                </a:lnSpc>
              </a:pPr>
              <a:endParaRPr lang="zh-CN" altLang="en-US" sz="28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5165197" y="3382314"/>
              <a:ext cx="40740" cy="400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60230" tIns="30116" rIns="60230" bIns="3011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40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1" name="文本框 108"/>
            <p:cNvSpPr txBox="1"/>
            <p:nvPr/>
          </p:nvSpPr>
          <p:spPr>
            <a:xfrm>
              <a:off x="6570899" y="4341786"/>
              <a:ext cx="469057" cy="1262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ts val="1200"/>
                </a:lnSpc>
              </a:pPr>
              <a:r>
                <a:rPr lang="en-US" sz="1200" kern="100" dirty="0" err="1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Eps</a:t>
              </a:r>
              <a:endParaRPr lang="zh-CN" altLang="en-US" sz="2800" kern="1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2" name="文本框 109"/>
            <p:cNvSpPr txBox="1"/>
            <p:nvPr/>
          </p:nvSpPr>
          <p:spPr>
            <a:xfrm>
              <a:off x="6135313" y="4306970"/>
              <a:ext cx="144925" cy="137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23713" bIns="0" numCol="1" spcCol="0" rtlCol="0" fromWordArt="0" anchor="b" anchorCtr="0" forceAA="0" compatLnSpc="1">
              <a:prstTxWarp prst="textNoShape">
                <a:avLst/>
              </a:prstTxWarp>
              <a:spAutoFit/>
            </a:bodyPr>
            <a:lstStyle/>
            <a:p>
              <a:pPr algn="just">
                <a:lnSpc>
                  <a:spcPts val="1200"/>
                </a:lnSpc>
              </a:pPr>
              <a:r>
                <a:rPr lang="en-US" sz="2000" kern="100">
                  <a:solidFill>
                    <a:srgbClr val="000000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A</a:t>
              </a:r>
              <a:endParaRPr lang="zh-CN" altLang="en-US" sz="2800" kern="100"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883200" y="3831848"/>
            <a:ext cx="4104000" cy="89255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噪声点：既非核心点也非边界点的点。</a:t>
            </a:r>
          </a:p>
        </p:txBody>
      </p:sp>
      <p:sp>
        <p:nvSpPr>
          <p:cNvPr id="29" name="线形标注 1(无边框) 28"/>
          <p:cNvSpPr/>
          <p:nvPr/>
        </p:nvSpPr>
        <p:spPr>
          <a:xfrm>
            <a:off x="7620000" y="4267200"/>
            <a:ext cx="762000" cy="555442"/>
          </a:xfrm>
          <a:prstGeom prst="callout1">
            <a:avLst>
              <a:gd name="adj1" fmla="val 47083"/>
              <a:gd name="adj2" fmla="val -1666"/>
              <a:gd name="adj3" fmla="val 110323"/>
              <a:gd name="adj4" fmla="val -41450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核心点</a:t>
            </a:r>
          </a:p>
          <a:p>
            <a:r>
              <a:rPr lang="en-US" altLang="zh-CN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core</a:t>
            </a:r>
            <a:endParaRPr lang="zh-CN" altLang="en-US" sz="12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34" name="线形标注 1(无边框) 33"/>
          <p:cNvSpPr/>
          <p:nvPr/>
        </p:nvSpPr>
        <p:spPr>
          <a:xfrm flipH="1">
            <a:off x="5410200" y="4092758"/>
            <a:ext cx="576000" cy="555442"/>
          </a:xfrm>
          <a:prstGeom prst="callout1">
            <a:avLst>
              <a:gd name="adj1" fmla="val 47083"/>
              <a:gd name="adj2" fmla="val -1666"/>
              <a:gd name="adj3" fmla="val 28010"/>
              <a:gd name="adj4" fmla="val -60083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r"/>
            <a:r>
              <a:rPr lang="zh-CN" altLang="en-US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边界点</a:t>
            </a:r>
          </a:p>
          <a:p>
            <a:pPr algn="r"/>
            <a:r>
              <a:rPr lang="en-US" altLang="zh-CN" sz="12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border</a:t>
            </a:r>
            <a:endParaRPr lang="zh-CN" altLang="en-US" sz="12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4793512" y="5894800"/>
            <a:ext cx="49689" cy="488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60230" tIns="30116" rIns="60230" bIns="3011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/>
          </a:p>
        </p:txBody>
      </p:sp>
      <p:sp>
        <p:nvSpPr>
          <p:cNvPr id="30" name="线形标注 1(无边框) 29"/>
          <p:cNvSpPr/>
          <p:nvPr/>
        </p:nvSpPr>
        <p:spPr>
          <a:xfrm>
            <a:off x="5263800" y="5547600"/>
            <a:ext cx="756000" cy="396000"/>
          </a:xfrm>
          <a:prstGeom prst="callout1">
            <a:avLst>
              <a:gd name="adj1" fmla="val 47083"/>
              <a:gd name="adj2" fmla="val -1666"/>
              <a:gd name="adj3" fmla="val 90767"/>
              <a:gd name="adj4" fmla="val -55759"/>
            </a:avLst>
          </a:prstGeom>
          <a:noFill/>
          <a:ln w="12700">
            <a:solidFill>
              <a:srgbClr val="C00000"/>
            </a:solidFill>
            <a:headEnd type="none" w="med" len="med"/>
            <a:tailEnd type="arrow" w="sm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16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噪声点</a:t>
            </a:r>
          </a:p>
          <a:p>
            <a:r>
              <a:rPr lang="en-US" altLang="zh-CN" sz="16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noise</a:t>
            </a:r>
            <a:endParaRPr lang="zh-CN" altLang="en-US" sz="16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015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4" grpId="0" animBg="1"/>
      <p:bldP spid="25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DBSCAN</a:t>
            </a:r>
            <a:r>
              <a:rPr lang="zh-CN" altLang="en-US" dirty="0"/>
              <a:t>算法</a:t>
            </a:r>
          </a:p>
        </p:txBody>
      </p:sp>
      <p:sp>
        <p:nvSpPr>
          <p:cNvPr id="16496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基于中心的</a:t>
            </a:r>
            <a:r>
              <a:rPr lang="en-US" altLang="zh-CN" dirty="0"/>
              <a:t>DBSCAN</a:t>
            </a:r>
          </a:p>
          <a:p>
            <a:pPr lvl="1"/>
            <a:r>
              <a:rPr lang="zh-CN" altLang="en-US" dirty="0"/>
              <a:t>在基于中心的方法中，数据集中特定点的密度通过对该点</a:t>
            </a:r>
            <a:r>
              <a:rPr lang="en-US" altLang="zh-CN" dirty="0" err="1"/>
              <a:t>Eps</a:t>
            </a:r>
            <a:r>
              <a:rPr lang="zh-CN" altLang="en-US" dirty="0"/>
              <a:t>半径之内的点计数（包括点本身）来估计</a:t>
            </a:r>
          </a:p>
          <a:p>
            <a:pPr lvl="1"/>
            <a:r>
              <a:rPr lang="zh-CN" altLang="en-US" dirty="0"/>
              <a:t>该方法实现简单，但是点的密度依赖于指定的半径。</a:t>
            </a:r>
            <a:endParaRPr lang="en-US" altLang="zh-CN" dirty="0"/>
          </a:p>
          <a:p>
            <a:pPr lvl="2"/>
            <a:r>
              <a:rPr lang="zh-CN" altLang="en-US" dirty="0"/>
              <a:t>如果半径足够大，则所有点的密度都等于数据集中的点数</a:t>
            </a:r>
            <a:r>
              <a:rPr lang="en-US" altLang="zh-CN" dirty="0"/>
              <a:t>m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如果半径太小，则所有点的密度都是</a:t>
            </a:r>
            <a:r>
              <a:rPr lang="en-US" altLang="zh-CN" dirty="0"/>
              <a:t>1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013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DBSCAN</a:t>
            </a:r>
            <a:r>
              <a:rPr lang="zh-CN" altLang="en-US" dirty="0"/>
              <a:t>算法</a:t>
            </a:r>
          </a:p>
        </p:txBody>
      </p:sp>
      <p:sp>
        <p:nvSpPr>
          <p:cNvPr id="7" name="线形标注 1(无边框) 6"/>
          <p:cNvSpPr/>
          <p:nvPr/>
        </p:nvSpPr>
        <p:spPr>
          <a:xfrm>
            <a:off x="3465394" y="2529600"/>
            <a:ext cx="4267200" cy="792000"/>
          </a:xfrm>
          <a:prstGeom prst="callout1">
            <a:avLst>
              <a:gd name="adj1" fmla="val 47083"/>
              <a:gd name="adj2" fmla="val -1666"/>
              <a:gd name="adj3" fmla="val 51191"/>
              <a:gd name="adj4" fmla="val -19062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将距离在</a:t>
            </a:r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Eps</a:t>
            </a:r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范围内的，邻域点个数满足</a:t>
            </a:r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minPts</a:t>
            </a:r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的点标记为核心点</a:t>
            </a:r>
          </a:p>
        </p:txBody>
      </p:sp>
      <p:sp>
        <p:nvSpPr>
          <p:cNvPr id="8" name="线形标注 1(无边框) 7"/>
          <p:cNvSpPr/>
          <p:nvPr/>
        </p:nvSpPr>
        <p:spPr>
          <a:xfrm>
            <a:off x="3657600" y="3367800"/>
            <a:ext cx="4267200" cy="792000"/>
          </a:xfrm>
          <a:prstGeom prst="callout1">
            <a:avLst>
              <a:gd name="adj1" fmla="val 47083"/>
              <a:gd name="adj2" fmla="val -1666"/>
              <a:gd name="adj3" fmla="val 6388"/>
              <a:gd name="adj4" fmla="val -20022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对于任一非核心点，若</a:t>
            </a:r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Eps</a:t>
            </a:r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范围内有核心点，则标记为边界点</a:t>
            </a:r>
          </a:p>
        </p:txBody>
      </p:sp>
      <p:sp>
        <p:nvSpPr>
          <p:cNvPr id="10" name="线形标注 1(无边框) 9"/>
          <p:cNvSpPr/>
          <p:nvPr/>
        </p:nvSpPr>
        <p:spPr>
          <a:xfrm>
            <a:off x="3429000" y="4176000"/>
            <a:ext cx="2971800" cy="396000"/>
          </a:xfrm>
          <a:prstGeom prst="callout1">
            <a:avLst>
              <a:gd name="adj1" fmla="val 47083"/>
              <a:gd name="adj2" fmla="val -1666"/>
              <a:gd name="adj3" fmla="val -47031"/>
              <a:gd name="adj4" fmla="val -26435"/>
            </a:avLst>
          </a:prstGeom>
          <a:noFill/>
          <a:ln w="12700">
            <a:headEnd type="none" w="med" len="med"/>
            <a:tailEnd type="arrow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zh-CN" altLang="en-US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其余点标记为噪声点</a:t>
            </a:r>
          </a:p>
        </p:txBody>
      </p:sp>
      <p:sp>
        <p:nvSpPr>
          <p:cNvPr id="11" name="矩形 10"/>
          <p:cNvSpPr/>
          <p:nvPr/>
        </p:nvSpPr>
        <p:spPr>
          <a:xfrm>
            <a:off x="304800" y="1654374"/>
            <a:ext cx="8379372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zh-CN" sz="2400" dirty="0">
                <a:solidFill>
                  <a:schemeClr val="dk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【算法】</a:t>
            </a:r>
            <a:r>
              <a:rPr lang="en-US" altLang="zh-CN" sz="2400" dirty="0">
                <a:solidFill>
                  <a:schemeClr val="dk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DBSCAN</a:t>
            </a:r>
            <a:r>
              <a:rPr lang="zh-CN" altLang="zh-CN" sz="2400" dirty="0">
                <a:solidFill>
                  <a:schemeClr val="dk1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算法</a:t>
            </a:r>
            <a:endParaRPr lang="zh-CN" altLang="zh-CN" sz="2400" kern="1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1: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给定邻域阈值</a:t>
            </a:r>
            <a:r>
              <a:rPr lang="en-US" altLang="zh-CN" sz="2400" kern="1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Eps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和核心点的个数阈值</a:t>
            </a:r>
            <a:r>
              <a:rPr lang="en-US" altLang="zh-CN" sz="2400" kern="1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minPts</a:t>
            </a:r>
            <a:endParaRPr lang="zh-CN" altLang="zh-CN" sz="2400" kern="1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2: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标记</a:t>
            </a:r>
            <a:r>
              <a:rPr lang="zh-CN" altLang="zh-CN" sz="2400" kern="1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核心点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3: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标记</a:t>
            </a:r>
            <a:r>
              <a:rPr lang="zh-CN" altLang="zh-CN" sz="2400" kern="1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边界点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4: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标记</a:t>
            </a:r>
            <a:r>
              <a:rPr lang="zh-CN" altLang="zh-CN" sz="2400" kern="100" dirty="0">
                <a:solidFill>
                  <a:srgbClr val="C00000"/>
                </a:solidFill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噪声点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5: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删除噪声点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6: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为距离在</a:t>
            </a:r>
            <a:r>
              <a:rPr lang="en-US" altLang="zh-CN" sz="2400" kern="1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Eps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之内的所有核心点之间赋予一条边进行相连。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7: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每组连通的核心点形成一个簇。</a:t>
            </a:r>
          </a:p>
          <a:p>
            <a:pPr algn="just">
              <a:lnSpc>
                <a:spcPct val="130000"/>
              </a:lnSpc>
            </a:pPr>
            <a:r>
              <a:rPr lang="en-US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8: </a:t>
            </a:r>
            <a:r>
              <a:rPr lang="zh-CN" altLang="zh-CN" sz="2400" kern="1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将每个边界点指派到一个与之关联的核心点的簇中。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0" grpId="0" animBg="1"/>
      <p:bldP spid="10" grpId="1" animBg="1"/>
      <p:bldP spid="1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DBSCAN</a:t>
            </a:r>
            <a:r>
              <a:rPr lang="zh-CN" altLang="en-US" dirty="0"/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cs typeface="Times New Roman" panose="02020603050405020304" pitchFamily="18" charset="0"/>
              </a:rPr>
              <a:t>任意两个足够靠近（互相之间的距离在</a:t>
            </a:r>
            <a:r>
              <a:rPr lang="en-US" altLang="zh-CN" dirty="0" err="1">
                <a:cs typeface="Times New Roman" panose="02020603050405020304" pitchFamily="18" charset="0"/>
              </a:rPr>
              <a:t>Eps</a:t>
            </a:r>
            <a:r>
              <a:rPr lang="zh-CN" altLang="en-US" dirty="0">
                <a:cs typeface="Times New Roman" panose="02020603050405020304" pitchFamily="18" charset="0"/>
              </a:rPr>
              <a:t>之内）的</a:t>
            </a:r>
            <a:r>
              <a:rPr lang="zh-CN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核心点</a:t>
            </a:r>
            <a:r>
              <a:rPr lang="zh-CN" altLang="en-US" dirty="0">
                <a:cs typeface="Times New Roman" panose="02020603050405020304" pitchFamily="18" charset="0"/>
              </a:rPr>
              <a:t>将放在同一个簇中。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dirty="0">
                <a:cs typeface="Times New Roman" panose="02020603050405020304" pitchFamily="18" charset="0"/>
              </a:rPr>
              <a:t>任何与核心点足够靠近的</a:t>
            </a:r>
            <a:r>
              <a:rPr lang="zh-CN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边界点</a:t>
            </a:r>
            <a:r>
              <a:rPr lang="zh-CN" altLang="en-US" dirty="0">
                <a:cs typeface="Times New Roman" panose="02020603050405020304" pitchFamily="18" charset="0"/>
              </a:rPr>
              <a:t>也放到该核心点的簇中。（如果一个边界点靠近不同簇的核心点，要解决平局问题）。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rgbClr val="C00000"/>
                </a:solidFill>
                <a:cs typeface="Times New Roman" panose="02020603050405020304" pitchFamily="18" charset="0"/>
              </a:rPr>
              <a:t>噪声点</a:t>
            </a:r>
            <a:r>
              <a:rPr lang="zh-CN" altLang="en-US" dirty="0">
                <a:cs typeface="Times New Roman" panose="02020603050405020304" pitchFamily="18" charset="0"/>
              </a:rPr>
              <a:t>被丢弃。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276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形成簇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974" y="2286001"/>
            <a:ext cx="8649227" cy="3581399"/>
          </a:xfrm>
          <a:prstGeom prst="rect">
            <a:avLst/>
          </a:prstGeom>
          <a:noFill/>
        </p:spPr>
      </p:pic>
      <p:sp>
        <p:nvSpPr>
          <p:cNvPr id="3" name="矩形 2"/>
          <p:cNvSpPr/>
          <p:nvPr/>
        </p:nvSpPr>
        <p:spPr>
          <a:xfrm>
            <a:off x="3276600" y="1143000"/>
            <a:ext cx="55626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如果两个核心点的距离在</a:t>
            </a:r>
            <a:r>
              <a:rPr lang="en-US" altLang="zh-CN" sz="24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Eps</a:t>
            </a:r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之内，则可以将其用一条边进行相连，这样的两个核心点被称为是</a:t>
            </a:r>
            <a:r>
              <a:rPr lang="zh-CN" altLang="zh-CN" sz="26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密度相连的</a:t>
            </a:r>
            <a:endParaRPr lang="zh-CN" altLang="en-US" sz="2600" dirty="0">
              <a:solidFill>
                <a:srgbClr val="C00000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03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形成簇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974" y="2286001"/>
            <a:ext cx="8649227" cy="3581399"/>
          </a:xfrm>
          <a:prstGeom prst="rect">
            <a:avLst/>
          </a:prstGeom>
          <a:noFill/>
        </p:spPr>
      </p:pic>
      <p:sp>
        <p:nvSpPr>
          <p:cNvPr id="5" name="矩形 4"/>
          <p:cNvSpPr/>
          <p:nvPr/>
        </p:nvSpPr>
        <p:spPr>
          <a:xfrm>
            <a:off x="3276600" y="1131094"/>
            <a:ext cx="56520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如果两个核心点，通过密度相连的核心点可以相互连接，则称这两个核心点是</a:t>
            </a:r>
            <a:r>
              <a:rPr lang="zh-CN" altLang="zh-CN" sz="2600" dirty="0">
                <a:solidFill>
                  <a:srgbClr val="C00000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密度连通的</a:t>
            </a:r>
            <a:endParaRPr lang="zh-CN" altLang="en-US" sz="2600" dirty="0">
              <a:solidFill>
                <a:srgbClr val="C00000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95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DBSCAN</a:t>
            </a:r>
            <a:r>
              <a:rPr lang="zh-CN" altLang="en-US"/>
              <a:t>算法：选择 </a:t>
            </a:r>
            <a:r>
              <a:rPr lang="en-US" altLang="zh-CN"/>
              <a:t>Eps</a:t>
            </a:r>
            <a:r>
              <a:rPr lang="zh-CN" altLang="en-US"/>
              <a:t>和</a:t>
            </a:r>
            <a:r>
              <a:rPr lang="en-US" altLang="zh-CN"/>
              <a:t>MinPts</a:t>
            </a:r>
            <a:endParaRPr lang="en-US" altLang="zh-CN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zh-CN" altLang="en-US" dirty="0"/>
              <a:t>基本方法是观察点到它的</a:t>
            </a:r>
            <a:r>
              <a:rPr lang="en-US" altLang="zh-CN" i="1" dirty="0"/>
              <a:t>k</a:t>
            </a:r>
            <a:r>
              <a:rPr lang="zh-CN" altLang="en-US" dirty="0"/>
              <a:t>个最近邻的距离</a:t>
            </a:r>
            <a:r>
              <a:rPr lang="en-US" altLang="zh-CN" dirty="0"/>
              <a:t>(</a:t>
            </a:r>
            <a:r>
              <a:rPr lang="zh-CN" altLang="en-US" dirty="0"/>
              <a:t>称为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距离</a:t>
            </a:r>
            <a:r>
              <a:rPr lang="en-US" altLang="zh-CN" dirty="0"/>
              <a:t>)</a:t>
            </a:r>
            <a:r>
              <a:rPr lang="zh-CN" altLang="en-US" dirty="0"/>
              <a:t>的特性。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计算所有点的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距离，以递增次序将它们排序，然后绘制排序后的值，则预期会看到 </a:t>
            </a:r>
            <a:r>
              <a:rPr lang="en-US" altLang="zh-CN" i="1" dirty="0"/>
              <a:t>k</a:t>
            </a:r>
            <a:r>
              <a:rPr lang="en-US" altLang="zh-CN" dirty="0"/>
              <a:t>-</a:t>
            </a:r>
            <a:r>
              <a:rPr lang="zh-CN" altLang="en-US" dirty="0"/>
              <a:t>距离的急剧变化，对应于合适的</a:t>
            </a:r>
            <a:r>
              <a:rPr lang="en-US" altLang="zh-CN" dirty="0" err="1"/>
              <a:t>Eps</a:t>
            </a:r>
            <a:r>
              <a:rPr lang="zh-CN" altLang="en-US" dirty="0"/>
              <a:t>值。</a:t>
            </a:r>
          </a:p>
          <a:p>
            <a:pPr lvl="1">
              <a:spcBef>
                <a:spcPts val="400"/>
              </a:spcBef>
            </a:pPr>
            <a:r>
              <a:rPr lang="zh-CN" altLang="en-US" dirty="0"/>
              <a:t>如果选取该距离为</a:t>
            </a:r>
            <a:r>
              <a:rPr lang="en-US" altLang="zh-CN" dirty="0" err="1"/>
              <a:t>Eps</a:t>
            </a:r>
            <a:r>
              <a:rPr lang="zh-CN" altLang="en-US" dirty="0"/>
              <a:t>参数，而取</a:t>
            </a:r>
            <a:r>
              <a:rPr lang="en-US" altLang="zh-CN" i="1" dirty="0"/>
              <a:t>k</a:t>
            </a:r>
            <a:r>
              <a:rPr lang="zh-CN" altLang="en-US" dirty="0"/>
              <a:t>的值为</a:t>
            </a:r>
            <a:r>
              <a:rPr lang="en-US" altLang="zh-CN" dirty="0" err="1"/>
              <a:t>MinPts</a:t>
            </a:r>
            <a:r>
              <a:rPr lang="zh-CN" altLang="en-US" dirty="0"/>
              <a:t>参数。</a:t>
            </a:r>
          </a:p>
        </p:txBody>
      </p:sp>
    </p:spTree>
    <p:extLst>
      <p:ext uri="{BB962C8B-B14F-4D97-AF65-F5344CB8AC3E}">
        <p14:creationId xmlns:p14="http://schemas.microsoft.com/office/powerpoint/2010/main" val="3684327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】DBSCAN</a:t>
            </a:r>
            <a:r>
              <a:rPr lang="zh-CN" altLang="en-US" dirty="0"/>
              <a:t>的举例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2400" y="1536520"/>
          <a:ext cx="1378346" cy="3949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r:id="rId3" imgW="1485967" imgH="3952943" progId="Excel.Sheet.12">
                  <p:embed/>
                </p:oleObj>
              </mc:Choice>
              <mc:Fallback>
                <p:oleObj r:id="rId3" imgW="1485967" imgH="3952943" progId="Excel.Sheet.12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536520"/>
                        <a:ext cx="1378346" cy="39498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2600" y="1524000"/>
            <a:ext cx="4191000" cy="270848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45DD2F-213B-4AC1-93C9-052938027409}"/>
              </a:ext>
            </a:extLst>
          </p:cNvPr>
          <p:cNvSpPr/>
          <p:nvPr/>
        </p:nvSpPr>
        <p:spPr>
          <a:xfrm>
            <a:off x="2947853" y="4390931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空间中点的分布</a:t>
            </a:r>
          </a:p>
        </p:txBody>
      </p:sp>
    </p:spTree>
    <p:extLst>
      <p:ext uri="{BB962C8B-B14F-4D97-AF65-F5344CB8AC3E}">
        <p14:creationId xmlns:p14="http://schemas.microsoft.com/office/powerpoint/2010/main" val="74527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任意点之间的欧式距离计算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7" y="1664400"/>
            <a:ext cx="8886541" cy="306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99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】DBSCAN</a:t>
            </a:r>
            <a:r>
              <a:rPr lang="zh-CN" altLang="en-US" dirty="0"/>
              <a:t>的参数分析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163" y="896003"/>
            <a:ext cx="4758655" cy="2767216"/>
          </a:xfrm>
          <a:prstGeom prst="rect">
            <a:avLst/>
          </a:prstGeom>
          <a:noFill/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056" y="3705886"/>
            <a:ext cx="4852047" cy="2736000"/>
          </a:xfrm>
          <a:prstGeom prst="rect">
            <a:avLst/>
          </a:prstGeom>
          <a:noFill/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41F932-6654-44BA-BCCA-0B122D5A476B}"/>
              </a:ext>
            </a:extLst>
          </p:cNvPr>
          <p:cNvSpPr txBox="1"/>
          <p:nvPr/>
        </p:nvSpPr>
        <p:spPr>
          <a:xfrm>
            <a:off x="5078993" y="1448554"/>
            <a:ext cx="38442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zh-CN" altLang="en-US" dirty="0">
                <a:solidFill>
                  <a:srgbClr val="C00000"/>
                </a:solidFill>
              </a:rPr>
              <a:t>每条线对应于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个点</a:t>
            </a:r>
            <a:r>
              <a:rPr lang="zh-CN" altLang="en-US" dirty="0"/>
              <a:t>，计算所有数据点之间的距离，并对每个数据按照与其他数据点的距离递增的次序进行排列，可以得到个点的第</a:t>
            </a:r>
            <a:r>
              <a:rPr lang="en-US" altLang="zh-CN" dirty="0"/>
              <a:t>k</a:t>
            </a:r>
            <a:r>
              <a:rPr lang="zh-CN" altLang="en-US" dirty="0"/>
              <a:t>个临近点的距离变化趋势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chemeClr val="tx2"/>
                </a:solidFill>
              </a:rPr>
              <a:t>从</a:t>
            </a:r>
            <a:r>
              <a:rPr lang="en-US" altLang="zh-CN" dirty="0">
                <a:solidFill>
                  <a:schemeClr val="tx2"/>
                </a:solidFill>
              </a:rPr>
              <a:t>k=5</a:t>
            </a:r>
            <a:r>
              <a:rPr lang="zh-CN" altLang="en-US" dirty="0">
                <a:solidFill>
                  <a:schemeClr val="tx2"/>
                </a:solidFill>
              </a:rPr>
              <a:t>变为</a:t>
            </a:r>
            <a:r>
              <a:rPr lang="en-US" altLang="zh-CN" dirty="0">
                <a:solidFill>
                  <a:schemeClr val="tx2"/>
                </a:solidFill>
              </a:rPr>
              <a:t>k=6</a:t>
            </a:r>
            <a:r>
              <a:rPr lang="zh-CN" altLang="en-US" dirty="0">
                <a:solidFill>
                  <a:schemeClr val="tx2"/>
                </a:solidFill>
              </a:rPr>
              <a:t>时有较大提升</a:t>
            </a: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FDD999-3C03-495E-AE91-1C3F804E897C}"/>
              </a:ext>
            </a:extLst>
          </p:cNvPr>
          <p:cNvSpPr txBox="1"/>
          <p:nvPr/>
        </p:nvSpPr>
        <p:spPr>
          <a:xfrm>
            <a:off x="5078993" y="4036337"/>
            <a:ext cx="3844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方法：</a:t>
            </a:r>
            <a:r>
              <a:rPr lang="zh-CN" altLang="en-US" dirty="0">
                <a:solidFill>
                  <a:srgbClr val="C00000"/>
                </a:solidFill>
              </a:rPr>
              <a:t>每条线对应一个</a:t>
            </a:r>
            <a:r>
              <a:rPr lang="en-US" altLang="zh-CN" dirty="0">
                <a:solidFill>
                  <a:srgbClr val="C00000"/>
                </a:solidFill>
              </a:rPr>
              <a:t>k</a:t>
            </a:r>
            <a:r>
              <a:rPr lang="zh-CN" altLang="en-US" dirty="0">
                <a:solidFill>
                  <a:srgbClr val="C00000"/>
                </a:solidFill>
              </a:rPr>
              <a:t>值</a:t>
            </a:r>
            <a:r>
              <a:rPr lang="zh-CN" altLang="en-US" dirty="0"/>
              <a:t>，对具体的</a:t>
            </a:r>
            <a:r>
              <a:rPr lang="en-US" altLang="zh-CN" dirty="0"/>
              <a:t>k</a:t>
            </a:r>
            <a:r>
              <a:rPr lang="zh-CN" altLang="en-US" dirty="0"/>
              <a:t>值下临近点距离进行排序，得到该</a:t>
            </a:r>
            <a:r>
              <a:rPr lang="en-US" altLang="zh-CN" dirty="0"/>
              <a:t>k</a:t>
            </a:r>
            <a:r>
              <a:rPr lang="zh-CN" altLang="en-US" dirty="0"/>
              <a:t>值下各个数据点的变化趋势。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chemeClr val="tx2"/>
                </a:solidFill>
              </a:rPr>
              <a:t>从</a:t>
            </a:r>
            <a:r>
              <a:rPr lang="en-US" altLang="zh-CN" dirty="0">
                <a:solidFill>
                  <a:schemeClr val="tx2"/>
                </a:solidFill>
              </a:rPr>
              <a:t>k=5</a:t>
            </a:r>
            <a:r>
              <a:rPr lang="zh-CN" altLang="en-US" dirty="0">
                <a:solidFill>
                  <a:schemeClr val="tx2"/>
                </a:solidFill>
              </a:rPr>
              <a:t>变为</a:t>
            </a:r>
            <a:r>
              <a:rPr lang="en-US" altLang="zh-CN" dirty="0">
                <a:solidFill>
                  <a:schemeClr val="tx2"/>
                </a:solidFill>
              </a:rPr>
              <a:t>k=6</a:t>
            </a:r>
            <a:r>
              <a:rPr lang="zh-CN" altLang="en-US" dirty="0">
                <a:solidFill>
                  <a:schemeClr val="tx2"/>
                </a:solidFill>
              </a:rPr>
              <a:t>时有较大提升</a:t>
            </a:r>
            <a:endParaRPr lang="en-US" altLang="zh-CN" dirty="0">
              <a:solidFill>
                <a:schemeClr val="tx2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5B5B40-0583-4AE9-8C55-A75806EBB85D}"/>
              </a:ext>
            </a:extLst>
          </p:cNvPr>
          <p:cNvSpPr txBox="1"/>
          <p:nvPr/>
        </p:nvSpPr>
        <p:spPr>
          <a:xfrm>
            <a:off x="1869457" y="3275111"/>
            <a:ext cx="18476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到相邻数据点的数量</a:t>
            </a:r>
          </a:p>
        </p:txBody>
      </p:sp>
    </p:spTree>
    <p:extLst>
      <p:ext uri="{BB962C8B-B14F-4D97-AF65-F5344CB8AC3E}">
        <p14:creationId xmlns:p14="http://schemas.microsoft.com/office/powerpoint/2010/main" val="371838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 DBSCAN</a:t>
            </a:r>
            <a:r>
              <a:rPr lang="zh-CN" altLang="en-US" dirty="0"/>
              <a:t>的参数分析 </a:t>
            </a:r>
            <a:r>
              <a:rPr lang="en-US" altLang="zh-CN" dirty="0">
                <a:solidFill>
                  <a:srgbClr val="002060"/>
                </a:solidFill>
              </a:rPr>
              <a:t>Eps </a:t>
            </a:r>
            <a:r>
              <a:rPr lang="en-US" altLang="zh-CN" dirty="0" err="1">
                <a:solidFill>
                  <a:srgbClr val="002060"/>
                </a:solidFill>
              </a:rPr>
              <a:t>minPts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altLang="zh-CN" dirty="0" err="1"/>
              <a:t>Eps</a:t>
            </a:r>
            <a:r>
              <a:rPr lang="en-US" altLang="zh-CN" dirty="0"/>
              <a:t>=2.4</a:t>
            </a:r>
            <a:r>
              <a:rPr lang="zh-CN" altLang="en-US" dirty="0"/>
              <a:t>，</a:t>
            </a:r>
            <a:r>
              <a:rPr lang="en-US" altLang="zh-CN" dirty="0" err="1"/>
              <a:t>minPts</a:t>
            </a:r>
            <a:r>
              <a:rPr lang="en-US" altLang="zh-CN" dirty="0"/>
              <a:t>=5</a:t>
            </a:r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386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2800" y="2286001"/>
          <a:ext cx="2880000" cy="3787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4" r:id="rId3" imgW="3438576" imgH="4124257" progId="Excel.Sheet.12">
                  <p:embed/>
                </p:oleObj>
              </mc:Choice>
              <mc:Fallback>
                <p:oleObj r:id="rId3" imgW="3438576" imgH="4124257" progId="Excel.Sheet.12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00" y="2286001"/>
                        <a:ext cx="2880000" cy="37873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2286000"/>
            <a:ext cx="4960546" cy="3505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6107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】Excel</a:t>
            </a:r>
            <a:r>
              <a:rPr lang="zh-CN" altLang="en-US" dirty="0"/>
              <a:t>计算聚类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altLang="zh-CN" dirty="0" err="1"/>
              <a:t>Eps</a:t>
            </a:r>
            <a:r>
              <a:rPr lang="en-US" altLang="zh-CN" dirty="0"/>
              <a:t>=</a:t>
            </a:r>
            <a:r>
              <a:rPr lang="en-US" altLang="zh-CN" b="1" dirty="0">
                <a:solidFill>
                  <a:srgbClr val="C00000"/>
                </a:solidFill>
              </a:rPr>
              <a:t>2.75</a:t>
            </a:r>
            <a:r>
              <a:rPr lang="zh-CN" altLang="en-US" dirty="0"/>
              <a:t>，</a:t>
            </a:r>
            <a:r>
              <a:rPr lang="en-US" altLang="zh-CN" dirty="0" err="1"/>
              <a:t>minPts</a:t>
            </a:r>
            <a:r>
              <a:rPr lang="en-US" altLang="zh-CN" dirty="0"/>
              <a:t>=5</a:t>
            </a:r>
            <a:endParaRPr lang="zh-CN" altLang="en-US" dirty="0"/>
          </a:p>
        </p:txBody>
      </p:sp>
      <p:graphicFrame>
        <p:nvGraphicFramePr>
          <p:cNvPr id="7" name="对象 6"/>
          <p:cNvGraphicFramePr>
            <a:graphicFrameLocks/>
          </p:cNvGraphicFramePr>
          <p:nvPr/>
        </p:nvGraphicFramePr>
        <p:xfrm>
          <a:off x="472800" y="2286000"/>
          <a:ext cx="2880000" cy="378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r:id="rId3" imgW="3695633" imgH="3952943" progId="Excel.Sheet.12">
                  <p:embed/>
                </p:oleObj>
              </mc:Choice>
              <mc:Fallback>
                <p:oleObj r:id="rId3" imgW="3695633" imgH="3952943" progId="Excel.Sheet.12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800" y="2286000"/>
                        <a:ext cx="2880000" cy="378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2450082"/>
            <a:ext cx="4960800" cy="3188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884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DBSCAN</a:t>
            </a:r>
            <a:r>
              <a:rPr lang="zh-CN" altLang="en-US"/>
              <a:t>算法：选择 </a:t>
            </a:r>
            <a:r>
              <a:rPr lang="en-US" altLang="zh-CN"/>
              <a:t>Eps</a:t>
            </a:r>
            <a:r>
              <a:rPr lang="zh-CN" altLang="en-US"/>
              <a:t>和</a:t>
            </a:r>
            <a:r>
              <a:rPr lang="en-US" altLang="zh-CN"/>
              <a:t>MinPts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3" indent="0">
              <a:buNone/>
            </a:pPr>
            <a:r>
              <a:rPr lang="en-US" altLang="zh-CN" dirty="0">
                <a:latin typeface="宋体"/>
                <a:ea typeface="宋体"/>
              </a:rPr>
              <a:t>【</a:t>
            </a:r>
            <a:r>
              <a:rPr lang="zh-CN" altLang="en-US" dirty="0">
                <a:latin typeface="宋体"/>
                <a:ea typeface="宋体"/>
              </a:rPr>
              <a:t>例</a:t>
            </a:r>
            <a:r>
              <a:rPr lang="en-US" altLang="zh-CN" dirty="0">
                <a:latin typeface="宋体"/>
                <a:ea typeface="宋体"/>
              </a:rPr>
              <a:t>】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057400"/>
            <a:ext cx="2616882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4766" y="2057401"/>
            <a:ext cx="5539138" cy="3392277"/>
          </a:xfrm>
          <a:prstGeom prst="rect">
            <a:avLst/>
          </a:prstGeom>
          <a:noFill/>
        </p:spPr>
      </p:pic>
      <p:sp>
        <p:nvSpPr>
          <p:cNvPr id="7" name="线形标注 1(无边框) 6"/>
          <p:cNvSpPr/>
          <p:nvPr/>
        </p:nvSpPr>
        <p:spPr>
          <a:xfrm>
            <a:off x="6934200" y="3826800"/>
            <a:ext cx="1044000" cy="288000"/>
          </a:xfrm>
          <a:prstGeom prst="callout1">
            <a:avLst>
              <a:gd name="adj1" fmla="val 47083"/>
              <a:gd name="adj2" fmla="val -1666"/>
              <a:gd name="adj3" fmla="val 99348"/>
              <a:gd name="adj4" fmla="val -38005"/>
            </a:avLst>
          </a:prstGeom>
          <a:noFill/>
          <a:ln w="19050">
            <a:solidFill>
              <a:srgbClr val="C00000"/>
            </a:solidFill>
            <a:headEnd type="none" w="med" len="med"/>
            <a:tailEnd type="arrow" w="sm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en-US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</a:t>
            </a:r>
            <a:r>
              <a:rPr lang="en-US" altLang="zh-CN" sz="20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dist</a:t>
            </a:r>
            <a:r>
              <a:rPr lang="en-US" altLang="zh-CN" sz="20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=9</a:t>
            </a:r>
            <a:endParaRPr lang="zh-CN" altLang="en-US" sz="2000" dirty="0">
              <a:solidFill>
                <a:srgbClr val="C00000"/>
              </a:solidFill>
              <a:latin typeface="幼圆" pitchFamily="49" charset="-122"/>
              <a:ea typeface="幼圆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186066" y="5640871"/>
            <a:ext cx="133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Eps</a:t>
            </a:r>
            <a:r>
              <a:rPr lang="en-US" altLang="zh-CN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= ?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5828400" y="5659801"/>
            <a:ext cx="19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MinPts</a:t>
            </a:r>
            <a:r>
              <a:rPr lang="en-US" altLang="zh-CN" sz="2400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</a:rPr>
              <a:t> = ?</a:t>
            </a:r>
            <a:endParaRPr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A22FEEB-C76B-425A-AC03-D0E1B78D239C}"/>
              </a:ext>
            </a:extLst>
          </p:cNvPr>
          <p:cNvSpPr txBox="1"/>
          <p:nvPr/>
        </p:nvSpPr>
        <p:spPr>
          <a:xfrm>
            <a:off x="5608538" y="5083609"/>
            <a:ext cx="184766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到相邻数据点的数量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DBSCAN</a:t>
            </a:r>
            <a:r>
              <a:rPr lang="zh-CN" altLang="en-US"/>
              <a:t>算法：选择 </a:t>
            </a:r>
            <a:r>
              <a:rPr lang="en-US" altLang="zh-CN"/>
              <a:t>Eps</a:t>
            </a:r>
            <a:r>
              <a:rPr lang="zh-CN" altLang="en-US"/>
              <a:t>和</a:t>
            </a:r>
            <a:r>
              <a:rPr lang="en-US" altLang="zh-CN"/>
              <a:t>MinPts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763" indent="0">
              <a:buNone/>
            </a:pPr>
            <a:r>
              <a:rPr lang="en-US" altLang="zh-CN" dirty="0">
                <a:latin typeface="宋体"/>
                <a:ea typeface="宋体"/>
              </a:rPr>
              <a:t>【</a:t>
            </a:r>
            <a:r>
              <a:rPr lang="zh-CN" altLang="en-US" dirty="0">
                <a:latin typeface="宋体"/>
                <a:ea typeface="宋体"/>
              </a:rPr>
              <a:t>例</a:t>
            </a:r>
            <a:r>
              <a:rPr lang="en-US" altLang="zh-CN" dirty="0">
                <a:latin typeface="宋体"/>
                <a:ea typeface="宋体"/>
              </a:rPr>
              <a:t>】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2057400"/>
            <a:ext cx="2616882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44766" y="2057401"/>
            <a:ext cx="5550999" cy="33922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1288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算法：选择 </a:t>
            </a:r>
            <a:r>
              <a:rPr lang="en-US" altLang="zh-CN" dirty="0"/>
              <a:t>Eps</a:t>
            </a:r>
            <a:r>
              <a:rPr lang="zh-CN" altLang="en-US" dirty="0"/>
              <a:t>和</a:t>
            </a:r>
            <a:r>
              <a:rPr lang="en-US" altLang="zh-CN" dirty="0" err="1"/>
              <a:t>MinPts</a:t>
            </a:r>
            <a:endParaRPr lang="en-US" altLang="zh-CN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spcBef>
                <a:spcPts val="400"/>
              </a:spcBef>
              <a:buNone/>
            </a:pPr>
            <a:r>
              <a:rPr lang="en-US" altLang="zh-CN" dirty="0">
                <a:latin typeface="宋体"/>
                <a:ea typeface="宋体"/>
              </a:rPr>
              <a:t>【</a:t>
            </a:r>
            <a:r>
              <a:rPr lang="zh-CN" altLang="en-US" dirty="0">
                <a:latin typeface="宋体"/>
                <a:ea typeface="宋体"/>
              </a:rPr>
              <a:t>例</a:t>
            </a:r>
            <a:r>
              <a:rPr lang="en-US" altLang="zh-CN" dirty="0">
                <a:latin typeface="宋体"/>
                <a:ea typeface="宋体"/>
              </a:rPr>
              <a:t>】</a:t>
            </a:r>
            <a:endParaRPr lang="zh-CN" altLang="en-US" dirty="0"/>
          </a:p>
        </p:txBody>
      </p:sp>
      <p:pic>
        <p:nvPicPr>
          <p:cNvPr id="1655812" name="Picture 4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7" t="3125" r="4716"/>
          <a:stretch/>
        </p:blipFill>
        <p:spPr bwMode="auto">
          <a:xfrm>
            <a:off x="4891088" y="1928813"/>
            <a:ext cx="4100512" cy="270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" y="1714501"/>
            <a:ext cx="4872038" cy="304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3D2FA5-1539-4FA7-A315-FAEEEE82E7EC}"/>
              </a:ext>
            </a:extLst>
          </p:cNvPr>
          <p:cNvSpPr/>
          <p:nvPr/>
        </p:nvSpPr>
        <p:spPr>
          <a:xfrm>
            <a:off x="6085335" y="4712873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空间中点的数量</a:t>
            </a:r>
          </a:p>
        </p:txBody>
      </p:sp>
    </p:spTree>
    <p:extLst>
      <p:ext uri="{BB962C8B-B14F-4D97-AF65-F5344CB8AC3E}">
        <p14:creationId xmlns:p14="http://schemas.microsoft.com/office/powerpoint/2010/main" val="12030108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算法：选择 </a:t>
            </a:r>
            <a:r>
              <a:rPr lang="en-US" altLang="zh-CN" dirty="0"/>
              <a:t>Eps</a:t>
            </a:r>
            <a:r>
              <a:rPr lang="zh-CN" altLang="en-US" dirty="0"/>
              <a:t>和</a:t>
            </a:r>
            <a:r>
              <a:rPr lang="en-US" altLang="zh-CN" dirty="0" err="1"/>
              <a:t>MinPts</a:t>
            </a:r>
            <a:endParaRPr lang="en-US" altLang="zh-CN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spcBef>
                <a:spcPts val="400"/>
              </a:spcBef>
              <a:buNone/>
            </a:pPr>
            <a:r>
              <a:rPr lang="en-US" altLang="zh-CN" dirty="0">
                <a:latin typeface="宋体"/>
                <a:ea typeface="宋体"/>
              </a:rPr>
              <a:t>【</a:t>
            </a:r>
            <a:r>
              <a:rPr lang="zh-CN" altLang="en-US" dirty="0">
                <a:latin typeface="宋体"/>
                <a:ea typeface="宋体"/>
              </a:rPr>
              <a:t>例</a:t>
            </a:r>
            <a:r>
              <a:rPr lang="en-US" altLang="zh-CN" dirty="0">
                <a:latin typeface="宋体"/>
                <a:ea typeface="宋体"/>
              </a:rPr>
              <a:t>】</a:t>
            </a:r>
            <a:endParaRPr lang="zh-CN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" y="1714501"/>
            <a:ext cx="4872038" cy="304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5145881" y="4456668"/>
            <a:ext cx="2971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dirty="0">
                <a:solidFill>
                  <a:srgbClr val="00B050"/>
                </a:solidFill>
                <a:latin typeface="幼圆" pitchFamily="49" charset="-122"/>
                <a:ea typeface="幼圆" pitchFamily="49" charset="-122"/>
              </a:rPr>
              <a:t>核心点</a:t>
            </a:r>
            <a:r>
              <a:rPr lang="en-US" altLang="zh-CN" dirty="0"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dirty="0">
                <a:solidFill>
                  <a:srgbClr val="003399"/>
                </a:solidFill>
                <a:latin typeface="幼圆" pitchFamily="49" charset="-122"/>
                <a:ea typeface="幼圆" pitchFamily="49" charset="-122"/>
              </a:rPr>
              <a:t>边界点</a:t>
            </a:r>
            <a:r>
              <a:rPr lang="en-US" altLang="zh-CN" dirty="0">
                <a:latin typeface="幼圆" pitchFamily="49" charset="-122"/>
                <a:ea typeface="幼圆" pitchFamily="49" charset="-122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幼圆" pitchFamily="49" charset="-122"/>
                <a:ea typeface="幼圆" pitchFamily="49" charset="-122"/>
              </a:rPr>
              <a:t>噪声点</a:t>
            </a:r>
            <a:endParaRPr lang="en-US" altLang="zh-CN" dirty="0">
              <a:solidFill>
                <a:srgbClr val="FF0000"/>
              </a:solidFill>
              <a:latin typeface="幼圆" pitchFamily="49" charset="-122"/>
              <a:ea typeface="幼圆" pitchFamily="49" charset="-122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762" y="1714501"/>
            <a:ext cx="4872038" cy="3045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743200" y="5029200"/>
            <a:ext cx="3276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Eps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10,      </a:t>
            </a:r>
            <a:r>
              <a:rPr lang="en-US" altLang="zh-CN" sz="20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MinPts</a:t>
            </a:r>
            <a:r>
              <a:rPr lang="en-US" altLang="zh-CN" sz="20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94407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算法特点</a:t>
            </a:r>
          </a:p>
        </p:txBody>
      </p:sp>
      <p:sp>
        <p:nvSpPr>
          <p:cNvPr id="1680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对噪声数据不敏感（优点）</a:t>
            </a:r>
            <a:endParaRPr lang="en-US" altLang="zh-CN" dirty="0"/>
          </a:p>
          <a:p>
            <a:r>
              <a:rPr lang="zh-CN" altLang="en-US" dirty="0"/>
              <a:t>能够处理任意形状的簇</a:t>
            </a:r>
            <a:endParaRPr lang="en-US" altLang="zh-CN" dirty="0"/>
          </a:p>
          <a:p>
            <a:r>
              <a:rPr lang="zh-CN" altLang="en-US" dirty="0"/>
              <a:t>能够处理任意大小的簇</a:t>
            </a:r>
            <a:endParaRPr lang="en-US" altLang="zh-CN" dirty="0"/>
          </a:p>
          <a:p>
            <a:r>
              <a:rPr lang="zh-CN" altLang="en-US" dirty="0"/>
              <a:t>可以发现使用</a:t>
            </a:r>
            <a:r>
              <a:rPr lang="en-US" altLang="zh-CN" dirty="0" err="1"/>
              <a:t>Kmeans</a:t>
            </a:r>
            <a:r>
              <a:rPr lang="zh-CN" altLang="en-US" dirty="0"/>
              <a:t>算法不能发现的簇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算法特点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变密度的簇</a:t>
            </a:r>
          </a:p>
        </p:txBody>
      </p:sp>
      <p:pic>
        <p:nvPicPr>
          <p:cNvPr id="5" name="Picture 5" descr="fish_clusters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3048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827589" y="1524001"/>
          <a:ext cx="3363913" cy="1906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2"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9" y="1524001"/>
                        <a:ext cx="3363913" cy="19063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5252244" y="3507531"/>
            <a:ext cx="2514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1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16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MinPts</a:t>
            </a:r>
            <a:r>
              <a:rPr lang="en-US" altLang="zh-CN" sz="1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=4, </a:t>
            </a:r>
            <a:r>
              <a:rPr lang="en-US" altLang="zh-CN" sz="1600" dirty="0" err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Eps</a:t>
            </a:r>
            <a:r>
              <a:rPr lang="en-US" altLang="zh-CN" sz="16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=9.75)</a:t>
            </a:r>
            <a:endParaRPr lang="en-US" altLang="zh-CN" sz="240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8" name="Object 10"/>
          <p:cNvGraphicFramePr>
            <a:graphicFrameLocks noChangeAspect="1"/>
          </p:cNvGraphicFramePr>
          <p:nvPr/>
        </p:nvGraphicFramePr>
        <p:xfrm>
          <a:off x="4827588" y="3994327"/>
          <a:ext cx="3363913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3994327"/>
                        <a:ext cx="3363913" cy="190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252244" y="5905500"/>
            <a:ext cx="25146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16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160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(MinPts=4, Eps=9.92)</a:t>
            </a:r>
          </a:p>
        </p:txBody>
      </p:sp>
    </p:spTree>
    <p:extLst>
      <p:ext uri="{BB962C8B-B14F-4D97-AF65-F5344CB8AC3E}">
        <p14:creationId xmlns:p14="http://schemas.microsoft.com/office/powerpoint/2010/main" val="18220057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算法特点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变密度的簇</a:t>
            </a:r>
            <a:endParaRPr lang="en-US" altLang="zh-CN" dirty="0"/>
          </a:p>
          <a:p>
            <a:pPr lvl="1"/>
            <a:r>
              <a:rPr lang="zh-CN" altLang="en-US" dirty="0"/>
              <a:t>如果簇的密度变化很大，</a:t>
            </a:r>
            <a:r>
              <a:rPr lang="en-US" altLang="zh-CN" dirty="0"/>
              <a:t>DBSCAN</a:t>
            </a:r>
            <a:r>
              <a:rPr lang="zh-CN" altLang="en-US" dirty="0"/>
              <a:t>可能会有问题。</a:t>
            </a:r>
          </a:p>
        </p:txBody>
      </p:sp>
      <p:sp>
        <p:nvSpPr>
          <p:cNvPr id="3" name="矩形 2"/>
          <p:cNvSpPr/>
          <p:nvPr/>
        </p:nvSpPr>
        <p:spPr>
          <a:xfrm>
            <a:off x="991800" y="2695800"/>
            <a:ext cx="1980000" cy="1800000"/>
          </a:xfrm>
          <a:prstGeom prst="rect">
            <a:avLst/>
          </a:prstGeom>
          <a:pattFill prst="pct25">
            <a:fgClr>
              <a:srgbClr val="0070C0"/>
            </a:fgClr>
            <a:bgClr>
              <a:schemeClr val="bg1"/>
            </a:bgClr>
          </a:patt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973000" y="2695800"/>
            <a:ext cx="1980000" cy="1800000"/>
          </a:xfrm>
          <a:prstGeom prst="rect">
            <a:avLst/>
          </a:prstGeom>
          <a:pattFill prst="pct10">
            <a:fgClr>
              <a:srgbClr val="0070C0"/>
            </a:fgClr>
            <a:bgClr>
              <a:schemeClr val="bg1"/>
            </a:bgClr>
          </a:patt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3423000" y="3055800"/>
            <a:ext cx="1080000" cy="1080000"/>
          </a:xfrm>
          <a:prstGeom prst="ellipse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Cluster B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441800" y="3055800"/>
            <a:ext cx="1080000" cy="1080000"/>
          </a:xfrm>
          <a:prstGeom prst="ellipse">
            <a:avLst/>
          </a:prstGeom>
          <a:pattFill prst="pct60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>
                <a:solidFill>
                  <a:srgbClr val="C00000"/>
                </a:solidFill>
              </a:rPr>
              <a:t>Cluster A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68600" y="2589188"/>
            <a:ext cx="37230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簇和噪声区域的密度由它们的明暗度表示，簇</a:t>
            </a:r>
            <a:r>
              <a:rPr lang="en-US" altLang="zh-CN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密度较高，簇</a:t>
            </a:r>
            <a:r>
              <a:rPr lang="en-US" altLang="zh-CN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A</a:t>
            </a:r>
            <a:r>
              <a:rPr lang="zh-CN" altLang="en-US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周围密度较低，且与簇</a:t>
            </a:r>
            <a:r>
              <a:rPr lang="en-US" altLang="zh-CN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B</a:t>
            </a:r>
            <a:r>
              <a:rPr lang="zh-CN" altLang="en-US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的密度相同，簇</a:t>
            </a:r>
            <a:r>
              <a:rPr lang="en-US" altLang="zh-CN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B</a:t>
            </a:r>
            <a:r>
              <a:rPr lang="zh-CN" altLang="en-US" dirty="0">
                <a:solidFill>
                  <a:srgbClr val="C00000"/>
                </a:solidFill>
                <a:latin typeface="幼圆" pitchFamily="49" charset="-122"/>
                <a:ea typeface="幼圆" pitchFamily="49" charset="-122"/>
                <a:cs typeface="Times New Roman" pitchFamily="18" charset="0"/>
              </a:rPr>
              <a:t>周围密度最低。</a:t>
            </a:r>
            <a:endParaRPr lang="en-US" altLang="zh-CN" dirty="0">
              <a:solidFill>
                <a:srgbClr val="C00000"/>
              </a:solidFill>
              <a:latin typeface="幼圆" pitchFamily="49" charset="-122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91800" y="4572001"/>
            <a:ext cx="7999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如果</a:t>
            </a:r>
            <a:r>
              <a:rPr lang="en-US" altLang="zh-CN" sz="24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Eps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域值过大，则可以发现簇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B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及周围的噪声点会和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聚成一个簇。</a:t>
            </a:r>
          </a:p>
        </p:txBody>
      </p:sp>
      <p:sp>
        <p:nvSpPr>
          <p:cNvPr id="14" name="矩形 13"/>
          <p:cNvSpPr/>
          <p:nvPr/>
        </p:nvSpPr>
        <p:spPr>
          <a:xfrm>
            <a:off x="990600" y="5410201"/>
            <a:ext cx="7999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如果</a:t>
            </a:r>
            <a:r>
              <a:rPr lang="en-US" altLang="zh-CN" sz="2400" dirty="0" err="1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Eps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域值过小，则可以发现簇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A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周围的点则标记为噪声，</a:t>
            </a:r>
            <a:r>
              <a:rPr lang="en-US" altLang="zh-CN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B</a:t>
            </a:r>
            <a:r>
              <a:rPr lang="zh-CN" altLang="en-US" sz="2400" dirty="0">
                <a:latin typeface="Times New Roman" pitchFamily="18" charset="0"/>
                <a:ea typeface="华文细黑" pitchFamily="2" charset="-122"/>
                <a:cs typeface="Times New Roman" pitchFamily="18" charset="0"/>
              </a:rPr>
              <a:t>及其周围的点也将标记为噪声。</a:t>
            </a:r>
            <a:endParaRPr lang="en-US" altLang="zh-CN" sz="2400" dirty="0">
              <a:latin typeface="Times New Roman" pitchFamily="18" charset="0"/>
              <a:ea typeface="华文细黑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3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DBSCAN</a:t>
            </a:r>
            <a:r>
              <a:rPr lang="zh-CN" altLang="en-US" dirty="0"/>
              <a:t>算法特点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变密度的簇</a:t>
                </a:r>
                <a:endParaRPr lang="en-US" altLang="zh-CN" dirty="0"/>
              </a:p>
              <a:p>
                <a:r>
                  <a:rPr lang="zh-CN" altLang="en-US" dirty="0"/>
                  <a:t>对于高维数据，较难定义数据的密度 ，算法应用也会有问题</a:t>
                </a:r>
                <a:endParaRPr lang="en-US" altLang="zh-CN" dirty="0"/>
              </a:p>
              <a:p>
                <a:r>
                  <a:rPr lang="zh-CN" altLang="en-US" dirty="0"/>
                  <a:t>开销较大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DBSCAN</a:t>
                </a:r>
                <a:r>
                  <a:rPr lang="zh-CN" altLang="en-US" dirty="0"/>
                  <a:t>算法需要访问数据集中所有的样本，有些样本还可能需要多次访问（如确定边界点时），因此算法的时间复杂度主要取决于空间查询（即获取某个样本点的</a:t>
                </a:r>
                <a:r>
                  <a:rPr lang="en-US" altLang="zh-CN" dirty="0" err="1"/>
                  <a:t>Eps</a:t>
                </a:r>
                <a:r>
                  <a:rPr lang="zh-CN" altLang="en-US" dirty="0"/>
                  <a:t>邻域）时的运算次数。</a:t>
                </a:r>
                <a:endParaRPr lang="en-US" altLang="zh-CN" dirty="0"/>
              </a:p>
              <a:p>
                <a:pPr lvl="1" fontAlgn="ctr"/>
                <a:r>
                  <a:rPr lang="zh-CN" altLang="zh-CN" dirty="0"/>
                  <a:t>对于包含有</a:t>
                </a:r>
                <a:r>
                  <a:rPr lang="en-US" altLang="zh-CN" i="1" dirty="0"/>
                  <a:t>n</a:t>
                </a:r>
                <a:r>
                  <a:rPr lang="zh-CN" altLang="zh-CN" dirty="0"/>
                  <a:t>个数据元素的数据集，算法的时间复杂度为</a:t>
                </a:r>
                <a:r>
                  <a:rPr lang="en-US" altLang="zh-CN" i="1" dirty="0"/>
                  <a:t>O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n</a:t>
                </a:r>
                <a:r>
                  <a:rPr lang="en-US" altLang="zh-CN" baseline="30000" dirty="0"/>
                  <a:t>2</a:t>
                </a:r>
                <a:r>
                  <a:rPr lang="en-US" altLang="zh-CN" dirty="0"/>
                  <a:t>)</a:t>
                </a:r>
              </a:p>
              <a:p>
                <a:pPr lvl="1" fontAlgn="ctr"/>
                <a:r>
                  <a:rPr lang="zh-CN" altLang="zh-CN" dirty="0"/>
                  <a:t>为了避免重复计算样本点的邻近度，通常会生成一个</a:t>
                </a:r>
                <a:r>
                  <a:rPr lang="en-US" altLang="zh-CN" i="1" dirty="0"/>
                  <a:t>n</a:t>
                </a:r>
                <a:r>
                  <a:rPr lang="zh-CN" altLang="zh-CN" dirty="0"/>
                  <a:t>阶的邻近度矩阵</a:t>
                </a:r>
                <a:r>
                  <a:rPr lang="zh-CN" altLang="en-US" dirty="0"/>
                  <a:t>，</a:t>
                </a:r>
                <a:r>
                  <a:rPr lang="zh-CN" altLang="zh-CN" dirty="0"/>
                  <a:t>则其空间复杂度为</a:t>
                </a:r>
                <a:r>
                  <a:rPr lang="en-US" altLang="zh-CN" i="1" dirty="0"/>
                  <a:t>O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n</a:t>
                </a:r>
                <a:r>
                  <a:rPr lang="en-US" altLang="zh-CN" baseline="30000" dirty="0"/>
                  <a:t>2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。</a:t>
                </a:r>
              </a:p>
              <a:p>
                <a:pPr lvl="1" fontAlgn="ctr"/>
                <a:r>
                  <a:rPr lang="zh-CN" altLang="zh-CN" dirty="0"/>
                  <a:t>如果用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-</a:t>
                </a:r>
                <a:r>
                  <a:rPr lang="en-US" altLang="zh-CN" i="1" dirty="0"/>
                  <a:t>D</a:t>
                </a:r>
                <a:r>
                  <a:rPr lang="zh-CN" altLang="zh-CN" dirty="0"/>
                  <a:t>树结构来组织数据集中的样本点并进行最近点查找，复杂度可降为</a:t>
                </a:r>
                <a:r>
                  <a:rPr lang="en-US" altLang="zh-CN" i="1" dirty="0"/>
                  <a:t>O</a:t>
                </a:r>
                <a:r>
                  <a:rPr lang="en-US" altLang="zh-CN" dirty="0"/>
                  <a:t>(</a:t>
                </a:r>
                <a:r>
                  <a:rPr lang="en-US" altLang="zh-CN" i="1" dirty="0"/>
                  <a:t>nlog</a:t>
                </a:r>
                <a14:m>
                  <m:oMath xmlns:m="http://schemas.openxmlformats.org/officeDocument/2006/math">
                    <m:r>
                      <a:rPr lang="en-US" altLang="zh-CN" i="1" baseline="-25000" dirty="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CN" i="1" dirty="0"/>
                  <a:t>n</a:t>
                </a:r>
                <a:r>
                  <a:rPr lang="en-US" altLang="zh-CN" dirty="0"/>
                  <a:t>)</a:t>
                </a:r>
                <a:r>
                  <a:rPr lang="zh-CN" altLang="zh-CN" dirty="0"/>
                  <a:t>。</a:t>
                </a:r>
              </a:p>
              <a:p>
                <a:pPr lvl="2"/>
                <a:endParaRPr lang="zh-CN" altLang="en-US" dirty="0"/>
              </a:p>
              <a:p>
                <a:pPr lvl="2"/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8" t="-108" r="-10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843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1C527-2FC7-BB88-43C7-FB53F0063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96C00AA8-7BB9-2659-CE9F-D6FD64E980B2}"/>
              </a:ext>
            </a:extLst>
          </p:cNvPr>
          <p:cNvSpPr/>
          <p:nvPr/>
        </p:nvSpPr>
        <p:spPr>
          <a:xfrm>
            <a:off x="124616" y="1576922"/>
            <a:ext cx="2225892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2CE92360-1F01-4491-C4B4-7EDB41D3DF1A}"/>
              </a:ext>
            </a:extLst>
          </p:cNvPr>
          <p:cNvSpPr/>
          <p:nvPr/>
        </p:nvSpPr>
        <p:spPr>
          <a:xfrm>
            <a:off x="124616" y="158969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5.4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1BD9044-3359-BD14-737E-81857414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76E1339F-2514-8F26-3B9C-D8DB18193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432" y="2076161"/>
            <a:ext cx="39818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2286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3A7E77F-AB5D-C3B3-11B6-E62278D873F7}"/>
              </a:ext>
            </a:extLst>
          </p:cNvPr>
          <p:cNvGrpSpPr/>
          <p:nvPr/>
        </p:nvGrpSpPr>
        <p:grpSpPr>
          <a:xfrm>
            <a:off x="469610" y="2608286"/>
            <a:ext cx="8396478" cy="2822616"/>
            <a:chOff x="660400" y="473037"/>
            <a:chExt cx="10858500" cy="365026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62E4969-3E51-6071-0EB8-DDD36873113D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900">
                <a:solidFill>
                  <a:srgbClr val="FFFFFF"/>
                </a:solidFill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8CEDA9E-8646-6FB4-B46E-78CBD03E8A88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900">
                <a:solidFill>
                  <a:srgbClr val="FFFFFF"/>
                </a:solidFill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C84179B4-955F-0578-CE38-F8D8B6FA0840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57C6A807-3E64-C9F7-94ED-902B4EC61CBC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314CC72D-F61E-6266-3709-70193ACD5FA5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2E3E0FF4-0997-09CF-AF44-1C591D4D7021}"/>
                    </a:ext>
                  </a:extLst>
                </p:cNvPr>
                <p:cNvSpPr txBox="1"/>
                <p:nvPr/>
              </p:nvSpPr>
              <p:spPr>
                <a:xfrm>
                  <a:off x="1551965" y="3108680"/>
                  <a:ext cx="1734770" cy="13087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en-US" altLang="zh-CN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DBSCAN</a:t>
                  </a:r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是一种基于密度的聚类算法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，能够发现任意形状的簇，并且能自动处理噪声数据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570C5971-A8C3-C756-62FD-7B008F2A703F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EBB03965-8A95-AC67-BFBE-F49ACBAE6035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AA461E3D-91F8-EA58-B443-6080E0F2B2F3}"/>
                    </a:ext>
                  </a:extLst>
                </p:cNvPr>
                <p:cNvSpPr txBox="1"/>
                <p:nvPr/>
              </p:nvSpPr>
              <p:spPr>
                <a:xfrm>
                  <a:off x="1551964" y="2607578"/>
                  <a:ext cx="1734770" cy="18088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766"/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使用</a:t>
                  </a:r>
                  <a:r>
                    <a:rPr lang="en-US" altLang="zh-CN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KD-Tree</a:t>
                  </a:r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或</a:t>
                  </a:r>
                  <a:r>
                    <a:rPr lang="en-US" altLang="zh-CN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R-Tree</a:t>
                  </a:r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进行空间索引</a:t>
                  </a:r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1EEC7D71-8052-69A9-A388-AD37CA56F648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BF20D279-EEF2-9672-9A0C-BD0E11D9268D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1CD8474B-6966-B12C-82C0-F37A5767E3A2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332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15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15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：适用于识别复杂形状的簇，并且能够有效识别和处理异常点</a:t>
                  </a:r>
                  <a:endParaRPr kumimoji="1" lang="en-US" altLang="zh-CN" sz="15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B3CC4BA-0B14-9ABF-162B-D159230B6995}"/>
                    </a:ext>
                  </a:extLst>
                </p:cNvPr>
                <p:cNvSpPr txBox="1"/>
                <p:nvPr/>
              </p:nvSpPr>
              <p:spPr>
                <a:xfrm>
                  <a:off x="1610874" y="2745587"/>
                  <a:ext cx="1734771" cy="18037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：不需要在提前指定簇的数量，便可识别任意形状的簇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：聚类结果依赖于参数的选择，参数设置不当可能导致过多噪声点或簇的合并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8F5B9CCF-4CBF-954C-ECB3-82CC2E35AD4B}"/>
              </a:ext>
            </a:extLst>
          </p:cNvPr>
          <p:cNvSpPr/>
          <p:nvPr/>
        </p:nvSpPr>
        <p:spPr>
          <a:xfrm>
            <a:off x="325472" y="2579974"/>
            <a:ext cx="457264" cy="398225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C0A8C88-2017-8660-BA89-0ACECBCDA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9351" y="3612378"/>
          <a:ext cx="616994" cy="41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4" name="Equation" r:id="rId4" imgW="438153" imgH="295211" progId="Equation.DSMT4">
                  <p:embed/>
                </p:oleObj>
              </mc:Choice>
              <mc:Fallback>
                <p:oleObj name="Equation" r:id="rId4" imgW="438153" imgH="295211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7C0A8C88-2017-8660-BA89-0ACECBCDA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59351" y="3612378"/>
                        <a:ext cx="616994" cy="41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518EA78-437C-25D4-875E-539B03504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8258" y="5046719"/>
          <a:ext cx="559179" cy="41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5" name="Equation" r:id="rId6" imgW="371548" imgH="276130" progId="Equation.DSMT4">
                  <p:embed/>
                </p:oleObj>
              </mc:Choice>
              <mc:Fallback>
                <p:oleObj name="Equation" r:id="rId6" imgW="371548" imgH="27613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3518EA78-437C-25D4-875E-539B03504A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8258" y="5046719"/>
                        <a:ext cx="559179" cy="41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85C1DDD-631F-70E8-E81E-1F8FC46E25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8174" y="4470444"/>
          <a:ext cx="1359347" cy="41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6" name="Equation" r:id="rId8" imgW="809700" imgH="247689" progId="Equation.DSMT4">
                  <p:embed/>
                </p:oleObj>
              </mc:Choice>
              <mc:Fallback>
                <p:oleObj name="Equation" r:id="rId8" imgW="809700" imgH="247689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E85C1DDD-631F-70E8-E81E-1F8FC46E25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988174" y="4470444"/>
                        <a:ext cx="1359347" cy="41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id="{B2453B7F-20F0-4295-B563-2AFBC80F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DBSCAN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850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C9C6-DDDC-373D-5CF4-6FB4304EF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2">
            <a:extLst>
              <a:ext uri="{FF2B5EF4-FFF2-40B4-BE49-F238E27FC236}">
                <a16:creationId xmlns:a16="http://schemas.microsoft.com/office/drawing/2014/main" id="{7E6EC26F-4418-9FBD-6B6E-2BEE3F84D838}"/>
              </a:ext>
            </a:extLst>
          </p:cNvPr>
          <p:cNvSpPr/>
          <p:nvPr/>
        </p:nvSpPr>
        <p:spPr>
          <a:xfrm>
            <a:off x="124616" y="1576922"/>
            <a:ext cx="6236124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实践案例：基于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DBSCAN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ABF54ED0-BD5C-CEF2-D3FE-CF00BD2CC3EA}"/>
              </a:ext>
            </a:extLst>
          </p:cNvPr>
          <p:cNvSpPr/>
          <p:nvPr/>
        </p:nvSpPr>
        <p:spPr>
          <a:xfrm>
            <a:off x="124616" y="158969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5.5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F7296D-9C93-9337-6D35-5D8E5F738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33E5198-94EE-36F1-A428-E371218C9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432" y="2076161"/>
            <a:ext cx="39818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2286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3B9D932-1B31-125D-9171-F6BD4D3D9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197" y="7951419"/>
            <a:ext cx="213904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228600" algn="ctr" defTabSz="685800">
              <a:tabLst>
                <a:tab pos="1981200" algn="ctr"/>
                <a:tab pos="3952875" algn="r"/>
              </a:tabLst>
            </a:pPr>
            <a:r>
              <a:rPr lang="en-US" altLang="zh-CN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sz="135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4D2DB74-0A46-D664-6240-B8BBAB857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179" y="2285992"/>
            <a:ext cx="8434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Kaggle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的用户信用卡数据集，该数据集包含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8950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个用户的信用卡数据，具体字段包括：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CUST_ID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（用户编号）、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BALANCE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（余额）、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BALANCE_FREQUENCY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（余额频率），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PRC_FULL_PAYMENT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（全款支付占比），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TENURE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（信用卡期限）等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个字段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76914E3-F213-B855-FF7B-B6DFD0DEEDA4}"/>
              </a:ext>
            </a:extLst>
          </p:cNvPr>
          <p:cNvGraphicFramePr>
            <a:graphicFrameLocks noGrp="1"/>
          </p:cNvGraphicFramePr>
          <p:nvPr/>
        </p:nvGraphicFramePr>
        <p:xfrm>
          <a:off x="372665" y="3595746"/>
          <a:ext cx="8535861" cy="2073533"/>
        </p:xfrm>
        <a:graphic>
          <a:graphicData uri="http://schemas.openxmlformats.org/drawingml/2006/table">
            <a:tbl>
              <a:tblPr firstRow="1" firstCol="1" bandRow="1"/>
              <a:tblGrid>
                <a:gridCol w="1030280">
                  <a:extLst>
                    <a:ext uri="{9D8B030D-6E8A-4147-A177-3AD203B41FA5}">
                      <a16:colId xmlns:a16="http://schemas.microsoft.com/office/drawing/2014/main" val="468718638"/>
                    </a:ext>
                  </a:extLst>
                </a:gridCol>
                <a:gridCol w="1171385">
                  <a:extLst>
                    <a:ext uri="{9D8B030D-6E8A-4147-A177-3AD203B41FA5}">
                      <a16:colId xmlns:a16="http://schemas.microsoft.com/office/drawing/2014/main" val="2997579513"/>
                    </a:ext>
                  </a:extLst>
                </a:gridCol>
                <a:gridCol w="2646770">
                  <a:extLst>
                    <a:ext uri="{9D8B030D-6E8A-4147-A177-3AD203B41FA5}">
                      <a16:colId xmlns:a16="http://schemas.microsoft.com/office/drawing/2014/main" val="2664912737"/>
                    </a:ext>
                  </a:extLst>
                </a:gridCol>
                <a:gridCol w="294662">
                  <a:extLst>
                    <a:ext uri="{9D8B030D-6E8A-4147-A177-3AD203B41FA5}">
                      <a16:colId xmlns:a16="http://schemas.microsoft.com/office/drawing/2014/main" val="139607228"/>
                    </a:ext>
                  </a:extLst>
                </a:gridCol>
                <a:gridCol w="2363522">
                  <a:extLst>
                    <a:ext uri="{9D8B030D-6E8A-4147-A177-3AD203B41FA5}">
                      <a16:colId xmlns:a16="http://schemas.microsoft.com/office/drawing/2014/main" val="4247412690"/>
                    </a:ext>
                  </a:extLst>
                </a:gridCol>
                <a:gridCol w="1029242">
                  <a:extLst>
                    <a:ext uri="{9D8B030D-6E8A-4147-A177-3AD203B41FA5}">
                      <a16:colId xmlns:a16="http://schemas.microsoft.com/office/drawing/2014/main" val="2253076999"/>
                    </a:ext>
                  </a:extLst>
                </a:gridCol>
              </a:tblGrid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CUST_ID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BALANCE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BALANCE_FREQUENCY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zh-CN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PRC_FULL_PAYMENT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b="1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TENURE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705963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40.90075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0.818182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689159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3202.467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0.909091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0.222222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202905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C10003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2495.149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176682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879806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C10007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627.2608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05749"/>
                  </a:ext>
                </a:extLst>
              </a:tr>
              <a:tr h="296219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C10008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1823.653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5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15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lang="zh-CN" sz="15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192190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9049C2E1-D43D-41E8-8078-7230D015C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实践案例：基于</a:t>
            </a:r>
            <a:r>
              <a:rPr lang="en-US" altLang="zh-CN" sz="3200" dirty="0"/>
              <a:t>DBSCAN</a:t>
            </a:r>
            <a:r>
              <a:rPr lang="zh-CN" altLang="en-US" sz="3200" dirty="0"/>
              <a:t>的用户信用卡数据聚类</a:t>
            </a:r>
          </a:p>
        </p:txBody>
      </p:sp>
    </p:spTree>
    <p:extLst>
      <p:ext uri="{BB962C8B-B14F-4D97-AF65-F5344CB8AC3E}">
        <p14:creationId xmlns:p14="http://schemas.microsoft.com/office/powerpoint/2010/main" val="4078326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B18F5-7A4A-C022-6FA0-D93D8DFA2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E36D25A-21A6-738E-5498-C559767A1241}"/>
              </a:ext>
            </a:extLst>
          </p:cNvPr>
          <p:cNvSpPr txBox="1"/>
          <p:nvPr/>
        </p:nvSpPr>
        <p:spPr>
          <a:xfrm>
            <a:off x="126537" y="2119668"/>
            <a:ext cx="8452775" cy="74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228600" algn="l"/>
              </a:tabLst>
            </a:pPr>
            <a:r>
              <a:rPr lang="en-US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算法可以调用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sklearn.cluster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模块中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1500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015A42-EAB9-AE74-8BD2-6BC59CCDA00D}"/>
              </a:ext>
            </a:extLst>
          </p:cNvPr>
          <p:cNvSpPr txBox="1"/>
          <p:nvPr/>
        </p:nvSpPr>
        <p:spPr>
          <a:xfrm>
            <a:off x="126537" y="3478331"/>
            <a:ext cx="8452775" cy="1782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eps”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 邻域半径；“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min_samples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参数表示数据成为核心点时，其 邻域内的最小数据量；“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metric”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参数表示数据之间的距离计算方式，有“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cityblock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cosine”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l1”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l2”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manhattan”6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种距离，默认为“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；“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algorithm”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参数表示最近邻模块通过计算距离寻找最近邻居的算法，有“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auto”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ball_tree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kd_tree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brute”4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种算法，默认为“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auto ”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5D4C4E-7080-1D7A-C428-4D53B8C03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37" y="2919250"/>
            <a:ext cx="8465072" cy="475805"/>
          </a:xfrm>
          <a:prstGeom prst="rect">
            <a:avLst/>
          </a:prstGeom>
        </p:spPr>
      </p:pic>
      <p:sp>
        <p:nvSpPr>
          <p:cNvPr id="5" name="矩形: 圆角 12">
            <a:extLst>
              <a:ext uri="{FF2B5EF4-FFF2-40B4-BE49-F238E27FC236}">
                <a16:creationId xmlns:a16="http://schemas.microsoft.com/office/drawing/2014/main" id="{CBDB0434-43D1-2535-11FA-DEF244E3669D}"/>
              </a:ext>
            </a:extLst>
          </p:cNvPr>
          <p:cNvSpPr/>
          <p:nvPr/>
        </p:nvSpPr>
        <p:spPr>
          <a:xfrm>
            <a:off x="124616" y="1576922"/>
            <a:ext cx="6236124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实践案例：基于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DBSCAN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6" name="箭头: 五边形 11">
            <a:extLst>
              <a:ext uri="{FF2B5EF4-FFF2-40B4-BE49-F238E27FC236}">
                <a16:creationId xmlns:a16="http://schemas.microsoft.com/office/drawing/2014/main" id="{B519EB94-0409-693B-AABD-BFEAC376EE9F}"/>
              </a:ext>
            </a:extLst>
          </p:cNvPr>
          <p:cNvSpPr/>
          <p:nvPr/>
        </p:nvSpPr>
        <p:spPr>
          <a:xfrm>
            <a:off x="124616" y="158969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5.5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4E73047-F8DE-428D-8638-7B057346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实践案例：基于</a:t>
            </a:r>
            <a:r>
              <a:rPr lang="en-US" altLang="zh-CN" sz="3200" dirty="0"/>
              <a:t>DBSCAN</a:t>
            </a:r>
            <a:r>
              <a:rPr lang="zh-CN" altLang="en-US" sz="3200" dirty="0"/>
              <a:t>的用户信用卡数据聚类</a:t>
            </a:r>
          </a:p>
        </p:txBody>
      </p:sp>
    </p:spTree>
    <p:extLst>
      <p:ext uri="{BB962C8B-B14F-4D97-AF65-F5344CB8AC3E}">
        <p14:creationId xmlns:p14="http://schemas.microsoft.com/office/powerpoint/2010/main" val="1054764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A12E-2500-1E6B-EE4F-C0EF0F8A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821F062-0965-0241-30FF-4554AD7EB2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271"/>
          <a:stretch/>
        </p:blipFill>
        <p:spPr>
          <a:xfrm>
            <a:off x="3859986" y="2154554"/>
            <a:ext cx="4887694" cy="3760509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EFEDD01B-7125-AB52-A8AF-6AE3D4A7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BFC2A01-E1DA-920C-D263-1A8840E52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197" y="7951419"/>
            <a:ext cx="213904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228600" algn="ctr" defTabSz="685800">
              <a:tabLst>
                <a:tab pos="1981200" algn="ctr"/>
                <a:tab pos="3952875" algn="r"/>
              </a:tabLst>
            </a:pPr>
            <a:r>
              <a:rPr lang="en-US" altLang="zh-CN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sz="135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199115-AC68-2079-5018-8ABAD52D744F}"/>
              </a:ext>
            </a:extLst>
          </p:cNvPr>
          <p:cNvSpPr txBox="1"/>
          <p:nvPr/>
        </p:nvSpPr>
        <p:spPr>
          <a:xfrm>
            <a:off x="344295" y="2363854"/>
            <a:ext cx="1830671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数据预处理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标准化；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降维：高维数据转化为二维数据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09A5BB7-0913-6B20-6D5D-C36A123E835F}"/>
              </a:ext>
            </a:extLst>
          </p:cNvPr>
          <p:cNvCxnSpPr>
            <a:cxnSpLocks/>
          </p:cNvCxnSpPr>
          <p:nvPr/>
        </p:nvCxnSpPr>
        <p:spPr>
          <a:xfrm flipH="1" flipV="1">
            <a:off x="2047603" y="3287591"/>
            <a:ext cx="2524397" cy="17860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8A2D2DA-0634-63F1-8408-930D831EA4ED}"/>
              </a:ext>
            </a:extLst>
          </p:cNvPr>
          <p:cNvCxnSpPr>
            <a:cxnSpLocks/>
          </p:cNvCxnSpPr>
          <p:nvPr/>
        </p:nvCxnSpPr>
        <p:spPr>
          <a:xfrm flipH="1" flipV="1">
            <a:off x="1799409" y="4162528"/>
            <a:ext cx="2509702" cy="12218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12">
            <a:extLst>
              <a:ext uri="{FF2B5EF4-FFF2-40B4-BE49-F238E27FC236}">
                <a16:creationId xmlns:a16="http://schemas.microsoft.com/office/drawing/2014/main" id="{C243D226-20DA-76D4-674D-EC819FA87D45}"/>
              </a:ext>
            </a:extLst>
          </p:cNvPr>
          <p:cNvSpPr/>
          <p:nvPr/>
        </p:nvSpPr>
        <p:spPr>
          <a:xfrm>
            <a:off x="124616" y="1576922"/>
            <a:ext cx="6236124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实践案例：基于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DBSCAN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5" name="箭头: 五边形 11">
            <a:extLst>
              <a:ext uri="{FF2B5EF4-FFF2-40B4-BE49-F238E27FC236}">
                <a16:creationId xmlns:a16="http://schemas.microsoft.com/office/drawing/2014/main" id="{94E76C79-77E8-9975-D130-D5AA89136CF6}"/>
              </a:ext>
            </a:extLst>
          </p:cNvPr>
          <p:cNvSpPr/>
          <p:nvPr/>
        </p:nvSpPr>
        <p:spPr>
          <a:xfrm>
            <a:off x="124616" y="158969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5.5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44CC18A-A04D-4B6F-834F-131565EF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实践案例：基于</a:t>
            </a:r>
            <a:r>
              <a:rPr lang="en-US" altLang="zh-CN" sz="3200" dirty="0"/>
              <a:t>DBSCAN</a:t>
            </a:r>
            <a:r>
              <a:rPr lang="zh-CN" altLang="en-US" sz="3200" dirty="0"/>
              <a:t>的用户信用卡数据聚类</a:t>
            </a:r>
          </a:p>
        </p:txBody>
      </p:sp>
    </p:spTree>
    <p:extLst>
      <p:ext uri="{BB962C8B-B14F-4D97-AF65-F5344CB8AC3E}">
        <p14:creationId xmlns:p14="http://schemas.microsoft.com/office/powerpoint/2010/main" val="2343687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9D51-E288-6662-84DC-626C651E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15">
            <a:extLst>
              <a:ext uri="{FF2B5EF4-FFF2-40B4-BE49-F238E27FC236}">
                <a16:creationId xmlns:a16="http://schemas.microsoft.com/office/drawing/2014/main" id="{1AF94AC5-1809-038F-12C8-D9791C8EEF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42" t="5177" r="9244"/>
          <a:stretch/>
        </p:blipFill>
        <p:spPr bwMode="auto">
          <a:xfrm>
            <a:off x="1874640" y="3499554"/>
            <a:ext cx="3513183" cy="25011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图形 17">
            <a:extLst>
              <a:ext uri="{FF2B5EF4-FFF2-40B4-BE49-F238E27FC236}">
                <a16:creationId xmlns:a16="http://schemas.microsoft.com/office/drawing/2014/main" id="{447A1234-D12A-92A4-997C-5617AAF707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779" t="5393" r="9174" b="824"/>
          <a:stretch/>
        </p:blipFill>
        <p:spPr bwMode="auto">
          <a:xfrm>
            <a:off x="5387824" y="3499555"/>
            <a:ext cx="3528170" cy="25011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8B124C3-87B6-8176-CF94-4A21FDECCDE4}"/>
              </a:ext>
            </a:extLst>
          </p:cNvPr>
          <p:cNvSpPr txBox="1"/>
          <p:nvPr/>
        </p:nvSpPr>
        <p:spPr>
          <a:xfrm>
            <a:off x="1874640" y="2109505"/>
            <a:ext cx="6871427" cy="13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450"/>
              </a:spcBef>
            </a:pP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从输出结果可以发现，经过降维处理，数据被降维到为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两个属性。通过设置适当的参数，使得两个算法能够将数据集划分为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个簇。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算法能根据将非线性数据的高密度区域进行聚类，而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算法则无法有效的聚类此类型的数据。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算法结果的轮廓系数值表明，在同一聚类数量时，此数据集</a:t>
            </a:r>
            <a:r>
              <a:rPr lang="zh-CN" altLang="en-US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采用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DBSCAN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算法的聚类结果要优于</a:t>
            </a:r>
            <a:r>
              <a:rPr lang="en-US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K-means</a:t>
            </a:r>
            <a:r>
              <a:rPr lang="zh-CN" altLang="zh-CN" sz="1350" kern="1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算法。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E654E46-3BC7-7E79-3346-1246FDF0D46E}"/>
              </a:ext>
            </a:extLst>
          </p:cNvPr>
          <p:cNvSpPr txBox="1"/>
          <p:nvPr/>
        </p:nvSpPr>
        <p:spPr>
          <a:xfrm>
            <a:off x="124617" y="3401920"/>
            <a:ext cx="2395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1800" b="1" dirty="0">
                <a:solidFill>
                  <a:srgbClr val="FF0000"/>
                </a:solidFill>
              </a:rPr>
              <a:t>输出结果</a:t>
            </a:r>
            <a:endParaRPr lang="en-US" altLang="zh-CN" sz="1800" b="1" dirty="0">
              <a:solidFill>
                <a:srgbClr val="FF0000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648F45F-4ADE-D2A9-5D88-6F09DA38C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" y="4426876"/>
            <a:ext cx="1741382" cy="8656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50" dirty="0">
                <a:solidFill>
                  <a:srgbClr val="CC33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DBSCAN</a:t>
            </a:r>
            <a:r>
              <a:rPr lang="zh-CN" altLang="en-US" sz="1350" dirty="0">
                <a:solidFill>
                  <a:srgbClr val="CC33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算法的轮廓系数</a:t>
            </a:r>
            <a:r>
              <a:rPr lang="en-US" altLang="zh-CN" sz="1350" dirty="0">
                <a:solidFill>
                  <a:srgbClr val="CC33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0.801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50" dirty="0">
                <a:solidFill>
                  <a:srgbClr val="CC33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K-means</a:t>
            </a:r>
            <a:r>
              <a:rPr lang="zh-CN" altLang="en-US" sz="1350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 pitchFamily="49" charset="0"/>
              </a:rPr>
              <a:t>算法的轮廓系数</a:t>
            </a:r>
            <a:r>
              <a:rPr lang="en-US" altLang="zh-CN" sz="1350" dirty="0">
                <a:solidFill>
                  <a:srgbClr val="CC330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: 0.460</a:t>
            </a:r>
            <a:r>
              <a:rPr lang="en-US" altLang="zh-CN" sz="1350" dirty="0"/>
              <a:t> </a:t>
            </a:r>
            <a:endParaRPr lang="en-US" altLang="zh-CN" sz="1350" dirty="0">
              <a:latin typeface="Arial" panose="020B0604020202020204" pitchFamily="34" charset="0"/>
            </a:endParaRP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2D6AB661-576F-EF66-6EE6-FFF9A636C115}"/>
              </a:ext>
            </a:extLst>
          </p:cNvPr>
          <p:cNvSpPr/>
          <p:nvPr/>
        </p:nvSpPr>
        <p:spPr>
          <a:xfrm>
            <a:off x="124616" y="1576922"/>
            <a:ext cx="6236124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实践案例：基于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DBSCAN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的用户信用卡数据聚类</a:t>
            </a:r>
          </a:p>
        </p:txBody>
      </p:sp>
      <p:sp>
        <p:nvSpPr>
          <p:cNvPr id="11" name="箭头: 五边形 11">
            <a:extLst>
              <a:ext uri="{FF2B5EF4-FFF2-40B4-BE49-F238E27FC236}">
                <a16:creationId xmlns:a16="http://schemas.microsoft.com/office/drawing/2014/main" id="{5BB0B863-3030-1F8E-4A95-BD6FDCF07B84}"/>
              </a:ext>
            </a:extLst>
          </p:cNvPr>
          <p:cNvSpPr/>
          <p:nvPr/>
        </p:nvSpPr>
        <p:spPr>
          <a:xfrm>
            <a:off x="124616" y="158969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5.5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0CAB765-67A7-4408-8509-AE053F1C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实践案例：基于</a:t>
            </a:r>
            <a:r>
              <a:rPr lang="en-US" altLang="zh-CN" sz="3200" dirty="0"/>
              <a:t>DBSCAN</a:t>
            </a:r>
            <a:r>
              <a:rPr lang="zh-CN" altLang="en-US" sz="3200" dirty="0"/>
              <a:t>的用户信用卡数据聚类</a:t>
            </a:r>
          </a:p>
        </p:txBody>
      </p:sp>
    </p:spTree>
    <p:extLst>
      <p:ext uri="{BB962C8B-B14F-4D97-AF65-F5344CB8AC3E}">
        <p14:creationId xmlns:p14="http://schemas.microsoft.com/office/powerpoint/2010/main" val="35605288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DBSCAN</a:t>
            </a:r>
            <a:r>
              <a:rPr lang="zh-CN" altLang="en-US" dirty="0"/>
              <a:t>是基于空间密度的聚类算法</a:t>
            </a:r>
            <a:endParaRPr lang="en-US" altLang="zh-CN" dirty="0"/>
          </a:p>
          <a:p>
            <a:r>
              <a:rPr lang="zh-CN" altLang="en-US" dirty="0"/>
              <a:t>核心参数为</a:t>
            </a:r>
            <a:r>
              <a:rPr lang="en-US" altLang="zh-CN" dirty="0" err="1"/>
              <a:t>Eps</a:t>
            </a:r>
            <a:r>
              <a:rPr lang="zh-CN" altLang="en-US" dirty="0"/>
              <a:t>和</a:t>
            </a:r>
            <a:r>
              <a:rPr lang="en-US" altLang="zh-CN" dirty="0" err="1"/>
              <a:t>MinPts</a:t>
            </a:r>
            <a:endParaRPr lang="en-US" altLang="zh-CN" dirty="0"/>
          </a:p>
          <a:p>
            <a:r>
              <a:rPr lang="zh-CN" altLang="en-US" dirty="0"/>
              <a:t>对噪声、形状、大小不敏感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2940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AD93C-7958-BD90-4407-4D81CA26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F57B9715-8FDD-FCC7-00E0-7972D0CEAE79}"/>
              </a:ext>
            </a:extLst>
          </p:cNvPr>
          <p:cNvSpPr txBox="1"/>
          <p:nvPr/>
        </p:nvSpPr>
        <p:spPr>
          <a:xfrm>
            <a:off x="1571404" y="1677040"/>
            <a:ext cx="7328474" cy="1090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  <a:tabLst>
                <a:tab pos="228600" algn="l"/>
              </a:tabLst>
            </a:pPr>
            <a:r>
              <a:rPr lang="en-US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是一种</a:t>
            </a:r>
            <a:r>
              <a:rPr lang="zh-CN" altLang="en-US" sz="15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基于密度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的算法，该方法由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DBSCAN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算法改进而来。算法通过计算样本邻域内的</a:t>
            </a:r>
            <a:r>
              <a:rPr lang="zh-CN" altLang="en-US" sz="15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可达距离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en-US" sz="15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核心距离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，绘制反映数据簇结构的</a:t>
            </a:r>
            <a:r>
              <a:rPr lang="zh-CN" altLang="en-US" sz="1500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可达性图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，该图揭示了数据中簇的数量、大小和分布</a:t>
            </a:r>
          </a:p>
        </p:txBody>
      </p:sp>
      <p:sp>
        <p:nvSpPr>
          <p:cNvPr id="6" name="矩形: 圆角 12">
            <a:extLst>
              <a:ext uri="{FF2B5EF4-FFF2-40B4-BE49-F238E27FC236}">
                <a16:creationId xmlns:a16="http://schemas.microsoft.com/office/drawing/2014/main" id="{F588393F-A49A-659D-57F9-D1CEADF1BF6F}"/>
              </a:ext>
            </a:extLst>
          </p:cNvPr>
          <p:cNvSpPr/>
          <p:nvPr/>
        </p:nvSpPr>
        <p:spPr>
          <a:xfrm>
            <a:off x="115564" y="1205730"/>
            <a:ext cx="1992307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</a:pPr>
            <a:r>
              <a:rPr lang="zh-CN" altLang="en-US" sz="195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68841F9A-D0CE-10AC-6772-75B0FDEEA6E5}"/>
              </a:ext>
            </a:extLst>
          </p:cNvPr>
          <p:cNvSpPr/>
          <p:nvPr/>
        </p:nvSpPr>
        <p:spPr>
          <a:xfrm>
            <a:off x="115563" y="1218500"/>
            <a:ext cx="864079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6.1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sp>
        <p:nvSpPr>
          <p:cNvPr id="8" name="矩形: 圆角 55">
            <a:extLst>
              <a:ext uri="{FF2B5EF4-FFF2-40B4-BE49-F238E27FC236}">
                <a16:creationId xmlns:a16="http://schemas.microsoft.com/office/drawing/2014/main" id="{342383C1-674E-8CDB-C729-8AAE35BE1DFD}"/>
              </a:ext>
            </a:extLst>
          </p:cNvPr>
          <p:cNvSpPr/>
          <p:nvPr/>
        </p:nvSpPr>
        <p:spPr>
          <a:xfrm>
            <a:off x="115562" y="1734842"/>
            <a:ext cx="1455842" cy="475806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zh-CN" altLang="en-US" sz="1999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基本概念</a:t>
            </a: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BE785998-FF01-2935-21C5-BC4FAD831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14" y="3586213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350"/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AF9BB3DD-E98A-E2D3-7721-A4AF4B38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413" y="4193990"/>
            <a:ext cx="157735" cy="16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600"/>
              <a:t> </a:t>
            </a:r>
            <a:endParaRPr lang="zh-CN" altLang="zh-CN" sz="1350">
              <a:latin typeface="Arial" panose="020B0604020202020204" pitchFamily="34" charset="0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57EF172-FB3C-F66E-4184-BF6AC2B57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86" y="2777616"/>
            <a:ext cx="6481654" cy="1120805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01300C5-4077-5556-4267-B567B40EE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404" y="3840774"/>
            <a:ext cx="6481654" cy="769754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2C68CE5-0428-B2B2-B1EC-7AD4D009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4587" y="4610528"/>
            <a:ext cx="6481653" cy="1001960"/>
          </a:xfrm>
          <a:prstGeom prst="rect">
            <a:avLst/>
          </a:prstGeom>
        </p:spPr>
      </p:pic>
      <p:sp>
        <p:nvSpPr>
          <p:cNvPr id="9" name="标题 8">
            <a:extLst>
              <a:ext uri="{FF2B5EF4-FFF2-40B4-BE49-F238E27FC236}">
                <a16:creationId xmlns:a16="http://schemas.microsoft.com/office/drawing/2014/main" id="{82AE90ED-20CB-401D-82F9-77125799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934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83A0099-CBAB-40EA-8451-8B25D8B2C1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857"/>
          <a:stretch/>
        </p:blipFill>
        <p:spPr>
          <a:xfrm>
            <a:off x="418620" y="2718566"/>
            <a:ext cx="7696680" cy="10922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F13A492-ABED-4798-B86C-31765B9A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43A3FA1-EEF9-45B2-AF8E-F5397F1F3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7F1DCD-AFD1-44BA-AD3B-DA9A40A1B7CE}"/>
              </a:ext>
            </a:extLst>
          </p:cNvPr>
          <p:cNvSpPr txBox="1"/>
          <p:nvPr/>
        </p:nvSpPr>
        <p:spPr>
          <a:xfrm>
            <a:off x="418620" y="822120"/>
            <a:ext cx="8640328" cy="2117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核心距离（</a:t>
            </a:r>
            <a:r>
              <a:rPr lang="en-US" altLang="zh-CN" dirty="0">
                <a:solidFill>
                  <a:srgbClr val="C00000"/>
                </a:solidFill>
              </a:rPr>
              <a:t>Core Distance</a:t>
            </a:r>
            <a:r>
              <a:rPr lang="zh-CN" altLang="en-US" dirty="0">
                <a:solidFill>
                  <a:srgbClr val="C00000"/>
                </a:solidFill>
              </a:rPr>
              <a:t>）：衡量点的周围是否足够“密集”</a:t>
            </a:r>
            <a:endParaRPr lang="en-US" altLang="zh-CN" dirty="0">
              <a:solidFill>
                <a:srgbClr val="C0000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dirty="0"/>
              <a:t>      </a:t>
            </a:r>
            <a:r>
              <a:rPr lang="zh-CN" altLang="en-US" dirty="0"/>
              <a:t>给定：</a:t>
            </a:r>
            <a:r>
              <a:rPr lang="en-US" altLang="zh-CN" dirty="0"/>
              <a:t>ε</a:t>
            </a:r>
            <a:r>
              <a:rPr lang="zh-CN" altLang="en-US" dirty="0"/>
              <a:t>：邻域半径；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           </a:t>
            </a:r>
            <a:r>
              <a:rPr lang="en-US" altLang="zh-CN" dirty="0" err="1"/>
              <a:t>MinP</a:t>
            </a:r>
            <a:r>
              <a:rPr lang="en-US" altLang="zh-CN" dirty="0"/>
              <a:t> </a:t>
            </a:r>
            <a:r>
              <a:rPr lang="en-US" altLang="zh-CN" dirty="0" err="1"/>
              <a:t>ts</a:t>
            </a:r>
            <a:r>
              <a:rPr lang="zh-CN" altLang="en-US" dirty="0"/>
              <a:t>：最小邻域点数。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/>
              <a:t>含义：核心距离是点 </a:t>
            </a:r>
            <a:r>
              <a:rPr lang="en-US" altLang="zh-CN" dirty="0"/>
              <a:t>p </a:t>
            </a:r>
            <a:r>
              <a:rPr lang="zh-CN" altLang="en-US" dirty="0"/>
              <a:t>成为核心点所需的最小半径。若其邻域点数不足 </a:t>
            </a:r>
            <a:r>
              <a:rPr lang="en-US" altLang="zh-CN" dirty="0" err="1"/>
              <a:t>MinPts</a:t>
            </a:r>
            <a:r>
              <a:rPr lang="zh-CN" altLang="en-US" dirty="0"/>
              <a:t>，核心距离未定义。 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AA92441-BB6A-4CA6-A344-CB8F606C0464}"/>
              </a:ext>
            </a:extLst>
          </p:cNvPr>
          <p:cNvSpPr txBox="1"/>
          <p:nvPr/>
        </p:nvSpPr>
        <p:spPr>
          <a:xfrm>
            <a:off x="305553" y="1815220"/>
            <a:ext cx="65" cy="19389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761AA6-78C3-4BA1-A8A6-EED6536DBBF4}"/>
              </a:ext>
            </a:extLst>
          </p:cNvPr>
          <p:cNvSpPr txBox="1"/>
          <p:nvPr/>
        </p:nvSpPr>
        <p:spPr>
          <a:xfrm>
            <a:off x="305553" y="3777189"/>
            <a:ext cx="8640328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可达距离（</a:t>
            </a:r>
            <a:r>
              <a:rPr lang="en-US" altLang="zh-CN" dirty="0">
                <a:solidFill>
                  <a:srgbClr val="C00000"/>
                </a:solidFill>
              </a:rPr>
              <a:t>Reachability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LMRoman12-Bold-Identity-H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 Distance</a:t>
            </a:r>
            <a:r>
              <a:rPr lang="zh-CN" altLang="en-US" dirty="0">
                <a:solidFill>
                  <a:srgbClr val="C00000"/>
                </a:solidFill>
              </a:rPr>
              <a:t>）：衡量点</a:t>
            </a:r>
            <a:r>
              <a:rPr lang="en-US" altLang="zh-CN" dirty="0">
                <a:solidFill>
                  <a:srgbClr val="C00000"/>
                </a:solidFill>
              </a:rPr>
              <a:t>o</a:t>
            </a:r>
            <a:r>
              <a:rPr lang="zh-CN" altLang="en-US" dirty="0">
                <a:solidFill>
                  <a:srgbClr val="C00000"/>
                </a:solidFill>
              </a:rPr>
              <a:t>是否被核心点覆盖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对于一个点 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o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与核心点 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p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，定义： </a:t>
            </a:r>
            <a:endParaRPr lang="zh-CN" altLang="en-US" dirty="0"/>
          </a:p>
          <a:p>
            <a:pPr algn="ctr">
              <a:lnSpc>
                <a:spcPct val="150000"/>
              </a:lnSpc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LMRoman12-Regular-Identity-H"/>
              </a:rPr>
              <a:t>reachability_distance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o, 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) =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LMRoman12-Regular-Identity-H"/>
              </a:rPr>
              <a:t>max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EX10"/>
              </a:rPr>
              <a:t>(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LMRoman12-Regular-Identity-H"/>
              </a:rPr>
              <a:t>core_distance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)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,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LMRoman12-Regular-Identity-H"/>
              </a:rPr>
              <a:t>distance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p, 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)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EX10"/>
              </a:rPr>
              <a:t>)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含义：可达距离反映点 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o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从核心点 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p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被“到达”的难度。取两者的较大值保 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effectLst/>
                <a:latin typeface="FandolKai-Regular-Identity-H"/>
              </a:rPr>
              <a:t>证了可达性的稳定性。</a:t>
            </a:r>
            <a:endParaRPr lang="en-US" altLang="zh-CN" sz="1800" dirty="0">
              <a:solidFill>
                <a:srgbClr val="000000"/>
              </a:solidFill>
              <a:effectLst/>
              <a:latin typeface="FandolKai-Regular-Identity-H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FandolKai-Regular-Identity-H"/>
              </a:rPr>
              <a:t>注意：</a:t>
            </a:r>
            <a:r>
              <a:rPr lang="zh-CN" altLang="en-US" dirty="0">
                <a:solidFill>
                  <a:srgbClr val="C00000"/>
                </a:solidFill>
                <a:latin typeface="FandolKai-Regular-Identity-H"/>
              </a:rPr>
              <a:t>当</a:t>
            </a:r>
            <a:r>
              <a:rPr lang="en-US" altLang="zh-CN" dirty="0">
                <a:solidFill>
                  <a:srgbClr val="C00000"/>
                </a:solidFill>
                <a:latin typeface="FandolKai-Regular-Identity-H"/>
              </a:rPr>
              <a:t>p</a:t>
            </a:r>
            <a:r>
              <a:rPr lang="zh-CN" altLang="en-US" dirty="0">
                <a:solidFill>
                  <a:srgbClr val="C00000"/>
                </a:solidFill>
                <a:latin typeface="FandolKai-Regular-Identity-H"/>
              </a:rPr>
              <a:t>为核心点</a:t>
            </a:r>
            <a:r>
              <a:rPr lang="zh-CN" altLang="en-US" dirty="0">
                <a:solidFill>
                  <a:srgbClr val="000000"/>
                </a:solidFill>
                <a:latin typeface="FandolKai-Regular-Identity-H"/>
              </a:rPr>
              <a:t>时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LMRoman12-Regular-Identity-H"/>
              </a:rPr>
              <a:t>reachability_distance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(</a:t>
            </a:r>
            <a:r>
              <a:rPr lang="en-US" altLang="zh-CN" sz="1800" i="1" dirty="0">
                <a:solidFill>
                  <a:srgbClr val="000000"/>
                </a:solidFill>
                <a:effectLst/>
                <a:latin typeface="CMMI12"/>
              </a:rPr>
              <a:t>o, 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MR12"/>
              </a:rPr>
              <a:t>) 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CMR12"/>
              </a:rPr>
              <a:t>才有意义。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502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C7A96-93B3-0425-6B24-45C06E3C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11F1FE0-A840-6DDD-BD74-2709B6BE4C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97"/>
          <a:stretch/>
        </p:blipFill>
        <p:spPr bwMode="auto">
          <a:xfrm>
            <a:off x="385631" y="2378109"/>
            <a:ext cx="3331634" cy="315847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矩形: 圆角 12">
            <a:extLst>
              <a:ext uri="{FF2B5EF4-FFF2-40B4-BE49-F238E27FC236}">
                <a16:creationId xmlns:a16="http://schemas.microsoft.com/office/drawing/2014/main" id="{F267A853-CCED-DC5B-FC94-6DADB49B5519}"/>
              </a:ext>
            </a:extLst>
          </p:cNvPr>
          <p:cNvSpPr/>
          <p:nvPr/>
        </p:nvSpPr>
        <p:spPr>
          <a:xfrm>
            <a:off x="124617" y="1576922"/>
            <a:ext cx="1992307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</a:pPr>
            <a:r>
              <a:rPr lang="zh-CN" altLang="en-US" sz="195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基本原理</a:t>
            </a:r>
          </a:p>
        </p:txBody>
      </p:sp>
      <p:sp>
        <p:nvSpPr>
          <p:cNvPr id="9" name="箭头: 五边形 11">
            <a:extLst>
              <a:ext uri="{FF2B5EF4-FFF2-40B4-BE49-F238E27FC236}">
                <a16:creationId xmlns:a16="http://schemas.microsoft.com/office/drawing/2014/main" id="{F061F073-CC30-0A25-4378-CE8A70508127}"/>
              </a:ext>
            </a:extLst>
          </p:cNvPr>
          <p:cNvSpPr/>
          <p:nvPr/>
        </p:nvSpPr>
        <p:spPr>
          <a:xfrm>
            <a:off x="124616" y="1589692"/>
            <a:ext cx="864079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charset="-122"/>
                <a:sym typeface="Times New Roman" panose="02020603050405020304" pitchFamily="18" charset="0"/>
              </a:rPr>
              <a:t>6.1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charset="-122"/>
              <a:sym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FCF1A2-4AB9-C883-2AEB-634F16F3E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769" y="2904008"/>
            <a:ext cx="7935387" cy="2019103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F2763A39-BBB7-4B98-AB56-0144EDA8A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8135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93575E-E252-4CA7-A730-2D562C01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算法流程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5E11BD5-10EE-4AF7-B718-D4DD630BA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789986-E07D-4E1D-AFE2-A5CC60442C56}"/>
              </a:ext>
            </a:extLst>
          </p:cNvPr>
          <p:cNvSpPr txBox="1"/>
          <p:nvPr/>
        </p:nvSpPr>
        <p:spPr>
          <a:xfrm>
            <a:off x="251836" y="883080"/>
            <a:ext cx="8640328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输入： 数据集 𝐷</a:t>
            </a:r>
            <a:r>
              <a:rPr lang="en-US" altLang="zh-CN" dirty="0"/>
              <a:t>={</a:t>
            </a:r>
            <a:r>
              <a:rPr lang="zh-CN" altLang="en-US" dirty="0"/>
              <a:t>𝑥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zh-CN" altLang="en-US" dirty="0"/>
              <a:t>𝑥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zh-CN" altLang="en-US" dirty="0"/>
              <a:t>𝑥</a:t>
            </a:r>
            <a:r>
              <a:rPr lang="zh-CN" altLang="en-US" baseline="-25000" dirty="0"/>
              <a:t>𝑛</a:t>
            </a:r>
            <a:r>
              <a:rPr lang="en-US" altLang="zh-CN" dirty="0"/>
              <a:t>}  </a:t>
            </a:r>
            <a:r>
              <a:rPr lang="zh-CN" altLang="en-US" dirty="0">
                <a:solidFill>
                  <a:srgbClr val="C00000"/>
                </a:solidFill>
              </a:rPr>
              <a:t>半径参数</a:t>
            </a:r>
            <a:r>
              <a:rPr lang="zh-CN" altLang="en-US" sz="2000" dirty="0">
                <a:solidFill>
                  <a:srgbClr val="C00000"/>
                </a:solidFill>
              </a:rPr>
              <a:t>𝜀    </a:t>
            </a:r>
            <a:r>
              <a:rPr lang="zh-CN" altLang="en-US" dirty="0">
                <a:solidFill>
                  <a:srgbClr val="C00000"/>
                </a:solidFill>
              </a:rPr>
              <a:t>最小点数参数 </a:t>
            </a:r>
            <a:r>
              <a:rPr lang="en-US" altLang="zh-CN" dirty="0" err="1">
                <a:solidFill>
                  <a:srgbClr val="C00000"/>
                </a:solidFill>
              </a:rPr>
              <a:t>MinPts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初始化：所有点标记为未访问。建立优先级队列（</a:t>
            </a:r>
            <a:r>
              <a:rPr lang="en-US" altLang="zh-CN" dirty="0" err="1"/>
              <a:t>OrderSeeds</a:t>
            </a:r>
            <a:r>
              <a:rPr lang="zh-CN" altLang="en-US" dirty="0"/>
              <a:t>）按可达距离升序排序。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步骤 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：遍历所有点</a:t>
            </a:r>
          </a:p>
          <a:p>
            <a:r>
              <a:rPr lang="zh-CN" altLang="en-US" dirty="0">
                <a:latin typeface="+mn-ea"/>
              </a:rPr>
              <a:t>依次选择一个未访问的点</a:t>
            </a: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：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标记</a:t>
            </a:r>
            <a:r>
              <a:rPr lang="en-US" altLang="zh-CN" dirty="0">
                <a:latin typeface="+mn-ea"/>
              </a:rPr>
              <a:t>p</a:t>
            </a:r>
            <a:r>
              <a:rPr lang="zh-CN" altLang="en-US" dirty="0">
                <a:latin typeface="+mn-ea"/>
              </a:rPr>
              <a:t>为已访问；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找出其所有</a:t>
            </a:r>
            <a:r>
              <a:rPr lang="el-GR" altLang="zh-CN" dirty="0">
                <a:latin typeface="+mn-ea"/>
              </a:rPr>
              <a:t>ε-</a:t>
            </a:r>
            <a:r>
              <a:rPr lang="zh-CN" altLang="en-US" dirty="0">
                <a:latin typeface="+mn-ea"/>
              </a:rPr>
              <a:t>邻居；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计算</a:t>
            </a:r>
            <a:r>
              <a:rPr lang="en-US" altLang="zh-CN" dirty="0" err="1">
                <a:latin typeface="+mn-ea"/>
              </a:rPr>
              <a:t>core_dist</a:t>
            </a:r>
            <a:r>
              <a:rPr lang="en-US" altLang="zh-CN" dirty="0">
                <a:latin typeface="+mn-ea"/>
              </a:rPr>
              <a:t>(p)</a:t>
            </a:r>
            <a:r>
              <a:rPr lang="zh-CN" altLang="en-US" dirty="0">
                <a:latin typeface="+mn-ea"/>
              </a:rPr>
              <a:t>（若邻居数 </a:t>
            </a:r>
            <a:r>
              <a:rPr lang="en-US" altLang="zh-CN" dirty="0">
                <a:latin typeface="+mn-ea"/>
              </a:rPr>
              <a:t>&lt; </a:t>
            </a:r>
            <a:r>
              <a:rPr lang="en-US" altLang="zh-CN" dirty="0" err="1">
                <a:latin typeface="+mn-ea"/>
              </a:rPr>
              <a:t>MinPts</a:t>
            </a:r>
            <a:r>
              <a:rPr lang="zh-CN" altLang="en-US" dirty="0">
                <a:latin typeface="+mn-ea"/>
              </a:rPr>
              <a:t>，则核心距离未定义）。</a:t>
            </a:r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步骤 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：若 </a:t>
            </a:r>
            <a:r>
              <a:rPr lang="en-US" altLang="zh-CN" b="1" dirty="0">
                <a:solidFill>
                  <a:srgbClr val="C00000"/>
                </a:solidFill>
              </a:rPr>
              <a:t>p </a:t>
            </a:r>
            <a:r>
              <a:rPr lang="zh-CN" altLang="en-US" b="1" dirty="0">
                <a:solidFill>
                  <a:srgbClr val="C00000"/>
                </a:solidFill>
              </a:rPr>
              <a:t>是核心点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对每个未访问的邻居</a:t>
            </a:r>
            <a:r>
              <a:rPr lang="en-US" altLang="zh-CN" dirty="0">
                <a:latin typeface="+mn-ea"/>
              </a:rPr>
              <a:t>o</a:t>
            </a:r>
            <a:r>
              <a:rPr lang="zh-CN" altLang="en-US" dirty="0">
                <a:latin typeface="+mn-ea"/>
              </a:rPr>
              <a:t>，计算其可达距离：</a:t>
            </a:r>
            <a:r>
              <a:rPr lang="en-US" altLang="zh-CN" dirty="0" err="1">
                <a:latin typeface="+mn-ea"/>
              </a:rPr>
              <a:t>reachability_dist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o,p</a:t>
            </a:r>
            <a:r>
              <a:rPr lang="en-US" altLang="zh-CN" dirty="0">
                <a:latin typeface="+mn-ea"/>
              </a:rPr>
              <a:t>) 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latin typeface="+mn-ea"/>
              </a:rPr>
              <a:t>如果邻居</a:t>
            </a:r>
            <a:r>
              <a:rPr lang="en-US" altLang="zh-CN" dirty="0">
                <a:latin typeface="+mn-ea"/>
              </a:rPr>
              <a:t>o</a:t>
            </a:r>
            <a:r>
              <a:rPr lang="zh-CN" altLang="en-US" dirty="0">
                <a:latin typeface="+mn-ea"/>
              </a:rPr>
              <a:t>还未在队列中，则将其入队；</a:t>
            </a:r>
          </a:p>
          <a:p>
            <a:pPr lvl="1"/>
            <a:r>
              <a:rPr lang="zh-CN" altLang="en-US" dirty="0">
                <a:latin typeface="+mn-ea"/>
              </a:rPr>
              <a:t>若</a:t>
            </a:r>
            <a:r>
              <a:rPr lang="en-US" altLang="zh-CN" dirty="0">
                <a:latin typeface="+mn-ea"/>
              </a:rPr>
              <a:t>o</a:t>
            </a:r>
            <a:r>
              <a:rPr lang="zh-CN" altLang="en-US" dirty="0">
                <a:latin typeface="+mn-ea"/>
              </a:rPr>
              <a:t>已在队列中，且新的可达距离更小，则更新其可达距离（即调整优先级）。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步骤 </a:t>
            </a:r>
            <a:r>
              <a:rPr lang="en-US" altLang="zh-CN" b="1" dirty="0">
                <a:solidFill>
                  <a:srgbClr val="C00000"/>
                </a:solidFill>
              </a:rPr>
              <a:t>3</a:t>
            </a:r>
            <a:r>
              <a:rPr lang="zh-CN" altLang="en-US" b="1" dirty="0">
                <a:solidFill>
                  <a:srgbClr val="C00000"/>
                </a:solidFill>
              </a:rPr>
              <a:t>：从优先队列中出队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从队列中取出可达距离最小的点</a:t>
            </a:r>
            <a:r>
              <a:rPr lang="en-US" altLang="zh-CN" dirty="0"/>
              <a:t>q</a:t>
            </a:r>
            <a:r>
              <a:rPr lang="zh-CN" altLang="en-US" dirty="0"/>
              <a:t>，出队并访问；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对 </a:t>
            </a:r>
            <a:r>
              <a:rPr lang="en-US" altLang="zh-CN" dirty="0"/>
              <a:t>q </a:t>
            </a:r>
            <a:r>
              <a:rPr lang="zh-CN" altLang="en-US" dirty="0"/>
              <a:t>重复步骤 </a:t>
            </a:r>
            <a:r>
              <a:rPr lang="en-US" altLang="zh-CN" dirty="0"/>
              <a:t>3</a:t>
            </a:r>
            <a:r>
              <a:rPr lang="zh-CN" altLang="en-US" dirty="0"/>
              <a:t>（即计算其邻居并更新队列）；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一直重复，直到队列为空。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步骤 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：继续下一个未访问点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若队列为空但还有未访问的点，选择下一个未访问点 </a:t>
            </a:r>
            <a:r>
              <a:rPr lang="en-US" altLang="zh-CN" dirty="0"/>
              <a:t>p′</a:t>
            </a:r>
            <a:r>
              <a:rPr lang="zh-CN" altLang="en-US" dirty="0"/>
              <a:t>，重新执行步骤 </a:t>
            </a:r>
            <a:r>
              <a:rPr lang="en-US" altLang="zh-CN" dirty="0"/>
              <a:t>2</a:t>
            </a:r>
            <a:r>
              <a:rPr lang="zh-CN" altLang="en-US" dirty="0"/>
              <a:t>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最终所有点都被访问，形成 点的访问顺序表。</a:t>
            </a:r>
          </a:p>
        </p:txBody>
      </p:sp>
    </p:spTree>
    <p:extLst>
      <p:ext uri="{BB962C8B-B14F-4D97-AF65-F5344CB8AC3E}">
        <p14:creationId xmlns:p14="http://schemas.microsoft.com/office/powerpoint/2010/main" val="2570422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F62A2-8E10-4E79-B065-C6CEA923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算法流程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7167CB-2445-489F-B565-9D29AA97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7245E3-BB38-44A5-8B82-BFBE549AC373}"/>
              </a:ext>
            </a:extLst>
          </p:cNvPr>
          <p:cNvSpPr txBox="1"/>
          <p:nvPr/>
        </p:nvSpPr>
        <p:spPr>
          <a:xfrm>
            <a:off x="312420" y="933266"/>
            <a:ext cx="83286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OPTICS</a:t>
            </a:r>
            <a:r>
              <a:rPr lang="zh-CN" altLang="en-US" dirty="0"/>
              <a:t>算法的输出包括：</a:t>
            </a:r>
            <a:r>
              <a:rPr lang="zh-CN" altLang="en-US" dirty="0">
                <a:solidFill>
                  <a:srgbClr val="C00000"/>
                </a:solidFill>
              </a:rPr>
              <a:t>每个点的访问顺序；每个点的可达距离和核心距离；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输出信息可以画出 </a:t>
            </a:r>
            <a:r>
              <a:rPr lang="en-US" altLang="zh-CN" dirty="0"/>
              <a:t>Reachability Plot</a:t>
            </a:r>
            <a:r>
              <a:rPr lang="zh-CN" altLang="en-US" dirty="0"/>
              <a:t>，再根据可达距离“谷底”确定聚类结构。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可达距离图（</a:t>
            </a:r>
            <a:r>
              <a:rPr lang="en-US" altLang="zh-CN" dirty="0"/>
              <a:t>Reachability Plot</a:t>
            </a:r>
            <a:r>
              <a:rPr lang="zh-CN" altLang="en-US" dirty="0"/>
              <a:t>）：</a:t>
            </a:r>
            <a:r>
              <a:rPr lang="zh-CN" altLang="en-US" dirty="0">
                <a:latin typeface="+mn-ea"/>
              </a:rPr>
              <a:t>横轴为点的访问顺序（</a:t>
            </a:r>
            <a:r>
              <a:rPr lang="en-US" altLang="zh-CN" dirty="0">
                <a:latin typeface="+mn-ea"/>
              </a:rPr>
              <a:t>Order</a:t>
            </a:r>
            <a:r>
              <a:rPr lang="zh-CN" altLang="en-US" dirty="0">
                <a:latin typeface="+mn-ea"/>
              </a:rPr>
              <a:t>）纵轴为对应点的可达距离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01BC041-B509-419E-9884-C05699396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555" y="2563202"/>
            <a:ext cx="5274945" cy="36924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B39EDC5-51CD-4072-81BD-DC87FFA9D71E}"/>
              </a:ext>
            </a:extLst>
          </p:cNvPr>
          <p:cNvSpPr txBox="1"/>
          <p:nvPr/>
        </p:nvSpPr>
        <p:spPr>
          <a:xfrm>
            <a:off x="419100" y="4409433"/>
            <a:ext cx="2146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Xi </a:t>
            </a:r>
            <a:r>
              <a:rPr lang="zh-CN" altLang="en-US" dirty="0"/>
              <a:t>簇检测方法</a:t>
            </a:r>
          </a:p>
        </p:txBody>
      </p:sp>
    </p:spTree>
    <p:extLst>
      <p:ext uri="{BB962C8B-B14F-4D97-AF65-F5344CB8AC3E}">
        <p14:creationId xmlns:p14="http://schemas.microsoft.com/office/powerpoint/2010/main" val="929018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EC7D0-0551-4204-8F37-5442CFF4B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OPTICS</a:t>
            </a:r>
            <a:r>
              <a:rPr lang="zh-CN" altLang="en-US" dirty="0"/>
              <a:t>算法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输出结果的聚类提取方法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42B0CF-AE19-41C6-81A5-C415C2A2F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7ED9D6-4BDD-423C-A05D-F8534AA6E2F6}"/>
              </a:ext>
            </a:extLst>
          </p:cNvPr>
          <p:cNvSpPr txBox="1"/>
          <p:nvPr/>
        </p:nvSpPr>
        <p:spPr>
          <a:xfrm>
            <a:off x="342900" y="1032683"/>
            <a:ext cx="8663940" cy="1701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基于固定阈值的切割（</a:t>
            </a:r>
            <a:r>
              <a:rPr lang="en-US" altLang="zh-CN" b="1" dirty="0"/>
              <a:t>DBSCAN</a:t>
            </a:r>
            <a:r>
              <a:rPr lang="zh-CN" altLang="en-US" b="1" dirty="0"/>
              <a:t>式提取）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设定一个可达距离阈值 </a:t>
            </a:r>
            <a:r>
              <a:rPr lang="en-US" altLang="zh-CN" dirty="0"/>
              <a:t>ε′</a:t>
            </a:r>
            <a:r>
              <a:rPr lang="zh-CN" altLang="en-US" dirty="0"/>
              <a:t>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在可达距离图中，所有连续低于 </a:t>
            </a:r>
            <a:r>
              <a:rPr lang="en-US" altLang="zh-CN" dirty="0"/>
              <a:t>ε′</a:t>
            </a:r>
            <a:r>
              <a:rPr lang="zh-CN" altLang="en-US" dirty="0"/>
              <a:t>的区域视为一个簇；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超过该阈值的“高峰”部分视为簇的分界。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799E02-1096-4569-A65B-BC567A4633C6}"/>
              </a:ext>
            </a:extLst>
          </p:cNvPr>
          <p:cNvSpPr txBox="1"/>
          <p:nvPr/>
        </p:nvSpPr>
        <p:spPr>
          <a:xfrm>
            <a:off x="342900" y="2944994"/>
            <a:ext cx="8663940" cy="3363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基于</a:t>
            </a:r>
            <a:r>
              <a:rPr lang="en-US" altLang="zh-CN" b="1" dirty="0"/>
              <a:t>Reachability</a:t>
            </a:r>
            <a:r>
              <a:rPr lang="zh-CN" altLang="en-US" b="1" dirty="0"/>
              <a:t>图自动切割（</a:t>
            </a:r>
            <a:r>
              <a:rPr lang="en-US" altLang="zh-CN" b="1" dirty="0"/>
              <a:t>Xi</a:t>
            </a:r>
            <a:r>
              <a:rPr lang="zh-CN" altLang="en-US" b="1" dirty="0"/>
              <a:t>方法）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OPTICS</a:t>
            </a:r>
            <a:r>
              <a:rPr lang="zh-CN" altLang="en-US" dirty="0"/>
              <a:t>论文中提出的一种改进的自动化提取方法，称为 </a:t>
            </a:r>
            <a:r>
              <a:rPr lang="en-US" altLang="zh-CN" dirty="0"/>
              <a:t>Xi</a:t>
            </a:r>
            <a:r>
              <a:rPr lang="zh-CN" altLang="en-US" dirty="0"/>
              <a:t>方法（或 </a:t>
            </a:r>
            <a:r>
              <a:rPr lang="en-US" altLang="zh-CN" dirty="0"/>
              <a:t>OPTICS-Xi</a:t>
            </a:r>
            <a:r>
              <a:rPr lang="zh-CN" altLang="en-US" dirty="0"/>
              <a:t>）。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设定一个比例参数 </a:t>
            </a:r>
            <a:r>
              <a:rPr lang="en-US" altLang="zh-CN" dirty="0"/>
              <a:t>ξ</a:t>
            </a:r>
            <a:r>
              <a:rPr lang="zh-CN" altLang="en-US" dirty="0"/>
              <a:t>（如</a:t>
            </a:r>
            <a:r>
              <a:rPr lang="en-US" altLang="zh-CN" dirty="0"/>
              <a:t>0.05</a:t>
            </a:r>
            <a:r>
              <a:rPr lang="zh-CN" altLang="en-US" dirty="0"/>
              <a:t>），表示相对密度下降幅度；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当可达距离在局部出现大幅度上升时（即相邻点可达距离上升超过 </a:t>
            </a:r>
            <a:r>
              <a:rPr lang="en-US" altLang="zh-CN" dirty="0"/>
              <a:t>ξ </a:t>
            </a:r>
            <a:r>
              <a:rPr lang="zh-CN" altLang="en-US" dirty="0"/>
              <a:t>倍），判定为新簇的开始；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自动识别所有局部谷底和峰顶。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优点：无需手动选阈值，可自动提取不同密度簇。</a:t>
            </a:r>
            <a:br>
              <a:rPr lang="zh-CN" altLang="en-US" dirty="0"/>
            </a:br>
            <a:r>
              <a:rPr lang="zh-CN" altLang="en-US" dirty="0"/>
              <a:t>缺点：</a:t>
            </a:r>
            <a:r>
              <a:rPr lang="en-US" altLang="zh-CN" dirty="0"/>
              <a:t>ξ </a:t>
            </a:r>
            <a:r>
              <a:rPr lang="zh-CN" altLang="en-US" dirty="0"/>
              <a:t>参数仍需经验选择。</a:t>
            </a:r>
          </a:p>
        </p:txBody>
      </p:sp>
    </p:spTree>
    <p:extLst>
      <p:ext uri="{BB962C8B-B14F-4D97-AF65-F5344CB8AC3E}">
        <p14:creationId xmlns:p14="http://schemas.microsoft.com/office/powerpoint/2010/main" val="157280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12">
            <a:extLst>
              <a:ext uri="{FF2B5EF4-FFF2-40B4-BE49-F238E27FC236}">
                <a16:creationId xmlns:a16="http://schemas.microsoft.com/office/drawing/2014/main" id="{A07F1F5C-36E6-B0D2-DE78-FA43D85F8C29}"/>
              </a:ext>
            </a:extLst>
          </p:cNvPr>
          <p:cNvSpPr/>
          <p:nvPr/>
        </p:nvSpPr>
        <p:spPr>
          <a:xfrm>
            <a:off x="124616" y="1232890"/>
            <a:ext cx="2225892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应用与评价</a:t>
            </a:r>
          </a:p>
        </p:txBody>
      </p:sp>
      <p:sp>
        <p:nvSpPr>
          <p:cNvPr id="4" name="箭头: 五边形 11">
            <a:extLst>
              <a:ext uri="{FF2B5EF4-FFF2-40B4-BE49-F238E27FC236}">
                <a16:creationId xmlns:a16="http://schemas.microsoft.com/office/drawing/2014/main" id="{5698BFD1-D95A-71A1-36D3-76F333A9221E}"/>
              </a:ext>
            </a:extLst>
          </p:cNvPr>
          <p:cNvSpPr/>
          <p:nvPr/>
        </p:nvSpPr>
        <p:spPr>
          <a:xfrm>
            <a:off x="124616" y="1245660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6.3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072494-0675-A6AE-7F8C-78C78D2C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432" y="1732129"/>
            <a:ext cx="39818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indent="228600"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en-US" sz="1350">
              <a:latin typeface="Arial" panose="020B060402020202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830FFD6-F46C-C6F4-7379-2D7009FF02B9}"/>
              </a:ext>
            </a:extLst>
          </p:cNvPr>
          <p:cNvGrpSpPr/>
          <p:nvPr/>
        </p:nvGrpSpPr>
        <p:grpSpPr>
          <a:xfrm>
            <a:off x="469610" y="2264254"/>
            <a:ext cx="8396478" cy="2822616"/>
            <a:chOff x="660400" y="473037"/>
            <a:chExt cx="10858500" cy="3650267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46328F1A-AACB-8AC5-9A87-1B314B3AC577}"/>
                </a:ext>
              </a:extLst>
            </p:cNvPr>
            <p:cNvSpPr/>
            <p:nvPr/>
          </p:nvSpPr>
          <p:spPr>
            <a:xfrm>
              <a:off x="4007877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900">
                <a:solidFill>
                  <a:srgbClr val="FFFFFF"/>
                </a:solidFill>
              </a:endParaRP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E380986-89E1-EFC4-1186-A57CF04F3D11}"/>
                </a:ext>
              </a:extLst>
            </p:cNvPr>
            <p:cNvSpPr/>
            <p:nvPr/>
          </p:nvSpPr>
          <p:spPr>
            <a:xfrm>
              <a:off x="8027424" y="2641600"/>
              <a:ext cx="144000" cy="144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n-GB" sz="900">
                <a:solidFill>
                  <a:srgbClr val="FFFFFF"/>
                </a:solidFill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8F2B312-0471-6B48-5AD6-4D9934163002}"/>
                </a:ext>
              </a:extLst>
            </p:cNvPr>
            <p:cNvGrpSpPr/>
            <p:nvPr/>
          </p:nvGrpSpPr>
          <p:grpSpPr>
            <a:xfrm>
              <a:off x="660400" y="473037"/>
              <a:ext cx="10858500" cy="3650267"/>
              <a:chOff x="660400" y="473037"/>
              <a:chExt cx="10858500" cy="3650267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CCC549E8-7391-F5FA-4C7A-D738A9C93E1C}"/>
                  </a:ext>
                </a:extLst>
              </p:cNvPr>
              <p:cNvGrpSpPr/>
              <p:nvPr/>
            </p:nvGrpSpPr>
            <p:grpSpPr>
              <a:xfrm>
                <a:off x="660400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A6F220B-FCAA-0526-2232-CC51CDFEDB18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E7BBBB1-F6A8-C759-40D4-BBDB5BD98A57}"/>
                    </a:ext>
                  </a:extLst>
                </p:cNvPr>
                <p:cNvSpPr txBox="1"/>
                <p:nvPr/>
              </p:nvSpPr>
              <p:spPr>
                <a:xfrm>
                  <a:off x="1551965" y="3047135"/>
                  <a:ext cx="1734770" cy="13087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lang="en-US" altLang="zh-CN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OPTICS</a:t>
                  </a:r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是一种基于密度的聚类算法</a:t>
                  </a: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，通过生成可达性图来识别和理解具有不同密度的簇结构。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9296D64E-BB2F-D6B1-C094-E3B3BBCFA857}"/>
                  </a:ext>
                </a:extLst>
              </p:cNvPr>
              <p:cNvGrpSpPr/>
              <p:nvPr/>
            </p:nvGrpSpPr>
            <p:grpSpPr>
              <a:xfrm>
                <a:off x="4679947" y="1303897"/>
                <a:ext cx="2819407" cy="2819407"/>
                <a:chOff x="1295400" y="2508250"/>
                <a:chExt cx="2247900" cy="2247900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19E27818-4117-5746-D261-12A3F9F819A6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39BC58A-D82D-5173-745B-C182E4F6160D}"/>
                    </a:ext>
                  </a:extLst>
                </p:cNvPr>
                <p:cNvSpPr txBox="1"/>
                <p:nvPr/>
              </p:nvSpPr>
              <p:spPr>
                <a:xfrm>
                  <a:off x="1551962" y="2963528"/>
                  <a:ext cx="1734770" cy="10472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85766"/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时间复杂度</a:t>
                  </a:r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ctr" defTabSz="685766"/>
                  <a:r>
                    <a:rPr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空间复杂度</a:t>
                  </a:r>
                  <a:endParaRPr lang="en-US" altLang="zh-CN" sz="1200" b="1" dirty="0">
                    <a:solidFill>
                      <a:schemeClr val="accen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F8E0FF17-031A-66F2-9C52-DE3F86BF3E44}"/>
                  </a:ext>
                </a:extLst>
              </p:cNvPr>
              <p:cNvGrpSpPr/>
              <p:nvPr/>
            </p:nvGrpSpPr>
            <p:grpSpPr>
              <a:xfrm>
                <a:off x="1065340" y="473037"/>
                <a:ext cx="10453560" cy="3650266"/>
                <a:chOff x="-4791274" y="1845809"/>
                <a:chExt cx="8334574" cy="2910341"/>
              </a:xfrm>
            </p:grpSpPr>
            <p:sp>
              <p:nvSpPr>
                <p:cNvPr id="13" name="椭圆 12">
                  <a:extLst>
                    <a:ext uri="{FF2B5EF4-FFF2-40B4-BE49-F238E27FC236}">
                      <a16:creationId xmlns:a16="http://schemas.microsoft.com/office/drawing/2014/main" id="{0292F26E-D25E-AB69-0502-73C27048B2B3}"/>
                    </a:ext>
                  </a:extLst>
                </p:cNvPr>
                <p:cNvSpPr/>
                <p:nvPr/>
              </p:nvSpPr>
              <p:spPr>
                <a:xfrm>
                  <a:off x="1295400" y="2508250"/>
                  <a:ext cx="2247900" cy="2247900"/>
                </a:xfrm>
                <a:prstGeom prst="ellipse">
                  <a:avLst/>
                </a:prstGeom>
                <a:solidFill>
                  <a:schemeClr val="accent1">
                    <a:alpha val="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324">
                    <a:lnSpc>
                      <a:spcPct val="150000"/>
                    </a:lnSpc>
                    <a:buSzPct val="25000"/>
                    <a:defRPr/>
                  </a:pPr>
                  <a:endParaRPr lang="en-US" altLang="zh-CN" sz="105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56922173-6C7C-310F-978E-71ABF265F3B8}"/>
                    </a:ext>
                  </a:extLst>
                </p:cNvPr>
                <p:cNvSpPr txBox="1"/>
                <p:nvPr/>
              </p:nvSpPr>
              <p:spPr>
                <a:xfrm>
                  <a:off x="-4791274" y="1845809"/>
                  <a:ext cx="7649107" cy="3332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zh-CN" altLang="en-US" sz="15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应用场景</a:t>
                  </a:r>
                  <a:r>
                    <a:rPr lang="zh-CN" altLang="en-US" sz="15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：适用于识别复杂形状的簇，并且能够有效识别和处理异常点</a:t>
                  </a:r>
                  <a:endParaRPr kumimoji="1" lang="en-US" altLang="zh-CN" sz="15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1A8792EE-929C-3333-F170-E47B8E44C32A}"/>
                    </a:ext>
                  </a:extLst>
                </p:cNvPr>
                <p:cNvSpPr txBox="1"/>
                <p:nvPr/>
              </p:nvSpPr>
              <p:spPr>
                <a:xfrm>
                  <a:off x="1610874" y="2844059"/>
                  <a:ext cx="1734771" cy="15562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优点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：通过可达性图，可以处理具有不同密度的簇；对参数的依赖性较低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algn="just">
                    <a:lnSpc>
                      <a:spcPct val="130000"/>
                    </a:lnSpc>
                  </a:pPr>
                  <a:r>
                    <a:rPr kumimoji="1" lang="zh-CN" altLang="en-US" sz="1200" b="1" dirty="0">
                      <a:solidFill>
                        <a:schemeClr val="accent1">
                          <a:lumMod val="75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缺点</a:t>
                  </a:r>
                  <a:r>
                    <a:rPr kumimoji="1"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：计算性能和存储的要求更高</a:t>
                  </a:r>
                  <a:endParaRPr kumimoji="1"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E5D9CAB-F282-33FD-BA83-BDFDC9CF1426}"/>
              </a:ext>
            </a:extLst>
          </p:cNvPr>
          <p:cNvSpPr/>
          <p:nvPr/>
        </p:nvSpPr>
        <p:spPr>
          <a:xfrm>
            <a:off x="325472" y="2235942"/>
            <a:ext cx="457264" cy="398225"/>
          </a:xfrm>
          <a:custGeom>
            <a:avLst/>
            <a:gdLst>
              <a:gd name="connsiteX0" fmla="*/ 102985 w 606407"/>
              <a:gd name="connsiteY0" fmla="*/ 131491 h 528112"/>
              <a:gd name="connsiteX1" fmla="*/ 89892 w 606407"/>
              <a:gd name="connsiteY1" fmla="*/ 218810 h 528112"/>
              <a:gd name="connsiteX2" fmla="*/ 102985 w 606407"/>
              <a:gd name="connsiteY2" fmla="*/ 236740 h 528112"/>
              <a:gd name="connsiteX3" fmla="*/ 103265 w 606407"/>
              <a:gd name="connsiteY3" fmla="*/ 236740 h 528112"/>
              <a:gd name="connsiteX4" fmla="*/ 116358 w 606407"/>
              <a:gd name="connsiteY4" fmla="*/ 218810 h 528112"/>
              <a:gd name="connsiteX5" fmla="*/ 103265 w 606407"/>
              <a:gd name="connsiteY5" fmla="*/ 131491 h 528112"/>
              <a:gd name="connsiteX6" fmla="*/ 335836 w 606407"/>
              <a:gd name="connsiteY6" fmla="*/ 85949 h 528112"/>
              <a:gd name="connsiteX7" fmla="*/ 351924 w 606407"/>
              <a:gd name="connsiteY7" fmla="*/ 101910 h 528112"/>
              <a:gd name="connsiteX8" fmla="*/ 346966 w 606407"/>
              <a:gd name="connsiteY8" fmla="*/ 113484 h 528112"/>
              <a:gd name="connsiteX9" fmla="*/ 392799 w 606407"/>
              <a:gd name="connsiteY9" fmla="*/ 159220 h 528112"/>
              <a:gd name="connsiteX10" fmla="*/ 404304 w 606407"/>
              <a:gd name="connsiteY10" fmla="*/ 154273 h 528112"/>
              <a:gd name="connsiteX11" fmla="*/ 416744 w 606407"/>
              <a:gd name="connsiteY11" fmla="*/ 160153 h 528112"/>
              <a:gd name="connsiteX12" fmla="*/ 455561 w 606407"/>
              <a:gd name="connsiteY12" fmla="*/ 140365 h 528112"/>
              <a:gd name="connsiteX13" fmla="*/ 455561 w 606407"/>
              <a:gd name="connsiteY13" fmla="*/ 139712 h 528112"/>
              <a:gd name="connsiteX14" fmla="*/ 471649 w 606407"/>
              <a:gd name="connsiteY14" fmla="*/ 123751 h 528112"/>
              <a:gd name="connsiteX15" fmla="*/ 487644 w 606407"/>
              <a:gd name="connsiteY15" fmla="*/ 139712 h 528112"/>
              <a:gd name="connsiteX16" fmla="*/ 483154 w 606407"/>
              <a:gd name="connsiteY16" fmla="*/ 150819 h 528112"/>
              <a:gd name="connsiteX17" fmla="*/ 496717 w 606407"/>
              <a:gd name="connsiteY17" fmla="*/ 164353 h 528112"/>
              <a:gd name="connsiteX18" fmla="*/ 504387 w 606407"/>
              <a:gd name="connsiteY18" fmla="*/ 162393 h 528112"/>
              <a:gd name="connsiteX19" fmla="*/ 509906 w 606407"/>
              <a:gd name="connsiteY19" fmla="*/ 163420 h 528112"/>
              <a:gd name="connsiteX20" fmla="*/ 540118 w 606407"/>
              <a:gd name="connsiteY20" fmla="*/ 117964 h 528112"/>
              <a:gd name="connsiteX21" fmla="*/ 535160 w 606407"/>
              <a:gd name="connsiteY21" fmla="*/ 106390 h 528112"/>
              <a:gd name="connsiteX22" fmla="*/ 551155 w 606407"/>
              <a:gd name="connsiteY22" fmla="*/ 90429 h 528112"/>
              <a:gd name="connsiteX23" fmla="*/ 567243 w 606407"/>
              <a:gd name="connsiteY23" fmla="*/ 106390 h 528112"/>
              <a:gd name="connsiteX24" fmla="*/ 551155 w 606407"/>
              <a:gd name="connsiteY24" fmla="*/ 122444 h 528112"/>
              <a:gd name="connsiteX25" fmla="*/ 547507 w 606407"/>
              <a:gd name="connsiteY25" fmla="*/ 121978 h 528112"/>
              <a:gd name="connsiteX26" fmla="*/ 516734 w 606407"/>
              <a:gd name="connsiteY26" fmla="*/ 168180 h 528112"/>
              <a:gd name="connsiteX27" fmla="*/ 520475 w 606407"/>
              <a:gd name="connsiteY27" fmla="*/ 178447 h 528112"/>
              <a:gd name="connsiteX28" fmla="*/ 504481 w 606407"/>
              <a:gd name="connsiteY28" fmla="*/ 194408 h 528112"/>
              <a:gd name="connsiteX29" fmla="*/ 488392 w 606407"/>
              <a:gd name="connsiteY29" fmla="*/ 178447 h 528112"/>
              <a:gd name="connsiteX30" fmla="*/ 490731 w 606407"/>
              <a:gd name="connsiteY30" fmla="*/ 170140 h 528112"/>
              <a:gd name="connsiteX31" fmla="*/ 475765 w 606407"/>
              <a:gd name="connsiteY31" fmla="*/ 155113 h 528112"/>
              <a:gd name="connsiteX32" fmla="*/ 471649 w 606407"/>
              <a:gd name="connsiteY32" fmla="*/ 155673 h 528112"/>
              <a:gd name="connsiteX33" fmla="*/ 458180 w 606407"/>
              <a:gd name="connsiteY33" fmla="*/ 148393 h 528112"/>
              <a:gd name="connsiteX34" fmla="*/ 420111 w 606407"/>
              <a:gd name="connsiteY34" fmla="*/ 167714 h 528112"/>
              <a:gd name="connsiteX35" fmla="*/ 420392 w 606407"/>
              <a:gd name="connsiteY35" fmla="*/ 170234 h 528112"/>
              <a:gd name="connsiteX36" fmla="*/ 404304 w 606407"/>
              <a:gd name="connsiteY36" fmla="*/ 186288 h 528112"/>
              <a:gd name="connsiteX37" fmla="*/ 388309 w 606407"/>
              <a:gd name="connsiteY37" fmla="*/ 170234 h 528112"/>
              <a:gd name="connsiteX38" fmla="*/ 388683 w 606407"/>
              <a:gd name="connsiteY38" fmla="*/ 166873 h 528112"/>
              <a:gd name="connsiteX39" fmla="*/ 339203 w 606407"/>
              <a:gd name="connsiteY39" fmla="*/ 117591 h 528112"/>
              <a:gd name="connsiteX40" fmla="*/ 335836 w 606407"/>
              <a:gd name="connsiteY40" fmla="*/ 117871 h 528112"/>
              <a:gd name="connsiteX41" fmla="*/ 319841 w 606407"/>
              <a:gd name="connsiteY41" fmla="*/ 101910 h 528112"/>
              <a:gd name="connsiteX42" fmla="*/ 335836 w 606407"/>
              <a:gd name="connsiteY42" fmla="*/ 85949 h 528112"/>
              <a:gd name="connsiteX43" fmla="*/ 304990 w 606407"/>
              <a:gd name="connsiteY43" fmla="*/ 45200 h 528112"/>
              <a:gd name="connsiteX44" fmla="*/ 304990 w 606407"/>
              <a:gd name="connsiteY44" fmla="*/ 82929 h 528112"/>
              <a:gd name="connsiteX45" fmla="*/ 340060 w 606407"/>
              <a:gd name="connsiteY45" fmla="*/ 55099 h 528112"/>
              <a:gd name="connsiteX46" fmla="*/ 345578 w 606407"/>
              <a:gd name="connsiteY46" fmla="*/ 62010 h 528112"/>
              <a:gd name="connsiteX47" fmla="*/ 304990 w 606407"/>
              <a:gd name="connsiteY47" fmla="*/ 94416 h 528112"/>
              <a:gd name="connsiteX48" fmla="*/ 304990 w 606407"/>
              <a:gd name="connsiteY48" fmla="*/ 250842 h 528112"/>
              <a:gd name="connsiteX49" fmla="*/ 307234 w 606407"/>
              <a:gd name="connsiteY49" fmla="*/ 253083 h 528112"/>
              <a:gd name="connsiteX50" fmla="*/ 581531 w 606407"/>
              <a:gd name="connsiteY50" fmla="*/ 253083 h 528112"/>
              <a:gd name="connsiteX51" fmla="*/ 583775 w 606407"/>
              <a:gd name="connsiteY51" fmla="*/ 250842 h 528112"/>
              <a:gd name="connsiteX52" fmla="*/ 583775 w 606407"/>
              <a:gd name="connsiteY52" fmla="*/ 45200 h 528112"/>
              <a:gd name="connsiteX53" fmla="*/ 103240 w 606407"/>
              <a:gd name="connsiteY53" fmla="*/ 4375 h 528112"/>
              <a:gd name="connsiteX54" fmla="*/ 157540 w 606407"/>
              <a:gd name="connsiteY54" fmla="*/ 58534 h 528112"/>
              <a:gd name="connsiteX55" fmla="*/ 103240 w 606407"/>
              <a:gd name="connsiteY55" fmla="*/ 112693 h 528112"/>
              <a:gd name="connsiteX56" fmla="*/ 48940 w 606407"/>
              <a:gd name="connsiteY56" fmla="*/ 58534 h 528112"/>
              <a:gd name="connsiteX57" fmla="*/ 103240 w 606407"/>
              <a:gd name="connsiteY57" fmla="*/ 4375 h 528112"/>
              <a:gd name="connsiteX58" fmla="*/ 443774 w 606407"/>
              <a:gd name="connsiteY58" fmla="*/ 0 h 528112"/>
              <a:gd name="connsiteX59" fmla="*/ 444990 w 606407"/>
              <a:gd name="connsiteY59" fmla="*/ 0 h 528112"/>
              <a:gd name="connsiteX60" fmla="*/ 456306 w 606407"/>
              <a:gd name="connsiteY60" fmla="*/ 11300 h 528112"/>
              <a:gd name="connsiteX61" fmla="*/ 456306 w 606407"/>
              <a:gd name="connsiteY61" fmla="*/ 15783 h 528112"/>
              <a:gd name="connsiteX62" fmla="*/ 606407 w 606407"/>
              <a:gd name="connsiteY62" fmla="*/ 15783 h 528112"/>
              <a:gd name="connsiteX63" fmla="*/ 606407 w 606407"/>
              <a:gd name="connsiteY63" fmla="*/ 45200 h 528112"/>
              <a:gd name="connsiteX64" fmla="*/ 597429 w 606407"/>
              <a:gd name="connsiteY64" fmla="*/ 45200 h 528112"/>
              <a:gd name="connsiteX65" fmla="*/ 597429 w 606407"/>
              <a:gd name="connsiteY65" fmla="*/ 250748 h 528112"/>
              <a:gd name="connsiteX66" fmla="*/ 581531 w 606407"/>
              <a:gd name="connsiteY66" fmla="*/ 266624 h 528112"/>
              <a:gd name="connsiteX67" fmla="*/ 453407 w 606407"/>
              <a:gd name="connsiteY67" fmla="*/ 266624 h 528112"/>
              <a:gd name="connsiteX68" fmla="*/ 453407 w 606407"/>
              <a:gd name="connsiteY68" fmla="*/ 429214 h 528112"/>
              <a:gd name="connsiteX69" fmla="*/ 520368 w 606407"/>
              <a:gd name="connsiteY69" fmla="*/ 480858 h 528112"/>
              <a:gd name="connsiteX70" fmla="*/ 521958 w 606407"/>
              <a:gd name="connsiteY70" fmla="*/ 493558 h 528112"/>
              <a:gd name="connsiteX71" fmla="*/ 514757 w 606407"/>
              <a:gd name="connsiteY71" fmla="*/ 497014 h 528112"/>
              <a:gd name="connsiteX72" fmla="*/ 509239 w 606407"/>
              <a:gd name="connsiteY72" fmla="*/ 495146 h 528112"/>
              <a:gd name="connsiteX73" fmla="*/ 453407 w 606407"/>
              <a:gd name="connsiteY73" fmla="*/ 452094 h 528112"/>
              <a:gd name="connsiteX74" fmla="*/ 453407 w 606407"/>
              <a:gd name="connsiteY74" fmla="*/ 487021 h 528112"/>
              <a:gd name="connsiteX75" fmla="*/ 453407 w 606407"/>
              <a:gd name="connsiteY75" fmla="*/ 518960 h 528112"/>
              <a:gd name="connsiteX76" fmla="*/ 444336 w 606407"/>
              <a:gd name="connsiteY76" fmla="*/ 528112 h 528112"/>
              <a:gd name="connsiteX77" fmla="*/ 435264 w 606407"/>
              <a:gd name="connsiteY77" fmla="*/ 518960 h 528112"/>
              <a:gd name="connsiteX78" fmla="*/ 435264 w 606407"/>
              <a:gd name="connsiteY78" fmla="*/ 452094 h 528112"/>
              <a:gd name="connsiteX79" fmla="*/ 379432 w 606407"/>
              <a:gd name="connsiteY79" fmla="*/ 495146 h 528112"/>
              <a:gd name="connsiteX80" fmla="*/ 373914 w 606407"/>
              <a:gd name="connsiteY80" fmla="*/ 497014 h 528112"/>
              <a:gd name="connsiteX81" fmla="*/ 366713 w 606407"/>
              <a:gd name="connsiteY81" fmla="*/ 493558 h 528112"/>
              <a:gd name="connsiteX82" fmla="*/ 368303 w 606407"/>
              <a:gd name="connsiteY82" fmla="*/ 480858 h 528112"/>
              <a:gd name="connsiteX83" fmla="*/ 435264 w 606407"/>
              <a:gd name="connsiteY83" fmla="*/ 429214 h 528112"/>
              <a:gd name="connsiteX84" fmla="*/ 435264 w 606407"/>
              <a:gd name="connsiteY84" fmla="*/ 266624 h 528112"/>
              <a:gd name="connsiteX85" fmla="*/ 307234 w 606407"/>
              <a:gd name="connsiteY85" fmla="*/ 266624 h 528112"/>
              <a:gd name="connsiteX86" fmla="*/ 291336 w 606407"/>
              <a:gd name="connsiteY86" fmla="*/ 250748 h 528112"/>
              <a:gd name="connsiteX87" fmla="*/ 291336 w 606407"/>
              <a:gd name="connsiteY87" fmla="*/ 105249 h 528112"/>
              <a:gd name="connsiteX88" fmla="*/ 267768 w 606407"/>
              <a:gd name="connsiteY88" fmla="*/ 124020 h 528112"/>
              <a:gd name="connsiteX89" fmla="*/ 261315 w 606407"/>
              <a:gd name="connsiteY89" fmla="*/ 149609 h 528112"/>
              <a:gd name="connsiteX90" fmla="*/ 180794 w 606407"/>
              <a:gd name="connsiteY90" fmla="*/ 185563 h 528112"/>
              <a:gd name="connsiteX91" fmla="*/ 158723 w 606407"/>
              <a:gd name="connsiteY91" fmla="*/ 182575 h 528112"/>
              <a:gd name="connsiteX92" fmla="*/ 158723 w 606407"/>
              <a:gd name="connsiteY92" fmla="*/ 282594 h 528112"/>
              <a:gd name="connsiteX93" fmla="*/ 154982 w 606407"/>
              <a:gd name="connsiteY93" fmla="*/ 302112 h 528112"/>
              <a:gd name="connsiteX94" fmla="*/ 173219 w 606407"/>
              <a:gd name="connsiteY94" fmla="*/ 501030 h 528112"/>
              <a:gd name="connsiteX95" fmla="*/ 150587 w 606407"/>
              <a:gd name="connsiteY95" fmla="*/ 527925 h 528112"/>
              <a:gd name="connsiteX96" fmla="*/ 148436 w 606407"/>
              <a:gd name="connsiteY96" fmla="*/ 528112 h 528112"/>
              <a:gd name="connsiteX97" fmla="*/ 123653 w 606407"/>
              <a:gd name="connsiteY97" fmla="*/ 505325 h 528112"/>
              <a:gd name="connsiteX98" fmla="*/ 107287 w 606407"/>
              <a:gd name="connsiteY98" fmla="*/ 330222 h 528112"/>
              <a:gd name="connsiteX99" fmla="*/ 103172 w 606407"/>
              <a:gd name="connsiteY99" fmla="*/ 330409 h 528112"/>
              <a:gd name="connsiteX100" fmla="*/ 99244 w 606407"/>
              <a:gd name="connsiteY100" fmla="*/ 330315 h 528112"/>
              <a:gd name="connsiteX101" fmla="*/ 86899 w 606407"/>
              <a:gd name="connsiteY101" fmla="*/ 505139 h 528112"/>
              <a:gd name="connsiteX102" fmla="*/ 62116 w 606407"/>
              <a:gd name="connsiteY102" fmla="*/ 528019 h 528112"/>
              <a:gd name="connsiteX103" fmla="*/ 60152 w 606407"/>
              <a:gd name="connsiteY103" fmla="*/ 528019 h 528112"/>
              <a:gd name="connsiteX104" fmla="*/ 37240 w 606407"/>
              <a:gd name="connsiteY104" fmla="*/ 501310 h 528112"/>
              <a:gd name="connsiteX105" fmla="*/ 52577 w 606407"/>
              <a:gd name="connsiteY105" fmla="*/ 302672 h 528112"/>
              <a:gd name="connsiteX106" fmla="*/ 47621 w 606407"/>
              <a:gd name="connsiteY106" fmla="*/ 282594 h 528112"/>
              <a:gd name="connsiteX107" fmla="*/ 47621 w 606407"/>
              <a:gd name="connsiteY107" fmla="*/ 215074 h 528112"/>
              <a:gd name="connsiteX108" fmla="*/ 43225 w 606407"/>
              <a:gd name="connsiteY108" fmla="*/ 289318 h 528112"/>
              <a:gd name="connsiteX109" fmla="*/ 23866 w 606407"/>
              <a:gd name="connsiteY109" fmla="*/ 311918 h 528112"/>
              <a:gd name="connsiteX110" fmla="*/ 22183 w 606407"/>
              <a:gd name="connsiteY110" fmla="*/ 312011 h 528112"/>
              <a:gd name="connsiteX111" fmla="*/ 1234 w 606407"/>
              <a:gd name="connsiteY111" fmla="*/ 292586 h 528112"/>
              <a:gd name="connsiteX112" fmla="*/ 67073 w 606407"/>
              <a:gd name="connsiteY112" fmla="*/ 125981 h 528112"/>
              <a:gd name="connsiteX113" fmla="*/ 89611 w 606407"/>
              <a:gd name="connsiteY113" fmla="*/ 115895 h 528112"/>
              <a:gd name="connsiteX114" fmla="*/ 103172 w 606407"/>
              <a:gd name="connsiteY114" fmla="*/ 129437 h 528112"/>
              <a:gd name="connsiteX115" fmla="*/ 116265 w 606407"/>
              <a:gd name="connsiteY115" fmla="*/ 115709 h 528112"/>
              <a:gd name="connsiteX116" fmla="*/ 116358 w 606407"/>
              <a:gd name="connsiteY116" fmla="*/ 115802 h 528112"/>
              <a:gd name="connsiteX117" fmla="*/ 140674 w 606407"/>
              <a:gd name="connsiteY117" fmla="*/ 126822 h 528112"/>
              <a:gd name="connsiteX118" fmla="*/ 235878 w 606407"/>
              <a:gd name="connsiteY118" fmla="*/ 116082 h 528112"/>
              <a:gd name="connsiteX119" fmla="*/ 262344 w 606407"/>
              <a:gd name="connsiteY119" fmla="*/ 116829 h 528112"/>
              <a:gd name="connsiteX120" fmla="*/ 291336 w 606407"/>
              <a:gd name="connsiteY120" fmla="*/ 93762 h 528112"/>
              <a:gd name="connsiteX121" fmla="*/ 291336 w 606407"/>
              <a:gd name="connsiteY121" fmla="*/ 45200 h 528112"/>
              <a:gd name="connsiteX122" fmla="*/ 282264 w 606407"/>
              <a:gd name="connsiteY122" fmla="*/ 45200 h 528112"/>
              <a:gd name="connsiteX123" fmla="*/ 282264 w 606407"/>
              <a:gd name="connsiteY123" fmla="*/ 15783 h 528112"/>
              <a:gd name="connsiteX124" fmla="*/ 432458 w 606407"/>
              <a:gd name="connsiteY124" fmla="*/ 15783 h 528112"/>
              <a:gd name="connsiteX125" fmla="*/ 432458 w 606407"/>
              <a:gd name="connsiteY125" fmla="*/ 11300 h 528112"/>
              <a:gd name="connsiteX126" fmla="*/ 443774 w 606407"/>
              <a:gd name="connsiteY126" fmla="*/ 0 h 528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</a:cxnLst>
            <a:rect l="l" t="t" r="r" b="b"/>
            <a:pathLst>
              <a:path w="606407" h="528112">
                <a:moveTo>
                  <a:pt x="102985" y="131491"/>
                </a:moveTo>
                <a:lnTo>
                  <a:pt x="89892" y="218810"/>
                </a:lnTo>
                <a:lnTo>
                  <a:pt x="102985" y="236740"/>
                </a:lnTo>
                <a:lnTo>
                  <a:pt x="103265" y="236740"/>
                </a:lnTo>
                <a:lnTo>
                  <a:pt x="116358" y="218810"/>
                </a:lnTo>
                <a:lnTo>
                  <a:pt x="103265" y="131491"/>
                </a:lnTo>
                <a:close/>
                <a:moveTo>
                  <a:pt x="335836" y="85949"/>
                </a:moveTo>
                <a:cubicBezTo>
                  <a:pt x="344722" y="85949"/>
                  <a:pt x="351924" y="93136"/>
                  <a:pt x="351924" y="101910"/>
                </a:cubicBezTo>
                <a:cubicBezTo>
                  <a:pt x="351924" y="106484"/>
                  <a:pt x="349960" y="110591"/>
                  <a:pt x="346966" y="113484"/>
                </a:cubicBezTo>
                <a:lnTo>
                  <a:pt x="392799" y="159220"/>
                </a:lnTo>
                <a:cubicBezTo>
                  <a:pt x="395698" y="156140"/>
                  <a:pt x="399814" y="154273"/>
                  <a:pt x="404304" y="154273"/>
                </a:cubicBezTo>
                <a:cubicBezTo>
                  <a:pt x="409355" y="154273"/>
                  <a:pt x="413751" y="156513"/>
                  <a:pt x="416744" y="160153"/>
                </a:cubicBezTo>
                <a:lnTo>
                  <a:pt x="455561" y="140365"/>
                </a:lnTo>
                <a:cubicBezTo>
                  <a:pt x="455561" y="140179"/>
                  <a:pt x="455561" y="139899"/>
                  <a:pt x="455561" y="139712"/>
                </a:cubicBezTo>
                <a:cubicBezTo>
                  <a:pt x="455561" y="130845"/>
                  <a:pt x="462764" y="123751"/>
                  <a:pt x="471649" y="123751"/>
                </a:cubicBezTo>
                <a:cubicBezTo>
                  <a:pt x="480442" y="123751"/>
                  <a:pt x="487644" y="130845"/>
                  <a:pt x="487644" y="139712"/>
                </a:cubicBezTo>
                <a:cubicBezTo>
                  <a:pt x="487644" y="144006"/>
                  <a:pt x="485960" y="147926"/>
                  <a:pt x="483154" y="150819"/>
                </a:cubicBezTo>
                <a:lnTo>
                  <a:pt x="496717" y="164353"/>
                </a:lnTo>
                <a:cubicBezTo>
                  <a:pt x="499055" y="163140"/>
                  <a:pt x="501581" y="162393"/>
                  <a:pt x="504387" y="162393"/>
                </a:cubicBezTo>
                <a:cubicBezTo>
                  <a:pt x="506351" y="162393"/>
                  <a:pt x="508222" y="162767"/>
                  <a:pt x="509906" y="163420"/>
                </a:cubicBezTo>
                <a:lnTo>
                  <a:pt x="540118" y="117964"/>
                </a:lnTo>
                <a:cubicBezTo>
                  <a:pt x="537031" y="115071"/>
                  <a:pt x="535160" y="110964"/>
                  <a:pt x="535160" y="106390"/>
                </a:cubicBezTo>
                <a:cubicBezTo>
                  <a:pt x="535160" y="97617"/>
                  <a:pt x="542363" y="90429"/>
                  <a:pt x="551155" y="90429"/>
                </a:cubicBezTo>
                <a:cubicBezTo>
                  <a:pt x="560041" y="90429"/>
                  <a:pt x="567243" y="97617"/>
                  <a:pt x="567243" y="106390"/>
                </a:cubicBezTo>
                <a:cubicBezTo>
                  <a:pt x="567243" y="115257"/>
                  <a:pt x="560041" y="122444"/>
                  <a:pt x="551155" y="122444"/>
                </a:cubicBezTo>
                <a:cubicBezTo>
                  <a:pt x="549939" y="122444"/>
                  <a:pt x="548629" y="122258"/>
                  <a:pt x="547507" y="121978"/>
                </a:cubicBezTo>
                <a:lnTo>
                  <a:pt x="516734" y="168180"/>
                </a:lnTo>
                <a:cubicBezTo>
                  <a:pt x="519072" y="170980"/>
                  <a:pt x="520475" y="174527"/>
                  <a:pt x="520475" y="178447"/>
                </a:cubicBezTo>
                <a:cubicBezTo>
                  <a:pt x="520475" y="187221"/>
                  <a:pt x="513273" y="194408"/>
                  <a:pt x="504481" y="194408"/>
                </a:cubicBezTo>
                <a:cubicBezTo>
                  <a:pt x="495501" y="194408"/>
                  <a:pt x="488392" y="187221"/>
                  <a:pt x="488392" y="178447"/>
                </a:cubicBezTo>
                <a:cubicBezTo>
                  <a:pt x="488392" y="175367"/>
                  <a:pt x="489234" y="172567"/>
                  <a:pt x="490731" y="170140"/>
                </a:cubicBezTo>
                <a:lnTo>
                  <a:pt x="475765" y="155113"/>
                </a:lnTo>
                <a:cubicBezTo>
                  <a:pt x="474456" y="155486"/>
                  <a:pt x="473053" y="155673"/>
                  <a:pt x="471649" y="155673"/>
                </a:cubicBezTo>
                <a:cubicBezTo>
                  <a:pt x="465944" y="155673"/>
                  <a:pt x="461080" y="152779"/>
                  <a:pt x="458180" y="148393"/>
                </a:cubicBezTo>
                <a:lnTo>
                  <a:pt x="420111" y="167714"/>
                </a:lnTo>
                <a:cubicBezTo>
                  <a:pt x="420298" y="168554"/>
                  <a:pt x="420392" y="169394"/>
                  <a:pt x="420392" y="170234"/>
                </a:cubicBezTo>
                <a:cubicBezTo>
                  <a:pt x="420392" y="179101"/>
                  <a:pt x="413190" y="186288"/>
                  <a:pt x="404304" y="186288"/>
                </a:cubicBezTo>
                <a:cubicBezTo>
                  <a:pt x="395418" y="186288"/>
                  <a:pt x="388309" y="179101"/>
                  <a:pt x="388309" y="170234"/>
                </a:cubicBezTo>
                <a:cubicBezTo>
                  <a:pt x="388309" y="169114"/>
                  <a:pt x="388403" y="167994"/>
                  <a:pt x="388683" y="166873"/>
                </a:cubicBezTo>
                <a:lnTo>
                  <a:pt x="339203" y="117591"/>
                </a:lnTo>
                <a:cubicBezTo>
                  <a:pt x="338174" y="117778"/>
                  <a:pt x="337052" y="117871"/>
                  <a:pt x="335836" y="117871"/>
                </a:cubicBezTo>
                <a:cubicBezTo>
                  <a:pt x="326950" y="117871"/>
                  <a:pt x="319841" y="110777"/>
                  <a:pt x="319841" y="101910"/>
                </a:cubicBezTo>
                <a:cubicBezTo>
                  <a:pt x="319841" y="93136"/>
                  <a:pt x="326950" y="85949"/>
                  <a:pt x="335836" y="85949"/>
                </a:cubicBezTo>
                <a:close/>
                <a:moveTo>
                  <a:pt x="304990" y="45200"/>
                </a:moveTo>
                <a:lnTo>
                  <a:pt x="304990" y="82929"/>
                </a:lnTo>
                <a:lnTo>
                  <a:pt x="340060" y="55099"/>
                </a:lnTo>
                <a:lnTo>
                  <a:pt x="345578" y="62010"/>
                </a:lnTo>
                <a:lnTo>
                  <a:pt x="304990" y="94416"/>
                </a:lnTo>
                <a:lnTo>
                  <a:pt x="304990" y="250842"/>
                </a:lnTo>
                <a:cubicBezTo>
                  <a:pt x="304990" y="252056"/>
                  <a:pt x="305925" y="253083"/>
                  <a:pt x="307234" y="253083"/>
                </a:cubicBezTo>
                <a:lnTo>
                  <a:pt x="581531" y="253083"/>
                </a:lnTo>
                <a:cubicBezTo>
                  <a:pt x="582746" y="253083"/>
                  <a:pt x="583775" y="252056"/>
                  <a:pt x="583775" y="250842"/>
                </a:cubicBezTo>
                <a:lnTo>
                  <a:pt x="583775" y="45200"/>
                </a:lnTo>
                <a:close/>
                <a:moveTo>
                  <a:pt x="103240" y="4375"/>
                </a:moveTo>
                <a:cubicBezTo>
                  <a:pt x="133229" y="4375"/>
                  <a:pt x="157540" y="28623"/>
                  <a:pt x="157540" y="58534"/>
                </a:cubicBezTo>
                <a:cubicBezTo>
                  <a:pt x="157540" y="88445"/>
                  <a:pt x="133229" y="112693"/>
                  <a:pt x="103240" y="112693"/>
                </a:cubicBezTo>
                <a:cubicBezTo>
                  <a:pt x="73251" y="112693"/>
                  <a:pt x="48940" y="88445"/>
                  <a:pt x="48940" y="58534"/>
                </a:cubicBezTo>
                <a:cubicBezTo>
                  <a:pt x="48940" y="28623"/>
                  <a:pt x="73251" y="4375"/>
                  <a:pt x="103240" y="4375"/>
                </a:cubicBezTo>
                <a:close/>
                <a:moveTo>
                  <a:pt x="443774" y="0"/>
                </a:moveTo>
                <a:lnTo>
                  <a:pt x="444990" y="0"/>
                </a:lnTo>
                <a:cubicBezTo>
                  <a:pt x="451163" y="0"/>
                  <a:pt x="456306" y="5043"/>
                  <a:pt x="456306" y="11300"/>
                </a:cubicBezTo>
                <a:lnTo>
                  <a:pt x="456306" y="15783"/>
                </a:lnTo>
                <a:lnTo>
                  <a:pt x="606407" y="15783"/>
                </a:lnTo>
                <a:lnTo>
                  <a:pt x="606407" y="45200"/>
                </a:lnTo>
                <a:lnTo>
                  <a:pt x="597429" y="45200"/>
                </a:lnTo>
                <a:lnTo>
                  <a:pt x="597429" y="250748"/>
                </a:lnTo>
                <a:cubicBezTo>
                  <a:pt x="597429" y="259527"/>
                  <a:pt x="590321" y="266624"/>
                  <a:pt x="581531" y="266624"/>
                </a:cubicBezTo>
                <a:lnTo>
                  <a:pt x="453407" y="266624"/>
                </a:lnTo>
                <a:lnTo>
                  <a:pt x="453407" y="429214"/>
                </a:lnTo>
                <a:lnTo>
                  <a:pt x="520368" y="480858"/>
                </a:lnTo>
                <a:cubicBezTo>
                  <a:pt x="524296" y="483846"/>
                  <a:pt x="525044" y="489543"/>
                  <a:pt x="521958" y="493558"/>
                </a:cubicBezTo>
                <a:cubicBezTo>
                  <a:pt x="520181" y="495800"/>
                  <a:pt x="517469" y="497014"/>
                  <a:pt x="514757" y="497014"/>
                </a:cubicBezTo>
                <a:cubicBezTo>
                  <a:pt x="512886" y="497014"/>
                  <a:pt x="510922" y="496360"/>
                  <a:pt x="509239" y="495146"/>
                </a:cubicBezTo>
                <a:lnTo>
                  <a:pt x="453407" y="452094"/>
                </a:lnTo>
                <a:lnTo>
                  <a:pt x="453407" y="487021"/>
                </a:lnTo>
                <a:lnTo>
                  <a:pt x="453407" y="518960"/>
                </a:lnTo>
                <a:cubicBezTo>
                  <a:pt x="453407" y="524003"/>
                  <a:pt x="449386" y="528112"/>
                  <a:pt x="444336" y="528112"/>
                </a:cubicBezTo>
                <a:cubicBezTo>
                  <a:pt x="439379" y="528112"/>
                  <a:pt x="435264" y="524097"/>
                  <a:pt x="435264" y="518960"/>
                </a:cubicBezTo>
                <a:lnTo>
                  <a:pt x="435264" y="452094"/>
                </a:lnTo>
                <a:lnTo>
                  <a:pt x="379432" y="495146"/>
                </a:lnTo>
                <a:cubicBezTo>
                  <a:pt x="377749" y="496360"/>
                  <a:pt x="375878" y="497014"/>
                  <a:pt x="373914" y="497014"/>
                </a:cubicBezTo>
                <a:cubicBezTo>
                  <a:pt x="371202" y="497014"/>
                  <a:pt x="368490" y="495800"/>
                  <a:pt x="366713" y="493558"/>
                </a:cubicBezTo>
                <a:cubicBezTo>
                  <a:pt x="363627" y="489543"/>
                  <a:pt x="364375" y="483846"/>
                  <a:pt x="368303" y="480858"/>
                </a:cubicBezTo>
                <a:lnTo>
                  <a:pt x="435264" y="429214"/>
                </a:lnTo>
                <a:lnTo>
                  <a:pt x="435264" y="266624"/>
                </a:lnTo>
                <a:lnTo>
                  <a:pt x="307234" y="266624"/>
                </a:lnTo>
                <a:cubicBezTo>
                  <a:pt x="298443" y="266624"/>
                  <a:pt x="291336" y="259527"/>
                  <a:pt x="291336" y="250748"/>
                </a:cubicBezTo>
                <a:lnTo>
                  <a:pt x="291336" y="105249"/>
                </a:lnTo>
                <a:lnTo>
                  <a:pt x="267768" y="124020"/>
                </a:lnTo>
                <a:cubicBezTo>
                  <a:pt x="271790" y="132799"/>
                  <a:pt x="269358" y="143445"/>
                  <a:pt x="261315" y="149609"/>
                </a:cubicBezTo>
                <a:cubicBezTo>
                  <a:pt x="235317" y="169314"/>
                  <a:pt x="210253" y="185563"/>
                  <a:pt x="180794" y="185563"/>
                </a:cubicBezTo>
                <a:cubicBezTo>
                  <a:pt x="173687" y="185563"/>
                  <a:pt x="166392" y="184629"/>
                  <a:pt x="158723" y="182575"/>
                </a:cubicBezTo>
                <a:lnTo>
                  <a:pt x="158723" y="282594"/>
                </a:lnTo>
                <a:cubicBezTo>
                  <a:pt x="158723" y="288291"/>
                  <a:pt x="157227" y="298283"/>
                  <a:pt x="154982" y="302112"/>
                </a:cubicBezTo>
                <a:cubicBezTo>
                  <a:pt x="155076" y="302486"/>
                  <a:pt x="173219" y="501030"/>
                  <a:pt x="173219" y="501030"/>
                </a:cubicBezTo>
                <a:cubicBezTo>
                  <a:pt x="174435" y="514758"/>
                  <a:pt x="164241" y="526805"/>
                  <a:pt x="150587" y="527925"/>
                </a:cubicBezTo>
                <a:cubicBezTo>
                  <a:pt x="149839" y="528019"/>
                  <a:pt x="149091" y="528112"/>
                  <a:pt x="148436" y="528112"/>
                </a:cubicBezTo>
                <a:cubicBezTo>
                  <a:pt x="135624" y="528112"/>
                  <a:pt x="124775" y="518306"/>
                  <a:pt x="123653" y="505325"/>
                </a:cubicBezTo>
                <a:lnTo>
                  <a:pt x="107287" y="330222"/>
                </a:lnTo>
                <a:cubicBezTo>
                  <a:pt x="105510" y="330315"/>
                  <a:pt x="104949" y="330409"/>
                  <a:pt x="103172" y="330409"/>
                </a:cubicBezTo>
                <a:cubicBezTo>
                  <a:pt x="102237" y="330409"/>
                  <a:pt x="100086" y="330315"/>
                  <a:pt x="99244" y="330315"/>
                </a:cubicBezTo>
                <a:lnTo>
                  <a:pt x="86899" y="505139"/>
                </a:lnTo>
                <a:cubicBezTo>
                  <a:pt x="85871" y="518120"/>
                  <a:pt x="74929" y="528019"/>
                  <a:pt x="62116" y="528019"/>
                </a:cubicBezTo>
                <a:cubicBezTo>
                  <a:pt x="61462" y="528019"/>
                  <a:pt x="60807" y="528019"/>
                  <a:pt x="60152" y="528019"/>
                </a:cubicBezTo>
                <a:cubicBezTo>
                  <a:pt x="46405" y="526898"/>
                  <a:pt x="36211" y="514944"/>
                  <a:pt x="37240" y="501310"/>
                </a:cubicBezTo>
                <a:lnTo>
                  <a:pt x="52577" y="302672"/>
                </a:lnTo>
                <a:cubicBezTo>
                  <a:pt x="49398" y="296696"/>
                  <a:pt x="47621" y="289972"/>
                  <a:pt x="47621" y="282594"/>
                </a:cubicBezTo>
                <a:lnTo>
                  <a:pt x="47621" y="215074"/>
                </a:lnTo>
                <a:cubicBezTo>
                  <a:pt x="42664" y="232818"/>
                  <a:pt x="40700" y="256538"/>
                  <a:pt x="43225" y="289318"/>
                </a:cubicBezTo>
                <a:cubicBezTo>
                  <a:pt x="44160" y="300898"/>
                  <a:pt x="35463" y="310984"/>
                  <a:pt x="23866" y="311918"/>
                </a:cubicBezTo>
                <a:cubicBezTo>
                  <a:pt x="23305" y="311918"/>
                  <a:pt x="22744" y="312011"/>
                  <a:pt x="22183" y="312011"/>
                </a:cubicBezTo>
                <a:cubicBezTo>
                  <a:pt x="11335" y="312011"/>
                  <a:pt x="2076" y="303606"/>
                  <a:pt x="1234" y="292586"/>
                </a:cubicBezTo>
                <a:cubicBezTo>
                  <a:pt x="-7089" y="186590"/>
                  <a:pt x="27981" y="149889"/>
                  <a:pt x="67073" y="125981"/>
                </a:cubicBezTo>
                <a:cubicBezTo>
                  <a:pt x="68195" y="125234"/>
                  <a:pt x="82971" y="117483"/>
                  <a:pt x="89611" y="115895"/>
                </a:cubicBezTo>
                <a:lnTo>
                  <a:pt x="103172" y="129437"/>
                </a:lnTo>
                <a:lnTo>
                  <a:pt x="116265" y="115709"/>
                </a:lnTo>
                <a:cubicBezTo>
                  <a:pt x="116265" y="115709"/>
                  <a:pt x="116358" y="115709"/>
                  <a:pt x="116358" y="115802"/>
                </a:cubicBezTo>
                <a:cubicBezTo>
                  <a:pt x="123279" y="117390"/>
                  <a:pt x="137401" y="124767"/>
                  <a:pt x="140674" y="126822"/>
                </a:cubicBezTo>
                <a:cubicBezTo>
                  <a:pt x="181823" y="152877"/>
                  <a:pt x="196038" y="146247"/>
                  <a:pt x="235878" y="116082"/>
                </a:cubicBezTo>
                <a:cubicBezTo>
                  <a:pt x="243921" y="109919"/>
                  <a:pt x="254956" y="110572"/>
                  <a:pt x="262344" y="116829"/>
                </a:cubicBezTo>
                <a:lnTo>
                  <a:pt x="291336" y="93762"/>
                </a:lnTo>
                <a:lnTo>
                  <a:pt x="291336" y="45200"/>
                </a:lnTo>
                <a:lnTo>
                  <a:pt x="282264" y="45200"/>
                </a:lnTo>
                <a:lnTo>
                  <a:pt x="282264" y="15783"/>
                </a:lnTo>
                <a:lnTo>
                  <a:pt x="432458" y="15783"/>
                </a:lnTo>
                <a:lnTo>
                  <a:pt x="432458" y="11300"/>
                </a:lnTo>
                <a:cubicBezTo>
                  <a:pt x="432458" y="5043"/>
                  <a:pt x="437509" y="0"/>
                  <a:pt x="443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96D5A8D-6841-AE48-45B7-D7A5436B5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976805"/>
              </p:ext>
            </p:extLst>
          </p:nvPr>
        </p:nvGraphicFramePr>
        <p:xfrm>
          <a:off x="4359475" y="3642754"/>
          <a:ext cx="616994" cy="41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Equation" r:id="rId3" imgW="438153" imgH="295211" progId="Equation.DSMT4">
                  <p:embed/>
                </p:oleObj>
              </mc:Choice>
              <mc:Fallback>
                <p:oleObj name="Equation" r:id="rId3" imgW="438153" imgH="295211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96D5A8D-6841-AE48-45B7-D7A5436B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59475" y="3642754"/>
                        <a:ext cx="616994" cy="41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389C6D86-78A7-46BF-B4D2-EF4F0889C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458311"/>
              </p:ext>
            </p:extLst>
          </p:nvPr>
        </p:nvGraphicFramePr>
        <p:xfrm>
          <a:off x="4359725" y="4353026"/>
          <a:ext cx="616744" cy="41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tion" r:id="rId5" imgW="821581" imgH="553340" progId="Equation.DSMT4">
                  <p:embed/>
                </p:oleObj>
              </mc:Choice>
              <mc:Fallback>
                <p:oleObj name="Equation" r:id="rId5" imgW="821581" imgH="5533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389C6D86-78A7-46BF-B4D2-EF4F0889C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9725" y="4353026"/>
                        <a:ext cx="616744" cy="4155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标题 22">
            <a:extLst>
              <a:ext uri="{FF2B5EF4-FFF2-40B4-BE49-F238E27FC236}">
                <a16:creationId xmlns:a16="http://schemas.microsoft.com/office/drawing/2014/main" id="{185942E2-F9B1-495E-A464-7F2BBA869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OPTICS</a:t>
            </a:r>
            <a:r>
              <a:rPr lang="zh-CN" altLang="en-US" sz="3600" dirty="0">
                <a:latin typeface="华光综艺_CNKI" panose="02000500000000000000" pitchFamily="2" charset="-122"/>
                <a:ea typeface="华光综艺_CNKI" panose="02000500000000000000" pitchFamily="2" charset="-122"/>
              </a:rPr>
              <a:t>算法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6727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2F8F-D05B-3CBA-B5A4-E16BCA9C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11949B4-9FA7-B62C-696C-FA9E00B95EBE}"/>
              </a:ext>
            </a:extLst>
          </p:cNvPr>
          <p:cNvSpPr txBox="1"/>
          <p:nvPr/>
        </p:nvSpPr>
        <p:spPr>
          <a:xfrm>
            <a:off x="144644" y="1884278"/>
            <a:ext cx="8452775" cy="744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228600" algn="l"/>
              </a:tabLst>
            </a:pPr>
            <a:r>
              <a:rPr lang="en-US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1.</a:t>
            </a:r>
            <a:r>
              <a:rPr lang="zh-CN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模型构建。</a:t>
            </a:r>
            <a:r>
              <a:rPr lang="zh-CN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在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Python</a:t>
            </a:r>
            <a:r>
              <a:rPr lang="zh-CN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中，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算法可以调用在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sklearn.cluster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模块中的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OPTICS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类构建学习器进行实现</a:t>
            </a:r>
            <a:endParaRPr lang="zh-CN" altLang="zh-CN" sz="1500" kern="1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28A58E2-F2E5-981F-90DE-3EAE24ED7643}"/>
              </a:ext>
            </a:extLst>
          </p:cNvPr>
          <p:cNvSpPr txBox="1"/>
          <p:nvPr/>
        </p:nvSpPr>
        <p:spPr>
          <a:xfrm>
            <a:off x="144644" y="3528690"/>
            <a:ext cx="8452775" cy="1436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2.</a:t>
            </a:r>
            <a:r>
              <a:rPr lang="zh-CN" altLang="zh-CN" sz="1500" b="1" kern="100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参数调整。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min_samples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参数表示数据成为核心点时，其 邻域内的最小数据量，用于构建可达性图；“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max_eps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参数表示最大 邻域半径，默认无穷大，即考虑所有样本点；“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metric”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参数表示数据之间的距离计算方式，有“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cityblock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cosine”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euclidean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l1”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l2”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manhattan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minkowski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r>
              <a:rPr lang="zh-CN" altLang="en-US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等多种距离，默认“</a:t>
            </a:r>
            <a:r>
              <a:rPr lang="en-US" altLang="zh-CN" sz="1500" kern="100" dirty="0" err="1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minkowski</a:t>
            </a:r>
            <a:r>
              <a:rPr lang="en-US" altLang="zh-CN" sz="1500" kern="1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”</a:t>
            </a:r>
            <a:endParaRPr lang="zh-CN" alt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CB6A0F-825A-1805-0CB3-30BF1E25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43" y="2582384"/>
            <a:ext cx="8565373" cy="720967"/>
          </a:xfrm>
          <a:prstGeom prst="rect">
            <a:avLst/>
          </a:prstGeom>
        </p:spPr>
      </p:pic>
      <p:sp>
        <p:nvSpPr>
          <p:cNvPr id="2" name="矩形: 圆角 12">
            <a:extLst>
              <a:ext uri="{FF2B5EF4-FFF2-40B4-BE49-F238E27FC236}">
                <a16:creationId xmlns:a16="http://schemas.microsoft.com/office/drawing/2014/main" id="{F2F0A594-62FA-1A06-CC8B-7B9C4B80A30D}"/>
              </a:ext>
            </a:extLst>
          </p:cNvPr>
          <p:cNvSpPr/>
          <p:nvPr/>
        </p:nvSpPr>
        <p:spPr>
          <a:xfrm>
            <a:off x="142724" y="1341532"/>
            <a:ext cx="5416989" cy="43416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864000" rIns="81000" rtlCol="0" anchor="ctr">
            <a:spAutoFit/>
          </a:bodyPr>
          <a:lstStyle/>
          <a:p>
            <a:pPr defTabSz="1095375">
              <a:spcBef>
                <a:spcPct val="30000"/>
              </a:spcBef>
              <a:defRPr/>
            </a:pP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实践案例：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OPTICS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与</a:t>
            </a:r>
            <a:r>
              <a:rPr lang="en-US" altLang="zh-CN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DBSCAN</a:t>
            </a:r>
            <a:r>
              <a:rPr lang="zh-CN" altLang="en-US" sz="1950" b="1" dirty="0">
                <a:solidFill>
                  <a:srgbClr val="5B9BD5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算法对比</a:t>
            </a:r>
          </a:p>
        </p:txBody>
      </p:sp>
      <p:sp>
        <p:nvSpPr>
          <p:cNvPr id="3" name="箭头: 五边形 11">
            <a:extLst>
              <a:ext uri="{FF2B5EF4-FFF2-40B4-BE49-F238E27FC236}">
                <a16:creationId xmlns:a16="http://schemas.microsoft.com/office/drawing/2014/main" id="{C81A7D75-F858-151A-6918-FB3786F3D5D9}"/>
              </a:ext>
            </a:extLst>
          </p:cNvPr>
          <p:cNvSpPr/>
          <p:nvPr/>
        </p:nvSpPr>
        <p:spPr>
          <a:xfrm>
            <a:off x="142723" y="1354302"/>
            <a:ext cx="809730" cy="408623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defTabSz="685800">
              <a:defRPr/>
            </a:pPr>
            <a:r>
              <a:rPr lang="en-US" altLang="zh-CN" sz="27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6.4</a:t>
            </a:r>
            <a:endParaRPr lang="zh-CN" altLang="en-US" sz="27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642625A6-429A-495A-8E78-C20A0A5E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</a:t>
            </a:r>
            <a:r>
              <a:rPr lang="en-US" altLang="zh-CN" dirty="0"/>
              <a:t>OPTICS</a:t>
            </a:r>
            <a:r>
              <a:rPr lang="zh-CN" altLang="en-US" dirty="0"/>
              <a:t>与</a:t>
            </a:r>
            <a:r>
              <a:rPr lang="en-US" altLang="zh-CN" dirty="0"/>
              <a:t>DBSCAN</a:t>
            </a:r>
            <a:r>
              <a:rPr lang="zh-CN" altLang="en-US" dirty="0"/>
              <a:t>算法对比</a:t>
            </a:r>
          </a:p>
        </p:txBody>
      </p:sp>
    </p:spTree>
    <p:extLst>
      <p:ext uri="{BB962C8B-B14F-4D97-AF65-F5344CB8AC3E}">
        <p14:creationId xmlns:p14="http://schemas.microsoft.com/office/powerpoint/2010/main" val="2174213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628C-0312-887F-FFD7-CDFAF40E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5D6DDB36-FA03-4FDD-E982-A14A9352B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CF9B3EF-F417-9F90-CCDB-27DC22E64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197" y="7951419"/>
            <a:ext cx="2139047" cy="207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41600" algn="ctr"/>
                <a:tab pos="52705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indent="228600" algn="ctr" defTabSz="685800">
              <a:tabLst>
                <a:tab pos="1981200" algn="ctr"/>
                <a:tab pos="3952875" algn="r"/>
              </a:tabLst>
            </a:pPr>
            <a:r>
              <a:rPr lang="en-US" altLang="zh-CN" sz="9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sz="1350"/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328BCCB3-4BA9-3B07-DBA6-815AD4D1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173" t="7566" r="9502" b="5838"/>
          <a:stretch/>
        </p:blipFill>
        <p:spPr bwMode="auto">
          <a:xfrm>
            <a:off x="2921526" y="1979850"/>
            <a:ext cx="5989966" cy="38443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BB8D600-1B1D-A176-B4B4-8EADA0A41062}"/>
              </a:ext>
            </a:extLst>
          </p:cNvPr>
          <p:cNvSpPr txBox="1"/>
          <p:nvPr/>
        </p:nvSpPr>
        <p:spPr>
          <a:xfrm>
            <a:off x="160213" y="2687937"/>
            <a:ext cx="2787356" cy="3064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Bef>
                <a:spcPts val="450"/>
              </a:spcBef>
            </a:pP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OPTICS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可达性图表示了数据中的密度关系，可以对可达距离取值将数据集进行聚类。</a:t>
            </a:r>
            <a:endParaRPr lang="en-US" altLang="zh-CN" sz="13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450"/>
              </a:spcBef>
            </a:pP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OPTICS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算法仅确定了核心点邻域最小样本数参数，将数据划分为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簇没有噪声数据</a:t>
            </a:r>
            <a:endParaRPr lang="en-US" altLang="zh-CN" sz="13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450"/>
              </a:spcBef>
            </a:pP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DBSCAN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聚类结果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当将邻域半径设置为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0.7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时，得到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个簇</a:t>
            </a:r>
            <a:endParaRPr lang="en-US" altLang="zh-CN" sz="13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spcBef>
                <a:spcPts val="450"/>
              </a:spcBef>
            </a:pP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邻域距离设置为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0.3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，得到</a:t>
            </a:r>
            <a:r>
              <a:rPr lang="en-US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3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个簇，但是大量数据被划分为噪声数据</a:t>
            </a: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13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105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 </a:t>
            </a:r>
            <a:endParaRPr lang="zh-CN" altLang="zh-CN" sz="135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8560FA2-2153-4097-B63B-E12858C6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实践案例：</a:t>
            </a:r>
            <a:r>
              <a:rPr lang="en-US" altLang="zh-CN" dirty="0"/>
              <a:t>OPTICS</a:t>
            </a:r>
            <a:r>
              <a:rPr lang="zh-CN" altLang="en-US" dirty="0"/>
              <a:t>与</a:t>
            </a:r>
            <a:r>
              <a:rPr lang="en-US" altLang="zh-CN" dirty="0"/>
              <a:t>DBSCAN</a:t>
            </a:r>
            <a:r>
              <a:rPr lang="zh-CN" altLang="en-US" dirty="0"/>
              <a:t>算法对比</a:t>
            </a:r>
          </a:p>
        </p:txBody>
      </p:sp>
    </p:spTree>
    <p:extLst>
      <p:ext uri="{BB962C8B-B14F-4D97-AF65-F5344CB8AC3E}">
        <p14:creationId xmlns:p14="http://schemas.microsoft.com/office/powerpoint/2010/main" val="1325945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EA35C535-0254-4C0D-814D-19B8A81C6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389134"/>
            <a:ext cx="7772400" cy="2079732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Q/A</a:t>
            </a:r>
            <a:br>
              <a:rPr lang="en-US" altLang="zh-CN" b="1" dirty="0"/>
            </a:br>
            <a:br>
              <a:rPr lang="en-US" altLang="zh-CN" b="1" dirty="0"/>
            </a:br>
            <a:r>
              <a:rPr lang="en-US" altLang="zh-CN" b="1" dirty="0"/>
              <a:t>  </a:t>
            </a:r>
            <a:r>
              <a:rPr lang="zh-CN" altLang="en-US" b="1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3896923420"/>
      </p:ext>
    </p:extLst>
  </p:cSld>
  <p:clrMapOvr>
    <a:masterClrMapping/>
  </p:clrMapOvr>
</p:sld>
</file>

<file path=ppt/theme/theme1.xml><?xml version="1.0" encoding="utf-8"?>
<a:theme xmlns:a="http://schemas.openxmlformats.org/drawingml/2006/main" name="白底灰边-Office2010风格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黑体+Times">
      <a:majorFont>
        <a:latin typeface="Times New Roman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白底灰边-Office2010风格</Template>
  <TotalTime>7659</TotalTime>
  <Words>2999</Words>
  <Application>Microsoft Office PowerPoint</Application>
  <PresentationFormat>全屏显示(4:3)</PresentationFormat>
  <Paragraphs>338</Paragraphs>
  <Slides>42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67" baseType="lpstr">
      <vt:lpstr>Arial Unicode MS</vt:lpstr>
      <vt:lpstr>CMEX10</vt:lpstr>
      <vt:lpstr>CMMI12</vt:lpstr>
      <vt:lpstr>CMR12</vt:lpstr>
      <vt:lpstr>FandolKai-Regular-Identity-H</vt:lpstr>
      <vt:lpstr>LMRoman12-Bold-Identity-H</vt:lpstr>
      <vt:lpstr>LMRoman12-Regular-Identity-H</vt:lpstr>
      <vt:lpstr>等线</vt:lpstr>
      <vt:lpstr>黑体</vt:lpstr>
      <vt:lpstr>华光综艺_CNKI</vt:lpstr>
      <vt:lpstr>楷体</vt:lpstr>
      <vt:lpstr>宋体</vt:lpstr>
      <vt:lpstr>微软雅黑</vt:lpstr>
      <vt:lpstr>幼圆</vt:lpstr>
      <vt:lpstr>Arial</vt:lpstr>
      <vt:lpstr>Calibri</vt:lpstr>
      <vt:lpstr>Cambria Math</vt:lpstr>
      <vt:lpstr>Courier New</vt:lpstr>
      <vt:lpstr>Impact</vt:lpstr>
      <vt:lpstr>Times New Roman</vt:lpstr>
      <vt:lpstr>Wingdings</vt:lpstr>
      <vt:lpstr>白底灰边-Office2010风格</vt:lpstr>
      <vt:lpstr>Microsoft Excel Worksheet</vt:lpstr>
      <vt:lpstr>MSPhotoEd.3</vt:lpstr>
      <vt:lpstr>Equation</vt:lpstr>
      <vt:lpstr> 8.5 DBSCAN 基于密度的空间聚类方法 王丽苹   </vt:lpstr>
      <vt:lpstr>DBSCAN算法</vt:lpstr>
      <vt:lpstr>DBSCAN算法</vt:lpstr>
      <vt:lpstr>基本概念</vt:lpstr>
      <vt:lpstr>基本概念</vt:lpstr>
      <vt:lpstr>基本概念</vt:lpstr>
      <vt:lpstr>基本概念</vt:lpstr>
      <vt:lpstr>DBSCAN算法</vt:lpstr>
      <vt:lpstr>DBSCAN算法</vt:lpstr>
      <vt:lpstr>DBSCAN算法</vt:lpstr>
      <vt:lpstr>形成簇</vt:lpstr>
      <vt:lpstr>形成簇</vt:lpstr>
      <vt:lpstr>DBSCAN算法：选择 Eps和MinPts</vt:lpstr>
      <vt:lpstr>【例】DBSCAN的举例</vt:lpstr>
      <vt:lpstr>【例】任意点之间的欧式距离计算</vt:lpstr>
      <vt:lpstr>【例】DBSCAN的参数分析</vt:lpstr>
      <vt:lpstr>【例】 DBSCAN的参数分析 Eps minPts</vt:lpstr>
      <vt:lpstr>【例】Excel计算聚类</vt:lpstr>
      <vt:lpstr>DBSCAN算法：选择 Eps和MinPts</vt:lpstr>
      <vt:lpstr>DBSCAN算法：选择 Eps和MinPts</vt:lpstr>
      <vt:lpstr>DBSCAN算法：选择 Eps和MinPts</vt:lpstr>
      <vt:lpstr>DBSCAN算法：选择 Eps和MinPts</vt:lpstr>
      <vt:lpstr>DBSCAN算法特点</vt:lpstr>
      <vt:lpstr>DBSCAN算法特点</vt:lpstr>
      <vt:lpstr>DBSCAN算法特点</vt:lpstr>
      <vt:lpstr>DBSCAN算法特点</vt:lpstr>
      <vt:lpstr>DBSCAN算法</vt:lpstr>
      <vt:lpstr>实践案例：基于DBSCAN的用户信用卡数据聚类</vt:lpstr>
      <vt:lpstr>实践案例：基于DBSCAN的用户信用卡数据聚类</vt:lpstr>
      <vt:lpstr>实践案例：基于DBSCAN的用户信用卡数据聚类</vt:lpstr>
      <vt:lpstr>实践案例：基于DBSCAN的用户信用卡数据聚类</vt:lpstr>
      <vt:lpstr>小结</vt:lpstr>
      <vt:lpstr>OPTICS算法</vt:lpstr>
      <vt:lpstr>OPTICS算法</vt:lpstr>
      <vt:lpstr>OPTICS算法</vt:lpstr>
      <vt:lpstr>OPTICS算法流程</vt:lpstr>
      <vt:lpstr>OPTICS算法流程</vt:lpstr>
      <vt:lpstr>OPTICS算法-输出结果的聚类提取方法</vt:lpstr>
      <vt:lpstr>OPTICS算法</vt:lpstr>
      <vt:lpstr>实践案例：OPTICS与DBSCAN算法对比</vt:lpstr>
      <vt:lpstr>实践案例：OPTICS与DBSCAN算法对比</vt:lpstr>
      <vt:lpstr>Q/A    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wuxf</dc:creator>
  <cp:lastModifiedBy>Liping Wang</cp:lastModifiedBy>
  <cp:revision>1613</cp:revision>
  <dcterms:created xsi:type="dcterms:W3CDTF">2018-01-15T02:11:00Z</dcterms:created>
  <dcterms:modified xsi:type="dcterms:W3CDTF">2025-11-06T01:30:09Z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