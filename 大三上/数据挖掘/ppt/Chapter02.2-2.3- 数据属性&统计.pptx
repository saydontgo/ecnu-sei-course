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43"/>
  </p:notesMasterIdLst>
  <p:sldIdLst>
    <p:sldId id="4261" r:id="rId2"/>
    <p:sldId id="4279" r:id="rId3"/>
    <p:sldId id="15873" r:id="rId4"/>
    <p:sldId id="15874" r:id="rId5"/>
    <p:sldId id="15875" r:id="rId6"/>
    <p:sldId id="15876" r:id="rId7"/>
    <p:sldId id="15878" r:id="rId8"/>
    <p:sldId id="292" r:id="rId9"/>
    <p:sldId id="337" r:id="rId10"/>
    <p:sldId id="338" r:id="rId11"/>
    <p:sldId id="313" r:id="rId12"/>
    <p:sldId id="339" r:id="rId13"/>
    <p:sldId id="297" r:id="rId14"/>
    <p:sldId id="295" r:id="rId15"/>
    <p:sldId id="15879" r:id="rId16"/>
    <p:sldId id="15880" r:id="rId17"/>
    <p:sldId id="15882" r:id="rId18"/>
    <p:sldId id="293" r:id="rId19"/>
    <p:sldId id="296" r:id="rId20"/>
    <p:sldId id="333" r:id="rId21"/>
    <p:sldId id="15883" r:id="rId22"/>
    <p:sldId id="298" r:id="rId23"/>
    <p:sldId id="314" r:id="rId24"/>
    <p:sldId id="319" r:id="rId25"/>
    <p:sldId id="320" r:id="rId26"/>
    <p:sldId id="315" r:id="rId27"/>
    <p:sldId id="299" r:id="rId28"/>
    <p:sldId id="326" r:id="rId29"/>
    <p:sldId id="15884" r:id="rId30"/>
    <p:sldId id="15886" r:id="rId31"/>
    <p:sldId id="15887" r:id="rId32"/>
    <p:sldId id="15885" r:id="rId33"/>
    <p:sldId id="15890" r:id="rId34"/>
    <p:sldId id="15891" r:id="rId35"/>
    <p:sldId id="15895" r:id="rId36"/>
    <p:sldId id="15896" r:id="rId37"/>
    <p:sldId id="15898" r:id="rId38"/>
    <p:sldId id="15899" r:id="rId39"/>
    <p:sldId id="15900" r:id="rId40"/>
    <p:sldId id="15901" r:id="rId41"/>
    <p:sldId id="4278" r:id="rId4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DBE"/>
    <a:srgbClr val="DCFDAB"/>
    <a:srgbClr val="FFAAA9"/>
    <a:srgbClr val="DBFDAA"/>
    <a:srgbClr val="FFE1E1"/>
    <a:srgbClr val="ECE5F7"/>
    <a:srgbClr val="E1D6F2"/>
    <a:srgbClr val="DCFDAD"/>
    <a:srgbClr val="D4C5EC"/>
    <a:srgbClr val="FFDA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9" autoAdjust="0"/>
    <p:restoredTop sz="58499" autoAdjust="0"/>
  </p:normalViewPr>
  <p:slideViewPr>
    <p:cSldViewPr snapToGrid="0">
      <p:cViewPr varScale="1">
        <p:scale>
          <a:sx n="111" d="100"/>
          <a:sy n="111" d="100"/>
        </p:scale>
        <p:origin x="157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50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出现频率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F3-4CCD-99DE-DF024944ED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55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出现频率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F3-4CCD-99DE-DF024944EDE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60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出现频率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2F3-4CCD-99DE-DF024944EDE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70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出现频率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2F3-4CCD-99DE-DF024944EDE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75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出现频率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2F3-4CCD-99DE-DF024944EDE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80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出现频率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2F3-4CCD-99DE-DF024944EDEF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85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出现频率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2F3-4CCD-99DE-DF024944ED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3687424"/>
        <c:axId val="73688960"/>
      </c:barChart>
      <c:catAx>
        <c:axId val="7368742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73688960"/>
        <c:crosses val="autoZero"/>
        <c:auto val="1"/>
        <c:lblAlgn val="ctr"/>
        <c:lblOffset val="100"/>
        <c:noMultiLvlLbl val="0"/>
      </c:catAx>
      <c:valAx>
        <c:axId val="736889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7368742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050"/>
      </a:pPr>
      <a:endParaRPr lang="zh-CN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37CF0-5B85-4F82-8895-487FD940EFF8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61C67-365B-455B-8333-B2F385616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39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BF546-1968-42CF-9186-F00D48681E4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346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BF546-1968-42CF-9186-F00D48681E4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346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BF546-1968-42CF-9186-F00D48681E4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346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BF546-1968-42CF-9186-F00D48681E4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899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BF546-1968-42CF-9186-F00D48681E4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899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BF546-1968-42CF-9186-F00D48681E4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521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BF546-1968-42CF-9186-F00D48681E4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515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BF546-1968-42CF-9186-F00D48681E4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1575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BF546-1968-42CF-9186-F00D48681E4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248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BF546-1968-42CF-9186-F00D48681E4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111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BF546-1968-42CF-9186-F00D48681E4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578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BF546-1968-42CF-9186-F00D48681E4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8276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BF546-1968-42CF-9186-F00D48681E4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2041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BF546-1968-42CF-9186-F00D48681E4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24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BF546-1968-42CF-9186-F00D48681E4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7327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BF546-1968-42CF-9186-F00D48681E4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1293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BF546-1968-42CF-9186-F00D48681E4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837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578" y="1057014"/>
            <a:ext cx="7772400" cy="1535184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9778" y="402987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AFABB-F632-4F91-92AF-0E2D2EA81731}" type="datetime1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35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3C160-1CF6-4197-853C-5DD8144FA9BE}" type="datetime1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455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389" y="1057014"/>
            <a:ext cx="7772400" cy="15336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4978" y="4027400"/>
            <a:ext cx="6858000" cy="1656000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54B1-0884-4633-8327-893DAA1E511F}" type="datetime1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39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50BB-E4E8-4483-82DA-D58DEBC4998C}" type="datetime1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504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BCF-E610-4FCE-ADC3-9F4D58E19C5C}" type="datetime1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560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A7D6D-E156-4C2B-9FF2-B27706CE389A}" type="datetime1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92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FCEF-073A-4FC7-8BAD-A662F97179A2}" type="datetime1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53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6709-067F-4154-9C9A-D56718F28438}" type="datetime1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D4C65-E77B-45F2-BD81-CFF9643C0CCF}" type="datetime1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666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6368-F392-4465-AD91-AE646936C52B}" type="datetime1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964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E443-EA00-4061-899C-73E3EB4E23B9}" type="datetime1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507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4399"/>
            <a:ext cx="9144000" cy="817721"/>
          </a:xfrm>
          <a:prstGeom prst="rect">
            <a:avLst/>
          </a:prstGeom>
        </p:spPr>
        <p:txBody>
          <a:bodyPr vert="horz" lIns="91440" tIns="14400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223" y="906011"/>
            <a:ext cx="8883941" cy="56374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525" y="6660859"/>
            <a:ext cx="2057400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l">
              <a:defRPr sz="1200" b="1">
                <a:solidFill>
                  <a:srgbClr val="002060"/>
                </a:solidFill>
              </a:defRPr>
            </a:lvl1pPr>
          </a:lstStyle>
          <a:p>
            <a:fld id="{7181A378-AD84-4E06-B1B5-6D5F5ACB78AE}" type="datetime1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3417" y="6660859"/>
            <a:ext cx="4597165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ctr">
              <a:defRPr sz="1200" b="0">
                <a:solidFill>
                  <a:srgbClr val="002060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660859"/>
            <a:ext cx="2057400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r">
              <a:defRPr sz="1200" b="1">
                <a:solidFill>
                  <a:srgbClr val="002060"/>
                </a:solidFill>
              </a:defRPr>
            </a:lvl1pPr>
          </a:lstStyle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8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Wingdings" panose="05000000000000000000" pitchFamily="2" charset="2"/>
        <a:buChar char="n"/>
        <a:defRPr sz="2400" kern="1200">
          <a:solidFill>
            <a:srgbClr val="002060"/>
          </a:solidFill>
          <a:latin typeface="+mn-lt"/>
          <a:ea typeface="+mn-ea"/>
          <a:cs typeface="+mn-cs"/>
        </a:defRPr>
      </a:lvl1pPr>
      <a:lvl2pPr marL="720725" indent="-360363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u"/>
        <a:defRPr sz="2000" kern="1200">
          <a:solidFill>
            <a:srgbClr val="002060"/>
          </a:solidFill>
          <a:latin typeface="+mn-lt"/>
          <a:ea typeface="+mn-ea"/>
          <a:cs typeface="+mn-cs"/>
        </a:defRPr>
      </a:lvl2pPr>
      <a:lvl3pPr marL="990600" indent="-269875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l"/>
        <a:defRPr sz="1800" kern="1200">
          <a:solidFill>
            <a:srgbClr val="002060"/>
          </a:solidFill>
          <a:latin typeface="+mn-lt"/>
          <a:ea typeface="+mn-ea"/>
          <a:cs typeface="+mn-cs"/>
        </a:defRPr>
      </a:lvl3pPr>
      <a:lvl4pPr marL="1258888" indent="-268288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p"/>
        <a:defRPr sz="1600" kern="1200">
          <a:solidFill>
            <a:srgbClr val="002060"/>
          </a:solidFill>
          <a:latin typeface="+mn-lt"/>
          <a:ea typeface="+mn-ea"/>
          <a:cs typeface="+mn-cs"/>
        </a:defRPr>
      </a:lvl4pPr>
      <a:lvl5pPr marL="1527175" indent="-268288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Ø"/>
        <a:defRPr sz="1600" kern="1200">
          <a:solidFill>
            <a:srgbClr val="00206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2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3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4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2.png"/><Relationship Id="rId4" Type="http://schemas.openxmlformats.org/officeDocument/2006/relationships/image" Target="../media/image21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5.sv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4739" y="2797189"/>
            <a:ext cx="8713694" cy="2138947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Chapter02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数据描述与统计指标</a:t>
            </a:r>
            <a:b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lang="en-US" altLang="zh-CN" sz="3600" b="1" dirty="0"/>
            </a:br>
            <a:r>
              <a:rPr lang="zh-CN" altLang="en-US" sz="27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授课老师：王丽苹</a:t>
            </a:r>
            <a:br>
              <a:rPr lang="en-US" altLang="zh-CN" sz="3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lang="en-US" altLang="zh-CN" sz="3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100" dirty="0">
                <a:solidFill>
                  <a:srgbClr val="002060"/>
                </a:solidFill>
                <a:latin typeface="+mn-ea"/>
                <a:ea typeface="+mn-ea"/>
              </a:rPr>
              <a:t> </a:t>
            </a:r>
            <a:br>
              <a:rPr lang="en-US" altLang="zh-CN" sz="3100" dirty="0">
                <a:solidFill>
                  <a:srgbClr val="002060"/>
                </a:solidFill>
              </a:rPr>
            </a:br>
            <a:endParaRPr lang="zh-CN" altLang="en-US" sz="3100" dirty="0">
              <a:solidFill>
                <a:srgbClr val="00206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2586" y="4060811"/>
            <a:ext cx="6858000" cy="950912"/>
          </a:xfrm>
        </p:spPr>
        <p:txBody>
          <a:bodyPr/>
          <a:lstStyle/>
          <a:p>
            <a:r>
              <a:rPr lang="en-US" altLang="zh-CN" b="1" dirty="0">
                <a:ea typeface="微软雅黑" panose="020B0503020204020204" pitchFamily="34" charset="-122"/>
                <a:cs typeface="微软雅黑" panose="020B0503020204020204" pitchFamily="34" charset="-122"/>
              </a:rPr>
              <a:t>2025</a:t>
            </a:r>
            <a:r>
              <a:rPr lang="zh-CN" altLang="en-US" b="1" dirty="0">
                <a:ea typeface="微软雅黑" panose="020B0503020204020204" pitchFamily="34" charset="-122"/>
                <a:cs typeface="微软雅黑" panose="020B0503020204020204" pitchFamily="34" charset="-122"/>
              </a:rPr>
              <a:t>年 秋</a:t>
            </a:r>
          </a:p>
        </p:txBody>
      </p:sp>
      <p:sp>
        <p:nvSpPr>
          <p:cNvPr id="4" name="矩形 3"/>
          <p:cNvSpPr/>
          <p:nvPr/>
        </p:nvSpPr>
        <p:spPr>
          <a:xfrm>
            <a:off x="5994072" y="180871"/>
            <a:ext cx="31499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数据挖掘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en-US" altLang="zh-CN" sz="2000" b="1" dirty="0">
                <a:solidFill>
                  <a:srgbClr val="002060"/>
                </a:solidFill>
              </a:rPr>
              <a:t>Data Mining</a:t>
            </a:r>
            <a:endParaRPr lang="zh-CN" altLang="en-US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715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28E2D-AEA5-4941-834C-DDC75970D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2.2 </a:t>
            </a:r>
            <a:r>
              <a:rPr lang="zh-CN" altLang="en-US" b="1" dirty="0"/>
              <a:t>数据属性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BC741E-B070-446E-8896-839427E6C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29" y="942938"/>
            <a:ext cx="8883941" cy="1905283"/>
          </a:xfrm>
        </p:spPr>
        <p:txBody>
          <a:bodyPr/>
          <a:lstStyle/>
          <a:p>
            <a:r>
              <a:rPr lang="zh-CN" altLang="en-US" dirty="0"/>
              <a:t>例：钻石属性数据集样例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745FEE-EF29-4F2A-B9BF-C7B337834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C22C91-7A96-4425-B8E1-73DE2B673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99" y="1605781"/>
            <a:ext cx="8217564" cy="384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65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FE82D-BF75-47A6-9434-52809193A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2.2 </a:t>
            </a:r>
            <a:r>
              <a:rPr lang="zh-CN" altLang="en-US" b="1" dirty="0"/>
              <a:t>数据属性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93A77C-B727-4AB1-9B58-E987335BD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FC7C1F-BC3E-48FF-B17C-D728AB9E13E7}"/>
              </a:ext>
            </a:extLst>
          </p:cNvPr>
          <p:cNvSpPr txBox="1"/>
          <p:nvPr/>
        </p:nvSpPr>
        <p:spPr>
          <a:xfrm>
            <a:off x="287108" y="1179069"/>
            <a:ext cx="8116253" cy="85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553" algn="just">
              <a:lnSpc>
                <a:spcPct val="125000"/>
              </a:lnSpc>
            </a:pPr>
            <a:r>
              <a:rPr lang="zh-CN" altLang="en-US" sz="21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标称属性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Nominal attribute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1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是由离散的符号或名称表示的属性，代表不同的类别、状态或编码</a:t>
            </a:r>
            <a:r>
              <a:rPr lang="zh-CN" altLang="zh-CN" sz="21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21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D3813A-B464-4A56-BD91-DD09BD596944}"/>
              </a:ext>
            </a:extLst>
          </p:cNvPr>
          <p:cNvSpPr txBox="1"/>
          <p:nvPr/>
        </p:nvSpPr>
        <p:spPr>
          <a:xfrm>
            <a:off x="396509" y="2076029"/>
            <a:ext cx="4089227" cy="10994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/>
              <a:t>标称属性的取值是枚举型的，即它们是一个预定义集合中的元素，而不是连续或可度量的数值。</a:t>
            </a:r>
            <a:endParaRPr lang="zh-CN" altLang="zh-CN" sz="1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78DCA00-8682-4522-A099-33AB5E3E198B}"/>
              </a:ext>
            </a:extLst>
          </p:cNvPr>
          <p:cNvSpPr txBox="1"/>
          <p:nvPr/>
        </p:nvSpPr>
        <p:spPr>
          <a:xfrm>
            <a:off x="287108" y="3583072"/>
            <a:ext cx="8116253" cy="85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553" algn="just">
              <a:lnSpc>
                <a:spcPct val="125000"/>
              </a:lnSpc>
            </a:pPr>
            <a:r>
              <a:rPr lang="zh-CN" altLang="en-US" sz="21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二元属性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Binary attribute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1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是只有两种可能取值的属性，是标称属性的特例。</a:t>
            </a:r>
            <a:endParaRPr lang="zh-CN" altLang="zh-CN" sz="21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3EE8727-DBA5-4160-AA74-3EEF582E60E7}"/>
              </a:ext>
            </a:extLst>
          </p:cNvPr>
          <p:cNvSpPr txBox="1"/>
          <p:nvPr/>
        </p:nvSpPr>
        <p:spPr>
          <a:xfrm>
            <a:off x="353377" y="4442153"/>
            <a:ext cx="8116253" cy="10994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/>
              <a:t>在统计学和数据分析中，二元属性常常用来表示两种互斥的状态或类别，比如是</a:t>
            </a:r>
            <a:r>
              <a:rPr lang="en-US" altLang="zh-CN" sz="1800" dirty="0"/>
              <a:t>/</a:t>
            </a:r>
            <a:r>
              <a:rPr lang="zh-CN" altLang="en-US" sz="1800" dirty="0"/>
              <a:t>否、成功</a:t>
            </a:r>
            <a:r>
              <a:rPr lang="en-US" altLang="zh-CN" sz="1800" dirty="0"/>
              <a:t>/</a:t>
            </a:r>
            <a:r>
              <a:rPr lang="zh-CN" altLang="en-US" sz="1800" dirty="0"/>
              <a:t>失败、有</a:t>
            </a:r>
            <a:r>
              <a:rPr lang="en-US" altLang="zh-CN" sz="1800" dirty="0"/>
              <a:t>/</a:t>
            </a:r>
            <a:r>
              <a:rPr lang="zh-CN" altLang="en-US" sz="1800" dirty="0"/>
              <a:t>无等。二元属性可进一步分为对称的二元属性和不对称的二元属性。如果属性的两种状态结果同等重要，则为对称的二元属性。</a:t>
            </a:r>
            <a:endParaRPr lang="zh-CN" altLang="zh-CN" sz="1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40E05C-6892-4AA9-9EBA-5CF176FA5F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11" t="925" r="56718" b="65615"/>
          <a:stretch/>
        </p:blipFill>
        <p:spPr>
          <a:xfrm>
            <a:off x="4908430" y="2038150"/>
            <a:ext cx="2553419" cy="128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51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5FE4B-E082-43F7-A602-DF11C4D6A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2.2 </a:t>
            </a:r>
            <a:r>
              <a:rPr lang="zh-CN" altLang="en-US" b="1" dirty="0"/>
              <a:t>数据属性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881C69-0A58-4BD9-8983-DDF51723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7CFC08-FC84-4969-8557-9C167C8D6B0B}"/>
              </a:ext>
            </a:extLst>
          </p:cNvPr>
          <p:cNvSpPr txBox="1"/>
          <p:nvPr/>
        </p:nvSpPr>
        <p:spPr>
          <a:xfrm>
            <a:off x="513873" y="1498886"/>
            <a:ext cx="8116253" cy="85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553" algn="just">
              <a:lnSpc>
                <a:spcPct val="125000"/>
              </a:lnSpc>
            </a:pPr>
            <a:r>
              <a:rPr lang="zh-CN" altLang="en-US" sz="21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序数属性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Ordinal attribute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1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是一种用来描述对象在一组事物中相对排列顺序的属性。</a:t>
            </a:r>
            <a:endParaRPr lang="zh-CN" altLang="zh-CN" sz="21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B322B3-9B06-400E-8FA5-8C1EC2D6543C}"/>
              </a:ext>
            </a:extLst>
          </p:cNvPr>
          <p:cNvSpPr txBox="1"/>
          <p:nvPr/>
        </p:nvSpPr>
        <p:spPr>
          <a:xfrm>
            <a:off x="396511" y="2414451"/>
            <a:ext cx="8116253" cy="10994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/>
              <a:t>序数属性的取值存在有意义的秩，可以进行大小和顺序的比较，但不能进行加减乘除等数学计算。该属性取值的大小能够表示数据对象的等级、方位、大小等顺序关系。</a:t>
            </a:r>
            <a:endParaRPr lang="zh-CN" altLang="zh-CN" sz="1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5E611DE-2D18-42B4-97C1-B08A6E966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11" y="3738172"/>
            <a:ext cx="8499662" cy="192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8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F638EA-0660-45A1-9EFA-8DEC07641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2.2 </a:t>
            </a:r>
            <a:r>
              <a:rPr lang="zh-CN" altLang="en-US" b="1" dirty="0"/>
              <a:t>数据属性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78ECD3-F6DD-4F89-9164-D2291D201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0DD013-AD86-456B-BCA2-EE503528514A}"/>
              </a:ext>
            </a:extLst>
          </p:cNvPr>
          <p:cNvSpPr txBox="1"/>
          <p:nvPr/>
        </p:nvSpPr>
        <p:spPr>
          <a:xfrm>
            <a:off x="513873" y="1289812"/>
            <a:ext cx="8116253" cy="85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553" algn="just">
              <a:lnSpc>
                <a:spcPct val="125000"/>
              </a:lnSpc>
            </a:pPr>
            <a:r>
              <a:rPr lang="zh-CN" altLang="en-US" sz="21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数值属性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Numeric attribute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1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用于表示具有数值含义的属性，其取值是一个数字。</a:t>
            </a:r>
            <a:endParaRPr lang="zh-CN" altLang="zh-CN" sz="21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EC90B6-02A3-4A57-A887-3FEE0C4709A5}"/>
              </a:ext>
            </a:extLst>
          </p:cNvPr>
          <p:cNvSpPr txBox="1"/>
          <p:nvPr/>
        </p:nvSpPr>
        <p:spPr>
          <a:xfrm>
            <a:off x="513873" y="2093913"/>
            <a:ext cx="8116253" cy="75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/>
              <a:t>数值属性是可度量的量，既可以进行大小比较，也可以进行数学计算。</a:t>
            </a:r>
            <a:endParaRPr lang="en-US" altLang="zh-CN" sz="1800" dirty="0"/>
          </a:p>
          <a:p>
            <a:r>
              <a:rPr lang="zh-CN" altLang="en-US" sz="1800" dirty="0"/>
              <a:t>例如：克拉、价格等</a:t>
            </a:r>
            <a:endParaRPr lang="zh-CN" altLang="zh-CN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6363F0-9C81-4DC1-8E1E-BB299973DF08}"/>
              </a:ext>
            </a:extLst>
          </p:cNvPr>
          <p:cNvSpPr txBox="1"/>
          <p:nvPr/>
        </p:nvSpPr>
        <p:spPr>
          <a:xfrm>
            <a:off x="413385" y="3116121"/>
            <a:ext cx="8116253" cy="85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553" algn="just">
              <a:lnSpc>
                <a:spcPct val="125000"/>
              </a:lnSpc>
            </a:pPr>
            <a:r>
              <a:rPr lang="zh-CN" altLang="en-US" sz="21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比率标度属性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Ratio-scaled attribute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1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是存在绝对零点的数值属性。</a:t>
            </a:r>
            <a:endParaRPr lang="zh-CN" altLang="zh-CN" sz="21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9CA2A4-CB63-46E2-8B32-248C062420CD}"/>
              </a:ext>
            </a:extLst>
          </p:cNvPr>
          <p:cNvSpPr txBox="1"/>
          <p:nvPr/>
        </p:nvSpPr>
        <p:spPr>
          <a:xfrm>
            <a:off x="445149" y="3952118"/>
            <a:ext cx="8116253" cy="144571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/>
              <a:t>在比率标度属性中，属性的取值可进行比例运算，如果某物体的长度是</a:t>
            </a:r>
            <a:r>
              <a:rPr lang="en-US" altLang="zh-CN" sz="1800" dirty="0"/>
              <a:t>20cm</a:t>
            </a:r>
            <a:r>
              <a:rPr lang="zh-CN" altLang="en-US" sz="1800" dirty="0"/>
              <a:t>，宽度是</a:t>
            </a:r>
            <a:r>
              <a:rPr lang="en-US" altLang="zh-CN" sz="1800" dirty="0"/>
              <a:t>10cm</a:t>
            </a:r>
            <a:r>
              <a:rPr lang="zh-CN" altLang="en-US" sz="1800" dirty="0"/>
              <a:t>，则可认为该物体的长度是宽度的两倍。此外，比率标度属性的不同数值之间具有相等的间隔，例如，在速度属性中，</a:t>
            </a:r>
            <a:r>
              <a:rPr lang="en-US" altLang="zh-CN" sz="1800" dirty="0"/>
              <a:t>1m/s</a:t>
            </a:r>
            <a:r>
              <a:rPr lang="zh-CN" altLang="en-US" sz="1800" dirty="0"/>
              <a:t>和</a:t>
            </a:r>
            <a:r>
              <a:rPr lang="en-US" altLang="zh-CN" sz="1800" dirty="0"/>
              <a:t>2m/s</a:t>
            </a:r>
            <a:r>
              <a:rPr lang="zh-CN" altLang="en-US" sz="1800" dirty="0"/>
              <a:t>的差距与</a:t>
            </a:r>
            <a:r>
              <a:rPr lang="en-US" altLang="zh-CN" sz="1800" dirty="0"/>
              <a:t>100m/s</a:t>
            </a:r>
            <a:r>
              <a:rPr lang="zh-CN" altLang="en-US" sz="1800" dirty="0"/>
              <a:t>和</a:t>
            </a:r>
            <a:r>
              <a:rPr lang="en-US" altLang="zh-CN" sz="1800" dirty="0"/>
              <a:t>101m/s</a:t>
            </a:r>
            <a:r>
              <a:rPr lang="zh-CN" altLang="en-US" sz="1800" dirty="0"/>
              <a:t>的差距是相等的。</a:t>
            </a:r>
            <a:endParaRPr lang="zh-CN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424798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E0927-2686-4544-A948-DADC31084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2.2 </a:t>
            </a:r>
            <a:r>
              <a:rPr lang="zh-CN" altLang="en-US" b="1" dirty="0"/>
              <a:t>数据属性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8C582A-2557-4FFE-A03C-2A7C2011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88716B3-0D16-4976-B545-F4F0AE5C6940}"/>
              </a:ext>
            </a:extLst>
          </p:cNvPr>
          <p:cNvSpPr txBox="1"/>
          <p:nvPr/>
        </p:nvSpPr>
        <p:spPr>
          <a:xfrm>
            <a:off x="413385" y="1778313"/>
            <a:ext cx="8116253" cy="85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553" algn="just">
              <a:lnSpc>
                <a:spcPct val="125000"/>
              </a:lnSpc>
            </a:pPr>
            <a:r>
              <a:rPr lang="zh-CN" altLang="en-US" sz="21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区间标度属性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Interval-scaled attribute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1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是不存在绝对零点的数值属性。</a:t>
            </a:r>
            <a:endParaRPr lang="zh-CN" altLang="zh-CN" sz="21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E3F279-968E-470E-9972-2310E94C1B27}"/>
              </a:ext>
            </a:extLst>
          </p:cNvPr>
          <p:cNvSpPr txBox="1"/>
          <p:nvPr/>
        </p:nvSpPr>
        <p:spPr>
          <a:xfrm>
            <a:off x="445149" y="2682891"/>
            <a:ext cx="8116253" cy="17919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/>
              <a:t>区间标度属性没有固有零点，例如摄氏温度（℃），</a:t>
            </a:r>
            <a:r>
              <a:rPr lang="en-US" altLang="zh-CN" sz="1800" dirty="0"/>
              <a:t>0℃</a:t>
            </a:r>
            <a:r>
              <a:rPr lang="zh-CN" altLang="en-US" sz="1800" dirty="0"/>
              <a:t>并不表示完全没有温度，而是表示冰点。区间标度属性只能进行大小比较，不能进行比率比较。例如</a:t>
            </a:r>
            <a:r>
              <a:rPr lang="en-US" altLang="zh-CN" sz="1800" dirty="0"/>
              <a:t>30℃</a:t>
            </a:r>
            <a:r>
              <a:rPr lang="zh-CN" altLang="en-US" sz="1800" dirty="0"/>
              <a:t>和</a:t>
            </a:r>
            <a:r>
              <a:rPr lang="en-US" altLang="zh-CN" sz="1800" dirty="0"/>
              <a:t>20℃</a:t>
            </a:r>
            <a:r>
              <a:rPr lang="zh-CN" altLang="en-US" sz="1800" dirty="0"/>
              <a:t>的温差是</a:t>
            </a:r>
            <a:r>
              <a:rPr lang="en-US" altLang="zh-CN" sz="1800" dirty="0"/>
              <a:t>10</a:t>
            </a:r>
            <a:r>
              <a:rPr lang="zh-CN" altLang="en-US" sz="1800" dirty="0"/>
              <a:t>，可以认为前者比后者温度高，但不能认为前者是后者的</a:t>
            </a:r>
            <a:r>
              <a:rPr lang="en-US" altLang="zh-CN" sz="1800" dirty="0"/>
              <a:t>1.5</a:t>
            </a:r>
            <a:r>
              <a:rPr lang="zh-CN" altLang="en-US" sz="1800" dirty="0"/>
              <a:t>倍热。同样的，华氏温度（℉）也是区间标度属性，但开尔文温度（</a:t>
            </a:r>
            <a:r>
              <a:rPr lang="en-US" altLang="zh-CN" sz="1800" dirty="0"/>
              <a:t>K</a:t>
            </a:r>
            <a:r>
              <a:rPr lang="zh-CN" altLang="en-US" sz="1800" dirty="0"/>
              <a:t>）是比率标度属性。区间标度属性的例子还包括日期、经纬度、成绩评分等。</a:t>
            </a:r>
            <a:endParaRPr lang="zh-CN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854599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F3986-3D2D-49C4-A8FC-CC7EF9B2D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2.2 </a:t>
            </a:r>
            <a:r>
              <a:rPr lang="zh-CN" altLang="en-US" b="1" dirty="0"/>
              <a:t>数据属性</a:t>
            </a:r>
            <a:r>
              <a:rPr lang="en-US" altLang="zh-CN" b="1" dirty="0"/>
              <a:t>-</a:t>
            </a:r>
            <a:r>
              <a:rPr lang="zh-CN" altLang="en-US" b="1" dirty="0"/>
              <a:t>小结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F17231-ED4F-4BDA-9A89-DD65887B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85E676-98C4-4651-89DE-955BB21D8F4B}"/>
              </a:ext>
            </a:extLst>
          </p:cNvPr>
          <p:cNvSpPr txBox="1"/>
          <p:nvPr/>
        </p:nvSpPr>
        <p:spPr>
          <a:xfrm>
            <a:off x="413385" y="1398935"/>
            <a:ext cx="8116253" cy="85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553" algn="just">
              <a:lnSpc>
                <a:spcPct val="125000"/>
              </a:lnSpc>
            </a:pPr>
            <a:r>
              <a:rPr lang="zh-CN" altLang="en-US" sz="21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离散属性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Categorical attribute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1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是指数据取值个数有限的属性，可定性地将每个观察单位分配给特定类别。</a:t>
            </a:r>
            <a:endParaRPr lang="zh-CN" altLang="zh-CN" sz="21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AA7C87-96DD-4A44-8D42-5B8BC6F83757}"/>
              </a:ext>
            </a:extLst>
          </p:cNvPr>
          <p:cNvSpPr txBox="1"/>
          <p:nvPr/>
        </p:nvSpPr>
        <p:spPr>
          <a:xfrm>
            <a:off x="413385" y="2313335"/>
            <a:ext cx="8116253" cy="85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553" algn="just">
              <a:lnSpc>
                <a:spcPct val="125000"/>
              </a:lnSpc>
            </a:pPr>
            <a:r>
              <a:rPr lang="zh-CN" altLang="en-US" sz="21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连续属性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Continuous attribute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1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是具有无限个可能取值的属性，这些取值通常表示一定范围内的测量结果或数量，可无限细分。</a:t>
            </a:r>
            <a:endParaRPr lang="zh-CN" altLang="zh-CN" sz="21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658F153-B33D-4596-8DFF-198F6B483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93" y="3424875"/>
            <a:ext cx="7398191" cy="302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20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数据统计分析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3312088" y="2168920"/>
            <a:ext cx="2052000" cy="540000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3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集中量数</a:t>
            </a:r>
            <a:endParaRPr lang="zh-CN" altLang="en-US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圆角矩形 6"/>
          <p:cNvSpPr/>
          <p:nvPr/>
        </p:nvSpPr>
        <p:spPr>
          <a:xfrm>
            <a:off x="6012416" y="1124745"/>
            <a:ext cx="2304000" cy="4027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11430" tIns="11430" rIns="11430" bIns="11430" numCol="1" spcCol="1270" anchor="ctr" anchorCtr="0">
            <a:noAutofit/>
          </a:bodyPr>
          <a:lstStyle/>
          <a:p>
            <a:pPr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频率</a:t>
            </a:r>
            <a:r>
              <a:rPr 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(frequency)</a:t>
            </a:r>
            <a:endParaRPr lang="zh-CN" altLang="en-US" dirty="0">
              <a:solidFill>
                <a:schemeClr val="tx1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8" name="圆角矩形 8"/>
          <p:cNvSpPr/>
          <p:nvPr/>
        </p:nvSpPr>
        <p:spPr>
          <a:xfrm>
            <a:off x="6012416" y="1651985"/>
            <a:ext cx="2304000" cy="4027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11430" tIns="11430" rIns="11430" bIns="11430" numCol="1" spcCol="1270" anchor="ctr" anchorCtr="0">
            <a:noAutofit/>
          </a:bodyPr>
          <a:lstStyle/>
          <a:p>
            <a:pPr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均值</a:t>
            </a:r>
            <a:r>
              <a:rPr 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(mean</a:t>
            </a:r>
            <a:r>
              <a:rPr lang="zh-CN" alt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）</a:t>
            </a:r>
          </a:p>
        </p:txBody>
      </p:sp>
      <p:sp>
        <p:nvSpPr>
          <p:cNvPr id="26" name="圆角矩形 10"/>
          <p:cNvSpPr/>
          <p:nvPr/>
        </p:nvSpPr>
        <p:spPr>
          <a:xfrm>
            <a:off x="6012416" y="2176593"/>
            <a:ext cx="2304000" cy="4027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11430" tIns="11430" rIns="11430" bIns="11430" numCol="1" spcCol="1270" anchor="ctr" anchorCtr="0">
            <a:noAutofit/>
          </a:bodyPr>
          <a:lstStyle/>
          <a:p>
            <a:pPr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中位数</a:t>
            </a:r>
            <a:r>
              <a:rPr 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(Median)</a:t>
            </a:r>
            <a:endParaRPr lang="zh-CN" altLang="en-US" dirty="0">
              <a:solidFill>
                <a:schemeClr val="tx1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4" name="圆角矩形 12"/>
          <p:cNvSpPr/>
          <p:nvPr/>
        </p:nvSpPr>
        <p:spPr>
          <a:xfrm>
            <a:off x="6012416" y="2701201"/>
            <a:ext cx="2304000" cy="4027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11430" tIns="11430" rIns="11430" bIns="11430" numCol="1" spcCol="1270" anchor="ctr" anchorCtr="0">
            <a:noAutofit/>
          </a:bodyPr>
          <a:lstStyle/>
          <a:p>
            <a:pPr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众数</a:t>
            </a:r>
            <a:r>
              <a:rPr lang="en-US" alt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(mode)</a:t>
            </a:r>
            <a:endParaRPr lang="zh-CN" altLang="en-US" dirty="0">
              <a:solidFill>
                <a:schemeClr val="tx1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2" name="圆角矩形 14"/>
          <p:cNvSpPr/>
          <p:nvPr/>
        </p:nvSpPr>
        <p:spPr>
          <a:xfrm>
            <a:off x="6012416" y="3225809"/>
            <a:ext cx="2304000" cy="4027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11430" tIns="11430" rIns="11430" bIns="11430" numCol="1" spcCol="1270" anchor="ctr" anchorCtr="0">
            <a:noAutofit/>
          </a:bodyPr>
          <a:lstStyle/>
          <a:p>
            <a:pPr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百分位数</a:t>
            </a:r>
            <a:r>
              <a:rPr 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(Percentile)</a:t>
            </a:r>
            <a:endParaRPr lang="zh-CN" altLang="en-US" dirty="0">
              <a:solidFill>
                <a:schemeClr val="tx1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312088" y="3609080"/>
            <a:ext cx="2052000" cy="540000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3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lvl="0"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差异量数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3312088" y="5049240"/>
            <a:ext cx="2052000" cy="540000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3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lvl="0"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相关性量数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179800" y="3537080"/>
            <a:ext cx="2592000" cy="612000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ctr">
              <a:spcBef>
                <a:spcPts val="600"/>
              </a:spcBef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数据统计分析</a:t>
            </a:r>
          </a:p>
          <a:p>
            <a:pPr algn="ctr">
              <a:spcBef>
                <a:spcPts val="600"/>
              </a:spcBef>
            </a:pPr>
            <a:endParaRPr lang="zh-CN" altLang="en-US" sz="2800" dirty="0"/>
          </a:p>
        </p:txBody>
      </p:sp>
      <p:sp>
        <p:nvSpPr>
          <p:cNvPr id="36" name="左大括号 35"/>
          <p:cNvSpPr/>
          <p:nvPr/>
        </p:nvSpPr>
        <p:spPr>
          <a:xfrm>
            <a:off x="2843808" y="2204864"/>
            <a:ext cx="288000" cy="3348000"/>
          </a:xfrm>
          <a:prstGeom prst="leftBrace">
            <a:avLst>
              <a:gd name="adj1" fmla="val 59869"/>
              <a:gd name="adj2" fmla="val 50260"/>
            </a:avLst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左大括号 36"/>
          <p:cNvSpPr/>
          <p:nvPr/>
        </p:nvSpPr>
        <p:spPr>
          <a:xfrm>
            <a:off x="5580112" y="1144593"/>
            <a:ext cx="288000" cy="2484000"/>
          </a:xfrm>
          <a:prstGeom prst="leftBrace">
            <a:avLst>
              <a:gd name="adj1" fmla="val 59869"/>
              <a:gd name="adj2" fmla="val 50260"/>
            </a:avLst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586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数据统计分析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3312088" y="2168920"/>
            <a:ext cx="2052000" cy="540000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3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集中量数</a:t>
            </a:r>
            <a:endParaRPr lang="zh-CN" altLang="en-US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圆角矩形 6"/>
          <p:cNvSpPr/>
          <p:nvPr/>
        </p:nvSpPr>
        <p:spPr>
          <a:xfrm>
            <a:off x="6012416" y="2348881"/>
            <a:ext cx="2448000" cy="4027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11430" tIns="11430" rIns="11430" bIns="11430" numCol="1" spcCol="1270" anchor="ctr" anchorCtr="0">
            <a:noAutofit/>
          </a:bodyPr>
          <a:lstStyle/>
          <a:p>
            <a:pPr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极差</a:t>
            </a:r>
            <a:r>
              <a:rPr lang="en-US" altLang="zh-CN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/</a:t>
            </a:r>
            <a:r>
              <a:rPr lang="zh-CN" alt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全距</a:t>
            </a:r>
            <a:r>
              <a:rPr lang="en-US" altLang="zh-CN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(Range)</a:t>
            </a:r>
          </a:p>
        </p:txBody>
      </p:sp>
      <p:sp>
        <p:nvSpPr>
          <p:cNvPr id="28" name="圆角矩形 8"/>
          <p:cNvSpPr/>
          <p:nvPr/>
        </p:nvSpPr>
        <p:spPr>
          <a:xfrm>
            <a:off x="6012416" y="2876121"/>
            <a:ext cx="2448000" cy="4027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11430" tIns="11430" rIns="11430" bIns="11430" numCol="1" spcCol="1270" anchor="ctr" anchorCtr="0">
            <a:noAutofit/>
          </a:bodyPr>
          <a:lstStyle/>
          <a:p>
            <a:pPr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标准差</a:t>
            </a:r>
            <a:r>
              <a:rPr lang="en-US" altLang="zh-CN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(Std. Deviation)</a:t>
            </a:r>
          </a:p>
        </p:txBody>
      </p:sp>
      <p:sp>
        <p:nvSpPr>
          <p:cNvPr id="26" name="圆角矩形 10"/>
          <p:cNvSpPr/>
          <p:nvPr/>
        </p:nvSpPr>
        <p:spPr>
          <a:xfrm>
            <a:off x="6012416" y="3400729"/>
            <a:ext cx="2448000" cy="4027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11430" tIns="11430" rIns="11430" bIns="11430" numCol="1" spcCol="1270" anchor="ctr" anchorCtr="0">
            <a:noAutofit/>
          </a:bodyPr>
          <a:lstStyle/>
          <a:p>
            <a:pPr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方差</a:t>
            </a:r>
            <a:r>
              <a:rPr lang="en-US" altLang="zh-CN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(Variance)</a:t>
            </a:r>
          </a:p>
        </p:txBody>
      </p:sp>
      <p:sp>
        <p:nvSpPr>
          <p:cNvPr id="24" name="圆角矩形 12"/>
          <p:cNvSpPr/>
          <p:nvPr/>
        </p:nvSpPr>
        <p:spPr>
          <a:xfrm>
            <a:off x="6012416" y="3925337"/>
            <a:ext cx="2448000" cy="4027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11430" tIns="11430" rIns="11430" bIns="11430" numCol="1" spcCol="1270" anchor="ctr" anchorCtr="0">
            <a:noAutofit/>
          </a:bodyPr>
          <a:lstStyle/>
          <a:p>
            <a:pPr lvl="0"/>
            <a:r>
              <a:rPr lang="zh-CN" altLang="zh-CN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平均绝对误差</a:t>
            </a:r>
            <a:r>
              <a:rPr lang="en-US" altLang="zh-CN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(MAE)</a:t>
            </a:r>
            <a:endParaRPr lang="zh-CN" altLang="en-US" dirty="0">
              <a:solidFill>
                <a:schemeClr val="tx1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2" name="圆角矩形 14"/>
          <p:cNvSpPr/>
          <p:nvPr/>
        </p:nvSpPr>
        <p:spPr>
          <a:xfrm>
            <a:off x="6012416" y="4449945"/>
            <a:ext cx="2448000" cy="4027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11430" tIns="11430" rIns="11430" bIns="11430" numCol="1" spcCol="1270" anchor="ctr" anchorCtr="0">
            <a:noAutofit/>
          </a:bodyPr>
          <a:lstStyle/>
          <a:p>
            <a:pPr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中位数绝对偏差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3312088" y="3609080"/>
            <a:ext cx="2052000" cy="540000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3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lvl="0"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差异量数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3312088" y="5049240"/>
            <a:ext cx="2052000" cy="540000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3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lvl="0"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相关性量数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179800" y="3537080"/>
            <a:ext cx="2592000" cy="612000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ctr">
              <a:spcBef>
                <a:spcPts val="600"/>
              </a:spcBef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数据统计分析</a:t>
            </a:r>
          </a:p>
          <a:p>
            <a:pPr algn="ctr">
              <a:spcBef>
                <a:spcPts val="600"/>
              </a:spcBef>
            </a:pPr>
            <a:endParaRPr lang="zh-CN" altLang="en-US" sz="2800" dirty="0"/>
          </a:p>
        </p:txBody>
      </p:sp>
      <p:sp>
        <p:nvSpPr>
          <p:cNvPr id="36" name="左大括号 35"/>
          <p:cNvSpPr/>
          <p:nvPr/>
        </p:nvSpPr>
        <p:spPr>
          <a:xfrm>
            <a:off x="2843808" y="2204864"/>
            <a:ext cx="288000" cy="3348000"/>
          </a:xfrm>
          <a:prstGeom prst="leftBrace">
            <a:avLst>
              <a:gd name="adj1" fmla="val 59869"/>
              <a:gd name="adj2" fmla="val 50260"/>
            </a:avLst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左大括号 36"/>
          <p:cNvSpPr/>
          <p:nvPr/>
        </p:nvSpPr>
        <p:spPr>
          <a:xfrm>
            <a:off x="5580112" y="2368729"/>
            <a:ext cx="288000" cy="2916000"/>
          </a:xfrm>
          <a:prstGeom prst="leftBrace">
            <a:avLst>
              <a:gd name="adj1" fmla="val 59869"/>
              <a:gd name="adj2" fmla="val 50260"/>
            </a:avLst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4"/>
          <p:cNvSpPr/>
          <p:nvPr/>
        </p:nvSpPr>
        <p:spPr>
          <a:xfrm>
            <a:off x="6012160" y="4970432"/>
            <a:ext cx="2448000" cy="4027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11430" tIns="11430" rIns="11430" bIns="11430" numCol="1" spcCol="1270" anchor="ctr" anchorCtr="0">
            <a:noAutofit/>
          </a:bodyPr>
          <a:lstStyle/>
          <a:p>
            <a:pPr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四分位差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034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数据统计分析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3312088" y="2168920"/>
            <a:ext cx="2052000" cy="540000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3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集中量数</a:t>
            </a:r>
            <a:endParaRPr lang="zh-CN" altLang="en-US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圆角矩形 6"/>
          <p:cNvSpPr/>
          <p:nvPr/>
        </p:nvSpPr>
        <p:spPr>
          <a:xfrm>
            <a:off x="6012416" y="3867128"/>
            <a:ext cx="1440000" cy="4027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11430" tIns="11430" rIns="11430" bIns="11430" numCol="1" spcCol="1270" anchor="ctr" anchorCtr="0">
            <a:noAutofit/>
          </a:bodyPr>
          <a:lstStyle/>
          <a:p>
            <a:pPr lvl="0"/>
            <a:r>
              <a:rPr lang="zh-CN" altLang="zh-CN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协方差</a:t>
            </a:r>
          </a:p>
        </p:txBody>
      </p:sp>
      <p:sp>
        <p:nvSpPr>
          <p:cNvPr id="28" name="圆角矩形 8"/>
          <p:cNvSpPr/>
          <p:nvPr/>
        </p:nvSpPr>
        <p:spPr>
          <a:xfrm>
            <a:off x="6012416" y="4378861"/>
            <a:ext cx="1440000" cy="4027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11430" tIns="11430" rIns="11430" bIns="11430" numCol="1" spcCol="1270" anchor="ctr" anchorCtr="0">
            <a:noAutofit/>
          </a:bodyPr>
          <a:lstStyle/>
          <a:p>
            <a:pPr lvl="0"/>
            <a:r>
              <a:rPr lang="zh-CN" altLang="zh-CN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协方差</a:t>
            </a:r>
            <a:r>
              <a:rPr lang="zh-CN" alt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矩阵</a:t>
            </a:r>
            <a:endParaRPr lang="zh-CN" altLang="zh-CN" dirty="0">
              <a:solidFill>
                <a:schemeClr val="tx1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312088" y="3609080"/>
            <a:ext cx="2052000" cy="540000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3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lvl="0"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差异量数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3312088" y="5049240"/>
            <a:ext cx="2052000" cy="540000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3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lvl="0"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相关性量数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179800" y="3537080"/>
            <a:ext cx="2592000" cy="612000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ctr">
              <a:spcBef>
                <a:spcPts val="600"/>
              </a:spcBef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数据统计分析</a:t>
            </a:r>
          </a:p>
          <a:p>
            <a:pPr algn="ctr">
              <a:spcBef>
                <a:spcPts val="600"/>
              </a:spcBef>
            </a:pPr>
            <a:endParaRPr lang="zh-CN" altLang="en-US" sz="2800" dirty="0"/>
          </a:p>
        </p:txBody>
      </p:sp>
      <p:sp>
        <p:nvSpPr>
          <p:cNvPr id="36" name="左大括号 35"/>
          <p:cNvSpPr/>
          <p:nvPr/>
        </p:nvSpPr>
        <p:spPr>
          <a:xfrm>
            <a:off x="2843808" y="2204864"/>
            <a:ext cx="288000" cy="3348000"/>
          </a:xfrm>
          <a:prstGeom prst="leftBrace">
            <a:avLst>
              <a:gd name="adj1" fmla="val 59869"/>
              <a:gd name="adj2" fmla="val 50260"/>
            </a:avLst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左大括号 36"/>
          <p:cNvSpPr/>
          <p:nvPr/>
        </p:nvSpPr>
        <p:spPr>
          <a:xfrm>
            <a:off x="5580112" y="3861200"/>
            <a:ext cx="288000" cy="1944000"/>
          </a:xfrm>
          <a:prstGeom prst="leftBrace">
            <a:avLst>
              <a:gd name="adj1" fmla="val 29470"/>
              <a:gd name="adj2" fmla="val 69950"/>
            </a:avLst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6"/>
          <p:cNvSpPr/>
          <p:nvPr/>
        </p:nvSpPr>
        <p:spPr>
          <a:xfrm>
            <a:off x="6012416" y="4890594"/>
            <a:ext cx="1440000" cy="4027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11430" tIns="11430" rIns="11430" bIns="11430" numCol="1" spcCol="1270" anchor="ctr" anchorCtr="0">
            <a:noAutofit/>
          </a:bodyPr>
          <a:lstStyle/>
          <a:p>
            <a:pPr lvl="0"/>
            <a:r>
              <a:rPr lang="zh-CN" alt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相关系数</a:t>
            </a:r>
          </a:p>
        </p:txBody>
      </p:sp>
      <p:sp>
        <p:nvSpPr>
          <p:cNvPr id="20" name="圆角矩形 8"/>
          <p:cNvSpPr/>
          <p:nvPr/>
        </p:nvSpPr>
        <p:spPr>
          <a:xfrm>
            <a:off x="6012416" y="5402328"/>
            <a:ext cx="1440000" cy="4027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11430" tIns="11430" rIns="11430" bIns="11430" numCol="1" spcCol="1270" anchor="ctr" anchorCtr="0">
            <a:noAutofit/>
          </a:bodyPr>
          <a:lstStyle/>
          <a:p>
            <a:pPr lvl="0"/>
            <a:r>
              <a:rPr lang="zh-CN" alt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相关矩阵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902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频率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给定一个在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</a:t>
                </a:r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</a:t>
                </a:r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上取值的属性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zh-CN" altLang="zh-CN" dirty="0">
                    <a:cs typeface="Times New Roman" panose="02020603050405020304" pitchFamily="18" charset="0"/>
                  </a:rPr>
                  <a:t>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</a:t>
                </a:r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个对象的集合，值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的频率定义为：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2296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  <m:t>𝑓𝑟𝑒𝑞𝑢𝑒𝑛𝑐𝑦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i="1" smtClean="0">
                          <a:latin typeface="Cambria Math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altLang="zh-CN" i="1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i="1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altLang="zh-CN" sz="3600" dirty="0">
                  <a:cs typeface="Times New Roman" panose="02020603050405020304" pitchFamily="18" charset="0"/>
                </a:endParaRPr>
              </a:p>
              <a:p>
                <a:r>
                  <a:rPr lang="zh-CN" altLang="zh-CN" dirty="0">
                    <a:cs typeface="Times New Roman" panose="02020603050405020304" pitchFamily="18" charset="0"/>
                  </a:rPr>
                  <a:t>数据的</a:t>
                </a:r>
                <a:r>
                  <a:rPr lang="zh-CN" altLang="zh-CN" dirty="0">
                    <a:solidFill>
                      <a:srgbClr val="C00000"/>
                    </a:solidFill>
                    <a:latin typeface="楷体" pitchFamily="49" charset="-122"/>
                    <a:ea typeface="楷体" pitchFamily="49" charset="-122"/>
                  </a:rPr>
                  <a:t>离散统计属性</a:t>
                </a:r>
                <a:endParaRPr lang="en-US" altLang="zh-CN" dirty="0">
                  <a:solidFill>
                    <a:srgbClr val="C00000"/>
                  </a:solidFill>
                  <a:latin typeface="楷体" pitchFamily="49" charset="-122"/>
                  <a:ea typeface="楷体" pitchFamily="49" charset="-122"/>
                </a:endParaRPr>
              </a:p>
              <a:p>
                <a:endParaRPr lang="zh-CN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dirty="0">
              <a:ea typeface="华文细黑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842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频率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cs typeface="Times New Roman" panose="02020603050405020304" pitchFamily="18" charset="0"/>
              </a:rPr>
              <a:t>】</a:t>
            </a:r>
            <a:r>
              <a:rPr lang="zh-CN" altLang="en-US" dirty="0">
                <a:cs typeface="Times New Roman" panose="02020603050405020304" pitchFamily="18" charset="0"/>
              </a:rPr>
              <a:t>比赛成绩数据</a:t>
            </a:r>
            <a:endParaRPr lang="en-US" altLang="zh-CN" dirty="0">
              <a:cs typeface="Times New Roman" panose="02020603050405020304" pitchFamily="18" charset="0"/>
            </a:endParaRPr>
          </a:p>
          <a:p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705" y="1484784"/>
            <a:ext cx="5591175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323528" y="3105835"/>
            <a:ext cx="5112568" cy="939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数据个数为</a:t>
            </a: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50</a:t>
            </a:r>
            <a:r>
              <a:rPr lang="zh-CN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，其中出现的分值为</a:t>
            </a: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{50</a:t>
            </a:r>
            <a:r>
              <a:rPr lang="zh-CN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55</a:t>
            </a:r>
            <a:r>
              <a:rPr lang="zh-CN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60</a:t>
            </a:r>
            <a:r>
              <a:rPr lang="zh-CN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70</a:t>
            </a:r>
            <a:r>
              <a:rPr lang="zh-CN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75</a:t>
            </a:r>
            <a:r>
              <a:rPr lang="zh-CN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80</a:t>
            </a:r>
            <a:r>
              <a:rPr lang="zh-CN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85}</a:t>
            </a:r>
            <a:endParaRPr lang="zh-CN" altLang="en-US" sz="24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44362" y="4221088"/>
          <a:ext cx="5091733" cy="144016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190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22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2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分值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50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55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60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70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75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80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85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出现次数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8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4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5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8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4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8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13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出现频率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0.16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0.08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0.10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0.16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0.08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0.16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0.26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出现频率</a:t>
                      </a: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%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16%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8%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10%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16%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8%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16%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26%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图表 6"/>
          <p:cNvGraphicFramePr/>
          <p:nvPr/>
        </p:nvGraphicFramePr>
        <p:xfrm>
          <a:off x="5436096" y="3933056"/>
          <a:ext cx="3600080" cy="18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矩形 3"/>
          <p:cNvSpPr/>
          <p:nvPr/>
        </p:nvSpPr>
        <p:spPr>
          <a:xfrm>
            <a:off x="395656" y="4624659"/>
            <a:ext cx="1080000" cy="288000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95656" y="4984699"/>
            <a:ext cx="1080000" cy="288000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95656" y="5337248"/>
            <a:ext cx="1080000" cy="288000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5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/>
      <p:bldGraphic spid="7" grpId="0">
        <p:bldAsOne/>
      </p:bldGraphic>
      <p:bldP spid="4" grpId="0" animBg="1"/>
      <p:bldP spid="4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均值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zh-CN" dirty="0"/>
                  <a:t>设观测值为</a:t>
                </a:r>
                <a:r>
                  <a:rPr lang="en-US" altLang="zh-CN" i="1" dirty="0">
                    <a:cs typeface="Times New Roman" pitchFamily="18" charset="0"/>
                  </a:rPr>
                  <a:t>x</a:t>
                </a:r>
                <a:r>
                  <a:rPr lang="en-US" altLang="zh-CN" i="1" baseline="-25000" dirty="0"/>
                  <a:t>1</a:t>
                </a:r>
                <a:r>
                  <a:rPr lang="zh-CN" altLang="zh-CN" dirty="0"/>
                  <a:t>，</a:t>
                </a:r>
                <a:r>
                  <a:rPr lang="en-US" altLang="zh-CN" i="1" dirty="0">
                    <a:cs typeface="Times New Roman" pitchFamily="18" charset="0"/>
                  </a:rPr>
                  <a:t>x</a:t>
                </a:r>
                <a:r>
                  <a:rPr lang="en-US" altLang="zh-CN" i="1" baseline="-25000" dirty="0"/>
                  <a:t>2</a:t>
                </a:r>
                <a:r>
                  <a:rPr lang="zh-CN" altLang="zh-CN" dirty="0"/>
                  <a:t>，</a:t>
                </a:r>
                <a:r>
                  <a:rPr lang="en-US" altLang="zh-CN" dirty="0"/>
                  <a:t>…</a:t>
                </a:r>
                <a:r>
                  <a:rPr lang="zh-CN" altLang="zh-CN" dirty="0"/>
                  <a:t>，</a:t>
                </a:r>
                <a:r>
                  <a:rPr lang="en-US" altLang="zh-CN" i="1" dirty="0" err="1">
                    <a:cs typeface="Times New Roman" pitchFamily="18" charset="0"/>
                  </a:rPr>
                  <a:t>x</a:t>
                </a:r>
                <a:r>
                  <a:rPr lang="en-US" altLang="zh-CN" i="1" baseline="-25000" dirty="0" err="1"/>
                  <a:t>m</a:t>
                </a:r>
                <a:r>
                  <a:rPr lang="zh-CN" altLang="zh-CN" dirty="0"/>
                  <a:t>，其算术平均值为：</a:t>
                </a:r>
                <a:endParaRPr lang="pt-BR" altLang="zh-CN" i="1" dirty="0">
                  <a:latin typeface="Cambria Math"/>
                </a:endParaRPr>
              </a:p>
              <a:p>
                <a:pPr marL="82296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pt-BR" altLang="zh-CN" sz="2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200" i="1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pt-BR" altLang="zh-CN" sz="2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altLang="zh-CN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i="1">
                              <a:latin typeface="Cambria Math"/>
                            </a:rPr>
                            <m:t>𝑖</m:t>
                          </m:r>
                          <m:r>
                            <a:rPr lang="en-US" altLang="zh-CN" sz="22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pt-BR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200" dirty="0"/>
              </a:p>
              <a:p>
                <a:r>
                  <a:rPr lang="zh-CN" altLang="en-US" dirty="0"/>
                  <a:t>加权算术平均：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每个值 </a:t>
                </a:r>
                <a:r>
                  <a:rPr lang="en-US" altLang="zh-CN" i="1" dirty="0">
                    <a:cs typeface="Times New Roman" pitchFamily="18" charset="0"/>
                  </a:rPr>
                  <a:t>x</a:t>
                </a:r>
                <a:r>
                  <a:rPr lang="en-US" altLang="zh-CN" i="1" baseline="-30000" dirty="0">
                    <a:cs typeface="Times New Roman" pitchFamily="18" charset="0"/>
                  </a:rPr>
                  <a:t>i </a:t>
                </a:r>
                <a:r>
                  <a:rPr lang="zh-CN" altLang="en-US" dirty="0">
                    <a:cs typeface="Times New Roman" pitchFamily="18" charset="0"/>
                  </a:rPr>
                  <a:t>与一个权 </a:t>
                </a:r>
                <a:r>
                  <a:rPr lang="en-US" altLang="zh-CN" i="1" dirty="0" err="1">
                    <a:cs typeface="Times New Roman" pitchFamily="18" charset="0"/>
                  </a:rPr>
                  <a:t>w</a:t>
                </a:r>
                <a:r>
                  <a:rPr lang="en-US" altLang="zh-CN" i="1" baseline="-30000" dirty="0" err="1">
                    <a:cs typeface="Times New Roman" pitchFamily="18" charset="0"/>
                  </a:rPr>
                  <a:t>i</a:t>
                </a:r>
                <a:r>
                  <a:rPr lang="en-US" altLang="zh-CN" i="1" baseline="-30000" dirty="0">
                    <a:cs typeface="Times New Roman" pitchFamily="18" charset="0"/>
                  </a:rPr>
                  <a:t> </a:t>
                </a:r>
                <a:r>
                  <a:rPr lang="zh-CN" altLang="en-US" dirty="0">
                    <a:cs typeface="Times New Roman" pitchFamily="18" charset="0"/>
                  </a:rPr>
                  <a:t>相关联，</a:t>
                </a:r>
                <a:r>
                  <a:rPr lang="en-US" altLang="zh-CN" i="1" dirty="0">
                    <a:cs typeface="Times New Roman" pitchFamily="18" charset="0"/>
                  </a:rPr>
                  <a:t>i = </a:t>
                </a:r>
                <a:r>
                  <a:rPr lang="en-US" altLang="zh-CN" dirty="0">
                    <a:cs typeface="Times New Roman" pitchFamily="18" charset="0"/>
                  </a:rPr>
                  <a:t>1</a:t>
                </a:r>
                <a:r>
                  <a:rPr lang="en-US" altLang="zh-CN" i="1" dirty="0">
                    <a:cs typeface="Times New Roman" pitchFamily="18" charset="0"/>
                  </a:rPr>
                  <a:t>, ..., m</a:t>
                </a:r>
                <a:r>
                  <a:rPr lang="en-US" altLang="zh-CN" dirty="0">
                    <a:cs typeface="Times New Roman" pitchFamily="18" charset="0"/>
                  </a:rPr>
                  <a:t>,</a:t>
                </a:r>
                <a:r>
                  <a:rPr lang="zh-CN" altLang="en-US" dirty="0">
                    <a:cs typeface="Times New Roman" pitchFamily="18" charset="0"/>
                  </a:rPr>
                  <a:t>即：</a:t>
                </a:r>
                <a:endParaRPr lang="en-US" altLang="zh-CN" dirty="0">
                  <a:cs typeface="Times New Roman" pitchFamily="18" charset="0"/>
                </a:endParaRPr>
              </a:p>
              <a:p>
                <a:pPr marL="40233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pt-BR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pt-BR" altLang="zh-CN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BR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pt-BR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dirty="0">
                  <a:cs typeface="Times New Roman" pitchFamily="18" charset="0"/>
                </a:endParaRPr>
              </a:p>
              <a:p>
                <a:pPr lvl="1"/>
                <a:r>
                  <a:rPr lang="zh-CN" altLang="en-US" sz="2400" dirty="0">
                    <a:latin typeface="Times New Roman" pitchFamily="18" charset="0"/>
                  </a:rPr>
                  <a:t>如果诸权重之和为</a:t>
                </a:r>
                <a:r>
                  <a:rPr lang="en-US" altLang="zh-CN" sz="2400" dirty="0">
                    <a:latin typeface="Times New Roman" pitchFamily="18" charset="0"/>
                  </a:rPr>
                  <a:t>1</a:t>
                </a:r>
                <a:r>
                  <a:rPr lang="zh-CN" altLang="en-US" sz="2400" dirty="0">
                    <a:latin typeface="Times New Roman" pitchFamily="18" charset="0"/>
                  </a:rPr>
                  <a:t>，则上式可以简化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b="-20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dirty="0">
              <a:ea typeface="华文细黑" pitchFamily="2" charset="-122"/>
            </a:endParaRPr>
          </a:p>
        </p:txBody>
      </p:sp>
      <p:sp>
        <p:nvSpPr>
          <p:cNvPr id="6" name="云形标注 5"/>
          <p:cNvSpPr/>
          <p:nvPr/>
        </p:nvSpPr>
        <p:spPr>
          <a:xfrm>
            <a:off x="5798517" y="1751163"/>
            <a:ext cx="2655369" cy="1613140"/>
          </a:xfrm>
          <a:prstGeom prst="cloudCallout">
            <a:avLst>
              <a:gd name="adj1" fmla="val -47291"/>
              <a:gd name="adj2" fmla="val -73328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zh-CN" altLang="en-US" sz="20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对数据所代表的范围的中心位置的度量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208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均值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zh-CN" altLang="en-US" dirty="0"/>
              <a:t>均值的问题</a:t>
            </a:r>
            <a:r>
              <a:rPr lang="en-US" altLang="zh-CN" dirty="0"/>
              <a:t>: </a:t>
            </a:r>
          </a:p>
          <a:p>
            <a:pPr lvl="1">
              <a:spcAft>
                <a:spcPts val="600"/>
              </a:spcAft>
            </a:pPr>
            <a:r>
              <a:rPr lang="zh-CN" altLang="en-US" dirty="0"/>
              <a:t>少量极端值可能严重影响均值 </a:t>
            </a:r>
          </a:p>
          <a:p>
            <a:pPr lvl="1">
              <a:spcAft>
                <a:spcPts val="600"/>
              </a:spcAft>
            </a:pPr>
            <a:r>
              <a:rPr lang="zh-CN" altLang="en-US" dirty="0"/>
              <a:t>解决方法</a:t>
            </a:r>
            <a:r>
              <a:rPr lang="en-US" altLang="zh-CN" dirty="0"/>
              <a:t>: </a:t>
            </a:r>
            <a:r>
              <a:rPr lang="zh-CN" altLang="en-US" dirty="0"/>
              <a:t>使用截断均值 </a:t>
            </a:r>
            <a:r>
              <a:rPr lang="en-US" altLang="zh-CN" dirty="0"/>
              <a:t>(trimmed mean)</a:t>
            </a:r>
          </a:p>
          <a:p>
            <a:pPr lvl="1">
              <a:spcAft>
                <a:spcPts val="600"/>
              </a:spcAft>
            </a:pPr>
            <a:r>
              <a:rPr lang="zh-CN" altLang="en-US" dirty="0"/>
              <a:t>截断均值是去掉高、低极端值得到的均值 </a:t>
            </a:r>
          </a:p>
        </p:txBody>
      </p:sp>
      <p:sp>
        <p:nvSpPr>
          <p:cNvPr id="4" name="矩形 3"/>
          <p:cNvSpPr/>
          <p:nvPr/>
        </p:nvSpPr>
        <p:spPr>
          <a:xfrm>
            <a:off x="4382262" y="719585"/>
            <a:ext cx="4635901" cy="137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公司的平均工资可能被少数高报酬的经理显著抬高 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班级的考试平均成绩可能因为少数几个非常低的成绩而降低相当多 </a:t>
            </a:r>
            <a:endParaRPr lang="zh-CN" altLang="en-US" sz="3200" b="1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604024" y="2943534"/>
            <a:ext cx="5271840" cy="712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例如</a:t>
            </a:r>
            <a:r>
              <a:rPr lang="en-US" altLang="zh-CN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, </a:t>
            </a:r>
            <a:r>
              <a:rPr lang="zh-CN" altLang="en-US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可以将工资的观测值排序</a:t>
            </a:r>
            <a:r>
              <a:rPr lang="en-US" altLang="zh-CN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, </a:t>
            </a:r>
            <a:r>
              <a:rPr lang="zh-CN" altLang="en-US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并在计算均值前去掉上下 </a:t>
            </a:r>
            <a:r>
              <a:rPr lang="en-US" altLang="zh-CN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2% </a:t>
            </a:r>
            <a:r>
              <a:rPr lang="zh-CN" altLang="en-US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的值</a:t>
            </a:r>
            <a:r>
              <a:rPr lang="en-US" altLang="zh-CN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, </a:t>
            </a:r>
            <a:r>
              <a:rPr lang="zh-CN" altLang="en-US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然后求均值</a:t>
            </a:r>
          </a:p>
        </p:txBody>
      </p:sp>
      <p:sp>
        <p:nvSpPr>
          <p:cNvPr id="6" name="矩形 5"/>
          <p:cNvSpPr/>
          <p:nvPr/>
        </p:nvSpPr>
        <p:spPr>
          <a:xfrm>
            <a:off x="3604024" y="3666145"/>
            <a:ext cx="5271840" cy="712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避免在两端截断的比例太大（如 </a:t>
            </a:r>
            <a:r>
              <a:rPr lang="en-US" altLang="zh-CN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20%</a:t>
            </a:r>
            <a:r>
              <a:rPr lang="zh-CN" altLang="en-US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）</a:t>
            </a:r>
            <a:r>
              <a:rPr lang="en-US" altLang="zh-CN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, </a:t>
            </a:r>
            <a:r>
              <a:rPr lang="zh-CN" altLang="en-US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因为这可能导致损失有价值的信息  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790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F241D5-F701-4264-8030-B10DF1BD0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均值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97C06B-B49C-44EC-8889-6FA3E644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7598F72-66F6-7554-08EF-7399D2C40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61" y="1636025"/>
            <a:ext cx="8576278" cy="406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771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11B03A-B47A-4542-AC81-DF13EDBE7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中位数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D6AE9B-3ECB-48C4-957F-EDC9E4ABC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3B7652-0B05-4307-AC66-0D3D5FE1EB73}"/>
              </a:ext>
            </a:extLst>
          </p:cNvPr>
          <p:cNvSpPr txBox="1"/>
          <p:nvPr/>
        </p:nvSpPr>
        <p:spPr>
          <a:xfrm>
            <a:off x="272141" y="999805"/>
            <a:ext cx="8599717" cy="45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553" algn="just">
              <a:lnSpc>
                <a:spcPct val="125000"/>
              </a:lnSpc>
            </a:pPr>
            <a:r>
              <a:rPr lang="zh-CN" altLang="en-US" sz="21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中位数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Median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1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是一组数据排序后处于</a:t>
            </a:r>
            <a:r>
              <a:rPr lang="en-US" altLang="zh-CN" sz="21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50%</a:t>
            </a:r>
            <a:r>
              <a:rPr lang="zh-CN" altLang="en-US" sz="21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位置上的变量值。</a:t>
            </a:r>
            <a:endParaRPr lang="zh-CN" altLang="zh-CN" sz="21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AE3F009-D466-48B3-985B-1CE7331CFB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335119"/>
              </p:ext>
            </p:extLst>
          </p:nvPr>
        </p:nvGraphicFramePr>
        <p:xfrm>
          <a:off x="2598738" y="1717675"/>
          <a:ext cx="4084637" cy="170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name="Equation" r:id="rId3" imgW="2256591" imgH="942807" progId="Equation.DSMT4">
                  <p:embed/>
                </p:oleObj>
              </mc:Choice>
              <mc:Fallback>
                <p:oleObj name="Equation" r:id="rId3" imgW="2256591" imgH="942807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D2CFF18-EE90-945D-2F85-B6362AC259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98738" y="1717675"/>
                        <a:ext cx="4084637" cy="170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52A5E685-26D7-4C96-A304-9BD6DAB74D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678" y="3791447"/>
            <a:ext cx="7712642" cy="147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782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F15588-4E9B-4EC0-B33B-F423A459C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中位数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D407A7-365A-451B-9AB3-C15E4C0FC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集中趋势度量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53C3DA-7BAA-45F2-A1E8-88CC1384D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108627-F3EA-4C1A-BAC9-E73881492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22" y="2047494"/>
            <a:ext cx="8409852" cy="291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767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众数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众数是指一组数据中</a:t>
            </a:r>
            <a:r>
              <a:rPr lang="zh-CN" altLang="en-US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出现次数最多</a:t>
            </a:r>
            <a:r>
              <a:rPr lang="zh-CN" altLang="en-US" dirty="0"/>
              <a:t>的那个数据。</a:t>
            </a:r>
            <a:endParaRPr lang="en-US" altLang="zh-CN" dirty="0"/>
          </a:p>
          <a:p>
            <a:r>
              <a:rPr lang="zh-CN" altLang="en-US" dirty="0"/>
              <a:t>从分布角度看，众数是具有明显</a:t>
            </a:r>
            <a:r>
              <a:rPr lang="zh-CN" altLang="en-US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集中趋势</a:t>
            </a:r>
            <a:r>
              <a:rPr lang="zh-CN" altLang="en-US" dirty="0"/>
              <a:t>的数值。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40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众数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1520" y="1700809"/>
            <a:ext cx="6156008" cy="2160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某鞋厂要了解消费者最需要哪种型号的男鞋，调查了某百货商场某季度男鞋销售情况，得到：</a:t>
            </a:r>
            <a:endParaRPr lang="en-US" altLang="zh-CN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372200" y="1608180"/>
          <a:ext cx="2458720" cy="333298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2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华文细黑" pitchFamily="2" charset="-122"/>
                          <a:ea typeface="华文细黑" pitchFamily="2" charset="-122"/>
                        </a:rPr>
                        <a:t>号码</a:t>
                      </a:r>
                      <a:r>
                        <a:rPr lang="en-US" altLang="zh-CN" sz="1600" b="1" kern="100" dirty="0">
                          <a:effectLst/>
                          <a:latin typeface="华文细黑" pitchFamily="2" charset="-122"/>
                          <a:ea typeface="华文细黑" pitchFamily="2" charset="-122"/>
                        </a:rPr>
                        <a:t>(</a:t>
                      </a:r>
                      <a:r>
                        <a:rPr lang="zh-CN" sz="1600" b="1" kern="100" dirty="0">
                          <a:effectLst/>
                          <a:latin typeface="华文细黑" pitchFamily="2" charset="-122"/>
                          <a:ea typeface="华文细黑" pitchFamily="2" charset="-122"/>
                        </a:rPr>
                        <a:t>厘米</a:t>
                      </a:r>
                      <a:r>
                        <a:rPr lang="en-US" altLang="zh-CN" sz="1600" b="1" kern="100" dirty="0">
                          <a:effectLst/>
                          <a:latin typeface="华文细黑" pitchFamily="2" charset="-122"/>
                          <a:ea typeface="华文细黑" pitchFamily="2" charset="-122"/>
                        </a:rPr>
                        <a:t>)</a:t>
                      </a:r>
                      <a:endParaRPr lang="zh-CN" sz="2500" b="1" kern="100" dirty="0">
                        <a:effectLst/>
                        <a:latin typeface="华文细黑" pitchFamily="2" charset="-122"/>
                        <a:ea typeface="华文细黑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华文细黑" pitchFamily="2" charset="-122"/>
                          <a:ea typeface="华文细黑" pitchFamily="2" charset="-122"/>
                        </a:rPr>
                        <a:t>销售量</a:t>
                      </a:r>
                      <a:r>
                        <a:rPr lang="en-US" altLang="zh-CN" sz="1600" b="1" kern="100" dirty="0">
                          <a:effectLst/>
                          <a:latin typeface="华文细黑" pitchFamily="2" charset="-122"/>
                          <a:ea typeface="华文细黑" pitchFamily="2" charset="-122"/>
                        </a:rPr>
                        <a:t>(</a:t>
                      </a:r>
                      <a:r>
                        <a:rPr lang="zh-CN" sz="1600" b="1" kern="100" dirty="0">
                          <a:effectLst/>
                          <a:latin typeface="华文细黑" pitchFamily="2" charset="-122"/>
                          <a:ea typeface="华文细黑" pitchFamily="2" charset="-122"/>
                        </a:rPr>
                        <a:t>双</a:t>
                      </a:r>
                      <a:r>
                        <a:rPr lang="en-US" altLang="zh-CN" sz="1600" b="1" kern="100" dirty="0">
                          <a:effectLst/>
                          <a:latin typeface="华文细黑" pitchFamily="2" charset="-122"/>
                          <a:ea typeface="华文细黑" pitchFamily="2" charset="-122"/>
                        </a:rPr>
                        <a:t>)</a:t>
                      </a:r>
                      <a:endParaRPr lang="zh-CN" sz="2500" b="1" kern="100" dirty="0">
                        <a:effectLst/>
                        <a:latin typeface="华文细黑" pitchFamily="2" charset="-122"/>
                        <a:ea typeface="华文细黑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24.0</a:t>
                      </a:r>
                      <a:endParaRPr lang="zh-CN" sz="2500" kern="100" dirty="0">
                        <a:effectLst/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07670" algn="dec"/>
                        </a:tabLst>
                      </a:pPr>
                      <a:r>
                        <a:rPr lang="en-US" sz="1600" kern="100"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12</a:t>
                      </a:r>
                      <a:endParaRPr lang="zh-CN" sz="2500" kern="100">
                        <a:effectLst/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 marL="68580" marR="23431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24.5</a:t>
                      </a:r>
                      <a:endParaRPr lang="zh-CN" sz="2500" kern="100" dirty="0">
                        <a:effectLst/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07670" algn="dec"/>
                        </a:tabLst>
                      </a:pPr>
                      <a:r>
                        <a:rPr lang="en-US" sz="1600" kern="100"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84</a:t>
                      </a:r>
                      <a:endParaRPr lang="zh-CN" sz="2500" kern="100">
                        <a:effectLst/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 marL="68580" marR="23431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25.0</a:t>
                      </a:r>
                      <a:endParaRPr lang="zh-CN" sz="2500" kern="100" dirty="0">
                        <a:effectLst/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07670" algn="dec"/>
                        </a:tabLst>
                      </a:pPr>
                      <a:r>
                        <a:rPr lang="en-US" sz="1600" kern="100" dirty="0"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118</a:t>
                      </a:r>
                      <a:endParaRPr lang="zh-CN" sz="2500" kern="100" dirty="0">
                        <a:effectLst/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 marL="68580" marR="23431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25.5</a:t>
                      </a:r>
                      <a:endParaRPr lang="zh-CN" sz="2500" kern="100">
                        <a:effectLst/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07670" algn="dec"/>
                        </a:tabLst>
                      </a:pPr>
                      <a:r>
                        <a:rPr lang="en-US" sz="1600" kern="100" dirty="0"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541</a:t>
                      </a:r>
                      <a:endParaRPr lang="zh-CN" sz="2500" kern="100" dirty="0">
                        <a:effectLst/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 marL="68580" marR="23431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26.0</a:t>
                      </a:r>
                      <a:endParaRPr lang="zh-CN" sz="2500" kern="100">
                        <a:effectLst/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07670" algn="dec"/>
                        </a:tabLst>
                      </a:pPr>
                      <a:r>
                        <a:rPr lang="en-US" sz="1600" kern="100" dirty="0"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320</a:t>
                      </a:r>
                      <a:endParaRPr lang="zh-CN" sz="2500" kern="100" dirty="0">
                        <a:effectLst/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 marL="68580" marR="23431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26.5</a:t>
                      </a:r>
                      <a:endParaRPr lang="zh-CN" sz="2500" kern="100">
                        <a:effectLst/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07670" algn="dec"/>
                        </a:tabLst>
                      </a:pPr>
                      <a:r>
                        <a:rPr lang="en-US" sz="1600" kern="100" dirty="0"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104</a:t>
                      </a:r>
                      <a:endParaRPr lang="zh-CN" sz="2500" kern="100" dirty="0">
                        <a:effectLst/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 marL="68580" marR="234315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27.0</a:t>
                      </a:r>
                      <a:endParaRPr lang="zh-CN" sz="2500" kern="100">
                        <a:effectLst/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07670" algn="dec"/>
                        </a:tabLst>
                      </a:pPr>
                      <a:r>
                        <a:rPr lang="en-US" sz="1600" kern="100" dirty="0"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52</a:t>
                      </a:r>
                      <a:endParaRPr lang="zh-CN" sz="2500" kern="100" dirty="0">
                        <a:effectLst/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 marL="68580" marR="234315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合计</a:t>
                      </a:r>
                      <a:endParaRPr lang="zh-CN" sz="2500" b="1" kern="100" dirty="0">
                        <a:effectLst/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07670" algn="dec"/>
                        </a:tabLst>
                      </a:pPr>
                      <a:r>
                        <a:rPr lang="en-US" sz="1600" b="1" kern="100" dirty="0"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1200</a:t>
                      </a:r>
                      <a:endParaRPr lang="zh-CN" sz="2500" b="1" kern="100" dirty="0">
                        <a:effectLst/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 marL="68580" marR="234315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323528" y="3558615"/>
            <a:ext cx="6084000" cy="19389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可以看到，如果</a:t>
            </a:r>
            <a:r>
              <a:rPr lang="zh-CN" altLang="en-US" sz="20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用号码的</a:t>
            </a:r>
            <a:r>
              <a:rPr lang="zh-CN" altLang="zh-CN" sz="20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算术平均数</a:t>
            </a:r>
            <a:r>
              <a:rPr lang="zh-CN" altLang="en-US" sz="20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（</a:t>
            </a:r>
            <a:r>
              <a:rPr lang="en-US" altLang="zh-CN" sz="20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25.65</a:t>
            </a:r>
            <a:r>
              <a:rPr lang="zh-CN" altLang="zh-CN" sz="20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厘米</a:t>
            </a:r>
            <a:r>
              <a:rPr lang="zh-CN" altLang="en-US" sz="20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）来表示销售量情况</a:t>
            </a:r>
            <a:r>
              <a:rPr lang="zh-CN" altLang="zh-CN" sz="20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，显然是没有实际意义的</a:t>
            </a:r>
            <a:r>
              <a:rPr lang="zh-CN" altLang="en-US" sz="20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。</a:t>
            </a:r>
            <a:endParaRPr lang="en-US" altLang="zh-CN" sz="2000" b="1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而用</a:t>
            </a:r>
            <a:r>
              <a:rPr lang="en-US" altLang="zh-CN" sz="20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25.5</a:t>
            </a:r>
            <a:r>
              <a:rPr lang="zh-CN" altLang="zh-CN" sz="20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厘米的鞋号销售量最多， </a:t>
            </a:r>
            <a:r>
              <a:rPr lang="en-US" altLang="zh-CN" sz="20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25.5</a:t>
            </a:r>
            <a:r>
              <a:rPr lang="zh-CN" altLang="zh-CN" sz="20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厘米作为顾客对男皮鞋所需尺寸的集中趋势既便捷又符合实际。</a:t>
            </a:r>
            <a:endParaRPr lang="zh-CN" altLang="en-US" sz="2000" b="1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24092" y="1124744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商场某季度男皮鞋销售情况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84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众数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众数是指一组数据中</a:t>
            </a:r>
            <a:r>
              <a:rPr lang="zh-CN" altLang="en-US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出现次数最多</a:t>
            </a:r>
            <a:r>
              <a:rPr lang="zh-CN" altLang="en-US" dirty="0"/>
              <a:t>的那个数据。</a:t>
            </a:r>
            <a:endParaRPr lang="en-US" altLang="zh-CN" dirty="0"/>
          </a:p>
          <a:p>
            <a:r>
              <a:rPr lang="zh-CN" altLang="en-US" dirty="0"/>
              <a:t>从分布角度看，众数是具有明显</a:t>
            </a:r>
            <a:r>
              <a:rPr lang="zh-CN" altLang="en-US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集中趋势</a:t>
            </a:r>
            <a:r>
              <a:rPr lang="zh-CN" altLang="en-US" dirty="0"/>
              <a:t>的数值。</a:t>
            </a:r>
            <a:endParaRPr lang="en-US" altLang="zh-CN" dirty="0"/>
          </a:p>
          <a:p>
            <a:r>
              <a:rPr lang="zh-CN" altLang="en-US" dirty="0"/>
              <a:t>一组数据可以有多个众数，也可以</a:t>
            </a:r>
            <a:r>
              <a:rPr lang="zh-CN" altLang="en-US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没有众数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众数常用于表示社会经济现象中最普遍出现的标志值。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67B20C-CD1C-48A2-8643-29DE18040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23" y="3429000"/>
            <a:ext cx="8883941" cy="2582786"/>
          </a:xfrm>
          <a:prstGeom prst="rect">
            <a:avLst/>
          </a:prstGeom>
        </p:spPr>
      </p:pic>
      <p:sp>
        <p:nvSpPr>
          <p:cNvPr id="6" name="文本框 6">
            <a:extLst>
              <a:ext uri="{FF2B5EF4-FFF2-40B4-BE49-F238E27FC236}">
                <a16:creationId xmlns:a16="http://schemas.microsoft.com/office/drawing/2014/main" id="{967DAC77-DD46-709D-645F-4AE1794EE292}"/>
              </a:ext>
            </a:extLst>
          </p:cNvPr>
          <p:cNvSpPr txBox="1"/>
          <p:nvPr/>
        </p:nvSpPr>
        <p:spPr>
          <a:xfrm>
            <a:off x="989596" y="5929317"/>
            <a:ext cx="148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094DB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众数唯一</a:t>
            </a:r>
          </a:p>
        </p:txBody>
      </p:sp>
      <p:sp>
        <p:nvSpPr>
          <p:cNvPr id="7" name="文本框 8">
            <a:extLst>
              <a:ext uri="{FF2B5EF4-FFF2-40B4-BE49-F238E27FC236}">
                <a16:creationId xmlns:a16="http://schemas.microsoft.com/office/drawing/2014/main" id="{4184D9A4-2B68-3180-4284-DAA16B25FE13}"/>
              </a:ext>
            </a:extLst>
          </p:cNvPr>
          <p:cNvSpPr txBox="1"/>
          <p:nvPr/>
        </p:nvSpPr>
        <p:spPr>
          <a:xfrm>
            <a:off x="3728316" y="5836684"/>
            <a:ext cx="1804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094DB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众数不唯一</a:t>
            </a:r>
          </a:p>
        </p:txBody>
      </p:sp>
      <p:sp>
        <p:nvSpPr>
          <p:cNvPr id="8" name="文本框 9">
            <a:extLst>
              <a:ext uri="{FF2B5EF4-FFF2-40B4-BE49-F238E27FC236}">
                <a16:creationId xmlns:a16="http://schemas.microsoft.com/office/drawing/2014/main" id="{FA095B8F-906E-745F-6647-B30C595450A9}"/>
              </a:ext>
            </a:extLst>
          </p:cNvPr>
          <p:cNvSpPr txBox="1"/>
          <p:nvPr/>
        </p:nvSpPr>
        <p:spPr>
          <a:xfrm>
            <a:off x="7339806" y="5836684"/>
            <a:ext cx="1804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094DB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无众数</a:t>
            </a:r>
          </a:p>
        </p:txBody>
      </p:sp>
      <p:sp>
        <p:nvSpPr>
          <p:cNvPr id="9" name="文本框 6">
            <a:extLst>
              <a:ext uri="{FF2B5EF4-FFF2-40B4-BE49-F238E27FC236}">
                <a16:creationId xmlns:a16="http://schemas.microsoft.com/office/drawing/2014/main" id="{9121B65C-18DA-4C90-B830-A030B364A492}"/>
              </a:ext>
            </a:extLst>
          </p:cNvPr>
          <p:cNvSpPr txBox="1"/>
          <p:nvPr/>
        </p:nvSpPr>
        <p:spPr>
          <a:xfrm>
            <a:off x="989596" y="3443591"/>
            <a:ext cx="1941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rgbClr val="094DB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数值</a:t>
            </a:r>
            <a:r>
              <a:rPr lang="en-US" altLang="zh-CN" sz="2000" b="1" dirty="0">
                <a:solidFill>
                  <a:srgbClr val="094DB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000" b="1" dirty="0">
                <a:solidFill>
                  <a:srgbClr val="094DB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的分布图</a:t>
            </a:r>
          </a:p>
        </p:txBody>
      </p:sp>
    </p:spTree>
    <p:extLst>
      <p:ext uri="{BB962C8B-B14F-4D97-AF65-F5344CB8AC3E}">
        <p14:creationId xmlns:p14="http://schemas.microsoft.com/office/powerpoint/2010/main" val="350002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206ED2-AD02-42D5-8018-C19563C89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B3E7A6-F382-47D2-AAB1-05E14E58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某只股票在</a:t>
            </a:r>
            <a:r>
              <a:rPr lang="en-US" altLang="zh-CN" dirty="0"/>
              <a:t>10</a:t>
            </a:r>
            <a:r>
              <a:rPr lang="zh-CN" altLang="en-US" dirty="0"/>
              <a:t>个交易日内的收盘价格分别是：</a:t>
            </a:r>
            <a:r>
              <a:rPr lang="en-US" altLang="zh-CN" dirty="0"/>
              <a:t>33.6</a:t>
            </a:r>
            <a:r>
              <a:rPr lang="zh-CN" altLang="en-US" dirty="0"/>
              <a:t>，</a:t>
            </a:r>
            <a:r>
              <a:rPr lang="en-US" altLang="zh-CN" dirty="0"/>
              <a:t>33.85</a:t>
            </a:r>
            <a:r>
              <a:rPr lang="zh-CN" altLang="en-US" dirty="0"/>
              <a:t>，</a:t>
            </a:r>
            <a:r>
              <a:rPr lang="en-US" altLang="zh-CN" dirty="0"/>
              <a:t>33.75</a:t>
            </a:r>
            <a:r>
              <a:rPr lang="zh-CN" altLang="en-US" dirty="0"/>
              <a:t>，</a:t>
            </a:r>
            <a:r>
              <a:rPr lang="en-US" altLang="zh-CN" dirty="0"/>
              <a:t>33.75</a:t>
            </a:r>
            <a:r>
              <a:rPr lang="zh-CN" altLang="en-US" dirty="0"/>
              <a:t>，</a:t>
            </a:r>
            <a:r>
              <a:rPr lang="en-US" altLang="zh-CN" dirty="0"/>
              <a:t>33.81</a:t>
            </a:r>
            <a:r>
              <a:rPr lang="zh-CN" altLang="en-US" dirty="0"/>
              <a:t>，</a:t>
            </a:r>
            <a:r>
              <a:rPr lang="en-US" altLang="zh-CN" dirty="0"/>
              <a:t>33.88</a:t>
            </a:r>
            <a:r>
              <a:rPr lang="zh-CN" altLang="en-US" dirty="0"/>
              <a:t>，</a:t>
            </a:r>
            <a:r>
              <a:rPr lang="en-US" altLang="zh-CN" dirty="0"/>
              <a:t>33.89</a:t>
            </a:r>
            <a:r>
              <a:rPr lang="zh-CN" altLang="en-US" dirty="0"/>
              <a:t>，</a:t>
            </a:r>
            <a:r>
              <a:rPr lang="en-US" altLang="zh-CN" dirty="0"/>
              <a:t>33.80</a:t>
            </a:r>
            <a:r>
              <a:rPr lang="zh-CN" altLang="en-US" dirty="0"/>
              <a:t>，</a:t>
            </a:r>
            <a:r>
              <a:rPr lang="en-US" altLang="zh-CN" dirty="0"/>
              <a:t>33.84</a:t>
            </a:r>
            <a:r>
              <a:rPr lang="zh-CN" altLang="en-US" dirty="0"/>
              <a:t>，</a:t>
            </a:r>
            <a:r>
              <a:rPr lang="en-US" altLang="zh-CN" dirty="0"/>
              <a:t>33.85</a:t>
            </a:r>
            <a:r>
              <a:rPr lang="zh-CN" altLang="en-US" dirty="0"/>
              <a:t>，请计算这些数据的平均值、中位数和众数。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）均值：</a:t>
            </a:r>
            <a:r>
              <a:rPr lang="en-US" altLang="zh-CN" dirty="0"/>
              <a:t>33.802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）中位数：先排序：</a:t>
            </a:r>
            <a:r>
              <a:rPr lang="en-US" altLang="zh-CN" dirty="0"/>
              <a:t>33.6</a:t>
            </a:r>
            <a:r>
              <a:rPr lang="zh-CN" altLang="en-US" dirty="0"/>
              <a:t>，</a:t>
            </a:r>
            <a:r>
              <a:rPr lang="en-US" altLang="zh-CN" dirty="0"/>
              <a:t> 33.75</a:t>
            </a:r>
            <a:r>
              <a:rPr lang="zh-CN" altLang="en-US" dirty="0"/>
              <a:t>，</a:t>
            </a:r>
            <a:r>
              <a:rPr lang="en-US" altLang="zh-CN" dirty="0"/>
              <a:t> 33.75</a:t>
            </a:r>
            <a:r>
              <a:rPr lang="zh-CN" altLang="en-US" dirty="0"/>
              <a:t>，</a:t>
            </a:r>
            <a:r>
              <a:rPr lang="en-US" altLang="zh-CN" dirty="0"/>
              <a:t> 33.80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0000"/>
                </a:solidFill>
              </a:rPr>
              <a:t> 33.81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 33.84</a:t>
            </a:r>
            <a:r>
              <a:rPr lang="zh-CN" altLang="en-US" dirty="0"/>
              <a:t>，</a:t>
            </a:r>
            <a:r>
              <a:rPr lang="en-US" altLang="zh-CN" dirty="0"/>
              <a:t> 33.85</a:t>
            </a:r>
            <a:r>
              <a:rPr lang="zh-CN" altLang="en-US" dirty="0"/>
              <a:t>，</a:t>
            </a:r>
            <a:r>
              <a:rPr lang="en-US" altLang="zh-CN" dirty="0"/>
              <a:t> 33.85</a:t>
            </a:r>
            <a:r>
              <a:rPr lang="zh-CN" altLang="en-US" dirty="0"/>
              <a:t>， </a:t>
            </a:r>
            <a:r>
              <a:rPr lang="en-US" altLang="zh-CN" dirty="0"/>
              <a:t>33.88</a:t>
            </a:r>
            <a:r>
              <a:rPr lang="zh-CN" altLang="en-US" dirty="0"/>
              <a:t>，</a:t>
            </a:r>
            <a:r>
              <a:rPr lang="en-US" altLang="zh-CN" dirty="0"/>
              <a:t> 33.89</a:t>
            </a:r>
            <a:r>
              <a:rPr lang="zh-CN" altLang="en-US" dirty="0"/>
              <a:t>；需要取第</a:t>
            </a:r>
            <a:r>
              <a:rPr lang="en-US" altLang="zh-CN" dirty="0"/>
              <a:t>5</a:t>
            </a:r>
            <a:r>
              <a:rPr lang="zh-CN" altLang="en-US" dirty="0"/>
              <a:t>和第</a:t>
            </a:r>
            <a:r>
              <a:rPr lang="en-US" altLang="zh-CN" dirty="0"/>
              <a:t>6</a:t>
            </a:r>
            <a:r>
              <a:rPr lang="zh-CN" altLang="en-US" dirty="0"/>
              <a:t>位的均值。</a:t>
            </a:r>
            <a:r>
              <a:rPr lang="en-US" altLang="zh-CN" dirty="0"/>
              <a:t>Me=(33.81+33.84)/2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）众数：</a:t>
            </a:r>
            <a:r>
              <a:rPr lang="en-US" altLang="zh-CN" dirty="0"/>
              <a:t>33.75</a:t>
            </a:r>
            <a:r>
              <a:rPr lang="zh-CN" altLang="en-US" dirty="0"/>
              <a:t>和</a:t>
            </a:r>
            <a:r>
              <a:rPr lang="en-US" altLang="zh-CN" dirty="0"/>
              <a:t>33.85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AB114E-602A-48CA-900D-87F50ED8F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004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极差和方差</a:t>
            </a:r>
            <a:endParaRPr lang="en-US" altLang="zh-CN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70000"/>
              </a:lnSpc>
            </a:pPr>
            <a:r>
              <a:rPr lang="zh-CN" altLang="en-US" sz="2800" dirty="0"/>
              <a:t>极差</a:t>
            </a:r>
            <a:r>
              <a:rPr lang="en-US" altLang="zh-CN" sz="2800" dirty="0"/>
              <a:t>(range)</a:t>
            </a:r>
          </a:p>
          <a:p>
            <a:pPr lvl="2">
              <a:lnSpc>
                <a:spcPct val="170000"/>
              </a:lnSpc>
              <a:buFont typeface="Wingdings" pitchFamily="2" charset="2"/>
              <a:buNone/>
            </a:pPr>
            <a:r>
              <a:rPr lang="en-US" altLang="zh-CN" sz="2600" dirty="0"/>
              <a:t>range(</a:t>
            </a:r>
            <a:r>
              <a:rPr lang="en-US" altLang="zh-CN" sz="2600" i="1" dirty="0">
                <a:cs typeface="Times New Roman" pitchFamily="18" charset="0"/>
              </a:rPr>
              <a:t>x</a:t>
            </a:r>
            <a:r>
              <a:rPr lang="en-US" altLang="zh-CN" sz="2600" dirty="0"/>
              <a:t>) = max(</a:t>
            </a:r>
            <a:r>
              <a:rPr lang="en-US" altLang="zh-CN" sz="2600" i="1" dirty="0">
                <a:cs typeface="Times New Roman" pitchFamily="18" charset="0"/>
              </a:rPr>
              <a:t>x</a:t>
            </a:r>
            <a:r>
              <a:rPr lang="en-US" altLang="zh-CN" sz="2600" dirty="0"/>
              <a:t>) </a:t>
            </a:r>
            <a:r>
              <a:rPr lang="en-US" altLang="zh-CN" sz="2600" dirty="0">
                <a:sym typeface="Symbol" pitchFamily="18" charset="2"/>
              </a:rPr>
              <a:t></a:t>
            </a:r>
            <a:r>
              <a:rPr lang="en-US" altLang="zh-CN" sz="2600" dirty="0"/>
              <a:t> min(</a:t>
            </a:r>
            <a:r>
              <a:rPr lang="en-US" altLang="zh-CN" sz="2600" i="1" dirty="0">
                <a:cs typeface="Times New Roman" pitchFamily="18" charset="0"/>
              </a:rPr>
              <a:t>x</a:t>
            </a:r>
            <a:r>
              <a:rPr lang="en-US" altLang="zh-CN" sz="2600" dirty="0"/>
              <a:t>) </a:t>
            </a:r>
          </a:p>
          <a:p>
            <a:pPr lvl="1"/>
            <a:r>
              <a:rPr lang="zh-CN" altLang="en-US" dirty="0"/>
              <a:t>是较为简单的一种度量数据波动情况的量，但只能反映数据的波动范围，不能衡量每个数据的变化情况，而且受极端值的影响较大。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683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极差和方差</a:t>
            </a:r>
            <a:endParaRPr lang="en-US" altLang="zh-CN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dirty="0"/>
              <a:t>标准差</a:t>
            </a:r>
            <a:r>
              <a:rPr lang="en-US" altLang="zh-CN" sz="2800" dirty="0"/>
              <a:t>(standard deviation)</a:t>
            </a:r>
          </a:p>
          <a:p>
            <a:pPr>
              <a:lnSpc>
                <a:spcPct val="140000"/>
              </a:lnSpc>
            </a:pPr>
            <a:endParaRPr lang="en-US" altLang="zh-CN" sz="2800" dirty="0"/>
          </a:p>
          <a:p>
            <a:pPr lvl="4">
              <a:lnSpc>
                <a:spcPct val="140000"/>
              </a:lnSpc>
            </a:pPr>
            <a:endParaRPr lang="en-US" altLang="zh-CN" dirty="0"/>
          </a:p>
          <a:p>
            <a:pPr lvl="4">
              <a:lnSpc>
                <a:spcPct val="140000"/>
              </a:lnSpc>
            </a:pPr>
            <a:endParaRPr lang="en-US" altLang="zh-CN" dirty="0"/>
          </a:p>
          <a:p>
            <a:pPr>
              <a:lnSpc>
                <a:spcPct val="140000"/>
              </a:lnSpc>
            </a:pPr>
            <a:r>
              <a:rPr lang="en-US" altLang="zh-CN" dirty="0"/>
              <a:t>m</a:t>
            </a:r>
            <a:r>
              <a:rPr lang="zh-CN" altLang="en-US" dirty="0"/>
              <a:t>为样本量</a:t>
            </a:r>
            <a:endParaRPr lang="en-US" altLang="zh-CN" dirty="0"/>
          </a:p>
          <a:p>
            <a:pPr>
              <a:lnSpc>
                <a:spcPct val="140000"/>
              </a:lnSpc>
            </a:pPr>
            <a:r>
              <a:rPr lang="zh-CN" altLang="en-US" dirty="0"/>
              <a:t>标准差能反映一个数据集的离散程度</a:t>
            </a:r>
            <a:endParaRPr lang="en-US" altLang="zh-CN" dirty="0"/>
          </a:p>
          <a:p>
            <a:pPr>
              <a:lnSpc>
                <a:spcPct val="140000"/>
              </a:lnSpc>
            </a:pPr>
            <a:r>
              <a:rPr lang="zh-CN" altLang="en-US" dirty="0"/>
              <a:t>平均数相同的两组数据，标准差未必相同</a:t>
            </a:r>
            <a:endParaRPr lang="en-US" altLang="zh-CN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1346961"/>
              </p:ext>
            </p:extLst>
          </p:nvPr>
        </p:nvGraphicFramePr>
        <p:xfrm>
          <a:off x="1390650" y="2001838"/>
          <a:ext cx="4608513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公式" r:id="rId4" imgW="1511300" imgH="482600" progId="Equation.3">
                  <p:embed/>
                </p:oleObj>
              </mc:Choice>
              <mc:Fallback>
                <p:oleObj name="公式" r:id="rId4" imgW="1511300" imgH="482600" progId="Equation.3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0" y="2001838"/>
                        <a:ext cx="4608513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742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极差和方差</a:t>
            </a:r>
            <a:endParaRPr lang="en-US" altLang="zh-CN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lnSpc>
                <a:spcPct val="140000"/>
              </a:lnSpc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 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两组各有</a:t>
            </a:r>
            <a:r>
              <a:rPr lang="en-US" altLang="zh-CN" dirty="0"/>
              <a:t>6</a:t>
            </a:r>
            <a:r>
              <a:rPr lang="zh-CN" altLang="en-US" dirty="0"/>
              <a:t>位学生参加同一次语文测验，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en-US" altLang="zh-CN" dirty="0"/>
              <a:t>A</a:t>
            </a:r>
            <a:r>
              <a:rPr lang="zh-CN" altLang="en-US" dirty="0"/>
              <a:t>组的分数为</a:t>
            </a:r>
            <a:r>
              <a:rPr lang="en-US" altLang="zh-CN" dirty="0"/>
              <a:t>92</a:t>
            </a:r>
            <a:r>
              <a:rPr lang="zh-CN" altLang="en-US" dirty="0"/>
              <a:t>，</a:t>
            </a:r>
            <a:r>
              <a:rPr lang="en-US" altLang="zh-CN" dirty="0"/>
              <a:t>86</a:t>
            </a:r>
            <a:r>
              <a:rPr lang="zh-CN" altLang="en-US" dirty="0"/>
              <a:t>，</a:t>
            </a:r>
            <a:r>
              <a:rPr lang="en-US" altLang="zh-CN" dirty="0"/>
              <a:t>75</a:t>
            </a:r>
            <a:r>
              <a:rPr lang="zh-CN" altLang="en-US" dirty="0"/>
              <a:t>，</a:t>
            </a:r>
            <a:r>
              <a:rPr lang="en-US" altLang="zh-CN" dirty="0"/>
              <a:t>68</a:t>
            </a:r>
            <a:r>
              <a:rPr lang="zh-CN" altLang="en-US" dirty="0"/>
              <a:t>，</a:t>
            </a:r>
            <a:r>
              <a:rPr lang="en-US" altLang="zh-CN" dirty="0"/>
              <a:t>54</a:t>
            </a:r>
            <a:r>
              <a:rPr lang="zh-CN" altLang="en-US" dirty="0"/>
              <a:t>，</a:t>
            </a:r>
            <a:r>
              <a:rPr lang="en-US" altLang="zh-CN" dirty="0"/>
              <a:t>45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en-US" altLang="zh-CN" dirty="0"/>
              <a:t>B</a:t>
            </a:r>
            <a:r>
              <a:rPr lang="zh-CN" altLang="en-US" dirty="0"/>
              <a:t>组的分数为</a:t>
            </a:r>
            <a:r>
              <a:rPr lang="en-US" altLang="zh-CN" dirty="0"/>
              <a:t>74</a:t>
            </a:r>
            <a:r>
              <a:rPr lang="zh-CN" altLang="en-US" dirty="0"/>
              <a:t>，</a:t>
            </a:r>
            <a:r>
              <a:rPr lang="en-US" altLang="zh-CN" dirty="0"/>
              <a:t>73</a:t>
            </a:r>
            <a:r>
              <a:rPr lang="zh-CN" altLang="en-US" dirty="0"/>
              <a:t>，</a:t>
            </a:r>
            <a:r>
              <a:rPr lang="en-US" altLang="zh-CN" dirty="0"/>
              <a:t>71</a:t>
            </a:r>
            <a:r>
              <a:rPr lang="zh-CN" altLang="en-US" dirty="0"/>
              <a:t>，</a:t>
            </a:r>
            <a:r>
              <a:rPr lang="en-US" altLang="zh-CN" dirty="0"/>
              <a:t>69</a:t>
            </a:r>
            <a:r>
              <a:rPr lang="zh-CN" altLang="en-US" dirty="0"/>
              <a:t>，</a:t>
            </a:r>
            <a:r>
              <a:rPr lang="en-US" altLang="zh-CN" dirty="0"/>
              <a:t>68</a:t>
            </a:r>
            <a:r>
              <a:rPr lang="zh-CN" altLang="en-US" dirty="0"/>
              <a:t>，</a:t>
            </a:r>
            <a:r>
              <a:rPr lang="en-US" altLang="zh-CN" dirty="0"/>
              <a:t>65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40000"/>
              </a:lnSpc>
            </a:pPr>
            <a:r>
              <a:rPr lang="zh-CN" altLang="en-US" dirty="0"/>
              <a:t>这两组的平均数都是</a:t>
            </a:r>
            <a:r>
              <a:rPr lang="en-US" altLang="zh-CN" dirty="0"/>
              <a:t>70</a:t>
            </a:r>
          </a:p>
          <a:p>
            <a:pPr lvl="1">
              <a:lnSpc>
                <a:spcPct val="140000"/>
              </a:lnSpc>
            </a:pPr>
            <a:r>
              <a:rPr lang="zh-CN" altLang="en-US" dirty="0"/>
              <a:t>但</a:t>
            </a:r>
            <a:r>
              <a:rPr lang="en-US" altLang="zh-CN" dirty="0"/>
              <a:t>A</a:t>
            </a:r>
            <a:r>
              <a:rPr lang="zh-CN" altLang="en-US" dirty="0"/>
              <a:t>组的标准差为</a:t>
            </a:r>
            <a:r>
              <a:rPr lang="en-US" altLang="zh-CN" dirty="0"/>
              <a:t>17.078</a:t>
            </a:r>
            <a:r>
              <a:rPr lang="zh-CN" altLang="en-US" dirty="0"/>
              <a:t>分，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en-US" altLang="zh-CN" dirty="0"/>
              <a:t>B</a:t>
            </a:r>
            <a:r>
              <a:rPr lang="zh-CN" altLang="en-US" dirty="0"/>
              <a:t>组的标准差为</a:t>
            </a:r>
            <a:r>
              <a:rPr lang="en-US" altLang="zh-CN" dirty="0"/>
              <a:t>2.160</a:t>
            </a:r>
            <a:r>
              <a:rPr lang="zh-CN" altLang="en-US" dirty="0"/>
              <a:t>分，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说明</a:t>
            </a:r>
            <a:r>
              <a:rPr lang="en-US" altLang="zh-CN" dirty="0"/>
              <a:t>A</a:t>
            </a:r>
            <a:r>
              <a:rPr lang="zh-CN" altLang="en-US" dirty="0"/>
              <a:t>组学生之间的差距要比</a:t>
            </a:r>
            <a:r>
              <a:rPr lang="en-US" altLang="zh-CN" dirty="0"/>
              <a:t>B</a:t>
            </a:r>
            <a:r>
              <a:rPr lang="zh-CN" altLang="en-US" dirty="0"/>
              <a:t>组学生之间的差距大得多。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669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极差和方差</a:t>
            </a:r>
            <a:endParaRPr lang="en-US" altLang="zh-CN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lnSpc>
                <a:spcPct val="140000"/>
              </a:lnSpc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 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两组各有</a:t>
            </a:r>
            <a:r>
              <a:rPr lang="en-US" altLang="zh-CN" dirty="0"/>
              <a:t>6</a:t>
            </a:r>
            <a:r>
              <a:rPr lang="zh-CN" altLang="en-US" dirty="0"/>
              <a:t>位学生参加同一次语文测验，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en-US" altLang="zh-CN" dirty="0"/>
              <a:t>A</a:t>
            </a:r>
            <a:r>
              <a:rPr lang="zh-CN" altLang="en-US" dirty="0"/>
              <a:t>组的分数为</a:t>
            </a:r>
            <a:r>
              <a:rPr lang="en-US" altLang="zh-CN" dirty="0"/>
              <a:t>92</a:t>
            </a:r>
            <a:r>
              <a:rPr lang="zh-CN" altLang="en-US" dirty="0"/>
              <a:t>，</a:t>
            </a:r>
            <a:r>
              <a:rPr lang="en-US" altLang="zh-CN" dirty="0"/>
              <a:t>86</a:t>
            </a:r>
            <a:r>
              <a:rPr lang="zh-CN" altLang="en-US" dirty="0"/>
              <a:t>，</a:t>
            </a:r>
            <a:r>
              <a:rPr lang="en-US" altLang="zh-CN" dirty="0"/>
              <a:t>75</a:t>
            </a:r>
            <a:r>
              <a:rPr lang="zh-CN" altLang="en-US" dirty="0"/>
              <a:t>，</a:t>
            </a:r>
            <a:r>
              <a:rPr lang="en-US" altLang="zh-CN" dirty="0"/>
              <a:t>68</a:t>
            </a:r>
            <a:r>
              <a:rPr lang="zh-CN" altLang="en-US" dirty="0"/>
              <a:t>，</a:t>
            </a:r>
            <a:r>
              <a:rPr lang="en-US" altLang="zh-CN" dirty="0"/>
              <a:t>54</a:t>
            </a:r>
            <a:r>
              <a:rPr lang="zh-CN" altLang="en-US" dirty="0"/>
              <a:t>，</a:t>
            </a:r>
            <a:r>
              <a:rPr lang="en-US" altLang="zh-CN" dirty="0"/>
              <a:t>45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en-US" altLang="zh-CN" dirty="0"/>
              <a:t>B</a:t>
            </a:r>
            <a:r>
              <a:rPr lang="zh-CN" altLang="en-US" dirty="0"/>
              <a:t>组的分数为</a:t>
            </a:r>
            <a:r>
              <a:rPr lang="en-US" altLang="zh-CN" dirty="0"/>
              <a:t>74</a:t>
            </a:r>
            <a:r>
              <a:rPr lang="zh-CN" altLang="en-US" dirty="0"/>
              <a:t>，</a:t>
            </a:r>
            <a:r>
              <a:rPr lang="en-US" altLang="zh-CN" dirty="0"/>
              <a:t>73</a:t>
            </a:r>
            <a:r>
              <a:rPr lang="zh-CN" altLang="en-US" dirty="0"/>
              <a:t>，</a:t>
            </a:r>
            <a:r>
              <a:rPr lang="en-US" altLang="zh-CN" dirty="0"/>
              <a:t>71</a:t>
            </a:r>
            <a:r>
              <a:rPr lang="zh-CN" altLang="en-US" dirty="0"/>
              <a:t>，</a:t>
            </a:r>
            <a:r>
              <a:rPr lang="en-US" altLang="zh-CN" dirty="0"/>
              <a:t>69</a:t>
            </a:r>
            <a:r>
              <a:rPr lang="zh-CN" altLang="en-US" dirty="0"/>
              <a:t>，</a:t>
            </a:r>
            <a:r>
              <a:rPr lang="en-US" altLang="zh-CN" dirty="0"/>
              <a:t>68</a:t>
            </a:r>
            <a:r>
              <a:rPr lang="zh-CN" altLang="en-US" dirty="0"/>
              <a:t>，</a:t>
            </a:r>
            <a:r>
              <a:rPr lang="en-US" altLang="zh-CN" dirty="0"/>
              <a:t>65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46661" y="3585042"/>
            <a:ext cx="8545821" cy="152894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5545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极差和方差</a:t>
            </a:r>
            <a:endParaRPr lang="en-US" altLang="zh-CN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zh-CN" altLang="en-US" sz="2800" dirty="0"/>
              <a:t>方差 </a:t>
            </a:r>
            <a:r>
              <a:rPr lang="en-US" altLang="zh-CN" sz="2800" dirty="0"/>
              <a:t>(variance)</a:t>
            </a:r>
            <a:r>
              <a:rPr lang="zh-CN" altLang="en-US" sz="2800" dirty="0"/>
              <a:t>是标准差的平方</a:t>
            </a:r>
          </a:p>
          <a:p>
            <a:pPr lvl="1">
              <a:lnSpc>
                <a:spcPct val="170000"/>
              </a:lnSpc>
            </a:pPr>
            <a:r>
              <a:rPr lang="zh-CN" altLang="en-US" sz="2400" dirty="0"/>
              <a:t>方差和标准差都是最常用的统计量</a:t>
            </a:r>
          </a:p>
          <a:p>
            <a:pPr lvl="1">
              <a:lnSpc>
                <a:spcPct val="170000"/>
              </a:lnSpc>
            </a:pPr>
            <a:r>
              <a:rPr lang="zh-CN" altLang="en-US" sz="2400" dirty="0"/>
              <a:t>因使用均值计算，容易受极端值</a:t>
            </a:r>
            <a:r>
              <a:rPr lang="en-US" altLang="zh-CN" sz="2400" dirty="0"/>
              <a:t>(</a:t>
            </a:r>
            <a:r>
              <a:rPr lang="zh-CN" altLang="en-US" sz="2400" dirty="0"/>
              <a:t>离群点</a:t>
            </a:r>
            <a:r>
              <a:rPr lang="en-US" altLang="zh-CN" sz="2400" dirty="0"/>
              <a:t>)</a:t>
            </a:r>
            <a:r>
              <a:rPr lang="zh-CN" altLang="en-US" sz="2400" dirty="0"/>
              <a:t>的影响，可能被离群值扭曲 </a:t>
            </a:r>
            <a:endParaRPr lang="en-US" altLang="zh-CN" sz="2400" dirty="0"/>
          </a:p>
          <a:p>
            <a:pPr lvl="1">
              <a:lnSpc>
                <a:spcPct val="170000"/>
              </a:lnSpc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204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绝对平均偏差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70000"/>
              </a:lnSpc>
            </a:pPr>
            <a:r>
              <a:rPr lang="en-US" altLang="zh-CN" dirty="0"/>
              <a:t>Absolute Average Deviation</a:t>
            </a:r>
            <a:r>
              <a:rPr lang="zh-CN" altLang="en-US" dirty="0"/>
              <a:t>，</a:t>
            </a:r>
            <a:r>
              <a:rPr lang="en-US" altLang="zh-CN" dirty="0"/>
              <a:t>AAD</a:t>
            </a:r>
            <a:endParaRPr lang="zh-CN" altLang="en-US" dirty="0"/>
          </a:p>
          <a:p>
            <a:pPr>
              <a:lnSpc>
                <a:spcPct val="170000"/>
              </a:lnSpc>
            </a:pPr>
            <a:endParaRPr lang="zh-CN" altLang="en-US" dirty="0"/>
          </a:p>
          <a:p>
            <a:pPr>
              <a:lnSpc>
                <a:spcPct val="170000"/>
              </a:lnSpc>
            </a:pP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899592" y="2392085"/>
          <a:ext cx="3770570" cy="842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公式" r:id="rId4" imgW="1473200" imgH="431800" progId="Equation.3">
                  <p:embed/>
                </p:oleObj>
              </mc:Choice>
              <mc:Fallback>
                <p:oleObj name="公式" r:id="rId4" imgW="1473200" imgH="431800" progId="Equation.3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392085"/>
                        <a:ext cx="3770570" cy="8424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594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中位数绝对偏差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70000"/>
              </a:lnSpc>
            </a:pPr>
            <a:r>
              <a:rPr lang="en-US" altLang="zh-CN" dirty="0"/>
              <a:t>Median Absolute Deviation</a:t>
            </a:r>
            <a:r>
              <a:rPr lang="zh-CN" altLang="en-US" dirty="0"/>
              <a:t>，</a:t>
            </a:r>
            <a:r>
              <a:rPr lang="en-US" altLang="zh-CN" dirty="0"/>
              <a:t>MAD</a:t>
            </a:r>
            <a:r>
              <a:rPr lang="zh-CN" altLang="en-US" dirty="0"/>
              <a:t> </a:t>
            </a:r>
          </a:p>
          <a:p>
            <a:pPr>
              <a:lnSpc>
                <a:spcPct val="170000"/>
              </a:lnSpc>
            </a:pP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Grp="1" noChangeAspect="1"/>
          </p:cNvGraphicFramePr>
          <p:nvPr/>
        </p:nvGraphicFramePr>
        <p:xfrm>
          <a:off x="631874" y="2457450"/>
          <a:ext cx="8044582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0" name="公式" r:id="rId4" imgW="3530520" imgH="228600" progId="Equation.3">
                  <p:embed/>
                </p:oleObj>
              </mc:Choice>
              <mc:Fallback>
                <p:oleObj name="公式" r:id="rId4" imgW="3530520" imgH="228600" progId="Equation.3">
                  <p:embed/>
                  <p:pic>
                    <p:nvPicPr>
                      <p:cNvPr id="5" name="对象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874" y="2457450"/>
                        <a:ext cx="8044582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23530" y="3002753"/>
            <a:ext cx="864095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dirty="0" bmk="_Toc506733998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【</a:t>
            </a:r>
            <a:r>
              <a:rPr lang="zh-CN" altLang="en-US" sz="2400" dirty="0" bmk="_Toc506733998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例</a:t>
            </a:r>
            <a:r>
              <a:rPr lang="en-US" altLang="zh-CN" sz="2400" dirty="0" bmk="_Toc506733998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】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数据</a:t>
            </a:r>
            <a:endParaRPr lang="en-US" altLang="zh-CN" sz="2400" dirty="0">
              <a:solidFill>
                <a:srgbClr val="002060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A={8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5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9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6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9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5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6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8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9} 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其中位数为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5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。计算数据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A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中的每一数据与中位数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5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的绝对差，有：</a:t>
            </a:r>
            <a:endParaRPr lang="en-US" altLang="zh-CN" sz="2400" dirty="0">
              <a:solidFill>
                <a:srgbClr val="002060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|A-5|={3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0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0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4}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endParaRPr lang="en-US" altLang="zh-CN" sz="2400" dirty="0">
              <a:solidFill>
                <a:srgbClr val="002060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其中位数为</a:t>
            </a:r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</a:t>
            </a:r>
            <a:r>
              <a:rPr lang="zh-CN" altLang="en-US" sz="2400" dirty="0">
                <a:solidFill>
                  <a:srgbClr val="00206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，所以有</a:t>
            </a:r>
            <a:endParaRPr lang="zh-CN" altLang="en-US" sz="4800" dirty="0">
              <a:solidFill>
                <a:srgbClr val="002060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923929" y="5229200"/>
          <a:ext cx="1993369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" name="公式" r:id="rId6" imgW="799753" imgH="215806" progId="Equation.3">
                  <p:embed/>
                </p:oleObj>
              </mc:Choice>
              <mc:Fallback>
                <p:oleObj name="公式" r:id="rId6" imgW="799753" imgH="215806" progId="Equation.3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9" y="5229200"/>
                        <a:ext cx="1993369" cy="46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6668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A35F7F-0130-4C8F-A1F5-281D3F2F0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四分位差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3FAA41-AACB-40FD-AF3C-0CE40522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BA619D-5FE1-4DD0-B917-E3C245A4D573}"/>
              </a:ext>
            </a:extLst>
          </p:cNvPr>
          <p:cNvSpPr txBox="1"/>
          <p:nvPr/>
        </p:nvSpPr>
        <p:spPr>
          <a:xfrm>
            <a:off x="174863" y="2282690"/>
            <a:ext cx="8599717" cy="45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553" algn="just">
              <a:lnSpc>
                <a:spcPct val="125000"/>
              </a:lnSpc>
            </a:pPr>
            <a:r>
              <a:rPr lang="zh-CN" altLang="en-US" sz="21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四分位差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Interquartile range, IQR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1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是上四分位数与下四分位数之差：</a:t>
            </a:r>
            <a:endParaRPr lang="zh-CN" altLang="zh-CN" sz="21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A149DE-3DEF-4CF0-A490-C1A30C720EE0}"/>
              </a:ext>
            </a:extLst>
          </p:cNvPr>
          <p:cNvSpPr txBox="1"/>
          <p:nvPr/>
        </p:nvSpPr>
        <p:spPr>
          <a:xfrm>
            <a:off x="272140" y="1311854"/>
            <a:ext cx="8599717" cy="85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553" algn="just">
              <a:lnSpc>
                <a:spcPct val="125000"/>
              </a:lnSpc>
            </a:pPr>
            <a:r>
              <a:rPr lang="zh-CN" altLang="en-US" sz="21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四分位数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Quartile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1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也称四分位点，是指把所有数据按照递增顺序排列并将其分成四等份后，处于三个分割点位置的变量值。</a:t>
            </a:r>
            <a:endParaRPr lang="zh-CN" altLang="zh-CN" sz="21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641D7BA-C72E-49E0-BD0E-20B1F42E7F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598802"/>
              </p:ext>
            </p:extLst>
          </p:nvPr>
        </p:nvGraphicFramePr>
        <p:xfrm>
          <a:off x="3812648" y="2849570"/>
          <a:ext cx="1656155" cy="432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2" name="Equation" r:id="rId3" imgW="875864" imgH="228592" progId="Equation.DSMT4">
                  <p:embed/>
                </p:oleObj>
              </mc:Choice>
              <mc:Fallback>
                <p:oleObj name="Equation" r:id="rId3" imgW="875864" imgH="228592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A81899F-3228-7B3C-BE8E-7B4DF5CA0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2648" y="2849570"/>
                        <a:ext cx="1656155" cy="432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097709D0-A585-4C9E-87EA-66815DEACE1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649" r="19712"/>
          <a:stretch/>
        </p:blipFill>
        <p:spPr>
          <a:xfrm>
            <a:off x="1760707" y="3631505"/>
            <a:ext cx="4844374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902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BD2746-393C-4CD2-8A06-95F310F89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四分位差</a:t>
            </a:r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C75DCE-74B0-45D8-A469-59E917F7E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AE6B4AF-552E-4DD7-A7E2-47502603016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0175" y="822120"/>
            <a:ext cx="8883650" cy="3390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求四分位数过程：</a:t>
            </a:r>
            <a:endParaRPr lang="en-US" altLang="zh-CN" dirty="0"/>
          </a:p>
          <a:p>
            <a:pPr lvl="1"/>
            <a:r>
              <a:rPr lang="zh-CN" altLang="en-US" dirty="0"/>
              <a:t>步骤</a:t>
            </a:r>
            <a:r>
              <a:rPr lang="en-US" altLang="zh-CN" dirty="0"/>
              <a:t>1</a:t>
            </a:r>
            <a:r>
              <a:rPr lang="zh-CN" altLang="en-US" dirty="0"/>
              <a:t>：对数据集排序；</a:t>
            </a:r>
            <a:endParaRPr lang="en-US" altLang="zh-CN" dirty="0"/>
          </a:p>
          <a:p>
            <a:pPr lvl="1"/>
            <a:r>
              <a:rPr lang="zh-CN" altLang="en-US" dirty="0"/>
              <a:t>步骤</a:t>
            </a:r>
            <a:r>
              <a:rPr lang="en-US" altLang="zh-CN" dirty="0"/>
              <a:t>2</a:t>
            </a:r>
            <a:r>
              <a:rPr lang="zh-CN" altLang="en-US" dirty="0"/>
              <a:t>：计算</a:t>
            </a:r>
            <a:r>
              <a:rPr lang="en-US" altLang="zh-CN" dirty="0"/>
              <a:t>Q1</a:t>
            </a:r>
            <a:r>
              <a:rPr lang="zh-CN" altLang="en-US" dirty="0"/>
              <a:t>和</a:t>
            </a:r>
            <a:r>
              <a:rPr lang="en-US" altLang="zh-CN" dirty="0"/>
              <a:t>Q3</a:t>
            </a:r>
            <a:r>
              <a:rPr lang="zh-CN" altLang="en-US" dirty="0"/>
              <a:t>；参考算法如下：</a:t>
            </a:r>
            <a:endParaRPr lang="en-US" altLang="zh-CN" dirty="0"/>
          </a:p>
          <a:p>
            <a:pPr lvl="2"/>
            <a:r>
              <a:rPr lang="en-US" altLang="zh-CN" dirty="0"/>
              <a:t>1.</a:t>
            </a:r>
            <a:r>
              <a:rPr lang="zh-CN" altLang="en-US" dirty="0"/>
              <a:t>  使用中位数将有序数据集分成两半。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en-US" altLang="zh-CN" dirty="0"/>
              <a:t>1.1  </a:t>
            </a:r>
            <a:r>
              <a:rPr lang="zh-CN" altLang="en-US" dirty="0"/>
              <a:t>如果原始有序数据集中的数据点数量为奇数，则不要在任何一半中包含中位数（有序列表中的中心值）。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en-US" altLang="zh-CN" dirty="0"/>
              <a:t>1.2  </a:t>
            </a:r>
            <a:r>
              <a:rPr lang="zh-CN" altLang="en-US" dirty="0"/>
              <a:t>如果原始有序数据集中有偶数个数据点，则将这个数据集恰好分成两半。</a:t>
            </a:r>
            <a:endParaRPr lang="en-US" altLang="zh-CN" dirty="0"/>
          </a:p>
          <a:p>
            <a:pPr lvl="2"/>
            <a:r>
              <a:rPr lang="en-US" altLang="zh-CN" dirty="0"/>
              <a:t>2.</a:t>
            </a:r>
            <a:r>
              <a:rPr lang="zh-CN" altLang="en-US" dirty="0"/>
              <a:t>  上下四分位数值分别为上半部分和下半部分数据的中位数。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EECB55E-16C9-40B1-8EBB-D3A56245AA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49" r="19712"/>
          <a:stretch/>
        </p:blipFill>
        <p:spPr>
          <a:xfrm>
            <a:off x="1692613" y="4332053"/>
            <a:ext cx="4844374" cy="22098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5725023-EEE7-477D-82C0-3C4C2DC1EFF0}"/>
              </a:ext>
            </a:extLst>
          </p:cNvPr>
          <p:cNvSpPr txBox="1"/>
          <p:nvPr/>
        </p:nvSpPr>
        <p:spPr>
          <a:xfrm>
            <a:off x="6718097" y="4681954"/>
            <a:ext cx="22957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结果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Q1 = 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Q2 = 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Q3 = 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IQR = 3</a:t>
            </a:r>
          </a:p>
        </p:txBody>
      </p:sp>
    </p:spTree>
    <p:extLst>
      <p:ext uri="{BB962C8B-B14F-4D97-AF65-F5344CB8AC3E}">
        <p14:creationId xmlns:p14="http://schemas.microsoft.com/office/powerpoint/2010/main" val="932808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E334E7-242A-45A8-9686-09099E789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四分位差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CA893D-F658-4808-B270-A1C17E60E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数据（从小到大排列）</a:t>
            </a:r>
            <a:r>
              <a:rPr lang="en-US" altLang="zh-CN" dirty="0"/>
              <a:t>n=8</a:t>
            </a:r>
            <a:r>
              <a:rPr lang="zh-CN" altLang="en-US" dirty="0"/>
              <a:t>：</a:t>
            </a:r>
            <a:br>
              <a:rPr lang="zh-CN" altLang="en-US" dirty="0"/>
            </a:br>
            <a:r>
              <a:rPr lang="en-US" altLang="zh-CN" dirty="0"/>
              <a:t>150</a:t>
            </a:r>
            <a:r>
              <a:rPr lang="zh-CN" altLang="en-US" dirty="0"/>
              <a:t>，</a:t>
            </a:r>
            <a:r>
              <a:rPr lang="en-US" altLang="zh-CN" dirty="0"/>
              <a:t>155</a:t>
            </a:r>
            <a:r>
              <a:rPr lang="zh-CN" altLang="en-US" dirty="0"/>
              <a:t>，</a:t>
            </a:r>
            <a:r>
              <a:rPr lang="en-US" altLang="zh-CN" dirty="0"/>
              <a:t>160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0000"/>
                </a:solidFill>
              </a:rPr>
              <a:t>165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170</a:t>
            </a:r>
            <a:r>
              <a:rPr lang="zh-CN" altLang="en-US" dirty="0"/>
              <a:t>，</a:t>
            </a:r>
            <a:r>
              <a:rPr lang="en-US" altLang="zh-CN" dirty="0"/>
              <a:t>175</a:t>
            </a:r>
            <a:r>
              <a:rPr lang="zh-CN" altLang="en-US" dirty="0"/>
              <a:t>，</a:t>
            </a:r>
            <a:r>
              <a:rPr lang="en-US" altLang="zh-CN" dirty="0"/>
              <a:t>180</a:t>
            </a:r>
            <a:r>
              <a:rPr lang="zh-CN" altLang="en-US" dirty="0"/>
              <a:t>，</a:t>
            </a:r>
            <a:r>
              <a:rPr lang="en-US" altLang="zh-CN" dirty="0"/>
              <a:t>185</a:t>
            </a:r>
          </a:p>
          <a:p>
            <a:r>
              <a:rPr lang="zh-CN" altLang="en-US" dirty="0"/>
              <a:t>过程</a:t>
            </a:r>
            <a:r>
              <a:rPr lang="en-US" altLang="zh-CN" dirty="0"/>
              <a:t>:</a:t>
            </a:r>
          </a:p>
          <a:p>
            <a:pPr indent="0">
              <a:lnSpc>
                <a:spcPct val="114000"/>
              </a:lnSpc>
              <a:buFont typeface="+mj-lt"/>
              <a:buAutoNum type="arabicPeriod"/>
            </a:pPr>
            <a:r>
              <a:rPr lang="zh-CN" altLang="en-US" sz="1800" dirty="0"/>
              <a:t> 中位数（</a:t>
            </a:r>
            <a:r>
              <a:rPr lang="en-US" altLang="zh-CN" sz="1800" dirty="0"/>
              <a:t>Q2</a:t>
            </a:r>
            <a:r>
              <a:rPr lang="zh-CN" altLang="en-US" sz="1800" dirty="0"/>
              <a:t>）</a:t>
            </a:r>
          </a:p>
          <a:p>
            <a:pPr indent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800" dirty="0"/>
              <a:t>共有</a:t>
            </a:r>
            <a:r>
              <a:rPr lang="en-US" altLang="zh-CN" sz="1800" dirty="0"/>
              <a:t>8</a:t>
            </a:r>
            <a:r>
              <a:rPr lang="zh-CN" altLang="en-US" sz="1800" dirty="0"/>
              <a:t>个数，取第</a:t>
            </a:r>
            <a:r>
              <a:rPr lang="en-US" altLang="zh-CN" sz="1800" dirty="0"/>
              <a:t>4</a:t>
            </a:r>
            <a:r>
              <a:rPr lang="zh-CN" altLang="en-US" sz="1800" dirty="0"/>
              <a:t>和第</a:t>
            </a:r>
            <a:r>
              <a:rPr lang="en-US" altLang="zh-CN" sz="1800" dirty="0"/>
              <a:t>5</a:t>
            </a:r>
            <a:r>
              <a:rPr lang="zh-CN" altLang="en-US" sz="1800" dirty="0"/>
              <a:t>个数的平均值：</a:t>
            </a:r>
          </a:p>
          <a:p>
            <a:pPr indent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altLang="zh-CN" sz="1800" dirty="0"/>
              <a:t>(165 + 170) ÷ 2 = 167.5</a:t>
            </a:r>
            <a:endParaRPr lang="zh-CN" altLang="en-US" sz="1800" dirty="0"/>
          </a:p>
          <a:p>
            <a:pPr indent="0">
              <a:lnSpc>
                <a:spcPct val="114000"/>
              </a:lnSpc>
              <a:buFont typeface="+mj-lt"/>
              <a:buAutoNum type="arabicPeriod" startAt="2"/>
            </a:pPr>
            <a:r>
              <a:rPr lang="zh-CN" altLang="en-US" sz="1800" dirty="0"/>
              <a:t>下四分位数（</a:t>
            </a:r>
            <a:r>
              <a:rPr lang="en-US" altLang="zh-CN" sz="1800" dirty="0"/>
              <a:t>Q1</a:t>
            </a:r>
            <a:r>
              <a:rPr lang="zh-CN" altLang="en-US" sz="1800" dirty="0"/>
              <a:t>）</a:t>
            </a:r>
          </a:p>
          <a:p>
            <a:pPr indent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800" dirty="0"/>
              <a:t>前</a:t>
            </a:r>
            <a:r>
              <a:rPr lang="en-US" altLang="zh-CN" sz="1800" dirty="0"/>
              <a:t>4</a:t>
            </a:r>
            <a:r>
              <a:rPr lang="zh-CN" altLang="en-US" sz="1800" dirty="0"/>
              <a:t>个数：</a:t>
            </a:r>
            <a:r>
              <a:rPr lang="en-US" altLang="zh-CN" sz="1800" dirty="0"/>
              <a:t>150</a:t>
            </a:r>
            <a:r>
              <a:rPr lang="zh-CN" altLang="en-US" sz="1800" dirty="0"/>
              <a:t>，</a:t>
            </a:r>
            <a:r>
              <a:rPr lang="en-US" altLang="zh-CN" sz="1800" b="1" dirty="0">
                <a:solidFill>
                  <a:srgbClr val="FF0000"/>
                </a:solidFill>
              </a:rPr>
              <a:t>155</a:t>
            </a:r>
            <a:r>
              <a:rPr lang="zh-CN" altLang="en-US" sz="1800" b="1" dirty="0">
                <a:solidFill>
                  <a:srgbClr val="FF0000"/>
                </a:solidFill>
              </a:rPr>
              <a:t>，</a:t>
            </a:r>
            <a:r>
              <a:rPr lang="en-US" altLang="zh-CN" sz="1800" b="1" dirty="0">
                <a:solidFill>
                  <a:srgbClr val="FF0000"/>
                </a:solidFill>
              </a:rPr>
              <a:t>160</a:t>
            </a:r>
            <a:r>
              <a:rPr lang="zh-CN" altLang="en-US" sz="1800" dirty="0"/>
              <a:t>，</a:t>
            </a:r>
            <a:r>
              <a:rPr lang="en-US" altLang="zh-CN" sz="1800" dirty="0"/>
              <a:t>165</a:t>
            </a:r>
          </a:p>
          <a:p>
            <a:pPr indent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800" dirty="0"/>
              <a:t>中位数 </a:t>
            </a:r>
            <a:r>
              <a:rPr lang="en-US" altLang="zh-CN" sz="1800" dirty="0"/>
              <a:t>= (155 + 160) ÷ 2 = 157.5</a:t>
            </a:r>
            <a:endParaRPr lang="zh-CN" altLang="en-US" sz="1800" dirty="0"/>
          </a:p>
          <a:p>
            <a:pPr indent="0">
              <a:lnSpc>
                <a:spcPct val="114000"/>
              </a:lnSpc>
              <a:buFont typeface="+mj-lt"/>
              <a:buAutoNum type="arabicPeriod" startAt="3"/>
            </a:pPr>
            <a:r>
              <a:rPr lang="zh-CN" altLang="en-US" sz="1800" dirty="0"/>
              <a:t>上四分位数（</a:t>
            </a:r>
            <a:r>
              <a:rPr lang="en-US" altLang="zh-CN" sz="1800" dirty="0"/>
              <a:t>Q3</a:t>
            </a:r>
            <a:r>
              <a:rPr lang="zh-CN" altLang="en-US" sz="1800" dirty="0"/>
              <a:t>）</a:t>
            </a:r>
          </a:p>
          <a:p>
            <a:pPr indent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800" dirty="0"/>
              <a:t>后</a:t>
            </a:r>
            <a:r>
              <a:rPr lang="en-US" altLang="zh-CN" sz="1800" dirty="0"/>
              <a:t>4</a:t>
            </a:r>
            <a:r>
              <a:rPr lang="zh-CN" altLang="en-US" sz="1800" dirty="0"/>
              <a:t>个数：</a:t>
            </a:r>
            <a:r>
              <a:rPr lang="en-US" altLang="zh-CN" sz="1800" dirty="0"/>
              <a:t>170</a:t>
            </a:r>
            <a:r>
              <a:rPr lang="zh-CN" altLang="en-US" sz="1800" dirty="0"/>
              <a:t>，</a:t>
            </a:r>
            <a:r>
              <a:rPr lang="en-US" altLang="zh-CN" sz="1800" b="1" dirty="0">
                <a:solidFill>
                  <a:srgbClr val="FF0000"/>
                </a:solidFill>
              </a:rPr>
              <a:t>175</a:t>
            </a:r>
            <a:r>
              <a:rPr lang="zh-CN" altLang="en-US" sz="1800" b="1" dirty="0">
                <a:solidFill>
                  <a:srgbClr val="FF0000"/>
                </a:solidFill>
              </a:rPr>
              <a:t>，</a:t>
            </a:r>
            <a:r>
              <a:rPr lang="en-US" altLang="zh-CN" sz="1800" b="1" dirty="0">
                <a:solidFill>
                  <a:srgbClr val="FF0000"/>
                </a:solidFill>
              </a:rPr>
              <a:t>180</a:t>
            </a:r>
            <a:r>
              <a:rPr lang="zh-CN" altLang="en-US" sz="1800" dirty="0"/>
              <a:t>，</a:t>
            </a:r>
            <a:r>
              <a:rPr lang="en-US" altLang="zh-CN" sz="1800" dirty="0"/>
              <a:t>185</a:t>
            </a:r>
          </a:p>
          <a:p>
            <a:pPr indent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800" dirty="0"/>
              <a:t>中位数 </a:t>
            </a:r>
            <a:r>
              <a:rPr lang="en-US" altLang="zh-CN" sz="1800" dirty="0"/>
              <a:t>= (175 + 180) ÷ 2 = 177.5</a:t>
            </a:r>
            <a:endParaRPr lang="zh-CN" altLang="en-US" sz="1800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89A5C5-5273-499C-8889-46F0DE6EB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D2EE7F-6E87-4261-98F1-CB9A0AF2A096}"/>
              </a:ext>
            </a:extLst>
          </p:cNvPr>
          <p:cNvSpPr txBox="1"/>
          <p:nvPr/>
        </p:nvSpPr>
        <p:spPr>
          <a:xfrm>
            <a:off x="5748955" y="4049839"/>
            <a:ext cx="22957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结果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Q1 = 157.5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Q2 = 167.5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Q3 = 177.5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IQR = 20</a:t>
            </a:r>
          </a:p>
        </p:txBody>
      </p:sp>
    </p:spTree>
    <p:extLst>
      <p:ext uri="{BB962C8B-B14F-4D97-AF65-F5344CB8AC3E}">
        <p14:creationId xmlns:p14="http://schemas.microsoft.com/office/powerpoint/2010/main" val="12693271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B6EC5-1E8C-47AC-9B63-4FB5170BB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四分位差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01BCF-CAC9-4F67-AA11-C09D78058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39D60D3-384C-4B3D-89C5-1F1AE650EF0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4938" y="906463"/>
            <a:ext cx="8883650" cy="247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四分位差表示排序后处于中间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的数据覆盖范围，其值越小，说明中间的数据越集中，其值越大，说明中间的数据越离散。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28600" algn="just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由于中位数位于四分位数之间，故四分位差也能反映出中位数对于数据样本的代表程度，四分位差越小，中位数的代表程度越高，反之，代表程度越低。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53742F5-12C0-4136-A151-6768B1662B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614" b="12836"/>
          <a:stretch/>
        </p:blipFill>
        <p:spPr>
          <a:xfrm>
            <a:off x="1296210" y="3380987"/>
            <a:ext cx="6551579" cy="277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4411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024A74-640A-451F-84FB-73D0C0D90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分布形态度量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9C7BCE-815C-49BF-8727-EA4704125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4081" y="2162336"/>
            <a:ext cx="3272858" cy="1087436"/>
          </a:xfrm>
        </p:spPr>
        <p:txBody>
          <a:bodyPr/>
          <a:lstStyle/>
          <a:p>
            <a:r>
              <a:rPr lang="en-US" altLang="zh-CN" sz="2000" dirty="0"/>
              <a:t>s</a:t>
            </a:r>
            <a:r>
              <a:rPr lang="zh-CN" altLang="en-US" sz="2000" dirty="0"/>
              <a:t>为样本标准差</a:t>
            </a:r>
            <a:endParaRPr lang="en-US" altLang="zh-CN" sz="2000" dirty="0"/>
          </a:p>
          <a:p>
            <a:r>
              <a:rPr lang="en-US" altLang="zh-CN" sz="2000" dirty="0"/>
              <a:t>n</a:t>
            </a:r>
            <a:r>
              <a:rPr lang="zh-CN" altLang="en-US" sz="2000" dirty="0"/>
              <a:t>为样本量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218A4D-B6C4-41DA-A67C-881B9C30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B89FD0-8E9E-4A26-8F08-0A0F205FC314}"/>
              </a:ext>
            </a:extLst>
          </p:cNvPr>
          <p:cNvSpPr txBox="1"/>
          <p:nvPr/>
        </p:nvSpPr>
        <p:spPr>
          <a:xfrm>
            <a:off x="134223" y="979448"/>
            <a:ext cx="8599717" cy="85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553" algn="just">
              <a:lnSpc>
                <a:spcPct val="125000"/>
              </a:lnSpc>
            </a:pPr>
            <a:r>
              <a:rPr lang="zh-CN" altLang="en-US" sz="21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偏态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Skewness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1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是对一组数据分布相较于标准正态分布的偏斜方向和程度的度量：</a:t>
            </a:r>
            <a:endParaRPr lang="zh-CN" altLang="zh-CN" sz="21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C37DD4C-5AD1-4EE9-95DB-36A6486EEF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466843"/>
              </p:ext>
            </p:extLst>
          </p:nvPr>
        </p:nvGraphicFramePr>
        <p:xfrm>
          <a:off x="1437061" y="2290974"/>
          <a:ext cx="2646283" cy="958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Equation" r:id="rId3" imgW="1313796" imgH="476263" progId="Equation.DSMT4">
                  <p:embed/>
                </p:oleObj>
              </mc:Choice>
              <mc:Fallback>
                <p:oleObj name="Equation" r:id="rId3" imgW="1313796" imgH="476263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B9A93C15-3EBF-1D00-8F73-A792D37E48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37061" y="2290974"/>
                        <a:ext cx="2646283" cy="9587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4C321C19-708C-4E6A-A4D4-E6A3220CBA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39" y="3928148"/>
            <a:ext cx="7559342" cy="240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6884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6AF6ABC4-096F-4F22-9852-DBF082040F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40" t="1931" r="1088" b="3853"/>
          <a:stretch>
            <a:fillRect/>
          </a:stretch>
        </p:blipFill>
        <p:spPr>
          <a:xfrm>
            <a:off x="3311900" y="2978383"/>
            <a:ext cx="5652054" cy="294005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1675256-4D7D-4B7B-B636-056902A9E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华光综艺_CNKI" panose="02000500000000000000" pitchFamily="2" charset="-122"/>
                <a:ea typeface="华光综艺_CNKI" panose="02000500000000000000" pitchFamily="2" charset="-122"/>
              </a:rPr>
              <a:t>分布形态度量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0D56E1-C934-46BC-A7A8-E1708F965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1" y="2730846"/>
            <a:ext cx="5005247" cy="2423531"/>
          </a:xfrm>
        </p:spPr>
        <p:txBody>
          <a:bodyPr/>
          <a:lstStyle/>
          <a:p>
            <a:r>
              <a:rPr lang="en-US" altLang="zh-CN" sz="2400" dirty="0"/>
              <a:t>s</a:t>
            </a:r>
            <a:r>
              <a:rPr lang="zh-CN" altLang="en-US" sz="1800" dirty="0"/>
              <a:t>为样本标准差</a:t>
            </a:r>
            <a:endParaRPr lang="en-US" altLang="zh-CN" sz="1800" dirty="0"/>
          </a:p>
          <a:p>
            <a:r>
              <a:rPr lang="en-US" altLang="zh-CN" sz="1800" dirty="0"/>
              <a:t>N</a:t>
            </a:r>
            <a:r>
              <a:rPr lang="zh-CN" altLang="en-US" sz="1800" dirty="0"/>
              <a:t>为样本量</a:t>
            </a:r>
            <a:endParaRPr lang="en-US" altLang="zh-CN" sz="1800" dirty="0"/>
          </a:p>
          <a:p>
            <a:r>
              <a:rPr lang="en-US" altLang="zh-CN" sz="1800" dirty="0"/>
              <a:t>K&gt;0,</a:t>
            </a:r>
            <a:r>
              <a:rPr lang="zh-CN" altLang="en-US" sz="1800" dirty="0"/>
              <a:t>为尖峰分布，数据更为集中</a:t>
            </a:r>
            <a:endParaRPr lang="en-US" altLang="zh-CN" sz="1800" dirty="0"/>
          </a:p>
          <a:p>
            <a:r>
              <a:rPr lang="en-US" altLang="zh-CN" sz="1800" dirty="0"/>
              <a:t>K&lt;0,</a:t>
            </a:r>
            <a:r>
              <a:rPr lang="zh-CN" altLang="en-US" sz="1800" dirty="0"/>
              <a:t>为扁平分布，数据更为离散</a:t>
            </a:r>
            <a:endParaRPr lang="en-US" altLang="zh-CN" sz="1800" dirty="0"/>
          </a:p>
          <a:p>
            <a:r>
              <a:rPr lang="en-US" altLang="zh-CN" sz="1800" dirty="0"/>
              <a:t>K=0,</a:t>
            </a:r>
            <a:r>
              <a:rPr lang="zh-CN" altLang="en-US" sz="1800" dirty="0"/>
              <a:t>为标准正态分布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50BE40-AA07-407D-B5DB-79143868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A1E73C-3F8A-4DF0-9492-128192A02D70}"/>
              </a:ext>
            </a:extLst>
          </p:cNvPr>
          <p:cNvSpPr txBox="1"/>
          <p:nvPr/>
        </p:nvSpPr>
        <p:spPr>
          <a:xfrm>
            <a:off x="272141" y="939567"/>
            <a:ext cx="8599717" cy="85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553" algn="just">
              <a:lnSpc>
                <a:spcPct val="125000"/>
              </a:lnSpc>
            </a:pPr>
            <a:r>
              <a:rPr lang="zh-CN" altLang="en-US" sz="21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峰态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Kurtosis</a:t>
            </a:r>
            <a:r>
              <a:rPr lang="zh-CN" altLang="zh-CN" sz="21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1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是对数据分布相较于标准正态分布的平峰或尖峰程度的度量：</a:t>
            </a:r>
            <a:endParaRPr lang="zh-CN" altLang="zh-CN" sz="21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BA91DC2-D299-4951-9F97-792D81F924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6760397"/>
              </p:ext>
            </p:extLst>
          </p:nvPr>
        </p:nvGraphicFramePr>
        <p:xfrm>
          <a:off x="1834408" y="1703623"/>
          <a:ext cx="5612634" cy="1027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Equation" r:id="rId5" imgW="3122739" imgH="571660" progId="Equation.DSMT4">
                  <p:embed/>
                </p:oleObj>
              </mc:Choice>
              <mc:Fallback>
                <p:oleObj name="Equation" r:id="rId5" imgW="3122739" imgH="5716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AC8CAAD-9489-1910-9547-7DE78BDA98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4408" y="1703623"/>
                        <a:ext cx="5612634" cy="10272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7489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8A250-2572-4E2C-B339-F69FDEDBD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统计指标</a:t>
            </a:r>
            <a:r>
              <a:rPr lang="en-US" altLang="zh-CN" dirty="0"/>
              <a:t>-</a:t>
            </a:r>
            <a:r>
              <a:rPr lang="zh-CN" altLang="en-US" dirty="0"/>
              <a:t>小结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2DAB62-005B-4766-A960-87CF1E967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821044-E151-4E96-B89A-062B376F4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877" y="948348"/>
            <a:ext cx="7174093" cy="552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4831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37AE3-1779-4955-A567-5AF8A4A68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光综艺_CNKI" panose="02000500000000000000" pitchFamily="2" charset="-122"/>
                <a:ea typeface="华光综艺_CNKI" panose="02000500000000000000" pitchFamily="2" charset="-122"/>
              </a:rPr>
              <a:t>Python</a:t>
            </a:r>
            <a:r>
              <a:rPr lang="zh-CN" altLang="en-US" dirty="0">
                <a:latin typeface="华光综艺_CNKI" panose="02000500000000000000" pitchFamily="2" charset="-122"/>
                <a:ea typeface="华光综艺_CNKI" panose="02000500000000000000" pitchFamily="2" charset="-122"/>
              </a:rPr>
              <a:t>中</a:t>
            </a:r>
            <a:r>
              <a:rPr lang="zh-CN" altLang="en-US" sz="3600" dirty="0">
                <a:latin typeface="华光综艺_CNKI" panose="02000500000000000000" pitchFamily="2" charset="-122"/>
                <a:ea typeface="华光综艺_CNKI" panose="02000500000000000000" pitchFamily="2" charset="-122"/>
              </a:rPr>
              <a:t>常用工具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42E430-CBB8-4575-9A63-DA01699A7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3AF2B4-6C4E-4E57-89F2-016626E0D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45" y="974995"/>
            <a:ext cx="7842098" cy="526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0569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BD059D-C538-4807-9A09-AC2BF381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实践案例：化妆品销售数据描述性统计分析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FB1746-471C-4BA6-A755-A2A5F358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C8508A-A6BD-4267-AC7C-13B8DADC6658}"/>
              </a:ext>
            </a:extLst>
          </p:cNvPr>
          <p:cNvSpPr txBox="1"/>
          <p:nvPr/>
        </p:nvSpPr>
        <p:spPr>
          <a:xfrm>
            <a:off x="119458" y="1030331"/>
            <a:ext cx="8905084" cy="2120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本节对化妆品销售数据进行统计分析，数据来自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Kaggle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Sephora Skincare Ingredients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（丝芙兰护肤成分）。该数据包含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1472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条化妆品销售数据，具体字段包括：类型、价格、等级、混合性、干性、正常、油性、敏感性（后五列表示产品是否适合此类皮肤）。本节主要对不同产品类型的价格进行描述性统计，其中产品类型包括保湿霜、洁面乳、面膜、面霜、眼霜和防晒霜六类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8B672A0-31BD-4969-A221-66469504A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229" y="3240538"/>
            <a:ext cx="5749775" cy="221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230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626DA5-55E0-49E2-AF3A-77D289ECA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实践案例：化妆品销售数据描述性统计分析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F25058-4AAA-4BFD-A21F-AE6820926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1A07FC-CA36-4A05-8FF6-8546538E19A0}"/>
              </a:ext>
            </a:extLst>
          </p:cNvPr>
          <p:cNvSpPr txBox="1"/>
          <p:nvPr/>
        </p:nvSpPr>
        <p:spPr>
          <a:xfrm>
            <a:off x="494429" y="1340834"/>
            <a:ext cx="79990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数据分组。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Pandas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库的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groupby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函数将“价格”数据按照“类型”进行拆分，将相同类别的数据分为一组。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2790CA8-E943-4163-B8C3-2A98E4AC3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77" y="2902237"/>
            <a:ext cx="7728399" cy="173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166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6270D3-E102-47E6-9972-C53DC529C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实践案例：化妆品销售数据描述性统计分析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959E1E-730E-4ECE-90FF-9C6877358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55B91B-407A-4516-BDFF-5B01042C3913}"/>
              </a:ext>
            </a:extLst>
          </p:cNvPr>
          <p:cNvSpPr txBox="1"/>
          <p:nvPr/>
        </p:nvSpPr>
        <p:spPr>
          <a:xfrm>
            <a:off x="231782" y="1933871"/>
            <a:ext cx="367452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描述性统计。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对不同类型的化妆品的价格进行描述性统计，包括集中程度度量、离散程度度量以及分布形态度量。大部分指标可直接调用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Pandas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NumPy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库中的统计函数，少数指标（平均差、异众比率、四分位差和变异系数）需自定义计算。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60BA99-AD75-4ADC-845D-52F2DD32A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440" y="1350974"/>
            <a:ext cx="4853015" cy="484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1952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68E8B0-B74D-45B1-A01C-42A623916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实践案例：化妆品销售数据描述性统计分析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86BA0C-1720-4FC1-9206-B4E0B56B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CE0954-424D-4BDF-93D2-A024D247D829}"/>
              </a:ext>
            </a:extLst>
          </p:cNvPr>
          <p:cNvSpPr txBox="1"/>
          <p:nvPr/>
        </p:nvSpPr>
        <p:spPr>
          <a:xfrm>
            <a:off x="354836" y="1316900"/>
            <a:ext cx="3741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输出结果。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3F8C6F0-AAE7-4783-BF5C-2B17F39D6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29" y="1753652"/>
            <a:ext cx="7688341" cy="395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4382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A35C535-0254-4C0D-814D-19B8A81C6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389134"/>
            <a:ext cx="7772400" cy="2079732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Q/A</a:t>
            </a:r>
            <a:br>
              <a:rPr lang="en-US" altLang="zh-CN" b="1" dirty="0"/>
            </a:br>
            <a:br>
              <a:rPr lang="en-US" altLang="zh-CN" b="1" dirty="0"/>
            </a:br>
            <a:r>
              <a:rPr lang="en-US" altLang="zh-CN" b="1" dirty="0"/>
              <a:t>  </a:t>
            </a:r>
            <a:r>
              <a:rPr lang="zh-CN" altLang="en-US" b="1" dirty="0"/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3896923420"/>
      </p:ext>
    </p:extLst>
  </p:cSld>
  <p:clrMapOvr>
    <a:masterClrMapping/>
  </p:clrMapOvr>
</p:sld>
</file>

<file path=ppt/theme/theme1.xml><?xml version="1.0" encoding="utf-8"?>
<a:theme xmlns:a="http://schemas.openxmlformats.org/drawingml/2006/main" name="白底灰边-Office2010风格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黑体+Times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白底灰边-Office2010风格" id="{A4FB97DD-19BC-49FC-8F3F-E7D8E49AC664}" vid="{03B40C34-2A24-480B-ADA3-2497218558F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白底灰边-Office2010风格</Template>
  <TotalTime>20505</TotalTime>
  <Words>2459</Words>
  <Application>Microsoft Office PowerPoint</Application>
  <PresentationFormat>全屏显示(4:3)</PresentationFormat>
  <Paragraphs>309</Paragraphs>
  <Slides>41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56" baseType="lpstr">
      <vt:lpstr>Arial Unicode MS</vt:lpstr>
      <vt:lpstr>黑体</vt:lpstr>
      <vt:lpstr>华光综艺_CNKI</vt:lpstr>
      <vt:lpstr>华文细黑</vt:lpstr>
      <vt:lpstr>楷体</vt:lpstr>
      <vt:lpstr>微软雅黑</vt:lpstr>
      <vt:lpstr>幼圆</vt:lpstr>
      <vt:lpstr>Arial</vt:lpstr>
      <vt:lpstr>Calibri</vt:lpstr>
      <vt:lpstr>Cambria Math</vt:lpstr>
      <vt:lpstr>Times New Roman</vt:lpstr>
      <vt:lpstr>Wingdings</vt:lpstr>
      <vt:lpstr>白底灰边-Office2010风格</vt:lpstr>
      <vt:lpstr>Equation</vt:lpstr>
      <vt:lpstr>公式</vt:lpstr>
      <vt:lpstr>Chapter02 数据描述与统计指标  授课老师：王丽苹    </vt:lpstr>
      <vt:lpstr>2.2 数据属性</vt:lpstr>
      <vt:lpstr>2.2 数据属性</vt:lpstr>
      <vt:lpstr>2.2 数据属性</vt:lpstr>
      <vt:lpstr>2.2 数据属性</vt:lpstr>
      <vt:lpstr>2.2 数据属性</vt:lpstr>
      <vt:lpstr>2.2 数据属性-小结</vt:lpstr>
      <vt:lpstr>数据统计分析</vt:lpstr>
      <vt:lpstr>数据统计分析</vt:lpstr>
      <vt:lpstr>数据统计分析</vt:lpstr>
      <vt:lpstr>频率</vt:lpstr>
      <vt:lpstr>频率</vt:lpstr>
      <vt:lpstr>均值</vt:lpstr>
      <vt:lpstr>均值</vt:lpstr>
      <vt:lpstr>均值</vt:lpstr>
      <vt:lpstr>中位数</vt:lpstr>
      <vt:lpstr>中位数</vt:lpstr>
      <vt:lpstr>众数</vt:lpstr>
      <vt:lpstr>众数</vt:lpstr>
      <vt:lpstr>众数</vt:lpstr>
      <vt:lpstr>例子</vt:lpstr>
      <vt:lpstr>极差和方差</vt:lpstr>
      <vt:lpstr>极差和方差</vt:lpstr>
      <vt:lpstr>极差和方差</vt:lpstr>
      <vt:lpstr>极差和方差</vt:lpstr>
      <vt:lpstr>极差和方差</vt:lpstr>
      <vt:lpstr>绝对平均偏差</vt:lpstr>
      <vt:lpstr>中位数绝对偏差</vt:lpstr>
      <vt:lpstr>四分位差</vt:lpstr>
      <vt:lpstr>四分位差</vt:lpstr>
      <vt:lpstr>四分位差</vt:lpstr>
      <vt:lpstr>四分位差</vt:lpstr>
      <vt:lpstr>分布形态度量</vt:lpstr>
      <vt:lpstr>分布形态度量</vt:lpstr>
      <vt:lpstr>统计指标-小结</vt:lpstr>
      <vt:lpstr>Python中常用工具</vt:lpstr>
      <vt:lpstr>实践案例：化妆品销售数据描述性统计分析</vt:lpstr>
      <vt:lpstr>实践案例：化妆品销售数据描述性统计分析</vt:lpstr>
      <vt:lpstr>实践案例：化妆品销售数据描述性统计分析</vt:lpstr>
      <vt:lpstr>实践案例：化妆品销售数据描述性统计分析</vt:lpstr>
      <vt:lpstr>Q/A    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wuxf</dc:creator>
  <cp:lastModifiedBy>Liping Wang</cp:lastModifiedBy>
  <cp:revision>1688</cp:revision>
  <dcterms:created xsi:type="dcterms:W3CDTF">2018-01-15T02:11:01Z</dcterms:created>
  <dcterms:modified xsi:type="dcterms:W3CDTF">2025-10-08T11:00:08Z</dcterms:modified>
</cp:coreProperties>
</file>