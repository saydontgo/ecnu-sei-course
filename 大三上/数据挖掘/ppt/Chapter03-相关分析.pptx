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6"/>
  </p:notesMasterIdLst>
  <p:sldIdLst>
    <p:sldId id="4261" r:id="rId2"/>
    <p:sldId id="4279" r:id="rId3"/>
    <p:sldId id="4280" r:id="rId4"/>
    <p:sldId id="4281" r:id="rId5"/>
    <p:sldId id="15709" r:id="rId6"/>
    <p:sldId id="328" r:id="rId7"/>
    <p:sldId id="316" r:id="rId8"/>
    <p:sldId id="330" r:id="rId9"/>
    <p:sldId id="15710" r:id="rId10"/>
    <p:sldId id="329" r:id="rId11"/>
    <p:sldId id="332" r:id="rId12"/>
    <p:sldId id="340" r:id="rId13"/>
    <p:sldId id="322" r:id="rId14"/>
    <p:sldId id="15711" r:id="rId15"/>
    <p:sldId id="15712" r:id="rId16"/>
    <p:sldId id="15713" r:id="rId17"/>
    <p:sldId id="15715" r:id="rId18"/>
    <p:sldId id="15716" r:id="rId19"/>
    <p:sldId id="15717" r:id="rId20"/>
    <p:sldId id="15718" r:id="rId21"/>
    <p:sldId id="15719" r:id="rId22"/>
    <p:sldId id="15720" r:id="rId23"/>
    <p:sldId id="770" r:id="rId24"/>
    <p:sldId id="771" r:id="rId25"/>
    <p:sldId id="772" r:id="rId26"/>
    <p:sldId id="795" r:id="rId27"/>
    <p:sldId id="779" r:id="rId28"/>
    <p:sldId id="780" r:id="rId29"/>
    <p:sldId id="781" r:id="rId30"/>
    <p:sldId id="773" r:id="rId31"/>
    <p:sldId id="15748" r:id="rId32"/>
    <p:sldId id="15749" r:id="rId33"/>
    <p:sldId id="15750" r:id="rId34"/>
    <p:sldId id="4278"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FDBE"/>
    <a:srgbClr val="DCFDAB"/>
    <a:srgbClr val="FFAAA9"/>
    <a:srgbClr val="DBFDAA"/>
    <a:srgbClr val="FFE1E1"/>
    <a:srgbClr val="ECE5F7"/>
    <a:srgbClr val="E1D6F2"/>
    <a:srgbClr val="DCFDAD"/>
    <a:srgbClr val="D4C5EC"/>
    <a:srgbClr val="FFDA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99" autoAdjust="0"/>
    <p:restoredTop sz="89333" autoAdjust="0"/>
  </p:normalViewPr>
  <p:slideViewPr>
    <p:cSldViewPr snapToGrid="0">
      <p:cViewPr varScale="1">
        <p:scale>
          <a:sx n="78" d="100"/>
          <a:sy n="78" d="100"/>
        </p:scale>
        <p:origin x="1356" y="6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20823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3BF546-1968-42CF-9186-F00D48681E43}" type="slidenum">
              <a:rPr lang="zh-CN" altLang="en-US" smtClean="0"/>
              <a:t>6</a:t>
            </a:fld>
            <a:endParaRPr lang="zh-CN" altLang="en-US"/>
          </a:p>
        </p:txBody>
      </p:sp>
    </p:spTree>
    <p:extLst>
      <p:ext uri="{BB962C8B-B14F-4D97-AF65-F5344CB8AC3E}">
        <p14:creationId xmlns:p14="http://schemas.microsoft.com/office/powerpoint/2010/main" val="3186337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3BF546-1968-42CF-9186-F00D48681E43}" type="slidenum">
              <a:rPr lang="zh-CN" altLang="en-US" smtClean="0"/>
              <a:t>7</a:t>
            </a:fld>
            <a:endParaRPr lang="zh-CN" altLang="en-US"/>
          </a:p>
        </p:txBody>
      </p:sp>
    </p:spTree>
    <p:extLst>
      <p:ext uri="{BB962C8B-B14F-4D97-AF65-F5344CB8AC3E}">
        <p14:creationId xmlns:p14="http://schemas.microsoft.com/office/powerpoint/2010/main" val="284123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8</a:t>
            </a:fld>
            <a:endParaRPr lang="zh-CN" altLang="en-US"/>
          </a:p>
        </p:txBody>
      </p:sp>
    </p:spTree>
    <p:extLst>
      <p:ext uri="{BB962C8B-B14F-4D97-AF65-F5344CB8AC3E}">
        <p14:creationId xmlns:p14="http://schemas.microsoft.com/office/powerpoint/2010/main" val="2088486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9</a:t>
            </a:fld>
            <a:endParaRPr lang="zh-CN" altLang="en-US"/>
          </a:p>
        </p:txBody>
      </p:sp>
    </p:spTree>
    <p:extLst>
      <p:ext uri="{BB962C8B-B14F-4D97-AF65-F5344CB8AC3E}">
        <p14:creationId xmlns:p14="http://schemas.microsoft.com/office/powerpoint/2010/main" val="1146351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3BF546-1968-42CF-9186-F00D48681E43}" type="slidenum">
              <a:rPr lang="zh-CN" altLang="en-US" smtClean="0"/>
              <a:t>10</a:t>
            </a:fld>
            <a:endParaRPr lang="zh-CN" altLang="en-US"/>
          </a:p>
        </p:txBody>
      </p:sp>
    </p:spTree>
    <p:extLst>
      <p:ext uri="{BB962C8B-B14F-4D97-AF65-F5344CB8AC3E}">
        <p14:creationId xmlns:p14="http://schemas.microsoft.com/office/powerpoint/2010/main" val="1850224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3BF546-1968-42CF-9186-F00D48681E43}" type="slidenum">
              <a:rPr lang="zh-CN" altLang="en-US" smtClean="0"/>
              <a:t>11</a:t>
            </a:fld>
            <a:endParaRPr lang="zh-CN" altLang="en-US"/>
          </a:p>
        </p:txBody>
      </p:sp>
    </p:spTree>
    <p:extLst>
      <p:ext uri="{BB962C8B-B14F-4D97-AF65-F5344CB8AC3E}">
        <p14:creationId xmlns:p14="http://schemas.microsoft.com/office/powerpoint/2010/main" val="2599436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t>12</a:t>
            </a:fld>
            <a:endParaRPr lang="zh-CN" altLang="en-US"/>
          </a:p>
        </p:txBody>
      </p:sp>
    </p:spTree>
    <p:extLst>
      <p:ext uri="{BB962C8B-B14F-4D97-AF65-F5344CB8AC3E}">
        <p14:creationId xmlns:p14="http://schemas.microsoft.com/office/powerpoint/2010/main" val="3767077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a:p>
        </p:txBody>
      </p:sp>
      <p:sp>
        <p:nvSpPr>
          <p:cNvPr id="4" name="灯片编号占位符 3"/>
          <p:cNvSpPr>
            <a:spLocks noGrp="1"/>
          </p:cNvSpPr>
          <p:nvPr>
            <p:ph type="sldNum" sz="quarter" idx="10"/>
          </p:nvPr>
        </p:nvSpPr>
        <p:spPr/>
        <p:txBody>
          <a:bodyPr/>
          <a:lstStyle/>
          <a:p>
            <a:fld id="{113BF546-1968-42CF-9186-F00D48681E43}" type="slidenum">
              <a:rPr lang="zh-CN" altLang="en-US" smtClean="0"/>
              <a:t>13</a:t>
            </a:fld>
            <a:endParaRPr lang="zh-CN" altLang="en-US"/>
          </a:p>
        </p:txBody>
      </p:sp>
    </p:spTree>
    <p:extLst>
      <p:ext uri="{BB962C8B-B14F-4D97-AF65-F5344CB8AC3E}">
        <p14:creationId xmlns:p14="http://schemas.microsoft.com/office/powerpoint/2010/main" val="3767077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0000" y="728663"/>
            <a:ext cx="4778375" cy="3584575"/>
          </a:xfrm>
        </p:spPr>
      </p:sp>
      <p:sp>
        <p:nvSpPr>
          <p:cNvPr id="3" name="备注占位符 2"/>
          <p:cNvSpPr>
            <a:spLocks noGrp="1"/>
          </p:cNvSpPr>
          <p:nvPr>
            <p:ph type="body" idx="1"/>
          </p:nvPr>
        </p:nvSpPr>
        <p:spPr/>
        <p:txBody>
          <a:bodyPr/>
          <a:lstStyle/>
          <a:p>
            <a:pPr marL="0" marR="0" indent="0" algn="l" defTabSz="963613" rtl="0" eaLnBrk="0" fontAlgn="base" latinLnBrk="0" hangingPunct="0">
              <a:lnSpc>
                <a:spcPct val="100000"/>
              </a:lnSpc>
              <a:spcBef>
                <a:spcPct val="30000"/>
              </a:spcBef>
              <a:spcAft>
                <a:spcPct val="0"/>
              </a:spcAft>
              <a:buClrTx/>
              <a:buSzTx/>
              <a:buFontTx/>
              <a:buNone/>
              <a:tabLst/>
              <a:defRPr/>
            </a:pPr>
            <a:endParaRPr/>
          </a:p>
        </p:txBody>
      </p:sp>
    </p:spTree>
    <p:extLst>
      <p:ext uri="{BB962C8B-B14F-4D97-AF65-F5344CB8AC3E}">
        <p14:creationId xmlns:p14="http://schemas.microsoft.com/office/powerpoint/2010/main" val="35984990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768356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6045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73739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30504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2025/10/16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57556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2025/10/16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692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2025/10/16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62953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18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4366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3096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60050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2025/10/16</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1023876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363" indent="-360363"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363"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8888" indent="-268288"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288"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png"/><Relationship Id="rId5" Type="http://schemas.openxmlformats.org/officeDocument/2006/relationships/image" Target="../media/image5.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0.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notesSlide" Target="../notesSlides/notesSlide8.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1.jpeg"/><Relationship Id="rId5" Type="http://schemas.openxmlformats.org/officeDocument/2006/relationships/image" Target="../media/image20.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5.png"/><Relationship Id="rId5" Type="http://schemas.openxmlformats.org/officeDocument/2006/relationships/image" Target="../media/image24.emf"/><Relationship Id="rId4" Type="http://schemas.openxmlformats.org/officeDocument/2006/relationships/image" Target="../media/image23.wmf"/></Relationships>
</file>

<file path=ppt/slides/_rels/slide1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7.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0.wmf"/></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2.wmf"/><Relationship Id="rId5" Type="http://schemas.openxmlformats.org/officeDocument/2006/relationships/oleObject" Target="../embeddings/oleObject10.bin"/><Relationship Id="rId4" Type="http://schemas.openxmlformats.org/officeDocument/2006/relationships/image" Target="../media/image41.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43.wmf"/></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tags" Target="../tags/tag4.xml"/><Relationship Id="rId7" Type="http://schemas.openxmlformats.org/officeDocument/2006/relationships/image" Target="../media/image47.emf"/><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6.emf"/><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64739" y="2797189"/>
            <a:ext cx="8713694" cy="2138947"/>
          </a:xfrm>
        </p:spPr>
        <p:txBody>
          <a:bodyPr anchor="ctr">
            <a:normAutofit fontScale="90000"/>
          </a:bodyPr>
          <a:lstStyle/>
          <a:p>
            <a:pPr>
              <a:lnSpc>
                <a:spcPct val="150000"/>
              </a:lnSpc>
            </a:pP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rPr>
              <a:t>Chapter03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相关分析</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br>
              <a:rPr lang="en-US" altLang="zh-CN" sz="3600" b="1" dirty="0"/>
            </a:br>
            <a:r>
              <a:rPr lang="zh-CN" altLang="en-US" sz="2700" b="1" dirty="0">
                <a:solidFill>
                  <a:srgbClr val="002060"/>
                </a:solidFill>
                <a:latin typeface="微软雅黑" panose="020B0503020204020204" pitchFamily="34" charset="-122"/>
                <a:ea typeface="微软雅黑" panose="020B0503020204020204" pitchFamily="34" charset="-122"/>
              </a:rPr>
              <a:t>授课老师：王丽苹</a:t>
            </a:r>
            <a:br>
              <a:rPr lang="en-US" altLang="zh-CN" sz="31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br>
            <a:br>
              <a:rPr lang="en-US" altLang="zh-CN" sz="3100" dirty="0">
                <a:solidFill>
                  <a:srgbClr val="002060"/>
                </a:solidFill>
                <a:latin typeface="微软雅黑" panose="020B0503020204020204" pitchFamily="34" charset="-122"/>
                <a:ea typeface="微软雅黑" panose="020B0503020204020204" pitchFamily="34" charset="-122"/>
              </a:rPr>
            </a:br>
            <a:r>
              <a:rPr lang="zh-CN" altLang="en-US" sz="3100" dirty="0">
                <a:solidFill>
                  <a:srgbClr val="002060"/>
                </a:solidFill>
                <a:latin typeface="+mn-ea"/>
                <a:ea typeface="+mn-ea"/>
              </a:rPr>
              <a:t> </a:t>
            </a:r>
            <a:br>
              <a:rPr lang="en-US" altLang="zh-CN" sz="3100" dirty="0">
                <a:solidFill>
                  <a:srgbClr val="002060"/>
                </a:solidFill>
              </a:rPr>
            </a:br>
            <a:endParaRPr lang="zh-CN" altLang="en-US" sz="3100" dirty="0">
              <a:solidFill>
                <a:srgbClr val="002060"/>
              </a:solidFill>
            </a:endParaRPr>
          </a:p>
        </p:txBody>
      </p:sp>
      <p:sp>
        <p:nvSpPr>
          <p:cNvPr id="3" name="副标题 2"/>
          <p:cNvSpPr>
            <a:spLocks noGrp="1"/>
          </p:cNvSpPr>
          <p:nvPr>
            <p:ph type="subTitle" idx="1"/>
          </p:nvPr>
        </p:nvSpPr>
        <p:spPr>
          <a:xfrm>
            <a:off x="1192586" y="4060811"/>
            <a:ext cx="6858000" cy="950912"/>
          </a:xfrm>
        </p:spPr>
        <p:txBody>
          <a:bodyPr/>
          <a:lstStyle/>
          <a:p>
            <a:r>
              <a:rPr lang="en-US" altLang="zh-CN" b="1" dirty="0">
                <a:ea typeface="微软雅黑" panose="020B0503020204020204" pitchFamily="34" charset="-122"/>
                <a:cs typeface="微软雅黑" panose="020B0503020204020204" pitchFamily="34" charset="-122"/>
              </a:rPr>
              <a:t>2025</a:t>
            </a:r>
            <a:r>
              <a:rPr lang="zh-CN" altLang="en-US" b="1" dirty="0">
                <a:ea typeface="微软雅黑" panose="020B0503020204020204" pitchFamily="34" charset="-122"/>
                <a:cs typeface="微软雅黑" panose="020B0503020204020204" pitchFamily="34" charset="-122"/>
              </a:rPr>
              <a:t>年 秋</a:t>
            </a:r>
          </a:p>
        </p:txBody>
      </p:sp>
      <p:sp>
        <p:nvSpPr>
          <p:cNvPr id="4" name="矩形 3"/>
          <p:cNvSpPr/>
          <p:nvPr/>
        </p:nvSpPr>
        <p:spPr>
          <a:xfrm>
            <a:off x="5994072" y="180871"/>
            <a:ext cx="3149928"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数据挖掘</a:t>
            </a:r>
            <a:r>
              <a:rPr lang="en-US" altLang="zh-CN" sz="2000" b="1" dirty="0">
                <a:solidFill>
                  <a:srgbClr val="002060"/>
                </a:solidFill>
                <a:latin typeface="微软雅黑" panose="020B0503020204020204" pitchFamily="34" charset="-122"/>
                <a:ea typeface="微软雅黑" panose="020B0503020204020204" pitchFamily="34" charset="-122"/>
              </a:rPr>
              <a:t>》</a:t>
            </a:r>
            <a:r>
              <a:rPr lang="en-US" altLang="zh-CN" sz="2000" b="1" dirty="0">
                <a:solidFill>
                  <a:srgbClr val="002060"/>
                </a:solidFill>
              </a:rPr>
              <a:t>Data Mining</a:t>
            </a:r>
            <a:endParaRPr lang="zh-CN" altLang="en-US" sz="2000" b="1" dirty="0">
              <a:solidFill>
                <a:srgbClr val="002060"/>
              </a:solidFill>
            </a:endParaRPr>
          </a:p>
        </p:txBody>
      </p:sp>
    </p:spTree>
    <p:extLst>
      <p:ext uri="{BB962C8B-B14F-4D97-AF65-F5344CB8AC3E}">
        <p14:creationId xmlns:p14="http://schemas.microsoft.com/office/powerpoint/2010/main" val="1251715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95D30F-9E6F-4921-8F82-067AC94117A3}"/>
              </a:ext>
            </a:extLst>
          </p:cNvPr>
          <p:cNvSpPr>
            <a:spLocks noGrp="1"/>
          </p:cNvSpPr>
          <p:nvPr>
            <p:ph type="title"/>
          </p:nvPr>
        </p:nvSpPr>
        <p:spPr/>
        <p:txBody>
          <a:bodyPr/>
          <a:lstStyle/>
          <a:p>
            <a:r>
              <a:rPr lang="zh-CN" altLang="en-US" dirty="0"/>
              <a:t>相关分析</a:t>
            </a:r>
          </a:p>
        </p:txBody>
      </p:sp>
      <p:sp>
        <p:nvSpPr>
          <p:cNvPr id="3" name="内容占位符 2">
            <a:extLst>
              <a:ext uri="{FF2B5EF4-FFF2-40B4-BE49-F238E27FC236}">
                <a16:creationId xmlns:a16="http://schemas.microsoft.com/office/drawing/2014/main" id="{8D782E95-09CA-4F44-B08D-893B14DE33BC}"/>
              </a:ext>
            </a:extLst>
          </p:cNvPr>
          <p:cNvSpPr>
            <a:spLocks noGrp="1"/>
          </p:cNvSpPr>
          <p:nvPr>
            <p:ph idx="1"/>
          </p:nvPr>
        </p:nvSpPr>
        <p:spPr/>
        <p:txBody>
          <a:bodyPr/>
          <a:lstStyle/>
          <a:p>
            <a:r>
              <a:rPr lang="zh-CN" altLang="en-US" dirty="0"/>
              <a:t>怎么样分析投入的广告经费与用户消费增加之间的关系？</a:t>
            </a:r>
            <a:endParaRPr lang="en-US" altLang="zh-CN" dirty="0"/>
          </a:p>
          <a:p>
            <a:r>
              <a:rPr lang="zh-CN" altLang="en-US" dirty="0"/>
              <a:t>怎么样分析人体的血压与体重之间的关系？</a:t>
            </a:r>
            <a:endParaRPr lang="en-US" altLang="zh-CN" dirty="0"/>
          </a:p>
          <a:p>
            <a:r>
              <a:rPr lang="zh-CN" altLang="en-US" dirty="0"/>
              <a:t>怎么样分析巧克力的销售与消费者人群之间的关系？</a:t>
            </a:r>
          </a:p>
        </p:txBody>
      </p:sp>
      <p:sp>
        <p:nvSpPr>
          <p:cNvPr id="4" name="灯片编号占位符 3">
            <a:extLst>
              <a:ext uri="{FF2B5EF4-FFF2-40B4-BE49-F238E27FC236}">
                <a16:creationId xmlns:a16="http://schemas.microsoft.com/office/drawing/2014/main" id="{4E7F3639-4570-482D-AAF9-5BEAFC44AF04}"/>
              </a:ext>
            </a:extLst>
          </p:cNvPr>
          <p:cNvSpPr>
            <a:spLocks noGrp="1"/>
          </p:cNvSpPr>
          <p:nvPr>
            <p:ph type="sldNum" sz="quarter" idx="12"/>
          </p:nvPr>
        </p:nvSpPr>
        <p:spPr/>
        <p:txBody>
          <a:bodyPr/>
          <a:lstStyle/>
          <a:p>
            <a:fld id="{5AD84F5B-1672-4D3F-9FEC-5DF89A7B7912}" type="slidenum">
              <a:rPr lang="zh-CN" altLang="en-US" smtClean="0"/>
              <a:t>2</a:t>
            </a:fld>
            <a:endParaRPr lang="zh-CN" altLang="en-US"/>
          </a:p>
        </p:txBody>
      </p:sp>
    </p:spTree>
    <p:extLst>
      <p:ext uri="{BB962C8B-B14F-4D97-AF65-F5344CB8AC3E}">
        <p14:creationId xmlns:p14="http://schemas.microsoft.com/office/powerpoint/2010/main" val="116103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5E0D2B-3D1D-458F-BC69-CB558D1BE8AF}"/>
              </a:ext>
            </a:extLst>
          </p:cNvPr>
          <p:cNvSpPr>
            <a:spLocks noGrp="1"/>
          </p:cNvSpPr>
          <p:nvPr>
            <p:ph type="title"/>
          </p:nvPr>
        </p:nvSpPr>
        <p:spPr/>
        <p:txBody>
          <a:bodyPr/>
          <a:lstStyle/>
          <a:p>
            <a:r>
              <a:rPr lang="zh-CN" altLang="en-US" b="1" dirty="0"/>
              <a:t>认识函数关系与相关关系</a:t>
            </a:r>
          </a:p>
        </p:txBody>
      </p:sp>
      <p:sp>
        <p:nvSpPr>
          <p:cNvPr id="3" name="内容占位符 2">
            <a:extLst>
              <a:ext uri="{FF2B5EF4-FFF2-40B4-BE49-F238E27FC236}">
                <a16:creationId xmlns:a16="http://schemas.microsoft.com/office/drawing/2014/main" id="{FB308E5C-8A11-41A0-8938-1198AF89127D}"/>
              </a:ext>
            </a:extLst>
          </p:cNvPr>
          <p:cNvSpPr>
            <a:spLocks noGrp="1"/>
          </p:cNvSpPr>
          <p:nvPr>
            <p:ph idx="1"/>
          </p:nvPr>
        </p:nvSpPr>
        <p:spPr/>
        <p:txBody>
          <a:bodyPr/>
          <a:lstStyle/>
          <a:p>
            <a:r>
              <a:rPr lang="zh-CN" altLang="en-US" dirty="0"/>
              <a:t>函数关系</a:t>
            </a:r>
            <a:endParaRPr lang="en-US" altLang="zh-CN" dirty="0"/>
          </a:p>
          <a:p>
            <a:endParaRPr lang="en-US" altLang="zh-CN" dirty="0"/>
          </a:p>
          <a:p>
            <a:pPr marL="0" indent="0">
              <a:buNone/>
            </a:pPr>
            <a:endParaRPr lang="en-US" altLang="zh-CN" dirty="0"/>
          </a:p>
          <a:p>
            <a:r>
              <a:rPr lang="zh-CN" altLang="en-US" dirty="0"/>
              <a:t>相关关系</a:t>
            </a:r>
          </a:p>
        </p:txBody>
      </p:sp>
      <p:sp>
        <p:nvSpPr>
          <p:cNvPr id="4" name="灯片编号占位符 3">
            <a:extLst>
              <a:ext uri="{FF2B5EF4-FFF2-40B4-BE49-F238E27FC236}">
                <a16:creationId xmlns:a16="http://schemas.microsoft.com/office/drawing/2014/main" id="{BABE9275-0AEC-4478-81CC-E84A5806765E}"/>
              </a:ext>
            </a:extLst>
          </p:cNvPr>
          <p:cNvSpPr>
            <a:spLocks noGrp="1"/>
          </p:cNvSpPr>
          <p:nvPr>
            <p:ph type="sldNum" sz="quarter" idx="12"/>
          </p:nvPr>
        </p:nvSpPr>
        <p:spPr/>
        <p:txBody>
          <a:bodyPr/>
          <a:lstStyle/>
          <a:p>
            <a:fld id="{5AD84F5B-1672-4D3F-9FEC-5DF89A7B7912}" type="slidenum">
              <a:rPr lang="zh-CN" altLang="en-US" smtClean="0"/>
              <a:t>3</a:t>
            </a:fld>
            <a:endParaRPr lang="zh-CN" altLang="en-US"/>
          </a:p>
        </p:txBody>
      </p:sp>
      <p:pic>
        <p:nvPicPr>
          <p:cNvPr id="6" name="图片 5">
            <a:extLst>
              <a:ext uri="{FF2B5EF4-FFF2-40B4-BE49-F238E27FC236}">
                <a16:creationId xmlns:a16="http://schemas.microsoft.com/office/drawing/2014/main" id="{BBDDE7D8-B7E7-49B8-924F-012659823E91}"/>
              </a:ext>
            </a:extLst>
          </p:cNvPr>
          <p:cNvPicPr>
            <a:picLocks noChangeAspect="1"/>
          </p:cNvPicPr>
          <p:nvPr/>
        </p:nvPicPr>
        <p:blipFill>
          <a:blip r:embed="rId2"/>
          <a:stretch>
            <a:fillRect/>
          </a:stretch>
        </p:blipFill>
        <p:spPr>
          <a:xfrm>
            <a:off x="2295727" y="906011"/>
            <a:ext cx="6571033" cy="2212817"/>
          </a:xfrm>
          <a:prstGeom prst="rect">
            <a:avLst/>
          </a:prstGeom>
        </p:spPr>
      </p:pic>
      <p:pic>
        <p:nvPicPr>
          <p:cNvPr id="7" name="图片 1" descr="相关关系图">
            <a:extLst>
              <a:ext uri="{FF2B5EF4-FFF2-40B4-BE49-F238E27FC236}">
                <a16:creationId xmlns:a16="http://schemas.microsoft.com/office/drawing/2014/main" id="{379ED407-DD21-40AB-A1EF-ED182D3DEF99}"/>
              </a:ext>
            </a:extLst>
          </p:cNvPr>
          <p:cNvPicPr>
            <a:picLocks noChangeAspect="1"/>
          </p:cNvPicPr>
          <p:nvPr/>
        </p:nvPicPr>
        <p:blipFill>
          <a:blip r:embed="rId3"/>
          <a:stretch>
            <a:fillRect/>
          </a:stretch>
        </p:blipFill>
        <p:spPr>
          <a:xfrm>
            <a:off x="3750392" y="3360682"/>
            <a:ext cx="4970699" cy="2591307"/>
          </a:xfrm>
          <a:prstGeom prst="rect">
            <a:avLst/>
          </a:prstGeom>
        </p:spPr>
      </p:pic>
      <p:sp>
        <p:nvSpPr>
          <p:cNvPr id="8" name="文本框 7">
            <a:extLst>
              <a:ext uri="{FF2B5EF4-FFF2-40B4-BE49-F238E27FC236}">
                <a16:creationId xmlns:a16="http://schemas.microsoft.com/office/drawing/2014/main" id="{7E7B6A37-C4DD-4345-8BDD-DE49279CEDB2}"/>
              </a:ext>
            </a:extLst>
          </p:cNvPr>
          <p:cNvSpPr txBox="1"/>
          <p:nvPr/>
        </p:nvSpPr>
        <p:spPr>
          <a:xfrm>
            <a:off x="134224" y="3373383"/>
            <a:ext cx="3319096" cy="2308324"/>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rPr>
              <a:t>正相关和负相关</a:t>
            </a:r>
          </a:p>
          <a:p>
            <a:pPr marL="342900" indent="-342900">
              <a:buFont typeface="Arial" panose="020B0604020202020204" pitchFamily="34" charset="0"/>
              <a:buChar char="•"/>
            </a:pPr>
            <a:endPar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rPr>
              <a:t>线性相关和非线性相关</a:t>
            </a:r>
          </a:p>
          <a:p>
            <a:pPr marL="342900" indent="-342900">
              <a:buFont typeface="Arial" panose="020B0604020202020204" pitchFamily="34" charset="0"/>
              <a:buChar char="•"/>
            </a:pPr>
            <a:endPar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rPr>
              <a:t>完全相关、不完全相关和不相关</a:t>
            </a:r>
          </a:p>
          <a:p>
            <a:pPr marL="342900" indent="-342900">
              <a:buFont typeface="Arial" panose="020B0604020202020204" pitchFamily="34" charset="0"/>
              <a:buChar char="•"/>
            </a:pPr>
            <a:endPar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endParaRPr>
          </a:p>
          <a:p>
            <a:pPr marL="342900" indent="-342900">
              <a:buFont typeface="Arial" panose="020B0604020202020204" pitchFamily="34" charset="0"/>
              <a:buChar char="•"/>
            </a:pPr>
            <a:r>
              <a:rPr lang="zh-CN" altLang="en-US" b="1" dirty="0">
                <a:solidFill>
                  <a:srgbClr val="00CCFF"/>
                </a:solidFill>
                <a:effectLst/>
                <a:latin typeface="微软雅黑" panose="020B0503020204020204" pitchFamily="34" charset="-122"/>
                <a:ea typeface="微软雅黑" panose="020B0503020204020204" pitchFamily="34" charset="-122"/>
                <a:cs typeface="+mj-cs"/>
                <a:sym typeface="+mn-ea"/>
              </a:rPr>
              <a:t>单相关和复相关</a:t>
            </a:r>
          </a:p>
        </p:txBody>
      </p:sp>
    </p:spTree>
    <p:extLst>
      <p:ext uri="{BB962C8B-B14F-4D97-AF65-F5344CB8AC3E}">
        <p14:creationId xmlns:p14="http://schemas.microsoft.com/office/powerpoint/2010/main" val="367094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30C54-7E35-4E6F-A92A-EC77EFA60CF5}"/>
              </a:ext>
            </a:extLst>
          </p:cNvPr>
          <p:cNvSpPr>
            <a:spLocks noGrp="1"/>
          </p:cNvSpPr>
          <p:nvPr>
            <p:ph type="title"/>
          </p:nvPr>
        </p:nvSpPr>
        <p:spPr/>
        <p:txBody>
          <a:bodyPr/>
          <a:lstStyle/>
          <a:p>
            <a:r>
              <a:rPr lang="zh-CN" altLang="en-US" b="1" dirty="0"/>
              <a:t>简单线性相关分析</a:t>
            </a:r>
          </a:p>
        </p:txBody>
      </p:sp>
      <p:sp>
        <p:nvSpPr>
          <p:cNvPr id="3" name="内容占位符 2">
            <a:extLst>
              <a:ext uri="{FF2B5EF4-FFF2-40B4-BE49-F238E27FC236}">
                <a16:creationId xmlns:a16="http://schemas.microsoft.com/office/drawing/2014/main" id="{55E47E21-544D-469D-B2F9-FB535C2F0836}"/>
              </a:ext>
            </a:extLst>
          </p:cNvPr>
          <p:cNvSpPr>
            <a:spLocks noGrp="1"/>
          </p:cNvSpPr>
          <p:nvPr>
            <p:ph idx="1"/>
          </p:nvPr>
        </p:nvSpPr>
        <p:spPr/>
        <p:txBody>
          <a:bodyPr/>
          <a:lstStyle/>
          <a:p>
            <a:r>
              <a:rPr lang="zh-CN" altLang="en-US" dirty="0"/>
              <a:t>相关分析  是指通过对大量数据的观察，消除偶然因素的影响，探求变量之间相关关系的强弱程度和表现形式的一种方法。</a:t>
            </a:r>
          </a:p>
          <a:p>
            <a:r>
              <a:rPr lang="zh-CN" altLang="en-US" dirty="0"/>
              <a:t>相关系数  是衡量两个变量之间相关关系强弱程度的统计指标。</a:t>
            </a:r>
          </a:p>
          <a:p>
            <a:endParaRPr lang="zh-CN" altLang="en-US" dirty="0"/>
          </a:p>
        </p:txBody>
      </p:sp>
      <p:sp>
        <p:nvSpPr>
          <p:cNvPr id="4" name="灯片编号占位符 3">
            <a:extLst>
              <a:ext uri="{FF2B5EF4-FFF2-40B4-BE49-F238E27FC236}">
                <a16:creationId xmlns:a16="http://schemas.microsoft.com/office/drawing/2014/main" id="{0985D8A3-7449-4C56-AF81-A50D4E09B86B}"/>
              </a:ext>
            </a:extLst>
          </p:cNvPr>
          <p:cNvSpPr>
            <a:spLocks noGrp="1"/>
          </p:cNvSpPr>
          <p:nvPr>
            <p:ph type="sldNum" sz="quarter" idx="12"/>
          </p:nvPr>
        </p:nvSpPr>
        <p:spPr/>
        <p:txBody>
          <a:bodyPr/>
          <a:lstStyle/>
          <a:p>
            <a:fld id="{5AD84F5B-1672-4D3F-9FEC-5DF89A7B7912}" type="slidenum">
              <a:rPr lang="zh-CN" altLang="en-US" smtClean="0"/>
              <a:t>4</a:t>
            </a:fld>
            <a:endParaRPr lang="zh-CN" altLang="en-US"/>
          </a:p>
        </p:txBody>
      </p:sp>
      <p:graphicFrame>
        <p:nvGraphicFramePr>
          <p:cNvPr id="8" name="表格 7">
            <a:extLst>
              <a:ext uri="{FF2B5EF4-FFF2-40B4-BE49-F238E27FC236}">
                <a16:creationId xmlns:a16="http://schemas.microsoft.com/office/drawing/2014/main" id="{F9A0735C-7F62-4ED3-9A3F-775C467C00C9}"/>
              </a:ext>
            </a:extLst>
          </p:cNvPr>
          <p:cNvGraphicFramePr/>
          <p:nvPr>
            <p:custDataLst>
              <p:tags r:id="rId1"/>
            </p:custDataLst>
            <p:extLst>
              <p:ext uri="{D42A27DB-BD31-4B8C-83A1-F6EECF244321}">
                <p14:modId xmlns:p14="http://schemas.microsoft.com/office/powerpoint/2010/main" val="3567668325"/>
              </p:ext>
            </p:extLst>
          </p:nvPr>
        </p:nvGraphicFramePr>
        <p:xfrm>
          <a:off x="654823" y="2675108"/>
          <a:ext cx="8354954" cy="3072410"/>
        </p:xfrm>
        <a:graphic>
          <a:graphicData uri="http://schemas.openxmlformats.org/drawingml/2006/table">
            <a:tbl>
              <a:tblPr firstRow="1" bandRow="1"/>
              <a:tblGrid>
                <a:gridCol w="2702560">
                  <a:extLst>
                    <a:ext uri="{9D8B030D-6E8A-4147-A177-3AD203B41FA5}">
                      <a16:colId xmlns:a16="http://schemas.microsoft.com/office/drawing/2014/main" val="20000"/>
                    </a:ext>
                  </a:extLst>
                </a:gridCol>
                <a:gridCol w="2081719">
                  <a:extLst>
                    <a:ext uri="{9D8B030D-6E8A-4147-A177-3AD203B41FA5}">
                      <a16:colId xmlns:a16="http://schemas.microsoft.com/office/drawing/2014/main" val="20001"/>
                    </a:ext>
                  </a:extLst>
                </a:gridCol>
                <a:gridCol w="3570675">
                  <a:extLst>
                    <a:ext uri="{9D8B030D-6E8A-4147-A177-3AD203B41FA5}">
                      <a16:colId xmlns:a16="http://schemas.microsoft.com/office/drawing/2014/main" val="20002"/>
                    </a:ext>
                  </a:extLst>
                </a:gridCol>
              </a:tblGrid>
              <a:tr h="533180">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dirty="0">
                          <a:latin typeface="微软雅黑" panose="020B0503020204020204" pitchFamily="34" charset="-122"/>
                          <a:ea typeface="微软雅黑" panose="020B0503020204020204" pitchFamily="34" charset="-122"/>
                        </a:rPr>
                        <a:t>简单线性相关系数</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a:latin typeface="微软雅黑" panose="020B0503020204020204" pitchFamily="34" charset="-122"/>
                          <a:ea typeface="微软雅黑" panose="020B0503020204020204" pitchFamily="34" charset="-122"/>
                        </a:rPr>
                        <a:t>适用数据</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a:latin typeface="微软雅黑" panose="020B0503020204020204" pitchFamily="34" charset="-122"/>
                          <a:ea typeface="微软雅黑" panose="020B0503020204020204" pitchFamily="34" charset="-122"/>
                        </a:rPr>
                        <a:t>优缺点</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78541">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Pearson</a:t>
                      </a:r>
                      <a:r>
                        <a:rPr lang="zh-CN" sz="2000" dirty="0">
                          <a:latin typeface="微软雅黑" panose="020B0503020204020204" pitchFamily="34" charset="-122"/>
                          <a:ea typeface="微软雅黑" panose="020B0503020204020204" pitchFamily="34" charset="-122"/>
                          <a:cs typeface="微软雅黑" panose="020B0503020204020204" pitchFamily="34" charset="-122"/>
                        </a:rPr>
                        <a:t>相关系数</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dirty="0">
                          <a:latin typeface="微软雅黑" panose="020B0503020204020204" pitchFamily="34" charset="-122"/>
                          <a:ea typeface="微软雅黑" panose="020B0503020204020204" pitchFamily="34" charset="-122"/>
                        </a:rPr>
                        <a:t>二元定距变量</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a:latin typeface="微软雅黑" panose="020B0503020204020204" pitchFamily="34" charset="-122"/>
                          <a:ea typeface="微软雅黑" panose="020B0503020204020204" pitchFamily="34" charset="-122"/>
                        </a:rPr>
                        <a:t>要求正态分布，对异常值比较敏感</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06367">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Spearman</a:t>
                      </a:r>
                      <a:r>
                        <a:rPr lang="zh-CN" sz="2000">
                          <a:latin typeface="微软雅黑" panose="020B0503020204020204" pitchFamily="34" charset="-122"/>
                          <a:ea typeface="微软雅黑" panose="020B0503020204020204" pitchFamily="34" charset="-122"/>
                          <a:cs typeface="微软雅黑" panose="020B0503020204020204" pitchFamily="34" charset="-122"/>
                        </a:rPr>
                        <a:t>秩相关系数</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a:latin typeface="微软雅黑" panose="020B0503020204020204" pitchFamily="34" charset="-122"/>
                          <a:ea typeface="微软雅黑" panose="020B0503020204020204" pitchFamily="34" charset="-122"/>
                        </a:rPr>
                        <a:t>二元定序变量</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dirty="0">
                          <a:latin typeface="微软雅黑" panose="020B0503020204020204" pitchFamily="34" charset="-122"/>
                          <a:ea typeface="微软雅黑" panose="020B0503020204020204" pitchFamily="34" charset="-122"/>
                        </a:rPr>
                        <a:t>对异常值不敏感，适用于小样本数据</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05661">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Kendall</a:t>
                      </a:r>
                      <a:r>
                        <a:rPr lang="zh-CN" sz="2000">
                          <a:latin typeface="微软雅黑" panose="020B0503020204020204" pitchFamily="34" charset="-122"/>
                          <a:ea typeface="微软雅黑" panose="020B0503020204020204" pitchFamily="34" charset="-122"/>
                          <a:cs typeface="微软雅黑" panose="020B0503020204020204" pitchFamily="34" charset="-122"/>
                        </a:rPr>
                        <a:t>等级相关系数</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a:latin typeface="微软雅黑" panose="020B0503020204020204" pitchFamily="34" charset="-122"/>
                          <a:ea typeface="微软雅黑" panose="020B0503020204020204" pitchFamily="34" charset="-122"/>
                        </a:rPr>
                        <a:t>二元定序变量</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a:defRPr>
                      </a:lvl1pPr>
                      <a:lvl2pPr marL="457200" algn="l" defTabSz="914400" rtl="0" eaLnBrk="1" latinLnBrk="0" hangingPunct="1">
                        <a:defRPr sz="1800" kern="1200">
                          <a:solidFill>
                            <a:schemeClr val="tx1"/>
                          </a:solidFill>
                          <a:latin typeface="等线"/>
                        </a:defRPr>
                      </a:lvl2pPr>
                      <a:lvl3pPr marL="914400" algn="l" defTabSz="914400" rtl="0" eaLnBrk="1" latinLnBrk="0" hangingPunct="1">
                        <a:defRPr sz="1800" kern="1200">
                          <a:solidFill>
                            <a:schemeClr val="tx1"/>
                          </a:solidFill>
                          <a:latin typeface="等线"/>
                        </a:defRPr>
                      </a:lvl3pPr>
                      <a:lvl4pPr marL="1371600" algn="l" defTabSz="914400" rtl="0" eaLnBrk="1" latinLnBrk="0" hangingPunct="1">
                        <a:defRPr sz="1800" kern="1200">
                          <a:solidFill>
                            <a:schemeClr val="tx1"/>
                          </a:solidFill>
                          <a:latin typeface="等线"/>
                        </a:defRPr>
                      </a:lvl4pPr>
                      <a:lvl5pPr marL="1828800" algn="l" defTabSz="914400" rtl="0" eaLnBrk="1" latinLnBrk="0" hangingPunct="1">
                        <a:defRPr sz="1800" kern="1200">
                          <a:solidFill>
                            <a:schemeClr val="tx1"/>
                          </a:solidFill>
                          <a:latin typeface="等线"/>
                        </a:defRPr>
                      </a:lvl5pPr>
                      <a:lvl6pPr marL="2286000" algn="l" defTabSz="914400" rtl="0" eaLnBrk="1" latinLnBrk="0" hangingPunct="1">
                        <a:defRPr sz="1800" kern="1200">
                          <a:solidFill>
                            <a:schemeClr val="tx1"/>
                          </a:solidFill>
                          <a:latin typeface="等线"/>
                        </a:defRPr>
                      </a:lvl6pPr>
                      <a:lvl7pPr marL="2743200" algn="l" defTabSz="914400" rtl="0" eaLnBrk="1" latinLnBrk="0" hangingPunct="1">
                        <a:defRPr sz="1800" kern="1200">
                          <a:solidFill>
                            <a:schemeClr val="tx1"/>
                          </a:solidFill>
                          <a:latin typeface="等线"/>
                        </a:defRPr>
                      </a:lvl7pPr>
                      <a:lvl8pPr marL="3200400" algn="l" defTabSz="914400" rtl="0" eaLnBrk="1" latinLnBrk="0" hangingPunct="1">
                        <a:defRPr sz="1800" kern="1200">
                          <a:solidFill>
                            <a:schemeClr val="tx1"/>
                          </a:solidFill>
                          <a:latin typeface="等线"/>
                        </a:defRPr>
                      </a:lvl8pPr>
                      <a:lvl9pPr marL="3657600" algn="l" defTabSz="914400" rtl="0" eaLnBrk="1" latinLnBrk="0" hangingPunct="1">
                        <a:defRPr sz="1800" kern="1200">
                          <a:solidFill>
                            <a:schemeClr val="tx1"/>
                          </a:solidFill>
                          <a:latin typeface="等线"/>
                        </a:defRPr>
                      </a:lvl9pPr>
                    </a:lstStyle>
                    <a:p>
                      <a:pPr marL="0" indent="0" algn="l">
                        <a:lnSpc>
                          <a:spcPct val="125000"/>
                        </a:lnSpc>
                        <a:spcBef>
                          <a:spcPct val="0"/>
                        </a:spcBef>
                        <a:spcAft>
                          <a:spcPct val="0"/>
                        </a:spcAft>
                      </a:pPr>
                      <a:r>
                        <a:rPr lang="zh-CN" sz="2000" dirty="0">
                          <a:latin typeface="微软雅黑" panose="020B0503020204020204" pitchFamily="34" charset="-122"/>
                          <a:ea typeface="微软雅黑" panose="020B0503020204020204" pitchFamily="34" charset="-122"/>
                        </a:rPr>
                        <a:t>对异常值不敏感，适用于大样本数据</a:t>
                      </a:r>
                    </a:p>
                  </a:txBody>
                  <a:tcPr marL="68580" marR="6858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19068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0A8520-0900-4185-B236-53108F81AC77}"/>
              </a:ext>
            </a:extLst>
          </p:cNvPr>
          <p:cNvSpPr>
            <a:spLocks noGrp="1"/>
          </p:cNvSpPr>
          <p:nvPr>
            <p:ph type="title"/>
          </p:nvPr>
        </p:nvSpPr>
        <p:spPr/>
        <p:txBody>
          <a:bodyPr/>
          <a:lstStyle/>
          <a:p>
            <a:r>
              <a:rPr lang="zh-CN" altLang="en-US" b="1" dirty="0"/>
              <a:t>简单线性相关分析</a:t>
            </a:r>
            <a:endParaRPr lang="zh-CN" altLang="en-US" dirty="0"/>
          </a:p>
        </p:txBody>
      </p:sp>
      <p:sp>
        <p:nvSpPr>
          <p:cNvPr id="4" name="灯片编号占位符 3">
            <a:extLst>
              <a:ext uri="{FF2B5EF4-FFF2-40B4-BE49-F238E27FC236}">
                <a16:creationId xmlns:a16="http://schemas.microsoft.com/office/drawing/2014/main" id="{40752AAB-4C2B-421B-81C8-791B77999D1D}"/>
              </a:ext>
            </a:extLst>
          </p:cNvPr>
          <p:cNvSpPr>
            <a:spLocks noGrp="1"/>
          </p:cNvSpPr>
          <p:nvPr>
            <p:ph type="sldNum" sz="quarter" idx="12"/>
          </p:nvPr>
        </p:nvSpPr>
        <p:spPr/>
        <p:txBody>
          <a:bodyPr/>
          <a:lstStyle/>
          <a:p>
            <a:fld id="{5AD84F5B-1672-4D3F-9FEC-5DF89A7B7912}" type="slidenum">
              <a:rPr lang="zh-CN" altLang="en-US" smtClean="0"/>
              <a:t>5</a:t>
            </a:fld>
            <a:endParaRPr lang="zh-CN" altLang="en-US"/>
          </a:p>
        </p:txBody>
      </p:sp>
      <p:sp>
        <p:nvSpPr>
          <p:cNvPr id="5" name="文本框 4">
            <a:extLst>
              <a:ext uri="{FF2B5EF4-FFF2-40B4-BE49-F238E27FC236}">
                <a16:creationId xmlns:a16="http://schemas.microsoft.com/office/drawing/2014/main" id="{4714BC7D-01A8-4C83-B17C-67892447693B}"/>
              </a:ext>
            </a:extLst>
          </p:cNvPr>
          <p:cNvSpPr txBox="1"/>
          <p:nvPr/>
        </p:nvSpPr>
        <p:spPr>
          <a:xfrm>
            <a:off x="239791" y="1329725"/>
            <a:ext cx="8904209" cy="458011"/>
          </a:xfrm>
          <a:prstGeom prst="rect">
            <a:avLst/>
          </a:prstGeom>
          <a:noFill/>
        </p:spPr>
        <p:txBody>
          <a:bodyPr wrap="square">
            <a:spAutoFit/>
          </a:bodyPr>
          <a:lstStyle/>
          <a:p>
            <a:pPr>
              <a:lnSpc>
                <a:spcPct val="125000"/>
              </a:lnSpc>
            </a:pPr>
            <a:r>
              <a:rPr lang="en-US" altLang="zh-CN" sz="21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1350" kern="100" dirty="0">
              <a:latin typeface="Cambria" panose="02040503050406030204" pitchFamily="18" charset="0"/>
              <a:ea typeface="黑体" panose="02010609060101010101" charset="-122"/>
              <a:cs typeface="Times New Roman" panose="02020603050405020304" pitchFamily="18" charset="0"/>
            </a:endParaRPr>
          </a:p>
        </p:txBody>
      </p:sp>
      <p:sp>
        <p:nvSpPr>
          <p:cNvPr id="6" name="文本框 5">
            <a:extLst>
              <a:ext uri="{FF2B5EF4-FFF2-40B4-BE49-F238E27FC236}">
                <a16:creationId xmlns:a16="http://schemas.microsoft.com/office/drawing/2014/main" id="{4F97AFA8-3628-4E96-844B-3CE1E052D141}"/>
              </a:ext>
            </a:extLst>
          </p:cNvPr>
          <p:cNvSpPr txBox="1"/>
          <p:nvPr/>
        </p:nvSpPr>
        <p:spPr>
          <a:xfrm>
            <a:off x="351949" y="1392535"/>
            <a:ext cx="3449003" cy="412909"/>
          </a:xfrm>
          <a:prstGeom prst="rect">
            <a:avLst/>
          </a:prstGeom>
          <a:noFill/>
        </p:spPr>
        <p:txBody>
          <a:bodyPr wrap="square">
            <a:noAutofit/>
          </a:bodyPr>
          <a:lstStyle/>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graphicFrame>
        <p:nvGraphicFramePr>
          <p:cNvPr id="7" name="对象 -2147482560">
            <a:extLst>
              <a:ext uri="{FF2B5EF4-FFF2-40B4-BE49-F238E27FC236}">
                <a16:creationId xmlns:a16="http://schemas.microsoft.com/office/drawing/2014/main" id="{ABD86B2F-7769-4058-8980-1C582FFC5487}"/>
              </a:ext>
            </a:extLst>
          </p:cNvPr>
          <p:cNvGraphicFramePr>
            <a:graphicFrameLocks noChangeAspect="1"/>
          </p:cNvGraphicFramePr>
          <p:nvPr>
            <p:extLst>
              <p:ext uri="{D42A27DB-BD31-4B8C-83A1-F6EECF244321}">
                <p14:modId xmlns:p14="http://schemas.microsoft.com/office/powerpoint/2010/main" val="2048278424"/>
              </p:ext>
            </p:extLst>
          </p:nvPr>
        </p:nvGraphicFramePr>
        <p:xfrm>
          <a:off x="4691895" y="2076212"/>
          <a:ext cx="4416743" cy="2705576"/>
        </p:xfrm>
        <a:graphic>
          <a:graphicData uri="http://schemas.openxmlformats.org/presentationml/2006/ole">
            <mc:AlternateContent xmlns:mc="http://schemas.openxmlformats.org/markup-compatibility/2006">
              <mc:Choice xmlns:v="urn:schemas-microsoft-com:vml" Requires="v">
                <p:oleObj spid="_x0000_s2056" r:id="rId3" imgW="2908300" imgH="1777365" progId="Equation.DSMT4">
                  <p:embed/>
                </p:oleObj>
              </mc:Choice>
              <mc:Fallback>
                <p:oleObj r:id="rId3" imgW="2908300" imgH="1777365" progId="Equation.DSMT4">
                  <p:embed/>
                  <p:pic>
                    <p:nvPicPr>
                      <p:cNvPr id="4" name="对象 -2147482560"/>
                      <p:cNvPicPr/>
                      <p:nvPr/>
                    </p:nvPicPr>
                    <p:blipFill>
                      <a:blip r:embed="rId4"/>
                      <a:stretch>
                        <a:fillRect/>
                      </a:stretch>
                    </p:blipFill>
                    <p:spPr>
                      <a:xfrm>
                        <a:off x="4691895" y="2076212"/>
                        <a:ext cx="4416743" cy="2705576"/>
                      </a:xfrm>
                      <a:prstGeom prst="rect">
                        <a:avLst/>
                      </a:prstGeom>
                      <a:noFill/>
                      <a:ln w="38100">
                        <a:noFill/>
                        <a:miter/>
                      </a:ln>
                    </p:spPr>
                  </p:pic>
                </p:oleObj>
              </mc:Fallback>
            </mc:AlternateContent>
          </a:graphicData>
        </a:graphic>
      </p:graphicFrame>
      <p:pic>
        <p:nvPicPr>
          <p:cNvPr id="8" name="图形 44">
            <a:extLst>
              <a:ext uri="{FF2B5EF4-FFF2-40B4-BE49-F238E27FC236}">
                <a16:creationId xmlns:a16="http://schemas.microsoft.com/office/drawing/2014/main" id="{099A2014-E538-4B66-9717-ECFF3DA4F0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186" y="2935713"/>
            <a:ext cx="4527709" cy="1935956"/>
          </a:xfrm>
          <a:prstGeom prst="rect">
            <a:avLst/>
          </a:prstGeom>
        </p:spPr>
      </p:pic>
      <p:pic>
        <p:nvPicPr>
          <p:cNvPr id="9" name="图片 8">
            <a:extLst>
              <a:ext uri="{FF2B5EF4-FFF2-40B4-BE49-F238E27FC236}">
                <a16:creationId xmlns:a16="http://schemas.microsoft.com/office/drawing/2014/main" id="{413C2AD0-0C6B-49B1-9011-F31881FFB60C}"/>
              </a:ext>
            </a:extLst>
          </p:cNvPr>
          <p:cNvPicPr>
            <a:picLocks noChangeAspect="1"/>
          </p:cNvPicPr>
          <p:nvPr/>
        </p:nvPicPr>
        <p:blipFill>
          <a:blip r:embed="rId7"/>
          <a:stretch>
            <a:fillRect/>
          </a:stretch>
        </p:blipFill>
        <p:spPr>
          <a:xfrm>
            <a:off x="351949" y="1392535"/>
            <a:ext cx="8505349" cy="1209199"/>
          </a:xfrm>
          <a:prstGeom prst="rect">
            <a:avLst/>
          </a:prstGeom>
        </p:spPr>
      </p:pic>
    </p:spTree>
    <p:extLst>
      <p:ext uri="{BB962C8B-B14F-4D97-AF65-F5344CB8AC3E}">
        <p14:creationId xmlns:p14="http://schemas.microsoft.com/office/powerpoint/2010/main" val="437236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lstStyle/>
              <a:p>
                <a:r>
                  <a:rPr lang="zh-CN" altLang="en-US" dirty="0"/>
                  <a:t>协方差</a:t>
                </a:r>
                <a14:m>
                  <m:oMath xmlns:m="http://schemas.openxmlformats.org/officeDocument/2006/math">
                    <m:r>
                      <a:rPr lang="en-US" altLang="zh-CN" sz="3600" i="1" smtClean="0">
                        <a:latin typeface="Cambria Math"/>
                      </a:rPr>
                      <m:t>𝑐𝑜𝑣</m:t>
                    </m:r>
                    <m:d>
                      <m:dPr>
                        <m:ctrlPr>
                          <a:rPr lang="en-US" altLang="zh-CN" sz="3600" i="1">
                            <a:latin typeface="Cambria Math" panose="02040503050406030204" pitchFamily="18" charset="0"/>
                          </a:rPr>
                        </m:ctrlPr>
                      </m:dPr>
                      <m:e>
                        <m:r>
                          <a:rPr lang="en-US" altLang="zh-CN" sz="3600" i="1">
                            <a:latin typeface="Cambria Math"/>
                          </a:rPr>
                          <m:t>𝑋</m:t>
                        </m:r>
                        <m:r>
                          <a:rPr lang="en-US" altLang="zh-CN" sz="3600" i="1">
                            <a:latin typeface="Cambria Math"/>
                          </a:rPr>
                          <m:t>,</m:t>
                        </m:r>
                        <m:r>
                          <a:rPr lang="en-US" altLang="zh-CN" sz="3600" i="1">
                            <a:latin typeface="Cambria Math"/>
                          </a:rPr>
                          <m:t>𝑌</m:t>
                        </m:r>
                      </m:e>
                    </m:d>
                  </m:oMath>
                </a14:m>
                <a:endParaRPr lang="zh-CN" altLang="en-US" dirty="0"/>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a:blip r:embed="rId3"/>
                <a:stretch>
                  <a:fillRect t="-1493" b="-171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zh-CN" sz="2600" dirty="0"/>
                  <a:t>协方差用于衡量两个变量的总体误差。</a:t>
                </a:r>
                <a:endParaRPr lang="en-US" altLang="zh-CN" sz="2600" dirty="0"/>
              </a:p>
              <a:p>
                <a:r>
                  <a:rPr lang="zh-CN" altLang="zh-CN" sz="2600" dirty="0"/>
                  <a:t>期望值分别为</a:t>
                </a:r>
                <a14:m>
                  <m:oMath xmlns:m="http://schemas.openxmlformats.org/officeDocument/2006/math">
                    <m:r>
                      <a:rPr lang="en-US" altLang="zh-CN" sz="2600" i="1">
                        <a:latin typeface="Cambria Math"/>
                      </a:rPr>
                      <m:t>𝐸</m:t>
                    </m:r>
                    <m:d>
                      <m:dPr>
                        <m:ctrlPr>
                          <a:rPr lang="en-US" altLang="zh-CN" sz="2600" i="1">
                            <a:latin typeface="Cambria Math" panose="02040503050406030204" pitchFamily="18" charset="0"/>
                          </a:rPr>
                        </m:ctrlPr>
                      </m:dPr>
                      <m:e>
                        <m:r>
                          <a:rPr lang="en-US" altLang="zh-CN" sz="2600" i="1">
                            <a:latin typeface="Cambria Math"/>
                          </a:rPr>
                          <m:t>𝑋</m:t>
                        </m:r>
                      </m:e>
                    </m:d>
                    <m:r>
                      <a:rPr lang="en-US" altLang="zh-CN" sz="2600" i="1">
                        <a:latin typeface="Cambria Math"/>
                      </a:rPr>
                      <m:t>=</m:t>
                    </m:r>
                    <m:r>
                      <a:rPr lang="zh-CN" altLang="en-US" sz="2600" i="1">
                        <a:latin typeface="Cambria Math"/>
                      </a:rPr>
                      <m:t>𝜇</m:t>
                    </m:r>
                  </m:oMath>
                </a14:m>
                <a:r>
                  <a:rPr lang="zh-CN" altLang="zh-CN" sz="2600" dirty="0"/>
                  <a:t>与</a:t>
                </a:r>
                <a14:m>
                  <m:oMath xmlns:m="http://schemas.openxmlformats.org/officeDocument/2006/math">
                    <m:r>
                      <a:rPr lang="en-US" altLang="zh-CN" sz="2600" i="1">
                        <a:latin typeface="Cambria Math"/>
                      </a:rPr>
                      <m:t>𝐸</m:t>
                    </m:r>
                    <m:d>
                      <m:dPr>
                        <m:ctrlPr>
                          <a:rPr lang="en-US" altLang="zh-CN" sz="2600" i="1">
                            <a:latin typeface="Cambria Math" panose="02040503050406030204" pitchFamily="18" charset="0"/>
                          </a:rPr>
                        </m:ctrlPr>
                      </m:dPr>
                      <m:e>
                        <m:r>
                          <a:rPr lang="en-US" altLang="zh-CN" sz="2600" i="1">
                            <a:latin typeface="Cambria Math"/>
                          </a:rPr>
                          <m:t>𝑌</m:t>
                        </m:r>
                      </m:e>
                    </m:d>
                    <m:r>
                      <a:rPr lang="en-US" altLang="zh-CN" sz="2600" i="1">
                        <a:latin typeface="Cambria Math"/>
                      </a:rPr>
                      <m:t>=</m:t>
                    </m:r>
                    <m:r>
                      <a:rPr lang="en-US" altLang="zh-CN" sz="2600" i="1">
                        <a:latin typeface="Cambria Math"/>
                      </a:rPr>
                      <m:t>𝑣</m:t>
                    </m:r>
                  </m:oMath>
                </a14:m>
                <a:r>
                  <a:rPr lang="zh-CN" altLang="zh-CN" sz="2600" dirty="0"/>
                  <a:t>的两个实数随机变量</a:t>
                </a:r>
                <a:r>
                  <a:rPr lang="en-US" altLang="zh-CN" sz="2600" i="1" dirty="0"/>
                  <a:t>X</a:t>
                </a:r>
                <a:r>
                  <a:rPr lang="zh-CN" altLang="zh-CN" sz="2600" dirty="0"/>
                  <a:t>与</a:t>
                </a:r>
                <a:r>
                  <a:rPr lang="en-US" altLang="zh-CN" sz="2600" i="1" dirty="0"/>
                  <a:t>Y</a:t>
                </a:r>
                <a:r>
                  <a:rPr lang="zh-CN" altLang="zh-CN" sz="2600" dirty="0"/>
                  <a:t>之间的协方差定义为：</a:t>
                </a:r>
              </a:p>
              <a:p>
                <a:pPr marL="82296" indent="0">
                  <a:buNone/>
                </a:pPr>
                <a14:m>
                  <m:oMathPara xmlns:m="http://schemas.openxmlformats.org/officeDocument/2006/math">
                    <m:oMathParaPr>
                      <m:jc m:val="centerGroup"/>
                    </m:oMathParaPr>
                    <m:oMath xmlns:m="http://schemas.openxmlformats.org/officeDocument/2006/math">
                      <m:r>
                        <a:rPr lang="en-US" altLang="zh-CN" sz="2600" i="1">
                          <a:latin typeface="Cambria Math"/>
                        </a:rPr>
                        <m:t>𝑐𝑜𝑣</m:t>
                      </m:r>
                      <m:d>
                        <m:dPr>
                          <m:ctrlPr>
                            <a:rPr lang="en-US" altLang="zh-CN" sz="2600" i="1">
                              <a:latin typeface="Cambria Math" panose="02040503050406030204" pitchFamily="18" charset="0"/>
                            </a:rPr>
                          </m:ctrlPr>
                        </m:dPr>
                        <m:e>
                          <m:r>
                            <a:rPr lang="en-US" altLang="zh-CN" sz="2600" i="1">
                              <a:latin typeface="Cambria Math"/>
                            </a:rPr>
                            <m:t>𝑋</m:t>
                          </m:r>
                          <m:r>
                            <a:rPr lang="en-US" altLang="zh-CN" sz="2600" i="1">
                              <a:latin typeface="Cambria Math"/>
                            </a:rPr>
                            <m:t>,</m:t>
                          </m:r>
                          <m:r>
                            <a:rPr lang="en-US" altLang="zh-CN" sz="2600" i="1">
                              <a:latin typeface="Cambria Math"/>
                            </a:rPr>
                            <m:t>𝑌</m:t>
                          </m:r>
                        </m:e>
                      </m:d>
                      <m:r>
                        <a:rPr lang="en-US" altLang="zh-CN" sz="2600" i="1">
                          <a:latin typeface="Cambria Math"/>
                        </a:rPr>
                        <m:t>=</m:t>
                      </m:r>
                      <m:r>
                        <a:rPr lang="en-US" altLang="zh-CN" sz="2600" i="1">
                          <a:latin typeface="Cambria Math"/>
                        </a:rPr>
                        <m:t>𝐸</m:t>
                      </m:r>
                      <m:d>
                        <m:dPr>
                          <m:ctrlPr>
                            <a:rPr lang="en-US" altLang="zh-CN" sz="2600" i="1">
                              <a:latin typeface="Cambria Math" panose="02040503050406030204" pitchFamily="18" charset="0"/>
                            </a:rPr>
                          </m:ctrlPr>
                        </m:dPr>
                        <m:e>
                          <m:d>
                            <m:dPr>
                              <m:ctrlPr>
                                <a:rPr lang="en-US" altLang="zh-CN" sz="2600" i="1">
                                  <a:latin typeface="Cambria Math" panose="02040503050406030204" pitchFamily="18" charset="0"/>
                                </a:rPr>
                              </m:ctrlPr>
                            </m:dPr>
                            <m:e>
                              <m:r>
                                <a:rPr lang="en-US" altLang="zh-CN" sz="2600" i="1">
                                  <a:latin typeface="Cambria Math"/>
                                </a:rPr>
                                <m:t>𝑋</m:t>
                              </m:r>
                              <m:r>
                                <a:rPr lang="en-US" altLang="zh-CN" sz="2600" i="1">
                                  <a:latin typeface="Cambria Math"/>
                                </a:rPr>
                                <m:t>−</m:t>
                              </m:r>
                              <m:r>
                                <a:rPr lang="zh-CN" altLang="en-US" sz="2600" i="1">
                                  <a:latin typeface="Cambria Math"/>
                                </a:rPr>
                                <m:t>𝜇</m:t>
                              </m:r>
                            </m:e>
                          </m:d>
                          <m:d>
                            <m:dPr>
                              <m:ctrlPr>
                                <a:rPr lang="en-US" altLang="zh-CN" sz="2600" i="1">
                                  <a:latin typeface="Cambria Math" panose="02040503050406030204" pitchFamily="18" charset="0"/>
                                </a:rPr>
                              </m:ctrlPr>
                            </m:dPr>
                            <m:e>
                              <m:r>
                                <a:rPr lang="en-US" altLang="zh-CN" sz="2600" i="1">
                                  <a:latin typeface="Cambria Math"/>
                                </a:rPr>
                                <m:t>𝑌</m:t>
                              </m:r>
                              <m:r>
                                <a:rPr lang="en-US" altLang="zh-CN" sz="2600" i="1">
                                  <a:latin typeface="Cambria Math"/>
                                </a:rPr>
                                <m:t>−</m:t>
                              </m:r>
                              <m:r>
                                <a:rPr lang="en-US" altLang="zh-CN" sz="2600" i="1">
                                  <a:latin typeface="Cambria Math"/>
                                </a:rPr>
                                <m:t>𝑣</m:t>
                              </m:r>
                            </m:e>
                          </m:d>
                        </m:e>
                      </m:d>
                    </m:oMath>
                  </m:oMathPara>
                </a14:m>
                <a:endParaRPr lang="en-US" altLang="zh-CN" sz="2600" dirty="0"/>
              </a:p>
              <a:p>
                <a:pPr marL="82296" indent="0">
                  <a:buNone/>
                </a:pPr>
                <a:endParaRPr lang="zh-CN" altLang="en-US" sz="2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4"/>
                <a:stretch>
                  <a:fillRect/>
                </a:stretch>
              </a:blipFill>
            </p:spPr>
            <p:txBody>
              <a:bodyPr/>
              <a:lstStyle/>
              <a:p>
                <a:r>
                  <a:rPr lang="zh-CN" altLang="en-US">
                    <a:noFill/>
                  </a:rPr>
                  <a:t> </a:t>
                </a:r>
              </a:p>
            </p:txBody>
          </p:sp>
        </mc:Fallback>
      </mc:AlternateContent>
      <p:sp>
        <p:nvSpPr>
          <p:cNvPr id="4" name="矩形 3"/>
          <p:cNvSpPr/>
          <p:nvPr/>
        </p:nvSpPr>
        <p:spPr>
          <a:xfrm>
            <a:off x="396496" y="4005064"/>
            <a:ext cx="8640000" cy="1257204"/>
          </a:xfrm>
          <a:prstGeom prst="rect">
            <a:avLst/>
          </a:prstGeom>
        </p:spPr>
        <p:txBody>
          <a:bodyPr wrap="square">
            <a:spAutoFit/>
          </a:bodyPr>
          <a:lstStyle/>
          <a:p>
            <a:pPr>
              <a:lnSpc>
                <a:spcPct val="120000"/>
              </a:lnSpc>
            </a:pP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如果两个变量的变化趋势一致，</a:t>
            </a:r>
            <a:r>
              <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即若</a:t>
            </a: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一个</a:t>
            </a:r>
            <a:r>
              <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变量</a:t>
            </a: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大于自身的期望值，另一个</a:t>
            </a:r>
            <a:r>
              <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变量</a:t>
            </a: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也大于自身的期望值，</a:t>
            </a:r>
            <a:r>
              <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则</a:t>
            </a: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两个变量之间的协方差就是正值；</a:t>
            </a:r>
            <a:endParaRPr lang="en-US"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endParaRPr>
          </a:p>
          <a:p>
            <a:pPr>
              <a:lnSpc>
                <a:spcPct val="120000"/>
              </a:lnSpc>
            </a:pP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如果两个变量的变化趋势相反，</a:t>
            </a:r>
            <a:r>
              <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则</a:t>
            </a: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两个变量之间的协方差就是负值。</a:t>
            </a:r>
            <a:endParaRPr lang="zh-CN" altLang="en-US" sz="2200" dirty="0">
              <a:solidFill>
                <a:srgbClr val="C00000"/>
              </a:solidFill>
              <a:effectLst>
                <a:outerShdw blurRad="38100" dist="38100" dir="2700000" algn="tl">
                  <a:srgbClr val="000000">
                    <a:alpha val="43137"/>
                  </a:srgbClr>
                </a:outerShdw>
              </a:effectLst>
              <a:latin typeface="幼圆" pitchFamily="49" charset="-122"/>
              <a:ea typeface="幼圆" pitchFamily="49" charset="-122"/>
            </a:endParaRPr>
          </a:p>
        </p:txBody>
      </p:sp>
      <p:sp>
        <p:nvSpPr>
          <p:cNvPr id="5" name="矩形 4"/>
          <p:cNvSpPr/>
          <p:nvPr/>
        </p:nvSpPr>
        <p:spPr>
          <a:xfrm>
            <a:off x="382680" y="5424840"/>
            <a:ext cx="8509800" cy="444674"/>
          </a:xfrm>
          <a:prstGeom prst="rect">
            <a:avLst/>
          </a:prstGeom>
        </p:spPr>
        <p:txBody>
          <a:bodyPr wrap="square">
            <a:spAutoFit/>
          </a:bodyPr>
          <a:lstStyle/>
          <a:p>
            <a:pPr>
              <a:lnSpc>
                <a:spcPct val="120000"/>
              </a:lnSpc>
            </a:pPr>
            <a:r>
              <a:rPr lang="zh-CN" altLang="zh-CN" sz="2200" dirty="0">
                <a:solidFill>
                  <a:srgbClr val="C00000"/>
                </a:solidFill>
                <a:effectLst>
                  <a:outerShdw blurRad="38100" dist="38100" dir="2700000" algn="tl">
                    <a:srgbClr val="000000">
                      <a:alpha val="43137"/>
                    </a:srgbClr>
                  </a:outerShdw>
                </a:effectLst>
                <a:latin typeface="幼圆" pitchFamily="49" charset="-122"/>
                <a:ea typeface="幼圆" pitchFamily="49" charset="-122"/>
              </a:rPr>
              <a:t>方差是协方差所衡量的两个变量是同一个变量时的一种特殊情况。</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t>6</a:t>
            </a:fld>
            <a:endParaRPr lang="zh-CN" altLang="en-US"/>
          </a:p>
        </p:txBody>
      </p:sp>
    </p:spTree>
    <p:extLst>
      <p:ext uri="{BB962C8B-B14F-4D97-AF65-F5344CB8AC3E}">
        <p14:creationId xmlns:p14="http://schemas.microsoft.com/office/powerpoint/2010/main" val="397219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fade">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500"/>
                                        <p:tgtEl>
                                          <p:spTgt spid="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协方差矩阵</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normAutofit/>
              </a:bodyPr>
              <a:lstStyle/>
              <a:p>
                <a:pPr>
                  <a:lnSpc>
                    <a:spcPct val="120000"/>
                  </a:lnSpc>
                  <a:spcAft>
                    <a:spcPts val="300"/>
                  </a:spcAft>
                </a:pPr>
                <a:r>
                  <a:rPr lang="zh-CN" altLang="en-US" sz="2600" dirty="0"/>
                  <a:t>对于</a:t>
                </a:r>
                <a:r>
                  <a:rPr lang="en-US" altLang="zh-CN" sz="2600" i="1" dirty="0"/>
                  <a:t>n</a:t>
                </a:r>
                <a:r>
                  <a:rPr lang="zh-CN" altLang="en-US" sz="2600" dirty="0"/>
                  <a:t>维随机变量</a:t>
                </a:r>
                <a:r>
                  <a:rPr lang="en-US" altLang="zh-CN" sz="2600" dirty="0"/>
                  <a:t>(</a:t>
                </a:r>
                <a:r>
                  <a:rPr lang="en-US" altLang="zh-CN" sz="2600" i="1" dirty="0"/>
                  <a:t>X</a:t>
                </a:r>
                <a:r>
                  <a:rPr lang="en-US" altLang="zh-CN" sz="2600" baseline="-25000" dirty="0"/>
                  <a:t>1</a:t>
                </a:r>
                <a:r>
                  <a:rPr lang="en-US" altLang="zh-CN" sz="2600" dirty="0"/>
                  <a:t>, </a:t>
                </a:r>
                <a:r>
                  <a:rPr lang="en-US" altLang="zh-CN" sz="2600" i="1" dirty="0"/>
                  <a:t>X</a:t>
                </a:r>
                <a:r>
                  <a:rPr lang="en-US" altLang="zh-CN" sz="2600" baseline="-25000" dirty="0"/>
                  <a:t>2</a:t>
                </a:r>
                <a:r>
                  <a:rPr lang="en-US" altLang="zh-CN" sz="2600" dirty="0"/>
                  <a:t>,…, </a:t>
                </a:r>
                <a:r>
                  <a:rPr lang="en-US" altLang="zh-CN" sz="2600" i="1" dirty="0" err="1"/>
                  <a:t>X</a:t>
                </a:r>
                <a:r>
                  <a:rPr lang="en-US" altLang="zh-CN" sz="2600" i="1" baseline="-25000" dirty="0" err="1"/>
                  <a:t>n</a:t>
                </a:r>
                <a:r>
                  <a:rPr lang="en-US" altLang="zh-CN" sz="2600" dirty="0"/>
                  <a:t>)</a:t>
                </a:r>
                <a:r>
                  <a:rPr lang="zh-CN" altLang="en-US" sz="2600" dirty="0"/>
                  <a:t>，则</a:t>
                </a:r>
                <a:endParaRPr lang="en-US" altLang="zh-CN" sz="2600" dirty="0"/>
              </a:p>
              <a:p>
                <a:pPr marL="82296" indent="0">
                  <a:lnSpc>
                    <a:spcPct val="120000"/>
                  </a:lnSpc>
                  <a:spcAft>
                    <a:spcPts val="300"/>
                  </a:spcAft>
                  <a:buNone/>
                </a:pPr>
                <a14:m>
                  <m:oMathPara xmlns:m="http://schemas.openxmlformats.org/officeDocument/2006/math">
                    <m:oMathParaPr>
                      <m:jc m:val="centerGroup"/>
                    </m:oMathParaPr>
                    <m:oMath xmlns:m="http://schemas.openxmlformats.org/officeDocument/2006/math">
                      <m:r>
                        <a:rPr lang="en-US" altLang="zh-CN" sz="2200" i="1">
                          <a:latin typeface="Cambria Math"/>
                        </a:rPr>
                        <m:t>𝑐𝑜𝑣</m:t>
                      </m:r>
                      <m:r>
                        <a:rPr lang="en-US" altLang="zh-CN" sz="2200" i="1">
                          <a:latin typeface="Cambria Math"/>
                        </a:rPr>
                        <m:t>=</m:t>
                      </m:r>
                      <m:d>
                        <m:dPr>
                          <m:begChr m:val="["/>
                          <m:endChr m:val="]"/>
                          <m:ctrlPr>
                            <a:rPr lang="en-US" altLang="zh-CN" sz="2200" i="1">
                              <a:latin typeface="Cambria Math" panose="02040503050406030204" pitchFamily="18" charset="0"/>
                            </a:rPr>
                          </m:ctrlPr>
                        </m:dPr>
                        <m:e>
                          <m:m>
                            <m:mPr>
                              <m:mcs>
                                <m:mc>
                                  <m:mcPr>
                                    <m:count m:val="3"/>
                                    <m:mcJc m:val="center"/>
                                  </m:mcPr>
                                </m:mc>
                              </m:mcs>
                              <m:ctrlPr>
                                <a:rPr lang="en-US" altLang="zh-CN" sz="2200" i="1">
                                  <a:latin typeface="Cambria Math" panose="02040503050406030204" pitchFamily="18" charset="0"/>
                                </a:rPr>
                              </m:ctrlPr>
                            </m:mPr>
                            <m:mr>
                              <m:e>
                                <m:m>
                                  <m:mPr>
                                    <m:mcs>
                                      <m:mc>
                                        <m:mcPr>
                                          <m:count m:val="1"/>
                                          <m:mcJc m:val="center"/>
                                        </m:mcPr>
                                      </m:mc>
                                    </m:mcs>
                                    <m:ctrlPr>
                                      <a:rPr lang="en-US" altLang="zh-CN" sz="2200" i="1">
                                        <a:latin typeface="Cambria Math" panose="02040503050406030204" pitchFamily="18" charset="0"/>
                                      </a:rPr>
                                    </m:ctrlPr>
                                  </m:mPr>
                                  <m:mr>
                                    <m:e>
                                      <m:m>
                                        <m:mPr>
                                          <m:mcs>
                                            <m:mc>
                                              <m:mcPr>
                                                <m:count m:val="2"/>
                                                <m:mcJc m:val="center"/>
                                              </m:mcPr>
                                            </m:mc>
                                          </m:mcs>
                                          <m:ctrlPr>
                                            <a:rPr lang="en-US" altLang="zh-CN" sz="2200" i="1">
                                              <a:latin typeface="Cambria Math" panose="02040503050406030204" pitchFamily="18" charset="0"/>
                                            </a:rPr>
                                          </m:ctrlPr>
                                        </m:mPr>
                                        <m:mr>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a:rPr>
                                                  <m:t>11</m:t>
                                                </m:r>
                                              </m:sub>
                                            </m:sSub>
                                          </m:e>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a:rPr>
                                                  <m:t>1</m:t>
                                                </m:r>
                                                <m:r>
                                                  <a:rPr lang="en-US" altLang="zh-CN" sz="2200" i="1">
                                                    <a:latin typeface="Cambria Math" panose="02040503050406030204" pitchFamily="18" charset="0"/>
                                                  </a:rPr>
                                                  <m:t>2</m:t>
                                                </m:r>
                                              </m:sub>
                                            </m:sSub>
                                          </m:e>
                                        </m:mr>
                                      </m:m>
                                    </m:e>
                                  </m:mr>
                                  <m:mr>
                                    <m:e>
                                      <m:m>
                                        <m:mPr>
                                          <m:mcs>
                                            <m:mc>
                                              <m:mcPr>
                                                <m:count m:val="2"/>
                                                <m:mcJc m:val="center"/>
                                              </m:mcPr>
                                            </m:mc>
                                          </m:mcs>
                                          <m:ctrlPr>
                                            <a:rPr lang="en-US" altLang="zh-CN" sz="2200" i="1">
                                              <a:latin typeface="Cambria Math" panose="02040503050406030204" pitchFamily="18" charset="0"/>
                                            </a:rPr>
                                          </m:ctrlPr>
                                        </m:mPr>
                                        <m:mr>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panose="02040503050406030204" pitchFamily="18" charset="0"/>
                                                  </a:rPr>
                                                  <m:t>2</m:t>
                                                </m:r>
                                                <m:r>
                                                  <a:rPr lang="en-US" altLang="zh-CN" sz="2200" i="1">
                                                    <a:latin typeface="Cambria Math"/>
                                                  </a:rPr>
                                                  <m:t>1</m:t>
                                                </m:r>
                                              </m:sub>
                                            </m:sSub>
                                          </m:e>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panose="02040503050406030204" pitchFamily="18" charset="0"/>
                                                  </a:rPr>
                                                  <m:t>22</m:t>
                                                </m:r>
                                              </m:sub>
                                            </m:sSub>
                                          </m:e>
                                        </m:mr>
                                      </m:m>
                                    </m:e>
                                  </m:mr>
                                </m:m>
                              </m:e>
                              <m:e>
                                <m:m>
                                  <m:mPr>
                                    <m:mcs>
                                      <m:mc>
                                        <m:mcPr>
                                          <m:count m:val="1"/>
                                          <m:mcJc m:val="center"/>
                                        </m:mcPr>
                                      </m:mc>
                                    </m:mcs>
                                    <m:ctrlPr>
                                      <a:rPr lang="en-US" altLang="zh-CN" sz="2200" i="1">
                                        <a:latin typeface="Cambria Math" panose="02040503050406030204" pitchFamily="18" charset="0"/>
                                      </a:rPr>
                                    </m:ctrlPr>
                                  </m:mPr>
                                  <m:mr>
                                    <m:e>
                                      <m:r>
                                        <m:rPr>
                                          <m:brk m:alnAt="7"/>
                                        </m:rPr>
                                        <a:rPr lang="en-US" altLang="zh-CN" sz="2200" i="1">
                                          <a:latin typeface="Cambria Math"/>
                                        </a:rPr>
                                        <m:t>…</m:t>
                                      </m:r>
                                    </m:e>
                                  </m:mr>
                                  <m:mr>
                                    <m:e>
                                      <m:r>
                                        <a:rPr lang="en-US" altLang="zh-CN" sz="2200" i="1">
                                          <a:latin typeface="Cambria Math"/>
                                        </a:rPr>
                                        <m:t>…</m:t>
                                      </m:r>
                                    </m:e>
                                  </m:mr>
                                </m:m>
                              </m:e>
                              <m:e>
                                <m:m>
                                  <m:mPr>
                                    <m:mcs>
                                      <m:mc>
                                        <m:mcPr>
                                          <m:count m:val="1"/>
                                          <m:mcJc m:val="center"/>
                                        </m:mcPr>
                                      </m:mc>
                                    </m:mcs>
                                    <m:ctrlPr>
                                      <a:rPr lang="en-US" altLang="zh-CN" sz="2200" i="1">
                                        <a:latin typeface="Cambria Math" panose="02040503050406030204" pitchFamily="18" charset="0"/>
                                      </a:rPr>
                                    </m:ctrlPr>
                                  </m:mPr>
                                  <m:mr>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a:rPr>
                                            <m:t>1</m:t>
                                          </m:r>
                                          <m:r>
                                            <a:rPr lang="en-US" altLang="zh-CN" sz="2200" i="1">
                                              <a:latin typeface="Cambria Math"/>
                                            </a:rPr>
                                            <m:t>𝑛</m:t>
                                          </m:r>
                                        </m:sub>
                                      </m:sSub>
                                    </m:e>
                                  </m:mr>
                                  <m:mr>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panose="02040503050406030204" pitchFamily="18" charset="0"/>
                                            </a:rPr>
                                            <m:t>2</m:t>
                                          </m:r>
                                          <m:r>
                                            <m:rPr>
                                              <m:sty m:val="p"/>
                                            </m:rPr>
                                            <a:rPr lang="en-US" altLang="zh-CN" sz="2200" i="1">
                                              <a:latin typeface="Cambria Math" panose="02040503050406030204" pitchFamily="18" charset="0"/>
                                            </a:rPr>
                                            <m:t>n</m:t>
                                          </m:r>
                                        </m:sub>
                                      </m:sSub>
                                    </m:e>
                                  </m:mr>
                                </m:m>
                              </m:e>
                            </m:mr>
                            <m:mr>
                              <m:e>
                                <m:m>
                                  <m:mPr>
                                    <m:mcs>
                                      <m:mc>
                                        <m:mcPr>
                                          <m:count m:val="2"/>
                                          <m:mcJc m:val="center"/>
                                        </m:mcPr>
                                      </m:mc>
                                    </m:mcs>
                                    <m:ctrlPr>
                                      <a:rPr lang="en-US" altLang="zh-CN" sz="2200" i="1">
                                        <a:latin typeface="Cambria Math" panose="02040503050406030204" pitchFamily="18" charset="0"/>
                                      </a:rPr>
                                    </m:ctrlPr>
                                  </m:mPr>
                                  <m:mr>
                                    <m:e>
                                      <m:r>
                                        <m:rPr>
                                          <m:brk m:alnAt="7"/>
                                        </m:rPr>
                                        <a:rPr lang="en-US" altLang="zh-CN" sz="2200" i="1">
                                          <a:latin typeface="Cambria Math"/>
                                        </a:rPr>
                                        <m:t>⋮</m:t>
                                      </m:r>
                                    </m:e>
                                    <m:e>
                                      <m:r>
                                        <a:rPr lang="en-US" altLang="zh-CN" sz="2200" i="1">
                                          <a:latin typeface="Cambria Math"/>
                                        </a:rPr>
                                        <m:t>⋮</m:t>
                                      </m:r>
                                    </m:e>
                                  </m:mr>
                                </m:m>
                              </m:e>
                              <m:e>
                                <m:r>
                                  <a:rPr lang="en-US" altLang="zh-CN" sz="2200" i="1">
                                    <a:latin typeface="Cambria Math"/>
                                  </a:rPr>
                                  <m:t>⋱</m:t>
                                </m:r>
                              </m:e>
                              <m:e>
                                <m:r>
                                  <a:rPr lang="en-US" altLang="zh-CN" sz="2200" i="1">
                                    <a:latin typeface="Cambria Math"/>
                                  </a:rPr>
                                  <m:t>⋮</m:t>
                                </m:r>
                              </m:e>
                            </m:mr>
                            <m:mr>
                              <m:e>
                                <m:m>
                                  <m:mPr>
                                    <m:mcs>
                                      <m:mc>
                                        <m:mcPr>
                                          <m:count m:val="2"/>
                                          <m:mcJc m:val="center"/>
                                        </m:mcPr>
                                      </m:mc>
                                    </m:mcs>
                                    <m:ctrlPr>
                                      <a:rPr lang="en-US" altLang="zh-CN" sz="2200" i="1">
                                        <a:latin typeface="Cambria Math" panose="02040503050406030204" pitchFamily="18" charset="0"/>
                                      </a:rPr>
                                    </m:ctrlPr>
                                  </m:mPr>
                                  <m:mr>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a:rPr>
                                            <m:t>𝑛</m:t>
                                          </m:r>
                                          <m:r>
                                            <a:rPr lang="en-US" altLang="zh-CN" sz="2200" i="1">
                                              <a:latin typeface="Cambria Math"/>
                                            </a:rPr>
                                            <m:t>1</m:t>
                                          </m:r>
                                        </m:sub>
                                      </m:sSub>
                                    </m:e>
                                    <m:e>
                                      <m:sSub>
                                        <m:sSubPr>
                                          <m:ctrlPr>
                                            <a:rPr lang="en-US" altLang="zh-CN" sz="2200" i="1">
                                              <a:latin typeface="Cambria Math" panose="02040503050406030204" pitchFamily="18" charset="0"/>
                                            </a:rPr>
                                          </m:ctrlPr>
                                        </m:sSubPr>
                                        <m:e>
                                          <m:r>
                                            <a:rPr lang="zh-CN" altLang="en-US" sz="2200" i="1">
                                              <a:latin typeface="Cambria Math"/>
                                            </a:rPr>
                                            <m:t>𝜎</m:t>
                                          </m:r>
                                        </m:e>
                                        <m:sub>
                                          <m:r>
                                            <m:rPr>
                                              <m:sty m:val="p"/>
                                            </m:rPr>
                                            <a:rPr lang="en-US" altLang="zh-CN" sz="2200" i="1">
                                              <a:latin typeface="Cambria Math" panose="02040503050406030204" pitchFamily="18" charset="0"/>
                                            </a:rPr>
                                            <m:t>n</m:t>
                                          </m:r>
                                          <m:r>
                                            <a:rPr lang="en-US" altLang="zh-CN" sz="2200" i="1">
                                              <a:latin typeface="Cambria Math" panose="02040503050406030204" pitchFamily="18" charset="0"/>
                                            </a:rPr>
                                            <m:t>2</m:t>
                                          </m:r>
                                        </m:sub>
                                      </m:sSub>
                                    </m:e>
                                  </m:mr>
                                </m:m>
                              </m:e>
                              <m:e>
                                <m:r>
                                  <a:rPr lang="en-US" altLang="zh-CN" sz="2200" i="1">
                                    <a:latin typeface="Cambria Math"/>
                                  </a:rPr>
                                  <m:t>…</m:t>
                                </m:r>
                              </m:e>
                              <m:e>
                                <m:sSub>
                                  <m:sSubPr>
                                    <m:ctrlPr>
                                      <a:rPr lang="en-US" altLang="zh-CN" sz="2200" i="1">
                                        <a:latin typeface="Cambria Math" panose="02040503050406030204" pitchFamily="18" charset="0"/>
                                      </a:rPr>
                                    </m:ctrlPr>
                                  </m:sSubPr>
                                  <m:e>
                                    <m:r>
                                      <a:rPr lang="zh-CN" altLang="en-US" sz="2200" i="1">
                                        <a:latin typeface="Cambria Math"/>
                                      </a:rPr>
                                      <m:t>𝜎</m:t>
                                    </m:r>
                                  </m:e>
                                  <m:sub>
                                    <m:r>
                                      <a:rPr lang="en-US" altLang="zh-CN" sz="2200" i="1">
                                        <a:latin typeface="Cambria Math"/>
                                      </a:rPr>
                                      <m:t>𝑛𝑛</m:t>
                                    </m:r>
                                  </m:sub>
                                </m:sSub>
                              </m:e>
                            </m:mr>
                          </m:m>
                        </m:e>
                      </m:d>
                    </m:oMath>
                  </m:oMathPara>
                </a14:m>
                <a:endParaRPr lang="en-US" altLang="zh-CN" sz="2200" dirty="0"/>
              </a:p>
              <a:p>
                <a:pPr marL="82296" indent="0">
                  <a:lnSpc>
                    <a:spcPct val="120000"/>
                  </a:lnSpc>
                  <a:spcAft>
                    <a:spcPts val="300"/>
                  </a:spcAft>
                  <a:buNone/>
                </a:pPr>
                <a:r>
                  <a:rPr lang="zh-CN" altLang="en-US" sz="2600" dirty="0"/>
                  <a:t>为其协方差矩阵（</a:t>
                </a:r>
                <a:r>
                  <a:rPr lang="en-US" altLang="zh-CN" sz="2600" dirty="0"/>
                  <a:t>covariance matrix</a:t>
                </a:r>
                <a:r>
                  <a:rPr lang="zh-CN" altLang="en-US" sz="2600" dirty="0"/>
                  <a:t>）。</a:t>
                </a:r>
                <a:endParaRPr lang="en-US" altLang="zh-CN" sz="2600" dirty="0"/>
              </a:p>
              <a:p>
                <a:pPr marL="82296" indent="0">
                  <a:lnSpc>
                    <a:spcPct val="120000"/>
                  </a:lnSpc>
                  <a:spcAft>
                    <a:spcPts val="300"/>
                  </a:spcAft>
                  <a:buNone/>
                </a:pPr>
                <a:r>
                  <a:rPr lang="zh-CN" altLang="en-US" sz="2600" dirty="0"/>
                  <a:t>其</a:t>
                </a:r>
                <a:r>
                  <a:rPr lang="zh-CN" altLang="en-US" sz="2600" dirty="0">
                    <a:cs typeface="Times New Roman" pitchFamily="18" charset="0"/>
                  </a:rPr>
                  <a:t>元素 </a:t>
                </a:r>
                <a14:m>
                  <m:oMath xmlns:m="http://schemas.openxmlformats.org/officeDocument/2006/math">
                    <m:sSub>
                      <m:sSubPr>
                        <m:ctrlPr>
                          <a:rPr lang="en-US" altLang="zh-CN" sz="2600" i="1">
                            <a:latin typeface="Cambria Math" panose="02040503050406030204" pitchFamily="18" charset="0"/>
                            <a:cs typeface="Times New Roman" pitchFamily="18" charset="0"/>
                          </a:rPr>
                        </m:ctrlPr>
                      </m:sSubPr>
                      <m:e>
                        <m:r>
                          <a:rPr lang="zh-CN" altLang="en-US" sz="2600" i="1">
                            <a:latin typeface="Cambria Math"/>
                            <a:cs typeface="Times New Roman" pitchFamily="18" charset="0"/>
                          </a:rPr>
                          <m:t>𝜎</m:t>
                        </m:r>
                      </m:e>
                      <m:sub>
                        <m:r>
                          <a:rPr lang="en-US" altLang="zh-CN" sz="2600" i="1">
                            <a:latin typeface="Cambria Math"/>
                            <a:cs typeface="Times New Roman" pitchFamily="18" charset="0"/>
                          </a:rPr>
                          <m:t>𝑖𝑗</m:t>
                        </m:r>
                      </m:sub>
                    </m:sSub>
                  </m:oMath>
                </a14:m>
                <a:r>
                  <a:rPr lang="en-US" altLang="zh-CN" sz="2600" i="1" baseline="-25000" dirty="0">
                    <a:cs typeface="Times New Roman" pitchFamily="18" charset="0"/>
                  </a:rPr>
                  <a:t> </a:t>
                </a:r>
                <a:r>
                  <a:rPr lang="zh-CN" altLang="en-US" sz="2600" dirty="0">
                    <a:cs typeface="Times New Roman" pitchFamily="18" charset="0"/>
                  </a:rPr>
                  <a:t>是数据的第 </a:t>
                </a:r>
                <a:r>
                  <a:rPr lang="en-US" altLang="zh-CN" sz="2600" i="1" dirty="0">
                    <a:cs typeface="Times New Roman" pitchFamily="18" charset="0"/>
                  </a:rPr>
                  <a:t>i </a:t>
                </a:r>
                <a:r>
                  <a:rPr lang="zh-CN" altLang="en-US" sz="2600" dirty="0">
                    <a:cs typeface="Times New Roman" pitchFamily="18" charset="0"/>
                  </a:rPr>
                  <a:t>个和第 </a:t>
                </a:r>
                <a:r>
                  <a:rPr lang="en-US" altLang="zh-CN" sz="2600" i="1" dirty="0">
                    <a:cs typeface="Times New Roman" pitchFamily="18" charset="0"/>
                  </a:rPr>
                  <a:t>j </a:t>
                </a:r>
                <a:r>
                  <a:rPr lang="zh-CN" altLang="en-US" sz="2600" dirty="0">
                    <a:cs typeface="Times New Roman" pitchFamily="18" charset="0"/>
                  </a:rPr>
                  <a:t>个属性的协方差：</a:t>
                </a:r>
                <a:endParaRPr lang="en-US" altLang="zh-CN" sz="2600" dirty="0">
                  <a:cs typeface="Times New Roman" pitchFamily="18" charset="0"/>
                </a:endParaRPr>
              </a:p>
              <a:p>
                <a:pPr>
                  <a:lnSpc>
                    <a:spcPct val="120000"/>
                  </a:lnSpc>
                  <a:spcAft>
                    <a:spcPts val="300"/>
                  </a:spcAft>
                </a:pPr>
                <a:endParaRPr lang="zh-CN" altLang="en-US" sz="2600" dirty="0">
                  <a:cs typeface="Times New Roman" pitchFamily="18" charset="0"/>
                </a:endParaRPr>
              </a:p>
              <a:p>
                <a:pPr lvl="1">
                  <a:lnSpc>
                    <a:spcPct val="120000"/>
                  </a:lnSpc>
                  <a:spcAft>
                    <a:spcPts val="300"/>
                  </a:spcAft>
                </a:pPr>
                <a:endParaRPr lang="zh-CN" altLang="en-US" sz="26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3"/>
                <a:stretch>
                  <a:fillRect l="-755" t="-6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5"/>
              <p:cNvSpPr txBox="1"/>
              <p:nvPr/>
            </p:nvSpPr>
            <p:spPr bwMode="auto">
              <a:xfrm>
                <a:off x="2014084" y="4615544"/>
                <a:ext cx="5072516" cy="99332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den>
                      </m:f>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𝑚</m:t>
                          </m:r>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𝑖</m:t>
                                  </m:r>
                                </m:sub>
                              </m:sSub>
                            </m:e>
                          </m:d>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𝑗</m:t>
                                  </m:r>
                                </m:sub>
                              </m:sSub>
                            </m:e>
                          </m:d>
                        </m:e>
                      </m:nary>
                    </m:oMath>
                  </m:oMathPara>
                </a14:m>
                <a:endParaRPr lang="zh-CN" altLang="en-US" dirty="0"/>
              </a:p>
            </p:txBody>
          </p:sp>
        </mc:Choice>
        <mc:Fallback>
          <p:sp>
            <p:nvSpPr>
              <p:cNvPr id="6" name="对象 5"/>
              <p:cNvSpPr txBox="1">
                <a:spLocks noRot="1" noChangeAspect="1" noMove="1" noResize="1" noEditPoints="1" noAdjustHandles="1" noChangeArrowheads="1" noChangeShapeType="1" noTextEdit="1"/>
              </p:cNvSpPr>
              <p:nvPr/>
            </p:nvSpPr>
            <p:spPr bwMode="auto">
              <a:xfrm>
                <a:off x="2014084" y="4615544"/>
                <a:ext cx="5072516" cy="99332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t>7</a:t>
            </a:fld>
            <a:endParaRPr lang="zh-CN" altLang="en-US"/>
          </a:p>
        </p:txBody>
      </p:sp>
    </p:spTree>
    <p:extLst>
      <p:ext uri="{BB962C8B-B14F-4D97-AF65-F5344CB8AC3E}">
        <p14:creationId xmlns:p14="http://schemas.microsoft.com/office/powerpoint/2010/main" val="351922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000"/>
                                        <p:tgtEl>
                                          <p:spTgt spid="2">
                                            <p:txEl>
                                              <p:pRg st="2" end="2"/>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协方差矩阵</a:t>
            </a:r>
          </a:p>
        </p:txBody>
      </p:sp>
      <p:sp>
        <p:nvSpPr>
          <p:cNvPr id="9" name="Rectangle 2"/>
          <p:cNvSpPr>
            <a:spLocks noChangeArrowheads="1"/>
          </p:cNvSpPr>
          <p:nvPr/>
        </p:nvSpPr>
        <p:spPr bwMode="auto">
          <a:xfrm>
            <a:off x="623303" y="1159179"/>
            <a:ext cx="8208911"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zh-CN" altLang="zh-CN" sz="2400" dirty="0" bmk="_Toc506733998">
                <a:solidFill>
                  <a:srgbClr val="002060"/>
                </a:solidFill>
                <a:latin typeface="Times New Roman" pitchFamily="18" charset="0"/>
                <a:ea typeface="华文细黑" pitchFamily="2" charset="-122"/>
                <a:cs typeface="Times New Roman" pitchFamily="18" charset="0"/>
              </a:rPr>
              <a:t>【</a:t>
            </a:r>
            <a:r>
              <a:rPr lang="zh-CN" altLang="en-US" sz="2400" dirty="0" bmk="_Toc506733998">
                <a:solidFill>
                  <a:srgbClr val="002060"/>
                </a:solidFill>
                <a:latin typeface="Times New Roman" pitchFamily="18" charset="0"/>
                <a:ea typeface="华文细黑" pitchFamily="2" charset="-122"/>
                <a:cs typeface="Times New Roman" pitchFamily="18" charset="0"/>
              </a:rPr>
              <a:t>例</a:t>
            </a:r>
            <a:r>
              <a:rPr lang="en-US" altLang="zh-CN" sz="2400" dirty="0" bmk="_Toc506733998">
                <a:solidFill>
                  <a:srgbClr val="002060"/>
                </a:solidFill>
                <a:latin typeface="Times New Roman" pitchFamily="18" charset="0"/>
                <a:ea typeface="华文细黑" pitchFamily="2" charset="-122"/>
                <a:cs typeface="Times New Roman" pitchFamily="18" charset="0"/>
              </a:rPr>
              <a:t>】 </a:t>
            </a:r>
            <a:r>
              <a:rPr lang="zh-CN" altLang="en-US" sz="2400" dirty="0" bmk="_Toc506733998">
                <a:solidFill>
                  <a:srgbClr val="002060"/>
                </a:solidFill>
                <a:latin typeface="Times New Roman" pitchFamily="18" charset="0"/>
                <a:ea typeface="华文细黑" pitchFamily="2" charset="-122"/>
                <a:cs typeface="Times New Roman" pitchFamily="18" charset="0"/>
              </a:rPr>
              <a:t>求 </a:t>
            </a:r>
            <a:r>
              <a:rPr lang="en-US" altLang="zh-CN" sz="2400" dirty="0"/>
              <a:t>X=[1,2,3,4,5],Y=[2,2,3,3,4]</a:t>
            </a:r>
            <a:r>
              <a:rPr lang="zh-CN" altLang="en-US" sz="2400" dirty="0"/>
              <a:t>的协方差矩阵</a:t>
            </a:r>
            <a:endParaRPr lang="en-US" altLang="zh-CN" sz="2400" dirty="0">
              <a:solidFill>
                <a:srgbClr val="002060"/>
              </a:solidFill>
              <a:latin typeface="Verdana" pitchFamily="34" charset="0"/>
              <a:ea typeface="宋体" pitchFamily="2" charset="-122"/>
              <a:cs typeface="宋体" pitchFamily="2" charset="-122"/>
            </a:endParaRPr>
          </a:p>
          <a:p>
            <a:pPr fontAlgn="base">
              <a:lnSpc>
                <a:spcPct val="120000"/>
              </a:lnSpc>
              <a:spcBef>
                <a:spcPct val="0"/>
              </a:spcBef>
              <a:spcAft>
                <a:spcPct val="0"/>
              </a:spcAft>
            </a:pPr>
            <a:r>
              <a:rPr lang="en-US" altLang="zh-CN" sz="2400" dirty="0"/>
              <a:t> X</a:t>
            </a:r>
            <a:r>
              <a:rPr lang="zh-CN" altLang="en-US" sz="2400" dirty="0"/>
              <a:t>的均值为：</a:t>
            </a:r>
            <a:r>
              <a:rPr lang="en-US" altLang="zh-CN" sz="2400" dirty="0"/>
              <a:t>3</a:t>
            </a:r>
            <a:r>
              <a:rPr lang="zh-CN" altLang="en-US" sz="2400" dirty="0"/>
              <a:t>；</a:t>
            </a:r>
            <a:r>
              <a:rPr lang="en-US" altLang="zh-CN" sz="2400" dirty="0"/>
              <a:t>Y</a:t>
            </a:r>
            <a:r>
              <a:rPr lang="zh-CN" altLang="en-US" sz="2400" dirty="0"/>
              <a:t>的均值为：</a:t>
            </a:r>
            <a:r>
              <a:rPr lang="en-US" altLang="zh-CN" sz="2400" dirty="0"/>
              <a:t>2.8</a:t>
            </a:r>
            <a:r>
              <a:rPr lang="zh-CN" altLang="en-US" sz="2400" dirty="0"/>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8</a:t>
            </a:fld>
            <a:endParaRPr lang="zh-CN" altLang="en-US"/>
          </a:p>
        </p:txBody>
      </p:sp>
      <p:pic>
        <p:nvPicPr>
          <p:cNvPr id="11" name="图片 10">
            <a:extLst>
              <a:ext uri="{FF2B5EF4-FFF2-40B4-BE49-F238E27FC236}">
                <a16:creationId xmlns:a16="http://schemas.microsoft.com/office/drawing/2014/main" id="{6A7C13C1-21DC-473E-8A3A-472AE32877C0}"/>
              </a:ext>
            </a:extLst>
          </p:cNvPr>
          <p:cNvPicPr>
            <a:picLocks noChangeAspect="1"/>
          </p:cNvPicPr>
          <p:nvPr/>
        </p:nvPicPr>
        <p:blipFill>
          <a:blip r:embed="rId3"/>
          <a:stretch>
            <a:fillRect/>
          </a:stretch>
        </p:blipFill>
        <p:spPr>
          <a:xfrm>
            <a:off x="1934265" y="3085706"/>
            <a:ext cx="5742857" cy="1790476"/>
          </a:xfrm>
          <a:prstGeom prst="rect">
            <a:avLst/>
          </a:prstGeom>
        </p:spPr>
      </p:pic>
      <p:pic>
        <p:nvPicPr>
          <p:cNvPr id="17" name="图片 16">
            <a:extLst>
              <a:ext uri="{FF2B5EF4-FFF2-40B4-BE49-F238E27FC236}">
                <a16:creationId xmlns:a16="http://schemas.microsoft.com/office/drawing/2014/main" id="{3813E565-A131-4F4A-BA2B-3D31477100B0}"/>
              </a:ext>
            </a:extLst>
          </p:cNvPr>
          <p:cNvPicPr>
            <a:picLocks noChangeAspect="1"/>
          </p:cNvPicPr>
          <p:nvPr/>
        </p:nvPicPr>
        <p:blipFill>
          <a:blip r:embed="rId4"/>
          <a:stretch>
            <a:fillRect/>
          </a:stretch>
        </p:blipFill>
        <p:spPr>
          <a:xfrm>
            <a:off x="3503028" y="5281230"/>
            <a:ext cx="2454496" cy="974580"/>
          </a:xfrm>
          <a:prstGeom prst="rect">
            <a:avLst/>
          </a:prstGeom>
        </p:spPr>
      </p:pic>
      <mc:AlternateContent xmlns:mc="http://schemas.openxmlformats.org/markup-compatibility/2006" xmlns:a14="http://schemas.microsoft.com/office/drawing/2010/main">
        <mc:Choice Requires="a14">
          <p:sp>
            <p:nvSpPr>
              <p:cNvPr id="20" name="对象 5">
                <a:extLst>
                  <a:ext uri="{FF2B5EF4-FFF2-40B4-BE49-F238E27FC236}">
                    <a16:creationId xmlns:a16="http://schemas.microsoft.com/office/drawing/2014/main" id="{19A24F83-B1E2-4478-B4C1-D99E33C7188A}"/>
                  </a:ext>
                </a:extLst>
              </p:cNvPr>
              <p:cNvSpPr txBox="1"/>
              <p:nvPr/>
            </p:nvSpPr>
            <p:spPr bwMode="auto">
              <a:xfrm>
                <a:off x="623303" y="2095526"/>
                <a:ext cx="5759450" cy="8413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cov</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−1</m:t>
                          </m:r>
                        </m:den>
                      </m:f>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𝑚</m:t>
                          </m:r>
                        </m:sup>
                        <m:e>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𝑖</m:t>
                                  </m:r>
                                </m:sub>
                              </m:sSub>
                            </m:e>
                          </m:d>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𝑘𝑗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e>
                                <m:sub>
                                  <m:r>
                                    <a:rPr lang="zh-CN" altLang="en-US" i="1">
                                      <a:solidFill>
                                        <a:srgbClr val="000000"/>
                                      </a:solidFill>
                                      <a:latin typeface="Cambria Math" panose="02040503050406030204" pitchFamily="18" charset="0"/>
                                    </a:rPr>
                                    <m:t>𝑗</m:t>
                                  </m:r>
                                </m:sub>
                              </m:sSub>
                            </m:e>
                          </m:d>
                        </m:e>
                      </m:nary>
                    </m:oMath>
                  </m:oMathPara>
                </a14:m>
                <a:endParaRPr lang="zh-CN" altLang="en-US" dirty="0"/>
              </a:p>
            </p:txBody>
          </p:sp>
        </mc:Choice>
        <mc:Fallback xmlns="">
          <p:sp>
            <p:nvSpPr>
              <p:cNvPr id="20" name="对象 5">
                <a:extLst>
                  <a:ext uri="{FF2B5EF4-FFF2-40B4-BE49-F238E27FC236}">
                    <a16:creationId xmlns:a16="http://schemas.microsoft.com/office/drawing/2014/main" id="{19A24F83-B1E2-4478-B4C1-D99E33C7188A}"/>
                  </a:ext>
                </a:extLst>
              </p:cNvPr>
              <p:cNvSpPr txBox="1">
                <a:spLocks noRot="1" noChangeAspect="1" noMove="1" noResize="1" noEditPoints="1" noAdjustHandles="1" noChangeArrowheads="1" noChangeShapeType="1" noTextEdit="1"/>
              </p:cNvSpPr>
              <p:nvPr/>
            </p:nvSpPr>
            <p:spPr bwMode="auto">
              <a:xfrm>
                <a:off x="623303" y="2095526"/>
                <a:ext cx="5759450" cy="841375"/>
              </a:xfrm>
              <a:prstGeom prst="rect">
                <a:avLst/>
              </a:prstGeom>
              <a:blipFill>
                <a:blip r:embed="rId5"/>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92018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252" y="2113893"/>
            <a:ext cx="3244573" cy="146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677" y="3691401"/>
            <a:ext cx="3248230" cy="146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6975" y="2068981"/>
            <a:ext cx="3248230" cy="146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标题 2"/>
          <p:cNvSpPr>
            <a:spLocks noGrp="1"/>
          </p:cNvSpPr>
          <p:nvPr>
            <p:ph type="title"/>
          </p:nvPr>
        </p:nvSpPr>
        <p:spPr/>
        <p:txBody>
          <a:bodyPr/>
          <a:lstStyle/>
          <a:p>
            <a:r>
              <a:rPr lang="zh-CN" altLang="en-US" dirty="0"/>
              <a:t>协方差矩阵</a:t>
            </a:r>
          </a:p>
        </p:txBody>
      </p:sp>
      <p:graphicFrame>
        <p:nvGraphicFramePr>
          <p:cNvPr id="5" name="表格 4"/>
          <p:cNvGraphicFramePr>
            <a:graphicFrameLocks noGrp="1"/>
          </p:cNvGraphicFramePr>
          <p:nvPr>
            <p:extLst>
              <p:ext uri="{D42A27DB-BD31-4B8C-83A1-F6EECF244321}">
                <p14:modId xmlns:p14="http://schemas.microsoft.com/office/powerpoint/2010/main" val="620100697"/>
              </p:ext>
            </p:extLst>
          </p:nvPr>
        </p:nvGraphicFramePr>
        <p:xfrm>
          <a:off x="3064767" y="2167553"/>
          <a:ext cx="1225550" cy="609676"/>
        </p:xfrm>
        <a:graphic>
          <a:graphicData uri="http://schemas.openxmlformats.org/drawingml/2006/table">
            <a:tbl>
              <a:tblPr>
                <a:tableStyleId>{5C22544A-7EE6-4342-B048-85BDC9FD1C3A}</a:tableStyleId>
              </a:tblPr>
              <a:tblGrid>
                <a:gridCol w="76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82550">
                  <a:extLst>
                    <a:ext uri="{9D8B030D-6E8A-4147-A177-3AD203B41FA5}">
                      <a16:colId xmlns:a16="http://schemas.microsoft.com/office/drawing/2014/main" val="20003"/>
                    </a:ext>
                  </a:extLst>
                </a:gridCol>
              </a:tblGrid>
              <a:tr h="304838">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2973</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2351</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304838">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2351</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2512</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 name="Rectangle 2"/>
          <p:cNvSpPr>
            <a:spLocks noChangeArrowheads="1"/>
          </p:cNvSpPr>
          <p:nvPr/>
        </p:nvSpPr>
        <p:spPr bwMode="auto">
          <a:xfrm>
            <a:off x="827584" y="1117692"/>
            <a:ext cx="8208911" cy="494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zh-CN" altLang="zh-CN" sz="2400" dirty="0" bmk="_Toc506733998">
                <a:solidFill>
                  <a:srgbClr val="002060"/>
                </a:solidFill>
                <a:latin typeface="Times New Roman" pitchFamily="18" charset="0"/>
                <a:ea typeface="华文细黑" pitchFamily="2" charset="-122"/>
                <a:cs typeface="Times New Roman" pitchFamily="18" charset="0"/>
              </a:rPr>
              <a:t>【</a:t>
            </a:r>
            <a:r>
              <a:rPr lang="zh-CN" altLang="en-US" sz="2400" dirty="0" bmk="_Toc506733998">
                <a:solidFill>
                  <a:srgbClr val="002060"/>
                </a:solidFill>
                <a:latin typeface="Times New Roman" pitchFamily="18" charset="0"/>
                <a:ea typeface="华文细黑" pitchFamily="2" charset="-122"/>
                <a:cs typeface="Times New Roman" pitchFamily="18" charset="0"/>
              </a:rPr>
              <a:t>例</a:t>
            </a:r>
            <a:r>
              <a:rPr lang="en-US" altLang="zh-CN" sz="2400" dirty="0" bmk="_Toc506733998">
                <a:solidFill>
                  <a:srgbClr val="002060"/>
                </a:solidFill>
                <a:latin typeface="Times New Roman" pitchFamily="18" charset="0"/>
                <a:ea typeface="华文细黑" pitchFamily="2" charset="-122"/>
                <a:cs typeface="Times New Roman" pitchFamily="18" charset="0"/>
              </a:rPr>
              <a:t>】</a:t>
            </a:r>
            <a:endParaRPr lang="zh-CN" altLang="en-US" sz="4800" dirty="0">
              <a:solidFill>
                <a:srgbClr val="002060"/>
              </a:solidFill>
              <a:latin typeface="Arial" pitchFamily="34" charset="0"/>
              <a:ea typeface="宋体" pitchFamily="2" charset="-122"/>
              <a:cs typeface="宋体" pitchFamily="2"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788330595"/>
              </p:ext>
            </p:extLst>
          </p:nvPr>
        </p:nvGraphicFramePr>
        <p:xfrm>
          <a:off x="3064767" y="3726361"/>
          <a:ext cx="1371600" cy="609676"/>
        </p:xfrm>
        <a:graphic>
          <a:graphicData uri="http://schemas.openxmlformats.org/drawingml/2006/table">
            <a:tbl>
              <a:tblPr>
                <a:tableStyleId>{5C22544A-7EE6-4342-B048-85BDC9FD1C3A}</a:tableStyleId>
              </a:tblPr>
              <a:tblGrid>
                <a:gridCol w="76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76200">
                  <a:extLst>
                    <a:ext uri="{9D8B030D-6E8A-4147-A177-3AD203B41FA5}">
                      <a16:colId xmlns:a16="http://schemas.microsoft.com/office/drawing/2014/main" val="20003"/>
                    </a:ext>
                  </a:extLst>
                </a:gridCol>
              </a:tblGrid>
              <a:tr h="304838">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2973</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-2351</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304838">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-2351</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1600" b="1" u="none" strike="noStrike" dirty="0">
                          <a:effectLst/>
                          <a:latin typeface="Times New Roman" pitchFamily="18" charset="0"/>
                          <a:cs typeface="Times New Roman" pitchFamily="18" charset="0"/>
                        </a:rPr>
                        <a:t>2512</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501892980"/>
              </p:ext>
            </p:extLst>
          </p:nvPr>
        </p:nvGraphicFramePr>
        <p:xfrm>
          <a:off x="7817295" y="2113893"/>
          <a:ext cx="1104900" cy="510922"/>
        </p:xfrm>
        <a:graphic>
          <a:graphicData uri="http://schemas.openxmlformats.org/drawingml/2006/table">
            <a:tbl>
              <a:tblPr>
                <a:tableStyleId>{5C22544A-7EE6-4342-B048-85BDC9FD1C3A}</a:tableStyleId>
              </a:tblPr>
              <a:tblGrid>
                <a:gridCol w="76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419100">
                  <a:extLst>
                    <a:ext uri="{9D8B030D-6E8A-4147-A177-3AD203B41FA5}">
                      <a16:colId xmlns:a16="http://schemas.microsoft.com/office/drawing/2014/main" val="20002"/>
                    </a:ext>
                  </a:extLst>
                </a:gridCol>
                <a:gridCol w="76200">
                  <a:extLst>
                    <a:ext uri="{9D8B030D-6E8A-4147-A177-3AD203B41FA5}">
                      <a16:colId xmlns:a16="http://schemas.microsoft.com/office/drawing/2014/main" val="20003"/>
                    </a:ext>
                  </a:extLst>
                </a:gridCol>
              </a:tblGrid>
              <a:tr h="255461">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r>
                        <a:rPr lang="en-US" altLang="zh-CN" sz="1600" b="1" u="none" strike="noStrike" dirty="0">
                          <a:effectLst/>
                          <a:latin typeface="Times New Roman" pitchFamily="18" charset="0"/>
                          <a:cs typeface="Times New Roman" pitchFamily="18" charset="0"/>
                        </a:rPr>
                        <a:t>3291</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r>
                        <a:rPr lang="en-US" altLang="zh-CN" sz="1600" b="1" u="none" strike="noStrike" dirty="0">
                          <a:effectLst/>
                          <a:latin typeface="Times New Roman" pitchFamily="18" charset="0"/>
                          <a:cs typeface="Times New Roman" pitchFamily="18" charset="0"/>
                        </a:rPr>
                        <a:t>182</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255461">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r>
                        <a:rPr lang="en-US" altLang="zh-CN" sz="1600" b="1" u="none" strike="noStrike" dirty="0">
                          <a:effectLst/>
                          <a:latin typeface="Times New Roman" pitchFamily="18" charset="0"/>
                          <a:cs typeface="Times New Roman" pitchFamily="18" charset="0"/>
                        </a:rPr>
                        <a:t>182</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r>
                        <a:rPr lang="en-US" altLang="zh-CN" sz="1600" b="1" u="none" strike="noStrike" dirty="0">
                          <a:effectLst/>
                          <a:latin typeface="Times New Roman" pitchFamily="18" charset="0"/>
                          <a:cs typeface="Times New Roman" pitchFamily="18" charset="0"/>
                        </a:rPr>
                        <a:t>389</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25604"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36975" y="3691400"/>
            <a:ext cx="3248230" cy="146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表格 11"/>
          <p:cNvGraphicFramePr>
            <a:graphicFrameLocks noGrp="1"/>
          </p:cNvGraphicFramePr>
          <p:nvPr>
            <p:extLst>
              <p:ext uri="{D42A27DB-BD31-4B8C-83A1-F6EECF244321}">
                <p14:modId xmlns:p14="http://schemas.microsoft.com/office/powerpoint/2010/main" val="2505648306"/>
              </p:ext>
            </p:extLst>
          </p:nvPr>
        </p:nvGraphicFramePr>
        <p:xfrm>
          <a:off x="7817295" y="3752772"/>
          <a:ext cx="1219200" cy="510922"/>
        </p:xfrm>
        <a:graphic>
          <a:graphicData uri="http://schemas.openxmlformats.org/drawingml/2006/table">
            <a:tbl>
              <a:tblPr>
                <a:tableStyleId>{5C22544A-7EE6-4342-B048-85BDC9FD1C3A}</a:tableStyleId>
              </a:tblPr>
              <a:tblGrid>
                <a:gridCol w="76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76200">
                  <a:extLst>
                    <a:ext uri="{9D8B030D-6E8A-4147-A177-3AD203B41FA5}">
                      <a16:colId xmlns:a16="http://schemas.microsoft.com/office/drawing/2014/main" val="20003"/>
                    </a:ext>
                  </a:extLst>
                </a:gridCol>
              </a:tblGrid>
              <a:tr h="255461">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r>
                        <a:rPr lang="en-US" altLang="zh-CN" sz="1600" b="1" u="none" strike="noStrike" dirty="0">
                          <a:effectLst/>
                          <a:latin typeface="Times New Roman" pitchFamily="18" charset="0"/>
                          <a:cs typeface="Times New Roman" pitchFamily="18" charset="0"/>
                        </a:rPr>
                        <a:t>3178</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r>
                        <a:rPr lang="en-US" altLang="zh-CN" sz="1600" b="1" u="none" strike="noStrike" dirty="0">
                          <a:effectLst/>
                          <a:latin typeface="Times New Roman" pitchFamily="18" charset="0"/>
                          <a:cs typeface="Times New Roman" pitchFamily="18" charset="0"/>
                        </a:rPr>
                        <a:t>0</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255461">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r>
                        <a:rPr lang="en-US" altLang="zh-CN" sz="1600" b="1" u="none" strike="noStrike" dirty="0">
                          <a:effectLst/>
                          <a:latin typeface="Times New Roman" pitchFamily="18" charset="0"/>
                          <a:cs typeface="Times New Roman" pitchFamily="18" charset="0"/>
                        </a:rPr>
                        <a:t>0</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r>
                        <a:rPr lang="en-US" altLang="zh-CN" sz="1600" b="1" u="none" strike="noStrike" dirty="0">
                          <a:effectLst/>
                          <a:latin typeface="Times New Roman" pitchFamily="18" charset="0"/>
                          <a:cs typeface="Times New Roman" pitchFamily="18" charset="0"/>
                        </a:rPr>
                        <a:t>2356</a:t>
                      </a: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endParaRPr lang="en-US" altLang="zh-CN" sz="16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3" name="矩形 12"/>
          <p:cNvSpPr/>
          <p:nvPr/>
        </p:nvSpPr>
        <p:spPr>
          <a:xfrm>
            <a:off x="508527" y="2103789"/>
            <a:ext cx="396000" cy="400110"/>
          </a:xfrm>
          <a:prstGeom prst="rect">
            <a:avLst/>
          </a:prstGeom>
        </p:spPr>
        <p:txBody>
          <a:bodyPr wrap="square">
            <a:spAutoFit/>
          </a:bodyPr>
          <a:lstStyle/>
          <a:p>
            <a:pPr algn="dist"/>
            <a:r>
              <a:rPr lang="en-US" altLang="zh-CN" sz="2000" b="1" dirty="0">
                <a:solidFill>
                  <a:srgbClr val="C00000"/>
                </a:solidFill>
                <a:latin typeface="Times New Roman" pitchFamily="18" charset="0"/>
                <a:cs typeface="Times New Roman" pitchFamily="18" charset="0"/>
                <a:sym typeface="Wingdings"/>
              </a:rPr>
              <a:t></a:t>
            </a:r>
            <a:endParaRPr lang="zh-CN" altLang="en-US" sz="2000" b="1" dirty="0">
              <a:solidFill>
                <a:srgbClr val="C00000"/>
              </a:solidFill>
            </a:endParaRPr>
          </a:p>
        </p:txBody>
      </p:sp>
      <p:sp>
        <p:nvSpPr>
          <p:cNvPr id="14" name="矩形 13"/>
          <p:cNvSpPr/>
          <p:nvPr/>
        </p:nvSpPr>
        <p:spPr>
          <a:xfrm>
            <a:off x="508527" y="3791911"/>
            <a:ext cx="396000" cy="400110"/>
          </a:xfrm>
          <a:prstGeom prst="rect">
            <a:avLst/>
          </a:prstGeom>
        </p:spPr>
        <p:txBody>
          <a:bodyPr wrap="square">
            <a:spAutoFit/>
          </a:bodyPr>
          <a:lstStyle/>
          <a:p>
            <a:pPr algn="dist"/>
            <a:r>
              <a:rPr lang="en-US" altLang="zh-CN" sz="2000" b="1" dirty="0">
                <a:solidFill>
                  <a:srgbClr val="C00000"/>
                </a:solidFill>
                <a:latin typeface="Times New Roman" pitchFamily="18" charset="0"/>
                <a:cs typeface="Times New Roman" pitchFamily="18" charset="0"/>
                <a:sym typeface="Wingdings"/>
              </a:rPr>
              <a:t></a:t>
            </a:r>
            <a:endParaRPr lang="zh-CN" altLang="en-US" sz="2000" b="1" dirty="0">
              <a:solidFill>
                <a:srgbClr val="C00000"/>
              </a:solidFill>
            </a:endParaRPr>
          </a:p>
        </p:txBody>
      </p:sp>
      <p:sp>
        <p:nvSpPr>
          <p:cNvPr id="15" name="矩形 14"/>
          <p:cNvSpPr/>
          <p:nvPr/>
        </p:nvSpPr>
        <p:spPr>
          <a:xfrm>
            <a:off x="5080991" y="2063719"/>
            <a:ext cx="396000" cy="400110"/>
          </a:xfrm>
          <a:prstGeom prst="rect">
            <a:avLst/>
          </a:prstGeom>
        </p:spPr>
        <p:txBody>
          <a:bodyPr wrap="square">
            <a:spAutoFit/>
          </a:bodyPr>
          <a:lstStyle/>
          <a:p>
            <a:pPr algn="dist"/>
            <a:r>
              <a:rPr lang="en-US" altLang="zh-CN" sz="2000" b="1" dirty="0">
                <a:solidFill>
                  <a:srgbClr val="C00000"/>
                </a:solidFill>
                <a:latin typeface="Times New Roman" pitchFamily="18" charset="0"/>
                <a:cs typeface="Times New Roman" pitchFamily="18" charset="0"/>
                <a:sym typeface="Wingdings"/>
              </a:rPr>
              <a:t></a:t>
            </a:r>
            <a:endParaRPr lang="zh-CN" altLang="en-US" sz="2000" b="1" dirty="0">
              <a:solidFill>
                <a:srgbClr val="C00000"/>
              </a:solidFill>
            </a:endParaRPr>
          </a:p>
        </p:txBody>
      </p:sp>
      <p:sp>
        <p:nvSpPr>
          <p:cNvPr id="16" name="矩形 15"/>
          <p:cNvSpPr/>
          <p:nvPr/>
        </p:nvSpPr>
        <p:spPr>
          <a:xfrm>
            <a:off x="5080991" y="3791911"/>
            <a:ext cx="396000" cy="400110"/>
          </a:xfrm>
          <a:prstGeom prst="rect">
            <a:avLst/>
          </a:prstGeom>
        </p:spPr>
        <p:txBody>
          <a:bodyPr wrap="square">
            <a:spAutoFit/>
          </a:bodyPr>
          <a:lstStyle/>
          <a:p>
            <a:pPr algn="dist"/>
            <a:r>
              <a:rPr lang="en-US" altLang="zh-CN" sz="2000" b="1" dirty="0">
                <a:solidFill>
                  <a:srgbClr val="C00000"/>
                </a:solidFill>
                <a:latin typeface="Times New Roman" pitchFamily="18" charset="0"/>
                <a:cs typeface="Times New Roman" pitchFamily="18" charset="0"/>
                <a:sym typeface="Wingdings"/>
              </a:rPr>
              <a:t></a:t>
            </a:r>
            <a:endParaRPr lang="zh-CN" altLang="en-US" sz="2000" b="1" dirty="0">
              <a:solidFill>
                <a:srgbClr val="C00000"/>
              </a:solidFill>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9</a:t>
            </a:fld>
            <a:endParaRPr lang="zh-CN" altLang="en-US"/>
          </a:p>
        </p:txBody>
      </p:sp>
    </p:spTree>
    <p:extLst>
      <p:ext uri="{BB962C8B-B14F-4D97-AF65-F5344CB8AC3E}">
        <p14:creationId xmlns:p14="http://schemas.microsoft.com/office/powerpoint/2010/main" val="325946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相关系数</a:t>
            </a:r>
          </a:p>
        </p:txBody>
      </p:sp>
      <p:sp>
        <p:nvSpPr>
          <p:cNvPr id="3" name="内容占位符 2"/>
          <p:cNvSpPr>
            <a:spLocks noGrp="1"/>
          </p:cNvSpPr>
          <p:nvPr>
            <p:ph idx="1"/>
          </p:nvPr>
        </p:nvSpPr>
        <p:spPr/>
        <p:txBody>
          <a:bodyPr/>
          <a:lstStyle/>
          <a:p>
            <a:r>
              <a:rPr lang="zh-CN" altLang="en-US" dirty="0"/>
              <a:t>线性相关系数、皮氏</a:t>
            </a:r>
            <a:r>
              <a:rPr lang="en-US" altLang="zh-CN" dirty="0"/>
              <a:t>(Pearson)</a:t>
            </a:r>
            <a:r>
              <a:rPr lang="zh-CN" altLang="en-US" dirty="0"/>
              <a:t>积矩相关系数</a:t>
            </a:r>
            <a:endParaRPr lang="en-US" altLang="zh-CN" dirty="0"/>
          </a:p>
          <a:p>
            <a:r>
              <a:rPr lang="zh-CN" altLang="en-US" dirty="0"/>
              <a:t>是衡量两个随机变量</a:t>
            </a:r>
            <a:r>
              <a:rPr lang="en-US" altLang="zh-CN" i="1" dirty="0"/>
              <a:t>X</a:t>
            </a:r>
            <a:r>
              <a:rPr lang="zh-CN" altLang="en-US" i="1" dirty="0"/>
              <a:t>，</a:t>
            </a:r>
            <a:r>
              <a:rPr lang="en-US" altLang="zh-CN" i="1" dirty="0"/>
              <a:t>Y</a:t>
            </a:r>
            <a:r>
              <a:rPr lang="zh-CN" altLang="en-US" dirty="0"/>
              <a:t>之间线性相关程度的指标</a:t>
            </a:r>
            <a:endParaRPr lang="en-US" altLang="zh-CN" dirty="0"/>
          </a:p>
          <a:p>
            <a:r>
              <a:rPr lang="zh-CN" altLang="en-US" dirty="0"/>
              <a:t>相关系数</a:t>
            </a:r>
            <a:r>
              <a:rPr lang="en-US" altLang="zh-CN" i="1" dirty="0"/>
              <a:t>r</a:t>
            </a:r>
            <a:r>
              <a:rPr lang="zh-CN" altLang="en-US" dirty="0"/>
              <a:t>的计算方法为：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t>10</a:t>
            </a:fld>
            <a:endParaRPr lang="zh-CN" altLang="en-US"/>
          </a:p>
        </p:txBody>
      </p:sp>
      <p:graphicFrame>
        <p:nvGraphicFramePr>
          <p:cNvPr id="7" name="对象 -2147482560">
            <a:extLst>
              <a:ext uri="{FF2B5EF4-FFF2-40B4-BE49-F238E27FC236}">
                <a16:creationId xmlns:a16="http://schemas.microsoft.com/office/drawing/2014/main" id="{EB67D071-EAC7-4226-873A-FACAD604FE85}"/>
              </a:ext>
            </a:extLst>
          </p:cNvPr>
          <p:cNvGraphicFramePr>
            <a:graphicFrameLocks noChangeAspect="1"/>
          </p:cNvGraphicFramePr>
          <p:nvPr>
            <p:extLst>
              <p:ext uri="{D42A27DB-BD31-4B8C-83A1-F6EECF244321}">
                <p14:modId xmlns:p14="http://schemas.microsoft.com/office/powerpoint/2010/main" val="3006364819"/>
              </p:ext>
            </p:extLst>
          </p:nvPr>
        </p:nvGraphicFramePr>
        <p:xfrm>
          <a:off x="470092" y="2806906"/>
          <a:ext cx="5249773" cy="3215867"/>
        </p:xfrm>
        <a:graphic>
          <a:graphicData uri="http://schemas.openxmlformats.org/presentationml/2006/ole">
            <mc:AlternateContent xmlns:mc="http://schemas.openxmlformats.org/markup-compatibility/2006">
              <mc:Choice xmlns:v="urn:schemas-microsoft-com:vml" Requires="v">
                <p:oleObj spid="_x0000_s8200" r:id="rId4" imgW="2908300" imgH="1777365" progId="Equation.DSMT4">
                  <p:embed/>
                </p:oleObj>
              </mc:Choice>
              <mc:Fallback>
                <p:oleObj r:id="rId4" imgW="2908300" imgH="1777365" progId="Equation.DSMT4">
                  <p:embed/>
                  <p:pic>
                    <p:nvPicPr>
                      <p:cNvPr id="7" name="对象 -2147482560">
                        <a:extLst>
                          <a:ext uri="{FF2B5EF4-FFF2-40B4-BE49-F238E27FC236}">
                            <a16:creationId xmlns:a16="http://schemas.microsoft.com/office/drawing/2014/main" id="{ABD86B2F-7769-4058-8980-1C582FFC5487}"/>
                          </a:ext>
                        </a:extLst>
                      </p:cNvPr>
                      <p:cNvPicPr/>
                      <p:nvPr/>
                    </p:nvPicPr>
                    <p:blipFill>
                      <a:blip r:embed="rId5"/>
                      <a:stretch>
                        <a:fillRect/>
                      </a:stretch>
                    </p:blipFill>
                    <p:spPr>
                      <a:xfrm>
                        <a:off x="470092" y="2806906"/>
                        <a:ext cx="5249773" cy="3215867"/>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A35EF29-03C9-44BD-A753-FD121F185B53}"/>
                  </a:ext>
                </a:extLst>
              </p:cNvPr>
              <p:cNvSpPr/>
              <p:nvPr/>
            </p:nvSpPr>
            <p:spPr>
              <a:xfrm>
                <a:off x="4248677" y="4532286"/>
                <a:ext cx="5436096" cy="1754326"/>
              </a:xfrm>
              <a:prstGeom prst="rect">
                <a:avLst/>
              </a:prstGeom>
            </p:spPr>
            <p:txBody>
              <a:bodyPr wrap="square">
                <a:spAutoFit/>
              </a:bodyPr>
              <a:lstStyle/>
              <a:p>
                <a:pPr>
                  <a:lnSpc>
                    <a:spcPct val="150000"/>
                  </a:lnSpc>
                </a:pPr>
                <a14:m>
                  <m:oMath xmlns:m="http://schemas.openxmlformats.org/officeDocument/2006/math">
                    <m:r>
                      <a:rPr lang="en-US" altLang="zh-CN" sz="2400" i="1">
                        <a:solidFill>
                          <a:srgbClr val="C00000"/>
                        </a:solidFill>
                        <a:latin typeface="Cambria Math"/>
                      </a:rPr>
                      <m:t>𝑐𝑜𝑣</m:t>
                    </m:r>
                    <m:d>
                      <m:dPr>
                        <m:ctrlPr>
                          <a:rPr lang="zh-CN" altLang="zh-CN" sz="2400" i="1">
                            <a:solidFill>
                              <a:srgbClr val="C00000"/>
                            </a:solidFill>
                            <a:latin typeface="Cambria Math" panose="02040503050406030204" pitchFamily="18" charset="0"/>
                          </a:rPr>
                        </m:ctrlPr>
                      </m:dPr>
                      <m:e>
                        <m:r>
                          <a:rPr lang="en-US" altLang="zh-CN" sz="2400" i="1">
                            <a:solidFill>
                              <a:srgbClr val="C00000"/>
                            </a:solidFill>
                            <a:latin typeface="Cambria Math"/>
                          </a:rPr>
                          <m:t>𝑋</m:t>
                        </m:r>
                        <m:r>
                          <a:rPr lang="en-US" altLang="zh-CN" sz="2400">
                            <a:solidFill>
                              <a:srgbClr val="C00000"/>
                            </a:solidFill>
                            <a:latin typeface="Cambria Math"/>
                          </a:rPr>
                          <m:t>,</m:t>
                        </m:r>
                        <m:r>
                          <a:rPr lang="en-US" altLang="zh-CN" sz="2400" i="1">
                            <a:solidFill>
                              <a:srgbClr val="C00000"/>
                            </a:solidFill>
                            <a:latin typeface="Cambria Math"/>
                          </a:rPr>
                          <m:t>𝑌</m:t>
                        </m:r>
                      </m:e>
                    </m:d>
                  </m:oMath>
                </a14:m>
                <a:r>
                  <a:rPr lang="zh-CN" altLang="zh-CN" sz="2400" dirty="0">
                    <a:solidFill>
                      <a:srgbClr val="C00000"/>
                    </a:solidFill>
                    <a:latin typeface="Times New Roman" pitchFamily="18" charset="0"/>
                    <a:ea typeface="华文细黑" pitchFamily="2" charset="-122"/>
                    <a:cs typeface="Times New Roman" pitchFamily="18" charset="0"/>
                  </a:rPr>
                  <a:t>为随机变量</a:t>
                </a:r>
                <a:r>
                  <a:rPr lang="en-US" altLang="zh-CN" sz="2400" i="1" dirty="0">
                    <a:solidFill>
                      <a:srgbClr val="C00000"/>
                    </a:solidFill>
                    <a:latin typeface="Times New Roman" pitchFamily="18" charset="0"/>
                    <a:ea typeface="华文细黑" pitchFamily="2" charset="-122"/>
                    <a:cs typeface="Times New Roman" pitchFamily="18" charset="0"/>
                  </a:rPr>
                  <a:t>X</a:t>
                </a:r>
                <a:r>
                  <a:rPr lang="zh-CN" altLang="zh-CN" sz="2400" dirty="0">
                    <a:solidFill>
                      <a:srgbClr val="C00000"/>
                    </a:solidFill>
                    <a:latin typeface="Times New Roman" pitchFamily="18" charset="0"/>
                    <a:ea typeface="华文细黑" pitchFamily="2" charset="-122"/>
                    <a:cs typeface="Times New Roman" pitchFamily="18" charset="0"/>
                  </a:rPr>
                  <a:t>，</a:t>
                </a:r>
                <a:r>
                  <a:rPr lang="en-US" altLang="zh-CN" sz="2400" i="1" dirty="0">
                    <a:solidFill>
                      <a:srgbClr val="C00000"/>
                    </a:solidFill>
                    <a:latin typeface="Times New Roman" pitchFamily="18" charset="0"/>
                    <a:ea typeface="华文细黑" pitchFamily="2" charset="-122"/>
                    <a:cs typeface="Times New Roman" pitchFamily="18" charset="0"/>
                  </a:rPr>
                  <a:t>Y</a:t>
                </a:r>
                <a:r>
                  <a:rPr lang="zh-CN" altLang="zh-CN" sz="2400" dirty="0">
                    <a:solidFill>
                      <a:srgbClr val="C00000"/>
                    </a:solidFill>
                    <a:latin typeface="Times New Roman" pitchFamily="18" charset="0"/>
                    <a:ea typeface="华文细黑" pitchFamily="2" charset="-122"/>
                    <a:cs typeface="Times New Roman" pitchFamily="18" charset="0"/>
                  </a:rPr>
                  <a:t>的协方差</a:t>
                </a:r>
                <a:r>
                  <a:rPr lang="zh-CN" altLang="en-US" sz="2400" dirty="0">
                    <a:solidFill>
                      <a:srgbClr val="C00000"/>
                    </a:solidFill>
                    <a:latin typeface="Times New Roman" pitchFamily="18" charset="0"/>
                    <a:ea typeface="华文细黑" pitchFamily="2" charset="-122"/>
                    <a:cs typeface="Times New Roman" pitchFamily="18" charset="0"/>
                  </a:rPr>
                  <a:t>；</a:t>
                </a:r>
                <a:endParaRPr lang="en-US" altLang="zh-CN" sz="2400" dirty="0">
                  <a:solidFill>
                    <a:srgbClr val="C00000"/>
                  </a:solidFill>
                  <a:latin typeface="Times New Roman" pitchFamily="18" charset="0"/>
                  <a:ea typeface="华文细黑" pitchFamily="2" charset="-122"/>
                  <a:cs typeface="Times New Roman" pitchFamily="18" charset="0"/>
                </a:endParaRPr>
              </a:p>
              <a:p>
                <a:pPr>
                  <a:lnSpc>
                    <a:spcPct val="150000"/>
                  </a:lnSpc>
                </a:pPr>
                <a14:m>
                  <m:oMath xmlns:m="http://schemas.openxmlformats.org/officeDocument/2006/math">
                    <m:sSub>
                      <m:sSubPr>
                        <m:ctrlPr>
                          <a:rPr lang="zh-CN" altLang="zh-CN" sz="2400" i="1">
                            <a:solidFill>
                              <a:srgbClr val="C00000"/>
                            </a:solidFill>
                            <a:latin typeface="Cambria Math" panose="02040503050406030204" pitchFamily="18" charset="0"/>
                          </a:rPr>
                        </m:ctrlPr>
                      </m:sSubPr>
                      <m:e>
                        <m:r>
                          <a:rPr lang="en-US" altLang="zh-CN" sz="2400" i="1">
                            <a:solidFill>
                              <a:srgbClr val="C00000"/>
                            </a:solidFill>
                            <a:latin typeface="Cambria Math"/>
                          </a:rPr>
                          <m:t>𝜎</m:t>
                        </m:r>
                      </m:e>
                      <m:sub>
                        <m:r>
                          <a:rPr lang="en-US" altLang="zh-CN" sz="2400" i="1">
                            <a:solidFill>
                              <a:srgbClr val="C00000"/>
                            </a:solidFill>
                            <a:latin typeface="Cambria Math"/>
                          </a:rPr>
                          <m:t>𝑋</m:t>
                        </m:r>
                      </m:sub>
                    </m:sSub>
                  </m:oMath>
                </a14:m>
                <a:r>
                  <a:rPr lang="zh-CN" altLang="zh-CN" sz="2400" dirty="0">
                    <a:solidFill>
                      <a:srgbClr val="C00000"/>
                    </a:solidFill>
                    <a:latin typeface="Times New Roman" pitchFamily="18" charset="0"/>
                    <a:ea typeface="华文细黑" pitchFamily="2" charset="-122"/>
                    <a:cs typeface="Times New Roman" pitchFamily="18" charset="0"/>
                  </a:rPr>
                  <a:t>为随机变量</a:t>
                </a:r>
                <a:r>
                  <a:rPr lang="en-US" altLang="zh-CN" sz="2400" i="1" dirty="0">
                    <a:solidFill>
                      <a:srgbClr val="C00000"/>
                    </a:solidFill>
                    <a:latin typeface="Times New Roman" pitchFamily="18" charset="0"/>
                    <a:ea typeface="华文细黑" pitchFamily="2" charset="-122"/>
                    <a:cs typeface="Times New Roman" pitchFamily="18" charset="0"/>
                  </a:rPr>
                  <a:t>X</a:t>
                </a:r>
                <a:r>
                  <a:rPr lang="zh-CN" altLang="zh-CN" sz="2400" dirty="0">
                    <a:solidFill>
                      <a:srgbClr val="C00000"/>
                    </a:solidFill>
                    <a:latin typeface="Times New Roman" pitchFamily="18" charset="0"/>
                    <a:ea typeface="华文细黑" pitchFamily="2" charset="-122"/>
                    <a:cs typeface="Times New Roman" pitchFamily="18" charset="0"/>
                  </a:rPr>
                  <a:t>的标准差</a:t>
                </a:r>
                <a:r>
                  <a:rPr lang="zh-CN" altLang="en-US" sz="2400" dirty="0">
                    <a:solidFill>
                      <a:srgbClr val="C00000"/>
                    </a:solidFill>
                    <a:latin typeface="Times New Roman" pitchFamily="18" charset="0"/>
                    <a:ea typeface="华文细黑" pitchFamily="2" charset="-122"/>
                    <a:cs typeface="Times New Roman" pitchFamily="18" charset="0"/>
                  </a:rPr>
                  <a:t>；</a:t>
                </a:r>
                <a:endParaRPr lang="en-US" altLang="zh-CN" sz="2400" dirty="0">
                  <a:solidFill>
                    <a:srgbClr val="C00000"/>
                  </a:solidFill>
                  <a:latin typeface="Times New Roman" pitchFamily="18" charset="0"/>
                  <a:ea typeface="华文细黑" pitchFamily="2" charset="-122"/>
                  <a:cs typeface="Times New Roman" pitchFamily="18" charset="0"/>
                </a:endParaRPr>
              </a:p>
              <a:p>
                <a:pPr>
                  <a:lnSpc>
                    <a:spcPct val="150000"/>
                  </a:lnSpc>
                </a:pPr>
                <a14:m>
                  <m:oMath xmlns:m="http://schemas.openxmlformats.org/officeDocument/2006/math">
                    <m:sSub>
                      <m:sSubPr>
                        <m:ctrlPr>
                          <a:rPr lang="zh-CN" altLang="zh-CN" sz="2400" i="1">
                            <a:solidFill>
                              <a:srgbClr val="C00000"/>
                            </a:solidFill>
                            <a:latin typeface="Cambria Math" panose="02040503050406030204" pitchFamily="18" charset="0"/>
                          </a:rPr>
                        </m:ctrlPr>
                      </m:sSubPr>
                      <m:e>
                        <m:r>
                          <a:rPr lang="en-US" altLang="zh-CN" sz="2400" i="1">
                            <a:solidFill>
                              <a:srgbClr val="C00000"/>
                            </a:solidFill>
                            <a:latin typeface="Cambria Math"/>
                          </a:rPr>
                          <m:t>𝜎</m:t>
                        </m:r>
                      </m:e>
                      <m:sub>
                        <m:r>
                          <a:rPr lang="en-US" altLang="zh-CN" sz="2400" i="1">
                            <a:solidFill>
                              <a:srgbClr val="C00000"/>
                            </a:solidFill>
                            <a:latin typeface="Cambria Math"/>
                          </a:rPr>
                          <m:t>𝑌</m:t>
                        </m:r>
                      </m:sub>
                    </m:sSub>
                  </m:oMath>
                </a14:m>
                <a:r>
                  <a:rPr lang="zh-CN" altLang="zh-CN" sz="2400" dirty="0">
                    <a:solidFill>
                      <a:srgbClr val="C00000"/>
                    </a:solidFill>
                    <a:latin typeface="Times New Roman" pitchFamily="18" charset="0"/>
                    <a:ea typeface="华文细黑" pitchFamily="2" charset="-122"/>
                    <a:cs typeface="Times New Roman" pitchFamily="18" charset="0"/>
                  </a:rPr>
                  <a:t>为随机变量</a:t>
                </a:r>
                <a:r>
                  <a:rPr lang="en-US" altLang="zh-CN" sz="2400" i="1" dirty="0">
                    <a:solidFill>
                      <a:srgbClr val="C00000"/>
                    </a:solidFill>
                    <a:latin typeface="Times New Roman" pitchFamily="18" charset="0"/>
                    <a:ea typeface="华文细黑" pitchFamily="2" charset="-122"/>
                    <a:cs typeface="Times New Roman" pitchFamily="18" charset="0"/>
                  </a:rPr>
                  <a:t>Y</a:t>
                </a:r>
                <a:r>
                  <a:rPr lang="zh-CN" altLang="zh-CN" sz="2400" dirty="0">
                    <a:solidFill>
                      <a:srgbClr val="C00000"/>
                    </a:solidFill>
                    <a:latin typeface="Times New Roman" pitchFamily="18" charset="0"/>
                    <a:ea typeface="华文细黑" pitchFamily="2" charset="-122"/>
                    <a:cs typeface="Times New Roman" pitchFamily="18" charset="0"/>
                  </a:rPr>
                  <a:t>的标准差</a:t>
                </a:r>
                <a:r>
                  <a:rPr lang="zh-CN" altLang="en-US" sz="2400" dirty="0">
                    <a:solidFill>
                      <a:srgbClr val="C00000"/>
                    </a:solidFill>
                    <a:latin typeface="Times New Roman" pitchFamily="18" charset="0"/>
                    <a:ea typeface="华文细黑" pitchFamily="2" charset="-122"/>
                    <a:cs typeface="Times New Roman" pitchFamily="18" charset="0"/>
                  </a:rPr>
                  <a:t>；</a:t>
                </a:r>
              </a:p>
            </p:txBody>
          </p:sp>
        </mc:Choice>
        <mc:Fallback xmlns="">
          <p:sp>
            <p:nvSpPr>
              <p:cNvPr id="8" name="矩形 7">
                <a:extLst>
                  <a:ext uri="{FF2B5EF4-FFF2-40B4-BE49-F238E27FC236}">
                    <a16:creationId xmlns:a16="http://schemas.microsoft.com/office/drawing/2014/main" id="{1A35EF29-03C9-44BD-A753-FD121F185B53}"/>
                  </a:ext>
                </a:extLst>
              </p:cNvPr>
              <p:cNvSpPr>
                <a:spLocks noRot="1" noChangeAspect="1" noMove="1" noResize="1" noEditPoints="1" noAdjustHandles="1" noChangeArrowheads="1" noChangeShapeType="1" noTextEdit="1"/>
              </p:cNvSpPr>
              <p:nvPr/>
            </p:nvSpPr>
            <p:spPr>
              <a:xfrm>
                <a:off x="4248677" y="4532286"/>
                <a:ext cx="5436096" cy="1754326"/>
              </a:xfrm>
              <a:prstGeom prst="rect">
                <a:avLst/>
              </a:prstGeom>
              <a:blipFill>
                <a:blip r:embed="rId6"/>
                <a:stretch>
                  <a:fillRect b="-34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4331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相关系数</a:t>
            </a:r>
          </a:p>
        </p:txBody>
      </p:sp>
      <p:sp>
        <p:nvSpPr>
          <p:cNvPr id="5" name="Rectangle 1"/>
          <p:cNvSpPr>
            <a:spLocks noChangeArrowheads="1"/>
          </p:cNvSpPr>
          <p:nvPr/>
        </p:nvSpPr>
        <p:spPr bwMode="auto">
          <a:xfrm>
            <a:off x="179512" y="1597031"/>
            <a:ext cx="6048672"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zh-CN" altLang="zh-CN" sz="2800" dirty="0" bmk="_Toc506734000">
                <a:solidFill>
                  <a:srgbClr val="002060"/>
                </a:solidFill>
                <a:latin typeface="华文细黑" pitchFamily="2" charset="-122"/>
                <a:ea typeface="华文细黑" pitchFamily="2" charset="-122"/>
                <a:cs typeface="Times New Roman" pitchFamily="18" charset="0"/>
              </a:rPr>
              <a:t>【</a:t>
            </a:r>
            <a:r>
              <a:rPr lang="zh-CN" altLang="en-US" sz="2800" dirty="0" bmk="_Toc506734000">
                <a:solidFill>
                  <a:srgbClr val="002060"/>
                </a:solidFill>
                <a:latin typeface="华文细黑" pitchFamily="2" charset="-122"/>
                <a:ea typeface="华文细黑" pitchFamily="2" charset="-122"/>
                <a:cs typeface="Times New Roman" pitchFamily="18" charset="0"/>
              </a:rPr>
              <a:t>例</a:t>
            </a:r>
            <a:r>
              <a:rPr lang="en-US" altLang="zh-CN" sz="2800" dirty="0" bmk="_Toc506734000">
                <a:solidFill>
                  <a:srgbClr val="002060"/>
                </a:solidFill>
                <a:latin typeface="华文细黑" pitchFamily="2" charset="-122"/>
                <a:ea typeface="华文细黑" pitchFamily="2" charset="-122"/>
                <a:cs typeface="Times New Roman" pitchFamily="18" charset="0"/>
              </a:rPr>
              <a:t>】</a:t>
            </a:r>
            <a:r>
              <a:rPr lang="zh-CN" altLang="en-US" sz="2800" dirty="0">
                <a:solidFill>
                  <a:srgbClr val="002060"/>
                </a:solidFill>
                <a:latin typeface="华文细黑" pitchFamily="2" charset="-122"/>
                <a:ea typeface="华文细黑" pitchFamily="2" charset="-122"/>
                <a:cs typeface="Times New Roman" pitchFamily="18" charset="0"/>
              </a:rPr>
              <a:t>在研究其产品的广告费用投入与销售额的关系时，搜集到表中的年广告投入费和月平均销售额的数据。</a:t>
            </a:r>
            <a:endParaRPr lang="zh-CN" altLang="en-US" sz="2800" dirty="0">
              <a:solidFill>
                <a:srgbClr val="002060"/>
              </a:solidFill>
              <a:latin typeface="华文细黑" pitchFamily="2" charset="-122"/>
              <a:ea typeface="华文细黑" pitchFamily="2" charset="-122"/>
              <a:cs typeface="宋体" pitchFamily="2" charset="-122"/>
            </a:endParaRPr>
          </a:p>
        </p:txBody>
      </p:sp>
      <p:graphicFrame>
        <p:nvGraphicFramePr>
          <p:cNvPr id="6" name="表格 5"/>
          <p:cNvGraphicFramePr>
            <a:graphicFrameLocks noGrp="1"/>
          </p:cNvGraphicFramePr>
          <p:nvPr/>
        </p:nvGraphicFramePr>
        <p:xfrm>
          <a:off x="6120958" y="1031134"/>
          <a:ext cx="2843530" cy="3407054"/>
        </p:xfrm>
        <a:graphic>
          <a:graphicData uri="http://schemas.openxmlformats.org/drawingml/2006/table">
            <a:tbl>
              <a:tblPr firstRow="1" firstCol="1" bandRow="1">
                <a:tableStyleId>{2D5ABB26-0587-4C30-8999-92F81FD0307C}</a:tableStyleId>
              </a:tblPr>
              <a:tblGrid>
                <a:gridCol w="651510">
                  <a:extLst>
                    <a:ext uri="{9D8B030D-6E8A-4147-A177-3AD203B41FA5}">
                      <a16:colId xmlns:a16="http://schemas.microsoft.com/office/drawing/2014/main" val="20000"/>
                    </a:ext>
                  </a:extLst>
                </a:gridCol>
                <a:gridCol w="1210310">
                  <a:extLst>
                    <a:ext uri="{9D8B030D-6E8A-4147-A177-3AD203B41FA5}">
                      <a16:colId xmlns:a16="http://schemas.microsoft.com/office/drawing/2014/main" val="20001"/>
                    </a:ext>
                  </a:extLst>
                </a:gridCol>
                <a:gridCol w="981710">
                  <a:extLst>
                    <a:ext uri="{9D8B030D-6E8A-4147-A177-3AD203B41FA5}">
                      <a16:colId xmlns:a16="http://schemas.microsoft.com/office/drawing/2014/main" val="20002"/>
                    </a:ext>
                  </a:extLst>
                </a:gridCol>
              </a:tblGrid>
              <a:tr h="283921">
                <a:tc>
                  <a:txBody>
                    <a:bodyPr/>
                    <a:lstStyle/>
                    <a:p>
                      <a:pPr algn="ctr">
                        <a:lnSpc>
                          <a:spcPct val="115000"/>
                        </a:lnSpc>
                        <a:spcAft>
                          <a:spcPts val="0"/>
                        </a:spcAft>
                      </a:pPr>
                      <a:r>
                        <a:rPr lang="zh-CN" sz="1600" kern="100" dirty="0">
                          <a:effectLst/>
                          <a:latin typeface="Times New Roman" pitchFamily="18" charset="0"/>
                          <a:ea typeface="华文细黑" pitchFamily="2" charset="-122"/>
                          <a:cs typeface="Times New Roman" pitchFamily="18" charset="0"/>
                        </a:rPr>
                        <a:t>序号</a:t>
                      </a:r>
                      <a:endParaRPr lang="zh-CN" sz="2500" kern="100" dirty="0">
                        <a:effectLst/>
                        <a:latin typeface="Times New Roman" pitchFamily="18" charset="0"/>
                        <a:ea typeface="华文细黑" pitchFamily="2" charset="-122"/>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zh-CN" sz="1600" kern="100" dirty="0">
                          <a:effectLst/>
                          <a:latin typeface="Times New Roman" pitchFamily="18" charset="0"/>
                          <a:ea typeface="华文细黑" pitchFamily="2" charset="-122"/>
                          <a:cs typeface="Times New Roman" pitchFamily="18" charset="0"/>
                        </a:rPr>
                        <a:t>广告投入</a:t>
                      </a:r>
                      <a:r>
                        <a:rPr lang="en-US" sz="1600" i="1" kern="100" dirty="0">
                          <a:effectLst/>
                          <a:latin typeface="Times New Roman" pitchFamily="18" charset="0"/>
                          <a:ea typeface="华文细黑" pitchFamily="2" charset="-122"/>
                          <a:cs typeface="Times New Roman" pitchFamily="18" charset="0"/>
                        </a:rPr>
                        <a:t>x</a:t>
                      </a:r>
                      <a:endParaRPr lang="zh-CN" sz="2500" i="1" kern="100" dirty="0">
                        <a:effectLst/>
                        <a:latin typeface="Times New Roman" pitchFamily="18" charset="0"/>
                        <a:ea typeface="华文细黑" pitchFamily="2" charset="-122"/>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zh-CN" sz="1600" kern="100" dirty="0">
                          <a:effectLst/>
                          <a:latin typeface="Times New Roman" pitchFamily="18" charset="0"/>
                          <a:ea typeface="华文细黑" pitchFamily="2" charset="-122"/>
                          <a:cs typeface="Times New Roman" pitchFamily="18" charset="0"/>
                        </a:rPr>
                        <a:t>销售额</a:t>
                      </a:r>
                      <a:r>
                        <a:rPr lang="en-US" sz="1600" i="1" kern="100" dirty="0">
                          <a:effectLst/>
                          <a:latin typeface="Times New Roman" pitchFamily="18" charset="0"/>
                          <a:ea typeface="华文细黑" pitchFamily="2" charset="-122"/>
                          <a:cs typeface="Times New Roman" pitchFamily="18" charset="0"/>
                        </a:rPr>
                        <a:t>y</a:t>
                      </a:r>
                      <a:endParaRPr lang="zh-CN" sz="2500" i="1" kern="100" dirty="0">
                        <a:effectLst/>
                        <a:latin typeface="Times New Roman" pitchFamily="18" charset="0"/>
                        <a:ea typeface="华文细黑" pitchFamily="2" charset="-122"/>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39212">
                <a:tc>
                  <a:txBody>
                    <a:bodyPr/>
                    <a:lstStyle/>
                    <a:p>
                      <a:pPr algn="ctr">
                        <a:lnSpc>
                          <a:spcPct val="115000"/>
                        </a:lnSpc>
                        <a:spcAft>
                          <a:spcPts val="0"/>
                        </a:spcAft>
                      </a:pPr>
                      <a:r>
                        <a:rPr lang="en-US" sz="1600" kern="100" dirty="0">
                          <a:effectLst/>
                          <a:latin typeface="Arial Unicode MS" pitchFamily="34" charset="-122"/>
                          <a:ea typeface="Arial Unicode MS" pitchFamily="34" charset="-122"/>
                          <a:cs typeface="Arial Unicode MS" pitchFamily="34" charset="-122"/>
                        </a:rPr>
                        <a:t>1</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2</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5</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6</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7</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8</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9</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10</a:t>
                      </a:r>
                      <a:endParaRPr lang="zh-CN" sz="2500" kern="100" dirty="0">
                        <a:effectLst/>
                        <a:latin typeface="Arial Unicode MS" pitchFamily="34" charset="-122"/>
                        <a:ea typeface="Arial Unicode MS" pitchFamily="34" charset="-122"/>
                        <a:cs typeface="Arial Unicode MS"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kern="100" dirty="0">
                          <a:effectLst/>
                          <a:latin typeface="Arial Unicode MS" pitchFamily="34" charset="-122"/>
                          <a:ea typeface="Arial Unicode MS" pitchFamily="34" charset="-122"/>
                          <a:cs typeface="Arial Unicode MS" pitchFamily="34" charset="-122"/>
                        </a:rPr>
                        <a:t>12.5</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15.3</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23.2</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26.4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33.5</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34.4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39.4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45.2</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55.4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60.9</a:t>
                      </a:r>
                      <a:endParaRPr lang="zh-CN" sz="2500" kern="100" dirty="0">
                        <a:effectLst/>
                        <a:latin typeface="Arial Unicode MS" pitchFamily="34" charset="-122"/>
                        <a:ea typeface="Arial Unicode MS" pitchFamily="34" charset="-122"/>
                        <a:cs typeface="Arial Unicode MS" pitchFamily="34" charset="-122"/>
                      </a:endParaRPr>
                    </a:p>
                  </a:txBody>
                  <a:tcPr marL="68580" marR="1079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kern="100" dirty="0">
                          <a:effectLst/>
                          <a:latin typeface="Arial Unicode MS" pitchFamily="34" charset="-122"/>
                          <a:ea typeface="Arial Unicode MS" pitchFamily="34" charset="-122"/>
                          <a:cs typeface="Arial Unicode MS" pitchFamily="34" charset="-122"/>
                        </a:rPr>
                        <a:t>21.2</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23.9</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32.9</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34.1</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42.5</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43.2</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49.0</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52.8</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59.4</a:t>
                      </a:r>
                      <a:br>
                        <a:rPr lang="en-US" sz="1600" kern="100" dirty="0">
                          <a:effectLst/>
                          <a:latin typeface="Arial Unicode MS" pitchFamily="34" charset="-122"/>
                          <a:ea typeface="Arial Unicode MS" pitchFamily="34" charset="-122"/>
                          <a:cs typeface="Arial Unicode MS" pitchFamily="34" charset="-122"/>
                        </a:rPr>
                      </a:br>
                      <a:r>
                        <a:rPr lang="en-US" sz="1600" kern="100" dirty="0">
                          <a:effectLst/>
                          <a:latin typeface="Arial Unicode MS" pitchFamily="34" charset="-122"/>
                          <a:ea typeface="Arial Unicode MS" pitchFamily="34" charset="-122"/>
                          <a:cs typeface="Arial Unicode MS" pitchFamily="34" charset="-122"/>
                        </a:rPr>
                        <a:t>63.5</a:t>
                      </a:r>
                      <a:endParaRPr lang="zh-CN" sz="2500" kern="100" dirty="0">
                        <a:effectLst/>
                        <a:latin typeface="Arial Unicode MS" pitchFamily="34" charset="-122"/>
                        <a:ea typeface="Arial Unicode MS" pitchFamily="34" charset="-122"/>
                        <a:cs typeface="Arial Unicode MS" pitchFamily="34" charset="-122"/>
                      </a:endParaRPr>
                    </a:p>
                  </a:txBody>
                  <a:tcPr marL="68580" marR="1079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3921">
                <a:tc>
                  <a:txBody>
                    <a:bodyPr/>
                    <a:lstStyle/>
                    <a:p>
                      <a:pPr algn="r">
                        <a:lnSpc>
                          <a:spcPct val="115000"/>
                        </a:lnSpc>
                        <a:spcAft>
                          <a:spcPts val="0"/>
                        </a:spcAft>
                      </a:pPr>
                      <a:r>
                        <a:rPr lang="zh-CN" sz="1600" kern="100">
                          <a:effectLst/>
                          <a:latin typeface="Arial Unicode MS" pitchFamily="34" charset="-122"/>
                          <a:ea typeface="Arial Unicode MS" pitchFamily="34" charset="-122"/>
                          <a:cs typeface="Arial Unicode MS" pitchFamily="34" charset="-122"/>
                        </a:rPr>
                        <a:t>合计</a:t>
                      </a:r>
                      <a:endParaRPr lang="zh-CN" sz="2500" kern="100">
                        <a:effectLst/>
                        <a:latin typeface="Arial Unicode MS" pitchFamily="34" charset="-122"/>
                        <a:ea typeface="Arial Unicode MS" pitchFamily="34" charset="-122"/>
                        <a:cs typeface="Arial Unicode MS"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kern="100">
                          <a:effectLst/>
                          <a:latin typeface="Arial Unicode MS" pitchFamily="34" charset="-122"/>
                          <a:ea typeface="Arial Unicode MS" pitchFamily="34" charset="-122"/>
                          <a:cs typeface="Arial Unicode MS" pitchFamily="34" charset="-122"/>
                        </a:rPr>
                        <a:t>346.2</a:t>
                      </a:r>
                      <a:endParaRPr lang="zh-CN" sz="2500" kern="100">
                        <a:effectLst/>
                        <a:latin typeface="Arial Unicode MS" pitchFamily="34" charset="-122"/>
                        <a:ea typeface="Arial Unicode MS" pitchFamily="34" charset="-122"/>
                        <a:cs typeface="Arial Unicode MS" pitchFamily="34" charset="-122"/>
                      </a:endParaRPr>
                    </a:p>
                  </a:txBody>
                  <a:tcPr marL="68580" marR="1079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kern="100" dirty="0">
                          <a:effectLst/>
                          <a:latin typeface="Arial Unicode MS" pitchFamily="34" charset="-122"/>
                          <a:ea typeface="Arial Unicode MS" pitchFamily="34" charset="-122"/>
                          <a:cs typeface="Arial Unicode MS" pitchFamily="34" charset="-122"/>
                        </a:rPr>
                        <a:t>422.5</a:t>
                      </a:r>
                      <a:endParaRPr lang="zh-CN" sz="2500" kern="100" dirty="0">
                        <a:effectLst/>
                        <a:latin typeface="Arial Unicode MS" pitchFamily="34" charset="-122"/>
                        <a:ea typeface="Arial Unicode MS" pitchFamily="34" charset="-122"/>
                        <a:cs typeface="Arial Unicode MS" pitchFamily="34" charset="-122"/>
                      </a:endParaRPr>
                    </a:p>
                  </a:txBody>
                  <a:tcPr marL="68580" marR="1079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Rectangle 2"/>
          <p:cNvSpPr>
            <a:spLocks noChangeArrowheads="1"/>
          </p:cNvSpPr>
          <p:nvPr/>
        </p:nvSpPr>
        <p:spPr bwMode="auto">
          <a:xfrm>
            <a:off x="3235130" y="4442141"/>
            <a:ext cx="5580112"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zh-CN" altLang="en-US" sz="2400" dirty="0">
                <a:solidFill>
                  <a:srgbClr val="C00000"/>
                </a:solidFill>
                <a:latin typeface="Times New Roman" pitchFamily="18" charset="0"/>
                <a:ea typeface="华文细黑" pitchFamily="2" charset="-122"/>
                <a:cs typeface="Times New Roman" pitchFamily="18" charset="0"/>
              </a:rPr>
              <a:t>计算得出，相关系数为</a:t>
            </a:r>
            <a:r>
              <a:rPr lang="en-US" altLang="zh-CN" sz="2400" dirty="0">
                <a:solidFill>
                  <a:srgbClr val="C00000"/>
                </a:solidFill>
                <a:latin typeface="Times New Roman" pitchFamily="18" charset="0"/>
                <a:ea typeface="华文细黑" pitchFamily="2" charset="-122"/>
                <a:cs typeface="Times New Roman" pitchFamily="18" charset="0"/>
              </a:rPr>
              <a:t>0.994</a:t>
            </a:r>
            <a:r>
              <a:rPr lang="zh-CN" altLang="en-US" sz="2400" dirty="0">
                <a:solidFill>
                  <a:srgbClr val="C00000"/>
                </a:solidFill>
                <a:latin typeface="Times New Roman" pitchFamily="18" charset="0"/>
                <a:ea typeface="华文细黑" pitchFamily="2" charset="-122"/>
                <a:cs typeface="Times New Roman" pitchFamily="18" charset="0"/>
              </a:rPr>
              <a:t>。</a:t>
            </a:r>
            <a:endParaRPr lang="en-US" altLang="zh-CN" sz="2400" dirty="0">
              <a:solidFill>
                <a:srgbClr val="C00000"/>
              </a:solidFill>
              <a:latin typeface="Times New Roman" pitchFamily="18" charset="0"/>
              <a:ea typeface="华文细黑" pitchFamily="2" charset="-122"/>
              <a:cs typeface="Times New Roman" pitchFamily="18" charset="0"/>
            </a:endParaRPr>
          </a:p>
          <a:p>
            <a:pPr fontAlgn="base">
              <a:lnSpc>
                <a:spcPct val="120000"/>
              </a:lnSpc>
              <a:spcBef>
                <a:spcPct val="0"/>
              </a:spcBef>
              <a:spcAft>
                <a:spcPct val="0"/>
              </a:spcAft>
            </a:pPr>
            <a:r>
              <a:rPr lang="zh-CN" altLang="en-US" sz="2400" dirty="0">
                <a:solidFill>
                  <a:srgbClr val="C00000"/>
                </a:solidFill>
                <a:latin typeface="Times New Roman" pitchFamily="18" charset="0"/>
                <a:ea typeface="华文细黑" pitchFamily="2" charset="-122"/>
                <a:cs typeface="Times New Roman" pitchFamily="18" charset="0"/>
              </a:rPr>
              <a:t>说明广告投入费与月平均销售额之间有高度的线性正相关关系。</a:t>
            </a:r>
            <a:endParaRPr lang="en-US" altLang="zh-CN" sz="2400" dirty="0">
              <a:solidFill>
                <a:srgbClr val="C00000"/>
              </a:solidFill>
              <a:latin typeface="Times New Roman" pitchFamily="18" charset="0"/>
              <a:ea typeface="华文细黑" pitchFamily="2" charset="-122"/>
              <a:cs typeface="Times New Roman" pitchFamily="18" charset="0"/>
            </a:endParaRPr>
          </a:p>
        </p:txBody>
      </p:sp>
      <p:pic>
        <p:nvPicPr>
          <p:cNvPr id="10" name="图片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6227" y="3484541"/>
            <a:ext cx="2808312" cy="2290946"/>
          </a:xfrm>
          <a:prstGeom prst="rect">
            <a:avLst/>
          </a:prstGeom>
          <a:noFill/>
          <a:ln>
            <a:noFill/>
          </a:ln>
        </p:spPr>
      </p:pic>
      <p:sp>
        <p:nvSpPr>
          <p:cNvPr id="3" name="灯片编号占位符 2"/>
          <p:cNvSpPr>
            <a:spLocks noGrp="1"/>
          </p:cNvSpPr>
          <p:nvPr>
            <p:ph type="sldNum" sz="quarter" idx="12"/>
          </p:nvPr>
        </p:nvSpPr>
        <p:spPr/>
        <p:txBody>
          <a:bodyPr/>
          <a:lstStyle/>
          <a:p>
            <a:fld id="{0C913308-F349-4B6D-A68A-DD1791B4A57B}" type="slidenum">
              <a:rPr lang="zh-CN" altLang="en-US" smtClean="0"/>
              <a:t>11</a:t>
            </a:fld>
            <a:endParaRPr lang="zh-CN" altLang="en-US"/>
          </a:p>
        </p:txBody>
      </p:sp>
    </p:spTree>
    <p:extLst>
      <p:ext uri="{BB962C8B-B14F-4D97-AF65-F5344CB8AC3E}">
        <p14:creationId xmlns:p14="http://schemas.microsoft.com/office/powerpoint/2010/main" val="4165983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相关系数矩阵</a:t>
            </a:r>
          </a:p>
        </p:txBody>
      </p:sp>
      <p:sp>
        <p:nvSpPr>
          <p:cNvPr id="2" name="内容占位符 1"/>
          <p:cNvSpPr>
            <a:spLocks noGrp="1"/>
          </p:cNvSpPr>
          <p:nvPr>
            <p:ph idx="1"/>
          </p:nvPr>
        </p:nvSpPr>
        <p:spPr/>
        <p:txBody>
          <a:bodyPr/>
          <a:lstStyle/>
          <a:p>
            <a:r>
              <a:rPr lang="zh-CN" altLang="en-US" dirty="0"/>
              <a:t>相关矩阵（</a:t>
            </a:r>
            <a:r>
              <a:rPr lang="en-US" altLang="zh-CN" dirty="0"/>
              <a:t>correlation matrix</a:t>
            </a:r>
            <a:r>
              <a:rPr lang="zh-CN" altLang="en-US" dirty="0"/>
              <a:t>）</a:t>
            </a:r>
            <a:r>
              <a:rPr lang="en-US" altLang="zh-CN" i="1" dirty="0">
                <a:latin typeface="Times New Roman" pitchFamily="18" charset="0"/>
                <a:cs typeface="Times New Roman" pitchFamily="18" charset="0"/>
              </a:rPr>
              <a:t>R</a:t>
            </a:r>
            <a:r>
              <a:rPr lang="zh-CN" altLang="en-US" i="1" dirty="0">
                <a:latin typeface="Times New Roman" pitchFamily="18" charset="0"/>
                <a:cs typeface="Times New Roman" pitchFamily="18" charset="0"/>
              </a:rPr>
              <a:t>，</a:t>
            </a:r>
            <a:r>
              <a:rPr lang="zh-CN" altLang="en-US" dirty="0">
                <a:latin typeface="Times New Roman" pitchFamily="18" charset="0"/>
                <a:cs typeface="Times New Roman" pitchFamily="18" charset="0"/>
              </a:rPr>
              <a:t>其第</a:t>
            </a:r>
            <a:r>
              <a:rPr lang="en-US" altLang="zh-CN" i="1" dirty="0" err="1">
                <a:latin typeface="Times New Roman" pitchFamily="18" charset="0"/>
                <a:cs typeface="Times New Roman" pitchFamily="18" charset="0"/>
              </a:rPr>
              <a:t>ij</a:t>
            </a:r>
            <a:r>
              <a:rPr lang="zh-CN" altLang="en-US" dirty="0">
                <a:latin typeface="Times New Roman" pitchFamily="18" charset="0"/>
                <a:cs typeface="Times New Roman" pitchFamily="18" charset="0"/>
              </a:rPr>
              <a:t>个元素是数据的第</a:t>
            </a:r>
            <a:r>
              <a:rPr lang="en-US" altLang="zh-CN" i="1" dirty="0">
                <a:latin typeface="Times New Roman" pitchFamily="18" charset="0"/>
                <a:cs typeface="Times New Roman" pitchFamily="18" charset="0"/>
              </a:rPr>
              <a:t>i</a:t>
            </a:r>
            <a:r>
              <a:rPr lang="zh-CN" altLang="en-US" dirty="0">
                <a:latin typeface="Times New Roman" pitchFamily="18" charset="0"/>
                <a:cs typeface="Times New Roman" pitchFamily="18" charset="0"/>
              </a:rPr>
              <a:t>个和第</a:t>
            </a:r>
            <a:r>
              <a:rPr lang="en-US" altLang="zh-CN" i="1" dirty="0">
                <a:latin typeface="Times New Roman" pitchFamily="18" charset="0"/>
                <a:cs typeface="Times New Roman" pitchFamily="18" charset="0"/>
              </a:rPr>
              <a:t>j</a:t>
            </a:r>
            <a:r>
              <a:rPr lang="zh-CN" altLang="en-US" dirty="0">
                <a:latin typeface="Times New Roman" pitchFamily="18" charset="0"/>
                <a:cs typeface="Times New Roman" pitchFamily="18" charset="0"/>
              </a:rPr>
              <a:t>个属性之间的相关性 </a:t>
            </a:r>
          </a:p>
          <a:p>
            <a:pPr lvl="1"/>
            <a:endParaRPr lang="zh-CN" altLang="en-US" dirty="0"/>
          </a:p>
        </p:txBody>
      </p:sp>
      <p:graphicFrame>
        <p:nvGraphicFramePr>
          <p:cNvPr id="7" name="对象 6"/>
          <p:cNvGraphicFramePr>
            <a:graphicFrameLocks noChangeAspect="1"/>
          </p:cNvGraphicFramePr>
          <p:nvPr/>
        </p:nvGraphicFramePr>
        <p:xfrm>
          <a:off x="1497326" y="2780928"/>
          <a:ext cx="4514834" cy="779934"/>
        </p:xfrm>
        <a:graphic>
          <a:graphicData uri="http://schemas.openxmlformats.org/presentationml/2006/ole">
            <mc:AlternateContent xmlns:mc="http://schemas.openxmlformats.org/markup-compatibility/2006">
              <mc:Choice xmlns:v="urn:schemas-microsoft-com:vml" Requires="v">
                <p:oleObj spid="_x0000_s11272" name="公式" r:id="rId4" imgW="2628720" imgH="469800" progId="Equation.3">
                  <p:embed/>
                </p:oleObj>
              </mc:Choice>
              <mc:Fallback>
                <p:oleObj name="公式" r:id="rId4" imgW="2628720" imgH="469800" progId="Equation.3">
                  <p:embed/>
                  <p:pic>
                    <p:nvPicPr>
                      <p:cNvPr id="7" name="对象 6"/>
                      <p:cNvPicPr>
                        <a:picLocks noChangeAspect="1" noChangeArrowheads="1"/>
                      </p:cNvPicPr>
                      <p:nvPr/>
                    </p:nvPicPr>
                    <p:blipFill>
                      <a:blip r:embed="rId5"/>
                      <a:srcRect/>
                      <a:stretch>
                        <a:fillRect/>
                      </a:stretch>
                    </p:blipFill>
                    <p:spPr bwMode="auto">
                      <a:xfrm>
                        <a:off x="1497326" y="2780928"/>
                        <a:ext cx="4514834" cy="779934"/>
                      </a:xfrm>
                      <a:prstGeom prst="rect">
                        <a:avLst/>
                      </a:prstGeom>
                      <a:noFill/>
                      <a:ln>
                        <a:noFill/>
                      </a:ln>
                    </p:spPr>
                  </p:pic>
                </p:oleObj>
              </mc:Fallback>
            </mc:AlternateContent>
          </a:graphicData>
        </a:graphic>
      </p:graphicFrame>
      <p:graphicFrame>
        <p:nvGraphicFramePr>
          <p:cNvPr id="10" name="表格 9"/>
          <p:cNvGraphicFramePr>
            <a:graphicFrameLocks noGrp="1"/>
          </p:cNvGraphicFramePr>
          <p:nvPr/>
        </p:nvGraphicFramePr>
        <p:xfrm>
          <a:off x="1115616" y="4380374"/>
          <a:ext cx="1656183" cy="748666"/>
        </p:xfrm>
        <a:graphic>
          <a:graphicData uri="http://schemas.openxmlformats.org/drawingml/2006/table">
            <a:tbl>
              <a:tblPr>
                <a:tableStyleId>{5C22544A-7EE6-4342-B048-85BDC9FD1C3A}</a:tableStyleId>
              </a:tblPr>
              <a:tblGrid>
                <a:gridCol w="102975">
                  <a:extLst>
                    <a:ext uri="{9D8B030D-6E8A-4147-A177-3AD203B41FA5}">
                      <a16:colId xmlns:a16="http://schemas.microsoft.com/office/drawing/2014/main" val="20000"/>
                    </a:ext>
                  </a:extLst>
                </a:gridCol>
                <a:gridCol w="720826">
                  <a:extLst>
                    <a:ext uri="{9D8B030D-6E8A-4147-A177-3AD203B41FA5}">
                      <a16:colId xmlns:a16="http://schemas.microsoft.com/office/drawing/2014/main" val="20001"/>
                    </a:ext>
                  </a:extLst>
                </a:gridCol>
                <a:gridCol w="720826">
                  <a:extLst>
                    <a:ext uri="{9D8B030D-6E8A-4147-A177-3AD203B41FA5}">
                      <a16:colId xmlns:a16="http://schemas.microsoft.com/office/drawing/2014/main" val="20002"/>
                    </a:ext>
                  </a:extLst>
                </a:gridCol>
                <a:gridCol w="111556">
                  <a:extLst>
                    <a:ext uri="{9D8B030D-6E8A-4147-A177-3AD203B41FA5}">
                      <a16:colId xmlns:a16="http://schemas.microsoft.com/office/drawing/2014/main" val="20003"/>
                    </a:ext>
                  </a:extLst>
                </a:gridCol>
              </a:tblGrid>
              <a:tr h="304838">
                <a:tc>
                  <a:txBody>
                    <a:bodyPr/>
                    <a:lstStyle/>
                    <a:p>
                      <a:pPr algn="r" fontAlgn="ct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2973</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2351</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304838">
                <a:tc>
                  <a:txBody>
                    <a:bodyPr/>
                    <a:lstStyle/>
                    <a:p>
                      <a:pPr algn="r" fontAlgn="ct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2351</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2512</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nvGraphicFramePr>
        <p:xfrm>
          <a:off x="6588225" y="4365104"/>
          <a:ext cx="1692001" cy="748666"/>
        </p:xfrm>
        <a:graphic>
          <a:graphicData uri="http://schemas.openxmlformats.org/drawingml/2006/table">
            <a:tbl>
              <a:tblPr>
                <a:tableStyleId>{5C22544A-7EE6-4342-B048-85BDC9FD1C3A}</a:tableStyleId>
              </a:tblPr>
              <a:tblGrid>
                <a:gridCol w="105205">
                  <a:extLst>
                    <a:ext uri="{9D8B030D-6E8A-4147-A177-3AD203B41FA5}">
                      <a16:colId xmlns:a16="http://schemas.microsoft.com/office/drawing/2014/main" val="20000"/>
                    </a:ext>
                  </a:extLst>
                </a:gridCol>
                <a:gridCol w="736414">
                  <a:extLst>
                    <a:ext uri="{9D8B030D-6E8A-4147-A177-3AD203B41FA5}">
                      <a16:colId xmlns:a16="http://schemas.microsoft.com/office/drawing/2014/main" val="20001"/>
                    </a:ext>
                  </a:extLst>
                </a:gridCol>
                <a:gridCol w="736414">
                  <a:extLst>
                    <a:ext uri="{9D8B030D-6E8A-4147-A177-3AD203B41FA5}">
                      <a16:colId xmlns:a16="http://schemas.microsoft.com/office/drawing/2014/main" val="20002"/>
                    </a:ext>
                  </a:extLst>
                </a:gridCol>
                <a:gridCol w="113968">
                  <a:extLst>
                    <a:ext uri="{9D8B030D-6E8A-4147-A177-3AD203B41FA5}">
                      <a16:colId xmlns:a16="http://schemas.microsoft.com/office/drawing/2014/main" val="20003"/>
                    </a:ext>
                  </a:extLst>
                </a:gridCol>
              </a:tblGrid>
              <a:tr h="304838">
                <a:tc>
                  <a:txBody>
                    <a:bodyPr/>
                    <a:lstStyle/>
                    <a:p>
                      <a:pPr algn="r" fontAlgn="ct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1.00</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0.86</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304838">
                <a:tc>
                  <a:txBody>
                    <a:bodyPr/>
                    <a:lstStyle/>
                    <a:p>
                      <a:pPr algn="r" fontAlgn="ct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0.86</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r>
                        <a:rPr lang="en-US" altLang="zh-CN" sz="2000" b="1" u="none" strike="noStrike" dirty="0">
                          <a:effectLst/>
                          <a:latin typeface="Times New Roman" pitchFamily="18" charset="0"/>
                          <a:cs typeface="Times New Roman" pitchFamily="18" charset="0"/>
                        </a:rPr>
                        <a:t>1.00</a:t>
                      </a: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noFill/>
                  </a:tcPr>
                </a:tc>
                <a:tc>
                  <a:txBody>
                    <a:bodyPr/>
                    <a:lstStyle/>
                    <a:p>
                      <a:pPr algn="r" fontAlgn="ctr">
                        <a:lnSpc>
                          <a:spcPct val="120000"/>
                        </a:lnSpc>
                      </a:pPr>
                      <a:endParaRPr lang="en-US" altLang="zh-CN" sz="2000" b="1" i="0" u="none" strike="noStrike" dirty="0">
                        <a:solidFill>
                          <a:srgbClr val="000000"/>
                        </a:solidFill>
                        <a:effectLst/>
                        <a:latin typeface="Times New Roman" pitchFamily="18" charset="0"/>
                        <a:cs typeface="Times New Roman" pitchFamily="18" charset="0"/>
                      </a:endParaRPr>
                    </a:p>
                  </a:txBody>
                  <a:tcPr marL="9525" marR="9525" marT="857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cxnSp>
        <p:nvCxnSpPr>
          <p:cNvPr id="12" name="直接箭头连接符 11"/>
          <p:cNvCxnSpPr/>
          <p:nvPr/>
        </p:nvCxnSpPr>
        <p:spPr>
          <a:xfrm>
            <a:off x="2987824" y="4941168"/>
            <a:ext cx="3384000" cy="0"/>
          </a:xfrm>
          <a:prstGeom prst="straightConnector1">
            <a:avLst/>
          </a:prstGeom>
          <a:ln w="76200">
            <a:solidFill>
              <a:schemeClr val="accent1">
                <a:lumMod val="60000"/>
                <a:lumOff val="40000"/>
              </a:schemeClr>
            </a:solidFill>
            <a:tailEnd type="arrow"/>
          </a:ln>
        </p:spPr>
        <p:style>
          <a:lnRef idx="1">
            <a:schemeClr val="dk1"/>
          </a:lnRef>
          <a:fillRef idx="0">
            <a:schemeClr val="dk1"/>
          </a:fillRef>
          <a:effectRef idx="0">
            <a:schemeClr val="dk1"/>
          </a:effectRef>
          <a:fontRef idx="minor">
            <a:schemeClr val="tx1"/>
          </a:fontRef>
        </p:style>
      </p:cxnSp>
      <p:sp>
        <p:nvSpPr>
          <p:cNvPr id="13" name="矩形 12"/>
          <p:cNvSpPr/>
          <p:nvPr/>
        </p:nvSpPr>
        <p:spPr>
          <a:xfrm>
            <a:off x="2987824" y="4398193"/>
            <a:ext cx="3416320" cy="369332"/>
          </a:xfrm>
          <a:prstGeom prst="rect">
            <a:avLst/>
          </a:prstGeom>
        </p:spPr>
        <p:txBody>
          <a:bodyPr wrap="none">
            <a:spAutoFit/>
          </a:bodyPr>
          <a:lstStyle/>
          <a:p>
            <a:r>
              <a:rPr lang="zh-CN" altLang="en-US" dirty="0">
                <a:latin typeface="华文细黑" pitchFamily="2" charset="-122"/>
                <a:ea typeface="华文细黑" pitchFamily="2" charset="-122"/>
              </a:rPr>
              <a:t>由</a:t>
            </a:r>
            <a:r>
              <a:rPr lang="zh-CN" altLang="en-US" dirty="0">
                <a:solidFill>
                  <a:srgbClr val="C00000"/>
                </a:solidFill>
                <a:latin typeface="华文细黑" pitchFamily="2" charset="-122"/>
                <a:ea typeface="华文细黑" pitchFamily="2" charset="-122"/>
              </a:rPr>
              <a:t>协方差矩阵</a:t>
            </a:r>
            <a:r>
              <a:rPr lang="zh-CN" altLang="en-US" dirty="0">
                <a:latin typeface="华文细黑" pitchFamily="2" charset="-122"/>
                <a:ea typeface="华文细黑" pitchFamily="2" charset="-122"/>
              </a:rPr>
              <a:t>计算</a:t>
            </a:r>
            <a:r>
              <a:rPr lang="zh-CN" altLang="en-US" dirty="0">
                <a:solidFill>
                  <a:srgbClr val="C00000"/>
                </a:solidFill>
                <a:latin typeface="华文细黑" pitchFamily="2" charset="-122"/>
                <a:ea typeface="华文细黑" pitchFamily="2" charset="-122"/>
              </a:rPr>
              <a:t>相关系数矩阵</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t>12</a:t>
            </a:fld>
            <a:endParaRPr lang="zh-CN" altLang="en-US"/>
          </a:p>
        </p:txBody>
      </p:sp>
    </p:spTree>
    <p:extLst>
      <p:ext uri="{BB962C8B-B14F-4D97-AF65-F5344CB8AC3E}">
        <p14:creationId xmlns:p14="http://schemas.microsoft.com/office/powerpoint/2010/main" val="4077962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相关系数矩阵</a:t>
            </a:r>
          </a:p>
        </p:txBody>
      </p:sp>
      <p:sp>
        <p:nvSpPr>
          <p:cNvPr id="2" name="内容占位符 1"/>
          <p:cNvSpPr>
            <a:spLocks noGrp="1"/>
          </p:cNvSpPr>
          <p:nvPr>
            <p:ph idx="1"/>
          </p:nvPr>
        </p:nvSpPr>
        <p:spPr/>
        <p:txBody>
          <a:bodyPr/>
          <a:lstStyle/>
          <a:p>
            <a:r>
              <a:rPr lang="zh-CN" altLang="en-US" dirty="0"/>
              <a:t>相关矩阵（</a:t>
            </a:r>
            <a:r>
              <a:rPr lang="en-US" altLang="zh-CN" dirty="0"/>
              <a:t>correlation matrix</a:t>
            </a:r>
            <a:r>
              <a:rPr lang="zh-CN" altLang="en-US" dirty="0"/>
              <a:t>）</a:t>
            </a:r>
            <a:r>
              <a:rPr lang="en-US" altLang="zh-CN" i="1" dirty="0">
                <a:latin typeface="Times New Roman" pitchFamily="18" charset="0"/>
                <a:cs typeface="Times New Roman" pitchFamily="18" charset="0"/>
              </a:rPr>
              <a:t>R</a:t>
            </a:r>
            <a:r>
              <a:rPr lang="zh-CN" altLang="en-US" i="1" dirty="0">
                <a:latin typeface="Times New Roman" pitchFamily="18" charset="0"/>
                <a:cs typeface="Times New Roman" pitchFamily="18" charset="0"/>
              </a:rPr>
              <a:t>，</a:t>
            </a:r>
            <a:r>
              <a:rPr lang="zh-CN" altLang="en-US" dirty="0">
                <a:latin typeface="Times New Roman" pitchFamily="18" charset="0"/>
                <a:cs typeface="Times New Roman" pitchFamily="18" charset="0"/>
              </a:rPr>
              <a:t>其第</a:t>
            </a:r>
            <a:r>
              <a:rPr lang="en-US" altLang="zh-CN" i="1" dirty="0" err="1">
                <a:latin typeface="Times New Roman" pitchFamily="18" charset="0"/>
                <a:cs typeface="Times New Roman" pitchFamily="18" charset="0"/>
              </a:rPr>
              <a:t>ij</a:t>
            </a:r>
            <a:r>
              <a:rPr lang="zh-CN" altLang="en-US" dirty="0">
                <a:latin typeface="Times New Roman" pitchFamily="18" charset="0"/>
                <a:cs typeface="Times New Roman" pitchFamily="18" charset="0"/>
              </a:rPr>
              <a:t>个元素是数据的第</a:t>
            </a:r>
            <a:r>
              <a:rPr lang="en-US" altLang="zh-CN" i="1" dirty="0">
                <a:latin typeface="Times New Roman" pitchFamily="18" charset="0"/>
                <a:cs typeface="Times New Roman" pitchFamily="18" charset="0"/>
              </a:rPr>
              <a:t>i</a:t>
            </a:r>
            <a:r>
              <a:rPr lang="zh-CN" altLang="en-US" dirty="0">
                <a:latin typeface="Times New Roman" pitchFamily="18" charset="0"/>
                <a:cs typeface="Times New Roman" pitchFamily="18" charset="0"/>
              </a:rPr>
              <a:t>个和第</a:t>
            </a:r>
            <a:r>
              <a:rPr lang="en-US" altLang="zh-CN" i="1" dirty="0">
                <a:latin typeface="Times New Roman" pitchFamily="18" charset="0"/>
                <a:cs typeface="Times New Roman" pitchFamily="18" charset="0"/>
              </a:rPr>
              <a:t>j</a:t>
            </a:r>
            <a:r>
              <a:rPr lang="zh-CN" altLang="en-US" dirty="0">
                <a:latin typeface="Times New Roman" pitchFamily="18" charset="0"/>
                <a:cs typeface="Times New Roman" pitchFamily="18" charset="0"/>
              </a:rPr>
              <a:t>个属性之间的相关性 </a:t>
            </a:r>
          </a:p>
          <a:p>
            <a:pPr lvl="1"/>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043631001"/>
              </p:ext>
            </p:extLst>
          </p:nvPr>
        </p:nvGraphicFramePr>
        <p:xfrm>
          <a:off x="1623785" y="2119313"/>
          <a:ext cx="4514834" cy="779934"/>
        </p:xfrm>
        <a:graphic>
          <a:graphicData uri="http://schemas.openxmlformats.org/presentationml/2006/ole">
            <mc:AlternateContent xmlns:mc="http://schemas.openxmlformats.org/markup-compatibility/2006">
              <mc:Choice xmlns:v="urn:schemas-microsoft-com:vml" Requires="v">
                <p:oleObj spid="_x0000_s10249" name="公式" r:id="rId4" imgW="2628720" imgH="469800" progId="Equation.3">
                  <p:embed/>
                </p:oleObj>
              </mc:Choice>
              <mc:Fallback>
                <p:oleObj name="公式" r:id="rId4" imgW="2628720" imgH="469800" progId="Equation.3">
                  <p:embed/>
                  <p:pic>
                    <p:nvPicPr>
                      <p:cNvPr id="7" name="对象 6"/>
                      <p:cNvPicPr>
                        <a:picLocks noChangeAspect="1" noChangeArrowheads="1"/>
                      </p:cNvPicPr>
                      <p:nvPr/>
                    </p:nvPicPr>
                    <p:blipFill>
                      <a:blip r:embed="rId5"/>
                      <a:srcRect/>
                      <a:stretch>
                        <a:fillRect/>
                      </a:stretch>
                    </p:blipFill>
                    <p:spPr bwMode="auto">
                      <a:xfrm>
                        <a:off x="1623785" y="2119313"/>
                        <a:ext cx="4514834" cy="779934"/>
                      </a:xfrm>
                      <a:prstGeom prst="rect">
                        <a:avLst/>
                      </a:prstGeom>
                      <a:noFill/>
                      <a:ln>
                        <a:noFill/>
                      </a:ln>
                    </p:spPr>
                  </p:pic>
                </p:oleObj>
              </mc:Fallback>
            </mc:AlternateContent>
          </a:graphicData>
        </a:graphic>
      </p:graphicFrame>
      <p:pic>
        <p:nvPicPr>
          <p:cNvPr id="21561" name="Picture 57" descr="https://timgsa.baidu.com/timg?image&amp;quality=80&amp;size=b9999_10000&amp;sec=1568561162726&amp;di=22e16f44ae9b76b897a585dc6d8c3b74&amp;imgtype=0&amp;src=http%3A%2F%2F5b0988e595225.cdn.sohucs.com%2Fimages%2F20180522%2F22f5419e71324ca599fe23dd9162abf5.jpeg"/>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34215" y="3298863"/>
            <a:ext cx="4980191" cy="22653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2532" name="Picture 4" descr="https://ss0.bdstatic.com/70cFvHSh_Q1YnxGkpoWK1HF6hhy/it/u=3820917766,2306968872&amp;fm=26&amp;gp=0.jpg"/>
          <p:cNvPicPr>
            <a:picLocks noChangeAspect="1" noChangeArrowheads="1"/>
          </p:cNvPicPr>
          <p:nvPr/>
        </p:nvPicPr>
        <p:blipFill rotWithShape="1">
          <a:blip r:embed="rId8">
            <a:extLst>
              <a:ext uri="{28A0092B-C50C-407E-A947-70E740481C1C}">
                <a14:useLocalDpi xmlns:a14="http://schemas.microsoft.com/office/drawing/2010/main" val="0"/>
              </a:ext>
            </a:extLst>
          </a:blip>
          <a:srcRect l="8539" r="6395"/>
          <a:stretch/>
        </p:blipFill>
        <p:spPr bwMode="auto">
          <a:xfrm>
            <a:off x="5514398" y="3121514"/>
            <a:ext cx="3162754" cy="24427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灯片编号占位符 4"/>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2192367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4E9E32-5D2D-4015-B28A-093C9154AD05}"/>
              </a:ext>
            </a:extLst>
          </p:cNvPr>
          <p:cNvSpPr>
            <a:spLocks noGrp="1"/>
          </p:cNvSpPr>
          <p:nvPr>
            <p:ph type="title"/>
          </p:nvPr>
        </p:nvSpPr>
        <p:spPr/>
        <p:txBody>
          <a:bodyPr/>
          <a:lstStyle/>
          <a:p>
            <a:r>
              <a:rPr lang="en-US" altLang="zh-CN" dirty="0"/>
              <a:t>Spearman</a:t>
            </a:r>
            <a:r>
              <a:rPr lang="zh-CN" altLang="en-US" dirty="0"/>
              <a:t>秩相关系数</a:t>
            </a:r>
          </a:p>
        </p:txBody>
      </p:sp>
      <p:sp>
        <p:nvSpPr>
          <p:cNvPr id="4" name="灯片编号占位符 3">
            <a:extLst>
              <a:ext uri="{FF2B5EF4-FFF2-40B4-BE49-F238E27FC236}">
                <a16:creationId xmlns:a16="http://schemas.microsoft.com/office/drawing/2014/main" id="{1C34E100-6E19-49DE-A539-7A9C44C60B2C}"/>
              </a:ext>
            </a:extLst>
          </p:cNvPr>
          <p:cNvSpPr>
            <a:spLocks noGrp="1"/>
          </p:cNvSpPr>
          <p:nvPr>
            <p:ph type="sldNum" sz="quarter" idx="12"/>
          </p:nvPr>
        </p:nvSpPr>
        <p:spPr/>
        <p:txBody>
          <a:bodyPr/>
          <a:lstStyle/>
          <a:p>
            <a:fld id="{5AD84F5B-1672-4D3F-9FEC-5DF89A7B7912}" type="slidenum">
              <a:rPr lang="zh-CN" altLang="en-US" smtClean="0"/>
              <a:t>14</a:t>
            </a:fld>
            <a:endParaRPr lang="zh-CN" altLang="en-US"/>
          </a:p>
        </p:txBody>
      </p:sp>
      <p:graphicFrame>
        <p:nvGraphicFramePr>
          <p:cNvPr id="5" name="对象 -2147482533">
            <a:extLst>
              <a:ext uri="{FF2B5EF4-FFF2-40B4-BE49-F238E27FC236}">
                <a16:creationId xmlns:a16="http://schemas.microsoft.com/office/drawing/2014/main" id="{FC97A7E9-CECA-4F3A-AB9E-ECC9F3E9A7AE}"/>
              </a:ext>
            </a:extLst>
          </p:cNvPr>
          <p:cNvGraphicFramePr>
            <a:graphicFrameLocks noChangeAspect="1"/>
          </p:cNvGraphicFramePr>
          <p:nvPr>
            <p:extLst>
              <p:ext uri="{D42A27DB-BD31-4B8C-83A1-F6EECF244321}">
                <p14:modId xmlns:p14="http://schemas.microsoft.com/office/powerpoint/2010/main" val="1285147617"/>
              </p:ext>
            </p:extLst>
          </p:nvPr>
        </p:nvGraphicFramePr>
        <p:xfrm>
          <a:off x="3025140" y="3309857"/>
          <a:ext cx="3093720" cy="1443514"/>
        </p:xfrm>
        <a:graphic>
          <a:graphicData uri="http://schemas.openxmlformats.org/presentationml/2006/ole">
            <mc:AlternateContent xmlns:mc="http://schemas.openxmlformats.org/markup-compatibility/2006">
              <mc:Choice xmlns:v="urn:schemas-microsoft-com:vml" Requires="v">
                <p:oleObj spid="_x0000_s12295" r:id="rId3" imgW="1879600" imgH="876300" progId="Equation.DSMT4">
                  <p:embed/>
                </p:oleObj>
              </mc:Choice>
              <mc:Fallback>
                <p:oleObj r:id="rId3" imgW="1879600" imgH="876300" progId="Equation.DSMT4">
                  <p:embed/>
                  <p:pic>
                    <p:nvPicPr>
                      <p:cNvPr id="11" name="对象 -2147482533">
                        <a:extLst>
                          <a:ext uri="{FF2B5EF4-FFF2-40B4-BE49-F238E27FC236}">
                            <a16:creationId xmlns:a16="http://schemas.microsoft.com/office/drawing/2014/main" id="{9DC4CAA0-25D5-49C9-8CF5-8BDD043C59A9}"/>
                          </a:ext>
                        </a:extLst>
                      </p:cNvPr>
                      <p:cNvPicPr/>
                      <p:nvPr/>
                    </p:nvPicPr>
                    <p:blipFill>
                      <a:blip r:embed="rId4"/>
                      <a:stretch>
                        <a:fillRect/>
                      </a:stretch>
                    </p:blipFill>
                    <p:spPr>
                      <a:xfrm>
                        <a:off x="3025140" y="3309857"/>
                        <a:ext cx="3093720" cy="1443514"/>
                      </a:xfrm>
                      <a:prstGeom prst="rect">
                        <a:avLst/>
                      </a:prstGeom>
                      <a:noFill/>
                      <a:ln w="38100">
                        <a:noFill/>
                        <a:miter/>
                      </a:ln>
                    </p:spPr>
                  </p:pic>
                </p:oleObj>
              </mc:Fallback>
            </mc:AlternateContent>
          </a:graphicData>
        </a:graphic>
      </p:graphicFrame>
      <p:pic>
        <p:nvPicPr>
          <p:cNvPr id="6" name="图片 5">
            <a:extLst>
              <a:ext uri="{FF2B5EF4-FFF2-40B4-BE49-F238E27FC236}">
                <a16:creationId xmlns:a16="http://schemas.microsoft.com/office/drawing/2014/main" id="{372D13CC-9B6F-4231-9998-63B7AD0F0C99}"/>
              </a:ext>
            </a:extLst>
          </p:cNvPr>
          <p:cNvPicPr>
            <a:picLocks noChangeAspect="1"/>
          </p:cNvPicPr>
          <p:nvPr/>
        </p:nvPicPr>
        <p:blipFill>
          <a:blip r:embed="rId5"/>
          <a:stretch>
            <a:fillRect/>
          </a:stretch>
        </p:blipFill>
        <p:spPr>
          <a:xfrm>
            <a:off x="373380" y="1269097"/>
            <a:ext cx="8397240" cy="2124551"/>
          </a:xfrm>
          <a:prstGeom prst="rect">
            <a:avLst/>
          </a:prstGeom>
        </p:spPr>
      </p:pic>
      <p:pic>
        <p:nvPicPr>
          <p:cNvPr id="7" name="图片 6">
            <a:extLst>
              <a:ext uri="{FF2B5EF4-FFF2-40B4-BE49-F238E27FC236}">
                <a16:creationId xmlns:a16="http://schemas.microsoft.com/office/drawing/2014/main" id="{B1957DC0-6968-4A77-8421-EC2CECDE2175}"/>
              </a:ext>
            </a:extLst>
          </p:cNvPr>
          <p:cNvPicPr>
            <a:picLocks noChangeAspect="1"/>
          </p:cNvPicPr>
          <p:nvPr/>
        </p:nvPicPr>
        <p:blipFill rotWithShape="1">
          <a:blip r:embed="rId6"/>
          <a:srcRect t="64397" r="22953"/>
          <a:stretch/>
        </p:blipFill>
        <p:spPr>
          <a:xfrm>
            <a:off x="1867711" y="4913776"/>
            <a:ext cx="5963055" cy="1090913"/>
          </a:xfrm>
          <a:prstGeom prst="rect">
            <a:avLst/>
          </a:prstGeom>
        </p:spPr>
      </p:pic>
      <p:sp>
        <p:nvSpPr>
          <p:cNvPr id="9" name="文本框 8">
            <a:extLst>
              <a:ext uri="{FF2B5EF4-FFF2-40B4-BE49-F238E27FC236}">
                <a16:creationId xmlns:a16="http://schemas.microsoft.com/office/drawing/2014/main" id="{F5AB51FB-F74D-4383-B3FF-324B7C8076B7}"/>
              </a:ext>
            </a:extLst>
          </p:cNvPr>
          <p:cNvSpPr txBox="1"/>
          <p:nvPr/>
        </p:nvSpPr>
        <p:spPr>
          <a:xfrm>
            <a:off x="373380" y="5346815"/>
            <a:ext cx="4062433" cy="923330"/>
          </a:xfrm>
          <a:prstGeom prst="rect">
            <a:avLst/>
          </a:prstGeom>
          <a:noFill/>
        </p:spPr>
        <p:txBody>
          <a:bodyPr wrap="square" rtlCol="0">
            <a:spAutoFit/>
          </a:bodyPr>
          <a:lstStyle/>
          <a:p>
            <a:r>
              <a:rPr lang="zh-CN" altLang="en-US" dirty="0"/>
              <a:t>化简后得到：</a:t>
            </a:r>
            <a:endParaRPr lang="en-US" altLang="zh-CN" dirty="0"/>
          </a:p>
          <a:p>
            <a:endParaRPr lang="en-US" altLang="zh-CN" dirty="0"/>
          </a:p>
          <a:p>
            <a:r>
              <a:rPr lang="en-US" altLang="zh-CN" dirty="0">
                <a:solidFill>
                  <a:srgbClr val="C00000"/>
                </a:solidFill>
              </a:rPr>
              <a:t>Di</a:t>
            </a:r>
            <a:r>
              <a:rPr lang="zh-CN" altLang="en-US" dirty="0">
                <a:solidFill>
                  <a:srgbClr val="C00000"/>
                </a:solidFill>
              </a:rPr>
              <a:t>为</a:t>
            </a:r>
            <a:r>
              <a:rPr lang="en-US" altLang="zh-CN" dirty="0">
                <a:solidFill>
                  <a:srgbClr val="C00000"/>
                </a:solidFill>
              </a:rPr>
              <a:t>X</a:t>
            </a:r>
            <a:r>
              <a:rPr lang="zh-CN" altLang="en-US" dirty="0">
                <a:solidFill>
                  <a:srgbClr val="C00000"/>
                </a:solidFill>
              </a:rPr>
              <a:t>和</a:t>
            </a:r>
            <a:r>
              <a:rPr lang="en-US" altLang="zh-CN" dirty="0">
                <a:solidFill>
                  <a:srgbClr val="C00000"/>
                </a:solidFill>
              </a:rPr>
              <a:t>Y</a:t>
            </a:r>
            <a:r>
              <a:rPr lang="zh-CN" altLang="en-US" dirty="0">
                <a:solidFill>
                  <a:srgbClr val="C00000"/>
                </a:solidFill>
              </a:rPr>
              <a:t>中第</a:t>
            </a:r>
            <a:r>
              <a:rPr lang="en-US" altLang="zh-CN" dirty="0" err="1">
                <a:solidFill>
                  <a:srgbClr val="C00000"/>
                </a:solidFill>
              </a:rPr>
              <a:t>i</a:t>
            </a:r>
            <a:r>
              <a:rPr lang="zh-CN" altLang="en-US" dirty="0">
                <a:solidFill>
                  <a:srgbClr val="C00000"/>
                </a:solidFill>
              </a:rPr>
              <a:t>个元素的秩之差</a:t>
            </a:r>
          </a:p>
        </p:txBody>
      </p:sp>
    </p:spTree>
    <p:extLst>
      <p:ext uri="{BB962C8B-B14F-4D97-AF65-F5344CB8AC3E}">
        <p14:creationId xmlns:p14="http://schemas.microsoft.com/office/powerpoint/2010/main" val="1352947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5DD70-66F6-4BCF-9E8D-988580874CFC}"/>
              </a:ext>
            </a:extLst>
          </p:cNvPr>
          <p:cNvSpPr>
            <a:spLocks noGrp="1"/>
          </p:cNvSpPr>
          <p:nvPr>
            <p:ph type="title"/>
          </p:nvPr>
        </p:nvSpPr>
        <p:spPr/>
        <p:txBody>
          <a:bodyPr/>
          <a:lstStyle/>
          <a:p>
            <a:r>
              <a:rPr lang="en-US" altLang="zh-CN" dirty="0"/>
              <a:t>Spearman</a:t>
            </a:r>
            <a:r>
              <a:rPr lang="zh-CN" altLang="en-US" dirty="0"/>
              <a:t>秩相关系数</a:t>
            </a:r>
          </a:p>
        </p:txBody>
      </p:sp>
      <p:sp>
        <p:nvSpPr>
          <p:cNvPr id="4" name="灯片编号占位符 3">
            <a:extLst>
              <a:ext uri="{FF2B5EF4-FFF2-40B4-BE49-F238E27FC236}">
                <a16:creationId xmlns:a16="http://schemas.microsoft.com/office/drawing/2014/main" id="{BB28C947-829A-4F99-B60F-F64A83AE8296}"/>
              </a:ext>
            </a:extLst>
          </p:cNvPr>
          <p:cNvSpPr>
            <a:spLocks noGrp="1"/>
          </p:cNvSpPr>
          <p:nvPr>
            <p:ph type="sldNum" sz="quarter" idx="12"/>
          </p:nvPr>
        </p:nvSpPr>
        <p:spPr/>
        <p:txBody>
          <a:bodyPr/>
          <a:lstStyle/>
          <a:p>
            <a:fld id="{5AD84F5B-1672-4D3F-9FEC-5DF89A7B7912}" type="slidenum">
              <a:rPr lang="zh-CN" altLang="en-US" smtClean="0"/>
              <a:t>15</a:t>
            </a:fld>
            <a:endParaRPr lang="zh-CN" altLang="en-US"/>
          </a:p>
        </p:txBody>
      </p:sp>
      <p:sp>
        <p:nvSpPr>
          <p:cNvPr id="5" name="文本框 4">
            <a:extLst>
              <a:ext uri="{FF2B5EF4-FFF2-40B4-BE49-F238E27FC236}">
                <a16:creationId xmlns:a16="http://schemas.microsoft.com/office/drawing/2014/main" id="{F7101624-84BA-4302-A87D-276CF571F05D}"/>
              </a:ext>
            </a:extLst>
          </p:cNvPr>
          <p:cNvSpPr txBox="1"/>
          <p:nvPr/>
        </p:nvSpPr>
        <p:spPr>
          <a:xfrm>
            <a:off x="385048" y="1431446"/>
            <a:ext cx="8373904" cy="412909"/>
          </a:xfrm>
          <a:prstGeom prst="rect">
            <a:avLst/>
          </a:prstGeom>
          <a:noFill/>
        </p:spPr>
        <p:txBody>
          <a:bodyPr wrap="square">
            <a:noAutofit/>
          </a:bodyPr>
          <a:lstStyle/>
          <a:p>
            <a:pPr>
              <a:lnSpc>
                <a:spcPct val="110000"/>
              </a:lnSpc>
            </a:pPr>
            <a:r>
              <a:rPr lang="zh-CN" altLang="en-US" dirty="0">
                <a:latin typeface="微软雅黑" panose="020B0503020204020204" pitchFamily="34" charset="-122"/>
                <a:ea typeface="微软雅黑" panose="020B0503020204020204" pitchFamily="34" charset="-122"/>
              </a:rPr>
              <a:t>电子医疗和智慧医疗的产生和发展使得医院和医疗机构生成并保存了大量的临床报告数据，其中不乏关于出血症状相关的记录，如病人的症状描述、出血的程度和持续时间等信息。现有</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位病人的血小板数与出血症状程度数据。</a:t>
            </a:r>
          </a:p>
          <a:p>
            <a:pPr>
              <a:lnSpc>
                <a:spcPct val="110000"/>
              </a:lnSpc>
            </a:pP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AF0C37A-A784-4BD7-AFE7-939CAE2C1210}"/>
              </a:ext>
            </a:extLst>
          </p:cNvPr>
          <p:cNvPicPr>
            <a:picLocks noChangeAspect="1"/>
          </p:cNvPicPr>
          <p:nvPr/>
        </p:nvPicPr>
        <p:blipFill>
          <a:blip r:embed="rId2"/>
          <a:stretch>
            <a:fillRect/>
          </a:stretch>
        </p:blipFill>
        <p:spPr>
          <a:xfrm>
            <a:off x="483156" y="2758754"/>
            <a:ext cx="8407241" cy="1421130"/>
          </a:xfrm>
          <a:prstGeom prst="rect">
            <a:avLst/>
          </a:prstGeom>
        </p:spPr>
      </p:pic>
      <p:sp>
        <p:nvSpPr>
          <p:cNvPr id="7" name="文本框 6">
            <a:extLst>
              <a:ext uri="{FF2B5EF4-FFF2-40B4-BE49-F238E27FC236}">
                <a16:creationId xmlns:a16="http://schemas.microsoft.com/office/drawing/2014/main" id="{9C1B804E-9224-40E2-AC1D-F28A147A13EA}"/>
              </a:ext>
            </a:extLst>
          </p:cNvPr>
          <p:cNvSpPr txBox="1"/>
          <p:nvPr/>
        </p:nvSpPr>
        <p:spPr>
          <a:xfrm>
            <a:off x="543163" y="4247988"/>
            <a:ext cx="7172325" cy="375809"/>
          </a:xfrm>
          <a:prstGeom prst="rect">
            <a:avLst/>
          </a:prstGeom>
          <a:noFill/>
        </p:spPr>
        <p:txBody>
          <a:bodyPr wrap="square" rtlCol="0" anchor="t">
            <a:spAutoFit/>
          </a:bodyPr>
          <a:lstStyle/>
          <a:p>
            <a:pPr>
              <a:lnSpc>
                <a:spcPct val="110000"/>
              </a:lnSpc>
            </a:pPr>
            <a:r>
              <a:rPr lang="zh-CN" altLang="en-US" dirty="0">
                <a:latin typeface="微软雅黑" panose="020B0503020204020204" pitchFamily="34" charset="-122"/>
                <a:ea typeface="微软雅黑" panose="020B0503020204020204" pitchFamily="34" charset="-122"/>
                <a:sym typeface="+mn-ea"/>
              </a:rPr>
              <a:t>请计算：血小板数与出血症状程度之间的</a:t>
            </a:r>
            <a:r>
              <a:rPr lang="en-US" altLang="zh-CN" dirty="0">
                <a:solidFill>
                  <a:srgbClr val="C00000"/>
                </a:solidFill>
                <a:latin typeface="微软雅黑" panose="020B0503020204020204" pitchFamily="34" charset="-122"/>
                <a:ea typeface="微软雅黑" panose="020B0503020204020204" pitchFamily="34" charset="-122"/>
                <a:sym typeface="+mn-ea"/>
              </a:rPr>
              <a:t>Spearman</a:t>
            </a:r>
            <a:r>
              <a:rPr lang="zh-CN" altLang="en-US" dirty="0">
                <a:solidFill>
                  <a:srgbClr val="C00000"/>
                </a:solidFill>
                <a:latin typeface="微软雅黑" panose="020B0503020204020204" pitchFamily="34" charset="-122"/>
                <a:ea typeface="微软雅黑" panose="020B0503020204020204" pitchFamily="34" charset="-122"/>
                <a:sym typeface="+mn-ea"/>
              </a:rPr>
              <a:t>秩相关系数</a:t>
            </a:r>
            <a:r>
              <a:rPr lang="zh-CN" altLang="en-US" dirty="0">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3652119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613368-9C98-4FCE-8C1D-31AC40931E8C}"/>
              </a:ext>
            </a:extLst>
          </p:cNvPr>
          <p:cNvSpPr>
            <a:spLocks noGrp="1"/>
          </p:cNvSpPr>
          <p:nvPr>
            <p:ph type="title"/>
          </p:nvPr>
        </p:nvSpPr>
        <p:spPr/>
        <p:txBody>
          <a:bodyPr/>
          <a:lstStyle/>
          <a:p>
            <a:r>
              <a:rPr lang="en-US" altLang="zh-CN" dirty="0"/>
              <a:t>Spearman</a:t>
            </a:r>
            <a:r>
              <a:rPr lang="zh-CN" altLang="en-US" dirty="0"/>
              <a:t>秩相关系数</a:t>
            </a:r>
          </a:p>
        </p:txBody>
      </p:sp>
      <p:sp>
        <p:nvSpPr>
          <p:cNvPr id="4" name="灯片编号占位符 3">
            <a:extLst>
              <a:ext uri="{FF2B5EF4-FFF2-40B4-BE49-F238E27FC236}">
                <a16:creationId xmlns:a16="http://schemas.microsoft.com/office/drawing/2014/main" id="{E8B7F945-B831-4A33-9718-37F625EBBFD1}"/>
              </a:ext>
            </a:extLst>
          </p:cNvPr>
          <p:cNvSpPr>
            <a:spLocks noGrp="1"/>
          </p:cNvSpPr>
          <p:nvPr>
            <p:ph type="sldNum" sz="quarter" idx="12"/>
          </p:nvPr>
        </p:nvSpPr>
        <p:spPr/>
        <p:txBody>
          <a:bodyPr/>
          <a:lstStyle/>
          <a:p>
            <a:fld id="{5AD84F5B-1672-4D3F-9FEC-5DF89A7B7912}" type="slidenum">
              <a:rPr lang="zh-CN" altLang="en-US" smtClean="0"/>
              <a:t>16</a:t>
            </a:fld>
            <a:endParaRPr lang="zh-CN" altLang="en-US"/>
          </a:p>
        </p:txBody>
      </p:sp>
      <p:sp>
        <p:nvSpPr>
          <p:cNvPr id="5" name="文本框 4">
            <a:extLst>
              <a:ext uri="{FF2B5EF4-FFF2-40B4-BE49-F238E27FC236}">
                <a16:creationId xmlns:a16="http://schemas.microsoft.com/office/drawing/2014/main" id="{309B9E24-F190-4D75-83AF-C5F62C0F4EA6}"/>
              </a:ext>
            </a:extLst>
          </p:cNvPr>
          <p:cNvSpPr txBox="1"/>
          <p:nvPr/>
        </p:nvSpPr>
        <p:spPr>
          <a:xfrm>
            <a:off x="385048" y="953778"/>
            <a:ext cx="8373904" cy="412909"/>
          </a:xfrm>
          <a:prstGeom prst="rect">
            <a:avLst/>
          </a:prstGeom>
          <a:noFill/>
        </p:spPr>
        <p:txBody>
          <a:bodyPr wrap="square">
            <a:noAutofit/>
          </a:bodyPr>
          <a:lstStyle/>
          <a:p>
            <a:pPr marL="257175" indent="-257175">
              <a:lnSpc>
                <a:spcPct val="13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步骤一：</a:t>
            </a:r>
            <a:r>
              <a:rPr lang="zh-CN" altLang="en-US" dirty="0">
                <a:latin typeface="微软雅黑" panose="020B0503020204020204" pitchFamily="34" charset="-122"/>
                <a:ea typeface="微软雅黑" panose="020B0503020204020204" pitchFamily="34" charset="-122"/>
              </a:rPr>
              <a:t>按由小到大的顺序对血小板数和出血症状进行排序</a:t>
            </a:r>
          </a:p>
          <a:p>
            <a:pPr marL="257175" indent="-257175">
              <a:lnSpc>
                <a:spcPct val="13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步骤二：</a:t>
            </a:r>
            <a:r>
              <a:rPr lang="zh-CN" altLang="en-US" dirty="0">
                <a:latin typeface="微软雅黑" panose="020B0503020204020204" pitchFamily="34" charset="-122"/>
                <a:ea typeface="微软雅黑" panose="020B0503020204020204" pitchFamily="34" charset="-122"/>
              </a:rPr>
              <a:t>为各观测值分配秩并计算秩差得到下表：</a:t>
            </a:r>
          </a:p>
          <a:p>
            <a:pPr>
              <a:lnSpc>
                <a:spcPct val="110000"/>
              </a:lnSpc>
            </a:pP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3EB10184-9501-4EFD-88A9-237C2657C940}"/>
              </a:ext>
            </a:extLst>
          </p:cNvPr>
          <p:cNvPicPr>
            <a:picLocks noChangeAspect="1"/>
          </p:cNvPicPr>
          <p:nvPr/>
        </p:nvPicPr>
        <p:blipFill>
          <a:blip r:embed="rId3"/>
          <a:stretch>
            <a:fillRect/>
          </a:stretch>
        </p:blipFill>
        <p:spPr>
          <a:xfrm>
            <a:off x="385048" y="1974382"/>
            <a:ext cx="8461534" cy="2162651"/>
          </a:xfrm>
          <a:prstGeom prst="rect">
            <a:avLst/>
          </a:prstGeom>
        </p:spPr>
      </p:pic>
      <p:sp>
        <p:nvSpPr>
          <p:cNvPr id="7" name="文本框 6">
            <a:extLst>
              <a:ext uri="{FF2B5EF4-FFF2-40B4-BE49-F238E27FC236}">
                <a16:creationId xmlns:a16="http://schemas.microsoft.com/office/drawing/2014/main" id="{547E56CF-2E95-4916-84AE-144D23D0B8F6}"/>
              </a:ext>
            </a:extLst>
          </p:cNvPr>
          <p:cNvSpPr txBox="1"/>
          <p:nvPr/>
        </p:nvSpPr>
        <p:spPr>
          <a:xfrm>
            <a:off x="262176" y="3890513"/>
            <a:ext cx="8373904" cy="412909"/>
          </a:xfrm>
          <a:prstGeom prst="rect">
            <a:avLst/>
          </a:prstGeom>
          <a:noFill/>
        </p:spPr>
        <p:txBody>
          <a:bodyPr wrap="square">
            <a:noAutofit/>
          </a:bodyPr>
          <a:lstStyle/>
          <a:p>
            <a:pPr marL="257175" indent="-257175">
              <a:lnSpc>
                <a:spcPct val="11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sym typeface="+mn-ea"/>
              </a:rPr>
              <a:t>步骤三：</a:t>
            </a:r>
            <a:r>
              <a:rPr lang="zh-CN" altLang="en-US" dirty="0">
                <a:latin typeface="微软雅黑" panose="020B0503020204020204" pitchFamily="34" charset="-122"/>
                <a:ea typeface="微软雅黑" panose="020B0503020204020204" pitchFamily="34" charset="-122"/>
              </a:rPr>
              <a:t>得到秩差后，将秩差代入</a:t>
            </a:r>
            <a:r>
              <a:rPr lang="en-US" altLang="zh-CN" dirty="0">
                <a:latin typeface="微软雅黑" panose="020B0503020204020204" pitchFamily="34" charset="-122"/>
                <a:ea typeface="微软雅黑" panose="020B0503020204020204" pitchFamily="34" charset="-122"/>
              </a:rPr>
              <a:t>Spearman</a:t>
            </a:r>
            <a:r>
              <a:rPr lang="zh-CN" altLang="en-US" dirty="0">
                <a:latin typeface="微软雅黑" panose="020B0503020204020204" pitchFamily="34" charset="-122"/>
                <a:ea typeface="微软雅黑" panose="020B0503020204020204" pitchFamily="34" charset="-122"/>
              </a:rPr>
              <a:t>秩相关系数计算公式中求解得到：</a:t>
            </a: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graphicFrame>
        <p:nvGraphicFramePr>
          <p:cNvPr id="8" name="对象 -2147482514">
            <a:extLst>
              <a:ext uri="{FF2B5EF4-FFF2-40B4-BE49-F238E27FC236}">
                <a16:creationId xmlns:a16="http://schemas.microsoft.com/office/drawing/2014/main" id="{9A22969F-BBE1-4AAE-8042-E4C9649222D9}"/>
              </a:ext>
            </a:extLst>
          </p:cNvPr>
          <p:cNvGraphicFramePr>
            <a:graphicFrameLocks noChangeAspect="1"/>
          </p:cNvGraphicFramePr>
          <p:nvPr>
            <p:extLst>
              <p:ext uri="{D42A27DB-BD31-4B8C-83A1-F6EECF244321}">
                <p14:modId xmlns:p14="http://schemas.microsoft.com/office/powerpoint/2010/main" val="1713863922"/>
              </p:ext>
            </p:extLst>
          </p:nvPr>
        </p:nvGraphicFramePr>
        <p:xfrm>
          <a:off x="997266" y="4194558"/>
          <a:ext cx="7149465" cy="1111568"/>
        </p:xfrm>
        <a:graphic>
          <a:graphicData uri="http://schemas.openxmlformats.org/presentationml/2006/ole">
            <mc:AlternateContent xmlns:mc="http://schemas.openxmlformats.org/markup-compatibility/2006">
              <mc:Choice xmlns:v="urn:schemas-microsoft-com:vml" Requires="v">
                <p:oleObj spid="_x0000_s13320" r:id="rId4" imgW="3657600" imgH="571500" progId="Equation.DSMT4">
                  <p:embed/>
                </p:oleObj>
              </mc:Choice>
              <mc:Fallback>
                <p:oleObj r:id="rId4" imgW="3657600" imgH="571500" progId="Equation.DSMT4">
                  <p:embed/>
                  <p:pic>
                    <p:nvPicPr>
                      <p:cNvPr id="4" name="对象 -2147482514"/>
                      <p:cNvPicPr/>
                      <p:nvPr/>
                    </p:nvPicPr>
                    <p:blipFill>
                      <a:blip r:embed="rId5"/>
                      <a:stretch>
                        <a:fillRect/>
                      </a:stretch>
                    </p:blipFill>
                    <p:spPr>
                      <a:xfrm>
                        <a:off x="997266" y="4194558"/>
                        <a:ext cx="7149465" cy="1111568"/>
                      </a:xfrm>
                      <a:prstGeom prst="rect">
                        <a:avLst/>
                      </a:prstGeom>
                      <a:noFill/>
                      <a:ln w="38100">
                        <a:noFill/>
                        <a:miter/>
                      </a:ln>
                    </p:spPr>
                  </p:pic>
                </p:oleObj>
              </mc:Fallback>
            </mc:AlternateContent>
          </a:graphicData>
        </a:graphic>
      </p:graphicFrame>
      <p:sp>
        <p:nvSpPr>
          <p:cNvPr id="9" name="文本框 8">
            <a:extLst>
              <a:ext uri="{FF2B5EF4-FFF2-40B4-BE49-F238E27FC236}">
                <a16:creationId xmlns:a16="http://schemas.microsoft.com/office/drawing/2014/main" id="{992D7204-8D88-4397-8052-AEC942C7F84A}"/>
              </a:ext>
            </a:extLst>
          </p:cNvPr>
          <p:cNvSpPr txBox="1"/>
          <p:nvPr/>
        </p:nvSpPr>
        <p:spPr>
          <a:xfrm>
            <a:off x="323611" y="5418561"/>
            <a:ext cx="8496776" cy="412909"/>
          </a:xfrm>
          <a:prstGeom prst="rect">
            <a:avLst/>
          </a:prstGeom>
          <a:noFill/>
        </p:spPr>
        <p:txBody>
          <a:bodyPr wrap="square">
            <a:noAutofit/>
            <a:scene3d>
              <a:camera prst="orthographicFront"/>
              <a:lightRig rig="threePt" dir="t"/>
            </a:scene3d>
          </a:bodyPr>
          <a:lstStyle/>
          <a:p>
            <a:pPr>
              <a:lnSpc>
                <a:spcPct val="110000"/>
              </a:lnSpc>
            </a:pPr>
            <a:r>
              <a:rPr lang="zh-CN" altLang="en-US" dirty="0">
                <a:solidFill>
                  <a:srgbClr val="00206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因此，血小板数和出血症状之间的</a:t>
            </a:r>
            <a:r>
              <a:rPr lang="en-US" altLang="zh-CN" dirty="0">
                <a:solidFill>
                  <a:srgbClr val="00206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Spearman</a:t>
            </a:r>
            <a:r>
              <a:rPr lang="zh-CN" altLang="en-US" dirty="0">
                <a:solidFill>
                  <a:srgbClr val="00206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秩相关系数为</a:t>
            </a:r>
            <a:r>
              <a:rPr lang="en-US" altLang="zh-CN" dirty="0">
                <a:solidFill>
                  <a:srgbClr val="00206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-0.57</a:t>
            </a:r>
            <a:r>
              <a:rPr lang="zh-CN" altLang="en-US" dirty="0">
                <a:solidFill>
                  <a:srgbClr val="00206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，呈负相关。该结论符合医学解释：当人体受伤出血时，血小板就会以最快的速度成群结队地聚集在伤口周围，释放使血管收缩的物质，让受损血管不同程度紧闭而减少流血量。</a:t>
            </a:r>
          </a:p>
          <a:p>
            <a:endParaRPr lang="zh-CN" altLang="en-US"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380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ADA0B-14F9-48B1-A7F2-3D84A3AC233A}"/>
              </a:ext>
            </a:extLst>
          </p:cNvPr>
          <p:cNvSpPr>
            <a:spLocks noGrp="1"/>
          </p:cNvSpPr>
          <p:nvPr>
            <p:ph type="title"/>
          </p:nvPr>
        </p:nvSpPr>
        <p:spPr/>
        <p:txBody>
          <a:bodyPr/>
          <a:lstStyle/>
          <a:p>
            <a:r>
              <a:rPr lang="zh-CN" altLang="en-US" dirty="0"/>
              <a:t>实践案例：网络直播大数据相关分析</a:t>
            </a:r>
          </a:p>
        </p:txBody>
      </p:sp>
      <p:sp>
        <p:nvSpPr>
          <p:cNvPr id="4" name="灯片编号占位符 3">
            <a:extLst>
              <a:ext uri="{FF2B5EF4-FFF2-40B4-BE49-F238E27FC236}">
                <a16:creationId xmlns:a16="http://schemas.microsoft.com/office/drawing/2014/main" id="{F4AB9BEE-E913-47A7-B73A-E754B25FD97B}"/>
              </a:ext>
            </a:extLst>
          </p:cNvPr>
          <p:cNvSpPr>
            <a:spLocks noGrp="1"/>
          </p:cNvSpPr>
          <p:nvPr>
            <p:ph type="sldNum" sz="quarter" idx="12"/>
          </p:nvPr>
        </p:nvSpPr>
        <p:spPr/>
        <p:txBody>
          <a:bodyPr/>
          <a:lstStyle/>
          <a:p>
            <a:fld id="{5AD84F5B-1672-4D3F-9FEC-5DF89A7B7912}" type="slidenum">
              <a:rPr lang="zh-CN" altLang="en-US" smtClean="0"/>
              <a:t>17</a:t>
            </a:fld>
            <a:endParaRPr lang="zh-CN" altLang="en-US"/>
          </a:p>
        </p:txBody>
      </p:sp>
      <p:sp>
        <p:nvSpPr>
          <p:cNvPr id="5" name="文本框 4">
            <a:extLst>
              <a:ext uri="{FF2B5EF4-FFF2-40B4-BE49-F238E27FC236}">
                <a16:creationId xmlns:a16="http://schemas.microsoft.com/office/drawing/2014/main" id="{2ADE6779-C812-474E-89D2-5DD9F829179A}"/>
              </a:ext>
            </a:extLst>
          </p:cNvPr>
          <p:cNvSpPr txBox="1"/>
          <p:nvPr/>
        </p:nvSpPr>
        <p:spPr>
          <a:xfrm>
            <a:off x="534333" y="1281032"/>
            <a:ext cx="7809548" cy="912971"/>
          </a:xfrm>
          <a:prstGeom prst="rect">
            <a:avLst/>
          </a:prstGeom>
        </p:spPr>
        <p:txBody>
          <a:bodyPr>
            <a:noAutofit/>
          </a:bodyPr>
          <a:lstStyle/>
          <a:p>
            <a:pPr algn="just" defTabSz="200025">
              <a:lnSpc>
                <a:spcPct val="125000"/>
              </a:lnSpc>
              <a:spcBef>
                <a:spcPct val="0"/>
              </a:spcBef>
              <a:spcAft>
                <a:spcPct val="0"/>
              </a:spcAft>
            </a:pPr>
            <a:r>
              <a:rPr lang="zh-CN" altLang="en-US" dirty="0">
                <a:latin typeface="微软雅黑" panose="020B0503020204020204" pitchFamily="34" charset="-122"/>
                <a:ea typeface="微软雅黑" panose="020B0503020204020204" pitchFamily="34" charset="-122"/>
              </a:rPr>
              <a:t>选取</a:t>
            </a:r>
            <a:r>
              <a:rPr lang="en-US" altLang="zh-CN" dirty="0">
                <a:latin typeface="微软雅黑" panose="020B0503020204020204" pitchFamily="34" charset="-122"/>
                <a:ea typeface="微软雅黑" panose="020B0503020204020204" pitchFamily="34" charset="-122"/>
              </a:rPr>
              <a:t>2019</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日</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时至</a:t>
            </a:r>
            <a:r>
              <a:rPr lang="en-US" altLang="zh-CN" dirty="0">
                <a:latin typeface="微软雅黑" panose="020B0503020204020204" pitchFamily="34" charset="-122"/>
                <a:ea typeface="微软雅黑" panose="020B0503020204020204" pitchFamily="34" charset="-122"/>
              </a:rPr>
              <a:t>2019</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日</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时的某直播平台负载时序数据作为样本，详细阐述二元定距变量的相关分析。数据集中包含</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个字段，分别为时间（</a:t>
            </a:r>
            <a:r>
              <a:rPr lang="en-US" altLang="zh-CN" dirty="0">
                <a:latin typeface="微软雅黑" panose="020B0503020204020204" pitchFamily="34" charset="-122"/>
                <a:ea typeface="微软雅黑" panose="020B0503020204020204" pitchFamily="34" charset="-122"/>
              </a:rPr>
              <a:t>time</a:t>
            </a:r>
            <a:r>
              <a:rPr lang="zh-CN" altLang="en-US" dirty="0">
                <a:latin typeface="微软雅黑" panose="020B0503020204020204" pitchFamily="34" charset="-122"/>
                <a:ea typeface="微软雅黑" panose="020B0503020204020204" pitchFamily="34" charset="-122"/>
              </a:rPr>
              <a:t>）、平台各时段的主播数量（</a:t>
            </a:r>
            <a:r>
              <a:rPr lang="en-US" altLang="zh-CN" dirty="0" err="1">
                <a:latin typeface="微软雅黑" panose="020B0503020204020204" pitchFamily="34" charset="-122"/>
                <a:ea typeface="微软雅黑" panose="020B0503020204020204" pitchFamily="34" charset="-122"/>
              </a:rPr>
              <a:t>streamers_count</a:t>
            </a:r>
            <a:r>
              <a:rPr lang="zh-CN" altLang="en-US" dirty="0">
                <a:latin typeface="微软雅黑" panose="020B0503020204020204" pitchFamily="34" charset="-122"/>
                <a:ea typeface="微软雅黑" panose="020B0503020204020204" pitchFamily="34" charset="-122"/>
              </a:rPr>
              <a:t>）和观众数量（</a:t>
            </a:r>
            <a:r>
              <a:rPr lang="en-US" altLang="zh-CN" dirty="0" err="1">
                <a:latin typeface="微软雅黑" panose="020B0503020204020204" pitchFamily="34" charset="-122"/>
                <a:ea typeface="微软雅黑" panose="020B0503020204020204" pitchFamily="34" charset="-122"/>
              </a:rPr>
              <a:t>viewers_count</a:t>
            </a:r>
            <a:r>
              <a:rPr lang="zh-CN" altLang="en-US" dirty="0">
                <a:latin typeface="微软雅黑" panose="020B0503020204020204" pitchFamily="34" charset="-122"/>
                <a:ea typeface="微软雅黑" panose="020B0503020204020204" pitchFamily="34" charset="-122"/>
              </a:rPr>
              <a:t>），共计</a:t>
            </a:r>
            <a:r>
              <a:rPr lang="en-US" altLang="zh-CN" dirty="0">
                <a:latin typeface="微软雅黑" panose="020B0503020204020204" pitchFamily="34" charset="-122"/>
                <a:ea typeface="微软雅黑" panose="020B0503020204020204" pitchFamily="34" charset="-122"/>
              </a:rPr>
              <a:t>264</a:t>
            </a:r>
            <a:r>
              <a:rPr lang="zh-CN" altLang="en-US" dirty="0">
                <a:latin typeface="微软雅黑" panose="020B0503020204020204" pitchFamily="34" charset="-122"/>
                <a:ea typeface="微软雅黑" panose="020B0503020204020204" pitchFamily="34" charset="-122"/>
              </a:rPr>
              <a:t>条样本记录。现要研究平台的观众数量和主播数量之间是否存在相关性。</a:t>
            </a:r>
          </a:p>
        </p:txBody>
      </p:sp>
      <p:pic>
        <p:nvPicPr>
          <p:cNvPr id="6" name="图片 5">
            <a:extLst>
              <a:ext uri="{FF2B5EF4-FFF2-40B4-BE49-F238E27FC236}">
                <a16:creationId xmlns:a16="http://schemas.microsoft.com/office/drawing/2014/main" id="{6F1F355F-D0ED-48F7-840A-B7BB06D1FD63}"/>
              </a:ext>
            </a:extLst>
          </p:cNvPr>
          <p:cNvPicPr>
            <a:picLocks noChangeAspect="1"/>
          </p:cNvPicPr>
          <p:nvPr/>
        </p:nvPicPr>
        <p:blipFill>
          <a:blip r:embed="rId2"/>
          <a:stretch>
            <a:fillRect/>
          </a:stretch>
        </p:blipFill>
        <p:spPr>
          <a:xfrm>
            <a:off x="620058" y="3328431"/>
            <a:ext cx="7879080" cy="1547336"/>
          </a:xfrm>
          <a:prstGeom prst="rect">
            <a:avLst/>
          </a:prstGeom>
        </p:spPr>
      </p:pic>
    </p:spTree>
    <p:extLst>
      <p:ext uri="{BB962C8B-B14F-4D97-AF65-F5344CB8AC3E}">
        <p14:creationId xmlns:p14="http://schemas.microsoft.com/office/powerpoint/2010/main" val="3535580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84056B-11C9-4400-AF0F-085FBEC832D7}"/>
              </a:ext>
            </a:extLst>
          </p:cNvPr>
          <p:cNvSpPr>
            <a:spLocks noGrp="1"/>
          </p:cNvSpPr>
          <p:nvPr>
            <p:ph type="title"/>
          </p:nvPr>
        </p:nvSpPr>
        <p:spPr/>
        <p:txBody>
          <a:bodyPr/>
          <a:lstStyle/>
          <a:p>
            <a:r>
              <a:rPr lang="zh-CN" altLang="en-US" dirty="0"/>
              <a:t>实践案例：网络直播大数据相关分析</a:t>
            </a:r>
          </a:p>
        </p:txBody>
      </p:sp>
      <p:sp>
        <p:nvSpPr>
          <p:cNvPr id="4" name="灯片编号占位符 3">
            <a:extLst>
              <a:ext uri="{FF2B5EF4-FFF2-40B4-BE49-F238E27FC236}">
                <a16:creationId xmlns:a16="http://schemas.microsoft.com/office/drawing/2014/main" id="{9A9091EE-AC41-42AB-BB92-F6A4E7193E9E}"/>
              </a:ext>
            </a:extLst>
          </p:cNvPr>
          <p:cNvSpPr>
            <a:spLocks noGrp="1"/>
          </p:cNvSpPr>
          <p:nvPr>
            <p:ph type="sldNum" sz="quarter" idx="12"/>
          </p:nvPr>
        </p:nvSpPr>
        <p:spPr/>
        <p:txBody>
          <a:bodyPr/>
          <a:lstStyle/>
          <a:p>
            <a:fld id="{5AD84F5B-1672-4D3F-9FEC-5DF89A7B7912}" type="slidenum">
              <a:rPr lang="zh-CN" altLang="en-US" smtClean="0"/>
              <a:t>18</a:t>
            </a:fld>
            <a:endParaRPr lang="zh-CN" altLang="en-US"/>
          </a:p>
        </p:txBody>
      </p:sp>
      <p:sp>
        <p:nvSpPr>
          <p:cNvPr id="5" name="文本框 4">
            <a:extLst>
              <a:ext uri="{FF2B5EF4-FFF2-40B4-BE49-F238E27FC236}">
                <a16:creationId xmlns:a16="http://schemas.microsoft.com/office/drawing/2014/main" id="{48D0B295-816E-4047-953F-AC958F7C26C9}"/>
              </a:ext>
            </a:extLst>
          </p:cNvPr>
          <p:cNvSpPr txBox="1"/>
          <p:nvPr/>
        </p:nvSpPr>
        <p:spPr>
          <a:xfrm>
            <a:off x="309278" y="1086479"/>
            <a:ext cx="8276273" cy="912971"/>
          </a:xfrm>
          <a:prstGeom prst="rect">
            <a:avLst/>
          </a:prstGeom>
        </p:spPr>
        <p:txBody>
          <a:bodyPr>
            <a:noAutofit/>
          </a:bodyPr>
          <a:lstStyle/>
          <a:p>
            <a:pPr marL="257175" indent="-257175" algn="just" defTabSz="200025">
              <a:lnSpc>
                <a:spcPct val="13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数据准备。</a:t>
            </a: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pandas</a:t>
            </a:r>
            <a:r>
              <a:rPr lang="zh-CN" altLang="en-US" dirty="0">
                <a:latin typeface="微软雅黑" panose="020B0503020204020204" pitchFamily="34" charset="-122"/>
                <a:ea typeface="微软雅黑" panose="020B0503020204020204" pitchFamily="34" charset="-122"/>
              </a:rPr>
              <a:t>读取数据文件，再从数据中选择最后</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行，存储在名为</a:t>
            </a:r>
            <a:r>
              <a:rPr lang="en-US" altLang="zh-CN" dirty="0">
                <a:latin typeface="微软雅黑" panose="020B0503020204020204" pitchFamily="34" charset="-122"/>
                <a:ea typeface="微软雅黑" panose="020B0503020204020204" pitchFamily="34" charset="-122"/>
              </a:rPr>
              <a:t>df1</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DataFrame</a:t>
            </a:r>
            <a:r>
              <a:rPr lang="zh-CN" altLang="en-US" dirty="0">
                <a:latin typeface="微软雅黑" panose="020B0503020204020204" pitchFamily="34" charset="-122"/>
                <a:ea typeface="微软雅黑" panose="020B0503020204020204" pitchFamily="34" charset="-122"/>
              </a:rPr>
              <a:t>中。</a:t>
            </a:r>
          </a:p>
          <a:p>
            <a:pPr marL="257175" indent="-257175" algn="just" defTabSz="200025">
              <a:lnSpc>
                <a:spcPct val="13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绘制散点图和折线图。</a:t>
            </a: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matplotlib</a:t>
            </a:r>
            <a:r>
              <a:rPr lang="zh-CN" altLang="en-US" dirty="0">
                <a:latin typeface="微软雅黑" panose="020B0503020204020204" pitchFamily="34" charset="-122"/>
                <a:ea typeface="微软雅黑" panose="020B0503020204020204" pitchFamily="34" charset="-122"/>
              </a:rPr>
              <a:t>库中的</a:t>
            </a:r>
            <a:r>
              <a:rPr lang="en-US" altLang="zh-CN" dirty="0" err="1">
                <a:latin typeface="微软雅黑" panose="020B0503020204020204" pitchFamily="34" charset="-122"/>
                <a:ea typeface="微软雅黑" panose="020B0503020204020204" pitchFamily="34" charset="-122"/>
              </a:rPr>
              <a:t>plt.scatter</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plt.plot</a:t>
            </a:r>
            <a:r>
              <a:rPr lang="zh-CN" altLang="en-US" dirty="0">
                <a:latin typeface="微软雅黑" panose="020B0503020204020204" pitchFamily="34" charset="-122"/>
                <a:ea typeface="微软雅黑" panose="020B0503020204020204" pitchFamily="34" charset="-122"/>
              </a:rPr>
              <a:t>函数分别绘制主播数量和观众数量的散点图和随时间变化的折线图。</a:t>
            </a:r>
          </a:p>
          <a:p>
            <a:pPr marL="257175" indent="-257175" algn="just" defTabSz="200025">
              <a:lnSpc>
                <a:spcPct val="13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计算</a:t>
            </a:r>
            <a:r>
              <a:rPr lang="en-US" altLang="zh-CN" b="1" dirty="0">
                <a:solidFill>
                  <a:srgbClr val="FF0000"/>
                </a:solidFill>
                <a:latin typeface="微软雅黑" panose="020B0503020204020204" pitchFamily="34" charset="-122"/>
                <a:ea typeface="微软雅黑" panose="020B0503020204020204" pitchFamily="34" charset="-122"/>
              </a:rPr>
              <a:t>Pearson</a:t>
            </a:r>
            <a:r>
              <a:rPr lang="zh-CN" altLang="en-US" b="1" dirty="0">
                <a:solidFill>
                  <a:srgbClr val="FF0000"/>
                </a:solidFill>
                <a:latin typeface="微软雅黑" panose="020B0503020204020204" pitchFamily="34" charset="-122"/>
                <a:ea typeface="微软雅黑" panose="020B0503020204020204" pitchFamily="34" charset="-122"/>
              </a:rPr>
              <a:t>相关系数。</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python</a:t>
            </a:r>
            <a:r>
              <a:rPr lang="zh-CN" altLang="en-US" dirty="0">
                <a:latin typeface="微软雅黑" panose="020B0503020204020204" pitchFamily="34" charset="-122"/>
                <a:ea typeface="微软雅黑" panose="020B0503020204020204" pitchFamily="34" charset="-122"/>
              </a:rPr>
              <a:t>中，可以使用</a:t>
            </a:r>
            <a:r>
              <a:rPr lang="en-US" altLang="zh-CN" dirty="0">
                <a:latin typeface="微软雅黑" panose="020B0503020204020204" pitchFamily="34" charset="-122"/>
                <a:ea typeface="微软雅黑" panose="020B0503020204020204" pitchFamily="34" charset="-122"/>
              </a:rPr>
              <a:t>pandas</a:t>
            </a:r>
            <a:r>
              <a:rPr lang="zh-CN" altLang="en-US" dirty="0">
                <a:latin typeface="微软雅黑" panose="020B0503020204020204" pitchFamily="34" charset="-122"/>
                <a:ea typeface="微软雅黑" panose="020B0503020204020204" pitchFamily="34" charset="-122"/>
              </a:rPr>
              <a:t>库中的</a:t>
            </a:r>
            <a:r>
              <a:rPr lang="en-US" altLang="zh-CN" dirty="0" err="1">
                <a:latin typeface="微软雅黑" panose="020B0503020204020204" pitchFamily="34" charset="-122"/>
                <a:ea typeface="微软雅黑" panose="020B0503020204020204" pitchFamily="34" charset="-122"/>
              </a:rPr>
              <a:t>corr</a:t>
            </a:r>
            <a:r>
              <a:rPr lang="zh-CN" altLang="en-US" dirty="0">
                <a:latin typeface="微软雅黑" panose="020B0503020204020204" pitchFamily="34" charset="-122"/>
                <a:ea typeface="微软雅黑" panose="020B0503020204020204" pitchFamily="34" charset="-122"/>
              </a:rPr>
              <a:t>函数计算主播数量和观众数量的</a:t>
            </a:r>
            <a:r>
              <a:rPr lang="en-US" altLang="zh-CN" dirty="0">
                <a:latin typeface="微软雅黑" panose="020B0503020204020204" pitchFamily="34" charset="-122"/>
                <a:ea typeface="微软雅黑" panose="020B0503020204020204" pitchFamily="34" charset="-122"/>
              </a:rPr>
              <a:t>Pearson</a:t>
            </a:r>
            <a:r>
              <a:rPr lang="zh-CN" altLang="en-US" dirty="0">
                <a:latin typeface="微软雅黑" panose="020B0503020204020204" pitchFamily="34" charset="-122"/>
                <a:ea typeface="微软雅黑" panose="020B0503020204020204" pitchFamily="34" charset="-122"/>
              </a:rPr>
              <a:t>相关系数，判断变量间相关性，使用方法如下：</a:t>
            </a:r>
          </a:p>
        </p:txBody>
      </p:sp>
      <p:pic>
        <p:nvPicPr>
          <p:cNvPr id="6" name="图片 5">
            <a:extLst>
              <a:ext uri="{FF2B5EF4-FFF2-40B4-BE49-F238E27FC236}">
                <a16:creationId xmlns:a16="http://schemas.microsoft.com/office/drawing/2014/main" id="{9C40138B-54A7-45E1-BDD0-7CB43C2DBAFC}"/>
              </a:ext>
            </a:extLst>
          </p:cNvPr>
          <p:cNvPicPr>
            <a:picLocks noChangeAspect="1"/>
          </p:cNvPicPr>
          <p:nvPr/>
        </p:nvPicPr>
        <p:blipFill>
          <a:blip r:embed="rId2"/>
          <a:stretch>
            <a:fillRect/>
          </a:stretch>
        </p:blipFill>
        <p:spPr>
          <a:xfrm>
            <a:off x="535021" y="3667754"/>
            <a:ext cx="8346758" cy="270510"/>
          </a:xfrm>
          <a:prstGeom prst="rect">
            <a:avLst/>
          </a:prstGeom>
        </p:spPr>
      </p:pic>
    </p:spTree>
    <p:extLst>
      <p:ext uri="{BB962C8B-B14F-4D97-AF65-F5344CB8AC3E}">
        <p14:creationId xmlns:p14="http://schemas.microsoft.com/office/powerpoint/2010/main" val="2393617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7EF4B6-826C-4F23-8A13-B91B9B3A55ED}"/>
              </a:ext>
            </a:extLst>
          </p:cNvPr>
          <p:cNvSpPr>
            <a:spLocks noGrp="1"/>
          </p:cNvSpPr>
          <p:nvPr>
            <p:ph type="title"/>
          </p:nvPr>
        </p:nvSpPr>
        <p:spPr/>
        <p:txBody>
          <a:bodyPr/>
          <a:lstStyle/>
          <a:p>
            <a:r>
              <a:rPr lang="zh-CN" altLang="en-US" dirty="0"/>
              <a:t>实践案例：网络直播大数据相关分析</a:t>
            </a:r>
          </a:p>
        </p:txBody>
      </p:sp>
      <p:sp>
        <p:nvSpPr>
          <p:cNvPr id="4" name="灯片编号占位符 3">
            <a:extLst>
              <a:ext uri="{FF2B5EF4-FFF2-40B4-BE49-F238E27FC236}">
                <a16:creationId xmlns:a16="http://schemas.microsoft.com/office/drawing/2014/main" id="{ECE08977-8388-46BD-8F8F-84D71081C05B}"/>
              </a:ext>
            </a:extLst>
          </p:cNvPr>
          <p:cNvSpPr>
            <a:spLocks noGrp="1"/>
          </p:cNvSpPr>
          <p:nvPr>
            <p:ph type="sldNum" sz="quarter" idx="12"/>
          </p:nvPr>
        </p:nvSpPr>
        <p:spPr/>
        <p:txBody>
          <a:bodyPr/>
          <a:lstStyle/>
          <a:p>
            <a:fld id="{5AD84F5B-1672-4D3F-9FEC-5DF89A7B7912}" type="slidenum">
              <a:rPr lang="zh-CN" altLang="en-US" smtClean="0"/>
              <a:t>19</a:t>
            </a:fld>
            <a:endParaRPr lang="zh-CN" altLang="en-US"/>
          </a:p>
        </p:txBody>
      </p:sp>
      <p:pic>
        <p:nvPicPr>
          <p:cNvPr id="5" name="图片 4">
            <a:extLst>
              <a:ext uri="{FF2B5EF4-FFF2-40B4-BE49-F238E27FC236}">
                <a16:creationId xmlns:a16="http://schemas.microsoft.com/office/drawing/2014/main" id="{D0B09BF5-87A8-4B7E-A778-99BD9E0D70DA}"/>
              </a:ext>
            </a:extLst>
          </p:cNvPr>
          <p:cNvPicPr>
            <a:picLocks noChangeAspect="1"/>
          </p:cNvPicPr>
          <p:nvPr/>
        </p:nvPicPr>
        <p:blipFill>
          <a:blip r:embed="rId2"/>
          <a:stretch>
            <a:fillRect/>
          </a:stretch>
        </p:blipFill>
        <p:spPr>
          <a:xfrm>
            <a:off x="120015" y="1356938"/>
            <a:ext cx="4735354" cy="3885724"/>
          </a:xfrm>
          <a:prstGeom prst="rect">
            <a:avLst/>
          </a:prstGeom>
        </p:spPr>
      </p:pic>
      <p:sp>
        <p:nvSpPr>
          <p:cNvPr id="6" name="文本框 5">
            <a:extLst>
              <a:ext uri="{FF2B5EF4-FFF2-40B4-BE49-F238E27FC236}">
                <a16:creationId xmlns:a16="http://schemas.microsoft.com/office/drawing/2014/main" id="{29567A75-40F2-4A72-BC13-620166A14D6F}"/>
              </a:ext>
            </a:extLst>
          </p:cNvPr>
          <p:cNvSpPr txBox="1"/>
          <p:nvPr/>
        </p:nvSpPr>
        <p:spPr>
          <a:xfrm>
            <a:off x="4923949" y="1566012"/>
            <a:ext cx="4220051" cy="2181225"/>
          </a:xfrm>
          <a:prstGeom prst="rect">
            <a:avLst/>
          </a:prstGeom>
          <a:solidFill>
            <a:schemeClr val="bg2"/>
          </a:solidFill>
        </p:spPr>
        <p:txBody>
          <a:bodyPr wrap="square">
            <a:noAutofit/>
          </a:bodyPr>
          <a:lstStyle>
            <a:defPPr>
              <a:defRPr lang="en-US"/>
            </a:defPPr>
            <a:lvl1pPr>
              <a:defRPr b="1">
                <a:solidFill>
                  <a:srgbClr val="C0504D"/>
                </a:solidFill>
                <a:latin typeface="+mn-ea"/>
              </a:defRPr>
            </a:lvl1pPr>
          </a:lstStyle>
          <a:p>
            <a:pPr algn="l">
              <a:lnSpc>
                <a:spcPct val="110000"/>
              </a:lnSpc>
              <a:buClrTx/>
              <a:buSzTx/>
              <a:buFontTx/>
            </a:pPr>
            <a:r>
              <a:rPr lang="zh-CN" altLang="zh-CN" dirty="0"/>
              <a:t>输出结果:</a:t>
            </a:r>
            <a:endParaRPr lang="en-US" altLang="zh-CN" dirty="0"/>
          </a:p>
          <a:p>
            <a:pPr algn="l">
              <a:lnSpc>
                <a:spcPct val="110000"/>
              </a:lnSpc>
              <a:buClrTx/>
              <a:buSzTx/>
              <a:buFontTx/>
            </a:pPr>
            <a:r>
              <a:rPr lang="en-US" altLang="zh-CN" sz="1500" dirty="0"/>
              <a:t>Pearson</a:t>
            </a:r>
            <a:r>
              <a:rPr lang="zh-CN" altLang="en-US" sz="1500" dirty="0"/>
              <a:t>相关系数：</a:t>
            </a:r>
            <a:r>
              <a:rPr lang="zh-CN" altLang="zh-CN" sz="1500" dirty="0">
                <a:sym typeface="+mn-ea"/>
              </a:rPr>
              <a:t>0.9526739143065315</a:t>
            </a:r>
            <a:endParaRPr lang="zh-CN" altLang="zh-CN" sz="1500" dirty="0"/>
          </a:p>
          <a:p>
            <a:endParaRPr lang="zh-CN" altLang="zh-CN" sz="1500" dirty="0"/>
          </a:p>
        </p:txBody>
      </p:sp>
      <p:pic>
        <p:nvPicPr>
          <p:cNvPr id="7" name="图片 5" descr="D:/研究生/研一/书稿/相关分析/流量图.png流量图">
            <a:extLst>
              <a:ext uri="{FF2B5EF4-FFF2-40B4-BE49-F238E27FC236}">
                <a16:creationId xmlns:a16="http://schemas.microsoft.com/office/drawing/2014/main" id="{506A4365-4E72-46D8-BD86-F5996AC5A123}"/>
              </a:ext>
            </a:extLst>
          </p:cNvPr>
          <p:cNvPicPr>
            <a:picLocks noChangeAspect="1"/>
          </p:cNvPicPr>
          <p:nvPr/>
        </p:nvPicPr>
        <p:blipFill>
          <a:blip r:embed="rId3"/>
          <a:srcRect t="14" b="14"/>
          <a:stretch>
            <a:fillRect/>
          </a:stretch>
        </p:blipFill>
        <p:spPr>
          <a:xfrm>
            <a:off x="4973002" y="2202758"/>
            <a:ext cx="4121468" cy="1453515"/>
          </a:xfrm>
          <a:prstGeom prst="rect">
            <a:avLst/>
          </a:prstGeom>
        </p:spPr>
      </p:pic>
      <p:sp>
        <p:nvSpPr>
          <p:cNvPr id="8" name="文本框 7">
            <a:extLst>
              <a:ext uri="{FF2B5EF4-FFF2-40B4-BE49-F238E27FC236}">
                <a16:creationId xmlns:a16="http://schemas.microsoft.com/office/drawing/2014/main" id="{E29DD98D-EC04-4748-9BCB-DF3AFCAA3A42}"/>
              </a:ext>
            </a:extLst>
          </p:cNvPr>
          <p:cNvSpPr txBox="1"/>
          <p:nvPr/>
        </p:nvSpPr>
        <p:spPr>
          <a:xfrm>
            <a:off x="4973002" y="3959168"/>
            <a:ext cx="4038124" cy="1047018"/>
          </a:xfrm>
          <a:prstGeom prst="rect">
            <a:avLst/>
          </a:prstGeom>
        </p:spPr>
        <p:txBody>
          <a:bodyPr wrap="square">
            <a:spAutoFit/>
          </a:bodyPr>
          <a:lstStyle/>
          <a:p>
            <a:pPr algn="just" defTabSz="200025">
              <a:lnSpc>
                <a:spcPct val="105000"/>
              </a:lnSpc>
              <a:spcBef>
                <a:spcPct val="0"/>
              </a:spcBef>
              <a:spcAft>
                <a:spcPct val="0"/>
              </a:spcAft>
            </a:pPr>
            <a:r>
              <a:rPr lang="zh-CN" altLang="en-US" sz="1500">
                <a:solidFill>
                  <a:srgbClr val="00B0F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主播数量和观众数量的散点图大致呈直线，并且折线图呈现出极强的正相关性。二者几乎在同一时间到达峰值，随着主播数量增加，观众数量也相应增加，反之亦然。</a:t>
            </a:r>
          </a:p>
        </p:txBody>
      </p:sp>
    </p:spTree>
    <p:extLst>
      <p:ext uri="{BB962C8B-B14F-4D97-AF65-F5344CB8AC3E}">
        <p14:creationId xmlns:p14="http://schemas.microsoft.com/office/powerpoint/2010/main" val="1908442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2991B6-D794-449E-A151-C4DD67E65FAC}"/>
              </a:ext>
            </a:extLst>
          </p:cNvPr>
          <p:cNvSpPr>
            <a:spLocks noGrp="1"/>
          </p:cNvSpPr>
          <p:nvPr>
            <p:ph type="title"/>
          </p:nvPr>
        </p:nvSpPr>
        <p:spPr/>
        <p:txBody>
          <a:bodyPr/>
          <a:lstStyle/>
          <a:p>
            <a:r>
              <a:rPr lang="zh-CN" altLang="en-US" dirty="0"/>
              <a:t>实践案例：亚马逊评论数据相关分析</a:t>
            </a:r>
          </a:p>
        </p:txBody>
      </p:sp>
      <p:sp>
        <p:nvSpPr>
          <p:cNvPr id="4" name="灯片编号占位符 3">
            <a:extLst>
              <a:ext uri="{FF2B5EF4-FFF2-40B4-BE49-F238E27FC236}">
                <a16:creationId xmlns:a16="http://schemas.microsoft.com/office/drawing/2014/main" id="{E219E1A0-4776-4417-8C85-653E268C68B8}"/>
              </a:ext>
            </a:extLst>
          </p:cNvPr>
          <p:cNvSpPr>
            <a:spLocks noGrp="1"/>
          </p:cNvSpPr>
          <p:nvPr>
            <p:ph type="sldNum" sz="quarter" idx="12"/>
          </p:nvPr>
        </p:nvSpPr>
        <p:spPr/>
        <p:txBody>
          <a:bodyPr/>
          <a:lstStyle/>
          <a:p>
            <a:fld id="{5AD84F5B-1672-4D3F-9FEC-5DF89A7B7912}" type="slidenum">
              <a:rPr lang="zh-CN" altLang="en-US" smtClean="0"/>
              <a:t>20</a:t>
            </a:fld>
            <a:endParaRPr lang="zh-CN" altLang="en-US"/>
          </a:p>
        </p:txBody>
      </p:sp>
      <p:sp>
        <p:nvSpPr>
          <p:cNvPr id="5" name="文本框 4">
            <a:extLst>
              <a:ext uri="{FF2B5EF4-FFF2-40B4-BE49-F238E27FC236}">
                <a16:creationId xmlns:a16="http://schemas.microsoft.com/office/drawing/2014/main" id="{469A50E5-C043-4AD9-9C51-4A0543A8F053}"/>
              </a:ext>
            </a:extLst>
          </p:cNvPr>
          <p:cNvSpPr txBox="1"/>
          <p:nvPr/>
        </p:nvSpPr>
        <p:spPr>
          <a:xfrm>
            <a:off x="245735" y="1388036"/>
            <a:ext cx="2776538" cy="1032510"/>
          </a:xfrm>
          <a:prstGeom prst="rect">
            <a:avLst/>
          </a:prstGeom>
        </p:spPr>
        <p:txBody>
          <a:bodyPr>
            <a:noAutofit/>
          </a:bodyPr>
          <a:lstStyle/>
          <a:p>
            <a:pPr algn="just" defTabSz="200025">
              <a:lnSpc>
                <a:spcPct val="125000"/>
              </a:lnSpc>
              <a:spcBef>
                <a:spcPct val="0"/>
              </a:spcBef>
              <a:spcAft>
                <a:spcPct val="0"/>
              </a:spcAft>
            </a:pPr>
            <a:r>
              <a:rPr lang="zh-CN" altLang="en-US" dirty="0">
                <a:latin typeface="微软雅黑" panose="020B0503020204020204" pitchFamily="34" charset="-122"/>
                <a:ea typeface="微软雅黑" panose="020B0503020204020204" pitchFamily="34" charset="-122"/>
              </a:rPr>
              <a:t>亚马逊评论数据集包含了用户对不同商品的评价、评论以及商品的相关信息（如商品类别、价格、品牌等），可以用于分析用户对于商品的偏好和需求，评估商品的质量和口碑，以及预测商品的销售情况和趋势。</a:t>
            </a:r>
          </a:p>
        </p:txBody>
      </p:sp>
      <p:pic>
        <p:nvPicPr>
          <p:cNvPr id="6" name="图片 5">
            <a:extLst>
              <a:ext uri="{FF2B5EF4-FFF2-40B4-BE49-F238E27FC236}">
                <a16:creationId xmlns:a16="http://schemas.microsoft.com/office/drawing/2014/main" id="{12D689BF-1C95-4AFE-98B0-B1A9A5337B30}"/>
              </a:ext>
            </a:extLst>
          </p:cNvPr>
          <p:cNvPicPr>
            <a:picLocks noChangeAspect="1"/>
          </p:cNvPicPr>
          <p:nvPr/>
        </p:nvPicPr>
        <p:blipFill>
          <a:blip r:embed="rId2"/>
          <a:stretch>
            <a:fillRect/>
          </a:stretch>
        </p:blipFill>
        <p:spPr>
          <a:xfrm>
            <a:off x="3246110" y="2808689"/>
            <a:ext cx="5743575" cy="2612708"/>
          </a:xfrm>
          <a:prstGeom prst="rect">
            <a:avLst/>
          </a:prstGeom>
        </p:spPr>
      </p:pic>
      <p:pic>
        <p:nvPicPr>
          <p:cNvPr id="7" name="图片 6">
            <a:extLst>
              <a:ext uri="{FF2B5EF4-FFF2-40B4-BE49-F238E27FC236}">
                <a16:creationId xmlns:a16="http://schemas.microsoft.com/office/drawing/2014/main" id="{27D52990-B7DD-4C2A-97BF-9F6CBF619693}"/>
              </a:ext>
            </a:extLst>
          </p:cNvPr>
          <p:cNvPicPr>
            <a:picLocks noChangeAspect="1"/>
          </p:cNvPicPr>
          <p:nvPr/>
        </p:nvPicPr>
        <p:blipFill>
          <a:blip r:embed="rId3"/>
          <a:stretch>
            <a:fillRect/>
          </a:stretch>
        </p:blipFill>
        <p:spPr>
          <a:xfrm>
            <a:off x="3246110" y="1425660"/>
            <a:ext cx="5581650" cy="1497806"/>
          </a:xfrm>
          <a:prstGeom prst="rect">
            <a:avLst/>
          </a:prstGeom>
        </p:spPr>
      </p:pic>
    </p:spTree>
    <p:extLst>
      <p:ext uri="{BB962C8B-B14F-4D97-AF65-F5344CB8AC3E}">
        <p14:creationId xmlns:p14="http://schemas.microsoft.com/office/powerpoint/2010/main" val="2131456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AB60D-CDDB-4733-8D1E-B5A1858D818D}"/>
              </a:ext>
            </a:extLst>
          </p:cNvPr>
          <p:cNvSpPr>
            <a:spLocks noGrp="1"/>
          </p:cNvSpPr>
          <p:nvPr>
            <p:ph type="title"/>
          </p:nvPr>
        </p:nvSpPr>
        <p:spPr/>
        <p:txBody>
          <a:bodyPr/>
          <a:lstStyle/>
          <a:p>
            <a:r>
              <a:rPr lang="zh-CN" altLang="en-US" dirty="0"/>
              <a:t>实践案例：亚马逊评论数据相关分析</a:t>
            </a:r>
          </a:p>
        </p:txBody>
      </p:sp>
      <p:sp>
        <p:nvSpPr>
          <p:cNvPr id="4" name="灯片编号占位符 3">
            <a:extLst>
              <a:ext uri="{FF2B5EF4-FFF2-40B4-BE49-F238E27FC236}">
                <a16:creationId xmlns:a16="http://schemas.microsoft.com/office/drawing/2014/main" id="{AF873CA9-D3B4-4F30-9FC8-97C2D0DFC3C1}"/>
              </a:ext>
            </a:extLst>
          </p:cNvPr>
          <p:cNvSpPr>
            <a:spLocks noGrp="1"/>
          </p:cNvSpPr>
          <p:nvPr>
            <p:ph type="sldNum" sz="quarter" idx="12"/>
          </p:nvPr>
        </p:nvSpPr>
        <p:spPr/>
        <p:txBody>
          <a:bodyPr/>
          <a:lstStyle/>
          <a:p>
            <a:fld id="{5AD84F5B-1672-4D3F-9FEC-5DF89A7B7912}" type="slidenum">
              <a:rPr lang="zh-CN" altLang="en-US" smtClean="0"/>
              <a:t>21</a:t>
            </a:fld>
            <a:endParaRPr lang="zh-CN" altLang="en-US"/>
          </a:p>
        </p:txBody>
      </p:sp>
      <p:sp>
        <p:nvSpPr>
          <p:cNvPr id="5" name="文本框 4">
            <a:extLst>
              <a:ext uri="{FF2B5EF4-FFF2-40B4-BE49-F238E27FC236}">
                <a16:creationId xmlns:a16="http://schemas.microsoft.com/office/drawing/2014/main" id="{D57D9B15-9794-4B1C-989A-8B45DBD73588}"/>
              </a:ext>
            </a:extLst>
          </p:cNvPr>
          <p:cNvSpPr txBox="1"/>
          <p:nvPr/>
        </p:nvSpPr>
        <p:spPr>
          <a:xfrm>
            <a:off x="264319" y="1543679"/>
            <a:ext cx="8518684" cy="1032510"/>
          </a:xfrm>
          <a:prstGeom prst="rect">
            <a:avLst/>
          </a:prstGeom>
        </p:spPr>
        <p:txBody>
          <a:bodyPr>
            <a:noAutofit/>
          </a:bodyPr>
          <a:lstStyle/>
          <a:p>
            <a:pPr marL="257175" indent="-257175" algn="just" defTabSz="200025">
              <a:lnSpc>
                <a:spcPct val="13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数据预处理。</a:t>
            </a:r>
            <a:r>
              <a:rPr lang="zh-CN" altLang="en-US" dirty="0">
                <a:latin typeface="微软雅黑" panose="020B0503020204020204" pitchFamily="34" charset="-122"/>
                <a:ea typeface="微软雅黑" panose="020B0503020204020204" pitchFamily="34" charset="-122"/>
              </a:rPr>
              <a:t>导入数据后使用</a:t>
            </a:r>
            <a:r>
              <a:rPr lang="en-US" altLang="zh-CN" dirty="0">
                <a:latin typeface="微软雅黑" panose="020B0503020204020204" pitchFamily="34" charset="-122"/>
                <a:ea typeface="微软雅黑" panose="020B0503020204020204" pitchFamily="34" charset="-122"/>
              </a:rPr>
              <a:t>lambda</a:t>
            </a:r>
            <a:r>
              <a:rPr lang="zh-CN" altLang="en-US" dirty="0">
                <a:latin typeface="微软雅黑" panose="020B0503020204020204" pitchFamily="34" charset="-122"/>
                <a:ea typeface="微软雅黑" panose="020B0503020204020204" pitchFamily="34" charset="-122"/>
              </a:rPr>
              <a:t>函数和</a:t>
            </a:r>
            <a:r>
              <a:rPr lang="en-US" altLang="zh-CN" dirty="0">
                <a:latin typeface="微软雅黑" panose="020B0503020204020204" pitchFamily="34" charset="-122"/>
                <a:ea typeface="微软雅黑" panose="020B0503020204020204" pitchFamily="34" charset="-122"/>
              </a:rPr>
              <a:t>apply</a:t>
            </a:r>
            <a:r>
              <a:rPr lang="zh-CN" altLang="en-US" dirty="0">
                <a:latin typeface="微软雅黑" panose="020B0503020204020204" pitchFamily="34" charset="-122"/>
                <a:ea typeface="微软雅黑" panose="020B0503020204020204" pitchFamily="34" charset="-122"/>
              </a:rPr>
              <a:t>方法，将亚马逊评论数据集中的</a:t>
            </a:r>
            <a:r>
              <a:rPr lang="en-US" altLang="zh-CN" dirty="0" err="1">
                <a:latin typeface="微软雅黑" panose="020B0503020204020204" pitchFamily="34" charset="-122"/>
                <a:ea typeface="微软雅黑" panose="020B0503020204020204" pitchFamily="34" charset="-122"/>
              </a:rPr>
              <a:t>star_rating</a:t>
            </a:r>
            <a:r>
              <a:rPr lang="zh-CN" altLang="en-US" dirty="0">
                <a:latin typeface="微软雅黑" panose="020B0503020204020204" pitchFamily="34" charset="-122"/>
                <a:ea typeface="微软雅黑" panose="020B0503020204020204" pitchFamily="34" charset="-122"/>
              </a:rPr>
              <a:t>星级评分进行逻辑判断并转换为定序数据</a:t>
            </a:r>
            <a:r>
              <a:rPr lang="en-US" altLang="zh-CN" dirty="0" err="1">
                <a:latin typeface="微软雅黑" panose="020B0503020204020204" pitchFamily="34" charset="-122"/>
                <a:ea typeface="微软雅黑" panose="020B0503020204020204" pitchFamily="34" charset="-122"/>
              </a:rPr>
              <a:t>ordinal_rating</a:t>
            </a:r>
            <a:r>
              <a:rPr lang="zh-CN" altLang="en-US" dirty="0">
                <a:latin typeface="微软雅黑" panose="020B0503020204020204" pitchFamily="34" charset="-122"/>
                <a:ea typeface="微软雅黑" panose="020B0503020204020204" pitchFamily="34" charset="-122"/>
              </a:rPr>
              <a:t>，具体为：将</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星评分设为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星评分设为</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4-5</a:t>
            </a:r>
            <a:r>
              <a:rPr lang="zh-CN" altLang="en-US" dirty="0">
                <a:latin typeface="微软雅黑" panose="020B0503020204020204" pitchFamily="34" charset="-122"/>
                <a:ea typeface="微软雅黑" panose="020B0503020204020204" pitchFamily="34" charset="-122"/>
              </a:rPr>
              <a:t>星评分设为</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p>
          <a:p>
            <a:pPr marL="257175" indent="-257175" algn="just" defTabSz="200025">
              <a:lnSpc>
                <a:spcPct val="13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计算相关系数。</a:t>
            </a:r>
            <a:r>
              <a:rPr lang="zh-CN" altLang="en-US" dirty="0">
                <a:latin typeface="微软雅黑" panose="020B0503020204020204" pitchFamily="34" charset="-122"/>
                <a:ea typeface="微软雅黑" panose="020B0503020204020204" pitchFamily="34" charset="-122"/>
              </a:rPr>
              <a:t>使用来自</a:t>
            </a:r>
            <a:r>
              <a:rPr lang="en-US" altLang="zh-CN" dirty="0" err="1">
                <a:latin typeface="微软雅黑" panose="020B0503020204020204" pitchFamily="34" charset="-122"/>
                <a:ea typeface="微软雅黑" panose="020B0503020204020204" pitchFamily="34" charset="-122"/>
              </a:rPr>
              <a:t>scipy.stats</a:t>
            </a:r>
            <a:r>
              <a:rPr lang="zh-CN" altLang="en-US" dirty="0">
                <a:latin typeface="微软雅黑" panose="020B0503020204020204" pitchFamily="34" charset="-122"/>
                <a:ea typeface="微软雅黑" panose="020B0503020204020204" pitchFamily="34" charset="-122"/>
              </a:rPr>
              <a:t>库的统计函数</a:t>
            </a:r>
            <a:r>
              <a:rPr lang="en-US" altLang="zh-CN" dirty="0" err="1">
                <a:latin typeface="微软雅黑" panose="020B0503020204020204" pitchFamily="34" charset="-122"/>
                <a:ea typeface="微软雅黑" panose="020B0503020204020204" pitchFamily="34" charset="-122"/>
              </a:rPr>
              <a:t>kendalltau</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spearmanr</a:t>
            </a:r>
            <a:r>
              <a:rPr lang="zh-CN" altLang="en-US" dirty="0">
                <a:latin typeface="微软雅黑" panose="020B0503020204020204" pitchFamily="34" charset="-122"/>
                <a:ea typeface="微软雅黑" panose="020B0503020204020204" pitchFamily="34" charset="-122"/>
              </a:rPr>
              <a:t>计算</a:t>
            </a:r>
            <a:r>
              <a:rPr lang="en-US" altLang="zh-CN" dirty="0" err="1">
                <a:latin typeface="微软雅黑" panose="020B0503020204020204" pitchFamily="34" charset="-122"/>
                <a:ea typeface="微软雅黑" panose="020B0503020204020204" pitchFamily="34" charset="-122"/>
              </a:rPr>
              <a:t>ordinal_rating</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helpful_votes</a:t>
            </a:r>
            <a:r>
              <a:rPr lang="zh-CN" altLang="en-US" dirty="0">
                <a:latin typeface="微软雅黑" panose="020B0503020204020204" pitchFamily="34" charset="-122"/>
                <a:ea typeface="微软雅黑" panose="020B0503020204020204" pitchFamily="34" charset="-122"/>
              </a:rPr>
              <a:t>之间的</a:t>
            </a:r>
            <a:r>
              <a:rPr lang="en-US" altLang="zh-CN" dirty="0">
                <a:latin typeface="微软雅黑" panose="020B0503020204020204" pitchFamily="34" charset="-122"/>
                <a:ea typeface="微软雅黑" panose="020B0503020204020204" pitchFamily="34" charset="-122"/>
              </a:rPr>
              <a:t>Spearman</a:t>
            </a:r>
            <a:r>
              <a:rPr lang="zh-CN" altLang="en-US" dirty="0">
                <a:latin typeface="微软雅黑" panose="020B0503020204020204" pitchFamily="34" charset="-122"/>
                <a:ea typeface="微软雅黑" panose="020B0503020204020204" pitchFamily="34" charset="-122"/>
              </a:rPr>
              <a:t>秩相关系数和</a:t>
            </a:r>
            <a:r>
              <a:rPr lang="en-US" altLang="zh-CN" dirty="0">
                <a:latin typeface="微软雅黑" panose="020B0503020204020204" pitchFamily="34" charset="-122"/>
                <a:ea typeface="微软雅黑" panose="020B0503020204020204" pitchFamily="34" charset="-122"/>
              </a:rPr>
              <a:t>Kendall</a:t>
            </a:r>
            <a:r>
              <a:rPr lang="zh-CN" altLang="en-US" dirty="0">
                <a:latin typeface="微软雅黑" panose="020B0503020204020204" pitchFamily="34" charset="-122"/>
                <a:ea typeface="微软雅黑" panose="020B0503020204020204" pitchFamily="34" charset="-122"/>
              </a:rPr>
              <a:t>等级相关系数，使用方法如下：</a:t>
            </a:r>
          </a:p>
        </p:txBody>
      </p:sp>
      <p:pic>
        <p:nvPicPr>
          <p:cNvPr id="6" name="图片 5">
            <a:extLst>
              <a:ext uri="{FF2B5EF4-FFF2-40B4-BE49-F238E27FC236}">
                <a16:creationId xmlns:a16="http://schemas.microsoft.com/office/drawing/2014/main" id="{0685B35C-4F44-416E-B262-E80DA4F391A4}"/>
              </a:ext>
            </a:extLst>
          </p:cNvPr>
          <p:cNvPicPr>
            <a:picLocks noChangeAspect="1"/>
          </p:cNvPicPr>
          <p:nvPr/>
        </p:nvPicPr>
        <p:blipFill>
          <a:blip r:embed="rId2"/>
          <a:stretch>
            <a:fillRect/>
          </a:stretch>
        </p:blipFill>
        <p:spPr>
          <a:xfrm>
            <a:off x="449144" y="4109888"/>
            <a:ext cx="8615363" cy="508635"/>
          </a:xfrm>
          <a:prstGeom prst="rect">
            <a:avLst/>
          </a:prstGeom>
        </p:spPr>
      </p:pic>
    </p:spTree>
    <p:extLst>
      <p:ext uri="{BB962C8B-B14F-4D97-AF65-F5344CB8AC3E}">
        <p14:creationId xmlns:p14="http://schemas.microsoft.com/office/powerpoint/2010/main" val="2226962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99D85-1A82-4E2E-A180-B01E9C6D2C66}"/>
              </a:ext>
            </a:extLst>
          </p:cNvPr>
          <p:cNvSpPr>
            <a:spLocks noGrp="1"/>
          </p:cNvSpPr>
          <p:nvPr>
            <p:ph type="title"/>
          </p:nvPr>
        </p:nvSpPr>
        <p:spPr/>
        <p:txBody>
          <a:bodyPr/>
          <a:lstStyle/>
          <a:p>
            <a:r>
              <a:rPr lang="zh-CN" altLang="en-US" dirty="0"/>
              <a:t>实践案例：亚马逊评论数据相关分析</a:t>
            </a:r>
          </a:p>
        </p:txBody>
      </p:sp>
      <p:sp>
        <p:nvSpPr>
          <p:cNvPr id="4" name="灯片编号占位符 3">
            <a:extLst>
              <a:ext uri="{FF2B5EF4-FFF2-40B4-BE49-F238E27FC236}">
                <a16:creationId xmlns:a16="http://schemas.microsoft.com/office/drawing/2014/main" id="{71F08F46-6BF2-418A-9AC4-A1AEDAB6DBB7}"/>
              </a:ext>
            </a:extLst>
          </p:cNvPr>
          <p:cNvSpPr>
            <a:spLocks noGrp="1"/>
          </p:cNvSpPr>
          <p:nvPr>
            <p:ph type="sldNum" sz="quarter" idx="12"/>
          </p:nvPr>
        </p:nvSpPr>
        <p:spPr/>
        <p:txBody>
          <a:bodyPr/>
          <a:lstStyle/>
          <a:p>
            <a:fld id="{5AD84F5B-1672-4D3F-9FEC-5DF89A7B7912}" type="slidenum">
              <a:rPr lang="zh-CN" altLang="en-US" smtClean="0"/>
              <a:t>22</a:t>
            </a:fld>
            <a:endParaRPr lang="zh-CN" altLang="en-US"/>
          </a:p>
        </p:txBody>
      </p:sp>
      <p:sp>
        <p:nvSpPr>
          <p:cNvPr id="5" name="文本框 4">
            <a:extLst>
              <a:ext uri="{FF2B5EF4-FFF2-40B4-BE49-F238E27FC236}">
                <a16:creationId xmlns:a16="http://schemas.microsoft.com/office/drawing/2014/main" id="{4B39210E-8794-4A47-BF67-EDFF9161C26E}"/>
              </a:ext>
            </a:extLst>
          </p:cNvPr>
          <p:cNvSpPr txBox="1"/>
          <p:nvPr/>
        </p:nvSpPr>
        <p:spPr>
          <a:xfrm>
            <a:off x="216552" y="1350888"/>
            <a:ext cx="8518684" cy="1032510"/>
          </a:xfrm>
          <a:prstGeom prst="rect">
            <a:avLst/>
          </a:prstGeom>
        </p:spPr>
        <p:txBody>
          <a:bodyPr>
            <a:noAutofit/>
          </a:bodyPr>
          <a:lstStyle/>
          <a:p>
            <a:pPr algn="just" defTabSz="200025">
              <a:lnSpc>
                <a:spcPct val="125000"/>
              </a:lnSpc>
              <a:spcBef>
                <a:spcPct val="0"/>
              </a:spcBef>
              <a:spcAft>
                <a:spcPct val="0"/>
              </a:spcAft>
            </a:pPr>
            <a:r>
              <a:rPr lang="zh-CN" altLang="en-US" b="1">
                <a:solidFill>
                  <a:srgbClr val="FF0000"/>
                </a:solidFill>
                <a:latin typeface="微软雅黑" panose="020B0503020204020204" pitchFamily="34" charset="-122"/>
                <a:ea typeface="微软雅黑" panose="020B0503020204020204" pitchFamily="34" charset="-122"/>
              </a:rPr>
              <a:t>完整代码和输出结果：</a:t>
            </a:r>
          </a:p>
        </p:txBody>
      </p:sp>
      <p:pic>
        <p:nvPicPr>
          <p:cNvPr id="6" name="图片 5">
            <a:extLst>
              <a:ext uri="{FF2B5EF4-FFF2-40B4-BE49-F238E27FC236}">
                <a16:creationId xmlns:a16="http://schemas.microsoft.com/office/drawing/2014/main" id="{3683F9AF-492E-4845-93F7-2AE6C2593194}"/>
              </a:ext>
            </a:extLst>
          </p:cNvPr>
          <p:cNvPicPr>
            <a:picLocks noChangeAspect="1"/>
          </p:cNvPicPr>
          <p:nvPr/>
        </p:nvPicPr>
        <p:blipFill>
          <a:blip r:embed="rId2"/>
          <a:stretch>
            <a:fillRect/>
          </a:stretch>
        </p:blipFill>
        <p:spPr>
          <a:xfrm>
            <a:off x="275130" y="1784276"/>
            <a:ext cx="6480810" cy="2443639"/>
          </a:xfrm>
          <a:prstGeom prst="rect">
            <a:avLst/>
          </a:prstGeom>
        </p:spPr>
      </p:pic>
      <p:pic>
        <p:nvPicPr>
          <p:cNvPr id="7" name="图片 6">
            <a:extLst>
              <a:ext uri="{FF2B5EF4-FFF2-40B4-BE49-F238E27FC236}">
                <a16:creationId xmlns:a16="http://schemas.microsoft.com/office/drawing/2014/main" id="{E460F106-86F8-4E49-9526-A5B66D3D4987}"/>
              </a:ext>
            </a:extLst>
          </p:cNvPr>
          <p:cNvPicPr>
            <a:picLocks noChangeAspect="1"/>
          </p:cNvPicPr>
          <p:nvPr/>
        </p:nvPicPr>
        <p:blipFill>
          <a:blip r:embed="rId3"/>
          <a:stretch>
            <a:fillRect/>
          </a:stretch>
        </p:blipFill>
        <p:spPr>
          <a:xfrm>
            <a:off x="275607" y="4280778"/>
            <a:ext cx="6480334" cy="1028700"/>
          </a:xfrm>
          <a:prstGeom prst="rect">
            <a:avLst/>
          </a:prstGeom>
        </p:spPr>
      </p:pic>
      <p:sp>
        <p:nvSpPr>
          <p:cNvPr id="8" name="文本框 7">
            <a:extLst>
              <a:ext uri="{FF2B5EF4-FFF2-40B4-BE49-F238E27FC236}">
                <a16:creationId xmlns:a16="http://schemas.microsoft.com/office/drawing/2014/main" id="{5C8E933A-7757-4758-92A8-6FD0BD2AA053}"/>
              </a:ext>
            </a:extLst>
          </p:cNvPr>
          <p:cNvSpPr txBox="1"/>
          <p:nvPr/>
        </p:nvSpPr>
        <p:spPr>
          <a:xfrm>
            <a:off x="6894053" y="2573899"/>
            <a:ext cx="2120741" cy="1955006"/>
          </a:xfrm>
          <a:prstGeom prst="rect">
            <a:avLst/>
          </a:prstGeom>
          <a:noFill/>
          <a:effectLst/>
        </p:spPr>
        <p:txBody>
          <a:bodyPr wrap="square" rtlCol="0" anchor="t">
            <a:noAutofit/>
          </a:bodyPr>
          <a:lstStyle/>
          <a:p>
            <a:r>
              <a:rPr lang="en-US" altLang="zh-C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Kendall</a:t>
            </a:r>
            <a:r>
              <a:rPr lang="zh-CN" altLang="en-US">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相关系数的值比</a:t>
            </a:r>
            <a:r>
              <a:rPr lang="en-US" altLang="zh-C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Spearman</a:t>
            </a:r>
            <a:r>
              <a:rPr lang="zh-CN" altLang="en-US">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相关系数更高，说明</a:t>
            </a:r>
            <a:r>
              <a:rPr lang="zh-CN" altLang="en-US">
                <a:solidFill>
                  <a:srgbClr val="C0504D"/>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商品评分和评论的有用程度</a:t>
            </a:r>
            <a:r>
              <a:rPr lang="zh-CN" altLang="en-US">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之间的顺序关系更加明显，</a:t>
            </a:r>
            <a:r>
              <a:rPr lang="zh-CN" altLang="en-US">
                <a:solidFill>
                  <a:srgbClr val="C0504D"/>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等级关系更强</a:t>
            </a:r>
            <a:r>
              <a:rPr lang="zh-CN" altLang="en-US">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2814656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“距离”度量</a:t>
            </a:r>
            <a:endParaRPr lang="zh-CN" altLang="en-US" dirty="0"/>
          </a:p>
        </p:txBody>
      </p:sp>
      <p:sp>
        <p:nvSpPr>
          <p:cNvPr id="5" name="内容占位符 4"/>
          <p:cNvSpPr>
            <a:spLocks noGrp="1"/>
          </p:cNvSpPr>
          <p:nvPr>
            <p:ph idx="1"/>
          </p:nvPr>
        </p:nvSpPr>
        <p:spPr/>
        <p:txBody>
          <a:bodyPr/>
          <a:lstStyle/>
          <a:p>
            <a:r>
              <a:rPr lang="zh-CN" altLang="zh-CN"/>
              <a:t>欧几里得距离</a:t>
            </a:r>
            <a:r>
              <a:rPr lang="en-US" altLang="zh-CN"/>
              <a:t>Euclidean Distance</a:t>
            </a:r>
          </a:p>
          <a:p>
            <a:pPr lvl="1"/>
            <a:r>
              <a:rPr lang="zh-CN" altLang="zh-CN"/>
              <a:t>对于</a:t>
            </a:r>
            <a:r>
              <a:rPr lang="en-US" altLang="zh-CN"/>
              <a:t>n</a:t>
            </a:r>
            <a:r>
              <a:rPr lang="zh-CN" altLang="zh-CN"/>
              <a:t>维数据</a:t>
            </a:r>
            <a:r>
              <a:rPr lang="en-US" altLang="zh-CN"/>
              <a:t>X={x1</a:t>
            </a:r>
            <a:r>
              <a:rPr lang="zh-CN" altLang="zh-CN"/>
              <a:t>，</a:t>
            </a:r>
            <a:r>
              <a:rPr lang="en-US" altLang="zh-CN"/>
              <a:t>x2</a:t>
            </a:r>
            <a:r>
              <a:rPr lang="zh-CN" altLang="zh-CN"/>
              <a:t>，…，</a:t>
            </a:r>
            <a:r>
              <a:rPr lang="en-US" altLang="zh-CN"/>
              <a:t>xn}</a:t>
            </a:r>
            <a:r>
              <a:rPr lang="zh-CN" altLang="zh-CN"/>
              <a:t>，</a:t>
            </a:r>
            <a:r>
              <a:rPr lang="en-US" altLang="zh-CN"/>
              <a:t>Y={y1</a:t>
            </a:r>
            <a:r>
              <a:rPr lang="zh-CN" altLang="zh-CN"/>
              <a:t>，</a:t>
            </a:r>
            <a:r>
              <a:rPr lang="en-US" altLang="zh-CN"/>
              <a:t>y2</a:t>
            </a:r>
            <a:r>
              <a:rPr lang="zh-CN" altLang="zh-CN"/>
              <a:t>，…，</a:t>
            </a:r>
            <a:r>
              <a:rPr lang="en-US" altLang="zh-CN"/>
              <a:t>yn}</a:t>
            </a:r>
            <a:r>
              <a:rPr lang="zh-CN" altLang="zh-CN"/>
              <a:t>，其欧几里得距离为</a:t>
            </a:r>
          </a:p>
          <a:p>
            <a:pPr lvl="1"/>
            <a:endParaRPr lang="zh-CN" altLang="en-US" dirty="0"/>
          </a:p>
        </p:txBody>
      </p:sp>
      <p:sp>
        <p:nvSpPr>
          <p:cNvPr id="6" name="Rectangle 2"/>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148138754"/>
              </p:ext>
            </p:extLst>
          </p:nvPr>
        </p:nvGraphicFramePr>
        <p:xfrm>
          <a:off x="2106038" y="2489817"/>
          <a:ext cx="2667000" cy="705971"/>
        </p:xfrm>
        <a:graphic>
          <a:graphicData uri="http://schemas.openxmlformats.org/presentationml/2006/ole">
            <mc:AlternateContent xmlns:mc="http://schemas.openxmlformats.org/markup-compatibility/2006">
              <mc:Choice xmlns:v="urn:schemas-microsoft-com:vml" Requires="v">
                <p:oleObj spid="_x0000_s16391" name="公式" r:id="rId3" imgW="1688367" imgH="482391" progId="Equation.3">
                  <p:embed/>
                </p:oleObj>
              </mc:Choice>
              <mc:Fallback>
                <p:oleObj name="公式" r:id="rId3" imgW="1688367" imgH="482391" progId="Equation.3">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6038" y="2489817"/>
                        <a:ext cx="2667000" cy="705971"/>
                      </a:xfrm>
                      <a:prstGeom prst="rect">
                        <a:avLst/>
                      </a:prstGeom>
                      <a:noFill/>
                    </p:spPr>
                  </p:pic>
                </p:oleObj>
              </mc:Fallback>
            </mc:AlternateContent>
          </a:graphicData>
        </a:graphic>
      </p:graphicFrame>
      <p:sp>
        <p:nvSpPr>
          <p:cNvPr id="8" name="矩形 7"/>
          <p:cNvSpPr/>
          <p:nvPr/>
        </p:nvSpPr>
        <p:spPr>
          <a:xfrm>
            <a:off x="1072030" y="3724712"/>
            <a:ext cx="7402016" cy="1865126"/>
          </a:xfrm>
          <a:prstGeom prst="rect">
            <a:avLst/>
          </a:prstGeom>
        </p:spPr>
        <p:txBody>
          <a:bodyPr wrap="square">
            <a:spAutoFit/>
          </a:bodyPr>
          <a:lstStyle/>
          <a:p>
            <a:pPr>
              <a:lnSpc>
                <a:spcPct val="120000"/>
              </a:lnSpc>
            </a:pPr>
            <a:r>
              <a:rPr lang="zh-CN" altLang="zh-CN" sz="2400" dirty="0">
                <a:latin typeface="Times New Roman" pitchFamily="18" charset="0"/>
                <a:ea typeface="华文细黑" pitchFamily="2" charset="-122"/>
                <a:cs typeface="Times New Roman" pitchFamily="18" charset="0"/>
              </a:rPr>
              <a:t>在二维空间中的欧几里得距离就是平面中两点之间的实际距离。</a:t>
            </a:r>
            <a:endParaRPr lang="en-US" altLang="zh-CN" sz="2400" dirty="0">
              <a:latin typeface="Times New Roman" pitchFamily="18" charset="0"/>
              <a:ea typeface="华文细黑" pitchFamily="2" charset="-122"/>
              <a:cs typeface="Times New Roman" pitchFamily="18" charset="0"/>
            </a:endParaRPr>
          </a:p>
          <a:p>
            <a:pPr>
              <a:lnSpc>
                <a:spcPct val="120000"/>
              </a:lnSpc>
            </a:pPr>
            <a:r>
              <a:rPr lang="zh-CN" altLang="zh-CN" sz="2400" dirty="0">
                <a:latin typeface="Times New Roman" pitchFamily="18" charset="0"/>
                <a:ea typeface="华文细黑" pitchFamily="2" charset="-122"/>
                <a:cs typeface="Times New Roman" pitchFamily="18" charset="0"/>
              </a:rPr>
              <a:t>在三维空间中的欧几里得距离就是立体（三维）空间中两点之间的实际距离。</a:t>
            </a:r>
          </a:p>
        </p:txBody>
      </p:sp>
    </p:spTree>
    <p:extLst>
      <p:ext uri="{BB962C8B-B14F-4D97-AF65-F5344CB8AC3E}">
        <p14:creationId xmlns:p14="http://schemas.microsoft.com/office/powerpoint/2010/main" val="125739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“距离”度量</a:t>
            </a:r>
            <a:endParaRPr lang="zh-CN" altLang="en-US" dirty="0"/>
          </a:p>
        </p:txBody>
      </p:sp>
      <p:sp>
        <p:nvSpPr>
          <p:cNvPr id="5" name="内容占位符 4"/>
          <p:cNvSpPr>
            <a:spLocks noGrp="1"/>
          </p:cNvSpPr>
          <p:nvPr>
            <p:ph idx="1"/>
          </p:nvPr>
        </p:nvSpPr>
        <p:spPr/>
        <p:txBody>
          <a:bodyPr/>
          <a:lstStyle/>
          <a:p>
            <a:r>
              <a:rPr lang="zh-CN" altLang="en-US" dirty="0"/>
              <a:t>曼哈顿距离</a:t>
            </a:r>
            <a:endParaRPr lang="en-US" altLang="zh-CN" dirty="0"/>
          </a:p>
          <a:p>
            <a:pPr lvl="1"/>
            <a:r>
              <a:rPr lang="zh-CN" altLang="zh-CN" dirty="0"/>
              <a:t>对于</a:t>
            </a:r>
            <a:r>
              <a:rPr lang="en-US" altLang="zh-CN" i="1" dirty="0"/>
              <a:t>n</a:t>
            </a:r>
            <a:r>
              <a:rPr lang="zh-CN" altLang="zh-CN" dirty="0"/>
              <a:t>维数据</a:t>
            </a:r>
            <a:r>
              <a:rPr lang="en-US" altLang="zh-CN" dirty="0"/>
              <a:t> </a:t>
            </a:r>
            <a:r>
              <a:rPr lang="en-US" altLang="zh-CN" i="1" dirty="0"/>
              <a:t>X</a:t>
            </a:r>
            <a:r>
              <a:rPr lang="en-US" altLang="zh-CN" dirty="0"/>
              <a:t>={</a:t>
            </a:r>
            <a:r>
              <a:rPr lang="en-US" altLang="zh-CN" i="1" dirty="0"/>
              <a:t>x</a:t>
            </a:r>
            <a:r>
              <a:rPr lang="en-US" altLang="zh-CN" i="1" baseline="-25000" dirty="0"/>
              <a:t>1</a:t>
            </a:r>
            <a:r>
              <a:rPr lang="zh-CN" altLang="zh-CN" dirty="0"/>
              <a:t>，</a:t>
            </a:r>
            <a:r>
              <a:rPr lang="en-US" altLang="zh-CN" i="1" dirty="0"/>
              <a:t>x</a:t>
            </a:r>
            <a:r>
              <a:rPr lang="en-US" altLang="zh-CN" i="1" baseline="-25000" dirty="0"/>
              <a:t>2</a:t>
            </a:r>
            <a:r>
              <a:rPr lang="zh-CN" altLang="zh-CN" dirty="0"/>
              <a:t>，…，</a:t>
            </a:r>
            <a:r>
              <a:rPr lang="en-US" altLang="zh-CN" i="1" dirty="0" err="1"/>
              <a:t>x</a:t>
            </a:r>
            <a:r>
              <a:rPr lang="en-US" altLang="zh-CN" i="1" baseline="-25000" dirty="0" err="1"/>
              <a:t>n</a:t>
            </a:r>
            <a:r>
              <a:rPr lang="en-US" altLang="zh-CN" dirty="0"/>
              <a:t>}</a:t>
            </a:r>
            <a:r>
              <a:rPr lang="zh-CN" altLang="zh-CN" dirty="0"/>
              <a:t>，</a:t>
            </a:r>
            <a:r>
              <a:rPr lang="en-US" altLang="zh-CN" i="1" dirty="0"/>
              <a:t>Y</a:t>
            </a:r>
            <a:r>
              <a:rPr lang="en-US" altLang="zh-CN" dirty="0"/>
              <a:t>={</a:t>
            </a:r>
            <a:r>
              <a:rPr lang="en-US" altLang="zh-CN" i="1" dirty="0"/>
              <a:t>y</a:t>
            </a:r>
            <a:r>
              <a:rPr lang="en-US" altLang="zh-CN" i="1" baseline="-25000" dirty="0"/>
              <a:t>1</a:t>
            </a:r>
            <a:r>
              <a:rPr lang="zh-CN" altLang="zh-CN" dirty="0"/>
              <a:t>，</a:t>
            </a:r>
            <a:r>
              <a:rPr lang="en-US" altLang="zh-CN" i="1" dirty="0"/>
              <a:t>y</a:t>
            </a:r>
            <a:r>
              <a:rPr lang="en-US" altLang="zh-CN" i="1" baseline="-25000" dirty="0"/>
              <a:t>2</a:t>
            </a:r>
            <a:r>
              <a:rPr lang="zh-CN" altLang="zh-CN" dirty="0"/>
              <a:t>，…，</a:t>
            </a:r>
            <a:r>
              <a:rPr lang="en-US" altLang="zh-CN" i="1" dirty="0" err="1"/>
              <a:t>y</a:t>
            </a:r>
            <a:r>
              <a:rPr lang="en-US" altLang="zh-CN" i="1" baseline="-25000" dirty="0" err="1"/>
              <a:t>n</a:t>
            </a:r>
            <a:r>
              <a:rPr lang="en-US" altLang="zh-CN" dirty="0"/>
              <a:t>}</a:t>
            </a:r>
            <a:r>
              <a:rPr lang="zh-CN" altLang="zh-CN" dirty="0"/>
              <a:t>，</a:t>
            </a:r>
            <a:r>
              <a:rPr lang="zh-CN" altLang="en-US" dirty="0"/>
              <a:t>其曼哈顿距离为</a:t>
            </a:r>
          </a:p>
        </p:txBody>
      </p:sp>
      <p:graphicFrame>
        <p:nvGraphicFramePr>
          <p:cNvPr id="4" name="对象 3"/>
          <p:cNvGraphicFramePr>
            <a:graphicFrameLocks noChangeAspect="1"/>
          </p:cNvGraphicFramePr>
          <p:nvPr/>
        </p:nvGraphicFramePr>
        <p:xfrm>
          <a:off x="990600" y="3304064"/>
          <a:ext cx="2362200" cy="659787"/>
        </p:xfrm>
        <a:graphic>
          <a:graphicData uri="http://schemas.openxmlformats.org/presentationml/2006/ole">
            <mc:AlternateContent xmlns:mc="http://schemas.openxmlformats.org/markup-compatibility/2006">
              <mc:Choice xmlns:v="urn:schemas-microsoft-com:vml" Requires="v">
                <p:oleObj spid="_x0000_s17415" name="公式" r:id="rId3" imgW="1435100" imgH="431800" progId="Equation.3">
                  <p:embed/>
                </p:oleObj>
              </mc:Choice>
              <mc:Fallback>
                <p:oleObj name="公式" r:id="rId3" imgW="1435100" imgH="4318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304064"/>
                        <a:ext cx="2362200" cy="659787"/>
                      </a:xfrm>
                      <a:prstGeom prst="rect">
                        <a:avLst/>
                      </a:prstGeom>
                      <a:noFill/>
                    </p:spPr>
                  </p:pic>
                </p:oleObj>
              </mc:Fallback>
            </mc:AlternateContent>
          </a:graphicData>
        </a:graphic>
      </p:graphicFrame>
      <p:grpSp>
        <p:nvGrpSpPr>
          <p:cNvPr id="9" name="画布 5"/>
          <p:cNvGrpSpPr/>
          <p:nvPr/>
        </p:nvGrpSpPr>
        <p:grpSpPr>
          <a:xfrm>
            <a:off x="5101119" y="2674621"/>
            <a:ext cx="3890483" cy="3188237"/>
            <a:chOff x="0" y="0"/>
            <a:chExt cx="2493010" cy="2167255"/>
          </a:xfrm>
        </p:grpSpPr>
        <p:sp>
          <p:nvSpPr>
            <p:cNvPr id="10" name="矩形 9"/>
            <p:cNvSpPr/>
            <p:nvPr/>
          </p:nvSpPr>
          <p:spPr>
            <a:xfrm>
              <a:off x="0" y="0"/>
              <a:ext cx="2493010" cy="2167255"/>
            </a:xfrm>
            <a:prstGeom prst="rect">
              <a:avLst/>
            </a:prstGeom>
          </p:spPr>
        </p:sp>
        <p:cxnSp>
          <p:nvCxnSpPr>
            <p:cNvPr id="11" name="直接箭头连接符 10"/>
            <p:cNvCxnSpPr/>
            <p:nvPr/>
          </p:nvCxnSpPr>
          <p:spPr>
            <a:xfrm>
              <a:off x="164719" y="2087994"/>
              <a:ext cx="2232000" cy="0"/>
            </a:xfrm>
            <a:prstGeom prst="straightConnector1">
              <a:avLst/>
            </a:prstGeom>
            <a:ln>
              <a:solidFill>
                <a:schemeClr val="tx1"/>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rot="16200000">
              <a:off x="-861281" y="1061945"/>
              <a:ext cx="2052000" cy="0"/>
            </a:xfrm>
            <a:prstGeom prst="straightConnector1">
              <a:avLst/>
            </a:prstGeom>
            <a:ln>
              <a:solidFill>
                <a:schemeClr val="tx1"/>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13" name="肘形连接符 12"/>
            <p:cNvCxnSpPr/>
            <p:nvPr/>
          </p:nvCxnSpPr>
          <p:spPr>
            <a:xfrm rot="5400000">
              <a:off x="571369" y="1079748"/>
              <a:ext cx="576000" cy="286247"/>
            </a:xfrm>
            <a:prstGeom prst="bentConnector3">
              <a:avLst/>
            </a:prstGeom>
            <a:ln>
              <a:solidFill>
                <a:schemeClr val="tx1"/>
              </a:solidFill>
              <a:headEnd type="none" w="med" len="med"/>
              <a:tailEnd type="oval" w="sm" len="sm"/>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997214" y="650031"/>
              <a:ext cx="575310" cy="288000"/>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肘形连接符 14"/>
            <p:cNvCxnSpPr/>
            <p:nvPr/>
          </p:nvCxnSpPr>
          <p:spPr>
            <a:xfrm rot="5400000">
              <a:off x="1570185" y="364124"/>
              <a:ext cx="288000" cy="288000"/>
            </a:xfrm>
            <a:prstGeom prst="bentConnector3">
              <a:avLst>
                <a:gd name="adj1" fmla="val 215"/>
              </a:avLst>
            </a:prstGeom>
            <a:ln>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6" name="文本框 8"/>
            <p:cNvSpPr txBox="1"/>
            <p:nvPr/>
          </p:nvSpPr>
          <p:spPr>
            <a:xfrm>
              <a:off x="1858180" y="194651"/>
              <a:ext cx="389076" cy="22535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defPPr>
                <a:defRPr lang="en-US"/>
              </a:defPPr>
              <a:lvl1pPr algn="just">
                <a:spcAft>
                  <a:spcPts val="0"/>
                </a:spcAft>
                <a:defRPr sz="2400" b="0" kern="100">
                  <a:effectLst/>
                  <a:latin typeface="Times New Roman" pitchFamily="18" charset="0"/>
                  <a:ea typeface="宋体"/>
                  <a:cs typeface="Times New Roman" pitchFamily="18" charset="0"/>
                </a:defRPr>
              </a:lvl1pPr>
            </a:lstStyle>
            <a:p>
              <a:r>
                <a:rPr lang="en-US" dirty="0"/>
                <a:t>(6,6)</a:t>
              </a:r>
              <a:endParaRPr lang="zh-CN" altLang="en-US" dirty="0"/>
            </a:p>
          </p:txBody>
        </p:sp>
        <p:sp>
          <p:nvSpPr>
            <p:cNvPr id="17" name="文本框 209"/>
            <p:cNvSpPr txBox="1"/>
            <p:nvPr/>
          </p:nvSpPr>
          <p:spPr>
            <a:xfrm>
              <a:off x="716252" y="1527431"/>
              <a:ext cx="389076" cy="22535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defPPr>
                <a:defRPr lang="en-US"/>
              </a:defPPr>
              <a:lvl1pPr algn="just">
                <a:spcAft>
                  <a:spcPts val="0"/>
                </a:spcAft>
                <a:defRPr sz="2400" b="0" kern="100">
                  <a:effectLst/>
                  <a:latin typeface="Times New Roman" pitchFamily="18" charset="0"/>
                  <a:ea typeface="宋体"/>
                  <a:cs typeface="Times New Roman" pitchFamily="18" charset="0"/>
                </a:defRPr>
              </a:lvl1pPr>
            </a:lstStyle>
            <a:p>
              <a:r>
                <a:rPr lang="en-US" dirty="0"/>
                <a:t>(2,2)</a:t>
              </a:r>
              <a:endParaRPr lang="zh-CN" altLang="en-US" dirty="0"/>
            </a:p>
          </p:txBody>
        </p:sp>
        <p:cxnSp>
          <p:nvCxnSpPr>
            <p:cNvPr id="18" name="直接箭头连接符 17"/>
            <p:cNvCxnSpPr/>
            <p:nvPr/>
          </p:nvCxnSpPr>
          <p:spPr>
            <a:xfrm flipH="1">
              <a:off x="762624" y="415383"/>
              <a:ext cx="1148482" cy="1178831"/>
            </a:xfrm>
            <a:prstGeom prst="straightConnector1">
              <a:avLst/>
            </a:prstGeom>
            <a:ln>
              <a:solidFill>
                <a:schemeClr val="tx1"/>
              </a:solidFill>
              <a:prstDash val="dash"/>
              <a:headEnd type="stealth" w="sm" len="med"/>
              <a:tailEnd type="stealth" w="sm" len="med"/>
            </a:ln>
          </p:spPr>
          <p:style>
            <a:lnRef idx="1">
              <a:schemeClr val="accent1"/>
            </a:lnRef>
            <a:fillRef idx="0">
              <a:schemeClr val="accent1"/>
            </a:fillRef>
            <a:effectRef idx="0">
              <a:schemeClr val="accent1"/>
            </a:effectRef>
            <a:fontRef idx="minor">
              <a:schemeClr val="tx1"/>
            </a:fontRef>
          </p:style>
        </p:cxnSp>
        <p:sp>
          <p:nvSpPr>
            <p:cNvPr id="19" name="文本框 211"/>
            <p:cNvSpPr txBox="1"/>
            <p:nvPr/>
          </p:nvSpPr>
          <p:spPr>
            <a:xfrm>
              <a:off x="1276250" y="1096926"/>
              <a:ext cx="1044000" cy="22535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gn="just"/>
              <a:r>
                <a:rPr lang="zh-CN" altLang="en-US" kern="100" dirty="0">
                  <a:latin typeface="Times New Roman" pitchFamily="18" charset="0"/>
                  <a:ea typeface="华文细黑" pitchFamily="2" charset="-122"/>
                  <a:cs typeface="Times New Roman" pitchFamily="18" charset="0"/>
                </a:rPr>
                <a:t>欧几里得距离</a:t>
              </a:r>
              <a:r>
                <a:rPr lang="en-US" kern="100" dirty="0">
                  <a:latin typeface="Times New Roman" pitchFamily="18" charset="0"/>
                  <a:ea typeface="华文细黑" pitchFamily="2" charset="-122"/>
                  <a:cs typeface="Times New Roman" pitchFamily="18" charset="0"/>
                </a:rPr>
                <a:t>=5.66</a:t>
              </a:r>
              <a:endParaRPr lang="zh-CN" altLang="en-US" sz="2000" kern="100" dirty="0">
                <a:latin typeface="Times New Roman" pitchFamily="18" charset="0"/>
                <a:ea typeface="华文细黑" pitchFamily="2" charset="-122"/>
                <a:cs typeface="Times New Roman" pitchFamily="18" charset="0"/>
              </a:endParaRPr>
            </a:p>
          </p:txBody>
        </p:sp>
        <p:sp>
          <p:nvSpPr>
            <p:cNvPr id="20" name="文本框 212"/>
            <p:cNvSpPr txBox="1"/>
            <p:nvPr/>
          </p:nvSpPr>
          <p:spPr>
            <a:xfrm>
              <a:off x="497102" y="366956"/>
              <a:ext cx="724534" cy="421607"/>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r>
                <a:rPr lang="zh-CN" altLang="en-US" kern="100" dirty="0">
                  <a:latin typeface="Times New Roman" pitchFamily="18" charset="0"/>
                  <a:ea typeface="华文细黑" pitchFamily="2" charset="-122"/>
                  <a:cs typeface="Times New Roman" pitchFamily="18" charset="0"/>
                </a:rPr>
                <a:t>曼哈顿距离</a:t>
              </a:r>
              <a:endParaRPr lang="en-US" altLang="zh-CN" kern="100" dirty="0">
                <a:latin typeface="Times New Roman" pitchFamily="18" charset="0"/>
                <a:ea typeface="华文细黑" pitchFamily="2" charset="-122"/>
                <a:cs typeface="Times New Roman" pitchFamily="18" charset="0"/>
              </a:endParaRPr>
            </a:p>
            <a:p>
              <a:r>
                <a:rPr lang="en-US" kern="100" dirty="0">
                  <a:latin typeface="Times New Roman" pitchFamily="18" charset="0"/>
                  <a:ea typeface="华文细黑" pitchFamily="2" charset="-122"/>
                  <a:cs typeface="Times New Roman" pitchFamily="18" charset="0"/>
                </a:rPr>
                <a:t>=(6-2)+(6-2)</a:t>
              </a:r>
            </a:p>
            <a:p>
              <a:r>
                <a:rPr lang="en-US" kern="100" dirty="0">
                  <a:latin typeface="Times New Roman" pitchFamily="18" charset="0"/>
                  <a:ea typeface="华文细黑" pitchFamily="2" charset="-122"/>
                  <a:cs typeface="Times New Roman" pitchFamily="18" charset="0"/>
                </a:rPr>
                <a:t>=8</a:t>
              </a:r>
              <a:endParaRPr lang="zh-CN" altLang="en-US" sz="2000" kern="100" dirty="0">
                <a:latin typeface="Times New Roman" pitchFamily="18" charset="0"/>
                <a:ea typeface="华文细黑" pitchFamily="2" charset="-122"/>
                <a:cs typeface="Times New Roman" pitchFamily="18" charset="0"/>
              </a:endParaRPr>
            </a:p>
          </p:txBody>
        </p:sp>
        <p:cxnSp>
          <p:nvCxnSpPr>
            <p:cNvPr id="21" name="直接箭头连接符 20"/>
            <p:cNvCxnSpPr/>
            <p:nvPr/>
          </p:nvCxnSpPr>
          <p:spPr>
            <a:xfrm rot="5400000" flipH="1">
              <a:off x="-357765" y="974643"/>
              <a:ext cx="1152000" cy="0"/>
            </a:xfrm>
            <a:prstGeom prst="straightConnector1">
              <a:avLst/>
            </a:prstGeom>
            <a:ln>
              <a:solidFill>
                <a:schemeClr val="tx1"/>
              </a:solidFill>
              <a:prstDash val="dash"/>
              <a:headEnd type="stealth" w="sm" len="med"/>
              <a:tailEnd type="stealth" w="sm" len="med"/>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54677" y="2044157"/>
              <a:ext cx="1151890" cy="0"/>
            </a:xfrm>
            <a:prstGeom prst="straightConnector1">
              <a:avLst/>
            </a:prstGeom>
            <a:ln>
              <a:solidFill>
                <a:schemeClr val="tx1"/>
              </a:solidFill>
              <a:prstDash val="dash"/>
              <a:headEnd type="stealth" w="sm" len="med"/>
              <a:tailEnd type="stealth" w="sm" len="med"/>
            </a:ln>
          </p:spPr>
          <p:style>
            <a:lnRef idx="1">
              <a:schemeClr val="accent1"/>
            </a:lnRef>
            <a:fillRef idx="0">
              <a:schemeClr val="accent1"/>
            </a:fillRef>
            <a:effectRef idx="0">
              <a:schemeClr val="accent1"/>
            </a:effectRef>
            <a:fontRef idx="minor">
              <a:schemeClr val="tx1"/>
            </a:fontRef>
          </p:style>
        </p:cxnSp>
        <p:sp>
          <p:nvSpPr>
            <p:cNvPr id="23" name="文本框 226"/>
            <p:cNvSpPr txBox="1"/>
            <p:nvPr/>
          </p:nvSpPr>
          <p:spPr>
            <a:xfrm>
              <a:off x="243043" y="847662"/>
              <a:ext cx="108000" cy="225359"/>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defPPr>
                <a:defRPr lang="en-US"/>
              </a:defPPr>
              <a:lvl1pPr algn="just">
                <a:spcAft>
                  <a:spcPts val="0"/>
                </a:spcAft>
                <a:defRPr sz="2400" b="0" kern="100">
                  <a:effectLst/>
                  <a:latin typeface="Times New Roman" pitchFamily="18" charset="0"/>
                  <a:ea typeface="宋体"/>
                  <a:cs typeface="Times New Roman" pitchFamily="18" charset="0"/>
                </a:defRPr>
              </a:lvl1pPr>
            </a:lstStyle>
            <a:p>
              <a:r>
                <a:rPr lang="en-US" dirty="0"/>
                <a:t>4</a:t>
              </a:r>
              <a:endParaRPr lang="zh-CN" altLang="en-US" dirty="0"/>
            </a:p>
          </p:txBody>
        </p:sp>
        <p:sp>
          <p:nvSpPr>
            <p:cNvPr id="24" name="文本框 227"/>
            <p:cNvSpPr txBox="1"/>
            <p:nvPr/>
          </p:nvSpPr>
          <p:spPr>
            <a:xfrm>
              <a:off x="1293240" y="1860589"/>
              <a:ext cx="112867" cy="144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gn="just"/>
              <a:r>
                <a:rPr lang="en-US" sz="2400" kern="100" dirty="0">
                  <a:latin typeface="Times New Roman" pitchFamily="18" charset="0"/>
                  <a:ea typeface="宋体"/>
                  <a:cs typeface="Times New Roman" pitchFamily="18" charset="0"/>
                </a:rPr>
                <a:t>4</a:t>
              </a:r>
              <a:endParaRPr lang="zh-CN" altLang="en-US" sz="2000" kern="100" dirty="0">
                <a:latin typeface="Times New Roman" pitchFamily="18" charset="0"/>
                <a:ea typeface="宋体"/>
                <a:cs typeface="Times New Roman" pitchFamily="18" charset="0"/>
              </a:endParaRPr>
            </a:p>
          </p:txBody>
        </p:sp>
        <p:sp>
          <p:nvSpPr>
            <p:cNvPr id="25" name="文本框 228"/>
            <p:cNvSpPr txBox="1"/>
            <p:nvPr/>
          </p:nvSpPr>
          <p:spPr>
            <a:xfrm>
              <a:off x="2247059" y="1951668"/>
              <a:ext cx="241977" cy="180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algn="r"/>
              <a:r>
                <a:rPr lang="en-US" sz="2400" i="1" kern="100">
                  <a:latin typeface="Times New Roman"/>
                  <a:ea typeface="宋体"/>
                  <a:cs typeface="Times New Roman"/>
                </a:rPr>
                <a:t>x</a:t>
              </a:r>
              <a:endParaRPr lang="zh-CN" altLang="en-US" sz="2000" kern="100">
                <a:latin typeface="Times New Roman"/>
                <a:ea typeface="宋体"/>
                <a:cs typeface="Times New Roman"/>
              </a:endParaRPr>
            </a:p>
          </p:txBody>
        </p:sp>
        <p:sp>
          <p:nvSpPr>
            <p:cNvPr id="26" name="文本框 229"/>
            <p:cNvSpPr txBox="1"/>
            <p:nvPr/>
          </p:nvSpPr>
          <p:spPr>
            <a:xfrm>
              <a:off x="51824" y="0"/>
              <a:ext cx="241977" cy="180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r>
                <a:rPr lang="en-US" sz="2400" i="1" kern="100">
                  <a:latin typeface="Times New Roman"/>
                  <a:ea typeface="宋体"/>
                  <a:cs typeface="Times New Roman"/>
                </a:rPr>
                <a:t>y</a:t>
              </a:r>
              <a:endParaRPr lang="zh-CN" altLang="en-US" sz="2000" kern="100">
                <a:latin typeface="Times New Roman"/>
                <a:ea typeface="宋体"/>
                <a:cs typeface="Times New Roman"/>
              </a:endParaRPr>
            </a:p>
          </p:txBody>
        </p:sp>
      </p:grpSp>
    </p:spTree>
    <p:extLst>
      <p:ext uri="{BB962C8B-B14F-4D97-AF65-F5344CB8AC3E}">
        <p14:creationId xmlns:p14="http://schemas.microsoft.com/office/powerpoint/2010/main" val="3015585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“距离”度量</a:t>
            </a:r>
            <a:endParaRPr lang="zh-CN" altLang="en-US" dirty="0"/>
          </a:p>
        </p:txBody>
      </p:sp>
      <p:sp>
        <p:nvSpPr>
          <p:cNvPr id="5" name="内容占位符 4"/>
          <p:cNvSpPr>
            <a:spLocks noGrp="1"/>
          </p:cNvSpPr>
          <p:nvPr>
            <p:ph idx="1"/>
          </p:nvPr>
        </p:nvSpPr>
        <p:spPr/>
        <p:txBody>
          <a:bodyPr/>
          <a:lstStyle/>
          <a:p>
            <a:r>
              <a:rPr lang="zh-CN" altLang="en-US" dirty="0"/>
              <a:t>明可夫斯基距离</a:t>
            </a:r>
            <a:r>
              <a:rPr lang="en-US" altLang="zh-CN" dirty="0" err="1"/>
              <a:t>Minkowski</a:t>
            </a:r>
            <a:r>
              <a:rPr lang="en-US" altLang="zh-CN" dirty="0"/>
              <a:t> Distance</a:t>
            </a:r>
          </a:p>
          <a:p>
            <a:pPr lvl="1"/>
            <a:r>
              <a:rPr lang="zh-CN" altLang="zh-CN" dirty="0"/>
              <a:t>对于</a:t>
            </a:r>
            <a:r>
              <a:rPr lang="en-US" altLang="zh-CN" dirty="0"/>
              <a:t>n</a:t>
            </a:r>
            <a:r>
              <a:rPr lang="zh-CN" altLang="zh-CN" dirty="0"/>
              <a:t>维数据</a:t>
            </a:r>
            <a:r>
              <a:rPr lang="en-US" altLang="zh-CN" dirty="0"/>
              <a:t>X={x1</a:t>
            </a:r>
            <a:r>
              <a:rPr lang="zh-CN" altLang="zh-CN" dirty="0"/>
              <a:t>，</a:t>
            </a:r>
            <a:r>
              <a:rPr lang="en-US" altLang="zh-CN" dirty="0"/>
              <a:t>x2</a:t>
            </a:r>
            <a:r>
              <a:rPr lang="zh-CN" altLang="zh-CN" dirty="0"/>
              <a:t>，…，</a:t>
            </a:r>
            <a:r>
              <a:rPr lang="en-US" altLang="zh-CN" dirty="0" err="1"/>
              <a:t>xn</a:t>
            </a:r>
            <a:r>
              <a:rPr lang="en-US" altLang="zh-CN" dirty="0"/>
              <a:t>}</a:t>
            </a:r>
            <a:r>
              <a:rPr lang="zh-CN" altLang="zh-CN" dirty="0"/>
              <a:t>，</a:t>
            </a:r>
            <a:r>
              <a:rPr lang="en-US" altLang="zh-CN" dirty="0"/>
              <a:t>Y={y1</a:t>
            </a:r>
            <a:r>
              <a:rPr lang="zh-CN" altLang="zh-CN" dirty="0"/>
              <a:t>，</a:t>
            </a:r>
            <a:r>
              <a:rPr lang="en-US" altLang="zh-CN" dirty="0"/>
              <a:t>y2</a:t>
            </a:r>
            <a:r>
              <a:rPr lang="zh-CN" altLang="zh-CN" dirty="0"/>
              <a:t>，…，</a:t>
            </a:r>
            <a:r>
              <a:rPr lang="en-US" altLang="zh-CN" dirty="0" err="1"/>
              <a:t>yn</a:t>
            </a:r>
            <a:r>
              <a:rPr lang="en-US" altLang="zh-CN" dirty="0"/>
              <a:t>}</a:t>
            </a:r>
            <a:r>
              <a:rPr lang="zh-CN" altLang="zh-CN" dirty="0"/>
              <a:t>，</a:t>
            </a:r>
            <a:r>
              <a:rPr lang="zh-CN" altLang="en-US" dirty="0"/>
              <a:t>其明可夫斯基距离为</a:t>
            </a:r>
            <a:endParaRPr lang="en-US" altLang="zh-CN" dirty="0"/>
          </a:p>
          <a:p>
            <a:pPr lvl="1"/>
            <a:endParaRPr lang="en-US" altLang="zh-CN" dirty="0"/>
          </a:p>
          <a:p>
            <a:pPr lvl="1"/>
            <a:endParaRPr lang="en-US" altLang="zh-CN" dirty="0"/>
          </a:p>
          <a:p>
            <a:pPr lvl="1"/>
            <a:endParaRPr lang="en-US" altLang="zh-CN" dirty="0"/>
          </a:p>
          <a:p>
            <a:pPr lvl="1"/>
            <a:r>
              <a:rPr lang="zh-CN" altLang="en-US" dirty="0"/>
              <a:t>当</a:t>
            </a:r>
            <a:r>
              <a:rPr lang="en-US" altLang="zh-CN" dirty="0"/>
              <a:t>r=1</a:t>
            </a:r>
            <a:r>
              <a:rPr lang="zh-CN" altLang="en-US" dirty="0"/>
              <a:t>时，明可夫斯基距离为曼哈顿距离（</a:t>
            </a:r>
            <a:r>
              <a:rPr lang="en-US" altLang="zh-CN" dirty="0"/>
              <a:t>L1</a:t>
            </a:r>
            <a:r>
              <a:rPr lang="zh-CN" altLang="en-US" dirty="0"/>
              <a:t>范数）</a:t>
            </a:r>
            <a:endParaRPr lang="en-US" altLang="zh-CN" dirty="0"/>
          </a:p>
          <a:p>
            <a:pPr lvl="1"/>
            <a:r>
              <a:rPr lang="zh-CN" altLang="en-US" dirty="0"/>
              <a:t>当</a:t>
            </a:r>
            <a:r>
              <a:rPr lang="en-US" altLang="zh-CN" dirty="0"/>
              <a:t>r=2</a:t>
            </a:r>
            <a:r>
              <a:rPr lang="zh-CN" altLang="en-US" dirty="0"/>
              <a:t>时，明可夫斯基距离为欧式距离（</a:t>
            </a:r>
            <a:r>
              <a:rPr lang="en-US" altLang="zh-CN" dirty="0"/>
              <a:t>L2</a:t>
            </a:r>
            <a:r>
              <a:rPr lang="zh-CN" altLang="en-US" dirty="0"/>
              <a:t>范数）</a:t>
            </a:r>
            <a:endParaRPr lang="en-US" altLang="zh-CN" dirty="0"/>
          </a:p>
          <a:p>
            <a:pPr lvl="1"/>
            <a:r>
              <a:rPr lang="zh-CN" altLang="en-US" dirty="0"/>
              <a:t>当</a:t>
            </a:r>
            <a:r>
              <a:rPr lang="en-US" altLang="zh-CN" dirty="0"/>
              <a:t>r</a:t>
            </a:r>
            <a:r>
              <a:rPr lang="zh-CN" altLang="en-US" dirty="0"/>
              <a:t>趋近无穷时，为上确界距离（</a:t>
            </a:r>
            <a:r>
              <a:rPr lang="en-US" altLang="zh-CN" dirty="0"/>
              <a:t>L</a:t>
            </a:r>
            <a:r>
              <a:rPr lang="zh-CN" altLang="en-US" dirty="0"/>
              <a:t>无穷范数），成为切比雪夫距离</a:t>
            </a:r>
          </a:p>
        </p:txBody>
      </p:sp>
      <p:sp>
        <p:nvSpPr>
          <p:cNvPr id="6" name="Rectangle 2"/>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2428673" y="2601425"/>
          <a:ext cx="3305922" cy="827575"/>
        </p:xfrm>
        <a:graphic>
          <a:graphicData uri="http://schemas.openxmlformats.org/presentationml/2006/ole">
            <mc:AlternateContent xmlns:mc="http://schemas.openxmlformats.org/markup-compatibility/2006">
              <mc:Choice xmlns:v="urn:schemas-microsoft-com:vml" Requires="v">
                <p:oleObj spid="_x0000_s18439" name="公式" r:id="rId3" imgW="1663700" imgH="457200" progId="Equation.3">
                  <p:embed/>
                </p:oleObj>
              </mc:Choice>
              <mc:Fallback>
                <p:oleObj name="公式" r:id="rId3" imgW="1663700" imgH="457200" progId="Equation.3">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673" y="2601425"/>
                        <a:ext cx="3305922" cy="827575"/>
                      </a:xfrm>
                      <a:prstGeom prst="rect">
                        <a:avLst/>
                      </a:prstGeom>
                      <a:noFill/>
                    </p:spPr>
                  </p:pic>
                </p:oleObj>
              </mc:Fallback>
            </mc:AlternateContent>
          </a:graphicData>
        </a:graphic>
      </p:graphicFrame>
    </p:spTree>
    <p:extLst>
      <p:ext uri="{BB962C8B-B14F-4D97-AF65-F5344CB8AC3E}">
        <p14:creationId xmlns:p14="http://schemas.microsoft.com/office/powerpoint/2010/main" val="462504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相似系数</a:t>
            </a:r>
            <a:endParaRPr lang="zh-CN" altLang="en-US" dirty="0"/>
          </a:p>
        </p:txBody>
      </p:sp>
      <p:sp>
        <p:nvSpPr>
          <p:cNvPr id="3" name="内容占位符 2"/>
          <p:cNvSpPr>
            <a:spLocks noGrp="1"/>
          </p:cNvSpPr>
          <p:nvPr>
            <p:ph idx="1"/>
          </p:nvPr>
        </p:nvSpPr>
        <p:spPr/>
        <p:txBody>
          <a:bodyPr/>
          <a:lstStyle/>
          <a:p>
            <a:r>
              <a:rPr lang="zh-CN" altLang="zh-CN" dirty="0"/>
              <a:t>余弦相似度</a:t>
            </a:r>
            <a:endParaRPr lang="en-US" altLang="zh-CN" dirty="0"/>
          </a:p>
          <a:p>
            <a:pPr lvl="1"/>
            <a:r>
              <a:rPr lang="zh-CN" altLang="en-US" dirty="0"/>
              <a:t>如果</a:t>
            </a:r>
            <a:r>
              <a:rPr lang="en-US" altLang="zh-CN" dirty="0"/>
              <a:t>x</a:t>
            </a:r>
            <a:r>
              <a:rPr lang="zh-CN" altLang="en-US" dirty="0"/>
              <a:t>，</a:t>
            </a:r>
            <a:r>
              <a:rPr lang="en-US" altLang="zh-CN" dirty="0"/>
              <a:t>y</a:t>
            </a:r>
            <a:r>
              <a:rPr lang="zh-CN" altLang="en-US" dirty="0"/>
              <a:t>为两个向量，有：</a:t>
            </a:r>
            <a:endParaRPr lang="en-US" altLang="zh-CN" dirty="0"/>
          </a:p>
          <a:p>
            <a:pPr lvl="1"/>
            <a:r>
              <a:rPr lang="en-US" altLang="zh-CN" dirty="0"/>
              <a:t>        </a:t>
            </a:r>
            <a:r>
              <a:rPr lang="en-US" altLang="zh-CN" dirty="0" err="1"/>
              <a:t>cos</a:t>
            </a:r>
            <a:r>
              <a:rPr lang="en-US" altLang="zh-CN" dirty="0"/>
              <a:t>(x, y) = (x · y) / ‖ x ‖·‖ y ‖ </a:t>
            </a:r>
          </a:p>
          <a:p>
            <a:pPr lvl="1"/>
            <a:r>
              <a:rPr lang="zh-CN" altLang="en-US" dirty="0"/>
              <a:t>取值范围为</a:t>
            </a:r>
            <a:r>
              <a:rPr lang="en-US" altLang="zh-CN" dirty="0"/>
              <a:t>[-1,1]</a:t>
            </a:r>
            <a:endParaRPr lang="zh-CN" altLang="zh-CN" dirty="0"/>
          </a:p>
          <a:p>
            <a:endParaRPr lang="zh-CN" altLang="en-US" dirty="0"/>
          </a:p>
        </p:txBody>
      </p:sp>
      <mc:AlternateContent xmlns:mc="http://schemas.openxmlformats.org/markup-compatibility/2006" xmlns:a14="http://schemas.microsoft.com/office/drawing/2010/main">
        <mc:Choice Requires="a14">
          <p:sp>
            <p:nvSpPr>
              <p:cNvPr id="6" name="矩形 5"/>
              <p:cNvSpPr/>
              <p:nvPr/>
            </p:nvSpPr>
            <p:spPr>
              <a:xfrm>
                <a:off x="685800" y="3223262"/>
                <a:ext cx="8305800" cy="2310697"/>
              </a:xfrm>
              <a:prstGeom prst="rect">
                <a:avLst/>
              </a:prstGeom>
            </p:spPr>
            <p:txBody>
              <a:bodyPr wrap="square">
                <a:spAutoFit/>
              </a:bodyPr>
              <a:lstStyle/>
              <a:p>
                <a:pPr>
                  <a:lnSpc>
                    <a:spcPct val="150000"/>
                  </a:lnSpc>
                </a:pPr>
                <a:r>
                  <a:rPr lang="en-US" altLang="zh-CN" sz="2000" dirty="0">
                    <a:latin typeface="Times New Roman" pitchFamily="18" charset="0"/>
                    <a:ea typeface="华文细黑" pitchFamily="2" charset="-122"/>
                    <a:cs typeface="Times New Roman" pitchFamily="18" charset="0"/>
                  </a:rPr>
                  <a:t>【</a:t>
                </a:r>
                <a:r>
                  <a:rPr lang="zh-CN" altLang="en-US" sz="2000" dirty="0">
                    <a:latin typeface="Times New Roman" pitchFamily="18" charset="0"/>
                    <a:ea typeface="华文细黑" pitchFamily="2" charset="-122"/>
                    <a:cs typeface="Times New Roman" pitchFamily="18" charset="0"/>
                  </a:rPr>
                  <a:t>例如</a:t>
                </a:r>
                <a:r>
                  <a:rPr lang="en-US" altLang="zh-CN" sz="2000" dirty="0">
                    <a:latin typeface="Times New Roman" pitchFamily="18" charset="0"/>
                    <a:ea typeface="华文细黑" pitchFamily="2" charset="-122"/>
                    <a:cs typeface="Times New Roman" pitchFamily="18" charset="0"/>
                  </a:rPr>
                  <a:t>】x = [3 2 0 5 0 0 0 2 0 0]</a:t>
                </a:r>
                <a:r>
                  <a:rPr lang="zh-CN" altLang="en-US" sz="2000" dirty="0">
                    <a:latin typeface="Times New Roman" pitchFamily="18" charset="0"/>
                    <a:ea typeface="华文细黑" pitchFamily="2" charset="-122"/>
                    <a:cs typeface="Times New Roman" pitchFamily="18" charset="0"/>
                  </a:rPr>
                  <a:t>，</a:t>
                </a:r>
                <a:r>
                  <a:rPr lang="en-US" altLang="zh-CN" sz="2000" dirty="0">
                    <a:latin typeface="Times New Roman" pitchFamily="18" charset="0"/>
                    <a:ea typeface="华文细黑" pitchFamily="2" charset="-122"/>
                    <a:cs typeface="Times New Roman" pitchFamily="18" charset="0"/>
                  </a:rPr>
                  <a:t>y = [1 0 0 0 0 0 0 1 0 2] </a:t>
                </a:r>
              </a:p>
              <a:p>
                <a:pPr>
                  <a:lnSpc>
                    <a:spcPct val="150000"/>
                  </a:lnSpc>
                </a:pPr>
                <a:r>
                  <a:rPr lang="en-US" altLang="zh-CN" sz="2000" dirty="0">
                    <a:latin typeface="Times New Roman" pitchFamily="18" charset="0"/>
                    <a:ea typeface="华文细黑" pitchFamily="2" charset="-122"/>
                    <a:cs typeface="Times New Roman" pitchFamily="18" charset="0"/>
                  </a:rPr>
                  <a:t>  x · y = 3*1+2*0+0*0+5*0+0*0+0*0+0*0+2*1+0*0+0*2 = 5</a:t>
                </a: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i="1">
                              <a:latin typeface="Cambria Math" panose="02040503050406030204" pitchFamily="18" charset="0"/>
                            </a:rPr>
                          </m:ctrlPr>
                        </m:dPr>
                        <m:e>
                          <m:r>
                            <a:rPr lang="en-US" altLang="zh-CN" sz="1600">
                              <a:latin typeface="Cambria Math"/>
                            </a:rPr>
                            <m:t>𝐱</m:t>
                          </m:r>
                        </m:e>
                      </m:d>
                      <m:r>
                        <a:rPr lang="en-US" altLang="zh-CN" sz="1600">
                          <a:latin typeface="Cambria Math"/>
                        </a:rPr>
                        <m:t>=</m:t>
                      </m:r>
                      <m:rad>
                        <m:radPr>
                          <m:degHide m:val="on"/>
                          <m:ctrlPr>
                            <a:rPr lang="en-US" altLang="zh-CN" sz="1600" i="1">
                              <a:latin typeface="Cambria Math" panose="02040503050406030204" pitchFamily="18" charset="0"/>
                            </a:rPr>
                          </m:ctrlPr>
                        </m:radPr>
                        <m:deg/>
                        <m:e>
                          <m:r>
                            <a:rPr lang="en-US" altLang="zh-CN" sz="1600">
                              <a:latin typeface="Cambria Math"/>
                            </a:rPr>
                            <m:t>3</m:t>
                          </m:r>
                          <m:r>
                            <a:rPr lang="zh-CN" altLang="en-US" sz="1600" b="1" i="1">
                              <a:latin typeface="Cambria Math"/>
                            </a:rPr>
                            <m:t>∗</m:t>
                          </m:r>
                          <m:r>
                            <a:rPr lang="en-US" altLang="zh-CN" sz="1600">
                              <a:latin typeface="Cambria Math"/>
                            </a:rPr>
                            <m:t>3+2</m:t>
                          </m:r>
                          <m:r>
                            <a:rPr lang="zh-CN" altLang="en-US" sz="1600" b="1" i="1">
                              <a:latin typeface="Cambria Math"/>
                            </a:rPr>
                            <m:t>∗</m:t>
                          </m:r>
                          <m:r>
                            <a:rPr lang="en-US" altLang="zh-CN" sz="1600">
                              <a:latin typeface="Cambria Math"/>
                            </a:rPr>
                            <m:t>2+0</m:t>
                          </m:r>
                          <m:r>
                            <a:rPr lang="en-US" altLang="zh-CN" sz="1600" b="1">
                              <a:latin typeface="Cambria Math"/>
                            </a:rPr>
                            <m:t>∗</m:t>
                          </m:r>
                          <m:r>
                            <a:rPr lang="en-US" altLang="zh-CN" sz="1600">
                              <a:latin typeface="Cambria Math"/>
                            </a:rPr>
                            <m:t>0+5</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0+2</m:t>
                          </m:r>
                          <m:r>
                            <a:rPr lang="en-US" altLang="zh-CN" sz="1600" b="1">
                              <a:latin typeface="Cambria Math"/>
                            </a:rPr>
                            <m:t>∗</m:t>
                          </m:r>
                          <m:r>
                            <a:rPr lang="en-US" altLang="zh-CN" sz="1600">
                              <a:latin typeface="Cambria Math"/>
                            </a:rPr>
                            <m:t>2+0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m:t>
                          </m:r>
                        </m:e>
                      </m:rad>
                      <m:r>
                        <a:rPr lang="en-US" altLang="zh-CN" sz="1600">
                          <a:latin typeface="Cambria Math"/>
                        </a:rPr>
                        <m:t>=6.481</m:t>
                      </m:r>
                    </m:oMath>
                  </m:oMathPara>
                </a14:m>
                <a:endParaRPr lang="en-US" altLang="zh-CN" dirty="0">
                  <a:latin typeface="Times New Roman" pitchFamily="18" charset="0"/>
                  <a:ea typeface="华文细黑" pitchFamily="2" charset="-122"/>
                  <a:cs typeface="Times New Roman" pitchFamily="18" charset="0"/>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i="1">
                              <a:latin typeface="Cambria Math" panose="02040503050406030204" pitchFamily="18" charset="0"/>
                            </a:rPr>
                          </m:ctrlPr>
                        </m:dPr>
                        <m:e>
                          <m:r>
                            <a:rPr lang="en-US" altLang="zh-CN" sz="1600">
                              <a:latin typeface="Cambria Math"/>
                            </a:rPr>
                            <m:t>𝐲</m:t>
                          </m:r>
                        </m:e>
                      </m:d>
                      <m:r>
                        <a:rPr lang="en-US" altLang="zh-CN" sz="1600">
                          <a:latin typeface="Cambria Math"/>
                        </a:rPr>
                        <m:t>=</m:t>
                      </m:r>
                      <m:rad>
                        <m:radPr>
                          <m:degHide m:val="on"/>
                          <m:ctrlPr>
                            <a:rPr lang="en-US" altLang="zh-CN" sz="1600" i="1">
                              <a:latin typeface="Cambria Math" panose="02040503050406030204" pitchFamily="18" charset="0"/>
                            </a:rPr>
                          </m:ctrlPr>
                        </m:radPr>
                        <m:deg/>
                        <m:e>
                          <m:r>
                            <a:rPr lang="en-US" altLang="zh-CN" sz="1600">
                              <a:latin typeface="Cambria Math"/>
                            </a:rPr>
                            <m:t>1</m:t>
                          </m:r>
                          <m:r>
                            <a:rPr lang="en-US" altLang="zh-CN" sz="1600" b="1">
                              <a:latin typeface="Cambria Math"/>
                            </a:rPr>
                            <m:t>∗</m:t>
                          </m:r>
                          <m:r>
                            <a:rPr lang="en-US" altLang="zh-CN" sz="1600">
                              <a:latin typeface="Cambria Math"/>
                            </a:rPr>
                            <m:t>1+0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0+0</m:t>
                          </m:r>
                          <m:r>
                            <a:rPr lang="en-US" altLang="zh-CN" sz="1600" b="1">
                              <a:latin typeface="Cambria Math"/>
                            </a:rPr>
                            <m:t>∗</m:t>
                          </m:r>
                          <m:r>
                            <a:rPr lang="en-US" altLang="zh-CN" sz="1600">
                              <a:latin typeface="Cambria Math"/>
                            </a:rPr>
                            <m:t>0+1</m:t>
                          </m:r>
                          <m:r>
                            <a:rPr lang="en-US" altLang="zh-CN" sz="1600" b="1">
                              <a:latin typeface="Cambria Math"/>
                            </a:rPr>
                            <m:t>∗</m:t>
                          </m:r>
                          <m:r>
                            <a:rPr lang="en-US" altLang="zh-CN" sz="1600">
                              <a:latin typeface="Cambria Math"/>
                            </a:rPr>
                            <m:t>1+0</m:t>
                          </m:r>
                          <m:r>
                            <a:rPr lang="en-US" altLang="zh-CN" sz="1600" b="1">
                              <a:latin typeface="Cambria Math"/>
                            </a:rPr>
                            <m:t>∗</m:t>
                          </m:r>
                          <m:r>
                            <a:rPr lang="en-US" altLang="zh-CN" sz="1600">
                              <a:latin typeface="Cambria Math"/>
                            </a:rPr>
                            <m:t>0+2</m:t>
                          </m:r>
                          <m:r>
                            <a:rPr lang="en-US" altLang="zh-CN" sz="1600" b="1">
                              <a:latin typeface="Cambria Math"/>
                            </a:rPr>
                            <m:t>∗</m:t>
                          </m:r>
                          <m:r>
                            <a:rPr lang="en-US" altLang="zh-CN" sz="1600">
                              <a:latin typeface="Cambria Math"/>
                            </a:rPr>
                            <m:t>2</m:t>
                          </m:r>
                        </m:e>
                      </m:rad>
                      <m:r>
                        <a:rPr lang="en-US" altLang="zh-CN" sz="1600">
                          <a:latin typeface="Cambria Math"/>
                        </a:rPr>
                        <m:t>=2.245</m:t>
                      </m:r>
                    </m:oMath>
                  </m:oMathPara>
                </a14:m>
                <a:endParaRPr lang="en-US" altLang="zh-CN" sz="2000" dirty="0">
                  <a:latin typeface="Times New Roman" pitchFamily="18" charset="0"/>
                  <a:ea typeface="华文细黑" pitchFamily="2" charset="-122"/>
                  <a:cs typeface="Times New Roman" pitchFamily="18" charset="0"/>
                </a:endParaRPr>
              </a:p>
              <a:p>
                <a:pPr>
                  <a:lnSpc>
                    <a:spcPct val="150000"/>
                  </a:lnSpc>
                </a:pPr>
                <a:r>
                  <a:rPr lang="en-US" altLang="zh-CN" sz="2000" dirty="0">
                    <a:latin typeface="Times New Roman" pitchFamily="18" charset="0"/>
                    <a:ea typeface="华文细黑" pitchFamily="2" charset="-122"/>
                    <a:cs typeface="Times New Roman" pitchFamily="18" charset="0"/>
                  </a:rPr>
                  <a:t> </a:t>
                </a:r>
                <a:r>
                  <a:rPr lang="en-US" altLang="zh-CN" sz="2000" dirty="0" err="1">
                    <a:latin typeface="Times New Roman" pitchFamily="18" charset="0"/>
                    <a:ea typeface="华文细黑" pitchFamily="2" charset="-122"/>
                    <a:cs typeface="Times New Roman" pitchFamily="18" charset="0"/>
                  </a:rPr>
                  <a:t>cos</a:t>
                </a:r>
                <a:r>
                  <a:rPr lang="en-US" altLang="zh-CN" sz="2000" dirty="0">
                    <a:latin typeface="Times New Roman" pitchFamily="18" charset="0"/>
                    <a:ea typeface="华文细黑" pitchFamily="2" charset="-122"/>
                    <a:cs typeface="Times New Roman" pitchFamily="18" charset="0"/>
                  </a:rPr>
                  <a:t>(x, y ) = 0.3150</a:t>
                </a:r>
              </a:p>
            </p:txBody>
          </p:sp>
        </mc:Choice>
        <mc:Fallback xmlns="">
          <p:sp>
            <p:nvSpPr>
              <p:cNvPr id="6" name="矩形 5"/>
              <p:cNvSpPr>
                <a:spLocks noRot="1" noChangeAspect="1" noMove="1" noResize="1" noEditPoints="1" noAdjustHandles="1" noChangeArrowheads="1" noChangeShapeType="1" noTextEdit="1"/>
              </p:cNvSpPr>
              <p:nvPr/>
            </p:nvSpPr>
            <p:spPr>
              <a:xfrm>
                <a:off x="685800" y="3223262"/>
                <a:ext cx="8305800" cy="2310697"/>
              </a:xfrm>
              <a:prstGeom prst="rect">
                <a:avLst/>
              </a:prstGeom>
              <a:blipFill>
                <a:blip r:embed="rId3"/>
                <a:stretch>
                  <a:fillRect l="-808" b="-15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5173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4178" name="Rectangle 2"/>
          <p:cNvSpPr>
            <a:spLocks noGrp="1" noChangeArrowheads="1"/>
          </p:cNvSpPr>
          <p:nvPr>
            <p:ph type="title"/>
          </p:nvPr>
        </p:nvSpPr>
        <p:spPr/>
        <p:txBody>
          <a:bodyPr/>
          <a:lstStyle/>
          <a:p>
            <a:r>
              <a:rPr lang="zh-CN" altLang="en-US"/>
              <a:t>余弦相似度</a:t>
            </a:r>
            <a:endParaRPr lang="zh-CN" altLang="en-US" dirty="0"/>
          </a:p>
        </p:txBody>
      </p:sp>
      <p:sp>
        <p:nvSpPr>
          <p:cNvPr id="1714179" name="Rectangle 3"/>
          <p:cNvSpPr>
            <a:spLocks noGrp="1" noChangeArrowheads="1"/>
          </p:cNvSpPr>
          <p:nvPr>
            <p:ph idx="1"/>
          </p:nvPr>
        </p:nvSpPr>
        <p:spPr/>
        <p:txBody>
          <a:bodyPr>
            <a:normAutofit/>
          </a:bodyPr>
          <a:lstStyle/>
          <a:p>
            <a:pPr marL="82296" indent="0">
              <a:buNone/>
            </a:pPr>
            <a:r>
              <a:rPr lang="en-US" altLang="zh-CN" sz="2000" dirty="0"/>
              <a:t>【</a:t>
            </a:r>
            <a:r>
              <a:rPr lang="zh-CN" altLang="en-US" sz="2000" dirty="0"/>
              <a:t>例如</a:t>
            </a:r>
            <a:r>
              <a:rPr lang="en-US" altLang="zh-CN" sz="2000" dirty="0"/>
              <a:t>】</a:t>
            </a:r>
            <a:r>
              <a:rPr lang="zh-CN" altLang="zh-CN" dirty="0"/>
              <a:t>分析以下两个句子的相似性：</a:t>
            </a:r>
            <a:r>
              <a:rPr lang="en-US" altLang="zh-CN" dirty="0"/>
              <a:t> </a:t>
            </a:r>
            <a:endParaRPr lang="zh-CN" altLang="zh-CN" dirty="0"/>
          </a:p>
          <a:p>
            <a:pPr marL="813816" lvl="3" indent="0">
              <a:buNone/>
            </a:pPr>
            <a:r>
              <a:rPr lang="zh-CN" altLang="zh-CN" sz="2000" dirty="0"/>
              <a:t>句子</a:t>
            </a:r>
            <a:r>
              <a:rPr lang="en-US" altLang="zh-CN" sz="2000" i="1" dirty="0"/>
              <a:t>A</a:t>
            </a:r>
            <a:r>
              <a:rPr lang="zh-CN" altLang="zh-CN" sz="2000" dirty="0"/>
              <a:t>：</a:t>
            </a:r>
            <a:r>
              <a:rPr lang="zh-CN" altLang="zh-CN" sz="2000" dirty="0">
                <a:latin typeface="楷体" pitchFamily="49" charset="-122"/>
                <a:ea typeface="楷体" pitchFamily="49" charset="-122"/>
              </a:rPr>
              <a:t>我喜欢看电视，不喜欢看电影。</a:t>
            </a:r>
          </a:p>
          <a:p>
            <a:pPr marL="813816" lvl="3" indent="0">
              <a:buNone/>
            </a:pPr>
            <a:r>
              <a:rPr lang="zh-CN" altLang="zh-CN" sz="2000" dirty="0"/>
              <a:t>句子</a:t>
            </a:r>
            <a:r>
              <a:rPr lang="en-US" altLang="zh-CN" sz="2000" i="1" dirty="0"/>
              <a:t>B</a:t>
            </a:r>
            <a:r>
              <a:rPr lang="zh-CN" altLang="zh-CN" sz="2000" dirty="0"/>
              <a:t>：</a:t>
            </a:r>
            <a:r>
              <a:rPr lang="zh-CN" altLang="zh-CN" sz="2000" dirty="0">
                <a:latin typeface="楷体" pitchFamily="49" charset="-122"/>
                <a:ea typeface="楷体" pitchFamily="49" charset="-122"/>
              </a:rPr>
              <a:t>我不喜欢看电视，也不喜欢看电影。</a:t>
            </a:r>
          </a:p>
          <a:p>
            <a:pPr marL="82296" indent="0">
              <a:buNone/>
            </a:pPr>
            <a:endParaRPr lang="zh-CN" altLang="en-US" dirty="0"/>
          </a:p>
          <a:p>
            <a:endParaRPr lang="zh-CN" altLang="en-US" dirty="0"/>
          </a:p>
        </p:txBody>
      </p:sp>
      <p:sp>
        <p:nvSpPr>
          <p:cNvPr id="2" name="矩形 1"/>
          <p:cNvSpPr/>
          <p:nvPr/>
        </p:nvSpPr>
        <p:spPr>
          <a:xfrm>
            <a:off x="457202" y="2811781"/>
            <a:ext cx="4238661" cy="461665"/>
          </a:xfrm>
          <a:prstGeom prst="rect">
            <a:avLst/>
          </a:prstGeom>
        </p:spPr>
        <p:txBody>
          <a:bodyPr wrap="none">
            <a:spAutoFit/>
          </a:bodyPr>
          <a:lstStyle/>
          <a:p>
            <a:r>
              <a:rPr lang="en-US" altLang="zh-CN" sz="2400" dirty="0">
                <a:latin typeface="华文细黑" pitchFamily="2" charset="-122"/>
                <a:ea typeface="华文细黑" pitchFamily="2" charset="-122"/>
              </a:rPr>
              <a:t>1) </a:t>
            </a:r>
            <a:r>
              <a:rPr lang="zh-CN" altLang="zh-CN" sz="2400" dirty="0">
                <a:latin typeface="华文细黑" pitchFamily="2" charset="-122"/>
                <a:ea typeface="华文细黑" pitchFamily="2" charset="-122"/>
              </a:rPr>
              <a:t>可以将两个句子进行分词：</a:t>
            </a:r>
          </a:p>
        </p:txBody>
      </p:sp>
      <p:sp>
        <p:nvSpPr>
          <p:cNvPr id="3" name="矩形 2"/>
          <p:cNvSpPr/>
          <p:nvPr/>
        </p:nvSpPr>
        <p:spPr>
          <a:xfrm>
            <a:off x="1075463" y="3223597"/>
            <a:ext cx="5856090" cy="707886"/>
          </a:xfrm>
          <a:prstGeom prst="rect">
            <a:avLst/>
          </a:prstGeom>
        </p:spPr>
        <p:txBody>
          <a:bodyPr wrap="none">
            <a:spAutoFit/>
          </a:bodyPr>
          <a:lstStyle/>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A</a:t>
            </a:r>
            <a:r>
              <a:rPr lang="zh-CN" altLang="zh-CN" sz="2000" dirty="0">
                <a:latin typeface="Times New Roman" pitchFamily="18" charset="0"/>
                <a:ea typeface="华文细黑" pitchFamily="2" charset="-122"/>
                <a:cs typeface="Times New Roman" pitchFamily="18" charset="0"/>
              </a:rPr>
              <a:t>：</a:t>
            </a:r>
            <a:r>
              <a:rPr lang="zh-CN" altLang="zh-CN" sz="2000" dirty="0">
                <a:latin typeface="楷体" pitchFamily="49" charset="-122"/>
                <a:ea typeface="楷体" pitchFamily="49" charset="-122"/>
              </a:rPr>
              <a:t>我</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喜欢</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看电视</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不</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喜欢</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看</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电影</a:t>
            </a:r>
          </a:p>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B</a:t>
            </a:r>
            <a:r>
              <a:rPr lang="zh-CN" altLang="zh-CN" sz="2000" dirty="0">
                <a:latin typeface="Times New Roman" pitchFamily="18" charset="0"/>
                <a:ea typeface="华文细黑" pitchFamily="2" charset="-122"/>
                <a:cs typeface="Times New Roman" pitchFamily="18" charset="0"/>
              </a:rPr>
              <a:t>：</a:t>
            </a:r>
            <a:r>
              <a:rPr lang="zh-CN" altLang="zh-CN" sz="2000" dirty="0">
                <a:latin typeface="楷体" pitchFamily="49" charset="-122"/>
                <a:ea typeface="楷体" pitchFamily="49" charset="-122"/>
              </a:rPr>
              <a:t>我</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不</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喜欢</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看</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电视</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也</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不</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喜欢</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看</a:t>
            </a:r>
            <a:r>
              <a:rPr lang="en-US" altLang="zh-CN" sz="2000" dirty="0">
                <a:latin typeface="楷体" pitchFamily="49" charset="-122"/>
                <a:ea typeface="楷体" pitchFamily="49" charset="-122"/>
              </a:rPr>
              <a:t>/</a:t>
            </a:r>
            <a:r>
              <a:rPr lang="zh-CN" altLang="zh-CN" sz="2000" dirty="0">
                <a:latin typeface="楷体" pitchFamily="49" charset="-122"/>
                <a:ea typeface="楷体" pitchFamily="49" charset="-122"/>
              </a:rPr>
              <a:t>电影</a:t>
            </a:r>
          </a:p>
        </p:txBody>
      </p:sp>
      <p:sp>
        <p:nvSpPr>
          <p:cNvPr id="4" name="矩形 3"/>
          <p:cNvSpPr/>
          <p:nvPr/>
        </p:nvSpPr>
        <p:spPr>
          <a:xfrm>
            <a:off x="457202" y="3886760"/>
            <a:ext cx="8314463" cy="830997"/>
          </a:xfrm>
          <a:prstGeom prst="rect">
            <a:avLst/>
          </a:prstGeom>
        </p:spPr>
        <p:txBody>
          <a:bodyPr wrap="square">
            <a:spAutoFit/>
          </a:bodyPr>
          <a:lstStyle/>
          <a:p>
            <a:r>
              <a:rPr lang="en-US" altLang="zh-CN" sz="2400" dirty="0">
                <a:latin typeface="华文细黑" pitchFamily="2" charset="-122"/>
                <a:ea typeface="华文细黑" pitchFamily="2" charset="-122"/>
              </a:rPr>
              <a:t>2) </a:t>
            </a:r>
            <a:r>
              <a:rPr lang="zh-CN" altLang="zh-CN" sz="2400" dirty="0">
                <a:latin typeface="华文细黑" pitchFamily="2" charset="-122"/>
                <a:ea typeface="华文细黑" pitchFamily="2" charset="-122"/>
              </a:rPr>
              <a:t>对所出现的各个词汇（我</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喜欢</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看</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电视</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电影</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不</a:t>
            </a:r>
            <a:r>
              <a:rPr lang="en-US" altLang="zh-CN" sz="2400" dirty="0">
                <a:latin typeface="华文细黑" pitchFamily="2" charset="-122"/>
                <a:ea typeface="华文细黑" pitchFamily="2" charset="-122"/>
              </a:rPr>
              <a:t>  </a:t>
            </a:r>
            <a:r>
              <a:rPr lang="zh-CN" altLang="zh-CN" sz="2400" dirty="0">
                <a:latin typeface="华文细黑" pitchFamily="2" charset="-122"/>
                <a:ea typeface="华文细黑" pitchFamily="2" charset="-122"/>
              </a:rPr>
              <a:t>也），计算其词频：</a:t>
            </a:r>
          </a:p>
        </p:txBody>
      </p:sp>
      <p:sp>
        <p:nvSpPr>
          <p:cNvPr id="5" name="矩形 4"/>
          <p:cNvSpPr/>
          <p:nvPr/>
        </p:nvSpPr>
        <p:spPr>
          <a:xfrm>
            <a:off x="1075463" y="4634656"/>
            <a:ext cx="6561412" cy="707886"/>
          </a:xfrm>
          <a:prstGeom prst="rect">
            <a:avLst/>
          </a:prstGeom>
        </p:spPr>
        <p:txBody>
          <a:bodyPr wrap="none">
            <a:spAutoFit/>
          </a:bodyPr>
          <a:lstStyle/>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A</a:t>
            </a:r>
            <a:r>
              <a:rPr lang="zh-CN" altLang="zh-CN" sz="2000" dirty="0">
                <a:latin typeface="Times New Roman" pitchFamily="18" charset="0"/>
                <a:ea typeface="华文细黑" pitchFamily="2" charset="-122"/>
                <a:cs typeface="Times New Roman" pitchFamily="18" charset="0"/>
              </a:rPr>
              <a:t>：</a:t>
            </a:r>
            <a:r>
              <a:rPr lang="zh-CN" altLang="zh-CN" sz="2000" dirty="0">
                <a:latin typeface="Times New Roman" pitchFamily="18" charset="0"/>
                <a:ea typeface="楷体" pitchFamily="49" charset="-122"/>
                <a:cs typeface="Times New Roman" pitchFamily="18" charset="0"/>
              </a:rPr>
              <a:t>我</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，喜欢</a:t>
            </a:r>
            <a:r>
              <a:rPr lang="en-US" altLang="zh-CN" sz="2000" dirty="0">
                <a:latin typeface="Times New Roman" pitchFamily="18" charset="0"/>
                <a:ea typeface="楷体" pitchFamily="49" charset="-122"/>
                <a:cs typeface="Times New Roman" pitchFamily="18" charset="0"/>
              </a:rPr>
              <a:t> 2</a:t>
            </a:r>
            <a:r>
              <a:rPr lang="zh-CN" altLang="zh-CN" sz="2000" dirty="0">
                <a:latin typeface="Times New Roman" pitchFamily="18" charset="0"/>
                <a:ea typeface="楷体" pitchFamily="49" charset="-122"/>
                <a:cs typeface="Times New Roman" pitchFamily="18" charset="0"/>
              </a:rPr>
              <a:t>，看</a:t>
            </a:r>
            <a:r>
              <a:rPr lang="en-US" altLang="zh-CN" sz="2000" dirty="0">
                <a:latin typeface="Times New Roman" pitchFamily="18" charset="0"/>
                <a:ea typeface="楷体" pitchFamily="49" charset="-122"/>
                <a:cs typeface="Times New Roman" pitchFamily="18" charset="0"/>
              </a:rPr>
              <a:t> 2</a:t>
            </a:r>
            <a:r>
              <a:rPr lang="zh-CN" altLang="zh-CN" sz="2000" dirty="0">
                <a:latin typeface="Times New Roman" pitchFamily="18" charset="0"/>
                <a:ea typeface="楷体" pitchFamily="49" charset="-122"/>
                <a:cs typeface="Times New Roman" pitchFamily="18" charset="0"/>
              </a:rPr>
              <a:t>，电视</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，电影</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，不</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，也</a:t>
            </a:r>
            <a:r>
              <a:rPr lang="en-US" altLang="zh-CN" sz="2000" dirty="0">
                <a:latin typeface="Times New Roman" pitchFamily="18" charset="0"/>
                <a:ea typeface="楷体" pitchFamily="49" charset="-122"/>
                <a:cs typeface="Times New Roman" pitchFamily="18" charset="0"/>
              </a:rPr>
              <a:t> 0</a:t>
            </a:r>
            <a:endParaRPr lang="zh-CN" altLang="zh-CN" sz="2000" dirty="0">
              <a:latin typeface="Times New Roman" pitchFamily="18" charset="0"/>
              <a:ea typeface="楷体" pitchFamily="49" charset="-122"/>
              <a:cs typeface="Times New Roman" pitchFamily="18" charset="0"/>
            </a:endParaRPr>
          </a:p>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B</a:t>
            </a:r>
            <a:r>
              <a:rPr lang="zh-CN" altLang="zh-CN" sz="2000" dirty="0">
                <a:latin typeface="Times New Roman" pitchFamily="18" charset="0"/>
                <a:ea typeface="华文细黑" pitchFamily="2" charset="-122"/>
                <a:cs typeface="Times New Roman" pitchFamily="18" charset="0"/>
              </a:rPr>
              <a:t>：</a:t>
            </a:r>
            <a:r>
              <a:rPr lang="zh-CN" altLang="zh-CN" sz="2000" dirty="0">
                <a:latin typeface="Times New Roman" pitchFamily="18" charset="0"/>
                <a:ea typeface="楷体" pitchFamily="49" charset="-122"/>
                <a:cs typeface="Times New Roman" pitchFamily="18" charset="0"/>
              </a:rPr>
              <a:t>我</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，喜欢</a:t>
            </a:r>
            <a:r>
              <a:rPr lang="en-US" altLang="zh-CN" sz="2000" dirty="0">
                <a:latin typeface="Times New Roman" pitchFamily="18" charset="0"/>
                <a:ea typeface="楷体" pitchFamily="49" charset="-122"/>
                <a:cs typeface="Times New Roman" pitchFamily="18" charset="0"/>
              </a:rPr>
              <a:t> 2</a:t>
            </a:r>
            <a:r>
              <a:rPr lang="zh-CN" altLang="zh-CN" sz="2000" dirty="0">
                <a:latin typeface="Times New Roman" pitchFamily="18" charset="0"/>
                <a:ea typeface="楷体" pitchFamily="49" charset="-122"/>
                <a:cs typeface="Times New Roman" pitchFamily="18" charset="0"/>
              </a:rPr>
              <a:t>，看</a:t>
            </a:r>
            <a:r>
              <a:rPr lang="en-US" altLang="zh-CN" sz="2000" dirty="0">
                <a:latin typeface="Times New Roman" pitchFamily="18" charset="0"/>
                <a:ea typeface="楷体" pitchFamily="49" charset="-122"/>
                <a:cs typeface="Times New Roman" pitchFamily="18" charset="0"/>
              </a:rPr>
              <a:t> 2</a:t>
            </a:r>
            <a:r>
              <a:rPr lang="zh-CN" altLang="zh-CN" sz="2000" dirty="0">
                <a:latin typeface="Times New Roman" pitchFamily="18" charset="0"/>
                <a:ea typeface="楷体" pitchFamily="49" charset="-122"/>
                <a:cs typeface="Times New Roman" pitchFamily="18" charset="0"/>
              </a:rPr>
              <a:t>，电视</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，电影</a:t>
            </a:r>
            <a:r>
              <a:rPr lang="en-US" altLang="zh-CN" sz="2000" dirty="0">
                <a:latin typeface="Times New Roman" pitchFamily="18" charset="0"/>
                <a:ea typeface="楷体" pitchFamily="49" charset="-122"/>
                <a:cs typeface="Times New Roman" pitchFamily="18" charset="0"/>
              </a:rPr>
              <a:t> 1</a:t>
            </a:r>
            <a:r>
              <a:rPr lang="zh-CN" altLang="zh-CN" sz="2000" dirty="0">
                <a:latin typeface="Times New Roman" pitchFamily="18" charset="0"/>
                <a:ea typeface="楷体" pitchFamily="49" charset="-122"/>
                <a:cs typeface="Times New Roman" pitchFamily="18" charset="0"/>
              </a:rPr>
              <a:t>，不</a:t>
            </a:r>
            <a:r>
              <a:rPr lang="en-US" altLang="zh-CN" sz="2000" dirty="0">
                <a:latin typeface="Times New Roman" pitchFamily="18" charset="0"/>
                <a:ea typeface="楷体" pitchFamily="49" charset="-122"/>
                <a:cs typeface="Times New Roman" pitchFamily="18" charset="0"/>
              </a:rPr>
              <a:t> 2</a:t>
            </a:r>
            <a:r>
              <a:rPr lang="zh-CN" altLang="zh-CN" sz="2000" dirty="0">
                <a:latin typeface="Times New Roman" pitchFamily="18" charset="0"/>
                <a:ea typeface="楷体" pitchFamily="49" charset="-122"/>
                <a:cs typeface="Times New Roman" pitchFamily="18" charset="0"/>
              </a:rPr>
              <a:t>，也</a:t>
            </a:r>
            <a:r>
              <a:rPr lang="en-US" altLang="zh-CN" sz="2000" dirty="0">
                <a:latin typeface="Times New Roman" pitchFamily="18" charset="0"/>
                <a:ea typeface="楷体" pitchFamily="49" charset="-122"/>
                <a:cs typeface="Times New Roman" pitchFamily="18" charset="0"/>
              </a:rPr>
              <a:t> 1</a:t>
            </a:r>
            <a:endParaRPr lang="zh-CN" altLang="zh-CN" sz="2000"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36796811"/>
      </p:ext>
    </p:extLst>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4178" name="Rectangle 2"/>
          <p:cNvSpPr>
            <a:spLocks noGrp="1" noChangeArrowheads="1"/>
          </p:cNvSpPr>
          <p:nvPr>
            <p:ph type="title"/>
          </p:nvPr>
        </p:nvSpPr>
        <p:spPr/>
        <p:txBody>
          <a:bodyPr/>
          <a:lstStyle/>
          <a:p>
            <a:r>
              <a:rPr lang="zh-CN" altLang="en-US"/>
              <a:t>余弦相似度</a:t>
            </a:r>
            <a:endParaRPr lang="zh-CN" altLang="en-US" dirty="0"/>
          </a:p>
        </p:txBody>
      </p:sp>
      <p:sp>
        <p:nvSpPr>
          <p:cNvPr id="5" name="Rectangle 3"/>
          <p:cNvSpPr txBox="1">
            <a:spLocks noChangeArrowheads="1"/>
          </p:cNvSpPr>
          <p:nvPr/>
        </p:nvSpPr>
        <p:spPr>
          <a:xfrm>
            <a:off x="113132" y="1192322"/>
            <a:ext cx="8917735" cy="4211042"/>
          </a:xfrm>
          <a:prstGeom prst="rect">
            <a:avLst/>
          </a:prstGeom>
        </p:spPr>
        <p:txBody>
          <a:bodyPr>
            <a:normAutofit/>
          </a:bodyPr>
          <a:lstStyle>
            <a:lvl1pPr marL="365760" indent="-283464" algn="l" rtl="0" eaLnBrk="1" latinLnBrk="0" hangingPunct="1">
              <a:lnSpc>
                <a:spcPct val="130000"/>
              </a:lnSpc>
              <a:spcBef>
                <a:spcPts val="0"/>
              </a:spcBef>
              <a:buClr>
                <a:schemeClr val="accent1"/>
              </a:buClr>
              <a:buSzPct val="80000"/>
              <a:buFont typeface="Wingdings 2"/>
              <a:buChar char=""/>
              <a:defRPr kumimoji="0" sz="2800" kern="1200" baseline="0">
                <a:solidFill>
                  <a:schemeClr val="tx1"/>
                </a:solidFill>
                <a:latin typeface="Times New Roman" pitchFamily="18" charset="0"/>
                <a:ea typeface="华文细黑" pitchFamily="2" charset="-122"/>
                <a:cs typeface="+mn-cs"/>
              </a:defRPr>
            </a:lvl1pPr>
            <a:lvl2pPr marL="640080" indent="-237744" algn="l" rtl="0" eaLnBrk="1" latinLnBrk="0" hangingPunct="1">
              <a:lnSpc>
                <a:spcPct val="130000"/>
              </a:lnSpc>
              <a:spcBef>
                <a:spcPts val="0"/>
              </a:spcBef>
              <a:buClr>
                <a:schemeClr val="accent1"/>
              </a:buClr>
              <a:buFont typeface="Verdana"/>
              <a:buChar char="◦"/>
              <a:defRPr kumimoji="0" sz="2400" kern="1200" baseline="0">
                <a:solidFill>
                  <a:schemeClr val="tx1"/>
                </a:solidFill>
                <a:latin typeface="Times New Roman" pitchFamily="18" charset="0"/>
                <a:ea typeface="华文细黑" pitchFamily="2" charset="-122"/>
                <a:cs typeface="+mn-cs"/>
              </a:defRPr>
            </a:lvl2pPr>
            <a:lvl3pPr marL="886968" indent="-228600" algn="l" rtl="0" eaLnBrk="1" latinLnBrk="0" hangingPunct="1">
              <a:lnSpc>
                <a:spcPct val="130000"/>
              </a:lnSpc>
              <a:spcBef>
                <a:spcPts val="0"/>
              </a:spcBef>
              <a:buClr>
                <a:schemeClr val="accent2"/>
              </a:buClr>
              <a:buFont typeface="Wingdings 2"/>
              <a:buChar char=""/>
              <a:defRPr kumimoji="0" sz="2000" kern="1200" baseline="0">
                <a:solidFill>
                  <a:schemeClr val="tx1"/>
                </a:solidFill>
                <a:latin typeface="Times New Roman" pitchFamily="18" charset="0"/>
                <a:ea typeface="华文细黑" pitchFamily="2" charset="-122"/>
                <a:cs typeface="+mn-cs"/>
              </a:defRPr>
            </a:lvl3pPr>
            <a:lvl4pPr marL="1097280" indent="-173736" algn="l" rtl="0" eaLnBrk="1" latinLnBrk="0" hangingPunct="1">
              <a:lnSpc>
                <a:spcPct val="130000"/>
              </a:lnSpc>
              <a:spcBef>
                <a:spcPts val="0"/>
              </a:spcBef>
              <a:buClr>
                <a:schemeClr val="accent3"/>
              </a:buClr>
              <a:buFont typeface="Wingdings 2"/>
              <a:buChar char=""/>
              <a:defRPr kumimoji="0" sz="1800" kern="1200" baseline="0">
                <a:solidFill>
                  <a:schemeClr val="tx1"/>
                </a:solidFill>
                <a:latin typeface="Times New Roman" pitchFamily="18" charset="0"/>
                <a:ea typeface="华文细黑" pitchFamily="2" charset="-122"/>
                <a:cs typeface="+mn-cs"/>
              </a:defRPr>
            </a:lvl4pPr>
            <a:lvl5pPr marL="1298448" indent="-182880" algn="l" rtl="0" eaLnBrk="1" latinLnBrk="0" hangingPunct="1">
              <a:lnSpc>
                <a:spcPct val="130000"/>
              </a:lnSpc>
              <a:spcBef>
                <a:spcPts val="0"/>
              </a:spcBef>
              <a:buClr>
                <a:schemeClr val="accent4"/>
              </a:buClr>
              <a:buFont typeface="Wingdings 2"/>
              <a:buChar char=""/>
              <a:defRPr kumimoji="0" sz="1800" kern="1200" baseline="0">
                <a:solidFill>
                  <a:schemeClr val="tx1"/>
                </a:solidFill>
                <a:latin typeface="Times New Roman" pitchFamily="18" charset="0"/>
                <a:ea typeface="华文细黑" pitchFamily="2" charset="-122"/>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buNone/>
            </a:pPr>
            <a:r>
              <a:rPr lang="en-US" altLang="zh-CN" sz="2000" dirty="0"/>
              <a:t>【</a:t>
            </a:r>
            <a:r>
              <a:rPr lang="zh-CN" altLang="en-US" sz="2000" dirty="0"/>
              <a:t>例如</a:t>
            </a:r>
            <a:r>
              <a:rPr lang="en-US" altLang="zh-CN" sz="2000" dirty="0"/>
              <a:t>】</a:t>
            </a:r>
            <a:r>
              <a:rPr lang="zh-CN" altLang="zh-CN" sz="2400" dirty="0"/>
              <a:t>分析以下两个句子的相似性：</a:t>
            </a:r>
            <a:r>
              <a:rPr lang="en-US" altLang="zh-CN" sz="2400" dirty="0"/>
              <a:t> </a:t>
            </a:r>
            <a:endParaRPr lang="zh-CN" altLang="zh-CN" sz="2400" dirty="0"/>
          </a:p>
          <a:p>
            <a:pPr marL="813816" lvl="3" indent="0">
              <a:buNone/>
            </a:pPr>
            <a:r>
              <a:rPr lang="zh-CN" altLang="zh-CN" sz="2000" dirty="0"/>
              <a:t>句子</a:t>
            </a:r>
            <a:r>
              <a:rPr lang="en-US" altLang="zh-CN" sz="2000" i="1" dirty="0"/>
              <a:t>A</a:t>
            </a:r>
            <a:r>
              <a:rPr lang="zh-CN" altLang="zh-CN" sz="2000" dirty="0"/>
              <a:t>：</a:t>
            </a:r>
            <a:r>
              <a:rPr lang="zh-CN" altLang="zh-CN" sz="2000" dirty="0">
                <a:latin typeface="楷体" pitchFamily="49" charset="-122"/>
                <a:ea typeface="楷体" pitchFamily="49" charset="-122"/>
              </a:rPr>
              <a:t>我喜欢看电视，不喜欢看电影。</a:t>
            </a:r>
          </a:p>
          <a:p>
            <a:pPr marL="813816" lvl="3" indent="0">
              <a:buNone/>
            </a:pPr>
            <a:r>
              <a:rPr lang="zh-CN" altLang="zh-CN" sz="2000" dirty="0"/>
              <a:t>句子</a:t>
            </a:r>
            <a:r>
              <a:rPr lang="en-US" altLang="zh-CN" sz="2000" i="1" dirty="0"/>
              <a:t>B</a:t>
            </a:r>
            <a:r>
              <a:rPr lang="zh-CN" altLang="zh-CN" sz="2000" dirty="0"/>
              <a:t>：</a:t>
            </a:r>
            <a:r>
              <a:rPr lang="zh-CN" altLang="zh-CN" sz="2000" dirty="0">
                <a:latin typeface="楷体" pitchFamily="49" charset="-122"/>
                <a:ea typeface="楷体" pitchFamily="49" charset="-122"/>
              </a:rPr>
              <a:t>我不喜欢看电视，也不喜欢看电影。</a:t>
            </a:r>
          </a:p>
          <a:p>
            <a:pPr marL="82296" indent="0">
              <a:buNone/>
            </a:pPr>
            <a:endParaRPr lang="zh-CN" altLang="en-US" sz="2400" dirty="0"/>
          </a:p>
          <a:p>
            <a:endParaRPr lang="zh-CN" altLang="en-US" sz="2400" dirty="0"/>
          </a:p>
        </p:txBody>
      </p:sp>
      <p:sp>
        <p:nvSpPr>
          <p:cNvPr id="6" name="矩形 5"/>
          <p:cNvSpPr/>
          <p:nvPr/>
        </p:nvSpPr>
        <p:spPr>
          <a:xfrm>
            <a:off x="457200" y="2576831"/>
            <a:ext cx="3238387" cy="461665"/>
          </a:xfrm>
          <a:prstGeom prst="rect">
            <a:avLst/>
          </a:prstGeom>
        </p:spPr>
        <p:txBody>
          <a:bodyPr wrap="none">
            <a:spAutoFit/>
          </a:bodyPr>
          <a:lstStyle/>
          <a:p>
            <a:r>
              <a:rPr lang="en-US" altLang="zh-CN" sz="2400" dirty="0">
                <a:latin typeface="华文细黑" pitchFamily="2" charset="-122"/>
                <a:ea typeface="华文细黑" pitchFamily="2" charset="-122"/>
              </a:rPr>
              <a:t>3)</a:t>
            </a:r>
            <a:r>
              <a:rPr lang="zh-CN" altLang="en-US" sz="2400" dirty="0">
                <a:latin typeface="华文细黑" pitchFamily="2" charset="-122"/>
                <a:ea typeface="华文细黑" pitchFamily="2" charset="-122"/>
              </a:rPr>
              <a:t>将词频转换为向量：</a:t>
            </a:r>
            <a:endParaRPr lang="zh-CN" altLang="zh-CN" sz="2400" dirty="0">
              <a:latin typeface="华文细黑" pitchFamily="2" charset="-122"/>
              <a:ea typeface="华文细黑" pitchFamily="2" charset="-122"/>
            </a:endParaRPr>
          </a:p>
        </p:txBody>
      </p:sp>
      <p:sp>
        <p:nvSpPr>
          <p:cNvPr id="7" name="矩形 6"/>
          <p:cNvSpPr/>
          <p:nvPr/>
        </p:nvSpPr>
        <p:spPr>
          <a:xfrm>
            <a:off x="1319304" y="3075057"/>
            <a:ext cx="3334567" cy="707886"/>
          </a:xfrm>
          <a:prstGeom prst="rect">
            <a:avLst/>
          </a:prstGeom>
        </p:spPr>
        <p:txBody>
          <a:bodyPr wrap="none">
            <a:spAutoFit/>
          </a:bodyPr>
          <a:lstStyle/>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A</a:t>
            </a:r>
            <a:r>
              <a:rPr lang="zh-CN" altLang="zh-CN" sz="2000" dirty="0">
                <a:latin typeface="Times New Roman" pitchFamily="18" charset="0"/>
                <a:ea typeface="华文细黑" pitchFamily="2" charset="-122"/>
                <a:cs typeface="Times New Roman" pitchFamily="18" charset="0"/>
              </a:rPr>
              <a:t>：</a:t>
            </a:r>
            <a:r>
              <a:rPr lang="en-US" altLang="zh-CN" sz="2000" i="1" dirty="0">
                <a:latin typeface="Times New Roman" pitchFamily="18" charset="0"/>
                <a:cs typeface="Times New Roman" pitchFamily="18" charset="0"/>
              </a:rPr>
              <a:t>x </a:t>
            </a:r>
            <a:r>
              <a:rPr lang="en-US" altLang="zh-CN" sz="2000" dirty="0">
                <a:latin typeface="Times New Roman" pitchFamily="18" charset="0"/>
                <a:cs typeface="Times New Roman" pitchFamily="18" charset="0"/>
              </a:rPr>
              <a:t>=( 1  2  2  1  1  1  0)</a:t>
            </a:r>
            <a:endParaRPr lang="zh-CN" altLang="zh-CN" sz="2000" dirty="0">
              <a:latin typeface="Times New Roman" pitchFamily="18" charset="0"/>
              <a:cs typeface="Times New Roman" pitchFamily="18" charset="0"/>
            </a:endParaRPr>
          </a:p>
          <a:p>
            <a:r>
              <a:rPr lang="zh-CN" altLang="zh-CN" sz="2000" dirty="0">
                <a:latin typeface="华文细黑" pitchFamily="2" charset="-122"/>
                <a:ea typeface="华文细黑" pitchFamily="2" charset="-122"/>
              </a:rPr>
              <a:t>句子</a:t>
            </a:r>
            <a:r>
              <a:rPr lang="en-US" altLang="zh-CN" sz="2000" i="1" dirty="0">
                <a:latin typeface="Times New Roman" pitchFamily="18" charset="0"/>
                <a:ea typeface="华文细黑" pitchFamily="2" charset="-122"/>
                <a:cs typeface="Times New Roman" pitchFamily="18" charset="0"/>
              </a:rPr>
              <a:t>B</a:t>
            </a:r>
            <a:r>
              <a:rPr lang="zh-CN" altLang="zh-CN" sz="2000" dirty="0">
                <a:latin typeface="Times New Roman" pitchFamily="18" charset="0"/>
                <a:ea typeface="华文细黑" pitchFamily="2" charset="-122"/>
                <a:cs typeface="Times New Roman" pitchFamily="18" charset="0"/>
              </a:rPr>
              <a:t>：</a:t>
            </a:r>
            <a:r>
              <a:rPr lang="en-US" altLang="zh-CN" sz="2000" i="1" dirty="0">
                <a:latin typeface="Times New Roman" pitchFamily="18" charset="0"/>
                <a:cs typeface="Times New Roman" pitchFamily="18" charset="0"/>
              </a:rPr>
              <a:t>y</a:t>
            </a:r>
            <a:r>
              <a:rPr lang="en-US" altLang="zh-CN" sz="2000" dirty="0">
                <a:latin typeface="Times New Roman" pitchFamily="18" charset="0"/>
                <a:cs typeface="Times New Roman" pitchFamily="18" charset="0"/>
              </a:rPr>
              <a:t> =( 1  2  2  1  1  2  1)</a:t>
            </a:r>
            <a:endParaRPr lang="zh-CN" altLang="zh-CN" sz="2000" dirty="0">
              <a:latin typeface="Times New Roman" pitchFamily="18" charset="0"/>
              <a:cs typeface="Times New Roman" pitchFamily="18" charset="0"/>
            </a:endParaRPr>
          </a:p>
        </p:txBody>
      </p:sp>
      <p:sp>
        <p:nvSpPr>
          <p:cNvPr id="12" name="矩形 11"/>
          <p:cNvSpPr/>
          <p:nvPr/>
        </p:nvSpPr>
        <p:spPr>
          <a:xfrm>
            <a:off x="457200" y="3819504"/>
            <a:ext cx="3853940" cy="461665"/>
          </a:xfrm>
          <a:prstGeom prst="rect">
            <a:avLst/>
          </a:prstGeom>
        </p:spPr>
        <p:txBody>
          <a:bodyPr wrap="none">
            <a:spAutoFit/>
          </a:bodyPr>
          <a:lstStyle/>
          <a:p>
            <a:r>
              <a:rPr lang="en-US" altLang="zh-CN" sz="2400" dirty="0">
                <a:latin typeface="华文细黑" pitchFamily="2" charset="-122"/>
                <a:ea typeface="华文细黑" pitchFamily="2" charset="-122"/>
              </a:rPr>
              <a:t>4)</a:t>
            </a:r>
            <a:r>
              <a:rPr lang="zh-CN" altLang="en-US" sz="2400" dirty="0">
                <a:latin typeface="华文细黑" pitchFamily="2" charset="-122"/>
                <a:ea typeface="华文细黑" pitchFamily="2" charset="-122"/>
              </a:rPr>
              <a:t>计算其余弦相似度，有：</a:t>
            </a:r>
            <a:endParaRPr lang="zh-CN" altLang="zh-CN" sz="2400" dirty="0">
              <a:latin typeface="华文细黑" pitchFamily="2" charset="-122"/>
              <a:ea typeface="华文细黑" pitchFamily="2" charset="-122"/>
            </a:endParaRPr>
          </a:p>
        </p:txBody>
      </p:sp>
      <p:sp>
        <p:nvSpPr>
          <p:cNvPr id="10" name="Rectangle 2"/>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nvGraphicFramePr>
        <p:xfrm>
          <a:off x="1233837" y="4367411"/>
          <a:ext cx="3947765" cy="296031"/>
        </p:xfrm>
        <a:graphic>
          <a:graphicData uri="http://schemas.openxmlformats.org/presentationml/2006/ole">
            <mc:AlternateContent xmlns:mc="http://schemas.openxmlformats.org/markup-compatibility/2006">
              <mc:Choice xmlns:v="urn:schemas-microsoft-com:vml" Requires="v">
                <p:oleObj spid="_x0000_s19468" name="公式" r:id="rId3" imgW="3581400" imgH="241300" progId="Equation.3">
                  <p:embed/>
                </p:oleObj>
              </mc:Choice>
              <mc:Fallback>
                <p:oleObj name="公式" r:id="rId3" imgW="3581400" imgH="241300" progId="Equation.3">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3837" y="4367411"/>
                        <a:ext cx="3947765" cy="296031"/>
                      </a:xfrm>
                      <a:prstGeom prst="rect">
                        <a:avLst/>
                      </a:prstGeom>
                      <a:noFill/>
                    </p:spPr>
                  </p:pic>
                </p:oleObj>
              </mc:Fallback>
            </mc:AlternateContent>
          </a:graphicData>
        </a:graphic>
      </p:graphicFrame>
      <p:sp>
        <p:nvSpPr>
          <p:cNvPr id="13" name="Rectangle 4"/>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1211577" y="4732021"/>
          <a:ext cx="5106506" cy="1179832"/>
        </p:xfrm>
        <a:graphic>
          <a:graphicData uri="http://schemas.openxmlformats.org/presentationml/2006/ole">
            <mc:AlternateContent xmlns:mc="http://schemas.openxmlformats.org/markup-compatibility/2006">
              <mc:Choice xmlns:v="urn:schemas-microsoft-com:vml" Requires="v">
                <p:oleObj spid="_x0000_s19469" name="公式" r:id="rId5" imgW="3759200" imgH="1066800" progId="Equation.3">
                  <p:embed/>
                </p:oleObj>
              </mc:Choice>
              <mc:Fallback>
                <p:oleObj name="公式" r:id="rId5" imgW="3759200" imgH="1066800" progId="Equation.3">
                  <p:embed/>
                  <p:pic>
                    <p:nvPicPr>
                      <p:cNvPr id="14" name="对象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1577" y="4732021"/>
                        <a:ext cx="5106506" cy="1179832"/>
                      </a:xfrm>
                      <a:prstGeom prst="rect">
                        <a:avLst/>
                      </a:prstGeom>
                      <a:noFill/>
                    </p:spPr>
                  </p:pic>
                </p:oleObj>
              </mc:Fallback>
            </mc:AlternateContent>
          </a:graphicData>
        </a:graphic>
      </p:graphicFrame>
    </p:spTree>
    <p:extLst>
      <p:ext uri="{BB962C8B-B14F-4D97-AF65-F5344CB8AC3E}">
        <p14:creationId xmlns:p14="http://schemas.microsoft.com/office/powerpoint/2010/main" val="1642424154"/>
      </p:ext>
    </p:extLst>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4178" name="Rectangle 2"/>
          <p:cNvSpPr>
            <a:spLocks noGrp="1" noChangeArrowheads="1"/>
          </p:cNvSpPr>
          <p:nvPr>
            <p:ph type="title"/>
          </p:nvPr>
        </p:nvSpPr>
        <p:spPr/>
        <p:txBody>
          <a:bodyPr/>
          <a:lstStyle/>
          <a:p>
            <a:r>
              <a:rPr lang="zh-CN" altLang="en-US" dirty="0"/>
              <a:t>余弦相似度应用</a:t>
            </a:r>
          </a:p>
        </p:txBody>
      </p:sp>
      <p:sp>
        <p:nvSpPr>
          <p:cNvPr id="3" name="内容占位符 2"/>
          <p:cNvSpPr>
            <a:spLocks noGrp="1"/>
          </p:cNvSpPr>
          <p:nvPr>
            <p:ph idx="1"/>
          </p:nvPr>
        </p:nvSpPr>
        <p:spPr/>
        <p:txBody>
          <a:bodyPr/>
          <a:lstStyle/>
          <a:p>
            <a:r>
              <a:rPr lang="zh-CN" altLang="zh-CN" dirty="0"/>
              <a:t>由此，我们就得到了“找出相似文章”的一种算法：</a:t>
            </a:r>
          </a:p>
          <a:p>
            <a:pPr lvl="1"/>
            <a:r>
              <a:rPr lang="zh-CN" altLang="zh-CN" dirty="0"/>
              <a:t>使用</a:t>
            </a:r>
            <a:r>
              <a:rPr lang="en-US" altLang="zh-CN" dirty="0"/>
              <a:t>TF-IDF</a:t>
            </a:r>
            <a:r>
              <a:rPr lang="zh-CN" altLang="zh-CN" dirty="0"/>
              <a:t>算法，找出两篇文章的关键词；</a:t>
            </a:r>
          </a:p>
          <a:p>
            <a:pPr lvl="1"/>
            <a:r>
              <a:rPr lang="zh-CN" altLang="zh-CN" dirty="0"/>
              <a:t>每篇文章各取出若干个关键词（比如</a:t>
            </a:r>
            <a:r>
              <a:rPr lang="en-US" altLang="zh-CN" dirty="0"/>
              <a:t>20</a:t>
            </a:r>
            <a:r>
              <a:rPr lang="zh-CN" altLang="zh-CN" dirty="0"/>
              <a:t>个），合并成一个集合，计算每篇文章对于这个集合中的词的词频（为了避免文章长度的差异，可以使用相对词频）；</a:t>
            </a:r>
          </a:p>
          <a:p>
            <a:pPr lvl="1"/>
            <a:r>
              <a:rPr lang="zh-CN" altLang="zh-CN" dirty="0"/>
              <a:t>生成两篇文章各自的词频向量；</a:t>
            </a:r>
          </a:p>
          <a:p>
            <a:pPr lvl="1"/>
            <a:r>
              <a:rPr lang="zh-CN" altLang="zh-CN" dirty="0"/>
              <a:t>计算两个向量的余弦相似度，值越大就表示越相似。</a:t>
            </a:r>
          </a:p>
        </p:txBody>
      </p:sp>
      <p:sp>
        <p:nvSpPr>
          <p:cNvPr id="10" name="Rectangle 2"/>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4"/>
          <p:cNvSpPr>
            <a:spLocks noChangeArrowheads="1"/>
          </p:cNvSpPr>
          <p:nvPr/>
        </p:nvSpPr>
        <p:spPr bwMode="auto">
          <a:xfrm>
            <a:off x="1" y="672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4204736876"/>
      </p:ext>
    </p:extLst>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误差平方和</a:t>
            </a:r>
            <a:r>
              <a:rPr lang="en-US" altLang="zh-CN" dirty="0"/>
              <a:t>(SSE)</a:t>
            </a:r>
          </a:p>
        </p:txBody>
      </p:sp>
      <p:sp>
        <p:nvSpPr>
          <p:cNvPr id="3" name="内容占位符 2"/>
          <p:cNvSpPr>
            <a:spLocks noGrp="1"/>
          </p:cNvSpPr>
          <p:nvPr>
            <p:ph idx="1"/>
          </p:nvPr>
        </p:nvSpPr>
        <p:spPr/>
        <p:txBody>
          <a:bodyPr>
            <a:normAutofit/>
          </a:bodyPr>
          <a:lstStyle/>
          <a:p>
            <a:r>
              <a:rPr lang="zh-CN" altLang="zh-CN" dirty="0"/>
              <a:t>在对两组数据的误差情况进行估计的时候，如原始数据和拟合数据之间的误差，或者是理论数据和观测数据之间的误差，会用其误差值取平方后求和来衡量误差的大小。计算公式为：</a:t>
            </a:r>
            <a:endParaRPr lang="zh-CN" altLang="en-US" dirty="0"/>
          </a:p>
        </p:txBody>
      </p:sp>
      <p:graphicFrame>
        <p:nvGraphicFramePr>
          <p:cNvPr id="7" name="对象 6"/>
          <p:cNvGraphicFramePr>
            <a:graphicFrameLocks noChangeAspect="1"/>
          </p:cNvGraphicFramePr>
          <p:nvPr/>
        </p:nvGraphicFramePr>
        <p:xfrm>
          <a:off x="912815" y="3703321"/>
          <a:ext cx="2782887" cy="907257"/>
        </p:xfrm>
        <a:graphic>
          <a:graphicData uri="http://schemas.openxmlformats.org/presentationml/2006/ole">
            <mc:AlternateContent xmlns:mc="http://schemas.openxmlformats.org/markup-compatibility/2006">
              <mc:Choice xmlns:v="urn:schemas-microsoft-com:vml" Requires="v">
                <p:oleObj spid="_x0000_s20487" name="公式" r:id="rId3" imgW="1180800" imgH="431640" progId="Equation.3">
                  <p:embed/>
                </p:oleObj>
              </mc:Choice>
              <mc:Fallback>
                <p:oleObj name="公式" r:id="rId3" imgW="1180800" imgH="431640" progId="Equation.3">
                  <p:embed/>
                  <p:pic>
                    <p:nvPicPr>
                      <p:cNvPr id="7" name="对象 6"/>
                      <p:cNvPicPr>
                        <a:picLocks noChangeAspect="1" noChangeArrowheads="1"/>
                      </p:cNvPicPr>
                      <p:nvPr/>
                    </p:nvPicPr>
                    <p:blipFill>
                      <a:blip r:embed="rId4"/>
                      <a:srcRect/>
                      <a:stretch>
                        <a:fillRect/>
                      </a:stretch>
                    </p:blipFill>
                    <p:spPr bwMode="auto">
                      <a:xfrm>
                        <a:off x="912815" y="3703321"/>
                        <a:ext cx="2782887" cy="907257"/>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6" name="线形标注 2 5"/>
              <p:cNvSpPr/>
              <p:nvPr/>
            </p:nvSpPr>
            <p:spPr>
              <a:xfrm>
                <a:off x="3657600" y="3115492"/>
                <a:ext cx="3200400" cy="480060"/>
              </a:xfrm>
              <a:prstGeom prst="borderCallout2">
                <a:avLst>
                  <a:gd name="adj1" fmla="val 18750"/>
                  <a:gd name="adj2" fmla="val -1190"/>
                  <a:gd name="adj3" fmla="val 18194"/>
                  <a:gd name="adj4" fmla="val -10119"/>
                  <a:gd name="adj5" fmla="val 186840"/>
                  <a:gd name="adj6" fmla="val -32106"/>
                </a:avLst>
              </a:prstGeom>
              <a:ln w="9525">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14:m>
                  <m:oMath xmlns:m="http://schemas.openxmlformats.org/officeDocument/2006/math">
                    <m:sSub>
                      <m:sSubPr>
                        <m:ctrlPr>
                          <a:rPr lang="en-US" altLang="zh-CN" i="1">
                            <a:solidFill>
                              <a:srgbClr val="C00000"/>
                            </a:solidFill>
                            <a:latin typeface="Cambria Math" panose="02040503050406030204" pitchFamily="18" charset="0"/>
                            <a:ea typeface="幼圆" pitchFamily="49" charset="-122"/>
                          </a:rPr>
                        </m:ctrlPr>
                      </m:sSubPr>
                      <m:e>
                        <m:r>
                          <a:rPr lang="en-US" altLang="zh-CN" i="1">
                            <a:solidFill>
                              <a:srgbClr val="C00000"/>
                            </a:solidFill>
                            <a:latin typeface="Cambria Math"/>
                            <a:ea typeface="幼圆" pitchFamily="49" charset="-122"/>
                          </a:rPr>
                          <m:t>𝑦</m:t>
                        </m:r>
                      </m:e>
                      <m:sub>
                        <m:r>
                          <a:rPr lang="en-US" altLang="zh-CN" i="1">
                            <a:solidFill>
                              <a:srgbClr val="C00000"/>
                            </a:solidFill>
                            <a:latin typeface="Cambria Math"/>
                            <a:ea typeface="幼圆" pitchFamily="49" charset="-122"/>
                          </a:rPr>
                          <m:t>𝑖</m:t>
                        </m:r>
                      </m:sub>
                    </m:sSub>
                  </m:oMath>
                </a14:m>
                <a:r>
                  <a:rPr lang="zh-CN" altLang="en-US" dirty="0">
                    <a:solidFill>
                      <a:srgbClr val="C00000"/>
                    </a:solidFill>
                    <a:latin typeface="幼圆" pitchFamily="49" charset="-122"/>
                    <a:ea typeface="幼圆" pitchFamily="49" charset="-122"/>
                  </a:rPr>
                  <a:t>为原始数据值或理论数据值</a:t>
                </a:r>
              </a:p>
            </p:txBody>
          </p:sp>
        </mc:Choice>
        <mc:Fallback xmlns="">
          <p:sp>
            <p:nvSpPr>
              <p:cNvPr id="6" name="线形标注 2 5"/>
              <p:cNvSpPr>
                <a:spLocks noRot="1" noChangeAspect="1" noMove="1" noResize="1" noEditPoints="1" noAdjustHandles="1" noChangeArrowheads="1" noChangeShapeType="1" noTextEdit="1"/>
              </p:cNvSpPr>
              <p:nvPr/>
            </p:nvSpPr>
            <p:spPr>
              <a:xfrm>
                <a:off x="3657600" y="3115492"/>
                <a:ext cx="3200400" cy="480060"/>
              </a:xfrm>
              <a:prstGeom prst="borderCallout2">
                <a:avLst>
                  <a:gd name="adj1" fmla="val 18750"/>
                  <a:gd name="adj2" fmla="val -1190"/>
                  <a:gd name="adj3" fmla="val 18194"/>
                  <a:gd name="adj4" fmla="val -10119"/>
                  <a:gd name="adj5" fmla="val 186840"/>
                  <a:gd name="adj6" fmla="val -32106"/>
                </a:avLst>
              </a:prstGeom>
              <a:blipFill>
                <a:blip r:embed="rId5"/>
                <a:stretch>
                  <a:fillRect/>
                </a:stretch>
              </a:blipFill>
              <a:ln w="9525">
                <a:headEnd type="none" w="med" len="med"/>
                <a:tailEnd type="triangl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线形标注 2 7"/>
              <p:cNvSpPr/>
              <p:nvPr/>
            </p:nvSpPr>
            <p:spPr>
              <a:xfrm>
                <a:off x="4038600" y="4320540"/>
                <a:ext cx="3200400" cy="480060"/>
              </a:xfrm>
              <a:prstGeom prst="borderCallout2">
                <a:avLst>
                  <a:gd name="adj1" fmla="val 18750"/>
                  <a:gd name="adj2" fmla="val -1190"/>
                  <a:gd name="adj3" fmla="val 18194"/>
                  <a:gd name="adj4" fmla="val -10119"/>
                  <a:gd name="adj5" fmla="val -2956"/>
                  <a:gd name="adj6" fmla="val -22242"/>
                </a:avLst>
              </a:prstGeom>
              <a:ln w="9525">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14:m>
                  <m:oMath xmlns:m="http://schemas.openxmlformats.org/officeDocument/2006/math">
                    <m:acc>
                      <m:accPr>
                        <m:chr m:val="̂"/>
                        <m:ctrlPr>
                          <a:rPr lang="en-US" altLang="zh-CN" i="1">
                            <a:solidFill>
                              <a:srgbClr val="C00000"/>
                            </a:solidFill>
                            <a:latin typeface="Cambria Math" panose="02040503050406030204" pitchFamily="18" charset="0"/>
                            <a:ea typeface="幼圆" pitchFamily="49" charset="-122"/>
                          </a:rPr>
                        </m:ctrlPr>
                      </m:accPr>
                      <m:e>
                        <m:sSub>
                          <m:sSubPr>
                            <m:ctrlPr>
                              <a:rPr lang="en-US" altLang="zh-CN" i="1">
                                <a:solidFill>
                                  <a:srgbClr val="C00000"/>
                                </a:solidFill>
                                <a:latin typeface="Cambria Math" panose="02040503050406030204" pitchFamily="18" charset="0"/>
                                <a:ea typeface="幼圆" pitchFamily="49" charset="-122"/>
                              </a:rPr>
                            </m:ctrlPr>
                          </m:sSubPr>
                          <m:e>
                            <m:r>
                              <a:rPr lang="en-US" altLang="zh-CN" i="1">
                                <a:solidFill>
                                  <a:srgbClr val="C00000"/>
                                </a:solidFill>
                                <a:latin typeface="Cambria Math"/>
                                <a:ea typeface="幼圆" pitchFamily="49" charset="-122"/>
                              </a:rPr>
                              <m:t>𝑦</m:t>
                            </m:r>
                          </m:e>
                          <m:sub>
                            <m:r>
                              <a:rPr lang="en-US" altLang="zh-CN" i="1">
                                <a:solidFill>
                                  <a:srgbClr val="C00000"/>
                                </a:solidFill>
                                <a:latin typeface="Cambria Math"/>
                                <a:ea typeface="幼圆" pitchFamily="49" charset="-122"/>
                              </a:rPr>
                              <m:t>𝑖</m:t>
                            </m:r>
                          </m:sub>
                        </m:sSub>
                      </m:e>
                    </m:acc>
                  </m:oMath>
                </a14:m>
                <a:r>
                  <a:rPr lang="zh-CN" altLang="en-US" dirty="0">
                    <a:solidFill>
                      <a:srgbClr val="C00000"/>
                    </a:solidFill>
                    <a:latin typeface="幼圆" pitchFamily="49" charset="-122"/>
                    <a:ea typeface="幼圆" pitchFamily="49" charset="-122"/>
                  </a:rPr>
                  <a:t>为拟合数据值或观测数据值</a:t>
                </a:r>
              </a:p>
            </p:txBody>
          </p:sp>
        </mc:Choice>
        <mc:Fallback xmlns="">
          <p:sp>
            <p:nvSpPr>
              <p:cNvPr id="8" name="线形标注 2 7"/>
              <p:cNvSpPr>
                <a:spLocks noRot="1" noChangeAspect="1" noMove="1" noResize="1" noEditPoints="1" noAdjustHandles="1" noChangeArrowheads="1" noChangeShapeType="1" noTextEdit="1"/>
              </p:cNvSpPr>
              <p:nvPr/>
            </p:nvSpPr>
            <p:spPr>
              <a:xfrm>
                <a:off x="4038600" y="4320540"/>
                <a:ext cx="3200400" cy="480060"/>
              </a:xfrm>
              <a:prstGeom prst="borderCallout2">
                <a:avLst>
                  <a:gd name="adj1" fmla="val 18750"/>
                  <a:gd name="adj2" fmla="val -1190"/>
                  <a:gd name="adj3" fmla="val 18194"/>
                  <a:gd name="adj4" fmla="val -10119"/>
                  <a:gd name="adj5" fmla="val -2956"/>
                  <a:gd name="adj6" fmla="val -22242"/>
                </a:avLst>
              </a:prstGeom>
              <a:blipFill>
                <a:blip r:embed="rId6"/>
                <a:stretch>
                  <a:fillRect b="-3158"/>
                </a:stretch>
              </a:blipFill>
              <a:ln w="9525">
                <a:headEnd type="none" w="med" len="med"/>
                <a:tailEnd type="triangl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线形标注 2 8"/>
              <p:cNvSpPr/>
              <p:nvPr/>
            </p:nvSpPr>
            <p:spPr>
              <a:xfrm>
                <a:off x="2057400" y="5101632"/>
                <a:ext cx="3200400" cy="480060"/>
              </a:xfrm>
              <a:prstGeom prst="borderCallout2">
                <a:avLst>
                  <a:gd name="adj1" fmla="val 18750"/>
                  <a:gd name="adj2" fmla="val -1190"/>
                  <a:gd name="adj3" fmla="val 18194"/>
                  <a:gd name="adj4" fmla="val -10119"/>
                  <a:gd name="adj5" fmla="val -162140"/>
                  <a:gd name="adj6" fmla="val -22242"/>
                </a:avLst>
              </a:prstGeom>
              <a:ln w="9525">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zh-CN" altLang="en-US" i="1">
                          <a:solidFill>
                            <a:srgbClr val="C00000"/>
                          </a:solidFill>
                          <a:latin typeface="Cambria Math"/>
                          <a:ea typeface="幼圆" pitchFamily="49" charset="-122"/>
                        </a:rPr>
                        <m:t>误差平方和也称为和方差</m:t>
                      </m:r>
                    </m:oMath>
                  </m:oMathPara>
                </a14:m>
                <a:endParaRPr/>
              </a:p>
            </p:txBody>
          </p:sp>
        </mc:Choice>
        <mc:Fallback xmlns="">
          <p:sp>
            <p:nvSpPr>
              <p:cNvPr id="9" name="线形标注 2 8"/>
              <p:cNvSpPr>
                <a:spLocks noRot="1" noChangeAspect="1" noMove="1" noResize="1" noEditPoints="1" noAdjustHandles="1" noChangeArrowheads="1" noChangeShapeType="1" noTextEdit="1"/>
              </p:cNvSpPr>
              <p:nvPr/>
            </p:nvSpPr>
            <p:spPr>
              <a:xfrm>
                <a:off x="2057400" y="5101632"/>
                <a:ext cx="3200400" cy="480060"/>
              </a:xfrm>
              <a:prstGeom prst="borderCallout2">
                <a:avLst>
                  <a:gd name="adj1" fmla="val 18750"/>
                  <a:gd name="adj2" fmla="val -1190"/>
                  <a:gd name="adj3" fmla="val 18194"/>
                  <a:gd name="adj4" fmla="val -10119"/>
                  <a:gd name="adj5" fmla="val -162140"/>
                  <a:gd name="adj6" fmla="val -22242"/>
                </a:avLst>
              </a:prstGeom>
              <a:blipFill>
                <a:blip r:embed="rId7"/>
                <a:stretch>
                  <a:fillRect/>
                </a:stretch>
              </a:blipFill>
              <a:ln w="9525">
                <a:headEnd type="none" w="med" len="med"/>
                <a:tailEnd type="triangle" w="med" len="med"/>
              </a:ln>
            </p:spPr>
            <p:txBody>
              <a:bodyPr/>
              <a:lstStyle/>
              <a:p>
                <a:r>
                  <a:rPr lang="zh-CN" altLang="en-US">
                    <a:noFill/>
                  </a:rPr>
                  <a:t> </a:t>
                </a:r>
              </a:p>
            </p:txBody>
          </p:sp>
        </mc:Fallback>
      </mc:AlternateContent>
    </p:spTree>
    <p:extLst>
      <p:ext uri="{BB962C8B-B14F-4D97-AF65-F5344CB8AC3E}">
        <p14:creationId xmlns:p14="http://schemas.microsoft.com/office/powerpoint/2010/main" val="948058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5C9FC5-5FAA-43F4-80F5-FF539C392D12}"/>
              </a:ext>
            </a:extLst>
          </p:cNvPr>
          <p:cNvSpPr>
            <a:spLocks noGrp="1"/>
          </p:cNvSpPr>
          <p:nvPr>
            <p:ph type="title"/>
          </p:nvPr>
        </p:nvSpPr>
        <p:spPr/>
        <p:txBody>
          <a:bodyPr/>
          <a:lstStyle/>
          <a:p>
            <a:r>
              <a:rPr lang="zh-CN" altLang="en-US" sz="3600" b="1" dirty="0">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endParaRPr lang="zh-CN" altLang="en-US" dirty="0"/>
          </a:p>
        </p:txBody>
      </p:sp>
      <p:sp>
        <p:nvSpPr>
          <p:cNvPr id="4" name="灯片编号占位符 3">
            <a:extLst>
              <a:ext uri="{FF2B5EF4-FFF2-40B4-BE49-F238E27FC236}">
                <a16:creationId xmlns:a16="http://schemas.microsoft.com/office/drawing/2014/main" id="{9762779B-3B83-4783-8D41-3093FF6AA31F}"/>
              </a:ext>
            </a:extLst>
          </p:cNvPr>
          <p:cNvSpPr>
            <a:spLocks noGrp="1"/>
          </p:cNvSpPr>
          <p:nvPr>
            <p:ph type="sldNum" sz="quarter" idx="12"/>
          </p:nvPr>
        </p:nvSpPr>
        <p:spPr/>
        <p:txBody>
          <a:bodyPr/>
          <a:lstStyle/>
          <a:p>
            <a:fld id="{5AD84F5B-1672-4D3F-9FEC-5DF89A7B7912}" type="slidenum">
              <a:rPr lang="zh-CN" altLang="en-US" smtClean="0"/>
              <a:t>31</a:t>
            </a:fld>
            <a:endParaRPr lang="zh-CN" altLang="en-US"/>
          </a:p>
        </p:txBody>
      </p:sp>
      <p:pic>
        <p:nvPicPr>
          <p:cNvPr id="5" name="图片 4">
            <a:extLst>
              <a:ext uri="{FF2B5EF4-FFF2-40B4-BE49-F238E27FC236}">
                <a16:creationId xmlns:a16="http://schemas.microsoft.com/office/drawing/2014/main" id="{EFFE1689-9D41-434E-88D2-CDDDD53D53E2}"/>
              </a:ext>
            </a:extLst>
          </p:cNvPr>
          <p:cNvPicPr>
            <a:picLocks noChangeAspect="1"/>
          </p:cNvPicPr>
          <p:nvPr/>
        </p:nvPicPr>
        <p:blipFill>
          <a:blip r:embed="rId2"/>
          <a:stretch>
            <a:fillRect/>
          </a:stretch>
        </p:blipFill>
        <p:spPr>
          <a:xfrm>
            <a:off x="243465" y="1447628"/>
            <a:ext cx="8657070" cy="3962743"/>
          </a:xfrm>
          <a:prstGeom prst="rect">
            <a:avLst/>
          </a:prstGeom>
        </p:spPr>
      </p:pic>
    </p:spTree>
    <p:extLst>
      <p:ext uri="{BB962C8B-B14F-4D97-AF65-F5344CB8AC3E}">
        <p14:creationId xmlns:p14="http://schemas.microsoft.com/office/powerpoint/2010/main" val="10459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58733-AC04-48FC-8DD2-C9D4F7CD5A33}"/>
              </a:ext>
            </a:extLst>
          </p:cNvPr>
          <p:cNvSpPr>
            <a:spLocks noGrp="1"/>
          </p:cNvSpPr>
          <p:nvPr>
            <p:ph type="title"/>
          </p:nvPr>
        </p:nvSpPr>
        <p:spPr/>
        <p:txBody>
          <a:bodyPr/>
          <a:lstStyle/>
          <a:p>
            <a:r>
              <a:rPr lang="zh-CN" altLang="en-US" sz="3600" b="1" dirty="0">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r>
              <a:rPr lang="en-US" altLang="zh-CN" sz="3600" b="1" dirty="0">
                <a:latin typeface="Times New Roman" panose="02020603050405020304" pitchFamily="18" charset="0"/>
                <a:ea typeface="微软雅黑" panose="020B0503020204020204" pitchFamily="34" charset="-122"/>
                <a:sym typeface="Times New Roman" panose="02020603050405020304" pitchFamily="18" charset="0"/>
              </a:rPr>
              <a:t> </a:t>
            </a:r>
            <a:endParaRPr lang="zh-CN" altLang="en-US" dirty="0"/>
          </a:p>
        </p:txBody>
      </p:sp>
      <p:sp>
        <p:nvSpPr>
          <p:cNvPr id="4" name="灯片编号占位符 3">
            <a:extLst>
              <a:ext uri="{FF2B5EF4-FFF2-40B4-BE49-F238E27FC236}">
                <a16:creationId xmlns:a16="http://schemas.microsoft.com/office/drawing/2014/main" id="{AC4BADC8-1F36-4274-AB29-944EB24F20EE}"/>
              </a:ext>
            </a:extLst>
          </p:cNvPr>
          <p:cNvSpPr>
            <a:spLocks noGrp="1"/>
          </p:cNvSpPr>
          <p:nvPr>
            <p:ph type="sldNum" sz="quarter" idx="12"/>
          </p:nvPr>
        </p:nvSpPr>
        <p:spPr/>
        <p:txBody>
          <a:bodyPr/>
          <a:lstStyle/>
          <a:p>
            <a:fld id="{5AD84F5B-1672-4D3F-9FEC-5DF89A7B7912}" type="slidenum">
              <a:rPr lang="zh-CN" altLang="en-US" smtClean="0"/>
              <a:t>32</a:t>
            </a:fld>
            <a:endParaRPr lang="zh-CN" altLang="en-US"/>
          </a:p>
        </p:txBody>
      </p:sp>
      <p:sp>
        <p:nvSpPr>
          <p:cNvPr id="5" name="文本框 4">
            <a:extLst>
              <a:ext uri="{FF2B5EF4-FFF2-40B4-BE49-F238E27FC236}">
                <a16:creationId xmlns:a16="http://schemas.microsoft.com/office/drawing/2014/main" id="{B1115F7A-7E77-4598-AB47-61EE4129A12F}"/>
              </a:ext>
            </a:extLst>
          </p:cNvPr>
          <p:cNvSpPr txBox="1"/>
          <p:nvPr/>
        </p:nvSpPr>
        <p:spPr>
          <a:xfrm>
            <a:off x="145187" y="1724161"/>
            <a:ext cx="8554403" cy="2138214"/>
          </a:xfrm>
          <a:prstGeom prst="rect">
            <a:avLst/>
          </a:prstGeom>
        </p:spPr>
        <p:txBody>
          <a:bodyPr wrap="square">
            <a:spAutoFit/>
          </a:bodyPr>
          <a:lstStyle/>
          <a:p>
            <a:pPr marL="257175" indent="-257175" algn="just" defTabSz="200025">
              <a:lnSpc>
                <a:spcPct val="12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数据预处理</a:t>
            </a:r>
          </a:p>
          <a:p>
            <a:pPr algn="just" defTabSz="200025">
              <a:lnSpc>
                <a:spcPct val="125000"/>
              </a:lnSpc>
              <a:spcBef>
                <a:spcPct val="0"/>
              </a:spcBef>
              <a:spcAft>
                <a:spcPct val="0"/>
              </a:spcAft>
            </a:pP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pivot</a:t>
            </a:r>
            <a:r>
              <a:rPr lang="zh-CN" altLang="en-US" dirty="0">
                <a:latin typeface="微软雅黑" panose="020B0503020204020204" pitchFamily="34" charset="-122"/>
                <a:ea typeface="微软雅黑" panose="020B0503020204020204" pitchFamily="34" charset="-122"/>
              </a:rPr>
              <a:t>函数将数据表格转换为以</a:t>
            </a:r>
            <a:r>
              <a:rPr lang="en-US" altLang="zh-CN" dirty="0" err="1">
                <a:latin typeface="微软雅黑" panose="020B0503020204020204" pitchFamily="34" charset="-122"/>
                <a:ea typeface="微软雅黑" panose="020B0503020204020204" pitchFamily="34" charset="-122"/>
              </a:rPr>
              <a:t>userId</a:t>
            </a:r>
            <a:r>
              <a:rPr lang="zh-CN" altLang="en-US" dirty="0">
                <a:latin typeface="微软雅黑" panose="020B0503020204020204" pitchFamily="34" charset="-122"/>
                <a:ea typeface="微软雅黑" panose="020B0503020204020204" pitchFamily="34" charset="-122"/>
              </a:rPr>
              <a:t>为行索引，</a:t>
            </a:r>
            <a:r>
              <a:rPr lang="en-US" altLang="zh-CN" dirty="0" err="1">
                <a:latin typeface="微软雅黑" panose="020B0503020204020204" pitchFamily="34" charset="-122"/>
                <a:ea typeface="微软雅黑" panose="020B0503020204020204" pitchFamily="34" charset="-122"/>
              </a:rPr>
              <a:t>movieId</a:t>
            </a:r>
            <a:r>
              <a:rPr lang="zh-CN" altLang="en-US" dirty="0">
                <a:latin typeface="微软雅黑" panose="020B0503020204020204" pitchFamily="34" charset="-122"/>
                <a:ea typeface="微软雅黑" panose="020B0503020204020204" pitchFamily="34" charset="-122"/>
              </a:rPr>
              <a:t>为列索引，</a:t>
            </a:r>
            <a:r>
              <a:rPr lang="en-US" altLang="zh-CN" dirty="0">
                <a:latin typeface="微软雅黑" panose="020B0503020204020204" pitchFamily="34" charset="-122"/>
                <a:ea typeface="微软雅黑" panose="020B0503020204020204" pitchFamily="34" charset="-122"/>
              </a:rPr>
              <a:t>rating</a:t>
            </a:r>
            <a:r>
              <a:rPr lang="zh-CN" altLang="en-US" dirty="0">
                <a:latin typeface="微软雅黑" panose="020B0503020204020204" pitchFamily="34" charset="-122"/>
                <a:ea typeface="微软雅黑" panose="020B0503020204020204" pitchFamily="34" charset="-122"/>
              </a:rPr>
              <a:t>为值的数据表格，并填充缺失值为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p>
          <a:p>
            <a:pPr marL="257175" indent="-257175" algn="just" defTabSz="200025">
              <a:lnSpc>
                <a:spcPct val="125000"/>
              </a:lnSpc>
              <a:spcBef>
                <a:spcPct val="0"/>
              </a:spcBef>
              <a:spcAft>
                <a:spcPct val="0"/>
              </a:spcAft>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rPr>
              <a:t>计算距离相关系数</a:t>
            </a:r>
          </a:p>
          <a:p>
            <a:pPr algn="just" defTabSz="200025">
              <a:lnSpc>
                <a:spcPct val="125000"/>
              </a:lnSpc>
              <a:spcBef>
                <a:spcPct val="0"/>
              </a:spcBef>
              <a:spcAft>
                <a:spcPct val="0"/>
              </a:spcAft>
            </a:pPr>
            <a:r>
              <a:rPr lang="zh-CN" altLang="en-US" dirty="0">
                <a:latin typeface="微软雅黑" panose="020B0503020204020204" pitchFamily="34" charset="-122"/>
                <a:ea typeface="微软雅黑" panose="020B0503020204020204" pitchFamily="34" charset="-122"/>
              </a:rPr>
              <a:t>使用</a:t>
            </a:r>
            <a:r>
              <a:rPr lang="en-US" altLang="zh-CN" dirty="0" err="1">
                <a:latin typeface="微软雅黑" panose="020B0503020204020204" pitchFamily="34" charset="-122"/>
                <a:ea typeface="微软雅黑" panose="020B0503020204020204" pitchFamily="34" charset="-122"/>
              </a:rPr>
              <a:t>euclidean</a:t>
            </a:r>
            <a:r>
              <a:rPr lang="zh-CN" altLang="en-US" dirty="0">
                <a:latin typeface="微软雅黑" panose="020B0503020204020204" pitchFamily="34" charset="-122"/>
                <a:ea typeface="微软雅黑" panose="020B0503020204020204" pitchFamily="34" charset="-122"/>
              </a:rPr>
              <a:t>函数和</a:t>
            </a:r>
            <a:r>
              <a:rPr lang="en-US" altLang="zh-CN" dirty="0">
                <a:latin typeface="微软雅黑" panose="020B0503020204020204" pitchFamily="34" charset="-122"/>
                <a:ea typeface="微软雅黑" panose="020B0503020204020204" pitchFamily="34" charset="-122"/>
              </a:rPr>
              <a:t>cosine</a:t>
            </a:r>
            <a:r>
              <a:rPr lang="zh-CN" altLang="en-US" dirty="0">
                <a:latin typeface="微软雅黑" panose="020B0503020204020204" pitchFamily="34" charset="-122"/>
                <a:ea typeface="微软雅黑" panose="020B0503020204020204" pitchFamily="34" charset="-122"/>
              </a:rPr>
              <a:t>函数计算各用户评分的欧氏距离和余弦相似度，使用方法如下：</a:t>
            </a:r>
          </a:p>
        </p:txBody>
      </p:sp>
      <p:pic>
        <p:nvPicPr>
          <p:cNvPr id="6" name="图片 5">
            <a:extLst>
              <a:ext uri="{FF2B5EF4-FFF2-40B4-BE49-F238E27FC236}">
                <a16:creationId xmlns:a16="http://schemas.microsoft.com/office/drawing/2014/main" id="{671D728E-EF40-47B8-B54D-B7CE57415309}"/>
              </a:ext>
            </a:extLst>
          </p:cNvPr>
          <p:cNvPicPr>
            <a:picLocks noChangeAspect="1"/>
          </p:cNvPicPr>
          <p:nvPr/>
        </p:nvPicPr>
        <p:blipFill>
          <a:blip r:embed="rId2"/>
          <a:stretch>
            <a:fillRect/>
          </a:stretch>
        </p:blipFill>
        <p:spPr>
          <a:xfrm>
            <a:off x="357595" y="4184468"/>
            <a:ext cx="8405813" cy="496253"/>
          </a:xfrm>
          <a:prstGeom prst="rect">
            <a:avLst/>
          </a:prstGeom>
        </p:spPr>
      </p:pic>
    </p:spTree>
    <p:extLst>
      <p:ext uri="{BB962C8B-B14F-4D97-AF65-F5344CB8AC3E}">
        <p14:creationId xmlns:p14="http://schemas.microsoft.com/office/powerpoint/2010/main" val="292082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E2B1C-D1E5-4C45-8979-FA10B9DC03E3}"/>
              </a:ext>
            </a:extLst>
          </p:cNvPr>
          <p:cNvSpPr>
            <a:spLocks noGrp="1"/>
          </p:cNvSpPr>
          <p:nvPr>
            <p:ph type="title"/>
          </p:nvPr>
        </p:nvSpPr>
        <p:spPr/>
        <p:txBody>
          <a:bodyPr/>
          <a:lstStyle/>
          <a:p>
            <a:r>
              <a:rPr lang="zh-CN" altLang="en-US" sz="3600" b="1" dirty="0">
                <a:latin typeface="Times New Roman" panose="02020603050405020304" pitchFamily="18" charset="0"/>
                <a:ea typeface="微软雅黑" panose="020B0503020204020204" pitchFamily="34" charset="-122"/>
                <a:sym typeface="Times New Roman" panose="02020603050405020304" pitchFamily="18" charset="0"/>
              </a:rPr>
              <a:t>实践案例：用户相似性度量</a:t>
            </a:r>
            <a:r>
              <a:rPr lang="en-US" altLang="zh-CN" sz="3600" b="1" dirty="0">
                <a:latin typeface="Times New Roman" panose="02020603050405020304" pitchFamily="18" charset="0"/>
                <a:ea typeface="微软雅黑" panose="020B0503020204020204" pitchFamily="34" charset="-122"/>
                <a:sym typeface="Times New Roman" panose="02020603050405020304" pitchFamily="18" charset="0"/>
              </a:rPr>
              <a:t> </a:t>
            </a:r>
            <a:endParaRPr lang="zh-CN" altLang="en-US" dirty="0"/>
          </a:p>
        </p:txBody>
      </p:sp>
      <p:sp>
        <p:nvSpPr>
          <p:cNvPr id="4" name="灯片编号占位符 3">
            <a:extLst>
              <a:ext uri="{FF2B5EF4-FFF2-40B4-BE49-F238E27FC236}">
                <a16:creationId xmlns:a16="http://schemas.microsoft.com/office/drawing/2014/main" id="{8CC0B550-DBBF-43B2-BDB1-826EB5E65393}"/>
              </a:ext>
            </a:extLst>
          </p:cNvPr>
          <p:cNvSpPr>
            <a:spLocks noGrp="1"/>
          </p:cNvSpPr>
          <p:nvPr>
            <p:ph type="sldNum" sz="quarter" idx="12"/>
          </p:nvPr>
        </p:nvSpPr>
        <p:spPr/>
        <p:txBody>
          <a:bodyPr/>
          <a:lstStyle/>
          <a:p>
            <a:fld id="{5AD84F5B-1672-4D3F-9FEC-5DF89A7B7912}" type="slidenum">
              <a:rPr lang="zh-CN" altLang="en-US" smtClean="0"/>
              <a:t>33</a:t>
            </a:fld>
            <a:endParaRPr lang="zh-CN" altLang="en-US"/>
          </a:p>
        </p:txBody>
      </p:sp>
      <p:pic>
        <p:nvPicPr>
          <p:cNvPr id="6" name="图片 5">
            <a:extLst>
              <a:ext uri="{FF2B5EF4-FFF2-40B4-BE49-F238E27FC236}">
                <a16:creationId xmlns:a16="http://schemas.microsoft.com/office/drawing/2014/main" id="{F3EDA1E8-9E69-4B17-B477-F789A0E1E82A}"/>
              </a:ext>
            </a:extLst>
          </p:cNvPr>
          <p:cNvPicPr>
            <a:picLocks noChangeAspect="1"/>
          </p:cNvPicPr>
          <p:nvPr/>
        </p:nvPicPr>
        <p:blipFill>
          <a:blip r:embed="rId6"/>
          <a:stretch>
            <a:fillRect/>
          </a:stretch>
        </p:blipFill>
        <p:spPr>
          <a:xfrm>
            <a:off x="96679" y="1813764"/>
            <a:ext cx="4216718" cy="3541395"/>
          </a:xfrm>
          <a:prstGeom prst="rect">
            <a:avLst/>
          </a:prstGeom>
        </p:spPr>
      </p:pic>
      <p:sp>
        <p:nvSpPr>
          <p:cNvPr id="7" name="文本框 6">
            <a:extLst>
              <a:ext uri="{FF2B5EF4-FFF2-40B4-BE49-F238E27FC236}">
                <a16:creationId xmlns:a16="http://schemas.microsoft.com/office/drawing/2014/main" id="{C10C1A15-D8B5-48BE-9253-7D74A49ED52A}"/>
              </a:ext>
            </a:extLst>
          </p:cNvPr>
          <p:cNvSpPr txBox="1"/>
          <p:nvPr/>
        </p:nvSpPr>
        <p:spPr>
          <a:xfrm>
            <a:off x="193358" y="1503726"/>
            <a:ext cx="3048000" cy="369332"/>
          </a:xfrm>
          <a:prstGeom prst="rect">
            <a:avLst/>
          </a:prstGeom>
          <a:noFill/>
        </p:spPr>
        <p:txBody>
          <a:bodyPr wrap="square" rtlCol="0">
            <a:spAutoFit/>
          </a:bodyPr>
          <a:lstStyle/>
          <a:p>
            <a:r>
              <a:rPr lang="zh-CN" altLang="en-US" b="1">
                <a:solidFill>
                  <a:srgbClr val="FF0000"/>
                </a:solidFill>
                <a:latin typeface="微软雅黑" panose="020B0503020204020204" pitchFamily="34" charset="-122"/>
                <a:ea typeface="微软雅黑" panose="020B0503020204020204" pitchFamily="34" charset="-122"/>
              </a:rPr>
              <a:t>完整代码和部分输出结果：</a:t>
            </a:r>
          </a:p>
        </p:txBody>
      </p:sp>
      <p:pic>
        <p:nvPicPr>
          <p:cNvPr id="8" name="图片 7">
            <a:extLst>
              <a:ext uri="{FF2B5EF4-FFF2-40B4-BE49-F238E27FC236}">
                <a16:creationId xmlns:a16="http://schemas.microsoft.com/office/drawing/2014/main" id="{93D3B346-7F21-4AEC-AE95-7792661C54D8}"/>
              </a:ext>
            </a:extLst>
          </p:cNvPr>
          <p:cNvPicPr>
            <a:picLocks noChangeAspect="1"/>
          </p:cNvPicPr>
          <p:nvPr>
            <p:custDataLst>
              <p:tags r:id="rId1"/>
            </p:custDataLst>
          </p:nvPr>
        </p:nvPicPr>
        <p:blipFill>
          <a:blip r:embed="rId7"/>
          <a:stretch>
            <a:fillRect/>
          </a:stretch>
        </p:blipFill>
        <p:spPr>
          <a:xfrm>
            <a:off x="4404836" y="1503726"/>
            <a:ext cx="4397693" cy="1337310"/>
          </a:xfrm>
          <a:prstGeom prst="rect">
            <a:avLst/>
          </a:prstGeom>
        </p:spPr>
      </p:pic>
      <p:pic>
        <p:nvPicPr>
          <p:cNvPr id="9" name="图片 8">
            <a:extLst>
              <a:ext uri="{FF2B5EF4-FFF2-40B4-BE49-F238E27FC236}">
                <a16:creationId xmlns:a16="http://schemas.microsoft.com/office/drawing/2014/main" id="{612FC825-5DB7-4224-A97D-1A60091A7D4D}"/>
              </a:ext>
            </a:extLst>
          </p:cNvPr>
          <p:cNvPicPr>
            <a:picLocks noChangeAspect="1"/>
          </p:cNvPicPr>
          <p:nvPr>
            <p:custDataLst>
              <p:tags r:id="rId2"/>
            </p:custDataLst>
          </p:nvPr>
        </p:nvPicPr>
        <p:blipFill>
          <a:blip r:embed="rId8"/>
          <a:stretch>
            <a:fillRect/>
          </a:stretch>
        </p:blipFill>
        <p:spPr>
          <a:xfrm>
            <a:off x="4404837" y="3069159"/>
            <a:ext cx="4404836" cy="1336358"/>
          </a:xfrm>
          <a:prstGeom prst="rect">
            <a:avLst/>
          </a:prstGeom>
        </p:spPr>
      </p:pic>
      <p:sp>
        <p:nvSpPr>
          <p:cNvPr id="10" name="文本框 9">
            <a:extLst>
              <a:ext uri="{FF2B5EF4-FFF2-40B4-BE49-F238E27FC236}">
                <a16:creationId xmlns:a16="http://schemas.microsoft.com/office/drawing/2014/main" id="{63F66CFA-3AC9-4652-9E1C-5880F828B4D0}"/>
              </a:ext>
            </a:extLst>
          </p:cNvPr>
          <p:cNvSpPr txBox="1"/>
          <p:nvPr>
            <p:custDataLst>
              <p:tags r:id="rId3"/>
            </p:custDataLst>
          </p:nvPr>
        </p:nvSpPr>
        <p:spPr>
          <a:xfrm>
            <a:off x="5163503" y="1133679"/>
            <a:ext cx="2227421" cy="300082"/>
          </a:xfrm>
          <a:prstGeom prst="rect">
            <a:avLst/>
          </a:prstGeom>
          <a:solidFill>
            <a:schemeClr val="bg2"/>
          </a:solidFill>
        </p:spPr>
        <p:txBody>
          <a:bodyPr wrap="square" rtlCol="0">
            <a:spAutoFit/>
          </a:bodyPr>
          <a:lstStyle>
            <a:defPPr>
              <a:defRPr lang="en-US"/>
            </a:defPPr>
            <a:lvl1pPr>
              <a:defRPr b="1">
                <a:solidFill>
                  <a:srgbClr val="C0504D"/>
                </a:solidFill>
                <a:latin typeface="+mn-ea"/>
              </a:defRPr>
            </a:lvl1pPr>
          </a:lstStyle>
          <a:p>
            <a:pPr lvl="0" algn="l">
              <a:buClrTx/>
              <a:buSzTx/>
              <a:buFontTx/>
            </a:pPr>
            <a:r>
              <a:rPr lang="zh-CN" altLang="zh-CN" sz="1350" dirty="0">
                <a:sym typeface="+mn-ea"/>
              </a:rPr>
              <a:t>欧氏距离计算结果（部分）</a:t>
            </a:r>
          </a:p>
        </p:txBody>
      </p:sp>
      <p:sp>
        <p:nvSpPr>
          <p:cNvPr id="11" name="文本框 10">
            <a:extLst>
              <a:ext uri="{FF2B5EF4-FFF2-40B4-BE49-F238E27FC236}">
                <a16:creationId xmlns:a16="http://schemas.microsoft.com/office/drawing/2014/main" id="{9E1F7BE9-423E-4201-8274-6D0E6AFC926C}"/>
              </a:ext>
            </a:extLst>
          </p:cNvPr>
          <p:cNvSpPr txBox="1"/>
          <p:nvPr>
            <p:custDataLst>
              <p:tags r:id="rId4"/>
            </p:custDataLst>
          </p:nvPr>
        </p:nvSpPr>
        <p:spPr>
          <a:xfrm>
            <a:off x="5139691" y="2740070"/>
            <a:ext cx="2311241" cy="300082"/>
          </a:xfrm>
          <a:prstGeom prst="rect">
            <a:avLst/>
          </a:prstGeom>
          <a:solidFill>
            <a:schemeClr val="bg2"/>
          </a:solidFill>
        </p:spPr>
        <p:txBody>
          <a:bodyPr wrap="square" rtlCol="0">
            <a:spAutoFit/>
          </a:bodyPr>
          <a:lstStyle>
            <a:defPPr>
              <a:defRPr lang="en-US"/>
            </a:defPPr>
            <a:lvl1pPr>
              <a:defRPr b="1">
                <a:solidFill>
                  <a:srgbClr val="C0504D"/>
                </a:solidFill>
                <a:latin typeface="+mn-ea"/>
              </a:defRPr>
            </a:lvl1pPr>
          </a:lstStyle>
          <a:p>
            <a:pPr lvl="0" algn="l">
              <a:buClrTx/>
              <a:buSzTx/>
              <a:buFontTx/>
            </a:pPr>
            <a:r>
              <a:rPr lang="zh-CN" altLang="zh-CN" sz="1350" dirty="0">
                <a:sym typeface="+mn-ea"/>
              </a:rPr>
              <a:t>余弦相似度计算结果（部分）</a:t>
            </a:r>
          </a:p>
        </p:txBody>
      </p:sp>
      <p:sp>
        <p:nvSpPr>
          <p:cNvPr id="12" name="文本框 11">
            <a:extLst>
              <a:ext uri="{FF2B5EF4-FFF2-40B4-BE49-F238E27FC236}">
                <a16:creationId xmlns:a16="http://schemas.microsoft.com/office/drawing/2014/main" id="{7822C6B5-93E9-4157-80FF-2168F0FB033C}"/>
              </a:ext>
            </a:extLst>
          </p:cNvPr>
          <p:cNvSpPr txBox="1"/>
          <p:nvPr/>
        </p:nvSpPr>
        <p:spPr>
          <a:xfrm>
            <a:off x="4632484" y="4458380"/>
            <a:ext cx="3747135" cy="784830"/>
          </a:xfrm>
          <a:prstGeom prst="rect">
            <a:avLst/>
          </a:prstGeom>
          <a:noFill/>
        </p:spPr>
        <p:txBody>
          <a:bodyPr wrap="square" rtlCol="0">
            <a:spAutoFit/>
            <a:scene3d>
              <a:camera prst="orthographicFront"/>
              <a:lightRig rig="threePt" dir="t"/>
            </a:scene3d>
          </a:bodyPr>
          <a:lstStyle/>
          <a:p>
            <a:r>
              <a:rPr lang="zh-CN" altLang="en-US" sz="15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欧氏距离通过数值大小反映了向量之间的差异程度，而余弦相似度则揭示了向量的方向和相似性。</a:t>
            </a:r>
          </a:p>
        </p:txBody>
      </p:sp>
    </p:spTree>
    <p:extLst>
      <p:ext uri="{BB962C8B-B14F-4D97-AF65-F5344CB8AC3E}">
        <p14:creationId xmlns:p14="http://schemas.microsoft.com/office/powerpoint/2010/main" val="3006532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A35C535-0254-4C0D-814D-19B8A81C611A}"/>
              </a:ext>
            </a:extLst>
          </p:cNvPr>
          <p:cNvSpPr>
            <a:spLocks noGrp="1"/>
          </p:cNvSpPr>
          <p:nvPr>
            <p:ph type="ctrTitle"/>
          </p:nvPr>
        </p:nvSpPr>
        <p:spPr>
          <a:xfrm>
            <a:off x="685800" y="2389134"/>
            <a:ext cx="7772400" cy="2079732"/>
          </a:xfrm>
        </p:spPr>
        <p:txBody>
          <a:bodyPr>
            <a:normAutofit fontScale="90000"/>
          </a:bodyPr>
          <a:lstStyle/>
          <a:p>
            <a:r>
              <a:rPr lang="en-US" altLang="zh-CN" b="1" dirty="0"/>
              <a:t>Q/A</a:t>
            </a:r>
            <a:br>
              <a:rPr lang="en-US" altLang="zh-CN" b="1" dirty="0"/>
            </a:br>
            <a:br>
              <a:rPr lang="en-US" altLang="zh-CN" b="1" dirty="0"/>
            </a:br>
            <a:r>
              <a:rPr lang="en-US" altLang="zh-CN" b="1" dirty="0"/>
              <a:t>  </a:t>
            </a:r>
            <a:r>
              <a:rPr lang="zh-CN" altLang="en-US" b="1" dirty="0"/>
              <a:t>谢谢！</a:t>
            </a:r>
          </a:p>
        </p:txBody>
      </p:sp>
    </p:spTree>
    <p:extLst>
      <p:ext uri="{BB962C8B-B14F-4D97-AF65-F5344CB8AC3E}">
        <p14:creationId xmlns:p14="http://schemas.microsoft.com/office/powerpoint/2010/main" val="38969234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19*218"/>
  <p:tag name="TABLE_ENDDRAG_RECT" val="78*246*819*21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3.5,&quot;left&quot;:468.45,&quot;top&quot;:92.45,&quot;width&quot;:462.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3.5,&quot;left&quot;:468.45,&quot;top&quot;:92.45,&quot;width&quot;:462.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3.5,&quot;left&quot;:468.45,&quot;top&quot;:92.45,&quot;width&quot;:462.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3.5,&quot;left&quot;:468.45,&quot;top&quot;:92.45,&quot;width&quot;:462.45}"/>
</p:tagLst>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白底灰边-Office2010风格" id="{A4FB97DD-19BC-49FC-8F3F-E7D8E49AC664}" vid="{03B40C34-2A24-480B-ADA3-2497218558F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16382</TotalTime>
  <Words>2280</Words>
  <Application>Microsoft Office PowerPoint</Application>
  <PresentationFormat>全屏显示(4:3)</PresentationFormat>
  <Paragraphs>250</Paragraphs>
  <Slides>34</Slides>
  <Notes>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34</vt:i4>
      </vt:variant>
    </vt:vector>
  </HeadingPairs>
  <TitlesOfParts>
    <vt:vector size="51" baseType="lpstr">
      <vt:lpstr>Arial Unicode MS</vt:lpstr>
      <vt:lpstr>黑体</vt:lpstr>
      <vt:lpstr>华文细黑</vt:lpstr>
      <vt:lpstr>楷体</vt:lpstr>
      <vt:lpstr>微软雅黑</vt:lpstr>
      <vt:lpstr>幼圆</vt:lpstr>
      <vt:lpstr>Arial</vt:lpstr>
      <vt:lpstr>Calibri</vt:lpstr>
      <vt:lpstr>Cambria</vt:lpstr>
      <vt:lpstr>Cambria Math</vt:lpstr>
      <vt:lpstr>Times New Roman</vt:lpstr>
      <vt:lpstr>Verdana</vt:lpstr>
      <vt:lpstr>Wingdings</vt:lpstr>
      <vt:lpstr>Wingdings 2</vt:lpstr>
      <vt:lpstr>白底灰边-Office2010风格</vt:lpstr>
      <vt:lpstr>Equation.DSMT4</vt:lpstr>
      <vt:lpstr>公式</vt:lpstr>
      <vt:lpstr>Chapter03 相关分析  授课老师：王丽苹    </vt:lpstr>
      <vt:lpstr>相关分析</vt:lpstr>
      <vt:lpstr>认识函数关系与相关关系</vt:lpstr>
      <vt:lpstr>简单线性相关分析</vt:lpstr>
      <vt:lpstr>简单线性相关分析</vt:lpstr>
      <vt:lpstr>协方差cov(X,Y)</vt:lpstr>
      <vt:lpstr>协方差矩阵</vt:lpstr>
      <vt:lpstr>协方差矩阵</vt:lpstr>
      <vt:lpstr>协方差矩阵</vt:lpstr>
      <vt:lpstr>相关系数</vt:lpstr>
      <vt:lpstr>相关系数</vt:lpstr>
      <vt:lpstr>相关系数矩阵</vt:lpstr>
      <vt:lpstr>相关系数矩阵</vt:lpstr>
      <vt:lpstr>Spearman秩相关系数</vt:lpstr>
      <vt:lpstr>Spearman秩相关系数</vt:lpstr>
      <vt:lpstr>Spearman秩相关系数</vt:lpstr>
      <vt:lpstr>实践案例：网络直播大数据相关分析</vt:lpstr>
      <vt:lpstr>实践案例：网络直播大数据相关分析</vt:lpstr>
      <vt:lpstr>实践案例：网络直播大数据相关分析</vt:lpstr>
      <vt:lpstr>实践案例：亚马逊评论数据相关分析</vt:lpstr>
      <vt:lpstr>实践案例：亚马逊评论数据相关分析</vt:lpstr>
      <vt:lpstr>实践案例：亚马逊评论数据相关分析</vt:lpstr>
      <vt:lpstr>“距离”度量</vt:lpstr>
      <vt:lpstr>“距离”度量</vt:lpstr>
      <vt:lpstr>“距离”度量</vt:lpstr>
      <vt:lpstr>相似系数</vt:lpstr>
      <vt:lpstr>余弦相似度</vt:lpstr>
      <vt:lpstr>余弦相似度</vt:lpstr>
      <vt:lpstr>余弦相似度应用</vt:lpstr>
      <vt:lpstr>误差平方和(SSE)</vt:lpstr>
      <vt:lpstr>实践案例：用户相似性度量</vt:lpstr>
      <vt:lpstr>实践案例：用户相似性度量 </vt:lpstr>
      <vt:lpstr>实践案例：用户相似性度量 </vt:lpstr>
      <vt:lpstr>Q/A    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Liping Wang</cp:lastModifiedBy>
  <cp:revision>1677</cp:revision>
  <dcterms:created xsi:type="dcterms:W3CDTF">2018-01-15T02:11:01Z</dcterms:created>
  <dcterms:modified xsi:type="dcterms:W3CDTF">2025-10-16T01:41:32Z</dcterms:modified>
</cp:coreProperties>
</file>