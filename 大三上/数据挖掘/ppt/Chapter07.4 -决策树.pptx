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95"/>
  </p:notesMasterIdLst>
  <p:sldIdLst>
    <p:sldId id="732" r:id="rId2"/>
    <p:sldId id="15514" r:id="rId3"/>
    <p:sldId id="15517" r:id="rId4"/>
    <p:sldId id="15520" r:id="rId5"/>
    <p:sldId id="15522" r:id="rId6"/>
    <p:sldId id="15557" r:id="rId7"/>
    <p:sldId id="15655" r:id="rId8"/>
    <p:sldId id="15656" r:id="rId9"/>
    <p:sldId id="15657" r:id="rId10"/>
    <p:sldId id="15659" r:id="rId11"/>
    <p:sldId id="15660" r:id="rId12"/>
    <p:sldId id="15658" r:id="rId13"/>
    <p:sldId id="15661" r:id="rId14"/>
    <p:sldId id="15662" r:id="rId15"/>
    <p:sldId id="15663" r:id="rId16"/>
    <p:sldId id="15664" r:id="rId17"/>
    <p:sldId id="746" r:id="rId18"/>
    <p:sldId id="345" r:id="rId19"/>
    <p:sldId id="346" r:id="rId20"/>
    <p:sldId id="428" r:id="rId21"/>
    <p:sldId id="429" r:id="rId22"/>
    <p:sldId id="350" r:id="rId23"/>
    <p:sldId id="379" r:id="rId24"/>
    <p:sldId id="353" r:id="rId25"/>
    <p:sldId id="354" r:id="rId26"/>
    <p:sldId id="355" r:id="rId27"/>
    <p:sldId id="361" r:id="rId28"/>
    <p:sldId id="749" r:id="rId29"/>
    <p:sldId id="750" r:id="rId30"/>
    <p:sldId id="752" r:id="rId31"/>
    <p:sldId id="388" r:id="rId32"/>
    <p:sldId id="753" r:id="rId33"/>
    <p:sldId id="389" r:id="rId34"/>
    <p:sldId id="390" r:id="rId35"/>
    <p:sldId id="440" r:id="rId36"/>
    <p:sldId id="366" r:id="rId37"/>
    <p:sldId id="384" r:id="rId38"/>
    <p:sldId id="385" r:id="rId39"/>
    <p:sldId id="367" r:id="rId40"/>
    <p:sldId id="804" r:id="rId41"/>
    <p:sldId id="805" r:id="rId42"/>
    <p:sldId id="442" r:id="rId43"/>
    <p:sldId id="441" r:id="rId44"/>
    <p:sldId id="430" r:id="rId45"/>
    <p:sldId id="432" r:id="rId46"/>
    <p:sldId id="433" r:id="rId47"/>
    <p:sldId id="813" r:id="rId48"/>
    <p:sldId id="814" r:id="rId49"/>
    <p:sldId id="436" r:id="rId50"/>
    <p:sldId id="423" r:id="rId51"/>
    <p:sldId id="806" r:id="rId52"/>
    <p:sldId id="807" r:id="rId53"/>
    <p:sldId id="393" r:id="rId54"/>
    <p:sldId id="431" r:id="rId55"/>
    <p:sldId id="808" r:id="rId56"/>
    <p:sldId id="394" r:id="rId57"/>
    <p:sldId id="809" r:id="rId58"/>
    <p:sldId id="810" r:id="rId59"/>
    <p:sldId id="426" r:id="rId60"/>
    <p:sldId id="398" r:id="rId61"/>
    <p:sldId id="399" r:id="rId62"/>
    <p:sldId id="400" r:id="rId63"/>
    <p:sldId id="401" r:id="rId64"/>
    <p:sldId id="402" r:id="rId65"/>
    <p:sldId id="403" r:id="rId66"/>
    <p:sldId id="404" r:id="rId67"/>
    <p:sldId id="405" r:id="rId68"/>
    <p:sldId id="406" r:id="rId69"/>
    <p:sldId id="407" r:id="rId70"/>
    <p:sldId id="408" r:id="rId71"/>
    <p:sldId id="409" r:id="rId72"/>
    <p:sldId id="410" r:id="rId73"/>
    <p:sldId id="411" r:id="rId74"/>
    <p:sldId id="811" r:id="rId75"/>
    <p:sldId id="412" r:id="rId76"/>
    <p:sldId id="413" r:id="rId77"/>
    <p:sldId id="414" r:id="rId78"/>
    <p:sldId id="415" r:id="rId79"/>
    <p:sldId id="422" r:id="rId80"/>
    <p:sldId id="416" r:id="rId81"/>
    <p:sldId id="425" r:id="rId82"/>
    <p:sldId id="417" r:id="rId83"/>
    <p:sldId id="427" r:id="rId84"/>
    <p:sldId id="418" r:id="rId85"/>
    <p:sldId id="419" r:id="rId86"/>
    <p:sldId id="420" r:id="rId87"/>
    <p:sldId id="421" r:id="rId88"/>
    <p:sldId id="812" r:id="rId89"/>
    <p:sldId id="15746" r:id="rId90"/>
    <p:sldId id="15747" r:id="rId91"/>
    <p:sldId id="15748" r:id="rId92"/>
    <p:sldId id="15749" r:id="rId93"/>
    <p:sldId id="15750" r:id="rId9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F80BD"/>
    <a:srgbClr val="FFAAA9"/>
    <a:srgbClr val="FFE1E1"/>
    <a:srgbClr val="E3FDBE"/>
    <a:srgbClr val="DCFDAB"/>
    <a:srgbClr val="DBFDAA"/>
    <a:srgbClr val="ECE5F7"/>
    <a:srgbClr val="E1D6F2"/>
    <a:srgbClr val="DCFDAD"/>
    <a:srgbClr val="D4C5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91"/>
    <p:restoredTop sz="76146" autoAdjust="0"/>
  </p:normalViewPr>
  <p:slideViewPr>
    <p:cSldViewPr snapToGrid="0">
      <p:cViewPr varScale="1">
        <p:scale>
          <a:sx n="66" d="100"/>
          <a:sy n="66" d="100"/>
        </p:scale>
        <p:origin x="1776" y="52"/>
      </p:cViewPr>
      <p:guideLst>
        <p:guide orient="horz" pos="2084"/>
        <p:guide pos="2880"/>
      </p:guideLst>
    </p:cSldViewPr>
  </p:slideViewPr>
  <p:notesTextViewPr>
    <p:cViewPr>
      <p:scale>
        <a:sx n="1" d="1"/>
        <a:sy n="1" d="1"/>
      </p:scale>
      <p:origin x="0" y="0"/>
    </p:cViewPr>
  </p:notesTextViewPr>
  <p:sorterViewPr>
    <p:cViewPr>
      <p:scale>
        <a:sx n="100" d="100"/>
        <a:sy n="100" d="100"/>
      </p:scale>
      <p:origin x="0" y="-2774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1CDB24E-1FEB-48C9-A8A0-42248557196F}" type="doc">
      <dgm:prSet loTypeId="urn:microsoft.com/office/officeart/2005/8/layout/vList5" loCatId="list" qsTypeId="urn:microsoft.com/office/officeart/2005/8/quickstyle/simple5" qsCatId="simple" csTypeId="urn:microsoft.com/office/officeart/2005/8/colors/colorful3" csCatId="colorful" phldr="1"/>
      <dgm:spPr/>
      <dgm:t>
        <a:bodyPr/>
        <a:lstStyle/>
        <a:p>
          <a:endParaRPr lang="zh-CN" altLang="en-US"/>
        </a:p>
      </dgm:t>
    </dgm:pt>
    <dgm:pt modelId="{E57B6116-1A32-497F-80C1-6E0DD6ADE494}">
      <dgm:prSet phldrT="[文本]"/>
      <dgm:spPr>
        <a:solidFill>
          <a:schemeClr val="accent3">
            <a:lumMod val="75000"/>
          </a:schemeClr>
        </a:solidFill>
      </dgm:spPr>
      <dgm:t>
        <a:bodyPr/>
        <a:lstStyle/>
        <a:p>
          <a:r>
            <a:rPr lang="zh-CN" altLang="en-US" dirty="0">
              <a:solidFill>
                <a:srgbClr val="FFFF00"/>
              </a:solidFill>
              <a:latin typeface="华文细黑" pitchFamily="2" charset="-122"/>
              <a:ea typeface="华文细黑" pitchFamily="2" charset="-122"/>
            </a:rPr>
            <a:t>泛化误差</a:t>
          </a:r>
          <a:endParaRPr lang="zh-CN" altLang="en-US" dirty="0">
            <a:solidFill>
              <a:srgbClr val="FFFF00"/>
            </a:solidFill>
          </a:endParaRPr>
        </a:p>
      </dgm:t>
    </dgm:pt>
    <dgm:pt modelId="{8FE38927-6E19-43D7-A749-21F4433C7788}" type="parTrans" cxnId="{46D740B8-8A6D-4F81-84B5-1704DCCEF146}">
      <dgm:prSet/>
      <dgm:spPr/>
      <dgm:t>
        <a:bodyPr/>
        <a:lstStyle/>
        <a:p>
          <a:endParaRPr lang="zh-CN" altLang="en-US"/>
        </a:p>
      </dgm:t>
    </dgm:pt>
    <dgm:pt modelId="{F91548A3-F710-4F42-BC83-B72BFE19AB04}" type="sibTrans" cxnId="{46D740B8-8A6D-4F81-84B5-1704DCCEF146}">
      <dgm:prSet/>
      <dgm:spPr/>
      <dgm:t>
        <a:bodyPr/>
        <a:lstStyle/>
        <a:p>
          <a:endParaRPr lang="zh-CN" altLang="en-US"/>
        </a:p>
      </dgm:t>
    </dgm:pt>
    <dgm:pt modelId="{A2B30130-6F20-4FF0-B980-78AB511D82DD}">
      <dgm:prSet phldrT="[文本]" custT="1"/>
      <dgm:spPr/>
      <dgm:t>
        <a:bodyPr/>
        <a:lstStyle/>
        <a:p>
          <a:pPr algn="l"/>
          <a:r>
            <a:rPr lang="zh-CN" altLang="en-US" sz="1800" dirty="0">
              <a:latin typeface="华文细黑" pitchFamily="2" charset="-122"/>
              <a:ea typeface="华文细黑" pitchFamily="2" charset="-122"/>
            </a:rPr>
            <a:t>分类模型在未知样本上的期望误差</a:t>
          </a:r>
          <a:endParaRPr lang="zh-CN" altLang="en-US" sz="1500" dirty="0">
            <a:latin typeface="华文细黑" pitchFamily="2" charset="-122"/>
            <a:ea typeface="华文细黑" pitchFamily="2" charset="-122"/>
          </a:endParaRPr>
        </a:p>
      </dgm:t>
    </dgm:pt>
    <dgm:pt modelId="{D7F4304E-39E5-4845-9EF9-EAB782B49514}" type="parTrans" cxnId="{E014279B-3FBD-41A5-8BBD-7CC6EB2E2098}">
      <dgm:prSet/>
      <dgm:spPr/>
      <dgm:t>
        <a:bodyPr/>
        <a:lstStyle/>
        <a:p>
          <a:endParaRPr lang="zh-CN" altLang="en-US"/>
        </a:p>
      </dgm:t>
    </dgm:pt>
    <dgm:pt modelId="{F507B3F8-38C6-4F72-B7CA-741A42B79F3E}" type="sibTrans" cxnId="{E014279B-3FBD-41A5-8BBD-7CC6EB2E2098}">
      <dgm:prSet/>
      <dgm:spPr/>
      <dgm:t>
        <a:bodyPr/>
        <a:lstStyle/>
        <a:p>
          <a:endParaRPr lang="zh-CN" altLang="en-US"/>
        </a:p>
      </dgm:t>
    </dgm:pt>
    <dgm:pt modelId="{3F26AC34-5ED2-44DB-9F81-4EA4C4ABB88C}">
      <dgm:prSet phldrT="[文本]"/>
      <dgm:spPr/>
      <dgm:t>
        <a:bodyPr/>
        <a:lstStyle/>
        <a:p>
          <a:r>
            <a:rPr lang="zh-CN" altLang="en-US" dirty="0">
              <a:latin typeface="华文细黑" pitchFamily="2" charset="-122"/>
              <a:ea typeface="华文细黑" pitchFamily="2" charset="-122"/>
            </a:rPr>
            <a:t>训练误差</a:t>
          </a:r>
        </a:p>
      </dgm:t>
    </dgm:pt>
    <dgm:pt modelId="{6141BA16-577B-4468-821D-73D14069639B}" type="parTrans" cxnId="{74DB8879-CE49-41B0-880C-11ABE4EB3EB6}">
      <dgm:prSet/>
      <dgm:spPr/>
      <dgm:t>
        <a:bodyPr/>
        <a:lstStyle/>
        <a:p>
          <a:endParaRPr lang="zh-CN" altLang="en-US"/>
        </a:p>
      </dgm:t>
    </dgm:pt>
    <dgm:pt modelId="{552512E5-D629-4B24-A747-797709E03A0C}" type="sibTrans" cxnId="{74DB8879-CE49-41B0-880C-11ABE4EB3EB6}">
      <dgm:prSet/>
      <dgm:spPr/>
      <dgm:t>
        <a:bodyPr/>
        <a:lstStyle/>
        <a:p>
          <a:endParaRPr lang="zh-CN" altLang="en-US"/>
        </a:p>
      </dgm:t>
    </dgm:pt>
    <dgm:pt modelId="{49CBC46A-ED67-426C-BCFC-4C382A0AD903}">
      <dgm:prSet phldrT="[文本]" custT="1"/>
      <dgm:spPr/>
      <dgm:t>
        <a:bodyPr/>
        <a:lstStyle/>
        <a:p>
          <a:r>
            <a:rPr lang="zh-CN" altLang="en-US" sz="1800" dirty="0">
              <a:latin typeface="华文细黑" pitchFamily="2" charset="-122"/>
              <a:ea typeface="华文细黑" pitchFamily="2" charset="-122"/>
            </a:rPr>
            <a:t>在训练数据集上误分类样本比例</a:t>
          </a:r>
        </a:p>
      </dgm:t>
    </dgm:pt>
    <dgm:pt modelId="{00D818B3-FAAD-4942-B6A0-C465500E765E}" type="parTrans" cxnId="{36A458CD-DCE1-4687-B2D2-47FDB4FCA2F7}">
      <dgm:prSet/>
      <dgm:spPr/>
      <dgm:t>
        <a:bodyPr/>
        <a:lstStyle/>
        <a:p>
          <a:endParaRPr lang="zh-CN" altLang="en-US"/>
        </a:p>
      </dgm:t>
    </dgm:pt>
    <dgm:pt modelId="{79F293B8-DE1F-4F39-9538-41A97DC51F2E}" type="sibTrans" cxnId="{36A458CD-DCE1-4687-B2D2-47FDB4FCA2F7}">
      <dgm:prSet/>
      <dgm:spPr/>
      <dgm:t>
        <a:bodyPr/>
        <a:lstStyle/>
        <a:p>
          <a:endParaRPr lang="zh-CN" altLang="en-US"/>
        </a:p>
      </dgm:t>
    </dgm:pt>
    <dgm:pt modelId="{BE023331-9F12-4A40-91FC-FBCC6239ABD2}">
      <dgm:prSet phldrT="[文本]"/>
      <dgm:spPr>
        <a:solidFill>
          <a:schemeClr val="accent4">
            <a:lumMod val="50000"/>
          </a:schemeClr>
        </a:solidFill>
      </dgm:spPr>
      <dgm:t>
        <a:bodyPr/>
        <a:lstStyle/>
        <a:p>
          <a:r>
            <a:rPr lang="zh-CN" altLang="en-US" dirty="0">
              <a:latin typeface="华文细黑" pitchFamily="2" charset="-122"/>
              <a:ea typeface="华文细黑" pitchFamily="2" charset="-122"/>
            </a:rPr>
            <a:t>检验误差</a:t>
          </a:r>
        </a:p>
      </dgm:t>
    </dgm:pt>
    <dgm:pt modelId="{3B2FBCC5-68BA-45DA-A1CF-B0D5B41A628D}" type="parTrans" cxnId="{899D08E9-22AD-4151-A541-47DB5A847166}">
      <dgm:prSet/>
      <dgm:spPr/>
      <dgm:t>
        <a:bodyPr/>
        <a:lstStyle/>
        <a:p>
          <a:endParaRPr lang="zh-CN" altLang="en-US"/>
        </a:p>
      </dgm:t>
    </dgm:pt>
    <dgm:pt modelId="{2DFA74EA-74CE-4CB8-B48D-EE223F7C1883}" type="sibTrans" cxnId="{899D08E9-22AD-4151-A541-47DB5A847166}">
      <dgm:prSet/>
      <dgm:spPr/>
      <dgm:t>
        <a:bodyPr/>
        <a:lstStyle/>
        <a:p>
          <a:endParaRPr lang="zh-CN" altLang="en-US"/>
        </a:p>
      </dgm:t>
    </dgm:pt>
    <dgm:pt modelId="{A6C159A5-E0F1-4E9A-8E62-3A2D7F9CA43E}">
      <dgm:prSet phldrT="[文本]" custT="1"/>
      <dgm:spPr/>
      <dgm:t>
        <a:bodyPr/>
        <a:lstStyle/>
        <a:p>
          <a:r>
            <a:rPr lang="zh-CN" altLang="en-US" sz="1800" dirty="0">
              <a:latin typeface="华文细黑" pitchFamily="2" charset="-122"/>
              <a:ea typeface="华文细黑" pitchFamily="2" charset="-122"/>
            </a:rPr>
            <a:t>在测试数据集上误分类样本比例</a:t>
          </a:r>
        </a:p>
      </dgm:t>
    </dgm:pt>
    <dgm:pt modelId="{64C7D4E3-F4E9-4356-A639-F1AD8B87E84C}" type="parTrans" cxnId="{6482D562-33BF-4B3D-B8C5-E7A1ACAF9C32}">
      <dgm:prSet/>
      <dgm:spPr/>
      <dgm:t>
        <a:bodyPr/>
        <a:lstStyle/>
        <a:p>
          <a:endParaRPr lang="zh-CN" altLang="en-US"/>
        </a:p>
      </dgm:t>
    </dgm:pt>
    <dgm:pt modelId="{3D89CDBB-D4FF-4D46-8AD2-F47BD3A4C572}" type="sibTrans" cxnId="{6482D562-33BF-4B3D-B8C5-E7A1ACAF9C32}">
      <dgm:prSet/>
      <dgm:spPr/>
      <dgm:t>
        <a:bodyPr/>
        <a:lstStyle/>
        <a:p>
          <a:endParaRPr lang="zh-CN" altLang="en-US"/>
        </a:p>
      </dgm:t>
    </dgm:pt>
    <dgm:pt modelId="{C0592619-5541-4DA0-9AD3-BEFFC661A6BF}" type="pres">
      <dgm:prSet presAssocID="{51CDB24E-1FEB-48C9-A8A0-42248557196F}" presName="Name0" presStyleCnt="0">
        <dgm:presLayoutVars>
          <dgm:dir/>
          <dgm:animLvl val="lvl"/>
          <dgm:resizeHandles val="exact"/>
        </dgm:presLayoutVars>
      </dgm:prSet>
      <dgm:spPr/>
    </dgm:pt>
    <dgm:pt modelId="{5E4F9C31-74BC-4BAC-A62C-ADE4C7392201}" type="pres">
      <dgm:prSet presAssocID="{E57B6116-1A32-497F-80C1-6E0DD6ADE494}" presName="linNode" presStyleCnt="0"/>
      <dgm:spPr/>
    </dgm:pt>
    <dgm:pt modelId="{D7B4D000-6854-4713-BA88-B745CB062371}" type="pres">
      <dgm:prSet presAssocID="{E57B6116-1A32-497F-80C1-6E0DD6ADE494}" presName="parentText" presStyleLbl="node1" presStyleIdx="0" presStyleCnt="3">
        <dgm:presLayoutVars>
          <dgm:chMax val="1"/>
          <dgm:bulletEnabled val="1"/>
        </dgm:presLayoutVars>
      </dgm:prSet>
      <dgm:spPr/>
    </dgm:pt>
    <dgm:pt modelId="{C4CFA478-6DB4-4BD5-8FC6-812A361EEF5C}" type="pres">
      <dgm:prSet presAssocID="{E57B6116-1A32-497F-80C1-6E0DD6ADE494}" presName="descendantText" presStyleLbl="alignAccFollowNode1" presStyleIdx="0" presStyleCnt="3" custLinFactNeighborX="-19055">
        <dgm:presLayoutVars>
          <dgm:bulletEnabled val="1"/>
        </dgm:presLayoutVars>
      </dgm:prSet>
      <dgm:spPr/>
    </dgm:pt>
    <dgm:pt modelId="{96B7A4D4-D025-4BD6-AD07-55BBFCD4943A}" type="pres">
      <dgm:prSet presAssocID="{F91548A3-F710-4F42-BC83-B72BFE19AB04}" presName="sp" presStyleCnt="0"/>
      <dgm:spPr/>
    </dgm:pt>
    <dgm:pt modelId="{F803CC18-34EE-4C4E-A8B3-3F5E3B3A4DE4}" type="pres">
      <dgm:prSet presAssocID="{3F26AC34-5ED2-44DB-9F81-4EA4C4ABB88C}" presName="linNode" presStyleCnt="0"/>
      <dgm:spPr/>
    </dgm:pt>
    <dgm:pt modelId="{FD2FF3DF-2C8F-4FD4-A592-284C3BE8EAC1}" type="pres">
      <dgm:prSet presAssocID="{3F26AC34-5ED2-44DB-9F81-4EA4C4ABB88C}" presName="parentText" presStyleLbl="node1" presStyleIdx="1" presStyleCnt="3">
        <dgm:presLayoutVars>
          <dgm:chMax val="1"/>
          <dgm:bulletEnabled val="1"/>
        </dgm:presLayoutVars>
      </dgm:prSet>
      <dgm:spPr/>
    </dgm:pt>
    <dgm:pt modelId="{150B7882-14D3-4F1E-8A7F-D8E8C01BEC38}" type="pres">
      <dgm:prSet presAssocID="{3F26AC34-5ED2-44DB-9F81-4EA4C4ABB88C}" presName="descendantText" presStyleLbl="alignAccFollowNode1" presStyleIdx="1" presStyleCnt="3" custLinFactNeighborX="-19055">
        <dgm:presLayoutVars>
          <dgm:bulletEnabled val="1"/>
        </dgm:presLayoutVars>
      </dgm:prSet>
      <dgm:spPr/>
    </dgm:pt>
    <dgm:pt modelId="{131C2249-C960-4642-ABB0-CF97D0149EB7}" type="pres">
      <dgm:prSet presAssocID="{552512E5-D629-4B24-A747-797709E03A0C}" presName="sp" presStyleCnt="0"/>
      <dgm:spPr/>
    </dgm:pt>
    <dgm:pt modelId="{9EACEAD2-8BCF-49F2-807C-4842C5644623}" type="pres">
      <dgm:prSet presAssocID="{BE023331-9F12-4A40-91FC-FBCC6239ABD2}" presName="linNode" presStyleCnt="0"/>
      <dgm:spPr/>
    </dgm:pt>
    <dgm:pt modelId="{2AD1BBD6-36AA-42CA-9D83-AB0A2F0B1E6B}" type="pres">
      <dgm:prSet presAssocID="{BE023331-9F12-4A40-91FC-FBCC6239ABD2}" presName="parentText" presStyleLbl="node1" presStyleIdx="2" presStyleCnt="3">
        <dgm:presLayoutVars>
          <dgm:chMax val="1"/>
          <dgm:bulletEnabled val="1"/>
        </dgm:presLayoutVars>
      </dgm:prSet>
      <dgm:spPr/>
    </dgm:pt>
    <dgm:pt modelId="{C7537E5E-176C-45DF-8A84-980BDF98FD3C}" type="pres">
      <dgm:prSet presAssocID="{BE023331-9F12-4A40-91FC-FBCC6239ABD2}" presName="descendantText" presStyleLbl="alignAccFollowNode1" presStyleIdx="2" presStyleCnt="3" custLinFactNeighborX="-19055">
        <dgm:presLayoutVars>
          <dgm:bulletEnabled val="1"/>
        </dgm:presLayoutVars>
      </dgm:prSet>
      <dgm:spPr/>
    </dgm:pt>
  </dgm:ptLst>
  <dgm:cxnLst>
    <dgm:cxn modelId="{64AD7926-40ED-49B3-B0C3-0885CE70C03B}" type="presOf" srcId="{BE023331-9F12-4A40-91FC-FBCC6239ABD2}" destId="{2AD1BBD6-36AA-42CA-9D83-AB0A2F0B1E6B}" srcOrd="0" destOrd="0" presId="urn:microsoft.com/office/officeart/2005/8/layout/vList5"/>
    <dgm:cxn modelId="{6482D562-33BF-4B3D-B8C5-E7A1ACAF9C32}" srcId="{BE023331-9F12-4A40-91FC-FBCC6239ABD2}" destId="{A6C159A5-E0F1-4E9A-8E62-3A2D7F9CA43E}" srcOrd="0" destOrd="0" parTransId="{64C7D4E3-F4E9-4356-A639-F1AD8B87E84C}" sibTransId="{3D89CDBB-D4FF-4D46-8AD2-F47BD3A4C572}"/>
    <dgm:cxn modelId="{74DB8879-CE49-41B0-880C-11ABE4EB3EB6}" srcId="{51CDB24E-1FEB-48C9-A8A0-42248557196F}" destId="{3F26AC34-5ED2-44DB-9F81-4EA4C4ABB88C}" srcOrd="1" destOrd="0" parTransId="{6141BA16-577B-4468-821D-73D14069639B}" sibTransId="{552512E5-D629-4B24-A747-797709E03A0C}"/>
    <dgm:cxn modelId="{E014279B-3FBD-41A5-8BBD-7CC6EB2E2098}" srcId="{E57B6116-1A32-497F-80C1-6E0DD6ADE494}" destId="{A2B30130-6F20-4FF0-B980-78AB511D82DD}" srcOrd="0" destOrd="0" parTransId="{D7F4304E-39E5-4845-9EF9-EAB782B49514}" sibTransId="{F507B3F8-38C6-4F72-B7CA-741A42B79F3E}"/>
    <dgm:cxn modelId="{4EF1C1A4-D4F3-40A3-A0DD-B20F0069A7E0}" type="presOf" srcId="{49CBC46A-ED67-426C-BCFC-4C382A0AD903}" destId="{150B7882-14D3-4F1E-8A7F-D8E8C01BEC38}" srcOrd="0" destOrd="0" presId="urn:microsoft.com/office/officeart/2005/8/layout/vList5"/>
    <dgm:cxn modelId="{69452EB4-98CF-400B-ACCE-75293CC5192C}" type="presOf" srcId="{E57B6116-1A32-497F-80C1-6E0DD6ADE494}" destId="{D7B4D000-6854-4713-BA88-B745CB062371}" srcOrd="0" destOrd="0" presId="urn:microsoft.com/office/officeart/2005/8/layout/vList5"/>
    <dgm:cxn modelId="{46D740B8-8A6D-4F81-84B5-1704DCCEF146}" srcId="{51CDB24E-1FEB-48C9-A8A0-42248557196F}" destId="{E57B6116-1A32-497F-80C1-6E0DD6ADE494}" srcOrd="0" destOrd="0" parTransId="{8FE38927-6E19-43D7-A749-21F4433C7788}" sibTransId="{F91548A3-F710-4F42-BC83-B72BFE19AB04}"/>
    <dgm:cxn modelId="{6D89D0C5-E85A-42C4-BACE-891F01D85E99}" type="presOf" srcId="{51CDB24E-1FEB-48C9-A8A0-42248557196F}" destId="{C0592619-5541-4DA0-9AD3-BEFFC661A6BF}" srcOrd="0" destOrd="0" presId="urn:microsoft.com/office/officeart/2005/8/layout/vList5"/>
    <dgm:cxn modelId="{36A458CD-DCE1-4687-B2D2-47FDB4FCA2F7}" srcId="{3F26AC34-5ED2-44DB-9F81-4EA4C4ABB88C}" destId="{49CBC46A-ED67-426C-BCFC-4C382A0AD903}" srcOrd="0" destOrd="0" parTransId="{00D818B3-FAAD-4942-B6A0-C465500E765E}" sibTransId="{79F293B8-DE1F-4F39-9538-41A97DC51F2E}"/>
    <dgm:cxn modelId="{C985C2D6-4ECE-464D-8BA3-A964E010CA83}" type="presOf" srcId="{3F26AC34-5ED2-44DB-9F81-4EA4C4ABB88C}" destId="{FD2FF3DF-2C8F-4FD4-A592-284C3BE8EAC1}" srcOrd="0" destOrd="0" presId="urn:microsoft.com/office/officeart/2005/8/layout/vList5"/>
    <dgm:cxn modelId="{83E2F5E0-35B2-46B4-ABC2-963C850E3DFC}" type="presOf" srcId="{A6C159A5-E0F1-4E9A-8E62-3A2D7F9CA43E}" destId="{C7537E5E-176C-45DF-8A84-980BDF98FD3C}" srcOrd="0" destOrd="0" presId="urn:microsoft.com/office/officeart/2005/8/layout/vList5"/>
    <dgm:cxn modelId="{899D08E9-22AD-4151-A541-47DB5A847166}" srcId="{51CDB24E-1FEB-48C9-A8A0-42248557196F}" destId="{BE023331-9F12-4A40-91FC-FBCC6239ABD2}" srcOrd="2" destOrd="0" parTransId="{3B2FBCC5-68BA-45DA-A1CF-B0D5B41A628D}" sibTransId="{2DFA74EA-74CE-4CB8-B48D-EE223F7C1883}"/>
    <dgm:cxn modelId="{B29304ED-76C6-490C-B5C9-9D8D83BE185B}" type="presOf" srcId="{A2B30130-6F20-4FF0-B980-78AB511D82DD}" destId="{C4CFA478-6DB4-4BD5-8FC6-812A361EEF5C}" srcOrd="0" destOrd="0" presId="urn:microsoft.com/office/officeart/2005/8/layout/vList5"/>
    <dgm:cxn modelId="{CD0769EA-3FD2-4986-BA7D-32E22FAB4A1E}" type="presParOf" srcId="{C0592619-5541-4DA0-9AD3-BEFFC661A6BF}" destId="{5E4F9C31-74BC-4BAC-A62C-ADE4C7392201}" srcOrd="0" destOrd="0" presId="urn:microsoft.com/office/officeart/2005/8/layout/vList5"/>
    <dgm:cxn modelId="{72D16EB2-A297-4163-B776-9196DB84B8FF}" type="presParOf" srcId="{5E4F9C31-74BC-4BAC-A62C-ADE4C7392201}" destId="{D7B4D000-6854-4713-BA88-B745CB062371}" srcOrd="0" destOrd="0" presId="urn:microsoft.com/office/officeart/2005/8/layout/vList5"/>
    <dgm:cxn modelId="{2CB9AB35-8214-408F-90AF-D5F1FBA906C7}" type="presParOf" srcId="{5E4F9C31-74BC-4BAC-A62C-ADE4C7392201}" destId="{C4CFA478-6DB4-4BD5-8FC6-812A361EEF5C}" srcOrd="1" destOrd="0" presId="urn:microsoft.com/office/officeart/2005/8/layout/vList5"/>
    <dgm:cxn modelId="{F691BB45-0A08-43F1-8FC7-4B1E0AFBD2B8}" type="presParOf" srcId="{C0592619-5541-4DA0-9AD3-BEFFC661A6BF}" destId="{96B7A4D4-D025-4BD6-AD07-55BBFCD4943A}" srcOrd="1" destOrd="0" presId="urn:microsoft.com/office/officeart/2005/8/layout/vList5"/>
    <dgm:cxn modelId="{3B78B41E-9B53-4B21-B5A6-40C414FC63BC}" type="presParOf" srcId="{C0592619-5541-4DA0-9AD3-BEFFC661A6BF}" destId="{F803CC18-34EE-4C4E-A8B3-3F5E3B3A4DE4}" srcOrd="2" destOrd="0" presId="urn:microsoft.com/office/officeart/2005/8/layout/vList5"/>
    <dgm:cxn modelId="{E87E324C-D9E1-4158-B4D3-CEFBDA95424A}" type="presParOf" srcId="{F803CC18-34EE-4C4E-A8B3-3F5E3B3A4DE4}" destId="{FD2FF3DF-2C8F-4FD4-A592-284C3BE8EAC1}" srcOrd="0" destOrd="0" presId="urn:microsoft.com/office/officeart/2005/8/layout/vList5"/>
    <dgm:cxn modelId="{119EAE66-B8CD-4370-A405-AD5566EDC667}" type="presParOf" srcId="{F803CC18-34EE-4C4E-A8B3-3F5E3B3A4DE4}" destId="{150B7882-14D3-4F1E-8A7F-D8E8C01BEC38}" srcOrd="1" destOrd="0" presId="urn:microsoft.com/office/officeart/2005/8/layout/vList5"/>
    <dgm:cxn modelId="{F7003169-5ABF-49D4-8AC2-EF0E15465058}" type="presParOf" srcId="{C0592619-5541-4DA0-9AD3-BEFFC661A6BF}" destId="{131C2249-C960-4642-ABB0-CF97D0149EB7}" srcOrd="3" destOrd="0" presId="urn:microsoft.com/office/officeart/2005/8/layout/vList5"/>
    <dgm:cxn modelId="{57A639CD-AF98-4D28-AF70-A6FA92532761}" type="presParOf" srcId="{C0592619-5541-4DA0-9AD3-BEFFC661A6BF}" destId="{9EACEAD2-8BCF-49F2-807C-4842C5644623}" srcOrd="4" destOrd="0" presId="urn:microsoft.com/office/officeart/2005/8/layout/vList5"/>
    <dgm:cxn modelId="{9D74DE20-B4BA-413F-B31B-6BDD507A3547}" type="presParOf" srcId="{9EACEAD2-8BCF-49F2-807C-4842C5644623}" destId="{2AD1BBD6-36AA-42CA-9D83-AB0A2F0B1E6B}" srcOrd="0" destOrd="0" presId="urn:microsoft.com/office/officeart/2005/8/layout/vList5"/>
    <dgm:cxn modelId="{55917652-16BB-4D22-BA92-B91216F374B1}" type="presParOf" srcId="{9EACEAD2-8BCF-49F2-807C-4842C5644623}" destId="{C7537E5E-176C-45DF-8A84-980BDF98FD3C}"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46B0018-AF11-4CA9-9E97-D97A3DEC0D37}" type="doc">
      <dgm:prSet loTypeId="urn:microsoft.com/office/officeart/2005/8/layout/list1" loCatId="list" qsTypeId="urn:microsoft.com/office/officeart/2005/8/quickstyle/simple3" qsCatId="simple" csTypeId="urn:microsoft.com/office/officeart/2005/8/colors/colorful2" csCatId="colorful" phldr="1"/>
      <dgm:spPr/>
      <dgm:t>
        <a:bodyPr/>
        <a:lstStyle/>
        <a:p>
          <a:endParaRPr lang="zh-CN" altLang="en-US"/>
        </a:p>
      </dgm:t>
    </dgm:pt>
    <dgm:pt modelId="{F084C08E-B578-45F5-8E35-F98BE70E73B1}">
      <dgm:prSet/>
      <dgm:spPr/>
      <dgm:t>
        <a:bodyPr/>
        <a:lstStyle/>
        <a:p>
          <a:pPr rtl="0"/>
          <a:r>
            <a:rPr lang="zh-CN">
              <a:latin typeface="华文细黑" pitchFamily="2" charset="-122"/>
              <a:ea typeface="华文细黑" pitchFamily="2" charset="-122"/>
            </a:rPr>
            <a:t>减少错误剪枝</a:t>
          </a:r>
          <a:r>
            <a:rPr lang="en-US">
              <a:latin typeface="华文细黑" pitchFamily="2" charset="-122"/>
              <a:ea typeface="华文细黑" pitchFamily="2" charset="-122"/>
            </a:rPr>
            <a:t>REP(Reduced-Error Pruning)</a:t>
          </a:r>
          <a:endParaRPr lang="zh-CN">
            <a:latin typeface="华文细黑" pitchFamily="2" charset="-122"/>
            <a:ea typeface="华文细黑" pitchFamily="2" charset="-122"/>
          </a:endParaRPr>
        </a:p>
      </dgm:t>
    </dgm:pt>
    <dgm:pt modelId="{663871FF-D82A-48FA-9820-C6794ED6AEEA}" type="parTrans" cxnId="{CB92D465-452D-43EA-BF6E-0AF477836185}">
      <dgm:prSet/>
      <dgm:spPr/>
      <dgm:t>
        <a:bodyPr/>
        <a:lstStyle/>
        <a:p>
          <a:endParaRPr lang="zh-CN" altLang="en-US">
            <a:latin typeface="华文细黑" pitchFamily="2" charset="-122"/>
            <a:ea typeface="华文细黑" pitchFamily="2" charset="-122"/>
          </a:endParaRPr>
        </a:p>
      </dgm:t>
    </dgm:pt>
    <dgm:pt modelId="{EA5F9831-9EFF-4F4C-ABFE-60B001E02BDD}" type="sibTrans" cxnId="{CB92D465-452D-43EA-BF6E-0AF477836185}">
      <dgm:prSet/>
      <dgm:spPr/>
      <dgm:t>
        <a:bodyPr/>
        <a:lstStyle/>
        <a:p>
          <a:endParaRPr lang="zh-CN" altLang="en-US">
            <a:latin typeface="华文细黑" pitchFamily="2" charset="-122"/>
            <a:ea typeface="华文细黑" pitchFamily="2" charset="-122"/>
          </a:endParaRPr>
        </a:p>
      </dgm:t>
    </dgm:pt>
    <dgm:pt modelId="{8609B7A2-88B4-4B41-A147-511878D6C0A3}">
      <dgm:prSet/>
      <dgm:spPr/>
      <dgm:t>
        <a:bodyPr/>
        <a:lstStyle/>
        <a:p>
          <a:pPr rtl="0"/>
          <a:r>
            <a:rPr lang="zh-CN">
              <a:latin typeface="华文细黑" pitchFamily="2" charset="-122"/>
              <a:ea typeface="华文细黑" pitchFamily="2" charset="-122"/>
            </a:rPr>
            <a:t>悲观错误剪枝法</a:t>
          </a:r>
          <a:r>
            <a:rPr lang="en-US">
              <a:latin typeface="华文细黑" pitchFamily="2" charset="-122"/>
              <a:ea typeface="华文细黑" pitchFamily="2" charset="-122"/>
            </a:rPr>
            <a:t>PEP(Pesimistic-Error Pruning)</a:t>
          </a:r>
          <a:endParaRPr lang="zh-CN">
            <a:latin typeface="华文细黑" pitchFamily="2" charset="-122"/>
            <a:ea typeface="华文细黑" pitchFamily="2" charset="-122"/>
          </a:endParaRPr>
        </a:p>
      </dgm:t>
    </dgm:pt>
    <dgm:pt modelId="{E06BBEEE-0DB7-43EC-BDA6-BE3C1D796F22}" type="parTrans" cxnId="{D4DAA9BD-F97A-4892-811F-D7D7C52808D5}">
      <dgm:prSet/>
      <dgm:spPr/>
      <dgm:t>
        <a:bodyPr/>
        <a:lstStyle/>
        <a:p>
          <a:endParaRPr lang="zh-CN" altLang="en-US">
            <a:latin typeface="华文细黑" pitchFamily="2" charset="-122"/>
            <a:ea typeface="华文细黑" pitchFamily="2" charset="-122"/>
          </a:endParaRPr>
        </a:p>
      </dgm:t>
    </dgm:pt>
    <dgm:pt modelId="{E328B2A7-1833-4882-9126-4D9E257342F9}" type="sibTrans" cxnId="{D4DAA9BD-F97A-4892-811F-D7D7C52808D5}">
      <dgm:prSet/>
      <dgm:spPr/>
      <dgm:t>
        <a:bodyPr/>
        <a:lstStyle/>
        <a:p>
          <a:endParaRPr lang="zh-CN" altLang="en-US">
            <a:latin typeface="华文细黑" pitchFamily="2" charset="-122"/>
            <a:ea typeface="华文细黑" pitchFamily="2" charset="-122"/>
          </a:endParaRPr>
        </a:p>
      </dgm:t>
    </dgm:pt>
    <dgm:pt modelId="{4E83C855-5523-431A-B132-0F7EF562D61B}">
      <dgm:prSet/>
      <dgm:spPr/>
      <dgm:t>
        <a:bodyPr/>
        <a:lstStyle/>
        <a:p>
          <a:pPr rtl="0"/>
          <a:r>
            <a:rPr lang="zh-CN">
              <a:latin typeface="华文细黑" pitchFamily="2" charset="-122"/>
              <a:ea typeface="华文细黑" pitchFamily="2" charset="-122"/>
            </a:rPr>
            <a:t>代价</a:t>
          </a:r>
          <a:r>
            <a:rPr lang="en-US">
              <a:latin typeface="华文细黑" pitchFamily="2" charset="-122"/>
              <a:ea typeface="华文细黑" pitchFamily="2" charset="-122"/>
            </a:rPr>
            <a:t>-</a:t>
          </a:r>
          <a:r>
            <a:rPr lang="zh-CN">
              <a:latin typeface="华文细黑" pitchFamily="2" charset="-122"/>
              <a:ea typeface="华文细黑" pitchFamily="2" charset="-122"/>
            </a:rPr>
            <a:t>复杂度剪枝</a:t>
          </a:r>
          <a:r>
            <a:rPr lang="en-US">
              <a:latin typeface="华文细黑" pitchFamily="2" charset="-122"/>
              <a:ea typeface="华文细黑" pitchFamily="2" charset="-122"/>
            </a:rPr>
            <a:t>CCP(Cost-Complexity Pruning)</a:t>
          </a:r>
          <a:endParaRPr lang="zh-CN">
            <a:latin typeface="华文细黑" pitchFamily="2" charset="-122"/>
            <a:ea typeface="华文细黑" pitchFamily="2" charset="-122"/>
          </a:endParaRPr>
        </a:p>
      </dgm:t>
    </dgm:pt>
    <dgm:pt modelId="{AB0C96E3-42EE-4D89-9F4B-7C0274B8332B}" type="parTrans" cxnId="{C32B086D-6C56-4EED-BBA6-735CB521C26E}">
      <dgm:prSet/>
      <dgm:spPr/>
      <dgm:t>
        <a:bodyPr/>
        <a:lstStyle/>
        <a:p>
          <a:endParaRPr lang="zh-CN" altLang="en-US">
            <a:latin typeface="华文细黑" pitchFamily="2" charset="-122"/>
            <a:ea typeface="华文细黑" pitchFamily="2" charset="-122"/>
          </a:endParaRPr>
        </a:p>
      </dgm:t>
    </dgm:pt>
    <dgm:pt modelId="{4F0AED5F-D593-4269-94BA-69FE7BC621A2}" type="sibTrans" cxnId="{C32B086D-6C56-4EED-BBA6-735CB521C26E}">
      <dgm:prSet/>
      <dgm:spPr/>
      <dgm:t>
        <a:bodyPr/>
        <a:lstStyle/>
        <a:p>
          <a:endParaRPr lang="zh-CN" altLang="en-US">
            <a:latin typeface="华文细黑" pitchFamily="2" charset="-122"/>
            <a:ea typeface="华文细黑" pitchFamily="2" charset="-122"/>
          </a:endParaRPr>
        </a:p>
      </dgm:t>
    </dgm:pt>
    <dgm:pt modelId="{F153EC04-1845-41D0-A975-B2F34ACCF91B}">
      <dgm:prSet/>
      <dgm:spPr/>
      <dgm:t>
        <a:bodyPr/>
        <a:lstStyle/>
        <a:p>
          <a:pPr rtl="0"/>
          <a:r>
            <a:rPr lang="zh-CN">
              <a:latin typeface="华文细黑" pitchFamily="2" charset="-122"/>
              <a:ea typeface="华文细黑" pitchFamily="2" charset="-122"/>
            </a:rPr>
            <a:t>最小错误剪枝</a:t>
          </a:r>
          <a:r>
            <a:rPr lang="en-US">
              <a:latin typeface="华文细黑" pitchFamily="2" charset="-122"/>
              <a:ea typeface="华文细黑" pitchFamily="2" charset="-122"/>
            </a:rPr>
            <a:t>MEP(Minimum Error Pruning)</a:t>
          </a:r>
          <a:endParaRPr lang="zh-CN">
            <a:latin typeface="华文细黑" pitchFamily="2" charset="-122"/>
            <a:ea typeface="华文细黑" pitchFamily="2" charset="-122"/>
          </a:endParaRPr>
        </a:p>
      </dgm:t>
    </dgm:pt>
    <dgm:pt modelId="{AD353604-6BDA-4C72-9503-3ACA889DB467}" type="parTrans" cxnId="{2DE6A68D-E158-4FCE-BA6A-08E498994EBE}">
      <dgm:prSet/>
      <dgm:spPr/>
      <dgm:t>
        <a:bodyPr/>
        <a:lstStyle/>
        <a:p>
          <a:endParaRPr lang="zh-CN" altLang="en-US">
            <a:latin typeface="华文细黑" pitchFamily="2" charset="-122"/>
            <a:ea typeface="华文细黑" pitchFamily="2" charset="-122"/>
          </a:endParaRPr>
        </a:p>
      </dgm:t>
    </dgm:pt>
    <dgm:pt modelId="{34055EE2-0912-4E71-93B0-47FB2CF038E4}" type="sibTrans" cxnId="{2DE6A68D-E158-4FCE-BA6A-08E498994EBE}">
      <dgm:prSet/>
      <dgm:spPr/>
      <dgm:t>
        <a:bodyPr/>
        <a:lstStyle/>
        <a:p>
          <a:endParaRPr lang="zh-CN" altLang="en-US">
            <a:latin typeface="华文细黑" pitchFamily="2" charset="-122"/>
            <a:ea typeface="华文细黑" pitchFamily="2" charset="-122"/>
          </a:endParaRPr>
        </a:p>
      </dgm:t>
    </dgm:pt>
    <dgm:pt modelId="{59843D4A-7B21-4FC2-A322-B25F1BA819CE}" type="pres">
      <dgm:prSet presAssocID="{F46B0018-AF11-4CA9-9E97-D97A3DEC0D37}" presName="linear" presStyleCnt="0">
        <dgm:presLayoutVars>
          <dgm:dir/>
          <dgm:animLvl val="lvl"/>
          <dgm:resizeHandles val="exact"/>
        </dgm:presLayoutVars>
      </dgm:prSet>
      <dgm:spPr/>
    </dgm:pt>
    <dgm:pt modelId="{7B0CDDED-FEF9-43E0-AAE2-E4A219E37A7B}" type="pres">
      <dgm:prSet presAssocID="{F084C08E-B578-45F5-8E35-F98BE70E73B1}" presName="parentLin" presStyleCnt="0"/>
      <dgm:spPr/>
    </dgm:pt>
    <dgm:pt modelId="{63087B3B-116E-479F-8451-4AF712C8BF6C}" type="pres">
      <dgm:prSet presAssocID="{F084C08E-B578-45F5-8E35-F98BE70E73B1}" presName="parentLeftMargin" presStyleLbl="node1" presStyleIdx="0" presStyleCnt="4"/>
      <dgm:spPr/>
    </dgm:pt>
    <dgm:pt modelId="{4AF8D3FE-F92B-472F-B5B9-DF7CF3784EFF}" type="pres">
      <dgm:prSet presAssocID="{F084C08E-B578-45F5-8E35-F98BE70E73B1}" presName="parentText" presStyleLbl="node1" presStyleIdx="0" presStyleCnt="4" custScaleX="121000" custScaleY="121000">
        <dgm:presLayoutVars>
          <dgm:chMax val="0"/>
          <dgm:bulletEnabled val="1"/>
        </dgm:presLayoutVars>
      </dgm:prSet>
      <dgm:spPr/>
    </dgm:pt>
    <dgm:pt modelId="{7EB58331-0BEC-4097-A4F3-16E1F89549D6}" type="pres">
      <dgm:prSet presAssocID="{F084C08E-B578-45F5-8E35-F98BE70E73B1}" presName="negativeSpace" presStyleCnt="0"/>
      <dgm:spPr/>
    </dgm:pt>
    <dgm:pt modelId="{959B3B7D-1FA4-485A-B7C4-8605C81FA780}" type="pres">
      <dgm:prSet presAssocID="{F084C08E-B578-45F5-8E35-F98BE70E73B1}" presName="childText" presStyleLbl="conFgAcc1" presStyleIdx="0" presStyleCnt="4" custScaleY="121000">
        <dgm:presLayoutVars>
          <dgm:bulletEnabled val="1"/>
        </dgm:presLayoutVars>
      </dgm:prSet>
      <dgm:spPr>
        <a:prstGeom prst="arc">
          <a:avLst/>
        </a:prstGeom>
        <a:noFill/>
      </dgm:spPr>
    </dgm:pt>
    <dgm:pt modelId="{F05DDA97-B157-4019-AD5E-DB31CD392865}" type="pres">
      <dgm:prSet presAssocID="{EA5F9831-9EFF-4F4C-ABFE-60B001E02BDD}" presName="spaceBetweenRectangles" presStyleCnt="0"/>
      <dgm:spPr/>
    </dgm:pt>
    <dgm:pt modelId="{77267D7D-F8DA-4323-A41F-765C7375A92D}" type="pres">
      <dgm:prSet presAssocID="{8609B7A2-88B4-4B41-A147-511878D6C0A3}" presName="parentLin" presStyleCnt="0"/>
      <dgm:spPr/>
    </dgm:pt>
    <dgm:pt modelId="{CE2B4E89-7B54-470A-93CF-C0B244141E66}" type="pres">
      <dgm:prSet presAssocID="{8609B7A2-88B4-4B41-A147-511878D6C0A3}" presName="parentLeftMargin" presStyleLbl="node1" presStyleIdx="0" presStyleCnt="4"/>
      <dgm:spPr/>
    </dgm:pt>
    <dgm:pt modelId="{49835C83-319B-46CA-91A9-A98F35EEAD34}" type="pres">
      <dgm:prSet presAssocID="{8609B7A2-88B4-4B41-A147-511878D6C0A3}" presName="parentText" presStyleLbl="node1" presStyleIdx="1" presStyleCnt="4" custScaleX="121000" custScaleY="121000">
        <dgm:presLayoutVars>
          <dgm:chMax val="0"/>
          <dgm:bulletEnabled val="1"/>
        </dgm:presLayoutVars>
      </dgm:prSet>
      <dgm:spPr/>
    </dgm:pt>
    <dgm:pt modelId="{9B3E103F-249F-4D86-B42F-D90992AF6AEA}" type="pres">
      <dgm:prSet presAssocID="{8609B7A2-88B4-4B41-A147-511878D6C0A3}" presName="negativeSpace" presStyleCnt="0"/>
      <dgm:spPr/>
    </dgm:pt>
    <dgm:pt modelId="{9CA874A6-0746-4A9A-8089-E083DDC22DE3}" type="pres">
      <dgm:prSet presAssocID="{8609B7A2-88B4-4B41-A147-511878D6C0A3}" presName="childText" presStyleLbl="conFgAcc1" presStyleIdx="1" presStyleCnt="4" custScaleY="121000">
        <dgm:presLayoutVars>
          <dgm:bulletEnabled val="1"/>
        </dgm:presLayoutVars>
      </dgm:prSet>
      <dgm:spPr>
        <a:prstGeom prst="arc">
          <a:avLst/>
        </a:prstGeom>
        <a:noFill/>
      </dgm:spPr>
    </dgm:pt>
    <dgm:pt modelId="{0F581CF3-99C2-4F93-A329-33321E8DBA9E}" type="pres">
      <dgm:prSet presAssocID="{E328B2A7-1833-4882-9126-4D9E257342F9}" presName="spaceBetweenRectangles" presStyleCnt="0"/>
      <dgm:spPr/>
    </dgm:pt>
    <dgm:pt modelId="{E02BCD18-D5D1-4900-8E25-34D1CFAF54C8}" type="pres">
      <dgm:prSet presAssocID="{4E83C855-5523-431A-B132-0F7EF562D61B}" presName="parentLin" presStyleCnt="0"/>
      <dgm:spPr/>
    </dgm:pt>
    <dgm:pt modelId="{D9116619-AE62-4AC3-8551-A9323B15B7E2}" type="pres">
      <dgm:prSet presAssocID="{4E83C855-5523-431A-B132-0F7EF562D61B}" presName="parentLeftMargin" presStyleLbl="node1" presStyleIdx="1" presStyleCnt="4"/>
      <dgm:spPr/>
    </dgm:pt>
    <dgm:pt modelId="{9E05D4E9-D1F2-41C1-BA58-F366F8A8CBA0}" type="pres">
      <dgm:prSet presAssocID="{4E83C855-5523-431A-B132-0F7EF562D61B}" presName="parentText" presStyleLbl="node1" presStyleIdx="2" presStyleCnt="4" custScaleX="121000" custScaleY="121000">
        <dgm:presLayoutVars>
          <dgm:chMax val="0"/>
          <dgm:bulletEnabled val="1"/>
        </dgm:presLayoutVars>
      </dgm:prSet>
      <dgm:spPr/>
    </dgm:pt>
    <dgm:pt modelId="{653B142D-F025-451D-B5FE-6F73CC248050}" type="pres">
      <dgm:prSet presAssocID="{4E83C855-5523-431A-B132-0F7EF562D61B}" presName="negativeSpace" presStyleCnt="0"/>
      <dgm:spPr/>
    </dgm:pt>
    <dgm:pt modelId="{530600A1-2A25-4EB0-A4F4-EE55BDB574F2}" type="pres">
      <dgm:prSet presAssocID="{4E83C855-5523-431A-B132-0F7EF562D61B}" presName="childText" presStyleLbl="conFgAcc1" presStyleIdx="2" presStyleCnt="4" custScaleY="121000">
        <dgm:presLayoutVars>
          <dgm:bulletEnabled val="1"/>
        </dgm:presLayoutVars>
      </dgm:prSet>
      <dgm:spPr>
        <a:prstGeom prst="arc">
          <a:avLst/>
        </a:prstGeom>
        <a:noFill/>
      </dgm:spPr>
    </dgm:pt>
    <dgm:pt modelId="{D5E8A93C-0552-49A1-8810-1E6C1551AE24}" type="pres">
      <dgm:prSet presAssocID="{4F0AED5F-D593-4269-94BA-69FE7BC621A2}" presName="spaceBetweenRectangles" presStyleCnt="0"/>
      <dgm:spPr/>
    </dgm:pt>
    <dgm:pt modelId="{9055AD6B-9691-49A7-B01C-FC8B82758690}" type="pres">
      <dgm:prSet presAssocID="{F153EC04-1845-41D0-A975-B2F34ACCF91B}" presName="parentLin" presStyleCnt="0"/>
      <dgm:spPr/>
    </dgm:pt>
    <dgm:pt modelId="{8FD178AE-26C0-4DF9-A55B-6127F29B3334}" type="pres">
      <dgm:prSet presAssocID="{F153EC04-1845-41D0-A975-B2F34ACCF91B}" presName="parentLeftMargin" presStyleLbl="node1" presStyleIdx="2" presStyleCnt="4"/>
      <dgm:spPr/>
    </dgm:pt>
    <dgm:pt modelId="{579BF152-CF87-40AD-A84A-01B58A1DBD5A}" type="pres">
      <dgm:prSet presAssocID="{F153EC04-1845-41D0-A975-B2F34ACCF91B}" presName="parentText" presStyleLbl="node1" presStyleIdx="3" presStyleCnt="4" custScaleX="121000" custScaleY="121000">
        <dgm:presLayoutVars>
          <dgm:chMax val="0"/>
          <dgm:bulletEnabled val="1"/>
        </dgm:presLayoutVars>
      </dgm:prSet>
      <dgm:spPr/>
    </dgm:pt>
    <dgm:pt modelId="{7CFA5F74-F392-4033-8E49-5577DAD11FBD}" type="pres">
      <dgm:prSet presAssocID="{F153EC04-1845-41D0-A975-B2F34ACCF91B}" presName="negativeSpace" presStyleCnt="0"/>
      <dgm:spPr/>
    </dgm:pt>
    <dgm:pt modelId="{11D9DFAD-489C-4D2F-A8B1-7D8583AB7B18}" type="pres">
      <dgm:prSet presAssocID="{F153EC04-1845-41D0-A975-B2F34ACCF91B}" presName="childText" presStyleLbl="conFgAcc1" presStyleIdx="3" presStyleCnt="4" custScaleY="121000">
        <dgm:presLayoutVars>
          <dgm:bulletEnabled val="1"/>
        </dgm:presLayoutVars>
      </dgm:prSet>
      <dgm:spPr>
        <a:prstGeom prst="arc">
          <a:avLst/>
        </a:prstGeom>
        <a:noFill/>
      </dgm:spPr>
    </dgm:pt>
  </dgm:ptLst>
  <dgm:cxnLst>
    <dgm:cxn modelId="{95DD900F-A0B0-4A6A-8C2A-96193EB3C985}" type="presOf" srcId="{4E83C855-5523-431A-B132-0F7EF562D61B}" destId="{9E05D4E9-D1F2-41C1-BA58-F366F8A8CBA0}" srcOrd="1" destOrd="0" presId="urn:microsoft.com/office/officeart/2005/8/layout/list1"/>
    <dgm:cxn modelId="{00BD9B20-8170-49CC-8A25-C9C4025DCCF8}" type="presOf" srcId="{8609B7A2-88B4-4B41-A147-511878D6C0A3}" destId="{CE2B4E89-7B54-470A-93CF-C0B244141E66}" srcOrd="0" destOrd="0" presId="urn:microsoft.com/office/officeart/2005/8/layout/list1"/>
    <dgm:cxn modelId="{523ED22B-C64A-41F2-9D86-7283AB41BF88}" type="presOf" srcId="{8609B7A2-88B4-4B41-A147-511878D6C0A3}" destId="{49835C83-319B-46CA-91A9-A98F35EEAD34}" srcOrd="1" destOrd="0" presId="urn:microsoft.com/office/officeart/2005/8/layout/list1"/>
    <dgm:cxn modelId="{CB92D465-452D-43EA-BF6E-0AF477836185}" srcId="{F46B0018-AF11-4CA9-9E97-D97A3DEC0D37}" destId="{F084C08E-B578-45F5-8E35-F98BE70E73B1}" srcOrd="0" destOrd="0" parTransId="{663871FF-D82A-48FA-9820-C6794ED6AEEA}" sibTransId="{EA5F9831-9EFF-4F4C-ABFE-60B001E02BDD}"/>
    <dgm:cxn modelId="{C32B086D-6C56-4EED-BBA6-735CB521C26E}" srcId="{F46B0018-AF11-4CA9-9E97-D97A3DEC0D37}" destId="{4E83C855-5523-431A-B132-0F7EF562D61B}" srcOrd="2" destOrd="0" parTransId="{AB0C96E3-42EE-4D89-9F4B-7C0274B8332B}" sibTransId="{4F0AED5F-D593-4269-94BA-69FE7BC621A2}"/>
    <dgm:cxn modelId="{2DE6A68D-E158-4FCE-BA6A-08E498994EBE}" srcId="{F46B0018-AF11-4CA9-9E97-D97A3DEC0D37}" destId="{F153EC04-1845-41D0-A975-B2F34ACCF91B}" srcOrd="3" destOrd="0" parTransId="{AD353604-6BDA-4C72-9503-3ACA889DB467}" sibTransId="{34055EE2-0912-4E71-93B0-47FB2CF038E4}"/>
    <dgm:cxn modelId="{0FE127A9-2F6B-4894-ACD0-FA2A8C1322B1}" type="presOf" srcId="{F46B0018-AF11-4CA9-9E97-D97A3DEC0D37}" destId="{59843D4A-7B21-4FC2-A322-B25F1BA819CE}" srcOrd="0" destOrd="0" presId="urn:microsoft.com/office/officeart/2005/8/layout/list1"/>
    <dgm:cxn modelId="{9E1DCBAF-7FE1-4769-8D0A-74CA08133955}" type="presOf" srcId="{F153EC04-1845-41D0-A975-B2F34ACCF91B}" destId="{8FD178AE-26C0-4DF9-A55B-6127F29B3334}" srcOrd="0" destOrd="0" presId="urn:microsoft.com/office/officeart/2005/8/layout/list1"/>
    <dgm:cxn modelId="{AC8BEBAF-DDF6-4929-9637-C72F7B60CA45}" type="presOf" srcId="{4E83C855-5523-431A-B132-0F7EF562D61B}" destId="{D9116619-AE62-4AC3-8551-A9323B15B7E2}" srcOrd="0" destOrd="0" presId="urn:microsoft.com/office/officeart/2005/8/layout/list1"/>
    <dgm:cxn modelId="{79F19DBA-39CA-4206-B56B-F03F2681C2BB}" type="presOf" srcId="{F084C08E-B578-45F5-8E35-F98BE70E73B1}" destId="{63087B3B-116E-479F-8451-4AF712C8BF6C}" srcOrd="0" destOrd="0" presId="urn:microsoft.com/office/officeart/2005/8/layout/list1"/>
    <dgm:cxn modelId="{D4DAA9BD-F97A-4892-811F-D7D7C52808D5}" srcId="{F46B0018-AF11-4CA9-9E97-D97A3DEC0D37}" destId="{8609B7A2-88B4-4B41-A147-511878D6C0A3}" srcOrd="1" destOrd="0" parTransId="{E06BBEEE-0DB7-43EC-BDA6-BE3C1D796F22}" sibTransId="{E328B2A7-1833-4882-9126-4D9E257342F9}"/>
    <dgm:cxn modelId="{FD5743C2-033D-432D-903B-E180A738B934}" type="presOf" srcId="{F084C08E-B578-45F5-8E35-F98BE70E73B1}" destId="{4AF8D3FE-F92B-472F-B5B9-DF7CF3784EFF}" srcOrd="1" destOrd="0" presId="urn:microsoft.com/office/officeart/2005/8/layout/list1"/>
    <dgm:cxn modelId="{FA5057F7-5753-441D-B75A-2A548D3C478D}" type="presOf" srcId="{F153EC04-1845-41D0-A975-B2F34ACCF91B}" destId="{579BF152-CF87-40AD-A84A-01B58A1DBD5A}" srcOrd="1" destOrd="0" presId="urn:microsoft.com/office/officeart/2005/8/layout/list1"/>
    <dgm:cxn modelId="{AD87F11A-B7A5-4622-A3DC-CBD8F3068088}" type="presParOf" srcId="{59843D4A-7B21-4FC2-A322-B25F1BA819CE}" destId="{7B0CDDED-FEF9-43E0-AAE2-E4A219E37A7B}" srcOrd="0" destOrd="0" presId="urn:microsoft.com/office/officeart/2005/8/layout/list1"/>
    <dgm:cxn modelId="{44EAA7D0-6C1D-41DA-843E-1BB7BE291E70}" type="presParOf" srcId="{7B0CDDED-FEF9-43E0-AAE2-E4A219E37A7B}" destId="{63087B3B-116E-479F-8451-4AF712C8BF6C}" srcOrd="0" destOrd="0" presId="urn:microsoft.com/office/officeart/2005/8/layout/list1"/>
    <dgm:cxn modelId="{A07C471F-3EBE-41BE-A054-CA69A44C5060}" type="presParOf" srcId="{7B0CDDED-FEF9-43E0-AAE2-E4A219E37A7B}" destId="{4AF8D3FE-F92B-472F-B5B9-DF7CF3784EFF}" srcOrd="1" destOrd="0" presId="urn:microsoft.com/office/officeart/2005/8/layout/list1"/>
    <dgm:cxn modelId="{1D5B4439-3754-48B1-95C3-9DB01E2FA29E}" type="presParOf" srcId="{59843D4A-7B21-4FC2-A322-B25F1BA819CE}" destId="{7EB58331-0BEC-4097-A4F3-16E1F89549D6}" srcOrd="1" destOrd="0" presId="urn:microsoft.com/office/officeart/2005/8/layout/list1"/>
    <dgm:cxn modelId="{B996B6F4-D1F5-4A11-9900-1310A382D8EA}" type="presParOf" srcId="{59843D4A-7B21-4FC2-A322-B25F1BA819CE}" destId="{959B3B7D-1FA4-485A-B7C4-8605C81FA780}" srcOrd="2" destOrd="0" presId="urn:microsoft.com/office/officeart/2005/8/layout/list1"/>
    <dgm:cxn modelId="{AB8C2C6E-A66A-447C-B260-FBF7FF94932E}" type="presParOf" srcId="{59843D4A-7B21-4FC2-A322-B25F1BA819CE}" destId="{F05DDA97-B157-4019-AD5E-DB31CD392865}" srcOrd="3" destOrd="0" presId="urn:microsoft.com/office/officeart/2005/8/layout/list1"/>
    <dgm:cxn modelId="{D43B3A86-047A-44B0-99E7-9467D2916458}" type="presParOf" srcId="{59843D4A-7B21-4FC2-A322-B25F1BA819CE}" destId="{77267D7D-F8DA-4323-A41F-765C7375A92D}" srcOrd="4" destOrd="0" presId="urn:microsoft.com/office/officeart/2005/8/layout/list1"/>
    <dgm:cxn modelId="{559F64B6-A119-47F4-A90B-B026003CA22A}" type="presParOf" srcId="{77267D7D-F8DA-4323-A41F-765C7375A92D}" destId="{CE2B4E89-7B54-470A-93CF-C0B244141E66}" srcOrd="0" destOrd="0" presId="urn:microsoft.com/office/officeart/2005/8/layout/list1"/>
    <dgm:cxn modelId="{D9908059-C67F-4F80-80F5-D286545DCFC1}" type="presParOf" srcId="{77267D7D-F8DA-4323-A41F-765C7375A92D}" destId="{49835C83-319B-46CA-91A9-A98F35EEAD34}" srcOrd="1" destOrd="0" presId="urn:microsoft.com/office/officeart/2005/8/layout/list1"/>
    <dgm:cxn modelId="{64AAFA17-6AAB-4239-A5E5-16B7789D21DB}" type="presParOf" srcId="{59843D4A-7B21-4FC2-A322-B25F1BA819CE}" destId="{9B3E103F-249F-4D86-B42F-D90992AF6AEA}" srcOrd="5" destOrd="0" presId="urn:microsoft.com/office/officeart/2005/8/layout/list1"/>
    <dgm:cxn modelId="{A9CF229B-A7B4-47B3-9DE6-1D0044DFB3B3}" type="presParOf" srcId="{59843D4A-7B21-4FC2-A322-B25F1BA819CE}" destId="{9CA874A6-0746-4A9A-8089-E083DDC22DE3}" srcOrd="6" destOrd="0" presId="urn:microsoft.com/office/officeart/2005/8/layout/list1"/>
    <dgm:cxn modelId="{C5DE6860-2023-46A9-8625-ED17EF6FE3AD}" type="presParOf" srcId="{59843D4A-7B21-4FC2-A322-B25F1BA819CE}" destId="{0F581CF3-99C2-4F93-A329-33321E8DBA9E}" srcOrd="7" destOrd="0" presId="urn:microsoft.com/office/officeart/2005/8/layout/list1"/>
    <dgm:cxn modelId="{88EF7530-AB98-42DF-887F-B18DECC2A464}" type="presParOf" srcId="{59843D4A-7B21-4FC2-A322-B25F1BA819CE}" destId="{E02BCD18-D5D1-4900-8E25-34D1CFAF54C8}" srcOrd="8" destOrd="0" presId="urn:microsoft.com/office/officeart/2005/8/layout/list1"/>
    <dgm:cxn modelId="{65152D6A-5A64-4F2E-9BC6-5697087727CF}" type="presParOf" srcId="{E02BCD18-D5D1-4900-8E25-34D1CFAF54C8}" destId="{D9116619-AE62-4AC3-8551-A9323B15B7E2}" srcOrd="0" destOrd="0" presId="urn:microsoft.com/office/officeart/2005/8/layout/list1"/>
    <dgm:cxn modelId="{9B2A08B4-8FEE-412E-AD45-30336728C2A3}" type="presParOf" srcId="{E02BCD18-D5D1-4900-8E25-34D1CFAF54C8}" destId="{9E05D4E9-D1F2-41C1-BA58-F366F8A8CBA0}" srcOrd="1" destOrd="0" presId="urn:microsoft.com/office/officeart/2005/8/layout/list1"/>
    <dgm:cxn modelId="{45339705-F43F-44C4-A090-0F7F31DFDAC0}" type="presParOf" srcId="{59843D4A-7B21-4FC2-A322-B25F1BA819CE}" destId="{653B142D-F025-451D-B5FE-6F73CC248050}" srcOrd="9" destOrd="0" presId="urn:microsoft.com/office/officeart/2005/8/layout/list1"/>
    <dgm:cxn modelId="{ADFEAFC4-3F4F-4D96-8185-4FB857C41E56}" type="presParOf" srcId="{59843D4A-7B21-4FC2-A322-B25F1BA819CE}" destId="{530600A1-2A25-4EB0-A4F4-EE55BDB574F2}" srcOrd="10" destOrd="0" presId="urn:microsoft.com/office/officeart/2005/8/layout/list1"/>
    <dgm:cxn modelId="{32019C53-DAF9-4FDE-B243-C6E55513F2EE}" type="presParOf" srcId="{59843D4A-7B21-4FC2-A322-B25F1BA819CE}" destId="{D5E8A93C-0552-49A1-8810-1E6C1551AE24}" srcOrd="11" destOrd="0" presId="urn:microsoft.com/office/officeart/2005/8/layout/list1"/>
    <dgm:cxn modelId="{EC175281-B02F-4EE5-9957-7EE2E3A284D3}" type="presParOf" srcId="{59843D4A-7B21-4FC2-A322-B25F1BA819CE}" destId="{9055AD6B-9691-49A7-B01C-FC8B82758690}" srcOrd="12" destOrd="0" presId="urn:microsoft.com/office/officeart/2005/8/layout/list1"/>
    <dgm:cxn modelId="{E9C6D585-56C7-49E7-82F4-80587017130F}" type="presParOf" srcId="{9055AD6B-9691-49A7-B01C-FC8B82758690}" destId="{8FD178AE-26C0-4DF9-A55B-6127F29B3334}" srcOrd="0" destOrd="0" presId="urn:microsoft.com/office/officeart/2005/8/layout/list1"/>
    <dgm:cxn modelId="{07AA279F-D512-410A-8C4D-14F03E234CAA}" type="presParOf" srcId="{9055AD6B-9691-49A7-B01C-FC8B82758690}" destId="{579BF152-CF87-40AD-A84A-01B58A1DBD5A}" srcOrd="1" destOrd="0" presId="urn:microsoft.com/office/officeart/2005/8/layout/list1"/>
    <dgm:cxn modelId="{86ADFC96-5726-407B-9413-4D6F0EDF2A76}" type="presParOf" srcId="{59843D4A-7B21-4FC2-A322-B25F1BA819CE}" destId="{7CFA5F74-F392-4033-8E49-5577DAD11FBD}" srcOrd="13" destOrd="0" presId="urn:microsoft.com/office/officeart/2005/8/layout/list1"/>
    <dgm:cxn modelId="{57E4EF6D-93FC-4C16-8502-5BBB66A8B2F2}" type="presParOf" srcId="{59843D4A-7B21-4FC2-A322-B25F1BA819CE}" destId="{11D9DFAD-489C-4D2F-A8B1-7D8583AB7B18}"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CFA478-6DB4-4BD5-8FC6-812A361EEF5C}">
      <dsp:nvSpPr>
        <dsp:cNvPr id="0" name=""/>
        <dsp:cNvSpPr/>
      </dsp:nvSpPr>
      <dsp:spPr>
        <a:xfrm rot="5400000">
          <a:off x="2582659" y="-1132090"/>
          <a:ext cx="601425" cy="3018240"/>
        </a:xfrm>
        <a:prstGeom prst="round2Same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CN" altLang="en-US" sz="1800" kern="1200" dirty="0">
              <a:latin typeface="华文细黑" pitchFamily="2" charset="-122"/>
              <a:ea typeface="华文细黑" pitchFamily="2" charset="-122"/>
            </a:rPr>
            <a:t>分类模型在未知样本上的期望误差</a:t>
          </a:r>
          <a:endParaRPr lang="zh-CN" altLang="en-US" sz="1500" kern="1200" dirty="0">
            <a:latin typeface="华文细黑" pitchFamily="2" charset="-122"/>
            <a:ea typeface="华文细黑" pitchFamily="2" charset="-122"/>
          </a:endParaRPr>
        </a:p>
      </dsp:txBody>
      <dsp:txXfrm rot="-5400000">
        <a:off x="1374252" y="105676"/>
        <a:ext cx="2988881" cy="542707"/>
      </dsp:txXfrm>
    </dsp:sp>
    <dsp:sp modelId="{D7B4D000-6854-4713-BA88-B745CB062371}">
      <dsp:nvSpPr>
        <dsp:cNvPr id="0" name=""/>
        <dsp:cNvSpPr/>
      </dsp:nvSpPr>
      <dsp:spPr>
        <a:xfrm>
          <a:off x="0" y="1139"/>
          <a:ext cx="1697760" cy="751781"/>
        </a:xfrm>
        <a:prstGeom prst="roundRect">
          <a:avLst/>
        </a:prstGeom>
        <a:solidFill>
          <a:schemeClr val="accent3">
            <a:lumMod val="75000"/>
          </a:scheme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zh-CN" altLang="en-US" sz="2700" kern="1200" dirty="0">
              <a:solidFill>
                <a:srgbClr val="FFFF00"/>
              </a:solidFill>
              <a:latin typeface="华文细黑" pitchFamily="2" charset="-122"/>
              <a:ea typeface="华文细黑" pitchFamily="2" charset="-122"/>
            </a:rPr>
            <a:t>泛化误差</a:t>
          </a:r>
          <a:endParaRPr lang="zh-CN" altLang="en-US" sz="2700" kern="1200" dirty="0">
            <a:solidFill>
              <a:srgbClr val="FFFF00"/>
            </a:solidFill>
          </a:endParaRPr>
        </a:p>
      </dsp:txBody>
      <dsp:txXfrm>
        <a:off x="36699" y="37838"/>
        <a:ext cx="1624362" cy="678383"/>
      </dsp:txXfrm>
    </dsp:sp>
    <dsp:sp modelId="{150B7882-14D3-4F1E-8A7F-D8E8C01BEC38}">
      <dsp:nvSpPr>
        <dsp:cNvPr id="0" name=""/>
        <dsp:cNvSpPr/>
      </dsp:nvSpPr>
      <dsp:spPr>
        <a:xfrm rot="5400000">
          <a:off x="2582659" y="-342720"/>
          <a:ext cx="601425" cy="3018240"/>
        </a:xfrm>
        <a:prstGeom prst="round2SameRect">
          <a:avLst/>
        </a:prstGeom>
        <a:solidFill>
          <a:schemeClr val="accent3">
            <a:tint val="40000"/>
            <a:alpha val="90000"/>
            <a:hueOff val="5358427"/>
            <a:satOff val="-6896"/>
            <a:lumOff val="-537"/>
            <a:alphaOff val="0"/>
          </a:schemeClr>
        </a:solidFill>
        <a:ln w="9525" cap="flat" cmpd="sng" algn="ctr">
          <a:solidFill>
            <a:schemeClr val="accent3">
              <a:tint val="40000"/>
              <a:alpha val="90000"/>
              <a:hueOff val="5358427"/>
              <a:satOff val="-6896"/>
              <a:lumOff val="-537"/>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CN" altLang="en-US" sz="1800" kern="1200" dirty="0">
              <a:latin typeface="华文细黑" pitchFamily="2" charset="-122"/>
              <a:ea typeface="华文细黑" pitchFamily="2" charset="-122"/>
            </a:rPr>
            <a:t>在训练数据集上误分类样本比例</a:t>
          </a:r>
        </a:p>
      </dsp:txBody>
      <dsp:txXfrm rot="-5400000">
        <a:off x="1374252" y="895046"/>
        <a:ext cx="2988881" cy="542707"/>
      </dsp:txXfrm>
    </dsp:sp>
    <dsp:sp modelId="{FD2FF3DF-2C8F-4FD4-A592-284C3BE8EAC1}">
      <dsp:nvSpPr>
        <dsp:cNvPr id="0" name=""/>
        <dsp:cNvSpPr/>
      </dsp:nvSpPr>
      <dsp:spPr>
        <a:xfrm>
          <a:off x="0" y="790509"/>
          <a:ext cx="1697760" cy="751781"/>
        </a:xfrm>
        <a:prstGeom prst="roundRect">
          <a:avLst/>
        </a:prstGeom>
        <a:gradFill rotWithShape="0">
          <a:gsLst>
            <a:gs pos="0">
              <a:schemeClr val="accent3">
                <a:hueOff val="5625132"/>
                <a:satOff val="-8440"/>
                <a:lumOff val="-1373"/>
                <a:alphaOff val="0"/>
                <a:shade val="51000"/>
                <a:satMod val="130000"/>
              </a:schemeClr>
            </a:gs>
            <a:gs pos="80000">
              <a:schemeClr val="accent3">
                <a:hueOff val="5625132"/>
                <a:satOff val="-8440"/>
                <a:lumOff val="-1373"/>
                <a:alphaOff val="0"/>
                <a:shade val="93000"/>
                <a:satMod val="130000"/>
              </a:schemeClr>
            </a:gs>
            <a:gs pos="100000">
              <a:schemeClr val="accent3">
                <a:hueOff val="5625132"/>
                <a:satOff val="-8440"/>
                <a:lumOff val="-137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zh-CN" altLang="en-US" sz="2700" kern="1200" dirty="0">
              <a:latin typeface="华文细黑" pitchFamily="2" charset="-122"/>
              <a:ea typeface="华文细黑" pitchFamily="2" charset="-122"/>
            </a:rPr>
            <a:t>训练误差</a:t>
          </a:r>
        </a:p>
      </dsp:txBody>
      <dsp:txXfrm>
        <a:off x="36699" y="827208"/>
        <a:ext cx="1624362" cy="678383"/>
      </dsp:txXfrm>
    </dsp:sp>
    <dsp:sp modelId="{C7537E5E-176C-45DF-8A84-980BDF98FD3C}">
      <dsp:nvSpPr>
        <dsp:cNvPr id="0" name=""/>
        <dsp:cNvSpPr/>
      </dsp:nvSpPr>
      <dsp:spPr>
        <a:xfrm rot="5400000">
          <a:off x="2582659" y="446650"/>
          <a:ext cx="601425" cy="3018240"/>
        </a:xfrm>
        <a:prstGeom prst="round2SameRect">
          <a:avLst/>
        </a:prstGeom>
        <a:solidFill>
          <a:schemeClr val="accent3">
            <a:tint val="40000"/>
            <a:alpha val="90000"/>
            <a:hueOff val="10716854"/>
            <a:satOff val="-13793"/>
            <a:lumOff val="-1075"/>
            <a:alphaOff val="0"/>
          </a:schemeClr>
        </a:solidFill>
        <a:ln w="9525" cap="flat" cmpd="sng" algn="ctr">
          <a:solidFill>
            <a:schemeClr val="accent3">
              <a:tint val="40000"/>
              <a:alpha val="90000"/>
              <a:hueOff val="10716854"/>
              <a:satOff val="-13793"/>
              <a:lumOff val="-1075"/>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CN" altLang="en-US" sz="1800" kern="1200" dirty="0">
              <a:latin typeface="华文细黑" pitchFamily="2" charset="-122"/>
              <a:ea typeface="华文细黑" pitchFamily="2" charset="-122"/>
            </a:rPr>
            <a:t>在测试数据集上误分类样本比例</a:t>
          </a:r>
        </a:p>
      </dsp:txBody>
      <dsp:txXfrm rot="-5400000">
        <a:off x="1374252" y="1684417"/>
        <a:ext cx="2988881" cy="542707"/>
      </dsp:txXfrm>
    </dsp:sp>
    <dsp:sp modelId="{2AD1BBD6-36AA-42CA-9D83-AB0A2F0B1E6B}">
      <dsp:nvSpPr>
        <dsp:cNvPr id="0" name=""/>
        <dsp:cNvSpPr/>
      </dsp:nvSpPr>
      <dsp:spPr>
        <a:xfrm>
          <a:off x="0" y="1579879"/>
          <a:ext cx="1697760" cy="751781"/>
        </a:xfrm>
        <a:prstGeom prst="roundRect">
          <a:avLst/>
        </a:prstGeom>
        <a:solidFill>
          <a:schemeClr val="accent4">
            <a:lumMod val="50000"/>
          </a:scheme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zh-CN" altLang="en-US" sz="2700" kern="1200" dirty="0">
              <a:latin typeface="华文细黑" pitchFamily="2" charset="-122"/>
              <a:ea typeface="华文细黑" pitchFamily="2" charset="-122"/>
            </a:rPr>
            <a:t>检验误差</a:t>
          </a:r>
        </a:p>
      </dsp:txBody>
      <dsp:txXfrm>
        <a:off x="36699" y="1616578"/>
        <a:ext cx="1624362" cy="67838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9B3B7D-1FA4-485A-B7C4-8605C81FA780}">
      <dsp:nvSpPr>
        <dsp:cNvPr id="0" name=""/>
        <dsp:cNvSpPr/>
      </dsp:nvSpPr>
      <dsp:spPr>
        <a:xfrm>
          <a:off x="0" y="423570"/>
          <a:ext cx="8917735" cy="518364"/>
        </a:xfrm>
        <a:prstGeom prst="arc">
          <a:avLst/>
        </a:prstGeom>
        <a:no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4AF8D3FE-F92B-472F-B5B9-DF7CF3784EFF}">
      <dsp:nvSpPr>
        <dsp:cNvPr id="0" name=""/>
        <dsp:cNvSpPr/>
      </dsp:nvSpPr>
      <dsp:spPr>
        <a:xfrm>
          <a:off x="445886" y="67264"/>
          <a:ext cx="7553321" cy="607226"/>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35948" tIns="0" rIns="235948" bIns="0" numCol="1" spcCol="1270" anchor="ctr" anchorCtr="0">
          <a:noAutofit/>
        </a:bodyPr>
        <a:lstStyle/>
        <a:p>
          <a:pPr marL="0" lvl="0" indent="0" algn="l" defTabSz="755650" rtl="0">
            <a:lnSpc>
              <a:spcPct val="90000"/>
            </a:lnSpc>
            <a:spcBef>
              <a:spcPct val="0"/>
            </a:spcBef>
            <a:spcAft>
              <a:spcPct val="35000"/>
            </a:spcAft>
            <a:buNone/>
          </a:pPr>
          <a:r>
            <a:rPr lang="zh-CN" sz="1700" kern="1200">
              <a:latin typeface="华文细黑" pitchFamily="2" charset="-122"/>
              <a:ea typeface="华文细黑" pitchFamily="2" charset="-122"/>
            </a:rPr>
            <a:t>减少错误剪枝</a:t>
          </a:r>
          <a:r>
            <a:rPr lang="en-US" sz="1700" kern="1200">
              <a:latin typeface="华文细黑" pitchFamily="2" charset="-122"/>
              <a:ea typeface="华文细黑" pitchFamily="2" charset="-122"/>
            </a:rPr>
            <a:t>REP(Reduced-Error Pruning)</a:t>
          </a:r>
          <a:endParaRPr lang="zh-CN" sz="1700" kern="1200">
            <a:latin typeface="华文细黑" pitchFamily="2" charset="-122"/>
            <a:ea typeface="华文细黑" pitchFamily="2" charset="-122"/>
          </a:endParaRPr>
        </a:p>
      </dsp:txBody>
      <dsp:txXfrm>
        <a:off x="475528" y="96906"/>
        <a:ext cx="7494037" cy="547942"/>
      </dsp:txXfrm>
    </dsp:sp>
    <dsp:sp modelId="{9CA874A6-0746-4A9A-8089-E083DDC22DE3}">
      <dsp:nvSpPr>
        <dsp:cNvPr id="0" name=""/>
        <dsp:cNvSpPr/>
      </dsp:nvSpPr>
      <dsp:spPr>
        <a:xfrm>
          <a:off x="0" y="1390041"/>
          <a:ext cx="8917735" cy="518364"/>
        </a:xfrm>
        <a:prstGeom prst="arc">
          <a:avLst/>
        </a:prstGeom>
        <a:noFill/>
        <a:ln w="9525" cap="flat" cmpd="sng" algn="ctr">
          <a:solidFill>
            <a:schemeClr val="accent2">
              <a:hueOff val="1560506"/>
              <a:satOff val="-1946"/>
              <a:lumOff val="458"/>
              <a:alphaOff val="0"/>
            </a:schemeClr>
          </a:solidFill>
          <a:prstDash val="solid"/>
        </a:ln>
        <a:effectLst/>
      </dsp:spPr>
      <dsp:style>
        <a:lnRef idx="1">
          <a:scrgbClr r="0" g="0" b="0"/>
        </a:lnRef>
        <a:fillRef idx="1">
          <a:scrgbClr r="0" g="0" b="0"/>
        </a:fillRef>
        <a:effectRef idx="0">
          <a:scrgbClr r="0" g="0" b="0"/>
        </a:effectRef>
        <a:fontRef idx="minor"/>
      </dsp:style>
    </dsp:sp>
    <dsp:sp modelId="{49835C83-319B-46CA-91A9-A98F35EEAD34}">
      <dsp:nvSpPr>
        <dsp:cNvPr id="0" name=""/>
        <dsp:cNvSpPr/>
      </dsp:nvSpPr>
      <dsp:spPr>
        <a:xfrm>
          <a:off x="445886" y="1033734"/>
          <a:ext cx="7553321" cy="607226"/>
        </a:xfrm>
        <a:prstGeom prst="roundRect">
          <a:avLst/>
        </a:prstGeom>
        <a:gradFill rotWithShape="0">
          <a:gsLst>
            <a:gs pos="0">
              <a:schemeClr val="accent2">
                <a:hueOff val="1560506"/>
                <a:satOff val="-1946"/>
                <a:lumOff val="458"/>
                <a:alphaOff val="0"/>
                <a:tint val="50000"/>
                <a:satMod val="300000"/>
              </a:schemeClr>
            </a:gs>
            <a:gs pos="35000">
              <a:schemeClr val="accent2">
                <a:hueOff val="1560506"/>
                <a:satOff val="-1946"/>
                <a:lumOff val="458"/>
                <a:alphaOff val="0"/>
                <a:tint val="37000"/>
                <a:satMod val="300000"/>
              </a:schemeClr>
            </a:gs>
            <a:gs pos="100000">
              <a:schemeClr val="accent2">
                <a:hueOff val="1560506"/>
                <a:satOff val="-1946"/>
                <a:lumOff val="45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35948" tIns="0" rIns="235948" bIns="0" numCol="1" spcCol="1270" anchor="ctr" anchorCtr="0">
          <a:noAutofit/>
        </a:bodyPr>
        <a:lstStyle/>
        <a:p>
          <a:pPr marL="0" lvl="0" indent="0" algn="l" defTabSz="755650" rtl="0">
            <a:lnSpc>
              <a:spcPct val="90000"/>
            </a:lnSpc>
            <a:spcBef>
              <a:spcPct val="0"/>
            </a:spcBef>
            <a:spcAft>
              <a:spcPct val="35000"/>
            </a:spcAft>
            <a:buNone/>
          </a:pPr>
          <a:r>
            <a:rPr lang="zh-CN" sz="1700" kern="1200">
              <a:latin typeface="华文细黑" pitchFamily="2" charset="-122"/>
              <a:ea typeface="华文细黑" pitchFamily="2" charset="-122"/>
            </a:rPr>
            <a:t>悲观错误剪枝法</a:t>
          </a:r>
          <a:r>
            <a:rPr lang="en-US" sz="1700" kern="1200">
              <a:latin typeface="华文细黑" pitchFamily="2" charset="-122"/>
              <a:ea typeface="华文细黑" pitchFamily="2" charset="-122"/>
            </a:rPr>
            <a:t>PEP(Pesimistic-Error Pruning)</a:t>
          </a:r>
          <a:endParaRPr lang="zh-CN" sz="1700" kern="1200">
            <a:latin typeface="华文细黑" pitchFamily="2" charset="-122"/>
            <a:ea typeface="华文细黑" pitchFamily="2" charset="-122"/>
          </a:endParaRPr>
        </a:p>
      </dsp:txBody>
      <dsp:txXfrm>
        <a:off x="475528" y="1063376"/>
        <a:ext cx="7494037" cy="547942"/>
      </dsp:txXfrm>
    </dsp:sp>
    <dsp:sp modelId="{530600A1-2A25-4EB0-A4F4-EE55BDB574F2}">
      <dsp:nvSpPr>
        <dsp:cNvPr id="0" name=""/>
        <dsp:cNvSpPr/>
      </dsp:nvSpPr>
      <dsp:spPr>
        <a:xfrm>
          <a:off x="0" y="2356511"/>
          <a:ext cx="8917735" cy="518364"/>
        </a:xfrm>
        <a:prstGeom prst="arc">
          <a:avLst/>
        </a:prstGeom>
        <a:noFill/>
        <a:ln w="9525" cap="flat" cmpd="sng" algn="ctr">
          <a:solidFill>
            <a:schemeClr val="accent2">
              <a:hueOff val="3121013"/>
              <a:satOff val="-3893"/>
              <a:lumOff val="915"/>
              <a:alphaOff val="0"/>
            </a:schemeClr>
          </a:solidFill>
          <a:prstDash val="solid"/>
        </a:ln>
        <a:effectLst/>
      </dsp:spPr>
      <dsp:style>
        <a:lnRef idx="1">
          <a:scrgbClr r="0" g="0" b="0"/>
        </a:lnRef>
        <a:fillRef idx="1">
          <a:scrgbClr r="0" g="0" b="0"/>
        </a:fillRef>
        <a:effectRef idx="0">
          <a:scrgbClr r="0" g="0" b="0"/>
        </a:effectRef>
        <a:fontRef idx="minor"/>
      </dsp:style>
    </dsp:sp>
    <dsp:sp modelId="{9E05D4E9-D1F2-41C1-BA58-F366F8A8CBA0}">
      <dsp:nvSpPr>
        <dsp:cNvPr id="0" name=""/>
        <dsp:cNvSpPr/>
      </dsp:nvSpPr>
      <dsp:spPr>
        <a:xfrm>
          <a:off x="445886" y="2000205"/>
          <a:ext cx="7553321" cy="607226"/>
        </a:xfrm>
        <a:prstGeom prst="roundRect">
          <a:avLst/>
        </a:prstGeom>
        <a:gradFill rotWithShape="0">
          <a:gsLst>
            <a:gs pos="0">
              <a:schemeClr val="accent2">
                <a:hueOff val="3121013"/>
                <a:satOff val="-3893"/>
                <a:lumOff val="915"/>
                <a:alphaOff val="0"/>
                <a:tint val="50000"/>
                <a:satMod val="300000"/>
              </a:schemeClr>
            </a:gs>
            <a:gs pos="35000">
              <a:schemeClr val="accent2">
                <a:hueOff val="3121013"/>
                <a:satOff val="-3893"/>
                <a:lumOff val="915"/>
                <a:alphaOff val="0"/>
                <a:tint val="37000"/>
                <a:satMod val="300000"/>
              </a:schemeClr>
            </a:gs>
            <a:gs pos="100000">
              <a:schemeClr val="accent2">
                <a:hueOff val="3121013"/>
                <a:satOff val="-3893"/>
                <a:lumOff val="915"/>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35948" tIns="0" rIns="235948" bIns="0" numCol="1" spcCol="1270" anchor="ctr" anchorCtr="0">
          <a:noAutofit/>
        </a:bodyPr>
        <a:lstStyle/>
        <a:p>
          <a:pPr marL="0" lvl="0" indent="0" algn="l" defTabSz="755650" rtl="0">
            <a:lnSpc>
              <a:spcPct val="90000"/>
            </a:lnSpc>
            <a:spcBef>
              <a:spcPct val="0"/>
            </a:spcBef>
            <a:spcAft>
              <a:spcPct val="35000"/>
            </a:spcAft>
            <a:buNone/>
          </a:pPr>
          <a:r>
            <a:rPr lang="zh-CN" sz="1700" kern="1200">
              <a:latin typeface="华文细黑" pitchFamily="2" charset="-122"/>
              <a:ea typeface="华文细黑" pitchFamily="2" charset="-122"/>
            </a:rPr>
            <a:t>代价</a:t>
          </a:r>
          <a:r>
            <a:rPr lang="en-US" sz="1700" kern="1200">
              <a:latin typeface="华文细黑" pitchFamily="2" charset="-122"/>
              <a:ea typeface="华文细黑" pitchFamily="2" charset="-122"/>
            </a:rPr>
            <a:t>-</a:t>
          </a:r>
          <a:r>
            <a:rPr lang="zh-CN" sz="1700" kern="1200">
              <a:latin typeface="华文细黑" pitchFamily="2" charset="-122"/>
              <a:ea typeface="华文细黑" pitchFamily="2" charset="-122"/>
            </a:rPr>
            <a:t>复杂度剪枝</a:t>
          </a:r>
          <a:r>
            <a:rPr lang="en-US" sz="1700" kern="1200">
              <a:latin typeface="华文细黑" pitchFamily="2" charset="-122"/>
              <a:ea typeface="华文细黑" pitchFamily="2" charset="-122"/>
            </a:rPr>
            <a:t>CCP(Cost-Complexity Pruning)</a:t>
          </a:r>
          <a:endParaRPr lang="zh-CN" sz="1700" kern="1200">
            <a:latin typeface="华文细黑" pitchFamily="2" charset="-122"/>
            <a:ea typeface="华文细黑" pitchFamily="2" charset="-122"/>
          </a:endParaRPr>
        </a:p>
      </dsp:txBody>
      <dsp:txXfrm>
        <a:off x="475528" y="2029847"/>
        <a:ext cx="7494037" cy="547942"/>
      </dsp:txXfrm>
    </dsp:sp>
    <dsp:sp modelId="{11D9DFAD-489C-4D2F-A8B1-7D8583AB7B18}">
      <dsp:nvSpPr>
        <dsp:cNvPr id="0" name=""/>
        <dsp:cNvSpPr/>
      </dsp:nvSpPr>
      <dsp:spPr>
        <a:xfrm>
          <a:off x="0" y="3322981"/>
          <a:ext cx="8917735" cy="518364"/>
        </a:xfrm>
        <a:prstGeom prst="arc">
          <a:avLst/>
        </a:prstGeom>
        <a:noFill/>
        <a:ln w="9525" cap="flat" cmpd="sng" algn="ctr">
          <a:solidFill>
            <a:schemeClr val="accent2">
              <a:hueOff val="4681519"/>
              <a:satOff val="-5839"/>
              <a:lumOff val="1373"/>
              <a:alphaOff val="0"/>
            </a:schemeClr>
          </a:solidFill>
          <a:prstDash val="solid"/>
        </a:ln>
        <a:effectLst/>
      </dsp:spPr>
      <dsp:style>
        <a:lnRef idx="1">
          <a:scrgbClr r="0" g="0" b="0"/>
        </a:lnRef>
        <a:fillRef idx="1">
          <a:scrgbClr r="0" g="0" b="0"/>
        </a:fillRef>
        <a:effectRef idx="0">
          <a:scrgbClr r="0" g="0" b="0"/>
        </a:effectRef>
        <a:fontRef idx="minor"/>
      </dsp:style>
    </dsp:sp>
    <dsp:sp modelId="{579BF152-CF87-40AD-A84A-01B58A1DBD5A}">
      <dsp:nvSpPr>
        <dsp:cNvPr id="0" name=""/>
        <dsp:cNvSpPr/>
      </dsp:nvSpPr>
      <dsp:spPr>
        <a:xfrm>
          <a:off x="445886" y="2966675"/>
          <a:ext cx="7553321" cy="607226"/>
        </a:xfrm>
        <a:prstGeom prst="roundRect">
          <a:avLst/>
        </a:prstGeom>
        <a:gradFill rotWithShape="0">
          <a:gsLst>
            <a:gs pos="0">
              <a:schemeClr val="accent2">
                <a:hueOff val="4681519"/>
                <a:satOff val="-5839"/>
                <a:lumOff val="1373"/>
                <a:alphaOff val="0"/>
                <a:tint val="50000"/>
                <a:satMod val="300000"/>
              </a:schemeClr>
            </a:gs>
            <a:gs pos="35000">
              <a:schemeClr val="accent2">
                <a:hueOff val="4681519"/>
                <a:satOff val="-5839"/>
                <a:lumOff val="1373"/>
                <a:alphaOff val="0"/>
                <a:tint val="37000"/>
                <a:satMod val="300000"/>
              </a:schemeClr>
            </a:gs>
            <a:gs pos="100000">
              <a:schemeClr val="accent2">
                <a:hueOff val="4681519"/>
                <a:satOff val="-5839"/>
                <a:lumOff val="1373"/>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35948" tIns="0" rIns="235948" bIns="0" numCol="1" spcCol="1270" anchor="ctr" anchorCtr="0">
          <a:noAutofit/>
        </a:bodyPr>
        <a:lstStyle/>
        <a:p>
          <a:pPr marL="0" lvl="0" indent="0" algn="l" defTabSz="755650" rtl="0">
            <a:lnSpc>
              <a:spcPct val="90000"/>
            </a:lnSpc>
            <a:spcBef>
              <a:spcPct val="0"/>
            </a:spcBef>
            <a:spcAft>
              <a:spcPct val="35000"/>
            </a:spcAft>
            <a:buNone/>
          </a:pPr>
          <a:r>
            <a:rPr lang="zh-CN" sz="1700" kern="1200">
              <a:latin typeface="华文细黑" pitchFamily="2" charset="-122"/>
              <a:ea typeface="华文细黑" pitchFamily="2" charset="-122"/>
            </a:rPr>
            <a:t>最小错误剪枝</a:t>
          </a:r>
          <a:r>
            <a:rPr lang="en-US" sz="1700" kern="1200">
              <a:latin typeface="华文细黑" pitchFamily="2" charset="-122"/>
              <a:ea typeface="华文细黑" pitchFamily="2" charset="-122"/>
            </a:rPr>
            <a:t>MEP(Minimum Error Pruning)</a:t>
          </a:r>
          <a:endParaRPr lang="zh-CN" sz="1700" kern="1200">
            <a:latin typeface="华文细黑" pitchFamily="2" charset="-122"/>
            <a:ea typeface="华文细黑" pitchFamily="2" charset="-122"/>
          </a:endParaRPr>
        </a:p>
      </dsp:txBody>
      <dsp:txXfrm>
        <a:off x="475528" y="2996317"/>
        <a:ext cx="7494037" cy="547942"/>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image" Target="../media/image21.emf"/><Relationship Id="rId4" Type="http://schemas.openxmlformats.org/officeDocument/2006/relationships/image" Target="../media/image2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image" Target="../media/image46.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 Id="rId4" Type="http://schemas.openxmlformats.org/officeDocument/2006/relationships/image" Target="../media/image5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F37CF0-5B85-4F82-8895-487FD940EFF8}" type="datetimeFigureOut">
              <a:rPr lang="zh-CN" altLang="en-US" smtClean="0"/>
              <a:t>2025/12/10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161C67-365B-455B-8333-B2F385616053}" type="slidenum">
              <a:rPr lang="zh-CN" altLang="en-US" smtClean="0"/>
              <a:t>‹#›</a:t>
            </a:fld>
            <a:endParaRPr lang="zh-CN" altLang="en-US"/>
          </a:p>
        </p:txBody>
      </p:sp>
    </p:spTree>
    <p:extLst>
      <p:ext uri="{BB962C8B-B14F-4D97-AF65-F5344CB8AC3E}">
        <p14:creationId xmlns:p14="http://schemas.microsoft.com/office/powerpoint/2010/main" val="3826505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28983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6982859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231180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05724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6103650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A255D-7358-7B36-D84D-F9AA9B4E03A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BBC200D-5F1B-3C31-568E-5ECC094063D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65B27B3-0DE7-7F1C-F5F7-6A7C56AB78F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373A052-D2E3-B431-2A06-ACA3DE2D18B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49543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6D965-4913-5416-64C0-A78069474B1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5AB3267-B6BD-D179-5A69-B4FFF2F42EB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E8CD4B6-53A8-4446-277F-C1FC39EA4F0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02E2111-6659-3484-D0D8-3EE70B952C1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5774948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248B9-71BA-5F59-C75D-4A154E6E882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57F943A-2267-27C3-3780-EF64A8D43E9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A999DFE-C77C-4D94-CDA3-8E8AC14BEF9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987B5AE-4F9E-F532-62B1-8B4DDFCF6E3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8811489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F341C-9916-FCD4-0BC6-9E99A2B3808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7EDA008-D225-AF8A-2058-11B9B1DF3A3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0E6CD39-FA87-3A68-6B29-E08F351CD8B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43EB92D-79F3-D888-136B-AB4DC4896FD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4929626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3D64E-6706-13A5-1F28-3B139F9DCAE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483AEC-5D84-BA4A-890E-20213329F04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3A7D85F-3A19-9892-A7A7-7C1823FA08E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A6607E4-D659-A4C8-E3DC-DC9AB0291DF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721300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t>12</a:t>
            </a:fld>
            <a:endParaRPr lang="zh-CN" altLang="en-US"/>
          </a:p>
        </p:txBody>
      </p:sp>
    </p:spTree>
    <p:extLst>
      <p:ext uri="{BB962C8B-B14F-4D97-AF65-F5344CB8AC3E}">
        <p14:creationId xmlns:p14="http://schemas.microsoft.com/office/powerpoint/2010/main" val="8579548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7C69A-4DA9-BFB8-4F21-39D3F996DDF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D56442-235D-9BFE-3468-C82E79A3A86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40320CE-EBF2-00F4-84F9-D4AB877ADD1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ADC8AB3-789C-468D-27E0-FF5F0B6BA046}"/>
              </a:ext>
            </a:extLst>
          </p:cNvPr>
          <p:cNvSpPr>
            <a:spLocks noGrp="1"/>
          </p:cNvSpPr>
          <p:nvPr>
            <p:ph type="sldNum" sz="quarter" idx="5"/>
          </p:nvPr>
        </p:nvSpPr>
        <p:spPr/>
        <p:txBody>
          <a:bodyPr/>
          <a:lstStyle/>
          <a:p>
            <a:fld id="{496F833C-0931-4030-8352-AFD9186768B5}" type="slidenum">
              <a:rPr lang="zh-CN" altLang="en-US" smtClean="0"/>
              <a:t>13</a:t>
            </a:fld>
            <a:endParaRPr lang="zh-CN" altLang="en-US"/>
          </a:p>
        </p:txBody>
      </p:sp>
    </p:spTree>
    <p:extLst>
      <p:ext uri="{BB962C8B-B14F-4D97-AF65-F5344CB8AC3E}">
        <p14:creationId xmlns:p14="http://schemas.microsoft.com/office/powerpoint/2010/main" val="38731593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74FC5-6EC4-43A4-3144-E8A4913AC77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AF5332C-F837-38A5-3FA9-9E26905C220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E6857DF-FE50-23CB-9255-13054D1D329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5F6392C-E3FE-A64F-27FC-91E493A02DF1}"/>
              </a:ext>
            </a:extLst>
          </p:cNvPr>
          <p:cNvSpPr>
            <a:spLocks noGrp="1"/>
          </p:cNvSpPr>
          <p:nvPr>
            <p:ph type="sldNum" sz="quarter" idx="5"/>
          </p:nvPr>
        </p:nvSpPr>
        <p:spPr/>
        <p:txBody>
          <a:bodyPr/>
          <a:lstStyle/>
          <a:p>
            <a:fld id="{496F833C-0931-4030-8352-AFD9186768B5}" type="slidenum">
              <a:rPr lang="zh-CN" altLang="en-US" smtClean="0"/>
              <a:t>14</a:t>
            </a:fld>
            <a:endParaRPr lang="zh-CN" altLang="en-US"/>
          </a:p>
        </p:txBody>
      </p:sp>
    </p:spTree>
    <p:extLst>
      <p:ext uri="{BB962C8B-B14F-4D97-AF65-F5344CB8AC3E}">
        <p14:creationId xmlns:p14="http://schemas.microsoft.com/office/powerpoint/2010/main" val="8657711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5D4A8-3A83-4DCC-F6CE-A983589853A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C087065-6A9A-374C-CCCD-EEC5EDE33E2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72E3746-F0D5-14A9-203D-F5988F9436D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4B6B5C8-3E1F-433F-B854-D384B4F8DFB2}"/>
              </a:ext>
            </a:extLst>
          </p:cNvPr>
          <p:cNvSpPr>
            <a:spLocks noGrp="1"/>
          </p:cNvSpPr>
          <p:nvPr>
            <p:ph type="sldNum" sz="quarter" idx="5"/>
          </p:nvPr>
        </p:nvSpPr>
        <p:spPr/>
        <p:txBody>
          <a:bodyPr/>
          <a:lstStyle/>
          <a:p>
            <a:fld id="{496F833C-0931-4030-8352-AFD9186768B5}" type="slidenum">
              <a:rPr lang="zh-CN" altLang="en-US" smtClean="0"/>
              <a:t>15</a:t>
            </a:fld>
            <a:endParaRPr lang="zh-CN" altLang="en-US"/>
          </a:p>
        </p:txBody>
      </p:sp>
    </p:spTree>
    <p:extLst>
      <p:ext uri="{BB962C8B-B14F-4D97-AF65-F5344CB8AC3E}">
        <p14:creationId xmlns:p14="http://schemas.microsoft.com/office/powerpoint/2010/main" val="14525850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24017-856A-5D12-FD22-DD80F812D6F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8FB4399-E244-34AB-6665-90C507AF398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8BEBE77-F8A4-9DF6-59E7-0639EF42581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D4CA4C2-31A1-0235-5BC2-66D4D41273A6}"/>
              </a:ext>
            </a:extLst>
          </p:cNvPr>
          <p:cNvSpPr>
            <a:spLocks noGrp="1"/>
          </p:cNvSpPr>
          <p:nvPr>
            <p:ph type="sldNum" sz="quarter" idx="5"/>
          </p:nvPr>
        </p:nvSpPr>
        <p:spPr/>
        <p:txBody>
          <a:bodyPr/>
          <a:lstStyle/>
          <a:p>
            <a:fld id="{496F833C-0931-4030-8352-AFD9186768B5}" type="slidenum">
              <a:rPr lang="zh-CN" altLang="en-US" smtClean="0"/>
              <a:t>16</a:t>
            </a:fld>
            <a:endParaRPr lang="zh-CN" altLang="en-US"/>
          </a:p>
        </p:txBody>
      </p:sp>
    </p:spTree>
    <p:extLst>
      <p:ext uri="{BB962C8B-B14F-4D97-AF65-F5344CB8AC3E}">
        <p14:creationId xmlns:p14="http://schemas.microsoft.com/office/powerpoint/2010/main" val="30773937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i="0" dirty="0">
                <a:solidFill>
                  <a:srgbClr val="000000"/>
                </a:solidFill>
                <a:effectLst/>
                <a:latin typeface="Lucida Grande"/>
              </a:rPr>
              <a:t>Learning a Decision Tree Algorithm with Transformers</a:t>
            </a:r>
          </a:p>
          <a:p>
            <a:r>
              <a:rPr lang="en-US" altLang="zh-CN" dirty="0"/>
              <a:t>https://arxiv.org/abs/2402.03774</a:t>
            </a:r>
            <a:endParaRPr lang="zh-CN" altLang="en-US" dirty="0"/>
          </a:p>
        </p:txBody>
      </p:sp>
      <p:sp>
        <p:nvSpPr>
          <p:cNvPr id="4" name="灯片编号占位符 3"/>
          <p:cNvSpPr>
            <a:spLocks noGrp="1"/>
          </p:cNvSpPr>
          <p:nvPr>
            <p:ph type="sldNum" sz="quarter" idx="5"/>
          </p:nvPr>
        </p:nvSpPr>
        <p:spPr/>
        <p:txBody>
          <a:bodyPr/>
          <a:lstStyle/>
          <a:p>
            <a:fld id="{17161C67-365B-455B-8333-B2F385616053}" type="slidenum">
              <a:rPr lang="zh-CN" altLang="en-US" smtClean="0"/>
              <a:t>17</a:t>
            </a:fld>
            <a:endParaRPr lang="zh-CN" altLang="en-US"/>
          </a:p>
        </p:txBody>
      </p:sp>
    </p:spTree>
    <p:extLst>
      <p:ext uri="{BB962C8B-B14F-4D97-AF65-F5344CB8AC3E}">
        <p14:creationId xmlns:p14="http://schemas.microsoft.com/office/powerpoint/2010/main" val="16177618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113BF546-1968-42CF-9186-F00D48681E43}" type="slidenum">
              <a:rPr lang="zh-CN" altLang="en-US" smtClean="0"/>
              <a:pPr/>
              <a:t>18</a:t>
            </a:fld>
            <a:endParaRPr lang="zh-CN" altLang="en-US" dirty="0"/>
          </a:p>
        </p:txBody>
      </p:sp>
    </p:spTree>
    <p:extLst>
      <p:ext uri="{BB962C8B-B14F-4D97-AF65-F5344CB8AC3E}">
        <p14:creationId xmlns:p14="http://schemas.microsoft.com/office/powerpoint/2010/main" val="42526134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113BF546-1968-42CF-9186-F00D48681E43}" type="slidenum">
              <a:rPr lang="zh-CN" altLang="en-US" smtClean="0"/>
              <a:pPr/>
              <a:t>19</a:t>
            </a:fld>
            <a:endParaRPr lang="zh-CN" altLang="en-US" dirty="0"/>
          </a:p>
        </p:txBody>
      </p:sp>
    </p:spTree>
    <p:extLst>
      <p:ext uri="{BB962C8B-B14F-4D97-AF65-F5344CB8AC3E}">
        <p14:creationId xmlns:p14="http://schemas.microsoft.com/office/powerpoint/2010/main" val="33095718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113BF546-1968-42CF-9186-F00D48681E43}" type="slidenum">
              <a:rPr lang="zh-CN" altLang="en-US" smtClean="0"/>
              <a:pPr/>
              <a:t>20</a:t>
            </a:fld>
            <a:endParaRPr lang="zh-CN" altLang="en-US" dirty="0"/>
          </a:p>
        </p:txBody>
      </p:sp>
    </p:spTree>
    <p:extLst>
      <p:ext uri="{BB962C8B-B14F-4D97-AF65-F5344CB8AC3E}">
        <p14:creationId xmlns:p14="http://schemas.microsoft.com/office/powerpoint/2010/main" val="33746237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113BF546-1968-42CF-9186-F00D48681E43}" type="slidenum">
              <a:rPr lang="zh-CN" altLang="en-US" smtClean="0"/>
              <a:pPr/>
              <a:t>21</a:t>
            </a:fld>
            <a:endParaRPr lang="zh-CN" altLang="en-US" dirty="0"/>
          </a:p>
        </p:txBody>
      </p:sp>
    </p:spTree>
    <p:extLst>
      <p:ext uri="{BB962C8B-B14F-4D97-AF65-F5344CB8AC3E}">
        <p14:creationId xmlns:p14="http://schemas.microsoft.com/office/powerpoint/2010/main" val="5288648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113BF546-1968-42CF-9186-F00D48681E43}" type="slidenum">
              <a:rPr lang="zh-CN" altLang="en-US" smtClean="0"/>
              <a:pPr/>
              <a:t>22</a:t>
            </a:fld>
            <a:endParaRPr lang="zh-CN" altLang="en-US" dirty="0"/>
          </a:p>
        </p:txBody>
      </p:sp>
    </p:spTree>
    <p:extLst>
      <p:ext uri="{BB962C8B-B14F-4D97-AF65-F5344CB8AC3E}">
        <p14:creationId xmlns:p14="http://schemas.microsoft.com/office/powerpoint/2010/main" val="19718414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113BF546-1968-42CF-9186-F00D48681E43}" type="slidenum">
              <a:rPr lang="zh-CN" altLang="en-US" smtClean="0"/>
              <a:pPr/>
              <a:t>23</a:t>
            </a:fld>
            <a:endParaRPr lang="zh-CN" altLang="en-US" dirty="0"/>
          </a:p>
        </p:txBody>
      </p:sp>
    </p:spTree>
    <p:extLst>
      <p:ext uri="{BB962C8B-B14F-4D97-AF65-F5344CB8AC3E}">
        <p14:creationId xmlns:p14="http://schemas.microsoft.com/office/powerpoint/2010/main" val="29861416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113BF546-1968-42CF-9186-F00D48681E43}" type="slidenum">
              <a:rPr lang="zh-CN" altLang="en-US" smtClean="0"/>
              <a:pPr/>
              <a:t>24</a:t>
            </a:fld>
            <a:endParaRPr lang="zh-CN" altLang="en-US" dirty="0"/>
          </a:p>
        </p:txBody>
      </p:sp>
    </p:spTree>
    <p:extLst>
      <p:ext uri="{BB962C8B-B14F-4D97-AF65-F5344CB8AC3E}">
        <p14:creationId xmlns:p14="http://schemas.microsoft.com/office/powerpoint/2010/main" val="30419563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113BF546-1968-42CF-9186-F00D48681E43}" type="slidenum">
              <a:rPr lang="zh-CN" altLang="en-US" smtClean="0"/>
              <a:pPr/>
              <a:t>25</a:t>
            </a:fld>
            <a:endParaRPr lang="zh-CN" altLang="en-US" dirty="0"/>
          </a:p>
        </p:txBody>
      </p:sp>
    </p:spTree>
    <p:extLst>
      <p:ext uri="{BB962C8B-B14F-4D97-AF65-F5344CB8AC3E}">
        <p14:creationId xmlns:p14="http://schemas.microsoft.com/office/powerpoint/2010/main" val="2432410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113BF546-1968-42CF-9186-F00D48681E43}" type="slidenum">
              <a:rPr lang="zh-CN" altLang="en-US" smtClean="0"/>
              <a:pPr/>
              <a:t>26</a:t>
            </a:fld>
            <a:endParaRPr lang="zh-CN" altLang="en-US" dirty="0"/>
          </a:p>
        </p:txBody>
      </p:sp>
    </p:spTree>
    <p:extLst>
      <p:ext uri="{BB962C8B-B14F-4D97-AF65-F5344CB8AC3E}">
        <p14:creationId xmlns:p14="http://schemas.microsoft.com/office/powerpoint/2010/main" val="29316423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a:t>当所有概率完全相等时（最不确定）</a:t>
            </a:r>
            <a:r>
              <a:rPr lang="en-US" altLang="zh-CN" dirty="0"/>
              <a:t>——</a:t>
            </a:r>
            <a:r>
              <a:rPr lang="zh-CN" altLang="en-US" dirty="0"/>
              <a:t>熵最大 例如</a:t>
            </a:r>
            <a:r>
              <a:rPr lang="en-US" altLang="zh-CN" dirty="0"/>
              <a:t>p=(0.5,0.5)</a:t>
            </a:r>
          </a:p>
          <a:p>
            <a:pPr marL="228600" indent="-228600">
              <a:buAutoNum type="arabicPeriod"/>
            </a:pPr>
            <a:r>
              <a:rPr lang="zh-CN" altLang="en-US" b="1" dirty="0"/>
              <a:t>当概率差距很大时（更确定）</a:t>
            </a:r>
            <a:r>
              <a:rPr lang="en-US" altLang="zh-CN" b="1" dirty="0"/>
              <a:t>——</a:t>
            </a:r>
            <a:r>
              <a:rPr lang="zh-CN" altLang="en-US" b="1" dirty="0"/>
              <a:t>熵变小 </a:t>
            </a:r>
            <a:r>
              <a:rPr lang="zh-CN" altLang="en-US" dirty="0"/>
              <a:t>例如 </a:t>
            </a:r>
            <a:r>
              <a:rPr lang="en-US" altLang="zh-CN" dirty="0"/>
              <a:t>p=(0.99,0.01)</a:t>
            </a:r>
          </a:p>
          <a:p>
            <a:pPr marL="0" indent="0">
              <a:buNone/>
            </a:pPr>
            <a:r>
              <a:rPr lang="en-US" altLang="zh-CN" dirty="0"/>
              <a:t>3. </a:t>
            </a:r>
            <a:r>
              <a:rPr lang="zh-CN" altLang="en-US" dirty="0"/>
              <a:t>当其中一个概率为 </a:t>
            </a:r>
            <a:r>
              <a:rPr lang="en-US" altLang="zh-CN" dirty="0"/>
              <a:t>1</a:t>
            </a:r>
            <a:r>
              <a:rPr lang="zh-CN" altLang="en-US" dirty="0"/>
              <a:t>（确定事件）</a:t>
            </a:r>
            <a:r>
              <a:rPr lang="en-US" altLang="zh-CN" dirty="0"/>
              <a:t>——</a:t>
            </a:r>
            <a:r>
              <a:rPr lang="zh-CN" altLang="en-US" dirty="0"/>
              <a:t>熵最小（</a:t>
            </a:r>
            <a:r>
              <a:rPr lang="en-US" altLang="zh-CN" dirty="0"/>
              <a:t>=0</a:t>
            </a:r>
            <a:r>
              <a:rPr lang="zh-CN" altLang="en-US" dirty="0"/>
              <a:t>）</a:t>
            </a:r>
          </a:p>
        </p:txBody>
      </p:sp>
      <p:sp>
        <p:nvSpPr>
          <p:cNvPr id="4" name="灯片编号占位符 3"/>
          <p:cNvSpPr>
            <a:spLocks noGrp="1"/>
          </p:cNvSpPr>
          <p:nvPr>
            <p:ph type="sldNum" sz="quarter" idx="5"/>
          </p:nvPr>
        </p:nvSpPr>
        <p:spPr/>
        <p:txBody>
          <a:bodyPr/>
          <a:lstStyle/>
          <a:p>
            <a:fld id="{17161C67-365B-455B-8333-B2F385616053}" type="slidenum">
              <a:rPr lang="zh-CN" altLang="en-US" smtClean="0"/>
              <a:t>27</a:t>
            </a:fld>
            <a:endParaRPr lang="zh-CN" altLang="en-US"/>
          </a:p>
        </p:txBody>
      </p:sp>
    </p:spTree>
    <p:extLst>
      <p:ext uri="{BB962C8B-B14F-4D97-AF65-F5344CB8AC3E}">
        <p14:creationId xmlns:p14="http://schemas.microsoft.com/office/powerpoint/2010/main" val="2464897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FE347-935B-3F99-8C97-3CE3FEDE64A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8DBCED-972B-0DAA-41CA-1050D9414D1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C3AF25C-A1C1-68D6-59EB-BCD7A786B2E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024E509-A0F0-BFFD-700C-7C77D4F6F61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4417247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35725-A6FB-8178-35C5-19BFB3C6385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0D32ED-A3BC-F159-BE7E-D0CF5222FB6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6B97A36-B4E0-D18D-C7D2-F7D6444BF55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E2A133B-C067-F57F-DFBB-7BD0ED72E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2598293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1A7A2-46F9-F892-1507-C7CAF468EF6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CD42D54-8A49-159E-358A-45A7E970B83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872BD0D-CF42-F20A-FC4D-1E994B3CC0D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D1AA86F-63AB-6A39-DDA9-FD33C34E7FE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4770787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E85BC-4EC9-AF3D-4DBF-E556319BD74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ACC3C3A-B397-B56E-DC93-16C1728AC38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84E186B-27CC-2944-A7F4-2DCED7E3BDD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180760D-296F-0A23-0A2F-CA0EEFBF82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160915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E052E-4116-6482-5F75-CD09628CA64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32AE462-8BF5-4009-47D6-E5DFDB4CE5B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3944008-8D86-A773-8585-0E55FC5B629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BB06782-5E03-4BF2-5F95-6C253F8FEFD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507668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02578" y="1057014"/>
            <a:ext cx="7772400" cy="1535184"/>
          </a:xfrm>
        </p:spPr>
        <p:txBody>
          <a:bodyPr anchor="b">
            <a:normAutofit/>
          </a:bodyPr>
          <a:lstStyle>
            <a:lvl1pPr algn="ctr">
              <a:defRPr sz="4800"/>
            </a:lvl1pPr>
          </a:lstStyle>
          <a:p>
            <a:r>
              <a:rPr lang="zh-CN" altLang="en-US"/>
              <a:t>单击此处编辑母版标题样式</a:t>
            </a:r>
            <a:endParaRPr lang="en-US" dirty="0"/>
          </a:p>
        </p:txBody>
      </p:sp>
      <p:sp>
        <p:nvSpPr>
          <p:cNvPr id="3" name="Subtitle 2"/>
          <p:cNvSpPr>
            <a:spLocks noGrp="1"/>
          </p:cNvSpPr>
          <p:nvPr>
            <p:ph type="subTitle" idx="1"/>
          </p:nvPr>
        </p:nvSpPr>
        <p:spPr>
          <a:xfrm>
            <a:off x="1159778" y="402987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A22DDF69-8699-4CEB-8E01-B157526D4CA8}" type="datetime1">
              <a:rPr lang="zh-CN" altLang="en-US" smtClean="0"/>
              <a:t>2025/12/10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26790374-2868-4F40-AE3F-C499AEBE4C2F}" type="datetime1">
              <a:rPr lang="zh-CN" altLang="en-US" smtClean="0"/>
              <a:t>2025/12/10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99389" y="1057014"/>
            <a:ext cx="7772400" cy="1533600"/>
          </a:xfrm>
        </p:spPr>
        <p:txBody>
          <a:bodyPr anchor="b"/>
          <a:lstStyle>
            <a:lvl1pPr>
              <a:defRPr sz="4800"/>
            </a:lvl1pPr>
          </a:lstStyle>
          <a:p>
            <a:r>
              <a:rPr lang="zh-CN" altLang="en-US"/>
              <a:t>单击此处编辑母版标题样式</a:t>
            </a:r>
            <a:endParaRPr lang="en-US" dirty="0"/>
          </a:p>
        </p:txBody>
      </p:sp>
      <p:sp>
        <p:nvSpPr>
          <p:cNvPr id="3" name="Text Placeholder 2"/>
          <p:cNvSpPr>
            <a:spLocks noGrp="1"/>
          </p:cNvSpPr>
          <p:nvPr>
            <p:ph type="body" idx="1"/>
          </p:nvPr>
        </p:nvSpPr>
        <p:spPr>
          <a:xfrm>
            <a:off x="1164978" y="4027400"/>
            <a:ext cx="6858000" cy="1656000"/>
          </a:xfrm>
        </p:spPr>
        <p:txBody>
          <a:bodyPr/>
          <a:lstStyle>
            <a:lvl1pPr marL="0" indent="0" algn="ctr">
              <a:buNone/>
              <a:defRPr sz="2400">
                <a:solidFill>
                  <a:srgbClr val="00206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9B1D647E-B9A0-48D9-8164-1D65523A660E}" type="datetime1">
              <a:rPr lang="zh-CN" altLang="en-US" smtClean="0"/>
              <a:t>2025/12/10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B6A9F4CE-1F46-45A2-97A0-F3F45618CF8B}" type="datetime1">
              <a:rPr lang="zh-CN" altLang="en-US" smtClean="0"/>
              <a:t>2025/12/10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8A401BF2-E948-4E51-A806-02507B4199F4}" type="datetime1">
              <a:rPr lang="zh-CN" altLang="en-US" smtClean="0"/>
              <a:t>2025/12/10</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07DF110B-252D-47E7-B3E9-A454FD317E4F}" type="datetime1">
              <a:rPr lang="zh-CN" altLang="en-US" smtClean="0"/>
              <a:t>2025/12/10</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57E96F-B847-4DF0-B979-C2222CA1E9FD}" type="datetime1">
              <a:rPr lang="zh-CN" altLang="en-US" smtClean="0"/>
              <a:t>2025/12/10</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6F962026-91EA-40C5-AA67-F6A358EC38D2}" type="datetime1">
              <a:rPr lang="zh-CN" altLang="en-US" smtClean="0"/>
              <a:t>2025/12/10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AD7704B-8D14-4EAD-B5CE-8CB0FA6BA591}" type="datetime1">
              <a:rPr lang="zh-CN" altLang="en-US" smtClean="0"/>
              <a:t>2025/12/10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35A2ADBB-F4A3-41AD-A0BD-8D4E4C2013AB}" type="datetime1">
              <a:rPr lang="zh-CN" altLang="en-US" smtClean="0"/>
              <a:t>2025/12/10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F8C4910-9137-4697-BCC8-C7B5FCA4A3B7}" type="datetime1">
              <a:rPr lang="zh-CN" altLang="en-US" smtClean="0"/>
              <a:t>2025/12/10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jin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747387960"/>
      </p:ext>
    </p:extLst>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第一节">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71D0F9-5031-B629-E802-6AEAF0F1C632}"/>
              </a:ext>
            </a:extLst>
          </p:cNvPr>
          <p:cNvPicPr>
            <a:picLocks noChangeAspect="1"/>
          </p:cNvPicPr>
          <p:nvPr userDrawn="1"/>
        </p:nvPicPr>
        <p:blipFill rotWithShape="1">
          <a:blip r:embed="rId2"/>
          <a:srcRect l="453"/>
          <a:stretch/>
        </p:blipFill>
        <p:spPr>
          <a:xfrm>
            <a:off x="0" y="0"/>
            <a:ext cx="9144000" cy="1014998"/>
          </a:xfrm>
          <a:prstGeom prst="rect">
            <a:avLst/>
          </a:prstGeom>
        </p:spPr>
      </p:pic>
      <p:sp>
        <p:nvSpPr>
          <p:cNvPr id="2" name="Rectangle 1">
            <a:extLst>
              <a:ext uri="{FF2B5EF4-FFF2-40B4-BE49-F238E27FC236}">
                <a16:creationId xmlns:a16="http://schemas.microsoft.com/office/drawing/2014/main" id="{F3F803D8-0039-D24A-E8C1-26F5161CAA45}"/>
              </a:ext>
            </a:extLst>
          </p:cNvPr>
          <p:cNvSpPr/>
          <p:nvPr userDrawn="1"/>
        </p:nvSpPr>
        <p:spPr>
          <a:xfrm>
            <a:off x="4486993" y="0"/>
            <a:ext cx="151634"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4578209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4399"/>
            <a:ext cx="9144000" cy="817721"/>
          </a:xfrm>
          <a:prstGeom prst="rect">
            <a:avLst/>
          </a:prstGeom>
        </p:spPr>
        <p:txBody>
          <a:bodyPr vert="horz" lIns="91440" tIns="144000" rIns="91440" bIns="45720" rtlCol="0" anchor="ctr">
            <a:no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134223" y="906011"/>
            <a:ext cx="8883941" cy="5637402"/>
          </a:xfrm>
          <a:prstGeom prst="rect">
            <a:avLst/>
          </a:prstGeom>
        </p:spPr>
        <p:txBody>
          <a:bodyPr vert="horz" lIns="91440" tIns="45720" rIns="91440" bIns="45720" rtlCol="0">
            <a:no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525" y="6660859"/>
            <a:ext cx="2057400" cy="197140"/>
          </a:xfrm>
          <a:prstGeom prst="rect">
            <a:avLst/>
          </a:prstGeom>
        </p:spPr>
        <p:txBody>
          <a:bodyPr vert="horz" lIns="91440" tIns="36000" rIns="91440" bIns="45720" rtlCol="0" anchor="ctr"/>
          <a:lstStyle>
            <a:lvl1pPr algn="l">
              <a:defRPr sz="1200" b="1">
                <a:solidFill>
                  <a:srgbClr val="002060"/>
                </a:solidFill>
              </a:defRPr>
            </a:lvl1pPr>
          </a:lstStyle>
          <a:p>
            <a:fld id="{1AE81FB5-B8F9-44EB-8352-420A21774881}" type="datetime1">
              <a:rPr lang="zh-CN" altLang="en-US" smtClean="0"/>
              <a:t>2025/12/10</a:t>
            </a:fld>
            <a:endParaRPr lang="zh-CN" altLang="en-US"/>
          </a:p>
        </p:txBody>
      </p:sp>
      <p:sp>
        <p:nvSpPr>
          <p:cNvPr id="5" name="Footer Placeholder 4"/>
          <p:cNvSpPr>
            <a:spLocks noGrp="1"/>
          </p:cNvSpPr>
          <p:nvPr>
            <p:ph type="ftr" sz="quarter" idx="3"/>
          </p:nvPr>
        </p:nvSpPr>
        <p:spPr>
          <a:xfrm>
            <a:off x="2273417" y="6660859"/>
            <a:ext cx="4597165" cy="197140"/>
          </a:xfrm>
          <a:prstGeom prst="rect">
            <a:avLst/>
          </a:prstGeom>
        </p:spPr>
        <p:txBody>
          <a:bodyPr vert="horz" lIns="91440" tIns="36000" rIns="91440" bIns="45720" rtlCol="0" anchor="ctr"/>
          <a:lstStyle>
            <a:lvl1pPr algn="ctr">
              <a:defRPr sz="1200" b="0">
                <a:solidFill>
                  <a:srgbClr val="002060"/>
                </a:solidFill>
              </a:defRPr>
            </a:lvl1pPr>
          </a:lstStyle>
          <a:p>
            <a:endParaRPr lang="zh-CN" altLang="en-US"/>
          </a:p>
        </p:txBody>
      </p:sp>
      <p:sp>
        <p:nvSpPr>
          <p:cNvPr id="6" name="Slide Number Placeholder 5"/>
          <p:cNvSpPr>
            <a:spLocks noGrp="1"/>
          </p:cNvSpPr>
          <p:nvPr>
            <p:ph type="sldNum" sz="quarter" idx="4"/>
          </p:nvPr>
        </p:nvSpPr>
        <p:spPr>
          <a:xfrm>
            <a:off x="7086600" y="6660859"/>
            <a:ext cx="2057400" cy="197140"/>
          </a:xfrm>
          <a:prstGeom prst="rect">
            <a:avLst/>
          </a:prstGeom>
        </p:spPr>
        <p:txBody>
          <a:bodyPr vert="horz" lIns="91440" tIns="36000" rIns="91440" bIns="45720" rtlCol="0" anchor="ctr"/>
          <a:lstStyle>
            <a:lvl1pPr algn="r">
              <a:defRPr sz="1200" b="1">
                <a:solidFill>
                  <a:srgbClr val="002060"/>
                </a:solidFill>
              </a:defRPr>
            </a:lvl1pPr>
          </a:lstStyle>
          <a:p>
            <a:fld id="{5AD84F5B-1672-4D3F-9FEC-5DF89A7B791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3" r:id="rId12"/>
    <p:sldLayoutId id="2147483664" r:id="rId13"/>
  </p:sldLayoutIdLst>
  <p:hf hdr="0" dt="0"/>
  <p:txStyles>
    <p:title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p:titleStyle>
    <p:bodyStyle>
      <a:lvl1pPr marL="360680" indent="-360680" algn="l" defTabSz="914400" rtl="0" eaLnBrk="1" latinLnBrk="0" hangingPunct="1">
        <a:lnSpc>
          <a:spcPct val="130000"/>
        </a:lnSpc>
        <a:spcBef>
          <a:spcPts val="1000"/>
        </a:spcBef>
        <a:buSzPct val="85000"/>
        <a:buFont typeface="Wingdings" panose="05000000000000000000" pitchFamily="2" charset="2"/>
        <a:buChar char="n"/>
        <a:defRPr sz="2400" kern="1200">
          <a:solidFill>
            <a:srgbClr val="002060"/>
          </a:solidFill>
          <a:latin typeface="+mn-lt"/>
          <a:ea typeface="+mn-ea"/>
          <a:cs typeface="+mn-cs"/>
        </a:defRPr>
      </a:lvl1pPr>
      <a:lvl2pPr marL="720725" indent="-360680" algn="l" defTabSz="914400" rtl="0" eaLnBrk="1" latinLnBrk="0" hangingPunct="1">
        <a:lnSpc>
          <a:spcPct val="130000"/>
        </a:lnSpc>
        <a:spcBef>
          <a:spcPts val="500"/>
        </a:spcBef>
        <a:buSzPct val="85000"/>
        <a:buFont typeface="Wingdings" panose="05000000000000000000" pitchFamily="2" charset="2"/>
        <a:buChar char="u"/>
        <a:defRPr sz="2000" kern="1200">
          <a:solidFill>
            <a:srgbClr val="002060"/>
          </a:solidFill>
          <a:latin typeface="+mn-lt"/>
          <a:ea typeface="+mn-ea"/>
          <a:cs typeface="+mn-cs"/>
        </a:defRPr>
      </a:lvl2pPr>
      <a:lvl3pPr marL="990600" indent="-269875" algn="l" defTabSz="914400" rtl="0" eaLnBrk="1" latinLnBrk="0" hangingPunct="1">
        <a:lnSpc>
          <a:spcPct val="130000"/>
        </a:lnSpc>
        <a:spcBef>
          <a:spcPts val="500"/>
        </a:spcBef>
        <a:buSzPct val="85000"/>
        <a:buFont typeface="Wingdings" panose="05000000000000000000" pitchFamily="2" charset="2"/>
        <a:buChar char="l"/>
        <a:defRPr sz="1800" kern="1200">
          <a:solidFill>
            <a:srgbClr val="002060"/>
          </a:solidFill>
          <a:latin typeface="+mn-lt"/>
          <a:ea typeface="+mn-ea"/>
          <a:cs typeface="+mn-cs"/>
        </a:defRPr>
      </a:lvl3pPr>
      <a:lvl4pPr marL="1259205" indent="-268605" algn="l" defTabSz="914400" rtl="0" eaLnBrk="1" latinLnBrk="0" hangingPunct="1">
        <a:lnSpc>
          <a:spcPct val="130000"/>
        </a:lnSpc>
        <a:spcBef>
          <a:spcPts val="500"/>
        </a:spcBef>
        <a:buSzPct val="85000"/>
        <a:buFont typeface="Wingdings" panose="05000000000000000000" pitchFamily="2" charset="2"/>
        <a:buChar char="p"/>
        <a:defRPr sz="1600" kern="1200">
          <a:solidFill>
            <a:srgbClr val="002060"/>
          </a:solidFill>
          <a:latin typeface="+mn-lt"/>
          <a:ea typeface="+mn-ea"/>
          <a:cs typeface="+mn-cs"/>
        </a:defRPr>
      </a:lvl4pPr>
      <a:lvl5pPr marL="1527175" indent="-268605" algn="l" defTabSz="914400" rtl="0" eaLnBrk="1" latinLnBrk="0" hangingPunct="1">
        <a:lnSpc>
          <a:spcPct val="130000"/>
        </a:lnSpc>
        <a:spcBef>
          <a:spcPts val="500"/>
        </a:spcBef>
        <a:buSzPct val="85000"/>
        <a:buFont typeface="Wingdings" panose="05000000000000000000" pitchFamily="2" charset="2"/>
        <a:buChar char="Ø"/>
        <a:defRPr sz="16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4.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6.xml"/><Relationship Id="rId1" Type="http://schemas.openxmlformats.org/officeDocument/2006/relationships/vmlDrawing" Target="../drawings/vmlDrawing1.vml"/><Relationship Id="rId5" Type="http://schemas.openxmlformats.org/officeDocument/2006/relationships/image" Target="../media/image15.wmf"/><Relationship Id="rId4"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19.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18.wmf"/><Relationship Id="rId4" Type="http://schemas.openxmlformats.org/officeDocument/2006/relationships/oleObject" Target="../embeddings/oleObject2.bin"/></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98.png"/><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9.wmf"/><Relationship Id="rId5" Type="http://schemas.openxmlformats.org/officeDocument/2006/relationships/oleObject" Target="../embeddings/oleObject5.bin"/><Relationship Id="rId4" Type="http://schemas.openxmlformats.org/officeDocument/2006/relationships/image" Target="../media/image18.wmf"/></Relationships>
</file>

<file path=ppt/slides/_rels/slide30.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0.png"/><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33.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23.e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22.emf"/><Relationship Id="rId5" Type="http://schemas.openxmlformats.org/officeDocument/2006/relationships/oleObject" Target="../embeddings/oleObject7.bin"/><Relationship Id="rId10" Type="http://schemas.openxmlformats.org/officeDocument/2006/relationships/image" Target="../media/image24.emf"/><Relationship Id="rId4" Type="http://schemas.openxmlformats.org/officeDocument/2006/relationships/image" Target="../media/image21.emf"/><Relationship Id="rId9" Type="http://schemas.openxmlformats.org/officeDocument/2006/relationships/oleObject" Target="../embeddings/oleObject9.bin"/></Relationships>
</file>

<file path=ppt/slides/_rels/slide38.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microsoft.com/office/2007/relationships/hdphoto" Target="../media/hdphoto1.wdp"/></Relationships>
</file>

<file path=ppt/slides/_rels/slide5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420.png"/><Relationship Id="rId5" Type="http://schemas.openxmlformats.org/officeDocument/2006/relationships/image" Target="../media/image42.wmf"/><Relationship Id="rId4" Type="http://schemas.openxmlformats.org/officeDocument/2006/relationships/oleObject" Target="../embeddings/oleObject10.bin"/></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43.wmf"/></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45.wmf"/><Relationship Id="rId5" Type="http://schemas.openxmlformats.org/officeDocument/2006/relationships/oleObject" Target="../embeddings/oleObject13.bin"/><Relationship Id="rId4" Type="http://schemas.openxmlformats.org/officeDocument/2006/relationships/image" Target="../media/image44.wmf"/></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47.wmf"/><Relationship Id="rId5" Type="http://schemas.openxmlformats.org/officeDocument/2006/relationships/oleObject" Target="../embeddings/oleObject15.bin"/><Relationship Id="rId4" Type="http://schemas.openxmlformats.org/officeDocument/2006/relationships/image" Target="../media/image46.wmf"/></Relationships>
</file>

<file path=ppt/slides/_rels/slide75.xml.rels><?xml version="1.0" encoding="UTF-8" standalone="yes"?>
<Relationships xmlns="http://schemas.openxmlformats.org/package/2006/relationships"><Relationship Id="rId8" Type="http://schemas.openxmlformats.org/officeDocument/2006/relationships/image" Target="../media/image50.w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49.wmf"/><Relationship Id="rId5" Type="http://schemas.openxmlformats.org/officeDocument/2006/relationships/oleObject" Target="../embeddings/oleObject17.bin"/><Relationship Id="rId10" Type="http://schemas.openxmlformats.org/officeDocument/2006/relationships/image" Target="../media/image51.wmf"/><Relationship Id="rId4" Type="http://schemas.openxmlformats.org/officeDocument/2006/relationships/image" Target="../media/image48.wmf"/><Relationship Id="rId9" Type="http://schemas.openxmlformats.org/officeDocument/2006/relationships/oleObject" Target="../embeddings/oleObject19.bin"/></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52.wmf"/></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53.wmf"/></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54.emf"/></Relationships>
</file>

<file path=ppt/slides/_rels/slide8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53712" y="2369184"/>
            <a:ext cx="8713694" cy="2138947"/>
          </a:xfrm>
        </p:spPr>
        <p:txBody>
          <a:bodyPr anchor="ctr">
            <a:normAutofit fontScale="90000"/>
          </a:bodyPr>
          <a:lstStyle/>
          <a:p>
            <a:pPr>
              <a:lnSpc>
                <a:spcPct val="150000"/>
              </a:lnSpc>
            </a:pP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rPr>
              <a:t>7</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t>章 决策树</a:t>
            </a:r>
            <a:b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br>
            <a:br>
              <a:rPr lang="en-US" altLang="zh-CN" sz="3600" b="1" dirty="0"/>
            </a:br>
            <a:r>
              <a:rPr lang="zh-CN" altLang="en-US" sz="3600" b="1" dirty="0">
                <a:solidFill>
                  <a:schemeClr val="tx2"/>
                </a:solidFill>
              </a:rPr>
              <a:t>王丽苹</a:t>
            </a:r>
            <a:br>
              <a:rPr lang="en-US" altLang="zh-CN" sz="3100" dirty="0">
                <a:solidFill>
                  <a:schemeClr val="tx2"/>
                </a:solidFill>
                <a:latin typeface="+mn-ea"/>
                <a:ea typeface="+mn-ea"/>
              </a:rPr>
            </a:br>
            <a:r>
              <a:rPr lang="zh-CN" altLang="en-US" sz="3100" dirty="0">
                <a:solidFill>
                  <a:schemeClr val="tx1"/>
                </a:solidFill>
                <a:latin typeface="+mn-ea"/>
                <a:ea typeface="+mn-ea"/>
              </a:rPr>
              <a:t> </a:t>
            </a:r>
            <a:br>
              <a:rPr lang="en-US" altLang="zh-CN" sz="3100" dirty="0">
                <a:solidFill>
                  <a:schemeClr val="tx1"/>
                </a:solidFill>
              </a:rPr>
            </a:br>
            <a:endParaRPr lang="zh-CN" altLang="en-US" sz="3100" dirty="0">
              <a:solidFill>
                <a:schemeClr val="tx1"/>
              </a:solidFill>
            </a:endParaRPr>
          </a:p>
        </p:txBody>
      </p:sp>
      <p:sp>
        <p:nvSpPr>
          <p:cNvPr id="3" name="副标题 2"/>
          <p:cNvSpPr>
            <a:spLocks noGrp="1"/>
          </p:cNvSpPr>
          <p:nvPr>
            <p:ph type="subTitle" idx="1"/>
          </p:nvPr>
        </p:nvSpPr>
        <p:spPr>
          <a:xfrm>
            <a:off x="1192586" y="4060811"/>
            <a:ext cx="6858000" cy="950912"/>
          </a:xfrm>
        </p:spPr>
        <p:txBody>
          <a:bodyPr/>
          <a:lstStyle/>
          <a:p>
            <a:fld id="{3504A2C2-073E-4849-B03F-707659FDD997}" type="datetimeyyyy">
              <a:rPr lang="en-US" altLang="zh-CN" b="1" smtClean="0">
                <a:ea typeface="微软雅黑" panose="020B0503020204020204" pitchFamily="34" charset="-122"/>
                <a:cs typeface="微软雅黑" panose="020B0503020204020204" pitchFamily="34" charset="-122"/>
              </a:rPr>
              <a:pPr/>
              <a:t>2025</a:t>
            </a:fld>
            <a:r>
              <a:rPr lang="en-US" altLang="zh-CN" b="1" dirty="0">
                <a:ea typeface="微软雅黑" panose="020B0503020204020204" pitchFamily="34" charset="-122"/>
                <a:cs typeface="微软雅黑" panose="020B0503020204020204" pitchFamily="34" charset="-122"/>
              </a:rPr>
              <a:t> </a:t>
            </a:r>
            <a:r>
              <a:rPr lang="zh-CN" altLang="en-US" b="1" dirty="0">
                <a:ea typeface="微软雅黑" panose="020B0503020204020204" pitchFamily="34" charset="-122"/>
                <a:cs typeface="微软雅黑" panose="020B0503020204020204" pitchFamily="34" charset="-122"/>
              </a:rPr>
              <a:t>秋</a:t>
            </a:r>
          </a:p>
        </p:txBody>
      </p:sp>
      <p:sp>
        <p:nvSpPr>
          <p:cNvPr id="8" name="矩形 7">
            <a:extLst>
              <a:ext uri="{FF2B5EF4-FFF2-40B4-BE49-F238E27FC236}">
                <a16:creationId xmlns:a16="http://schemas.microsoft.com/office/drawing/2014/main" id="{A8351146-E86F-4524-B761-FA22DF54E3AF}"/>
              </a:ext>
            </a:extLst>
          </p:cNvPr>
          <p:cNvSpPr/>
          <p:nvPr/>
        </p:nvSpPr>
        <p:spPr>
          <a:xfrm>
            <a:off x="5994072" y="180871"/>
            <a:ext cx="3149928" cy="400110"/>
          </a:xfrm>
          <a:prstGeom prst="rect">
            <a:avLst/>
          </a:prstGeom>
        </p:spPr>
        <p:txBody>
          <a:bodyPr wrap="squar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a:t>
            </a:r>
            <a:r>
              <a:rPr lang="zh-CN" altLang="en-US" sz="2000" b="1" dirty="0">
                <a:solidFill>
                  <a:srgbClr val="002060"/>
                </a:solidFill>
                <a:latin typeface="微软雅黑" panose="020B0503020204020204" pitchFamily="34" charset="-122"/>
                <a:ea typeface="微软雅黑" panose="020B0503020204020204" pitchFamily="34" charset="-122"/>
              </a:rPr>
              <a:t>数据挖掘</a:t>
            </a:r>
            <a:r>
              <a:rPr lang="en-US" altLang="zh-CN" sz="2000" b="1" dirty="0">
                <a:solidFill>
                  <a:srgbClr val="002060"/>
                </a:solidFill>
                <a:latin typeface="微软雅黑" panose="020B0503020204020204" pitchFamily="34" charset="-122"/>
                <a:ea typeface="微软雅黑" panose="020B0503020204020204" pitchFamily="34" charset="-122"/>
              </a:rPr>
              <a:t>》</a:t>
            </a:r>
            <a:r>
              <a:rPr lang="en-US" altLang="zh-CN" sz="2000" b="1" dirty="0">
                <a:solidFill>
                  <a:srgbClr val="002060"/>
                </a:solidFill>
              </a:rPr>
              <a:t>Data Mining</a:t>
            </a:r>
            <a:endParaRPr lang="zh-CN" altLang="en-US" sz="2000" b="1" dirty="0">
              <a:solidFill>
                <a:srgbClr val="002060"/>
              </a:solidFill>
            </a:endParaRPr>
          </a:p>
        </p:txBody>
      </p:sp>
    </p:spTree>
    <p:extLst>
      <p:ext uri="{BB962C8B-B14F-4D97-AF65-F5344CB8AC3E}">
        <p14:creationId xmlns:p14="http://schemas.microsoft.com/office/powerpoint/2010/main" val="35311575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矩形: 圆角 55">
            <a:extLst>
              <a:ext uri="{FF2B5EF4-FFF2-40B4-BE49-F238E27FC236}">
                <a16:creationId xmlns:a16="http://schemas.microsoft.com/office/drawing/2014/main" id="{B255021A-6CD7-B531-6635-CD81093D31BA}"/>
              </a:ext>
            </a:extLst>
          </p:cNvPr>
          <p:cNvSpPr/>
          <p:nvPr/>
        </p:nvSpPr>
        <p:spPr>
          <a:xfrm>
            <a:off x="124615" y="2106034"/>
            <a:ext cx="1455842" cy="779225"/>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r>
              <a:rPr lang="zh-CN" altLang="en-US" sz="2000"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垃圾邮件分类</a:t>
            </a:r>
          </a:p>
        </p:txBody>
      </p:sp>
      <p:sp>
        <p:nvSpPr>
          <p:cNvPr id="156" name="Rectangle 2">
            <a:extLst>
              <a:ext uri="{FF2B5EF4-FFF2-40B4-BE49-F238E27FC236}">
                <a16:creationId xmlns:a16="http://schemas.microsoft.com/office/drawing/2014/main" id="{21A01AC5-97AF-2B3C-3CB2-D474E7E31017}"/>
              </a:ext>
            </a:extLst>
          </p:cNvPr>
          <p:cNvSpPr txBox="1">
            <a:spLocks noChangeArrowheads="1"/>
          </p:cNvSpPr>
          <p:nvPr/>
        </p:nvSpPr>
        <p:spPr>
          <a:xfrm>
            <a:off x="236241" y="3718016"/>
            <a:ext cx="2183654" cy="655349"/>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r>
              <a:rPr lang="zh-CN" altLang="en-US" sz="1800" dirty="0">
                <a:solidFill>
                  <a:srgbClr val="00CCFF"/>
                </a:solidFill>
                <a:effectLst/>
              </a:rPr>
              <a:t>垃圾邮件？</a:t>
            </a:r>
            <a:endParaRPr lang="en-US" altLang="zh-CN" sz="1800" dirty="0">
              <a:solidFill>
                <a:srgbClr val="00CCFF"/>
              </a:solidFill>
              <a:effectLst/>
            </a:endParaRPr>
          </a:p>
          <a:p>
            <a:endParaRPr lang="en-US" altLang="zh-CN" sz="1800" dirty="0">
              <a:solidFill>
                <a:srgbClr val="00CCFF"/>
              </a:solidFill>
              <a:effectLst/>
            </a:endParaRPr>
          </a:p>
          <a:p>
            <a:r>
              <a:rPr lang="zh-CN" altLang="en-US" sz="1800" dirty="0">
                <a:solidFill>
                  <a:srgbClr val="00CCFF"/>
                </a:solidFill>
                <a:effectLst/>
              </a:rPr>
              <a:t>正常邮件？</a:t>
            </a:r>
            <a:endParaRPr lang="en-US" altLang="zh-CN" sz="1800" dirty="0">
              <a:solidFill>
                <a:srgbClr val="00CCFF"/>
              </a:solidFill>
              <a:effectLst/>
            </a:endParaRPr>
          </a:p>
        </p:txBody>
      </p:sp>
      <p:pic>
        <p:nvPicPr>
          <p:cNvPr id="1026" name="Picture 2" descr="Cómo evitar los correos spam y proteger tu bandeja de entrada">
            <a:extLst>
              <a:ext uri="{FF2B5EF4-FFF2-40B4-BE49-F238E27FC236}">
                <a16:creationId xmlns:a16="http://schemas.microsoft.com/office/drawing/2014/main" id="{28617892-DFB1-CC26-F2CF-FD3E41ABC9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1958" y="1754562"/>
            <a:ext cx="6740076" cy="3777251"/>
          </a:xfrm>
          <a:prstGeom prst="rect">
            <a:avLst/>
          </a:prstGeom>
          <a:noFill/>
          <a:extLst>
            <a:ext uri="{909E8E84-426E-40DD-AFC4-6F175D3DCCD1}">
              <a14:hiddenFill xmlns:a14="http://schemas.microsoft.com/office/drawing/2010/main">
                <a:solidFill>
                  <a:srgbClr val="FFFFFF"/>
                </a:solidFill>
              </a14:hiddenFill>
            </a:ext>
          </a:extLst>
        </p:spPr>
      </p:pic>
      <p:sp>
        <p:nvSpPr>
          <p:cNvPr id="5" name="标题 4">
            <a:extLst>
              <a:ext uri="{FF2B5EF4-FFF2-40B4-BE49-F238E27FC236}">
                <a16:creationId xmlns:a16="http://schemas.microsoft.com/office/drawing/2014/main" id="{949990C4-6C81-43EA-ABEC-D25BC430850F}"/>
              </a:ext>
            </a:extLst>
          </p:cNvPr>
          <p:cNvSpPr>
            <a:spLocks noGrp="1"/>
          </p:cNvSpPr>
          <p:nvPr>
            <p:ph type="title"/>
          </p:nvPr>
        </p:nvSpPr>
        <p:spPr/>
        <p:txBody>
          <a:bodyPr/>
          <a:lstStyle/>
          <a:p>
            <a:r>
              <a:rPr lang="zh-CN" altLang="en-US" sz="3600" b="1" dirty="0">
                <a:latin typeface="华光综艺_CNKI" panose="02000500000000000000" pitchFamily="2" charset="-122"/>
                <a:ea typeface="华光综艺_CNKI" panose="02000500000000000000" pitchFamily="2" charset="-122"/>
              </a:rPr>
              <a:t> 经典分类问题</a:t>
            </a:r>
            <a:endParaRPr lang="zh-CN" altLang="en-US" b="1" dirty="0"/>
          </a:p>
        </p:txBody>
      </p:sp>
    </p:spTree>
    <p:extLst>
      <p:ext uri="{BB962C8B-B14F-4D97-AF65-F5344CB8AC3E}">
        <p14:creationId xmlns:p14="http://schemas.microsoft.com/office/powerpoint/2010/main" val="3766345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500"/>
                                        <p:tgtEl>
                                          <p:spTgt spid="15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6"/>
                                        </p:tgtEl>
                                        <p:attrNameLst>
                                          <p:attrName>style.visibility</p:attrName>
                                        </p:attrNameLst>
                                      </p:cBhvr>
                                      <p:to>
                                        <p:strVal val="visible"/>
                                      </p:to>
                                    </p:set>
                                    <p:animEffect transition="in" filter="fade">
                                      <p:cBhvr>
                                        <p:cTn id="10" dur="500"/>
                                        <p:tgtEl>
                                          <p:spTgt spid="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animBg="1"/>
      <p:bldP spid="15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矩形: 圆角 55">
            <a:extLst>
              <a:ext uri="{FF2B5EF4-FFF2-40B4-BE49-F238E27FC236}">
                <a16:creationId xmlns:a16="http://schemas.microsoft.com/office/drawing/2014/main" id="{B255021A-6CD7-B531-6635-CD81093D31BA}"/>
              </a:ext>
            </a:extLst>
          </p:cNvPr>
          <p:cNvSpPr/>
          <p:nvPr/>
        </p:nvSpPr>
        <p:spPr>
          <a:xfrm>
            <a:off x="355087" y="2106034"/>
            <a:ext cx="1455842" cy="475806"/>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r>
              <a:rPr lang="zh-CN" altLang="en-US" sz="2000"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医学诊断</a:t>
            </a:r>
          </a:p>
        </p:txBody>
      </p:sp>
      <p:sp>
        <p:nvSpPr>
          <p:cNvPr id="5" name="Rectangle 2">
            <a:extLst>
              <a:ext uri="{FF2B5EF4-FFF2-40B4-BE49-F238E27FC236}">
                <a16:creationId xmlns:a16="http://schemas.microsoft.com/office/drawing/2014/main" id="{D86922E7-3ACA-A454-B70D-8AD6DD35807E}"/>
              </a:ext>
            </a:extLst>
          </p:cNvPr>
          <p:cNvSpPr txBox="1">
            <a:spLocks noChangeArrowheads="1"/>
          </p:cNvSpPr>
          <p:nvPr/>
        </p:nvSpPr>
        <p:spPr>
          <a:xfrm>
            <a:off x="731236" y="3692299"/>
            <a:ext cx="2183654" cy="655349"/>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r>
              <a:rPr lang="zh-CN" altLang="en-US" sz="1800" dirty="0">
                <a:solidFill>
                  <a:srgbClr val="00CCFF"/>
                </a:solidFill>
                <a:effectLst/>
              </a:rPr>
              <a:t>患病？</a:t>
            </a:r>
            <a:endParaRPr lang="en-US" altLang="zh-CN" sz="1800" dirty="0">
              <a:solidFill>
                <a:srgbClr val="00CCFF"/>
              </a:solidFill>
              <a:effectLst/>
            </a:endParaRPr>
          </a:p>
          <a:p>
            <a:endParaRPr lang="en-US" altLang="zh-CN" sz="1800" dirty="0">
              <a:solidFill>
                <a:srgbClr val="00CCFF"/>
              </a:solidFill>
              <a:effectLst/>
            </a:endParaRPr>
          </a:p>
          <a:p>
            <a:r>
              <a:rPr lang="zh-CN" altLang="en-US" sz="1800" dirty="0">
                <a:solidFill>
                  <a:srgbClr val="00CCFF"/>
                </a:solidFill>
                <a:effectLst/>
              </a:rPr>
              <a:t>健康？</a:t>
            </a:r>
          </a:p>
        </p:txBody>
      </p:sp>
      <p:pic>
        <p:nvPicPr>
          <p:cNvPr id="2054" name="Picture 6" descr="让癌症原形毕露的医学影像检查CT/MRI/PET等：概述篇 - 知乎">
            <a:extLst>
              <a:ext uri="{FF2B5EF4-FFF2-40B4-BE49-F238E27FC236}">
                <a16:creationId xmlns:a16="http://schemas.microsoft.com/office/drawing/2014/main" id="{616BD111-98AB-45EE-274B-ADD710861B1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15009" y="1725169"/>
            <a:ext cx="5302329" cy="3866003"/>
          </a:xfrm>
          <a:prstGeom prst="rect">
            <a:avLst/>
          </a:prstGeom>
          <a:noFill/>
          <a:extLst>
            <a:ext uri="{909E8E84-426E-40DD-AFC4-6F175D3DCCD1}">
              <a14:hiddenFill xmlns:a14="http://schemas.microsoft.com/office/drawing/2010/main">
                <a:solidFill>
                  <a:srgbClr val="FFFFFF"/>
                </a:solidFill>
              </a14:hiddenFill>
            </a:ext>
          </a:extLst>
        </p:spPr>
      </p:pic>
      <p:sp>
        <p:nvSpPr>
          <p:cNvPr id="6" name="标题 5">
            <a:extLst>
              <a:ext uri="{FF2B5EF4-FFF2-40B4-BE49-F238E27FC236}">
                <a16:creationId xmlns:a16="http://schemas.microsoft.com/office/drawing/2014/main" id="{5CA75BC9-4959-48EA-9137-F59CA72B23DC}"/>
              </a:ext>
            </a:extLst>
          </p:cNvPr>
          <p:cNvSpPr>
            <a:spLocks noGrp="1"/>
          </p:cNvSpPr>
          <p:nvPr>
            <p:ph type="title"/>
          </p:nvPr>
        </p:nvSpPr>
        <p:spPr/>
        <p:txBody>
          <a:bodyPr/>
          <a:lstStyle/>
          <a:p>
            <a:r>
              <a:rPr lang="zh-CN" altLang="en-US" sz="3600" b="1" dirty="0">
                <a:latin typeface="华光综艺_CNKI" panose="02000500000000000000" pitchFamily="2" charset="-122"/>
                <a:ea typeface="华光综艺_CNKI" panose="02000500000000000000" pitchFamily="2" charset="-122"/>
              </a:rPr>
              <a:t> 经典分类问题</a:t>
            </a:r>
            <a:endParaRPr lang="zh-CN" altLang="en-US" b="1" dirty="0"/>
          </a:p>
        </p:txBody>
      </p:sp>
    </p:spTree>
    <p:extLst>
      <p:ext uri="{BB962C8B-B14F-4D97-AF65-F5344CB8AC3E}">
        <p14:creationId xmlns:p14="http://schemas.microsoft.com/office/powerpoint/2010/main" val="1780361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矩形: 圆角 55">
            <a:extLst>
              <a:ext uri="{FF2B5EF4-FFF2-40B4-BE49-F238E27FC236}">
                <a16:creationId xmlns:a16="http://schemas.microsoft.com/office/drawing/2014/main" id="{B255021A-6CD7-B531-6635-CD81093D31BA}"/>
              </a:ext>
            </a:extLst>
          </p:cNvPr>
          <p:cNvSpPr/>
          <p:nvPr/>
        </p:nvSpPr>
        <p:spPr>
          <a:xfrm>
            <a:off x="298874" y="1875562"/>
            <a:ext cx="1455842" cy="749834"/>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r>
              <a:rPr lang="zh-CN" altLang="en-US" sz="2000"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面部表情识别</a:t>
            </a:r>
          </a:p>
        </p:txBody>
      </p:sp>
      <p:pic>
        <p:nvPicPr>
          <p:cNvPr id="3074" name="Picture 2" descr="面部表情识别2：Pytorch实现表情识别(含表情识别数据集和训练代码) - 知乎">
            <a:extLst>
              <a:ext uri="{FF2B5EF4-FFF2-40B4-BE49-F238E27FC236}">
                <a16:creationId xmlns:a16="http://schemas.microsoft.com/office/drawing/2014/main" id="{5C10DFAA-2BFC-132B-C6E3-437F31F5857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7681"/>
          <a:stretch/>
        </p:blipFill>
        <p:spPr bwMode="auto">
          <a:xfrm>
            <a:off x="2105569" y="1875563"/>
            <a:ext cx="5782574" cy="353222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2">
            <a:extLst>
              <a:ext uri="{FF2B5EF4-FFF2-40B4-BE49-F238E27FC236}">
                <a16:creationId xmlns:a16="http://schemas.microsoft.com/office/drawing/2014/main" id="{F01CE83F-9B7B-E79B-E5EE-D074AC4721FE}"/>
              </a:ext>
            </a:extLst>
          </p:cNvPr>
          <p:cNvSpPr txBox="1">
            <a:spLocks noChangeArrowheads="1"/>
          </p:cNvSpPr>
          <p:nvPr/>
        </p:nvSpPr>
        <p:spPr>
          <a:xfrm>
            <a:off x="675024" y="3487545"/>
            <a:ext cx="2183654" cy="655349"/>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r>
              <a:rPr lang="zh-CN" altLang="en-US" sz="1800" dirty="0">
                <a:solidFill>
                  <a:srgbClr val="00CCFF"/>
                </a:solidFill>
                <a:effectLst/>
              </a:rPr>
              <a:t>开心？</a:t>
            </a:r>
            <a:endParaRPr lang="en-US" altLang="zh-CN" sz="1800" dirty="0">
              <a:solidFill>
                <a:srgbClr val="00CCFF"/>
              </a:solidFill>
              <a:effectLst/>
            </a:endParaRPr>
          </a:p>
          <a:p>
            <a:endParaRPr lang="en-US" altLang="zh-CN" sz="1800" dirty="0">
              <a:solidFill>
                <a:srgbClr val="00CCFF"/>
              </a:solidFill>
              <a:effectLst/>
            </a:endParaRPr>
          </a:p>
          <a:p>
            <a:r>
              <a:rPr lang="zh-CN" altLang="en-US" sz="1800" dirty="0">
                <a:solidFill>
                  <a:srgbClr val="00CCFF"/>
                </a:solidFill>
                <a:effectLst/>
              </a:rPr>
              <a:t>愤怒？</a:t>
            </a:r>
            <a:endParaRPr lang="en-US" altLang="zh-CN" sz="1800" dirty="0">
              <a:solidFill>
                <a:srgbClr val="00CCFF"/>
              </a:solidFill>
              <a:effectLst/>
            </a:endParaRPr>
          </a:p>
          <a:p>
            <a:endParaRPr lang="en-US" altLang="zh-CN" sz="1800" dirty="0">
              <a:solidFill>
                <a:srgbClr val="00CCFF"/>
              </a:solidFill>
              <a:effectLst/>
            </a:endParaRPr>
          </a:p>
          <a:p>
            <a:r>
              <a:rPr lang="zh-CN" altLang="en-US" sz="1800" dirty="0">
                <a:solidFill>
                  <a:srgbClr val="00CCFF"/>
                </a:solidFill>
                <a:effectLst/>
              </a:rPr>
              <a:t>悲伤？</a:t>
            </a:r>
          </a:p>
        </p:txBody>
      </p:sp>
      <p:sp>
        <p:nvSpPr>
          <p:cNvPr id="6" name="标题 5">
            <a:extLst>
              <a:ext uri="{FF2B5EF4-FFF2-40B4-BE49-F238E27FC236}">
                <a16:creationId xmlns:a16="http://schemas.microsoft.com/office/drawing/2014/main" id="{C28753D5-42B3-44D5-97BD-EB166C3AE934}"/>
              </a:ext>
            </a:extLst>
          </p:cNvPr>
          <p:cNvSpPr>
            <a:spLocks noGrp="1"/>
          </p:cNvSpPr>
          <p:nvPr>
            <p:ph type="title"/>
          </p:nvPr>
        </p:nvSpPr>
        <p:spPr/>
        <p:txBody>
          <a:bodyPr/>
          <a:lstStyle/>
          <a:p>
            <a:r>
              <a:rPr lang="zh-CN" altLang="en-US" sz="3600" b="1" dirty="0">
                <a:latin typeface="华光综艺_CNKI" panose="02000500000000000000" pitchFamily="2" charset="-122"/>
                <a:ea typeface="华光综艺_CNKI" panose="02000500000000000000" pitchFamily="2" charset="-122"/>
              </a:rPr>
              <a:t> 经典分类问题</a:t>
            </a:r>
            <a:endParaRPr lang="zh-CN" altLang="en-US" b="1" dirty="0"/>
          </a:p>
        </p:txBody>
      </p:sp>
    </p:spTree>
    <p:extLst>
      <p:ext uri="{BB962C8B-B14F-4D97-AF65-F5344CB8AC3E}">
        <p14:creationId xmlns:p14="http://schemas.microsoft.com/office/powerpoint/2010/main" val="1009109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矩形: 圆角 55">
            <a:extLst>
              <a:ext uri="{FF2B5EF4-FFF2-40B4-BE49-F238E27FC236}">
                <a16:creationId xmlns:a16="http://schemas.microsoft.com/office/drawing/2014/main" id="{B255021A-6CD7-B531-6635-CD81093D31BA}"/>
              </a:ext>
            </a:extLst>
          </p:cNvPr>
          <p:cNvSpPr/>
          <p:nvPr/>
        </p:nvSpPr>
        <p:spPr>
          <a:xfrm>
            <a:off x="310117" y="2106033"/>
            <a:ext cx="1455842" cy="789022"/>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r>
              <a:rPr lang="zh-CN" altLang="en-US" sz="2000"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鸢尾花</a:t>
            </a:r>
            <a:endParaRPr lang="en-US" altLang="zh-CN" sz="2000"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endParaRPr>
          </a:p>
          <a:p>
            <a:pPr algn="ctr" defTabSz="457189">
              <a:defRPr/>
            </a:pPr>
            <a:r>
              <a:rPr lang="zh-CN" altLang="en-US" sz="2000"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分类</a:t>
            </a:r>
          </a:p>
        </p:txBody>
      </p:sp>
      <p:pic>
        <p:nvPicPr>
          <p:cNvPr id="4102" name="Picture 6" descr="二分类数据集_机器学习入门案例：鸢尾花数据集分类 绘制PR曲线-CSDN博客">
            <a:extLst>
              <a:ext uri="{FF2B5EF4-FFF2-40B4-BE49-F238E27FC236}">
                <a16:creationId xmlns:a16="http://schemas.microsoft.com/office/drawing/2014/main" id="{37AB0F3A-73FD-731D-F00B-3B87771BB9A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4788"/>
          <a:stretch/>
        </p:blipFill>
        <p:spPr bwMode="auto">
          <a:xfrm>
            <a:off x="2031969" y="2106033"/>
            <a:ext cx="6671975" cy="331118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a:extLst>
              <a:ext uri="{FF2B5EF4-FFF2-40B4-BE49-F238E27FC236}">
                <a16:creationId xmlns:a16="http://schemas.microsoft.com/office/drawing/2014/main" id="{6C9506EB-0E28-D114-13E4-4AE9E03EB372}"/>
              </a:ext>
            </a:extLst>
          </p:cNvPr>
          <p:cNvSpPr txBox="1">
            <a:spLocks noChangeArrowheads="1"/>
          </p:cNvSpPr>
          <p:nvPr/>
        </p:nvSpPr>
        <p:spPr>
          <a:xfrm>
            <a:off x="285226" y="3718016"/>
            <a:ext cx="2183654" cy="655349"/>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r>
              <a:rPr lang="zh-CN" altLang="en-US" sz="1800" dirty="0">
                <a:solidFill>
                  <a:srgbClr val="00CCFF"/>
                </a:solidFill>
                <a:effectLst/>
              </a:rPr>
              <a:t>山鸢尾？</a:t>
            </a:r>
            <a:endParaRPr lang="en-US" altLang="zh-CN" sz="1800" dirty="0">
              <a:solidFill>
                <a:srgbClr val="00CCFF"/>
              </a:solidFill>
              <a:effectLst/>
            </a:endParaRPr>
          </a:p>
          <a:p>
            <a:endParaRPr lang="en-US" altLang="zh-CN" sz="1800" dirty="0">
              <a:solidFill>
                <a:srgbClr val="00CCFF"/>
              </a:solidFill>
              <a:effectLst/>
            </a:endParaRPr>
          </a:p>
          <a:p>
            <a:r>
              <a:rPr lang="zh-CN" altLang="en-US" sz="1800" dirty="0">
                <a:solidFill>
                  <a:srgbClr val="00CCFF"/>
                </a:solidFill>
                <a:effectLst/>
              </a:rPr>
              <a:t>变色鸢尾？</a:t>
            </a:r>
            <a:endParaRPr lang="en-US" altLang="zh-CN" sz="1800" dirty="0">
              <a:solidFill>
                <a:srgbClr val="00CCFF"/>
              </a:solidFill>
              <a:effectLst/>
            </a:endParaRPr>
          </a:p>
          <a:p>
            <a:endParaRPr lang="en-US" altLang="zh-CN" sz="1800" dirty="0">
              <a:solidFill>
                <a:srgbClr val="00CCFF"/>
              </a:solidFill>
              <a:effectLst/>
            </a:endParaRPr>
          </a:p>
          <a:p>
            <a:r>
              <a:rPr lang="zh-CN" altLang="en-US" sz="1800" dirty="0">
                <a:solidFill>
                  <a:srgbClr val="00CCFF"/>
                </a:solidFill>
                <a:effectLst/>
              </a:rPr>
              <a:t>维吉尼亚鸢尾？</a:t>
            </a:r>
          </a:p>
        </p:txBody>
      </p:sp>
      <p:sp>
        <p:nvSpPr>
          <p:cNvPr id="5" name="标题 4">
            <a:extLst>
              <a:ext uri="{FF2B5EF4-FFF2-40B4-BE49-F238E27FC236}">
                <a16:creationId xmlns:a16="http://schemas.microsoft.com/office/drawing/2014/main" id="{4CBCE596-5F20-430E-BF21-4AE5C8F501F1}"/>
              </a:ext>
            </a:extLst>
          </p:cNvPr>
          <p:cNvSpPr>
            <a:spLocks noGrp="1"/>
          </p:cNvSpPr>
          <p:nvPr>
            <p:ph type="title"/>
          </p:nvPr>
        </p:nvSpPr>
        <p:spPr/>
        <p:txBody>
          <a:bodyPr/>
          <a:lstStyle/>
          <a:p>
            <a:r>
              <a:rPr lang="zh-CN" altLang="en-US" sz="3600" b="1" dirty="0">
                <a:latin typeface="华光综艺_CNKI" panose="02000500000000000000" pitchFamily="2" charset="-122"/>
                <a:ea typeface="华光综艺_CNKI" panose="02000500000000000000" pitchFamily="2" charset="-122"/>
              </a:rPr>
              <a:t> 经典分类问题</a:t>
            </a:r>
            <a:endParaRPr lang="zh-CN" altLang="en-US" b="1" dirty="0"/>
          </a:p>
        </p:txBody>
      </p:sp>
    </p:spTree>
    <p:extLst>
      <p:ext uri="{BB962C8B-B14F-4D97-AF65-F5344CB8AC3E}">
        <p14:creationId xmlns:p14="http://schemas.microsoft.com/office/powerpoint/2010/main" val="3314316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5CE7D739-4CDE-EF11-AC2E-BDB9D9F7424B}"/>
              </a:ext>
            </a:extLst>
          </p:cNvPr>
          <p:cNvSpPr txBox="1">
            <a:spLocks/>
          </p:cNvSpPr>
          <p:nvPr/>
        </p:nvSpPr>
        <p:spPr>
          <a:xfrm>
            <a:off x="2311570" y="2006076"/>
            <a:ext cx="4520860" cy="47102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400" b="1" dirty="0">
                <a:solidFill>
                  <a:schemeClr val="tx1">
                    <a:lumMod val="85000"/>
                    <a:lumOff val="15000"/>
                  </a:schemeClr>
                </a:solidFill>
                <a:latin typeface="微软雅黑" pitchFamily="34" charset="-122"/>
                <a:ea typeface="微软雅黑" pitchFamily="34" charset="-122"/>
              </a:rPr>
              <a:t>问：以下鸢尾花的种类是什么？</a:t>
            </a:r>
          </a:p>
        </p:txBody>
      </p:sp>
      <p:pic>
        <p:nvPicPr>
          <p:cNvPr id="5122" name="Picture 2" descr="鸢尾花分类与直方图、散点图的绘制及可视化决策树_鸢尾花数据集分类和画图-CSDN博客">
            <a:extLst>
              <a:ext uri="{FF2B5EF4-FFF2-40B4-BE49-F238E27FC236}">
                <a16:creationId xmlns:a16="http://schemas.microsoft.com/office/drawing/2014/main" id="{69131F90-2856-5AD2-49C2-CDCCCB216A0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6990" b="26631"/>
          <a:stretch/>
        </p:blipFill>
        <p:spPr bwMode="auto">
          <a:xfrm>
            <a:off x="3204831" y="2805262"/>
            <a:ext cx="2734339" cy="2627240"/>
          </a:xfrm>
          <a:prstGeom prst="rect">
            <a:avLst/>
          </a:prstGeom>
          <a:noFill/>
          <a:extLst>
            <a:ext uri="{909E8E84-426E-40DD-AFC4-6F175D3DCCD1}">
              <a14:hiddenFill xmlns:a14="http://schemas.microsoft.com/office/drawing/2010/main">
                <a:solidFill>
                  <a:srgbClr val="FFFFFF"/>
                </a:solidFill>
              </a14:hiddenFill>
            </a:ext>
          </a:extLst>
        </p:spPr>
      </p:pic>
      <p:sp>
        <p:nvSpPr>
          <p:cNvPr id="5" name="标题 4">
            <a:extLst>
              <a:ext uri="{FF2B5EF4-FFF2-40B4-BE49-F238E27FC236}">
                <a16:creationId xmlns:a16="http://schemas.microsoft.com/office/drawing/2014/main" id="{B6BF30EA-DB73-4254-93B5-E05283C530FB}"/>
              </a:ext>
            </a:extLst>
          </p:cNvPr>
          <p:cNvSpPr>
            <a:spLocks noGrp="1"/>
          </p:cNvSpPr>
          <p:nvPr>
            <p:ph type="title"/>
          </p:nvPr>
        </p:nvSpPr>
        <p:spPr/>
        <p:txBody>
          <a:bodyPr/>
          <a:lstStyle/>
          <a:p>
            <a:r>
              <a:rPr lang="zh-CN" altLang="en-US" sz="3600" b="1" dirty="0">
                <a:latin typeface="华光综艺_CNKI" panose="02000500000000000000" pitchFamily="2" charset="-122"/>
                <a:ea typeface="华光综艺_CNKI" panose="02000500000000000000" pitchFamily="2" charset="-122"/>
              </a:rPr>
              <a:t> 经典分类问题</a:t>
            </a:r>
            <a:endParaRPr lang="zh-CN" altLang="en-US" b="1" dirty="0"/>
          </a:p>
        </p:txBody>
      </p:sp>
    </p:spTree>
    <p:extLst>
      <p:ext uri="{BB962C8B-B14F-4D97-AF65-F5344CB8AC3E}">
        <p14:creationId xmlns:p14="http://schemas.microsoft.com/office/powerpoint/2010/main" val="3926755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73EF2-B065-AFB3-CB20-116567CBE448}"/>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0853021B-3B17-0279-CB03-D21D2B8990B1}"/>
              </a:ext>
            </a:extLst>
          </p:cNvPr>
          <p:cNvSpPr txBox="1"/>
          <p:nvPr/>
        </p:nvSpPr>
        <p:spPr>
          <a:xfrm>
            <a:off x="428625" y="1650124"/>
            <a:ext cx="8420100" cy="784830"/>
          </a:xfrm>
          <a:prstGeom prst="rect">
            <a:avLst/>
          </a:prstGeom>
          <a:noFill/>
        </p:spPr>
        <p:txBody>
          <a:bodyPr wrap="square">
            <a:spAutoFit/>
          </a:bodyPr>
          <a:lstStyle/>
          <a:p>
            <a:r>
              <a:rPr lang="zh-CN" altLang="en-US" sz="1500" dirty="0">
                <a:latin typeface="微软雅黑" panose="020B0503020204020204" pitchFamily="34" charset="-122"/>
                <a:ea typeface="微软雅黑" panose="020B0503020204020204" pitchFamily="34" charset="-122"/>
              </a:rPr>
              <a:t>鸢尾花数据集包含</a:t>
            </a:r>
            <a:r>
              <a:rPr lang="en-US" altLang="zh-CN" sz="1500" dirty="0">
                <a:latin typeface="微软雅黑" panose="020B0503020204020204" pitchFamily="34" charset="-122"/>
                <a:ea typeface="微软雅黑" panose="020B0503020204020204" pitchFamily="34" charset="-122"/>
              </a:rPr>
              <a:t>150</a:t>
            </a:r>
            <a:r>
              <a:rPr lang="zh-CN" altLang="en-US" sz="1500" dirty="0">
                <a:latin typeface="微软雅黑" panose="020B0503020204020204" pitchFamily="34" charset="-122"/>
                <a:ea typeface="微软雅黑" panose="020B0503020204020204" pitchFamily="34" charset="-122"/>
              </a:rPr>
              <a:t>个样本，分别属于</a:t>
            </a:r>
            <a:r>
              <a:rPr lang="en-US" altLang="zh-CN" sz="1500" dirty="0">
                <a:latin typeface="微软雅黑" panose="020B0503020204020204" pitchFamily="34" charset="-122"/>
                <a:ea typeface="微软雅黑" panose="020B0503020204020204" pitchFamily="34" charset="-122"/>
              </a:rPr>
              <a:t>3</a:t>
            </a:r>
            <a:r>
              <a:rPr lang="zh-CN" altLang="en-US" sz="1500" dirty="0">
                <a:latin typeface="微软雅黑" panose="020B0503020204020204" pitchFamily="34" charset="-122"/>
                <a:ea typeface="微软雅黑" panose="020B0503020204020204" pitchFamily="34" charset="-122"/>
              </a:rPr>
              <a:t>种鸢尾花种类（山鸢尾、变色鸢尾</a:t>
            </a:r>
            <a:r>
              <a:rPr lang="en-US" altLang="zh-CN" sz="1500" dirty="0">
                <a:latin typeface="微软雅黑" panose="020B0503020204020204" pitchFamily="34" charset="-122"/>
                <a:ea typeface="微软雅黑" panose="020B0503020204020204" pitchFamily="34" charset="-122"/>
              </a:rPr>
              <a:t> </a:t>
            </a:r>
            <a:r>
              <a:rPr lang="zh-CN" altLang="en-US" sz="1500" dirty="0">
                <a:latin typeface="微软雅黑" panose="020B0503020204020204" pitchFamily="34" charset="-122"/>
                <a:ea typeface="微软雅黑" panose="020B0503020204020204" pitchFamily="34" charset="-122"/>
              </a:rPr>
              <a:t>和 维吉尼亚鸢尾）。</a:t>
            </a:r>
            <a:endParaRPr lang="en-US" altLang="zh-CN" sz="1500" dirty="0">
              <a:latin typeface="微软雅黑" panose="020B0503020204020204" pitchFamily="34" charset="-122"/>
              <a:ea typeface="微软雅黑" panose="020B0503020204020204" pitchFamily="34" charset="-122"/>
            </a:endParaRPr>
          </a:p>
          <a:p>
            <a:r>
              <a:rPr lang="zh-CN" altLang="en-US" sz="1500" dirty="0">
                <a:latin typeface="微软雅黑" panose="020B0503020204020204" pitchFamily="34" charset="-122"/>
                <a:ea typeface="微软雅黑" panose="020B0503020204020204" pitchFamily="34" charset="-122"/>
              </a:rPr>
              <a:t>每种鸢尾花有</a:t>
            </a:r>
            <a:r>
              <a:rPr lang="en-US" altLang="zh-CN" sz="1500" dirty="0">
                <a:latin typeface="微软雅黑" panose="020B0503020204020204" pitchFamily="34" charset="-122"/>
                <a:ea typeface="微软雅黑" panose="020B0503020204020204" pitchFamily="34" charset="-122"/>
              </a:rPr>
              <a:t>50</a:t>
            </a:r>
            <a:r>
              <a:rPr lang="zh-CN" altLang="en-US" sz="1500" dirty="0">
                <a:latin typeface="微软雅黑" panose="020B0503020204020204" pitchFamily="34" charset="-122"/>
                <a:ea typeface="微软雅黑" panose="020B0503020204020204" pitchFamily="34" charset="-122"/>
              </a:rPr>
              <a:t>个样本，每个样本有</a:t>
            </a:r>
            <a:r>
              <a:rPr lang="en-US" altLang="zh-CN" sz="1500" dirty="0">
                <a:latin typeface="微软雅黑" panose="020B0503020204020204" pitchFamily="34" charset="-122"/>
                <a:ea typeface="微软雅黑" panose="020B0503020204020204" pitchFamily="34" charset="-122"/>
              </a:rPr>
              <a:t>4</a:t>
            </a:r>
            <a:r>
              <a:rPr lang="zh-CN" altLang="en-US" sz="1500" dirty="0">
                <a:latin typeface="微软雅黑" panose="020B0503020204020204" pitchFamily="34" charset="-122"/>
                <a:ea typeface="微软雅黑" panose="020B0503020204020204" pitchFamily="34" charset="-122"/>
              </a:rPr>
              <a:t>个特征：</a:t>
            </a:r>
            <a:r>
              <a:rPr lang="zh-CN" altLang="en-US" sz="1500" b="1" dirty="0">
                <a:solidFill>
                  <a:srgbClr val="FF0000"/>
                </a:solidFill>
                <a:latin typeface="微软雅黑" panose="020B0503020204020204" pitchFamily="34" charset="-122"/>
                <a:ea typeface="微软雅黑" panose="020B0503020204020204" pitchFamily="34" charset="-122"/>
              </a:rPr>
              <a:t>花萼长度</a:t>
            </a:r>
            <a:r>
              <a:rPr lang="zh-CN" altLang="en-US" sz="1500" dirty="0">
                <a:latin typeface="微软雅黑" panose="020B0503020204020204" pitchFamily="34" charset="-122"/>
                <a:ea typeface="微软雅黑" panose="020B0503020204020204" pitchFamily="34" charset="-122"/>
              </a:rPr>
              <a:t>（</a:t>
            </a:r>
            <a:r>
              <a:rPr lang="en-US" altLang="zh-CN" sz="1500" dirty="0">
                <a:latin typeface="微软雅黑" panose="020B0503020204020204" pitchFamily="34" charset="-122"/>
                <a:ea typeface="微软雅黑" panose="020B0503020204020204" pitchFamily="34" charset="-122"/>
              </a:rPr>
              <a:t>sepal length</a:t>
            </a:r>
            <a:r>
              <a:rPr lang="zh-CN" altLang="en-US" sz="1500" dirty="0">
                <a:latin typeface="微软雅黑" panose="020B0503020204020204" pitchFamily="34" charset="-122"/>
                <a:ea typeface="微软雅黑" panose="020B0503020204020204" pitchFamily="34" charset="-122"/>
              </a:rPr>
              <a:t>）、</a:t>
            </a:r>
            <a:r>
              <a:rPr lang="zh-CN" altLang="en-US" sz="1500" b="1" dirty="0">
                <a:solidFill>
                  <a:srgbClr val="FF0000"/>
                </a:solidFill>
                <a:latin typeface="微软雅黑" panose="020B0503020204020204" pitchFamily="34" charset="-122"/>
                <a:ea typeface="微软雅黑" panose="020B0503020204020204" pitchFamily="34" charset="-122"/>
              </a:rPr>
              <a:t>花萼宽度</a:t>
            </a:r>
            <a:r>
              <a:rPr lang="zh-CN" altLang="en-US" sz="1500" dirty="0">
                <a:latin typeface="微软雅黑" panose="020B0503020204020204" pitchFamily="34" charset="-122"/>
                <a:ea typeface="微软雅黑" panose="020B0503020204020204" pitchFamily="34" charset="-122"/>
              </a:rPr>
              <a:t>（</a:t>
            </a:r>
            <a:r>
              <a:rPr lang="en-US" altLang="zh-CN" sz="1500" dirty="0">
                <a:latin typeface="微软雅黑" panose="020B0503020204020204" pitchFamily="34" charset="-122"/>
                <a:ea typeface="微软雅黑" panose="020B0503020204020204" pitchFamily="34" charset="-122"/>
              </a:rPr>
              <a:t>sepal width</a:t>
            </a:r>
            <a:r>
              <a:rPr lang="zh-CN" altLang="en-US" sz="1500" dirty="0">
                <a:latin typeface="微软雅黑" panose="020B0503020204020204" pitchFamily="34" charset="-122"/>
                <a:ea typeface="微软雅黑" panose="020B0503020204020204" pitchFamily="34" charset="-122"/>
              </a:rPr>
              <a:t>）、</a:t>
            </a:r>
            <a:r>
              <a:rPr lang="zh-CN" altLang="en-US" sz="1500" b="1" dirty="0">
                <a:solidFill>
                  <a:srgbClr val="FF0000"/>
                </a:solidFill>
                <a:latin typeface="微软雅黑" panose="020B0503020204020204" pitchFamily="34" charset="-122"/>
                <a:ea typeface="微软雅黑" panose="020B0503020204020204" pitchFamily="34" charset="-122"/>
              </a:rPr>
              <a:t>花瓣长度</a:t>
            </a:r>
            <a:r>
              <a:rPr lang="zh-CN" altLang="en-US" sz="1500" dirty="0">
                <a:latin typeface="微软雅黑" panose="020B0503020204020204" pitchFamily="34" charset="-122"/>
                <a:ea typeface="微软雅黑" panose="020B0503020204020204" pitchFamily="34" charset="-122"/>
              </a:rPr>
              <a:t>（</a:t>
            </a:r>
            <a:r>
              <a:rPr lang="en-US" altLang="zh-CN" sz="1500" dirty="0">
                <a:latin typeface="微软雅黑" panose="020B0503020204020204" pitchFamily="34" charset="-122"/>
                <a:ea typeface="微软雅黑" panose="020B0503020204020204" pitchFamily="34" charset="-122"/>
              </a:rPr>
              <a:t>petal length</a:t>
            </a:r>
            <a:r>
              <a:rPr lang="zh-CN" altLang="en-US" sz="1500" dirty="0">
                <a:latin typeface="微软雅黑" panose="020B0503020204020204" pitchFamily="34" charset="-122"/>
                <a:ea typeface="微软雅黑" panose="020B0503020204020204" pitchFamily="34" charset="-122"/>
              </a:rPr>
              <a:t>）和</a:t>
            </a:r>
            <a:r>
              <a:rPr lang="zh-CN" altLang="en-US" sz="1500" b="1" dirty="0">
                <a:solidFill>
                  <a:srgbClr val="FF0000"/>
                </a:solidFill>
                <a:latin typeface="微软雅黑" panose="020B0503020204020204" pitchFamily="34" charset="-122"/>
                <a:ea typeface="微软雅黑" panose="020B0503020204020204" pitchFamily="34" charset="-122"/>
              </a:rPr>
              <a:t>花瓣宽度</a:t>
            </a:r>
            <a:r>
              <a:rPr lang="zh-CN" altLang="en-US" sz="1500" dirty="0">
                <a:latin typeface="微软雅黑" panose="020B0503020204020204" pitchFamily="34" charset="-122"/>
                <a:ea typeface="微软雅黑" panose="020B0503020204020204" pitchFamily="34" charset="-122"/>
              </a:rPr>
              <a:t>（</a:t>
            </a:r>
            <a:r>
              <a:rPr lang="en-US" altLang="zh-CN" sz="1500" dirty="0">
                <a:latin typeface="微软雅黑" panose="020B0503020204020204" pitchFamily="34" charset="-122"/>
                <a:ea typeface="微软雅黑" panose="020B0503020204020204" pitchFamily="34" charset="-122"/>
              </a:rPr>
              <a:t>petal width</a:t>
            </a:r>
            <a:r>
              <a:rPr lang="zh-CN" altLang="en-US" sz="1500" dirty="0">
                <a:latin typeface="微软雅黑" panose="020B0503020204020204" pitchFamily="34" charset="-122"/>
                <a:ea typeface="微软雅黑" panose="020B0503020204020204" pitchFamily="34" charset="-122"/>
              </a:rPr>
              <a:t>）。</a:t>
            </a:r>
          </a:p>
        </p:txBody>
      </p:sp>
      <p:grpSp>
        <p:nvGrpSpPr>
          <p:cNvPr id="10" name="组合 9">
            <a:extLst>
              <a:ext uri="{FF2B5EF4-FFF2-40B4-BE49-F238E27FC236}">
                <a16:creationId xmlns:a16="http://schemas.microsoft.com/office/drawing/2014/main" id="{741A2101-3E7D-9B86-21E2-89C0E2B02B62}"/>
              </a:ext>
            </a:extLst>
          </p:cNvPr>
          <p:cNvGrpSpPr/>
          <p:nvPr/>
        </p:nvGrpSpPr>
        <p:grpSpPr>
          <a:xfrm>
            <a:off x="927543" y="2492475"/>
            <a:ext cx="6902008" cy="3470176"/>
            <a:chOff x="1033523" y="2231099"/>
            <a:chExt cx="9202677" cy="4626901"/>
          </a:xfrm>
        </p:grpSpPr>
        <p:pic>
          <p:nvPicPr>
            <p:cNvPr id="2" name="Picture 2" descr="机器学习入门案例：鸢尾花数据集分类 绘制PR曲线-CSDN博客">
              <a:extLst>
                <a:ext uri="{FF2B5EF4-FFF2-40B4-BE49-F238E27FC236}">
                  <a16:creationId xmlns:a16="http://schemas.microsoft.com/office/drawing/2014/main" id="{5B5BE967-6C4D-F8C1-AB5C-470C3B029A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3523" y="2231099"/>
              <a:ext cx="9202677" cy="4626901"/>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9600C4AB-EF8A-5692-3293-8CCAC3E755AF}"/>
                </a:ext>
              </a:extLst>
            </p:cNvPr>
            <p:cNvPicPr>
              <a:picLocks noChangeAspect="1"/>
            </p:cNvPicPr>
            <p:nvPr/>
          </p:nvPicPr>
          <p:blipFill>
            <a:blip r:embed="rId4"/>
            <a:srcRect r="14610" b="24512"/>
            <a:stretch/>
          </p:blipFill>
          <p:spPr>
            <a:xfrm>
              <a:off x="7177087" y="6266628"/>
              <a:ext cx="2792413" cy="591372"/>
            </a:xfrm>
            <a:prstGeom prst="rect">
              <a:avLst/>
            </a:prstGeom>
          </p:spPr>
        </p:pic>
      </p:grpSp>
      <p:sp>
        <p:nvSpPr>
          <p:cNvPr id="6" name="标题 5">
            <a:extLst>
              <a:ext uri="{FF2B5EF4-FFF2-40B4-BE49-F238E27FC236}">
                <a16:creationId xmlns:a16="http://schemas.microsoft.com/office/drawing/2014/main" id="{EC12B413-C494-4A95-84E7-B37B1B382D18}"/>
              </a:ext>
            </a:extLst>
          </p:cNvPr>
          <p:cNvSpPr>
            <a:spLocks noGrp="1"/>
          </p:cNvSpPr>
          <p:nvPr>
            <p:ph type="title"/>
          </p:nvPr>
        </p:nvSpPr>
        <p:spPr/>
        <p:txBody>
          <a:bodyPr/>
          <a:lstStyle/>
          <a:p>
            <a:r>
              <a:rPr lang="zh-CN" altLang="en-US" sz="3600" b="1" dirty="0">
                <a:latin typeface="华光综艺_CNKI" panose="02000500000000000000" pitchFamily="2" charset="-122"/>
                <a:ea typeface="华光综艺_CNKI" panose="02000500000000000000" pitchFamily="2" charset="-122"/>
              </a:rPr>
              <a:t> 经典分类问题</a:t>
            </a:r>
            <a:endParaRPr lang="zh-CN" altLang="en-US" b="1" dirty="0"/>
          </a:p>
        </p:txBody>
      </p:sp>
    </p:spTree>
    <p:extLst>
      <p:ext uri="{BB962C8B-B14F-4D97-AF65-F5344CB8AC3E}">
        <p14:creationId xmlns:p14="http://schemas.microsoft.com/office/powerpoint/2010/main" val="539014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E766F-F429-6C90-1B56-150D4D38D858}"/>
            </a:ext>
          </a:extLst>
        </p:cNvPr>
        <p:cNvGrpSpPr/>
        <p:nvPr/>
      </p:nvGrpSpPr>
      <p:grpSpPr>
        <a:xfrm>
          <a:off x="0" y="0"/>
          <a:ext cx="0" cy="0"/>
          <a:chOff x="0" y="0"/>
          <a:chExt cx="0" cy="0"/>
        </a:xfrm>
      </p:grpSpPr>
      <p:pic>
        <p:nvPicPr>
          <p:cNvPr id="2" name="Picture 4" descr="Introduction to Visualization in python — MRI analysis in Python using Nipype, Nilearn and more">
            <a:extLst>
              <a:ext uri="{FF2B5EF4-FFF2-40B4-BE49-F238E27FC236}">
                <a16:creationId xmlns:a16="http://schemas.microsoft.com/office/drawing/2014/main" id="{7D1410F4-231B-35F5-333A-11643E7A4A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9099" y="1706785"/>
            <a:ext cx="4574346" cy="4008215"/>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E05D6CF5-70E8-1054-EC4D-2A5B6BD2180B}"/>
              </a:ext>
            </a:extLst>
          </p:cNvPr>
          <p:cNvSpPr txBox="1"/>
          <p:nvPr/>
        </p:nvSpPr>
        <p:spPr>
          <a:xfrm>
            <a:off x="271462" y="1754340"/>
            <a:ext cx="3738563" cy="1090298"/>
          </a:xfrm>
          <a:prstGeom prst="rect">
            <a:avLst/>
          </a:prstGeom>
          <a:noFill/>
        </p:spPr>
        <p:txBody>
          <a:bodyPr wrap="square">
            <a:spAutoFit/>
          </a:bodyPr>
          <a:lstStyle>
            <a:defPPr>
              <a:defRPr lang="zh-CN"/>
            </a:defPPr>
            <a:lvl1pPr>
              <a:defRPr>
                <a:latin typeface="微软雅黑" panose="020B0503020204020204" pitchFamily="34" charset="-122"/>
                <a:ea typeface="微软雅黑" panose="020B0503020204020204" pitchFamily="34" charset="-122"/>
              </a:defRPr>
            </a:lvl1pPr>
          </a:lstStyle>
          <a:p>
            <a:pPr marL="257175" indent="-257175">
              <a:lnSpc>
                <a:spcPct val="150000"/>
              </a:lnSpc>
              <a:buFont typeface="Arial" panose="020B0604020202020204" pitchFamily="34" charset="0"/>
              <a:buChar char="•"/>
            </a:pPr>
            <a:r>
              <a:rPr lang="zh-CN" altLang="en-US" sz="1500" dirty="0"/>
              <a:t>通过可视化，我们可以看到不同鸢尾花种类的样本有一定的</a:t>
            </a:r>
            <a:r>
              <a:rPr lang="zh-CN" altLang="en-US" sz="1500" b="1" dirty="0">
                <a:solidFill>
                  <a:srgbClr val="FF0000"/>
                </a:solidFill>
              </a:rPr>
              <a:t>分隔性</a:t>
            </a:r>
            <a:r>
              <a:rPr lang="zh-CN" altLang="en-US" sz="1500" dirty="0"/>
              <a:t>，这为分类算法提供了线索！</a:t>
            </a:r>
          </a:p>
        </p:txBody>
      </p:sp>
      <p:sp>
        <p:nvSpPr>
          <p:cNvPr id="8" name="文本框 7">
            <a:extLst>
              <a:ext uri="{FF2B5EF4-FFF2-40B4-BE49-F238E27FC236}">
                <a16:creationId xmlns:a16="http://schemas.microsoft.com/office/drawing/2014/main" id="{E78008E1-A816-0531-B2E2-65F5B6D89293}"/>
              </a:ext>
            </a:extLst>
          </p:cNvPr>
          <p:cNvSpPr txBox="1"/>
          <p:nvPr/>
        </p:nvSpPr>
        <p:spPr>
          <a:xfrm>
            <a:off x="271462" y="3072522"/>
            <a:ext cx="3738563" cy="1090298"/>
          </a:xfrm>
          <a:prstGeom prst="rect">
            <a:avLst/>
          </a:prstGeom>
          <a:noFill/>
        </p:spPr>
        <p:txBody>
          <a:bodyPr wrap="square">
            <a:spAutoFit/>
          </a:bodyPr>
          <a:lstStyle>
            <a:defPPr>
              <a:defRPr lang="zh-CN"/>
            </a:defPPr>
            <a:lvl1pPr>
              <a:lnSpc>
                <a:spcPct val="150000"/>
              </a:lnSpc>
              <a:defRPr>
                <a:latin typeface="微软雅黑" panose="020B0503020204020204" pitchFamily="34" charset="-122"/>
                <a:ea typeface="微软雅黑" panose="020B0503020204020204" pitchFamily="34" charset="-122"/>
              </a:defRPr>
            </a:lvl1pPr>
          </a:lstStyle>
          <a:p>
            <a:pPr marL="257175" indent="-257175">
              <a:buFont typeface="Arial" panose="020B0604020202020204" pitchFamily="34" charset="0"/>
              <a:buChar char="•"/>
            </a:pPr>
            <a:r>
              <a:rPr lang="zh-CN" altLang="en-US" sz="1500" dirty="0"/>
              <a:t>山鸢尾的花萼长度通常较短，变色鸢尾和维吉尼亚鸢尾的花萼长度较长，且变色鸢尾的宽度较窄。</a:t>
            </a:r>
          </a:p>
        </p:txBody>
      </p:sp>
      <p:sp>
        <p:nvSpPr>
          <p:cNvPr id="10" name="文本框 9">
            <a:extLst>
              <a:ext uri="{FF2B5EF4-FFF2-40B4-BE49-F238E27FC236}">
                <a16:creationId xmlns:a16="http://schemas.microsoft.com/office/drawing/2014/main" id="{DF9F22C4-2544-847F-93AD-26724733F999}"/>
              </a:ext>
            </a:extLst>
          </p:cNvPr>
          <p:cNvSpPr txBox="1"/>
          <p:nvPr/>
        </p:nvSpPr>
        <p:spPr>
          <a:xfrm>
            <a:off x="271462" y="4379368"/>
            <a:ext cx="3738563" cy="1436547"/>
          </a:xfrm>
          <a:prstGeom prst="rect">
            <a:avLst/>
          </a:prstGeom>
          <a:noFill/>
        </p:spPr>
        <p:txBody>
          <a:bodyPr wrap="square">
            <a:spAutoFit/>
          </a:bodyPr>
          <a:lstStyle>
            <a:defPPr>
              <a:defRPr lang="zh-CN"/>
            </a:defPPr>
            <a:lvl1pPr>
              <a:lnSpc>
                <a:spcPct val="150000"/>
              </a:lnSpc>
              <a:defRPr>
                <a:latin typeface="微软雅黑" panose="020B0503020204020204" pitchFamily="34" charset="-122"/>
                <a:ea typeface="微软雅黑" panose="020B0503020204020204" pitchFamily="34" charset="-122"/>
              </a:defRPr>
            </a:lvl1pPr>
          </a:lstStyle>
          <a:p>
            <a:pPr marL="257175" indent="-257175">
              <a:buFont typeface="Arial" panose="020B0604020202020204" pitchFamily="34" charset="0"/>
              <a:buChar char="•"/>
            </a:pPr>
            <a:r>
              <a:rPr lang="zh-CN" altLang="en-US" sz="1500" dirty="0"/>
              <a:t>在分类问题中，我们的任务是</a:t>
            </a:r>
            <a:r>
              <a:rPr lang="zh-CN" altLang="en-US" sz="1500" b="1" dirty="0">
                <a:solidFill>
                  <a:srgbClr val="FF0000"/>
                </a:solidFill>
              </a:rPr>
              <a:t>根据样本的特征</a:t>
            </a:r>
            <a:r>
              <a:rPr lang="zh-CN" altLang="en-US" sz="1500" dirty="0"/>
              <a:t>（这里是鸢尾花的花萼和花瓣的尺寸）将其</a:t>
            </a:r>
            <a:r>
              <a:rPr lang="zh-CN" altLang="en-US" sz="1500" b="1" dirty="0">
                <a:solidFill>
                  <a:srgbClr val="FF0000"/>
                </a:solidFill>
              </a:rPr>
              <a:t>划分到预定义的类别</a:t>
            </a:r>
            <a:r>
              <a:rPr lang="zh-CN" altLang="en-US" sz="1500" dirty="0"/>
              <a:t>（山鸢尾、变色鸢尾</a:t>
            </a:r>
            <a:r>
              <a:rPr lang="en-US" altLang="zh-CN" sz="1500" dirty="0"/>
              <a:t> </a:t>
            </a:r>
            <a:r>
              <a:rPr lang="zh-CN" altLang="en-US" sz="1500" dirty="0"/>
              <a:t>和 维吉尼亚鸢尾）。</a:t>
            </a:r>
          </a:p>
        </p:txBody>
      </p:sp>
      <p:sp>
        <p:nvSpPr>
          <p:cNvPr id="7" name="标题 6">
            <a:extLst>
              <a:ext uri="{FF2B5EF4-FFF2-40B4-BE49-F238E27FC236}">
                <a16:creationId xmlns:a16="http://schemas.microsoft.com/office/drawing/2014/main" id="{CD69FD9D-9AFF-42A2-A52A-AFA49F22CAAD}"/>
              </a:ext>
            </a:extLst>
          </p:cNvPr>
          <p:cNvSpPr>
            <a:spLocks noGrp="1"/>
          </p:cNvSpPr>
          <p:nvPr>
            <p:ph type="title"/>
          </p:nvPr>
        </p:nvSpPr>
        <p:spPr/>
        <p:txBody>
          <a:bodyPr/>
          <a:lstStyle/>
          <a:p>
            <a:r>
              <a:rPr lang="zh-CN" altLang="en-US" sz="3600" b="1" dirty="0">
                <a:latin typeface="华光综艺_CNKI" panose="02000500000000000000" pitchFamily="2" charset="-122"/>
                <a:ea typeface="华光综艺_CNKI" panose="02000500000000000000" pitchFamily="2" charset="-122"/>
              </a:rPr>
              <a:t> 经典分类问题</a:t>
            </a:r>
            <a:endParaRPr lang="zh-CN" altLang="en-US" b="1" dirty="0"/>
          </a:p>
        </p:txBody>
      </p:sp>
    </p:spTree>
    <p:extLst>
      <p:ext uri="{BB962C8B-B14F-4D97-AF65-F5344CB8AC3E}">
        <p14:creationId xmlns:p14="http://schemas.microsoft.com/office/powerpoint/2010/main" val="2774361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988EF-D6BE-1A17-E802-C4794A66B0BE}"/>
            </a:ext>
          </a:extLst>
        </p:cNvPr>
        <p:cNvGrpSpPr/>
        <p:nvPr/>
      </p:nvGrpSpPr>
      <p:grpSpPr>
        <a:xfrm>
          <a:off x="0" y="0"/>
          <a:ext cx="0" cy="0"/>
          <a:chOff x="0" y="0"/>
          <a:chExt cx="0" cy="0"/>
        </a:xfrm>
      </p:grpSpPr>
      <p:pic>
        <p:nvPicPr>
          <p:cNvPr id="18" name="图片 17">
            <a:extLst>
              <a:ext uri="{FF2B5EF4-FFF2-40B4-BE49-F238E27FC236}">
                <a16:creationId xmlns:a16="http://schemas.microsoft.com/office/drawing/2014/main" id="{5FA92719-E39F-B7C2-7374-49E8C15322AC}"/>
              </a:ext>
            </a:extLst>
          </p:cNvPr>
          <p:cNvPicPr>
            <a:picLocks noChangeAspect="1"/>
          </p:cNvPicPr>
          <p:nvPr/>
        </p:nvPicPr>
        <p:blipFill>
          <a:blip r:embed="rId3"/>
          <a:srcRect l="32321"/>
          <a:stretch/>
        </p:blipFill>
        <p:spPr>
          <a:xfrm>
            <a:off x="405663" y="1920206"/>
            <a:ext cx="8332673" cy="2454744"/>
          </a:xfrm>
          <a:prstGeom prst="rect">
            <a:avLst/>
          </a:prstGeom>
        </p:spPr>
      </p:pic>
      <p:sp>
        <p:nvSpPr>
          <p:cNvPr id="5" name="标题 4">
            <a:extLst>
              <a:ext uri="{FF2B5EF4-FFF2-40B4-BE49-F238E27FC236}">
                <a16:creationId xmlns:a16="http://schemas.microsoft.com/office/drawing/2014/main" id="{70E3D0DA-079F-4AF4-88A1-67A72F8D73FD}"/>
              </a:ext>
            </a:extLst>
          </p:cNvPr>
          <p:cNvSpPr>
            <a:spLocks noGrp="1"/>
          </p:cNvSpPr>
          <p:nvPr>
            <p:ph type="title"/>
          </p:nvPr>
        </p:nvSpPr>
        <p:spPr/>
        <p:txBody>
          <a:bodyPr/>
          <a:lstStyle/>
          <a:p>
            <a:r>
              <a:rPr lang="zh-CN" altLang="en-US" b="1" dirty="0"/>
              <a:t>分类问题定义</a:t>
            </a:r>
          </a:p>
        </p:txBody>
      </p:sp>
    </p:spTree>
    <p:extLst>
      <p:ext uri="{BB962C8B-B14F-4D97-AF65-F5344CB8AC3E}">
        <p14:creationId xmlns:p14="http://schemas.microsoft.com/office/powerpoint/2010/main" val="3610121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89732-484A-6B94-1A26-592BDD148590}"/>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C1BBC506-3B10-9420-CB11-2B15E943AF1D}"/>
              </a:ext>
            </a:extLst>
          </p:cNvPr>
          <p:cNvSpPr txBox="1"/>
          <p:nvPr/>
        </p:nvSpPr>
        <p:spPr>
          <a:xfrm>
            <a:off x="237627" y="1209304"/>
            <a:ext cx="8668745" cy="1445717"/>
          </a:xfrm>
          <a:prstGeom prst="rect">
            <a:avLst/>
          </a:prstGeom>
          <a:noFill/>
        </p:spPr>
        <p:txBody>
          <a:bodyPr wrap="square">
            <a:spAutoFit/>
          </a:bodyPr>
          <a:lstStyle/>
          <a:p>
            <a:pPr indent="228600" algn="just">
              <a:lnSpc>
                <a:spcPct val="125000"/>
              </a:lnSpc>
            </a:pP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根据预测类别的数目，分类任务可进一步分为二分类、多分类和多标签分类。</a:t>
            </a:r>
            <a:endParaRPr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gn="just">
              <a:lnSpc>
                <a:spcPct val="125000"/>
              </a:lnSpc>
              <a:buFont typeface="Arial" panose="020B0604020202020204" pitchFamily="34" charset="0"/>
              <a:buChar char="•"/>
            </a:pPr>
            <a:r>
              <a:rPr lang="zh-CN" altLang="zh-CN"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二分类</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任务是指预测样本属于两个类别中的其中一个，</a:t>
            </a:r>
            <a:endParaRPr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gn="just">
              <a:lnSpc>
                <a:spcPct val="125000"/>
              </a:lnSpc>
              <a:buFont typeface="Arial" panose="020B0604020202020204" pitchFamily="34" charset="0"/>
              <a:buChar char="•"/>
            </a:pPr>
            <a:r>
              <a:rPr lang="zh-CN" altLang="zh-CN"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多分类</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任务是指预测样本属于两个以上类别中的其中一个</a:t>
            </a:r>
            <a:endParaRPr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gn="just">
              <a:lnSpc>
                <a:spcPct val="125000"/>
              </a:lnSpc>
              <a:buFont typeface="Arial" panose="020B0604020202020204" pitchFamily="34" charset="0"/>
              <a:buChar char="•"/>
            </a:pPr>
            <a:r>
              <a:rPr lang="zh-CN" altLang="zh-CN"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多标签</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分类任务则是为每个样本预测一个或多个类别。</a:t>
            </a:r>
          </a:p>
        </p:txBody>
      </p:sp>
      <p:pic>
        <p:nvPicPr>
          <p:cNvPr id="12290" name="Picture 2" descr="25、二分类、多分类与多标签问题的区别 - Andy_George - 博客园">
            <a:extLst>
              <a:ext uri="{FF2B5EF4-FFF2-40B4-BE49-F238E27FC236}">
                <a16:creationId xmlns:a16="http://schemas.microsoft.com/office/drawing/2014/main" id="{895F639B-3E7B-28ED-2252-E37C331E70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316" y="3133082"/>
            <a:ext cx="3823649" cy="2681520"/>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合并」 样本和标签? IBM 为多标签小样本图像分类带来新进展！| CVPR 2019 | 雷峰网">
            <a:extLst>
              <a:ext uri="{FF2B5EF4-FFF2-40B4-BE49-F238E27FC236}">
                <a16:creationId xmlns:a16="http://schemas.microsoft.com/office/drawing/2014/main" id="{5739B8FB-B255-AEB8-570B-870F6B0836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3845" y="3223959"/>
            <a:ext cx="3665566" cy="2590643"/>
          </a:xfrm>
          <a:prstGeom prst="rect">
            <a:avLst/>
          </a:prstGeom>
          <a:noFill/>
          <a:extLst>
            <a:ext uri="{909E8E84-426E-40DD-AFC4-6F175D3DCCD1}">
              <a14:hiddenFill xmlns:a14="http://schemas.microsoft.com/office/drawing/2010/main">
                <a:solidFill>
                  <a:srgbClr val="FFFFFF"/>
                </a:solidFill>
              </a14:hiddenFill>
            </a:ext>
          </a:extLst>
        </p:spPr>
      </p:pic>
      <p:sp>
        <p:nvSpPr>
          <p:cNvPr id="5" name="标题 4">
            <a:extLst>
              <a:ext uri="{FF2B5EF4-FFF2-40B4-BE49-F238E27FC236}">
                <a16:creationId xmlns:a16="http://schemas.microsoft.com/office/drawing/2014/main" id="{A416160A-9D04-47C9-AFFC-AEC2E7AA612F}"/>
              </a:ext>
            </a:extLst>
          </p:cNvPr>
          <p:cNvSpPr>
            <a:spLocks noGrp="1"/>
          </p:cNvSpPr>
          <p:nvPr>
            <p:ph type="title"/>
          </p:nvPr>
        </p:nvSpPr>
        <p:spPr/>
        <p:txBody>
          <a:bodyPr/>
          <a:lstStyle/>
          <a:p>
            <a:r>
              <a:rPr lang="zh-CN" altLang="en-US" sz="3600" b="1" dirty="0">
                <a:latin typeface="华光综艺_CNKI" panose="02000500000000000000" pitchFamily="2" charset="-122"/>
                <a:ea typeface="华光综艺_CNKI" panose="02000500000000000000" pitchFamily="2" charset="-122"/>
              </a:rPr>
              <a:t>分类问题的种类</a:t>
            </a:r>
            <a:endParaRPr lang="zh-CN" altLang="en-US" b="1" dirty="0"/>
          </a:p>
        </p:txBody>
      </p:sp>
    </p:spTree>
    <p:extLst>
      <p:ext uri="{BB962C8B-B14F-4D97-AF65-F5344CB8AC3E}">
        <p14:creationId xmlns:p14="http://schemas.microsoft.com/office/powerpoint/2010/main" val="290655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AA57C-4C5F-1C3F-569F-DA6865F69334}"/>
            </a:ext>
          </a:extLst>
        </p:cNvPr>
        <p:cNvGrpSpPr/>
        <p:nvPr/>
      </p:nvGrpSpPr>
      <p:grpSpPr>
        <a:xfrm>
          <a:off x="0" y="0"/>
          <a:ext cx="0" cy="0"/>
          <a:chOff x="0" y="0"/>
          <a:chExt cx="0" cy="0"/>
        </a:xfrm>
      </p:grpSpPr>
      <p:sp>
        <p:nvSpPr>
          <p:cNvPr id="7" name="Rectangle 3">
            <a:extLst>
              <a:ext uri="{FF2B5EF4-FFF2-40B4-BE49-F238E27FC236}">
                <a16:creationId xmlns:a16="http://schemas.microsoft.com/office/drawing/2014/main" id="{3D676FB5-CEE6-DC12-7CDA-04C05D5E5B7C}"/>
              </a:ext>
            </a:extLst>
          </p:cNvPr>
          <p:cNvSpPr txBox="1">
            <a:spLocks noChangeArrowheads="1"/>
          </p:cNvSpPr>
          <p:nvPr/>
        </p:nvSpPr>
        <p:spPr>
          <a:xfrm>
            <a:off x="690596" y="5170639"/>
            <a:ext cx="7625358" cy="636744"/>
          </a:xfrm>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100" dirty="0">
                <a:solidFill>
                  <a:srgbClr val="660033"/>
                </a:solidFill>
                <a:latin typeface="微软雅黑" panose="020B0503020204020204" pitchFamily="34" charset="-122"/>
                <a:ea typeface="微软雅黑" panose="020B0503020204020204" pitchFamily="34" charset="-122"/>
              </a:rPr>
              <a:t>根据现有的知识，我们得到了一些关于爬行动物和鸟类的信息，我们能否对新发现的物种，比如动物A，动物B进行分类？</a:t>
            </a:r>
          </a:p>
        </p:txBody>
      </p:sp>
      <p:graphicFrame>
        <p:nvGraphicFramePr>
          <p:cNvPr id="8" name="Group 4">
            <a:extLst>
              <a:ext uri="{FF2B5EF4-FFF2-40B4-BE49-F238E27FC236}">
                <a16:creationId xmlns:a16="http://schemas.microsoft.com/office/drawing/2014/main" id="{EE059B7F-D54F-C473-9BF3-C1448CA0E385}"/>
              </a:ext>
            </a:extLst>
          </p:cNvPr>
          <p:cNvGraphicFramePr>
            <a:graphicFrameLocks/>
          </p:cNvGraphicFramePr>
          <p:nvPr/>
        </p:nvGraphicFramePr>
        <p:xfrm>
          <a:off x="634625" y="1817826"/>
          <a:ext cx="7992017" cy="3086100"/>
        </p:xfrm>
        <a:graphic>
          <a:graphicData uri="http://schemas.openxmlformats.org/drawingml/2006/table">
            <a:tbl>
              <a:tblPr/>
              <a:tblGrid>
                <a:gridCol w="1108534">
                  <a:extLst>
                    <a:ext uri="{9D8B030D-6E8A-4147-A177-3AD203B41FA5}">
                      <a16:colId xmlns:a16="http://schemas.microsoft.com/office/drawing/2014/main" val="2160186825"/>
                    </a:ext>
                  </a:extLst>
                </a:gridCol>
                <a:gridCol w="757712">
                  <a:extLst>
                    <a:ext uri="{9D8B030D-6E8A-4147-A177-3AD203B41FA5}">
                      <a16:colId xmlns:a16="http://schemas.microsoft.com/office/drawing/2014/main" val="1841040809"/>
                    </a:ext>
                  </a:extLst>
                </a:gridCol>
                <a:gridCol w="1182222">
                  <a:extLst>
                    <a:ext uri="{9D8B030D-6E8A-4147-A177-3AD203B41FA5}">
                      <a16:colId xmlns:a16="http://schemas.microsoft.com/office/drawing/2014/main" val="973988230"/>
                    </a:ext>
                  </a:extLst>
                </a:gridCol>
                <a:gridCol w="1228678">
                  <a:extLst>
                    <a:ext uri="{9D8B030D-6E8A-4147-A177-3AD203B41FA5}">
                      <a16:colId xmlns:a16="http://schemas.microsoft.com/office/drawing/2014/main" val="958204580"/>
                    </a:ext>
                  </a:extLst>
                </a:gridCol>
                <a:gridCol w="1110137">
                  <a:extLst>
                    <a:ext uri="{9D8B030D-6E8A-4147-A177-3AD203B41FA5}">
                      <a16:colId xmlns:a16="http://schemas.microsoft.com/office/drawing/2014/main" val="3155934803"/>
                    </a:ext>
                  </a:extLst>
                </a:gridCol>
                <a:gridCol w="1217465">
                  <a:extLst>
                    <a:ext uri="{9D8B030D-6E8A-4147-A177-3AD203B41FA5}">
                      <a16:colId xmlns:a16="http://schemas.microsoft.com/office/drawing/2014/main" val="2822979865"/>
                    </a:ext>
                  </a:extLst>
                </a:gridCol>
                <a:gridCol w="1387269">
                  <a:extLst>
                    <a:ext uri="{9D8B030D-6E8A-4147-A177-3AD203B41FA5}">
                      <a16:colId xmlns:a16="http://schemas.microsoft.com/office/drawing/2014/main" val="1454675350"/>
                    </a:ext>
                  </a:extLst>
                </a:gridCol>
              </a:tblGrid>
              <a:tr h="34290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1" i="0" u="none" strike="noStrike" cap="none" normalizeH="0" baseline="0">
                          <a:ln>
                            <a:noFill/>
                          </a:ln>
                          <a:effectLst/>
                          <a:latin typeface="Calibri" panose="020F0502020204030204" pitchFamily="34" charset="0"/>
                          <a:ea typeface="楷体_GB2312" pitchFamily="1" charset="-122"/>
                        </a:rPr>
                        <a:t>动物种类</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1" i="0" u="none" strike="noStrike" cap="none" normalizeH="0" baseline="0">
                          <a:ln>
                            <a:noFill/>
                          </a:ln>
                          <a:effectLst/>
                          <a:latin typeface="Calibri" panose="020F0502020204030204" pitchFamily="34" charset="0"/>
                          <a:ea typeface="楷体_GB2312" pitchFamily="1" charset="-122"/>
                        </a:rPr>
                        <a:t>体型</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1" i="0" u="none" strike="noStrike" cap="none" normalizeH="0" baseline="0" dirty="0">
                          <a:ln>
                            <a:noFill/>
                          </a:ln>
                          <a:effectLst/>
                          <a:latin typeface="Calibri" panose="020F0502020204030204" pitchFamily="34" charset="0"/>
                          <a:ea typeface="楷体_GB2312" pitchFamily="1" charset="-122"/>
                        </a:rPr>
                        <a:t>翅膀数量</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1" i="0" u="none" strike="noStrike" cap="none" normalizeH="0" baseline="0">
                          <a:ln>
                            <a:noFill/>
                          </a:ln>
                          <a:effectLst/>
                          <a:latin typeface="Calibri" panose="020F0502020204030204" pitchFamily="34" charset="0"/>
                          <a:ea typeface="楷体_GB2312" pitchFamily="1" charset="-122"/>
                        </a:rPr>
                        <a:t>脚的只数</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1" i="0" u="none" strike="noStrike" cap="none" normalizeH="0" baseline="0" dirty="0">
                          <a:ln>
                            <a:noFill/>
                          </a:ln>
                          <a:effectLst/>
                          <a:latin typeface="Calibri" panose="020F0502020204030204" pitchFamily="34" charset="0"/>
                          <a:ea typeface="楷体_GB2312" pitchFamily="1" charset="-122"/>
                        </a:rPr>
                        <a:t>是否产蛋</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1" i="0" u="none" strike="noStrike" cap="none" normalizeH="0" baseline="0">
                          <a:ln>
                            <a:noFill/>
                          </a:ln>
                          <a:effectLst/>
                          <a:latin typeface="Calibri" panose="020F0502020204030204" pitchFamily="34" charset="0"/>
                          <a:ea typeface="楷体_GB2312" pitchFamily="1" charset="-122"/>
                        </a:rPr>
                        <a:t>是否有毛</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1" i="0" u="none" strike="noStrike" cap="none" normalizeH="0" baseline="0">
                          <a:ln>
                            <a:noFill/>
                          </a:ln>
                          <a:effectLst/>
                          <a:latin typeface="Calibri" panose="020F0502020204030204" pitchFamily="34" charset="0"/>
                          <a:ea typeface="楷体_GB2312" pitchFamily="1" charset="-122"/>
                        </a:rPr>
                        <a:t>类别</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10245751"/>
                  </a:ext>
                </a:extLst>
              </a:tr>
              <a:tr h="34290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Calibri" panose="020F0502020204030204" pitchFamily="34" charset="0"/>
                          <a:ea typeface="楷体_GB2312" pitchFamily="1" charset="-122"/>
                        </a:rPr>
                        <a:t>狗</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Calibri" panose="020F0502020204030204" pitchFamily="34" charset="0"/>
                          <a:ea typeface="楷体_GB2312" pitchFamily="1" charset="-122"/>
                        </a:rPr>
                        <a:t>中</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楷体_GB2312" pitchFamily="1" charset="-122"/>
                          <a:ea typeface="楷体_GB2312" pitchFamily="1" charset="-122"/>
                        </a:rPr>
                        <a:t>0</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楷体_GB2312" pitchFamily="1" charset="-122"/>
                          <a:ea typeface="楷体_GB2312" pitchFamily="1" charset="-122"/>
                        </a:rPr>
                        <a:t>4</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Calibri" panose="020F0502020204030204" pitchFamily="34" charset="0"/>
                          <a:ea typeface="楷体_GB2312" pitchFamily="1" charset="-122"/>
                        </a:rPr>
                        <a:t>否</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800" b="0" i="0" u="none" strike="noStrike" cap="none" normalizeH="0" baseline="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solidFill>
                            <a:schemeClr val="hlink"/>
                          </a:solidFill>
                          <a:effectLst/>
                          <a:latin typeface="Calibri" panose="020F0502020204030204" pitchFamily="34" charset="0"/>
                          <a:ea typeface="楷体_GB2312" pitchFamily="1" charset="-122"/>
                        </a:rPr>
                        <a:t>爬行动物</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extLst>
                  <a:ext uri="{0D108BD9-81ED-4DB2-BD59-A6C34878D82A}">
                    <a16:rowId xmlns:a16="http://schemas.microsoft.com/office/drawing/2014/main" val="3705107230"/>
                  </a:ext>
                </a:extLst>
              </a:tr>
              <a:tr h="34290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Calibri" panose="020F0502020204030204" pitchFamily="34" charset="0"/>
                          <a:ea typeface="楷体_GB2312" pitchFamily="1" charset="-122"/>
                        </a:rPr>
                        <a:t>猪</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Calibri" panose="020F0502020204030204" pitchFamily="34" charset="0"/>
                          <a:ea typeface="楷体_GB2312" pitchFamily="1" charset="-122"/>
                        </a:rPr>
                        <a:t>大</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楷体_GB2312" pitchFamily="1" charset="-122"/>
                          <a:ea typeface="楷体_GB2312" pitchFamily="1" charset="-122"/>
                        </a:rPr>
                        <a:t>0</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楷体_GB2312" pitchFamily="1" charset="-122"/>
                          <a:ea typeface="楷体_GB2312" pitchFamily="1" charset="-122"/>
                        </a:rPr>
                        <a:t>4</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800" b="0" i="0" u="none" strike="noStrike" cap="none" normalizeH="0" baseline="0">
                          <a:ln>
                            <a:noFill/>
                          </a:ln>
                          <a:effectLst/>
                          <a:latin typeface="Calibri" panose="020F0502020204030204" pitchFamily="34" charset="0"/>
                          <a:ea typeface="楷体_GB2312" pitchFamily="1" charset="-122"/>
                        </a:rPr>
                        <a:t>否</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800" b="0" i="0" u="none" strike="noStrike" cap="none" normalizeH="0" baseline="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800" b="0" i="0" u="none" strike="noStrike" cap="none" normalizeH="0" baseline="0">
                          <a:ln>
                            <a:noFill/>
                          </a:ln>
                          <a:solidFill>
                            <a:schemeClr val="hlink"/>
                          </a:solidFill>
                          <a:effectLst/>
                          <a:latin typeface="Calibri" panose="020F0502020204030204" pitchFamily="34" charset="0"/>
                          <a:ea typeface="楷体_GB2312" pitchFamily="1" charset="-122"/>
                        </a:rPr>
                        <a:t>爬行动物</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42624934"/>
                  </a:ext>
                </a:extLst>
              </a:tr>
              <a:tr h="34290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Calibri" panose="020F0502020204030204" pitchFamily="34" charset="0"/>
                          <a:ea typeface="楷体_GB2312" pitchFamily="1" charset="-122"/>
                        </a:rPr>
                        <a:t>牛</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Calibri" panose="020F0502020204030204" pitchFamily="34" charset="0"/>
                          <a:ea typeface="楷体_GB2312" pitchFamily="1" charset="-122"/>
                        </a:rPr>
                        <a:t>大</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楷体_GB2312" pitchFamily="1" charset="-122"/>
                          <a:ea typeface="楷体_GB2312" pitchFamily="1" charset="-122"/>
                        </a:rPr>
                        <a:t>0</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楷体_GB2312" pitchFamily="1" charset="-122"/>
                          <a:ea typeface="楷体_GB2312" pitchFamily="1" charset="-122"/>
                        </a:rPr>
                        <a:t>4</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800" b="0" i="0" u="none" strike="noStrike" cap="none" normalizeH="0" baseline="0">
                          <a:ln>
                            <a:noFill/>
                          </a:ln>
                          <a:effectLst/>
                          <a:latin typeface="Calibri" panose="020F0502020204030204" pitchFamily="34" charset="0"/>
                          <a:ea typeface="楷体_GB2312" pitchFamily="1" charset="-122"/>
                        </a:rPr>
                        <a:t>否</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800" b="0" i="0" u="none" strike="noStrike" cap="none" normalizeH="0" baseline="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800" b="0" i="0" u="none" strike="noStrike" cap="none" normalizeH="0" baseline="0">
                          <a:ln>
                            <a:noFill/>
                          </a:ln>
                          <a:solidFill>
                            <a:schemeClr val="hlink"/>
                          </a:solidFill>
                          <a:effectLst/>
                          <a:latin typeface="Calibri" panose="020F0502020204030204" pitchFamily="34" charset="0"/>
                          <a:ea typeface="楷体_GB2312" pitchFamily="1" charset="-122"/>
                        </a:rPr>
                        <a:t>爬行动物</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extLst>
                  <a:ext uri="{0D108BD9-81ED-4DB2-BD59-A6C34878D82A}">
                    <a16:rowId xmlns:a16="http://schemas.microsoft.com/office/drawing/2014/main" val="2293455988"/>
                  </a:ext>
                </a:extLst>
              </a:tr>
              <a:tr h="34290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Calibri" panose="020F0502020204030204" pitchFamily="34" charset="0"/>
                          <a:ea typeface="楷体_GB2312" pitchFamily="1" charset="-122"/>
                        </a:rPr>
                        <a:t>麻雀</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Calibri" panose="020F0502020204030204" pitchFamily="34" charset="0"/>
                          <a:ea typeface="楷体_GB2312" pitchFamily="1" charset="-122"/>
                        </a:rPr>
                        <a:t>小</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楷体_GB2312" pitchFamily="1" charset="-122"/>
                          <a:ea typeface="楷体_GB2312" pitchFamily="1" charset="-122"/>
                        </a:rPr>
                        <a:t>2</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楷体_GB2312" pitchFamily="1" charset="-122"/>
                          <a:ea typeface="楷体_GB2312" pitchFamily="1" charset="-122"/>
                        </a:rPr>
                        <a:t>2</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800" b="0" i="0" u="none" strike="noStrike" cap="none" normalizeH="0" baseline="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solidFill>
                            <a:srgbClr val="3333FF"/>
                          </a:solidFill>
                          <a:effectLst/>
                          <a:latin typeface="Calibri" panose="020F0502020204030204" pitchFamily="34" charset="0"/>
                          <a:ea typeface="楷体_GB2312" pitchFamily="1" charset="-122"/>
                        </a:rPr>
                        <a:t>鸟类</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52162714"/>
                  </a:ext>
                </a:extLst>
              </a:tr>
              <a:tr h="34290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Calibri" panose="020F0502020204030204" pitchFamily="34" charset="0"/>
                          <a:ea typeface="楷体_GB2312" pitchFamily="1" charset="-122"/>
                        </a:rPr>
                        <a:t>天鹅</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Calibri" panose="020F0502020204030204" pitchFamily="34" charset="0"/>
                          <a:ea typeface="楷体_GB2312" pitchFamily="1" charset="-122"/>
                        </a:rPr>
                        <a:t>中</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楷体_GB2312" pitchFamily="1" charset="-122"/>
                          <a:ea typeface="楷体_GB2312" pitchFamily="1" charset="-122"/>
                        </a:rPr>
                        <a:t>2</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楷体_GB2312" pitchFamily="1" charset="-122"/>
                          <a:ea typeface="楷体_GB2312" pitchFamily="1" charset="-122"/>
                        </a:rPr>
                        <a:t>2</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800" b="0" i="0" u="none" strike="noStrike" cap="none" normalizeH="0" baseline="0">
                          <a:ln>
                            <a:noFill/>
                          </a:ln>
                          <a:solidFill>
                            <a:srgbClr val="3333FF"/>
                          </a:solidFill>
                          <a:effectLst/>
                          <a:latin typeface="Calibri" panose="020F0502020204030204" pitchFamily="34" charset="0"/>
                          <a:ea typeface="楷体_GB2312" pitchFamily="1" charset="-122"/>
                        </a:rPr>
                        <a:t>鸟类</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extLst>
                  <a:ext uri="{0D108BD9-81ED-4DB2-BD59-A6C34878D82A}">
                    <a16:rowId xmlns:a16="http://schemas.microsoft.com/office/drawing/2014/main" val="3348648709"/>
                  </a:ext>
                </a:extLst>
              </a:tr>
              <a:tr h="34290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dirty="0">
                          <a:ln>
                            <a:noFill/>
                          </a:ln>
                          <a:effectLst/>
                          <a:latin typeface="Calibri" panose="020F0502020204030204" pitchFamily="34" charset="0"/>
                          <a:ea typeface="楷体_GB2312" pitchFamily="1" charset="-122"/>
                        </a:rPr>
                        <a:t>大雁</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Calibri" panose="020F0502020204030204" pitchFamily="34" charset="0"/>
                          <a:ea typeface="楷体_GB2312" pitchFamily="1" charset="-122"/>
                        </a:rPr>
                        <a:t>中</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楷体_GB2312" pitchFamily="1" charset="-122"/>
                          <a:ea typeface="楷体_GB2312" pitchFamily="1" charset="-122"/>
                        </a:rPr>
                        <a:t>2</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楷体_GB2312" pitchFamily="1" charset="-122"/>
                          <a:ea typeface="楷体_GB2312" pitchFamily="1" charset="-122"/>
                        </a:rPr>
                        <a:t>2</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800" b="0" i="0" u="none" strike="noStrike" cap="none" normalizeH="0" baseline="0">
                          <a:ln>
                            <a:noFill/>
                          </a:ln>
                          <a:solidFill>
                            <a:srgbClr val="3333FF"/>
                          </a:solidFill>
                          <a:effectLst/>
                          <a:latin typeface="Calibri" panose="020F0502020204030204" pitchFamily="34" charset="0"/>
                          <a:ea typeface="楷体_GB2312" pitchFamily="1" charset="-122"/>
                        </a:rPr>
                        <a:t>鸟类</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37812004"/>
                  </a:ext>
                </a:extLst>
              </a:tr>
              <a:tr h="34290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dirty="0">
                          <a:ln>
                            <a:noFill/>
                          </a:ln>
                          <a:effectLst/>
                          <a:latin typeface="楷体_GB2312" pitchFamily="1" charset="-122"/>
                          <a:ea typeface="楷体_GB2312" pitchFamily="1" charset="-122"/>
                        </a:rPr>
                        <a:t>动物A</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Calibri" panose="020F0502020204030204" pitchFamily="34" charset="0"/>
                          <a:ea typeface="楷体_GB2312" pitchFamily="1" charset="-122"/>
                        </a:rPr>
                        <a:t>大</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楷体_GB2312" pitchFamily="1" charset="-122"/>
                          <a:ea typeface="楷体_GB2312" pitchFamily="1" charset="-122"/>
                        </a:rPr>
                        <a:t>0</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楷体_GB2312" pitchFamily="1" charset="-122"/>
                          <a:ea typeface="楷体_GB2312" pitchFamily="1" charset="-122"/>
                        </a:rPr>
                        <a:t>2</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800" b="0" i="0" u="none" strike="noStrike" cap="none" normalizeH="0" baseline="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Calibri" panose="020F0502020204030204" pitchFamily="34" charset="0"/>
                          <a:ea typeface="楷体_GB2312" pitchFamily="1" charset="-122"/>
                        </a:rPr>
                        <a:t>无</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1" i="0" u="none" strike="noStrike" cap="none" normalizeH="0" baseline="0">
                          <a:ln>
                            <a:noFill/>
                          </a:ln>
                          <a:solidFill>
                            <a:srgbClr val="008000"/>
                          </a:solidFill>
                          <a:effectLst/>
                          <a:latin typeface="Calibri" panose="020F0502020204030204" pitchFamily="34" charset="0"/>
                          <a:ea typeface="楷体_GB2312" pitchFamily="1" charset="-122"/>
                        </a:rPr>
                        <a:t>？</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extLst>
                  <a:ext uri="{0D108BD9-81ED-4DB2-BD59-A6C34878D82A}">
                    <a16:rowId xmlns:a16="http://schemas.microsoft.com/office/drawing/2014/main" val="1630853822"/>
                  </a:ext>
                </a:extLst>
              </a:tr>
              <a:tr h="34290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楷体_GB2312" pitchFamily="1" charset="-122"/>
                          <a:ea typeface="楷体_GB2312" pitchFamily="1" charset="-122"/>
                        </a:rPr>
                        <a:t>动物B</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Calibri" panose="020F0502020204030204" pitchFamily="34" charset="0"/>
                          <a:ea typeface="楷体_GB2312" pitchFamily="1" charset="-122"/>
                        </a:rPr>
                        <a:t>中</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楷体_GB2312" pitchFamily="1" charset="-122"/>
                          <a:ea typeface="楷体_GB2312" pitchFamily="1" charset="-122"/>
                        </a:rPr>
                        <a:t>2</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楷体_GB2312" pitchFamily="1" charset="-122"/>
                          <a:ea typeface="楷体_GB2312" pitchFamily="1" charset="-122"/>
                        </a:rPr>
                        <a:t>2</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0" i="0" u="none" strike="noStrike" cap="none" normalizeH="0" baseline="0">
                          <a:ln>
                            <a:noFill/>
                          </a:ln>
                          <a:effectLst/>
                          <a:latin typeface="Calibri" panose="020F0502020204030204" pitchFamily="34" charset="0"/>
                          <a:ea typeface="楷体_GB2312" pitchFamily="1" charset="-122"/>
                        </a:rPr>
                        <a:t>否</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800" b="0" i="0" u="none" strike="noStrike" cap="none" normalizeH="0" baseline="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800" b="1" i="0" u="none" strike="noStrike" cap="none" normalizeH="0" baseline="0" dirty="0">
                          <a:ln>
                            <a:noFill/>
                          </a:ln>
                          <a:solidFill>
                            <a:srgbClr val="008000"/>
                          </a:solidFill>
                          <a:effectLst/>
                          <a:latin typeface="Calibri" panose="020F0502020204030204" pitchFamily="34" charset="0"/>
                          <a:ea typeface="楷体_GB2312" pitchFamily="1" charset="-122"/>
                        </a:rPr>
                        <a:t>？</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77231496"/>
                  </a:ext>
                </a:extLst>
              </a:tr>
            </a:tbl>
          </a:graphicData>
        </a:graphic>
      </p:graphicFrame>
      <p:sp>
        <p:nvSpPr>
          <p:cNvPr id="5" name="标题 4">
            <a:extLst>
              <a:ext uri="{FF2B5EF4-FFF2-40B4-BE49-F238E27FC236}">
                <a16:creationId xmlns:a16="http://schemas.microsoft.com/office/drawing/2014/main" id="{C3115E36-A532-4014-855F-CF61D8764287}"/>
              </a:ext>
            </a:extLst>
          </p:cNvPr>
          <p:cNvSpPr>
            <a:spLocks noGrp="1"/>
          </p:cNvSpPr>
          <p:nvPr>
            <p:ph type="title"/>
          </p:nvPr>
        </p:nvSpPr>
        <p:spPr/>
        <p:txBody>
          <a:bodyPr/>
          <a:lstStyle/>
          <a:p>
            <a:r>
              <a:rPr lang="zh-CN" altLang="en-US" sz="3600" b="1" dirty="0">
                <a:latin typeface="华光综艺_CNKI" panose="02000500000000000000" pitchFamily="2" charset="-122"/>
                <a:ea typeface="华光综艺_CNKI" panose="02000500000000000000" pitchFamily="2" charset="-122"/>
              </a:rPr>
              <a:t>分类问题的步骤</a:t>
            </a:r>
            <a:endParaRPr lang="zh-CN" altLang="en-US" b="1" dirty="0"/>
          </a:p>
        </p:txBody>
      </p:sp>
    </p:spTree>
    <p:extLst>
      <p:ext uri="{BB962C8B-B14F-4D97-AF65-F5344CB8AC3E}">
        <p14:creationId xmlns:p14="http://schemas.microsoft.com/office/powerpoint/2010/main" val="2088671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a:extLst>
              <a:ext uri="{FF2B5EF4-FFF2-40B4-BE49-F238E27FC236}">
                <a16:creationId xmlns:a16="http://schemas.microsoft.com/office/drawing/2014/main" id="{BFC4286D-3951-94C8-2C67-72A7C033ADEE}"/>
              </a:ext>
            </a:extLst>
          </p:cNvPr>
          <p:cNvSpPr txBox="1">
            <a:spLocks noChangeArrowheads="1"/>
          </p:cNvSpPr>
          <p:nvPr/>
        </p:nvSpPr>
        <p:spPr>
          <a:xfrm>
            <a:off x="634626" y="4909265"/>
            <a:ext cx="6844183" cy="1026319"/>
          </a:xfrm>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100" dirty="0">
                <a:solidFill>
                  <a:srgbClr val="660033"/>
                </a:solidFill>
                <a:latin typeface="微软雅黑" panose="020B0503020204020204" pitchFamily="34" charset="-122"/>
                <a:ea typeface="微软雅黑" panose="020B0503020204020204" pitchFamily="34" charset="-122"/>
              </a:rPr>
              <a:t>步骤一：将样本转化为等维的数据特征（特征提取）。</a:t>
            </a:r>
          </a:p>
          <a:p>
            <a:pPr lvl="1"/>
            <a:r>
              <a:rPr lang="zh-CN" altLang="en-US" sz="1800" dirty="0">
                <a:solidFill>
                  <a:srgbClr val="660033"/>
                </a:solidFill>
                <a:latin typeface="微软雅黑" panose="020B0503020204020204" pitchFamily="34" charset="-122"/>
                <a:ea typeface="微软雅黑" panose="020B0503020204020204" pitchFamily="34" charset="-122"/>
              </a:rPr>
              <a:t>所有样本必须具有相同数量的特征</a:t>
            </a:r>
          </a:p>
          <a:p>
            <a:pPr lvl="1"/>
            <a:r>
              <a:rPr lang="zh-CN" altLang="en-US" sz="1800" dirty="0">
                <a:solidFill>
                  <a:srgbClr val="660033"/>
                </a:solidFill>
                <a:latin typeface="微软雅黑" panose="020B0503020204020204" pitchFamily="34" charset="-122"/>
                <a:ea typeface="微软雅黑" panose="020B0503020204020204" pitchFamily="34" charset="-122"/>
              </a:rPr>
              <a:t>兼顾特征的全面性和独立性</a:t>
            </a:r>
          </a:p>
          <a:p>
            <a:pPr marL="0" indent="0">
              <a:buNone/>
            </a:pPr>
            <a:endParaRPr lang="zh-CN" altLang="en-US" sz="1800" dirty="0">
              <a:latin typeface="微软雅黑" panose="020B0503020204020204" pitchFamily="34" charset="-122"/>
              <a:ea typeface="微软雅黑" panose="020B0503020204020204" pitchFamily="34" charset="-122"/>
            </a:endParaRPr>
          </a:p>
        </p:txBody>
      </p:sp>
      <p:graphicFrame>
        <p:nvGraphicFramePr>
          <p:cNvPr id="4" name="Group 4">
            <a:extLst>
              <a:ext uri="{FF2B5EF4-FFF2-40B4-BE49-F238E27FC236}">
                <a16:creationId xmlns:a16="http://schemas.microsoft.com/office/drawing/2014/main" id="{C1E1266E-FCAF-228B-C65D-E67D0D88A677}"/>
              </a:ext>
            </a:extLst>
          </p:cNvPr>
          <p:cNvGraphicFramePr>
            <a:graphicFrameLocks/>
          </p:cNvGraphicFramePr>
          <p:nvPr/>
        </p:nvGraphicFramePr>
        <p:xfrm>
          <a:off x="634625" y="1817826"/>
          <a:ext cx="7992017" cy="2870837"/>
        </p:xfrm>
        <a:graphic>
          <a:graphicData uri="http://schemas.openxmlformats.org/drawingml/2006/table">
            <a:tbl>
              <a:tblPr/>
              <a:tblGrid>
                <a:gridCol w="1108534">
                  <a:extLst>
                    <a:ext uri="{9D8B030D-6E8A-4147-A177-3AD203B41FA5}">
                      <a16:colId xmlns:a16="http://schemas.microsoft.com/office/drawing/2014/main" val="2160186825"/>
                    </a:ext>
                  </a:extLst>
                </a:gridCol>
                <a:gridCol w="757712">
                  <a:extLst>
                    <a:ext uri="{9D8B030D-6E8A-4147-A177-3AD203B41FA5}">
                      <a16:colId xmlns:a16="http://schemas.microsoft.com/office/drawing/2014/main" val="1841040809"/>
                    </a:ext>
                  </a:extLst>
                </a:gridCol>
                <a:gridCol w="1182222">
                  <a:extLst>
                    <a:ext uri="{9D8B030D-6E8A-4147-A177-3AD203B41FA5}">
                      <a16:colId xmlns:a16="http://schemas.microsoft.com/office/drawing/2014/main" val="973988230"/>
                    </a:ext>
                  </a:extLst>
                </a:gridCol>
                <a:gridCol w="1228678">
                  <a:extLst>
                    <a:ext uri="{9D8B030D-6E8A-4147-A177-3AD203B41FA5}">
                      <a16:colId xmlns:a16="http://schemas.microsoft.com/office/drawing/2014/main" val="958204580"/>
                    </a:ext>
                  </a:extLst>
                </a:gridCol>
                <a:gridCol w="1110137">
                  <a:extLst>
                    <a:ext uri="{9D8B030D-6E8A-4147-A177-3AD203B41FA5}">
                      <a16:colId xmlns:a16="http://schemas.microsoft.com/office/drawing/2014/main" val="3155934803"/>
                    </a:ext>
                  </a:extLst>
                </a:gridCol>
                <a:gridCol w="1217465">
                  <a:extLst>
                    <a:ext uri="{9D8B030D-6E8A-4147-A177-3AD203B41FA5}">
                      <a16:colId xmlns:a16="http://schemas.microsoft.com/office/drawing/2014/main" val="2822979865"/>
                    </a:ext>
                  </a:extLst>
                </a:gridCol>
                <a:gridCol w="1387269">
                  <a:extLst>
                    <a:ext uri="{9D8B030D-6E8A-4147-A177-3AD203B41FA5}">
                      <a16:colId xmlns:a16="http://schemas.microsoft.com/office/drawing/2014/main" val="1454675350"/>
                    </a:ext>
                  </a:extLst>
                </a:gridCol>
              </a:tblGrid>
              <a:tr h="32385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1" i="0" u="none" strike="noStrike" cap="none" normalizeH="0" baseline="0" dirty="0">
                          <a:ln>
                            <a:noFill/>
                          </a:ln>
                          <a:effectLst/>
                          <a:latin typeface="Calibri" panose="020F0502020204030204" pitchFamily="34" charset="0"/>
                          <a:ea typeface="楷体_GB2312" pitchFamily="1" charset="-122"/>
                        </a:rPr>
                        <a:t>动物种类</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1" i="0" u="none" strike="noStrike" cap="none" normalizeH="0" baseline="0">
                          <a:ln>
                            <a:noFill/>
                          </a:ln>
                          <a:effectLst/>
                          <a:latin typeface="Calibri" panose="020F0502020204030204" pitchFamily="34" charset="0"/>
                          <a:ea typeface="楷体_GB2312" pitchFamily="1" charset="-122"/>
                        </a:rPr>
                        <a:t>体型</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1" i="0" u="none" strike="noStrike" cap="none" normalizeH="0" baseline="0" dirty="0">
                          <a:ln>
                            <a:noFill/>
                          </a:ln>
                          <a:effectLst/>
                          <a:latin typeface="Calibri" panose="020F0502020204030204" pitchFamily="34" charset="0"/>
                          <a:ea typeface="楷体_GB2312" pitchFamily="1" charset="-122"/>
                        </a:rPr>
                        <a:t>翅膀数量</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1" i="0" u="none" strike="noStrike" cap="none" normalizeH="0" baseline="0">
                          <a:ln>
                            <a:noFill/>
                          </a:ln>
                          <a:effectLst/>
                          <a:latin typeface="Calibri" panose="020F0502020204030204" pitchFamily="34" charset="0"/>
                          <a:ea typeface="楷体_GB2312" pitchFamily="1" charset="-122"/>
                        </a:rPr>
                        <a:t>脚的只数</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1" i="0" u="none" strike="noStrike" cap="none" normalizeH="0" baseline="0" dirty="0">
                          <a:ln>
                            <a:noFill/>
                          </a:ln>
                          <a:effectLst/>
                          <a:latin typeface="Calibri" panose="020F0502020204030204" pitchFamily="34" charset="0"/>
                          <a:ea typeface="楷体_GB2312" pitchFamily="1" charset="-122"/>
                        </a:rPr>
                        <a:t>是否产蛋</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1" i="0" u="none" strike="noStrike" cap="none" normalizeH="0" baseline="0">
                          <a:ln>
                            <a:noFill/>
                          </a:ln>
                          <a:effectLst/>
                          <a:latin typeface="Calibri" panose="020F0502020204030204" pitchFamily="34" charset="0"/>
                          <a:ea typeface="楷体_GB2312" pitchFamily="1" charset="-122"/>
                        </a:rPr>
                        <a:t>是否有毛</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1" i="0" u="none" strike="noStrike" cap="none" normalizeH="0" baseline="0">
                          <a:ln>
                            <a:noFill/>
                          </a:ln>
                          <a:effectLst/>
                          <a:latin typeface="Calibri" panose="020F0502020204030204" pitchFamily="34" charset="0"/>
                          <a:ea typeface="楷体_GB2312" pitchFamily="1" charset="-122"/>
                        </a:rPr>
                        <a:t>类别</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10245751"/>
                  </a:ext>
                </a:extLst>
              </a:tr>
              <a:tr h="32266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狗</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中</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dirty="0">
                          <a:ln>
                            <a:noFill/>
                          </a:ln>
                          <a:effectLst/>
                          <a:latin typeface="楷体_GB2312" pitchFamily="1" charset="-122"/>
                          <a:ea typeface="楷体_GB2312" pitchFamily="1" charset="-122"/>
                        </a:rPr>
                        <a:t>0</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4</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否</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500" b="0" i="0" u="none" strike="noStrike" cap="none" normalizeH="0" baseline="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solidFill>
                            <a:schemeClr val="hlink"/>
                          </a:solidFill>
                          <a:effectLst/>
                          <a:latin typeface="Calibri" panose="020F0502020204030204" pitchFamily="34" charset="0"/>
                          <a:ea typeface="楷体_GB2312" pitchFamily="1" charset="-122"/>
                        </a:rPr>
                        <a:t>爬行动物</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extLst>
                  <a:ext uri="{0D108BD9-81ED-4DB2-BD59-A6C34878D82A}">
                    <a16:rowId xmlns:a16="http://schemas.microsoft.com/office/drawing/2014/main" val="3705107230"/>
                  </a:ext>
                </a:extLst>
              </a:tr>
              <a:tr h="32385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猪</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大</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0</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4</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500" b="0" i="0" u="none" strike="noStrike" cap="none" normalizeH="0" baseline="0">
                          <a:ln>
                            <a:noFill/>
                          </a:ln>
                          <a:effectLst/>
                          <a:latin typeface="Calibri" panose="020F0502020204030204" pitchFamily="34" charset="0"/>
                          <a:ea typeface="楷体_GB2312" pitchFamily="1" charset="-122"/>
                        </a:rPr>
                        <a:t>否</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500" b="0" i="0" u="none" strike="noStrike" cap="none" normalizeH="0" baseline="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500" b="0" i="0" u="none" strike="noStrike" cap="none" normalizeH="0" baseline="0">
                          <a:ln>
                            <a:noFill/>
                          </a:ln>
                          <a:solidFill>
                            <a:schemeClr val="hlink"/>
                          </a:solidFill>
                          <a:effectLst/>
                          <a:latin typeface="Calibri" panose="020F0502020204030204" pitchFamily="34" charset="0"/>
                          <a:ea typeface="楷体_GB2312" pitchFamily="1" charset="-122"/>
                        </a:rPr>
                        <a:t>爬行动物</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42624934"/>
                  </a:ext>
                </a:extLst>
              </a:tr>
              <a:tr h="29718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牛</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大</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0</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4</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500" b="0" i="0" u="none" strike="noStrike" cap="none" normalizeH="0" baseline="0">
                          <a:ln>
                            <a:noFill/>
                          </a:ln>
                          <a:effectLst/>
                          <a:latin typeface="Calibri" panose="020F0502020204030204" pitchFamily="34" charset="0"/>
                          <a:ea typeface="楷体_GB2312" pitchFamily="1" charset="-122"/>
                        </a:rPr>
                        <a:t>否</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500" b="0" i="0" u="none" strike="noStrike" cap="none" normalizeH="0" baseline="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500" b="0" i="0" u="none" strike="noStrike" cap="none" normalizeH="0" baseline="0">
                          <a:ln>
                            <a:noFill/>
                          </a:ln>
                          <a:solidFill>
                            <a:schemeClr val="hlink"/>
                          </a:solidFill>
                          <a:effectLst/>
                          <a:latin typeface="Calibri" panose="020F0502020204030204" pitchFamily="34" charset="0"/>
                          <a:ea typeface="楷体_GB2312" pitchFamily="1" charset="-122"/>
                        </a:rPr>
                        <a:t>爬行动物</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extLst>
                  <a:ext uri="{0D108BD9-81ED-4DB2-BD59-A6C34878D82A}">
                    <a16:rowId xmlns:a16="http://schemas.microsoft.com/office/drawing/2014/main" val="2293455988"/>
                  </a:ext>
                </a:extLst>
              </a:tr>
              <a:tr h="332185">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麻雀</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小</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2</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2</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500" b="0" i="0" u="none" strike="noStrike" cap="none" normalizeH="0" baseline="0" dirty="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solidFill>
                            <a:srgbClr val="3333FF"/>
                          </a:solidFill>
                          <a:effectLst/>
                          <a:latin typeface="Calibri" panose="020F0502020204030204" pitchFamily="34" charset="0"/>
                          <a:ea typeface="楷体_GB2312" pitchFamily="1" charset="-122"/>
                        </a:rPr>
                        <a:t>鸟类</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52162714"/>
                  </a:ext>
                </a:extLst>
              </a:tr>
              <a:tr h="325041">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天鹅</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中</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2</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2</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dirty="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500" b="0" i="0" u="none" strike="noStrike" cap="none" normalizeH="0" baseline="0" dirty="0" err="1">
                          <a:ln>
                            <a:noFill/>
                          </a:ln>
                          <a:solidFill>
                            <a:srgbClr val="3333FF"/>
                          </a:solidFill>
                          <a:effectLst/>
                          <a:latin typeface="Calibri" panose="020F0502020204030204" pitchFamily="34" charset="0"/>
                          <a:ea typeface="楷体_GB2312" pitchFamily="1" charset="-122"/>
                        </a:rPr>
                        <a:t>鸟类</a:t>
                      </a:r>
                      <a:endParaRPr kumimoji="0" lang="en-US" altLang="en-US" sz="1500" b="0" i="0" u="none" strike="noStrike" cap="none" normalizeH="0" baseline="0" dirty="0">
                        <a:ln>
                          <a:noFill/>
                        </a:ln>
                        <a:solidFill>
                          <a:srgbClr val="3333FF"/>
                        </a:solidFill>
                        <a:effectLst/>
                        <a:latin typeface="Calibri" panose="020F0502020204030204" pitchFamily="34" charset="0"/>
                        <a:ea typeface="楷体_GB2312" pitchFamily="1" charset="-122"/>
                      </a:endParaRP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extLst>
                  <a:ext uri="{0D108BD9-81ED-4DB2-BD59-A6C34878D82A}">
                    <a16:rowId xmlns:a16="http://schemas.microsoft.com/office/drawing/2014/main" val="3348648709"/>
                  </a:ext>
                </a:extLst>
              </a:tr>
              <a:tr h="32385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dirty="0">
                          <a:ln>
                            <a:noFill/>
                          </a:ln>
                          <a:effectLst/>
                          <a:latin typeface="Calibri" panose="020F0502020204030204" pitchFamily="34" charset="0"/>
                          <a:ea typeface="楷体_GB2312" pitchFamily="1" charset="-122"/>
                        </a:rPr>
                        <a:t>大雁</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中</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2</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2</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500" b="0" i="0" u="none" strike="noStrike" cap="none" normalizeH="0" baseline="0" dirty="0" err="1">
                          <a:ln>
                            <a:noFill/>
                          </a:ln>
                          <a:solidFill>
                            <a:srgbClr val="3333FF"/>
                          </a:solidFill>
                          <a:effectLst/>
                          <a:latin typeface="Calibri" panose="020F0502020204030204" pitchFamily="34" charset="0"/>
                          <a:ea typeface="楷体_GB2312" pitchFamily="1" charset="-122"/>
                        </a:rPr>
                        <a:t>鸟类</a:t>
                      </a:r>
                      <a:endParaRPr kumimoji="0" lang="en-US" altLang="en-US" sz="1500" b="0" i="0" u="none" strike="noStrike" cap="none" normalizeH="0" baseline="0" dirty="0">
                        <a:ln>
                          <a:noFill/>
                        </a:ln>
                        <a:solidFill>
                          <a:srgbClr val="3333FF"/>
                        </a:solidFill>
                        <a:effectLst/>
                        <a:latin typeface="Calibri" panose="020F0502020204030204" pitchFamily="34" charset="0"/>
                        <a:ea typeface="楷体_GB2312" pitchFamily="1" charset="-122"/>
                      </a:endParaRP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37812004"/>
                  </a:ext>
                </a:extLst>
              </a:tr>
              <a:tr h="325041">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dirty="0">
                          <a:ln>
                            <a:noFill/>
                          </a:ln>
                          <a:effectLst/>
                          <a:latin typeface="楷体_GB2312" pitchFamily="1" charset="-122"/>
                          <a:ea typeface="楷体_GB2312" pitchFamily="1" charset="-122"/>
                        </a:rPr>
                        <a:t>动物A</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大</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0</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2</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500" b="0" i="0" u="none" strike="noStrike" cap="none" normalizeH="0" baseline="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无</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1" i="0" u="none" strike="noStrike" cap="none" normalizeH="0" baseline="0" dirty="0">
                          <a:ln>
                            <a:noFill/>
                          </a:ln>
                          <a:solidFill>
                            <a:srgbClr val="008000"/>
                          </a:solidFill>
                          <a:effectLst/>
                          <a:latin typeface="Calibri" panose="020F0502020204030204" pitchFamily="34" charset="0"/>
                          <a:ea typeface="楷体_GB2312" pitchFamily="1" charset="-122"/>
                        </a:rPr>
                        <a:t>？</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extLst>
                  <a:ext uri="{0D108BD9-81ED-4DB2-BD59-A6C34878D82A}">
                    <a16:rowId xmlns:a16="http://schemas.microsoft.com/office/drawing/2014/main" val="1630853822"/>
                  </a:ext>
                </a:extLst>
              </a:tr>
              <a:tr h="29718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动物B</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中</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2</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2</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否</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500" b="0" i="0" u="none" strike="noStrike" cap="none" normalizeH="0" baseline="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1" i="0" u="none" strike="noStrike" cap="none" normalizeH="0" baseline="0" dirty="0">
                          <a:ln>
                            <a:noFill/>
                          </a:ln>
                          <a:solidFill>
                            <a:srgbClr val="008000"/>
                          </a:solidFill>
                          <a:effectLst/>
                          <a:latin typeface="Calibri" panose="020F0502020204030204" pitchFamily="34" charset="0"/>
                          <a:ea typeface="楷体_GB2312" pitchFamily="1" charset="-122"/>
                        </a:rPr>
                        <a:t>？</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77231496"/>
                  </a:ext>
                </a:extLst>
              </a:tr>
            </a:tbl>
          </a:graphicData>
        </a:graphic>
      </p:graphicFrame>
      <p:sp>
        <p:nvSpPr>
          <p:cNvPr id="5" name="标题 4">
            <a:extLst>
              <a:ext uri="{FF2B5EF4-FFF2-40B4-BE49-F238E27FC236}">
                <a16:creationId xmlns:a16="http://schemas.microsoft.com/office/drawing/2014/main" id="{9A29463B-240D-47D7-A168-E34CED6890BB}"/>
              </a:ext>
            </a:extLst>
          </p:cNvPr>
          <p:cNvSpPr>
            <a:spLocks noGrp="1"/>
          </p:cNvSpPr>
          <p:nvPr>
            <p:ph type="title"/>
          </p:nvPr>
        </p:nvSpPr>
        <p:spPr/>
        <p:txBody>
          <a:bodyPr/>
          <a:lstStyle/>
          <a:p>
            <a:r>
              <a:rPr lang="zh-CN" altLang="en-US" sz="3600" b="1" dirty="0">
                <a:latin typeface="华光综艺_CNKI" panose="02000500000000000000" pitchFamily="2" charset="-122"/>
                <a:ea typeface="华光综艺_CNKI" panose="02000500000000000000" pitchFamily="2" charset="-122"/>
              </a:rPr>
              <a:t>分类问题的步骤</a:t>
            </a:r>
            <a:endParaRPr lang="zh-CN" altLang="en-US" b="1" dirty="0"/>
          </a:p>
        </p:txBody>
      </p:sp>
    </p:spTree>
    <p:extLst>
      <p:ext uri="{BB962C8B-B14F-4D97-AF65-F5344CB8AC3E}">
        <p14:creationId xmlns:p14="http://schemas.microsoft.com/office/powerpoint/2010/main" val="2881558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5D418-8D4A-74DC-1321-1C5967EF70DC}"/>
            </a:ext>
          </a:extLst>
        </p:cNvPr>
        <p:cNvGrpSpPr/>
        <p:nvPr/>
      </p:nvGrpSpPr>
      <p:grpSpPr>
        <a:xfrm>
          <a:off x="0" y="0"/>
          <a:ext cx="0" cy="0"/>
          <a:chOff x="0" y="0"/>
          <a:chExt cx="0" cy="0"/>
        </a:xfrm>
      </p:grpSpPr>
      <p:sp>
        <p:nvSpPr>
          <p:cNvPr id="2" name="Rectangle 3">
            <a:extLst>
              <a:ext uri="{FF2B5EF4-FFF2-40B4-BE49-F238E27FC236}">
                <a16:creationId xmlns:a16="http://schemas.microsoft.com/office/drawing/2014/main" id="{28466890-1E6A-45C5-2407-5FB277456732}"/>
              </a:ext>
            </a:extLst>
          </p:cNvPr>
          <p:cNvSpPr txBox="1">
            <a:spLocks noChangeArrowheads="1"/>
          </p:cNvSpPr>
          <p:nvPr/>
        </p:nvSpPr>
        <p:spPr>
          <a:xfrm>
            <a:off x="634625" y="4902994"/>
            <a:ext cx="6057290" cy="1097756"/>
          </a:xfrm>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100" dirty="0">
                <a:solidFill>
                  <a:srgbClr val="660033"/>
                </a:solidFill>
                <a:latin typeface="微软雅黑" panose="020B0503020204020204" pitchFamily="34" charset="-122"/>
                <a:ea typeface="微软雅黑" panose="020B0503020204020204" pitchFamily="34" charset="-122"/>
              </a:rPr>
              <a:t>步骤二：选择与类别相关的特征（特征选择）。</a:t>
            </a:r>
          </a:p>
          <a:p>
            <a:pPr lvl="1"/>
            <a:r>
              <a:rPr lang="zh-CN" altLang="en-US" sz="1800" dirty="0">
                <a:solidFill>
                  <a:srgbClr val="660033"/>
                </a:solidFill>
                <a:latin typeface="微软雅黑" panose="020B0503020204020204" pitchFamily="34" charset="-122"/>
                <a:ea typeface="微软雅黑" panose="020B0503020204020204" pitchFamily="34" charset="-122"/>
              </a:rPr>
              <a:t>比如，绿色代表与类别非常相关，黑色代表部分相关，灰色代表完全无关</a:t>
            </a:r>
          </a:p>
          <a:p>
            <a:endParaRPr lang="zh-CN" altLang="en-US" sz="1800" dirty="0">
              <a:latin typeface="微软雅黑" panose="020B0503020204020204" pitchFamily="34" charset="-122"/>
              <a:ea typeface="微软雅黑" panose="020B0503020204020204" pitchFamily="34" charset="-122"/>
            </a:endParaRPr>
          </a:p>
        </p:txBody>
      </p:sp>
      <p:graphicFrame>
        <p:nvGraphicFramePr>
          <p:cNvPr id="4" name="Group 4">
            <a:extLst>
              <a:ext uri="{FF2B5EF4-FFF2-40B4-BE49-F238E27FC236}">
                <a16:creationId xmlns:a16="http://schemas.microsoft.com/office/drawing/2014/main" id="{C0329AF7-AF1A-AB2A-A9E0-1A225179C2FB}"/>
              </a:ext>
            </a:extLst>
          </p:cNvPr>
          <p:cNvGraphicFramePr>
            <a:graphicFrameLocks/>
          </p:cNvGraphicFramePr>
          <p:nvPr/>
        </p:nvGraphicFramePr>
        <p:xfrm>
          <a:off x="634625" y="1817826"/>
          <a:ext cx="7992017" cy="2870837"/>
        </p:xfrm>
        <a:graphic>
          <a:graphicData uri="http://schemas.openxmlformats.org/drawingml/2006/table">
            <a:tbl>
              <a:tblPr/>
              <a:tblGrid>
                <a:gridCol w="1108534">
                  <a:extLst>
                    <a:ext uri="{9D8B030D-6E8A-4147-A177-3AD203B41FA5}">
                      <a16:colId xmlns:a16="http://schemas.microsoft.com/office/drawing/2014/main" val="2160186825"/>
                    </a:ext>
                  </a:extLst>
                </a:gridCol>
                <a:gridCol w="757712">
                  <a:extLst>
                    <a:ext uri="{9D8B030D-6E8A-4147-A177-3AD203B41FA5}">
                      <a16:colId xmlns:a16="http://schemas.microsoft.com/office/drawing/2014/main" val="1841040809"/>
                    </a:ext>
                  </a:extLst>
                </a:gridCol>
                <a:gridCol w="1182222">
                  <a:extLst>
                    <a:ext uri="{9D8B030D-6E8A-4147-A177-3AD203B41FA5}">
                      <a16:colId xmlns:a16="http://schemas.microsoft.com/office/drawing/2014/main" val="973988230"/>
                    </a:ext>
                  </a:extLst>
                </a:gridCol>
                <a:gridCol w="1228678">
                  <a:extLst>
                    <a:ext uri="{9D8B030D-6E8A-4147-A177-3AD203B41FA5}">
                      <a16:colId xmlns:a16="http://schemas.microsoft.com/office/drawing/2014/main" val="958204580"/>
                    </a:ext>
                  </a:extLst>
                </a:gridCol>
                <a:gridCol w="1110137">
                  <a:extLst>
                    <a:ext uri="{9D8B030D-6E8A-4147-A177-3AD203B41FA5}">
                      <a16:colId xmlns:a16="http://schemas.microsoft.com/office/drawing/2014/main" val="3155934803"/>
                    </a:ext>
                  </a:extLst>
                </a:gridCol>
                <a:gridCol w="1217465">
                  <a:extLst>
                    <a:ext uri="{9D8B030D-6E8A-4147-A177-3AD203B41FA5}">
                      <a16:colId xmlns:a16="http://schemas.microsoft.com/office/drawing/2014/main" val="2822979865"/>
                    </a:ext>
                  </a:extLst>
                </a:gridCol>
                <a:gridCol w="1387269">
                  <a:extLst>
                    <a:ext uri="{9D8B030D-6E8A-4147-A177-3AD203B41FA5}">
                      <a16:colId xmlns:a16="http://schemas.microsoft.com/office/drawing/2014/main" val="1454675350"/>
                    </a:ext>
                  </a:extLst>
                </a:gridCol>
              </a:tblGrid>
              <a:tr h="32385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1" i="0" u="none" strike="noStrike" cap="none" normalizeH="0" baseline="0" dirty="0">
                          <a:ln>
                            <a:noFill/>
                          </a:ln>
                          <a:effectLst/>
                          <a:latin typeface="Calibri" panose="020F0502020204030204" pitchFamily="34" charset="0"/>
                          <a:ea typeface="楷体_GB2312" pitchFamily="1" charset="-122"/>
                        </a:rPr>
                        <a:t>动物种类</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1" i="0" u="none" strike="noStrike" cap="none" normalizeH="0" baseline="0">
                          <a:ln>
                            <a:noFill/>
                          </a:ln>
                          <a:effectLst/>
                          <a:latin typeface="Calibri" panose="020F0502020204030204" pitchFamily="34" charset="0"/>
                          <a:ea typeface="楷体_GB2312" pitchFamily="1" charset="-122"/>
                        </a:rPr>
                        <a:t>体型</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1" i="0" u="none" strike="noStrike" cap="none" normalizeH="0" baseline="0" dirty="0">
                          <a:ln>
                            <a:noFill/>
                          </a:ln>
                          <a:effectLst/>
                          <a:latin typeface="Calibri" panose="020F0502020204030204" pitchFamily="34" charset="0"/>
                          <a:ea typeface="楷体_GB2312" pitchFamily="1" charset="-122"/>
                        </a:rPr>
                        <a:t>翅膀数量</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1" i="0" u="none" strike="noStrike" cap="none" normalizeH="0" baseline="0">
                          <a:ln>
                            <a:noFill/>
                          </a:ln>
                          <a:effectLst/>
                          <a:latin typeface="Calibri" panose="020F0502020204030204" pitchFamily="34" charset="0"/>
                          <a:ea typeface="楷体_GB2312" pitchFamily="1" charset="-122"/>
                        </a:rPr>
                        <a:t>脚的只数</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1" i="0" u="none" strike="noStrike" cap="none" normalizeH="0" baseline="0" dirty="0">
                          <a:ln>
                            <a:noFill/>
                          </a:ln>
                          <a:effectLst/>
                          <a:latin typeface="Calibri" panose="020F0502020204030204" pitchFamily="34" charset="0"/>
                          <a:ea typeface="楷体_GB2312" pitchFamily="1" charset="-122"/>
                        </a:rPr>
                        <a:t>是否产蛋</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1" i="0" u="none" strike="noStrike" cap="none" normalizeH="0" baseline="0">
                          <a:ln>
                            <a:noFill/>
                          </a:ln>
                          <a:effectLst/>
                          <a:latin typeface="Calibri" panose="020F0502020204030204" pitchFamily="34" charset="0"/>
                          <a:ea typeface="楷体_GB2312" pitchFamily="1" charset="-122"/>
                        </a:rPr>
                        <a:t>是否有毛</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1" i="0" u="none" strike="noStrike" cap="none" normalizeH="0" baseline="0">
                          <a:ln>
                            <a:noFill/>
                          </a:ln>
                          <a:effectLst/>
                          <a:latin typeface="Calibri" panose="020F0502020204030204" pitchFamily="34" charset="0"/>
                          <a:ea typeface="楷体_GB2312" pitchFamily="1" charset="-122"/>
                        </a:rPr>
                        <a:t>类别</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10245751"/>
                  </a:ext>
                </a:extLst>
              </a:tr>
              <a:tr h="32266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狗</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中</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dirty="0">
                          <a:ln>
                            <a:noFill/>
                          </a:ln>
                          <a:effectLst/>
                          <a:latin typeface="楷体_GB2312" pitchFamily="1" charset="-122"/>
                          <a:ea typeface="楷体_GB2312" pitchFamily="1" charset="-122"/>
                        </a:rPr>
                        <a:t>0</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4</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否</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500" b="0" i="0" u="none" strike="noStrike" cap="none" normalizeH="0" baseline="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solidFill>
                            <a:schemeClr val="hlink"/>
                          </a:solidFill>
                          <a:effectLst/>
                          <a:latin typeface="Calibri" panose="020F0502020204030204" pitchFamily="34" charset="0"/>
                          <a:ea typeface="楷体_GB2312" pitchFamily="1" charset="-122"/>
                        </a:rPr>
                        <a:t>爬行动物</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extLst>
                  <a:ext uri="{0D108BD9-81ED-4DB2-BD59-A6C34878D82A}">
                    <a16:rowId xmlns:a16="http://schemas.microsoft.com/office/drawing/2014/main" val="3705107230"/>
                  </a:ext>
                </a:extLst>
              </a:tr>
              <a:tr h="32385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猪</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大</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0</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4</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500" b="0" i="0" u="none" strike="noStrike" cap="none" normalizeH="0" baseline="0">
                          <a:ln>
                            <a:noFill/>
                          </a:ln>
                          <a:effectLst/>
                          <a:latin typeface="Calibri" panose="020F0502020204030204" pitchFamily="34" charset="0"/>
                          <a:ea typeface="楷体_GB2312" pitchFamily="1" charset="-122"/>
                        </a:rPr>
                        <a:t>否</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500" b="0" i="0" u="none" strike="noStrike" cap="none" normalizeH="0" baseline="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500" b="0" i="0" u="none" strike="noStrike" cap="none" normalizeH="0" baseline="0">
                          <a:ln>
                            <a:noFill/>
                          </a:ln>
                          <a:solidFill>
                            <a:schemeClr val="hlink"/>
                          </a:solidFill>
                          <a:effectLst/>
                          <a:latin typeface="Calibri" panose="020F0502020204030204" pitchFamily="34" charset="0"/>
                          <a:ea typeface="楷体_GB2312" pitchFamily="1" charset="-122"/>
                        </a:rPr>
                        <a:t>爬行动物</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42624934"/>
                  </a:ext>
                </a:extLst>
              </a:tr>
              <a:tr h="29718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牛</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大</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0</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4</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500" b="0" i="0" u="none" strike="noStrike" cap="none" normalizeH="0" baseline="0">
                          <a:ln>
                            <a:noFill/>
                          </a:ln>
                          <a:effectLst/>
                          <a:latin typeface="Calibri" panose="020F0502020204030204" pitchFamily="34" charset="0"/>
                          <a:ea typeface="楷体_GB2312" pitchFamily="1" charset="-122"/>
                        </a:rPr>
                        <a:t>否</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500" b="0" i="0" u="none" strike="noStrike" cap="none" normalizeH="0" baseline="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500" b="0" i="0" u="none" strike="noStrike" cap="none" normalizeH="0" baseline="0">
                          <a:ln>
                            <a:noFill/>
                          </a:ln>
                          <a:solidFill>
                            <a:schemeClr val="hlink"/>
                          </a:solidFill>
                          <a:effectLst/>
                          <a:latin typeface="Calibri" panose="020F0502020204030204" pitchFamily="34" charset="0"/>
                          <a:ea typeface="楷体_GB2312" pitchFamily="1" charset="-122"/>
                        </a:rPr>
                        <a:t>爬行动物</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extLst>
                  <a:ext uri="{0D108BD9-81ED-4DB2-BD59-A6C34878D82A}">
                    <a16:rowId xmlns:a16="http://schemas.microsoft.com/office/drawing/2014/main" val="2293455988"/>
                  </a:ext>
                </a:extLst>
              </a:tr>
              <a:tr h="332185">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麻雀</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小</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2</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2</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500" b="0" i="0" u="none" strike="noStrike" cap="none" normalizeH="0" baseline="0" dirty="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solidFill>
                            <a:srgbClr val="3333FF"/>
                          </a:solidFill>
                          <a:effectLst/>
                          <a:latin typeface="Calibri" panose="020F0502020204030204" pitchFamily="34" charset="0"/>
                          <a:ea typeface="楷体_GB2312" pitchFamily="1" charset="-122"/>
                        </a:rPr>
                        <a:t>鸟类</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52162714"/>
                  </a:ext>
                </a:extLst>
              </a:tr>
              <a:tr h="325041">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天鹅</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中</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2</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2</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dirty="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500" b="0" i="0" u="none" strike="noStrike" cap="none" normalizeH="0" baseline="0" dirty="0" err="1">
                          <a:ln>
                            <a:noFill/>
                          </a:ln>
                          <a:solidFill>
                            <a:srgbClr val="3333FF"/>
                          </a:solidFill>
                          <a:effectLst/>
                          <a:latin typeface="Calibri" panose="020F0502020204030204" pitchFamily="34" charset="0"/>
                          <a:ea typeface="楷体_GB2312" pitchFamily="1" charset="-122"/>
                        </a:rPr>
                        <a:t>鸟类</a:t>
                      </a:r>
                      <a:endParaRPr kumimoji="0" lang="en-US" altLang="en-US" sz="1500" b="0" i="0" u="none" strike="noStrike" cap="none" normalizeH="0" baseline="0" dirty="0">
                        <a:ln>
                          <a:noFill/>
                        </a:ln>
                        <a:solidFill>
                          <a:srgbClr val="3333FF"/>
                        </a:solidFill>
                        <a:effectLst/>
                        <a:latin typeface="Calibri" panose="020F0502020204030204" pitchFamily="34" charset="0"/>
                        <a:ea typeface="楷体_GB2312" pitchFamily="1" charset="-122"/>
                      </a:endParaRP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extLst>
                  <a:ext uri="{0D108BD9-81ED-4DB2-BD59-A6C34878D82A}">
                    <a16:rowId xmlns:a16="http://schemas.microsoft.com/office/drawing/2014/main" val="3348648709"/>
                  </a:ext>
                </a:extLst>
              </a:tr>
              <a:tr h="32385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dirty="0">
                          <a:ln>
                            <a:noFill/>
                          </a:ln>
                          <a:effectLst/>
                          <a:latin typeface="Calibri" panose="020F0502020204030204" pitchFamily="34" charset="0"/>
                          <a:ea typeface="楷体_GB2312" pitchFamily="1" charset="-122"/>
                        </a:rPr>
                        <a:t>大雁</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中</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2</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2</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500" b="0" i="0" u="none" strike="noStrike" cap="none" normalizeH="0" baseline="0" dirty="0" err="1">
                          <a:ln>
                            <a:noFill/>
                          </a:ln>
                          <a:solidFill>
                            <a:srgbClr val="3333FF"/>
                          </a:solidFill>
                          <a:effectLst/>
                          <a:latin typeface="Calibri" panose="020F0502020204030204" pitchFamily="34" charset="0"/>
                          <a:ea typeface="楷体_GB2312" pitchFamily="1" charset="-122"/>
                        </a:rPr>
                        <a:t>鸟类</a:t>
                      </a:r>
                      <a:endParaRPr kumimoji="0" lang="en-US" altLang="en-US" sz="1500" b="0" i="0" u="none" strike="noStrike" cap="none" normalizeH="0" baseline="0" dirty="0">
                        <a:ln>
                          <a:noFill/>
                        </a:ln>
                        <a:solidFill>
                          <a:srgbClr val="3333FF"/>
                        </a:solidFill>
                        <a:effectLst/>
                        <a:latin typeface="Calibri" panose="020F0502020204030204" pitchFamily="34" charset="0"/>
                        <a:ea typeface="楷体_GB2312" pitchFamily="1" charset="-122"/>
                      </a:endParaRP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37812004"/>
                  </a:ext>
                </a:extLst>
              </a:tr>
              <a:tr h="325041">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dirty="0">
                          <a:ln>
                            <a:noFill/>
                          </a:ln>
                          <a:effectLst/>
                          <a:latin typeface="楷体_GB2312" pitchFamily="1" charset="-122"/>
                          <a:ea typeface="楷体_GB2312" pitchFamily="1" charset="-122"/>
                        </a:rPr>
                        <a:t>动物A</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大</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0</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2</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500" b="0" i="0" u="none" strike="noStrike" cap="none" normalizeH="0" baseline="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无</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1" i="0" u="none" strike="noStrike" cap="none" normalizeH="0" baseline="0" dirty="0">
                          <a:ln>
                            <a:noFill/>
                          </a:ln>
                          <a:solidFill>
                            <a:srgbClr val="008000"/>
                          </a:solidFill>
                          <a:effectLst/>
                          <a:latin typeface="Calibri" panose="020F0502020204030204" pitchFamily="34" charset="0"/>
                          <a:ea typeface="楷体_GB2312" pitchFamily="1" charset="-122"/>
                        </a:rPr>
                        <a:t>？</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extLst>
                  <a:ext uri="{0D108BD9-81ED-4DB2-BD59-A6C34878D82A}">
                    <a16:rowId xmlns:a16="http://schemas.microsoft.com/office/drawing/2014/main" val="1630853822"/>
                  </a:ext>
                </a:extLst>
              </a:tr>
              <a:tr h="29718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动物B</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中</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楷体_GB2312" pitchFamily="1" charset="-122"/>
                          <a:ea typeface="楷体_GB2312" pitchFamily="1" charset="-122"/>
                        </a:rPr>
                        <a:t>2</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dirty="0">
                          <a:ln>
                            <a:noFill/>
                          </a:ln>
                          <a:effectLst/>
                          <a:latin typeface="楷体_GB2312" pitchFamily="1" charset="-122"/>
                          <a:ea typeface="楷体_GB2312" pitchFamily="1" charset="-122"/>
                        </a:rPr>
                        <a:t>2</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0" i="0" u="none" strike="noStrike" cap="none" normalizeH="0" baseline="0">
                          <a:ln>
                            <a:noFill/>
                          </a:ln>
                          <a:effectLst/>
                          <a:latin typeface="Calibri" panose="020F0502020204030204" pitchFamily="34" charset="0"/>
                          <a:ea typeface="楷体_GB2312" pitchFamily="1" charset="-122"/>
                        </a:rPr>
                        <a:t>否</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1500" b="0" i="0" u="none" strike="noStrike" cap="none" normalizeH="0" baseline="0">
                          <a:ln>
                            <a:noFill/>
                          </a:ln>
                          <a:effectLst/>
                          <a:latin typeface="Calibri" panose="020F0502020204030204" pitchFamily="34" charset="0"/>
                          <a:ea typeface="楷体_GB2312" pitchFamily="1" charset="-122"/>
                        </a:rPr>
                        <a:t>是</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1500" b="1" i="0" u="none" strike="noStrike" cap="none" normalizeH="0" baseline="0" dirty="0">
                          <a:ln>
                            <a:noFill/>
                          </a:ln>
                          <a:solidFill>
                            <a:srgbClr val="008000"/>
                          </a:solidFill>
                          <a:effectLst/>
                          <a:latin typeface="Calibri" panose="020F0502020204030204" pitchFamily="34" charset="0"/>
                          <a:ea typeface="楷体_GB2312" pitchFamily="1" charset="-122"/>
                        </a:rPr>
                        <a:t>？</a:t>
                      </a:r>
                    </a:p>
                  </a:txBody>
                  <a:tcPr marL="68580" marR="68580" marT="34290" marB="34290"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77231496"/>
                  </a:ext>
                </a:extLst>
              </a:tr>
            </a:tbl>
          </a:graphicData>
        </a:graphic>
      </p:graphicFrame>
      <p:sp>
        <p:nvSpPr>
          <p:cNvPr id="6" name="标题 5">
            <a:extLst>
              <a:ext uri="{FF2B5EF4-FFF2-40B4-BE49-F238E27FC236}">
                <a16:creationId xmlns:a16="http://schemas.microsoft.com/office/drawing/2014/main" id="{DE337F73-744D-40A8-B9E7-AA2ED32DE18D}"/>
              </a:ext>
            </a:extLst>
          </p:cNvPr>
          <p:cNvSpPr>
            <a:spLocks noGrp="1"/>
          </p:cNvSpPr>
          <p:nvPr>
            <p:ph type="title"/>
          </p:nvPr>
        </p:nvSpPr>
        <p:spPr/>
        <p:txBody>
          <a:bodyPr/>
          <a:lstStyle/>
          <a:p>
            <a:r>
              <a:rPr lang="zh-CN" altLang="en-US" sz="3600" b="1" dirty="0">
                <a:latin typeface="华光综艺_CNKI" panose="02000500000000000000" pitchFamily="2" charset="-122"/>
                <a:ea typeface="华光综艺_CNKI" panose="02000500000000000000" pitchFamily="2" charset="-122"/>
              </a:rPr>
              <a:t>分类问题的步骤</a:t>
            </a:r>
            <a:endParaRPr lang="zh-CN" altLang="en-US" i="1" dirty="0"/>
          </a:p>
        </p:txBody>
      </p:sp>
    </p:spTree>
    <p:extLst>
      <p:ext uri="{BB962C8B-B14F-4D97-AF65-F5344CB8AC3E}">
        <p14:creationId xmlns:p14="http://schemas.microsoft.com/office/powerpoint/2010/main" val="11453191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4E0B1-8292-30AD-2D4E-DF3A9342E997}"/>
            </a:ext>
          </a:extLst>
        </p:cNvPr>
        <p:cNvGrpSpPr/>
        <p:nvPr/>
      </p:nvGrpSpPr>
      <p:grpSpPr>
        <a:xfrm>
          <a:off x="0" y="0"/>
          <a:ext cx="0" cy="0"/>
          <a:chOff x="0" y="0"/>
          <a:chExt cx="0" cy="0"/>
        </a:xfrm>
      </p:grpSpPr>
      <p:sp>
        <p:nvSpPr>
          <p:cNvPr id="2" name="Rectangle 3">
            <a:extLst>
              <a:ext uri="{FF2B5EF4-FFF2-40B4-BE49-F238E27FC236}">
                <a16:creationId xmlns:a16="http://schemas.microsoft.com/office/drawing/2014/main" id="{647E996C-990B-B722-8223-AFA613C6D23D}"/>
              </a:ext>
            </a:extLst>
          </p:cNvPr>
          <p:cNvSpPr txBox="1">
            <a:spLocks noChangeArrowheads="1"/>
          </p:cNvSpPr>
          <p:nvPr/>
        </p:nvSpPr>
        <p:spPr>
          <a:xfrm>
            <a:off x="839885" y="3958157"/>
            <a:ext cx="6797761" cy="971550"/>
          </a:xfrm>
          <a:ln/>
        </p:spPr>
        <p:txBody>
          <a:bodyPr/>
          <a:lstStyle>
            <a:defPPr>
              <a:defRPr lang="zh-CN"/>
            </a:defPPr>
            <a:lvl1pPr marL="228600" indent="-228600">
              <a:lnSpc>
                <a:spcPct val="90000"/>
              </a:lnSpc>
              <a:spcBef>
                <a:spcPts val="1000"/>
              </a:spcBef>
              <a:buFont typeface="Arial" panose="020B0604020202020204" pitchFamily="34" charset="0"/>
              <a:buChar char="•"/>
              <a:defRPr sz="2400">
                <a:solidFill>
                  <a:srgbClr val="660033"/>
                </a:solidFill>
                <a:latin typeface="微软雅黑" panose="020B0503020204020204" pitchFamily="34" charset="-122"/>
                <a:ea typeface="微软雅黑" panose="020B0503020204020204" pitchFamily="34" charset="-122"/>
              </a:defRPr>
            </a:lvl1pPr>
            <a:lvl2pPr marL="685800" lvl="1" indent="-228600">
              <a:lnSpc>
                <a:spcPct val="90000"/>
              </a:lnSpc>
              <a:spcBef>
                <a:spcPts val="500"/>
              </a:spcBef>
              <a:buFont typeface="Arial" panose="020B0604020202020204" pitchFamily="34" charset="0"/>
              <a:buChar char="•"/>
              <a:defRPr sz="2000">
                <a:solidFill>
                  <a:srgbClr val="660033"/>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sz="2100" dirty="0"/>
              <a:t>步骤三：建立分类模型或分类器（分类）。</a:t>
            </a:r>
          </a:p>
          <a:p>
            <a:pPr lvl="1"/>
            <a:r>
              <a:rPr lang="zh-CN" altLang="en-US" sz="1800" dirty="0"/>
              <a:t>分类器通常可以看作一个函数，它把特征映射到类的空间上</a:t>
            </a:r>
          </a:p>
          <a:p>
            <a:pPr lvl="1"/>
            <a:endParaRPr lang="zh-CN" altLang="en-US" sz="1800" dirty="0"/>
          </a:p>
          <a:p>
            <a:endParaRPr lang="zh-CN" altLang="en-US" sz="2100" dirty="0"/>
          </a:p>
        </p:txBody>
      </p:sp>
      <p:graphicFrame>
        <p:nvGraphicFramePr>
          <p:cNvPr id="3" name="Object 4">
            <a:extLst>
              <a:ext uri="{FF2B5EF4-FFF2-40B4-BE49-F238E27FC236}">
                <a16:creationId xmlns:a16="http://schemas.microsoft.com/office/drawing/2014/main" id="{2668767B-4CC4-1FD0-0BCB-7217556717D8}"/>
              </a:ext>
            </a:extLst>
          </p:cNvPr>
          <p:cNvGraphicFramePr>
            <a:graphicFrameLocks/>
          </p:cNvGraphicFramePr>
          <p:nvPr/>
        </p:nvGraphicFramePr>
        <p:xfrm>
          <a:off x="667834" y="2457450"/>
          <a:ext cx="8295320" cy="1114953"/>
        </p:xfrm>
        <a:graphic>
          <a:graphicData uri="http://schemas.openxmlformats.org/presentationml/2006/ole">
            <mc:AlternateContent xmlns:mc="http://schemas.openxmlformats.org/markup-compatibility/2006">
              <mc:Choice xmlns:v="urn:schemas-microsoft-com:vml" Requires="v">
                <p:oleObj spid="_x0000_s15370" r:id="rId4" imgW="2400437" imgH="304877" progId="Equation.3">
                  <p:embed/>
                </p:oleObj>
              </mc:Choice>
              <mc:Fallback>
                <p:oleObj r:id="rId4" imgW="2400437" imgH="304877" progId="Equation.3">
                  <p:embed/>
                  <p:pic>
                    <p:nvPicPr>
                      <p:cNvPr id="3" name="Object 4">
                        <a:extLst>
                          <a:ext uri="{FF2B5EF4-FFF2-40B4-BE49-F238E27FC236}">
                            <a16:creationId xmlns:a16="http://schemas.microsoft.com/office/drawing/2014/main" id="{2668767B-4CC4-1FD0-0BCB-7217556717D8}"/>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7834" y="2457450"/>
                        <a:ext cx="8295320" cy="1114953"/>
                      </a:xfrm>
                      <a:prstGeom prst="rect">
                        <a:avLst/>
                      </a:prstGeom>
                      <a:noFill/>
                      <a:ln>
                        <a:noFill/>
                      </a:ln>
                    </p:spPr>
                  </p:pic>
                </p:oleObj>
              </mc:Fallback>
            </mc:AlternateContent>
          </a:graphicData>
        </a:graphic>
      </p:graphicFrame>
      <p:sp>
        <p:nvSpPr>
          <p:cNvPr id="6" name="标题 5">
            <a:extLst>
              <a:ext uri="{FF2B5EF4-FFF2-40B4-BE49-F238E27FC236}">
                <a16:creationId xmlns:a16="http://schemas.microsoft.com/office/drawing/2014/main" id="{C12614D7-6B30-4C36-A541-30C4ADC7EEF6}"/>
              </a:ext>
            </a:extLst>
          </p:cNvPr>
          <p:cNvSpPr>
            <a:spLocks noGrp="1"/>
          </p:cNvSpPr>
          <p:nvPr>
            <p:ph type="title"/>
          </p:nvPr>
        </p:nvSpPr>
        <p:spPr/>
        <p:txBody>
          <a:bodyPr/>
          <a:lstStyle/>
          <a:p>
            <a:r>
              <a:rPr lang="zh-CN" altLang="en-US" sz="3600" b="1" dirty="0">
                <a:latin typeface="华光综艺_CNKI" panose="02000500000000000000" pitchFamily="2" charset="-122"/>
                <a:ea typeface="华光综艺_CNKI" panose="02000500000000000000" pitchFamily="2" charset="-122"/>
              </a:rPr>
              <a:t>分类问题的步骤</a:t>
            </a:r>
            <a:endParaRPr lang="zh-CN" altLang="en-US" dirty="0"/>
          </a:p>
        </p:txBody>
      </p:sp>
    </p:spTree>
    <p:extLst>
      <p:ext uri="{BB962C8B-B14F-4D97-AF65-F5344CB8AC3E}">
        <p14:creationId xmlns:p14="http://schemas.microsoft.com/office/powerpoint/2010/main" val="2154704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DE092-4C4D-6C3E-8474-D497DF60D6D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8443D37-042C-C21C-06E8-924300F01D11}"/>
              </a:ext>
            </a:extLst>
          </p:cNvPr>
          <p:cNvSpPr txBox="1">
            <a:spLocks noChangeArrowheads="1"/>
          </p:cNvSpPr>
          <p:nvPr/>
        </p:nvSpPr>
        <p:spPr>
          <a:xfrm>
            <a:off x="33773" y="1665892"/>
            <a:ext cx="4909730" cy="3186113"/>
          </a:xfrm>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zh-CN" altLang="en-US" sz="1800" dirty="0">
                <a:solidFill>
                  <a:schemeClr val="hlink"/>
                </a:solidFill>
                <a:latin typeface="微软雅黑" panose="020B0503020204020204" pitchFamily="34" charset="-122"/>
                <a:ea typeface="微软雅黑" panose="020B0503020204020204" pitchFamily="34" charset="-122"/>
              </a:rPr>
              <a:t>分类</a:t>
            </a:r>
            <a:r>
              <a:rPr lang="zh-CN" altLang="en-US" sz="1800" dirty="0">
                <a:solidFill>
                  <a:srgbClr val="660033"/>
                </a:solidFill>
                <a:latin typeface="微软雅黑" panose="020B0503020204020204" pitchFamily="34" charset="-122"/>
                <a:ea typeface="微软雅黑" panose="020B0503020204020204" pitchFamily="34" charset="-122"/>
              </a:rPr>
              <a:t>也称为</a:t>
            </a:r>
            <a:r>
              <a:rPr lang="zh-CN" altLang="en-US" sz="1800" dirty="0">
                <a:solidFill>
                  <a:schemeClr val="hlink"/>
                </a:solidFill>
                <a:latin typeface="微软雅黑" panose="020B0503020204020204" pitchFamily="34" charset="-122"/>
                <a:ea typeface="微软雅黑" panose="020B0503020204020204" pitchFamily="34" charset="-122"/>
              </a:rPr>
              <a:t>有监督学习</a:t>
            </a:r>
            <a:r>
              <a:rPr lang="zh-CN" altLang="en-US" sz="1800" dirty="0">
                <a:solidFill>
                  <a:srgbClr val="660033"/>
                </a:solidFill>
                <a:latin typeface="微软雅黑" panose="020B0503020204020204" pitchFamily="34" charset="-122"/>
                <a:ea typeface="微软雅黑" panose="020B0503020204020204" pitchFamily="34" charset="-122"/>
              </a:rPr>
              <a:t>(supervised learning)，与之相对于的是无监督学习(unsupervised learning)，比如聚类。</a:t>
            </a:r>
          </a:p>
          <a:p>
            <a:pPr>
              <a:lnSpc>
                <a:spcPct val="100000"/>
              </a:lnSpc>
            </a:pPr>
            <a:r>
              <a:rPr lang="zh-CN" altLang="en-US" sz="1800" dirty="0">
                <a:solidFill>
                  <a:srgbClr val="660033"/>
                </a:solidFill>
                <a:latin typeface="微软雅黑" panose="020B0503020204020204" pitchFamily="34" charset="-122"/>
                <a:ea typeface="微软雅黑" panose="020B0503020204020204" pitchFamily="34" charset="-122"/>
              </a:rPr>
              <a:t>分类与聚类的最大区别在于，分类数据中的一部分的类别是已知的，而聚类数据的类别未知。</a:t>
            </a:r>
          </a:p>
          <a:p>
            <a:pPr>
              <a:lnSpc>
                <a:spcPct val="100000"/>
              </a:lnSpc>
            </a:pPr>
            <a:r>
              <a:rPr lang="zh-CN" altLang="en-US" sz="1800" dirty="0">
                <a:solidFill>
                  <a:srgbClr val="660033"/>
                </a:solidFill>
                <a:latin typeface="微软雅黑" panose="020B0503020204020204" pitchFamily="34" charset="-122"/>
                <a:ea typeface="微软雅黑" panose="020B0503020204020204" pitchFamily="34" charset="-122"/>
              </a:rPr>
              <a:t>建立分类模型需要学习一部分已知数据，如果训练时间过长，或者预测模型参数太多而样本较少，将导致</a:t>
            </a:r>
            <a:r>
              <a:rPr lang="zh-CN" altLang="en-US" sz="1800" dirty="0">
                <a:solidFill>
                  <a:schemeClr val="hlink"/>
                </a:solidFill>
                <a:latin typeface="微软雅黑" panose="020B0503020204020204" pitchFamily="34" charset="-122"/>
                <a:ea typeface="微软雅黑" panose="020B0503020204020204" pitchFamily="34" charset="-122"/>
              </a:rPr>
              <a:t>过度训练</a:t>
            </a:r>
            <a:r>
              <a:rPr lang="zh-CN" altLang="en-US" sz="1800" dirty="0">
                <a:solidFill>
                  <a:srgbClr val="660033"/>
                </a:solidFill>
                <a:latin typeface="微软雅黑" panose="020B0503020204020204" pitchFamily="34" charset="-122"/>
                <a:ea typeface="微软雅黑" panose="020B0503020204020204" pitchFamily="34" charset="-122"/>
              </a:rPr>
              <a:t>(overfitting)。</a:t>
            </a:r>
          </a:p>
        </p:txBody>
      </p:sp>
      <p:pic>
        <p:nvPicPr>
          <p:cNvPr id="13314" name="Picture 2" descr="过拟合 - 知乎">
            <a:extLst>
              <a:ext uri="{FF2B5EF4-FFF2-40B4-BE49-F238E27FC236}">
                <a16:creationId xmlns:a16="http://schemas.microsoft.com/office/drawing/2014/main" id="{BCAA10A4-E8E8-2202-1951-230FE1A6581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439" r="32567" b="10269"/>
          <a:stretch/>
        </p:blipFill>
        <p:spPr bwMode="auto">
          <a:xfrm>
            <a:off x="4943503" y="1665892"/>
            <a:ext cx="3662345" cy="19893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过拟合 - 知乎">
            <a:extLst>
              <a:ext uri="{FF2B5EF4-FFF2-40B4-BE49-F238E27FC236}">
                <a16:creationId xmlns:a16="http://schemas.microsoft.com/office/drawing/2014/main" id="{033AB0DF-AF15-233C-B75F-FD0CAC091C3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6360" t="18852" r="383" b="10206"/>
          <a:stretch/>
        </p:blipFill>
        <p:spPr bwMode="auto">
          <a:xfrm>
            <a:off x="5810250" y="3827519"/>
            <a:ext cx="1752601" cy="1920819"/>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B5C8733B-1ED4-79D5-2077-7B62ABCA5CE7}"/>
              </a:ext>
            </a:extLst>
          </p:cNvPr>
          <p:cNvSpPr txBox="1"/>
          <p:nvPr/>
        </p:nvSpPr>
        <p:spPr>
          <a:xfrm>
            <a:off x="5300020" y="3355159"/>
            <a:ext cx="897789" cy="323165"/>
          </a:xfrm>
          <a:prstGeom prst="rect">
            <a:avLst/>
          </a:prstGeom>
          <a:solidFill>
            <a:srgbClr val="FFFFFF"/>
          </a:solidFill>
        </p:spPr>
        <p:txBody>
          <a:bodyPr wrap="square">
            <a:spAutoFit/>
          </a:bodyPr>
          <a:lstStyle/>
          <a:p>
            <a:pPr algn="ctr"/>
            <a:r>
              <a:rPr lang="zh-CN" altLang="en-US" sz="1500" b="1" dirty="0">
                <a:latin typeface="微软雅黑" panose="020B0503020204020204" pitchFamily="34" charset="-122"/>
                <a:ea typeface="微软雅黑" panose="020B0503020204020204" pitchFamily="34" charset="-122"/>
              </a:rPr>
              <a:t>欠拟合</a:t>
            </a:r>
          </a:p>
        </p:txBody>
      </p:sp>
      <p:sp>
        <p:nvSpPr>
          <p:cNvPr id="13" name="文本框 12">
            <a:extLst>
              <a:ext uri="{FF2B5EF4-FFF2-40B4-BE49-F238E27FC236}">
                <a16:creationId xmlns:a16="http://schemas.microsoft.com/office/drawing/2014/main" id="{7BF88168-CD6A-5BFD-036E-B5E7B12F49FB}"/>
              </a:ext>
            </a:extLst>
          </p:cNvPr>
          <p:cNvSpPr txBox="1"/>
          <p:nvPr/>
        </p:nvSpPr>
        <p:spPr>
          <a:xfrm>
            <a:off x="7064425" y="3355159"/>
            <a:ext cx="1081765" cy="323165"/>
          </a:xfrm>
          <a:prstGeom prst="rect">
            <a:avLst/>
          </a:prstGeom>
          <a:solidFill>
            <a:srgbClr val="FFFFFF"/>
          </a:solidFill>
        </p:spPr>
        <p:txBody>
          <a:bodyPr wrap="square">
            <a:spAutoFit/>
          </a:bodyPr>
          <a:lstStyle/>
          <a:p>
            <a:pPr algn="ctr"/>
            <a:r>
              <a:rPr lang="zh-CN" altLang="en-US" sz="1500" b="1" dirty="0">
                <a:latin typeface="微软雅黑" panose="020B0503020204020204" pitchFamily="34" charset="-122"/>
                <a:ea typeface="微软雅黑" panose="020B0503020204020204" pitchFamily="34" charset="-122"/>
              </a:rPr>
              <a:t>好的拟合</a:t>
            </a:r>
          </a:p>
        </p:txBody>
      </p:sp>
      <p:sp>
        <p:nvSpPr>
          <p:cNvPr id="14" name="文本框 13">
            <a:extLst>
              <a:ext uri="{FF2B5EF4-FFF2-40B4-BE49-F238E27FC236}">
                <a16:creationId xmlns:a16="http://schemas.microsoft.com/office/drawing/2014/main" id="{CA8FE718-59E6-3A31-D0C6-FD6DD000CEE9}"/>
              </a:ext>
            </a:extLst>
          </p:cNvPr>
          <p:cNvSpPr txBox="1"/>
          <p:nvPr/>
        </p:nvSpPr>
        <p:spPr>
          <a:xfrm>
            <a:off x="6145667" y="5405322"/>
            <a:ext cx="1081765" cy="323165"/>
          </a:xfrm>
          <a:prstGeom prst="rect">
            <a:avLst/>
          </a:prstGeom>
          <a:solidFill>
            <a:srgbClr val="FFFFFF"/>
          </a:solidFill>
        </p:spPr>
        <p:txBody>
          <a:bodyPr wrap="square">
            <a:spAutoFit/>
          </a:bodyPr>
          <a:lstStyle/>
          <a:p>
            <a:pPr algn="ctr"/>
            <a:r>
              <a:rPr lang="zh-CN" altLang="en-US" sz="1500" b="1" dirty="0">
                <a:latin typeface="微软雅黑" panose="020B0503020204020204" pitchFamily="34" charset="-122"/>
                <a:ea typeface="微软雅黑" panose="020B0503020204020204" pitchFamily="34" charset="-122"/>
              </a:rPr>
              <a:t>过拟合</a:t>
            </a:r>
          </a:p>
        </p:txBody>
      </p:sp>
      <p:sp>
        <p:nvSpPr>
          <p:cNvPr id="5" name="标题 4">
            <a:extLst>
              <a:ext uri="{FF2B5EF4-FFF2-40B4-BE49-F238E27FC236}">
                <a16:creationId xmlns:a16="http://schemas.microsoft.com/office/drawing/2014/main" id="{254A604B-F89E-4631-BC1F-00052F97615A}"/>
              </a:ext>
            </a:extLst>
          </p:cNvPr>
          <p:cNvSpPr>
            <a:spLocks noGrp="1"/>
          </p:cNvSpPr>
          <p:nvPr>
            <p:ph type="title"/>
          </p:nvPr>
        </p:nvSpPr>
        <p:spPr/>
        <p:txBody>
          <a:bodyPr/>
          <a:lstStyle/>
          <a:p>
            <a:r>
              <a:rPr lang="zh-CN" altLang="en-US" b="1" dirty="0"/>
              <a:t>如何避免过度训练</a:t>
            </a:r>
          </a:p>
        </p:txBody>
      </p:sp>
    </p:spTree>
    <p:extLst>
      <p:ext uri="{BB962C8B-B14F-4D97-AF65-F5344CB8AC3E}">
        <p14:creationId xmlns:p14="http://schemas.microsoft.com/office/powerpoint/2010/main" val="938547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9F8A4-BEFB-BD15-0DB9-E9FFEF665EAE}"/>
            </a:ext>
          </a:extLst>
        </p:cNvPr>
        <p:cNvGrpSpPr/>
        <p:nvPr/>
      </p:nvGrpSpPr>
      <p:grpSpPr>
        <a:xfrm>
          <a:off x="0" y="0"/>
          <a:ext cx="0" cy="0"/>
          <a:chOff x="0" y="0"/>
          <a:chExt cx="0" cy="0"/>
        </a:xfrm>
      </p:grpSpPr>
      <p:sp>
        <p:nvSpPr>
          <p:cNvPr id="2" name="Rectangle 3">
            <a:extLst>
              <a:ext uri="{FF2B5EF4-FFF2-40B4-BE49-F238E27FC236}">
                <a16:creationId xmlns:a16="http://schemas.microsoft.com/office/drawing/2014/main" id="{BE0B188E-0670-6A1F-0E9B-C744615A18A1}"/>
              </a:ext>
            </a:extLst>
          </p:cNvPr>
          <p:cNvSpPr txBox="1">
            <a:spLocks noChangeArrowheads="1"/>
          </p:cNvSpPr>
          <p:nvPr/>
        </p:nvSpPr>
        <p:spPr>
          <a:xfrm>
            <a:off x="493143" y="1552183"/>
            <a:ext cx="8157713" cy="3564731"/>
          </a:xfrm>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solidFill>
                  <a:srgbClr val="660033"/>
                </a:solidFill>
                <a:latin typeface="微软雅黑" panose="020B0503020204020204" pitchFamily="34" charset="-122"/>
                <a:ea typeface="微软雅黑" panose="020B0503020204020204" pitchFamily="34" charset="-122"/>
              </a:rPr>
              <a:t>避免过度训练最重要一点是，</a:t>
            </a:r>
            <a:r>
              <a:rPr lang="zh-CN" altLang="en-US" sz="2400" dirty="0">
                <a:solidFill>
                  <a:schemeClr val="hlink"/>
                </a:solidFill>
                <a:latin typeface="微软雅黑" panose="020B0503020204020204" pitchFamily="34" charset="-122"/>
                <a:ea typeface="微软雅黑" panose="020B0503020204020204" pitchFamily="34" charset="-122"/>
              </a:rPr>
              <a:t>模型的参数量应远小于样本的数量</a:t>
            </a:r>
            <a:r>
              <a:rPr lang="zh-CN" altLang="en-US" sz="2400" dirty="0">
                <a:solidFill>
                  <a:srgbClr val="660033"/>
                </a:solidFill>
                <a:latin typeface="微软雅黑" panose="020B0503020204020204" pitchFamily="34" charset="-122"/>
                <a:ea typeface="微软雅黑" panose="020B0503020204020204" pitchFamily="34" charset="-122"/>
              </a:rPr>
              <a:t>。</a:t>
            </a:r>
          </a:p>
          <a:p>
            <a:r>
              <a:rPr lang="zh-CN" altLang="en-US" sz="2400" dirty="0">
                <a:solidFill>
                  <a:srgbClr val="660033"/>
                </a:solidFill>
                <a:latin typeface="微软雅黑" panose="020B0503020204020204" pitchFamily="34" charset="-122"/>
                <a:ea typeface="微软雅黑" panose="020B0503020204020204" pitchFamily="34" charset="-122"/>
              </a:rPr>
              <a:t>应建立</a:t>
            </a:r>
            <a:r>
              <a:rPr lang="zh-CN" altLang="en-US" sz="2400" dirty="0">
                <a:solidFill>
                  <a:schemeClr val="hlink"/>
                </a:solidFill>
                <a:latin typeface="微软雅黑" panose="020B0503020204020204" pitchFamily="34" charset="-122"/>
                <a:ea typeface="微软雅黑" panose="020B0503020204020204" pitchFamily="34" charset="-122"/>
              </a:rPr>
              <a:t>训练集</a:t>
            </a:r>
            <a:r>
              <a:rPr lang="zh-CN" altLang="en-US" sz="2400" dirty="0">
                <a:solidFill>
                  <a:srgbClr val="660033"/>
                </a:solidFill>
                <a:latin typeface="微软雅黑" panose="020B0503020204020204" pitchFamily="34" charset="-122"/>
                <a:ea typeface="微软雅黑" panose="020B0503020204020204" pitchFamily="34" charset="-122"/>
              </a:rPr>
              <a:t>(training set)和</a:t>
            </a:r>
            <a:r>
              <a:rPr lang="zh-CN" altLang="en-US" sz="2400" dirty="0">
                <a:solidFill>
                  <a:schemeClr val="hlink"/>
                </a:solidFill>
                <a:latin typeface="微软雅黑" panose="020B0503020204020204" pitchFamily="34" charset="-122"/>
                <a:ea typeface="微软雅黑" panose="020B0503020204020204" pitchFamily="34" charset="-122"/>
              </a:rPr>
              <a:t>测试集</a:t>
            </a:r>
            <a:r>
              <a:rPr lang="zh-CN" altLang="en-US" sz="2400" dirty="0">
                <a:solidFill>
                  <a:srgbClr val="660033"/>
                </a:solidFill>
                <a:latin typeface="微软雅黑" panose="020B0503020204020204" pitchFamily="34" charset="-122"/>
                <a:ea typeface="微软雅黑" panose="020B0503020204020204" pitchFamily="34" charset="-122"/>
              </a:rPr>
              <a:t>(test set)。</a:t>
            </a:r>
          </a:p>
          <a:p>
            <a:pPr lvl="1"/>
            <a:r>
              <a:rPr lang="zh-CN" altLang="en-US" sz="1800" dirty="0">
                <a:solidFill>
                  <a:srgbClr val="660033"/>
                </a:solidFill>
                <a:latin typeface="微软雅黑" panose="020B0503020204020204" pitchFamily="34" charset="-122"/>
                <a:ea typeface="微软雅黑" panose="020B0503020204020204" pitchFamily="34" charset="-122"/>
              </a:rPr>
              <a:t>训练集应用于建立分类模型</a:t>
            </a:r>
          </a:p>
          <a:p>
            <a:pPr lvl="1"/>
            <a:r>
              <a:rPr lang="zh-CN" altLang="en-US" sz="1800" dirty="0">
                <a:solidFill>
                  <a:srgbClr val="660033"/>
                </a:solidFill>
                <a:latin typeface="微软雅黑" panose="020B0503020204020204" pitchFamily="34" charset="-122"/>
                <a:ea typeface="微软雅黑" panose="020B0503020204020204" pitchFamily="34" charset="-122"/>
              </a:rPr>
              <a:t>测试集应用于评估分类模型</a:t>
            </a:r>
          </a:p>
          <a:p>
            <a:r>
              <a:rPr lang="zh-CN" altLang="en-US" sz="2100" dirty="0">
                <a:solidFill>
                  <a:schemeClr val="hlink"/>
                </a:solidFill>
                <a:latin typeface="微软雅黑" panose="020B0503020204020204" pitchFamily="34" charset="-122"/>
                <a:ea typeface="微软雅黑" panose="020B0503020204020204" pitchFamily="34" charset="-122"/>
              </a:rPr>
              <a:t>K折叠交叉验证</a:t>
            </a:r>
            <a:r>
              <a:rPr lang="zh-CN" altLang="en-US" sz="2100" dirty="0">
                <a:solidFill>
                  <a:srgbClr val="660033"/>
                </a:solidFill>
                <a:latin typeface="微软雅黑" panose="020B0503020204020204" pitchFamily="34" charset="-122"/>
                <a:ea typeface="微软雅黑" panose="020B0503020204020204" pitchFamily="34" charset="-122"/>
              </a:rPr>
              <a:t>(K-fold cross validation)：将初始采样分割成K个子样本(S1，S2,...,Sk)，取K-1个做训练集，另外一个做测试集。交叉验证重复K次，每个子样本都作为测试集一次，平均K次的结果，最终得到一个单一估测。</a:t>
            </a:r>
          </a:p>
          <a:p>
            <a:pPr lvl="1">
              <a:buFont typeface="Wingdings" panose="05000000000000000000" pitchFamily="2" charset="2"/>
              <a:buNone/>
            </a:pPr>
            <a:endParaRPr lang="zh-CN" altLang="en-US" sz="1050" dirty="0">
              <a:latin typeface="微软雅黑" panose="020B0503020204020204" pitchFamily="34" charset="-122"/>
              <a:ea typeface="微软雅黑" panose="020B0503020204020204" pitchFamily="34" charset="-122"/>
            </a:endParaRPr>
          </a:p>
          <a:p>
            <a:pPr lvl="1"/>
            <a:endParaRPr lang="zh-CN" altLang="en-US" sz="1050" dirty="0">
              <a:latin typeface="微软雅黑" panose="020B0503020204020204" pitchFamily="34" charset="-122"/>
              <a:ea typeface="微软雅黑" panose="020B0503020204020204" pitchFamily="34" charset="-122"/>
            </a:endParaRPr>
          </a:p>
          <a:p>
            <a:endParaRPr lang="zh-CN" altLang="en-US" sz="1050" dirty="0">
              <a:latin typeface="微软雅黑" panose="020B0503020204020204" pitchFamily="34" charset="-122"/>
              <a:ea typeface="微软雅黑" panose="020B0503020204020204" pitchFamily="34" charset="-122"/>
            </a:endParaRPr>
          </a:p>
        </p:txBody>
      </p:sp>
      <p:sp>
        <p:nvSpPr>
          <p:cNvPr id="5" name="标题 4">
            <a:extLst>
              <a:ext uri="{FF2B5EF4-FFF2-40B4-BE49-F238E27FC236}">
                <a16:creationId xmlns:a16="http://schemas.microsoft.com/office/drawing/2014/main" id="{64B904E7-718C-489A-9D00-2616BEFF85C9}"/>
              </a:ext>
            </a:extLst>
          </p:cNvPr>
          <p:cNvSpPr>
            <a:spLocks noGrp="1"/>
          </p:cNvSpPr>
          <p:nvPr>
            <p:ph type="title"/>
          </p:nvPr>
        </p:nvSpPr>
        <p:spPr/>
        <p:txBody>
          <a:bodyPr/>
          <a:lstStyle/>
          <a:p>
            <a:r>
              <a:rPr lang="zh-CN" altLang="en-US" sz="3600" b="1" dirty="0">
                <a:latin typeface="华光综艺_CNKI" panose="02000500000000000000" pitchFamily="2" charset="-122"/>
                <a:ea typeface="华光综艺_CNKI" panose="02000500000000000000" pitchFamily="2" charset="-122"/>
              </a:rPr>
              <a:t>如何避免过度训练 </a:t>
            </a:r>
            <a:endParaRPr lang="zh-CN" altLang="en-US" b="1" dirty="0"/>
          </a:p>
        </p:txBody>
      </p:sp>
    </p:spTree>
    <p:extLst>
      <p:ext uri="{BB962C8B-B14F-4D97-AF65-F5344CB8AC3E}">
        <p14:creationId xmlns:p14="http://schemas.microsoft.com/office/powerpoint/2010/main" val="15005899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3">
            <a:extLst>
              <a:ext uri="{FF2B5EF4-FFF2-40B4-BE49-F238E27FC236}">
                <a16:creationId xmlns:a16="http://schemas.microsoft.com/office/drawing/2014/main" id="{5AE4498C-D467-4B6C-84A1-646F622D9ECC}"/>
              </a:ext>
            </a:extLst>
          </p:cNvPr>
          <p:cNvSpPr txBox="1">
            <a:spLocks/>
          </p:cNvSpPr>
          <p:nvPr/>
        </p:nvSpPr>
        <p:spPr>
          <a:xfrm>
            <a:off x="0" y="0"/>
            <a:ext cx="9144000" cy="817721"/>
          </a:xfrm>
          <a:prstGeom prst="rect">
            <a:avLst/>
          </a:prstGeom>
        </p:spPr>
        <p:txBody>
          <a:bodyPr vert="horz" lIns="91440" tIns="144000" rIns="91440" bIns="45720" rtlCol="0" anchor="ctr">
            <a:noAutofit/>
          </a:bodyPr>
          <a:lst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a:lstStyle>
          <a:p>
            <a:endParaRPr lang="zh-CN" altLang="en-US"/>
          </a:p>
        </p:txBody>
      </p:sp>
      <p:sp>
        <p:nvSpPr>
          <p:cNvPr id="13" name="标题 1">
            <a:extLst>
              <a:ext uri="{FF2B5EF4-FFF2-40B4-BE49-F238E27FC236}">
                <a16:creationId xmlns:a16="http://schemas.microsoft.com/office/drawing/2014/main" id="{60FE5641-D8E9-436E-88E3-D0E72DA7FAED}"/>
              </a:ext>
            </a:extLst>
          </p:cNvPr>
          <p:cNvSpPr>
            <a:spLocks noGrp="1"/>
          </p:cNvSpPr>
          <p:nvPr>
            <p:ph type="title"/>
          </p:nvPr>
        </p:nvSpPr>
        <p:spPr>
          <a:xfrm>
            <a:off x="0" y="4763"/>
            <a:ext cx="9144000" cy="817562"/>
          </a:xfrm>
        </p:spPr>
        <p:txBody>
          <a:bodyPr/>
          <a:lstStyle/>
          <a:p>
            <a:pPr marL="0" defTabSz="914400" fontAlgn="base">
              <a:spcAft>
                <a:spcPct val="0"/>
              </a:spcAft>
              <a:defRPr/>
            </a:pPr>
            <a:r>
              <a:rPr lang="zh-CN" altLang="en-US" b="1" dirty="0">
                <a:latin typeface="Times New Roman" panose="02020603050405020304" pitchFamily="18" charset="0"/>
                <a:cs typeface="Times New Roman" panose="02020603050405020304" pitchFamily="18" charset="0"/>
              </a:rPr>
              <a:t>决策树</a:t>
            </a:r>
            <a:endParaRPr lang="zh-CN" altLang="en-US" b="1" kern="0" dirty="0">
              <a:solidFill>
                <a:srgbClr val="0070C0"/>
              </a:solidFill>
              <a:latin typeface="Times New Roman" pitchFamily="18" charset="0"/>
              <a:cs typeface="Times New Roman" pitchFamily="18" charset="0"/>
            </a:endParaRPr>
          </a:p>
        </p:txBody>
      </p:sp>
      <p:sp>
        <p:nvSpPr>
          <p:cNvPr id="6" name="文本框 5">
            <a:extLst>
              <a:ext uri="{FF2B5EF4-FFF2-40B4-BE49-F238E27FC236}">
                <a16:creationId xmlns:a16="http://schemas.microsoft.com/office/drawing/2014/main" id="{45BDF73F-6434-4A77-B4BA-D7B922BDB698}"/>
              </a:ext>
            </a:extLst>
          </p:cNvPr>
          <p:cNvSpPr txBox="1"/>
          <p:nvPr/>
        </p:nvSpPr>
        <p:spPr>
          <a:xfrm>
            <a:off x="679671" y="996027"/>
            <a:ext cx="7476186" cy="2169825"/>
          </a:xfrm>
          <a:prstGeom prst="rect">
            <a:avLst/>
          </a:prstGeom>
          <a:noFill/>
        </p:spPr>
        <p:txBody>
          <a:bodyPr wrap="square">
            <a:spAutoFit/>
          </a:bodyPr>
          <a:lstStyle/>
          <a:p>
            <a:pPr>
              <a:lnSpc>
                <a:spcPct val="150000"/>
              </a:lnSpc>
            </a:pPr>
            <a:r>
              <a:rPr lang="zh-CN" altLang="en-US" dirty="0">
                <a:latin typeface="Times New Roman" panose="02020603050405020304" pitchFamily="18" charset="0"/>
                <a:ea typeface="楷体" panose="02010609060101010101" pitchFamily="49" charset="-122"/>
                <a:cs typeface="Times New Roman" panose="02020603050405020304" pitchFamily="18" charset="0"/>
              </a:rPr>
              <a:t>决策树是一种通过树形结构来进行分类的方法。在决策树中，树形结构中每个非叶子节点表示对分类目标在某个属性上的一个判断，每个分支代表基于该属性做出的一个判断，最后树形结构中每个叶子节点代表一种分类结果，所以决策树可以看作是一系列以叶子节点为输出的决策规则（Decision Rules）[Quinlan 1987]。</a:t>
            </a:r>
          </a:p>
        </p:txBody>
      </p:sp>
      <p:sp>
        <p:nvSpPr>
          <p:cNvPr id="2" name="灯片编号占位符 1">
            <a:extLst>
              <a:ext uri="{FF2B5EF4-FFF2-40B4-BE49-F238E27FC236}">
                <a16:creationId xmlns:a16="http://schemas.microsoft.com/office/drawing/2014/main" id="{A5195240-0397-4650-B0C9-932FA4BD44A1}"/>
              </a:ext>
            </a:extLst>
          </p:cNvPr>
          <p:cNvSpPr>
            <a:spLocks noGrp="1"/>
          </p:cNvSpPr>
          <p:nvPr>
            <p:ph type="sldNum" sz="quarter" idx="12"/>
          </p:nvPr>
        </p:nvSpPr>
        <p:spPr/>
        <p:txBody>
          <a:bodyPr/>
          <a:lstStyle/>
          <a:p>
            <a:fld id="{5AD84F5B-1672-4D3F-9FEC-5DF89A7B7912}" type="slidenum">
              <a:rPr lang="zh-CN" altLang="en-US" smtClean="0"/>
              <a:t>17</a:t>
            </a:fld>
            <a:endParaRPr lang="zh-CN" altLang="en-US"/>
          </a:p>
        </p:txBody>
      </p:sp>
      <p:pic>
        <p:nvPicPr>
          <p:cNvPr id="8" name="Picture 4" descr="https://images2015.cnblogs.com/blog/1110462/201707/1110462-20170714105516431-786532172.png">
            <a:extLst>
              <a:ext uri="{FF2B5EF4-FFF2-40B4-BE49-F238E27FC236}">
                <a16:creationId xmlns:a16="http://schemas.microsoft.com/office/drawing/2014/main" id="{1A615223-579C-418C-9A7D-C24F7FB4E8F5}"/>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1887" t="1291" r="3781" b="733"/>
          <a:stretch/>
        </p:blipFill>
        <p:spPr bwMode="auto">
          <a:xfrm>
            <a:off x="2273116" y="3339554"/>
            <a:ext cx="3579044" cy="3181701"/>
          </a:xfrm>
          <a:prstGeom prst="rect">
            <a:avLst/>
          </a:prstGeom>
          <a:noFill/>
          <a:extLst>
            <a:ext uri="{909E8E84-426E-40DD-AFC4-6F175D3DCCD1}">
              <a14:hiddenFill xmlns:a14="http://schemas.microsoft.com/office/drawing/2010/main">
                <a:solidFill>
                  <a:srgbClr val="FFFFFF"/>
                </a:solidFill>
              </a14:hiddenFill>
            </a:ext>
          </a:extLst>
        </p:spPr>
      </p:pic>
      <p:sp>
        <p:nvSpPr>
          <p:cNvPr id="3" name="页脚占位符 2">
            <a:extLst>
              <a:ext uri="{FF2B5EF4-FFF2-40B4-BE49-F238E27FC236}">
                <a16:creationId xmlns:a16="http://schemas.microsoft.com/office/drawing/2014/main" id="{DDD07BB8-3FC7-4960-88A1-311727BEB8E1}"/>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1967869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1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en-US" dirty="0"/>
              <a:t>建立决策树分类模型</a:t>
            </a:r>
          </a:p>
        </p:txBody>
      </p:sp>
      <p:sp>
        <p:nvSpPr>
          <p:cNvPr id="8" name="内容占位符 7"/>
          <p:cNvSpPr>
            <a:spLocks noGrp="1"/>
          </p:cNvSpPr>
          <p:nvPr>
            <p:ph idx="1"/>
          </p:nvPr>
        </p:nvSpPr>
        <p:spPr/>
        <p:txBody>
          <a:bodyPr/>
          <a:lstStyle/>
          <a:p>
            <a:r>
              <a:rPr lang="zh-CN" altLang="en-US" dirty="0"/>
              <a:t>准备数据</a:t>
            </a:r>
          </a:p>
        </p:txBody>
      </p:sp>
      <p:graphicFrame>
        <p:nvGraphicFramePr>
          <p:cNvPr id="6" name="表格 5"/>
          <p:cNvGraphicFramePr>
            <a:graphicFrameLocks noGrp="1"/>
          </p:cNvGraphicFramePr>
          <p:nvPr/>
        </p:nvGraphicFramePr>
        <p:xfrm>
          <a:off x="4631610" y="2221792"/>
          <a:ext cx="4497387" cy="2225040"/>
        </p:xfrm>
        <a:graphic>
          <a:graphicData uri="http://schemas.openxmlformats.org/drawingml/2006/table">
            <a:tbl>
              <a:tblPr firstRow="1" firstCol="1" bandRow="1" bandCol="1">
                <a:tableStyleId>{5C22544A-7EE6-4342-B048-85BDC9FD1C3A}</a:tableStyleId>
              </a:tblPr>
              <a:tblGrid>
                <a:gridCol w="554672">
                  <a:extLst>
                    <a:ext uri="{9D8B030D-6E8A-4147-A177-3AD203B41FA5}">
                      <a16:colId xmlns:a16="http://schemas.microsoft.com/office/drawing/2014/main" val="20000"/>
                    </a:ext>
                  </a:extLst>
                </a:gridCol>
                <a:gridCol w="843598">
                  <a:extLst>
                    <a:ext uri="{9D8B030D-6E8A-4147-A177-3AD203B41FA5}">
                      <a16:colId xmlns:a16="http://schemas.microsoft.com/office/drawing/2014/main" val="20001"/>
                    </a:ext>
                  </a:extLst>
                </a:gridCol>
                <a:gridCol w="1469072">
                  <a:extLst>
                    <a:ext uri="{9D8B030D-6E8A-4147-A177-3AD203B41FA5}">
                      <a16:colId xmlns:a16="http://schemas.microsoft.com/office/drawing/2014/main" val="20002"/>
                    </a:ext>
                  </a:extLst>
                </a:gridCol>
                <a:gridCol w="876935">
                  <a:extLst>
                    <a:ext uri="{9D8B030D-6E8A-4147-A177-3AD203B41FA5}">
                      <a16:colId xmlns:a16="http://schemas.microsoft.com/office/drawing/2014/main" val="20003"/>
                    </a:ext>
                  </a:extLst>
                </a:gridCol>
                <a:gridCol w="753110">
                  <a:extLst>
                    <a:ext uri="{9D8B030D-6E8A-4147-A177-3AD203B41FA5}">
                      <a16:colId xmlns:a16="http://schemas.microsoft.com/office/drawing/2014/main" val="20004"/>
                    </a:ext>
                  </a:extLst>
                </a:gridCol>
              </a:tblGrid>
              <a:tr h="304800">
                <a:tc gridSpan="5">
                  <a:txBody>
                    <a:bodyPr/>
                    <a:lstStyle/>
                    <a:p>
                      <a:pPr marL="0" algn="ctr" rtl="0" eaLnBrk="1" latinLnBrk="0" hangingPunct="1">
                        <a:spcBef>
                          <a:spcPts val="300"/>
                        </a:spcBef>
                        <a:spcAft>
                          <a:spcPts val="300"/>
                        </a:spcAft>
                      </a:pPr>
                      <a:r>
                        <a:rPr kumimoji="0" lang="en-US" sz="1400" b="1" kern="100" dirty="0">
                          <a:solidFill>
                            <a:srgbClr val="FF0000"/>
                          </a:solidFill>
                          <a:effectLst/>
                          <a:latin typeface="华文细黑" pitchFamily="2" charset="-122"/>
                          <a:ea typeface="华文细黑" pitchFamily="2" charset="-122"/>
                          <a:cs typeface="+mn-cs"/>
                        </a:rPr>
                        <a:t>(b) </a:t>
                      </a:r>
                      <a:r>
                        <a:rPr kumimoji="0" lang="zh-CN" altLang="en-US" sz="1400" b="1" kern="100" dirty="0">
                          <a:solidFill>
                            <a:srgbClr val="FF0000"/>
                          </a:solidFill>
                          <a:effectLst/>
                          <a:latin typeface="华文细黑" pitchFamily="2" charset="-122"/>
                          <a:ea typeface="华文细黑" pitchFamily="2" charset="-122"/>
                          <a:cs typeface="+mn-cs"/>
                        </a:rPr>
                        <a:t>测试数据集</a:t>
                      </a:r>
                      <a:endParaRPr kumimoji="0" lang="zh-CN" sz="1400" b="1" kern="100" dirty="0">
                        <a:solidFill>
                          <a:srgbClr val="FF0000"/>
                        </a:solidFill>
                        <a:effectLst/>
                        <a:latin typeface="华文细黑" pitchFamily="2" charset="-122"/>
                        <a:ea typeface="华文细黑" pitchFamily="2" charset="-122"/>
                        <a:cs typeface="+mn-cs"/>
                      </a:endParaRPr>
                    </a:p>
                  </a:txBody>
                  <a:tcPr marL="68580" marR="68580" marT="0" marB="0">
                    <a:solidFill>
                      <a:schemeClr val="accent1">
                        <a:lumMod val="40000"/>
                        <a:lumOff val="60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74320">
                <a:tc>
                  <a:txBody>
                    <a:bodyPr/>
                    <a:lstStyle/>
                    <a:p>
                      <a:pPr indent="-34290" algn="ctr">
                        <a:spcAft>
                          <a:spcPts val="0"/>
                        </a:spcAft>
                      </a:pPr>
                      <a:r>
                        <a:rPr lang="en-US" sz="1400" b="1" kern="100" dirty="0" err="1">
                          <a:effectLst/>
                        </a:rPr>
                        <a:t>Tid</a:t>
                      </a:r>
                      <a:endParaRPr lang="zh-CN" sz="1400" b="1" kern="100" dirty="0">
                        <a:effectLst/>
                        <a:latin typeface="Times New Roman"/>
                        <a:ea typeface="华文细黑" pitchFamily="2" charset="-122"/>
                        <a:cs typeface="Times New Roman"/>
                      </a:endParaRPr>
                    </a:p>
                  </a:txBody>
                  <a:tcPr marL="68580" marR="68580" marT="0" marB="0"/>
                </a:tc>
                <a:tc>
                  <a:txBody>
                    <a:bodyPr/>
                    <a:lstStyle/>
                    <a:p>
                      <a:pPr indent="-34290" algn="ctr">
                        <a:spcAft>
                          <a:spcPts val="0"/>
                        </a:spcAft>
                      </a:pPr>
                      <a:r>
                        <a:rPr lang="en-US" sz="1400" b="1" kern="100" dirty="0">
                          <a:effectLst/>
                        </a:rPr>
                        <a:t>Refund</a:t>
                      </a:r>
                      <a:endParaRPr lang="zh-CN" sz="1400" b="1"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b="1" kern="100" dirty="0" err="1">
                          <a:effectLst/>
                        </a:rPr>
                        <a:t>MaritalStatus</a:t>
                      </a:r>
                      <a:endParaRPr lang="zh-CN" sz="1400" b="1"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b="1" kern="100" dirty="0">
                          <a:effectLst/>
                        </a:rPr>
                        <a:t>Income</a:t>
                      </a:r>
                      <a:endParaRPr lang="zh-CN" sz="1400" b="1"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b="1" kern="100" dirty="0">
                          <a:effectLst/>
                        </a:rPr>
                        <a:t>Cheat</a:t>
                      </a:r>
                      <a:endParaRPr lang="zh-CN" sz="1400" b="1"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1"/>
                  </a:ext>
                </a:extLst>
              </a:tr>
              <a:tr h="274320">
                <a:tc>
                  <a:txBody>
                    <a:bodyPr/>
                    <a:lstStyle/>
                    <a:p>
                      <a:pPr algn="ctr">
                        <a:spcAft>
                          <a:spcPts val="0"/>
                        </a:spcAft>
                      </a:pPr>
                      <a:r>
                        <a:rPr lang="en-US" sz="1400" kern="100" dirty="0">
                          <a:effectLst/>
                        </a:rPr>
                        <a:t>11</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95K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2"/>
                  </a:ext>
                </a:extLst>
              </a:tr>
              <a:tr h="274320">
                <a:tc>
                  <a:txBody>
                    <a:bodyPr/>
                    <a:lstStyle/>
                    <a:p>
                      <a:pPr algn="ctr">
                        <a:spcAft>
                          <a:spcPts val="0"/>
                        </a:spcAft>
                      </a:pPr>
                      <a:r>
                        <a:rPr lang="en-US" sz="1400" kern="100" dirty="0">
                          <a:effectLst/>
                        </a:rPr>
                        <a:t>12</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100K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3"/>
                  </a:ext>
                </a:extLst>
              </a:tr>
              <a:tr h="274320">
                <a:tc>
                  <a:txBody>
                    <a:bodyPr/>
                    <a:lstStyle/>
                    <a:p>
                      <a:pPr algn="ctr">
                        <a:spcAft>
                          <a:spcPts val="0"/>
                        </a:spcAft>
                      </a:pPr>
                      <a:r>
                        <a:rPr lang="en-US" sz="1400" kern="100" dirty="0">
                          <a:effectLst/>
                        </a:rPr>
                        <a:t>13</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95K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4"/>
                  </a:ext>
                </a:extLst>
              </a:tr>
              <a:tr h="274320">
                <a:tc>
                  <a:txBody>
                    <a:bodyPr/>
                    <a:lstStyle/>
                    <a:p>
                      <a:pPr algn="ctr">
                        <a:spcAft>
                          <a:spcPts val="0"/>
                        </a:spcAft>
                      </a:pPr>
                      <a:r>
                        <a:rPr lang="en-US" sz="1400" kern="100" dirty="0">
                          <a:effectLst/>
                        </a:rPr>
                        <a:t>14</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70K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5"/>
                  </a:ext>
                </a:extLst>
              </a:tr>
              <a:tr h="274320">
                <a:tc>
                  <a:txBody>
                    <a:bodyPr/>
                    <a:lstStyle/>
                    <a:p>
                      <a:pPr algn="ctr">
                        <a:spcAft>
                          <a:spcPts val="0"/>
                        </a:spcAft>
                      </a:pPr>
                      <a:r>
                        <a:rPr lang="en-US" sz="1400" kern="100" dirty="0">
                          <a:effectLst/>
                        </a:rPr>
                        <a:t>15</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Divorced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6"/>
                  </a:ext>
                </a:extLst>
              </a:tr>
              <a:tr h="274320">
                <a:tc>
                  <a:txBody>
                    <a:bodyPr/>
                    <a:lstStyle/>
                    <a:p>
                      <a:pPr algn="ctr">
                        <a:spcAft>
                          <a:spcPts val="0"/>
                        </a:spcAft>
                      </a:pPr>
                      <a:r>
                        <a:rPr lang="en-US" sz="1400" kern="100" dirty="0">
                          <a:effectLst/>
                        </a:rPr>
                        <a:t>16</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60K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7"/>
                  </a:ext>
                </a:extLst>
              </a:tr>
            </a:tbl>
          </a:graphicData>
        </a:graphic>
      </p:graphicFrame>
      <p:graphicFrame>
        <p:nvGraphicFramePr>
          <p:cNvPr id="7" name="表格 6"/>
          <p:cNvGraphicFramePr>
            <a:graphicFrameLocks noGrp="1"/>
          </p:cNvGraphicFramePr>
          <p:nvPr/>
        </p:nvGraphicFramePr>
        <p:xfrm>
          <a:off x="4611115" y="4530723"/>
          <a:ext cx="4497387" cy="1402080"/>
        </p:xfrm>
        <a:graphic>
          <a:graphicData uri="http://schemas.openxmlformats.org/drawingml/2006/table">
            <a:tbl>
              <a:tblPr firstRow="1" firstCol="1" bandRow="1" bandCol="1">
                <a:tableStyleId>{5C22544A-7EE6-4342-B048-85BDC9FD1C3A}</a:tableStyleId>
              </a:tblPr>
              <a:tblGrid>
                <a:gridCol w="554672">
                  <a:extLst>
                    <a:ext uri="{9D8B030D-6E8A-4147-A177-3AD203B41FA5}">
                      <a16:colId xmlns:a16="http://schemas.microsoft.com/office/drawing/2014/main" val="20000"/>
                    </a:ext>
                  </a:extLst>
                </a:gridCol>
                <a:gridCol w="843598">
                  <a:extLst>
                    <a:ext uri="{9D8B030D-6E8A-4147-A177-3AD203B41FA5}">
                      <a16:colId xmlns:a16="http://schemas.microsoft.com/office/drawing/2014/main" val="20001"/>
                    </a:ext>
                  </a:extLst>
                </a:gridCol>
                <a:gridCol w="1469072">
                  <a:extLst>
                    <a:ext uri="{9D8B030D-6E8A-4147-A177-3AD203B41FA5}">
                      <a16:colId xmlns:a16="http://schemas.microsoft.com/office/drawing/2014/main" val="20002"/>
                    </a:ext>
                  </a:extLst>
                </a:gridCol>
                <a:gridCol w="876935">
                  <a:extLst>
                    <a:ext uri="{9D8B030D-6E8A-4147-A177-3AD203B41FA5}">
                      <a16:colId xmlns:a16="http://schemas.microsoft.com/office/drawing/2014/main" val="20003"/>
                    </a:ext>
                  </a:extLst>
                </a:gridCol>
                <a:gridCol w="753110">
                  <a:extLst>
                    <a:ext uri="{9D8B030D-6E8A-4147-A177-3AD203B41FA5}">
                      <a16:colId xmlns:a16="http://schemas.microsoft.com/office/drawing/2014/main" val="20004"/>
                    </a:ext>
                  </a:extLst>
                </a:gridCol>
              </a:tblGrid>
              <a:tr h="304800">
                <a:tc gridSpan="5">
                  <a:txBody>
                    <a:bodyPr/>
                    <a:lstStyle/>
                    <a:p>
                      <a:pPr algn="ctr">
                        <a:spcBef>
                          <a:spcPts val="300"/>
                        </a:spcBef>
                        <a:spcAft>
                          <a:spcPts val="300"/>
                        </a:spcAft>
                      </a:pPr>
                      <a:r>
                        <a:rPr lang="en-US" sz="1400" kern="100" dirty="0">
                          <a:solidFill>
                            <a:srgbClr val="FF0000"/>
                          </a:solidFill>
                          <a:effectLst/>
                          <a:latin typeface="华文细黑" pitchFamily="2" charset="-122"/>
                          <a:ea typeface="华文细黑" pitchFamily="2" charset="-122"/>
                        </a:rPr>
                        <a:t>(c) </a:t>
                      </a:r>
                      <a:r>
                        <a:rPr lang="zh-CN" sz="1400" kern="100" dirty="0">
                          <a:solidFill>
                            <a:srgbClr val="FF0000"/>
                          </a:solidFill>
                          <a:effectLst/>
                          <a:latin typeface="华文细黑" pitchFamily="2" charset="-122"/>
                          <a:ea typeface="华文细黑" pitchFamily="2" charset="-122"/>
                        </a:rPr>
                        <a:t>未分类数据</a:t>
                      </a:r>
                    </a:p>
                  </a:txBody>
                  <a:tcPr marL="68580" marR="68580" marT="0" marB="0">
                    <a:solidFill>
                      <a:schemeClr val="accent1">
                        <a:lumMod val="40000"/>
                        <a:lumOff val="60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74320">
                <a:tc>
                  <a:txBody>
                    <a:bodyPr/>
                    <a:lstStyle/>
                    <a:p>
                      <a:pPr indent="-34290" algn="ctr">
                        <a:spcAft>
                          <a:spcPts val="0"/>
                        </a:spcAft>
                      </a:pPr>
                      <a:r>
                        <a:rPr lang="en-US" sz="1400" b="1" kern="100" dirty="0" err="1">
                          <a:effectLst/>
                        </a:rPr>
                        <a:t>Tid</a:t>
                      </a:r>
                      <a:endParaRPr lang="zh-CN" sz="1400" b="1" kern="100" dirty="0">
                        <a:effectLst/>
                        <a:latin typeface="Times New Roman"/>
                        <a:ea typeface="华文细黑" pitchFamily="2" charset="-122"/>
                        <a:cs typeface="Times New Roman"/>
                      </a:endParaRPr>
                    </a:p>
                  </a:txBody>
                  <a:tcPr marL="68580" marR="68580" marT="0" marB="0"/>
                </a:tc>
                <a:tc>
                  <a:txBody>
                    <a:bodyPr/>
                    <a:lstStyle/>
                    <a:p>
                      <a:pPr indent="-34290" algn="ctr">
                        <a:spcAft>
                          <a:spcPts val="0"/>
                        </a:spcAft>
                      </a:pPr>
                      <a:r>
                        <a:rPr lang="en-US" sz="1400" b="1" kern="100" dirty="0">
                          <a:effectLst/>
                        </a:rPr>
                        <a:t>Refund</a:t>
                      </a:r>
                      <a:endParaRPr lang="zh-CN" sz="1400" b="1"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b="1" kern="100" dirty="0" err="1">
                          <a:effectLst/>
                        </a:rPr>
                        <a:t>MaritalStatus</a:t>
                      </a:r>
                      <a:endParaRPr lang="zh-CN" sz="1400" b="1"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b="1" kern="100" dirty="0">
                          <a:effectLst/>
                        </a:rPr>
                        <a:t>Income</a:t>
                      </a:r>
                      <a:endParaRPr lang="zh-CN" sz="1400" b="1"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b="1" kern="100" dirty="0">
                          <a:effectLst/>
                        </a:rPr>
                        <a:t>Cheat</a:t>
                      </a:r>
                      <a:endParaRPr lang="zh-CN" sz="1400" b="1"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1"/>
                  </a:ext>
                </a:extLst>
              </a:tr>
              <a:tr h="274320">
                <a:tc>
                  <a:txBody>
                    <a:bodyPr/>
                    <a:lstStyle/>
                    <a:p>
                      <a:pPr algn="ctr">
                        <a:spcAft>
                          <a:spcPts val="0"/>
                        </a:spcAft>
                      </a:pPr>
                      <a:r>
                        <a:rPr lang="en-US" sz="1400" kern="100" dirty="0">
                          <a:effectLst/>
                        </a:rPr>
                        <a:t>1</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125K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2"/>
                  </a:ext>
                </a:extLst>
              </a:tr>
              <a:tr h="274320">
                <a:tc>
                  <a:txBody>
                    <a:bodyPr/>
                    <a:lstStyle/>
                    <a:p>
                      <a:pPr algn="ctr">
                        <a:spcAft>
                          <a:spcPts val="0"/>
                        </a:spcAft>
                      </a:pPr>
                      <a:r>
                        <a:rPr lang="en-US" sz="1400" kern="100" dirty="0">
                          <a:effectLst/>
                        </a:rPr>
                        <a:t>2</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100K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3"/>
                  </a:ext>
                </a:extLst>
              </a:tr>
              <a:tr h="274320">
                <a:tc>
                  <a:txBody>
                    <a:bodyPr/>
                    <a:lstStyle/>
                    <a:p>
                      <a:pPr algn="ctr">
                        <a:spcAft>
                          <a:spcPts val="0"/>
                        </a:spcAft>
                      </a:pPr>
                      <a:r>
                        <a:rPr lang="en-US" sz="1400" kern="100" dirty="0">
                          <a:effectLst/>
                        </a:rPr>
                        <a:t>3</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70K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4"/>
                  </a:ext>
                </a:extLst>
              </a:tr>
            </a:tbl>
          </a:graphicData>
        </a:graphic>
      </p:graphicFrame>
      <p:graphicFrame>
        <p:nvGraphicFramePr>
          <p:cNvPr id="9" name="内容占位符 4"/>
          <p:cNvGraphicFramePr>
            <a:graphicFrameLocks/>
          </p:cNvGraphicFramePr>
          <p:nvPr/>
        </p:nvGraphicFramePr>
        <p:xfrm>
          <a:off x="35498" y="2328211"/>
          <a:ext cx="4497387" cy="3322320"/>
        </p:xfrm>
        <a:graphic>
          <a:graphicData uri="http://schemas.openxmlformats.org/drawingml/2006/table">
            <a:tbl>
              <a:tblPr firstRow="1" firstCol="1" bandRow="1" bandCol="1">
                <a:tableStyleId>{5C22544A-7EE6-4342-B048-85BDC9FD1C3A}</a:tableStyleId>
              </a:tblPr>
              <a:tblGrid>
                <a:gridCol w="554672">
                  <a:extLst>
                    <a:ext uri="{9D8B030D-6E8A-4147-A177-3AD203B41FA5}">
                      <a16:colId xmlns:a16="http://schemas.microsoft.com/office/drawing/2014/main" val="20000"/>
                    </a:ext>
                  </a:extLst>
                </a:gridCol>
                <a:gridCol w="843598">
                  <a:extLst>
                    <a:ext uri="{9D8B030D-6E8A-4147-A177-3AD203B41FA5}">
                      <a16:colId xmlns:a16="http://schemas.microsoft.com/office/drawing/2014/main" val="20001"/>
                    </a:ext>
                  </a:extLst>
                </a:gridCol>
                <a:gridCol w="1469072">
                  <a:extLst>
                    <a:ext uri="{9D8B030D-6E8A-4147-A177-3AD203B41FA5}">
                      <a16:colId xmlns:a16="http://schemas.microsoft.com/office/drawing/2014/main" val="20002"/>
                    </a:ext>
                  </a:extLst>
                </a:gridCol>
                <a:gridCol w="876935">
                  <a:extLst>
                    <a:ext uri="{9D8B030D-6E8A-4147-A177-3AD203B41FA5}">
                      <a16:colId xmlns:a16="http://schemas.microsoft.com/office/drawing/2014/main" val="20003"/>
                    </a:ext>
                  </a:extLst>
                </a:gridCol>
                <a:gridCol w="753110">
                  <a:extLst>
                    <a:ext uri="{9D8B030D-6E8A-4147-A177-3AD203B41FA5}">
                      <a16:colId xmlns:a16="http://schemas.microsoft.com/office/drawing/2014/main" val="20004"/>
                    </a:ext>
                  </a:extLst>
                </a:gridCol>
              </a:tblGrid>
              <a:tr h="304800">
                <a:tc gridSpan="5">
                  <a:txBody>
                    <a:bodyPr/>
                    <a:lstStyle/>
                    <a:p>
                      <a:pPr algn="ctr">
                        <a:spcBef>
                          <a:spcPts val="300"/>
                        </a:spcBef>
                        <a:spcAft>
                          <a:spcPts val="300"/>
                        </a:spcAft>
                      </a:pPr>
                      <a:r>
                        <a:rPr lang="en-US" sz="1400" kern="100" dirty="0">
                          <a:solidFill>
                            <a:srgbClr val="FF0000"/>
                          </a:solidFill>
                          <a:effectLst/>
                          <a:latin typeface="华文细黑" pitchFamily="2" charset="-122"/>
                          <a:ea typeface="华文细黑" pitchFamily="2" charset="-122"/>
                        </a:rPr>
                        <a:t>(a) </a:t>
                      </a:r>
                      <a:r>
                        <a:rPr lang="zh-CN" altLang="en-US" sz="1400" kern="100" dirty="0">
                          <a:solidFill>
                            <a:srgbClr val="FF0000"/>
                          </a:solidFill>
                          <a:effectLst/>
                          <a:latin typeface="华文细黑" pitchFamily="2" charset="-122"/>
                          <a:ea typeface="华文细黑" pitchFamily="2" charset="-122"/>
                        </a:rPr>
                        <a:t>训练数据集</a:t>
                      </a:r>
                      <a:endParaRPr lang="zh-CN" sz="1400" kern="100" dirty="0">
                        <a:solidFill>
                          <a:srgbClr val="FF0000"/>
                        </a:solidFill>
                        <a:effectLst/>
                        <a:latin typeface="华文细黑" pitchFamily="2" charset="-122"/>
                        <a:ea typeface="华文细黑" pitchFamily="2" charset="-122"/>
                      </a:endParaRPr>
                    </a:p>
                  </a:txBody>
                  <a:tcPr marL="68580" marR="68580" marT="0" marB="0">
                    <a:solidFill>
                      <a:schemeClr val="accent1">
                        <a:lumMod val="40000"/>
                        <a:lumOff val="60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74320">
                <a:tc>
                  <a:txBody>
                    <a:bodyPr/>
                    <a:lstStyle/>
                    <a:p>
                      <a:pPr indent="-34290" algn="ctr">
                        <a:spcAft>
                          <a:spcPts val="0"/>
                        </a:spcAft>
                      </a:pPr>
                      <a:r>
                        <a:rPr lang="en-US" sz="1400" b="1" kern="100" dirty="0" err="1">
                          <a:effectLst/>
                        </a:rPr>
                        <a:t>Tid</a:t>
                      </a:r>
                      <a:endParaRPr lang="zh-CN" sz="1400" b="1" kern="100" dirty="0">
                        <a:effectLst/>
                        <a:latin typeface="Times New Roman"/>
                        <a:ea typeface="华文细黑" pitchFamily="2" charset="-122"/>
                        <a:cs typeface="Times New Roman"/>
                      </a:endParaRPr>
                    </a:p>
                  </a:txBody>
                  <a:tcPr marL="68580" marR="68580" marT="0" marB="0"/>
                </a:tc>
                <a:tc>
                  <a:txBody>
                    <a:bodyPr/>
                    <a:lstStyle/>
                    <a:p>
                      <a:pPr indent="-34290" algn="ctr">
                        <a:spcAft>
                          <a:spcPts val="0"/>
                        </a:spcAft>
                      </a:pPr>
                      <a:r>
                        <a:rPr lang="en-US" sz="1400" b="1" kern="100" dirty="0">
                          <a:effectLst/>
                        </a:rPr>
                        <a:t>Refund</a:t>
                      </a:r>
                      <a:endParaRPr lang="zh-CN" sz="1400" b="1"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b="1" kern="100" dirty="0" err="1">
                          <a:effectLst/>
                        </a:rPr>
                        <a:t>MaritalStatus</a:t>
                      </a:r>
                      <a:endParaRPr lang="zh-CN" sz="1400" b="1"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b="1" kern="100" dirty="0">
                          <a:effectLst/>
                        </a:rPr>
                        <a:t>Income</a:t>
                      </a:r>
                      <a:endParaRPr lang="zh-CN" sz="1400" b="1"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b="1" kern="100" dirty="0">
                          <a:effectLst/>
                        </a:rPr>
                        <a:t>Cheat</a:t>
                      </a:r>
                      <a:endParaRPr lang="zh-CN" sz="1400" b="1"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1"/>
                  </a:ext>
                </a:extLst>
              </a:tr>
              <a:tr h="274320">
                <a:tc>
                  <a:txBody>
                    <a:bodyPr/>
                    <a:lstStyle/>
                    <a:p>
                      <a:pPr algn="ctr">
                        <a:spcAft>
                          <a:spcPts val="0"/>
                        </a:spcAft>
                      </a:pPr>
                      <a:r>
                        <a:rPr lang="en-US" sz="1400" kern="100" dirty="0">
                          <a:effectLst/>
                        </a:rPr>
                        <a:t>1</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125K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2"/>
                  </a:ext>
                </a:extLst>
              </a:tr>
              <a:tr h="274320">
                <a:tc>
                  <a:txBody>
                    <a:bodyPr/>
                    <a:lstStyle/>
                    <a:p>
                      <a:pPr algn="ctr">
                        <a:spcAft>
                          <a:spcPts val="0"/>
                        </a:spcAft>
                      </a:pPr>
                      <a:r>
                        <a:rPr lang="en-US" sz="1400" kern="100" dirty="0">
                          <a:effectLst/>
                        </a:rPr>
                        <a:t>2</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100K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3"/>
                  </a:ext>
                </a:extLst>
              </a:tr>
              <a:tr h="274320">
                <a:tc>
                  <a:txBody>
                    <a:bodyPr/>
                    <a:lstStyle/>
                    <a:p>
                      <a:pPr algn="ctr">
                        <a:spcAft>
                          <a:spcPts val="0"/>
                        </a:spcAft>
                      </a:pPr>
                      <a:r>
                        <a:rPr lang="en-US" sz="1400" kern="100" dirty="0">
                          <a:effectLst/>
                        </a:rPr>
                        <a:t>3</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70K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4"/>
                  </a:ext>
                </a:extLst>
              </a:tr>
              <a:tr h="274320">
                <a:tc>
                  <a:txBody>
                    <a:bodyPr/>
                    <a:lstStyle/>
                    <a:p>
                      <a:pPr algn="ctr">
                        <a:spcAft>
                          <a:spcPts val="0"/>
                        </a:spcAft>
                      </a:pPr>
                      <a:r>
                        <a:rPr lang="en-US" sz="1400" kern="100" dirty="0">
                          <a:effectLst/>
                        </a:rPr>
                        <a:t>4</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120K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5"/>
                  </a:ext>
                </a:extLst>
              </a:tr>
              <a:tr h="274320">
                <a:tc>
                  <a:txBody>
                    <a:bodyPr/>
                    <a:lstStyle/>
                    <a:p>
                      <a:pPr algn="ctr">
                        <a:spcAft>
                          <a:spcPts val="0"/>
                        </a:spcAft>
                      </a:pPr>
                      <a:r>
                        <a:rPr lang="en-US" sz="1400" kern="100" dirty="0">
                          <a:effectLst/>
                        </a:rPr>
                        <a:t>5</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Divorced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95K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6"/>
                  </a:ext>
                </a:extLst>
              </a:tr>
              <a:tr h="274320">
                <a:tc>
                  <a:txBody>
                    <a:bodyPr/>
                    <a:lstStyle/>
                    <a:p>
                      <a:pPr algn="ctr">
                        <a:spcAft>
                          <a:spcPts val="0"/>
                        </a:spcAft>
                      </a:pPr>
                      <a:r>
                        <a:rPr lang="en-US" sz="1400" kern="100" dirty="0">
                          <a:effectLst/>
                        </a:rPr>
                        <a:t>6</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t>
                      </a:r>
                      <a:r>
                        <a:rPr lang="en-US" altLang="zh-CN" sz="1400" kern="100" dirty="0">
                          <a:effectLst/>
                          <a:ea typeface="华文细黑" pitchFamily="2" charset="-122"/>
                        </a:rPr>
                        <a:t>a</a:t>
                      </a:r>
                      <a:r>
                        <a:rPr lang="en-US" sz="1400" kern="100" dirty="0">
                          <a:effectLst/>
                        </a:rPr>
                        <a:t>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60K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7"/>
                  </a:ext>
                </a:extLst>
              </a:tr>
              <a:tr h="274320">
                <a:tc>
                  <a:txBody>
                    <a:bodyPr/>
                    <a:lstStyle/>
                    <a:p>
                      <a:pPr algn="ctr">
                        <a:spcAft>
                          <a:spcPts val="0"/>
                        </a:spcAft>
                      </a:pPr>
                      <a:r>
                        <a:rPr lang="en-US" sz="1400" kern="100" dirty="0">
                          <a:effectLst/>
                        </a:rPr>
                        <a:t>7</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Divorced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220K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8"/>
                  </a:ext>
                </a:extLst>
              </a:tr>
              <a:tr h="274320">
                <a:tc>
                  <a:txBody>
                    <a:bodyPr/>
                    <a:lstStyle/>
                    <a:p>
                      <a:pPr algn="ctr">
                        <a:spcAft>
                          <a:spcPts val="0"/>
                        </a:spcAft>
                      </a:pPr>
                      <a:r>
                        <a:rPr lang="en-US" sz="1400" kern="100" dirty="0">
                          <a:effectLst/>
                        </a:rPr>
                        <a:t>8</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85K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9"/>
                  </a:ext>
                </a:extLst>
              </a:tr>
              <a:tr h="274320">
                <a:tc>
                  <a:txBody>
                    <a:bodyPr/>
                    <a:lstStyle/>
                    <a:p>
                      <a:pPr algn="ctr">
                        <a:spcAft>
                          <a:spcPts val="0"/>
                        </a:spcAft>
                      </a:pPr>
                      <a:r>
                        <a:rPr lang="en-US" sz="1400" kern="100" dirty="0">
                          <a:effectLst/>
                        </a:rPr>
                        <a:t>9</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75K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10"/>
                  </a:ext>
                </a:extLst>
              </a:tr>
              <a:tr h="274320">
                <a:tc>
                  <a:txBody>
                    <a:bodyPr/>
                    <a:lstStyle/>
                    <a:p>
                      <a:pPr algn="ctr">
                        <a:spcAft>
                          <a:spcPts val="0"/>
                        </a:spcAft>
                      </a:pPr>
                      <a:r>
                        <a:rPr lang="en-US" sz="1400" kern="100" dirty="0">
                          <a:effectLst/>
                        </a:rPr>
                        <a:t>10</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90K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11"/>
                  </a:ext>
                </a:extLst>
              </a:tr>
            </a:tbl>
          </a:graphicData>
        </a:graphic>
      </p:graphicFrame>
      <p:sp>
        <p:nvSpPr>
          <p:cNvPr id="3" name="页脚占位符 2">
            <a:extLst>
              <a:ext uri="{FF2B5EF4-FFF2-40B4-BE49-F238E27FC236}">
                <a16:creationId xmlns:a16="http://schemas.microsoft.com/office/drawing/2014/main" id="{BAC834F3-EABF-4B95-94C3-6993E81BE3B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5877C2A-EA53-4769-8CF4-D505AA21192D}"/>
              </a:ext>
            </a:extLst>
          </p:cNvPr>
          <p:cNvSpPr>
            <a:spLocks noGrp="1"/>
          </p:cNvSpPr>
          <p:nvPr>
            <p:ph type="sldNum" sz="quarter" idx="12"/>
          </p:nvPr>
        </p:nvSpPr>
        <p:spPr/>
        <p:txBody>
          <a:bodyPr/>
          <a:lstStyle/>
          <a:p>
            <a:fld id="{5AD84F5B-1672-4D3F-9FEC-5DF89A7B7912}" type="slidenum">
              <a:rPr lang="zh-CN" altLang="en-US" smtClean="0"/>
              <a:t>18</a:t>
            </a:fld>
            <a:endParaRPr lang="zh-CN" altLang="en-US"/>
          </a:p>
        </p:txBody>
      </p:sp>
    </p:spTree>
    <p:extLst>
      <p:ext uri="{BB962C8B-B14F-4D97-AF65-F5344CB8AC3E}">
        <p14:creationId xmlns:p14="http://schemas.microsoft.com/office/powerpoint/2010/main" val="312609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en-US" dirty="0"/>
              <a:t>建立决策树分类模型</a:t>
            </a:r>
          </a:p>
        </p:txBody>
      </p:sp>
      <p:sp>
        <p:nvSpPr>
          <p:cNvPr id="7" name="内容占位符 6"/>
          <p:cNvSpPr>
            <a:spLocks noGrp="1"/>
          </p:cNvSpPr>
          <p:nvPr>
            <p:ph idx="1"/>
          </p:nvPr>
        </p:nvSpPr>
        <p:spPr/>
        <p:txBody>
          <a:bodyPr/>
          <a:lstStyle/>
          <a:p>
            <a:r>
              <a:rPr lang="zh-CN" altLang="en-US" dirty="0"/>
              <a:t>根据训练数据建立决策树</a:t>
            </a:r>
          </a:p>
          <a:p>
            <a:endParaRPr lang="zh-CN" altLang="en-US" dirty="0"/>
          </a:p>
        </p:txBody>
      </p:sp>
      <p:grpSp>
        <p:nvGrpSpPr>
          <p:cNvPr id="9" name="画布 307231"/>
          <p:cNvGrpSpPr/>
          <p:nvPr/>
        </p:nvGrpSpPr>
        <p:grpSpPr>
          <a:xfrm>
            <a:off x="5040000" y="2521699"/>
            <a:ext cx="3208499" cy="985426"/>
            <a:chOff x="85866" y="32491"/>
            <a:chExt cx="1985301" cy="621467"/>
          </a:xfrm>
        </p:grpSpPr>
        <p:sp>
          <p:nvSpPr>
            <p:cNvPr id="11" name="Text Box 26"/>
            <p:cNvSpPr txBox="1">
              <a:spLocks noChangeArrowheads="1"/>
            </p:cNvSpPr>
            <p:nvPr/>
          </p:nvSpPr>
          <p:spPr bwMode="auto">
            <a:xfrm>
              <a:off x="373891" y="209544"/>
              <a:ext cx="212642" cy="1684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1400" dirty="0">
                  <a:solidFill>
                    <a:srgbClr val="000000"/>
                  </a:solidFill>
                  <a:latin typeface="Times New Roman"/>
                  <a:cs typeface="宋体"/>
                </a:rPr>
                <a:t>yes</a:t>
              </a:r>
              <a:endParaRPr lang="zh-CN" altLang="en-US" sz="2400" dirty="0">
                <a:latin typeface="华文细黑" pitchFamily="2" charset="-122"/>
                <a:ea typeface="华文细黑" pitchFamily="2" charset="-122"/>
                <a:cs typeface="宋体"/>
              </a:endParaRPr>
            </a:p>
          </p:txBody>
        </p:sp>
        <p:sp>
          <p:nvSpPr>
            <p:cNvPr id="12" name="椭圆 11"/>
            <p:cNvSpPr/>
            <p:nvPr/>
          </p:nvSpPr>
          <p:spPr>
            <a:xfrm>
              <a:off x="593748" y="32491"/>
              <a:ext cx="668264" cy="204333"/>
            </a:xfrm>
            <a:prstGeom prst="ellipse">
              <a:avLst/>
            </a:prstGeom>
            <a:solidFill>
              <a:schemeClr val="accent3">
                <a:lumMod val="20000"/>
                <a:lumOff val="80000"/>
              </a:schemeClr>
            </a:solidFill>
            <a:ln w="9525">
              <a:solidFill>
                <a:schemeClr val="accent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a:latin typeface="Times New Roman"/>
                  <a:ea typeface="华文细黑" pitchFamily="2" charset="-122"/>
                  <a:cs typeface="Times New Roman"/>
                </a:rPr>
                <a:t>Refund</a:t>
              </a:r>
              <a:endParaRPr lang="zh-CN" altLang="en-US" sz="1600" kern="100" dirty="0">
                <a:latin typeface="Times New Roman"/>
                <a:ea typeface="华文细黑" pitchFamily="2" charset="-122"/>
                <a:cs typeface="Times New Roman"/>
              </a:endParaRPr>
            </a:p>
          </p:txBody>
        </p:sp>
        <p:sp>
          <p:nvSpPr>
            <p:cNvPr id="13" name="矩形 12"/>
            <p:cNvSpPr/>
            <p:nvPr/>
          </p:nvSpPr>
          <p:spPr>
            <a:xfrm>
              <a:off x="85866" y="426603"/>
              <a:ext cx="445509" cy="143033"/>
            </a:xfrm>
            <a:prstGeom prst="rect">
              <a:avLst/>
            </a:prstGeom>
            <a:solidFill>
              <a:schemeClr val="tx2">
                <a:lumMod val="20000"/>
                <a:lumOff val="80000"/>
              </a:schemeClr>
            </a:solidFill>
            <a:ln w="6350">
              <a:solidFill>
                <a:schemeClr val="tx2">
                  <a:lumMod val="60000"/>
                  <a:lumOff val="4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a:latin typeface="Times New Roman"/>
                  <a:ea typeface="华文细黑" pitchFamily="2" charset="-122"/>
                  <a:cs typeface="Times New Roman"/>
                </a:rPr>
                <a:t>no / 3</a:t>
              </a:r>
              <a:endParaRPr lang="zh-CN" altLang="en-US" sz="1600" kern="100" dirty="0">
                <a:latin typeface="Times New Roman"/>
                <a:ea typeface="华文细黑" pitchFamily="2" charset="-122"/>
                <a:cs typeface="Times New Roman"/>
              </a:endParaRPr>
            </a:p>
          </p:txBody>
        </p:sp>
        <p:sp>
          <p:nvSpPr>
            <p:cNvPr id="14" name="椭圆 13"/>
            <p:cNvSpPr/>
            <p:nvPr/>
          </p:nvSpPr>
          <p:spPr>
            <a:xfrm>
              <a:off x="1351167" y="485315"/>
              <a:ext cx="720000" cy="168643"/>
            </a:xfrm>
            <a:prstGeom prst="ellipse">
              <a:avLst/>
            </a:prstGeom>
            <a:noFill/>
            <a:ln w="9525">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3200" b="1" kern="100" dirty="0">
                  <a:latin typeface="Times New Roman"/>
                  <a:ea typeface="华文细黑" pitchFamily="2" charset="-122"/>
                  <a:cs typeface="Times New Roman"/>
                </a:rPr>
                <a:t>……</a:t>
              </a:r>
              <a:endParaRPr lang="zh-CN" altLang="en-US" sz="3600" kern="100" dirty="0">
                <a:latin typeface="Times New Roman"/>
                <a:ea typeface="华文细黑" pitchFamily="2" charset="-122"/>
                <a:cs typeface="Times New Roman"/>
              </a:endParaRPr>
            </a:p>
          </p:txBody>
        </p:sp>
        <p:cxnSp>
          <p:nvCxnSpPr>
            <p:cNvPr id="19" name="Line 14"/>
            <p:cNvCxnSpPr>
              <a:stCxn id="12" idx="4"/>
              <a:endCxn id="13" idx="0"/>
            </p:cNvCxnSpPr>
            <p:nvPr/>
          </p:nvCxnSpPr>
          <p:spPr bwMode="auto">
            <a:xfrm flipH="1">
              <a:off x="308621" y="236824"/>
              <a:ext cx="619259" cy="189779"/>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Line 14"/>
            <p:cNvCxnSpPr>
              <a:stCxn id="12" idx="4"/>
            </p:cNvCxnSpPr>
            <p:nvPr/>
          </p:nvCxnSpPr>
          <p:spPr bwMode="auto">
            <a:xfrm>
              <a:off x="927880" y="236824"/>
              <a:ext cx="608120" cy="190030"/>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Text Box 26"/>
            <p:cNvSpPr txBox="1">
              <a:spLocks noChangeArrowheads="1"/>
            </p:cNvSpPr>
            <p:nvPr/>
          </p:nvSpPr>
          <p:spPr bwMode="auto">
            <a:xfrm>
              <a:off x="1311187" y="209544"/>
              <a:ext cx="174950" cy="1684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1400" dirty="0">
                  <a:solidFill>
                    <a:srgbClr val="000000"/>
                  </a:solidFill>
                  <a:latin typeface="Times New Roman"/>
                  <a:cs typeface="宋体"/>
                </a:rPr>
                <a:t>no</a:t>
              </a:r>
              <a:endParaRPr lang="zh-CN" altLang="en-US" sz="2400" dirty="0">
                <a:latin typeface="华文细黑" pitchFamily="2" charset="-122"/>
                <a:ea typeface="华文细黑" pitchFamily="2" charset="-122"/>
                <a:cs typeface="宋体"/>
              </a:endParaRPr>
            </a:p>
          </p:txBody>
        </p:sp>
      </p:grpSp>
      <p:graphicFrame>
        <p:nvGraphicFramePr>
          <p:cNvPr id="16" name="内容占位符 4"/>
          <p:cNvGraphicFramePr>
            <a:graphicFrameLocks/>
          </p:cNvGraphicFramePr>
          <p:nvPr/>
        </p:nvGraphicFramePr>
        <p:xfrm>
          <a:off x="35498" y="2327278"/>
          <a:ext cx="4497387" cy="3322320"/>
        </p:xfrm>
        <a:graphic>
          <a:graphicData uri="http://schemas.openxmlformats.org/drawingml/2006/table">
            <a:tbl>
              <a:tblPr firstRow="1" firstCol="1" bandRow="1" bandCol="1">
                <a:tableStyleId>{5C22544A-7EE6-4342-B048-85BDC9FD1C3A}</a:tableStyleId>
              </a:tblPr>
              <a:tblGrid>
                <a:gridCol w="554672">
                  <a:extLst>
                    <a:ext uri="{9D8B030D-6E8A-4147-A177-3AD203B41FA5}">
                      <a16:colId xmlns:a16="http://schemas.microsoft.com/office/drawing/2014/main" val="20000"/>
                    </a:ext>
                  </a:extLst>
                </a:gridCol>
                <a:gridCol w="843598">
                  <a:extLst>
                    <a:ext uri="{9D8B030D-6E8A-4147-A177-3AD203B41FA5}">
                      <a16:colId xmlns:a16="http://schemas.microsoft.com/office/drawing/2014/main" val="20001"/>
                    </a:ext>
                  </a:extLst>
                </a:gridCol>
                <a:gridCol w="1469072">
                  <a:extLst>
                    <a:ext uri="{9D8B030D-6E8A-4147-A177-3AD203B41FA5}">
                      <a16:colId xmlns:a16="http://schemas.microsoft.com/office/drawing/2014/main" val="20002"/>
                    </a:ext>
                  </a:extLst>
                </a:gridCol>
                <a:gridCol w="876935">
                  <a:extLst>
                    <a:ext uri="{9D8B030D-6E8A-4147-A177-3AD203B41FA5}">
                      <a16:colId xmlns:a16="http://schemas.microsoft.com/office/drawing/2014/main" val="20003"/>
                    </a:ext>
                  </a:extLst>
                </a:gridCol>
                <a:gridCol w="753110">
                  <a:extLst>
                    <a:ext uri="{9D8B030D-6E8A-4147-A177-3AD203B41FA5}">
                      <a16:colId xmlns:a16="http://schemas.microsoft.com/office/drawing/2014/main" val="20004"/>
                    </a:ext>
                  </a:extLst>
                </a:gridCol>
              </a:tblGrid>
              <a:tr h="304800">
                <a:tc gridSpan="5">
                  <a:txBody>
                    <a:bodyPr/>
                    <a:lstStyle/>
                    <a:p>
                      <a:pPr algn="ctr">
                        <a:spcBef>
                          <a:spcPts val="300"/>
                        </a:spcBef>
                        <a:spcAft>
                          <a:spcPts val="300"/>
                        </a:spcAft>
                      </a:pPr>
                      <a:r>
                        <a:rPr lang="en-US" sz="1400" kern="100" dirty="0">
                          <a:solidFill>
                            <a:srgbClr val="FF0000"/>
                          </a:solidFill>
                          <a:effectLst/>
                          <a:latin typeface="华文细黑" pitchFamily="2" charset="-122"/>
                          <a:ea typeface="华文细黑" pitchFamily="2" charset="-122"/>
                        </a:rPr>
                        <a:t>(a) </a:t>
                      </a:r>
                      <a:r>
                        <a:rPr lang="zh-CN" altLang="en-US" sz="1400" kern="100" dirty="0">
                          <a:solidFill>
                            <a:srgbClr val="FF0000"/>
                          </a:solidFill>
                          <a:effectLst/>
                          <a:latin typeface="华文细黑" pitchFamily="2" charset="-122"/>
                          <a:ea typeface="华文细黑" pitchFamily="2" charset="-122"/>
                        </a:rPr>
                        <a:t>训练数据集</a:t>
                      </a:r>
                      <a:endParaRPr lang="zh-CN" sz="1400" kern="100" dirty="0">
                        <a:solidFill>
                          <a:srgbClr val="FF0000"/>
                        </a:solidFill>
                        <a:effectLst/>
                        <a:latin typeface="华文细黑" pitchFamily="2" charset="-122"/>
                        <a:ea typeface="华文细黑" pitchFamily="2" charset="-122"/>
                      </a:endParaRPr>
                    </a:p>
                  </a:txBody>
                  <a:tcPr marL="68580" marR="68580" marT="0" marB="0">
                    <a:solidFill>
                      <a:schemeClr val="accent1">
                        <a:lumMod val="40000"/>
                        <a:lumOff val="60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74320">
                <a:tc>
                  <a:txBody>
                    <a:bodyPr/>
                    <a:lstStyle/>
                    <a:p>
                      <a:pPr indent="-34290" algn="ctr">
                        <a:spcAft>
                          <a:spcPts val="0"/>
                        </a:spcAft>
                      </a:pPr>
                      <a:r>
                        <a:rPr lang="en-US" sz="1400" b="1" kern="100" dirty="0" err="1">
                          <a:effectLst/>
                        </a:rPr>
                        <a:t>Tid</a:t>
                      </a:r>
                      <a:endParaRPr lang="zh-CN" sz="1400" b="1" kern="100" dirty="0">
                        <a:effectLst/>
                        <a:latin typeface="Times New Roman"/>
                        <a:ea typeface="华文细黑" pitchFamily="2" charset="-122"/>
                        <a:cs typeface="Times New Roman"/>
                      </a:endParaRPr>
                    </a:p>
                  </a:txBody>
                  <a:tcPr marL="68580" marR="68580" marT="0" marB="0"/>
                </a:tc>
                <a:tc>
                  <a:txBody>
                    <a:bodyPr/>
                    <a:lstStyle/>
                    <a:p>
                      <a:pPr indent="-34290" algn="ctr">
                        <a:spcAft>
                          <a:spcPts val="0"/>
                        </a:spcAft>
                      </a:pPr>
                      <a:r>
                        <a:rPr lang="en-US" sz="1400" b="1" kern="100" dirty="0">
                          <a:effectLst/>
                        </a:rPr>
                        <a:t>Refund</a:t>
                      </a:r>
                      <a:endParaRPr lang="zh-CN" sz="1400" b="1"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b="1" kern="100" dirty="0" err="1">
                          <a:effectLst/>
                        </a:rPr>
                        <a:t>MaritalStatus</a:t>
                      </a:r>
                      <a:endParaRPr lang="zh-CN" sz="1400" b="1"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b="1" kern="100" dirty="0">
                          <a:effectLst/>
                        </a:rPr>
                        <a:t>Income</a:t>
                      </a:r>
                      <a:endParaRPr lang="zh-CN" sz="1400" b="1"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b="1" kern="100" dirty="0">
                          <a:effectLst/>
                        </a:rPr>
                        <a:t>Cheat</a:t>
                      </a:r>
                      <a:endParaRPr lang="zh-CN" sz="1400" b="1"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1"/>
                  </a:ext>
                </a:extLst>
              </a:tr>
              <a:tr h="274320">
                <a:tc>
                  <a:txBody>
                    <a:bodyPr/>
                    <a:lstStyle/>
                    <a:p>
                      <a:pPr algn="ctr">
                        <a:spcAft>
                          <a:spcPts val="0"/>
                        </a:spcAft>
                      </a:pPr>
                      <a:r>
                        <a:rPr lang="en-US" sz="1400" kern="100" dirty="0">
                          <a:effectLst/>
                        </a:rPr>
                        <a:t>1</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125K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2"/>
                  </a:ext>
                </a:extLst>
              </a:tr>
              <a:tr h="274320">
                <a:tc>
                  <a:txBody>
                    <a:bodyPr/>
                    <a:lstStyle/>
                    <a:p>
                      <a:pPr algn="ctr">
                        <a:spcAft>
                          <a:spcPts val="0"/>
                        </a:spcAft>
                      </a:pPr>
                      <a:r>
                        <a:rPr lang="en-US" sz="1400" kern="100" dirty="0">
                          <a:effectLst/>
                        </a:rPr>
                        <a:t>2</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100K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3"/>
                  </a:ext>
                </a:extLst>
              </a:tr>
              <a:tr h="274320">
                <a:tc>
                  <a:txBody>
                    <a:bodyPr/>
                    <a:lstStyle/>
                    <a:p>
                      <a:pPr algn="ctr">
                        <a:spcAft>
                          <a:spcPts val="0"/>
                        </a:spcAft>
                      </a:pPr>
                      <a:r>
                        <a:rPr lang="en-US" sz="1400" kern="100" dirty="0">
                          <a:effectLst/>
                        </a:rPr>
                        <a:t>3</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70K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4"/>
                  </a:ext>
                </a:extLst>
              </a:tr>
              <a:tr h="274320">
                <a:tc>
                  <a:txBody>
                    <a:bodyPr/>
                    <a:lstStyle/>
                    <a:p>
                      <a:pPr algn="ctr">
                        <a:spcAft>
                          <a:spcPts val="0"/>
                        </a:spcAft>
                      </a:pPr>
                      <a:r>
                        <a:rPr lang="en-US" sz="1400" kern="100" dirty="0">
                          <a:effectLst/>
                        </a:rPr>
                        <a:t>4</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120K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5"/>
                  </a:ext>
                </a:extLst>
              </a:tr>
              <a:tr h="274320">
                <a:tc>
                  <a:txBody>
                    <a:bodyPr/>
                    <a:lstStyle/>
                    <a:p>
                      <a:pPr algn="ctr">
                        <a:spcAft>
                          <a:spcPts val="0"/>
                        </a:spcAft>
                      </a:pPr>
                      <a:r>
                        <a:rPr lang="en-US" sz="1400" kern="100" dirty="0">
                          <a:effectLst/>
                        </a:rPr>
                        <a:t>5</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Divorced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95K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6"/>
                  </a:ext>
                </a:extLst>
              </a:tr>
              <a:tr h="274320">
                <a:tc>
                  <a:txBody>
                    <a:bodyPr/>
                    <a:lstStyle/>
                    <a:p>
                      <a:pPr algn="ctr">
                        <a:spcAft>
                          <a:spcPts val="0"/>
                        </a:spcAft>
                      </a:pPr>
                      <a:r>
                        <a:rPr lang="en-US" sz="1400" kern="100" dirty="0">
                          <a:effectLst/>
                        </a:rPr>
                        <a:t>6</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t>
                      </a:r>
                      <a:r>
                        <a:rPr lang="en-US" altLang="zh-CN" sz="1400" kern="100" dirty="0">
                          <a:effectLst/>
                          <a:ea typeface="华文细黑" pitchFamily="2" charset="-122"/>
                        </a:rPr>
                        <a:t>a</a:t>
                      </a:r>
                      <a:r>
                        <a:rPr lang="en-US" sz="1400" kern="100" dirty="0">
                          <a:effectLst/>
                        </a:rPr>
                        <a:t>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60K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7"/>
                  </a:ext>
                </a:extLst>
              </a:tr>
              <a:tr h="274320">
                <a:tc>
                  <a:txBody>
                    <a:bodyPr/>
                    <a:lstStyle/>
                    <a:p>
                      <a:pPr algn="ctr">
                        <a:spcAft>
                          <a:spcPts val="0"/>
                        </a:spcAft>
                      </a:pPr>
                      <a:r>
                        <a:rPr lang="en-US" sz="1400" kern="100" dirty="0">
                          <a:effectLst/>
                        </a:rPr>
                        <a:t>7</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Divorced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220K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8"/>
                  </a:ext>
                </a:extLst>
              </a:tr>
              <a:tr h="274320">
                <a:tc>
                  <a:txBody>
                    <a:bodyPr/>
                    <a:lstStyle/>
                    <a:p>
                      <a:pPr algn="ctr">
                        <a:spcAft>
                          <a:spcPts val="0"/>
                        </a:spcAft>
                      </a:pPr>
                      <a:r>
                        <a:rPr lang="en-US" sz="1400" kern="100" dirty="0">
                          <a:effectLst/>
                        </a:rPr>
                        <a:t>8</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85K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9"/>
                  </a:ext>
                </a:extLst>
              </a:tr>
              <a:tr h="274320">
                <a:tc>
                  <a:txBody>
                    <a:bodyPr/>
                    <a:lstStyle/>
                    <a:p>
                      <a:pPr algn="ctr">
                        <a:spcAft>
                          <a:spcPts val="0"/>
                        </a:spcAft>
                      </a:pPr>
                      <a:r>
                        <a:rPr lang="en-US" sz="1400" kern="100" dirty="0">
                          <a:effectLst/>
                        </a:rPr>
                        <a:t>9</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75K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10"/>
                  </a:ext>
                </a:extLst>
              </a:tr>
              <a:tr h="274320">
                <a:tc>
                  <a:txBody>
                    <a:bodyPr/>
                    <a:lstStyle/>
                    <a:p>
                      <a:pPr algn="ctr">
                        <a:spcAft>
                          <a:spcPts val="0"/>
                        </a:spcAft>
                      </a:pPr>
                      <a:r>
                        <a:rPr lang="en-US" sz="1400" kern="100" dirty="0">
                          <a:effectLst/>
                        </a:rPr>
                        <a:t>10</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90K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11"/>
                  </a:ext>
                </a:extLst>
              </a:tr>
            </a:tbl>
          </a:graphicData>
        </a:graphic>
      </p:graphicFrame>
      <p:sp>
        <p:nvSpPr>
          <p:cNvPr id="8" name="下箭头 7"/>
          <p:cNvSpPr/>
          <p:nvPr/>
        </p:nvSpPr>
        <p:spPr>
          <a:xfrm>
            <a:off x="899594" y="2392085"/>
            <a:ext cx="288031" cy="194422"/>
          </a:xfrm>
          <a:prstGeom prst="down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dirty="0">
              <a:ea typeface="华文细黑" pitchFamily="2" charset="-122"/>
            </a:endParaRPr>
          </a:p>
        </p:txBody>
      </p:sp>
      <p:graphicFrame>
        <p:nvGraphicFramePr>
          <p:cNvPr id="3" name="表格 2"/>
          <p:cNvGraphicFramePr>
            <a:graphicFrameLocks noGrp="1"/>
          </p:cNvGraphicFramePr>
          <p:nvPr/>
        </p:nvGraphicFramePr>
        <p:xfrm>
          <a:off x="35496" y="2639250"/>
          <a:ext cx="4496400" cy="3013208"/>
        </p:xfrm>
        <a:graphic>
          <a:graphicData uri="http://schemas.openxmlformats.org/drawingml/2006/table">
            <a:tbl>
              <a:tblPr firstRow="1" firstCol="1" bandRow="1" bandCol="1">
                <a:tableStyleId>{5C22544A-7EE6-4342-B048-85BDC9FD1C3A}</a:tableStyleId>
              </a:tblPr>
              <a:tblGrid>
                <a:gridCol w="548704">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858258">
                  <a:extLst>
                    <a:ext uri="{9D8B030D-6E8A-4147-A177-3AD203B41FA5}">
                      <a16:colId xmlns:a16="http://schemas.microsoft.com/office/drawing/2014/main" val="20003"/>
                    </a:ext>
                  </a:extLst>
                </a:gridCol>
                <a:gridCol w="765338">
                  <a:extLst>
                    <a:ext uri="{9D8B030D-6E8A-4147-A177-3AD203B41FA5}">
                      <a16:colId xmlns:a16="http://schemas.microsoft.com/office/drawing/2014/main" val="20004"/>
                    </a:ext>
                  </a:extLst>
                </a:gridCol>
              </a:tblGrid>
              <a:tr h="273928">
                <a:tc>
                  <a:txBody>
                    <a:bodyPr/>
                    <a:lstStyle/>
                    <a:p>
                      <a:pPr indent="-34290" algn="ctr">
                        <a:spcAft>
                          <a:spcPts val="0"/>
                        </a:spcAft>
                      </a:pPr>
                      <a:r>
                        <a:rPr lang="en-US" sz="1400" kern="100" dirty="0" err="1">
                          <a:solidFill>
                            <a:schemeClr val="bg1"/>
                          </a:solidFill>
                          <a:effectLst/>
                        </a:rPr>
                        <a:t>Tid</a:t>
                      </a:r>
                      <a:endParaRPr lang="zh-CN" sz="1400" kern="100" dirty="0">
                        <a:solidFill>
                          <a:schemeClr val="bg1"/>
                        </a:solidFill>
                        <a:effectLst/>
                        <a:latin typeface="Times New Roman"/>
                        <a:ea typeface="华文细黑" pitchFamily="2" charset="-122"/>
                        <a:cs typeface="Times New Roman"/>
                      </a:endParaRPr>
                    </a:p>
                  </a:txBody>
                  <a:tcPr marL="68580" marR="68580" marT="0" marB="0"/>
                </a:tc>
                <a:tc>
                  <a:txBody>
                    <a:bodyPr/>
                    <a:lstStyle/>
                    <a:p>
                      <a:pPr indent="-34290" algn="ctr">
                        <a:spcAft>
                          <a:spcPts val="0"/>
                        </a:spcAft>
                      </a:pPr>
                      <a:r>
                        <a:rPr lang="en-US" sz="1400" kern="100" dirty="0">
                          <a:solidFill>
                            <a:schemeClr val="tx1"/>
                          </a:solidFill>
                          <a:effectLst/>
                        </a:rPr>
                        <a:t>Refund</a:t>
                      </a:r>
                      <a:endParaRPr lang="zh-CN" sz="1400" kern="100" dirty="0">
                        <a:solidFill>
                          <a:schemeClr val="tx1"/>
                        </a:solidFill>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err="1">
                          <a:solidFill>
                            <a:schemeClr val="tx1"/>
                          </a:solidFill>
                          <a:effectLst/>
                        </a:rPr>
                        <a:t>MaritalStatus</a:t>
                      </a:r>
                      <a:endParaRPr lang="zh-CN" sz="1400" kern="100" dirty="0">
                        <a:solidFill>
                          <a:schemeClr val="tx1"/>
                        </a:solidFill>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solidFill>
                            <a:schemeClr val="tx1"/>
                          </a:solidFill>
                          <a:effectLst/>
                        </a:rPr>
                        <a:t>Income</a:t>
                      </a:r>
                      <a:endParaRPr lang="zh-CN" sz="1400" kern="100" dirty="0">
                        <a:solidFill>
                          <a:schemeClr val="tx1"/>
                        </a:solidFill>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solidFill>
                            <a:schemeClr val="tx1"/>
                          </a:solidFill>
                          <a:effectLst/>
                        </a:rPr>
                        <a:t>Cheat</a:t>
                      </a:r>
                      <a:endParaRPr lang="zh-CN" sz="1400" kern="100" dirty="0">
                        <a:solidFill>
                          <a:schemeClr val="tx1"/>
                        </a:solidFill>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0"/>
                  </a:ext>
                </a:extLst>
              </a:tr>
              <a:tr h="273928">
                <a:tc>
                  <a:txBody>
                    <a:bodyPr/>
                    <a:lstStyle/>
                    <a:p>
                      <a:pPr algn="ctr">
                        <a:spcAft>
                          <a:spcPts val="0"/>
                        </a:spcAft>
                      </a:pPr>
                      <a:r>
                        <a:rPr lang="en-US" sz="1400" kern="100" dirty="0">
                          <a:solidFill>
                            <a:schemeClr val="tx1"/>
                          </a:solidFill>
                          <a:effectLst/>
                        </a:rPr>
                        <a:t>1</a:t>
                      </a:r>
                      <a:endParaRPr lang="zh-CN" sz="1400" kern="100" dirty="0">
                        <a:solidFill>
                          <a:schemeClr val="tx1"/>
                        </a:solidFill>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125K</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extLst>
                  <a:ext uri="{0D108BD9-81ED-4DB2-BD59-A6C34878D82A}">
                    <a16:rowId xmlns:a16="http://schemas.microsoft.com/office/drawing/2014/main" val="10001"/>
                  </a:ext>
                </a:extLst>
              </a:tr>
              <a:tr h="273928">
                <a:tc>
                  <a:txBody>
                    <a:bodyPr/>
                    <a:lstStyle/>
                    <a:p>
                      <a:pPr algn="ctr">
                        <a:spcAft>
                          <a:spcPts val="0"/>
                        </a:spcAft>
                      </a:pPr>
                      <a:r>
                        <a:rPr lang="en-US" sz="1400" kern="100" dirty="0">
                          <a:solidFill>
                            <a:schemeClr val="tx1"/>
                          </a:solidFill>
                          <a:effectLst/>
                        </a:rPr>
                        <a:t>4</a:t>
                      </a:r>
                      <a:endParaRPr lang="zh-CN" sz="1400" kern="100" dirty="0">
                        <a:solidFill>
                          <a:schemeClr val="tx1"/>
                        </a:solidFill>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120K</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extLst>
                  <a:ext uri="{0D108BD9-81ED-4DB2-BD59-A6C34878D82A}">
                    <a16:rowId xmlns:a16="http://schemas.microsoft.com/office/drawing/2014/main" val="10002"/>
                  </a:ext>
                </a:extLst>
              </a:tr>
              <a:tr h="273928">
                <a:tc>
                  <a:txBody>
                    <a:bodyPr/>
                    <a:lstStyle/>
                    <a:p>
                      <a:pPr algn="ctr">
                        <a:spcAft>
                          <a:spcPts val="0"/>
                        </a:spcAft>
                      </a:pPr>
                      <a:r>
                        <a:rPr lang="en-US" sz="1400" kern="100" dirty="0">
                          <a:solidFill>
                            <a:schemeClr val="tx1"/>
                          </a:solidFill>
                          <a:effectLst/>
                        </a:rPr>
                        <a:t>7</a:t>
                      </a:r>
                      <a:endParaRPr lang="zh-CN" sz="1400" kern="100" dirty="0">
                        <a:solidFill>
                          <a:schemeClr val="tx1"/>
                        </a:solidFill>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Divorced</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220K</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extLst>
                  <a:ext uri="{0D108BD9-81ED-4DB2-BD59-A6C34878D82A}">
                    <a16:rowId xmlns:a16="http://schemas.microsoft.com/office/drawing/2014/main" val="10003"/>
                  </a:ext>
                </a:extLst>
              </a:tr>
              <a:tr h="273928">
                <a:tc>
                  <a:txBody>
                    <a:bodyPr/>
                    <a:lstStyle/>
                    <a:p>
                      <a:pPr algn="ctr">
                        <a:spcAft>
                          <a:spcPts val="0"/>
                        </a:spcAft>
                      </a:pPr>
                      <a:r>
                        <a:rPr lang="en-US" sz="1400" kern="100" dirty="0">
                          <a:effectLst/>
                        </a:rPr>
                        <a:t>2</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100</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4"/>
                  </a:ext>
                </a:extLst>
              </a:tr>
              <a:tr h="273928">
                <a:tc>
                  <a:txBody>
                    <a:bodyPr/>
                    <a:lstStyle/>
                    <a:p>
                      <a:pPr algn="ctr">
                        <a:spcAft>
                          <a:spcPts val="0"/>
                        </a:spcAft>
                      </a:pPr>
                      <a:r>
                        <a:rPr lang="en-US" sz="1400" kern="100" dirty="0">
                          <a:effectLst/>
                        </a:rPr>
                        <a:t>3</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70K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5"/>
                  </a:ext>
                </a:extLst>
              </a:tr>
              <a:tr h="273928">
                <a:tc>
                  <a:txBody>
                    <a:bodyPr/>
                    <a:lstStyle/>
                    <a:p>
                      <a:pPr algn="ctr">
                        <a:spcAft>
                          <a:spcPts val="0"/>
                        </a:spcAft>
                      </a:pPr>
                      <a:r>
                        <a:rPr lang="en-US" sz="1400" kern="100" dirty="0">
                          <a:effectLst/>
                        </a:rPr>
                        <a:t>5</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Divorced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95K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6"/>
                  </a:ext>
                </a:extLst>
              </a:tr>
              <a:tr h="273928">
                <a:tc>
                  <a:txBody>
                    <a:bodyPr/>
                    <a:lstStyle/>
                    <a:p>
                      <a:pPr algn="ctr">
                        <a:spcAft>
                          <a:spcPts val="0"/>
                        </a:spcAft>
                      </a:pPr>
                      <a:r>
                        <a:rPr lang="en-US" sz="1400" kern="100" dirty="0">
                          <a:effectLst/>
                        </a:rPr>
                        <a:t>6</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60K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7"/>
                  </a:ext>
                </a:extLst>
              </a:tr>
              <a:tr h="273928">
                <a:tc>
                  <a:txBody>
                    <a:bodyPr/>
                    <a:lstStyle/>
                    <a:p>
                      <a:pPr algn="ctr">
                        <a:spcAft>
                          <a:spcPts val="0"/>
                        </a:spcAft>
                      </a:pPr>
                      <a:r>
                        <a:rPr lang="en-US" sz="1400" kern="100" dirty="0">
                          <a:effectLst/>
                        </a:rPr>
                        <a:t>8</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85K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8"/>
                  </a:ext>
                </a:extLst>
              </a:tr>
              <a:tr h="273928">
                <a:tc>
                  <a:txBody>
                    <a:bodyPr/>
                    <a:lstStyle/>
                    <a:p>
                      <a:pPr algn="ctr">
                        <a:spcAft>
                          <a:spcPts val="0"/>
                        </a:spcAft>
                      </a:pPr>
                      <a:r>
                        <a:rPr lang="en-US" sz="1400" kern="100" dirty="0">
                          <a:effectLst/>
                        </a:rPr>
                        <a:t>9</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75K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9"/>
                  </a:ext>
                </a:extLst>
              </a:tr>
              <a:tr h="273928">
                <a:tc>
                  <a:txBody>
                    <a:bodyPr/>
                    <a:lstStyle/>
                    <a:p>
                      <a:pPr algn="ctr">
                        <a:spcAft>
                          <a:spcPts val="0"/>
                        </a:spcAft>
                      </a:pPr>
                      <a:r>
                        <a:rPr lang="en-US" sz="1400" kern="100" dirty="0">
                          <a:effectLst/>
                        </a:rPr>
                        <a:t>10</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90K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10"/>
                  </a:ext>
                </a:extLst>
              </a:tr>
            </a:tbl>
          </a:graphicData>
        </a:graphic>
      </p:graphicFrame>
      <p:sp>
        <p:nvSpPr>
          <p:cNvPr id="4" name="页脚占位符 3">
            <a:extLst>
              <a:ext uri="{FF2B5EF4-FFF2-40B4-BE49-F238E27FC236}">
                <a16:creationId xmlns:a16="http://schemas.microsoft.com/office/drawing/2014/main" id="{2CDECFC5-48A3-420E-B262-9D08F56087E4}"/>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9F8706D-C221-4637-8F58-8BB3E7B61CF3}"/>
              </a:ext>
            </a:extLst>
          </p:cNvPr>
          <p:cNvSpPr>
            <a:spLocks noGrp="1"/>
          </p:cNvSpPr>
          <p:nvPr>
            <p:ph type="sldNum" sz="quarter" idx="12"/>
          </p:nvPr>
        </p:nvSpPr>
        <p:spPr/>
        <p:txBody>
          <a:bodyPr/>
          <a:lstStyle/>
          <a:p>
            <a:fld id="{5AD84F5B-1672-4D3F-9FEC-5DF89A7B7912}" type="slidenum">
              <a:rPr lang="zh-CN" altLang="en-US" smtClean="0"/>
              <a:t>19</a:t>
            </a:fld>
            <a:endParaRPr lang="zh-CN" altLang="en-US"/>
          </a:p>
        </p:txBody>
      </p:sp>
    </p:spTree>
    <p:extLst>
      <p:ext uri="{BB962C8B-B14F-4D97-AF65-F5344CB8AC3E}">
        <p14:creationId xmlns:p14="http://schemas.microsoft.com/office/powerpoint/2010/main" val="2275043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up)">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up)">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en-US" dirty="0"/>
              <a:t>建立决策树分类模型</a:t>
            </a:r>
          </a:p>
        </p:txBody>
      </p:sp>
      <p:sp>
        <p:nvSpPr>
          <p:cNvPr id="7" name="内容占位符 6"/>
          <p:cNvSpPr>
            <a:spLocks noGrp="1"/>
          </p:cNvSpPr>
          <p:nvPr>
            <p:ph idx="1"/>
          </p:nvPr>
        </p:nvSpPr>
        <p:spPr/>
        <p:txBody>
          <a:bodyPr/>
          <a:lstStyle/>
          <a:p>
            <a:r>
              <a:rPr lang="zh-CN" altLang="en-US" dirty="0"/>
              <a:t>根据训练数据建立决策树</a:t>
            </a:r>
          </a:p>
          <a:p>
            <a:endParaRPr lang="zh-CN" altLang="en-US" dirty="0"/>
          </a:p>
        </p:txBody>
      </p:sp>
      <p:grpSp>
        <p:nvGrpSpPr>
          <p:cNvPr id="9" name="画布 307231"/>
          <p:cNvGrpSpPr/>
          <p:nvPr/>
        </p:nvGrpSpPr>
        <p:grpSpPr>
          <a:xfrm>
            <a:off x="5039999" y="2521701"/>
            <a:ext cx="2343601" cy="851721"/>
            <a:chOff x="85866" y="32491"/>
            <a:chExt cx="1450134" cy="537145"/>
          </a:xfrm>
        </p:grpSpPr>
        <p:sp>
          <p:nvSpPr>
            <p:cNvPr id="11" name="Text Box 26"/>
            <p:cNvSpPr txBox="1">
              <a:spLocks noChangeArrowheads="1"/>
            </p:cNvSpPr>
            <p:nvPr/>
          </p:nvSpPr>
          <p:spPr bwMode="auto">
            <a:xfrm>
              <a:off x="373891" y="209544"/>
              <a:ext cx="212642" cy="1684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1400" dirty="0">
                  <a:solidFill>
                    <a:srgbClr val="000000"/>
                  </a:solidFill>
                  <a:latin typeface="Times New Roman"/>
                  <a:cs typeface="宋体"/>
                </a:rPr>
                <a:t>yes</a:t>
              </a:r>
              <a:endParaRPr lang="zh-CN" altLang="en-US" sz="2400" dirty="0">
                <a:latin typeface="华文细黑" pitchFamily="2" charset="-122"/>
                <a:ea typeface="华文细黑" pitchFamily="2" charset="-122"/>
                <a:cs typeface="宋体"/>
              </a:endParaRPr>
            </a:p>
          </p:txBody>
        </p:sp>
        <p:sp>
          <p:nvSpPr>
            <p:cNvPr id="12" name="椭圆 11"/>
            <p:cNvSpPr/>
            <p:nvPr/>
          </p:nvSpPr>
          <p:spPr>
            <a:xfrm>
              <a:off x="593748" y="32491"/>
              <a:ext cx="668264" cy="204333"/>
            </a:xfrm>
            <a:prstGeom prst="ellipse">
              <a:avLst/>
            </a:prstGeom>
            <a:solidFill>
              <a:schemeClr val="accent3">
                <a:lumMod val="20000"/>
                <a:lumOff val="80000"/>
              </a:schemeClr>
            </a:solidFill>
            <a:ln w="9525">
              <a:solidFill>
                <a:schemeClr val="accent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a:latin typeface="Times New Roman"/>
                  <a:ea typeface="华文细黑" pitchFamily="2" charset="-122"/>
                  <a:cs typeface="Times New Roman"/>
                </a:rPr>
                <a:t>Refund</a:t>
              </a:r>
              <a:endParaRPr lang="zh-CN" altLang="en-US" sz="1600" kern="100" dirty="0">
                <a:latin typeface="Times New Roman"/>
                <a:ea typeface="华文细黑" pitchFamily="2" charset="-122"/>
                <a:cs typeface="Times New Roman"/>
              </a:endParaRPr>
            </a:p>
          </p:txBody>
        </p:sp>
        <p:sp>
          <p:nvSpPr>
            <p:cNvPr id="13" name="矩形 12"/>
            <p:cNvSpPr/>
            <p:nvPr/>
          </p:nvSpPr>
          <p:spPr>
            <a:xfrm>
              <a:off x="85866" y="426603"/>
              <a:ext cx="445509" cy="143033"/>
            </a:xfrm>
            <a:prstGeom prst="rect">
              <a:avLst/>
            </a:prstGeom>
            <a:solidFill>
              <a:schemeClr val="tx2">
                <a:lumMod val="20000"/>
                <a:lumOff val="80000"/>
              </a:schemeClr>
            </a:solidFill>
            <a:ln w="6350">
              <a:solidFill>
                <a:schemeClr val="tx2">
                  <a:lumMod val="60000"/>
                  <a:lumOff val="4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a:latin typeface="Times New Roman"/>
                  <a:ea typeface="华文细黑" pitchFamily="2" charset="-122"/>
                  <a:cs typeface="Times New Roman"/>
                </a:rPr>
                <a:t>no / 3</a:t>
              </a:r>
              <a:endParaRPr lang="zh-CN" altLang="en-US" sz="1600" kern="100" dirty="0">
                <a:latin typeface="Times New Roman"/>
                <a:ea typeface="华文细黑" pitchFamily="2" charset="-122"/>
                <a:cs typeface="Times New Roman"/>
              </a:endParaRPr>
            </a:p>
          </p:txBody>
        </p:sp>
        <p:cxnSp>
          <p:nvCxnSpPr>
            <p:cNvPr id="19" name="Line 14"/>
            <p:cNvCxnSpPr>
              <a:stCxn id="12" idx="4"/>
              <a:endCxn id="13" idx="0"/>
            </p:cNvCxnSpPr>
            <p:nvPr/>
          </p:nvCxnSpPr>
          <p:spPr bwMode="auto">
            <a:xfrm flipH="1">
              <a:off x="308621" y="236824"/>
              <a:ext cx="619259" cy="189779"/>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Line 14"/>
            <p:cNvCxnSpPr>
              <a:stCxn id="12" idx="4"/>
            </p:cNvCxnSpPr>
            <p:nvPr/>
          </p:nvCxnSpPr>
          <p:spPr bwMode="auto">
            <a:xfrm>
              <a:off x="927880" y="236824"/>
              <a:ext cx="608120" cy="190030"/>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Text Box 26"/>
            <p:cNvSpPr txBox="1">
              <a:spLocks noChangeArrowheads="1"/>
            </p:cNvSpPr>
            <p:nvPr/>
          </p:nvSpPr>
          <p:spPr bwMode="auto">
            <a:xfrm>
              <a:off x="1311187" y="209544"/>
              <a:ext cx="174950" cy="1684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1400" dirty="0">
                  <a:solidFill>
                    <a:srgbClr val="000000"/>
                  </a:solidFill>
                  <a:latin typeface="Times New Roman"/>
                  <a:cs typeface="宋体"/>
                </a:rPr>
                <a:t>no</a:t>
              </a:r>
              <a:endParaRPr lang="zh-CN" altLang="en-US" sz="2400" dirty="0">
                <a:latin typeface="华文细黑" pitchFamily="2" charset="-122"/>
                <a:ea typeface="华文细黑" pitchFamily="2" charset="-122"/>
                <a:cs typeface="宋体"/>
              </a:endParaRPr>
            </a:p>
          </p:txBody>
        </p:sp>
      </p:grpSp>
      <p:graphicFrame>
        <p:nvGraphicFramePr>
          <p:cNvPr id="16" name="内容占位符 4"/>
          <p:cNvGraphicFramePr>
            <a:graphicFrameLocks/>
          </p:cNvGraphicFramePr>
          <p:nvPr/>
        </p:nvGraphicFramePr>
        <p:xfrm>
          <a:off x="35498" y="2327278"/>
          <a:ext cx="4497387" cy="3322320"/>
        </p:xfrm>
        <a:graphic>
          <a:graphicData uri="http://schemas.openxmlformats.org/drawingml/2006/table">
            <a:tbl>
              <a:tblPr firstRow="1" firstCol="1" bandRow="1" bandCol="1">
                <a:tableStyleId>{5C22544A-7EE6-4342-B048-85BDC9FD1C3A}</a:tableStyleId>
              </a:tblPr>
              <a:tblGrid>
                <a:gridCol w="554672">
                  <a:extLst>
                    <a:ext uri="{9D8B030D-6E8A-4147-A177-3AD203B41FA5}">
                      <a16:colId xmlns:a16="http://schemas.microsoft.com/office/drawing/2014/main" val="20000"/>
                    </a:ext>
                  </a:extLst>
                </a:gridCol>
                <a:gridCol w="843598">
                  <a:extLst>
                    <a:ext uri="{9D8B030D-6E8A-4147-A177-3AD203B41FA5}">
                      <a16:colId xmlns:a16="http://schemas.microsoft.com/office/drawing/2014/main" val="20001"/>
                    </a:ext>
                  </a:extLst>
                </a:gridCol>
                <a:gridCol w="1469072">
                  <a:extLst>
                    <a:ext uri="{9D8B030D-6E8A-4147-A177-3AD203B41FA5}">
                      <a16:colId xmlns:a16="http://schemas.microsoft.com/office/drawing/2014/main" val="20002"/>
                    </a:ext>
                  </a:extLst>
                </a:gridCol>
                <a:gridCol w="876935">
                  <a:extLst>
                    <a:ext uri="{9D8B030D-6E8A-4147-A177-3AD203B41FA5}">
                      <a16:colId xmlns:a16="http://schemas.microsoft.com/office/drawing/2014/main" val="20003"/>
                    </a:ext>
                  </a:extLst>
                </a:gridCol>
                <a:gridCol w="753110">
                  <a:extLst>
                    <a:ext uri="{9D8B030D-6E8A-4147-A177-3AD203B41FA5}">
                      <a16:colId xmlns:a16="http://schemas.microsoft.com/office/drawing/2014/main" val="20004"/>
                    </a:ext>
                  </a:extLst>
                </a:gridCol>
              </a:tblGrid>
              <a:tr h="304800">
                <a:tc gridSpan="5">
                  <a:txBody>
                    <a:bodyPr/>
                    <a:lstStyle/>
                    <a:p>
                      <a:pPr algn="ctr">
                        <a:spcBef>
                          <a:spcPts val="300"/>
                        </a:spcBef>
                        <a:spcAft>
                          <a:spcPts val="300"/>
                        </a:spcAft>
                      </a:pPr>
                      <a:r>
                        <a:rPr lang="en-US" sz="1400" kern="100" dirty="0">
                          <a:solidFill>
                            <a:srgbClr val="FF0000"/>
                          </a:solidFill>
                          <a:effectLst/>
                          <a:latin typeface="华文细黑" pitchFamily="2" charset="-122"/>
                          <a:ea typeface="华文细黑" pitchFamily="2" charset="-122"/>
                        </a:rPr>
                        <a:t>(a) </a:t>
                      </a:r>
                      <a:r>
                        <a:rPr lang="zh-CN" altLang="en-US" sz="1400" kern="100" dirty="0">
                          <a:solidFill>
                            <a:srgbClr val="FF0000"/>
                          </a:solidFill>
                          <a:effectLst/>
                          <a:latin typeface="华文细黑" pitchFamily="2" charset="-122"/>
                          <a:ea typeface="华文细黑" pitchFamily="2" charset="-122"/>
                        </a:rPr>
                        <a:t>训练数据集</a:t>
                      </a:r>
                      <a:endParaRPr lang="zh-CN" sz="1400" kern="100" dirty="0">
                        <a:solidFill>
                          <a:srgbClr val="FF0000"/>
                        </a:solidFill>
                        <a:effectLst/>
                        <a:latin typeface="华文细黑" pitchFamily="2" charset="-122"/>
                        <a:ea typeface="华文细黑" pitchFamily="2" charset="-122"/>
                      </a:endParaRPr>
                    </a:p>
                  </a:txBody>
                  <a:tcPr marL="68580" marR="68580" marT="0" marB="0">
                    <a:solidFill>
                      <a:schemeClr val="accent1">
                        <a:lumMod val="40000"/>
                        <a:lumOff val="60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74320">
                <a:tc>
                  <a:txBody>
                    <a:bodyPr/>
                    <a:lstStyle/>
                    <a:p>
                      <a:pPr indent="-34290" algn="ctr">
                        <a:spcAft>
                          <a:spcPts val="0"/>
                        </a:spcAft>
                      </a:pPr>
                      <a:r>
                        <a:rPr lang="en-US" sz="1400" b="1" kern="100" dirty="0" err="1">
                          <a:effectLst/>
                        </a:rPr>
                        <a:t>Tid</a:t>
                      </a:r>
                      <a:endParaRPr lang="zh-CN" sz="1400" b="1" kern="100" dirty="0">
                        <a:effectLst/>
                        <a:latin typeface="Times New Roman"/>
                        <a:ea typeface="华文细黑" pitchFamily="2" charset="-122"/>
                        <a:cs typeface="Times New Roman"/>
                      </a:endParaRPr>
                    </a:p>
                  </a:txBody>
                  <a:tcPr marL="68580" marR="68580" marT="0" marB="0"/>
                </a:tc>
                <a:tc>
                  <a:txBody>
                    <a:bodyPr/>
                    <a:lstStyle/>
                    <a:p>
                      <a:pPr indent="-34290" algn="ctr">
                        <a:spcAft>
                          <a:spcPts val="0"/>
                        </a:spcAft>
                      </a:pPr>
                      <a:r>
                        <a:rPr lang="en-US" sz="1400" b="1" kern="100" dirty="0">
                          <a:effectLst/>
                        </a:rPr>
                        <a:t>Refund</a:t>
                      </a:r>
                      <a:endParaRPr lang="zh-CN" sz="1400" b="1"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b="1" kern="100" dirty="0" err="1">
                          <a:effectLst/>
                        </a:rPr>
                        <a:t>MaritalStatus</a:t>
                      </a:r>
                      <a:endParaRPr lang="zh-CN" sz="1400" b="1"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b="1" kern="100" dirty="0">
                          <a:effectLst/>
                        </a:rPr>
                        <a:t>Income</a:t>
                      </a:r>
                      <a:endParaRPr lang="zh-CN" sz="1400" b="1"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b="1" kern="100" dirty="0">
                          <a:effectLst/>
                        </a:rPr>
                        <a:t>Cheat</a:t>
                      </a:r>
                      <a:endParaRPr lang="zh-CN" sz="1400" b="1"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1"/>
                  </a:ext>
                </a:extLst>
              </a:tr>
              <a:tr h="274320">
                <a:tc>
                  <a:txBody>
                    <a:bodyPr/>
                    <a:lstStyle/>
                    <a:p>
                      <a:pPr algn="ctr">
                        <a:spcAft>
                          <a:spcPts val="0"/>
                        </a:spcAft>
                      </a:pPr>
                      <a:r>
                        <a:rPr lang="en-US" sz="1400" kern="100" dirty="0">
                          <a:effectLst/>
                        </a:rPr>
                        <a:t>1</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125K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2"/>
                  </a:ext>
                </a:extLst>
              </a:tr>
              <a:tr h="274320">
                <a:tc>
                  <a:txBody>
                    <a:bodyPr/>
                    <a:lstStyle/>
                    <a:p>
                      <a:pPr algn="ctr">
                        <a:spcAft>
                          <a:spcPts val="0"/>
                        </a:spcAft>
                      </a:pPr>
                      <a:r>
                        <a:rPr lang="en-US" sz="1400" kern="100" dirty="0">
                          <a:effectLst/>
                        </a:rPr>
                        <a:t>2</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100K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3"/>
                  </a:ext>
                </a:extLst>
              </a:tr>
              <a:tr h="274320">
                <a:tc>
                  <a:txBody>
                    <a:bodyPr/>
                    <a:lstStyle/>
                    <a:p>
                      <a:pPr algn="ctr">
                        <a:spcAft>
                          <a:spcPts val="0"/>
                        </a:spcAft>
                      </a:pPr>
                      <a:r>
                        <a:rPr lang="en-US" sz="1400" kern="100" dirty="0">
                          <a:effectLst/>
                        </a:rPr>
                        <a:t>3</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70K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4"/>
                  </a:ext>
                </a:extLst>
              </a:tr>
              <a:tr h="274320">
                <a:tc>
                  <a:txBody>
                    <a:bodyPr/>
                    <a:lstStyle/>
                    <a:p>
                      <a:pPr algn="ctr">
                        <a:spcAft>
                          <a:spcPts val="0"/>
                        </a:spcAft>
                      </a:pPr>
                      <a:r>
                        <a:rPr lang="en-US" sz="1400" kern="100" dirty="0">
                          <a:effectLst/>
                        </a:rPr>
                        <a:t>4</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120K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5"/>
                  </a:ext>
                </a:extLst>
              </a:tr>
              <a:tr h="274320">
                <a:tc>
                  <a:txBody>
                    <a:bodyPr/>
                    <a:lstStyle/>
                    <a:p>
                      <a:pPr algn="ctr">
                        <a:spcAft>
                          <a:spcPts val="0"/>
                        </a:spcAft>
                      </a:pPr>
                      <a:r>
                        <a:rPr lang="en-US" sz="1400" kern="100" dirty="0">
                          <a:effectLst/>
                        </a:rPr>
                        <a:t>5</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Divorced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95K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6"/>
                  </a:ext>
                </a:extLst>
              </a:tr>
              <a:tr h="274320">
                <a:tc>
                  <a:txBody>
                    <a:bodyPr/>
                    <a:lstStyle/>
                    <a:p>
                      <a:pPr algn="ctr">
                        <a:spcAft>
                          <a:spcPts val="0"/>
                        </a:spcAft>
                      </a:pPr>
                      <a:r>
                        <a:rPr lang="en-US" sz="1400" kern="100" dirty="0">
                          <a:effectLst/>
                        </a:rPr>
                        <a:t>6</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t>
                      </a:r>
                      <a:r>
                        <a:rPr lang="en-US" altLang="zh-CN" sz="1400" kern="100" dirty="0">
                          <a:effectLst/>
                          <a:ea typeface="华文细黑" pitchFamily="2" charset="-122"/>
                        </a:rPr>
                        <a:t>a</a:t>
                      </a:r>
                      <a:r>
                        <a:rPr lang="en-US" sz="1400" kern="100" dirty="0">
                          <a:effectLst/>
                        </a:rPr>
                        <a:t>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60K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7"/>
                  </a:ext>
                </a:extLst>
              </a:tr>
              <a:tr h="274320">
                <a:tc>
                  <a:txBody>
                    <a:bodyPr/>
                    <a:lstStyle/>
                    <a:p>
                      <a:pPr algn="ctr">
                        <a:spcAft>
                          <a:spcPts val="0"/>
                        </a:spcAft>
                      </a:pPr>
                      <a:r>
                        <a:rPr lang="en-US" sz="1400" kern="100" dirty="0">
                          <a:effectLst/>
                        </a:rPr>
                        <a:t>7</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Divorced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220K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8"/>
                  </a:ext>
                </a:extLst>
              </a:tr>
              <a:tr h="274320">
                <a:tc>
                  <a:txBody>
                    <a:bodyPr/>
                    <a:lstStyle/>
                    <a:p>
                      <a:pPr algn="ctr">
                        <a:spcAft>
                          <a:spcPts val="0"/>
                        </a:spcAft>
                      </a:pPr>
                      <a:r>
                        <a:rPr lang="en-US" sz="1400" kern="100" dirty="0">
                          <a:effectLst/>
                        </a:rPr>
                        <a:t>8</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85K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9"/>
                  </a:ext>
                </a:extLst>
              </a:tr>
              <a:tr h="274320">
                <a:tc>
                  <a:txBody>
                    <a:bodyPr/>
                    <a:lstStyle/>
                    <a:p>
                      <a:pPr algn="ctr">
                        <a:spcAft>
                          <a:spcPts val="0"/>
                        </a:spcAft>
                      </a:pPr>
                      <a:r>
                        <a:rPr lang="en-US" sz="1400" kern="100" dirty="0">
                          <a:effectLst/>
                        </a:rPr>
                        <a:t>9</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75K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10"/>
                  </a:ext>
                </a:extLst>
              </a:tr>
              <a:tr h="274320">
                <a:tc>
                  <a:txBody>
                    <a:bodyPr/>
                    <a:lstStyle/>
                    <a:p>
                      <a:pPr algn="ctr">
                        <a:spcAft>
                          <a:spcPts val="0"/>
                        </a:spcAft>
                      </a:pPr>
                      <a:r>
                        <a:rPr lang="en-US" sz="1400" kern="100" dirty="0">
                          <a:effectLst/>
                        </a:rPr>
                        <a:t>10</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90K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11"/>
                  </a:ext>
                </a:extLst>
              </a:tr>
            </a:tbl>
          </a:graphicData>
        </a:graphic>
      </p:graphicFrame>
      <p:sp>
        <p:nvSpPr>
          <p:cNvPr id="8" name="下箭头 7"/>
          <p:cNvSpPr/>
          <p:nvPr/>
        </p:nvSpPr>
        <p:spPr>
          <a:xfrm>
            <a:off x="2051723" y="2392085"/>
            <a:ext cx="288031" cy="194422"/>
          </a:xfrm>
          <a:prstGeom prst="down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dirty="0">
              <a:ea typeface="华文细黑" pitchFamily="2" charset="-122"/>
            </a:endParaRPr>
          </a:p>
        </p:txBody>
      </p:sp>
      <p:graphicFrame>
        <p:nvGraphicFramePr>
          <p:cNvPr id="3" name="表格 2"/>
          <p:cNvGraphicFramePr>
            <a:graphicFrameLocks noGrp="1"/>
          </p:cNvGraphicFramePr>
          <p:nvPr/>
        </p:nvGraphicFramePr>
        <p:xfrm>
          <a:off x="35496" y="2639250"/>
          <a:ext cx="4496400" cy="3013208"/>
        </p:xfrm>
        <a:graphic>
          <a:graphicData uri="http://schemas.openxmlformats.org/drawingml/2006/table">
            <a:tbl>
              <a:tblPr firstRow="1" firstCol="1" bandRow="1" bandCol="1">
                <a:tableStyleId>{5C22544A-7EE6-4342-B048-85BDC9FD1C3A}</a:tableStyleId>
              </a:tblPr>
              <a:tblGrid>
                <a:gridCol w="548704">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858258">
                  <a:extLst>
                    <a:ext uri="{9D8B030D-6E8A-4147-A177-3AD203B41FA5}">
                      <a16:colId xmlns:a16="http://schemas.microsoft.com/office/drawing/2014/main" val="20003"/>
                    </a:ext>
                  </a:extLst>
                </a:gridCol>
                <a:gridCol w="765338">
                  <a:extLst>
                    <a:ext uri="{9D8B030D-6E8A-4147-A177-3AD203B41FA5}">
                      <a16:colId xmlns:a16="http://schemas.microsoft.com/office/drawing/2014/main" val="20004"/>
                    </a:ext>
                  </a:extLst>
                </a:gridCol>
              </a:tblGrid>
              <a:tr h="273928">
                <a:tc>
                  <a:txBody>
                    <a:bodyPr/>
                    <a:lstStyle/>
                    <a:p>
                      <a:pPr indent="-34290" algn="ctr">
                        <a:spcAft>
                          <a:spcPts val="0"/>
                        </a:spcAft>
                      </a:pPr>
                      <a:r>
                        <a:rPr lang="en-US" sz="1400" kern="100" dirty="0" err="1">
                          <a:solidFill>
                            <a:schemeClr val="bg1"/>
                          </a:solidFill>
                          <a:effectLst/>
                        </a:rPr>
                        <a:t>Tid</a:t>
                      </a:r>
                      <a:endParaRPr lang="zh-CN" sz="1400" kern="100" dirty="0">
                        <a:solidFill>
                          <a:schemeClr val="bg1"/>
                        </a:solidFill>
                        <a:effectLst/>
                        <a:latin typeface="Times New Roman"/>
                        <a:ea typeface="华文细黑" pitchFamily="2" charset="-122"/>
                        <a:cs typeface="Times New Roman"/>
                      </a:endParaRPr>
                    </a:p>
                  </a:txBody>
                  <a:tcPr marL="68580" marR="68580" marT="0" marB="0"/>
                </a:tc>
                <a:tc>
                  <a:txBody>
                    <a:bodyPr/>
                    <a:lstStyle/>
                    <a:p>
                      <a:pPr indent="-34290" algn="ctr">
                        <a:spcAft>
                          <a:spcPts val="0"/>
                        </a:spcAft>
                      </a:pPr>
                      <a:r>
                        <a:rPr lang="en-US" sz="1400" kern="100" dirty="0">
                          <a:solidFill>
                            <a:schemeClr val="tx1"/>
                          </a:solidFill>
                          <a:effectLst/>
                        </a:rPr>
                        <a:t>Refund</a:t>
                      </a:r>
                      <a:endParaRPr lang="zh-CN" sz="1400" kern="100" dirty="0">
                        <a:solidFill>
                          <a:schemeClr val="tx1"/>
                        </a:solidFill>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err="1">
                          <a:solidFill>
                            <a:schemeClr val="tx1"/>
                          </a:solidFill>
                          <a:effectLst/>
                        </a:rPr>
                        <a:t>MaritalStatus</a:t>
                      </a:r>
                      <a:endParaRPr lang="zh-CN" sz="1400" kern="100" dirty="0">
                        <a:solidFill>
                          <a:schemeClr val="tx1"/>
                        </a:solidFill>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solidFill>
                            <a:schemeClr val="tx1"/>
                          </a:solidFill>
                          <a:effectLst/>
                        </a:rPr>
                        <a:t>Income</a:t>
                      </a:r>
                      <a:endParaRPr lang="zh-CN" sz="1400" kern="100" dirty="0">
                        <a:solidFill>
                          <a:schemeClr val="tx1"/>
                        </a:solidFill>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solidFill>
                            <a:schemeClr val="tx1"/>
                          </a:solidFill>
                          <a:effectLst/>
                        </a:rPr>
                        <a:t>Cheat</a:t>
                      </a:r>
                      <a:endParaRPr lang="zh-CN" sz="1400" kern="100" dirty="0">
                        <a:solidFill>
                          <a:schemeClr val="tx1"/>
                        </a:solidFill>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0"/>
                  </a:ext>
                </a:extLst>
              </a:tr>
              <a:tr h="273928">
                <a:tc>
                  <a:txBody>
                    <a:bodyPr/>
                    <a:lstStyle/>
                    <a:p>
                      <a:pPr algn="ctr">
                        <a:spcAft>
                          <a:spcPts val="0"/>
                        </a:spcAft>
                      </a:pPr>
                      <a:r>
                        <a:rPr lang="en-US" sz="1400" kern="100" dirty="0">
                          <a:solidFill>
                            <a:schemeClr val="tx1"/>
                          </a:solidFill>
                          <a:effectLst/>
                        </a:rPr>
                        <a:t>1</a:t>
                      </a:r>
                      <a:endParaRPr lang="zh-CN" sz="1400" kern="100" dirty="0">
                        <a:solidFill>
                          <a:schemeClr val="tx1"/>
                        </a:solidFill>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125K</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extLst>
                  <a:ext uri="{0D108BD9-81ED-4DB2-BD59-A6C34878D82A}">
                    <a16:rowId xmlns:a16="http://schemas.microsoft.com/office/drawing/2014/main" val="10001"/>
                  </a:ext>
                </a:extLst>
              </a:tr>
              <a:tr h="273928">
                <a:tc>
                  <a:txBody>
                    <a:bodyPr/>
                    <a:lstStyle/>
                    <a:p>
                      <a:pPr algn="ctr">
                        <a:spcAft>
                          <a:spcPts val="0"/>
                        </a:spcAft>
                      </a:pPr>
                      <a:r>
                        <a:rPr lang="en-US" sz="1400" kern="100" dirty="0">
                          <a:solidFill>
                            <a:schemeClr val="tx1"/>
                          </a:solidFill>
                          <a:effectLst/>
                        </a:rPr>
                        <a:t>4</a:t>
                      </a:r>
                      <a:endParaRPr lang="zh-CN" sz="1400" kern="100" dirty="0">
                        <a:solidFill>
                          <a:schemeClr val="tx1"/>
                        </a:solidFill>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120K</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extLst>
                  <a:ext uri="{0D108BD9-81ED-4DB2-BD59-A6C34878D82A}">
                    <a16:rowId xmlns:a16="http://schemas.microsoft.com/office/drawing/2014/main" val="10002"/>
                  </a:ext>
                </a:extLst>
              </a:tr>
              <a:tr h="273928">
                <a:tc>
                  <a:txBody>
                    <a:bodyPr/>
                    <a:lstStyle/>
                    <a:p>
                      <a:pPr algn="ctr">
                        <a:spcAft>
                          <a:spcPts val="0"/>
                        </a:spcAft>
                      </a:pPr>
                      <a:r>
                        <a:rPr lang="en-US" sz="1400" kern="100" dirty="0">
                          <a:solidFill>
                            <a:schemeClr val="tx1"/>
                          </a:solidFill>
                          <a:effectLst/>
                        </a:rPr>
                        <a:t>7</a:t>
                      </a:r>
                      <a:endParaRPr lang="zh-CN" sz="1400" kern="100" dirty="0">
                        <a:solidFill>
                          <a:schemeClr val="tx1"/>
                        </a:solidFill>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Divorced</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220K</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extLst>
                  <a:ext uri="{0D108BD9-81ED-4DB2-BD59-A6C34878D82A}">
                    <a16:rowId xmlns:a16="http://schemas.microsoft.com/office/drawing/2014/main" val="10003"/>
                  </a:ext>
                </a:extLst>
              </a:tr>
              <a:tr h="273928">
                <a:tc>
                  <a:txBody>
                    <a:bodyPr/>
                    <a:lstStyle/>
                    <a:p>
                      <a:pPr algn="ctr">
                        <a:spcAft>
                          <a:spcPts val="0"/>
                        </a:spcAft>
                      </a:pPr>
                      <a:r>
                        <a:rPr lang="en-US" sz="1400" kern="100" dirty="0">
                          <a:effectLst/>
                        </a:rPr>
                        <a:t>2</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100</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4"/>
                  </a:ext>
                </a:extLst>
              </a:tr>
              <a:tr h="273928">
                <a:tc>
                  <a:txBody>
                    <a:bodyPr/>
                    <a:lstStyle/>
                    <a:p>
                      <a:pPr algn="ctr">
                        <a:spcAft>
                          <a:spcPts val="0"/>
                        </a:spcAft>
                      </a:pPr>
                      <a:r>
                        <a:rPr lang="en-US" sz="1400" kern="100" dirty="0">
                          <a:effectLst/>
                        </a:rPr>
                        <a:t>3</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70K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5"/>
                  </a:ext>
                </a:extLst>
              </a:tr>
              <a:tr h="273928">
                <a:tc>
                  <a:txBody>
                    <a:bodyPr/>
                    <a:lstStyle/>
                    <a:p>
                      <a:pPr algn="ctr">
                        <a:spcAft>
                          <a:spcPts val="0"/>
                        </a:spcAft>
                      </a:pPr>
                      <a:r>
                        <a:rPr lang="en-US" sz="1400" kern="100" dirty="0">
                          <a:effectLst/>
                        </a:rPr>
                        <a:t>5</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Divorced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95K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6"/>
                  </a:ext>
                </a:extLst>
              </a:tr>
              <a:tr h="273928">
                <a:tc>
                  <a:txBody>
                    <a:bodyPr/>
                    <a:lstStyle/>
                    <a:p>
                      <a:pPr algn="ctr">
                        <a:spcAft>
                          <a:spcPts val="0"/>
                        </a:spcAft>
                      </a:pPr>
                      <a:r>
                        <a:rPr lang="en-US" sz="1400" kern="100" dirty="0">
                          <a:effectLst/>
                        </a:rPr>
                        <a:t>6</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60K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7"/>
                  </a:ext>
                </a:extLst>
              </a:tr>
              <a:tr h="273928">
                <a:tc>
                  <a:txBody>
                    <a:bodyPr/>
                    <a:lstStyle/>
                    <a:p>
                      <a:pPr algn="ctr">
                        <a:spcAft>
                          <a:spcPts val="0"/>
                        </a:spcAft>
                      </a:pPr>
                      <a:r>
                        <a:rPr lang="en-US" sz="1400" kern="100" dirty="0">
                          <a:effectLst/>
                        </a:rPr>
                        <a:t>8</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85K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8"/>
                  </a:ext>
                </a:extLst>
              </a:tr>
              <a:tr h="273928">
                <a:tc>
                  <a:txBody>
                    <a:bodyPr/>
                    <a:lstStyle/>
                    <a:p>
                      <a:pPr algn="ctr">
                        <a:spcAft>
                          <a:spcPts val="0"/>
                        </a:spcAft>
                      </a:pPr>
                      <a:r>
                        <a:rPr lang="en-US" sz="1400" kern="100" dirty="0">
                          <a:effectLst/>
                        </a:rPr>
                        <a:t>9</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75K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9"/>
                  </a:ext>
                </a:extLst>
              </a:tr>
              <a:tr h="273928">
                <a:tc>
                  <a:txBody>
                    <a:bodyPr/>
                    <a:lstStyle/>
                    <a:p>
                      <a:pPr algn="ctr">
                        <a:spcAft>
                          <a:spcPts val="0"/>
                        </a:spcAft>
                      </a:pPr>
                      <a:r>
                        <a:rPr lang="en-US" sz="1400" kern="100" dirty="0">
                          <a:effectLst/>
                        </a:rPr>
                        <a:t>10</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90K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10"/>
                  </a:ext>
                </a:extLst>
              </a:tr>
            </a:tbl>
          </a:graphicData>
        </a:graphic>
      </p:graphicFrame>
      <p:graphicFrame>
        <p:nvGraphicFramePr>
          <p:cNvPr id="15" name="表格 14"/>
          <p:cNvGraphicFramePr>
            <a:graphicFrameLocks noGrp="1"/>
          </p:cNvGraphicFramePr>
          <p:nvPr/>
        </p:nvGraphicFramePr>
        <p:xfrm>
          <a:off x="36002" y="2639250"/>
          <a:ext cx="4496399" cy="3013208"/>
        </p:xfrm>
        <a:graphic>
          <a:graphicData uri="http://schemas.openxmlformats.org/drawingml/2006/table">
            <a:tbl>
              <a:tblPr firstRow="1" firstCol="1" bandRow="1" bandCol="1">
                <a:tableStyleId>{5C22544A-7EE6-4342-B048-85BDC9FD1C3A}</a:tableStyleId>
              </a:tblPr>
              <a:tblGrid>
                <a:gridCol w="542984">
                  <a:extLst>
                    <a:ext uri="{9D8B030D-6E8A-4147-A177-3AD203B41FA5}">
                      <a16:colId xmlns:a16="http://schemas.microsoft.com/office/drawing/2014/main" val="20000"/>
                    </a:ext>
                  </a:extLst>
                </a:gridCol>
                <a:gridCol w="880226">
                  <a:extLst>
                    <a:ext uri="{9D8B030D-6E8A-4147-A177-3AD203B41FA5}">
                      <a16:colId xmlns:a16="http://schemas.microsoft.com/office/drawing/2014/main" val="20001"/>
                    </a:ext>
                  </a:extLst>
                </a:gridCol>
                <a:gridCol w="1443253">
                  <a:extLst>
                    <a:ext uri="{9D8B030D-6E8A-4147-A177-3AD203B41FA5}">
                      <a16:colId xmlns:a16="http://schemas.microsoft.com/office/drawing/2014/main" val="20002"/>
                    </a:ext>
                  </a:extLst>
                </a:gridCol>
                <a:gridCol w="864598">
                  <a:extLst>
                    <a:ext uri="{9D8B030D-6E8A-4147-A177-3AD203B41FA5}">
                      <a16:colId xmlns:a16="http://schemas.microsoft.com/office/drawing/2014/main" val="20003"/>
                    </a:ext>
                  </a:extLst>
                </a:gridCol>
                <a:gridCol w="765338">
                  <a:extLst>
                    <a:ext uri="{9D8B030D-6E8A-4147-A177-3AD203B41FA5}">
                      <a16:colId xmlns:a16="http://schemas.microsoft.com/office/drawing/2014/main" val="20004"/>
                    </a:ext>
                  </a:extLst>
                </a:gridCol>
              </a:tblGrid>
              <a:tr h="273928">
                <a:tc>
                  <a:txBody>
                    <a:bodyPr/>
                    <a:lstStyle/>
                    <a:p>
                      <a:pPr indent="-34290" algn="ctr">
                        <a:spcAft>
                          <a:spcPts val="0"/>
                        </a:spcAft>
                      </a:pPr>
                      <a:r>
                        <a:rPr lang="en-US" sz="1400" kern="100" dirty="0" err="1">
                          <a:effectLst/>
                        </a:rPr>
                        <a:t>Tid</a:t>
                      </a:r>
                      <a:endParaRPr lang="zh-CN" sz="1400" kern="100" dirty="0">
                        <a:effectLst/>
                        <a:latin typeface="Times New Roman"/>
                        <a:ea typeface="华文细黑" pitchFamily="2" charset="-122"/>
                        <a:cs typeface="Times New Roman"/>
                      </a:endParaRPr>
                    </a:p>
                  </a:txBody>
                  <a:tcPr marL="68580" marR="68580" marT="0" marB="0"/>
                </a:tc>
                <a:tc>
                  <a:txBody>
                    <a:bodyPr/>
                    <a:lstStyle/>
                    <a:p>
                      <a:pPr indent="-34290" algn="ctr">
                        <a:spcAft>
                          <a:spcPts val="0"/>
                        </a:spcAft>
                      </a:pPr>
                      <a:r>
                        <a:rPr lang="en-US" sz="1400" kern="100" dirty="0">
                          <a:solidFill>
                            <a:schemeClr val="tx1"/>
                          </a:solidFill>
                          <a:effectLst/>
                        </a:rPr>
                        <a:t>Refund</a:t>
                      </a:r>
                      <a:endParaRPr lang="zh-CN" sz="1400" kern="100" dirty="0">
                        <a:solidFill>
                          <a:schemeClr val="tx1"/>
                        </a:solidFill>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err="1">
                          <a:solidFill>
                            <a:schemeClr val="tx1"/>
                          </a:solidFill>
                          <a:effectLst/>
                        </a:rPr>
                        <a:t>MaritalStatus</a:t>
                      </a:r>
                      <a:endParaRPr lang="zh-CN" sz="1400" kern="100" dirty="0">
                        <a:solidFill>
                          <a:schemeClr val="tx1"/>
                        </a:solidFill>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solidFill>
                            <a:schemeClr val="tx1"/>
                          </a:solidFill>
                          <a:effectLst/>
                        </a:rPr>
                        <a:t>Income</a:t>
                      </a:r>
                      <a:endParaRPr lang="zh-CN" sz="1400" kern="100" dirty="0">
                        <a:solidFill>
                          <a:schemeClr val="tx1"/>
                        </a:solidFill>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solidFill>
                            <a:schemeClr val="tx1"/>
                          </a:solidFill>
                          <a:effectLst/>
                        </a:rPr>
                        <a:t>Cheat</a:t>
                      </a:r>
                      <a:endParaRPr lang="zh-CN" sz="1400" kern="100" dirty="0">
                        <a:solidFill>
                          <a:schemeClr val="tx1"/>
                        </a:solidFill>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0"/>
                  </a:ext>
                </a:extLst>
              </a:tr>
              <a:tr h="273928">
                <a:tc>
                  <a:txBody>
                    <a:bodyPr/>
                    <a:lstStyle/>
                    <a:p>
                      <a:pPr algn="ctr">
                        <a:spcAft>
                          <a:spcPts val="0"/>
                        </a:spcAft>
                      </a:pPr>
                      <a:r>
                        <a:rPr lang="en-US" sz="1400" kern="100" dirty="0">
                          <a:solidFill>
                            <a:schemeClr val="tx1"/>
                          </a:solidFill>
                          <a:effectLst/>
                        </a:rPr>
                        <a:t>1</a:t>
                      </a:r>
                      <a:endParaRPr lang="zh-CN" sz="1400" kern="100" dirty="0">
                        <a:solidFill>
                          <a:schemeClr val="tx1"/>
                        </a:solidFill>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125K</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extLst>
                  <a:ext uri="{0D108BD9-81ED-4DB2-BD59-A6C34878D82A}">
                    <a16:rowId xmlns:a16="http://schemas.microsoft.com/office/drawing/2014/main" val="10001"/>
                  </a:ext>
                </a:extLst>
              </a:tr>
              <a:tr h="273928">
                <a:tc>
                  <a:txBody>
                    <a:bodyPr/>
                    <a:lstStyle/>
                    <a:p>
                      <a:pPr algn="ctr">
                        <a:spcAft>
                          <a:spcPts val="0"/>
                        </a:spcAft>
                      </a:pPr>
                      <a:r>
                        <a:rPr lang="en-US" sz="1400" kern="100" dirty="0">
                          <a:solidFill>
                            <a:schemeClr val="tx1"/>
                          </a:solidFill>
                          <a:effectLst/>
                        </a:rPr>
                        <a:t>4</a:t>
                      </a:r>
                      <a:endParaRPr lang="zh-CN" sz="1400" kern="100" dirty="0">
                        <a:solidFill>
                          <a:schemeClr val="tx1"/>
                        </a:solidFill>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120K</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extLst>
                  <a:ext uri="{0D108BD9-81ED-4DB2-BD59-A6C34878D82A}">
                    <a16:rowId xmlns:a16="http://schemas.microsoft.com/office/drawing/2014/main" val="10002"/>
                  </a:ext>
                </a:extLst>
              </a:tr>
              <a:tr h="273928">
                <a:tc>
                  <a:txBody>
                    <a:bodyPr/>
                    <a:lstStyle/>
                    <a:p>
                      <a:pPr algn="ctr">
                        <a:spcAft>
                          <a:spcPts val="0"/>
                        </a:spcAft>
                      </a:pPr>
                      <a:r>
                        <a:rPr lang="en-US" sz="1400" kern="100" dirty="0">
                          <a:solidFill>
                            <a:schemeClr val="tx1"/>
                          </a:solidFill>
                          <a:effectLst/>
                        </a:rPr>
                        <a:t>7</a:t>
                      </a:r>
                      <a:endParaRPr lang="zh-CN" sz="1400" kern="100" dirty="0">
                        <a:solidFill>
                          <a:schemeClr val="tx1"/>
                        </a:solidFill>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Divorced</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220K</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extLst>
                  <a:ext uri="{0D108BD9-81ED-4DB2-BD59-A6C34878D82A}">
                    <a16:rowId xmlns:a16="http://schemas.microsoft.com/office/drawing/2014/main" val="10003"/>
                  </a:ext>
                </a:extLst>
              </a:tr>
              <a:tr h="273928">
                <a:tc>
                  <a:txBody>
                    <a:bodyPr/>
                    <a:lstStyle/>
                    <a:p>
                      <a:pPr algn="ctr">
                        <a:spcAft>
                          <a:spcPts val="0"/>
                        </a:spcAft>
                      </a:pPr>
                      <a:r>
                        <a:rPr lang="en-US" sz="1400" kern="100" dirty="0">
                          <a:effectLst/>
                        </a:rPr>
                        <a:t>2</a:t>
                      </a:r>
                      <a:endParaRPr lang="zh-CN" sz="1400" kern="100" dirty="0">
                        <a:effectLst/>
                        <a:latin typeface="Times New Roman"/>
                        <a:ea typeface="华文细黑" pitchFamily="2" charset="-122"/>
                        <a:cs typeface="Times New Roman"/>
                      </a:endParaRPr>
                    </a:p>
                  </a:txBody>
                  <a:tcPr marL="68580" marR="68580" marT="0" marB="0">
                    <a:solidFill>
                      <a:schemeClr val="accent5">
                        <a:lumMod val="20000"/>
                        <a:lumOff val="80000"/>
                      </a:schemeClr>
                    </a:solidFill>
                  </a:tcPr>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solidFill>
                      <a:schemeClr val="accent5">
                        <a:lumMod val="20000"/>
                        <a:lumOff val="80000"/>
                      </a:schemeClr>
                    </a:solidFill>
                  </a:tcPr>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solidFill>
                      <a:schemeClr val="accent5">
                        <a:lumMod val="20000"/>
                        <a:lumOff val="80000"/>
                      </a:schemeClr>
                    </a:solidFill>
                  </a:tcPr>
                </a:tc>
                <a:tc>
                  <a:txBody>
                    <a:bodyPr/>
                    <a:lstStyle/>
                    <a:p>
                      <a:pPr algn="ctr">
                        <a:spcAft>
                          <a:spcPts val="0"/>
                        </a:spcAft>
                      </a:pPr>
                      <a:r>
                        <a:rPr lang="en-US" sz="1400" kern="100" dirty="0">
                          <a:effectLst/>
                        </a:rPr>
                        <a:t>100</a:t>
                      </a:r>
                      <a:endParaRPr lang="zh-CN" sz="1400" kern="100" dirty="0">
                        <a:effectLst/>
                        <a:latin typeface="Times New Roman"/>
                        <a:ea typeface="华文细黑" pitchFamily="2" charset="-122"/>
                        <a:cs typeface="Times New Roman"/>
                      </a:endParaRPr>
                    </a:p>
                  </a:txBody>
                  <a:tcPr marL="68580" marR="68580" marT="0" marB="0">
                    <a:solidFill>
                      <a:schemeClr val="accent5">
                        <a:lumMod val="20000"/>
                        <a:lumOff val="80000"/>
                      </a:schemeClr>
                    </a:solidFill>
                  </a:tcPr>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solidFill>
                      <a:schemeClr val="accent5">
                        <a:lumMod val="20000"/>
                        <a:lumOff val="80000"/>
                      </a:schemeClr>
                    </a:solidFill>
                  </a:tcPr>
                </a:tc>
                <a:extLst>
                  <a:ext uri="{0D108BD9-81ED-4DB2-BD59-A6C34878D82A}">
                    <a16:rowId xmlns:a16="http://schemas.microsoft.com/office/drawing/2014/main" val="10004"/>
                  </a:ext>
                </a:extLst>
              </a:tr>
              <a:tr h="273928">
                <a:tc>
                  <a:txBody>
                    <a:bodyPr/>
                    <a:lstStyle/>
                    <a:p>
                      <a:pPr algn="ctr">
                        <a:spcAft>
                          <a:spcPts val="0"/>
                        </a:spcAft>
                      </a:pPr>
                      <a:r>
                        <a:rPr lang="en-US" sz="1400" kern="100" dirty="0">
                          <a:effectLst/>
                        </a:rPr>
                        <a:t>6</a:t>
                      </a:r>
                      <a:endParaRPr lang="zh-CN" sz="1400" kern="100" dirty="0">
                        <a:effectLst/>
                        <a:latin typeface="Times New Roman"/>
                        <a:ea typeface="华文细黑" pitchFamily="2" charset="-122"/>
                        <a:cs typeface="Times New Roman"/>
                      </a:endParaRPr>
                    </a:p>
                  </a:txBody>
                  <a:tcPr marL="68580" marR="68580" marT="0" marB="0">
                    <a:solidFill>
                      <a:schemeClr val="accent5">
                        <a:lumMod val="20000"/>
                        <a:lumOff val="80000"/>
                      </a:schemeClr>
                    </a:solidFill>
                  </a:tcPr>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solidFill>
                      <a:schemeClr val="accent5">
                        <a:lumMod val="20000"/>
                        <a:lumOff val="80000"/>
                      </a:schemeClr>
                    </a:solidFill>
                  </a:tcPr>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solidFill>
                      <a:schemeClr val="accent5">
                        <a:lumMod val="20000"/>
                        <a:lumOff val="80000"/>
                      </a:schemeClr>
                    </a:solidFill>
                  </a:tcPr>
                </a:tc>
                <a:tc>
                  <a:txBody>
                    <a:bodyPr/>
                    <a:lstStyle/>
                    <a:p>
                      <a:pPr algn="ctr">
                        <a:spcAft>
                          <a:spcPts val="0"/>
                        </a:spcAft>
                      </a:pPr>
                      <a:r>
                        <a:rPr lang="en-US" sz="1400" kern="100" dirty="0">
                          <a:effectLst/>
                        </a:rPr>
                        <a:t>60K</a:t>
                      </a:r>
                      <a:endParaRPr lang="zh-CN" sz="1400" kern="100" dirty="0">
                        <a:effectLst/>
                        <a:latin typeface="Times New Roman"/>
                        <a:ea typeface="华文细黑" pitchFamily="2" charset="-122"/>
                        <a:cs typeface="Times New Roman"/>
                      </a:endParaRPr>
                    </a:p>
                  </a:txBody>
                  <a:tcPr marL="68580" marR="68580" marT="0" marB="0">
                    <a:solidFill>
                      <a:schemeClr val="accent5">
                        <a:lumMod val="20000"/>
                        <a:lumOff val="80000"/>
                      </a:schemeClr>
                    </a:solidFill>
                  </a:tcPr>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solidFill>
                      <a:schemeClr val="accent5">
                        <a:lumMod val="20000"/>
                        <a:lumOff val="80000"/>
                      </a:schemeClr>
                    </a:solidFill>
                  </a:tcPr>
                </a:tc>
                <a:extLst>
                  <a:ext uri="{0D108BD9-81ED-4DB2-BD59-A6C34878D82A}">
                    <a16:rowId xmlns:a16="http://schemas.microsoft.com/office/drawing/2014/main" val="10005"/>
                  </a:ext>
                </a:extLst>
              </a:tr>
              <a:tr h="273928">
                <a:tc>
                  <a:txBody>
                    <a:bodyPr/>
                    <a:lstStyle/>
                    <a:p>
                      <a:pPr algn="ctr">
                        <a:spcAft>
                          <a:spcPts val="0"/>
                        </a:spcAft>
                      </a:pPr>
                      <a:r>
                        <a:rPr lang="en-US" sz="1400" kern="100" dirty="0">
                          <a:effectLst/>
                        </a:rPr>
                        <a:t>9</a:t>
                      </a:r>
                      <a:endParaRPr lang="zh-CN" sz="1400" kern="100" dirty="0">
                        <a:effectLst/>
                        <a:latin typeface="Times New Roman"/>
                        <a:ea typeface="华文细黑" pitchFamily="2" charset="-122"/>
                        <a:cs typeface="Times New Roman"/>
                      </a:endParaRPr>
                    </a:p>
                  </a:txBody>
                  <a:tcPr marL="68580" marR="68580" marT="0" marB="0">
                    <a:solidFill>
                      <a:schemeClr val="accent5">
                        <a:lumMod val="20000"/>
                        <a:lumOff val="80000"/>
                      </a:schemeClr>
                    </a:solidFill>
                  </a:tcPr>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solidFill>
                      <a:schemeClr val="accent5">
                        <a:lumMod val="20000"/>
                        <a:lumOff val="80000"/>
                      </a:schemeClr>
                    </a:solidFill>
                  </a:tcPr>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solidFill>
                      <a:schemeClr val="accent5">
                        <a:lumMod val="20000"/>
                        <a:lumOff val="80000"/>
                      </a:schemeClr>
                    </a:solidFill>
                  </a:tcPr>
                </a:tc>
                <a:tc>
                  <a:txBody>
                    <a:bodyPr/>
                    <a:lstStyle/>
                    <a:p>
                      <a:pPr algn="ctr">
                        <a:spcAft>
                          <a:spcPts val="0"/>
                        </a:spcAft>
                      </a:pPr>
                      <a:r>
                        <a:rPr lang="en-US" sz="1400" kern="100" dirty="0">
                          <a:effectLst/>
                        </a:rPr>
                        <a:t>75K</a:t>
                      </a:r>
                      <a:endParaRPr lang="zh-CN" sz="1400" kern="100" dirty="0">
                        <a:effectLst/>
                        <a:latin typeface="Times New Roman"/>
                        <a:ea typeface="华文细黑" pitchFamily="2" charset="-122"/>
                        <a:cs typeface="Times New Roman"/>
                      </a:endParaRPr>
                    </a:p>
                  </a:txBody>
                  <a:tcPr marL="68580" marR="68580" marT="0" marB="0">
                    <a:solidFill>
                      <a:schemeClr val="accent5">
                        <a:lumMod val="20000"/>
                        <a:lumOff val="80000"/>
                      </a:schemeClr>
                    </a:solidFill>
                  </a:tcPr>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solidFill>
                      <a:schemeClr val="accent5">
                        <a:lumMod val="20000"/>
                        <a:lumOff val="80000"/>
                      </a:schemeClr>
                    </a:solidFill>
                  </a:tcPr>
                </a:tc>
                <a:extLst>
                  <a:ext uri="{0D108BD9-81ED-4DB2-BD59-A6C34878D82A}">
                    <a16:rowId xmlns:a16="http://schemas.microsoft.com/office/drawing/2014/main" val="10006"/>
                  </a:ext>
                </a:extLst>
              </a:tr>
              <a:tr h="273928">
                <a:tc>
                  <a:txBody>
                    <a:bodyPr/>
                    <a:lstStyle/>
                    <a:p>
                      <a:pPr algn="ctr">
                        <a:spcAft>
                          <a:spcPts val="0"/>
                        </a:spcAft>
                      </a:pPr>
                      <a:r>
                        <a:rPr lang="en-US" sz="1400" kern="100" dirty="0">
                          <a:effectLst/>
                        </a:rPr>
                        <a:t>3</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70K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7"/>
                  </a:ext>
                </a:extLst>
              </a:tr>
              <a:tr h="273928">
                <a:tc>
                  <a:txBody>
                    <a:bodyPr/>
                    <a:lstStyle/>
                    <a:p>
                      <a:pPr algn="ctr">
                        <a:spcAft>
                          <a:spcPts val="0"/>
                        </a:spcAft>
                      </a:pPr>
                      <a:r>
                        <a:rPr lang="en-US" sz="1400" kern="100" dirty="0">
                          <a:effectLst/>
                        </a:rPr>
                        <a:t>5</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Divorced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95K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8"/>
                  </a:ext>
                </a:extLst>
              </a:tr>
              <a:tr h="273928">
                <a:tc>
                  <a:txBody>
                    <a:bodyPr/>
                    <a:lstStyle/>
                    <a:p>
                      <a:pPr algn="ctr">
                        <a:spcAft>
                          <a:spcPts val="0"/>
                        </a:spcAft>
                      </a:pPr>
                      <a:r>
                        <a:rPr lang="en-US" sz="1400" kern="100" dirty="0">
                          <a:effectLst/>
                        </a:rPr>
                        <a:t>8</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85K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9"/>
                  </a:ext>
                </a:extLst>
              </a:tr>
              <a:tr h="273928">
                <a:tc>
                  <a:txBody>
                    <a:bodyPr/>
                    <a:lstStyle/>
                    <a:p>
                      <a:pPr algn="ctr">
                        <a:spcAft>
                          <a:spcPts val="0"/>
                        </a:spcAft>
                      </a:pPr>
                      <a:r>
                        <a:rPr lang="en-US" sz="1400" kern="100" dirty="0">
                          <a:effectLst/>
                        </a:rPr>
                        <a:t>10</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90K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10"/>
                  </a:ext>
                </a:extLst>
              </a:tr>
            </a:tbl>
          </a:graphicData>
        </a:graphic>
      </p:graphicFrame>
      <p:sp>
        <p:nvSpPr>
          <p:cNvPr id="17" name="Text Box 26"/>
          <p:cNvSpPr txBox="1">
            <a:spLocks noChangeArrowheads="1"/>
          </p:cNvSpPr>
          <p:nvPr/>
        </p:nvSpPr>
        <p:spPr bwMode="auto">
          <a:xfrm>
            <a:off x="8032000" y="3686929"/>
            <a:ext cx="600137" cy="236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altLang="zh-CN" sz="1200" dirty="0">
                <a:solidFill>
                  <a:srgbClr val="000000"/>
                </a:solidFill>
                <a:latin typeface="Times New Roman"/>
                <a:ea typeface="华文细黑" pitchFamily="2" charset="-122"/>
                <a:cs typeface="宋体"/>
              </a:rPr>
              <a:t>Married</a:t>
            </a:r>
            <a:endParaRPr lang="zh-CN" altLang="en-US" sz="2000" dirty="0">
              <a:latin typeface="华文细黑" pitchFamily="2" charset="-122"/>
              <a:ea typeface="华文细黑" pitchFamily="2" charset="-122"/>
              <a:cs typeface="宋体"/>
            </a:endParaRPr>
          </a:p>
        </p:txBody>
      </p:sp>
      <p:sp>
        <p:nvSpPr>
          <p:cNvPr id="18" name="椭圆 17"/>
          <p:cNvSpPr/>
          <p:nvPr/>
        </p:nvSpPr>
        <p:spPr>
          <a:xfrm>
            <a:off x="6840000" y="3146621"/>
            <a:ext cx="1080000" cy="324000"/>
          </a:xfrm>
          <a:prstGeom prst="ellipse">
            <a:avLst/>
          </a:prstGeom>
          <a:solidFill>
            <a:schemeClr val="accent3">
              <a:lumMod val="20000"/>
              <a:lumOff val="80000"/>
            </a:schemeClr>
          </a:solidFill>
          <a:ln w="9525">
            <a:solidFill>
              <a:schemeClr val="accent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200" b="1" kern="100" dirty="0" err="1">
                <a:latin typeface="Times New Roman"/>
                <a:ea typeface="华文细黑" pitchFamily="2" charset="-122"/>
                <a:cs typeface="Times New Roman"/>
              </a:rPr>
              <a:t>MarSt</a:t>
            </a:r>
            <a:endParaRPr lang="zh-CN" altLang="en-US" sz="1400" kern="100" dirty="0">
              <a:latin typeface="Times New Roman"/>
              <a:ea typeface="华文细黑" pitchFamily="2" charset="-122"/>
              <a:cs typeface="Times New Roman"/>
            </a:endParaRPr>
          </a:p>
        </p:txBody>
      </p:sp>
      <p:sp>
        <p:nvSpPr>
          <p:cNvPr id="22" name="矩形 21"/>
          <p:cNvSpPr/>
          <p:nvPr/>
        </p:nvSpPr>
        <p:spPr>
          <a:xfrm>
            <a:off x="8080931" y="3707141"/>
            <a:ext cx="720000" cy="226800"/>
          </a:xfrm>
          <a:prstGeom prst="rect">
            <a:avLst/>
          </a:prstGeom>
          <a:solidFill>
            <a:schemeClr val="tx2">
              <a:lumMod val="20000"/>
              <a:lumOff val="80000"/>
            </a:schemeClr>
          </a:solidFill>
          <a:ln w="6350">
            <a:solidFill>
              <a:schemeClr val="tx2">
                <a:lumMod val="60000"/>
                <a:lumOff val="4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200" b="1" kern="100" dirty="0">
                <a:latin typeface="Times New Roman"/>
                <a:ea typeface="华文细黑" pitchFamily="2" charset="-122"/>
                <a:cs typeface="Times New Roman"/>
              </a:rPr>
              <a:t>no / 3</a:t>
            </a:r>
            <a:endParaRPr lang="zh-CN" altLang="en-US" sz="1400" kern="100" dirty="0">
              <a:latin typeface="Times New Roman"/>
              <a:ea typeface="华文细黑" pitchFamily="2" charset="-122"/>
              <a:cs typeface="Times New Roman"/>
            </a:endParaRPr>
          </a:p>
        </p:txBody>
      </p:sp>
      <p:sp>
        <p:nvSpPr>
          <p:cNvPr id="23" name="Text Box 26"/>
          <p:cNvSpPr txBox="1">
            <a:spLocks noChangeArrowheads="1"/>
          </p:cNvSpPr>
          <p:nvPr/>
        </p:nvSpPr>
        <p:spPr bwMode="auto">
          <a:xfrm>
            <a:off x="5838210" y="3515323"/>
            <a:ext cx="1109892" cy="236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altLang="zh-CN" sz="1200" dirty="0" err="1">
                <a:solidFill>
                  <a:srgbClr val="000000"/>
                </a:solidFill>
                <a:latin typeface="Times New Roman"/>
                <a:ea typeface="华文细黑" pitchFamily="2" charset="-122"/>
                <a:cs typeface="宋体"/>
              </a:rPr>
              <a:t>Single,Divorced</a:t>
            </a:r>
            <a:endParaRPr lang="zh-CN" altLang="en-US" sz="2000" dirty="0">
              <a:latin typeface="华文细黑" pitchFamily="2" charset="-122"/>
              <a:ea typeface="华文细黑" pitchFamily="2" charset="-122"/>
              <a:cs typeface="宋体"/>
            </a:endParaRPr>
          </a:p>
        </p:txBody>
      </p:sp>
      <p:cxnSp>
        <p:nvCxnSpPr>
          <p:cNvPr id="24" name="Line 14"/>
          <p:cNvCxnSpPr>
            <a:stCxn id="18" idx="4"/>
            <a:endCxn id="22" idx="0"/>
          </p:cNvCxnSpPr>
          <p:nvPr/>
        </p:nvCxnSpPr>
        <p:spPr bwMode="auto">
          <a:xfrm>
            <a:off x="7380002" y="3470621"/>
            <a:ext cx="1060931" cy="236520"/>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矩形 24"/>
          <p:cNvSpPr/>
          <p:nvPr/>
        </p:nvSpPr>
        <p:spPr>
          <a:xfrm>
            <a:off x="6132068" y="3831882"/>
            <a:ext cx="754035" cy="280786"/>
          </a:xfrm>
          <a:prstGeom prst="rect">
            <a:avLst/>
          </a:prstGeom>
          <a:noFill/>
          <a:ln w="6350">
            <a:no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600" b="1" kern="100" dirty="0">
                <a:latin typeface="Times New Roman"/>
                <a:ea typeface="华文细黑" pitchFamily="2" charset="-122"/>
                <a:cs typeface="Times New Roman"/>
              </a:rPr>
              <a:t>………</a:t>
            </a:r>
            <a:endParaRPr lang="zh-CN" altLang="en-US" kern="100" dirty="0">
              <a:latin typeface="Times New Roman"/>
              <a:ea typeface="华文细黑" pitchFamily="2" charset="-122"/>
              <a:cs typeface="Times New Roman"/>
            </a:endParaRPr>
          </a:p>
        </p:txBody>
      </p:sp>
      <p:cxnSp>
        <p:nvCxnSpPr>
          <p:cNvPr id="26" name="Line 14"/>
          <p:cNvCxnSpPr/>
          <p:nvPr/>
        </p:nvCxnSpPr>
        <p:spPr bwMode="auto">
          <a:xfrm flipH="1">
            <a:off x="6660000" y="3470620"/>
            <a:ext cx="720000" cy="324000"/>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Text Box 26"/>
          <p:cNvSpPr txBox="1">
            <a:spLocks noChangeArrowheads="1"/>
          </p:cNvSpPr>
          <p:nvPr/>
        </p:nvSpPr>
        <p:spPr bwMode="auto">
          <a:xfrm>
            <a:off x="8032000" y="3416380"/>
            <a:ext cx="600137" cy="236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altLang="zh-CN" sz="1200" dirty="0">
                <a:solidFill>
                  <a:srgbClr val="000000"/>
                </a:solidFill>
                <a:latin typeface="Times New Roman"/>
                <a:ea typeface="华文细黑" pitchFamily="2" charset="-122"/>
                <a:cs typeface="宋体"/>
              </a:rPr>
              <a:t>Married</a:t>
            </a:r>
            <a:endParaRPr lang="zh-CN" altLang="en-US" sz="2000" dirty="0">
              <a:latin typeface="华文细黑" pitchFamily="2" charset="-122"/>
              <a:ea typeface="华文细黑" pitchFamily="2" charset="-122"/>
              <a:cs typeface="宋体"/>
            </a:endParaRPr>
          </a:p>
        </p:txBody>
      </p:sp>
      <p:sp>
        <p:nvSpPr>
          <p:cNvPr id="4" name="页脚占位符 3">
            <a:extLst>
              <a:ext uri="{FF2B5EF4-FFF2-40B4-BE49-F238E27FC236}">
                <a16:creationId xmlns:a16="http://schemas.microsoft.com/office/drawing/2014/main" id="{51286FE8-8BC0-446E-A0DB-5081880A766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A80E69D-1B61-4E9A-BF00-270527287BD3}"/>
              </a:ext>
            </a:extLst>
          </p:cNvPr>
          <p:cNvSpPr>
            <a:spLocks noGrp="1"/>
          </p:cNvSpPr>
          <p:nvPr>
            <p:ph type="sldNum" sz="quarter" idx="12"/>
          </p:nvPr>
        </p:nvSpPr>
        <p:spPr/>
        <p:txBody>
          <a:bodyPr/>
          <a:lstStyle/>
          <a:p>
            <a:fld id="{5AD84F5B-1672-4D3F-9FEC-5DF89A7B7912}" type="slidenum">
              <a:rPr lang="zh-CN" altLang="en-US" smtClean="0"/>
              <a:t>20</a:t>
            </a:fld>
            <a:endParaRPr lang="zh-CN" altLang="en-US"/>
          </a:p>
        </p:txBody>
      </p:sp>
    </p:spTree>
    <p:extLst>
      <p:ext uri="{BB962C8B-B14F-4D97-AF65-F5344CB8AC3E}">
        <p14:creationId xmlns:p14="http://schemas.microsoft.com/office/powerpoint/2010/main" val="742351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up)">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00"/>
                                        <p:tgtEl>
                                          <p:spTgt spid="2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500"/>
                                        <p:tgtEl>
                                          <p:spTgt spid="27"/>
                                        </p:tgtEl>
                                      </p:cBhvr>
                                    </p:animEffect>
                                  </p:childTnLst>
                                </p:cTn>
                              </p:par>
                            </p:childTnLst>
                          </p:cTn>
                        </p:par>
                        <p:par>
                          <p:cTn id="25" fill="hold">
                            <p:stCondLst>
                              <p:cond delay="1000"/>
                            </p:stCondLst>
                            <p:childTnLst>
                              <p:par>
                                <p:cTn id="26" presetID="10" presetClass="entr" presetSubtype="0" fill="hold" grpId="0" nodeType="after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childTnLst>
                          </p:cTn>
                        </p:par>
                        <p:par>
                          <p:cTn id="29" fill="hold">
                            <p:stCondLst>
                              <p:cond delay="1500"/>
                            </p:stCondLst>
                            <p:childTnLst>
                              <p:par>
                                <p:cTn id="30" presetID="10" presetClass="entr" presetSubtype="0" fill="hold" nodeType="after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500"/>
                                        <p:tgtEl>
                                          <p:spTgt spid="23"/>
                                        </p:tgtEl>
                                      </p:cBhvr>
                                    </p:animEffect>
                                  </p:childTnLst>
                                </p:cTn>
                              </p:par>
                            </p:childTnLst>
                          </p:cTn>
                        </p:par>
                        <p:par>
                          <p:cTn id="36" fill="hold">
                            <p:stCondLst>
                              <p:cond delay="2000"/>
                            </p:stCondLst>
                            <p:childTnLst>
                              <p:par>
                                <p:cTn id="37" presetID="10" presetClass="entr" presetSubtype="0" fill="hold" grpId="0" nodeType="after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par>
                          <p:cTn id="40" fill="hold">
                            <p:stCondLst>
                              <p:cond delay="2500"/>
                            </p:stCondLst>
                            <p:childTnLst>
                              <p:par>
                                <p:cTn id="41" presetID="10" presetClass="entr" presetSubtype="0" fill="hold" grpId="0" nodeType="after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7" grpId="0"/>
      <p:bldP spid="18" grpId="0" animBg="1"/>
      <p:bldP spid="22" grpId="0" animBg="1"/>
      <p:bldP spid="23" grpId="0"/>
      <p:bldP spid="25" grpId="0"/>
      <p:bldP spid="2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en-US" dirty="0"/>
              <a:t>建立决策树分类模型</a:t>
            </a:r>
          </a:p>
        </p:txBody>
      </p:sp>
      <p:sp>
        <p:nvSpPr>
          <p:cNvPr id="7" name="内容占位符 6"/>
          <p:cNvSpPr>
            <a:spLocks noGrp="1"/>
          </p:cNvSpPr>
          <p:nvPr>
            <p:ph idx="1"/>
          </p:nvPr>
        </p:nvSpPr>
        <p:spPr/>
        <p:txBody>
          <a:bodyPr/>
          <a:lstStyle/>
          <a:p>
            <a:r>
              <a:rPr lang="zh-CN" altLang="en-US" dirty="0"/>
              <a:t>根据训练数据建立决策树</a:t>
            </a:r>
          </a:p>
          <a:p>
            <a:endParaRPr lang="zh-CN" altLang="en-US" dirty="0"/>
          </a:p>
        </p:txBody>
      </p:sp>
      <p:grpSp>
        <p:nvGrpSpPr>
          <p:cNvPr id="9" name="画布 307231"/>
          <p:cNvGrpSpPr/>
          <p:nvPr/>
        </p:nvGrpSpPr>
        <p:grpSpPr>
          <a:xfrm>
            <a:off x="5039999" y="2521701"/>
            <a:ext cx="2343601" cy="851721"/>
            <a:chOff x="85866" y="32491"/>
            <a:chExt cx="1450134" cy="537145"/>
          </a:xfrm>
        </p:grpSpPr>
        <p:sp>
          <p:nvSpPr>
            <p:cNvPr id="11" name="Text Box 26"/>
            <p:cNvSpPr txBox="1">
              <a:spLocks noChangeArrowheads="1"/>
            </p:cNvSpPr>
            <p:nvPr/>
          </p:nvSpPr>
          <p:spPr bwMode="auto">
            <a:xfrm>
              <a:off x="373891" y="209544"/>
              <a:ext cx="212642" cy="1684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1400" dirty="0">
                  <a:solidFill>
                    <a:srgbClr val="000000"/>
                  </a:solidFill>
                  <a:latin typeface="Times New Roman"/>
                  <a:cs typeface="宋体"/>
                </a:rPr>
                <a:t>yes</a:t>
              </a:r>
              <a:endParaRPr lang="zh-CN" altLang="en-US" sz="2400" dirty="0">
                <a:latin typeface="华文细黑" pitchFamily="2" charset="-122"/>
                <a:ea typeface="华文细黑" pitchFamily="2" charset="-122"/>
                <a:cs typeface="宋体"/>
              </a:endParaRPr>
            </a:p>
          </p:txBody>
        </p:sp>
        <p:sp>
          <p:nvSpPr>
            <p:cNvPr id="12" name="椭圆 11"/>
            <p:cNvSpPr/>
            <p:nvPr/>
          </p:nvSpPr>
          <p:spPr>
            <a:xfrm>
              <a:off x="593748" y="32491"/>
              <a:ext cx="668264" cy="204333"/>
            </a:xfrm>
            <a:prstGeom prst="ellipse">
              <a:avLst/>
            </a:prstGeom>
            <a:solidFill>
              <a:schemeClr val="accent3">
                <a:lumMod val="20000"/>
                <a:lumOff val="80000"/>
              </a:schemeClr>
            </a:solidFill>
            <a:ln w="9525">
              <a:solidFill>
                <a:schemeClr val="accent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a:latin typeface="Times New Roman"/>
                  <a:ea typeface="华文细黑" pitchFamily="2" charset="-122"/>
                  <a:cs typeface="Times New Roman"/>
                </a:rPr>
                <a:t>Refund</a:t>
              </a:r>
              <a:endParaRPr lang="zh-CN" altLang="en-US" sz="1600" kern="100" dirty="0">
                <a:latin typeface="Times New Roman"/>
                <a:ea typeface="华文细黑" pitchFamily="2" charset="-122"/>
                <a:cs typeface="Times New Roman"/>
              </a:endParaRPr>
            </a:p>
          </p:txBody>
        </p:sp>
        <p:sp>
          <p:nvSpPr>
            <p:cNvPr id="13" name="矩形 12"/>
            <p:cNvSpPr/>
            <p:nvPr/>
          </p:nvSpPr>
          <p:spPr>
            <a:xfrm>
              <a:off x="85866" y="426603"/>
              <a:ext cx="445509" cy="143033"/>
            </a:xfrm>
            <a:prstGeom prst="rect">
              <a:avLst/>
            </a:prstGeom>
            <a:solidFill>
              <a:schemeClr val="tx2">
                <a:lumMod val="20000"/>
                <a:lumOff val="80000"/>
              </a:schemeClr>
            </a:solidFill>
            <a:ln w="6350">
              <a:solidFill>
                <a:schemeClr val="tx2">
                  <a:lumMod val="60000"/>
                  <a:lumOff val="4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a:latin typeface="Times New Roman"/>
                  <a:ea typeface="华文细黑" pitchFamily="2" charset="-122"/>
                  <a:cs typeface="Times New Roman"/>
                </a:rPr>
                <a:t>no / 3</a:t>
              </a:r>
              <a:endParaRPr lang="zh-CN" altLang="en-US" sz="1600" kern="100" dirty="0">
                <a:latin typeface="Times New Roman"/>
                <a:ea typeface="华文细黑" pitchFamily="2" charset="-122"/>
                <a:cs typeface="Times New Roman"/>
              </a:endParaRPr>
            </a:p>
          </p:txBody>
        </p:sp>
        <p:cxnSp>
          <p:nvCxnSpPr>
            <p:cNvPr id="19" name="Line 14"/>
            <p:cNvCxnSpPr>
              <a:stCxn id="12" idx="4"/>
              <a:endCxn id="13" idx="0"/>
            </p:cNvCxnSpPr>
            <p:nvPr/>
          </p:nvCxnSpPr>
          <p:spPr bwMode="auto">
            <a:xfrm flipH="1">
              <a:off x="308621" y="236824"/>
              <a:ext cx="619259" cy="189779"/>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Line 14"/>
            <p:cNvCxnSpPr>
              <a:stCxn id="12" idx="4"/>
            </p:cNvCxnSpPr>
            <p:nvPr/>
          </p:nvCxnSpPr>
          <p:spPr bwMode="auto">
            <a:xfrm>
              <a:off x="927880" y="236824"/>
              <a:ext cx="608120" cy="190030"/>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Text Box 26"/>
            <p:cNvSpPr txBox="1">
              <a:spLocks noChangeArrowheads="1"/>
            </p:cNvSpPr>
            <p:nvPr/>
          </p:nvSpPr>
          <p:spPr bwMode="auto">
            <a:xfrm>
              <a:off x="1311187" y="209544"/>
              <a:ext cx="174950" cy="1684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1400" dirty="0">
                  <a:solidFill>
                    <a:srgbClr val="000000"/>
                  </a:solidFill>
                  <a:latin typeface="Times New Roman"/>
                  <a:cs typeface="宋体"/>
                </a:rPr>
                <a:t>no</a:t>
              </a:r>
              <a:endParaRPr lang="zh-CN" altLang="en-US" sz="2400" dirty="0">
                <a:latin typeface="华文细黑" pitchFamily="2" charset="-122"/>
                <a:ea typeface="华文细黑" pitchFamily="2" charset="-122"/>
                <a:cs typeface="宋体"/>
              </a:endParaRPr>
            </a:p>
          </p:txBody>
        </p:sp>
      </p:grpSp>
      <p:graphicFrame>
        <p:nvGraphicFramePr>
          <p:cNvPr id="16" name="内容占位符 4"/>
          <p:cNvGraphicFramePr>
            <a:graphicFrameLocks/>
          </p:cNvGraphicFramePr>
          <p:nvPr/>
        </p:nvGraphicFramePr>
        <p:xfrm>
          <a:off x="35498" y="2327278"/>
          <a:ext cx="4497387" cy="3322320"/>
        </p:xfrm>
        <a:graphic>
          <a:graphicData uri="http://schemas.openxmlformats.org/drawingml/2006/table">
            <a:tbl>
              <a:tblPr firstRow="1" firstCol="1" bandRow="1" bandCol="1">
                <a:tableStyleId>{5C22544A-7EE6-4342-B048-85BDC9FD1C3A}</a:tableStyleId>
              </a:tblPr>
              <a:tblGrid>
                <a:gridCol w="554672">
                  <a:extLst>
                    <a:ext uri="{9D8B030D-6E8A-4147-A177-3AD203B41FA5}">
                      <a16:colId xmlns:a16="http://schemas.microsoft.com/office/drawing/2014/main" val="20000"/>
                    </a:ext>
                  </a:extLst>
                </a:gridCol>
                <a:gridCol w="843598">
                  <a:extLst>
                    <a:ext uri="{9D8B030D-6E8A-4147-A177-3AD203B41FA5}">
                      <a16:colId xmlns:a16="http://schemas.microsoft.com/office/drawing/2014/main" val="20001"/>
                    </a:ext>
                  </a:extLst>
                </a:gridCol>
                <a:gridCol w="1469072">
                  <a:extLst>
                    <a:ext uri="{9D8B030D-6E8A-4147-A177-3AD203B41FA5}">
                      <a16:colId xmlns:a16="http://schemas.microsoft.com/office/drawing/2014/main" val="20002"/>
                    </a:ext>
                  </a:extLst>
                </a:gridCol>
                <a:gridCol w="876935">
                  <a:extLst>
                    <a:ext uri="{9D8B030D-6E8A-4147-A177-3AD203B41FA5}">
                      <a16:colId xmlns:a16="http://schemas.microsoft.com/office/drawing/2014/main" val="20003"/>
                    </a:ext>
                  </a:extLst>
                </a:gridCol>
                <a:gridCol w="753110">
                  <a:extLst>
                    <a:ext uri="{9D8B030D-6E8A-4147-A177-3AD203B41FA5}">
                      <a16:colId xmlns:a16="http://schemas.microsoft.com/office/drawing/2014/main" val="20004"/>
                    </a:ext>
                  </a:extLst>
                </a:gridCol>
              </a:tblGrid>
              <a:tr h="304800">
                <a:tc gridSpan="5">
                  <a:txBody>
                    <a:bodyPr/>
                    <a:lstStyle/>
                    <a:p>
                      <a:pPr algn="ctr">
                        <a:spcBef>
                          <a:spcPts val="300"/>
                        </a:spcBef>
                        <a:spcAft>
                          <a:spcPts val="300"/>
                        </a:spcAft>
                      </a:pPr>
                      <a:r>
                        <a:rPr lang="en-US" sz="1400" kern="100" dirty="0">
                          <a:solidFill>
                            <a:srgbClr val="FF0000"/>
                          </a:solidFill>
                          <a:effectLst/>
                          <a:latin typeface="华文细黑" pitchFamily="2" charset="-122"/>
                          <a:ea typeface="华文细黑" pitchFamily="2" charset="-122"/>
                        </a:rPr>
                        <a:t>(a) </a:t>
                      </a:r>
                      <a:r>
                        <a:rPr lang="zh-CN" altLang="en-US" sz="1400" kern="100" dirty="0">
                          <a:solidFill>
                            <a:srgbClr val="FF0000"/>
                          </a:solidFill>
                          <a:effectLst/>
                          <a:latin typeface="华文细黑" pitchFamily="2" charset="-122"/>
                          <a:ea typeface="华文细黑" pitchFamily="2" charset="-122"/>
                        </a:rPr>
                        <a:t>训练数据集</a:t>
                      </a:r>
                      <a:endParaRPr lang="zh-CN" sz="1400" kern="100" dirty="0">
                        <a:solidFill>
                          <a:srgbClr val="FF0000"/>
                        </a:solidFill>
                        <a:effectLst/>
                        <a:latin typeface="华文细黑" pitchFamily="2" charset="-122"/>
                        <a:ea typeface="华文细黑" pitchFamily="2" charset="-122"/>
                      </a:endParaRPr>
                    </a:p>
                  </a:txBody>
                  <a:tcPr marL="68580" marR="68580" marT="0" marB="0">
                    <a:solidFill>
                      <a:schemeClr val="accent1">
                        <a:lumMod val="40000"/>
                        <a:lumOff val="60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74320">
                <a:tc>
                  <a:txBody>
                    <a:bodyPr/>
                    <a:lstStyle/>
                    <a:p>
                      <a:pPr indent="-34290" algn="ctr">
                        <a:spcAft>
                          <a:spcPts val="0"/>
                        </a:spcAft>
                      </a:pPr>
                      <a:r>
                        <a:rPr lang="en-US" sz="1400" b="1" kern="100" dirty="0" err="1">
                          <a:effectLst/>
                        </a:rPr>
                        <a:t>Tid</a:t>
                      </a:r>
                      <a:endParaRPr lang="zh-CN" sz="1400" b="1" kern="100" dirty="0">
                        <a:effectLst/>
                        <a:latin typeface="Times New Roman"/>
                        <a:ea typeface="华文细黑" pitchFamily="2" charset="-122"/>
                        <a:cs typeface="Times New Roman"/>
                      </a:endParaRPr>
                    </a:p>
                  </a:txBody>
                  <a:tcPr marL="68580" marR="68580" marT="0" marB="0"/>
                </a:tc>
                <a:tc>
                  <a:txBody>
                    <a:bodyPr/>
                    <a:lstStyle/>
                    <a:p>
                      <a:pPr indent="-34290" algn="ctr">
                        <a:spcAft>
                          <a:spcPts val="0"/>
                        </a:spcAft>
                      </a:pPr>
                      <a:r>
                        <a:rPr lang="en-US" sz="1400" b="1" kern="100" dirty="0">
                          <a:effectLst/>
                        </a:rPr>
                        <a:t>Refund</a:t>
                      </a:r>
                      <a:endParaRPr lang="zh-CN" sz="1400" b="1"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b="1" kern="100" dirty="0" err="1">
                          <a:effectLst/>
                        </a:rPr>
                        <a:t>MaritalStatus</a:t>
                      </a:r>
                      <a:endParaRPr lang="zh-CN" sz="1400" b="1"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b="1" kern="100" dirty="0">
                          <a:effectLst/>
                        </a:rPr>
                        <a:t>Income</a:t>
                      </a:r>
                      <a:endParaRPr lang="zh-CN" sz="1400" b="1"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b="1" kern="100" dirty="0">
                          <a:effectLst/>
                        </a:rPr>
                        <a:t>Cheat</a:t>
                      </a:r>
                      <a:endParaRPr lang="zh-CN" sz="1400" b="1"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1"/>
                  </a:ext>
                </a:extLst>
              </a:tr>
              <a:tr h="274320">
                <a:tc>
                  <a:txBody>
                    <a:bodyPr/>
                    <a:lstStyle/>
                    <a:p>
                      <a:pPr algn="ctr">
                        <a:spcAft>
                          <a:spcPts val="0"/>
                        </a:spcAft>
                      </a:pPr>
                      <a:r>
                        <a:rPr lang="en-US" sz="1400" kern="100" dirty="0">
                          <a:effectLst/>
                        </a:rPr>
                        <a:t>1</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125K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2"/>
                  </a:ext>
                </a:extLst>
              </a:tr>
              <a:tr h="274320">
                <a:tc>
                  <a:txBody>
                    <a:bodyPr/>
                    <a:lstStyle/>
                    <a:p>
                      <a:pPr algn="ctr">
                        <a:spcAft>
                          <a:spcPts val="0"/>
                        </a:spcAft>
                      </a:pPr>
                      <a:r>
                        <a:rPr lang="en-US" sz="1400" kern="100" dirty="0">
                          <a:effectLst/>
                        </a:rPr>
                        <a:t>2</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100K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3"/>
                  </a:ext>
                </a:extLst>
              </a:tr>
              <a:tr h="274320">
                <a:tc>
                  <a:txBody>
                    <a:bodyPr/>
                    <a:lstStyle/>
                    <a:p>
                      <a:pPr algn="ctr">
                        <a:spcAft>
                          <a:spcPts val="0"/>
                        </a:spcAft>
                      </a:pPr>
                      <a:r>
                        <a:rPr lang="en-US" sz="1400" kern="100" dirty="0">
                          <a:effectLst/>
                        </a:rPr>
                        <a:t>3</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70K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4"/>
                  </a:ext>
                </a:extLst>
              </a:tr>
              <a:tr h="274320">
                <a:tc>
                  <a:txBody>
                    <a:bodyPr/>
                    <a:lstStyle/>
                    <a:p>
                      <a:pPr algn="ctr">
                        <a:spcAft>
                          <a:spcPts val="0"/>
                        </a:spcAft>
                      </a:pPr>
                      <a:r>
                        <a:rPr lang="en-US" sz="1400" kern="100" dirty="0">
                          <a:effectLst/>
                        </a:rPr>
                        <a:t>4</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120K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5"/>
                  </a:ext>
                </a:extLst>
              </a:tr>
              <a:tr h="274320">
                <a:tc>
                  <a:txBody>
                    <a:bodyPr/>
                    <a:lstStyle/>
                    <a:p>
                      <a:pPr algn="ctr">
                        <a:spcAft>
                          <a:spcPts val="0"/>
                        </a:spcAft>
                      </a:pPr>
                      <a:r>
                        <a:rPr lang="en-US" sz="1400" kern="100" dirty="0">
                          <a:effectLst/>
                        </a:rPr>
                        <a:t>5</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Divorced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95K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6"/>
                  </a:ext>
                </a:extLst>
              </a:tr>
              <a:tr h="274320">
                <a:tc>
                  <a:txBody>
                    <a:bodyPr/>
                    <a:lstStyle/>
                    <a:p>
                      <a:pPr algn="ctr">
                        <a:spcAft>
                          <a:spcPts val="0"/>
                        </a:spcAft>
                      </a:pPr>
                      <a:r>
                        <a:rPr lang="en-US" sz="1400" kern="100" dirty="0">
                          <a:effectLst/>
                        </a:rPr>
                        <a:t>6</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t>
                      </a:r>
                      <a:r>
                        <a:rPr lang="en-US" altLang="zh-CN" sz="1400" kern="100" dirty="0">
                          <a:effectLst/>
                          <a:ea typeface="华文细黑" pitchFamily="2" charset="-122"/>
                        </a:rPr>
                        <a:t>a</a:t>
                      </a:r>
                      <a:r>
                        <a:rPr lang="en-US" sz="1400" kern="100" dirty="0">
                          <a:effectLst/>
                        </a:rPr>
                        <a:t>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60K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7"/>
                  </a:ext>
                </a:extLst>
              </a:tr>
              <a:tr h="274320">
                <a:tc>
                  <a:txBody>
                    <a:bodyPr/>
                    <a:lstStyle/>
                    <a:p>
                      <a:pPr algn="ctr">
                        <a:spcAft>
                          <a:spcPts val="0"/>
                        </a:spcAft>
                      </a:pPr>
                      <a:r>
                        <a:rPr lang="en-US" sz="1400" kern="100" dirty="0">
                          <a:effectLst/>
                        </a:rPr>
                        <a:t>7</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Divorced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220K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8"/>
                  </a:ext>
                </a:extLst>
              </a:tr>
              <a:tr h="274320">
                <a:tc>
                  <a:txBody>
                    <a:bodyPr/>
                    <a:lstStyle/>
                    <a:p>
                      <a:pPr algn="ctr">
                        <a:spcAft>
                          <a:spcPts val="0"/>
                        </a:spcAft>
                      </a:pPr>
                      <a:r>
                        <a:rPr lang="en-US" sz="1400" kern="100" dirty="0">
                          <a:effectLst/>
                        </a:rPr>
                        <a:t>8</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85K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9"/>
                  </a:ext>
                </a:extLst>
              </a:tr>
              <a:tr h="274320">
                <a:tc>
                  <a:txBody>
                    <a:bodyPr/>
                    <a:lstStyle/>
                    <a:p>
                      <a:pPr algn="ctr">
                        <a:spcAft>
                          <a:spcPts val="0"/>
                        </a:spcAft>
                      </a:pPr>
                      <a:r>
                        <a:rPr lang="en-US" sz="1400" kern="100" dirty="0">
                          <a:effectLst/>
                        </a:rPr>
                        <a:t>9</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75K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10"/>
                  </a:ext>
                </a:extLst>
              </a:tr>
              <a:tr h="274320">
                <a:tc>
                  <a:txBody>
                    <a:bodyPr/>
                    <a:lstStyle/>
                    <a:p>
                      <a:pPr algn="ctr">
                        <a:spcAft>
                          <a:spcPts val="0"/>
                        </a:spcAft>
                      </a:pPr>
                      <a:r>
                        <a:rPr lang="en-US" sz="1400" kern="100" dirty="0">
                          <a:effectLst/>
                        </a:rPr>
                        <a:t>10</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90K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11"/>
                  </a:ext>
                </a:extLst>
              </a:tr>
            </a:tbl>
          </a:graphicData>
        </a:graphic>
      </p:graphicFrame>
      <p:graphicFrame>
        <p:nvGraphicFramePr>
          <p:cNvPr id="3" name="表格 2"/>
          <p:cNvGraphicFramePr>
            <a:graphicFrameLocks noGrp="1"/>
          </p:cNvGraphicFramePr>
          <p:nvPr/>
        </p:nvGraphicFramePr>
        <p:xfrm>
          <a:off x="35496" y="2639250"/>
          <a:ext cx="4496400" cy="3013208"/>
        </p:xfrm>
        <a:graphic>
          <a:graphicData uri="http://schemas.openxmlformats.org/drawingml/2006/table">
            <a:tbl>
              <a:tblPr firstRow="1" firstCol="1" bandRow="1" bandCol="1">
                <a:tableStyleId>{5C22544A-7EE6-4342-B048-85BDC9FD1C3A}</a:tableStyleId>
              </a:tblPr>
              <a:tblGrid>
                <a:gridCol w="548704">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858258">
                  <a:extLst>
                    <a:ext uri="{9D8B030D-6E8A-4147-A177-3AD203B41FA5}">
                      <a16:colId xmlns:a16="http://schemas.microsoft.com/office/drawing/2014/main" val="20003"/>
                    </a:ext>
                  </a:extLst>
                </a:gridCol>
                <a:gridCol w="765338">
                  <a:extLst>
                    <a:ext uri="{9D8B030D-6E8A-4147-A177-3AD203B41FA5}">
                      <a16:colId xmlns:a16="http://schemas.microsoft.com/office/drawing/2014/main" val="20004"/>
                    </a:ext>
                  </a:extLst>
                </a:gridCol>
              </a:tblGrid>
              <a:tr h="273928">
                <a:tc>
                  <a:txBody>
                    <a:bodyPr/>
                    <a:lstStyle/>
                    <a:p>
                      <a:pPr indent="-34290" algn="ctr">
                        <a:spcAft>
                          <a:spcPts val="0"/>
                        </a:spcAft>
                      </a:pPr>
                      <a:r>
                        <a:rPr lang="en-US" sz="1400" kern="100" dirty="0" err="1">
                          <a:solidFill>
                            <a:schemeClr val="bg1"/>
                          </a:solidFill>
                          <a:effectLst/>
                        </a:rPr>
                        <a:t>Tid</a:t>
                      </a:r>
                      <a:endParaRPr lang="zh-CN" sz="1400" kern="100" dirty="0">
                        <a:solidFill>
                          <a:schemeClr val="bg1"/>
                        </a:solidFill>
                        <a:effectLst/>
                        <a:latin typeface="Times New Roman"/>
                        <a:ea typeface="华文细黑" pitchFamily="2" charset="-122"/>
                        <a:cs typeface="Times New Roman"/>
                      </a:endParaRPr>
                    </a:p>
                  </a:txBody>
                  <a:tcPr marL="68580" marR="68580" marT="0" marB="0"/>
                </a:tc>
                <a:tc>
                  <a:txBody>
                    <a:bodyPr/>
                    <a:lstStyle/>
                    <a:p>
                      <a:pPr indent="-34290" algn="ctr">
                        <a:spcAft>
                          <a:spcPts val="0"/>
                        </a:spcAft>
                      </a:pPr>
                      <a:r>
                        <a:rPr lang="en-US" sz="1400" kern="100" dirty="0">
                          <a:solidFill>
                            <a:schemeClr val="tx1"/>
                          </a:solidFill>
                          <a:effectLst/>
                        </a:rPr>
                        <a:t>Refund</a:t>
                      </a:r>
                      <a:endParaRPr lang="zh-CN" sz="1400" kern="100" dirty="0">
                        <a:solidFill>
                          <a:schemeClr val="tx1"/>
                        </a:solidFill>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err="1">
                          <a:solidFill>
                            <a:schemeClr val="tx1"/>
                          </a:solidFill>
                          <a:effectLst/>
                        </a:rPr>
                        <a:t>MaritalStatus</a:t>
                      </a:r>
                      <a:endParaRPr lang="zh-CN" sz="1400" kern="100" dirty="0">
                        <a:solidFill>
                          <a:schemeClr val="tx1"/>
                        </a:solidFill>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solidFill>
                            <a:schemeClr val="tx1"/>
                          </a:solidFill>
                          <a:effectLst/>
                        </a:rPr>
                        <a:t>Income</a:t>
                      </a:r>
                      <a:endParaRPr lang="zh-CN" sz="1400" kern="100" dirty="0">
                        <a:solidFill>
                          <a:schemeClr val="tx1"/>
                        </a:solidFill>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solidFill>
                            <a:schemeClr val="tx1"/>
                          </a:solidFill>
                          <a:effectLst/>
                        </a:rPr>
                        <a:t>Cheat</a:t>
                      </a:r>
                      <a:endParaRPr lang="zh-CN" sz="1400" kern="100" dirty="0">
                        <a:solidFill>
                          <a:schemeClr val="tx1"/>
                        </a:solidFill>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0"/>
                  </a:ext>
                </a:extLst>
              </a:tr>
              <a:tr h="273928">
                <a:tc>
                  <a:txBody>
                    <a:bodyPr/>
                    <a:lstStyle/>
                    <a:p>
                      <a:pPr algn="ctr">
                        <a:spcAft>
                          <a:spcPts val="0"/>
                        </a:spcAft>
                      </a:pPr>
                      <a:r>
                        <a:rPr lang="en-US" sz="1400" kern="100" dirty="0">
                          <a:solidFill>
                            <a:schemeClr val="tx1"/>
                          </a:solidFill>
                          <a:effectLst/>
                        </a:rPr>
                        <a:t>1</a:t>
                      </a:r>
                      <a:endParaRPr lang="zh-CN" sz="1400" kern="100" dirty="0">
                        <a:solidFill>
                          <a:schemeClr val="tx1"/>
                        </a:solidFill>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125K</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extLst>
                  <a:ext uri="{0D108BD9-81ED-4DB2-BD59-A6C34878D82A}">
                    <a16:rowId xmlns:a16="http://schemas.microsoft.com/office/drawing/2014/main" val="10001"/>
                  </a:ext>
                </a:extLst>
              </a:tr>
              <a:tr h="273928">
                <a:tc>
                  <a:txBody>
                    <a:bodyPr/>
                    <a:lstStyle/>
                    <a:p>
                      <a:pPr algn="ctr">
                        <a:spcAft>
                          <a:spcPts val="0"/>
                        </a:spcAft>
                      </a:pPr>
                      <a:r>
                        <a:rPr lang="en-US" sz="1400" kern="100" dirty="0">
                          <a:solidFill>
                            <a:schemeClr val="tx1"/>
                          </a:solidFill>
                          <a:effectLst/>
                        </a:rPr>
                        <a:t>4</a:t>
                      </a:r>
                      <a:endParaRPr lang="zh-CN" sz="1400" kern="100" dirty="0">
                        <a:solidFill>
                          <a:schemeClr val="tx1"/>
                        </a:solidFill>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120K</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extLst>
                  <a:ext uri="{0D108BD9-81ED-4DB2-BD59-A6C34878D82A}">
                    <a16:rowId xmlns:a16="http://schemas.microsoft.com/office/drawing/2014/main" val="10002"/>
                  </a:ext>
                </a:extLst>
              </a:tr>
              <a:tr h="273928">
                <a:tc>
                  <a:txBody>
                    <a:bodyPr/>
                    <a:lstStyle/>
                    <a:p>
                      <a:pPr algn="ctr">
                        <a:spcAft>
                          <a:spcPts val="0"/>
                        </a:spcAft>
                      </a:pPr>
                      <a:r>
                        <a:rPr lang="en-US" sz="1400" kern="100" dirty="0">
                          <a:solidFill>
                            <a:schemeClr val="tx1"/>
                          </a:solidFill>
                          <a:effectLst/>
                        </a:rPr>
                        <a:t>7</a:t>
                      </a:r>
                      <a:endParaRPr lang="zh-CN" sz="1400" kern="100" dirty="0">
                        <a:solidFill>
                          <a:schemeClr val="tx1"/>
                        </a:solidFill>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Divorced</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220K</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extLst>
                  <a:ext uri="{0D108BD9-81ED-4DB2-BD59-A6C34878D82A}">
                    <a16:rowId xmlns:a16="http://schemas.microsoft.com/office/drawing/2014/main" val="10003"/>
                  </a:ext>
                </a:extLst>
              </a:tr>
              <a:tr h="273928">
                <a:tc>
                  <a:txBody>
                    <a:bodyPr/>
                    <a:lstStyle/>
                    <a:p>
                      <a:pPr algn="ctr">
                        <a:spcAft>
                          <a:spcPts val="0"/>
                        </a:spcAft>
                      </a:pPr>
                      <a:r>
                        <a:rPr lang="en-US" sz="1400" kern="100" dirty="0">
                          <a:effectLst/>
                        </a:rPr>
                        <a:t>2</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100</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4"/>
                  </a:ext>
                </a:extLst>
              </a:tr>
              <a:tr h="273928">
                <a:tc>
                  <a:txBody>
                    <a:bodyPr/>
                    <a:lstStyle/>
                    <a:p>
                      <a:pPr algn="ctr">
                        <a:spcAft>
                          <a:spcPts val="0"/>
                        </a:spcAft>
                      </a:pPr>
                      <a:r>
                        <a:rPr lang="en-US" sz="1400" kern="100" dirty="0">
                          <a:effectLst/>
                        </a:rPr>
                        <a:t>3</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70K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5"/>
                  </a:ext>
                </a:extLst>
              </a:tr>
              <a:tr h="273928">
                <a:tc>
                  <a:txBody>
                    <a:bodyPr/>
                    <a:lstStyle/>
                    <a:p>
                      <a:pPr algn="ctr">
                        <a:spcAft>
                          <a:spcPts val="0"/>
                        </a:spcAft>
                      </a:pPr>
                      <a:r>
                        <a:rPr lang="en-US" sz="1400" kern="100" dirty="0">
                          <a:effectLst/>
                        </a:rPr>
                        <a:t>5</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Divorced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95K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6"/>
                  </a:ext>
                </a:extLst>
              </a:tr>
              <a:tr h="273928">
                <a:tc>
                  <a:txBody>
                    <a:bodyPr/>
                    <a:lstStyle/>
                    <a:p>
                      <a:pPr algn="ctr">
                        <a:spcAft>
                          <a:spcPts val="0"/>
                        </a:spcAft>
                      </a:pPr>
                      <a:r>
                        <a:rPr lang="en-US" sz="1400" kern="100" dirty="0">
                          <a:effectLst/>
                        </a:rPr>
                        <a:t>6</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60K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7"/>
                  </a:ext>
                </a:extLst>
              </a:tr>
              <a:tr h="273928">
                <a:tc>
                  <a:txBody>
                    <a:bodyPr/>
                    <a:lstStyle/>
                    <a:p>
                      <a:pPr algn="ctr">
                        <a:spcAft>
                          <a:spcPts val="0"/>
                        </a:spcAft>
                      </a:pPr>
                      <a:r>
                        <a:rPr lang="en-US" sz="1400" kern="100" dirty="0">
                          <a:effectLst/>
                        </a:rPr>
                        <a:t>8</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85K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8"/>
                  </a:ext>
                </a:extLst>
              </a:tr>
              <a:tr h="273928">
                <a:tc>
                  <a:txBody>
                    <a:bodyPr/>
                    <a:lstStyle/>
                    <a:p>
                      <a:pPr algn="ctr">
                        <a:spcAft>
                          <a:spcPts val="0"/>
                        </a:spcAft>
                      </a:pPr>
                      <a:r>
                        <a:rPr lang="en-US" sz="1400" kern="100" dirty="0">
                          <a:effectLst/>
                        </a:rPr>
                        <a:t>9</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75K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9"/>
                  </a:ext>
                </a:extLst>
              </a:tr>
              <a:tr h="273928">
                <a:tc>
                  <a:txBody>
                    <a:bodyPr/>
                    <a:lstStyle/>
                    <a:p>
                      <a:pPr algn="ctr">
                        <a:spcAft>
                          <a:spcPts val="0"/>
                        </a:spcAft>
                      </a:pPr>
                      <a:r>
                        <a:rPr lang="en-US" sz="1400" kern="100" dirty="0">
                          <a:effectLst/>
                        </a:rPr>
                        <a:t>10</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90K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10"/>
                  </a:ext>
                </a:extLst>
              </a:tr>
            </a:tbl>
          </a:graphicData>
        </a:graphic>
      </p:graphicFrame>
      <p:graphicFrame>
        <p:nvGraphicFramePr>
          <p:cNvPr id="15" name="表格 14"/>
          <p:cNvGraphicFramePr>
            <a:graphicFrameLocks noGrp="1"/>
          </p:cNvGraphicFramePr>
          <p:nvPr/>
        </p:nvGraphicFramePr>
        <p:xfrm>
          <a:off x="36002" y="2639250"/>
          <a:ext cx="4496399" cy="3013208"/>
        </p:xfrm>
        <a:graphic>
          <a:graphicData uri="http://schemas.openxmlformats.org/drawingml/2006/table">
            <a:tbl>
              <a:tblPr firstRow="1" firstCol="1" bandRow="1" bandCol="1">
                <a:tableStyleId>{5C22544A-7EE6-4342-B048-85BDC9FD1C3A}</a:tableStyleId>
              </a:tblPr>
              <a:tblGrid>
                <a:gridCol w="542984">
                  <a:extLst>
                    <a:ext uri="{9D8B030D-6E8A-4147-A177-3AD203B41FA5}">
                      <a16:colId xmlns:a16="http://schemas.microsoft.com/office/drawing/2014/main" val="20000"/>
                    </a:ext>
                  </a:extLst>
                </a:gridCol>
                <a:gridCol w="880226">
                  <a:extLst>
                    <a:ext uri="{9D8B030D-6E8A-4147-A177-3AD203B41FA5}">
                      <a16:colId xmlns:a16="http://schemas.microsoft.com/office/drawing/2014/main" val="20001"/>
                    </a:ext>
                  </a:extLst>
                </a:gridCol>
                <a:gridCol w="1443253">
                  <a:extLst>
                    <a:ext uri="{9D8B030D-6E8A-4147-A177-3AD203B41FA5}">
                      <a16:colId xmlns:a16="http://schemas.microsoft.com/office/drawing/2014/main" val="20002"/>
                    </a:ext>
                  </a:extLst>
                </a:gridCol>
                <a:gridCol w="864598">
                  <a:extLst>
                    <a:ext uri="{9D8B030D-6E8A-4147-A177-3AD203B41FA5}">
                      <a16:colId xmlns:a16="http://schemas.microsoft.com/office/drawing/2014/main" val="20003"/>
                    </a:ext>
                  </a:extLst>
                </a:gridCol>
                <a:gridCol w="765338">
                  <a:extLst>
                    <a:ext uri="{9D8B030D-6E8A-4147-A177-3AD203B41FA5}">
                      <a16:colId xmlns:a16="http://schemas.microsoft.com/office/drawing/2014/main" val="20004"/>
                    </a:ext>
                  </a:extLst>
                </a:gridCol>
              </a:tblGrid>
              <a:tr h="273928">
                <a:tc>
                  <a:txBody>
                    <a:bodyPr/>
                    <a:lstStyle/>
                    <a:p>
                      <a:pPr indent="-34290" algn="ctr">
                        <a:spcAft>
                          <a:spcPts val="0"/>
                        </a:spcAft>
                      </a:pPr>
                      <a:r>
                        <a:rPr lang="en-US" sz="1400" kern="100" dirty="0" err="1">
                          <a:effectLst/>
                        </a:rPr>
                        <a:t>Tid</a:t>
                      </a:r>
                      <a:endParaRPr lang="zh-CN" sz="1400" kern="100" dirty="0">
                        <a:effectLst/>
                        <a:latin typeface="Times New Roman"/>
                        <a:ea typeface="华文细黑" pitchFamily="2" charset="-122"/>
                        <a:cs typeface="Times New Roman"/>
                      </a:endParaRPr>
                    </a:p>
                  </a:txBody>
                  <a:tcPr marL="68580" marR="68580" marT="0" marB="0"/>
                </a:tc>
                <a:tc>
                  <a:txBody>
                    <a:bodyPr/>
                    <a:lstStyle/>
                    <a:p>
                      <a:pPr indent="-34290" algn="ctr">
                        <a:spcAft>
                          <a:spcPts val="0"/>
                        </a:spcAft>
                      </a:pPr>
                      <a:r>
                        <a:rPr lang="en-US" sz="1400" kern="100" dirty="0">
                          <a:solidFill>
                            <a:schemeClr val="tx1"/>
                          </a:solidFill>
                          <a:effectLst/>
                        </a:rPr>
                        <a:t>Refund</a:t>
                      </a:r>
                      <a:endParaRPr lang="zh-CN" sz="1400" kern="100" dirty="0">
                        <a:solidFill>
                          <a:schemeClr val="tx1"/>
                        </a:solidFill>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err="1">
                          <a:solidFill>
                            <a:schemeClr val="tx1"/>
                          </a:solidFill>
                          <a:effectLst/>
                        </a:rPr>
                        <a:t>MaritalStatus</a:t>
                      </a:r>
                      <a:endParaRPr lang="zh-CN" sz="1400" kern="100" dirty="0">
                        <a:solidFill>
                          <a:schemeClr val="tx1"/>
                        </a:solidFill>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solidFill>
                            <a:schemeClr val="tx1"/>
                          </a:solidFill>
                          <a:effectLst/>
                        </a:rPr>
                        <a:t>Income</a:t>
                      </a:r>
                      <a:endParaRPr lang="zh-CN" sz="1400" kern="100" dirty="0">
                        <a:solidFill>
                          <a:schemeClr val="tx1"/>
                        </a:solidFill>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solidFill>
                            <a:schemeClr val="tx1"/>
                          </a:solidFill>
                          <a:effectLst/>
                        </a:rPr>
                        <a:t>Cheat</a:t>
                      </a:r>
                      <a:endParaRPr lang="zh-CN" sz="1400" kern="100" dirty="0">
                        <a:solidFill>
                          <a:schemeClr val="tx1"/>
                        </a:solidFill>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0"/>
                  </a:ext>
                </a:extLst>
              </a:tr>
              <a:tr h="273928">
                <a:tc>
                  <a:txBody>
                    <a:bodyPr/>
                    <a:lstStyle/>
                    <a:p>
                      <a:pPr algn="ctr">
                        <a:spcAft>
                          <a:spcPts val="0"/>
                        </a:spcAft>
                      </a:pPr>
                      <a:r>
                        <a:rPr lang="en-US" sz="1400" kern="100" dirty="0">
                          <a:solidFill>
                            <a:schemeClr val="tx1"/>
                          </a:solidFill>
                          <a:effectLst/>
                        </a:rPr>
                        <a:t>1</a:t>
                      </a:r>
                      <a:endParaRPr lang="zh-CN" sz="1400" kern="100" dirty="0">
                        <a:solidFill>
                          <a:schemeClr val="tx1"/>
                        </a:solidFill>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125K</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extLst>
                  <a:ext uri="{0D108BD9-81ED-4DB2-BD59-A6C34878D82A}">
                    <a16:rowId xmlns:a16="http://schemas.microsoft.com/office/drawing/2014/main" val="10001"/>
                  </a:ext>
                </a:extLst>
              </a:tr>
              <a:tr h="273928">
                <a:tc>
                  <a:txBody>
                    <a:bodyPr/>
                    <a:lstStyle/>
                    <a:p>
                      <a:pPr algn="ctr">
                        <a:spcAft>
                          <a:spcPts val="0"/>
                        </a:spcAft>
                      </a:pPr>
                      <a:r>
                        <a:rPr lang="en-US" sz="1400" kern="100" dirty="0">
                          <a:solidFill>
                            <a:schemeClr val="tx1"/>
                          </a:solidFill>
                          <a:effectLst/>
                        </a:rPr>
                        <a:t>4</a:t>
                      </a:r>
                      <a:endParaRPr lang="zh-CN" sz="1400" kern="100" dirty="0">
                        <a:solidFill>
                          <a:schemeClr val="tx1"/>
                        </a:solidFill>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120K</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extLst>
                  <a:ext uri="{0D108BD9-81ED-4DB2-BD59-A6C34878D82A}">
                    <a16:rowId xmlns:a16="http://schemas.microsoft.com/office/drawing/2014/main" val="10002"/>
                  </a:ext>
                </a:extLst>
              </a:tr>
              <a:tr h="273928">
                <a:tc>
                  <a:txBody>
                    <a:bodyPr/>
                    <a:lstStyle/>
                    <a:p>
                      <a:pPr algn="ctr">
                        <a:spcAft>
                          <a:spcPts val="0"/>
                        </a:spcAft>
                      </a:pPr>
                      <a:r>
                        <a:rPr lang="en-US" sz="1400" kern="100" dirty="0">
                          <a:solidFill>
                            <a:schemeClr val="tx1"/>
                          </a:solidFill>
                          <a:effectLst/>
                        </a:rPr>
                        <a:t>7</a:t>
                      </a:r>
                      <a:endParaRPr lang="zh-CN" sz="1400" kern="100" dirty="0">
                        <a:solidFill>
                          <a:schemeClr val="tx1"/>
                        </a:solidFill>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Divorced</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220K</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solidFill>
                      <a:srgbClr val="FFFF00"/>
                    </a:solidFill>
                  </a:tcPr>
                </a:tc>
                <a:extLst>
                  <a:ext uri="{0D108BD9-81ED-4DB2-BD59-A6C34878D82A}">
                    <a16:rowId xmlns:a16="http://schemas.microsoft.com/office/drawing/2014/main" val="10003"/>
                  </a:ext>
                </a:extLst>
              </a:tr>
              <a:tr h="273928">
                <a:tc>
                  <a:txBody>
                    <a:bodyPr/>
                    <a:lstStyle/>
                    <a:p>
                      <a:pPr algn="ctr">
                        <a:spcAft>
                          <a:spcPts val="0"/>
                        </a:spcAft>
                      </a:pPr>
                      <a:r>
                        <a:rPr lang="en-US" sz="1400" kern="100" dirty="0">
                          <a:effectLst/>
                        </a:rPr>
                        <a:t>2</a:t>
                      </a:r>
                      <a:endParaRPr lang="zh-CN" sz="1400" kern="100" dirty="0">
                        <a:effectLst/>
                        <a:latin typeface="Times New Roman"/>
                        <a:ea typeface="华文细黑" pitchFamily="2" charset="-122"/>
                        <a:cs typeface="Times New Roman"/>
                      </a:endParaRPr>
                    </a:p>
                  </a:txBody>
                  <a:tcPr marL="68580" marR="68580" marT="0" marB="0">
                    <a:solidFill>
                      <a:schemeClr val="accent5">
                        <a:lumMod val="20000"/>
                        <a:lumOff val="80000"/>
                      </a:schemeClr>
                    </a:solidFill>
                  </a:tcPr>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solidFill>
                      <a:schemeClr val="accent5">
                        <a:lumMod val="20000"/>
                        <a:lumOff val="80000"/>
                      </a:schemeClr>
                    </a:solidFill>
                  </a:tcPr>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solidFill>
                      <a:schemeClr val="accent5">
                        <a:lumMod val="20000"/>
                        <a:lumOff val="80000"/>
                      </a:schemeClr>
                    </a:solidFill>
                  </a:tcPr>
                </a:tc>
                <a:tc>
                  <a:txBody>
                    <a:bodyPr/>
                    <a:lstStyle/>
                    <a:p>
                      <a:pPr algn="ctr">
                        <a:spcAft>
                          <a:spcPts val="0"/>
                        </a:spcAft>
                      </a:pPr>
                      <a:r>
                        <a:rPr lang="en-US" sz="1400" kern="100" dirty="0">
                          <a:effectLst/>
                        </a:rPr>
                        <a:t>100</a:t>
                      </a:r>
                      <a:endParaRPr lang="zh-CN" sz="1400" kern="100" dirty="0">
                        <a:effectLst/>
                        <a:latin typeface="Times New Roman"/>
                        <a:ea typeface="华文细黑" pitchFamily="2" charset="-122"/>
                        <a:cs typeface="Times New Roman"/>
                      </a:endParaRPr>
                    </a:p>
                  </a:txBody>
                  <a:tcPr marL="68580" marR="68580" marT="0" marB="0">
                    <a:solidFill>
                      <a:schemeClr val="accent5">
                        <a:lumMod val="20000"/>
                        <a:lumOff val="80000"/>
                      </a:schemeClr>
                    </a:solidFill>
                  </a:tcPr>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solidFill>
                      <a:schemeClr val="accent5">
                        <a:lumMod val="20000"/>
                        <a:lumOff val="80000"/>
                      </a:schemeClr>
                    </a:solidFill>
                  </a:tcPr>
                </a:tc>
                <a:extLst>
                  <a:ext uri="{0D108BD9-81ED-4DB2-BD59-A6C34878D82A}">
                    <a16:rowId xmlns:a16="http://schemas.microsoft.com/office/drawing/2014/main" val="10004"/>
                  </a:ext>
                </a:extLst>
              </a:tr>
              <a:tr h="273928">
                <a:tc>
                  <a:txBody>
                    <a:bodyPr/>
                    <a:lstStyle/>
                    <a:p>
                      <a:pPr algn="ctr">
                        <a:spcAft>
                          <a:spcPts val="0"/>
                        </a:spcAft>
                      </a:pPr>
                      <a:r>
                        <a:rPr lang="en-US" sz="1400" kern="100" dirty="0">
                          <a:effectLst/>
                        </a:rPr>
                        <a:t>6</a:t>
                      </a:r>
                      <a:endParaRPr lang="zh-CN" sz="1400" kern="100" dirty="0">
                        <a:effectLst/>
                        <a:latin typeface="Times New Roman"/>
                        <a:ea typeface="华文细黑" pitchFamily="2" charset="-122"/>
                        <a:cs typeface="Times New Roman"/>
                      </a:endParaRPr>
                    </a:p>
                  </a:txBody>
                  <a:tcPr marL="68580" marR="68580" marT="0" marB="0">
                    <a:solidFill>
                      <a:schemeClr val="accent5">
                        <a:lumMod val="20000"/>
                        <a:lumOff val="80000"/>
                      </a:schemeClr>
                    </a:solidFill>
                  </a:tcPr>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solidFill>
                      <a:schemeClr val="accent5">
                        <a:lumMod val="20000"/>
                        <a:lumOff val="80000"/>
                      </a:schemeClr>
                    </a:solidFill>
                  </a:tcPr>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solidFill>
                      <a:schemeClr val="accent5">
                        <a:lumMod val="20000"/>
                        <a:lumOff val="80000"/>
                      </a:schemeClr>
                    </a:solidFill>
                  </a:tcPr>
                </a:tc>
                <a:tc>
                  <a:txBody>
                    <a:bodyPr/>
                    <a:lstStyle/>
                    <a:p>
                      <a:pPr algn="ctr">
                        <a:spcAft>
                          <a:spcPts val="0"/>
                        </a:spcAft>
                      </a:pPr>
                      <a:r>
                        <a:rPr lang="en-US" sz="1400" kern="100" dirty="0">
                          <a:effectLst/>
                        </a:rPr>
                        <a:t>60K</a:t>
                      </a:r>
                      <a:endParaRPr lang="zh-CN" sz="1400" kern="100" dirty="0">
                        <a:effectLst/>
                        <a:latin typeface="Times New Roman"/>
                        <a:ea typeface="华文细黑" pitchFamily="2" charset="-122"/>
                        <a:cs typeface="Times New Roman"/>
                      </a:endParaRPr>
                    </a:p>
                  </a:txBody>
                  <a:tcPr marL="68580" marR="68580" marT="0" marB="0">
                    <a:solidFill>
                      <a:schemeClr val="accent5">
                        <a:lumMod val="20000"/>
                        <a:lumOff val="80000"/>
                      </a:schemeClr>
                    </a:solidFill>
                  </a:tcPr>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solidFill>
                      <a:schemeClr val="accent5">
                        <a:lumMod val="20000"/>
                        <a:lumOff val="80000"/>
                      </a:schemeClr>
                    </a:solidFill>
                  </a:tcPr>
                </a:tc>
                <a:extLst>
                  <a:ext uri="{0D108BD9-81ED-4DB2-BD59-A6C34878D82A}">
                    <a16:rowId xmlns:a16="http://schemas.microsoft.com/office/drawing/2014/main" val="10005"/>
                  </a:ext>
                </a:extLst>
              </a:tr>
              <a:tr h="273928">
                <a:tc>
                  <a:txBody>
                    <a:bodyPr/>
                    <a:lstStyle/>
                    <a:p>
                      <a:pPr algn="ctr">
                        <a:spcAft>
                          <a:spcPts val="0"/>
                        </a:spcAft>
                      </a:pPr>
                      <a:r>
                        <a:rPr lang="en-US" sz="1400" kern="100" dirty="0">
                          <a:effectLst/>
                        </a:rPr>
                        <a:t>9</a:t>
                      </a:r>
                      <a:endParaRPr lang="zh-CN" sz="1400" kern="100" dirty="0">
                        <a:effectLst/>
                        <a:latin typeface="Times New Roman"/>
                        <a:ea typeface="华文细黑" pitchFamily="2" charset="-122"/>
                        <a:cs typeface="Times New Roman"/>
                      </a:endParaRPr>
                    </a:p>
                  </a:txBody>
                  <a:tcPr marL="68580" marR="68580" marT="0" marB="0">
                    <a:solidFill>
                      <a:schemeClr val="accent5">
                        <a:lumMod val="20000"/>
                        <a:lumOff val="80000"/>
                      </a:schemeClr>
                    </a:solidFill>
                  </a:tcPr>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solidFill>
                      <a:schemeClr val="accent5">
                        <a:lumMod val="20000"/>
                        <a:lumOff val="80000"/>
                      </a:schemeClr>
                    </a:solidFill>
                  </a:tcPr>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solidFill>
                      <a:schemeClr val="accent5">
                        <a:lumMod val="20000"/>
                        <a:lumOff val="80000"/>
                      </a:schemeClr>
                    </a:solidFill>
                  </a:tcPr>
                </a:tc>
                <a:tc>
                  <a:txBody>
                    <a:bodyPr/>
                    <a:lstStyle/>
                    <a:p>
                      <a:pPr algn="ctr">
                        <a:spcAft>
                          <a:spcPts val="0"/>
                        </a:spcAft>
                      </a:pPr>
                      <a:r>
                        <a:rPr lang="en-US" sz="1400" kern="100" dirty="0">
                          <a:effectLst/>
                        </a:rPr>
                        <a:t>75K</a:t>
                      </a:r>
                      <a:endParaRPr lang="zh-CN" sz="1400" kern="100" dirty="0">
                        <a:effectLst/>
                        <a:latin typeface="Times New Roman"/>
                        <a:ea typeface="华文细黑" pitchFamily="2" charset="-122"/>
                        <a:cs typeface="Times New Roman"/>
                      </a:endParaRPr>
                    </a:p>
                  </a:txBody>
                  <a:tcPr marL="68580" marR="68580" marT="0" marB="0">
                    <a:solidFill>
                      <a:schemeClr val="accent5">
                        <a:lumMod val="20000"/>
                        <a:lumOff val="80000"/>
                      </a:schemeClr>
                    </a:solidFill>
                  </a:tcPr>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solidFill>
                      <a:schemeClr val="accent5">
                        <a:lumMod val="20000"/>
                        <a:lumOff val="80000"/>
                      </a:schemeClr>
                    </a:solidFill>
                  </a:tcPr>
                </a:tc>
                <a:extLst>
                  <a:ext uri="{0D108BD9-81ED-4DB2-BD59-A6C34878D82A}">
                    <a16:rowId xmlns:a16="http://schemas.microsoft.com/office/drawing/2014/main" val="10006"/>
                  </a:ext>
                </a:extLst>
              </a:tr>
              <a:tr h="273928">
                <a:tc>
                  <a:txBody>
                    <a:bodyPr/>
                    <a:lstStyle/>
                    <a:p>
                      <a:pPr algn="ctr">
                        <a:spcAft>
                          <a:spcPts val="0"/>
                        </a:spcAft>
                      </a:pPr>
                      <a:r>
                        <a:rPr lang="en-US" sz="1400" kern="100" dirty="0">
                          <a:effectLst/>
                        </a:rPr>
                        <a:t>3</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70K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7"/>
                  </a:ext>
                </a:extLst>
              </a:tr>
              <a:tr h="273928">
                <a:tc>
                  <a:txBody>
                    <a:bodyPr/>
                    <a:lstStyle/>
                    <a:p>
                      <a:pPr algn="ctr">
                        <a:spcAft>
                          <a:spcPts val="0"/>
                        </a:spcAft>
                      </a:pPr>
                      <a:r>
                        <a:rPr lang="en-US" sz="1400" kern="100" dirty="0">
                          <a:effectLst/>
                        </a:rPr>
                        <a:t>5</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Divorced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95K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8"/>
                  </a:ext>
                </a:extLst>
              </a:tr>
              <a:tr h="273928">
                <a:tc>
                  <a:txBody>
                    <a:bodyPr/>
                    <a:lstStyle/>
                    <a:p>
                      <a:pPr algn="ctr">
                        <a:spcAft>
                          <a:spcPts val="0"/>
                        </a:spcAft>
                      </a:pPr>
                      <a:r>
                        <a:rPr lang="en-US" sz="1400" kern="100" dirty="0">
                          <a:effectLst/>
                        </a:rPr>
                        <a:t>8</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85K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9"/>
                  </a:ext>
                </a:extLst>
              </a:tr>
              <a:tr h="273928">
                <a:tc>
                  <a:txBody>
                    <a:bodyPr/>
                    <a:lstStyle/>
                    <a:p>
                      <a:pPr algn="ctr">
                        <a:spcAft>
                          <a:spcPts val="0"/>
                        </a:spcAft>
                      </a:pPr>
                      <a:r>
                        <a:rPr lang="en-US" sz="1400" kern="100" dirty="0">
                          <a:effectLst/>
                        </a:rPr>
                        <a:t>10</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90K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10"/>
                  </a:ext>
                </a:extLst>
              </a:tr>
            </a:tbl>
          </a:graphicData>
        </a:graphic>
      </p:graphicFrame>
      <p:sp>
        <p:nvSpPr>
          <p:cNvPr id="17" name="Text Box 26"/>
          <p:cNvSpPr txBox="1">
            <a:spLocks noChangeArrowheads="1"/>
          </p:cNvSpPr>
          <p:nvPr/>
        </p:nvSpPr>
        <p:spPr bwMode="auto">
          <a:xfrm>
            <a:off x="8032000" y="3686929"/>
            <a:ext cx="600137" cy="236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altLang="zh-CN" sz="1200" dirty="0">
                <a:solidFill>
                  <a:srgbClr val="000000"/>
                </a:solidFill>
                <a:latin typeface="Times New Roman"/>
                <a:ea typeface="华文细黑" pitchFamily="2" charset="-122"/>
                <a:cs typeface="宋体"/>
              </a:rPr>
              <a:t>Married</a:t>
            </a:r>
            <a:endParaRPr lang="zh-CN" altLang="en-US" sz="2000" dirty="0">
              <a:latin typeface="华文细黑" pitchFamily="2" charset="-122"/>
              <a:ea typeface="华文细黑" pitchFamily="2" charset="-122"/>
              <a:cs typeface="宋体"/>
            </a:endParaRPr>
          </a:p>
        </p:txBody>
      </p:sp>
      <p:sp>
        <p:nvSpPr>
          <p:cNvPr id="18" name="椭圆 17"/>
          <p:cNvSpPr/>
          <p:nvPr/>
        </p:nvSpPr>
        <p:spPr>
          <a:xfrm>
            <a:off x="6840000" y="3146621"/>
            <a:ext cx="1080000" cy="324000"/>
          </a:xfrm>
          <a:prstGeom prst="ellipse">
            <a:avLst/>
          </a:prstGeom>
          <a:solidFill>
            <a:schemeClr val="accent3">
              <a:lumMod val="20000"/>
              <a:lumOff val="80000"/>
            </a:schemeClr>
          </a:solidFill>
          <a:ln w="9525">
            <a:solidFill>
              <a:schemeClr val="accent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200" b="1" kern="100" dirty="0" err="1">
                <a:latin typeface="Times New Roman"/>
                <a:ea typeface="华文细黑" pitchFamily="2" charset="-122"/>
                <a:cs typeface="Times New Roman"/>
              </a:rPr>
              <a:t>MarSt</a:t>
            </a:r>
            <a:endParaRPr lang="zh-CN" altLang="en-US" sz="1400" kern="100" dirty="0">
              <a:latin typeface="Times New Roman"/>
              <a:ea typeface="华文细黑" pitchFamily="2" charset="-122"/>
              <a:cs typeface="Times New Roman"/>
            </a:endParaRPr>
          </a:p>
        </p:txBody>
      </p:sp>
      <p:sp>
        <p:nvSpPr>
          <p:cNvPr id="22" name="矩形 21"/>
          <p:cNvSpPr/>
          <p:nvPr/>
        </p:nvSpPr>
        <p:spPr>
          <a:xfrm>
            <a:off x="8080931" y="3707141"/>
            <a:ext cx="720000" cy="226800"/>
          </a:xfrm>
          <a:prstGeom prst="rect">
            <a:avLst/>
          </a:prstGeom>
          <a:solidFill>
            <a:schemeClr val="tx2">
              <a:lumMod val="20000"/>
              <a:lumOff val="80000"/>
            </a:schemeClr>
          </a:solidFill>
          <a:ln w="6350">
            <a:solidFill>
              <a:schemeClr val="tx2">
                <a:lumMod val="60000"/>
                <a:lumOff val="4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200" b="1" kern="100" dirty="0">
                <a:latin typeface="Times New Roman"/>
                <a:ea typeface="华文细黑" pitchFamily="2" charset="-122"/>
                <a:cs typeface="Times New Roman"/>
              </a:rPr>
              <a:t>no / 3</a:t>
            </a:r>
            <a:endParaRPr lang="zh-CN" altLang="en-US" sz="1400" kern="100" dirty="0">
              <a:latin typeface="Times New Roman"/>
              <a:ea typeface="华文细黑" pitchFamily="2" charset="-122"/>
              <a:cs typeface="Times New Roman"/>
            </a:endParaRPr>
          </a:p>
        </p:txBody>
      </p:sp>
      <p:sp>
        <p:nvSpPr>
          <p:cNvPr id="23" name="Text Box 26"/>
          <p:cNvSpPr txBox="1">
            <a:spLocks noChangeArrowheads="1"/>
          </p:cNvSpPr>
          <p:nvPr/>
        </p:nvSpPr>
        <p:spPr bwMode="auto">
          <a:xfrm>
            <a:off x="5838210" y="3515323"/>
            <a:ext cx="1109892" cy="236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altLang="zh-CN" sz="1200" dirty="0" err="1">
                <a:solidFill>
                  <a:srgbClr val="000000"/>
                </a:solidFill>
                <a:latin typeface="Times New Roman"/>
                <a:ea typeface="华文细黑" pitchFamily="2" charset="-122"/>
                <a:cs typeface="宋体"/>
              </a:rPr>
              <a:t>Single,Divorced</a:t>
            </a:r>
            <a:endParaRPr lang="zh-CN" altLang="en-US" sz="2000" dirty="0">
              <a:latin typeface="华文细黑" pitchFamily="2" charset="-122"/>
              <a:ea typeface="华文细黑" pitchFamily="2" charset="-122"/>
              <a:cs typeface="宋体"/>
            </a:endParaRPr>
          </a:p>
        </p:txBody>
      </p:sp>
      <p:cxnSp>
        <p:nvCxnSpPr>
          <p:cNvPr id="24" name="Line 14"/>
          <p:cNvCxnSpPr>
            <a:stCxn id="18" idx="4"/>
            <a:endCxn id="22" idx="0"/>
          </p:cNvCxnSpPr>
          <p:nvPr/>
        </p:nvCxnSpPr>
        <p:spPr bwMode="auto">
          <a:xfrm>
            <a:off x="7380002" y="3470621"/>
            <a:ext cx="1060931" cy="236520"/>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Line 14"/>
          <p:cNvCxnSpPr/>
          <p:nvPr/>
        </p:nvCxnSpPr>
        <p:spPr bwMode="auto">
          <a:xfrm flipH="1">
            <a:off x="6660000" y="3470620"/>
            <a:ext cx="720000" cy="324000"/>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下箭头 7"/>
          <p:cNvSpPr/>
          <p:nvPr/>
        </p:nvSpPr>
        <p:spPr>
          <a:xfrm>
            <a:off x="3203850" y="2456892"/>
            <a:ext cx="288031" cy="194422"/>
          </a:xfrm>
          <a:prstGeom prst="down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dirty="0">
              <a:ea typeface="华文细黑" pitchFamily="2" charset="-122"/>
            </a:endParaRPr>
          </a:p>
        </p:txBody>
      </p:sp>
      <p:sp>
        <p:nvSpPr>
          <p:cNvPr id="27" name="Text Box 26"/>
          <p:cNvSpPr txBox="1">
            <a:spLocks noChangeArrowheads="1"/>
          </p:cNvSpPr>
          <p:nvPr/>
        </p:nvSpPr>
        <p:spPr bwMode="auto">
          <a:xfrm>
            <a:off x="8032000" y="3416380"/>
            <a:ext cx="600137" cy="236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altLang="zh-CN" sz="1200" dirty="0">
                <a:solidFill>
                  <a:srgbClr val="000000"/>
                </a:solidFill>
                <a:latin typeface="Times New Roman"/>
                <a:ea typeface="华文细黑" pitchFamily="2" charset="-122"/>
                <a:cs typeface="宋体"/>
              </a:rPr>
              <a:t>Married</a:t>
            </a:r>
            <a:endParaRPr lang="zh-CN" altLang="en-US" sz="2000" dirty="0">
              <a:latin typeface="华文细黑" pitchFamily="2" charset="-122"/>
              <a:ea typeface="华文细黑" pitchFamily="2" charset="-122"/>
              <a:cs typeface="宋体"/>
            </a:endParaRPr>
          </a:p>
        </p:txBody>
      </p:sp>
      <p:sp>
        <p:nvSpPr>
          <p:cNvPr id="28" name="椭圆 27"/>
          <p:cNvSpPr/>
          <p:nvPr/>
        </p:nvSpPr>
        <p:spPr>
          <a:xfrm>
            <a:off x="6120000" y="3794620"/>
            <a:ext cx="1080000" cy="324000"/>
          </a:xfrm>
          <a:prstGeom prst="ellipse">
            <a:avLst/>
          </a:prstGeom>
          <a:solidFill>
            <a:schemeClr val="accent3">
              <a:lumMod val="20000"/>
              <a:lumOff val="80000"/>
            </a:schemeClr>
          </a:solidFill>
          <a:ln w="9525">
            <a:solidFill>
              <a:schemeClr val="accent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200" b="1" kern="100" dirty="0">
                <a:latin typeface="Times New Roman"/>
                <a:ea typeface="华文细黑" pitchFamily="2" charset="-122"/>
                <a:cs typeface="Times New Roman"/>
              </a:rPr>
              <a:t>Income</a:t>
            </a:r>
            <a:endParaRPr lang="zh-CN" altLang="en-US" sz="1400" kern="100" dirty="0">
              <a:latin typeface="Times New Roman"/>
              <a:ea typeface="华文细黑" pitchFamily="2" charset="-122"/>
              <a:cs typeface="Times New Roman"/>
            </a:endParaRPr>
          </a:p>
        </p:txBody>
      </p:sp>
      <p:sp>
        <p:nvSpPr>
          <p:cNvPr id="29" name="矩形 28"/>
          <p:cNvSpPr/>
          <p:nvPr/>
        </p:nvSpPr>
        <p:spPr>
          <a:xfrm>
            <a:off x="7020352" y="4442621"/>
            <a:ext cx="720000" cy="226800"/>
          </a:xfrm>
          <a:prstGeom prst="rect">
            <a:avLst/>
          </a:prstGeom>
          <a:solidFill>
            <a:schemeClr val="tx2">
              <a:lumMod val="20000"/>
              <a:lumOff val="80000"/>
            </a:schemeClr>
          </a:solidFill>
          <a:ln w="6350">
            <a:solidFill>
              <a:schemeClr val="tx2">
                <a:lumMod val="60000"/>
                <a:lumOff val="4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200" b="1" kern="100" dirty="0">
                <a:latin typeface="Times New Roman"/>
                <a:ea typeface="华文细黑" pitchFamily="2" charset="-122"/>
                <a:cs typeface="Times New Roman"/>
              </a:rPr>
              <a:t>yes / 3</a:t>
            </a:r>
            <a:endParaRPr lang="zh-CN" altLang="en-US" sz="1400" kern="100" dirty="0">
              <a:latin typeface="Times New Roman"/>
              <a:ea typeface="华文细黑" pitchFamily="2" charset="-122"/>
              <a:cs typeface="Times New Roman"/>
            </a:endParaRPr>
          </a:p>
        </p:txBody>
      </p:sp>
      <p:sp>
        <p:nvSpPr>
          <p:cNvPr id="30" name="矩形 29"/>
          <p:cNvSpPr/>
          <p:nvPr/>
        </p:nvSpPr>
        <p:spPr>
          <a:xfrm>
            <a:off x="5580112" y="4442621"/>
            <a:ext cx="720000" cy="226800"/>
          </a:xfrm>
          <a:prstGeom prst="rect">
            <a:avLst/>
          </a:prstGeom>
          <a:solidFill>
            <a:schemeClr val="tx2">
              <a:lumMod val="20000"/>
              <a:lumOff val="80000"/>
            </a:schemeClr>
          </a:solidFill>
          <a:ln w="6350">
            <a:solidFill>
              <a:schemeClr val="tx2">
                <a:lumMod val="60000"/>
                <a:lumOff val="4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200" b="1" kern="100" dirty="0">
                <a:latin typeface="Times New Roman"/>
                <a:ea typeface="华文细黑" pitchFamily="2" charset="-122"/>
                <a:cs typeface="Times New Roman"/>
              </a:rPr>
              <a:t>no / 1</a:t>
            </a:r>
            <a:endParaRPr lang="zh-CN" altLang="en-US" sz="1400" kern="100" dirty="0">
              <a:latin typeface="Times New Roman"/>
              <a:ea typeface="华文细黑" pitchFamily="2" charset="-122"/>
              <a:cs typeface="Times New Roman"/>
            </a:endParaRPr>
          </a:p>
        </p:txBody>
      </p:sp>
      <p:sp>
        <p:nvSpPr>
          <p:cNvPr id="31" name="Text Box 26"/>
          <p:cNvSpPr txBox="1">
            <a:spLocks noChangeArrowheads="1"/>
          </p:cNvSpPr>
          <p:nvPr/>
        </p:nvSpPr>
        <p:spPr bwMode="auto">
          <a:xfrm>
            <a:off x="5799826" y="4145177"/>
            <a:ext cx="420601" cy="236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1200" dirty="0">
                <a:solidFill>
                  <a:srgbClr val="000000"/>
                </a:solidFill>
                <a:latin typeface="Times New Roman"/>
                <a:cs typeface="宋体"/>
              </a:rPr>
              <a:t>&lt;85k</a:t>
            </a:r>
            <a:endParaRPr lang="zh-CN" altLang="en-US" sz="2000" dirty="0">
              <a:latin typeface="华文细黑" pitchFamily="2" charset="-122"/>
              <a:ea typeface="华文细黑" pitchFamily="2" charset="-122"/>
              <a:cs typeface="宋体"/>
            </a:endParaRPr>
          </a:p>
        </p:txBody>
      </p:sp>
      <p:sp>
        <p:nvSpPr>
          <p:cNvPr id="32" name="Text Box 26"/>
          <p:cNvSpPr txBox="1">
            <a:spLocks noChangeArrowheads="1"/>
          </p:cNvSpPr>
          <p:nvPr/>
        </p:nvSpPr>
        <p:spPr bwMode="auto">
          <a:xfrm>
            <a:off x="7065017" y="4117747"/>
            <a:ext cx="487927" cy="236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1200" dirty="0">
                <a:solidFill>
                  <a:srgbClr val="000000"/>
                </a:solidFill>
                <a:latin typeface="华文细黑" pitchFamily="2" charset="-122"/>
                <a:ea typeface="华文细黑" pitchFamily="2" charset="-122"/>
                <a:cs typeface="宋体"/>
              </a:rPr>
              <a:t>≥</a:t>
            </a:r>
            <a:r>
              <a:rPr lang="en-US" sz="1200" dirty="0">
                <a:solidFill>
                  <a:srgbClr val="000000"/>
                </a:solidFill>
                <a:latin typeface="Times New Roman"/>
                <a:cs typeface="宋体"/>
              </a:rPr>
              <a:t>85k</a:t>
            </a:r>
            <a:endParaRPr lang="zh-CN" altLang="en-US" sz="2000" dirty="0">
              <a:latin typeface="华文细黑" pitchFamily="2" charset="-122"/>
              <a:ea typeface="华文细黑" pitchFamily="2" charset="-122"/>
              <a:cs typeface="宋体"/>
            </a:endParaRPr>
          </a:p>
        </p:txBody>
      </p:sp>
      <p:cxnSp>
        <p:nvCxnSpPr>
          <p:cNvPr id="33" name="Line 14"/>
          <p:cNvCxnSpPr>
            <a:stCxn id="28" idx="4"/>
            <a:endCxn id="29" idx="0"/>
          </p:cNvCxnSpPr>
          <p:nvPr/>
        </p:nvCxnSpPr>
        <p:spPr bwMode="auto">
          <a:xfrm>
            <a:off x="6660000" y="4118620"/>
            <a:ext cx="720352" cy="324000"/>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Line 14"/>
          <p:cNvCxnSpPr>
            <a:stCxn id="28" idx="4"/>
            <a:endCxn id="30" idx="0"/>
          </p:cNvCxnSpPr>
          <p:nvPr/>
        </p:nvCxnSpPr>
        <p:spPr bwMode="auto">
          <a:xfrm flipH="1">
            <a:off x="5940112" y="4118620"/>
            <a:ext cx="719888" cy="324000"/>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 name="矩形 34"/>
          <p:cNvSpPr/>
          <p:nvPr/>
        </p:nvSpPr>
        <p:spPr>
          <a:xfrm>
            <a:off x="2915816" y="4530722"/>
            <a:ext cx="1620000" cy="1134000"/>
          </a:xfrm>
          <a:prstGeom prst="rect">
            <a:avLst/>
          </a:prstGeom>
          <a:noFill/>
          <a:ln w="38100">
            <a:solidFill>
              <a:schemeClr val="accent5">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ea typeface="华文细黑" pitchFamily="2" charset="-122"/>
            </a:endParaRPr>
          </a:p>
        </p:txBody>
      </p:sp>
      <p:sp>
        <p:nvSpPr>
          <p:cNvPr id="4" name="页脚占位符 3">
            <a:extLst>
              <a:ext uri="{FF2B5EF4-FFF2-40B4-BE49-F238E27FC236}">
                <a16:creationId xmlns:a16="http://schemas.microsoft.com/office/drawing/2014/main" id="{E2BD695A-F5EC-43AC-BF57-0E919137179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AEE54D7-D1B2-4DEA-AA8E-F94219CD56ED}"/>
              </a:ext>
            </a:extLst>
          </p:cNvPr>
          <p:cNvSpPr>
            <a:spLocks noGrp="1"/>
          </p:cNvSpPr>
          <p:nvPr>
            <p:ph type="sldNum" sz="quarter" idx="12"/>
          </p:nvPr>
        </p:nvSpPr>
        <p:spPr/>
        <p:txBody>
          <a:bodyPr/>
          <a:lstStyle/>
          <a:p>
            <a:fld id="{5AD84F5B-1672-4D3F-9FEC-5DF89A7B7912}" type="slidenum">
              <a:rPr lang="zh-CN" altLang="en-US" smtClean="0"/>
              <a:t>21</a:t>
            </a:fld>
            <a:endParaRPr lang="zh-CN" altLang="en-US"/>
          </a:p>
        </p:txBody>
      </p:sp>
    </p:spTree>
    <p:extLst>
      <p:ext uri="{BB962C8B-B14F-4D97-AF65-F5344CB8AC3E}">
        <p14:creationId xmlns:p14="http://schemas.microsoft.com/office/powerpoint/2010/main" val="1700786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500"/>
                                        <p:tgtEl>
                                          <p:spTgt spid="28"/>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fade">
                                      <p:cBhvr>
                                        <p:cTn id="21" dur="500"/>
                                        <p:tgtEl>
                                          <p:spTgt spid="3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500"/>
                                        <p:tgtEl>
                                          <p:spTgt spid="31"/>
                                        </p:tgtEl>
                                      </p:cBhvr>
                                    </p:animEffect>
                                  </p:childTnLst>
                                </p:cTn>
                              </p:par>
                            </p:childTnLst>
                          </p:cTn>
                        </p:par>
                        <p:par>
                          <p:cTn id="25" fill="hold">
                            <p:stCondLst>
                              <p:cond delay="1000"/>
                            </p:stCondLst>
                            <p:childTnLst>
                              <p:par>
                                <p:cTn id="26" presetID="10" presetClass="entr" presetSubtype="0" fill="hold" grpId="0" nodeType="after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500"/>
                                        <p:tgtEl>
                                          <p:spTgt spid="30"/>
                                        </p:tgtEl>
                                      </p:cBhvr>
                                    </p:animEffect>
                                  </p:childTnLst>
                                </p:cTn>
                              </p:par>
                            </p:childTnLst>
                          </p:cTn>
                        </p:par>
                        <p:par>
                          <p:cTn id="29" fill="hold">
                            <p:stCondLst>
                              <p:cond delay="1500"/>
                            </p:stCondLst>
                            <p:childTnLst>
                              <p:par>
                                <p:cTn id="30" presetID="10" presetClass="entr" presetSubtype="0" fill="hold" nodeType="after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500"/>
                                        <p:tgtEl>
                                          <p:spTgt spid="3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childTnLst>
                          </p:cTn>
                        </p:par>
                        <p:par>
                          <p:cTn id="36" fill="hold">
                            <p:stCondLst>
                              <p:cond delay="2000"/>
                            </p:stCondLst>
                            <p:childTnLst>
                              <p:par>
                                <p:cTn id="37" presetID="10" presetClass="entr" presetSubtype="0" fill="hold" grpId="0" nodeType="after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8" grpId="0" animBg="1"/>
      <p:bldP spid="29" grpId="0" animBg="1"/>
      <p:bldP spid="30" grpId="0" animBg="1"/>
      <p:bldP spid="31" grpId="0"/>
      <p:bldP spid="32" grpId="0"/>
      <p:bldP spid="3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a:t>
            </a:r>
            <a:r>
              <a:rPr lang="zh-CN" altLang="en-US" dirty="0"/>
              <a:t>测试并评估模型</a:t>
            </a:r>
          </a:p>
        </p:txBody>
      </p:sp>
      <p:sp>
        <p:nvSpPr>
          <p:cNvPr id="4" name="内容占位符 3"/>
          <p:cNvSpPr>
            <a:spLocks noGrp="1"/>
          </p:cNvSpPr>
          <p:nvPr>
            <p:ph idx="1"/>
          </p:nvPr>
        </p:nvSpPr>
        <p:spPr/>
        <p:txBody>
          <a:bodyPr/>
          <a:lstStyle/>
          <a:p>
            <a:r>
              <a:rPr lang="zh-CN" altLang="en-US" dirty="0"/>
              <a:t>测试</a:t>
            </a:r>
          </a:p>
        </p:txBody>
      </p:sp>
      <p:graphicFrame>
        <p:nvGraphicFramePr>
          <p:cNvPr id="67" name="表格 66"/>
          <p:cNvGraphicFramePr>
            <a:graphicFrameLocks noGrp="1"/>
          </p:cNvGraphicFramePr>
          <p:nvPr/>
        </p:nvGraphicFramePr>
        <p:xfrm>
          <a:off x="4499423" y="2090594"/>
          <a:ext cx="4537075" cy="2225040"/>
        </p:xfrm>
        <a:graphic>
          <a:graphicData uri="http://schemas.openxmlformats.org/drawingml/2006/table">
            <a:tbl>
              <a:tblPr firstRow="1" firstCol="1" bandRow="1" bandCol="1">
                <a:tableStyleId>{5C22544A-7EE6-4342-B048-85BDC9FD1C3A}</a:tableStyleId>
              </a:tblPr>
              <a:tblGrid>
                <a:gridCol w="554672">
                  <a:extLst>
                    <a:ext uri="{9D8B030D-6E8A-4147-A177-3AD203B41FA5}">
                      <a16:colId xmlns:a16="http://schemas.microsoft.com/office/drawing/2014/main" val="20000"/>
                    </a:ext>
                  </a:extLst>
                </a:gridCol>
                <a:gridCol w="843598">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876935">
                  <a:extLst>
                    <a:ext uri="{9D8B030D-6E8A-4147-A177-3AD203B41FA5}">
                      <a16:colId xmlns:a16="http://schemas.microsoft.com/office/drawing/2014/main" val="20003"/>
                    </a:ext>
                  </a:extLst>
                </a:gridCol>
                <a:gridCol w="753110">
                  <a:extLst>
                    <a:ext uri="{9D8B030D-6E8A-4147-A177-3AD203B41FA5}">
                      <a16:colId xmlns:a16="http://schemas.microsoft.com/office/drawing/2014/main" val="20004"/>
                    </a:ext>
                  </a:extLst>
                </a:gridCol>
              </a:tblGrid>
              <a:tr h="304800">
                <a:tc gridSpan="5">
                  <a:txBody>
                    <a:bodyPr/>
                    <a:lstStyle/>
                    <a:p>
                      <a:pPr algn="ctr">
                        <a:spcBef>
                          <a:spcPts val="300"/>
                        </a:spcBef>
                        <a:spcAft>
                          <a:spcPts val="300"/>
                        </a:spcAft>
                      </a:pPr>
                      <a:r>
                        <a:rPr lang="en-US" sz="1400" kern="100" dirty="0">
                          <a:effectLst/>
                        </a:rPr>
                        <a:t>(b) </a:t>
                      </a:r>
                      <a:r>
                        <a:rPr lang="zh-CN" altLang="en-US" sz="1400" kern="100" dirty="0">
                          <a:effectLst/>
                          <a:ea typeface="华文细黑" pitchFamily="2" charset="-122"/>
                        </a:rPr>
                        <a:t>测试数据集</a:t>
                      </a:r>
                      <a:endParaRPr lang="zh-CN" sz="1400" kern="100" dirty="0">
                        <a:effectLst/>
                        <a:latin typeface="Times New Roman"/>
                        <a:ea typeface="楷体"/>
                      </a:endParaRPr>
                    </a:p>
                  </a:txBody>
                  <a:tcPr marL="68580" marR="68580" marT="0" marB="0"/>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74320">
                <a:tc>
                  <a:txBody>
                    <a:bodyPr/>
                    <a:lstStyle/>
                    <a:p>
                      <a:pPr indent="-34290" algn="ctr">
                        <a:spcAft>
                          <a:spcPts val="0"/>
                        </a:spcAft>
                      </a:pPr>
                      <a:r>
                        <a:rPr lang="en-US" sz="1400" b="1" kern="100" dirty="0" err="1">
                          <a:effectLst/>
                        </a:rPr>
                        <a:t>Tid</a:t>
                      </a:r>
                      <a:endParaRPr lang="zh-CN" sz="1400" b="1" kern="100" dirty="0">
                        <a:effectLst/>
                        <a:latin typeface="Times New Roman"/>
                        <a:ea typeface="华文细黑" pitchFamily="2" charset="-122"/>
                        <a:cs typeface="Times New Roman"/>
                      </a:endParaRPr>
                    </a:p>
                  </a:txBody>
                  <a:tcPr marL="68580" marR="68580" marT="0" marB="0"/>
                </a:tc>
                <a:tc>
                  <a:txBody>
                    <a:bodyPr/>
                    <a:lstStyle/>
                    <a:p>
                      <a:pPr indent="-34290" algn="ctr">
                        <a:spcAft>
                          <a:spcPts val="0"/>
                        </a:spcAft>
                      </a:pPr>
                      <a:r>
                        <a:rPr lang="en-US" sz="1400" b="1" kern="100" dirty="0">
                          <a:effectLst/>
                        </a:rPr>
                        <a:t>Refund</a:t>
                      </a:r>
                      <a:endParaRPr lang="zh-CN" sz="1400" b="1"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b="1" kern="100" dirty="0" err="1">
                          <a:effectLst/>
                        </a:rPr>
                        <a:t>MaritalStatus</a:t>
                      </a:r>
                      <a:endParaRPr lang="zh-CN" sz="1400" b="1"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b="1" kern="100" dirty="0">
                          <a:effectLst/>
                        </a:rPr>
                        <a:t>Income</a:t>
                      </a:r>
                      <a:endParaRPr lang="zh-CN" sz="1400" b="1"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b="1" kern="100" dirty="0">
                          <a:effectLst/>
                        </a:rPr>
                        <a:t>Cheat</a:t>
                      </a:r>
                      <a:endParaRPr lang="zh-CN" sz="1400" b="1"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1"/>
                  </a:ext>
                </a:extLst>
              </a:tr>
              <a:tr h="274320">
                <a:tc>
                  <a:txBody>
                    <a:bodyPr/>
                    <a:lstStyle/>
                    <a:p>
                      <a:pPr algn="ctr">
                        <a:spcAft>
                          <a:spcPts val="0"/>
                        </a:spcAft>
                      </a:pPr>
                      <a:r>
                        <a:rPr lang="en-US" sz="1400" kern="100" dirty="0">
                          <a:effectLst/>
                        </a:rPr>
                        <a:t>11</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95K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2"/>
                  </a:ext>
                </a:extLst>
              </a:tr>
              <a:tr h="274320">
                <a:tc>
                  <a:txBody>
                    <a:bodyPr/>
                    <a:lstStyle/>
                    <a:p>
                      <a:pPr algn="ctr">
                        <a:spcAft>
                          <a:spcPts val="0"/>
                        </a:spcAft>
                      </a:pPr>
                      <a:r>
                        <a:rPr lang="en-US" sz="1400" kern="100" dirty="0">
                          <a:effectLst/>
                        </a:rPr>
                        <a:t>12</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100K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3"/>
                  </a:ext>
                </a:extLst>
              </a:tr>
              <a:tr h="274320">
                <a:tc>
                  <a:txBody>
                    <a:bodyPr/>
                    <a:lstStyle/>
                    <a:p>
                      <a:pPr algn="ctr">
                        <a:spcAft>
                          <a:spcPts val="0"/>
                        </a:spcAft>
                      </a:pPr>
                      <a:r>
                        <a:rPr lang="en-US" sz="1400" kern="100" dirty="0">
                          <a:effectLst/>
                        </a:rPr>
                        <a:t>13</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95K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4"/>
                  </a:ext>
                </a:extLst>
              </a:tr>
              <a:tr h="274320">
                <a:tc>
                  <a:txBody>
                    <a:bodyPr/>
                    <a:lstStyle/>
                    <a:p>
                      <a:pPr algn="ctr">
                        <a:spcAft>
                          <a:spcPts val="0"/>
                        </a:spcAft>
                      </a:pPr>
                      <a:r>
                        <a:rPr lang="en-US" sz="1400" kern="100" dirty="0">
                          <a:effectLst/>
                        </a:rPr>
                        <a:t>14</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70K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5"/>
                  </a:ext>
                </a:extLst>
              </a:tr>
              <a:tr h="274320">
                <a:tc>
                  <a:txBody>
                    <a:bodyPr/>
                    <a:lstStyle/>
                    <a:p>
                      <a:pPr algn="ctr">
                        <a:spcAft>
                          <a:spcPts val="0"/>
                        </a:spcAft>
                      </a:pPr>
                      <a:r>
                        <a:rPr lang="en-US" sz="1400" kern="100" dirty="0">
                          <a:effectLst/>
                        </a:rPr>
                        <a:t>15</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Divorced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95K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6"/>
                  </a:ext>
                </a:extLst>
              </a:tr>
              <a:tr h="274320">
                <a:tc>
                  <a:txBody>
                    <a:bodyPr/>
                    <a:lstStyle/>
                    <a:p>
                      <a:pPr algn="ctr">
                        <a:spcAft>
                          <a:spcPts val="0"/>
                        </a:spcAft>
                      </a:pPr>
                      <a:r>
                        <a:rPr lang="en-US" sz="1400" kern="100" dirty="0">
                          <a:effectLst/>
                        </a:rPr>
                        <a:t>16</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60K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7"/>
                  </a:ext>
                </a:extLst>
              </a:tr>
            </a:tbl>
          </a:graphicData>
        </a:graphic>
      </p:graphicFrame>
      <p:sp>
        <p:nvSpPr>
          <p:cNvPr id="68" name="Text Box 26"/>
          <p:cNvSpPr txBox="1">
            <a:spLocks noChangeArrowheads="1"/>
          </p:cNvSpPr>
          <p:nvPr/>
        </p:nvSpPr>
        <p:spPr bwMode="auto">
          <a:xfrm>
            <a:off x="4211388" y="2605005"/>
            <a:ext cx="305184" cy="359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2000" dirty="0">
                <a:solidFill>
                  <a:srgbClr val="C00000"/>
                </a:solidFill>
                <a:effectLst>
                  <a:outerShdw blurRad="38100" dist="38100" dir="2700000" algn="tl">
                    <a:srgbClr val="000000">
                      <a:alpha val="43137"/>
                    </a:srgbClr>
                  </a:outerShdw>
                </a:effectLst>
                <a:latin typeface="Times New Roman"/>
                <a:cs typeface="宋体"/>
                <a:sym typeface="Wingdings"/>
              </a:rPr>
              <a:t></a:t>
            </a:r>
            <a:endParaRPr lang="zh-CN" altLang="en-US" sz="3600"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cs typeface="宋体"/>
            </a:endParaRPr>
          </a:p>
        </p:txBody>
      </p:sp>
      <p:sp>
        <p:nvSpPr>
          <p:cNvPr id="69" name="Text Box 26"/>
          <p:cNvSpPr txBox="1">
            <a:spLocks noChangeArrowheads="1"/>
          </p:cNvSpPr>
          <p:nvPr/>
        </p:nvSpPr>
        <p:spPr bwMode="auto">
          <a:xfrm>
            <a:off x="4211388" y="3166121"/>
            <a:ext cx="266712" cy="359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2000" dirty="0">
                <a:solidFill>
                  <a:srgbClr val="C00000"/>
                </a:solidFill>
                <a:effectLst>
                  <a:outerShdw blurRad="38100" dist="38100" dir="2700000" algn="tl">
                    <a:srgbClr val="000000">
                      <a:alpha val="43137"/>
                    </a:srgbClr>
                  </a:outerShdw>
                </a:effectLst>
                <a:latin typeface="Times New Roman"/>
                <a:cs typeface="宋体"/>
                <a:sym typeface="Wingdings"/>
              </a:rPr>
              <a:t></a:t>
            </a:r>
            <a:endParaRPr lang="zh-CN" altLang="en-US" sz="3600"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cs typeface="宋体"/>
            </a:endParaRPr>
          </a:p>
        </p:txBody>
      </p:sp>
      <p:sp>
        <p:nvSpPr>
          <p:cNvPr id="70" name="Text Box 26"/>
          <p:cNvSpPr txBox="1">
            <a:spLocks noChangeArrowheads="1"/>
          </p:cNvSpPr>
          <p:nvPr/>
        </p:nvSpPr>
        <p:spPr bwMode="auto">
          <a:xfrm>
            <a:off x="4211388" y="2885563"/>
            <a:ext cx="305184" cy="359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2000" dirty="0">
                <a:solidFill>
                  <a:srgbClr val="C00000"/>
                </a:solidFill>
                <a:effectLst>
                  <a:outerShdw blurRad="38100" dist="38100" dir="2700000" algn="tl">
                    <a:srgbClr val="000000">
                      <a:alpha val="43137"/>
                    </a:srgbClr>
                  </a:outerShdw>
                </a:effectLst>
                <a:latin typeface="Times New Roman"/>
                <a:cs typeface="宋体"/>
                <a:sym typeface="Wingdings"/>
              </a:rPr>
              <a:t></a:t>
            </a:r>
            <a:endParaRPr lang="zh-CN" altLang="en-US" sz="3600"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cs typeface="宋体"/>
            </a:endParaRPr>
          </a:p>
        </p:txBody>
      </p:sp>
      <p:sp>
        <p:nvSpPr>
          <p:cNvPr id="71" name="Text Box 26"/>
          <p:cNvSpPr txBox="1">
            <a:spLocks noChangeArrowheads="1"/>
          </p:cNvSpPr>
          <p:nvPr/>
        </p:nvSpPr>
        <p:spPr bwMode="auto">
          <a:xfrm>
            <a:off x="4211388" y="3446679"/>
            <a:ext cx="305184" cy="359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2000" dirty="0">
                <a:solidFill>
                  <a:srgbClr val="C00000"/>
                </a:solidFill>
                <a:effectLst>
                  <a:outerShdw blurRad="38100" dist="38100" dir="2700000" algn="tl">
                    <a:srgbClr val="000000">
                      <a:alpha val="43137"/>
                    </a:srgbClr>
                  </a:outerShdw>
                </a:effectLst>
                <a:latin typeface="Times New Roman"/>
                <a:cs typeface="宋体"/>
                <a:sym typeface="Wingdings"/>
              </a:rPr>
              <a:t></a:t>
            </a:r>
            <a:endParaRPr lang="zh-CN" altLang="en-US" sz="3600"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cs typeface="宋体"/>
            </a:endParaRPr>
          </a:p>
        </p:txBody>
      </p:sp>
      <p:sp>
        <p:nvSpPr>
          <p:cNvPr id="72" name="Text Box 26"/>
          <p:cNvSpPr txBox="1">
            <a:spLocks noChangeArrowheads="1"/>
          </p:cNvSpPr>
          <p:nvPr/>
        </p:nvSpPr>
        <p:spPr bwMode="auto">
          <a:xfrm>
            <a:off x="4211388" y="3727237"/>
            <a:ext cx="305184" cy="359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2000" dirty="0">
                <a:solidFill>
                  <a:srgbClr val="C00000"/>
                </a:solidFill>
                <a:effectLst>
                  <a:outerShdw blurRad="38100" dist="38100" dir="2700000" algn="tl">
                    <a:srgbClr val="000000">
                      <a:alpha val="43137"/>
                    </a:srgbClr>
                  </a:outerShdw>
                </a:effectLst>
                <a:latin typeface="Times New Roman"/>
                <a:cs typeface="宋体"/>
                <a:sym typeface="Wingdings"/>
              </a:rPr>
              <a:t></a:t>
            </a:r>
            <a:endParaRPr lang="zh-CN" altLang="en-US" sz="3600"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cs typeface="宋体"/>
            </a:endParaRPr>
          </a:p>
        </p:txBody>
      </p:sp>
      <p:sp>
        <p:nvSpPr>
          <p:cNvPr id="73" name="Text Box 26"/>
          <p:cNvSpPr txBox="1">
            <a:spLocks noChangeArrowheads="1"/>
          </p:cNvSpPr>
          <p:nvPr/>
        </p:nvSpPr>
        <p:spPr bwMode="auto">
          <a:xfrm>
            <a:off x="4211388" y="4007200"/>
            <a:ext cx="305184" cy="359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2000" dirty="0">
                <a:solidFill>
                  <a:srgbClr val="C00000"/>
                </a:solidFill>
                <a:effectLst>
                  <a:outerShdw blurRad="38100" dist="38100" dir="2700000" algn="tl">
                    <a:srgbClr val="000000">
                      <a:alpha val="43137"/>
                    </a:srgbClr>
                  </a:outerShdw>
                </a:effectLst>
                <a:latin typeface="Times New Roman"/>
                <a:cs typeface="宋体"/>
                <a:sym typeface="Wingdings"/>
              </a:rPr>
              <a:t></a:t>
            </a:r>
            <a:endParaRPr lang="zh-CN" altLang="en-US" sz="3600"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cs typeface="宋体"/>
            </a:endParaRPr>
          </a:p>
        </p:txBody>
      </p:sp>
      <p:sp>
        <p:nvSpPr>
          <p:cNvPr id="74" name="Text Box 26"/>
          <p:cNvSpPr txBox="1">
            <a:spLocks noChangeArrowheads="1"/>
          </p:cNvSpPr>
          <p:nvPr/>
        </p:nvSpPr>
        <p:spPr bwMode="auto">
          <a:xfrm>
            <a:off x="4516572" y="4383934"/>
            <a:ext cx="2411530" cy="667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fontAlgn="base"/>
            <a:r>
              <a:rPr lang="zh-CN" altLang="en-US" sz="2000" dirty="0">
                <a:solidFill>
                  <a:srgbClr val="C00000"/>
                </a:solidFill>
                <a:effectLst>
                  <a:outerShdw blurRad="38100" dist="38100" dir="2700000" algn="tl">
                    <a:srgbClr val="000000">
                      <a:alpha val="43137"/>
                    </a:srgbClr>
                  </a:outerShdw>
                </a:effectLst>
                <a:latin typeface="Times New Roman"/>
                <a:ea typeface="华文细黑" pitchFamily="2" charset="-122"/>
                <a:cs typeface="宋体"/>
                <a:sym typeface="Wingdings"/>
              </a:rPr>
              <a:t>误差率</a:t>
            </a:r>
            <a:r>
              <a:rPr lang="en-US" altLang="zh-CN" sz="2000" dirty="0">
                <a:solidFill>
                  <a:srgbClr val="C00000"/>
                </a:solidFill>
                <a:effectLst>
                  <a:outerShdw blurRad="38100" dist="38100" dir="2700000" algn="tl">
                    <a:srgbClr val="000000">
                      <a:alpha val="43137"/>
                    </a:srgbClr>
                  </a:outerShdw>
                </a:effectLst>
                <a:latin typeface="Times New Roman"/>
                <a:ea typeface="华文细黑" pitchFamily="2" charset="-122"/>
                <a:cs typeface="宋体"/>
                <a:sym typeface="Wingdings"/>
              </a:rPr>
              <a:t>=1/6</a:t>
            </a:r>
          </a:p>
          <a:p>
            <a:pPr fontAlgn="base"/>
            <a:r>
              <a:rPr lang="zh-CN" altLang="en-US" sz="2000" dirty="0">
                <a:solidFill>
                  <a:srgbClr val="C00000"/>
                </a:solidFill>
                <a:effectLst>
                  <a:outerShdw blurRad="38100" dist="38100" dir="2700000" algn="tl">
                    <a:srgbClr val="000000">
                      <a:alpha val="43137"/>
                    </a:srgbClr>
                  </a:outerShdw>
                </a:effectLst>
                <a:latin typeface="Times New Roman"/>
                <a:ea typeface="华文细黑" pitchFamily="2" charset="-122"/>
                <a:cs typeface="宋体"/>
                <a:sym typeface="Wingdings"/>
              </a:rPr>
              <a:t>可以接受，模型确定</a:t>
            </a:r>
            <a:endParaRPr lang="zh-CN" altLang="en-US" sz="3600"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cs typeface="宋体"/>
            </a:endParaRPr>
          </a:p>
        </p:txBody>
      </p:sp>
      <p:grpSp>
        <p:nvGrpSpPr>
          <p:cNvPr id="38" name="画布 307231"/>
          <p:cNvGrpSpPr/>
          <p:nvPr/>
        </p:nvGrpSpPr>
        <p:grpSpPr>
          <a:xfrm>
            <a:off x="179512" y="2868322"/>
            <a:ext cx="4032448" cy="2828931"/>
            <a:chOff x="0" y="0"/>
            <a:chExt cx="2700020" cy="2405380"/>
          </a:xfrm>
        </p:grpSpPr>
        <p:sp>
          <p:nvSpPr>
            <p:cNvPr id="39" name="矩形 38"/>
            <p:cNvSpPr/>
            <p:nvPr/>
          </p:nvSpPr>
          <p:spPr>
            <a:xfrm>
              <a:off x="0" y="0"/>
              <a:ext cx="2700020" cy="2405380"/>
            </a:xfrm>
            <a:prstGeom prst="rect">
              <a:avLst/>
            </a:prstGeom>
          </p:spPr>
        </p:sp>
        <p:sp>
          <p:nvSpPr>
            <p:cNvPr id="40" name="Text Box 26"/>
            <p:cNvSpPr txBox="1">
              <a:spLocks noChangeArrowheads="1"/>
            </p:cNvSpPr>
            <p:nvPr/>
          </p:nvSpPr>
          <p:spPr bwMode="auto">
            <a:xfrm>
              <a:off x="365161" y="426187"/>
              <a:ext cx="230104" cy="227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1400" dirty="0">
                  <a:solidFill>
                    <a:srgbClr val="000000"/>
                  </a:solidFill>
                  <a:latin typeface="Times New Roman"/>
                  <a:cs typeface="宋体"/>
                </a:rPr>
                <a:t>yes</a:t>
              </a:r>
              <a:endParaRPr lang="zh-CN" altLang="en-US" sz="2400" dirty="0">
                <a:latin typeface="华文细黑" pitchFamily="2" charset="-122"/>
                <a:ea typeface="华文细黑" pitchFamily="2" charset="-122"/>
                <a:cs typeface="宋体"/>
              </a:endParaRPr>
            </a:p>
          </p:txBody>
        </p:sp>
        <p:sp>
          <p:nvSpPr>
            <p:cNvPr id="41" name="椭圆 40"/>
            <p:cNvSpPr/>
            <p:nvPr/>
          </p:nvSpPr>
          <p:spPr>
            <a:xfrm>
              <a:off x="653137" y="32491"/>
              <a:ext cx="731858" cy="337286"/>
            </a:xfrm>
            <a:prstGeom prst="ellipse">
              <a:avLst/>
            </a:prstGeom>
            <a:solidFill>
              <a:schemeClr val="accent3">
                <a:lumMod val="20000"/>
                <a:lumOff val="80000"/>
              </a:schemeClr>
            </a:solidFill>
            <a:ln w="9525">
              <a:solidFill>
                <a:schemeClr val="accent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a:latin typeface="Times New Roman"/>
                  <a:ea typeface="华文细黑" pitchFamily="2" charset="-122"/>
                  <a:cs typeface="Times New Roman"/>
                </a:rPr>
                <a:t>Refund</a:t>
              </a:r>
              <a:endParaRPr lang="zh-CN" altLang="en-US" sz="1600" kern="100" dirty="0">
                <a:latin typeface="Times New Roman"/>
                <a:ea typeface="华文细黑" pitchFamily="2" charset="-122"/>
                <a:cs typeface="Times New Roman"/>
              </a:endParaRPr>
            </a:p>
          </p:txBody>
        </p:sp>
        <p:sp>
          <p:nvSpPr>
            <p:cNvPr id="42" name="矩形 41"/>
            <p:cNvSpPr/>
            <p:nvPr/>
          </p:nvSpPr>
          <p:spPr>
            <a:xfrm>
              <a:off x="31036" y="728579"/>
              <a:ext cx="516734" cy="236809"/>
            </a:xfrm>
            <a:prstGeom prst="rect">
              <a:avLst/>
            </a:prstGeom>
            <a:solidFill>
              <a:schemeClr val="tx2">
                <a:lumMod val="20000"/>
                <a:lumOff val="80000"/>
              </a:schemeClr>
            </a:solidFill>
            <a:ln w="6350">
              <a:solidFill>
                <a:schemeClr val="tx2">
                  <a:lumMod val="60000"/>
                  <a:lumOff val="4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a:latin typeface="Times New Roman"/>
                  <a:ea typeface="华文细黑" pitchFamily="2" charset="-122"/>
                  <a:cs typeface="Times New Roman"/>
                </a:rPr>
                <a:t>no / 3</a:t>
              </a:r>
              <a:endParaRPr lang="zh-CN" altLang="en-US" sz="1600" kern="100" dirty="0">
                <a:latin typeface="Times New Roman"/>
                <a:ea typeface="华文细黑" pitchFamily="2" charset="-122"/>
                <a:cs typeface="Times New Roman"/>
              </a:endParaRPr>
            </a:p>
          </p:txBody>
        </p:sp>
        <p:sp>
          <p:nvSpPr>
            <p:cNvPr id="43" name="椭圆 42"/>
            <p:cNvSpPr/>
            <p:nvPr/>
          </p:nvSpPr>
          <p:spPr>
            <a:xfrm>
              <a:off x="1350775" y="649623"/>
              <a:ext cx="720000" cy="337286"/>
            </a:xfrm>
            <a:prstGeom prst="ellipse">
              <a:avLst/>
            </a:prstGeom>
            <a:solidFill>
              <a:schemeClr val="accent3">
                <a:lumMod val="20000"/>
                <a:lumOff val="80000"/>
              </a:schemeClr>
            </a:solidFill>
            <a:ln w="9525">
              <a:solidFill>
                <a:schemeClr val="accent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err="1">
                  <a:latin typeface="Times New Roman"/>
                  <a:ea typeface="华文细黑" pitchFamily="2" charset="-122"/>
                  <a:cs typeface="Times New Roman"/>
                </a:rPr>
                <a:t>MarSt</a:t>
              </a:r>
              <a:endParaRPr lang="zh-CN" altLang="en-US" sz="1600" kern="100" dirty="0">
                <a:latin typeface="Times New Roman"/>
                <a:ea typeface="华文细黑" pitchFamily="2" charset="-122"/>
                <a:cs typeface="Times New Roman"/>
              </a:endParaRPr>
            </a:p>
          </p:txBody>
        </p:sp>
        <p:sp>
          <p:nvSpPr>
            <p:cNvPr id="44" name="椭圆 43"/>
            <p:cNvSpPr/>
            <p:nvPr/>
          </p:nvSpPr>
          <p:spPr>
            <a:xfrm>
              <a:off x="732090" y="1286397"/>
              <a:ext cx="731858" cy="337286"/>
            </a:xfrm>
            <a:prstGeom prst="ellipse">
              <a:avLst/>
            </a:prstGeom>
            <a:solidFill>
              <a:schemeClr val="accent3">
                <a:lumMod val="20000"/>
                <a:lumOff val="80000"/>
              </a:schemeClr>
            </a:solidFill>
            <a:ln w="9525">
              <a:solidFill>
                <a:schemeClr val="accent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a:latin typeface="Times New Roman"/>
                  <a:ea typeface="华文细黑" pitchFamily="2" charset="-122"/>
                  <a:cs typeface="Times New Roman"/>
                </a:rPr>
                <a:t>Income</a:t>
              </a:r>
              <a:endParaRPr lang="zh-CN" altLang="en-US" sz="1600" kern="100" dirty="0">
                <a:latin typeface="Times New Roman"/>
                <a:ea typeface="华文细黑" pitchFamily="2" charset="-122"/>
                <a:cs typeface="Times New Roman"/>
              </a:endParaRPr>
            </a:p>
          </p:txBody>
        </p:sp>
        <p:sp>
          <p:nvSpPr>
            <p:cNvPr id="45" name="矩形 44"/>
            <p:cNvSpPr/>
            <p:nvPr/>
          </p:nvSpPr>
          <p:spPr>
            <a:xfrm>
              <a:off x="2175935" y="1309696"/>
              <a:ext cx="516734" cy="236809"/>
            </a:xfrm>
            <a:prstGeom prst="rect">
              <a:avLst/>
            </a:prstGeom>
            <a:solidFill>
              <a:schemeClr val="tx2">
                <a:lumMod val="20000"/>
                <a:lumOff val="80000"/>
              </a:schemeClr>
            </a:solidFill>
            <a:ln w="6350">
              <a:solidFill>
                <a:schemeClr val="tx2">
                  <a:lumMod val="60000"/>
                  <a:lumOff val="4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a:latin typeface="Times New Roman"/>
                  <a:ea typeface="华文细黑" pitchFamily="2" charset="-122"/>
                  <a:cs typeface="Times New Roman"/>
                </a:rPr>
                <a:t>no / 3</a:t>
              </a:r>
              <a:endParaRPr lang="zh-CN" altLang="en-US" sz="1600" kern="100" dirty="0">
                <a:latin typeface="Times New Roman"/>
                <a:ea typeface="华文细黑" pitchFamily="2" charset="-122"/>
                <a:cs typeface="Times New Roman"/>
              </a:endParaRPr>
            </a:p>
          </p:txBody>
        </p:sp>
        <p:sp>
          <p:nvSpPr>
            <p:cNvPr id="46" name="矩形 45"/>
            <p:cNvSpPr/>
            <p:nvPr/>
          </p:nvSpPr>
          <p:spPr>
            <a:xfrm>
              <a:off x="310163" y="2139852"/>
              <a:ext cx="516734" cy="236809"/>
            </a:xfrm>
            <a:prstGeom prst="rect">
              <a:avLst/>
            </a:prstGeom>
            <a:solidFill>
              <a:schemeClr val="tx2">
                <a:lumMod val="20000"/>
                <a:lumOff val="80000"/>
              </a:schemeClr>
            </a:solidFill>
            <a:ln w="6350">
              <a:solidFill>
                <a:schemeClr val="tx2">
                  <a:lumMod val="60000"/>
                  <a:lumOff val="4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a:latin typeface="Times New Roman"/>
                  <a:ea typeface="华文细黑" pitchFamily="2" charset="-122"/>
                  <a:cs typeface="Times New Roman"/>
                </a:rPr>
                <a:t>no / 1</a:t>
              </a:r>
              <a:endParaRPr lang="zh-CN" altLang="en-US" sz="1600" kern="100" dirty="0">
                <a:latin typeface="Times New Roman"/>
                <a:ea typeface="华文细黑" pitchFamily="2" charset="-122"/>
                <a:cs typeface="Times New Roman"/>
              </a:endParaRPr>
            </a:p>
          </p:txBody>
        </p:sp>
        <p:sp>
          <p:nvSpPr>
            <p:cNvPr id="47" name="矩形 46"/>
            <p:cNvSpPr/>
            <p:nvPr/>
          </p:nvSpPr>
          <p:spPr>
            <a:xfrm>
              <a:off x="1463911" y="2139852"/>
              <a:ext cx="516734" cy="236809"/>
            </a:xfrm>
            <a:prstGeom prst="rect">
              <a:avLst/>
            </a:prstGeom>
            <a:solidFill>
              <a:schemeClr val="tx2">
                <a:lumMod val="20000"/>
                <a:lumOff val="80000"/>
              </a:schemeClr>
            </a:solidFill>
            <a:ln w="6350">
              <a:solidFill>
                <a:schemeClr val="tx2">
                  <a:lumMod val="60000"/>
                  <a:lumOff val="4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a:latin typeface="Times New Roman"/>
                  <a:ea typeface="华文细黑" pitchFamily="2" charset="-122"/>
                  <a:cs typeface="Times New Roman"/>
                </a:rPr>
                <a:t>yes / 3</a:t>
              </a:r>
              <a:endParaRPr lang="zh-CN" altLang="en-US" sz="1600" kern="100" dirty="0">
                <a:latin typeface="Times New Roman"/>
                <a:ea typeface="华文细黑" pitchFamily="2" charset="-122"/>
                <a:cs typeface="Times New Roman"/>
              </a:endParaRPr>
            </a:p>
          </p:txBody>
        </p:sp>
        <p:cxnSp>
          <p:nvCxnSpPr>
            <p:cNvPr id="48" name="Line 14"/>
            <p:cNvCxnSpPr>
              <a:stCxn id="41" idx="4"/>
              <a:endCxn id="42" idx="0"/>
            </p:cNvCxnSpPr>
            <p:nvPr/>
          </p:nvCxnSpPr>
          <p:spPr bwMode="auto">
            <a:xfrm flipH="1">
              <a:off x="289402" y="369776"/>
              <a:ext cx="729664" cy="358801"/>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Line 14"/>
            <p:cNvCxnSpPr>
              <a:stCxn id="41" idx="4"/>
              <a:endCxn id="43" idx="0"/>
            </p:cNvCxnSpPr>
            <p:nvPr/>
          </p:nvCxnSpPr>
          <p:spPr bwMode="auto">
            <a:xfrm>
              <a:off x="1019066" y="369777"/>
              <a:ext cx="691709" cy="279846"/>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 name="Text Box 26"/>
            <p:cNvSpPr txBox="1">
              <a:spLocks noChangeArrowheads="1"/>
            </p:cNvSpPr>
            <p:nvPr/>
          </p:nvSpPr>
          <p:spPr bwMode="auto">
            <a:xfrm>
              <a:off x="1616510" y="418801"/>
              <a:ext cx="189317" cy="227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1400" dirty="0">
                  <a:solidFill>
                    <a:srgbClr val="000000"/>
                  </a:solidFill>
                  <a:latin typeface="Times New Roman"/>
                  <a:cs typeface="宋体"/>
                </a:rPr>
                <a:t>no</a:t>
              </a:r>
              <a:endParaRPr lang="zh-CN" altLang="en-US" sz="2400" dirty="0">
                <a:latin typeface="华文细黑" pitchFamily="2" charset="-122"/>
                <a:ea typeface="华文细黑" pitchFamily="2" charset="-122"/>
                <a:cs typeface="宋体"/>
              </a:endParaRPr>
            </a:p>
          </p:txBody>
        </p:sp>
        <p:cxnSp>
          <p:nvCxnSpPr>
            <p:cNvPr id="79" name="Line 14"/>
            <p:cNvCxnSpPr>
              <a:stCxn id="43" idx="4"/>
              <a:endCxn id="44" idx="0"/>
            </p:cNvCxnSpPr>
            <p:nvPr/>
          </p:nvCxnSpPr>
          <p:spPr bwMode="auto">
            <a:xfrm flipH="1">
              <a:off x="1098019" y="986909"/>
              <a:ext cx="612756" cy="299488"/>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 name="Text Box 26"/>
            <p:cNvSpPr txBox="1">
              <a:spLocks noChangeArrowheads="1"/>
            </p:cNvSpPr>
            <p:nvPr/>
          </p:nvSpPr>
          <p:spPr bwMode="auto">
            <a:xfrm>
              <a:off x="568300" y="1045435"/>
              <a:ext cx="878660" cy="227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51104" tIns="25551" rIns="51104" bIns="25551">
              <a:spAutoFit/>
            </a:bodyPr>
            <a:lstStyle/>
            <a:p>
              <a:pPr algn="r" fontAlgn="base"/>
              <a:r>
                <a:rPr lang="en-US" sz="1400" dirty="0" err="1">
                  <a:solidFill>
                    <a:srgbClr val="000000"/>
                  </a:solidFill>
                  <a:latin typeface="Times New Roman"/>
                  <a:cs typeface="宋体"/>
                </a:rPr>
                <a:t>Single,divorced</a:t>
              </a:r>
              <a:endParaRPr lang="zh-CN" altLang="en-US" sz="2400" dirty="0">
                <a:latin typeface="华文细黑" pitchFamily="2" charset="-122"/>
                <a:ea typeface="华文细黑" pitchFamily="2" charset="-122"/>
                <a:cs typeface="宋体"/>
              </a:endParaRPr>
            </a:p>
          </p:txBody>
        </p:sp>
        <p:sp>
          <p:nvSpPr>
            <p:cNvPr id="81" name="Text Box 26"/>
            <p:cNvSpPr txBox="1">
              <a:spLocks noChangeArrowheads="1"/>
            </p:cNvSpPr>
            <p:nvPr/>
          </p:nvSpPr>
          <p:spPr bwMode="auto">
            <a:xfrm>
              <a:off x="2139914" y="1077808"/>
              <a:ext cx="558547" cy="227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51104" tIns="25551" rIns="51104" bIns="25551">
              <a:spAutoFit/>
            </a:bodyPr>
            <a:lstStyle/>
            <a:p>
              <a:pPr algn="r" fontAlgn="base"/>
              <a:r>
                <a:rPr lang="en-US" sz="1400" dirty="0">
                  <a:solidFill>
                    <a:srgbClr val="000000"/>
                  </a:solidFill>
                  <a:latin typeface="Times New Roman"/>
                  <a:cs typeface="宋体"/>
                </a:rPr>
                <a:t>Married </a:t>
              </a:r>
              <a:endParaRPr lang="zh-CN" altLang="en-US" sz="2400" dirty="0">
                <a:latin typeface="华文细黑" pitchFamily="2" charset="-122"/>
                <a:ea typeface="华文细黑" pitchFamily="2" charset="-122"/>
                <a:cs typeface="宋体"/>
              </a:endParaRPr>
            </a:p>
          </p:txBody>
        </p:sp>
        <p:cxnSp>
          <p:nvCxnSpPr>
            <p:cNvPr id="82" name="Line 14"/>
            <p:cNvCxnSpPr>
              <a:stCxn id="43" idx="4"/>
              <a:endCxn id="45" idx="0"/>
            </p:cNvCxnSpPr>
            <p:nvPr/>
          </p:nvCxnSpPr>
          <p:spPr bwMode="auto">
            <a:xfrm>
              <a:off x="1710775" y="986909"/>
              <a:ext cx="723527" cy="322787"/>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 name="Line 14"/>
            <p:cNvCxnSpPr>
              <a:stCxn id="44" idx="4"/>
              <a:endCxn id="46" idx="0"/>
            </p:cNvCxnSpPr>
            <p:nvPr/>
          </p:nvCxnSpPr>
          <p:spPr bwMode="auto">
            <a:xfrm flipH="1">
              <a:off x="568530" y="1623683"/>
              <a:ext cx="529490" cy="516169"/>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 name="Line 14"/>
            <p:cNvCxnSpPr>
              <a:stCxn id="44" idx="4"/>
              <a:endCxn id="47" idx="0"/>
            </p:cNvCxnSpPr>
            <p:nvPr/>
          </p:nvCxnSpPr>
          <p:spPr bwMode="auto">
            <a:xfrm>
              <a:off x="1098020" y="1623683"/>
              <a:ext cx="624259" cy="516169"/>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Text Box 26"/>
            <p:cNvSpPr txBox="1">
              <a:spLocks noChangeArrowheads="1"/>
            </p:cNvSpPr>
            <p:nvPr/>
          </p:nvSpPr>
          <p:spPr bwMode="auto">
            <a:xfrm>
              <a:off x="436016" y="1854128"/>
              <a:ext cx="343876" cy="227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1400" dirty="0">
                  <a:solidFill>
                    <a:srgbClr val="000000"/>
                  </a:solidFill>
                  <a:latin typeface="Times New Roman"/>
                  <a:cs typeface="宋体"/>
                </a:rPr>
                <a:t>&lt;85K</a:t>
              </a:r>
              <a:endParaRPr lang="zh-CN" altLang="en-US" sz="2400" dirty="0">
                <a:latin typeface="华文细黑" pitchFamily="2" charset="-122"/>
                <a:ea typeface="华文细黑" pitchFamily="2" charset="-122"/>
                <a:cs typeface="宋体"/>
              </a:endParaRPr>
            </a:p>
          </p:txBody>
        </p:sp>
        <p:sp>
          <p:nvSpPr>
            <p:cNvPr id="86" name="Text Box 26"/>
            <p:cNvSpPr txBox="1">
              <a:spLocks noChangeArrowheads="1"/>
            </p:cNvSpPr>
            <p:nvPr/>
          </p:nvSpPr>
          <p:spPr bwMode="auto">
            <a:xfrm>
              <a:off x="1524706" y="1854128"/>
              <a:ext cx="341730" cy="227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1400" dirty="0">
                  <a:solidFill>
                    <a:srgbClr val="000000"/>
                  </a:solidFill>
                  <a:latin typeface="Times New Roman"/>
                  <a:cs typeface="宋体"/>
                </a:rPr>
                <a:t>≥85K</a:t>
              </a:r>
              <a:endParaRPr lang="zh-CN" altLang="en-US" sz="2400" dirty="0">
                <a:latin typeface="华文细黑" pitchFamily="2" charset="-122"/>
                <a:ea typeface="华文细黑" pitchFamily="2" charset="-122"/>
                <a:cs typeface="宋体"/>
              </a:endParaRPr>
            </a:p>
          </p:txBody>
        </p:sp>
      </p:grpSp>
      <p:cxnSp>
        <p:nvCxnSpPr>
          <p:cNvPr id="33" name="Line 14"/>
          <p:cNvCxnSpPr/>
          <p:nvPr/>
        </p:nvCxnSpPr>
        <p:spPr bwMode="auto">
          <a:xfrm flipH="1">
            <a:off x="611562" y="3299386"/>
            <a:ext cx="1089745" cy="421980"/>
          </a:xfrm>
          <a:prstGeom prst="line">
            <a:avLst/>
          </a:prstGeom>
          <a:noFill/>
          <a:ln w="38100">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line2-1"/>
          <p:cNvCxnSpPr>
            <a:stCxn id="41" idx="4"/>
            <a:endCxn id="43" idx="0"/>
          </p:cNvCxnSpPr>
          <p:nvPr/>
        </p:nvCxnSpPr>
        <p:spPr bwMode="auto">
          <a:xfrm>
            <a:off x="1701475" y="3303211"/>
            <a:ext cx="1033060" cy="329123"/>
          </a:xfrm>
          <a:prstGeom prst="line">
            <a:avLst/>
          </a:prstGeom>
          <a:noFill/>
          <a:ln w="38100">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 name="椭圆2"/>
          <p:cNvSpPr/>
          <p:nvPr/>
        </p:nvSpPr>
        <p:spPr>
          <a:xfrm>
            <a:off x="2196000" y="3633931"/>
            <a:ext cx="1075312" cy="396677"/>
          </a:xfrm>
          <a:prstGeom prst="ellipse">
            <a:avLst/>
          </a:prstGeom>
          <a:noFill/>
          <a:ln/>
        </p:spPr>
        <p:style>
          <a:lnRef idx="2">
            <a:schemeClr val="accent3"/>
          </a:lnRef>
          <a:fillRef idx="1">
            <a:schemeClr val="lt1"/>
          </a:fillRef>
          <a:effectRef idx="0">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zh-CN" altLang="en-US" sz="1600" kern="100" dirty="0">
              <a:latin typeface="Times New Roman"/>
              <a:ea typeface="华文细黑" pitchFamily="2" charset="-122"/>
              <a:cs typeface="Times New Roman"/>
            </a:endParaRPr>
          </a:p>
        </p:txBody>
      </p:sp>
      <p:cxnSp>
        <p:nvCxnSpPr>
          <p:cNvPr id="51" name="line2-2"/>
          <p:cNvCxnSpPr>
            <a:stCxn id="37" idx="4"/>
            <a:endCxn id="45" idx="0"/>
          </p:cNvCxnSpPr>
          <p:nvPr/>
        </p:nvCxnSpPr>
        <p:spPr bwMode="auto">
          <a:xfrm>
            <a:off x="2733658" y="4030607"/>
            <a:ext cx="1081457" cy="378028"/>
          </a:xfrm>
          <a:prstGeom prst="line">
            <a:avLst/>
          </a:prstGeom>
          <a:noFill/>
          <a:ln w="38100">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line3-1"/>
          <p:cNvCxnSpPr/>
          <p:nvPr/>
        </p:nvCxnSpPr>
        <p:spPr bwMode="auto">
          <a:xfrm>
            <a:off x="1666732" y="3299387"/>
            <a:ext cx="1033060" cy="329123"/>
          </a:xfrm>
          <a:prstGeom prst="line">
            <a:avLst/>
          </a:prstGeom>
          <a:noFill/>
          <a:ln w="38100">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椭圆3-1"/>
          <p:cNvSpPr/>
          <p:nvPr/>
        </p:nvSpPr>
        <p:spPr>
          <a:xfrm>
            <a:off x="2196000" y="3633931"/>
            <a:ext cx="1075312" cy="396677"/>
          </a:xfrm>
          <a:prstGeom prst="ellipse">
            <a:avLst/>
          </a:prstGeom>
          <a:noFill/>
          <a:ln/>
        </p:spPr>
        <p:style>
          <a:lnRef idx="2">
            <a:schemeClr val="accent3"/>
          </a:lnRef>
          <a:fillRef idx="1">
            <a:schemeClr val="lt1"/>
          </a:fillRef>
          <a:effectRef idx="0">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zh-CN" altLang="en-US" sz="1600" kern="100" dirty="0">
              <a:latin typeface="Times New Roman"/>
              <a:ea typeface="华文细黑" pitchFamily="2" charset="-122"/>
              <a:cs typeface="Times New Roman"/>
            </a:endParaRPr>
          </a:p>
        </p:txBody>
      </p:sp>
      <p:cxnSp>
        <p:nvCxnSpPr>
          <p:cNvPr id="54" name="Line3-2"/>
          <p:cNvCxnSpPr>
            <a:stCxn id="43" idx="4"/>
            <a:endCxn id="44" idx="0"/>
          </p:cNvCxnSpPr>
          <p:nvPr/>
        </p:nvCxnSpPr>
        <p:spPr bwMode="auto">
          <a:xfrm flipH="1">
            <a:off x="1819391" y="4029009"/>
            <a:ext cx="915144" cy="352224"/>
          </a:xfrm>
          <a:prstGeom prst="line">
            <a:avLst/>
          </a:prstGeom>
          <a:noFill/>
          <a:ln w="38100">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 name="椭圆3-2"/>
          <p:cNvSpPr/>
          <p:nvPr/>
        </p:nvSpPr>
        <p:spPr>
          <a:xfrm>
            <a:off x="1274400" y="4379131"/>
            <a:ext cx="1075312" cy="396677"/>
          </a:xfrm>
          <a:prstGeom prst="ellipse">
            <a:avLst/>
          </a:prstGeom>
          <a:noFill/>
          <a:ln/>
        </p:spPr>
        <p:style>
          <a:lnRef idx="2">
            <a:schemeClr val="accent3"/>
          </a:lnRef>
          <a:fillRef idx="1">
            <a:schemeClr val="lt1"/>
          </a:fillRef>
          <a:effectRef idx="0">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zh-CN" altLang="en-US" sz="1600" kern="100" dirty="0">
              <a:latin typeface="Times New Roman"/>
              <a:ea typeface="华文细黑" pitchFamily="2" charset="-122"/>
              <a:cs typeface="Times New Roman"/>
            </a:endParaRPr>
          </a:p>
        </p:txBody>
      </p:sp>
      <p:cxnSp>
        <p:nvCxnSpPr>
          <p:cNvPr id="56" name="Line3-3"/>
          <p:cNvCxnSpPr>
            <a:stCxn id="55" idx="4"/>
            <a:endCxn id="47" idx="0"/>
          </p:cNvCxnSpPr>
          <p:nvPr/>
        </p:nvCxnSpPr>
        <p:spPr bwMode="auto">
          <a:xfrm>
            <a:off x="1812056" y="4775808"/>
            <a:ext cx="939658" cy="609161"/>
          </a:xfrm>
          <a:prstGeom prst="line">
            <a:avLst/>
          </a:prstGeom>
          <a:noFill/>
          <a:ln w="38100">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矩形 2"/>
          <p:cNvSpPr/>
          <p:nvPr/>
        </p:nvSpPr>
        <p:spPr>
          <a:xfrm>
            <a:off x="4499992" y="2661762"/>
            <a:ext cx="4519924" cy="253067"/>
          </a:xfrm>
          <a:prstGeom prst="rect">
            <a:avLst/>
          </a:prstGeom>
          <a:noFill/>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57" name="矩形 56"/>
          <p:cNvSpPr/>
          <p:nvPr/>
        </p:nvSpPr>
        <p:spPr>
          <a:xfrm>
            <a:off x="4499992" y="2941783"/>
            <a:ext cx="4519924" cy="253067"/>
          </a:xfrm>
          <a:prstGeom prst="rect">
            <a:avLst/>
          </a:prstGeom>
          <a:noFill/>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58" name="矩形 57"/>
          <p:cNvSpPr/>
          <p:nvPr/>
        </p:nvSpPr>
        <p:spPr>
          <a:xfrm>
            <a:off x="4499992" y="3221804"/>
            <a:ext cx="4519924" cy="253067"/>
          </a:xfrm>
          <a:prstGeom prst="rect">
            <a:avLst/>
          </a:prstGeom>
          <a:noFill/>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5" name="页脚占位符 4">
            <a:extLst>
              <a:ext uri="{FF2B5EF4-FFF2-40B4-BE49-F238E27FC236}">
                <a16:creationId xmlns:a16="http://schemas.microsoft.com/office/drawing/2014/main" id="{FF8EBC4E-CC2A-4A90-940B-39512060038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7582C4B-F1C9-4D70-99D9-19D7EA1931F0}"/>
              </a:ext>
            </a:extLst>
          </p:cNvPr>
          <p:cNvSpPr>
            <a:spLocks noGrp="1"/>
          </p:cNvSpPr>
          <p:nvPr>
            <p:ph type="sldNum" sz="quarter" idx="12"/>
          </p:nvPr>
        </p:nvSpPr>
        <p:spPr/>
        <p:txBody>
          <a:bodyPr/>
          <a:lstStyle/>
          <a:p>
            <a:fld id="{5AD84F5B-1672-4D3F-9FEC-5DF89A7B7912}" type="slidenum">
              <a:rPr lang="zh-CN" altLang="en-US" smtClean="0"/>
              <a:t>22</a:t>
            </a:fld>
            <a:endParaRPr lang="zh-CN" altLang="en-US"/>
          </a:p>
        </p:txBody>
      </p:sp>
    </p:spTree>
    <p:extLst>
      <p:ext uri="{BB962C8B-B14F-4D97-AF65-F5344CB8AC3E}">
        <p14:creationId xmlns:p14="http://schemas.microsoft.com/office/powerpoint/2010/main" val="18838365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a:t>
            </a:r>
            <a:r>
              <a:rPr lang="zh-CN" altLang="en-US" dirty="0"/>
              <a:t>使用决策树模型</a:t>
            </a:r>
          </a:p>
        </p:txBody>
      </p:sp>
      <p:graphicFrame>
        <p:nvGraphicFramePr>
          <p:cNvPr id="75" name="表格 74"/>
          <p:cNvGraphicFramePr>
            <a:graphicFrameLocks noGrp="1"/>
          </p:cNvGraphicFramePr>
          <p:nvPr/>
        </p:nvGraphicFramePr>
        <p:xfrm>
          <a:off x="4427986" y="1873628"/>
          <a:ext cx="4537075" cy="1402080"/>
        </p:xfrm>
        <a:graphic>
          <a:graphicData uri="http://schemas.openxmlformats.org/drawingml/2006/table">
            <a:tbl>
              <a:tblPr firstRow="1" firstCol="1" bandRow="1" bandCol="1">
                <a:tableStyleId>{5C22544A-7EE6-4342-B048-85BDC9FD1C3A}</a:tableStyleId>
              </a:tblPr>
              <a:tblGrid>
                <a:gridCol w="554672">
                  <a:extLst>
                    <a:ext uri="{9D8B030D-6E8A-4147-A177-3AD203B41FA5}">
                      <a16:colId xmlns:a16="http://schemas.microsoft.com/office/drawing/2014/main" val="20000"/>
                    </a:ext>
                  </a:extLst>
                </a:gridCol>
                <a:gridCol w="843598">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876935">
                  <a:extLst>
                    <a:ext uri="{9D8B030D-6E8A-4147-A177-3AD203B41FA5}">
                      <a16:colId xmlns:a16="http://schemas.microsoft.com/office/drawing/2014/main" val="20003"/>
                    </a:ext>
                  </a:extLst>
                </a:gridCol>
                <a:gridCol w="753110">
                  <a:extLst>
                    <a:ext uri="{9D8B030D-6E8A-4147-A177-3AD203B41FA5}">
                      <a16:colId xmlns:a16="http://schemas.microsoft.com/office/drawing/2014/main" val="20004"/>
                    </a:ext>
                  </a:extLst>
                </a:gridCol>
              </a:tblGrid>
              <a:tr h="304800">
                <a:tc gridSpan="5">
                  <a:txBody>
                    <a:bodyPr/>
                    <a:lstStyle/>
                    <a:p>
                      <a:pPr algn="ctr">
                        <a:spcBef>
                          <a:spcPts val="300"/>
                        </a:spcBef>
                        <a:spcAft>
                          <a:spcPts val="300"/>
                        </a:spcAft>
                      </a:pPr>
                      <a:r>
                        <a:rPr lang="en-US" sz="1400" kern="100" dirty="0">
                          <a:effectLst/>
                        </a:rPr>
                        <a:t>(c) </a:t>
                      </a:r>
                      <a:r>
                        <a:rPr lang="zh-CN" sz="1400" kern="100" dirty="0">
                          <a:effectLst/>
                          <a:ea typeface="华文细黑" pitchFamily="2" charset="-122"/>
                        </a:rPr>
                        <a:t>未分类数据</a:t>
                      </a:r>
                      <a:endParaRPr lang="zh-CN" sz="1400" kern="100" dirty="0">
                        <a:effectLst/>
                        <a:latin typeface="Times New Roman"/>
                        <a:ea typeface="楷体"/>
                      </a:endParaRPr>
                    </a:p>
                  </a:txBody>
                  <a:tcPr marL="68580" marR="68580" marT="0" marB="0"/>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74320">
                <a:tc>
                  <a:txBody>
                    <a:bodyPr/>
                    <a:lstStyle/>
                    <a:p>
                      <a:pPr indent="-34290" algn="ctr">
                        <a:spcAft>
                          <a:spcPts val="0"/>
                        </a:spcAft>
                      </a:pPr>
                      <a:r>
                        <a:rPr lang="en-US" sz="1400" b="1" kern="100" dirty="0" err="1">
                          <a:effectLst/>
                        </a:rPr>
                        <a:t>Tid</a:t>
                      </a:r>
                      <a:endParaRPr lang="zh-CN" sz="1400" b="1" kern="100" dirty="0">
                        <a:effectLst/>
                        <a:latin typeface="Times New Roman"/>
                        <a:ea typeface="华文细黑" pitchFamily="2" charset="-122"/>
                        <a:cs typeface="Times New Roman"/>
                      </a:endParaRPr>
                    </a:p>
                  </a:txBody>
                  <a:tcPr marL="68580" marR="68580" marT="0" marB="0"/>
                </a:tc>
                <a:tc>
                  <a:txBody>
                    <a:bodyPr/>
                    <a:lstStyle/>
                    <a:p>
                      <a:pPr indent="-34290" algn="ctr">
                        <a:spcAft>
                          <a:spcPts val="0"/>
                        </a:spcAft>
                      </a:pPr>
                      <a:r>
                        <a:rPr lang="en-US" sz="1400" b="1" kern="100" dirty="0">
                          <a:effectLst/>
                        </a:rPr>
                        <a:t>Refund</a:t>
                      </a:r>
                      <a:endParaRPr lang="zh-CN" sz="1400" b="1"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b="1" kern="100" dirty="0" err="1">
                          <a:effectLst/>
                        </a:rPr>
                        <a:t>MaritalStatus</a:t>
                      </a:r>
                      <a:endParaRPr lang="zh-CN" sz="1400" b="1"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b="1" kern="100" dirty="0">
                          <a:effectLst/>
                        </a:rPr>
                        <a:t>Income</a:t>
                      </a:r>
                      <a:endParaRPr lang="zh-CN" sz="1400" b="1"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b="1" kern="100" dirty="0">
                          <a:effectLst/>
                        </a:rPr>
                        <a:t>Cheat</a:t>
                      </a:r>
                      <a:endParaRPr lang="zh-CN" sz="1400" b="1"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1"/>
                  </a:ext>
                </a:extLst>
              </a:tr>
              <a:tr h="274320">
                <a:tc>
                  <a:txBody>
                    <a:bodyPr/>
                    <a:lstStyle/>
                    <a:p>
                      <a:pPr algn="ctr">
                        <a:spcAft>
                          <a:spcPts val="0"/>
                        </a:spcAft>
                      </a:pPr>
                      <a:r>
                        <a:rPr lang="en-US" sz="1400" kern="100" dirty="0">
                          <a:effectLst/>
                        </a:rPr>
                        <a:t>1</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yes</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125K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2"/>
                  </a:ext>
                </a:extLst>
              </a:tr>
              <a:tr h="274320">
                <a:tc>
                  <a:txBody>
                    <a:bodyPr/>
                    <a:lstStyle/>
                    <a:p>
                      <a:pPr algn="ctr">
                        <a:spcAft>
                          <a:spcPts val="0"/>
                        </a:spcAft>
                      </a:pPr>
                      <a:r>
                        <a:rPr lang="en-US" sz="1400" kern="100" dirty="0">
                          <a:effectLst/>
                        </a:rPr>
                        <a:t>2</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Married</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100K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3"/>
                  </a:ext>
                </a:extLst>
              </a:tr>
              <a:tr h="274320">
                <a:tc>
                  <a:txBody>
                    <a:bodyPr/>
                    <a:lstStyle/>
                    <a:p>
                      <a:pPr algn="ctr">
                        <a:spcAft>
                          <a:spcPts val="0"/>
                        </a:spcAft>
                      </a:pPr>
                      <a:r>
                        <a:rPr lang="en-US" sz="1400" kern="100" dirty="0">
                          <a:effectLst/>
                        </a:rPr>
                        <a:t>3</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no</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Single</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70K</a:t>
                      </a:r>
                      <a:endParaRPr lang="zh-CN" sz="14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a:t>
                      </a:r>
                      <a:endParaRPr lang="zh-CN" sz="14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4"/>
                  </a:ext>
                </a:extLst>
              </a:tr>
            </a:tbl>
          </a:graphicData>
        </a:graphic>
      </p:graphicFrame>
      <p:grpSp>
        <p:nvGrpSpPr>
          <p:cNvPr id="38" name="画布 307231"/>
          <p:cNvGrpSpPr/>
          <p:nvPr/>
        </p:nvGrpSpPr>
        <p:grpSpPr>
          <a:xfrm>
            <a:off x="179512" y="2868322"/>
            <a:ext cx="4032448" cy="2828931"/>
            <a:chOff x="0" y="0"/>
            <a:chExt cx="2700020" cy="2405380"/>
          </a:xfrm>
        </p:grpSpPr>
        <p:sp>
          <p:nvSpPr>
            <p:cNvPr id="39" name="矩形 38"/>
            <p:cNvSpPr/>
            <p:nvPr/>
          </p:nvSpPr>
          <p:spPr>
            <a:xfrm>
              <a:off x="0" y="0"/>
              <a:ext cx="2700020" cy="2405380"/>
            </a:xfrm>
            <a:prstGeom prst="rect">
              <a:avLst/>
            </a:prstGeom>
          </p:spPr>
        </p:sp>
        <p:sp>
          <p:nvSpPr>
            <p:cNvPr id="40" name="Text Box 26"/>
            <p:cNvSpPr txBox="1">
              <a:spLocks noChangeArrowheads="1"/>
            </p:cNvSpPr>
            <p:nvPr/>
          </p:nvSpPr>
          <p:spPr bwMode="auto">
            <a:xfrm>
              <a:off x="365161" y="426187"/>
              <a:ext cx="230104" cy="227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1400" dirty="0">
                  <a:solidFill>
                    <a:srgbClr val="000000"/>
                  </a:solidFill>
                  <a:latin typeface="Times New Roman"/>
                  <a:cs typeface="宋体"/>
                </a:rPr>
                <a:t>yes</a:t>
              </a:r>
              <a:endParaRPr lang="zh-CN" altLang="en-US" sz="2400" dirty="0">
                <a:latin typeface="华文细黑" pitchFamily="2" charset="-122"/>
                <a:ea typeface="华文细黑" pitchFamily="2" charset="-122"/>
                <a:cs typeface="宋体"/>
              </a:endParaRPr>
            </a:p>
          </p:txBody>
        </p:sp>
        <p:sp>
          <p:nvSpPr>
            <p:cNvPr id="41" name="椭圆 40"/>
            <p:cNvSpPr/>
            <p:nvPr/>
          </p:nvSpPr>
          <p:spPr>
            <a:xfrm>
              <a:off x="653137" y="32491"/>
              <a:ext cx="731858" cy="337286"/>
            </a:xfrm>
            <a:prstGeom prst="ellipse">
              <a:avLst/>
            </a:prstGeom>
            <a:solidFill>
              <a:schemeClr val="accent3">
                <a:lumMod val="20000"/>
                <a:lumOff val="80000"/>
              </a:schemeClr>
            </a:solidFill>
            <a:ln w="9525">
              <a:solidFill>
                <a:schemeClr val="accent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a:latin typeface="Times New Roman"/>
                  <a:ea typeface="华文细黑" pitchFamily="2" charset="-122"/>
                  <a:cs typeface="Times New Roman"/>
                </a:rPr>
                <a:t>Refund</a:t>
              </a:r>
              <a:endParaRPr lang="zh-CN" altLang="en-US" sz="1600" kern="100" dirty="0">
                <a:latin typeface="Times New Roman"/>
                <a:ea typeface="华文细黑" pitchFamily="2" charset="-122"/>
                <a:cs typeface="Times New Roman"/>
              </a:endParaRPr>
            </a:p>
          </p:txBody>
        </p:sp>
        <p:sp>
          <p:nvSpPr>
            <p:cNvPr id="42" name="矩形 41"/>
            <p:cNvSpPr/>
            <p:nvPr/>
          </p:nvSpPr>
          <p:spPr>
            <a:xfrm>
              <a:off x="31036" y="728579"/>
              <a:ext cx="516734" cy="236809"/>
            </a:xfrm>
            <a:prstGeom prst="rect">
              <a:avLst/>
            </a:prstGeom>
            <a:solidFill>
              <a:schemeClr val="tx2">
                <a:lumMod val="20000"/>
                <a:lumOff val="80000"/>
              </a:schemeClr>
            </a:solidFill>
            <a:ln w="6350">
              <a:solidFill>
                <a:schemeClr val="tx2">
                  <a:lumMod val="60000"/>
                  <a:lumOff val="4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a:latin typeface="Times New Roman"/>
                  <a:ea typeface="华文细黑" pitchFamily="2" charset="-122"/>
                  <a:cs typeface="Times New Roman"/>
                </a:rPr>
                <a:t>no / 3</a:t>
              </a:r>
              <a:endParaRPr lang="zh-CN" altLang="en-US" sz="1600" kern="100" dirty="0">
                <a:latin typeface="Times New Roman"/>
                <a:ea typeface="华文细黑" pitchFamily="2" charset="-122"/>
                <a:cs typeface="Times New Roman"/>
              </a:endParaRPr>
            </a:p>
          </p:txBody>
        </p:sp>
        <p:sp>
          <p:nvSpPr>
            <p:cNvPr id="43" name="椭圆 42"/>
            <p:cNvSpPr/>
            <p:nvPr/>
          </p:nvSpPr>
          <p:spPr>
            <a:xfrm>
              <a:off x="1350775" y="649623"/>
              <a:ext cx="720000" cy="337286"/>
            </a:xfrm>
            <a:prstGeom prst="ellipse">
              <a:avLst/>
            </a:prstGeom>
            <a:solidFill>
              <a:schemeClr val="accent3">
                <a:lumMod val="20000"/>
                <a:lumOff val="80000"/>
              </a:schemeClr>
            </a:solidFill>
            <a:ln w="9525">
              <a:solidFill>
                <a:schemeClr val="accent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err="1">
                  <a:latin typeface="Times New Roman"/>
                  <a:ea typeface="华文细黑" pitchFamily="2" charset="-122"/>
                  <a:cs typeface="Times New Roman"/>
                </a:rPr>
                <a:t>MarSt</a:t>
              </a:r>
              <a:endParaRPr lang="zh-CN" altLang="en-US" sz="1600" kern="100" dirty="0">
                <a:latin typeface="Times New Roman"/>
                <a:ea typeface="华文细黑" pitchFamily="2" charset="-122"/>
                <a:cs typeface="Times New Roman"/>
              </a:endParaRPr>
            </a:p>
          </p:txBody>
        </p:sp>
        <p:sp>
          <p:nvSpPr>
            <p:cNvPr id="44" name="椭圆 43"/>
            <p:cNvSpPr/>
            <p:nvPr/>
          </p:nvSpPr>
          <p:spPr>
            <a:xfrm>
              <a:off x="732090" y="1286397"/>
              <a:ext cx="731858" cy="337286"/>
            </a:xfrm>
            <a:prstGeom prst="ellipse">
              <a:avLst/>
            </a:prstGeom>
            <a:solidFill>
              <a:schemeClr val="accent3">
                <a:lumMod val="20000"/>
                <a:lumOff val="80000"/>
              </a:schemeClr>
            </a:solidFill>
            <a:ln w="9525">
              <a:solidFill>
                <a:schemeClr val="accent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a:latin typeface="Times New Roman"/>
                  <a:ea typeface="华文细黑" pitchFamily="2" charset="-122"/>
                  <a:cs typeface="Times New Roman"/>
                </a:rPr>
                <a:t>Income</a:t>
              </a:r>
              <a:endParaRPr lang="zh-CN" altLang="en-US" sz="1600" kern="100" dirty="0">
                <a:latin typeface="Times New Roman"/>
                <a:ea typeface="华文细黑" pitchFamily="2" charset="-122"/>
                <a:cs typeface="Times New Roman"/>
              </a:endParaRPr>
            </a:p>
          </p:txBody>
        </p:sp>
        <p:sp>
          <p:nvSpPr>
            <p:cNvPr id="45" name="矩形 44"/>
            <p:cNvSpPr/>
            <p:nvPr/>
          </p:nvSpPr>
          <p:spPr>
            <a:xfrm>
              <a:off x="2175935" y="1309696"/>
              <a:ext cx="516734" cy="236809"/>
            </a:xfrm>
            <a:prstGeom prst="rect">
              <a:avLst/>
            </a:prstGeom>
            <a:solidFill>
              <a:schemeClr val="tx2">
                <a:lumMod val="20000"/>
                <a:lumOff val="80000"/>
              </a:schemeClr>
            </a:solidFill>
            <a:ln w="6350">
              <a:solidFill>
                <a:schemeClr val="tx2">
                  <a:lumMod val="60000"/>
                  <a:lumOff val="4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a:latin typeface="Times New Roman"/>
                  <a:ea typeface="华文细黑" pitchFamily="2" charset="-122"/>
                  <a:cs typeface="Times New Roman"/>
                </a:rPr>
                <a:t>no / 3</a:t>
              </a:r>
              <a:endParaRPr lang="zh-CN" altLang="en-US" sz="1600" kern="100" dirty="0">
                <a:latin typeface="Times New Roman"/>
                <a:ea typeface="华文细黑" pitchFamily="2" charset="-122"/>
                <a:cs typeface="Times New Roman"/>
              </a:endParaRPr>
            </a:p>
          </p:txBody>
        </p:sp>
        <p:sp>
          <p:nvSpPr>
            <p:cNvPr id="46" name="矩形 45"/>
            <p:cNvSpPr/>
            <p:nvPr/>
          </p:nvSpPr>
          <p:spPr>
            <a:xfrm>
              <a:off x="310163" y="2139852"/>
              <a:ext cx="516734" cy="236809"/>
            </a:xfrm>
            <a:prstGeom prst="rect">
              <a:avLst/>
            </a:prstGeom>
            <a:solidFill>
              <a:schemeClr val="tx2">
                <a:lumMod val="20000"/>
                <a:lumOff val="80000"/>
              </a:schemeClr>
            </a:solidFill>
            <a:ln w="6350">
              <a:solidFill>
                <a:schemeClr val="tx2">
                  <a:lumMod val="60000"/>
                  <a:lumOff val="4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a:latin typeface="Times New Roman"/>
                  <a:ea typeface="华文细黑" pitchFamily="2" charset="-122"/>
                  <a:cs typeface="Times New Roman"/>
                </a:rPr>
                <a:t>no / 1</a:t>
              </a:r>
              <a:endParaRPr lang="zh-CN" altLang="en-US" sz="1600" kern="100" dirty="0">
                <a:latin typeface="Times New Roman"/>
                <a:ea typeface="华文细黑" pitchFamily="2" charset="-122"/>
                <a:cs typeface="Times New Roman"/>
              </a:endParaRPr>
            </a:p>
          </p:txBody>
        </p:sp>
        <p:sp>
          <p:nvSpPr>
            <p:cNvPr id="47" name="矩形 46"/>
            <p:cNvSpPr/>
            <p:nvPr/>
          </p:nvSpPr>
          <p:spPr>
            <a:xfrm>
              <a:off x="1463911" y="2139852"/>
              <a:ext cx="516734" cy="236809"/>
            </a:xfrm>
            <a:prstGeom prst="rect">
              <a:avLst/>
            </a:prstGeom>
            <a:solidFill>
              <a:schemeClr val="tx2">
                <a:lumMod val="20000"/>
                <a:lumOff val="80000"/>
              </a:schemeClr>
            </a:solidFill>
            <a:ln w="6350">
              <a:solidFill>
                <a:schemeClr val="tx2">
                  <a:lumMod val="60000"/>
                  <a:lumOff val="4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a:latin typeface="Times New Roman"/>
                  <a:ea typeface="华文细黑" pitchFamily="2" charset="-122"/>
                  <a:cs typeface="Times New Roman"/>
                </a:rPr>
                <a:t>yes / 3</a:t>
              </a:r>
              <a:endParaRPr lang="zh-CN" altLang="en-US" sz="1600" kern="100" dirty="0">
                <a:latin typeface="Times New Roman"/>
                <a:ea typeface="华文细黑" pitchFamily="2" charset="-122"/>
                <a:cs typeface="Times New Roman"/>
              </a:endParaRPr>
            </a:p>
          </p:txBody>
        </p:sp>
        <p:cxnSp>
          <p:nvCxnSpPr>
            <p:cNvPr id="48" name="Line 14"/>
            <p:cNvCxnSpPr>
              <a:stCxn id="41" idx="4"/>
              <a:endCxn id="42" idx="0"/>
            </p:cNvCxnSpPr>
            <p:nvPr/>
          </p:nvCxnSpPr>
          <p:spPr bwMode="auto">
            <a:xfrm flipH="1">
              <a:off x="289402" y="369776"/>
              <a:ext cx="729664" cy="358801"/>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Line 14"/>
            <p:cNvCxnSpPr>
              <a:stCxn id="41" idx="4"/>
              <a:endCxn id="43" idx="0"/>
            </p:cNvCxnSpPr>
            <p:nvPr/>
          </p:nvCxnSpPr>
          <p:spPr bwMode="auto">
            <a:xfrm>
              <a:off x="1019066" y="369777"/>
              <a:ext cx="691709" cy="279846"/>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 name="Text Box 26"/>
            <p:cNvSpPr txBox="1">
              <a:spLocks noChangeArrowheads="1"/>
            </p:cNvSpPr>
            <p:nvPr/>
          </p:nvSpPr>
          <p:spPr bwMode="auto">
            <a:xfrm>
              <a:off x="1616510" y="418801"/>
              <a:ext cx="189317" cy="227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1400" dirty="0">
                  <a:solidFill>
                    <a:srgbClr val="000000"/>
                  </a:solidFill>
                  <a:latin typeface="Times New Roman"/>
                  <a:cs typeface="宋体"/>
                </a:rPr>
                <a:t>no</a:t>
              </a:r>
              <a:endParaRPr lang="zh-CN" altLang="en-US" sz="2400" dirty="0">
                <a:latin typeface="华文细黑" pitchFamily="2" charset="-122"/>
                <a:ea typeface="华文细黑" pitchFamily="2" charset="-122"/>
                <a:cs typeface="宋体"/>
              </a:endParaRPr>
            </a:p>
          </p:txBody>
        </p:sp>
        <p:cxnSp>
          <p:nvCxnSpPr>
            <p:cNvPr id="79" name="Line 14"/>
            <p:cNvCxnSpPr>
              <a:stCxn id="43" idx="4"/>
              <a:endCxn id="44" idx="0"/>
            </p:cNvCxnSpPr>
            <p:nvPr/>
          </p:nvCxnSpPr>
          <p:spPr bwMode="auto">
            <a:xfrm flipH="1">
              <a:off x="1098019" y="986909"/>
              <a:ext cx="612756" cy="299488"/>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 name="Text Box 26"/>
            <p:cNvSpPr txBox="1">
              <a:spLocks noChangeArrowheads="1"/>
            </p:cNvSpPr>
            <p:nvPr/>
          </p:nvSpPr>
          <p:spPr bwMode="auto">
            <a:xfrm>
              <a:off x="568300" y="1045435"/>
              <a:ext cx="878660" cy="227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51104" tIns="25551" rIns="51104" bIns="25551">
              <a:spAutoFit/>
            </a:bodyPr>
            <a:lstStyle/>
            <a:p>
              <a:pPr algn="r" fontAlgn="base"/>
              <a:r>
                <a:rPr lang="en-US" sz="1400" dirty="0" err="1">
                  <a:solidFill>
                    <a:srgbClr val="000000"/>
                  </a:solidFill>
                  <a:latin typeface="Times New Roman"/>
                  <a:cs typeface="宋体"/>
                </a:rPr>
                <a:t>Single,divorced</a:t>
              </a:r>
              <a:endParaRPr lang="zh-CN" altLang="en-US" sz="2400" dirty="0">
                <a:latin typeface="华文细黑" pitchFamily="2" charset="-122"/>
                <a:ea typeface="华文细黑" pitchFamily="2" charset="-122"/>
                <a:cs typeface="宋体"/>
              </a:endParaRPr>
            </a:p>
          </p:txBody>
        </p:sp>
        <p:sp>
          <p:nvSpPr>
            <p:cNvPr id="81" name="Text Box 26"/>
            <p:cNvSpPr txBox="1">
              <a:spLocks noChangeArrowheads="1"/>
            </p:cNvSpPr>
            <p:nvPr/>
          </p:nvSpPr>
          <p:spPr bwMode="auto">
            <a:xfrm>
              <a:off x="2139914" y="1077808"/>
              <a:ext cx="558547" cy="227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51104" tIns="25551" rIns="51104" bIns="25551">
              <a:spAutoFit/>
            </a:bodyPr>
            <a:lstStyle/>
            <a:p>
              <a:pPr algn="r" fontAlgn="base"/>
              <a:r>
                <a:rPr lang="en-US" sz="1400" dirty="0">
                  <a:solidFill>
                    <a:srgbClr val="000000"/>
                  </a:solidFill>
                  <a:latin typeface="Times New Roman"/>
                  <a:cs typeface="宋体"/>
                </a:rPr>
                <a:t>Married </a:t>
              </a:r>
              <a:endParaRPr lang="zh-CN" altLang="en-US" sz="2400" dirty="0">
                <a:latin typeface="华文细黑" pitchFamily="2" charset="-122"/>
                <a:ea typeface="华文细黑" pitchFamily="2" charset="-122"/>
                <a:cs typeface="宋体"/>
              </a:endParaRPr>
            </a:p>
          </p:txBody>
        </p:sp>
        <p:cxnSp>
          <p:nvCxnSpPr>
            <p:cNvPr id="82" name="Line 14"/>
            <p:cNvCxnSpPr>
              <a:stCxn id="43" idx="4"/>
              <a:endCxn id="45" idx="0"/>
            </p:cNvCxnSpPr>
            <p:nvPr/>
          </p:nvCxnSpPr>
          <p:spPr bwMode="auto">
            <a:xfrm>
              <a:off x="1710775" y="986909"/>
              <a:ext cx="723527" cy="322787"/>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 name="Line 14"/>
            <p:cNvCxnSpPr>
              <a:stCxn id="44" idx="4"/>
              <a:endCxn id="46" idx="0"/>
            </p:cNvCxnSpPr>
            <p:nvPr/>
          </p:nvCxnSpPr>
          <p:spPr bwMode="auto">
            <a:xfrm flipH="1">
              <a:off x="568530" y="1623683"/>
              <a:ext cx="529490" cy="516169"/>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 name="Line 14"/>
            <p:cNvCxnSpPr>
              <a:stCxn id="44" idx="4"/>
              <a:endCxn id="47" idx="0"/>
            </p:cNvCxnSpPr>
            <p:nvPr/>
          </p:nvCxnSpPr>
          <p:spPr bwMode="auto">
            <a:xfrm>
              <a:off x="1098020" y="1623683"/>
              <a:ext cx="624259" cy="516169"/>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Text Box 26"/>
            <p:cNvSpPr txBox="1">
              <a:spLocks noChangeArrowheads="1"/>
            </p:cNvSpPr>
            <p:nvPr/>
          </p:nvSpPr>
          <p:spPr bwMode="auto">
            <a:xfrm>
              <a:off x="436016" y="1854128"/>
              <a:ext cx="343876" cy="227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1400" dirty="0">
                  <a:solidFill>
                    <a:srgbClr val="000000"/>
                  </a:solidFill>
                  <a:latin typeface="Times New Roman"/>
                  <a:cs typeface="宋体"/>
                </a:rPr>
                <a:t>&lt;85K</a:t>
              </a:r>
              <a:endParaRPr lang="zh-CN" altLang="en-US" sz="2400" dirty="0">
                <a:latin typeface="华文细黑" pitchFamily="2" charset="-122"/>
                <a:ea typeface="华文细黑" pitchFamily="2" charset="-122"/>
                <a:cs typeface="宋体"/>
              </a:endParaRPr>
            </a:p>
          </p:txBody>
        </p:sp>
        <p:sp>
          <p:nvSpPr>
            <p:cNvPr id="86" name="Text Box 26"/>
            <p:cNvSpPr txBox="1">
              <a:spLocks noChangeArrowheads="1"/>
            </p:cNvSpPr>
            <p:nvPr/>
          </p:nvSpPr>
          <p:spPr bwMode="auto">
            <a:xfrm>
              <a:off x="1524706" y="1854128"/>
              <a:ext cx="341730" cy="227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1400" dirty="0">
                  <a:solidFill>
                    <a:srgbClr val="000000"/>
                  </a:solidFill>
                  <a:latin typeface="Times New Roman"/>
                  <a:cs typeface="宋体"/>
                </a:rPr>
                <a:t>≥85K</a:t>
              </a:r>
              <a:endParaRPr lang="zh-CN" altLang="en-US" sz="2400" dirty="0">
                <a:latin typeface="华文细黑" pitchFamily="2" charset="-122"/>
                <a:ea typeface="华文细黑" pitchFamily="2" charset="-122"/>
                <a:cs typeface="宋体"/>
              </a:endParaRPr>
            </a:p>
          </p:txBody>
        </p:sp>
      </p:grpSp>
      <p:sp>
        <p:nvSpPr>
          <p:cNvPr id="77" name="Text Box 26"/>
          <p:cNvSpPr txBox="1">
            <a:spLocks noChangeArrowheads="1"/>
          </p:cNvSpPr>
          <p:nvPr/>
        </p:nvSpPr>
        <p:spPr bwMode="auto">
          <a:xfrm>
            <a:off x="8393460" y="2606724"/>
            <a:ext cx="427013" cy="4209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altLang="zh-CN" sz="2400" dirty="0">
                <a:solidFill>
                  <a:srgbClr val="C00000"/>
                </a:solidFill>
                <a:effectLst>
                  <a:outerShdw blurRad="38100" dist="38100" dir="2700000" algn="tl">
                    <a:srgbClr val="000000">
                      <a:alpha val="43137"/>
                    </a:srgbClr>
                  </a:outerShdw>
                </a:effectLst>
                <a:latin typeface="+mj-lt"/>
                <a:ea typeface="华文细黑" pitchFamily="2" charset="-122"/>
                <a:cs typeface="宋体"/>
              </a:rPr>
              <a:t>no</a:t>
            </a:r>
            <a:endParaRPr lang="zh-CN" altLang="en-US" sz="2400" dirty="0">
              <a:solidFill>
                <a:srgbClr val="C00000"/>
              </a:solidFill>
              <a:effectLst>
                <a:outerShdw blurRad="38100" dist="38100" dir="2700000" algn="tl">
                  <a:srgbClr val="000000">
                    <a:alpha val="43137"/>
                  </a:srgbClr>
                </a:outerShdw>
              </a:effectLst>
              <a:latin typeface="+mj-lt"/>
              <a:ea typeface="华文细黑" pitchFamily="2" charset="-122"/>
              <a:cs typeface="宋体"/>
            </a:endParaRPr>
          </a:p>
        </p:txBody>
      </p:sp>
      <p:sp>
        <p:nvSpPr>
          <p:cNvPr id="78" name="Text Box 26"/>
          <p:cNvSpPr txBox="1">
            <a:spLocks noChangeArrowheads="1"/>
          </p:cNvSpPr>
          <p:nvPr/>
        </p:nvSpPr>
        <p:spPr bwMode="auto">
          <a:xfrm>
            <a:off x="8393460" y="2894756"/>
            <a:ext cx="427013" cy="4209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altLang="zh-CN" sz="2400" dirty="0">
                <a:solidFill>
                  <a:srgbClr val="C00000"/>
                </a:solidFill>
                <a:effectLst>
                  <a:outerShdw blurRad="38100" dist="38100" dir="2700000" algn="tl">
                    <a:srgbClr val="000000">
                      <a:alpha val="43137"/>
                    </a:srgbClr>
                  </a:outerShdw>
                </a:effectLst>
                <a:latin typeface="+mj-lt"/>
                <a:ea typeface="华文细黑" pitchFamily="2" charset="-122"/>
                <a:cs typeface="宋体"/>
              </a:rPr>
              <a:t>no</a:t>
            </a:r>
            <a:endParaRPr lang="zh-CN" altLang="en-US" sz="2400" dirty="0">
              <a:solidFill>
                <a:srgbClr val="C00000"/>
              </a:solidFill>
              <a:effectLst>
                <a:outerShdw blurRad="38100" dist="38100" dir="2700000" algn="tl">
                  <a:srgbClr val="000000">
                    <a:alpha val="43137"/>
                  </a:srgbClr>
                </a:outerShdw>
              </a:effectLst>
              <a:latin typeface="+mj-lt"/>
              <a:ea typeface="华文细黑" pitchFamily="2" charset="-122"/>
              <a:cs typeface="宋体"/>
            </a:endParaRPr>
          </a:p>
        </p:txBody>
      </p:sp>
      <p:sp>
        <p:nvSpPr>
          <p:cNvPr id="76" name="Text Box 26"/>
          <p:cNvSpPr txBox="1">
            <a:spLocks noChangeArrowheads="1"/>
          </p:cNvSpPr>
          <p:nvPr/>
        </p:nvSpPr>
        <p:spPr bwMode="auto">
          <a:xfrm>
            <a:off x="8393460" y="2318692"/>
            <a:ext cx="427013" cy="4209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altLang="zh-CN" sz="2400" dirty="0">
                <a:solidFill>
                  <a:srgbClr val="C00000"/>
                </a:solidFill>
                <a:effectLst>
                  <a:outerShdw blurRad="38100" dist="38100" dir="2700000" algn="tl">
                    <a:srgbClr val="000000">
                      <a:alpha val="43137"/>
                    </a:srgbClr>
                  </a:outerShdw>
                </a:effectLst>
                <a:latin typeface="+mj-lt"/>
                <a:ea typeface="华文细黑" pitchFamily="2" charset="-122"/>
                <a:cs typeface="宋体"/>
              </a:rPr>
              <a:t>no</a:t>
            </a:r>
            <a:endParaRPr lang="zh-CN" altLang="en-US" sz="2400" dirty="0">
              <a:solidFill>
                <a:srgbClr val="C00000"/>
              </a:solidFill>
              <a:effectLst>
                <a:outerShdw blurRad="38100" dist="38100" dir="2700000" algn="tl">
                  <a:srgbClr val="000000">
                    <a:alpha val="43137"/>
                  </a:srgbClr>
                </a:outerShdw>
              </a:effectLst>
              <a:latin typeface="+mj-lt"/>
              <a:ea typeface="华文细黑" pitchFamily="2" charset="-122"/>
              <a:cs typeface="宋体"/>
            </a:endParaRPr>
          </a:p>
        </p:txBody>
      </p:sp>
      <p:sp>
        <p:nvSpPr>
          <p:cNvPr id="3" name="页脚占位符 2">
            <a:extLst>
              <a:ext uri="{FF2B5EF4-FFF2-40B4-BE49-F238E27FC236}">
                <a16:creationId xmlns:a16="http://schemas.microsoft.com/office/drawing/2014/main" id="{D570FE86-1537-4710-A1C2-B56E9E12AFF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7F55A67-0EDB-454D-B958-53E74C45DBFE}"/>
              </a:ext>
            </a:extLst>
          </p:cNvPr>
          <p:cNvSpPr>
            <a:spLocks noGrp="1"/>
          </p:cNvSpPr>
          <p:nvPr>
            <p:ph type="sldNum" sz="quarter" idx="12"/>
          </p:nvPr>
        </p:nvSpPr>
        <p:spPr/>
        <p:txBody>
          <a:bodyPr/>
          <a:lstStyle/>
          <a:p>
            <a:fld id="{5AD84F5B-1672-4D3F-9FEC-5DF89A7B7912}" type="slidenum">
              <a:rPr lang="zh-CN" altLang="en-US" smtClean="0"/>
              <a:t>23</a:t>
            </a:fld>
            <a:endParaRPr lang="zh-CN" altLang="en-US"/>
          </a:p>
        </p:txBody>
      </p:sp>
    </p:spTree>
    <p:extLst>
      <p:ext uri="{BB962C8B-B14F-4D97-AF65-F5344CB8AC3E}">
        <p14:creationId xmlns:p14="http://schemas.microsoft.com/office/powerpoint/2010/main" val="40186935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up)">
                                      <p:cBhvr>
                                        <p:cTn id="7" dur="500"/>
                                        <p:tgtEl>
                                          <p:spTgt spid="3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5"/>
                                        </p:tgtEl>
                                        <p:attrNameLst>
                                          <p:attrName>style.visibility</p:attrName>
                                        </p:attrNameLst>
                                      </p:cBhvr>
                                      <p:to>
                                        <p:strVal val="visible"/>
                                      </p:to>
                                    </p:set>
                                    <p:animEffect transition="in" filter="fade">
                                      <p:cBhvr>
                                        <p:cTn id="11" dur="500"/>
                                        <p:tgtEl>
                                          <p:spTgt spid="7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1" nodeType="clickEffect">
                                  <p:stCondLst>
                                    <p:cond delay="0"/>
                                  </p:stCondLst>
                                  <p:childTnLst>
                                    <p:set>
                                      <p:cBhvr>
                                        <p:cTn id="15" dur="1" fill="hold">
                                          <p:stCondLst>
                                            <p:cond delay="0"/>
                                          </p:stCondLst>
                                        </p:cTn>
                                        <p:tgtEl>
                                          <p:spTgt spid="76"/>
                                        </p:tgtEl>
                                        <p:attrNameLst>
                                          <p:attrName>style.visibility</p:attrName>
                                        </p:attrNameLst>
                                      </p:cBhvr>
                                      <p:to>
                                        <p:strVal val="visible"/>
                                      </p:to>
                                    </p:set>
                                    <p:animEffect transition="in" filter="fade">
                                      <p:cBhvr>
                                        <p:cTn id="16" dur="500"/>
                                        <p:tgtEl>
                                          <p:spTgt spid="76"/>
                                        </p:tgtEl>
                                      </p:cBhvr>
                                    </p:animEffect>
                                  </p:childTnLst>
                                </p:cTn>
                              </p:par>
                              <p:par>
                                <p:cTn id="17" presetID="37" presetClass="path" presetSubtype="0" accel="50000" decel="50000" fill="hold" grpId="0" nodeType="withEffect">
                                  <p:stCondLst>
                                    <p:cond delay="0"/>
                                  </p:stCondLst>
                                  <p:childTnLst>
                                    <p:animMotion origin="layout" path="M -0.87709 0.26667 L -0.63976 0.23361 C -0.58959 0.22889 -0.51389 0.20973 -0.43716 0.18667 C -0.34896 0.16111 -0.27987 0.13361 -0.23091 0.10973 L 4.16667E-6 -3.33333E-6 " pathEditMode="relative" rAng="-641699" ptsTypes="FffFF">
                                      <p:cBhvr>
                                        <p:cTn id="18" dur="1500" fill="hold"/>
                                        <p:tgtEl>
                                          <p:spTgt spid="76"/>
                                        </p:tgtEl>
                                        <p:attrNameLst>
                                          <p:attrName>ppt_x</p:attrName>
                                          <p:attrName>ppt_y</p:attrName>
                                        </p:attrNameLst>
                                      </p:cBhvr>
                                      <p:rCtr x="44167" y="-10694"/>
                                    </p:animMotion>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7"/>
                                        </p:tgtEl>
                                        <p:attrNameLst>
                                          <p:attrName>style.visibility</p:attrName>
                                        </p:attrNameLst>
                                      </p:cBhvr>
                                      <p:to>
                                        <p:strVal val="visible"/>
                                      </p:to>
                                    </p:set>
                                    <p:animEffect transition="in" filter="fade">
                                      <p:cBhvr>
                                        <p:cTn id="23" dur="500"/>
                                        <p:tgtEl>
                                          <p:spTgt spid="77"/>
                                        </p:tgtEl>
                                      </p:cBhvr>
                                    </p:animEffect>
                                  </p:childTnLst>
                                </p:cTn>
                              </p:par>
                              <p:par>
                                <p:cTn id="24" presetID="37" presetClass="path" presetSubtype="0" accel="50000" decel="50000" fill="hold" grpId="1" nodeType="withEffect">
                                  <p:stCondLst>
                                    <p:cond delay="0"/>
                                  </p:stCondLst>
                                  <p:childTnLst>
                                    <p:animMotion origin="layout" path="M -0.52309 0.34917 L -0.37552 0.285 C -0.34427 0.2725 -0.29982 0.24806 -0.25451 0.2175 C -0.20295 0.18334 -0.1625 0.15112 -0.13402 0.12362 L -0.00104 -0.00333 " pathEditMode="relative" rAng="-1368268" ptsTypes="FffFF">
                                      <p:cBhvr>
                                        <p:cTn id="25" dur="1500" fill="hold"/>
                                        <p:tgtEl>
                                          <p:spTgt spid="77"/>
                                        </p:tgtEl>
                                        <p:attrNameLst>
                                          <p:attrName>ppt_x</p:attrName>
                                          <p:attrName>ppt_y</p:attrName>
                                        </p:attrNameLst>
                                      </p:cBhvr>
                                      <p:rCtr x="26649" y="-15528"/>
                                    </p:animMotion>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8"/>
                                        </p:tgtEl>
                                        <p:attrNameLst>
                                          <p:attrName>style.visibility</p:attrName>
                                        </p:attrNameLst>
                                      </p:cBhvr>
                                      <p:to>
                                        <p:strVal val="visible"/>
                                      </p:to>
                                    </p:set>
                                    <p:animEffect transition="in" filter="fade">
                                      <p:cBhvr>
                                        <p:cTn id="30" dur="500"/>
                                        <p:tgtEl>
                                          <p:spTgt spid="78"/>
                                        </p:tgtEl>
                                      </p:cBhvr>
                                    </p:animEffect>
                                  </p:childTnLst>
                                </p:cTn>
                              </p:par>
                              <p:par>
                                <p:cTn id="31" presetID="37" presetClass="path" presetSubtype="0" accel="50000" decel="50000" fill="hold" grpId="1" nodeType="withEffect">
                                  <p:stCondLst>
                                    <p:cond delay="0"/>
                                  </p:stCondLst>
                                  <p:childTnLst>
                                    <p:animMotion origin="layout" path="M -0.80503 0.48666 L -0.58559 0.37166 C -0.53941 0.34833 -0.4717 0.30916 -0.40104 0.26666 C -0.32014 0.21833 -0.26007 0.17916 -0.21319 0.14666 L -3.05556E-6 4.44444E-6 " pathEditMode="relative" rAng="-1239722" ptsTypes="FffFF">
                                      <p:cBhvr>
                                        <p:cTn id="32" dur="1500" fill="hold"/>
                                        <p:tgtEl>
                                          <p:spTgt spid="78"/>
                                        </p:tgtEl>
                                        <p:attrNameLst>
                                          <p:attrName>ppt_x</p:attrName>
                                          <p:attrName>ppt_y</p:attrName>
                                        </p:attrNameLst>
                                      </p:cBhvr>
                                      <p:rCtr x="40503" y="-2325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77" grpId="1"/>
      <p:bldP spid="78" grpId="0"/>
      <p:bldP spid="78" grpId="1"/>
      <p:bldP spid="76" grpId="0"/>
      <p:bldP spid="76"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思考？</a:t>
            </a:r>
          </a:p>
        </p:txBody>
      </p:sp>
      <p:graphicFrame>
        <p:nvGraphicFramePr>
          <p:cNvPr id="36" name="内容占位符 4"/>
          <p:cNvGraphicFramePr>
            <a:graphicFrameLocks/>
          </p:cNvGraphicFramePr>
          <p:nvPr/>
        </p:nvGraphicFramePr>
        <p:xfrm>
          <a:off x="107506" y="2477251"/>
          <a:ext cx="4537075" cy="3322320"/>
        </p:xfrm>
        <a:graphic>
          <a:graphicData uri="http://schemas.openxmlformats.org/drawingml/2006/table">
            <a:tbl>
              <a:tblPr firstRow="1" firstCol="1" bandRow="1" bandCol="1">
                <a:tableStyleId>{5C22544A-7EE6-4342-B048-85BDC9FD1C3A}</a:tableStyleId>
              </a:tblPr>
              <a:tblGrid>
                <a:gridCol w="554672">
                  <a:extLst>
                    <a:ext uri="{9D8B030D-6E8A-4147-A177-3AD203B41FA5}">
                      <a16:colId xmlns:a16="http://schemas.microsoft.com/office/drawing/2014/main" val="20000"/>
                    </a:ext>
                  </a:extLst>
                </a:gridCol>
                <a:gridCol w="843598">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876935">
                  <a:extLst>
                    <a:ext uri="{9D8B030D-6E8A-4147-A177-3AD203B41FA5}">
                      <a16:colId xmlns:a16="http://schemas.microsoft.com/office/drawing/2014/main" val="20003"/>
                    </a:ext>
                  </a:extLst>
                </a:gridCol>
                <a:gridCol w="753110">
                  <a:extLst>
                    <a:ext uri="{9D8B030D-6E8A-4147-A177-3AD203B41FA5}">
                      <a16:colId xmlns:a16="http://schemas.microsoft.com/office/drawing/2014/main" val="20004"/>
                    </a:ext>
                  </a:extLst>
                </a:gridCol>
              </a:tblGrid>
              <a:tr h="304800">
                <a:tc gridSpan="5">
                  <a:txBody>
                    <a:bodyPr/>
                    <a:lstStyle/>
                    <a:p>
                      <a:pPr algn="ctr">
                        <a:spcBef>
                          <a:spcPts val="300"/>
                        </a:spcBef>
                        <a:spcAft>
                          <a:spcPts val="300"/>
                        </a:spcAft>
                      </a:pPr>
                      <a:r>
                        <a:rPr lang="en-US" sz="1800" kern="100" dirty="0">
                          <a:effectLst/>
                        </a:rPr>
                        <a:t>(a) </a:t>
                      </a:r>
                      <a:r>
                        <a:rPr lang="zh-CN" altLang="en-US" sz="1800" kern="100" dirty="0">
                          <a:effectLst/>
                          <a:ea typeface="华文细黑" pitchFamily="2" charset="-122"/>
                        </a:rPr>
                        <a:t>训练数据集</a:t>
                      </a:r>
                      <a:endParaRPr lang="zh-CN" sz="1800" kern="100" dirty="0">
                        <a:effectLst/>
                        <a:latin typeface="Times New Roman"/>
                        <a:ea typeface="楷体"/>
                      </a:endParaRPr>
                    </a:p>
                  </a:txBody>
                  <a:tcPr marL="68580" marR="68580" marT="0" marB="0"/>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74320">
                <a:tc>
                  <a:txBody>
                    <a:bodyPr/>
                    <a:lstStyle/>
                    <a:p>
                      <a:pPr indent="-34290" algn="ctr">
                        <a:spcAft>
                          <a:spcPts val="0"/>
                        </a:spcAft>
                      </a:pPr>
                      <a:r>
                        <a:rPr lang="en-US" sz="1400" kern="100" dirty="0" err="1">
                          <a:effectLst/>
                        </a:rPr>
                        <a:t>Tid</a:t>
                      </a:r>
                      <a:endParaRPr lang="zh-CN" sz="1800" kern="100" dirty="0">
                        <a:effectLst/>
                        <a:latin typeface="Times New Roman"/>
                        <a:ea typeface="华文细黑" pitchFamily="2" charset="-122"/>
                        <a:cs typeface="Times New Roman"/>
                      </a:endParaRPr>
                    </a:p>
                  </a:txBody>
                  <a:tcPr marL="68580" marR="68580" marT="0" marB="0"/>
                </a:tc>
                <a:tc>
                  <a:txBody>
                    <a:bodyPr/>
                    <a:lstStyle/>
                    <a:p>
                      <a:pPr indent="-34290" algn="ctr">
                        <a:spcAft>
                          <a:spcPts val="0"/>
                        </a:spcAft>
                      </a:pPr>
                      <a:r>
                        <a:rPr lang="en-US" sz="1400" kern="100" dirty="0">
                          <a:effectLst/>
                        </a:rPr>
                        <a:t>Refund</a:t>
                      </a:r>
                      <a:endParaRPr lang="zh-CN" sz="18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err="1">
                          <a:effectLst/>
                        </a:rPr>
                        <a:t>MaritalStatus</a:t>
                      </a:r>
                      <a:endParaRPr lang="zh-CN" sz="18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Income</a:t>
                      </a:r>
                      <a:endParaRPr lang="zh-CN" sz="18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Cheat</a:t>
                      </a:r>
                      <a:endParaRPr lang="zh-CN" sz="18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1"/>
                  </a:ext>
                </a:extLst>
              </a:tr>
              <a:tr h="274320">
                <a:tc>
                  <a:txBody>
                    <a:bodyPr/>
                    <a:lstStyle/>
                    <a:p>
                      <a:pPr algn="ctr">
                        <a:spcAft>
                          <a:spcPts val="0"/>
                        </a:spcAft>
                      </a:pPr>
                      <a:r>
                        <a:rPr lang="en-US" sz="1600" kern="100" dirty="0">
                          <a:effectLst/>
                        </a:rPr>
                        <a:t>1</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yes</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Single</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125K</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2"/>
                  </a:ext>
                </a:extLst>
              </a:tr>
              <a:tr h="274320">
                <a:tc>
                  <a:txBody>
                    <a:bodyPr/>
                    <a:lstStyle/>
                    <a:p>
                      <a:pPr algn="ctr">
                        <a:spcAft>
                          <a:spcPts val="0"/>
                        </a:spcAft>
                      </a:pPr>
                      <a:r>
                        <a:rPr lang="en-US" sz="1600" kern="100" dirty="0">
                          <a:effectLst/>
                        </a:rPr>
                        <a:t>2</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Married</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100K</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3"/>
                  </a:ext>
                </a:extLst>
              </a:tr>
              <a:tr h="274320">
                <a:tc>
                  <a:txBody>
                    <a:bodyPr/>
                    <a:lstStyle/>
                    <a:p>
                      <a:pPr algn="ctr">
                        <a:spcAft>
                          <a:spcPts val="0"/>
                        </a:spcAft>
                      </a:pPr>
                      <a:r>
                        <a:rPr lang="en-US" sz="1600" kern="100" dirty="0">
                          <a:effectLst/>
                        </a:rPr>
                        <a:t>3</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Single</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70K</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4"/>
                  </a:ext>
                </a:extLst>
              </a:tr>
              <a:tr h="274320">
                <a:tc>
                  <a:txBody>
                    <a:bodyPr/>
                    <a:lstStyle/>
                    <a:p>
                      <a:pPr algn="ctr">
                        <a:spcAft>
                          <a:spcPts val="0"/>
                        </a:spcAft>
                      </a:pPr>
                      <a:r>
                        <a:rPr lang="en-US" sz="1600" kern="100" dirty="0">
                          <a:effectLst/>
                        </a:rPr>
                        <a:t>4</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yes</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Married</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120K</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5"/>
                  </a:ext>
                </a:extLst>
              </a:tr>
              <a:tr h="274320">
                <a:tc>
                  <a:txBody>
                    <a:bodyPr/>
                    <a:lstStyle/>
                    <a:p>
                      <a:pPr algn="ctr">
                        <a:spcAft>
                          <a:spcPts val="0"/>
                        </a:spcAft>
                      </a:pPr>
                      <a:r>
                        <a:rPr lang="en-US" sz="1600" kern="100" dirty="0">
                          <a:effectLst/>
                        </a:rPr>
                        <a:t>5</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Divorced</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95K</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yes</a:t>
                      </a:r>
                      <a:endParaRPr lang="zh-CN" sz="22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6"/>
                  </a:ext>
                </a:extLst>
              </a:tr>
              <a:tr h="274320">
                <a:tc>
                  <a:txBody>
                    <a:bodyPr/>
                    <a:lstStyle/>
                    <a:p>
                      <a:pPr algn="ctr">
                        <a:spcAft>
                          <a:spcPts val="0"/>
                        </a:spcAft>
                      </a:pPr>
                      <a:r>
                        <a:rPr lang="en-US" sz="1600" kern="100" dirty="0">
                          <a:effectLst/>
                        </a:rPr>
                        <a:t>6</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M</a:t>
                      </a:r>
                      <a:r>
                        <a:rPr lang="en-US" altLang="zh-CN" sz="1600" kern="100" dirty="0">
                          <a:effectLst/>
                          <a:ea typeface="华文细黑" pitchFamily="2" charset="-122"/>
                        </a:rPr>
                        <a:t>a</a:t>
                      </a:r>
                      <a:r>
                        <a:rPr lang="en-US" sz="1600" kern="100" dirty="0">
                          <a:effectLst/>
                        </a:rPr>
                        <a:t>rried</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60K</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7"/>
                  </a:ext>
                </a:extLst>
              </a:tr>
              <a:tr h="274320">
                <a:tc>
                  <a:txBody>
                    <a:bodyPr/>
                    <a:lstStyle/>
                    <a:p>
                      <a:pPr algn="ctr">
                        <a:spcAft>
                          <a:spcPts val="0"/>
                        </a:spcAft>
                      </a:pPr>
                      <a:r>
                        <a:rPr lang="en-US" sz="1600" kern="100" dirty="0">
                          <a:effectLst/>
                        </a:rPr>
                        <a:t>7</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yes</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Divorced</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220K</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8"/>
                  </a:ext>
                </a:extLst>
              </a:tr>
              <a:tr h="274320">
                <a:tc>
                  <a:txBody>
                    <a:bodyPr/>
                    <a:lstStyle/>
                    <a:p>
                      <a:pPr algn="ctr">
                        <a:spcAft>
                          <a:spcPts val="0"/>
                        </a:spcAft>
                      </a:pPr>
                      <a:r>
                        <a:rPr lang="en-US" sz="1600" kern="100" dirty="0">
                          <a:effectLst/>
                        </a:rPr>
                        <a:t>8</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Single</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85K</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yes</a:t>
                      </a:r>
                      <a:endParaRPr lang="zh-CN" sz="22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9"/>
                  </a:ext>
                </a:extLst>
              </a:tr>
              <a:tr h="274320">
                <a:tc>
                  <a:txBody>
                    <a:bodyPr/>
                    <a:lstStyle/>
                    <a:p>
                      <a:pPr algn="ctr">
                        <a:spcAft>
                          <a:spcPts val="0"/>
                        </a:spcAft>
                      </a:pPr>
                      <a:r>
                        <a:rPr lang="en-US" sz="1600" kern="100" dirty="0">
                          <a:effectLst/>
                        </a:rPr>
                        <a:t>9</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Married</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75K</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10"/>
                  </a:ext>
                </a:extLst>
              </a:tr>
              <a:tr h="274320">
                <a:tc>
                  <a:txBody>
                    <a:bodyPr/>
                    <a:lstStyle/>
                    <a:p>
                      <a:pPr algn="ctr">
                        <a:spcAft>
                          <a:spcPts val="0"/>
                        </a:spcAft>
                      </a:pPr>
                      <a:r>
                        <a:rPr lang="en-US" sz="1600" kern="100" dirty="0">
                          <a:effectLst/>
                        </a:rPr>
                        <a:t>10</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Single</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90K</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yes</a:t>
                      </a:r>
                      <a:endParaRPr lang="zh-CN" sz="22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11"/>
                  </a:ext>
                </a:extLst>
              </a:tr>
            </a:tbl>
          </a:graphicData>
        </a:graphic>
      </p:graphicFrame>
      <p:sp>
        <p:nvSpPr>
          <p:cNvPr id="67" name="Text Box 5"/>
          <p:cNvSpPr txBox="1">
            <a:spLocks noChangeArrowheads="1"/>
          </p:cNvSpPr>
          <p:nvPr/>
        </p:nvSpPr>
        <p:spPr bwMode="auto">
          <a:xfrm rot="19183191">
            <a:off x="1010589" y="1886549"/>
            <a:ext cx="1175322"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ct val="20000"/>
              </a:spcBef>
              <a:buClr>
                <a:schemeClr val="accent2"/>
              </a:buClr>
              <a:buSzPct val="75000"/>
              <a:buFont typeface="Monotype Sorts" pitchFamily="2" charset="2"/>
              <a:buNone/>
            </a:pPr>
            <a:r>
              <a:rPr lang="en-US" altLang="zh-CN" sz="1600" dirty="0">
                <a:solidFill>
                  <a:srgbClr val="C00000"/>
                </a:solidFill>
                <a:effectLst>
                  <a:outerShdw blurRad="38100" dist="38100" dir="2700000" algn="tl">
                    <a:srgbClr val="000000">
                      <a:alpha val="43137"/>
                    </a:srgbClr>
                  </a:outerShdw>
                </a:effectLst>
                <a:latin typeface="Arial" charset="0"/>
                <a:ea typeface="华文细黑" pitchFamily="2" charset="-122"/>
              </a:rPr>
              <a:t>categorical</a:t>
            </a:r>
          </a:p>
        </p:txBody>
      </p:sp>
      <p:sp>
        <p:nvSpPr>
          <p:cNvPr id="68" name="Text Box 6"/>
          <p:cNvSpPr txBox="1">
            <a:spLocks noChangeArrowheads="1"/>
          </p:cNvSpPr>
          <p:nvPr/>
        </p:nvSpPr>
        <p:spPr bwMode="auto">
          <a:xfrm rot="19183191">
            <a:off x="2092873" y="1886549"/>
            <a:ext cx="1175322"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ct val="20000"/>
              </a:spcBef>
              <a:buClr>
                <a:schemeClr val="accent2"/>
              </a:buClr>
              <a:buSzPct val="75000"/>
              <a:buFont typeface="Monotype Sorts" pitchFamily="2" charset="2"/>
              <a:buNone/>
            </a:pPr>
            <a:r>
              <a:rPr lang="en-US" altLang="zh-CN" sz="1600" dirty="0">
                <a:solidFill>
                  <a:srgbClr val="C00000"/>
                </a:solidFill>
                <a:effectLst>
                  <a:outerShdw blurRad="38100" dist="38100" dir="2700000" algn="tl">
                    <a:srgbClr val="000000">
                      <a:alpha val="43137"/>
                    </a:srgbClr>
                  </a:outerShdw>
                </a:effectLst>
                <a:latin typeface="Arial" charset="0"/>
                <a:ea typeface="华文细黑" pitchFamily="2" charset="-122"/>
              </a:rPr>
              <a:t>categorical</a:t>
            </a:r>
          </a:p>
        </p:txBody>
      </p:sp>
      <p:sp>
        <p:nvSpPr>
          <p:cNvPr id="69" name="Text Box 7"/>
          <p:cNvSpPr txBox="1">
            <a:spLocks noChangeArrowheads="1"/>
          </p:cNvSpPr>
          <p:nvPr/>
        </p:nvSpPr>
        <p:spPr bwMode="auto">
          <a:xfrm rot="19183191">
            <a:off x="3157416" y="1886549"/>
            <a:ext cx="1175322"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ct val="20000"/>
              </a:spcBef>
              <a:buClr>
                <a:schemeClr val="accent2"/>
              </a:buClr>
              <a:buSzPct val="75000"/>
              <a:buFont typeface="Monotype Sorts" pitchFamily="2" charset="2"/>
              <a:buNone/>
            </a:pPr>
            <a:r>
              <a:rPr lang="en-US" altLang="zh-CN" sz="1600" dirty="0">
                <a:solidFill>
                  <a:srgbClr val="C00000"/>
                </a:solidFill>
                <a:effectLst>
                  <a:outerShdw blurRad="38100" dist="38100" dir="2700000" algn="tl">
                    <a:srgbClr val="000000">
                      <a:alpha val="43137"/>
                    </a:srgbClr>
                  </a:outerShdw>
                </a:effectLst>
                <a:latin typeface="Arial" charset="0"/>
                <a:ea typeface="华文细黑" pitchFamily="2" charset="-122"/>
              </a:rPr>
              <a:t>continuous</a:t>
            </a:r>
          </a:p>
        </p:txBody>
      </p:sp>
      <p:sp>
        <p:nvSpPr>
          <p:cNvPr id="70" name="Text Box 8"/>
          <p:cNvSpPr txBox="1">
            <a:spLocks noChangeArrowheads="1"/>
          </p:cNvSpPr>
          <p:nvPr/>
        </p:nvSpPr>
        <p:spPr bwMode="auto">
          <a:xfrm rot="19183191">
            <a:off x="3960623" y="2038949"/>
            <a:ext cx="651139"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ct val="20000"/>
              </a:spcBef>
              <a:buClr>
                <a:schemeClr val="accent2"/>
              </a:buClr>
              <a:buSzPct val="75000"/>
              <a:buFont typeface="Monotype Sorts" pitchFamily="2" charset="2"/>
              <a:buNone/>
            </a:pPr>
            <a:r>
              <a:rPr lang="en-US" altLang="zh-CN" sz="1600" dirty="0">
                <a:solidFill>
                  <a:srgbClr val="C00000"/>
                </a:solidFill>
                <a:effectLst>
                  <a:outerShdw blurRad="38100" dist="38100" dir="2700000" algn="tl">
                    <a:srgbClr val="000000">
                      <a:alpha val="43137"/>
                    </a:srgbClr>
                  </a:outerShdw>
                </a:effectLst>
                <a:latin typeface="Arial" charset="0"/>
                <a:ea typeface="华文细黑" pitchFamily="2" charset="-122"/>
              </a:rPr>
              <a:t>class</a:t>
            </a:r>
          </a:p>
        </p:txBody>
      </p:sp>
      <p:sp>
        <p:nvSpPr>
          <p:cNvPr id="71" name="Text Box 26"/>
          <p:cNvSpPr txBox="1">
            <a:spLocks noChangeArrowheads="1"/>
          </p:cNvSpPr>
          <p:nvPr/>
        </p:nvSpPr>
        <p:spPr bwMode="auto">
          <a:xfrm rot="20881453">
            <a:off x="5317439" y="4590720"/>
            <a:ext cx="3180972" cy="79026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none" lIns="51104" tIns="25551" rIns="51104" bIns="25551">
            <a:spAutoFit/>
          </a:bodyPr>
          <a:lstStyle/>
          <a:p>
            <a:pPr fontAlgn="base"/>
            <a:r>
              <a:rPr lang="zh-CN" altLang="en-US" sz="2400"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cs typeface="宋体"/>
                <a:sym typeface="Wingdings"/>
              </a:rPr>
              <a:t>不同类型的属性，</a:t>
            </a:r>
            <a:endParaRPr lang="en-US" altLang="zh-CN" sz="2400"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cs typeface="宋体"/>
              <a:sym typeface="Wingdings"/>
            </a:endParaRPr>
          </a:p>
          <a:p>
            <a:pPr fontAlgn="base"/>
            <a:r>
              <a:rPr lang="zh-CN" altLang="en-US" sz="2400"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cs typeface="宋体"/>
                <a:sym typeface="Wingdings"/>
              </a:rPr>
              <a:t>是否处理的方法不同？</a:t>
            </a:r>
            <a:endParaRPr lang="zh-CN" altLang="en-US" sz="4000"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cs typeface="宋体"/>
            </a:endParaRPr>
          </a:p>
        </p:txBody>
      </p:sp>
      <p:grpSp>
        <p:nvGrpSpPr>
          <p:cNvPr id="72" name="画布 307231"/>
          <p:cNvGrpSpPr/>
          <p:nvPr/>
        </p:nvGrpSpPr>
        <p:grpSpPr>
          <a:xfrm>
            <a:off x="4641250" y="1023649"/>
            <a:ext cx="3535545" cy="2010740"/>
            <a:chOff x="0" y="0"/>
            <a:chExt cx="2700020" cy="2405380"/>
          </a:xfrm>
        </p:grpSpPr>
        <p:sp>
          <p:nvSpPr>
            <p:cNvPr id="73" name="矩形 72"/>
            <p:cNvSpPr/>
            <p:nvPr/>
          </p:nvSpPr>
          <p:spPr>
            <a:xfrm>
              <a:off x="0" y="0"/>
              <a:ext cx="2700020" cy="2405380"/>
            </a:xfrm>
            <a:prstGeom prst="rect">
              <a:avLst/>
            </a:prstGeom>
          </p:spPr>
        </p:sp>
        <p:sp>
          <p:nvSpPr>
            <p:cNvPr id="74" name="Text Box 26"/>
            <p:cNvSpPr txBox="1">
              <a:spLocks noChangeArrowheads="1"/>
            </p:cNvSpPr>
            <p:nvPr/>
          </p:nvSpPr>
          <p:spPr bwMode="auto">
            <a:xfrm>
              <a:off x="348991" y="319060"/>
              <a:ext cx="262444" cy="3194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1400" dirty="0">
                  <a:solidFill>
                    <a:srgbClr val="000000"/>
                  </a:solidFill>
                  <a:latin typeface="Times New Roman"/>
                  <a:cs typeface="宋体"/>
                </a:rPr>
                <a:t>yes</a:t>
              </a:r>
              <a:endParaRPr lang="zh-CN" altLang="en-US" sz="2400" dirty="0">
                <a:latin typeface="华文细黑" pitchFamily="2" charset="-122"/>
                <a:ea typeface="华文细黑" pitchFamily="2" charset="-122"/>
                <a:cs typeface="宋体"/>
              </a:endParaRPr>
            </a:p>
          </p:txBody>
        </p:sp>
        <p:sp>
          <p:nvSpPr>
            <p:cNvPr id="75" name="椭圆 74"/>
            <p:cNvSpPr/>
            <p:nvPr/>
          </p:nvSpPr>
          <p:spPr>
            <a:xfrm>
              <a:off x="653137" y="32491"/>
              <a:ext cx="731858" cy="337286"/>
            </a:xfrm>
            <a:prstGeom prst="ellipse">
              <a:avLst/>
            </a:prstGeom>
            <a:solidFill>
              <a:schemeClr val="accent3">
                <a:lumMod val="20000"/>
                <a:lumOff val="80000"/>
              </a:schemeClr>
            </a:solidFill>
            <a:ln w="9525">
              <a:solidFill>
                <a:schemeClr val="accent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a:latin typeface="Times New Roman"/>
                  <a:ea typeface="华文细黑" pitchFamily="2" charset="-122"/>
                  <a:cs typeface="Times New Roman"/>
                </a:rPr>
                <a:t>Refund</a:t>
              </a:r>
              <a:endParaRPr lang="zh-CN" altLang="en-US" sz="1600" kern="100" dirty="0">
                <a:latin typeface="Times New Roman"/>
                <a:ea typeface="华文细黑" pitchFamily="2" charset="-122"/>
                <a:cs typeface="Times New Roman"/>
              </a:endParaRPr>
            </a:p>
          </p:txBody>
        </p:sp>
        <p:sp>
          <p:nvSpPr>
            <p:cNvPr id="76" name="矩形 75"/>
            <p:cNvSpPr/>
            <p:nvPr/>
          </p:nvSpPr>
          <p:spPr>
            <a:xfrm>
              <a:off x="31036" y="728579"/>
              <a:ext cx="516734" cy="236809"/>
            </a:xfrm>
            <a:prstGeom prst="rect">
              <a:avLst/>
            </a:prstGeom>
            <a:solidFill>
              <a:schemeClr val="tx2">
                <a:lumMod val="20000"/>
                <a:lumOff val="80000"/>
              </a:schemeClr>
            </a:solidFill>
            <a:ln w="6350">
              <a:solidFill>
                <a:schemeClr val="tx2">
                  <a:lumMod val="60000"/>
                  <a:lumOff val="4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a:latin typeface="Times New Roman"/>
                  <a:ea typeface="华文细黑" pitchFamily="2" charset="-122"/>
                  <a:cs typeface="Times New Roman"/>
                </a:rPr>
                <a:t>no / 3</a:t>
              </a:r>
              <a:endParaRPr lang="zh-CN" altLang="en-US" sz="1600" kern="100" dirty="0">
                <a:latin typeface="Times New Roman"/>
                <a:ea typeface="华文细黑" pitchFamily="2" charset="-122"/>
                <a:cs typeface="Times New Roman"/>
              </a:endParaRPr>
            </a:p>
          </p:txBody>
        </p:sp>
        <p:sp>
          <p:nvSpPr>
            <p:cNvPr id="77" name="椭圆 76"/>
            <p:cNvSpPr/>
            <p:nvPr/>
          </p:nvSpPr>
          <p:spPr>
            <a:xfrm>
              <a:off x="1350775" y="649623"/>
              <a:ext cx="720000" cy="337286"/>
            </a:xfrm>
            <a:prstGeom prst="ellipse">
              <a:avLst/>
            </a:prstGeom>
            <a:solidFill>
              <a:schemeClr val="accent3">
                <a:lumMod val="20000"/>
                <a:lumOff val="80000"/>
              </a:schemeClr>
            </a:solidFill>
            <a:ln w="9525">
              <a:solidFill>
                <a:schemeClr val="accent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err="1">
                  <a:latin typeface="Times New Roman"/>
                  <a:ea typeface="华文细黑" pitchFamily="2" charset="-122"/>
                  <a:cs typeface="Times New Roman"/>
                </a:rPr>
                <a:t>MarSt</a:t>
              </a:r>
              <a:endParaRPr lang="zh-CN" altLang="en-US" sz="1600" kern="100" dirty="0">
                <a:latin typeface="Times New Roman"/>
                <a:ea typeface="华文细黑" pitchFamily="2" charset="-122"/>
                <a:cs typeface="Times New Roman"/>
              </a:endParaRPr>
            </a:p>
          </p:txBody>
        </p:sp>
        <p:sp>
          <p:nvSpPr>
            <p:cNvPr id="78" name="椭圆 77"/>
            <p:cNvSpPr/>
            <p:nvPr/>
          </p:nvSpPr>
          <p:spPr>
            <a:xfrm>
              <a:off x="732090" y="1286397"/>
              <a:ext cx="731858" cy="337286"/>
            </a:xfrm>
            <a:prstGeom prst="ellipse">
              <a:avLst/>
            </a:prstGeom>
            <a:solidFill>
              <a:schemeClr val="accent3">
                <a:lumMod val="20000"/>
                <a:lumOff val="80000"/>
              </a:schemeClr>
            </a:solidFill>
            <a:ln w="9525">
              <a:solidFill>
                <a:schemeClr val="accent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a:latin typeface="Times New Roman"/>
                  <a:ea typeface="华文细黑" pitchFamily="2" charset="-122"/>
                  <a:cs typeface="Times New Roman"/>
                </a:rPr>
                <a:t>Income</a:t>
              </a:r>
              <a:endParaRPr lang="zh-CN" altLang="en-US" sz="1600" kern="100" dirty="0">
                <a:latin typeface="Times New Roman"/>
                <a:ea typeface="华文细黑" pitchFamily="2" charset="-122"/>
                <a:cs typeface="Times New Roman"/>
              </a:endParaRPr>
            </a:p>
          </p:txBody>
        </p:sp>
        <p:sp>
          <p:nvSpPr>
            <p:cNvPr id="87" name="矩形 86"/>
            <p:cNvSpPr/>
            <p:nvPr/>
          </p:nvSpPr>
          <p:spPr>
            <a:xfrm>
              <a:off x="2175935" y="1309696"/>
              <a:ext cx="516734" cy="236809"/>
            </a:xfrm>
            <a:prstGeom prst="rect">
              <a:avLst/>
            </a:prstGeom>
            <a:solidFill>
              <a:schemeClr val="tx2">
                <a:lumMod val="20000"/>
                <a:lumOff val="80000"/>
              </a:schemeClr>
            </a:solidFill>
            <a:ln w="6350">
              <a:solidFill>
                <a:schemeClr val="tx2">
                  <a:lumMod val="60000"/>
                  <a:lumOff val="4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a:latin typeface="Times New Roman"/>
                  <a:ea typeface="华文细黑" pitchFamily="2" charset="-122"/>
                  <a:cs typeface="Times New Roman"/>
                </a:rPr>
                <a:t>no / 3</a:t>
              </a:r>
              <a:endParaRPr lang="zh-CN" altLang="en-US" sz="1600" kern="100" dirty="0">
                <a:latin typeface="Times New Roman"/>
                <a:ea typeface="华文细黑" pitchFamily="2" charset="-122"/>
                <a:cs typeface="Times New Roman"/>
              </a:endParaRPr>
            </a:p>
          </p:txBody>
        </p:sp>
        <p:sp>
          <p:nvSpPr>
            <p:cNvPr id="88" name="矩形 87"/>
            <p:cNvSpPr/>
            <p:nvPr/>
          </p:nvSpPr>
          <p:spPr>
            <a:xfrm>
              <a:off x="310163" y="2139852"/>
              <a:ext cx="516734" cy="236809"/>
            </a:xfrm>
            <a:prstGeom prst="rect">
              <a:avLst/>
            </a:prstGeom>
            <a:solidFill>
              <a:schemeClr val="tx2">
                <a:lumMod val="20000"/>
                <a:lumOff val="80000"/>
              </a:schemeClr>
            </a:solidFill>
            <a:ln w="6350">
              <a:solidFill>
                <a:schemeClr val="tx2">
                  <a:lumMod val="60000"/>
                  <a:lumOff val="4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a:latin typeface="Times New Roman"/>
                  <a:ea typeface="华文细黑" pitchFamily="2" charset="-122"/>
                  <a:cs typeface="Times New Roman"/>
                </a:rPr>
                <a:t>no / 1</a:t>
              </a:r>
              <a:endParaRPr lang="zh-CN" altLang="en-US" sz="1600" kern="100" dirty="0">
                <a:latin typeface="Times New Roman"/>
                <a:ea typeface="华文细黑" pitchFamily="2" charset="-122"/>
                <a:cs typeface="Times New Roman"/>
              </a:endParaRPr>
            </a:p>
          </p:txBody>
        </p:sp>
        <p:sp>
          <p:nvSpPr>
            <p:cNvPr id="89" name="矩形 88"/>
            <p:cNvSpPr/>
            <p:nvPr/>
          </p:nvSpPr>
          <p:spPr>
            <a:xfrm>
              <a:off x="1463911" y="2139852"/>
              <a:ext cx="516734" cy="236809"/>
            </a:xfrm>
            <a:prstGeom prst="rect">
              <a:avLst/>
            </a:prstGeom>
            <a:solidFill>
              <a:schemeClr val="tx2">
                <a:lumMod val="20000"/>
                <a:lumOff val="80000"/>
              </a:schemeClr>
            </a:solidFill>
            <a:ln w="6350">
              <a:solidFill>
                <a:schemeClr val="tx2">
                  <a:lumMod val="60000"/>
                  <a:lumOff val="4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a:latin typeface="Times New Roman"/>
                  <a:ea typeface="华文细黑" pitchFamily="2" charset="-122"/>
                  <a:cs typeface="Times New Roman"/>
                </a:rPr>
                <a:t>yes / 3</a:t>
              </a:r>
              <a:endParaRPr lang="zh-CN" altLang="en-US" sz="1600" kern="100" dirty="0">
                <a:latin typeface="Times New Roman"/>
                <a:ea typeface="华文细黑" pitchFamily="2" charset="-122"/>
                <a:cs typeface="Times New Roman"/>
              </a:endParaRPr>
            </a:p>
          </p:txBody>
        </p:sp>
        <p:cxnSp>
          <p:nvCxnSpPr>
            <p:cNvPr id="90" name="Line 14"/>
            <p:cNvCxnSpPr>
              <a:stCxn id="75" idx="4"/>
              <a:endCxn id="76" idx="0"/>
            </p:cNvCxnSpPr>
            <p:nvPr/>
          </p:nvCxnSpPr>
          <p:spPr bwMode="auto">
            <a:xfrm flipH="1">
              <a:off x="289402" y="369776"/>
              <a:ext cx="729664" cy="358801"/>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Line 14"/>
            <p:cNvCxnSpPr>
              <a:stCxn id="75" idx="4"/>
              <a:endCxn id="77" idx="0"/>
            </p:cNvCxnSpPr>
            <p:nvPr/>
          </p:nvCxnSpPr>
          <p:spPr bwMode="auto">
            <a:xfrm>
              <a:off x="1019066" y="369777"/>
              <a:ext cx="691709" cy="279846"/>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 name="Text Box 26"/>
            <p:cNvSpPr txBox="1">
              <a:spLocks noChangeArrowheads="1"/>
            </p:cNvSpPr>
            <p:nvPr/>
          </p:nvSpPr>
          <p:spPr bwMode="auto">
            <a:xfrm>
              <a:off x="1392493" y="308328"/>
              <a:ext cx="215925" cy="3194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1400" dirty="0">
                  <a:solidFill>
                    <a:srgbClr val="000000"/>
                  </a:solidFill>
                  <a:latin typeface="Times New Roman"/>
                  <a:cs typeface="宋体"/>
                </a:rPr>
                <a:t>no</a:t>
              </a:r>
              <a:endParaRPr lang="zh-CN" altLang="en-US" sz="2400" dirty="0">
                <a:latin typeface="华文细黑" pitchFamily="2" charset="-122"/>
                <a:ea typeface="华文细黑" pitchFamily="2" charset="-122"/>
                <a:cs typeface="宋体"/>
              </a:endParaRPr>
            </a:p>
          </p:txBody>
        </p:sp>
        <p:cxnSp>
          <p:nvCxnSpPr>
            <p:cNvPr id="93" name="Line 14"/>
            <p:cNvCxnSpPr>
              <a:stCxn id="77" idx="4"/>
              <a:endCxn id="78" idx="0"/>
            </p:cNvCxnSpPr>
            <p:nvPr/>
          </p:nvCxnSpPr>
          <p:spPr bwMode="auto">
            <a:xfrm flipH="1">
              <a:off x="1098019" y="986909"/>
              <a:ext cx="612756" cy="299488"/>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4" name="Text Box 26"/>
            <p:cNvSpPr txBox="1">
              <a:spLocks noChangeArrowheads="1"/>
            </p:cNvSpPr>
            <p:nvPr/>
          </p:nvSpPr>
          <p:spPr bwMode="auto">
            <a:xfrm>
              <a:off x="552017" y="1006068"/>
              <a:ext cx="989727" cy="3194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51104" tIns="25551" rIns="51104" bIns="25551">
              <a:spAutoFit/>
            </a:bodyPr>
            <a:lstStyle/>
            <a:p>
              <a:pPr algn="r" fontAlgn="base"/>
              <a:r>
                <a:rPr lang="en-US" sz="1400" dirty="0" err="1">
                  <a:solidFill>
                    <a:srgbClr val="000000"/>
                  </a:solidFill>
                  <a:latin typeface="Times New Roman"/>
                  <a:cs typeface="宋体"/>
                </a:rPr>
                <a:t>Single,divorced</a:t>
              </a:r>
              <a:endParaRPr lang="zh-CN" altLang="en-US" sz="2400" dirty="0">
                <a:latin typeface="华文细黑" pitchFamily="2" charset="-122"/>
                <a:ea typeface="华文细黑" pitchFamily="2" charset="-122"/>
                <a:cs typeface="宋体"/>
              </a:endParaRPr>
            </a:p>
          </p:txBody>
        </p:sp>
        <p:sp>
          <p:nvSpPr>
            <p:cNvPr id="95" name="Text Box 26"/>
            <p:cNvSpPr txBox="1">
              <a:spLocks noChangeArrowheads="1"/>
            </p:cNvSpPr>
            <p:nvPr/>
          </p:nvSpPr>
          <p:spPr bwMode="auto">
            <a:xfrm>
              <a:off x="2091764" y="1006068"/>
              <a:ext cx="604833" cy="3194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51104" tIns="25551" rIns="51104" bIns="25551">
              <a:spAutoFit/>
            </a:bodyPr>
            <a:lstStyle/>
            <a:p>
              <a:pPr algn="r" fontAlgn="base"/>
              <a:r>
                <a:rPr lang="en-US" sz="1400" dirty="0">
                  <a:solidFill>
                    <a:srgbClr val="000000"/>
                  </a:solidFill>
                  <a:latin typeface="Times New Roman"/>
                  <a:cs typeface="宋体"/>
                </a:rPr>
                <a:t>Married </a:t>
              </a:r>
              <a:endParaRPr lang="zh-CN" altLang="en-US" sz="2400" dirty="0">
                <a:latin typeface="华文细黑" pitchFamily="2" charset="-122"/>
                <a:ea typeface="华文细黑" pitchFamily="2" charset="-122"/>
                <a:cs typeface="宋体"/>
              </a:endParaRPr>
            </a:p>
          </p:txBody>
        </p:sp>
        <p:cxnSp>
          <p:nvCxnSpPr>
            <p:cNvPr id="96" name="Line 14"/>
            <p:cNvCxnSpPr>
              <a:stCxn id="77" idx="4"/>
              <a:endCxn id="87" idx="0"/>
            </p:cNvCxnSpPr>
            <p:nvPr/>
          </p:nvCxnSpPr>
          <p:spPr bwMode="auto">
            <a:xfrm>
              <a:off x="1710775" y="986909"/>
              <a:ext cx="723527" cy="322787"/>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Line 14"/>
            <p:cNvCxnSpPr>
              <a:stCxn id="78" idx="4"/>
              <a:endCxn id="88" idx="0"/>
            </p:cNvCxnSpPr>
            <p:nvPr/>
          </p:nvCxnSpPr>
          <p:spPr bwMode="auto">
            <a:xfrm flipH="1">
              <a:off x="568530" y="1623683"/>
              <a:ext cx="529490" cy="516169"/>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 name="Line 14"/>
            <p:cNvCxnSpPr>
              <a:stCxn id="78" idx="4"/>
              <a:endCxn id="89" idx="0"/>
            </p:cNvCxnSpPr>
            <p:nvPr/>
          </p:nvCxnSpPr>
          <p:spPr bwMode="auto">
            <a:xfrm>
              <a:off x="1098020" y="1623683"/>
              <a:ext cx="624259" cy="516169"/>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9" name="Text Box 26"/>
            <p:cNvSpPr txBox="1">
              <a:spLocks noChangeArrowheads="1"/>
            </p:cNvSpPr>
            <p:nvPr/>
          </p:nvSpPr>
          <p:spPr bwMode="auto">
            <a:xfrm>
              <a:off x="411851" y="1714539"/>
              <a:ext cx="392206" cy="3194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1400" dirty="0">
                  <a:solidFill>
                    <a:srgbClr val="000000"/>
                  </a:solidFill>
                  <a:latin typeface="Times New Roman"/>
                  <a:cs typeface="宋体"/>
                </a:rPr>
                <a:t>&lt;85K</a:t>
              </a:r>
              <a:endParaRPr lang="zh-CN" altLang="en-US" sz="2400" dirty="0">
                <a:latin typeface="华文细黑" pitchFamily="2" charset="-122"/>
                <a:ea typeface="华文细黑" pitchFamily="2" charset="-122"/>
                <a:cs typeface="宋体"/>
              </a:endParaRPr>
            </a:p>
          </p:txBody>
        </p:sp>
        <p:sp>
          <p:nvSpPr>
            <p:cNvPr id="100" name="Text Box 26"/>
            <p:cNvSpPr txBox="1">
              <a:spLocks noChangeArrowheads="1"/>
            </p:cNvSpPr>
            <p:nvPr/>
          </p:nvSpPr>
          <p:spPr bwMode="auto">
            <a:xfrm>
              <a:off x="1500693" y="1714539"/>
              <a:ext cx="389758" cy="3194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1400" dirty="0">
                  <a:solidFill>
                    <a:srgbClr val="000000"/>
                  </a:solidFill>
                  <a:latin typeface="Times New Roman"/>
                  <a:cs typeface="宋体"/>
                </a:rPr>
                <a:t>≥85K</a:t>
              </a:r>
              <a:endParaRPr lang="zh-CN" altLang="en-US" sz="2400" dirty="0">
                <a:latin typeface="华文细黑" pitchFamily="2" charset="-122"/>
                <a:ea typeface="华文细黑" pitchFamily="2" charset="-122"/>
                <a:cs typeface="宋体"/>
              </a:endParaRPr>
            </a:p>
          </p:txBody>
        </p:sp>
      </p:grpSp>
      <p:sp>
        <p:nvSpPr>
          <p:cNvPr id="30" name="Text Box 26">
            <a:extLst>
              <a:ext uri="{FF2B5EF4-FFF2-40B4-BE49-F238E27FC236}">
                <a16:creationId xmlns:a16="http://schemas.microsoft.com/office/drawing/2014/main" id="{67F8EEF0-E337-41C4-A132-FBAE5F479299}"/>
              </a:ext>
            </a:extLst>
          </p:cNvPr>
          <p:cNvSpPr txBox="1">
            <a:spLocks noChangeArrowheads="1"/>
          </p:cNvSpPr>
          <p:nvPr/>
        </p:nvSpPr>
        <p:spPr bwMode="auto">
          <a:xfrm rot="20881453">
            <a:off x="5028286" y="3604002"/>
            <a:ext cx="3270740" cy="420933"/>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none" lIns="51104" tIns="25551" rIns="51104" bIns="25551">
            <a:spAutoFit/>
          </a:bodyPr>
          <a:lstStyle/>
          <a:p>
            <a:pPr fontAlgn="base"/>
            <a:r>
              <a:rPr lang="zh-CN" altLang="en-US" sz="2400"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cs typeface="宋体"/>
                <a:sym typeface="Wingdings"/>
              </a:rPr>
              <a:t>从哪个属性开始划分？</a:t>
            </a:r>
            <a:endParaRPr lang="zh-CN" altLang="en-US" sz="4000"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cs typeface="宋体"/>
            </a:endParaRPr>
          </a:p>
        </p:txBody>
      </p:sp>
      <p:sp>
        <p:nvSpPr>
          <p:cNvPr id="3" name="灯片编号占位符 2">
            <a:extLst>
              <a:ext uri="{FF2B5EF4-FFF2-40B4-BE49-F238E27FC236}">
                <a16:creationId xmlns:a16="http://schemas.microsoft.com/office/drawing/2014/main" id="{E6BCC8BC-FED5-4DDB-B825-437F024218F8}"/>
              </a:ext>
            </a:extLst>
          </p:cNvPr>
          <p:cNvSpPr>
            <a:spLocks noGrp="1"/>
          </p:cNvSpPr>
          <p:nvPr>
            <p:ph type="sldNum" sz="quarter" idx="12"/>
          </p:nvPr>
        </p:nvSpPr>
        <p:spPr/>
        <p:txBody>
          <a:bodyPr/>
          <a:lstStyle/>
          <a:p>
            <a:fld id="{0C913308-F349-4B6D-A68A-DD1791B4A57B}" type="slidenum">
              <a:rPr lang="zh-CN" altLang="en-US" smtClean="0"/>
              <a:t>24</a:t>
            </a:fld>
            <a:endParaRPr lang="zh-CN" altLang="en-US"/>
          </a:p>
        </p:txBody>
      </p:sp>
    </p:spTree>
    <p:extLst>
      <p:ext uri="{BB962C8B-B14F-4D97-AF65-F5344CB8AC3E}">
        <p14:creationId xmlns:p14="http://schemas.microsoft.com/office/powerpoint/2010/main" val="38474779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7" name="内容占位符 4"/>
          <p:cNvGraphicFramePr>
            <a:graphicFrameLocks/>
          </p:cNvGraphicFramePr>
          <p:nvPr/>
        </p:nvGraphicFramePr>
        <p:xfrm>
          <a:off x="107506" y="2477251"/>
          <a:ext cx="4537075" cy="3322320"/>
        </p:xfrm>
        <a:graphic>
          <a:graphicData uri="http://schemas.openxmlformats.org/drawingml/2006/table">
            <a:tbl>
              <a:tblPr firstRow="1" firstCol="1" bandRow="1" bandCol="1">
                <a:tableStyleId>{5C22544A-7EE6-4342-B048-85BDC9FD1C3A}</a:tableStyleId>
              </a:tblPr>
              <a:tblGrid>
                <a:gridCol w="554672">
                  <a:extLst>
                    <a:ext uri="{9D8B030D-6E8A-4147-A177-3AD203B41FA5}">
                      <a16:colId xmlns:a16="http://schemas.microsoft.com/office/drawing/2014/main" val="20000"/>
                    </a:ext>
                  </a:extLst>
                </a:gridCol>
                <a:gridCol w="843598">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876935">
                  <a:extLst>
                    <a:ext uri="{9D8B030D-6E8A-4147-A177-3AD203B41FA5}">
                      <a16:colId xmlns:a16="http://schemas.microsoft.com/office/drawing/2014/main" val="20003"/>
                    </a:ext>
                  </a:extLst>
                </a:gridCol>
                <a:gridCol w="753110">
                  <a:extLst>
                    <a:ext uri="{9D8B030D-6E8A-4147-A177-3AD203B41FA5}">
                      <a16:colId xmlns:a16="http://schemas.microsoft.com/office/drawing/2014/main" val="20004"/>
                    </a:ext>
                  </a:extLst>
                </a:gridCol>
              </a:tblGrid>
              <a:tr h="304800">
                <a:tc gridSpan="5">
                  <a:txBody>
                    <a:bodyPr/>
                    <a:lstStyle/>
                    <a:p>
                      <a:pPr algn="ctr">
                        <a:spcBef>
                          <a:spcPts val="300"/>
                        </a:spcBef>
                        <a:spcAft>
                          <a:spcPts val="300"/>
                        </a:spcAft>
                      </a:pPr>
                      <a:r>
                        <a:rPr lang="en-US" sz="1800" kern="100" dirty="0">
                          <a:effectLst/>
                        </a:rPr>
                        <a:t>(a) </a:t>
                      </a:r>
                      <a:r>
                        <a:rPr lang="zh-CN" altLang="en-US" sz="1800" kern="100" dirty="0">
                          <a:effectLst/>
                          <a:ea typeface="华文细黑" pitchFamily="2" charset="-122"/>
                        </a:rPr>
                        <a:t>训练数据集</a:t>
                      </a:r>
                      <a:endParaRPr lang="zh-CN" sz="1800" kern="100" dirty="0">
                        <a:effectLst/>
                        <a:latin typeface="Times New Roman"/>
                        <a:ea typeface="楷体"/>
                      </a:endParaRPr>
                    </a:p>
                  </a:txBody>
                  <a:tcPr marL="68580" marR="68580" marT="0" marB="0"/>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74320">
                <a:tc>
                  <a:txBody>
                    <a:bodyPr/>
                    <a:lstStyle/>
                    <a:p>
                      <a:pPr indent="-34290" algn="ctr">
                        <a:spcAft>
                          <a:spcPts val="0"/>
                        </a:spcAft>
                      </a:pPr>
                      <a:r>
                        <a:rPr lang="en-US" sz="1400" kern="100" dirty="0" err="1">
                          <a:effectLst/>
                        </a:rPr>
                        <a:t>Tid</a:t>
                      </a:r>
                      <a:endParaRPr lang="zh-CN" sz="1800" kern="100" dirty="0">
                        <a:effectLst/>
                        <a:latin typeface="Times New Roman"/>
                        <a:ea typeface="华文细黑" pitchFamily="2" charset="-122"/>
                        <a:cs typeface="Times New Roman"/>
                      </a:endParaRPr>
                    </a:p>
                  </a:txBody>
                  <a:tcPr marL="68580" marR="68580" marT="0" marB="0"/>
                </a:tc>
                <a:tc>
                  <a:txBody>
                    <a:bodyPr/>
                    <a:lstStyle/>
                    <a:p>
                      <a:pPr indent="-34290" algn="ctr">
                        <a:spcAft>
                          <a:spcPts val="0"/>
                        </a:spcAft>
                      </a:pPr>
                      <a:r>
                        <a:rPr lang="en-US" sz="1400" kern="100" dirty="0">
                          <a:effectLst/>
                        </a:rPr>
                        <a:t>Refund</a:t>
                      </a:r>
                      <a:endParaRPr lang="zh-CN" sz="18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err="1">
                          <a:effectLst/>
                        </a:rPr>
                        <a:t>MaritalStatus</a:t>
                      </a:r>
                      <a:endParaRPr lang="zh-CN" sz="18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Income</a:t>
                      </a:r>
                      <a:endParaRPr lang="zh-CN" sz="18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Cheat</a:t>
                      </a:r>
                      <a:endParaRPr lang="zh-CN" sz="18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1"/>
                  </a:ext>
                </a:extLst>
              </a:tr>
              <a:tr h="274320">
                <a:tc>
                  <a:txBody>
                    <a:bodyPr/>
                    <a:lstStyle/>
                    <a:p>
                      <a:pPr algn="ctr">
                        <a:spcAft>
                          <a:spcPts val="0"/>
                        </a:spcAft>
                      </a:pPr>
                      <a:r>
                        <a:rPr lang="en-US" sz="1600" kern="100" dirty="0">
                          <a:effectLst/>
                        </a:rPr>
                        <a:t>1</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yes</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Single</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125K</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2"/>
                  </a:ext>
                </a:extLst>
              </a:tr>
              <a:tr h="274320">
                <a:tc>
                  <a:txBody>
                    <a:bodyPr/>
                    <a:lstStyle/>
                    <a:p>
                      <a:pPr algn="ctr">
                        <a:spcAft>
                          <a:spcPts val="0"/>
                        </a:spcAft>
                      </a:pPr>
                      <a:r>
                        <a:rPr lang="en-US" sz="1600" kern="100" dirty="0">
                          <a:effectLst/>
                        </a:rPr>
                        <a:t>2</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Married</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100K</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3"/>
                  </a:ext>
                </a:extLst>
              </a:tr>
              <a:tr h="274320">
                <a:tc>
                  <a:txBody>
                    <a:bodyPr/>
                    <a:lstStyle/>
                    <a:p>
                      <a:pPr algn="ctr">
                        <a:spcAft>
                          <a:spcPts val="0"/>
                        </a:spcAft>
                      </a:pPr>
                      <a:r>
                        <a:rPr lang="en-US" sz="1600" kern="100" dirty="0">
                          <a:effectLst/>
                        </a:rPr>
                        <a:t>3</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Single</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70K</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4"/>
                  </a:ext>
                </a:extLst>
              </a:tr>
              <a:tr h="274320">
                <a:tc>
                  <a:txBody>
                    <a:bodyPr/>
                    <a:lstStyle/>
                    <a:p>
                      <a:pPr algn="ctr">
                        <a:spcAft>
                          <a:spcPts val="0"/>
                        </a:spcAft>
                      </a:pPr>
                      <a:r>
                        <a:rPr lang="en-US" sz="1600" kern="100" dirty="0">
                          <a:effectLst/>
                        </a:rPr>
                        <a:t>4</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yes</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Married</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120K</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5"/>
                  </a:ext>
                </a:extLst>
              </a:tr>
              <a:tr h="274320">
                <a:tc>
                  <a:txBody>
                    <a:bodyPr/>
                    <a:lstStyle/>
                    <a:p>
                      <a:pPr algn="ctr">
                        <a:spcAft>
                          <a:spcPts val="0"/>
                        </a:spcAft>
                      </a:pPr>
                      <a:r>
                        <a:rPr lang="en-US" sz="1600" kern="100" dirty="0">
                          <a:effectLst/>
                        </a:rPr>
                        <a:t>5</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Divorced</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95K</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yes</a:t>
                      </a:r>
                      <a:endParaRPr lang="zh-CN" sz="22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6"/>
                  </a:ext>
                </a:extLst>
              </a:tr>
              <a:tr h="274320">
                <a:tc>
                  <a:txBody>
                    <a:bodyPr/>
                    <a:lstStyle/>
                    <a:p>
                      <a:pPr algn="ctr">
                        <a:spcAft>
                          <a:spcPts val="0"/>
                        </a:spcAft>
                      </a:pPr>
                      <a:r>
                        <a:rPr lang="en-US" sz="1600" kern="100" dirty="0">
                          <a:effectLst/>
                        </a:rPr>
                        <a:t>6</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M</a:t>
                      </a:r>
                      <a:r>
                        <a:rPr lang="en-US" altLang="zh-CN" sz="1600" kern="100" dirty="0">
                          <a:effectLst/>
                          <a:ea typeface="华文细黑" pitchFamily="2" charset="-122"/>
                        </a:rPr>
                        <a:t>a</a:t>
                      </a:r>
                      <a:r>
                        <a:rPr lang="en-US" sz="1600" kern="100" dirty="0">
                          <a:effectLst/>
                        </a:rPr>
                        <a:t>rried</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60K</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7"/>
                  </a:ext>
                </a:extLst>
              </a:tr>
              <a:tr h="274320">
                <a:tc>
                  <a:txBody>
                    <a:bodyPr/>
                    <a:lstStyle/>
                    <a:p>
                      <a:pPr algn="ctr">
                        <a:spcAft>
                          <a:spcPts val="0"/>
                        </a:spcAft>
                      </a:pPr>
                      <a:r>
                        <a:rPr lang="en-US" sz="1600" kern="100" dirty="0">
                          <a:effectLst/>
                        </a:rPr>
                        <a:t>7</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yes</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Divorced</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220K</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8"/>
                  </a:ext>
                </a:extLst>
              </a:tr>
              <a:tr h="274320">
                <a:tc>
                  <a:txBody>
                    <a:bodyPr/>
                    <a:lstStyle/>
                    <a:p>
                      <a:pPr algn="ctr">
                        <a:spcAft>
                          <a:spcPts val="0"/>
                        </a:spcAft>
                      </a:pPr>
                      <a:r>
                        <a:rPr lang="en-US" sz="1600" kern="100" dirty="0">
                          <a:effectLst/>
                        </a:rPr>
                        <a:t>8</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Single</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85K</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yes</a:t>
                      </a:r>
                      <a:endParaRPr lang="zh-CN" sz="22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9"/>
                  </a:ext>
                </a:extLst>
              </a:tr>
              <a:tr h="274320">
                <a:tc>
                  <a:txBody>
                    <a:bodyPr/>
                    <a:lstStyle/>
                    <a:p>
                      <a:pPr algn="ctr">
                        <a:spcAft>
                          <a:spcPts val="0"/>
                        </a:spcAft>
                      </a:pPr>
                      <a:r>
                        <a:rPr lang="en-US" sz="1600" kern="100" dirty="0">
                          <a:effectLst/>
                        </a:rPr>
                        <a:t>9</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Married</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75K</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10"/>
                  </a:ext>
                </a:extLst>
              </a:tr>
              <a:tr h="274320">
                <a:tc>
                  <a:txBody>
                    <a:bodyPr/>
                    <a:lstStyle/>
                    <a:p>
                      <a:pPr algn="ctr">
                        <a:spcAft>
                          <a:spcPts val="0"/>
                        </a:spcAft>
                      </a:pPr>
                      <a:r>
                        <a:rPr lang="en-US" sz="1600" kern="100" dirty="0">
                          <a:effectLst/>
                        </a:rPr>
                        <a:t>10</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Single</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90K</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yes</a:t>
                      </a:r>
                      <a:endParaRPr lang="zh-CN" sz="22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11"/>
                  </a:ext>
                </a:extLst>
              </a:tr>
            </a:tbl>
          </a:graphicData>
        </a:graphic>
      </p:graphicFrame>
      <p:sp>
        <p:nvSpPr>
          <p:cNvPr id="2" name="标题 1"/>
          <p:cNvSpPr>
            <a:spLocks noGrp="1"/>
          </p:cNvSpPr>
          <p:nvPr>
            <p:ph type="title"/>
          </p:nvPr>
        </p:nvSpPr>
        <p:spPr/>
        <p:txBody>
          <a:bodyPr/>
          <a:lstStyle/>
          <a:p>
            <a:r>
              <a:rPr lang="zh-CN" altLang="en-US" dirty="0"/>
              <a:t>思考？</a:t>
            </a:r>
          </a:p>
        </p:txBody>
      </p:sp>
      <p:grpSp>
        <p:nvGrpSpPr>
          <p:cNvPr id="25" name="画布 307231"/>
          <p:cNvGrpSpPr/>
          <p:nvPr/>
        </p:nvGrpSpPr>
        <p:grpSpPr>
          <a:xfrm>
            <a:off x="4177237" y="1115698"/>
            <a:ext cx="2194965" cy="1089166"/>
            <a:chOff x="307401" y="4622"/>
            <a:chExt cx="1496578" cy="1102634"/>
          </a:xfrm>
        </p:grpSpPr>
        <p:sp>
          <p:nvSpPr>
            <p:cNvPr id="51" name="椭圆 50"/>
            <p:cNvSpPr/>
            <p:nvPr/>
          </p:nvSpPr>
          <p:spPr>
            <a:xfrm>
              <a:off x="751527" y="4622"/>
              <a:ext cx="720000" cy="337286"/>
            </a:xfrm>
            <a:prstGeom prst="ellipse">
              <a:avLst/>
            </a:prstGeom>
            <a:solidFill>
              <a:schemeClr val="accent3">
                <a:lumMod val="20000"/>
                <a:lumOff val="80000"/>
              </a:schemeClr>
            </a:solidFill>
            <a:ln w="9525">
              <a:solidFill>
                <a:schemeClr val="accent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err="1">
                  <a:latin typeface="Times New Roman"/>
                  <a:ea typeface="华文细黑" pitchFamily="2" charset="-122"/>
                  <a:cs typeface="Times New Roman"/>
                </a:rPr>
                <a:t>MarSt</a:t>
              </a:r>
              <a:endParaRPr lang="zh-CN" altLang="en-US" sz="1600" kern="100" dirty="0">
                <a:latin typeface="Times New Roman"/>
                <a:ea typeface="华文细黑" pitchFamily="2" charset="-122"/>
                <a:cs typeface="Times New Roman"/>
              </a:endParaRPr>
            </a:p>
          </p:txBody>
        </p:sp>
        <p:cxnSp>
          <p:nvCxnSpPr>
            <p:cNvPr id="59" name="Line 14"/>
            <p:cNvCxnSpPr>
              <a:stCxn id="51" idx="4"/>
            </p:cNvCxnSpPr>
            <p:nvPr/>
          </p:nvCxnSpPr>
          <p:spPr bwMode="auto">
            <a:xfrm>
              <a:off x="1111526" y="341908"/>
              <a:ext cx="392730" cy="765348"/>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 name="Text Box 26"/>
            <p:cNvSpPr txBox="1">
              <a:spLocks noChangeArrowheads="1"/>
            </p:cNvSpPr>
            <p:nvPr/>
          </p:nvSpPr>
          <p:spPr bwMode="auto">
            <a:xfrm>
              <a:off x="307401" y="641512"/>
              <a:ext cx="878660" cy="2703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51104" tIns="25551" rIns="51104" bIns="25551">
              <a:spAutoFit/>
            </a:bodyPr>
            <a:lstStyle/>
            <a:p>
              <a:pPr algn="r" fontAlgn="base"/>
              <a:r>
                <a:rPr lang="en-US" sz="1400" dirty="0" err="1">
                  <a:solidFill>
                    <a:srgbClr val="000000"/>
                  </a:solidFill>
                  <a:latin typeface="Times New Roman"/>
                  <a:cs typeface="宋体"/>
                </a:rPr>
                <a:t>Single,divorced</a:t>
              </a:r>
              <a:endParaRPr lang="zh-CN" altLang="en-US" sz="2400" dirty="0">
                <a:latin typeface="华文细黑" pitchFamily="2" charset="-122"/>
                <a:ea typeface="华文细黑" pitchFamily="2" charset="-122"/>
                <a:cs typeface="宋体"/>
              </a:endParaRPr>
            </a:p>
          </p:txBody>
        </p:sp>
        <p:sp>
          <p:nvSpPr>
            <p:cNvPr id="61" name="Text Box 26"/>
            <p:cNvSpPr txBox="1">
              <a:spLocks noChangeArrowheads="1"/>
            </p:cNvSpPr>
            <p:nvPr/>
          </p:nvSpPr>
          <p:spPr bwMode="auto">
            <a:xfrm>
              <a:off x="1245432" y="696175"/>
              <a:ext cx="558547" cy="2703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51104" tIns="25551" rIns="51104" bIns="25551">
              <a:spAutoFit/>
            </a:bodyPr>
            <a:lstStyle/>
            <a:p>
              <a:pPr algn="r" fontAlgn="base"/>
              <a:r>
                <a:rPr lang="en-US" sz="1400" dirty="0">
                  <a:solidFill>
                    <a:srgbClr val="000000"/>
                  </a:solidFill>
                  <a:latin typeface="Times New Roman"/>
                  <a:cs typeface="宋体"/>
                </a:rPr>
                <a:t>Married </a:t>
              </a:r>
              <a:endParaRPr lang="zh-CN" altLang="en-US" sz="2400" dirty="0">
                <a:latin typeface="华文细黑" pitchFamily="2" charset="-122"/>
                <a:ea typeface="华文细黑" pitchFamily="2" charset="-122"/>
                <a:cs typeface="宋体"/>
              </a:endParaRPr>
            </a:p>
          </p:txBody>
        </p:sp>
        <p:cxnSp>
          <p:nvCxnSpPr>
            <p:cNvPr id="62" name="Line 14"/>
            <p:cNvCxnSpPr>
              <a:stCxn id="51" idx="4"/>
            </p:cNvCxnSpPr>
            <p:nvPr/>
          </p:nvCxnSpPr>
          <p:spPr bwMode="auto">
            <a:xfrm flipH="1">
              <a:off x="653117" y="341908"/>
              <a:ext cx="458410" cy="765348"/>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8" name="画布 219"/>
          <p:cNvGrpSpPr/>
          <p:nvPr/>
        </p:nvGrpSpPr>
        <p:grpSpPr>
          <a:xfrm>
            <a:off x="4798752" y="5003276"/>
            <a:ext cx="4165739" cy="873996"/>
            <a:chOff x="1777178" y="471979"/>
            <a:chExt cx="2899233" cy="799546"/>
          </a:xfrm>
        </p:grpSpPr>
        <p:sp>
          <p:nvSpPr>
            <p:cNvPr id="44" name="椭圆 43"/>
            <p:cNvSpPr/>
            <p:nvPr/>
          </p:nvSpPr>
          <p:spPr>
            <a:xfrm>
              <a:off x="2860769" y="471979"/>
              <a:ext cx="662985" cy="305545"/>
            </a:xfrm>
            <a:prstGeom prst="ellipse">
              <a:avLst/>
            </a:prstGeom>
            <a:solidFill>
              <a:schemeClr val="accent3">
                <a:lumMod val="20000"/>
                <a:lumOff val="80000"/>
              </a:schemeClr>
            </a:solidFill>
            <a:ln w="9525">
              <a:solidFill>
                <a:schemeClr val="accent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200" b="1" kern="100" dirty="0">
                  <a:latin typeface="Times New Roman"/>
                  <a:ea typeface="华文细黑" pitchFamily="2" charset="-122"/>
                  <a:cs typeface="Times New Roman"/>
                </a:rPr>
                <a:t>Income</a:t>
              </a:r>
              <a:endParaRPr lang="zh-CN" altLang="en-US" sz="1400" kern="100" dirty="0">
                <a:latin typeface="Times New Roman"/>
                <a:ea typeface="华文细黑" pitchFamily="2" charset="-122"/>
                <a:cs typeface="Times New Roman"/>
              </a:endParaRPr>
            </a:p>
          </p:txBody>
        </p:sp>
        <p:cxnSp>
          <p:nvCxnSpPr>
            <p:cNvPr id="48" name="Line 14"/>
            <p:cNvCxnSpPr>
              <a:stCxn id="44" idx="4"/>
            </p:cNvCxnSpPr>
            <p:nvPr/>
          </p:nvCxnSpPr>
          <p:spPr bwMode="auto">
            <a:xfrm flipH="1">
              <a:off x="1777178" y="777524"/>
              <a:ext cx="1415084" cy="494001"/>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 name="Text Box 26"/>
            <p:cNvSpPr txBox="1">
              <a:spLocks noChangeArrowheads="1"/>
            </p:cNvSpPr>
            <p:nvPr/>
          </p:nvSpPr>
          <p:spPr bwMode="auto">
            <a:xfrm>
              <a:off x="1777178" y="947000"/>
              <a:ext cx="309392" cy="2116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293" tIns="23146" rIns="46293" bIns="23146">
              <a:spAutoFit/>
            </a:bodyPr>
            <a:lstStyle/>
            <a:p>
              <a:pPr algn="ctr" fontAlgn="base"/>
              <a:r>
                <a:rPr lang="en-US" altLang="zh-CN" sz="1200" dirty="0">
                  <a:latin typeface="Times New Roman" pitchFamily="18" charset="0"/>
                  <a:ea typeface="华文细黑" pitchFamily="2" charset="-122"/>
                  <a:cs typeface="Times New Roman" pitchFamily="18" charset="0"/>
                </a:rPr>
                <a:t>&lt;60K</a:t>
              </a:r>
              <a:endParaRPr lang="zh-CN" altLang="en-US" sz="1200" dirty="0">
                <a:latin typeface="Times New Roman" pitchFamily="18" charset="0"/>
                <a:ea typeface="华文细黑" pitchFamily="2" charset="-122"/>
                <a:cs typeface="Times New Roman" pitchFamily="18" charset="0"/>
              </a:endParaRPr>
            </a:p>
          </p:txBody>
        </p:sp>
        <p:sp>
          <p:nvSpPr>
            <p:cNvPr id="50" name="Text Box 26"/>
            <p:cNvSpPr txBox="1">
              <a:spLocks noChangeArrowheads="1"/>
            </p:cNvSpPr>
            <p:nvPr/>
          </p:nvSpPr>
          <p:spPr bwMode="auto">
            <a:xfrm>
              <a:off x="2601734" y="947000"/>
              <a:ext cx="450989" cy="2116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6293" tIns="23146" rIns="46293" bIns="23146">
              <a:spAutoFit/>
            </a:bodyPr>
            <a:lstStyle/>
            <a:p>
              <a:pPr algn="ctr" fontAlgn="base"/>
              <a:r>
                <a:rPr lang="en-US" sz="1200" dirty="0">
                  <a:solidFill>
                    <a:srgbClr val="000000"/>
                  </a:solidFill>
                  <a:latin typeface="Times New Roman"/>
                  <a:cs typeface="宋体"/>
                </a:rPr>
                <a:t>70~75K</a:t>
              </a:r>
              <a:endParaRPr lang="zh-CN" altLang="en-US" sz="2000" dirty="0">
                <a:latin typeface="华文细黑" pitchFamily="2" charset="-122"/>
                <a:ea typeface="华文细黑" pitchFamily="2" charset="-122"/>
                <a:cs typeface="宋体"/>
              </a:endParaRPr>
            </a:p>
          </p:txBody>
        </p:sp>
        <p:sp>
          <p:nvSpPr>
            <p:cNvPr id="79" name="Text Box 26"/>
            <p:cNvSpPr txBox="1">
              <a:spLocks noChangeArrowheads="1"/>
            </p:cNvSpPr>
            <p:nvPr/>
          </p:nvSpPr>
          <p:spPr bwMode="auto">
            <a:xfrm>
              <a:off x="2090849" y="947000"/>
              <a:ext cx="506606" cy="2116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6293" tIns="23146" rIns="46293" bIns="23146">
              <a:spAutoFit/>
            </a:bodyPr>
            <a:lstStyle/>
            <a:p>
              <a:pPr algn="ctr" fontAlgn="base"/>
              <a:r>
                <a:rPr lang="en-US" sz="1200" dirty="0">
                  <a:solidFill>
                    <a:srgbClr val="000000"/>
                  </a:solidFill>
                  <a:latin typeface="Times New Roman"/>
                  <a:cs typeface="宋体"/>
                </a:rPr>
                <a:t>60~70K</a:t>
              </a:r>
              <a:endParaRPr lang="zh-CN" altLang="en-US" sz="2000" dirty="0">
                <a:latin typeface="华文细黑" pitchFamily="2" charset="-122"/>
                <a:ea typeface="华文细黑" pitchFamily="2" charset="-122"/>
                <a:cs typeface="宋体"/>
              </a:endParaRPr>
            </a:p>
          </p:txBody>
        </p:sp>
        <p:cxnSp>
          <p:nvCxnSpPr>
            <p:cNvPr id="80" name="Line 14"/>
            <p:cNvCxnSpPr>
              <a:stCxn id="44" idx="4"/>
            </p:cNvCxnSpPr>
            <p:nvPr/>
          </p:nvCxnSpPr>
          <p:spPr bwMode="auto">
            <a:xfrm flipH="1">
              <a:off x="2739347" y="777523"/>
              <a:ext cx="452911" cy="494001"/>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 name="Line 14"/>
            <p:cNvCxnSpPr>
              <a:stCxn id="44" idx="4"/>
            </p:cNvCxnSpPr>
            <p:nvPr/>
          </p:nvCxnSpPr>
          <p:spPr bwMode="auto">
            <a:xfrm>
              <a:off x="3192264" y="777523"/>
              <a:ext cx="592261" cy="494001"/>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 name="Text Box 26"/>
            <p:cNvSpPr txBox="1">
              <a:spLocks noChangeArrowheads="1"/>
            </p:cNvSpPr>
            <p:nvPr/>
          </p:nvSpPr>
          <p:spPr bwMode="auto">
            <a:xfrm>
              <a:off x="3057002" y="947000"/>
              <a:ext cx="414263" cy="2116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293" tIns="23146" rIns="46293" bIns="23146">
              <a:spAutoFit/>
            </a:bodyPr>
            <a:lstStyle/>
            <a:p>
              <a:pPr algn="ctr" fontAlgn="base"/>
              <a:r>
                <a:rPr lang="en-US" sz="1200" dirty="0">
                  <a:solidFill>
                    <a:srgbClr val="000000"/>
                  </a:solidFill>
                  <a:latin typeface="Times New Roman"/>
                  <a:cs typeface="宋体"/>
                </a:rPr>
                <a:t>75~85K</a:t>
              </a:r>
              <a:endParaRPr lang="zh-CN" altLang="en-US" sz="2000" dirty="0">
                <a:latin typeface="华文细黑" pitchFamily="2" charset="-122"/>
                <a:ea typeface="华文细黑" pitchFamily="2" charset="-122"/>
                <a:cs typeface="宋体"/>
              </a:endParaRPr>
            </a:p>
          </p:txBody>
        </p:sp>
        <p:sp>
          <p:nvSpPr>
            <p:cNvPr id="83" name="Text Box 26"/>
            <p:cNvSpPr txBox="1">
              <a:spLocks noChangeArrowheads="1"/>
            </p:cNvSpPr>
            <p:nvPr/>
          </p:nvSpPr>
          <p:spPr bwMode="auto">
            <a:xfrm>
              <a:off x="4314583" y="947000"/>
              <a:ext cx="361828" cy="2116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293" tIns="23146" rIns="46293" bIns="23146">
              <a:spAutoFit/>
            </a:bodyPr>
            <a:lstStyle/>
            <a:p>
              <a:pPr algn="ctr" fontAlgn="base"/>
              <a:r>
                <a:rPr lang="en-US" sz="1200" dirty="0">
                  <a:solidFill>
                    <a:srgbClr val="000000"/>
                  </a:solidFill>
                  <a:latin typeface="Times New Roman"/>
                  <a:cs typeface="宋体"/>
                </a:rPr>
                <a:t>≥220K</a:t>
              </a:r>
              <a:endParaRPr lang="zh-CN" altLang="en-US" sz="2000" dirty="0">
                <a:latin typeface="华文细黑" pitchFamily="2" charset="-122"/>
                <a:ea typeface="华文细黑" pitchFamily="2" charset="-122"/>
                <a:cs typeface="宋体"/>
              </a:endParaRPr>
            </a:p>
          </p:txBody>
        </p:sp>
        <p:cxnSp>
          <p:nvCxnSpPr>
            <p:cNvPr id="84" name="Line 14"/>
            <p:cNvCxnSpPr>
              <a:stCxn id="44" idx="4"/>
            </p:cNvCxnSpPr>
            <p:nvPr/>
          </p:nvCxnSpPr>
          <p:spPr bwMode="auto">
            <a:xfrm flipH="1">
              <a:off x="2331902" y="777523"/>
              <a:ext cx="860355" cy="494001"/>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 name="Line 14"/>
            <p:cNvCxnSpPr>
              <a:stCxn id="44" idx="4"/>
            </p:cNvCxnSpPr>
            <p:nvPr/>
          </p:nvCxnSpPr>
          <p:spPr bwMode="auto">
            <a:xfrm>
              <a:off x="3192262" y="777522"/>
              <a:ext cx="2" cy="494001"/>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6" name="Line 14"/>
            <p:cNvCxnSpPr>
              <a:stCxn id="44" idx="4"/>
            </p:cNvCxnSpPr>
            <p:nvPr/>
          </p:nvCxnSpPr>
          <p:spPr bwMode="auto">
            <a:xfrm>
              <a:off x="3192262" y="777523"/>
              <a:ext cx="1428132" cy="494001"/>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8" name="Text Box 26"/>
            <p:cNvSpPr txBox="1">
              <a:spLocks noChangeArrowheads="1"/>
            </p:cNvSpPr>
            <p:nvPr/>
          </p:nvSpPr>
          <p:spPr bwMode="auto">
            <a:xfrm>
              <a:off x="3759094" y="947000"/>
              <a:ext cx="551209" cy="2116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6293" tIns="23146" rIns="46293" bIns="23146">
              <a:spAutoFit/>
            </a:bodyPr>
            <a:lstStyle/>
            <a:p>
              <a:pPr algn="ctr" fontAlgn="base"/>
              <a:r>
                <a:rPr lang="en-US" sz="1200" dirty="0">
                  <a:solidFill>
                    <a:srgbClr val="000000"/>
                  </a:solidFill>
                  <a:latin typeface="Times New Roman"/>
                  <a:cs typeface="宋体"/>
                </a:rPr>
                <a:t>125~200K</a:t>
              </a:r>
              <a:endParaRPr lang="zh-CN" altLang="en-US" sz="2000" dirty="0">
                <a:latin typeface="华文细黑" pitchFamily="2" charset="-122"/>
                <a:ea typeface="华文细黑" pitchFamily="2" charset="-122"/>
                <a:cs typeface="宋体"/>
              </a:endParaRPr>
            </a:p>
          </p:txBody>
        </p:sp>
        <p:sp>
          <p:nvSpPr>
            <p:cNvPr id="99" name="Text Box 26"/>
            <p:cNvSpPr txBox="1">
              <a:spLocks noChangeArrowheads="1"/>
            </p:cNvSpPr>
            <p:nvPr/>
          </p:nvSpPr>
          <p:spPr bwMode="auto">
            <a:xfrm>
              <a:off x="3475543" y="947000"/>
              <a:ext cx="279270" cy="2116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293" tIns="23146" rIns="46293" bIns="23146">
              <a:spAutoFit/>
            </a:bodyPr>
            <a:lstStyle/>
            <a:p>
              <a:pPr algn="ctr" fontAlgn="base"/>
              <a:r>
                <a:rPr lang="en-US" sz="1200" dirty="0">
                  <a:solidFill>
                    <a:srgbClr val="000000"/>
                  </a:solidFill>
                  <a:latin typeface="Times New Roman"/>
                  <a:cs typeface="宋体"/>
                </a:rPr>
                <a:t>……</a:t>
              </a:r>
              <a:endParaRPr lang="zh-CN" altLang="en-US" sz="2000" dirty="0">
                <a:latin typeface="华文细黑" pitchFamily="2" charset="-122"/>
                <a:ea typeface="华文细黑" pitchFamily="2" charset="-122"/>
                <a:cs typeface="宋体"/>
              </a:endParaRPr>
            </a:p>
          </p:txBody>
        </p:sp>
      </p:grpSp>
      <p:grpSp>
        <p:nvGrpSpPr>
          <p:cNvPr id="67" name="画布 307231"/>
          <p:cNvGrpSpPr/>
          <p:nvPr/>
        </p:nvGrpSpPr>
        <p:grpSpPr>
          <a:xfrm>
            <a:off x="6247143" y="1886184"/>
            <a:ext cx="2645339" cy="1089166"/>
            <a:chOff x="872635" y="649623"/>
            <a:chExt cx="1803654" cy="1102634"/>
          </a:xfrm>
        </p:grpSpPr>
        <p:sp>
          <p:nvSpPr>
            <p:cNvPr id="72" name="椭圆 71"/>
            <p:cNvSpPr/>
            <p:nvPr/>
          </p:nvSpPr>
          <p:spPr>
            <a:xfrm>
              <a:off x="1350775" y="649623"/>
              <a:ext cx="720000" cy="337286"/>
            </a:xfrm>
            <a:prstGeom prst="ellipse">
              <a:avLst/>
            </a:prstGeom>
            <a:solidFill>
              <a:schemeClr val="accent3">
                <a:lumMod val="20000"/>
                <a:lumOff val="80000"/>
              </a:schemeClr>
            </a:solidFill>
            <a:ln w="9525">
              <a:solidFill>
                <a:schemeClr val="accent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err="1">
                  <a:latin typeface="Times New Roman"/>
                  <a:ea typeface="华文细黑" pitchFamily="2" charset="-122"/>
                  <a:cs typeface="Times New Roman"/>
                </a:rPr>
                <a:t>MarSt</a:t>
              </a:r>
              <a:endParaRPr lang="zh-CN" altLang="en-US" sz="1600" kern="100" dirty="0">
                <a:latin typeface="Times New Roman"/>
                <a:ea typeface="华文细黑" pitchFamily="2" charset="-122"/>
                <a:cs typeface="Times New Roman"/>
              </a:endParaRPr>
            </a:p>
          </p:txBody>
        </p:sp>
        <p:cxnSp>
          <p:nvCxnSpPr>
            <p:cNvPr id="78" name="Line 14"/>
            <p:cNvCxnSpPr>
              <a:stCxn id="72" idx="4"/>
            </p:cNvCxnSpPr>
            <p:nvPr/>
          </p:nvCxnSpPr>
          <p:spPr bwMode="auto">
            <a:xfrm>
              <a:off x="1710775" y="986909"/>
              <a:ext cx="0" cy="765348"/>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 name="Line 14"/>
            <p:cNvCxnSpPr>
              <a:stCxn id="72" idx="4"/>
            </p:cNvCxnSpPr>
            <p:nvPr/>
          </p:nvCxnSpPr>
          <p:spPr bwMode="auto">
            <a:xfrm flipH="1">
              <a:off x="1098019" y="986908"/>
              <a:ext cx="612757" cy="765348"/>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0" name="Text Box 26"/>
            <p:cNvSpPr txBox="1">
              <a:spLocks noChangeArrowheads="1"/>
            </p:cNvSpPr>
            <p:nvPr/>
          </p:nvSpPr>
          <p:spPr bwMode="auto">
            <a:xfrm>
              <a:off x="872635" y="1184703"/>
              <a:ext cx="450766" cy="2703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51104" tIns="25551" rIns="51104" bIns="25551">
              <a:spAutoFit/>
            </a:bodyPr>
            <a:lstStyle/>
            <a:p>
              <a:pPr algn="r" fontAlgn="base"/>
              <a:r>
                <a:rPr lang="en-US" sz="1400" dirty="0">
                  <a:solidFill>
                    <a:srgbClr val="000000"/>
                  </a:solidFill>
                  <a:latin typeface="Times New Roman"/>
                  <a:cs typeface="宋体"/>
                </a:rPr>
                <a:t>Single</a:t>
              </a:r>
              <a:endParaRPr lang="zh-CN" altLang="en-US" sz="2400" dirty="0">
                <a:latin typeface="华文细黑" pitchFamily="2" charset="-122"/>
                <a:ea typeface="华文细黑" pitchFamily="2" charset="-122"/>
                <a:cs typeface="宋体"/>
              </a:endParaRPr>
            </a:p>
          </p:txBody>
        </p:sp>
        <p:sp>
          <p:nvSpPr>
            <p:cNvPr id="91" name="Text Box 26"/>
            <p:cNvSpPr txBox="1">
              <a:spLocks noChangeArrowheads="1"/>
            </p:cNvSpPr>
            <p:nvPr/>
          </p:nvSpPr>
          <p:spPr bwMode="auto">
            <a:xfrm>
              <a:off x="2117742" y="1206344"/>
              <a:ext cx="558547" cy="2703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51104" tIns="25551" rIns="51104" bIns="25551">
              <a:spAutoFit/>
            </a:bodyPr>
            <a:lstStyle/>
            <a:p>
              <a:pPr algn="r" fontAlgn="base"/>
              <a:r>
                <a:rPr lang="en-US" sz="1400" dirty="0">
                  <a:solidFill>
                    <a:srgbClr val="000000"/>
                  </a:solidFill>
                  <a:latin typeface="Times New Roman"/>
                  <a:cs typeface="宋体"/>
                </a:rPr>
                <a:t>Married </a:t>
              </a:r>
              <a:endParaRPr lang="zh-CN" altLang="en-US" sz="2400" dirty="0">
                <a:latin typeface="华文细黑" pitchFamily="2" charset="-122"/>
                <a:ea typeface="华文细黑" pitchFamily="2" charset="-122"/>
                <a:cs typeface="宋体"/>
              </a:endParaRPr>
            </a:p>
          </p:txBody>
        </p:sp>
        <p:cxnSp>
          <p:nvCxnSpPr>
            <p:cNvPr id="92" name="Line 14"/>
            <p:cNvCxnSpPr>
              <a:stCxn id="72" idx="4"/>
            </p:cNvCxnSpPr>
            <p:nvPr/>
          </p:nvCxnSpPr>
          <p:spPr bwMode="auto">
            <a:xfrm>
              <a:off x="1710775" y="986908"/>
              <a:ext cx="711823" cy="765348"/>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7" name="Text Box 26"/>
            <p:cNvSpPr txBox="1">
              <a:spLocks noChangeArrowheads="1"/>
            </p:cNvSpPr>
            <p:nvPr/>
          </p:nvSpPr>
          <p:spPr bwMode="auto">
            <a:xfrm>
              <a:off x="1480971" y="1184703"/>
              <a:ext cx="515458" cy="2703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51104" tIns="25551" rIns="51104" bIns="25551">
              <a:spAutoFit/>
            </a:bodyPr>
            <a:lstStyle/>
            <a:p>
              <a:pPr algn="ctr" fontAlgn="base"/>
              <a:r>
                <a:rPr lang="en-US" sz="1400" dirty="0">
                  <a:solidFill>
                    <a:srgbClr val="000000"/>
                  </a:solidFill>
                  <a:latin typeface="Times New Roman"/>
                  <a:cs typeface="宋体"/>
                </a:rPr>
                <a:t>divorced</a:t>
              </a:r>
              <a:endParaRPr lang="zh-CN" altLang="en-US" sz="2400" dirty="0">
                <a:latin typeface="华文细黑" pitchFamily="2" charset="-122"/>
                <a:ea typeface="华文细黑" pitchFamily="2" charset="-122"/>
                <a:cs typeface="宋体"/>
              </a:endParaRPr>
            </a:p>
          </p:txBody>
        </p:sp>
      </p:grpSp>
      <p:sp>
        <p:nvSpPr>
          <p:cNvPr id="100" name="Text Box 26"/>
          <p:cNvSpPr txBox="1">
            <a:spLocks noChangeArrowheads="1"/>
          </p:cNvSpPr>
          <p:nvPr/>
        </p:nvSpPr>
        <p:spPr bwMode="auto">
          <a:xfrm rot="20957810">
            <a:off x="295643" y="1699673"/>
            <a:ext cx="3334860" cy="482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fontAlgn="base"/>
            <a:r>
              <a:rPr lang="zh-CN" altLang="en-US" sz="2800"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cs typeface="宋体"/>
                <a:sym typeface="Wingdings"/>
              </a:rPr>
              <a:t>如何划分多值属性？</a:t>
            </a:r>
            <a:endParaRPr lang="zh-CN" altLang="en-US" sz="4400"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cs typeface="宋体"/>
            </a:endParaRPr>
          </a:p>
        </p:txBody>
      </p:sp>
      <p:grpSp>
        <p:nvGrpSpPr>
          <p:cNvPr id="34" name="画布 219"/>
          <p:cNvGrpSpPr/>
          <p:nvPr/>
        </p:nvGrpSpPr>
        <p:grpSpPr>
          <a:xfrm>
            <a:off x="5148072" y="3975772"/>
            <a:ext cx="1523063" cy="893389"/>
            <a:chOff x="2679250" y="471979"/>
            <a:chExt cx="1060004" cy="817286"/>
          </a:xfrm>
        </p:grpSpPr>
        <p:sp>
          <p:nvSpPr>
            <p:cNvPr id="35" name="椭圆 34"/>
            <p:cNvSpPr/>
            <p:nvPr/>
          </p:nvSpPr>
          <p:spPr>
            <a:xfrm>
              <a:off x="2868220" y="471979"/>
              <a:ext cx="662985" cy="305545"/>
            </a:xfrm>
            <a:prstGeom prst="ellipse">
              <a:avLst/>
            </a:prstGeom>
            <a:solidFill>
              <a:schemeClr val="accent3">
                <a:lumMod val="20000"/>
                <a:lumOff val="80000"/>
              </a:schemeClr>
            </a:solidFill>
            <a:ln w="9525">
              <a:solidFill>
                <a:schemeClr val="accent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200" b="1" kern="100" dirty="0">
                  <a:latin typeface="Times New Roman"/>
                  <a:ea typeface="华文细黑" pitchFamily="2" charset="-122"/>
                  <a:cs typeface="Times New Roman"/>
                </a:rPr>
                <a:t>Income</a:t>
              </a:r>
              <a:endParaRPr lang="zh-CN" altLang="en-US" sz="1400" kern="100" dirty="0">
                <a:latin typeface="Times New Roman"/>
                <a:ea typeface="华文细黑" pitchFamily="2" charset="-122"/>
                <a:cs typeface="Times New Roman"/>
              </a:endParaRPr>
            </a:p>
          </p:txBody>
        </p:sp>
        <p:sp>
          <p:nvSpPr>
            <p:cNvPr id="37" name="Text Box 26"/>
            <p:cNvSpPr txBox="1">
              <a:spLocks noChangeArrowheads="1"/>
            </p:cNvSpPr>
            <p:nvPr/>
          </p:nvSpPr>
          <p:spPr bwMode="auto">
            <a:xfrm>
              <a:off x="2679250" y="856517"/>
              <a:ext cx="309391" cy="2116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293" tIns="23146" rIns="46293" bIns="23146">
              <a:spAutoFit/>
            </a:bodyPr>
            <a:lstStyle/>
            <a:p>
              <a:pPr algn="ctr" fontAlgn="base"/>
              <a:r>
                <a:rPr lang="en-US" altLang="zh-CN" sz="1200" dirty="0">
                  <a:latin typeface="Times New Roman" pitchFamily="18" charset="0"/>
                  <a:ea typeface="华文细黑" pitchFamily="2" charset="-122"/>
                  <a:cs typeface="Times New Roman" pitchFamily="18" charset="0"/>
                </a:rPr>
                <a:t>&lt;85K</a:t>
              </a:r>
              <a:endParaRPr lang="zh-CN" altLang="en-US" sz="1200" dirty="0">
                <a:latin typeface="Times New Roman" pitchFamily="18" charset="0"/>
                <a:ea typeface="华文细黑" pitchFamily="2" charset="-122"/>
                <a:cs typeface="Times New Roman" pitchFamily="18" charset="0"/>
              </a:endParaRPr>
            </a:p>
          </p:txBody>
        </p:sp>
        <p:cxnSp>
          <p:nvCxnSpPr>
            <p:cNvPr id="42" name="Line 14"/>
            <p:cNvCxnSpPr>
              <a:stCxn id="35" idx="4"/>
            </p:cNvCxnSpPr>
            <p:nvPr/>
          </p:nvCxnSpPr>
          <p:spPr bwMode="auto">
            <a:xfrm>
              <a:off x="3199715" y="777523"/>
              <a:ext cx="476043" cy="494001"/>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 name="Text Box 26"/>
            <p:cNvSpPr txBox="1">
              <a:spLocks noChangeArrowheads="1"/>
            </p:cNvSpPr>
            <p:nvPr/>
          </p:nvSpPr>
          <p:spPr bwMode="auto">
            <a:xfrm>
              <a:off x="3430978" y="856517"/>
              <a:ext cx="308276" cy="2116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293" tIns="23146" rIns="46293" bIns="23146">
              <a:spAutoFit/>
            </a:bodyPr>
            <a:lstStyle/>
            <a:p>
              <a:pPr algn="ctr" fontAlgn="base"/>
              <a:r>
                <a:rPr lang="en-US" sz="1200" dirty="0">
                  <a:solidFill>
                    <a:srgbClr val="000000"/>
                  </a:solidFill>
                  <a:latin typeface="Times New Roman"/>
                  <a:cs typeface="宋体"/>
                </a:rPr>
                <a:t>≥85K</a:t>
              </a:r>
              <a:endParaRPr lang="zh-CN" altLang="en-US" sz="2000" dirty="0">
                <a:latin typeface="华文细黑" pitchFamily="2" charset="-122"/>
                <a:ea typeface="华文细黑" pitchFamily="2" charset="-122"/>
                <a:cs typeface="宋体"/>
              </a:endParaRPr>
            </a:p>
          </p:txBody>
        </p:sp>
        <p:cxnSp>
          <p:nvCxnSpPr>
            <p:cNvPr id="46" name="Line 14"/>
            <p:cNvCxnSpPr>
              <a:stCxn id="35" idx="4"/>
            </p:cNvCxnSpPr>
            <p:nvPr/>
          </p:nvCxnSpPr>
          <p:spPr bwMode="auto">
            <a:xfrm flipH="1">
              <a:off x="2714900" y="777524"/>
              <a:ext cx="484813" cy="511741"/>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 name="灯片编号占位符 2">
            <a:extLst>
              <a:ext uri="{FF2B5EF4-FFF2-40B4-BE49-F238E27FC236}">
                <a16:creationId xmlns:a16="http://schemas.microsoft.com/office/drawing/2014/main" id="{2C4CC046-8614-4D13-8F91-E7E71F07D730}"/>
              </a:ext>
            </a:extLst>
          </p:cNvPr>
          <p:cNvSpPr>
            <a:spLocks noGrp="1"/>
          </p:cNvSpPr>
          <p:nvPr>
            <p:ph type="sldNum" sz="quarter" idx="12"/>
          </p:nvPr>
        </p:nvSpPr>
        <p:spPr/>
        <p:txBody>
          <a:bodyPr/>
          <a:lstStyle/>
          <a:p>
            <a:fld id="{0C913308-F349-4B6D-A68A-DD1791B4A57B}" type="slidenum">
              <a:rPr lang="zh-CN" altLang="en-US" smtClean="0"/>
              <a:t>25</a:t>
            </a:fld>
            <a:endParaRPr lang="zh-CN" altLang="en-US"/>
          </a:p>
        </p:txBody>
      </p:sp>
    </p:spTree>
    <p:extLst>
      <p:ext uri="{BB962C8B-B14F-4D97-AF65-F5344CB8AC3E}">
        <p14:creationId xmlns:p14="http://schemas.microsoft.com/office/powerpoint/2010/main" val="41672454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思考？</a:t>
            </a:r>
          </a:p>
        </p:txBody>
      </p:sp>
      <p:grpSp>
        <p:nvGrpSpPr>
          <p:cNvPr id="25" name="画布 307231"/>
          <p:cNvGrpSpPr/>
          <p:nvPr/>
        </p:nvGrpSpPr>
        <p:grpSpPr>
          <a:xfrm>
            <a:off x="179512" y="1752198"/>
            <a:ext cx="4032448" cy="2828931"/>
            <a:chOff x="0" y="0"/>
            <a:chExt cx="2700020" cy="2405380"/>
          </a:xfrm>
        </p:grpSpPr>
        <p:sp>
          <p:nvSpPr>
            <p:cNvPr id="27" name="矩形 26"/>
            <p:cNvSpPr/>
            <p:nvPr/>
          </p:nvSpPr>
          <p:spPr>
            <a:xfrm>
              <a:off x="0" y="0"/>
              <a:ext cx="2700020" cy="2405380"/>
            </a:xfrm>
            <a:prstGeom prst="rect">
              <a:avLst/>
            </a:prstGeom>
          </p:spPr>
        </p:sp>
        <p:sp>
          <p:nvSpPr>
            <p:cNvPr id="28" name="Text Box 26"/>
            <p:cNvSpPr txBox="1">
              <a:spLocks noChangeArrowheads="1"/>
            </p:cNvSpPr>
            <p:nvPr/>
          </p:nvSpPr>
          <p:spPr bwMode="auto">
            <a:xfrm>
              <a:off x="365161" y="426187"/>
              <a:ext cx="230104" cy="227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1400" dirty="0">
                  <a:solidFill>
                    <a:srgbClr val="000000"/>
                  </a:solidFill>
                  <a:latin typeface="Times New Roman"/>
                  <a:cs typeface="宋体"/>
                </a:rPr>
                <a:t>yes</a:t>
              </a:r>
              <a:endParaRPr lang="zh-CN" altLang="en-US" sz="2400" dirty="0">
                <a:latin typeface="华文细黑" pitchFamily="2" charset="-122"/>
                <a:ea typeface="华文细黑" pitchFamily="2" charset="-122"/>
                <a:cs typeface="宋体"/>
              </a:endParaRPr>
            </a:p>
          </p:txBody>
        </p:sp>
        <p:sp>
          <p:nvSpPr>
            <p:cNvPr id="34" name="椭圆 33"/>
            <p:cNvSpPr/>
            <p:nvPr/>
          </p:nvSpPr>
          <p:spPr>
            <a:xfrm>
              <a:off x="653137" y="32491"/>
              <a:ext cx="731858" cy="337286"/>
            </a:xfrm>
            <a:prstGeom prst="ellipse">
              <a:avLst/>
            </a:prstGeom>
            <a:solidFill>
              <a:schemeClr val="accent3">
                <a:lumMod val="20000"/>
                <a:lumOff val="80000"/>
              </a:schemeClr>
            </a:solidFill>
            <a:ln w="9525">
              <a:solidFill>
                <a:schemeClr val="accent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a:latin typeface="Times New Roman"/>
                  <a:ea typeface="华文细黑" pitchFamily="2" charset="-122"/>
                  <a:cs typeface="Times New Roman"/>
                </a:rPr>
                <a:t>Refund</a:t>
              </a:r>
              <a:endParaRPr lang="zh-CN" altLang="en-US" sz="1600" kern="100" dirty="0">
                <a:latin typeface="Times New Roman"/>
                <a:ea typeface="华文细黑" pitchFamily="2" charset="-122"/>
                <a:cs typeface="Times New Roman"/>
              </a:endParaRPr>
            </a:p>
          </p:txBody>
        </p:sp>
        <p:sp>
          <p:nvSpPr>
            <p:cNvPr id="37" name="矩形 36"/>
            <p:cNvSpPr/>
            <p:nvPr/>
          </p:nvSpPr>
          <p:spPr>
            <a:xfrm>
              <a:off x="31036" y="728579"/>
              <a:ext cx="516734" cy="236809"/>
            </a:xfrm>
            <a:prstGeom prst="rect">
              <a:avLst/>
            </a:prstGeom>
            <a:solidFill>
              <a:schemeClr val="tx2">
                <a:lumMod val="20000"/>
                <a:lumOff val="80000"/>
              </a:schemeClr>
            </a:solidFill>
            <a:ln w="6350">
              <a:solidFill>
                <a:schemeClr val="tx2">
                  <a:lumMod val="60000"/>
                  <a:lumOff val="4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a:latin typeface="Times New Roman"/>
                  <a:ea typeface="华文细黑" pitchFamily="2" charset="-122"/>
                  <a:cs typeface="Times New Roman"/>
                </a:rPr>
                <a:t>no / 3</a:t>
              </a:r>
              <a:endParaRPr lang="zh-CN" altLang="en-US" sz="1600" kern="100" dirty="0">
                <a:latin typeface="Times New Roman"/>
                <a:ea typeface="华文细黑" pitchFamily="2" charset="-122"/>
                <a:cs typeface="Times New Roman"/>
              </a:endParaRPr>
            </a:p>
          </p:txBody>
        </p:sp>
        <p:sp>
          <p:nvSpPr>
            <p:cNvPr id="51" name="椭圆 50"/>
            <p:cNvSpPr/>
            <p:nvPr/>
          </p:nvSpPr>
          <p:spPr>
            <a:xfrm>
              <a:off x="1350775" y="649623"/>
              <a:ext cx="720000" cy="337286"/>
            </a:xfrm>
            <a:prstGeom prst="ellipse">
              <a:avLst/>
            </a:prstGeom>
            <a:solidFill>
              <a:schemeClr val="accent3">
                <a:lumMod val="20000"/>
                <a:lumOff val="80000"/>
              </a:schemeClr>
            </a:solidFill>
            <a:ln w="9525">
              <a:solidFill>
                <a:schemeClr val="accent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err="1">
                  <a:latin typeface="Times New Roman"/>
                  <a:ea typeface="华文细黑" pitchFamily="2" charset="-122"/>
                  <a:cs typeface="Times New Roman"/>
                </a:rPr>
                <a:t>MarSt</a:t>
              </a:r>
              <a:endParaRPr lang="zh-CN" altLang="en-US" sz="1600" kern="100" dirty="0">
                <a:latin typeface="Times New Roman"/>
                <a:ea typeface="华文细黑" pitchFamily="2" charset="-122"/>
                <a:cs typeface="Times New Roman"/>
              </a:endParaRPr>
            </a:p>
          </p:txBody>
        </p:sp>
        <p:sp>
          <p:nvSpPr>
            <p:cNvPr id="52" name="椭圆 51"/>
            <p:cNvSpPr/>
            <p:nvPr/>
          </p:nvSpPr>
          <p:spPr>
            <a:xfrm>
              <a:off x="732090" y="1286397"/>
              <a:ext cx="731858" cy="337286"/>
            </a:xfrm>
            <a:prstGeom prst="ellipse">
              <a:avLst/>
            </a:prstGeom>
            <a:solidFill>
              <a:schemeClr val="accent3">
                <a:lumMod val="20000"/>
                <a:lumOff val="80000"/>
              </a:schemeClr>
            </a:solidFill>
            <a:ln w="9525">
              <a:solidFill>
                <a:schemeClr val="accent1"/>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a:latin typeface="Times New Roman"/>
                  <a:ea typeface="华文细黑" pitchFamily="2" charset="-122"/>
                  <a:cs typeface="Times New Roman"/>
                </a:rPr>
                <a:t>Income</a:t>
              </a:r>
              <a:endParaRPr lang="zh-CN" altLang="en-US" sz="1600" kern="100" dirty="0">
                <a:latin typeface="Times New Roman"/>
                <a:ea typeface="华文细黑" pitchFamily="2" charset="-122"/>
                <a:cs typeface="Times New Roman"/>
              </a:endParaRPr>
            </a:p>
          </p:txBody>
        </p:sp>
        <p:sp>
          <p:nvSpPr>
            <p:cNvPr id="53" name="矩形 52"/>
            <p:cNvSpPr/>
            <p:nvPr/>
          </p:nvSpPr>
          <p:spPr>
            <a:xfrm>
              <a:off x="2175935" y="1309696"/>
              <a:ext cx="516734" cy="236809"/>
            </a:xfrm>
            <a:prstGeom prst="rect">
              <a:avLst/>
            </a:prstGeom>
            <a:solidFill>
              <a:schemeClr val="tx2">
                <a:lumMod val="20000"/>
                <a:lumOff val="80000"/>
              </a:schemeClr>
            </a:solidFill>
            <a:ln w="6350">
              <a:solidFill>
                <a:schemeClr val="tx2">
                  <a:lumMod val="60000"/>
                  <a:lumOff val="4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a:latin typeface="Times New Roman"/>
                  <a:ea typeface="华文细黑" pitchFamily="2" charset="-122"/>
                  <a:cs typeface="Times New Roman"/>
                </a:rPr>
                <a:t>no / 3</a:t>
              </a:r>
              <a:endParaRPr lang="zh-CN" altLang="en-US" sz="1600" kern="100" dirty="0">
                <a:latin typeface="Times New Roman"/>
                <a:ea typeface="华文细黑" pitchFamily="2" charset="-122"/>
                <a:cs typeface="Times New Roman"/>
              </a:endParaRPr>
            </a:p>
          </p:txBody>
        </p:sp>
        <p:sp>
          <p:nvSpPr>
            <p:cNvPr id="54" name="矩形 53"/>
            <p:cNvSpPr/>
            <p:nvPr/>
          </p:nvSpPr>
          <p:spPr>
            <a:xfrm>
              <a:off x="310163" y="2139852"/>
              <a:ext cx="516734" cy="236809"/>
            </a:xfrm>
            <a:prstGeom prst="rect">
              <a:avLst/>
            </a:prstGeom>
            <a:solidFill>
              <a:schemeClr val="tx2">
                <a:lumMod val="20000"/>
                <a:lumOff val="80000"/>
              </a:schemeClr>
            </a:solidFill>
            <a:ln w="6350">
              <a:solidFill>
                <a:schemeClr val="tx2">
                  <a:lumMod val="60000"/>
                  <a:lumOff val="4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a:latin typeface="Times New Roman"/>
                  <a:ea typeface="华文细黑" pitchFamily="2" charset="-122"/>
                  <a:cs typeface="Times New Roman"/>
                </a:rPr>
                <a:t>no / 1</a:t>
              </a:r>
              <a:endParaRPr lang="zh-CN" altLang="en-US" sz="1600" kern="100" dirty="0">
                <a:latin typeface="Times New Roman"/>
                <a:ea typeface="华文细黑" pitchFamily="2" charset="-122"/>
                <a:cs typeface="Times New Roman"/>
              </a:endParaRPr>
            </a:p>
          </p:txBody>
        </p:sp>
        <p:sp>
          <p:nvSpPr>
            <p:cNvPr id="55" name="矩形 54"/>
            <p:cNvSpPr/>
            <p:nvPr/>
          </p:nvSpPr>
          <p:spPr>
            <a:xfrm>
              <a:off x="1463911" y="2139852"/>
              <a:ext cx="516734" cy="236809"/>
            </a:xfrm>
            <a:prstGeom prst="rect">
              <a:avLst/>
            </a:prstGeom>
            <a:solidFill>
              <a:schemeClr val="tx2">
                <a:lumMod val="20000"/>
                <a:lumOff val="80000"/>
              </a:schemeClr>
            </a:solidFill>
            <a:ln w="6350">
              <a:solidFill>
                <a:schemeClr val="tx2">
                  <a:lumMod val="60000"/>
                  <a:lumOff val="4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1400" b="1" kern="100" dirty="0">
                  <a:latin typeface="Times New Roman"/>
                  <a:ea typeface="华文细黑" pitchFamily="2" charset="-122"/>
                  <a:cs typeface="Times New Roman"/>
                </a:rPr>
                <a:t>yes / 3</a:t>
              </a:r>
              <a:endParaRPr lang="zh-CN" altLang="en-US" sz="1600" kern="100" dirty="0">
                <a:latin typeface="Times New Roman"/>
                <a:ea typeface="华文细黑" pitchFamily="2" charset="-122"/>
                <a:cs typeface="Times New Roman"/>
              </a:endParaRPr>
            </a:p>
          </p:txBody>
        </p:sp>
        <p:cxnSp>
          <p:nvCxnSpPr>
            <p:cNvPr id="56" name="Line 14"/>
            <p:cNvCxnSpPr>
              <a:stCxn id="34" idx="4"/>
              <a:endCxn id="37" idx="0"/>
            </p:cNvCxnSpPr>
            <p:nvPr/>
          </p:nvCxnSpPr>
          <p:spPr bwMode="auto">
            <a:xfrm flipH="1">
              <a:off x="289402" y="369776"/>
              <a:ext cx="729664" cy="358801"/>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Line 14"/>
            <p:cNvCxnSpPr>
              <a:stCxn id="34" idx="4"/>
              <a:endCxn id="51" idx="0"/>
            </p:cNvCxnSpPr>
            <p:nvPr/>
          </p:nvCxnSpPr>
          <p:spPr bwMode="auto">
            <a:xfrm>
              <a:off x="1019066" y="369777"/>
              <a:ext cx="691709" cy="279846"/>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26"/>
            <p:cNvSpPr txBox="1">
              <a:spLocks noChangeArrowheads="1"/>
            </p:cNvSpPr>
            <p:nvPr/>
          </p:nvSpPr>
          <p:spPr bwMode="auto">
            <a:xfrm>
              <a:off x="1616510" y="418801"/>
              <a:ext cx="189317" cy="227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1400" dirty="0">
                  <a:solidFill>
                    <a:srgbClr val="000000"/>
                  </a:solidFill>
                  <a:latin typeface="Times New Roman"/>
                  <a:cs typeface="宋体"/>
                </a:rPr>
                <a:t>no</a:t>
              </a:r>
              <a:endParaRPr lang="zh-CN" altLang="en-US" sz="2400" dirty="0">
                <a:latin typeface="华文细黑" pitchFamily="2" charset="-122"/>
                <a:ea typeface="华文细黑" pitchFamily="2" charset="-122"/>
                <a:cs typeface="宋体"/>
              </a:endParaRPr>
            </a:p>
          </p:txBody>
        </p:sp>
        <p:cxnSp>
          <p:nvCxnSpPr>
            <p:cNvPr id="59" name="Line 14"/>
            <p:cNvCxnSpPr>
              <a:stCxn id="51" idx="4"/>
              <a:endCxn id="52" idx="0"/>
            </p:cNvCxnSpPr>
            <p:nvPr/>
          </p:nvCxnSpPr>
          <p:spPr bwMode="auto">
            <a:xfrm flipH="1">
              <a:off x="1098019" y="986909"/>
              <a:ext cx="612756" cy="299488"/>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 name="Text Box 26"/>
            <p:cNvSpPr txBox="1">
              <a:spLocks noChangeArrowheads="1"/>
            </p:cNvSpPr>
            <p:nvPr/>
          </p:nvSpPr>
          <p:spPr bwMode="auto">
            <a:xfrm>
              <a:off x="568300" y="1045435"/>
              <a:ext cx="878660" cy="227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51104" tIns="25551" rIns="51104" bIns="25551">
              <a:spAutoFit/>
            </a:bodyPr>
            <a:lstStyle/>
            <a:p>
              <a:pPr algn="r" fontAlgn="base"/>
              <a:r>
                <a:rPr lang="en-US" sz="1400" dirty="0" err="1">
                  <a:solidFill>
                    <a:srgbClr val="000000"/>
                  </a:solidFill>
                  <a:latin typeface="Times New Roman"/>
                  <a:cs typeface="宋体"/>
                </a:rPr>
                <a:t>Single,divorced</a:t>
              </a:r>
              <a:endParaRPr lang="zh-CN" altLang="en-US" sz="2400" dirty="0">
                <a:latin typeface="华文细黑" pitchFamily="2" charset="-122"/>
                <a:ea typeface="华文细黑" pitchFamily="2" charset="-122"/>
                <a:cs typeface="宋体"/>
              </a:endParaRPr>
            </a:p>
          </p:txBody>
        </p:sp>
        <p:sp>
          <p:nvSpPr>
            <p:cNvPr id="61" name="Text Box 26"/>
            <p:cNvSpPr txBox="1">
              <a:spLocks noChangeArrowheads="1"/>
            </p:cNvSpPr>
            <p:nvPr/>
          </p:nvSpPr>
          <p:spPr bwMode="auto">
            <a:xfrm>
              <a:off x="2139914" y="1077808"/>
              <a:ext cx="558547" cy="227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51104" tIns="25551" rIns="51104" bIns="25551">
              <a:spAutoFit/>
            </a:bodyPr>
            <a:lstStyle/>
            <a:p>
              <a:pPr algn="r" fontAlgn="base"/>
              <a:r>
                <a:rPr lang="en-US" sz="1400" dirty="0">
                  <a:solidFill>
                    <a:srgbClr val="000000"/>
                  </a:solidFill>
                  <a:latin typeface="Times New Roman"/>
                  <a:cs typeface="宋体"/>
                </a:rPr>
                <a:t>Married </a:t>
              </a:r>
              <a:endParaRPr lang="zh-CN" altLang="en-US" sz="2400" dirty="0">
                <a:latin typeface="华文细黑" pitchFamily="2" charset="-122"/>
                <a:ea typeface="华文细黑" pitchFamily="2" charset="-122"/>
                <a:cs typeface="宋体"/>
              </a:endParaRPr>
            </a:p>
          </p:txBody>
        </p:sp>
        <p:cxnSp>
          <p:nvCxnSpPr>
            <p:cNvPr id="62" name="Line 14"/>
            <p:cNvCxnSpPr>
              <a:stCxn id="51" idx="4"/>
              <a:endCxn id="53" idx="0"/>
            </p:cNvCxnSpPr>
            <p:nvPr/>
          </p:nvCxnSpPr>
          <p:spPr bwMode="auto">
            <a:xfrm>
              <a:off x="1710775" y="986909"/>
              <a:ext cx="723527" cy="322787"/>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Line 14"/>
            <p:cNvCxnSpPr>
              <a:stCxn id="52" idx="4"/>
              <a:endCxn id="54" idx="0"/>
            </p:cNvCxnSpPr>
            <p:nvPr/>
          </p:nvCxnSpPr>
          <p:spPr bwMode="auto">
            <a:xfrm flipH="1">
              <a:off x="568530" y="1623683"/>
              <a:ext cx="529490" cy="516169"/>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 name="Line 14"/>
            <p:cNvCxnSpPr>
              <a:stCxn id="52" idx="4"/>
              <a:endCxn id="55" idx="0"/>
            </p:cNvCxnSpPr>
            <p:nvPr/>
          </p:nvCxnSpPr>
          <p:spPr bwMode="auto">
            <a:xfrm>
              <a:off x="1098020" y="1623683"/>
              <a:ext cx="624259" cy="516169"/>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Text Box 26"/>
            <p:cNvSpPr txBox="1">
              <a:spLocks noChangeArrowheads="1"/>
            </p:cNvSpPr>
            <p:nvPr/>
          </p:nvSpPr>
          <p:spPr bwMode="auto">
            <a:xfrm>
              <a:off x="436016" y="1854128"/>
              <a:ext cx="343876" cy="227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1400" dirty="0">
                  <a:solidFill>
                    <a:srgbClr val="000000"/>
                  </a:solidFill>
                  <a:latin typeface="Times New Roman"/>
                  <a:cs typeface="宋体"/>
                </a:rPr>
                <a:t>&lt;85K</a:t>
              </a:r>
              <a:endParaRPr lang="zh-CN" altLang="en-US" sz="2400" dirty="0">
                <a:latin typeface="华文细黑" pitchFamily="2" charset="-122"/>
                <a:ea typeface="华文细黑" pitchFamily="2" charset="-122"/>
                <a:cs typeface="宋体"/>
              </a:endParaRPr>
            </a:p>
          </p:txBody>
        </p:sp>
        <p:sp>
          <p:nvSpPr>
            <p:cNvPr id="66" name="Text Box 26"/>
            <p:cNvSpPr txBox="1">
              <a:spLocks noChangeArrowheads="1"/>
            </p:cNvSpPr>
            <p:nvPr/>
          </p:nvSpPr>
          <p:spPr bwMode="auto">
            <a:xfrm>
              <a:off x="1524706" y="1854128"/>
              <a:ext cx="341730" cy="227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1400" dirty="0">
                  <a:solidFill>
                    <a:srgbClr val="000000"/>
                  </a:solidFill>
                  <a:latin typeface="Times New Roman"/>
                  <a:cs typeface="宋体"/>
                </a:rPr>
                <a:t>≥85K</a:t>
              </a:r>
              <a:endParaRPr lang="zh-CN" altLang="en-US" sz="2400" dirty="0">
                <a:latin typeface="华文细黑" pitchFamily="2" charset="-122"/>
                <a:ea typeface="华文细黑" pitchFamily="2" charset="-122"/>
                <a:cs typeface="宋体"/>
              </a:endParaRPr>
            </a:p>
          </p:txBody>
        </p:sp>
      </p:grpSp>
      <p:graphicFrame>
        <p:nvGraphicFramePr>
          <p:cNvPr id="67" name="表格 66"/>
          <p:cNvGraphicFramePr>
            <a:graphicFrameLocks noGrp="1"/>
          </p:cNvGraphicFramePr>
          <p:nvPr/>
        </p:nvGraphicFramePr>
        <p:xfrm>
          <a:off x="4572003" y="970373"/>
          <a:ext cx="4537075" cy="2225040"/>
        </p:xfrm>
        <a:graphic>
          <a:graphicData uri="http://schemas.openxmlformats.org/drawingml/2006/table">
            <a:tbl>
              <a:tblPr firstRow="1" firstCol="1" bandRow="1" bandCol="1">
                <a:tableStyleId>{5C22544A-7EE6-4342-B048-85BDC9FD1C3A}</a:tableStyleId>
              </a:tblPr>
              <a:tblGrid>
                <a:gridCol w="554672">
                  <a:extLst>
                    <a:ext uri="{9D8B030D-6E8A-4147-A177-3AD203B41FA5}">
                      <a16:colId xmlns:a16="http://schemas.microsoft.com/office/drawing/2014/main" val="20000"/>
                    </a:ext>
                  </a:extLst>
                </a:gridCol>
                <a:gridCol w="843598">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876935">
                  <a:extLst>
                    <a:ext uri="{9D8B030D-6E8A-4147-A177-3AD203B41FA5}">
                      <a16:colId xmlns:a16="http://schemas.microsoft.com/office/drawing/2014/main" val="20003"/>
                    </a:ext>
                  </a:extLst>
                </a:gridCol>
                <a:gridCol w="753110">
                  <a:extLst>
                    <a:ext uri="{9D8B030D-6E8A-4147-A177-3AD203B41FA5}">
                      <a16:colId xmlns:a16="http://schemas.microsoft.com/office/drawing/2014/main" val="20004"/>
                    </a:ext>
                  </a:extLst>
                </a:gridCol>
              </a:tblGrid>
              <a:tr h="304800">
                <a:tc gridSpan="5">
                  <a:txBody>
                    <a:bodyPr/>
                    <a:lstStyle/>
                    <a:p>
                      <a:pPr algn="ctr">
                        <a:spcBef>
                          <a:spcPts val="300"/>
                        </a:spcBef>
                        <a:spcAft>
                          <a:spcPts val="300"/>
                        </a:spcAft>
                      </a:pPr>
                      <a:r>
                        <a:rPr lang="en-US" sz="1800" kern="100" dirty="0">
                          <a:effectLst/>
                        </a:rPr>
                        <a:t>(b) </a:t>
                      </a:r>
                      <a:r>
                        <a:rPr lang="zh-CN" altLang="en-US" sz="1800" kern="100" dirty="0">
                          <a:effectLst/>
                          <a:ea typeface="华文细黑" pitchFamily="2" charset="-122"/>
                        </a:rPr>
                        <a:t>测试数据集</a:t>
                      </a:r>
                      <a:endParaRPr lang="zh-CN" sz="1800" kern="100" dirty="0">
                        <a:effectLst/>
                        <a:latin typeface="Times New Roman"/>
                        <a:ea typeface="楷体"/>
                      </a:endParaRPr>
                    </a:p>
                  </a:txBody>
                  <a:tcPr marL="68580" marR="68580" marT="0" marB="0"/>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74320">
                <a:tc>
                  <a:txBody>
                    <a:bodyPr/>
                    <a:lstStyle/>
                    <a:p>
                      <a:pPr indent="-34290" algn="ctr">
                        <a:spcAft>
                          <a:spcPts val="0"/>
                        </a:spcAft>
                      </a:pPr>
                      <a:r>
                        <a:rPr lang="en-US" sz="1400" kern="100" dirty="0" err="1">
                          <a:effectLst/>
                        </a:rPr>
                        <a:t>Tid</a:t>
                      </a:r>
                      <a:endParaRPr lang="zh-CN" sz="1800" kern="100" dirty="0">
                        <a:effectLst/>
                        <a:latin typeface="Times New Roman"/>
                        <a:ea typeface="华文细黑" pitchFamily="2" charset="-122"/>
                        <a:cs typeface="Times New Roman"/>
                      </a:endParaRPr>
                    </a:p>
                  </a:txBody>
                  <a:tcPr marL="68580" marR="68580" marT="0" marB="0"/>
                </a:tc>
                <a:tc>
                  <a:txBody>
                    <a:bodyPr/>
                    <a:lstStyle/>
                    <a:p>
                      <a:pPr indent="-34290" algn="ctr">
                        <a:spcAft>
                          <a:spcPts val="0"/>
                        </a:spcAft>
                      </a:pPr>
                      <a:r>
                        <a:rPr lang="en-US" sz="1400" kern="100" dirty="0">
                          <a:effectLst/>
                        </a:rPr>
                        <a:t>Refund</a:t>
                      </a:r>
                      <a:endParaRPr lang="zh-CN" sz="18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err="1">
                          <a:effectLst/>
                        </a:rPr>
                        <a:t>MaritalStatus</a:t>
                      </a:r>
                      <a:endParaRPr lang="zh-CN" sz="18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Income</a:t>
                      </a:r>
                      <a:endParaRPr lang="zh-CN" sz="18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400" kern="100" dirty="0">
                          <a:effectLst/>
                        </a:rPr>
                        <a:t>Cheat</a:t>
                      </a:r>
                      <a:endParaRPr lang="zh-CN" sz="18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1"/>
                  </a:ext>
                </a:extLst>
              </a:tr>
              <a:tr h="274320">
                <a:tc>
                  <a:txBody>
                    <a:bodyPr/>
                    <a:lstStyle/>
                    <a:p>
                      <a:pPr algn="ctr">
                        <a:spcAft>
                          <a:spcPts val="0"/>
                        </a:spcAft>
                      </a:pPr>
                      <a:r>
                        <a:rPr lang="en-US" sz="1600" kern="100" dirty="0">
                          <a:effectLst/>
                        </a:rPr>
                        <a:t>11</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yes</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Married</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95K</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2"/>
                  </a:ext>
                </a:extLst>
              </a:tr>
              <a:tr h="274320">
                <a:tc>
                  <a:txBody>
                    <a:bodyPr/>
                    <a:lstStyle/>
                    <a:p>
                      <a:pPr algn="ctr">
                        <a:spcAft>
                          <a:spcPts val="0"/>
                        </a:spcAft>
                      </a:pPr>
                      <a:r>
                        <a:rPr lang="en-US" sz="1600" kern="100" dirty="0">
                          <a:effectLst/>
                        </a:rPr>
                        <a:t>12</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Married</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100K</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3"/>
                  </a:ext>
                </a:extLst>
              </a:tr>
              <a:tr h="274320">
                <a:tc>
                  <a:txBody>
                    <a:bodyPr/>
                    <a:lstStyle/>
                    <a:p>
                      <a:pPr algn="ctr">
                        <a:spcAft>
                          <a:spcPts val="0"/>
                        </a:spcAft>
                      </a:pPr>
                      <a:r>
                        <a:rPr lang="en-US" sz="1600" kern="100" dirty="0">
                          <a:effectLst/>
                        </a:rPr>
                        <a:t>13</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Single</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95K</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4"/>
                  </a:ext>
                </a:extLst>
              </a:tr>
              <a:tr h="274320">
                <a:tc>
                  <a:txBody>
                    <a:bodyPr/>
                    <a:lstStyle/>
                    <a:p>
                      <a:pPr algn="ctr">
                        <a:spcAft>
                          <a:spcPts val="0"/>
                        </a:spcAft>
                      </a:pPr>
                      <a:r>
                        <a:rPr lang="en-US" sz="1600" kern="100" dirty="0">
                          <a:effectLst/>
                        </a:rPr>
                        <a:t>14</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yes</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Single</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70K</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5"/>
                  </a:ext>
                </a:extLst>
              </a:tr>
              <a:tr h="274320">
                <a:tc>
                  <a:txBody>
                    <a:bodyPr/>
                    <a:lstStyle/>
                    <a:p>
                      <a:pPr algn="ctr">
                        <a:spcAft>
                          <a:spcPts val="0"/>
                        </a:spcAft>
                      </a:pPr>
                      <a:r>
                        <a:rPr lang="en-US" sz="1600" kern="100" dirty="0">
                          <a:effectLst/>
                        </a:rPr>
                        <a:t>15</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Divorced</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95K</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yes</a:t>
                      </a:r>
                      <a:endParaRPr lang="zh-CN" sz="22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6"/>
                  </a:ext>
                </a:extLst>
              </a:tr>
              <a:tr h="274320">
                <a:tc>
                  <a:txBody>
                    <a:bodyPr/>
                    <a:lstStyle/>
                    <a:p>
                      <a:pPr algn="ctr">
                        <a:spcAft>
                          <a:spcPts val="0"/>
                        </a:spcAft>
                      </a:pPr>
                      <a:r>
                        <a:rPr lang="en-US" sz="1600" kern="100" dirty="0">
                          <a:effectLst/>
                        </a:rPr>
                        <a:t>16</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Single</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60K</a:t>
                      </a:r>
                      <a:endParaRPr lang="zh-CN" sz="2200" kern="100" dirty="0">
                        <a:effectLst/>
                        <a:latin typeface="Times New Roman"/>
                        <a:ea typeface="华文细黑" pitchFamily="2" charset="-122"/>
                        <a:cs typeface="Times New Roman"/>
                      </a:endParaRPr>
                    </a:p>
                  </a:txBody>
                  <a:tcPr marL="68580" marR="68580" marT="0" marB="0"/>
                </a:tc>
                <a:tc>
                  <a:txBody>
                    <a:bodyPr/>
                    <a:lstStyle/>
                    <a:p>
                      <a:pPr algn="ctr">
                        <a:spcAft>
                          <a:spcPts val="0"/>
                        </a:spcAft>
                      </a:pPr>
                      <a:r>
                        <a:rPr lang="en-US" sz="1600" kern="100" dirty="0">
                          <a:effectLst/>
                        </a:rPr>
                        <a:t>no</a:t>
                      </a:r>
                      <a:endParaRPr lang="zh-CN" sz="2200" kern="100" dirty="0">
                        <a:effectLst/>
                        <a:latin typeface="Times New Roman"/>
                        <a:ea typeface="华文细黑" pitchFamily="2" charset="-122"/>
                        <a:cs typeface="Times New Roman"/>
                      </a:endParaRPr>
                    </a:p>
                  </a:txBody>
                  <a:tcPr marL="68580" marR="68580" marT="0" marB="0"/>
                </a:tc>
                <a:extLst>
                  <a:ext uri="{0D108BD9-81ED-4DB2-BD59-A6C34878D82A}">
                    <a16:rowId xmlns:a16="http://schemas.microsoft.com/office/drawing/2014/main" val="10007"/>
                  </a:ext>
                </a:extLst>
              </a:tr>
            </a:tbl>
          </a:graphicData>
        </a:graphic>
      </p:graphicFrame>
      <p:sp>
        <p:nvSpPr>
          <p:cNvPr id="68" name="Text Box 26"/>
          <p:cNvSpPr txBox="1">
            <a:spLocks noChangeArrowheads="1"/>
          </p:cNvSpPr>
          <p:nvPr/>
        </p:nvSpPr>
        <p:spPr bwMode="auto">
          <a:xfrm>
            <a:off x="4283968" y="1484784"/>
            <a:ext cx="305184" cy="359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2000" dirty="0">
                <a:solidFill>
                  <a:srgbClr val="C00000"/>
                </a:solidFill>
                <a:effectLst>
                  <a:outerShdw blurRad="38100" dist="38100" dir="2700000" algn="tl">
                    <a:srgbClr val="000000">
                      <a:alpha val="43137"/>
                    </a:srgbClr>
                  </a:outerShdw>
                </a:effectLst>
                <a:latin typeface="Times New Roman"/>
                <a:cs typeface="宋体"/>
                <a:sym typeface="Wingdings"/>
              </a:rPr>
              <a:t></a:t>
            </a:r>
            <a:endParaRPr lang="zh-CN" altLang="en-US" sz="3600"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cs typeface="宋体"/>
            </a:endParaRPr>
          </a:p>
        </p:txBody>
      </p:sp>
      <p:sp>
        <p:nvSpPr>
          <p:cNvPr id="69" name="Text Box 26"/>
          <p:cNvSpPr txBox="1">
            <a:spLocks noChangeArrowheads="1"/>
          </p:cNvSpPr>
          <p:nvPr/>
        </p:nvSpPr>
        <p:spPr bwMode="auto">
          <a:xfrm>
            <a:off x="4283968" y="2045900"/>
            <a:ext cx="266712" cy="359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2000" dirty="0">
                <a:solidFill>
                  <a:srgbClr val="C00000"/>
                </a:solidFill>
                <a:effectLst>
                  <a:outerShdw blurRad="38100" dist="38100" dir="2700000" algn="tl">
                    <a:srgbClr val="000000">
                      <a:alpha val="43137"/>
                    </a:srgbClr>
                  </a:outerShdw>
                </a:effectLst>
                <a:latin typeface="Times New Roman"/>
                <a:cs typeface="宋体"/>
                <a:sym typeface="Wingdings"/>
              </a:rPr>
              <a:t></a:t>
            </a:r>
            <a:endParaRPr lang="zh-CN" altLang="en-US" sz="3600"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cs typeface="宋体"/>
            </a:endParaRPr>
          </a:p>
        </p:txBody>
      </p:sp>
      <p:sp>
        <p:nvSpPr>
          <p:cNvPr id="70" name="Text Box 26"/>
          <p:cNvSpPr txBox="1">
            <a:spLocks noChangeArrowheads="1"/>
          </p:cNvSpPr>
          <p:nvPr/>
        </p:nvSpPr>
        <p:spPr bwMode="auto">
          <a:xfrm>
            <a:off x="4283968" y="1765342"/>
            <a:ext cx="305184" cy="359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2000" dirty="0">
                <a:solidFill>
                  <a:srgbClr val="C00000"/>
                </a:solidFill>
                <a:effectLst>
                  <a:outerShdw blurRad="38100" dist="38100" dir="2700000" algn="tl">
                    <a:srgbClr val="000000">
                      <a:alpha val="43137"/>
                    </a:srgbClr>
                  </a:outerShdw>
                </a:effectLst>
                <a:latin typeface="Times New Roman"/>
                <a:cs typeface="宋体"/>
                <a:sym typeface="Wingdings"/>
              </a:rPr>
              <a:t></a:t>
            </a:r>
            <a:endParaRPr lang="zh-CN" altLang="en-US" sz="3600"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cs typeface="宋体"/>
            </a:endParaRPr>
          </a:p>
        </p:txBody>
      </p:sp>
      <p:sp>
        <p:nvSpPr>
          <p:cNvPr id="71" name="Text Box 26"/>
          <p:cNvSpPr txBox="1">
            <a:spLocks noChangeArrowheads="1"/>
          </p:cNvSpPr>
          <p:nvPr/>
        </p:nvSpPr>
        <p:spPr bwMode="auto">
          <a:xfrm>
            <a:off x="4283968" y="2326458"/>
            <a:ext cx="305184" cy="359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2000" dirty="0">
                <a:solidFill>
                  <a:srgbClr val="C00000"/>
                </a:solidFill>
                <a:effectLst>
                  <a:outerShdw blurRad="38100" dist="38100" dir="2700000" algn="tl">
                    <a:srgbClr val="000000">
                      <a:alpha val="43137"/>
                    </a:srgbClr>
                  </a:outerShdw>
                </a:effectLst>
                <a:latin typeface="Times New Roman"/>
                <a:cs typeface="宋体"/>
                <a:sym typeface="Wingdings"/>
              </a:rPr>
              <a:t></a:t>
            </a:r>
            <a:endParaRPr lang="zh-CN" altLang="en-US" sz="3600"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cs typeface="宋体"/>
            </a:endParaRPr>
          </a:p>
        </p:txBody>
      </p:sp>
      <p:sp>
        <p:nvSpPr>
          <p:cNvPr id="72" name="Text Box 26"/>
          <p:cNvSpPr txBox="1">
            <a:spLocks noChangeArrowheads="1"/>
          </p:cNvSpPr>
          <p:nvPr/>
        </p:nvSpPr>
        <p:spPr bwMode="auto">
          <a:xfrm>
            <a:off x="4283968" y="2607016"/>
            <a:ext cx="305184" cy="359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2000" dirty="0">
                <a:solidFill>
                  <a:srgbClr val="C00000"/>
                </a:solidFill>
                <a:effectLst>
                  <a:outerShdw blurRad="38100" dist="38100" dir="2700000" algn="tl">
                    <a:srgbClr val="000000">
                      <a:alpha val="43137"/>
                    </a:srgbClr>
                  </a:outerShdw>
                </a:effectLst>
                <a:latin typeface="Times New Roman"/>
                <a:cs typeface="宋体"/>
                <a:sym typeface="Wingdings"/>
              </a:rPr>
              <a:t></a:t>
            </a:r>
            <a:endParaRPr lang="zh-CN" altLang="en-US" sz="3600"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cs typeface="宋体"/>
            </a:endParaRPr>
          </a:p>
        </p:txBody>
      </p:sp>
      <p:sp>
        <p:nvSpPr>
          <p:cNvPr id="73" name="Text Box 26"/>
          <p:cNvSpPr txBox="1">
            <a:spLocks noChangeArrowheads="1"/>
          </p:cNvSpPr>
          <p:nvPr/>
        </p:nvSpPr>
        <p:spPr bwMode="auto">
          <a:xfrm>
            <a:off x="4283968" y="2887575"/>
            <a:ext cx="305184" cy="359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algn="ctr" fontAlgn="base"/>
            <a:r>
              <a:rPr lang="en-US" sz="2000" dirty="0">
                <a:solidFill>
                  <a:srgbClr val="C00000"/>
                </a:solidFill>
                <a:effectLst>
                  <a:outerShdw blurRad="38100" dist="38100" dir="2700000" algn="tl">
                    <a:srgbClr val="000000">
                      <a:alpha val="43137"/>
                    </a:srgbClr>
                  </a:outerShdw>
                </a:effectLst>
                <a:latin typeface="Times New Roman"/>
                <a:cs typeface="宋体"/>
                <a:sym typeface="Wingdings"/>
              </a:rPr>
              <a:t></a:t>
            </a:r>
            <a:endParaRPr lang="zh-CN" altLang="en-US" sz="3600"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cs typeface="宋体"/>
            </a:endParaRPr>
          </a:p>
        </p:txBody>
      </p:sp>
      <p:sp>
        <p:nvSpPr>
          <p:cNvPr id="74" name="Text Box 26"/>
          <p:cNvSpPr txBox="1">
            <a:spLocks noChangeArrowheads="1"/>
          </p:cNvSpPr>
          <p:nvPr/>
        </p:nvSpPr>
        <p:spPr bwMode="auto">
          <a:xfrm>
            <a:off x="4417324" y="4199853"/>
            <a:ext cx="4617262" cy="5440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1104" tIns="25551" rIns="51104" bIns="25551">
            <a:spAutoFit/>
          </a:bodyPr>
          <a:lstStyle/>
          <a:p>
            <a:pPr fontAlgn="base"/>
            <a:r>
              <a:rPr lang="zh-CN" altLang="en-US" sz="3200"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cs typeface="宋体"/>
                <a:sym typeface="Wingdings"/>
              </a:rPr>
              <a:t>错误率太大，如何解决？</a:t>
            </a:r>
            <a:endParaRPr lang="zh-CN" altLang="en-US" sz="4800"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cs typeface="宋体"/>
            </a:endParaRPr>
          </a:p>
        </p:txBody>
      </p:sp>
      <p:sp>
        <p:nvSpPr>
          <p:cNvPr id="3" name="灯片编号占位符 2">
            <a:extLst>
              <a:ext uri="{FF2B5EF4-FFF2-40B4-BE49-F238E27FC236}">
                <a16:creationId xmlns:a16="http://schemas.microsoft.com/office/drawing/2014/main" id="{58138797-96B5-42D5-BD07-7FA395F7DC91}"/>
              </a:ext>
            </a:extLst>
          </p:cNvPr>
          <p:cNvSpPr>
            <a:spLocks noGrp="1"/>
          </p:cNvSpPr>
          <p:nvPr>
            <p:ph type="sldNum" sz="quarter" idx="12"/>
          </p:nvPr>
        </p:nvSpPr>
        <p:spPr/>
        <p:txBody>
          <a:bodyPr/>
          <a:lstStyle/>
          <a:p>
            <a:fld id="{0C913308-F349-4B6D-A68A-DD1791B4A57B}" type="slidenum">
              <a:rPr lang="zh-CN" altLang="en-US" smtClean="0"/>
              <a:t>26</a:t>
            </a:fld>
            <a:endParaRPr lang="zh-CN" altLang="en-US"/>
          </a:p>
        </p:txBody>
      </p:sp>
    </p:spTree>
    <p:extLst>
      <p:ext uri="{BB962C8B-B14F-4D97-AF65-F5344CB8AC3E}">
        <p14:creationId xmlns:p14="http://schemas.microsoft.com/office/powerpoint/2010/main" val="37317528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熵</a:t>
            </a:r>
          </a:p>
        </p:txBody>
      </p:sp>
      <p:sp>
        <p:nvSpPr>
          <p:cNvPr id="3" name="内容占位符 2"/>
          <p:cNvSpPr>
            <a:spLocks noGrp="1"/>
          </p:cNvSpPr>
          <p:nvPr>
            <p:ph idx="1"/>
          </p:nvPr>
        </p:nvSpPr>
        <p:spPr/>
        <p:txBody>
          <a:bodyPr>
            <a:normAutofit/>
          </a:bodyPr>
          <a:lstStyle/>
          <a:p>
            <a:r>
              <a:rPr lang="zh-CN" altLang="en-US" dirty="0"/>
              <a:t>熵的概念最早起源于物理学，在物理学中是用来度量一个热力学系统的无序程度</a:t>
            </a:r>
            <a:endParaRPr lang="en-US" altLang="zh-CN" dirty="0"/>
          </a:p>
          <a:p>
            <a:r>
              <a:rPr lang="zh-CN" altLang="en-US" dirty="0"/>
              <a:t>在信息学里面，熵是对不确定性的度量。</a:t>
            </a:r>
            <a:endParaRPr lang="en-US" altLang="zh-CN" dirty="0"/>
          </a:p>
          <a:p>
            <a:r>
              <a:rPr lang="zh-CN" altLang="en-US" dirty="0"/>
              <a:t>在</a:t>
            </a:r>
            <a:r>
              <a:rPr lang="en-US" altLang="zh-CN" dirty="0"/>
              <a:t>1948</a:t>
            </a:r>
            <a:r>
              <a:rPr lang="zh-CN" altLang="en-US" dirty="0"/>
              <a:t>年，香农引入了信息熵</a:t>
            </a:r>
            <a:endParaRPr lang="en-US" altLang="zh-CN" dirty="0"/>
          </a:p>
          <a:p>
            <a:pPr lvl="1"/>
            <a:r>
              <a:rPr lang="zh-CN" altLang="en-US" dirty="0"/>
              <a:t>将其定义为离散随机事件出现的概率，信息熵是表示一个事件的不确定性的大小，不确定性越大那么该事件包含的信息熵就越大</a:t>
            </a:r>
            <a:endParaRPr lang="en-US" altLang="zh-CN" dirty="0"/>
          </a:p>
          <a:p>
            <a:pPr lvl="1"/>
            <a:r>
              <a:rPr lang="zh-CN" altLang="en-US" dirty="0"/>
              <a:t>如果一个事件完全确定了，那么它所包含的信息熵就是</a:t>
            </a:r>
            <a:r>
              <a:rPr lang="en-US" altLang="zh-CN" dirty="0"/>
              <a:t>0</a:t>
            </a:r>
            <a:r>
              <a:rPr lang="zh-CN" altLang="en-US" dirty="0"/>
              <a:t>。</a:t>
            </a:r>
          </a:p>
        </p:txBody>
      </p:sp>
      <p:sp>
        <p:nvSpPr>
          <p:cNvPr id="5" name="矩形 4"/>
          <p:cNvSpPr/>
          <p:nvPr/>
        </p:nvSpPr>
        <p:spPr>
          <a:xfrm>
            <a:off x="4764866" y="152939"/>
            <a:ext cx="2108269" cy="584775"/>
          </a:xfrm>
          <a:prstGeom prst="rect">
            <a:avLst/>
          </a:prstGeom>
        </p:spPr>
        <p:txBody>
          <a:bodyPr wrap="none">
            <a:spAutoFit/>
          </a:bodyPr>
          <a:lstStyle/>
          <a:p>
            <a:r>
              <a:rPr lang="en-US" altLang="zh-CN" sz="3200" dirty="0">
                <a:solidFill>
                  <a:srgbClr val="4F271C">
                    <a:satMod val="130000"/>
                  </a:srgbClr>
                </a:solidFill>
                <a:effectLst>
                  <a:outerShdw blurRad="50000" dist="30000" dir="5400000" algn="tl" rotWithShape="0">
                    <a:srgbClr val="000000">
                      <a:alpha val="30000"/>
                    </a:srgbClr>
                  </a:outerShdw>
                </a:effectLst>
                <a:latin typeface="汉仪水滴体简" pitchFamily="49" charset="-122"/>
                <a:ea typeface="汉仪水滴体简" pitchFamily="49" charset="-122"/>
                <a:cs typeface="+mj-cs"/>
              </a:rPr>
              <a:t>-</a:t>
            </a:r>
            <a:r>
              <a:rPr lang="zh-CN" altLang="en-US" sz="3200" dirty="0">
                <a:solidFill>
                  <a:srgbClr val="4F271C">
                    <a:satMod val="130000"/>
                  </a:srgbClr>
                </a:solidFill>
                <a:effectLst>
                  <a:outerShdw blurRad="50000" dist="30000" dir="5400000" algn="tl" rotWithShape="0">
                    <a:srgbClr val="000000">
                      <a:alpha val="30000"/>
                    </a:srgbClr>
                  </a:outerShdw>
                </a:effectLst>
                <a:latin typeface="汉仪水滴体简" pitchFamily="49" charset="-122"/>
                <a:ea typeface="汉仪水滴体简" pitchFamily="49" charset="-122"/>
                <a:cs typeface="+mj-cs"/>
              </a:rPr>
              <a:t>信息增益</a:t>
            </a:r>
            <a:endParaRPr lang="zh-CN" altLang="en-US" sz="1400" dirty="0"/>
          </a:p>
        </p:txBody>
      </p:sp>
      <p:sp>
        <p:nvSpPr>
          <p:cNvPr id="4" name="页脚占位符 3">
            <a:extLst>
              <a:ext uri="{FF2B5EF4-FFF2-40B4-BE49-F238E27FC236}">
                <a16:creationId xmlns:a16="http://schemas.microsoft.com/office/drawing/2014/main" id="{B4D96E73-CAB8-4C02-B5E4-20B02CA0D8C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D0F1EF2-CDA4-4601-B609-BD776FC45892}"/>
              </a:ext>
            </a:extLst>
          </p:cNvPr>
          <p:cNvSpPr>
            <a:spLocks noGrp="1"/>
          </p:cNvSpPr>
          <p:nvPr>
            <p:ph type="sldNum" sz="quarter" idx="12"/>
          </p:nvPr>
        </p:nvSpPr>
        <p:spPr/>
        <p:txBody>
          <a:bodyPr/>
          <a:lstStyle/>
          <a:p>
            <a:fld id="{5AD84F5B-1672-4D3F-9FEC-5DF89A7B7912}" type="slidenum">
              <a:rPr lang="zh-CN" altLang="en-US" smtClean="0"/>
              <a:t>27</a:t>
            </a:fld>
            <a:endParaRPr lang="zh-CN" altLang="en-US"/>
          </a:p>
        </p:txBody>
      </p:sp>
    </p:spTree>
    <p:extLst>
      <p:ext uri="{BB962C8B-B14F-4D97-AF65-F5344CB8AC3E}">
        <p14:creationId xmlns:p14="http://schemas.microsoft.com/office/powerpoint/2010/main" val="1873939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3">
            <a:extLst>
              <a:ext uri="{FF2B5EF4-FFF2-40B4-BE49-F238E27FC236}">
                <a16:creationId xmlns:a16="http://schemas.microsoft.com/office/drawing/2014/main" id="{5AE4498C-D467-4B6C-84A1-646F622D9ECC}"/>
              </a:ext>
            </a:extLst>
          </p:cNvPr>
          <p:cNvSpPr txBox="1">
            <a:spLocks/>
          </p:cNvSpPr>
          <p:nvPr/>
        </p:nvSpPr>
        <p:spPr>
          <a:xfrm>
            <a:off x="0" y="0"/>
            <a:ext cx="9144000" cy="817721"/>
          </a:xfrm>
          <a:prstGeom prst="rect">
            <a:avLst/>
          </a:prstGeom>
        </p:spPr>
        <p:txBody>
          <a:bodyPr vert="horz" lIns="91440" tIns="144000" rIns="91440" bIns="45720" rtlCol="0" anchor="ctr">
            <a:noAutofit/>
          </a:bodyPr>
          <a:lst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a:lstStyle>
          <a:p>
            <a:endParaRPr lang="zh-CN" altLang="en-US"/>
          </a:p>
        </p:txBody>
      </p:sp>
      <p:sp>
        <p:nvSpPr>
          <p:cNvPr id="13" name="标题 1">
            <a:extLst>
              <a:ext uri="{FF2B5EF4-FFF2-40B4-BE49-F238E27FC236}">
                <a16:creationId xmlns:a16="http://schemas.microsoft.com/office/drawing/2014/main" id="{60FE5641-D8E9-436E-88E3-D0E72DA7FAED}"/>
              </a:ext>
            </a:extLst>
          </p:cNvPr>
          <p:cNvSpPr>
            <a:spLocks noGrp="1"/>
          </p:cNvSpPr>
          <p:nvPr>
            <p:ph type="title"/>
          </p:nvPr>
        </p:nvSpPr>
        <p:spPr>
          <a:xfrm>
            <a:off x="0" y="4763"/>
            <a:ext cx="9144000" cy="817562"/>
          </a:xfrm>
        </p:spPr>
        <p:txBody>
          <a:bodyPr/>
          <a:lstStyle/>
          <a:p>
            <a:pPr marL="0" defTabSz="914400" fontAlgn="base">
              <a:spcAft>
                <a:spcPct val="0"/>
              </a:spcAft>
              <a:defRPr/>
            </a:pPr>
            <a:r>
              <a:rPr lang="zh-CN" altLang="en-US" sz="2400" dirty="0">
                <a:latin typeface="Times New Roman" panose="02020603050405020304" pitchFamily="18" charset="0"/>
                <a:cs typeface="Times New Roman" panose="02020603050405020304" pitchFamily="18" charset="0"/>
              </a:rPr>
              <a:t>决策树：</a:t>
            </a:r>
            <a:r>
              <a:rPr lang="zh-CN" altLang="en-US" sz="2400" kern="0" dirty="0">
                <a:solidFill>
                  <a:srgbClr val="0070C0"/>
                </a:solidFill>
                <a:latin typeface="Times New Roman" pitchFamily="18" charset="0"/>
                <a:cs typeface="Times New Roman" pitchFamily="18" charset="0"/>
              </a:rPr>
              <a:t>信息熵</a:t>
            </a:r>
          </a:p>
        </p:txBody>
      </p:sp>
      <p:sp>
        <p:nvSpPr>
          <p:cNvPr id="12" name="圆角矩形 13">
            <a:extLst>
              <a:ext uri="{FF2B5EF4-FFF2-40B4-BE49-F238E27FC236}">
                <a16:creationId xmlns:a16="http://schemas.microsoft.com/office/drawing/2014/main" id="{B8B3036C-F6EE-4038-954F-F337843C33E7}"/>
              </a:ext>
            </a:extLst>
          </p:cNvPr>
          <p:cNvSpPr/>
          <p:nvPr/>
        </p:nvSpPr>
        <p:spPr bwMode="auto">
          <a:xfrm>
            <a:off x="516775" y="1359379"/>
            <a:ext cx="3334006" cy="557808"/>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tIns="0" bIns="0" anchor="ctr"/>
          <a:lstStyle/>
          <a:p>
            <a:pPr marL="0" marR="0" lvl="1" algn="ctr" fontAlgn="base">
              <a:lnSpc>
                <a:spcPct val="90000"/>
              </a:lnSpc>
              <a:spcBef>
                <a:spcPct val="0"/>
              </a:spcBef>
              <a:spcAft>
                <a:spcPct val="0"/>
              </a:spcAft>
              <a:buClr>
                <a:srgbClr val="FF0000"/>
              </a:buClr>
              <a:buSzTx/>
              <a:tabLst/>
              <a:defRPr/>
            </a:pPr>
            <a:r>
              <a:rPr lang="zh-CN" altLang="en-US" sz="24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信息熵（</a:t>
            </a:r>
            <a:r>
              <a:rPr lang="en-US" altLang="zh-CN" sz="24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entropy</a:t>
            </a:r>
            <a:r>
              <a:rPr lang="zh-CN" altLang="en-US" sz="24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9" name="组合 8">
            <a:extLst>
              <a:ext uri="{FF2B5EF4-FFF2-40B4-BE49-F238E27FC236}">
                <a16:creationId xmlns:a16="http://schemas.microsoft.com/office/drawing/2014/main" id="{D0C697C4-14F0-430A-98EF-D4B67D2BE94B}"/>
              </a:ext>
            </a:extLst>
          </p:cNvPr>
          <p:cNvGrpSpPr/>
          <p:nvPr/>
        </p:nvGrpSpPr>
        <p:grpSpPr>
          <a:xfrm>
            <a:off x="5130914" y="1364360"/>
            <a:ext cx="3682580" cy="1898976"/>
            <a:chOff x="5293221" y="1415140"/>
            <a:chExt cx="2942818" cy="1898976"/>
          </a:xfrm>
        </p:grpSpPr>
        <p:sp>
          <p:nvSpPr>
            <p:cNvPr id="10" name="文本框 9">
              <a:extLst>
                <a:ext uri="{FF2B5EF4-FFF2-40B4-BE49-F238E27FC236}">
                  <a16:creationId xmlns:a16="http://schemas.microsoft.com/office/drawing/2014/main" id="{7CD6CDC1-4DE7-46D1-B4B0-BB8A411EA148}"/>
                </a:ext>
              </a:extLst>
            </p:cNvPr>
            <p:cNvSpPr txBox="1"/>
            <p:nvPr/>
          </p:nvSpPr>
          <p:spPr>
            <a:xfrm>
              <a:off x="5389807" y="1570564"/>
              <a:ext cx="2830133" cy="1588127"/>
            </a:xfrm>
            <a:prstGeom prst="rect">
              <a:avLst/>
            </a:prstGeom>
            <a:solidFill>
              <a:schemeClr val="accent3">
                <a:lumMod val="60000"/>
                <a:lumOff val="40000"/>
                <a:alpha val="35000"/>
              </a:schemeClr>
            </a:solidFill>
          </p:spPr>
          <p:txBody>
            <a:bodyPr wrap="square">
              <a:spAutoFit/>
            </a:bodyPr>
            <a:lstStyle/>
            <a:p>
              <a:pPr>
                <a:lnSpc>
                  <a:spcPct val="90000"/>
                </a:lnSpc>
                <a:spcBef>
                  <a:spcPct val="0"/>
                </a:spcBef>
              </a:pPr>
              <a:r>
                <a:rPr lang="zh-CN" altLang="en-US" dirty="0">
                  <a:latin typeface="Times New Roman" panose="02020603050405020304" pitchFamily="18" charset="0"/>
                  <a:ea typeface="楷体" panose="02010609060101010101" pitchFamily="49" charset="-122"/>
                  <a:cs typeface="Times New Roman" panose="02020603050405020304" pitchFamily="18" charset="0"/>
                </a:rPr>
                <a:t>要点：构建决策树时划分属性的顺序选择是重要的。性能好的决策树随着划分不断进行，决策树分支结点样本集的“纯度”会越来越高，即其所包含样本尽可能属于相同类别。</a:t>
              </a:r>
            </a:p>
          </p:txBody>
        </p:sp>
        <p:sp>
          <p:nvSpPr>
            <p:cNvPr id="7" name="矩形: 圆角 6">
              <a:extLst>
                <a:ext uri="{FF2B5EF4-FFF2-40B4-BE49-F238E27FC236}">
                  <a16:creationId xmlns:a16="http://schemas.microsoft.com/office/drawing/2014/main" id="{F830E84D-3F08-4C75-9273-4E37D5265F04}"/>
                </a:ext>
              </a:extLst>
            </p:cNvPr>
            <p:cNvSpPr/>
            <p:nvPr/>
          </p:nvSpPr>
          <p:spPr>
            <a:xfrm>
              <a:off x="5293221" y="1415140"/>
              <a:ext cx="2942818" cy="1898976"/>
            </a:xfrm>
            <a:prstGeom prst="roundRect">
              <a:avLst/>
            </a:prstGeom>
            <a:noFill/>
            <a:ln w="34925">
              <a:solidFill>
                <a:srgbClr val="FFAA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4140B550-9B0D-4977-A693-A45C9EF74A82}"/>
                  </a:ext>
                </a:extLst>
              </p:cNvPr>
              <p:cNvSpPr txBox="1"/>
              <p:nvPr/>
            </p:nvSpPr>
            <p:spPr>
              <a:xfrm>
                <a:off x="516775" y="2202436"/>
                <a:ext cx="4572000" cy="2738378"/>
              </a:xfrm>
              <a:prstGeom prst="rect">
                <a:avLst/>
              </a:prstGeom>
              <a:noFill/>
            </p:spPr>
            <p:txBody>
              <a:bodyPr wrap="square">
                <a:spAutoFit/>
              </a:bodyPr>
              <a:lstStyle/>
              <a:p>
                <a:pPr algn="l">
                  <a:spcBef>
                    <a:spcPts val="1000"/>
                  </a:spcBef>
                  <a:spcAft>
                    <a:spcPts val="300"/>
                  </a:spcAft>
                </a:pPr>
                <a:r>
                  <a:rPr lang="zh-CN" altLang="zh-CN" sz="18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假设有</a:t>
                </a:r>
                <a14:m>
                  <m:oMath xmlns:m="http://schemas.openxmlformats.org/officeDocument/2006/math">
                    <m:r>
                      <a:rPr lang="en-US" altLang="zh-CN" sz="1800" i="1">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𝐾</m:t>
                    </m:r>
                  </m:oMath>
                </a14:m>
                <a:r>
                  <a:rPr lang="zh-CN" altLang="zh-CN" sz="18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个信息，其组成了集合样本</a:t>
                </a:r>
                <a14:m>
                  <m:oMath xmlns:m="http://schemas.openxmlformats.org/officeDocument/2006/math">
                    <m:r>
                      <a:rPr lang="en-US" altLang="zh-CN" sz="1800" i="1">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𝐷</m:t>
                    </m:r>
                  </m:oMath>
                </a14:m>
                <a:r>
                  <a:rPr lang="zh-CN" altLang="zh-CN" sz="18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，记第</a:t>
                </a:r>
                <a14:m>
                  <m:oMath xmlns:m="http://schemas.openxmlformats.org/officeDocument/2006/math">
                    <m:r>
                      <a:rPr lang="en-US" altLang="zh-CN" sz="1800" i="1">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𝑘</m:t>
                    </m:r>
                  </m:oMath>
                </a14:m>
                <a:r>
                  <a:rPr lang="zh-CN" altLang="zh-CN" sz="18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个信息发生的概率为</a:t>
                </a:r>
                <a14:m>
                  <m:oMath xmlns:m="http://schemas.openxmlformats.org/officeDocument/2006/math">
                    <m:sSub>
                      <m:sSubPr>
                        <m:ctrlPr>
                          <a:rPr lang="zh-CN" altLang="zh-CN" sz="1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𝑝</m:t>
                        </m:r>
                      </m:e>
                      <m:sub>
                        <m:r>
                          <a:rPr lang="en-US" altLang="zh-CN" sz="1800" i="1">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𝑘</m:t>
                        </m:r>
                      </m:sub>
                    </m:sSub>
                    <m:r>
                      <a:rPr lang="en-US" altLang="zh-CN" sz="18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1≤</m:t>
                    </m:r>
                    <m:r>
                      <a:rPr lang="en-US" altLang="zh-CN" sz="1800" i="1">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𝑘</m:t>
                    </m:r>
                    <m:r>
                      <a:rPr lang="en-US" altLang="zh-CN" sz="1800" i="1">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𝐾</m:t>
                    </m:r>
                    <m:r>
                      <a:rPr lang="en-US" altLang="zh-CN" sz="18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m:t>
                    </m:r>
                  </m:oMath>
                </a14:m>
                <a:r>
                  <a:rPr lang="en-US" altLang="zh-CN" sz="18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8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。如下定义这</a:t>
                </a:r>
                <a14:m>
                  <m:oMath xmlns:m="http://schemas.openxmlformats.org/officeDocument/2006/math">
                    <m:r>
                      <a:rPr lang="en-US" altLang="zh-CN" sz="1800" i="1">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𝐾</m:t>
                    </m:r>
                  </m:oMath>
                </a14:m>
                <a:r>
                  <a:rPr lang="zh-CN" altLang="zh-CN" sz="18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个信息的信息熵：</a:t>
                </a:r>
                <a:endParaRPr lang="zh-CN" altLang="zh-CN" sz="1800" dirty="0">
                  <a:effectLst/>
                  <a:latin typeface="Times New Roman" panose="02020603050405020304" pitchFamily="18" charset="0"/>
                  <a:ea typeface="华文楷体" panose="02010600040101010101" pitchFamily="2" charset="-122"/>
                  <a:cs typeface="Times New Roman" panose="02020603050405020304" pitchFamily="18" charset="0"/>
                </a:endParaRPr>
              </a:p>
              <a:p>
                <a:pPr algn="l">
                  <a:spcBef>
                    <a:spcPts val="1000"/>
                  </a:spcBef>
                  <a:spcAft>
                    <a:spcPts val="300"/>
                  </a:spcAft>
                </a:pPr>
                <a14:m>
                  <m:oMathPara xmlns:m="http://schemas.openxmlformats.org/officeDocument/2006/math">
                    <m:oMathParaPr>
                      <m:jc m:val="centerGroup"/>
                    </m:oMathParaPr>
                    <m:oMath xmlns:m="http://schemas.openxmlformats.org/officeDocument/2006/math">
                      <m:r>
                        <a:rPr lang="en-US" altLang="zh-CN" sz="1800" i="1">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𝐸</m:t>
                      </m:r>
                      <m:d>
                        <m:dPr>
                          <m:ctrlPr>
                            <a:rPr lang="zh-CN" altLang="zh-CN" sz="1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𝐷</m:t>
                          </m:r>
                        </m:e>
                      </m:d>
                      <m:r>
                        <a:rPr lang="en-US" altLang="zh-CN" sz="18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m:t>
                      </m:r>
                      <m:nary>
                        <m:naryPr>
                          <m:chr m:val="∑"/>
                          <m:ctrlPr>
                            <a:rPr lang="zh-CN" altLang="zh-CN" sz="1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𝑘</m:t>
                          </m:r>
                          <m:r>
                            <a:rPr lang="en-US" altLang="zh-CN" sz="18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=1</m:t>
                          </m:r>
                        </m:sub>
                        <m:sup>
                          <m:r>
                            <a:rPr lang="en-US" altLang="zh-CN" sz="1800" i="1">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𝐾</m:t>
                          </m:r>
                        </m:sup>
                        <m:e>
                          <m:sSub>
                            <m:sSubPr>
                              <m:ctrlPr>
                                <a:rPr lang="zh-CN" altLang="zh-CN" sz="1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𝑝</m:t>
                              </m:r>
                            </m:e>
                            <m:sub>
                              <m:r>
                                <a:rPr lang="en-US" altLang="zh-CN" sz="1800" i="1">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𝑘</m:t>
                              </m:r>
                            </m:sub>
                          </m:sSub>
                          <m:func>
                            <m:funcPr>
                              <m:ctrlPr>
                                <a:rPr lang="zh-CN" altLang="zh-CN" sz="1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uncPr>
                            <m:fName>
                              <m:sSub>
                                <m:sSubPr>
                                  <m:ctrlPr>
                                    <a:rPr lang="zh-CN" altLang="zh-CN" sz="1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8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log</m:t>
                                  </m:r>
                                </m:e>
                                <m:sub>
                                  <m:r>
                                    <a:rPr lang="en-US" altLang="zh-CN" sz="1800" i="1">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2</m:t>
                                  </m:r>
                                </m:sub>
                              </m:sSub>
                            </m:fName>
                            <m:e>
                              <m:sSub>
                                <m:sSubPr>
                                  <m:ctrlPr>
                                    <a:rPr lang="zh-CN" altLang="zh-CN" sz="1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𝑝</m:t>
                                  </m:r>
                                </m:e>
                                <m:sub>
                                  <m:r>
                                    <a:rPr lang="en-US" altLang="zh-CN" sz="1800" i="1">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𝑘</m:t>
                                  </m:r>
                                </m:sub>
                              </m:sSub>
                            </m:e>
                          </m:func>
                        </m:e>
                      </m:nary>
                      <m:r>
                        <a:rPr lang="en-US" altLang="zh-CN" sz="180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 </m:t>
                      </m:r>
                    </m:oMath>
                  </m:oMathPara>
                </a14:m>
                <a:endParaRPr lang="zh-CN" altLang="zh-CN" sz="1800" dirty="0">
                  <a:effectLst/>
                  <a:latin typeface="Times New Roman" panose="02020603050405020304" pitchFamily="18" charset="0"/>
                  <a:ea typeface="华文楷体" panose="02010600040101010101" pitchFamily="2" charset="-122"/>
                  <a:cs typeface="Times New Roman" panose="02020603050405020304" pitchFamily="18" charset="0"/>
                </a:endParaRPr>
              </a:p>
              <a:p>
                <a:pPr algn="l">
                  <a:spcBef>
                    <a:spcPts val="1000"/>
                  </a:spcBef>
                  <a:spcAft>
                    <a:spcPts val="300"/>
                  </a:spcAft>
                </a:pPr>
                <a14:m>
                  <m:oMath xmlns:m="http://schemas.openxmlformats.org/officeDocument/2006/math">
                    <m:r>
                      <a:rPr lang="en-US" altLang="zh-CN" sz="1800" i="1" smtClean="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𝐸</m:t>
                    </m:r>
                    <m:r>
                      <a:rPr lang="en-US" altLang="zh-CN" sz="1800" i="1" smtClean="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smtClean="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𝐷</m:t>
                    </m:r>
                    <m:r>
                      <a:rPr lang="en-US" altLang="zh-CN" sz="1800" i="1" smtClean="0">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m:t>
                    </m:r>
                  </m:oMath>
                </a14:m>
                <a:r>
                  <a:rPr lang="zh-CN" altLang="zh-CN" sz="18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值越小，表示</a:t>
                </a:r>
                <a14:m>
                  <m:oMath xmlns:m="http://schemas.openxmlformats.org/officeDocument/2006/math">
                    <m:r>
                      <a:rPr lang="en-US" altLang="zh-CN" sz="1800" i="1">
                        <a:solidFill>
                          <a:srgbClr val="FF0000"/>
                        </a:solidFill>
                        <a:effectLst/>
                        <a:latin typeface="Cambria Math" panose="02040503050406030204" pitchFamily="18" charset="0"/>
                        <a:ea typeface="华文楷体" panose="02010600040101010101" pitchFamily="2" charset="-122"/>
                        <a:cs typeface="Times New Roman" panose="02020603050405020304" pitchFamily="18" charset="0"/>
                      </a:rPr>
                      <m:t>𝐷</m:t>
                    </m:r>
                  </m:oMath>
                </a14:m>
                <a:r>
                  <a:rPr lang="zh-CN" altLang="zh-CN" sz="18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包含的信息越确定</a:t>
                </a:r>
                <a:r>
                  <a:rPr lang="zh-CN" altLang="zh-CN" sz="18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，也称</a:t>
                </a:r>
                <a14:m>
                  <m:oMath xmlns:m="http://schemas.openxmlformats.org/officeDocument/2006/math">
                    <m:r>
                      <a:rPr lang="en-US" altLang="zh-CN" sz="1800" i="1">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𝐷</m:t>
                    </m:r>
                  </m:oMath>
                </a14:m>
                <a:r>
                  <a:rPr lang="zh-CN" altLang="zh-CN" sz="18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的纯度越高。需要指出，所有</a:t>
                </a:r>
                <a14:m>
                  <m:oMath xmlns:m="http://schemas.openxmlformats.org/officeDocument/2006/math">
                    <m:sSub>
                      <m:sSubPr>
                        <m:ctrlPr>
                          <a:rPr lang="zh-CN" altLang="zh-CN" sz="1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𝑝</m:t>
                        </m:r>
                      </m:e>
                      <m:sub>
                        <m:r>
                          <a:rPr lang="en-US" altLang="zh-CN" sz="1800" i="1">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𝑘</m:t>
                        </m:r>
                      </m:sub>
                    </m:sSub>
                  </m:oMath>
                </a14:m>
                <a:r>
                  <a:rPr lang="zh-CN" altLang="zh-CN" sz="18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累加起来的和为</a:t>
                </a:r>
                <a:r>
                  <a:rPr lang="en-US" altLang="zh-CN" sz="18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18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1800" dirty="0">
                  <a:effectLst/>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5" name="文本框 14">
                <a:extLst>
                  <a:ext uri="{FF2B5EF4-FFF2-40B4-BE49-F238E27FC236}">
                    <a16:creationId xmlns:a16="http://schemas.microsoft.com/office/drawing/2014/main" id="{4140B550-9B0D-4977-A693-A45C9EF74A82}"/>
                  </a:ext>
                </a:extLst>
              </p:cNvPr>
              <p:cNvSpPr txBox="1">
                <a:spLocks noRot="1" noChangeAspect="1" noMove="1" noResize="1" noEditPoints="1" noAdjustHandles="1" noChangeArrowheads="1" noChangeShapeType="1" noTextEdit="1"/>
              </p:cNvSpPr>
              <p:nvPr/>
            </p:nvSpPr>
            <p:spPr>
              <a:xfrm>
                <a:off x="516775" y="2202436"/>
                <a:ext cx="4572000" cy="2738378"/>
              </a:xfrm>
              <a:prstGeom prst="rect">
                <a:avLst/>
              </a:prstGeom>
              <a:blipFill>
                <a:blip r:embed="rId3"/>
                <a:stretch>
                  <a:fillRect l="-1200" t="-889" r="-133" b="-2667"/>
                </a:stretch>
              </a:blipFill>
            </p:spPr>
            <p:txBody>
              <a:bodyPr/>
              <a:lstStyle/>
              <a:p>
                <a:r>
                  <a:rPr lang="zh-CN" altLang="en-US">
                    <a:noFill/>
                  </a:rPr>
                  <a:t> </a:t>
                </a:r>
              </a:p>
            </p:txBody>
          </p:sp>
        </mc:Fallback>
      </mc:AlternateContent>
      <p:graphicFrame>
        <p:nvGraphicFramePr>
          <p:cNvPr id="16" name="表格 15">
            <a:extLst>
              <a:ext uri="{FF2B5EF4-FFF2-40B4-BE49-F238E27FC236}">
                <a16:creationId xmlns:a16="http://schemas.microsoft.com/office/drawing/2014/main" id="{A365FFC3-233B-49FA-8243-3E9EDCECCEEB}"/>
              </a:ext>
            </a:extLst>
          </p:cNvPr>
          <p:cNvGraphicFramePr>
            <a:graphicFrameLocks noGrp="1"/>
          </p:cNvGraphicFramePr>
          <p:nvPr>
            <p:extLst>
              <p:ext uri="{D42A27DB-BD31-4B8C-83A1-F6EECF244321}">
                <p14:modId xmlns:p14="http://schemas.microsoft.com/office/powerpoint/2010/main" val="824414599"/>
              </p:ext>
            </p:extLst>
          </p:nvPr>
        </p:nvGraphicFramePr>
        <p:xfrm>
          <a:off x="5088775" y="3906931"/>
          <a:ext cx="3895857" cy="1990995"/>
        </p:xfrm>
        <a:graphic>
          <a:graphicData uri="http://schemas.openxmlformats.org/drawingml/2006/table">
            <a:tbl>
              <a:tblPr firstRow="1" firstCol="1" bandRow="1"/>
              <a:tblGrid>
                <a:gridCol w="1035684">
                  <a:extLst>
                    <a:ext uri="{9D8B030D-6E8A-4147-A177-3AD203B41FA5}">
                      <a16:colId xmlns:a16="http://schemas.microsoft.com/office/drawing/2014/main" val="534599750"/>
                    </a:ext>
                  </a:extLst>
                </a:gridCol>
                <a:gridCol w="957995">
                  <a:extLst>
                    <a:ext uri="{9D8B030D-6E8A-4147-A177-3AD203B41FA5}">
                      <a16:colId xmlns:a16="http://schemas.microsoft.com/office/drawing/2014/main" val="3137200550"/>
                    </a:ext>
                  </a:extLst>
                </a:gridCol>
                <a:gridCol w="935394">
                  <a:extLst>
                    <a:ext uri="{9D8B030D-6E8A-4147-A177-3AD203B41FA5}">
                      <a16:colId xmlns:a16="http://schemas.microsoft.com/office/drawing/2014/main" val="3341751084"/>
                    </a:ext>
                  </a:extLst>
                </a:gridCol>
                <a:gridCol w="966784">
                  <a:extLst>
                    <a:ext uri="{9D8B030D-6E8A-4147-A177-3AD203B41FA5}">
                      <a16:colId xmlns:a16="http://schemas.microsoft.com/office/drawing/2014/main" val="3025034656"/>
                    </a:ext>
                  </a:extLst>
                </a:gridCol>
              </a:tblGrid>
              <a:tr h="663665">
                <a:tc>
                  <a:txBody>
                    <a:bodyPr/>
                    <a:lstStyle/>
                    <a:p>
                      <a:pPr algn="ctr">
                        <a:lnSpc>
                          <a:spcPct val="150000"/>
                        </a:lnSpc>
                        <a:spcBef>
                          <a:spcPts val="0"/>
                        </a:spcBef>
                        <a:spcAft>
                          <a:spcPts val="0"/>
                        </a:spcAft>
                      </a:pPr>
                      <a:r>
                        <a:rPr lang="zh-CN" sz="1200" dirty="0">
                          <a:effectLst/>
                          <a:latin typeface="Times New Roman" panose="02020603050405020304" pitchFamily="18" charset="0"/>
                          <a:ea typeface="华文楷体" panose="02010600040101010101" pitchFamily="2" charset="-122"/>
                          <a:cs typeface="Times New Roman" panose="02020603050405020304" pitchFamily="18" charset="0"/>
                        </a:rPr>
                        <a:t>年龄属性</a:t>
                      </a:r>
                      <a:endParaRPr lang="en-US" altLang="zh-CN" sz="1200" dirty="0">
                        <a:effectLst/>
                        <a:latin typeface="Times New Roman" panose="02020603050405020304" pitchFamily="18" charset="0"/>
                        <a:ea typeface="华文楷体" panose="02010600040101010101" pitchFamily="2" charset="-122"/>
                        <a:cs typeface="Times New Roman" panose="02020603050405020304" pitchFamily="18" charset="0"/>
                      </a:endParaRPr>
                    </a:p>
                    <a:p>
                      <a:pPr algn="ctr">
                        <a:lnSpc>
                          <a:spcPct val="150000"/>
                        </a:lnSpc>
                        <a:spcBef>
                          <a:spcPts val="0"/>
                        </a:spcBef>
                        <a:spcAft>
                          <a:spcPts val="0"/>
                        </a:spcAft>
                      </a:pPr>
                      <a:r>
                        <a:rPr lang="zh-CN" sz="1200" dirty="0">
                          <a:effectLst/>
                          <a:latin typeface="Times New Roman" panose="02020603050405020304" pitchFamily="18" charset="0"/>
                          <a:ea typeface="华文楷体" panose="02010600040101010101" pitchFamily="2" charset="-122"/>
                          <a:cs typeface="Times New Roman" panose="02020603050405020304" pitchFamily="18" charset="0"/>
                        </a:rPr>
                        <a:t>取值</a:t>
                      </a:r>
                      <a:r>
                        <a:rPr lang="en-US" sz="1200" dirty="0">
                          <a:effectLst/>
                          <a:latin typeface="Times New Roman" panose="02020603050405020304" pitchFamily="18" charset="0"/>
                          <a:ea typeface="华文楷体" panose="02010600040101010101" pitchFamily="2" charset="-122"/>
                          <a:cs typeface="Times New Roman" panose="02020603050405020304" pitchFamily="18" charset="0"/>
                        </a:rPr>
                        <a:t> </a:t>
                      </a:r>
                      <a:endParaRPr lang="zh-CN" sz="1200" dirty="0">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1000"/>
                        </a:spcBef>
                        <a:spcAft>
                          <a:spcPts val="600"/>
                        </a:spcAft>
                      </a:pPr>
                      <a:r>
                        <a:rPr lang="en-US" sz="1200">
                          <a:effectLst/>
                          <a:latin typeface="Times New Roman" panose="02020603050405020304" pitchFamily="18" charset="0"/>
                          <a:ea typeface="华文楷体" panose="02010600040101010101" pitchFamily="2" charset="-122"/>
                          <a:cs typeface="Times New Roman" panose="02020603050405020304" pitchFamily="18" charset="0"/>
                        </a:rPr>
                        <a:t>“&gt;30”</a:t>
                      </a:r>
                      <a:endParaRPr lang="zh-CN" sz="1200">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1000"/>
                        </a:spcBef>
                        <a:spcAft>
                          <a:spcPts val="600"/>
                        </a:spcAft>
                      </a:pPr>
                      <a:r>
                        <a:rPr lang="en-US" sz="1200">
                          <a:effectLst/>
                          <a:latin typeface="Times New Roman" panose="02020603050405020304" pitchFamily="18" charset="0"/>
                          <a:ea typeface="华文楷体" panose="02010600040101010101" pitchFamily="2" charset="-122"/>
                          <a:cs typeface="Times New Roman" panose="02020603050405020304" pitchFamily="18" charset="0"/>
                        </a:rPr>
                        <a:t>“20~30”</a:t>
                      </a:r>
                      <a:endParaRPr lang="zh-CN" sz="1200">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1000"/>
                        </a:spcBef>
                        <a:spcAft>
                          <a:spcPts val="600"/>
                        </a:spcAft>
                      </a:pPr>
                      <a:r>
                        <a:rPr lang="en-US" sz="1200">
                          <a:effectLst/>
                          <a:latin typeface="Times New Roman" panose="02020603050405020304" pitchFamily="18" charset="0"/>
                          <a:ea typeface="华文楷体" panose="02010600040101010101" pitchFamily="2" charset="-122"/>
                          <a:cs typeface="Times New Roman" panose="02020603050405020304" pitchFamily="18" charset="0"/>
                        </a:rPr>
                        <a:t>“&lt;20”</a:t>
                      </a:r>
                      <a:endParaRPr lang="zh-CN" sz="1200">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88489024"/>
                  </a:ext>
                </a:extLst>
              </a:tr>
              <a:tr h="663665">
                <a:tc>
                  <a:txBody>
                    <a:bodyPr/>
                    <a:lstStyle/>
                    <a:p>
                      <a:pPr algn="ctr">
                        <a:lnSpc>
                          <a:spcPct val="150000"/>
                        </a:lnSpc>
                        <a:spcBef>
                          <a:spcPts val="0"/>
                        </a:spcBef>
                        <a:spcAft>
                          <a:spcPts val="0"/>
                        </a:spcAft>
                      </a:pPr>
                      <a:r>
                        <a:rPr lang="zh-CN" sz="1200" dirty="0">
                          <a:effectLst/>
                          <a:latin typeface="Times New Roman" panose="02020603050405020304" pitchFamily="18" charset="0"/>
                          <a:ea typeface="华文楷体" panose="02010600040101010101" pitchFamily="2" charset="-122"/>
                          <a:cs typeface="Times New Roman" panose="02020603050405020304" pitchFamily="18" charset="0"/>
                        </a:rPr>
                        <a:t>对应样</a:t>
                      </a:r>
                      <a:endParaRPr lang="en-US" altLang="zh-CN" sz="1200" dirty="0">
                        <a:effectLst/>
                        <a:latin typeface="Times New Roman" panose="02020603050405020304" pitchFamily="18" charset="0"/>
                        <a:ea typeface="华文楷体" panose="02010600040101010101" pitchFamily="2" charset="-122"/>
                        <a:cs typeface="Times New Roman" panose="02020603050405020304" pitchFamily="18" charset="0"/>
                      </a:endParaRPr>
                    </a:p>
                    <a:p>
                      <a:pPr algn="ctr">
                        <a:lnSpc>
                          <a:spcPct val="150000"/>
                        </a:lnSpc>
                        <a:spcBef>
                          <a:spcPts val="0"/>
                        </a:spcBef>
                        <a:spcAft>
                          <a:spcPts val="0"/>
                        </a:spcAft>
                      </a:pPr>
                      <a:r>
                        <a:rPr lang="zh-CN" sz="1200" dirty="0">
                          <a:effectLst/>
                          <a:latin typeface="Times New Roman" panose="02020603050405020304" pitchFamily="18" charset="0"/>
                          <a:ea typeface="华文楷体" panose="02010600040101010101" pitchFamily="2" charset="-122"/>
                          <a:cs typeface="Times New Roman" panose="02020603050405020304" pitchFamily="18" charset="0"/>
                        </a:rPr>
                        <a:t>本数</a:t>
                      </a:r>
                      <a:r>
                        <a:rPr lang="en-US" sz="1200" dirty="0">
                          <a:effectLst/>
                          <a:latin typeface="Times New Roman" panose="02020603050405020304" pitchFamily="18" charset="0"/>
                          <a:ea typeface="华文楷体" panose="02010600040101010101" pitchFamily="2" charset="-122"/>
                          <a:cs typeface="Times New Roman" panose="02020603050405020304" pitchFamily="18" charset="0"/>
                        </a:rPr>
                        <a:t> </a:t>
                      </a:r>
                      <a:endParaRPr lang="zh-CN" sz="1200" dirty="0">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1000"/>
                        </a:spcBef>
                        <a:spcAft>
                          <a:spcPts val="600"/>
                        </a:spcAft>
                      </a:pPr>
                      <a:r>
                        <a:rPr lang="en-US" sz="1200">
                          <a:effectLst/>
                          <a:latin typeface="Times New Roman" panose="02020603050405020304" pitchFamily="18" charset="0"/>
                          <a:ea typeface="华文楷体" panose="02010600040101010101" pitchFamily="2" charset="-122"/>
                          <a:cs typeface="Times New Roman" panose="02020603050405020304" pitchFamily="18" charset="0"/>
                        </a:rPr>
                        <a:t>5</a:t>
                      </a:r>
                      <a:endParaRPr lang="zh-CN" sz="1200">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1000"/>
                        </a:spcBef>
                        <a:spcAft>
                          <a:spcPts val="600"/>
                        </a:spcAft>
                      </a:pPr>
                      <a:r>
                        <a:rPr lang="en-US" sz="1200">
                          <a:effectLst/>
                          <a:latin typeface="Times New Roman" panose="02020603050405020304" pitchFamily="18" charset="0"/>
                          <a:ea typeface="华文楷体" panose="02010600040101010101" pitchFamily="2" charset="-122"/>
                          <a:cs typeface="Times New Roman" panose="02020603050405020304" pitchFamily="18" charset="0"/>
                        </a:rPr>
                        <a:t>4</a:t>
                      </a:r>
                      <a:endParaRPr lang="zh-CN" sz="1200">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1000"/>
                        </a:spcBef>
                        <a:spcAft>
                          <a:spcPts val="600"/>
                        </a:spcAft>
                      </a:pPr>
                      <a:r>
                        <a:rPr lang="en-US" sz="1200" dirty="0">
                          <a:effectLst/>
                          <a:latin typeface="Times New Roman" panose="02020603050405020304" pitchFamily="18" charset="0"/>
                          <a:ea typeface="华文楷体" panose="02010600040101010101" pitchFamily="2" charset="-122"/>
                          <a:cs typeface="Times New Roman" panose="02020603050405020304" pitchFamily="18" charset="0"/>
                        </a:rPr>
                        <a:t>5</a:t>
                      </a:r>
                      <a:endParaRPr lang="zh-CN" sz="1200" dirty="0">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7473175"/>
                  </a:ext>
                </a:extLst>
              </a:tr>
              <a:tr h="663665">
                <a:tc>
                  <a:txBody>
                    <a:bodyPr/>
                    <a:lstStyle/>
                    <a:p>
                      <a:pPr algn="ctr">
                        <a:lnSpc>
                          <a:spcPct val="150000"/>
                        </a:lnSpc>
                        <a:spcBef>
                          <a:spcPts val="0"/>
                        </a:spcBef>
                        <a:spcAft>
                          <a:spcPts val="0"/>
                        </a:spcAft>
                      </a:pPr>
                      <a:r>
                        <a:rPr lang="zh-CN" sz="1200" dirty="0">
                          <a:effectLst/>
                          <a:latin typeface="Times New Roman" panose="02020603050405020304" pitchFamily="18" charset="0"/>
                          <a:ea typeface="华文楷体" panose="02010600040101010101" pitchFamily="2" charset="-122"/>
                          <a:cs typeface="Times New Roman" panose="02020603050405020304" pitchFamily="18" charset="0"/>
                        </a:rPr>
                        <a:t>正负样本</a:t>
                      </a:r>
                      <a:endParaRPr lang="en-US" altLang="zh-CN" sz="1200" dirty="0">
                        <a:effectLst/>
                        <a:latin typeface="Times New Roman" panose="02020603050405020304" pitchFamily="18" charset="0"/>
                        <a:ea typeface="华文楷体" panose="02010600040101010101" pitchFamily="2" charset="-122"/>
                        <a:cs typeface="Times New Roman" panose="02020603050405020304" pitchFamily="18" charset="0"/>
                      </a:endParaRPr>
                    </a:p>
                    <a:p>
                      <a:pPr algn="ctr">
                        <a:lnSpc>
                          <a:spcPct val="150000"/>
                        </a:lnSpc>
                        <a:spcBef>
                          <a:spcPts val="0"/>
                        </a:spcBef>
                        <a:spcAft>
                          <a:spcPts val="0"/>
                        </a:spcAft>
                      </a:pPr>
                      <a:r>
                        <a:rPr lang="zh-CN" sz="1200" dirty="0">
                          <a:effectLst/>
                          <a:latin typeface="Times New Roman" panose="02020603050405020304" pitchFamily="18" charset="0"/>
                          <a:ea typeface="华文楷体" panose="02010600040101010101" pitchFamily="2" charset="-122"/>
                          <a:cs typeface="Times New Roman" panose="02020603050405020304" pitchFamily="18" charset="0"/>
                        </a:rPr>
                        <a:t>数量</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1000"/>
                        </a:spcBef>
                        <a:spcAft>
                          <a:spcPts val="600"/>
                        </a:spcAft>
                      </a:pPr>
                      <a:r>
                        <a:rPr lang="zh-CN" sz="1200">
                          <a:effectLst/>
                          <a:latin typeface="Times New Roman" panose="02020603050405020304" pitchFamily="18" charset="0"/>
                          <a:ea typeface="华文楷体" panose="02010600040101010101" pitchFamily="2" charset="-122"/>
                          <a:cs typeface="Times New Roman" panose="02020603050405020304" pitchFamily="18" charset="0"/>
                        </a:rPr>
                        <a:t>（</a:t>
                      </a:r>
                      <a:r>
                        <a:rPr lang="en-US" sz="1200">
                          <a:effectLst/>
                          <a:latin typeface="Times New Roman" panose="02020603050405020304" pitchFamily="18" charset="0"/>
                          <a:ea typeface="华文楷体" panose="02010600040101010101" pitchFamily="2" charset="-122"/>
                          <a:cs typeface="Times New Roman" panose="02020603050405020304" pitchFamily="18" charset="0"/>
                        </a:rPr>
                        <a:t>2+, 3-</a:t>
                      </a:r>
                      <a:r>
                        <a:rPr lang="zh-CN" sz="1200">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1000"/>
                        </a:spcBef>
                        <a:spcAft>
                          <a:spcPts val="600"/>
                        </a:spcAft>
                      </a:pPr>
                      <a:r>
                        <a:rPr lang="zh-CN" sz="1200">
                          <a:effectLst/>
                          <a:latin typeface="Times New Roman" panose="02020603050405020304" pitchFamily="18" charset="0"/>
                          <a:ea typeface="华文楷体" panose="02010600040101010101" pitchFamily="2" charset="-122"/>
                          <a:cs typeface="Times New Roman" panose="02020603050405020304" pitchFamily="18" charset="0"/>
                        </a:rPr>
                        <a:t>（</a:t>
                      </a:r>
                      <a:r>
                        <a:rPr lang="en-US" sz="1200">
                          <a:effectLst/>
                          <a:latin typeface="Times New Roman" panose="02020603050405020304" pitchFamily="18" charset="0"/>
                          <a:ea typeface="华文楷体" panose="02010600040101010101" pitchFamily="2" charset="-122"/>
                          <a:cs typeface="Times New Roman" panose="02020603050405020304" pitchFamily="18" charset="0"/>
                        </a:rPr>
                        <a:t>4+</a:t>
                      </a:r>
                      <a:r>
                        <a:rPr lang="zh-CN" sz="1200">
                          <a:effectLst/>
                          <a:latin typeface="Times New Roman" panose="02020603050405020304" pitchFamily="18" charset="0"/>
                          <a:ea typeface="华文楷体" panose="02010600040101010101" pitchFamily="2" charset="-122"/>
                          <a:cs typeface="Times New Roman" panose="02020603050405020304" pitchFamily="18" charset="0"/>
                        </a:rPr>
                        <a:t>，</a:t>
                      </a:r>
                      <a:r>
                        <a:rPr lang="en-US" sz="1200">
                          <a:effectLst/>
                          <a:latin typeface="Times New Roman" panose="02020603050405020304" pitchFamily="18" charset="0"/>
                          <a:ea typeface="华文楷体" panose="02010600040101010101" pitchFamily="2" charset="-122"/>
                          <a:cs typeface="Times New Roman" panose="02020603050405020304" pitchFamily="18" charset="0"/>
                        </a:rPr>
                        <a:t>0-</a:t>
                      </a:r>
                      <a:r>
                        <a:rPr lang="zh-CN" sz="1200">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1000"/>
                        </a:spcBef>
                        <a:spcAft>
                          <a:spcPts val="600"/>
                        </a:spcAft>
                      </a:pPr>
                      <a:r>
                        <a:rPr lang="zh-CN" sz="1200" dirty="0">
                          <a:effectLst/>
                          <a:latin typeface="Times New Roman" panose="02020603050405020304" pitchFamily="18" charset="0"/>
                          <a:ea typeface="华文楷体" panose="02010600040101010101" pitchFamily="2" charset="-122"/>
                          <a:cs typeface="Times New Roman" panose="02020603050405020304" pitchFamily="18" charset="0"/>
                        </a:rPr>
                        <a:t>（</a:t>
                      </a:r>
                      <a:r>
                        <a:rPr lang="en-US" sz="1200" dirty="0">
                          <a:effectLst/>
                          <a:latin typeface="Times New Roman" panose="02020603050405020304" pitchFamily="18" charset="0"/>
                          <a:ea typeface="华文楷体" panose="02010600040101010101" pitchFamily="2" charset="-122"/>
                          <a:cs typeface="Times New Roman" panose="02020603050405020304" pitchFamily="18" charset="0"/>
                        </a:rPr>
                        <a:t>3+</a:t>
                      </a:r>
                      <a:r>
                        <a:rPr lang="zh-CN" sz="1200" dirty="0">
                          <a:effectLst/>
                          <a:latin typeface="Times New Roman" panose="02020603050405020304" pitchFamily="18" charset="0"/>
                          <a:ea typeface="华文楷体" panose="02010600040101010101" pitchFamily="2" charset="-122"/>
                          <a:cs typeface="Times New Roman" panose="02020603050405020304" pitchFamily="18" charset="0"/>
                        </a:rPr>
                        <a:t>，</a:t>
                      </a:r>
                      <a:r>
                        <a:rPr lang="en-US" sz="1200" dirty="0">
                          <a:effectLst/>
                          <a:latin typeface="Times New Roman" panose="02020603050405020304" pitchFamily="18" charset="0"/>
                          <a:ea typeface="华文楷体" panose="02010600040101010101" pitchFamily="2" charset="-122"/>
                          <a:cs typeface="Times New Roman" panose="02020603050405020304" pitchFamily="18" charset="0"/>
                        </a:rPr>
                        <a:t>2-</a:t>
                      </a:r>
                      <a:r>
                        <a:rPr lang="zh-CN" sz="1200" dirty="0">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52256967"/>
                  </a:ext>
                </a:extLst>
              </a:tr>
            </a:tbl>
          </a:graphicData>
        </a:graphic>
      </p:graphicFrame>
      <p:graphicFrame>
        <p:nvGraphicFramePr>
          <p:cNvPr id="17" name="对象 16">
            <a:extLst>
              <a:ext uri="{FF2B5EF4-FFF2-40B4-BE49-F238E27FC236}">
                <a16:creationId xmlns:a16="http://schemas.microsoft.com/office/drawing/2014/main" id="{92CED87C-3B1F-4EB0-85A1-34E51BA85ADC}"/>
              </a:ext>
            </a:extLst>
          </p:cNvPr>
          <p:cNvGraphicFramePr>
            <a:graphicFrameLocks noChangeAspect="1"/>
          </p:cNvGraphicFramePr>
          <p:nvPr>
            <p:extLst>
              <p:ext uri="{D42A27DB-BD31-4B8C-83A1-F6EECF244321}">
                <p14:modId xmlns:p14="http://schemas.microsoft.com/office/powerpoint/2010/main" val="1837689862"/>
              </p:ext>
            </p:extLst>
          </p:nvPr>
        </p:nvGraphicFramePr>
        <p:xfrm>
          <a:off x="5768796" y="4273040"/>
          <a:ext cx="161925" cy="238125"/>
        </p:xfrm>
        <a:graphic>
          <a:graphicData uri="http://schemas.openxmlformats.org/presentationml/2006/ole">
            <mc:AlternateContent xmlns:mc="http://schemas.openxmlformats.org/markup-compatibility/2006">
              <mc:Choice xmlns:v="urn:schemas-microsoft-com:vml" Requires="v">
                <p:oleObj spid="_x0000_s2279" name="Equation" r:id="rId4" imgW="152280" imgH="228600" progId="Equation.DSMT4">
                  <p:embed/>
                </p:oleObj>
              </mc:Choice>
              <mc:Fallback>
                <p:oleObj name="Equation" r:id="rId4" imgW="152280" imgH="22860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68796" y="4273040"/>
                        <a:ext cx="161925" cy="238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a:extLst>
              <a:ext uri="{FF2B5EF4-FFF2-40B4-BE49-F238E27FC236}">
                <a16:creationId xmlns:a16="http://schemas.microsoft.com/office/drawing/2014/main" id="{30D80D6F-9E4C-4C49-ABFA-2D8908A8EE60}"/>
              </a:ext>
            </a:extLst>
          </p:cNvPr>
          <p:cNvGraphicFramePr>
            <a:graphicFrameLocks noChangeAspect="1"/>
          </p:cNvGraphicFramePr>
          <p:nvPr>
            <p:extLst>
              <p:ext uri="{D42A27DB-BD31-4B8C-83A1-F6EECF244321}">
                <p14:modId xmlns:p14="http://schemas.microsoft.com/office/powerpoint/2010/main" val="2960775748"/>
              </p:ext>
            </p:extLst>
          </p:nvPr>
        </p:nvGraphicFramePr>
        <p:xfrm>
          <a:off x="5768796" y="4969389"/>
          <a:ext cx="323850" cy="238125"/>
        </p:xfrm>
        <a:graphic>
          <a:graphicData uri="http://schemas.openxmlformats.org/presentationml/2006/ole">
            <mc:AlternateContent xmlns:mc="http://schemas.openxmlformats.org/markup-compatibility/2006">
              <mc:Choice xmlns:v="urn:schemas-microsoft-com:vml" Requires="v">
                <p:oleObj spid="_x0000_s2280" name="Equation" r:id="rId6" imgW="304560" imgH="228600" progId="Equation.DSMT4">
                  <p:embed/>
                </p:oleObj>
              </mc:Choice>
              <mc:Fallback>
                <p:oleObj name="Equation" r:id="rId6" imgW="304560" imgH="228600" progId="Equation.DSMT4">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68796" y="4969389"/>
                        <a:ext cx="323850" cy="238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文本框 20">
            <a:extLst>
              <a:ext uri="{FF2B5EF4-FFF2-40B4-BE49-F238E27FC236}">
                <a16:creationId xmlns:a16="http://schemas.microsoft.com/office/drawing/2014/main" id="{084CBF90-B161-4A1F-A159-11571858B05A}"/>
              </a:ext>
            </a:extLst>
          </p:cNvPr>
          <p:cNvSpPr txBox="1"/>
          <p:nvPr/>
        </p:nvSpPr>
        <p:spPr>
          <a:xfrm>
            <a:off x="4572000" y="3451744"/>
            <a:ext cx="4572000" cy="424412"/>
          </a:xfrm>
          <a:prstGeom prst="rect">
            <a:avLst/>
          </a:prstGeom>
          <a:noFill/>
        </p:spPr>
        <p:txBody>
          <a:bodyPr wrap="square">
            <a:spAutoFit/>
          </a:bodyPr>
          <a:lstStyle/>
          <a:p>
            <a:pPr algn="ctr">
              <a:lnSpc>
                <a:spcPct val="150000"/>
              </a:lnSpc>
              <a:spcBef>
                <a:spcPts val="1000"/>
              </a:spcBef>
              <a:spcAft>
                <a:spcPts val="600"/>
              </a:spcAft>
            </a:pPr>
            <a:r>
              <a:rPr lang="zh-CN" altLang="zh-CN" sz="1600" b="1" dirty="0">
                <a:effectLst/>
                <a:latin typeface="Times New Roman" panose="02020603050405020304" pitchFamily="18" charset="0"/>
                <a:ea typeface="华文楷体" panose="02010600040101010101" pitchFamily="2" charset="-122"/>
                <a:cs typeface="Times New Roman" panose="02020603050405020304" pitchFamily="18" charset="0"/>
              </a:rPr>
              <a:t>表 </a:t>
            </a:r>
            <a:r>
              <a:rPr lang="en-US" altLang="zh-CN" sz="1600" b="1" dirty="0">
                <a:effectLst/>
                <a:latin typeface="Times New Roman" panose="02020603050405020304" pitchFamily="18" charset="0"/>
                <a:ea typeface="华文楷体" panose="02010600040101010101" pitchFamily="2" charset="-122"/>
                <a:cs typeface="Times New Roman" panose="02020603050405020304" pitchFamily="18" charset="0"/>
              </a:rPr>
              <a:t>4.7 </a:t>
            </a:r>
            <a:r>
              <a:rPr lang="zh-CN" altLang="zh-CN" sz="1600" b="1" dirty="0">
                <a:effectLst/>
                <a:latin typeface="Times New Roman" panose="02020603050405020304" pitchFamily="18" charset="0"/>
                <a:ea typeface="华文楷体" panose="02010600040101010101" pitchFamily="2" charset="-122"/>
                <a:cs typeface="Times New Roman" panose="02020603050405020304" pitchFamily="18" charset="0"/>
              </a:rPr>
              <a:t>年龄属性划分后子样本集情况统计</a:t>
            </a:r>
            <a:endParaRPr lang="zh-CN" altLang="zh-CN" sz="1600" dirty="0">
              <a:effectLst/>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3BD46A4C-612B-412F-B073-9943958AFB37}"/>
              </a:ext>
            </a:extLst>
          </p:cNvPr>
          <p:cNvSpPr>
            <a:spLocks noGrp="1"/>
          </p:cNvSpPr>
          <p:nvPr>
            <p:ph type="sldNum" sz="quarter" idx="12"/>
          </p:nvPr>
        </p:nvSpPr>
        <p:spPr/>
        <p:txBody>
          <a:bodyPr/>
          <a:lstStyle/>
          <a:p>
            <a:fld id="{5AD84F5B-1672-4D3F-9FEC-5DF89A7B7912}" type="slidenum">
              <a:rPr lang="zh-CN" altLang="en-US" smtClean="0"/>
              <a:t>28</a:t>
            </a:fld>
            <a:endParaRPr lang="zh-CN" altLang="en-US"/>
          </a:p>
        </p:txBody>
      </p:sp>
      <p:sp>
        <p:nvSpPr>
          <p:cNvPr id="3" name="页脚占位符 2">
            <a:extLst>
              <a:ext uri="{FF2B5EF4-FFF2-40B4-BE49-F238E27FC236}">
                <a16:creationId xmlns:a16="http://schemas.microsoft.com/office/drawing/2014/main" id="{092061A1-408A-4023-AA42-7DC7D380F024}"/>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5573744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3">
            <a:extLst>
              <a:ext uri="{FF2B5EF4-FFF2-40B4-BE49-F238E27FC236}">
                <a16:creationId xmlns:a16="http://schemas.microsoft.com/office/drawing/2014/main" id="{5AE4498C-D467-4B6C-84A1-646F622D9ECC}"/>
              </a:ext>
            </a:extLst>
          </p:cNvPr>
          <p:cNvSpPr txBox="1">
            <a:spLocks/>
          </p:cNvSpPr>
          <p:nvPr/>
        </p:nvSpPr>
        <p:spPr>
          <a:xfrm>
            <a:off x="0" y="0"/>
            <a:ext cx="9144000" cy="817721"/>
          </a:xfrm>
          <a:prstGeom prst="rect">
            <a:avLst/>
          </a:prstGeom>
        </p:spPr>
        <p:txBody>
          <a:bodyPr vert="horz" lIns="91440" tIns="144000" rIns="91440" bIns="45720" rtlCol="0" anchor="ctr">
            <a:noAutofit/>
          </a:bodyPr>
          <a:lst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a:lstStyle>
          <a:p>
            <a:endParaRPr lang="zh-CN" altLang="en-US"/>
          </a:p>
        </p:txBody>
      </p:sp>
      <p:sp>
        <p:nvSpPr>
          <p:cNvPr id="13" name="标题 1">
            <a:extLst>
              <a:ext uri="{FF2B5EF4-FFF2-40B4-BE49-F238E27FC236}">
                <a16:creationId xmlns:a16="http://schemas.microsoft.com/office/drawing/2014/main" id="{60FE5641-D8E9-436E-88E3-D0E72DA7FAED}"/>
              </a:ext>
            </a:extLst>
          </p:cNvPr>
          <p:cNvSpPr>
            <a:spLocks noGrp="1"/>
          </p:cNvSpPr>
          <p:nvPr>
            <p:ph type="title"/>
          </p:nvPr>
        </p:nvSpPr>
        <p:spPr>
          <a:xfrm>
            <a:off x="0" y="4763"/>
            <a:ext cx="9144000" cy="817562"/>
          </a:xfrm>
        </p:spPr>
        <p:txBody>
          <a:bodyPr/>
          <a:lstStyle/>
          <a:p>
            <a:pPr marL="0" defTabSz="914400" fontAlgn="base">
              <a:spcAft>
                <a:spcPct val="0"/>
              </a:spcAft>
              <a:defRPr/>
            </a:pPr>
            <a:r>
              <a:rPr lang="zh-CN" altLang="en-US" sz="2400" dirty="0">
                <a:latin typeface="Times New Roman" panose="02020603050405020304" pitchFamily="18" charset="0"/>
                <a:cs typeface="Times New Roman" panose="02020603050405020304" pitchFamily="18" charset="0"/>
              </a:rPr>
              <a:t>决策树：</a:t>
            </a:r>
            <a:r>
              <a:rPr lang="zh-CN" altLang="en-US" sz="2400" kern="0" dirty="0">
                <a:solidFill>
                  <a:srgbClr val="0070C0"/>
                </a:solidFill>
                <a:latin typeface="Times New Roman" pitchFamily="18" charset="0"/>
                <a:cs typeface="Times New Roman" pitchFamily="18" charset="0"/>
              </a:rPr>
              <a:t>信息熵</a:t>
            </a:r>
          </a:p>
        </p:txBody>
      </p:sp>
      <p:graphicFrame>
        <p:nvGraphicFramePr>
          <p:cNvPr id="16" name="表格 15">
            <a:extLst>
              <a:ext uri="{FF2B5EF4-FFF2-40B4-BE49-F238E27FC236}">
                <a16:creationId xmlns:a16="http://schemas.microsoft.com/office/drawing/2014/main" id="{A365FFC3-233B-49FA-8243-3E9EDCECCEEB}"/>
              </a:ext>
            </a:extLst>
          </p:cNvPr>
          <p:cNvGraphicFramePr>
            <a:graphicFrameLocks noGrp="1"/>
          </p:cNvGraphicFramePr>
          <p:nvPr>
            <p:extLst>
              <p:ext uri="{D42A27DB-BD31-4B8C-83A1-F6EECF244321}">
                <p14:modId xmlns:p14="http://schemas.microsoft.com/office/powerpoint/2010/main" val="420051133"/>
              </p:ext>
            </p:extLst>
          </p:nvPr>
        </p:nvGraphicFramePr>
        <p:xfrm>
          <a:off x="2624071" y="1455405"/>
          <a:ext cx="3895857" cy="1990995"/>
        </p:xfrm>
        <a:graphic>
          <a:graphicData uri="http://schemas.openxmlformats.org/drawingml/2006/table">
            <a:tbl>
              <a:tblPr firstRow="1" firstCol="1" bandRow="1"/>
              <a:tblGrid>
                <a:gridCol w="1035684">
                  <a:extLst>
                    <a:ext uri="{9D8B030D-6E8A-4147-A177-3AD203B41FA5}">
                      <a16:colId xmlns:a16="http://schemas.microsoft.com/office/drawing/2014/main" val="534599750"/>
                    </a:ext>
                  </a:extLst>
                </a:gridCol>
                <a:gridCol w="957995">
                  <a:extLst>
                    <a:ext uri="{9D8B030D-6E8A-4147-A177-3AD203B41FA5}">
                      <a16:colId xmlns:a16="http://schemas.microsoft.com/office/drawing/2014/main" val="3137200550"/>
                    </a:ext>
                  </a:extLst>
                </a:gridCol>
                <a:gridCol w="935394">
                  <a:extLst>
                    <a:ext uri="{9D8B030D-6E8A-4147-A177-3AD203B41FA5}">
                      <a16:colId xmlns:a16="http://schemas.microsoft.com/office/drawing/2014/main" val="3341751084"/>
                    </a:ext>
                  </a:extLst>
                </a:gridCol>
                <a:gridCol w="966784">
                  <a:extLst>
                    <a:ext uri="{9D8B030D-6E8A-4147-A177-3AD203B41FA5}">
                      <a16:colId xmlns:a16="http://schemas.microsoft.com/office/drawing/2014/main" val="3025034656"/>
                    </a:ext>
                  </a:extLst>
                </a:gridCol>
              </a:tblGrid>
              <a:tr h="663665">
                <a:tc>
                  <a:txBody>
                    <a:bodyPr/>
                    <a:lstStyle/>
                    <a:p>
                      <a:pPr algn="ctr">
                        <a:lnSpc>
                          <a:spcPct val="150000"/>
                        </a:lnSpc>
                        <a:spcBef>
                          <a:spcPts val="0"/>
                        </a:spcBef>
                        <a:spcAft>
                          <a:spcPts val="0"/>
                        </a:spcAft>
                      </a:pPr>
                      <a:r>
                        <a:rPr lang="zh-CN" sz="1200" dirty="0">
                          <a:effectLst/>
                          <a:latin typeface="Times New Roman" panose="02020603050405020304" pitchFamily="18" charset="0"/>
                          <a:ea typeface="华文楷体" panose="02010600040101010101" pitchFamily="2" charset="-122"/>
                          <a:cs typeface="Times New Roman" panose="02020603050405020304" pitchFamily="18" charset="0"/>
                        </a:rPr>
                        <a:t>年龄属性</a:t>
                      </a:r>
                      <a:endParaRPr lang="en-US" altLang="zh-CN" sz="1200" dirty="0">
                        <a:effectLst/>
                        <a:latin typeface="Times New Roman" panose="02020603050405020304" pitchFamily="18" charset="0"/>
                        <a:ea typeface="华文楷体" panose="02010600040101010101" pitchFamily="2" charset="-122"/>
                        <a:cs typeface="Times New Roman" panose="02020603050405020304" pitchFamily="18" charset="0"/>
                      </a:endParaRPr>
                    </a:p>
                    <a:p>
                      <a:pPr algn="ctr">
                        <a:lnSpc>
                          <a:spcPct val="150000"/>
                        </a:lnSpc>
                        <a:spcBef>
                          <a:spcPts val="0"/>
                        </a:spcBef>
                        <a:spcAft>
                          <a:spcPts val="0"/>
                        </a:spcAft>
                      </a:pPr>
                      <a:r>
                        <a:rPr lang="zh-CN" sz="1200" dirty="0">
                          <a:effectLst/>
                          <a:latin typeface="Times New Roman" panose="02020603050405020304" pitchFamily="18" charset="0"/>
                          <a:ea typeface="华文楷体" panose="02010600040101010101" pitchFamily="2" charset="-122"/>
                          <a:cs typeface="Times New Roman" panose="02020603050405020304" pitchFamily="18" charset="0"/>
                        </a:rPr>
                        <a:t>取值</a:t>
                      </a:r>
                      <a:r>
                        <a:rPr lang="en-US" sz="1200" dirty="0">
                          <a:effectLst/>
                          <a:latin typeface="Times New Roman" panose="02020603050405020304" pitchFamily="18" charset="0"/>
                          <a:ea typeface="华文楷体" panose="02010600040101010101" pitchFamily="2" charset="-122"/>
                          <a:cs typeface="Times New Roman" panose="02020603050405020304" pitchFamily="18" charset="0"/>
                        </a:rPr>
                        <a:t> </a:t>
                      </a:r>
                      <a:endParaRPr lang="zh-CN" sz="1200" dirty="0">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1000"/>
                        </a:spcBef>
                        <a:spcAft>
                          <a:spcPts val="600"/>
                        </a:spcAft>
                      </a:pPr>
                      <a:r>
                        <a:rPr lang="en-US" sz="1200">
                          <a:effectLst/>
                          <a:latin typeface="Times New Roman" panose="02020603050405020304" pitchFamily="18" charset="0"/>
                          <a:ea typeface="华文楷体" panose="02010600040101010101" pitchFamily="2" charset="-122"/>
                          <a:cs typeface="Times New Roman" panose="02020603050405020304" pitchFamily="18" charset="0"/>
                        </a:rPr>
                        <a:t>“&gt;30”</a:t>
                      </a:r>
                      <a:endParaRPr lang="zh-CN" sz="1200">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1000"/>
                        </a:spcBef>
                        <a:spcAft>
                          <a:spcPts val="600"/>
                        </a:spcAft>
                      </a:pPr>
                      <a:r>
                        <a:rPr lang="en-US" sz="1200">
                          <a:effectLst/>
                          <a:latin typeface="Times New Roman" panose="02020603050405020304" pitchFamily="18" charset="0"/>
                          <a:ea typeface="华文楷体" panose="02010600040101010101" pitchFamily="2" charset="-122"/>
                          <a:cs typeface="Times New Roman" panose="02020603050405020304" pitchFamily="18" charset="0"/>
                        </a:rPr>
                        <a:t>“20~30”</a:t>
                      </a:r>
                      <a:endParaRPr lang="zh-CN" sz="1200">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1000"/>
                        </a:spcBef>
                        <a:spcAft>
                          <a:spcPts val="600"/>
                        </a:spcAft>
                      </a:pPr>
                      <a:r>
                        <a:rPr lang="en-US" sz="1200">
                          <a:effectLst/>
                          <a:latin typeface="Times New Roman" panose="02020603050405020304" pitchFamily="18" charset="0"/>
                          <a:ea typeface="华文楷体" panose="02010600040101010101" pitchFamily="2" charset="-122"/>
                          <a:cs typeface="Times New Roman" panose="02020603050405020304" pitchFamily="18" charset="0"/>
                        </a:rPr>
                        <a:t>“&lt;20”</a:t>
                      </a:r>
                      <a:endParaRPr lang="zh-CN" sz="1200">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88489024"/>
                  </a:ext>
                </a:extLst>
              </a:tr>
              <a:tr h="663665">
                <a:tc>
                  <a:txBody>
                    <a:bodyPr/>
                    <a:lstStyle/>
                    <a:p>
                      <a:pPr algn="ctr">
                        <a:lnSpc>
                          <a:spcPct val="150000"/>
                        </a:lnSpc>
                        <a:spcBef>
                          <a:spcPts val="0"/>
                        </a:spcBef>
                        <a:spcAft>
                          <a:spcPts val="0"/>
                        </a:spcAft>
                      </a:pPr>
                      <a:r>
                        <a:rPr lang="zh-CN" sz="1200" dirty="0">
                          <a:effectLst/>
                          <a:latin typeface="Times New Roman" panose="02020603050405020304" pitchFamily="18" charset="0"/>
                          <a:ea typeface="华文楷体" panose="02010600040101010101" pitchFamily="2" charset="-122"/>
                          <a:cs typeface="Times New Roman" panose="02020603050405020304" pitchFamily="18" charset="0"/>
                        </a:rPr>
                        <a:t>对应样</a:t>
                      </a:r>
                      <a:endParaRPr lang="en-US" altLang="zh-CN" sz="1200" dirty="0">
                        <a:effectLst/>
                        <a:latin typeface="Times New Roman" panose="02020603050405020304" pitchFamily="18" charset="0"/>
                        <a:ea typeface="华文楷体" panose="02010600040101010101" pitchFamily="2" charset="-122"/>
                        <a:cs typeface="Times New Roman" panose="02020603050405020304" pitchFamily="18" charset="0"/>
                      </a:endParaRPr>
                    </a:p>
                    <a:p>
                      <a:pPr algn="ctr">
                        <a:lnSpc>
                          <a:spcPct val="150000"/>
                        </a:lnSpc>
                        <a:spcBef>
                          <a:spcPts val="0"/>
                        </a:spcBef>
                        <a:spcAft>
                          <a:spcPts val="0"/>
                        </a:spcAft>
                      </a:pPr>
                      <a:r>
                        <a:rPr lang="zh-CN" sz="1200" dirty="0">
                          <a:effectLst/>
                          <a:latin typeface="Times New Roman" panose="02020603050405020304" pitchFamily="18" charset="0"/>
                          <a:ea typeface="华文楷体" panose="02010600040101010101" pitchFamily="2" charset="-122"/>
                          <a:cs typeface="Times New Roman" panose="02020603050405020304" pitchFamily="18" charset="0"/>
                        </a:rPr>
                        <a:t>本数</a:t>
                      </a:r>
                      <a:r>
                        <a:rPr lang="en-US" sz="1200" dirty="0">
                          <a:effectLst/>
                          <a:latin typeface="Times New Roman" panose="02020603050405020304" pitchFamily="18" charset="0"/>
                          <a:ea typeface="华文楷体" panose="02010600040101010101" pitchFamily="2" charset="-122"/>
                          <a:cs typeface="Times New Roman" panose="02020603050405020304" pitchFamily="18" charset="0"/>
                        </a:rPr>
                        <a:t> </a:t>
                      </a:r>
                      <a:endParaRPr lang="zh-CN" sz="1200" dirty="0">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1000"/>
                        </a:spcBef>
                        <a:spcAft>
                          <a:spcPts val="600"/>
                        </a:spcAft>
                      </a:pPr>
                      <a:r>
                        <a:rPr lang="en-US" sz="1200" dirty="0">
                          <a:effectLst/>
                          <a:latin typeface="Times New Roman" panose="02020603050405020304" pitchFamily="18" charset="0"/>
                          <a:ea typeface="华文楷体" panose="02010600040101010101" pitchFamily="2" charset="-122"/>
                          <a:cs typeface="Times New Roman" panose="02020603050405020304" pitchFamily="18" charset="0"/>
                        </a:rPr>
                        <a:t>5</a:t>
                      </a:r>
                      <a:endParaRPr lang="zh-CN" sz="1200" dirty="0">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1000"/>
                        </a:spcBef>
                        <a:spcAft>
                          <a:spcPts val="600"/>
                        </a:spcAft>
                      </a:pPr>
                      <a:r>
                        <a:rPr lang="en-US" sz="1200">
                          <a:effectLst/>
                          <a:latin typeface="Times New Roman" panose="02020603050405020304" pitchFamily="18" charset="0"/>
                          <a:ea typeface="华文楷体" panose="02010600040101010101" pitchFamily="2" charset="-122"/>
                          <a:cs typeface="Times New Roman" panose="02020603050405020304" pitchFamily="18" charset="0"/>
                        </a:rPr>
                        <a:t>4</a:t>
                      </a:r>
                      <a:endParaRPr lang="zh-CN" sz="1200">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1000"/>
                        </a:spcBef>
                        <a:spcAft>
                          <a:spcPts val="600"/>
                        </a:spcAft>
                      </a:pPr>
                      <a:r>
                        <a:rPr lang="en-US" sz="1200" dirty="0">
                          <a:effectLst/>
                          <a:latin typeface="Times New Roman" panose="02020603050405020304" pitchFamily="18" charset="0"/>
                          <a:ea typeface="华文楷体" panose="02010600040101010101" pitchFamily="2" charset="-122"/>
                          <a:cs typeface="Times New Roman" panose="02020603050405020304" pitchFamily="18" charset="0"/>
                        </a:rPr>
                        <a:t>5</a:t>
                      </a:r>
                      <a:endParaRPr lang="zh-CN" sz="1200" dirty="0">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7473175"/>
                  </a:ext>
                </a:extLst>
              </a:tr>
              <a:tr h="663665">
                <a:tc>
                  <a:txBody>
                    <a:bodyPr/>
                    <a:lstStyle/>
                    <a:p>
                      <a:pPr algn="ctr">
                        <a:lnSpc>
                          <a:spcPct val="150000"/>
                        </a:lnSpc>
                        <a:spcBef>
                          <a:spcPts val="0"/>
                        </a:spcBef>
                        <a:spcAft>
                          <a:spcPts val="0"/>
                        </a:spcAft>
                      </a:pPr>
                      <a:r>
                        <a:rPr lang="zh-CN" sz="1200" dirty="0">
                          <a:effectLst/>
                          <a:latin typeface="Times New Roman" panose="02020603050405020304" pitchFamily="18" charset="0"/>
                          <a:ea typeface="华文楷体" panose="02010600040101010101" pitchFamily="2" charset="-122"/>
                          <a:cs typeface="Times New Roman" panose="02020603050405020304" pitchFamily="18" charset="0"/>
                        </a:rPr>
                        <a:t>正负样本</a:t>
                      </a:r>
                      <a:endParaRPr lang="en-US" altLang="zh-CN" sz="1200" dirty="0">
                        <a:effectLst/>
                        <a:latin typeface="Times New Roman" panose="02020603050405020304" pitchFamily="18" charset="0"/>
                        <a:ea typeface="华文楷体" panose="02010600040101010101" pitchFamily="2" charset="-122"/>
                        <a:cs typeface="Times New Roman" panose="02020603050405020304" pitchFamily="18" charset="0"/>
                      </a:endParaRPr>
                    </a:p>
                    <a:p>
                      <a:pPr algn="ctr">
                        <a:lnSpc>
                          <a:spcPct val="150000"/>
                        </a:lnSpc>
                        <a:spcBef>
                          <a:spcPts val="0"/>
                        </a:spcBef>
                        <a:spcAft>
                          <a:spcPts val="0"/>
                        </a:spcAft>
                      </a:pPr>
                      <a:r>
                        <a:rPr lang="zh-CN" sz="1200" dirty="0">
                          <a:effectLst/>
                          <a:latin typeface="Times New Roman" panose="02020603050405020304" pitchFamily="18" charset="0"/>
                          <a:ea typeface="华文楷体" panose="02010600040101010101" pitchFamily="2" charset="-122"/>
                          <a:cs typeface="Times New Roman" panose="02020603050405020304" pitchFamily="18" charset="0"/>
                        </a:rPr>
                        <a:t>数量</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1000"/>
                        </a:spcBef>
                        <a:spcAft>
                          <a:spcPts val="600"/>
                        </a:spcAft>
                      </a:pPr>
                      <a:r>
                        <a:rPr lang="zh-CN" sz="1200" dirty="0">
                          <a:effectLst/>
                          <a:latin typeface="Times New Roman" panose="02020603050405020304" pitchFamily="18" charset="0"/>
                          <a:ea typeface="华文楷体" panose="02010600040101010101" pitchFamily="2" charset="-122"/>
                          <a:cs typeface="Times New Roman" panose="02020603050405020304" pitchFamily="18" charset="0"/>
                        </a:rPr>
                        <a:t>（</a:t>
                      </a:r>
                      <a:r>
                        <a:rPr lang="en-US" sz="1200" dirty="0">
                          <a:effectLst/>
                          <a:latin typeface="Times New Roman" panose="02020603050405020304" pitchFamily="18" charset="0"/>
                          <a:ea typeface="华文楷体" panose="02010600040101010101" pitchFamily="2" charset="-122"/>
                          <a:cs typeface="Times New Roman" panose="02020603050405020304" pitchFamily="18" charset="0"/>
                        </a:rPr>
                        <a:t>2+, 3-</a:t>
                      </a:r>
                      <a:r>
                        <a:rPr lang="zh-CN" sz="1200" dirty="0">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1000"/>
                        </a:spcBef>
                        <a:spcAft>
                          <a:spcPts val="600"/>
                        </a:spcAft>
                      </a:pPr>
                      <a:r>
                        <a:rPr lang="zh-CN" sz="1200">
                          <a:effectLst/>
                          <a:latin typeface="Times New Roman" panose="02020603050405020304" pitchFamily="18" charset="0"/>
                          <a:ea typeface="华文楷体" panose="02010600040101010101" pitchFamily="2" charset="-122"/>
                          <a:cs typeface="Times New Roman" panose="02020603050405020304" pitchFamily="18" charset="0"/>
                        </a:rPr>
                        <a:t>（</a:t>
                      </a:r>
                      <a:r>
                        <a:rPr lang="en-US" sz="1200">
                          <a:effectLst/>
                          <a:latin typeface="Times New Roman" panose="02020603050405020304" pitchFamily="18" charset="0"/>
                          <a:ea typeface="华文楷体" panose="02010600040101010101" pitchFamily="2" charset="-122"/>
                          <a:cs typeface="Times New Roman" panose="02020603050405020304" pitchFamily="18" charset="0"/>
                        </a:rPr>
                        <a:t>4+</a:t>
                      </a:r>
                      <a:r>
                        <a:rPr lang="zh-CN" sz="1200">
                          <a:effectLst/>
                          <a:latin typeface="Times New Roman" panose="02020603050405020304" pitchFamily="18" charset="0"/>
                          <a:ea typeface="华文楷体" panose="02010600040101010101" pitchFamily="2" charset="-122"/>
                          <a:cs typeface="Times New Roman" panose="02020603050405020304" pitchFamily="18" charset="0"/>
                        </a:rPr>
                        <a:t>，</a:t>
                      </a:r>
                      <a:r>
                        <a:rPr lang="en-US" sz="1200">
                          <a:effectLst/>
                          <a:latin typeface="Times New Roman" panose="02020603050405020304" pitchFamily="18" charset="0"/>
                          <a:ea typeface="华文楷体" panose="02010600040101010101" pitchFamily="2" charset="-122"/>
                          <a:cs typeface="Times New Roman" panose="02020603050405020304" pitchFamily="18" charset="0"/>
                        </a:rPr>
                        <a:t>0-</a:t>
                      </a:r>
                      <a:r>
                        <a:rPr lang="zh-CN" sz="1200">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Bef>
                          <a:spcPts val="1000"/>
                        </a:spcBef>
                        <a:spcAft>
                          <a:spcPts val="600"/>
                        </a:spcAft>
                      </a:pPr>
                      <a:r>
                        <a:rPr lang="zh-CN" sz="1200" dirty="0">
                          <a:effectLst/>
                          <a:latin typeface="Times New Roman" panose="02020603050405020304" pitchFamily="18" charset="0"/>
                          <a:ea typeface="华文楷体" panose="02010600040101010101" pitchFamily="2" charset="-122"/>
                          <a:cs typeface="Times New Roman" panose="02020603050405020304" pitchFamily="18" charset="0"/>
                        </a:rPr>
                        <a:t>（</a:t>
                      </a:r>
                      <a:r>
                        <a:rPr lang="en-US" sz="1200" dirty="0">
                          <a:effectLst/>
                          <a:latin typeface="Times New Roman" panose="02020603050405020304" pitchFamily="18" charset="0"/>
                          <a:ea typeface="华文楷体" panose="02010600040101010101" pitchFamily="2" charset="-122"/>
                          <a:cs typeface="Times New Roman" panose="02020603050405020304" pitchFamily="18" charset="0"/>
                        </a:rPr>
                        <a:t>3+</a:t>
                      </a:r>
                      <a:r>
                        <a:rPr lang="zh-CN" sz="1200" dirty="0">
                          <a:effectLst/>
                          <a:latin typeface="Times New Roman" panose="02020603050405020304" pitchFamily="18" charset="0"/>
                          <a:ea typeface="华文楷体" panose="02010600040101010101" pitchFamily="2" charset="-122"/>
                          <a:cs typeface="Times New Roman" panose="02020603050405020304" pitchFamily="18" charset="0"/>
                        </a:rPr>
                        <a:t>，</a:t>
                      </a:r>
                      <a:r>
                        <a:rPr lang="en-US" sz="1200" dirty="0">
                          <a:effectLst/>
                          <a:latin typeface="Times New Roman" panose="02020603050405020304" pitchFamily="18" charset="0"/>
                          <a:ea typeface="华文楷体" panose="02010600040101010101" pitchFamily="2" charset="-122"/>
                          <a:cs typeface="Times New Roman" panose="02020603050405020304" pitchFamily="18" charset="0"/>
                        </a:rPr>
                        <a:t>2-</a:t>
                      </a:r>
                      <a:r>
                        <a:rPr lang="zh-CN" sz="1200" dirty="0">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52256967"/>
                  </a:ext>
                </a:extLst>
              </a:tr>
            </a:tbl>
          </a:graphicData>
        </a:graphic>
      </p:graphicFrame>
      <p:graphicFrame>
        <p:nvGraphicFramePr>
          <p:cNvPr id="17" name="对象 16">
            <a:extLst>
              <a:ext uri="{FF2B5EF4-FFF2-40B4-BE49-F238E27FC236}">
                <a16:creationId xmlns:a16="http://schemas.microsoft.com/office/drawing/2014/main" id="{92CED87C-3B1F-4EB0-85A1-34E51BA85ADC}"/>
              </a:ext>
            </a:extLst>
          </p:cNvPr>
          <p:cNvGraphicFramePr>
            <a:graphicFrameLocks noChangeAspect="1"/>
          </p:cNvGraphicFramePr>
          <p:nvPr>
            <p:extLst>
              <p:ext uri="{D42A27DB-BD31-4B8C-83A1-F6EECF244321}">
                <p14:modId xmlns:p14="http://schemas.microsoft.com/office/powerpoint/2010/main" val="1612826552"/>
              </p:ext>
            </p:extLst>
          </p:nvPr>
        </p:nvGraphicFramePr>
        <p:xfrm>
          <a:off x="3310531" y="1776887"/>
          <a:ext cx="201329" cy="296072"/>
        </p:xfrm>
        <a:graphic>
          <a:graphicData uri="http://schemas.openxmlformats.org/presentationml/2006/ole">
            <mc:AlternateContent xmlns:mc="http://schemas.openxmlformats.org/markup-compatibility/2006">
              <mc:Choice xmlns:v="urn:schemas-microsoft-com:vml" Requires="v">
                <p:oleObj spid="_x0000_s3300" name="Equation" r:id="rId3" imgW="152280" imgH="228600" progId="Equation.DSMT4">
                  <p:embed/>
                </p:oleObj>
              </mc:Choice>
              <mc:Fallback>
                <p:oleObj name="Equation" r:id="rId3" imgW="152280" imgH="228600" progId="Equation.DSMT4">
                  <p:embed/>
                  <p:pic>
                    <p:nvPicPr>
                      <p:cNvPr id="17" name="对象 16">
                        <a:extLst>
                          <a:ext uri="{FF2B5EF4-FFF2-40B4-BE49-F238E27FC236}">
                            <a16:creationId xmlns:a16="http://schemas.microsoft.com/office/drawing/2014/main" id="{92CED87C-3B1F-4EB0-85A1-34E51BA85A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0531" y="1776887"/>
                        <a:ext cx="201329" cy="296072"/>
                      </a:xfrm>
                      <a:prstGeom prst="rect">
                        <a:avLst/>
                      </a:prstGeom>
                      <a:noFill/>
                    </p:spPr>
                  </p:pic>
                </p:oleObj>
              </mc:Fallback>
            </mc:AlternateContent>
          </a:graphicData>
        </a:graphic>
      </p:graphicFrame>
      <p:graphicFrame>
        <p:nvGraphicFramePr>
          <p:cNvPr id="18" name="对象 17">
            <a:extLst>
              <a:ext uri="{FF2B5EF4-FFF2-40B4-BE49-F238E27FC236}">
                <a16:creationId xmlns:a16="http://schemas.microsoft.com/office/drawing/2014/main" id="{30D80D6F-9E4C-4C49-ABFA-2D8908A8EE60}"/>
              </a:ext>
            </a:extLst>
          </p:cNvPr>
          <p:cNvGraphicFramePr>
            <a:graphicFrameLocks noChangeAspect="1"/>
          </p:cNvGraphicFramePr>
          <p:nvPr>
            <p:extLst>
              <p:ext uri="{D42A27DB-BD31-4B8C-83A1-F6EECF244321}">
                <p14:modId xmlns:p14="http://schemas.microsoft.com/office/powerpoint/2010/main" val="2147689623"/>
              </p:ext>
            </p:extLst>
          </p:nvPr>
        </p:nvGraphicFramePr>
        <p:xfrm>
          <a:off x="3310531" y="2514234"/>
          <a:ext cx="323850" cy="238125"/>
        </p:xfrm>
        <a:graphic>
          <a:graphicData uri="http://schemas.openxmlformats.org/presentationml/2006/ole">
            <mc:AlternateContent xmlns:mc="http://schemas.openxmlformats.org/markup-compatibility/2006">
              <mc:Choice xmlns:v="urn:schemas-microsoft-com:vml" Requires="v">
                <p:oleObj spid="_x0000_s3301" name="Equation" r:id="rId5" imgW="304560" imgH="228600" progId="Equation.DSMT4">
                  <p:embed/>
                </p:oleObj>
              </mc:Choice>
              <mc:Fallback>
                <p:oleObj name="Equation" r:id="rId5" imgW="304560" imgH="228600" progId="Equation.DSMT4">
                  <p:embed/>
                  <p:pic>
                    <p:nvPicPr>
                      <p:cNvPr id="18" name="对象 17">
                        <a:extLst>
                          <a:ext uri="{FF2B5EF4-FFF2-40B4-BE49-F238E27FC236}">
                            <a16:creationId xmlns:a16="http://schemas.microsoft.com/office/drawing/2014/main" id="{30D80D6F-9E4C-4C49-ABFA-2D8908A8EE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10531" y="2514234"/>
                        <a:ext cx="323850" cy="238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DD72DD40-51D3-4DA5-A37E-CAA37BC9BB33}"/>
                  </a:ext>
                </a:extLst>
              </p:cNvPr>
              <p:cNvSpPr txBox="1"/>
              <p:nvPr/>
            </p:nvSpPr>
            <p:spPr>
              <a:xfrm>
                <a:off x="629464" y="3782807"/>
                <a:ext cx="7765961" cy="2074799"/>
              </a:xfrm>
              <a:prstGeom prst="rect">
                <a:avLst/>
              </a:prstGeom>
              <a:noFill/>
            </p:spPr>
            <p:txBody>
              <a:bodyPr wrap="square">
                <a:spAutoFit/>
              </a:bodyPr>
              <a:lstStyle/>
              <a:p>
                <a:pPr algn="just">
                  <a:spcBef>
                    <a:spcPts val="1000"/>
                  </a:spcBef>
                  <a:spcAft>
                    <a:spcPts val="300"/>
                  </a:spcAft>
                </a:pPr>
                <a14:m>
                  <m:oMathPara xmlns:m="http://schemas.openxmlformats.org/officeDocument/2006/math">
                    <m:oMathParaPr>
                      <m:jc m:val="centerGroup"/>
                    </m:oMathParaPr>
                    <m:oMath xmlns:m="http://schemas.openxmlformats.org/officeDocument/2006/math">
                      <m:r>
                        <a:rPr lang="en-US" altLang="zh-CN" sz="1800" smtClean="0">
                          <a:effectLst/>
                          <a:latin typeface="Cambria Math" panose="02040503050406030204" pitchFamily="18" charset="0"/>
                          <a:ea typeface="华文楷体" panose="02010600040101010101" pitchFamily="2" charset="-122"/>
                          <a:cs typeface="Times New Roman" panose="02020603050405020304" pitchFamily="18" charset="0"/>
                        </a:rPr>
                        <m:t>“</m:t>
                      </m:r>
                      <m:r>
                        <a:rPr lang="zh-CN" altLang="zh-CN" sz="1800">
                          <a:effectLst/>
                          <a:latin typeface="Cambria Math" panose="02040503050406030204" pitchFamily="18" charset="0"/>
                          <a:ea typeface="华文楷体" panose="02010600040101010101" pitchFamily="2" charset="-122"/>
                          <a:cs typeface="Times New Roman" panose="02020603050405020304" pitchFamily="18" charset="0"/>
                        </a:rPr>
                        <m:t>年龄</m:t>
                      </m:r>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&gt;30”:   </m:t>
                      </m:r>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𝐸𝑛𝑡</m:t>
                      </m:r>
                      <m:d>
                        <m:d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𝐷</m:t>
                              </m:r>
                            </m:e>
                            <m:sub>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0</m:t>
                              </m:r>
                            </m:sub>
                          </m:sSub>
                        </m:e>
                      </m:d>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m:t>
                      </m:r>
                      <m:d>
                        <m:d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dPr>
                        <m:e>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2</m:t>
                              </m:r>
                            </m:num>
                            <m:den>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5</m:t>
                              </m:r>
                            </m:den>
                          </m:f>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m:t>
                          </m:r>
                          <m:func>
                            <m:func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uncPr>
                            <m:fName>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log</m:t>
                                  </m:r>
                                </m:e>
                                <m:sub>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2</m:t>
                                  </m:r>
                                </m:sub>
                              </m:sSub>
                            </m:fName>
                            <m:e>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2</m:t>
                                  </m:r>
                                </m:num>
                                <m:den>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5</m:t>
                                  </m:r>
                                </m:den>
                              </m:f>
                            </m:e>
                          </m:func>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3</m:t>
                              </m:r>
                            </m:num>
                            <m:den>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5</m:t>
                              </m:r>
                            </m:den>
                          </m:f>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m:t>
                          </m:r>
                          <m:func>
                            <m:func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uncPr>
                            <m:fName>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log</m:t>
                                  </m:r>
                                </m:e>
                                <m:sub>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2</m:t>
                                  </m:r>
                                </m:sub>
                              </m:sSub>
                            </m:fName>
                            <m:e>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3</m:t>
                                  </m:r>
                                </m:num>
                                <m:den>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5</m:t>
                                  </m:r>
                                </m:den>
                              </m:f>
                            </m:e>
                          </m:func>
                        </m:e>
                      </m:d>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=0.971</m:t>
                      </m:r>
                    </m:oMath>
                  </m:oMathPara>
                </a14:m>
                <a:endParaRPr lang="zh-CN" altLang="zh-CN" sz="1800" dirty="0">
                  <a:effectLst/>
                  <a:latin typeface="Times New Roman" panose="02020603050405020304" pitchFamily="18" charset="0"/>
                  <a:ea typeface="华文楷体" panose="02010600040101010101" pitchFamily="2" charset="-122"/>
                  <a:cs typeface="Times New Roman" panose="02020603050405020304" pitchFamily="18" charset="0"/>
                </a:endParaRPr>
              </a:p>
              <a:p>
                <a:pPr algn="just">
                  <a:spcBef>
                    <a:spcPts val="1000"/>
                  </a:spcBef>
                  <a:spcAft>
                    <a:spcPts val="300"/>
                  </a:spcAft>
                </a:pPr>
                <a14:m>
                  <m:oMathPara xmlns:m="http://schemas.openxmlformats.org/officeDocument/2006/math">
                    <m:oMathParaPr>
                      <m:jc m:val="centerGroup"/>
                    </m:oMathParaPr>
                    <m:oMath xmlns:m="http://schemas.openxmlformats.org/officeDocument/2006/math">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m:t>
                      </m:r>
                      <m:r>
                        <a:rPr lang="zh-CN" altLang="zh-CN" sz="1800">
                          <a:effectLst/>
                          <a:latin typeface="Cambria Math" panose="02040503050406030204" pitchFamily="18" charset="0"/>
                          <a:ea typeface="华文楷体" panose="02010600040101010101" pitchFamily="2" charset="-122"/>
                          <a:cs typeface="Times New Roman" panose="02020603050405020304" pitchFamily="18" charset="0"/>
                        </a:rPr>
                        <m:t>年龄</m:t>
                      </m:r>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20~30”:   </m:t>
                      </m:r>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𝐸𝑛𝑡</m:t>
                      </m:r>
                      <m:d>
                        <m:d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𝐷</m:t>
                              </m:r>
                            </m:e>
                            <m:sub>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1</m:t>
                              </m:r>
                            </m:sub>
                          </m:sSub>
                        </m:e>
                      </m:d>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m:t>
                      </m:r>
                      <m:d>
                        <m:d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dPr>
                        <m:e>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4</m:t>
                              </m:r>
                            </m:num>
                            <m:den>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4</m:t>
                              </m:r>
                            </m:den>
                          </m:f>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m:t>
                          </m:r>
                          <m:func>
                            <m:func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uncPr>
                            <m:fName>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log</m:t>
                                  </m:r>
                                </m:e>
                                <m:sub>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2</m:t>
                                  </m:r>
                                </m:sub>
                              </m:sSub>
                            </m:fName>
                            <m:e>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4</m:t>
                                  </m:r>
                                </m:num>
                                <m:den>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4</m:t>
                                  </m:r>
                                </m:den>
                              </m:f>
                            </m:e>
                          </m:func>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+0</m:t>
                          </m:r>
                        </m:e>
                      </m:d>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=0</m:t>
                      </m:r>
                    </m:oMath>
                  </m:oMathPara>
                </a14:m>
                <a:endParaRPr lang="zh-CN" altLang="zh-CN" sz="1800" dirty="0">
                  <a:effectLst/>
                  <a:latin typeface="Times New Roman" panose="02020603050405020304" pitchFamily="18" charset="0"/>
                  <a:ea typeface="华文楷体" panose="02010600040101010101" pitchFamily="2" charset="-122"/>
                  <a:cs typeface="Times New Roman" panose="02020603050405020304" pitchFamily="18" charset="0"/>
                </a:endParaRPr>
              </a:p>
              <a:p>
                <a:pPr algn="just">
                  <a:spcBef>
                    <a:spcPts val="1000"/>
                  </a:spcBef>
                  <a:spcAft>
                    <a:spcPts val="300"/>
                  </a:spcAft>
                </a:pPr>
                <a14:m>
                  <m:oMathPara xmlns:m="http://schemas.openxmlformats.org/officeDocument/2006/math">
                    <m:oMathParaPr>
                      <m:jc m:val="centerGroup"/>
                    </m:oMathParaPr>
                    <m:oMath xmlns:m="http://schemas.openxmlformats.org/officeDocument/2006/math">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m:t>
                      </m:r>
                      <m:r>
                        <a:rPr lang="zh-CN" altLang="zh-CN" sz="1800">
                          <a:effectLst/>
                          <a:latin typeface="Cambria Math" panose="02040503050406030204" pitchFamily="18" charset="0"/>
                          <a:ea typeface="华文楷体" panose="02010600040101010101" pitchFamily="2" charset="-122"/>
                          <a:cs typeface="Times New Roman" panose="02020603050405020304" pitchFamily="18" charset="0"/>
                        </a:rPr>
                        <m:t>年龄</m:t>
                      </m:r>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&lt;20”:   </m:t>
                      </m:r>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𝐸𝑛𝑡</m:t>
                      </m:r>
                      <m:d>
                        <m:d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𝐷</m:t>
                              </m:r>
                            </m:e>
                            <m:sub>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2</m:t>
                              </m:r>
                            </m:sub>
                          </m:sSub>
                        </m:e>
                      </m:d>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m:t>
                      </m:r>
                      <m:d>
                        <m:d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dPr>
                        <m:e>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3</m:t>
                              </m:r>
                            </m:num>
                            <m:den>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5</m:t>
                              </m:r>
                            </m:den>
                          </m:f>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m:t>
                          </m:r>
                          <m:func>
                            <m:func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uncPr>
                            <m:fName>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log</m:t>
                                  </m:r>
                                </m:e>
                                <m:sub>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2</m:t>
                                  </m:r>
                                </m:sub>
                              </m:sSub>
                            </m:fName>
                            <m:e>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3</m:t>
                                  </m:r>
                                </m:num>
                                <m:den>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5</m:t>
                                  </m:r>
                                </m:den>
                              </m:f>
                            </m:e>
                          </m:func>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2</m:t>
                              </m:r>
                            </m:num>
                            <m:den>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5</m:t>
                              </m:r>
                            </m:den>
                          </m:f>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m:t>
                          </m:r>
                          <m:func>
                            <m:func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uncPr>
                            <m:fName>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log</m:t>
                                  </m:r>
                                </m:e>
                                <m:sub>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2</m:t>
                                  </m:r>
                                </m:sub>
                              </m:sSub>
                            </m:fName>
                            <m:e>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2</m:t>
                                  </m:r>
                                </m:num>
                                <m:den>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5</m:t>
                                  </m:r>
                                </m:den>
                              </m:f>
                            </m:e>
                          </m:func>
                        </m:e>
                      </m:d>
                      <m:r>
                        <a:rPr lang="en-US" altLang="zh-CN" sz="1800">
                          <a:effectLst/>
                          <a:latin typeface="Cambria Math" panose="02040503050406030204" pitchFamily="18" charset="0"/>
                          <a:ea typeface="华文楷体" panose="02010600040101010101" pitchFamily="2" charset="-122"/>
                          <a:cs typeface="Times New Roman" panose="02020603050405020304" pitchFamily="18" charset="0"/>
                        </a:rPr>
                        <m:t>=0.971</m:t>
                      </m:r>
                    </m:oMath>
                  </m:oMathPara>
                </a14:m>
                <a:endParaRPr lang="zh-CN" altLang="zh-CN" sz="1800" dirty="0">
                  <a:effectLst/>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20" name="文本框 19">
                <a:extLst>
                  <a:ext uri="{FF2B5EF4-FFF2-40B4-BE49-F238E27FC236}">
                    <a16:creationId xmlns:a16="http://schemas.microsoft.com/office/drawing/2014/main" id="{DD72DD40-51D3-4DA5-A37E-CAA37BC9BB33}"/>
                  </a:ext>
                </a:extLst>
              </p:cNvPr>
              <p:cNvSpPr txBox="1">
                <a:spLocks noRot="1" noChangeAspect="1" noMove="1" noResize="1" noEditPoints="1" noAdjustHandles="1" noChangeArrowheads="1" noChangeShapeType="1" noTextEdit="1"/>
              </p:cNvSpPr>
              <p:nvPr/>
            </p:nvSpPr>
            <p:spPr>
              <a:xfrm>
                <a:off x="629464" y="3782807"/>
                <a:ext cx="7765961" cy="2074799"/>
              </a:xfrm>
              <a:prstGeom prst="rect">
                <a:avLst/>
              </a:prstGeom>
              <a:blipFill>
                <a:blip r:embed="rId7"/>
                <a:stretch>
                  <a:fillRect/>
                </a:stretch>
              </a:blipFill>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4C0B5556-5C81-4A39-8242-D7311E6AFD79}"/>
              </a:ext>
            </a:extLst>
          </p:cNvPr>
          <p:cNvSpPr txBox="1"/>
          <p:nvPr/>
        </p:nvSpPr>
        <p:spPr>
          <a:xfrm>
            <a:off x="2337516" y="922055"/>
            <a:ext cx="4572000" cy="424412"/>
          </a:xfrm>
          <a:prstGeom prst="rect">
            <a:avLst/>
          </a:prstGeom>
          <a:noFill/>
        </p:spPr>
        <p:txBody>
          <a:bodyPr wrap="square">
            <a:spAutoFit/>
          </a:bodyPr>
          <a:lstStyle/>
          <a:p>
            <a:pPr algn="ctr">
              <a:lnSpc>
                <a:spcPct val="150000"/>
              </a:lnSpc>
              <a:spcBef>
                <a:spcPts val="1000"/>
              </a:spcBef>
              <a:spcAft>
                <a:spcPts val="600"/>
              </a:spcAft>
            </a:pPr>
            <a:r>
              <a:rPr lang="zh-CN" altLang="zh-CN" sz="1600" b="1" dirty="0">
                <a:effectLst/>
                <a:latin typeface="Times New Roman" panose="02020603050405020304" pitchFamily="18" charset="0"/>
                <a:ea typeface="华文楷体" panose="02010600040101010101" pitchFamily="2" charset="-122"/>
                <a:cs typeface="Times New Roman" panose="02020603050405020304" pitchFamily="18" charset="0"/>
              </a:rPr>
              <a:t>表 </a:t>
            </a:r>
            <a:r>
              <a:rPr lang="en-US" altLang="zh-CN" sz="1600" b="1" dirty="0">
                <a:effectLst/>
                <a:latin typeface="Times New Roman" panose="02020603050405020304" pitchFamily="18" charset="0"/>
                <a:ea typeface="华文楷体" panose="02010600040101010101" pitchFamily="2" charset="-122"/>
                <a:cs typeface="Times New Roman" panose="02020603050405020304" pitchFamily="18" charset="0"/>
              </a:rPr>
              <a:t>4.7 </a:t>
            </a:r>
            <a:r>
              <a:rPr lang="zh-CN" altLang="zh-CN" sz="1600" b="1" dirty="0">
                <a:effectLst/>
                <a:latin typeface="Times New Roman" panose="02020603050405020304" pitchFamily="18" charset="0"/>
                <a:ea typeface="华文楷体" panose="02010600040101010101" pitchFamily="2" charset="-122"/>
                <a:cs typeface="Times New Roman" panose="02020603050405020304" pitchFamily="18" charset="0"/>
              </a:rPr>
              <a:t>年龄属性划分后子样本集情况统计</a:t>
            </a:r>
            <a:endParaRPr lang="zh-CN" altLang="zh-CN" sz="1600" dirty="0">
              <a:effectLst/>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65D0CA83-3A64-41B1-8849-A3A1CBED2841}"/>
              </a:ext>
            </a:extLst>
          </p:cNvPr>
          <p:cNvSpPr>
            <a:spLocks noGrp="1"/>
          </p:cNvSpPr>
          <p:nvPr>
            <p:ph type="sldNum" sz="quarter" idx="12"/>
          </p:nvPr>
        </p:nvSpPr>
        <p:spPr/>
        <p:txBody>
          <a:bodyPr/>
          <a:lstStyle/>
          <a:p>
            <a:fld id="{5AD84F5B-1672-4D3F-9FEC-5DF89A7B7912}" type="slidenum">
              <a:rPr lang="zh-CN" altLang="en-US" smtClean="0"/>
              <a:t>29</a:t>
            </a:fld>
            <a:endParaRPr lang="zh-CN" altLang="en-US"/>
          </a:p>
        </p:txBody>
      </p:sp>
      <p:sp>
        <p:nvSpPr>
          <p:cNvPr id="3" name="页脚占位符 2">
            <a:extLst>
              <a:ext uri="{FF2B5EF4-FFF2-40B4-BE49-F238E27FC236}">
                <a16:creationId xmlns:a16="http://schemas.microsoft.com/office/drawing/2014/main" id="{6C5D6800-E77E-439F-A249-D5F59733856C}"/>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33450903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B57328-2C86-44FC-A77D-C73C57881D6F}"/>
              </a:ext>
            </a:extLst>
          </p:cNvPr>
          <p:cNvSpPr>
            <a:spLocks noGrp="1"/>
          </p:cNvSpPr>
          <p:nvPr>
            <p:ph type="title"/>
          </p:nvPr>
        </p:nvSpPr>
        <p:spPr/>
        <p:txBody>
          <a:bodyPr/>
          <a:lstStyle/>
          <a:p>
            <a:r>
              <a:rPr lang="zh-CN" altLang="en-US" sz="2400" dirty="0">
                <a:latin typeface="Times New Roman" panose="02020603050405020304" pitchFamily="18" charset="0"/>
                <a:cs typeface="Times New Roman" panose="02020603050405020304" pitchFamily="18" charset="0"/>
              </a:rPr>
              <a:t>决策树：</a:t>
            </a:r>
            <a:r>
              <a:rPr lang="zh-CN" altLang="en-US" sz="2400" kern="0" dirty="0">
                <a:solidFill>
                  <a:srgbClr val="0070C0"/>
                </a:solidFill>
                <a:latin typeface="Times New Roman" pitchFamily="18" charset="0"/>
                <a:cs typeface="Times New Roman" pitchFamily="18" charset="0"/>
              </a:rPr>
              <a:t>信息增益</a:t>
            </a:r>
            <a:endParaRPr lang="zh-CN" altLang="en-US" sz="2400" dirty="0"/>
          </a:p>
        </p:txBody>
      </p:sp>
      <p:sp>
        <p:nvSpPr>
          <p:cNvPr id="4" name="灯片编号占位符 3">
            <a:extLst>
              <a:ext uri="{FF2B5EF4-FFF2-40B4-BE49-F238E27FC236}">
                <a16:creationId xmlns:a16="http://schemas.microsoft.com/office/drawing/2014/main" id="{41250E4D-574B-483D-8858-4BCCAC0714E0}"/>
              </a:ext>
            </a:extLst>
          </p:cNvPr>
          <p:cNvSpPr>
            <a:spLocks noGrp="1"/>
          </p:cNvSpPr>
          <p:nvPr>
            <p:ph type="sldNum" sz="quarter" idx="12"/>
          </p:nvPr>
        </p:nvSpPr>
        <p:spPr/>
        <p:txBody>
          <a:bodyPr/>
          <a:lstStyle/>
          <a:p>
            <a:fld id="{5AD84F5B-1672-4D3F-9FEC-5DF89A7B7912}" type="slidenum">
              <a:rPr lang="zh-CN" altLang="en-US" smtClean="0"/>
              <a:t>30</a:t>
            </a:fld>
            <a:endParaRPr lang="zh-CN" altLang="en-US"/>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F04C0EB2-A0D2-4D97-9AE5-1DD75EC9EA20}"/>
                  </a:ext>
                </a:extLst>
              </p:cNvPr>
              <p:cNvSpPr txBox="1"/>
              <p:nvPr/>
            </p:nvSpPr>
            <p:spPr>
              <a:xfrm>
                <a:off x="264405" y="1086382"/>
                <a:ext cx="8405870" cy="4935325"/>
              </a:xfrm>
              <a:prstGeom prst="rect">
                <a:avLst/>
              </a:prstGeom>
              <a:noFill/>
            </p:spPr>
            <p:txBody>
              <a:bodyPr wrap="square">
                <a:spAutoFit/>
              </a:bodyPr>
              <a:lstStyle/>
              <a:p>
                <a:pPr indent="266700" algn="just">
                  <a:lnSpc>
                    <a:spcPct val="150000"/>
                  </a:lnSpc>
                  <a:spcBef>
                    <a:spcPts val="1000"/>
                  </a:spcBef>
                  <a:spcAft>
                    <a:spcPts val="300"/>
                  </a:spcAft>
                </a:pPr>
                <a:r>
                  <a:rPr lang="zh-CN" altLang="zh-CN" sz="1800" dirty="0">
                    <a:effectLst/>
                    <a:latin typeface="Times New Roman" panose="02020603050405020304" pitchFamily="18" charset="0"/>
                    <a:ea typeface="华文楷体" panose="02010600040101010101" pitchFamily="2" charset="-122"/>
                    <a:cs typeface="Times New Roman" panose="02020603050405020304" pitchFamily="18" charset="0"/>
                  </a:rPr>
                  <a:t>得到上述三个的信息熵后，可进一步计算使用年龄属性对原样本集进行划分后的信息增益，计算公式如下：</a:t>
                </a:r>
              </a:p>
              <a:p>
                <a:pPr algn="just">
                  <a:lnSpc>
                    <a:spcPct val="150000"/>
                  </a:lnSpc>
                  <a:spcBef>
                    <a:spcPts val="1000"/>
                  </a:spcBef>
                  <a:spcAft>
                    <a:spcPts val="300"/>
                  </a:spcAft>
                </a:pPr>
                <a14:m>
                  <m:oMathPara xmlns:m="http://schemas.openxmlformats.org/officeDocument/2006/math">
                    <m:oMathParaPr>
                      <m:jc m:val="centerGroup"/>
                    </m:oMathParaPr>
                    <m:oMath xmlns:m="http://schemas.openxmlformats.org/officeDocument/2006/math">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𝐺𝑎𝑖𝑛</m:t>
                      </m:r>
                      <m:d>
                        <m:d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𝐷</m:t>
                          </m:r>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𝐴</m:t>
                          </m:r>
                        </m:e>
                      </m:d>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𝐸𝑛𝑡</m:t>
                      </m:r>
                      <m:d>
                        <m:d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𝐷</m:t>
                          </m:r>
                        </m:e>
                      </m:d>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m:t>
                      </m:r>
                      <m:nary>
                        <m:naryPr>
                          <m:chr m:val="∑"/>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𝑖</m:t>
                          </m:r>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=1</m:t>
                          </m:r>
                        </m:sub>
                        <m:sup>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𝑛</m:t>
                          </m:r>
                        </m:sup>
                        <m:e>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d>
                                <m:dPr>
                                  <m:begChr m:val="|"/>
                                  <m:endChr m:val="|"/>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𝐷</m:t>
                                      </m:r>
                                    </m:e>
                                    <m:sub>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𝑖</m:t>
                                      </m:r>
                                    </m:sub>
                                  </m:sSub>
                                </m:e>
                              </m:d>
                            </m:num>
                            <m:den>
                              <m:d>
                                <m:dPr>
                                  <m:begChr m:val="|"/>
                                  <m:endChr m:val="|"/>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𝐷</m:t>
                                  </m:r>
                                </m:e>
                              </m:d>
                            </m:den>
                          </m:f>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𝐸𝑛𝑡</m:t>
                          </m:r>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𝐷</m:t>
                              </m:r>
                            </m:e>
                            <m:sub>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m:t>
                          </m:r>
                        </m:e>
                      </m:nary>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 </m:t>
                      </m:r>
                    </m:oMath>
                  </m:oMathPara>
                </a14:m>
                <a:endParaRPr lang="zh-CN" altLang="zh-CN" sz="1800" dirty="0">
                  <a:effectLst/>
                  <a:latin typeface="Times New Roman" panose="02020603050405020304" pitchFamily="18" charset="0"/>
                  <a:ea typeface="华文楷体" panose="02010600040101010101" pitchFamily="2" charset="-122"/>
                  <a:cs typeface="Times New Roman" panose="02020603050405020304" pitchFamily="18" charset="0"/>
                </a:endParaRPr>
              </a:p>
              <a:p>
                <a:pPr indent="304800" algn="just">
                  <a:lnSpc>
                    <a:spcPct val="150000"/>
                  </a:lnSpc>
                  <a:spcBef>
                    <a:spcPts val="1000"/>
                  </a:spcBef>
                  <a:spcAft>
                    <a:spcPts val="300"/>
                  </a:spcAft>
                </a:pPr>
                <a:r>
                  <a:rPr lang="zh-CN" altLang="zh-CN" sz="1800" dirty="0">
                    <a:effectLst/>
                    <a:latin typeface="Times New Roman" panose="02020603050405020304" pitchFamily="18" charset="0"/>
                    <a:ea typeface="华文楷体" panose="02010600040101010101" pitchFamily="2" charset="-122"/>
                    <a:cs typeface="Times New Roman" panose="02020603050405020304" pitchFamily="18" charset="0"/>
                  </a:rPr>
                  <a:t>将 </a:t>
                </a:r>
                <a14:m>
                  <m:oMath xmlns:m="http://schemas.openxmlformats.org/officeDocument/2006/math">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𝐴</m:t>
                    </m:r>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m:t>
                    </m:r>
                    <m:r>
                      <a:rPr lang="zh-CN" altLang="zh-CN" sz="1800">
                        <a:effectLst/>
                        <a:latin typeface="Cambria Math" panose="02040503050406030204" pitchFamily="18" charset="0"/>
                        <a:ea typeface="华文楷体" panose="02010600040101010101" pitchFamily="2" charset="-122"/>
                        <a:cs typeface="Times New Roman" panose="02020603050405020304" pitchFamily="18" charset="0"/>
                      </a:rPr>
                      <m:t>年龄</m:t>
                    </m:r>
                  </m:oMath>
                </a14:m>
                <a:r>
                  <a:rPr lang="zh-CN" altLang="zh-CN" sz="1800" dirty="0">
                    <a:effectLst/>
                    <a:latin typeface="Times New Roman" panose="02020603050405020304" pitchFamily="18" charset="0"/>
                    <a:ea typeface="华文楷体" panose="02010600040101010101" pitchFamily="2" charset="-122"/>
                    <a:cs typeface="Times New Roman" panose="02020603050405020304" pitchFamily="18" charset="0"/>
                  </a:rPr>
                  <a:t> 代入。于是选择年龄这一属性划分后的信息增益为：</a:t>
                </a:r>
              </a:p>
              <a:p>
                <a:pPr algn="just">
                  <a:lnSpc>
                    <a:spcPct val="150000"/>
                  </a:lnSpc>
                  <a:spcBef>
                    <a:spcPts val="1000"/>
                  </a:spcBef>
                  <a:spcAft>
                    <a:spcPts val="300"/>
                  </a:spcAft>
                </a:pPr>
                <a14:m>
                  <m:oMathPara xmlns:m="http://schemas.openxmlformats.org/officeDocument/2006/math">
                    <m:oMathParaPr>
                      <m:jc m:val="centerGroup"/>
                    </m:oMathParaPr>
                    <m:oMath xmlns:m="http://schemas.openxmlformats.org/officeDocument/2006/math">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𝐺𝑎𝑖𝑛</m:t>
                      </m:r>
                      <m:d>
                        <m:d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𝐷</m:t>
                          </m:r>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m:t>
                          </m:r>
                          <m:r>
                            <a:rPr lang="zh-CN" altLang="zh-CN" sz="1800">
                              <a:effectLst/>
                              <a:latin typeface="Cambria Math" panose="02040503050406030204" pitchFamily="18" charset="0"/>
                              <a:ea typeface="华文楷体" panose="02010600040101010101" pitchFamily="2" charset="-122"/>
                              <a:cs typeface="Times New Roman" panose="02020603050405020304" pitchFamily="18" charset="0"/>
                            </a:rPr>
                            <m:t>年龄</m:t>
                          </m:r>
                        </m:e>
                      </m:d>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=0.940−</m:t>
                      </m:r>
                      <m:d>
                        <m:d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dPr>
                        <m:e>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5</m:t>
                              </m:r>
                            </m:num>
                            <m:den>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14</m:t>
                              </m:r>
                            </m:den>
                          </m:f>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×0.971+</m:t>
                          </m:r>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4</m:t>
                              </m:r>
                            </m:num>
                            <m:den>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14</m:t>
                              </m:r>
                            </m:den>
                          </m:f>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×0+</m:t>
                          </m:r>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5</m:t>
                              </m:r>
                            </m:num>
                            <m:den>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14</m:t>
                              </m:r>
                            </m:den>
                          </m:f>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×0.971</m:t>
                          </m:r>
                        </m:e>
                      </m:d>
                      <m:r>
                        <a:rPr lang="en-US" altLang="zh-CN" sz="1800" i="1">
                          <a:effectLst/>
                          <a:latin typeface="Cambria Math" panose="02040503050406030204" pitchFamily="18" charset="0"/>
                          <a:ea typeface="华文楷体" panose="02010600040101010101" pitchFamily="2" charset="-122"/>
                          <a:cs typeface="Times New Roman" panose="02020603050405020304" pitchFamily="18" charset="0"/>
                        </a:rPr>
                        <m:t>=0.246</m:t>
                      </m:r>
                    </m:oMath>
                  </m:oMathPara>
                </a14:m>
                <a:endParaRPr lang="zh-CN" altLang="zh-CN" sz="1800" dirty="0">
                  <a:effectLst/>
                  <a:latin typeface="Times New Roman" panose="02020603050405020304" pitchFamily="18" charset="0"/>
                  <a:ea typeface="华文楷体" panose="02010600040101010101" pitchFamily="2" charset="-122"/>
                  <a:cs typeface="Times New Roman" panose="02020603050405020304" pitchFamily="18" charset="0"/>
                </a:endParaRPr>
              </a:p>
              <a:p>
                <a:pPr>
                  <a:lnSpc>
                    <a:spcPct val="150000"/>
                  </a:lnSpc>
                </a:pPr>
                <a:r>
                  <a:rPr lang="zh-CN" altLang="zh-CN" sz="1800" dirty="0">
                    <a:effectLst/>
                    <a:latin typeface="Times New Roman" panose="02020603050405020304" pitchFamily="18" charset="0"/>
                    <a:ea typeface="华文楷体" panose="02010600040101010101" pitchFamily="2" charset="-122"/>
                    <a:cs typeface="Times New Roman" panose="02020603050405020304" pitchFamily="18" charset="0"/>
                  </a:rPr>
                  <a:t>同理，可以计算银行流水、是否结婚、是否拥有房产三个人物属性的信息增益。通过比较四种属性信息增益的高低来选择最佳属性对原样本集进行划分</a:t>
                </a:r>
                <a:r>
                  <a:rPr lang="zh-CN" altLang="zh-CN" sz="18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，得到最大的</a:t>
                </a:r>
                <a:r>
                  <a:rPr lang="en-US" altLang="zh-CN" sz="1800" dirty="0">
                    <a:solidFill>
                      <a:srgbClr val="000000"/>
                    </a:solidFill>
                    <a:effectLst/>
                    <a:latin typeface="Times New Roman" panose="02020603050405020304" pitchFamily="18" charset="0"/>
                    <a:ea typeface="华文楷体" panose="02010600040101010101" pitchFamily="2" charset="-122"/>
                  </a:rPr>
                  <a:t>“</a:t>
                </a:r>
                <a:r>
                  <a:rPr lang="zh-CN" altLang="zh-CN" sz="18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纯度</a:t>
                </a:r>
                <a:r>
                  <a:rPr lang="en-US" altLang="zh-CN" sz="1800" dirty="0">
                    <a:solidFill>
                      <a:srgbClr val="000000"/>
                    </a:solidFill>
                    <a:effectLst/>
                    <a:latin typeface="Times New Roman" panose="02020603050405020304" pitchFamily="18" charset="0"/>
                    <a:ea typeface="华文楷体" panose="02010600040101010101" pitchFamily="2" charset="-122"/>
                  </a:rPr>
                  <a:t>”</a:t>
                </a:r>
                <a:r>
                  <a:rPr lang="zh-CN" altLang="zh-CN" sz="18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。如果划分后的不同子样本集都只存在同类样本，那么停止划分。</a:t>
                </a:r>
                <a:endParaRPr lang="zh-CN" altLang="en-US" dirty="0"/>
              </a:p>
            </p:txBody>
          </p:sp>
        </mc:Choice>
        <mc:Fallback xmlns="">
          <p:sp>
            <p:nvSpPr>
              <p:cNvPr id="6" name="文本框 5">
                <a:extLst>
                  <a:ext uri="{FF2B5EF4-FFF2-40B4-BE49-F238E27FC236}">
                    <a16:creationId xmlns:a16="http://schemas.microsoft.com/office/drawing/2014/main" xmlns="" xmlns:a14="http://schemas.microsoft.com/office/drawing/2010/main" id="{F04C0EB2-A0D2-4D97-9AE5-1DD75EC9EA20}"/>
                  </a:ext>
                </a:extLst>
              </p:cNvPr>
              <p:cNvSpPr txBox="1">
                <a:spLocks noRot="1" noChangeAspect="1" noMove="1" noResize="1" noEditPoints="1" noAdjustHandles="1" noChangeArrowheads="1" noChangeShapeType="1" noTextEdit="1"/>
              </p:cNvSpPr>
              <p:nvPr/>
            </p:nvSpPr>
            <p:spPr>
              <a:xfrm>
                <a:off x="264405" y="1086382"/>
                <a:ext cx="8405870" cy="4935325"/>
              </a:xfrm>
              <a:prstGeom prst="rect">
                <a:avLst/>
              </a:prstGeom>
              <a:blipFill rotWithShape="1">
                <a:blip r:embed="rId2"/>
                <a:stretch>
                  <a:fillRect l="-580" r="-653" b="-247"/>
                </a:stretch>
              </a:blipFill>
            </p:spPr>
            <p:txBody>
              <a:bodyPr/>
              <a:lstStyle/>
              <a:p>
                <a:r>
                  <a:rPr lang="zh-CN" altLang="en-US">
                    <a:noFill/>
                  </a:rPr>
                  <a:t> </a:t>
                </a:r>
              </a:p>
            </p:txBody>
          </p:sp>
        </mc:Fallback>
      </mc:AlternateContent>
      <p:sp>
        <p:nvSpPr>
          <p:cNvPr id="3" name="页脚占位符 2">
            <a:extLst>
              <a:ext uri="{FF2B5EF4-FFF2-40B4-BE49-F238E27FC236}">
                <a16:creationId xmlns:a16="http://schemas.microsoft.com/office/drawing/2014/main" id="{74B4C081-4EAC-420F-83AC-19712ABAF1FD}"/>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4776649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信息增益率</a:t>
            </a:r>
          </a:p>
        </p:txBody>
      </p:sp>
      <p:sp>
        <p:nvSpPr>
          <p:cNvPr id="4" name="内容占位符 3"/>
          <p:cNvSpPr>
            <a:spLocks noGrp="1"/>
          </p:cNvSpPr>
          <p:nvPr>
            <p:ph idx="1"/>
          </p:nvPr>
        </p:nvSpPr>
        <p:spPr/>
        <p:txBody>
          <a:bodyPr/>
          <a:lstStyle/>
          <a:p>
            <a:r>
              <a:rPr lang="zh-CN" altLang="en-US" dirty="0">
                <a:latin typeface="Times New Roman" pitchFamily="18" charset="0"/>
                <a:cs typeface="Times New Roman" pitchFamily="18" charset="0"/>
              </a:rPr>
              <a:t>信息增益率</a:t>
            </a:r>
            <a:r>
              <a:rPr lang="en-US" altLang="zh-CN" dirty="0" err="1">
                <a:latin typeface="Times New Roman" pitchFamily="18" charset="0"/>
                <a:cs typeface="Times New Roman" pitchFamily="18" charset="0"/>
              </a:rPr>
              <a:t>GainRatio</a:t>
            </a:r>
            <a:endParaRPr lang="en-US" altLang="zh-CN" dirty="0">
              <a:latin typeface="Times New Roman" pitchFamily="18" charset="0"/>
              <a:cs typeface="Times New Roman" pitchFamily="18" charset="0"/>
            </a:endParaRPr>
          </a:p>
          <a:p>
            <a:pPr lvl="1"/>
            <a:r>
              <a:rPr lang="zh-CN" altLang="en-US" dirty="0">
                <a:latin typeface="Times New Roman" pitchFamily="18" charset="0"/>
                <a:cs typeface="Times New Roman" pitchFamily="18" charset="0"/>
              </a:rPr>
              <a:t>计算信息增益时，不同分类的样本的数量，会影响信息熵或信息增益的计算，即存在</a:t>
            </a:r>
            <a:r>
              <a:rPr lang="zh-CN" altLang="en-US" dirty="0">
                <a:solidFill>
                  <a:srgbClr val="C00000"/>
                </a:solidFill>
                <a:latin typeface="楷体" pitchFamily="49" charset="-122"/>
                <a:ea typeface="楷体" pitchFamily="49" charset="-122"/>
                <a:cs typeface="Times New Roman" pitchFamily="18" charset="0"/>
              </a:rPr>
              <a:t>归纳偏置</a:t>
            </a:r>
            <a:r>
              <a:rPr lang="zh-CN" altLang="en-US" dirty="0">
                <a:latin typeface="Times New Roman" pitchFamily="18" charset="0"/>
                <a:cs typeface="Times New Roman" pitchFamily="18" charset="0"/>
              </a:rPr>
              <a:t>的问题。</a:t>
            </a:r>
            <a:endParaRPr lang="en-US" altLang="zh-CN" dirty="0">
              <a:latin typeface="Times New Roman" pitchFamily="18" charset="0"/>
              <a:cs typeface="Times New Roman" pitchFamily="18" charset="0"/>
            </a:endParaRPr>
          </a:p>
          <a:p>
            <a:pPr lvl="1"/>
            <a:endParaRPr lang="en-US" altLang="zh-CN" dirty="0">
              <a:latin typeface="Times New Roman" pitchFamily="18" charset="0"/>
              <a:cs typeface="Times New Roman" pitchFamily="18" charset="0"/>
            </a:endParaRPr>
          </a:p>
          <a:p>
            <a:pPr marL="360045" lvl="1" indent="0">
              <a:buNone/>
            </a:pPr>
            <a:endParaRPr lang="en-US" altLang="zh-CN" dirty="0">
              <a:latin typeface="Times New Roman" pitchFamily="18" charset="0"/>
              <a:cs typeface="Times New Roman" pitchFamily="18" charset="0"/>
            </a:endParaRPr>
          </a:p>
          <a:p>
            <a:pPr marL="360045" lvl="1" indent="0">
              <a:buNone/>
            </a:pPr>
            <a:endParaRPr lang="en-US" altLang="zh-CN" dirty="0">
              <a:latin typeface="Times New Roman" pitchFamily="18" charset="0"/>
              <a:cs typeface="Times New Roman" pitchFamily="18" charset="0"/>
            </a:endParaRPr>
          </a:p>
          <a:p>
            <a:pPr marL="360045" lvl="1" indent="0">
              <a:buNone/>
            </a:pPr>
            <a:endParaRPr lang="en-US" altLang="zh-CN" dirty="0">
              <a:latin typeface="Times New Roman" pitchFamily="18" charset="0"/>
              <a:cs typeface="Times New Roman" pitchFamily="18" charset="0"/>
            </a:endParaRPr>
          </a:p>
          <a:p>
            <a:pPr lvl="1"/>
            <a:r>
              <a:rPr lang="zh-CN" altLang="en-US" dirty="0">
                <a:latin typeface="Times New Roman" pitchFamily="18" charset="0"/>
                <a:cs typeface="Times New Roman" pitchFamily="18" charset="0"/>
              </a:rPr>
              <a:t>采用信息增益率可减弱不同类别的样本数量对不纯性度量的影响。</a:t>
            </a:r>
          </a:p>
          <a:p>
            <a:pPr marL="360045" lvl="1" indent="0">
              <a:buNone/>
            </a:pPr>
            <a:endParaRPr lang="zh-CN" altLang="en-US" dirty="0">
              <a:latin typeface="Times New Roman" pitchFamily="18" charset="0"/>
              <a:cs typeface="Times New Roman" pitchFamily="18" charset="0"/>
            </a:endParaRPr>
          </a:p>
        </p:txBody>
      </p:sp>
      <p:sp>
        <p:nvSpPr>
          <p:cNvPr id="5" name="椭圆 4"/>
          <p:cNvSpPr/>
          <p:nvPr/>
        </p:nvSpPr>
        <p:spPr>
          <a:xfrm>
            <a:off x="4957794" y="2563998"/>
            <a:ext cx="472335" cy="464847"/>
          </a:xfrm>
          <a:prstGeom prst="ellipse">
            <a:avLst/>
          </a:prstGeom>
          <a:noFill/>
          <a:ln w="28575">
            <a:solidFill>
              <a:srgbClr val="FF00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dirty="0">
              <a:latin typeface="Times New Roman" pitchFamily="18" charset="0"/>
              <a:ea typeface="华文细黑" pitchFamily="2" charset="-122"/>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AEB991D4-6178-4059-938C-BDC025F6543E}"/>
                  </a:ext>
                </a:extLst>
              </p:cNvPr>
              <p:cNvSpPr/>
              <p:nvPr/>
            </p:nvSpPr>
            <p:spPr>
              <a:xfrm>
                <a:off x="2152318" y="2163845"/>
                <a:ext cx="4220386" cy="1265155"/>
              </a:xfrm>
              <a:prstGeom prst="rect">
                <a:avLst/>
              </a:prstGeom>
            </p:spPr>
            <p:txBody>
              <a:bodyPr wrap="none">
                <a:spAutoFit/>
              </a:bodyPr>
              <a:lstStyle/>
              <a:p>
                <a:pPr algn="just">
                  <a:lnSpc>
                    <a:spcPct val="150000"/>
                  </a:lnSpc>
                  <a:spcBef>
                    <a:spcPts val="1000"/>
                  </a:spcBef>
                  <a:spcAft>
                    <a:spcPts val="300"/>
                  </a:spcAft>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华文楷体" panose="02010600040101010101" pitchFamily="2" charset="-122"/>
                          <a:cs typeface="Times New Roman" panose="02020603050405020304" pitchFamily="18" charset="0"/>
                        </a:rPr>
                        <m:t>𝐺𝑎𝑖𝑛</m:t>
                      </m:r>
                      <m:d>
                        <m:d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ea typeface="华文楷体" panose="02010600040101010101" pitchFamily="2" charset="-122"/>
                              <a:cs typeface="Times New Roman" panose="02020603050405020304" pitchFamily="18" charset="0"/>
                            </a:rPr>
                            <m:t>𝐷</m:t>
                          </m:r>
                          <m:r>
                            <a:rPr lang="en-US" altLang="zh-CN" i="1">
                              <a:latin typeface="Cambria Math" panose="02040503050406030204" pitchFamily="18" charset="0"/>
                              <a:ea typeface="华文楷体" panose="02010600040101010101" pitchFamily="2" charset="-122"/>
                              <a:cs typeface="Times New Roman" panose="02020603050405020304" pitchFamily="18" charset="0"/>
                            </a:rPr>
                            <m:t>,</m:t>
                          </m:r>
                          <m:r>
                            <a:rPr lang="en-US" altLang="zh-CN" i="1">
                              <a:latin typeface="Cambria Math" panose="02040503050406030204" pitchFamily="18" charset="0"/>
                              <a:ea typeface="华文楷体" panose="02010600040101010101" pitchFamily="2" charset="-122"/>
                              <a:cs typeface="Times New Roman" panose="02020603050405020304" pitchFamily="18" charset="0"/>
                            </a:rPr>
                            <m:t>𝐴</m:t>
                          </m:r>
                        </m:e>
                      </m:d>
                      <m:r>
                        <a:rPr lang="en-US" altLang="zh-CN" i="1">
                          <a:latin typeface="Cambria Math" panose="02040503050406030204" pitchFamily="18" charset="0"/>
                          <a:ea typeface="华文楷体" panose="02010600040101010101" pitchFamily="2" charset="-122"/>
                          <a:cs typeface="Times New Roman" panose="02020603050405020304" pitchFamily="18" charset="0"/>
                        </a:rPr>
                        <m:t>=</m:t>
                      </m:r>
                      <m:r>
                        <a:rPr lang="en-US" altLang="zh-CN" i="1">
                          <a:latin typeface="Cambria Math" panose="02040503050406030204" pitchFamily="18" charset="0"/>
                          <a:ea typeface="华文楷体" panose="02010600040101010101" pitchFamily="2" charset="-122"/>
                          <a:cs typeface="Times New Roman" panose="02020603050405020304" pitchFamily="18" charset="0"/>
                        </a:rPr>
                        <m:t>𝐸𝑛𝑡</m:t>
                      </m:r>
                      <m:d>
                        <m:d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ea typeface="华文楷体" panose="02010600040101010101" pitchFamily="2" charset="-122"/>
                              <a:cs typeface="Times New Roman" panose="02020603050405020304" pitchFamily="18" charset="0"/>
                            </a:rPr>
                            <m:t>𝐷</m:t>
                          </m:r>
                        </m:e>
                      </m:d>
                      <m:r>
                        <a:rPr lang="en-US" altLang="zh-CN" i="1">
                          <a:latin typeface="Cambria Math" panose="02040503050406030204" pitchFamily="18" charset="0"/>
                          <a:ea typeface="华文楷体" panose="02010600040101010101" pitchFamily="2" charset="-122"/>
                          <a:cs typeface="Times New Roman" panose="02020603050405020304" pitchFamily="18" charset="0"/>
                        </a:rPr>
                        <m:t>−</m:t>
                      </m:r>
                      <m:nary>
                        <m:naryPr>
                          <m:chr m:val="∑"/>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a:latin typeface="Cambria Math" panose="02040503050406030204" pitchFamily="18" charset="0"/>
                              <a:ea typeface="华文楷体" panose="02010600040101010101" pitchFamily="2" charset="-122"/>
                              <a:cs typeface="Times New Roman" panose="02020603050405020304" pitchFamily="18" charset="0"/>
                            </a:rPr>
                            <m:t>𝑖</m:t>
                          </m:r>
                          <m:r>
                            <a:rPr lang="en-US" altLang="zh-CN" i="1">
                              <a:latin typeface="Cambria Math" panose="02040503050406030204" pitchFamily="18" charset="0"/>
                              <a:ea typeface="华文楷体" panose="02010600040101010101" pitchFamily="2" charset="-122"/>
                              <a:cs typeface="Times New Roman" panose="02020603050405020304" pitchFamily="18" charset="0"/>
                            </a:rPr>
                            <m:t>=1</m:t>
                          </m:r>
                        </m:sub>
                        <m:sup>
                          <m:r>
                            <a:rPr lang="en-US" altLang="zh-CN" i="1">
                              <a:latin typeface="Cambria Math" panose="02040503050406030204" pitchFamily="18" charset="0"/>
                              <a:ea typeface="华文楷体" panose="02010600040101010101" pitchFamily="2" charset="-122"/>
                              <a:cs typeface="Times New Roman" panose="02020603050405020304" pitchFamily="18" charset="0"/>
                            </a:rPr>
                            <m:t>𝑛</m:t>
                          </m:r>
                        </m:sup>
                        <m:e>
                          <m:f>
                            <m:f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fPr>
                            <m:num>
                              <m:d>
                                <m:dPr>
                                  <m:begChr m:val="|"/>
                                  <m:endChr m:val="|"/>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华文楷体" panose="02010600040101010101" pitchFamily="2" charset="-122"/>
                                          <a:cs typeface="Times New Roman" panose="02020603050405020304" pitchFamily="18" charset="0"/>
                                        </a:rPr>
                                        <m:t>𝐷</m:t>
                                      </m:r>
                                    </m:e>
                                    <m:sub>
                                      <m:r>
                                        <a:rPr lang="en-US" altLang="zh-CN" i="1">
                                          <a:latin typeface="Cambria Math" panose="02040503050406030204" pitchFamily="18" charset="0"/>
                                          <a:ea typeface="华文楷体" panose="02010600040101010101" pitchFamily="2" charset="-122"/>
                                          <a:cs typeface="Times New Roman" panose="02020603050405020304" pitchFamily="18" charset="0"/>
                                        </a:rPr>
                                        <m:t>𝑖</m:t>
                                      </m:r>
                                    </m:sub>
                                  </m:sSub>
                                </m:e>
                              </m:d>
                            </m:num>
                            <m:den>
                              <m:d>
                                <m:dPr>
                                  <m:begChr m:val="|"/>
                                  <m:endChr m:val="|"/>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ea typeface="华文楷体" panose="02010600040101010101" pitchFamily="2" charset="-122"/>
                                      <a:cs typeface="Times New Roman" panose="02020603050405020304" pitchFamily="18" charset="0"/>
                                    </a:rPr>
                                    <m:t>𝐷</m:t>
                                  </m:r>
                                </m:e>
                              </m:d>
                            </m:den>
                          </m:f>
                          <m:r>
                            <a:rPr lang="en-US" altLang="zh-CN" i="1">
                              <a:latin typeface="Cambria Math" panose="02040503050406030204" pitchFamily="18" charset="0"/>
                              <a:ea typeface="华文楷体" panose="02010600040101010101" pitchFamily="2" charset="-122"/>
                              <a:cs typeface="Times New Roman" panose="02020603050405020304" pitchFamily="18" charset="0"/>
                            </a:rPr>
                            <m:t>𝐸𝑛𝑡</m:t>
                          </m:r>
                          <m:r>
                            <a:rPr lang="en-US" altLang="zh-CN" i="1">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华文楷体" panose="02010600040101010101" pitchFamily="2" charset="-122"/>
                                  <a:cs typeface="Times New Roman" panose="02020603050405020304" pitchFamily="18" charset="0"/>
                                </a:rPr>
                                <m:t>𝐷</m:t>
                              </m:r>
                            </m:e>
                            <m:sub>
                              <m:r>
                                <a:rPr lang="en-US" altLang="zh-CN" i="1">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i="1">
                              <a:latin typeface="Cambria Math" panose="02040503050406030204" pitchFamily="18" charset="0"/>
                              <a:ea typeface="华文楷体" panose="02010600040101010101" pitchFamily="2" charset="-122"/>
                              <a:cs typeface="Times New Roman" panose="02020603050405020304" pitchFamily="18" charset="0"/>
                            </a:rPr>
                            <m:t>)</m:t>
                          </m:r>
                        </m:e>
                      </m:nary>
                      <m:r>
                        <a:rPr lang="en-US" altLang="zh-CN" i="1">
                          <a:latin typeface="Cambria Math" panose="02040503050406030204" pitchFamily="18" charset="0"/>
                          <a:ea typeface="华文楷体" panose="02010600040101010101" pitchFamily="2" charset="-122"/>
                          <a:cs typeface="Times New Roman" panose="02020603050405020304" pitchFamily="18" charset="0"/>
                        </a:rPr>
                        <m:t> </m:t>
                      </m:r>
                    </m:oMath>
                  </m:oMathPara>
                </a14:m>
                <a:endParaRPr lang="zh-CN" altLang="zh-CN"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AEB991D4-6178-4059-938C-BDC025F6543E}"/>
                  </a:ext>
                </a:extLst>
              </p:cNvPr>
              <p:cNvSpPr>
                <a:spLocks noRot="1" noChangeAspect="1" noMove="1" noResize="1" noEditPoints="1" noAdjustHandles="1" noChangeArrowheads="1" noChangeShapeType="1" noTextEdit="1"/>
              </p:cNvSpPr>
              <p:nvPr/>
            </p:nvSpPr>
            <p:spPr>
              <a:xfrm>
                <a:off x="2152318" y="2163845"/>
                <a:ext cx="4220386" cy="1265155"/>
              </a:xfrm>
              <a:prstGeom prst="rect">
                <a:avLst/>
              </a:prstGeom>
              <a:blipFill>
                <a:blip r:embed="rId2"/>
                <a:stretch>
                  <a:fillRect/>
                </a:stretch>
              </a:blipFill>
            </p:spPr>
            <p:txBody>
              <a:bodyPr/>
              <a:lstStyle/>
              <a:p>
                <a:r>
                  <a:rPr lang="zh-CN" altLang="en-US">
                    <a:noFill/>
                  </a:rPr>
                  <a:t> </a:t>
                </a:r>
              </a:p>
            </p:txBody>
          </p:sp>
        </mc:Fallback>
      </mc:AlternateContent>
      <p:sp>
        <p:nvSpPr>
          <p:cNvPr id="3" name="页脚占位符 2">
            <a:extLst>
              <a:ext uri="{FF2B5EF4-FFF2-40B4-BE49-F238E27FC236}">
                <a16:creationId xmlns:a16="http://schemas.microsoft.com/office/drawing/2014/main" id="{51096294-F98E-4264-A2C5-E4D6AC68F34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2E11AE9-E0AF-4C0D-8B03-69CC92D2DCE5}"/>
              </a:ext>
            </a:extLst>
          </p:cNvPr>
          <p:cNvSpPr>
            <a:spLocks noGrp="1"/>
          </p:cNvSpPr>
          <p:nvPr>
            <p:ph type="sldNum" sz="quarter" idx="12"/>
          </p:nvPr>
        </p:nvSpPr>
        <p:spPr/>
        <p:txBody>
          <a:bodyPr/>
          <a:lstStyle/>
          <a:p>
            <a:fld id="{5AD84F5B-1672-4D3F-9FEC-5DF89A7B7912}" type="slidenum">
              <a:rPr lang="zh-CN" altLang="en-US" smtClean="0"/>
              <a:t>31</a:t>
            </a:fld>
            <a:endParaRPr lang="zh-CN" altLang="en-US"/>
          </a:p>
        </p:txBody>
      </p:sp>
    </p:spTree>
    <p:extLst>
      <p:ext uri="{BB962C8B-B14F-4D97-AF65-F5344CB8AC3E}">
        <p14:creationId xmlns:p14="http://schemas.microsoft.com/office/powerpoint/2010/main" val="4102975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B57328-2C86-44FC-A77D-C73C57881D6F}"/>
              </a:ext>
            </a:extLst>
          </p:cNvPr>
          <p:cNvSpPr>
            <a:spLocks noGrp="1"/>
          </p:cNvSpPr>
          <p:nvPr>
            <p:ph type="title"/>
          </p:nvPr>
        </p:nvSpPr>
        <p:spPr/>
        <p:txBody>
          <a:bodyPr/>
          <a:lstStyle/>
          <a:p>
            <a:r>
              <a:rPr lang="zh-CN" altLang="en-US" sz="2400" dirty="0">
                <a:latin typeface="Times New Roman" panose="02020603050405020304" pitchFamily="18" charset="0"/>
                <a:cs typeface="Times New Roman" panose="02020603050405020304" pitchFamily="18" charset="0"/>
              </a:rPr>
              <a:t>决策树：</a:t>
            </a:r>
            <a:r>
              <a:rPr lang="zh-CN" altLang="en-US" sz="2400" kern="0" dirty="0">
                <a:solidFill>
                  <a:srgbClr val="0070C0"/>
                </a:solidFill>
                <a:latin typeface="Times New Roman" pitchFamily="18" charset="0"/>
                <a:cs typeface="Times New Roman" pitchFamily="18" charset="0"/>
              </a:rPr>
              <a:t>信息增益率</a:t>
            </a:r>
            <a:endParaRPr lang="zh-CN" altLang="en-US" sz="2400" dirty="0"/>
          </a:p>
        </p:txBody>
      </p:sp>
      <p:sp>
        <p:nvSpPr>
          <p:cNvPr id="4" name="灯片编号占位符 3">
            <a:extLst>
              <a:ext uri="{FF2B5EF4-FFF2-40B4-BE49-F238E27FC236}">
                <a16:creationId xmlns:a16="http://schemas.microsoft.com/office/drawing/2014/main" id="{41250E4D-574B-483D-8858-4BCCAC0714E0}"/>
              </a:ext>
            </a:extLst>
          </p:cNvPr>
          <p:cNvSpPr>
            <a:spLocks noGrp="1"/>
          </p:cNvSpPr>
          <p:nvPr>
            <p:ph type="sldNum" sz="quarter" idx="12"/>
          </p:nvPr>
        </p:nvSpPr>
        <p:spPr/>
        <p:txBody>
          <a:bodyPr/>
          <a:lstStyle/>
          <a:p>
            <a:fld id="{5AD84F5B-1672-4D3F-9FEC-5DF89A7B7912}" type="slidenum">
              <a:rPr lang="zh-CN" altLang="en-US" smtClean="0"/>
              <a:t>32</a:t>
            </a:fld>
            <a:endParaRPr lang="zh-CN" altLang="en-US"/>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9B150B92-6E92-4308-B82D-645CC3326382}"/>
                  </a:ext>
                </a:extLst>
              </p:cNvPr>
              <p:cNvSpPr txBox="1"/>
              <p:nvPr/>
            </p:nvSpPr>
            <p:spPr>
              <a:xfrm>
                <a:off x="173172" y="1230986"/>
                <a:ext cx="8239308" cy="966931"/>
              </a:xfrm>
              <a:prstGeom prst="rect">
                <a:avLst/>
              </a:prstGeom>
              <a:noFill/>
            </p:spPr>
            <p:txBody>
              <a:bodyPr wrap="square">
                <a:spAutoFit/>
              </a:bodyPr>
              <a:lstStyle/>
              <a:p>
                <a:pPr indent="266700" algn="just">
                  <a:spcBef>
                    <a:spcPts val="1000"/>
                  </a:spcBef>
                  <a:spcAft>
                    <a:spcPts val="300"/>
                  </a:spcAft>
                </a:pPr>
                <a14:m>
                  <m:oMath xmlns:m="http://schemas.openxmlformats.org/officeDocument/2006/math">
                    <m:r>
                      <a:rPr lang="en-US" altLang="zh-CN" sz="2800" b="1" i="1" smtClean="0">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𝒊𝒏𝒇𝒐</m:t>
                    </m:r>
                  </m:oMath>
                </a14:m>
                <a:r>
                  <a:rPr lang="zh-CN" altLang="zh-CN" sz="2800" b="1"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和</a:t>
                </a:r>
                <a14:m>
                  <m:oMath xmlns:m="http://schemas.openxmlformats.org/officeDocument/2006/math">
                    <m:r>
                      <a:rPr lang="en-US" altLang="zh-CN" sz="2800" b="1" i="1">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𝑮𝒂𝒊𝒏</m:t>
                    </m:r>
                    <m:r>
                      <a:rPr lang="en-US" altLang="zh-CN" sz="2800" b="1" i="1">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b="1" i="1">
                        <a:solidFill>
                          <a:srgbClr val="000000"/>
                        </a:solidFill>
                        <a:effectLst/>
                        <a:latin typeface="Cambria Math" panose="02040503050406030204" pitchFamily="18" charset="0"/>
                        <a:ea typeface="华文楷体" panose="02010600040101010101" pitchFamily="2" charset="-122"/>
                        <a:cs typeface="Times New Roman" panose="02020603050405020304" pitchFamily="18" charset="0"/>
                      </a:rPr>
                      <m:t>𝒓𝒂𝒕𝒊𝒐</m:t>
                    </m:r>
                  </m:oMath>
                </a14:m>
                <a:r>
                  <a:rPr lang="zh-CN" altLang="zh-CN" sz="2800" b="1"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计算公式如下</a:t>
                </a:r>
                <a:r>
                  <a:rPr lang="zh-CN" altLang="zh-CN" sz="2800" b="1" dirty="0">
                    <a:effectLst/>
                    <a:latin typeface="Times New Roman" panose="02020603050405020304" pitchFamily="18" charset="0"/>
                    <a:ea typeface="华文楷体" panose="02010600040101010101" pitchFamily="2" charset="-122"/>
                    <a:cs typeface="Times New Roman" panose="02020603050405020304" pitchFamily="18" charset="0"/>
                  </a:rPr>
                  <a:t>：</a:t>
                </a:r>
              </a:p>
              <a:p>
                <a:pPr indent="266700" algn="just">
                  <a:spcBef>
                    <a:spcPts val="1000"/>
                  </a:spcBef>
                  <a:spcAft>
                    <a:spcPts val="300"/>
                  </a:spcAft>
                </a:pPr>
                <a:endParaRPr lang="zh-CN" altLang="zh-CN" sz="1800" dirty="0">
                  <a:effectLst/>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9B150B92-6E92-4308-B82D-645CC3326382}"/>
                  </a:ext>
                </a:extLst>
              </p:cNvPr>
              <p:cNvSpPr txBox="1">
                <a:spLocks noRot="1" noChangeAspect="1" noMove="1" noResize="1" noEditPoints="1" noAdjustHandles="1" noChangeArrowheads="1" noChangeShapeType="1" noTextEdit="1"/>
              </p:cNvSpPr>
              <p:nvPr/>
            </p:nvSpPr>
            <p:spPr>
              <a:xfrm>
                <a:off x="173172" y="1230986"/>
                <a:ext cx="8239308" cy="966931"/>
              </a:xfrm>
              <a:prstGeom prst="rect">
                <a:avLst/>
              </a:prstGeom>
              <a:blipFill>
                <a:blip r:embed="rId2"/>
                <a:stretch>
                  <a:fillRect t="-69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对象 2">
                <a:extLst>
                  <a:ext uri="{FF2B5EF4-FFF2-40B4-BE49-F238E27FC236}">
                    <a16:creationId xmlns:a16="http://schemas.microsoft.com/office/drawing/2014/main" id="{A5A50935-C78C-41CE-8C51-07BF8AA739E4}"/>
                  </a:ext>
                </a:extLst>
              </p:cNvPr>
              <p:cNvSpPr txBox="1"/>
              <p:nvPr/>
            </p:nvSpPr>
            <p:spPr bwMode="auto">
              <a:xfrm>
                <a:off x="1505244" y="3107346"/>
                <a:ext cx="4866316" cy="1347613"/>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sz="2800" i="1" smtClean="0">
                          <a:solidFill>
                            <a:srgbClr val="000000"/>
                          </a:solidFill>
                          <a:latin typeface="Cambria Math" panose="02040503050406030204" pitchFamily="18" charset="0"/>
                        </a:rPr>
                        <m:t>𝐺𝑎𝑖𝑛𝑅𝑎𝑡𝑖𝑜</m:t>
                      </m:r>
                      <m:r>
                        <a:rPr lang="en-US" altLang="zh-CN" sz="2800" b="0" i="1" smtClean="0">
                          <a:solidFill>
                            <a:srgbClr val="000000"/>
                          </a:solidFill>
                          <a:latin typeface="Cambria Math" panose="02040503050406030204" pitchFamily="18" charset="0"/>
                        </a:rPr>
                        <m:t> </m:t>
                      </m:r>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𝐺𝑎𝑖𝑛</m:t>
                          </m:r>
                          <m:d>
                            <m:dPr>
                              <m:ctrlPr>
                                <a:rPr lang="zh-CN" altLang="en-US" sz="2800" i="1">
                                  <a:solidFill>
                                    <a:srgbClr val="000000"/>
                                  </a:solidFill>
                                  <a:latin typeface="Cambria Math" panose="02040503050406030204" pitchFamily="18" charset="0"/>
                                </a:rPr>
                              </m:ctrlPr>
                            </m:dPr>
                            <m:e>
                              <m:r>
                                <m:rPr>
                                  <m:sty m:val="p"/>
                                </m:rPr>
                                <a:rPr lang="en-US" altLang="zh-CN" sz="2800" i="1">
                                  <a:solidFill>
                                    <a:srgbClr val="000000"/>
                                  </a:solidFill>
                                  <a:latin typeface="Cambria Math" panose="02040503050406030204" pitchFamily="18" charset="0"/>
                                </a:rPr>
                                <m:t>D</m:t>
                              </m:r>
                              <m:r>
                                <a:rPr lang="en-US" altLang="zh-CN" sz="2800" b="0" i="1" smtClean="0">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𝐴</m:t>
                              </m:r>
                            </m:e>
                          </m:d>
                        </m:num>
                        <m:den>
                          <m:r>
                            <a:rPr lang="zh-CN" altLang="en-US" sz="2800" i="1">
                              <a:solidFill>
                                <a:srgbClr val="000000"/>
                              </a:solidFill>
                              <a:latin typeface="Cambria Math" panose="02040503050406030204" pitchFamily="18" charset="0"/>
                            </a:rPr>
                            <m:t>𝐼𝑛𝑓𝑜</m:t>
                          </m:r>
                        </m:den>
                      </m:f>
                    </m:oMath>
                  </m:oMathPara>
                </a14:m>
                <a:endParaRPr lang="zh-CN" altLang="en-US" sz="2800" dirty="0"/>
              </a:p>
            </p:txBody>
          </p:sp>
        </mc:Choice>
        <mc:Fallback xmlns="">
          <p:sp>
            <p:nvSpPr>
              <p:cNvPr id="6" name="对象 2">
                <a:extLst>
                  <a:ext uri="{FF2B5EF4-FFF2-40B4-BE49-F238E27FC236}">
                    <a16:creationId xmlns:a16="http://schemas.microsoft.com/office/drawing/2014/main" id="{A5A50935-C78C-41CE-8C51-07BF8AA739E4}"/>
                  </a:ext>
                </a:extLst>
              </p:cNvPr>
              <p:cNvSpPr txBox="1">
                <a:spLocks noRot="1" noChangeAspect="1" noMove="1" noResize="1" noEditPoints="1" noAdjustHandles="1" noChangeArrowheads="1" noChangeShapeType="1" noTextEdit="1"/>
              </p:cNvSpPr>
              <p:nvPr/>
            </p:nvSpPr>
            <p:spPr bwMode="auto">
              <a:xfrm>
                <a:off x="1505244" y="3107346"/>
                <a:ext cx="4866316" cy="1347613"/>
              </a:xfrm>
              <a:prstGeom prst="rect">
                <a:avLst/>
              </a:prstGeom>
              <a:blipFill>
                <a:blip r:embed="rId3"/>
                <a:stretch>
                  <a:fillRect/>
                </a:stretch>
              </a:blipFill>
              <a:ln>
                <a:noFill/>
              </a:ln>
            </p:spPr>
            <p:txBody>
              <a:bodyPr/>
              <a:lstStyle/>
              <a:p>
                <a:r>
                  <a:rPr lang="zh-CN" altLang="en-US">
                    <a:noFill/>
                  </a:rPr>
                  <a:t> </a:t>
                </a:r>
              </a:p>
            </p:txBody>
          </p:sp>
        </mc:Fallback>
      </mc:AlternateContent>
      <p:sp>
        <p:nvSpPr>
          <p:cNvPr id="8" name="线形标注 2 7">
            <a:extLst>
              <a:ext uri="{FF2B5EF4-FFF2-40B4-BE49-F238E27FC236}">
                <a16:creationId xmlns:a16="http://schemas.microsoft.com/office/drawing/2014/main" id="{9618D723-0E06-48D4-A45A-A0FFAE7681C5}"/>
              </a:ext>
            </a:extLst>
          </p:cNvPr>
          <p:cNvSpPr/>
          <p:nvPr/>
        </p:nvSpPr>
        <p:spPr>
          <a:xfrm>
            <a:off x="6123433" y="2167723"/>
            <a:ext cx="1656000" cy="720000"/>
          </a:xfrm>
          <a:prstGeom prst="borderCallout2">
            <a:avLst>
              <a:gd name="adj1" fmla="val 18750"/>
              <a:gd name="adj2" fmla="val -8333"/>
              <a:gd name="adj3" fmla="val 18750"/>
              <a:gd name="adj4" fmla="val -16667"/>
              <a:gd name="adj5" fmla="val 153489"/>
              <a:gd name="adj6" fmla="val -54869"/>
            </a:avLst>
          </a:prstGeom>
          <a:ln>
            <a:headEnd type="none" w="med" len="med"/>
            <a:tailEnd type="triangle" w="med" len="med"/>
          </a:ln>
        </p:spPr>
        <p:style>
          <a:lnRef idx="2">
            <a:schemeClr val="accent3"/>
          </a:lnRef>
          <a:fillRef idx="1">
            <a:schemeClr val="lt1"/>
          </a:fillRef>
          <a:effectRef idx="0">
            <a:schemeClr val="accent3"/>
          </a:effectRef>
          <a:fontRef idx="minor">
            <a:schemeClr val="dk1"/>
          </a:fontRef>
        </p:style>
        <p:txBody>
          <a:bodyPr rtlCol="0" anchor="ctr"/>
          <a:lstStyle/>
          <a:p>
            <a:r>
              <a:rPr lang="zh-CN" altLang="en-US" dirty="0">
                <a:latin typeface="华文细黑" pitchFamily="2" charset="-122"/>
                <a:ea typeface="华文细黑" pitchFamily="2" charset="-122"/>
              </a:rPr>
              <a:t>前面所定义的信息增益</a:t>
            </a:r>
          </a:p>
        </p:txBody>
      </p:sp>
      <mc:AlternateContent xmlns:mc="http://schemas.openxmlformats.org/markup-compatibility/2006" xmlns:a14="http://schemas.microsoft.com/office/drawing/2010/main">
        <mc:Choice Requires="a14">
          <p:sp>
            <p:nvSpPr>
              <p:cNvPr id="9" name="线形标注 2 8">
                <a:extLst>
                  <a:ext uri="{FF2B5EF4-FFF2-40B4-BE49-F238E27FC236}">
                    <a16:creationId xmlns:a16="http://schemas.microsoft.com/office/drawing/2014/main" id="{C0FFD096-86AF-4506-ACD3-B78F0A61D428}"/>
                  </a:ext>
                </a:extLst>
              </p:cNvPr>
              <p:cNvSpPr/>
              <p:nvPr/>
            </p:nvSpPr>
            <p:spPr>
              <a:xfrm>
                <a:off x="4722756" y="4673582"/>
                <a:ext cx="4176000" cy="1347614"/>
              </a:xfrm>
              <a:prstGeom prst="borderCallout2">
                <a:avLst>
                  <a:gd name="adj1" fmla="val 19920"/>
                  <a:gd name="adj2" fmla="val -807"/>
                  <a:gd name="adj3" fmla="val 19920"/>
                  <a:gd name="adj4" fmla="val -8115"/>
                  <a:gd name="adj5" fmla="val -57135"/>
                  <a:gd name="adj6" fmla="val -5728"/>
                </a:avLst>
              </a:prstGeom>
              <a:ln>
                <a:headEnd type="none" w="med" len="med"/>
                <a:tailEnd type="triangle" w="med" len="med"/>
              </a:ln>
            </p:spPr>
            <p:style>
              <a:lnRef idx="2">
                <a:schemeClr val="accent3"/>
              </a:lnRef>
              <a:fillRef idx="1">
                <a:schemeClr val="lt1"/>
              </a:fillRef>
              <a:effectRef idx="0">
                <a:schemeClr val="accent3"/>
              </a:effectRef>
              <a:fontRef idx="minor">
                <a:schemeClr val="dk1"/>
              </a:fontRef>
            </p:style>
            <p:txBody>
              <a:bodyPr rtlCol="0" anchor="ctr"/>
              <a:lstStyle/>
              <a:p>
                <a:pPr>
                  <a:lnSpc>
                    <a:spcPct val="120000"/>
                  </a:lnSpc>
                </a:pPr>
                <a:r>
                  <a:rPr lang="zh-CN" altLang="en-US"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rPr>
                  <a:t>分裂信息</a:t>
                </a:r>
                <a:r>
                  <a:rPr lang="zh-CN" altLang="en-US" dirty="0">
                    <a:latin typeface="华文细黑" pitchFamily="2" charset="-122"/>
                    <a:ea typeface="华文细黑" pitchFamily="2" charset="-122"/>
                  </a:rPr>
                  <a:t>，表示属性值的广度和均匀性。</a:t>
                </a:r>
                <a:endParaRPr lang="en-US" altLang="zh-CN" dirty="0">
                  <a:latin typeface="华文细黑" pitchFamily="2" charset="-122"/>
                  <a:ea typeface="华文细黑" pitchFamily="2" charset="-122"/>
                </a:endParaRPr>
              </a:p>
              <a:p>
                <a:pPr>
                  <a:lnSpc>
                    <a:spcPct val="120000"/>
                  </a:lnSpc>
                </a:pPr>
                <a14:m>
                  <m:oMathPara xmlns:m="http://schemas.openxmlformats.org/officeDocument/2006/math">
                    <m:oMathParaPr>
                      <m:jc m:val="centerGroup"/>
                    </m:oMathParaPr>
                    <m:oMath xmlns:m="http://schemas.openxmlformats.org/officeDocument/2006/math">
                      <m:r>
                        <a:rPr lang="en-US" altLang="zh-CN" i="1">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𝑖𝑛𝑓𝑜</m:t>
                      </m:r>
                      <m:r>
                        <a:rPr lang="en-US" altLang="zh-CN">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i="1">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nary>
                        <m:naryPr>
                          <m:chr m:val="∑"/>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a:latin typeface="Cambria Math" panose="02040503050406030204" pitchFamily="18" charset="0"/>
                              <a:ea typeface="华文楷体" panose="02010600040101010101" pitchFamily="2" charset="-122"/>
                              <a:cs typeface="Times New Roman" panose="02020603050405020304" pitchFamily="18" charset="0"/>
                            </a:rPr>
                            <m:t>𝑖</m:t>
                          </m:r>
                          <m:r>
                            <a:rPr lang="en-US" altLang="zh-CN" i="1">
                              <a:latin typeface="Cambria Math" panose="02040503050406030204" pitchFamily="18" charset="0"/>
                              <a:ea typeface="华文楷体" panose="02010600040101010101" pitchFamily="2" charset="-122"/>
                              <a:cs typeface="Times New Roman" panose="02020603050405020304" pitchFamily="18" charset="0"/>
                            </a:rPr>
                            <m:t>=1</m:t>
                          </m:r>
                        </m:sub>
                        <m:sup>
                          <m:r>
                            <a:rPr lang="en-US" altLang="zh-CN" i="1">
                              <a:latin typeface="Cambria Math" panose="02040503050406030204" pitchFamily="18" charset="0"/>
                              <a:ea typeface="华文楷体" panose="02010600040101010101" pitchFamily="2" charset="-122"/>
                              <a:cs typeface="Times New Roman" panose="02020603050405020304" pitchFamily="18" charset="0"/>
                            </a:rPr>
                            <m:t>𝑛</m:t>
                          </m:r>
                        </m:sup>
                        <m:e>
                          <m:f>
                            <m:f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fPr>
                            <m:num>
                              <m:d>
                                <m:dPr>
                                  <m:begChr m:val="|"/>
                                  <m:endChr m:val="|"/>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华文楷体" panose="02010600040101010101" pitchFamily="2" charset="-122"/>
                                          <a:cs typeface="Times New Roman" panose="02020603050405020304" pitchFamily="18" charset="0"/>
                                        </a:rPr>
                                        <m:t>𝐷</m:t>
                                      </m:r>
                                    </m:e>
                                    <m:sub>
                                      <m:r>
                                        <a:rPr lang="en-US" altLang="zh-CN" i="1">
                                          <a:latin typeface="Cambria Math" panose="02040503050406030204" pitchFamily="18" charset="0"/>
                                          <a:ea typeface="华文楷体" panose="02010600040101010101" pitchFamily="2" charset="-122"/>
                                          <a:cs typeface="Times New Roman" panose="02020603050405020304" pitchFamily="18" charset="0"/>
                                        </a:rPr>
                                        <m:t>𝑖</m:t>
                                      </m:r>
                                    </m:sub>
                                  </m:sSub>
                                </m:e>
                              </m:d>
                            </m:num>
                            <m:den>
                              <m:d>
                                <m:dPr>
                                  <m:begChr m:val="|"/>
                                  <m:endChr m:val="|"/>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ea typeface="华文楷体" panose="02010600040101010101" pitchFamily="2" charset="-122"/>
                                      <a:cs typeface="Times New Roman" panose="02020603050405020304" pitchFamily="18" charset="0"/>
                                    </a:rPr>
                                    <m:t>𝐷</m:t>
                                  </m:r>
                                </m:e>
                              </m:d>
                            </m:den>
                          </m:f>
                          <m:func>
                            <m:func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funcPr>
                            <m:fName>
                              <m:sSub>
                                <m:sSub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a:latin typeface="Cambria Math" panose="02040503050406030204" pitchFamily="18" charset="0"/>
                                      <a:ea typeface="华文楷体" panose="02010600040101010101" pitchFamily="2" charset="-122"/>
                                      <a:cs typeface="Times New Roman" panose="02020603050405020304" pitchFamily="18" charset="0"/>
                                    </a:rPr>
                                    <m:t>log</m:t>
                                  </m:r>
                                </m:e>
                                <m:sub>
                                  <m:r>
                                    <a:rPr lang="en-US" altLang="zh-CN" i="1">
                                      <a:latin typeface="Cambria Math" panose="02040503050406030204" pitchFamily="18" charset="0"/>
                                      <a:ea typeface="华文楷体" panose="02010600040101010101" pitchFamily="2" charset="-122"/>
                                      <a:cs typeface="Times New Roman" panose="02020603050405020304" pitchFamily="18" charset="0"/>
                                    </a:rPr>
                                    <m:t>2</m:t>
                                  </m:r>
                                </m:sub>
                              </m:sSub>
                            </m:fName>
                            <m:e>
                              <m:f>
                                <m:f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fPr>
                                <m:num>
                                  <m:d>
                                    <m:dPr>
                                      <m:begChr m:val="|"/>
                                      <m:endChr m:val="|"/>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华文楷体" panose="02010600040101010101" pitchFamily="2" charset="-122"/>
                                              <a:cs typeface="Times New Roman" panose="02020603050405020304" pitchFamily="18" charset="0"/>
                                            </a:rPr>
                                            <m:t>𝐷</m:t>
                                          </m:r>
                                        </m:e>
                                        <m:sub>
                                          <m:r>
                                            <a:rPr lang="en-US" altLang="zh-CN" i="1">
                                              <a:latin typeface="Cambria Math" panose="02040503050406030204" pitchFamily="18" charset="0"/>
                                              <a:ea typeface="华文楷体" panose="02010600040101010101" pitchFamily="2" charset="-122"/>
                                              <a:cs typeface="Times New Roman" panose="02020603050405020304" pitchFamily="18" charset="0"/>
                                            </a:rPr>
                                            <m:t>𝑖</m:t>
                                          </m:r>
                                        </m:sub>
                                      </m:sSub>
                                    </m:e>
                                  </m:d>
                                </m:num>
                                <m:den>
                                  <m:d>
                                    <m:dPr>
                                      <m:begChr m:val="|"/>
                                      <m:endChr m:val="|"/>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ea typeface="华文楷体" panose="02010600040101010101" pitchFamily="2" charset="-122"/>
                                          <a:cs typeface="Times New Roman" panose="02020603050405020304" pitchFamily="18" charset="0"/>
                                        </a:rPr>
                                        <m:t>𝐷</m:t>
                                      </m:r>
                                    </m:e>
                                  </m:d>
                                </m:den>
                              </m:f>
                            </m:e>
                          </m:func>
                        </m:e>
                      </m:nary>
                    </m:oMath>
                  </m:oMathPara>
                </a14:m>
                <a:endParaRPr lang="en-US" altLang="zh-CN" dirty="0">
                  <a:latin typeface="华文细黑" pitchFamily="2" charset="-122"/>
                  <a:ea typeface="华文细黑" pitchFamily="2" charset="-122"/>
                </a:endParaRPr>
              </a:p>
            </p:txBody>
          </p:sp>
        </mc:Choice>
        <mc:Fallback xmlns="">
          <p:sp>
            <p:nvSpPr>
              <p:cNvPr id="9" name="线形标注 2 8">
                <a:extLst>
                  <a:ext uri="{FF2B5EF4-FFF2-40B4-BE49-F238E27FC236}">
                    <a16:creationId xmlns:a16="http://schemas.microsoft.com/office/drawing/2014/main" id="{C0FFD096-86AF-4506-ACD3-B78F0A61D428}"/>
                  </a:ext>
                </a:extLst>
              </p:cNvPr>
              <p:cNvSpPr>
                <a:spLocks noRot="1" noChangeAspect="1" noMove="1" noResize="1" noEditPoints="1" noAdjustHandles="1" noChangeArrowheads="1" noChangeShapeType="1" noTextEdit="1"/>
              </p:cNvSpPr>
              <p:nvPr/>
            </p:nvSpPr>
            <p:spPr>
              <a:xfrm>
                <a:off x="4722756" y="4673582"/>
                <a:ext cx="4176000" cy="1347614"/>
              </a:xfrm>
              <a:prstGeom prst="borderCallout2">
                <a:avLst>
                  <a:gd name="adj1" fmla="val 19920"/>
                  <a:gd name="adj2" fmla="val -807"/>
                  <a:gd name="adj3" fmla="val 19920"/>
                  <a:gd name="adj4" fmla="val -8115"/>
                  <a:gd name="adj5" fmla="val -57135"/>
                  <a:gd name="adj6" fmla="val -5728"/>
                </a:avLst>
              </a:prstGeom>
              <a:blipFill>
                <a:blip r:embed="rId4"/>
                <a:stretch>
                  <a:fillRect r="-3490"/>
                </a:stretch>
              </a:blipFill>
              <a:ln>
                <a:headEnd type="none" w="med" len="med"/>
                <a:tailEnd type="triangle" w="med" len="med"/>
              </a:ln>
            </p:spPr>
            <p:txBody>
              <a:bodyPr/>
              <a:lstStyle/>
              <a:p>
                <a:r>
                  <a:rPr lang="zh-CN" altLang="en-US">
                    <a:noFill/>
                  </a:rPr>
                  <a:t> </a:t>
                </a:r>
              </a:p>
            </p:txBody>
          </p:sp>
        </mc:Fallback>
      </mc:AlternateContent>
      <p:sp>
        <p:nvSpPr>
          <p:cNvPr id="3" name="页脚占位符 2">
            <a:extLst>
              <a:ext uri="{FF2B5EF4-FFF2-40B4-BE49-F238E27FC236}">
                <a16:creationId xmlns:a16="http://schemas.microsoft.com/office/drawing/2014/main" id="{8DEB7685-8C9E-4C40-8648-7E7AD4478ED4}"/>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37535745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信息增益率</a:t>
            </a:r>
          </a:p>
        </p:txBody>
      </p:sp>
      <p:sp>
        <p:nvSpPr>
          <p:cNvPr id="45063" name="内容占位符 2"/>
          <p:cNvSpPr>
            <a:spLocks noGrp="1"/>
          </p:cNvSpPr>
          <p:nvPr>
            <p:ph idx="1"/>
          </p:nvPr>
        </p:nvSpPr>
        <p:spPr/>
        <p:txBody>
          <a:bodyPr/>
          <a:lstStyle/>
          <a:p>
            <a:pPr marL="0" indent="0">
              <a:buNone/>
            </a:pPr>
            <a:r>
              <a:rPr lang="en-US" altLang="zh-CN" dirty="0"/>
              <a:t>【</a:t>
            </a:r>
            <a:r>
              <a:rPr lang="zh-CN" altLang="en-US" dirty="0"/>
              <a:t>例</a:t>
            </a:r>
            <a:r>
              <a:rPr lang="en-US" altLang="zh-CN" dirty="0"/>
              <a:t>】</a:t>
            </a:r>
            <a:endParaRPr lang="zh-CN" altLang="en-US" dirty="0"/>
          </a:p>
        </p:txBody>
      </p:sp>
      <mc:AlternateContent xmlns:mc="http://schemas.openxmlformats.org/markup-compatibility/2006" xmlns:a14="http://schemas.microsoft.com/office/drawing/2010/main">
        <mc:Choice Requires="a14">
          <p:sp>
            <p:nvSpPr>
              <p:cNvPr id="10" name="对象 9"/>
              <p:cNvSpPr txBox="1"/>
              <p:nvPr/>
            </p:nvSpPr>
            <p:spPr bwMode="auto">
              <a:xfrm>
                <a:off x="479424" y="2317750"/>
                <a:ext cx="3645268" cy="396000"/>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𝐼𝑛𝑓𝑜𝐺𝑎𝑖𝑛</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𝑆</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𝑂𝑢𝑡𝑙𝑜𝑜𝑘</m:t>
                          </m:r>
                        </m:e>
                      </m:d>
                      <m:r>
                        <a:rPr lang="zh-CN" altLang="en-US" i="1">
                          <a:solidFill>
                            <a:srgbClr val="000000"/>
                          </a:solidFill>
                          <a:latin typeface="Cambria Math" panose="02040503050406030204" pitchFamily="18" charset="0"/>
                        </a:rPr>
                        <m:t>=0.247</m:t>
                      </m:r>
                    </m:oMath>
                  </m:oMathPara>
                </a14:m>
                <a:endParaRPr lang="zh-CN" altLang="en-US"/>
              </a:p>
            </p:txBody>
          </p:sp>
        </mc:Choice>
        <mc:Fallback xmlns="">
          <p:sp>
            <p:nvSpPr>
              <p:cNvPr id="10" name="对象 9"/>
              <p:cNvSpPr txBox="1">
                <a:spLocks noRot="1" noChangeAspect="1" noMove="1" noResize="1" noEditPoints="1" noAdjustHandles="1" noChangeArrowheads="1" noChangeShapeType="1" noTextEdit="1"/>
              </p:cNvSpPr>
              <p:nvPr/>
            </p:nvSpPr>
            <p:spPr bwMode="auto">
              <a:xfrm>
                <a:off x="479424" y="2317750"/>
                <a:ext cx="3645268" cy="396000"/>
              </a:xfrm>
              <a:prstGeom prst="rect">
                <a:avLst/>
              </a:prstGeom>
              <a:blipFill>
                <a:blip r:embed="rId2"/>
                <a:stretch>
                  <a:fillRect b="-7692"/>
                </a:stretch>
              </a:blipFill>
              <a:ln>
                <a:noFill/>
              </a:ln>
              <a:extLst/>
            </p:spPr>
            <p:txBody>
              <a:bodyPr/>
              <a:lstStyle/>
              <a:p>
                <a:r>
                  <a:rPr lang="zh-CN" altLang="en-US">
                    <a:noFill/>
                  </a:rPr>
                  <a:t> </a:t>
                </a:r>
              </a:p>
            </p:txBody>
          </p:sp>
        </mc:Fallback>
      </mc:AlternateContent>
      <p:graphicFrame>
        <p:nvGraphicFramePr>
          <p:cNvPr id="13" name="表格 12"/>
          <p:cNvGraphicFramePr>
            <a:graphicFrameLocks noGrp="1"/>
          </p:cNvGraphicFramePr>
          <p:nvPr/>
        </p:nvGraphicFramePr>
        <p:xfrm>
          <a:off x="4427984" y="1095941"/>
          <a:ext cx="4608066" cy="2514600"/>
        </p:xfrm>
        <a:graphic>
          <a:graphicData uri="http://schemas.openxmlformats.org/drawingml/2006/table">
            <a:tbl>
              <a:tblPr/>
              <a:tblGrid>
                <a:gridCol w="494731">
                  <a:extLst>
                    <a:ext uri="{9D8B030D-6E8A-4147-A177-3AD203B41FA5}">
                      <a16:colId xmlns:a16="http://schemas.microsoft.com/office/drawing/2014/main" val="20000"/>
                    </a:ext>
                  </a:extLst>
                </a:gridCol>
                <a:gridCol w="819840">
                  <a:extLst>
                    <a:ext uri="{9D8B030D-6E8A-4147-A177-3AD203B41FA5}">
                      <a16:colId xmlns:a16="http://schemas.microsoft.com/office/drawing/2014/main" val="20001"/>
                    </a:ext>
                  </a:extLst>
                </a:gridCol>
                <a:gridCol w="1203257">
                  <a:extLst>
                    <a:ext uri="{9D8B030D-6E8A-4147-A177-3AD203B41FA5}">
                      <a16:colId xmlns:a16="http://schemas.microsoft.com/office/drawing/2014/main" val="20002"/>
                    </a:ext>
                  </a:extLst>
                </a:gridCol>
                <a:gridCol w="690856">
                  <a:extLst>
                    <a:ext uri="{9D8B030D-6E8A-4147-A177-3AD203B41FA5}">
                      <a16:colId xmlns:a16="http://schemas.microsoft.com/office/drawing/2014/main" val="20003"/>
                    </a:ext>
                  </a:extLst>
                </a:gridCol>
                <a:gridCol w="909952">
                  <a:extLst>
                    <a:ext uri="{9D8B030D-6E8A-4147-A177-3AD203B41FA5}">
                      <a16:colId xmlns:a16="http://schemas.microsoft.com/office/drawing/2014/main" val="20004"/>
                    </a:ext>
                  </a:extLst>
                </a:gridCol>
                <a:gridCol w="489430">
                  <a:extLst>
                    <a:ext uri="{9D8B030D-6E8A-4147-A177-3AD203B41FA5}">
                      <a16:colId xmlns:a16="http://schemas.microsoft.com/office/drawing/2014/main" val="20005"/>
                    </a:ext>
                  </a:extLst>
                </a:gridCol>
              </a:tblGrid>
              <a:tr h="167164">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1" i="0" u="none" strike="noStrike" cap="none" normalizeH="0" baseline="0" dirty="0">
                          <a:ln>
                            <a:noFill/>
                          </a:ln>
                          <a:solidFill>
                            <a:srgbClr val="FFFFFF"/>
                          </a:solidFill>
                          <a:effectLst/>
                          <a:latin typeface="Times New Roman" pitchFamily="18" charset="0"/>
                          <a:ea typeface="华文细黑" pitchFamily="2" charset="-122"/>
                        </a:rPr>
                        <a:t>NO.</a:t>
                      </a:r>
                      <a:endParaRPr kumimoji="0" lang="zh-CN" altLang="zh-CN" sz="1400" b="1" i="0" u="none" strike="noStrike" cap="none" normalizeH="0" baseline="0" dirty="0">
                        <a:ln>
                          <a:noFill/>
                        </a:ln>
                        <a:solidFill>
                          <a:srgbClr val="FFFFFF"/>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1" i="0" u="none" strike="noStrike" cap="none" normalizeH="0" baseline="0" dirty="0">
                          <a:ln>
                            <a:noFill/>
                          </a:ln>
                          <a:solidFill>
                            <a:srgbClr val="FFFFFF"/>
                          </a:solidFill>
                          <a:effectLst/>
                          <a:latin typeface="Times New Roman" pitchFamily="18" charset="0"/>
                          <a:ea typeface="华文细黑" pitchFamily="2" charset="-122"/>
                        </a:rPr>
                        <a:t>Outlook</a:t>
                      </a:r>
                      <a:endParaRPr kumimoji="0" lang="zh-CN" altLang="zh-CN" sz="1400" b="1" i="0" u="none" strike="noStrike" cap="none" normalizeH="0" baseline="0" dirty="0">
                        <a:ln>
                          <a:noFill/>
                        </a:ln>
                        <a:solidFill>
                          <a:srgbClr val="FFFFFF"/>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1" i="0" u="none" strike="noStrike" cap="none" normalizeH="0" baseline="0" dirty="0">
                          <a:ln>
                            <a:noFill/>
                          </a:ln>
                          <a:solidFill>
                            <a:srgbClr val="FFFFFF"/>
                          </a:solidFill>
                          <a:effectLst/>
                          <a:latin typeface="Times New Roman" pitchFamily="18" charset="0"/>
                          <a:ea typeface="华文细黑" pitchFamily="2" charset="-122"/>
                        </a:rPr>
                        <a:t>Temperature</a:t>
                      </a:r>
                      <a:endParaRPr kumimoji="0" lang="zh-CN" altLang="zh-CN" sz="1400" b="1" i="0" u="none" strike="noStrike" cap="none" normalizeH="0" baseline="0" dirty="0">
                        <a:ln>
                          <a:noFill/>
                        </a:ln>
                        <a:solidFill>
                          <a:srgbClr val="FFFFFF"/>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1" i="0" u="none" strike="noStrike" cap="none" normalizeH="0" baseline="0" dirty="0">
                          <a:ln>
                            <a:noFill/>
                          </a:ln>
                          <a:solidFill>
                            <a:srgbClr val="FFFFFF"/>
                          </a:solidFill>
                          <a:effectLst/>
                          <a:latin typeface="Times New Roman" pitchFamily="18" charset="0"/>
                          <a:ea typeface="华文细黑" pitchFamily="2" charset="-122"/>
                        </a:rPr>
                        <a:t>Windy</a:t>
                      </a:r>
                      <a:endParaRPr kumimoji="0" lang="zh-CN" altLang="zh-CN" sz="1400" b="1" i="0" u="none" strike="noStrike" cap="none" normalizeH="0" baseline="0" dirty="0">
                        <a:ln>
                          <a:noFill/>
                        </a:ln>
                        <a:solidFill>
                          <a:srgbClr val="FFFFFF"/>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1" i="0" u="none" strike="noStrike" cap="none" normalizeH="0" baseline="0" dirty="0">
                          <a:ln>
                            <a:noFill/>
                          </a:ln>
                          <a:solidFill>
                            <a:srgbClr val="FFFFFF"/>
                          </a:solidFill>
                          <a:effectLst/>
                          <a:latin typeface="Times New Roman" pitchFamily="18" charset="0"/>
                          <a:ea typeface="华文细黑" pitchFamily="2" charset="-122"/>
                        </a:rPr>
                        <a:t>Humidity</a:t>
                      </a:r>
                      <a:endParaRPr kumimoji="0" lang="zh-CN" altLang="zh-CN" sz="1400" b="1" i="0" u="none" strike="noStrike" cap="none" normalizeH="0" baseline="0" dirty="0">
                        <a:ln>
                          <a:noFill/>
                        </a:ln>
                        <a:solidFill>
                          <a:srgbClr val="FFFFFF"/>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100" b="1" i="0" u="none" strike="noStrike" cap="none" normalizeH="0" baseline="0" dirty="0">
                          <a:ln>
                            <a:noFill/>
                          </a:ln>
                          <a:solidFill>
                            <a:srgbClr val="FFFFFF"/>
                          </a:solidFill>
                          <a:effectLst/>
                          <a:latin typeface="Times New Roman" pitchFamily="18" charset="0"/>
                          <a:ea typeface="华文细黑" pitchFamily="2" charset="-122"/>
                        </a:rPr>
                        <a:t>Play</a:t>
                      </a:r>
                      <a:endParaRPr kumimoji="0" lang="zh-CN" altLang="zh-CN" sz="1400" b="1" i="0" u="none" strike="noStrike" cap="none" normalizeH="0" baseline="0" dirty="0">
                        <a:ln>
                          <a:noFill/>
                        </a:ln>
                        <a:solidFill>
                          <a:srgbClr val="FFFFFF"/>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64592">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1" i="0" u="none" strike="noStrike" cap="none" normalizeH="0" baseline="0" dirty="0">
                          <a:ln>
                            <a:noFill/>
                          </a:ln>
                          <a:solidFill>
                            <a:srgbClr val="FFFFFF"/>
                          </a:solidFill>
                          <a:effectLst/>
                          <a:latin typeface="Times New Roman" pitchFamily="18" charset="0"/>
                          <a:ea typeface="华文细黑" pitchFamily="2" charset="-122"/>
                        </a:rPr>
                        <a:t>1</a:t>
                      </a:r>
                      <a:endParaRPr kumimoji="0" lang="zh-CN" altLang="zh-CN" sz="1400" b="1" i="0" u="none" strike="noStrike" cap="none" normalizeH="0" baseline="0" dirty="0">
                        <a:ln>
                          <a:noFill/>
                        </a:ln>
                        <a:solidFill>
                          <a:srgbClr val="FFFFFF"/>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sunny</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hot</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false</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High</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no</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extLst>
                  <a:ext uri="{0D108BD9-81ED-4DB2-BD59-A6C34878D82A}">
                    <a16:rowId xmlns:a16="http://schemas.microsoft.com/office/drawing/2014/main" val="10001"/>
                  </a:ext>
                </a:extLst>
              </a:tr>
              <a:tr h="164592">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1" i="0" u="none" strike="noStrike" cap="none" normalizeH="0" baseline="0" dirty="0">
                          <a:ln>
                            <a:noFill/>
                          </a:ln>
                          <a:solidFill>
                            <a:srgbClr val="FFFFFF"/>
                          </a:solidFill>
                          <a:effectLst/>
                          <a:latin typeface="Times New Roman" pitchFamily="18" charset="0"/>
                          <a:ea typeface="华文细黑" pitchFamily="2" charset="-122"/>
                        </a:rPr>
                        <a:t>2</a:t>
                      </a:r>
                      <a:endParaRPr kumimoji="0" lang="zh-CN" altLang="zh-CN" sz="1400" b="1" i="0" u="none" strike="noStrike" cap="none" normalizeH="0" baseline="0" dirty="0">
                        <a:ln>
                          <a:noFill/>
                        </a:ln>
                        <a:solidFill>
                          <a:srgbClr val="FFFFFF"/>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sunny</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hot</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true</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High</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no</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extLst>
                  <a:ext uri="{0D108BD9-81ED-4DB2-BD59-A6C34878D82A}">
                    <a16:rowId xmlns:a16="http://schemas.microsoft.com/office/drawing/2014/main" val="10002"/>
                  </a:ext>
                </a:extLst>
              </a:tr>
              <a:tr h="164592">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1" i="0" u="none" strike="noStrike" cap="none" normalizeH="0" baseline="0" dirty="0">
                          <a:ln>
                            <a:noFill/>
                          </a:ln>
                          <a:solidFill>
                            <a:srgbClr val="FFFFFF"/>
                          </a:solidFill>
                          <a:effectLst/>
                          <a:latin typeface="Times New Roman" pitchFamily="18" charset="0"/>
                          <a:ea typeface="华文细黑" pitchFamily="2" charset="-122"/>
                        </a:rPr>
                        <a:t>3</a:t>
                      </a:r>
                      <a:endParaRPr kumimoji="0" lang="zh-CN" altLang="zh-CN" sz="1400" b="1" i="0" u="none" strike="noStrike" cap="none" normalizeH="0" baseline="0" dirty="0">
                        <a:ln>
                          <a:noFill/>
                        </a:ln>
                        <a:solidFill>
                          <a:srgbClr val="FFFFFF"/>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overcast</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hot</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false</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High</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yes</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extLst>
                  <a:ext uri="{0D108BD9-81ED-4DB2-BD59-A6C34878D82A}">
                    <a16:rowId xmlns:a16="http://schemas.microsoft.com/office/drawing/2014/main" val="10003"/>
                  </a:ext>
                </a:extLst>
              </a:tr>
              <a:tr h="164592">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1" i="0" u="none" strike="noStrike" cap="none" normalizeH="0" baseline="0" dirty="0">
                          <a:ln>
                            <a:noFill/>
                          </a:ln>
                          <a:solidFill>
                            <a:srgbClr val="FFFFFF"/>
                          </a:solidFill>
                          <a:effectLst/>
                          <a:latin typeface="Times New Roman" pitchFamily="18" charset="0"/>
                          <a:ea typeface="华文细黑" pitchFamily="2" charset="-122"/>
                        </a:rPr>
                        <a:t>4</a:t>
                      </a:r>
                      <a:endParaRPr kumimoji="0" lang="zh-CN" altLang="zh-CN" sz="1400" b="1" i="0" u="none" strike="noStrike" cap="none" normalizeH="0" baseline="0" dirty="0">
                        <a:ln>
                          <a:noFill/>
                        </a:ln>
                        <a:solidFill>
                          <a:srgbClr val="FFFFFF"/>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rain</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mild</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false</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High</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yes</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extLst>
                  <a:ext uri="{0D108BD9-81ED-4DB2-BD59-A6C34878D82A}">
                    <a16:rowId xmlns:a16="http://schemas.microsoft.com/office/drawing/2014/main" val="10004"/>
                  </a:ext>
                </a:extLst>
              </a:tr>
              <a:tr h="164592">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1" i="0" u="none" strike="noStrike" cap="none" normalizeH="0" baseline="0" dirty="0">
                          <a:ln>
                            <a:noFill/>
                          </a:ln>
                          <a:solidFill>
                            <a:srgbClr val="FFFFFF"/>
                          </a:solidFill>
                          <a:effectLst/>
                          <a:latin typeface="Times New Roman" pitchFamily="18" charset="0"/>
                          <a:ea typeface="华文细黑" pitchFamily="2" charset="-122"/>
                        </a:rPr>
                        <a:t>5</a:t>
                      </a:r>
                      <a:endParaRPr kumimoji="0" lang="zh-CN" altLang="zh-CN" sz="1400" b="1" i="0" u="none" strike="noStrike" cap="none" normalizeH="0" baseline="0" dirty="0">
                        <a:ln>
                          <a:noFill/>
                        </a:ln>
                        <a:solidFill>
                          <a:srgbClr val="FFFFFF"/>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rain</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cool</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false</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Normal</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yes</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extLst>
                  <a:ext uri="{0D108BD9-81ED-4DB2-BD59-A6C34878D82A}">
                    <a16:rowId xmlns:a16="http://schemas.microsoft.com/office/drawing/2014/main" val="10005"/>
                  </a:ext>
                </a:extLst>
              </a:tr>
              <a:tr h="164592">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1" i="0" u="none" strike="noStrike" cap="none" normalizeH="0" baseline="0" dirty="0">
                          <a:ln>
                            <a:noFill/>
                          </a:ln>
                          <a:solidFill>
                            <a:srgbClr val="FFFFFF"/>
                          </a:solidFill>
                          <a:effectLst/>
                          <a:latin typeface="Times New Roman" pitchFamily="18" charset="0"/>
                          <a:ea typeface="华文细黑" pitchFamily="2" charset="-122"/>
                        </a:rPr>
                        <a:t>6</a:t>
                      </a:r>
                      <a:endParaRPr kumimoji="0" lang="zh-CN" altLang="zh-CN" sz="1400" b="1" i="0" u="none" strike="noStrike" cap="none" normalizeH="0" baseline="0" dirty="0">
                        <a:ln>
                          <a:noFill/>
                        </a:ln>
                        <a:solidFill>
                          <a:srgbClr val="FFFFFF"/>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rain</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cool</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true</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Normal</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no</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extLst>
                  <a:ext uri="{0D108BD9-81ED-4DB2-BD59-A6C34878D82A}">
                    <a16:rowId xmlns:a16="http://schemas.microsoft.com/office/drawing/2014/main" val="10006"/>
                  </a:ext>
                </a:extLst>
              </a:tr>
              <a:tr h="164592">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1" i="0" u="none" strike="noStrike" cap="none" normalizeH="0" baseline="0" dirty="0">
                          <a:ln>
                            <a:noFill/>
                          </a:ln>
                          <a:solidFill>
                            <a:srgbClr val="FFFFFF"/>
                          </a:solidFill>
                          <a:effectLst/>
                          <a:latin typeface="Times New Roman" pitchFamily="18" charset="0"/>
                          <a:ea typeface="华文细黑" pitchFamily="2" charset="-122"/>
                        </a:rPr>
                        <a:t>7</a:t>
                      </a:r>
                      <a:endParaRPr kumimoji="0" lang="zh-CN" altLang="zh-CN" sz="1400" b="1" i="0" u="none" strike="noStrike" cap="none" normalizeH="0" baseline="0" dirty="0">
                        <a:ln>
                          <a:noFill/>
                        </a:ln>
                        <a:solidFill>
                          <a:srgbClr val="FFFFFF"/>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overcast</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cool</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true</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Normal</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yes</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extLst>
                  <a:ext uri="{0D108BD9-81ED-4DB2-BD59-A6C34878D82A}">
                    <a16:rowId xmlns:a16="http://schemas.microsoft.com/office/drawing/2014/main" val="10007"/>
                  </a:ext>
                </a:extLst>
              </a:tr>
              <a:tr h="164592">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1" i="0" u="none" strike="noStrike" cap="none" normalizeH="0" baseline="0" dirty="0">
                          <a:ln>
                            <a:noFill/>
                          </a:ln>
                          <a:solidFill>
                            <a:srgbClr val="FFFFFF"/>
                          </a:solidFill>
                          <a:effectLst/>
                          <a:latin typeface="Times New Roman" pitchFamily="18" charset="0"/>
                          <a:ea typeface="华文细黑" pitchFamily="2" charset="-122"/>
                        </a:rPr>
                        <a:t>8</a:t>
                      </a:r>
                      <a:endParaRPr kumimoji="0" lang="zh-CN" altLang="zh-CN" sz="1400" b="1" i="0" u="none" strike="noStrike" cap="none" normalizeH="0" baseline="0" dirty="0">
                        <a:ln>
                          <a:noFill/>
                        </a:ln>
                        <a:solidFill>
                          <a:srgbClr val="FFFFFF"/>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sunny</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mild</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false</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High</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no</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extLst>
                  <a:ext uri="{0D108BD9-81ED-4DB2-BD59-A6C34878D82A}">
                    <a16:rowId xmlns:a16="http://schemas.microsoft.com/office/drawing/2014/main" val="10008"/>
                  </a:ext>
                </a:extLst>
              </a:tr>
              <a:tr h="164592">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1" i="0" u="none" strike="noStrike" cap="none" normalizeH="0" baseline="0" dirty="0">
                          <a:ln>
                            <a:noFill/>
                          </a:ln>
                          <a:solidFill>
                            <a:srgbClr val="FFFFFF"/>
                          </a:solidFill>
                          <a:effectLst/>
                          <a:latin typeface="Times New Roman" pitchFamily="18" charset="0"/>
                          <a:ea typeface="华文细黑" pitchFamily="2" charset="-122"/>
                        </a:rPr>
                        <a:t>9</a:t>
                      </a:r>
                      <a:endParaRPr kumimoji="0" lang="zh-CN" altLang="zh-CN" sz="1400" b="1" i="0" u="none" strike="noStrike" cap="none" normalizeH="0" baseline="0" dirty="0">
                        <a:ln>
                          <a:noFill/>
                        </a:ln>
                        <a:solidFill>
                          <a:srgbClr val="FFFFFF"/>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sunny</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cool</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false</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Normal</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yes</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extLst>
                  <a:ext uri="{0D108BD9-81ED-4DB2-BD59-A6C34878D82A}">
                    <a16:rowId xmlns:a16="http://schemas.microsoft.com/office/drawing/2014/main" val="10009"/>
                  </a:ext>
                </a:extLst>
              </a:tr>
              <a:tr h="164592">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1" i="0" u="none" strike="noStrike" cap="none" normalizeH="0" baseline="0" dirty="0">
                          <a:ln>
                            <a:noFill/>
                          </a:ln>
                          <a:solidFill>
                            <a:srgbClr val="FFFFFF"/>
                          </a:solidFill>
                          <a:effectLst/>
                          <a:latin typeface="Times New Roman" pitchFamily="18" charset="0"/>
                          <a:ea typeface="华文细黑" pitchFamily="2" charset="-122"/>
                        </a:rPr>
                        <a:t>10</a:t>
                      </a:r>
                      <a:endParaRPr kumimoji="0" lang="zh-CN" altLang="zh-CN" sz="1400" b="1" i="0" u="none" strike="noStrike" cap="none" normalizeH="0" baseline="0" dirty="0">
                        <a:ln>
                          <a:noFill/>
                        </a:ln>
                        <a:solidFill>
                          <a:srgbClr val="FFFFFF"/>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rain</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mild</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false</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Normal</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yes</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extLst>
                  <a:ext uri="{0D108BD9-81ED-4DB2-BD59-A6C34878D82A}">
                    <a16:rowId xmlns:a16="http://schemas.microsoft.com/office/drawing/2014/main" val="10010"/>
                  </a:ext>
                </a:extLst>
              </a:tr>
              <a:tr h="164592">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1" i="0" u="none" strike="noStrike" cap="none" normalizeH="0" baseline="0" dirty="0">
                          <a:ln>
                            <a:noFill/>
                          </a:ln>
                          <a:solidFill>
                            <a:srgbClr val="FFFFFF"/>
                          </a:solidFill>
                          <a:effectLst/>
                          <a:latin typeface="Times New Roman" pitchFamily="18" charset="0"/>
                          <a:ea typeface="华文细黑" pitchFamily="2" charset="-122"/>
                        </a:rPr>
                        <a:t>11</a:t>
                      </a:r>
                      <a:endParaRPr kumimoji="0" lang="zh-CN" altLang="zh-CN" sz="1400" b="1" i="0" u="none" strike="noStrike" cap="none" normalizeH="0" baseline="0" dirty="0">
                        <a:ln>
                          <a:noFill/>
                        </a:ln>
                        <a:solidFill>
                          <a:srgbClr val="FFFFFF"/>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sunny</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mild</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true</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Normal</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yes</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extLst>
                  <a:ext uri="{0D108BD9-81ED-4DB2-BD59-A6C34878D82A}">
                    <a16:rowId xmlns:a16="http://schemas.microsoft.com/office/drawing/2014/main" val="10011"/>
                  </a:ext>
                </a:extLst>
              </a:tr>
              <a:tr h="164592">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1" i="0" u="none" strike="noStrike" cap="none" normalizeH="0" baseline="0" dirty="0">
                          <a:ln>
                            <a:noFill/>
                          </a:ln>
                          <a:solidFill>
                            <a:srgbClr val="FFFFFF"/>
                          </a:solidFill>
                          <a:effectLst/>
                          <a:latin typeface="Times New Roman" pitchFamily="18" charset="0"/>
                          <a:ea typeface="华文细黑" pitchFamily="2" charset="-122"/>
                        </a:rPr>
                        <a:t>12</a:t>
                      </a:r>
                      <a:endParaRPr kumimoji="0" lang="zh-CN" altLang="zh-CN" sz="1400" b="1" i="0" u="none" strike="noStrike" cap="none" normalizeH="0" baseline="0" dirty="0">
                        <a:ln>
                          <a:noFill/>
                        </a:ln>
                        <a:solidFill>
                          <a:srgbClr val="FFFFFF"/>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overcast</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mild</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true</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High</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yes</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extLst>
                  <a:ext uri="{0D108BD9-81ED-4DB2-BD59-A6C34878D82A}">
                    <a16:rowId xmlns:a16="http://schemas.microsoft.com/office/drawing/2014/main" val="10012"/>
                  </a:ext>
                </a:extLst>
              </a:tr>
              <a:tr h="164592">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1" i="0" u="none" strike="noStrike" cap="none" normalizeH="0" baseline="0" dirty="0">
                          <a:ln>
                            <a:noFill/>
                          </a:ln>
                          <a:solidFill>
                            <a:srgbClr val="FFFFFF"/>
                          </a:solidFill>
                          <a:effectLst/>
                          <a:latin typeface="Times New Roman" pitchFamily="18" charset="0"/>
                          <a:ea typeface="华文细黑" pitchFamily="2" charset="-122"/>
                        </a:rPr>
                        <a:t>13</a:t>
                      </a:r>
                      <a:endParaRPr kumimoji="0" lang="zh-CN" altLang="zh-CN" sz="1400" b="1" i="0" u="none" strike="noStrike" cap="none" normalizeH="0" baseline="0" dirty="0">
                        <a:ln>
                          <a:noFill/>
                        </a:ln>
                        <a:solidFill>
                          <a:srgbClr val="FFFFFF"/>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overcast</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hot</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false</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Normal</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yes</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extLst>
                  <a:ext uri="{0D108BD9-81ED-4DB2-BD59-A6C34878D82A}">
                    <a16:rowId xmlns:a16="http://schemas.microsoft.com/office/drawing/2014/main" val="10013"/>
                  </a:ext>
                </a:extLst>
              </a:tr>
              <a:tr h="164592">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1" i="0" u="none" strike="noStrike" cap="none" normalizeH="0" baseline="0" dirty="0">
                          <a:ln>
                            <a:noFill/>
                          </a:ln>
                          <a:solidFill>
                            <a:srgbClr val="FFFFFF"/>
                          </a:solidFill>
                          <a:effectLst/>
                          <a:latin typeface="Times New Roman" pitchFamily="18" charset="0"/>
                          <a:ea typeface="华文细黑" pitchFamily="2" charset="-122"/>
                        </a:rPr>
                        <a:t>14</a:t>
                      </a:r>
                      <a:endParaRPr kumimoji="0" lang="zh-CN" altLang="zh-CN" sz="1400" b="1" i="0" u="none" strike="noStrike" cap="none" normalizeH="0" baseline="0" dirty="0">
                        <a:ln>
                          <a:noFill/>
                        </a:ln>
                        <a:solidFill>
                          <a:srgbClr val="FFFFFF"/>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rain</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mild</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true</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High</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华文细黑" pitchFamily="2" charset="-122"/>
                        </a:rPr>
                        <a:t>no</a:t>
                      </a:r>
                      <a:endParaRPr kumimoji="0" lang="zh-CN" altLang="zh-CN" sz="1400" b="0" i="0" u="none" strike="noStrike" cap="none" normalizeH="0" baseline="0" dirty="0">
                        <a:ln>
                          <a:noFill/>
                        </a:ln>
                        <a:solidFill>
                          <a:srgbClr val="000000"/>
                        </a:solidFill>
                        <a:effectLst/>
                        <a:latin typeface="Calibri" pitchFamily="34" charset="0"/>
                        <a:ea typeface="华文细黑"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extLst>
                  <a:ext uri="{0D108BD9-81ED-4DB2-BD59-A6C34878D82A}">
                    <a16:rowId xmlns:a16="http://schemas.microsoft.com/office/drawing/2014/main" val="10014"/>
                  </a:ext>
                </a:extLst>
              </a:tr>
            </a:tbl>
          </a:graphicData>
        </a:graphic>
      </p:graphicFrame>
      <mc:AlternateContent xmlns:mc="http://schemas.openxmlformats.org/markup-compatibility/2006" xmlns:a14="http://schemas.microsoft.com/office/drawing/2010/main">
        <mc:Choice Requires="a14">
          <p:sp>
            <p:nvSpPr>
              <p:cNvPr id="14" name="对象 13"/>
              <p:cNvSpPr txBox="1"/>
              <p:nvPr/>
            </p:nvSpPr>
            <p:spPr bwMode="auto">
              <a:xfrm>
                <a:off x="611560" y="3622675"/>
                <a:ext cx="8187532" cy="720000"/>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𝑆𝑝𝑙𝑖𝑡𝐼𝑛𝑓𝑜</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𝑆</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𝑂𝑢𝑡𝑙𝑜𝑜𝑘</m:t>
                          </m:r>
                        </m:e>
                      </m:d>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5</m:t>
                          </m:r>
                        </m:num>
                        <m:den>
                          <m:r>
                            <a:rPr lang="zh-CN" altLang="en-US" i="1">
                              <a:solidFill>
                                <a:srgbClr val="000000"/>
                              </a:solidFill>
                              <a:latin typeface="Cambria Math" panose="02040503050406030204" pitchFamily="18" charset="0"/>
                            </a:rPr>
                            <m:t>14</m:t>
                          </m:r>
                        </m:den>
                      </m:f>
                      <m:r>
                        <a:rPr lang="zh-CN" altLang="en-US" i="1">
                          <a:solidFill>
                            <a:srgbClr val="000000"/>
                          </a:solidFill>
                          <a:latin typeface="Cambria Math" panose="02040503050406030204" pitchFamily="18" charset="0"/>
                        </a:rPr>
                        <m:t>𝑙𝑜</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𝑔</m:t>
                          </m:r>
                        </m:e>
                        <m:sub>
                          <m:r>
                            <a:rPr lang="zh-CN" altLang="en-US" i="1">
                              <a:solidFill>
                                <a:srgbClr val="000000"/>
                              </a:solidFill>
                              <a:latin typeface="Cambria Math" panose="02040503050406030204" pitchFamily="18" charset="0"/>
                            </a:rPr>
                            <m:t>2</m:t>
                          </m:r>
                        </m:sub>
                      </m:sSub>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5</m:t>
                          </m:r>
                        </m:num>
                        <m:den>
                          <m:r>
                            <a:rPr lang="zh-CN" altLang="en-US" i="1">
                              <a:solidFill>
                                <a:srgbClr val="000000"/>
                              </a:solidFill>
                              <a:latin typeface="Cambria Math" panose="02040503050406030204" pitchFamily="18" charset="0"/>
                            </a:rPr>
                            <m:t>14</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4</m:t>
                          </m:r>
                        </m:num>
                        <m:den>
                          <m:r>
                            <a:rPr lang="zh-CN" altLang="en-US" i="1">
                              <a:solidFill>
                                <a:srgbClr val="000000"/>
                              </a:solidFill>
                              <a:latin typeface="Cambria Math" panose="02040503050406030204" pitchFamily="18" charset="0"/>
                            </a:rPr>
                            <m:t>14</m:t>
                          </m:r>
                        </m:den>
                      </m:f>
                      <m:r>
                        <a:rPr lang="zh-CN" altLang="en-US" i="1">
                          <a:solidFill>
                            <a:srgbClr val="000000"/>
                          </a:solidFill>
                          <a:latin typeface="Cambria Math" panose="02040503050406030204" pitchFamily="18" charset="0"/>
                        </a:rPr>
                        <m:t>𝑙𝑜</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𝑔</m:t>
                          </m:r>
                        </m:e>
                        <m:sub>
                          <m:r>
                            <a:rPr lang="zh-CN" altLang="en-US" i="1">
                              <a:solidFill>
                                <a:srgbClr val="000000"/>
                              </a:solidFill>
                              <a:latin typeface="Cambria Math" panose="02040503050406030204" pitchFamily="18" charset="0"/>
                            </a:rPr>
                            <m:t>2</m:t>
                          </m:r>
                        </m:sub>
                      </m:sSub>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4</m:t>
                          </m:r>
                        </m:num>
                        <m:den>
                          <m:r>
                            <a:rPr lang="zh-CN" altLang="en-US" i="1">
                              <a:solidFill>
                                <a:srgbClr val="000000"/>
                              </a:solidFill>
                              <a:latin typeface="Cambria Math" panose="02040503050406030204" pitchFamily="18" charset="0"/>
                            </a:rPr>
                            <m:t>14</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5</m:t>
                          </m:r>
                        </m:num>
                        <m:den>
                          <m:r>
                            <a:rPr lang="zh-CN" altLang="en-US" i="1">
                              <a:solidFill>
                                <a:srgbClr val="000000"/>
                              </a:solidFill>
                              <a:latin typeface="Cambria Math" panose="02040503050406030204" pitchFamily="18" charset="0"/>
                            </a:rPr>
                            <m:t>14</m:t>
                          </m:r>
                        </m:den>
                      </m:f>
                      <m:r>
                        <a:rPr lang="zh-CN" altLang="en-US" i="1">
                          <a:solidFill>
                            <a:srgbClr val="000000"/>
                          </a:solidFill>
                          <a:latin typeface="Cambria Math" panose="02040503050406030204" pitchFamily="18" charset="0"/>
                        </a:rPr>
                        <m:t>𝑙𝑜</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𝑔</m:t>
                          </m:r>
                        </m:e>
                        <m:sub>
                          <m:r>
                            <a:rPr lang="zh-CN" altLang="en-US" i="1">
                              <a:solidFill>
                                <a:srgbClr val="000000"/>
                              </a:solidFill>
                              <a:latin typeface="Cambria Math" panose="02040503050406030204" pitchFamily="18" charset="0"/>
                            </a:rPr>
                            <m:t>2</m:t>
                          </m:r>
                        </m:sub>
                      </m:sSub>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5</m:t>
                          </m:r>
                        </m:num>
                        <m:den>
                          <m:r>
                            <a:rPr lang="zh-CN" altLang="en-US" i="1">
                              <a:solidFill>
                                <a:srgbClr val="000000"/>
                              </a:solidFill>
                              <a:latin typeface="Cambria Math" panose="02040503050406030204" pitchFamily="18" charset="0"/>
                            </a:rPr>
                            <m:t>14</m:t>
                          </m:r>
                        </m:den>
                      </m:f>
                      <m:r>
                        <a:rPr lang="zh-CN" altLang="en-US" i="1">
                          <a:solidFill>
                            <a:srgbClr val="000000"/>
                          </a:solidFill>
                          <a:latin typeface="Cambria Math" panose="02040503050406030204" pitchFamily="18" charset="0"/>
                        </a:rPr>
                        <m:t>=1.557</m:t>
                      </m:r>
                    </m:oMath>
                  </m:oMathPara>
                </a14:m>
                <a:endParaRPr lang="zh-CN" altLang="en-US"/>
              </a:p>
            </p:txBody>
          </p:sp>
        </mc:Choice>
        <mc:Fallback xmlns="">
          <p:sp>
            <p:nvSpPr>
              <p:cNvPr id="14" name="对象 13"/>
              <p:cNvSpPr txBox="1">
                <a:spLocks noRot="1" noChangeAspect="1" noMove="1" noResize="1" noEditPoints="1" noAdjustHandles="1" noChangeArrowheads="1" noChangeShapeType="1" noTextEdit="1"/>
              </p:cNvSpPr>
              <p:nvPr/>
            </p:nvSpPr>
            <p:spPr bwMode="auto">
              <a:xfrm>
                <a:off x="611560" y="3622675"/>
                <a:ext cx="8187532" cy="720000"/>
              </a:xfrm>
              <a:prstGeom prst="rect">
                <a:avLst/>
              </a:prstGeom>
              <a:blipFill>
                <a:blip r:embed="rId3"/>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对象 4"/>
              <p:cNvSpPr txBox="1"/>
              <p:nvPr/>
            </p:nvSpPr>
            <p:spPr bwMode="auto">
              <a:xfrm>
                <a:off x="631308" y="4672012"/>
                <a:ext cx="7787665" cy="756000"/>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𝐺𝑎𝑖𝑛𝑅𝑎𝑡𝑖𝑜</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𝑆</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𝑂𝑢𝑡𝑙𝑜𝑜𝑘</m:t>
                          </m:r>
                        </m:e>
                      </m:d>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𝐼𝑛𝑓𝑜𝐺𝑎𝑖𝑛</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𝑆</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𝑂𝑢𝑡𝑙𝑜𝑜𝑘</m:t>
                              </m:r>
                            </m:e>
                          </m:d>
                        </m:num>
                        <m:den>
                          <m:r>
                            <a:rPr lang="zh-CN" altLang="en-US" i="1">
                              <a:solidFill>
                                <a:srgbClr val="000000"/>
                              </a:solidFill>
                              <a:latin typeface="Cambria Math" panose="02040503050406030204" pitchFamily="18" charset="0"/>
                            </a:rPr>
                            <m:t>𝑆𝑝𝑙𝑖𝑡𝐼𝑛𝑓𝑜</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𝑆</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𝑂𝑢𝑡𝑙𝑜𝑜𝑘</m:t>
                              </m:r>
                            </m:e>
                          </m:d>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0.247</m:t>
                          </m:r>
                        </m:num>
                        <m:den>
                          <m:r>
                            <a:rPr lang="zh-CN" altLang="en-US" i="1">
                              <a:solidFill>
                                <a:srgbClr val="000000"/>
                              </a:solidFill>
                              <a:latin typeface="Cambria Math" panose="02040503050406030204" pitchFamily="18" charset="0"/>
                            </a:rPr>
                            <m:t>1.557</m:t>
                          </m:r>
                        </m:den>
                      </m:f>
                      <m:r>
                        <a:rPr lang="zh-CN" altLang="en-US" i="1">
                          <a:solidFill>
                            <a:srgbClr val="000000"/>
                          </a:solidFill>
                          <a:latin typeface="Cambria Math" panose="02040503050406030204" pitchFamily="18" charset="0"/>
                        </a:rPr>
                        <m:t>=0.159</m:t>
                      </m:r>
                    </m:oMath>
                  </m:oMathPara>
                </a14:m>
                <a:endParaRPr lang="zh-CN" altLang="en-US"/>
              </a:p>
            </p:txBody>
          </p:sp>
        </mc:Choice>
        <mc:Fallback xmlns="">
          <p:sp>
            <p:nvSpPr>
              <p:cNvPr id="5" name="对象 4"/>
              <p:cNvSpPr txBox="1">
                <a:spLocks noRot="1" noChangeAspect="1" noMove="1" noResize="1" noEditPoints="1" noAdjustHandles="1" noChangeArrowheads="1" noChangeShapeType="1" noTextEdit="1"/>
              </p:cNvSpPr>
              <p:nvPr/>
            </p:nvSpPr>
            <p:spPr bwMode="auto">
              <a:xfrm>
                <a:off x="631308" y="4672012"/>
                <a:ext cx="7787665" cy="756000"/>
              </a:xfrm>
              <a:prstGeom prst="rect">
                <a:avLst/>
              </a:prstGeom>
              <a:blipFill>
                <a:blip r:embed="rId4"/>
                <a:stretch>
                  <a:fillRect/>
                </a:stretch>
              </a:blipFill>
              <a:ln>
                <a:noFill/>
              </a:ln>
              <a:extLst/>
            </p:spPr>
            <p:txBody>
              <a:bodyPr/>
              <a:lstStyle/>
              <a:p>
                <a:r>
                  <a:rPr lang="zh-CN" altLang="en-US">
                    <a:noFill/>
                  </a:rPr>
                  <a:t> </a:t>
                </a:r>
              </a:p>
            </p:txBody>
          </p:sp>
        </mc:Fallback>
      </mc:AlternateContent>
      <p:sp>
        <p:nvSpPr>
          <p:cNvPr id="3" name="页脚占位符 2">
            <a:extLst>
              <a:ext uri="{FF2B5EF4-FFF2-40B4-BE49-F238E27FC236}">
                <a16:creationId xmlns:a16="http://schemas.microsoft.com/office/drawing/2014/main" id="{E1EE3A46-DF61-48AE-AFED-2C31D4C8512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657B13D-F600-451D-8BBF-3FCE86616902}"/>
              </a:ext>
            </a:extLst>
          </p:cNvPr>
          <p:cNvSpPr>
            <a:spLocks noGrp="1"/>
          </p:cNvSpPr>
          <p:nvPr>
            <p:ph type="sldNum" sz="quarter" idx="12"/>
          </p:nvPr>
        </p:nvSpPr>
        <p:spPr/>
        <p:txBody>
          <a:bodyPr/>
          <a:lstStyle/>
          <a:p>
            <a:fld id="{5AD84F5B-1672-4D3F-9FEC-5DF89A7B7912}" type="slidenum">
              <a:rPr lang="zh-CN" altLang="en-US" smtClean="0"/>
              <a:t>33</a:t>
            </a:fld>
            <a:endParaRPr lang="zh-CN" altLang="en-US"/>
          </a:p>
        </p:txBody>
      </p:sp>
    </p:spTree>
    <p:extLst>
      <p:ext uri="{BB962C8B-B14F-4D97-AF65-F5344CB8AC3E}">
        <p14:creationId xmlns:p14="http://schemas.microsoft.com/office/powerpoint/2010/main" val="3791516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504" y="2322344"/>
            <a:ext cx="8244000" cy="3489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p:cNvSpPr>
            <a:spLocks noGrp="1"/>
          </p:cNvSpPr>
          <p:nvPr>
            <p:ph type="title"/>
          </p:nvPr>
        </p:nvSpPr>
        <p:spPr/>
        <p:txBody>
          <a:bodyPr/>
          <a:lstStyle/>
          <a:p>
            <a:pPr>
              <a:defRPr/>
            </a:pPr>
            <a:r>
              <a:rPr lang="zh-CN" altLang="en-US" dirty="0">
                <a:solidFill>
                  <a:schemeClr val="tx2">
                    <a:satMod val="130000"/>
                  </a:schemeClr>
                </a:solidFill>
              </a:rPr>
              <a:t>从哪个属性开始：</a:t>
            </a:r>
            <a:r>
              <a:rPr lang="zh-CN" altLang="en-US" sz="3200" dirty="0">
                <a:solidFill>
                  <a:schemeClr val="tx2">
                    <a:satMod val="130000"/>
                  </a:schemeClr>
                </a:solidFill>
              </a:rPr>
              <a:t>信息增益率</a:t>
            </a:r>
          </a:p>
        </p:txBody>
      </p:sp>
      <p:sp>
        <p:nvSpPr>
          <p:cNvPr id="46087" name="内容占位符 2"/>
          <p:cNvSpPr>
            <a:spLocks noGrp="1"/>
          </p:cNvSpPr>
          <p:nvPr>
            <p:ph idx="1"/>
          </p:nvPr>
        </p:nvSpPr>
        <p:spPr/>
        <p:txBody>
          <a:bodyPr/>
          <a:lstStyle/>
          <a:p>
            <a:pPr marL="80963" indent="0">
              <a:buNone/>
            </a:pPr>
            <a:r>
              <a:rPr lang="en-US" altLang="zh-CN" dirty="0"/>
              <a:t>【</a:t>
            </a:r>
            <a:r>
              <a:rPr lang="zh-CN" altLang="en-US" dirty="0"/>
              <a:t>例</a:t>
            </a:r>
            <a:r>
              <a:rPr lang="en-US" altLang="zh-CN" dirty="0"/>
              <a:t>】</a:t>
            </a:r>
            <a:endParaRPr lang="zh-CN" altLang="en-US" dirty="0"/>
          </a:p>
        </p:txBody>
      </p:sp>
      <p:sp>
        <p:nvSpPr>
          <p:cNvPr id="11" name="椭圆 10"/>
          <p:cNvSpPr/>
          <p:nvPr/>
        </p:nvSpPr>
        <p:spPr>
          <a:xfrm>
            <a:off x="2843808" y="3774667"/>
            <a:ext cx="900000" cy="252000"/>
          </a:xfrm>
          <a:prstGeom prst="ellipse">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dirty="0">
              <a:latin typeface="Times New Roman" pitchFamily="18" charset="0"/>
              <a:ea typeface="华文细黑" pitchFamily="2" charset="-122"/>
            </a:endParaRPr>
          </a:p>
        </p:txBody>
      </p:sp>
      <p:sp>
        <p:nvSpPr>
          <p:cNvPr id="12" name="椭圆 11"/>
          <p:cNvSpPr/>
          <p:nvPr/>
        </p:nvSpPr>
        <p:spPr>
          <a:xfrm>
            <a:off x="7200392" y="3774667"/>
            <a:ext cx="900000" cy="252000"/>
          </a:xfrm>
          <a:prstGeom prst="ellipse">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dirty="0">
              <a:latin typeface="Times New Roman" pitchFamily="18" charset="0"/>
              <a:ea typeface="华文细黑" pitchFamily="2" charset="-122"/>
            </a:endParaRPr>
          </a:p>
        </p:txBody>
      </p:sp>
      <p:sp>
        <p:nvSpPr>
          <p:cNvPr id="13" name="椭圆 12"/>
          <p:cNvSpPr/>
          <p:nvPr/>
        </p:nvSpPr>
        <p:spPr>
          <a:xfrm>
            <a:off x="2843808" y="5502830"/>
            <a:ext cx="900000" cy="252000"/>
          </a:xfrm>
          <a:prstGeom prst="ellipse">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dirty="0">
              <a:latin typeface="Times New Roman" pitchFamily="18" charset="0"/>
              <a:ea typeface="华文细黑" pitchFamily="2" charset="-122"/>
            </a:endParaRPr>
          </a:p>
        </p:txBody>
      </p:sp>
      <p:sp>
        <p:nvSpPr>
          <p:cNvPr id="14" name="椭圆 13"/>
          <p:cNvSpPr/>
          <p:nvPr/>
        </p:nvSpPr>
        <p:spPr>
          <a:xfrm>
            <a:off x="7200392" y="5502830"/>
            <a:ext cx="900000" cy="252000"/>
          </a:xfrm>
          <a:prstGeom prst="ellipse">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dirty="0">
              <a:latin typeface="Times New Roman" pitchFamily="18" charset="0"/>
              <a:ea typeface="华文细黑" pitchFamily="2" charset="-122"/>
            </a:endParaRPr>
          </a:p>
        </p:txBody>
      </p:sp>
      <p:sp>
        <p:nvSpPr>
          <p:cNvPr id="9" name="Text Box 26"/>
          <p:cNvSpPr txBox="1">
            <a:spLocks noChangeArrowheads="1"/>
          </p:cNvSpPr>
          <p:nvPr/>
        </p:nvSpPr>
        <p:spPr bwMode="auto">
          <a:xfrm rot="21079949">
            <a:off x="3563829" y="3587421"/>
            <a:ext cx="265039" cy="974931"/>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lIns="51104" tIns="25551" rIns="51104" bIns="25551">
            <a:spAutoFit/>
          </a:bodyPr>
          <a:lstStyle/>
          <a:p>
            <a:pPr fontAlgn="base"/>
            <a:r>
              <a:rPr lang="zh-CN" altLang="en-US" sz="6000"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cs typeface="宋体"/>
                <a:sym typeface="Wingdings"/>
              </a:rPr>
              <a:t></a:t>
            </a:r>
            <a:endParaRPr lang="zh-CN" altLang="en-US" sz="6000" dirty="0">
              <a:solidFill>
                <a:srgbClr val="C00000"/>
              </a:solidFill>
              <a:effectLst>
                <a:outerShdw blurRad="38100" dist="38100" dir="2700000" algn="tl">
                  <a:srgbClr val="000000">
                    <a:alpha val="43137"/>
                  </a:srgbClr>
                </a:outerShdw>
              </a:effectLst>
              <a:latin typeface="华文细黑" pitchFamily="2" charset="-122"/>
              <a:ea typeface="华文细黑" pitchFamily="2" charset="-122"/>
              <a:cs typeface="宋体"/>
            </a:endParaRPr>
          </a:p>
        </p:txBody>
      </p:sp>
      <p:sp>
        <p:nvSpPr>
          <p:cNvPr id="3" name="页脚占位符 2">
            <a:extLst>
              <a:ext uri="{FF2B5EF4-FFF2-40B4-BE49-F238E27FC236}">
                <a16:creationId xmlns:a16="http://schemas.microsoft.com/office/drawing/2014/main" id="{909867EF-A179-4B32-BFF8-6605D9EA9DB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B714A59-FBE4-469C-8569-C7F08F737E5A}"/>
              </a:ext>
            </a:extLst>
          </p:cNvPr>
          <p:cNvSpPr>
            <a:spLocks noGrp="1"/>
          </p:cNvSpPr>
          <p:nvPr>
            <p:ph type="sldNum" sz="quarter" idx="12"/>
          </p:nvPr>
        </p:nvSpPr>
        <p:spPr/>
        <p:txBody>
          <a:bodyPr/>
          <a:lstStyle/>
          <a:p>
            <a:fld id="{5AD84F5B-1672-4D3F-9FEC-5DF89A7B7912}" type="slidenum">
              <a:rPr lang="zh-CN" altLang="en-US" smtClean="0"/>
              <a:t>34</a:t>
            </a:fld>
            <a:endParaRPr lang="zh-CN" altLang="en-US"/>
          </a:p>
        </p:txBody>
      </p:sp>
    </p:spTree>
    <p:extLst>
      <p:ext uri="{BB962C8B-B14F-4D97-AF65-F5344CB8AC3E}">
        <p14:creationId xmlns:p14="http://schemas.microsoft.com/office/powerpoint/2010/main" val="2507448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a:solidFill>
                  <a:schemeClr val="tx2">
                    <a:satMod val="130000"/>
                  </a:schemeClr>
                </a:solidFill>
              </a:rPr>
              <a:t>GINI</a:t>
            </a:r>
            <a:r>
              <a:rPr lang="zh-CN" altLang="en-US" dirty="0">
                <a:solidFill>
                  <a:schemeClr val="tx2">
                    <a:satMod val="130000"/>
                  </a:schemeClr>
                </a:solidFill>
              </a:rPr>
              <a:t>系数指标</a:t>
            </a:r>
          </a:p>
        </p:txBody>
      </p:sp>
      <p:sp>
        <p:nvSpPr>
          <p:cNvPr id="47107" name="内容占位符 2"/>
          <p:cNvSpPr>
            <a:spLocks noGrp="1"/>
          </p:cNvSpPr>
          <p:nvPr>
            <p:ph idx="1"/>
          </p:nvPr>
        </p:nvSpPr>
        <p:spPr/>
        <p:txBody>
          <a:bodyPr>
            <a:noAutofit/>
          </a:bodyPr>
          <a:lstStyle/>
          <a:p>
            <a:r>
              <a:rPr lang="en-US" altLang="zh-CN" dirty="0">
                <a:latin typeface="Times New Roman" pitchFamily="18" charset="0"/>
                <a:cs typeface="Times New Roman" pitchFamily="18" charset="0"/>
              </a:rPr>
              <a:t>GINI</a:t>
            </a:r>
            <a:r>
              <a:rPr lang="zh-CN" altLang="zh-CN" dirty="0">
                <a:latin typeface="Times New Roman" pitchFamily="18" charset="0"/>
                <a:cs typeface="Times New Roman" pitchFamily="18" charset="0"/>
              </a:rPr>
              <a:t>系数也是</a:t>
            </a:r>
            <a:r>
              <a:rPr lang="zh-CN" altLang="zh-CN" b="1" dirty="0">
                <a:solidFill>
                  <a:srgbClr val="C00000"/>
                </a:solidFill>
                <a:latin typeface="Times New Roman" pitchFamily="18" charset="0"/>
                <a:cs typeface="Times New Roman" pitchFamily="18" charset="0"/>
              </a:rPr>
              <a:t>反映一组数据离散程度</a:t>
            </a:r>
            <a:r>
              <a:rPr lang="zh-CN" altLang="zh-CN" dirty="0">
                <a:latin typeface="Times New Roman" pitchFamily="18" charset="0"/>
                <a:cs typeface="Times New Roman" pitchFamily="18" charset="0"/>
              </a:rPr>
              <a:t>的指标，其功能类似于标准差。</a:t>
            </a:r>
            <a:endParaRPr lang="en-US" altLang="zh-CN" dirty="0">
              <a:latin typeface="Times New Roman" pitchFamily="18" charset="0"/>
              <a:cs typeface="Times New Roman" pitchFamily="18" charset="0"/>
            </a:endParaRPr>
          </a:p>
          <a:p>
            <a:pPr lvl="1"/>
            <a:r>
              <a:rPr lang="en-US" altLang="zh-CN" b="1" dirty="0">
                <a:solidFill>
                  <a:srgbClr val="C00000"/>
                </a:solidFill>
                <a:latin typeface="Times New Roman" pitchFamily="18" charset="0"/>
                <a:cs typeface="Times New Roman" pitchFamily="18" charset="0"/>
              </a:rPr>
              <a:t>GINI</a:t>
            </a:r>
            <a:r>
              <a:rPr lang="zh-CN" altLang="zh-CN" b="1" dirty="0">
                <a:solidFill>
                  <a:srgbClr val="C00000"/>
                </a:solidFill>
                <a:latin typeface="Times New Roman" pitchFamily="18" charset="0"/>
                <a:cs typeface="Times New Roman" pitchFamily="18" charset="0"/>
              </a:rPr>
              <a:t>系数越大</a:t>
            </a:r>
            <a:r>
              <a:rPr lang="zh-CN" altLang="zh-CN" dirty="0">
                <a:latin typeface="Times New Roman" pitchFamily="18" charset="0"/>
                <a:cs typeface="Times New Roman" pitchFamily="18" charset="0"/>
              </a:rPr>
              <a:t>，则</a:t>
            </a:r>
            <a:r>
              <a:rPr lang="zh-CN" altLang="zh-CN" b="1" dirty="0">
                <a:solidFill>
                  <a:srgbClr val="C00000"/>
                </a:solidFill>
                <a:latin typeface="Times New Roman" pitchFamily="18" charset="0"/>
                <a:cs typeface="Times New Roman" pitchFamily="18" charset="0"/>
              </a:rPr>
              <a:t>平均指标</a:t>
            </a:r>
            <a:r>
              <a:rPr lang="zh-CN" altLang="zh-CN" dirty="0">
                <a:latin typeface="Times New Roman" pitchFamily="18" charset="0"/>
                <a:cs typeface="Times New Roman" pitchFamily="18" charset="0"/>
              </a:rPr>
              <a:t>（如平均数、中位数和众数）</a:t>
            </a:r>
            <a:r>
              <a:rPr lang="zh-CN" altLang="zh-CN" b="1" dirty="0">
                <a:solidFill>
                  <a:srgbClr val="C00000"/>
                </a:solidFill>
                <a:latin typeface="Times New Roman" pitchFamily="18" charset="0"/>
                <a:cs typeface="Times New Roman" pitchFamily="18" charset="0"/>
              </a:rPr>
              <a:t>对一组数据的代表性越差</a:t>
            </a:r>
            <a:r>
              <a:rPr lang="zh-CN" altLang="zh-CN" dirty="0">
                <a:latin typeface="Times New Roman" pitchFamily="18" charset="0"/>
                <a:cs typeface="Times New Roman" pitchFamily="18" charset="0"/>
              </a:rPr>
              <a:t>；反之则越好。</a:t>
            </a:r>
            <a:endParaRPr lang="en-US" altLang="zh-CN" dirty="0">
              <a:latin typeface="Times New Roman" pitchFamily="18" charset="0"/>
              <a:cs typeface="Times New Roman" pitchFamily="18" charset="0"/>
            </a:endParaRPr>
          </a:p>
          <a:p>
            <a:pPr lvl="1"/>
            <a:r>
              <a:rPr lang="en-US" altLang="zh-CN" dirty="0">
                <a:latin typeface="Times New Roman" pitchFamily="18" charset="0"/>
                <a:cs typeface="Times New Roman" pitchFamily="18" charset="0"/>
              </a:rPr>
              <a:t>GINI</a:t>
            </a:r>
            <a:r>
              <a:rPr lang="zh-CN" altLang="en-US" dirty="0">
                <a:latin typeface="Times New Roman" pitchFamily="18" charset="0"/>
                <a:cs typeface="Times New Roman" pitchFamily="18" charset="0"/>
              </a:rPr>
              <a:t>系数在</a:t>
            </a:r>
            <a:r>
              <a:rPr lang="en-US" altLang="zh-CN" dirty="0">
                <a:latin typeface="Times New Roman" pitchFamily="18" charset="0"/>
                <a:cs typeface="Times New Roman" pitchFamily="18" charset="0"/>
              </a:rPr>
              <a:t>0-1</a:t>
            </a:r>
            <a:r>
              <a:rPr lang="zh-CN" altLang="en-US" dirty="0">
                <a:latin typeface="Times New Roman" pitchFamily="18" charset="0"/>
                <a:cs typeface="Times New Roman" pitchFamily="18" charset="0"/>
              </a:rPr>
              <a:t>之间，越接近</a:t>
            </a:r>
            <a:r>
              <a:rPr lang="en-US" altLang="zh-CN" dirty="0">
                <a:latin typeface="Times New Roman" pitchFamily="18" charset="0"/>
                <a:cs typeface="Times New Roman" pitchFamily="18" charset="0"/>
              </a:rPr>
              <a:t>0</a:t>
            </a:r>
            <a:r>
              <a:rPr lang="zh-CN" altLang="en-US" dirty="0">
                <a:latin typeface="Times New Roman" pitchFamily="18" charset="0"/>
                <a:cs typeface="Times New Roman" pitchFamily="18" charset="0"/>
              </a:rPr>
              <a:t>表示分布越均匀，越接近</a:t>
            </a:r>
            <a:r>
              <a:rPr lang="en-US" altLang="zh-CN" dirty="0">
                <a:latin typeface="Times New Roman" pitchFamily="18" charset="0"/>
                <a:cs typeface="Times New Roman" pitchFamily="18" charset="0"/>
              </a:rPr>
              <a:t>1</a:t>
            </a:r>
            <a:r>
              <a:rPr lang="zh-CN" altLang="en-US" dirty="0">
                <a:latin typeface="Times New Roman" pitchFamily="18" charset="0"/>
                <a:cs typeface="Times New Roman" pitchFamily="18" charset="0"/>
              </a:rPr>
              <a:t>则表示分布越不均匀。</a:t>
            </a:r>
            <a:endParaRPr lang="en-US" altLang="zh-CN" dirty="0">
              <a:latin typeface="Times New Roman" pitchFamily="18" charset="0"/>
              <a:cs typeface="Times New Roman" pitchFamily="18" charset="0"/>
            </a:endParaRPr>
          </a:p>
          <a:p>
            <a:pPr lvl="1"/>
            <a:endParaRPr lang="zh-CN" altLang="zh-CN" sz="1050" dirty="0">
              <a:latin typeface="Times New Roman" pitchFamily="18" charset="0"/>
              <a:cs typeface="Times New Roman" pitchFamily="18" charset="0"/>
            </a:endParaRPr>
          </a:p>
          <a:p>
            <a:r>
              <a:rPr lang="zh-CN" altLang="zh-CN" dirty="0">
                <a:latin typeface="Times New Roman" pitchFamily="18" charset="0"/>
                <a:cs typeface="Times New Roman" pitchFamily="18" charset="0"/>
              </a:rPr>
              <a:t>在决策树分类中，使用</a:t>
            </a:r>
            <a:r>
              <a:rPr lang="en-US" altLang="zh-CN" dirty="0">
                <a:latin typeface="Times New Roman" pitchFamily="18" charset="0"/>
                <a:cs typeface="Times New Roman" pitchFamily="18" charset="0"/>
              </a:rPr>
              <a:t>GINI</a:t>
            </a:r>
            <a:r>
              <a:rPr lang="zh-CN" altLang="zh-CN" dirty="0">
                <a:latin typeface="Times New Roman" pitchFamily="18" charset="0"/>
                <a:cs typeface="Times New Roman" pitchFamily="18" charset="0"/>
              </a:rPr>
              <a:t>系数来反映一组数据的</a:t>
            </a:r>
            <a:r>
              <a:rPr lang="zh-CN" altLang="zh-CN" b="1" dirty="0">
                <a:solidFill>
                  <a:srgbClr val="C00000"/>
                </a:solidFill>
                <a:latin typeface="Times New Roman" pitchFamily="18" charset="0"/>
                <a:cs typeface="Times New Roman" pitchFamily="18" charset="0"/>
              </a:rPr>
              <a:t>类别</a:t>
            </a:r>
            <a:r>
              <a:rPr lang="en-US" altLang="zh-CN" dirty="0">
                <a:latin typeface="Times New Roman" pitchFamily="18" charset="0"/>
                <a:cs typeface="Times New Roman" pitchFamily="18" charset="0"/>
              </a:rPr>
              <a:t>(class)</a:t>
            </a:r>
            <a:r>
              <a:rPr lang="zh-CN" altLang="zh-CN" dirty="0">
                <a:latin typeface="Times New Roman" pitchFamily="18" charset="0"/>
                <a:cs typeface="Times New Roman" pitchFamily="18" charset="0"/>
              </a:rPr>
              <a:t>的</a:t>
            </a:r>
            <a:r>
              <a:rPr lang="zh-CN" altLang="zh-CN" b="1" dirty="0">
                <a:solidFill>
                  <a:srgbClr val="C00000"/>
                </a:solidFill>
                <a:latin typeface="Times New Roman" pitchFamily="18" charset="0"/>
                <a:cs typeface="Times New Roman" pitchFamily="18" charset="0"/>
              </a:rPr>
              <a:t>杂乱程度</a:t>
            </a:r>
            <a:r>
              <a:rPr lang="zh-CN" altLang="zh-CN" dirty="0">
                <a:latin typeface="Times New Roman" pitchFamily="18" charset="0"/>
                <a:cs typeface="Times New Roman" pitchFamily="18" charset="0"/>
              </a:rPr>
              <a:t>，即度量</a:t>
            </a:r>
            <a:r>
              <a:rPr lang="zh-CN" altLang="zh-CN" b="1" dirty="0">
                <a:solidFill>
                  <a:srgbClr val="C00000"/>
                </a:solidFill>
                <a:latin typeface="Times New Roman" pitchFamily="18" charset="0"/>
                <a:cs typeface="Times New Roman" pitchFamily="18" charset="0"/>
              </a:rPr>
              <a:t>不纯度</a:t>
            </a:r>
            <a:r>
              <a:rPr lang="zh-CN" altLang="zh-CN" dirty="0">
                <a:latin typeface="Times New Roman" pitchFamily="18" charset="0"/>
                <a:cs typeface="Times New Roman" pitchFamily="18" charset="0"/>
              </a:rPr>
              <a:t>。</a:t>
            </a:r>
            <a:endParaRPr lang="en-US" altLang="zh-CN" dirty="0">
              <a:latin typeface="Times New Roman" pitchFamily="18" charset="0"/>
              <a:cs typeface="Times New Roman" pitchFamily="18" charset="0"/>
            </a:endParaRPr>
          </a:p>
          <a:p>
            <a:pPr lvl="1"/>
            <a:r>
              <a:rPr lang="zh-CN" altLang="en-US" b="0" i="0" dirty="0">
                <a:solidFill>
                  <a:srgbClr val="2E3238"/>
                </a:solidFill>
                <a:effectLst/>
                <a:latin typeface="SF Pro Display"/>
              </a:rPr>
              <a:t>在给定的数据集中，一个随机选取的元素被分类错误的可能性；</a:t>
            </a:r>
            <a:endParaRPr lang="en-US" altLang="zh-CN" b="0" i="0" dirty="0">
              <a:solidFill>
                <a:srgbClr val="2E3238"/>
              </a:solidFill>
              <a:effectLst/>
              <a:latin typeface="SF Pro Display"/>
            </a:endParaRPr>
          </a:p>
          <a:p>
            <a:pPr lvl="1"/>
            <a:r>
              <a:rPr lang="zh-CN" altLang="en-US" dirty="0">
                <a:solidFill>
                  <a:srgbClr val="2E3238"/>
                </a:solidFill>
                <a:latin typeface="SF Pro Display"/>
                <a:cs typeface="Times New Roman" pitchFamily="18" charset="0"/>
              </a:rPr>
              <a:t>当数据集只包含一个类别时，随机测试的错误率趋近于相同，此时</a:t>
            </a:r>
            <a:r>
              <a:rPr lang="en-US" altLang="zh-CN" dirty="0">
                <a:solidFill>
                  <a:srgbClr val="2E3238"/>
                </a:solidFill>
                <a:latin typeface="SF Pro Display"/>
                <a:cs typeface="Times New Roman" pitchFamily="18" charset="0"/>
              </a:rPr>
              <a:t>GINI</a:t>
            </a:r>
            <a:r>
              <a:rPr lang="zh-CN" altLang="en-US" dirty="0">
                <a:solidFill>
                  <a:srgbClr val="2E3238"/>
                </a:solidFill>
                <a:latin typeface="SF Pro Display"/>
                <a:cs typeface="Times New Roman" pitchFamily="18" charset="0"/>
              </a:rPr>
              <a:t>系数最小。</a:t>
            </a:r>
            <a:endParaRPr lang="zh-CN" altLang="zh-CN" dirty="0">
              <a:latin typeface="Times New Roman" pitchFamily="18" charset="0"/>
              <a:cs typeface="Times New Roman" pitchFamily="18" charset="0"/>
            </a:endParaRPr>
          </a:p>
        </p:txBody>
      </p:sp>
      <p:sp>
        <p:nvSpPr>
          <p:cNvPr id="3" name="页脚占位符 2">
            <a:extLst>
              <a:ext uri="{FF2B5EF4-FFF2-40B4-BE49-F238E27FC236}">
                <a16:creationId xmlns:a16="http://schemas.microsoft.com/office/drawing/2014/main" id="{535CB483-DE3D-4571-83CF-9D49D649B21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925EE0F-5760-4483-9875-A727D0A96E39}"/>
              </a:ext>
            </a:extLst>
          </p:cNvPr>
          <p:cNvSpPr>
            <a:spLocks noGrp="1"/>
          </p:cNvSpPr>
          <p:nvPr>
            <p:ph type="sldNum" sz="quarter" idx="12"/>
          </p:nvPr>
        </p:nvSpPr>
        <p:spPr/>
        <p:txBody>
          <a:bodyPr/>
          <a:lstStyle/>
          <a:p>
            <a:fld id="{5AD84F5B-1672-4D3F-9FEC-5DF89A7B7912}" type="slidenum">
              <a:rPr lang="zh-CN" altLang="en-US" smtClean="0"/>
              <a:t>35</a:t>
            </a:fld>
            <a:endParaRPr lang="zh-CN" altLang="en-US"/>
          </a:p>
        </p:txBody>
      </p:sp>
    </p:spTree>
    <p:extLst>
      <p:ext uri="{BB962C8B-B14F-4D97-AF65-F5344CB8AC3E}">
        <p14:creationId xmlns:p14="http://schemas.microsoft.com/office/powerpoint/2010/main" val="162426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GINI</a:t>
            </a:r>
            <a:r>
              <a:rPr lang="zh-CN" altLang="en-US" dirty="0"/>
              <a:t>系数指标</a:t>
            </a:r>
          </a:p>
        </p:txBody>
      </p:sp>
      <p:sp>
        <p:nvSpPr>
          <p:cNvPr id="3" name="内容占位符 2"/>
          <p:cNvSpPr>
            <a:spLocks noGrp="1"/>
          </p:cNvSpPr>
          <p:nvPr>
            <p:ph idx="1"/>
          </p:nvPr>
        </p:nvSpPr>
        <p:spPr/>
        <p:txBody>
          <a:bodyPr>
            <a:normAutofit/>
          </a:bodyPr>
          <a:lstStyle/>
          <a:p>
            <a:r>
              <a:rPr lang="zh-CN" altLang="zh-CN" dirty="0">
                <a:latin typeface="Times New Roman" pitchFamily="18" charset="0"/>
                <a:cs typeface="Times New Roman" pitchFamily="18" charset="0"/>
              </a:rPr>
              <a:t>给定结点</a:t>
            </a:r>
            <a:r>
              <a:rPr lang="en-US" altLang="zh-CN" dirty="0">
                <a:latin typeface="Times New Roman" pitchFamily="18" charset="0"/>
                <a:cs typeface="Times New Roman" pitchFamily="18" charset="0"/>
              </a:rPr>
              <a:t> </a:t>
            </a:r>
            <a:r>
              <a:rPr lang="en-US" altLang="zh-CN" i="1" dirty="0">
                <a:latin typeface="Times New Roman" pitchFamily="18" charset="0"/>
                <a:cs typeface="Times New Roman" pitchFamily="18" charset="0"/>
              </a:rPr>
              <a:t>t </a:t>
            </a:r>
            <a:r>
              <a:rPr lang="zh-CN" altLang="zh-CN" dirty="0">
                <a:latin typeface="Times New Roman" pitchFamily="18" charset="0"/>
                <a:cs typeface="Times New Roman" pitchFamily="18" charset="0"/>
              </a:rPr>
              <a:t>的</a:t>
            </a:r>
            <a:r>
              <a:rPr lang="en-US" altLang="zh-CN" dirty="0" err="1">
                <a:latin typeface="Times New Roman" pitchFamily="18" charset="0"/>
                <a:cs typeface="Times New Roman" pitchFamily="18" charset="0"/>
              </a:rPr>
              <a:t>Gini</a:t>
            </a:r>
            <a:r>
              <a:rPr lang="zh-CN" altLang="zh-CN" dirty="0">
                <a:latin typeface="Times New Roman" pitchFamily="18" charset="0"/>
                <a:cs typeface="Times New Roman" pitchFamily="18" charset="0"/>
              </a:rPr>
              <a:t>值计算：</a:t>
            </a:r>
          </a:p>
          <a:p>
            <a:pPr marL="82296" indent="0">
              <a:buNone/>
            </a:pPr>
            <a:endParaRPr lang="en-US" altLang="zh-CN" dirty="0">
              <a:latin typeface="Times New Roman" pitchFamily="18" charset="0"/>
              <a:cs typeface="Times New Roman" pitchFamily="18" charset="0"/>
            </a:endParaRPr>
          </a:p>
          <a:p>
            <a:pPr marL="82296" indent="0">
              <a:buNone/>
            </a:pPr>
            <a:endParaRPr lang="zh-CN" altLang="zh-CN" dirty="0">
              <a:latin typeface="Times New Roman" pitchFamily="18" charset="0"/>
              <a:cs typeface="Times New Roman" pitchFamily="18" charset="0"/>
            </a:endParaRPr>
          </a:p>
          <a:p>
            <a:pPr marL="402336" lvl="1" indent="0">
              <a:buNone/>
            </a:pPr>
            <a:endParaRPr lang="en-US" altLang="zh-CN" dirty="0">
              <a:latin typeface="Times New Roman" pitchFamily="18" charset="0"/>
              <a:cs typeface="Times New Roman" pitchFamily="18" charset="0"/>
            </a:endParaRPr>
          </a:p>
          <a:p>
            <a:pPr>
              <a:defRPr/>
            </a:pPr>
            <a:endParaRPr lang="en-US" altLang="zh-CN" sz="3600" dirty="0">
              <a:latin typeface="Times New Roman" pitchFamily="18" charset="0"/>
              <a:cs typeface="Times New Roman" pitchFamily="18" charset="0"/>
            </a:endParaRPr>
          </a:p>
          <a:p>
            <a:pPr lvl="1">
              <a:defRPr/>
            </a:pPr>
            <a:endParaRPr lang="en-US" altLang="zh-CN" dirty="0">
              <a:latin typeface="Times New Roman" pitchFamily="18" charset="0"/>
              <a:cs typeface="Times New Roman" pitchFamily="18" charset="0"/>
            </a:endParaRPr>
          </a:p>
          <a:p>
            <a:pPr lvl="1">
              <a:defRPr/>
            </a:pPr>
            <a:endParaRPr lang="en-US" altLang="zh-CN" dirty="0">
              <a:latin typeface="Times New Roman" pitchFamily="18" charset="0"/>
              <a:cs typeface="Times New Roman" pitchFamily="18" charset="0"/>
            </a:endParaRPr>
          </a:p>
          <a:p>
            <a:pPr lvl="1">
              <a:defRPr/>
            </a:pPr>
            <a:r>
              <a:rPr lang="zh-CN" altLang="en-US" dirty="0">
                <a:latin typeface="Times New Roman" pitchFamily="18" charset="0"/>
                <a:cs typeface="Times New Roman" pitchFamily="18" charset="0"/>
              </a:rPr>
              <a:t>当类分布均衡时，</a:t>
            </a:r>
            <a:r>
              <a:rPr lang="en-US" altLang="zh-CN" dirty="0" err="1">
                <a:latin typeface="Times New Roman" pitchFamily="18" charset="0"/>
                <a:cs typeface="Times New Roman" pitchFamily="18" charset="0"/>
              </a:rPr>
              <a:t>Gini</a:t>
            </a:r>
            <a:r>
              <a:rPr lang="zh-CN" altLang="en-US" dirty="0">
                <a:latin typeface="Times New Roman" pitchFamily="18" charset="0"/>
                <a:cs typeface="Times New Roman" pitchFamily="18" charset="0"/>
              </a:rPr>
              <a:t>值达到最大值 </a:t>
            </a:r>
            <a:r>
              <a:rPr lang="en-US" altLang="zh-CN" dirty="0">
                <a:latin typeface="Times New Roman" pitchFamily="18" charset="0"/>
                <a:cs typeface="Times New Roman" pitchFamily="18" charset="0"/>
              </a:rPr>
              <a:t>(1 - 1/</a:t>
            </a:r>
            <a:r>
              <a:rPr lang="en-US" altLang="zh-CN" i="1" dirty="0" err="1">
                <a:latin typeface="Times New Roman" pitchFamily="18" charset="0"/>
                <a:cs typeface="Times New Roman" pitchFamily="18" charset="0"/>
              </a:rPr>
              <a:t>N</a:t>
            </a:r>
            <a:r>
              <a:rPr lang="en-US" altLang="zh-CN" baseline="-25000" dirty="0" err="1">
                <a:latin typeface="Times New Roman" pitchFamily="18" charset="0"/>
                <a:cs typeface="Times New Roman" pitchFamily="18" charset="0"/>
              </a:rPr>
              <a:t>c</a:t>
            </a:r>
            <a:r>
              <a:rPr lang="en-US" altLang="zh-CN" dirty="0">
                <a:latin typeface="Times New Roman" pitchFamily="18" charset="0"/>
                <a:cs typeface="Times New Roman" pitchFamily="18" charset="0"/>
              </a:rPr>
              <a:t>) </a:t>
            </a:r>
          </a:p>
          <a:p>
            <a:pPr lvl="1">
              <a:defRPr/>
            </a:pPr>
            <a:r>
              <a:rPr lang="zh-CN" altLang="en-US" dirty="0">
                <a:latin typeface="Times New Roman" pitchFamily="18" charset="0"/>
                <a:cs typeface="Times New Roman" pitchFamily="18" charset="0"/>
              </a:rPr>
              <a:t>相反当只有一个类时，</a:t>
            </a:r>
            <a:r>
              <a:rPr lang="en-US" altLang="zh-CN" dirty="0" err="1">
                <a:latin typeface="Times New Roman" pitchFamily="18" charset="0"/>
                <a:cs typeface="Times New Roman" pitchFamily="18" charset="0"/>
              </a:rPr>
              <a:t>Gini</a:t>
            </a:r>
            <a:r>
              <a:rPr lang="zh-CN" altLang="en-US" dirty="0">
                <a:latin typeface="Times New Roman" pitchFamily="18" charset="0"/>
                <a:cs typeface="Times New Roman" pitchFamily="18" charset="0"/>
              </a:rPr>
              <a:t>值达到最小值</a:t>
            </a:r>
            <a:r>
              <a:rPr lang="en-US" altLang="zh-CN" dirty="0">
                <a:latin typeface="Times New Roman" pitchFamily="18" charset="0"/>
                <a:cs typeface="Times New Roman" pitchFamily="18" charset="0"/>
              </a:rPr>
              <a:t>0</a:t>
            </a:r>
          </a:p>
        </p:txBody>
      </p:sp>
      <mc:AlternateContent xmlns:mc="http://schemas.openxmlformats.org/markup-compatibility/2006" xmlns:a14="http://schemas.microsoft.com/office/drawing/2010/main">
        <mc:Choice Requires="a14">
          <p:sp>
            <p:nvSpPr>
              <p:cNvPr id="5" name="对象 4"/>
              <p:cNvSpPr txBox="1"/>
              <p:nvPr/>
            </p:nvSpPr>
            <p:spPr bwMode="auto">
              <a:xfrm>
                <a:off x="1141414" y="2548154"/>
                <a:ext cx="3246437" cy="820103"/>
              </a:xfrm>
              <a:prstGeom prst="rect">
                <a:avLst/>
              </a:prstGeom>
              <a:noFill/>
            </p:spPr>
            <p:txBody>
              <a:bodyPr>
                <a:normAutofit fontScale="925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𝐺𝑖𝑛𝑖</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)=1−</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𝑁</m:t>
                              </m:r>
                            </m:e>
                            <m:sub>
                              <m:r>
                                <a:rPr lang="zh-CN" altLang="en-US" i="1">
                                  <a:solidFill>
                                    <a:srgbClr val="000000"/>
                                  </a:solidFill>
                                  <a:latin typeface="Cambria Math" panose="02040503050406030204" pitchFamily="18" charset="0"/>
                                </a:rPr>
                                <m:t>𝑐</m:t>
                              </m:r>
                            </m:sub>
                          </m:sSub>
                        </m:sup>
                        <m:e>
                          <m:sSup>
                            <m:sSupPr>
                              <m:ctrlPr>
                                <a:rPr lang="zh-CN" altLang="en-US" i="1">
                                  <a:solidFill>
                                    <a:srgbClr val="000000"/>
                                  </a:solidFill>
                                  <a:latin typeface="Cambria Math" panose="02040503050406030204" pitchFamily="18" charset="0"/>
                                </a:rPr>
                              </m:ctrlPr>
                            </m:sSupPr>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𝑝</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e>
                              </m:d>
                            </m:e>
                            <m:sup>
                              <m:r>
                                <a:rPr lang="zh-CN" altLang="en-US" i="1">
                                  <a:solidFill>
                                    <a:srgbClr val="000000"/>
                                  </a:solidFill>
                                  <a:latin typeface="Cambria Math" panose="02040503050406030204" pitchFamily="18" charset="0"/>
                                </a:rPr>
                                <m:t>2</m:t>
                              </m:r>
                            </m:sup>
                          </m:sSup>
                        </m:e>
                      </m:nary>
                    </m:oMath>
                  </m:oMathPara>
                </a14:m>
                <a:endParaRPr lang="zh-CN" altLang="en-US"/>
              </a:p>
            </p:txBody>
          </p:sp>
        </mc:Choice>
        <mc:Fallback xmlns="">
          <p:sp>
            <p:nvSpPr>
              <p:cNvPr id="5" name="对象 4"/>
              <p:cNvSpPr txBox="1">
                <a:spLocks noRot="1" noChangeAspect="1" noMove="1" noResize="1" noEditPoints="1" noAdjustHandles="1" noChangeArrowheads="1" noChangeShapeType="1" noTextEdit="1"/>
              </p:cNvSpPr>
              <p:nvPr/>
            </p:nvSpPr>
            <p:spPr bwMode="auto">
              <a:xfrm>
                <a:off x="1141414" y="2548154"/>
                <a:ext cx="3246437" cy="820103"/>
              </a:xfrm>
              <a:prstGeom prst="rect">
                <a:avLst/>
              </a:prstGeom>
              <a:blipFill>
                <a:blip r:embed="rId2"/>
                <a:stretch>
                  <a:fillRect/>
                </a:stretch>
              </a:blipFill>
            </p:spPr>
            <p:txBody>
              <a:bodyPr/>
              <a:lstStyle/>
              <a:p>
                <a:r>
                  <a:rPr lang="zh-CN" altLang="en-US">
                    <a:noFill/>
                  </a:rPr>
                  <a:t> </a:t>
                </a:r>
              </a:p>
            </p:txBody>
          </p:sp>
        </mc:Fallback>
      </mc:AlternateContent>
      <p:sp>
        <p:nvSpPr>
          <p:cNvPr id="4" name="线形标注 2 3"/>
          <p:cNvSpPr/>
          <p:nvPr/>
        </p:nvSpPr>
        <p:spPr>
          <a:xfrm>
            <a:off x="3707904" y="2276872"/>
            <a:ext cx="1476000" cy="432000"/>
          </a:xfrm>
          <a:prstGeom prst="borderCallout2">
            <a:avLst>
              <a:gd name="adj1" fmla="val 18750"/>
              <a:gd name="adj2" fmla="val -8333"/>
              <a:gd name="adj3" fmla="val 18750"/>
              <a:gd name="adj4" fmla="val -16667"/>
              <a:gd name="adj5" fmla="val 63654"/>
              <a:gd name="adj6" fmla="val -48256"/>
            </a:avLst>
          </a:prstGeom>
          <a:noFill/>
          <a:ln w="19050">
            <a:headEnd type="none" w="med" len="med"/>
            <a:tailEnd type="triangle" w="med" len="med"/>
          </a:ln>
        </p:spPr>
        <p:style>
          <a:lnRef idx="2">
            <a:schemeClr val="accent3"/>
          </a:lnRef>
          <a:fillRef idx="1">
            <a:schemeClr val="lt1"/>
          </a:fillRef>
          <a:effectRef idx="0">
            <a:schemeClr val="accent3"/>
          </a:effectRef>
          <a:fontRef idx="minor">
            <a:schemeClr val="dk1"/>
          </a:fontRef>
        </p:style>
        <p:txBody>
          <a:bodyPr rtlCol="0" anchor="ctr"/>
          <a:lstStyle/>
          <a:p>
            <a:r>
              <a:rPr lang="zh-CN" altLang="en-US" dirty="0">
                <a:latin typeface="华文细黑" pitchFamily="2" charset="-122"/>
                <a:ea typeface="华文细黑" pitchFamily="2" charset="-122"/>
              </a:rPr>
              <a:t>类别的数量</a:t>
            </a:r>
          </a:p>
        </p:txBody>
      </p:sp>
      <p:sp>
        <p:nvSpPr>
          <p:cNvPr id="6" name="线形标注 2 5"/>
          <p:cNvSpPr/>
          <p:nvPr/>
        </p:nvSpPr>
        <p:spPr>
          <a:xfrm>
            <a:off x="6181076" y="2960643"/>
            <a:ext cx="2016000" cy="612000"/>
          </a:xfrm>
          <a:prstGeom prst="borderCallout2">
            <a:avLst>
              <a:gd name="adj1" fmla="val 18750"/>
              <a:gd name="adj2" fmla="val -8333"/>
              <a:gd name="adj3" fmla="val 18750"/>
              <a:gd name="adj4" fmla="val -16667"/>
              <a:gd name="adj5" fmla="val 12892"/>
              <a:gd name="adj6" fmla="val -99816"/>
            </a:avLst>
          </a:prstGeom>
          <a:noFill/>
          <a:ln w="19050">
            <a:headEnd type="none" w="med" len="med"/>
            <a:tailEnd type="triangle" w="med" len="med"/>
          </a:ln>
        </p:spPr>
        <p:style>
          <a:lnRef idx="2">
            <a:schemeClr val="accent3"/>
          </a:lnRef>
          <a:fillRef idx="1">
            <a:schemeClr val="lt1"/>
          </a:fillRef>
          <a:effectRef idx="0">
            <a:schemeClr val="accent3"/>
          </a:effectRef>
          <a:fontRef idx="minor">
            <a:schemeClr val="dk1"/>
          </a:fontRef>
        </p:style>
        <p:txBody>
          <a:bodyPr rtlCol="0" anchor="ctr"/>
          <a:lstStyle/>
          <a:p>
            <a:r>
              <a:rPr lang="zh-CN" altLang="en-US" dirty="0">
                <a:latin typeface="Times New Roman" pitchFamily="18" charset="0"/>
                <a:ea typeface="华文细黑" pitchFamily="2" charset="-122"/>
                <a:cs typeface="Times New Roman" pitchFamily="18" charset="0"/>
              </a:rPr>
              <a:t>在结点 </a:t>
            </a:r>
            <a:r>
              <a:rPr lang="en-US" altLang="zh-CN" i="1" dirty="0">
                <a:latin typeface="Times New Roman" pitchFamily="18" charset="0"/>
                <a:ea typeface="华文细黑" pitchFamily="2" charset="-122"/>
                <a:cs typeface="Times New Roman" pitchFamily="18" charset="0"/>
              </a:rPr>
              <a:t>t</a:t>
            </a:r>
            <a:r>
              <a:rPr lang="zh-CN" altLang="en-US" dirty="0">
                <a:latin typeface="Times New Roman" pitchFamily="18" charset="0"/>
                <a:ea typeface="华文细黑" pitchFamily="2" charset="-122"/>
                <a:cs typeface="Times New Roman" pitchFamily="18" charset="0"/>
              </a:rPr>
              <a:t> 中，类 </a:t>
            </a:r>
            <a:r>
              <a:rPr lang="en-US" altLang="zh-CN" i="1" dirty="0">
                <a:latin typeface="Times New Roman" pitchFamily="18" charset="0"/>
                <a:ea typeface="华文细黑" pitchFamily="2" charset="-122"/>
                <a:cs typeface="Times New Roman" pitchFamily="18" charset="0"/>
              </a:rPr>
              <a:t>c</a:t>
            </a:r>
            <a:r>
              <a:rPr lang="en-US" altLang="zh-CN" baseline="-25000" dirty="0">
                <a:latin typeface="Times New Roman" pitchFamily="18" charset="0"/>
                <a:ea typeface="华文细黑" pitchFamily="2" charset="-122"/>
                <a:cs typeface="Times New Roman" pitchFamily="18" charset="0"/>
              </a:rPr>
              <a:t>i</a:t>
            </a:r>
            <a:r>
              <a:rPr lang="zh-CN" altLang="en-US" dirty="0">
                <a:latin typeface="Times New Roman" pitchFamily="18" charset="0"/>
                <a:ea typeface="华文细黑" pitchFamily="2" charset="-122"/>
                <a:cs typeface="Times New Roman" pitchFamily="18" charset="0"/>
              </a:rPr>
              <a:t> 发生的概率</a:t>
            </a:r>
          </a:p>
        </p:txBody>
      </p:sp>
      <p:sp>
        <p:nvSpPr>
          <p:cNvPr id="9" name="圆角矩形 8"/>
          <p:cNvSpPr/>
          <p:nvPr/>
        </p:nvSpPr>
        <p:spPr>
          <a:xfrm>
            <a:off x="2771800" y="2600824"/>
            <a:ext cx="288032" cy="194458"/>
          </a:xfrm>
          <a:prstGeom prst="roundRect">
            <a:avLst/>
          </a:prstGeom>
          <a:noFill/>
          <a:ln w="12700"/>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10" name="圆角矩形 9"/>
          <p:cNvSpPr/>
          <p:nvPr/>
        </p:nvSpPr>
        <p:spPr>
          <a:xfrm>
            <a:off x="3212232" y="2795289"/>
            <a:ext cx="891616" cy="356400"/>
          </a:xfrm>
          <a:prstGeom prst="roundRect">
            <a:avLst/>
          </a:prstGeom>
          <a:noFill/>
          <a:ln w="12700"/>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11" name="圆角矩形 10"/>
          <p:cNvSpPr/>
          <p:nvPr/>
        </p:nvSpPr>
        <p:spPr>
          <a:xfrm>
            <a:off x="3514024" y="2872720"/>
            <a:ext cx="216000" cy="259200"/>
          </a:xfrm>
          <a:prstGeom prst="roundRect">
            <a:avLst/>
          </a:prstGeom>
          <a:noFill/>
          <a:ln w="12700"/>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12" name="线形标注 2 11"/>
          <p:cNvSpPr/>
          <p:nvPr/>
        </p:nvSpPr>
        <p:spPr>
          <a:xfrm>
            <a:off x="6433076" y="4140028"/>
            <a:ext cx="1764000" cy="612000"/>
          </a:xfrm>
          <a:prstGeom prst="borderCallout2">
            <a:avLst>
              <a:gd name="adj1" fmla="val 18750"/>
              <a:gd name="adj2" fmla="val -8333"/>
              <a:gd name="adj3" fmla="val 18750"/>
              <a:gd name="adj4" fmla="val -16667"/>
              <a:gd name="adj5" fmla="val -150610"/>
              <a:gd name="adj6" fmla="val -140645"/>
            </a:avLst>
          </a:prstGeom>
          <a:noFill/>
          <a:ln w="19050">
            <a:headEnd type="none" w="med" len="med"/>
            <a:tailEnd type="triangle" w="med" len="med"/>
          </a:ln>
        </p:spPr>
        <p:style>
          <a:lnRef idx="2">
            <a:schemeClr val="accent3"/>
          </a:lnRef>
          <a:fillRef idx="1">
            <a:schemeClr val="lt1"/>
          </a:fillRef>
          <a:effectRef idx="0">
            <a:schemeClr val="accent3"/>
          </a:effectRef>
          <a:fontRef idx="minor">
            <a:schemeClr val="dk1"/>
          </a:fontRef>
        </p:style>
        <p:txBody>
          <a:bodyPr rtlCol="0" anchor="ctr"/>
          <a:lstStyle/>
          <a:p>
            <a:r>
              <a:rPr lang="zh-CN" altLang="en-US" dirty="0">
                <a:latin typeface="Times New Roman" pitchFamily="18" charset="0"/>
                <a:ea typeface="华文细黑" pitchFamily="2" charset="-122"/>
                <a:cs typeface="Times New Roman" pitchFamily="18" charset="0"/>
              </a:rPr>
              <a:t>结点 </a:t>
            </a:r>
            <a:r>
              <a:rPr lang="en-US" altLang="zh-CN" i="1" dirty="0">
                <a:latin typeface="Times New Roman" pitchFamily="18" charset="0"/>
                <a:ea typeface="华文细黑" pitchFamily="2" charset="-122"/>
                <a:cs typeface="Times New Roman" pitchFamily="18" charset="0"/>
              </a:rPr>
              <a:t>t </a:t>
            </a:r>
            <a:r>
              <a:rPr lang="zh-CN" altLang="en-US" dirty="0">
                <a:latin typeface="Times New Roman" pitchFamily="18" charset="0"/>
                <a:ea typeface="华文细黑" pitchFamily="2" charset="-122"/>
                <a:cs typeface="Times New Roman" pitchFamily="18" charset="0"/>
              </a:rPr>
              <a:t>中出现的各个类别总数</a:t>
            </a:r>
          </a:p>
        </p:txBody>
      </p:sp>
      <p:sp>
        <p:nvSpPr>
          <p:cNvPr id="7" name="页脚占位符 6">
            <a:extLst>
              <a:ext uri="{FF2B5EF4-FFF2-40B4-BE49-F238E27FC236}">
                <a16:creationId xmlns:a16="http://schemas.microsoft.com/office/drawing/2014/main" id="{C3F3B11B-702B-4EED-8913-0EF530B9519C}"/>
              </a:ext>
            </a:extLst>
          </p:cNvPr>
          <p:cNvSpPr>
            <a:spLocks noGrp="1"/>
          </p:cNvSpPr>
          <p:nvPr>
            <p:ph type="ftr" sz="quarter" idx="11"/>
          </p:nvPr>
        </p:nvSpPr>
        <p:spPr/>
        <p:txBody>
          <a:bodyPr/>
          <a:lstStyle/>
          <a:p>
            <a:endParaRPr lang="zh-CN" altLang="en-US"/>
          </a:p>
        </p:txBody>
      </p:sp>
      <p:sp>
        <p:nvSpPr>
          <p:cNvPr id="8" name="灯片编号占位符 7">
            <a:extLst>
              <a:ext uri="{FF2B5EF4-FFF2-40B4-BE49-F238E27FC236}">
                <a16:creationId xmlns:a16="http://schemas.microsoft.com/office/drawing/2014/main" id="{C88C81DE-7B8D-4011-A5E3-1B5FC631D53B}"/>
              </a:ext>
            </a:extLst>
          </p:cNvPr>
          <p:cNvSpPr>
            <a:spLocks noGrp="1"/>
          </p:cNvSpPr>
          <p:nvPr>
            <p:ph type="sldNum" sz="quarter" idx="12"/>
          </p:nvPr>
        </p:nvSpPr>
        <p:spPr/>
        <p:txBody>
          <a:bodyPr/>
          <a:lstStyle/>
          <a:p>
            <a:fld id="{5AD84F5B-1672-4D3F-9FEC-5DF89A7B7912}" type="slidenum">
              <a:rPr lang="zh-CN" altLang="en-US" smtClean="0"/>
              <a:t>36</a:t>
            </a:fld>
            <a:endParaRPr lang="zh-CN" altLang="en-US"/>
          </a:p>
        </p:txBody>
      </p:sp>
    </p:spTree>
    <p:extLst>
      <p:ext uri="{BB962C8B-B14F-4D97-AF65-F5344CB8AC3E}">
        <p14:creationId xmlns:p14="http://schemas.microsoft.com/office/powerpoint/2010/main" val="2221791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a:solidFill>
                  <a:schemeClr val="tx2">
                    <a:satMod val="130000"/>
                  </a:schemeClr>
                </a:solidFill>
              </a:rPr>
              <a:t>GINI</a:t>
            </a:r>
            <a:r>
              <a:rPr lang="zh-CN" altLang="en-US" dirty="0">
                <a:solidFill>
                  <a:schemeClr val="tx2">
                    <a:satMod val="130000"/>
                  </a:schemeClr>
                </a:solidFill>
              </a:rPr>
              <a:t>系数指标</a:t>
            </a:r>
          </a:p>
        </p:txBody>
      </p:sp>
      <p:graphicFrame>
        <p:nvGraphicFramePr>
          <p:cNvPr id="6" name="对象 5"/>
          <p:cNvGraphicFramePr>
            <a:graphicFrameLocks noChangeAspect="1"/>
          </p:cNvGraphicFramePr>
          <p:nvPr/>
        </p:nvGraphicFramePr>
        <p:xfrm>
          <a:off x="257283" y="1948719"/>
          <a:ext cx="1692275" cy="903812"/>
        </p:xfrm>
        <a:graphic>
          <a:graphicData uri="http://schemas.openxmlformats.org/presentationml/2006/ole">
            <mc:AlternateContent xmlns:mc="http://schemas.openxmlformats.org/markup-compatibility/2006">
              <mc:Choice xmlns:v="urn:schemas-microsoft-com:vml" Requires="v">
                <p:oleObj spid="_x0000_s6278" name="Document" r:id="rId3" imgW="3293059" imgH="1968760" progId="Word.Document.8">
                  <p:embed/>
                </p:oleObj>
              </mc:Choice>
              <mc:Fallback>
                <p:oleObj name="Document" r:id="rId3" imgW="3293059" imgH="1968760" progId="Word.Document.8">
                  <p:embed/>
                  <p:pic>
                    <p:nvPicPr>
                      <p:cNvPr id="6"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283" y="1948719"/>
                        <a:ext cx="1692275" cy="903812"/>
                      </a:xfrm>
                      <a:prstGeom prst="rect">
                        <a:avLst/>
                      </a:prstGeom>
                      <a:noFill/>
                      <a:ln>
                        <a:noFill/>
                      </a:ln>
                      <a:effectLst/>
                    </p:spPr>
                  </p:pic>
                </p:oleObj>
              </mc:Fallback>
            </mc:AlternateContent>
          </a:graphicData>
        </a:graphic>
      </p:graphicFrame>
      <p:graphicFrame>
        <p:nvGraphicFramePr>
          <p:cNvPr id="7" name="对象 6"/>
          <p:cNvGraphicFramePr>
            <a:graphicFrameLocks noChangeAspect="1"/>
          </p:cNvGraphicFramePr>
          <p:nvPr/>
        </p:nvGraphicFramePr>
        <p:xfrm>
          <a:off x="257283" y="4018019"/>
          <a:ext cx="1692275" cy="903812"/>
        </p:xfrm>
        <a:graphic>
          <a:graphicData uri="http://schemas.openxmlformats.org/presentationml/2006/ole">
            <mc:AlternateContent xmlns:mc="http://schemas.openxmlformats.org/markup-compatibility/2006">
              <mc:Choice xmlns:v="urn:schemas-microsoft-com:vml" Requires="v">
                <p:oleObj spid="_x0000_s6279" name="Document" r:id="rId5" imgW="3293059" imgH="1969120" progId="Word.Document.8">
                  <p:embed/>
                </p:oleObj>
              </mc:Choice>
              <mc:Fallback>
                <p:oleObj name="Document" r:id="rId5" imgW="3293059" imgH="1969120" progId="Word.Document.8">
                  <p:embed/>
                  <p:pic>
                    <p:nvPicPr>
                      <p:cNvPr id="7" name="对象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7283" y="4018019"/>
                        <a:ext cx="1692275" cy="903812"/>
                      </a:xfrm>
                      <a:prstGeom prst="rect">
                        <a:avLst/>
                      </a:prstGeom>
                      <a:noFill/>
                      <a:ln>
                        <a:noFill/>
                      </a:ln>
                      <a:effectLst/>
                    </p:spPr>
                  </p:pic>
                </p:oleObj>
              </mc:Fallback>
            </mc:AlternateContent>
          </a:graphicData>
        </a:graphic>
      </p:graphicFrame>
      <p:graphicFrame>
        <p:nvGraphicFramePr>
          <p:cNvPr id="8" name="对象 7"/>
          <p:cNvGraphicFramePr>
            <a:graphicFrameLocks noChangeAspect="1"/>
          </p:cNvGraphicFramePr>
          <p:nvPr/>
        </p:nvGraphicFramePr>
        <p:xfrm>
          <a:off x="257283" y="5052669"/>
          <a:ext cx="1692275" cy="903812"/>
        </p:xfrm>
        <a:graphic>
          <a:graphicData uri="http://schemas.openxmlformats.org/presentationml/2006/ole">
            <mc:AlternateContent xmlns:mc="http://schemas.openxmlformats.org/markup-compatibility/2006">
              <mc:Choice xmlns:v="urn:schemas-microsoft-com:vml" Requires="v">
                <p:oleObj spid="_x0000_s6280" name="Document" r:id="rId7" imgW="3293059" imgH="1968760" progId="Word.Document.8">
                  <p:embed/>
                </p:oleObj>
              </mc:Choice>
              <mc:Fallback>
                <p:oleObj name="Document" r:id="rId7" imgW="3293059" imgH="1968760" progId="Word.Document.8">
                  <p:embed/>
                  <p:pic>
                    <p:nvPicPr>
                      <p:cNvPr id="8" name="对象 7"/>
                      <p:cNvPicPr>
                        <a:picLocks noChangeAspect="1" noChangeArrowheads="1"/>
                      </p:cNvPicPr>
                      <p:nvPr/>
                    </p:nvPicPr>
                    <p:blipFill>
                      <a:blip r:embed="rId8"/>
                      <a:srcRect/>
                      <a:stretch>
                        <a:fillRect/>
                      </a:stretch>
                    </p:blipFill>
                    <p:spPr bwMode="auto">
                      <a:xfrm>
                        <a:off x="257283" y="5052669"/>
                        <a:ext cx="1692275" cy="903812"/>
                      </a:xfrm>
                      <a:prstGeom prst="rect">
                        <a:avLst/>
                      </a:prstGeom>
                      <a:noFill/>
                      <a:ln>
                        <a:noFill/>
                      </a:ln>
                      <a:effectLst/>
                    </p:spPr>
                  </p:pic>
                </p:oleObj>
              </mc:Fallback>
            </mc:AlternateContent>
          </a:graphicData>
        </a:graphic>
      </p:graphicFrame>
      <p:graphicFrame>
        <p:nvGraphicFramePr>
          <p:cNvPr id="9" name="对象 8"/>
          <p:cNvGraphicFramePr>
            <a:graphicFrameLocks noChangeAspect="1"/>
          </p:cNvGraphicFramePr>
          <p:nvPr/>
        </p:nvGraphicFramePr>
        <p:xfrm>
          <a:off x="257283" y="2983369"/>
          <a:ext cx="1692275" cy="903812"/>
        </p:xfrm>
        <a:graphic>
          <a:graphicData uri="http://schemas.openxmlformats.org/presentationml/2006/ole">
            <mc:AlternateContent xmlns:mc="http://schemas.openxmlformats.org/markup-compatibility/2006">
              <mc:Choice xmlns:v="urn:schemas-microsoft-com:vml" Requires="v">
                <p:oleObj spid="_x0000_s6281" name="Document" r:id="rId9" imgW="3293059" imgH="1969120" progId="Word.Document.8">
                  <p:embed/>
                </p:oleObj>
              </mc:Choice>
              <mc:Fallback>
                <p:oleObj name="Document" r:id="rId9" imgW="3293059" imgH="1969120" progId="Word.Document.8">
                  <p:embed/>
                  <p:pic>
                    <p:nvPicPr>
                      <p:cNvPr id="9" name="对象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7283" y="2983369"/>
                        <a:ext cx="1692275" cy="903812"/>
                      </a:xfrm>
                      <a:prstGeom prst="rect">
                        <a:avLst/>
                      </a:prstGeom>
                      <a:noFill/>
                      <a:ln>
                        <a:noFill/>
                      </a:ln>
                      <a:effectLst/>
                    </p:spPr>
                  </p:pic>
                </p:oleObj>
              </mc:Fallback>
            </mc:AlternateContent>
          </a:graphicData>
        </a:graphic>
      </p:graphicFrame>
      <p:sp>
        <p:nvSpPr>
          <p:cNvPr id="10" name="Text Box 10"/>
          <p:cNvSpPr txBox="1">
            <a:spLocks noChangeArrowheads="1"/>
          </p:cNvSpPr>
          <p:nvPr/>
        </p:nvSpPr>
        <p:spPr bwMode="auto">
          <a:xfrm>
            <a:off x="1985516" y="1873629"/>
            <a:ext cx="6690940" cy="869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Gill Sans MT" pitchFamily="34" charset="0"/>
                <a:ea typeface="华文中宋" pitchFamily="2" charset="-122"/>
              </a:defRPr>
            </a:lvl1pPr>
            <a:lvl2pPr marL="742950" indent="-285750">
              <a:defRPr>
                <a:solidFill>
                  <a:schemeClr val="tx1"/>
                </a:solidFill>
                <a:latin typeface="Gill Sans MT" pitchFamily="34" charset="0"/>
                <a:ea typeface="华文中宋" pitchFamily="2" charset="-122"/>
              </a:defRPr>
            </a:lvl2pPr>
            <a:lvl3pPr marL="1143000" indent="-228600">
              <a:defRPr>
                <a:solidFill>
                  <a:schemeClr val="tx1"/>
                </a:solidFill>
                <a:latin typeface="Gill Sans MT" pitchFamily="34" charset="0"/>
                <a:ea typeface="华文中宋" pitchFamily="2" charset="-122"/>
              </a:defRPr>
            </a:lvl3pPr>
            <a:lvl4pPr marL="1600200" indent="-228600">
              <a:defRPr>
                <a:solidFill>
                  <a:schemeClr val="tx1"/>
                </a:solidFill>
                <a:latin typeface="Gill Sans MT" pitchFamily="34" charset="0"/>
                <a:ea typeface="华文中宋" pitchFamily="2" charset="-122"/>
              </a:defRPr>
            </a:lvl4pPr>
            <a:lvl5pPr marL="2057400" indent="-228600">
              <a:defRPr>
                <a:solidFill>
                  <a:schemeClr val="tx1"/>
                </a:solidFill>
                <a:latin typeface="Gill Sans MT" pitchFamily="34" charset="0"/>
                <a:ea typeface="华文中宋" pitchFamily="2" charset="-122"/>
              </a:defRPr>
            </a:lvl5pPr>
            <a:lvl6pPr marL="2514600" indent="-228600" fontAlgn="base">
              <a:spcBef>
                <a:spcPct val="0"/>
              </a:spcBef>
              <a:spcAft>
                <a:spcPct val="0"/>
              </a:spcAft>
              <a:defRPr>
                <a:solidFill>
                  <a:schemeClr val="tx1"/>
                </a:solidFill>
                <a:latin typeface="Gill Sans MT" pitchFamily="34" charset="0"/>
                <a:ea typeface="华文中宋" pitchFamily="2" charset="-122"/>
              </a:defRPr>
            </a:lvl6pPr>
            <a:lvl7pPr marL="2971800" indent="-228600" fontAlgn="base">
              <a:spcBef>
                <a:spcPct val="0"/>
              </a:spcBef>
              <a:spcAft>
                <a:spcPct val="0"/>
              </a:spcAft>
              <a:defRPr>
                <a:solidFill>
                  <a:schemeClr val="tx1"/>
                </a:solidFill>
                <a:latin typeface="Gill Sans MT" pitchFamily="34" charset="0"/>
                <a:ea typeface="华文中宋" pitchFamily="2" charset="-122"/>
              </a:defRPr>
            </a:lvl7pPr>
            <a:lvl8pPr marL="3429000" indent="-228600" fontAlgn="base">
              <a:spcBef>
                <a:spcPct val="0"/>
              </a:spcBef>
              <a:spcAft>
                <a:spcPct val="0"/>
              </a:spcAft>
              <a:defRPr>
                <a:solidFill>
                  <a:schemeClr val="tx1"/>
                </a:solidFill>
                <a:latin typeface="Gill Sans MT" pitchFamily="34" charset="0"/>
                <a:ea typeface="华文中宋" pitchFamily="2" charset="-122"/>
              </a:defRPr>
            </a:lvl8pPr>
            <a:lvl9pPr marL="3886200" indent="-228600" fontAlgn="base">
              <a:spcBef>
                <a:spcPct val="0"/>
              </a:spcBef>
              <a:spcAft>
                <a:spcPct val="0"/>
              </a:spcAft>
              <a:defRPr>
                <a:solidFill>
                  <a:schemeClr val="tx1"/>
                </a:solidFill>
                <a:latin typeface="Gill Sans MT" pitchFamily="34" charset="0"/>
                <a:ea typeface="华文中宋" pitchFamily="2" charset="-122"/>
              </a:defRPr>
            </a:lvl9pPr>
          </a:lstStyle>
          <a:p>
            <a:pPr>
              <a:lnSpc>
                <a:spcPct val="120000"/>
              </a:lnSpc>
            </a:pPr>
            <a:r>
              <a:rPr lang="en-US" altLang="zh-CN" sz="2200" dirty="0">
                <a:latin typeface="Times New Roman" pitchFamily="18" charset="0"/>
                <a:ea typeface="华文细黑" pitchFamily="2" charset="-122"/>
              </a:rPr>
              <a:t>P(C0) = 0/6 = 0     P(C1) = 6/6 = 1</a:t>
            </a:r>
          </a:p>
          <a:p>
            <a:pPr>
              <a:lnSpc>
                <a:spcPct val="120000"/>
              </a:lnSpc>
            </a:pPr>
            <a:r>
              <a:rPr lang="en-US" altLang="zh-CN" sz="2200" dirty="0" err="1">
                <a:latin typeface="Times New Roman" pitchFamily="18" charset="0"/>
                <a:ea typeface="华文细黑" pitchFamily="2" charset="-122"/>
              </a:rPr>
              <a:t>Gini</a:t>
            </a:r>
            <a:r>
              <a:rPr lang="en-US" altLang="zh-CN" sz="2200" dirty="0">
                <a:latin typeface="Times New Roman" pitchFamily="18" charset="0"/>
                <a:ea typeface="华文细黑" pitchFamily="2" charset="-122"/>
              </a:rPr>
              <a:t> = 1 – (P(C0)</a:t>
            </a:r>
            <a:r>
              <a:rPr lang="en-US" altLang="zh-CN" sz="2200" baseline="30000" dirty="0">
                <a:latin typeface="Times New Roman" pitchFamily="18" charset="0"/>
                <a:ea typeface="华文细黑" pitchFamily="2" charset="-122"/>
              </a:rPr>
              <a:t>2 </a:t>
            </a:r>
            <a:r>
              <a:rPr lang="en-US" altLang="zh-CN" sz="2200" dirty="0">
                <a:latin typeface="Times New Roman" pitchFamily="18" charset="0"/>
                <a:ea typeface="华文细黑" pitchFamily="2" charset="-122"/>
              </a:rPr>
              <a:t>+ P(C1)</a:t>
            </a:r>
            <a:r>
              <a:rPr lang="en-US" altLang="zh-CN" sz="2200" baseline="30000" dirty="0">
                <a:latin typeface="Times New Roman" pitchFamily="18" charset="0"/>
                <a:ea typeface="华文细黑" pitchFamily="2" charset="-122"/>
              </a:rPr>
              <a:t>2</a:t>
            </a:r>
            <a:r>
              <a:rPr lang="en-US" altLang="zh-CN" sz="2200" dirty="0">
                <a:latin typeface="Times New Roman" pitchFamily="18" charset="0"/>
                <a:ea typeface="华文细黑" pitchFamily="2" charset="-122"/>
              </a:rPr>
              <a:t>) = 1 – (0 + 1) = </a:t>
            </a:r>
            <a:r>
              <a:rPr lang="en-US" altLang="zh-CN" sz="2200" dirty="0">
                <a:solidFill>
                  <a:srgbClr val="FF0000"/>
                </a:solidFill>
                <a:latin typeface="Times New Roman" pitchFamily="18" charset="0"/>
                <a:ea typeface="华文细黑" pitchFamily="2" charset="-122"/>
              </a:rPr>
              <a:t>0</a:t>
            </a:r>
            <a:r>
              <a:rPr lang="en-US" altLang="zh-CN" sz="2200" dirty="0">
                <a:latin typeface="Times New Roman" pitchFamily="18" charset="0"/>
                <a:ea typeface="华文细黑" pitchFamily="2" charset="-122"/>
              </a:rPr>
              <a:t> </a:t>
            </a:r>
          </a:p>
        </p:txBody>
      </p:sp>
      <p:sp>
        <p:nvSpPr>
          <p:cNvPr id="11" name="Text Box 12"/>
          <p:cNvSpPr txBox="1">
            <a:spLocks noChangeArrowheads="1"/>
          </p:cNvSpPr>
          <p:nvPr/>
        </p:nvSpPr>
        <p:spPr bwMode="auto">
          <a:xfrm>
            <a:off x="1985516" y="2908278"/>
            <a:ext cx="6690940" cy="869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Gill Sans MT" pitchFamily="34" charset="0"/>
                <a:ea typeface="华文中宋" pitchFamily="2" charset="-122"/>
              </a:defRPr>
            </a:lvl1pPr>
            <a:lvl2pPr marL="742950" indent="-285750">
              <a:defRPr>
                <a:solidFill>
                  <a:schemeClr val="tx1"/>
                </a:solidFill>
                <a:latin typeface="Gill Sans MT" pitchFamily="34" charset="0"/>
                <a:ea typeface="华文中宋" pitchFamily="2" charset="-122"/>
              </a:defRPr>
            </a:lvl2pPr>
            <a:lvl3pPr marL="1143000" indent="-228600">
              <a:defRPr>
                <a:solidFill>
                  <a:schemeClr val="tx1"/>
                </a:solidFill>
                <a:latin typeface="Gill Sans MT" pitchFamily="34" charset="0"/>
                <a:ea typeface="华文中宋" pitchFamily="2" charset="-122"/>
              </a:defRPr>
            </a:lvl3pPr>
            <a:lvl4pPr marL="1600200" indent="-228600">
              <a:defRPr>
                <a:solidFill>
                  <a:schemeClr val="tx1"/>
                </a:solidFill>
                <a:latin typeface="Gill Sans MT" pitchFamily="34" charset="0"/>
                <a:ea typeface="华文中宋" pitchFamily="2" charset="-122"/>
              </a:defRPr>
            </a:lvl4pPr>
            <a:lvl5pPr marL="2057400" indent="-228600">
              <a:defRPr>
                <a:solidFill>
                  <a:schemeClr val="tx1"/>
                </a:solidFill>
                <a:latin typeface="Gill Sans MT" pitchFamily="34" charset="0"/>
                <a:ea typeface="华文中宋" pitchFamily="2" charset="-122"/>
              </a:defRPr>
            </a:lvl5pPr>
            <a:lvl6pPr marL="2514600" indent="-228600" fontAlgn="base">
              <a:spcBef>
                <a:spcPct val="0"/>
              </a:spcBef>
              <a:spcAft>
                <a:spcPct val="0"/>
              </a:spcAft>
              <a:defRPr>
                <a:solidFill>
                  <a:schemeClr val="tx1"/>
                </a:solidFill>
                <a:latin typeface="Gill Sans MT" pitchFamily="34" charset="0"/>
                <a:ea typeface="华文中宋" pitchFamily="2" charset="-122"/>
              </a:defRPr>
            </a:lvl6pPr>
            <a:lvl7pPr marL="2971800" indent="-228600" fontAlgn="base">
              <a:spcBef>
                <a:spcPct val="0"/>
              </a:spcBef>
              <a:spcAft>
                <a:spcPct val="0"/>
              </a:spcAft>
              <a:defRPr>
                <a:solidFill>
                  <a:schemeClr val="tx1"/>
                </a:solidFill>
                <a:latin typeface="Gill Sans MT" pitchFamily="34" charset="0"/>
                <a:ea typeface="华文中宋" pitchFamily="2" charset="-122"/>
              </a:defRPr>
            </a:lvl7pPr>
            <a:lvl8pPr marL="3429000" indent="-228600" fontAlgn="base">
              <a:spcBef>
                <a:spcPct val="0"/>
              </a:spcBef>
              <a:spcAft>
                <a:spcPct val="0"/>
              </a:spcAft>
              <a:defRPr>
                <a:solidFill>
                  <a:schemeClr val="tx1"/>
                </a:solidFill>
                <a:latin typeface="Gill Sans MT" pitchFamily="34" charset="0"/>
                <a:ea typeface="华文中宋" pitchFamily="2" charset="-122"/>
              </a:defRPr>
            </a:lvl8pPr>
            <a:lvl9pPr marL="3886200" indent="-228600" fontAlgn="base">
              <a:spcBef>
                <a:spcPct val="0"/>
              </a:spcBef>
              <a:spcAft>
                <a:spcPct val="0"/>
              </a:spcAft>
              <a:defRPr>
                <a:solidFill>
                  <a:schemeClr val="tx1"/>
                </a:solidFill>
                <a:latin typeface="Gill Sans MT" pitchFamily="34" charset="0"/>
                <a:ea typeface="华文中宋" pitchFamily="2" charset="-122"/>
              </a:defRPr>
            </a:lvl9pPr>
          </a:lstStyle>
          <a:p>
            <a:pPr>
              <a:lnSpc>
                <a:spcPct val="120000"/>
              </a:lnSpc>
            </a:pPr>
            <a:r>
              <a:rPr lang="en-US" altLang="zh-CN" sz="2200" dirty="0">
                <a:latin typeface="Times New Roman" pitchFamily="18" charset="0"/>
                <a:ea typeface="华文细黑" pitchFamily="2" charset="-122"/>
              </a:rPr>
              <a:t>P(C0) = 1/6          P(C1) = 5/6</a:t>
            </a:r>
          </a:p>
          <a:p>
            <a:pPr>
              <a:lnSpc>
                <a:spcPct val="120000"/>
              </a:lnSpc>
            </a:pPr>
            <a:r>
              <a:rPr lang="en-US" altLang="zh-CN" sz="2200" dirty="0" err="1">
                <a:latin typeface="Times New Roman" pitchFamily="18" charset="0"/>
                <a:ea typeface="华文细黑" pitchFamily="2" charset="-122"/>
              </a:rPr>
              <a:t>Gini</a:t>
            </a:r>
            <a:r>
              <a:rPr lang="en-US" altLang="zh-CN" sz="2200" dirty="0">
                <a:latin typeface="Times New Roman" pitchFamily="18" charset="0"/>
                <a:ea typeface="华文细黑" pitchFamily="2" charset="-122"/>
              </a:rPr>
              <a:t> = 1 – ((1/6)</a:t>
            </a:r>
            <a:r>
              <a:rPr lang="en-US" altLang="zh-CN" sz="2200" baseline="30000" dirty="0">
                <a:latin typeface="Times New Roman" pitchFamily="18" charset="0"/>
                <a:ea typeface="华文细黑" pitchFamily="2" charset="-122"/>
              </a:rPr>
              <a:t>2 </a:t>
            </a:r>
            <a:r>
              <a:rPr lang="en-US" altLang="zh-CN" sz="2200" dirty="0">
                <a:latin typeface="Times New Roman" pitchFamily="18" charset="0"/>
                <a:ea typeface="华文细黑" pitchFamily="2" charset="-122"/>
              </a:rPr>
              <a:t>+ (5/6)</a:t>
            </a:r>
            <a:r>
              <a:rPr lang="en-US" altLang="zh-CN" sz="2200" baseline="30000" dirty="0">
                <a:latin typeface="Times New Roman" pitchFamily="18" charset="0"/>
                <a:ea typeface="华文细黑" pitchFamily="2" charset="-122"/>
              </a:rPr>
              <a:t>2</a:t>
            </a:r>
            <a:r>
              <a:rPr lang="en-US" altLang="zh-CN" sz="2200" dirty="0">
                <a:latin typeface="Times New Roman" pitchFamily="18" charset="0"/>
                <a:ea typeface="华文细黑" pitchFamily="2" charset="-122"/>
              </a:rPr>
              <a:t>) = </a:t>
            </a:r>
            <a:r>
              <a:rPr lang="en-US" altLang="zh-CN" sz="2200" dirty="0">
                <a:solidFill>
                  <a:srgbClr val="FF0000"/>
                </a:solidFill>
                <a:latin typeface="Times New Roman" pitchFamily="18" charset="0"/>
                <a:ea typeface="华文细黑" pitchFamily="2" charset="-122"/>
              </a:rPr>
              <a:t>0.278</a:t>
            </a:r>
          </a:p>
        </p:txBody>
      </p:sp>
      <p:sp>
        <p:nvSpPr>
          <p:cNvPr id="12" name="Text Box 13"/>
          <p:cNvSpPr txBox="1">
            <a:spLocks noChangeArrowheads="1"/>
          </p:cNvSpPr>
          <p:nvPr/>
        </p:nvSpPr>
        <p:spPr bwMode="auto">
          <a:xfrm>
            <a:off x="1985515" y="3942928"/>
            <a:ext cx="6690940" cy="869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Gill Sans MT" pitchFamily="34" charset="0"/>
                <a:ea typeface="华文中宋" pitchFamily="2" charset="-122"/>
              </a:defRPr>
            </a:lvl1pPr>
            <a:lvl2pPr marL="742950" indent="-285750">
              <a:defRPr>
                <a:solidFill>
                  <a:schemeClr val="tx1"/>
                </a:solidFill>
                <a:latin typeface="Gill Sans MT" pitchFamily="34" charset="0"/>
                <a:ea typeface="华文中宋" pitchFamily="2" charset="-122"/>
              </a:defRPr>
            </a:lvl2pPr>
            <a:lvl3pPr marL="1143000" indent="-228600">
              <a:defRPr>
                <a:solidFill>
                  <a:schemeClr val="tx1"/>
                </a:solidFill>
                <a:latin typeface="Gill Sans MT" pitchFamily="34" charset="0"/>
                <a:ea typeface="华文中宋" pitchFamily="2" charset="-122"/>
              </a:defRPr>
            </a:lvl3pPr>
            <a:lvl4pPr marL="1600200" indent="-228600">
              <a:defRPr>
                <a:solidFill>
                  <a:schemeClr val="tx1"/>
                </a:solidFill>
                <a:latin typeface="Gill Sans MT" pitchFamily="34" charset="0"/>
                <a:ea typeface="华文中宋" pitchFamily="2" charset="-122"/>
              </a:defRPr>
            </a:lvl4pPr>
            <a:lvl5pPr marL="2057400" indent="-228600">
              <a:defRPr>
                <a:solidFill>
                  <a:schemeClr val="tx1"/>
                </a:solidFill>
                <a:latin typeface="Gill Sans MT" pitchFamily="34" charset="0"/>
                <a:ea typeface="华文中宋" pitchFamily="2" charset="-122"/>
              </a:defRPr>
            </a:lvl5pPr>
            <a:lvl6pPr marL="2514600" indent="-228600" fontAlgn="base">
              <a:spcBef>
                <a:spcPct val="0"/>
              </a:spcBef>
              <a:spcAft>
                <a:spcPct val="0"/>
              </a:spcAft>
              <a:defRPr>
                <a:solidFill>
                  <a:schemeClr val="tx1"/>
                </a:solidFill>
                <a:latin typeface="Gill Sans MT" pitchFamily="34" charset="0"/>
                <a:ea typeface="华文中宋" pitchFamily="2" charset="-122"/>
              </a:defRPr>
            </a:lvl6pPr>
            <a:lvl7pPr marL="2971800" indent="-228600" fontAlgn="base">
              <a:spcBef>
                <a:spcPct val="0"/>
              </a:spcBef>
              <a:spcAft>
                <a:spcPct val="0"/>
              </a:spcAft>
              <a:defRPr>
                <a:solidFill>
                  <a:schemeClr val="tx1"/>
                </a:solidFill>
                <a:latin typeface="Gill Sans MT" pitchFamily="34" charset="0"/>
                <a:ea typeface="华文中宋" pitchFamily="2" charset="-122"/>
              </a:defRPr>
            </a:lvl7pPr>
            <a:lvl8pPr marL="3429000" indent="-228600" fontAlgn="base">
              <a:spcBef>
                <a:spcPct val="0"/>
              </a:spcBef>
              <a:spcAft>
                <a:spcPct val="0"/>
              </a:spcAft>
              <a:defRPr>
                <a:solidFill>
                  <a:schemeClr val="tx1"/>
                </a:solidFill>
                <a:latin typeface="Gill Sans MT" pitchFamily="34" charset="0"/>
                <a:ea typeface="华文中宋" pitchFamily="2" charset="-122"/>
              </a:defRPr>
            </a:lvl8pPr>
            <a:lvl9pPr marL="3886200" indent="-228600" fontAlgn="base">
              <a:spcBef>
                <a:spcPct val="0"/>
              </a:spcBef>
              <a:spcAft>
                <a:spcPct val="0"/>
              </a:spcAft>
              <a:defRPr>
                <a:solidFill>
                  <a:schemeClr val="tx1"/>
                </a:solidFill>
                <a:latin typeface="Gill Sans MT" pitchFamily="34" charset="0"/>
                <a:ea typeface="华文中宋" pitchFamily="2" charset="-122"/>
              </a:defRPr>
            </a:lvl9pPr>
          </a:lstStyle>
          <a:p>
            <a:pPr>
              <a:lnSpc>
                <a:spcPct val="120000"/>
              </a:lnSpc>
            </a:pPr>
            <a:r>
              <a:rPr lang="en-US" altLang="zh-CN" sz="2200" dirty="0">
                <a:latin typeface="Times New Roman" pitchFamily="18" charset="0"/>
                <a:ea typeface="华文细黑" pitchFamily="2" charset="-122"/>
              </a:rPr>
              <a:t>P(C0) = 2/6          P(C1) = 4/6</a:t>
            </a:r>
          </a:p>
          <a:p>
            <a:pPr>
              <a:lnSpc>
                <a:spcPct val="120000"/>
              </a:lnSpc>
            </a:pPr>
            <a:r>
              <a:rPr lang="en-US" altLang="zh-CN" sz="2200" dirty="0" err="1">
                <a:latin typeface="Times New Roman" pitchFamily="18" charset="0"/>
                <a:ea typeface="华文细黑" pitchFamily="2" charset="-122"/>
              </a:rPr>
              <a:t>Gini</a:t>
            </a:r>
            <a:r>
              <a:rPr lang="en-US" altLang="zh-CN" sz="2200" dirty="0">
                <a:latin typeface="Times New Roman" pitchFamily="18" charset="0"/>
                <a:ea typeface="华文细黑" pitchFamily="2" charset="-122"/>
              </a:rPr>
              <a:t> = 1 – ((2/6)</a:t>
            </a:r>
            <a:r>
              <a:rPr lang="en-US" altLang="zh-CN" sz="2200" baseline="30000" dirty="0">
                <a:latin typeface="Times New Roman" pitchFamily="18" charset="0"/>
                <a:ea typeface="华文细黑" pitchFamily="2" charset="-122"/>
              </a:rPr>
              <a:t>2 </a:t>
            </a:r>
            <a:r>
              <a:rPr lang="en-US" altLang="zh-CN" sz="2200" dirty="0">
                <a:latin typeface="Times New Roman" pitchFamily="18" charset="0"/>
                <a:ea typeface="华文细黑" pitchFamily="2" charset="-122"/>
              </a:rPr>
              <a:t>+ (4/6)</a:t>
            </a:r>
            <a:r>
              <a:rPr lang="en-US" altLang="zh-CN" sz="2200" baseline="30000" dirty="0">
                <a:latin typeface="Times New Roman" pitchFamily="18" charset="0"/>
                <a:ea typeface="华文细黑" pitchFamily="2" charset="-122"/>
              </a:rPr>
              <a:t>2</a:t>
            </a:r>
            <a:r>
              <a:rPr lang="en-US" altLang="zh-CN" sz="2200" dirty="0">
                <a:latin typeface="Times New Roman" pitchFamily="18" charset="0"/>
                <a:ea typeface="华文细黑" pitchFamily="2" charset="-122"/>
              </a:rPr>
              <a:t>) = </a:t>
            </a:r>
            <a:r>
              <a:rPr lang="en-US" altLang="zh-CN" sz="2200" dirty="0">
                <a:solidFill>
                  <a:srgbClr val="FF0000"/>
                </a:solidFill>
                <a:latin typeface="Times New Roman" pitchFamily="18" charset="0"/>
                <a:ea typeface="华文细黑" pitchFamily="2" charset="-122"/>
              </a:rPr>
              <a:t>0.444</a:t>
            </a:r>
          </a:p>
        </p:txBody>
      </p:sp>
      <p:sp>
        <p:nvSpPr>
          <p:cNvPr id="13" name="Text Box 13"/>
          <p:cNvSpPr txBox="1">
            <a:spLocks noChangeArrowheads="1"/>
          </p:cNvSpPr>
          <p:nvPr/>
        </p:nvSpPr>
        <p:spPr bwMode="auto">
          <a:xfrm>
            <a:off x="1985515" y="4977578"/>
            <a:ext cx="6690940" cy="869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Gill Sans MT" pitchFamily="34" charset="0"/>
                <a:ea typeface="华文中宋" pitchFamily="2" charset="-122"/>
              </a:defRPr>
            </a:lvl1pPr>
            <a:lvl2pPr marL="742950" indent="-285750">
              <a:defRPr>
                <a:solidFill>
                  <a:schemeClr val="tx1"/>
                </a:solidFill>
                <a:latin typeface="Gill Sans MT" pitchFamily="34" charset="0"/>
                <a:ea typeface="华文中宋" pitchFamily="2" charset="-122"/>
              </a:defRPr>
            </a:lvl2pPr>
            <a:lvl3pPr marL="1143000" indent="-228600">
              <a:defRPr>
                <a:solidFill>
                  <a:schemeClr val="tx1"/>
                </a:solidFill>
                <a:latin typeface="Gill Sans MT" pitchFamily="34" charset="0"/>
                <a:ea typeface="华文中宋" pitchFamily="2" charset="-122"/>
              </a:defRPr>
            </a:lvl3pPr>
            <a:lvl4pPr marL="1600200" indent="-228600">
              <a:defRPr>
                <a:solidFill>
                  <a:schemeClr val="tx1"/>
                </a:solidFill>
                <a:latin typeface="Gill Sans MT" pitchFamily="34" charset="0"/>
                <a:ea typeface="华文中宋" pitchFamily="2" charset="-122"/>
              </a:defRPr>
            </a:lvl4pPr>
            <a:lvl5pPr marL="2057400" indent="-228600">
              <a:defRPr>
                <a:solidFill>
                  <a:schemeClr val="tx1"/>
                </a:solidFill>
                <a:latin typeface="Gill Sans MT" pitchFamily="34" charset="0"/>
                <a:ea typeface="华文中宋" pitchFamily="2" charset="-122"/>
              </a:defRPr>
            </a:lvl5pPr>
            <a:lvl6pPr marL="2514600" indent="-228600" fontAlgn="base">
              <a:spcBef>
                <a:spcPct val="0"/>
              </a:spcBef>
              <a:spcAft>
                <a:spcPct val="0"/>
              </a:spcAft>
              <a:defRPr>
                <a:solidFill>
                  <a:schemeClr val="tx1"/>
                </a:solidFill>
                <a:latin typeface="Gill Sans MT" pitchFamily="34" charset="0"/>
                <a:ea typeface="华文中宋" pitchFamily="2" charset="-122"/>
              </a:defRPr>
            </a:lvl6pPr>
            <a:lvl7pPr marL="2971800" indent="-228600" fontAlgn="base">
              <a:spcBef>
                <a:spcPct val="0"/>
              </a:spcBef>
              <a:spcAft>
                <a:spcPct val="0"/>
              </a:spcAft>
              <a:defRPr>
                <a:solidFill>
                  <a:schemeClr val="tx1"/>
                </a:solidFill>
                <a:latin typeface="Gill Sans MT" pitchFamily="34" charset="0"/>
                <a:ea typeface="华文中宋" pitchFamily="2" charset="-122"/>
              </a:defRPr>
            </a:lvl7pPr>
            <a:lvl8pPr marL="3429000" indent="-228600" fontAlgn="base">
              <a:spcBef>
                <a:spcPct val="0"/>
              </a:spcBef>
              <a:spcAft>
                <a:spcPct val="0"/>
              </a:spcAft>
              <a:defRPr>
                <a:solidFill>
                  <a:schemeClr val="tx1"/>
                </a:solidFill>
                <a:latin typeface="Gill Sans MT" pitchFamily="34" charset="0"/>
                <a:ea typeface="华文中宋" pitchFamily="2" charset="-122"/>
              </a:defRPr>
            </a:lvl8pPr>
            <a:lvl9pPr marL="3886200" indent="-228600" fontAlgn="base">
              <a:spcBef>
                <a:spcPct val="0"/>
              </a:spcBef>
              <a:spcAft>
                <a:spcPct val="0"/>
              </a:spcAft>
              <a:defRPr>
                <a:solidFill>
                  <a:schemeClr val="tx1"/>
                </a:solidFill>
                <a:latin typeface="Gill Sans MT" pitchFamily="34" charset="0"/>
                <a:ea typeface="华文中宋" pitchFamily="2" charset="-122"/>
              </a:defRPr>
            </a:lvl9pPr>
          </a:lstStyle>
          <a:p>
            <a:pPr>
              <a:lnSpc>
                <a:spcPct val="120000"/>
              </a:lnSpc>
            </a:pPr>
            <a:r>
              <a:rPr lang="en-US" altLang="zh-CN" sz="2200" dirty="0">
                <a:latin typeface="Times New Roman" pitchFamily="18" charset="0"/>
                <a:ea typeface="华文细黑" pitchFamily="2" charset="-122"/>
              </a:rPr>
              <a:t>P(C0) = 3/6          P(C1) = 3/6</a:t>
            </a:r>
          </a:p>
          <a:p>
            <a:pPr>
              <a:lnSpc>
                <a:spcPct val="120000"/>
              </a:lnSpc>
            </a:pPr>
            <a:r>
              <a:rPr lang="en-US" altLang="zh-CN" sz="2200" dirty="0" err="1">
                <a:latin typeface="Times New Roman" pitchFamily="18" charset="0"/>
                <a:ea typeface="华文细黑" pitchFamily="2" charset="-122"/>
              </a:rPr>
              <a:t>Gini</a:t>
            </a:r>
            <a:r>
              <a:rPr lang="en-US" altLang="zh-CN" sz="2200" dirty="0">
                <a:latin typeface="Times New Roman" pitchFamily="18" charset="0"/>
                <a:ea typeface="华文细黑" pitchFamily="2" charset="-122"/>
              </a:rPr>
              <a:t> = 1 – ((3/6)</a:t>
            </a:r>
            <a:r>
              <a:rPr lang="en-US" altLang="zh-CN" sz="2200" baseline="30000" dirty="0">
                <a:latin typeface="Times New Roman" pitchFamily="18" charset="0"/>
                <a:ea typeface="华文细黑" pitchFamily="2" charset="-122"/>
              </a:rPr>
              <a:t>2 </a:t>
            </a:r>
            <a:r>
              <a:rPr lang="en-US" altLang="zh-CN" sz="2200" dirty="0">
                <a:latin typeface="Times New Roman" pitchFamily="18" charset="0"/>
                <a:ea typeface="华文细黑" pitchFamily="2" charset="-122"/>
              </a:rPr>
              <a:t>+ (3/6)</a:t>
            </a:r>
            <a:r>
              <a:rPr lang="en-US" altLang="zh-CN" sz="2200" baseline="30000" dirty="0">
                <a:latin typeface="Times New Roman" pitchFamily="18" charset="0"/>
                <a:ea typeface="华文细黑" pitchFamily="2" charset="-122"/>
              </a:rPr>
              <a:t>2</a:t>
            </a:r>
            <a:r>
              <a:rPr lang="en-US" altLang="zh-CN" sz="2200" dirty="0">
                <a:latin typeface="Times New Roman" pitchFamily="18" charset="0"/>
                <a:ea typeface="华文细黑" pitchFamily="2" charset="-122"/>
              </a:rPr>
              <a:t>) = </a:t>
            </a:r>
            <a:r>
              <a:rPr lang="en-US" altLang="zh-CN" sz="2200" dirty="0">
                <a:solidFill>
                  <a:srgbClr val="FF0000"/>
                </a:solidFill>
                <a:latin typeface="Times New Roman" pitchFamily="18" charset="0"/>
                <a:ea typeface="华文细黑" pitchFamily="2" charset="-122"/>
              </a:rPr>
              <a:t>0.5</a:t>
            </a:r>
          </a:p>
        </p:txBody>
      </p:sp>
      <p:sp>
        <p:nvSpPr>
          <p:cNvPr id="3" name="页脚占位符 2">
            <a:extLst>
              <a:ext uri="{FF2B5EF4-FFF2-40B4-BE49-F238E27FC236}">
                <a16:creationId xmlns:a16="http://schemas.microsoft.com/office/drawing/2014/main" id="{7444C3DB-012B-496E-821F-F6EC0321266E}"/>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583E320-896B-4BB8-A278-E064A88E407F}"/>
              </a:ext>
            </a:extLst>
          </p:cNvPr>
          <p:cNvSpPr>
            <a:spLocks noGrp="1"/>
          </p:cNvSpPr>
          <p:nvPr>
            <p:ph type="sldNum" sz="quarter" idx="12"/>
          </p:nvPr>
        </p:nvSpPr>
        <p:spPr/>
        <p:txBody>
          <a:bodyPr/>
          <a:lstStyle/>
          <a:p>
            <a:fld id="{5AD84F5B-1672-4D3F-9FEC-5DF89A7B7912}" type="slidenum">
              <a:rPr lang="zh-CN" altLang="en-US" smtClean="0"/>
              <a:t>37</a:t>
            </a:fld>
            <a:endParaRPr lang="zh-CN" altLang="en-US"/>
          </a:p>
        </p:txBody>
      </p:sp>
    </p:spTree>
    <p:extLst>
      <p:ext uri="{BB962C8B-B14F-4D97-AF65-F5344CB8AC3E}">
        <p14:creationId xmlns:p14="http://schemas.microsoft.com/office/powerpoint/2010/main" val="3644954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a:solidFill>
                  <a:schemeClr val="tx2">
                    <a:satMod val="130000"/>
                  </a:schemeClr>
                </a:solidFill>
              </a:rPr>
              <a:t>GINI</a:t>
            </a:r>
            <a:r>
              <a:rPr lang="zh-CN" altLang="en-US" dirty="0">
                <a:solidFill>
                  <a:schemeClr val="tx2">
                    <a:satMod val="130000"/>
                  </a:schemeClr>
                </a:solidFill>
              </a:rPr>
              <a:t>系数指标</a:t>
            </a:r>
          </a:p>
        </p:txBody>
      </p:sp>
      <p:sp>
        <p:nvSpPr>
          <p:cNvPr id="50179" name="内容占位符 2"/>
          <p:cNvSpPr>
            <a:spLocks noGrp="1"/>
          </p:cNvSpPr>
          <p:nvPr>
            <p:ph idx="1"/>
          </p:nvPr>
        </p:nvSpPr>
        <p:spPr/>
        <p:txBody>
          <a:bodyPr/>
          <a:lstStyle/>
          <a:p>
            <a:r>
              <a:rPr lang="zh-CN" altLang="zh-CN" dirty="0">
                <a:latin typeface="Times New Roman" pitchFamily="18" charset="0"/>
                <a:cs typeface="Times New Roman" pitchFamily="18" charset="0"/>
              </a:rPr>
              <a:t>不同的划分结果，可以利用</a:t>
            </a:r>
            <a:r>
              <a:rPr lang="en-US" altLang="zh-CN" dirty="0" err="1">
                <a:latin typeface="Times New Roman" pitchFamily="18" charset="0"/>
                <a:cs typeface="Times New Roman" pitchFamily="18" charset="0"/>
              </a:rPr>
              <a:t>Gini</a:t>
            </a:r>
            <a:r>
              <a:rPr lang="en-US" altLang="zh-CN" baseline="-25000" dirty="0" err="1">
                <a:latin typeface="Times New Roman" pitchFamily="18" charset="0"/>
                <a:cs typeface="Times New Roman" pitchFamily="18" charset="0"/>
              </a:rPr>
              <a:t>Split</a:t>
            </a:r>
            <a:r>
              <a:rPr lang="zh-CN" altLang="zh-CN" dirty="0">
                <a:latin typeface="Times New Roman" pitchFamily="18" charset="0"/>
                <a:cs typeface="Times New Roman" pitchFamily="18" charset="0"/>
              </a:rPr>
              <a:t>参数来衡量。</a:t>
            </a:r>
            <a:endParaRPr lang="en-US" altLang="zh-CN" dirty="0">
              <a:latin typeface="Times New Roman" pitchFamily="18" charset="0"/>
              <a:cs typeface="Times New Roman" pitchFamily="18" charset="0"/>
            </a:endParaRPr>
          </a:p>
          <a:p>
            <a:pPr lvl="4"/>
            <a:endParaRPr lang="en-US" altLang="zh-CN" sz="1400" dirty="0">
              <a:latin typeface="Times New Roman" pitchFamily="18" charset="0"/>
              <a:cs typeface="Times New Roman" pitchFamily="18" charset="0"/>
            </a:endParaRPr>
          </a:p>
          <a:p>
            <a:r>
              <a:rPr lang="zh-CN" altLang="en-US" dirty="0">
                <a:latin typeface="Times New Roman" pitchFamily="18" charset="0"/>
                <a:cs typeface="Times New Roman" pitchFamily="18" charset="0"/>
              </a:rPr>
              <a:t>当一个结点 </a:t>
            </a:r>
            <a:r>
              <a:rPr lang="en-US" altLang="zh-CN" i="1" dirty="0">
                <a:latin typeface="Times New Roman" pitchFamily="18" charset="0"/>
                <a:cs typeface="Times New Roman" pitchFamily="18" charset="0"/>
              </a:rPr>
              <a:t>p</a:t>
            </a:r>
            <a:r>
              <a:rPr lang="en-US" altLang="zh-CN" dirty="0">
                <a:latin typeface="Times New Roman" pitchFamily="18" charset="0"/>
                <a:cs typeface="Times New Roman" pitchFamily="18" charset="0"/>
              </a:rPr>
              <a:t> </a:t>
            </a:r>
            <a:r>
              <a:rPr lang="zh-CN" altLang="en-US" dirty="0">
                <a:latin typeface="Times New Roman" pitchFamily="18" charset="0"/>
                <a:cs typeface="Times New Roman" pitchFamily="18" charset="0"/>
              </a:rPr>
              <a:t>分割成 </a:t>
            </a:r>
            <a:r>
              <a:rPr lang="en-US" altLang="zh-CN" i="1" dirty="0">
                <a:latin typeface="Times New Roman" pitchFamily="18" charset="0"/>
                <a:cs typeface="Times New Roman" pitchFamily="18" charset="0"/>
              </a:rPr>
              <a:t>k</a:t>
            </a:r>
            <a:r>
              <a:rPr lang="en-US" altLang="zh-CN" dirty="0">
                <a:latin typeface="Times New Roman" pitchFamily="18" charset="0"/>
                <a:cs typeface="Times New Roman" pitchFamily="18" charset="0"/>
              </a:rPr>
              <a:t> </a:t>
            </a:r>
            <a:r>
              <a:rPr lang="zh-CN" altLang="en-US" dirty="0">
                <a:latin typeface="Times New Roman" pitchFamily="18" charset="0"/>
                <a:cs typeface="Times New Roman" pitchFamily="18" charset="0"/>
              </a:rPr>
              <a:t>个部分 </a:t>
            </a:r>
            <a:r>
              <a:rPr lang="en-US" altLang="zh-CN" dirty="0">
                <a:latin typeface="Times New Roman" pitchFamily="18" charset="0"/>
                <a:cs typeface="Times New Roman" pitchFamily="18" charset="0"/>
              </a:rPr>
              <a:t>(</a:t>
            </a:r>
            <a:r>
              <a:rPr lang="zh-CN" altLang="en-US" dirty="0">
                <a:latin typeface="Times New Roman" pitchFamily="18" charset="0"/>
                <a:cs typeface="Times New Roman" pitchFamily="18" charset="0"/>
              </a:rPr>
              <a:t>子结点</a:t>
            </a:r>
            <a:r>
              <a:rPr lang="en-US" altLang="zh-CN" dirty="0">
                <a:latin typeface="Times New Roman" pitchFamily="18" charset="0"/>
                <a:cs typeface="Times New Roman" pitchFamily="18" charset="0"/>
              </a:rPr>
              <a:t>)</a:t>
            </a:r>
            <a:r>
              <a:rPr lang="zh-CN" altLang="en-US" dirty="0">
                <a:latin typeface="Times New Roman" pitchFamily="18" charset="0"/>
                <a:cs typeface="Times New Roman" pitchFamily="18" charset="0"/>
              </a:rPr>
              <a:t>，</a:t>
            </a:r>
            <a:r>
              <a:rPr lang="en-US" altLang="zh-CN" dirty="0">
                <a:latin typeface="Times New Roman" pitchFamily="18" charset="0"/>
                <a:cs typeface="Times New Roman" pitchFamily="18" charset="0"/>
              </a:rPr>
              <a:t> </a:t>
            </a:r>
            <a:r>
              <a:rPr lang="zh-CN" altLang="en-US" dirty="0">
                <a:latin typeface="Times New Roman" pitchFamily="18" charset="0"/>
                <a:cs typeface="Times New Roman" pitchFamily="18" charset="0"/>
              </a:rPr>
              <a:t>划分的质量公式：</a:t>
            </a:r>
          </a:p>
          <a:p>
            <a:endParaRPr lang="en-US" altLang="zh-CN" dirty="0">
              <a:latin typeface="Times New Roman" pitchFamily="18" charset="0"/>
              <a:cs typeface="Times New Roman" pitchFamily="18" charset="0"/>
            </a:endParaRPr>
          </a:p>
          <a:p>
            <a:endParaRPr lang="en-US" altLang="zh-CN" dirty="0">
              <a:latin typeface="Times New Roman" pitchFamily="18" charset="0"/>
              <a:cs typeface="Times New Roman" pitchFamily="18" charset="0"/>
            </a:endParaRPr>
          </a:p>
          <a:p>
            <a:pPr lvl="1"/>
            <a:r>
              <a:rPr lang="en-US" altLang="zh-CN" i="1" dirty="0" err="1">
                <a:latin typeface="Times New Roman" pitchFamily="18" charset="0"/>
                <a:cs typeface="Times New Roman" pitchFamily="18" charset="0"/>
              </a:rPr>
              <a:t>n</a:t>
            </a:r>
            <a:r>
              <a:rPr lang="en-US" altLang="zh-CN" baseline="-25000" dirty="0" err="1">
                <a:latin typeface="Times New Roman" pitchFamily="18" charset="0"/>
                <a:cs typeface="Times New Roman" pitchFamily="18" charset="0"/>
              </a:rPr>
              <a:t>i</a:t>
            </a:r>
            <a:r>
              <a:rPr lang="en-US" altLang="zh-CN" dirty="0">
                <a:latin typeface="Times New Roman" pitchFamily="18" charset="0"/>
                <a:cs typeface="Times New Roman" pitchFamily="18" charset="0"/>
              </a:rPr>
              <a:t> = </a:t>
            </a:r>
            <a:r>
              <a:rPr lang="zh-CN" altLang="en-US" dirty="0">
                <a:latin typeface="Times New Roman" pitchFamily="18" charset="0"/>
                <a:cs typeface="Times New Roman" pitchFamily="18" charset="0"/>
              </a:rPr>
              <a:t>孩子结点 </a:t>
            </a:r>
            <a:r>
              <a:rPr lang="en-US" altLang="zh-CN" dirty="0">
                <a:latin typeface="Times New Roman" pitchFamily="18" charset="0"/>
                <a:cs typeface="Times New Roman" pitchFamily="18" charset="0"/>
              </a:rPr>
              <a:t>i </a:t>
            </a:r>
            <a:r>
              <a:rPr lang="zh-CN" altLang="en-US" dirty="0">
                <a:latin typeface="Times New Roman" pitchFamily="18" charset="0"/>
                <a:cs typeface="Times New Roman" pitchFamily="18" charset="0"/>
              </a:rPr>
              <a:t>的记录数</a:t>
            </a:r>
            <a:r>
              <a:rPr lang="en-US" altLang="zh-CN" dirty="0">
                <a:latin typeface="Times New Roman" pitchFamily="18" charset="0"/>
                <a:cs typeface="Times New Roman" pitchFamily="18" charset="0"/>
              </a:rPr>
              <a:t>,</a:t>
            </a:r>
          </a:p>
          <a:p>
            <a:pPr lvl="1"/>
            <a:r>
              <a:rPr lang="en-US" altLang="zh-CN" i="1" dirty="0">
                <a:latin typeface="Times New Roman" pitchFamily="18" charset="0"/>
                <a:cs typeface="Times New Roman" pitchFamily="18" charset="0"/>
              </a:rPr>
              <a:t>n</a:t>
            </a:r>
            <a:r>
              <a:rPr lang="en-US" altLang="zh-CN" dirty="0">
                <a:latin typeface="Times New Roman" pitchFamily="18" charset="0"/>
                <a:cs typeface="Times New Roman" pitchFamily="18" charset="0"/>
              </a:rPr>
              <a:t>  = </a:t>
            </a:r>
            <a:r>
              <a:rPr lang="zh-CN" altLang="en-US" dirty="0">
                <a:latin typeface="Times New Roman" pitchFamily="18" charset="0"/>
                <a:cs typeface="Times New Roman" pitchFamily="18" charset="0"/>
              </a:rPr>
              <a:t>父结点 </a:t>
            </a:r>
            <a:r>
              <a:rPr lang="en-US" altLang="zh-CN" dirty="0">
                <a:latin typeface="Times New Roman" pitchFamily="18" charset="0"/>
                <a:cs typeface="Times New Roman" pitchFamily="18" charset="0"/>
              </a:rPr>
              <a:t>p </a:t>
            </a:r>
            <a:r>
              <a:rPr lang="zh-CN" altLang="en-US" dirty="0">
                <a:latin typeface="Times New Roman" pitchFamily="18" charset="0"/>
                <a:cs typeface="Times New Roman" pitchFamily="18" charset="0"/>
              </a:rPr>
              <a:t>的记录数</a:t>
            </a:r>
            <a:r>
              <a:rPr lang="en-US" altLang="zh-CN" dirty="0">
                <a:latin typeface="Times New Roman" pitchFamily="18" charset="0"/>
                <a:cs typeface="Times New Roman" pitchFamily="18" charset="0"/>
              </a:rPr>
              <a:t>.</a:t>
            </a:r>
          </a:p>
          <a:p>
            <a:endParaRPr lang="zh-CN" altLang="zh-CN" dirty="0">
              <a:latin typeface="Times New Roman" pitchFamily="18" charset="0"/>
              <a:cs typeface="Times New Roman" pitchFamily="18" charset="0"/>
            </a:endParaRPr>
          </a:p>
          <a:p>
            <a:endParaRPr lang="zh-CN" alt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50181" name="对象 5"/>
              <p:cNvSpPr txBox="1"/>
              <p:nvPr/>
            </p:nvSpPr>
            <p:spPr bwMode="auto">
              <a:xfrm>
                <a:off x="2672667" y="2505492"/>
                <a:ext cx="2709863" cy="746125"/>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𝐺𝑖𝑛</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𝑖</m:t>
                          </m:r>
                        </m:e>
                        <m:sub>
                          <m:r>
                            <a:rPr lang="zh-CN" altLang="en-US" i="1">
                              <a:solidFill>
                                <a:srgbClr val="000000"/>
                              </a:solidFill>
                              <a:latin typeface="Cambria Math" panose="02040503050406030204" pitchFamily="18" charset="0"/>
                            </a:rPr>
                            <m:t>𝑠𝑝𝑙𝑖𝑡</m:t>
                          </m:r>
                        </m:sub>
                      </m:sSub>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𝑘</m:t>
                          </m:r>
                        </m:sup>
                        <m:e>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𝑛</m:t>
                                  </m:r>
                                </m:e>
                                <m:sub>
                                  <m:r>
                                    <a:rPr lang="zh-CN" altLang="en-US" i="1">
                                      <a:solidFill>
                                        <a:srgbClr val="000000"/>
                                      </a:solidFill>
                                      <a:latin typeface="Cambria Math" panose="02040503050406030204" pitchFamily="18" charset="0"/>
                                    </a:rPr>
                                    <m:t>𝑖</m:t>
                                  </m:r>
                                </m:sub>
                              </m:sSub>
                            </m:num>
                            <m:den>
                              <m:r>
                                <a:rPr lang="zh-CN" altLang="en-US" i="1">
                                  <a:solidFill>
                                    <a:srgbClr val="000000"/>
                                  </a:solidFill>
                                  <a:latin typeface="Cambria Math" panose="02040503050406030204" pitchFamily="18" charset="0"/>
                                </a:rPr>
                                <m:t>𝑛</m:t>
                              </m:r>
                            </m:den>
                          </m:f>
                          <m:r>
                            <a:rPr lang="zh-CN" altLang="en-US" i="1">
                              <a:solidFill>
                                <a:srgbClr val="000000"/>
                              </a:solidFill>
                              <a:latin typeface="Cambria Math" panose="02040503050406030204" pitchFamily="18" charset="0"/>
                            </a:rPr>
                            <m:t>𝐺𝑖𝑛𝑖</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𝑖</m:t>
                              </m:r>
                            </m:e>
                          </m:d>
                        </m:e>
                      </m:nary>
                    </m:oMath>
                  </m:oMathPara>
                </a14:m>
                <a:endParaRPr lang="zh-CN" altLang="en-US" dirty="0"/>
              </a:p>
            </p:txBody>
          </p:sp>
        </mc:Choice>
        <mc:Fallback xmlns="">
          <p:sp>
            <p:nvSpPr>
              <p:cNvPr id="50181" name="对象 5"/>
              <p:cNvSpPr txBox="1">
                <a:spLocks noRot="1" noChangeAspect="1" noMove="1" noResize="1" noEditPoints="1" noAdjustHandles="1" noChangeArrowheads="1" noChangeShapeType="1" noTextEdit="1"/>
              </p:cNvSpPr>
              <p:nvPr/>
            </p:nvSpPr>
            <p:spPr bwMode="auto">
              <a:xfrm>
                <a:off x="2672667" y="2505492"/>
                <a:ext cx="2709863" cy="746125"/>
              </a:xfrm>
              <a:prstGeom prst="rect">
                <a:avLst/>
              </a:prstGeom>
              <a:blipFill>
                <a:blip r:embed="rId2"/>
                <a:stretch>
                  <a:fillRect/>
                </a:stretch>
              </a:blipFill>
              <a:ln>
                <a:noFill/>
              </a:ln>
              <a:extLst/>
            </p:spPr>
            <p:txBody>
              <a:bodyPr/>
              <a:lstStyle/>
              <a:p>
                <a:r>
                  <a:rPr lang="zh-CN" altLang="en-US">
                    <a:noFill/>
                  </a:rPr>
                  <a:t> </a:t>
                </a:r>
              </a:p>
            </p:txBody>
          </p:sp>
        </mc:Fallback>
      </mc:AlternateContent>
      <p:sp>
        <p:nvSpPr>
          <p:cNvPr id="3" name="页脚占位符 2">
            <a:extLst>
              <a:ext uri="{FF2B5EF4-FFF2-40B4-BE49-F238E27FC236}">
                <a16:creationId xmlns:a16="http://schemas.microsoft.com/office/drawing/2014/main" id="{44AC3E2F-F863-4E55-8BF7-6432BD57650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077C77F-32C3-400E-A855-0A5005557D45}"/>
              </a:ext>
            </a:extLst>
          </p:cNvPr>
          <p:cNvSpPr>
            <a:spLocks noGrp="1"/>
          </p:cNvSpPr>
          <p:nvPr>
            <p:ph type="sldNum" sz="quarter" idx="12"/>
          </p:nvPr>
        </p:nvSpPr>
        <p:spPr/>
        <p:txBody>
          <a:bodyPr/>
          <a:lstStyle/>
          <a:p>
            <a:fld id="{5AD84F5B-1672-4D3F-9FEC-5DF89A7B7912}" type="slidenum">
              <a:rPr lang="zh-CN" altLang="en-US" smtClean="0"/>
              <a:t>38</a:t>
            </a:fld>
            <a:endParaRPr lang="zh-CN" altLang="en-US"/>
          </a:p>
        </p:txBody>
      </p:sp>
    </p:spTree>
    <p:extLst>
      <p:ext uri="{BB962C8B-B14F-4D97-AF65-F5344CB8AC3E}">
        <p14:creationId xmlns:p14="http://schemas.microsoft.com/office/powerpoint/2010/main" val="3423699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分类误差</a:t>
            </a:r>
            <a:r>
              <a:rPr lang="en-US" altLang="zh-CN" dirty="0"/>
              <a:t>Classification Error</a:t>
            </a:r>
            <a:endParaRPr lang="zh-CN" altLang="en-US" dirty="0"/>
          </a:p>
        </p:txBody>
      </p:sp>
      <mc:AlternateContent xmlns:mc="http://schemas.openxmlformats.org/markup-compatibility/2006" xmlns:a14="http://schemas.microsoft.com/office/drawing/2010/main">
        <mc:Choice Requires="a14">
          <p:sp>
            <p:nvSpPr>
              <p:cNvPr id="4" name="对象 3"/>
              <p:cNvSpPr txBox="1"/>
              <p:nvPr/>
            </p:nvSpPr>
            <p:spPr bwMode="auto">
              <a:xfrm>
                <a:off x="1979713" y="1847121"/>
                <a:ext cx="3312368" cy="544964"/>
              </a:xfrm>
              <a:prstGeom prst="rect">
                <a:avLst/>
              </a:prstGeom>
              <a:noFill/>
              <a:ln w="9525">
                <a:noFill/>
                <a:miter lim="800000"/>
                <a:headEnd/>
                <a:tailEnd/>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𝐸𝑟𝑟𝑜𝑟</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𝑡</m:t>
                          </m:r>
                        </m:e>
                      </m:d>
                      <m:r>
                        <a:rPr lang="zh-CN" altLang="en-US" i="1">
                          <a:solidFill>
                            <a:srgbClr val="000000"/>
                          </a:solidFill>
                          <a:latin typeface="Cambria Math" panose="02040503050406030204" pitchFamily="18" charset="0"/>
                        </a:rPr>
                        <m:t>=1−</m:t>
                      </m:r>
                      <m:limLow>
                        <m:limLowPr>
                          <m:ctrlPr>
                            <a:rPr lang="zh-CN" altLang="en-US" i="1">
                              <a:solidFill>
                                <a:srgbClr val="000000"/>
                              </a:solidFill>
                              <a:latin typeface="Cambria Math" panose="02040503050406030204" pitchFamily="18" charset="0"/>
                            </a:rPr>
                          </m:ctrlPr>
                        </m:limLowPr>
                        <m:e>
                          <m:r>
                            <m:rPr>
                              <m:sty m:val="p"/>
                            </m:rPr>
                            <a:rPr lang="zh-CN" altLang="en-US">
                              <a:solidFill>
                                <a:srgbClr val="000000"/>
                              </a:solidFill>
                              <a:latin typeface="Cambria Math" panose="02040503050406030204" pitchFamily="18" charset="0"/>
                            </a:rPr>
                            <m:t>max</m:t>
                          </m:r>
                        </m:e>
                        <m:lim>
                          <m:r>
                            <a:rPr lang="zh-CN" altLang="en-US" i="1">
                              <a:solidFill>
                                <a:srgbClr val="000000"/>
                              </a:solidFill>
                              <a:latin typeface="Cambria Math" panose="02040503050406030204" pitchFamily="18" charset="0"/>
                            </a:rPr>
                            <m:t>𝑖</m:t>
                          </m:r>
                        </m:lim>
                      </m:limLow>
                      <m:r>
                        <a:rPr lang="zh-CN" altLang="en-US" i="1">
                          <a:solidFill>
                            <a:srgbClr val="000000"/>
                          </a:solidFill>
                          <a:latin typeface="Cambria Math" panose="02040503050406030204" pitchFamily="18" charset="0"/>
                        </a:rPr>
                        <m:t>𝑃</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e>
                      </m:d>
                    </m:oMath>
                  </m:oMathPara>
                </a14:m>
                <a:endParaRPr lang="zh-CN" altLang="en-US"/>
              </a:p>
            </p:txBody>
          </p:sp>
        </mc:Choice>
        <mc:Fallback xmlns="">
          <p:sp>
            <p:nvSpPr>
              <p:cNvPr id="4" name="对象 3"/>
              <p:cNvSpPr txBox="1">
                <a:spLocks noRot="1" noChangeAspect="1" noMove="1" noResize="1" noEditPoints="1" noAdjustHandles="1" noChangeArrowheads="1" noChangeShapeType="1" noTextEdit="1"/>
              </p:cNvSpPr>
              <p:nvPr/>
            </p:nvSpPr>
            <p:spPr bwMode="auto">
              <a:xfrm>
                <a:off x="1979713" y="1847121"/>
                <a:ext cx="3312368" cy="544964"/>
              </a:xfrm>
              <a:prstGeom prst="rect">
                <a:avLst/>
              </a:prstGeom>
              <a:blipFill>
                <a:blip r:embed="rId2"/>
                <a:stretch>
                  <a:fillRect/>
                </a:stretch>
              </a:blipFill>
              <a:ln w="9525">
                <a:noFill/>
                <a:miter lim="800000"/>
                <a:headEnd/>
                <a:tailEnd/>
              </a:ln>
            </p:spPr>
            <p:txBody>
              <a:bodyPr/>
              <a:lstStyle/>
              <a:p>
                <a:r>
                  <a:rPr lang="zh-CN" altLang="en-US">
                    <a:noFill/>
                  </a:rPr>
                  <a:t> </a:t>
                </a:r>
              </a:p>
            </p:txBody>
          </p:sp>
        </mc:Fallback>
      </mc:AlternateContent>
      <p:sp>
        <p:nvSpPr>
          <p:cNvPr id="5" name="矩形 4"/>
          <p:cNvSpPr/>
          <p:nvPr/>
        </p:nvSpPr>
        <p:spPr>
          <a:xfrm>
            <a:off x="251520" y="2262471"/>
            <a:ext cx="6912768" cy="1133772"/>
          </a:xfrm>
          <a:prstGeom prst="rect">
            <a:avLst/>
          </a:prstGeom>
        </p:spPr>
        <p:txBody>
          <a:bodyPr wrap="square">
            <a:spAutoFit/>
          </a:bodyPr>
          <a:lstStyle/>
          <a:p>
            <a:pPr>
              <a:lnSpc>
                <a:spcPct val="150000"/>
              </a:lnSpc>
            </a:pPr>
            <a:r>
              <a:rPr lang="zh-CN" altLang="en-US" sz="2400" dirty="0">
                <a:latin typeface="Times New Roman" pitchFamily="18" charset="0"/>
                <a:ea typeface="华文细黑" pitchFamily="2" charset="-122"/>
                <a:cs typeface="Times New Roman" pitchFamily="18" charset="0"/>
              </a:rPr>
              <a:t>当类分布均衡时， </a:t>
            </a:r>
            <a:r>
              <a:rPr lang="en-US" altLang="zh-CN" sz="2400" i="1" dirty="0">
                <a:latin typeface="Times New Roman" pitchFamily="18" charset="0"/>
                <a:ea typeface="华文细黑" pitchFamily="2" charset="-122"/>
                <a:cs typeface="Times New Roman" pitchFamily="18" charset="0"/>
              </a:rPr>
              <a:t>Error</a:t>
            </a:r>
            <a:r>
              <a:rPr lang="zh-CN" altLang="en-US" sz="2400" dirty="0">
                <a:latin typeface="Times New Roman" pitchFamily="18" charset="0"/>
                <a:ea typeface="华文细黑" pitchFamily="2" charset="-122"/>
                <a:cs typeface="Times New Roman" pitchFamily="18" charset="0"/>
              </a:rPr>
              <a:t>值达到最大值</a:t>
            </a:r>
            <a:r>
              <a:rPr lang="en-US" altLang="zh-CN" sz="2400" dirty="0">
                <a:latin typeface="Times New Roman" pitchFamily="18" charset="0"/>
                <a:ea typeface="华文细黑" pitchFamily="2" charset="-122"/>
                <a:cs typeface="Times New Roman" pitchFamily="18" charset="0"/>
              </a:rPr>
              <a:t> (1 - 1/</a:t>
            </a:r>
            <a:r>
              <a:rPr lang="en-US" altLang="zh-CN" sz="2400" dirty="0" err="1">
                <a:latin typeface="Times New Roman" pitchFamily="18" charset="0"/>
                <a:ea typeface="华文细黑" pitchFamily="2" charset="-122"/>
                <a:cs typeface="Times New Roman" pitchFamily="18" charset="0"/>
              </a:rPr>
              <a:t>nc</a:t>
            </a:r>
            <a:r>
              <a:rPr lang="en-US" altLang="zh-CN" sz="2400" dirty="0">
                <a:latin typeface="Times New Roman" pitchFamily="18" charset="0"/>
                <a:ea typeface="华文细黑" pitchFamily="2" charset="-122"/>
                <a:cs typeface="Times New Roman" pitchFamily="18" charset="0"/>
              </a:rPr>
              <a:t>) </a:t>
            </a:r>
          </a:p>
          <a:p>
            <a:pPr>
              <a:lnSpc>
                <a:spcPct val="150000"/>
              </a:lnSpc>
            </a:pPr>
            <a:r>
              <a:rPr lang="zh-CN" altLang="en-US" sz="2400" dirty="0">
                <a:latin typeface="Times New Roman" pitchFamily="18" charset="0"/>
                <a:ea typeface="华文细黑" pitchFamily="2" charset="-122"/>
                <a:cs typeface="Times New Roman" pitchFamily="18" charset="0"/>
              </a:rPr>
              <a:t>相反当只有一个类时， </a:t>
            </a:r>
            <a:r>
              <a:rPr lang="en-US" altLang="zh-CN" sz="2400" i="1" dirty="0">
                <a:latin typeface="Times New Roman" pitchFamily="18" charset="0"/>
                <a:ea typeface="华文细黑" pitchFamily="2" charset="-122"/>
                <a:cs typeface="Times New Roman" pitchFamily="18" charset="0"/>
              </a:rPr>
              <a:t>Error</a:t>
            </a:r>
            <a:r>
              <a:rPr lang="zh-CN" altLang="en-US" sz="2400" dirty="0">
                <a:latin typeface="Times New Roman" pitchFamily="18" charset="0"/>
                <a:ea typeface="华文细黑" pitchFamily="2" charset="-122"/>
                <a:cs typeface="Times New Roman" pitchFamily="18" charset="0"/>
              </a:rPr>
              <a:t>值达到最小值</a:t>
            </a:r>
            <a:r>
              <a:rPr lang="en-US" altLang="zh-CN" sz="2400" dirty="0">
                <a:latin typeface="Times New Roman" pitchFamily="18" charset="0"/>
                <a:ea typeface="华文细黑" pitchFamily="2" charset="-122"/>
                <a:cs typeface="Times New Roman" pitchFamily="18" charset="0"/>
              </a:rPr>
              <a:t>0</a:t>
            </a:r>
          </a:p>
        </p:txBody>
      </p:sp>
      <p:sp>
        <p:nvSpPr>
          <p:cNvPr id="6" name="Text Box 6"/>
          <p:cNvSpPr txBox="1">
            <a:spLocks noChangeArrowheads="1"/>
          </p:cNvSpPr>
          <p:nvPr/>
        </p:nvSpPr>
        <p:spPr bwMode="auto">
          <a:xfrm>
            <a:off x="2195736" y="3373212"/>
            <a:ext cx="477274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000">
                <a:ea typeface="宋体" charset="-122"/>
              </a:defRPr>
            </a:lvl1pPr>
          </a:lstStyle>
          <a:p>
            <a:r>
              <a:rPr lang="en-US" altLang="zh-CN" dirty="0">
                <a:latin typeface="Times New Roman" pitchFamily="18" charset="0"/>
                <a:ea typeface="华文细黑" pitchFamily="2" charset="-122"/>
              </a:rPr>
              <a:t>P(C0) = 0/6 = 0     P(C1) = 6/6 = 1</a:t>
            </a:r>
          </a:p>
          <a:p>
            <a:r>
              <a:rPr lang="en-US" altLang="zh-CN" dirty="0">
                <a:latin typeface="Times New Roman" pitchFamily="18" charset="0"/>
                <a:ea typeface="华文细黑" pitchFamily="2" charset="-122"/>
              </a:rPr>
              <a:t>Error = 1 – max (0, 1) = 1 – 1 = 0 </a:t>
            </a:r>
          </a:p>
        </p:txBody>
      </p:sp>
      <p:sp>
        <p:nvSpPr>
          <p:cNvPr id="7" name="Text Box 7"/>
          <p:cNvSpPr txBox="1">
            <a:spLocks noChangeArrowheads="1"/>
          </p:cNvSpPr>
          <p:nvPr/>
        </p:nvSpPr>
        <p:spPr bwMode="auto">
          <a:xfrm>
            <a:off x="2195736" y="4245152"/>
            <a:ext cx="477274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000">
                <a:ea typeface="宋体" charset="-122"/>
              </a:defRPr>
            </a:lvl1pPr>
          </a:lstStyle>
          <a:p>
            <a:r>
              <a:rPr lang="en-US" altLang="zh-CN" dirty="0">
                <a:latin typeface="Times New Roman" pitchFamily="18" charset="0"/>
                <a:ea typeface="华文细黑" pitchFamily="2" charset="-122"/>
              </a:rPr>
              <a:t>P(C0) = 1/6          P(C1) = 5/6</a:t>
            </a:r>
          </a:p>
          <a:p>
            <a:r>
              <a:rPr lang="en-US" altLang="zh-CN" dirty="0">
                <a:latin typeface="Times New Roman" pitchFamily="18" charset="0"/>
                <a:ea typeface="华文细黑" pitchFamily="2" charset="-122"/>
              </a:rPr>
              <a:t>Error = 1 – max (1/6, 5/6) = 1 – 5/6 = 1/6</a:t>
            </a:r>
          </a:p>
        </p:txBody>
      </p:sp>
      <p:sp>
        <p:nvSpPr>
          <p:cNvPr id="8" name="Text Box 8"/>
          <p:cNvSpPr txBox="1">
            <a:spLocks noChangeArrowheads="1"/>
          </p:cNvSpPr>
          <p:nvPr/>
        </p:nvSpPr>
        <p:spPr bwMode="auto">
          <a:xfrm>
            <a:off x="2195736" y="5117091"/>
            <a:ext cx="477274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000" dirty="0">
                <a:latin typeface="Times New Roman" pitchFamily="18" charset="0"/>
                <a:ea typeface="华文细黑" pitchFamily="2" charset="-122"/>
              </a:rPr>
              <a:t>P(C0) = 2/6          P(C1) = 4/6</a:t>
            </a:r>
          </a:p>
          <a:p>
            <a:r>
              <a:rPr lang="en-US" altLang="zh-CN" sz="2000" dirty="0">
                <a:latin typeface="Times New Roman" pitchFamily="18" charset="0"/>
                <a:ea typeface="华文细黑" pitchFamily="2" charset="-122"/>
              </a:rPr>
              <a:t>Error = 1 – max (2/6, 4/6) = 1 – 4/6 = 1/3</a:t>
            </a:r>
          </a:p>
        </p:txBody>
      </p:sp>
      <p:graphicFrame>
        <p:nvGraphicFramePr>
          <p:cNvPr id="9" name="表格 8"/>
          <p:cNvGraphicFramePr>
            <a:graphicFrameLocks noGrp="1"/>
          </p:cNvGraphicFramePr>
          <p:nvPr/>
        </p:nvGraphicFramePr>
        <p:xfrm>
          <a:off x="323528" y="3426093"/>
          <a:ext cx="1440160" cy="548640"/>
        </p:xfrm>
        <a:graphic>
          <a:graphicData uri="http://schemas.openxmlformats.org/drawingml/2006/table">
            <a:tbl>
              <a:tblPr>
                <a:tableStyleId>{5C22544A-7EE6-4342-B048-85BDC9FD1C3A}</a:tableStyleId>
              </a:tblPr>
              <a:tblGrid>
                <a:gridCol w="720080">
                  <a:extLst>
                    <a:ext uri="{9D8B030D-6E8A-4147-A177-3AD203B41FA5}">
                      <a16:colId xmlns:a16="http://schemas.microsoft.com/office/drawing/2014/main" val="20000"/>
                    </a:ext>
                  </a:extLst>
                </a:gridCol>
                <a:gridCol w="720080">
                  <a:extLst>
                    <a:ext uri="{9D8B030D-6E8A-4147-A177-3AD203B41FA5}">
                      <a16:colId xmlns:a16="http://schemas.microsoft.com/office/drawing/2014/main" val="20001"/>
                    </a:ext>
                  </a:extLst>
                </a:gridCol>
              </a:tblGrid>
              <a:tr h="274320">
                <a:tc>
                  <a:txBody>
                    <a:bodyPr/>
                    <a:lstStyle/>
                    <a:p>
                      <a:pPr algn="ctr">
                        <a:spcAft>
                          <a:spcPts val="0"/>
                        </a:spcAft>
                      </a:pPr>
                      <a:r>
                        <a:rPr lang="en-US" sz="1800" kern="0" dirty="0">
                          <a:effectLst/>
                          <a:latin typeface="Times New Roman" pitchFamily="18" charset="0"/>
                        </a:rPr>
                        <a:t>C0</a:t>
                      </a:r>
                      <a:endParaRPr lang="zh-CN" sz="1800" b="1" kern="0" dirty="0">
                        <a:effectLst/>
                        <a:latin typeface="Times New Roman"/>
                        <a:ea typeface="华文细黑" pitchFamily="2" charset="-122"/>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dirty="0">
                          <a:effectLst/>
                          <a:latin typeface="Times New Roman" pitchFamily="18" charset="0"/>
                        </a:rPr>
                        <a:t>0</a:t>
                      </a:r>
                      <a:endParaRPr lang="zh-CN" sz="1800" dirty="0">
                        <a:effectLst/>
                        <a:latin typeface="Times New Roman"/>
                        <a:ea typeface="华文细黑"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4320">
                <a:tc>
                  <a:txBody>
                    <a:bodyPr/>
                    <a:lstStyle/>
                    <a:p>
                      <a:pPr algn="ctr">
                        <a:spcAft>
                          <a:spcPts val="0"/>
                        </a:spcAft>
                      </a:pPr>
                      <a:r>
                        <a:rPr lang="en-US" sz="1800" kern="0" dirty="0">
                          <a:effectLst/>
                          <a:latin typeface="Times New Roman" pitchFamily="18" charset="0"/>
                        </a:rPr>
                        <a:t>C1</a:t>
                      </a:r>
                      <a:endParaRPr lang="zh-CN" sz="1800" b="1" kern="0" dirty="0">
                        <a:effectLst/>
                        <a:latin typeface="Times New Roman"/>
                        <a:ea typeface="华文细黑" pitchFamily="2" charset="-122"/>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dirty="0">
                          <a:effectLst/>
                          <a:latin typeface="Times New Roman" pitchFamily="18" charset="0"/>
                        </a:rPr>
                        <a:t>6</a:t>
                      </a:r>
                      <a:endParaRPr lang="zh-CN" sz="1800" dirty="0">
                        <a:effectLst/>
                        <a:latin typeface="Times New Roman"/>
                        <a:ea typeface="华文细黑"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10" name="表格 9"/>
          <p:cNvGraphicFramePr>
            <a:graphicFrameLocks noGrp="1"/>
          </p:cNvGraphicFramePr>
          <p:nvPr/>
        </p:nvGraphicFramePr>
        <p:xfrm>
          <a:off x="323528" y="4302444"/>
          <a:ext cx="1440160" cy="548640"/>
        </p:xfrm>
        <a:graphic>
          <a:graphicData uri="http://schemas.openxmlformats.org/drawingml/2006/table">
            <a:tbl>
              <a:tblPr>
                <a:tableStyleId>{5C22544A-7EE6-4342-B048-85BDC9FD1C3A}</a:tableStyleId>
              </a:tblPr>
              <a:tblGrid>
                <a:gridCol w="720080">
                  <a:extLst>
                    <a:ext uri="{9D8B030D-6E8A-4147-A177-3AD203B41FA5}">
                      <a16:colId xmlns:a16="http://schemas.microsoft.com/office/drawing/2014/main" val="20000"/>
                    </a:ext>
                  </a:extLst>
                </a:gridCol>
                <a:gridCol w="720080">
                  <a:extLst>
                    <a:ext uri="{9D8B030D-6E8A-4147-A177-3AD203B41FA5}">
                      <a16:colId xmlns:a16="http://schemas.microsoft.com/office/drawing/2014/main" val="20001"/>
                    </a:ext>
                  </a:extLst>
                </a:gridCol>
              </a:tblGrid>
              <a:tr h="274320">
                <a:tc>
                  <a:txBody>
                    <a:bodyPr/>
                    <a:lstStyle/>
                    <a:p>
                      <a:pPr algn="ctr">
                        <a:spcAft>
                          <a:spcPts val="0"/>
                        </a:spcAft>
                      </a:pPr>
                      <a:r>
                        <a:rPr lang="en-US" sz="1800" kern="0" dirty="0">
                          <a:effectLst/>
                          <a:latin typeface="Times New Roman" pitchFamily="18" charset="0"/>
                        </a:rPr>
                        <a:t>C0</a:t>
                      </a:r>
                      <a:endParaRPr lang="zh-CN" sz="1800" b="1" kern="0" dirty="0">
                        <a:effectLst/>
                        <a:latin typeface="Times New Roman"/>
                        <a:ea typeface="华文细黑" pitchFamily="2" charset="-122"/>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dirty="0">
                          <a:effectLst/>
                          <a:latin typeface="Times New Roman" pitchFamily="18" charset="0"/>
                        </a:rPr>
                        <a:t>1</a:t>
                      </a:r>
                      <a:endParaRPr lang="zh-CN" sz="1800" dirty="0">
                        <a:effectLst/>
                        <a:latin typeface="Times New Roman"/>
                        <a:ea typeface="华文细黑"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4320">
                <a:tc>
                  <a:txBody>
                    <a:bodyPr/>
                    <a:lstStyle/>
                    <a:p>
                      <a:pPr algn="ctr">
                        <a:spcAft>
                          <a:spcPts val="0"/>
                        </a:spcAft>
                      </a:pPr>
                      <a:r>
                        <a:rPr lang="en-US" sz="1800" kern="0" dirty="0">
                          <a:effectLst/>
                          <a:latin typeface="Times New Roman" pitchFamily="18" charset="0"/>
                        </a:rPr>
                        <a:t>C1</a:t>
                      </a:r>
                      <a:endParaRPr lang="zh-CN" sz="1800" b="1" kern="0" dirty="0">
                        <a:effectLst/>
                        <a:latin typeface="Times New Roman"/>
                        <a:ea typeface="华文细黑" pitchFamily="2" charset="-122"/>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altLang="zh-CN" sz="1800" dirty="0">
                          <a:effectLst/>
                          <a:latin typeface="Times New Roman" pitchFamily="18" charset="0"/>
                          <a:ea typeface="华文细黑" pitchFamily="2" charset="-122"/>
                        </a:rPr>
                        <a:t>5</a:t>
                      </a:r>
                      <a:endParaRPr lang="zh-CN" sz="1800" dirty="0">
                        <a:effectLst/>
                        <a:latin typeface="Times New Roman"/>
                        <a:ea typeface="华文细黑"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11" name="表格 10"/>
          <p:cNvGraphicFramePr>
            <a:graphicFrameLocks noGrp="1"/>
          </p:cNvGraphicFramePr>
          <p:nvPr/>
        </p:nvGraphicFramePr>
        <p:xfrm>
          <a:off x="323528" y="5178794"/>
          <a:ext cx="1440160" cy="548640"/>
        </p:xfrm>
        <a:graphic>
          <a:graphicData uri="http://schemas.openxmlformats.org/drawingml/2006/table">
            <a:tbl>
              <a:tblPr>
                <a:tableStyleId>{5C22544A-7EE6-4342-B048-85BDC9FD1C3A}</a:tableStyleId>
              </a:tblPr>
              <a:tblGrid>
                <a:gridCol w="720080">
                  <a:extLst>
                    <a:ext uri="{9D8B030D-6E8A-4147-A177-3AD203B41FA5}">
                      <a16:colId xmlns:a16="http://schemas.microsoft.com/office/drawing/2014/main" val="20000"/>
                    </a:ext>
                  </a:extLst>
                </a:gridCol>
                <a:gridCol w="720080">
                  <a:extLst>
                    <a:ext uri="{9D8B030D-6E8A-4147-A177-3AD203B41FA5}">
                      <a16:colId xmlns:a16="http://schemas.microsoft.com/office/drawing/2014/main" val="20001"/>
                    </a:ext>
                  </a:extLst>
                </a:gridCol>
              </a:tblGrid>
              <a:tr h="274320">
                <a:tc>
                  <a:txBody>
                    <a:bodyPr/>
                    <a:lstStyle/>
                    <a:p>
                      <a:pPr algn="ctr">
                        <a:spcAft>
                          <a:spcPts val="0"/>
                        </a:spcAft>
                      </a:pPr>
                      <a:r>
                        <a:rPr lang="en-US" sz="1800" kern="0" dirty="0">
                          <a:effectLst/>
                          <a:latin typeface="Times New Roman" pitchFamily="18" charset="0"/>
                        </a:rPr>
                        <a:t>C0</a:t>
                      </a:r>
                      <a:endParaRPr lang="zh-CN" sz="1800" b="1" kern="0" dirty="0">
                        <a:effectLst/>
                        <a:latin typeface="Times New Roman"/>
                        <a:ea typeface="华文细黑" pitchFamily="2" charset="-122"/>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dirty="0">
                          <a:effectLst/>
                          <a:latin typeface="Times New Roman" pitchFamily="18" charset="0"/>
                        </a:rPr>
                        <a:t>2</a:t>
                      </a:r>
                      <a:endParaRPr lang="zh-CN" sz="1800" dirty="0">
                        <a:effectLst/>
                        <a:latin typeface="Times New Roman"/>
                        <a:ea typeface="华文细黑"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4320">
                <a:tc>
                  <a:txBody>
                    <a:bodyPr/>
                    <a:lstStyle/>
                    <a:p>
                      <a:pPr algn="ctr">
                        <a:spcAft>
                          <a:spcPts val="0"/>
                        </a:spcAft>
                      </a:pPr>
                      <a:r>
                        <a:rPr lang="en-US" sz="1800" kern="0" dirty="0">
                          <a:effectLst/>
                          <a:latin typeface="Times New Roman" pitchFamily="18" charset="0"/>
                        </a:rPr>
                        <a:t>C1</a:t>
                      </a:r>
                      <a:endParaRPr lang="zh-CN" sz="1800" b="1" kern="0" dirty="0">
                        <a:effectLst/>
                        <a:latin typeface="Times New Roman"/>
                        <a:ea typeface="华文细黑" pitchFamily="2" charset="-122"/>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altLang="zh-CN" sz="1800" dirty="0">
                          <a:effectLst/>
                          <a:latin typeface="Times New Roman" pitchFamily="18" charset="0"/>
                          <a:ea typeface="华文细黑" pitchFamily="2" charset="-122"/>
                        </a:rPr>
                        <a:t>4</a:t>
                      </a:r>
                      <a:endParaRPr lang="zh-CN" sz="1800" dirty="0">
                        <a:effectLst/>
                        <a:latin typeface="Times New Roman"/>
                        <a:ea typeface="华文细黑"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矩形 2"/>
          <p:cNvSpPr/>
          <p:nvPr/>
        </p:nvSpPr>
        <p:spPr>
          <a:xfrm>
            <a:off x="395536" y="1744013"/>
            <a:ext cx="1415772" cy="579774"/>
          </a:xfrm>
          <a:prstGeom prst="rect">
            <a:avLst/>
          </a:prstGeom>
        </p:spPr>
        <p:txBody>
          <a:bodyPr wrap="square">
            <a:spAutoFit/>
          </a:bodyPr>
          <a:lstStyle/>
          <a:p>
            <a:pPr>
              <a:lnSpc>
                <a:spcPct val="150000"/>
              </a:lnSpc>
            </a:pPr>
            <a:r>
              <a:rPr lang="zh-CN" altLang="en-US" sz="2400" dirty="0">
                <a:latin typeface="Times New Roman" pitchFamily="18" charset="0"/>
                <a:ea typeface="华文细黑" pitchFamily="2" charset="-122"/>
                <a:cs typeface="Times New Roman" pitchFamily="18" charset="0"/>
              </a:rPr>
              <a:t>分类误差</a:t>
            </a:r>
          </a:p>
        </p:txBody>
      </p:sp>
      <p:sp>
        <p:nvSpPr>
          <p:cNvPr id="12" name="页脚占位符 11">
            <a:extLst>
              <a:ext uri="{FF2B5EF4-FFF2-40B4-BE49-F238E27FC236}">
                <a16:creationId xmlns:a16="http://schemas.microsoft.com/office/drawing/2014/main" id="{5A75584F-0A9B-4C21-A927-E4FF59CA7ACE}"/>
              </a:ext>
            </a:extLst>
          </p:cNvPr>
          <p:cNvSpPr>
            <a:spLocks noGrp="1"/>
          </p:cNvSpPr>
          <p:nvPr>
            <p:ph type="ftr" sz="quarter" idx="11"/>
          </p:nvPr>
        </p:nvSpPr>
        <p:spPr/>
        <p:txBody>
          <a:bodyPr/>
          <a:lstStyle/>
          <a:p>
            <a:endParaRPr lang="zh-CN" altLang="en-US"/>
          </a:p>
        </p:txBody>
      </p:sp>
      <p:sp>
        <p:nvSpPr>
          <p:cNvPr id="13" name="灯片编号占位符 12">
            <a:extLst>
              <a:ext uri="{FF2B5EF4-FFF2-40B4-BE49-F238E27FC236}">
                <a16:creationId xmlns:a16="http://schemas.microsoft.com/office/drawing/2014/main" id="{BFCFEF0F-48F7-4731-869D-8D08557C5455}"/>
              </a:ext>
            </a:extLst>
          </p:cNvPr>
          <p:cNvSpPr>
            <a:spLocks noGrp="1"/>
          </p:cNvSpPr>
          <p:nvPr>
            <p:ph type="sldNum" sz="quarter" idx="12"/>
          </p:nvPr>
        </p:nvSpPr>
        <p:spPr/>
        <p:txBody>
          <a:bodyPr/>
          <a:lstStyle/>
          <a:p>
            <a:fld id="{5AD84F5B-1672-4D3F-9FEC-5DF89A7B7912}" type="slidenum">
              <a:rPr lang="zh-CN" altLang="en-US" smtClean="0"/>
              <a:t>39</a:t>
            </a:fld>
            <a:endParaRPr lang="zh-CN" altLang="en-US"/>
          </a:p>
        </p:txBody>
      </p:sp>
    </p:spTree>
    <p:extLst>
      <p:ext uri="{BB962C8B-B14F-4D97-AF65-F5344CB8AC3E}">
        <p14:creationId xmlns:p14="http://schemas.microsoft.com/office/powerpoint/2010/main" val="578064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Wingdings"/>
              </a:rPr>
              <a:t>连续属性的划分方法</a:t>
            </a:r>
            <a:endParaRPr lang="zh-CN" altLang="en-US" dirty="0"/>
          </a:p>
        </p:txBody>
      </p:sp>
      <p:sp>
        <p:nvSpPr>
          <p:cNvPr id="5" name="矩形 4"/>
          <p:cNvSpPr/>
          <p:nvPr/>
        </p:nvSpPr>
        <p:spPr>
          <a:xfrm rot="21176507">
            <a:off x="7175841" y="3964191"/>
            <a:ext cx="1980029" cy="523220"/>
          </a:xfrm>
          <a:prstGeom prst="rect">
            <a:avLst/>
          </a:prstGeom>
        </p:spPr>
        <p:txBody>
          <a:bodyPr wrap="none">
            <a:spAutoFit/>
          </a:bodyPr>
          <a:lstStyle/>
          <a:p>
            <a:pPr algn="r"/>
            <a:r>
              <a:rPr lang="zh-CN" altLang="en-US" sz="2800" dirty="0">
                <a:solidFill>
                  <a:srgbClr val="C00000"/>
                </a:solidFill>
                <a:latin typeface="华文细黑" pitchFamily="2" charset="-122"/>
                <a:ea typeface="华文细黑" pitchFamily="2" charset="-122"/>
                <a:sym typeface="Wingdings"/>
              </a:rPr>
              <a:t>如何划分？</a:t>
            </a:r>
            <a:endParaRPr lang="zh-CN" altLang="en-US" sz="2800" dirty="0">
              <a:solidFill>
                <a:srgbClr val="C00000"/>
              </a:solidFill>
              <a:latin typeface="华文细黑" pitchFamily="2" charset="-122"/>
              <a:ea typeface="华文细黑" pitchFamily="2" charset="-122"/>
            </a:endParaRPr>
          </a:p>
        </p:txBody>
      </p:sp>
      <p:graphicFrame>
        <p:nvGraphicFramePr>
          <p:cNvPr id="6" name="表格 5"/>
          <p:cNvGraphicFramePr>
            <a:graphicFrameLocks noGrp="1"/>
          </p:cNvGraphicFramePr>
          <p:nvPr/>
        </p:nvGraphicFramePr>
        <p:xfrm>
          <a:off x="323529" y="2132856"/>
          <a:ext cx="6768753" cy="3703320"/>
        </p:xfrm>
        <a:graphic>
          <a:graphicData uri="http://schemas.openxmlformats.org/drawingml/2006/table">
            <a:tbl>
              <a:tblPr firstRow="1" firstCol="1" bandRow="1">
                <a:tableStyleId>{2D5ABB26-0587-4C30-8999-92F81FD0307C}</a:tableStyleId>
              </a:tblPr>
              <a:tblGrid>
                <a:gridCol w="737191">
                  <a:extLst>
                    <a:ext uri="{9D8B030D-6E8A-4147-A177-3AD203B41FA5}">
                      <a16:colId xmlns:a16="http://schemas.microsoft.com/office/drawing/2014/main" val="20000"/>
                    </a:ext>
                  </a:extLst>
                </a:gridCol>
                <a:gridCol w="1229051">
                  <a:extLst>
                    <a:ext uri="{9D8B030D-6E8A-4147-A177-3AD203B41FA5}">
                      <a16:colId xmlns:a16="http://schemas.microsoft.com/office/drawing/2014/main" val="20001"/>
                    </a:ext>
                  </a:extLst>
                </a:gridCol>
                <a:gridCol w="1503104">
                  <a:extLst>
                    <a:ext uri="{9D8B030D-6E8A-4147-A177-3AD203B41FA5}">
                      <a16:colId xmlns:a16="http://schemas.microsoft.com/office/drawing/2014/main" val="20002"/>
                    </a:ext>
                  </a:extLst>
                </a:gridCol>
                <a:gridCol w="1312821">
                  <a:extLst>
                    <a:ext uri="{9D8B030D-6E8A-4147-A177-3AD203B41FA5}">
                      <a16:colId xmlns:a16="http://schemas.microsoft.com/office/drawing/2014/main" val="20003"/>
                    </a:ext>
                  </a:extLst>
                </a:gridCol>
                <a:gridCol w="1116557">
                  <a:extLst>
                    <a:ext uri="{9D8B030D-6E8A-4147-A177-3AD203B41FA5}">
                      <a16:colId xmlns:a16="http://schemas.microsoft.com/office/drawing/2014/main" val="20004"/>
                    </a:ext>
                  </a:extLst>
                </a:gridCol>
                <a:gridCol w="870029">
                  <a:extLst>
                    <a:ext uri="{9D8B030D-6E8A-4147-A177-3AD203B41FA5}">
                      <a16:colId xmlns:a16="http://schemas.microsoft.com/office/drawing/2014/main" val="20005"/>
                    </a:ext>
                  </a:extLst>
                </a:gridCol>
              </a:tblGrid>
              <a:tr h="246888">
                <a:tc>
                  <a:txBody>
                    <a:bodyPr/>
                    <a:lstStyle/>
                    <a:p>
                      <a:pPr algn="ctr">
                        <a:spcAft>
                          <a:spcPts val="0"/>
                        </a:spcAft>
                      </a:pPr>
                      <a:r>
                        <a:rPr lang="en-US" sz="1600" kern="100" dirty="0">
                          <a:solidFill>
                            <a:schemeClr val="tx1">
                              <a:lumMod val="50000"/>
                              <a:lumOff val="50000"/>
                            </a:schemeClr>
                          </a:solidFill>
                          <a:effectLst/>
                          <a:latin typeface="Times New Roman" pitchFamily="18" charset="0"/>
                        </a:rPr>
                        <a:t>No</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Outlook</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Temperature</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effectLst/>
                          <a:latin typeface="Times New Roman" pitchFamily="18" charset="0"/>
                        </a:rPr>
                        <a:t>Humidity</a:t>
                      </a:r>
                      <a:endParaRPr lang="zh-CN" sz="2500" kern="100" dirty="0">
                        <a:effectLst/>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Windy</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solidFill>
                          <a:effectLst/>
                          <a:latin typeface="Times New Roman" pitchFamily="18" charset="0"/>
                        </a:rPr>
                        <a:t>play</a:t>
                      </a:r>
                      <a:endParaRPr lang="zh-CN" sz="2500" kern="100" dirty="0">
                        <a:solidFill>
                          <a:schemeClr val="tx1"/>
                        </a:solidFill>
                        <a:effectLst/>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6888">
                <a:tc>
                  <a:txBody>
                    <a:bodyPr/>
                    <a:lstStyle/>
                    <a:p>
                      <a:pPr algn="ctr">
                        <a:spcAft>
                          <a:spcPts val="0"/>
                        </a:spcAft>
                      </a:pPr>
                      <a:r>
                        <a:rPr lang="en-US" sz="1600" kern="100" dirty="0">
                          <a:solidFill>
                            <a:schemeClr val="tx1">
                              <a:lumMod val="50000"/>
                              <a:lumOff val="50000"/>
                            </a:schemeClr>
                          </a:solidFill>
                          <a:effectLst/>
                          <a:latin typeface="Times New Roman" pitchFamily="18" charset="0"/>
                        </a:rPr>
                        <a:t>1</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sunny</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85</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effectLst/>
                          <a:latin typeface="Times New Roman" pitchFamily="18" charset="0"/>
                        </a:rPr>
                        <a:t>85</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false</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solidFill>
                          <a:effectLst/>
                          <a:latin typeface="Times New Roman" pitchFamily="18" charset="0"/>
                        </a:rPr>
                        <a:t>no</a:t>
                      </a:r>
                      <a:endParaRPr lang="zh-CN" sz="25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46888">
                <a:tc>
                  <a:txBody>
                    <a:bodyPr/>
                    <a:lstStyle/>
                    <a:p>
                      <a:pPr algn="ctr">
                        <a:spcAft>
                          <a:spcPts val="0"/>
                        </a:spcAft>
                      </a:pPr>
                      <a:r>
                        <a:rPr lang="en-US" sz="1600" kern="100" dirty="0">
                          <a:solidFill>
                            <a:schemeClr val="tx1">
                              <a:lumMod val="50000"/>
                              <a:lumOff val="50000"/>
                            </a:schemeClr>
                          </a:solidFill>
                          <a:effectLst/>
                          <a:latin typeface="Times New Roman" pitchFamily="18" charset="0"/>
                        </a:rPr>
                        <a:t>2</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sunny</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80</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effectLst/>
                          <a:latin typeface="Times New Roman" pitchFamily="18" charset="0"/>
                        </a:rPr>
                        <a:t>90</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true</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solidFill>
                          <a:effectLst/>
                          <a:latin typeface="Times New Roman" pitchFamily="18" charset="0"/>
                        </a:rPr>
                        <a:t>no</a:t>
                      </a:r>
                      <a:endParaRPr lang="zh-CN" sz="25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46888">
                <a:tc>
                  <a:txBody>
                    <a:bodyPr/>
                    <a:lstStyle/>
                    <a:p>
                      <a:pPr algn="ctr">
                        <a:spcAft>
                          <a:spcPts val="0"/>
                        </a:spcAft>
                      </a:pPr>
                      <a:r>
                        <a:rPr lang="en-US" sz="1600" kern="100" dirty="0">
                          <a:solidFill>
                            <a:schemeClr val="tx1">
                              <a:lumMod val="50000"/>
                              <a:lumOff val="50000"/>
                            </a:schemeClr>
                          </a:solidFill>
                          <a:effectLst/>
                          <a:latin typeface="Times New Roman" pitchFamily="18" charset="0"/>
                        </a:rPr>
                        <a:t>3</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overcast</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83</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effectLst/>
                          <a:latin typeface="Times New Roman" pitchFamily="18" charset="0"/>
                        </a:rPr>
                        <a:t>86</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false</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solidFill>
                          <a:effectLst/>
                          <a:latin typeface="Times New Roman" pitchFamily="18" charset="0"/>
                        </a:rPr>
                        <a:t>yes</a:t>
                      </a:r>
                      <a:endParaRPr lang="zh-CN" sz="25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46888">
                <a:tc>
                  <a:txBody>
                    <a:bodyPr/>
                    <a:lstStyle/>
                    <a:p>
                      <a:pPr algn="ctr">
                        <a:spcAft>
                          <a:spcPts val="0"/>
                        </a:spcAft>
                      </a:pPr>
                      <a:r>
                        <a:rPr lang="en-US" sz="1600" kern="100" dirty="0">
                          <a:solidFill>
                            <a:schemeClr val="tx1">
                              <a:lumMod val="50000"/>
                              <a:lumOff val="50000"/>
                            </a:schemeClr>
                          </a:solidFill>
                          <a:effectLst/>
                          <a:latin typeface="Times New Roman" pitchFamily="18" charset="0"/>
                        </a:rPr>
                        <a:t>4</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rainy</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70</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effectLst/>
                          <a:latin typeface="Times New Roman" pitchFamily="18" charset="0"/>
                        </a:rPr>
                        <a:t>96</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false</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solidFill>
                          <a:effectLst/>
                          <a:latin typeface="Times New Roman" pitchFamily="18" charset="0"/>
                        </a:rPr>
                        <a:t>yes</a:t>
                      </a:r>
                      <a:endParaRPr lang="zh-CN" sz="25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46888">
                <a:tc>
                  <a:txBody>
                    <a:bodyPr/>
                    <a:lstStyle/>
                    <a:p>
                      <a:pPr algn="ctr">
                        <a:spcAft>
                          <a:spcPts val="0"/>
                        </a:spcAft>
                      </a:pPr>
                      <a:r>
                        <a:rPr lang="en-US" sz="1600" kern="100" dirty="0">
                          <a:solidFill>
                            <a:schemeClr val="tx1">
                              <a:lumMod val="50000"/>
                              <a:lumOff val="50000"/>
                            </a:schemeClr>
                          </a:solidFill>
                          <a:effectLst/>
                          <a:latin typeface="Times New Roman" pitchFamily="18" charset="0"/>
                        </a:rPr>
                        <a:t>5</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rainy</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68</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effectLst/>
                          <a:latin typeface="Times New Roman" pitchFamily="18" charset="0"/>
                        </a:rPr>
                        <a:t>80</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false</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solidFill>
                          <a:effectLst/>
                          <a:latin typeface="Times New Roman" pitchFamily="18" charset="0"/>
                        </a:rPr>
                        <a:t>yes</a:t>
                      </a:r>
                      <a:endParaRPr lang="zh-CN" sz="25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46888">
                <a:tc>
                  <a:txBody>
                    <a:bodyPr/>
                    <a:lstStyle/>
                    <a:p>
                      <a:pPr algn="ctr">
                        <a:spcAft>
                          <a:spcPts val="0"/>
                        </a:spcAft>
                      </a:pPr>
                      <a:r>
                        <a:rPr lang="en-US" sz="1600" kern="100" dirty="0">
                          <a:solidFill>
                            <a:schemeClr val="tx1">
                              <a:lumMod val="50000"/>
                              <a:lumOff val="50000"/>
                            </a:schemeClr>
                          </a:solidFill>
                          <a:effectLst/>
                          <a:latin typeface="Times New Roman" pitchFamily="18" charset="0"/>
                        </a:rPr>
                        <a:t>6</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rainy</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65</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effectLst/>
                          <a:latin typeface="Times New Roman" pitchFamily="18" charset="0"/>
                        </a:rPr>
                        <a:t>70</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true</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solidFill>
                          <a:effectLst/>
                          <a:latin typeface="Times New Roman" pitchFamily="18" charset="0"/>
                        </a:rPr>
                        <a:t>no</a:t>
                      </a:r>
                      <a:endParaRPr lang="zh-CN" sz="25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46888">
                <a:tc>
                  <a:txBody>
                    <a:bodyPr/>
                    <a:lstStyle/>
                    <a:p>
                      <a:pPr algn="ctr">
                        <a:spcAft>
                          <a:spcPts val="0"/>
                        </a:spcAft>
                      </a:pPr>
                      <a:r>
                        <a:rPr lang="en-US" sz="1600" kern="100" dirty="0">
                          <a:solidFill>
                            <a:schemeClr val="tx1">
                              <a:lumMod val="50000"/>
                              <a:lumOff val="50000"/>
                            </a:schemeClr>
                          </a:solidFill>
                          <a:effectLst/>
                          <a:latin typeface="Times New Roman" pitchFamily="18" charset="0"/>
                        </a:rPr>
                        <a:t>7</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overcast</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64</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effectLst/>
                          <a:latin typeface="Times New Roman" pitchFamily="18" charset="0"/>
                        </a:rPr>
                        <a:t>65</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true</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solidFill>
                          <a:effectLst/>
                          <a:latin typeface="Times New Roman" pitchFamily="18" charset="0"/>
                        </a:rPr>
                        <a:t>yes</a:t>
                      </a:r>
                      <a:endParaRPr lang="zh-CN" sz="25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46888">
                <a:tc>
                  <a:txBody>
                    <a:bodyPr/>
                    <a:lstStyle/>
                    <a:p>
                      <a:pPr algn="ctr">
                        <a:spcAft>
                          <a:spcPts val="0"/>
                        </a:spcAft>
                      </a:pPr>
                      <a:r>
                        <a:rPr lang="en-US" sz="1600" kern="100" dirty="0">
                          <a:solidFill>
                            <a:schemeClr val="tx1">
                              <a:lumMod val="50000"/>
                              <a:lumOff val="50000"/>
                            </a:schemeClr>
                          </a:solidFill>
                          <a:effectLst/>
                          <a:latin typeface="Times New Roman" pitchFamily="18" charset="0"/>
                        </a:rPr>
                        <a:t>8</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sunny</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72</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effectLst/>
                          <a:latin typeface="Times New Roman" pitchFamily="18" charset="0"/>
                        </a:rPr>
                        <a:t>95</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false</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solidFill>
                          <a:effectLst/>
                          <a:latin typeface="Times New Roman" pitchFamily="18" charset="0"/>
                        </a:rPr>
                        <a:t>no</a:t>
                      </a:r>
                      <a:endParaRPr lang="zh-CN" sz="25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46888">
                <a:tc>
                  <a:txBody>
                    <a:bodyPr/>
                    <a:lstStyle/>
                    <a:p>
                      <a:pPr algn="ctr">
                        <a:spcAft>
                          <a:spcPts val="0"/>
                        </a:spcAft>
                      </a:pPr>
                      <a:r>
                        <a:rPr lang="en-US" sz="1600" kern="100" dirty="0">
                          <a:solidFill>
                            <a:schemeClr val="tx1">
                              <a:lumMod val="50000"/>
                              <a:lumOff val="50000"/>
                            </a:schemeClr>
                          </a:solidFill>
                          <a:effectLst/>
                          <a:latin typeface="Times New Roman" pitchFamily="18" charset="0"/>
                        </a:rPr>
                        <a:t>9</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sunny</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69</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effectLst/>
                          <a:latin typeface="Times New Roman" pitchFamily="18" charset="0"/>
                        </a:rPr>
                        <a:t>70</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false</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solidFill>
                          <a:effectLst/>
                          <a:latin typeface="Times New Roman" pitchFamily="18" charset="0"/>
                        </a:rPr>
                        <a:t>yes</a:t>
                      </a:r>
                      <a:endParaRPr lang="zh-CN" sz="25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46888">
                <a:tc>
                  <a:txBody>
                    <a:bodyPr/>
                    <a:lstStyle/>
                    <a:p>
                      <a:pPr algn="ctr">
                        <a:spcAft>
                          <a:spcPts val="0"/>
                        </a:spcAft>
                      </a:pPr>
                      <a:r>
                        <a:rPr lang="en-US" sz="1600" kern="100" dirty="0">
                          <a:solidFill>
                            <a:schemeClr val="tx1">
                              <a:lumMod val="50000"/>
                              <a:lumOff val="50000"/>
                            </a:schemeClr>
                          </a:solidFill>
                          <a:effectLst/>
                          <a:latin typeface="Times New Roman" pitchFamily="18" charset="0"/>
                        </a:rPr>
                        <a:t>10</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rainy</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75</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effectLst/>
                          <a:latin typeface="Times New Roman" pitchFamily="18" charset="0"/>
                        </a:rPr>
                        <a:t>80</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false</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solidFill>
                          <a:effectLst/>
                          <a:latin typeface="Times New Roman" pitchFamily="18" charset="0"/>
                        </a:rPr>
                        <a:t>yes</a:t>
                      </a:r>
                      <a:endParaRPr lang="zh-CN" sz="25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46888">
                <a:tc>
                  <a:txBody>
                    <a:bodyPr/>
                    <a:lstStyle/>
                    <a:p>
                      <a:pPr algn="ctr">
                        <a:spcAft>
                          <a:spcPts val="0"/>
                        </a:spcAft>
                      </a:pPr>
                      <a:r>
                        <a:rPr lang="en-US" sz="1600" kern="100" dirty="0">
                          <a:solidFill>
                            <a:schemeClr val="tx1">
                              <a:lumMod val="50000"/>
                              <a:lumOff val="50000"/>
                            </a:schemeClr>
                          </a:solidFill>
                          <a:effectLst/>
                          <a:latin typeface="Times New Roman" pitchFamily="18" charset="0"/>
                        </a:rPr>
                        <a:t>11</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sunny</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75</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effectLst/>
                          <a:latin typeface="Times New Roman" pitchFamily="18" charset="0"/>
                        </a:rPr>
                        <a:t>70</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true</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solidFill>
                          <a:effectLst/>
                          <a:latin typeface="Times New Roman" pitchFamily="18" charset="0"/>
                        </a:rPr>
                        <a:t>yes</a:t>
                      </a:r>
                      <a:endParaRPr lang="zh-CN" sz="25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246888">
                <a:tc>
                  <a:txBody>
                    <a:bodyPr/>
                    <a:lstStyle/>
                    <a:p>
                      <a:pPr algn="ctr">
                        <a:spcAft>
                          <a:spcPts val="0"/>
                        </a:spcAft>
                      </a:pPr>
                      <a:r>
                        <a:rPr lang="en-US" sz="1600" kern="100" dirty="0">
                          <a:solidFill>
                            <a:schemeClr val="tx1">
                              <a:lumMod val="50000"/>
                              <a:lumOff val="50000"/>
                            </a:schemeClr>
                          </a:solidFill>
                          <a:effectLst/>
                          <a:latin typeface="Times New Roman" pitchFamily="18" charset="0"/>
                        </a:rPr>
                        <a:t>12</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overcast</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72</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effectLst/>
                          <a:latin typeface="Times New Roman" pitchFamily="18" charset="0"/>
                        </a:rPr>
                        <a:t>90</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true</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solidFill>
                          <a:effectLst/>
                          <a:latin typeface="Times New Roman" pitchFamily="18" charset="0"/>
                        </a:rPr>
                        <a:t>yes</a:t>
                      </a:r>
                      <a:endParaRPr lang="zh-CN" sz="25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46888">
                <a:tc>
                  <a:txBody>
                    <a:bodyPr/>
                    <a:lstStyle/>
                    <a:p>
                      <a:pPr algn="ctr">
                        <a:spcAft>
                          <a:spcPts val="0"/>
                        </a:spcAft>
                      </a:pPr>
                      <a:r>
                        <a:rPr lang="en-US" sz="1600" kern="100" dirty="0">
                          <a:solidFill>
                            <a:schemeClr val="tx1">
                              <a:lumMod val="50000"/>
                              <a:lumOff val="50000"/>
                            </a:schemeClr>
                          </a:solidFill>
                          <a:effectLst/>
                          <a:latin typeface="Times New Roman" pitchFamily="18" charset="0"/>
                        </a:rPr>
                        <a:t>13</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overcast</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81</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effectLst/>
                          <a:latin typeface="Times New Roman" pitchFamily="18" charset="0"/>
                        </a:rPr>
                        <a:t>75</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false</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solidFill>
                          <a:effectLst/>
                          <a:latin typeface="Times New Roman" pitchFamily="18" charset="0"/>
                        </a:rPr>
                        <a:t>yes</a:t>
                      </a:r>
                      <a:endParaRPr lang="zh-CN" sz="25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46888">
                <a:tc>
                  <a:txBody>
                    <a:bodyPr/>
                    <a:lstStyle/>
                    <a:p>
                      <a:pPr algn="ctr">
                        <a:spcAft>
                          <a:spcPts val="0"/>
                        </a:spcAft>
                      </a:pPr>
                      <a:r>
                        <a:rPr lang="en-US" sz="1600" kern="100" dirty="0">
                          <a:solidFill>
                            <a:schemeClr val="tx1">
                              <a:lumMod val="50000"/>
                              <a:lumOff val="50000"/>
                            </a:schemeClr>
                          </a:solidFill>
                          <a:effectLst/>
                          <a:latin typeface="Times New Roman" pitchFamily="18" charset="0"/>
                        </a:rPr>
                        <a:t>14</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rainy</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71</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effectLst/>
                          <a:latin typeface="Times New Roman" pitchFamily="18" charset="0"/>
                        </a:rPr>
                        <a:t>91</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true</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solidFill>
                          <a:effectLst/>
                          <a:latin typeface="Times New Roman" pitchFamily="18" charset="0"/>
                        </a:rPr>
                        <a:t>No</a:t>
                      </a:r>
                      <a:endParaRPr lang="zh-CN" sz="25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bl>
          </a:graphicData>
        </a:graphic>
      </p:graphicFrame>
      <p:sp>
        <p:nvSpPr>
          <p:cNvPr id="3" name="页脚占位符 2">
            <a:extLst>
              <a:ext uri="{FF2B5EF4-FFF2-40B4-BE49-F238E27FC236}">
                <a16:creationId xmlns:a16="http://schemas.microsoft.com/office/drawing/2014/main" id="{DC1F0379-223C-430B-A323-E8E2B7E586E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06EF12C-4F3A-44D8-80EB-6A85FC4DAC54}"/>
              </a:ext>
            </a:extLst>
          </p:cNvPr>
          <p:cNvSpPr>
            <a:spLocks noGrp="1"/>
          </p:cNvSpPr>
          <p:nvPr>
            <p:ph type="sldNum" sz="quarter" idx="12"/>
          </p:nvPr>
        </p:nvSpPr>
        <p:spPr/>
        <p:txBody>
          <a:bodyPr/>
          <a:lstStyle/>
          <a:p>
            <a:fld id="{5AD84F5B-1672-4D3F-9FEC-5DF89A7B7912}" type="slidenum">
              <a:rPr lang="zh-CN" altLang="en-US" smtClean="0"/>
              <a:t>40</a:t>
            </a:fld>
            <a:endParaRPr lang="zh-CN" altLang="en-US"/>
          </a:p>
        </p:txBody>
      </p:sp>
    </p:spTree>
    <p:extLst>
      <p:ext uri="{BB962C8B-B14F-4D97-AF65-F5344CB8AC3E}">
        <p14:creationId xmlns:p14="http://schemas.microsoft.com/office/powerpoint/2010/main" val="4192952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Wingdings"/>
              </a:rPr>
              <a:t>连续属性的划分方法</a:t>
            </a:r>
            <a:endParaRPr lang="zh-CN" altLang="en-US" dirty="0"/>
          </a:p>
        </p:txBody>
      </p:sp>
      <p:sp>
        <p:nvSpPr>
          <p:cNvPr id="3" name="内容占位符 2"/>
          <p:cNvSpPr>
            <a:spLocks noGrp="1"/>
          </p:cNvSpPr>
          <p:nvPr>
            <p:ph idx="1"/>
          </p:nvPr>
        </p:nvSpPr>
        <p:spPr/>
        <p:txBody>
          <a:bodyPr>
            <a:normAutofit/>
          </a:bodyPr>
          <a:lstStyle/>
          <a:p>
            <a:r>
              <a:rPr lang="zh-CN" altLang="en-US" dirty="0">
                <a:latin typeface="Times New Roman" pitchFamily="18" charset="0"/>
                <a:cs typeface="Times New Roman" pitchFamily="18" charset="0"/>
              </a:rPr>
              <a:t>多元划分</a:t>
            </a:r>
          </a:p>
          <a:p>
            <a:endParaRPr lang="en-US" altLang="zh-CN" dirty="0">
              <a:latin typeface="Times New Roman" pitchFamily="18" charset="0"/>
              <a:cs typeface="Times New Roman" pitchFamily="18" charset="0"/>
            </a:endParaRPr>
          </a:p>
          <a:p>
            <a:endParaRPr lang="zh-CN" altLang="en-US" dirty="0">
              <a:latin typeface="Times New Roman" pitchFamily="18" charset="0"/>
              <a:cs typeface="Times New Roman" pitchFamily="18" charset="0"/>
            </a:endParaRPr>
          </a:p>
        </p:txBody>
      </p:sp>
      <p:graphicFrame>
        <p:nvGraphicFramePr>
          <p:cNvPr id="5" name="表格 4"/>
          <p:cNvGraphicFramePr>
            <a:graphicFrameLocks noGrp="1"/>
          </p:cNvGraphicFramePr>
          <p:nvPr/>
        </p:nvGraphicFramePr>
        <p:xfrm>
          <a:off x="264483" y="2340605"/>
          <a:ext cx="3299407" cy="3291840"/>
        </p:xfrm>
        <a:graphic>
          <a:graphicData uri="http://schemas.openxmlformats.org/drawingml/2006/table">
            <a:tbl>
              <a:tblPr firstRow="1" firstCol="1" bandRow="1">
                <a:tableStyleId>{2D5ABB26-0587-4C30-8999-92F81FD0307C}</a:tableStyleId>
              </a:tblPr>
              <a:tblGrid>
                <a:gridCol w="1312821">
                  <a:extLst>
                    <a:ext uri="{9D8B030D-6E8A-4147-A177-3AD203B41FA5}">
                      <a16:colId xmlns:a16="http://schemas.microsoft.com/office/drawing/2014/main" val="20000"/>
                    </a:ext>
                  </a:extLst>
                </a:gridCol>
                <a:gridCol w="1116557">
                  <a:extLst>
                    <a:ext uri="{9D8B030D-6E8A-4147-A177-3AD203B41FA5}">
                      <a16:colId xmlns:a16="http://schemas.microsoft.com/office/drawing/2014/main" val="20001"/>
                    </a:ext>
                  </a:extLst>
                </a:gridCol>
                <a:gridCol w="870029">
                  <a:extLst>
                    <a:ext uri="{9D8B030D-6E8A-4147-A177-3AD203B41FA5}">
                      <a16:colId xmlns:a16="http://schemas.microsoft.com/office/drawing/2014/main" val="20002"/>
                    </a:ext>
                  </a:extLst>
                </a:gridCol>
              </a:tblGrid>
              <a:tr h="219456">
                <a:tc>
                  <a:txBody>
                    <a:bodyPr/>
                    <a:lstStyle/>
                    <a:p>
                      <a:pPr algn="ctr">
                        <a:spcAft>
                          <a:spcPts val="0"/>
                        </a:spcAft>
                      </a:pPr>
                      <a:r>
                        <a:rPr lang="en-US" sz="1400" kern="100" dirty="0">
                          <a:effectLst/>
                          <a:latin typeface="Times New Roman" pitchFamily="18" charset="0"/>
                        </a:rPr>
                        <a:t>Humidity</a:t>
                      </a:r>
                      <a:endParaRPr lang="zh-CN" sz="2200" kern="100" dirty="0">
                        <a:effectLst/>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solidFill>
                            <a:schemeClr val="bg1"/>
                          </a:solidFill>
                          <a:effectLst/>
                          <a:latin typeface="Times New Roman" pitchFamily="18" charset="0"/>
                        </a:rPr>
                        <a:t>Windy</a:t>
                      </a:r>
                      <a:endParaRPr lang="zh-CN" sz="2200" kern="100" dirty="0">
                        <a:solidFill>
                          <a:schemeClr val="bg1"/>
                        </a:solidFill>
                        <a:effectLst/>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solidFill>
                            <a:schemeClr val="tx1"/>
                          </a:solidFill>
                          <a:effectLst/>
                          <a:latin typeface="Times New Roman" pitchFamily="18" charset="0"/>
                        </a:rPr>
                        <a:t>play</a:t>
                      </a:r>
                      <a:endParaRPr lang="zh-CN" sz="2200" kern="100" dirty="0">
                        <a:solidFill>
                          <a:schemeClr val="tx1"/>
                        </a:solidFill>
                        <a:effectLst/>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19456">
                <a:tc>
                  <a:txBody>
                    <a:bodyPr/>
                    <a:lstStyle/>
                    <a:p>
                      <a:pPr algn="ctr">
                        <a:spcAft>
                          <a:spcPts val="0"/>
                        </a:spcAft>
                      </a:pPr>
                      <a:r>
                        <a:rPr lang="en-US" sz="1400" kern="100" dirty="0">
                          <a:effectLst/>
                          <a:latin typeface="Times New Roman" pitchFamily="18" charset="0"/>
                        </a:rPr>
                        <a:t>85</a:t>
                      </a:r>
                      <a:endParaRPr lang="zh-CN" sz="22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solidFill>
                            <a:schemeClr val="bg1"/>
                          </a:solidFill>
                          <a:effectLst/>
                          <a:latin typeface="Times New Roman" pitchFamily="18" charset="0"/>
                        </a:rPr>
                        <a:t>false</a:t>
                      </a:r>
                      <a:endParaRPr lang="zh-CN" sz="2200" kern="100" dirty="0">
                        <a:solidFill>
                          <a:schemeClr val="bg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solidFill>
                            <a:schemeClr val="tx1"/>
                          </a:solidFill>
                          <a:effectLst/>
                          <a:latin typeface="Times New Roman" pitchFamily="18" charset="0"/>
                        </a:rPr>
                        <a:t>no</a:t>
                      </a:r>
                      <a:endParaRPr lang="zh-CN" sz="22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19456">
                <a:tc>
                  <a:txBody>
                    <a:bodyPr/>
                    <a:lstStyle/>
                    <a:p>
                      <a:pPr algn="ctr">
                        <a:spcAft>
                          <a:spcPts val="0"/>
                        </a:spcAft>
                      </a:pPr>
                      <a:r>
                        <a:rPr lang="en-US" sz="1400" kern="100" dirty="0">
                          <a:effectLst/>
                          <a:latin typeface="Times New Roman" pitchFamily="18" charset="0"/>
                        </a:rPr>
                        <a:t>90</a:t>
                      </a:r>
                      <a:endParaRPr lang="zh-CN" sz="22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solidFill>
                            <a:schemeClr val="bg1"/>
                          </a:solidFill>
                          <a:effectLst/>
                          <a:latin typeface="Times New Roman" pitchFamily="18" charset="0"/>
                        </a:rPr>
                        <a:t>true</a:t>
                      </a:r>
                      <a:endParaRPr lang="zh-CN" sz="2200" kern="100" dirty="0">
                        <a:solidFill>
                          <a:schemeClr val="bg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solidFill>
                            <a:schemeClr val="tx1"/>
                          </a:solidFill>
                          <a:effectLst/>
                          <a:latin typeface="Times New Roman" pitchFamily="18" charset="0"/>
                        </a:rPr>
                        <a:t>no</a:t>
                      </a:r>
                      <a:endParaRPr lang="zh-CN" sz="22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19456">
                <a:tc>
                  <a:txBody>
                    <a:bodyPr/>
                    <a:lstStyle/>
                    <a:p>
                      <a:pPr algn="ctr">
                        <a:spcAft>
                          <a:spcPts val="0"/>
                        </a:spcAft>
                      </a:pPr>
                      <a:r>
                        <a:rPr lang="en-US" sz="1400" kern="100" dirty="0">
                          <a:effectLst/>
                          <a:latin typeface="Times New Roman" pitchFamily="18" charset="0"/>
                        </a:rPr>
                        <a:t>86</a:t>
                      </a:r>
                      <a:endParaRPr lang="zh-CN" sz="22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solidFill>
                            <a:schemeClr val="bg1"/>
                          </a:solidFill>
                          <a:effectLst/>
                          <a:latin typeface="Times New Roman" pitchFamily="18" charset="0"/>
                        </a:rPr>
                        <a:t>false</a:t>
                      </a:r>
                      <a:endParaRPr lang="zh-CN" sz="2200" kern="100" dirty="0">
                        <a:solidFill>
                          <a:schemeClr val="bg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solidFill>
                            <a:schemeClr val="tx1"/>
                          </a:solidFill>
                          <a:effectLst/>
                          <a:latin typeface="Times New Roman" pitchFamily="18" charset="0"/>
                        </a:rPr>
                        <a:t>yes</a:t>
                      </a:r>
                      <a:endParaRPr lang="zh-CN" sz="22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19456">
                <a:tc>
                  <a:txBody>
                    <a:bodyPr/>
                    <a:lstStyle/>
                    <a:p>
                      <a:pPr algn="ctr">
                        <a:spcAft>
                          <a:spcPts val="0"/>
                        </a:spcAft>
                      </a:pPr>
                      <a:r>
                        <a:rPr lang="en-US" sz="1400" kern="100" dirty="0">
                          <a:effectLst/>
                          <a:latin typeface="Times New Roman" pitchFamily="18" charset="0"/>
                        </a:rPr>
                        <a:t>96</a:t>
                      </a:r>
                      <a:endParaRPr lang="zh-CN" sz="22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solidFill>
                            <a:schemeClr val="bg1"/>
                          </a:solidFill>
                          <a:effectLst/>
                          <a:latin typeface="Times New Roman" pitchFamily="18" charset="0"/>
                        </a:rPr>
                        <a:t>false</a:t>
                      </a:r>
                      <a:endParaRPr lang="zh-CN" sz="2200" kern="100" dirty="0">
                        <a:solidFill>
                          <a:schemeClr val="bg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solidFill>
                            <a:schemeClr val="tx1"/>
                          </a:solidFill>
                          <a:effectLst/>
                          <a:latin typeface="Times New Roman" pitchFamily="18" charset="0"/>
                        </a:rPr>
                        <a:t>yes</a:t>
                      </a:r>
                      <a:endParaRPr lang="zh-CN" sz="22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19456">
                <a:tc>
                  <a:txBody>
                    <a:bodyPr/>
                    <a:lstStyle/>
                    <a:p>
                      <a:pPr algn="ctr">
                        <a:spcAft>
                          <a:spcPts val="0"/>
                        </a:spcAft>
                      </a:pPr>
                      <a:r>
                        <a:rPr lang="en-US" sz="1400" kern="100" dirty="0">
                          <a:effectLst/>
                          <a:latin typeface="Times New Roman" pitchFamily="18" charset="0"/>
                        </a:rPr>
                        <a:t>80</a:t>
                      </a:r>
                      <a:endParaRPr lang="zh-CN" sz="22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solidFill>
                            <a:schemeClr val="bg1"/>
                          </a:solidFill>
                          <a:effectLst/>
                          <a:latin typeface="Times New Roman" pitchFamily="18" charset="0"/>
                        </a:rPr>
                        <a:t>false</a:t>
                      </a:r>
                      <a:endParaRPr lang="zh-CN" sz="2200" kern="100" dirty="0">
                        <a:solidFill>
                          <a:schemeClr val="bg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solidFill>
                            <a:schemeClr val="tx1"/>
                          </a:solidFill>
                          <a:effectLst/>
                          <a:latin typeface="Times New Roman" pitchFamily="18" charset="0"/>
                        </a:rPr>
                        <a:t>yes</a:t>
                      </a:r>
                      <a:endParaRPr lang="zh-CN" sz="22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19456">
                <a:tc>
                  <a:txBody>
                    <a:bodyPr/>
                    <a:lstStyle/>
                    <a:p>
                      <a:pPr algn="ctr">
                        <a:spcAft>
                          <a:spcPts val="0"/>
                        </a:spcAft>
                      </a:pPr>
                      <a:r>
                        <a:rPr lang="en-US" sz="1400" kern="100" dirty="0">
                          <a:effectLst/>
                          <a:latin typeface="Times New Roman" pitchFamily="18" charset="0"/>
                        </a:rPr>
                        <a:t>70</a:t>
                      </a:r>
                      <a:endParaRPr lang="zh-CN" sz="22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solidFill>
                            <a:schemeClr val="bg1"/>
                          </a:solidFill>
                          <a:effectLst/>
                          <a:latin typeface="Times New Roman" pitchFamily="18" charset="0"/>
                        </a:rPr>
                        <a:t>true</a:t>
                      </a:r>
                      <a:endParaRPr lang="zh-CN" sz="2200" kern="100" dirty="0">
                        <a:solidFill>
                          <a:schemeClr val="bg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solidFill>
                            <a:schemeClr val="tx1"/>
                          </a:solidFill>
                          <a:effectLst/>
                          <a:latin typeface="Times New Roman" pitchFamily="18" charset="0"/>
                        </a:rPr>
                        <a:t>no</a:t>
                      </a:r>
                      <a:endParaRPr lang="zh-CN" sz="22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19456">
                <a:tc>
                  <a:txBody>
                    <a:bodyPr/>
                    <a:lstStyle/>
                    <a:p>
                      <a:pPr algn="ctr">
                        <a:spcAft>
                          <a:spcPts val="0"/>
                        </a:spcAft>
                      </a:pPr>
                      <a:r>
                        <a:rPr lang="en-US" sz="1400" kern="100" dirty="0">
                          <a:effectLst/>
                          <a:latin typeface="Times New Roman" pitchFamily="18" charset="0"/>
                        </a:rPr>
                        <a:t>65</a:t>
                      </a:r>
                      <a:endParaRPr lang="zh-CN" sz="22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solidFill>
                            <a:schemeClr val="bg1"/>
                          </a:solidFill>
                          <a:effectLst/>
                          <a:latin typeface="Times New Roman" pitchFamily="18" charset="0"/>
                        </a:rPr>
                        <a:t>true</a:t>
                      </a:r>
                      <a:endParaRPr lang="zh-CN" sz="2200" kern="100" dirty="0">
                        <a:solidFill>
                          <a:schemeClr val="bg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solidFill>
                            <a:schemeClr val="tx1"/>
                          </a:solidFill>
                          <a:effectLst/>
                          <a:latin typeface="Times New Roman" pitchFamily="18" charset="0"/>
                        </a:rPr>
                        <a:t>yes</a:t>
                      </a:r>
                      <a:endParaRPr lang="zh-CN" sz="22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19456">
                <a:tc>
                  <a:txBody>
                    <a:bodyPr/>
                    <a:lstStyle/>
                    <a:p>
                      <a:pPr algn="ctr">
                        <a:spcAft>
                          <a:spcPts val="0"/>
                        </a:spcAft>
                      </a:pPr>
                      <a:r>
                        <a:rPr lang="en-US" sz="1400" kern="100" dirty="0">
                          <a:effectLst/>
                          <a:latin typeface="Times New Roman" pitchFamily="18" charset="0"/>
                        </a:rPr>
                        <a:t>95</a:t>
                      </a:r>
                      <a:endParaRPr lang="zh-CN" sz="22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solidFill>
                            <a:schemeClr val="bg1"/>
                          </a:solidFill>
                          <a:effectLst/>
                          <a:latin typeface="Times New Roman" pitchFamily="18" charset="0"/>
                        </a:rPr>
                        <a:t>false</a:t>
                      </a:r>
                      <a:endParaRPr lang="zh-CN" sz="2200" kern="100" dirty="0">
                        <a:solidFill>
                          <a:schemeClr val="bg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solidFill>
                            <a:schemeClr val="tx1"/>
                          </a:solidFill>
                          <a:effectLst/>
                          <a:latin typeface="Times New Roman" pitchFamily="18" charset="0"/>
                        </a:rPr>
                        <a:t>no</a:t>
                      </a:r>
                      <a:endParaRPr lang="zh-CN" sz="22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19456">
                <a:tc>
                  <a:txBody>
                    <a:bodyPr/>
                    <a:lstStyle/>
                    <a:p>
                      <a:pPr algn="ctr">
                        <a:spcAft>
                          <a:spcPts val="0"/>
                        </a:spcAft>
                      </a:pPr>
                      <a:r>
                        <a:rPr lang="en-US" sz="1400" kern="100" dirty="0">
                          <a:effectLst/>
                          <a:latin typeface="Times New Roman" pitchFamily="18" charset="0"/>
                        </a:rPr>
                        <a:t>70</a:t>
                      </a:r>
                      <a:endParaRPr lang="zh-CN" sz="22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solidFill>
                            <a:schemeClr val="bg1"/>
                          </a:solidFill>
                          <a:effectLst/>
                          <a:latin typeface="Times New Roman" pitchFamily="18" charset="0"/>
                        </a:rPr>
                        <a:t>false</a:t>
                      </a:r>
                      <a:endParaRPr lang="zh-CN" sz="2200" kern="100" dirty="0">
                        <a:solidFill>
                          <a:schemeClr val="bg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solidFill>
                            <a:schemeClr val="tx1"/>
                          </a:solidFill>
                          <a:effectLst/>
                          <a:latin typeface="Times New Roman" pitchFamily="18" charset="0"/>
                        </a:rPr>
                        <a:t>yes</a:t>
                      </a:r>
                      <a:endParaRPr lang="zh-CN" sz="22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19456">
                <a:tc>
                  <a:txBody>
                    <a:bodyPr/>
                    <a:lstStyle/>
                    <a:p>
                      <a:pPr algn="ctr">
                        <a:spcAft>
                          <a:spcPts val="0"/>
                        </a:spcAft>
                      </a:pPr>
                      <a:r>
                        <a:rPr lang="en-US" sz="1400" kern="100" dirty="0">
                          <a:effectLst/>
                          <a:latin typeface="Times New Roman" pitchFamily="18" charset="0"/>
                        </a:rPr>
                        <a:t>80</a:t>
                      </a:r>
                      <a:endParaRPr lang="zh-CN" sz="22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solidFill>
                            <a:schemeClr val="bg1"/>
                          </a:solidFill>
                          <a:effectLst/>
                          <a:latin typeface="Times New Roman" pitchFamily="18" charset="0"/>
                        </a:rPr>
                        <a:t>false</a:t>
                      </a:r>
                      <a:endParaRPr lang="zh-CN" sz="2200" kern="100" dirty="0">
                        <a:solidFill>
                          <a:schemeClr val="bg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solidFill>
                            <a:schemeClr val="tx1"/>
                          </a:solidFill>
                          <a:effectLst/>
                          <a:latin typeface="Times New Roman" pitchFamily="18" charset="0"/>
                        </a:rPr>
                        <a:t>yes</a:t>
                      </a:r>
                      <a:endParaRPr lang="zh-CN" sz="22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19456">
                <a:tc>
                  <a:txBody>
                    <a:bodyPr/>
                    <a:lstStyle/>
                    <a:p>
                      <a:pPr algn="ctr">
                        <a:spcAft>
                          <a:spcPts val="0"/>
                        </a:spcAft>
                      </a:pPr>
                      <a:r>
                        <a:rPr lang="en-US" sz="1400" kern="100" dirty="0">
                          <a:effectLst/>
                          <a:latin typeface="Times New Roman" pitchFamily="18" charset="0"/>
                        </a:rPr>
                        <a:t>70</a:t>
                      </a:r>
                      <a:endParaRPr lang="zh-CN" sz="22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solidFill>
                            <a:schemeClr val="bg1"/>
                          </a:solidFill>
                          <a:effectLst/>
                          <a:latin typeface="Times New Roman" pitchFamily="18" charset="0"/>
                        </a:rPr>
                        <a:t>true</a:t>
                      </a:r>
                      <a:endParaRPr lang="zh-CN" sz="2200" kern="100" dirty="0">
                        <a:solidFill>
                          <a:schemeClr val="bg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solidFill>
                            <a:schemeClr val="tx1"/>
                          </a:solidFill>
                          <a:effectLst/>
                          <a:latin typeface="Times New Roman" pitchFamily="18" charset="0"/>
                        </a:rPr>
                        <a:t>yes</a:t>
                      </a:r>
                      <a:endParaRPr lang="zh-CN" sz="22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219456">
                <a:tc>
                  <a:txBody>
                    <a:bodyPr/>
                    <a:lstStyle/>
                    <a:p>
                      <a:pPr algn="ctr">
                        <a:spcAft>
                          <a:spcPts val="0"/>
                        </a:spcAft>
                      </a:pPr>
                      <a:r>
                        <a:rPr lang="en-US" sz="1400" kern="100" dirty="0">
                          <a:effectLst/>
                          <a:latin typeface="Times New Roman" pitchFamily="18" charset="0"/>
                        </a:rPr>
                        <a:t>90</a:t>
                      </a:r>
                      <a:endParaRPr lang="zh-CN" sz="22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solidFill>
                            <a:schemeClr val="bg1"/>
                          </a:solidFill>
                          <a:effectLst/>
                          <a:latin typeface="Times New Roman" pitchFamily="18" charset="0"/>
                        </a:rPr>
                        <a:t>true</a:t>
                      </a:r>
                      <a:endParaRPr lang="zh-CN" sz="2200" kern="100" dirty="0">
                        <a:solidFill>
                          <a:schemeClr val="bg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solidFill>
                            <a:schemeClr val="tx1"/>
                          </a:solidFill>
                          <a:effectLst/>
                          <a:latin typeface="Times New Roman" pitchFamily="18" charset="0"/>
                        </a:rPr>
                        <a:t>yes</a:t>
                      </a:r>
                      <a:endParaRPr lang="zh-CN" sz="22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19456">
                <a:tc>
                  <a:txBody>
                    <a:bodyPr/>
                    <a:lstStyle/>
                    <a:p>
                      <a:pPr algn="ctr">
                        <a:spcAft>
                          <a:spcPts val="0"/>
                        </a:spcAft>
                      </a:pPr>
                      <a:r>
                        <a:rPr lang="en-US" sz="1400" kern="100" dirty="0">
                          <a:effectLst/>
                          <a:latin typeface="Times New Roman" pitchFamily="18" charset="0"/>
                        </a:rPr>
                        <a:t>75</a:t>
                      </a:r>
                      <a:endParaRPr lang="zh-CN" sz="22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a:solidFill>
                            <a:schemeClr val="bg1"/>
                          </a:solidFill>
                          <a:effectLst/>
                          <a:latin typeface="Times New Roman" pitchFamily="18" charset="0"/>
                        </a:rPr>
                        <a:t>false</a:t>
                      </a:r>
                      <a:endParaRPr lang="zh-CN" sz="2200" kern="100" dirty="0">
                        <a:solidFill>
                          <a:schemeClr val="bg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solidFill>
                            <a:schemeClr val="tx1"/>
                          </a:solidFill>
                          <a:effectLst/>
                          <a:latin typeface="Times New Roman" pitchFamily="18" charset="0"/>
                        </a:rPr>
                        <a:t>yes</a:t>
                      </a:r>
                      <a:endParaRPr lang="zh-CN" sz="22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19456">
                <a:tc>
                  <a:txBody>
                    <a:bodyPr/>
                    <a:lstStyle/>
                    <a:p>
                      <a:pPr algn="ctr">
                        <a:spcAft>
                          <a:spcPts val="0"/>
                        </a:spcAft>
                      </a:pPr>
                      <a:r>
                        <a:rPr lang="en-US" sz="1400" kern="100" dirty="0">
                          <a:effectLst/>
                          <a:latin typeface="Times New Roman" pitchFamily="18" charset="0"/>
                        </a:rPr>
                        <a:t>91</a:t>
                      </a:r>
                      <a:endParaRPr lang="zh-CN" sz="22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solidFill>
                            <a:schemeClr val="bg1"/>
                          </a:solidFill>
                          <a:effectLst/>
                          <a:latin typeface="Times New Roman" pitchFamily="18" charset="0"/>
                        </a:rPr>
                        <a:t>true</a:t>
                      </a:r>
                      <a:endParaRPr lang="zh-CN" sz="2200" kern="100" dirty="0">
                        <a:solidFill>
                          <a:schemeClr val="bg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400" kern="100" dirty="0">
                          <a:solidFill>
                            <a:schemeClr val="tx1"/>
                          </a:solidFill>
                          <a:effectLst/>
                          <a:latin typeface="Times New Roman" pitchFamily="18" charset="0"/>
                        </a:rPr>
                        <a:t>No</a:t>
                      </a:r>
                      <a:endParaRPr lang="zh-CN" sz="22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bl>
          </a:graphicData>
        </a:graphic>
      </p:graphicFrame>
      <p:sp>
        <p:nvSpPr>
          <p:cNvPr id="4" name="页脚占位符 3">
            <a:extLst>
              <a:ext uri="{FF2B5EF4-FFF2-40B4-BE49-F238E27FC236}">
                <a16:creationId xmlns:a16="http://schemas.microsoft.com/office/drawing/2014/main" id="{31B06C68-DD4D-4600-8FDF-D2EB27CED1B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EE88967-335C-4005-8BE8-D75264B8EF5E}"/>
              </a:ext>
            </a:extLst>
          </p:cNvPr>
          <p:cNvSpPr>
            <a:spLocks noGrp="1"/>
          </p:cNvSpPr>
          <p:nvPr>
            <p:ph type="sldNum" sz="quarter" idx="12"/>
          </p:nvPr>
        </p:nvSpPr>
        <p:spPr/>
        <p:txBody>
          <a:bodyPr/>
          <a:lstStyle/>
          <a:p>
            <a:fld id="{5AD84F5B-1672-4D3F-9FEC-5DF89A7B7912}" type="slidenum">
              <a:rPr lang="zh-CN" altLang="en-US" smtClean="0"/>
              <a:t>41</a:t>
            </a:fld>
            <a:endParaRPr lang="zh-CN" altLang="en-US"/>
          </a:p>
        </p:txBody>
      </p:sp>
    </p:spTree>
    <p:extLst>
      <p:ext uri="{BB962C8B-B14F-4D97-AF65-F5344CB8AC3E}">
        <p14:creationId xmlns:p14="http://schemas.microsoft.com/office/powerpoint/2010/main" val="540816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Wingdings"/>
              </a:rPr>
              <a:t>连续属性的划分方法</a:t>
            </a:r>
            <a:endParaRPr lang="zh-CN" altLang="en-US" dirty="0"/>
          </a:p>
        </p:txBody>
      </p:sp>
      <p:sp>
        <p:nvSpPr>
          <p:cNvPr id="3" name="内容占位符 2"/>
          <p:cNvSpPr>
            <a:spLocks noGrp="1"/>
          </p:cNvSpPr>
          <p:nvPr>
            <p:ph idx="1"/>
          </p:nvPr>
        </p:nvSpPr>
        <p:spPr/>
        <p:txBody>
          <a:bodyPr>
            <a:normAutofit/>
          </a:bodyPr>
          <a:lstStyle/>
          <a:p>
            <a:r>
              <a:rPr lang="zh-CN" altLang="en-US" dirty="0">
                <a:latin typeface="Times New Roman" pitchFamily="18" charset="0"/>
                <a:cs typeface="Times New Roman" pitchFamily="18" charset="0"/>
              </a:rPr>
              <a:t>多元划分</a:t>
            </a:r>
          </a:p>
          <a:p>
            <a:endParaRPr lang="en-US" altLang="zh-CN" dirty="0">
              <a:latin typeface="Times New Roman" pitchFamily="18" charset="0"/>
              <a:cs typeface="Times New Roman" pitchFamily="18" charset="0"/>
            </a:endParaRPr>
          </a:p>
          <a:p>
            <a:endParaRPr lang="zh-CN" altLang="en-US" dirty="0">
              <a:latin typeface="Times New Roman" pitchFamily="18" charset="0"/>
              <a:cs typeface="Times New Roman" pitchFamily="18" charset="0"/>
            </a:endParaRPr>
          </a:p>
        </p:txBody>
      </p:sp>
      <p:sp>
        <p:nvSpPr>
          <p:cNvPr id="15" name="矩形 14"/>
          <p:cNvSpPr/>
          <p:nvPr/>
        </p:nvSpPr>
        <p:spPr>
          <a:xfrm>
            <a:off x="4932040" y="3298617"/>
            <a:ext cx="746494" cy="427053"/>
          </a:xfrm>
          <a:prstGeom prst="rect">
            <a:avLst/>
          </a:prstGeom>
          <a:solidFill>
            <a:srgbClr val="E4EDF8"/>
          </a:solidFill>
          <a:ln w="6350">
            <a:solidFill>
              <a:schemeClr val="tx2">
                <a:lumMod val="60000"/>
                <a:lumOff val="40000"/>
              </a:schemeClr>
            </a:solidFill>
          </a:ln>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2000" kern="100">
                <a:latin typeface="Times New Roman"/>
                <a:ea typeface="宋体"/>
                <a:cs typeface="Times New Roman"/>
              </a:rPr>
              <a:t> </a:t>
            </a:r>
            <a:endParaRPr lang="zh-CN" altLang="en-US" sz="2800" kern="100">
              <a:latin typeface="Times New Roman"/>
              <a:ea typeface="宋体"/>
              <a:cs typeface="Times New Roman"/>
            </a:endParaRPr>
          </a:p>
        </p:txBody>
      </p:sp>
      <p:sp>
        <p:nvSpPr>
          <p:cNvPr id="16" name="椭圆 15"/>
          <p:cNvSpPr/>
          <p:nvPr/>
        </p:nvSpPr>
        <p:spPr>
          <a:xfrm>
            <a:off x="5914479" y="2276014"/>
            <a:ext cx="1375607" cy="492418"/>
          </a:xfrm>
          <a:prstGeom prst="ellipse">
            <a:avLst/>
          </a:prstGeom>
          <a:solidFill>
            <a:srgbClr val="F2F6EA"/>
          </a:solidFill>
          <a:ln w="9525">
            <a:solidFill>
              <a:schemeClr val="accent1"/>
            </a:solidFill>
          </a:ln>
          <a:effectLst/>
        </p:spPr>
        <p:style>
          <a:lnRef idx="2">
            <a:schemeClr val="accent1"/>
          </a:lnRef>
          <a:fillRef idx="1">
            <a:schemeClr val="l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b="1" kern="100" dirty="0">
                <a:latin typeface="Times New Roman"/>
                <a:ea typeface="宋体"/>
                <a:cs typeface="Times New Roman"/>
              </a:rPr>
              <a:t>Humidity</a:t>
            </a:r>
            <a:endParaRPr lang="zh-CN" altLang="en-US" sz="2400" b="1" kern="100" dirty="0">
              <a:latin typeface="Times New Roman"/>
              <a:ea typeface="宋体"/>
              <a:cs typeface="Times New Roman"/>
            </a:endParaRPr>
          </a:p>
        </p:txBody>
      </p:sp>
      <p:sp>
        <p:nvSpPr>
          <p:cNvPr id="17" name="矩形 16"/>
          <p:cNvSpPr/>
          <p:nvPr/>
        </p:nvSpPr>
        <p:spPr>
          <a:xfrm>
            <a:off x="8290002" y="3295711"/>
            <a:ext cx="746494" cy="427053"/>
          </a:xfrm>
          <a:prstGeom prst="rect">
            <a:avLst/>
          </a:prstGeom>
          <a:solidFill>
            <a:srgbClr val="E4EDF8"/>
          </a:solidFill>
          <a:ln w="6350">
            <a:solidFill>
              <a:schemeClr val="tx2">
                <a:lumMod val="60000"/>
                <a:lumOff val="40000"/>
              </a:schemeClr>
            </a:solidFill>
          </a:ln>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2000" kern="100">
                <a:latin typeface="Times New Roman"/>
                <a:ea typeface="宋体"/>
                <a:cs typeface="Times New Roman"/>
              </a:rPr>
              <a:t> </a:t>
            </a:r>
            <a:endParaRPr lang="zh-CN" altLang="en-US" sz="2800" kern="100">
              <a:latin typeface="Times New Roman"/>
              <a:ea typeface="宋体"/>
              <a:cs typeface="Times New Roman"/>
            </a:endParaRPr>
          </a:p>
        </p:txBody>
      </p:sp>
      <p:cxnSp>
        <p:nvCxnSpPr>
          <p:cNvPr id="18" name="Line 14"/>
          <p:cNvCxnSpPr>
            <a:stCxn id="16" idx="4"/>
            <a:endCxn id="25" idx="0"/>
          </p:cNvCxnSpPr>
          <p:nvPr/>
        </p:nvCxnSpPr>
        <p:spPr bwMode="auto">
          <a:xfrm flipH="1">
            <a:off x="4369183" y="2768432"/>
            <a:ext cx="2233098" cy="54600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Line 14"/>
          <p:cNvCxnSpPr>
            <a:stCxn id="16" idx="4"/>
            <a:endCxn id="17" idx="0"/>
          </p:cNvCxnSpPr>
          <p:nvPr/>
        </p:nvCxnSpPr>
        <p:spPr bwMode="auto">
          <a:xfrm>
            <a:off x="6602281" y="2768433"/>
            <a:ext cx="2060968" cy="527279"/>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矩形 24"/>
          <p:cNvSpPr/>
          <p:nvPr/>
        </p:nvSpPr>
        <p:spPr>
          <a:xfrm>
            <a:off x="3995936" y="3314433"/>
            <a:ext cx="746494" cy="427053"/>
          </a:xfrm>
          <a:prstGeom prst="rect">
            <a:avLst/>
          </a:prstGeom>
          <a:solidFill>
            <a:srgbClr val="E4EDF8"/>
          </a:solidFill>
          <a:ln w="6350">
            <a:solidFill>
              <a:schemeClr val="tx2">
                <a:lumMod val="60000"/>
                <a:lumOff val="40000"/>
              </a:schemeClr>
            </a:solidFill>
          </a:ln>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2000" kern="100">
                <a:latin typeface="Times New Roman"/>
                <a:ea typeface="宋体"/>
                <a:cs typeface="Times New Roman"/>
              </a:rPr>
              <a:t> </a:t>
            </a:r>
            <a:endParaRPr lang="zh-CN" altLang="en-US" sz="2800" kern="100">
              <a:latin typeface="Times New Roman"/>
              <a:ea typeface="宋体"/>
              <a:cs typeface="Times New Roman"/>
            </a:endParaRPr>
          </a:p>
        </p:txBody>
      </p:sp>
      <p:cxnSp>
        <p:nvCxnSpPr>
          <p:cNvPr id="27" name="Line 14"/>
          <p:cNvCxnSpPr>
            <a:stCxn id="16" idx="4"/>
            <a:endCxn id="15" idx="0"/>
          </p:cNvCxnSpPr>
          <p:nvPr/>
        </p:nvCxnSpPr>
        <p:spPr bwMode="auto">
          <a:xfrm flipH="1">
            <a:off x="5305287" y="2768432"/>
            <a:ext cx="1296994" cy="530184"/>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 name="矩形 31"/>
          <p:cNvSpPr/>
          <p:nvPr/>
        </p:nvSpPr>
        <p:spPr>
          <a:xfrm>
            <a:off x="5796136" y="3314433"/>
            <a:ext cx="746494" cy="427053"/>
          </a:xfrm>
          <a:prstGeom prst="rect">
            <a:avLst/>
          </a:prstGeom>
          <a:solidFill>
            <a:srgbClr val="E4EDF8"/>
          </a:solidFill>
          <a:ln w="6350">
            <a:solidFill>
              <a:schemeClr val="tx2">
                <a:lumMod val="60000"/>
                <a:lumOff val="40000"/>
              </a:schemeClr>
            </a:solidFill>
          </a:ln>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2000" kern="100">
                <a:latin typeface="Times New Roman"/>
                <a:ea typeface="宋体"/>
                <a:cs typeface="Times New Roman"/>
              </a:rPr>
              <a:t> </a:t>
            </a:r>
            <a:endParaRPr lang="zh-CN" altLang="en-US" sz="2800" kern="100">
              <a:latin typeface="Times New Roman"/>
              <a:ea typeface="宋体"/>
              <a:cs typeface="Times New Roman"/>
            </a:endParaRPr>
          </a:p>
        </p:txBody>
      </p:sp>
      <p:cxnSp>
        <p:nvCxnSpPr>
          <p:cNvPr id="33" name="Line 14"/>
          <p:cNvCxnSpPr>
            <a:stCxn id="16" idx="4"/>
            <a:endCxn id="32" idx="0"/>
          </p:cNvCxnSpPr>
          <p:nvPr/>
        </p:nvCxnSpPr>
        <p:spPr bwMode="auto">
          <a:xfrm flipH="1">
            <a:off x="6169383" y="2768432"/>
            <a:ext cx="432898" cy="54600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矩形 38"/>
          <p:cNvSpPr/>
          <p:nvPr/>
        </p:nvSpPr>
        <p:spPr>
          <a:xfrm>
            <a:off x="7452320" y="3314432"/>
            <a:ext cx="746494" cy="427053"/>
          </a:xfrm>
          <a:prstGeom prst="rect">
            <a:avLst/>
          </a:prstGeom>
          <a:solidFill>
            <a:srgbClr val="E4EDF8"/>
          </a:solidFill>
          <a:ln w="6350">
            <a:solidFill>
              <a:schemeClr val="tx2">
                <a:lumMod val="60000"/>
                <a:lumOff val="40000"/>
              </a:schemeClr>
            </a:solidFill>
          </a:ln>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2000" kern="100">
                <a:latin typeface="Times New Roman"/>
                <a:ea typeface="宋体"/>
                <a:cs typeface="Times New Roman"/>
              </a:rPr>
              <a:t> </a:t>
            </a:r>
            <a:endParaRPr lang="zh-CN" altLang="en-US" sz="2800" kern="100">
              <a:latin typeface="Times New Roman"/>
              <a:ea typeface="宋体"/>
              <a:cs typeface="Times New Roman"/>
            </a:endParaRPr>
          </a:p>
        </p:txBody>
      </p:sp>
      <p:cxnSp>
        <p:nvCxnSpPr>
          <p:cNvPr id="40" name="Line 14"/>
          <p:cNvCxnSpPr>
            <a:stCxn id="16" idx="4"/>
            <a:endCxn id="39" idx="0"/>
          </p:cNvCxnSpPr>
          <p:nvPr/>
        </p:nvCxnSpPr>
        <p:spPr bwMode="auto">
          <a:xfrm>
            <a:off x="6602281" y="2768433"/>
            <a:ext cx="1223286" cy="545999"/>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Text Box 26"/>
          <p:cNvSpPr txBox="1">
            <a:spLocks noChangeArrowheads="1"/>
          </p:cNvSpPr>
          <p:nvPr/>
        </p:nvSpPr>
        <p:spPr bwMode="auto">
          <a:xfrm>
            <a:off x="6770524" y="3393314"/>
            <a:ext cx="443400" cy="2576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1756" tIns="20878" rIns="41756" bIns="20878">
            <a:spAutoFit/>
          </a:bodyPr>
          <a:lstStyle/>
          <a:p>
            <a:pPr algn="r" fontAlgn="base"/>
            <a:r>
              <a:rPr lang="zh-CN" altLang="en-US" sz="1400" b="1" dirty="0">
                <a:solidFill>
                  <a:srgbClr val="C00000"/>
                </a:solidFill>
                <a:latin typeface="Times New Roman" pitchFamily="18" charset="0"/>
                <a:ea typeface="华文细黑" pitchFamily="2" charset="-122"/>
                <a:cs typeface="Times New Roman" pitchFamily="18" charset="0"/>
              </a:rPr>
              <a:t>……</a:t>
            </a:r>
            <a:endParaRPr lang="zh-CN" altLang="en-US" sz="2800" b="1" dirty="0">
              <a:latin typeface="宋体"/>
              <a:cs typeface="宋体"/>
            </a:endParaRPr>
          </a:p>
        </p:txBody>
      </p:sp>
      <p:sp>
        <p:nvSpPr>
          <p:cNvPr id="20" name="Text Box 26"/>
          <p:cNvSpPr txBox="1">
            <a:spLocks noChangeArrowheads="1"/>
          </p:cNvSpPr>
          <p:nvPr/>
        </p:nvSpPr>
        <p:spPr bwMode="auto">
          <a:xfrm>
            <a:off x="7926752" y="2925509"/>
            <a:ext cx="363250" cy="257607"/>
          </a:xfrm>
          <a:prstGeom prst="rect">
            <a:avLst/>
          </a:prstGeom>
          <a:solidFill>
            <a:srgbClr val="FFFFFF">
              <a:alpha val="43137"/>
            </a:srgbClr>
          </a:solidFill>
          <a:ln>
            <a:noFill/>
          </a:ln>
          <a:effectLst/>
        </p:spPr>
        <p:txBody>
          <a:bodyPr wrap="none" lIns="41756" tIns="20878" rIns="41756" bIns="20878">
            <a:spAutoFit/>
          </a:bodyPr>
          <a:lstStyle>
            <a:defPPr>
              <a:defRPr lang="zh-CN"/>
            </a:defPPr>
            <a:lvl1pPr algn="r" fontAlgn="base">
              <a:spcAft>
                <a:spcPts val="0"/>
              </a:spcAft>
              <a:defRPr sz="1400" b="1">
                <a:solidFill>
                  <a:srgbClr val="C00000"/>
                </a:solidFill>
                <a:latin typeface="Times New Roman" pitchFamily="18" charset="0"/>
                <a:ea typeface="华文细黑" pitchFamily="2" charset="-122"/>
                <a:cs typeface="Times New Roman" pitchFamily="18" charset="0"/>
              </a:defRPr>
            </a:lvl1pPr>
          </a:lstStyle>
          <a:p>
            <a:r>
              <a:rPr lang="en-US" altLang="zh-CN" dirty="0">
                <a:sym typeface="Symbol"/>
              </a:rPr>
              <a:t>96</a:t>
            </a:r>
            <a:endParaRPr lang="zh-CN" altLang="en-US" dirty="0"/>
          </a:p>
        </p:txBody>
      </p:sp>
      <p:sp>
        <p:nvSpPr>
          <p:cNvPr id="21" name="Text Box 26"/>
          <p:cNvSpPr txBox="1">
            <a:spLocks noChangeArrowheads="1"/>
          </p:cNvSpPr>
          <p:nvPr/>
        </p:nvSpPr>
        <p:spPr bwMode="auto">
          <a:xfrm>
            <a:off x="4945646" y="2925509"/>
            <a:ext cx="406531" cy="257607"/>
          </a:xfrm>
          <a:prstGeom prst="rect">
            <a:avLst/>
          </a:prstGeom>
          <a:solidFill>
            <a:srgbClr val="FFFFFF">
              <a:alpha val="43137"/>
            </a:srgbClr>
          </a:solidFill>
          <a:ln>
            <a:noFill/>
          </a:ln>
          <a:effectLst/>
        </p:spPr>
        <p:txBody>
          <a:bodyPr wrap="none" lIns="41756" tIns="20878" rIns="41756" bIns="20878">
            <a:spAutoFit/>
          </a:bodyPr>
          <a:lstStyle>
            <a:defPPr>
              <a:defRPr lang="zh-CN"/>
            </a:defPPr>
            <a:lvl1pPr algn="r" fontAlgn="base">
              <a:spcAft>
                <a:spcPts val="0"/>
              </a:spcAft>
              <a:defRPr sz="1400" b="1">
                <a:solidFill>
                  <a:srgbClr val="C00000"/>
                </a:solidFill>
                <a:latin typeface="Times New Roman" pitchFamily="18" charset="0"/>
                <a:ea typeface="华文细黑" pitchFamily="2" charset="-122"/>
                <a:cs typeface="Times New Roman" pitchFamily="18" charset="0"/>
              </a:defRPr>
            </a:lvl1pPr>
          </a:lstStyle>
          <a:p>
            <a:r>
              <a:rPr lang="en-US" altLang="zh-CN" dirty="0"/>
              <a:t>≤ 65</a:t>
            </a:r>
            <a:endParaRPr lang="zh-CN" altLang="en-US" dirty="0"/>
          </a:p>
        </p:txBody>
      </p:sp>
      <p:sp>
        <p:nvSpPr>
          <p:cNvPr id="30" name="Text Box 26"/>
          <p:cNvSpPr txBox="1">
            <a:spLocks noChangeArrowheads="1"/>
          </p:cNvSpPr>
          <p:nvPr/>
        </p:nvSpPr>
        <p:spPr bwMode="auto">
          <a:xfrm>
            <a:off x="5506394" y="2925509"/>
            <a:ext cx="606907" cy="257607"/>
          </a:xfrm>
          <a:prstGeom prst="rect">
            <a:avLst/>
          </a:prstGeom>
          <a:solidFill>
            <a:srgbClr val="FFFFFF">
              <a:alpha val="43137"/>
            </a:srgbClr>
          </a:solidFill>
          <a:ln>
            <a:noFill/>
          </a:ln>
          <a:effectLst/>
        </p:spPr>
        <p:txBody>
          <a:bodyPr wrap="none" lIns="41756" tIns="20878" rIns="41756" bIns="20878">
            <a:spAutoFit/>
          </a:bodyPr>
          <a:lstStyle/>
          <a:p>
            <a:pPr algn="r" fontAlgn="base"/>
            <a:r>
              <a:rPr lang="en-US" altLang="zh-CN" sz="1400" b="1" dirty="0">
                <a:solidFill>
                  <a:srgbClr val="C00000"/>
                </a:solidFill>
                <a:latin typeface="Times New Roman" pitchFamily="18" charset="0"/>
                <a:ea typeface="华文细黑" pitchFamily="2" charset="-122"/>
                <a:cs typeface="Times New Roman" pitchFamily="18" charset="0"/>
              </a:rPr>
              <a:t>(65 70]</a:t>
            </a:r>
            <a:endParaRPr lang="zh-CN" altLang="en-US" sz="2800" b="1" dirty="0">
              <a:latin typeface="宋体"/>
              <a:cs typeface="宋体"/>
            </a:endParaRPr>
          </a:p>
        </p:txBody>
      </p:sp>
      <p:sp>
        <p:nvSpPr>
          <p:cNvPr id="36" name="Text Box 26"/>
          <p:cNvSpPr txBox="1">
            <a:spLocks noChangeArrowheads="1"/>
          </p:cNvSpPr>
          <p:nvPr/>
        </p:nvSpPr>
        <p:spPr bwMode="auto">
          <a:xfrm>
            <a:off x="6113301" y="2925509"/>
            <a:ext cx="606907" cy="257607"/>
          </a:xfrm>
          <a:prstGeom prst="rect">
            <a:avLst/>
          </a:prstGeom>
          <a:solidFill>
            <a:srgbClr val="FFFFFF">
              <a:alpha val="43137"/>
            </a:srgbClr>
          </a:solidFill>
          <a:ln>
            <a:noFill/>
          </a:ln>
          <a:effectLst/>
        </p:spPr>
        <p:txBody>
          <a:bodyPr wrap="none" lIns="41756" tIns="20878" rIns="41756" bIns="20878">
            <a:spAutoFit/>
          </a:bodyPr>
          <a:lstStyle/>
          <a:p>
            <a:pPr algn="r" fontAlgn="base"/>
            <a:r>
              <a:rPr lang="en-US" altLang="zh-CN" sz="1400" b="1" dirty="0">
                <a:solidFill>
                  <a:srgbClr val="C00000"/>
                </a:solidFill>
                <a:latin typeface="Times New Roman" pitchFamily="18" charset="0"/>
                <a:ea typeface="华文细黑" pitchFamily="2" charset="-122"/>
                <a:cs typeface="Times New Roman" pitchFamily="18" charset="0"/>
              </a:rPr>
              <a:t>(70 75]</a:t>
            </a:r>
            <a:endParaRPr lang="zh-CN" altLang="en-US" sz="2800" b="1" dirty="0">
              <a:latin typeface="宋体"/>
              <a:cs typeface="宋体"/>
            </a:endParaRPr>
          </a:p>
        </p:txBody>
      </p:sp>
      <p:sp>
        <p:nvSpPr>
          <p:cNvPr id="37" name="Text Box 26"/>
          <p:cNvSpPr txBox="1">
            <a:spLocks noChangeArrowheads="1"/>
          </p:cNvSpPr>
          <p:nvPr/>
        </p:nvSpPr>
        <p:spPr bwMode="auto">
          <a:xfrm>
            <a:off x="6853810" y="2925509"/>
            <a:ext cx="382486" cy="257607"/>
          </a:xfrm>
          <a:prstGeom prst="rect">
            <a:avLst/>
          </a:prstGeom>
          <a:solidFill>
            <a:srgbClr val="FFFFFF">
              <a:alpha val="43137"/>
            </a:srgbClr>
          </a:solidFill>
          <a:ln>
            <a:noFill/>
          </a:ln>
          <a:effectLst/>
        </p:spPr>
        <p:txBody>
          <a:bodyPr wrap="none" lIns="41756" tIns="20878" rIns="41756" bIns="20878">
            <a:spAutoFit/>
          </a:bodyPr>
          <a:lstStyle/>
          <a:p>
            <a:pPr algn="r" fontAlgn="base"/>
            <a:r>
              <a:rPr lang="en-US" altLang="zh-CN" sz="1400" b="1" dirty="0">
                <a:solidFill>
                  <a:srgbClr val="C00000"/>
                </a:solidFill>
                <a:latin typeface="Times New Roman" pitchFamily="18" charset="0"/>
                <a:ea typeface="华文细黑" pitchFamily="2" charset="-122"/>
                <a:cs typeface="Times New Roman" pitchFamily="18" charset="0"/>
              </a:rPr>
              <a:t>(</a:t>
            </a:r>
            <a:r>
              <a:rPr lang="zh-CN" altLang="en-US" sz="1400" b="1" dirty="0">
                <a:solidFill>
                  <a:srgbClr val="C00000"/>
                </a:solidFill>
                <a:latin typeface="Times New Roman" pitchFamily="18" charset="0"/>
                <a:ea typeface="华文细黑" pitchFamily="2" charset="-122"/>
                <a:cs typeface="Times New Roman" pitchFamily="18" charset="0"/>
              </a:rPr>
              <a:t>…</a:t>
            </a:r>
            <a:r>
              <a:rPr lang="en-US" altLang="zh-CN" sz="1400" b="1" dirty="0">
                <a:solidFill>
                  <a:srgbClr val="C00000"/>
                </a:solidFill>
                <a:latin typeface="Times New Roman" pitchFamily="18" charset="0"/>
                <a:ea typeface="华文细黑" pitchFamily="2" charset="-122"/>
                <a:cs typeface="Times New Roman" pitchFamily="18" charset="0"/>
              </a:rPr>
              <a:t>]</a:t>
            </a:r>
            <a:endParaRPr lang="zh-CN" altLang="en-US" sz="2800" b="1" dirty="0">
              <a:latin typeface="宋体"/>
              <a:cs typeface="宋体"/>
            </a:endParaRPr>
          </a:p>
        </p:txBody>
      </p:sp>
      <p:sp>
        <p:nvSpPr>
          <p:cNvPr id="43" name="Text Box 26"/>
          <p:cNvSpPr txBox="1">
            <a:spLocks noChangeArrowheads="1"/>
          </p:cNvSpPr>
          <p:nvPr/>
        </p:nvSpPr>
        <p:spPr bwMode="auto">
          <a:xfrm>
            <a:off x="7218662" y="2925509"/>
            <a:ext cx="606907" cy="257607"/>
          </a:xfrm>
          <a:prstGeom prst="rect">
            <a:avLst/>
          </a:prstGeom>
          <a:solidFill>
            <a:srgbClr val="FFFFFF">
              <a:alpha val="43137"/>
            </a:srgbClr>
          </a:solidFill>
          <a:ln>
            <a:noFill/>
          </a:ln>
          <a:effectLst/>
        </p:spPr>
        <p:txBody>
          <a:bodyPr wrap="none" lIns="41756" tIns="20878" rIns="41756" bIns="20878">
            <a:spAutoFit/>
          </a:bodyPr>
          <a:lstStyle/>
          <a:p>
            <a:pPr algn="r" fontAlgn="base"/>
            <a:r>
              <a:rPr lang="en-US" altLang="zh-CN" sz="1400" b="1" dirty="0">
                <a:solidFill>
                  <a:srgbClr val="C00000"/>
                </a:solidFill>
                <a:latin typeface="Times New Roman" pitchFamily="18" charset="0"/>
                <a:ea typeface="华文细黑" pitchFamily="2" charset="-122"/>
                <a:cs typeface="Times New Roman" pitchFamily="18" charset="0"/>
              </a:rPr>
              <a:t>(91 95]</a:t>
            </a:r>
            <a:endParaRPr lang="zh-CN" altLang="en-US" sz="2800" b="1" dirty="0">
              <a:latin typeface="宋体"/>
              <a:cs typeface="宋体"/>
            </a:endParaRPr>
          </a:p>
        </p:txBody>
      </p:sp>
      <p:graphicFrame>
        <p:nvGraphicFramePr>
          <p:cNvPr id="45" name="表格 44"/>
          <p:cNvGraphicFramePr>
            <a:graphicFrameLocks noGrp="1"/>
          </p:cNvGraphicFramePr>
          <p:nvPr/>
        </p:nvGraphicFramePr>
        <p:xfrm>
          <a:off x="1259634" y="2253163"/>
          <a:ext cx="1312821" cy="3703314"/>
        </p:xfrm>
        <a:graphic>
          <a:graphicData uri="http://schemas.openxmlformats.org/drawingml/2006/table">
            <a:tbl>
              <a:tblPr firstRow="1" firstCol="1" bandRow="1">
                <a:tableStyleId>{2D5ABB26-0587-4C30-8999-92F81FD0307C}</a:tableStyleId>
              </a:tblPr>
              <a:tblGrid>
                <a:gridCol w="1312821">
                  <a:extLst>
                    <a:ext uri="{9D8B030D-6E8A-4147-A177-3AD203B41FA5}">
                      <a16:colId xmlns:a16="http://schemas.microsoft.com/office/drawing/2014/main" val="20000"/>
                    </a:ext>
                  </a:extLst>
                </a:gridCol>
              </a:tblGrid>
              <a:tr h="249006">
                <a:tc>
                  <a:txBody>
                    <a:bodyPr/>
                    <a:lstStyle/>
                    <a:p>
                      <a:pPr algn="ctr">
                        <a:spcAft>
                          <a:spcPts val="0"/>
                        </a:spcAft>
                      </a:pPr>
                      <a:r>
                        <a:rPr lang="en-US" sz="1400" kern="100" dirty="0">
                          <a:effectLst/>
                          <a:latin typeface="Times New Roman" pitchFamily="18" charset="0"/>
                        </a:rPr>
                        <a:t>Humidity</a:t>
                      </a:r>
                      <a:endParaRPr lang="zh-CN" sz="2200" kern="100" dirty="0">
                        <a:effectLst/>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924">
                <a:tc>
                  <a:txBody>
                    <a:bodyPr/>
                    <a:lstStyle/>
                    <a:p>
                      <a:pPr algn="ctr">
                        <a:spcAft>
                          <a:spcPts val="0"/>
                        </a:spcAft>
                      </a:pPr>
                      <a:r>
                        <a:rPr lang="en-US" sz="1400" kern="100" dirty="0">
                          <a:effectLst/>
                          <a:latin typeface="Times New Roman" pitchFamily="18" charset="0"/>
                        </a:rPr>
                        <a:t>85</a:t>
                      </a:r>
                      <a:endParaRPr lang="zh-CN" sz="22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43924">
                <a:tc>
                  <a:txBody>
                    <a:bodyPr/>
                    <a:lstStyle/>
                    <a:p>
                      <a:pPr algn="ctr">
                        <a:spcAft>
                          <a:spcPts val="0"/>
                        </a:spcAft>
                      </a:pPr>
                      <a:r>
                        <a:rPr lang="en-US" sz="1400" kern="100" dirty="0">
                          <a:effectLst/>
                          <a:latin typeface="Times New Roman" pitchFamily="18" charset="0"/>
                        </a:rPr>
                        <a:t>90</a:t>
                      </a:r>
                      <a:endParaRPr lang="zh-CN" sz="22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43924">
                <a:tc>
                  <a:txBody>
                    <a:bodyPr/>
                    <a:lstStyle/>
                    <a:p>
                      <a:pPr algn="ctr">
                        <a:spcAft>
                          <a:spcPts val="0"/>
                        </a:spcAft>
                      </a:pPr>
                      <a:r>
                        <a:rPr lang="en-US" sz="1400" kern="100" dirty="0">
                          <a:effectLst/>
                          <a:latin typeface="Times New Roman" pitchFamily="18" charset="0"/>
                        </a:rPr>
                        <a:t>86</a:t>
                      </a:r>
                      <a:endParaRPr lang="zh-CN" sz="22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43924">
                <a:tc>
                  <a:txBody>
                    <a:bodyPr/>
                    <a:lstStyle/>
                    <a:p>
                      <a:pPr algn="ctr">
                        <a:spcAft>
                          <a:spcPts val="0"/>
                        </a:spcAft>
                      </a:pPr>
                      <a:r>
                        <a:rPr lang="en-US" sz="1400" kern="100" dirty="0">
                          <a:effectLst/>
                          <a:latin typeface="Times New Roman" pitchFamily="18" charset="0"/>
                        </a:rPr>
                        <a:t>96</a:t>
                      </a:r>
                      <a:endParaRPr lang="zh-CN" sz="22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43924">
                <a:tc>
                  <a:txBody>
                    <a:bodyPr/>
                    <a:lstStyle/>
                    <a:p>
                      <a:pPr algn="ctr">
                        <a:spcAft>
                          <a:spcPts val="0"/>
                        </a:spcAft>
                      </a:pPr>
                      <a:r>
                        <a:rPr lang="en-US" sz="1400" kern="100" dirty="0">
                          <a:effectLst/>
                          <a:latin typeface="Times New Roman" pitchFamily="18" charset="0"/>
                        </a:rPr>
                        <a:t>80</a:t>
                      </a:r>
                      <a:endParaRPr lang="zh-CN" sz="22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83296">
                <a:tc>
                  <a:txBody>
                    <a:bodyPr/>
                    <a:lstStyle/>
                    <a:p>
                      <a:pPr algn="ctr">
                        <a:spcAft>
                          <a:spcPts val="0"/>
                        </a:spcAft>
                      </a:pPr>
                      <a:r>
                        <a:rPr lang="en-US" sz="1400" kern="100" dirty="0">
                          <a:effectLst/>
                          <a:latin typeface="Times New Roman" pitchFamily="18" charset="0"/>
                        </a:rPr>
                        <a:t>70</a:t>
                      </a:r>
                      <a:endParaRPr lang="zh-CN" sz="22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43924">
                <a:tc>
                  <a:txBody>
                    <a:bodyPr/>
                    <a:lstStyle/>
                    <a:p>
                      <a:pPr algn="ctr">
                        <a:spcAft>
                          <a:spcPts val="0"/>
                        </a:spcAft>
                      </a:pPr>
                      <a:r>
                        <a:rPr lang="en-US" sz="1400" kern="100" dirty="0">
                          <a:effectLst/>
                          <a:latin typeface="Times New Roman" pitchFamily="18" charset="0"/>
                        </a:rPr>
                        <a:t>65</a:t>
                      </a:r>
                      <a:endParaRPr lang="zh-CN" sz="22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43924">
                <a:tc>
                  <a:txBody>
                    <a:bodyPr/>
                    <a:lstStyle/>
                    <a:p>
                      <a:pPr algn="ctr">
                        <a:spcAft>
                          <a:spcPts val="0"/>
                        </a:spcAft>
                      </a:pPr>
                      <a:r>
                        <a:rPr lang="en-US" sz="1400" kern="100" dirty="0">
                          <a:effectLst/>
                          <a:latin typeface="Times New Roman" pitchFamily="18" charset="0"/>
                        </a:rPr>
                        <a:t>95</a:t>
                      </a:r>
                      <a:endParaRPr lang="zh-CN" sz="22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43924">
                <a:tc>
                  <a:txBody>
                    <a:bodyPr/>
                    <a:lstStyle/>
                    <a:p>
                      <a:pPr algn="ctr">
                        <a:spcAft>
                          <a:spcPts val="0"/>
                        </a:spcAft>
                      </a:pPr>
                      <a:r>
                        <a:rPr lang="en-US" sz="1400" kern="100" dirty="0">
                          <a:effectLst/>
                          <a:latin typeface="Times New Roman" pitchFamily="18" charset="0"/>
                        </a:rPr>
                        <a:t>70</a:t>
                      </a:r>
                      <a:endParaRPr lang="zh-CN" sz="22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43924">
                <a:tc>
                  <a:txBody>
                    <a:bodyPr/>
                    <a:lstStyle/>
                    <a:p>
                      <a:pPr algn="ctr">
                        <a:spcAft>
                          <a:spcPts val="0"/>
                        </a:spcAft>
                      </a:pPr>
                      <a:r>
                        <a:rPr lang="en-US" sz="1400" kern="100" dirty="0">
                          <a:effectLst/>
                          <a:latin typeface="Times New Roman" pitchFamily="18" charset="0"/>
                        </a:rPr>
                        <a:t>80</a:t>
                      </a:r>
                      <a:endParaRPr lang="zh-CN" sz="22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43924">
                <a:tc>
                  <a:txBody>
                    <a:bodyPr/>
                    <a:lstStyle/>
                    <a:p>
                      <a:pPr algn="ctr">
                        <a:spcAft>
                          <a:spcPts val="0"/>
                        </a:spcAft>
                      </a:pPr>
                      <a:r>
                        <a:rPr lang="en-US" sz="1400" kern="100" dirty="0">
                          <a:effectLst/>
                          <a:latin typeface="Times New Roman" pitchFamily="18" charset="0"/>
                        </a:rPr>
                        <a:t>70</a:t>
                      </a:r>
                      <a:endParaRPr lang="zh-CN" sz="22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243924">
                <a:tc>
                  <a:txBody>
                    <a:bodyPr/>
                    <a:lstStyle/>
                    <a:p>
                      <a:pPr algn="ctr">
                        <a:spcAft>
                          <a:spcPts val="0"/>
                        </a:spcAft>
                      </a:pPr>
                      <a:r>
                        <a:rPr lang="en-US" sz="1400" kern="100" dirty="0">
                          <a:effectLst/>
                          <a:latin typeface="Times New Roman" pitchFamily="18" charset="0"/>
                        </a:rPr>
                        <a:t>90</a:t>
                      </a:r>
                      <a:endParaRPr lang="zh-CN" sz="22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43924">
                <a:tc>
                  <a:txBody>
                    <a:bodyPr/>
                    <a:lstStyle/>
                    <a:p>
                      <a:pPr algn="ctr">
                        <a:spcAft>
                          <a:spcPts val="0"/>
                        </a:spcAft>
                      </a:pPr>
                      <a:r>
                        <a:rPr lang="en-US" sz="1400" kern="100" dirty="0">
                          <a:effectLst/>
                          <a:latin typeface="Times New Roman" pitchFamily="18" charset="0"/>
                        </a:rPr>
                        <a:t>75</a:t>
                      </a:r>
                      <a:endParaRPr lang="zh-CN" sz="22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43924">
                <a:tc>
                  <a:txBody>
                    <a:bodyPr/>
                    <a:lstStyle/>
                    <a:p>
                      <a:pPr algn="ctr">
                        <a:spcAft>
                          <a:spcPts val="0"/>
                        </a:spcAft>
                      </a:pPr>
                      <a:r>
                        <a:rPr lang="en-US" sz="1400" kern="100" dirty="0">
                          <a:effectLst/>
                          <a:latin typeface="Times New Roman" pitchFamily="18" charset="0"/>
                        </a:rPr>
                        <a:t>91</a:t>
                      </a:r>
                      <a:endParaRPr lang="zh-CN" sz="22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bl>
          </a:graphicData>
        </a:graphic>
      </p:graphicFrame>
      <p:graphicFrame>
        <p:nvGraphicFramePr>
          <p:cNvPr id="46" name="表格 45"/>
          <p:cNvGraphicFramePr>
            <a:graphicFrameLocks noGrp="1"/>
          </p:cNvGraphicFramePr>
          <p:nvPr/>
        </p:nvGraphicFramePr>
        <p:xfrm>
          <a:off x="1259634" y="2253162"/>
          <a:ext cx="1312821" cy="3703326"/>
        </p:xfrm>
        <a:graphic>
          <a:graphicData uri="http://schemas.openxmlformats.org/drawingml/2006/table">
            <a:tbl>
              <a:tblPr firstRow="1" firstCol="1" bandRow="1">
                <a:tableStyleId>{2D5ABB26-0587-4C30-8999-92F81FD0307C}</a:tableStyleId>
              </a:tblPr>
              <a:tblGrid>
                <a:gridCol w="1312821">
                  <a:extLst>
                    <a:ext uri="{9D8B030D-6E8A-4147-A177-3AD203B41FA5}">
                      <a16:colId xmlns:a16="http://schemas.microsoft.com/office/drawing/2014/main" val="20000"/>
                    </a:ext>
                  </a:extLst>
                </a:gridCol>
              </a:tblGrid>
              <a:tr h="239138">
                <a:tc>
                  <a:txBody>
                    <a:bodyPr/>
                    <a:lstStyle/>
                    <a:p>
                      <a:pPr algn="ctr">
                        <a:spcAft>
                          <a:spcPts val="0"/>
                        </a:spcAft>
                      </a:pPr>
                      <a:r>
                        <a:rPr lang="en-US" sz="1400" kern="100" dirty="0">
                          <a:effectLst/>
                          <a:latin typeface="Times New Roman" pitchFamily="18" charset="0"/>
                        </a:rPr>
                        <a:t>Humidity</a:t>
                      </a:r>
                      <a:endParaRPr lang="zh-CN" sz="2200" kern="100" dirty="0">
                        <a:effectLst/>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0"/>
                  </a:ext>
                </a:extLst>
              </a:tr>
              <a:tr h="247442">
                <a:tc>
                  <a:txBody>
                    <a:bodyPr/>
                    <a:lstStyle/>
                    <a:p>
                      <a:pPr algn="ctr" rtl="0" fontAlgn="ctr"/>
                      <a:r>
                        <a:rPr lang="en-US" altLang="zh-CN" sz="1400" b="0" i="0" u="none" strike="noStrike" dirty="0">
                          <a:solidFill>
                            <a:srgbClr val="000000"/>
                          </a:solidFill>
                          <a:effectLst/>
                          <a:latin typeface="Times New Roman" pitchFamily="18" charset="0"/>
                        </a:rPr>
                        <a:t>65</a:t>
                      </a:r>
                    </a:p>
                  </a:txBody>
                  <a:tcPr marL="9525" marR="9525" marT="85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1"/>
                  </a:ext>
                </a:extLst>
              </a:tr>
              <a:tr h="247442">
                <a:tc>
                  <a:txBody>
                    <a:bodyPr/>
                    <a:lstStyle/>
                    <a:p>
                      <a:pPr algn="ctr" rtl="0" fontAlgn="ctr"/>
                      <a:r>
                        <a:rPr lang="en-US" altLang="zh-CN" sz="1400" b="0" i="0" u="none" strike="noStrike" dirty="0">
                          <a:solidFill>
                            <a:srgbClr val="000000"/>
                          </a:solidFill>
                          <a:effectLst/>
                          <a:latin typeface="Times New Roman" pitchFamily="18" charset="0"/>
                        </a:rPr>
                        <a:t>70</a:t>
                      </a:r>
                    </a:p>
                  </a:txBody>
                  <a:tcPr marL="9525" marR="9525" marT="85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2"/>
                  </a:ext>
                </a:extLst>
              </a:tr>
              <a:tr h="247442">
                <a:tc>
                  <a:txBody>
                    <a:bodyPr/>
                    <a:lstStyle/>
                    <a:p>
                      <a:pPr algn="ctr" rtl="0" fontAlgn="ctr"/>
                      <a:r>
                        <a:rPr lang="en-US" altLang="zh-CN" sz="1400" b="0" i="0" u="none" strike="noStrike" dirty="0">
                          <a:solidFill>
                            <a:srgbClr val="000000"/>
                          </a:solidFill>
                          <a:effectLst/>
                          <a:latin typeface="Times New Roman" pitchFamily="18" charset="0"/>
                        </a:rPr>
                        <a:t>70</a:t>
                      </a:r>
                    </a:p>
                  </a:txBody>
                  <a:tcPr marL="9525" marR="9525" marT="85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3"/>
                  </a:ext>
                </a:extLst>
              </a:tr>
              <a:tr h="247442">
                <a:tc>
                  <a:txBody>
                    <a:bodyPr/>
                    <a:lstStyle/>
                    <a:p>
                      <a:pPr algn="ctr" rtl="0" fontAlgn="ctr"/>
                      <a:r>
                        <a:rPr lang="en-US" altLang="zh-CN" sz="1400" b="0" i="0" u="none" strike="noStrike" dirty="0">
                          <a:solidFill>
                            <a:srgbClr val="000000"/>
                          </a:solidFill>
                          <a:effectLst/>
                          <a:latin typeface="Times New Roman" pitchFamily="18" charset="0"/>
                        </a:rPr>
                        <a:t>70</a:t>
                      </a:r>
                    </a:p>
                  </a:txBody>
                  <a:tcPr marL="9525" marR="9525" marT="85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4"/>
                  </a:ext>
                </a:extLst>
              </a:tr>
              <a:tr h="247442">
                <a:tc>
                  <a:txBody>
                    <a:bodyPr/>
                    <a:lstStyle/>
                    <a:p>
                      <a:pPr algn="ctr" rtl="0" fontAlgn="ctr"/>
                      <a:r>
                        <a:rPr lang="en-US" altLang="zh-CN" sz="1400" b="0" i="0" u="none" strike="noStrike" dirty="0">
                          <a:solidFill>
                            <a:srgbClr val="000000"/>
                          </a:solidFill>
                          <a:effectLst/>
                          <a:latin typeface="Times New Roman" pitchFamily="18" charset="0"/>
                        </a:rPr>
                        <a:t>75</a:t>
                      </a:r>
                    </a:p>
                  </a:txBody>
                  <a:tcPr marL="9525" marR="9525" marT="85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5"/>
                  </a:ext>
                </a:extLst>
              </a:tr>
              <a:tr h="247442">
                <a:tc>
                  <a:txBody>
                    <a:bodyPr/>
                    <a:lstStyle/>
                    <a:p>
                      <a:pPr algn="ctr" rtl="0" fontAlgn="ctr"/>
                      <a:r>
                        <a:rPr lang="en-US" altLang="zh-CN" sz="1400" b="0" i="0" u="none" strike="noStrike" dirty="0">
                          <a:solidFill>
                            <a:srgbClr val="000000"/>
                          </a:solidFill>
                          <a:effectLst/>
                          <a:latin typeface="Times New Roman" pitchFamily="18" charset="0"/>
                        </a:rPr>
                        <a:t>80</a:t>
                      </a:r>
                    </a:p>
                  </a:txBody>
                  <a:tcPr marL="9525" marR="9525" marT="85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6"/>
                  </a:ext>
                </a:extLst>
              </a:tr>
              <a:tr h="247442">
                <a:tc>
                  <a:txBody>
                    <a:bodyPr/>
                    <a:lstStyle/>
                    <a:p>
                      <a:pPr algn="ctr" rtl="0" fontAlgn="ctr"/>
                      <a:r>
                        <a:rPr lang="en-US" altLang="zh-CN" sz="1400" b="0" i="0" u="none" strike="noStrike" dirty="0">
                          <a:solidFill>
                            <a:srgbClr val="000000"/>
                          </a:solidFill>
                          <a:effectLst/>
                          <a:latin typeface="Times New Roman" pitchFamily="18" charset="0"/>
                        </a:rPr>
                        <a:t>80</a:t>
                      </a:r>
                    </a:p>
                  </a:txBody>
                  <a:tcPr marL="9525" marR="9525" marT="85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7"/>
                  </a:ext>
                </a:extLst>
              </a:tr>
              <a:tr h="247442">
                <a:tc>
                  <a:txBody>
                    <a:bodyPr/>
                    <a:lstStyle/>
                    <a:p>
                      <a:pPr algn="ctr" rtl="0" fontAlgn="ctr"/>
                      <a:r>
                        <a:rPr lang="en-US" altLang="zh-CN" sz="1400" b="0" i="0" u="none" strike="noStrike" dirty="0">
                          <a:solidFill>
                            <a:srgbClr val="000000"/>
                          </a:solidFill>
                          <a:effectLst/>
                          <a:latin typeface="Times New Roman" pitchFamily="18" charset="0"/>
                        </a:rPr>
                        <a:t>85</a:t>
                      </a:r>
                    </a:p>
                  </a:txBody>
                  <a:tcPr marL="9525" marR="9525" marT="85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8"/>
                  </a:ext>
                </a:extLst>
              </a:tr>
              <a:tr h="247442">
                <a:tc>
                  <a:txBody>
                    <a:bodyPr/>
                    <a:lstStyle/>
                    <a:p>
                      <a:pPr algn="ctr" rtl="0" fontAlgn="ctr"/>
                      <a:r>
                        <a:rPr lang="en-US" altLang="zh-CN" sz="1400" b="0" i="0" u="none" strike="noStrike" dirty="0">
                          <a:solidFill>
                            <a:srgbClr val="000000"/>
                          </a:solidFill>
                          <a:effectLst/>
                          <a:latin typeface="Times New Roman" pitchFamily="18" charset="0"/>
                        </a:rPr>
                        <a:t>86</a:t>
                      </a:r>
                    </a:p>
                  </a:txBody>
                  <a:tcPr marL="9525" marR="9525" marT="85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9"/>
                  </a:ext>
                </a:extLst>
              </a:tr>
              <a:tr h="247442">
                <a:tc>
                  <a:txBody>
                    <a:bodyPr/>
                    <a:lstStyle/>
                    <a:p>
                      <a:pPr algn="ctr" rtl="0" fontAlgn="ctr"/>
                      <a:r>
                        <a:rPr lang="en-US" altLang="zh-CN" sz="1400" b="0" i="0" u="none" strike="noStrike" dirty="0">
                          <a:solidFill>
                            <a:srgbClr val="000000"/>
                          </a:solidFill>
                          <a:effectLst/>
                          <a:latin typeface="Times New Roman" pitchFamily="18" charset="0"/>
                        </a:rPr>
                        <a:t>90</a:t>
                      </a:r>
                    </a:p>
                  </a:txBody>
                  <a:tcPr marL="9525" marR="9525" marT="85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10"/>
                  </a:ext>
                </a:extLst>
              </a:tr>
              <a:tr h="247442">
                <a:tc>
                  <a:txBody>
                    <a:bodyPr/>
                    <a:lstStyle/>
                    <a:p>
                      <a:pPr algn="ctr" rtl="0" fontAlgn="ctr"/>
                      <a:r>
                        <a:rPr lang="en-US" altLang="zh-CN" sz="1400" b="0" i="0" u="none" strike="noStrike" dirty="0">
                          <a:solidFill>
                            <a:srgbClr val="000000"/>
                          </a:solidFill>
                          <a:effectLst/>
                          <a:latin typeface="Times New Roman" pitchFamily="18" charset="0"/>
                        </a:rPr>
                        <a:t>90</a:t>
                      </a:r>
                    </a:p>
                  </a:txBody>
                  <a:tcPr marL="9525" marR="9525" marT="85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11"/>
                  </a:ext>
                </a:extLst>
              </a:tr>
              <a:tr h="247442">
                <a:tc>
                  <a:txBody>
                    <a:bodyPr/>
                    <a:lstStyle/>
                    <a:p>
                      <a:pPr algn="ctr" rtl="0" fontAlgn="ctr"/>
                      <a:r>
                        <a:rPr lang="en-US" altLang="zh-CN" sz="1400" b="0" i="0" u="none" strike="noStrike" dirty="0">
                          <a:solidFill>
                            <a:srgbClr val="000000"/>
                          </a:solidFill>
                          <a:effectLst/>
                          <a:latin typeface="Times New Roman" pitchFamily="18" charset="0"/>
                        </a:rPr>
                        <a:t>91</a:t>
                      </a:r>
                    </a:p>
                  </a:txBody>
                  <a:tcPr marL="9525" marR="9525" marT="85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12"/>
                  </a:ext>
                </a:extLst>
              </a:tr>
              <a:tr h="247442">
                <a:tc>
                  <a:txBody>
                    <a:bodyPr/>
                    <a:lstStyle/>
                    <a:p>
                      <a:pPr algn="ctr" rtl="0" fontAlgn="ctr"/>
                      <a:r>
                        <a:rPr lang="en-US" altLang="zh-CN" sz="1400" b="0" i="0" u="none" strike="noStrike" dirty="0">
                          <a:solidFill>
                            <a:srgbClr val="000000"/>
                          </a:solidFill>
                          <a:effectLst/>
                          <a:latin typeface="Times New Roman" pitchFamily="18" charset="0"/>
                        </a:rPr>
                        <a:t>95</a:t>
                      </a:r>
                    </a:p>
                  </a:txBody>
                  <a:tcPr marL="9525" marR="9525" marT="85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13"/>
                  </a:ext>
                </a:extLst>
              </a:tr>
              <a:tr h="247442">
                <a:tc>
                  <a:txBody>
                    <a:bodyPr/>
                    <a:lstStyle/>
                    <a:p>
                      <a:pPr algn="ctr" rtl="0" fontAlgn="ctr"/>
                      <a:r>
                        <a:rPr lang="en-US" altLang="zh-CN" sz="1400" b="0" i="0" u="none" strike="noStrike" dirty="0">
                          <a:solidFill>
                            <a:srgbClr val="000000"/>
                          </a:solidFill>
                          <a:effectLst/>
                          <a:latin typeface="Times New Roman" pitchFamily="18" charset="0"/>
                        </a:rPr>
                        <a:t>96</a:t>
                      </a:r>
                    </a:p>
                  </a:txBody>
                  <a:tcPr marL="9525" marR="9525" marT="85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14"/>
                  </a:ext>
                </a:extLst>
              </a:tr>
            </a:tbl>
          </a:graphicData>
        </a:graphic>
      </p:graphicFrame>
      <p:cxnSp>
        <p:nvCxnSpPr>
          <p:cNvPr id="13" name="直接连接符 12"/>
          <p:cNvCxnSpPr/>
          <p:nvPr/>
        </p:nvCxnSpPr>
        <p:spPr>
          <a:xfrm>
            <a:off x="1187624" y="5712254"/>
            <a:ext cx="1440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1187624" y="5463741"/>
            <a:ext cx="1440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187624" y="5213597"/>
            <a:ext cx="1440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187624" y="4725144"/>
            <a:ext cx="1440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1187624" y="4465915"/>
            <a:ext cx="1440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1187624" y="4223831"/>
            <a:ext cx="1440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1187624" y="3726092"/>
            <a:ext cx="1440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1190005" y="3480948"/>
            <a:ext cx="1440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1190005" y="2741839"/>
            <a:ext cx="1440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页脚占位符 3">
            <a:extLst>
              <a:ext uri="{FF2B5EF4-FFF2-40B4-BE49-F238E27FC236}">
                <a16:creationId xmlns:a16="http://schemas.microsoft.com/office/drawing/2014/main" id="{A010EC45-0F6E-4090-81AB-DDA1CCBDF8F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97F5104-04BD-4A39-B334-F63C022D3EBA}"/>
              </a:ext>
            </a:extLst>
          </p:cNvPr>
          <p:cNvSpPr>
            <a:spLocks noGrp="1"/>
          </p:cNvSpPr>
          <p:nvPr>
            <p:ph type="sldNum" sz="quarter" idx="12"/>
          </p:nvPr>
        </p:nvSpPr>
        <p:spPr/>
        <p:txBody>
          <a:bodyPr/>
          <a:lstStyle/>
          <a:p>
            <a:fld id="{5AD84F5B-1672-4D3F-9FEC-5DF89A7B7912}" type="slidenum">
              <a:rPr lang="zh-CN" altLang="en-US" smtClean="0"/>
              <a:t>42</a:t>
            </a:fld>
            <a:endParaRPr lang="zh-CN" altLang="en-US"/>
          </a:p>
        </p:txBody>
      </p:sp>
    </p:spTree>
    <p:extLst>
      <p:ext uri="{BB962C8B-B14F-4D97-AF65-F5344CB8AC3E}">
        <p14:creationId xmlns:p14="http://schemas.microsoft.com/office/powerpoint/2010/main" val="284521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Wingdings"/>
              </a:rPr>
              <a:t>连续属性的划分方法</a:t>
            </a:r>
            <a:endParaRPr lang="zh-CN" altLang="en-US" dirty="0"/>
          </a:p>
        </p:txBody>
      </p:sp>
      <p:sp>
        <p:nvSpPr>
          <p:cNvPr id="3" name="内容占位符 2"/>
          <p:cNvSpPr>
            <a:spLocks noGrp="1"/>
          </p:cNvSpPr>
          <p:nvPr>
            <p:ph idx="1"/>
          </p:nvPr>
        </p:nvSpPr>
        <p:spPr/>
        <p:txBody>
          <a:bodyPr>
            <a:normAutofit/>
          </a:bodyPr>
          <a:lstStyle/>
          <a:p>
            <a:r>
              <a:rPr lang="zh-CN" altLang="en-US" dirty="0">
                <a:latin typeface="Times New Roman" pitchFamily="18" charset="0"/>
                <a:cs typeface="Times New Roman" pitchFamily="18" charset="0"/>
              </a:rPr>
              <a:t>二元划分</a:t>
            </a:r>
          </a:p>
          <a:p>
            <a:pPr lvl="1"/>
            <a:r>
              <a:rPr lang="zh-CN" altLang="en-US" dirty="0">
                <a:latin typeface="Times New Roman" pitchFamily="18" charset="0"/>
                <a:cs typeface="Times New Roman" pitchFamily="18" charset="0"/>
              </a:rPr>
              <a:t>划分点</a:t>
            </a:r>
            <a:r>
              <a:rPr lang="en-US" altLang="zh-CN" i="1" dirty="0">
                <a:latin typeface="Times New Roman" pitchFamily="18" charset="0"/>
                <a:cs typeface="Times New Roman" pitchFamily="18" charset="0"/>
              </a:rPr>
              <a:t>v</a:t>
            </a:r>
            <a:r>
              <a:rPr lang="zh-CN" altLang="en-US" dirty="0">
                <a:latin typeface="Times New Roman" pitchFamily="18" charset="0"/>
                <a:cs typeface="Times New Roman" pitchFamily="18" charset="0"/>
              </a:rPr>
              <a:t>选择</a:t>
            </a:r>
          </a:p>
          <a:p>
            <a:pPr lvl="2"/>
            <a:r>
              <a:rPr lang="en-US" altLang="zh-CN" i="1" dirty="0">
                <a:latin typeface="Times New Roman" pitchFamily="18" charset="0"/>
                <a:cs typeface="Times New Roman" pitchFamily="18" charset="0"/>
              </a:rPr>
              <a:t>N</a:t>
            </a:r>
            <a:r>
              <a:rPr lang="zh-CN" altLang="en-US" dirty="0">
                <a:latin typeface="Times New Roman" pitchFamily="18" charset="0"/>
                <a:cs typeface="Times New Roman" pitchFamily="18" charset="0"/>
              </a:rPr>
              <a:t>个记录中所有属性值作为划分点，取</a:t>
            </a:r>
            <a:r>
              <a:rPr lang="en-US" altLang="zh-CN" i="1" dirty="0">
                <a:latin typeface="Times New Roman" pitchFamily="18" charset="0"/>
                <a:cs typeface="Times New Roman" pitchFamily="18" charset="0"/>
              </a:rPr>
              <a:t>N</a:t>
            </a:r>
            <a:r>
              <a:rPr lang="en-US" altLang="zh-CN" dirty="0">
                <a:latin typeface="Times New Roman" pitchFamily="18" charset="0"/>
                <a:cs typeface="Times New Roman" pitchFamily="18" charset="0"/>
              </a:rPr>
              <a:t>-1</a:t>
            </a:r>
            <a:r>
              <a:rPr lang="zh-CN" altLang="en-US" dirty="0">
                <a:latin typeface="Times New Roman" pitchFamily="18" charset="0"/>
                <a:cs typeface="Times New Roman" pitchFamily="18" charset="0"/>
              </a:rPr>
              <a:t>个划分点</a:t>
            </a:r>
          </a:p>
          <a:p>
            <a:pPr lvl="2"/>
            <a:r>
              <a:rPr lang="zh-CN" altLang="en-US" dirty="0">
                <a:latin typeface="Times New Roman" pitchFamily="18" charset="0"/>
                <a:cs typeface="Times New Roman" pitchFamily="18" charset="0"/>
              </a:rPr>
              <a:t>按照每个划分点（</a:t>
            </a:r>
            <a:r>
              <a:rPr lang="en-US" altLang="zh-CN" dirty="0">
                <a:latin typeface="Times New Roman" pitchFamily="18" charset="0"/>
                <a:cs typeface="Times New Roman" pitchFamily="18" charset="0"/>
              </a:rPr>
              <a:t>A &lt; </a:t>
            </a:r>
            <a:r>
              <a:rPr lang="en-US" altLang="zh-CN" i="1" dirty="0">
                <a:latin typeface="Times New Roman" pitchFamily="18" charset="0"/>
                <a:cs typeface="Times New Roman" pitchFamily="18" charset="0"/>
              </a:rPr>
              <a:t>v</a:t>
            </a:r>
            <a:r>
              <a:rPr lang="en-US" altLang="zh-CN" i="1" baseline="-25000" dirty="0">
                <a:latin typeface="Times New Roman" pitchFamily="18" charset="0"/>
                <a:cs typeface="Times New Roman" pitchFamily="18" charset="0"/>
              </a:rPr>
              <a:t>i</a:t>
            </a:r>
            <a:r>
              <a:rPr lang="en-US" altLang="zh-CN" dirty="0">
                <a:latin typeface="Times New Roman" pitchFamily="18" charset="0"/>
                <a:cs typeface="Times New Roman" pitchFamily="18" charset="0"/>
              </a:rPr>
              <a:t> and A </a:t>
            </a:r>
            <a:r>
              <a:rPr lang="en-US" altLang="zh-CN" dirty="0">
                <a:latin typeface="Times New Roman" pitchFamily="18" charset="0"/>
                <a:cs typeface="Times New Roman" pitchFamily="18" charset="0"/>
                <a:sym typeface="Symbol" pitchFamily="18" charset="2"/>
              </a:rPr>
              <a:t></a:t>
            </a:r>
            <a:r>
              <a:rPr lang="en-US" altLang="zh-CN" dirty="0">
                <a:latin typeface="Times New Roman" pitchFamily="18" charset="0"/>
                <a:cs typeface="Times New Roman" pitchFamily="18" charset="0"/>
              </a:rPr>
              <a:t> </a:t>
            </a:r>
            <a:r>
              <a:rPr lang="en-US" altLang="zh-CN" i="1" dirty="0">
                <a:latin typeface="Times New Roman" pitchFamily="18" charset="0"/>
                <a:cs typeface="Times New Roman" pitchFamily="18" charset="0"/>
              </a:rPr>
              <a:t>v</a:t>
            </a:r>
            <a:r>
              <a:rPr lang="en-US" altLang="zh-CN" i="1" baseline="-25000" dirty="0">
                <a:latin typeface="Times New Roman" pitchFamily="18" charset="0"/>
                <a:cs typeface="Times New Roman" pitchFamily="18" charset="0"/>
              </a:rPr>
              <a:t>i</a:t>
            </a:r>
            <a:r>
              <a:rPr lang="zh-CN" altLang="en-US" dirty="0">
                <a:latin typeface="Times New Roman" pitchFamily="18" charset="0"/>
                <a:cs typeface="Times New Roman" pitchFamily="18" charset="0"/>
              </a:rPr>
              <a:t>）进行类计数，计算每个候选点</a:t>
            </a:r>
            <a:r>
              <a:rPr lang="en-US" altLang="zh-CN" i="1" dirty="0">
                <a:latin typeface="Times New Roman" pitchFamily="18" charset="0"/>
                <a:cs typeface="Times New Roman" pitchFamily="18" charset="0"/>
              </a:rPr>
              <a:t>v</a:t>
            </a:r>
            <a:r>
              <a:rPr lang="en-US" altLang="zh-CN" i="1" baseline="-25000" dirty="0">
                <a:latin typeface="Times New Roman" pitchFamily="18" charset="0"/>
                <a:cs typeface="Times New Roman" pitchFamily="18" charset="0"/>
              </a:rPr>
              <a:t>i</a:t>
            </a:r>
            <a:r>
              <a:rPr lang="zh-CN" altLang="en-US" dirty="0">
                <a:latin typeface="Times New Roman" pitchFamily="18" charset="0"/>
                <a:cs typeface="Times New Roman" pitchFamily="18" charset="0"/>
              </a:rPr>
              <a:t>的</a:t>
            </a:r>
            <a:r>
              <a:rPr lang="en-US" altLang="zh-CN" dirty="0" err="1">
                <a:latin typeface="Times New Roman" pitchFamily="18" charset="0"/>
                <a:cs typeface="Times New Roman" pitchFamily="18" charset="0"/>
              </a:rPr>
              <a:t>GiniSplit</a:t>
            </a:r>
            <a:r>
              <a:rPr lang="zh-CN" altLang="en-US" dirty="0">
                <a:latin typeface="Times New Roman" pitchFamily="18" charset="0"/>
                <a:cs typeface="Times New Roman" pitchFamily="18" charset="0"/>
              </a:rPr>
              <a:t>指标</a:t>
            </a:r>
            <a:endParaRPr lang="en-US" altLang="zh-CN" dirty="0">
              <a:latin typeface="Times New Roman" pitchFamily="18" charset="0"/>
              <a:cs typeface="Times New Roman" pitchFamily="18" charset="0"/>
            </a:endParaRPr>
          </a:p>
          <a:p>
            <a:pPr lvl="2"/>
            <a:r>
              <a:rPr lang="zh-CN" altLang="en-US" dirty="0">
                <a:latin typeface="Times New Roman" pitchFamily="18" charset="0"/>
                <a:cs typeface="Times New Roman" pitchFamily="18" charset="0"/>
              </a:rPr>
              <a:t>选择最优划分点</a:t>
            </a:r>
          </a:p>
          <a:p>
            <a:endParaRPr lang="en-US" altLang="zh-CN" dirty="0">
              <a:latin typeface="Times New Roman" pitchFamily="18" charset="0"/>
              <a:cs typeface="Times New Roman" pitchFamily="18" charset="0"/>
            </a:endParaRPr>
          </a:p>
          <a:p>
            <a:endParaRPr lang="zh-CN" altLang="en-US" dirty="0">
              <a:latin typeface="Times New Roman" pitchFamily="18" charset="0"/>
              <a:cs typeface="Times New Roman" pitchFamily="18" charset="0"/>
            </a:endParaRPr>
          </a:p>
        </p:txBody>
      </p:sp>
      <p:sp>
        <p:nvSpPr>
          <p:cNvPr id="5" name="椭圆 4"/>
          <p:cNvSpPr/>
          <p:nvPr/>
        </p:nvSpPr>
        <p:spPr>
          <a:xfrm>
            <a:off x="6381517" y="3182791"/>
            <a:ext cx="1375607" cy="492418"/>
          </a:xfrm>
          <a:prstGeom prst="ellipse">
            <a:avLst/>
          </a:prstGeom>
          <a:solidFill>
            <a:srgbClr val="F2F6EA"/>
          </a:solidFill>
          <a:ln w="9525">
            <a:solidFill>
              <a:schemeClr val="accent1"/>
            </a:solidFill>
          </a:ln>
          <a:effectLst/>
        </p:spPr>
        <p:style>
          <a:lnRef idx="2">
            <a:schemeClr val="accent1"/>
          </a:lnRef>
          <a:fillRef idx="1">
            <a:schemeClr val="l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b="1" kern="100" dirty="0">
                <a:latin typeface="Times New Roman"/>
                <a:ea typeface="宋体"/>
                <a:cs typeface="Times New Roman"/>
              </a:rPr>
              <a:t>Humidity</a:t>
            </a:r>
            <a:endParaRPr lang="zh-CN" altLang="en-US" sz="2400" b="1" kern="100" dirty="0">
              <a:latin typeface="Times New Roman"/>
              <a:ea typeface="宋体"/>
              <a:cs typeface="Times New Roman"/>
            </a:endParaRPr>
          </a:p>
        </p:txBody>
      </p:sp>
      <p:sp>
        <p:nvSpPr>
          <p:cNvPr id="11" name="矩形 10"/>
          <p:cNvSpPr/>
          <p:nvPr/>
        </p:nvSpPr>
        <p:spPr>
          <a:xfrm>
            <a:off x="5962097" y="4221210"/>
            <a:ext cx="746494" cy="427053"/>
          </a:xfrm>
          <a:prstGeom prst="rect">
            <a:avLst/>
          </a:prstGeom>
          <a:solidFill>
            <a:srgbClr val="E4EDF8"/>
          </a:solidFill>
          <a:ln w="6350">
            <a:solidFill>
              <a:schemeClr val="tx2">
                <a:lumMod val="60000"/>
                <a:lumOff val="40000"/>
              </a:schemeClr>
            </a:solidFill>
          </a:ln>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2000" kern="100">
                <a:latin typeface="Times New Roman"/>
                <a:ea typeface="宋体"/>
                <a:cs typeface="Times New Roman"/>
              </a:rPr>
              <a:t> </a:t>
            </a:r>
            <a:endParaRPr lang="zh-CN" altLang="en-US" sz="2800" kern="100">
              <a:latin typeface="Times New Roman"/>
              <a:ea typeface="宋体"/>
              <a:cs typeface="Times New Roman"/>
            </a:endParaRPr>
          </a:p>
        </p:txBody>
      </p:sp>
      <p:cxnSp>
        <p:nvCxnSpPr>
          <p:cNvPr id="12" name="Line 14"/>
          <p:cNvCxnSpPr>
            <a:stCxn id="5" idx="4"/>
            <a:endCxn id="11" idx="0"/>
          </p:cNvCxnSpPr>
          <p:nvPr/>
        </p:nvCxnSpPr>
        <p:spPr bwMode="auto">
          <a:xfrm flipH="1">
            <a:off x="6335346" y="3675209"/>
            <a:ext cx="733975" cy="54600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矩形 12"/>
          <p:cNvSpPr/>
          <p:nvPr/>
        </p:nvSpPr>
        <p:spPr>
          <a:xfrm>
            <a:off x="7618281" y="4221209"/>
            <a:ext cx="746494" cy="427053"/>
          </a:xfrm>
          <a:prstGeom prst="rect">
            <a:avLst/>
          </a:prstGeom>
          <a:solidFill>
            <a:srgbClr val="E4EDF8"/>
          </a:solidFill>
          <a:ln w="6350">
            <a:solidFill>
              <a:schemeClr val="tx2">
                <a:lumMod val="60000"/>
                <a:lumOff val="40000"/>
              </a:schemeClr>
            </a:solidFill>
          </a:ln>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2000" kern="100">
                <a:latin typeface="Times New Roman"/>
                <a:ea typeface="宋体"/>
                <a:cs typeface="Times New Roman"/>
              </a:rPr>
              <a:t> </a:t>
            </a:r>
            <a:endParaRPr lang="zh-CN" altLang="en-US" sz="2800" kern="100">
              <a:latin typeface="Times New Roman"/>
              <a:ea typeface="宋体"/>
              <a:cs typeface="Times New Roman"/>
            </a:endParaRPr>
          </a:p>
        </p:txBody>
      </p:sp>
      <p:cxnSp>
        <p:nvCxnSpPr>
          <p:cNvPr id="14" name="Line 14"/>
          <p:cNvCxnSpPr>
            <a:stCxn id="5" idx="4"/>
            <a:endCxn id="13" idx="0"/>
          </p:cNvCxnSpPr>
          <p:nvPr/>
        </p:nvCxnSpPr>
        <p:spPr bwMode="auto">
          <a:xfrm>
            <a:off x="7069320" y="3675210"/>
            <a:ext cx="922209" cy="545999"/>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Text Box 26"/>
          <p:cNvSpPr txBox="1">
            <a:spLocks noChangeArrowheads="1"/>
          </p:cNvSpPr>
          <p:nvPr/>
        </p:nvSpPr>
        <p:spPr bwMode="auto">
          <a:xfrm>
            <a:off x="6233734" y="3832286"/>
            <a:ext cx="383961" cy="288385"/>
          </a:xfrm>
          <a:prstGeom prst="rect">
            <a:avLst/>
          </a:prstGeom>
          <a:solidFill>
            <a:srgbClr val="FFFFFF">
              <a:alpha val="43137"/>
            </a:srgbClr>
          </a:solidFill>
          <a:ln>
            <a:noFill/>
          </a:ln>
          <a:effectLst/>
        </p:spPr>
        <p:txBody>
          <a:bodyPr wrap="none" lIns="41756" tIns="20878" rIns="41756" bIns="20878">
            <a:spAutoFit/>
          </a:bodyPr>
          <a:lstStyle/>
          <a:p>
            <a:pPr algn="r" fontAlgn="base"/>
            <a:r>
              <a:rPr lang="en-US" altLang="zh-CN" sz="1600" b="1" dirty="0">
                <a:solidFill>
                  <a:srgbClr val="C00000"/>
                </a:solidFill>
                <a:latin typeface="Times New Roman" pitchFamily="18" charset="0"/>
                <a:ea typeface="华文细黑" pitchFamily="2" charset="-122"/>
                <a:cs typeface="Times New Roman" pitchFamily="18" charset="0"/>
              </a:rPr>
              <a:t>≤ A</a:t>
            </a:r>
            <a:endParaRPr lang="zh-CN" altLang="en-US" sz="3200" b="1" dirty="0">
              <a:latin typeface="宋体"/>
              <a:cs typeface="宋体"/>
            </a:endParaRPr>
          </a:p>
        </p:txBody>
      </p:sp>
      <p:sp>
        <p:nvSpPr>
          <p:cNvPr id="21" name="Text Box 26"/>
          <p:cNvSpPr txBox="1">
            <a:spLocks noChangeArrowheads="1"/>
          </p:cNvSpPr>
          <p:nvPr/>
        </p:nvSpPr>
        <p:spPr bwMode="auto">
          <a:xfrm>
            <a:off x="7602758" y="3832286"/>
            <a:ext cx="388770" cy="288385"/>
          </a:xfrm>
          <a:prstGeom prst="rect">
            <a:avLst/>
          </a:prstGeom>
          <a:solidFill>
            <a:srgbClr val="FFFFFF">
              <a:alpha val="43137"/>
            </a:srgbClr>
          </a:solidFill>
          <a:ln>
            <a:noFill/>
          </a:ln>
          <a:effectLst/>
        </p:spPr>
        <p:txBody>
          <a:bodyPr wrap="none" lIns="41756" tIns="20878" rIns="41756" bIns="20878">
            <a:spAutoFit/>
          </a:bodyPr>
          <a:lstStyle/>
          <a:p>
            <a:pPr algn="r" fontAlgn="base"/>
            <a:r>
              <a:rPr lang="en-US" altLang="zh-CN" sz="1600" b="1" dirty="0">
                <a:solidFill>
                  <a:srgbClr val="C00000"/>
                </a:solidFill>
                <a:latin typeface="Times New Roman" pitchFamily="18" charset="0"/>
                <a:ea typeface="华文细黑" pitchFamily="2" charset="-122"/>
                <a:cs typeface="Times New Roman" pitchFamily="18" charset="0"/>
              </a:rPr>
              <a:t>&gt; A</a:t>
            </a:r>
            <a:endParaRPr lang="zh-CN" altLang="zh-CN" sz="3200" b="1" dirty="0">
              <a:latin typeface="宋体"/>
              <a:cs typeface="宋体"/>
            </a:endParaRPr>
          </a:p>
        </p:txBody>
      </p:sp>
      <p:sp>
        <p:nvSpPr>
          <p:cNvPr id="4" name="页脚占位符 3">
            <a:extLst>
              <a:ext uri="{FF2B5EF4-FFF2-40B4-BE49-F238E27FC236}">
                <a16:creationId xmlns:a16="http://schemas.microsoft.com/office/drawing/2014/main" id="{33514312-98D5-46E3-BB33-5B99C94D5A7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E75EAF7-380B-4474-BCDC-77EB28ADCABE}"/>
              </a:ext>
            </a:extLst>
          </p:cNvPr>
          <p:cNvSpPr>
            <a:spLocks noGrp="1"/>
          </p:cNvSpPr>
          <p:nvPr>
            <p:ph type="sldNum" sz="quarter" idx="12"/>
          </p:nvPr>
        </p:nvSpPr>
        <p:spPr/>
        <p:txBody>
          <a:bodyPr/>
          <a:lstStyle/>
          <a:p>
            <a:fld id="{5AD84F5B-1672-4D3F-9FEC-5DF89A7B7912}" type="slidenum">
              <a:rPr lang="zh-CN" altLang="en-US" smtClean="0"/>
              <a:t>43</a:t>
            </a:fld>
            <a:endParaRPr lang="zh-CN" altLang="en-US"/>
          </a:p>
        </p:txBody>
      </p:sp>
    </p:spTree>
    <p:extLst>
      <p:ext uri="{BB962C8B-B14F-4D97-AF65-F5344CB8AC3E}">
        <p14:creationId xmlns:p14="http://schemas.microsoft.com/office/powerpoint/2010/main" val="367339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Wingdings"/>
              </a:rPr>
              <a:t>连续属性的划分方法</a:t>
            </a:r>
            <a:endParaRPr lang="zh-CN" altLang="en-US" dirty="0"/>
          </a:p>
        </p:txBody>
      </p:sp>
      <p:sp>
        <p:nvSpPr>
          <p:cNvPr id="9" name="灯片编号占位符 1"/>
          <p:cNvSpPr>
            <a:spLocks noGrp="1"/>
          </p:cNvSpPr>
          <p:nvPr>
            <p:ph type="sldNum" sz="quarter" idx="12"/>
          </p:nvPr>
        </p:nvSpPr>
        <p:spPr/>
        <p:txBody>
          <a:bodyPr/>
          <a:lstStyle/>
          <a:p>
            <a:fld id="{6435AE0B-8C6B-4385-9ECF-079FDFACE1FC}" type="slidenum">
              <a:rPr lang="en-US" altLang="zh-CN" smtClean="0"/>
              <a:pPr/>
              <a:t>44</a:t>
            </a:fld>
            <a:endParaRPr lang="en-US" altLang="zh-CN"/>
          </a:p>
        </p:txBody>
      </p:sp>
      <p:sp>
        <p:nvSpPr>
          <p:cNvPr id="22" name="矩形 21"/>
          <p:cNvSpPr/>
          <p:nvPr/>
        </p:nvSpPr>
        <p:spPr>
          <a:xfrm>
            <a:off x="107504" y="1808821"/>
            <a:ext cx="1107996" cy="461665"/>
          </a:xfrm>
          <a:prstGeom prst="rect">
            <a:avLst/>
          </a:prstGeom>
        </p:spPr>
        <p:txBody>
          <a:bodyPr wrap="none">
            <a:spAutoFit/>
          </a:bodyPr>
          <a:lstStyle/>
          <a:p>
            <a:r>
              <a:rPr lang="en-US" altLang="zh-CN" sz="2400" dirty="0">
                <a:latin typeface="宋体"/>
                <a:ea typeface="宋体"/>
                <a:cs typeface="Times New Roman" pitchFamily="18" charset="0"/>
              </a:rPr>
              <a:t>【</a:t>
            </a:r>
            <a:r>
              <a:rPr lang="zh-CN" altLang="en-US" sz="2400" dirty="0">
                <a:latin typeface="宋体"/>
                <a:ea typeface="宋体"/>
                <a:cs typeface="Times New Roman" pitchFamily="18" charset="0"/>
              </a:rPr>
              <a:t>例</a:t>
            </a:r>
            <a:r>
              <a:rPr lang="en-US" altLang="zh-CN" sz="2400" dirty="0">
                <a:latin typeface="宋体"/>
                <a:ea typeface="宋体"/>
                <a:cs typeface="Times New Roman" pitchFamily="18" charset="0"/>
              </a:rPr>
              <a:t>】</a:t>
            </a:r>
            <a:endParaRPr lang="zh-CN" altLang="en-US" sz="2400" dirty="0">
              <a:latin typeface="Times New Roman" pitchFamily="18" charset="0"/>
              <a:ea typeface="华文细黑" pitchFamily="2" charset="-122"/>
              <a:cs typeface="Times New Roman" pitchFamily="18" charset="0"/>
            </a:endParaRPr>
          </a:p>
        </p:txBody>
      </p:sp>
      <p:graphicFrame>
        <p:nvGraphicFramePr>
          <p:cNvPr id="23" name="表格 22"/>
          <p:cNvGraphicFramePr>
            <a:graphicFrameLocks noGrp="1"/>
          </p:cNvGraphicFramePr>
          <p:nvPr/>
        </p:nvGraphicFramePr>
        <p:xfrm>
          <a:off x="1115618" y="2132856"/>
          <a:ext cx="6768753" cy="3703320"/>
        </p:xfrm>
        <a:graphic>
          <a:graphicData uri="http://schemas.openxmlformats.org/drawingml/2006/table">
            <a:tbl>
              <a:tblPr firstRow="1" firstCol="1" bandRow="1">
                <a:tableStyleId>{2D5ABB26-0587-4C30-8999-92F81FD0307C}</a:tableStyleId>
              </a:tblPr>
              <a:tblGrid>
                <a:gridCol w="737191">
                  <a:extLst>
                    <a:ext uri="{9D8B030D-6E8A-4147-A177-3AD203B41FA5}">
                      <a16:colId xmlns:a16="http://schemas.microsoft.com/office/drawing/2014/main" val="20000"/>
                    </a:ext>
                  </a:extLst>
                </a:gridCol>
                <a:gridCol w="1229051">
                  <a:extLst>
                    <a:ext uri="{9D8B030D-6E8A-4147-A177-3AD203B41FA5}">
                      <a16:colId xmlns:a16="http://schemas.microsoft.com/office/drawing/2014/main" val="20001"/>
                    </a:ext>
                  </a:extLst>
                </a:gridCol>
                <a:gridCol w="1503104">
                  <a:extLst>
                    <a:ext uri="{9D8B030D-6E8A-4147-A177-3AD203B41FA5}">
                      <a16:colId xmlns:a16="http://schemas.microsoft.com/office/drawing/2014/main" val="20002"/>
                    </a:ext>
                  </a:extLst>
                </a:gridCol>
                <a:gridCol w="1312821">
                  <a:extLst>
                    <a:ext uri="{9D8B030D-6E8A-4147-A177-3AD203B41FA5}">
                      <a16:colId xmlns:a16="http://schemas.microsoft.com/office/drawing/2014/main" val="20003"/>
                    </a:ext>
                  </a:extLst>
                </a:gridCol>
                <a:gridCol w="1116557">
                  <a:extLst>
                    <a:ext uri="{9D8B030D-6E8A-4147-A177-3AD203B41FA5}">
                      <a16:colId xmlns:a16="http://schemas.microsoft.com/office/drawing/2014/main" val="20004"/>
                    </a:ext>
                  </a:extLst>
                </a:gridCol>
                <a:gridCol w="870029">
                  <a:extLst>
                    <a:ext uri="{9D8B030D-6E8A-4147-A177-3AD203B41FA5}">
                      <a16:colId xmlns:a16="http://schemas.microsoft.com/office/drawing/2014/main" val="20005"/>
                    </a:ext>
                  </a:extLst>
                </a:gridCol>
              </a:tblGrid>
              <a:tr h="246888">
                <a:tc>
                  <a:txBody>
                    <a:bodyPr/>
                    <a:lstStyle/>
                    <a:p>
                      <a:pPr algn="ctr">
                        <a:spcAft>
                          <a:spcPts val="0"/>
                        </a:spcAft>
                      </a:pPr>
                      <a:r>
                        <a:rPr lang="en-US" sz="1600" kern="100" dirty="0">
                          <a:solidFill>
                            <a:schemeClr val="tx1">
                              <a:lumMod val="50000"/>
                              <a:lumOff val="50000"/>
                            </a:schemeClr>
                          </a:solidFill>
                          <a:effectLst/>
                          <a:latin typeface="Times New Roman" pitchFamily="18" charset="0"/>
                        </a:rPr>
                        <a:t>No</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Outlook</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Temperature</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effectLst/>
                          <a:latin typeface="Times New Roman" pitchFamily="18" charset="0"/>
                        </a:rPr>
                        <a:t>Humidity</a:t>
                      </a:r>
                      <a:endParaRPr lang="zh-CN" sz="2500" kern="100" dirty="0">
                        <a:effectLst/>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Windy</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solidFill>
                          <a:effectLst/>
                          <a:latin typeface="Times New Roman" pitchFamily="18" charset="0"/>
                        </a:rPr>
                        <a:t>play</a:t>
                      </a:r>
                      <a:endParaRPr lang="zh-CN" sz="2500" kern="100" dirty="0">
                        <a:solidFill>
                          <a:schemeClr val="tx1"/>
                        </a:solidFill>
                        <a:effectLst/>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6888">
                <a:tc>
                  <a:txBody>
                    <a:bodyPr/>
                    <a:lstStyle/>
                    <a:p>
                      <a:pPr algn="ctr">
                        <a:spcAft>
                          <a:spcPts val="0"/>
                        </a:spcAft>
                      </a:pPr>
                      <a:r>
                        <a:rPr lang="en-US" sz="1600" kern="100" dirty="0">
                          <a:solidFill>
                            <a:schemeClr val="tx1">
                              <a:lumMod val="50000"/>
                              <a:lumOff val="50000"/>
                            </a:schemeClr>
                          </a:solidFill>
                          <a:effectLst/>
                          <a:latin typeface="Times New Roman" pitchFamily="18" charset="0"/>
                        </a:rPr>
                        <a:t>1</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sunny</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85</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effectLst/>
                          <a:latin typeface="Times New Roman" pitchFamily="18" charset="0"/>
                        </a:rPr>
                        <a:t>85</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false</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solidFill>
                          <a:effectLst/>
                          <a:latin typeface="Times New Roman" pitchFamily="18" charset="0"/>
                        </a:rPr>
                        <a:t>no</a:t>
                      </a:r>
                      <a:endParaRPr lang="zh-CN" sz="25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46888">
                <a:tc>
                  <a:txBody>
                    <a:bodyPr/>
                    <a:lstStyle/>
                    <a:p>
                      <a:pPr algn="ctr">
                        <a:spcAft>
                          <a:spcPts val="0"/>
                        </a:spcAft>
                      </a:pPr>
                      <a:r>
                        <a:rPr lang="en-US" sz="1600" kern="100" dirty="0">
                          <a:solidFill>
                            <a:schemeClr val="tx1">
                              <a:lumMod val="50000"/>
                              <a:lumOff val="50000"/>
                            </a:schemeClr>
                          </a:solidFill>
                          <a:effectLst/>
                          <a:latin typeface="Times New Roman" pitchFamily="18" charset="0"/>
                        </a:rPr>
                        <a:t>2</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sunny</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80</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effectLst/>
                          <a:latin typeface="Times New Roman" pitchFamily="18" charset="0"/>
                        </a:rPr>
                        <a:t>90</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true</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solidFill>
                          <a:effectLst/>
                          <a:latin typeface="Times New Roman" pitchFamily="18" charset="0"/>
                        </a:rPr>
                        <a:t>no</a:t>
                      </a:r>
                      <a:endParaRPr lang="zh-CN" sz="25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46888">
                <a:tc>
                  <a:txBody>
                    <a:bodyPr/>
                    <a:lstStyle/>
                    <a:p>
                      <a:pPr algn="ctr">
                        <a:spcAft>
                          <a:spcPts val="0"/>
                        </a:spcAft>
                      </a:pPr>
                      <a:r>
                        <a:rPr lang="en-US" sz="1600" kern="100" dirty="0">
                          <a:solidFill>
                            <a:schemeClr val="tx1">
                              <a:lumMod val="50000"/>
                              <a:lumOff val="50000"/>
                            </a:schemeClr>
                          </a:solidFill>
                          <a:effectLst/>
                          <a:latin typeface="Times New Roman" pitchFamily="18" charset="0"/>
                        </a:rPr>
                        <a:t>3</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overcast</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83</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effectLst/>
                          <a:latin typeface="Times New Roman" pitchFamily="18" charset="0"/>
                        </a:rPr>
                        <a:t>86</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false</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solidFill>
                          <a:effectLst/>
                          <a:latin typeface="Times New Roman" pitchFamily="18" charset="0"/>
                        </a:rPr>
                        <a:t>yes</a:t>
                      </a:r>
                      <a:endParaRPr lang="zh-CN" sz="25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46888">
                <a:tc>
                  <a:txBody>
                    <a:bodyPr/>
                    <a:lstStyle/>
                    <a:p>
                      <a:pPr algn="ctr">
                        <a:spcAft>
                          <a:spcPts val="0"/>
                        </a:spcAft>
                      </a:pPr>
                      <a:r>
                        <a:rPr lang="en-US" sz="1600" kern="100" dirty="0">
                          <a:solidFill>
                            <a:schemeClr val="tx1">
                              <a:lumMod val="50000"/>
                              <a:lumOff val="50000"/>
                            </a:schemeClr>
                          </a:solidFill>
                          <a:effectLst/>
                          <a:latin typeface="Times New Roman" pitchFamily="18" charset="0"/>
                        </a:rPr>
                        <a:t>4</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rainy</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70</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effectLst/>
                          <a:latin typeface="Times New Roman" pitchFamily="18" charset="0"/>
                        </a:rPr>
                        <a:t>96</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false</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solidFill>
                          <a:effectLst/>
                          <a:latin typeface="Times New Roman" pitchFamily="18" charset="0"/>
                        </a:rPr>
                        <a:t>yes</a:t>
                      </a:r>
                      <a:endParaRPr lang="zh-CN" sz="25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46888">
                <a:tc>
                  <a:txBody>
                    <a:bodyPr/>
                    <a:lstStyle/>
                    <a:p>
                      <a:pPr algn="ctr">
                        <a:spcAft>
                          <a:spcPts val="0"/>
                        </a:spcAft>
                      </a:pPr>
                      <a:r>
                        <a:rPr lang="en-US" sz="1600" kern="100" dirty="0">
                          <a:solidFill>
                            <a:schemeClr val="tx1">
                              <a:lumMod val="50000"/>
                              <a:lumOff val="50000"/>
                            </a:schemeClr>
                          </a:solidFill>
                          <a:effectLst/>
                          <a:latin typeface="Times New Roman" pitchFamily="18" charset="0"/>
                        </a:rPr>
                        <a:t>5</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rainy</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68</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effectLst/>
                          <a:latin typeface="Times New Roman" pitchFamily="18" charset="0"/>
                        </a:rPr>
                        <a:t>80</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false</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solidFill>
                          <a:effectLst/>
                          <a:latin typeface="Times New Roman" pitchFamily="18" charset="0"/>
                        </a:rPr>
                        <a:t>yes</a:t>
                      </a:r>
                      <a:endParaRPr lang="zh-CN" sz="25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46888">
                <a:tc>
                  <a:txBody>
                    <a:bodyPr/>
                    <a:lstStyle/>
                    <a:p>
                      <a:pPr algn="ctr">
                        <a:spcAft>
                          <a:spcPts val="0"/>
                        </a:spcAft>
                      </a:pPr>
                      <a:r>
                        <a:rPr lang="en-US" sz="1600" kern="100" dirty="0">
                          <a:solidFill>
                            <a:schemeClr val="tx1">
                              <a:lumMod val="50000"/>
                              <a:lumOff val="50000"/>
                            </a:schemeClr>
                          </a:solidFill>
                          <a:effectLst/>
                          <a:latin typeface="Times New Roman" pitchFamily="18" charset="0"/>
                        </a:rPr>
                        <a:t>6</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rainy</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65</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effectLst/>
                          <a:latin typeface="Times New Roman" pitchFamily="18" charset="0"/>
                        </a:rPr>
                        <a:t>70</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true</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solidFill>
                          <a:effectLst/>
                          <a:latin typeface="Times New Roman" pitchFamily="18" charset="0"/>
                        </a:rPr>
                        <a:t>no</a:t>
                      </a:r>
                      <a:endParaRPr lang="zh-CN" sz="25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46888">
                <a:tc>
                  <a:txBody>
                    <a:bodyPr/>
                    <a:lstStyle/>
                    <a:p>
                      <a:pPr algn="ctr">
                        <a:spcAft>
                          <a:spcPts val="0"/>
                        </a:spcAft>
                      </a:pPr>
                      <a:r>
                        <a:rPr lang="en-US" sz="1600" kern="100" dirty="0">
                          <a:solidFill>
                            <a:schemeClr val="tx1">
                              <a:lumMod val="50000"/>
                              <a:lumOff val="50000"/>
                            </a:schemeClr>
                          </a:solidFill>
                          <a:effectLst/>
                          <a:latin typeface="Times New Roman" pitchFamily="18" charset="0"/>
                        </a:rPr>
                        <a:t>7</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overcast</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64</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effectLst/>
                          <a:latin typeface="Times New Roman" pitchFamily="18" charset="0"/>
                        </a:rPr>
                        <a:t>65</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true</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solidFill>
                          <a:effectLst/>
                          <a:latin typeface="Times New Roman" pitchFamily="18" charset="0"/>
                        </a:rPr>
                        <a:t>yes</a:t>
                      </a:r>
                      <a:endParaRPr lang="zh-CN" sz="25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46888">
                <a:tc>
                  <a:txBody>
                    <a:bodyPr/>
                    <a:lstStyle/>
                    <a:p>
                      <a:pPr algn="ctr">
                        <a:spcAft>
                          <a:spcPts val="0"/>
                        </a:spcAft>
                      </a:pPr>
                      <a:r>
                        <a:rPr lang="en-US" sz="1600" kern="100" dirty="0">
                          <a:solidFill>
                            <a:schemeClr val="tx1">
                              <a:lumMod val="50000"/>
                              <a:lumOff val="50000"/>
                            </a:schemeClr>
                          </a:solidFill>
                          <a:effectLst/>
                          <a:latin typeface="Times New Roman" pitchFamily="18" charset="0"/>
                        </a:rPr>
                        <a:t>8</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sunny</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72</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effectLst/>
                          <a:latin typeface="Times New Roman" pitchFamily="18" charset="0"/>
                        </a:rPr>
                        <a:t>95</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false</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solidFill>
                          <a:effectLst/>
                          <a:latin typeface="Times New Roman" pitchFamily="18" charset="0"/>
                        </a:rPr>
                        <a:t>no</a:t>
                      </a:r>
                      <a:endParaRPr lang="zh-CN" sz="25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46888">
                <a:tc>
                  <a:txBody>
                    <a:bodyPr/>
                    <a:lstStyle/>
                    <a:p>
                      <a:pPr algn="ctr">
                        <a:spcAft>
                          <a:spcPts val="0"/>
                        </a:spcAft>
                      </a:pPr>
                      <a:r>
                        <a:rPr lang="en-US" sz="1600" kern="100" dirty="0">
                          <a:solidFill>
                            <a:schemeClr val="tx1">
                              <a:lumMod val="50000"/>
                              <a:lumOff val="50000"/>
                            </a:schemeClr>
                          </a:solidFill>
                          <a:effectLst/>
                          <a:latin typeface="Times New Roman" pitchFamily="18" charset="0"/>
                        </a:rPr>
                        <a:t>9</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sunny</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69</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effectLst/>
                          <a:latin typeface="Times New Roman" pitchFamily="18" charset="0"/>
                        </a:rPr>
                        <a:t>70</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false</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solidFill>
                          <a:effectLst/>
                          <a:latin typeface="Times New Roman" pitchFamily="18" charset="0"/>
                        </a:rPr>
                        <a:t>yes</a:t>
                      </a:r>
                      <a:endParaRPr lang="zh-CN" sz="25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46888">
                <a:tc>
                  <a:txBody>
                    <a:bodyPr/>
                    <a:lstStyle/>
                    <a:p>
                      <a:pPr algn="ctr">
                        <a:spcAft>
                          <a:spcPts val="0"/>
                        </a:spcAft>
                      </a:pPr>
                      <a:r>
                        <a:rPr lang="en-US" sz="1600" kern="100" dirty="0">
                          <a:solidFill>
                            <a:schemeClr val="tx1">
                              <a:lumMod val="50000"/>
                              <a:lumOff val="50000"/>
                            </a:schemeClr>
                          </a:solidFill>
                          <a:effectLst/>
                          <a:latin typeface="Times New Roman" pitchFamily="18" charset="0"/>
                        </a:rPr>
                        <a:t>10</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rainy</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75</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effectLst/>
                          <a:latin typeface="Times New Roman" pitchFamily="18" charset="0"/>
                        </a:rPr>
                        <a:t>80</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false</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solidFill>
                          <a:effectLst/>
                          <a:latin typeface="Times New Roman" pitchFamily="18" charset="0"/>
                        </a:rPr>
                        <a:t>yes</a:t>
                      </a:r>
                      <a:endParaRPr lang="zh-CN" sz="25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46888">
                <a:tc>
                  <a:txBody>
                    <a:bodyPr/>
                    <a:lstStyle/>
                    <a:p>
                      <a:pPr algn="ctr">
                        <a:spcAft>
                          <a:spcPts val="0"/>
                        </a:spcAft>
                      </a:pPr>
                      <a:r>
                        <a:rPr lang="en-US" sz="1600" kern="100" dirty="0">
                          <a:solidFill>
                            <a:schemeClr val="tx1">
                              <a:lumMod val="50000"/>
                              <a:lumOff val="50000"/>
                            </a:schemeClr>
                          </a:solidFill>
                          <a:effectLst/>
                          <a:latin typeface="Times New Roman" pitchFamily="18" charset="0"/>
                        </a:rPr>
                        <a:t>11</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sunny</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75</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effectLst/>
                          <a:latin typeface="Times New Roman" pitchFamily="18" charset="0"/>
                        </a:rPr>
                        <a:t>70</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true</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solidFill>
                          <a:effectLst/>
                          <a:latin typeface="Times New Roman" pitchFamily="18" charset="0"/>
                        </a:rPr>
                        <a:t>yes</a:t>
                      </a:r>
                      <a:endParaRPr lang="zh-CN" sz="25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246888">
                <a:tc>
                  <a:txBody>
                    <a:bodyPr/>
                    <a:lstStyle/>
                    <a:p>
                      <a:pPr algn="ctr">
                        <a:spcAft>
                          <a:spcPts val="0"/>
                        </a:spcAft>
                      </a:pPr>
                      <a:r>
                        <a:rPr lang="en-US" sz="1600" kern="100" dirty="0">
                          <a:solidFill>
                            <a:schemeClr val="tx1">
                              <a:lumMod val="50000"/>
                              <a:lumOff val="50000"/>
                            </a:schemeClr>
                          </a:solidFill>
                          <a:effectLst/>
                          <a:latin typeface="Times New Roman" pitchFamily="18" charset="0"/>
                        </a:rPr>
                        <a:t>12</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overcast</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72</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effectLst/>
                          <a:latin typeface="Times New Roman" pitchFamily="18" charset="0"/>
                        </a:rPr>
                        <a:t>90</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true</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solidFill>
                          <a:effectLst/>
                          <a:latin typeface="Times New Roman" pitchFamily="18" charset="0"/>
                        </a:rPr>
                        <a:t>yes</a:t>
                      </a:r>
                      <a:endParaRPr lang="zh-CN" sz="25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46888">
                <a:tc>
                  <a:txBody>
                    <a:bodyPr/>
                    <a:lstStyle/>
                    <a:p>
                      <a:pPr algn="ctr">
                        <a:spcAft>
                          <a:spcPts val="0"/>
                        </a:spcAft>
                      </a:pPr>
                      <a:r>
                        <a:rPr lang="en-US" sz="1600" kern="100" dirty="0">
                          <a:solidFill>
                            <a:schemeClr val="tx1">
                              <a:lumMod val="50000"/>
                              <a:lumOff val="50000"/>
                            </a:schemeClr>
                          </a:solidFill>
                          <a:effectLst/>
                          <a:latin typeface="Times New Roman" pitchFamily="18" charset="0"/>
                        </a:rPr>
                        <a:t>13</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overcast</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81</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effectLst/>
                          <a:latin typeface="Times New Roman" pitchFamily="18" charset="0"/>
                        </a:rPr>
                        <a:t>75</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false</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solidFill>
                          <a:effectLst/>
                          <a:latin typeface="Times New Roman" pitchFamily="18" charset="0"/>
                        </a:rPr>
                        <a:t>yes</a:t>
                      </a:r>
                      <a:endParaRPr lang="zh-CN" sz="25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46888">
                <a:tc>
                  <a:txBody>
                    <a:bodyPr/>
                    <a:lstStyle/>
                    <a:p>
                      <a:pPr algn="ctr">
                        <a:spcAft>
                          <a:spcPts val="0"/>
                        </a:spcAft>
                      </a:pPr>
                      <a:r>
                        <a:rPr lang="en-US" sz="1600" kern="100" dirty="0">
                          <a:solidFill>
                            <a:schemeClr val="tx1">
                              <a:lumMod val="50000"/>
                              <a:lumOff val="50000"/>
                            </a:schemeClr>
                          </a:solidFill>
                          <a:effectLst/>
                          <a:latin typeface="Times New Roman" pitchFamily="18" charset="0"/>
                        </a:rPr>
                        <a:t>14</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rainy</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71</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effectLst/>
                          <a:latin typeface="Times New Roman" pitchFamily="18" charset="0"/>
                        </a:rPr>
                        <a:t>91</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lumMod val="50000"/>
                              <a:lumOff val="50000"/>
                            </a:schemeClr>
                          </a:solidFill>
                          <a:effectLst/>
                          <a:latin typeface="Times New Roman" pitchFamily="18" charset="0"/>
                        </a:rPr>
                        <a:t>true</a:t>
                      </a:r>
                      <a:endParaRPr lang="zh-CN" sz="2500" kern="100" dirty="0">
                        <a:solidFill>
                          <a:schemeClr val="tx1">
                            <a:lumMod val="50000"/>
                            <a:lumOff val="50000"/>
                          </a:schemeClr>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kern="100" dirty="0">
                          <a:solidFill>
                            <a:schemeClr val="tx1"/>
                          </a:solidFill>
                          <a:effectLst/>
                          <a:latin typeface="Times New Roman" pitchFamily="18" charset="0"/>
                        </a:rPr>
                        <a:t>No</a:t>
                      </a:r>
                      <a:endParaRPr lang="zh-CN" sz="2500" kern="100" dirty="0">
                        <a:solidFill>
                          <a:schemeClr val="tx1"/>
                        </a:solidFill>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bl>
          </a:graphicData>
        </a:graphic>
      </p:graphicFrame>
      <p:sp>
        <p:nvSpPr>
          <p:cNvPr id="3" name="页脚占位符 2">
            <a:extLst>
              <a:ext uri="{FF2B5EF4-FFF2-40B4-BE49-F238E27FC236}">
                <a16:creationId xmlns:a16="http://schemas.microsoft.com/office/drawing/2014/main" id="{A2637818-6A55-4E55-8C69-27BA11B14397}"/>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919998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Wingdings"/>
              </a:rPr>
              <a:t>连续属性的划分方法</a:t>
            </a:r>
            <a:endParaRPr lang="zh-CN" altLang="en-US" dirty="0"/>
          </a:p>
        </p:txBody>
      </p:sp>
      <p:sp>
        <p:nvSpPr>
          <p:cNvPr id="9" name="灯片编号占位符 1"/>
          <p:cNvSpPr>
            <a:spLocks noGrp="1"/>
          </p:cNvSpPr>
          <p:nvPr>
            <p:ph type="sldNum" sz="quarter" idx="12"/>
          </p:nvPr>
        </p:nvSpPr>
        <p:spPr/>
        <p:txBody>
          <a:bodyPr/>
          <a:lstStyle/>
          <a:p>
            <a:fld id="{6435AE0B-8C6B-4385-9ECF-079FDFACE1FC}" type="slidenum">
              <a:rPr lang="en-US" altLang="zh-CN" smtClean="0"/>
              <a:pPr/>
              <a:t>45</a:t>
            </a:fld>
            <a:endParaRPr lang="en-US" altLang="zh-CN"/>
          </a:p>
        </p:txBody>
      </p:sp>
      <p:sp>
        <p:nvSpPr>
          <p:cNvPr id="6" name="矩形 5"/>
          <p:cNvSpPr/>
          <p:nvPr/>
        </p:nvSpPr>
        <p:spPr>
          <a:xfrm>
            <a:off x="2915816" y="2118221"/>
            <a:ext cx="2735044" cy="461665"/>
          </a:xfrm>
          <a:prstGeom prst="rect">
            <a:avLst/>
          </a:prstGeom>
        </p:spPr>
        <p:txBody>
          <a:bodyPr wrap="none">
            <a:spAutoFit/>
          </a:bodyPr>
          <a:lstStyle/>
          <a:p>
            <a:r>
              <a:rPr lang="en-US" altLang="zh-CN" sz="2400" dirty="0">
                <a:latin typeface="Times New Roman" pitchFamily="18" charset="0"/>
                <a:ea typeface="华文细黑" pitchFamily="2" charset="-122"/>
                <a:cs typeface="Times New Roman" pitchFamily="18" charset="0"/>
              </a:rPr>
              <a:t>1. </a:t>
            </a:r>
            <a:r>
              <a:rPr lang="zh-CN" altLang="en-US" sz="2400" dirty="0">
                <a:latin typeface="Times New Roman" pitchFamily="18" charset="0"/>
                <a:ea typeface="华文细黑" pitchFamily="2" charset="-122"/>
                <a:cs typeface="Times New Roman" pitchFamily="18" charset="0"/>
              </a:rPr>
              <a:t>数据排序，</a:t>
            </a:r>
            <a:r>
              <a:rPr lang="en-US" altLang="zh-CN" sz="2400" dirty="0">
                <a:latin typeface="Times New Roman" pitchFamily="18" charset="0"/>
                <a:ea typeface="华文细黑" pitchFamily="2" charset="-122"/>
                <a:cs typeface="Times New Roman" pitchFamily="18" charset="0"/>
              </a:rPr>
              <a:t>N=10</a:t>
            </a:r>
            <a:endParaRPr lang="zh-CN" altLang="en-US" sz="2400" dirty="0">
              <a:latin typeface="Times New Roman" pitchFamily="18" charset="0"/>
              <a:ea typeface="华文细黑" pitchFamily="2" charset="-122"/>
              <a:cs typeface="Times New Roman" pitchFamily="18" charset="0"/>
            </a:endParaRPr>
          </a:p>
        </p:txBody>
      </p:sp>
      <p:sp>
        <p:nvSpPr>
          <p:cNvPr id="11" name="矩形 10"/>
          <p:cNvSpPr/>
          <p:nvPr/>
        </p:nvSpPr>
        <p:spPr>
          <a:xfrm>
            <a:off x="2915816" y="2480409"/>
            <a:ext cx="2529860" cy="2616101"/>
          </a:xfrm>
          <a:prstGeom prst="rect">
            <a:avLst/>
          </a:prstGeom>
        </p:spPr>
        <p:txBody>
          <a:bodyPr wrap="none">
            <a:spAutoFit/>
          </a:bodyPr>
          <a:lstStyle/>
          <a:p>
            <a:r>
              <a:rPr lang="en-US" altLang="zh-CN" sz="2400" dirty="0">
                <a:latin typeface="Times New Roman" pitchFamily="18" charset="0"/>
                <a:ea typeface="华文细黑" pitchFamily="2" charset="-122"/>
                <a:cs typeface="Times New Roman" pitchFamily="18" charset="0"/>
              </a:rPr>
              <a:t>2. N-1=9</a:t>
            </a:r>
            <a:r>
              <a:rPr lang="zh-CN" altLang="en-US" sz="2400" dirty="0">
                <a:latin typeface="Times New Roman" pitchFamily="18" charset="0"/>
                <a:ea typeface="华文细黑" pitchFamily="2" charset="-122"/>
                <a:cs typeface="Times New Roman" pitchFamily="18" charset="0"/>
              </a:rPr>
              <a:t>个划分点</a:t>
            </a:r>
            <a:endParaRPr lang="en-US" altLang="zh-CN" sz="2400" dirty="0">
              <a:latin typeface="Times New Roman" pitchFamily="18" charset="0"/>
              <a:ea typeface="华文细黑" pitchFamily="2" charset="-122"/>
              <a:cs typeface="Times New Roman" pitchFamily="18" charset="0"/>
            </a:endParaRPr>
          </a:p>
          <a:p>
            <a:pPr lvl="1"/>
            <a:r>
              <a:rPr lang="en-US" altLang="zh-CN" sz="2000" dirty="0">
                <a:latin typeface="Times New Roman" pitchFamily="18" charset="0"/>
                <a:ea typeface="华文细黑" pitchFamily="2" charset="-122"/>
                <a:cs typeface="Times New Roman" pitchFamily="18" charset="0"/>
              </a:rPr>
              <a:t>≤65  &gt;</a:t>
            </a:r>
            <a:r>
              <a:rPr lang="en-US" altLang="zh-CN" sz="2000" dirty="0">
                <a:latin typeface="Times New Roman" pitchFamily="18" charset="0"/>
                <a:ea typeface="华文细黑" pitchFamily="2" charset="-122"/>
                <a:cs typeface="Times New Roman" pitchFamily="18" charset="0"/>
                <a:sym typeface="Symbol"/>
              </a:rPr>
              <a:t>70</a:t>
            </a:r>
          </a:p>
          <a:p>
            <a:pPr lvl="1"/>
            <a:r>
              <a:rPr lang="en-US" altLang="zh-CN" sz="2000" dirty="0">
                <a:latin typeface="Times New Roman" pitchFamily="18" charset="0"/>
                <a:ea typeface="华文细黑" pitchFamily="2" charset="-122"/>
                <a:cs typeface="Times New Roman" pitchFamily="18" charset="0"/>
              </a:rPr>
              <a:t>≤70  &gt;</a:t>
            </a:r>
            <a:r>
              <a:rPr lang="en-US" altLang="zh-CN" sz="2000" dirty="0">
                <a:latin typeface="Times New Roman" pitchFamily="18" charset="0"/>
                <a:ea typeface="华文细黑" pitchFamily="2" charset="-122"/>
                <a:cs typeface="Times New Roman" pitchFamily="18" charset="0"/>
                <a:sym typeface="Symbol"/>
              </a:rPr>
              <a:t>75</a:t>
            </a:r>
          </a:p>
          <a:p>
            <a:pPr lvl="1"/>
            <a:r>
              <a:rPr lang="en-US" altLang="zh-CN" sz="2000" dirty="0">
                <a:latin typeface="Times New Roman" pitchFamily="18" charset="0"/>
                <a:ea typeface="华文细黑" pitchFamily="2" charset="-122"/>
                <a:cs typeface="Times New Roman" pitchFamily="18" charset="0"/>
              </a:rPr>
              <a:t>≤75  </a:t>
            </a:r>
            <a:r>
              <a:rPr lang="en-US" altLang="zh-CN" sz="2000" dirty="0">
                <a:latin typeface="Times New Roman" pitchFamily="18" charset="0"/>
                <a:ea typeface="华文细黑" pitchFamily="2" charset="-122"/>
                <a:cs typeface="Times New Roman" pitchFamily="18" charset="0"/>
                <a:sym typeface="Symbol"/>
              </a:rPr>
              <a:t>&gt;80</a:t>
            </a:r>
          </a:p>
          <a:p>
            <a:pPr lvl="1"/>
            <a:r>
              <a:rPr lang="en-US" altLang="zh-CN" sz="2000" dirty="0">
                <a:latin typeface="Times New Roman" pitchFamily="18" charset="0"/>
                <a:ea typeface="华文细黑" pitchFamily="2" charset="-122"/>
                <a:cs typeface="Times New Roman" pitchFamily="18" charset="0"/>
              </a:rPr>
              <a:t>≤80  </a:t>
            </a:r>
            <a:r>
              <a:rPr lang="en-US" altLang="zh-CN" sz="2000" dirty="0">
                <a:latin typeface="Times New Roman" pitchFamily="18" charset="0"/>
                <a:ea typeface="华文细黑" pitchFamily="2" charset="-122"/>
                <a:cs typeface="Times New Roman" pitchFamily="18" charset="0"/>
                <a:sym typeface="Symbol"/>
              </a:rPr>
              <a:t>&gt;85</a:t>
            </a:r>
          </a:p>
          <a:p>
            <a:pPr lvl="1"/>
            <a:r>
              <a:rPr lang="en-US" altLang="zh-CN" sz="2000" dirty="0">
                <a:latin typeface="Times New Roman" pitchFamily="18" charset="0"/>
                <a:ea typeface="华文细黑" pitchFamily="2" charset="-122"/>
                <a:cs typeface="Times New Roman" pitchFamily="18" charset="0"/>
                <a:sym typeface="Symbol"/>
              </a:rPr>
              <a:t>……</a:t>
            </a:r>
          </a:p>
          <a:p>
            <a:pPr lvl="1"/>
            <a:r>
              <a:rPr lang="en-US" altLang="zh-CN" sz="2000" dirty="0">
                <a:latin typeface="Times New Roman" pitchFamily="18" charset="0"/>
                <a:ea typeface="华文细黑" pitchFamily="2" charset="-122"/>
                <a:cs typeface="Times New Roman" pitchFamily="18" charset="0"/>
              </a:rPr>
              <a:t>≤91  </a:t>
            </a:r>
            <a:r>
              <a:rPr lang="en-US" altLang="zh-CN" sz="2000" dirty="0">
                <a:latin typeface="Times New Roman" pitchFamily="18" charset="0"/>
                <a:ea typeface="华文细黑" pitchFamily="2" charset="-122"/>
                <a:cs typeface="Times New Roman" pitchFamily="18" charset="0"/>
                <a:sym typeface="Symbol"/>
              </a:rPr>
              <a:t>&gt;95</a:t>
            </a:r>
          </a:p>
          <a:p>
            <a:pPr lvl="1"/>
            <a:r>
              <a:rPr lang="en-US" altLang="zh-CN" sz="2000" dirty="0">
                <a:latin typeface="Times New Roman" pitchFamily="18" charset="0"/>
                <a:ea typeface="华文细黑" pitchFamily="2" charset="-122"/>
                <a:cs typeface="Times New Roman" pitchFamily="18" charset="0"/>
              </a:rPr>
              <a:t>≤</a:t>
            </a:r>
            <a:r>
              <a:rPr lang="en-US" altLang="zh-CN" sz="2000" dirty="0">
                <a:latin typeface="Times New Roman" pitchFamily="18" charset="0"/>
                <a:ea typeface="华文细黑" pitchFamily="2" charset="-122"/>
                <a:cs typeface="Times New Roman" pitchFamily="18" charset="0"/>
                <a:sym typeface="Symbol"/>
              </a:rPr>
              <a:t>95  &gt;96</a:t>
            </a:r>
          </a:p>
        </p:txBody>
      </p:sp>
      <p:sp>
        <p:nvSpPr>
          <p:cNvPr id="13" name="矩形 12"/>
          <p:cNvSpPr/>
          <p:nvPr/>
        </p:nvSpPr>
        <p:spPr>
          <a:xfrm>
            <a:off x="6080746" y="2132856"/>
            <a:ext cx="2616422" cy="3120854"/>
          </a:xfrm>
          <a:prstGeom prst="rect">
            <a:avLst/>
          </a:prstGeom>
        </p:spPr>
        <p:txBody>
          <a:bodyPr wrap="none">
            <a:spAutoFit/>
          </a:bodyPr>
          <a:lstStyle/>
          <a:p>
            <a:pPr>
              <a:lnSpc>
                <a:spcPct val="120000"/>
              </a:lnSpc>
            </a:pPr>
            <a:r>
              <a:rPr lang="en-US" altLang="zh-CN" sz="2400" dirty="0">
                <a:latin typeface="Times New Roman" pitchFamily="18" charset="0"/>
                <a:ea typeface="华文细黑" pitchFamily="2" charset="-122"/>
                <a:cs typeface="Times New Roman" pitchFamily="18" charset="0"/>
              </a:rPr>
              <a:t>3.</a:t>
            </a:r>
            <a:r>
              <a:rPr lang="zh-CN" altLang="en-US" sz="2400" dirty="0">
                <a:latin typeface="Times New Roman" pitchFamily="18" charset="0"/>
                <a:ea typeface="华文细黑" pitchFamily="2" charset="-122"/>
                <a:cs typeface="Times New Roman" pitchFamily="18" charset="0"/>
              </a:rPr>
              <a:t>比较</a:t>
            </a:r>
            <a:endParaRPr lang="en-US" altLang="zh-CN" sz="2400" dirty="0">
              <a:latin typeface="Times New Roman" pitchFamily="18" charset="0"/>
              <a:ea typeface="华文细黑" pitchFamily="2" charset="-122"/>
              <a:cs typeface="Times New Roman" pitchFamily="18" charset="0"/>
            </a:endParaRPr>
          </a:p>
          <a:p>
            <a:pPr lvl="1">
              <a:lnSpc>
                <a:spcPct val="120000"/>
              </a:lnSpc>
            </a:pPr>
            <a:r>
              <a:rPr lang="en-US" altLang="zh-CN" sz="2000" dirty="0" err="1">
                <a:latin typeface="Times New Roman" pitchFamily="18" charset="0"/>
                <a:ea typeface="华文细黑" pitchFamily="2" charset="-122"/>
                <a:cs typeface="Times New Roman" pitchFamily="18" charset="0"/>
              </a:rPr>
              <a:t>GiniSplit</a:t>
            </a:r>
            <a:r>
              <a:rPr lang="en-US" altLang="zh-CN" sz="2000" dirty="0">
                <a:latin typeface="Times New Roman" pitchFamily="18" charset="0"/>
                <a:ea typeface="华文细黑" pitchFamily="2" charset="-122"/>
                <a:cs typeface="Times New Roman" pitchFamily="18" charset="0"/>
              </a:rPr>
              <a:t>(≤65,&gt;</a:t>
            </a:r>
            <a:r>
              <a:rPr lang="en-US" altLang="zh-CN" sz="2000" dirty="0">
                <a:latin typeface="Times New Roman" pitchFamily="18" charset="0"/>
                <a:ea typeface="华文细黑" pitchFamily="2" charset="-122"/>
                <a:cs typeface="Times New Roman" pitchFamily="18" charset="0"/>
                <a:sym typeface="Symbol"/>
              </a:rPr>
              <a:t>70)</a:t>
            </a:r>
          </a:p>
          <a:p>
            <a:pPr lvl="1">
              <a:lnSpc>
                <a:spcPct val="120000"/>
              </a:lnSpc>
            </a:pPr>
            <a:r>
              <a:rPr lang="en-US" altLang="zh-CN" sz="2000" dirty="0" err="1">
                <a:latin typeface="Times New Roman" pitchFamily="18" charset="0"/>
                <a:ea typeface="华文细黑" pitchFamily="2" charset="-122"/>
                <a:cs typeface="Times New Roman" pitchFamily="18" charset="0"/>
              </a:rPr>
              <a:t>GiniSplit</a:t>
            </a:r>
            <a:r>
              <a:rPr lang="en-US" altLang="zh-CN" sz="2000" dirty="0">
                <a:latin typeface="Times New Roman" pitchFamily="18" charset="0"/>
                <a:ea typeface="华文细黑" pitchFamily="2" charset="-122"/>
                <a:cs typeface="Times New Roman" pitchFamily="18" charset="0"/>
              </a:rPr>
              <a:t>(≤70,&gt;</a:t>
            </a:r>
            <a:r>
              <a:rPr lang="en-US" altLang="zh-CN" sz="2000" dirty="0">
                <a:latin typeface="Times New Roman" pitchFamily="18" charset="0"/>
                <a:ea typeface="华文细黑" pitchFamily="2" charset="-122"/>
                <a:cs typeface="Times New Roman" pitchFamily="18" charset="0"/>
                <a:sym typeface="Symbol"/>
              </a:rPr>
              <a:t>75)</a:t>
            </a:r>
          </a:p>
          <a:p>
            <a:pPr lvl="1">
              <a:lnSpc>
                <a:spcPct val="120000"/>
              </a:lnSpc>
            </a:pPr>
            <a:r>
              <a:rPr lang="en-US" altLang="zh-CN" sz="2000" dirty="0" err="1">
                <a:latin typeface="Times New Roman" pitchFamily="18" charset="0"/>
                <a:ea typeface="华文细黑" pitchFamily="2" charset="-122"/>
                <a:cs typeface="Times New Roman" pitchFamily="18" charset="0"/>
              </a:rPr>
              <a:t>GiniSplit</a:t>
            </a:r>
            <a:r>
              <a:rPr lang="en-US" altLang="zh-CN" sz="2000" dirty="0">
                <a:latin typeface="Times New Roman" pitchFamily="18" charset="0"/>
                <a:ea typeface="华文细黑" pitchFamily="2" charset="-122"/>
                <a:cs typeface="Times New Roman" pitchFamily="18" charset="0"/>
              </a:rPr>
              <a:t>(≤75,&gt;</a:t>
            </a:r>
            <a:r>
              <a:rPr lang="en-US" altLang="zh-CN" sz="2000" dirty="0">
                <a:latin typeface="Times New Roman" pitchFamily="18" charset="0"/>
                <a:ea typeface="华文细黑" pitchFamily="2" charset="-122"/>
                <a:cs typeface="Times New Roman" pitchFamily="18" charset="0"/>
                <a:sym typeface="Symbol"/>
              </a:rPr>
              <a:t>80)</a:t>
            </a:r>
          </a:p>
          <a:p>
            <a:pPr lvl="1">
              <a:lnSpc>
                <a:spcPct val="120000"/>
              </a:lnSpc>
            </a:pPr>
            <a:r>
              <a:rPr lang="en-US" altLang="zh-CN" sz="2000" dirty="0" err="1">
                <a:latin typeface="Times New Roman" pitchFamily="18" charset="0"/>
                <a:ea typeface="华文细黑" pitchFamily="2" charset="-122"/>
                <a:cs typeface="Times New Roman" pitchFamily="18" charset="0"/>
              </a:rPr>
              <a:t>GiniSplit</a:t>
            </a:r>
            <a:r>
              <a:rPr lang="en-US" altLang="zh-CN" sz="2000" dirty="0">
                <a:latin typeface="Times New Roman" pitchFamily="18" charset="0"/>
                <a:ea typeface="华文细黑" pitchFamily="2" charset="-122"/>
                <a:cs typeface="Times New Roman" pitchFamily="18" charset="0"/>
              </a:rPr>
              <a:t>(≤80,&gt;</a:t>
            </a:r>
            <a:r>
              <a:rPr lang="en-US" altLang="zh-CN" sz="2000" dirty="0">
                <a:latin typeface="Times New Roman" pitchFamily="18" charset="0"/>
                <a:ea typeface="华文细黑" pitchFamily="2" charset="-122"/>
                <a:cs typeface="Times New Roman" pitchFamily="18" charset="0"/>
                <a:sym typeface="Symbol"/>
              </a:rPr>
              <a:t>85)</a:t>
            </a:r>
          </a:p>
          <a:p>
            <a:pPr lvl="1">
              <a:lnSpc>
                <a:spcPct val="120000"/>
              </a:lnSpc>
            </a:pPr>
            <a:r>
              <a:rPr lang="en-US" altLang="zh-CN" sz="2000" dirty="0">
                <a:latin typeface="Times New Roman" pitchFamily="18" charset="0"/>
                <a:ea typeface="华文细黑" pitchFamily="2" charset="-122"/>
                <a:cs typeface="Times New Roman" pitchFamily="18" charset="0"/>
                <a:sym typeface="Symbol"/>
              </a:rPr>
              <a:t>……</a:t>
            </a:r>
          </a:p>
          <a:p>
            <a:pPr lvl="1">
              <a:lnSpc>
                <a:spcPct val="120000"/>
              </a:lnSpc>
            </a:pPr>
            <a:r>
              <a:rPr lang="en-US" altLang="zh-CN" sz="2000" dirty="0" err="1">
                <a:latin typeface="Times New Roman" pitchFamily="18" charset="0"/>
                <a:ea typeface="华文细黑" pitchFamily="2" charset="-122"/>
                <a:cs typeface="Times New Roman" pitchFamily="18" charset="0"/>
              </a:rPr>
              <a:t>GiniSplit</a:t>
            </a:r>
            <a:r>
              <a:rPr lang="en-US" altLang="zh-CN" sz="2000" dirty="0">
                <a:latin typeface="Times New Roman" pitchFamily="18" charset="0"/>
                <a:ea typeface="华文细黑" pitchFamily="2" charset="-122"/>
                <a:cs typeface="Times New Roman" pitchFamily="18" charset="0"/>
              </a:rPr>
              <a:t>(≤91,&gt;</a:t>
            </a:r>
            <a:r>
              <a:rPr lang="en-US" altLang="zh-CN" sz="2000" dirty="0">
                <a:latin typeface="Times New Roman" pitchFamily="18" charset="0"/>
                <a:ea typeface="华文细黑" pitchFamily="2" charset="-122"/>
                <a:cs typeface="Times New Roman" pitchFamily="18" charset="0"/>
                <a:sym typeface="Symbol"/>
              </a:rPr>
              <a:t>95)</a:t>
            </a:r>
          </a:p>
          <a:p>
            <a:pPr lvl="1">
              <a:lnSpc>
                <a:spcPct val="120000"/>
              </a:lnSpc>
            </a:pPr>
            <a:r>
              <a:rPr lang="en-US" altLang="zh-CN" sz="2000" dirty="0" err="1">
                <a:latin typeface="Times New Roman" pitchFamily="18" charset="0"/>
                <a:ea typeface="华文细黑" pitchFamily="2" charset="-122"/>
                <a:cs typeface="Times New Roman" pitchFamily="18" charset="0"/>
              </a:rPr>
              <a:t>GiniSplit</a:t>
            </a:r>
            <a:r>
              <a:rPr lang="en-US" altLang="zh-CN" sz="2000" dirty="0">
                <a:latin typeface="Times New Roman" pitchFamily="18" charset="0"/>
                <a:ea typeface="华文细黑" pitchFamily="2" charset="-122"/>
                <a:cs typeface="Times New Roman" pitchFamily="18" charset="0"/>
              </a:rPr>
              <a:t>(≤</a:t>
            </a:r>
            <a:r>
              <a:rPr lang="en-US" altLang="zh-CN" sz="2000" dirty="0">
                <a:latin typeface="Times New Roman" pitchFamily="18" charset="0"/>
                <a:ea typeface="华文细黑" pitchFamily="2" charset="-122"/>
                <a:cs typeface="Times New Roman" pitchFamily="18" charset="0"/>
                <a:sym typeface="Symbol"/>
              </a:rPr>
              <a:t>95,96)</a:t>
            </a:r>
          </a:p>
        </p:txBody>
      </p:sp>
      <p:sp>
        <p:nvSpPr>
          <p:cNvPr id="7" name="矩形 6"/>
          <p:cNvSpPr/>
          <p:nvPr/>
        </p:nvSpPr>
        <p:spPr>
          <a:xfrm>
            <a:off x="6537602" y="3539970"/>
            <a:ext cx="2154757" cy="400110"/>
          </a:xfrm>
          <a:prstGeom prst="rect">
            <a:avLst/>
          </a:prstGeom>
        </p:spPr>
        <p:txBody>
          <a:bodyPr wrap="none">
            <a:spAutoFit/>
          </a:bodyPr>
          <a:lstStyle/>
          <a:p>
            <a:r>
              <a:rPr lang="en-US" altLang="zh-CN" sz="2000" dirty="0" err="1">
                <a:solidFill>
                  <a:srgbClr val="C00000"/>
                </a:solidFill>
                <a:latin typeface="Times New Roman" pitchFamily="18" charset="0"/>
                <a:ea typeface="华文细黑" pitchFamily="2" charset="-122"/>
                <a:cs typeface="Times New Roman" pitchFamily="18" charset="0"/>
              </a:rPr>
              <a:t>GiniSplit</a:t>
            </a:r>
            <a:r>
              <a:rPr lang="en-US" altLang="zh-CN" sz="2000" dirty="0">
                <a:solidFill>
                  <a:srgbClr val="C00000"/>
                </a:solidFill>
                <a:latin typeface="Times New Roman" pitchFamily="18" charset="0"/>
                <a:ea typeface="华文细黑" pitchFamily="2" charset="-122"/>
                <a:cs typeface="Times New Roman" pitchFamily="18" charset="0"/>
              </a:rPr>
              <a:t>(≤80,&gt;</a:t>
            </a:r>
            <a:r>
              <a:rPr lang="en-US" altLang="zh-CN" sz="2000" dirty="0">
                <a:solidFill>
                  <a:srgbClr val="C00000"/>
                </a:solidFill>
                <a:latin typeface="Times New Roman" pitchFamily="18" charset="0"/>
                <a:ea typeface="华文细黑" pitchFamily="2" charset="-122"/>
                <a:cs typeface="Times New Roman" pitchFamily="18" charset="0"/>
                <a:sym typeface="Symbol"/>
              </a:rPr>
              <a:t>85)</a:t>
            </a:r>
          </a:p>
        </p:txBody>
      </p:sp>
      <p:sp>
        <p:nvSpPr>
          <p:cNvPr id="22" name="矩形 21"/>
          <p:cNvSpPr/>
          <p:nvPr/>
        </p:nvSpPr>
        <p:spPr>
          <a:xfrm>
            <a:off x="107504" y="2068050"/>
            <a:ext cx="1107996" cy="461665"/>
          </a:xfrm>
          <a:prstGeom prst="rect">
            <a:avLst/>
          </a:prstGeom>
        </p:spPr>
        <p:txBody>
          <a:bodyPr wrap="none">
            <a:spAutoFit/>
          </a:bodyPr>
          <a:lstStyle/>
          <a:p>
            <a:r>
              <a:rPr lang="en-US" altLang="zh-CN" sz="2400" dirty="0">
                <a:latin typeface="宋体"/>
                <a:ea typeface="宋体"/>
                <a:cs typeface="Times New Roman" pitchFamily="18" charset="0"/>
              </a:rPr>
              <a:t>【</a:t>
            </a:r>
            <a:r>
              <a:rPr lang="zh-CN" altLang="en-US" sz="2400" dirty="0">
                <a:latin typeface="宋体"/>
                <a:ea typeface="宋体"/>
                <a:cs typeface="Times New Roman" pitchFamily="18" charset="0"/>
              </a:rPr>
              <a:t>例</a:t>
            </a:r>
            <a:r>
              <a:rPr lang="en-US" altLang="zh-CN" sz="2400" dirty="0">
                <a:latin typeface="宋体"/>
                <a:ea typeface="宋体"/>
                <a:cs typeface="Times New Roman" pitchFamily="18" charset="0"/>
              </a:rPr>
              <a:t>】</a:t>
            </a:r>
            <a:endParaRPr lang="zh-CN" altLang="en-US" sz="2400" dirty="0">
              <a:latin typeface="Times New Roman" pitchFamily="18" charset="0"/>
              <a:ea typeface="华文细黑" pitchFamily="2" charset="-122"/>
              <a:cs typeface="Times New Roman" pitchFamily="18" charset="0"/>
            </a:endParaRPr>
          </a:p>
        </p:txBody>
      </p:sp>
      <p:graphicFrame>
        <p:nvGraphicFramePr>
          <p:cNvPr id="23" name="表格 22"/>
          <p:cNvGraphicFramePr>
            <a:graphicFrameLocks noGrp="1"/>
          </p:cNvGraphicFramePr>
          <p:nvPr/>
        </p:nvGraphicFramePr>
        <p:xfrm>
          <a:off x="1259634" y="2132856"/>
          <a:ext cx="1312821" cy="3823200"/>
        </p:xfrm>
        <a:graphic>
          <a:graphicData uri="http://schemas.openxmlformats.org/drawingml/2006/table">
            <a:tbl>
              <a:tblPr firstRow="1" firstCol="1" bandRow="1">
                <a:tableStyleId>{2D5ABB26-0587-4C30-8999-92F81FD0307C}</a:tableStyleId>
              </a:tblPr>
              <a:tblGrid>
                <a:gridCol w="1312821">
                  <a:extLst>
                    <a:ext uri="{9D8B030D-6E8A-4147-A177-3AD203B41FA5}">
                      <a16:colId xmlns:a16="http://schemas.microsoft.com/office/drawing/2014/main" val="20000"/>
                    </a:ext>
                  </a:extLst>
                </a:gridCol>
              </a:tblGrid>
              <a:tr h="254880">
                <a:tc>
                  <a:txBody>
                    <a:bodyPr/>
                    <a:lstStyle/>
                    <a:p>
                      <a:pPr algn="ctr">
                        <a:spcAft>
                          <a:spcPts val="0"/>
                        </a:spcAft>
                      </a:pPr>
                      <a:r>
                        <a:rPr lang="en-US" sz="1600" kern="100" dirty="0">
                          <a:effectLst/>
                          <a:latin typeface="Times New Roman" pitchFamily="18" charset="0"/>
                        </a:rPr>
                        <a:t>Humidity</a:t>
                      </a:r>
                      <a:endParaRPr lang="zh-CN" sz="2500" kern="100" dirty="0">
                        <a:effectLst/>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54880">
                <a:tc>
                  <a:txBody>
                    <a:bodyPr/>
                    <a:lstStyle/>
                    <a:p>
                      <a:pPr algn="ctr">
                        <a:spcAft>
                          <a:spcPts val="0"/>
                        </a:spcAft>
                      </a:pPr>
                      <a:r>
                        <a:rPr lang="en-US" sz="1600" kern="100" dirty="0">
                          <a:effectLst/>
                          <a:latin typeface="Times New Roman" pitchFamily="18" charset="0"/>
                        </a:rPr>
                        <a:t>85</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54880">
                <a:tc>
                  <a:txBody>
                    <a:bodyPr/>
                    <a:lstStyle/>
                    <a:p>
                      <a:pPr algn="ctr">
                        <a:spcAft>
                          <a:spcPts val="0"/>
                        </a:spcAft>
                      </a:pPr>
                      <a:r>
                        <a:rPr lang="en-US" sz="1600" kern="100" dirty="0">
                          <a:effectLst/>
                          <a:latin typeface="Times New Roman" pitchFamily="18" charset="0"/>
                        </a:rPr>
                        <a:t>90</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54880">
                <a:tc>
                  <a:txBody>
                    <a:bodyPr/>
                    <a:lstStyle/>
                    <a:p>
                      <a:pPr algn="ctr">
                        <a:spcAft>
                          <a:spcPts val="0"/>
                        </a:spcAft>
                      </a:pPr>
                      <a:r>
                        <a:rPr lang="en-US" sz="1600" kern="100" dirty="0">
                          <a:effectLst/>
                          <a:latin typeface="Times New Roman" pitchFamily="18" charset="0"/>
                        </a:rPr>
                        <a:t>86</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54880">
                <a:tc>
                  <a:txBody>
                    <a:bodyPr/>
                    <a:lstStyle/>
                    <a:p>
                      <a:pPr algn="ctr">
                        <a:spcAft>
                          <a:spcPts val="0"/>
                        </a:spcAft>
                      </a:pPr>
                      <a:r>
                        <a:rPr lang="en-US" sz="1600" kern="100" dirty="0">
                          <a:effectLst/>
                          <a:latin typeface="Times New Roman" pitchFamily="18" charset="0"/>
                        </a:rPr>
                        <a:t>96</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54880">
                <a:tc>
                  <a:txBody>
                    <a:bodyPr/>
                    <a:lstStyle/>
                    <a:p>
                      <a:pPr algn="ctr">
                        <a:spcAft>
                          <a:spcPts val="0"/>
                        </a:spcAft>
                      </a:pPr>
                      <a:r>
                        <a:rPr lang="en-US" sz="1600" kern="100" dirty="0">
                          <a:effectLst/>
                          <a:latin typeface="Times New Roman" pitchFamily="18" charset="0"/>
                        </a:rPr>
                        <a:t>80</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54880">
                <a:tc>
                  <a:txBody>
                    <a:bodyPr/>
                    <a:lstStyle/>
                    <a:p>
                      <a:pPr algn="ctr">
                        <a:spcAft>
                          <a:spcPts val="0"/>
                        </a:spcAft>
                      </a:pPr>
                      <a:r>
                        <a:rPr lang="en-US" sz="1600" kern="100" dirty="0">
                          <a:effectLst/>
                          <a:latin typeface="Times New Roman" pitchFamily="18" charset="0"/>
                        </a:rPr>
                        <a:t>70</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54880">
                <a:tc>
                  <a:txBody>
                    <a:bodyPr/>
                    <a:lstStyle/>
                    <a:p>
                      <a:pPr algn="ctr">
                        <a:spcAft>
                          <a:spcPts val="0"/>
                        </a:spcAft>
                      </a:pPr>
                      <a:r>
                        <a:rPr lang="en-US" sz="1600" kern="100" dirty="0">
                          <a:effectLst/>
                          <a:latin typeface="Times New Roman" pitchFamily="18" charset="0"/>
                        </a:rPr>
                        <a:t>65</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54880">
                <a:tc>
                  <a:txBody>
                    <a:bodyPr/>
                    <a:lstStyle/>
                    <a:p>
                      <a:pPr algn="ctr">
                        <a:spcAft>
                          <a:spcPts val="0"/>
                        </a:spcAft>
                      </a:pPr>
                      <a:r>
                        <a:rPr lang="en-US" sz="1600" kern="100" dirty="0">
                          <a:effectLst/>
                          <a:latin typeface="Times New Roman" pitchFamily="18" charset="0"/>
                        </a:rPr>
                        <a:t>95</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54880">
                <a:tc>
                  <a:txBody>
                    <a:bodyPr/>
                    <a:lstStyle/>
                    <a:p>
                      <a:pPr algn="ctr">
                        <a:spcAft>
                          <a:spcPts val="0"/>
                        </a:spcAft>
                      </a:pPr>
                      <a:r>
                        <a:rPr lang="en-US" sz="1600" kern="100" dirty="0">
                          <a:effectLst/>
                          <a:latin typeface="Times New Roman" pitchFamily="18" charset="0"/>
                        </a:rPr>
                        <a:t>70</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54880">
                <a:tc>
                  <a:txBody>
                    <a:bodyPr/>
                    <a:lstStyle/>
                    <a:p>
                      <a:pPr algn="ctr">
                        <a:spcAft>
                          <a:spcPts val="0"/>
                        </a:spcAft>
                      </a:pPr>
                      <a:r>
                        <a:rPr lang="en-US" sz="1600" kern="100" dirty="0">
                          <a:effectLst/>
                          <a:latin typeface="Times New Roman" pitchFamily="18" charset="0"/>
                        </a:rPr>
                        <a:t>80</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54880">
                <a:tc>
                  <a:txBody>
                    <a:bodyPr/>
                    <a:lstStyle/>
                    <a:p>
                      <a:pPr algn="ctr">
                        <a:spcAft>
                          <a:spcPts val="0"/>
                        </a:spcAft>
                      </a:pPr>
                      <a:r>
                        <a:rPr lang="en-US" sz="1600" kern="100" dirty="0">
                          <a:effectLst/>
                          <a:latin typeface="Times New Roman" pitchFamily="18" charset="0"/>
                        </a:rPr>
                        <a:t>70</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254880">
                <a:tc>
                  <a:txBody>
                    <a:bodyPr/>
                    <a:lstStyle/>
                    <a:p>
                      <a:pPr algn="ctr">
                        <a:spcAft>
                          <a:spcPts val="0"/>
                        </a:spcAft>
                      </a:pPr>
                      <a:r>
                        <a:rPr lang="en-US" sz="1600" kern="100" dirty="0">
                          <a:effectLst/>
                          <a:latin typeface="Times New Roman" pitchFamily="18" charset="0"/>
                        </a:rPr>
                        <a:t>90</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54880">
                <a:tc>
                  <a:txBody>
                    <a:bodyPr/>
                    <a:lstStyle/>
                    <a:p>
                      <a:pPr algn="ctr">
                        <a:spcAft>
                          <a:spcPts val="0"/>
                        </a:spcAft>
                      </a:pPr>
                      <a:r>
                        <a:rPr lang="en-US" sz="1600" kern="100" dirty="0">
                          <a:effectLst/>
                          <a:latin typeface="Times New Roman" pitchFamily="18" charset="0"/>
                        </a:rPr>
                        <a:t>75</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54880">
                <a:tc>
                  <a:txBody>
                    <a:bodyPr/>
                    <a:lstStyle/>
                    <a:p>
                      <a:pPr algn="ctr">
                        <a:spcAft>
                          <a:spcPts val="0"/>
                        </a:spcAft>
                      </a:pPr>
                      <a:r>
                        <a:rPr lang="en-US" sz="1600" kern="100" dirty="0">
                          <a:effectLst/>
                          <a:latin typeface="Times New Roman" pitchFamily="18" charset="0"/>
                        </a:rPr>
                        <a:t>91</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bl>
          </a:graphicData>
        </a:graphic>
      </p:graphicFrame>
      <p:graphicFrame>
        <p:nvGraphicFramePr>
          <p:cNvPr id="10" name="表格 9"/>
          <p:cNvGraphicFramePr>
            <a:graphicFrameLocks noGrp="1"/>
          </p:cNvGraphicFramePr>
          <p:nvPr/>
        </p:nvGraphicFramePr>
        <p:xfrm>
          <a:off x="1259634" y="2132856"/>
          <a:ext cx="1312821" cy="3823342"/>
        </p:xfrm>
        <a:graphic>
          <a:graphicData uri="http://schemas.openxmlformats.org/drawingml/2006/table">
            <a:tbl>
              <a:tblPr firstRow="1" firstCol="1" bandRow="1">
                <a:tableStyleId>{2D5ABB26-0587-4C30-8999-92F81FD0307C}</a:tableStyleId>
              </a:tblPr>
              <a:tblGrid>
                <a:gridCol w="1312821">
                  <a:extLst>
                    <a:ext uri="{9D8B030D-6E8A-4147-A177-3AD203B41FA5}">
                      <a16:colId xmlns:a16="http://schemas.microsoft.com/office/drawing/2014/main" val="20000"/>
                    </a:ext>
                  </a:extLst>
                </a:gridCol>
              </a:tblGrid>
              <a:tr h="246888">
                <a:tc>
                  <a:txBody>
                    <a:bodyPr/>
                    <a:lstStyle/>
                    <a:p>
                      <a:pPr algn="ctr">
                        <a:spcAft>
                          <a:spcPts val="0"/>
                        </a:spcAft>
                      </a:pPr>
                      <a:r>
                        <a:rPr lang="en-US" sz="1600" kern="100" dirty="0">
                          <a:effectLst/>
                          <a:latin typeface="Times New Roman" pitchFamily="18" charset="0"/>
                        </a:rPr>
                        <a:t>Humidity</a:t>
                      </a:r>
                      <a:endParaRPr lang="zh-CN" sz="2500" kern="100" dirty="0">
                        <a:effectLst/>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0"/>
                  </a:ext>
                </a:extLst>
              </a:tr>
              <a:tr h="255461">
                <a:tc>
                  <a:txBody>
                    <a:bodyPr/>
                    <a:lstStyle/>
                    <a:p>
                      <a:pPr algn="ctr" rtl="0" fontAlgn="ctr"/>
                      <a:r>
                        <a:rPr lang="en-US" altLang="zh-CN" sz="1600" b="0" i="0" u="none" strike="noStrike" dirty="0">
                          <a:solidFill>
                            <a:srgbClr val="000000"/>
                          </a:solidFill>
                          <a:effectLst/>
                          <a:latin typeface="Times New Roman" pitchFamily="18" charset="0"/>
                        </a:rPr>
                        <a:t>65</a:t>
                      </a:r>
                    </a:p>
                  </a:txBody>
                  <a:tcPr marL="9525" marR="9525" marT="85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1"/>
                  </a:ext>
                </a:extLst>
              </a:tr>
              <a:tr h="255461">
                <a:tc>
                  <a:txBody>
                    <a:bodyPr/>
                    <a:lstStyle/>
                    <a:p>
                      <a:pPr algn="ctr" rtl="0" fontAlgn="ctr"/>
                      <a:r>
                        <a:rPr lang="en-US" altLang="zh-CN" sz="1600" b="0" i="0" u="none" strike="noStrike" dirty="0">
                          <a:solidFill>
                            <a:srgbClr val="000000"/>
                          </a:solidFill>
                          <a:effectLst/>
                          <a:latin typeface="Times New Roman" pitchFamily="18" charset="0"/>
                        </a:rPr>
                        <a:t>70</a:t>
                      </a:r>
                    </a:p>
                  </a:txBody>
                  <a:tcPr marL="9525" marR="9525" marT="85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2"/>
                  </a:ext>
                </a:extLst>
              </a:tr>
              <a:tr h="255461">
                <a:tc>
                  <a:txBody>
                    <a:bodyPr/>
                    <a:lstStyle/>
                    <a:p>
                      <a:pPr algn="ctr" rtl="0" fontAlgn="ctr"/>
                      <a:r>
                        <a:rPr lang="en-US" altLang="zh-CN" sz="1600" b="0" i="0" u="none" strike="noStrike" dirty="0">
                          <a:solidFill>
                            <a:srgbClr val="000000"/>
                          </a:solidFill>
                          <a:effectLst/>
                          <a:latin typeface="Times New Roman" pitchFamily="18" charset="0"/>
                        </a:rPr>
                        <a:t>70</a:t>
                      </a:r>
                    </a:p>
                  </a:txBody>
                  <a:tcPr marL="9525" marR="9525" marT="85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3"/>
                  </a:ext>
                </a:extLst>
              </a:tr>
              <a:tr h="255461">
                <a:tc>
                  <a:txBody>
                    <a:bodyPr/>
                    <a:lstStyle/>
                    <a:p>
                      <a:pPr algn="ctr" rtl="0" fontAlgn="ctr"/>
                      <a:r>
                        <a:rPr lang="en-US" altLang="zh-CN" sz="1600" b="0" i="0" u="none" strike="noStrike" dirty="0">
                          <a:solidFill>
                            <a:srgbClr val="000000"/>
                          </a:solidFill>
                          <a:effectLst/>
                          <a:latin typeface="Times New Roman" pitchFamily="18" charset="0"/>
                        </a:rPr>
                        <a:t>70</a:t>
                      </a:r>
                    </a:p>
                  </a:txBody>
                  <a:tcPr marL="9525" marR="9525" marT="85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4"/>
                  </a:ext>
                </a:extLst>
              </a:tr>
              <a:tr h="255461">
                <a:tc>
                  <a:txBody>
                    <a:bodyPr/>
                    <a:lstStyle/>
                    <a:p>
                      <a:pPr algn="ctr" rtl="0" fontAlgn="ctr"/>
                      <a:r>
                        <a:rPr lang="en-US" altLang="zh-CN" sz="1600" b="0" i="0" u="none" strike="noStrike" dirty="0">
                          <a:solidFill>
                            <a:srgbClr val="000000"/>
                          </a:solidFill>
                          <a:effectLst/>
                          <a:latin typeface="Times New Roman" pitchFamily="18" charset="0"/>
                        </a:rPr>
                        <a:t>75</a:t>
                      </a:r>
                    </a:p>
                  </a:txBody>
                  <a:tcPr marL="9525" marR="9525" marT="85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5"/>
                  </a:ext>
                </a:extLst>
              </a:tr>
              <a:tr h="255461">
                <a:tc>
                  <a:txBody>
                    <a:bodyPr/>
                    <a:lstStyle/>
                    <a:p>
                      <a:pPr algn="ctr" rtl="0" fontAlgn="ctr"/>
                      <a:r>
                        <a:rPr lang="en-US" altLang="zh-CN" sz="1600" b="0" i="0" u="none" strike="noStrike" dirty="0">
                          <a:solidFill>
                            <a:srgbClr val="000000"/>
                          </a:solidFill>
                          <a:effectLst/>
                          <a:latin typeface="Times New Roman" pitchFamily="18" charset="0"/>
                        </a:rPr>
                        <a:t>80</a:t>
                      </a:r>
                    </a:p>
                  </a:txBody>
                  <a:tcPr marL="9525" marR="9525" marT="85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6"/>
                  </a:ext>
                </a:extLst>
              </a:tr>
              <a:tr h="255461">
                <a:tc>
                  <a:txBody>
                    <a:bodyPr/>
                    <a:lstStyle/>
                    <a:p>
                      <a:pPr algn="ctr" rtl="0" fontAlgn="ctr"/>
                      <a:r>
                        <a:rPr lang="en-US" altLang="zh-CN" sz="1600" b="0" i="0" u="none" strike="noStrike" dirty="0">
                          <a:solidFill>
                            <a:srgbClr val="000000"/>
                          </a:solidFill>
                          <a:effectLst/>
                          <a:latin typeface="Times New Roman" pitchFamily="18" charset="0"/>
                        </a:rPr>
                        <a:t>80</a:t>
                      </a:r>
                    </a:p>
                  </a:txBody>
                  <a:tcPr marL="9525" marR="9525" marT="85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7"/>
                  </a:ext>
                </a:extLst>
              </a:tr>
              <a:tr h="255461">
                <a:tc>
                  <a:txBody>
                    <a:bodyPr/>
                    <a:lstStyle/>
                    <a:p>
                      <a:pPr algn="ctr" rtl="0" fontAlgn="ctr"/>
                      <a:r>
                        <a:rPr lang="en-US" altLang="zh-CN" sz="1600" b="0" i="0" u="none" strike="noStrike" dirty="0">
                          <a:solidFill>
                            <a:srgbClr val="000000"/>
                          </a:solidFill>
                          <a:effectLst/>
                          <a:latin typeface="Times New Roman" pitchFamily="18" charset="0"/>
                        </a:rPr>
                        <a:t>85</a:t>
                      </a:r>
                    </a:p>
                  </a:txBody>
                  <a:tcPr marL="9525" marR="9525" marT="85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8"/>
                  </a:ext>
                </a:extLst>
              </a:tr>
              <a:tr h="255461">
                <a:tc>
                  <a:txBody>
                    <a:bodyPr/>
                    <a:lstStyle/>
                    <a:p>
                      <a:pPr algn="ctr" rtl="0" fontAlgn="ctr"/>
                      <a:r>
                        <a:rPr lang="en-US" altLang="zh-CN" sz="1600" b="0" i="0" u="none" strike="noStrike" dirty="0">
                          <a:solidFill>
                            <a:srgbClr val="000000"/>
                          </a:solidFill>
                          <a:effectLst/>
                          <a:latin typeface="Times New Roman" pitchFamily="18" charset="0"/>
                        </a:rPr>
                        <a:t>86</a:t>
                      </a:r>
                    </a:p>
                  </a:txBody>
                  <a:tcPr marL="9525" marR="9525" marT="85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9"/>
                  </a:ext>
                </a:extLst>
              </a:tr>
              <a:tr h="255461">
                <a:tc>
                  <a:txBody>
                    <a:bodyPr/>
                    <a:lstStyle/>
                    <a:p>
                      <a:pPr algn="ctr" rtl="0" fontAlgn="ctr"/>
                      <a:r>
                        <a:rPr lang="en-US" altLang="zh-CN" sz="1600" b="0" i="0" u="none" strike="noStrike" dirty="0">
                          <a:solidFill>
                            <a:srgbClr val="000000"/>
                          </a:solidFill>
                          <a:effectLst/>
                          <a:latin typeface="Times New Roman" pitchFamily="18" charset="0"/>
                        </a:rPr>
                        <a:t>90</a:t>
                      </a:r>
                    </a:p>
                  </a:txBody>
                  <a:tcPr marL="9525" marR="9525" marT="85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10"/>
                  </a:ext>
                </a:extLst>
              </a:tr>
              <a:tr h="255461">
                <a:tc>
                  <a:txBody>
                    <a:bodyPr/>
                    <a:lstStyle/>
                    <a:p>
                      <a:pPr algn="ctr" rtl="0" fontAlgn="ctr"/>
                      <a:r>
                        <a:rPr lang="en-US" altLang="zh-CN" sz="1600" b="0" i="0" u="none" strike="noStrike" dirty="0">
                          <a:solidFill>
                            <a:srgbClr val="000000"/>
                          </a:solidFill>
                          <a:effectLst/>
                          <a:latin typeface="Times New Roman" pitchFamily="18" charset="0"/>
                        </a:rPr>
                        <a:t>90</a:t>
                      </a:r>
                    </a:p>
                  </a:txBody>
                  <a:tcPr marL="9525" marR="9525" marT="85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11"/>
                  </a:ext>
                </a:extLst>
              </a:tr>
              <a:tr h="255461">
                <a:tc>
                  <a:txBody>
                    <a:bodyPr/>
                    <a:lstStyle/>
                    <a:p>
                      <a:pPr algn="ctr" rtl="0" fontAlgn="ctr"/>
                      <a:r>
                        <a:rPr lang="en-US" altLang="zh-CN" sz="1600" b="0" i="0" u="none" strike="noStrike" dirty="0">
                          <a:solidFill>
                            <a:srgbClr val="000000"/>
                          </a:solidFill>
                          <a:effectLst/>
                          <a:latin typeface="Times New Roman" pitchFamily="18" charset="0"/>
                        </a:rPr>
                        <a:t>91</a:t>
                      </a:r>
                    </a:p>
                  </a:txBody>
                  <a:tcPr marL="9525" marR="9525" marT="85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12"/>
                  </a:ext>
                </a:extLst>
              </a:tr>
              <a:tr h="255461">
                <a:tc>
                  <a:txBody>
                    <a:bodyPr/>
                    <a:lstStyle/>
                    <a:p>
                      <a:pPr algn="ctr" rtl="0" fontAlgn="ctr"/>
                      <a:r>
                        <a:rPr lang="en-US" altLang="zh-CN" sz="1600" b="0" i="0" u="none" strike="noStrike" dirty="0">
                          <a:solidFill>
                            <a:srgbClr val="000000"/>
                          </a:solidFill>
                          <a:effectLst/>
                          <a:latin typeface="Times New Roman" pitchFamily="18" charset="0"/>
                        </a:rPr>
                        <a:t>95</a:t>
                      </a:r>
                    </a:p>
                  </a:txBody>
                  <a:tcPr marL="9525" marR="9525" marT="85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13"/>
                  </a:ext>
                </a:extLst>
              </a:tr>
              <a:tr h="255461">
                <a:tc>
                  <a:txBody>
                    <a:bodyPr/>
                    <a:lstStyle/>
                    <a:p>
                      <a:pPr algn="ctr" rtl="0" fontAlgn="ctr"/>
                      <a:r>
                        <a:rPr lang="en-US" altLang="zh-CN" sz="1600" b="0" i="0" u="none" strike="noStrike" dirty="0">
                          <a:solidFill>
                            <a:srgbClr val="000000"/>
                          </a:solidFill>
                          <a:effectLst/>
                          <a:latin typeface="Times New Roman" pitchFamily="18" charset="0"/>
                        </a:rPr>
                        <a:t>96</a:t>
                      </a:r>
                    </a:p>
                  </a:txBody>
                  <a:tcPr marL="9525" marR="9525" marT="85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14"/>
                  </a:ext>
                </a:extLst>
              </a:tr>
            </a:tbl>
          </a:graphicData>
        </a:graphic>
      </p:graphicFrame>
      <p:cxnSp>
        <p:nvCxnSpPr>
          <p:cNvPr id="4" name="直接连接符 3"/>
          <p:cNvCxnSpPr/>
          <p:nvPr/>
        </p:nvCxnSpPr>
        <p:spPr>
          <a:xfrm>
            <a:off x="1043608" y="4158810"/>
            <a:ext cx="17640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1190007" y="2632364"/>
            <a:ext cx="1442381" cy="3068348"/>
            <a:chOff x="1187624" y="1993404"/>
            <a:chExt cx="1442381" cy="3300461"/>
          </a:xfrm>
        </p:grpSpPr>
        <p:cxnSp>
          <p:nvCxnSpPr>
            <p:cNvPr id="12" name="直接连接符 11"/>
            <p:cNvCxnSpPr/>
            <p:nvPr/>
          </p:nvCxnSpPr>
          <p:spPr>
            <a:xfrm>
              <a:off x="1187624" y="5293865"/>
              <a:ext cx="1440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1187624" y="5017739"/>
              <a:ext cx="1440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1187624" y="4739802"/>
              <a:ext cx="1440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1187624" y="4197076"/>
              <a:ext cx="1440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187624" y="3909044"/>
              <a:ext cx="1440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187624" y="3640062"/>
              <a:ext cx="1440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1187624" y="3087018"/>
              <a:ext cx="1440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1190005" y="2814636"/>
              <a:ext cx="1440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190005" y="1993404"/>
              <a:ext cx="1440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5" name="页脚占位符 4">
            <a:extLst>
              <a:ext uri="{FF2B5EF4-FFF2-40B4-BE49-F238E27FC236}">
                <a16:creationId xmlns:a16="http://schemas.microsoft.com/office/drawing/2014/main" id="{068D1A34-2026-46D9-9CBA-E1A90DA6DB43}"/>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925567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Wingdings"/>
              </a:rPr>
              <a:t>连续属性的划分方法</a:t>
            </a:r>
            <a:endParaRPr lang="zh-CN" altLang="en-US" dirty="0"/>
          </a:p>
        </p:txBody>
      </p:sp>
      <p:sp>
        <p:nvSpPr>
          <p:cNvPr id="9" name="灯片编号占位符 1"/>
          <p:cNvSpPr>
            <a:spLocks noGrp="1"/>
          </p:cNvSpPr>
          <p:nvPr>
            <p:ph type="sldNum" sz="quarter" idx="12"/>
          </p:nvPr>
        </p:nvSpPr>
        <p:spPr/>
        <p:txBody>
          <a:bodyPr/>
          <a:lstStyle/>
          <a:p>
            <a:fld id="{6435AE0B-8C6B-4385-9ECF-079FDFACE1FC}" type="slidenum">
              <a:rPr lang="en-US" altLang="zh-CN" smtClean="0"/>
              <a:pPr/>
              <a:t>46</a:t>
            </a:fld>
            <a:endParaRPr lang="en-US" altLang="zh-CN"/>
          </a:p>
        </p:txBody>
      </p:sp>
      <p:sp>
        <p:nvSpPr>
          <p:cNvPr id="22" name="矩形 21"/>
          <p:cNvSpPr/>
          <p:nvPr/>
        </p:nvSpPr>
        <p:spPr>
          <a:xfrm>
            <a:off x="107504" y="2068050"/>
            <a:ext cx="1107996" cy="461665"/>
          </a:xfrm>
          <a:prstGeom prst="rect">
            <a:avLst/>
          </a:prstGeom>
        </p:spPr>
        <p:txBody>
          <a:bodyPr wrap="none">
            <a:spAutoFit/>
          </a:bodyPr>
          <a:lstStyle/>
          <a:p>
            <a:r>
              <a:rPr lang="en-US" altLang="zh-CN" sz="2400" dirty="0">
                <a:latin typeface="宋体"/>
                <a:ea typeface="宋体"/>
                <a:cs typeface="Times New Roman" pitchFamily="18" charset="0"/>
              </a:rPr>
              <a:t>【</a:t>
            </a:r>
            <a:r>
              <a:rPr lang="zh-CN" altLang="en-US" sz="2400" dirty="0">
                <a:latin typeface="宋体"/>
                <a:ea typeface="宋体"/>
                <a:cs typeface="Times New Roman" pitchFamily="18" charset="0"/>
              </a:rPr>
              <a:t>例</a:t>
            </a:r>
            <a:r>
              <a:rPr lang="en-US" altLang="zh-CN" sz="2400" dirty="0">
                <a:latin typeface="宋体"/>
                <a:ea typeface="宋体"/>
                <a:cs typeface="Times New Roman" pitchFamily="18" charset="0"/>
              </a:rPr>
              <a:t>】</a:t>
            </a:r>
            <a:endParaRPr lang="zh-CN" altLang="en-US" sz="2400" dirty="0">
              <a:latin typeface="Times New Roman" pitchFamily="18" charset="0"/>
              <a:ea typeface="华文细黑" pitchFamily="2" charset="-122"/>
              <a:cs typeface="Times New Roman" pitchFamily="18" charset="0"/>
            </a:endParaRPr>
          </a:p>
        </p:txBody>
      </p:sp>
      <p:grpSp>
        <p:nvGrpSpPr>
          <p:cNvPr id="6" name="组合 5"/>
          <p:cNvGrpSpPr/>
          <p:nvPr/>
        </p:nvGrpSpPr>
        <p:grpSpPr>
          <a:xfrm>
            <a:off x="2843808" y="2003243"/>
            <a:ext cx="3190674" cy="1873617"/>
            <a:chOff x="2116672" y="5392122"/>
            <a:chExt cx="1136649" cy="633730"/>
          </a:xfrm>
        </p:grpSpPr>
        <p:sp>
          <p:nvSpPr>
            <p:cNvPr id="7" name="矩形 6"/>
            <p:cNvSpPr/>
            <p:nvPr/>
          </p:nvSpPr>
          <p:spPr>
            <a:xfrm>
              <a:off x="2141890" y="5839162"/>
              <a:ext cx="359410" cy="186690"/>
            </a:xfrm>
            <a:prstGeom prst="rect">
              <a:avLst/>
            </a:prstGeom>
            <a:solidFill>
              <a:srgbClr val="E4EDF8"/>
            </a:solidFill>
            <a:ln w="6350">
              <a:solidFill>
                <a:schemeClr val="tx2">
                  <a:lumMod val="60000"/>
                  <a:lumOff val="40000"/>
                </a:schemeClr>
              </a:solidFill>
            </a:ln>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zh-CN" altLang="en-US" sz="3200" kern="100" dirty="0">
                <a:latin typeface="Times New Roman"/>
                <a:ea typeface="宋体"/>
                <a:cs typeface="Times New Roman"/>
              </a:endParaRPr>
            </a:p>
          </p:txBody>
        </p:sp>
        <p:sp>
          <p:nvSpPr>
            <p:cNvPr id="8" name="椭圆 7"/>
            <p:cNvSpPr/>
            <p:nvPr/>
          </p:nvSpPr>
          <p:spPr>
            <a:xfrm>
              <a:off x="2346995" y="5392122"/>
              <a:ext cx="662305" cy="215265"/>
            </a:xfrm>
            <a:prstGeom prst="ellipse">
              <a:avLst/>
            </a:prstGeom>
            <a:solidFill>
              <a:srgbClr val="F2F6EA"/>
            </a:solidFill>
            <a:ln w="9525">
              <a:solidFill>
                <a:schemeClr val="accent1"/>
              </a:solidFill>
            </a:ln>
            <a:effectLst/>
          </p:spPr>
          <p:style>
            <a:lnRef idx="2">
              <a:schemeClr val="accent1"/>
            </a:lnRef>
            <a:fillRef idx="1">
              <a:schemeClr val="l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2400" kern="100" dirty="0">
                  <a:latin typeface="Times New Roman"/>
                  <a:ea typeface="宋体"/>
                  <a:cs typeface="Times New Roman"/>
                </a:rPr>
                <a:t>Humidity</a:t>
              </a:r>
              <a:endParaRPr lang="zh-CN" altLang="en-US" sz="3200" kern="100" dirty="0">
                <a:latin typeface="Times New Roman"/>
                <a:ea typeface="宋体"/>
                <a:cs typeface="Times New Roman"/>
              </a:endParaRPr>
            </a:p>
          </p:txBody>
        </p:sp>
        <p:sp>
          <p:nvSpPr>
            <p:cNvPr id="10" name="矩形 9"/>
            <p:cNvSpPr/>
            <p:nvPr/>
          </p:nvSpPr>
          <p:spPr>
            <a:xfrm>
              <a:off x="2828960" y="5837892"/>
              <a:ext cx="359410" cy="186690"/>
            </a:xfrm>
            <a:prstGeom prst="rect">
              <a:avLst/>
            </a:prstGeom>
            <a:solidFill>
              <a:srgbClr val="E4EDF8"/>
            </a:solidFill>
            <a:ln w="6350">
              <a:solidFill>
                <a:schemeClr val="tx2">
                  <a:lumMod val="60000"/>
                  <a:lumOff val="40000"/>
                </a:schemeClr>
              </a:solidFill>
            </a:ln>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2400" kern="100" dirty="0">
                  <a:latin typeface="Times New Roman"/>
                  <a:ea typeface="宋体"/>
                  <a:cs typeface="Times New Roman"/>
                </a:rPr>
                <a:t> </a:t>
              </a:r>
              <a:endParaRPr lang="zh-CN" altLang="en-US" sz="3200" kern="100" dirty="0">
                <a:latin typeface="Times New Roman"/>
                <a:ea typeface="宋体"/>
                <a:cs typeface="Times New Roman"/>
              </a:endParaRPr>
            </a:p>
          </p:txBody>
        </p:sp>
        <p:cxnSp>
          <p:nvCxnSpPr>
            <p:cNvPr id="11" name="Line 14"/>
            <p:cNvCxnSpPr>
              <a:stCxn id="8" idx="4"/>
              <a:endCxn id="7" idx="0"/>
            </p:cNvCxnSpPr>
            <p:nvPr/>
          </p:nvCxnSpPr>
          <p:spPr bwMode="auto">
            <a:xfrm flipH="1">
              <a:off x="2321595" y="5607387"/>
              <a:ext cx="356552" cy="231775"/>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Line 14"/>
            <p:cNvCxnSpPr>
              <a:stCxn id="8" idx="4"/>
              <a:endCxn id="10" idx="0"/>
            </p:cNvCxnSpPr>
            <p:nvPr/>
          </p:nvCxnSpPr>
          <p:spPr bwMode="auto">
            <a:xfrm>
              <a:off x="2678148" y="5607387"/>
              <a:ext cx="330517" cy="230505"/>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Text Box 26"/>
            <p:cNvSpPr txBox="1">
              <a:spLocks noChangeArrowheads="1"/>
            </p:cNvSpPr>
            <p:nvPr/>
          </p:nvSpPr>
          <p:spPr bwMode="auto">
            <a:xfrm>
              <a:off x="2822156" y="5658240"/>
              <a:ext cx="431165" cy="118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1756" tIns="20878" rIns="41756" bIns="20878">
              <a:spAutoFit/>
            </a:bodyPr>
            <a:lstStyle/>
            <a:p>
              <a:pPr algn="ctr" fontAlgn="base"/>
              <a:r>
                <a:rPr lang="en-US" altLang="zh-CN" sz="2000" dirty="0">
                  <a:solidFill>
                    <a:srgbClr val="C00000"/>
                  </a:solidFill>
                  <a:latin typeface="Times New Roman" pitchFamily="18" charset="0"/>
                  <a:ea typeface="华文细黑" pitchFamily="2" charset="-122"/>
                  <a:cs typeface="Times New Roman" pitchFamily="18" charset="0"/>
                  <a:sym typeface="Symbol"/>
                </a:rPr>
                <a:t>&gt;85</a:t>
              </a:r>
              <a:endParaRPr lang="zh-CN" altLang="en-US" sz="4000" dirty="0">
                <a:latin typeface="宋体"/>
                <a:cs typeface="宋体"/>
              </a:endParaRPr>
            </a:p>
          </p:txBody>
        </p:sp>
        <p:sp>
          <p:nvSpPr>
            <p:cNvPr id="14" name="Text Box 26"/>
            <p:cNvSpPr txBox="1">
              <a:spLocks noChangeArrowheads="1"/>
            </p:cNvSpPr>
            <p:nvPr/>
          </p:nvSpPr>
          <p:spPr bwMode="auto">
            <a:xfrm>
              <a:off x="2116672" y="5658240"/>
              <a:ext cx="340957" cy="118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1756" tIns="20878" rIns="41756" bIns="20878">
              <a:spAutoFit/>
            </a:bodyPr>
            <a:lstStyle/>
            <a:p>
              <a:pPr algn="r" fontAlgn="base"/>
              <a:r>
                <a:rPr lang="en-US" altLang="zh-CN" sz="2000" dirty="0">
                  <a:solidFill>
                    <a:srgbClr val="C00000"/>
                  </a:solidFill>
                  <a:latin typeface="Times New Roman" pitchFamily="18" charset="0"/>
                  <a:ea typeface="华文细黑" pitchFamily="2" charset="-122"/>
                  <a:cs typeface="Times New Roman" pitchFamily="18" charset="0"/>
                </a:rPr>
                <a:t>≤80</a:t>
              </a:r>
              <a:endParaRPr lang="zh-CN" altLang="en-US" sz="4000" dirty="0">
                <a:latin typeface="宋体"/>
                <a:cs typeface="宋体"/>
              </a:endParaRPr>
            </a:p>
          </p:txBody>
        </p:sp>
      </p:grpSp>
      <p:graphicFrame>
        <p:nvGraphicFramePr>
          <p:cNvPr id="15" name="表格 14"/>
          <p:cNvGraphicFramePr>
            <a:graphicFrameLocks noGrp="1"/>
          </p:cNvGraphicFramePr>
          <p:nvPr/>
        </p:nvGraphicFramePr>
        <p:xfrm>
          <a:off x="1259634" y="2132856"/>
          <a:ext cx="1312821" cy="3823200"/>
        </p:xfrm>
        <a:graphic>
          <a:graphicData uri="http://schemas.openxmlformats.org/drawingml/2006/table">
            <a:tbl>
              <a:tblPr firstRow="1" firstCol="1" bandRow="1">
                <a:tableStyleId>{2D5ABB26-0587-4C30-8999-92F81FD0307C}</a:tableStyleId>
              </a:tblPr>
              <a:tblGrid>
                <a:gridCol w="1312821">
                  <a:extLst>
                    <a:ext uri="{9D8B030D-6E8A-4147-A177-3AD203B41FA5}">
                      <a16:colId xmlns:a16="http://schemas.microsoft.com/office/drawing/2014/main" val="20000"/>
                    </a:ext>
                  </a:extLst>
                </a:gridCol>
              </a:tblGrid>
              <a:tr h="254880">
                <a:tc>
                  <a:txBody>
                    <a:bodyPr/>
                    <a:lstStyle/>
                    <a:p>
                      <a:pPr algn="ctr">
                        <a:spcAft>
                          <a:spcPts val="0"/>
                        </a:spcAft>
                      </a:pPr>
                      <a:r>
                        <a:rPr lang="en-US" sz="1600" kern="100" dirty="0">
                          <a:effectLst/>
                          <a:latin typeface="Times New Roman" pitchFamily="18" charset="0"/>
                        </a:rPr>
                        <a:t>Humidity</a:t>
                      </a:r>
                      <a:endParaRPr lang="zh-CN" sz="2500" kern="100" dirty="0">
                        <a:effectLst/>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54880">
                <a:tc>
                  <a:txBody>
                    <a:bodyPr/>
                    <a:lstStyle/>
                    <a:p>
                      <a:pPr algn="ctr">
                        <a:spcAft>
                          <a:spcPts val="0"/>
                        </a:spcAft>
                      </a:pPr>
                      <a:r>
                        <a:rPr lang="en-US" sz="1600" kern="100" dirty="0">
                          <a:effectLst/>
                          <a:latin typeface="Times New Roman" pitchFamily="18" charset="0"/>
                        </a:rPr>
                        <a:t>85</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54880">
                <a:tc>
                  <a:txBody>
                    <a:bodyPr/>
                    <a:lstStyle/>
                    <a:p>
                      <a:pPr algn="ctr">
                        <a:spcAft>
                          <a:spcPts val="0"/>
                        </a:spcAft>
                      </a:pPr>
                      <a:r>
                        <a:rPr lang="en-US" sz="1600" kern="100" dirty="0">
                          <a:effectLst/>
                          <a:latin typeface="Times New Roman" pitchFamily="18" charset="0"/>
                        </a:rPr>
                        <a:t>90</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54880">
                <a:tc>
                  <a:txBody>
                    <a:bodyPr/>
                    <a:lstStyle/>
                    <a:p>
                      <a:pPr algn="ctr">
                        <a:spcAft>
                          <a:spcPts val="0"/>
                        </a:spcAft>
                      </a:pPr>
                      <a:r>
                        <a:rPr lang="en-US" sz="1600" kern="100" dirty="0">
                          <a:effectLst/>
                          <a:latin typeface="Times New Roman" pitchFamily="18" charset="0"/>
                        </a:rPr>
                        <a:t>86</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54880">
                <a:tc>
                  <a:txBody>
                    <a:bodyPr/>
                    <a:lstStyle/>
                    <a:p>
                      <a:pPr algn="ctr">
                        <a:spcAft>
                          <a:spcPts val="0"/>
                        </a:spcAft>
                      </a:pPr>
                      <a:r>
                        <a:rPr lang="en-US" sz="1600" kern="100" dirty="0">
                          <a:effectLst/>
                          <a:latin typeface="Times New Roman" pitchFamily="18" charset="0"/>
                        </a:rPr>
                        <a:t>96</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54880">
                <a:tc>
                  <a:txBody>
                    <a:bodyPr/>
                    <a:lstStyle/>
                    <a:p>
                      <a:pPr algn="ctr">
                        <a:spcAft>
                          <a:spcPts val="0"/>
                        </a:spcAft>
                      </a:pPr>
                      <a:r>
                        <a:rPr lang="en-US" sz="1600" kern="100" dirty="0">
                          <a:effectLst/>
                          <a:latin typeface="Times New Roman" pitchFamily="18" charset="0"/>
                        </a:rPr>
                        <a:t>80</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54880">
                <a:tc>
                  <a:txBody>
                    <a:bodyPr/>
                    <a:lstStyle/>
                    <a:p>
                      <a:pPr algn="ctr">
                        <a:spcAft>
                          <a:spcPts val="0"/>
                        </a:spcAft>
                      </a:pPr>
                      <a:r>
                        <a:rPr lang="en-US" sz="1600" kern="100" dirty="0">
                          <a:effectLst/>
                          <a:latin typeface="Times New Roman" pitchFamily="18" charset="0"/>
                        </a:rPr>
                        <a:t>70</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54880">
                <a:tc>
                  <a:txBody>
                    <a:bodyPr/>
                    <a:lstStyle/>
                    <a:p>
                      <a:pPr algn="ctr">
                        <a:spcAft>
                          <a:spcPts val="0"/>
                        </a:spcAft>
                      </a:pPr>
                      <a:r>
                        <a:rPr lang="en-US" sz="1600" kern="100" dirty="0">
                          <a:effectLst/>
                          <a:latin typeface="Times New Roman" pitchFamily="18" charset="0"/>
                        </a:rPr>
                        <a:t>65</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54880">
                <a:tc>
                  <a:txBody>
                    <a:bodyPr/>
                    <a:lstStyle/>
                    <a:p>
                      <a:pPr algn="ctr">
                        <a:spcAft>
                          <a:spcPts val="0"/>
                        </a:spcAft>
                      </a:pPr>
                      <a:r>
                        <a:rPr lang="en-US" sz="1600" kern="100" dirty="0">
                          <a:effectLst/>
                          <a:latin typeface="Times New Roman" pitchFamily="18" charset="0"/>
                        </a:rPr>
                        <a:t>95</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54880">
                <a:tc>
                  <a:txBody>
                    <a:bodyPr/>
                    <a:lstStyle/>
                    <a:p>
                      <a:pPr algn="ctr">
                        <a:spcAft>
                          <a:spcPts val="0"/>
                        </a:spcAft>
                      </a:pPr>
                      <a:r>
                        <a:rPr lang="en-US" sz="1600" kern="100" dirty="0">
                          <a:effectLst/>
                          <a:latin typeface="Times New Roman" pitchFamily="18" charset="0"/>
                        </a:rPr>
                        <a:t>70</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54880">
                <a:tc>
                  <a:txBody>
                    <a:bodyPr/>
                    <a:lstStyle/>
                    <a:p>
                      <a:pPr algn="ctr">
                        <a:spcAft>
                          <a:spcPts val="0"/>
                        </a:spcAft>
                      </a:pPr>
                      <a:r>
                        <a:rPr lang="en-US" sz="1600" kern="100" dirty="0">
                          <a:effectLst/>
                          <a:latin typeface="Times New Roman" pitchFamily="18" charset="0"/>
                        </a:rPr>
                        <a:t>80</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54880">
                <a:tc>
                  <a:txBody>
                    <a:bodyPr/>
                    <a:lstStyle/>
                    <a:p>
                      <a:pPr algn="ctr">
                        <a:spcAft>
                          <a:spcPts val="0"/>
                        </a:spcAft>
                      </a:pPr>
                      <a:r>
                        <a:rPr lang="en-US" sz="1600" kern="100" dirty="0">
                          <a:effectLst/>
                          <a:latin typeface="Times New Roman" pitchFamily="18" charset="0"/>
                        </a:rPr>
                        <a:t>70</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254880">
                <a:tc>
                  <a:txBody>
                    <a:bodyPr/>
                    <a:lstStyle/>
                    <a:p>
                      <a:pPr algn="ctr">
                        <a:spcAft>
                          <a:spcPts val="0"/>
                        </a:spcAft>
                      </a:pPr>
                      <a:r>
                        <a:rPr lang="en-US" sz="1600" kern="100" dirty="0">
                          <a:effectLst/>
                          <a:latin typeface="Times New Roman" pitchFamily="18" charset="0"/>
                        </a:rPr>
                        <a:t>90</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54880">
                <a:tc>
                  <a:txBody>
                    <a:bodyPr/>
                    <a:lstStyle/>
                    <a:p>
                      <a:pPr algn="ctr">
                        <a:spcAft>
                          <a:spcPts val="0"/>
                        </a:spcAft>
                      </a:pPr>
                      <a:r>
                        <a:rPr lang="en-US" sz="1600" kern="100" dirty="0">
                          <a:effectLst/>
                          <a:latin typeface="Times New Roman" pitchFamily="18" charset="0"/>
                        </a:rPr>
                        <a:t>75</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54880">
                <a:tc>
                  <a:txBody>
                    <a:bodyPr/>
                    <a:lstStyle/>
                    <a:p>
                      <a:pPr algn="ctr">
                        <a:spcAft>
                          <a:spcPts val="0"/>
                        </a:spcAft>
                      </a:pPr>
                      <a:r>
                        <a:rPr lang="en-US" sz="1600" kern="100" dirty="0">
                          <a:effectLst/>
                          <a:latin typeface="Times New Roman" pitchFamily="18" charset="0"/>
                        </a:rPr>
                        <a:t>91</a:t>
                      </a:r>
                      <a:endParaRPr lang="zh-CN" sz="2500" kern="100" dirty="0">
                        <a:effectLst/>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bl>
          </a:graphicData>
        </a:graphic>
      </p:graphicFrame>
      <p:sp>
        <p:nvSpPr>
          <p:cNvPr id="3" name="矩形 2"/>
          <p:cNvSpPr/>
          <p:nvPr/>
        </p:nvSpPr>
        <p:spPr>
          <a:xfrm rot="21293846">
            <a:off x="5987716" y="2305930"/>
            <a:ext cx="2935385" cy="1200329"/>
          </a:xfrm>
          <a:prstGeom prst="rect">
            <a:avLst/>
          </a:prstGeom>
        </p:spPr>
        <p:txBody>
          <a:bodyPr wrap="square">
            <a:spAutoFit/>
          </a:bodyPr>
          <a:lstStyle/>
          <a:p>
            <a:r>
              <a:rPr lang="zh-CN" altLang="en-US" sz="2400" b="1" dirty="0">
                <a:solidFill>
                  <a:srgbClr val="C00000"/>
                </a:solidFill>
                <a:latin typeface="华文细黑" pitchFamily="2" charset="-122"/>
                <a:ea typeface="华文细黑" pitchFamily="2" charset="-122"/>
              </a:rPr>
              <a:t>从两个相邻的排过序的属性值之间选择中间值作为划分点</a:t>
            </a:r>
          </a:p>
        </p:txBody>
      </p:sp>
      <p:grpSp>
        <p:nvGrpSpPr>
          <p:cNvPr id="16" name="组合 15"/>
          <p:cNvGrpSpPr/>
          <p:nvPr/>
        </p:nvGrpSpPr>
        <p:grpSpPr>
          <a:xfrm>
            <a:off x="5220072" y="3823636"/>
            <a:ext cx="3190674" cy="1873617"/>
            <a:chOff x="2116672" y="5392122"/>
            <a:chExt cx="1136649" cy="633730"/>
          </a:xfrm>
        </p:grpSpPr>
        <p:sp>
          <p:nvSpPr>
            <p:cNvPr id="17" name="矩形 16"/>
            <p:cNvSpPr/>
            <p:nvPr/>
          </p:nvSpPr>
          <p:spPr>
            <a:xfrm>
              <a:off x="2141890" y="5839162"/>
              <a:ext cx="359410" cy="186690"/>
            </a:xfrm>
            <a:prstGeom prst="rect">
              <a:avLst/>
            </a:prstGeom>
            <a:solidFill>
              <a:srgbClr val="E4EDF8"/>
            </a:solidFill>
            <a:ln w="6350">
              <a:solidFill>
                <a:schemeClr val="tx2">
                  <a:lumMod val="60000"/>
                  <a:lumOff val="40000"/>
                </a:schemeClr>
              </a:solidFill>
            </a:ln>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2400" kern="100">
                  <a:latin typeface="Times New Roman"/>
                  <a:ea typeface="宋体"/>
                  <a:cs typeface="Times New Roman"/>
                </a:rPr>
                <a:t> </a:t>
              </a:r>
              <a:endParaRPr lang="zh-CN" altLang="en-US" sz="3200" kern="100">
                <a:latin typeface="Times New Roman"/>
                <a:ea typeface="宋体"/>
                <a:cs typeface="Times New Roman"/>
              </a:endParaRPr>
            </a:p>
          </p:txBody>
        </p:sp>
        <p:sp>
          <p:nvSpPr>
            <p:cNvPr id="18" name="椭圆 17"/>
            <p:cNvSpPr/>
            <p:nvPr/>
          </p:nvSpPr>
          <p:spPr>
            <a:xfrm>
              <a:off x="2346995" y="5392122"/>
              <a:ext cx="662305" cy="215265"/>
            </a:xfrm>
            <a:prstGeom prst="ellipse">
              <a:avLst/>
            </a:prstGeom>
            <a:solidFill>
              <a:srgbClr val="F2F6EA"/>
            </a:solidFill>
            <a:ln w="9525">
              <a:solidFill>
                <a:schemeClr val="accent1"/>
              </a:solidFill>
            </a:ln>
            <a:effectLst/>
          </p:spPr>
          <p:style>
            <a:lnRef idx="2">
              <a:schemeClr val="accent1"/>
            </a:lnRef>
            <a:fillRef idx="1">
              <a:schemeClr val="lt1"/>
            </a:fillRef>
            <a:effectRef idx="0">
              <a:schemeClr val="accent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2400" kern="100" dirty="0">
                  <a:latin typeface="Times New Roman"/>
                  <a:ea typeface="宋体"/>
                  <a:cs typeface="Times New Roman"/>
                </a:rPr>
                <a:t>Humidity</a:t>
              </a:r>
              <a:endParaRPr lang="zh-CN" altLang="en-US" sz="3200" kern="100" dirty="0">
                <a:latin typeface="Times New Roman"/>
                <a:ea typeface="宋体"/>
                <a:cs typeface="Times New Roman"/>
              </a:endParaRPr>
            </a:p>
          </p:txBody>
        </p:sp>
        <p:sp>
          <p:nvSpPr>
            <p:cNvPr id="19" name="矩形 18"/>
            <p:cNvSpPr/>
            <p:nvPr/>
          </p:nvSpPr>
          <p:spPr>
            <a:xfrm>
              <a:off x="2828960" y="5837892"/>
              <a:ext cx="359410" cy="186690"/>
            </a:xfrm>
            <a:prstGeom prst="rect">
              <a:avLst/>
            </a:prstGeom>
            <a:solidFill>
              <a:srgbClr val="E4EDF8"/>
            </a:solidFill>
            <a:ln w="6350">
              <a:solidFill>
                <a:schemeClr val="tx2">
                  <a:lumMod val="60000"/>
                  <a:lumOff val="40000"/>
                </a:schemeClr>
              </a:solidFill>
            </a:ln>
            <a:effectLst/>
          </p:spPr>
          <p:style>
            <a:lnRef idx="2">
              <a:schemeClr val="dk1"/>
            </a:lnRef>
            <a:fillRef idx="1">
              <a:schemeClr val="lt1"/>
            </a:fillRef>
            <a:effectRef idx="0">
              <a:schemeClr val="dk1"/>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r>
                <a:rPr lang="en-US" sz="2400" kern="100">
                  <a:latin typeface="Times New Roman"/>
                  <a:ea typeface="宋体"/>
                  <a:cs typeface="Times New Roman"/>
                </a:rPr>
                <a:t> </a:t>
              </a:r>
              <a:endParaRPr lang="zh-CN" altLang="en-US" sz="3200" kern="100">
                <a:latin typeface="Times New Roman"/>
                <a:ea typeface="宋体"/>
                <a:cs typeface="Times New Roman"/>
              </a:endParaRPr>
            </a:p>
          </p:txBody>
        </p:sp>
        <p:cxnSp>
          <p:nvCxnSpPr>
            <p:cNvPr id="20" name="Line 14"/>
            <p:cNvCxnSpPr>
              <a:stCxn id="18" idx="4"/>
              <a:endCxn id="17" idx="0"/>
            </p:cNvCxnSpPr>
            <p:nvPr/>
          </p:nvCxnSpPr>
          <p:spPr bwMode="auto">
            <a:xfrm flipH="1">
              <a:off x="2321595" y="5607387"/>
              <a:ext cx="356552" cy="231775"/>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Line 14"/>
            <p:cNvCxnSpPr>
              <a:stCxn id="18" idx="4"/>
              <a:endCxn id="19" idx="0"/>
            </p:cNvCxnSpPr>
            <p:nvPr/>
          </p:nvCxnSpPr>
          <p:spPr bwMode="auto">
            <a:xfrm>
              <a:off x="2678148" y="5607387"/>
              <a:ext cx="330517" cy="230505"/>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Text Box 26"/>
            <p:cNvSpPr txBox="1">
              <a:spLocks noChangeArrowheads="1"/>
            </p:cNvSpPr>
            <p:nvPr/>
          </p:nvSpPr>
          <p:spPr bwMode="auto">
            <a:xfrm>
              <a:off x="2822156" y="5658240"/>
              <a:ext cx="431165" cy="118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1756" tIns="20878" rIns="41756" bIns="20878">
              <a:spAutoFit/>
            </a:bodyPr>
            <a:lstStyle/>
            <a:p>
              <a:pPr algn="ctr" fontAlgn="base"/>
              <a:r>
                <a:rPr lang="en-US" altLang="zh-CN" sz="2000" b="1" dirty="0">
                  <a:solidFill>
                    <a:srgbClr val="C00000"/>
                  </a:solidFill>
                  <a:latin typeface="Times New Roman" pitchFamily="18" charset="0"/>
                  <a:ea typeface="华文细黑" pitchFamily="2" charset="-122"/>
                  <a:cs typeface="Times New Roman" pitchFamily="18" charset="0"/>
                  <a:sym typeface="Symbol"/>
                </a:rPr>
                <a:t>&gt;82.5</a:t>
              </a:r>
              <a:endParaRPr lang="zh-CN" altLang="en-US" sz="4000" b="1" dirty="0">
                <a:latin typeface="宋体"/>
                <a:cs typeface="宋体"/>
              </a:endParaRPr>
            </a:p>
          </p:txBody>
        </p:sp>
        <p:sp>
          <p:nvSpPr>
            <p:cNvPr id="25" name="Text Box 26"/>
            <p:cNvSpPr txBox="1">
              <a:spLocks noChangeArrowheads="1"/>
            </p:cNvSpPr>
            <p:nvPr/>
          </p:nvSpPr>
          <p:spPr bwMode="auto">
            <a:xfrm>
              <a:off x="2116672" y="5658240"/>
              <a:ext cx="340957" cy="118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1756" tIns="20878" rIns="41756" bIns="20878">
              <a:spAutoFit/>
            </a:bodyPr>
            <a:lstStyle/>
            <a:p>
              <a:pPr algn="r" fontAlgn="base"/>
              <a:r>
                <a:rPr lang="en-US" altLang="zh-CN" sz="2000" b="1" dirty="0">
                  <a:solidFill>
                    <a:srgbClr val="C00000"/>
                  </a:solidFill>
                  <a:latin typeface="Times New Roman" pitchFamily="18" charset="0"/>
                  <a:ea typeface="华文细黑" pitchFamily="2" charset="-122"/>
                  <a:cs typeface="Times New Roman" pitchFamily="18" charset="0"/>
                </a:rPr>
                <a:t>≤82.5</a:t>
              </a:r>
              <a:endParaRPr lang="zh-CN" altLang="en-US" sz="4000" b="1" dirty="0">
                <a:latin typeface="宋体"/>
                <a:cs typeface="宋体"/>
              </a:endParaRPr>
            </a:p>
          </p:txBody>
        </p:sp>
      </p:grpSp>
      <p:sp>
        <p:nvSpPr>
          <p:cNvPr id="4" name="页脚占位符 3">
            <a:extLst>
              <a:ext uri="{FF2B5EF4-FFF2-40B4-BE49-F238E27FC236}">
                <a16:creationId xmlns:a16="http://schemas.microsoft.com/office/drawing/2014/main" id="{369B31DC-44FF-4804-A93A-B0500CD5B8F2}"/>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1613601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Wingdings"/>
              </a:rPr>
              <a:t>连续属性的划分方法</a:t>
            </a:r>
            <a:endParaRPr lang="zh-CN" altLang="en-US" dirty="0"/>
          </a:p>
        </p:txBody>
      </p:sp>
      <p:sp>
        <p:nvSpPr>
          <p:cNvPr id="9" name="灯片编号占位符 1"/>
          <p:cNvSpPr>
            <a:spLocks noGrp="1"/>
          </p:cNvSpPr>
          <p:nvPr>
            <p:ph type="sldNum" sz="quarter" idx="12"/>
          </p:nvPr>
        </p:nvSpPr>
        <p:spPr/>
        <p:txBody>
          <a:bodyPr/>
          <a:lstStyle/>
          <a:p>
            <a:fld id="{6435AE0B-8C6B-4385-9ECF-079FDFACE1FC}" type="slidenum">
              <a:rPr lang="en-US" altLang="zh-CN" smtClean="0"/>
              <a:pPr/>
              <a:t>47</a:t>
            </a:fld>
            <a:endParaRPr lang="en-US" altLang="zh-CN"/>
          </a:p>
        </p:txBody>
      </p:sp>
      <p:pic>
        <p:nvPicPr>
          <p:cNvPr id="23" name="图片 22"/>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27511" y="2081778"/>
            <a:ext cx="9108000" cy="1568349"/>
          </a:xfrm>
          <a:prstGeom prst="rect">
            <a:avLst/>
          </a:prstGeom>
          <a:noFill/>
          <a:ln>
            <a:noFill/>
          </a:ln>
        </p:spPr>
      </p:pic>
      <p:sp>
        <p:nvSpPr>
          <p:cNvPr id="4" name="矩形 3"/>
          <p:cNvSpPr/>
          <p:nvPr/>
        </p:nvSpPr>
        <p:spPr>
          <a:xfrm rot="21326663">
            <a:off x="1674283" y="3892718"/>
            <a:ext cx="5141419" cy="1200329"/>
          </a:xfrm>
          <a:prstGeom prst="rect">
            <a:avLst/>
          </a:prstGeom>
        </p:spPr>
        <p:txBody>
          <a:bodyPr wrap="square">
            <a:spAutoFit/>
          </a:bodyPr>
          <a:lstStyle/>
          <a:p>
            <a:r>
              <a:rPr lang="zh-CN" altLang="zh-CN" sz="2400" dirty="0">
                <a:solidFill>
                  <a:srgbClr val="C00000"/>
                </a:solidFill>
                <a:latin typeface="华文细黑" pitchFamily="2" charset="-122"/>
                <a:ea typeface="华文细黑" pitchFamily="2" charset="-122"/>
              </a:rPr>
              <a:t>如果连续数值取值较为分散，则以上方法需要大量的计算</a:t>
            </a:r>
            <a:r>
              <a:rPr lang="zh-CN" altLang="en-US" sz="2400" dirty="0">
                <a:solidFill>
                  <a:srgbClr val="C00000"/>
                </a:solidFill>
                <a:latin typeface="华文细黑" pitchFamily="2" charset="-122"/>
                <a:ea typeface="华文细黑" pitchFamily="2" charset="-122"/>
              </a:rPr>
              <a:t>。</a:t>
            </a:r>
            <a:endParaRPr lang="en-US" altLang="zh-CN" sz="2400" dirty="0">
              <a:solidFill>
                <a:srgbClr val="C00000"/>
              </a:solidFill>
              <a:latin typeface="华文细黑" pitchFamily="2" charset="-122"/>
              <a:ea typeface="华文细黑" pitchFamily="2" charset="-122"/>
            </a:endParaRPr>
          </a:p>
          <a:p>
            <a:r>
              <a:rPr lang="zh-CN" altLang="zh-CN" sz="2400" dirty="0">
                <a:solidFill>
                  <a:srgbClr val="C00000"/>
                </a:solidFill>
                <a:latin typeface="华文细黑" pitchFamily="2" charset="-122"/>
                <a:ea typeface="华文细黑" pitchFamily="2" charset="-122"/>
              </a:rPr>
              <a:t>可采取一些处理方法来降低计算量</a:t>
            </a:r>
            <a:r>
              <a:rPr lang="zh-CN" altLang="en-US" sz="2400" dirty="0">
                <a:solidFill>
                  <a:srgbClr val="C00000"/>
                </a:solidFill>
                <a:latin typeface="华文细黑" pitchFamily="2" charset="-122"/>
                <a:ea typeface="华文细黑" pitchFamily="2" charset="-122"/>
              </a:rPr>
              <a:t>。</a:t>
            </a:r>
          </a:p>
        </p:txBody>
      </p:sp>
      <p:sp>
        <p:nvSpPr>
          <p:cNvPr id="6" name="矩形 5"/>
          <p:cNvSpPr/>
          <p:nvPr/>
        </p:nvSpPr>
        <p:spPr>
          <a:xfrm rot="21326663">
            <a:off x="3714542" y="4743006"/>
            <a:ext cx="4644000" cy="830997"/>
          </a:xfrm>
          <a:prstGeom prst="rect">
            <a:avLst/>
          </a:prstGeom>
        </p:spPr>
        <p:txBody>
          <a:bodyPr wrap="square">
            <a:spAutoFit/>
          </a:bodyPr>
          <a:lstStyle/>
          <a:p>
            <a:r>
              <a:rPr lang="zh-CN" altLang="zh-CN" sz="2400" dirty="0">
                <a:solidFill>
                  <a:srgbClr val="C00000"/>
                </a:solidFill>
                <a:latin typeface="华文细黑" pitchFamily="2" charset="-122"/>
                <a:ea typeface="华文细黑" pitchFamily="2" charset="-122"/>
              </a:rPr>
              <a:t>对排序后的连续数值属性所对应的决策属性值进行分类的方法。</a:t>
            </a:r>
            <a:endParaRPr lang="zh-CN" altLang="en-US" sz="2400" dirty="0">
              <a:solidFill>
                <a:srgbClr val="C00000"/>
              </a:solidFill>
              <a:latin typeface="华文细黑" pitchFamily="2" charset="-122"/>
              <a:ea typeface="华文细黑" pitchFamily="2" charset="-122"/>
            </a:endParaRPr>
          </a:p>
        </p:txBody>
      </p:sp>
      <p:sp>
        <p:nvSpPr>
          <p:cNvPr id="3" name="页脚占位符 2">
            <a:extLst>
              <a:ext uri="{FF2B5EF4-FFF2-40B4-BE49-F238E27FC236}">
                <a16:creationId xmlns:a16="http://schemas.microsoft.com/office/drawing/2014/main" id="{83646303-F499-4376-8B2F-943AC39EAFBC}"/>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1539184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125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fade">
                                      <p:cBhvr>
                                        <p:cTn id="17" dur="125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fade">
                                      <p:cBhvr>
                                        <p:cTn id="22" dur="1250"/>
                                        <p:tgtEl>
                                          <p:spTgt spid="6">
                                            <p:txEl>
                                              <p:pRg st="0" end="0"/>
                                            </p:txEl>
                                          </p:spTgt>
                                        </p:tgtEl>
                                      </p:cBhvr>
                                    </p:animEffect>
                                  </p:childTnLst>
                                </p:cTn>
                              </p:par>
                              <p:par>
                                <p:cTn id="23" presetID="10" presetClass="exit" presetSubtype="0" fill="hold" grpId="1" nodeType="withEffect">
                                  <p:stCondLst>
                                    <p:cond delay="0"/>
                                  </p:stCondLst>
                                  <p:childTnLst>
                                    <p:animEffect transition="out" filter="fade">
                                      <p:cBhvr>
                                        <p:cTn id="24" dur="1000"/>
                                        <p:tgtEl>
                                          <p:spTgt spid="4">
                                            <p:txEl>
                                              <p:pRg st="0" end="0"/>
                                            </p:txEl>
                                          </p:spTgt>
                                        </p:tgtEl>
                                      </p:cBhvr>
                                    </p:animEffect>
                                    <p:set>
                                      <p:cBhvr>
                                        <p:cTn id="25" dur="1" fill="hold">
                                          <p:stCondLst>
                                            <p:cond delay="999"/>
                                          </p:stCondLst>
                                        </p:cTn>
                                        <p:tgtEl>
                                          <p:spTgt spid="4">
                                            <p:txEl>
                                              <p:pRg st="0" end="0"/>
                                            </p:txEl>
                                          </p:spTgt>
                                        </p:tgtEl>
                                        <p:attrNameLst>
                                          <p:attrName>style.visibility</p:attrName>
                                        </p:attrNameLst>
                                      </p:cBhvr>
                                      <p:to>
                                        <p:strVal val="hidden"/>
                                      </p:to>
                                    </p:set>
                                  </p:childTnLst>
                                </p:cTn>
                              </p:par>
                              <p:par>
                                <p:cTn id="26" presetID="10" presetClass="exit" presetSubtype="0" fill="hold" grpId="1" nodeType="withEffect">
                                  <p:stCondLst>
                                    <p:cond delay="0"/>
                                  </p:stCondLst>
                                  <p:childTnLst>
                                    <p:animEffect transition="out" filter="fade">
                                      <p:cBhvr>
                                        <p:cTn id="27" dur="1000"/>
                                        <p:tgtEl>
                                          <p:spTgt spid="4">
                                            <p:txEl>
                                              <p:pRg st="1" end="1"/>
                                            </p:txEl>
                                          </p:spTgt>
                                        </p:tgtEl>
                                      </p:cBhvr>
                                    </p:animEffect>
                                    <p:set>
                                      <p:cBhvr>
                                        <p:cTn id="28" dur="1" fill="hold">
                                          <p:stCondLst>
                                            <p:cond delay="999"/>
                                          </p:stCondLst>
                                        </p:cTn>
                                        <p:tgtEl>
                                          <p:spTgt spid="4">
                                            <p:txEl>
                                              <p:pRg st="1" end="1"/>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4" grpId="1" build="allAtOnce"/>
      <p:bldP spid="6"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Wingdings"/>
              </a:rPr>
              <a:t>连续属性的划分方法</a:t>
            </a:r>
            <a:endParaRPr lang="zh-CN" altLang="en-US" dirty="0"/>
          </a:p>
        </p:txBody>
      </p:sp>
      <p:sp>
        <p:nvSpPr>
          <p:cNvPr id="9" name="灯片编号占位符 1"/>
          <p:cNvSpPr>
            <a:spLocks noGrp="1"/>
          </p:cNvSpPr>
          <p:nvPr>
            <p:ph type="sldNum" sz="quarter" idx="12"/>
          </p:nvPr>
        </p:nvSpPr>
        <p:spPr/>
        <p:txBody>
          <a:bodyPr/>
          <a:lstStyle/>
          <a:p>
            <a:fld id="{6435AE0B-8C6B-4385-9ECF-079FDFACE1FC}" type="slidenum">
              <a:rPr lang="en-US" altLang="zh-CN" smtClean="0"/>
              <a:pPr/>
              <a:t>48</a:t>
            </a:fld>
            <a:endParaRPr lang="en-US" altLang="zh-CN"/>
          </a:p>
        </p:txBody>
      </p:sp>
      <p:pic>
        <p:nvPicPr>
          <p:cNvPr id="6861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504" y="2132857"/>
            <a:ext cx="8964000" cy="1830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3"/>
          <p:cNvSpPr>
            <a:spLocks noChangeArrowheads="1"/>
          </p:cNvSpPr>
          <p:nvPr/>
        </p:nvSpPr>
        <p:spPr bwMode="auto">
          <a:xfrm>
            <a:off x="125895" y="3457369"/>
            <a:ext cx="820891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lnSpc>
                <a:spcPct val="120000"/>
              </a:lnSpc>
              <a:spcBef>
                <a:spcPct val="0"/>
              </a:spcBef>
              <a:spcAft>
                <a:spcPct val="0"/>
              </a:spcAft>
            </a:pPr>
            <a:r>
              <a:rPr lang="en-US" altLang="zh-CN" sz="2400" dirty="0">
                <a:latin typeface="华文细黑" pitchFamily="2" charset="-122"/>
                <a:ea typeface="华文细黑" pitchFamily="2" charset="-122"/>
                <a:cs typeface="Times New Roman" pitchFamily="18" charset="0"/>
              </a:rPr>
              <a:t>1. </a:t>
            </a:r>
            <a:r>
              <a:rPr lang="zh-CN" altLang="en-US" sz="2400" dirty="0">
                <a:latin typeface="华文细黑" pitchFamily="2" charset="-122"/>
                <a:ea typeface="华文细黑" pitchFamily="2" charset="-122"/>
                <a:cs typeface="Times New Roman" pitchFamily="18" charset="0"/>
              </a:rPr>
              <a:t>对属性值由低到高进行排序；</a:t>
            </a:r>
            <a:endParaRPr lang="en-US" altLang="zh-CN" sz="2400" dirty="0">
              <a:latin typeface="华文细黑" pitchFamily="2" charset="-122"/>
              <a:ea typeface="华文细黑" pitchFamily="2" charset="-122"/>
              <a:cs typeface="Times New Roman" pitchFamily="18" charset="0"/>
            </a:endParaRPr>
          </a:p>
          <a:p>
            <a:pPr fontAlgn="base">
              <a:lnSpc>
                <a:spcPct val="120000"/>
              </a:lnSpc>
              <a:spcBef>
                <a:spcPct val="0"/>
              </a:spcBef>
              <a:spcAft>
                <a:spcPct val="0"/>
              </a:spcAft>
            </a:pPr>
            <a:r>
              <a:rPr lang="en-US" altLang="zh-CN" sz="2400" dirty="0">
                <a:latin typeface="华文细黑" pitchFamily="2" charset="-122"/>
                <a:ea typeface="华文细黑" pitchFamily="2" charset="-122"/>
                <a:cs typeface="Times New Roman" pitchFamily="18" charset="0"/>
              </a:rPr>
              <a:t>2. </a:t>
            </a:r>
            <a:r>
              <a:rPr lang="zh-CN" altLang="en-US" sz="2400" dirty="0">
                <a:latin typeface="华文细黑" pitchFamily="2" charset="-122"/>
                <a:ea typeface="华文细黑" pitchFamily="2" charset="-122"/>
                <a:cs typeface="Times New Roman" pitchFamily="18" charset="0"/>
              </a:rPr>
              <a:t>对分类属性在属性值排序的基础上进行排序；</a:t>
            </a:r>
            <a:endParaRPr lang="en-US" altLang="zh-CN" sz="2400" dirty="0">
              <a:latin typeface="华文细黑" pitchFamily="2" charset="-122"/>
              <a:ea typeface="华文细黑" pitchFamily="2" charset="-122"/>
              <a:cs typeface="Times New Roman" pitchFamily="18" charset="0"/>
            </a:endParaRPr>
          </a:p>
          <a:p>
            <a:pPr fontAlgn="base">
              <a:lnSpc>
                <a:spcPct val="120000"/>
              </a:lnSpc>
              <a:spcBef>
                <a:spcPct val="0"/>
              </a:spcBef>
              <a:spcAft>
                <a:spcPct val="0"/>
              </a:spcAft>
            </a:pPr>
            <a:r>
              <a:rPr lang="en-US" altLang="zh-CN" sz="2400" dirty="0">
                <a:latin typeface="华文细黑" pitchFamily="2" charset="-122"/>
                <a:ea typeface="华文细黑" pitchFamily="2" charset="-122"/>
                <a:cs typeface="Times New Roman" pitchFamily="18" charset="0"/>
              </a:rPr>
              <a:t>3. </a:t>
            </a:r>
            <a:r>
              <a:rPr lang="zh-CN" altLang="en-US" sz="2400" dirty="0">
                <a:latin typeface="华文细黑" pitchFamily="2" charset="-122"/>
                <a:ea typeface="华文细黑" pitchFamily="2" charset="-122"/>
                <a:cs typeface="Times New Roman" pitchFamily="18" charset="0"/>
              </a:rPr>
              <a:t>将属性值或分类值不发生变化的数值视为同一组；</a:t>
            </a:r>
            <a:endParaRPr lang="en-US" altLang="zh-CN" sz="2400" dirty="0">
              <a:latin typeface="华文细黑" pitchFamily="2" charset="-122"/>
              <a:ea typeface="华文细黑" pitchFamily="2" charset="-122"/>
              <a:cs typeface="Times New Roman" pitchFamily="18" charset="0"/>
            </a:endParaRPr>
          </a:p>
          <a:p>
            <a:pPr fontAlgn="base">
              <a:lnSpc>
                <a:spcPct val="120000"/>
              </a:lnSpc>
              <a:spcBef>
                <a:spcPct val="0"/>
              </a:spcBef>
              <a:spcAft>
                <a:spcPct val="0"/>
              </a:spcAft>
            </a:pPr>
            <a:r>
              <a:rPr lang="en-US" altLang="zh-CN" sz="2400" dirty="0">
                <a:latin typeface="华文细黑" pitchFamily="2" charset="-122"/>
                <a:ea typeface="华文细黑" pitchFamily="2" charset="-122"/>
                <a:cs typeface="Times New Roman" pitchFamily="18" charset="0"/>
              </a:rPr>
              <a:t>4. </a:t>
            </a:r>
            <a:r>
              <a:rPr lang="zh-CN" altLang="en-US" sz="2400" dirty="0">
                <a:latin typeface="华文细黑" pitchFamily="2" charset="-122"/>
                <a:ea typeface="华文细黑" pitchFamily="2" charset="-122"/>
                <a:cs typeface="Times New Roman" pitchFamily="18" charset="0"/>
              </a:rPr>
              <a:t>找出属性值和分类值均发生变化的边界点；</a:t>
            </a:r>
            <a:endParaRPr lang="en-US" altLang="zh-CN" sz="2400" dirty="0">
              <a:latin typeface="华文细黑" pitchFamily="2" charset="-122"/>
              <a:ea typeface="华文细黑" pitchFamily="2" charset="-122"/>
              <a:cs typeface="Times New Roman" pitchFamily="18" charset="0"/>
            </a:endParaRPr>
          </a:p>
          <a:p>
            <a:pPr fontAlgn="base">
              <a:lnSpc>
                <a:spcPct val="120000"/>
              </a:lnSpc>
              <a:spcBef>
                <a:spcPct val="0"/>
              </a:spcBef>
              <a:spcAft>
                <a:spcPct val="0"/>
              </a:spcAft>
            </a:pPr>
            <a:r>
              <a:rPr lang="en-US" altLang="zh-CN" sz="2400" dirty="0">
                <a:latin typeface="华文细黑" pitchFamily="2" charset="-122"/>
                <a:ea typeface="华文细黑" pitchFamily="2" charset="-122"/>
                <a:cs typeface="Times New Roman" pitchFamily="18" charset="0"/>
              </a:rPr>
              <a:t>5. </a:t>
            </a:r>
            <a:r>
              <a:rPr lang="zh-CN" altLang="en-US" sz="2400" dirty="0">
                <a:latin typeface="华文细黑" pitchFamily="2" charset="-122"/>
                <a:ea typeface="华文细黑" pitchFamily="2" charset="-122"/>
                <a:cs typeface="Times New Roman" pitchFamily="18" charset="0"/>
              </a:rPr>
              <a:t>按边界点为划分点进行划分增益计算比较</a:t>
            </a:r>
            <a:endParaRPr lang="zh-CN" altLang="en-US" sz="4800" dirty="0">
              <a:latin typeface="华文细黑" pitchFamily="2" charset="-122"/>
              <a:ea typeface="华文细黑" pitchFamily="2" charset="-122"/>
              <a:cs typeface="宋体" pitchFamily="2" charset="-122"/>
            </a:endParaRPr>
          </a:p>
        </p:txBody>
      </p:sp>
      <p:sp>
        <p:nvSpPr>
          <p:cNvPr id="4" name="矩形 3"/>
          <p:cNvSpPr/>
          <p:nvPr/>
        </p:nvSpPr>
        <p:spPr>
          <a:xfrm>
            <a:off x="125894" y="2262470"/>
            <a:ext cx="8892000" cy="194400"/>
          </a:xfrm>
          <a:prstGeom prst="rect">
            <a:avLst/>
          </a:prstGeom>
          <a:noFill/>
          <a:ln w="28575">
            <a:solidFill>
              <a:srgbClr val="FF00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7" name="矩形 6"/>
          <p:cNvSpPr/>
          <p:nvPr/>
        </p:nvSpPr>
        <p:spPr>
          <a:xfrm>
            <a:off x="125894" y="2456914"/>
            <a:ext cx="8892000" cy="162000"/>
          </a:xfrm>
          <a:prstGeom prst="rect">
            <a:avLst/>
          </a:prstGeom>
          <a:noFill/>
          <a:ln w="28575">
            <a:solidFill>
              <a:srgbClr val="FF00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8" name="矩形 7"/>
          <p:cNvSpPr/>
          <p:nvPr/>
        </p:nvSpPr>
        <p:spPr>
          <a:xfrm>
            <a:off x="1080600" y="2262470"/>
            <a:ext cx="3312000" cy="356400"/>
          </a:xfrm>
          <a:prstGeom prst="rect">
            <a:avLst/>
          </a:prstGeom>
          <a:noFill/>
          <a:ln w="28575">
            <a:solidFill>
              <a:srgbClr val="00206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10" name="矩形 9"/>
          <p:cNvSpPr/>
          <p:nvPr/>
        </p:nvSpPr>
        <p:spPr>
          <a:xfrm>
            <a:off x="467544" y="2262470"/>
            <a:ext cx="612000" cy="356400"/>
          </a:xfrm>
          <a:prstGeom prst="rect">
            <a:avLst/>
          </a:prstGeom>
          <a:noFill/>
          <a:ln w="28575">
            <a:solidFill>
              <a:srgbClr val="FF00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11" name="矩形 10"/>
          <p:cNvSpPr/>
          <p:nvPr/>
        </p:nvSpPr>
        <p:spPr>
          <a:xfrm>
            <a:off x="4392048" y="2262470"/>
            <a:ext cx="756000" cy="356400"/>
          </a:xfrm>
          <a:prstGeom prst="rect">
            <a:avLst/>
          </a:prstGeom>
          <a:noFill/>
          <a:ln w="28575">
            <a:solidFill>
              <a:srgbClr val="00B0F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12" name="矩形 11"/>
          <p:cNvSpPr/>
          <p:nvPr/>
        </p:nvSpPr>
        <p:spPr>
          <a:xfrm>
            <a:off x="5148064" y="2262470"/>
            <a:ext cx="720000" cy="356400"/>
          </a:xfrm>
          <a:prstGeom prst="rect">
            <a:avLst/>
          </a:prstGeom>
          <a:noFill/>
          <a:ln w="28575">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13" name="矩形 12"/>
          <p:cNvSpPr/>
          <p:nvPr/>
        </p:nvSpPr>
        <p:spPr>
          <a:xfrm>
            <a:off x="5868224" y="2262470"/>
            <a:ext cx="1260000" cy="356400"/>
          </a:xfrm>
          <a:prstGeom prst="rect">
            <a:avLst/>
          </a:prstGeom>
          <a:noFill/>
          <a:ln w="28575">
            <a:solidFill>
              <a:schemeClr val="accent2">
                <a:lumMod val="50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14" name="矩形 13"/>
          <p:cNvSpPr/>
          <p:nvPr/>
        </p:nvSpPr>
        <p:spPr>
          <a:xfrm>
            <a:off x="7128424" y="2262470"/>
            <a:ext cx="1260000" cy="356400"/>
          </a:xfrm>
          <a:prstGeom prst="rect">
            <a:avLst/>
          </a:prstGeom>
          <a:noFill/>
          <a:ln w="28575">
            <a:solidFill>
              <a:srgbClr val="FF00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15" name="矩形 14"/>
          <p:cNvSpPr/>
          <p:nvPr/>
        </p:nvSpPr>
        <p:spPr>
          <a:xfrm>
            <a:off x="8388424" y="2262470"/>
            <a:ext cx="612000" cy="356400"/>
          </a:xfrm>
          <a:prstGeom prst="rect">
            <a:avLst/>
          </a:prstGeom>
          <a:noFill/>
          <a:ln w="28575">
            <a:solidFill>
              <a:srgbClr val="00B0F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16" name="矩形 15"/>
          <p:cNvSpPr/>
          <p:nvPr/>
        </p:nvSpPr>
        <p:spPr>
          <a:xfrm>
            <a:off x="4032008" y="3364193"/>
            <a:ext cx="756000" cy="162000"/>
          </a:xfrm>
          <a:prstGeom prst="rect">
            <a:avLst/>
          </a:prstGeom>
          <a:noFill/>
          <a:ln w="28575">
            <a:solidFill>
              <a:srgbClr val="FF00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5" name="页脚占位符 4">
            <a:extLst>
              <a:ext uri="{FF2B5EF4-FFF2-40B4-BE49-F238E27FC236}">
                <a16:creationId xmlns:a16="http://schemas.microsoft.com/office/drawing/2014/main" id="{9AB6957C-ED68-432C-A861-5FD52BCE58CF}"/>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322285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8610"/>
                                        </p:tgtEl>
                                        <p:attrNameLst>
                                          <p:attrName>style.visibility</p:attrName>
                                        </p:attrNameLst>
                                      </p:cBhvr>
                                      <p:to>
                                        <p:strVal val="visible"/>
                                      </p:to>
                                    </p:set>
                                    <p:animEffect transition="in" filter="fade">
                                      <p:cBhvr>
                                        <p:cTn id="7" dur="500"/>
                                        <p:tgtEl>
                                          <p:spTgt spid="686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par>
                          <p:cTn id="13" fill="hold">
                            <p:stCondLst>
                              <p:cond delay="500"/>
                            </p:stCondLst>
                            <p:childTnLst>
                              <p:par>
                                <p:cTn id="14" presetID="16" presetClass="entr" presetSubtype="37"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barn(outVertical)">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500"/>
                                        <p:tgtEl>
                                          <p:spTgt spid="3">
                                            <p:txEl>
                                              <p:pRg st="1" end="1"/>
                                            </p:txEl>
                                          </p:spTgt>
                                        </p:tgtEl>
                                      </p:cBhvr>
                                    </p:animEffect>
                                  </p:childTnLst>
                                </p:cTn>
                              </p:par>
                              <p:par>
                                <p:cTn id="22" presetID="10" presetClass="exit" presetSubtype="0" fill="hold" grpId="1" nodeType="withEffect">
                                  <p:stCondLst>
                                    <p:cond delay="0"/>
                                  </p:stCondLst>
                                  <p:childTnLst>
                                    <p:animEffect transition="out" filter="fade">
                                      <p:cBhvr>
                                        <p:cTn id="23" dur="500"/>
                                        <p:tgtEl>
                                          <p:spTgt spid="4"/>
                                        </p:tgtEl>
                                      </p:cBhvr>
                                    </p:animEffect>
                                    <p:set>
                                      <p:cBhvr>
                                        <p:cTn id="24" dur="1" fill="hold">
                                          <p:stCondLst>
                                            <p:cond delay="499"/>
                                          </p:stCondLst>
                                        </p:cTn>
                                        <p:tgtEl>
                                          <p:spTgt spid="4"/>
                                        </p:tgtEl>
                                        <p:attrNameLst>
                                          <p:attrName>style.visibility</p:attrName>
                                        </p:attrNameLst>
                                      </p:cBhvr>
                                      <p:to>
                                        <p:strVal val="hidden"/>
                                      </p:to>
                                    </p:set>
                                  </p:childTnLst>
                                </p:cTn>
                              </p:par>
                            </p:childTnLst>
                          </p:cTn>
                        </p:par>
                        <p:par>
                          <p:cTn id="25" fill="hold">
                            <p:stCondLst>
                              <p:cond delay="500"/>
                            </p:stCondLst>
                            <p:childTnLst>
                              <p:par>
                                <p:cTn id="26" presetID="16" presetClass="entr" presetSubtype="37" fill="hold" grpId="0"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barn(outVertical)">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2" end="2"/>
                                            </p:txEl>
                                          </p:spTgt>
                                        </p:tgtEl>
                                        <p:attrNameLst>
                                          <p:attrName>style.visibility</p:attrName>
                                        </p:attrNameLst>
                                      </p:cBhvr>
                                      <p:to>
                                        <p:strVal val="visible"/>
                                      </p:to>
                                    </p:set>
                                    <p:animEffect transition="in" filter="fade">
                                      <p:cBhvr>
                                        <p:cTn id="33" dur="500"/>
                                        <p:tgtEl>
                                          <p:spTgt spid="3">
                                            <p:txEl>
                                              <p:pRg st="2" end="2"/>
                                            </p:txEl>
                                          </p:spTgt>
                                        </p:tgtEl>
                                      </p:cBhvr>
                                    </p:animEffect>
                                  </p:childTnLst>
                                </p:cTn>
                              </p:par>
                              <p:par>
                                <p:cTn id="34" presetID="10" presetClass="exit" presetSubtype="0" fill="hold" grpId="1" nodeType="withEffect">
                                  <p:stCondLst>
                                    <p:cond delay="0"/>
                                  </p:stCondLst>
                                  <p:childTnLst>
                                    <p:animEffect transition="out" filter="fade">
                                      <p:cBhvr>
                                        <p:cTn id="35" dur="500"/>
                                        <p:tgtEl>
                                          <p:spTgt spid="7"/>
                                        </p:tgtEl>
                                      </p:cBhvr>
                                    </p:animEffect>
                                    <p:set>
                                      <p:cBhvr>
                                        <p:cTn id="36" dur="1" fill="hold">
                                          <p:stCondLst>
                                            <p:cond delay="499"/>
                                          </p:stCondLst>
                                        </p:cTn>
                                        <p:tgtEl>
                                          <p:spTgt spid="7"/>
                                        </p:tgtEl>
                                        <p:attrNameLst>
                                          <p:attrName>style.visibility</p:attrName>
                                        </p:attrNameLst>
                                      </p:cBhvr>
                                      <p:to>
                                        <p:strVal val="hidden"/>
                                      </p:to>
                                    </p:set>
                                  </p:childTnLst>
                                </p:cTn>
                              </p:par>
                            </p:childTnLst>
                          </p:cTn>
                        </p:par>
                        <p:par>
                          <p:cTn id="37" fill="hold">
                            <p:stCondLst>
                              <p:cond delay="500"/>
                            </p:stCondLst>
                            <p:childTnLst>
                              <p:par>
                                <p:cTn id="38" presetID="21" presetClass="entr" presetSubtype="1" fill="hold" grpId="0" nodeType="afterEffect">
                                  <p:stCondLst>
                                    <p:cond delay="250"/>
                                  </p:stCondLst>
                                  <p:childTnLst>
                                    <p:set>
                                      <p:cBhvr>
                                        <p:cTn id="39" dur="1" fill="hold">
                                          <p:stCondLst>
                                            <p:cond delay="0"/>
                                          </p:stCondLst>
                                        </p:cTn>
                                        <p:tgtEl>
                                          <p:spTgt spid="10"/>
                                        </p:tgtEl>
                                        <p:attrNameLst>
                                          <p:attrName>style.visibility</p:attrName>
                                        </p:attrNameLst>
                                      </p:cBhvr>
                                      <p:to>
                                        <p:strVal val="visible"/>
                                      </p:to>
                                    </p:set>
                                    <p:animEffect transition="in" filter="wheel(1)">
                                      <p:cBhvr>
                                        <p:cTn id="40" dur="500"/>
                                        <p:tgtEl>
                                          <p:spTgt spid="10"/>
                                        </p:tgtEl>
                                      </p:cBhvr>
                                    </p:animEffect>
                                  </p:childTnLst>
                                </p:cTn>
                              </p:par>
                            </p:childTnLst>
                          </p:cTn>
                        </p:par>
                        <p:par>
                          <p:cTn id="41" fill="hold">
                            <p:stCondLst>
                              <p:cond delay="1250"/>
                            </p:stCondLst>
                            <p:childTnLst>
                              <p:par>
                                <p:cTn id="42" presetID="21" presetClass="entr" presetSubtype="1" fill="hold" grpId="0" nodeType="afterEffect">
                                  <p:stCondLst>
                                    <p:cond delay="250"/>
                                  </p:stCondLst>
                                  <p:childTnLst>
                                    <p:set>
                                      <p:cBhvr>
                                        <p:cTn id="43" dur="1" fill="hold">
                                          <p:stCondLst>
                                            <p:cond delay="0"/>
                                          </p:stCondLst>
                                        </p:cTn>
                                        <p:tgtEl>
                                          <p:spTgt spid="8"/>
                                        </p:tgtEl>
                                        <p:attrNameLst>
                                          <p:attrName>style.visibility</p:attrName>
                                        </p:attrNameLst>
                                      </p:cBhvr>
                                      <p:to>
                                        <p:strVal val="visible"/>
                                      </p:to>
                                    </p:set>
                                    <p:animEffect transition="in" filter="wheel(1)">
                                      <p:cBhvr>
                                        <p:cTn id="44" dur="1000"/>
                                        <p:tgtEl>
                                          <p:spTgt spid="8"/>
                                        </p:tgtEl>
                                      </p:cBhvr>
                                    </p:animEffect>
                                  </p:childTnLst>
                                </p:cTn>
                              </p:par>
                            </p:childTnLst>
                          </p:cTn>
                        </p:par>
                        <p:par>
                          <p:cTn id="45" fill="hold">
                            <p:stCondLst>
                              <p:cond delay="2500"/>
                            </p:stCondLst>
                            <p:childTnLst>
                              <p:par>
                                <p:cTn id="46" presetID="21" presetClass="entr" presetSubtype="1" fill="hold" grpId="0" nodeType="afterEffect">
                                  <p:stCondLst>
                                    <p:cond delay="250"/>
                                  </p:stCondLst>
                                  <p:childTnLst>
                                    <p:set>
                                      <p:cBhvr>
                                        <p:cTn id="47" dur="1" fill="hold">
                                          <p:stCondLst>
                                            <p:cond delay="0"/>
                                          </p:stCondLst>
                                        </p:cTn>
                                        <p:tgtEl>
                                          <p:spTgt spid="11"/>
                                        </p:tgtEl>
                                        <p:attrNameLst>
                                          <p:attrName>style.visibility</p:attrName>
                                        </p:attrNameLst>
                                      </p:cBhvr>
                                      <p:to>
                                        <p:strVal val="visible"/>
                                      </p:to>
                                    </p:set>
                                    <p:animEffect transition="in" filter="wheel(1)">
                                      <p:cBhvr>
                                        <p:cTn id="48" dur="500"/>
                                        <p:tgtEl>
                                          <p:spTgt spid="11"/>
                                        </p:tgtEl>
                                      </p:cBhvr>
                                    </p:animEffect>
                                  </p:childTnLst>
                                </p:cTn>
                              </p:par>
                            </p:childTnLst>
                          </p:cTn>
                        </p:par>
                        <p:par>
                          <p:cTn id="49" fill="hold">
                            <p:stCondLst>
                              <p:cond delay="3250"/>
                            </p:stCondLst>
                            <p:childTnLst>
                              <p:par>
                                <p:cTn id="50" presetID="21" presetClass="entr" presetSubtype="1" fill="hold" grpId="0" nodeType="afterEffect">
                                  <p:stCondLst>
                                    <p:cond delay="250"/>
                                  </p:stCondLst>
                                  <p:childTnLst>
                                    <p:set>
                                      <p:cBhvr>
                                        <p:cTn id="51" dur="1" fill="hold">
                                          <p:stCondLst>
                                            <p:cond delay="0"/>
                                          </p:stCondLst>
                                        </p:cTn>
                                        <p:tgtEl>
                                          <p:spTgt spid="12"/>
                                        </p:tgtEl>
                                        <p:attrNameLst>
                                          <p:attrName>style.visibility</p:attrName>
                                        </p:attrNameLst>
                                      </p:cBhvr>
                                      <p:to>
                                        <p:strVal val="visible"/>
                                      </p:to>
                                    </p:set>
                                    <p:animEffect transition="in" filter="wheel(1)">
                                      <p:cBhvr>
                                        <p:cTn id="52" dur="500"/>
                                        <p:tgtEl>
                                          <p:spTgt spid="12"/>
                                        </p:tgtEl>
                                      </p:cBhvr>
                                    </p:animEffect>
                                  </p:childTnLst>
                                </p:cTn>
                              </p:par>
                            </p:childTnLst>
                          </p:cTn>
                        </p:par>
                        <p:par>
                          <p:cTn id="53" fill="hold">
                            <p:stCondLst>
                              <p:cond delay="4000"/>
                            </p:stCondLst>
                            <p:childTnLst>
                              <p:par>
                                <p:cTn id="54" presetID="21" presetClass="entr" presetSubtype="1" fill="hold" grpId="0" nodeType="afterEffect">
                                  <p:stCondLst>
                                    <p:cond delay="250"/>
                                  </p:stCondLst>
                                  <p:childTnLst>
                                    <p:set>
                                      <p:cBhvr>
                                        <p:cTn id="55" dur="1" fill="hold">
                                          <p:stCondLst>
                                            <p:cond delay="0"/>
                                          </p:stCondLst>
                                        </p:cTn>
                                        <p:tgtEl>
                                          <p:spTgt spid="13"/>
                                        </p:tgtEl>
                                        <p:attrNameLst>
                                          <p:attrName>style.visibility</p:attrName>
                                        </p:attrNameLst>
                                      </p:cBhvr>
                                      <p:to>
                                        <p:strVal val="visible"/>
                                      </p:to>
                                    </p:set>
                                    <p:animEffect transition="in" filter="wheel(1)">
                                      <p:cBhvr>
                                        <p:cTn id="56" dur="500"/>
                                        <p:tgtEl>
                                          <p:spTgt spid="13"/>
                                        </p:tgtEl>
                                      </p:cBhvr>
                                    </p:animEffect>
                                  </p:childTnLst>
                                </p:cTn>
                              </p:par>
                            </p:childTnLst>
                          </p:cTn>
                        </p:par>
                        <p:par>
                          <p:cTn id="57" fill="hold">
                            <p:stCondLst>
                              <p:cond delay="4750"/>
                            </p:stCondLst>
                            <p:childTnLst>
                              <p:par>
                                <p:cTn id="58" presetID="21" presetClass="entr" presetSubtype="1" fill="hold" grpId="0" nodeType="afterEffect">
                                  <p:stCondLst>
                                    <p:cond delay="250"/>
                                  </p:stCondLst>
                                  <p:childTnLst>
                                    <p:set>
                                      <p:cBhvr>
                                        <p:cTn id="59" dur="1" fill="hold">
                                          <p:stCondLst>
                                            <p:cond delay="0"/>
                                          </p:stCondLst>
                                        </p:cTn>
                                        <p:tgtEl>
                                          <p:spTgt spid="14"/>
                                        </p:tgtEl>
                                        <p:attrNameLst>
                                          <p:attrName>style.visibility</p:attrName>
                                        </p:attrNameLst>
                                      </p:cBhvr>
                                      <p:to>
                                        <p:strVal val="visible"/>
                                      </p:to>
                                    </p:set>
                                    <p:animEffect transition="in" filter="wheel(1)">
                                      <p:cBhvr>
                                        <p:cTn id="60" dur="500"/>
                                        <p:tgtEl>
                                          <p:spTgt spid="14"/>
                                        </p:tgtEl>
                                      </p:cBhvr>
                                    </p:animEffect>
                                  </p:childTnLst>
                                </p:cTn>
                              </p:par>
                            </p:childTnLst>
                          </p:cTn>
                        </p:par>
                        <p:par>
                          <p:cTn id="61" fill="hold">
                            <p:stCondLst>
                              <p:cond delay="5500"/>
                            </p:stCondLst>
                            <p:childTnLst>
                              <p:par>
                                <p:cTn id="62" presetID="21" presetClass="entr" presetSubtype="1" fill="hold" grpId="0" nodeType="afterEffect">
                                  <p:stCondLst>
                                    <p:cond delay="250"/>
                                  </p:stCondLst>
                                  <p:childTnLst>
                                    <p:set>
                                      <p:cBhvr>
                                        <p:cTn id="63" dur="1" fill="hold">
                                          <p:stCondLst>
                                            <p:cond delay="0"/>
                                          </p:stCondLst>
                                        </p:cTn>
                                        <p:tgtEl>
                                          <p:spTgt spid="15"/>
                                        </p:tgtEl>
                                        <p:attrNameLst>
                                          <p:attrName>style.visibility</p:attrName>
                                        </p:attrNameLst>
                                      </p:cBhvr>
                                      <p:to>
                                        <p:strVal val="visible"/>
                                      </p:to>
                                    </p:set>
                                    <p:animEffect transition="in" filter="wheel(1)">
                                      <p:cBhvr>
                                        <p:cTn id="64" dur="500"/>
                                        <p:tgtEl>
                                          <p:spTgt spid="15"/>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3">
                                            <p:txEl>
                                              <p:pRg st="3" end="3"/>
                                            </p:txEl>
                                          </p:spTgt>
                                        </p:tgtEl>
                                        <p:attrNameLst>
                                          <p:attrName>style.visibility</p:attrName>
                                        </p:attrNameLst>
                                      </p:cBhvr>
                                      <p:to>
                                        <p:strVal val="visible"/>
                                      </p:to>
                                    </p:set>
                                    <p:animEffect transition="in" filter="fade">
                                      <p:cBhvr>
                                        <p:cTn id="69" dur="500"/>
                                        <p:tgtEl>
                                          <p:spTgt spid="3">
                                            <p:txEl>
                                              <p:pRg st="3" end="3"/>
                                            </p:txEl>
                                          </p:spTgt>
                                        </p:tgtEl>
                                      </p:cBhvr>
                                    </p:animEffect>
                                  </p:childTnLst>
                                </p:cTn>
                              </p:par>
                              <p:par>
                                <p:cTn id="70" presetID="10" presetClass="exit" presetSubtype="0" fill="hold" grpId="1" nodeType="withEffect">
                                  <p:stCondLst>
                                    <p:cond delay="0"/>
                                  </p:stCondLst>
                                  <p:childTnLst>
                                    <p:animEffect transition="out" filter="fade">
                                      <p:cBhvr>
                                        <p:cTn id="71" dur="500"/>
                                        <p:tgtEl>
                                          <p:spTgt spid="15"/>
                                        </p:tgtEl>
                                      </p:cBhvr>
                                    </p:animEffect>
                                    <p:set>
                                      <p:cBhvr>
                                        <p:cTn id="72" dur="1" fill="hold">
                                          <p:stCondLst>
                                            <p:cond delay="499"/>
                                          </p:stCondLst>
                                        </p:cTn>
                                        <p:tgtEl>
                                          <p:spTgt spid="15"/>
                                        </p:tgtEl>
                                        <p:attrNameLst>
                                          <p:attrName>style.visibility</p:attrName>
                                        </p:attrNameLst>
                                      </p:cBhvr>
                                      <p:to>
                                        <p:strVal val="hidden"/>
                                      </p:to>
                                    </p:set>
                                  </p:childTnLst>
                                </p:cTn>
                              </p:par>
                              <p:par>
                                <p:cTn id="73" presetID="10" presetClass="exit" presetSubtype="0" fill="hold" grpId="1" nodeType="withEffect">
                                  <p:stCondLst>
                                    <p:cond delay="0"/>
                                  </p:stCondLst>
                                  <p:childTnLst>
                                    <p:animEffect transition="out" filter="fade">
                                      <p:cBhvr>
                                        <p:cTn id="74" dur="500"/>
                                        <p:tgtEl>
                                          <p:spTgt spid="12"/>
                                        </p:tgtEl>
                                      </p:cBhvr>
                                    </p:animEffect>
                                    <p:set>
                                      <p:cBhvr>
                                        <p:cTn id="75" dur="1" fill="hold">
                                          <p:stCondLst>
                                            <p:cond delay="499"/>
                                          </p:stCondLst>
                                        </p:cTn>
                                        <p:tgtEl>
                                          <p:spTgt spid="12"/>
                                        </p:tgtEl>
                                        <p:attrNameLst>
                                          <p:attrName>style.visibility</p:attrName>
                                        </p:attrNameLst>
                                      </p:cBhvr>
                                      <p:to>
                                        <p:strVal val="hidden"/>
                                      </p:to>
                                    </p:set>
                                  </p:childTnLst>
                                </p:cTn>
                              </p:par>
                              <p:par>
                                <p:cTn id="76" presetID="10" presetClass="exit" presetSubtype="0" fill="hold" grpId="1" nodeType="withEffect">
                                  <p:stCondLst>
                                    <p:cond delay="0"/>
                                  </p:stCondLst>
                                  <p:childTnLst>
                                    <p:animEffect transition="out" filter="fade">
                                      <p:cBhvr>
                                        <p:cTn id="77" dur="1000"/>
                                        <p:tgtEl>
                                          <p:spTgt spid="8"/>
                                        </p:tgtEl>
                                      </p:cBhvr>
                                    </p:animEffect>
                                    <p:set>
                                      <p:cBhvr>
                                        <p:cTn id="78" dur="1" fill="hold">
                                          <p:stCondLst>
                                            <p:cond delay="999"/>
                                          </p:stCondLst>
                                        </p:cTn>
                                        <p:tgtEl>
                                          <p:spTgt spid="8"/>
                                        </p:tgtEl>
                                        <p:attrNameLst>
                                          <p:attrName>style.visibility</p:attrName>
                                        </p:attrNameLst>
                                      </p:cBhvr>
                                      <p:to>
                                        <p:strVal val="hidden"/>
                                      </p:to>
                                    </p:set>
                                  </p:childTnLst>
                                </p:cTn>
                              </p:par>
                              <p:par>
                                <p:cTn id="79" presetID="10" presetClass="exit" presetSubtype="0" fill="hold" grpId="1" nodeType="withEffect">
                                  <p:stCondLst>
                                    <p:cond delay="0"/>
                                  </p:stCondLst>
                                  <p:childTnLst>
                                    <p:animEffect transition="out" filter="fade">
                                      <p:cBhvr>
                                        <p:cTn id="80" dur="500"/>
                                        <p:tgtEl>
                                          <p:spTgt spid="11"/>
                                        </p:tgtEl>
                                      </p:cBhvr>
                                    </p:animEffect>
                                    <p:set>
                                      <p:cBhvr>
                                        <p:cTn id="81" dur="1" fill="hold">
                                          <p:stCondLst>
                                            <p:cond delay="499"/>
                                          </p:stCondLst>
                                        </p:cTn>
                                        <p:tgtEl>
                                          <p:spTgt spid="11"/>
                                        </p:tgtEl>
                                        <p:attrNameLst>
                                          <p:attrName>style.visibility</p:attrName>
                                        </p:attrNameLst>
                                      </p:cBhvr>
                                      <p:to>
                                        <p:strVal val="hidden"/>
                                      </p:to>
                                    </p:set>
                                  </p:childTnLst>
                                </p:cTn>
                              </p:par>
                              <p:par>
                                <p:cTn id="82" presetID="10" presetClass="exit" presetSubtype="0" fill="hold" grpId="1" nodeType="withEffect">
                                  <p:stCondLst>
                                    <p:cond delay="0"/>
                                  </p:stCondLst>
                                  <p:childTnLst>
                                    <p:animEffect transition="out" filter="fade">
                                      <p:cBhvr>
                                        <p:cTn id="83" dur="500"/>
                                        <p:tgtEl>
                                          <p:spTgt spid="14"/>
                                        </p:tgtEl>
                                      </p:cBhvr>
                                    </p:animEffect>
                                    <p:set>
                                      <p:cBhvr>
                                        <p:cTn id="84" dur="1" fill="hold">
                                          <p:stCondLst>
                                            <p:cond delay="499"/>
                                          </p:stCondLst>
                                        </p:cTn>
                                        <p:tgtEl>
                                          <p:spTgt spid="14"/>
                                        </p:tgtEl>
                                        <p:attrNameLst>
                                          <p:attrName>style.visibility</p:attrName>
                                        </p:attrNameLst>
                                      </p:cBhvr>
                                      <p:to>
                                        <p:strVal val="hidden"/>
                                      </p:to>
                                    </p:set>
                                  </p:childTnLst>
                                </p:cTn>
                              </p:par>
                              <p:par>
                                <p:cTn id="85" presetID="10" presetClass="exit" presetSubtype="0" fill="hold" grpId="1" nodeType="withEffect">
                                  <p:stCondLst>
                                    <p:cond delay="0"/>
                                  </p:stCondLst>
                                  <p:childTnLst>
                                    <p:animEffect transition="out" filter="fade">
                                      <p:cBhvr>
                                        <p:cTn id="86" dur="500"/>
                                        <p:tgtEl>
                                          <p:spTgt spid="13"/>
                                        </p:tgtEl>
                                      </p:cBhvr>
                                    </p:animEffect>
                                    <p:set>
                                      <p:cBhvr>
                                        <p:cTn id="87" dur="1" fill="hold">
                                          <p:stCondLst>
                                            <p:cond delay="499"/>
                                          </p:stCondLst>
                                        </p:cTn>
                                        <p:tgtEl>
                                          <p:spTgt spid="13"/>
                                        </p:tgtEl>
                                        <p:attrNameLst>
                                          <p:attrName>style.visibility</p:attrName>
                                        </p:attrNameLst>
                                      </p:cBhvr>
                                      <p:to>
                                        <p:strVal val="hidden"/>
                                      </p:to>
                                    </p:set>
                                  </p:childTnLst>
                                </p:cTn>
                              </p:par>
                              <p:par>
                                <p:cTn id="88" presetID="10" presetClass="exit" presetSubtype="0" fill="hold" grpId="1" nodeType="withEffect">
                                  <p:stCondLst>
                                    <p:cond delay="0"/>
                                  </p:stCondLst>
                                  <p:childTnLst>
                                    <p:animEffect transition="out" filter="fade">
                                      <p:cBhvr>
                                        <p:cTn id="89" dur="500"/>
                                        <p:tgtEl>
                                          <p:spTgt spid="10"/>
                                        </p:tgtEl>
                                      </p:cBhvr>
                                    </p:animEffect>
                                    <p:set>
                                      <p:cBhvr>
                                        <p:cTn id="90" dur="1" fill="hold">
                                          <p:stCondLst>
                                            <p:cond delay="499"/>
                                          </p:stCondLst>
                                        </p:cTn>
                                        <p:tgtEl>
                                          <p:spTgt spid="10"/>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3">
                                            <p:txEl>
                                              <p:pRg st="4" end="4"/>
                                            </p:txEl>
                                          </p:spTgt>
                                        </p:tgtEl>
                                        <p:attrNameLst>
                                          <p:attrName>style.visibility</p:attrName>
                                        </p:attrNameLst>
                                      </p:cBhvr>
                                      <p:to>
                                        <p:strVal val="visible"/>
                                      </p:to>
                                    </p:set>
                                    <p:animEffect transition="in" filter="fade">
                                      <p:cBhvr>
                                        <p:cTn id="95" dur="500"/>
                                        <p:tgtEl>
                                          <p:spTgt spid="3">
                                            <p:txEl>
                                              <p:pRg st="4" end="4"/>
                                            </p:txEl>
                                          </p:spTgt>
                                        </p:tgtEl>
                                      </p:cBhvr>
                                    </p:animEffect>
                                  </p:childTnLst>
                                </p:cTn>
                              </p:par>
                            </p:childTnLst>
                          </p:cTn>
                        </p:par>
                        <p:par>
                          <p:cTn id="96" fill="hold">
                            <p:stCondLst>
                              <p:cond delay="500"/>
                            </p:stCondLst>
                            <p:childTnLst>
                              <p:par>
                                <p:cTn id="97" presetID="21" presetClass="entr" presetSubtype="1" fill="hold" grpId="0" nodeType="afterEffect">
                                  <p:stCondLst>
                                    <p:cond delay="250"/>
                                  </p:stCondLst>
                                  <p:childTnLst>
                                    <p:set>
                                      <p:cBhvr>
                                        <p:cTn id="98" dur="1" fill="hold">
                                          <p:stCondLst>
                                            <p:cond delay="0"/>
                                          </p:stCondLst>
                                        </p:cTn>
                                        <p:tgtEl>
                                          <p:spTgt spid="16"/>
                                        </p:tgtEl>
                                        <p:attrNameLst>
                                          <p:attrName>style.visibility</p:attrName>
                                        </p:attrNameLst>
                                      </p:cBhvr>
                                      <p:to>
                                        <p:strVal val="visible"/>
                                      </p:to>
                                    </p:set>
                                    <p:animEffect transition="in" filter="wheel(1)">
                                      <p:cBhvr>
                                        <p:cTn id="9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4" grpId="1" animBg="1"/>
      <p:bldP spid="7" grpId="0" animBg="1"/>
      <p:bldP spid="7" grpId="1" animBg="1"/>
      <p:bldP spid="8" grpId="0" animBg="1"/>
      <p:bldP spid="8"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Wingdings"/>
              </a:rPr>
              <a:t>连续属性的划分方法</a:t>
            </a:r>
            <a:endParaRPr lang="zh-CN" altLang="en-US" dirty="0"/>
          </a:p>
        </p:txBody>
      </p:sp>
      <p:sp>
        <p:nvSpPr>
          <p:cNvPr id="9" name="灯片编号占位符 1"/>
          <p:cNvSpPr>
            <a:spLocks noGrp="1"/>
          </p:cNvSpPr>
          <p:nvPr>
            <p:ph type="sldNum" sz="quarter" idx="12"/>
          </p:nvPr>
        </p:nvSpPr>
        <p:spPr/>
        <p:txBody>
          <a:bodyPr/>
          <a:lstStyle/>
          <a:p>
            <a:fld id="{6435AE0B-8C6B-4385-9ECF-079FDFACE1FC}" type="slidenum">
              <a:rPr lang="en-US" altLang="zh-CN" smtClean="0"/>
              <a:pPr/>
              <a:t>49</a:t>
            </a:fld>
            <a:endParaRPr lang="en-US" altLang="zh-CN"/>
          </a:p>
        </p:txBody>
      </p:sp>
      <p:pic>
        <p:nvPicPr>
          <p:cNvPr id="6861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504" y="2132857"/>
            <a:ext cx="8964000" cy="1830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rot="21169597">
            <a:off x="1221616" y="3900666"/>
            <a:ext cx="4572000" cy="830997"/>
          </a:xfrm>
          <a:prstGeom prst="rect">
            <a:avLst/>
          </a:prstGeom>
        </p:spPr>
        <p:txBody>
          <a:bodyPr>
            <a:spAutoFit/>
          </a:bodyPr>
          <a:lstStyle/>
          <a:p>
            <a:r>
              <a:rPr lang="zh-CN" altLang="en-US" sz="2400" dirty="0">
                <a:solidFill>
                  <a:srgbClr val="C00000"/>
                </a:solidFill>
                <a:latin typeface="华文细黑" pitchFamily="2" charset="-122"/>
                <a:ea typeface="华文细黑" pitchFamily="2" charset="-122"/>
                <a:cs typeface="Times New Roman" pitchFamily="18" charset="0"/>
              </a:rPr>
              <a:t>只要对较少的划分点进行计算比较，有效地降低了计算复杂度。</a:t>
            </a:r>
            <a:endParaRPr lang="zh-CN" altLang="en-US" sz="2400" dirty="0">
              <a:solidFill>
                <a:srgbClr val="C00000"/>
              </a:solidFill>
              <a:latin typeface="Times New Roman" pitchFamily="18" charset="0"/>
            </a:endParaRPr>
          </a:p>
        </p:txBody>
      </p:sp>
      <p:sp>
        <p:nvSpPr>
          <p:cNvPr id="7" name="矩形 6"/>
          <p:cNvSpPr/>
          <p:nvPr/>
        </p:nvSpPr>
        <p:spPr>
          <a:xfrm rot="21169597">
            <a:off x="3675805" y="4610130"/>
            <a:ext cx="3060000" cy="830997"/>
          </a:xfrm>
          <a:prstGeom prst="rect">
            <a:avLst/>
          </a:prstGeom>
        </p:spPr>
        <p:txBody>
          <a:bodyPr>
            <a:spAutoFit/>
          </a:bodyPr>
          <a:lstStyle/>
          <a:p>
            <a:r>
              <a:rPr lang="en-US" altLang="zh-CN" sz="2400" dirty="0">
                <a:solidFill>
                  <a:srgbClr val="C00000"/>
                </a:solidFill>
                <a:latin typeface="华文细黑" pitchFamily="2" charset="-122"/>
                <a:ea typeface="华文细黑" pitchFamily="2" charset="-122"/>
                <a:cs typeface="Times New Roman" pitchFamily="18" charset="0"/>
              </a:rPr>
              <a:t>Humidity</a:t>
            </a:r>
            <a:r>
              <a:rPr lang="zh-CN" altLang="en-US" sz="2400" dirty="0">
                <a:solidFill>
                  <a:srgbClr val="C00000"/>
                </a:solidFill>
                <a:latin typeface="华文细黑" pitchFamily="2" charset="-122"/>
                <a:ea typeface="华文细黑" pitchFamily="2" charset="-122"/>
                <a:cs typeface="Times New Roman" pitchFamily="18" charset="0"/>
              </a:rPr>
              <a:t>则从</a:t>
            </a:r>
            <a:r>
              <a:rPr lang="en-US" altLang="zh-CN" sz="2400" dirty="0">
                <a:solidFill>
                  <a:srgbClr val="C00000"/>
                </a:solidFill>
                <a:latin typeface="华文细黑" pitchFamily="2" charset="-122"/>
                <a:ea typeface="华文细黑" pitchFamily="2" charset="-122"/>
                <a:cs typeface="Times New Roman" pitchFamily="18" charset="0"/>
              </a:rPr>
              <a:t>10</a:t>
            </a:r>
            <a:r>
              <a:rPr lang="zh-CN" altLang="en-US" sz="2400" dirty="0">
                <a:solidFill>
                  <a:srgbClr val="C00000"/>
                </a:solidFill>
                <a:latin typeface="华文细黑" pitchFamily="2" charset="-122"/>
                <a:ea typeface="华文细黑" pitchFamily="2" charset="-122"/>
                <a:cs typeface="Times New Roman" pitchFamily="18" charset="0"/>
              </a:rPr>
              <a:t>次减少为只需</a:t>
            </a:r>
            <a:r>
              <a:rPr lang="en-US" altLang="zh-CN" sz="2400" dirty="0">
                <a:solidFill>
                  <a:srgbClr val="C00000"/>
                </a:solidFill>
                <a:latin typeface="华文细黑" pitchFamily="2" charset="-122"/>
                <a:ea typeface="华文细黑" pitchFamily="2" charset="-122"/>
                <a:cs typeface="Times New Roman" pitchFamily="18" charset="0"/>
              </a:rPr>
              <a:t>6</a:t>
            </a:r>
            <a:r>
              <a:rPr lang="zh-CN" altLang="en-US" sz="2400" dirty="0">
                <a:solidFill>
                  <a:srgbClr val="C00000"/>
                </a:solidFill>
                <a:latin typeface="华文细黑" pitchFamily="2" charset="-122"/>
                <a:ea typeface="华文细黑" pitchFamily="2" charset="-122"/>
                <a:cs typeface="Times New Roman" pitchFamily="18" charset="0"/>
              </a:rPr>
              <a:t>次。</a:t>
            </a:r>
            <a:endParaRPr lang="zh-CN" altLang="en-US" sz="2400" dirty="0">
              <a:solidFill>
                <a:srgbClr val="C00000"/>
              </a:solidFill>
              <a:latin typeface="Times New Roman" pitchFamily="18" charset="0"/>
            </a:endParaRPr>
          </a:p>
        </p:txBody>
      </p:sp>
      <p:sp>
        <p:nvSpPr>
          <p:cNvPr id="3" name="页脚占位符 2">
            <a:extLst>
              <a:ext uri="{FF2B5EF4-FFF2-40B4-BE49-F238E27FC236}">
                <a16:creationId xmlns:a16="http://schemas.microsoft.com/office/drawing/2014/main" id="{03F721A7-8DE8-461E-A502-6967B3940706}"/>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495481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模型评价</a:t>
            </a:r>
          </a:p>
        </p:txBody>
      </p:sp>
      <p:sp>
        <p:nvSpPr>
          <p:cNvPr id="3" name="内容占位符 2"/>
          <p:cNvSpPr>
            <a:spLocks noGrp="1"/>
          </p:cNvSpPr>
          <p:nvPr>
            <p:ph idx="1"/>
          </p:nvPr>
        </p:nvSpPr>
        <p:spPr/>
        <p:txBody>
          <a:bodyPr/>
          <a:lstStyle/>
          <a:p>
            <a:r>
              <a:rPr lang="zh-CN" altLang="en-US" dirty="0"/>
              <a:t>一个好的分类模型不仅要能够很好的拟合训练数据，而且对未知样本也要能准确分类。</a:t>
            </a:r>
            <a:endParaRPr lang="en-US" altLang="zh-CN" dirty="0"/>
          </a:p>
          <a:p>
            <a:r>
              <a:rPr lang="zh-CN" altLang="en-US" dirty="0"/>
              <a:t>对模型的评估可以通过多项准确率指标来综合评价：</a:t>
            </a:r>
            <a:endParaRPr lang="en-US" altLang="zh-CN" dirty="0"/>
          </a:p>
        </p:txBody>
      </p:sp>
      <p:sp>
        <p:nvSpPr>
          <p:cNvPr id="7" name="矩形 6"/>
          <p:cNvSpPr/>
          <p:nvPr/>
        </p:nvSpPr>
        <p:spPr>
          <a:xfrm rot="21371082">
            <a:off x="5327867" y="3624280"/>
            <a:ext cx="3744000" cy="781945"/>
          </a:xfrm>
          <a:prstGeom prst="rect">
            <a:avLst/>
          </a:prstGeom>
          <a:noFill/>
          <a:ln>
            <a:noFill/>
          </a:ln>
        </p:spPr>
        <p:style>
          <a:lnRef idx="2">
            <a:schemeClr val="accent3"/>
          </a:lnRef>
          <a:fillRef idx="1">
            <a:schemeClr val="lt1"/>
          </a:fillRef>
          <a:effectRef idx="0">
            <a:schemeClr val="accent3"/>
          </a:effectRef>
          <a:fontRef idx="minor">
            <a:schemeClr val="dk1"/>
          </a:fontRef>
        </p:style>
        <p:txBody>
          <a:bodyPr wrap="square">
            <a:spAutoFit/>
          </a:bodyPr>
          <a:lstStyle/>
          <a:p>
            <a:pPr>
              <a:lnSpc>
                <a:spcPct val="120000"/>
              </a:lnSpc>
            </a:pPr>
            <a:r>
              <a:rPr lang="zh-CN" altLang="en-US" sz="2000" dirty="0">
                <a:solidFill>
                  <a:srgbClr val="C00000"/>
                </a:solidFill>
                <a:latin typeface="幼圆" pitchFamily="49" charset="-122"/>
                <a:ea typeface="幼圆" pitchFamily="49" charset="-122"/>
              </a:rPr>
              <a:t>一个好的分类模型必须具有较低的训练误差和较低的泛化误差。</a:t>
            </a:r>
          </a:p>
        </p:txBody>
      </p:sp>
      <p:graphicFrame>
        <p:nvGraphicFramePr>
          <p:cNvPr id="10" name="图示 9"/>
          <p:cNvGraphicFramePr/>
          <p:nvPr/>
        </p:nvGraphicFramePr>
        <p:xfrm>
          <a:off x="539552" y="3429259"/>
          <a:ext cx="4716000" cy="2332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矩形 10"/>
          <p:cNvSpPr/>
          <p:nvPr/>
        </p:nvSpPr>
        <p:spPr>
          <a:xfrm rot="21371082">
            <a:off x="5402139" y="4771413"/>
            <a:ext cx="1702165" cy="412613"/>
          </a:xfrm>
          <a:prstGeom prst="rect">
            <a:avLst/>
          </a:prstGeom>
          <a:noFill/>
          <a:ln>
            <a:noFill/>
          </a:ln>
        </p:spPr>
        <p:style>
          <a:lnRef idx="2">
            <a:schemeClr val="accent3"/>
          </a:lnRef>
          <a:fillRef idx="1">
            <a:schemeClr val="lt1"/>
          </a:fillRef>
          <a:effectRef idx="0">
            <a:schemeClr val="accent3"/>
          </a:effectRef>
          <a:fontRef idx="minor">
            <a:schemeClr val="dk1"/>
          </a:fontRef>
        </p:style>
        <p:txBody>
          <a:bodyPr wrap="square">
            <a:spAutoFit/>
          </a:bodyPr>
          <a:lstStyle/>
          <a:p>
            <a:pPr>
              <a:lnSpc>
                <a:spcPct val="120000"/>
              </a:lnSpc>
            </a:pPr>
            <a:r>
              <a:rPr lang="zh-CN" altLang="en-US" sz="2000" dirty="0">
                <a:solidFill>
                  <a:srgbClr val="C00000"/>
                </a:solidFill>
                <a:latin typeface="幼圆" pitchFamily="49" charset="-122"/>
                <a:ea typeface="幼圆" pitchFamily="49" charset="-122"/>
              </a:rPr>
              <a:t>交叉验证</a:t>
            </a:r>
          </a:p>
        </p:txBody>
      </p:sp>
      <p:sp>
        <p:nvSpPr>
          <p:cNvPr id="4" name="页脚占位符 3">
            <a:extLst>
              <a:ext uri="{FF2B5EF4-FFF2-40B4-BE49-F238E27FC236}">
                <a16:creationId xmlns:a16="http://schemas.microsoft.com/office/drawing/2014/main" id="{AC02E6CE-E9EC-4F47-9698-17FF02EDBEC4}"/>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0ACDD86-1035-41CA-AE10-E93B758DF6D7}"/>
              </a:ext>
            </a:extLst>
          </p:cNvPr>
          <p:cNvSpPr>
            <a:spLocks noGrp="1"/>
          </p:cNvSpPr>
          <p:nvPr>
            <p:ph type="sldNum" sz="quarter" idx="12"/>
          </p:nvPr>
        </p:nvSpPr>
        <p:spPr/>
        <p:txBody>
          <a:bodyPr/>
          <a:lstStyle/>
          <a:p>
            <a:fld id="{5AD84F5B-1672-4D3F-9FEC-5DF89A7B7912}" type="slidenum">
              <a:rPr lang="zh-CN" altLang="en-US" smtClean="0"/>
              <a:t>50</a:t>
            </a:fld>
            <a:endParaRPr lang="zh-CN" altLang="en-US"/>
          </a:p>
        </p:txBody>
      </p:sp>
    </p:spTree>
    <p:extLst>
      <p:ext uri="{BB962C8B-B14F-4D97-AF65-F5344CB8AC3E}">
        <p14:creationId xmlns:p14="http://schemas.microsoft.com/office/powerpoint/2010/main" val="12034463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1"/>
          <p:cNvSpPr/>
          <p:nvPr/>
        </p:nvSpPr>
        <p:spPr>
          <a:xfrm>
            <a:off x="575976" y="3169771"/>
            <a:ext cx="3780000" cy="712800"/>
          </a:xfrm>
          <a:prstGeom prst="rect">
            <a:avLst/>
          </a:prstGeom>
          <a:solidFill>
            <a:srgbClr val="FF0000">
              <a:alpha val="30196"/>
            </a:srgbClr>
          </a:solidFill>
          <a:ln w="3175">
            <a:noFill/>
          </a:ln>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pic>
        <p:nvPicPr>
          <p:cNvPr id="67588" name="Picture 4"/>
          <p:cNvPicPr>
            <a:picLocks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51520" y="2132857"/>
            <a:ext cx="4104000" cy="3655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p:cNvSpPr>
            <a:spLocks noGrp="1"/>
          </p:cNvSpPr>
          <p:nvPr>
            <p:ph type="title"/>
          </p:nvPr>
        </p:nvSpPr>
        <p:spPr/>
        <p:txBody>
          <a:bodyPr/>
          <a:lstStyle/>
          <a:p>
            <a:r>
              <a:rPr lang="en-US" altLang="zh-CN" dirty="0"/>
              <a:t>【</a:t>
            </a:r>
            <a:r>
              <a:rPr lang="zh-CN" altLang="en-US" dirty="0"/>
              <a:t>例</a:t>
            </a:r>
            <a:r>
              <a:rPr lang="en-US" altLang="zh-CN" dirty="0"/>
              <a:t>】</a:t>
            </a:r>
            <a:endParaRPr lang="zh-CN" altLang="en-US" dirty="0"/>
          </a:p>
        </p:txBody>
      </p:sp>
      <p:pic>
        <p:nvPicPr>
          <p:cNvPr id="67589" name="Picture 5"/>
          <p:cNvPicPr>
            <a:picLocks noChangeAspect="1" noChangeArrowheads="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139954" y="1292293"/>
            <a:ext cx="4968553" cy="466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直接连接符 4"/>
          <p:cNvCxnSpPr/>
          <p:nvPr/>
        </p:nvCxnSpPr>
        <p:spPr>
          <a:xfrm>
            <a:off x="2267744" y="2132856"/>
            <a:ext cx="0" cy="3402000"/>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576008" y="3882650"/>
            <a:ext cx="3780000" cy="0"/>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575976" y="3169771"/>
            <a:ext cx="3780000" cy="0"/>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575976" y="3623422"/>
            <a:ext cx="3780000" cy="0"/>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575976" y="3234578"/>
            <a:ext cx="3780000" cy="0"/>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1331640" y="2132856"/>
            <a:ext cx="0" cy="3402000"/>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763688" y="2132856"/>
            <a:ext cx="0" cy="3402000"/>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691680" y="2132856"/>
            <a:ext cx="0" cy="3402000"/>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403648" y="2132856"/>
            <a:ext cx="0" cy="3402000"/>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矩形7"/>
          <p:cNvSpPr/>
          <p:nvPr/>
        </p:nvSpPr>
        <p:spPr>
          <a:xfrm>
            <a:off x="1331640" y="3234578"/>
            <a:ext cx="360000" cy="388800"/>
          </a:xfrm>
          <a:prstGeom prst="rect">
            <a:avLst/>
          </a:prstGeom>
          <a:solidFill>
            <a:srgbClr val="FF0000">
              <a:alpha val="30196"/>
            </a:srgbClr>
          </a:solidFill>
          <a:ln w="3175">
            <a:noFill/>
          </a:ln>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19" name="矩形6"/>
          <p:cNvSpPr/>
          <p:nvPr/>
        </p:nvSpPr>
        <p:spPr>
          <a:xfrm>
            <a:off x="1331640" y="3234578"/>
            <a:ext cx="432000" cy="388800"/>
          </a:xfrm>
          <a:prstGeom prst="rect">
            <a:avLst/>
          </a:prstGeom>
          <a:solidFill>
            <a:srgbClr val="FF0000">
              <a:alpha val="30196"/>
            </a:srgbClr>
          </a:solidFill>
          <a:ln w="3175">
            <a:noFill/>
          </a:ln>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18" name="矩形5"/>
          <p:cNvSpPr/>
          <p:nvPr/>
        </p:nvSpPr>
        <p:spPr>
          <a:xfrm>
            <a:off x="1331640" y="3234578"/>
            <a:ext cx="936104" cy="388800"/>
          </a:xfrm>
          <a:prstGeom prst="rect">
            <a:avLst/>
          </a:prstGeom>
          <a:solidFill>
            <a:srgbClr val="FF0000">
              <a:alpha val="30196"/>
            </a:srgbClr>
          </a:solidFill>
          <a:ln w="3175">
            <a:noFill/>
          </a:ln>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17" name="矩形4"/>
          <p:cNvSpPr/>
          <p:nvPr/>
        </p:nvSpPr>
        <p:spPr>
          <a:xfrm>
            <a:off x="575976" y="3234578"/>
            <a:ext cx="1691768" cy="388800"/>
          </a:xfrm>
          <a:prstGeom prst="rect">
            <a:avLst/>
          </a:prstGeom>
          <a:solidFill>
            <a:srgbClr val="FF0000">
              <a:alpha val="30196"/>
            </a:srgbClr>
          </a:solidFill>
          <a:ln w="3175">
            <a:noFill/>
          </a:ln>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16" name="矩形2"/>
          <p:cNvSpPr/>
          <p:nvPr/>
        </p:nvSpPr>
        <p:spPr>
          <a:xfrm>
            <a:off x="575976" y="3169771"/>
            <a:ext cx="3780000" cy="453600"/>
          </a:xfrm>
          <a:prstGeom prst="rect">
            <a:avLst/>
          </a:prstGeom>
          <a:solidFill>
            <a:srgbClr val="FF0000">
              <a:alpha val="30196"/>
            </a:srgbClr>
          </a:solidFill>
          <a:ln w="3175">
            <a:noFill/>
          </a:ln>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15" name="矩形3"/>
          <p:cNvSpPr/>
          <p:nvPr/>
        </p:nvSpPr>
        <p:spPr>
          <a:xfrm>
            <a:off x="575976" y="3169771"/>
            <a:ext cx="1691768" cy="453600"/>
          </a:xfrm>
          <a:prstGeom prst="rect">
            <a:avLst/>
          </a:prstGeom>
          <a:solidFill>
            <a:srgbClr val="FF0000">
              <a:alpha val="30196"/>
            </a:srgbClr>
          </a:solidFill>
          <a:ln w="3175">
            <a:noFill/>
          </a:ln>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23" name="任意多边形 22"/>
          <p:cNvSpPr/>
          <p:nvPr/>
        </p:nvSpPr>
        <p:spPr>
          <a:xfrm>
            <a:off x="7270750" y="1480186"/>
            <a:ext cx="1353162" cy="3750183"/>
          </a:xfrm>
          <a:custGeom>
            <a:avLst/>
            <a:gdLst>
              <a:gd name="connsiteX0" fmla="*/ 0 w 1353162"/>
              <a:gd name="connsiteY0" fmla="*/ 0 h 3625850"/>
              <a:gd name="connsiteX1" fmla="*/ 1238250 w 1353162"/>
              <a:gd name="connsiteY1" fmla="*/ 368300 h 3625850"/>
              <a:gd name="connsiteX2" fmla="*/ 1263650 w 1353162"/>
              <a:gd name="connsiteY2" fmla="*/ 546100 h 3625850"/>
              <a:gd name="connsiteX3" fmla="*/ 927100 w 1353162"/>
              <a:gd name="connsiteY3" fmla="*/ 908050 h 3625850"/>
              <a:gd name="connsiteX4" fmla="*/ 946150 w 1353162"/>
              <a:gd name="connsiteY4" fmla="*/ 1085850 h 3625850"/>
              <a:gd name="connsiteX5" fmla="*/ 1250950 w 1353162"/>
              <a:gd name="connsiteY5" fmla="*/ 1454150 h 3625850"/>
              <a:gd name="connsiteX6" fmla="*/ 1250950 w 1353162"/>
              <a:gd name="connsiteY6" fmla="*/ 1625600 h 3625850"/>
              <a:gd name="connsiteX7" fmla="*/ 933450 w 1353162"/>
              <a:gd name="connsiteY7" fmla="*/ 1993900 h 3625850"/>
              <a:gd name="connsiteX8" fmla="*/ 933450 w 1353162"/>
              <a:gd name="connsiteY8" fmla="*/ 2171700 h 3625850"/>
              <a:gd name="connsiteX9" fmla="*/ 603250 w 1353162"/>
              <a:gd name="connsiteY9" fmla="*/ 2540000 h 3625850"/>
              <a:gd name="connsiteX10" fmla="*/ 622300 w 1353162"/>
              <a:gd name="connsiteY10" fmla="*/ 2711450 h 3625850"/>
              <a:gd name="connsiteX11" fmla="*/ 939800 w 1353162"/>
              <a:gd name="connsiteY11" fmla="*/ 3092450 h 3625850"/>
              <a:gd name="connsiteX12" fmla="*/ 933450 w 1353162"/>
              <a:gd name="connsiteY12" fmla="*/ 3244850 h 3625850"/>
              <a:gd name="connsiteX13" fmla="*/ 622300 w 1353162"/>
              <a:gd name="connsiteY13" fmla="*/ 3625850 h 3625850"/>
              <a:gd name="connsiteX14" fmla="*/ 622300 w 1353162"/>
              <a:gd name="connsiteY14" fmla="*/ 3625850 h 3625850"/>
              <a:gd name="connsiteX0" fmla="*/ 0 w 1353162"/>
              <a:gd name="connsiteY0" fmla="*/ 0 h 4166870"/>
              <a:gd name="connsiteX1" fmla="*/ 1238250 w 1353162"/>
              <a:gd name="connsiteY1" fmla="*/ 368300 h 4166870"/>
              <a:gd name="connsiteX2" fmla="*/ 1263650 w 1353162"/>
              <a:gd name="connsiteY2" fmla="*/ 546100 h 4166870"/>
              <a:gd name="connsiteX3" fmla="*/ 927100 w 1353162"/>
              <a:gd name="connsiteY3" fmla="*/ 908050 h 4166870"/>
              <a:gd name="connsiteX4" fmla="*/ 946150 w 1353162"/>
              <a:gd name="connsiteY4" fmla="*/ 1085850 h 4166870"/>
              <a:gd name="connsiteX5" fmla="*/ 1250950 w 1353162"/>
              <a:gd name="connsiteY5" fmla="*/ 1454150 h 4166870"/>
              <a:gd name="connsiteX6" fmla="*/ 1250950 w 1353162"/>
              <a:gd name="connsiteY6" fmla="*/ 1625600 h 4166870"/>
              <a:gd name="connsiteX7" fmla="*/ 933450 w 1353162"/>
              <a:gd name="connsiteY7" fmla="*/ 1993900 h 4166870"/>
              <a:gd name="connsiteX8" fmla="*/ 933450 w 1353162"/>
              <a:gd name="connsiteY8" fmla="*/ 2171700 h 4166870"/>
              <a:gd name="connsiteX9" fmla="*/ 603250 w 1353162"/>
              <a:gd name="connsiteY9" fmla="*/ 2540000 h 4166870"/>
              <a:gd name="connsiteX10" fmla="*/ 622300 w 1353162"/>
              <a:gd name="connsiteY10" fmla="*/ 2711450 h 4166870"/>
              <a:gd name="connsiteX11" fmla="*/ 939800 w 1353162"/>
              <a:gd name="connsiteY11" fmla="*/ 3092450 h 4166870"/>
              <a:gd name="connsiteX12" fmla="*/ 933450 w 1353162"/>
              <a:gd name="connsiteY12" fmla="*/ 3244850 h 4166870"/>
              <a:gd name="connsiteX13" fmla="*/ 622300 w 1353162"/>
              <a:gd name="connsiteY13" fmla="*/ 3625850 h 4166870"/>
              <a:gd name="connsiteX14" fmla="*/ 309880 w 1353162"/>
              <a:gd name="connsiteY14" fmla="*/ 4166870 h 4166870"/>
              <a:gd name="connsiteX0" fmla="*/ 0 w 1353162"/>
              <a:gd name="connsiteY0" fmla="*/ 0 h 4166870"/>
              <a:gd name="connsiteX1" fmla="*/ 1238250 w 1353162"/>
              <a:gd name="connsiteY1" fmla="*/ 368300 h 4166870"/>
              <a:gd name="connsiteX2" fmla="*/ 1263650 w 1353162"/>
              <a:gd name="connsiteY2" fmla="*/ 546100 h 4166870"/>
              <a:gd name="connsiteX3" fmla="*/ 927100 w 1353162"/>
              <a:gd name="connsiteY3" fmla="*/ 908050 h 4166870"/>
              <a:gd name="connsiteX4" fmla="*/ 946150 w 1353162"/>
              <a:gd name="connsiteY4" fmla="*/ 1085850 h 4166870"/>
              <a:gd name="connsiteX5" fmla="*/ 1250950 w 1353162"/>
              <a:gd name="connsiteY5" fmla="*/ 1454150 h 4166870"/>
              <a:gd name="connsiteX6" fmla="*/ 1250950 w 1353162"/>
              <a:gd name="connsiteY6" fmla="*/ 1625600 h 4166870"/>
              <a:gd name="connsiteX7" fmla="*/ 933450 w 1353162"/>
              <a:gd name="connsiteY7" fmla="*/ 1993900 h 4166870"/>
              <a:gd name="connsiteX8" fmla="*/ 933450 w 1353162"/>
              <a:gd name="connsiteY8" fmla="*/ 2171700 h 4166870"/>
              <a:gd name="connsiteX9" fmla="*/ 603250 w 1353162"/>
              <a:gd name="connsiteY9" fmla="*/ 2540000 h 4166870"/>
              <a:gd name="connsiteX10" fmla="*/ 622300 w 1353162"/>
              <a:gd name="connsiteY10" fmla="*/ 2711450 h 4166870"/>
              <a:gd name="connsiteX11" fmla="*/ 939800 w 1353162"/>
              <a:gd name="connsiteY11" fmla="*/ 3092450 h 4166870"/>
              <a:gd name="connsiteX12" fmla="*/ 933450 w 1353162"/>
              <a:gd name="connsiteY12" fmla="*/ 3244850 h 4166870"/>
              <a:gd name="connsiteX13" fmla="*/ 622300 w 1353162"/>
              <a:gd name="connsiteY13" fmla="*/ 3625850 h 4166870"/>
              <a:gd name="connsiteX14" fmla="*/ 623570 w 1353162"/>
              <a:gd name="connsiteY14" fmla="*/ 3780790 h 4166870"/>
              <a:gd name="connsiteX15" fmla="*/ 309880 w 1353162"/>
              <a:gd name="connsiteY15" fmla="*/ 4166870 h 4166870"/>
              <a:gd name="connsiteX0" fmla="*/ 0 w 1353162"/>
              <a:gd name="connsiteY0" fmla="*/ 0 h 4166870"/>
              <a:gd name="connsiteX1" fmla="*/ 1238250 w 1353162"/>
              <a:gd name="connsiteY1" fmla="*/ 368300 h 4166870"/>
              <a:gd name="connsiteX2" fmla="*/ 1263650 w 1353162"/>
              <a:gd name="connsiteY2" fmla="*/ 546100 h 4166870"/>
              <a:gd name="connsiteX3" fmla="*/ 927100 w 1353162"/>
              <a:gd name="connsiteY3" fmla="*/ 908050 h 4166870"/>
              <a:gd name="connsiteX4" fmla="*/ 946150 w 1353162"/>
              <a:gd name="connsiteY4" fmla="*/ 1085850 h 4166870"/>
              <a:gd name="connsiteX5" fmla="*/ 1250950 w 1353162"/>
              <a:gd name="connsiteY5" fmla="*/ 1454150 h 4166870"/>
              <a:gd name="connsiteX6" fmla="*/ 1250950 w 1353162"/>
              <a:gd name="connsiteY6" fmla="*/ 1625600 h 4166870"/>
              <a:gd name="connsiteX7" fmla="*/ 933450 w 1353162"/>
              <a:gd name="connsiteY7" fmla="*/ 1993900 h 4166870"/>
              <a:gd name="connsiteX8" fmla="*/ 933450 w 1353162"/>
              <a:gd name="connsiteY8" fmla="*/ 2171700 h 4166870"/>
              <a:gd name="connsiteX9" fmla="*/ 603250 w 1353162"/>
              <a:gd name="connsiteY9" fmla="*/ 2540000 h 4166870"/>
              <a:gd name="connsiteX10" fmla="*/ 622300 w 1353162"/>
              <a:gd name="connsiteY10" fmla="*/ 2711450 h 4166870"/>
              <a:gd name="connsiteX11" fmla="*/ 939800 w 1353162"/>
              <a:gd name="connsiteY11" fmla="*/ 3092450 h 4166870"/>
              <a:gd name="connsiteX12" fmla="*/ 933450 w 1353162"/>
              <a:gd name="connsiteY12" fmla="*/ 3244850 h 4166870"/>
              <a:gd name="connsiteX13" fmla="*/ 622300 w 1353162"/>
              <a:gd name="connsiteY13" fmla="*/ 3625850 h 4166870"/>
              <a:gd name="connsiteX14" fmla="*/ 611664 w 1353162"/>
              <a:gd name="connsiteY14" fmla="*/ 3790315 h 4166870"/>
              <a:gd name="connsiteX15" fmla="*/ 309880 w 1353162"/>
              <a:gd name="connsiteY15" fmla="*/ 4166870 h 4166870"/>
              <a:gd name="connsiteX0" fmla="*/ 0 w 1353162"/>
              <a:gd name="connsiteY0" fmla="*/ 0 h 4166870"/>
              <a:gd name="connsiteX1" fmla="*/ 1238250 w 1353162"/>
              <a:gd name="connsiteY1" fmla="*/ 368300 h 4166870"/>
              <a:gd name="connsiteX2" fmla="*/ 1263650 w 1353162"/>
              <a:gd name="connsiteY2" fmla="*/ 546100 h 4166870"/>
              <a:gd name="connsiteX3" fmla="*/ 927100 w 1353162"/>
              <a:gd name="connsiteY3" fmla="*/ 908050 h 4166870"/>
              <a:gd name="connsiteX4" fmla="*/ 946150 w 1353162"/>
              <a:gd name="connsiteY4" fmla="*/ 1085850 h 4166870"/>
              <a:gd name="connsiteX5" fmla="*/ 1250950 w 1353162"/>
              <a:gd name="connsiteY5" fmla="*/ 1454150 h 4166870"/>
              <a:gd name="connsiteX6" fmla="*/ 1250950 w 1353162"/>
              <a:gd name="connsiteY6" fmla="*/ 1625600 h 4166870"/>
              <a:gd name="connsiteX7" fmla="*/ 933450 w 1353162"/>
              <a:gd name="connsiteY7" fmla="*/ 1993900 h 4166870"/>
              <a:gd name="connsiteX8" fmla="*/ 933450 w 1353162"/>
              <a:gd name="connsiteY8" fmla="*/ 2171700 h 4166870"/>
              <a:gd name="connsiteX9" fmla="*/ 603250 w 1353162"/>
              <a:gd name="connsiteY9" fmla="*/ 2540000 h 4166870"/>
              <a:gd name="connsiteX10" fmla="*/ 622300 w 1353162"/>
              <a:gd name="connsiteY10" fmla="*/ 2711450 h 4166870"/>
              <a:gd name="connsiteX11" fmla="*/ 939800 w 1353162"/>
              <a:gd name="connsiteY11" fmla="*/ 3092450 h 4166870"/>
              <a:gd name="connsiteX12" fmla="*/ 933450 w 1353162"/>
              <a:gd name="connsiteY12" fmla="*/ 3244850 h 4166870"/>
              <a:gd name="connsiteX13" fmla="*/ 622300 w 1353162"/>
              <a:gd name="connsiteY13" fmla="*/ 3625850 h 4166870"/>
              <a:gd name="connsiteX14" fmla="*/ 611664 w 1353162"/>
              <a:gd name="connsiteY14" fmla="*/ 3790315 h 4166870"/>
              <a:gd name="connsiteX15" fmla="*/ 309880 w 1353162"/>
              <a:gd name="connsiteY15" fmla="*/ 4166870 h 4166870"/>
              <a:gd name="connsiteX0" fmla="*/ 0 w 1353162"/>
              <a:gd name="connsiteY0" fmla="*/ 0 h 4166870"/>
              <a:gd name="connsiteX1" fmla="*/ 1238250 w 1353162"/>
              <a:gd name="connsiteY1" fmla="*/ 368300 h 4166870"/>
              <a:gd name="connsiteX2" fmla="*/ 1263650 w 1353162"/>
              <a:gd name="connsiteY2" fmla="*/ 546100 h 4166870"/>
              <a:gd name="connsiteX3" fmla="*/ 927100 w 1353162"/>
              <a:gd name="connsiteY3" fmla="*/ 908050 h 4166870"/>
              <a:gd name="connsiteX4" fmla="*/ 946150 w 1353162"/>
              <a:gd name="connsiteY4" fmla="*/ 1085850 h 4166870"/>
              <a:gd name="connsiteX5" fmla="*/ 1250950 w 1353162"/>
              <a:gd name="connsiteY5" fmla="*/ 1454150 h 4166870"/>
              <a:gd name="connsiteX6" fmla="*/ 1250950 w 1353162"/>
              <a:gd name="connsiteY6" fmla="*/ 1625600 h 4166870"/>
              <a:gd name="connsiteX7" fmla="*/ 933450 w 1353162"/>
              <a:gd name="connsiteY7" fmla="*/ 1993900 h 4166870"/>
              <a:gd name="connsiteX8" fmla="*/ 933450 w 1353162"/>
              <a:gd name="connsiteY8" fmla="*/ 2171700 h 4166870"/>
              <a:gd name="connsiteX9" fmla="*/ 603250 w 1353162"/>
              <a:gd name="connsiteY9" fmla="*/ 2540000 h 4166870"/>
              <a:gd name="connsiteX10" fmla="*/ 622300 w 1353162"/>
              <a:gd name="connsiteY10" fmla="*/ 2711450 h 4166870"/>
              <a:gd name="connsiteX11" fmla="*/ 939800 w 1353162"/>
              <a:gd name="connsiteY11" fmla="*/ 3092450 h 4166870"/>
              <a:gd name="connsiteX12" fmla="*/ 933450 w 1353162"/>
              <a:gd name="connsiteY12" fmla="*/ 3244850 h 4166870"/>
              <a:gd name="connsiteX13" fmla="*/ 622300 w 1353162"/>
              <a:gd name="connsiteY13" fmla="*/ 3625850 h 4166870"/>
              <a:gd name="connsiteX14" fmla="*/ 611664 w 1353162"/>
              <a:gd name="connsiteY14" fmla="*/ 3790315 h 4166870"/>
              <a:gd name="connsiteX15" fmla="*/ 309880 w 1353162"/>
              <a:gd name="connsiteY15" fmla="*/ 4166870 h 4166870"/>
              <a:gd name="connsiteX0" fmla="*/ 0 w 1353162"/>
              <a:gd name="connsiteY0" fmla="*/ 0 h 4166870"/>
              <a:gd name="connsiteX1" fmla="*/ 1238250 w 1353162"/>
              <a:gd name="connsiteY1" fmla="*/ 368300 h 4166870"/>
              <a:gd name="connsiteX2" fmla="*/ 1263650 w 1353162"/>
              <a:gd name="connsiteY2" fmla="*/ 546100 h 4166870"/>
              <a:gd name="connsiteX3" fmla="*/ 927100 w 1353162"/>
              <a:gd name="connsiteY3" fmla="*/ 908050 h 4166870"/>
              <a:gd name="connsiteX4" fmla="*/ 946150 w 1353162"/>
              <a:gd name="connsiteY4" fmla="*/ 1085850 h 4166870"/>
              <a:gd name="connsiteX5" fmla="*/ 1250950 w 1353162"/>
              <a:gd name="connsiteY5" fmla="*/ 1454150 h 4166870"/>
              <a:gd name="connsiteX6" fmla="*/ 1250950 w 1353162"/>
              <a:gd name="connsiteY6" fmla="*/ 1625600 h 4166870"/>
              <a:gd name="connsiteX7" fmla="*/ 933450 w 1353162"/>
              <a:gd name="connsiteY7" fmla="*/ 1993900 h 4166870"/>
              <a:gd name="connsiteX8" fmla="*/ 933450 w 1353162"/>
              <a:gd name="connsiteY8" fmla="*/ 2171700 h 4166870"/>
              <a:gd name="connsiteX9" fmla="*/ 603250 w 1353162"/>
              <a:gd name="connsiteY9" fmla="*/ 2540000 h 4166870"/>
              <a:gd name="connsiteX10" fmla="*/ 622300 w 1353162"/>
              <a:gd name="connsiteY10" fmla="*/ 2711450 h 4166870"/>
              <a:gd name="connsiteX11" fmla="*/ 939800 w 1353162"/>
              <a:gd name="connsiteY11" fmla="*/ 3092450 h 4166870"/>
              <a:gd name="connsiteX12" fmla="*/ 933450 w 1353162"/>
              <a:gd name="connsiteY12" fmla="*/ 3244850 h 4166870"/>
              <a:gd name="connsiteX13" fmla="*/ 622300 w 1353162"/>
              <a:gd name="connsiteY13" fmla="*/ 3625850 h 4166870"/>
              <a:gd name="connsiteX14" fmla="*/ 611664 w 1353162"/>
              <a:gd name="connsiteY14" fmla="*/ 3790315 h 4166870"/>
              <a:gd name="connsiteX15" fmla="*/ 309880 w 1353162"/>
              <a:gd name="connsiteY15" fmla="*/ 4166870 h 4166870"/>
              <a:gd name="connsiteX0" fmla="*/ 0 w 1353162"/>
              <a:gd name="connsiteY0" fmla="*/ 0 h 4166870"/>
              <a:gd name="connsiteX1" fmla="*/ 1238250 w 1353162"/>
              <a:gd name="connsiteY1" fmla="*/ 368300 h 4166870"/>
              <a:gd name="connsiteX2" fmla="*/ 1263650 w 1353162"/>
              <a:gd name="connsiteY2" fmla="*/ 546100 h 4166870"/>
              <a:gd name="connsiteX3" fmla="*/ 927100 w 1353162"/>
              <a:gd name="connsiteY3" fmla="*/ 908050 h 4166870"/>
              <a:gd name="connsiteX4" fmla="*/ 946150 w 1353162"/>
              <a:gd name="connsiteY4" fmla="*/ 1085850 h 4166870"/>
              <a:gd name="connsiteX5" fmla="*/ 1250950 w 1353162"/>
              <a:gd name="connsiteY5" fmla="*/ 1454150 h 4166870"/>
              <a:gd name="connsiteX6" fmla="*/ 1250950 w 1353162"/>
              <a:gd name="connsiteY6" fmla="*/ 1625600 h 4166870"/>
              <a:gd name="connsiteX7" fmla="*/ 933450 w 1353162"/>
              <a:gd name="connsiteY7" fmla="*/ 1993900 h 4166870"/>
              <a:gd name="connsiteX8" fmla="*/ 933450 w 1353162"/>
              <a:gd name="connsiteY8" fmla="*/ 2171700 h 4166870"/>
              <a:gd name="connsiteX9" fmla="*/ 603250 w 1353162"/>
              <a:gd name="connsiteY9" fmla="*/ 2540000 h 4166870"/>
              <a:gd name="connsiteX10" fmla="*/ 622300 w 1353162"/>
              <a:gd name="connsiteY10" fmla="*/ 2711450 h 4166870"/>
              <a:gd name="connsiteX11" fmla="*/ 939800 w 1353162"/>
              <a:gd name="connsiteY11" fmla="*/ 3092450 h 4166870"/>
              <a:gd name="connsiteX12" fmla="*/ 933450 w 1353162"/>
              <a:gd name="connsiteY12" fmla="*/ 3244850 h 4166870"/>
              <a:gd name="connsiteX13" fmla="*/ 622300 w 1353162"/>
              <a:gd name="connsiteY13" fmla="*/ 3625850 h 4166870"/>
              <a:gd name="connsiteX14" fmla="*/ 611664 w 1353162"/>
              <a:gd name="connsiteY14" fmla="*/ 3790315 h 4166870"/>
              <a:gd name="connsiteX15" fmla="*/ 309880 w 1353162"/>
              <a:gd name="connsiteY15" fmla="*/ 4166870 h 4166870"/>
              <a:gd name="connsiteX0" fmla="*/ 0 w 1353162"/>
              <a:gd name="connsiteY0" fmla="*/ 0 h 4166870"/>
              <a:gd name="connsiteX1" fmla="*/ 1238250 w 1353162"/>
              <a:gd name="connsiteY1" fmla="*/ 368300 h 4166870"/>
              <a:gd name="connsiteX2" fmla="*/ 1263650 w 1353162"/>
              <a:gd name="connsiteY2" fmla="*/ 546100 h 4166870"/>
              <a:gd name="connsiteX3" fmla="*/ 927100 w 1353162"/>
              <a:gd name="connsiteY3" fmla="*/ 908050 h 4166870"/>
              <a:gd name="connsiteX4" fmla="*/ 946150 w 1353162"/>
              <a:gd name="connsiteY4" fmla="*/ 1085850 h 4166870"/>
              <a:gd name="connsiteX5" fmla="*/ 1250950 w 1353162"/>
              <a:gd name="connsiteY5" fmla="*/ 1454150 h 4166870"/>
              <a:gd name="connsiteX6" fmla="*/ 1250950 w 1353162"/>
              <a:gd name="connsiteY6" fmla="*/ 1625600 h 4166870"/>
              <a:gd name="connsiteX7" fmla="*/ 933450 w 1353162"/>
              <a:gd name="connsiteY7" fmla="*/ 1993900 h 4166870"/>
              <a:gd name="connsiteX8" fmla="*/ 933450 w 1353162"/>
              <a:gd name="connsiteY8" fmla="*/ 2171700 h 4166870"/>
              <a:gd name="connsiteX9" fmla="*/ 603250 w 1353162"/>
              <a:gd name="connsiteY9" fmla="*/ 2540000 h 4166870"/>
              <a:gd name="connsiteX10" fmla="*/ 622300 w 1353162"/>
              <a:gd name="connsiteY10" fmla="*/ 2711450 h 4166870"/>
              <a:gd name="connsiteX11" fmla="*/ 939800 w 1353162"/>
              <a:gd name="connsiteY11" fmla="*/ 3092450 h 4166870"/>
              <a:gd name="connsiteX12" fmla="*/ 933450 w 1353162"/>
              <a:gd name="connsiteY12" fmla="*/ 3244850 h 4166870"/>
              <a:gd name="connsiteX13" fmla="*/ 622300 w 1353162"/>
              <a:gd name="connsiteY13" fmla="*/ 3625850 h 4166870"/>
              <a:gd name="connsiteX14" fmla="*/ 611664 w 1353162"/>
              <a:gd name="connsiteY14" fmla="*/ 3790315 h 4166870"/>
              <a:gd name="connsiteX15" fmla="*/ 309880 w 1353162"/>
              <a:gd name="connsiteY15" fmla="*/ 4166870 h 4166870"/>
              <a:gd name="connsiteX0" fmla="*/ 0 w 1353162"/>
              <a:gd name="connsiteY0" fmla="*/ 0 h 4166870"/>
              <a:gd name="connsiteX1" fmla="*/ 1238250 w 1353162"/>
              <a:gd name="connsiteY1" fmla="*/ 368300 h 4166870"/>
              <a:gd name="connsiteX2" fmla="*/ 1263650 w 1353162"/>
              <a:gd name="connsiteY2" fmla="*/ 546100 h 4166870"/>
              <a:gd name="connsiteX3" fmla="*/ 927100 w 1353162"/>
              <a:gd name="connsiteY3" fmla="*/ 908050 h 4166870"/>
              <a:gd name="connsiteX4" fmla="*/ 946150 w 1353162"/>
              <a:gd name="connsiteY4" fmla="*/ 1085850 h 4166870"/>
              <a:gd name="connsiteX5" fmla="*/ 1250950 w 1353162"/>
              <a:gd name="connsiteY5" fmla="*/ 1454150 h 4166870"/>
              <a:gd name="connsiteX6" fmla="*/ 1250950 w 1353162"/>
              <a:gd name="connsiteY6" fmla="*/ 1625600 h 4166870"/>
              <a:gd name="connsiteX7" fmla="*/ 933450 w 1353162"/>
              <a:gd name="connsiteY7" fmla="*/ 1993900 h 4166870"/>
              <a:gd name="connsiteX8" fmla="*/ 933450 w 1353162"/>
              <a:gd name="connsiteY8" fmla="*/ 2171700 h 4166870"/>
              <a:gd name="connsiteX9" fmla="*/ 603250 w 1353162"/>
              <a:gd name="connsiteY9" fmla="*/ 2540000 h 4166870"/>
              <a:gd name="connsiteX10" fmla="*/ 622300 w 1353162"/>
              <a:gd name="connsiteY10" fmla="*/ 2711450 h 4166870"/>
              <a:gd name="connsiteX11" fmla="*/ 939800 w 1353162"/>
              <a:gd name="connsiteY11" fmla="*/ 3092450 h 4166870"/>
              <a:gd name="connsiteX12" fmla="*/ 933450 w 1353162"/>
              <a:gd name="connsiteY12" fmla="*/ 3244850 h 4166870"/>
              <a:gd name="connsiteX13" fmla="*/ 622300 w 1353162"/>
              <a:gd name="connsiteY13" fmla="*/ 3625850 h 4166870"/>
              <a:gd name="connsiteX14" fmla="*/ 611664 w 1353162"/>
              <a:gd name="connsiteY14" fmla="*/ 3790315 h 4166870"/>
              <a:gd name="connsiteX15" fmla="*/ 309880 w 1353162"/>
              <a:gd name="connsiteY15" fmla="*/ 4166870 h 4166870"/>
              <a:gd name="connsiteX0" fmla="*/ 0 w 1353162"/>
              <a:gd name="connsiteY0" fmla="*/ 0 h 4166870"/>
              <a:gd name="connsiteX1" fmla="*/ 1238250 w 1353162"/>
              <a:gd name="connsiteY1" fmla="*/ 368300 h 4166870"/>
              <a:gd name="connsiteX2" fmla="*/ 1263650 w 1353162"/>
              <a:gd name="connsiteY2" fmla="*/ 546100 h 4166870"/>
              <a:gd name="connsiteX3" fmla="*/ 927100 w 1353162"/>
              <a:gd name="connsiteY3" fmla="*/ 908050 h 4166870"/>
              <a:gd name="connsiteX4" fmla="*/ 946150 w 1353162"/>
              <a:gd name="connsiteY4" fmla="*/ 1085850 h 4166870"/>
              <a:gd name="connsiteX5" fmla="*/ 1250950 w 1353162"/>
              <a:gd name="connsiteY5" fmla="*/ 1454150 h 4166870"/>
              <a:gd name="connsiteX6" fmla="*/ 1250950 w 1353162"/>
              <a:gd name="connsiteY6" fmla="*/ 1625600 h 4166870"/>
              <a:gd name="connsiteX7" fmla="*/ 933450 w 1353162"/>
              <a:gd name="connsiteY7" fmla="*/ 1993900 h 4166870"/>
              <a:gd name="connsiteX8" fmla="*/ 933450 w 1353162"/>
              <a:gd name="connsiteY8" fmla="*/ 2171700 h 4166870"/>
              <a:gd name="connsiteX9" fmla="*/ 603250 w 1353162"/>
              <a:gd name="connsiteY9" fmla="*/ 2540000 h 4166870"/>
              <a:gd name="connsiteX10" fmla="*/ 622300 w 1353162"/>
              <a:gd name="connsiteY10" fmla="*/ 2711450 h 4166870"/>
              <a:gd name="connsiteX11" fmla="*/ 939800 w 1353162"/>
              <a:gd name="connsiteY11" fmla="*/ 3092450 h 4166870"/>
              <a:gd name="connsiteX12" fmla="*/ 933450 w 1353162"/>
              <a:gd name="connsiteY12" fmla="*/ 3244850 h 4166870"/>
              <a:gd name="connsiteX13" fmla="*/ 622300 w 1353162"/>
              <a:gd name="connsiteY13" fmla="*/ 3625850 h 4166870"/>
              <a:gd name="connsiteX14" fmla="*/ 611664 w 1353162"/>
              <a:gd name="connsiteY14" fmla="*/ 3790315 h 4166870"/>
              <a:gd name="connsiteX15" fmla="*/ 309880 w 1353162"/>
              <a:gd name="connsiteY15" fmla="*/ 4166870 h 4166870"/>
              <a:gd name="connsiteX0" fmla="*/ 0 w 1353162"/>
              <a:gd name="connsiteY0" fmla="*/ 0 h 4166870"/>
              <a:gd name="connsiteX1" fmla="*/ 1238250 w 1353162"/>
              <a:gd name="connsiteY1" fmla="*/ 368300 h 4166870"/>
              <a:gd name="connsiteX2" fmla="*/ 1263650 w 1353162"/>
              <a:gd name="connsiteY2" fmla="*/ 546100 h 4166870"/>
              <a:gd name="connsiteX3" fmla="*/ 927100 w 1353162"/>
              <a:gd name="connsiteY3" fmla="*/ 908050 h 4166870"/>
              <a:gd name="connsiteX4" fmla="*/ 946150 w 1353162"/>
              <a:gd name="connsiteY4" fmla="*/ 1085850 h 4166870"/>
              <a:gd name="connsiteX5" fmla="*/ 1250950 w 1353162"/>
              <a:gd name="connsiteY5" fmla="*/ 1454150 h 4166870"/>
              <a:gd name="connsiteX6" fmla="*/ 1250950 w 1353162"/>
              <a:gd name="connsiteY6" fmla="*/ 1625600 h 4166870"/>
              <a:gd name="connsiteX7" fmla="*/ 933450 w 1353162"/>
              <a:gd name="connsiteY7" fmla="*/ 1993900 h 4166870"/>
              <a:gd name="connsiteX8" fmla="*/ 933450 w 1353162"/>
              <a:gd name="connsiteY8" fmla="*/ 2171700 h 4166870"/>
              <a:gd name="connsiteX9" fmla="*/ 603250 w 1353162"/>
              <a:gd name="connsiteY9" fmla="*/ 2540000 h 4166870"/>
              <a:gd name="connsiteX10" fmla="*/ 622300 w 1353162"/>
              <a:gd name="connsiteY10" fmla="*/ 2711450 h 4166870"/>
              <a:gd name="connsiteX11" fmla="*/ 939800 w 1353162"/>
              <a:gd name="connsiteY11" fmla="*/ 3092450 h 4166870"/>
              <a:gd name="connsiteX12" fmla="*/ 933450 w 1353162"/>
              <a:gd name="connsiteY12" fmla="*/ 3244850 h 4166870"/>
              <a:gd name="connsiteX13" fmla="*/ 622300 w 1353162"/>
              <a:gd name="connsiteY13" fmla="*/ 3625850 h 4166870"/>
              <a:gd name="connsiteX14" fmla="*/ 611664 w 1353162"/>
              <a:gd name="connsiteY14" fmla="*/ 3790315 h 4166870"/>
              <a:gd name="connsiteX15" fmla="*/ 309880 w 1353162"/>
              <a:gd name="connsiteY15" fmla="*/ 4166870 h 416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53162" h="4166870">
                <a:moveTo>
                  <a:pt x="0" y="0"/>
                </a:moveTo>
                <a:cubicBezTo>
                  <a:pt x="513821" y="138641"/>
                  <a:pt x="1027642" y="277283"/>
                  <a:pt x="1238250" y="368300"/>
                </a:cubicBezTo>
                <a:cubicBezTo>
                  <a:pt x="1448858" y="459317"/>
                  <a:pt x="1315508" y="456142"/>
                  <a:pt x="1263650" y="546100"/>
                </a:cubicBezTo>
                <a:cubicBezTo>
                  <a:pt x="1211792" y="636058"/>
                  <a:pt x="980017" y="818092"/>
                  <a:pt x="927100" y="908050"/>
                </a:cubicBezTo>
                <a:cubicBezTo>
                  <a:pt x="874183" y="998008"/>
                  <a:pt x="892175" y="994834"/>
                  <a:pt x="946150" y="1085850"/>
                </a:cubicBezTo>
                <a:cubicBezTo>
                  <a:pt x="1000125" y="1176866"/>
                  <a:pt x="1200150" y="1364192"/>
                  <a:pt x="1250950" y="1454150"/>
                </a:cubicBezTo>
                <a:cubicBezTo>
                  <a:pt x="1301750" y="1544108"/>
                  <a:pt x="1303867" y="1535642"/>
                  <a:pt x="1250950" y="1625600"/>
                </a:cubicBezTo>
                <a:cubicBezTo>
                  <a:pt x="1198033" y="1715558"/>
                  <a:pt x="986367" y="1902883"/>
                  <a:pt x="933450" y="1993900"/>
                </a:cubicBezTo>
                <a:cubicBezTo>
                  <a:pt x="880533" y="2084917"/>
                  <a:pt x="988483" y="2080683"/>
                  <a:pt x="933450" y="2171700"/>
                </a:cubicBezTo>
                <a:cubicBezTo>
                  <a:pt x="878417" y="2262717"/>
                  <a:pt x="655108" y="2450042"/>
                  <a:pt x="603250" y="2540000"/>
                </a:cubicBezTo>
                <a:cubicBezTo>
                  <a:pt x="551392" y="2629958"/>
                  <a:pt x="566208" y="2619375"/>
                  <a:pt x="622300" y="2711450"/>
                </a:cubicBezTo>
                <a:cubicBezTo>
                  <a:pt x="678392" y="2803525"/>
                  <a:pt x="916517" y="2996406"/>
                  <a:pt x="939800" y="3092450"/>
                </a:cubicBezTo>
                <a:cubicBezTo>
                  <a:pt x="963083" y="3188494"/>
                  <a:pt x="967317" y="3144044"/>
                  <a:pt x="933450" y="3244850"/>
                </a:cubicBezTo>
                <a:cubicBezTo>
                  <a:pt x="899583" y="3345656"/>
                  <a:pt x="649720" y="3498391"/>
                  <a:pt x="622300" y="3625850"/>
                </a:cubicBezTo>
                <a:cubicBezTo>
                  <a:pt x="591206" y="3770389"/>
                  <a:pt x="620872" y="3631088"/>
                  <a:pt x="611664" y="3790315"/>
                </a:cubicBezTo>
                <a:cubicBezTo>
                  <a:pt x="454819" y="3982879"/>
                  <a:pt x="346922" y="4103793"/>
                  <a:pt x="309880" y="4166870"/>
                </a:cubicBezTo>
              </a:path>
            </a:pathLst>
          </a:custGeom>
          <a:ln w="28575">
            <a:solidFill>
              <a:srgbClr val="E51B46"/>
            </a:solidFill>
            <a:prstDash val="dash"/>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 name="页脚占位符 3">
            <a:extLst>
              <a:ext uri="{FF2B5EF4-FFF2-40B4-BE49-F238E27FC236}">
                <a16:creationId xmlns:a16="http://schemas.microsoft.com/office/drawing/2014/main" id="{BBFEABE4-64F0-4FF2-942F-2146838E3D0A}"/>
              </a:ext>
            </a:extLst>
          </p:cNvPr>
          <p:cNvSpPr>
            <a:spLocks noGrp="1"/>
          </p:cNvSpPr>
          <p:nvPr>
            <p:ph type="ftr" sz="quarter" idx="11"/>
          </p:nvPr>
        </p:nvSpPr>
        <p:spPr/>
        <p:txBody>
          <a:bodyPr/>
          <a:lstStyle/>
          <a:p>
            <a:endParaRPr lang="zh-CN" altLang="en-US"/>
          </a:p>
        </p:txBody>
      </p:sp>
      <p:sp>
        <p:nvSpPr>
          <p:cNvPr id="14" name="灯片编号占位符 13">
            <a:extLst>
              <a:ext uri="{FF2B5EF4-FFF2-40B4-BE49-F238E27FC236}">
                <a16:creationId xmlns:a16="http://schemas.microsoft.com/office/drawing/2014/main" id="{BFF77B64-B567-439E-8327-BCABA0DC0EE7}"/>
              </a:ext>
            </a:extLst>
          </p:cNvPr>
          <p:cNvSpPr>
            <a:spLocks noGrp="1"/>
          </p:cNvSpPr>
          <p:nvPr>
            <p:ph type="sldNum" sz="quarter" idx="12"/>
          </p:nvPr>
        </p:nvSpPr>
        <p:spPr/>
        <p:txBody>
          <a:bodyPr/>
          <a:lstStyle/>
          <a:p>
            <a:fld id="{5AD84F5B-1672-4D3F-9FEC-5DF89A7B7912}" type="slidenum">
              <a:rPr lang="zh-CN" altLang="en-US" smtClean="0"/>
              <a:t>51</a:t>
            </a:fld>
            <a:endParaRPr lang="zh-CN" altLang="en-US"/>
          </a:p>
        </p:txBody>
      </p:sp>
    </p:spTree>
    <p:extLst>
      <p:ext uri="{BB962C8B-B14F-4D97-AF65-F5344CB8AC3E}">
        <p14:creationId xmlns:p14="http://schemas.microsoft.com/office/powerpoint/2010/main" val="2417921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7588"/>
                                        </p:tgtEl>
                                        <p:attrNameLst>
                                          <p:attrName>style.visibility</p:attrName>
                                        </p:attrNameLst>
                                      </p:cBhvr>
                                      <p:to>
                                        <p:strVal val="visible"/>
                                      </p:to>
                                    </p:set>
                                    <p:animEffect transition="in" filter="fade">
                                      <p:cBhvr>
                                        <p:cTn id="7" dur="1500"/>
                                        <p:tgtEl>
                                          <p:spTgt spid="6758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7589"/>
                                        </p:tgtEl>
                                        <p:attrNameLst>
                                          <p:attrName>style.visibility</p:attrName>
                                        </p:attrNameLst>
                                      </p:cBhvr>
                                      <p:to>
                                        <p:strVal val="visible"/>
                                      </p:to>
                                    </p:set>
                                    <p:animEffect transition="in" filter="fade">
                                      <p:cBhvr>
                                        <p:cTn id="12" dur="1000"/>
                                        <p:tgtEl>
                                          <p:spTgt spid="67589"/>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mph" presetSubtype="0" fill="hold" nodeType="clickEffect">
                                  <p:stCondLst>
                                    <p:cond delay="0"/>
                                  </p:stCondLst>
                                  <p:childTnLst>
                                    <p:animScale>
                                      <p:cBhvr>
                                        <p:cTn id="16" dur="1000" fill="hold"/>
                                        <p:tgtEl>
                                          <p:spTgt spid="67589"/>
                                        </p:tgtEl>
                                      </p:cBhvr>
                                      <p:by x="150000" y="150000"/>
                                    </p:animScale>
                                  </p:childTnLst>
                                </p:cTn>
                              </p:par>
                            </p:childTnLst>
                          </p:cTn>
                        </p:par>
                      </p:childTnLst>
                    </p:cTn>
                  </p:par>
                  <p:par>
                    <p:cTn id="17" fill="hold">
                      <p:stCondLst>
                        <p:cond delay="indefinite"/>
                      </p:stCondLst>
                      <p:childTnLst>
                        <p:par>
                          <p:cTn id="18" fill="hold">
                            <p:stCondLst>
                              <p:cond delay="0"/>
                            </p:stCondLst>
                            <p:childTnLst>
                              <p:par>
                                <p:cTn id="19" presetID="6" presetClass="emph" presetSubtype="0" fill="hold" nodeType="clickEffect">
                                  <p:stCondLst>
                                    <p:cond delay="0"/>
                                  </p:stCondLst>
                                  <p:childTnLst>
                                    <p:animScale>
                                      <p:cBhvr>
                                        <p:cTn id="20" dur="750" fill="hold"/>
                                        <p:tgtEl>
                                          <p:spTgt spid="67589"/>
                                        </p:tgtEl>
                                      </p:cBhvr>
                                      <p:by x="67000" y="67000"/>
                                    </p:animScale>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wipe(up)">
                                      <p:cBhvr>
                                        <p:cTn id="25" dur="1500"/>
                                        <p:tgtEl>
                                          <p:spTgt spid="2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left)">
                                      <p:cBhvr>
                                        <p:cTn id="30" dur="500"/>
                                        <p:tgtEl>
                                          <p:spTgt spid="6"/>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left)">
                                      <p:cBhvr>
                                        <p:cTn id="34" dur="500"/>
                                        <p:tgtEl>
                                          <p:spTgt spid="7"/>
                                        </p:tgtEl>
                                      </p:cBhvr>
                                    </p:animEffect>
                                  </p:childTnLst>
                                </p:cTn>
                              </p:par>
                            </p:childTnLst>
                          </p:cTn>
                        </p:par>
                        <p:par>
                          <p:cTn id="35" fill="hold">
                            <p:stCondLst>
                              <p:cond delay="1000"/>
                            </p:stCondLst>
                            <p:childTnLst>
                              <p:par>
                                <p:cTn id="36" presetID="22" presetClass="entr" presetSubtype="4" fill="hold" grpId="0" nodeType="after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wipe(down)">
                                      <p:cBhvr>
                                        <p:cTn id="38" dur="500"/>
                                        <p:tgtEl>
                                          <p:spTgt spid="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wipe(left)">
                                      <p:cBhvr>
                                        <p:cTn id="43" dur="500"/>
                                        <p:tgtEl>
                                          <p:spTgt spid="8"/>
                                        </p:tgtEl>
                                      </p:cBhvr>
                                    </p:animEffect>
                                  </p:childTnLst>
                                </p:cTn>
                              </p:par>
                            </p:childTnLst>
                          </p:cTn>
                        </p:par>
                        <p:par>
                          <p:cTn id="44" fill="hold">
                            <p:stCondLst>
                              <p:cond delay="500"/>
                            </p:stCondLst>
                            <p:childTnLst>
                              <p:par>
                                <p:cTn id="45" presetID="10" presetClass="exit" presetSubtype="0" fill="hold" grpId="1" nodeType="afterEffect">
                                  <p:stCondLst>
                                    <p:cond delay="0"/>
                                  </p:stCondLst>
                                  <p:childTnLst>
                                    <p:animEffect transition="out" filter="fade">
                                      <p:cBhvr>
                                        <p:cTn id="46" dur="500"/>
                                        <p:tgtEl>
                                          <p:spTgt spid="3"/>
                                        </p:tgtEl>
                                      </p:cBhvr>
                                    </p:animEffect>
                                    <p:set>
                                      <p:cBhvr>
                                        <p:cTn id="47" dur="1" fill="hold">
                                          <p:stCondLst>
                                            <p:cond delay="499"/>
                                          </p:stCondLst>
                                        </p:cTn>
                                        <p:tgtEl>
                                          <p:spTgt spid="3"/>
                                        </p:tgtEl>
                                        <p:attrNameLst>
                                          <p:attrName>style.visibility</p:attrName>
                                        </p:attrNameLst>
                                      </p:cBhvr>
                                      <p:to>
                                        <p:strVal val="hidden"/>
                                      </p:to>
                                    </p:se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nodeType="click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wipe(up)">
                                      <p:cBhvr>
                                        <p:cTn id="55" dur="500"/>
                                        <p:tgtEl>
                                          <p:spTgt spid="5"/>
                                        </p:tgtEl>
                                      </p:cBhvr>
                                    </p:animEffect>
                                  </p:childTnLst>
                                </p:cTn>
                              </p:par>
                            </p:childTnLst>
                          </p:cTn>
                        </p:par>
                        <p:par>
                          <p:cTn id="56" fill="hold">
                            <p:stCondLst>
                              <p:cond delay="500"/>
                            </p:stCondLst>
                            <p:childTnLst>
                              <p:par>
                                <p:cTn id="57" presetID="10" presetClass="exit" presetSubtype="0" fill="hold" grpId="1" nodeType="afterEffect">
                                  <p:stCondLst>
                                    <p:cond delay="0"/>
                                  </p:stCondLst>
                                  <p:childTnLst>
                                    <p:animEffect transition="out" filter="fade">
                                      <p:cBhvr>
                                        <p:cTn id="58" dur="500"/>
                                        <p:tgtEl>
                                          <p:spTgt spid="16"/>
                                        </p:tgtEl>
                                      </p:cBhvr>
                                    </p:animEffect>
                                    <p:set>
                                      <p:cBhvr>
                                        <p:cTn id="59" dur="1" fill="hold">
                                          <p:stCondLst>
                                            <p:cond delay="499"/>
                                          </p:stCondLst>
                                        </p:cTn>
                                        <p:tgtEl>
                                          <p:spTgt spid="16"/>
                                        </p:tgtEl>
                                        <p:attrNameLst>
                                          <p:attrName>style.visibility</p:attrName>
                                        </p:attrNameLst>
                                      </p:cBhvr>
                                      <p:to>
                                        <p:strVal val="hidden"/>
                                      </p:to>
                                    </p:set>
                                  </p:childTnLst>
                                </p:cTn>
                              </p:par>
                              <p:par>
                                <p:cTn id="60" presetID="10" presetClass="entr" presetSubtype="0" fill="hold" grpId="0" nodeType="with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9"/>
                                        </p:tgtEl>
                                        <p:attrNameLst>
                                          <p:attrName>style.visibility</p:attrName>
                                        </p:attrNameLst>
                                      </p:cBhvr>
                                      <p:to>
                                        <p:strVal val="visible"/>
                                      </p:to>
                                    </p:set>
                                    <p:animEffect transition="in" filter="wipe(left)">
                                      <p:cBhvr>
                                        <p:cTn id="67" dur="500"/>
                                        <p:tgtEl>
                                          <p:spTgt spid="9"/>
                                        </p:tgtEl>
                                      </p:cBhvr>
                                    </p:animEffect>
                                  </p:childTnLst>
                                </p:cTn>
                              </p:par>
                            </p:childTnLst>
                          </p:cTn>
                        </p:par>
                        <p:par>
                          <p:cTn id="68" fill="hold">
                            <p:stCondLst>
                              <p:cond delay="500"/>
                            </p:stCondLst>
                            <p:childTnLst>
                              <p:par>
                                <p:cTn id="69" presetID="10" presetClass="exit" presetSubtype="0" fill="hold" grpId="1" nodeType="afterEffect">
                                  <p:stCondLst>
                                    <p:cond delay="0"/>
                                  </p:stCondLst>
                                  <p:childTnLst>
                                    <p:animEffect transition="out" filter="fade">
                                      <p:cBhvr>
                                        <p:cTn id="70" dur="500"/>
                                        <p:tgtEl>
                                          <p:spTgt spid="15"/>
                                        </p:tgtEl>
                                      </p:cBhvr>
                                    </p:animEffect>
                                    <p:set>
                                      <p:cBhvr>
                                        <p:cTn id="71" dur="1" fill="hold">
                                          <p:stCondLst>
                                            <p:cond delay="499"/>
                                          </p:stCondLst>
                                        </p:cTn>
                                        <p:tgtEl>
                                          <p:spTgt spid="15"/>
                                        </p:tgtEl>
                                        <p:attrNameLst>
                                          <p:attrName>style.visibility</p:attrName>
                                        </p:attrNameLst>
                                      </p:cBhvr>
                                      <p:to>
                                        <p:strVal val="hidden"/>
                                      </p:to>
                                    </p:set>
                                  </p:childTnLst>
                                </p:cTn>
                              </p:par>
                              <p:par>
                                <p:cTn id="72" presetID="10" presetClass="entr" presetSubtype="0" fill="hold" grpId="0" nodeType="withEffect">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500"/>
                                        <p:tgtEl>
                                          <p:spTgt spid="17"/>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1" fill="hold" nodeType="clickEffect">
                                  <p:stCondLst>
                                    <p:cond delay="0"/>
                                  </p:stCondLst>
                                  <p:childTnLst>
                                    <p:set>
                                      <p:cBhvr>
                                        <p:cTn id="78" dur="1" fill="hold">
                                          <p:stCondLst>
                                            <p:cond delay="0"/>
                                          </p:stCondLst>
                                        </p:cTn>
                                        <p:tgtEl>
                                          <p:spTgt spid="10"/>
                                        </p:tgtEl>
                                        <p:attrNameLst>
                                          <p:attrName>style.visibility</p:attrName>
                                        </p:attrNameLst>
                                      </p:cBhvr>
                                      <p:to>
                                        <p:strVal val="visible"/>
                                      </p:to>
                                    </p:set>
                                    <p:animEffect transition="in" filter="wipe(up)">
                                      <p:cBhvr>
                                        <p:cTn id="79" dur="500"/>
                                        <p:tgtEl>
                                          <p:spTgt spid="10"/>
                                        </p:tgtEl>
                                      </p:cBhvr>
                                    </p:animEffect>
                                  </p:childTnLst>
                                </p:cTn>
                              </p:par>
                            </p:childTnLst>
                          </p:cTn>
                        </p:par>
                        <p:par>
                          <p:cTn id="80" fill="hold">
                            <p:stCondLst>
                              <p:cond delay="500"/>
                            </p:stCondLst>
                            <p:childTnLst>
                              <p:par>
                                <p:cTn id="81" presetID="10" presetClass="exit" presetSubtype="0" fill="hold" grpId="1" nodeType="afterEffect">
                                  <p:stCondLst>
                                    <p:cond delay="0"/>
                                  </p:stCondLst>
                                  <p:childTnLst>
                                    <p:animEffect transition="out" filter="fade">
                                      <p:cBhvr>
                                        <p:cTn id="82" dur="500"/>
                                        <p:tgtEl>
                                          <p:spTgt spid="17"/>
                                        </p:tgtEl>
                                      </p:cBhvr>
                                    </p:animEffect>
                                    <p:set>
                                      <p:cBhvr>
                                        <p:cTn id="83" dur="1" fill="hold">
                                          <p:stCondLst>
                                            <p:cond delay="499"/>
                                          </p:stCondLst>
                                        </p:cTn>
                                        <p:tgtEl>
                                          <p:spTgt spid="17"/>
                                        </p:tgtEl>
                                        <p:attrNameLst>
                                          <p:attrName>style.visibility</p:attrName>
                                        </p:attrNameLst>
                                      </p:cBhvr>
                                      <p:to>
                                        <p:strVal val="hidden"/>
                                      </p:to>
                                    </p:set>
                                  </p:childTnLst>
                                </p:cTn>
                              </p:par>
                              <p:par>
                                <p:cTn id="84" presetID="10" presetClass="entr" presetSubtype="0" fill="hold" grpId="0" nodeType="withEffect">
                                  <p:stCondLst>
                                    <p:cond delay="0"/>
                                  </p:stCondLst>
                                  <p:childTnLst>
                                    <p:set>
                                      <p:cBhvr>
                                        <p:cTn id="85" dur="1" fill="hold">
                                          <p:stCondLst>
                                            <p:cond delay="0"/>
                                          </p:stCondLst>
                                        </p:cTn>
                                        <p:tgtEl>
                                          <p:spTgt spid="18"/>
                                        </p:tgtEl>
                                        <p:attrNameLst>
                                          <p:attrName>style.visibility</p:attrName>
                                        </p:attrNameLst>
                                      </p:cBhvr>
                                      <p:to>
                                        <p:strVal val="visible"/>
                                      </p:to>
                                    </p:set>
                                    <p:animEffect transition="in" filter="fade">
                                      <p:cBhvr>
                                        <p:cTn id="86" dur="500"/>
                                        <p:tgtEl>
                                          <p:spTgt spid="18"/>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1" fill="hold" nodeType="clickEffect">
                                  <p:stCondLst>
                                    <p:cond delay="0"/>
                                  </p:stCondLst>
                                  <p:childTnLst>
                                    <p:set>
                                      <p:cBhvr>
                                        <p:cTn id="90" dur="1" fill="hold">
                                          <p:stCondLst>
                                            <p:cond delay="0"/>
                                          </p:stCondLst>
                                        </p:cTn>
                                        <p:tgtEl>
                                          <p:spTgt spid="11"/>
                                        </p:tgtEl>
                                        <p:attrNameLst>
                                          <p:attrName>style.visibility</p:attrName>
                                        </p:attrNameLst>
                                      </p:cBhvr>
                                      <p:to>
                                        <p:strVal val="visible"/>
                                      </p:to>
                                    </p:set>
                                    <p:animEffect transition="in" filter="wipe(up)">
                                      <p:cBhvr>
                                        <p:cTn id="91" dur="500"/>
                                        <p:tgtEl>
                                          <p:spTgt spid="11"/>
                                        </p:tgtEl>
                                      </p:cBhvr>
                                    </p:animEffect>
                                  </p:childTnLst>
                                </p:cTn>
                              </p:par>
                            </p:childTnLst>
                          </p:cTn>
                        </p:par>
                        <p:par>
                          <p:cTn id="92" fill="hold">
                            <p:stCondLst>
                              <p:cond delay="500"/>
                            </p:stCondLst>
                            <p:childTnLst>
                              <p:par>
                                <p:cTn id="93" presetID="10" presetClass="exit" presetSubtype="0" fill="hold" grpId="1" nodeType="afterEffect">
                                  <p:stCondLst>
                                    <p:cond delay="0"/>
                                  </p:stCondLst>
                                  <p:childTnLst>
                                    <p:animEffect transition="out" filter="fade">
                                      <p:cBhvr>
                                        <p:cTn id="94" dur="500"/>
                                        <p:tgtEl>
                                          <p:spTgt spid="18"/>
                                        </p:tgtEl>
                                      </p:cBhvr>
                                    </p:animEffect>
                                    <p:set>
                                      <p:cBhvr>
                                        <p:cTn id="95" dur="1" fill="hold">
                                          <p:stCondLst>
                                            <p:cond delay="499"/>
                                          </p:stCondLst>
                                        </p:cTn>
                                        <p:tgtEl>
                                          <p:spTgt spid="18"/>
                                        </p:tgtEl>
                                        <p:attrNameLst>
                                          <p:attrName>style.visibility</p:attrName>
                                        </p:attrNameLst>
                                      </p:cBhvr>
                                      <p:to>
                                        <p:strVal val="hidden"/>
                                      </p:to>
                                    </p:set>
                                  </p:childTnLst>
                                </p:cTn>
                              </p:par>
                              <p:par>
                                <p:cTn id="96" presetID="10" presetClass="entr" presetSubtype="0" fill="hold" grpId="0" nodeType="withEffect">
                                  <p:stCondLst>
                                    <p:cond delay="0"/>
                                  </p:stCondLst>
                                  <p:childTnLst>
                                    <p:set>
                                      <p:cBhvr>
                                        <p:cTn id="97" dur="1" fill="hold">
                                          <p:stCondLst>
                                            <p:cond delay="0"/>
                                          </p:stCondLst>
                                        </p:cTn>
                                        <p:tgtEl>
                                          <p:spTgt spid="19"/>
                                        </p:tgtEl>
                                        <p:attrNameLst>
                                          <p:attrName>style.visibility</p:attrName>
                                        </p:attrNameLst>
                                      </p:cBhvr>
                                      <p:to>
                                        <p:strVal val="visible"/>
                                      </p:to>
                                    </p:set>
                                    <p:animEffect transition="in" filter="fade">
                                      <p:cBhvr>
                                        <p:cTn id="98" dur="500"/>
                                        <p:tgtEl>
                                          <p:spTgt spid="19"/>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1" fill="hold" nodeType="clickEffect">
                                  <p:stCondLst>
                                    <p:cond delay="0"/>
                                  </p:stCondLst>
                                  <p:childTnLst>
                                    <p:set>
                                      <p:cBhvr>
                                        <p:cTn id="102" dur="1" fill="hold">
                                          <p:stCondLst>
                                            <p:cond delay="0"/>
                                          </p:stCondLst>
                                        </p:cTn>
                                        <p:tgtEl>
                                          <p:spTgt spid="12"/>
                                        </p:tgtEl>
                                        <p:attrNameLst>
                                          <p:attrName>style.visibility</p:attrName>
                                        </p:attrNameLst>
                                      </p:cBhvr>
                                      <p:to>
                                        <p:strVal val="visible"/>
                                      </p:to>
                                    </p:set>
                                    <p:animEffect transition="in" filter="wipe(up)">
                                      <p:cBhvr>
                                        <p:cTn id="103" dur="500"/>
                                        <p:tgtEl>
                                          <p:spTgt spid="12"/>
                                        </p:tgtEl>
                                      </p:cBhvr>
                                    </p:animEffect>
                                  </p:childTnLst>
                                </p:cTn>
                              </p:par>
                            </p:childTnLst>
                          </p:cTn>
                        </p:par>
                        <p:par>
                          <p:cTn id="104" fill="hold">
                            <p:stCondLst>
                              <p:cond delay="500"/>
                            </p:stCondLst>
                            <p:childTnLst>
                              <p:par>
                                <p:cTn id="105" presetID="10" presetClass="exit" presetSubtype="0" fill="hold" grpId="1" nodeType="afterEffect">
                                  <p:stCondLst>
                                    <p:cond delay="0"/>
                                  </p:stCondLst>
                                  <p:childTnLst>
                                    <p:animEffect transition="out" filter="fade">
                                      <p:cBhvr>
                                        <p:cTn id="106" dur="500"/>
                                        <p:tgtEl>
                                          <p:spTgt spid="19"/>
                                        </p:tgtEl>
                                      </p:cBhvr>
                                    </p:animEffect>
                                    <p:set>
                                      <p:cBhvr>
                                        <p:cTn id="107" dur="1" fill="hold">
                                          <p:stCondLst>
                                            <p:cond delay="499"/>
                                          </p:stCondLst>
                                        </p:cTn>
                                        <p:tgtEl>
                                          <p:spTgt spid="19"/>
                                        </p:tgtEl>
                                        <p:attrNameLst>
                                          <p:attrName>style.visibility</p:attrName>
                                        </p:attrNameLst>
                                      </p:cBhvr>
                                      <p:to>
                                        <p:strVal val="hidden"/>
                                      </p:to>
                                    </p:set>
                                  </p:childTnLst>
                                </p:cTn>
                              </p:par>
                              <p:par>
                                <p:cTn id="108" presetID="10" presetClass="entr" presetSubtype="0" fill="hold" grpId="0" nodeType="withEffect">
                                  <p:stCondLst>
                                    <p:cond delay="0"/>
                                  </p:stCondLst>
                                  <p:childTnLst>
                                    <p:set>
                                      <p:cBhvr>
                                        <p:cTn id="109" dur="1" fill="hold">
                                          <p:stCondLst>
                                            <p:cond delay="0"/>
                                          </p:stCondLst>
                                        </p:cTn>
                                        <p:tgtEl>
                                          <p:spTgt spid="20"/>
                                        </p:tgtEl>
                                        <p:attrNameLst>
                                          <p:attrName>style.visibility</p:attrName>
                                        </p:attrNameLst>
                                      </p:cBhvr>
                                      <p:to>
                                        <p:strVal val="visible"/>
                                      </p:to>
                                    </p:set>
                                    <p:animEffect transition="in" filter="fade">
                                      <p:cBhvr>
                                        <p:cTn id="110" dur="500"/>
                                        <p:tgtEl>
                                          <p:spTgt spid="20"/>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1" fill="hold" nodeType="clickEffect">
                                  <p:stCondLst>
                                    <p:cond delay="0"/>
                                  </p:stCondLst>
                                  <p:childTnLst>
                                    <p:set>
                                      <p:cBhvr>
                                        <p:cTn id="114" dur="1" fill="hold">
                                          <p:stCondLst>
                                            <p:cond delay="0"/>
                                          </p:stCondLst>
                                        </p:cTn>
                                        <p:tgtEl>
                                          <p:spTgt spid="13"/>
                                        </p:tgtEl>
                                        <p:attrNameLst>
                                          <p:attrName>style.visibility</p:attrName>
                                        </p:attrNameLst>
                                      </p:cBhvr>
                                      <p:to>
                                        <p:strVal val="visible"/>
                                      </p:to>
                                    </p:set>
                                    <p:animEffect transition="in" filter="wipe(up)">
                                      <p:cBhvr>
                                        <p:cTn id="1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20" grpId="0" animBg="1"/>
      <p:bldP spid="19" grpId="0" animBg="1"/>
      <p:bldP spid="19" grpId="1" animBg="1"/>
      <p:bldP spid="18" grpId="0" animBg="1"/>
      <p:bldP spid="18" grpId="1" animBg="1"/>
      <p:bldP spid="17" grpId="0" animBg="1"/>
      <p:bldP spid="17" grpId="1" animBg="1"/>
      <p:bldP spid="16" grpId="0" animBg="1"/>
      <p:bldP spid="16" grpId="1" animBg="1"/>
      <p:bldP spid="15" grpId="0" animBg="1"/>
      <p:bldP spid="15" grpId="1" animBg="1"/>
      <p:bldP spid="23"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t>
            </a:r>
            <a:r>
              <a:rPr lang="zh-CN" altLang="en-US" dirty="0"/>
              <a:t>例</a:t>
            </a:r>
            <a:r>
              <a:rPr lang="en-US" altLang="zh-CN" dirty="0"/>
              <a:t>】</a:t>
            </a:r>
            <a:endParaRPr lang="zh-CN" altLang="en-US" dirty="0"/>
          </a:p>
        </p:txBody>
      </p:sp>
      <p:pic>
        <p:nvPicPr>
          <p:cNvPr id="6" name="图片 5"/>
          <p:cNvPicPr>
            <a:picLocks noChangeAspect="1"/>
          </p:cNvPicPr>
          <p:nvPr/>
        </p:nvPicPr>
        <p:blipFill>
          <a:blip r:embed="rId2">
            <a:clrChange>
              <a:clrFrom>
                <a:srgbClr val="FEFEFE"/>
              </a:clrFrom>
              <a:clrTo>
                <a:srgbClr val="FEFEFE">
                  <a:alpha val="0"/>
                </a:srgbClr>
              </a:clrTo>
            </a:clrChange>
            <a:extLst>
              <a:ext uri="{28A0092B-C50C-407E-A947-70E740481C1C}">
                <a14:useLocalDpi xmlns:a14="http://schemas.microsoft.com/office/drawing/2010/main" val="0"/>
              </a:ext>
            </a:extLst>
          </a:blip>
          <a:stretch>
            <a:fillRect/>
          </a:stretch>
        </p:blipFill>
        <p:spPr>
          <a:xfrm>
            <a:off x="5717232" y="2049699"/>
            <a:ext cx="2678704" cy="3738280"/>
          </a:xfrm>
          <a:prstGeom prst="rect">
            <a:avLst/>
          </a:prstGeom>
        </p:spPr>
      </p:pic>
      <p:pic>
        <p:nvPicPr>
          <p:cNvPr id="5" name="Picture 4"/>
          <p:cNvPicPr>
            <a:picLocks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51520" y="2132857"/>
            <a:ext cx="4104000" cy="3655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页脚占位符 2">
            <a:extLst>
              <a:ext uri="{FF2B5EF4-FFF2-40B4-BE49-F238E27FC236}">
                <a16:creationId xmlns:a16="http://schemas.microsoft.com/office/drawing/2014/main" id="{A3EC13FC-F5A6-47F2-ADBA-160CA0127F2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BC6318D-D980-4145-B869-D04EDC769114}"/>
              </a:ext>
            </a:extLst>
          </p:cNvPr>
          <p:cNvSpPr>
            <a:spLocks noGrp="1"/>
          </p:cNvSpPr>
          <p:nvPr>
            <p:ph type="sldNum" sz="quarter" idx="12"/>
          </p:nvPr>
        </p:nvSpPr>
        <p:spPr/>
        <p:txBody>
          <a:bodyPr/>
          <a:lstStyle/>
          <a:p>
            <a:fld id="{5AD84F5B-1672-4D3F-9FEC-5DF89A7B7912}" type="slidenum">
              <a:rPr lang="zh-CN" altLang="en-US" smtClean="0"/>
              <a:t>52</a:t>
            </a:fld>
            <a:endParaRPr lang="zh-CN" altLang="en-US"/>
          </a:p>
        </p:txBody>
      </p:sp>
    </p:spTree>
    <p:extLst>
      <p:ext uri="{BB962C8B-B14F-4D97-AF65-F5344CB8AC3E}">
        <p14:creationId xmlns:p14="http://schemas.microsoft.com/office/powerpoint/2010/main" val="27860427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t>
            </a:r>
            <a:r>
              <a:rPr lang="zh-CN" altLang="en-US" dirty="0"/>
              <a:t>例</a:t>
            </a:r>
            <a:r>
              <a:rPr lang="en-US" altLang="zh-CN" dirty="0"/>
              <a:t>】</a:t>
            </a:r>
            <a:r>
              <a:rPr lang="zh-CN" altLang="en-US" dirty="0"/>
              <a:t>哺乳动物的分类问题</a:t>
            </a:r>
          </a:p>
        </p:txBody>
      </p:sp>
      <p:pic>
        <p:nvPicPr>
          <p:cNvPr id="68612" name="Picture 4"/>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79514" y="1824202"/>
            <a:ext cx="5305425" cy="3549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8613" name="Picture 5"/>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48064" y="1824201"/>
            <a:ext cx="3837722" cy="2891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3"/>
          <p:cNvSpPr txBox="1">
            <a:spLocks noChangeArrowheads="1"/>
          </p:cNvSpPr>
          <p:nvPr/>
        </p:nvSpPr>
        <p:spPr>
          <a:xfrm>
            <a:off x="5466736" y="4999269"/>
            <a:ext cx="3600400" cy="798617"/>
          </a:xfrm>
          <a:prstGeom prst="rect">
            <a:avLst/>
          </a:prstGeom>
          <a:noFill/>
          <a:ln>
            <a:noFill/>
          </a:ln>
        </p:spPr>
        <p:style>
          <a:lnRef idx="2">
            <a:schemeClr val="accent2"/>
          </a:lnRef>
          <a:fillRef idx="1">
            <a:schemeClr val="lt1"/>
          </a:fillRef>
          <a:effectRef idx="0">
            <a:schemeClr val="accent2"/>
          </a:effectRef>
          <a:fontRef idx="minor">
            <a:schemeClr val="dk1"/>
          </a:fontRef>
        </p:style>
        <p:txBody>
          <a:bodyPr vert="horz" wrap="square">
            <a:spAutoFit/>
          </a:bodyPr>
          <a:lstStyle>
            <a:defPPr>
              <a:defRPr lang="zh-CN"/>
            </a:defPPr>
            <a:lvl1pPr indent="0">
              <a:lnSpc>
                <a:spcPct val="120000"/>
              </a:lnSpc>
              <a:spcBef>
                <a:spcPts val="0"/>
              </a:spcBef>
              <a:spcAft>
                <a:spcPts val="0"/>
              </a:spcAft>
              <a:buClr>
                <a:schemeClr val="accent1"/>
              </a:buClr>
              <a:buSzPct val="68000"/>
              <a:buFont typeface="Wingdings 3"/>
              <a:buNone/>
              <a:defRPr kumimoji="0" sz="2000" baseline="0">
                <a:solidFill>
                  <a:srgbClr val="C00000"/>
                </a:solidFill>
                <a:latin typeface="Times New Roman" panose="02020603050405020304" pitchFamily="18" charset="0"/>
                <a:ea typeface="华文细黑" pitchFamily="2" charset="-122"/>
              </a:defRPr>
            </a:lvl1pPr>
            <a:lvl2pPr marL="621792" indent="-228600">
              <a:lnSpc>
                <a:spcPct val="120000"/>
              </a:lnSpc>
              <a:spcBef>
                <a:spcPts val="200"/>
              </a:spcBef>
              <a:spcAft>
                <a:spcPts val="400"/>
              </a:spcAft>
              <a:buClr>
                <a:schemeClr val="accent1"/>
              </a:buClr>
              <a:buFont typeface="Verdana"/>
              <a:buChar char="◦"/>
              <a:defRPr kumimoji="0" sz="2400" baseline="0">
                <a:solidFill>
                  <a:schemeClr val="tx1"/>
                </a:solidFill>
                <a:latin typeface="Times New Roman" panose="02020603050405020304" pitchFamily="18" charset="0"/>
                <a:ea typeface="华文细黑" pitchFamily="2" charset="-122"/>
              </a:defRPr>
            </a:lvl2pPr>
            <a:lvl3pPr marL="859536" indent="-228600">
              <a:lnSpc>
                <a:spcPct val="120000"/>
              </a:lnSpc>
              <a:spcBef>
                <a:spcPts val="200"/>
              </a:spcBef>
              <a:spcAft>
                <a:spcPts val="400"/>
              </a:spcAft>
              <a:buClr>
                <a:schemeClr val="accent2"/>
              </a:buClr>
              <a:buSzPct val="100000"/>
              <a:buFont typeface="Wingdings 2"/>
              <a:buChar char=""/>
              <a:defRPr kumimoji="0" sz="2400" baseline="0">
                <a:solidFill>
                  <a:schemeClr val="tx1"/>
                </a:solidFill>
                <a:latin typeface="Times New Roman" panose="02020603050405020304" pitchFamily="18" charset="0"/>
                <a:ea typeface="华文细黑" pitchFamily="2" charset="-122"/>
              </a:defRPr>
            </a:lvl3pPr>
            <a:lvl4pPr marL="1143000" indent="-228600">
              <a:lnSpc>
                <a:spcPct val="120000"/>
              </a:lnSpc>
              <a:spcBef>
                <a:spcPts val="200"/>
              </a:spcBef>
              <a:spcAft>
                <a:spcPts val="400"/>
              </a:spcAft>
              <a:buClr>
                <a:schemeClr val="accent2"/>
              </a:buClr>
              <a:buFont typeface="Wingdings 2"/>
              <a:buChar char=""/>
              <a:defRPr kumimoji="0" sz="2000" baseline="0">
                <a:solidFill>
                  <a:schemeClr val="tx1"/>
                </a:solidFill>
                <a:latin typeface="Times New Roman" panose="02020603050405020304" pitchFamily="18" charset="0"/>
                <a:ea typeface="华文细黑" pitchFamily="2" charset="-122"/>
              </a:defRPr>
            </a:lvl4pPr>
            <a:lvl5pPr marL="1371600" indent="-228600">
              <a:lnSpc>
                <a:spcPct val="120000"/>
              </a:lnSpc>
              <a:spcBef>
                <a:spcPts val="200"/>
              </a:spcBef>
              <a:spcAft>
                <a:spcPts val="400"/>
              </a:spcAft>
              <a:buClr>
                <a:schemeClr val="accent2"/>
              </a:buClr>
              <a:buFont typeface="Wingdings 2"/>
              <a:buChar char=""/>
              <a:defRPr kumimoji="0" sz="2000" baseline="0">
                <a:solidFill>
                  <a:schemeClr val="tx1"/>
                </a:solidFill>
                <a:latin typeface="Times New Roman" panose="02020603050405020304" pitchFamily="18" charset="0"/>
                <a:ea typeface="华文细黑" pitchFamily="2" charset="-122"/>
              </a:defRPr>
            </a:lvl5pPr>
            <a:lvl6pPr marL="1600200" indent="-228600">
              <a:spcBef>
                <a:spcPts val="350"/>
              </a:spcBef>
              <a:buClr>
                <a:schemeClr val="accent3"/>
              </a:buClr>
              <a:buFont typeface="Wingdings 2"/>
              <a:buChar char=""/>
              <a:defRPr kumimoji="0">
                <a:solidFill>
                  <a:schemeClr val="tx1"/>
                </a:solidFill>
              </a:defRPr>
            </a:lvl6pPr>
            <a:lvl7pPr marL="1828800" indent="-228600">
              <a:spcBef>
                <a:spcPts val="350"/>
              </a:spcBef>
              <a:buClr>
                <a:schemeClr val="accent3"/>
              </a:buClr>
              <a:buFont typeface="Wingdings 2"/>
              <a:buChar char=""/>
              <a:defRPr kumimoji="0" sz="1600">
                <a:solidFill>
                  <a:schemeClr val="tx1"/>
                </a:solidFill>
              </a:defRPr>
            </a:lvl7pPr>
            <a:lvl8pPr marL="2057400" indent="-228600">
              <a:spcBef>
                <a:spcPts val="350"/>
              </a:spcBef>
              <a:buClr>
                <a:schemeClr val="accent3"/>
              </a:buClr>
              <a:buFont typeface="Wingdings 2"/>
              <a:buChar char=""/>
              <a:defRPr kumimoji="0" sz="1600">
                <a:solidFill>
                  <a:schemeClr val="tx1"/>
                </a:solidFill>
              </a:defRPr>
            </a:lvl8pPr>
            <a:lvl9pPr marL="2286000" indent="-228600">
              <a:spcBef>
                <a:spcPts val="350"/>
              </a:spcBef>
              <a:buClr>
                <a:schemeClr val="accent3"/>
              </a:buClr>
              <a:buFont typeface="Wingdings 2"/>
              <a:buChar char=""/>
              <a:defRPr kumimoji="0" sz="1600" baseline="0">
                <a:solidFill>
                  <a:schemeClr val="tx1"/>
                </a:solidFill>
              </a:defRPr>
            </a:lvl9pPr>
          </a:lstStyle>
          <a:p>
            <a:r>
              <a:rPr lang="en-US" altLang="zh-CN" dirty="0"/>
              <a:t>10</a:t>
            </a:r>
            <a:r>
              <a:rPr lang="zh-CN" altLang="en-US" dirty="0"/>
              <a:t>个训练记录中有</a:t>
            </a:r>
            <a:r>
              <a:rPr lang="en-US" altLang="zh-CN" dirty="0"/>
              <a:t>2</a:t>
            </a:r>
            <a:r>
              <a:rPr lang="zh-CN" altLang="en-US" dirty="0"/>
              <a:t>个被错误标记：蝙蝠和鲸</a:t>
            </a:r>
          </a:p>
        </p:txBody>
      </p:sp>
      <p:sp>
        <p:nvSpPr>
          <p:cNvPr id="3" name="页脚占位符 2">
            <a:extLst>
              <a:ext uri="{FF2B5EF4-FFF2-40B4-BE49-F238E27FC236}">
                <a16:creationId xmlns:a16="http://schemas.microsoft.com/office/drawing/2014/main" id="{E0F7C24D-1CE4-4D1E-8720-841A5040E99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FBB9D12D-7BAA-4C87-ACD1-701B6162D1D1}"/>
              </a:ext>
            </a:extLst>
          </p:cNvPr>
          <p:cNvSpPr>
            <a:spLocks noGrp="1"/>
          </p:cNvSpPr>
          <p:nvPr>
            <p:ph type="sldNum" sz="quarter" idx="12"/>
          </p:nvPr>
        </p:nvSpPr>
        <p:spPr/>
        <p:txBody>
          <a:bodyPr/>
          <a:lstStyle/>
          <a:p>
            <a:fld id="{5AD84F5B-1672-4D3F-9FEC-5DF89A7B7912}" type="slidenum">
              <a:rPr lang="zh-CN" altLang="en-US" smtClean="0"/>
              <a:t>53</a:t>
            </a:fld>
            <a:endParaRPr lang="zh-CN" altLang="en-US"/>
          </a:p>
        </p:txBody>
      </p:sp>
    </p:spTree>
    <p:extLst>
      <p:ext uri="{BB962C8B-B14F-4D97-AF65-F5344CB8AC3E}">
        <p14:creationId xmlns:p14="http://schemas.microsoft.com/office/powerpoint/2010/main" val="14631907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t>
            </a:r>
            <a:r>
              <a:rPr lang="zh-CN" altLang="en-US" dirty="0"/>
              <a:t>例</a:t>
            </a:r>
            <a:r>
              <a:rPr lang="en-US" altLang="zh-CN" dirty="0"/>
              <a:t>】</a:t>
            </a:r>
            <a:r>
              <a:rPr lang="zh-CN" altLang="en-US" dirty="0"/>
              <a:t>哺乳动物的分类问题</a:t>
            </a:r>
          </a:p>
        </p:txBody>
      </p:sp>
      <p:sp>
        <p:nvSpPr>
          <p:cNvPr id="12" name="Rectangle 3"/>
          <p:cNvSpPr txBox="1">
            <a:spLocks noChangeArrowheads="1"/>
          </p:cNvSpPr>
          <p:nvPr/>
        </p:nvSpPr>
        <p:spPr>
          <a:xfrm>
            <a:off x="3757195" y="4919567"/>
            <a:ext cx="5351311" cy="1200329"/>
          </a:xfrm>
          <a:prstGeom prst="rect">
            <a:avLst/>
          </a:prstGeom>
          <a:noFill/>
          <a:ln>
            <a:noFill/>
          </a:ln>
        </p:spPr>
        <p:style>
          <a:lnRef idx="2">
            <a:schemeClr val="accent2"/>
          </a:lnRef>
          <a:fillRef idx="1">
            <a:schemeClr val="lt1"/>
          </a:fillRef>
          <a:effectRef idx="0">
            <a:schemeClr val="accent2"/>
          </a:effectRef>
          <a:fontRef idx="minor">
            <a:schemeClr val="dk1"/>
          </a:fontRef>
        </p:style>
        <p:txBody>
          <a:bodyPr vert="horz" wrap="square">
            <a:spAutoFit/>
          </a:bodyPr>
          <a:lstStyle>
            <a:defPPr>
              <a:defRPr lang="zh-CN"/>
            </a:defPPr>
            <a:lvl1pPr indent="0">
              <a:lnSpc>
                <a:spcPct val="120000"/>
              </a:lnSpc>
              <a:spcBef>
                <a:spcPts val="0"/>
              </a:spcBef>
              <a:spcAft>
                <a:spcPts val="0"/>
              </a:spcAft>
              <a:buClr>
                <a:schemeClr val="accent1"/>
              </a:buClr>
              <a:buSzPct val="68000"/>
              <a:buFont typeface="Wingdings 3"/>
              <a:buNone/>
              <a:defRPr kumimoji="0" sz="2000" baseline="0">
                <a:solidFill>
                  <a:srgbClr val="C00000"/>
                </a:solidFill>
                <a:latin typeface="Times New Roman" panose="02020603050405020304" pitchFamily="18" charset="0"/>
                <a:ea typeface="华文细黑" pitchFamily="2" charset="-122"/>
              </a:defRPr>
            </a:lvl1pPr>
            <a:lvl2pPr marL="621792" indent="-228600">
              <a:lnSpc>
                <a:spcPct val="120000"/>
              </a:lnSpc>
              <a:spcBef>
                <a:spcPts val="200"/>
              </a:spcBef>
              <a:spcAft>
                <a:spcPts val="400"/>
              </a:spcAft>
              <a:buClr>
                <a:schemeClr val="accent1"/>
              </a:buClr>
              <a:buFont typeface="Verdana"/>
              <a:buChar char="◦"/>
              <a:defRPr kumimoji="0" sz="2400" baseline="0">
                <a:solidFill>
                  <a:schemeClr val="tx1"/>
                </a:solidFill>
                <a:latin typeface="Times New Roman" panose="02020603050405020304" pitchFamily="18" charset="0"/>
                <a:ea typeface="华文细黑" pitchFamily="2" charset="-122"/>
              </a:defRPr>
            </a:lvl2pPr>
            <a:lvl3pPr marL="859536" indent="-228600">
              <a:lnSpc>
                <a:spcPct val="120000"/>
              </a:lnSpc>
              <a:spcBef>
                <a:spcPts val="200"/>
              </a:spcBef>
              <a:spcAft>
                <a:spcPts val="400"/>
              </a:spcAft>
              <a:buClr>
                <a:schemeClr val="accent2"/>
              </a:buClr>
              <a:buSzPct val="100000"/>
              <a:buFont typeface="Wingdings 2"/>
              <a:buChar char=""/>
              <a:defRPr kumimoji="0" sz="2400" baseline="0">
                <a:solidFill>
                  <a:schemeClr val="tx1"/>
                </a:solidFill>
                <a:latin typeface="Times New Roman" panose="02020603050405020304" pitchFamily="18" charset="0"/>
                <a:ea typeface="华文细黑" pitchFamily="2" charset="-122"/>
              </a:defRPr>
            </a:lvl3pPr>
            <a:lvl4pPr marL="1143000" indent="-228600">
              <a:lnSpc>
                <a:spcPct val="120000"/>
              </a:lnSpc>
              <a:spcBef>
                <a:spcPts val="200"/>
              </a:spcBef>
              <a:spcAft>
                <a:spcPts val="400"/>
              </a:spcAft>
              <a:buClr>
                <a:schemeClr val="accent2"/>
              </a:buClr>
              <a:buFont typeface="Wingdings 2"/>
              <a:buChar char=""/>
              <a:defRPr kumimoji="0" sz="2000" baseline="0">
                <a:solidFill>
                  <a:schemeClr val="tx1"/>
                </a:solidFill>
                <a:latin typeface="Times New Roman" panose="02020603050405020304" pitchFamily="18" charset="0"/>
                <a:ea typeface="华文细黑" pitchFamily="2" charset="-122"/>
              </a:defRPr>
            </a:lvl4pPr>
            <a:lvl5pPr marL="1371600" indent="-228600">
              <a:lnSpc>
                <a:spcPct val="120000"/>
              </a:lnSpc>
              <a:spcBef>
                <a:spcPts val="200"/>
              </a:spcBef>
              <a:spcAft>
                <a:spcPts val="400"/>
              </a:spcAft>
              <a:buClr>
                <a:schemeClr val="accent2"/>
              </a:buClr>
              <a:buFont typeface="Wingdings 2"/>
              <a:buChar char=""/>
              <a:defRPr kumimoji="0" sz="2000" baseline="0">
                <a:solidFill>
                  <a:schemeClr val="tx1"/>
                </a:solidFill>
                <a:latin typeface="Times New Roman" panose="02020603050405020304" pitchFamily="18" charset="0"/>
                <a:ea typeface="华文细黑" pitchFamily="2" charset="-122"/>
              </a:defRPr>
            </a:lvl5pPr>
            <a:lvl6pPr marL="1600200" indent="-228600">
              <a:spcBef>
                <a:spcPts val="350"/>
              </a:spcBef>
              <a:buClr>
                <a:schemeClr val="accent3"/>
              </a:buClr>
              <a:buFont typeface="Wingdings 2"/>
              <a:buChar char=""/>
              <a:defRPr kumimoji="0">
                <a:solidFill>
                  <a:schemeClr val="tx1"/>
                </a:solidFill>
              </a:defRPr>
            </a:lvl6pPr>
            <a:lvl7pPr marL="1828800" indent="-228600">
              <a:spcBef>
                <a:spcPts val="350"/>
              </a:spcBef>
              <a:buClr>
                <a:schemeClr val="accent3"/>
              </a:buClr>
              <a:buFont typeface="Wingdings 2"/>
              <a:buChar char=""/>
              <a:defRPr kumimoji="0" sz="1600">
                <a:solidFill>
                  <a:schemeClr val="tx1"/>
                </a:solidFill>
              </a:defRPr>
            </a:lvl7pPr>
            <a:lvl8pPr marL="2057400" indent="-228600">
              <a:spcBef>
                <a:spcPts val="350"/>
              </a:spcBef>
              <a:buClr>
                <a:schemeClr val="accent3"/>
              </a:buClr>
              <a:buFont typeface="Wingdings 2"/>
              <a:buChar char=""/>
              <a:defRPr kumimoji="0" sz="1600">
                <a:solidFill>
                  <a:schemeClr val="tx1"/>
                </a:solidFill>
              </a:defRPr>
            </a:lvl8pPr>
            <a:lvl9pPr marL="2286000" indent="-228600">
              <a:spcBef>
                <a:spcPts val="350"/>
              </a:spcBef>
              <a:buClr>
                <a:schemeClr val="accent3"/>
              </a:buClr>
              <a:buFont typeface="Wingdings 2"/>
              <a:buChar char=""/>
              <a:defRPr kumimoji="0" sz="1600" baseline="0">
                <a:solidFill>
                  <a:schemeClr val="tx1"/>
                </a:solidFill>
              </a:defRPr>
            </a:lvl9pPr>
          </a:lstStyle>
          <a:p>
            <a:r>
              <a:rPr lang="zh-CN" altLang="en-US" dirty="0"/>
              <a:t>如果完全拟合训练数据，训练误差为</a:t>
            </a:r>
            <a:r>
              <a:rPr lang="en-US" altLang="zh-CN" dirty="0"/>
              <a:t>0</a:t>
            </a:r>
          </a:p>
          <a:p>
            <a:r>
              <a:rPr lang="zh-CN" altLang="en-US" dirty="0"/>
              <a:t>但它在检验数据上的误差达</a:t>
            </a:r>
            <a:r>
              <a:rPr lang="en-US" altLang="zh-CN" dirty="0"/>
              <a:t>30%</a:t>
            </a:r>
            <a:r>
              <a:rPr lang="zh-CN" altLang="en-US" dirty="0"/>
              <a:t>。人和海豚，鼹鼠误分为非哺乳动物</a:t>
            </a:r>
          </a:p>
        </p:txBody>
      </p:sp>
      <p:pic>
        <p:nvPicPr>
          <p:cNvPr id="68611" name="Picture 3"/>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7504" y="1744014"/>
            <a:ext cx="5292000" cy="32734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48064" y="1824201"/>
            <a:ext cx="3837722" cy="2891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页脚占位符 2">
            <a:extLst>
              <a:ext uri="{FF2B5EF4-FFF2-40B4-BE49-F238E27FC236}">
                <a16:creationId xmlns:a16="http://schemas.microsoft.com/office/drawing/2014/main" id="{D559846A-075F-47B2-9A82-335ABDF6816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A5FD162-3DC5-4FA8-BEF9-FA28FC28CF13}"/>
              </a:ext>
            </a:extLst>
          </p:cNvPr>
          <p:cNvSpPr>
            <a:spLocks noGrp="1"/>
          </p:cNvSpPr>
          <p:nvPr>
            <p:ph type="sldNum" sz="quarter" idx="12"/>
          </p:nvPr>
        </p:nvSpPr>
        <p:spPr/>
        <p:txBody>
          <a:bodyPr/>
          <a:lstStyle/>
          <a:p>
            <a:fld id="{5AD84F5B-1672-4D3F-9FEC-5DF89A7B7912}" type="slidenum">
              <a:rPr lang="zh-CN" altLang="en-US" smtClean="0"/>
              <a:t>54</a:t>
            </a:fld>
            <a:endParaRPr lang="zh-CN" altLang="en-US"/>
          </a:p>
        </p:txBody>
      </p:sp>
    </p:spTree>
    <p:extLst>
      <p:ext uri="{BB962C8B-B14F-4D97-AF65-F5344CB8AC3E}">
        <p14:creationId xmlns:p14="http://schemas.microsoft.com/office/powerpoint/2010/main" val="28976295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t>
            </a:r>
            <a:r>
              <a:rPr lang="zh-CN" altLang="en-US" dirty="0"/>
              <a:t>例</a:t>
            </a:r>
            <a:r>
              <a:rPr lang="en-US" altLang="zh-CN" dirty="0"/>
              <a:t>】</a:t>
            </a:r>
            <a:r>
              <a:rPr lang="zh-CN" altLang="en-US" dirty="0"/>
              <a:t>哺乳动物的分类问题</a:t>
            </a:r>
          </a:p>
        </p:txBody>
      </p:sp>
      <p:sp>
        <p:nvSpPr>
          <p:cNvPr id="12" name="Rectangle 3"/>
          <p:cNvSpPr txBox="1">
            <a:spLocks noChangeArrowheads="1"/>
          </p:cNvSpPr>
          <p:nvPr/>
        </p:nvSpPr>
        <p:spPr>
          <a:xfrm>
            <a:off x="5399504" y="3753037"/>
            <a:ext cx="3672000" cy="1200329"/>
          </a:xfrm>
          <a:prstGeom prst="rect">
            <a:avLst/>
          </a:prstGeom>
          <a:ln>
            <a:noFill/>
          </a:ln>
        </p:spPr>
        <p:style>
          <a:lnRef idx="2">
            <a:schemeClr val="accent2"/>
          </a:lnRef>
          <a:fillRef idx="1">
            <a:schemeClr val="lt1"/>
          </a:fillRef>
          <a:effectRef idx="0">
            <a:schemeClr val="accent2"/>
          </a:effectRef>
          <a:fontRef idx="minor">
            <a:schemeClr val="dk1"/>
          </a:fontRef>
        </p:style>
        <p:txBody>
          <a:bodyPr vert="horz" wrap="square">
            <a:spAutoFit/>
          </a:bodyPr>
          <a:lstStyle>
            <a:defPPr>
              <a:defRPr lang="zh-CN"/>
            </a:defPPr>
            <a:lvl1pPr indent="0">
              <a:lnSpc>
                <a:spcPct val="120000"/>
              </a:lnSpc>
              <a:spcBef>
                <a:spcPts val="0"/>
              </a:spcBef>
              <a:spcAft>
                <a:spcPts val="0"/>
              </a:spcAft>
              <a:buClr>
                <a:schemeClr val="accent1"/>
              </a:buClr>
              <a:buSzPct val="68000"/>
              <a:buFont typeface="Wingdings 3"/>
              <a:buNone/>
              <a:defRPr kumimoji="0" sz="2000" baseline="0">
                <a:solidFill>
                  <a:srgbClr val="C00000"/>
                </a:solidFill>
                <a:latin typeface="Times New Roman" panose="02020603050405020304" pitchFamily="18" charset="0"/>
                <a:ea typeface="华文细黑" pitchFamily="2" charset="-122"/>
              </a:defRPr>
            </a:lvl1pPr>
            <a:lvl2pPr marL="621792" indent="-228600">
              <a:lnSpc>
                <a:spcPct val="120000"/>
              </a:lnSpc>
              <a:spcBef>
                <a:spcPts val="200"/>
              </a:spcBef>
              <a:spcAft>
                <a:spcPts val="400"/>
              </a:spcAft>
              <a:buClr>
                <a:schemeClr val="accent1"/>
              </a:buClr>
              <a:buFont typeface="Verdana"/>
              <a:buChar char="◦"/>
              <a:defRPr kumimoji="0" sz="2400" baseline="0">
                <a:solidFill>
                  <a:schemeClr val="tx1"/>
                </a:solidFill>
                <a:latin typeface="Times New Roman" panose="02020603050405020304" pitchFamily="18" charset="0"/>
                <a:ea typeface="华文细黑" pitchFamily="2" charset="-122"/>
              </a:defRPr>
            </a:lvl2pPr>
            <a:lvl3pPr marL="859536" indent="-228600">
              <a:lnSpc>
                <a:spcPct val="120000"/>
              </a:lnSpc>
              <a:spcBef>
                <a:spcPts val="200"/>
              </a:spcBef>
              <a:spcAft>
                <a:spcPts val="400"/>
              </a:spcAft>
              <a:buClr>
                <a:schemeClr val="accent2"/>
              </a:buClr>
              <a:buSzPct val="100000"/>
              <a:buFont typeface="Wingdings 2"/>
              <a:buChar char=""/>
              <a:defRPr kumimoji="0" sz="2400" baseline="0">
                <a:solidFill>
                  <a:schemeClr val="tx1"/>
                </a:solidFill>
                <a:latin typeface="Times New Roman" panose="02020603050405020304" pitchFamily="18" charset="0"/>
                <a:ea typeface="华文细黑" pitchFamily="2" charset="-122"/>
              </a:defRPr>
            </a:lvl3pPr>
            <a:lvl4pPr marL="1143000" indent="-228600">
              <a:lnSpc>
                <a:spcPct val="120000"/>
              </a:lnSpc>
              <a:spcBef>
                <a:spcPts val="200"/>
              </a:spcBef>
              <a:spcAft>
                <a:spcPts val="400"/>
              </a:spcAft>
              <a:buClr>
                <a:schemeClr val="accent2"/>
              </a:buClr>
              <a:buFont typeface="Wingdings 2"/>
              <a:buChar char=""/>
              <a:defRPr kumimoji="0" sz="2000" baseline="0">
                <a:solidFill>
                  <a:schemeClr val="tx1"/>
                </a:solidFill>
                <a:latin typeface="Times New Roman" panose="02020603050405020304" pitchFamily="18" charset="0"/>
                <a:ea typeface="华文细黑" pitchFamily="2" charset="-122"/>
              </a:defRPr>
            </a:lvl4pPr>
            <a:lvl5pPr marL="1371600" indent="-228600">
              <a:lnSpc>
                <a:spcPct val="120000"/>
              </a:lnSpc>
              <a:spcBef>
                <a:spcPts val="200"/>
              </a:spcBef>
              <a:spcAft>
                <a:spcPts val="400"/>
              </a:spcAft>
              <a:buClr>
                <a:schemeClr val="accent2"/>
              </a:buClr>
              <a:buFont typeface="Wingdings 2"/>
              <a:buChar char=""/>
              <a:defRPr kumimoji="0" sz="2000" baseline="0">
                <a:solidFill>
                  <a:schemeClr val="tx1"/>
                </a:solidFill>
                <a:latin typeface="Times New Roman" panose="02020603050405020304" pitchFamily="18" charset="0"/>
                <a:ea typeface="华文细黑" pitchFamily="2" charset="-122"/>
              </a:defRPr>
            </a:lvl5pPr>
            <a:lvl6pPr marL="1600200" indent="-228600">
              <a:spcBef>
                <a:spcPts val="350"/>
              </a:spcBef>
              <a:buClr>
                <a:schemeClr val="accent3"/>
              </a:buClr>
              <a:buFont typeface="Wingdings 2"/>
              <a:buChar char=""/>
              <a:defRPr kumimoji="0">
                <a:solidFill>
                  <a:schemeClr val="tx1"/>
                </a:solidFill>
              </a:defRPr>
            </a:lvl6pPr>
            <a:lvl7pPr marL="1828800" indent="-228600">
              <a:spcBef>
                <a:spcPts val="350"/>
              </a:spcBef>
              <a:buClr>
                <a:schemeClr val="accent3"/>
              </a:buClr>
              <a:buFont typeface="Wingdings 2"/>
              <a:buChar char=""/>
              <a:defRPr kumimoji="0" sz="1600">
                <a:solidFill>
                  <a:schemeClr val="tx1"/>
                </a:solidFill>
              </a:defRPr>
            </a:lvl7pPr>
            <a:lvl8pPr marL="2057400" indent="-228600">
              <a:spcBef>
                <a:spcPts val="350"/>
              </a:spcBef>
              <a:buClr>
                <a:schemeClr val="accent3"/>
              </a:buClr>
              <a:buFont typeface="Wingdings 2"/>
              <a:buChar char=""/>
              <a:defRPr kumimoji="0" sz="1600">
                <a:solidFill>
                  <a:schemeClr val="tx1"/>
                </a:solidFill>
              </a:defRPr>
            </a:lvl8pPr>
            <a:lvl9pPr marL="2286000" indent="-228600">
              <a:spcBef>
                <a:spcPts val="350"/>
              </a:spcBef>
              <a:buClr>
                <a:schemeClr val="accent3"/>
              </a:buClr>
              <a:buFont typeface="Wingdings 2"/>
              <a:buChar char=""/>
              <a:defRPr kumimoji="0" sz="1600" baseline="0">
                <a:solidFill>
                  <a:schemeClr val="tx1"/>
                </a:solidFill>
              </a:defRPr>
            </a:lvl9pPr>
          </a:lstStyle>
          <a:p>
            <a:r>
              <a:rPr lang="zh-CN" altLang="en-US" dirty="0"/>
              <a:t>更简单的决策树，检验误差较低</a:t>
            </a:r>
            <a:r>
              <a:rPr lang="en-US" altLang="zh-CN" dirty="0"/>
              <a:t>10%</a:t>
            </a:r>
            <a:r>
              <a:rPr lang="zh-CN" altLang="en-US" dirty="0"/>
              <a:t>，尽管它的训练误差较高</a:t>
            </a:r>
            <a:r>
              <a:rPr lang="en-US" altLang="zh-CN" dirty="0"/>
              <a:t>20%</a:t>
            </a:r>
          </a:p>
        </p:txBody>
      </p:sp>
      <p:pic>
        <p:nvPicPr>
          <p:cNvPr id="68611" name="Picture 3"/>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7504" y="1744014"/>
            <a:ext cx="5292000" cy="32734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634"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645189" y="1744014"/>
            <a:ext cx="3181350" cy="2040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3"/>
          <p:cNvSpPr txBox="1">
            <a:spLocks noChangeArrowheads="1"/>
          </p:cNvSpPr>
          <p:nvPr/>
        </p:nvSpPr>
        <p:spPr>
          <a:xfrm>
            <a:off x="1619672" y="4725146"/>
            <a:ext cx="7560840" cy="1200329"/>
          </a:xfrm>
          <a:prstGeom prst="rect">
            <a:avLst/>
          </a:prstGeom>
          <a:noFill/>
          <a:ln>
            <a:noFill/>
          </a:ln>
        </p:spPr>
        <p:style>
          <a:lnRef idx="2">
            <a:schemeClr val="accent2"/>
          </a:lnRef>
          <a:fillRef idx="1">
            <a:schemeClr val="lt1"/>
          </a:fillRef>
          <a:effectRef idx="0">
            <a:schemeClr val="accent2"/>
          </a:effectRef>
          <a:fontRef idx="minor">
            <a:schemeClr val="dk1"/>
          </a:fontRef>
        </p:style>
        <p:txBody>
          <a:bodyPr vert="horz" wrap="square">
            <a:spAutoFit/>
          </a:bodyPr>
          <a:lstStyle>
            <a:lvl1pPr marL="365760" indent="-256032" algn="l" rtl="0" eaLnBrk="1" latinLnBrk="0" hangingPunct="1">
              <a:lnSpc>
                <a:spcPct val="120000"/>
              </a:lnSpc>
              <a:spcBef>
                <a:spcPts val="200"/>
              </a:spcBef>
              <a:spcAft>
                <a:spcPts val="400"/>
              </a:spcAft>
              <a:buClr>
                <a:schemeClr val="accent1"/>
              </a:buClr>
              <a:buSzPct val="68000"/>
              <a:buFont typeface="Wingdings 3"/>
              <a:buChar char=""/>
              <a:defRPr kumimoji="0" sz="2800" kern="1200" baseline="0">
                <a:solidFill>
                  <a:schemeClr val="tx1"/>
                </a:solidFill>
                <a:latin typeface="Times New Roman" panose="02020603050405020304" pitchFamily="18" charset="0"/>
                <a:ea typeface="华文细黑" pitchFamily="2" charset="-122"/>
                <a:cs typeface="+mn-cs"/>
              </a:defRPr>
            </a:lvl1pPr>
            <a:lvl2pPr marL="621792" indent="-228600" algn="l" rtl="0" eaLnBrk="1" latinLnBrk="0" hangingPunct="1">
              <a:lnSpc>
                <a:spcPct val="120000"/>
              </a:lnSpc>
              <a:spcBef>
                <a:spcPts val="200"/>
              </a:spcBef>
              <a:spcAft>
                <a:spcPts val="400"/>
              </a:spcAft>
              <a:buClr>
                <a:schemeClr val="accent1"/>
              </a:buClr>
              <a:buFont typeface="Verdana"/>
              <a:buChar char="◦"/>
              <a:defRPr kumimoji="0" sz="2400" kern="1200" baseline="0">
                <a:solidFill>
                  <a:schemeClr val="tx1"/>
                </a:solidFill>
                <a:latin typeface="Times New Roman" panose="02020603050405020304" pitchFamily="18" charset="0"/>
                <a:ea typeface="华文细黑" pitchFamily="2" charset="-122"/>
                <a:cs typeface="+mn-cs"/>
              </a:defRPr>
            </a:lvl2pPr>
            <a:lvl3pPr marL="859536" indent="-228600" algn="l" rtl="0" eaLnBrk="1" latinLnBrk="0" hangingPunct="1">
              <a:lnSpc>
                <a:spcPct val="120000"/>
              </a:lnSpc>
              <a:spcBef>
                <a:spcPts val="200"/>
              </a:spcBef>
              <a:spcAft>
                <a:spcPts val="400"/>
              </a:spcAft>
              <a:buClr>
                <a:schemeClr val="accent2"/>
              </a:buClr>
              <a:buSzPct val="100000"/>
              <a:buFont typeface="Wingdings 2"/>
              <a:buChar char=""/>
              <a:defRPr kumimoji="0" sz="2400" kern="1200" baseline="0">
                <a:solidFill>
                  <a:schemeClr val="tx1"/>
                </a:solidFill>
                <a:latin typeface="Times New Roman" panose="02020603050405020304" pitchFamily="18" charset="0"/>
                <a:ea typeface="华文细黑" pitchFamily="2" charset="-122"/>
                <a:cs typeface="+mn-cs"/>
              </a:defRPr>
            </a:lvl3pPr>
            <a:lvl4pPr marL="1143000" indent="-228600" algn="l" rtl="0" eaLnBrk="1" latinLnBrk="0" hangingPunct="1">
              <a:lnSpc>
                <a:spcPct val="120000"/>
              </a:lnSpc>
              <a:spcBef>
                <a:spcPts val="200"/>
              </a:spcBef>
              <a:spcAft>
                <a:spcPts val="400"/>
              </a:spcAft>
              <a:buClr>
                <a:schemeClr val="accent2"/>
              </a:buClr>
              <a:buFont typeface="Wingdings 2"/>
              <a:buChar char=""/>
              <a:defRPr kumimoji="0" sz="2000" kern="1200" baseline="0">
                <a:solidFill>
                  <a:schemeClr val="tx1"/>
                </a:solidFill>
                <a:latin typeface="Times New Roman" panose="02020603050405020304" pitchFamily="18" charset="0"/>
                <a:ea typeface="华文细黑" pitchFamily="2" charset="-122"/>
                <a:cs typeface="+mn-cs"/>
              </a:defRPr>
            </a:lvl4pPr>
            <a:lvl5pPr marL="1371600" indent="-228600" algn="l" rtl="0" eaLnBrk="1" latinLnBrk="0" hangingPunct="1">
              <a:lnSpc>
                <a:spcPct val="120000"/>
              </a:lnSpc>
              <a:spcBef>
                <a:spcPts val="200"/>
              </a:spcBef>
              <a:spcAft>
                <a:spcPts val="400"/>
              </a:spcAft>
              <a:buClr>
                <a:schemeClr val="accent2"/>
              </a:buClr>
              <a:buFont typeface="Wingdings 2"/>
              <a:buChar char=""/>
              <a:defRPr kumimoji="0" sz="2000" kern="1200" baseline="0">
                <a:solidFill>
                  <a:schemeClr val="tx1"/>
                </a:solidFill>
                <a:latin typeface="Times New Roman" panose="02020603050405020304" pitchFamily="18" charset="0"/>
                <a:ea typeface="华文细黑"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lgn="r">
              <a:spcBef>
                <a:spcPts val="0"/>
              </a:spcBef>
              <a:spcAft>
                <a:spcPts val="0"/>
              </a:spcAft>
              <a:buNone/>
            </a:pPr>
            <a:r>
              <a:rPr lang="zh-CN" altLang="en-US" sz="2000" i="1" dirty="0">
                <a:solidFill>
                  <a:srgbClr val="C00000"/>
                </a:solidFill>
              </a:rPr>
              <a:t>前</a:t>
            </a:r>
            <a:r>
              <a:rPr lang="zh-CN" altLang="en-US" sz="2000" dirty="0">
                <a:solidFill>
                  <a:srgbClr val="C00000"/>
                </a:solidFill>
              </a:rPr>
              <a:t>决策树</a:t>
            </a:r>
            <a:r>
              <a:rPr lang="zh-CN" altLang="en-US" sz="2000" b="1" dirty="0">
                <a:solidFill>
                  <a:srgbClr val="C00000"/>
                </a:solidFill>
              </a:rPr>
              <a:t>过度拟合</a:t>
            </a:r>
            <a:r>
              <a:rPr lang="zh-CN" altLang="en-US" sz="2000" dirty="0">
                <a:solidFill>
                  <a:srgbClr val="C00000"/>
                </a:solidFill>
              </a:rPr>
              <a:t>了训练数据。</a:t>
            </a:r>
            <a:endParaRPr lang="en-US" altLang="zh-CN" sz="2000" dirty="0">
              <a:solidFill>
                <a:srgbClr val="C00000"/>
              </a:solidFill>
            </a:endParaRPr>
          </a:p>
          <a:p>
            <a:pPr marL="0" indent="0">
              <a:spcBef>
                <a:spcPts val="0"/>
              </a:spcBef>
              <a:spcAft>
                <a:spcPts val="0"/>
              </a:spcAft>
              <a:buNone/>
            </a:pPr>
            <a:r>
              <a:rPr lang="zh-CN" altLang="en-US" sz="2000" dirty="0">
                <a:solidFill>
                  <a:srgbClr val="C00000"/>
                </a:solidFill>
              </a:rPr>
              <a:t>因为属性测试条件</a:t>
            </a:r>
            <a:r>
              <a:rPr lang="en-US" altLang="zh-CN" sz="2000" dirty="0">
                <a:solidFill>
                  <a:srgbClr val="C00000"/>
                </a:solidFill>
              </a:rPr>
              <a:t>4</a:t>
            </a:r>
            <a:r>
              <a:rPr lang="zh-CN" altLang="en-US" sz="2000" dirty="0">
                <a:solidFill>
                  <a:srgbClr val="C00000"/>
                </a:solidFill>
              </a:rPr>
              <a:t>条腿具有欺骗性，它拟合了误标记的训练记录，导致了对检验集中记录的误分类</a:t>
            </a:r>
          </a:p>
        </p:txBody>
      </p:sp>
      <p:sp>
        <p:nvSpPr>
          <p:cNvPr id="3" name="页脚占位符 2">
            <a:extLst>
              <a:ext uri="{FF2B5EF4-FFF2-40B4-BE49-F238E27FC236}">
                <a16:creationId xmlns:a16="http://schemas.microsoft.com/office/drawing/2014/main" id="{0247B17B-B307-422D-BF12-D11F6D048E6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5FA4C6F-0DC6-4AA7-B715-77C378BD482C}"/>
              </a:ext>
            </a:extLst>
          </p:cNvPr>
          <p:cNvSpPr>
            <a:spLocks noGrp="1"/>
          </p:cNvSpPr>
          <p:nvPr>
            <p:ph type="sldNum" sz="quarter" idx="12"/>
          </p:nvPr>
        </p:nvSpPr>
        <p:spPr/>
        <p:txBody>
          <a:bodyPr/>
          <a:lstStyle/>
          <a:p>
            <a:fld id="{5AD84F5B-1672-4D3F-9FEC-5DF89A7B7912}" type="slidenum">
              <a:rPr lang="zh-CN" altLang="en-US" smtClean="0"/>
              <a:t>55</a:t>
            </a:fld>
            <a:endParaRPr lang="zh-CN" altLang="en-US"/>
          </a:p>
        </p:txBody>
      </p:sp>
    </p:spTree>
    <p:extLst>
      <p:ext uri="{BB962C8B-B14F-4D97-AF65-F5344CB8AC3E}">
        <p14:creationId xmlns:p14="http://schemas.microsoft.com/office/powerpoint/2010/main" val="24690889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过度拟合</a:t>
            </a:r>
            <a:endParaRPr lang="en-US" altLang="zh-CN" dirty="0"/>
          </a:p>
        </p:txBody>
      </p:sp>
      <p:sp>
        <p:nvSpPr>
          <p:cNvPr id="5" name="内容占位符 4"/>
          <p:cNvSpPr>
            <a:spLocks noGrp="1"/>
          </p:cNvSpPr>
          <p:nvPr>
            <p:ph idx="1"/>
          </p:nvPr>
        </p:nvSpPr>
        <p:spPr/>
        <p:txBody>
          <a:bodyPr/>
          <a:lstStyle/>
          <a:p>
            <a:r>
              <a:rPr lang="zh-CN" altLang="en-US" dirty="0"/>
              <a:t>原因</a:t>
            </a:r>
            <a:endParaRPr lang="en-US" altLang="zh-CN" dirty="0"/>
          </a:p>
          <a:p>
            <a:pPr lvl="1"/>
            <a:r>
              <a:rPr lang="zh-CN" altLang="en-US" dirty="0"/>
              <a:t>噪声</a:t>
            </a:r>
          </a:p>
        </p:txBody>
      </p:sp>
      <p:sp>
        <p:nvSpPr>
          <p:cNvPr id="14" name="Text Box 4"/>
          <p:cNvSpPr txBox="1">
            <a:spLocks noChangeArrowheads="1"/>
          </p:cNvSpPr>
          <p:nvPr/>
        </p:nvSpPr>
        <p:spPr bwMode="auto">
          <a:xfrm>
            <a:off x="4264496" y="5567638"/>
            <a:ext cx="29718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dirty="0">
                <a:latin typeface="华文细黑" pitchFamily="2" charset="-122"/>
                <a:ea typeface="华文细黑" pitchFamily="2" charset="-122"/>
              </a:rPr>
              <a:t>噪声导致决策边界的改变</a:t>
            </a:r>
            <a:endParaRPr lang="zh-CN" altLang="en-US" dirty="0">
              <a:latin typeface="华文细黑" pitchFamily="2" charset="-122"/>
              <a:ea typeface="华文细黑" pitchFamily="2" charset="-122"/>
              <a:sym typeface="Symbol" pitchFamily="18" charset="2"/>
            </a:endParaRPr>
          </a:p>
        </p:txBody>
      </p:sp>
      <p:pic>
        <p:nvPicPr>
          <p:cNvPr id="70658" name="Picture 2"/>
          <p:cNvPicPr>
            <a:picLocks noChangeAspect="1" noChangeArrowheads="1"/>
          </p:cNvPicPr>
          <p:nvPr/>
        </p:nvPicPr>
        <p:blipFill>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3563890" y="2197663"/>
            <a:ext cx="4479683" cy="3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页脚占位符 2">
            <a:extLst>
              <a:ext uri="{FF2B5EF4-FFF2-40B4-BE49-F238E27FC236}">
                <a16:creationId xmlns:a16="http://schemas.microsoft.com/office/drawing/2014/main" id="{CD587FC8-AA35-4335-B35F-9E1AD876300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F930FE58-D683-46A6-9AE3-B8A5EC59940E}"/>
              </a:ext>
            </a:extLst>
          </p:cNvPr>
          <p:cNvSpPr>
            <a:spLocks noGrp="1"/>
          </p:cNvSpPr>
          <p:nvPr>
            <p:ph type="sldNum" sz="quarter" idx="12"/>
          </p:nvPr>
        </p:nvSpPr>
        <p:spPr/>
        <p:txBody>
          <a:bodyPr/>
          <a:lstStyle/>
          <a:p>
            <a:fld id="{5AD84F5B-1672-4D3F-9FEC-5DF89A7B7912}" type="slidenum">
              <a:rPr lang="zh-CN" altLang="en-US" smtClean="0"/>
              <a:t>56</a:t>
            </a:fld>
            <a:endParaRPr lang="zh-CN" altLang="en-US"/>
          </a:p>
        </p:txBody>
      </p:sp>
    </p:spTree>
    <p:extLst>
      <p:ext uri="{BB962C8B-B14F-4D97-AF65-F5344CB8AC3E}">
        <p14:creationId xmlns:p14="http://schemas.microsoft.com/office/powerpoint/2010/main" val="41220242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过度拟合</a:t>
            </a:r>
            <a:endParaRPr lang="en-US" altLang="zh-CN" dirty="0"/>
          </a:p>
        </p:txBody>
      </p:sp>
      <p:sp>
        <p:nvSpPr>
          <p:cNvPr id="5" name="内容占位符 4"/>
          <p:cNvSpPr>
            <a:spLocks noGrp="1"/>
          </p:cNvSpPr>
          <p:nvPr>
            <p:ph idx="1"/>
          </p:nvPr>
        </p:nvSpPr>
        <p:spPr/>
        <p:txBody>
          <a:bodyPr/>
          <a:lstStyle/>
          <a:p>
            <a:r>
              <a:rPr lang="zh-CN" altLang="en-US" dirty="0"/>
              <a:t>原因</a:t>
            </a:r>
            <a:endParaRPr lang="en-US" altLang="zh-CN" dirty="0"/>
          </a:p>
          <a:p>
            <a:pPr lvl="1"/>
            <a:r>
              <a:rPr lang="zh-CN" altLang="en-US" dirty="0"/>
              <a:t>噪声</a:t>
            </a:r>
            <a:endParaRPr lang="en-US" altLang="zh-CN" dirty="0"/>
          </a:p>
          <a:p>
            <a:pPr lvl="1"/>
            <a:r>
              <a:rPr lang="zh-CN" altLang="en-US" dirty="0"/>
              <a:t>缺乏代表性样本  </a:t>
            </a:r>
            <a:endParaRPr lang="en-US" altLang="zh-CN" dirty="0"/>
          </a:p>
          <a:p>
            <a:pPr lvl="2"/>
            <a:r>
              <a:rPr lang="zh-CN" altLang="en-US" dirty="0"/>
              <a:t>根据少量训练记录做出分类决策的模型也容易受过度拟合的影响。</a:t>
            </a:r>
          </a:p>
          <a:p>
            <a:pPr lvl="2"/>
            <a:r>
              <a:rPr lang="zh-CN" altLang="en-US" dirty="0"/>
              <a:t>由于训练数据缺乏具有代表性的样本，在没有多少训练记录的情况下，学习算法仍然细化模型就会产生过度拟合。</a:t>
            </a:r>
          </a:p>
          <a:p>
            <a:pPr lvl="1"/>
            <a:endParaRPr lang="zh-CN" altLang="en-US" dirty="0"/>
          </a:p>
        </p:txBody>
      </p:sp>
      <p:sp>
        <p:nvSpPr>
          <p:cNvPr id="3" name="页脚占位符 2">
            <a:extLst>
              <a:ext uri="{FF2B5EF4-FFF2-40B4-BE49-F238E27FC236}">
                <a16:creationId xmlns:a16="http://schemas.microsoft.com/office/drawing/2014/main" id="{2057F831-A7E2-4BAE-A895-0BEA0DBA4E1E}"/>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BA8F377-ED1B-409C-BA9D-5CFFE8811621}"/>
              </a:ext>
            </a:extLst>
          </p:cNvPr>
          <p:cNvSpPr>
            <a:spLocks noGrp="1"/>
          </p:cNvSpPr>
          <p:nvPr>
            <p:ph type="sldNum" sz="quarter" idx="12"/>
          </p:nvPr>
        </p:nvSpPr>
        <p:spPr/>
        <p:txBody>
          <a:bodyPr/>
          <a:lstStyle/>
          <a:p>
            <a:fld id="{5AD84F5B-1672-4D3F-9FEC-5DF89A7B7912}" type="slidenum">
              <a:rPr lang="zh-CN" altLang="en-US" smtClean="0"/>
              <a:t>57</a:t>
            </a:fld>
            <a:endParaRPr lang="zh-CN" altLang="en-US"/>
          </a:p>
        </p:txBody>
      </p:sp>
    </p:spTree>
    <p:extLst>
      <p:ext uri="{BB962C8B-B14F-4D97-AF65-F5344CB8AC3E}">
        <p14:creationId xmlns:p14="http://schemas.microsoft.com/office/powerpoint/2010/main" val="4941621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过度拟合</a:t>
            </a:r>
            <a:endParaRPr lang="en-US" altLang="zh-CN" dirty="0"/>
          </a:p>
        </p:txBody>
      </p:sp>
      <p:sp>
        <p:nvSpPr>
          <p:cNvPr id="5" name="内容占位符 4"/>
          <p:cNvSpPr>
            <a:spLocks noGrp="1"/>
          </p:cNvSpPr>
          <p:nvPr>
            <p:ph idx="1"/>
          </p:nvPr>
        </p:nvSpPr>
        <p:spPr/>
        <p:txBody>
          <a:bodyPr/>
          <a:lstStyle/>
          <a:p>
            <a:r>
              <a:rPr lang="zh-CN" altLang="en-US" dirty="0"/>
              <a:t>原因</a:t>
            </a:r>
            <a:endParaRPr lang="en-US" altLang="zh-CN" dirty="0"/>
          </a:p>
          <a:p>
            <a:pPr lvl="1"/>
            <a:r>
              <a:rPr lang="zh-CN" altLang="en-US" dirty="0"/>
              <a:t>噪声</a:t>
            </a:r>
            <a:endParaRPr lang="en-US" altLang="zh-CN" dirty="0"/>
          </a:p>
          <a:p>
            <a:pPr lvl="1"/>
            <a:r>
              <a:rPr lang="zh-CN" altLang="en-US" dirty="0"/>
              <a:t>缺乏代表性样本  </a:t>
            </a:r>
            <a:endParaRPr lang="en-US" altLang="zh-CN" dirty="0"/>
          </a:p>
          <a:p>
            <a:pPr lvl="1"/>
            <a:endParaRPr lang="zh-CN" altLang="en-US" dirty="0"/>
          </a:p>
        </p:txBody>
      </p:sp>
      <p:pic>
        <p:nvPicPr>
          <p:cNvPr id="71683" name="Picture 3"/>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572000" y="1154866"/>
            <a:ext cx="4490268" cy="1723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684" name="Picture 4"/>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773739" y="3234580"/>
            <a:ext cx="3262759" cy="2636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251520" y="3234578"/>
            <a:ext cx="5472608" cy="2751522"/>
          </a:xfrm>
          <a:prstGeom prst="rect">
            <a:avLst/>
          </a:prstGeom>
        </p:spPr>
        <p:txBody>
          <a:bodyPr wrap="square">
            <a:spAutoFit/>
          </a:bodyPr>
          <a:lstStyle/>
          <a:p>
            <a:pPr>
              <a:lnSpc>
                <a:spcPct val="120000"/>
              </a:lnSpc>
            </a:pPr>
            <a:r>
              <a:rPr lang="en-US" altLang="zh-CN" dirty="0">
                <a:latin typeface="华文细黑" pitchFamily="2" charset="-122"/>
                <a:ea typeface="华文细黑" pitchFamily="2" charset="-122"/>
              </a:rPr>
              <a:t>【</a:t>
            </a:r>
            <a:r>
              <a:rPr lang="zh-CN" altLang="en-US" dirty="0">
                <a:latin typeface="华文细黑" pitchFamily="2" charset="-122"/>
                <a:ea typeface="华文细黑" pitchFamily="2" charset="-122"/>
              </a:rPr>
              <a:t>例</a:t>
            </a:r>
            <a:r>
              <a:rPr lang="en-US" altLang="zh-CN" dirty="0">
                <a:latin typeface="华文细黑" pitchFamily="2" charset="-122"/>
                <a:ea typeface="华文细黑" pitchFamily="2" charset="-122"/>
              </a:rPr>
              <a:t>】</a:t>
            </a:r>
            <a:r>
              <a:rPr lang="zh-CN" altLang="en-US" dirty="0">
                <a:latin typeface="华文细黑" pitchFamily="2" charset="-122"/>
                <a:ea typeface="华文细黑" pitchFamily="2" charset="-122"/>
              </a:rPr>
              <a:t>五个训练记录，所有的记录都是正确标记的，对应的决策树尽管训练误差为</a:t>
            </a:r>
            <a:r>
              <a:rPr lang="en-US" altLang="zh-CN" dirty="0">
                <a:latin typeface="华文细黑" pitchFamily="2" charset="-122"/>
                <a:ea typeface="华文细黑" pitchFamily="2" charset="-122"/>
              </a:rPr>
              <a:t>0</a:t>
            </a:r>
            <a:r>
              <a:rPr lang="zh-CN" altLang="en-US" dirty="0">
                <a:latin typeface="华文细黑" pitchFamily="2" charset="-122"/>
                <a:ea typeface="华文细黑" pitchFamily="2" charset="-122"/>
              </a:rPr>
              <a:t>，但检验误差高达</a:t>
            </a:r>
            <a:r>
              <a:rPr lang="en-US" altLang="zh-CN" dirty="0">
                <a:latin typeface="华文细黑" pitchFamily="2" charset="-122"/>
                <a:ea typeface="华文细黑" pitchFamily="2" charset="-122"/>
              </a:rPr>
              <a:t>30%</a:t>
            </a:r>
            <a:r>
              <a:rPr lang="zh-CN" altLang="en-US" dirty="0">
                <a:latin typeface="华文细黑" pitchFamily="2" charset="-122"/>
                <a:ea typeface="华文细黑" pitchFamily="2" charset="-122"/>
              </a:rPr>
              <a:t>。人、大象和海豚被误分类，因为决策树把恒温但不冬眠的动物分为非哺乳动物。</a:t>
            </a:r>
            <a:endParaRPr lang="en-US" altLang="zh-CN" dirty="0">
              <a:latin typeface="华文细黑" pitchFamily="2" charset="-122"/>
              <a:ea typeface="华文细黑" pitchFamily="2" charset="-122"/>
            </a:endParaRPr>
          </a:p>
          <a:p>
            <a:pPr>
              <a:lnSpc>
                <a:spcPct val="120000"/>
              </a:lnSpc>
            </a:pPr>
            <a:r>
              <a:rPr lang="zh-CN" altLang="en-US" dirty="0">
                <a:latin typeface="华文细黑" pitchFamily="2" charset="-122"/>
                <a:ea typeface="华文细黑" pitchFamily="2" charset="-122"/>
              </a:rPr>
              <a:t>决策树做出这样的分类决策是因为只有一个训练记录（鹰）具有这些特征。</a:t>
            </a:r>
          </a:p>
          <a:p>
            <a:pPr marL="0" lvl="3">
              <a:lnSpc>
                <a:spcPct val="120000"/>
              </a:lnSpc>
            </a:pPr>
            <a:r>
              <a:rPr lang="zh-CN" altLang="en-US" dirty="0">
                <a:solidFill>
                  <a:srgbClr val="C00000"/>
                </a:solidFill>
                <a:latin typeface="华文细黑" pitchFamily="2" charset="-122"/>
                <a:ea typeface="华文细黑" pitchFamily="2" charset="-122"/>
              </a:rPr>
              <a:t>当决策树的叶结点没有足够的代表性样本时，很可能做出错误的预测。</a:t>
            </a:r>
          </a:p>
        </p:txBody>
      </p:sp>
      <p:sp>
        <p:nvSpPr>
          <p:cNvPr id="4" name="页脚占位符 3">
            <a:extLst>
              <a:ext uri="{FF2B5EF4-FFF2-40B4-BE49-F238E27FC236}">
                <a16:creationId xmlns:a16="http://schemas.microsoft.com/office/drawing/2014/main" id="{4007885B-BA32-4019-AC4A-CB24F371C5F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55808DF-1423-4EC9-821D-4BD8A5C38147}"/>
              </a:ext>
            </a:extLst>
          </p:cNvPr>
          <p:cNvSpPr>
            <a:spLocks noGrp="1"/>
          </p:cNvSpPr>
          <p:nvPr>
            <p:ph type="sldNum" sz="quarter" idx="12"/>
          </p:nvPr>
        </p:nvSpPr>
        <p:spPr/>
        <p:txBody>
          <a:bodyPr/>
          <a:lstStyle/>
          <a:p>
            <a:fld id="{5AD84F5B-1672-4D3F-9FEC-5DF89A7B7912}" type="slidenum">
              <a:rPr lang="zh-CN" altLang="en-US" smtClean="0"/>
              <a:t>58</a:t>
            </a:fld>
            <a:endParaRPr lang="zh-CN" altLang="en-US"/>
          </a:p>
        </p:txBody>
      </p:sp>
    </p:spTree>
    <p:extLst>
      <p:ext uri="{BB962C8B-B14F-4D97-AF65-F5344CB8AC3E}">
        <p14:creationId xmlns:p14="http://schemas.microsoft.com/office/powerpoint/2010/main" val="16794892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剪枝</a:t>
            </a:r>
          </a:p>
        </p:txBody>
      </p:sp>
      <p:pic>
        <p:nvPicPr>
          <p:cNvPr id="7" name="Picture 4"/>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11431"/>
          <a:stretch/>
        </p:blipFill>
        <p:spPr bwMode="auto">
          <a:xfrm>
            <a:off x="1259632" y="1952130"/>
            <a:ext cx="6480720" cy="3745122"/>
          </a:xfrm>
          <a:prstGeom prst="rect">
            <a:avLst/>
          </a:prstGeom>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Line 4"/>
          <p:cNvSpPr>
            <a:spLocks noChangeShapeType="1"/>
          </p:cNvSpPr>
          <p:nvPr/>
        </p:nvSpPr>
        <p:spPr bwMode="auto">
          <a:xfrm>
            <a:off x="3269617" y="2716121"/>
            <a:ext cx="0" cy="2322000"/>
          </a:xfrm>
          <a:prstGeom prst="line">
            <a:avLst/>
          </a:prstGeom>
          <a:noFill/>
          <a:ln w="25400">
            <a:solidFill>
              <a:srgbClr val="8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 name="页脚占位符 2">
            <a:extLst>
              <a:ext uri="{FF2B5EF4-FFF2-40B4-BE49-F238E27FC236}">
                <a16:creationId xmlns:a16="http://schemas.microsoft.com/office/drawing/2014/main" id="{D35A5903-4B5F-40E0-962A-41D7EF7DB8E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2C78052-879E-4185-93AF-FF3C2BAE98A3}"/>
              </a:ext>
            </a:extLst>
          </p:cNvPr>
          <p:cNvSpPr>
            <a:spLocks noGrp="1"/>
          </p:cNvSpPr>
          <p:nvPr>
            <p:ph type="sldNum" sz="quarter" idx="12"/>
          </p:nvPr>
        </p:nvSpPr>
        <p:spPr/>
        <p:txBody>
          <a:bodyPr/>
          <a:lstStyle/>
          <a:p>
            <a:fld id="{5AD84F5B-1672-4D3F-9FEC-5DF89A7B7912}" type="slidenum">
              <a:rPr lang="zh-CN" altLang="en-US" smtClean="0"/>
              <a:t>59</a:t>
            </a:fld>
            <a:endParaRPr lang="zh-CN" altLang="en-US"/>
          </a:p>
        </p:txBody>
      </p:sp>
    </p:spTree>
    <p:extLst>
      <p:ext uri="{BB962C8B-B14F-4D97-AF65-F5344CB8AC3E}">
        <p14:creationId xmlns:p14="http://schemas.microsoft.com/office/powerpoint/2010/main" val="6077789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剪枝</a:t>
            </a:r>
          </a:p>
        </p:txBody>
      </p:sp>
      <p:pic>
        <p:nvPicPr>
          <p:cNvPr id="4" name="Picture 3"/>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10377"/>
          <a:stretch/>
        </p:blipFill>
        <p:spPr bwMode="auto">
          <a:xfrm>
            <a:off x="755577" y="2910542"/>
            <a:ext cx="7641539" cy="259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rot="21279166">
            <a:off x="417885" y="1580783"/>
            <a:ext cx="7524334" cy="83099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2400" b="1" dirty="0">
                <a:solidFill>
                  <a:schemeClr val="tx1"/>
                </a:solidFill>
                <a:latin typeface="华文细黑" pitchFamily="2" charset="-122"/>
                <a:ea typeface="华文细黑" pitchFamily="2" charset="-122"/>
              </a:rPr>
              <a:t>奥卡姆剃刀 （</a:t>
            </a:r>
            <a:r>
              <a:rPr lang="en-US" altLang="zh-CN" sz="2400" b="1" dirty="0">
                <a:solidFill>
                  <a:schemeClr val="tx1"/>
                </a:solidFill>
                <a:latin typeface="华文细黑" pitchFamily="2" charset="-122"/>
                <a:ea typeface="华文细黑" pitchFamily="2" charset="-122"/>
              </a:rPr>
              <a:t>Occam's Razor </a:t>
            </a:r>
            <a:r>
              <a:rPr lang="zh-CN" altLang="en-US" sz="2400" b="1" dirty="0">
                <a:solidFill>
                  <a:schemeClr val="tx1"/>
                </a:solidFill>
                <a:latin typeface="华文细黑" pitchFamily="2" charset="-122"/>
                <a:ea typeface="华文细黑" pitchFamily="2" charset="-122"/>
              </a:rPr>
              <a:t>）</a:t>
            </a:r>
            <a:r>
              <a:rPr lang="zh-CN" altLang="en-US" sz="2400" dirty="0">
                <a:solidFill>
                  <a:schemeClr val="tx1"/>
                </a:solidFill>
                <a:latin typeface="华文细黑" pitchFamily="2" charset="-122"/>
                <a:ea typeface="华文细黑" pitchFamily="2" charset="-122"/>
              </a:rPr>
              <a:t>：给定两个具有相同泛化误差的模型，较简单的模型比复杂的模型更可取</a:t>
            </a:r>
          </a:p>
        </p:txBody>
      </p:sp>
      <p:sp>
        <p:nvSpPr>
          <p:cNvPr id="3" name="矩形 2"/>
          <p:cNvSpPr/>
          <p:nvPr/>
        </p:nvSpPr>
        <p:spPr>
          <a:xfrm rot="21024365">
            <a:off x="4311157" y="2206654"/>
            <a:ext cx="3813994" cy="830997"/>
          </a:xfrm>
          <a:prstGeom prst="rect">
            <a:avLst/>
          </a:prstGeom>
        </p:spPr>
        <p:txBody>
          <a:bodyPr wrap="square">
            <a:spAutoFit/>
          </a:bodyPr>
          <a:lstStyle/>
          <a:p>
            <a:r>
              <a:rPr lang="zh-CN" altLang="en-US" sz="2000" dirty="0">
                <a:solidFill>
                  <a:srgbClr val="C00000"/>
                </a:solidFill>
                <a:latin typeface="华文细黑" pitchFamily="2" charset="-122"/>
                <a:ea typeface="华文细黑" pitchFamily="2" charset="-122"/>
              </a:rPr>
              <a:t>在能够保证泛化误差的前提下，对决策树模型进行</a:t>
            </a:r>
            <a:r>
              <a:rPr lang="zh-CN" altLang="en-US" sz="2800" dirty="0">
                <a:solidFill>
                  <a:srgbClr val="C00000"/>
                </a:solidFill>
                <a:latin typeface="华文细黑" pitchFamily="2" charset="-122"/>
                <a:ea typeface="华文细黑" pitchFamily="2" charset="-122"/>
              </a:rPr>
              <a:t>剪枝</a:t>
            </a:r>
          </a:p>
        </p:txBody>
      </p:sp>
      <p:sp>
        <p:nvSpPr>
          <p:cNvPr id="6" name="页脚占位符 5">
            <a:extLst>
              <a:ext uri="{FF2B5EF4-FFF2-40B4-BE49-F238E27FC236}">
                <a16:creationId xmlns:a16="http://schemas.microsoft.com/office/drawing/2014/main" id="{64146E41-2040-498C-88CB-168CA13F474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464CC57-EEE5-4F15-BA1B-AFABD356D56F}"/>
              </a:ext>
            </a:extLst>
          </p:cNvPr>
          <p:cNvSpPr>
            <a:spLocks noGrp="1"/>
          </p:cNvSpPr>
          <p:nvPr>
            <p:ph type="sldNum" sz="quarter" idx="12"/>
          </p:nvPr>
        </p:nvSpPr>
        <p:spPr/>
        <p:txBody>
          <a:bodyPr/>
          <a:lstStyle/>
          <a:p>
            <a:fld id="{5AD84F5B-1672-4D3F-9FEC-5DF89A7B7912}" type="slidenum">
              <a:rPr lang="zh-CN" altLang="en-US" smtClean="0"/>
              <a:t>60</a:t>
            </a:fld>
            <a:endParaRPr lang="zh-CN" altLang="en-US"/>
          </a:p>
        </p:txBody>
      </p:sp>
    </p:spTree>
    <p:extLst>
      <p:ext uri="{BB962C8B-B14F-4D97-AF65-F5344CB8AC3E}">
        <p14:creationId xmlns:p14="http://schemas.microsoft.com/office/powerpoint/2010/main" val="2621312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剪枝</a:t>
            </a:r>
          </a:p>
        </p:txBody>
      </p:sp>
      <p:sp>
        <p:nvSpPr>
          <p:cNvPr id="6" name="内容占位符 5"/>
          <p:cNvSpPr>
            <a:spLocks noGrp="1"/>
          </p:cNvSpPr>
          <p:nvPr>
            <p:ph idx="1"/>
          </p:nvPr>
        </p:nvSpPr>
        <p:spPr/>
        <p:txBody>
          <a:bodyPr/>
          <a:lstStyle/>
          <a:p>
            <a:r>
              <a:rPr lang="zh-CN" altLang="en-US" dirty="0"/>
              <a:t>先剪枝</a:t>
            </a:r>
            <a:endParaRPr lang="en-US" altLang="zh-CN" dirty="0"/>
          </a:p>
          <a:p>
            <a:r>
              <a:rPr lang="zh-CN" altLang="en-US" dirty="0"/>
              <a:t>后剪枝</a:t>
            </a:r>
          </a:p>
        </p:txBody>
      </p:sp>
      <p:sp>
        <p:nvSpPr>
          <p:cNvPr id="3" name="页脚占位符 2">
            <a:extLst>
              <a:ext uri="{FF2B5EF4-FFF2-40B4-BE49-F238E27FC236}">
                <a16:creationId xmlns:a16="http://schemas.microsoft.com/office/drawing/2014/main" id="{C81D2C9F-FA26-4A0C-85FD-8363CF8860AE}"/>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6CFFCF1-7750-42A6-8CF8-5DF67AC06528}"/>
              </a:ext>
            </a:extLst>
          </p:cNvPr>
          <p:cNvSpPr>
            <a:spLocks noGrp="1"/>
          </p:cNvSpPr>
          <p:nvPr>
            <p:ph type="sldNum" sz="quarter" idx="12"/>
          </p:nvPr>
        </p:nvSpPr>
        <p:spPr/>
        <p:txBody>
          <a:bodyPr/>
          <a:lstStyle/>
          <a:p>
            <a:fld id="{5AD84F5B-1672-4D3F-9FEC-5DF89A7B7912}" type="slidenum">
              <a:rPr lang="zh-CN" altLang="en-US" smtClean="0"/>
              <a:t>61</a:t>
            </a:fld>
            <a:endParaRPr lang="zh-CN" altLang="en-US"/>
          </a:p>
        </p:txBody>
      </p:sp>
    </p:spTree>
    <p:extLst>
      <p:ext uri="{BB962C8B-B14F-4D97-AF65-F5344CB8AC3E}">
        <p14:creationId xmlns:p14="http://schemas.microsoft.com/office/powerpoint/2010/main" val="31478251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先剪枝</a:t>
            </a:r>
          </a:p>
        </p:txBody>
      </p:sp>
      <p:sp>
        <p:nvSpPr>
          <p:cNvPr id="6" name="内容占位符 5"/>
          <p:cNvSpPr>
            <a:spLocks noGrp="1"/>
          </p:cNvSpPr>
          <p:nvPr>
            <p:ph idx="1"/>
          </p:nvPr>
        </p:nvSpPr>
        <p:spPr/>
        <p:txBody>
          <a:bodyPr>
            <a:normAutofit/>
          </a:bodyPr>
          <a:lstStyle/>
          <a:p>
            <a:r>
              <a:rPr lang="zh-CN" altLang="en-US" dirty="0"/>
              <a:t>使树增长算法在产生完全拟合整个训练数据集的之前就停止决策树的生长。</a:t>
            </a:r>
            <a:endParaRPr lang="en-US" altLang="zh-CN" dirty="0"/>
          </a:p>
          <a:p>
            <a:r>
              <a:rPr lang="zh-CN" altLang="en-US" dirty="0"/>
              <a:t>当决策树的构建过程中，达到某一预先设定的条件，则停止树的生长，用该结点子集元组中最频繁的类，即主导类，作为其类别标号，该结点也设置为叶节点。</a:t>
            </a:r>
            <a:endParaRPr lang="en-US" altLang="zh-CN" dirty="0"/>
          </a:p>
        </p:txBody>
      </p:sp>
      <p:sp>
        <p:nvSpPr>
          <p:cNvPr id="3" name="页脚占位符 2">
            <a:extLst>
              <a:ext uri="{FF2B5EF4-FFF2-40B4-BE49-F238E27FC236}">
                <a16:creationId xmlns:a16="http://schemas.microsoft.com/office/drawing/2014/main" id="{FDBBEF36-5D5D-4D60-84FF-EF309C84662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EE6DFF6-E7C2-4747-9510-4B86B9E21EBC}"/>
              </a:ext>
            </a:extLst>
          </p:cNvPr>
          <p:cNvSpPr>
            <a:spLocks noGrp="1"/>
          </p:cNvSpPr>
          <p:nvPr>
            <p:ph type="sldNum" sz="quarter" idx="12"/>
          </p:nvPr>
        </p:nvSpPr>
        <p:spPr/>
        <p:txBody>
          <a:bodyPr/>
          <a:lstStyle/>
          <a:p>
            <a:fld id="{5AD84F5B-1672-4D3F-9FEC-5DF89A7B7912}" type="slidenum">
              <a:rPr lang="zh-CN" altLang="en-US" smtClean="0"/>
              <a:t>62</a:t>
            </a:fld>
            <a:endParaRPr lang="zh-CN" altLang="en-US"/>
          </a:p>
        </p:txBody>
      </p:sp>
    </p:spTree>
    <p:extLst>
      <p:ext uri="{BB962C8B-B14F-4D97-AF65-F5344CB8AC3E}">
        <p14:creationId xmlns:p14="http://schemas.microsoft.com/office/powerpoint/2010/main" val="24518593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先剪枝</a:t>
            </a:r>
          </a:p>
        </p:txBody>
      </p:sp>
      <p:sp>
        <p:nvSpPr>
          <p:cNvPr id="6" name="内容占位符 5"/>
          <p:cNvSpPr>
            <a:spLocks noGrp="1"/>
          </p:cNvSpPr>
          <p:nvPr>
            <p:ph idx="1"/>
          </p:nvPr>
        </p:nvSpPr>
        <p:spPr/>
        <p:txBody>
          <a:bodyPr>
            <a:normAutofit/>
          </a:bodyPr>
          <a:lstStyle/>
          <a:p>
            <a:r>
              <a:rPr lang="zh-CN" altLang="zh-CN" dirty="0"/>
              <a:t>剪枝的条件主要有以下几种限制性结束条件：</a:t>
            </a:r>
            <a:r>
              <a:rPr lang="en-US" altLang="zh-CN" dirty="0"/>
              <a:t>	</a:t>
            </a:r>
            <a:endParaRPr lang="zh-CN" altLang="zh-CN" dirty="0"/>
          </a:p>
          <a:p>
            <a:pPr lvl="1"/>
            <a:r>
              <a:rPr lang="zh-CN" altLang="zh-CN" dirty="0"/>
              <a:t>定义一个决策树</a:t>
            </a:r>
            <a:r>
              <a:rPr lang="zh-CN" altLang="zh-CN" dirty="0">
                <a:solidFill>
                  <a:srgbClr val="C00000"/>
                </a:solidFill>
              </a:rPr>
              <a:t>树高上限</a:t>
            </a:r>
            <a:r>
              <a:rPr lang="zh-CN" altLang="zh-CN" dirty="0"/>
              <a:t>，当决策树达到这个上限时，就停止生长；</a:t>
            </a:r>
          </a:p>
          <a:p>
            <a:pPr lvl="1"/>
            <a:r>
              <a:rPr lang="zh-CN" altLang="zh-CN" dirty="0"/>
              <a:t>定义一定的</a:t>
            </a:r>
            <a:r>
              <a:rPr lang="zh-CN" altLang="zh-CN" dirty="0">
                <a:solidFill>
                  <a:srgbClr val="C00000"/>
                </a:solidFill>
              </a:rPr>
              <a:t>实例个数阈值</a:t>
            </a:r>
            <a:r>
              <a:rPr lang="zh-CN" altLang="zh-CN" dirty="0"/>
              <a:t>，当结点的记录数少于该阈值，则停止生长；</a:t>
            </a:r>
          </a:p>
          <a:p>
            <a:pPr lvl="1"/>
            <a:r>
              <a:rPr lang="zh-CN" altLang="zh-CN" dirty="0"/>
              <a:t>当不纯性度量的</a:t>
            </a:r>
            <a:r>
              <a:rPr lang="zh-CN" altLang="zh-CN" dirty="0">
                <a:solidFill>
                  <a:srgbClr val="C00000"/>
                </a:solidFill>
              </a:rPr>
              <a:t>增益</a:t>
            </a:r>
            <a:r>
              <a:rPr lang="en-US" altLang="zh-CN" dirty="0"/>
              <a:t>(</a:t>
            </a:r>
            <a:r>
              <a:rPr lang="zh-CN" altLang="en-US" dirty="0"/>
              <a:t>例如 信息增益 </a:t>
            </a:r>
            <a:r>
              <a:rPr lang="en-US" altLang="zh-CN" dirty="0"/>
              <a:t>information gain)</a:t>
            </a:r>
            <a:r>
              <a:rPr lang="zh-CN" altLang="zh-CN" dirty="0">
                <a:solidFill>
                  <a:srgbClr val="C00000"/>
                </a:solidFill>
              </a:rPr>
              <a:t>低于</a:t>
            </a:r>
            <a:r>
              <a:rPr lang="zh-CN" altLang="zh-CN" dirty="0"/>
              <a:t>某个确定的</a:t>
            </a:r>
            <a:r>
              <a:rPr lang="zh-CN" altLang="zh-CN" dirty="0">
                <a:solidFill>
                  <a:srgbClr val="C00000"/>
                </a:solidFill>
              </a:rPr>
              <a:t>阈值</a:t>
            </a:r>
            <a:r>
              <a:rPr lang="zh-CN" altLang="zh-CN" dirty="0"/>
              <a:t>时，则停止生长；</a:t>
            </a:r>
          </a:p>
          <a:p>
            <a:pPr lvl="1"/>
            <a:r>
              <a:rPr lang="zh-CN" altLang="zh-CN" dirty="0"/>
              <a:t>实例具有</a:t>
            </a:r>
            <a:r>
              <a:rPr lang="zh-CN" altLang="zh-CN" dirty="0">
                <a:solidFill>
                  <a:srgbClr val="C00000"/>
                </a:solidFill>
              </a:rPr>
              <a:t>相同的特征向量</a:t>
            </a:r>
            <a:r>
              <a:rPr lang="zh-CN" altLang="zh-CN" dirty="0"/>
              <a:t>的时候，停止决策树的生长，即使这些属性不属于同一类。这种方法能够较为有效地处理数据中的冲突问题。</a:t>
            </a:r>
            <a:endParaRPr lang="en-US" altLang="zh-CN" dirty="0"/>
          </a:p>
        </p:txBody>
      </p:sp>
      <p:sp>
        <p:nvSpPr>
          <p:cNvPr id="3" name="页脚占位符 2">
            <a:extLst>
              <a:ext uri="{FF2B5EF4-FFF2-40B4-BE49-F238E27FC236}">
                <a16:creationId xmlns:a16="http://schemas.microsoft.com/office/drawing/2014/main" id="{63258AA9-90B1-4357-87FF-3EF98B816B8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BC54C4E-7247-4572-887B-90ACBF7B6C51}"/>
              </a:ext>
            </a:extLst>
          </p:cNvPr>
          <p:cNvSpPr>
            <a:spLocks noGrp="1"/>
          </p:cNvSpPr>
          <p:nvPr>
            <p:ph type="sldNum" sz="quarter" idx="12"/>
          </p:nvPr>
        </p:nvSpPr>
        <p:spPr/>
        <p:txBody>
          <a:bodyPr/>
          <a:lstStyle/>
          <a:p>
            <a:fld id="{5AD84F5B-1672-4D3F-9FEC-5DF89A7B7912}" type="slidenum">
              <a:rPr lang="zh-CN" altLang="en-US" smtClean="0"/>
              <a:t>63</a:t>
            </a:fld>
            <a:endParaRPr lang="zh-CN" altLang="en-US"/>
          </a:p>
        </p:txBody>
      </p:sp>
    </p:spTree>
    <p:extLst>
      <p:ext uri="{BB962C8B-B14F-4D97-AF65-F5344CB8AC3E}">
        <p14:creationId xmlns:p14="http://schemas.microsoft.com/office/powerpoint/2010/main" val="19263054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先剪枝</a:t>
            </a:r>
          </a:p>
        </p:txBody>
      </p:sp>
      <p:sp>
        <p:nvSpPr>
          <p:cNvPr id="6" name="内容占位符 5"/>
          <p:cNvSpPr>
            <a:spLocks noGrp="1"/>
          </p:cNvSpPr>
          <p:nvPr>
            <p:ph idx="1"/>
          </p:nvPr>
        </p:nvSpPr>
        <p:spPr/>
        <p:txBody>
          <a:bodyPr>
            <a:normAutofit/>
          </a:bodyPr>
          <a:lstStyle/>
          <a:p>
            <a:r>
              <a:rPr lang="zh-CN" altLang="en-US" dirty="0"/>
              <a:t>方法相对简单，具有较高的效率，而且不需要生成整个决策树，适合于解决数据规模较大所带来的问题。</a:t>
            </a:r>
            <a:endParaRPr lang="en-US" altLang="zh-CN" dirty="0"/>
          </a:p>
          <a:p>
            <a:r>
              <a:rPr lang="zh-CN" altLang="en-US" dirty="0"/>
              <a:t>要精确地估计决策树生长的停止时间并不容易，选取一个恰当的阈值更是非常困难。</a:t>
            </a:r>
            <a:endParaRPr lang="en-US" altLang="zh-CN" dirty="0"/>
          </a:p>
          <a:p>
            <a:pPr lvl="1"/>
            <a:r>
              <a:rPr lang="zh-CN" altLang="en-US" dirty="0"/>
              <a:t>阈值太低，无法充分解决过度拟合的问题；</a:t>
            </a:r>
            <a:endParaRPr lang="en-US" altLang="zh-CN" dirty="0"/>
          </a:p>
          <a:p>
            <a:pPr lvl="1"/>
            <a:r>
              <a:rPr lang="zh-CN" altLang="en-US" dirty="0"/>
              <a:t>阈值太高，则会导致拟合不足。</a:t>
            </a:r>
            <a:endParaRPr lang="en-US" altLang="zh-CN" dirty="0"/>
          </a:p>
        </p:txBody>
      </p:sp>
      <p:sp>
        <p:nvSpPr>
          <p:cNvPr id="3" name="页脚占位符 2">
            <a:extLst>
              <a:ext uri="{FF2B5EF4-FFF2-40B4-BE49-F238E27FC236}">
                <a16:creationId xmlns:a16="http://schemas.microsoft.com/office/drawing/2014/main" id="{5B5EF269-53F6-4D78-A316-C2FFA0A8CD7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17CE4E6-4AC1-4E22-9B1C-DBA861DCE824}"/>
              </a:ext>
            </a:extLst>
          </p:cNvPr>
          <p:cNvSpPr>
            <a:spLocks noGrp="1"/>
          </p:cNvSpPr>
          <p:nvPr>
            <p:ph type="sldNum" sz="quarter" idx="12"/>
          </p:nvPr>
        </p:nvSpPr>
        <p:spPr/>
        <p:txBody>
          <a:bodyPr/>
          <a:lstStyle/>
          <a:p>
            <a:fld id="{5AD84F5B-1672-4D3F-9FEC-5DF89A7B7912}" type="slidenum">
              <a:rPr lang="zh-CN" altLang="en-US" smtClean="0"/>
              <a:t>64</a:t>
            </a:fld>
            <a:endParaRPr lang="zh-CN" altLang="en-US"/>
          </a:p>
        </p:txBody>
      </p:sp>
    </p:spTree>
    <p:extLst>
      <p:ext uri="{BB962C8B-B14F-4D97-AF65-F5344CB8AC3E}">
        <p14:creationId xmlns:p14="http://schemas.microsoft.com/office/powerpoint/2010/main" val="295287939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后剪枝</a:t>
            </a:r>
            <a:endParaRPr lang="en-US" altLang="zh-CN" dirty="0"/>
          </a:p>
        </p:txBody>
      </p:sp>
      <p:graphicFrame>
        <p:nvGraphicFramePr>
          <p:cNvPr id="3" name="内容占位符 2"/>
          <p:cNvGraphicFramePr>
            <a:graphicFrameLocks noGrp="1"/>
          </p:cNvGraphicFramePr>
          <p:nvPr>
            <p:ph idx="1"/>
          </p:nvPr>
        </p:nvGraphicFramePr>
        <p:xfrm>
          <a:off x="162766" y="2003242"/>
          <a:ext cx="8917735" cy="39086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页脚占位符 3">
            <a:extLst>
              <a:ext uri="{FF2B5EF4-FFF2-40B4-BE49-F238E27FC236}">
                <a16:creationId xmlns:a16="http://schemas.microsoft.com/office/drawing/2014/main" id="{D38AF32C-1113-4B59-905A-7E216D38F92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459DEA4-5B29-4852-8E26-7A1C808D3DC1}"/>
              </a:ext>
            </a:extLst>
          </p:cNvPr>
          <p:cNvSpPr>
            <a:spLocks noGrp="1"/>
          </p:cNvSpPr>
          <p:nvPr>
            <p:ph type="sldNum" sz="quarter" idx="12"/>
          </p:nvPr>
        </p:nvSpPr>
        <p:spPr/>
        <p:txBody>
          <a:bodyPr/>
          <a:lstStyle/>
          <a:p>
            <a:fld id="{5AD84F5B-1672-4D3F-9FEC-5DF89A7B7912}" type="slidenum">
              <a:rPr lang="zh-CN" altLang="en-US" smtClean="0"/>
              <a:t>65</a:t>
            </a:fld>
            <a:endParaRPr lang="zh-CN" altLang="en-US"/>
          </a:p>
        </p:txBody>
      </p:sp>
    </p:spTree>
    <p:extLst>
      <p:ext uri="{BB962C8B-B14F-4D97-AF65-F5344CB8AC3E}">
        <p14:creationId xmlns:p14="http://schemas.microsoft.com/office/powerpoint/2010/main" val="17426354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减少错误剪枝</a:t>
            </a:r>
            <a:r>
              <a:rPr lang="en-US" altLang="zh-CN" dirty="0"/>
              <a:t>REP</a:t>
            </a:r>
          </a:p>
        </p:txBody>
      </p:sp>
      <p:sp>
        <p:nvSpPr>
          <p:cNvPr id="6" name="内容占位符 5"/>
          <p:cNvSpPr>
            <a:spLocks noGrp="1"/>
          </p:cNvSpPr>
          <p:nvPr>
            <p:ph idx="1"/>
          </p:nvPr>
        </p:nvSpPr>
        <p:spPr/>
        <p:txBody>
          <a:bodyPr>
            <a:normAutofit/>
          </a:bodyPr>
          <a:lstStyle/>
          <a:p>
            <a:r>
              <a:rPr lang="zh-CN" altLang="zh-CN" dirty="0"/>
              <a:t>一种较为简单的基于测试检验结果的后剪枝的方法</a:t>
            </a:r>
            <a:endParaRPr lang="en-US" altLang="zh-CN" dirty="0"/>
          </a:p>
          <a:p>
            <a:r>
              <a:rPr lang="zh-CN" altLang="zh-CN" dirty="0">
                <a:solidFill>
                  <a:srgbClr val="C00000"/>
                </a:solidFill>
              </a:rPr>
              <a:t>使用测试数据集</a:t>
            </a:r>
            <a:r>
              <a:rPr lang="zh-CN" altLang="zh-CN" dirty="0"/>
              <a:t>来对过度拟合训练集中的虚假特征</a:t>
            </a:r>
            <a:r>
              <a:rPr lang="zh-CN" altLang="en-US" dirty="0"/>
              <a:t>进行</a:t>
            </a:r>
            <a:r>
              <a:rPr lang="zh-CN" altLang="zh-CN" dirty="0"/>
              <a:t>检验</a:t>
            </a:r>
            <a:endParaRPr lang="en-US" altLang="zh-CN" dirty="0"/>
          </a:p>
          <a:p>
            <a:r>
              <a:rPr lang="zh-CN" altLang="zh-CN" dirty="0"/>
              <a:t>将决策树上的每个结点都列为剪枝的候选结点，再根据算法确定是否对结点进行剪枝：</a:t>
            </a:r>
          </a:p>
        </p:txBody>
      </p:sp>
      <p:graphicFrame>
        <p:nvGraphicFramePr>
          <p:cNvPr id="3" name="表格 2"/>
          <p:cNvGraphicFramePr>
            <a:graphicFrameLocks noGrp="1"/>
          </p:cNvGraphicFramePr>
          <p:nvPr/>
        </p:nvGraphicFramePr>
        <p:xfrm>
          <a:off x="631034" y="3644992"/>
          <a:ext cx="7469359" cy="2304288"/>
        </p:xfrm>
        <a:graphic>
          <a:graphicData uri="http://schemas.openxmlformats.org/drawingml/2006/table">
            <a:tbl>
              <a:tblPr>
                <a:tableStyleId>{2D5ABB26-0587-4C30-8999-92F81FD0307C}</a:tableStyleId>
              </a:tblPr>
              <a:tblGrid>
                <a:gridCol w="307738">
                  <a:extLst>
                    <a:ext uri="{9D8B030D-6E8A-4147-A177-3AD203B41FA5}">
                      <a16:colId xmlns:a16="http://schemas.microsoft.com/office/drawing/2014/main" val="20000"/>
                    </a:ext>
                  </a:extLst>
                </a:gridCol>
                <a:gridCol w="7161621">
                  <a:extLst>
                    <a:ext uri="{9D8B030D-6E8A-4147-A177-3AD203B41FA5}">
                      <a16:colId xmlns:a16="http://schemas.microsoft.com/office/drawing/2014/main" val="20001"/>
                    </a:ext>
                  </a:extLst>
                </a:gridCol>
              </a:tblGrid>
              <a:tr h="329184">
                <a:tc gridSpan="2">
                  <a: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zh-CN" altLang="zh-CN" sz="1400" b="0" i="0" u="none" strike="noStrike" cap="none" normalizeH="0" baseline="0" dirty="0">
                          <a:ln>
                            <a:noFill/>
                          </a:ln>
                          <a:solidFill>
                            <a:schemeClr val="tx1"/>
                          </a:solidFill>
                          <a:effectLst/>
                          <a:latin typeface="Courier New" pitchFamily="49" charset="0"/>
                          <a:ea typeface="华文细黑" pitchFamily="2" charset="-122"/>
                          <a:cs typeface="Courier New" pitchFamily="49" charset="0"/>
                        </a:rPr>
                        <a:t>【</a:t>
                      </a:r>
                      <a:r>
                        <a:rPr kumimoji="0" lang="zh-CN" altLang="zh-CN" sz="1400" b="0" i="0" u="none" strike="noStrike" cap="none" normalizeH="0" baseline="0" dirty="0" bmk="_Ref15327043">
                          <a:ln>
                            <a:noFill/>
                          </a:ln>
                          <a:solidFill>
                            <a:schemeClr val="tx1"/>
                          </a:solidFill>
                          <a:effectLst/>
                          <a:latin typeface="Courier New" pitchFamily="49" charset="0"/>
                          <a:ea typeface="华文细黑" pitchFamily="2" charset="-122"/>
                          <a:cs typeface="Courier New" pitchFamily="49" charset="0"/>
                        </a:rPr>
                        <a:t>算法</a:t>
                      </a:r>
                      <a:r>
                        <a:rPr kumimoji="0" lang="en-US" altLang="zh-CN" sz="1400" b="0" i="0" u="none" strike="noStrike" cap="none" normalizeH="0" baseline="0" dirty="0" bmk="_Ref15327043">
                          <a:ln>
                            <a:noFill/>
                          </a:ln>
                          <a:solidFill>
                            <a:schemeClr val="tx1"/>
                          </a:solidFill>
                          <a:effectLst/>
                          <a:latin typeface="Courier New" pitchFamily="49" charset="0"/>
                          <a:ea typeface="华文细黑" pitchFamily="2" charset="-122"/>
                          <a:cs typeface="Courier New" pitchFamily="49" charset="0"/>
                        </a:rPr>
                        <a:t>6‑2</a:t>
                      </a:r>
                      <a:r>
                        <a:rPr kumimoji="0" lang="en-US" altLang="zh-CN" sz="1400" b="0" i="0" u="none" strike="noStrike" cap="none" normalizeH="0" baseline="0" dirty="0" bmk="_Toc506824325">
                          <a:ln>
                            <a:noFill/>
                          </a:ln>
                          <a:solidFill>
                            <a:schemeClr val="tx1"/>
                          </a:solidFill>
                          <a:effectLst/>
                          <a:latin typeface="Courier New" pitchFamily="49" charset="0"/>
                          <a:ea typeface="华文细黑" pitchFamily="2" charset="-122"/>
                          <a:cs typeface="Courier New" pitchFamily="49" charset="0"/>
                        </a:rPr>
                        <a:t>】REP</a:t>
                      </a:r>
                      <a:r>
                        <a:rPr kumimoji="0" lang="zh-CN" altLang="en-US" sz="1400" b="0" i="0" u="none" strike="noStrike" cap="none" normalizeH="0" baseline="0" dirty="0" bmk="_Toc506824325">
                          <a:ln>
                            <a:noFill/>
                          </a:ln>
                          <a:solidFill>
                            <a:schemeClr val="tx1"/>
                          </a:solidFill>
                          <a:effectLst/>
                          <a:latin typeface="Courier New" pitchFamily="49" charset="0"/>
                          <a:ea typeface="华文细黑" pitchFamily="2" charset="-122"/>
                          <a:cs typeface="Courier New" pitchFamily="49" charset="0"/>
                        </a:rPr>
                        <a:t>算法</a:t>
                      </a:r>
                      <a:r>
                        <a:rPr kumimoji="0" lang="zh-CN" altLang="en-US" sz="1400" b="0" i="0" u="none" strike="noStrike" cap="none" normalizeH="0" baseline="0" dirty="0">
                          <a:ln>
                            <a:noFill/>
                          </a:ln>
                          <a:solidFill>
                            <a:schemeClr val="tx1"/>
                          </a:solidFill>
                          <a:effectLst/>
                          <a:latin typeface="Courier New" pitchFamily="49" charset="0"/>
                          <a:ea typeface="华文细黑" pitchFamily="2" charset="-122"/>
                          <a:cs typeface="Courier New" pitchFamily="49" charset="0"/>
                        </a:rPr>
                        <a:t>（给定由训练集数据生成的决策树</a:t>
                      </a:r>
                      <a:r>
                        <a:rPr kumimoji="0" lang="en-US" altLang="zh-CN" sz="1400" b="0" i="0" u="none" strike="noStrike" cap="none" normalizeH="0" baseline="0" dirty="0">
                          <a:ln>
                            <a:noFill/>
                          </a:ln>
                          <a:solidFill>
                            <a:schemeClr val="tx1"/>
                          </a:solidFill>
                          <a:effectLst/>
                          <a:latin typeface="Courier New" pitchFamily="49" charset="0"/>
                          <a:ea typeface="华文细黑" pitchFamily="2" charset="-122"/>
                          <a:cs typeface="Courier New" pitchFamily="49" charset="0"/>
                        </a:rPr>
                        <a:t>T</a:t>
                      </a:r>
                      <a:r>
                        <a:rPr kumimoji="0" lang="zh-CN" altLang="en-US" sz="1400" b="0" i="0" u="none" strike="noStrike" cap="none" normalizeH="0" baseline="0" dirty="0">
                          <a:ln>
                            <a:noFill/>
                          </a:ln>
                          <a:solidFill>
                            <a:schemeClr val="tx1"/>
                          </a:solidFill>
                          <a:effectLst/>
                          <a:latin typeface="Courier New" pitchFamily="49" charset="0"/>
                          <a:ea typeface="华文细黑" pitchFamily="2" charset="-122"/>
                          <a:cs typeface="Courier New" pitchFamily="49" charset="0"/>
                        </a:rPr>
                        <a:t>）</a:t>
                      </a:r>
                      <a:endParaRPr kumimoji="0" lang="zh-CN" altLang="en-US" sz="3200" b="0" i="0" u="none" strike="noStrike" cap="none" normalizeH="0" baseline="0" dirty="0">
                        <a:ln>
                          <a:noFill/>
                        </a:ln>
                        <a:solidFill>
                          <a:schemeClr val="tx1"/>
                        </a:solidFill>
                        <a:effectLst/>
                        <a:latin typeface="Courier New" pitchFamily="49" charset="0"/>
                        <a:ea typeface="华文细黑" pitchFamily="2" charset="-122"/>
                        <a:cs typeface="Courier New"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213360" indent="-213360" algn="just">
                        <a:spcAft>
                          <a:spcPts val="0"/>
                        </a:spcAft>
                      </a:pPr>
                      <a:endParaRPr lang="zh-CN" sz="1600" kern="100" dirty="0">
                        <a:effectLst/>
                        <a:latin typeface="Times New Roman"/>
                        <a:ea typeface="宋体"/>
                        <a:cs typeface="Times New Roman"/>
                      </a:endParaRPr>
                    </a:p>
                  </a:txBody>
                  <a:tcPr marL="0" marR="0" marT="0" marB="0"/>
                </a:tc>
                <a:extLst>
                  <a:ext uri="{0D108BD9-81ED-4DB2-BD59-A6C34878D82A}">
                    <a16:rowId xmlns:a16="http://schemas.microsoft.com/office/drawing/2014/main" val="10000"/>
                  </a:ext>
                </a:extLst>
              </a:tr>
              <a:tr h="329184">
                <a:tc>
                  <a:txBody>
                    <a:bodyPr/>
                    <a:lstStyle/>
                    <a:p>
                      <a:pPr algn="just">
                        <a:lnSpc>
                          <a:spcPct val="150000"/>
                        </a:lnSpc>
                        <a:spcAft>
                          <a:spcPts val="0"/>
                        </a:spcAft>
                      </a:pPr>
                      <a:r>
                        <a:rPr lang="en-US" sz="1400" kern="100" dirty="0">
                          <a:effectLst/>
                          <a:latin typeface="Courier New" pitchFamily="49" charset="0"/>
                          <a:ea typeface="华文细黑" pitchFamily="2" charset="-122"/>
                          <a:cs typeface="Courier New" pitchFamily="49" charset="0"/>
                        </a:rPr>
                        <a:t>1</a:t>
                      </a:r>
                      <a:r>
                        <a:rPr lang="en-US" altLang="zh-CN" sz="1400" kern="100" dirty="0">
                          <a:effectLst/>
                          <a:latin typeface="Courier New" pitchFamily="49" charset="0"/>
                          <a:ea typeface="华文细黑" pitchFamily="2" charset="-122"/>
                          <a:cs typeface="Courier New" pitchFamily="49" charset="0"/>
                        </a:rPr>
                        <a:t>:</a:t>
                      </a:r>
                      <a:endParaRPr lang="zh-CN" sz="1400" kern="100" dirty="0">
                        <a:effectLst/>
                        <a:latin typeface="Courier New" pitchFamily="49" charset="0"/>
                        <a:ea typeface="华文细黑" pitchFamily="2" charset="-122"/>
                        <a:cs typeface="Courier New"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213360" indent="-213360" algn="just">
                        <a:lnSpc>
                          <a:spcPct val="150000"/>
                        </a:lnSpc>
                        <a:spcAft>
                          <a:spcPts val="0"/>
                        </a:spcAft>
                      </a:pPr>
                      <a:r>
                        <a:rPr lang="en-US" sz="1400" kern="100" dirty="0">
                          <a:effectLst/>
                          <a:latin typeface="Courier New" pitchFamily="49" charset="0"/>
                          <a:ea typeface="华文细黑" pitchFamily="2" charset="-122"/>
                          <a:cs typeface="Courier New" pitchFamily="49" charset="0"/>
                        </a:rPr>
                        <a:t>repeat </a:t>
                      </a:r>
                      <a:endParaRPr lang="zh-CN" sz="1400" kern="100" dirty="0">
                        <a:effectLst/>
                        <a:latin typeface="Courier New" pitchFamily="49" charset="0"/>
                        <a:ea typeface="华文细黑" pitchFamily="2" charset="-122"/>
                        <a:cs typeface="Courier New"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algn="just">
                        <a:lnSpc>
                          <a:spcPct val="150000"/>
                        </a:lnSpc>
                        <a:spcAft>
                          <a:spcPts val="0"/>
                        </a:spcAft>
                      </a:pPr>
                      <a:r>
                        <a:rPr lang="en-US" altLang="zh-CN" sz="1400" kern="100" dirty="0">
                          <a:effectLst/>
                          <a:latin typeface="Courier New" pitchFamily="49" charset="0"/>
                          <a:ea typeface="华文细黑" pitchFamily="2" charset="-122"/>
                          <a:cs typeface="Courier New" pitchFamily="49" charset="0"/>
                        </a:rPr>
                        <a:t>2:</a:t>
                      </a:r>
                      <a:endParaRPr lang="zh-CN" sz="1400" kern="100" dirty="0">
                        <a:effectLst/>
                        <a:latin typeface="Courier New" pitchFamily="49" charset="0"/>
                        <a:ea typeface="华文细黑" pitchFamily="2" charset="-122"/>
                        <a:cs typeface="Courier New"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just">
                        <a:lnSpc>
                          <a:spcPct val="150000"/>
                        </a:lnSpc>
                        <a:spcAft>
                          <a:spcPts val="0"/>
                        </a:spcAft>
                      </a:pPr>
                      <a:r>
                        <a:rPr lang="en-US" sz="1400" kern="100" dirty="0">
                          <a:effectLst/>
                          <a:latin typeface="Courier New" pitchFamily="49" charset="0"/>
                          <a:ea typeface="华文细黑" pitchFamily="2" charset="-122"/>
                          <a:cs typeface="Courier New" pitchFamily="49" charset="0"/>
                        </a:rPr>
                        <a:t>  </a:t>
                      </a:r>
                      <a:r>
                        <a:rPr lang="zh-CN" sz="1400" kern="100" dirty="0">
                          <a:effectLst/>
                          <a:latin typeface="Courier New" pitchFamily="49" charset="0"/>
                          <a:ea typeface="华文细黑" pitchFamily="2" charset="-122"/>
                          <a:cs typeface="Courier New" pitchFamily="49" charset="0"/>
                        </a:rPr>
                        <a:t>找到最靠近叶结点的子树</a:t>
                      </a:r>
                      <a:r>
                        <a:rPr lang="en-US" sz="1400" kern="100" dirty="0" err="1">
                          <a:effectLst/>
                          <a:latin typeface="Courier New" pitchFamily="49" charset="0"/>
                          <a:ea typeface="华文细黑" pitchFamily="2" charset="-122"/>
                          <a:cs typeface="Courier New" pitchFamily="49" charset="0"/>
                        </a:rPr>
                        <a:t>T</a:t>
                      </a:r>
                      <a:r>
                        <a:rPr lang="en-US" sz="1400" kern="100" baseline="-25000" dirty="0" err="1">
                          <a:effectLst/>
                          <a:latin typeface="Courier New" pitchFamily="49" charset="0"/>
                          <a:ea typeface="华文细黑" pitchFamily="2" charset="-122"/>
                          <a:cs typeface="Courier New" pitchFamily="49" charset="0"/>
                        </a:rPr>
                        <a:t>s</a:t>
                      </a:r>
                      <a:r>
                        <a:rPr lang="zh-CN" sz="1400" kern="100" dirty="0">
                          <a:effectLst/>
                          <a:latin typeface="Courier New" pitchFamily="49" charset="0"/>
                          <a:ea typeface="华文细黑" pitchFamily="2" charset="-122"/>
                          <a:cs typeface="Courier New" pitchFamily="49" charset="0"/>
                        </a:rPr>
                        <a:t>，使</a:t>
                      </a:r>
                      <a:r>
                        <a:rPr lang="en-US" sz="1400" kern="100" dirty="0" err="1">
                          <a:effectLst/>
                          <a:latin typeface="Courier New" pitchFamily="49" charset="0"/>
                          <a:ea typeface="华文细黑" pitchFamily="2" charset="-122"/>
                          <a:cs typeface="Courier New" pitchFamily="49" charset="0"/>
                        </a:rPr>
                        <a:t>T</a:t>
                      </a:r>
                      <a:r>
                        <a:rPr lang="en-US" sz="1400" kern="100" baseline="-25000" dirty="0" err="1">
                          <a:effectLst/>
                          <a:latin typeface="Courier New" pitchFamily="49" charset="0"/>
                          <a:ea typeface="华文细黑" pitchFamily="2" charset="-122"/>
                          <a:cs typeface="Courier New" pitchFamily="49" charset="0"/>
                        </a:rPr>
                        <a:t>s</a:t>
                      </a:r>
                      <a:r>
                        <a:rPr lang="zh-CN" sz="1400" kern="100" dirty="0">
                          <a:effectLst/>
                          <a:latin typeface="Courier New" pitchFamily="49" charset="0"/>
                          <a:ea typeface="华文细黑" pitchFamily="2" charset="-122"/>
                          <a:cs typeface="Courier New" pitchFamily="49" charset="0"/>
                        </a:rPr>
                        <a:t>变成为叶结点</a:t>
                      </a:r>
                      <a:r>
                        <a:rPr lang="en-US" sz="1400" kern="100" dirty="0">
                          <a:effectLst/>
                          <a:latin typeface="Courier New" pitchFamily="49" charset="0"/>
                          <a:ea typeface="华文细黑" pitchFamily="2" charset="-122"/>
                          <a:cs typeface="Courier New" pitchFamily="49" charset="0"/>
                        </a:rPr>
                        <a:t>N</a:t>
                      </a:r>
                      <a:r>
                        <a:rPr lang="zh-CN" sz="1400" kern="100" dirty="0">
                          <a:effectLst/>
                          <a:latin typeface="Courier New" pitchFamily="49" charset="0"/>
                          <a:ea typeface="华文细黑" pitchFamily="2" charset="-122"/>
                          <a:cs typeface="Courier New" pitchFamily="49" charset="0"/>
                        </a:rPr>
                        <a:t>，得到一棵新树</a:t>
                      </a:r>
                      <a:r>
                        <a:rPr lang="en-US" sz="1400" kern="100" dirty="0">
                          <a:effectLst/>
                          <a:latin typeface="Courier New" pitchFamily="49" charset="0"/>
                          <a:ea typeface="华文细黑" pitchFamily="2" charset="-122"/>
                          <a:cs typeface="Courier New" pitchFamily="49" charset="0"/>
                        </a:rPr>
                        <a:t>T’</a:t>
                      </a:r>
                      <a:r>
                        <a:rPr lang="zh-CN" sz="1400" kern="100" dirty="0">
                          <a:effectLst/>
                          <a:latin typeface="Courier New" pitchFamily="49" charset="0"/>
                          <a:ea typeface="华文细黑" pitchFamily="2" charset="-122"/>
                          <a:cs typeface="Courier New" pitchFamily="49" charset="0"/>
                        </a:rPr>
                        <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algn="just">
                        <a:lnSpc>
                          <a:spcPct val="150000"/>
                        </a:lnSpc>
                        <a:spcAft>
                          <a:spcPts val="0"/>
                        </a:spcAft>
                      </a:pPr>
                      <a:r>
                        <a:rPr lang="en-US" altLang="zh-CN" sz="1400" kern="100" dirty="0">
                          <a:effectLst/>
                          <a:latin typeface="Courier New" pitchFamily="49" charset="0"/>
                          <a:ea typeface="华文细黑" pitchFamily="2" charset="-122"/>
                          <a:cs typeface="Courier New" pitchFamily="49" charset="0"/>
                        </a:rPr>
                        <a:t>3:</a:t>
                      </a:r>
                      <a:endParaRPr lang="zh-CN" sz="1400" kern="100" dirty="0">
                        <a:effectLst/>
                        <a:latin typeface="Courier New" pitchFamily="49" charset="0"/>
                        <a:ea typeface="华文细黑" pitchFamily="2" charset="-122"/>
                        <a:cs typeface="Courier New"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just">
                        <a:lnSpc>
                          <a:spcPct val="150000"/>
                        </a:lnSpc>
                        <a:spcAft>
                          <a:spcPts val="0"/>
                        </a:spcAft>
                      </a:pPr>
                      <a:r>
                        <a:rPr lang="en-US" sz="1400" kern="100" dirty="0">
                          <a:effectLst/>
                          <a:latin typeface="Courier New" pitchFamily="49" charset="0"/>
                          <a:ea typeface="华文细黑" pitchFamily="2" charset="-122"/>
                          <a:cs typeface="Courier New" pitchFamily="49" charset="0"/>
                        </a:rPr>
                        <a:t>  </a:t>
                      </a:r>
                      <a:r>
                        <a:rPr lang="zh-CN" sz="1400" kern="100" dirty="0">
                          <a:effectLst/>
                          <a:latin typeface="Courier New" pitchFamily="49" charset="0"/>
                          <a:ea typeface="华文细黑" pitchFamily="2" charset="-122"/>
                          <a:cs typeface="Courier New" pitchFamily="49" charset="0"/>
                        </a:rPr>
                        <a:t>利用测试集测试</a:t>
                      </a:r>
                      <a:r>
                        <a:rPr lang="en-US" sz="1400" kern="100" dirty="0">
                          <a:effectLst/>
                          <a:latin typeface="Courier New" pitchFamily="49" charset="0"/>
                          <a:ea typeface="华文细黑" pitchFamily="2" charset="-122"/>
                          <a:cs typeface="Courier New" pitchFamily="49" charset="0"/>
                        </a:rPr>
                        <a:t>T’</a:t>
                      </a:r>
                      <a:r>
                        <a:rPr lang="zh-CN" sz="1400" kern="100" dirty="0">
                          <a:effectLst/>
                          <a:latin typeface="Courier New" pitchFamily="49" charset="0"/>
                          <a:ea typeface="华文细黑" pitchFamily="2" charset="-122"/>
                          <a:cs typeface="Courier New" pitchFamily="49" charset="0"/>
                        </a:rPr>
                        <a:t>，计算分类误差；</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algn="just">
                        <a:lnSpc>
                          <a:spcPct val="150000"/>
                        </a:lnSpc>
                        <a:spcAft>
                          <a:spcPts val="0"/>
                        </a:spcAft>
                      </a:pPr>
                      <a:r>
                        <a:rPr lang="en-US" altLang="zh-CN" sz="1400" kern="100" dirty="0">
                          <a:effectLst/>
                          <a:latin typeface="Courier New" pitchFamily="49" charset="0"/>
                          <a:ea typeface="华文细黑" pitchFamily="2" charset="-122"/>
                          <a:cs typeface="Courier New" pitchFamily="49" charset="0"/>
                        </a:rPr>
                        <a:t>4:</a:t>
                      </a:r>
                      <a:endParaRPr lang="zh-CN" sz="1400" kern="100" dirty="0">
                        <a:effectLst/>
                        <a:latin typeface="Courier New" pitchFamily="49" charset="0"/>
                        <a:ea typeface="华文细黑" pitchFamily="2" charset="-122"/>
                        <a:cs typeface="Courier New"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just">
                        <a:lnSpc>
                          <a:spcPct val="150000"/>
                        </a:lnSpc>
                        <a:spcAft>
                          <a:spcPts val="0"/>
                        </a:spcAft>
                      </a:pPr>
                      <a:r>
                        <a:rPr lang="en-US" sz="1400" kern="100" dirty="0">
                          <a:effectLst/>
                          <a:latin typeface="Courier New" pitchFamily="49" charset="0"/>
                          <a:ea typeface="华文细黑" pitchFamily="2" charset="-122"/>
                          <a:cs typeface="Courier New" pitchFamily="49" charset="0"/>
                        </a:rPr>
                        <a:t>  if T’</a:t>
                      </a:r>
                      <a:r>
                        <a:rPr lang="zh-CN" sz="1400" kern="100" dirty="0">
                          <a:effectLst/>
                          <a:latin typeface="Courier New" pitchFamily="49" charset="0"/>
                          <a:ea typeface="华文细黑" pitchFamily="2" charset="-122"/>
                          <a:cs typeface="Courier New" pitchFamily="49" charset="0"/>
                        </a:rPr>
                        <a:t>的分类误差较</a:t>
                      </a:r>
                      <a:r>
                        <a:rPr lang="en-US" sz="1400" kern="100" dirty="0">
                          <a:effectLst/>
                          <a:latin typeface="Courier New" pitchFamily="49" charset="0"/>
                          <a:ea typeface="华文细黑" pitchFamily="2" charset="-122"/>
                          <a:cs typeface="Courier New" pitchFamily="49" charset="0"/>
                        </a:rPr>
                        <a:t>T</a:t>
                      </a:r>
                      <a:r>
                        <a:rPr lang="zh-CN" sz="1400" kern="100" dirty="0">
                          <a:effectLst/>
                          <a:latin typeface="Courier New" pitchFamily="49" charset="0"/>
                          <a:ea typeface="华文细黑" pitchFamily="2" charset="-122"/>
                          <a:cs typeface="Courier New" pitchFamily="49" charset="0"/>
                        </a:rPr>
                        <a:t>的分类误差有所下降</a:t>
                      </a:r>
                      <a:r>
                        <a:rPr lang="en-US" sz="1400" kern="100" dirty="0">
                          <a:effectLst/>
                          <a:latin typeface="Courier New" pitchFamily="49" charset="0"/>
                          <a:ea typeface="华文细黑" pitchFamily="2" charset="-122"/>
                          <a:cs typeface="Courier New" pitchFamily="49" charset="0"/>
                        </a:rPr>
                        <a:t> then</a:t>
                      </a:r>
                      <a:endParaRPr lang="zh-CN" sz="1400" kern="100" dirty="0">
                        <a:effectLst/>
                        <a:latin typeface="Courier New" pitchFamily="49" charset="0"/>
                        <a:ea typeface="华文细黑" pitchFamily="2" charset="-122"/>
                        <a:cs typeface="Courier New"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algn="just">
                        <a:lnSpc>
                          <a:spcPct val="150000"/>
                        </a:lnSpc>
                        <a:spcAft>
                          <a:spcPts val="0"/>
                        </a:spcAft>
                      </a:pPr>
                      <a:r>
                        <a:rPr lang="en-US" sz="1400" kern="100" dirty="0">
                          <a:effectLst/>
                          <a:latin typeface="Courier New" pitchFamily="49" charset="0"/>
                          <a:ea typeface="华文细黑" pitchFamily="2" charset="-122"/>
                          <a:cs typeface="Courier New" pitchFamily="49" charset="0"/>
                        </a:rPr>
                        <a:t>5</a:t>
                      </a:r>
                      <a:r>
                        <a:rPr lang="en-US" altLang="zh-CN" sz="1400" kern="100" dirty="0">
                          <a:effectLst/>
                          <a:latin typeface="Courier New" pitchFamily="49" charset="0"/>
                          <a:ea typeface="华文细黑" pitchFamily="2" charset="-122"/>
                          <a:cs typeface="Courier New" pitchFamily="49" charset="0"/>
                        </a:rPr>
                        <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just">
                        <a:lnSpc>
                          <a:spcPct val="150000"/>
                        </a:lnSpc>
                        <a:spcAft>
                          <a:spcPts val="0"/>
                        </a:spcAft>
                      </a:pPr>
                      <a:r>
                        <a:rPr lang="en-US" sz="1400" kern="100" dirty="0">
                          <a:effectLst/>
                          <a:latin typeface="Courier New" pitchFamily="49" charset="0"/>
                          <a:ea typeface="华文细黑" pitchFamily="2" charset="-122"/>
                          <a:cs typeface="Courier New" pitchFamily="49" charset="0"/>
                        </a:rPr>
                        <a:t>    T=T’    // </a:t>
                      </a:r>
                      <a:r>
                        <a:rPr lang="zh-CN" sz="1400" kern="100" dirty="0">
                          <a:effectLst/>
                          <a:latin typeface="Courier New" pitchFamily="49" charset="0"/>
                          <a:ea typeface="华文细黑" pitchFamily="2" charset="-122"/>
                          <a:cs typeface="Courier New" pitchFamily="49" charset="0"/>
                        </a:rPr>
                        <a:t>即删除子树</a:t>
                      </a:r>
                      <a:r>
                        <a:rPr lang="en-US" sz="1400" kern="100" dirty="0" err="1">
                          <a:effectLst/>
                          <a:latin typeface="Courier New" pitchFamily="49" charset="0"/>
                          <a:ea typeface="华文细黑" pitchFamily="2" charset="-122"/>
                          <a:cs typeface="Courier New" pitchFamily="49" charset="0"/>
                        </a:rPr>
                        <a:t>T</a:t>
                      </a:r>
                      <a:r>
                        <a:rPr lang="en-US" sz="1400" kern="100" baseline="-25000" dirty="0" err="1">
                          <a:effectLst/>
                          <a:latin typeface="Courier New" pitchFamily="49" charset="0"/>
                          <a:ea typeface="华文细黑" pitchFamily="2" charset="-122"/>
                          <a:cs typeface="Courier New" pitchFamily="49" charset="0"/>
                        </a:rPr>
                        <a:t>s</a:t>
                      </a:r>
                      <a:r>
                        <a:rPr lang="zh-CN" sz="1400" kern="100" dirty="0">
                          <a:effectLst/>
                          <a:latin typeface="Courier New" pitchFamily="49" charset="0"/>
                          <a:ea typeface="华文细黑" pitchFamily="2" charset="-122"/>
                          <a:cs typeface="Courier New" pitchFamily="49" charset="0"/>
                        </a:rPr>
                        <a:t>，用叶结点</a:t>
                      </a:r>
                      <a:r>
                        <a:rPr lang="en-US" sz="1400" kern="100" dirty="0">
                          <a:effectLst/>
                          <a:latin typeface="Courier New" pitchFamily="49" charset="0"/>
                          <a:ea typeface="华文细黑" pitchFamily="2" charset="-122"/>
                          <a:cs typeface="Courier New" pitchFamily="49" charset="0"/>
                        </a:rPr>
                        <a:t>N</a:t>
                      </a:r>
                      <a:r>
                        <a:rPr lang="zh-CN" sz="1400" kern="100" dirty="0">
                          <a:effectLst/>
                          <a:latin typeface="Courier New" pitchFamily="49" charset="0"/>
                          <a:ea typeface="华文细黑" pitchFamily="2" charset="-122"/>
                          <a:cs typeface="Courier New" pitchFamily="49" charset="0"/>
                        </a:rPr>
                        <a:t>代替</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5"/>
                  </a:ext>
                </a:extLst>
              </a:tr>
              <a:tr h="329184">
                <a:tc>
                  <a:txBody>
                    <a:bodyPr/>
                    <a:lstStyle/>
                    <a:p>
                      <a:pPr algn="just">
                        <a:lnSpc>
                          <a:spcPct val="150000"/>
                        </a:lnSpc>
                        <a:spcAft>
                          <a:spcPts val="0"/>
                        </a:spcAft>
                      </a:pPr>
                      <a:r>
                        <a:rPr lang="en-US" sz="1400" kern="100" dirty="0">
                          <a:effectLst/>
                          <a:latin typeface="Courier New" pitchFamily="49" charset="0"/>
                          <a:ea typeface="华文细黑" pitchFamily="2" charset="-122"/>
                          <a:cs typeface="Courier New" pitchFamily="49" charset="0"/>
                        </a:rPr>
                        <a:t>6</a:t>
                      </a:r>
                      <a:r>
                        <a:rPr lang="en-US" altLang="zh-CN" sz="1400" kern="100" dirty="0">
                          <a:effectLst/>
                          <a:latin typeface="Courier New" pitchFamily="49" charset="0"/>
                          <a:ea typeface="华文细黑" pitchFamily="2" charset="-122"/>
                          <a:cs typeface="Courier New" pitchFamily="49" charset="0"/>
                        </a:rPr>
                        <a:t>:</a:t>
                      </a:r>
                      <a:endParaRPr lang="zh-CN" sz="1400" kern="100" dirty="0">
                        <a:effectLst/>
                        <a:latin typeface="Courier New" pitchFamily="49" charset="0"/>
                        <a:ea typeface="华文细黑" pitchFamily="2" charset="-122"/>
                        <a:cs typeface="Courier New"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9685" indent="-19685" algn="just">
                        <a:lnSpc>
                          <a:spcPct val="150000"/>
                        </a:lnSpc>
                        <a:spcAft>
                          <a:spcPts val="0"/>
                        </a:spcAft>
                      </a:pPr>
                      <a:r>
                        <a:rPr lang="en-US" sz="1400" kern="100" dirty="0">
                          <a:effectLst/>
                          <a:latin typeface="Courier New" pitchFamily="49" charset="0"/>
                          <a:ea typeface="华文细黑" pitchFamily="2" charset="-122"/>
                          <a:cs typeface="Courier New" pitchFamily="49" charset="0"/>
                        </a:rPr>
                        <a:t>until </a:t>
                      </a:r>
                      <a:r>
                        <a:rPr lang="zh-CN" sz="1400" kern="100" dirty="0">
                          <a:effectLst/>
                          <a:latin typeface="Courier New" pitchFamily="49" charset="0"/>
                          <a:ea typeface="华文细黑" pitchFamily="2" charset="-122"/>
                          <a:cs typeface="Courier New" pitchFamily="49" charset="0"/>
                        </a:rPr>
                        <a:t>任意一棵子树被叶结点替代而不增加其在测试集上的分类错误</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页脚占位符 3">
            <a:extLst>
              <a:ext uri="{FF2B5EF4-FFF2-40B4-BE49-F238E27FC236}">
                <a16:creationId xmlns:a16="http://schemas.microsoft.com/office/drawing/2014/main" id="{977383B1-1E54-44C8-90FB-8FED53463DA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A450C7B-0F6A-47CD-A9A7-37412555A4E9}"/>
              </a:ext>
            </a:extLst>
          </p:cNvPr>
          <p:cNvSpPr>
            <a:spLocks noGrp="1"/>
          </p:cNvSpPr>
          <p:nvPr>
            <p:ph type="sldNum" sz="quarter" idx="12"/>
          </p:nvPr>
        </p:nvSpPr>
        <p:spPr/>
        <p:txBody>
          <a:bodyPr/>
          <a:lstStyle/>
          <a:p>
            <a:fld id="{5AD84F5B-1672-4D3F-9FEC-5DF89A7B7912}" type="slidenum">
              <a:rPr lang="zh-CN" altLang="en-US" smtClean="0"/>
              <a:t>66</a:t>
            </a:fld>
            <a:endParaRPr lang="zh-CN" altLang="en-US"/>
          </a:p>
        </p:txBody>
      </p:sp>
    </p:spTree>
    <p:extLst>
      <p:ext uri="{BB962C8B-B14F-4D97-AF65-F5344CB8AC3E}">
        <p14:creationId xmlns:p14="http://schemas.microsoft.com/office/powerpoint/2010/main" val="22029937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减少错误剪枝</a:t>
            </a:r>
            <a:r>
              <a:rPr lang="en-US" altLang="zh-CN" dirty="0"/>
              <a:t>REP</a:t>
            </a:r>
            <a:endParaRPr lang="zh-CN" altLang="en-US" dirty="0"/>
          </a:p>
        </p:txBody>
      </p:sp>
      <p:sp>
        <p:nvSpPr>
          <p:cNvPr id="6" name="内容占位符 5"/>
          <p:cNvSpPr>
            <a:spLocks noGrp="1"/>
          </p:cNvSpPr>
          <p:nvPr>
            <p:ph idx="1"/>
          </p:nvPr>
        </p:nvSpPr>
        <p:spPr/>
        <p:txBody>
          <a:bodyPr/>
          <a:lstStyle/>
          <a:p>
            <a:pPr marL="0" indent="0">
              <a:buNone/>
            </a:pPr>
            <a:r>
              <a:rPr lang="en-US" altLang="zh-CN" dirty="0"/>
              <a:t>【</a:t>
            </a:r>
            <a:r>
              <a:rPr lang="zh-CN" altLang="en-US" dirty="0"/>
              <a:t>例</a:t>
            </a:r>
            <a:r>
              <a:rPr lang="en-US" altLang="zh-CN" dirty="0"/>
              <a:t>】</a:t>
            </a:r>
            <a:endParaRPr lang="zh-CN" altLang="zh-CN" dirty="0"/>
          </a:p>
        </p:txBody>
      </p:sp>
      <p:pic>
        <p:nvPicPr>
          <p:cNvPr id="65538" name="Picture 2"/>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6006"/>
          <a:stretch/>
        </p:blipFill>
        <p:spPr bwMode="auto">
          <a:xfrm>
            <a:off x="1475656" y="2236762"/>
            <a:ext cx="6072564" cy="3654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页脚占位符 2">
            <a:extLst>
              <a:ext uri="{FF2B5EF4-FFF2-40B4-BE49-F238E27FC236}">
                <a16:creationId xmlns:a16="http://schemas.microsoft.com/office/drawing/2014/main" id="{C80FA526-19C6-410B-999B-8246DF6EFE3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F2894EC-0F80-4B4C-923F-34CDCC9DC60C}"/>
              </a:ext>
            </a:extLst>
          </p:cNvPr>
          <p:cNvSpPr>
            <a:spLocks noGrp="1"/>
          </p:cNvSpPr>
          <p:nvPr>
            <p:ph type="sldNum" sz="quarter" idx="12"/>
          </p:nvPr>
        </p:nvSpPr>
        <p:spPr/>
        <p:txBody>
          <a:bodyPr/>
          <a:lstStyle/>
          <a:p>
            <a:fld id="{5AD84F5B-1672-4D3F-9FEC-5DF89A7B7912}" type="slidenum">
              <a:rPr lang="zh-CN" altLang="en-US" smtClean="0"/>
              <a:t>67</a:t>
            </a:fld>
            <a:endParaRPr lang="zh-CN" altLang="en-US"/>
          </a:p>
        </p:txBody>
      </p:sp>
    </p:spTree>
    <p:extLst>
      <p:ext uri="{BB962C8B-B14F-4D97-AF65-F5344CB8AC3E}">
        <p14:creationId xmlns:p14="http://schemas.microsoft.com/office/powerpoint/2010/main" val="256985875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减少错误剪枝</a:t>
            </a:r>
            <a:r>
              <a:rPr lang="en-US" altLang="zh-CN" dirty="0"/>
              <a:t>REP</a:t>
            </a:r>
            <a:endParaRPr lang="zh-CN" altLang="en-US" dirty="0"/>
          </a:p>
        </p:txBody>
      </p:sp>
      <p:sp>
        <p:nvSpPr>
          <p:cNvPr id="6" name="内容占位符 5"/>
          <p:cNvSpPr>
            <a:spLocks noGrp="1"/>
          </p:cNvSpPr>
          <p:nvPr>
            <p:ph idx="1"/>
          </p:nvPr>
        </p:nvSpPr>
        <p:spPr/>
        <p:txBody>
          <a:bodyPr/>
          <a:lstStyle/>
          <a:p>
            <a:pPr marL="0" indent="0">
              <a:buNone/>
            </a:pPr>
            <a:r>
              <a:rPr lang="en-US" altLang="zh-CN" dirty="0"/>
              <a:t>【</a:t>
            </a:r>
            <a:r>
              <a:rPr lang="zh-CN" altLang="en-US" dirty="0"/>
              <a:t>例</a:t>
            </a:r>
            <a:r>
              <a:rPr lang="en-US" altLang="zh-CN" dirty="0"/>
              <a:t>】WEKA</a:t>
            </a:r>
            <a:endParaRPr lang="zh-CN" altLang="zh-CN" dirty="0"/>
          </a:p>
        </p:txBody>
      </p:sp>
      <p:sp>
        <p:nvSpPr>
          <p:cNvPr id="3" name="矩形 2"/>
          <p:cNvSpPr/>
          <p:nvPr/>
        </p:nvSpPr>
        <p:spPr>
          <a:xfrm>
            <a:off x="3059834" y="4725144"/>
            <a:ext cx="954107" cy="400110"/>
          </a:xfrm>
          <a:prstGeom prst="rect">
            <a:avLst/>
          </a:prstGeom>
        </p:spPr>
        <p:txBody>
          <a:bodyPr wrap="none">
            <a:spAutoFit/>
          </a:bodyPr>
          <a:lstStyle/>
          <a:p>
            <a:r>
              <a:rPr lang="zh-CN" altLang="zh-CN" sz="2000" dirty="0">
                <a:solidFill>
                  <a:srgbClr val="FF0000"/>
                </a:solidFill>
                <a:latin typeface="华文细黑" pitchFamily="2" charset="-122"/>
                <a:ea typeface="华文细黑" pitchFamily="2" charset="-122"/>
              </a:rPr>
              <a:t>未剪枝</a:t>
            </a:r>
            <a:endParaRPr lang="zh-CN" altLang="en-US" sz="2000" dirty="0">
              <a:solidFill>
                <a:srgbClr val="FF0000"/>
              </a:solidFill>
              <a:latin typeface="华文细黑" pitchFamily="2" charset="-122"/>
              <a:ea typeface="华文细黑" pitchFamily="2" charset="-122"/>
            </a:endParaRPr>
          </a:p>
        </p:txBody>
      </p:sp>
      <p:sp>
        <p:nvSpPr>
          <p:cNvPr id="9" name="矩形 8"/>
          <p:cNvSpPr/>
          <p:nvPr/>
        </p:nvSpPr>
        <p:spPr>
          <a:xfrm>
            <a:off x="7127375" y="5105624"/>
            <a:ext cx="1912703" cy="400110"/>
          </a:xfrm>
          <a:prstGeom prst="rect">
            <a:avLst/>
          </a:prstGeom>
        </p:spPr>
        <p:txBody>
          <a:bodyPr wrap="none">
            <a:spAutoFit/>
          </a:bodyPr>
          <a:lstStyle/>
          <a:p>
            <a:r>
              <a:rPr lang="zh-CN" altLang="zh-CN" sz="2000" dirty="0">
                <a:solidFill>
                  <a:srgbClr val="FF0000"/>
                </a:solidFill>
                <a:latin typeface="华文细黑" pitchFamily="2" charset="-122"/>
                <a:ea typeface="华文细黑" pitchFamily="2" charset="-122"/>
              </a:rPr>
              <a:t>进行了</a:t>
            </a:r>
            <a:r>
              <a:rPr lang="en-US" altLang="zh-CN" sz="2000" dirty="0">
                <a:solidFill>
                  <a:srgbClr val="FF0000"/>
                </a:solidFill>
                <a:latin typeface="华文细黑" pitchFamily="2" charset="-122"/>
                <a:ea typeface="华文细黑" pitchFamily="2" charset="-122"/>
              </a:rPr>
              <a:t>REP</a:t>
            </a:r>
            <a:r>
              <a:rPr lang="zh-CN" altLang="zh-CN" sz="2000" dirty="0">
                <a:solidFill>
                  <a:srgbClr val="FF0000"/>
                </a:solidFill>
                <a:latin typeface="华文细黑" pitchFamily="2" charset="-122"/>
                <a:ea typeface="华文细黑" pitchFamily="2" charset="-122"/>
              </a:rPr>
              <a:t>剪枝</a:t>
            </a:r>
            <a:endParaRPr lang="zh-CN" altLang="en-US" sz="2000" dirty="0">
              <a:solidFill>
                <a:srgbClr val="FF0000"/>
              </a:solidFill>
              <a:latin typeface="华文细黑" pitchFamily="2" charset="-122"/>
              <a:ea typeface="华文细黑" pitchFamily="2" charset="-122"/>
            </a:endParaRPr>
          </a:p>
        </p:txBody>
      </p:sp>
      <p:pic>
        <p:nvPicPr>
          <p:cNvPr id="70658" name="Picture 2"/>
          <p:cNvPicPr>
            <a:picLocks noChangeAspect="1" noChangeArrowheads="1"/>
          </p:cNvPicPr>
          <p:nvPr/>
        </p:nvPicPr>
        <p:blipFill>
          <a:blip r:embed="rId2">
            <a:clrChange>
              <a:clrFrom>
                <a:srgbClr val="D6D9DF"/>
              </a:clrFrom>
              <a:clrTo>
                <a:srgbClr val="D6D9DF">
                  <a:alpha val="0"/>
                </a:srgbClr>
              </a:clrTo>
            </a:clrChange>
            <a:extLst>
              <a:ext uri="{28A0092B-C50C-407E-A947-70E740481C1C}">
                <a14:useLocalDpi xmlns:a14="http://schemas.microsoft.com/office/drawing/2010/main" val="0"/>
              </a:ext>
            </a:extLst>
          </a:blip>
          <a:srcRect/>
          <a:stretch>
            <a:fillRect/>
          </a:stretch>
        </p:blipFill>
        <p:spPr bwMode="auto">
          <a:xfrm>
            <a:off x="5317078" y="3234579"/>
            <a:ext cx="3791426" cy="27661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0661" name="Picture 5"/>
          <p:cNvPicPr>
            <a:picLocks noChangeAspect="1" noChangeArrowheads="1"/>
          </p:cNvPicPr>
          <p:nvPr/>
        </p:nvPicPr>
        <p:blipFill>
          <a:blip r:embed="rId3">
            <a:clrChange>
              <a:clrFrom>
                <a:srgbClr val="D6D9DF"/>
              </a:clrFrom>
              <a:clrTo>
                <a:srgbClr val="D6D9DF">
                  <a:alpha val="0"/>
                </a:srgbClr>
              </a:clrTo>
            </a:clrChange>
            <a:extLst>
              <a:ext uri="{28A0092B-C50C-407E-A947-70E740481C1C}">
                <a14:useLocalDpi xmlns:a14="http://schemas.microsoft.com/office/drawing/2010/main" val="0"/>
              </a:ext>
            </a:extLst>
          </a:blip>
          <a:srcRect/>
          <a:stretch>
            <a:fillRect/>
          </a:stretch>
        </p:blipFill>
        <p:spPr bwMode="auto">
          <a:xfrm>
            <a:off x="267840" y="1616971"/>
            <a:ext cx="6244564" cy="42098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椭圆 3"/>
          <p:cNvSpPr/>
          <p:nvPr/>
        </p:nvSpPr>
        <p:spPr>
          <a:xfrm>
            <a:off x="183588" y="3507691"/>
            <a:ext cx="3619370" cy="2405446"/>
          </a:xfrm>
          <a:custGeom>
            <a:avLst/>
            <a:gdLst>
              <a:gd name="connsiteX0" fmla="*/ 0 w 3024336"/>
              <a:gd name="connsiteY0" fmla="*/ 1440160 h 2880320"/>
              <a:gd name="connsiteX1" fmla="*/ 1512168 w 3024336"/>
              <a:gd name="connsiteY1" fmla="*/ 0 h 2880320"/>
              <a:gd name="connsiteX2" fmla="*/ 3024336 w 3024336"/>
              <a:gd name="connsiteY2" fmla="*/ 1440160 h 2880320"/>
              <a:gd name="connsiteX3" fmla="*/ 1512168 w 3024336"/>
              <a:gd name="connsiteY3" fmla="*/ 2880320 h 2880320"/>
              <a:gd name="connsiteX4" fmla="*/ 0 w 3024336"/>
              <a:gd name="connsiteY4" fmla="*/ 1440160 h 2880320"/>
              <a:gd name="connsiteX0" fmla="*/ 5523 w 3029859"/>
              <a:gd name="connsiteY0" fmla="*/ 1392659 h 2832819"/>
              <a:gd name="connsiteX1" fmla="*/ 1173306 w 3029859"/>
              <a:gd name="connsiteY1" fmla="*/ 0 h 2832819"/>
              <a:gd name="connsiteX2" fmla="*/ 3029859 w 3029859"/>
              <a:gd name="connsiteY2" fmla="*/ 1392659 h 2832819"/>
              <a:gd name="connsiteX3" fmla="*/ 1517691 w 3029859"/>
              <a:gd name="connsiteY3" fmla="*/ 2832819 h 2832819"/>
              <a:gd name="connsiteX4" fmla="*/ 5523 w 3029859"/>
              <a:gd name="connsiteY4" fmla="*/ 1392659 h 2832819"/>
              <a:gd name="connsiteX0" fmla="*/ 2794 w 3169634"/>
              <a:gd name="connsiteY0" fmla="*/ 1416429 h 2832850"/>
              <a:gd name="connsiteX1" fmla="*/ 1313081 w 3169634"/>
              <a:gd name="connsiteY1" fmla="*/ 19 h 2832850"/>
              <a:gd name="connsiteX2" fmla="*/ 3169634 w 3169634"/>
              <a:gd name="connsiteY2" fmla="*/ 1392678 h 2832850"/>
              <a:gd name="connsiteX3" fmla="*/ 1657466 w 3169634"/>
              <a:gd name="connsiteY3" fmla="*/ 2832838 h 2832850"/>
              <a:gd name="connsiteX4" fmla="*/ 2794 w 3169634"/>
              <a:gd name="connsiteY4" fmla="*/ 1416429 h 2832850"/>
              <a:gd name="connsiteX0" fmla="*/ 3108 w 3716213"/>
              <a:gd name="connsiteY0" fmla="*/ 1435388 h 3043643"/>
              <a:gd name="connsiteX1" fmla="*/ 1313395 w 3716213"/>
              <a:gd name="connsiteY1" fmla="*/ 18978 h 3043643"/>
              <a:gd name="connsiteX2" fmla="*/ 3716213 w 3716213"/>
              <a:gd name="connsiteY2" fmla="*/ 2504167 h 3043643"/>
              <a:gd name="connsiteX3" fmla="*/ 1657780 w 3716213"/>
              <a:gd name="connsiteY3" fmla="*/ 2851797 h 3043643"/>
              <a:gd name="connsiteX4" fmla="*/ 3108 w 3716213"/>
              <a:gd name="connsiteY4" fmla="*/ 1435388 h 3043643"/>
              <a:gd name="connsiteX0" fmla="*/ 999 w 3714104"/>
              <a:gd name="connsiteY0" fmla="*/ 1435161 h 2996497"/>
              <a:gd name="connsiteX1" fmla="*/ 1311286 w 3714104"/>
              <a:gd name="connsiteY1" fmla="*/ 18751 h 2996497"/>
              <a:gd name="connsiteX2" fmla="*/ 3714104 w 3714104"/>
              <a:gd name="connsiteY2" fmla="*/ 2503940 h 2996497"/>
              <a:gd name="connsiteX3" fmla="*/ 1145032 w 3714104"/>
              <a:gd name="connsiteY3" fmla="*/ 2756568 h 2996497"/>
              <a:gd name="connsiteX4" fmla="*/ 999 w 3714104"/>
              <a:gd name="connsiteY4" fmla="*/ 1435161 h 2996497"/>
              <a:gd name="connsiteX0" fmla="*/ 3203 w 3716308"/>
              <a:gd name="connsiteY0" fmla="*/ 1364824 h 2926160"/>
              <a:gd name="connsiteX1" fmla="*/ 1455994 w 3716308"/>
              <a:gd name="connsiteY1" fmla="*/ 19666 h 2926160"/>
              <a:gd name="connsiteX2" fmla="*/ 3716308 w 3716308"/>
              <a:gd name="connsiteY2" fmla="*/ 2433603 h 2926160"/>
              <a:gd name="connsiteX3" fmla="*/ 1147236 w 3716308"/>
              <a:gd name="connsiteY3" fmla="*/ 2686231 h 2926160"/>
              <a:gd name="connsiteX4" fmla="*/ 3203 w 3716308"/>
              <a:gd name="connsiteY4" fmla="*/ 1364824 h 2926160"/>
              <a:gd name="connsiteX0" fmla="*/ 3136 w 3633114"/>
              <a:gd name="connsiteY0" fmla="*/ 1366764 h 2964744"/>
              <a:gd name="connsiteX1" fmla="*/ 1455927 w 3633114"/>
              <a:gd name="connsiteY1" fmla="*/ 21606 h 2964744"/>
              <a:gd name="connsiteX2" fmla="*/ 3633114 w 3633114"/>
              <a:gd name="connsiteY2" fmla="*/ 2494920 h 2964744"/>
              <a:gd name="connsiteX3" fmla="*/ 1147169 w 3633114"/>
              <a:gd name="connsiteY3" fmla="*/ 2688171 h 2964744"/>
              <a:gd name="connsiteX4" fmla="*/ 3136 w 3633114"/>
              <a:gd name="connsiteY4" fmla="*/ 1366764 h 2964744"/>
              <a:gd name="connsiteX0" fmla="*/ 2409 w 3648114"/>
              <a:gd name="connsiteY0" fmla="*/ 1366764 h 2828586"/>
              <a:gd name="connsiteX1" fmla="*/ 1455200 w 3648114"/>
              <a:gd name="connsiteY1" fmla="*/ 21606 h 2828586"/>
              <a:gd name="connsiteX2" fmla="*/ 3632387 w 3648114"/>
              <a:gd name="connsiteY2" fmla="*/ 2494920 h 2828586"/>
              <a:gd name="connsiteX3" fmla="*/ 2459976 w 3648114"/>
              <a:gd name="connsiteY3" fmla="*/ 2768503 h 2828586"/>
              <a:gd name="connsiteX4" fmla="*/ 1146442 w 3648114"/>
              <a:gd name="connsiteY4" fmla="*/ 2688171 h 2828586"/>
              <a:gd name="connsiteX5" fmla="*/ 2409 w 3648114"/>
              <a:gd name="connsiteY5" fmla="*/ 1366764 h 2828586"/>
              <a:gd name="connsiteX0" fmla="*/ 7944 w 3653649"/>
              <a:gd name="connsiteY0" fmla="*/ 1366631 h 2805230"/>
              <a:gd name="connsiteX1" fmla="*/ 1460735 w 3653649"/>
              <a:gd name="connsiteY1" fmla="*/ 21473 h 2805230"/>
              <a:gd name="connsiteX2" fmla="*/ 3637922 w 3653649"/>
              <a:gd name="connsiteY2" fmla="*/ 2494787 h 2805230"/>
              <a:gd name="connsiteX3" fmla="*/ 2465511 w 3653649"/>
              <a:gd name="connsiteY3" fmla="*/ 2768370 h 2805230"/>
              <a:gd name="connsiteX4" fmla="*/ 950096 w 3653649"/>
              <a:gd name="connsiteY4" fmla="*/ 2640537 h 2805230"/>
              <a:gd name="connsiteX5" fmla="*/ 7944 w 3653649"/>
              <a:gd name="connsiteY5" fmla="*/ 1366631 h 2805230"/>
              <a:gd name="connsiteX0" fmla="*/ 7944 w 3653649"/>
              <a:gd name="connsiteY0" fmla="*/ 1232284 h 2821513"/>
              <a:gd name="connsiteX1" fmla="*/ 1460735 w 3653649"/>
              <a:gd name="connsiteY1" fmla="*/ 29630 h 2821513"/>
              <a:gd name="connsiteX2" fmla="*/ 3637922 w 3653649"/>
              <a:gd name="connsiteY2" fmla="*/ 2502944 h 2821513"/>
              <a:gd name="connsiteX3" fmla="*/ 2465511 w 3653649"/>
              <a:gd name="connsiteY3" fmla="*/ 2776527 h 2821513"/>
              <a:gd name="connsiteX4" fmla="*/ 950096 w 3653649"/>
              <a:gd name="connsiteY4" fmla="*/ 2648694 h 2821513"/>
              <a:gd name="connsiteX5" fmla="*/ 7944 w 3653649"/>
              <a:gd name="connsiteY5" fmla="*/ 1232284 h 2821513"/>
              <a:gd name="connsiteX0" fmla="*/ 7944 w 3525315"/>
              <a:gd name="connsiteY0" fmla="*/ 1225173 h 2814402"/>
              <a:gd name="connsiteX1" fmla="*/ 1460735 w 3525315"/>
              <a:gd name="connsiteY1" fmla="*/ 22519 h 2814402"/>
              <a:gd name="connsiteX2" fmla="*/ 3507294 w 3525315"/>
              <a:gd name="connsiteY2" fmla="*/ 2305828 h 2814402"/>
              <a:gd name="connsiteX3" fmla="*/ 2465511 w 3525315"/>
              <a:gd name="connsiteY3" fmla="*/ 2769416 h 2814402"/>
              <a:gd name="connsiteX4" fmla="*/ 950096 w 3525315"/>
              <a:gd name="connsiteY4" fmla="*/ 2641583 h 2814402"/>
              <a:gd name="connsiteX5" fmla="*/ 7944 w 3525315"/>
              <a:gd name="connsiteY5" fmla="*/ 1225173 h 2814402"/>
              <a:gd name="connsiteX0" fmla="*/ 8463 w 3533161"/>
              <a:gd name="connsiteY0" fmla="*/ 1225173 h 2771821"/>
              <a:gd name="connsiteX1" fmla="*/ 1461254 w 3533161"/>
              <a:gd name="connsiteY1" fmla="*/ 22519 h 2771821"/>
              <a:gd name="connsiteX2" fmla="*/ 3507813 w 3533161"/>
              <a:gd name="connsiteY2" fmla="*/ 2305828 h 2771821"/>
              <a:gd name="connsiteX3" fmla="*/ 2727287 w 3533161"/>
              <a:gd name="connsiteY3" fmla="*/ 2686289 h 2771821"/>
              <a:gd name="connsiteX4" fmla="*/ 950615 w 3533161"/>
              <a:gd name="connsiteY4" fmla="*/ 2641583 h 2771821"/>
              <a:gd name="connsiteX5" fmla="*/ 8463 w 3533161"/>
              <a:gd name="connsiteY5" fmla="*/ 1225173 h 2771821"/>
              <a:gd name="connsiteX0" fmla="*/ 16300 w 3540998"/>
              <a:gd name="connsiteY0" fmla="*/ 1224862 h 2685978"/>
              <a:gd name="connsiteX1" fmla="*/ 1469091 w 3540998"/>
              <a:gd name="connsiteY1" fmla="*/ 22208 h 2685978"/>
              <a:gd name="connsiteX2" fmla="*/ 3515650 w 3540998"/>
              <a:gd name="connsiteY2" fmla="*/ 2305517 h 2685978"/>
              <a:gd name="connsiteX3" fmla="*/ 2735124 w 3540998"/>
              <a:gd name="connsiteY3" fmla="*/ 2685978 h 2685978"/>
              <a:gd name="connsiteX4" fmla="*/ 815949 w 3540998"/>
              <a:gd name="connsiteY4" fmla="*/ 2546269 h 2685978"/>
              <a:gd name="connsiteX5" fmla="*/ 16300 w 3540998"/>
              <a:gd name="connsiteY5" fmla="*/ 1224862 h 2685978"/>
              <a:gd name="connsiteX0" fmla="*/ 23554 w 3548252"/>
              <a:gd name="connsiteY0" fmla="*/ 1224862 h 2685978"/>
              <a:gd name="connsiteX1" fmla="*/ 1476345 w 3548252"/>
              <a:gd name="connsiteY1" fmla="*/ 22208 h 2685978"/>
              <a:gd name="connsiteX2" fmla="*/ 3522904 w 3548252"/>
              <a:gd name="connsiteY2" fmla="*/ 2305517 h 2685978"/>
              <a:gd name="connsiteX3" fmla="*/ 2742378 w 3548252"/>
              <a:gd name="connsiteY3" fmla="*/ 2685978 h 2685978"/>
              <a:gd name="connsiteX4" fmla="*/ 823203 w 3548252"/>
              <a:gd name="connsiteY4" fmla="*/ 2546269 h 2685978"/>
              <a:gd name="connsiteX5" fmla="*/ 23554 w 3548252"/>
              <a:gd name="connsiteY5" fmla="*/ 1224862 h 2685978"/>
              <a:gd name="connsiteX0" fmla="*/ 23554 w 3560125"/>
              <a:gd name="connsiteY0" fmla="*/ 1224862 h 2716165"/>
              <a:gd name="connsiteX1" fmla="*/ 1476345 w 3560125"/>
              <a:gd name="connsiteY1" fmla="*/ 22208 h 2716165"/>
              <a:gd name="connsiteX2" fmla="*/ 3522904 w 3560125"/>
              <a:gd name="connsiteY2" fmla="*/ 2305517 h 2716165"/>
              <a:gd name="connsiteX3" fmla="*/ 2742378 w 3560125"/>
              <a:gd name="connsiteY3" fmla="*/ 2685978 h 2716165"/>
              <a:gd name="connsiteX4" fmla="*/ 823203 w 3560125"/>
              <a:gd name="connsiteY4" fmla="*/ 2546269 h 2716165"/>
              <a:gd name="connsiteX5" fmla="*/ 23554 w 3560125"/>
              <a:gd name="connsiteY5" fmla="*/ 1224862 h 2716165"/>
              <a:gd name="connsiteX0" fmla="*/ 2491 w 3526191"/>
              <a:gd name="connsiteY0" fmla="*/ 1225094 h 2701258"/>
              <a:gd name="connsiteX1" fmla="*/ 1455282 w 3526191"/>
              <a:gd name="connsiteY1" fmla="*/ 22440 h 2701258"/>
              <a:gd name="connsiteX2" fmla="*/ 3501841 w 3526191"/>
              <a:gd name="connsiteY2" fmla="*/ 2305749 h 2701258"/>
              <a:gd name="connsiteX3" fmla="*/ 2721315 w 3526191"/>
              <a:gd name="connsiteY3" fmla="*/ 2686210 h 2701258"/>
              <a:gd name="connsiteX4" fmla="*/ 1182150 w 3526191"/>
              <a:gd name="connsiteY4" fmla="*/ 2617753 h 2701258"/>
              <a:gd name="connsiteX5" fmla="*/ 2491 w 3526191"/>
              <a:gd name="connsiteY5" fmla="*/ 1225094 h 2701258"/>
              <a:gd name="connsiteX0" fmla="*/ 1836 w 3573037"/>
              <a:gd name="connsiteY0" fmla="*/ 1225094 h 2763708"/>
              <a:gd name="connsiteX1" fmla="*/ 1502128 w 3573037"/>
              <a:gd name="connsiteY1" fmla="*/ 22440 h 2763708"/>
              <a:gd name="connsiteX2" fmla="*/ 3548687 w 3573037"/>
              <a:gd name="connsiteY2" fmla="*/ 2305749 h 2763708"/>
              <a:gd name="connsiteX3" fmla="*/ 2768161 w 3573037"/>
              <a:gd name="connsiteY3" fmla="*/ 2686210 h 2763708"/>
              <a:gd name="connsiteX4" fmla="*/ 1228996 w 3573037"/>
              <a:gd name="connsiteY4" fmla="*/ 2617753 h 2763708"/>
              <a:gd name="connsiteX5" fmla="*/ 1836 w 3573037"/>
              <a:gd name="connsiteY5" fmla="*/ 1225094 h 2763708"/>
              <a:gd name="connsiteX0" fmla="*/ 47134 w 3618335"/>
              <a:gd name="connsiteY0" fmla="*/ 1223478 h 2712039"/>
              <a:gd name="connsiteX1" fmla="*/ 1547426 w 3618335"/>
              <a:gd name="connsiteY1" fmla="*/ 20824 h 2712039"/>
              <a:gd name="connsiteX2" fmla="*/ 3593985 w 3618335"/>
              <a:gd name="connsiteY2" fmla="*/ 2304133 h 2712039"/>
              <a:gd name="connsiteX3" fmla="*/ 2813459 w 3618335"/>
              <a:gd name="connsiteY3" fmla="*/ 2684594 h 2712039"/>
              <a:gd name="connsiteX4" fmla="*/ 1274294 w 3618335"/>
              <a:gd name="connsiteY4" fmla="*/ 2616137 h 2712039"/>
              <a:gd name="connsiteX5" fmla="*/ 457680 w 3618335"/>
              <a:gd name="connsiteY5" fmla="*/ 2090203 h 2712039"/>
              <a:gd name="connsiteX6" fmla="*/ 47134 w 3618335"/>
              <a:gd name="connsiteY6" fmla="*/ 1223478 h 2712039"/>
              <a:gd name="connsiteX0" fmla="*/ 47134 w 3613768"/>
              <a:gd name="connsiteY0" fmla="*/ 1223478 h 2703283"/>
              <a:gd name="connsiteX1" fmla="*/ 1547426 w 3613768"/>
              <a:gd name="connsiteY1" fmla="*/ 20824 h 2703283"/>
              <a:gd name="connsiteX2" fmla="*/ 3593985 w 3613768"/>
              <a:gd name="connsiteY2" fmla="*/ 2304133 h 2703283"/>
              <a:gd name="connsiteX3" fmla="*/ 2659080 w 3613768"/>
              <a:gd name="connsiteY3" fmla="*/ 2672718 h 2703283"/>
              <a:gd name="connsiteX4" fmla="*/ 1274294 w 3613768"/>
              <a:gd name="connsiteY4" fmla="*/ 2616137 h 2703283"/>
              <a:gd name="connsiteX5" fmla="*/ 457680 w 3613768"/>
              <a:gd name="connsiteY5" fmla="*/ 2090203 h 2703283"/>
              <a:gd name="connsiteX6" fmla="*/ 47134 w 3613768"/>
              <a:gd name="connsiteY6" fmla="*/ 1223478 h 2703283"/>
              <a:gd name="connsiteX0" fmla="*/ 47134 w 3619370"/>
              <a:gd name="connsiteY0" fmla="*/ 1223478 h 2672718"/>
              <a:gd name="connsiteX1" fmla="*/ 1547426 w 3619370"/>
              <a:gd name="connsiteY1" fmla="*/ 20824 h 2672718"/>
              <a:gd name="connsiteX2" fmla="*/ 3593985 w 3619370"/>
              <a:gd name="connsiteY2" fmla="*/ 2304133 h 2672718"/>
              <a:gd name="connsiteX3" fmla="*/ 2659080 w 3619370"/>
              <a:gd name="connsiteY3" fmla="*/ 2672718 h 2672718"/>
              <a:gd name="connsiteX4" fmla="*/ 1274294 w 3619370"/>
              <a:gd name="connsiteY4" fmla="*/ 2616137 h 2672718"/>
              <a:gd name="connsiteX5" fmla="*/ 457680 w 3619370"/>
              <a:gd name="connsiteY5" fmla="*/ 2090203 h 2672718"/>
              <a:gd name="connsiteX6" fmla="*/ 47134 w 3619370"/>
              <a:gd name="connsiteY6" fmla="*/ 1223478 h 267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370" h="2672718">
                <a:moveTo>
                  <a:pt x="47134" y="1223478"/>
                </a:moveTo>
                <a:cubicBezTo>
                  <a:pt x="228758" y="878582"/>
                  <a:pt x="956284" y="-159285"/>
                  <a:pt x="1547426" y="20824"/>
                </a:cubicBezTo>
                <a:cubicBezTo>
                  <a:pt x="2138568" y="200933"/>
                  <a:pt x="3448294" y="1818608"/>
                  <a:pt x="3593985" y="2304133"/>
                </a:cubicBezTo>
                <a:cubicBezTo>
                  <a:pt x="3739676" y="2789658"/>
                  <a:pt x="3235701" y="2644468"/>
                  <a:pt x="2659080" y="2672718"/>
                </a:cubicBezTo>
                <a:lnTo>
                  <a:pt x="1274294" y="2616137"/>
                </a:lnTo>
                <a:cubicBezTo>
                  <a:pt x="907394" y="2519051"/>
                  <a:pt x="662207" y="2322313"/>
                  <a:pt x="457680" y="2090203"/>
                </a:cubicBezTo>
                <a:cubicBezTo>
                  <a:pt x="253153" y="1858093"/>
                  <a:pt x="-134490" y="1568374"/>
                  <a:pt x="47134" y="1223478"/>
                </a:cubicBezTo>
                <a:close/>
              </a:path>
            </a:pathLst>
          </a:custGeom>
          <a:noFill/>
          <a:ln>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16" name="椭圆 3"/>
          <p:cNvSpPr/>
          <p:nvPr/>
        </p:nvSpPr>
        <p:spPr>
          <a:xfrm>
            <a:off x="5226884" y="5565909"/>
            <a:ext cx="1067443" cy="444676"/>
          </a:xfrm>
          <a:custGeom>
            <a:avLst/>
            <a:gdLst>
              <a:gd name="connsiteX0" fmla="*/ 0 w 3024336"/>
              <a:gd name="connsiteY0" fmla="*/ 1440160 h 2880320"/>
              <a:gd name="connsiteX1" fmla="*/ 1512168 w 3024336"/>
              <a:gd name="connsiteY1" fmla="*/ 0 h 2880320"/>
              <a:gd name="connsiteX2" fmla="*/ 3024336 w 3024336"/>
              <a:gd name="connsiteY2" fmla="*/ 1440160 h 2880320"/>
              <a:gd name="connsiteX3" fmla="*/ 1512168 w 3024336"/>
              <a:gd name="connsiteY3" fmla="*/ 2880320 h 2880320"/>
              <a:gd name="connsiteX4" fmla="*/ 0 w 3024336"/>
              <a:gd name="connsiteY4" fmla="*/ 1440160 h 2880320"/>
              <a:gd name="connsiteX0" fmla="*/ 5523 w 3029859"/>
              <a:gd name="connsiteY0" fmla="*/ 1392659 h 2832819"/>
              <a:gd name="connsiteX1" fmla="*/ 1173306 w 3029859"/>
              <a:gd name="connsiteY1" fmla="*/ 0 h 2832819"/>
              <a:gd name="connsiteX2" fmla="*/ 3029859 w 3029859"/>
              <a:gd name="connsiteY2" fmla="*/ 1392659 h 2832819"/>
              <a:gd name="connsiteX3" fmla="*/ 1517691 w 3029859"/>
              <a:gd name="connsiteY3" fmla="*/ 2832819 h 2832819"/>
              <a:gd name="connsiteX4" fmla="*/ 5523 w 3029859"/>
              <a:gd name="connsiteY4" fmla="*/ 1392659 h 2832819"/>
              <a:gd name="connsiteX0" fmla="*/ 2794 w 3169634"/>
              <a:gd name="connsiteY0" fmla="*/ 1416429 h 2832850"/>
              <a:gd name="connsiteX1" fmla="*/ 1313081 w 3169634"/>
              <a:gd name="connsiteY1" fmla="*/ 19 h 2832850"/>
              <a:gd name="connsiteX2" fmla="*/ 3169634 w 3169634"/>
              <a:gd name="connsiteY2" fmla="*/ 1392678 h 2832850"/>
              <a:gd name="connsiteX3" fmla="*/ 1657466 w 3169634"/>
              <a:gd name="connsiteY3" fmla="*/ 2832838 h 2832850"/>
              <a:gd name="connsiteX4" fmla="*/ 2794 w 3169634"/>
              <a:gd name="connsiteY4" fmla="*/ 1416429 h 2832850"/>
              <a:gd name="connsiteX0" fmla="*/ 3108 w 3716213"/>
              <a:gd name="connsiteY0" fmla="*/ 1435388 h 3043643"/>
              <a:gd name="connsiteX1" fmla="*/ 1313395 w 3716213"/>
              <a:gd name="connsiteY1" fmla="*/ 18978 h 3043643"/>
              <a:gd name="connsiteX2" fmla="*/ 3716213 w 3716213"/>
              <a:gd name="connsiteY2" fmla="*/ 2504167 h 3043643"/>
              <a:gd name="connsiteX3" fmla="*/ 1657780 w 3716213"/>
              <a:gd name="connsiteY3" fmla="*/ 2851797 h 3043643"/>
              <a:gd name="connsiteX4" fmla="*/ 3108 w 3716213"/>
              <a:gd name="connsiteY4" fmla="*/ 1435388 h 3043643"/>
              <a:gd name="connsiteX0" fmla="*/ 999 w 3714104"/>
              <a:gd name="connsiteY0" fmla="*/ 1435161 h 2996497"/>
              <a:gd name="connsiteX1" fmla="*/ 1311286 w 3714104"/>
              <a:gd name="connsiteY1" fmla="*/ 18751 h 2996497"/>
              <a:gd name="connsiteX2" fmla="*/ 3714104 w 3714104"/>
              <a:gd name="connsiteY2" fmla="*/ 2503940 h 2996497"/>
              <a:gd name="connsiteX3" fmla="*/ 1145032 w 3714104"/>
              <a:gd name="connsiteY3" fmla="*/ 2756568 h 2996497"/>
              <a:gd name="connsiteX4" fmla="*/ 999 w 3714104"/>
              <a:gd name="connsiteY4" fmla="*/ 1435161 h 2996497"/>
              <a:gd name="connsiteX0" fmla="*/ 3203 w 3716308"/>
              <a:gd name="connsiteY0" fmla="*/ 1364824 h 2926160"/>
              <a:gd name="connsiteX1" fmla="*/ 1455994 w 3716308"/>
              <a:gd name="connsiteY1" fmla="*/ 19666 h 2926160"/>
              <a:gd name="connsiteX2" fmla="*/ 3716308 w 3716308"/>
              <a:gd name="connsiteY2" fmla="*/ 2433603 h 2926160"/>
              <a:gd name="connsiteX3" fmla="*/ 1147236 w 3716308"/>
              <a:gd name="connsiteY3" fmla="*/ 2686231 h 2926160"/>
              <a:gd name="connsiteX4" fmla="*/ 3203 w 3716308"/>
              <a:gd name="connsiteY4" fmla="*/ 1364824 h 2926160"/>
              <a:gd name="connsiteX0" fmla="*/ 3136 w 3633114"/>
              <a:gd name="connsiteY0" fmla="*/ 1366764 h 2964744"/>
              <a:gd name="connsiteX1" fmla="*/ 1455927 w 3633114"/>
              <a:gd name="connsiteY1" fmla="*/ 21606 h 2964744"/>
              <a:gd name="connsiteX2" fmla="*/ 3633114 w 3633114"/>
              <a:gd name="connsiteY2" fmla="*/ 2494920 h 2964744"/>
              <a:gd name="connsiteX3" fmla="*/ 1147169 w 3633114"/>
              <a:gd name="connsiteY3" fmla="*/ 2688171 h 2964744"/>
              <a:gd name="connsiteX4" fmla="*/ 3136 w 3633114"/>
              <a:gd name="connsiteY4" fmla="*/ 1366764 h 2964744"/>
              <a:gd name="connsiteX0" fmla="*/ 2409 w 3648114"/>
              <a:gd name="connsiteY0" fmla="*/ 1366764 h 2828586"/>
              <a:gd name="connsiteX1" fmla="*/ 1455200 w 3648114"/>
              <a:gd name="connsiteY1" fmla="*/ 21606 h 2828586"/>
              <a:gd name="connsiteX2" fmla="*/ 3632387 w 3648114"/>
              <a:gd name="connsiteY2" fmla="*/ 2494920 h 2828586"/>
              <a:gd name="connsiteX3" fmla="*/ 2459976 w 3648114"/>
              <a:gd name="connsiteY3" fmla="*/ 2768503 h 2828586"/>
              <a:gd name="connsiteX4" fmla="*/ 1146442 w 3648114"/>
              <a:gd name="connsiteY4" fmla="*/ 2688171 h 2828586"/>
              <a:gd name="connsiteX5" fmla="*/ 2409 w 3648114"/>
              <a:gd name="connsiteY5" fmla="*/ 1366764 h 2828586"/>
              <a:gd name="connsiteX0" fmla="*/ 7944 w 3653649"/>
              <a:gd name="connsiteY0" fmla="*/ 1366631 h 2805230"/>
              <a:gd name="connsiteX1" fmla="*/ 1460735 w 3653649"/>
              <a:gd name="connsiteY1" fmla="*/ 21473 h 2805230"/>
              <a:gd name="connsiteX2" fmla="*/ 3637922 w 3653649"/>
              <a:gd name="connsiteY2" fmla="*/ 2494787 h 2805230"/>
              <a:gd name="connsiteX3" fmla="*/ 2465511 w 3653649"/>
              <a:gd name="connsiteY3" fmla="*/ 2768370 h 2805230"/>
              <a:gd name="connsiteX4" fmla="*/ 950096 w 3653649"/>
              <a:gd name="connsiteY4" fmla="*/ 2640537 h 2805230"/>
              <a:gd name="connsiteX5" fmla="*/ 7944 w 3653649"/>
              <a:gd name="connsiteY5" fmla="*/ 1366631 h 2805230"/>
              <a:gd name="connsiteX0" fmla="*/ 7944 w 3653649"/>
              <a:gd name="connsiteY0" fmla="*/ 1232284 h 2821513"/>
              <a:gd name="connsiteX1" fmla="*/ 1460735 w 3653649"/>
              <a:gd name="connsiteY1" fmla="*/ 29630 h 2821513"/>
              <a:gd name="connsiteX2" fmla="*/ 3637922 w 3653649"/>
              <a:gd name="connsiteY2" fmla="*/ 2502944 h 2821513"/>
              <a:gd name="connsiteX3" fmla="*/ 2465511 w 3653649"/>
              <a:gd name="connsiteY3" fmla="*/ 2776527 h 2821513"/>
              <a:gd name="connsiteX4" fmla="*/ 950096 w 3653649"/>
              <a:gd name="connsiteY4" fmla="*/ 2648694 h 2821513"/>
              <a:gd name="connsiteX5" fmla="*/ 7944 w 3653649"/>
              <a:gd name="connsiteY5" fmla="*/ 1232284 h 2821513"/>
              <a:gd name="connsiteX0" fmla="*/ 7944 w 3525315"/>
              <a:gd name="connsiteY0" fmla="*/ 1225173 h 2814402"/>
              <a:gd name="connsiteX1" fmla="*/ 1460735 w 3525315"/>
              <a:gd name="connsiteY1" fmla="*/ 22519 h 2814402"/>
              <a:gd name="connsiteX2" fmla="*/ 3507294 w 3525315"/>
              <a:gd name="connsiteY2" fmla="*/ 2305828 h 2814402"/>
              <a:gd name="connsiteX3" fmla="*/ 2465511 w 3525315"/>
              <a:gd name="connsiteY3" fmla="*/ 2769416 h 2814402"/>
              <a:gd name="connsiteX4" fmla="*/ 950096 w 3525315"/>
              <a:gd name="connsiteY4" fmla="*/ 2641583 h 2814402"/>
              <a:gd name="connsiteX5" fmla="*/ 7944 w 3525315"/>
              <a:gd name="connsiteY5" fmla="*/ 1225173 h 2814402"/>
              <a:gd name="connsiteX0" fmla="*/ 8463 w 3533161"/>
              <a:gd name="connsiteY0" fmla="*/ 1225173 h 2771821"/>
              <a:gd name="connsiteX1" fmla="*/ 1461254 w 3533161"/>
              <a:gd name="connsiteY1" fmla="*/ 22519 h 2771821"/>
              <a:gd name="connsiteX2" fmla="*/ 3507813 w 3533161"/>
              <a:gd name="connsiteY2" fmla="*/ 2305828 h 2771821"/>
              <a:gd name="connsiteX3" fmla="*/ 2727287 w 3533161"/>
              <a:gd name="connsiteY3" fmla="*/ 2686289 h 2771821"/>
              <a:gd name="connsiteX4" fmla="*/ 950615 w 3533161"/>
              <a:gd name="connsiteY4" fmla="*/ 2641583 h 2771821"/>
              <a:gd name="connsiteX5" fmla="*/ 8463 w 3533161"/>
              <a:gd name="connsiteY5" fmla="*/ 1225173 h 2771821"/>
              <a:gd name="connsiteX0" fmla="*/ 16300 w 3540998"/>
              <a:gd name="connsiteY0" fmla="*/ 1224862 h 2685978"/>
              <a:gd name="connsiteX1" fmla="*/ 1469091 w 3540998"/>
              <a:gd name="connsiteY1" fmla="*/ 22208 h 2685978"/>
              <a:gd name="connsiteX2" fmla="*/ 3515650 w 3540998"/>
              <a:gd name="connsiteY2" fmla="*/ 2305517 h 2685978"/>
              <a:gd name="connsiteX3" fmla="*/ 2735124 w 3540998"/>
              <a:gd name="connsiteY3" fmla="*/ 2685978 h 2685978"/>
              <a:gd name="connsiteX4" fmla="*/ 815949 w 3540998"/>
              <a:gd name="connsiteY4" fmla="*/ 2546269 h 2685978"/>
              <a:gd name="connsiteX5" fmla="*/ 16300 w 3540998"/>
              <a:gd name="connsiteY5" fmla="*/ 1224862 h 2685978"/>
              <a:gd name="connsiteX0" fmla="*/ 23554 w 3548252"/>
              <a:gd name="connsiteY0" fmla="*/ 1224862 h 2685978"/>
              <a:gd name="connsiteX1" fmla="*/ 1476345 w 3548252"/>
              <a:gd name="connsiteY1" fmla="*/ 22208 h 2685978"/>
              <a:gd name="connsiteX2" fmla="*/ 3522904 w 3548252"/>
              <a:gd name="connsiteY2" fmla="*/ 2305517 h 2685978"/>
              <a:gd name="connsiteX3" fmla="*/ 2742378 w 3548252"/>
              <a:gd name="connsiteY3" fmla="*/ 2685978 h 2685978"/>
              <a:gd name="connsiteX4" fmla="*/ 823203 w 3548252"/>
              <a:gd name="connsiteY4" fmla="*/ 2546269 h 2685978"/>
              <a:gd name="connsiteX5" fmla="*/ 23554 w 3548252"/>
              <a:gd name="connsiteY5" fmla="*/ 1224862 h 2685978"/>
              <a:gd name="connsiteX0" fmla="*/ 23554 w 3560125"/>
              <a:gd name="connsiteY0" fmla="*/ 1224862 h 2716165"/>
              <a:gd name="connsiteX1" fmla="*/ 1476345 w 3560125"/>
              <a:gd name="connsiteY1" fmla="*/ 22208 h 2716165"/>
              <a:gd name="connsiteX2" fmla="*/ 3522904 w 3560125"/>
              <a:gd name="connsiteY2" fmla="*/ 2305517 h 2716165"/>
              <a:gd name="connsiteX3" fmla="*/ 2742378 w 3560125"/>
              <a:gd name="connsiteY3" fmla="*/ 2685978 h 2716165"/>
              <a:gd name="connsiteX4" fmla="*/ 823203 w 3560125"/>
              <a:gd name="connsiteY4" fmla="*/ 2546269 h 2716165"/>
              <a:gd name="connsiteX5" fmla="*/ 23554 w 3560125"/>
              <a:gd name="connsiteY5" fmla="*/ 1224862 h 2716165"/>
              <a:gd name="connsiteX0" fmla="*/ 2491 w 3526191"/>
              <a:gd name="connsiteY0" fmla="*/ 1225094 h 2701258"/>
              <a:gd name="connsiteX1" fmla="*/ 1455282 w 3526191"/>
              <a:gd name="connsiteY1" fmla="*/ 22440 h 2701258"/>
              <a:gd name="connsiteX2" fmla="*/ 3501841 w 3526191"/>
              <a:gd name="connsiteY2" fmla="*/ 2305749 h 2701258"/>
              <a:gd name="connsiteX3" fmla="*/ 2721315 w 3526191"/>
              <a:gd name="connsiteY3" fmla="*/ 2686210 h 2701258"/>
              <a:gd name="connsiteX4" fmla="*/ 1182150 w 3526191"/>
              <a:gd name="connsiteY4" fmla="*/ 2617753 h 2701258"/>
              <a:gd name="connsiteX5" fmla="*/ 2491 w 3526191"/>
              <a:gd name="connsiteY5" fmla="*/ 1225094 h 2701258"/>
              <a:gd name="connsiteX0" fmla="*/ 1836 w 3573037"/>
              <a:gd name="connsiteY0" fmla="*/ 1225094 h 2763708"/>
              <a:gd name="connsiteX1" fmla="*/ 1502128 w 3573037"/>
              <a:gd name="connsiteY1" fmla="*/ 22440 h 2763708"/>
              <a:gd name="connsiteX2" fmla="*/ 3548687 w 3573037"/>
              <a:gd name="connsiteY2" fmla="*/ 2305749 h 2763708"/>
              <a:gd name="connsiteX3" fmla="*/ 2768161 w 3573037"/>
              <a:gd name="connsiteY3" fmla="*/ 2686210 h 2763708"/>
              <a:gd name="connsiteX4" fmla="*/ 1228996 w 3573037"/>
              <a:gd name="connsiteY4" fmla="*/ 2617753 h 2763708"/>
              <a:gd name="connsiteX5" fmla="*/ 1836 w 3573037"/>
              <a:gd name="connsiteY5" fmla="*/ 1225094 h 2763708"/>
              <a:gd name="connsiteX0" fmla="*/ 47134 w 3618335"/>
              <a:gd name="connsiteY0" fmla="*/ 1223478 h 2712039"/>
              <a:gd name="connsiteX1" fmla="*/ 1547426 w 3618335"/>
              <a:gd name="connsiteY1" fmla="*/ 20824 h 2712039"/>
              <a:gd name="connsiteX2" fmla="*/ 3593985 w 3618335"/>
              <a:gd name="connsiteY2" fmla="*/ 2304133 h 2712039"/>
              <a:gd name="connsiteX3" fmla="*/ 2813459 w 3618335"/>
              <a:gd name="connsiteY3" fmla="*/ 2684594 h 2712039"/>
              <a:gd name="connsiteX4" fmla="*/ 1274294 w 3618335"/>
              <a:gd name="connsiteY4" fmla="*/ 2616137 h 2712039"/>
              <a:gd name="connsiteX5" fmla="*/ 457680 w 3618335"/>
              <a:gd name="connsiteY5" fmla="*/ 2090203 h 2712039"/>
              <a:gd name="connsiteX6" fmla="*/ 47134 w 3618335"/>
              <a:gd name="connsiteY6" fmla="*/ 1223478 h 2712039"/>
              <a:gd name="connsiteX0" fmla="*/ 47134 w 3613768"/>
              <a:gd name="connsiteY0" fmla="*/ 1223478 h 2703283"/>
              <a:gd name="connsiteX1" fmla="*/ 1547426 w 3613768"/>
              <a:gd name="connsiteY1" fmla="*/ 20824 h 2703283"/>
              <a:gd name="connsiteX2" fmla="*/ 3593985 w 3613768"/>
              <a:gd name="connsiteY2" fmla="*/ 2304133 h 2703283"/>
              <a:gd name="connsiteX3" fmla="*/ 2659080 w 3613768"/>
              <a:gd name="connsiteY3" fmla="*/ 2672718 h 2703283"/>
              <a:gd name="connsiteX4" fmla="*/ 1274294 w 3613768"/>
              <a:gd name="connsiteY4" fmla="*/ 2616137 h 2703283"/>
              <a:gd name="connsiteX5" fmla="*/ 457680 w 3613768"/>
              <a:gd name="connsiteY5" fmla="*/ 2090203 h 2703283"/>
              <a:gd name="connsiteX6" fmla="*/ 47134 w 3613768"/>
              <a:gd name="connsiteY6" fmla="*/ 1223478 h 2703283"/>
              <a:gd name="connsiteX0" fmla="*/ 47134 w 3619370"/>
              <a:gd name="connsiteY0" fmla="*/ 1223478 h 2672718"/>
              <a:gd name="connsiteX1" fmla="*/ 1547426 w 3619370"/>
              <a:gd name="connsiteY1" fmla="*/ 20824 h 2672718"/>
              <a:gd name="connsiteX2" fmla="*/ 3593985 w 3619370"/>
              <a:gd name="connsiteY2" fmla="*/ 2304133 h 2672718"/>
              <a:gd name="connsiteX3" fmla="*/ 2659080 w 3619370"/>
              <a:gd name="connsiteY3" fmla="*/ 2672718 h 2672718"/>
              <a:gd name="connsiteX4" fmla="*/ 1274294 w 3619370"/>
              <a:gd name="connsiteY4" fmla="*/ 2616137 h 2672718"/>
              <a:gd name="connsiteX5" fmla="*/ 457680 w 3619370"/>
              <a:gd name="connsiteY5" fmla="*/ 2090203 h 2672718"/>
              <a:gd name="connsiteX6" fmla="*/ 47134 w 3619370"/>
              <a:gd name="connsiteY6" fmla="*/ 1223478 h 2672718"/>
              <a:gd name="connsiteX0" fmla="*/ 47134 w 2822555"/>
              <a:gd name="connsiteY0" fmla="*/ 1204149 h 2728133"/>
              <a:gd name="connsiteX1" fmla="*/ 1547426 w 2822555"/>
              <a:gd name="connsiteY1" fmla="*/ 1495 h 2728133"/>
              <a:gd name="connsiteX2" fmla="*/ 2698644 w 2822555"/>
              <a:gd name="connsiteY2" fmla="*/ 1462908 h 2728133"/>
              <a:gd name="connsiteX3" fmla="*/ 2659080 w 2822555"/>
              <a:gd name="connsiteY3" fmla="*/ 2653389 h 2728133"/>
              <a:gd name="connsiteX4" fmla="*/ 1274294 w 2822555"/>
              <a:gd name="connsiteY4" fmla="*/ 2596808 h 2728133"/>
              <a:gd name="connsiteX5" fmla="*/ 457680 w 2822555"/>
              <a:gd name="connsiteY5" fmla="*/ 2070874 h 2728133"/>
              <a:gd name="connsiteX6" fmla="*/ 47134 w 2822555"/>
              <a:gd name="connsiteY6" fmla="*/ 1204149 h 2728133"/>
              <a:gd name="connsiteX0" fmla="*/ 47134 w 2758570"/>
              <a:gd name="connsiteY0" fmla="*/ 1204149 h 2634535"/>
              <a:gd name="connsiteX1" fmla="*/ 1547426 w 2758570"/>
              <a:gd name="connsiteY1" fmla="*/ 1495 h 2634535"/>
              <a:gd name="connsiteX2" fmla="*/ 2698644 w 2758570"/>
              <a:gd name="connsiteY2" fmla="*/ 1462908 h 2634535"/>
              <a:gd name="connsiteX3" fmla="*/ 2470064 w 2758570"/>
              <a:gd name="connsiteY3" fmla="*/ 2466593 h 2634535"/>
              <a:gd name="connsiteX4" fmla="*/ 1274294 w 2758570"/>
              <a:gd name="connsiteY4" fmla="*/ 2596808 h 2634535"/>
              <a:gd name="connsiteX5" fmla="*/ 457680 w 2758570"/>
              <a:gd name="connsiteY5" fmla="*/ 2070874 h 2634535"/>
              <a:gd name="connsiteX6" fmla="*/ 47134 w 2758570"/>
              <a:gd name="connsiteY6" fmla="*/ 1204149 h 2634535"/>
              <a:gd name="connsiteX0" fmla="*/ 47134 w 2766016"/>
              <a:gd name="connsiteY0" fmla="*/ 1204149 h 2521055"/>
              <a:gd name="connsiteX1" fmla="*/ 1547426 w 2766016"/>
              <a:gd name="connsiteY1" fmla="*/ 1495 h 2521055"/>
              <a:gd name="connsiteX2" fmla="*/ 2698644 w 2766016"/>
              <a:gd name="connsiteY2" fmla="*/ 1462908 h 2521055"/>
              <a:gd name="connsiteX3" fmla="*/ 2470064 w 2766016"/>
              <a:gd name="connsiteY3" fmla="*/ 2466593 h 2521055"/>
              <a:gd name="connsiteX4" fmla="*/ 1035536 w 2766016"/>
              <a:gd name="connsiteY4" fmla="*/ 2353975 h 2521055"/>
              <a:gd name="connsiteX5" fmla="*/ 457680 w 2766016"/>
              <a:gd name="connsiteY5" fmla="*/ 2070874 h 2521055"/>
              <a:gd name="connsiteX6" fmla="*/ 47134 w 2766016"/>
              <a:gd name="connsiteY6" fmla="*/ 1204149 h 2521055"/>
              <a:gd name="connsiteX0" fmla="*/ 523306 w 2356794"/>
              <a:gd name="connsiteY0" fmla="*/ 1370933 h 2519724"/>
              <a:gd name="connsiteX1" fmla="*/ 1138204 w 2356794"/>
              <a:gd name="connsiteY1" fmla="*/ 164 h 2519724"/>
              <a:gd name="connsiteX2" fmla="*/ 2289422 w 2356794"/>
              <a:gd name="connsiteY2" fmla="*/ 1461577 h 2519724"/>
              <a:gd name="connsiteX3" fmla="*/ 2060842 w 2356794"/>
              <a:gd name="connsiteY3" fmla="*/ 2465262 h 2519724"/>
              <a:gd name="connsiteX4" fmla="*/ 626314 w 2356794"/>
              <a:gd name="connsiteY4" fmla="*/ 2352644 h 2519724"/>
              <a:gd name="connsiteX5" fmla="*/ 48458 w 2356794"/>
              <a:gd name="connsiteY5" fmla="*/ 2069543 h 2519724"/>
              <a:gd name="connsiteX6" fmla="*/ 523306 w 2356794"/>
              <a:gd name="connsiteY6" fmla="*/ 1370933 h 2519724"/>
              <a:gd name="connsiteX0" fmla="*/ 527728 w 2361216"/>
              <a:gd name="connsiteY0" fmla="*/ 362885 h 1511676"/>
              <a:gd name="connsiteX1" fmla="*/ 1500763 w 2361216"/>
              <a:gd name="connsiteY1" fmla="*/ 806 h 1511676"/>
              <a:gd name="connsiteX2" fmla="*/ 2293844 w 2361216"/>
              <a:gd name="connsiteY2" fmla="*/ 453529 h 1511676"/>
              <a:gd name="connsiteX3" fmla="*/ 2065264 w 2361216"/>
              <a:gd name="connsiteY3" fmla="*/ 1457214 h 1511676"/>
              <a:gd name="connsiteX4" fmla="*/ 630736 w 2361216"/>
              <a:gd name="connsiteY4" fmla="*/ 1344596 h 1511676"/>
              <a:gd name="connsiteX5" fmla="*/ 52880 w 2361216"/>
              <a:gd name="connsiteY5" fmla="*/ 1061495 h 1511676"/>
              <a:gd name="connsiteX6" fmla="*/ 527728 w 2361216"/>
              <a:gd name="connsiteY6" fmla="*/ 362885 h 1511676"/>
              <a:gd name="connsiteX0" fmla="*/ 130511 w 1963999"/>
              <a:gd name="connsiteY0" fmla="*/ 362920 h 1510301"/>
              <a:gd name="connsiteX1" fmla="*/ 1103546 w 1963999"/>
              <a:gd name="connsiteY1" fmla="*/ 841 h 1510301"/>
              <a:gd name="connsiteX2" fmla="*/ 1896627 w 1963999"/>
              <a:gd name="connsiteY2" fmla="*/ 453564 h 1510301"/>
              <a:gd name="connsiteX3" fmla="*/ 1668047 w 1963999"/>
              <a:gd name="connsiteY3" fmla="*/ 1457249 h 1510301"/>
              <a:gd name="connsiteX4" fmla="*/ 233519 w 1963999"/>
              <a:gd name="connsiteY4" fmla="*/ 1344631 h 1510301"/>
              <a:gd name="connsiteX5" fmla="*/ 143128 w 1963999"/>
              <a:gd name="connsiteY5" fmla="*/ 1117568 h 1510301"/>
              <a:gd name="connsiteX6" fmla="*/ 130511 w 1963999"/>
              <a:gd name="connsiteY6" fmla="*/ 362920 h 1510301"/>
              <a:gd name="connsiteX0" fmla="*/ 130511 w 1963999"/>
              <a:gd name="connsiteY0" fmla="*/ 362920 h 1510304"/>
              <a:gd name="connsiteX1" fmla="*/ 1103546 w 1963999"/>
              <a:gd name="connsiteY1" fmla="*/ 841 h 1510304"/>
              <a:gd name="connsiteX2" fmla="*/ 1896627 w 1963999"/>
              <a:gd name="connsiteY2" fmla="*/ 453564 h 1510304"/>
              <a:gd name="connsiteX3" fmla="*/ 1668047 w 1963999"/>
              <a:gd name="connsiteY3" fmla="*/ 1457249 h 1510304"/>
              <a:gd name="connsiteX4" fmla="*/ 233519 w 1963999"/>
              <a:gd name="connsiteY4" fmla="*/ 1344631 h 1510304"/>
              <a:gd name="connsiteX5" fmla="*/ 143128 w 1963999"/>
              <a:gd name="connsiteY5" fmla="*/ 1117568 h 1510304"/>
              <a:gd name="connsiteX6" fmla="*/ 130511 w 1963999"/>
              <a:gd name="connsiteY6" fmla="*/ 362920 h 1510304"/>
              <a:gd name="connsiteX0" fmla="*/ 130511 w 1963999"/>
              <a:gd name="connsiteY0" fmla="*/ 362920 h 1510304"/>
              <a:gd name="connsiteX1" fmla="*/ 1103546 w 1963999"/>
              <a:gd name="connsiteY1" fmla="*/ 841 h 1510304"/>
              <a:gd name="connsiteX2" fmla="*/ 1896627 w 1963999"/>
              <a:gd name="connsiteY2" fmla="*/ 453564 h 1510304"/>
              <a:gd name="connsiteX3" fmla="*/ 1668047 w 1963999"/>
              <a:gd name="connsiteY3" fmla="*/ 1457249 h 1510304"/>
              <a:gd name="connsiteX4" fmla="*/ 233519 w 1963999"/>
              <a:gd name="connsiteY4" fmla="*/ 1344631 h 1510304"/>
              <a:gd name="connsiteX5" fmla="*/ 143128 w 1963999"/>
              <a:gd name="connsiteY5" fmla="*/ 1117568 h 1510304"/>
              <a:gd name="connsiteX6" fmla="*/ 130511 w 1963999"/>
              <a:gd name="connsiteY6" fmla="*/ 362920 h 1510304"/>
              <a:gd name="connsiteX0" fmla="*/ 130511 w 1963999"/>
              <a:gd name="connsiteY0" fmla="*/ 362920 h 1510301"/>
              <a:gd name="connsiteX1" fmla="*/ 1103546 w 1963999"/>
              <a:gd name="connsiteY1" fmla="*/ 841 h 1510301"/>
              <a:gd name="connsiteX2" fmla="*/ 1896627 w 1963999"/>
              <a:gd name="connsiteY2" fmla="*/ 453564 h 1510301"/>
              <a:gd name="connsiteX3" fmla="*/ 1668047 w 1963999"/>
              <a:gd name="connsiteY3" fmla="*/ 1457249 h 1510301"/>
              <a:gd name="connsiteX4" fmla="*/ 233519 w 1963999"/>
              <a:gd name="connsiteY4" fmla="*/ 1344631 h 1510301"/>
              <a:gd name="connsiteX5" fmla="*/ 143128 w 1963999"/>
              <a:gd name="connsiteY5" fmla="*/ 1117568 h 1510301"/>
              <a:gd name="connsiteX6" fmla="*/ 130511 w 1963999"/>
              <a:gd name="connsiteY6" fmla="*/ 362920 h 1510301"/>
              <a:gd name="connsiteX0" fmla="*/ 130511 w 1963999"/>
              <a:gd name="connsiteY0" fmla="*/ 362920 h 1557798"/>
              <a:gd name="connsiteX1" fmla="*/ 1103546 w 1963999"/>
              <a:gd name="connsiteY1" fmla="*/ 841 h 1557798"/>
              <a:gd name="connsiteX2" fmla="*/ 1896627 w 1963999"/>
              <a:gd name="connsiteY2" fmla="*/ 453564 h 1557798"/>
              <a:gd name="connsiteX3" fmla="*/ 1668047 w 1963999"/>
              <a:gd name="connsiteY3" fmla="*/ 1457249 h 1557798"/>
              <a:gd name="connsiteX4" fmla="*/ 233519 w 1963999"/>
              <a:gd name="connsiteY4" fmla="*/ 1344631 h 1557798"/>
              <a:gd name="connsiteX5" fmla="*/ 143128 w 1963999"/>
              <a:gd name="connsiteY5" fmla="*/ 1117568 h 1557798"/>
              <a:gd name="connsiteX6" fmla="*/ 130511 w 1963999"/>
              <a:gd name="connsiteY6" fmla="*/ 362920 h 1557798"/>
              <a:gd name="connsiteX0" fmla="*/ 130511 w 1963999"/>
              <a:gd name="connsiteY0" fmla="*/ 362920 h 1531696"/>
              <a:gd name="connsiteX1" fmla="*/ 1103546 w 1963999"/>
              <a:gd name="connsiteY1" fmla="*/ 841 h 1531696"/>
              <a:gd name="connsiteX2" fmla="*/ 1896627 w 1963999"/>
              <a:gd name="connsiteY2" fmla="*/ 453564 h 1531696"/>
              <a:gd name="connsiteX3" fmla="*/ 1668047 w 1963999"/>
              <a:gd name="connsiteY3" fmla="*/ 1457249 h 1531696"/>
              <a:gd name="connsiteX4" fmla="*/ 233519 w 1963999"/>
              <a:gd name="connsiteY4" fmla="*/ 1344631 h 1531696"/>
              <a:gd name="connsiteX5" fmla="*/ 143128 w 1963999"/>
              <a:gd name="connsiteY5" fmla="*/ 1117568 h 1531696"/>
              <a:gd name="connsiteX6" fmla="*/ 130511 w 1963999"/>
              <a:gd name="connsiteY6" fmla="*/ 362920 h 1531696"/>
              <a:gd name="connsiteX0" fmla="*/ 248798 w 2082286"/>
              <a:gd name="connsiteY0" fmla="*/ 362791 h 1516177"/>
              <a:gd name="connsiteX1" fmla="*/ 1221833 w 2082286"/>
              <a:gd name="connsiteY1" fmla="*/ 712 h 1516177"/>
              <a:gd name="connsiteX2" fmla="*/ 2014914 w 2082286"/>
              <a:gd name="connsiteY2" fmla="*/ 453435 h 1516177"/>
              <a:gd name="connsiteX3" fmla="*/ 1786334 w 2082286"/>
              <a:gd name="connsiteY3" fmla="*/ 1457120 h 1516177"/>
              <a:gd name="connsiteX4" fmla="*/ 351806 w 2082286"/>
              <a:gd name="connsiteY4" fmla="*/ 1344502 h 1516177"/>
              <a:gd name="connsiteX5" fmla="*/ 92296 w 2082286"/>
              <a:gd name="connsiteY5" fmla="*/ 893285 h 1516177"/>
              <a:gd name="connsiteX6" fmla="*/ 248798 w 2082286"/>
              <a:gd name="connsiteY6" fmla="*/ 362791 h 1516177"/>
              <a:gd name="connsiteX0" fmla="*/ 173904 w 2007392"/>
              <a:gd name="connsiteY0" fmla="*/ 362791 h 1516177"/>
              <a:gd name="connsiteX1" fmla="*/ 1146939 w 2007392"/>
              <a:gd name="connsiteY1" fmla="*/ 712 h 1516177"/>
              <a:gd name="connsiteX2" fmla="*/ 1940020 w 2007392"/>
              <a:gd name="connsiteY2" fmla="*/ 453435 h 1516177"/>
              <a:gd name="connsiteX3" fmla="*/ 1711440 w 2007392"/>
              <a:gd name="connsiteY3" fmla="*/ 1457120 h 1516177"/>
              <a:gd name="connsiteX4" fmla="*/ 276912 w 2007392"/>
              <a:gd name="connsiteY4" fmla="*/ 1344502 h 1516177"/>
              <a:gd name="connsiteX5" fmla="*/ 17402 w 2007392"/>
              <a:gd name="connsiteY5" fmla="*/ 893285 h 1516177"/>
              <a:gd name="connsiteX6" fmla="*/ 173904 w 2007392"/>
              <a:gd name="connsiteY6" fmla="*/ 362791 h 1516177"/>
              <a:gd name="connsiteX0" fmla="*/ 169541 w 2003029"/>
              <a:gd name="connsiteY0" fmla="*/ 362791 h 1516177"/>
              <a:gd name="connsiteX1" fmla="*/ 1142576 w 2003029"/>
              <a:gd name="connsiteY1" fmla="*/ 712 h 1516177"/>
              <a:gd name="connsiteX2" fmla="*/ 1935657 w 2003029"/>
              <a:gd name="connsiteY2" fmla="*/ 453435 h 1516177"/>
              <a:gd name="connsiteX3" fmla="*/ 1707077 w 2003029"/>
              <a:gd name="connsiteY3" fmla="*/ 1457120 h 1516177"/>
              <a:gd name="connsiteX4" fmla="*/ 272549 w 2003029"/>
              <a:gd name="connsiteY4" fmla="*/ 1344502 h 1516177"/>
              <a:gd name="connsiteX5" fmla="*/ 13039 w 2003029"/>
              <a:gd name="connsiteY5" fmla="*/ 893285 h 1516177"/>
              <a:gd name="connsiteX6" fmla="*/ 169541 w 2003029"/>
              <a:gd name="connsiteY6" fmla="*/ 362791 h 1516177"/>
              <a:gd name="connsiteX0" fmla="*/ 256357 w 1990258"/>
              <a:gd name="connsiteY0" fmla="*/ 238077 h 1522220"/>
              <a:gd name="connsiteX1" fmla="*/ 1129805 w 1990258"/>
              <a:gd name="connsiteY1" fmla="*/ 6755 h 1522220"/>
              <a:gd name="connsiteX2" fmla="*/ 1922886 w 1990258"/>
              <a:gd name="connsiteY2" fmla="*/ 459478 h 1522220"/>
              <a:gd name="connsiteX3" fmla="*/ 1694306 w 1990258"/>
              <a:gd name="connsiteY3" fmla="*/ 1463163 h 1522220"/>
              <a:gd name="connsiteX4" fmla="*/ 259778 w 1990258"/>
              <a:gd name="connsiteY4" fmla="*/ 1350545 h 1522220"/>
              <a:gd name="connsiteX5" fmla="*/ 268 w 1990258"/>
              <a:gd name="connsiteY5" fmla="*/ 899328 h 1522220"/>
              <a:gd name="connsiteX6" fmla="*/ 256357 w 1990258"/>
              <a:gd name="connsiteY6" fmla="*/ 238077 h 1522220"/>
              <a:gd name="connsiteX0" fmla="*/ 256435 w 1989231"/>
              <a:gd name="connsiteY0" fmla="*/ 238077 h 1554349"/>
              <a:gd name="connsiteX1" fmla="*/ 1129883 w 1989231"/>
              <a:gd name="connsiteY1" fmla="*/ 6755 h 1554349"/>
              <a:gd name="connsiteX2" fmla="*/ 1922964 w 1989231"/>
              <a:gd name="connsiteY2" fmla="*/ 459478 h 1554349"/>
              <a:gd name="connsiteX3" fmla="*/ 1694384 w 1989231"/>
              <a:gd name="connsiteY3" fmla="*/ 1463163 h 1554349"/>
              <a:gd name="connsiteX4" fmla="*/ 293052 w 1989231"/>
              <a:gd name="connsiteY4" fmla="*/ 1443940 h 1554349"/>
              <a:gd name="connsiteX5" fmla="*/ 346 w 1989231"/>
              <a:gd name="connsiteY5" fmla="*/ 899328 h 1554349"/>
              <a:gd name="connsiteX6" fmla="*/ 256435 w 1989231"/>
              <a:gd name="connsiteY6" fmla="*/ 238077 h 1554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89231" h="1554349">
                <a:moveTo>
                  <a:pt x="256435" y="238077"/>
                </a:moveTo>
                <a:cubicBezTo>
                  <a:pt x="444691" y="89315"/>
                  <a:pt x="852128" y="-30145"/>
                  <a:pt x="1129883" y="6755"/>
                </a:cubicBezTo>
                <a:cubicBezTo>
                  <a:pt x="1407638" y="43655"/>
                  <a:pt x="1777273" y="-26047"/>
                  <a:pt x="1922964" y="459478"/>
                </a:cubicBezTo>
                <a:cubicBezTo>
                  <a:pt x="2068655" y="945003"/>
                  <a:pt x="1966036" y="1299086"/>
                  <a:pt x="1694384" y="1463163"/>
                </a:cubicBezTo>
                <a:cubicBezTo>
                  <a:pt x="1422732" y="1627240"/>
                  <a:pt x="575392" y="1537912"/>
                  <a:pt x="293052" y="1443940"/>
                </a:cubicBezTo>
                <a:cubicBezTo>
                  <a:pt x="10712" y="1349968"/>
                  <a:pt x="6449" y="1100305"/>
                  <a:pt x="346" y="899328"/>
                </a:cubicBezTo>
                <a:cubicBezTo>
                  <a:pt x="-5757" y="698351"/>
                  <a:pt x="68179" y="386839"/>
                  <a:pt x="256435" y="238077"/>
                </a:cubicBezTo>
                <a:close/>
              </a:path>
            </a:pathLst>
          </a:custGeom>
          <a:noFill/>
          <a:ln>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5" name="页脚占位符 4">
            <a:extLst>
              <a:ext uri="{FF2B5EF4-FFF2-40B4-BE49-F238E27FC236}">
                <a16:creationId xmlns:a16="http://schemas.microsoft.com/office/drawing/2014/main" id="{A465B7F7-A455-41B6-B284-C2ED893487D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9E94052-A3DA-482E-847C-C30E8DC908D3}"/>
              </a:ext>
            </a:extLst>
          </p:cNvPr>
          <p:cNvSpPr>
            <a:spLocks noGrp="1"/>
          </p:cNvSpPr>
          <p:nvPr>
            <p:ph type="sldNum" sz="quarter" idx="12"/>
          </p:nvPr>
        </p:nvSpPr>
        <p:spPr/>
        <p:txBody>
          <a:bodyPr/>
          <a:lstStyle/>
          <a:p>
            <a:fld id="{5AD84F5B-1672-4D3F-9FEC-5DF89A7B7912}" type="slidenum">
              <a:rPr lang="zh-CN" altLang="en-US" smtClean="0"/>
              <a:t>68</a:t>
            </a:fld>
            <a:endParaRPr lang="zh-CN" altLang="en-US"/>
          </a:p>
        </p:txBody>
      </p:sp>
    </p:spTree>
    <p:extLst>
      <p:ext uri="{BB962C8B-B14F-4D97-AF65-F5344CB8AC3E}">
        <p14:creationId xmlns:p14="http://schemas.microsoft.com/office/powerpoint/2010/main" val="41427648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减少错误剪枝</a:t>
            </a:r>
            <a:r>
              <a:rPr lang="en-US" altLang="zh-CN" dirty="0"/>
              <a:t>REP</a:t>
            </a:r>
            <a:endParaRPr lang="zh-CN" altLang="en-US" dirty="0"/>
          </a:p>
        </p:txBody>
      </p:sp>
      <p:sp>
        <p:nvSpPr>
          <p:cNvPr id="6" name="内容占位符 5"/>
          <p:cNvSpPr>
            <a:spLocks noGrp="1"/>
          </p:cNvSpPr>
          <p:nvPr>
            <p:ph idx="1"/>
          </p:nvPr>
        </p:nvSpPr>
        <p:spPr/>
        <p:txBody>
          <a:bodyPr>
            <a:normAutofit/>
          </a:bodyPr>
          <a:lstStyle/>
          <a:p>
            <a:r>
              <a:rPr lang="zh-CN" altLang="en-US" dirty="0"/>
              <a:t>用测试数据集，来对剪枝前后的错误率进行测试和比对，以确定是否进行剪枝。</a:t>
            </a:r>
            <a:endParaRPr lang="zh-CN" altLang="zh-CN" dirty="0"/>
          </a:p>
        </p:txBody>
      </p:sp>
      <p:sp>
        <p:nvSpPr>
          <p:cNvPr id="3" name="页脚占位符 2">
            <a:extLst>
              <a:ext uri="{FF2B5EF4-FFF2-40B4-BE49-F238E27FC236}">
                <a16:creationId xmlns:a16="http://schemas.microsoft.com/office/drawing/2014/main" id="{2EF80DC7-45BF-463C-A575-B4F079B08BC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B83A80A6-8CD8-4E4D-9C79-910C8685C313}"/>
              </a:ext>
            </a:extLst>
          </p:cNvPr>
          <p:cNvSpPr>
            <a:spLocks noGrp="1"/>
          </p:cNvSpPr>
          <p:nvPr>
            <p:ph type="sldNum" sz="quarter" idx="12"/>
          </p:nvPr>
        </p:nvSpPr>
        <p:spPr/>
        <p:txBody>
          <a:bodyPr/>
          <a:lstStyle/>
          <a:p>
            <a:fld id="{5AD84F5B-1672-4D3F-9FEC-5DF89A7B7912}" type="slidenum">
              <a:rPr lang="zh-CN" altLang="en-US" smtClean="0"/>
              <a:t>69</a:t>
            </a:fld>
            <a:endParaRPr lang="zh-CN" altLang="en-US"/>
          </a:p>
        </p:txBody>
      </p:sp>
    </p:spTree>
    <p:extLst>
      <p:ext uri="{BB962C8B-B14F-4D97-AF65-F5344CB8AC3E}">
        <p14:creationId xmlns:p14="http://schemas.microsoft.com/office/powerpoint/2010/main" val="32939291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悲观错误剪枝法</a:t>
            </a:r>
            <a:r>
              <a:rPr lang="en-US" altLang="zh-CN" dirty="0"/>
              <a:t>PEP</a:t>
            </a:r>
            <a:endParaRPr lang="zh-CN" altLang="en-US" dirty="0"/>
          </a:p>
        </p:txBody>
      </p:sp>
      <p:sp>
        <p:nvSpPr>
          <p:cNvPr id="6" name="内容占位符 5"/>
          <p:cNvSpPr>
            <a:spLocks noGrp="1"/>
          </p:cNvSpPr>
          <p:nvPr>
            <p:ph idx="1"/>
          </p:nvPr>
        </p:nvSpPr>
        <p:spPr/>
        <p:txBody>
          <a:bodyPr>
            <a:normAutofit/>
          </a:bodyPr>
          <a:lstStyle/>
          <a:p>
            <a:r>
              <a:rPr lang="en-US" altLang="zh-CN" dirty="0"/>
              <a:t>PEP</a:t>
            </a:r>
            <a:r>
              <a:rPr lang="zh-CN" altLang="en-US" dirty="0">
                <a:solidFill>
                  <a:srgbClr val="C00000"/>
                </a:solidFill>
              </a:rPr>
              <a:t>仅使用训练数据</a:t>
            </a:r>
            <a:r>
              <a:rPr lang="zh-CN" altLang="en-US" dirty="0"/>
              <a:t>，根据剪枝前后数据集错误率的变化来判定是否对子树进行修剪。</a:t>
            </a:r>
            <a:endParaRPr lang="en-US" altLang="zh-CN" dirty="0"/>
          </a:p>
          <a:p>
            <a:r>
              <a:rPr lang="zh-CN" altLang="en-US" dirty="0"/>
              <a:t>引入了统计学上连续性修正的概念弥补</a:t>
            </a:r>
            <a:r>
              <a:rPr lang="en-US" altLang="zh-CN" dirty="0"/>
              <a:t>REP</a:t>
            </a:r>
            <a:r>
              <a:rPr lang="zh-CN" altLang="en-US" dirty="0"/>
              <a:t>中的缺陷，在评价子树的训练错误公式中添加了一个常数，来假定每个叶结点都一定程度上对实例的某个部分进行错误的分类。</a:t>
            </a:r>
            <a:endParaRPr lang="en-US" altLang="zh-CN" dirty="0"/>
          </a:p>
          <a:p>
            <a:pPr lvl="1"/>
            <a:endParaRPr lang="en-US" altLang="zh-CN" dirty="0"/>
          </a:p>
        </p:txBody>
      </p:sp>
      <p:sp>
        <p:nvSpPr>
          <p:cNvPr id="3" name="页脚占位符 2">
            <a:extLst>
              <a:ext uri="{FF2B5EF4-FFF2-40B4-BE49-F238E27FC236}">
                <a16:creationId xmlns:a16="http://schemas.microsoft.com/office/drawing/2014/main" id="{651A6BB4-F180-47DE-ACE5-3379811818B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132FA96-1664-4246-A64E-1FA4E8AD4344}"/>
              </a:ext>
            </a:extLst>
          </p:cNvPr>
          <p:cNvSpPr>
            <a:spLocks noGrp="1"/>
          </p:cNvSpPr>
          <p:nvPr>
            <p:ph type="sldNum" sz="quarter" idx="12"/>
          </p:nvPr>
        </p:nvSpPr>
        <p:spPr/>
        <p:txBody>
          <a:bodyPr/>
          <a:lstStyle/>
          <a:p>
            <a:fld id="{5AD84F5B-1672-4D3F-9FEC-5DF89A7B7912}" type="slidenum">
              <a:rPr lang="zh-CN" altLang="en-US" smtClean="0"/>
              <a:t>70</a:t>
            </a:fld>
            <a:endParaRPr lang="zh-CN" altLang="en-US"/>
          </a:p>
        </p:txBody>
      </p:sp>
    </p:spTree>
    <p:extLst>
      <p:ext uri="{BB962C8B-B14F-4D97-AF65-F5344CB8AC3E}">
        <p14:creationId xmlns:p14="http://schemas.microsoft.com/office/powerpoint/2010/main" val="75158522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悲观错误剪枝法</a:t>
            </a:r>
            <a:r>
              <a:rPr lang="en-US" altLang="zh-CN" dirty="0"/>
              <a:t>PEP</a:t>
            </a:r>
            <a:endParaRPr lang="zh-CN" altLang="en-US" dirty="0"/>
          </a:p>
        </p:txBody>
      </p:sp>
      <p:sp>
        <p:nvSpPr>
          <p:cNvPr id="6" name="内容占位符 5"/>
          <p:cNvSpPr>
            <a:spLocks noGrp="1"/>
          </p:cNvSpPr>
          <p:nvPr>
            <p:ph idx="1"/>
          </p:nvPr>
        </p:nvSpPr>
        <p:spPr/>
        <p:txBody>
          <a:bodyPr>
            <a:normAutofit/>
          </a:bodyPr>
          <a:lstStyle/>
          <a:p>
            <a:r>
              <a:rPr lang="en-US" altLang="zh-CN" dirty="0"/>
              <a:t>PEP</a:t>
            </a:r>
            <a:r>
              <a:rPr lang="zh-CN" altLang="en-US" dirty="0"/>
              <a:t>的基本原理也是试着用叶结点代替一颗子树，如果这样可使数据集分类误差减低，则确定这个替换，否则则不替换。</a:t>
            </a:r>
            <a:endParaRPr lang="en-US" altLang="zh-CN" dirty="0"/>
          </a:p>
          <a:p>
            <a:r>
              <a:rPr lang="zh-CN" altLang="en-US" dirty="0"/>
              <a:t>但是，这样的替换必定会导致其训练集分类误差上升（测试数据集分类误差不一定会上升），所以需要进行一定的修正，以保证这个方法有效。</a:t>
            </a:r>
            <a:endParaRPr lang="en-US" altLang="zh-CN" dirty="0"/>
          </a:p>
          <a:p>
            <a:pPr lvl="1"/>
            <a:r>
              <a:rPr lang="zh-CN" altLang="en-US" dirty="0"/>
              <a:t>修正的方法就是在分类误差上加上一个经验性的惩罚因子。</a:t>
            </a:r>
            <a:endParaRPr lang="zh-CN" altLang="zh-CN" dirty="0"/>
          </a:p>
          <a:p>
            <a:endParaRPr lang="en-US" altLang="zh-CN" dirty="0"/>
          </a:p>
        </p:txBody>
      </p:sp>
      <mc:AlternateContent xmlns:mc="http://schemas.openxmlformats.org/markup-compatibility/2006" xmlns:a14="http://schemas.microsoft.com/office/drawing/2010/main">
        <mc:Choice Requires="a14">
          <p:sp>
            <p:nvSpPr>
              <p:cNvPr id="4" name="Rectangle 2"/>
              <p:cNvSpPr>
                <a:spLocks noChangeArrowheads="1"/>
              </p:cNvSpPr>
              <p:nvPr/>
            </p:nvSpPr>
            <p:spPr bwMode="auto">
              <a:xfrm>
                <a:off x="827584" y="4571008"/>
                <a:ext cx="8064896" cy="752514"/>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fontAlgn="ctr">
                  <a:spcBef>
                    <a:spcPct val="0"/>
                  </a:spcBef>
                  <a:spcAft>
                    <a:spcPct val="0"/>
                  </a:spcAft>
                </a:pPr>
                <a:r>
                  <a:rPr lang="zh-CN" altLang="en-US" sz="2000" dirty="0">
                    <a:latin typeface="Times New Roman" pitchFamily="18" charset="0"/>
                    <a:ea typeface="华文细黑" pitchFamily="2" charset="-122"/>
                    <a:cs typeface="Times New Roman" pitchFamily="18" charset="0"/>
                  </a:rPr>
                  <a:t>对于叶结点</a:t>
                </a:r>
                <a:r>
                  <a:rPr lang="en-US" altLang="zh-CN" sz="2000" i="1" dirty="0">
                    <a:latin typeface="Times New Roman" pitchFamily="18" charset="0"/>
                    <a:ea typeface="华文细黑" pitchFamily="2" charset="-122"/>
                    <a:cs typeface="Times New Roman" pitchFamily="18" charset="0"/>
                  </a:rPr>
                  <a:t>i</a:t>
                </a:r>
                <a:r>
                  <a:rPr lang="zh-CN" altLang="en-US" sz="2000" dirty="0">
                    <a:latin typeface="Times New Roman" pitchFamily="18" charset="0"/>
                    <a:ea typeface="华文细黑" pitchFamily="2" charset="-122"/>
                    <a:cs typeface="Times New Roman" pitchFamily="18" charset="0"/>
                  </a:rPr>
                  <a:t>，假定其有</a:t>
                </a:r>
                <a:r>
                  <a:rPr lang="en-US" altLang="zh-CN" sz="2000" i="1" dirty="0">
                    <a:latin typeface="Times New Roman" pitchFamily="18" charset="0"/>
                    <a:ea typeface="华文细黑" pitchFamily="2" charset="-122"/>
                    <a:cs typeface="Times New Roman" pitchFamily="18" charset="0"/>
                  </a:rPr>
                  <a:t>N</a:t>
                </a:r>
                <a:r>
                  <a:rPr lang="en-US" altLang="zh-CN" sz="2000" i="1" baseline="-25000" dirty="0">
                    <a:latin typeface="Times New Roman" pitchFamily="18" charset="0"/>
                    <a:ea typeface="华文细黑" pitchFamily="2" charset="-122"/>
                    <a:cs typeface="Times New Roman" pitchFamily="18" charset="0"/>
                  </a:rPr>
                  <a:t>i</a:t>
                </a:r>
                <a:r>
                  <a:rPr lang="zh-CN" altLang="en-US" sz="2000" dirty="0">
                    <a:latin typeface="Times New Roman" pitchFamily="18" charset="0"/>
                    <a:ea typeface="华文细黑" pitchFamily="2" charset="-122"/>
                    <a:cs typeface="Times New Roman" pitchFamily="18" charset="0"/>
                  </a:rPr>
                  <a:t>个样本，其中</a:t>
                </a:r>
                <a14:m>
                  <m:oMath xmlns:m="http://schemas.openxmlformats.org/officeDocument/2006/math">
                    <m:sSub>
                      <m:sSubPr>
                        <m:ctrlPr>
                          <a:rPr lang="en-US" altLang="zh-CN" sz="2000" i="1">
                            <a:latin typeface="Cambria Math" panose="02040503050406030204" pitchFamily="18" charset="0"/>
                            <a:ea typeface="华文细黑" pitchFamily="2" charset="-122"/>
                            <a:cs typeface="Times New Roman" pitchFamily="18" charset="0"/>
                          </a:rPr>
                        </m:ctrlPr>
                      </m:sSubPr>
                      <m:e>
                        <m:r>
                          <a:rPr lang="en-US" altLang="zh-CN" sz="2000" i="1">
                            <a:latin typeface="Cambria Math"/>
                            <a:ea typeface="华文细黑" pitchFamily="2" charset="-122"/>
                            <a:cs typeface="Times New Roman" pitchFamily="18" charset="0"/>
                          </a:rPr>
                          <m:t>𝐸</m:t>
                        </m:r>
                      </m:e>
                      <m:sub>
                        <m:sSub>
                          <m:sSubPr>
                            <m:ctrlPr>
                              <a:rPr lang="en-US" altLang="zh-CN" sz="2000" i="1">
                                <a:latin typeface="Cambria Math" panose="02040503050406030204" pitchFamily="18" charset="0"/>
                                <a:ea typeface="华文细黑" pitchFamily="2" charset="-122"/>
                                <a:cs typeface="Times New Roman" pitchFamily="18" charset="0"/>
                              </a:rPr>
                            </m:ctrlPr>
                          </m:sSubPr>
                          <m:e>
                            <m:r>
                              <a:rPr lang="en-US" altLang="zh-CN" sz="2000" i="1">
                                <a:latin typeface="Cambria Math"/>
                                <a:ea typeface="华文细黑" pitchFamily="2" charset="-122"/>
                                <a:cs typeface="Times New Roman" pitchFamily="18" charset="0"/>
                              </a:rPr>
                              <m:t>𝐿𝑒𝑎𝑓</m:t>
                            </m:r>
                          </m:e>
                          <m:sub>
                            <m:r>
                              <a:rPr lang="en-US" altLang="zh-CN" sz="2000" i="1">
                                <a:latin typeface="Cambria Math"/>
                                <a:ea typeface="华文细黑" pitchFamily="2" charset="-122"/>
                                <a:cs typeface="Times New Roman" pitchFamily="18" charset="0"/>
                              </a:rPr>
                              <m:t>𝑖</m:t>
                            </m:r>
                          </m:sub>
                        </m:sSub>
                      </m:sub>
                    </m:sSub>
                  </m:oMath>
                </a14:m>
                <a:r>
                  <a:rPr lang="zh-CN" altLang="en-US" sz="2000" dirty="0">
                    <a:latin typeface="Times New Roman" pitchFamily="18" charset="0"/>
                    <a:ea typeface="华文细黑" pitchFamily="2" charset="-122"/>
                    <a:cs typeface="Times New Roman" pitchFamily="18" charset="0"/>
                  </a:rPr>
                  <a:t>个为错误分类，则其错误率为：</a:t>
                </a:r>
              </a:p>
            </p:txBody>
          </p:sp>
        </mc:Choice>
        <mc:Fallback xmlns="">
          <p:sp>
            <p:nvSpPr>
              <p:cNvPr id="4" name="Rectangle 2"/>
              <p:cNvSpPr>
                <a:spLocks noRot="1" noChangeAspect="1" noMove="1" noResize="1" noEditPoints="1" noAdjustHandles="1" noChangeArrowheads="1" noChangeShapeType="1" noTextEdit="1"/>
              </p:cNvSpPr>
              <p:nvPr/>
            </p:nvSpPr>
            <p:spPr bwMode="auto">
              <a:xfrm>
                <a:off x="827584" y="4571008"/>
                <a:ext cx="8064896" cy="752514"/>
              </a:xfrm>
              <a:prstGeom prst="rect">
                <a:avLst/>
              </a:prstGeom>
              <a:blipFill>
                <a:blip r:embed="rId3"/>
                <a:stretch>
                  <a:fillRect l="-831" t="-1626" b="-1382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aphicFrame>
        <p:nvGraphicFramePr>
          <p:cNvPr id="5" name="对象 4"/>
          <p:cNvGraphicFramePr>
            <a:graphicFrameLocks noChangeAspect="1"/>
          </p:cNvGraphicFramePr>
          <p:nvPr/>
        </p:nvGraphicFramePr>
        <p:xfrm>
          <a:off x="1439864" y="4916488"/>
          <a:ext cx="1838325" cy="849312"/>
        </p:xfrm>
        <a:graphic>
          <a:graphicData uri="http://schemas.openxmlformats.org/presentationml/2006/ole">
            <mc:AlternateContent xmlns:mc="http://schemas.openxmlformats.org/markup-compatibility/2006">
              <mc:Choice xmlns:v="urn:schemas-microsoft-com:vml" Requires="v">
                <p:oleObj spid="_x0000_s7200" name="公式" r:id="rId4" imgW="1066680" imgH="609480" progId="Equation.3">
                  <p:embed/>
                </p:oleObj>
              </mc:Choice>
              <mc:Fallback>
                <p:oleObj name="公式" r:id="rId4" imgW="1066680" imgH="609480" progId="Equation.3">
                  <p:embed/>
                  <p:pic>
                    <p:nvPicPr>
                      <p:cNvPr id="5" name="对象 4"/>
                      <p:cNvPicPr>
                        <a:picLocks noChangeAspect="1" noChangeArrowheads="1"/>
                      </p:cNvPicPr>
                      <p:nvPr/>
                    </p:nvPicPr>
                    <p:blipFill>
                      <a:blip r:embed="rId5"/>
                      <a:srcRect/>
                      <a:stretch>
                        <a:fillRect/>
                      </a:stretch>
                    </p:blipFill>
                    <p:spPr bwMode="auto">
                      <a:xfrm>
                        <a:off x="1439864" y="4916488"/>
                        <a:ext cx="1838325" cy="849312"/>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7" name="矩形 6"/>
              <p:cNvSpPr/>
              <p:nvPr/>
            </p:nvSpPr>
            <p:spPr>
              <a:xfrm>
                <a:off x="3779913" y="5134310"/>
                <a:ext cx="2978701" cy="526939"/>
              </a:xfrm>
              <a:prstGeom prst="rect">
                <a:avLst/>
              </a:prstGeom>
              <a:noFill/>
              <a:ln>
                <a:noFill/>
              </a:ln>
              <a:effectLst/>
              <a:extLst>
                <a:ext uri="{AF507438-7753-43E0-B8FC-AC1667EBCBE1}">
                  <a14:hiddenEffect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ctr">
                  <a:spcBef>
                    <a:spcPct val="0"/>
                  </a:spcBef>
                  <a:spcAft>
                    <a:spcPct val="0"/>
                  </a:spcAft>
                </a:pPr>
                <a:r>
                  <a:rPr lang="zh-CN" altLang="zh-CN" sz="2000" dirty="0">
                    <a:latin typeface="Times New Roman" pitchFamily="18" charset="0"/>
                    <a:ea typeface="华文细黑" pitchFamily="2" charset="-122"/>
                    <a:cs typeface="Times New Roman" pitchFamily="18" charset="0"/>
                  </a:rPr>
                  <a:t>这里的</a:t>
                </a:r>
                <a14:m>
                  <m:oMath xmlns:m="http://schemas.openxmlformats.org/officeDocument/2006/math">
                    <m:r>
                      <a:rPr lang="en-US" altLang="zh-CN" sz="2000">
                        <a:latin typeface="Cambria Math"/>
                        <a:ea typeface="华文细黑" pitchFamily="2" charset="-122"/>
                        <a:cs typeface="Times New Roman" pitchFamily="18" charset="0"/>
                      </a:rPr>
                      <m:t> </m:t>
                    </m:r>
                    <m:f>
                      <m:fPr>
                        <m:ctrlPr>
                          <a:rPr lang="en-US" altLang="zh-CN" sz="2000" i="1">
                            <a:latin typeface="Cambria Math" panose="02040503050406030204" pitchFamily="18" charset="0"/>
                            <a:ea typeface="华文细黑" pitchFamily="2" charset="-122"/>
                            <a:cs typeface="Times New Roman" pitchFamily="18" charset="0"/>
                          </a:rPr>
                        </m:ctrlPr>
                      </m:fPr>
                      <m:num>
                        <m:r>
                          <a:rPr lang="en-US" altLang="zh-CN" sz="2000" i="1">
                            <a:latin typeface="Cambria Math"/>
                            <a:ea typeface="华文细黑" pitchFamily="2" charset="-122"/>
                            <a:cs typeface="Times New Roman" pitchFamily="18" charset="0"/>
                          </a:rPr>
                          <m:t>1</m:t>
                        </m:r>
                      </m:num>
                      <m:den>
                        <m:r>
                          <a:rPr lang="en-US" altLang="zh-CN" sz="2000" i="1">
                            <a:latin typeface="Cambria Math"/>
                            <a:ea typeface="华文细黑" pitchFamily="2" charset="-122"/>
                            <a:cs typeface="Times New Roman" pitchFamily="18" charset="0"/>
                          </a:rPr>
                          <m:t>2</m:t>
                        </m:r>
                      </m:den>
                    </m:f>
                  </m:oMath>
                </a14:m>
                <a:r>
                  <a:rPr lang="en-US" altLang="zh-CN" sz="2000" dirty="0">
                    <a:latin typeface="Times New Roman" pitchFamily="18" charset="0"/>
                    <a:ea typeface="华文细黑" pitchFamily="2" charset="-122"/>
                    <a:cs typeface="Times New Roman" pitchFamily="18" charset="0"/>
                  </a:rPr>
                  <a:t> </a:t>
                </a:r>
                <a:r>
                  <a:rPr lang="zh-CN" altLang="zh-CN" sz="2000" dirty="0">
                    <a:latin typeface="Times New Roman" pitchFamily="18" charset="0"/>
                    <a:ea typeface="华文细黑" pitchFamily="2" charset="-122"/>
                    <a:cs typeface="Times New Roman" pitchFamily="18" charset="0"/>
                  </a:rPr>
                  <a:t>就是惩罚因子。</a:t>
                </a:r>
              </a:p>
            </p:txBody>
          </p:sp>
        </mc:Choice>
        <mc:Fallback xmlns="">
          <p:sp>
            <p:nvSpPr>
              <p:cNvPr id="7" name="矩形 6"/>
              <p:cNvSpPr>
                <a:spLocks noRot="1" noChangeAspect="1" noMove="1" noResize="1" noEditPoints="1" noAdjustHandles="1" noChangeArrowheads="1" noChangeShapeType="1" noTextEdit="1"/>
              </p:cNvSpPr>
              <p:nvPr/>
            </p:nvSpPr>
            <p:spPr>
              <a:xfrm>
                <a:off x="3779913" y="5134310"/>
                <a:ext cx="2978701" cy="526939"/>
              </a:xfrm>
              <a:prstGeom prst="rect">
                <a:avLst/>
              </a:prstGeom>
              <a:blipFill>
                <a:blip r:embed="rId6"/>
                <a:stretch>
                  <a:fillRect l="-2045" r="-1636" b="-8046"/>
                </a:stretch>
              </a:blip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3" name="页脚占位符 2">
            <a:extLst>
              <a:ext uri="{FF2B5EF4-FFF2-40B4-BE49-F238E27FC236}">
                <a16:creationId xmlns:a16="http://schemas.microsoft.com/office/drawing/2014/main" id="{314356D3-17D3-43A7-98CD-F6327B55ECDF}"/>
              </a:ext>
            </a:extLst>
          </p:cNvPr>
          <p:cNvSpPr>
            <a:spLocks noGrp="1"/>
          </p:cNvSpPr>
          <p:nvPr>
            <p:ph type="ftr" sz="quarter" idx="11"/>
          </p:nvPr>
        </p:nvSpPr>
        <p:spPr/>
        <p:txBody>
          <a:bodyPr/>
          <a:lstStyle/>
          <a:p>
            <a:endParaRPr lang="zh-CN" altLang="en-US"/>
          </a:p>
        </p:txBody>
      </p:sp>
      <p:sp>
        <p:nvSpPr>
          <p:cNvPr id="8" name="灯片编号占位符 7">
            <a:extLst>
              <a:ext uri="{FF2B5EF4-FFF2-40B4-BE49-F238E27FC236}">
                <a16:creationId xmlns:a16="http://schemas.microsoft.com/office/drawing/2014/main" id="{07CD9ED0-25F9-4005-ABBA-57AE8978938D}"/>
              </a:ext>
            </a:extLst>
          </p:cNvPr>
          <p:cNvSpPr>
            <a:spLocks noGrp="1"/>
          </p:cNvSpPr>
          <p:nvPr>
            <p:ph type="sldNum" sz="quarter" idx="12"/>
          </p:nvPr>
        </p:nvSpPr>
        <p:spPr/>
        <p:txBody>
          <a:bodyPr/>
          <a:lstStyle/>
          <a:p>
            <a:fld id="{5AD84F5B-1672-4D3F-9FEC-5DF89A7B7912}" type="slidenum">
              <a:rPr lang="zh-CN" altLang="en-US" smtClean="0"/>
              <a:t>71</a:t>
            </a:fld>
            <a:endParaRPr lang="zh-CN" altLang="en-US"/>
          </a:p>
        </p:txBody>
      </p:sp>
    </p:spTree>
    <p:extLst>
      <p:ext uri="{BB962C8B-B14F-4D97-AF65-F5344CB8AC3E}">
        <p14:creationId xmlns:p14="http://schemas.microsoft.com/office/powerpoint/2010/main" val="116562153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悲观错误剪枝法</a:t>
            </a:r>
            <a:r>
              <a:rPr lang="en-US" altLang="zh-CN" dirty="0"/>
              <a:t>PEP</a:t>
            </a:r>
            <a:endParaRPr lang="zh-CN" altLang="en-US" dirty="0"/>
          </a:p>
        </p:txBody>
      </p:sp>
      <p:sp>
        <p:nvSpPr>
          <p:cNvPr id="4" name="矩形 3"/>
          <p:cNvSpPr/>
          <p:nvPr/>
        </p:nvSpPr>
        <p:spPr>
          <a:xfrm>
            <a:off x="467546" y="1767795"/>
            <a:ext cx="6832845" cy="830997"/>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ctr">
              <a:spcBef>
                <a:spcPct val="0"/>
              </a:spcBef>
              <a:spcAft>
                <a:spcPct val="0"/>
              </a:spcAft>
            </a:pPr>
            <a:r>
              <a:rPr lang="zh-CN" altLang="zh-CN" sz="2000" dirty="0">
                <a:latin typeface="Times New Roman" pitchFamily="18" charset="0"/>
                <a:ea typeface="华文细黑" pitchFamily="2" charset="-122"/>
                <a:cs typeface="Times New Roman" pitchFamily="18" charset="0"/>
              </a:rPr>
              <a:t>对于</a:t>
            </a:r>
            <a:r>
              <a:rPr lang="zh-CN" altLang="zh-CN" sz="2800" dirty="0">
                <a:solidFill>
                  <a:srgbClr val="C00000"/>
                </a:solidFill>
                <a:latin typeface="Times New Roman" pitchFamily="18" charset="0"/>
                <a:ea typeface="华文细黑" pitchFamily="2" charset="-122"/>
                <a:cs typeface="Times New Roman" pitchFamily="18" charset="0"/>
              </a:rPr>
              <a:t>子树</a:t>
            </a:r>
            <a:r>
              <a:rPr lang="zh-CN" altLang="zh-CN" sz="2000" dirty="0">
                <a:latin typeface="Times New Roman" pitchFamily="18" charset="0"/>
                <a:ea typeface="华文细黑" pitchFamily="2" charset="-122"/>
                <a:cs typeface="Times New Roman" pitchFamily="18" charset="0"/>
              </a:rPr>
              <a:t>，假定其有</a:t>
            </a:r>
            <a:r>
              <a:rPr lang="en-US" altLang="zh-CN" sz="2000" dirty="0">
                <a:latin typeface="Times New Roman" pitchFamily="18" charset="0"/>
                <a:ea typeface="华文细黑" pitchFamily="2" charset="-122"/>
                <a:cs typeface="Times New Roman" pitchFamily="18" charset="0"/>
              </a:rPr>
              <a:t> </a:t>
            </a:r>
            <a:r>
              <a:rPr lang="en-US" altLang="zh-CN" sz="2000" i="1" dirty="0" err="1">
                <a:latin typeface="Times New Roman" pitchFamily="18" charset="0"/>
                <a:ea typeface="华文细黑" pitchFamily="2" charset="-122"/>
                <a:cs typeface="Times New Roman" pitchFamily="18" charset="0"/>
              </a:rPr>
              <a:t>N</a:t>
            </a:r>
            <a:r>
              <a:rPr lang="en-US" altLang="zh-CN" sz="2000" baseline="-25000" dirty="0" err="1">
                <a:latin typeface="Times New Roman" pitchFamily="18" charset="0"/>
                <a:ea typeface="华文细黑" pitchFamily="2" charset="-122"/>
                <a:cs typeface="Times New Roman" pitchFamily="18" charset="0"/>
              </a:rPr>
              <a:t>Leaf</a:t>
            </a:r>
            <a:r>
              <a:rPr lang="en-US" altLang="zh-CN" sz="2000" baseline="-25000" dirty="0">
                <a:latin typeface="Times New Roman" pitchFamily="18" charset="0"/>
                <a:ea typeface="华文细黑" pitchFamily="2" charset="-122"/>
                <a:cs typeface="Times New Roman" pitchFamily="18" charset="0"/>
              </a:rPr>
              <a:t> </a:t>
            </a:r>
            <a:r>
              <a:rPr lang="zh-CN" altLang="zh-CN" sz="2000" dirty="0">
                <a:latin typeface="Times New Roman" pitchFamily="18" charset="0"/>
                <a:ea typeface="华文细黑" pitchFamily="2" charset="-122"/>
                <a:cs typeface="Times New Roman" pitchFamily="18" charset="0"/>
              </a:rPr>
              <a:t>个叶结点，则其经过修正后的子树的错误率为：</a:t>
            </a:r>
            <a:endParaRPr lang="zh-CN" altLang="en-US" sz="2000" dirty="0">
              <a:latin typeface="Times New Roman" pitchFamily="18" charset="0"/>
              <a:ea typeface="华文细黑" pitchFamily="2" charset="-122"/>
              <a:cs typeface="Times New Roman" pitchFamily="18" charset="0"/>
            </a:endParaRPr>
          </a:p>
        </p:txBody>
      </p:sp>
      <p:sp>
        <p:nvSpPr>
          <p:cNvPr id="5" name="Rectangle 2"/>
          <p:cNvSpPr>
            <a:spLocks noChangeArrowheads="1"/>
          </p:cNvSpPr>
          <p:nvPr/>
        </p:nvSpPr>
        <p:spPr bwMode="auto">
          <a:xfrm>
            <a:off x="1" y="672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nvGraphicFramePr>
        <p:xfrm>
          <a:off x="830263" y="2643188"/>
          <a:ext cx="2106612" cy="1149350"/>
        </p:xfrm>
        <a:graphic>
          <a:graphicData uri="http://schemas.openxmlformats.org/presentationml/2006/ole">
            <mc:AlternateContent xmlns:mc="http://schemas.openxmlformats.org/markup-compatibility/2006">
              <mc:Choice xmlns:v="urn:schemas-microsoft-com:vml" Requires="v">
                <p:oleObj spid="_x0000_s8224" name="公式" r:id="rId3" imgW="1371600" imgH="888840" progId="Equation.3">
                  <p:embed/>
                </p:oleObj>
              </mc:Choice>
              <mc:Fallback>
                <p:oleObj name="公式" r:id="rId3" imgW="1371600" imgH="888840" progId="Equation.3">
                  <p:embed/>
                  <p:pic>
                    <p:nvPicPr>
                      <p:cNvPr id="7" name="对象 6"/>
                      <p:cNvPicPr>
                        <a:picLocks noChangeAspect="1" noChangeArrowheads="1"/>
                      </p:cNvPicPr>
                      <p:nvPr/>
                    </p:nvPicPr>
                    <p:blipFill>
                      <a:blip r:embed="rId4"/>
                      <a:srcRect/>
                      <a:stretch>
                        <a:fillRect/>
                      </a:stretch>
                    </p:blipFill>
                    <p:spPr bwMode="auto">
                      <a:xfrm>
                        <a:off x="830263" y="2643188"/>
                        <a:ext cx="2106612" cy="1149350"/>
                      </a:xfrm>
                      <a:prstGeom prst="rect">
                        <a:avLst/>
                      </a:prstGeom>
                      <a:noFill/>
                    </p:spPr>
                  </p:pic>
                </p:oleObj>
              </mc:Fallback>
            </mc:AlternateContent>
          </a:graphicData>
        </a:graphic>
      </p:graphicFrame>
      <p:sp>
        <p:nvSpPr>
          <p:cNvPr id="10" name="矩形 9"/>
          <p:cNvSpPr/>
          <p:nvPr/>
        </p:nvSpPr>
        <p:spPr>
          <a:xfrm>
            <a:off x="3157179" y="2796801"/>
            <a:ext cx="3292889" cy="978729"/>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ctr">
              <a:lnSpc>
                <a:spcPct val="120000"/>
              </a:lnSpc>
              <a:spcBef>
                <a:spcPct val="0"/>
              </a:spcBef>
              <a:spcAft>
                <a:spcPct val="0"/>
              </a:spcAft>
            </a:pPr>
            <a:r>
              <a:rPr lang="en-US" altLang="zh-CN" sz="1600" i="1" dirty="0" err="1">
                <a:latin typeface="Times New Roman" pitchFamily="18" charset="0"/>
                <a:ea typeface="华文细黑" pitchFamily="2" charset="-122"/>
                <a:cs typeface="Times New Roman" pitchFamily="18" charset="0"/>
              </a:rPr>
              <a:t>E</a:t>
            </a:r>
            <a:r>
              <a:rPr lang="en-US" altLang="zh-CN" sz="1600" i="1" baseline="-25000" dirty="0" err="1">
                <a:latin typeface="Times New Roman" pitchFamily="18" charset="0"/>
                <a:ea typeface="华文细黑" pitchFamily="2" charset="-122"/>
                <a:cs typeface="Times New Roman" pitchFamily="18" charset="0"/>
              </a:rPr>
              <a:t>Leaf</a:t>
            </a:r>
            <a:r>
              <a:rPr lang="en-US" altLang="zh-CN" sz="1600" i="1" baseline="-50000" dirty="0" err="1">
                <a:latin typeface="Times New Roman" pitchFamily="18" charset="0"/>
                <a:ea typeface="华文细黑" pitchFamily="2" charset="-122"/>
                <a:cs typeface="Times New Roman" pitchFamily="18" charset="0"/>
              </a:rPr>
              <a:t>i</a:t>
            </a:r>
            <a:r>
              <a:rPr lang="en-US" altLang="zh-CN" sz="1600" i="1" baseline="-50000" dirty="0">
                <a:latin typeface="Times New Roman" pitchFamily="18" charset="0"/>
                <a:ea typeface="华文细黑" pitchFamily="2" charset="-122"/>
                <a:cs typeface="Times New Roman" pitchFamily="18" charset="0"/>
              </a:rPr>
              <a:t> </a:t>
            </a:r>
            <a:r>
              <a:rPr lang="zh-CN" altLang="zh-CN" sz="1600" dirty="0">
                <a:latin typeface="Times New Roman" pitchFamily="18" charset="0"/>
                <a:ea typeface="华文细黑" pitchFamily="2" charset="-122"/>
                <a:cs typeface="Times New Roman" pitchFamily="18" charset="0"/>
              </a:rPr>
              <a:t>为子树中各叶结点的误判个数</a:t>
            </a:r>
            <a:endParaRPr lang="en-US" altLang="zh-CN" sz="1600" dirty="0">
              <a:latin typeface="Times New Roman" pitchFamily="18" charset="0"/>
              <a:ea typeface="华文细黑" pitchFamily="2" charset="-122"/>
              <a:cs typeface="Times New Roman" pitchFamily="18" charset="0"/>
            </a:endParaRPr>
          </a:p>
          <a:p>
            <a:pPr fontAlgn="ctr">
              <a:lnSpc>
                <a:spcPct val="120000"/>
              </a:lnSpc>
              <a:spcBef>
                <a:spcPct val="0"/>
              </a:spcBef>
              <a:spcAft>
                <a:spcPct val="0"/>
              </a:spcAft>
            </a:pPr>
            <a:r>
              <a:rPr lang="en-US" altLang="zh-CN" sz="1600" i="1" dirty="0" err="1">
                <a:latin typeface="Times New Roman" pitchFamily="18" charset="0"/>
                <a:ea typeface="华文细黑" pitchFamily="2" charset="-122"/>
                <a:cs typeface="Times New Roman" pitchFamily="18" charset="0"/>
              </a:rPr>
              <a:t>N</a:t>
            </a:r>
            <a:r>
              <a:rPr lang="en-US" altLang="zh-CN" sz="1600" i="1" baseline="-25000" dirty="0" err="1">
                <a:latin typeface="Times New Roman" pitchFamily="18" charset="0"/>
                <a:ea typeface="华文细黑" pitchFamily="2" charset="-122"/>
                <a:cs typeface="Times New Roman" pitchFamily="18" charset="0"/>
              </a:rPr>
              <a:t>Leaf</a:t>
            </a:r>
            <a:r>
              <a:rPr lang="en-US" altLang="zh-CN" sz="1600" i="1" baseline="-25000" dirty="0">
                <a:latin typeface="Times New Roman" pitchFamily="18" charset="0"/>
                <a:ea typeface="华文细黑" pitchFamily="2" charset="-122"/>
                <a:cs typeface="Times New Roman" pitchFamily="18" charset="0"/>
              </a:rPr>
              <a:t> </a:t>
            </a:r>
            <a:r>
              <a:rPr lang="zh-CN" altLang="en-US" sz="1600" dirty="0">
                <a:latin typeface="Times New Roman" pitchFamily="18" charset="0"/>
                <a:ea typeface="华文细黑" pitchFamily="2" charset="-122"/>
                <a:cs typeface="Times New Roman" pitchFamily="18" charset="0"/>
              </a:rPr>
              <a:t>为子树中叶结点数</a:t>
            </a:r>
          </a:p>
          <a:p>
            <a:pPr fontAlgn="ctr">
              <a:lnSpc>
                <a:spcPct val="120000"/>
              </a:lnSpc>
              <a:spcBef>
                <a:spcPct val="0"/>
              </a:spcBef>
              <a:spcAft>
                <a:spcPct val="0"/>
              </a:spcAft>
            </a:pPr>
            <a:r>
              <a:rPr lang="en-US" altLang="zh-CN" sz="1600" i="1" dirty="0">
                <a:latin typeface="Times New Roman" pitchFamily="18" charset="0"/>
                <a:ea typeface="华文细黑" pitchFamily="2" charset="-122"/>
                <a:cs typeface="Times New Roman" pitchFamily="18" charset="0"/>
              </a:rPr>
              <a:t>N</a:t>
            </a:r>
            <a:r>
              <a:rPr lang="en-US" altLang="zh-CN" sz="1600" i="1" baseline="-25000" dirty="0">
                <a:latin typeface="Times New Roman" pitchFamily="18" charset="0"/>
                <a:ea typeface="华文细黑" pitchFamily="2" charset="-122"/>
                <a:cs typeface="Times New Roman" pitchFamily="18" charset="0"/>
              </a:rPr>
              <a:t>i </a:t>
            </a:r>
            <a:r>
              <a:rPr lang="zh-CN" altLang="en-US" sz="1600" dirty="0">
                <a:latin typeface="Times New Roman" pitchFamily="18" charset="0"/>
                <a:ea typeface="华文细黑" pitchFamily="2" charset="-122"/>
                <a:cs typeface="Times New Roman" pitchFamily="18" charset="0"/>
              </a:rPr>
              <a:t>为子树中各叶结点的样本数</a:t>
            </a:r>
          </a:p>
        </p:txBody>
      </p:sp>
      <p:sp>
        <p:nvSpPr>
          <p:cNvPr id="11" name="矩形 10"/>
          <p:cNvSpPr/>
          <p:nvPr/>
        </p:nvSpPr>
        <p:spPr>
          <a:xfrm>
            <a:off x="467544" y="3873242"/>
            <a:ext cx="5400600" cy="707886"/>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ctr">
              <a:spcBef>
                <a:spcPct val="0"/>
              </a:spcBef>
              <a:spcAft>
                <a:spcPct val="0"/>
              </a:spcAft>
            </a:pPr>
            <a:r>
              <a:rPr lang="zh-CN" altLang="zh-CN" sz="2000" dirty="0">
                <a:latin typeface="Times New Roman" pitchFamily="18" charset="0"/>
                <a:ea typeface="华文细黑" pitchFamily="2" charset="-122"/>
                <a:cs typeface="Times New Roman" pitchFamily="18" charset="0"/>
              </a:rPr>
              <a:t>加入惩罚因子，在一定程度上消除了因子树换为叶结点时固有的分类误差增长。</a:t>
            </a:r>
          </a:p>
        </p:txBody>
      </p:sp>
      <p:sp>
        <p:nvSpPr>
          <p:cNvPr id="8" name="矩形 7"/>
          <p:cNvSpPr/>
          <p:nvPr/>
        </p:nvSpPr>
        <p:spPr>
          <a:xfrm>
            <a:off x="467544" y="4908328"/>
            <a:ext cx="6015360" cy="830997"/>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ctr">
              <a:spcBef>
                <a:spcPct val="0"/>
              </a:spcBef>
              <a:spcAft>
                <a:spcPct val="0"/>
              </a:spcAft>
            </a:pPr>
            <a:r>
              <a:rPr lang="zh-CN" altLang="en-US" sz="2000" dirty="0">
                <a:latin typeface="Times New Roman" pitchFamily="18" charset="0"/>
                <a:ea typeface="华文细黑" pitchFamily="2" charset="-122"/>
                <a:cs typeface="Times New Roman" pitchFamily="18" charset="0"/>
              </a:rPr>
              <a:t>如果剪枝，内部结点下的子树变成了</a:t>
            </a:r>
            <a:r>
              <a:rPr lang="zh-CN" altLang="en-US" sz="2800" dirty="0">
                <a:solidFill>
                  <a:srgbClr val="C00000"/>
                </a:solidFill>
                <a:latin typeface="Times New Roman" pitchFamily="18" charset="0"/>
                <a:ea typeface="华文细黑" pitchFamily="2" charset="-122"/>
                <a:cs typeface="Times New Roman" pitchFamily="18" charset="0"/>
              </a:rPr>
              <a:t>叶节点</a:t>
            </a:r>
            <a:r>
              <a:rPr lang="en-US" altLang="zh-CN" sz="2800" i="1" dirty="0">
                <a:solidFill>
                  <a:srgbClr val="C00000"/>
                </a:solidFill>
                <a:latin typeface="Times New Roman" pitchFamily="18" charset="0"/>
                <a:ea typeface="华文细黑" pitchFamily="2" charset="-122"/>
                <a:cs typeface="Times New Roman" pitchFamily="18" charset="0"/>
              </a:rPr>
              <a:t>J</a:t>
            </a:r>
            <a:r>
              <a:rPr lang="zh-CN" altLang="zh-CN" sz="2000" dirty="0">
                <a:latin typeface="Times New Roman" pitchFamily="18" charset="0"/>
                <a:ea typeface="华文细黑" pitchFamily="2" charset="-122"/>
                <a:cs typeface="Times New Roman" pitchFamily="18" charset="0"/>
              </a:rPr>
              <a:t>，</a:t>
            </a:r>
            <a:r>
              <a:rPr lang="zh-CN" altLang="en-US" sz="2000" dirty="0">
                <a:latin typeface="Times New Roman" pitchFamily="18" charset="0"/>
                <a:ea typeface="华文细黑" pitchFamily="2" charset="-122"/>
                <a:cs typeface="Times New Roman" pitchFamily="18" charset="0"/>
              </a:rPr>
              <a:t>其误判个数 </a:t>
            </a:r>
            <a:r>
              <a:rPr lang="en-US" altLang="zh-CN" sz="2000" i="1" dirty="0">
                <a:latin typeface="Times New Roman" pitchFamily="18" charset="0"/>
                <a:ea typeface="华文细黑" pitchFamily="2" charset="-122"/>
                <a:cs typeface="Times New Roman" pitchFamily="18" charset="0"/>
              </a:rPr>
              <a:t>E</a:t>
            </a:r>
            <a:r>
              <a:rPr lang="en-US" altLang="zh-CN" sz="2000" i="1" baseline="-25000" dirty="0">
                <a:latin typeface="Times New Roman" pitchFamily="18" charset="0"/>
                <a:ea typeface="华文细黑" pitchFamily="2" charset="-122"/>
                <a:cs typeface="Times New Roman" pitchFamily="18" charset="0"/>
              </a:rPr>
              <a:t>J </a:t>
            </a:r>
            <a:r>
              <a:rPr lang="zh-CN" altLang="en-US" sz="2000" dirty="0">
                <a:latin typeface="Times New Roman" pitchFamily="18" charset="0"/>
                <a:ea typeface="华文细黑" pitchFamily="2" charset="-122"/>
                <a:cs typeface="Times New Roman" pitchFamily="18" charset="0"/>
              </a:rPr>
              <a:t>也要加上这个惩罚因子，变为 </a:t>
            </a:r>
            <a:r>
              <a:rPr lang="en-US" altLang="zh-CN" sz="2000" i="1" dirty="0">
                <a:latin typeface="Times New Roman" pitchFamily="18" charset="0"/>
                <a:ea typeface="华文细黑" pitchFamily="2" charset="-122"/>
                <a:cs typeface="Times New Roman" pitchFamily="18" charset="0"/>
              </a:rPr>
              <a:t>E</a:t>
            </a:r>
            <a:r>
              <a:rPr lang="en-US" altLang="zh-CN" sz="2000" i="1" baseline="-25000" dirty="0">
                <a:latin typeface="Times New Roman" pitchFamily="18" charset="0"/>
                <a:ea typeface="华文细黑" pitchFamily="2" charset="-122"/>
                <a:cs typeface="Times New Roman" pitchFamily="18" charset="0"/>
              </a:rPr>
              <a:t>J </a:t>
            </a:r>
            <a:r>
              <a:rPr lang="en-US" altLang="zh-CN" sz="2000" dirty="0">
                <a:latin typeface="Times New Roman" pitchFamily="18" charset="0"/>
                <a:ea typeface="华文细黑" pitchFamily="2" charset="-122"/>
                <a:cs typeface="Times New Roman" pitchFamily="18" charset="0"/>
              </a:rPr>
              <a:t>+0.5</a:t>
            </a:r>
            <a:r>
              <a:rPr lang="zh-CN" altLang="en-US" sz="2000" dirty="0">
                <a:latin typeface="Times New Roman" pitchFamily="18" charset="0"/>
                <a:ea typeface="华文细黑" pitchFamily="2" charset="-122"/>
                <a:cs typeface="Times New Roman" pitchFamily="18" charset="0"/>
              </a:rPr>
              <a:t>。</a:t>
            </a:r>
          </a:p>
        </p:txBody>
      </p:sp>
      <p:sp>
        <p:nvSpPr>
          <p:cNvPr id="3" name="椭圆 2"/>
          <p:cNvSpPr/>
          <p:nvPr/>
        </p:nvSpPr>
        <p:spPr>
          <a:xfrm>
            <a:off x="7455600" y="2316346"/>
            <a:ext cx="797472" cy="388800"/>
          </a:xfrm>
          <a:prstGeom prst="ellipse">
            <a:avLst/>
          </a:prstGeom>
          <a:solidFill>
            <a:srgbClr val="F9E3E3"/>
          </a:solidFill>
          <a:ln w="19050"/>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latin typeface="华文细黑" pitchFamily="2" charset="-122"/>
                <a:ea typeface="华文细黑" pitchFamily="2" charset="-122"/>
              </a:rPr>
              <a:t>A</a:t>
            </a:r>
            <a:r>
              <a:rPr lang="en-US" altLang="zh-CN" baseline="-25000" dirty="0">
                <a:latin typeface="华文细黑" pitchFamily="2" charset="-122"/>
                <a:ea typeface="华文细黑" pitchFamily="2" charset="-122"/>
              </a:rPr>
              <a:t>1</a:t>
            </a:r>
            <a:endParaRPr lang="zh-CN" altLang="en-US" baseline="-25000" dirty="0">
              <a:latin typeface="华文细黑" pitchFamily="2" charset="-122"/>
              <a:ea typeface="华文细黑" pitchFamily="2" charset="-122"/>
            </a:endParaRPr>
          </a:p>
        </p:txBody>
      </p:sp>
      <p:sp>
        <p:nvSpPr>
          <p:cNvPr id="12" name="椭圆 11"/>
          <p:cNvSpPr/>
          <p:nvPr/>
        </p:nvSpPr>
        <p:spPr>
          <a:xfrm>
            <a:off x="6732240" y="3104964"/>
            <a:ext cx="797472" cy="388800"/>
          </a:xfrm>
          <a:prstGeom prst="ellipse">
            <a:avLst/>
          </a:prstGeom>
          <a:solidFill>
            <a:srgbClr val="F9E3E3"/>
          </a:solidFill>
          <a:ln w="19050"/>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latin typeface="华文细黑" pitchFamily="2" charset="-122"/>
                <a:ea typeface="华文细黑" pitchFamily="2" charset="-122"/>
              </a:rPr>
              <a:t>A</a:t>
            </a:r>
            <a:r>
              <a:rPr lang="en-US" altLang="zh-CN" baseline="-25000" dirty="0">
                <a:latin typeface="华文细黑" pitchFamily="2" charset="-122"/>
                <a:ea typeface="华文细黑" pitchFamily="2" charset="-122"/>
              </a:rPr>
              <a:t>2</a:t>
            </a:r>
            <a:endParaRPr lang="zh-CN" altLang="en-US" baseline="-25000" dirty="0">
              <a:latin typeface="华文细黑" pitchFamily="2" charset="-122"/>
              <a:ea typeface="华文细黑" pitchFamily="2" charset="-122"/>
            </a:endParaRPr>
          </a:p>
        </p:txBody>
      </p:sp>
      <p:sp>
        <p:nvSpPr>
          <p:cNvPr id="13" name="矩形 12"/>
          <p:cNvSpPr/>
          <p:nvPr/>
        </p:nvSpPr>
        <p:spPr>
          <a:xfrm>
            <a:off x="8224017" y="3101567"/>
            <a:ext cx="797472" cy="453600"/>
          </a:xfrm>
          <a:prstGeom prst="rect">
            <a:avLst/>
          </a:prstGeom>
          <a:solidFill>
            <a:schemeClr val="accent6">
              <a:lumMod val="20000"/>
              <a:lumOff val="80000"/>
            </a:schemeClr>
          </a:solidFill>
          <a:ln w="19050"/>
        </p:spPr>
        <p:style>
          <a:lnRef idx="2">
            <a:schemeClr val="accent6"/>
          </a:lnRef>
          <a:fillRef idx="1">
            <a:schemeClr val="lt1"/>
          </a:fillRef>
          <a:effectRef idx="0">
            <a:schemeClr val="accent6"/>
          </a:effectRef>
          <a:fontRef idx="minor">
            <a:schemeClr val="dk1"/>
          </a:fontRef>
        </p:style>
        <p:txBody>
          <a:bodyPr lIns="0" tIns="36000" rIns="0" bIns="36000" rtlCol="0" anchor="ctr"/>
          <a:lstStyle/>
          <a:p>
            <a:pPr algn="ctr">
              <a:lnSpc>
                <a:spcPts val="1200"/>
              </a:lnSpc>
            </a:pPr>
            <a:r>
              <a:rPr lang="en-US" altLang="zh-CN" dirty="0">
                <a:latin typeface="华文细黑" pitchFamily="2" charset="-122"/>
                <a:ea typeface="华文细黑" pitchFamily="2" charset="-122"/>
              </a:rPr>
              <a:t>c</a:t>
            </a:r>
            <a:r>
              <a:rPr lang="en-US" altLang="zh-CN" baseline="-25000" dirty="0">
                <a:latin typeface="华文细黑" pitchFamily="2" charset="-122"/>
                <a:ea typeface="华文细黑" pitchFamily="2" charset="-122"/>
              </a:rPr>
              <a:t>1</a:t>
            </a:r>
          </a:p>
          <a:p>
            <a:pPr algn="ctr">
              <a:lnSpc>
                <a:spcPts val="1200"/>
              </a:lnSpc>
            </a:pPr>
            <a:r>
              <a:rPr lang="en-US" altLang="zh-CN" baseline="-25000" dirty="0">
                <a:latin typeface="华文细黑" pitchFamily="2" charset="-122"/>
                <a:ea typeface="华文细黑" pitchFamily="2" charset="-122"/>
              </a:rPr>
              <a:t>6     3</a:t>
            </a:r>
            <a:endParaRPr lang="zh-CN" altLang="en-US" baseline="-25000" dirty="0">
              <a:latin typeface="华文细黑" pitchFamily="2" charset="-122"/>
              <a:ea typeface="华文细黑" pitchFamily="2" charset="-122"/>
            </a:endParaRPr>
          </a:p>
        </p:txBody>
      </p:sp>
      <p:sp>
        <p:nvSpPr>
          <p:cNvPr id="14" name="矩形 13"/>
          <p:cNvSpPr/>
          <p:nvPr/>
        </p:nvSpPr>
        <p:spPr>
          <a:xfrm>
            <a:off x="6084168" y="3933043"/>
            <a:ext cx="797472" cy="453600"/>
          </a:xfrm>
          <a:prstGeom prst="rect">
            <a:avLst/>
          </a:prstGeom>
          <a:solidFill>
            <a:schemeClr val="accent6">
              <a:lumMod val="20000"/>
              <a:lumOff val="80000"/>
            </a:schemeClr>
          </a:solidFill>
          <a:ln w="19050"/>
        </p:spPr>
        <p:style>
          <a:lnRef idx="2">
            <a:schemeClr val="accent6"/>
          </a:lnRef>
          <a:fillRef idx="1">
            <a:schemeClr val="lt1"/>
          </a:fillRef>
          <a:effectRef idx="0">
            <a:schemeClr val="accent6"/>
          </a:effectRef>
          <a:fontRef idx="minor">
            <a:schemeClr val="dk1"/>
          </a:fontRef>
        </p:style>
        <p:txBody>
          <a:bodyPr lIns="0" tIns="36000" rIns="0" bIns="36000" rtlCol="0" anchor="ctr"/>
          <a:lstStyle/>
          <a:p>
            <a:pPr algn="ctr">
              <a:lnSpc>
                <a:spcPts val="1200"/>
              </a:lnSpc>
            </a:pPr>
            <a:r>
              <a:rPr lang="en-US" altLang="zh-CN" dirty="0">
                <a:latin typeface="华文细黑" pitchFamily="2" charset="-122"/>
                <a:ea typeface="华文细黑" pitchFamily="2" charset="-122"/>
              </a:rPr>
              <a:t>c</a:t>
            </a:r>
            <a:r>
              <a:rPr lang="en-US" altLang="zh-CN" baseline="-25000" dirty="0">
                <a:latin typeface="华文细黑" pitchFamily="2" charset="-122"/>
                <a:ea typeface="华文细黑" pitchFamily="2" charset="-122"/>
              </a:rPr>
              <a:t>1</a:t>
            </a:r>
          </a:p>
          <a:p>
            <a:pPr algn="ctr">
              <a:lnSpc>
                <a:spcPts val="1200"/>
              </a:lnSpc>
            </a:pPr>
            <a:r>
              <a:rPr lang="en-US" altLang="zh-CN" baseline="-25000" dirty="0">
                <a:latin typeface="华文细黑" pitchFamily="2" charset="-122"/>
                <a:ea typeface="华文细黑" pitchFamily="2" charset="-122"/>
              </a:rPr>
              <a:t>3     2</a:t>
            </a:r>
            <a:endParaRPr lang="zh-CN" altLang="en-US" baseline="-25000" dirty="0">
              <a:latin typeface="华文细黑" pitchFamily="2" charset="-122"/>
              <a:ea typeface="华文细黑" pitchFamily="2" charset="-122"/>
            </a:endParaRPr>
          </a:p>
        </p:txBody>
      </p:sp>
      <p:sp>
        <p:nvSpPr>
          <p:cNvPr id="15" name="矩形 14"/>
          <p:cNvSpPr/>
          <p:nvPr/>
        </p:nvSpPr>
        <p:spPr>
          <a:xfrm>
            <a:off x="7300389" y="3933043"/>
            <a:ext cx="797472" cy="453600"/>
          </a:xfrm>
          <a:prstGeom prst="rect">
            <a:avLst/>
          </a:prstGeom>
          <a:solidFill>
            <a:schemeClr val="accent6">
              <a:lumMod val="20000"/>
              <a:lumOff val="80000"/>
            </a:schemeClr>
          </a:solidFill>
          <a:ln w="19050"/>
        </p:spPr>
        <p:style>
          <a:lnRef idx="2">
            <a:schemeClr val="accent6"/>
          </a:lnRef>
          <a:fillRef idx="1">
            <a:schemeClr val="lt1"/>
          </a:fillRef>
          <a:effectRef idx="0">
            <a:schemeClr val="accent6"/>
          </a:effectRef>
          <a:fontRef idx="minor">
            <a:schemeClr val="dk1"/>
          </a:fontRef>
        </p:style>
        <p:txBody>
          <a:bodyPr lIns="0" tIns="36000" rIns="0" bIns="36000" rtlCol="0" anchor="ctr"/>
          <a:lstStyle/>
          <a:p>
            <a:pPr algn="ctr">
              <a:lnSpc>
                <a:spcPts val="1200"/>
              </a:lnSpc>
            </a:pPr>
            <a:r>
              <a:rPr lang="en-US" altLang="zh-CN" dirty="0">
                <a:latin typeface="华文细黑" pitchFamily="2" charset="-122"/>
                <a:ea typeface="华文细黑" pitchFamily="2" charset="-122"/>
              </a:rPr>
              <a:t>c</a:t>
            </a:r>
            <a:r>
              <a:rPr lang="en-US" altLang="zh-CN" baseline="-25000" dirty="0">
                <a:latin typeface="华文细黑" pitchFamily="2" charset="-122"/>
                <a:ea typeface="华文细黑" pitchFamily="2" charset="-122"/>
              </a:rPr>
              <a:t>2</a:t>
            </a:r>
          </a:p>
          <a:p>
            <a:pPr algn="ctr">
              <a:lnSpc>
                <a:spcPts val="1200"/>
              </a:lnSpc>
            </a:pPr>
            <a:r>
              <a:rPr lang="en-US" altLang="zh-CN" baseline="-25000" dirty="0">
                <a:latin typeface="华文细黑" pitchFamily="2" charset="-122"/>
                <a:ea typeface="华文细黑" pitchFamily="2" charset="-122"/>
              </a:rPr>
              <a:t>0     2</a:t>
            </a:r>
            <a:endParaRPr lang="zh-CN" altLang="en-US" baseline="-25000" dirty="0">
              <a:latin typeface="华文细黑" pitchFamily="2" charset="-122"/>
              <a:ea typeface="华文细黑" pitchFamily="2" charset="-122"/>
            </a:endParaRPr>
          </a:p>
        </p:txBody>
      </p:sp>
      <p:cxnSp>
        <p:nvCxnSpPr>
          <p:cNvPr id="16" name="直接连接符 15"/>
          <p:cNvCxnSpPr>
            <a:stCxn id="3" idx="4"/>
            <a:endCxn id="12" idx="0"/>
          </p:cNvCxnSpPr>
          <p:nvPr/>
        </p:nvCxnSpPr>
        <p:spPr>
          <a:xfrm flipH="1">
            <a:off x="7130976" y="2705146"/>
            <a:ext cx="723360" cy="399818"/>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3" idx="4"/>
            <a:endCxn id="13" idx="0"/>
          </p:cNvCxnSpPr>
          <p:nvPr/>
        </p:nvCxnSpPr>
        <p:spPr>
          <a:xfrm>
            <a:off x="7854338" y="2705147"/>
            <a:ext cx="768417" cy="396421"/>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12" idx="4"/>
          </p:cNvCxnSpPr>
          <p:nvPr/>
        </p:nvCxnSpPr>
        <p:spPr>
          <a:xfrm flipH="1">
            <a:off x="6482904" y="3493765"/>
            <a:ext cx="648072" cy="439279"/>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12" idx="4"/>
          </p:cNvCxnSpPr>
          <p:nvPr/>
        </p:nvCxnSpPr>
        <p:spPr>
          <a:xfrm>
            <a:off x="7130978" y="3493765"/>
            <a:ext cx="568149" cy="439279"/>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30" name="矩形 29"/>
          <p:cNvSpPr/>
          <p:nvPr/>
        </p:nvSpPr>
        <p:spPr>
          <a:xfrm>
            <a:off x="7380312" y="5114038"/>
            <a:ext cx="864000" cy="576000"/>
          </a:xfrm>
          <a:prstGeom prst="rect">
            <a:avLst/>
          </a:prstGeom>
          <a:solidFill>
            <a:srgbClr val="FFFF00"/>
          </a:solidFill>
          <a:ln w="19050"/>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r>
              <a:rPr lang="en-US" altLang="zh-CN" sz="2000" dirty="0">
                <a:latin typeface="华文细黑" pitchFamily="2" charset="-122"/>
                <a:ea typeface="华文细黑" pitchFamily="2" charset="-122"/>
              </a:rPr>
              <a:t>c</a:t>
            </a:r>
            <a:r>
              <a:rPr lang="en-US" altLang="zh-CN" sz="2000" baseline="-25000" dirty="0">
                <a:latin typeface="华文细黑" pitchFamily="2" charset="-122"/>
                <a:ea typeface="华文细黑" pitchFamily="2" charset="-122"/>
              </a:rPr>
              <a:t>1</a:t>
            </a:r>
          </a:p>
          <a:p>
            <a:pPr algn="ctr"/>
            <a:r>
              <a:rPr lang="en-US" altLang="zh-CN" sz="2000" baseline="-25000" dirty="0">
                <a:latin typeface="华文细黑" pitchFamily="2" charset="-122"/>
                <a:ea typeface="华文细黑" pitchFamily="2" charset="-122"/>
              </a:rPr>
              <a:t>9     7</a:t>
            </a:r>
            <a:endParaRPr lang="zh-CN" altLang="en-US" sz="2000" baseline="-25000" dirty="0">
              <a:latin typeface="华文细黑" pitchFamily="2" charset="-122"/>
              <a:ea typeface="华文细黑" pitchFamily="2" charset="-122"/>
            </a:endParaRPr>
          </a:p>
        </p:txBody>
      </p:sp>
      <p:sp>
        <p:nvSpPr>
          <p:cNvPr id="31" name="下箭头 30"/>
          <p:cNvSpPr/>
          <p:nvPr/>
        </p:nvSpPr>
        <p:spPr>
          <a:xfrm>
            <a:off x="7549725" y="4774558"/>
            <a:ext cx="398736" cy="224733"/>
          </a:xfrm>
          <a:prstGeom prst="down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32" name="线形标注 2 31"/>
          <p:cNvSpPr/>
          <p:nvPr/>
        </p:nvSpPr>
        <p:spPr>
          <a:xfrm>
            <a:off x="4786791" y="4464984"/>
            <a:ext cx="1116000" cy="504000"/>
          </a:xfrm>
          <a:prstGeom prst="borderCallout2">
            <a:avLst>
              <a:gd name="adj1" fmla="val 22576"/>
              <a:gd name="adj2" fmla="val 100769"/>
              <a:gd name="adj3" fmla="val 22550"/>
              <a:gd name="adj4" fmla="val 117429"/>
              <a:gd name="adj5" fmla="val -36590"/>
              <a:gd name="adj6" fmla="val 135961"/>
            </a:avLst>
          </a:prstGeom>
          <a:ln w="9525">
            <a:headEnd type="none" w="med" len="med"/>
            <a:tailEnd type="triangle" w="sm" len="med"/>
          </a:ln>
        </p:spPr>
        <p:style>
          <a:lnRef idx="2">
            <a:schemeClr val="accent3"/>
          </a:lnRef>
          <a:fillRef idx="1">
            <a:schemeClr val="lt1"/>
          </a:fillRef>
          <a:effectRef idx="0">
            <a:schemeClr val="accent3"/>
          </a:effectRef>
          <a:fontRef idx="minor">
            <a:schemeClr val="dk1"/>
          </a:fontRef>
        </p:style>
        <p:txBody>
          <a:bodyPr lIns="36000" tIns="36000" rIns="36000" bIns="36000" rtlCol="0" anchor="ctr"/>
          <a:lstStyle/>
          <a:p>
            <a:pPr algn="ctr"/>
            <a:r>
              <a:rPr lang="zh-CN" altLang="zh-CN" sz="1400" dirty="0">
                <a:latin typeface="华文细黑" pitchFamily="2" charset="-122"/>
                <a:ea typeface="华文细黑" pitchFamily="2" charset="-122"/>
              </a:rPr>
              <a:t>正确分类的样本数量</a:t>
            </a:r>
            <a:endParaRPr lang="zh-CN" altLang="en-US" sz="1400" dirty="0">
              <a:latin typeface="华文细黑" pitchFamily="2" charset="-122"/>
              <a:ea typeface="华文细黑" pitchFamily="2" charset="-122"/>
            </a:endParaRPr>
          </a:p>
        </p:txBody>
      </p:sp>
      <p:sp>
        <p:nvSpPr>
          <p:cNvPr id="33" name="线形标注 2 32"/>
          <p:cNvSpPr/>
          <p:nvPr/>
        </p:nvSpPr>
        <p:spPr>
          <a:xfrm>
            <a:off x="6550628" y="4464307"/>
            <a:ext cx="936000" cy="504000"/>
          </a:xfrm>
          <a:prstGeom prst="borderCallout2">
            <a:avLst>
              <a:gd name="adj1" fmla="val -79"/>
              <a:gd name="adj2" fmla="val 28772"/>
              <a:gd name="adj3" fmla="val -20639"/>
              <a:gd name="adj4" fmla="val 28980"/>
              <a:gd name="adj5" fmla="val -33401"/>
              <a:gd name="adj6" fmla="val 13740"/>
            </a:avLst>
          </a:prstGeom>
          <a:ln w="9525">
            <a:headEnd type="none" w="med" len="med"/>
            <a:tailEnd type="triangle" w="sm" len="med"/>
          </a:ln>
        </p:spPr>
        <p:style>
          <a:lnRef idx="2">
            <a:schemeClr val="accent3"/>
          </a:lnRef>
          <a:fillRef idx="1">
            <a:schemeClr val="lt1"/>
          </a:fillRef>
          <a:effectRef idx="0">
            <a:schemeClr val="accent3"/>
          </a:effectRef>
          <a:fontRef idx="minor">
            <a:schemeClr val="dk1"/>
          </a:fontRef>
        </p:style>
        <p:txBody>
          <a:bodyPr lIns="36000" tIns="36000" rIns="36000" bIns="36000" rtlCol="0" anchor="ctr"/>
          <a:lstStyle/>
          <a:p>
            <a:pPr algn="ctr"/>
            <a:r>
              <a:rPr lang="zh-CN" altLang="en-US" sz="1400" dirty="0">
                <a:latin typeface="华文细黑" pitchFamily="2" charset="-122"/>
                <a:ea typeface="华文细黑" pitchFamily="2" charset="-122"/>
              </a:rPr>
              <a:t>误判的</a:t>
            </a:r>
            <a:r>
              <a:rPr lang="zh-CN" altLang="zh-CN" sz="1400" dirty="0">
                <a:latin typeface="华文细黑" pitchFamily="2" charset="-122"/>
                <a:ea typeface="华文细黑" pitchFamily="2" charset="-122"/>
              </a:rPr>
              <a:t>样本数量</a:t>
            </a:r>
            <a:endParaRPr lang="zh-CN" altLang="en-US" sz="1400" dirty="0">
              <a:latin typeface="华文细黑" pitchFamily="2" charset="-122"/>
              <a:ea typeface="华文细黑" pitchFamily="2" charset="-122"/>
            </a:endParaRPr>
          </a:p>
        </p:txBody>
      </p:sp>
      <p:sp>
        <p:nvSpPr>
          <p:cNvPr id="9" name="椭圆 8"/>
          <p:cNvSpPr/>
          <p:nvPr/>
        </p:nvSpPr>
        <p:spPr>
          <a:xfrm>
            <a:off x="5903745" y="2150626"/>
            <a:ext cx="3196947" cy="2377029"/>
          </a:xfrm>
          <a:custGeom>
            <a:avLst/>
            <a:gdLst>
              <a:gd name="connsiteX0" fmla="*/ 0 w 2085701"/>
              <a:gd name="connsiteY0" fmla="*/ 1224136 h 2448272"/>
              <a:gd name="connsiteX1" fmla="*/ 1042851 w 2085701"/>
              <a:gd name="connsiteY1" fmla="*/ 0 h 2448272"/>
              <a:gd name="connsiteX2" fmla="*/ 2085702 w 2085701"/>
              <a:gd name="connsiteY2" fmla="*/ 1224136 h 2448272"/>
              <a:gd name="connsiteX3" fmla="*/ 1042851 w 2085701"/>
              <a:gd name="connsiteY3" fmla="*/ 2448272 h 2448272"/>
              <a:gd name="connsiteX4" fmla="*/ 0 w 2085701"/>
              <a:gd name="connsiteY4" fmla="*/ 1224136 h 2448272"/>
              <a:gd name="connsiteX0" fmla="*/ 29720 w 2383563"/>
              <a:gd name="connsiteY0" fmla="*/ 1201276 h 2425412"/>
              <a:gd name="connsiteX1" fmla="*/ 2131751 w 2383563"/>
              <a:gd name="connsiteY1" fmla="*/ 0 h 2425412"/>
              <a:gd name="connsiteX2" fmla="*/ 2115422 w 2383563"/>
              <a:gd name="connsiteY2" fmla="*/ 1201276 h 2425412"/>
              <a:gd name="connsiteX3" fmla="*/ 1072571 w 2383563"/>
              <a:gd name="connsiteY3" fmla="*/ 2425412 h 2425412"/>
              <a:gd name="connsiteX4" fmla="*/ 29720 w 2383563"/>
              <a:gd name="connsiteY4" fmla="*/ 1201276 h 2425412"/>
              <a:gd name="connsiteX0" fmla="*/ 27612 w 3096294"/>
              <a:gd name="connsiteY0" fmla="*/ 1201278 h 2425415"/>
              <a:gd name="connsiteX1" fmla="*/ 2129643 w 3096294"/>
              <a:gd name="connsiteY1" fmla="*/ 2 h 2425415"/>
              <a:gd name="connsiteX2" fmla="*/ 3096294 w 3096294"/>
              <a:gd name="connsiteY2" fmla="*/ 1193658 h 2425415"/>
              <a:gd name="connsiteX3" fmla="*/ 1070463 w 3096294"/>
              <a:gd name="connsiteY3" fmla="*/ 2425414 h 2425415"/>
              <a:gd name="connsiteX4" fmla="*/ 27612 w 3096294"/>
              <a:gd name="connsiteY4" fmla="*/ 1201278 h 2425415"/>
              <a:gd name="connsiteX0" fmla="*/ 24438 w 3095994"/>
              <a:gd name="connsiteY0" fmla="*/ 1201278 h 2478898"/>
              <a:gd name="connsiteX1" fmla="*/ 2126469 w 3095994"/>
              <a:gd name="connsiteY1" fmla="*/ 2 h 2478898"/>
              <a:gd name="connsiteX2" fmla="*/ 3093120 w 3095994"/>
              <a:gd name="connsiteY2" fmla="*/ 1193658 h 2478898"/>
              <a:gd name="connsiteX3" fmla="*/ 2394277 w 3095994"/>
              <a:gd name="connsiteY3" fmla="*/ 2153396 h 2478898"/>
              <a:gd name="connsiteX4" fmla="*/ 1067289 w 3095994"/>
              <a:gd name="connsiteY4" fmla="*/ 2425414 h 2478898"/>
              <a:gd name="connsiteX5" fmla="*/ 24438 w 3095994"/>
              <a:gd name="connsiteY5" fmla="*/ 1201278 h 2478898"/>
              <a:gd name="connsiteX0" fmla="*/ 24438 w 3126801"/>
              <a:gd name="connsiteY0" fmla="*/ 1210814 h 2488434"/>
              <a:gd name="connsiteX1" fmla="*/ 2126469 w 3126801"/>
              <a:gd name="connsiteY1" fmla="*/ 9538 h 2488434"/>
              <a:gd name="connsiteX2" fmla="*/ 2920057 w 3126801"/>
              <a:gd name="connsiteY2" fmla="*/ 677031 h 2488434"/>
              <a:gd name="connsiteX3" fmla="*/ 3093120 w 3126801"/>
              <a:gd name="connsiteY3" fmla="*/ 1203194 h 2488434"/>
              <a:gd name="connsiteX4" fmla="*/ 2394277 w 3126801"/>
              <a:gd name="connsiteY4" fmla="*/ 2162932 h 2488434"/>
              <a:gd name="connsiteX5" fmla="*/ 1067289 w 3126801"/>
              <a:gd name="connsiteY5" fmla="*/ 2434950 h 2488434"/>
              <a:gd name="connsiteX6" fmla="*/ 24438 w 3126801"/>
              <a:gd name="connsiteY6" fmla="*/ 1210814 h 2488434"/>
              <a:gd name="connsiteX0" fmla="*/ 51573 w 2536716"/>
              <a:gd name="connsiteY0" fmla="*/ 1163703 h 2490199"/>
              <a:gd name="connsiteX1" fmla="*/ 1536384 w 2536716"/>
              <a:gd name="connsiteY1" fmla="*/ 8147 h 2490199"/>
              <a:gd name="connsiteX2" fmla="*/ 2329972 w 2536716"/>
              <a:gd name="connsiteY2" fmla="*/ 675640 h 2490199"/>
              <a:gd name="connsiteX3" fmla="*/ 2503035 w 2536716"/>
              <a:gd name="connsiteY3" fmla="*/ 1201803 h 2490199"/>
              <a:gd name="connsiteX4" fmla="*/ 1804192 w 2536716"/>
              <a:gd name="connsiteY4" fmla="*/ 2161541 h 2490199"/>
              <a:gd name="connsiteX5" fmla="*/ 477204 w 2536716"/>
              <a:gd name="connsiteY5" fmla="*/ 2433559 h 2490199"/>
              <a:gd name="connsiteX6" fmla="*/ 51573 w 2536716"/>
              <a:gd name="connsiteY6" fmla="*/ 1163703 h 2490199"/>
              <a:gd name="connsiteX0" fmla="*/ 32533 w 2517676"/>
              <a:gd name="connsiteY0" fmla="*/ 1096145 h 2422641"/>
              <a:gd name="connsiteX1" fmla="*/ 1212544 w 2517676"/>
              <a:gd name="connsiteY1" fmla="*/ 9169 h 2422641"/>
              <a:gd name="connsiteX2" fmla="*/ 2310932 w 2517676"/>
              <a:gd name="connsiteY2" fmla="*/ 608082 h 2422641"/>
              <a:gd name="connsiteX3" fmla="*/ 2483995 w 2517676"/>
              <a:gd name="connsiteY3" fmla="*/ 1134245 h 2422641"/>
              <a:gd name="connsiteX4" fmla="*/ 1785152 w 2517676"/>
              <a:gd name="connsiteY4" fmla="*/ 2093983 h 2422641"/>
              <a:gd name="connsiteX5" fmla="*/ 458164 w 2517676"/>
              <a:gd name="connsiteY5" fmla="*/ 2366001 h 2422641"/>
              <a:gd name="connsiteX6" fmla="*/ 32533 w 2517676"/>
              <a:gd name="connsiteY6" fmla="*/ 1096145 h 2422641"/>
              <a:gd name="connsiteX0" fmla="*/ 633188 w 3118331"/>
              <a:gd name="connsiteY0" fmla="*/ 1096145 h 2374902"/>
              <a:gd name="connsiteX1" fmla="*/ 1813199 w 3118331"/>
              <a:gd name="connsiteY1" fmla="*/ 9169 h 2374902"/>
              <a:gd name="connsiteX2" fmla="*/ 2911587 w 3118331"/>
              <a:gd name="connsiteY2" fmla="*/ 608082 h 2374902"/>
              <a:gd name="connsiteX3" fmla="*/ 3084650 w 3118331"/>
              <a:gd name="connsiteY3" fmla="*/ 1134245 h 2374902"/>
              <a:gd name="connsiteX4" fmla="*/ 2385807 w 3118331"/>
              <a:gd name="connsiteY4" fmla="*/ 2093983 h 2374902"/>
              <a:gd name="connsiteX5" fmla="*/ 1058819 w 3118331"/>
              <a:gd name="connsiteY5" fmla="*/ 2366001 h 2374902"/>
              <a:gd name="connsiteX6" fmla="*/ 8366 w 3118331"/>
              <a:gd name="connsiteY6" fmla="*/ 1842522 h 2374902"/>
              <a:gd name="connsiteX7" fmla="*/ 633188 w 3118331"/>
              <a:gd name="connsiteY7" fmla="*/ 1096145 h 2374902"/>
              <a:gd name="connsiteX0" fmla="*/ 664404 w 3149547"/>
              <a:gd name="connsiteY0" fmla="*/ 1096145 h 2370352"/>
              <a:gd name="connsiteX1" fmla="*/ 1844415 w 3149547"/>
              <a:gd name="connsiteY1" fmla="*/ 9169 h 2370352"/>
              <a:gd name="connsiteX2" fmla="*/ 2942803 w 3149547"/>
              <a:gd name="connsiteY2" fmla="*/ 608082 h 2370352"/>
              <a:gd name="connsiteX3" fmla="*/ 3115866 w 3149547"/>
              <a:gd name="connsiteY3" fmla="*/ 1134245 h 2370352"/>
              <a:gd name="connsiteX4" fmla="*/ 2417023 w 3149547"/>
              <a:gd name="connsiteY4" fmla="*/ 2093983 h 2370352"/>
              <a:gd name="connsiteX5" fmla="*/ 1090035 w 3149547"/>
              <a:gd name="connsiteY5" fmla="*/ 2366001 h 2370352"/>
              <a:gd name="connsiteX6" fmla="*/ 108163 w 3149547"/>
              <a:gd name="connsiteY6" fmla="*/ 2231142 h 2370352"/>
              <a:gd name="connsiteX7" fmla="*/ 39582 w 3149547"/>
              <a:gd name="connsiteY7" fmla="*/ 1842522 h 2370352"/>
              <a:gd name="connsiteX8" fmla="*/ 664404 w 3149547"/>
              <a:gd name="connsiteY8" fmla="*/ 1096145 h 2370352"/>
              <a:gd name="connsiteX0" fmla="*/ 755844 w 3149547"/>
              <a:gd name="connsiteY0" fmla="*/ 939296 h 2365903"/>
              <a:gd name="connsiteX1" fmla="*/ 1844415 w 3149547"/>
              <a:gd name="connsiteY1" fmla="*/ 4720 h 2365903"/>
              <a:gd name="connsiteX2" fmla="*/ 2942803 w 3149547"/>
              <a:gd name="connsiteY2" fmla="*/ 603633 h 2365903"/>
              <a:gd name="connsiteX3" fmla="*/ 3115866 w 3149547"/>
              <a:gd name="connsiteY3" fmla="*/ 1129796 h 2365903"/>
              <a:gd name="connsiteX4" fmla="*/ 2417023 w 3149547"/>
              <a:gd name="connsiteY4" fmla="*/ 2089534 h 2365903"/>
              <a:gd name="connsiteX5" fmla="*/ 1090035 w 3149547"/>
              <a:gd name="connsiteY5" fmla="*/ 2361552 h 2365903"/>
              <a:gd name="connsiteX6" fmla="*/ 108163 w 3149547"/>
              <a:gd name="connsiteY6" fmla="*/ 2226693 h 2365903"/>
              <a:gd name="connsiteX7" fmla="*/ 39582 w 3149547"/>
              <a:gd name="connsiteY7" fmla="*/ 1838073 h 2365903"/>
              <a:gd name="connsiteX8" fmla="*/ 755844 w 3149547"/>
              <a:gd name="connsiteY8" fmla="*/ 939296 h 2365903"/>
              <a:gd name="connsiteX0" fmla="*/ 755844 w 3136987"/>
              <a:gd name="connsiteY0" fmla="*/ 939296 h 2365903"/>
              <a:gd name="connsiteX1" fmla="*/ 1844415 w 3136987"/>
              <a:gd name="connsiteY1" fmla="*/ 4720 h 2365903"/>
              <a:gd name="connsiteX2" fmla="*/ 2942803 w 3136987"/>
              <a:gd name="connsiteY2" fmla="*/ 603633 h 2365903"/>
              <a:gd name="connsiteX3" fmla="*/ 3100626 w 3136987"/>
              <a:gd name="connsiteY3" fmla="*/ 1442216 h 2365903"/>
              <a:gd name="connsiteX4" fmla="*/ 2417023 w 3136987"/>
              <a:gd name="connsiteY4" fmla="*/ 2089534 h 2365903"/>
              <a:gd name="connsiteX5" fmla="*/ 1090035 w 3136987"/>
              <a:gd name="connsiteY5" fmla="*/ 2361552 h 2365903"/>
              <a:gd name="connsiteX6" fmla="*/ 108163 w 3136987"/>
              <a:gd name="connsiteY6" fmla="*/ 2226693 h 2365903"/>
              <a:gd name="connsiteX7" fmla="*/ 39582 w 3136987"/>
              <a:gd name="connsiteY7" fmla="*/ 1838073 h 2365903"/>
              <a:gd name="connsiteX8" fmla="*/ 755844 w 3136987"/>
              <a:gd name="connsiteY8" fmla="*/ 939296 h 2365903"/>
              <a:gd name="connsiteX0" fmla="*/ 755844 w 3149732"/>
              <a:gd name="connsiteY0" fmla="*/ 937300 h 2363907"/>
              <a:gd name="connsiteX1" fmla="*/ 1844415 w 3149732"/>
              <a:gd name="connsiteY1" fmla="*/ 2724 h 2363907"/>
              <a:gd name="connsiteX2" fmla="*/ 2996143 w 3149732"/>
              <a:gd name="connsiteY2" fmla="*/ 670217 h 2363907"/>
              <a:gd name="connsiteX3" fmla="*/ 3100626 w 3149732"/>
              <a:gd name="connsiteY3" fmla="*/ 1440220 h 2363907"/>
              <a:gd name="connsiteX4" fmla="*/ 2417023 w 3149732"/>
              <a:gd name="connsiteY4" fmla="*/ 2087538 h 2363907"/>
              <a:gd name="connsiteX5" fmla="*/ 1090035 w 3149732"/>
              <a:gd name="connsiteY5" fmla="*/ 2359556 h 2363907"/>
              <a:gd name="connsiteX6" fmla="*/ 108163 w 3149732"/>
              <a:gd name="connsiteY6" fmla="*/ 2224697 h 2363907"/>
              <a:gd name="connsiteX7" fmla="*/ 39582 w 3149732"/>
              <a:gd name="connsiteY7" fmla="*/ 1836077 h 2363907"/>
              <a:gd name="connsiteX8" fmla="*/ 755844 w 3149732"/>
              <a:gd name="connsiteY8" fmla="*/ 937300 h 2363907"/>
              <a:gd name="connsiteX0" fmla="*/ 755844 w 3149732"/>
              <a:gd name="connsiteY0" fmla="*/ 937300 h 2360061"/>
              <a:gd name="connsiteX1" fmla="*/ 1844415 w 3149732"/>
              <a:gd name="connsiteY1" fmla="*/ 2724 h 2360061"/>
              <a:gd name="connsiteX2" fmla="*/ 2996143 w 3149732"/>
              <a:gd name="connsiteY2" fmla="*/ 670217 h 2360061"/>
              <a:gd name="connsiteX3" fmla="*/ 3100626 w 3149732"/>
              <a:gd name="connsiteY3" fmla="*/ 1440220 h 2360061"/>
              <a:gd name="connsiteX4" fmla="*/ 2211283 w 3149732"/>
              <a:gd name="connsiteY4" fmla="*/ 2186598 h 2360061"/>
              <a:gd name="connsiteX5" fmla="*/ 1090035 w 3149732"/>
              <a:gd name="connsiteY5" fmla="*/ 2359556 h 2360061"/>
              <a:gd name="connsiteX6" fmla="*/ 108163 w 3149732"/>
              <a:gd name="connsiteY6" fmla="*/ 2224697 h 2360061"/>
              <a:gd name="connsiteX7" fmla="*/ 39582 w 3149732"/>
              <a:gd name="connsiteY7" fmla="*/ 1836077 h 2360061"/>
              <a:gd name="connsiteX8" fmla="*/ 755844 w 3149732"/>
              <a:gd name="connsiteY8" fmla="*/ 937300 h 2360061"/>
              <a:gd name="connsiteX0" fmla="*/ 752365 w 3146253"/>
              <a:gd name="connsiteY0" fmla="*/ 937300 h 2360061"/>
              <a:gd name="connsiteX1" fmla="*/ 1840936 w 3146253"/>
              <a:gd name="connsiteY1" fmla="*/ 2724 h 2360061"/>
              <a:gd name="connsiteX2" fmla="*/ 2992664 w 3146253"/>
              <a:gd name="connsiteY2" fmla="*/ 670217 h 2360061"/>
              <a:gd name="connsiteX3" fmla="*/ 3097147 w 3146253"/>
              <a:gd name="connsiteY3" fmla="*/ 1440220 h 2360061"/>
              <a:gd name="connsiteX4" fmla="*/ 2207804 w 3146253"/>
              <a:gd name="connsiteY4" fmla="*/ 2186598 h 2360061"/>
              <a:gd name="connsiteX5" fmla="*/ 1086556 w 3146253"/>
              <a:gd name="connsiteY5" fmla="*/ 2359556 h 2360061"/>
              <a:gd name="connsiteX6" fmla="*/ 104684 w 3146253"/>
              <a:gd name="connsiteY6" fmla="*/ 2224697 h 2360061"/>
              <a:gd name="connsiteX7" fmla="*/ 43723 w 3146253"/>
              <a:gd name="connsiteY7" fmla="*/ 2003717 h 2360061"/>
              <a:gd name="connsiteX8" fmla="*/ 752365 w 3146253"/>
              <a:gd name="connsiteY8" fmla="*/ 937300 h 2360061"/>
              <a:gd name="connsiteX0" fmla="*/ 752365 w 3146253"/>
              <a:gd name="connsiteY0" fmla="*/ 937300 h 2360061"/>
              <a:gd name="connsiteX1" fmla="*/ 1840936 w 3146253"/>
              <a:gd name="connsiteY1" fmla="*/ 2724 h 2360061"/>
              <a:gd name="connsiteX2" fmla="*/ 2992664 w 3146253"/>
              <a:gd name="connsiteY2" fmla="*/ 670217 h 2360061"/>
              <a:gd name="connsiteX3" fmla="*/ 3097147 w 3146253"/>
              <a:gd name="connsiteY3" fmla="*/ 1440220 h 2360061"/>
              <a:gd name="connsiteX4" fmla="*/ 2207804 w 3146253"/>
              <a:gd name="connsiteY4" fmla="*/ 2186598 h 2360061"/>
              <a:gd name="connsiteX5" fmla="*/ 1086556 w 3146253"/>
              <a:gd name="connsiteY5" fmla="*/ 2359556 h 2360061"/>
              <a:gd name="connsiteX6" fmla="*/ 104684 w 3146253"/>
              <a:gd name="connsiteY6" fmla="*/ 2224697 h 2360061"/>
              <a:gd name="connsiteX7" fmla="*/ 43723 w 3146253"/>
              <a:gd name="connsiteY7" fmla="*/ 2003717 h 2360061"/>
              <a:gd name="connsiteX8" fmla="*/ 752365 w 3146253"/>
              <a:gd name="connsiteY8" fmla="*/ 937300 h 2360061"/>
              <a:gd name="connsiteX0" fmla="*/ 744780 w 3138668"/>
              <a:gd name="connsiteY0" fmla="*/ 937300 h 2360061"/>
              <a:gd name="connsiteX1" fmla="*/ 1833351 w 3138668"/>
              <a:gd name="connsiteY1" fmla="*/ 2724 h 2360061"/>
              <a:gd name="connsiteX2" fmla="*/ 2985079 w 3138668"/>
              <a:gd name="connsiteY2" fmla="*/ 670217 h 2360061"/>
              <a:gd name="connsiteX3" fmla="*/ 3089562 w 3138668"/>
              <a:gd name="connsiteY3" fmla="*/ 1440220 h 2360061"/>
              <a:gd name="connsiteX4" fmla="*/ 2200219 w 3138668"/>
              <a:gd name="connsiteY4" fmla="*/ 2186598 h 2360061"/>
              <a:gd name="connsiteX5" fmla="*/ 1078971 w 3138668"/>
              <a:gd name="connsiteY5" fmla="*/ 2359556 h 2360061"/>
              <a:gd name="connsiteX6" fmla="*/ 97099 w 3138668"/>
              <a:gd name="connsiteY6" fmla="*/ 2224697 h 2360061"/>
              <a:gd name="connsiteX7" fmla="*/ 36138 w 3138668"/>
              <a:gd name="connsiteY7" fmla="*/ 2003717 h 2360061"/>
              <a:gd name="connsiteX8" fmla="*/ 744780 w 3138668"/>
              <a:gd name="connsiteY8" fmla="*/ 937300 h 2360061"/>
              <a:gd name="connsiteX0" fmla="*/ 708642 w 3102530"/>
              <a:gd name="connsiteY0" fmla="*/ 937300 h 2372374"/>
              <a:gd name="connsiteX1" fmla="*/ 1797213 w 3102530"/>
              <a:gd name="connsiteY1" fmla="*/ 2724 h 2372374"/>
              <a:gd name="connsiteX2" fmla="*/ 2948941 w 3102530"/>
              <a:gd name="connsiteY2" fmla="*/ 670217 h 2372374"/>
              <a:gd name="connsiteX3" fmla="*/ 3053424 w 3102530"/>
              <a:gd name="connsiteY3" fmla="*/ 1440220 h 2372374"/>
              <a:gd name="connsiteX4" fmla="*/ 2164081 w 3102530"/>
              <a:gd name="connsiteY4" fmla="*/ 2186598 h 2372374"/>
              <a:gd name="connsiteX5" fmla="*/ 1042833 w 3102530"/>
              <a:gd name="connsiteY5" fmla="*/ 2359556 h 2372374"/>
              <a:gd name="connsiteX6" fmla="*/ 205741 w 3102530"/>
              <a:gd name="connsiteY6" fmla="*/ 2300897 h 2372374"/>
              <a:gd name="connsiteX7" fmla="*/ 0 w 3102530"/>
              <a:gd name="connsiteY7" fmla="*/ 2003717 h 2372374"/>
              <a:gd name="connsiteX8" fmla="*/ 708642 w 3102530"/>
              <a:gd name="connsiteY8" fmla="*/ 937300 h 2372374"/>
              <a:gd name="connsiteX0" fmla="*/ 708642 w 3102530"/>
              <a:gd name="connsiteY0" fmla="*/ 937300 h 2372374"/>
              <a:gd name="connsiteX1" fmla="*/ 1797213 w 3102530"/>
              <a:gd name="connsiteY1" fmla="*/ 2724 h 2372374"/>
              <a:gd name="connsiteX2" fmla="*/ 2948941 w 3102530"/>
              <a:gd name="connsiteY2" fmla="*/ 670217 h 2372374"/>
              <a:gd name="connsiteX3" fmla="*/ 3053424 w 3102530"/>
              <a:gd name="connsiteY3" fmla="*/ 1440220 h 2372374"/>
              <a:gd name="connsiteX4" fmla="*/ 2164081 w 3102530"/>
              <a:gd name="connsiteY4" fmla="*/ 2186598 h 2372374"/>
              <a:gd name="connsiteX5" fmla="*/ 1042833 w 3102530"/>
              <a:gd name="connsiteY5" fmla="*/ 2359556 h 2372374"/>
              <a:gd name="connsiteX6" fmla="*/ 205741 w 3102530"/>
              <a:gd name="connsiteY6" fmla="*/ 2300897 h 2372374"/>
              <a:gd name="connsiteX7" fmla="*/ 0 w 3102530"/>
              <a:gd name="connsiteY7" fmla="*/ 2003717 h 2372374"/>
              <a:gd name="connsiteX8" fmla="*/ 708642 w 3102530"/>
              <a:gd name="connsiteY8" fmla="*/ 937300 h 2372374"/>
              <a:gd name="connsiteX0" fmla="*/ 708642 w 3102530"/>
              <a:gd name="connsiteY0" fmla="*/ 937300 h 2399024"/>
              <a:gd name="connsiteX1" fmla="*/ 1797213 w 3102530"/>
              <a:gd name="connsiteY1" fmla="*/ 2724 h 2399024"/>
              <a:gd name="connsiteX2" fmla="*/ 2948941 w 3102530"/>
              <a:gd name="connsiteY2" fmla="*/ 670217 h 2399024"/>
              <a:gd name="connsiteX3" fmla="*/ 3053424 w 3102530"/>
              <a:gd name="connsiteY3" fmla="*/ 1440220 h 2399024"/>
              <a:gd name="connsiteX4" fmla="*/ 2164081 w 3102530"/>
              <a:gd name="connsiteY4" fmla="*/ 2186598 h 2399024"/>
              <a:gd name="connsiteX5" fmla="*/ 1042833 w 3102530"/>
              <a:gd name="connsiteY5" fmla="*/ 2359556 h 2399024"/>
              <a:gd name="connsiteX6" fmla="*/ 205741 w 3102530"/>
              <a:gd name="connsiteY6" fmla="*/ 2300897 h 2399024"/>
              <a:gd name="connsiteX7" fmla="*/ 0 w 3102530"/>
              <a:gd name="connsiteY7" fmla="*/ 2003717 h 2399024"/>
              <a:gd name="connsiteX8" fmla="*/ 708642 w 3102530"/>
              <a:gd name="connsiteY8" fmla="*/ 937300 h 2399024"/>
              <a:gd name="connsiteX0" fmla="*/ 725120 w 3119008"/>
              <a:gd name="connsiteY0" fmla="*/ 937300 h 2399024"/>
              <a:gd name="connsiteX1" fmla="*/ 1813691 w 3119008"/>
              <a:gd name="connsiteY1" fmla="*/ 2724 h 2399024"/>
              <a:gd name="connsiteX2" fmla="*/ 2965419 w 3119008"/>
              <a:gd name="connsiteY2" fmla="*/ 670217 h 2399024"/>
              <a:gd name="connsiteX3" fmla="*/ 3069902 w 3119008"/>
              <a:gd name="connsiteY3" fmla="*/ 1440220 h 2399024"/>
              <a:gd name="connsiteX4" fmla="*/ 2180559 w 3119008"/>
              <a:gd name="connsiteY4" fmla="*/ 2186598 h 2399024"/>
              <a:gd name="connsiteX5" fmla="*/ 1059311 w 3119008"/>
              <a:gd name="connsiteY5" fmla="*/ 2359556 h 2399024"/>
              <a:gd name="connsiteX6" fmla="*/ 222219 w 3119008"/>
              <a:gd name="connsiteY6" fmla="*/ 2300897 h 2399024"/>
              <a:gd name="connsiteX7" fmla="*/ 16478 w 3119008"/>
              <a:gd name="connsiteY7" fmla="*/ 2003717 h 2399024"/>
              <a:gd name="connsiteX8" fmla="*/ 725120 w 3119008"/>
              <a:gd name="connsiteY8" fmla="*/ 937300 h 2399024"/>
              <a:gd name="connsiteX0" fmla="*/ 804361 w 3198249"/>
              <a:gd name="connsiteY0" fmla="*/ 937300 h 2403758"/>
              <a:gd name="connsiteX1" fmla="*/ 1892932 w 3198249"/>
              <a:gd name="connsiteY1" fmla="*/ 2724 h 2403758"/>
              <a:gd name="connsiteX2" fmla="*/ 3044660 w 3198249"/>
              <a:gd name="connsiteY2" fmla="*/ 670217 h 2403758"/>
              <a:gd name="connsiteX3" fmla="*/ 3149143 w 3198249"/>
              <a:gd name="connsiteY3" fmla="*/ 1440220 h 2403758"/>
              <a:gd name="connsiteX4" fmla="*/ 2259800 w 3198249"/>
              <a:gd name="connsiteY4" fmla="*/ 2186598 h 2403758"/>
              <a:gd name="connsiteX5" fmla="*/ 1138552 w 3198249"/>
              <a:gd name="connsiteY5" fmla="*/ 2359556 h 2403758"/>
              <a:gd name="connsiteX6" fmla="*/ 110960 w 3198249"/>
              <a:gd name="connsiteY6" fmla="*/ 2308517 h 2403758"/>
              <a:gd name="connsiteX7" fmla="*/ 95719 w 3198249"/>
              <a:gd name="connsiteY7" fmla="*/ 2003717 h 2403758"/>
              <a:gd name="connsiteX8" fmla="*/ 804361 w 3198249"/>
              <a:gd name="connsiteY8" fmla="*/ 937300 h 2403758"/>
              <a:gd name="connsiteX0" fmla="*/ 769890 w 3163778"/>
              <a:gd name="connsiteY0" fmla="*/ 937300 h 2386287"/>
              <a:gd name="connsiteX1" fmla="*/ 1858461 w 3163778"/>
              <a:gd name="connsiteY1" fmla="*/ 2724 h 2386287"/>
              <a:gd name="connsiteX2" fmla="*/ 3010189 w 3163778"/>
              <a:gd name="connsiteY2" fmla="*/ 670217 h 2386287"/>
              <a:gd name="connsiteX3" fmla="*/ 3114672 w 3163778"/>
              <a:gd name="connsiteY3" fmla="*/ 1440220 h 2386287"/>
              <a:gd name="connsiteX4" fmla="*/ 2225329 w 3163778"/>
              <a:gd name="connsiteY4" fmla="*/ 2186598 h 2386287"/>
              <a:gd name="connsiteX5" fmla="*/ 1104081 w 3163778"/>
              <a:gd name="connsiteY5" fmla="*/ 2359556 h 2386287"/>
              <a:gd name="connsiteX6" fmla="*/ 76489 w 3163778"/>
              <a:gd name="connsiteY6" fmla="*/ 2308517 h 2386287"/>
              <a:gd name="connsiteX7" fmla="*/ 152688 w 3163778"/>
              <a:gd name="connsiteY7" fmla="*/ 1645577 h 2386287"/>
              <a:gd name="connsiteX8" fmla="*/ 769890 w 3163778"/>
              <a:gd name="connsiteY8" fmla="*/ 937300 h 2386287"/>
              <a:gd name="connsiteX0" fmla="*/ 769890 w 3163778"/>
              <a:gd name="connsiteY0" fmla="*/ 937300 h 2383904"/>
              <a:gd name="connsiteX1" fmla="*/ 1858461 w 3163778"/>
              <a:gd name="connsiteY1" fmla="*/ 2724 h 2383904"/>
              <a:gd name="connsiteX2" fmla="*/ 3010189 w 3163778"/>
              <a:gd name="connsiteY2" fmla="*/ 670217 h 2383904"/>
              <a:gd name="connsiteX3" fmla="*/ 3114672 w 3163778"/>
              <a:gd name="connsiteY3" fmla="*/ 1440220 h 2383904"/>
              <a:gd name="connsiteX4" fmla="*/ 2301529 w 3163778"/>
              <a:gd name="connsiteY4" fmla="*/ 2224698 h 2383904"/>
              <a:gd name="connsiteX5" fmla="*/ 1104081 w 3163778"/>
              <a:gd name="connsiteY5" fmla="*/ 2359556 h 2383904"/>
              <a:gd name="connsiteX6" fmla="*/ 76489 w 3163778"/>
              <a:gd name="connsiteY6" fmla="*/ 2308517 h 2383904"/>
              <a:gd name="connsiteX7" fmla="*/ 152688 w 3163778"/>
              <a:gd name="connsiteY7" fmla="*/ 1645577 h 2383904"/>
              <a:gd name="connsiteX8" fmla="*/ 769890 w 3163778"/>
              <a:gd name="connsiteY8" fmla="*/ 937300 h 2383904"/>
              <a:gd name="connsiteX0" fmla="*/ 769890 w 3126936"/>
              <a:gd name="connsiteY0" fmla="*/ 937300 h 2383904"/>
              <a:gd name="connsiteX1" fmla="*/ 1858461 w 3126936"/>
              <a:gd name="connsiteY1" fmla="*/ 2724 h 2383904"/>
              <a:gd name="connsiteX2" fmla="*/ 3010189 w 3126936"/>
              <a:gd name="connsiteY2" fmla="*/ 670217 h 2383904"/>
              <a:gd name="connsiteX3" fmla="*/ 3114672 w 3126936"/>
              <a:gd name="connsiteY3" fmla="*/ 1440220 h 2383904"/>
              <a:gd name="connsiteX4" fmla="*/ 3004035 w 3126936"/>
              <a:gd name="connsiteY4" fmla="*/ 1756914 h 2383904"/>
              <a:gd name="connsiteX5" fmla="*/ 2301529 w 3126936"/>
              <a:gd name="connsiteY5" fmla="*/ 2224698 h 2383904"/>
              <a:gd name="connsiteX6" fmla="*/ 1104081 w 3126936"/>
              <a:gd name="connsiteY6" fmla="*/ 2359556 h 2383904"/>
              <a:gd name="connsiteX7" fmla="*/ 76489 w 3126936"/>
              <a:gd name="connsiteY7" fmla="*/ 2308517 h 2383904"/>
              <a:gd name="connsiteX8" fmla="*/ 152688 w 3126936"/>
              <a:gd name="connsiteY8" fmla="*/ 1645577 h 2383904"/>
              <a:gd name="connsiteX9" fmla="*/ 769890 w 3126936"/>
              <a:gd name="connsiteY9" fmla="*/ 937300 h 2383904"/>
              <a:gd name="connsiteX0" fmla="*/ 769890 w 3176884"/>
              <a:gd name="connsiteY0" fmla="*/ 937300 h 2383904"/>
              <a:gd name="connsiteX1" fmla="*/ 1858461 w 3176884"/>
              <a:gd name="connsiteY1" fmla="*/ 2724 h 2383904"/>
              <a:gd name="connsiteX2" fmla="*/ 3010189 w 3176884"/>
              <a:gd name="connsiteY2" fmla="*/ 670217 h 2383904"/>
              <a:gd name="connsiteX3" fmla="*/ 3175632 w 3176884"/>
              <a:gd name="connsiteY3" fmla="*/ 1348780 h 2383904"/>
              <a:gd name="connsiteX4" fmla="*/ 3004035 w 3176884"/>
              <a:gd name="connsiteY4" fmla="*/ 1756914 h 2383904"/>
              <a:gd name="connsiteX5" fmla="*/ 2301529 w 3176884"/>
              <a:gd name="connsiteY5" fmla="*/ 2224698 h 2383904"/>
              <a:gd name="connsiteX6" fmla="*/ 1104081 w 3176884"/>
              <a:gd name="connsiteY6" fmla="*/ 2359556 h 2383904"/>
              <a:gd name="connsiteX7" fmla="*/ 76489 w 3176884"/>
              <a:gd name="connsiteY7" fmla="*/ 2308517 h 2383904"/>
              <a:gd name="connsiteX8" fmla="*/ 152688 w 3176884"/>
              <a:gd name="connsiteY8" fmla="*/ 1645577 h 2383904"/>
              <a:gd name="connsiteX9" fmla="*/ 769890 w 3176884"/>
              <a:gd name="connsiteY9" fmla="*/ 937300 h 2383904"/>
              <a:gd name="connsiteX0" fmla="*/ 769890 w 3190808"/>
              <a:gd name="connsiteY0" fmla="*/ 934996 h 2381600"/>
              <a:gd name="connsiteX1" fmla="*/ 1858461 w 3190808"/>
              <a:gd name="connsiteY1" fmla="*/ 420 h 2381600"/>
              <a:gd name="connsiteX2" fmla="*/ 3078769 w 3190808"/>
              <a:gd name="connsiteY2" fmla="*/ 820313 h 2381600"/>
              <a:gd name="connsiteX3" fmla="*/ 3175632 w 3190808"/>
              <a:gd name="connsiteY3" fmla="*/ 1346476 h 2381600"/>
              <a:gd name="connsiteX4" fmla="*/ 3004035 w 3190808"/>
              <a:gd name="connsiteY4" fmla="*/ 1754610 h 2381600"/>
              <a:gd name="connsiteX5" fmla="*/ 2301529 w 3190808"/>
              <a:gd name="connsiteY5" fmla="*/ 2222394 h 2381600"/>
              <a:gd name="connsiteX6" fmla="*/ 1104081 w 3190808"/>
              <a:gd name="connsiteY6" fmla="*/ 2357252 h 2381600"/>
              <a:gd name="connsiteX7" fmla="*/ 76489 w 3190808"/>
              <a:gd name="connsiteY7" fmla="*/ 2306213 h 2381600"/>
              <a:gd name="connsiteX8" fmla="*/ 152688 w 3190808"/>
              <a:gd name="connsiteY8" fmla="*/ 1643273 h 2381600"/>
              <a:gd name="connsiteX9" fmla="*/ 769890 w 3190808"/>
              <a:gd name="connsiteY9" fmla="*/ 934996 h 2381600"/>
              <a:gd name="connsiteX0" fmla="*/ 769890 w 3190808"/>
              <a:gd name="connsiteY0" fmla="*/ 934996 h 2381600"/>
              <a:gd name="connsiteX1" fmla="*/ 1858461 w 3190808"/>
              <a:gd name="connsiteY1" fmla="*/ 420 h 2381600"/>
              <a:gd name="connsiteX2" fmla="*/ 3078769 w 3190808"/>
              <a:gd name="connsiteY2" fmla="*/ 820313 h 2381600"/>
              <a:gd name="connsiteX3" fmla="*/ 3175632 w 3190808"/>
              <a:gd name="connsiteY3" fmla="*/ 1346476 h 2381600"/>
              <a:gd name="connsiteX4" fmla="*/ 3004035 w 3190808"/>
              <a:gd name="connsiteY4" fmla="*/ 1754610 h 2381600"/>
              <a:gd name="connsiteX5" fmla="*/ 2301529 w 3190808"/>
              <a:gd name="connsiteY5" fmla="*/ 2222394 h 2381600"/>
              <a:gd name="connsiteX6" fmla="*/ 1104081 w 3190808"/>
              <a:gd name="connsiteY6" fmla="*/ 2357252 h 2381600"/>
              <a:gd name="connsiteX7" fmla="*/ 76489 w 3190808"/>
              <a:gd name="connsiteY7" fmla="*/ 2306213 h 2381600"/>
              <a:gd name="connsiteX8" fmla="*/ 152688 w 3190808"/>
              <a:gd name="connsiteY8" fmla="*/ 1643273 h 2381600"/>
              <a:gd name="connsiteX9" fmla="*/ 769890 w 3190808"/>
              <a:gd name="connsiteY9" fmla="*/ 934996 h 2381600"/>
              <a:gd name="connsiteX0" fmla="*/ 769890 w 3190808"/>
              <a:gd name="connsiteY0" fmla="*/ 934996 h 2381600"/>
              <a:gd name="connsiteX1" fmla="*/ 1858461 w 3190808"/>
              <a:gd name="connsiteY1" fmla="*/ 420 h 2381600"/>
              <a:gd name="connsiteX2" fmla="*/ 3078769 w 3190808"/>
              <a:gd name="connsiteY2" fmla="*/ 820313 h 2381600"/>
              <a:gd name="connsiteX3" fmla="*/ 3175632 w 3190808"/>
              <a:gd name="connsiteY3" fmla="*/ 1346476 h 2381600"/>
              <a:gd name="connsiteX4" fmla="*/ 3004035 w 3190808"/>
              <a:gd name="connsiteY4" fmla="*/ 1754610 h 2381600"/>
              <a:gd name="connsiteX5" fmla="*/ 2301529 w 3190808"/>
              <a:gd name="connsiteY5" fmla="*/ 2222394 h 2381600"/>
              <a:gd name="connsiteX6" fmla="*/ 1104081 w 3190808"/>
              <a:gd name="connsiteY6" fmla="*/ 2357252 h 2381600"/>
              <a:gd name="connsiteX7" fmla="*/ 76489 w 3190808"/>
              <a:gd name="connsiteY7" fmla="*/ 2306213 h 2381600"/>
              <a:gd name="connsiteX8" fmla="*/ 152688 w 3190808"/>
              <a:gd name="connsiteY8" fmla="*/ 1643273 h 2381600"/>
              <a:gd name="connsiteX9" fmla="*/ 769890 w 3190808"/>
              <a:gd name="connsiteY9" fmla="*/ 934996 h 2381600"/>
              <a:gd name="connsiteX0" fmla="*/ 769890 w 3213648"/>
              <a:gd name="connsiteY0" fmla="*/ 934996 h 2381600"/>
              <a:gd name="connsiteX1" fmla="*/ 1858461 w 3213648"/>
              <a:gd name="connsiteY1" fmla="*/ 420 h 2381600"/>
              <a:gd name="connsiteX2" fmla="*/ 3078769 w 3213648"/>
              <a:gd name="connsiteY2" fmla="*/ 820313 h 2381600"/>
              <a:gd name="connsiteX3" fmla="*/ 3175632 w 3213648"/>
              <a:gd name="connsiteY3" fmla="*/ 1346476 h 2381600"/>
              <a:gd name="connsiteX4" fmla="*/ 3004035 w 3213648"/>
              <a:gd name="connsiteY4" fmla="*/ 1754610 h 2381600"/>
              <a:gd name="connsiteX5" fmla="*/ 2301529 w 3213648"/>
              <a:gd name="connsiteY5" fmla="*/ 2222394 h 2381600"/>
              <a:gd name="connsiteX6" fmla="*/ 1104081 w 3213648"/>
              <a:gd name="connsiteY6" fmla="*/ 2357252 h 2381600"/>
              <a:gd name="connsiteX7" fmla="*/ 76489 w 3213648"/>
              <a:gd name="connsiteY7" fmla="*/ 2306213 h 2381600"/>
              <a:gd name="connsiteX8" fmla="*/ 152688 w 3213648"/>
              <a:gd name="connsiteY8" fmla="*/ 1643273 h 2381600"/>
              <a:gd name="connsiteX9" fmla="*/ 769890 w 3213648"/>
              <a:gd name="connsiteY9" fmla="*/ 934996 h 2381600"/>
              <a:gd name="connsiteX0" fmla="*/ 769890 w 3197223"/>
              <a:gd name="connsiteY0" fmla="*/ 934996 h 2381600"/>
              <a:gd name="connsiteX1" fmla="*/ 1858461 w 3197223"/>
              <a:gd name="connsiteY1" fmla="*/ 420 h 2381600"/>
              <a:gd name="connsiteX2" fmla="*/ 3078769 w 3197223"/>
              <a:gd name="connsiteY2" fmla="*/ 820313 h 2381600"/>
              <a:gd name="connsiteX3" fmla="*/ 3175632 w 3197223"/>
              <a:gd name="connsiteY3" fmla="*/ 1346476 h 2381600"/>
              <a:gd name="connsiteX4" fmla="*/ 3004035 w 3197223"/>
              <a:gd name="connsiteY4" fmla="*/ 1754610 h 2381600"/>
              <a:gd name="connsiteX5" fmla="*/ 2301529 w 3197223"/>
              <a:gd name="connsiteY5" fmla="*/ 2222394 h 2381600"/>
              <a:gd name="connsiteX6" fmla="*/ 1104081 w 3197223"/>
              <a:gd name="connsiteY6" fmla="*/ 2357252 h 2381600"/>
              <a:gd name="connsiteX7" fmla="*/ 76489 w 3197223"/>
              <a:gd name="connsiteY7" fmla="*/ 2306213 h 2381600"/>
              <a:gd name="connsiteX8" fmla="*/ 152688 w 3197223"/>
              <a:gd name="connsiteY8" fmla="*/ 1643273 h 2381600"/>
              <a:gd name="connsiteX9" fmla="*/ 769890 w 3197223"/>
              <a:gd name="connsiteY9" fmla="*/ 934996 h 2381600"/>
              <a:gd name="connsiteX0" fmla="*/ 769890 w 3197223"/>
              <a:gd name="connsiteY0" fmla="*/ 934996 h 2381600"/>
              <a:gd name="connsiteX1" fmla="*/ 1858461 w 3197223"/>
              <a:gd name="connsiteY1" fmla="*/ 420 h 2381600"/>
              <a:gd name="connsiteX2" fmla="*/ 3078769 w 3197223"/>
              <a:gd name="connsiteY2" fmla="*/ 820313 h 2381600"/>
              <a:gd name="connsiteX3" fmla="*/ 3175632 w 3197223"/>
              <a:gd name="connsiteY3" fmla="*/ 1346476 h 2381600"/>
              <a:gd name="connsiteX4" fmla="*/ 3004035 w 3197223"/>
              <a:gd name="connsiteY4" fmla="*/ 1754610 h 2381600"/>
              <a:gd name="connsiteX5" fmla="*/ 2301529 w 3197223"/>
              <a:gd name="connsiteY5" fmla="*/ 2222394 h 2381600"/>
              <a:gd name="connsiteX6" fmla="*/ 1104081 w 3197223"/>
              <a:gd name="connsiteY6" fmla="*/ 2357252 h 2381600"/>
              <a:gd name="connsiteX7" fmla="*/ 76489 w 3197223"/>
              <a:gd name="connsiteY7" fmla="*/ 2306213 h 2381600"/>
              <a:gd name="connsiteX8" fmla="*/ 152688 w 3197223"/>
              <a:gd name="connsiteY8" fmla="*/ 1643273 h 2381600"/>
              <a:gd name="connsiteX9" fmla="*/ 769890 w 3197223"/>
              <a:gd name="connsiteY9" fmla="*/ 934996 h 2381600"/>
              <a:gd name="connsiteX0" fmla="*/ 769890 w 3203334"/>
              <a:gd name="connsiteY0" fmla="*/ 934996 h 2381600"/>
              <a:gd name="connsiteX1" fmla="*/ 1858461 w 3203334"/>
              <a:gd name="connsiteY1" fmla="*/ 420 h 2381600"/>
              <a:gd name="connsiteX2" fmla="*/ 3078769 w 3203334"/>
              <a:gd name="connsiteY2" fmla="*/ 820313 h 2381600"/>
              <a:gd name="connsiteX3" fmla="*/ 3175632 w 3203334"/>
              <a:gd name="connsiteY3" fmla="*/ 1346476 h 2381600"/>
              <a:gd name="connsiteX4" fmla="*/ 3004035 w 3203334"/>
              <a:gd name="connsiteY4" fmla="*/ 1754610 h 2381600"/>
              <a:gd name="connsiteX5" fmla="*/ 2301529 w 3203334"/>
              <a:gd name="connsiteY5" fmla="*/ 2222394 h 2381600"/>
              <a:gd name="connsiteX6" fmla="*/ 1104081 w 3203334"/>
              <a:gd name="connsiteY6" fmla="*/ 2357252 h 2381600"/>
              <a:gd name="connsiteX7" fmla="*/ 76489 w 3203334"/>
              <a:gd name="connsiteY7" fmla="*/ 2306213 h 2381600"/>
              <a:gd name="connsiteX8" fmla="*/ 152688 w 3203334"/>
              <a:gd name="connsiteY8" fmla="*/ 1643273 h 2381600"/>
              <a:gd name="connsiteX9" fmla="*/ 769890 w 3203334"/>
              <a:gd name="connsiteY9" fmla="*/ 934996 h 2381600"/>
              <a:gd name="connsiteX0" fmla="*/ 769890 w 3196947"/>
              <a:gd name="connsiteY0" fmla="*/ 934996 h 2381600"/>
              <a:gd name="connsiteX1" fmla="*/ 1858461 w 3196947"/>
              <a:gd name="connsiteY1" fmla="*/ 420 h 2381600"/>
              <a:gd name="connsiteX2" fmla="*/ 3078769 w 3196947"/>
              <a:gd name="connsiteY2" fmla="*/ 820313 h 2381600"/>
              <a:gd name="connsiteX3" fmla="*/ 3175632 w 3196947"/>
              <a:gd name="connsiteY3" fmla="*/ 1346476 h 2381600"/>
              <a:gd name="connsiteX4" fmla="*/ 3004035 w 3196947"/>
              <a:gd name="connsiteY4" fmla="*/ 1754610 h 2381600"/>
              <a:gd name="connsiteX5" fmla="*/ 2301529 w 3196947"/>
              <a:gd name="connsiteY5" fmla="*/ 2222394 h 2381600"/>
              <a:gd name="connsiteX6" fmla="*/ 1104081 w 3196947"/>
              <a:gd name="connsiteY6" fmla="*/ 2357252 h 2381600"/>
              <a:gd name="connsiteX7" fmla="*/ 76489 w 3196947"/>
              <a:gd name="connsiteY7" fmla="*/ 2306213 h 2381600"/>
              <a:gd name="connsiteX8" fmla="*/ 152688 w 3196947"/>
              <a:gd name="connsiteY8" fmla="*/ 1643273 h 2381600"/>
              <a:gd name="connsiteX9" fmla="*/ 769890 w 3196947"/>
              <a:gd name="connsiteY9" fmla="*/ 934996 h 2381600"/>
              <a:gd name="connsiteX0" fmla="*/ 769890 w 3196947"/>
              <a:gd name="connsiteY0" fmla="*/ 934945 h 2381549"/>
              <a:gd name="connsiteX1" fmla="*/ 1858461 w 3196947"/>
              <a:gd name="connsiteY1" fmla="*/ 369 h 2381549"/>
              <a:gd name="connsiteX2" fmla="*/ 3078769 w 3196947"/>
              <a:gd name="connsiteY2" fmla="*/ 820262 h 2381549"/>
              <a:gd name="connsiteX3" fmla="*/ 3175632 w 3196947"/>
              <a:gd name="connsiteY3" fmla="*/ 1346425 h 2381549"/>
              <a:gd name="connsiteX4" fmla="*/ 3004035 w 3196947"/>
              <a:gd name="connsiteY4" fmla="*/ 1754559 h 2381549"/>
              <a:gd name="connsiteX5" fmla="*/ 2301529 w 3196947"/>
              <a:gd name="connsiteY5" fmla="*/ 2222343 h 2381549"/>
              <a:gd name="connsiteX6" fmla="*/ 1104081 w 3196947"/>
              <a:gd name="connsiteY6" fmla="*/ 2357201 h 2381549"/>
              <a:gd name="connsiteX7" fmla="*/ 76489 w 3196947"/>
              <a:gd name="connsiteY7" fmla="*/ 2306162 h 2381549"/>
              <a:gd name="connsiteX8" fmla="*/ 152688 w 3196947"/>
              <a:gd name="connsiteY8" fmla="*/ 1643222 h 2381549"/>
              <a:gd name="connsiteX9" fmla="*/ 769890 w 3196947"/>
              <a:gd name="connsiteY9" fmla="*/ 934945 h 2381549"/>
              <a:gd name="connsiteX0" fmla="*/ 769890 w 3196947"/>
              <a:gd name="connsiteY0" fmla="*/ 935010 h 2381614"/>
              <a:gd name="connsiteX1" fmla="*/ 1858461 w 3196947"/>
              <a:gd name="connsiteY1" fmla="*/ 434 h 2381614"/>
              <a:gd name="connsiteX2" fmla="*/ 3078769 w 3196947"/>
              <a:gd name="connsiteY2" fmla="*/ 820327 h 2381614"/>
              <a:gd name="connsiteX3" fmla="*/ 3175632 w 3196947"/>
              <a:gd name="connsiteY3" fmla="*/ 1346490 h 2381614"/>
              <a:gd name="connsiteX4" fmla="*/ 3004035 w 3196947"/>
              <a:gd name="connsiteY4" fmla="*/ 1754624 h 2381614"/>
              <a:gd name="connsiteX5" fmla="*/ 2301529 w 3196947"/>
              <a:gd name="connsiteY5" fmla="*/ 2222408 h 2381614"/>
              <a:gd name="connsiteX6" fmla="*/ 1104081 w 3196947"/>
              <a:gd name="connsiteY6" fmla="*/ 2357266 h 2381614"/>
              <a:gd name="connsiteX7" fmla="*/ 76489 w 3196947"/>
              <a:gd name="connsiteY7" fmla="*/ 2306227 h 2381614"/>
              <a:gd name="connsiteX8" fmla="*/ 152688 w 3196947"/>
              <a:gd name="connsiteY8" fmla="*/ 1643287 h 2381614"/>
              <a:gd name="connsiteX9" fmla="*/ 769890 w 3196947"/>
              <a:gd name="connsiteY9" fmla="*/ 935010 h 2381614"/>
              <a:gd name="connsiteX0" fmla="*/ 769890 w 3196947"/>
              <a:gd name="connsiteY0" fmla="*/ 935010 h 2377029"/>
              <a:gd name="connsiteX1" fmla="*/ 1858461 w 3196947"/>
              <a:gd name="connsiteY1" fmla="*/ 434 h 2377029"/>
              <a:gd name="connsiteX2" fmla="*/ 3078769 w 3196947"/>
              <a:gd name="connsiteY2" fmla="*/ 820327 h 2377029"/>
              <a:gd name="connsiteX3" fmla="*/ 3175632 w 3196947"/>
              <a:gd name="connsiteY3" fmla="*/ 1346490 h 2377029"/>
              <a:gd name="connsiteX4" fmla="*/ 3004035 w 3196947"/>
              <a:gd name="connsiteY4" fmla="*/ 1754624 h 2377029"/>
              <a:gd name="connsiteX5" fmla="*/ 2365029 w 3196947"/>
              <a:gd name="connsiteY5" fmla="*/ 2298608 h 2377029"/>
              <a:gd name="connsiteX6" fmla="*/ 1104081 w 3196947"/>
              <a:gd name="connsiteY6" fmla="*/ 2357266 h 2377029"/>
              <a:gd name="connsiteX7" fmla="*/ 76489 w 3196947"/>
              <a:gd name="connsiteY7" fmla="*/ 2306227 h 2377029"/>
              <a:gd name="connsiteX8" fmla="*/ 152688 w 3196947"/>
              <a:gd name="connsiteY8" fmla="*/ 1643287 h 2377029"/>
              <a:gd name="connsiteX9" fmla="*/ 769890 w 3196947"/>
              <a:gd name="connsiteY9" fmla="*/ 935010 h 2377029"/>
              <a:gd name="connsiteX0" fmla="*/ 769890 w 3196947"/>
              <a:gd name="connsiteY0" fmla="*/ 935010 h 2377029"/>
              <a:gd name="connsiteX1" fmla="*/ 1858461 w 3196947"/>
              <a:gd name="connsiteY1" fmla="*/ 434 h 2377029"/>
              <a:gd name="connsiteX2" fmla="*/ 3078769 w 3196947"/>
              <a:gd name="connsiteY2" fmla="*/ 820327 h 2377029"/>
              <a:gd name="connsiteX3" fmla="*/ 3175632 w 3196947"/>
              <a:gd name="connsiteY3" fmla="*/ 1346490 h 2377029"/>
              <a:gd name="connsiteX4" fmla="*/ 3004035 w 3196947"/>
              <a:gd name="connsiteY4" fmla="*/ 1754624 h 2377029"/>
              <a:gd name="connsiteX5" fmla="*/ 2365029 w 3196947"/>
              <a:gd name="connsiteY5" fmla="*/ 2298608 h 2377029"/>
              <a:gd name="connsiteX6" fmla="*/ 1104081 w 3196947"/>
              <a:gd name="connsiteY6" fmla="*/ 2357266 h 2377029"/>
              <a:gd name="connsiteX7" fmla="*/ 76489 w 3196947"/>
              <a:gd name="connsiteY7" fmla="*/ 2306227 h 2377029"/>
              <a:gd name="connsiteX8" fmla="*/ 152688 w 3196947"/>
              <a:gd name="connsiteY8" fmla="*/ 1643287 h 2377029"/>
              <a:gd name="connsiteX9" fmla="*/ 769890 w 3196947"/>
              <a:gd name="connsiteY9" fmla="*/ 935010 h 2377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6947" h="2377029">
                <a:moveTo>
                  <a:pt x="769890" y="935010"/>
                </a:moveTo>
                <a:cubicBezTo>
                  <a:pt x="1054185" y="661201"/>
                  <a:pt x="1473648" y="19548"/>
                  <a:pt x="1858461" y="434"/>
                </a:cubicBezTo>
                <a:cubicBezTo>
                  <a:pt x="2243274" y="-18680"/>
                  <a:pt x="2941473" y="597571"/>
                  <a:pt x="3078769" y="820327"/>
                </a:cubicBezTo>
                <a:cubicBezTo>
                  <a:pt x="3216065" y="1043083"/>
                  <a:pt x="3211265" y="1147911"/>
                  <a:pt x="3175632" y="1346490"/>
                </a:cubicBezTo>
                <a:cubicBezTo>
                  <a:pt x="3139999" y="1545069"/>
                  <a:pt x="3115746" y="1600065"/>
                  <a:pt x="3004035" y="1754624"/>
                </a:cubicBezTo>
                <a:cubicBezTo>
                  <a:pt x="2868511" y="1885370"/>
                  <a:pt x="2676608" y="2184198"/>
                  <a:pt x="2365029" y="2298608"/>
                </a:cubicBezTo>
                <a:cubicBezTo>
                  <a:pt x="2053450" y="2413018"/>
                  <a:pt x="1485504" y="2355996"/>
                  <a:pt x="1104081" y="2357266"/>
                </a:cubicBezTo>
                <a:cubicBezTo>
                  <a:pt x="722658" y="2358536"/>
                  <a:pt x="235054" y="2425223"/>
                  <a:pt x="76489" y="2306227"/>
                </a:cubicBezTo>
                <a:cubicBezTo>
                  <a:pt x="-82076" y="2187231"/>
                  <a:pt x="37121" y="1871823"/>
                  <a:pt x="152688" y="1643287"/>
                </a:cubicBezTo>
                <a:cubicBezTo>
                  <a:pt x="268255" y="1414751"/>
                  <a:pt x="485595" y="1208819"/>
                  <a:pt x="769890" y="935010"/>
                </a:cubicBezTo>
                <a:close/>
              </a:path>
            </a:pathLst>
          </a:custGeom>
          <a:noFill/>
          <a:ln>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6" name="页脚占位符 5">
            <a:extLst>
              <a:ext uri="{FF2B5EF4-FFF2-40B4-BE49-F238E27FC236}">
                <a16:creationId xmlns:a16="http://schemas.microsoft.com/office/drawing/2014/main" id="{E14EE5A9-4ED2-410A-99A7-2B9818C744B4}"/>
              </a:ext>
            </a:extLst>
          </p:cNvPr>
          <p:cNvSpPr>
            <a:spLocks noGrp="1"/>
          </p:cNvSpPr>
          <p:nvPr>
            <p:ph type="ftr" sz="quarter" idx="11"/>
          </p:nvPr>
        </p:nvSpPr>
        <p:spPr/>
        <p:txBody>
          <a:bodyPr/>
          <a:lstStyle/>
          <a:p>
            <a:endParaRPr lang="zh-CN" altLang="en-US"/>
          </a:p>
        </p:txBody>
      </p:sp>
      <p:sp>
        <p:nvSpPr>
          <p:cNvPr id="18" name="灯片编号占位符 17">
            <a:extLst>
              <a:ext uri="{FF2B5EF4-FFF2-40B4-BE49-F238E27FC236}">
                <a16:creationId xmlns:a16="http://schemas.microsoft.com/office/drawing/2014/main" id="{8A8D960E-99B5-46F3-87BA-01F29C8CD073}"/>
              </a:ext>
            </a:extLst>
          </p:cNvPr>
          <p:cNvSpPr>
            <a:spLocks noGrp="1"/>
          </p:cNvSpPr>
          <p:nvPr>
            <p:ph type="sldNum" sz="quarter" idx="12"/>
          </p:nvPr>
        </p:nvSpPr>
        <p:spPr/>
        <p:txBody>
          <a:bodyPr/>
          <a:lstStyle/>
          <a:p>
            <a:fld id="{5AD84F5B-1672-4D3F-9FEC-5DF89A7B7912}" type="slidenum">
              <a:rPr lang="zh-CN" altLang="en-US" smtClean="0"/>
              <a:t>72</a:t>
            </a:fld>
            <a:endParaRPr lang="zh-CN" altLang="en-US"/>
          </a:p>
        </p:txBody>
      </p:sp>
    </p:spTree>
    <p:extLst>
      <p:ext uri="{BB962C8B-B14F-4D97-AF65-F5344CB8AC3E}">
        <p14:creationId xmlns:p14="http://schemas.microsoft.com/office/powerpoint/2010/main" val="1281146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悲观错误剪枝法</a:t>
            </a:r>
            <a:r>
              <a:rPr lang="en-US" altLang="zh-CN" dirty="0"/>
              <a:t>PEP</a:t>
            </a:r>
            <a:endParaRPr lang="zh-CN" altLang="en-US" dirty="0"/>
          </a:p>
        </p:txBody>
      </p:sp>
      <p:sp>
        <p:nvSpPr>
          <p:cNvPr id="18" name="矩形 17"/>
          <p:cNvSpPr/>
          <p:nvPr/>
        </p:nvSpPr>
        <p:spPr>
          <a:xfrm>
            <a:off x="323529" y="1915353"/>
            <a:ext cx="3600400" cy="461665"/>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ctr">
              <a:spcBef>
                <a:spcPct val="0"/>
              </a:spcBef>
              <a:spcAft>
                <a:spcPct val="0"/>
              </a:spcAft>
            </a:pPr>
            <a:r>
              <a:rPr lang="zh-CN" altLang="en-US" sz="2400" dirty="0">
                <a:latin typeface="Times New Roman" pitchFamily="18" charset="0"/>
                <a:ea typeface="华文细黑" pitchFamily="2" charset="-122"/>
                <a:cs typeface="Times New Roman" pitchFamily="18" charset="0"/>
              </a:rPr>
              <a:t>是否剪枝（替换）？</a:t>
            </a:r>
          </a:p>
        </p:txBody>
      </p:sp>
      <p:graphicFrame>
        <p:nvGraphicFramePr>
          <p:cNvPr id="3" name="对象 2"/>
          <p:cNvGraphicFramePr>
            <a:graphicFrameLocks noChangeAspect="1"/>
          </p:cNvGraphicFramePr>
          <p:nvPr/>
        </p:nvGraphicFramePr>
        <p:xfrm>
          <a:off x="665678" y="2381400"/>
          <a:ext cx="2538413" cy="590073"/>
        </p:xfrm>
        <a:graphic>
          <a:graphicData uri="http://schemas.openxmlformats.org/presentationml/2006/ole">
            <mc:AlternateContent xmlns:mc="http://schemas.openxmlformats.org/markup-compatibility/2006">
              <mc:Choice xmlns:v="urn:schemas-microsoft-com:vml" Requires="v">
                <p:oleObj spid="_x0000_s9278" name="公式" r:id="rId3" imgW="1650960" imgH="457200" progId="Equation.3">
                  <p:embed/>
                </p:oleObj>
              </mc:Choice>
              <mc:Fallback>
                <p:oleObj name="公式" r:id="rId3" imgW="1650960" imgH="457200" progId="Equation.3">
                  <p:embed/>
                  <p:pic>
                    <p:nvPicPr>
                      <p:cNvPr id="3" name="对象 2"/>
                      <p:cNvPicPr>
                        <a:picLocks noChangeAspect="1" noChangeArrowheads="1"/>
                      </p:cNvPicPr>
                      <p:nvPr/>
                    </p:nvPicPr>
                    <p:blipFill>
                      <a:blip r:embed="rId4"/>
                      <a:srcRect/>
                      <a:stretch>
                        <a:fillRect/>
                      </a:stretch>
                    </p:blipFill>
                    <p:spPr bwMode="auto">
                      <a:xfrm>
                        <a:off x="665678" y="2381400"/>
                        <a:ext cx="2538413" cy="590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矩形 20"/>
          <p:cNvSpPr/>
          <p:nvPr/>
        </p:nvSpPr>
        <p:spPr>
          <a:xfrm>
            <a:off x="2992413" y="2353271"/>
            <a:ext cx="447380" cy="646331"/>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ctr">
              <a:spcBef>
                <a:spcPct val="0"/>
              </a:spcBef>
              <a:spcAft>
                <a:spcPct val="0"/>
              </a:spcAft>
            </a:pPr>
            <a:r>
              <a:rPr lang="zh-CN" altLang="en-US" sz="3600" b="1" dirty="0">
                <a:solidFill>
                  <a:srgbClr val="C00000"/>
                </a:solidFill>
                <a:latin typeface="Arial Unicode MS" pitchFamily="34" charset="-122"/>
                <a:ea typeface="Arial Unicode MS" pitchFamily="34" charset="-122"/>
                <a:cs typeface="Arial Unicode MS" pitchFamily="34" charset="-122"/>
              </a:rPr>
              <a:t>？</a:t>
            </a:r>
          </a:p>
        </p:txBody>
      </p:sp>
      <p:graphicFrame>
        <p:nvGraphicFramePr>
          <p:cNvPr id="22" name="对象 21"/>
          <p:cNvGraphicFramePr>
            <a:graphicFrameLocks noChangeAspect="1"/>
          </p:cNvGraphicFramePr>
          <p:nvPr/>
        </p:nvGraphicFramePr>
        <p:xfrm>
          <a:off x="467542" y="3493763"/>
          <a:ext cx="3438792" cy="828000"/>
        </p:xfrm>
        <a:graphic>
          <a:graphicData uri="http://schemas.openxmlformats.org/presentationml/2006/ole">
            <mc:AlternateContent xmlns:mc="http://schemas.openxmlformats.org/markup-compatibility/2006">
              <mc:Choice xmlns:v="urn:schemas-microsoft-com:vml" Requires="v">
                <p:oleObj spid="_x0000_s9279" name="公式" r:id="rId5" imgW="1511280" imgH="431640" progId="Equation.3">
                  <p:embed/>
                </p:oleObj>
              </mc:Choice>
              <mc:Fallback>
                <p:oleObj name="公式" r:id="rId5" imgW="1511280" imgH="431640" progId="Equation.3">
                  <p:embed/>
                  <p:pic>
                    <p:nvPicPr>
                      <p:cNvPr id="22" name="对象 21"/>
                      <p:cNvPicPr>
                        <a:picLocks noChangeAspect="1" noChangeArrowheads="1"/>
                      </p:cNvPicPr>
                      <p:nvPr/>
                    </p:nvPicPr>
                    <p:blipFill>
                      <a:blip r:embed="rId6"/>
                      <a:srcRect/>
                      <a:stretch>
                        <a:fillRect/>
                      </a:stretch>
                    </p:blipFill>
                    <p:spPr bwMode="auto">
                      <a:xfrm>
                        <a:off x="467542" y="3493763"/>
                        <a:ext cx="3438792" cy="828000"/>
                      </a:xfrm>
                      <a:prstGeom prst="rect">
                        <a:avLst/>
                      </a:prstGeom>
                      <a:noFill/>
                      <a:ln>
                        <a:noFill/>
                      </a:ln>
                    </p:spPr>
                  </p:pic>
                </p:oleObj>
              </mc:Fallback>
            </mc:AlternateContent>
          </a:graphicData>
        </a:graphic>
      </p:graphicFrame>
      <p:sp>
        <p:nvSpPr>
          <p:cNvPr id="29" name="矩形 28"/>
          <p:cNvSpPr/>
          <p:nvPr/>
        </p:nvSpPr>
        <p:spPr>
          <a:xfrm rot="21235524">
            <a:off x="3263828" y="1756306"/>
            <a:ext cx="4068000" cy="646331"/>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ctr">
              <a:spcBef>
                <a:spcPct val="0"/>
              </a:spcBef>
              <a:spcAft>
                <a:spcPct val="0"/>
              </a:spcAft>
            </a:pPr>
            <a:r>
              <a:rPr lang="zh-CN" altLang="en-US" dirty="0">
                <a:solidFill>
                  <a:srgbClr val="C00000"/>
                </a:solidFill>
                <a:latin typeface="Times New Roman" pitchFamily="18" charset="0"/>
                <a:ea typeface="华文细黑" pitchFamily="2" charset="-122"/>
                <a:cs typeface="Times New Roman" pitchFamily="18" charset="0"/>
              </a:rPr>
              <a:t>对于训练数据，子树总是比替换后的叶结点误差小，但校正后并非如此。</a:t>
            </a:r>
          </a:p>
        </p:txBody>
      </p:sp>
      <p:sp>
        <p:nvSpPr>
          <p:cNvPr id="30" name="矩形 29"/>
          <p:cNvSpPr/>
          <p:nvPr/>
        </p:nvSpPr>
        <p:spPr>
          <a:xfrm rot="21235524">
            <a:off x="371963" y="4286882"/>
            <a:ext cx="5370264" cy="830997"/>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ctr">
              <a:spcBef>
                <a:spcPct val="0"/>
              </a:spcBef>
              <a:spcAft>
                <a:spcPct val="0"/>
              </a:spcAft>
            </a:pPr>
            <a:r>
              <a:rPr lang="zh-CN" altLang="en-US" sz="2400" dirty="0">
                <a:solidFill>
                  <a:srgbClr val="C00000"/>
                </a:solidFill>
                <a:latin typeface="Times New Roman" pitchFamily="18" charset="0"/>
                <a:ea typeface="华文细黑" pitchFamily="2" charset="-122"/>
                <a:cs typeface="Times New Roman" pitchFamily="18" charset="0"/>
              </a:rPr>
              <a:t>如果剪枝后的误判个数在剪枝前的误判个数的标准误差之内，则可剪枝</a:t>
            </a:r>
          </a:p>
        </p:txBody>
      </p:sp>
      <p:sp>
        <p:nvSpPr>
          <p:cNvPr id="52" name="椭圆 51"/>
          <p:cNvSpPr/>
          <p:nvPr/>
        </p:nvSpPr>
        <p:spPr>
          <a:xfrm>
            <a:off x="7455600" y="2316346"/>
            <a:ext cx="797472" cy="388800"/>
          </a:xfrm>
          <a:prstGeom prst="ellipse">
            <a:avLst/>
          </a:prstGeom>
          <a:solidFill>
            <a:srgbClr val="F9E3E3"/>
          </a:solidFill>
          <a:ln w="19050"/>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latin typeface="华文细黑" pitchFamily="2" charset="-122"/>
                <a:ea typeface="华文细黑" pitchFamily="2" charset="-122"/>
              </a:rPr>
              <a:t>A</a:t>
            </a:r>
            <a:r>
              <a:rPr lang="en-US" altLang="zh-CN" baseline="-25000" dirty="0">
                <a:latin typeface="华文细黑" pitchFamily="2" charset="-122"/>
                <a:ea typeface="华文细黑" pitchFamily="2" charset="-122"/>
              </a:rPr>
              <a:t>1</a:t>
            </a:r>
            <a:endParaRPr lang="zh-CN" altLang="en-US" baseline="-25000" dirty="0">
              <a:latin typeface="华文细黑" pitchFamily="2" charset="-122"/>
              <a:ea typeface="华文细黑" pitchFamily="2" charset="-122"/>
            </a:endParaRPr>
          </a:p>
        </p:txBody>
      </p:sp>
      <p:sp>
        <p:nvSpPr>
          <p:cNvPr id="53" name="椭圆 52"/>
          <p:cNvSpPr/>
          <p:nvPr/>
        </p:nvSpPr>
        <p:spPr>
          <a:xfrm>
            <a:off x="6732240" y="3104964"/>
            <a:ext cx="797472" cy="388800"/>
          </a:xfrm>
          <a:prstGeom prst="ellipse">
            <a:avLst/>
          </a:prstGeom>
          <a:solidFill>
            <a:srgbClr val="F9E3E3"/>
          </a:solidFill>
          <a:ln w="19050"/>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latin typeface="华文细黑" pitchFamily="2" charset="-122"/>
                <a:ea typeface="华文细黑" pitchFamily="2" charset="-122"/>
              </a:rPr>
              <a:t>A</a:t>
            </a:r>
            <a:r>
              <a:rPr lang="en-US" altLang="zh-CN" baseline="-25000" dirty="0">
                <a:latin typeface="华文细黑" pitchFamily="2" charset="-122"/>
                <a:ea typeface="华文细黑" pitchFamily="2" charset="-122"/>
              </a:rPr>
              <a:t>2</a:t>
            </a:r>
            <a:endParaRPr lang="zh-CN" altLang="en-US" baseline="-25000" dirty="0">
              <a:latin typeface="华文细黑" pitchFamily="2" charset="-122"/>
              <a:ea typeface="华文细黑" pitchFamily="2" charset="-122"/>
            </a:endParaRPr>
          </a:p>
        </p:txBody>
      </p:sp>
      <p:sp>
        <p:nvSpPr>
          <p:cNvPr id="54" name="矩形 53"/>
          <p:cNvSpPr/>
          <p:nvPr/>
        </p:nvSpPr>
        <p:spPr>
          <a:xfrm>
            <a:off x="8224017" y="3101567"/>
            <a:ext cx="797472" cy="453600"/>
          </a:xfrm>
          <a:prstGeom prst="rect">
            <a:avLst/>
          </a:prstGeom>
          <a:solidFill>
            <a:schemeClr val="accent6">
              <a:lumMod val="20000"/>
              <a:lumOff val="80000"/>
            </a:schemeClr>
          </a:solidFill>
          <a:ln w="19050"/>
        </p:spPr>
        <p:style>
          <a:lnRef idx="2">
            <a:schemeClr val="accent6"/>
          </a:lnRef>
          <a:fillRef idx="1">
            <a:schemeClr val="lt1"/>
          </a:fillRef>
          <a:effectRef idx="0">
            <a:schemeClr val="accent6"/>
          </a:effectRef>
          <a:fontRef idx="minor">
            <a:schemeClr val="dk1"/>
          </a:fontRef>
        </p:style>
        <p:txBody>
          <a:bodyPr lIns="0" tIns="36000" rIns="0" bIns="36000" rtlCol="0" anchor="ctr"/>
          <a:lstStyle/>
          <a:p>
            <a:pPr algn="ctr">
              <a:lnSpc>
                <a:spcPts val="1200"/>
              </a:lnSpc>
            </a:pPr>
            <a:r>
              <a:rPr lang="en-US" altLang="zh-CN" dirty="0">
                <a:latin typeface="华文细黑" pitchFamily="2" charset="-122"/>
                <a:ea typeface="华文细黑" pitchFamily="2" charset="-122"/>
              </a:rPr>
              <a:t>c</a:t>
            </a:r>
            <a:r>
              <a:rPr lang="en-US" altLang="zh-CN" baseline="-25000" dirty="0">
                <a:latin typeface="华文细黑" pitchFamily="2" charset="-122"/>
                <a:ea typeface="华文细黑" pitchFamily="2" charset="-122"/>
              </a:rPr>
              <a:t>1</a:t>
            </a:r>
          </a:p>
          <a:p>
            <a:pPr algn="ctr">
              <a:lnSpc>
                <a:spcPts val="1200"/>
              </a:lnSpc>
            </a:pPr>
            <a:r>
              <a:rPr lang="en-US" altLang="zh-CN" baseline="-25000" dirty="0">
                <a:latin typeface="华文细黑" pitchFamily="2" charset="-122"/>
                <a:ea typeface="华文细黑" pitchFamily="2" charset="-122"/>
              </a:rPr>
              <a:t>6     3</a:t>
            </a:r>
            <a:endParaRPr lang="zh-CN" altLang="en-US" baseline="-25000" dirty="0">
              <a:latin typeface="华文细黑" pitchFamily="2" charset="-122"/>
              <a:ea typeface="华文细黑" pitchFamily="2" charset="-122"/>
            </a:endParaRPr>
          </a:p>
        </p:txBody>
      </p:sp>
      <p:sp>
        <p:nvSpPr>
          <p:cNvPr id="55" name="矩形 54"/>
          <p:cNvSpPr/>
          <p:nvPr/>
        </p:nvSpPr>
        <p:spPr>
          <a:xfrm>
            <a:off x="6084168" y="3933043"/>
            <a:ext cx="797472" cy="453600"/>
          </a:xfrm>
          <a:prstGeom prst="rect">
            <a:avLst/>
          </a:prstGeom>
          <a:solidFill>
            <a:schemeClr val="accent6">
              <a:lumMod val="20000"/>
              <a:lumOff val="80000"/>
            </a:schemeClr>
          </a:solidFill>
          <a:ln w="19050"/>
        </p:spPr>
        <p:style>
          <a:lnRef idx="2">
            <a:schemeClr val="accent6"/>
          </a:lnRef>
          <a:fillRef idx="1">
            <a:schemeClr val="lt1"/>
          </a:fillRef>
          <a:effectRef idx="0">
            <a:schemeClr val="accent6"/>
          </a:effectRef>
          <a:fontRef idx="minor">
            <a:schemeClr val="dk1"/>
          </a:fontRef>
        </p:style>
        <p:txBody>
          <a:bodyPr lIns="0" tIns="36000" rIns="0" bIns="36000" rtlCol="0" anchor="ctr"/>
          <a:lstStyle/>
          <a:p>
            <a:pPr algn="ctr">
              <a:lnSpc>
                <a:spcPts val="1200"/>
              </a:lnSpc>
            </a:pPr>
            <a:r>
              <a:rPr lang="en-US" altLang="zh-CN" dirty="0">
                <a:latin typeface="华文细黑" pitchFamily="2" charset="-122"/>
                <a:ea typeface="华文细黑" pitchFamily="2" charset="-122"/>
              </a:rPr>
              <a:t>c</a:t>
            </a:r>
            <a:r>
              <a:rPr lang="en-US" altLang="zh-CN" baseline="-25000" dirty="0">
                <a:latin typeface="华文细黑" pitchFamily="2" charset="-122"/>
                <a:ea typeface="华文细黑" pitchFamily="2" charset="-122"/>
              </a:rPr>
              <a:t>1</a:t>
            </a:r>
          </a:p>
          <a:p>
            <a:pPr algn="ctr">
              <a:lnSpc>
                <a:spcPts val="1200"/>
              </a:lnSpc>
            </a:pPr>
            <a:r>
              <a:rPr lang="en-US" altLang="zh-CN" baseline="-25000" dirty="0">
                <a:latin typeface="华文细黑" pitchFamily="2" charset="-122"/>
                <a:ea typeface="华文细黑" pitchFamily="2" charset="-122"/>
              </a:rPr>
              <a:t>3     2</a:t>
            </a:r>
            <a:endParaRPr lang="zh-CN" altLang="en-US" baseline="-25000" dirty="0">
              <a:latin typeface="华文细黑" pitchFamily="2" charset="-122"/>
              <a:ea typeface="华文细黑" pitchFamily="2" charset="-122"/>
            </a:endParaRPr>
          </a:p>
        </p:txBody>
      </p:sp>
      <p:sp>
        <p:nvSpPr>
          <p:cNvPr id="56" name="矩形 55"/>
          <p:cNvSpPr/>
          <p:nvPr/>
        </p:nvSpPr>
        <p:spPr>
          <a:xfrm>
            <a:off x="7300389" y="3933043"/>
            <a:ext cx="797472" cy="453600"/>
          </a:xfrm>
          <a:prstGeom prst="rect">
            <a:avLst/>
          </a:prstGeom>
          <a:solidFill>
            <a:schemeClr val="accent6">
              <a:lumMod val="20000"/>
              <a:lumOff val="80000"/>
            </a:schemeClr>
          </a:solidFill>
          <a:ln w="19050"/>
        </p:spPr>
        <p:style>
          <a:lnRef idx="2">
            <a:schemeClr val="accent6"/>
          </a:lnRef>
          <a:fillRef idx="1">
            <a:schemeClr val="lt1"/>
          </a:fillRef>
          <a:effectRef idx="0">
            <a:schemeClr val="accent6"/>
          </a:effectRef>
          <a:fontRef idx="minor">
            <a:schemeClr val="dk1"/>
          </a:fontRef>
        </p:style>
        <p:txBody>
          <a:bodyPr lIns="0" tIns="36000" rIns="0" bIns="36000" rtlCol="0" anchor="ctr"/>
          <a:lstStyle/>
          <a:p>
            <a:pPr algn="ctr">
              <a:lnSpc>
                <a:spcPts val="1200"/>
              </a:lnSpc>
            </a:pPr>
            <a:r>
              <a:rPr lang="en-US" altLang="zh-CN" dirty="0">
                <a:latin typeface="华文细黑" pitchFamily="2" charset="-122"/>
                <a:ea typeface="华文细黑" pitchFamily="2" charset="-122"/>
              </a:rPr>
              <a:t>c</a:t>
            </a:r>
            <a:r>
              <a:rPr lang="en-US" altLang="zh-CN" baseline="-25000" dirty="0">
                <a:latin typeface="华文细黑" pitchFamily="2" charset="-122"/>
                <a:ea typeface="华文细黑" pitchFamily="2" charset="-122"/>
              </a:rPr>
              <a:t>2</a:t>
            </a:r>
          </a:p>
          <a:p>
            <a:pPr algn="ctr">
              <a:lnSpc>
                <a:spcPts val="1200"/>
              </a:lnSpc>
            </a:pPr>
            <a:r>
              <a:rPr lang="en-US" altLang="zh-CN" baseline="-25000" dirty="0">
                <a:latin typeface="华文细黑" pitchFamily="2" charset="-122"/>
                <a:ea typeface="华文细黑" pitchFamily="2" charset="-122"/>
              </a:rPr>
              <a:t>0     2</a:t>
            </a:r>
            <a:endParaRPr lang="zh-CN" altLang="en-US" baseline="-25000" dirty="0">
              <a:latin typeface="华文细黑" pitchFamily="2" charset="-122"/>
              <a:ea typeface="华文细黑" pitchFamily="2" charset="-122"/>
            </a:endParaRPr>
          </a:p>
        </p:txBody>
      </p:sp>
      <p:cxnSp>
        <p:nvCxnSpPr>
          <p:cNvPr id="57" name="直接连接符 56"/>
          <p:cNvCxnSpPr>
            <a:stCxn id="52" idx="4"/>
            <a:endCxn id="53" idx="0"/>
          </p:cNvCxnSpPr>
          <p:nvPr/>
        </p:nvCxnSpPr>
        <p:spPr>
          <a:xfrm flipH="1">
            <a:off x="7130976" y="2705146"/>
            <a:ext cx="723360" cy="399818"/>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52" idx="4"/>
            <a:endCxn id="54" idx="0"/>
          </p:cNvCxnSpPr>
          <p:nvPr/>
        </p:nvCxnSpPr>
        <p:spPr>
          <a:xfrm>
            <a:off x="7854338" y="2705147"/>
            <a:ext cx="768417" cy="396421"/>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a:stCxn id="53" idx="4"/>
          </p:cNvCxnSpPr>
          <p:nvPr/>
        </p:nvCxnSpPr>
        <p:spPr>
          <a:xfrm flipH="1">
            <a:off x="6482904" y="3493765"/>
            <a:ext cx="648072" cy="439279"/>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a:stCxn id="53" idx="4"/>
          </p:cNvCxnSpPr>
          <p:nvPr/>
        </p:nvCxnSpPr>
        <p:spPr>
          <a:xfrm>
            <a:off x="7130978" y="3493765"/>
            <a:ext cx="568149" cy="439279"/>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61" name="矩形 60"/>
          <p:cNvSpPr/>
          <p:nvPr/>
        </p:nvSpPr>
        <p:spPr>
          <a:xfrm>
            <a:off x="7380312" y="5114038"/>
            <a:ext cx="864000" cy="576000"/>
          </a:xfrm>
          <a:prstGeom prst="rect">
            <a:avLst/>
          </a:prstGeom>
          <a:solidFill>
            <a:srgbClr val="FFFF00"/>
          </a:solidFill>
          <a:ln w="19050"/>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r>
              <a:rPr lang="en-US" altLang="zh-CN" sz="2000" dirty="0">
                <a:latin typeface="华文细黑" pitchFamily="2" charset="-122"/>
                <a:ea typeface="华文细黑" pitchFamily="2" charset="-122"/>
              </a:rPr>
              <a:t>c</a:t>
            </a:r>
            <a:r>
              <a:rPr lang="en-US" altLang="zh-CN" sz="2000" baseline="-25000" dirty="0">
                <a:latin typeface="华文细黑" pitchFamily="2" charset="-122"/>
                <a:ea typeface="华文细黑" pitchFamily="2" charset="-122"/>
              </a:rPr>
              <a:t>1</a:t>
            </a:r>
          </a:p>
          <a:p>
            <a:pPr algn="ctr"/>
            <a:r>
              <a:rPr lang="en-US" altLang="zh-CN" sz="2000" baseline="-25000" dirty="0">
                <a:latin typeface="华文细黑" pitchFamily="2" charset="-122"/>
                <a:ea typeface="华文细黑" pitchFamily="2" charset="-122"/>
              </a:rPr>
              <a:t>9     7</a:t>
            </a:r>
            <a:endParaRPr lang="zh-CN" altLang="en-US" sz="2000" baseline="-25000" dirty="0">
              <a:latin typeface="华文细黑" pitchFamily="2" charset="-122"/>
              <a:ea typeface="华文细黑" pitchFamily="2" charset="-122"/>
            </a:endParaRPr>
          </a:p>
        </p:txBody>
      </p:sp>
      <p:sp>
        <p:nvSpPr>
          <p:cNvPr id="62" name="下箭头 61"/>
          <p:cNvSpPr/>
          <p:nvPr/>
        </p:nvSpPr>
        <p:spPr>
          <a:xfrm>
            <a:off x="7549725" y="4774558"/>
            <a:ext cx="398736" cy="224733"/>
          </a:xfrm>
          <a:prstGeom prst="down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4" name="椭圆 8"/>
          <p:cNvSpPr/>
          <p:nvPr/>
        </p:nvSpPr>
        <p:spPr>
          <a:xfrm>
            <a:off x="5903745" y="2150626"/>
            <a:ext cx="3196947" cy="2377029"/>
          </a:xfrm>
          <a:custGeom>
            <a:avLst/>
            <a:gdLst>
              <a:gd name="connsiteX0" fmla="*/ 0 w 2085701"/>
              <a:gd name="connsiteY0" fmla="*/ 1224136 h 2448272"/>
              <a:gd name="connsiteX1" fmla="*/ 1042851 w 2085701"/>
              <a:gd name="connsiteY1" fmla="*/ 0 h 2448272"/>
              <a:gd name="connsiteX2" fmla="*/ 2085702 w 2085701"/>
              <a:gd name="connsiteY2" fmla="*/ 1224136 h 2448272"/>
              <a:gd name="connsiteX3" fmla="*/ 1042851 w 2085701"/>
              <a:gd name="connsiteY3" fmla="*/ 2448272 h 2448272"/>
              <a:gd name="connsiteX4" fmla="*/ 0 w 2085701"/>
              <a:gd name="connsiteY4" fmla="*/ 1224136 h 2448272"/>
              <a:gd name="connsiteX0" fmla="*/ 29720 w 2383563"/>
              <a:gd name="connsiteY0" fmla="*/ 1201276 h 2425412"/>
              <a:gd name="connsiteX1" fmla="*/ 2131751 w 2383563"/>
              <a:gd name="connsiteY1" fmla="*/ 0 h 2425412"/>
              <a:gd name="connsiteX2" fmla="*/ 2115422 w 2383563"/>
              <a:gd name="connsiteY2" fmla="*/ 1201276 h 2425412"/>
              <a:gd name="connsiteX3" fmla="*/ 1072571 w 2383563"/>
              <a:gd name="connsiteY3" fmla="*/ 2425412 h 2425412"/>
              <a:gd name="connsiteX4" fmla="*/ 29720 w 2383563"/>
              <a:gd name="connsiteY4" fmla="*/ 1201276 h 2425412"/>
              <a:gd name="connsiteX0" fmla="*/ 27612 w 3096294"/>
              <a:gd name="connsiteY0" fmla="*/ 1201278 h 2425415"/>
              <a:gd name="connsiteX1" fmla="*/ 2129643 w 3096294"/>
              <a:gd name="connsiteY1" fmla="*/ 2 h 2425415"/>
              <a:gd name="connsiteX2" fmla="*/ 3096294 w 3096294"/>
              <a:gd name="connsiteY2" fmla="*/ 1193658 h 2425415"/>
              <a:gd name="connsiteX3" fmla="*/ 1070463 w 3096294"/>
              <a:gd name="connsiteY3" fmla="*/ 2425414 h 2425415"/>
              <a:gd name="connsiteX4" fmla="*/ 27612 w 3096294"/>
              <a:gd name="connsiteY4" fmla="*/ 1201278 h 2425415"/>
              <a:gd name="connsiteX0" fmla="*/ 24438 w 3095994"/>
              <a:gd name="connsiteY0" fmla="*/ 1201278 h 2478898"/>
              <a:gd name="connsiteX1" fmla="*/ 2126469 w 3095994"/>
              <a:gd name="connsiteY1" fmla="*/ 2 h 2478898"/>
              <a:gd name="connsiteX2" fmla="*/ 3093120 w 3095994"/>
              <a:gd name="connsiteY2" fmla="*/ 1193658 h 2478898"/>
              <a:gd name="connsiteX3" fmla="*/ 2394277 w 3095994"/>
              <a:gd name="connsiteY3" fmla="*/ 2153396 h 2478898"/>
              <a:gd name="connsiteX4" fmla="*/ 1067289 w 3095994"/>
              <a:gd name="connsiteY4" fmla="*/ 2425414 h 2478898"/>
              <a:gd name="connsiteX5" fmla="*/ 24438 w 3095994"/>
              <a:gd name="connsiteY5" fmla="*/ 1201278 h 2478898"/>
              <a:gd name="connsiteX0" fmla="*/ 24438 w 3126801"/>
              <a:gd name="connsiteY0" fmla="*/ 1210814 h 2488434"/>
              <a:gd name="connsiteX1" fmla="*/ 2126469 w 3126801"/>
              <a:gd name="connsiteY1" fmla="*/ 9538 h 2488434"/>
              <a:gd name="connsiteX2" fmla="*/ 2920057 w 3126801"/>
              <a:gd name="connsiteY2" fmla="*/ 677031 h 2488434"/>
              <a:gd name="connsiteX3" fmla="*/ 3093120 w 3126801"/>
              <a:gd name="connsiteY3" fmla="*/ 1203194 h 2488434"/>
              <a:gd name="connsiteX4" fmla="*/ 2394277 w 3126801"/>
              <a:gd name="connsiteY4" fmla="*/ 2162932 h 2488434"/>
              <a:gd name="connsiteX5" fmla="*/ 1067289 w 3126801"/>
              <a:gd name="connsiteY5" fmla="*/ 2434950 h 2488434"/>
              <a:gd name="connsiteX6" fmla="*/ 24438 w 3126801"/>
              <a:gd name="connsiteY6" fmla="*/ 1210814 h 2488434"/>
              <a:gd name="connsiteX0" fmla="*/ 51573 w 2536716"/>
              <a:gd name="connsiteY0" fmla="*/ 1163703 h 2490199"/>
              <a:gd name="connsiteX1" fmla="*/ 1536384 w 2536716"/>
              <a:gd name="connsiteY1" fmla="*/ 8147 h 2490199"/>
              <a:gd name="connsiteX2" fmla="*/ 2329972 w 2536716"/>
              <a:gd name="connsiteY2" fmla="*/ 675640 h 2490199"/>
              <a:gd name="connsiteX3" fmla="*/ 2503035 w 2536716"/>
              <a:gd name="connsiteY3" fmla="*/ 1201803 h 2490199"/>
              <a:gd name="connsiteX4" fmla="*/ 1804192 w 2536716"/>
              <a:gd name="connsiteY4" fmla="*/ 2161541 h 2490199"/>
              <a:gd name="connsiteX5" fmla="*/ 477204 w 2536716"/>
              <a:gd name="connsiteY5" fmla="*/ 2433559 h 2490199"/>
              <a:gd name="connsiteX6" fmla="*/ 51573 w 2536716"/>
              <a:gd name="connsiteY6" fmla="*/ 1163703 h 2490199"/>
              <a:gd name="connsiteX0" fmla="*/ 32533 w 2517676"/>
              <a:gd name="connsiteY0" fmla="*/ 1096145 h 2422641"/>
              <a:gd name="connsiteX1" fmla="*/ 1212544 w 2517676"/>
              <a:gd name="connsiteY1" fmla="*/ 9169 h 2422641"/>
              <a:gd name="connsiteX2" fmla="*/ 2310932 w 2517676"/>
              <a:gd name="connsiteY2" fmla="*/ 608082 h 2422641"/>
              <a:gd name="connsiteX3" fmla="*/ 2483995 w 2517676"/>
              <a:gd name="connsiteY3" fmla="*/ 1134245 h 2422641"/>
              <a:gd name="connsiteX4" fmla="*/ 1785152 w 2517676"/>
              <a:gd name="connsiteY4" fmla="*/ 2093983 h 2422641"/>
              <a:gd name="connsiteX5" fmla="*/ 458164 w 2517676"/>
              <a:gd name="connsiteY5" fmla="*/ 2366001 h 2422641"/>
              <a:gd name="connsiteX6" fmla="*/ 32533 w 2517676"/>
              <a:gd name="connsiteY6" fmla="*/ 1096145 h 2422641"/>
              <a:gd name="connsiteX0" fmla="*/ 633188 w 3118331"/>
              <a:gd name="connsiteY0" fmla="*/ 1096145 h 2374902"/>
              <a:gd name="connsiteX1" fmla="*/ 1813199 w 3118331"/>
              <a:gd name="connsiteY1" fmla="*/ 9169 h 2374902"/>
              <a:gd name="connsiteX2" fmla="*/ 2911587 w 3118331"/>
              <a:gd name="connsiteY2" fmla="*/ 608082 h 2374902"/>
              <a:gd name="connsiteX3" fmla="*/ 3084650 w 3118331"/>
              <a:gd name="connsiteY3" fmla="*/ 1134245 h 2374902"/>
              <a:gd name="connsiteX4" fmla="*/ 2385807 w 3118331"/>
              <a:gd name="connsiteY4" fmla="*/ 2093983 h 2374902"/>
              <a:gd name="connsiteX5" fmla="*/ 1058819 w 3118331"/>
              <a:gd name="connsiteY5" fmla="*/ 2366001 h 2374902"/>
              <a:gd name="connsiteX6" fmla="*/ 8366 w 3118331"/>
              <a:gd name="connsiteY6" fmla="*/ 1842522 h 2374902"/>
              <a:gd name="connsiteX7" fmla="*/ 633188 w 3118331"/>
              <a:gd name="connsiteY7" fmla="*/ 1096145 h 2374902"/>
              <a:gd name="connsiteX0" fmla="*/ 664404 w 3149547"/>
              <a:gd name="connsiteY0" fmla="*/ 1096145 h 2370352"/>
              <a:gd name="connsiteX1" fmla="*/ 1844415 w 3149547"/>
              <a:gd name="connsiteY1" fmla="*/ 9169 h 2370352"/>
              <a:gd name="connsiteX2" fmla="*/ 2942803 w 3149547"/>
              <a:gd name="connsiteY2" fmla="*/ 608082 h 2370352"/>
              <a:gd name="connsiteX3" fmla="*/ 3115866 w 3149547"/>
              <a:gd name="connsiteY3" fmla="*/ 1134245 h 2370352"/>
              <a:gd name="connsiteX4" fmla="*/ 2417023 w 3149547"/>
              <a:gd name="connsiteY4" fmla="*/ 2093983 h 2370352"/>
              <a:gd name="connsiteX5" fmla="*/ 1090035 w 3149547"/>
              <a:gd name="connsiteY5" fmla="*/ 2366001 h 2370352"/>
              <a:gd name="connsiteX6" fmla="*/ 108163 w 3149547"/>
              <a:gd name="connsiteY6" fmla="*/ 2231142 h 2370352"/>
              <a:gd name="connsiteX7" fmla="*/ 39582 w 3149547"/>
              <a:gd name="connsiteY7" fmla="*/ 1842522 h 2370352"/>
              <a:gd name="connsiteX8" fmla="*/ 664404 w 3149547"/>
              <a:gd name="connsiteY8" fmla="*/ 1096145 h 2370352"/>
              <a:gd name="connsiteX0" fmla="*/ 755844 w 3149547"/>
              <a:gd name="connsiteY0" fmla="*/ 939296 h 2365903"/>
              <a:gd name="connsiteX1" fmla="*/ 1844415 w 3149547"/>
              <a:gd name="connsiteY1" fmla="*/ 4720 h 2365903"/>
              <a:gd name="connsiteX2" fmla="*/ 2942803 w 3149547"/>
              <a:gd name="connsiteY2" fmla="*/ 603633 h 2365903"/>
              <a:gd name="connsiteX3" fmla="*/ 3115866 w 3149547"/>
              <a:gd name="connsiteY3" fmla="*/ 1129796 h 2365903"/>
              <a:gd name="connsiteX4" fmla="*/ 2417023 w 3149547"/>
              <a:gd name="connsiteY4" fmla="*/ 2089534 h 2365903"/>
              <a:gd name="connsiteX5" fmla="*/ 1090035 w 3149547"/>
              <a:gd name="connsiteY5" fmla="*/ 2361552 h 2365903"/>
              <a:gd name="connsiteX6" fmla="*/ 108163 w 3149547"/>
              <a:gd name="connsiteY6" fmla="*/ 2226693 h 2365903"/>
              <a:gd name="connsiteX7" fmla="*/ 39582 w 3149547"/>
              <a:gd name="connsiteY7" fmla="*/ 1838073 h 2365903"/>
              <a:gd name="connsiteX8" fmla="*/ 755844 w 3149547"/>
              <a:gd name="connsiteY8" fmla="*/ 939296 h 2365903"/>
              <a:gd name="connsiteX0" fmla="*/ 755844 w 3136987"/>
              <a:gd name="connsiteY0" fmla="*/ 939296 h 2365903"/>
              <a:gd name="connsiteX1" fmla="*/ 1844415 w 3136987"/>
              <a:gd name="connsiteY1" fmla="*/ 4720 h 2365903"/>
              <a:gd name="connsiteX2" fmla="*/ 2942803 w 3136987"/>
              <a:gd name="connsiteY2" fmla="*/ 603633 h 2365903"/>
              <a:gd name="connsiteX3" fmla="*/ 3100626 w 3136987"/>
              <a:gd name="connsiteY3" fmla="*/ 1442216 h 2365903"/>
              <a:gd name="connsiteX4" fmla="*/ 2417023 w 3136987"/>
              <a:gd name="connsiteY4" fmla="*/ 2089534 h 2365903"/>
              <a:gd name="connsiteX5" fmla="*/ 1090035 w 3136987"/>
              <a:gd name="connsiteY5" fmla="*/ 2361552 h 2365903"/>
              <a:gd name="connsiteX6" fmla="*/ 108163 w 3136987"/>
              <a:gd name="connsiteY6" fmla="*/ 2226693 h 2365903"/>
              <a:gd name="connsiteX7" fmla="*/ 39582 w 3136987"/>
              <a:gd name="connsiteY7" fmla="*/ 1838073 h 2365903"/>
              <a:gd name="connsiteX8" fmla="*/ 755844 w 3136987"/>
              <a:gd name="connsiteY8" fmla="*/ 939296 h 2365903"/>
              <a:gd name="connsiteX0" fmla="*/ 755844 w 3149732"/>
              <a:gd name="connsiteY0" fmla="*/ 937300 h 2363907"/>
              <a:gd name="connsiteX1" fmla="*/ 1844415 w 3149732"/>
              <a:gd name="connsiteY1" fmla="*/ 2724 h 2363907"/>
              <a:gd name="connsiteX2" fmla="*/ 2996143 w 3149732"/>
              <a:gd name="connsiteY2" fmla="*/ 670217 h 2363907"/>
              <a:gd name="connsiteX3" fmla="*/ 3100626 w 3149732"/>
              <a:gd name="connsiteY3" fmla="*/ 1440220 h 2363907"/>
              <a:gd name="connsiteX4" fmla="*/ 2417023 w 3149732"/>
              <a:gd name="connsiteY4" fmla="*/ 2087538 h 2363907"/>
              <a:gd name="connsiteX5" fmla="*/ 1090035 w 3149732"/>
              <a:gd name="connsiteY5" fmla="*/ 2359556 h 2363907"/>
              <a:gd name="connsiteX6" fmla="*/ 108163 w 3149732"/>
              <a:gd name="connsiteY6" fmla="*/ 2224697 h 2363907"/>
              <a:gd name="connsiteX7" fmla="*/ 39582 w 3149732"/>
              <a:gd name="connsiteY7" fmla="*/ 1836077 h 2363907"/>
              <a:gd name="connsiteX8" fmla="*/ 755844 w 3149732"/>
              <a:gd name="connsiteY8" fmla="*/ 937300 h 2363907"/>
              <a:gd name="connsiteX0" fmla="*/ 755844 w 3149732"/>
              <a:gd name="connsiteY0" fmla="*/ 937300 h 2360061"/>
              <a:gd name="connsiteX1" fmla="*/ 1844415 w 3149732"/>
              <a:gd name="connsiteY1" fmla="*/ 2724 h 2360061"/>
              <a:gd name="connsiteX2" fmla="*/ 2996143 w 3149732"/>
              <a:gd name="connsiteY2" fmla="*/ 670217 h 2360061"/>
              <a:gd name="connsiteX3" fmla="*/ 3100626 w 3149732"/>
              <a:gd name="connsiteY3" fmla="*/ 1440220 h 2360061"/>
              <a:gd name="connsiteX4" fmla="*/ 2211283 w 3149732"/>
              <a:gd name="connsiteY4" fmla="*/ 2186598 h 2360061"/>
              <a:gd name="connsiteX5" fmla="*/ 1090035 w 3149732"/>
              <a:gd name="connsiteY5" fmla="*/ 2359556 h 2360061"/>
              <a:gd name="connsiteX6" fmla="*/ 108163 w 3149732"/>
              <a:gd name="connsiteY6" fmla="*/ 2224697 h 2360061"/>
              <a:gd name="connsiteX7" fmla="*/ 39582 w 3149732"/>
              <a:gd name="connsiteY7" fmla="*/ 1836077 h 2360061"/>
              <a:gd name="connsiteX8" fmla="*/ 755844 w 3149732"/>
              <a:gd name="connsiteY8" fmla="*/ 937300 h 2360061"/>
              <a:gd name="connsiteX0" fmla="*/ 752365 w 3146253"/>
              <a:gd name="connsiteY0" fmla="*/ 937300 h 2360061"/>
              <a:gd name="connsiteX1" fmla="*/ 1840936 w 3146253"/>
              <a:gd name="connsiteY1" fmla="*/ 2724 h 2360061"/>
              <a:gd name="connsiteX2" fmla="*/ 2992664 w 3146253"/>
              <a:gd name="connsiteY2" fmla="*/ 670217 h 2360061"/>
              <a:gd name="connsiteX3" fmla="*/ 3097147 w 3146253"/>
              <a:gd name="connsiteY3" fmla="*/ 1440220 h 2360061"/>
              <a:gd name="connsiteX4" fmla="*/ 2207804 w 3146253"/>
              <a:gd name="connsiteY4" fmla="*/ 2186598 h 2360061"/>
              <a:gd name="connsiteX5" fmla="*/ 1086556 w 3146253"/>
              <a:gd name="connsiteY5" fmla="*/ 2359556 h 2360061"/>
              <a:gd name="connsiteX6" fmla="*/ 104684 w 3146253"/>
              <a:gd name="connsiteY6" fmla="*/ 2224697 h 2360061"/>
              <a:gd name="connsiteX7" fmla="*/ 43723 w 3146253"/>
              <a:gd name="connsiteY7" fmla="*/ 2003717 h 2360061"/>
              <a:gd name="connsiteX8" fmla="*/ 752365 w 3146253"/>
              <a:gd name="connsiteY8" fmla="*/ 937300 h 2360061"/>
              <a:gd name="connsiteX0" fmla="*/ 752365 w 3146253"/>
              <a:gd name="connsiteY0" fmla="*/ 937300 h 2360061"/>
              <a:gd name="connsiteX1" fmla="*/ 1840936 w 3146253"/>
              <a:gd name="connsiteY1" fmla="*/ 2724 h 2360061"/>
              <a:gd name="connsiteX2" fmla="*/ 2992664 w 3146253"/>
              <a:gd name="connsiteY2" fmla="*/ 670217 h 2360061"/>
              <a:gd name="connsiteX3" fmla="*/ 3097147 w 3146253"/>
              <a:gd name="connsiteY3" fmla="*/ 1440220 h 2360061"/>
              <a:gd name="connsiteX4" fmla="*/ 2207804 w 3146253"/>
              <a:gd name="connsiteY4" fmla="*/ 2186598 h 2360061"/>
              <a:gd name="connsiteX5" fmla="*/ 1086556 w 3146253"/>
              <a:gd name="connsiteY5" fmla="*/ 2359556 h 2360061"/>
              <a:gd name="connsiteX6" fmla="*/ 104684 w 3146253"/>
              <a:gd name="connsiteY6" fmla="*/ 2224697 h 2360061"/>
              <a:gd name="connsiteX7" fmla="*/ 43723 w 3146253"/>
              <a:gd name="connsiteY7" fmla="*/ 2003717 h 2360061"/>
              <a:gd name="connsiteX8" fmla="*/ 752365 w 3146253"/>
              <a:gd name="connsiteY8" fmla="*/ 937300 h 2360061"/>
              <a:gd name="connsiteX0" fmla="*/ 744780 w 3138668"/>
              <a:gd name="connsiteY0" fmla="*/ 937300 h 2360061"/>
              <a:gd name="connsiteX1" fmla="*/ 1833351 w 3138668"/>
              <a:gd name="connsiteY1" fmla="*/ 2724 h 2360061"/>
              <a:gd name="connsiteX2" fmla="*/ 2985079 w 3138668"/>
              <a:gd name="connsiteY2" fmla="*/ 670217 h 2360061"/>
              <a:gd name="connsiteX3" fmla="*/ 3089562 w 3138668"/>
              <a:gd name="connsiteY3" fmla="*/ 1440220 h 2360061"/>
              <a:gd name="connsiteX4" fmla="*/ 2200219 w 3138668"/>
              <a:gd name="connsiteY4" fmla="*/ 2186598 h 2360061"/>
              <a:gd name="connsiteX5" fmla="*/ 1078971 w 3138668"/>
              <a:gd name="connsiteY5" fmla="*/ 2359556 h 2360061"/>
              <a:gd name="connsiteX6" fmla="*/ 97099 w 3138668"/>
              <a:gd name="connsiteY6" fmla="*/ 2224697 h 2360061"/>
              <a:gd name="connsiteX7" fmla="*/ 36138 w 3138668"/>
              <a:gd name="connsiteY7" fmla="*/ 2003717 h 2360061"/>
              <a:gd name="connsiteX8" fmla="*/ 744780 w 3138668"/>
              <a:gd name="connsiteY8" fmla="*/ 937300 h 2360061"/>
              <a:gd name="connsiteX0" fmla="*/ 708642 w 3102530"/>
              <a:gd name="connsiteY0" fmla="*/ 937300 h 2372374"/>
              <a:gd name="connsiteX1" fmla="*/ 1797213 w 3102530"/>
              <a:gd name="connsiteY1" fmla="*/ 2724 h 2372374"/>
              <a:gd name="connsiteX2" fmla="*/ 2948941 w 3102530"/>
              <a:gd name="connsiteY2" fmla="*/ 670217 h 2372374"/>
              <a:gd name="connsiteX3" fmla="*/ 3053424 w 3102530"/>
              <a:gd name="connsiteY3" fmla="*/ 1440220 h 2372374"/>
              <a:gd name="connsiteX4" fmla="*/ 2164081 w 3102530"/>
              <a:gd name="connsiteY4" fmla="*/ 2186598 h 2372374"/>
              <a:gd name="connsiteX5" fmla="*/ 1042833 w 3102530"/>
              <a:gd name="connsiteY5" fmla="*/ 2359556 h 2372374"/>
              <a:gd name="connsiteX6" fmla="*/ 205741 w 3102530"/>
              <a:gd name="connsiteY6" fmla="*/ 2300897 h 2372374"/>
              <a:gd name="connsiteX7" fmla="*/ 0 w 3102530"/>
              <a:gd name="connsiteY7" fmla="*/ 2003717 h 2372374"/>
              <a:gd name="connsiteX8" fmla="*/ 708642 w 3102530"/>
              <a:gd name="connsiteY8" fmla="*/ 937300 h 2372374"/>
              <a:gd name="connsiteX0" fmla="*/ 708642 w 3102530"/>
              <a:gd name="connsiteY0" fmla="*/ 937300 h 2372374"/>
              <a:gd name="connsiteX1" fmla="*/ 1797213 w 3102530"/>
              <a:gd name="connsiteY1" fmla="*/ 2724 h 2372374"/>
              <a:gd name="connsiteX2" fmla="*/ 2948941 w 3102530"/>
              <a:gd name="connsiteY2" fmla="*/ 670217 h 2372374"/>
              <a:gd name="connsiteX3" fmla="*/ 3053424 w 3102530"/>
              <a:gd name="connsiteY3" fmla="*/ 1440220 h 2372374"/>
              <a:gd name="connsiteX4" fmla="*/ 2164081 w 3102530"/>
              <a:gd name="connsiteY4" fmla="*/ 2186598 h 2372374"/>
              <a:gd name="connsiteX5" fmla="*/ 1042833 w 3102530"/>
              <a:gd name="connsiteY5" fmla="*/ 2359556 h 2372374"/>
              <a:gd name="connsiteX6" fmla="*/ 205741 w 3102530"/>
              <a:gd name="connsiteY6" fmla="*/ 2300897 h 2372374"/>
              <a:gd name="connsiteX7" fmla="*/ 0 w 3102530"/>
              <a:gd name="connsiteY7" fmla="*/ 2003717 h 2372374"/>
              <a:gd name="connsiteX8" fmla="*/ 708642 w 3102530"/>
              <a:gd name="connsiteY8" fmla="*/ 937300 h 2372374"/>
              <a:gd name="connsiteX0" fmla="*/ 708642 w 3102530"/>
              <a:gd name="connsiteY0" fmla="*/ 937300 h 2399024"/>
              <a:gd name="connsiteX1" fmla="*/ 1797213 w 3102530"/>
              <a:gd name="connsiteY1" fmla="*/ 2724 h 2399024"/>
              <a:gd name="connsiteX2" fmla="*/ 2948941 w 3102530"/>
              <a:gd name="connsiteY2" fmla="*/ 670217 h 2399024"/>
              <a:gd name="connsiteX3" fmla="*/ 3053424 w 3102530"/>
              <a:gd name="connsiteY3" fmla="*/ 1440220 h 2399024"/>
              <a:gd name="connsiteX4" fmla="*/ 2164081 w 3102530"/>
              <a:gd name="connsiteY4" fmla="*/ 2186598 h 2399024"/>
              <a:gd name="connsiteX5" fmla="*/ 1042833 w 3102530"/>
              <a:gd name="connsiteY5" fmla="*/ 2359556 h 2399024"/>
              <a:gd name="connsiteX6" fmla="*/ 205741 w 3102530"/>
              <a:gd name="connsiteY6" fmla="*/ 2300897 h 2399024"/>
              <a:gd name="connsiteX7" fmla="*/ 0 w 3102530"/>
              <a:gd name="connsiteY7" fmla="*/ 2003717 h 2399024"/>
              <a:gd name="connsiteX8" fmla="*/ 708642 w 3102530"/>
              <a:gd name="connsiteY8" fmla="*/ 937300 h 2399024"/>
              <a:gd name="connsiteX0" fmla="*/ 725120 w 3119008"/>
              <a:gd name="connsiteY0" fmla="*/ 937300 h 2399024"/>
              <a:gd name="connsiteX1" fmla="*/ 1813691 w 3119008"/>
              <a:gd name="connsiteY1" fmla="*/ 2724 h 2399024"/>
              <a:gd name="connsiteX2" fmla="*/ 2965419 w 3119008"/>
              <a:gd name="connsiteY2" fmla="*/ 670217 h 2399024"/>
              <a:gd name="connsiteX3" fmla="*/ 3069902 w 3119008"/>
              <a:gd name="connsiteY3" fmla="*/ 1440220 h 2399024"/>
              <a:gd name="connsiteX4" fmla="*/ 2180559 w 3119008"/>
              <a:gd name="connsiteY4" fmla="*/ 2186598 h 2399024"/>
              <a:gd name="connsiteX5" fmla="*/ 1059311 w 3119008"/>
              <a:gd name="connsiteY5" fmla="*/ 2359556 h 2399024"/>
              <a:gd name="connsiteX6" fmla="*/ 222219 w 3119008"/>
              <a:gd name="connsiteY6" fmla="*/ 2300897 h 2399024"/>
              <a:gd name="connsiteX7" fmla="*/ 16478 w 3119008"/>
              <a:gd name="connsiteY7" fmla="*/ 2003717 h 2399024"/>
              <a:gd name="connsiteX8" fmla="*/ 725120 w 3119008"/>
              <a:gd name="connsiteY8" fmla="*/ 937300 h 2399024"/>
              <a:gd name="connsiteX0" fmla="*/ 804361 w 3198249"/>
              <a:gd name="connsiteY0" fmla="*/ 937300 h 2403758"/>
              <a:gd name="connsiteX1" fmla="*/ 1892932 w 3198249"/>
              <a:gd name="connsiteY1" fmla="*/ 2724 h 2403758"/>
              <a:gd name="connsiteX2" fmla="*/ 3044660 w 3198249"/>
              <a:gd name="connsiteY2" fmla="*/ 670217 h 2403758"/>
              <a:gd name="connsiteX3" fmla="*/ 3149143 w 3198249"/>
              <a:gd name="connsiteY3" fmla="*/ 1440220 h 2403758"/>
              <a:gd name="connsiteX4" fmla="*/ 2259800 w 3198249"/>
              <a:gd name="connsiteY4" fmla="*/ 2186598 h 2403758"/>
              <a:gd name="connsiteX5" fmla="*/ 1138552 w 3198249"/>
              <a:gd name="connsiteY5" fmla="*/ 2359556 h 2403758"/>
              <a:gd name="connsiteX6" fmla="*/ 110960 w 3198249"/>
              <a:gd name="connsiteY6" fmla="*/ 2308517 h 2403758"/>
              <a:gd name="connsiteX7" fmla="*/ 95719 w 3198249"/>
              <a:gd name="connsiteY7" fmla="*/ 2003717 h 2403758"/>
              <a:gd name="connsiteX8" fmla="*/ 804361 w 3198249"/>
              <a:gd name="connsiteY8" fmla="*/ 937300 h 2403758"/>
              <a:gd name="connsiteX0" fmla="*/ 769890 w 3163778"/>
              <a:gd name="connsiteY0" fmla="*/ 937300 h 2386287"/>
              <a:gd name="connsiteX1" fmla="*/ 1858461 w 3163778"/>
              <a:gd name="connsiteY1" fmla="*/ 2724 h 2386287"/>
              <a:gd name="connsiteX2" fmla="*/ 3010189 w 3163778"/>
              <a:gd name="connsiteY2" fmla="*/ 670217 h 2386287"/>
              <a:gd name="connsiteX3" fmla="*/ 3114672 w 3163778"/>
              <a:gd name="connsiteY3" fmla="*/ 1440220 h 2386287"/>
              <a:gd name="connsiteX4" fmla="*/ 2225329 w 3163778"/>
              <a:gd name="connsiteY4" fmla="*/ 2186598 h 2386287"/>
              <a:gd name="connsiteX5" fmla="*/ 1104081 w 3163778"/>
              <a:gd name="connsiteY5" fmla="*/ 2359556 h 2386287"/>
              <a:gd name="connsiteX6" fmla="*/ 76489 w 3163778"/>
              <a:gd name="connsiteY6" fmla="*/ 2308517 h 2386287"/>
              <a:gd name="connsiteX7" fmla="*/ 152688 w 3163778"/>
              <a:gd name="connsiteY7" fmla="*/ 1645577 h 2386287"/>
              <a:gd name="connsiteX8" fmla="*/ 769890 w 3163778"/>
              <a:gd name="connsiteY8" fmla="*/ 937300 h 2386287"/>
              <a:gd name="connsiteX0" fmla="*/ 769890 w 3163778"/>
              <a:gd name="connsiteY0" fmla="*/ 937300 h 2383904"/>
              <a:gd name="connsiteX1" fmla="*/ 1858461 w 3163778"/>
              <a:gd name="connsiteY1" fmla="*/ 2724 h 2383904"/>
              <a:gd name="connsiteX2" fmla="*/ 3010189 w 3163778"/>
              <a:gd name="connsiteY2" fmla="*/ 670217 h 2383904"/>
              <a:gd name="connsiteX3" fmla="*/ 3114672 w 3163778"/>
              <a:gd name="connsiteY3" fmla="*/ 1440220 h 2383904"/>
              <a:gd name="connsiteX4" fmla="*/ 2301529 w 3163778"/>
              <a:gd name="connsiteY4" fmla="*/ 2224698 h 2383904"/>
              <a:gd name="connsiteX5" fmla="*/ 1104081 w 3163778"/>
              <a:gd name="connsiteY5" fmla="*/ 2359556 h 2383904"/>
              <a:gd name="connsiteX6" fmla="*/ 76489 w 3163778"/>
              <a:gd name="connsiteY6" fmla="*/ 2308517 h 2383904"/>
              <a:gd name="connsiteX7" fmla="*/ 152688 w 3163778"/>
              <a:gd name="connsiteY7" fmla="*/ 1645577 h 2383904"/>
              <a:gd name="connsiteX8" fmla="*/ 769890 w 3163778"/>
              <a:gd name="connsiteY8" fmla="*/ 937300 h 2383904"/>
              <a:gd name="connsiteX0" fmla="*/ 769890 w 3126936"/>
              <a:gd name="connsiteY0" fmla="*/ 937300 h 2383904"/>
              <a:gd name="connsiteX1" fmla="*/ 1858461 w 3126936"/>
              <a:gd name="connsiteY1" fmla="*/ 2724 h 2383904"/>
              <a:gd name="connsiteX2" fmla="*/ 3010189 w 3126936"/>
              <a:gd name="connsiteY2" fmla="*/ 670217 h 2383904"/>
              <a:gd name="connsiteX3" fmla="*/ 3114672 w 3126936"/>
              <a:gd name="connsiteY3" fmla="*/ 1440220 h 2383904"/>
              <a:gd name="connsiteX4" fmla="*/ 3004035 w 3126936"/>
              <a:gd name="connsiteY4" fmla="*/ 1756914 h 2383904"/>
              <a:gd name="connsiteX5" fmla="*/ 2301529 w 3126936"/>
              <a:gd name="connsiteY5" fmla="*/ 2224698 h 2383904"/>
              <a:gd name="connsiteX6" fmla="*/ 1104081 w 3126936"/>
              <a:gd name="connsiteY6" fmla="*/ 2359556 h 2383904"/>
              <a:gd name="connsiteX7" fmla="*/ 76489 w 3126936"/>
              <a:gd name="connsiteY7" fmla="*/ 2308517 h 2383904"/>
              <a:gd name="connsiteX8" fmla="*/ 152688 w 3126936"/>
              <a:gd name="connsiteY8" fmla="*/ 1645577 h 2383904"/>
              <a:gd name="connsiteX9" fmla="*/ 769890 w 3126936"/>
              <a:gd name="connsiteY9" fmla="*/ 937300 h 2383904"/>
              <a:gd name="connsiteX0" fmla="*/ 769890 w 3176884"/>
              <a:gd name="connsiteY0" fmla="*/ 937300 h 2383904"/>
              <a:gd name="connsiteX1" fmla="*/ 1858461 w 3176884"/>
              <a:gd name="connsiteY1" fmla="*/ 2724 h 2383904"/>
              <a:gd name="connsiteX2" fmla="*/ 3010189 w 3176884"/>
              <a:gd name="connsiteY2" fmla="*/ 670217 h 2383904"/>
              <a:gd name="connsiteX3" fmla="*/ 3175632 w 3176884"/>
              <a:gd name="connsiteY3" fmla="*/ 1348780 h 2383904"/>
              <a:gd name="connsiteX4" fmla="*/ 3004035 w 3176884"/>
              <a:gd name="connsiteY4" fmla="*/ 1756914 h 2383904"/>
              <a:gd name="connsiteX5" fmla="*/ 2301529 w 3176884"/>
              <a:gd name="connsiteY5" fmla="*/ 2224698 h 2383904"/>
              <a:gd name="connsiteX6" fmla="*/ 1104081 w 3176884"/>
              <a:gd name="connsiteY6" fmla="*/ 2359556 h 2383904"/>
              <a:gd name="connsiteX7" fmla="*/ 76489 w 3176884"/>
              <a:gd name="connsiteY7" fmla="*/ 2308517 h 2383904"/>
              <a:gd name="connsiteX8" fmla="*/ 152688 w 3176884"/>
              <a:gd name="connsiteY8" fmla="*/ 1645577 h 2383904"/>
              <a:gd name="connsiteX9" fmla="*/ 769890 w 3176884"/>
              <a:gd name="connsiteY9" fmla="*/ 937300 h 2383904"/>
              <a:gd name="connsiteX0" fmla="*/ 769890 w 3190808"/>
              <a:gd name="connsiteY0" fmla="*/ 934996 h 2381600"/>
              <a:gd name="connsiteX1" fmla="*/ 1858461 w 3190808"/>
              <a:gd name="connsiteY1" fmla="*/ 420 h 2381600"/>
              <a:gd name="connsiteX2" fmla="*/ 3078769 w 3190808"/>
              <a:gd name="connsiteY2" fmla="*/ 820313 h 2381600"/>
              <a:gd name="connsiteX3" fmla="*/ 3175632 w 3190808"/>
              <a:gd name="connsiteY3" fmla="*/ 1346476 h 2381600"/>
              <a:gd name="connsiteX4" fmla="*/ 3004035 w 3190808"/>
              <a:gd name="connsiteY4" fmla="*/ 1754610 h 2381600"/>
              <a:gd name="connsiteX5" fmla="*/ 2301529 w 3190808"/>
              <a:gd name="connsiteY5" fmla="*/ 2222394 h 2381600"/>
              <a:gd name="connsiteX6" fmla="*/ 1104081 w 3190808"/>
              <a:gd name="connsiteY6" fmla="*/ 2357252 h 2381600"/>
              <a:gd name="connsiteX7" fmla="*/ 76489 w 3190808"/>
              <a:gd name="connsiteY7" fmla="*/ 2306213 h 2381600"/>
              <a:gd name="connsiteX8" fmla="*/ 152688 w 3190808"/>
              <a:gd name="connsiteY8" fmla="*/ 1643273 h 2381600"/>
              <a:gd name="connsiteX9" fmla="*/ 769890 w 3190808"/>
              <a:gd name="connsiteY9" fmla="*/ 934996 h 2381600"/>
              <a:gd name="connsiteX0" fmla="*/ 769890 w 3190808"/>
              <a:gd name="connsiteY0" fmla="*/ 934996 h 2381600"/>
              <a:gd name="connsiteX1" fmla="*/ 1858461 w 3190808"/>
              <a:gd name="connsiteY1" fmla="*/ 420 h 2381600"/>
              <a:gd name="connsiteX2" fmla="*/ 3078769 w 3190808"/>
              <a:gd name="connsiteY2" fmla="*/ 820313 h 2381600"/>
              <a:gd name="connsiteX3" fmla="*/ 3175632 w 3190808"/>
              <a:gd name="connsiteY3" fmla="*/ 1346476 h 2381600"/>
              <a:gd name="connsiteX4" fmla="*/ 3004035 w 3190808"/>
              <a:gd name="connsiteY4" fmla="*/ 1754610 h 2381600"/>
              <a:gd name="connsiteX5" fmla="*/ 2301529 w 3190808"/>
              <a:gd name="connsiteY5" fmla="*/ 2222394 h 2381600"/>
              <a:gd name="connsiteX6" fmla="*/ 1104081 w 3190808"/>
              <a:gd name="connsiteY6" fmla="*/ 2357252 h 2381600"/>
              <a:gd name="connsiteX7" fmla="*/ 76489 w 3190808"/>
              <a:gd name="connsiteY7" fmla="*/ 2306213 h 2381600"/>
              <a:gd name="connsiteX8" fmla="*/ 152688 w 3190808"/>
              <a:gd name="connsiteY8" fmla="*/ 1643273 h 2381600"/>
              <a:gd name="connsiteX9" fmla="*/ 769890 w 3190808"/>
              <a:gd name="connsiteY9" fmla="*/ 934996 h 2381600"/>
              <a:gd name="connsiteX0" fmla="*/ 769890 w 3190808"/>
              <a:gd name="connsiteY0" fmla="*/ 934996 h 2381600"/>
              <a:gd name="connsiteX1" fmla="*/ 1858461 w 3190808"/>
              <a:gd name="connsiteY1" fmla="*/ 420 h 2381600"/>
              <a:gd name="connsiteX2" fmla="*/ 3078769 w 3190808"/>
              <a:gd name="connsiteY2" fmla="*/ 820313 h 2381600"/>
              <a:gd name="connsiteX3" fmla="*/ 3175632 w 3190808"/>
              <a:gd name="connsiteY3" fmla="*/ 1346476 h 2381600"/>
              <a:gd name="connsiteX4" fmla="*/ 3004035 w 3190808"/>
              <a:gd name="connsiteY4" fmla="*/ 1754610 h 2381600"/>
              <a:gd name="connsiteX5" fmla="*/ 2301529 w 3190808"/>
              <a:gd name="connsiteY5" fmla="*/ 2222394 h 2381600"/>
              <a:gd name="connsiteX6" fmla="*/ 1104081 w 3190808"/>
              <a:gd name="connsiteY6" fmla="*/ 2357252 h 2381600"/>
              <a:gd name="connsiteX7" fmla="*/ 76489 w 3190808"/>
              <a:gd name="connsiteY7" fmla="*/ 2306213 h 2381600"/>
              <a:gd name="connsiteX8" fmla="*/ 152688 w 3190808"/>
              <a:gd name="connsiteY8" fmla="*/ 1643273 h 2381600"/>
              <a:gd name="connsiteX9" fmla="*/ 769890 w 3190808"/>
              <a:gd name="connsiteY9" fmla="*/ 934996 h 2381600"/>
              <a:gd name="connsiteX0" fmla="*/ 769890 w 3213648"/>
              <a:gd name="connsiteY0" fmla="*/ 934996 h 2381600"/>
              <a:gd name="connsiteX1" fmla="*/ 1858461 w 3213648"/>
              <a:gd name="connsiteY1" fmla="*/ 420 h 2381600"/>
              <a:gd name="connsiteX2" fmla="*/ 3078769 w 3213648"/>
              <a:gd name="connsiteY2" fmla="*/ 820313 h 2381600"/>
              <a:gd name="connsiteX3" fmla="*/ 3175632 w 3213648"/>
              <a:gd name="connsiteY3" fmla="*/ 1346476 h 2381600"/>
              <a:gd name="connsiteX4" fmla="*/ 3004035 w 3213648"/>
              <a:gd name="connsiteY4" fmla="*/ 1754610 h 2381600"/>
              <a:gd name="connsiteX5" fmla="*/ 2301529 w 3213648"/>
              <a:gd name="connsiteY5" fmla="*/ 2222394 h 2381600"/>
              <a:gd name="connsiteX6" fmla="*/ 1104081 w 3213648"/>
              <a:gd name="connsiteY6" fmla="*/ 2357252 h 2381600"/>
              <a:gd name="connsiteX7" fmla="*/ 76489 w 3213648"/>
              <a:gd name="connsiteY7" fmla="*/ 2306213 h 2381600"/>
              <a:gd name="connsiteX8" fmla="*/ 152688 w 3213648"/>
              <a:gd name="connsiteY8" fmla="*/ 1643273 h 2381600"/>
              <a:gd name="connsiteX9" fmla="*/ 769890 w 3213648"/>
              <a:gd name="connsiteY9" fmla="*/ 934996 h 2381600"/>
              <a:gd name="connsiteX0" fmla="*/ 769890 w 3197223"/>
              <a:gd name="connsiteY0" fmla="*/ 934996 h 2381600"/>
              <a:gd name="connsiteX1" fmla="*/ 1858461 w 3197223"/>
              <a:gd name="connsiteY1" fmla="*/ 420 h 2381600"/>
              <a:gd name="connsiteX2" fmla="*/ 3078769 w 3197223"/>
              <a:gd name="connsiteY2" fmla="*/ 820313 h 2381600"/>
              <a:gd name="connsiteX3" fmla="*/ 3175632 w 3197223"/>
              <a:gd name="connsiteY3" fmla="*/ 1346476 h 2381600"/>
              <a:gd name="connsiteX4" fmla="*/ 3004035 w 3197223"/>
              <a:gd name="connsiteY4" fmla="*/ 1754610 h 2381600"/>
              <a:gd name="connsiteX5" fmla="*/ 2301529 w 3197223"/>
              <a:gd name="connsiteY5" fmla="*/ 2222394 h 2381600"/>
              <a:gd name="connsiteX6" fmla="*/ 1104081 w 3197223"/>
              <a:gd name="connsiteY6" fmla="*/ 2357252 h 2381600"/>
              <a:gd name="connsiteX7" fmla="*/ 76489 w 3197223"/>
              <a:gd name="connsiteY7" fmla="*/ 2306213 h 2381600"/>
              <a:gd name="connsiteX8" fmla="*/ 152688 w 3197223"/>
              <a:gd name="connsiteY8" fmla="*/ 1643273 h 2381600"/>
              <a:gd name="connsiteX9" fmla="*/ 769890 w 3197223"/>
              <a:gd name="connsiteY9" fmla="*/ 934996 h 2381600"/>
              <a:gd name="connsiteX0" fmla="*/ 769890 w 3197223"/>
              <a:gd name="connsiteY0" fmla="*/ 934996 h 2381600"/>
              <a:gd name="connsiteX1" fmla="*/ 1858461 w 3197223"/>
              <a:gd name="connsiteY1" fmla="*/ 420 h 2381600"/>
              <a:gd name="connsiteX2" fmla="*/ 3078769 w 3197223"/>
              <a:gd name="connsiteY2" fmla="*/ 820313 h 2381600"/>
              <a:gd name="connsiteX3" fmla="*/ 3175632 w 3197223"/>
              <a:gd name="connsiteY3" fmla="*/ 1346476 h 2381600"/>
              <a:gd name="connsiteX4" fmla="*/ 3004035 w 3197223"/>
              <a:gd name="connsiteY4" fmla="*/ 1754610 h 2381600"/>
              <a:gd name="connsiteX5" fmla="*/ 2301529 w 3197223"/>
              <a:gd name="connsiteY5" fmla="*/ 2222394 h 2381600"/>
              <a:gd name="connsiteX6" fmla="*/ 1104081 w 3197223"/>
              <a:gd name="connsiteY6" fmla="*/ 2357252 h 2381600"/>
              <a:gd name="connsiteX7" fmla="*/ 76489 w 3197223"/>
              <a:gd name="connsiteY7" fmla="*/ 2306213 h 2381600"/>
              <a:gd name="connsiteX8" fmla="*/ 152688 w 3197223"/>
              <a:gd name="connsiteY8" fmla="*/ 1643273 h 2381600"/>
              <a:gd name="connsiteX9" fmla="*/ 769890 w 3197223"/>
              <a:gd name="connsiteY9" fmla="*/ 934996 h 2381600"/>
              <a:gd name="connsiteX0" fmla="*/ 769890 w 3203334"/>
              <a:gd name="connsiteY0" fmla="*/ 934996 h 2381600"/>
              <a:gd name="connsiteX1" fmla="*/ 1858461 w 3203334"/>
              <a:gd name="connsiteY1" fmla="*/ 420 h 2381600"/>
              <a:gd name="connsiteX2" fmla="*/ 3078769 w 3203334"/>
              <a:gd name="connsiteY2" fmla="*/ 820313 h 2381600"/>
              <a:gd name="connsiteX3" fmla="*/ 3175632 w 3203334"/>
              <a:gd name="connsiteY3" fmla="*/ 1346476 h 2381600"/>
              <a:gd name="connsiteX4" fmla="*/ 3004035 w 3203334"/>
              <a:gd name="connsiteY4" fmla="*/ 1754610 h 2381600"/>
              <a:gd name="connsiteX5" fmla="*/ 2301529 w 3203334"/>
              <a:gd name="connsiteY5" fmla="*/ 2222394 h 2381600"/>
              <a:gd name="connsiteX6" fmla="*/ 1104081 w 3203334"/>
              <a:gd name="connsiteY6" fmla="*/ 2357252 h 2381600"/>
              <a:gd name="connsiteX7" fmla="*/ 76489 w 3203334"/>
              <a:gd name="connsiteY7" fmla="*/ 2306213 h 2381600"/>
              <a:gd name="connsiteX8" fmla="*/ 152688 w 3203334"/>
              <a:gd name="connsiteY8" fmla="*/ 1643273 h 2381600"/>
              <a:gd name="connsiteX9" fmla="*/ 769890 w 3203334"/>
              <a:gd name="connsiteY9" fmla="*/ 934996 h 2381600"/>
              <a:gd name="connsiteX0" fmla="*/ 769890 w 3196947"/>
              <a:gd name="connsiteY0" fmla="*/ 934996 h 2381600"/>
              <a:gd name="connsiteX1" fmla="*/ 1858461 w 3196947"/>
              <a:gd name="connsiteY1" fmla="*/ 420 h 2381600"/>
              <a:gd name="connsiteX2" fmla="*/ 3078769 w 3196947"/>
              <a:gd name="connsiteY2" fmla="*/ 820313 h 2381600"/>
              <a:gd name="connsiteX3" fmla="*/ 3175632 w 3196947"/>
              <a:gd name="connsiteY3" fmla="*/ 1346476 h 2381600"/>
              <a:gd name="connsiteX4" fmla="*/ 3004035 w 3196947"/>
              <a:gd name="connsiteY4" fmla="*/ 1754610 h 2381600"/>
              <a:gd name="connsiteX5" fmla="*/ 2301529 w 3196947"/>
              <a:gd name="connsiteY5" fmla="*/ 2222394 h 2381600"/>
              <a:gd name="connsiteX6" fmla="*/ 1104081 w 3196947"/>
              <a:gd name="connsiteY6" fmla="*/ 2357252 h 2381600"/>
              <a:gd name="connsiteX7" fmla="*/ 76489 w 3196947"/>
              <a:gd name="connsiteY7" fmla="*/ 2306213 h 2381600"/>
              <a:gd name="connsiteX8" fmla="*/ 152688 w 3196947"/>
              <a:gd name="connsiteY8" fmla="*/ 1643273 h 2381600"/>
              <a:gd name="connsiteX9" fmla="*/ 769890 w 3196947"/>
              <a:gd name="connsiteY9" fmla="*/ 934996 h 2381600"/>
              <a:gd name="connsiteX0" fmla="*/ 769890 w 3196947"/>
              <a:gd name="connsiteY0" fmla="*/ 934945 h 2381549"/>
              <a:gd name="connsiteX1" fmla="*/ 1858461 w 3196947"/>
              <a:gd name="connsiteY1" fmla="*/ 369 h 2381549"/>
              <a:gd name="connsiteX2" fmla="*/ 3078769 w 3196947"/>
              <a:gd name="connsiteY2" fmla="*/ 820262 h 2381549"/>
              <a:gd name="connsiteX3" fmla="*/ 3175632 w 3196947"/>
              <a:gd name="connsiteY3" fmla="*/ 1346425 h 2381549"/>
              <a:gd name="connsiteX4" fmla="*/ 3004035 w 3196947"/>
              <a:gd name="connsiteY4" fmla="*/ 1754559 h 2381549"/>
              <a:gd name="connsiteX5" fmla="*/ 2301529 w 3196947"/>
              <a:gd name="connsiteY5" fmla="*/ 2222343 h 2381549"/>
              <a:gd name="connsiteX6" fmla="*/ 1104081 w 3196947"/>
              <a:gd name="connsiteY6" fmla="*/ 2357201 h 2381549"/>
              <a:gd name="connsiteX7" fmla="*/ 76489 w 3196947"/>
              <a:gd name="connsiteY7" fmla="*/ 2306162 h 2381549"/>
              <a:gd name="connsiteX8" fmla="*/ 152688 w 3196947"/>
              <a:gd name="connsiteY8" fmla="*/ 1643222 h 2381549"/>
              <a:gd name="connsiteX9" fmla="*/ 769890 w 3196947"/>
              <a:gd name="connsiteY9" fmla="*/ 934945 h 2381549"/>
              <a:gd name="connsiteX0" fmla="*/ 769890 w 3196947"/>
              <a:gd name="connsiteY0" fmla="*/ 935010 h 2381614"/>
              <a:gd name="connsiteX1" fmla="*/ 1858461 w 3196947"/>
              <a:gd name="connsiteY1" fmla="*/ 434 h 2381614"/>
              <a:gd name="connsiteX2" fmla="*/ 3078769 w 3196947"/>
              <a:gd name="connsiteY2" fmla="*/ 820327 h 2381614"/>
              <a:gd name="connsiteX3" fmla="*/ 3175632 w 3196947"/>
              <a:gd name="connsiteY3" fmla="*/ 1346490 h 2381614"/>
              <a:gd name="connsiteX4" fmla="*/ 3004035 w 3196947"/>
              <a:gd name="connsiteY4" fmla="*/ 1754624 h 2381614"/>
              <a:gd name="connsiteX5" fmla="*/ 2301529 w 3196947"/>
              <a:gd name="connsiteY5" fmla="*/ 2222408 h 2381614"/>
              <a:gd name="connsiteX6" fmla="*/ 1104081 w 3196947"/>
              <a:gd name="connsiteY6" fmla="*/ 2357266 h 2381614"/>
              <a:gd name="connsiteX7" fmla="*/ 76489 w 3196947"/>
              <a:gd name="connsiteY7" fmla="*/ 2306227 h 2381614"/>
              <a:gd name="connsiteX8" fmla="*/ 152688 w 3196947"/>
              <a:gd name="connsiteY8" fmla="*/ 1643287 h 2381614"/>
              <a:gd name="connsiteX9" fmla="*/ 769890 w 3196947"/>
              <a:gd name="connsiteY9" fmla="*/ 935010 h 2381614"/>
              <a:gd name="connsiteX0" fmla="*/ 769890 w 3196947"/>
              <a:gd name="connsiteY0" fmla="*/ 935010 h 2377029"/>
              <a:gd name="connsiteX1" fmla="*/ 1858461 w 3196947"/>
              <a:gd name="connsiteY1" fmla="*/ 434 h 2377029"/>
              <a:gd name="connsiteX2" fmla="*/ 3078769 w 3196947"/>
              <a:gd name="connsiteY2" fmla="*/ 820327 h 2377029"/>
              <a:gd name="connsiteX3" fmla="*/ 3175632 w 3196947"/>
              <a:gd name="connsiteY3" fmla="*/ 1346490 h 2377029"/>
              <a:gd name="connsiteX4" fmla="*/ 3004035 w 3196947"/>
              <a:gd name="connsiteY4" fmla="*/ 1754624 h 2377029"/>
              <a:gd name="connsiteX5" fmla="*/ 2365029 w 3196947"/>
              <a:gd name="connsiteY5" fmla="*/ 2298608 h 2377029"/>
              <a:gd name="connsiteX6" fmla="*/ 1104081 w 3196947"/>
              <a:gd name="connsiteY6" fmla="*/ 2357266 h 2377029"/>
              <a:gd name="connsiteX7" fmla="*/ 76489 w 3196947"/>
              <a:gd name="connsiteY7" fmla="*/ 2306227 h 2377029"/>
              <a:gd name="connsiteX8" fmla="*/ 152688 w 3196947"/>
              <a:gd name="connsiteY8" fmla="*/ 1643287 h 2377029"/>
              <a:gd name="connsiteX9" fmla="*/ 769890 w 3196947"/>
              <a:gd name="connsiteY9" fmla="*/ 935010 h 2377029"/>
              <a:gd name="connsiteX0" fmla="*/ 769890 w 3196947"/>
              <a:gd name="connsiteY0" fmla="*/ 935010 h 2377029"/>
              <a:gd name="connsiteX1" fmla="*/ 1858461 w 3196947"/>
              <a:gd name="connsiteY1" fmla="*/ 434 h 2377029"/>
              <a:gd name="connsiteX2" fmla="*/ 3078769 w 3196947"/>
              <a:gd name="connsiteY2" fmla="*/ 820327 h 2377029"/>
              <a:gd name="connsiteX3" fmla="*/ 3175632 w 3196947"/>
              <a:gd name="connsiteY3" fmla="*/ 1346490 h 2377029"/>
              <a:gd name="connsiteX4" fmla="*/ 3004035 w 3196947"/>
              <a:gd name="connsiteY4" fmla="*/ 1754624 h 2377029"/>
              <a:gd name="connsiteX5" fmla="*/ 2365029 w 3196947"/>
              <a:gd name="connsiteY5" fmla="*/ 2298608 h 2377029"/>
              <a:gd name="connsiteX6" fmla="*/ 1104081 w 3196947"/>
              <a:gd name="connsiteY6" fmla="*/ 2357266 h 2377029"/>
              <a:gd name="connsiteX7" fmla="*/ 76489 w 3196947"/>
              <a:gd name="connsiteY7" fmla="*/ 2306227 h 2377029"/>
              <a:gd name="connsiteX8" fmla="*/ 152688 w 3196947"/>
              <a:gd name="connsiteY8" fmla="*/ 1643287 h 2377029"/>
              <a:gd name="connsiteX9" fmla="*/ 769890 w 3196947"/>
              <a:gd name="connsiteY9" fmla="*/ 935010 h 2377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6947" h="2377029">
                <a:moveTo>
                  <a:pt x="769890" y="935010"/>
                </a:moveTo>
                <a:cubicBezTo>
                  <a:pt x="1054185" y="661201"/>
                  <a:pt x="1473648" y="19548"/>
                  <a:pt x="1858461" y="434"/>
                </a:cubicBezTo>
                <a:cubicBezTo>
                  <a:pt x="2243274" y="-18680"/>
                  <a:pt x="2941473" y="597571"/>
                  <a:pt x="3078769" y="820327"/>
                </a:cubicBezTo>
                <a:cubicBezTo>
                  <a:pt x="3216065" y="1043083"/>
                  <a:pt x="3211265" y="1147911"/>
                  <a:pt x="3175632" y="1346490"/>
                </a:cubicBezTo>
                <a:cubicBezTo>
                  <a:pt x="3139999" y="1545069"/>
                  <a:pt x="3115746" y="1600065"/>
                  <a:pt x="3004035" y="1754624"/>
                </a:cubicBezTo>
                <a:cubicBezTo>
                  <a:pt x="2868511" y="1885370"/>
                  <a:pt x="2676608" y="2184198"/>
                  <a:pt x="2365029" y="2298608"/>
                </a:cubicBezTo>
                <a:cubicBezTo>
                  <a:pt x="2053450" y="2413018"/>
                  <a:pt x="1485504" y="2355996"/>
                  <a:pt x="1104081" y="2357266"/>
                </a:cubicBezTo>
                <a:cubicBezTo>
                  <a:pt x="722658" y="2358536"/>
                  <a:pt x="235054" y="2425223"/>
                  <a:pt x="76489" y="2306227"/>
                </a:cubicBezTo>
                <a:cubicBezTo>
                  <a:pt x="-82076" y="2187231"/>
                  <a:pt x="37121" y="1871823"/>
                  <a:pt x="152688" y="1643287"/>
                </a:cubicBezTo>
                <a:cubicBezTo>
                  <a:pt x="268255" y="1414751"/>
                  <a:pt x="485595" y="1208819"/>
                  <a:pt x="769890" y="935010"/>
                </a:cubicBezTo>
                <a:close/>
              </a:path>
            </a:pathLst>
          </a:custGeom>
          <a:noFill/>
          <a:ln>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4" name="页脚占位符 3">
            <a:extLst>
              <a:ext uri="{FF2B5EF4-FFF2-40B4-BE49-F238E27FC236}">
                <a16:creationId xmlns:a16="http://schemas.microsoft.com/office/drawing/2014/main" id="{4193AF77-681D-4E33-954E-465870AE28A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6BE046C-9F97-478C-88DE-BE97C088D981}"/>
              </a:ext>
            </a:extLst>
          </p:cNvPr>
          <p:cNvSpPr>
            <a:spLocks noGrp="1"/>
          </p:cNvSpPr>
          <p:nvPr>
            <p:ph type="sldNum" sz="quarter" idx="12"/>
          </p:nvPr>
        </p:nvSpPr>
        <p:spPr/>
        <p:txBody>
          <a:bodyPr/>
          <a:lstStyle/>
          <a:p>
            <a:fld id="{5AD84F5B-1672-4D3F-9FEC-5DF89A7B7912}" type="slidenum">
              <a:rPr lang="zh-CN" altLang="en-US" smtClean="0"/>
              <a:t>73</a:t>
            </a:fld>
            <a:endParaRPr lang="zh-CN" altLang="en-US"/>
          </a:p>
        </p:txBody>
      </p:sp>
    </p:spTree>
    <p:extLst>
      <p:ext uri="{BB962C8B-B14F-4D97-AF65-F5344CB8AC3E}">
        <p14:creationId xmlns:p14="http://schemas.microsoft.com/office/powerpoint/2010/main" val="294449861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悲观错误剪枝法</a:t>
            </a:r>
            <a:r>
              <a:rPr lang="en-US" altLang="zh-CN" dirty="0"/>
              <a:t>PEP</a:t>
            </a:r>
            <a:endParaRPr lang="zh-CN" altLang="en-US" dirty="0"/>
          </a:p>
        </p:txBody>
      </p:sp>
      <p:sp>
        <p:nvSpPr>
          <p:cNvPr id="26" name="矩形 25"/>
          <p:cNvSpPr/>
          <p:nvPr/>
        </p:nvSpPr>
        <p:spPr>
          <a:xfrm>
            <a:off x="322416" y="2783564"/>
            <a:ext cx="5472123" cy="904863"/>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ctr">
              <a:lnSpc>
                <a:spcPct val="120000"/>
              </a:lnSpc>
              <a:spcBef>
                <a:spcPct val="0"/>
              </a:spcBef>
              <a:spcAft>
                <a:spcPct val="0"/>
              </a:spcAft>
            </a:pPr>
            <a:r>
              <a:rPr lang="zh-CN" altLang="en-US" sz="2200" dirty="0">
                <a:latin typeface="Times New Roman" pitchFamily="18" charset="0"/>
                <a:ea typeface="华文细黑" pitchFamily="2" charset="-122"/>
                <a:cs typeface="Times New Roman" pitchFamily="18" charset="0"/>
              </a:rPr>
              <a:t>错误率 </a:t>
            </a:r>
            <a:r>
              <a:rPr lang="en-US" altLang="zh-CN" sz="2200" i="1" dirty="0" err="1">
                <a:latin typeface="Times New Roman" pitchFamily="18" charset="0"/>
                <a:ea typeface="华文细黑" pitchFamily="2" charset="-122"/>
                <a:cs typeface="Times New Roman" pitchFamily="18" charset="0"/>
              </a:rPr>
              <a:t>e</a:t>
            </a:r>
            <a:r>
              <a:rPr lang="en-US" altLang="zh-CN" sz="2200" i="1" baseline="-42000" dirty="0" err="1">
                <a:latin typeface="Times New Roman" pitchFamily="18" charset="0"/>
                <a:ea typeface="华文细黑" pitchFamily="2" charset="-122"/>
                <a:cs typeface="Times New Roman" pitchFamily="18" charset="0"/>
              </a:rPr>
              <a:t>Tree</a:t>
            </a:r>
            <a:r>
              <a:rPr lang="en-US" altLang="zh-CN" sz="2200" i="1" baseline="-42000" dirty="0">
                <a:latin typeface="Times New Roman" pitchFamily="18" charset="0"/>
                <a:ea typeface="华文细黑" pitchFamily="2" charset="-122"/>
                <a:cs typeface="Times New Roman" pitchFamily="18" charset="0"/>
              </a:rPr>
              <a:t> </a:t>
            </a:r>
            <a:r>
              <a:rPr lang="zh-CN" altLang="en-US" sz="2200" dirty="0">
                <a:latin typeface="Times New Roman" pitchFamily="18" charset="0"/>
                <a:ea typeface="华文细黑" pitchFamily="2" charset="-122"/>
                <a:cs typeface="Times New Roman" pitchFamily="18" charset="0"/>
              </a:rPr>
              <a:t>的分布，可根据经验估计为多种分布模型（二项式、正态分布）。</a:t>
            </a:r>
          </a:p>
        </p:txBody>
      </p:sp>
      <p:sp>
        <p:nvSpPr>
          <p:cNvPr id="27" name="矩形 26"/>
          <p:cNvSpPr/>
          <p:nvPr/>
        </p:nvSpPr>
        <p:spPr>
          <a:xfrm>
            <a:off x="304420" y="3869812"/>
            <a:ext cx="4577383" cy="904863"/>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ctr">
              <a:lnSpc>
                <a:spcPct val="120000"/>
              </a:lnSpc>
              <a:spcBef>
                <a:spcPct val="0"/>
              </a:spcBef>
              <a:spcAft>
                <a:spcPct val="0"/>
              </a:spcAft>
            </a:pPr>
            <a:r>
              <a:rPr lang="zh-CN" altLang="en-US" sz="2200" dirty="0">
                <a:latin typeface="Times New Roman" pitchFamily="18" charset="0"/>
                <a:ea typeface="华文细黑" pitchFamily="2" charset="-122"/>
                <a:cs typeface="Times New Roman" pitchFamily="18" charset="0"/>
              </a:rPr>
              <a:t>可以估计树误判次数的均值，和</a:t>
            </a:r>
            <a:endParaRPr lang="en-US" altLang="zh-CN" sz="2200" dirty="0">
              <a:latin typeface="Times New Roman" pitchFamily="18" charset="0"/>
              <a:ea typeface="华文细黑" pitchFamily="2" charset="-122"/>
              <a:cs typeface="Times New Roman" pitchFamily="18" charset="0"/>
            </a:endParaRPr>
          </a:p>
          <a:p>
            <a:pPr fontAlgn="ctr">
              <a:lnSpc>
                <a:spcPct val="120000"/>
              </a:lnSpc>
              <a:spcBef>
                <a:spcPct val="0"/>
              </a:spcBef>
              <a:spcAft>
                <a:spcPct val="0"/>
              </a:spcAft>
            </a:pPr>
            <a:r>
              <a:rPr lang="zh-CN" altLang="en-US" sz="2200" dirty="0">
                <a:latin typeface="Times New Roman" pitchFamily="18" charset="0"/>
                <a:ea typeface="华文细黑" pitchFamily="2" charset="-122"/>
                <a:cs typeface="Times New Roman" pitchFamily="18" charset="0"/>
              </a:rPr>
              <a:t>标准差：</a:t>
            </a:r>
          </a:p>
        </p:txBody>
      </p:sp>
      <p:graphicFrame>
        <p:nvGraphicFramePr>
          <p:cNvPr id="28" name="对象 27"/>
          <p:cNvGraphicFramePr>
            <a:graphicFrameLocks noChangeAspect="1"/>
          </p:cNvGraphicFramePr>
          <p:nvPr>
            <p:extLst>
              <p:ext uri="{D42A27DB-BD31-4B8C-83A1-F6EECF244321}">
                <p14:modId xmlns:p14="http://schemas.microsoft.com/office/powerpoint/2010/main" val="4175266060"/>
              </p:ext>
            </p:extLst>
          </p:nvPr>
        </p:nvGraphicFramePr>
        <p:xfrm>
          <a:off x="1895516" y="4472586"/>
          <a:ext cx="2973387" cy="828675"/>
        </p:xfrm>
        <a:graphic>
          <a:graphicData uri="http://schemas.openxmlformats.org/presentationml/2006/ole">
            <mc:AlternateContent xmlns:mc="http://schemas.openxmlformats.org/markup-compatibility/2006">
              <mc:Choice xmlns:v="urn:schemas-microsoft-com:vml" Requires="v">
                <p:oleObj spid="_x0000_s10302" name="公式" r:id="rId3" imgW="1536480" imgH="507960" progId="Equation.3">
                  <p:embed/>
                </p:oleObj>
              </mc:Choice>
              <mc:Fallback>
                <p:oleObj name="公式" r:id="rId3" imgW="1536480" imgH="507960" progId="Equation.3">
                  <p:embed/>
                  <p:pic>
                    <p:nvPicPr>
                      <p:cNvPr id="28" name="对象 27"/>
                      <p:cNvPicPr>
                        <a:picLocks noChangeAspect="1" noChangeArrowheads="1"/>
                      </p:cNvPicPr>
                      <p:nvPr/>
                    </p:nvPicPr>
                    <p:blipFill>
                      <a:blip r:embed="rId4"/>
                      <a:srcRect/>
                      <a:stretch>
                        <a:fillRect/>
                      </a:stretch>
                    </p:blipFill>
                    <p:spPr bwMode="auto">
                      <a:xfrm>
                        <a:off x="1895516" y="4472586"/>
                        <a:ext cx="2973387" cy="828675"/>
                      </a:xfrm>
                      <a:prstGeom prst="rect">
                        <a:avLst/>
                      </a:prstGeom>
                      <a:noFill/>
                      <a:ln>
                        <a:noFill/>
                      </a:ln>
                    </p:spPr>
                  </p:pic>
                </p:oleObj>
              </mc:Fallback>
            </mc:AlternateContent>
          </a:graphicData>
        </a:graphic>
      </p:graphicFrame>
      <p:sp>
        <p:nvSpPr>
          <p:cNvPr id="52" name="椭圆 51"/>
          <p:cNvSpPr/>
          <p:nvPr/>
        </p:nvSpPr>
        <p:spPr>
          <a:xfrm>
            <a:off x="7455600" y="2316346"/>
            <a:ext cx="797472" cy="388800"/>
          </a:xfrm>
          <a:prstGeom prst="ellipse">
            <a:avLst/>
          </a:prstGeom>
          <a:solidFill>
            <a:srgbClr val="F9E3E3"/>
          </a:solidFill>
          <a:ln w="19050"/>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latin typeface="华文细黑" pitchFamily="2" charset="-122"/>
                <a:ea typeface="华文细黑" pitchFamily="2" charset="-122"/>
              </a:rPr>
              <a:t>A</a:t>
            </a:r>
            <a:r>
              <a:rPr lang="en-US" altLang="zh-CN" baseline="-25000" dirty="0">
                <a:latin typeface="华文细黑" pitchFamily="2" charset="-122"/>
                <a:ea typeface="华文细黑" pitchFamily="2" charset="-122"/>
              </a:rPr>
              <a:t>1</a:t>
            </a:r>
            <a:endParaRPr lang="zh-CN" altLang="en-US" baseline="-25000" dirty="0">
              <a:latin typeface="华文细黑" pitchFamily="2" charset="-122"/>
              <a:ea typeface="华文细黑" pitchFamily="2" charset="-122"/>
            </a:endParaRPr>
          </a:p>
        </p:txBody>
      </p:sp>
      <p:sp>
        <p:nvSpPr>
          <p:cNvPr id="53" name="椭圆 52"/>
          <p:cNvSpPr/>
          <p:nvPr/>
        </p:nvSpPr>
        <p:spPr>
          <a:xfrm>
            <a:off x="6732240" y="3104964"/>
            <a:ext cx="797472" cy="388800"/>
          </a:xfrm>
          <a:prstGeom prst="ellipse">
            <a:avLst/>
          </a:prstGeom>
          <a:solidFill>
            <a:srgbClr val="F9E3E3"/>
          </a:solidFill>
          <a:ln w="19050"/>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latin typeface="华文细黑" pitchFamily="2" charset="-122"/>
                <a:ea typeface="华文细黑" pitchFamily="2" charset="-122"/>
              </a:rPr>
              <a:t>A</a:t>
            </a:r>
            <a:r>
              <a:rPr lang="en-US" altLang="zh-CN" baseline="-25000" dirty="0">
                <a:latin typeface="华文细黑" pitchFamily="2" charset="-122"/>
                <a:ea typeface="华文细黑" pitchFamily="2" charset="-122"/>
              </a:rPr>
              <a:t>2</a:t>
            </a:r>
            <a:endParaRPr lang="zh-CN" altLang="en-US" baseline="-25000" dirty="0">
              <a:latin typeface="华文细黑" pitchFamily="2" charset="-122"/>
              <a:ea typeface="华文细黑" pitchFamily="2" charset="-122"/>
            </a:endParaRPr>
          </a:p>
        </p:txBody>
      </p:sp>
      <p:sp>
        <p:nvSpPr>
          <p:cNvPr id="54" name="矩形 53"/>
          <p:cNvSpPr/>
          <p:nvPr/>
        </p:nvSpPr>
        <p:spPr>
          <a:xfrm>
            <a:off x="8224017" y="3101567"/>
            <a:ext cx="797472" cy="453600"/>
          </a:xfrm>
          <a:prstGeom prst="rect">
            <a:avLst/>
          </a:prstGeom>
          <a:solidFill>
            <a:schemeClr val="accent6">
              <a:lumMod val="20000"/>
              <a:lumOff val="80000"/>
            </a:schemeClr>
          </a:solidFill>
          <a:ln w="19050"/>
        </p:spPr>
        <p:style>
          <a:lnRef idx="2">
            <a:schemeClr val="accent6"/>
          </a:lnRef>
          <a:fillRef idx="1">
            <a:schemeClr val="lt1"/>
          </a:fillRef>
          <a:effectRef idx="0">
            <a:schemeClr val="accent6"/>
          </a:effectRef>
          <a:fontRef idx="minor">
            <a:schemeClr val="dk1"/>
          </a:fontRef>
        </p:style>
        <p:txBody>
          <a:bodyPr lIns="0" tIns="36000" rIns="0" bIns="36000" rtlCol="0" anchor="ctr"/>
          <a:lstStyle/>
          <a:p>
            <a:pPr algn="ctr">
              <a:lnSpc>
                <a:spcPts val="1200"/>
              </a:lnSpc>
            </a:pPr>
            <a:r>
              <a:rPr lang="en-US" altLang="zh-CN" dirty="0">
                <a:latin typeface="华文细黑" pitchFamily="2" charset="-122"/>
                <a:ea typeface="华文细黑" pitchFamily="2" charset="-122"/>
              </a:rPr>
              <a:t>c</a:t>
            </a:r>
            <a:r>
              <a:rPr lang="en-US" altLang="zh-CN" baseline="-25000" dirty="0">
                <a:latin typeface="华文细黑" pitchFamily="2" charset="-122"/>
                <a:ea typeface="华文细黑" pitchFamily="2" charset="-122"/>
              </a:rPr>
              <a:t>1</a:t>
            </a:r>
          </a:p>
          <a:p>
            <a:pPr algn="ctr">
              <a:lnSpc>
                <a:spcPts val="1200"/>
              </a:lnSpc>
            </a:pPr>
            <a:r>
              <a:rPr lang="en-US" altLang="zh-CN" baseline="-25000" dirty="0">
                <a:latin typeface="华文细黑" pitchFamily="2" charset="-122"/>
                <a:ea typeface="华文细黑" pitchFamily="2" charset="-122"/>
              </a:rPr>
              <a:t>6     3</a:t>
            </a:r>
            <a:endParaRPr lang="zh-CN" altLang="en-US" baseline="-25000" dirty="0">
              <a:latin typeface="华文细黑" pitchFamily="2" charset="-122"/>
              <a:ea typeface="华文细黑" pitchFamily="2" charset="-122"/>
            </a:endParaRPr>
          </a:p>
        </p:txBody>
      </p:sp>
      <p:sp>
        <p:nvSpPr>
          <p:cNvPr id="55" name="矩形 54"/>
          <p:cNvSpPr/>
          <p:nvPr/>
        </p:nvSpPr>
        <p:spPr>
          <a:xfrm>
            <a:off x="6084168" y="3933043"/>
            <a:ext cx="797472" cy="453600"/>
          </a:xfrm>
          <a:prstGeom prst="rect">
            <a:avLst/>
          </a:prstGeom>
          <a:solidFill>
            <a:schemeClr val="accent6">
              <a:lumMod val="20000"/>
              <a:lumOff val="80000"/>
            </a:schemeClr>
          </a:solidFill>
          <a:ln w="19050"/>
        </p:spPr>
        <p:style>
          <a:lnRef idx="2">
            <a:schemeClr val="accent6"/>
          </a:lnRef>
          <a:fillRef idx="1">
            <a:schemeClr val="lt1"/>
          </a:fillRef>
          <a:effectRef idx="0">
            <a:schemeClr val="accent6"/>
          </a:effectRef>
          <a:fontRef idx="minor">
            <a:schemeClr val="dk1"/>
          </a:fontRef>
        </p:style>
        <p:txBody>
          <a:bodyPr lIns="0" tIns="36000" rIns="0" bIns="36000" rtlCol="0" anchor="ctr"/>
          <a:lstStyle/>
          <a:p>
            <a:pPr algn="ctr">
              <a:lnSpc>
                <a:spcPts val="1200"/>
              </a:lnSpc>
            </a:pPr>
            <a:r>
              <a:rPr lang="en-US" altLang="zh-CN" dirty="0">
                <a:latin typeface="华文细黑" pitchFamily="2" charset="-122"/>
                <a:ea typeface="华文细黑" pitchFamily="2" charset="-122"/>
              </a:rPr>
              <a:t>c</a:t>
            </a:r>
            <a:r>
              <a:rPr lang="en-US" altLang="zh-CN" baseline="-25000" dirty="0">
                <a:latin typeface="华文细黑" pitchFamily="2" charset="-122"/>
                <a:ea typeface="华文细黑" pitchFamily="2" charset="-122"/>
              </a:rPr>
              <a:t>1</a:t>
            </a:r>
          </a:p>
          <a:p>
            <a:pPr algn="ctr">
              <a:lnSpc>
                <a:spcPts val="1200"/>
              </a:lnSpc>
            </a:pPr>
            <a:r>
              <a:rPr lang="en-US" altLang="zh-CN" baseline="-25000" dirty="0">
                <a:latin typeface="华文细黑" pitchFamily="2" charset="-122"/>
                <a:ea typeface="华文细黑" pitchFamily="2" charset="-122"/>
              </a:rPr>
              <a:t>3     2</a:t>
            </a:r>
            <a:endParaRPr lang="zh-CN" altLang="en-US" baseline="-25000" dirty="0">
              <a:latin typeface="华文细黑" pitchFamily="2" charset="-122"/>
              <a:ea typeface="华文细黑" pitchFamily="2" charset="-122"/>
            </a:endParaRPr>
          </a:p>
        </p:txBody>
      </p:sp>
      <p:sp>
        <p:nvSpPr>
          <p:cNvPr id="56" name="矩形 55"/>
          <p:cNvSpPr/>
          <p:nvPr/>
        </p:nvSpPr>
        <p:spPr>
          <a:xfrm>
            <a:off x="7300389" y="3933043"/>
            <a:ext cx="797472" cy="453600"/>
          </a:xfrm>
          <a:prstGeom prst="rect">
            <a:avLst/>
          </a:prstGeom>
          <a:solidFill>
            <a:schemeClr val="accent6">
              <a:lumMod val="20000"/>
              <a:lumOff val="80000"/>
            </a:schemeClr>
          </a:solidFill>
          <a:ln w="19050"/>
        </p:spPr>
        <p:style>
          <a:lnRef idx="2">
            <a:schemeClr val="accent6"/>
          </a:lnRef>
          <a:fillRef idx="1">
            <a:schemeClr val="lt1"/>
          </a:fillRef>
          <a:effectRef idx="0">
            <a:schemeClr val="accent6"/>
          </a:effectRef>
          <a:fontRef idx="minor">
            <a:schemeClr val="dk1"/>
          </a:fontRef>
        </p:style>
        <p:txBody>
          <a:bodyPr lIns="0" tIns="36000" rIns="0" bIns="36000" rtlCol="0" anchor="ctr"/>
          <a:lstStyle/>
          <a:p>
            <a:pPr algn="ctr">
              <a:lnSpc>
                <a:spcPts val="1200"/>
              </a:lnSpc>
            </a:pPr>
            <a:r>
              <a:rPr lang="en-US" altLang="zh-CN" dirty="0">
                <a:latin typeface="华文细黑" pitchFamily="2" charset="-122"/>
                <a:ea typeface="华文细黑" pitchFamily="2" charset="-122"/>
              </a:rPr>
              <a:t>c</a:t>
            </a:r>
            <a:r>
              <a:rPr lang="en-US" altLang="zh-CN" baseline="-25000" dirty="0">
                <a:latin typeface="华文细黑" pitchFamily="2" charset="-122"/>
                <a:ea typeface="华文细黑" pitchFamily="2" charset="-122"/>
              </a:rPr>
              <a:t>2</a:t>
            </a:r>
          </a:p>
          <a:p>
            <a:pPr algn="ctr">
              <a:lnSpc>
                <a:spcPts val="1200"/>
              </a:lnSpc>
            </a:pPr>
            <a:r>
              <a:rPr lang="en-US" altLang="zh-CN" baseline="-25000" dirty="0">
                <a:latin typeface="华文细黑" pitchFamily="2" charset="-122"/>
                <a:ea typeface="华文细黑" pitchFamily="2" charset="-122"/>
              </a:rPr>
              <a:t>0     2</a:t>
            </a:r>
            <a:endParaRPr lang="zh-CN" altLang="en-US" baseline="-25000" dirty="0">
              <a:latin typeface="华文细黑" pitchFamily="2" charset="-122"/>
              <a:ea typeface="华文细黑" pitchFamily="2" charset="-122"/>
            </a:endParaRPr>
          </a:p>
        </p:txBody>
      </p:sp>
      <p:cxnSp>
        <p:nvCxnSpPr>
          <p:cNvPr id="57" name="直接连接符 56"/>
          <p:cNvCxnSpPr>
            <a:stCxn id="52" idx="4"/>
            <a:endCxn id="53" idx="0"/>
          </p:cNvCxnSpPr>
          <p:nvPr/>
        </p:nvCxnSpPr>
        <p:spPr>
          <a:xfrm flipH="1">
            <a:off x="7130976" y="2705146"/>
            <a:ext cx="723360" cy="399818"/>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52" idx="4"/>
            <a:endCxn id="54" idx="0"/>
          </p:cNvCxnSpPr>
          <p:nvPr/>
        </p:nvCxnSpPr>
        <p:spPr>
          <a:xfrm>
            <a:off x="7854338" y="2705147"/>
            <a:ext cx="768417" cy="396421"/>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a:stCxn id="53" idx="4"/>
          </p:cNvCxnSpPr>
          <p:nvPr/>
        </p:nvCxnSpPr>
        <p:spPr>
          <a:xfrm flipH="1">
            <a:off x="6482904" y="3493765"/>
            <a:ext cx="648072" cy="439279"/>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a:stCxn id="53" idx="4"/>
          </p:cNvCxnSpPr>
          <p:nvPr/>
        </p:nvCxnSpPr>
        <p:spPr>
          <a:xfrm>
            <a:off x="7130978" y="3493765"/>
            <a:ext cx="568149" cy="439279"/>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61" name="矩形 60"/>
          <p:cNvSpPr/>
          <p:nvPr/>
        </p:nvSpPr>
        <p:spPr>
          <a:xfrm>
            <a:off x="7380312" y="5114038"/>
            <a:ext cx="864000" cy="576000"/>
          </a:xfrm>
          <a:prstGeom prst="rect">
            <a:avLst/>
          </a:prstGeom>
          <a:solidFill>
            <a:srgbClr val="FFFF00"/>
          </a:solidFill>
          <a:ln w="19050"/>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r>
              <a:rPr lang="en-US" altLang="zh-CN" sz="2000" dirty="0">
                <a:latin typeface="华文细黑" pitchFamily="2" charset="-122"/>
                <a:ea typeface="华文细黑" pitchFamily="2" charset="-122"/>
              </a:rPr>
              <a:t>c</a:t>
            </a:r>
            <a:r>
              <a:rPr lang="en-US" altLang="zh-CN" sz="2000" baseline="-25000" dirty="0">
                <a:latin typeface="华文细黑" pitchFamily="2" charset="-122"/>
                <a:ea typeface="华文细黑" pitchFamily="2" charset="-122"/>
              </a:rPr>
              <a:t>1</a:t>
            </a:r>
          </a:p>
          <a:p>
            <a:pPr algn="ctr"/>
            <a:r>
              <a:rPr lang="en-US" altLang="zh-CN" sz="2000" baseline="-25000" dirty="0">
                <a:latin typeface="华文细黑" pitchFamily="2" charset="-122"/>
                <a:ea typeface="华文细黑" pitchFamily="2" charset="-122"/>
              </a:rPr>
              <a:t>9     7</a:t>
            </a:r>
            <a:endParaRPr lang="zh-CN" altLang="en-US" sz="2000" baseline="-25000" dirty="0">
              <a:latin typeface="华文细黑" pitchFamily="2" charset="-122"/>
              <a:ea typeface="华文细黑" pitchFamily="2" charset="-122"/>
            </a:endParaRPr>
          </a:p>
        </p:txBody>
      </p:sp>
      <p:sp>
        <p:nvSpPr>
          <p:cNvPr id="62" name="下箭头 61"/>
          <p:cNvSpPr/>
          <p:nvPr/>
        </p:nvSpPr>
        <p:spPr>
          <a:xfrm>
            <a:off x="7549725" y="4774558"/>
            <a:ext cx="398736" cy="224733"/>
          </a:xfrm>
          <a:prstGeom prst="down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4" name="椭圆 8"/>
          <p:cNvSpPr/>
          <p:nvPr/>
        </p:nvSpPr>
        <p:spPr>
          <a:xfrm>
            <a:off x="5903745" y="2150626"/>
            <a:ext cx="3196947" cy="2377029"/>
          </a:xfrm>
          <a:custGeom>
            <a:avLst/>
            <a:gdLst>
              <a:gd name="connsiteX0" fmla="*/ 0 w 2085701"/>
              <a:gd name="connsiteY0" fmla="*/ 1224136 h 2448272"/>
              <a:gd name="connsiteX1" fmla="*/ 1042851 w 2085701"/>
              <a:gd name="connsiteY1" fmla="*/ 0 h 2448272"/>
              <a:gd name="connsiteX2" fmla="*/ 2085702 w 2085701"/>
              <a:gd name="connsiteY2" fmla="*/ 1224136 h 2448272"/>
              <a:gd name="connsiteX3" fmla="*/ 1042851 w 2085701"/>
              <a:gd name="connsiteY3" fmla="*/ 2448272 h 2448272"/>
              <a:gd name="connsiteX4" fmla="*/ 0 w 2085701"/>
              <a:gd name="connsiteY4" fmla="*/ 1224136 h 2448272"/>
              <a:gd name="connsiteX0" fmla="*/ 29720 w 2383563"/>
              <a:gd name="connsiteY0" fmla="*/ 1201276 h 2425412"/>
              <a:gd name="connsiteX1" fmla="*/ 2131751 w 2383563"/>
              <a:gd name="connsiteY1" fmla="*/ 0 h 2425412"/>
              <a:gd name="connsiteX2" fmla="*/ 2115422 w 2383563"/>
              <a:gd name="connsiteY2" fmla="*/ 1201276 h 2425412"/>
              <a:gd name="connsiteX3" fmla="*/ 1072571 w 2383563"/>
              <a:gd name="connsiteY3" fmla="*/ 2425412 h 2425412"/>
              <a:gd name="connsiteX4" fmla="*/ 29720 w 2383563"/>
              <a:gd name="connsiteY4" fmla="*/ 1201276 h 2425412"/>
              <a:gd name="connsiteX0" fmla="*/ 27612 w 3096294"/>
              <a:gd name="connsiteY0" fmla="*/ 1201278 h 2425415"/>
              <a:gd name="connsiteX1" fmla="*/ 2129643 w 3096294"/>
              <a:gd name="connsiteY1" fmla="*/ 2 h 2425415"/>
              <a:gd name="connsiteX2" fmla="*/ 3096294 w 3096294"/>
              <a:gd name="connsiteY2" fmla="*/ 1193658 h 2425415"/>
              <a:gd name="connsiteX3" fmla="*/ 1070463 w 3096294"/>
              <a:gd name="connsiteY3" fmla="*/ 2425414 h 2425415"/>
              <a:gd name="connsiteX4" fmla="*/ 27612 w 3096294"/>
              <a:gd name="connsiteY4" fmla="*/ 1201278 h 2425415"/>
              <a:gd name="connsiteX0" fmla="*/ 24438 w 3095994"/>
              <a:gd name="connsiteY0" fmla="*/ 1201278 h 2478898"/>
              <a:gd name="connsiteX1" fmla="*/ 2126469 w 3095994"/>
              <a:gd name="connsiteY1" fmla="*/ 2 h 2478898"/>
              <a:gd name="connsiteX2" fmla="*/ 3093120 w 3095994"/>
              <a:gd name="connsiteY2" fmla="*/ 1193658 h 2478898"/>
              <a:gd name="connsiteX3" fmla="*/ 2394277 w 3095994"/>
              <a:gd name="connsiteY3" fmla="*/ 2153396 h 2478898"/>
              <a:gd name="connsiteX4" fmla="*/ 1067289 w 3095994"/>
              <a:gd name="connsiteY4" fmla="*/ 2425414 h 2478898"/>
              <a:gd name="connsiteX5" fmla="*/ 24438 w 3095994"/>
              <a:gd name="connsiteY5" fmla="*/ 1201278 h 2478898"/>
              <a:gd name="connsiteX0" fmla="*/ 24438 w 3126801"/>
              <a:gd name="connsiteY0" fmla="*/ 1210814 h 2488434"/>
              <a:gd name="connsiteX1" fmla="*/ 2126469 w 3126801"/>
              <a:gd name="connsiteY1" fmla="*/ 9538 h 2488434"/>
              <a:gd name="connsiteX2" fmla="*/ 2920057 w 3126801"/>
              <a:gd name="connsiteY2" fmla="*/ 677031 h 2488434"/>
              <a:gd name="connsiteX3" fmla="*/ 3093120 w 3126801"/>
              <a:gd name="connsiteY3" fmla="*/ 1203194 h 2488434"/>
              <a:gd name="connsiteX4" fmla="*/ 2394277 w 3126801"/>
              <a:gd name="connsiteY4" fmla="*/ 2162932 h 2488434"/>
              <a:gd name="connsiteX5" fmla="*/ 1067289 w 3126801"/>
              <a:gd name="connsiteY5" fmla="*/ 2434950 h 2488434"/>
              <a:gd name="connsiteX6" fmla="*/ 24438 w 3126801"/>
              <a:gd name="connsiteY6" fmla="*/ 1210814 h 2488434"/>
              <a:gd name="connsiteX0" fmla="*/ 51573 w 2536716"/>
              <a:gd name="connsiteY0" fmla="*/ 1163703 h 2490199"/>
              <a:gd name="connsiteX1" fmla="*/ 1536384 w 2536716"/>
              <a:gd name="connsiteY1" fmla="*/ 8147 h 2490199"/>
              <a:gd name="connsiteX2" fmla="*/ 2329972 w 2536716"/>
              <a:gd name="connsiteY2" fmla="*/ 675640 h 2490199"/>
              <a:gd name="connsiteX3" fmla="*/ 2503035 w 2536716"/>
              <a:gd name="connsiteY3" fmla="*/ 1201803 h 2490199"/>
              <a:gd name="connsiteX4" fmla="*/ 1804192 w 2536716"/>
              <a:gd name="connsiteY4" fmla="*/ 2161541 h 2490199"/>
              <a:gd name="connsiteX5" fmla="*/ 477204 w 2536716"/>
              <a:gd name="connsiteY5" fmla="*/ 2433559 h 2490199"/>
              <a:gd name="connsiteX6" fmla="*/ 51573 w 2536716"/>
              <a:gd name="connsiteY6" fmla="*/ 1163703 h 2490199"/>
              <a:gd name="connsiteX0" fmla="*/ 32533 w 2517676"/>
              <a:gd name="connsiteY0" fmla="*/ 1096145 h 2422641"/>
              <a:gd name="connsiteX1" fmla="*/ 1212544 w 2517676"/>
              <a:gd name="connsiteY1" fmla="*/ 9169 h 2422641"/>
              <a:gd name="connsiteX2" fmla="*/ 2310932 w 2517676"/>
              <a:gd name="connsiteY2" fmla="*/ 608082 h 2422641"/>
              <a:gd name="connsiteX3" fmla="*/ 2483995 w 2517676"/>
              <a:gd name="connsiteY3" fmla="*/ 1134245 h 2422641"/>
              <a:gd name="connsiteX4" fmla="*/ 1785152 w 2517676"/>
              <a:gd name="connsiteY4" fmla="*/ 2093983 h 2422641"/>
              <a:gd name="connsiteX5" fmla="*/ 458164 w 2517676"/>
              <a:gd name="connsiteY5" fmla="*/ 2366001 h 2422641"/>
              <a:gd name="connsiteX6" fmla="*/ 32533 w 2517676"/>
              <a:gd name="connsiteY6" fmla="*/ 1096145 h 2422641"/>
              <a:gd name="connsiteX0" fmla="*/ 633188 w 3118331"/>
              <a:gd name="connsiteY0" fmla="*/ 1096145 h 2374902"/>
              <a:gd name="connsiteX1" fmla="*/ 1813199 w 3118331"/>
              <a:gd name="connsiteY1" fmla="*/ 9169 h 2374902"/>
              <a:gd name="connsiteX2" fmla="*/ 2911587 w 3118331"/>
              <a:gd name="connsiteY2" fmla="*/ 608082 h 2374902"/>
              <a:gd name="connsiteX3" fmla="*/ 3084650 w 3118331"/>
              <a:gd name="connsiteY3" fmla="*/ 1134245 h 2374902"/>
              <a:gd name="connsiteX4" fmla="*/ 2385807 w 3118331"/>
              <a:gd name="connsiteY4" fmla="*/ 2093983 h 2374902"/>
              <a:gd name="connsiteX5" fmla="*/ 1058819 w 3118331"/>
              <a:gd name="connsiteY5" fmla="*/ 2366001 h 2374902"/>
              <a:gd name="connsiteX6" fmla="*/ 8366 w 3118331"/>
              <a:gd name="connsiteY6" fmla="*/ 1842522 h 2374902"/>
              <a:gd name="connsiteX7" fmla="*/ 633188 w 3118331"/>
              <a:gd name="connsiteY7" fmla="*/ 1096145 h 2374902"/>
              <a:gd name="connsiteX0" fmla="*/ 664404 w 3149547"/>
              <a:gd name="connsiteY0" fmla="*/ 1096145 h 2370352"/>
              <a:gd name="connsiteX1" fmla="*/ 1844415 w 3149547"/>
              <a:gd name="connsiteY1" fmla="*/ 9169 h 2370352"/>
              <a:gd name="connsiteX2" fmla="*/ 2942803 w 3149547"/>
              <a:gd name="connsiteY2" fmla="*/ 608082 h 2370352"/>
              <a:gd name="connsiteX3" fmla="*/ 3115866 w 3149547"/>
              <a:gd name="connsiteY3" fmla="*/ 1134245 h 2370352"/>
              <a:gd name="connsiteX4" fmla="*/ 2417023 w 3149547"/>
              <a:gd name="connsiteY4" fmla="*/ 2093983 h 2370352"/>
              <a:gd name="connsiteX5" fmla="*/ 1090035 w 3149547"/>
              <a:gd name="connsiteY5" fmla="*/ 2366001 h 2370352"/>
              <a:gd name="connsiteX6" fmla="*/ 108163 w 3149547"/>
              <a:gd name="connsiteY6" fmla="*/ 2231142 h 2370352"/>
              <a:gd name="connsiteX7" fmla="*/ 39582 w 3149547"/>
              <a:gd name="connsiteY7" fmla="*/ 1842522 h 2370352"/>
              <a:gd name="connsiteX8" fmla="*/ 664404 w 3149547"/>
              <a:gd name="connsiteY8" fmla="*/ 1096145 h 2370352"/>
              <a:gd name="connsiteX0" fmla="*/ 755844 w 3149547"/>
              <a:gd name="connsiteY0" fmla="*/ 939296 h 2365903"/>
              <a:gd name="connsiteX1" fmla="*/ 1844415 w 3149547"/>
              <a:gd name="connsiteY1" fmla="*/ 4720 h 2365903"/>
              <a:gd name="connsiteX2" fmla="*/ 2942803 w 3149547"/>
              <a:gd name="connsiteY2" fmla="*/ 603633 h 2365903"/>
              <a:gd name="connsiteX3" fmla="*/ 3115866 w 3149547"/>
              <a:gd name="connsiteY3" fmla="*/ 1129796 h 2365903"/>
              <a:gd name="connsiteX4" fmla="*/ 2417023 w 3149547"/>
              <a:gd name="connsiteY4" fmla="*/ 2089534 h 2365903"/>
              <a:gd name="connsiteX5" fmla="*/ 1090035 w 3149547"/>
              <a:gd name="connsiteY5" fmla="*/ 2361552 h 2365903"/>
              <a:gd name="connsiteX6" fmla="*/ 108163 w 3149547"/>
              <a:gd name="connsiteY6" fmla="*/ 2226693 h 2365903"/>
              <a:gd name="connsiteX7" fmla="*/ 39582 w 3149547"/>
              <a:gd name="connsiteY7" fmla="*/ 1838073 h 2365903"/>
              <a:gd name="connsiteX8" fmla="*/ 755844 w 3149547"/>
              <a:gd name="connsiteY8" fmla="*/ 939296 h 2365903"/>
              <a:gd name="connsiteX0" fmla="*/ 755844 w 3136987"/>
              <a:gd name="connsiteY0" fmla="*/ 939296 h 2365903"/>
              <a:gd name="connsiteX1" fmla="*/ 1844415 w 3136987"/>
              <a:gd name="connsiteY1" fmla="*/ 4720 h 2365903"/>
              <a:gd name="connsiteX2" fmla="*/ 2942803 w 3136987"/>
              <a:gd name="connsiteY2" fmla="*/ 603633 h 2365903"/>
              <a:gd name="connsiteX3" fmla="*/ 3100626 w 3136987"/>
              <a:gd name="connsiteY3" fmla="*/ 1442216 h 2365903"/>
              <a:gd name="connsiteX4" fmla="*/ 2417023 w 3136987"/>
              <a:gd name="connsiteY4" fmla="*/ 2089534 h 2365903"/>
              <a:gd name="connsiteX5" fmla="*/ 1090035 w 3136987"/>
              <a:gd name="connsiteY5" fmla="*/ 2361552 h 2365903"/>
              <a:gd name="connsiteX6" fmla="*/ 108163 w 3136987"/>
              <a:gd name="connsiteY6" fmla="*/ 2226693 h 2365903"/>
              <a:gd name="connsiteX7" fmla="*/ 39582 w 3136987"/>
              <a:gd name="connsiteY7" fmla="*/ 1838073 h 2365903"/>
              <a:gd name="connsiteX8" fmla="*/ 755844 w 3136987"/>
              <a:gd name="connsiteY8" fmla="*/ 939296 h 2365903"/>
              <a:gd name="connsiteX0" fmla="*/ 755844 w 3149732"/>
              <a:gd name="connsiteY0" fmla="*/ 937300 h 2363907"/>
              <a:gd name="connsiteX1" fmla="*/ 1844415 w 3149732"/>
              <a:gd name="connsiteY1" fmla="*/ 2724 h 2363907"/>
              <a:gd name="connsiteX2" fmla="*/ 2996143 w 3149732"/>
              <a:gd name="connsiteY2" fmla="*/ 670217 h 2363907"/>
              <a:gd name="connsiteX3" fmla="*/ 3100626 w 3149732"/>
              <a:gd name="connsiteY3" fmla="*/ 1440220 h 2363907"/>
              <a:gd name="connsiteX4" fmla="*/ 2417023 w 3149732"/>
              <a:gd name="connsiteY4" fmla="*/ 2087538 h 2363907"/>
              <a:gd name="connsiteX5" fmla="*/ 1090035 w 3149732"/>
              <a:gd name="connsiteY5" fmla="*/ 2359556 h 2363907"/>
              <a:gd name="connsiteX6" fmla="*/ 108163 w 3149732"/>
              <a:gd name="connsiteY6" fmla="*/ 2224697 h 2363907"/>
              <a:gd name="connsiteX7" fmla="*/ 39582 w 3149732"/>
              <a:gd name="connsiteY7" fmla="*/ 1836077 h 2363907"/>
              <a:gd name="connsiteX8" fmla="*/ 755844 w 3149732"/>
              <a:gd name="connsiteY8" fmla="*/ 937300 h 2363907"/>
              <a:gd name="connsiteX0" fmla="*/ 755844 w 3149732"/>
              <a:gd name="connsiteY0" fmla="*/ 937300 h 2360061"/>
              <a:gd name="connsiteX1" fmla="*/ 1844415 w 3149732"/>
              <a:gd name="connsiteY1" fmla="*/ 2724 h 2360061"/>
              <a:gd name="connsiteX2" fmla="*/ 2996143 w 3149732"/>
              <a:gd name="connsiteY2" fmla="*/ 670217 h 2360061"/>
              <a:gd name="connsiteX3" fmla="*/ 3100626 w 3149732"/>
              <a:gd name="connsiteY3" fmla="*/ 1440220 h 2360061"/>
              <a:gd name="connsiteX4" fmla="*/ 2211283 w 3149732"/>
              <a:gd name="connsiteY4" fmla="*/ 2186598 h 2360061"/>
              <a:gd name="connsiteX5" fmla="*/ 1090035 w 3149732"/>
              <a:gd name="connsiteY5" fmla="*/ 2359556 h 2360061"/>
              <a:gd name="connsiteX6" fmla="*/ 108163 w 3149732"/>
              <a:gd name="connsiteY6" fmla="*/ 2224697 h 2360061"/>
              <a:gd name="connsiteX7" fmla="*/ 39582 w 3149732"/>
              <a:gd name="connsiteY7" fmla="*/ 1836077 h 2360061"/>
              <a:gd name="connsiteX8" fmla="*/ 755844 w 3149732"/>
              <a:gd name="connsiteY8" fmla="*/ 937300 h 2360061"/>
              <a:gd name="connsiteX0" fmla="*/ 752365 w 3146253"/>
              <a:gd name="connsiteY0" fmla="*/ 937300 h 2360061"/>
              <a:gd name="connsiteX1" fmla="*/ 1840936 w 3146253"/>
              <a:gd name="connsiteY1" fmla="*/ 2724 h 2360061"/>
              <a:gd name="connsiteX2" fmla="*/ 2992664 w 3146253"/>
              <a:gd name="connsiteY2" fmla="*/ 670217 h 2360061"/>
              <a:gd name="connsiteX3" fmla="*/ 3097147 w 3146253"/>
              <a:gd name="connsiteY3" fmla="*/ 1440220 h 2360061"/>
              <a:gd name="connsiteX4" fmla="*/ 2207804 w 3146253"/>
              <a:gd name="connsiteY4" fmla="*/ 2186598 h 2360061"/>
              <a:gd name="connsiteX5" fmla="*/ 1086556 w 3146253"/>
              <a:gd name="connsiteY5" fmla="*/ 2359556 h 2360061"/>
              <a:gd name="connsiteX6" fmla="*/ 104684 w 3146253"/>
              <a:gd name="connsiteY6" fmla="*/ 2224697 h 2360061"/>
              <a:gd name="connsiteX7" fmla="*/ 43723 w 3146253"/>
              <a:gd name="connsiteY7" fmla="*/ 2003717 h 2360061"/>
              <a:gd name="connsiteX8" fmla="*/ 752365 w 3146253"/>
              <a:gd name="connsiteY8" fmla="*/ 937300 h 2360061"/>
              <a:gd name="connsiteX0" fmla="*/ 752365 w 3146253"/>
              <a:gd name="connsiteY0" fmla="*/ 937300 h 2360061"/>
              <a:gd name="connsiteX1" fmla="*/ 1840936 w 3146253"/>
              <a:gd name="connsiteY1" fmla="*/ 2724 h 2360061"/>
              <a:gd name="connsiteX2" fmla="*/ 2992664 w 3146253"/>
              <a:gd name="connsiteY2" fmla="*/ 670217 h 2360061"/>
              <a:gd name="connsiteX3" fmla="*/ 3097147 w 3146253"/>
              <a:gd name="connsiteY3" fmla="*/ 1440220 h 2360061"/>
              <a:gd name="connsiteX4" fmla="*/ 2207804 w 3146253"/>
              <a:gd name="connsiteY4" fmla="*/ 2186598 h 2360061"/>
              <a:gd name="connsiteX5" fmla="*/ 1086556 w 3146253"/>
              <a:gd name="connsiteY5" fmla="*/ 2359556 h 2360061"/>
              <a:gd name="connsiteX6" fmla="*/ 104684 w 3146253"/>
              <a:gd name="connsiteY6" fmla="*/ 2224697 h 2360061"/>
              <a:gd name="connsiteX7" fmla="*/ 43723 w 3146253"/>
              <a:gd name="connsiteY7" fmla="*/ 2003717 h 2360061"/>
              <a:gd name="connsiteX8" fmla="*/ 752365 w 3146253"/>
              <a:gd name="connsiteY8" fmla="*/ 937300 h 2360061"/>
              <a:gd name="connsiteX0" fmla="*/ 744780 w 3138668"/>
              <a:gd name="connsiteY0" fmla="*/ 937300 h 2360061"/>
              <a:gd name="connsiteX1" fmla="*/ 1833351 w 3138668"/>
              <a:gd name="connsiteY1" fmla="*/ 2724 h 2360061"/>
              <a:gd name="connsiteX2" fmla="*/ 2985079 w 3138668"/>
              <a:gd name="connsiteY2" fmla="*/ 670217 h 2360061"/>
              <a:gd name="connsiteX3" fmla="*/ 3089562 w 3138668"/>
              <a:gd name="connsiteY3" fmla="*/ 1440220 h 2360061"/>
              <a:gd name="connsiteX4" fmla="*/ 2200219 w 3138668"/>
              <a:gd name="connsiteY4" fmla="*/ 2186598 h 2360061"/>
              <a:gd name="connsiteX5" fmla="*/ 1078971 w 3138668"/>
              <a:gd name="connsiteY5" fmla="*/ 2359556 h 2360061"/>
              <a:gd name="connsiteX6" fmla="*/ 97099 w 3138668"/>
              <a:gd name="connsiteY6" fmla="*/ 2224697 h 2360061"/>
              <a:gd name="connsiteX7" fmla="*/ 36138 w 3138668"/>
              <a:gd name="connsiteY7" fmla="*/ 2003717 h 2360061"/>
              <a:gd name="connsiteX8" fmla="*/ 744780 w 3138668"/>
              <a:gd name="connsiteY8" fmla="*/ 937300 h 2360061"/>
              <a:gd name="connsiteX0" fmla="*/ 708642 w 3102530"/>
              <a:gd name="connsiteY0" fmla="*/ 937300 h 2372374"/>
              <a:gd name="connsiteX1" fmla="*/ 1797213 w 3102530"/>
              <a:gd name="connsiteY1" fmla="*/ 2724 h 2372374"/>
              <a:gd name="connsiteX2" fmla="*/ 2948941 w 3102530"/>
              <a:gd name="connsiteY2" fmla="*/ 670217 h 2372374"/>
              <a:gd name="connsiteX3" fmla="*/ 3053424 w 3102530"/>
              <a:gd name="connsiteY3" fmla="*/ 1440220 h 2372374"/>
              <a:gd name="connsiteX4" fmla="*/ 2164081 w 3102530"/>
              <a:gd name="connsiteY4" fmla="*/ 2186598 h 2372374"/>
              <a:gd name="connsiteX5" fmla="*/ 1042833 w 3102530"/>
              <a:gd name="connsiteY5" fmla="*/ 2359556 h 2372374"/>
              <a:gd name="connsiteX6" fmla="*/ 205741 w 3102530"/>
              <a:gd name="connsiteY6" fmla="*/ 2300897 h 2372374"/>
              <a:gd name="connsiteX7" fmla="*/ 0 w 3102530"/>
              <a:gd name="connsiteY7" fmla="*/ 2003717 h 2372374"/>
              <a:gd name="connsiteX8" fmla="*/ 708642 w 3102530"/>
              <a:gd name="connsiteY8" fmla="*/ 937300 h 2372374"/>
              <a:gd name="connsiteX0" fmla="*/ 708642 w 3102530"/>
              <a:gd name="connsiteY0" fmla="*/ 937300 h 2372374"/>
              <a:gd name="connsiteX1" fmla="*/ 1797213 w 3102530"/>
              <a:gd name="connsiteY1" fmla="*/ 2724 h 2372374"/>
              <a:gd name="connsiteX2" fmla="*/ 2948941 w 3102530"/>
              <a:gd name="connsiteY2" fmla="*/ 670217 h 2372374"/>
              <a:gd name="connsiteX3" fmla="*/ 3053424 w 3102530"/>
              <a:gd name="connsiteY3" fmla="*/ 1440220 h 2372374"/>
              <a:gd name="connsiteX4" fmla="*/ 2164081 w 3102530"/>
              <a:gd name="connsiteY4" fmla="*/ 2186598 h 2372374"/>
              <a:gd name="connsiteX5" fmla="*/ 1042833 w 3102530"/>
              <a:gd name="connsiteY5" fmla="*/ 2359556 h 2372374"/>
              <a:gd name="connsiteX6" fmla="*/ 205741 w 3102530"/>
              <a:gd name="connsiteY6" fmla="*/ 2300897 h 2372374"/>
              <a:gd name="connsiteX7" fmla="*/ 0 w 3102530"/>
              <a:gd name="connsiteY7" fmla="*/ 2003717 h 2372374"/>
              <a:gd name="connsiteX8" fmla="*/ 708642 w 3102530"/>
              <a:gd name="connsiteY8" fmla="*/ 937300 h 2372374"/>
              <a:gd name="connsiteX0" fmla="*/ 708642 w 3102530"/>
              <a:gd name="connsiteY0" fmla="*/ 937300 h 2399024"/>
              <a:gd name="connsiteX1" fmla="*/ 1797213 w 3102530"/>
              <a:gd name="connsiteY1" fmla="*/ 2724 h 2399024"/>
              <a:gd name="connsiteX2" fmla="*/ 2948941 w 3102530"/>
              <a:gd name="connsiteY2" fmla="*/ 670217 h 2399024"/>
              <a:gd name="connsiteX3" fmla="*/ 3053424 w 3102530"/>
              <a:gd name="connsiteY3" fmla="*/ 1440220 h 2399024"/>
              <a:gd name="connsiteX4" fmla="*/ 2164081 w 3102530"/>
              <a:gd name="connsiteY4" fmla="*/ 2186598 h 2399024"/>
              <a:gd name="connsiteX5" fmla="*/ 1042833 w 3102530"/>
              <a:gd name="connsiteY5" fmla="*/ 2359556 h 2399024"/>
              <a:gd name="connsiteX6" fmla="*/ 205741 w 3102530"/>
              <a:gd name="connsiteY6" fmla="*/ 2300897 h 2399024"/>
              <a:gd name="connsiteX7" fmla="*/ 0 w 3102530"/>
              <a:gd name="connsiteY7" fmla="*/ 2003717 h 2399024"/>
              <a:gd name="connsiteX8" fmla="*/ 708642 w 3102530"/>
              <a:gd name="connsiteY8" fmla="*/ 937300 h 2399024"/>
              <a:gd name="connsiteX0" fmla="*/ 725120 w 3119008"/>
              <a:gd name="connsiteY0" fmla="*/ 937300 h 2399024"/>
              <a:gd name="connsiteX1" fmla="*/ 1813691 w 3119008"/>
              <a:gd name="connsiteY1" fmla="*/ 2724 h 2399024"/>
              <a:gd name="connsiteX2" fmla="*/ 2965419 w 3119008"/>
              <a:gd name="connsiteY2" fmla="*/ 670217 h 2399024"/>
              <a:gd name="connsiteX3" fmla="*/ 3069902 w 3119008"/>
              <a:gd name="connsiteY3" fmla="*/ 1440220 h 2399024"/>
              <a:gd name="connsiteX4" fmla="*/ 2180559 w 3119008"/>
              <a:gd name="connsiteY4" fmla="*/ 2186598 h 2399024"/>
              <a:gd name="connsiteX5" fmla="*/ 1059311 w 3119008"/>
              <a:gd name="connsiteY5" fmla="*/ 2359556 h 2399024"/>
              <a:gd name="connsiteX6" fmla="*/ 222219 w 3119008"/>
              <a:gd name="connsiteY6" fmla="*/ 2300897 h 2399024"/>
              <a:gd name="connsiteX7" fmla="*/ 16478 w 3119008"/>
              <a:gd name="connsiteY7" fmla="*/ 2003717 h 2399024"/>
              <a:gd name="connsiteX8" fmla="*/ 725120 w 3119008"/>
              <a:gd name="connsiteY8" fmla="*/ 937300 h 2399024"/>
              <a:gd name="connsiteX0" fmla="*/ 804361 w 3198249"/>
              <a:gd name="connsiteY0" fmla="*/ 937300 h 2403758"/>
              <a:gd name="connsiteX1" fmla="*/ 1892932 w 3198249"/>
              <a:gd name="connsiteY1" fmla="*/ 2724 h 2403758"/>
              <a:gd name="connsiteX2" fmla="*/ 3044660 w 3198249"/>
              <a:gd name="connsiteY2" fmla="*/ 670217 h 2403758"/>
              <a:gd name="connsiteX3" fmla="*/ 3149143 w 3198249"/>
              <a:gd name="connsiteY3" fmla="*/ 1440220 h 2403758"/>
              <a:gd name="connsiteX4" fmla="*/ 2259800 w 3198249"/>
              <a:gd name="connsiteY4" fmla="*/ 2186598 h 2403758"/>
              <a:gd name="connsiteX5" fmla="*/ 1138552 w 3198249"/>
              <a:gd name="connsiteY5" fmla="*/ 2359556 h 2403758"/>
              <a:gd name="connsiteX6" fmla="*/ 110960 w 3198249"/>
              <a:gd name="connsiteY6" fmla="*/ 2308517 h 2403758"/>
              <a:gd name="connsiteX7" fmla="*/ 95719 w 3198249"/>
              <a:gd name="connsiteY7" fmla="*/ 2003717 h 2403758"/>
              <a:gd name="connsiteX8" fmla="*/ 804361 w 3198249"/>
              <a:gd name="connsiteY8" fmla="*/ 937300 h 2403758"/>
              <a:gd name="connsiteX0" fmla="*/ 769890 w 3163778"/>
              <a:gd name="connsiteY0" fmla="*/ 937300 h 2386287"/>
              <a:gd name="connsiteX1" fmla="*/ 1858461 w 3163778"/>
              <a:gd name="connsiteY1" fmla="*/ 2724 h 2386287"/>
              <a:gd name="connsiteX2" fmla="*/ 3010189 w 3163778"/>
              <a:gd name="connsiteY2" fmla="*/ 670217 h 2386287"/>
              <a:gd name="connsiteX3" fmla="*/ 3114672 w 3163778"/>
              <a:gd name="connsiteY3" fmla="*/ 1440220 h 2386287"/>
              <a:gd name="connsiteX4" fmla="*/ 2225329 w 3163778"/>
              <a:gd name="connsiteY4" fmla="*/ 2186598 h 2386287"/>
              <a:gd name="connsiteX5" fmla="*/ 1104081 w 3163778"/>
              <a:gd name="connsiteY5" fmla="*/ 2359556 h 2386287"/>
              <a:gd name="connsiteX6" fmla="*/ 76489 w 3163778"/>
              <a:gd name="connsiteY6" fmla="*/ 2308517 h 2386287"/>
              <a:gd name="connsiteX7" fmla="*/ 152688 w 3163778"/>
              <a:gd name="connsiteY7" fmla="*/ 1645577 h 2386287"/>
              <a:gd name="connsiteX8" fmla="*/ 769890 w 3163778"/>
              <a:gd name="connsiteY8" fmla="*/ 937300 h 2386287"/>
              <a:gd name="connsiteX0" fmla="*/ 769890 w 3163778"/>
              <a:gd name="connsiteY0" fmla="*/ 937300 h 2383904"/>
              <a:gd name="connsiteX1" fmla="*/ 1858461 w 3163778"/>
              <a:gd name="connsiteY1" fmla="*/ 2724 h 2383904"/>
              <a:gd name="connsiteX2" fmla="*/ 3010189 w 3163778"/>
              <a:gd name="connsiteY2" fmla="*/ 670217 h 2383904"/>
              <a:gd name="connsiteX3" fmla="*/ 3114672 w 3163778"/>
              <a:gd name="connsiteY3" fmla="*/ 1440220 h 2383904"/>
              <a:gd name="connsiteX4" fmla="*/ 2301529 w 3163778"/>
              <a:gd name="connsiteY4" fmla="*/ 2224698 h 2383904"/>
              <a:gd name="connsiteX5" fmla="*/ 1104081 w 3163778"/>
              <a:gd name="connsiteY5" fmla="*/ 2359556 h 2383904"/>
              <a:gd name="connsiteX6" fmla="*/ 76489 w 3163778"/>
              <a:gd name="connsiteY6" fmla="*/ 2308517 h 2383904"/>
              <a:gd name="connsiteX7" fmla="*/ 152688 w 3163778"/>
              <a:gd name="connsiteY7" fmla="*/ 1645577 h 2383904"/>
              <a:gd name="connsiteX8" fmla="*/ 769890 w 3163778"/>
              <a:gd name="connsiteY8" fmla="*/ 937300 h 2383904"/>
              <a:gd name="connsiteX0" fmla="*/ 769890 w 3126936"/>
              <a:gd name="connsiteY0" fmla="*/ 937300 h 2383904"/>
              <a:gd name="connsiteX1" fmla="*/ 1858461 w 3126936"/>
              <a:gd name="connsiteY1" fmla="*/ 2724 h 2383904"/>
              <a:gd name="connsiteX2" fmla="*/ 3010189 w 3126936"/>
              <a:gd name="connsiteY2" fmla="*/ 670217 h 2383904"/>
              <a:gd name="connsiteX3" fmla="*/ 3114672 w 3126936"/>
              <a:gd name="connsiteY3" fmla="*/ 1440220 h 2383904"/>
              <a:gd name="connsiteX4" fmla="*/ 3004035 w 3126936"/>
              <a:gd name="connsiteY4" fmla="*/ 1756914 h 2383904"/>
              <a:gd name="connsiteX5" fmla="*/ 2301529 w 3126936"/>
              <a:gd name="connsiteY5" fmla="*/ 2224698 h 2383904"/>
              <a:gd name="connsiteX6" fmla="*/ 1104081 w 3126936"/>
              <a:gd name="connsiteY6" fmla="*/ 2359556 h 2383904"/>
              <a:gd name="connsiteX7" fmla="*/ 76489 w 3126936"/>
              <a:gd name="connsiteY7" fmla="*/ 2308517 h 2383904"/>
              <a:gd name="connsiteX8" fmla="*/ 152688 w 3126936"/>
              <a:gd name="connsiteY8" fmla="*/ 1645577 h 2383904"/>
              <a:gd name="connsiteX9" fmla="*/ 769890 w 3126936"/>
              <a:gd name="connsiteY9" fmla="*/ 937300 h 2383904"/>
              <a:gd name="connsiteX0" fmla="*/ 769890 w 3176884"/>
              <a:gd name="connsiteY0" fmla="*/ 937300 h 2383904"/>
              <a:gd name="connsiteX1" fmla="*/ 1858461 w 3176884"/>
              <a:gd name="connsiteY1" fmla="*/ 2724 h 2383904"/>
              <a:gd name="connsiteX2" fmla="*/ 3010189 w 3176884"/>
              <a:gd name="connsiteY2" fmla="*/ 670217 h 2383904"/>
              <a:gd name="connsiteX3" fmla="*/ 3175632 w 3176884"/>
              <a:gd name="connsiteY3" fmla="*/ 1348780 h 2383904"/>
              <a:gd name="connsiteX4" fmla="*/ 3004035 w 3176884"/>
              <a:gd name="connsiteY4" fmla="*/ 1756914 h 2383904"/>
              <a:gd name="connsiteX5" fmla="*/ 2301529 w 3176884"/>
              <a:gd name="connsiteY5" fmla="*/ 2224698 h 2383904"/>
              <a:gd name="connsiteX6" fmla="*/ 1104081 w 3176884"/>
              <a:gd name="connsiteY6" fmla="*/ 2359556 h 2383904"/>
              <a:gd name="connsiteX7" fmla="*/ 76489 w 3176884"/>
              <a:gd name="connsiteY7" fmla="*/ 2308517 h 2383904"/>
              <a:gd name="connsiteX8" fmla="*/ 152688 w 3176884"/>
              <a:gd name="connsiteY8" fmla="*/ 1645577 h 2383904"/>
              <a:gd name="connsiteX9" fmla="*/ 769890 w 3176884"/>
              <a:gd name="connsiteY9" fmla="*/ 937300 h 2383904"/>
              <a:gd name="connsiteX0" fmla="*/ 769890 w 3190808"/>
              <a:gd name="connsiteY0" fmla="*/ 934996 h 2381600"/>
              <a:gd name="connsiteX1" fmla="*/ 1858461 w 3190808"/>
              <a:gd name="connsiteY1" fmla="*/ 420 h 2381600"/>
              <a:gd name="connsiteX2" fmla="*/ 3078769 w 3190808"/>
              <a:gd name="connsiteY2" fmla="*/ 820313 h 2381600"/>
              <a:gd name="connsiteX3" fmla="*/ 3175632 w 3190808"/>
              <a:gd name="connsiteY3" fmla="*/ 1346476 h 2381600"/>
              <a:gd name="connsiteX4" fmla="*/ 3004035 w 3190808"/>
              <a:gd name="connsiteY4" fmla="*/ 1754610 h 2381600"/>
              <a:gd name="connsiteX5" fmla="*/ 2301529 w 3190808"/>
              <a:gd name="connsiteY5" fmla="*/ 2222394 h 2381600"/>
              <a:gd name="connsiteX6" fmla="*/ 1104081 w 3190808"/>
              <a:gd name="connsiteY6" fmla="*/ 2357252 h 2381600"/>
              <a:gd name="connsiteX7" fmla="*/ 76489 w 3190808"/>
              <a:gd name="connsiteY7" fmla="*/ 2306213 h 2381600"/>
              <a:gd name="connsiteX8" fmla="*/ 152688 w 3190808"/>
              <a:gd name="connsiteY8" fmla="*/ 1643273 h 2381600"/>
              <a:gd name="connsiteX9" fmla="*/ 769890 w 3190808"/>
              <a:gd name="connsiteY9" fmla="*/ 934996 h 2381600"/>
              <a:gd name="connsiteX0" fmla="*/ 769890 w 3190808"/>
              <a:gd name="connsiteY0" fmla="*/ 934996 h 2381600"/>
              <a:gd name="connsiteX1" fmla="*/ 1858461 w 3190808"/>
              <a:gd name="connsiteY1" fmla="*/ 420 h 2381600"/>
              <a:gd name="connsiteX2" fmla="*/ 3078769 w 3190808"/>
              <a:gd name="connsiteY2" fmla="*/ 820313 h 2381600"/>
              <a:gd name="connsiteX3" fmla="*/ 3175632 w 3190808"/>
              <a:gd name="connsiteY3" fmla="*/ 1346476 h 2381600"/>
              <a:gd name="connsiteX4" fmla="*/ 3004035 w 3190808"/>
              <a:gd name="connsiteY4" fmla="*/ 1754610 h 2381600"/>
              <a:gd name="connsiteX5" fmla="*/ 2301529 w 3190808"/>
              <a:gd name="connsiteY5" fmla="*/ 2222394 h 2381600"/>
              <a:gd name="connsiteX6" fmla="*/ 1104081 w 3190808"/>
              <a:gd name="connsiteY6" fmla="*/ 2357252 h 2381600"/>
              <a:gd name="connsiteX7" fmla="*/ 76489 w 3190808"/>
              <a:gd name="connsiteY7" fmla="*/ 2306213 h 2381600"/>
              <a:gd name="connsiteX8" fmla="*/ 152688 w 3190808"/>
              <a:gd name="connsiteY8" fmla="*/ 1643273 h 2381600"/>
              <a:gd name="connsiteX9" fmla="*/ 769890 w 3190808"/>
              <a:gd name="connsiteY9" fmla="*/ 934996 h 2381600"/>
              <a:gd name="connsiteX0" fmla="*/ 769890 w 3190808"/>
              <a:gd name="connsiteY0" fmla="*/ 934996 h 2381600"/>
              <a:gd name="connsiteX1" fmla="*/ 1858461 w 3190808"/>
              <a:gd name="connsiteY1" fmla="*/ 420 h 2381600"/>
              <a:gd name="connsiteX2" fmla="*/ 3078769 w 3190808"/>
              <a:gd name="connsiteY2" fmla="*/ 820313 h 2381600"/>
              <a:gd name="connsiteX3" fmla="*/ 3175632 w 3190808"/>
              <a:gd name="connsiteY3" fmla="*/ 1346476 h 2381600"/>
              <a:gd name="connsiteX4" fmla="*/ 3004035 w 3190808"/>
              <a:gd name="connsiteY4" fmla="*/ 1754610 h 2381600"/>
              <a:gd name="connsiteX5" fmla="*/ 2301529 w 3190808"/>
              <a:gd name="connsiteY5" fmla="*/ 2222394 h 2381600"/>
              <a:gd name="connsiteX6" fmla="*/ 1104081 w 3190808"/>
              <a:gd name="connsiteY6" fmla="*/ 2357252 h 2381600"/>
              <a:gd name="connsiteX7" fmla="*/ 76489 w 3190808"/>
              <a:gd name="connsiteY7" fmla="*/ 2306213 h 2381600"/>
              <a:gd name="connsiteX8" fmla="*/ 152688 w 3190808"/>
              <a:gd name="connsiteY8" fmla="*/ 1643273 h 2381600"/>
              <a:gd name="connsiteX9" fmla="*/ 769890 w 3190808"/>
              <a:gd name="connsiteY9" fmla="*/ 934996 h 2381600"/>
              <a:gd name="connsiteX0" fmla="*/ 769890 w 3213648"/>
              <a:gd name="connsiteY0" fmla="*/ 934996 h 2381600"/>
              <a:gd name="connsiteX1" fmla="*/ 1858461 w 3213648"/>
              <a:gd name="connsiteY1" fmla="*/ 420 h 2381600"/>
              <a:gd name="connsiteX2" fmla="*/ 3078769 w 3213648"/>
              <a:gd name="connsiteY2" fmla="*/ 820313 h 2381600"/>
              <a:gd name="connsiteX3" fmla="*/ 3175632 w 3213648"/>
              <a:gd name="connsiteY3" fmla="*/ 1346476 h 2381600"/>
              <a:gd name="connsiteX4" fmla="*/ 3004035 w 3213648"/>
              <a:gd name="connsiteY4" fmla="*/ 1754610 h 2381600"/>
              <a:gd name="connsiteX5" fmla="*/ 2301529 w 3213648"/>
              <a:gd name="connsiteY5" fmla="*/ 2222394 h 2381600"/>
              <a:gd name="connsiteX6" fmla="*/ 1104081 w 3213648"/>
              <a:gd name="connsiteY6" fmla="*/ 2357252 h 2381600"/>
              <a:gd name="connsiteX7" fmla="*/ 76489 w 3213648"/>
              <a:gd name="connsiteY7" fmla="*/ 2306213 h 2381600"/>
              <a:gd name="connsiteX8" fmla="*/ 152688 w 3213648"/>
              <a:gd name="connsiteY8" fmla="*/ 1643273 h 2381600"/>
              <a:gd name="connsiteX9" fmla="*/ 769890 w 3213648"/>
              <a:gd name="connsiteY9" fmla="*/ 934996 h 2381600"/>
              <a:gd name="connsiteX0" fmla="*/ 769890 w 3197223"/>
              <a:gd name="connsiteY0" fmla="*/ 934996 h 2381600"/>
              <a:gd name="connsiteX1" fmla="*/ 1858461 w 3197223"/>
              <a:gd name="connsiteY1" fmla="*/ 420 h 2381600"/>
              <a:gd name="connsiteX2" fmla="*/ 3078769 w 3197223"/>
              <a:gd name="connsiteY2" fmla="*/ 820313 h 2381600"/>
              <a:gd name="connsiteX3" fmla="*/ 3175632 w 3197223"/>
              <a:gd name="connsiteY3" fmla="*/ 1346476 h 2381600"/>
              <a:gd name="connsiteX4" fmla="*/ 3004035 w 3197223"/>
              <a:gd name="connsiteY4" fmla="*/ 1754610 h 2381600"/>
              <a:gd name="connsiteX5" fmla="*/ 2301529 w 3197223"/>
              <a:gd name="connsiteY5" fmla="*/ 2222394 h 2381600"/>
              <a:gd name="connsiteX6" fmla="*/ 1104081 w 3197223"/>
              <a:gd name="connsiteY6" fmla="*/ 2357252 h 2381600"/>
              <a:gd name="connsiteX7" fmla="*/ 76489 w 3197223"/>
              <a:gd name="connsiteY7" fmla="*/ 2306213 h 2381600"/>
              <a:gd name="connsiteX8" fmla="*/ 152688 w 3197223"/>
              <a:gd name="connsiteY8" fmla="*/ 1643273 h 2381600"/>
              <a:gd name="connsiteX9" fmla="*/ 769890 w 3197223"/>
              <a:gd name="connsiteY9" fmla="*/ 934996 h 2381600"/>
              <a:gd name="connsiteX0" fmla="*/ 769890 w 3197223"/>
              <a:gd name="connsiteY0" fmla="*/ 934996 h 2381600"/>
              <a:gd name="connsiteX1" fmla="*/ 1858461 w 3197223"/>
              <a:gd name="connsiteY1" fmla="*/ 420 h 2381600"/>
              <a:gd name="connsiteX2" fmla="*/ 3078769 w 3197223"/>
              <a:gd name="connsiteY2" fmla="*/ 820313 h 2381600"/>
              <a:gd name="connsiteX3" fmla="*/ 3175632 w 3197223"/>
              <a:gd name="connsiteY3" fmla="*/ 1346476 h 2381600"/>
              <a:gd name="connsiteX4" fmla="*/ 3004035 w 3197223"/>
              <a:gd name="connsiteY4" fmla="*/ 1754610 h 2381600"/>
              <a:gd name="connsiteX5" fmla="*/ 2301529 w 3197223"/>
              <a:gd name="connsiteY5" fmla="*/ 2222394 h 2381600"/>
              <a:gd name="connsiteX6" fmla="*/ 1104081 w 3197223"/>
              <a:gd name="connsiteY6" fmla="*/ 2357252 h 2381600"/>
              <a:gd name="connsiteX7" fmla="*/ 76489 w 3197223"/>
              <a:gd name="connsiteY7" fmla="*/ 2306213 h 2381600"/>
              <a:gd name="connsiteX8" fmla="*/ 152688 w 3197223"/>
              <a:gd name="connsiteY8" fmla="*/ 1643273 h 2381600"/>
              <a:gd name="connsiteX9" fmla="*/ 769890 w 3197223"/>
              <a:gd name="connsiteY9" fmla="*/ 934996 h 2381600"/>
              <a:gd name="connsiteX0" fmla="*/ 769890 w 3203334"/>
              <a:gd name="connsiteY0" fmla="*/ 934996 h 2381600"/>
              <a:gd name="connsiteX1" fmla="*/ 1858461 w 3203334"/>
              <a:gd name="connsiteY1" fmla="*/ 420 h 2381600"/>
              <a:gd name="connsiteX2" fmla="*/ 3078769 w 3203334"/>
              <a:gd name="connsiteY2" fmla="*/ 820313 h 2381600"/>
              <a:gd name="connsiteX3" fmla="*/ 3175632 w 3203334"/>
              <a:gd name="connsiteY3" fmla="*/ 1346476 h 2381600"/>
              <a:gd name="connsiteX4" fmla="*/ 3004035 w 3203334"/>
              <a:gd name="connsiteY4" fmla="*/ 1754610 h 2381600"/>
              <a:gd name="connsiteX5" fmla="*/ 2301529 w 3203334"/>
              <a:gd name="connsiteY5" fmla="*/ 2222394 h 2381600"/>
              <a:gd name="connsiteX6" fmla="*/ 1104081 w 3203334"/>
              <a:gd name="connsiteY6" fmla="*/ 2357252 h 2381600"/>
              <a:gd name="connsiteX7" fmla="*/ 76489 w 3203334"/>
              <a:gd name="connsiteY7" fmla="*/ 2306213 h 2381600"/>
              <a:gd name="connsiteX8" fmla="*/ 152688 w 3203334"/>
              <a:gd name="connsiteY8" fmla="*/ 1643273 h 2381600"/>
              <a:gd name="connsiteX9" fmla="*/ 769890 w 3203334"/>
              <a:gd name="connsiteY9" fmla="*/ 934996 h 2381600"/>
              <a:gd name="connsiteX0" fmla="*/ 769890 w 3196947"/>
              <a:gd name="connsiteY0" fmla="*/ 934996 h 2381600"/>
              <a:gd name="connsiteX1" fmla="*/ 1858461 w 3196947"/>
              <a:gd name="connsiteY1" fmla="*/ 420 h 2381600"/>
              <a:gd name="connsiteX2" fmla="*/ 3078769 w 3196947"/>
              <a:gd name="connsiteY2" fmla="*/ 820313 h 2381600"/>
              <a:gd name="connsiteX3" fmla="*/ 3175632 w 3196947"/>
              <a:gd name="connsiteY3" fmla="*/ 1346476 h 2381600"/>
              <a:gd name="connsiteX4" fmla="*/ 3004035 w 3196947"/>
              <a:gd name="connsiteY4" fmla="*/ 1754610 h 2381600"/>
              <a:gd name="connsiteX5" fmla="*/ 2301529 w 3196947"/>
              <a:gd name="connsiteY5" fmla="*/ 2222394 h 2381600"/>
              <a:gd name="connsiteX6" fmla="*/ 1104081 w 3196947"/>
              <a:gd name="connsiteY6" fmla="*/ 2357252 h 2381600"/>
              <a:gd name="connsiteX7" fmla="*/ 76489 w 3196947"/>
              <a:gd name="connsiteY7" fmla="*/ 2306213 h 2381600"/>
              <a:gd name="connsiteX8" fmla="*/ 152688 w 3196947"/>
              <a:gd name="connsiteY8" fmla="*/ 1643273 h 2381600"/>
              <a:gd name="connsiteX9" fmla="*/ 769890 w 3196947"/>
              <a:gd name="connsiteY9" fmla="*/ 934996 h 2381600"/>
              <a:gd name="connsiteX0" fmla="*/ 769890 w 3196947"/>
              <a:gd name="connsiteY0" fmla="*/ 934945 h 2381549"/>
              <a:gd name="connsiteX1" fmla="*/ 1858461 w 3196947"/>
              <a:gd name="connsiteY1" fmla="*/ 369 h 2381549"/>
              <a:gd name="connsiteX2" fmla="*/ 3078769 w 3196947"/>
              <a:gd name="connsiteY2" fmla="*/ 820262 h 2381549"/>
              <a:gd name="connsiteX3" fmla="*/ 3175632 w 3196947"/>
              <a:gd name="connsiteY3" fmla="*/ 1346425 h 2381549"/>
              <a:gd name="connsiteX4" fmla="*/ 3004035 w 3196947"/>
              <a:gd name="connsiteY4" fmla="*/ 1754559 h 2381549"/>
              <a:gd name="connsiteX5" fmla="*/ 2301529 w 3196947"/>
              <a:gd name="connsiteY5" fmla="*/ 2222343 h 2381549"/>
              <a:gd name="connsiteX6" fmla="*/ 1104081 w 3196947"/>
              <a:gd name="connsiteY6" fmla="*/ 2357201 h 2381549"/>
              <a:gd name="connsiteX7" fmla="*/ 76489 w 3196947"/>
              <a:gd name="connsiteY7" fmla="*/ 2306162 h 2381549"/>
              <a:gd name="connsiteX8" fmla="*/ 152688 w 3196947"/>
              <a:gd name="connsiteY8" fmla="*/ 1643222 h 2381549"/>
              <a:gd name="connsiteX9" fmla="*/ 769890 w 3196947"/>
              <a:gd name="connsiteY9" fmla="*/ 934945 h 2381549"/>
              <a:gd name="connsiteX0" fmla="*/ 769890 w 3196947"/>
              <a:gd name="connsiteY0" fmla="*/ 935010 h 2381614"/>
              <a:gd name="connsiteX1" fmla="*/ 1858461 w 3196947"/>
              <a:gd name="connsiteY1" fmla="*/ 434 h 2381614"/>
              <a:gd name="connsiteX2" fmla="*/ 3078769 w 3196947"/>
              <a:gd name="connsiteY2" fmla="*/ 820327 h 2381614"/>
              <a:gd name="connsiteX3" fmla="*/ 3175632 w 3196947"/>
              <a:gd name="connsiteY3" fmla="*/ 1346490 h 2381614"/>
              <a:gd name="connsiteX4" fmla="*/ 3004035 w 3196947"/>
              <a:gd name="connsiteY4" fmla="*/ 1754624 h 2381614"/>
              <a:gd name="connsiteX5" fmla="*/ 2301529 w 3196947"/>
              <a:gd name="connsiteY5" fmla="*/ 2222408 h 2381614"/>
              <a:gd name="connsiteX6" fmla="*/ 1104081 w 3196947"/>
              <a:gd name="connsiteY6" fmla="*/ 2357266 h 2381614"/>
              <a:gd name="connsiteX7" fmla="*/ 76489 w 3196947"/>
              <a:gd name="connsiteY7" fmla="*/ 2306227 h 2381614"/>
              <a:gd name="connsiteX8" fmla="*/ 152688 w 3196947"/>
              <a:gd name="connsiteY8" fmla="*/ 1643287 h 2381614"/>
              <a:gd name="connsiteX9" fmla="*/ 769890 w 3196947"/>
              <a:gd name="connsiteY9" fmla="*/ 935010 h 2381614"/>
              <a:gd name="connsiteX0" fmla="*/ 769890 w 3196947"/>
              <a:gd name="connsiteY0" fmla="*/ 935010 h 2377029"/>
              <a:gd name="connsiteX1" fmla="*/ 1858461 w 3196947"/>
              <a:gd name="connsiteY1" fmla="*/ 434 h 2377029"/>
              <a:gd name="connsiteX2" fmla="*/ 3078769 w 3196947"/>
              <a:gd name="connsiteY2" fmla="*/ 820327 h 2377029"/>
              <a:gd name="connsiteX3" fmla="*/ 3175632 w 3196947"/>
              <a:gd name="connsiteY3" fmla="*/ 1346490 h 2377029"/>
              <a:gd name="connsiteX4" fmla="*/ 3004035 w 3196947"/>
              <a:gd name="connsiteY4" fmla="*/ 1754624 h 2377029"/>
              <a:gd name="connsiteX5" fmla="*/ 2365029 w 3196947"/>
              <a:gd name="connsiteY5" fmla="*/ 2298608 h 2377029"/>
              <a:gd name="connsiteX6" fmla="*/ 1104081 w 3196947"/>
              <a:gd name="connsiteY6" fmla="*/ 2357266 h 2377029"/>
              <a:gd name="connsiteX7" fmla="*/ 76489 w 3196947"/>
              <a:gd name="connsiteY7" fmla="*/ 2306227 h 2377029"/>
              <a:gd name="connsiteX8" fmla="*/ 152688 w 3196947"/>
              <a:gd name="connsiteY8" fmla="*/ 1643287 h 2377029"/>
              <a:gd name="connsiteX9" fmla="*/ 769890 w 3196947"/>
              <a:gd name="connsiteY9" fmla="*/ 935010 h 2377029"/>
              <a:gd name="connsiteX0" fmla="*/ 769890 w 3196947"/>
              <a:gd name="connsiteY0" fmla="*/ 935010 h 2377029"/>
              <a:gd name="connsiteX1" fmla="*/ 1858461 w 3196947"/>
              <a:gd name="connsiteY1" fmla="*/ 434 h 2377029"/>
              <a:gd name="connsiteX2" fmla="*/ 3078769 w 3196947"/>
              <a:gd name="connsiteY2" fmla="*/ 820327 h 2377029"/>
              <a:gd name="connsiteX3" fmla="*/ 3175632 w 3196947"/>
              <a:gd name="connsiteY3" fmla="*/ 1346490 h 2377029"/>
              <a:gd name="connsiteX4" fmla="*/ 3004035 w 3196947"/>
              <a:gd name="connsiteY4" fmla="*/ 1754624 h 2377029"/>
              <a:gd name="connsiteX5" fmla="*/ 2365029 w 3196947"/>
              <a:gd name="connsiteY5" fmla="*/ 2298608 h 2377029"/>
              <a:gd name="connsiteX6" fmla="*/ 1104081 w 3196947"/>
              <a:gd name="connsiteY6" fmla="*/ 2357266 h 2377029"/>
              <a:gd name="connsiteX7" fmla="*/ 76489 w 3196947"/>
              <a:gd name="connsiteY7" fmla="*/ 2306227 h 2377029"/>
              <a:gd name="connsiteX8" fmla="*/ 152688 w 3196947"/>
              <a:gd name="connsiteY8" fmla="*/ 1643287 h 2377029"/>
              <a:gd name="connsiteX9" fmla="*/ 769890 w 3196947"/>
              <a:gd name="connsiteY9" fmla="*/ 935010 h 2377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6947" h="2377029">
                <a:moveTo>
                  <a:pt x="769890" y="935010"/>
                </a:moveTo>
                <a:cubicBezTo>
                  <a:pt x="1054185" y="661201"/>
                  <a:pt x="1473648" y="19548"/>
                  <a:pt x="1858461" y="434"/>
                </a:cubicBezTo>
                <a:cubicBezTo>
                  <a:pt x="2243274" y="-18680"/>
                  <a:pt x="2941473" y="597571"/>
                  <a:pt x="3078769" y="820327"/>
                </a:cubicBezTo>
                <a:cubicBezTo>
                  <a:pt x="3216065" y="1043083"/>
                  <a:pt x="3211265" y="1147911"/>
                  <a:pt x="3175632" y="1346490"/>
                </a:cubicBezTo>
                <a:cubicBezTo>
                  <a:pt x="3139999" y="1545069"/>
                  <a:pt x="3115746" y="1600065"/>
                  <a:pt x="3004035" y="1754624"/>
                </a:cubicBezTo>
                <a:cubicBezTo>
                  <a:pt x="2868511" y="1885370"/>
                  <a:pt x="2676608" y="2184198"/>
                  <a:pt x="2365029" y="2298608"/>
                </a:cubicBezTo>
                <a:cubicBezTo>
                  <a:pt x="2053450" y="2413018"/>
                  <a:pt x="1485504" y="2355996"/>
                  <a:pt x="1104081" y="2357266"/>
                </a:cubicBezTo>
                <a:cubicBezTo>
                  <a:pt x="722658" y="2358536"/>
                  <a:pt x="235054" y="2425223"/>
                  <a:pt x="76489" y="2306227"/>
                </a:cubicBezTo>
                <a:cubicBezTo>
                  <a:pt x="-82076" y="2187231"/>
                  <a:pt x="37121" y="1871823"/>
                  <a:pt x="152688" y="1643287"/>
                </a:cubicBezTo>
                <a:cubicBezTo>
                  <a:pt x="268255" y="1414751"/>
                  <a:pt x="485595" y="1208819"/>
                  <a:pt x="769890" y="935010"/>
                </a:cubicBezTo>
                <a:close/>
              </a:path>
            </a:pathLst>
          </a:custGeom>
          <a:noFill/>
          <a:ln>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graphicFrame>
        <p:nvGraphicFramePr>
          <p:cNvPr id="4" name="对象 3"/>
          <p:cNvGraphicFramePr>
            <a:graphicFrameLocks noChangeAspect="1"/>
          </p:cNvGraphicFramePr>
          <p:nvPr/>
        </p:nvGraphicFramePr>
        <p:xfrm>
          <a:off x="395537" y="1911074"/>
          <a:ext cx="3438525" cy="827087"/>
        </p:xfrm>
        <a:graphic>
          <a:graphicData uri="http://schemas.openxmlformats.org/presentationml/2006/ole">
            <mc:AlternateContent xmlns:mc="http://schemas.openxmlformats.org/markup-compatibility/2006">
              <mc:Choice xmlns:v="urn:schemas-microsoft-com:vml" Requires="v">
                <p:oleObj spid="_x0000_s10303" name="公式" r:id="rId5" imgW="1511280" imgH="431640" progId="Equation.3">
                  <p:embed/>
                </p:oleObj>
              </mc:Choice>
              <mc:Fallback>
                <p:oleObj name="公式" r:id="rId5" imgW="1511280" imgH="431640" progId="Equation.3">
                  <p:embed/>
                  <p:pic>
                    <p:nvPicPr>
                      <p:cNvPr id="4" name="对象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5537" y="1911074"/>
                        <a:ext cx="3438525" cy="82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页脚占位符 2">
            <a:extLst>
              <a:ext uri="{FF2B5EF4-FFF2-40B4-BE49-F238E27FC236}">
                <a16:creationId xmlns:a16="http://schemas.microsoft.com/office/drawing/2014/main" id="{F4C767CA-6841-4522-82CF-C24E07A974E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00EBC1E-83A4-4A80-8DC8-CBFCFF5BEEA0}"/>
              </a:ext>
            </a:extLst>
          </p:cNvPr>
          <p:cNvSpPr>
            <a:spLocks noGrp="1"/>
          </p:cNvSpPr>
          <p:nvPr>
            <p:ph type="sldNum" sz="quarter" idx="12"/>
          </p:nvPr>
        </p:nvSpPr>
        <p:spPr/>
        <p:txBody>
          <a:bodyPr/>
          <a:lstStyle/>
          <a:p>
            <a:fld id="{5AD84F5B-1672-4D3F-9FEC-5DF89A7B7912}" type="slidenum">
              <a:rPr lang="zh-CN" altLang="en-US" smtClean="0"/>
              <a:t>74</a:t>
            </a:fld>
            <a:endParaRPr lang="zh-CN" altLang="en-US"/>
          </a:p>
        </p:txBody>
      </p:sp>
      <p:sp>
        <p:nvSpPr>
          <p:cNvPr id="6" name="矩形 5">
            <a:extLst>
              <a:ext uri="{FF2B5EF4-FFF2-40B4-BE49-F238E27FC236}">
                <a16:creationId xmlns:a16="http://schemas.microsoft.com/office/drawing/2014/main" id="{87ECFC29-9ED3-470E-A86D-524EDCC26D2B}"/>
              </a:ext>
            </a:extLst>
          </p:cNvPr>
          <p:cNvSpPr/>
          <p:nvPr/>
        </p:nvSpPr>
        <p:spPr>
          <a:xfrm>
            <a:off x="300287" y="5650942"/>
            <a:ext cx="6478055" cy="646331"/>
          </a:xfrm>
          <a:prstGeom prst="rect">
            <a:avLst/>
          </a:prstGeom>
        </p:spPr>
        <p:txBody>
          <a:bodyPr wrap="none">
            <a:spAutoFit/>
          </a:bodyPr>
          <a:lstStyle/>
          <a:p>
            <a:r>
              <a:rPr lang="zh-CN" altLang="en-US" dirty="0"/>
              <a:t>这里用二项式分布来估计，其期望为 </a:t>
            </a:r>
            <a:r>
              <a:rPr lang="en-US" altLang="zh-CN" dirty="0"/>
              <a:t>E = np</a:t>
            </a:r>
            <a:r>
              <a:rPr lang="zh-CN" altLang="en-US" dirty="0"/>
              <a:t>，方差为 </a:t>
            </a:r>
            <a:r>
              <a:rPr lang="en-US" altLang="zh-CN" dirty="0"/>
              <a:t>var</a:t>
            </a:r>
            <a:r>
              <a:rPr lang="zh-CN" altLang="en-US" dirty="0"/>
              <a:t> </a:t>
            </a:r>
            <a:r>
              <a:rPr lang="en-US" altLang="zh-CN" dirty="0"/>
              <a:t>=</a:t>
            </a:r>
            <a:r>
              <a:rPr lang="zh-CN" altLang="en-US" dirty="0"/>
              <a:t> </a:t>
            </a:r>
            <a:r>
              <a:rPr lang="en-US" altLang="zh-CN" dirty="0" err="1"/>
              <a:t>npq</a:t>
            </a:r>
            <a:r>
              <a:rPr lang="en-US" altLang="zh-CN" dirty="0"/>
              <a:t> </a:t>
            </a:r>
          </a:p>
          <a:p>
            <a:r>
              <a:rPr lang="en-US" altLang="zh-CN" dirty="0"/>
              <a:t>p</a:t>
            </a:r>
            <a:r>
              <a:rPr lang="zh-CN" altLang="en-US"/>
              <a:t>为事件发生</a:t>
            </a:r>
            <a:r>
              <a:rPr lang="zh-CN" altLang="en-US" dirty="0"/>
              <a:t>的概率，</a:t>
            </a:r>
            <a:r>
              <a:rPr lang="en-US" altLang="zh-CN" dirty="0"/>
              <a:t>q=1-p</a:t>
            </a:r>
            <a:endParaRPr lang="zh-CN" altLang="en-US" dirty="0"/>
          </a:p>
        </p:txBody>
      </p:sp>
    </p:spTree>
    <p:extLst>
      <p:ext uri="{BB962C8B-B14F-4D97-AF65-F5344CB8AC3E}">
        <p14:creationId xmlns:p14="http://schemas.microsoft.com/office/powerpoint/2010/main" val="2878933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悲观错误剪枝法</a:t>
            </a:r>
            <a:r>
              <a:rPr lang="en-US" altLang="zh-CN" dirty="0"/>
              <a:t>PEP</a:t>
            </a:r>
            <a:endParaRPr lang="zh-CN" altLang="en-US" dirty="0"/>
          </a:p>
        </p:txBody>
      </p:sp>
      <p:sp>
        <p:nvSpPr>
          <p:cNvPr id="6" name="内容占位符 5"/>
          <p:cNvSpPr>
            <a:spLocks noGrp="1"/>
          </p:cNvSpPr>
          <p:nvPr>
            <p:ph idx="1"/>
          </p:nvPr>
        </p:nvSpPr>
        <p:spPr/>
        <p:txBody>
          <a:bodyPr>
            <a:normAutofit/>
          </a:bodyPr>
          <a:lstStyle/>
          <a:p>
            <a:pPr marL="0" indent="0">
              <a:buNone/>
            </a:pPr>
            <a:r>
              <a:rPr lang="zh-CN" altLang="zh-CN" dirty="0"/>
              <a:t>【例】图示决策树子树</a:t>
            </a:r>
            <a:r>
              <a:rPr lang="zh-CN" altLang="en-US" dirty="0"/>
              <a:t>，</a:t>
            </a:r>
            <a:r>
              <a:rPr lang="zh-CN" altLang="zh-CN" dirty="0"/>
              <a:t>确定这个子树是否应被剪枝（用一个叶结点代替）。</a:t>
            </a:r>
            <a:endParaRPr lang="zh-CN" altLang="zh-CN" sz="2000" dirty="0"/>
          </a:p>
          <a:p>
            <a:pPr marL="271463" lvl="1" indent="-236538"/>
            <a:endParaRPr lang="en-US" altLang="zh-CN" dirty="0"/>
          </a:p>
        </p:txBody>
      </p:sp>
      <p:sp>
        <p:nvSpPr>
          <p:cNvPr id="5" name="Rectangle 2"/>
          <p:cNvSpPr>
            <a:spLocks noChangeArrowheads="1"/>
          </p:cNvSpPr>
          <p:nvPr/>
        </p:nvSpPr>
        <p:spPr bwMode="auto">
          <a:xfrm>
            <a:off x="1" y="672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14" name="组合 13">
            <a:extLst>
              <a:ext uri="{FF2B5EF4-FFF2-40B4-BE49-F238E27FC236}">
                <a16:creationId xmlns:a16="http://schemas.microsoft.com/office/drawing/2014/main" id="{0B4ECF2D-BBBD-4FC8-A059-29CB60289394}"/>
              </a:ext>
            </a:extLst>
          </p:cNvPr>
          <p:cNvGrpSpPr/>
          <p:nvPr/>
        </p:nvGrpSpPr>
        <p:grpSpPr>
          <a:xfrm>
            <a:off x="395536" y="2525714"/>
            <a:ext cx="6398542" cy="3216834"/>
            <a:chOff x="395536" y="2525714"/>
            <a:chExt cx="6398542" cy="3216834"/>
          </a:xfrm>
        </p:grpSpPr>
        <p:sp>
          <p:nvSpPr>
            <p:cNvPr id="4" name="矩形 3"/>
            <p:cNvSpPr/>
            <p:nvPr/>
          </p:nvSpPr>
          <p:spPr>
            <a:xfrm>
              <a:off x="395536" y="2807199"/>
              <a:ext cx="1338828" cy="369332"/>
            </a:xfrm>
            <a:prstGeom prst="rect">
              <a:avLst/>
            </a:prstGeom>
          </p:spPr>
          <p:txBody>
            <a:bodyPr wrap="none">
              <a:spAutoFit/>
            </a:bodyPr>
            <a:lstStyle/>
            <a:p>
              <a:r>
                <a:rPr lang="zh-CN" altLang="zh-CN" dirty="0">
                  <a:latin typeface="华文细黑" pitchFamily="2" charset="-122"/>
                  <a:ea typeface="华文细黑" pitchFamily="2" charset="-122"/>
                </a:rPr>
                <a:t>子树</a:t>
              </a:r>
              <a:r>
                <a:rPr lang="zh-CN" altLang="en-US" dirty="0">
                  <a:latin typeface="华文细黑" pitchFamily="2" charset="-122"/>
                  <a:ea typeface="华文细黑" pitchFamily="2" charset="-122"/>
                </a:rPr>
                <a:t>误差率</a:t>
              </a:r>
            </a:p>
          </p:txBody>
        </p:sp>
        <p:graphicFrame>
          <p:nvGraphicFramePr>
            <p:cNvPr id="7" name="对象 6"/>
            <p:cNvGraphicFramePr>
              <a:graphicFrameLocks noChangeAspect="1"/>
            </p:cNvGraphicFramePr>
            <p:nvPr>
              <p:extLst>
                <p:ext uri="{D42A27DB-BD31-4B8C-83A1-F6EECF244321}">
                  <p14:modId xmlns:p14="http://schemas.microsoft.com/office/powerpoint/2010/main" val="3118719308"/>
                </p:ext>
              </p:extLst>
            </p:nvPr>
          </p:nvGraphicFramePr>
          <p:xfrm>
            <a:off x="1695451" y="2525714"/>
            <a:ext cx="3749675" cy="871537"/>
          </p:xfrm>
          <a:graphic>
            <a:graphicData uri="http://schemas.openxmlformats.org/presentationml/2006/ole">
              <mc:AlternateContent xmlns:mc="http://schemas.openxmlformats.org/markup-compatibility/2006">
                <mc:Choice xmlns:v="urn:schemas-microsoft-com:vml" Requires="v">
                  <p:oleObj spid="_x0000_s11386" name="公式" r:id="rId3" imgW="3555720" imgH="876240" progId="Equation.3">
                    <p:embed/>
                  </p:oleObj>
                </mc:Choice>
                <mc:Fallback>
                  <p:oleObj name="公式" r:id="rId3" imgW="3555720" imgH="876240" progId="Equation.3">
                    <p:embed/>
                    <p:pic>
                      <p:nvPicPr>
                        <p:cNvPr id="7" name="对象 6"/>
                        <p:cNvPicPr>
                          <a:picLocks noChangeAspect="1" noChangeArrowheads="1"/>
                        </p:cNvPicPr>
                        <p:nvPr/>
                      </p:nvPicPr>
                      <p:blipFill>
                        <a:blip r:embed="rId4"/>
                        <a:srcRect/>
                        <a:stretch>
                          <a:fillRect/>
                        </a:stretch>
                      </p:blipFill>
                      <p:spPr bwMode="auto">
                        <a:xfrm>
                          <a:off x="1695451" y="2525714"/>
                          <a:ext cx="3749675" cy="871537"/>
                        </a:xfrm>
                        <a:prstGeom prst="rect">
                          <a:avLst/>
                        </a:prstGeom>
                        <a:noFill/>
                        <a:ln>
                          <a:noFill/>
                        </a:ln>
                      </p:spPr>
                    </p:pic>
                  </p:oleObj>
                </mc:Fallback>
              </mc:AlternateContent>
            </a:graphicData>
          </a:graphic>
        </p:graphicFrame>
        <p:sp>
          <p:nvSpPr>
            <p:cNvPr id="11" name="矩形 10"/>
            <p:cNvSpPr/>
            <p:nvPr/>
          </p:nvSpPr>
          <p:spPr>
            <a:xfrm>
              <a:off x="395538" y="3479016"/>
              <a:ext cx="2781531" cy="369332"/>
            </a:xfrm>
            <a:prstGeom prst="rect">
              <a:avLst/>
            </a:prstGeom>
          </p:spPr>
          <p:txBody>
            <a:bodyPr wrap="none">
              <a:spAutoFit/>
            </a:bodyPr>
            <a:lstStyle/>
            <a:p>
              <a:r>
                <a:rPr lang="zh-CN" altLang="zh-CN" dirty="0">
                  <a:latin typeface="华文细黑" pitchFamily="2" charset="-122"/>
                  <a:ea typeface="华文细黑" pitchFamily="2" charset="-122"/>
                </a:rPr>
                <a:t>子树</a:t>
              </a:r>
              <a:r>
                <a:rPr lang="zh-CN" altLang="en-US" dirty="0">
                  <a:latin typeface="华文细黑" pitchFamily="2" charset="-122"/>
                  <a:ea typeface="华文细黑" pitchFamily="2" charset="-122"/>
                </a:rPr>
                <a:t>误判次数的标准差： </a:t>
              </a:r>
            </a:p>
          </p:txBody>
        </p:sp>
        <p:sp>
          <p:nvSpPr>
            <p:cNvPr id="13" name="矩形 12"/>
            <p:cNvSpPr/>
            <p:nvPr/>
          </p:nvSpPr>
          <p:spPr>
            <a:xfrm>
              <a:off x="395536" y="4150832"/>
              <a:ext cx="3704860" cy="369332"/>
            </a:xfrm>
            <a:prstGeom prst="rect">
              <a:avLst/>
            </a:prstGeom>
          </p:spPr>
          <p:txBody>
            <a:bodyPr wrap="none">
              <a:spAutoFit/>
            </a:bodyPr>
            <a:lstStyle/>
            <a:p>
              <a:r>
                <a:rPr lang="zh-CN" altLang="zh-CN" dirty="0">
                  <a:latin typeface="华文细黑" pitchFamily="2" charset="-122"/>
                  <a:ea typeface="华文细黑" pitchFamily="2" charset="-122"/>
                </a:rPr>
                <a:t>子树</a:t>
              </a:r>
              <a:r>
                <a:rPr lang="zh-CN" altLang="en-US" dirty="0">
                  <a:latin typeface="华文细黑" pitchFamily="2" charset="-122"/>
                  <a:ea typeface="华文细黑" pitchFamily="2" charset="-122"/>
                </a:rPr>
                <a:t>替换为叶结点后，误判次数： </a:t>
              </a:r>
            </a:p>
          </p:txBody>
        </p:sp>
        <p:graphicFrame>
          <p:nvGraphicFramePr>
            <p:cNvPr id="10" name="对象 9"/>
            <p:cNvGraphicFramePr>
              <a:graphicFrameLocks noChangeAspect="1"/>
            </p:cNvGraphicFramePr>
            <p:nvPr>
              <p:extLst>
                <p:ext uri="{D42A27DB-BD31-4B8C-83A1-F6EECF244321}">
                  <p14:modId xmlns:p14="http://schemas.microsoft.com/office/powerpoint/2010/main" val="2900082839"/>
                </p:ext>
              </p:extLst>
            </p:nvPr>
          </p:nvGraphicFramePr>
          <p:xfrm>
            <a:off x="3970338" y="4127500"/>
            <a:ext cx="1708150" cy="458788"/>
          </p:xfrm>
          <a:graphic>
            <a:graphicData uri="http://schemas.openxmlformats.org/presentationml/2006/ole">
              <mc:AlternateContent xmlns:mc="http://schemas.openxmlformats.org/markup-compatibility/2006">
                <mc:Choice xmlns:v="urn:schemas-microsoft-com:vml" Requires="v">
                  <p:oleObj spid="_x0000_s11387" name="公式" r:id="rId5" imgW="1600200" imgH="393480" progId="Equation.3">
                    <p:embed/>
                  </p:oleObj>
                </mc:Choice>
                <mc:Fallback>
                  <p:oleObj name="公式" r:id="rId5" imgW="1600200" imgH="393480" progId="Equation.3">
                    <p:embed/>
                    <p:pic>
                      <p:nvPicPr>
                        <p:cNvPr id="10" name="对象 9"/>
                        <p:cNvPicPr>
                          <a:picLocks noChangeAspect="1" noChangeArrowheads="1"/>
                        </p:cNvPicPr>
                        <p:nvPr/>
                      </p:nvPicPr>
                      <p:blipFill>
                        <a:blip r:embed="rId6"/>
                        <a:srcRect/>
                        <a:stretch>
                          <a:fillRect/>
                        </a:stretch>
                      </p:blipFill>
                      <p:spPr bwMode="auto">
                        <a:xfrm>
                          <a:off x="3970338" y="4127500"/>
                          <a:ext cx="1708150" cy="458788"/>
                        </a:xfrm>
                        <a:prstGeom prst="rect">
                          <a:avLst/>
                        </a:prstGeom>
                        <a:noFill/>
                        <a:ln>
                          <a:noFill/>
                        </a:ln>
                      </p:spPr>
                    </p:pic>
                  </p:oleObj>
                </mc:Fallback>
              </mc:AlternateContent>
            </a:graphicData>
          </a:graphic>
        </p:graphicFrame>
        <p:sp>
          <p:nvSpPr>
            <p:cNvPr id="15" name="矩形 14"/>
            <p:cNvSpPr/>
            <p:nvPr/>
          </p:nvSpPr>
          <p:spPr>
            <a:xfrm>
              <a:off x="395538" y="4822649"/>
              <a:ext cx="877163" cy="369332"/>
            </a:xfrm>
            <a:prstGeom prst="rect">
              <a:avLst/>
            </a:prstGeom>
          </p:spPr>
          <p:txBody>
            <a:bodyPr wrap="none">
              <a:spAutoFit/>
            </a:bodyPr>
            <a:lstStyle/>
            <a:p>
              <a:r>
                <a:rPr lang="zh-CN" altLang="en-US" dirty="0">
                  <a:latin typeface="华文细黑" pitchFamily="2" charset="-122"/>
                  <a:ea typeface="华文细黑" pitchFamily="2" charset="-122"/>
                </a:rPr>
                <a:t>因有：</a:t>
              </a:r>
            </a:p>
          </p:txBody>
        </p:sp>
        <p:graphicFrame>
          <p:nvGraphicFramePr>
            <p:cNvPr id="12" name="对象 11"/>
            <p:cNvGraphicFramePr>
              <a:graphicFrameLocks noChangeAspect="1"/>
            </p:cNvGraphicFramePr>
            <p:nvPr>
              <p:extLst>
                <p:ext uri="{D42A27DB-BD31-4B8C-83A1-F6EECF244321}">
                  <p14:modId xmlns:p14="http://schemas.microsoft.com/office/powerpoint/2010/main" val="742492756"/>
                </p:ext>
              </p:extLst>
            </p:nvPr>
          </p:nvGraphicFramePr>
          <p:xfrm>
            <a:off x="1249363" y="4872039"/>
            <a:ext cx="3198812" cy="307975"/>
          </p:xfrm>
          <a:graphic>
            <a:graphicData uri="http://schemas.openxmlformats.org/presentationml/2006/ole">
              <mc:AlternateContent xmlns:mc="http://schemas.openxmlformats.org/markup-compatibility/2006">
                <mc:Choice xmlns:v="urn:schemas-microsoft-com:vml" Requires="v">
                  <p:oleObj spid="_x0000_s11388" name="公式" r:id="rId7" imgW="2476440" imgH="253800" progId="Equation.3">
                    <p:embed/>
                  </p:oleObj>
                </mc:Choice>
                <mc:Fallback>
                  <p:oleObj name="公式" r:id="rId7" imgW="2476440" imgH="253800" progId="Equation.3">
                    <p:embed/>
                    <p:pic>
                      <p:nvPicPr>
                        <p:cNvPr id="12" name="对象 11"/>
                        <p:cNvPicPr>
                          <a:picLocks noChangeAspect="1" noChangeArrowheads="1"/>
                        </p:cNvPicPr>
                        <p:nvPr/>
                      </p:nvPicPr>
                      <p:blipFill>
                        <a:blip r:embed="rId8"/>
                        <a:srcRect/>
                        <a:stretch>
                          <a:fillRect/>
                        </a:stretch>
                      </p:blipFill>
                      <p:spPr bwMode="auto">
                        <a:xfrm>
                          <a:off x="1249363" y="4872039"/>
                          <a:ext cx="3198812" cy="307975"/>
                        </a:xfrm>
                        <a:prstGeom prst="rect">
                          <a:avLst/>
                        </a:prstGeom>
                        <a:noFill/>
                        <a:ln>
                          <a:noFill/>
                        </a:ln>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252668430"/>
                </p:ext>
              </p:extLst>
            </p:nvPr>
          </p:nvGraphicFramePr>
          <p:xfrm>
            <a:off x="2915816" y="3427413"/>
            <a:ext cx="3878262" cy="481012"/>
          </p:xfrm>
          <a:graphic>
            <a:graphicData uri="http://schemas.openxmlformats.org/presentationml/2006/ole">
              <mc:AlternateContent xmlns:mc="http://schemas.openxmlformats.org/markup-compatibility/2006">
                <mc:Choice xmlns:v="urn:schemas-microsoft-com:vml" Requires="v">
                  <p:oleObj spid="_x0000_s11389" name="公式" r:id="rId9" imgW="3479760" imgH="482400" progId="Equation.3">
                    <p:embed/>
                  </p:oleObj>
                </mc:Choice>
                <mc:Fallback>
                  <p:oleObj name="公式" r:id="rId9" imgW="3479760" imgH="482400" progId="Equation.3">
                    <p:embed/>
                    <p:pic>
                      <p:nvPicPr>
                        <p:cNvPr id="9" name="对象 8"/>
                        <p:cNvPicPr>
                          <a:picLocks noChangeAspect="1" noChangeArrowheads="1"/>
                        </p:cNvPicPr>
                        <p:nvPr/>
                      </p:nvPicPr>
                      <p:blipFill>
                        <a:blip r:embed="rId10"/>
                        <a:srcRect/>
                        <a:stretch>
                          <a:fillRect/>
                        </a:stretch>
                      </p:blipFill>
                      <p:spPr bwMode="auto">
                        <a:xfrm>
                          <a:off x="2915816" y="3427413"/>
                          <a:ext cx="3878262" cy="481012"/>
                        </a:xfrm>
                        <a:prstGeom prst="rect">
                          <a:avLst/>
                        </a:prstGeom>
                        <a:noFill/>
                        <a:ln>
                          <a:noFill/>
                        </a:ln>
                      </p:spPr>
                    </p:pic>
                  </p:oleObj>
                </mc:Fallback>
              </mc:AlternateContent>
            </a:graphicData>
          </a:graphic>
        </p:graphicFrame>
        <p:sp>
          <p:nvSpPr>
            <p:cNvPr id="17" name="矩形 16"/>
            <p:cNvSpPr/>
            <p:nvPr/>
          </p:nvSpPr>
          <p:spPr>
            <a:xfrm>
              <a:off x="395536" y="5373216"/>
              <a:ext cx="4570482" cy="369332"/>
            </a:xfrm>
            <a:prstGeom prst="rect">
              <a:avLst/>
            </a:prstGeom>
          </p:spPr>
          <p:txBody>
            <a:bodyPr wrap="none">
              <a:spAutoFit/>
            </a:bodyPr>
            <a:lstStyle/>
            <a:p>
              <a:r>
                <a:rPr lang="zh-CN" altLang="en-US" dirty="0">
                  <a:latin typeface="华文细黑" pitchFamily="2" charset="-122"/>
                  <a:ea typeface="华文细黑" pitchFamily="2" charset="-122"/>
                </a:rPr>
                <a:t>所以可以将子树剪枝，代替为一个叶结点。</a:t>
              </a:r>
            </a:p>
          </p:txBody>
        </p:sp>
      </p:grpSp>
      <p:sp>
        <p:nvSpPr>
          <p:cNvPr id="29" name="椭圆 28"/>
          <p:cNvSpPr/>
          <p:nvPr/>
        </p:nvSpPr>
        <p:spPr>
          <a:xfrm>
            <a:off x="7455600" y="2316346"/>
            <a:ext cx="797472" cy="388800"/>
          </a:xfrm>
          <a:prstGeom prst="ellipse">
            <a:avLst/>
          </a:prstGeom>
          <a:solidFill>
            <a:srgbClr val="F9E3E3"/>
          </a:solidFill>
          <a:ln w="19050"/>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latin typeface="华文细黑" pitchFamily="2" charset="-122"/>
                <a:ea typeface="华文细黑" pitchFamily="2" charset="-122"/>
              </a:rPr>
              <a:t>A</a:t>
            </a:r>
            <a:r>
              <a:rPr lang="en-US" altLang="zh-CN" baseline="-25000" dirty="0">
                <a:latin typeface="华文细黑" pitchFamily="2" charset="-122"/>
                <a:ea typeface="华文细黑" pitchFamily="2" charset="-122"/>
              </a:rPr>
              <a:t>1</a:t>
            </a:r>
            <a:endParaRPr lang="zh-CN" altLang="en-US" baseline="-25000" dirty="0">
              <a:latin typeface="华文细黑" pitchFamily="2" charset="-122"/>
              <a:ea typeface="华文细黑" pitchFamily="2" charset="-122"/>
            </a:endParaRPr>
          </a:p>
        </p:txBody>
      </p:sp>
      <p:sp>
        <p:nvSpPr>
          <p:cNvPr id="30" name="椭圆 29"/>
          <p:cNvSpPr/>
          <p:nvPr/>
        </p:nvSpPr>
        <p:spPr>
          <a:xfrm>
            <a:off x="6732240" y="3104964"/>
            <a:ext cx="797472" cy="388800"/>
          </a:xfrm>
          <a:prstGeom prst="ellipse">
            <a:avLst/>
          </a:prstGeom>
          <a:solidFill>
            <a:srgbClr val="F9E3E3"/>
          </a:solidFill>
          <a:ln w="19050"/>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latin typeface="华文细黑" pitchFamily="2" charset="-122"/>
                <a:ea typeface="华文细黑" pitchFamily="2" charset="-122"/>
              </a:rPr>
              <a:t>A</a:t>
            </a:r>
            <a:r>
              <a:rPr lang="en-US" altLang="zh-CN" baseline="-25000" dirty="0">
                <a:latin typeface="华文细黑" pitchFamily="2" charset="-122"/>
                <a:ea typeface="华文细黑" pitchFamily="2" charset="-122"/>
              </a:rPr>
              <a:t>2</a:t>
            </a:r>
            <a:endParaRPr lang="zh-CN" altLang="en-US" baseline="-25000" dirty="0">
              <a:latin typeface="华文细黑" pitchFamily="2" charset="-122"/>
              <a:ea typeface="华文细黑" pitchFamily="2" charset="-122"/>
            </a:endParaRPr>
          </a:p>
        </p:txBody>
      </p:sp>
      <p:sp>
        <p:nvSpPr>
          <p:cNvPr id="31" name="矩形 30"/>
          <p:cNvSpPr/>
          <p:nvPr/>
        </p:nvSpPr>
        <p:spPr>
          <a:xfrm>
            <a:off x="8224017" y="3101567"/>
            <a:ext cx="797472" cy="453600"/>
          </a:xfrm>
          <a:prstGeom prst="rect">
            <a:avLst/>
          </a:prstGeom>
          <a:solidFill>
            <a:schemeClr val="accent6">
              <a:lumMod val="20000"/>
              <a:lumOff val="80000"/>
            </a:schemeClr>
          </a:solidFill>
          <a:ln w="19050"/>
        </p:spPr>
        <p:style>
          <a:lnRef idx="2">
            <a:schemeClr val="accent6"/>
          </a:lnRef>
          <a:fillRef idx="1">
            <a:schemeClr val="lt1"/>
          </a:fillRef>
          <a:effectRef idx="0">
            <a:schemeClr val="accent6"/>
          </a:effectRef>
          <a:fontRef idx="minor">
            <a:schemeClr val="dk1"/>
          </a:fontRef>
        </p:style>
        <p:txBody>
          <a:bodyPr lIns="0" tIns="36000" rIns="0" bIns="36000" rtlCol="0" anchor="ctr"/>
          <a:lstStyle/>
          <a:p>
            <a:pPr algn="ctr">
              <a:lnSpc>
                <a:spcPts val="1200"/>
              </a:lnSpc>
            </a:pPr>
            <a:r>
              <a:rPr lang="en-US" altLang="zh-CN" dirty="0">
                <a:latin typeface="华文细黑" pitchFamily="2" charset="-122"/>
                <a:ea typeface="华文细黑" pitchFamily="2" charset="-122"/>
              </a:rPr>
              <a:t>c</a:t>
            </a:r>
            <a:r>
              <a:rPr lang="en-US" altLang="zh-CN" baseline="-25000" dirty="0">
                <a:latin typeface="华文细黑" pitchFamily="2" charset="-122"/>
                <a:ea typeface="华文细黑" pitchFamily="2" charset="-122"/>
              </a:rPr>
              <a:t>1</a:t>
            </a:r>
          </a:p>
          <a:p>
            <a:pPr algn="ctr">
              <a:lnSpc>
                <a:spcPts val="1200"/>
              </a:lnSpc>
            </a:pPr>
            <a:r>
              <a:rPr lang="en-US" altLang="zh-CN" baseline="-25000" dirty="0">
                <a:latin typeface="华文细黑" pitchFamily="2" charset="-122"/>
                <a:ea typeface="华文细黑" pitchFamily="2" charset="-122"/>
              </a:rPr>
              <a:t>6     3</a:t>
            </a:r>
            <a:endParaRPr lang="zh-CN" altLang="en-US" baseline="-25000" dirty="0">
              <a:latin typeface="华文细黑" pitchFamily="2" charset="-122"/>
              <a:ea typeface="华文细黑" pitchFamily="2" charset="-122"/>
            </a:endParaRPr>
          </a:p>
        </p:txBody>
      </p:sp>
      <p:sp>
        <p:nvSpPr>
          <p:cNvPr id="32" name="矩形 31"/>
          <p:cNvSpPr/>
          <p:nvPr/>
        </p:nvSpPr>
        <p:spPr>
          <a:xfrm>
            <a:off x="6084168" y="3933043"/>
            <a:ext cx="797472" cy="453600"/>
          </a:xfrm>
          <a:prstGeom prst="rect">
            <a:avLst/>
          </a:prstGeom>
          <a:solidFill>
            <a:schemeClr val="accent6">
              <a:lumMod val="20000"/>
              <a:lumOff val="80000"/>
            </a:schemeClr>
          </a:solidFill>
          <a:ln w="19050"/>
        </p:spPr>
        <p:style>
          <a:lnRef idx="2">
            <a:schemeClr val="accent6"/>
          </a:lnRef>
          <a:fillRef idx="1">
            <a:schemeClr val="lt1"/>
          </a:fillRef>
          <a:effectRef idx="0">
            <a:schemeClr val="accent6"/>
          </a:effectRef>
          <a:fontRef idx="minor">
            <a:schemeClr val="dk1"/>
          </a:fontRef>
        </p:style>
        <p:txBody>
          <a:bodyPr lIns="0" tIns="36000" rIns="0" bIns="36000" rtlCol="0" anchor="ctr"/>
          <a:lstStyle/>
          <a:p>
            <a:pPr algn="ctr">
              <a:lnSpc>
                <a:spcPts val="1200"/>
              </a:lnSpc>
            </a:pPr>
            <a:r>
              <a:rPr lang="en-US" altLang="zh-CN" dirty="0">
                <a:latin typeface="华文细黑" pitchFamily="2" charset="-122"/>
                <a:ea typeface="华文细黑" pitchFamily="2" charset="-122"/>
              </a:rPr>
              <a:t>c</a:t>
            </a:r>
            <a:r>
              <a:rPr lang="en-US" altLang="zh-CN" baseline="-25000" dirty="0">
                <a:latin typeface="华文细黑" pitchFamily="2" charset="-122"/>
                <a:ea typeface="华文细黑" pitchFamily="2" charset="-122"/>
              </a:rPr>
              <a:t>1</a:t>
            </a:r>
          </a:p>
          <a:p>
            <a:pPr algn="ctr">
              <a:lnSpc>
                <a:spcPts val="1200"/>
              </a:lnSpc>
            </a:pPr>
            <a:r>
              <a:rPr lang="en-US" altLang="zh-CN" baseline="-25000" dirty="0">
                <a:latin typeface="华文细黑" pitchFamily="2" charset="-122"/>
                <a:ea typeface="华文细黑" pitchFamily="2" charset="-122"/>
              </a:rPr>
              <a:t>3     2</a:t>
            </a:r>
            <a:endParaRPr lang="zh-CN" altLang="en-US" baseline="-25000" dirty="0">
              <a:latin typeface="华文细黑" pitchFamily="2" charset="-122"/>
              <a:ea typeface="华文细黑" pitchFamily="2" charset="-122"/>
            </a:endParaRPr>
          </a:p>
        </p:txBody>
      </p:sp>
      <p:sp>
        <p:nvSpPr>
          <p:cNvPr id="33" name="矩形 32"/>
          <p:cNvSpPr/>
          <p:nvPr/>
        </p:nvSpPr>
        <p:spPr>
          <a:xfrm>
            <a:off x="7300389" y="3933043"/>
            <a:ext cx="797472" cy="453600"/>
          </a:xfrm>
          <a:prstGeom prst="rect">
            <a:avLst/>
          </a:prstGeom>
          <a:solidFill>
            <a:schemeClr val="accent6">
              <a:lumMod val="20000"/>
              <a:lumOff val="80000"/>
            </a:schemeClr>
          </a:solidFill>
          <a:ln w="19050"/>
        </p:spPr>
        <p:style>
          <a:lnRef idx="2">
            <a:schemeClr val="accent6"/>
          </a:lnRef>
          <a:fillRef idx="1">
            <a:schemeClr val="lt1"/>
          </a:fillRef>
          <a:effectRef idx="0">
            <a:schemeClr val="accent6"/>
          </a:effectRef>
          <a:fontRef idx="minor">
            <a:schemeClr val="dk1"/>
          </a:fontRef>
        </p:style>
        <p:txBody>
          <a:bodyPr lIns="0" tIns="36000" rIns="0" bIns="36000" rtlCol="0" anchor="ctr"/>
          <a:lstStyle/>
          <a:p>
            <a:pPr algn="ctr">
              <a:lnSpc>
                <a:spcPts val="1200"/>
              </a:lnSpc>
            </a:pPr>
            <a:r>
              <a:rPr lang="en-US" altLang="zh-CN" dirty="0">
                <a:latin typeface="华文细黑" pitchFamily="2" charset="-122"/>
                <a:ea typeface="华文细黑" pitchFamily="2" charset="-122"/>
              </a:rPr>
              <a:t>c</a:t>
            </a:r>
            <a:r>
              <a:rPr lang="en-US" altLang="zh-CN" baseline="-25000" dirty="0">
                <a:latin typeface="华文细黑" pitchFamily="2" charset="-122"/>
                <a:ea typeface="华文细黑" pitchFamily="2" charset="-122"/>
              </a:rPr>
              <a:t>2</a:t>
            </a:r>
          </a:p>
          <a:p>
            <a:pPr algn="ctr">
              <a:lnSpc>
                <a:spcPts val="1200"/>
              </a:lnSpc>
            </a:pPr>
            <a:r>
              <a:rPr lang="en-US" altLang="zh-CN" baseline="-25000" dirty="0">
                <a:latin typeface="华文细黑" pitchFamily="2" charset="-122"/>
                <a:ea typeface="华文细黑" pitchFamily="2" charset="-122"/>
              </a:rPr>
              <a:t>0     2</a:t>
            </a:r>
            <a:endParaRPr lang="zh-CN" altLang="en-US" baseline="-25000" dirty="0">
              <a:latin typeface="华文细黑" pitchFamily="2" charset="-122"/>
              <a:ea typeface="华文细黑" pitchFamily="2" charset="-122"/>
            </a:endParaRPr>
          </a:p>
        </p:txBody>
      </p:sp>
      <p:cxnSp>
        <p:nvCxnSpPr>
          <p:cNvPr id="34" name="直接连接符 33"/>
          <p:cNvCxnSpPr>
            <a:stCxn id="29" idx="4"/>
            <a:endCxn id="30" idx="0"/>
          </p:cNvCxnSpPr>
          <p:nvPr/>
        </p:nvCxnSpPr>
        <p:spPr>
          <a:xfrm flipH="1">
            <a:off x="7130976" y="2705146"/>
            <a:ext cx="723360" cy="399818"/>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29" idx="4"/>
            <a:endCxn id="31" idx="0"/>
          </p:cNvCxnSpPr>
          <p:nvPr/>
        </p:nvCxnSpPr>
        <p:spPr>
          <a:xfrm>
            <a:off x="7854338" y="2705147"/>
            <a:ext cx="768417" cy="396421"/>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30" idx="4"/>
          </p:cNvCxnSpPr>
          <p:nvPr/>
        </p:nvCxnSpPr>
        <p:spPr>
          <a:xfrm flipH="1">
            <a:off x="6482904" y="3493765"/>
            <a:ext cx="648072" cy="439279"/>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30" idx="4"/>
          </p:cNvCxnSpPr>
          <p:nvPr/>
        </p:nvCxnSpPr>
        <p:spPr>
          <a:xfrm>
            <a:off x="7130978" y="3493765"/>
            <a:ext cx="568149" cy="439279"/>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38" name="矩形 37"/>
          <p:cNvSpPr/>
          <p:nvPr/>
        </p:nvSpPr>
        <p:spPr>
          <a:xfrm>
            <a:off x="7380312" y="5114038"/>
            <a:ext cx="797472" cy="453600"/>
          </a:xfrm>
          <a:prstGeom prst="rect">
            <a:avLst/>
          </a:prstGeom>
          <a:solidFill>
            <a:srgbClr val="FFFF00"/>
          </a:solidFill>
          <a:ln w="19050"/>
        </p:spPr>
        <p:style>
          <a:lnRef idx="2">
            <a:schemeClr val="accent6"/>
          </a:lnRef>
          <a:fillRef idx="1">
            <a:schemeClr val="lt1"/>
          </a:fillRef>
          <a:effectRef idx="0">
            <a:schemeClr val="accent6"/>
          </a:effectRef>
          <a:fontRef idx="minor">
            <a:schemeClr val="dk1"/>
          </a:fontRef>
        </p:style>
        <p:txBody>
          <a:bodyPr rtlCol="0" anchor="ctr"/>
          <a:lstStyle/>
          <a:p>
            <a:pPr algn="ctr">
              <a:lnSpc>
                <a:spcPts val="1200"/>
              </a:lnSpc>
            </a:pPr>
            <a:r>
              <a:rPr lang="en-US" altLang="zh-CN" dirty="0">
                <a:latin typeface="华文细黑" pitchFamily="2" charset="-122"/>
                <a:ea typeface="华文细黑" pitchFamily="2" charset="-122"/>
              </a:rPr>
              <a:t>c</a:t>
            </a:r>
            <a:r>
              <a:rPr lang="en-US" altLang="zh-CN" baseline="-25000" dirty="0">
                <a:latin typeface="华文细黑" pitchFamily="2" charset="-122"/>
                <a:ea typeface="华文细黑" pitchFamily="2" charset="-122"/>
              </a:rPr>
              <a:t>1</a:t>
            </a:r>
          </a:p>
          <a:p>
            <a:pPr algn="ctr">
              <a:lnSpc>
                <a:spcPts val="1200"/>
              </a:lnSpc>
            </a:pPr>
            <a:r>
              <a:rPr lang="en-US" altLang="zh-CN" baseline="-25000" dirty="0">
                <a:latin typeface="华文细黑" pitchFamily="2" charset="-122"/>
                <a:ea typeface="华文细黑" pitchFamily="2" charset="-122"/>
              </a:rPr>
              <a:t>9     7</a:t>
            </a:r>
            <a:endParaRPr lang="zh-CN" altLang="en-US" baseline="-25000" dirty="0">
              <a:latin typeface="华文细黑" pitchFamily="2" charset="-122"/>
              <a:ea typeface="华文细黑" pitchFamily="2" charset="-122"/>
            </a:endParaRPr>
          </a:p>
        </p:txBody>
      </p:sp>
      <p:sp>
        <p:nvSpPr>
          <p:cNvPr id="39" name="下箭头 38"/>
          <p:cNvSpPr/>
          <p:nvPr/>
        </p:nvSpPr>
        <p:spPr>
          <a:xfrm>
            <a:off x="7549725" y="4774558"/>
            <a:ext cx="398736" cy="224733"/>
          </a:xfrm>
          <a:prstGeom prst="down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3" name="页脚占位符 2">
            <a:extLst>
              <a:ext uri="{FF2B5EF4-FFF2-40B4-BE49-F238E27FC236}">
                <a16:creationId xmlns:a16="http://schemas.microsoft.com/office/drawing/2014/main" id="{8FF053A5-C851-4674-BCD4-E78D8472FC67}"/>
              </a:ext>
            </a:extLst>
          </p:cNvPr>
          <p:cNvSpPr>
            <a:spLocks noGrp="1"/>
          </p:cNvSpPr>
          <p:nvPr>
            <p:ph type="ftr" sz="quarter" idx="11"/>
          </p:nvPr>
        </p:nvSpPr>
        <p:spPr/>
        <p:txBody>
          <a:bodyPr/>
          <a:lstStyle/>
          <a:p>
            <a:endParaRPr lang="zh-CN" altLang="en-US"/>
          </a:p>
        </p:txBody>
      </p:sp>
      <p:sp>
        <p:nvSpPr>
          <p:cNvPr id="8" name="灯片编号占位符 7">
            <a:extLst>
              <a:ext uri="{FF2B5EF4-FFF2-40B4-BE49-F238E27FC236}">
                <a16:creationId xmlns:a16="http://schemas.microsoft.com/office/drawing/2014/main" id="{14E70543-C899-417A-8797-6CF1C5FB64A2}"/>
              </a:ext>
            </a:extLst>
          </p:cNvPr>
          <p:cNvSpPr>
            <a:spLocks noGrp="1"/>
          </p:cNvSpPr>
          <p:nvPr>
            <p:ph type="sldNum" sz="quarter" idx="12"/>
          </p:nvPr>
        </p:nvSpPr>
        <p:spPr/>
        <p:txBody>
          <a:bodyPr/>
          <a:lstStyle/>
          <a:p>
            <a:fld id="{5AD84F5B-1672-4D3F-9FEC-5DF89A7B7912}" type="slidenum">
              <a:rPr lang="zh-CN" altLang="en-US" smtClean="0"/>
              <a:t>75</a:t>
            </a:fld>
            <a:endParaRPr lang="zh-CN" altLang="en-US"/>
          </a:p>
        </p:txBody>
      </p:sp>
    </p:spTree>
    <p:extLst>
      <p:ext uri="{BB962C8B-B14F-4D97-AF65-F5344CB8AC3E}">
        <p14:creationId xmlns:p14="http://schemas.microsoft.com/office/powerpoint/2010/main" val="138770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latin typeface="Times New Roman" pitchFamily="18" charset="0"/>
                <a:cs typeface="Times New Roman" pitchFamily="18" charset="0"/>
              </a:rPr>
              <a:t>代价</a:t>
            </a:r>
            <a:r>
              <a:rPr lang="en-US" altLang="zh-CN" dirty="0">
                <a:latin typeface="Times New Roman" pitchFamily="18" charset="0"/>
                <a:cs typeface="Times New Roman" pitchFamily="18" charset="0"/>
              </a:rPr>
              <a:t>-</a:t>
            </a:r>
            <a:r>
              <a:rPr lang="zh-CN" altLang="zh-CN" dirty="0">
                <a:latin typeface="Times New Roman" pitchFamily="18" charset="0"/>
                <a:cs typeface="Times New Roman" pitchFamily="18" charset="0"/>
              </a:rPr>
              <a:t>复杂度剪枝</a:t>
            </a:r>
            <a:r>
              <a:rPr lang="en-US" altLang="zh-CN" dirty="0">
                <a:latin typeface="Times New Roman" pitchFamily="18" charset="0"/>
                <a:cs typeface="Times New Roman" pitchFamily="18" charset="0"/>
              </a:rPr>
              <a:t>CCP</a:t>
            </a:r>
          </a:p>
        </p:txBody>
      </p:sp>
      <p:sp>
        <p:nvSpPr>
          <p:cNvPr id="6" name="内容占位符 5"/>
          <p:cNvSpPr>
            <a:spLocks noGrp="1"/>
          </p:cNvSpPr>
          <p:nvPr>
            <p:ph idx="1"/>
          </p:nvPr>
        </p:nvSpPr>
        <p:spPr/>
        <p:txBody>
          <a:bodyPr>
            <a:normAutofit/>
          </a:bodyPr>
          <a:lstStyle/>
          <a:p>
            <a:r>
              <a:rPr lang="zh-CN" altLang="zh-CN" dirty="0">
                <a:latin typeface="Times New Roman" pitchFamily="18" charset="0"/>
                <a:cs typeface="Times New Roman" pitchFamily="18" charset="0"/>
              </a:rPr>
              <a:t>根据比较剪枝前后决策树的分类</a:t>
            </a:r>
            <a:r>
              <a:rPr lang="zh-CN" altLang="zh-CN" dirty="0">
                <a:solidFill>
                  <a:srgbClr val="C00000"/>
                </a:solidFill>
                <a:latin typeface="Times New Roman" pitchFamily="18" charset="0"/>
                <a:cs typeface="Times New Roman" pitchFamily="18" charset="0"/>
              </a:rPr>
              <a:t>准确度的变化</a:t>
            </a:r>
            <a:r>
              <a:rPr lang="zh-CN" altLang="zh-CN" dirty="0">
                <a:latin typeface="Times New Roman" pitchFamily="18" charset="0"/>
                <a:cs typeface="Times New Roman" pitchFamily="18" charset="0"/>
              </a:rPr>
              <a:t>情况来决定是否进行剪枝。</a:t>
            </a:r>
            <a:endParaRPr lang="en-US" altLang="zh-CN" dirty="0">
              <a:latin typeface="Times New Roman" pitchFamily="18" charset="0"/>
              <a:cs typeface="Times New Roman" pitchFamily="18" charset="0"/>
            </a:endParaRPr>
          </a:p>
          <a:p>
            <a:r>
              <a:rPr lang="zh-CN" altLang="zh-CN" dirty="0">
                <a:latin typeface="Times New Roman" pitchFamily="18" charset="0"/>
                <a:cs typeface="Times New Roman" pitchFamily="18" charset="0"/>
              </a:rPr>
              <a:t>定义了一个判定指标</a:t>
            </a:r>
            <a:r>
              <a:rPr lang="en-US" altLang="zh-CN" i="1" dirty="0">
                <a:latin typeface="Times New Roman" pitchFamily="18" charset="0"/>
                <a:cs typeface="Times New Roman" pitchFamily="18" charset="0"/>
              </a:rPr>
              <a:t>α</a:t>
            </a:r>
            <a:r>
              <a:rPr lang="zh-CN" altLang="zh-CN" dirty="0">
                <a:latin typeface="Times New Roman" pitchFamily="18" charset="0"/>
                <a:cs typeface="Times New Roman" pitchFamily="18" charset="0"/>
              </a:rPr>
              <a:t>，为在剪枝过程中因子树</a:t>
            </a:r>
            <a:r>
              <a:rPr lang="en-US" altLang="zh-CN" dirty="0">
                <a:latin typeface="Times New Roman" pitchFamily="18" charset="0"/>
                <a:cs typeface="Times New Roman" pitchFamily="18" charset="0"/>
              </a:rPr>
              <a:t> </a:t>
            </a:r>
            <a:r>
              <a:rPr lang="en-US" altLang="zh-CN" i="1" dirty="0" err="1">
                <a:latin typeface="Times New Roman" pitchFamily="18" charset="0"/>
                <a:cs typeface="Times New Roman" pitchFamily="18" charset="0"/>
              </a:rPr>
              <a:t>T</a:t>
            </a:r>
            <a:r>
              <a:rPr lang="en-US" altLang="zh-CN" baseline="-25000" dirty="0" err="1">
                <a:latin typeface="Times New Roman" pitchFamily="18" charset="0"/>
                <a:cs typeface="Times New Roman" pitchFamily="18" charset="0"/>
              </a:rPr>
              <a:t>t</a:t>
            </a:r>
            <a:r>
              <a:rPr lang="en-US" altLang="zh-CN" baseline="-25000" dirty="0">
                <a:latin typeface="Times New Roman" pitchFamily="18" charset="0"/>
                <a:cs typeface="Times New Roman" pitchFamily="18" charset="0"/>
              </a:rPr>
              <a:t> </a:t>
            </a:r>
            <a:r>
              <a:rPr lang="zh-CN" altLang="zh-CN" dirty="0">
                <a:latin typeface="Times New Roman" pitchFamily="18" charset="0"/>
                <a:cs typeface="Times New Roman" pitchFamily="18" charset="0"/>
              </a:rPr>
              <a:t>被叶结点</a:t>
            </a:r>
            <a:r>
              <a:rPr lang="en-US" altLang="zh-CN" dirty="0">
                <a:latin typeface="Times New Roman" pitchFamily="18" charset="0"/>
                <a:cs typeface="Times New Roman" pitchFamily="18" charset="0"/>
              </a:rPr>
              <a:t> </a:t>
            </a:r>
            <a:r>
              <a:rPr lang="en-US" altLang="zh-CN" i="1" dirty="0">
                <a:latin typeface="Times New Roman" pitchFamily="18" charset="0"/>
                <a:cs typeface="Times New Roman" pitchFamily="18" charset="0"/>
              </a:rPr>
              <a:t>t </a:t>
            </a:r>
            <a:r>
              <a:rPr lang="zh-CN" altLang="zh-CN" dirty="0">
                <a:latin typeface="Times New Roman" pitchFamily="18" charset="0"/>
                <a:cs typeface="Times New Roman" pitchFamily="18" charset="0"/>
              </a:rPr>
              <a:t>替代而增加的错分样本发生率（代价</a:t>
            </a:r>
            <a:r>
              <a:rPr lang="en-US" altLang="zh-CN" dirty="0">
                <a:latin typeface="Times New Roman" pitchFamily="18" charset="0"/>
                <a:cs typeface="Times New Roman" pitchFamily="18" charset="0"/>
              </a:rPr>
              <a:t>cost</a:t>
            </a:r>
            <a:r>
              <a:rPr lang="zh-CN" altLang="zh-CN" dirty="0">
                <a:latin typeface="Times New Roman" pitchFamily="18" charset="0"/>
                <a:cs typeface="Times New Roman" pitchFamily="18" charset="0"/>
              </a:rPr>
              <a:t>），与决策树被简化程度（复杂度</a:t>
            </a:r>
            <a:r>
              <a:rPr lang="en-US" altLang="zh-CN" dirty="0">
                <a:latin typeface="Times New Roman" pitchFamily="18" charset="0"/>
                <a:cs typeface="Times New Roman" pitchFamily="18" charset="0"/>
              </a:rPr>
              <a:t>complexity</a:t>
            </a:r>
            <a:r>
              <a:rPr lang="zh-CN" altLang="zh-CN" dirty="0">
                <a:latin typeface="Times New Roman" pitchFamily="18" charset="0"/>
                <a:cs typeface="Times New Roman" pitchFamily="18" charset="0"/>
              </a:rPr>
              <a:t>）的比值。即：</a:t>
            </a:r>
          </a:p>
          <a:p>
            <a:pPr lvl="1"/>
            <a:endParaRPr lang="zh-CN" altLang="zh-CN" dirty="0">
              <a:latin typeface="Times New Roman" pitchFamily="18" charset="0"/>
              <a:cs typeface="Times New Roman" pitchFamily="18" charset="0"/>
            </a:endParaRPr>
          </a:p>
          <a:p>
            <a:pPr lvl="1"/>
            <a:endParaRPr lang="zh-CN" altLang="en-US" dirty="0">
              <a:latin typeface="Times New Roman" pitchFamily="18" charset="0"/>
              <a:cs typeface="Times New Roman" pitchFamily="18" charset="0"/>
            </a:endParaRPr>
          </a:p>
        </p:txBody>
      </p:sp>
      <p:sp>
        <p:nvSpPr>
          <p:cNvPr id="3" name="Rectangle 2"/>
          <p:cNvSpPr>
            <a:spLocks noChangeArrowheads="1"/>
          </p:cNvSpPr>
          <p:nvPr/>
        </p:nvSpPr>
        <p:spPr bwMode="auto">
          <a:xfrm>
            <a:off x="1" y="672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 name="对象 3"/>
          <p:cNvGraphicFramePr>
            <a:graphicFrameLocks noChangeAspect="1"/>
          </p:cNvGraphicFramePr>
          <p:nvPr/>
        </p:nvGraphicFramePr>
        <p:xfrm>
          <a:off x="2676526" y="4140201"/>
          <a:ext cx="2041525" cy="760413"/>
        </p:xfrm>
        <a:graphic>
          <a:graphicData uri="http://schemas.openxmlformats.org/presentationml/2006/ole">
            <mc:AlternateContent xmlns:mc="http://schemas.openxmlformats.org/markup-compatibility/2006">
              <mc:Choice xmlns:v="urn:schemas-microsoft-com:vml" Requires="v">
                <p:oleObj spid="_x0000_s12328" name="公式" r:id="rId3" imgW="1104840" imgH="457200" progId="Equation.3">
                  <p:embed/>
                </p:oleObj>
              </mc:Choice>
              <mc:Fallback>
                <p:oleObj name="公式" r:id="rId3" imgW="1104840" imgH="457200" progId="Equation.3">
                  <p:embed/>
                  <p:pic>
                    <p:nvPicPr>
                      <p:cNvPr id="4" name="对象 3"/>
                      <p:cNvPicPr>
                        <a:picLocks noChangeAspect="1" noChangeArrowheads="1"/>
                      </p:cNvPicPr>
                      <p:nvPr/>
                    </p:nvPicPr>
                    <p:blipFill>
                      <a:blip r:embed="rId4"/>
                      <a:srcRect/>
                      <a:stretch>
                        <a:fillRect/>
                      </a:stretch>
                    </p:blipFill>
                    <p:spPr bwMode="auto">
                      <a:xfrm>
                        <a:off x="2676526" y="4140201"/>
                        <a:ext cx="2041525" cy="760413"/>
                      </a:xfrm>
                      <a:prstGeom prst="rect">
                        <a:avLst/>
                      </a:prstGeom>
                      <a:noFill/>
                    </p:spPr>
                  </p:pic>
                </p:oleObj>
              </mc:Fallback>
            </mc:AlternateContent>
          </a:graphicData>
        </a:graphic>
      </p:graphicFrame>
      <p:sp>
        <p:nvSpPr>
          <p:cNvPr id="5" name="Rectangle 4"/>
          <p:cNvSpPr>
            <a:spLocks noChangeArrowheads="1"/>
          </p:cNvSpPr>
          <p:nvPr/>
        </p:nvSpPr>
        <p:spPr bwMode="auto">
          <a:xfrm>
            <a:off x="1" y="672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5"/>
          <p:cNvSpPr>
            <a:spLocks noChangeArrowheads="1"/>
          </p:cNvSpPr>
          <p:nvPr/>
        </p:nvSpPr>
        <p:spPr bwMode="auto">
          <a:xfrm>
            <a:off x="4932040" y="4109548"/>
            <a:ext cx="3564044" cy="852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fontAlgn="base">
              <a:lnSpc>
                <a:spcPct val="130000"/>
              </a:lnSpc>
              <a:spcBef>
                <a:spcPct val="0"/>
              </a:spcBef>
              <a:spcAft>
                <a:spcPct val="0"/>
              </a:spcAft>
            </a:pPr>
            <a:r>
              <a:rPr lang="en-US" altLang="zh-CN" sz="2000" i="1" dirty="0" err="1">
                <a:latin typeface="Times New Roman" pitchFamily="18" charset="0"/>
                <a:ea typeface="华文细黑" pitchFamily="2" charset="-122"/>
                <a:cs typeface="Times New Roman" pitchFamily="18" charset="0"/>
              </a:rPr>
              <a:t>N</a:t>
            </a:r>
            <a:r>
              <a:rPr lang="en-US" altLang="zh-CN" sz="2000" baseline="-25000" dirty="0" err="1">
                <a:latin typeface="Times New Roman" pitchFamily="18" charset="0"/>
                <a:ea typeface="华文细黑" pitchFamily="2" charset="-122"/>
                <a:cs typeface="Times New Roman" pitchFamily="18" charset="0"/>
              </a:rPr>
              <a:t>Tt</a:t>
            </a:r>
            <a:r>
              <a:rPr lang="en-US" altLang="zh-CN" sz="2000" dirty="0">
                <a:latin typeface="Times New Roman" pitchFamily="18" charset="0"/>
                <a:ea typeface="华文细黑" pitchFamily="2" charset="-122"/>
                <a:cs typeface="Times New Roman" pitchFamily="18" charset="0"/>
              </a:rPr>
              <a:t> </a:t>
            </a:r>
            <a:r>
              <a:rPr lang="zh-CN" altLang="en-US" sz="2000" dirty="0">
                <a:latin typeface="Times New Roman" pitchFamily="18" charset="0"/>
                <a:ea typeface="华文细黑" pitchFamily="2" charset="-122"/>
                <a:cs typeface="Times New Roman" pitchFamily="18" charset="0"/>
              </a:rPr>
              <a:t>为子树 </a:t>
            </a:r>
            <a:r>
              <a:rPr lang="en-US" altLang="zh-CN" sz="2000" i="1" dirty="0" err="1">
                <a:latin typeface="Times New Roman" pitchFamily="18" charset="0"/>
                <a:ea typeface="华文细黑" pitchFamily="2" charset="-122"/>
                <a:cs typeface="Times New Roman" pitchFamily="18" charset="0"/>
              </a:rPr>
              <a:t>T</a:t>
            </a:r>
            <a:r>
              <a:rPr lang="en-US" altLang="zh-CN" sz="2000" baseline="-30000" dirty="0" err="1">
                <a:latin typeface="Times New Roman" pitchFamily="18" charset="0"/>
                <a:ea typeface="华文细黑" pitchFamily="2" charset="-122"/>
                <a:cs typeface="Times New Roman" pitchFamily="18" charset="0"/>
              </a:rPr>
              <a:t>t</a:t>
            </a:r>
            <a:r>
              <a:rPr lang="en-US" altLang="zh-CN" sz="2000" baseline="-30000" dirty="0">
                <a:latin typeface="Times New Roman" pitchFamily="18" charset="0"/>
                <a:ea typeface="华文细黑" pitchFamily="2" charset="-122"/>
                <a:cs typeface="Times New Roman" pitchFamily="18" charset="0"/>
              </a:rPr>
              <a:t> </a:t>
            </a:r>
            <a:r>
              <a:rPr lang="zh-CN" altLang="en-US" sz="2000" dirty="0">
                <a:latin typeface="Times New Roman" pitchFamily="18" charset="0"/>
                <a:ea typeface="华文细黑" pitchFamily="2" charset="-122"/>
                <a:cs typeface="Times New Roman" pitchFamily="18" charset="0"/>
              </a:rPr>
              <a:t>中的叶结点数</a:t>
            </a:r>
            <a:endParaRPr lang="en-US" altLang="zh-CN" sz="2000" dirty="0">
              <a:latin typeface="Times New Roman" pitchFamily="18" charset="0"/>
              <a:ea typeface="华文细黑" pitchFamily="2" charset="-122"/>
              <a:cs typeface="Times New Roman" pitchFamily="18" charset="0"/>
            </a:endParaRPr>
          </a:p>
          <a:p>
            <a:pPr fontAlgn="base">
              <a:lnSpc>
                <a:spcPct val="130000"/>
              </a:lnSpc>
              <a:spcBef>
                <a:spcPct val="0"/>
              </a:spcBef>
              <a:spcAft>
                <a:spcPct val="0"/>
              </a:spcAft>
            </a:pPr>
            <a:r>
              <a:rPr lang="en-US" altLang="zh-CN" sz="2000" dirty="0">
                <a:latin typeface="Times New Roman" pitchFamily="18" charset="0"/>
                <a:ea typeface="华文细黑" pitchFamily="2" charset="-122"/>
                <a:cs typeface="Times New Roman" pitchFamily="18" charset="0"/>
              </a:rPr>
              <a:t>1</a:t>
            </a:r>
            <a:r>
              <a:rPr lang="zh-CN" altLang="en-US" sz="2000" dirty="0">
                <a:latin typeface="Times New Roman" pitchFamily="18" charset="0"/>
                <a:ea typeface="华文细黑" pitchFamily="2" charset="-122"/>
                <a:cs typeface="Times New Roman" pitchFamily="18" charset="0"/>
              </a:rPr>
              <a:t>为叶结点 </a:t>
            </a:r>
            <a:r>
              <a:rPr lang="en-US" altLang="zh-CN" sz="2000" i="1" dirty="0">
                <a:latin typeface="Times New Roman" pitchFamily="18" charset="0"/>
                <a:ea typeface="华文细黑" pitchFamily="2" charset="-122"/>
                <a:cs typeface="Times New Roman" pitchFamily="18" charset="0"/>
              </a:rPr>
              <a:t>t </a:t>
            </a:r>
            <a:r>
              <a:rPr lang="zh-CN" altLang="en-US" sz="2000" dirty="0">
                <a:latin typeface="Times New Roman" pitchFamily="18" charset="0"/>
                <a:ea typeface="华文细黑" pitchFamily="2" charset="-122"/>
                <a:cs typeface="Times New Roman" pitchFamily="18" charset="0"/>
              </a:rPr>
              <a:t>的叶节点数</a:t>
            </a:r>
          </a:p>
        </p:txBody>
      </p:sp>
      <p:sp>
        <p:nvSpPr>
          <p:cNvPr id="9" name="Rectangle 5"/>
          <p:cNvSpPr>
            <a:spLocks noChangeArrowheads="1"/>
          </p:cNvSpPr>
          <p:nvPr/>
        </p:nvSpPr>
        <p:spPr bwMode="auto">
          <a:xfrm rot="21298002">
            <a:off x="3392546" y="5191078"/>
            <a:ext cx="5256584" cy="798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lnSpc>
                <a:spcPct val="120000"/>
              </a:lnSpc>
              <a:spcBef>
                <a:spcPct val="0"/>
              </a:spcBef>
              <a:spcAft>
                <a:spcPct val="0"/>
              </a:spcAft>
            </a:pPr>
            <a:r>
              <a:rPr lang="en-US" altLang="zh-CN" sz="2000" i="1" dirty="0">
                <a:solidFill>
                  <a:srgbClr val="C00000"/>
                </a:solidFill>
                <a:latin typeface="Times New Roman" pitchFamily="18" charset="0"/>
                <a:ea typeface="华文细黑" pitchFamily="2" charset="-122"/>
                <a:cs typeface="Times New Roman" pitchFamily="18" charset="0"/>
              </a:rPr>
              <a:t>α</a:t>
            </a:r>
            <a:r>
              <a:rPr lang="zh-CN" altLang="en-US" sz="2000" dirty="0">
                <a:solidFill>
                  <a:srgbClr val="C00000"/>
                </a:solidFill>
                <a:latin typeface="Times New Roman" pitchFamily="18" charset="0"/>
                <a:ea typeface="华文细黑" pitchFamily="2" charset="-122"/>
                <a:cs typeface="Times New Roman" pitchFamily="18" charset="0"/>
              </a:rPr>
              <a:t>值衡量了因剪枝所引起的错误率的升高与决策树复杂度降低之间的对比关系。 </a:t>
            </a:r>
          </a:p>
        </p:txBody>
      </p:sp>
      <p:sp>
        <p:nvSpPr>
          <p:cNvPr id="10" name="线形标注 2 9"/>
          <p:cNvSpPr/>
          <p:nvPr/>
        </p:nvSpPr>
        <p:spPr>
          <a:xfrm>
            <a:off x="179512" y="5064516"/>
            <a:ext cx="2844000" cy="864000"/>
          </a:xfrm>
          <a:prstGeom prst="borderCallout2">
            <a:avLst>
              <a:gd name="adj1" fmla="val 22576"/>
              <a:gd name="adj2" fmla="val 100769"/>
              <a:gd name="adj3" fmla="val 22352"/>
              <a:gd name="adj4" fmla="val 108836"/>
              <a:gd name="adj5" fmla="val -38024"/>
              <a:gd name="adj6" fmla="val 121783"/>
            </a:avLst>
          </a:prstGeom>
          <a:ln w="19050">
            <a:solidFill>
              <a:srgbClr val="FF0000"/>
            </a:solidFill>
            <a:headEnd type="none" w="med" len="med"/>
            <a:tailEnd type="triangle" w="med" len="med"/>
          </a:ln>
        </p:spPr>
        <p:style>
          <a:lnRef idx="2">
            <a:schemeClr val="accent3"/>
          </a:lnRef>
          <a:fillRef idx="1">
            <a:schemeClr val="lt1"/>
          </a:fillRef>
          <a:effectRef idx="0">
            <a:schemeClr val="accent3"/>
          </a:effectRef>
          <a:fontRef idx="minor">
            <a:schemeClr val="dk1"/>
          </a:fontRef>
        </p:style>
        <p:txBody>
          <a:bodyPr lIns="36000" tIns="36000" rIns="36000" bIns="36000" rtlCol="0" anchor="ctr"/>
          <a:lstStyle/>
          <a:p>
            <a:r>
              <a:rPr lang="zh-CN" altLang="en-US" dirty="0">
                <a:latin typeface="Times New Roman" pitchFamily="18" charset="0"/>
                <a:ea typeface="华文细黑" pitchFamily="2" charset="-122"/>
                <a:cs typeface="Times New Roman" pitchFamily="18" charset="0"/>
              </a:rPr>
              <a:t>分母：剪枝前后子树 </a:t>
            </a:r>
            <a:r>
              <a:rPr lang="en-US" altLang="zh-CN" dirty="0" err="1">
                <a:latin typeface="Times New Roman" pitchFamily="18" charset="0"/>
                <a:ea typeface="华文细黑" pitchFamily="2" charset="-122"/>
                <a:cs typeface="Times New Roman" pitchFamily="18" charset="0"/>
              </a:rPr>
              <a:t>Tt</a:t>
            </a:r>
            <a:r>
              <a:rPr lang="en-US" altLang="zh-CN" dirty="0">
                <a:latin typeface="Times New Roman" pitchFamily="18" charset="0"/>
                <a:ea typeface="华文细黑" pitchFamily="2" charset="-122"/>
                <a:cs typeface="Times New Roman" pitchFamily="18" charset="0"/>
              </a:rPr>
              <a:t> </a:t>
            </a:r>
            <a:r>
              <a:rPr lang="zh-CN" altLang="en-US" dirty="0">
                <a:latin typeface="Times New Roman" pitchFamily="18" charset="0"/>
                <a:ea typeface="华文细黑" pitchFamily="2" charset="-122"/>
                <a:cs typeface="Times New Roman" pitchFamily="18" charset="0"/>
              </a:rPr>
              <a:t>减少的叶节点数，即决策树复杂度下降的程度</a:t>
            </a:r>
          </a:p>
        </p:txBody>
      </p:sp>
      <p:sp>
        <p:nvSpPr>
          <p:cNvPr id="11" name="线形标注 2 10"/>
          <p:cNvSpPr/>
          <p:nvPr/>
        </p:nvSpPr>
        <p:spPr>
          <a:xfrm>
            <a:off x="179512" y="4128412"/>
            <a:ext cx="2376000" cy="900000"/>
          </a:xfrm>
          <a:prstGeom prst="borderCallout2">
            <a:avLst>
              <a:gd name="adj1" fmla="val 10857"/>
              <a:gd name="adj2" fmla="val 100168"/>
              <a:gd name="adj3" fmla="val 11219"/>
              <a:gd name="adj4" fmla="val 109036"/>
              <a:gd name="adj5" fmla="val 21745"/>
              <a:gd name="adj6" fmla="val 126992"/>
            </a:avLst>
          </a:prstGeom>
          <a:ln w="19050">
            <a:solidFill>
              <a:srgbClr val="FF0000"/>
            </a:solidFill>
            <a:headEnd type="none" w="med" len="med"/>
            <a:tailEnd type="triangle" w="med" len="med"/>
          </a:ln>
        </p:spPr>
        <p:style>
          <a:lnRef idx="2">
            <a:schemeClr val="accent3"/>
          </a:lnRef>
          <a:fillRef idx="1">
            <a:schemeClr val="lt1"/>
          </a:fillRef>
          <a:effectRef idx="0">
            <a:schemeClr val="accent3"/>
          </a:effectRef>
          <a:fontRef idx="minor">
            <a:schemeClr val="dk1"/>
          </a:fontRef>
        </p:style>
        <p:txBody>
          <a:bodyPr lIns="36000" tIns="36000" rIns="36000" bIns="36000" rtlCol="0" anchor="ctr"/>
          <a:lstStyle/>
          <a:p>
            <a:r>
              <a:rPr lang="zh-CN" altLang="en-US" dirty="0">
                <a:latin typeface="Times New Roman" pitchFamily="18" charset="0"/>
                <a:ea typeface="华文细黑" pitchFamily="2" charset="-122"/>
                <a:cs typeface="Times New Roman" pitchFamily="18" charset="0"/>
              </a:rPr>
              <a:t>分子：剪枝前后错误发生率的增加量，即剪枝前后错误发生率之差</a:t>
            </a:r>
          </a:p>
        </p:txBody>
      </p:sp>
      <p:sp>
        <p:nvSpPr>
          <p:cNvPr id="12" name="页脚占位符 11">
            <a:extLst>
              <a:ext uri="{FF2B5EF4-FFF2-40B4-BE49-F238E27FC236}">
                <a16:creationId xmlns:a16="http://schemas.microsoft.com/office/drawing/2014/main" id="{AE617436-08BC-4A25-A899-565128D95C03}"/>
              </a:ext>
            </a:extLst>
          </p:cNvPr>
          <p:cNvSpPr>
            <a:spLocks noGrp="1"/>
          </p:cNvSpPr>
          <p:nvPr>
            <p:ph type="ftr" sz="quarter" idx="11"/>
          </p:nvPr>
        </p:nvSpPr>
        <p:spPr/>
        <p:txBody>
          <a:bodyPr/>
          <a:lstStyle/>
          <a:p>
            <a:endParaRPr lang="zh-CN" altLang="en-US"/>
          </a:p>
        </p:txBody>
      </p:sp>
      <p:sp>
        <p:nvSpPr>
          <p:cNvPr id="13" name="灯片编号占位符 12">
            <a:extLst>
              <a:ext uri="{FF2B5EF4-FFF2-40B4-BE49-F238E27FC236}">
                <a16:creationId xmlns:a16="http://schemas.microsoft.com/office/drawing/2014/main" id="{0E656309-37EA-4051-84B8-18EAE5E4F46A}"/>
              </a:ext>
            </a:extLst>
          </p:cNvPr>
          <p:cNvSpPr>
            <a:spLocks noGrp="1"/>
          </p:cNvSpPr>
          <p:nvPr>
            <p:ph type="sldNum" sz="quarter" idx="12"/>
          </p:nvPr>
        </p:nvSpPr>
        <p:spPr/>
        <p:txBody>
          <a:bodyPr/>
          <a:lstStyle/>
          <a:p>
            <a:fld id="{5AD84F5B-1672-4D3F-9FEC-5DF89A7B7912}" type="slidenum">
              <a:rPr lang="zh-CN" altLang="en-US" smtClean="0"/>
              <a:t>76</a:t>
            </a:fld>
            <a:endParaRPr lang="zh-CN" altLang="en-US"/>
          </a:p>
        </p:txBody>
      </p:sp>
    </p:spTree>
    <p:extLst>
      <p:ext uri="{BB962C8B-B14F-4D97-AF65-F5344CB8AC3E}">
        <p14:creationId xmlns:p14="http://schemas.microsoft.com/office/powerpoint/2010/main" val="336395123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latin typeface="Times New Roman" pitchFamily="18" charset="0"/>
                <a:cs typeface="Times New Roman" pitchFamily="18" charset="0"/>
              </a:rPr>
              <a:t>最小错误剪枝</a:t>
            </a:r>
            <a:r>
              <a:rPr lang="en-US" altLang="zh-CN" dirty="0">
                <a:latin typeface="Times New Roman" pitchFamily="18" charset="0"/>
                <a:cs typeface="Times New Roman" pitchFamily="18" charset="0"/>
              </a:rPr>
              <a:t>MEP</a:t>
            </a:r>
          </a:p>
        </p:txBody>
      </p:sp>
      <p:sp>
        <p:nvSpPr>
          <p:cNvPr id="6" name="内容占位符 5"/>
          <p:cNvSpPr>
            <a:spLocks noGrp="1"/>
          </p:cNvSpPr>
          <p:nvPr>
            <p:ph idx="1"/>
          </p:nvPr>
        </p:nvSpPr>
        <p:spPr/>
        <p:txBody>
          <a:bodyPr>
            <a:normAutofit/>
          </a:bodyPr>
          <a:lstStyle/>
          <a:p>
            <a:r>
              <a:rPr lang="zh-CN" altLang="en-US" dirty="0">
                <a:latin typeface="Times New Roman" pitchFamily="18" charset="0"/>
                <a:cs typeface="Times New Roman" pitchFamily="18" charset="0"/>
              </a:rPr>
              <a:t>基本思想</a:t>
            </a:r>
            <a:endParaRPr lang="en-US" altLang="zh-CN" dirty="0">
              <a:latin typeface="Times New Roman" pitchFamily="18" charset="0"/>
              <a:cs typeface="Times New Roman" pitchFamily="18" charset="0"/>
            </a:endParaRPr>
          </a:p>
          <a:p>
            <a:pPr lvl="1"/>
            <a:r>
              <a:rPr lang="zh-CN" altLang="en-US" sz="2200" dirty="0">
                <a:latin typeface="Times New Roman" pitchFamily="18" charset="0"/>
                <a:cs typeface="Times New Roman" pitchFamily="18" charset="0"/>
              </a:rPr>
              <a:t>对于决策树中的非叶结点</a:t>
            </a:r>
            <a:r>
              <a:rPr lang="en-US" altLang="zh-CN" sz="2200" i="1" dirty="0">
                <a:latin typeface="Times New Roman" pitchFamily="18" charset="0"/>
                <a:cs typeface="Times New Roman" pitchFamily="18" charset="0"/>
              </a:rPr>
              <a:t>t</a:t>
            </a:r>
            <a:r>
              <a:rPr lang="zh-CN" altLang="en-US" sz="2200" dirty="0">
                <a:latin typeface="Times New Roman" pitchFamily="18" charset="0"/>
                <a:cs typeface="Times New Roman" pitchFamily="18" charset="0"/>
              </a:rPr>
              <a:t>，计算其分类误差估计，称之为静态误差</a:t>
            </a:r>
            <a:r>
              <a:rPr lang="en-US" altLang="zh-CN" sz="2200" dirty="0">
                <a:latin typeface="Times New Roman" pitchFamily="18" charset="0"/>
                <a:cs typeface="Times New Roman" pitchFamily="18" charset="0"/>
              </a:rPr>
              <a:t>STE(</a:t>
            </a:r>
            <a:r>
              <a:rPr lang="en-US" altLang="zh-CN" sz="2200" i="1" dirty="0">
                <a:latin typeface="Times New Roman" pitchFamily="18" charset="0"/>
                <a:cs typeface="Times New Roman" pitchFamily="18" charset="0"/>
              </a:rPr>
              <a:t>t</a:t>
            </a:r>
            <a:r>
              <a:rPr lang="en-US" altLang="zh-CN" sz="2200" dirty="0">
                <a:latin typeface="Times New Roman" pitchFamily="18" charset="0"/>
                <a:cs typeface="Times New Roman" pitchFamily="18" charset="0"/>
              </a:rPr>
              <a:t>)</a:t>
            </a:r>
          </a:p>
          <a:p>
            <a:pPr lvl="1"/>
            <a:r>
              <a:rPr lang="zh-CN" altLang="en-US" sz="2200" dirty="0">
                <a:latin typeface="Times New Roman" pitchFamily="18" charset="0"/>
                <a:cs typeface="Times New Roman" pitchFamily="18" charset="0"/>
              </a:rPr>
              <a:t>再对以 </a:t>
            </a:r>
            <a:r>
              <a:rPr lang="en-US" altLang="zh-CN" sz="2200" i="1" dirty="0">
                <a:latin typeface="Times New Roman" pitchFamily="18" charset="0"/>
                <a:cs typeface="Times New Roman" pitchFamily="18" charset="0"/>
              </a:rPr>
              <a:t>t </a:t>
            </a:r>
            <a:r>
              <a:rPr lang="zh-CN" altLang="en-US" sz="2200" dirty="0">
                <a:latin typeface="Times New Roman" pitchFamily="18" charset="0"/>
                <a:cs typeface="Times New Roman" pitchFamily="18" charset="0"/>
              </a:rPr>
              <a:t>为根节点的子树的每一个叶结点 </a:t>
            </a:r>
            <a:r>
              <a:rPr lang="en-US" altLang="zh-CN" sz="2200" dirty="0">
                <a:latin typeface="Times New Roman" pitchFamily="18" charset="0"/>
                <a:cs typeface="Times New Roman" pitchFamily="18" charset="0"/>
              </a:rPr>
              <a:t>{</a:t>
            </a:r>
            <a:r>
              <a:rPr lang="en-US" altLang="zh-CN" sz="2200" i="1" dirty="0" err="1">
                <a:latin typeface="Times New Roman" pitchFamily="18" charset="0"/>
                <a:cs typeface="Times New Roman" pitchFamily="18" charset="0"/>
              </a:rPr>
              <a:t>t</a:t>
            </a:r>
            <a:r>
              <a:rPr lang="en-US" altLang="zh-CN" sz="2200" baseline="-25000" dirty="0" err="1">
                <a:latin typeface="Times New Roman" pitchFamily="18" charset="0"/>
                <a:cs typeface="Times New Roman" pitchFamily="18" charset="0"/>
              </a:rPr>
              <a:t>i</a:t>
            </a:r>
            <a:r>
              <a:rPr lang="zh-CN" altLang="en-US" sz="2200" dirty="0">
                <a:latin typeface="Times New Roman" pitchFamily="18" charset="0"/>
                <a:cs typeface="Times New Roman" pitchFamily="18" charset="0"/>
              </a:rPr>
              <a:t>，</a:t>
            </a:r>
            <a:r>
              <a:rPr lang="en-US" altLang="zh-CN" sz="2200" i="1" dirty="0">
                <a:latin typeface="Times New Roman" pitchFamily="18" charset="0"/>
                <a:cs typeface="Times New Roman" pitchFamily="18" charset="0"/>
              </a:rPr>
              <a:t>i</a:t>
            </a:r>
            <a:r>
              <a:rPr lang="en-US" altLang="zh-CN" sz="2200" dirty="0">
                <a:latin typeface="Times New Roman" pitchFamily="18" charset="0"/>
                <a:cs typeface="Times New Roman" pitchFamily="18" charset="0"/>
              </a:rPr>
              <a:t>=1</a:t>
            </a:r>
            <a:r>
              <a:rPr lang="zh-CN" altLang="en-US" sz="2200" dirty="0">
                <a:latin typeface="Times New Roman" pitchFamily="18" charset="0"/>
                <a:cs typeface="Times New Roman" pitchFamily="18" charset="0"/>
              </a:rPr>
              <a:t>，</a:t>
            </a:r>
            <a:r>
              <a:rPr lang="en-US" altLang="zh-CN" sz="2200" dirty="0">
                <a:latin typeface="Times New Roman" pitchFamily="18" charset="0"/>
                <a:cs typeface="Times New Roman" pitchFamily="18" charset="0"/>
              </a:rPr>
              <a:t>2</a:t>
            </a:r>
            <a:r>
              <a:rPr lang="zh-CN" altLang="en-US" sz="2200" dirty="0">
                <a:latin typeface="Times New Roman" pitchFamily="18" charset="0"/>
                <a:cs typeface="Times New Roman" pitchFamily="18" charset="0"/>
              </a:rPr>
              <a:t>，</a:t>
            </a:r>
            <a:r>
              <a:rPr lang="en-US" altLang="zh-CN" sz="2200" dirty="0">
                <a:latin typeface="Times New Roman" pitchFamily="18" charset="0"/>
                <a:cs typeface="Times New Roman" pitchFamily="18" charset="0"/>
              </a:rPr>
              <a:t>…</a:t>
            </a:r>
            <a:r>
              <a:rPr lang="zh-CN" altLang="en-US" sz="2200" dirty="0">
                <a:latin typeface="Times New Roman" pitchFamily="18" charset="0"/>
                <a:cs typeface="Times New Roman" pitchFamily="18" charset="0"/>
              </a:rPr>
              <a:t>，</a:t>
            </a:r>
            <a:r>
              <a:rPr lang="en-US" altLang="zh-CN" sz="2200" i="1" dirty="0">
                <a:latin typeface="Times New Roman" pitchFamily="18" charset="0"/>
                <a:cs typeface="Times New Roman" pitchFamily="18" charset="0"/>
              </a:rPr>
              <a:t>m</a:t>
            </a:r>
            <a:r>
              <a:rPr lang="en-US" altLang="zh-CN" sz="2200" dirty="0">
                <a:latin typeface="Times New Roman" pitchFamily="18" charset="0"/>
                <a:cs typeface="Times New Roman" pitchFamily="18" charset="0"/>
              </a:rPr>
              <a:t>}</a:t>
            </a:r>
            <a:r>
              <a:rPr lang="zh-CN" altLang="en-US" sz="2200" dirty="0">
                <a:latin typeface="Times New Roman" pitchFamily="18" charset="0"/>
                <a:cs typeface="Times New Roman" pitchFamily="18" charset="0"/>
              </a:rPr>
              <a:t>，计算其分类误差估计，并以各结点拥有的训练样本的比例为权值，进行加权求和，得到结点 </a:t>
            </a:r>
            <a:r>
              <a:rPr lang="en-US" altLang="zh-CN" sz="2200" i="1" dirty="0">
                <a:latin typeface="Times New Roman" pitchFamily="18" charset="0"/>
                <a:cs typeface="Times New Roman" pitchFamily="18" charset="0"/>
              </a:rPr>
              <a:t>t </a:t>
            </a:r>
            <a:r>
              <a:rPr lang="zh-CN" altLang="en-US" sz="2200" dirty="0">
                <a:latin typeface="Times New Roman" pitchFamily="18" charset="0"/>
                <a:cs typeface="Times New Roman" pitchFamily="18" charset="0"/>
              </a:rPr>
              <a:t>的动态（回溯）误差</a:t>
            </a:r>
            <a:r>
              <a:rPr lang="en-US" altLang="zh-CN" sz="2200" dirty="0">
                <a:latin typeface="Times New Roman" pitchFamily="18" charset="0"/>
                <a:cs typeface="Times New Roman" pitchFamily="18" charset="0"/>
              </a:rPr>
              <a:t>DYE(t)</a:t>
            </a:r>
            <a:r>
              <a:rPr lang="zh-CN" altLang="en-US" sz="2200" dirty="0">
                <a:latin typeface="Times New Roman" pitchFamily="18" charset="0"/>
                <a:cs typeface="Times New Roman" pitchFamily="18" charset="0"/>
              </a:rPr>
              <a:t>。</a:t>
            </a:r>
            <a:endParaRPr lang="en-US" altLang="zh-CN" sz="2200" dirty="0">
              <a:latin typeface="Times New Roman" pitchFamily="18" charset="0"/>
              <a:cs typeface="Times New Roman" pitchFamily="18" charset="0"/>
            </a:endParaRPr>
          </a:p>
          <a:p>
            <a:pPr lvl="1"/>
            <a:r>
              <a:rPr lang="zh-CN" altLang="en-US" sz="2200" dirty="0">
                <a:latin typeface="Times New Roman" pitchFamily="18" charset="0"/>
                <a:cs typeface="Times New Roman" pitchFamily="18" charset="0"/>
              </a:rPr>
              <a:t>如果 </a:t>
            </a:r>
            <a:r>
              <a:rPr lang="en-US" altLang="zh-CN" sz="2200" dirty="0">
                <a:latin typeface="Times New Roman" pitchFamily="18" charset="0"/>
                <a:cs typeface="Times New Roman" pitchFamily="18" charset="0"/>
              </a:rPr>
              <a:t>STE(t) ≤ DYT(t)</a:t>
            </a:r>
            <a:r>
              <a:rPr lang="zh-CN" altLang="en-US" sz="2200" dirty="0">
                <a:latin typeface="Times New Roman" pitchFamily="18" charset="0"/>
                <a:cs typeface="Times New Roman" pitchFamily="18" charset="0"/>
              </a:rPr>
              <a:t>，则对结点 </a:t>
            </a:r>
            <a:r>
              <a:rPr lang="en-US" altLang="zh-CN" sz="2200" i="1" dirty="0">
                <a:latin typeface="Times New Roman" pitchFamily="18" charset="0"/>
                <a:cs typeface="Times New Roman" pitchFamily="18" charset="0"/>
              </a:rPr>
              <a:t>t</a:t>
            </a:r>
            <a:r>
              <a:rPr lang="en-US" altLang="zh-CN" sz="2200" dirty="0">
                <a:latin typeface="Times New Roman" pitchFamily="18" charset="0"/>
                <a:cs typeface="Times New Roman" pitchFamily="18" charset="0"/>
              </a:rPr>
              <a:t> </a:t>
            </a:r>
            <a:r>
              <a:rPr lang="zh-CN" altLang="en-US" sz="2200" dirty="0">
                <a:latin typeface="Times New Roman" pitchFamily="18" charset="0"/>
                <a:cs typeface="Times New Roman" pitchFamily="18" charset="0"/>
              </a:rPr>
              <a:t>子树进行剪枝。</a:t>
            </a:r>
          </a:p>
        </p:txBody>
      </p:sp>
      <p:sp>
        <p:nvSpPr>
          <p:cNvPr id="3" name="页脚占位符 2">
            <a:extLst>
              <a:ext uri="{FF2B5EF4-FFF2-40B4-BE49-F238E27FC236}">
                <a16:creationId xmlns:a16="http://schemas.microsoft.com/office/drawing/2014/main" id="{D7AA340E-4158-4913-8863-97C08B85E1D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F7CC6526-8808-4392-A08F-F7345B4E5D23}"/>
              </a:ext>
            </a:extLst>
          </p:cNvPr>
          <p:cNvSpPr>
            <a:spLocks noGrp="1"/>
          </p:cNvSpPr>
          <p:nvPr>
            <p:ph type="sldNum" sz="quarter" idx="12"/>
          </p:nvPr>
        </p:nvSpPr>
        <p:spPr/>
        <p:txBody>
          <a:bodyPr/>
          <a:lstStyle/>
          <a:p>
            <a:fld id="{5AD84F5B-1672-4D3F-9FEC-5DF89A7B7912}" type="slidenum">
              <a:rPr lang="zh-CN" altLang="en-US" smtClean="0"/>
              <a:t>77</a:t>
            </a:fld>
            <a:endParaRPr lang="zh-CN" altLang="en-US"/>
          </a:p>
        </p:txBody>
      </p:sp>
    </p:spTree>
    <p:extLst>
      <p:ext uri="{BB962C8B-B14F-4D97-AF65-F5344CB8AC3E}">
        <p14:creationId xmlns:p14="http://schemas.microsoft.com/office/powerpoint/2010/main" val="254974802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拟合不足</a:t>
            </a:r>
          </a:p>
        </p:txBody>
      </p:sp>
      <p:sp>
        <p:nvSpPr>
          <p:cNvPr id="3" name="内容占位符 2"/>
          <p:cNvSpPr>
            <a:spLocks noGrp="1"/>
          </p:cNvSpPr>
          <p:nvPr>
            <p:ph idx="1"/>
          </p:nvPr>
        </p:nvSpPr>
        <p:spPr/>
        <p:txBody>
          <a:bodyPr>
            <a:normAutofit/>
          </a:bodyPr>
          <a:lstStyle/>
          <a:p>
            <a:r>
              <a:rPr lang="zh-CN" altLang="en-US" dirty="0"/>
              <a:t>当决策树很小时，训练和检验误差都很大，这种情况称为模型拟合不足。</a:t>
            </a:r>
            <a:endParaRPr lang="en-US" altLang="zh-CN" dirty="0"/>
          </a:p>
          <a:p>
            <a:r>
              <a:rPr lang="zh-CN" altLang="en-US" dirty="0"/>
              <a:t>出现拟合不足的原因是模型尚未学习到数据的真实结构。</a:t>
            </a:r>
          </a:p>
        </p:txBody>
      </p:sp>
      <p:sp>
        <p:nvSpPr>
          <p:cNvPr id="4" name="页脚占位符 3">
            <a:extLst>
              <a:ext uri="{FF2B5EF4-FFF2-40B4-BE49-F238E27FC236}">
                <a16:creationId xmlns:a16="http://schemas.microsoft.com/office/drawing/2014/main" id="{7CDE2B1C-DE73-463B-9CCB-8983550DFFC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28C5816-E851-4BB2-9EF2-8499F73AEE5B}"/>
              </a:ext>
            </a:extLst>
          </p:cNvPr>
          <p:cNvSpPr>
            <a:spLocks noGrp="1"/>
          </p:cNvSpPr>
          <p:nvPr>
            <p:ph type="sldNum" sz="quarter" idx="12"/>
          </p:nvPr>
        </p:nvSpPr>
        <p:spPr/>
        <p:txBody>
          <a:bodyPr/>
          <a:lstStyle/>
          <a:p>
            <a:fld id="{5AD84F5B-1672-4D3F-9FEC-5DF89A7B7912}" type="slidenum">
              <a:rPr lang="zh-CN" altLang="en-US" smtClean="0"/>
              <a:t>78</a:t>
            </a:fld>
            <a:endParaRPr lang="zh-CN" altLang="en-US"/>
          </a:p>
        </p:txBody>
      </p:sp>
    </p:spTree>
    <p:extLst>
      <p:ext uri="{BB962C8B-B14F-4D97-AF65-F5344CB8AC3E}">
        <p14:creationId xmlns:p14="http://schemas.microsoft.com/office/powerpoint/2010/main" val="162233248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剪枝方法比较</a:t>
            </a:r>
          </a:p>
        </p:txBody>
      </p:sp>
      <p:graphicFrame>
        <p:nvGraphicFramePr>
          <p:cNvPr id="4" name="内容占位符 3"/>
          <p:cNvGraphicFramePr>
            <a:graphicFrameLocks noGrp="1"/>
          </p:cNvGraphicFramePr>
          <p:nvPr>
            <p:ph idx="1"/>
          </p:nvPr>
        </p:nvGraphicFramePr>
        <p:xfrm>
          <a:off x="163516" y="1938436"/>
          <a:ext cx="8916985" cy="3924000"/>
        </p:xfrm>
        <a:graphic>
          <a:graphicData uri="http://schemas.openxmlformats.org/drawingml/2006/table">
            <a:tbl>
              <a:tblPr firstRow="1" firstCol="1" bandRow="1">
                <a:tableStyleId>{74C1A8A3-306A-4EB7-A6B1-4F7E0EB9C5D6}</a:tableStyleId>
              </a:tblPr>
              <a:tblGrid>
                <a:gridCol w="1783397">
                  <a:extLst>
                    <a:ext uri="{9D8B030D-6E8A-4147-A177-3AD203B41FA5}">
                      <a16:colId xmlns:a16="http://schemas.microsoft.com/office/drawing/2014/main" val="20000"/>
                    </a:ext>
                  </a:extLst>
                </a:gridCol>
                <a:gridCol w="1544968">
                  <a:extLst>
                    <a:ext uri="{9D8B030D-6E8A-4147-A177-3AD203B41FA5}">
                      <a16:colId xmlns:a16="http://schemas.microsoft.com/office/drawing/2014/main" val="20001"/>
                    </a:ext>
                  </a:extLst>
                </a:gridCol>
                <a:gridCol w="1512168">
                  <a:extLst>
                    <a:ext uri="{9D8B030D-6E8A-4147-A177-3AD203B41FA5}">
                      <a16:colId xmlns:a16="http://schemas.microsoft.com/office/drawing/2014/main" val="20002"/>
                    </a:ext>
                  </a:extLst>
                </a:gridCol>
                <a:gridCol w="2293055">
                  <a:extLst>
                    <a:ext uri="{9D8B030D-6E8A-4147-A177-3AD203B41FA5}">
                      <a16:colId xmlns:a16="http://schemas.microsoft.com/office/drawing/2014/main" val="20003"/>
                    </a:ext>
                  </a:extLst>
                </a:gridCol>
                <a:gridCol w="1783397">
                  <a:extLst>
                    <a:ext uri="{9D8B030D-6E8A-4147-A177-3AD203B41FA5}">
                      <a16:colId xmlns:a16="http://schemas.microsoft.com/office/drawing/2014/main" val="20004"/>
                    </a:ext>
                  </a:extLst>
                </a:gridCol>
              </a:tblGrid>
              <a:tr h="603690">
                <a:tc>
                  <a:txBody>
                    <a:bodyPr/>
                    <a:lstStyle/>
                    <a:p>
                      <a:endParaRPr lang="zh-CN" sz="2200" kern="100" dirty="0">
                        <a:effectLst/>
                        <a:latin typeface="Times New Roman" pitchFamily="18" charset="0"/>
                        <a:ea typeface="华文细黑" pitchFamily="2" charset="-122"/>
                        <a:cs typeface="Times New Roman" pitchFamily="18" charset="0"/>
                      </a:endParaRPr>
                    </a:p>
                  </a:txBody>
                  <a:tcPr marL="68580" marR="68580" marT="0" marB="0" anchor="ctr"/>
                </a:tc>
                <a:tc>
                  <a:txBody>
                    <a:bodyPr/>
                    <a:lstStyle/>
                    <a:p>
                      <a:pPr algn="ctr">
                        <a:spcAft>
                          <a:spcPts val="0"/>
                        </a:spcAft>
                      </a:pPr>
                      <a:r>
                        <a:rPr lang="zh-CN" sz="1600" kern="0">
                          <a:effectLst/>
                          <a:latin typeface="Times New Roman" pitchFamily="18" charset="0"/>
                          <a:ea typeface="华文细黑" pitchFamily="2" charset="-122"/>
                          <a:cs typeface="Times New Roman" pitchFamily="18" charset="0"/>
                        </a:rPr>
                        <a:t>剪枝方式</a:t>
                      </a:r>
                      <a:endParaRPr lang="zh-CN" sz="2200" kern="100">
                        <a:effectLst/>
                        <a:latin typeface="Times New Roman" pitchFamily="18" charset="0"/>
                        <a:ea typeface="华文细黑" pitchFamily="2" charset="-122"/>
                        <a:cs typeface="Times New Roman" pitchFamily="18" charset="0"/>
                      </a:endParaRPr>
                    </a:p>
                  </a:txBody>
                  <a:tcPr marL="68580" marR="68580" marT="0" marB="0" anchor="ctr"/>
                </a:tc>
                <a:tc>
                  <a:txBody>
                    <a:bodyPr/>
                    <a:lstStyle/>
                    <a:p>
                      <a:pPr algn="ctr">
                        <a:spcAft>
                          <a:spcPts val="0"/>
                        </a:spcAft>
                      </a:pPr>
                      <a:r>
                        <a:rPr lang="zh-CN" sz="1600" kern="0">
                          <a:effectLst/>
                          <a:latin typeface="Times New Roman" pitchFamily="18" charset="0"/>
                          <a:ea typeface="华文细黑" pitchFamily="2" charset="-122"/>
                          <a:cs typeface="Times New Roman" pitchFamily="18" charset="0"/>
                        </a:rPr>
                        <a:t>是否需要</a:t>
                      </a:r>
                      <a:endParaRPr lang="zh-CN" sz="2200" kern="100">
                        <a:effectLst/>
                        <a:latin typeface="Times New Roman" pitchFamily="18" charset="0"/>
                        <a:ea typeface="华文细黑" pitchFamily="2" charset="-122"/>
                        <a:cs typeface="Times New Roman" pitchFamily="18" charset="0"/>
                      </a:endParaRPr>
                    </a:p>
                    <a:p>
                      <a:pPr algn="ctr">
                        <a:spcAft>
                          <a:spcPts val="0"/>
                        </a:spcAft>
                      </a:pPr>
                      <a:r>
                        <a:rPr lang="zh-CN" sz="1600" kern="0">
                          <a:effectLst/>
                          <a:latin typeface="Times New Roman" pitchFamily="18" charset="0"/>
                          <a:ea typeface="华文细黑" pitchFamily="2" charset="-122"/>
                          <a:cs typeface="Times New Roman" pitchFamily="18" charset="0"/>
                        </a:rPr>
                        <a:t>独立剪枝集</a:t>
                      </a:r>
                      <a:endParaRPr lang="zh-CN" sz="2200" kern="100">
                        <a:effectLst/>
                        <a:latin typeface="Times New Roman" pitchFamily="18" charset="0"/>
                        <a:ea typeface="华文细黑" pitchFamily="2" charset="-122"/>
                        <a:cs typeface="Times New Roman" pitchFamily="18" charset="0"/>
                      </a:endParaRPr>
                    </a:p>
                  </a:txBody>
                  <a:tcPr marL="68580" marR="68580" marT="0" marB="0" anchor="ctr"/>
                </a:tc>
                <a:tc>
                  <a:txBody>
                    <a:bodyPr/>
                    <a:lstStyle/>
                    <a:p>
                      <a:pPr algn="ctr">
                        <a:spcAft>
                          <a:spcPts val="0"/>
                        </a:spcAft>
                      </a:pPr>
                      <a:r>
                        <a:rPr lang="zh-CN" sz="1600" kern="0">
                          <a:effectLst/>
                          <a:latin typeface="Times New Roman" pitchFamily="18" charset="0"/>
                          <a:ea typeface="华文细黑" pitchFamily="2" charset="-122"/>
                          <a:cs typeface="Times New Roman" pitchFamily="18" charset="0"/>
                        </a:rPr>
                        <a:t>误差估计</a:t>
                      </a:r>
                      <a:endParaRPr lang="zh-CN" sz="2200" kern="100">
                        <a:effectLst/>
                        <a:latin typeface="Times New Roman" pitchFamily="18" charset="0"/>
                        <a:ea typeface="华文细黑" pitchFamily="2" charset="-122"/>
                        <a:cs typeface="Times New Roman" pitchFamily="18" charset="0"/>
                      </a:endParaRPr>
                    </a:p>
                  </a:txBody>
                  <a:tcPr marL="68580" marR="68580" marT="0" marB="0" anchor="ctr"/>
                </a:tc>
                <a:tc>
                  <a:txBody>
                    <a:bodyPr/>
                    <a:lstStyle/>
                    <a:p>
                      <a:pPr algn="ctr">
                        <a:spcAft>
                          <a:spcPts val="0"/>
                        </a:spcAft>
                      </a:pPr>
                      <a:r>
                        <a:rPr lang="zh-CN" sz="1600" kern="0">
                          <a:effectLst/>
                          <a:latin typeface="Times New Roman" pitchFamily="18" charset="0"/>
                          <a:ea typeface="华文细黑" pitchFamily="2" charset="-122"/>
                          <a:cs typeface="Times New Roman" pitchFamily="18" charset="0"/>
                        </a:rPr>
                        <a:t>剪枝程度</a:t>
                      </a:r>
                      <a:endParaRPr lang="zh-CN" sz="2200" kern="100">
                        <a:effectLst/>
                        <a:latin typeface="Times New Roman" pitchFamily="18" charset="0"/>
                        <a:ea typeface="华文细黑" pitchFamily="2" charset="-122"/>
                        <a:cs typeface="Times New Roman" pitchFamily="18" charset="0"/>
                      </a:endParaRPr>
                    </a:p>
                  </a:txBody>
                  <a:tcPr marL="68580" marR="68580" marT="0" marB="0" anchor="ctr"/>
                </a:tc>
                <a:extLst>
                  <a:ext uri="{0D108BD9-81ED-4DB2-BD59-A6C34878D82A}">
                    <a16:rowId xmlns:a16="http://schemas.microsoft.com/office/drawing/2014/main" val="10000"/>
                  </a:ext>
                </a:extLst>
              </a:tr>
              <a:tr h="553385">
                <a:tc>
                  <a:txBody>
                    <a:bodyPr/>
                    <a:lstStyle/>
                    <a:p>
                      <a:pPr algn="ctr">
                        <a:spcAft>
                          <a:spcPts val="0"/>
                        </a:spcAft>
                      </a:pPr>
                      <a:r>
                        <a:rPr lang="zh-CN" sz="1600" kern="0" dirty="0">
                          <a:effectLst/>
                          <a:latin typeface="Times New Roman" pitchFamily="18" charset="0"/>
                          <a:ea typeface="华文细黑" pitchFamily="2" charset="-122"/>
                          <a:cs typeface="Times New Roman" pitchFamily="18" charset="0"/>
                        </a:rPr>
                        <a:t>减少错误剪枝</a:t>
                      </a:r>
                      <a:endParaRPr lang="en-US" altLang="zh-CN" sz="1600" kern="0" dirty="0">
                        <a:effectLst/>
                        <a:latin typeface="Times New Roman" pitchFamily="18" charset="0"/>
                        <a:ea typeface="华文细黑" pitchFamily="2" charset="-122"/>
                        <a:cs typeface="Times New Roman" pitchFamily="18" charset="0"/>
                      </a:endParaRPr>
                    </a:p>
                    <a:p>
                      <a:pPr algn="ctr">
                        <a:spcAft>
                          <a:spcPts val="0"/>
                        </a:spcAft>
                      </a:pPr>
                      <a:r>
                        <a:rPr lang="en-US" sz="1600" kern="0" dirty="0">
                          <a:effectLst/>
                          <a:latin typeface="Times New Roman" pitchFamily="18" charset="0"/>
                          <a:ea typeface="华文细黑" pitchFamily="2" charset="-122"/>
                          <a:cs typeface="Times New Roman" pitchFamily="18" charset="0"/>
                        </a:rPr>
                        <a:t>REP</a:t>
                      </a:r>
                      <a:endParaRPr lang="zh-CN" sz="2200" kern="100" dirty="0">
                        <a:effectLst/>
                        <a:latin typeface="Times New Roman" pitchFamily="18" charset="0"/>
                        <a:ea typeface="华文细黑" pitchFamily="2" charset="-122"/>
                        <a:cs typeface="Times New Roman" pitchFamily="18" charset="0"/>
                      </a:endParaRPr>
                    </a:p>
                  </a:txBody>
                  <a:tcPr marL="68580" marR="68580" marT="0" marB="0" anchor="ctr"/>
                </a:tc>
                <a:tc>
                  <a:txBody>
                    <a:bodyPr/>
                    <a:lstStyle/>
                    <a:p>
                      <a:pPr algn="ctr">
                        <a:spcAft>
                          <a:spcPts val="0"/>
                        </a:spcAft>
                      </a:pPr>
                      <a:r>
                        <a:rPr lang="zh-CN" sz="1600" kern="0" dirty="0">
                          <a:effectLst/>
                          <a:latin typeface="Times New Roman" pitchFamily="18" charset="0"/>
                          <a:ea typeface="华文细黑" pitchFamily="2" charset="-122"/>
                          <a:cs typeface="Times New Roman" pitchFamily="18" charset="0"/>
                        </a:rPr>
                        <a:t>自底向上</a:t>
                      </a:r>
                      <a:endParaRPr lang="zh-CN" sz="2200" kern="100" dirty="0">
                        <a:effectLst/>
                        <a:latin typeface="Times New Roman" pitchFamily="18" charset="0"/>
                        <a:ea typeface="华文细黑" pitchFamily="2" charset="-122"/>
                        <a:cs typeface="Times New Roman" pitchFamily="18" charset="0"/>
                      </a:endParaRPr>
                    </a:p>
                  </a:txBody>
                  <a:tcPr marL="68580" marR="68580" marT="0" marB="0" anchor="ctr"/>
                </a:tc>
                <a:tc>
                  <a:txBody>
                    <a:bodyPr/>
                    <a:lstStyle/>
                    <a:p>
                      <a:pPr algn="ctr">
                        <a:spcAft>
                          <a:spcPts val="0"/>
                        </a:spcAft>
                      </a:pPr>
                      <a:r>
                        <a:rPr lang="zh-CN" sz="1600" kern="0">
                          <a:effectLst/>
                          <a:latin typeface="Times New Roman" pitchFamily="18" charset="0"/>
                          <a:ea typeface="华文细黑" pitchFamily="2" charset="-122"/>
                          <a:cs typeface="Times New Roman" pitchFamily="18" charset="0"/>
                        </a:rPr>
                        <a:t>需要</a:t>
                      </a:r>
                      <a:endParaRPr lang="zh-CN" sz="2200" kern="100">
                        <a:effectLst/>
                        <a:latin typeface="Times New Roman" pitchFamily="18" charset="0"/>
                        <a:ea typeface="华文细黑" pitchFamily="2" charset="-122"/>
                        <a:cs typeface="Times New Roman" pitchFamily="18" charset="0"/>
                      </a:endParaRPr>
                    </a:p>
                  </a:txBody>
                  <a:tcPr marL="68580" marR="68580" marT="0" marB="0" anchor="ctr"/>
                </a:tc>
                <a:tc>
                  <a:txBody>
                    <a:bodyPr/>
                    <a:lstStyle/>
                    <a:p>
                      <a:pPr algn="ctr">
                        <a:spcAft>
                          <a:spcPts val="0"/>
                        </a:spcAft>
                      </a:pPr>
                      <a:r>
                        <a:rPr lang="zh-CN" sz="1600" kern="0">
                          <a:effectLst/>
                          <a:latin typeface="Times New Roman" pitchFamily="18" charset="0"/>
                          <a:ea typeface="华文细黑" pitchFamily="2" charset="-122"/>
                          <a:cs typeface="Times New Roman" pitchFamily="18" charset="0"/>
                        </a:rPr>
                        <a:t>剪枝集上的误差估计 </a:t>
                      </a:r>
                      <a:r>
                        <a:rPr lang="en-US" sz="1600" kern="0">
                          <a:effectLst/>
                          <a:latin typeface="Times New Roman" pitchFamily="18" charset="0"/>
                          <a:ea typeface="华文细黑" pitchFamily="2" charset="-122"/>
                          <a:cs typeface="Times New Roman" pitchFamily="18" charset="0"/>
                        </a:rPr>
                        <a:t>O(n)</a:t>
                      </a:r>
                      <a:endParaRPr lang="zh-CN" sz="2200" kern="100">
                        <a:effectLst/>
                        <a:latin typeface="Times New Roman" pitchFamily="18" charset="0"/>
                        <a:ea typeface="华文细黑" pitchFamily="2" charset="-122"/>
                        <a:cs typeface="Times New Roman" pitchFamily="18" charset="0"/>
                      </a:endParaRPr>
                    </a:p>
                  </a:txBody>
                  <a:tcPr marL="68580" marR="68580" marT="0" marB="0" anchor="ctr"/>
                </a:tc>
                <a:tc>
                  <a:txBody>
                    <a:bodyPr/>
                    <a:lstStyle/>
                    <a:p>
                      <a:pPr algn="ctr">
                        <a:spcAft>
                          <a:spcPts val="0"/>
                        </a:spcAft>
                      </a:pPr>
                      <a:r>
                        <a:rPr lang="zh-CN" sz="1600" kern="0">
                          <a:effectLst/>
                          <a:latin typeface="Times New Roman" pitchFamily="18" charset="0"/>
                          <a:ea typeface="华文细黑" pitchFamily="2" charset="-122"/>
                          <a:cs typeface="Times New Roman" pitchFamily="18" charset="0"/>
                        </a:rPr>
                        <a:t>过剪枝</a:t>
                      </a:r>
                      <a:endParaRPr lang="zh-CN" sz="2200" kern="100">
                        <a:effectLst/>
                        <a:latin typeface="Times New Roman" pitchFamily="18" charset="0"/>
                        <a:ea typeface="华文细黑" pitchFamily="2" charset="-122"/>
                        <a:cs typeface="Times New Roman" pitchFamily="18" charset="0"/>
                      </a:endParaRPr>
                    </a:p>
                  </a:txBody>
                  <a:tcPr marL="68580" marR="68580" marT="0" marB="0" anchor="ctr"/>
                </a:tc>
                <a:extLst>
                  <a:ext uri="{0D108BD9-81ED-4DB2-BD59-A6C34878D82A}">
                    <a16:rowId xmlns:a16="http://schemas.microsoft.com/office/drawing/2014/main" val="10001"/>
                  </a:ext>
                </a:extLst>
              </a:tr>
              <a:tr h="553385">
                <a:tc>
                  <a:txBody>
                    <a:bodyPr/>
                    <a:lstStyle/>
                    <a:p>
                      <a:pPr algn="ctr">
                        <a:spcAft>
                          <a:spcPts val="0"/>
                        </a:spcAft>
                      </a:pPr>
                      <a:r>
                        <a:rPr lang="zh-CN" sz="1600" kern="0" dirty="0">
                          <a:effectLst/>
                          <a:latin typeface="Times New Roman" pitchFamily="18" charset="0"/>
                          <a:ea typeface="华文细黑" pitchFamily="2" charset="-122"/>
                          <a:cs typeface="Times New Roman" pitchFamily="18" charset="0"/>
                        </a:rPr>
                        <a:t>悲观错误剪枝</a:t>
                      </a:r>
                      <a:endParaRPr lang="en-US" altLang="zh-CN" sz="1600" kern="0" dirty="0">
                        <a:effectLst/>
                        <a:latin typeface="Times New Roman" pitchFamily="18" charset="0"/>
                        <a:ea typeface="华文细黑" pitchFamily="2" charset="-122"/>
                        <a:cs typeface="Times New Roman" pitchFamily="18" charset="0"/>
                      </a:endParaRPr>
                    </a:p>
                    <a:p>
                      <a:pPr algn="ctr">
                        <a:spcAft>
                          <a:spcPts val="0"/>
                        </a:spcAft>
                      </a:pPr>
                      <a:r>
                        <a:rPr lang="en-US" sz="1600" kern="0" dirty="0">
                          <a:effectLst/>
                          <a:latin typeface="Times New Roman" pitchFamily="18" charset="0"/>
                          <a:ea typeface="华文细黑" pitchFamily="2" charset="-122"/>
                          <a:cs typeface="Times New Roman" pitchFamily="18" charset="0"/>
                        </a:rPr>
                        <a:t>PEP</a:t>
                      </a:r>
                      <a:endParaRPr lang="zh-CN" sz="2200" kern="100" dirty="0">
                        <a:effectLst/>
                        <a:latin typeface="Times New Roman" pitchFamily="18" charset="0"/>
                        <a:ea typeface="华文细黑" pitchFamily="2" charset="-122"/>
                        <a:cs typeface="Times New Roman" pitchFamily="18" charset="0"/>
                      </a:endParaRPr>
                    </a:p>
                  </a:txBody>
                  <a:tcPr marL="68580" marR="68580" marT="0" marB="0" anchor="ctr"/>
                </a:tc>
                <a:tc>
                  <a:txBody>
                    <a:bodyPr/>
                    <a:lstStyle/>
                    <a:p>
                      <a:pPr algn="ctr">
                        <a:spcAft>
                          <a:spcPts val="0"/>
                        </a:spcAft>
                      </a:pPr>
                      <a:r>
                        <a:rPr lang="zh-CN" sz="1600" kern="0" dirty="0">
                          <a:effectLst/>
                          <a:latin typeface="Times New Roman" pitchFamily="18" charset="0"/>
                          <a:ea typeface="华文细黑" pitchFamily="2" charset="-122"/>
                          <a:cs typeface="Times New Roman" pitchFamily="18" charset="0"/>
                        </a:rPr>
                        <a:t>自顶向下</a:t>
                      </a:r>
                      <a:endParaRPr lang="zh-CN" sz="2200" kern="100" dirty="0">
                        <a:effectLst/>
                        <a:latin typeface="Times New Roman" pitchFamily="18" charset="0"/>
                        <a:ea typeface="华文细黑" pitchFamily="2" charset="-122"/>
                        <a:cs typeface="Times New Roman" pitchFamily="18" charset="0"/>
                      </a:endParaRPr>
                    </a:p>
                  </a:txBody>
                  <a:tcPr marL="68580" marR="68580" marT="0" marB="0" anchor="ctr"/>
                </a:tc>
                <a:tc>
                  <a:txBody>
                    <a:bodyPr/>
                    <a:lstStyle/>
                    <a:p>
                      <a:pPr algn="ctr">
                        <a:spcAft>
                          <a:spcPts val="0"/>
                        </a:spcAft>
                      </a:pPr>
                      <a:r>
                        <a:rPr lang="zh-CN" sz="1600" kern="0" dirty="0">
                          <a:effectLst/>
                          <a:latin typeface="Times New Roman" pitchFamily="18" charset="0"/>
                          <a:ea typeface="华文细黑" pitchFamily="2" charset="-122"/>
                          <a:cs typeface="Times New Roman" pitchFamily="18" charset="0"/>
                        </a:rPr>
                        <a:t>需要</a:t>
                      </a:r>
                      <a:endParaRPr lang="zh-CN" sz="2200" kern="100" dirty="0">
                        <a:effectLst/>
                        <a:latin typeface="Times New Roman" pitchFamily="18" charset="0"/>
                        <a:ea typeface="华文细黑" pitchFamily="2" charset="-122"/>
                        <a:cs typeface="Times New Roman" pitchFamily="18" charset="0"/>
                      </a:endParaRPr>
                    </a:p>
                  </a:txBody>
                  <a:tcPr marL="68580" marR="68580" marT="0" marB="0" anchor="ctr"/>
                </a:tc>
                <a:tc>
                  <a:txBody>
                    <a:bodyPr/>
                    <a:lstStyle/>
                    <a:p>
                      <a:pPr algn="ctr">
                        <a:spcAft>
                          <a:spcPts val="0"/>
                        </a:spcAft>
                      </a:pPr>
                      <a:r>
                        <a:rPr lang="zh-CN" sz="1600" kern="0" dirty="0">
                          <a:effectLst/>
                          <a:latin typeface="Times New Roman" pitchFamily="18" charset="0"/>
                          <a:ea typeface="华文细黑" pitchFamily="2" charset="-122"/>
                          <a:cs typeface="Times New Roman" pitchFamily="18" charset="0"/>
                        </a:rPr>
                        <a:t>误差率连续校正 </a:t>
                      </a:r>
                      <a:endParaRPr lang="en-US" altLang="zh-CN" sz="1600" kern="0" dirty="0">
                        <a:effectLst/>
                        <a:latin typeface="Times New Roman" pitchFamily="18" charset="0"/>
                        <a:ea typeface="华文细黑" pitchFamily="2" charset="-122"/>
                        <a:cs typeface="Times New Roman" pitchFamily="18" charset="0"/>
                      </a:endParaRPr>
                    </a:p>
                    <a:p>
                      <a:pPr algn="ctr">
                        <a:spcAft>
                          <a:spcPts val="0"/>
                        </a:spcAft>
                      </a:pPr>
                      <a:r>
                        <a:rPr lang="en-US" sz="1600" kern="0" dirty="0">
                          <a:effectLst/>
                          <a:latin typeface="Times New Roman" pitchFamily="18" charset="0"/>
                          <a:ea typeface="华文细黑" pitchFamily="2" charset="-122"/>
                          <a:cs typeface="Times New Roman" pitchFamily="18" charset="0"/>
                        </a:rPr>
                        <a:t>O(n)</a:t>
                      </a:r>
                      <a:endParaRPr lang="zh-CN" sz="2200" kern="100" dirty="0">
                        <a:effectLst/>
                        <a:latin typeface="Times New Roman" pitchFamily="18" charset="0"/>
                        <a:ea typeface="华文细黑" pitchFamily="2" charset="-122"/>
                        <a:cs typeface="Times New Roman" pitchFamily="18" charset="0"/>
                      </a:endParaRPr>
                    </a:p>
                  </a:txBody>
                  <a:tcPr marL="68580" marR="68580" marT="0" marB="0" anchor="ctr"/>
                </a:tc>
                <a:tc>
                  <a:txBody>
                    <a:bodyPr/>
                    <a:lstStyle/>
                    <a:p>
                      <a:pPr algn="ctr">
                        <a:spcAft>
                          <a:spcPts val="0"/>
                        </a:spcAft>
                      </a:pPr>
                      <a:r>
                        <a:rPr lang="zh-CN" sz="1600" kern="0">
                          <a:effectLst/>
                          <a:latin typeface="Times New Roman" pitchFamily="18" charset="0"/>
                          <a:ea typeface="华文细黑" pitchFamily="2" charset="-122"/>
                          <a:cs typeface="Times New Roman" pitchFamily="18" charset="0"/>
                        </a:rPr>
                        <a:t>过剪枝</a:t>
                      </a:r>
                      <a:r>
                        <a:rPr lang="en-US" sz="1600" kern="0">
                          <a:effectLst/>
                          <a:latin typeface="Times New Roman" pitchFamily="18" charset="0"/>
                          <a:ea typeface="华文细黑" pitchFamily="2" charset="-122"/>
                          <a:cs typeface="Times New Roman" pitchFamily="18" charset="0"/>
                        </a:rPr>
                        <a:t>/</a:t>
                      </a:r>
                      <a:r>
                        <a:rPr lang="zh-CN" sz="1600" kern="0">
                          <a:effectLst/>
                          <a:latin typeface="Times New Roman" pitchFamily="18" charset="0"/>
                          <a:ea typeface="华文细黑" pitchFamily="2" charset="-122"/>
                          <a:cs typeface="Times New Roman" pitchFamily="18" charset="0"/>
                        </a:rPr>
                        <a:t>欠剪枝</a:t>
                      </a:r>
                      <a:endParaRPr lang="zh-CN" sz="2200" kern="100">
                        <a:effectLst/>
                        <a:latin typeface="Times New Roman" pitchFamily="18" charset="0"/>
                        <a:ea typeface="华文细黑" pitchFamily="2" charset="-122"/>
                        <a:cs typeface="Times New Roman" pitchFamily="18" charset="0"/>
                      </a:endParaRPr>
                    </a:p>
                  </a:txBody>
                  <a:tcPr marL="68580" marR="68580" marT="0" marB="0" anchor="ctr"/>
                </a:tc>
                <a:extLst>
                  <a:ext uri="{0D108BD9-81ED-4DB2-BD59-A6C34878D82A}">
                    <a16:rowId xmlns:a16="http://schemas.microsoft.com/office/drawing/2014/main" val="10002"/>
                  </a:ext>
                </a:extLst>
              </a:tr>
              <a:tr h="553385">
                <a:tc>
                  <a:txBody>
                    <a:bodyPr/>
                    <a:lstStyle/>
                    <a:p>
                      <a:pPr algn="ctr">
                        <a:spcAft>
                          <a:spcPts val="0"/>
                        </a:spcAft>
                      </a:pPr>
                      <a:r>
                        <a:rPr lang="zh-CN" sz="1600" kern="0" dirty="0">
                          <a:effectLst/>
                          <a:latin typeface="Times New Roman" pitchFamily="18" charset="0"/>
                          <a:ea typeface="华文细黑" pitchFamily="2" charset="-122"/>
                          <a:cs typeface="Times New Roman" pitchFamily="18" charset="0"/>
                        </a:rPr>
                        <a:t>代价</a:t>
                      </a:r>
                      <a:r>
                        <a:rPr lang="en-US" sz="1600" kern="0" dirty="0">
                          <a:effectLst/>
                          <a:latin typeface="Times New Roman" pitchFamily="18" charset="0"/>
                          <a:ea typeface="华文细黑" pitchFamily="2" charset="-122"/>
                          <a:cs typeface="Times New Roman" pitchFamily="18" charset="0"/>
                        </a:rPr>
                        <a:t>-</a:t>
                      </a:r>
                      <a:r>
                        <a:rPr lang="zh-CN" sz="1600" kern="0" dirty="0">
                          <a:effectLst/>
                          <a:latin typeface="Times New Roman" pitchFamily="18" charset="0"/>
                          <a:ea typeface="华文细黑" pitchFamily="2" charset="-122"/>
                          <a:cs typeface="Times New Roman" pitchFamily="18" charset="0"/>
                        </a:rPr>
                        <a:t>复杂度剪枝</a:t>
                      </a:r>
                      <a:endParaRPr lang="en-US" altLang="zh-CN" sz="1600" kern="0" dirty="0">
                        <a:effectLst/>
                        <a:latin typeface="Times New Roman" pitchFamily="18" charset="0"/>
                        <a:ea typeface="华文细黑" pitchFamily="2" charset="-122"/>
                        <a:cs typeface="Times New Roman" pitchFamily="18" charset="0"/>
                      </a:endParaRPr>
                    </a:p>
                    <a:p>
                      <a:pPr algn="ctr">
                        <a:spcAft>
                          <a:spcPts val="0"/>
                        </a:spcAft>
                      </a:pPr>
                      <a:r>
                        <a:rPr lang="en-US" sz="1600" kern="0" dirty="0">
                          <a:effectLst/>
                          <a:latin typeface="Times New Roman" pitchFamily="18" charset="0"/>
                          <a:ea typeface="华文细黑" pitchFamily="2" charset="-122"/>
                          <a:cs typeface="Times New Roman" pitchFamily="18" charset="0"/>
                        </a:rPr>
                        <a:t>CCP</a:t>
                      </a:r>
                      <a:endParaRPr lang="zh-CN" sz="2200" kern="100" dirty="0">
                        <a:effectLst/>
                        <a:latin typeface="Times New Roman" pitchFamily="18" charset="0"/>
                        <a:ea typeface="华文细黑" pitchFamily="2" charset="-122"/>
                        <a:cs typeface="Times New Roman" pitchFamily="18" charset="0"/>
                      </a:endParaRPr>
                    </a:p>
                  </a:txBody>
                  <a:tcPr marL="68580" marR="68580" marT="0" marB="0" anchor="ctr"/>
                </a:tc>
                <a:tc>
                  <a:txBody>
                    <a:bodyPr/>
                    <a:lstStyle/>
                    <a:p>
                      <a:pPr algn="ctr">
                        <a:spcAft>
                          <a:spcPts val="0"/>
                        </a:spcAft>
                      </a:pPr>
                      <a:r>
                        <a:rPr lang="zh-CN" sz="1600" kern="0">
                          <a:effectLst/>
                          <a:latin typeface="Times New Roman" pitchFamily="18" charset="0"/>
                          <a:ea typeface="华文细黑" pitchFamily="2" charset="-122"/>
                          <a:cs typeface="Times New Roman" pitchFamily="18" charset="0"/>
                        </a:rPr>
                        <a:t>自底向上</a:t>
                      </a:r>
                      <a:endParaRPr lang="zh-CN" sz="2200" kern="100">
                        <a:effectLst/>
                        <a:latin typeface="Times New Roman" pitchFamily="18" charset="0"/>
                        <a:ea typeface="华文细黑" pitchFamily="2" charset="-122"/>
                        <a:cs typeface="Times New Roman" pitchFamily="18" charset="0"/>
                      </a:endParaRPr>
                    </a:p>
                  </a:txBody>
                  <a:tcPr marL="68580" marR="68580" marT="0" marB="0" anchor="ctr"/>
                </a:tc>
                <a:tc>
                  <a:txBody>
                    <a:bodyPr/>
                    <a:lstStyle/>
                    <a:p>
                      <a:pPr algn="ctr">
                        <a:spcAft>
                          <a:spcPts val="0"/>
                        </a:spcAft>
                      </a:pPr>
                      <a:r>
                        <a:rPr lang="zh-CN" sz="1600" kern="0" dirty="0">
                          <a:effectLst/>
                          <a:latin typeface="Times New Roman" pitchFamily="18" charset="0"/>
                          <a:ea typeface="华文细黑" pitchFamily="2" charset="-122"/>
                          <a:cs typeface="Times New Roman" pitchFamily="18" charset="0"/>
                        </a:rPr>
                        <a:t>不需要</a:t>
                      </a:r>
                      <a:endParaRPr lang="zh-CN" sz="2200" kern="100" dirty="0">
                        <a:effectLst/>
                        <a:latin typeface="Times New Roman" pitchFamily="18" charset="0"/>
                        <a:ea typeface="华文细黑" pitchFamily="2" charset="-122"/>
                        <a:cs typeface="Times New Roman" pitchFamily="18" charset="0"/>
                      </a:endParaRPr>
                    </a:p>
                  </a:txBody>
                  <a:tcPr marL="68580" marR="68580" marT="0" marB="0" anchor="ctr"/>
                </a:tc>
                <a:tc>
                  <a:txBody>
                    <a:bodyPr/>
                    <a:lstStyle/>
                    <a:p>
                      <a:pPr algn="ctr">
                        <a:spcAft>
                          <a:spcPts val="0"/>
                        </a:spcAft>
                      </a:pPr>
                      <a:r>
                        <a:rPr lang="zh-CN" sz="1600" kern="0" dirty="0">
                          <a:effectLst/>
                          <a:latin typeface="Times New Roman" pitchFamily="18" charset="0"/>
                          <a:ea typeface="华文细黑" pitchFamily="2" charset="-122"/>
                          <a:cs typeface="Times New Roman" pitchFamily="18" charset="0"/>
                        </a:rPr>
                        <a:t>标准误差 </a:t>
                      </a:r>
                      <a:endParaRPr lang="en-US" altLang="zh-CN" sz="1600" kern="0" dirty="0">
                        <a:effectLst/>
                        <a:latin typeface="Times New Roman" pitchFamily="18" charset="0"/>
                        <a:ea typeface="华文细黑" pitchFamily="2" charset="-122"/>
                        <a:cs typeface="Times New Roman" pitchFamily="18" charset="0"/>
                      </a:endParaRPr>
                    </a:p>
                    <a:p>
                      <a:pPr algn="ctr">
                        <a:spcAft>
                          <a:spcPts val="0"/>
                        </a:spcAft>
                      </a:pPr>
                      <a:r>
                        <a:rPr lang="en-US" sz="1600" kern="0" dirty="0">
                          <a:effectLst/>
                          <a:latin typeface="Times New Roman" pitchFamily="18" charset="0"/>
                          <a:ea typeface="华文细黑" pitchFamily="2" charset="-122"/>
                          <a:cs typeface="Times New Roman" pitchFamily="18" charset="0"/>
                        </a:rPr>
                        <a:t>O(n</a:t>
                      </a:r>
                      <a:r>
                        <a:rPr lang="en-US" sz="1600" kern="0" baseline="30000" dirty="0">
                          <a:effectLst/>
                          <a:latin typeface="Times New Roman" pitchFamily="18" charset="0"/>
                          <a:ea typeface="华文细黑" pitchFamily="2" charset="-122"/>
                          <a:cs typeface="Times New Roman" pitchFamily="18" charset="0"/>
                        </a:rPr>
                        <a:t>2</a:t>
                      </a:r>
                      <a:r>
                        <a:rPr lang="en-US" sz="1600" kern="0" dirty="0">
                          <a:effectLst/>
                          <a:latin typeface="Times New Roman" pitchFamily="18" charset="0"/>
                          <a:ea typeface="华文细黑" pitchFamily="2" charset="-122"/>
                          <a:cs typeface="Times New Roman" pitchFamily="18" charset="0"/>
                        </a:rPr>
                        <a:t>)</a:t>
                      </a:r>
                      <a:endParaRPr lang="zh-CN" sz="2200" kern="100" dirty="0">
                        <a:effectLst/>
                        <a:latin typeface="Times New Roman" pitchFamily="18" charset="0"/>
                        <a:ea typeface="华文细黑" pitchFamily="2" charset="-122"/>
                        <a:cs typeface="Times New Roman" pitchFamily="18" charset="0"/>
                      </a:endParaRPr>
                    </a:p>
                  </a:txBody>
                  <a:tcPr marL="68580" marR="68580" marT="0" marB="0" anchor="ctr"/>
                </a:tc>
                <a:tc>
                  <a:txBody>
                    <a:bodyPr/>
                    <a:lstStyle/>
                    <a:p>
                      <a:pPr algn="ctr">
                        <a:spcAft>
                          <a:spcPts val="0"/>
                        </a:spcAft>
                      </a:pPr>
                      <a:r>
                        <a:rPr lang="zh-CN" sz="1600" kern="0">
                          <a:effectLst/>
                          <a:latin typeface="Times New Roman" pitchFamily="18" charset="0"/>
                          <a:ea typeface="华文细黑" pitchFamily="2" charset="-122"/>
                          <a:cs typeface="Times New Roman" pitchFamily="18" charset="0"/>
                        </a:rPr>
                        <a:t>过剪枝</a:t>
                      </a:r>
                      <a:endParaRPr lang="zh-CN" sz="2200" kern="100">
                        <a:effectLst/>
                        <a:latin typeface="Times New Roman" pitchFamily="18" charset="0"/>
                        <a:ea typeface="华文细黑" pitchFamily="2" charset="-122"/>
                        <a:cs typeface="Times New Roman" pitchFamily="18" charset="0"/>
                      </a:endParaRPr>
                    </a:p>
                  </a:txBody>
                  <a:tcPr marL="68580" marR="68580" marT="0" marB="0" anchor="ctr"/>
                </a:tc>
                <a:extLst>
                  <a:ext uri="{0D108BD9-81ED-4DB2-BD59-A6C34878D82A}">
                    <a16:rowId xmlns:a16="http://schemas.microsoft.com/office/drawing/2014/main" val="10003"/>
                  </a:ext>
                </a:extLst>
              </a:tr>
              <a:tr h="553385">
                <a:tc>
                  <a:txBody>
                    <a:bodyPr/>
                    <a:lstStyle/>
                    <a:p>
                      <a:pPr algn="ctr">
                        <a:spcAft>
                          <a:spcPts val="0"/>
                        </a:spcAft>
                      </a:pPr>
                      <a:r>
                        <a:rPr lang="zh-CN" sz="1600" kern="0" dirty="0">
                          <a:effectLst/>
                          <a:latin typeface="Times New Roman" pitchFamily="18" charset="0"/>
                          <a:ea typeface="华文细黑" pitchFamily="2" charset="-122"/>
                          <a:cs typeface="Times New Roman" pitchFamily="18" charset="0"/>
                        </a:rPr>
                        <a:t>基于错误剪枝</a:t>
                      </a:r>
                      <a:endParaRPr lang="en-US" altLang="zh-CN" sz="1600" kern="0" dirty="0">
                        <a:effectLst/>
                        <a:latin typeface="Times New Roman" pitchFamily="18" charset="0"/>
                        <a:ea typeface="华文细黑" pitchFamily="2" charset="-122"/>
                        <a:cs typeface="Times New Roman" pitchFamily="18" charset="0"/>
                      </a:endParaRPr>
                    </a:p>
                    <a:p>
                      <a:pPr algn="ctr">
                        <a:spcAft>
                          <a:spcPts val="0"/>
                        </a:spcAft>
                      </a:pPr>
                      <a:r>
                        <a:rPr lang="en-US" sz="1600" kern="0" dirty="0">
                          <a:effectLst/>
                          <a:latin typeface="Times New Roman" pitchFamily="18" charset="0"/>
                          <a:ea typeface="华文细黑" pitchFamily="2" charset="-122"/>
                          <a:cs typeface="Times New Roman" pitchFamily="18" charset="0"/>
                        </a:rPr>
                        <a:t>EBP</a:t>
                      </a:r>
                      <a:endParaRPr lang="zh-CN" sz="2200" kern="100" dirty="0">
                        <a:effectLst/>
                        <a:latin typeface="Times New Roman" pitchFamily="18" charset="0"/>
                        <a:ea typeface="华文细黑" pitchFamily="2" charset="-122"/>
                        <a:cs typeface="Times New Roman" pitchFamily="18" charset="0"/>
                      </a:endParaRPr>
                    </a:p>
                  </a:txBody>
                  <a:tcPr marL="68580" marR="68580" marT="0" marB="0" anchor="ctr"/>
                </a:tc>
                <a:tc>
                  <a:txBody>
                    <a:bodyPr/>
                    <a:lstStyle/>
                    <a:p>
                      <a:pPr algn="ctr">
                        <a:spcAft>
                          <a:spcPts val="0"/>
                        </a:spcAft>
                      </a:pPr>
                      <a:r>
                        <a:rPr lang="zh-CN" sz="1600" kern="0">
                          <a:effectLst/>
                          <a:latin typeface="Times New Roman" pitchFamily="18" charset="0"/>
                          <a:ea typeface="华文细黑" pitchFamily="2" charset="-122"/>
                          <a:cs typeface="Times New Roman" pitchFamily="18" charset="0"/>
                        </a:rPr>
                        <a:t>自底向上</a:t>
                      </a:r>
                      <a:endParaRPr lang="zh-CN" sz="2200" kern="100">
                        <a:effectLst/>
                        <a:latin typeface="Times New Roman" pitchFamily="18" charset="0"/>
                        <a:ea typeface="华文细黑" pitchFamily="2" charset="-122"/>
                        <a:cs typeface="Times New Roman" pitchFamily="18" charset="0"/>
                      </a:endParaRPr>
                    </a:p>
                  </a:txBody>
                  <a:tcPr marL="68580" marR="68580" marT="0" marB="0" anchor="ctr"/>
                </a:tc>
                <a:tc>
                  <a:txBody>
                    <a:bodyPr/>
                    <a:lstStyle/>
                    <a:p>
                      <a:pPr algn="ctr">
                        <a:spcAft>
                          <a:spcPts val="0"/>
                        </a:spcAft>
                      </a:pPr>
                      <a:r>
                        <a:rPr lang="zh-CN" sz="1600" kern="0" dirty="0">
                          <a:effectLst/>
                          <a:latin typeface="Times New Roman" pitchFamily="18" charset="0"/>
                          <a:ea typeface="华文细黑" pitchFamily="2" charset="-122"/>
                          <a:cs typeface="Times New Roman" pitchFamily="18" charset="0"/>
                        </a:rPr>
                        <a:t>不需要</a:t>
                      </a:r>
                      <a:endParaRPr lang="zh-CN" sz="2200" kern="100" dirty="0">
                        <a:effectLst/>
                        <a:latin typeface="Times New Roman" pitchFamily="18" charset="0"/>
                        <a:ea typeface="华文细黑" pitchFamily="2" charset="-122"/>
                        <a:cs typeface="Times New Roman" pitchFamily="18" charset="0"/>
                      </a:endParaRPr>
                    </a:p>
                  </a:txBody>
                  <a:tcPr marL="68580" marR="68580" marT="0" marB="0" anchor="ctr"/>
                </a:tc>
                <a:tc>
                  <a:txBody>
                    <a:bodyPr/>
                    <a:lstStyle/>
                    <a:p>
                      <a:pPr algn="ctr">
                        <a:spcAft>
                          <a:spcPts val="0"/>
                        </a:spcAft>
                      </a:pPr>
                      <a:r>
                        <a:rPr lang="zh-CN" sz="1600" kern="0" dirty="0">
                          <a:effectLst/>
                          <a:latin typeface="Times New Roman" pitchFamily="18" charset="0"/>
                          <a:ea typeface="华文细黑" pitchFamily="2" charset="-122"/>
                          <a:cs typeface="Times New Roman" pitchFamily="18" charset="0"/>
                        </a:rPr>
                        <a:t>概率分布的置信区间</a:t>
                      </a:r>
                      <a:endParaRPr lang="zh-CN" sz="2200" kern="100" dirty="0">
                        <a:effectLst/>
                        <a:latin typeface="Times New Roman" pitchFamily="18" charset="0"/>
                        <a:ea typeface="华文细黑" pitchFamily="2" charset="-122"/>
                        <a:cs typeface="Times New Roman" pitchFamily="18" charset="0"/>
                      </a:endParaRPr>
                    </a:p>
                  </a:txBody>
                  <a:tcPr marL="68580" marR="68580" marT="0" marB="0" anchor="ctr"/>
                </a:tc>
                <a:tc>
                  <a:txBody>
                    <a:bodyPr/>
                    <a:lstStyle/>
                    <a:p>
                      <a:pPr algn="ctr">
                        <a:spcAft>
                          <a:spcPts val="0"/>
                        </a:spcAft>
                      </a:pPr>
                      <a:r>
                        <a:rPr lang="zh-CN" sz="1600" kern="0">
                          <a:effectLst/>
                          <a:latin typeface="Times New Roman" pitchFamily="18" charset="0"/>
                          <a:ea typeface="华文细黑" pitchFamily="2" charset="-122"/>
                          <a:cs typeface="Times New Roman" pitchFamily="18" charset="0"/>
                        </a:rPr>
                        <a:t>欠剪枝</a:t>
                      </a:r>
                      <a:endParaRPr lang="zh-CN" sz="2200" kern="100">
                        <a:effectLst/>
                        <a:latin typeface="Times New Roman" pitchFamily="18" charset="0"/>
                        <a:ea typeface="华文细黑" pitchFamily="2" charset="-122"/>
                        <a:cs typeface="Times New Roman" pitchFamily="18" charset="0"/>
                      </a:endParaRPr>
                    </a:p>
                  </a:txBody>
                  <a:tcPr marL="68580" marR="68580" marT="0" marB="0" anchor="ctr"/>
                </a:tc>
                <a:extLst>
                  <a:ext uri="{0D108BD9-81ED-4DB2-BD59-A6C34878D82A}">
                    <a16:rowId xmlns:a16="http://schemas.microsoft.com/office/drawing/2014/main" val="10004"/>
                  </a:ext>
                </a:extLst>
              </a:tr>
              <a:tr h="553385">
                <a:tc>
                  <a:txBody>
                    <a:bodyPr/>
                    <a:lstStyle/>
                    <a:p>
                      <a:pPr algn="ctr">
                        <a:spcAft>
                          <a:spcPts val="0"/>
                        </a:spcAft>
                      </a:pPr>
                      <a:r>
                        <a:rPr lang="zh-CN" sz="1600" kern="0" dirty="0">
                          <a:effectLst/>
                          <a:latin typeface="Times New Roman" pitchFamily="18" charset="0"/>
                          <a:ea typeface="华文细黑" pitchFamily="2" charset="-122"/>
                          <a:cs typeface="Times New Roman" pitchFamily="18" charset="0"/>
                        </a:rPr>
                        <a:t>临界值剪枝</a:t>
                      </a:r>
                      <a:endParaRPr lang="en-US" altLang="zh-CN" sz="1600" kern="0" dirty="0">
                        <a:effectLst/>
                        <a:latin typeface="Times New Roman" pitchFamily="18" charset="0"/>
                        <a:ea typeface="华文细黑" pitchFamily="2" charset="-122"/>
                        <a:cs typeface="Times New Roman" pitchFamily="18" charset="0"/>
                      </a:endParaRPr>
                    </a:p>
                    <a:p>
                      <a:pPr algn="ctr">
                        <a:spcAft>
                          <a:spcPts val="0"/>
                        </a:spcAft>
                      </a:pPr>
                      <a:r>
                        <a:rPr lang="en-US" sz="1600" kern="0" dirty="0">
                          <a:effectLst/>
                          <a:latin typeface="Times New Roman" pitchFamily="18" charset="0"/>
                          <a:ea typeface="华文细黑" pitchFamily="2" charset="-122"/>
                          <a:cs typeface="Times New Roman" pitchFamily="18" charset="0"/>
                        </a:rPr>
                        <a:t>CVP</a:t>
                      </a:r>
                      <a:endParaRPr lang="zh-CN" sz="2200" kern="100" dirty="0">
                        <a:effectLst/>
                        <a:latin typeface="Times New Roman" pitchFamily="18" charset="0"/>
                        <a:ea typeface="华文细黑" pitchFamily="2" charset="-122"/>
                        <a:cs typeface="Times New Roman" pitchFamily="18" charset="0"/>
                      </a:endParaRPr>
                    </a:p>
                  </a:txBody>
                  <a:tcPr marL="68580" marR="68580" marT="0" marB="0" anchor="ctr"/>
                </a:tc>
                <a:tc>
                  <a:txBody>
                    <a:bodyPr/>
                    <a:lstStyle/>
                    <a:p>
                      <a:pPr algn="ctr">
                        <a:spcAft>
                          <a:spcPts val="0"/>
                        </a:spcAft>
                      </a:pPr>
                      <a:r>
                        <a:rPr lang="zh-CN" sz="1600" kern="0">
                          <a:effectLst/>
                          <a:latin typeface="Times New Roman" pitchFamily="18" charset="0"/>
                          <a:ea typeface="华文细黑" pitchFamily="2" charset="-122"/>
                          <a:cs typeface="Times New Roman" pitchFamily="18" charset="0"/>
                        </a:rPr>
                        <a:t>自底向上</a:t>
                      </a:r>
                      <a:endParaRPr lang="zh-CN" sz="2200" kern="100">
                        <a:effectLst/>
                        <a:latin typeface="Times New Roman" pitchFamily="18" charset="0"/>
                        <a:ea typeface="华文细黑" pitchFamily="2" charset="-122"/>
                        <a:cs typeface="Times New Roman" pitchFamily="18" charset="0"/>
                      </a:endParaRPr>
                    </a:p>
                  </a:txBody>
                  <a:tcPr marL="68580" marR="68580" marT="0" marB="0" anchor="ctr"/>
                </a:tc>
                <a:tc>
                  <a:txBody>
                    <a:bodyPr/>
                    <a:lstStyle/>
                    <a:p>
                      <a:pPr algn="ctr">
                        <a:spcAft>
                          <a:spcPts val="0"/>
                        </a:spcAft>
                      </a:pPr>
                      <a:r>
                        <a:rPr lang="zh-CN" sz="1600" kern="0">
                          <a:effectLst/>
                          <a:latin typeface="Times New Roman" pitchFamily="18" charset="0"/>
                          <a:ea typeface="华文细黑" pitchFamily="2" charset="-122"/>
                          <a:cs typeface="Times New Roman" pitchFamily="18" charset="0"/>
                        </a:rPr>
                        <a:t>不需要</a:t>
                      </a:r>
                      <a:endParaRPr lang="zh-CN" sz="2200" kern="100">
                        <a:effectLst/>
                        <a:latin typeface="Times New Roman" pitchFamily="18" charset="0"/>
                        <a:ea typeface="华文细黑" pitchFamily="2" charset="-122"/>
                        <a:cs typeface="Times New Roman" pitchFamily="18" charset="0"/>
                      </a:endParaRPr>
                    </a:p>
                  </a:txBody>
                  <a:tcPr marL="68580" marR="68580" marT="0" marB="0" anchor="ctr"/>
                </a:tc>
                <a:tc>
                  <a:txBody>
                    <a:bodyPr/>
                    <a:lstStyle/>
                    <a:p>
                      <a:pPr algn="ctr">
                        <a:spcAft>
                          <a:spcPts val="0"/>
                        </a:spcAft>
                      </a:pPr>
                      <a:r>
                        <a:rPr lang="zh-CN" sz="1600" kern="0" dirty="0">
                          <a:effectLst/>
                          <a:latin typeface="Times New Roman" pitchFamily="18" charset="0"/>
                          <a:ea typeface="华文细黑" pitchFamily="2" charset="-122"/>
                          <a:cs typeface="Times New Roman" pitchFamily="18" charset="0"/>
                        </a:rPr>
                        <a:t>卡方检验</a:t>
                      </a:r>
                      <a:endParaRPr lang="zh-CN" sz="2200" kern="100" dirty="0">
                        <a:effectLst/>
                        <a:latin typeface="Times New Roman" pitchFamily="18" charset="0"/>
                        <a:ea typeface="华文细黑" pitchFamily="2" charset="-122"/>
                        <a:cs typeface="Times New Roman" pitchFamily="18" charset="0"/>
                      </a:endParaRPr>
                    </a:p>
                  </a:txBody>
                  <a:tcPr marL="68580" marR="68580" marT="0" marB="0" anchor="ctr"/>
                </a:tc>
                <a:tc>
                  <a:txBody>
                    <a:bodyPr/>
                    <a:lstStyle/>
                    <a:p>
                      <a:pPr algn="ctr">
                        <a:spcAft>
                          <a:spcPts val="0"/>
                        </a:spcAft>
                      </a:pPr>
                      <a:r>
                        <a:rPr lang="zh-CN" sz="1600" kern="0">
                          <a:effectLst/>
                          <a:latin typeface="Times New Roman" pitchFamily="18" charset="0"/>
                          <a:ea typeface="华文细黑" pitchFamily="2" charset="-122"/>
                          <a:cs typeface="Times New Roman" pitchFamily="18" charset="0"/>
                        </a:rPr>
                        <a:t>欠剪枝</a:t>
                      </a:r>
                      <a:endParaRPr lang="zh-CN" sz="2200" kern="100">
                        <a:effectLst/>
                        <a:latin typeface="Times New Roman" pitchFamily="18" charset="0"/>
                        <a:ea typeface="华文细黑" pitchFamily="2" charset="-122"/>
                        <a:cs typeface="Times New Roman" pitchFamily="18" charset="0"/>
                      </a:endParaRPr>
                    </a:p>
                  </a:txBody>
                  <a:tcPr marL="68580" marR="68580" marT="0" marB="0" anchor="ctr"/>
                </a:tc>
                <a:extLst>
                  <a:ext uri="{0D108BD9-81ED-4DB2-BD59-A6C34878D82A}">
                    <a16:rowId xmlns:a16="http://schemas.microsoft.com/office/drawing/2014/main" val="10005"/>
                  </a:ext>
                </a:extLst>
              </a:tr>
              <a:tr h="553385">
                <a:tc>
                  <a:txBody>
                    <a:bodyPr/>
                    <a:lstStyle/>
                    <a:p>
                      <a:pPr algn="ctr">
                        <a:spcAft>
                          <a:spcPts val="0"/>
                        </a:spcAft>
                      </a:pPr>
                      <a:r>
                        <a:rPr lang="zh-CN" sz="1600" kern="0">
                          <a:effectLst/>
                          <a:latin typeface="Times New Roman" pitchFamily="18" charset="0"/>
                          <a:ea typeface="华文细黑" pitchFamily="2" charset="-122"/>
                          <a:cs typeface="Times New Roman" pitchFamily="18" charset="0"/>
                        </a:rPr>
                        <a:t>最小误差剪枝</a:t>
                      </a:r>
                      <a:r>
                        <a:rPr lang="en-US" sz="1600" kern="0">
                          <a:effectLst/>
                          <a:latin typeface="Times New Roman" pitchFamily="18" charset="0"/>
                          <a:ea typeface="华文细黑" pitchFamily="2" charset="-122"/>
                          <a:cs typeface="Times New Roman" pitchFamily="18" charset="0"/>
                        </a:rPr>
                        <a:t>MEP</a:t>
                      </a:r>
                      <a:endParaRPr lang="zh-CN" sz="2200" kern="100">
                        <a:effectLst/>
                        <a:latin typeface="Times New Roman" pitchFamily="18" charset="0"/>
                        <a:ea typeface="华文细黑" pitchFamily="2" charset="-122"/>
                        <a:cs typeface="Times New Roman" pitchFamily="18" charset="0"/>
                      </a:endParaRPr>
                    </a:p>
                  </a:txBody>
                  <a:tcPr marL="68580" marR="68580" marT="0" marB="0" anchor="ctr"/>
                </a:tc>
                <a:tc>
                  <a:txBody>
                    <a:bodyPr/>
                    <a:lstStyle/>
                    <a:p>
                      <a:pPr algn="ctr">
                        <a:spcAft>
                          <a:spcPts val="0"/>
                        </a:spcAft>
                      </a:pPr>
                      <a:r>
                        <a:rPr lang="zh-CN" sz="1600" kern="0">
                          <a:effectLst/>
                          <a:latin typeface="Times New Roman" pitchFamily="18" charset="0"/>
                          <a:ea typeface="华文细黑" pitchFamily="2" charset="-122"/>
                          <a:cs typeface="Times New Roman" pitchFamily="18" charset="0"/>
                        </a:rPr>
                        <a:t>自底向上</a:t>
                      </a:r>
                      <a:endParaRPr lang="zh-CN" sz="2200" kern="100">
                        <a:effectLst/>
                        <a:latin typeface="Times New Roman" pitchFamily="18" charset="0"/>
                        <a:ea typeface="华文细黑" pitchFamily="2" charset="-122"/>
                        <a:cs typeface="Times New Roman" pitchFamily="18" charset="0"/>
                      </a:endParaRPr>
                    </a:p>
                  </a:txBody>
                  <a:tcPr marL="68580" marR="68580" marT="0" marB="0" anchor="ctr"/>
                </a:tc>
                <a:tc>
                  <a:txBody>
                    <a:bodyPr/>
                    <a:lstStyle/>
                    <a:p>
                      <a:pPr algn="ctr">
                        <a:spcAft>
                          <a:spcPts val="0"/>
                        </a:spcAft>
                      </a:pPr>
                      <a:r>
                        <a:rPr lang="zh-CN" sz="1600" kern="0">
                          <a:effectLst/>
                          <a:latin typeface="Times New Roman" pitchFamily="18" charset="0"/>
                          <a:ea typeface="华文细黑" pitchFamily="2" charset="-122"/>
                          <a:cs typeface="Times New Roman" pitchFamily="18" charset="0"/>
                        </a:rPr>
                        <a:t>需要</a:t>
                      </a:r>
                      <a:endParaRPr lang="zh-CN" sz="2200" kern="100">
                        <a:effectLst/>
                        <a:latin typeface="Times New Roman" pitchFamily="18" charset="0"/>
                        <a:ea typeface="华文细黑" pitchFamily="2" charset="-122"/>
                        <a:cs typeface="Times New Roman" pitchFamily="18" charset="0"/>
                      </a:endParaRPr>
                    </a:p>
                  </a:txBody>
                  <a:tcPr marL="68580" marR="68580" marT="0" marB="0" anchor="ctr"/>
                </a:tc>
                <a:tc>
                  <a:txBody>
                    <a:bodyPr/>
                    <a:lstStyle/>
                    <a:p>
                      <a:pPr algn="ctr">
                        <a:spcAft>
                          <a:spcPts val="0"/>
                        </a:spcAft>
                      </a:pPr>
                      <a:r>
                        <a:rPr lang="en-US" sz="1600" kern="0" dirty="0">
                          <a:effectLst/>
                          <a:latin typeface="Times New Roman" pitchFamily="18" charset="0"/>
                          <a:ea typeface="华文细黑" pitchFamily="2" charset="-122"/>
                          <a:cs typeface="Times New Roman" pitchFamily="18" charset="0"/>
                        </a:rPr>
                        <a:t>m-</a:t>
                      </a:r>
                      <a:r>
                        <a:rPr lang="zh-CN" sz="1600" kern="0" dirty="0">
                          <a:effectLst/>
                          <a:latin typeface="Times New Roman" pitchFamily="18" charset="0"/>
                          <a:ea typeface="华文细黑" pitchFamily="2" charset="-122"/>
                          <a:cs typeface="Times New Roman" pitchFamily="18" charset="0"/>
                        </a:rPr>
                        <a:t>概率估计 </a:t>
                      </a:r>
                      <a:endParaRPr lang="en-US" altLang="zh-CN" sz="1600" kern="0" dirty="0">
                        <a:effectLst/>
                        <a:latin typeface="Times New Roman" pitchFamily="18" charset="0"/>
                        <a:ea typeface="华文细黑" pitchFamily="2" charset="-122"/>
                        <a:cs typeface="Times New Roman" pitchFamily="18" charset="0"/>
                      </a:endParaRPr>
                    </a:p>
                    <a:p>
                      <a:pPr algn="ctr">
                        <a:spcAft>
                          <a:spcPts val="0"/>
                        </a:spcAft>
                      </a:pPr>
                      <a:r>
                        <a:rPr lang="en-US" sz="1600" kern="0" dirty="0">
                          <a:effectLst/>
                          <a:latin typeface="Times New Roman" pitchFamily="18" charset="0"/>
                          <a:ea typeface="华文细黑" pitchFamily="2" charset="-122"/>
                          <a:cs typeface="Times New Roman" pitchFamily="18" charset="0"/>
                        </a:rPr>
                        <a:t>O(n)</a:t>
                      </a:r>
                      <a:endParaRPr lang="zh-CN" sz="2200" kern="100" dirty="0">
                        <a:effectLst/>
                        <a:latin typeface="Times New Roman" pitchFamily="18" charset="0"/>
                        <a:ea typeface="华文细黑" pitchFamily="2" charset="-122"/>
                        <a:cs typeface="Times New Roman" pitchFamily="18" charset="0"/>
                      </a:endParaRPr>
                    </a:p>
                  </a:txBody>
                  <a:tcPr marL="68580" marR="68580" marT="0" marB="0" anchor="ctr"/>
                </a:tc>
                <a:tc>
                  <a:txBody>
                    <a:bodyPr/>
                    <a:lstStyle/>
                    <a:p>
                      <a:pPr algn="ctr">
                        <a:spcAft>
                          <a:spcPts val="0"/>
                        </a:spcAft>
                      </a:pPr>
                      <a:r>
                        <a:rPr lang="zh-CN" sz="1600" kern="0" dirty="0">
                          <a:effectLst/>
                          <a:latin typeface="Times New Roman" pitchFamily="18" charset="0"/>
                          <a:ea typeface="华文细黑" pitchFamily="2" charset="-122"/>
                          <a:cs typeface="Times New Roman" pitchFamily="18" charset="0"/>
                        </a:rPr>
                        <a:t>欠剪枝</a:t>
                      </a:r>
                      <a:endParaRPr lang="zh-CN" sz="2200" kern="100" dirty="0">
                        <a:effectLst/>
                        <a:latin typeface="Times New Roman" pitchFamily="18" charset="0"/>
                        <a:ea typeface="华文细黑" pitchFamily="2" charset="-122"/>
                        <a:cs typeface="Times New Roman" pitchFamily="18" charset="0"/>
                      </a:endParaRPr>
                    </a:p>
                  </a:txBody>
                  <a:tcPr marL="68580" marR="68580" marT="0" marB="0" anchor="ctr"/>
                </a:tc>
                <a:extLst>
                  <a:ext uri="{0D108BD9-81ED-4DB2-BD59-A6C34878D82A}">
                    <a16:rowId xmlns:a16="http://schemas.microsoft.com/office/drawing/2014/main" val="10006"/>
                  </a:ext>
                </a:extLst>
              </a:tr>
            </a:tbl>
          </a:graphicData>
        </a:graphic>
      </p:graphicFrame>
      <p:sp>
        <p:nvSpPr>
          <p:cNvPr id="3" name="页脚占位符 2">
            <a:extLst>
              <a:ext uri="{FF2B5EF4-FFF2-40B4-BE49-F238E27FC236}">
                <a16:creationId xmlns:a16="http://schemas.microsoft.com/office/drawing/2014/main" id="{A43AEB3B-8EA0-4766-BE06-EFD85C56445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529E7FB-083F-4816-AD42-BBFD8940BE07}"/>
              </a:ext>
            </a:extLst>
          </p:cNvPr>
          <p:cNvSpPr>
            <a:spLocks noGrp="1"/>
          </p:cNvSpPr>
          <p:nvPr>
            <p:ph type="sldNum" sz="quarter" idx="12"/>
          </p:nvPr>
        </p:nvSpPr>
        <p:spPr/>
        <p:txBody>
          <a:bodyPr/>
          <a:lstStyle/>
          <a:p>
            <a:fld id="{5AD84F5B-1672-4D3F-9FEC-5DF89A7B7912}" type="slidenum">
              <a:rPr lang="zh-CN" altLang="en-US" smtClean="0"/>
              <a:t>79</a:t>
            </a:fld>
            <a:endParaRPr lang="zh-CN" altLang="en-US"/>
          </a:p>
        </p:txBody>
      </p:sp>
    </p:spTree>
    <p:extLst>
      <p:ext uri="{BB962C8B-B14F-4D97-AF65-F5344CB8AC3E}">
        <p14:creationId xmlns:p14="http://schemas.microsoft.com/office/powerpoint/2010/main" val="60105140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常提到的决策树算法</a:t>
            </a:r>
          </a:p>
        </p:txBody>
      </p:sp>
      <p:sp>
        <p:nvSpPr>
          <p:cNvPr id="3" name="内容占位符 2"/>
          <p:cNvSpPr>
            <a:spLocks noGrp="1"/>
          </p:cNvSpPr>
          <p:nvPr>
            <p:ph idx="1"/>
          </p:nvPr>
        </p:nvSpPr>
        <p:spPr/>
        <p:txBody>
          <a:bodyPr numCol="2">
            <a:normAutofit/>
          </a:bodyPr>
          <a:lstStyle/>
          <a:p>
            <a:r>
              <a:rPr lang="en-US" altLang="zh-CN" dirty="0"/>
              <a:t>CART</a:t>
            </a:r>
          </a:p>
          <a:p>
            <a:pPr lvl="1"/>
            <a:r>
              <a:rPr lang="zh-CN" altLang="en-US" dirty="0"/>
              <a:t>二元划分</a:t>
            </a:r>
            <a:endParaRPr lang="en-US" altLang="zh-CN" dirty="0"/>
          </a:p>
          <a:p>
            <a:pPr lvl="1"/>
            <a:r>
              <a:rPr lang="en-US" altLang="zh-CN" dirty="0" err="1"/>
              <a:t>Gini</a:t>
            </a:r>
            <a:endParaRPr lang="en-US" altLang="zh-CN" dirty="0"/>
          </a:p>
          <a:p>
            <a:pPr lvl="1"/>
            <a:r>
              <a:rPr lang="zh-CN" altLang="en-US" dirty="0"/>
              <a:t>误差平方和准则</a:t>
            </a:r>
            <a:endParaRPr lang="en-US" altLang="zh-CN" dirty="0"/>
          </a:p>
          <a:p>
            <a:pPr lvl="1"/>
            <a:r>
              <a:rPr lang="zh-CN" altLang="en-US" dirty="0"/>
              <a:t>剪枝：</a:t>
            </a:r>
            <a:r>
              <a:rPr lang="zh-CN" altLang="zh-CN" dirty="0"/>
              <a:t>整体损失函数极小化</a:t>
            </a:r>
            <a:endParaRPr lang="en-US" altLang="zh-CN" dirty="0"/>
          </a:p>
          <a:p>
            <a:r>
              <a:rPr lang="en-US" altLang="zh-CN" dirty="0"/>
              <a:t>ID3</a:t>
            </a:r>
          </a:p>
          <a:p>
            <a:pPr lvl="1"/>
            <a:r>
              <a:rPr lang="zh-CN" altLang="en-US" dirty="0"/>
              <a:t>仅</a:t>
            </a:r>
            <a:r>
              <a:rPr lang="en-US" altLang="zh-CN" dirty="0"/>
              <a:t>Nominal</a:t>
            </a:r>
            <a:r>
              <a:rPr lang="zh-CN" altLang="en-US" dirty="0"/>
              <a:t>属性</a:t>
            </a:r>
            <a:r>
              <a:rPr lang="en-US" altLang="zh-CN" dirty="0"/>
              <a:t>(</a:t>
            </a:r>
            <a:r>
              <a:rPr lang="zh-CN" altLang="en-US" dirty="0"/>
              <a:t>分类的</a:t>
            </a:r>
            <a:r>
              <a:rPr lang="en-US" altLang="zh-CN" dirty="0"/>
              <a:t>)</a:t>
            </a:r>
          </a:p>
          <a:p>
            <a:pPr lvl="1"/>
            <a:r>
              <a:rPr lang="zh-CN" altLang="en-US" dirty="0"/>
              <a:t>信息熵</a:t>
            </a:r>
            <a:endParaRPr lang="en-US" altLang="zh-CN" dirty="0"/>
          </a:p>
          <a:p>
            <a:pPr lvl="1"/>
            <a:r>
              <a:rPr lang="zh-CN" altLang="en-US" dirty="0"/>
              <a:t>信息增益</a:t>
            </a:r>
            <a:endParaRPr lang="en-US" altLang="zh-CN" dirty="0"/>
          </a:p>
          <a:p>
            <a:r>
              <a:rPr lang="en-US" altLang="zh-CN" dirty="0"/>
              <a:t>C4.5</a:t>
            </a:r>
          </a:p>
          <a:p>
            <a:pPr lvl="1"/>
            <a:r>
              <a:rPr lang="zh-CN" altLang="en-US" dirty="0"/>
              <a:t>信息熵</a:t>
            </a:r>
            <a:endParaRPr lang="en-US" altLang="zh-CN" dirty="0"/>
          </a:p>
          <a:p>
            <a:pPr lvl="1"/>
            <a:r>
              <a:rPr lang="zh-CN" altLang="en-US" dirty="0"/>
              <a:t>信息增益率</a:t>
            </a:r>
            <a:endParaRPr lang="en-US" altLang="zh-CN" dirty="0"/>
          </a:p>
          <a:p>
            <a:pPr lvl="1"/>
            <a:r>
              <a:rPr lang="zh-CN" altLang="en-US" dirty="0"/>
              <a:t>处理离散属性，或离散化了的连续属性</a:t>
            </a:r>
            <a:endParaRPr lang="en-US" altLang="zh-CN" dirty="0"/>
          </a:p>
          <a:p>
            <a:pPr lvl="1"/>
            <a:r>
              <a:rPr lang="zh-CN" altLang="en-US" dirty="0"/>
              <a:t>后剪枝</a:t>
            </a:r>
            <a:endParaRPr lang="en-US" altLang="zh-CN" dirty="0"/>
          </a:p>
          <a:p>
            <a:endParaRPr lang="zh-CN" altLang="en-US" dirty="0"/>
          </a:p>
        </p:txBody>
      </p:sp>
      <p:sp>
        <p:nvSpPr>
          <p:cNvPr id="4" name="页脚占位符 3">
            <a:extLst>
              <a:ext uri="{FF2B5EF4-FFF2-40B4-BE49-F238E27FC236}">
                <a16:creationId xmlns:a16="http://schemas.microsoft.com/office/drawing/2014/main" id="{16CB7F6C-B629-48E1-B369-7691F4ECDD8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E373F07-430B-4979-AA13-C032EC3A8A3D}"/>
              </a:ext>
            </a:extLst>
          </p:cNvPr>
          <p:cNvSpPr>
            <a:spLocks noGrp="1"/>
          </p:cNvSpPr>
          <p:nvPr>
            <p:ph type="sldNum" sz="quarter" idx="12"/>
          </p:nvPr>
        </p:nvSpPr>
        <p:spPr/>
        <p:txBody>
          <a:bodyPr/>
          <a:lstStyle/>
          <a:p>
            <a:fld id="{5AD84F5B-1672-4D3F-9FEC-5DF89A7B7912}" type="slidenum">
              <a:rPr lang="zh-CN" altLang="en-US" smtClean="0"/>
              <a:t>80</a:t>
            </a:fld>
            <a:endParaRPr lang="zh-CN" altLang="en-US"/>
          </a:p>
        </p:txBody>
      </p:sp>
    </p:spTree>
    <p:extLst>
      <p:ext uri="{BB962C8B-B14F-4D97-AF65-F5344CB8AC3E}">
        <p14:creationId xmlns:p14="http://schemas.microsoft.com/office/powerpoint/2010/main" val="277365577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决策树归纳的特点</a:t>
            </a:r>
          </a:p>
        </p:txBody>
      </p:sp>
      <p:sp>
        <p:nvSpPr>
          <p:cNvPr id="3" name="内容占位符 2"/>
          <p:cNvSpPr>
            <a:spLocks noGrp="1"/>
          </p:cNvSpPr>
          <p:nvPr>
            <p:ph idx="1"/>
          </p:nvPr>
        </p:nvSpPr>
        <p:spPr/>
        <p:txBody>
          <a:bodyPr>
            <a:normAutofit/>
          </a:bodyPr>
          <a:lstStyle/>
          <a:p>
            <a:r>
              <a:rPr lang="zh-CN" altLang="en-US" dirty="0"/>
              <a:t>决策树是一种构建分类模型的非参数方法</a:t>
            </a:r>
            <a:endParaRPr lang="en-US" altLang="zh-CN" dirty="0"/>
          </a:p>
          <a:p>
            <a:pPr lvl="1"/>
            <a:r>
              <a:rPr lang="zh-CN" altLang="en-US" dirty="0"/>
              <a:t>不需要先验假设</a:t>
            </a:r>
            <a:endParaRPr lang="en-US" altLang="zh-CN" dirty="0"/>
          </a:p>
          <a:p>
            <a:pPr lvl="1"/>
            <a:r>
              <a:rPr lang="zh-CN" altLang="en-US" dirty="0"/>
              <a:t>不假定类</a:t>
            </a:r>
            <a:r>
              <a:rPr lang="en-US" altLang="zh-CN" dirty="0"/>
              <a:t>/</a:t>
            </a:r>
            <a:r>
              <a:rPr lang="zh-CN" altLang="en-US" dirty="0"/>
              <a:t>属性服从一定的概率分布</a:t>
            </a:r>
          </a:p>
          <a:p>
            <a:r>
              <a:rPr lang="zh-CN" altLang="en-US" dirty="0"/>
              <a:t>不需要昂贵的的计算代价</a:t>
            </a:r>
            <a:endParaRPr lang="en-US" altLang="zh-CN" dirty="0"/>
          </a:p>
          <a:p>
            <a:pPr lvl="1"/>
            <a:r>
              <a:rPr lang="zh-CN" altLang="en-US" dirty="0"/>
              <a:t>即使训练集巨大，也可快速建立模型</a:t>
            </a:r>
            <a:endParaRPr lang="en-US" altLang="zh-CN" dirty="0"/>
          </a:p>
          <a:p>
            <a:pPr lvl="1"/>
            <a:r>
              <a:rPr lang="zh-CN" altLang="en-US" dirty="0"/>
              <a:t>未知样本分类非常快</a:t>
            </a:r>
            <a:endParaRPr lang="en-US" altLang="zh-CN" dirty="0"/>
          </a:p>
          <a:p>
            <a:r>
              <a:rPr lang="zh-CN" altLang="en-US" dirty="0"/>
              <a:t>决策树相对容易解释</a:t>
            </a:r>
            <a:endParaRPr lang="en-US" altLang="zh-CN" dirty="0"/>
          </a:p>
          <a:p>
            <a:pPr lvl="1"/>
            <a:r>
              <a:rPr lang="zh-CN" altLang="en-US" dirty="0"/>
              <a:t>特别是小型的决策树</a:t>
            </a:r>
            <a:endParaRPr lang="en-US" altLang="zh-CN" dirty="0"/>
          </a:p>
          <a:p>
            <a:pPr lvl="1"/>
            <a:r>
              <a:rPr lang="zh-CN" altLang="en-US" dirty="0"/>
              <a:t>对于简单数据集，准确率高</a:t>
            </a:r>
          </a:p>
          <a:p>
            <a:endParaRPr lang="zh-CN" altLang="en-US" sz="3200" dirty="0"/>
          </a:p>
        </p:txBody>
      </p:sp>
      <p:sp>
        <p:nvSpPr>
          <p:cNvPr id="4" name="页脚占位符 3">
            <a:extLst>
              <a:ext uri="{FF2B5EF4-FFF2-40B4-BE49-F238E27FC236}">
                <a16:creationId xmlns:a16="http://schemas.microsoft.com/office/drawing/2014/main" id="{ED7F3806-EC82-4FD3-A055-FE5985876CB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479A64D-ED23-4BB3-B3CF-4EC13918EED0}"/>
              </a:ext>
            </a:extLst>
          </p:cNvPr>
          <p:cNvSpPr>
            <a:spLocks noGrp="1"/>
          </p:cNvSpPr>
          <p:nvPr>
            <p:ph type="sldNum" sz="quarter" idx="12"/>
          </p:nvPr>
        </p:nvSpPr>
        <p:spPr/>
        <p:txBody>
          <a:bodyPr/>
          <a:lstStyle/>
          <a:p>
            <a:fld id="{5AD84F5B-1672-4D3F-9FEC-5DF89A7B7912}" type="slidenum">
              <a:rPr lang="zh-CN" altLang="en-US" smtClean="0"/>
              <a:t>81</a:t>
            </a:fld>
            <a:endParaRPr lang="zh-CN" altLang="en-US"/>
          </a:p>
        </p:txBody>
      </p:sp>
    </p:spTree>
    <p:extLst>
      <p:ext uri="{BB962C8B-B14F-4D97-AF65-F5344CB8AC3E}">
        <p14:creationId xmlns:p14="http://schemas.microsoft.com/office/powerpoint/2010/main" val="393979610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074" name="Rectangle 2"/>
          <p:cNvSpPr>
            <a:spLocks noGrp="1" noChangeArrowheads="1"/>
          </p:cNvSpPr>
          <p:nvPr>
            <p:ph type="title"/>
          </p:nvPr>
        </p:nvSpPr>
        <p:spPr/>
        <p:txBody>
          <a:bodyPr/>
          <a:lstStyle/>
          <a:p>
            <a:r>
              <a:rPr lang="zh-CN" altLang="en-US" dirty="0"/>
              <a:t>决策树归纳的特点</a:t>
            </a:r>
          </a:p>
        </p:txBody>
      </p:sp>
      <p:sp>
        <p:nvSpPr>
          <p:cNvPr id="899075" name="Rectangle 3"/>
          <p:cNvSpPr>
            <a:spLocks noGrp="1" noChangeArrowheads="1"/>
          </p:cNvSpPr>
          <p:nvPr>
            <p:ph idx="1"/>
          </p:nvPr>
        </p:nvSpPr>
        <p:spPr/>
        <p:txBody>
          <a:bodyPr>
            <a:noAutofit/>
          </a:bodyPr>
          <a:lstStyle/>
          <a:p>
            <a:r>
              <a:rPr lang="zh-CN" altLang="en-US" dirty="0"/>
              <a:t>决策树是学习离散值函数的典型代表</a:t>
            </a:r>
            <a:endParaRPr lang="en-US" altLang="zh-CN" dirty="0"/>
          </a:p>
          <a:p>
            <a:pPr lvl="1"/>
            <a:r>
              <a:rPr lang="zh-CN" altLang="en-US" dirty="0"/>
              <a:t>某些特定的布尔问题不适用</a:t>
            </a:r>
          </a:p>
          <a:p>
            <a:r>
              <a:rPr lang="zh-CN" altLang="en-US" dirty="0"/>
              <a:t>决策树对于噪声的干扰具有相当好的鲁棒性</a:t>
            </a:r>
            <a:endParaRPr lang="en-US" altLang="zh-CN" dirty="0"/>
          </a:p>
          <a:p>
            <a:pPr lvl="1"/>
            <a:r>
              <a:rPr lang="zh-CN" altLang="en-US" dirty="0"/>
              <a:t>采用避免</a:t>
            </a:r>
            <a:r>
              <a:rPr lang="zh-CN" altLang="en-US" u="sng" dirty="0">
                <a:solidFill>
                  <a:srgbClr val="FF0000"/>
                </a:solidFill>
              </a:rPr>
              <a:t>过分拟合</a:t>
            </a:r>
            <a:r>
              <a:rPr lang="zh-CN" altLang="en-US" dirty="0"/>
              <a:t>的方法后尤其如此</a:t>
            </a:r>
            <a:endParaRPr lang="en-US" altLang="zh-CN" dirty="0"/>
          </a:p>
          <a:p>
            <a:r>
              <a:rPr lang="zh-CN" altLang="en-US" dirty="0"/>
              <a:t>冗余属性不会对决策树的准确率造成不利影响</a:t>
            </a:r>
            <a:endParaRPr lang="en-US" altLang="zh-CN" dirty="0"/>
          </a:p>
          <a:p>
            <a:pPr lvl="1"/>
            <a:r>
              <a:rPr lang="zh-CN" altLang="en-US" dirty="0"/>
              <a:t>强相关属性</a:t>
            </a:r>
            <a:r>
              <a:rPr lang="en-US" altLang="zh-CN" dirty="0">
                <a:sym typeface="Wingdings" pitchFamily="2" charset="2"/>
              </a:rPr>
              <a:t></a:t>
            </a:r>
            <a:r>
              <a:rPr lang="zh-CN" altLang="en-US" dirty="0">
                <a:sym typeface="Wingdings" pitchFamily="2" charset="2"/>
              </a:rPr>
              <a:t>冗余</a:t>
            </a:r>
            <a:endParaRPr lang="en-US" altLang="zh-CN" dirty="0">
              <a:sym typeface="Wingdings" pitchFamily="2" charset="2"/>
            </a:endParaRPr>
          </a:p>
          <a:p>
            <a:pPr lvl="1"/>
            <a:r>
              <a:rPr lang="zh-CN" altLang="en-US" dirty="0">
                <a:sym typeface="Wingdings" pitchFamily="2" charset="2"/>
              </a:rPr>
              <a:t>选择一个用作划分，忽略另一个</a:t>
            </a:r>
            <a:endParaRPr lang="en-US" altLang="zh-CN" dirty="0">
              <a:sym typeface="Wingdings" pitchFamily="2" charset="2"/>
            </a:endParaRPr>
          </a:p>
          <a:p>
            <a:pPr lvl="1"/>
            <a:endParaRPr lang="en-US" altLang="zh-CN" dirty="0"/>
          </a:p>
        </p:txBody>
      </p:sp>
      <p:sp>
        <p:nvSpPr>
          <p:cNvPr id="2" name="灯片编号占位符 1"/>
          <p:cNvSpPr>
            <a:spLocks noGrp="1"/>
          </p:cNvSpPr>
          <p:nvPr>
            <p:ph type="sldNum" sz="quarter" idx="12"/>
          </p:nvPr>
        </p:nvSpPr>
        <p:spPr/>
        <p:txBody>
          <a:bodyPr/>
          <a:lstStyle/>
          <a:p>
            <a:fld id="{6435AE0B-8C6B-4385-9ECF-079FDFACE1FC}" type="slidenum">
              <a:rPr lang="en-US" altLang="zh-CN" smtClean="0"/>
              <a:pPr/>
              <a:t>82</a:t>
            </a:fld>
            <a:endParaRPr lang="en-US" altLang="zh-CN"/>
          </a:p>
        </p:txBody>
      </p:sp>
      <p:sp>
        <p:nvSpPr>
          <p:cNvPr id="3" name="页脚占位符 2">
            <a:extLst>
              <a:ext uri="{FF2B5EF4-FFF2-40B4-BE49-F238E27FC236}">
                <a16:creationId xmlns:a16="http://schemas.microsoft.com/office/drawing/2014/main" id="{AE5F22EC-ED00-414D-8966-A5ADE2828253}"/>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97072748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074" name="Rectangle 2"/>
          <p:cNvSpPr>
            <a:spLocks noGrp="1" noChangeArrowheads="1"/>
          </p:cNvSpPr>
          <p:nvPr>
            <p:ph type="title"/>
          </p:nvPr>
        </p:nvSpPr>
        <p:spPr/>
        <p:txBody>
          <a:bodyPr/>
          <a:lstStyle/>
          <a:p>
            <a:r>
              <a:rPr lang="zh-CN" altLang="en-US" dirty="0"/>
              <a:t>决策树归纳的特点</a:t>
            </a:r>
          </a:p>
        </p:txBody>
      </p:sp>
      <p:sp>
        <p:nvSpPr>
          <p:cNvPr id="899075" name="Rectangle 3"/>
          <p:cNvSpPr>
            <a:spLocks noGrp="1" noChangeArrowheads="1"/>
          </p:cNvSpPr>
          <p:nvPr>
            <p:ph idx="1"/>
          </p:nvPr>
        </p:nvSpPr>
        <p:spPr/>
        <p:txBody>
          <a:bodyPr>
            <a:noAutofit/>
          </a:bodyPr>
          <a:lstStyle/>
          <a:p>
            <a:r>
              <a:rPr lang="zh-CN" altLang="en-US" dirty="0"/>
              <a:t>数据碎片问题</a:t>
            </a:r>
            <a:endParaRPr lang="en-US" altLang="zh-CN" dirty="0"/>
          </a:p>
          <a:p>
            <a:pPr lvl="1"/>
            <a:r>
              <a:rPr lang="zh-CN" altLang="en-US" dirty="0"/>
              <a:t>随着决策树的生长，可能导致叶结点记录数太少，对于叶结点代表的类，不能做出具有统计意义的判决，这些就是</a:t>
            </a:r>
            <a:r>
              <a:rPr lang="zh-CN" altLang="en-US" u="sng" dirty="0">
                <a:solidFill>
                  <a:srgbClr val="FF0000"/>
                </a:solidFill>
              </a:rPr>
              <a:t>数据碎片</a:t>
            </a:r>
          </a:p>
          <a:p>
            <a:endParaRPr lang="en-US" altLang="zh-CN" dirty="0"/>
          </a:p>
        </p:txBody>
      </p:sp>
      <p:sp>
        <p:nvSpPr>
          <p:cNvPr id="2" name="灯片编号占位符 1"/>
          <p:cNvSpPr>
            <a:spLocks noGrp="1"/>
          </p:cNvSpPr>
          <p:nvPr>
            <p:ph type="sldNum" sz="quarter" idx="12"/>
          </p:nvPr>
        </p:nvSpPr>
        <p:spPr/>
        <p:txBody>
          <a:bodyPr/>
          <a:lstStyle/>
          <a:p>
            <a:fld id="{6435AE0B-8C6B-4385-9ECF-079FDFACE1FC}" type="slidenum">
              <a:rPr lang="en-US" altLang="zh-CN" smtClean="0"/>
              <a:pPr/>
              <a:t>83</a:t>
            </a:fld>
            <a:endParaRPr lang="en-US" altLang="zh-CN"/>
          </a:p>
        </p:txBody>
      </p:sp>
      <p:sp>
        <p:nvSpPr>
          <p:cNvPr id="3" name="页脚占位符 2">
            <a:extLst>
              <a:ext uri="{FF2B5EF4-FFF2-40B4-BE49-F238E27FC236}">
                <a16:creationId xmlns:a16="http://schemas.microsoft.com/office/drawing/2014/main" id="{1F41716C-78D6-49CD-A361-46923F2060D0}"/>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196994501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074" name="Rectangle 2"/>
          <p:cNvSpPr>
            <a:spLocks noGrp="1" noChangeArrowheads="1"/>
          </p:cNvSpPr>
          <p:nvPr>
            <p:ph type="title"/>
          </p:nvPr>
        </p:nvSpPr>
        <p:spPr/>
        <p:txBody>
          <a:bodyPr/>
          <a:lstStyle/>
          <a:p>
            <a:r>
              <a:rPr lang="zh-CN" altLang="en-US" dirty="0"/>
              <a:t>决策树归纳的特点</a:t>
            </a:r>
          </a:p>
        </p:txBody>
      </p:sp>
      <p:sp>
        <p:nvSpPr>
          <p:cNvPr id="899075" name="Rectangle 3"/>
          <p:cNvSpPr>
            <a:spLocks noGrp="1" noChangeArrowheads="1"/>
          </p:cNvSpPr>
          <p:nvPr>
            <p:ph idx="1"/>
          </p:nvPr>
        </p:nvSpPr>
        <p:spPr/>
        <p:txBody>
          <a:bodyPr>
            <a:noAutofit/>
          </a:bodyPr>
          <a:lstStyle/>
          <a:p>
            <a:r>
              <a:rPr lang="zh-CN" altLang="en-US" dirty="0"/>
              <a:t>子树可能在决策树中重复多次。使决策树过于复杂</a:t>
            </a:r>
          </a:p>
          <a:p>
            <a:pPr lvl="1"/>
            <a:endParaRPr lang="zh-CN" altLang="en-US" dirty="0"/>
          </a:p>
        </p:txBody>
      </p:sp>
      <p:sp>
        <p:nvSpPr>
          <p:cNvPr id="2" name="灯片编号占位符 1"/>
          <p:cNvSpPr>
            <a:spLocks noGrp="1"/>
          </p:cNvSpPr>
          <p:nvPr>
            <p:ph type="sldNum" sz="quarter" idx="12"/>
          </p:nvPr>
        </p:nvSpPr>
        <p:spPr/>
        <p:txBody>
          <a:bodyPr/>
          <a:lstStyle/>
          <a:p>
            <a:fld id="{6435AE0B-8C6B-4385-9ECF-079FDFACE1FC}" type="slidenum">
              <a:rPr lang="en-US" altLang="zh-CN" smtClean="0"/>
              <a:pPr/>
              <a:t>84</a:t>
            </a:fld>
            <a:endParaRPr lang="en-US" altLang="zh-CN"/>
          </a:p>
        </p:txBody>
      </p:sp>
      <p:graphicFrame>
        <p:nvGraphicFramePr>
          <p:cNvPr id="4" name="Object 3"/>
          <p:cNvGraphicFramePr>
            <a:graphicFrameLocks noChangeAspect="1"/>
          </p:cNvGraphicFramePr>
          <p:nvPr/>
        </p:nvGraphicFramePr>
        <p:xfrm>
          <a:off x="1403648" y="2113178"/>
          <a:ext cx="5867400" cy="3599656"/>
        </p:xfrm>
        <a:graphic>
          <a:graphicData uri="http://schemas.openxmlformats.org/presentationml/2006/ole">
            <mc:AlternateContent xmlns:mc="http://schemas.openxmlformats.org/markup-compatibility/2006">
              <mc:Choice xmlns:v="urn:schemas-microsoft-com:vml" Requires="v">
                <p:oleObj spid="_x0000_s13344" name="VISIO" r:id="rId3" imgW="9533880" imgH="7019280" progId="Visio.Drawing.6">
                  <p:embed/>
                </p:oleObj>
              </mc:Choice>
              <mc:Fallback>
                <p:oleObj name="VISIO" r:id="rId3" imgW="9533880" imgH="7019280" progId="Visio.Drawing.6">
                  <p:embed/>
                  <p:pic>
                    <p:nvPicPr>
                      <p:cNvPr id="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648" y="2113178"/>
                        <a:ext cx="5867400" cy="359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4"/>
          <p:cNvSpPr txBox="1">
            <a:spLocks noChangeArrowheads="1"/>
          </p:cNvSpPr>
          <p:nvPr/>
        </p:nvSpPr>
        <p:spPr bwMode="auto">
          <a:xfrm>
            <a:off x="1979712" y="5744767"/>
            <a:ext cx="42484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dirty="0">
                <a:solidFill>
                  <a:srgbClr val="C00000"/>
                </a:solidFill>
                <a:latin typeface="华文细黑" pitchFamily="2" charset="-122"/>
                <a:ea typeface="华文细黑" pitchFamily="2" charset="-122"/>
              </a:rPr>
              <a:t>在多个分支中出现同样的子树</a:t>
            </a:r>
            <a:endParaRPr lang="en-US" altLang="zh-CN" sz="2400" dirty="0">
              <a:solidFill>
                <a:srgbClr val="C00000"/>
              </a:solidFill>
              <a:latin typeface="华文细黑" pitchFamily="2" charset="-122"/>
              <a:ea typeface="华文细黑" pitchFamily="2" charset="-122"/>
            </a:endParaRPr>
          </a:p>
        </p:txBody>
      </p:sp>
      <p:sp>
        <p:nvSpPr>
          <p:cNvPr id="3" name="页脚占位符 2">
            <a:extLst>
              <a:ext uri="{FF2B5EF4-FFF2-40B4-BE49-F238E27FC236}">
                <a16:creationId xmlns:a16="http://schemas.microsoft.com/office/drawing/2014/main" id="{9C551FAA-5C2B-476C-842D-ED720714F859}"/>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86339611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074" name="Rectangle 2"/>
          <p:cNvSpPr>
            <a:spLocks noGrp="1" noChangeArrowheads="1"/>
          </p:cNvSpPr>
          <p:nvPr>
            <p:ph type="title"/>
          </p:nvPr>
        </p:nvSpPr>
        <p:spPr/>
        <p:txBody>
          <a:bodyPr/>
          <a:lstStyle/>
          <a:p>
            <a:r>
              <a:rPr lang="zh-CN" altLang="en-US" dirty="0"/>
              <a:t>决策树归纳的特点</a:t>
            </a:r>
          </a:p>
        </p:txBody>
      </p:sp>
      <p:sp>
        <p:nvSpPr>
          <p:cNvPr id="899075" name="Rectangle 3"/>
          <p:cNvSpPr>
            <a:spLocks noGrp="1" noChangeArrowheads="1"/>
          </p:cNvSpPr>
          <p:nvPr>
            <p:ph idx="1"/>
          </p:nvPr>
        </p:nvSpPr>
        <p:spPr/>
        <p:txBody>
          <a:bodyPr>
            <a:noAutofit/>
          </a:bodyPr>
          <a:lstStyle/>
          <a:p>
            <a:r>
              <a:rPr lang="zh-CN" altLang="en-US" dirty="0"/>
              <a:t>决策边界</a:t>
            </a:r>
            <a:endParaRPr lang="en-US" altLang="zh-CN" dirty="0"/>
          </a:p>
          <a:p>
            <a:pPr lvl="1"/>
            <a:r>
              <a:rPr lang="zh-CN" altLang="en-US" dirty="0"/>
              <a:t>对单个属性运用测试条件，则树的生长过程即为将属性空间划分为不相交的区域的过程</a:t>
            </a:r>
            <a:endParaRPr lang="en-US" altLang="zh-CN" dirty="0"/>
          </a:p>
          <a:p>
            <a:pPr lvl="1"/>
            <a:r>
              <a:rPr lang="zh-CN" altLang="en-US" dirty="0"/>
              <a:t>对单个属性运用测试条件，决策边界为直线，且平行于坐标轴</a:t>
            </a:r>
          </a:p>
          <a:p>
            <a:pPr lvl="1"/>
            <a:endParaRPr lang="zh-CN" altLang="en-US" dirty="0"/>
          </a:p>
        </p:txBody>
      </p:sp>
      <p:sp>
        <p:nvSpPr>
          <p:cNvPr id="2" name="灯片编号占位符 1"/>
          <p:cNvSpPr>
            <a:spLocks noGrp="1"/>
          </p:cNvSpPr>
          <p:nvPr>
            <p:ph type="sldNum" sz="quarter" idx="12"/>
          </p:nvPr>
        </p:nvSpPr>
        <p:spPr/>
        <p:txBody>
          <a:bodyPr/>
          <a:lstStyle/>
          <a:p>
            <a:fld id="{6435AE0B-8C6B-4385-9ECF-079FDFACE1FC}" type="slidenum">
              <a:rPr lang="en-US" altLang="zh-CN" smtClean="0"/>
              <a:pPr/>
              <a:t>85</a:t>
            </a:fld>
            <a:endParaRPr lang="en-US" altLang="zh-CN"/>
          </a:p>
        </p:txBody>
      </p:sp>
      <p:graphicFrame>
        <p:nvGraphicFramePr>
          <p:cNvPr id="4" name="Object 3"/>
          <p:cNvGraphicFramePr>
            <a:graphicFrameLocks noChangeAspect="1"/>
          </p:cNvGraphicFramePr>
          <p:nvPr/>
        </p:nvGraphicFramePr>
        <p:xfrm>
          <a:off x="539552" y="3284984"/>
          <a:ext cx="8465134" cy="3030000"/>
        </p:xfrm>
        <a:graphic>
          <a:graphicData uri="http://schemas.openxmlformats.org/presentationml/2006/ole">
            <mc:AlternateContent xmlns:mc="http://schemas.openxmlformats.org/markup-compatibility/2006">
              <mc:Choice xmlns:v="urn:schemas-microsoft-com:vml" Requires="v">
                <p:oleObj spid="_x0000_s14368" name="Visio" r:id="rId3" imgW="8908491" imgH="3827261" progId="Visio.Drawing.6">
                  <p:embed/>
                </p:oleObj>
              </mc:Choice>
              <mc:Fallback>
                <p:oleObj name="Visio" r:id="rId3" imgW="8908491" imgH="3827261" progId="Visio.Drawing.6">
                  <p:embed/>
                  <p:pic>
                    <p:nvPicPr>
                      <p:cNvPr id="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552" y="3284984"/>
                        <a:ext cx="8465134" cy="303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页脚占位符 2">
            <a:extLst>
              <a:ext uri="{FF2B5EF4-FFF2-40B4-BE49-F238E27FC236}">
                <a16:creationId xmlns:a16="http://schemas.microsoft.com/office/drawing/2014/main" id="{E66B553F-58F6-4F94-B7AE-5FCBEA789604}"/>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47216447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074" name="Rectangle 2"/>
          <p:cNvSpPr>
            <a:spLocks noGrp="1" noChangeArrowheads="1"/>
          </p:cNvSpPr>
          <p:nvPr>
            <p:ph type="title"/>
          </p:nvPr>
        </p:nvSpPr>
        <p:spPr/>
        <p:txBody>
          <a:bodyPr/>
          <a:lstStyle/>
          <a:p>
            <a:r>
              <a:rPr lang="zh-CN" altLang="en-US" dirty="0"/>
              <a:t>决策树归纳的特点</a:t>
            </a:r>
          </a:p>
        </p:txBody>
      </p:sp>
      <p:sp>
        <p:nvSpPr>
          <p:cNvPr id="899075" name="Rectangle 3"/>
          <p:cNvSpPr>
            <a:spLocks noGrp="1" noChangeArrowheads="1"/>
          </p:cNvSpPr>
          <p:nvPr>
            <p:ph idx="1"/>
          </p:nvPr>
        </p:nvSpPr>
        <p:spPr/>
        <p:txBody>
          <a:bodyPr>
            <a:noAutofit/>
          </a:bodyPr>
          <a:lstStyle/>
          <a:p>
            <a:r>
              <a:rPr lang="zh-CN" altLang="en-US" dirty="0"/>
              <a:t>决策边界</a:t>
            </a:r>
            <a:endParaRPr lang="en-US" altLang="zh-CN" dirty="0"/>
          </a:p>
          <a:p>
            <a:pPr lvl="1"/>
            <a:r>
              <a:rPr lang="zh-CN" altLang="en-US" dirty="0"/>
              <a:t>斜决策树</a:t>
            </a:r>
          </a:p>
        </p:txBody>
      </p:sp>
      <p:sp>
        <p:nvSpPr>
          <p:cNvPr id="2" name="灯片编号占位符 1"/>
          <p:cNvSpPr>
            <a:spLocks noGrp="1"/>
          </p:cNvSpPr>
          <p:nvPr>
            <p:ph type="sldNum" sz="quarter" idx="12"/>
          </p:nvPr>
        </p:nvSpPr>
        <p:spPr/>
        <p:txBody>
          <a:bodyPr/>
          <a:lstStyle/>
          <a:p>
            <a:fld id="{6435AE0B-8C6B-4385-9ECF-079FDFACE1FC}" type="slidenum">
              <a:rPr lang="en-US" altLang="zh-CN" smtClean="0"/>
              <a:pPr/>
              <a:t>86</a:t>
            </a:fld>
            <a:endParaRPr lang="en-US" altLang="zh-CN"/>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l="7353" t="6654" r="7353" b="5882"/>
          <a:stretch>
            <a:fillRect/>
          </a:stretch>
        </p:blipFill>
        <p:spPr bwMode="auto">
          <a:xfrm>
            <a:off x="611560" y="2648913"/>
            <a:ext cx="4953000" cy="317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Group 4"/>
          <p:cNvGrpSpPr>
            <a:grpSpLocks/>
          </p:cNvGrpSpPr>
          <p:nvPr/>
        </p:nvGrpSpPr>
        <p:grpSpPr bwMode="auto">
          <a:xfrm>
            <a:off x="5638800" y="2222500"/>
            <a:ext cx="3200400" cy="1905000"/>
            <a:chOff x="3552" y="1248"/>
            <a:chExt cx="2016" cy="1440"/>
          </a:xfrm>
        </p:grpSpPr>
        <p:sp>
          <p:nvSpPr>
            <p:cNvPr id="7" name="Oval 5"/>
            <p:cNvSpPr>
              <a:spLocks noChangeArrowheads="1"/>
            </p:cNvSpPr>
            <p:nvPr/>
          </p:nvSpPr>
          <p:spPr bwMode="auto">
            <a:xfrm>
              <a:off x="4080" y="1248"/>
              <a:ext cx="1008" cy="480"/>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a:ea typeface="宋体" charset="-122"/>
                </a:rPr>
                <a:t>x + y &lt; 1</a:t>
              </a:r>
            </a:p>
          </p:txBody>
        </p:sp>
        <p:sp>
          <p:nvSpPr>
            <p:cNvPr id="8" name="Line 6"/>
            <p:cNvSpPr>
              <a:spLocks noChangeShapeType="1"/>
            </p:cNvSpPr>
            <p:nvPr/>
          </p:nvSpPr>
          <p:spPr bwMode="auto">
            <a:xfrm flipH="1">
              <a:off x="4032" y="1728"/>
              <a:ext cx="528" cy="48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 name="Line 7"/>
            <p:cNvSpPr>
              <a:spLocks noChangeShapeType="1"/>
            </p:cNvSpPr>
            <p:nvPr/>
          </p:nvSpPr>
          <p:spPr bwMode="auto">
            <a:xfrm>
              <a:off x="4560" y="1728"/>
              <a:ext cx="624" cy="43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Rectangle 8"/>
            <p:cNvSpPr>
              <a:spLocks noChangeArrowheads="1"/>
            </p:cNvSpPr>
            <p:nvPr/>
          </p:nvSpPr>
          <p:spPr bwMode="auto">
            <a:xfrm>
              <a:off x="3552" y="2208"/>
              <a:ext cx="816" cy="480"/>
            </a:xfrm>
            <a:prstGeom prst="rect">
              <a:avLst/>
            </a:prstGeom>
            <a:noFill/>
            <a:ln w="25400">
              <a:solidFill>
                <a:srgbClr val="1C5A6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ea typeface="宋体" charset="-122"/>
                </a:rPr>
                <a:t>Class = </a:t>
              </a:r>
              <a:r>
                <a:rPr lang="en-US" altLang="zh-CN" sz="2400">
                  <a:solidFill>
                    <a:srgbClr val="FF0000"/>
                  </a:solidFill>
                  <a:ea typeface="宋体" charset="-122"/>
                </a:rPr>
                <a:t>+</a:t>
              </a:r>
              <a:r>
                <a:rPr lang="en-US" altLang="zh-CN">
                  <a:ea typeface="宋体" charset="-122"/>
                </a:rPr>
                <a:t> </a:t>
              </a:r>
            </a:p>
          </p:txBody>
        </p:sp>
        <p:sp>
          <p:nvSpPr>
            <p:cNvPr id="11" name="Rectangle 9"/>
            <p:cNvSpPr>
              <a:spLocks noChangeArrowheads="1"/>
            </p:cNvSpPr>
            <p:nvPr/>
          </p:nvSpPr>
          <p:spPr bwMode="auto">
            <a:xfrm>
              <a:off x="4752" y="2208"/>
              <a:ext cx="816" cy="480"/>
            </a:xfrm>
            <a:prstGeom prst="rect">
              <a:avLst/>
            </a:prstGeom>
            <a:noFill/>
            <a:ln w="25400">
              <a:solidFill>
                <a:srgbClr val="1C5A6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ea typeface="宋体" charset="-122"/>
                </a:rPr>
                <a:t>Class =     </a:t>
              </a:r>
            </a:p>
          </p:txBody>
        </p:sp>
        <p:sp>
          <p:nvSpPr>
            <p:cNvPr id="12" name="Oval 10"/>
            <p:cNvSpPr>
              <a:spLocks noChangeArrowheads="1"/>
            </p:cNvSpPr>
            <p:nvPr/>
          </p:nvSpPr>
          <p:spPr bwMode="auto">
            <a:xfrm>
              <a:off x="5376" y="2400"/>
              <a:ext cx="96" cy="96"/>
            </a:xfrm>
            <a:prstGeom prst="ellipse">
              <a:avLst/>
            </a:prstGeom>
            <a:solidFill>
              <a:srgbClr val="0000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 name="页脚占位符 2">
            <a:extLst>
              <a:ext uri="{FF2B5EF4-FFF2-40B4-BE49-F238E27FC236}">
                <a16:creationId xmlns:a16="http://schemas.microsoft.com/office/drawing/2014/main" id="{482EECFA-9AFF-484D-8E24-BAC0B1783BC1}"/>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3197980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074" name="Rectangle 2"/>
          <p:cNvSpPr>
            <a:spLocks noGrp="1" noChangeArrowheads="1"/>
          </p:cNvSpPr>
          <p:nvPr>
            <p:ph type="title"/>
          </p:nvPr>
        </p:nvSpPr>
        <p:spPr/>
        <p:txBody>
          <a:bodyPr/>
          <a:lstStyle/>
          <a:p>
            <a:r>
              <a:rPr lang="zh-CN" altLang="en-US" dirty="0"/>
              <a:t>决策树归纳的特点</a:t>
            </a:r>
          </a:p>
        </p:txBody>
      </p:sp>
      <p:sp>
        <p:nvSpPr>
          <p:cNvPr id="899075" name="Rectangle 3"/>
          <p:cNvSpPr>
            <a:spLocks noGrp="1" noChangeArrowheads="1"/>
          </p:cNvSpPr>
          <p:nvPr>
            <p:ph idx="1"/>
          </p:nvPr>
        </p:nvSpPr>
        <p:spPr/>
        <p:txBody>
          <a:bodyPr>
            <a:noAutofit/>
          </a:bodyPr>
          <a:lstStyle/>
          <a:p>
            <a:r>
              <a:rPr lang="zh-CN" altLang="en-US" dirty="0"/>
              <a:t>决策边界</a:t>
            </a:r>
            <a:endParaRPr lang="en-US" altLang="zh-CN" dirty="0"/>
          </a:p>
          <a:p>
            <a:pPr lvl="1"/>
            <a:r>
              <a:rPr lang="zh-CN" altLang="en-US" dirty="0"/>
              <a:t>斜决策树</a:t>
            </a:r>
            <a:endParaRPr lang="en-US" altLang="zh-CN" dirty="0"/>
          </a:p>
          <a:p>
            <a:pPr lvl="1"/>
            <a:r>
              <a:rPr lang="zh-CN" altLang="en-US" dirty="0"/>
              <a:t>构造归纳</a:t>
            </a:r>
            <a:r>
              <a:rPr lang="en-US" altLang="zh-CN" dirty="0"/>
              <a:t>Constructive Induction</a:t>
            </a:r>
          </a:p>
          <a:p>
            <a:pPr lvl="2"/>
            <a:r>
              <a:rPr lang="zh-CN" altLang="en-US" sz="2000" dirty="0"/>
              <a:t>属性的算术或逻辑组合</a:t>
            </a:r>
            <a:endParaRPr lang="en-US" altLang="zh-CN" sz="2000" dirty="0"/>
          </a:p>
          <a:p>
            <a:pPr lvl="2"/>
            <a:r>
              <a:rPr lang="zh-CN" altLang="en-US" sz="2000" dirty="0"/>
              <a:t>提高区分性</a:t>
            </a:r>
            <a:endParaRPr lang="en-US" altLang="zh-CN" sz="2000" dirty="0"/>
          </a:p>
          <a:p>
            <a:pPr lvl="2"/>
            <a:r>
              <a:rPr lang="zh-CN" altLang="en-US" sz="2000" dirty="0"/>
              <a:t>会产生冗余</a:t>
            </a:r>
          </a:p>
        </p:txBody>
      </p:sp>
      <p:sp>
        <p:nvSpPr>
          <p:cNvPr id="2" name="灯片编号占位符 1"/>
          <p:cNvSpPr>
            <a:spLocks noGrp="1"/>
          </p:cNvSpPr>
          <p:nvPr>
            <p:ph type="sldNum" sz="quarter" idx="12"/>
          </p:nvPr>
        </p:nvSpPr>
        <p:spPr/>
        <p:txBody>
          <a:bodyPr/>
          <a:lstStyle/>
          <a:p>
            <a:fld id="{6435AE0B-8C6B-4385-9ECF-079FDFACE1FC}" type="slidenum">
              <a:rPr lang="en-US" altLang="zh-CN" smtClean="0"/>
              <a:pPr/>
              <a:t>87</a:t>
            </a:fld>
            <a:endParaRPr lang="en-US" altLang="zh-CN"/>
          </a:p>
        </p:txBody>
      </p:sp>
      <p:sp>
        <p:nvSpPr>
          <p:cNvPr id="3" name="页脚占位符 2">
            <a:extLst>
              <a:ext uri="{FF2B5EF4-FFF2-40B4-BE49-F238E27FC236}">
                <a16:creationId xmlns:a16="http://schemas.microsoft.com/office/drawing/2014/main" id="{EE0A0147-C4D9-4ACA-B939-9590BFE1D936}"/>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116554337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决策树分类</a:t>
            </a:r>
          </a:p>
        </p:txBody>
      </p:sp>
      <p:sp>
        <p:nvSpPr>
          <p:cNvPr id="3" name="内容占位符 2"/>
          <p:cNvSpPr>
            <a:spLocks noGrp="1"/>
          </p:cNvSpPr>
          <p:nvPr>
            <p:ph idx="1"/>
          </p:nvPr>
        </p:nvSpPr>
        <p:spPr/>
        <p:txBody>
          <a:bodyPr>
            <a:normAutofit/>
          </a:bodyPr>
          <a:lstStyle/>
          <a:p>
            <a:r>
              <a:rPr lang="zh-CN" altLang="en-US" dirty="0"/>
              <a:t>决策树的优势在于不需要任何领域知识或参数设置，适合于探测性的知识发现。</a:t>
            </a:r>
            <a:endParaRPr lang="en-US" altLang="zh-CN" dirty="0"/>
          </a:p>
          <a:p>
            <a:r>
              <a:rPr lang="zh-CN" altLang="en-US" dirty="0"/>
              <a:t>决策树分类算法的关键，在于如何构造出</a:t>
            </a:r>
            <a:r>
              <a:rPr lang="zh-CN" altLang="en-US" sz="2600" dirty="0">
                <a:solidFill>
                  <a:srgbClr val="C00000"/>
                </a:solidFill>
                <a:effectLst>
                  <a:outerShdw blurRad="38100" dist="38100" dir="2700000" algn="tl">
                    <a:srgbClr val="000000">
                      <a:alpha val="43137"/>
                    </a:srgbClr>
                  </a:outerShdw>
                </a:effectLst>
              </a:rPr>
              <a:t>精度高</a:t>
            </a:r>
            <a:r>
              <a:rPr lang="zh-CN" altLang="en-US" dirty="0"/>
              <a:t>、</a:t>
            </a:r>
            <a:r>
              <a:rPr lang="zh-CN" altLang="en-US" sz="2600" dirty="0">
                <a:solidFill>
                  <a:srgbClr val="C00000"/>
                </a:solidFill>
                <a:effectLst>
                  <a:outerShdw blurRad="38100" dist="38100" dir="2700000" algn="tl">
                    <a:srgbClr val="000000">
                      <a:alpha val="43137"/>
                    </a:srgbClr>
                  </a:outerShdw>
                </a:effectLst>
              </a:rPr>
              <a:t>规模小</a:t>
            </a:r>
            <a:r>
              <a:rPr lang="zh-CN" altLang="en-US" dirty="0"/>
              <a:t>的决策树模型。</a:t>
            </a:r>
          </a:p>
        </p:txBody>
      </p:sp>
      <p:sp>
        <p:nvSpPr>
          <p:cNvPr id="4" name="页脚占位符 3">
            <a:extLst>
              <a:ext uri="{FF2B5EF4-FFF2-40B4-BE49-F238E27FC236}">
                <a16:creationId xmlns:a16="http://schemas.microsoft.com/office/drawing/2014/main" id="{901B9FEC-EFDD-4474-8774-591A03B6CEF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1E619FC-1C74-49DE-841D-DBE05403E0C8}"/>
              </a:ext>
            </a:extLst>
          </p:cNvPr>
          <p:cNvSpPr>
            <a:spLocks noGrp="1"/>
          </p:cNvSpPr>
          <p:nvPr>
            <p:ph type="sldNum" sz="quarter" idx="12"/>
          </p:nvPr>
        </p:nvSpPr>
        <p:spPr/>
        <p:txBody>
          <a:bodyPr/>
          <a:lstStyle/>
          <a:p>
            <a:fld id="{5AD84F5B-1672-4D3F-9FEC-5DF89A7B7912}" type="slidenum">
              <a:rPr lang="zh-CN" altLang="en-US" smtClean="0"/>
              <a:t>88</a:t>
            </a:fld>
            <a:endParaRPr lang="zh-CN" altLang="en-US"/>
          </a:p>
        </p:txBody>
      </p:sp>
    </p:spTree>
    <p:extLst>
      <p:ext uri="{BB962C8B-B14F-4D97-AF65-F5344CB8AC3E}">
        <p14:creationId xmlns:p14="http://schemas.microsoft.com/office/powerpoint/2010/main" val="3910022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91B8E-0904-D00F-6820-B010E0495E05}"/>
            </a:ext>
          </a:extLst>
        </p:cNvPr>
        <p:cNvGrpSpPr/>
        <p:nvPr/>
      </p:nvGrpSpPr>
      <p:grpSpPr>
        <a:xfrm>
          <a:off x="0" y="0"/>
          <a:ext cx="0" cy="0"/>
          <a:chOff x="0" y="0"/>
          <a:chExt cx="0" cy="0"/>
        </a:xfrm>
      </p:grpSpPr>
      <p:sp>
        <p:nvSpPr>
          <p:cNvPr id="15" name="Rectangle 3">
            <a:extLst>
              <a:ext uri="{FF2B5EF4-FFF2-40B4-BE49-F238E27FC236}">
                <a16:creationId xmlns:a16="http://schemas.microsoft.com/office/drawing/2014/main" id="{282C5D81-C0E6-742F-30AF-8D5F4C928E4C}"/>
              </a:ext>
            </a:extLst>
          </p:cNvPr>
          <p:cNvSpPr>
            <a:spLocks noChangeArrowheads="1"/>
          </p:cNvSpPr>
          <p:nvPr/>
        </p:nvSpPr>
        <p:spPr bwMode="auto">
          <a:xfrm>
            <a:off x="1" y="89020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sp>
        <p:nvSpPr>
          <p:cNvPr id="16" name="Rectangle 4">
            <a:extLst>
              <a:ext uri="{FF2B5EF4-FFF2-40B4-BE49-F238E27FC236}">
                <a16:creationId xmlns:a16="http://schemas.microsoft.com/office/drawing/2014/main" id="{B16A7B98-54F3-1E8A-D0B9-203E6B88A7D9}"/>
              </a:ext>
            </a:extLst>
          </p:cNvPr>
          <p:cNvSpPr>
            <a:spLocks noChangeArrowheads="1"/>
          </p:cNvSpPr>
          <p:nvPr/>
        </p:nvSpPr>
        <p:spPr bwMode="auto">
          <a:xfrm>
            <a:off x="4382432" y="2076161"/>
            <a:ext cx="398187" cy="207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indent="228600" algn="ctr" defTabSz="685800" eaLnBrk="0" fontAlgn="base" hangingPunct="0">
              <a:spcBef>
                <a:spcPct val="0"/>
              </a:spcBef>
              <a:spcAft>
                <a:spcPct val="0"/>
              </a:spcAft>
            </a:pPr>
            <a:r>
              <a:rPr lang="en-US" altLang="en-US" sz="900" dirty="0">
                <a:latin typeface="Times New Roman" panose="02020603050405020304" pitchFamily="18" charset="0"/>
                <a:ea typeface="宋体" panose="02010600030101010101" pitchFamily="2" charset="-122"/>
                <a:cs typeface="Times New Roman" panose="02020603050405020304" pitchFamily="18" charset="0"/>
              </a:rPr>
              <a:t> </a:t>
            </a:r>
            <a:endParaRPr lang="en-US" altLang="en-US" sz="1350" dirty="0">
              <a:latin typeface="Arial" panose="020B0604020202020204" pitchFamily="34" charset="0"/>
            </a:endParaRPr>
          </a:p>
        </p:txBody>
      </p:sp>
      <p:sp>
        <p:nvSpPr>
          <p:cNvPr id="5" name="Rectangle 1">
            <a:extLst>
              <a:ext uri="{FF2B5EF4-FFF2-40B4-BE49-F238E27FC236}">
                <a16:creationId xmlns:a16="http://schemas.microsoft.com/office/drawing/2014/main" id="{975BEDED-273D-2104-890D-503B82249E24}"/>
              </a:ext>
            </a:extLst>
          </p:cNvPr>
          <p:cNvSpPr>
            <a:spLocks noChangeArrowheads="1"/>
          </p:cNvSpPr>
          <p:nvPr/>
        </p:nvSpPr>
        <p:spPr bwMode="auto">
          <a:xfrm>
            <a:off x="70989" y="1693921"/>
            <a:ext cx="9019384" cy="1015663"/>
          </a:xfrm>
          <a:prstGeom prst="rect">
            <a:avLst/>
          </a:prstGeom>
          <a:noFill/>
        </p:spPr>
        <p:txBody>
          <a:bodyPr wrap="square">
            <a:spAutoFit/>
          </a:bodyPr>
          <a:lstStyle/>
          <a:p>
            <a:r>
              <a:rPr lang="zh-CN" altLang="zh-CN" sz="1500" dirty="0">
                <a:latin typeface="微软雅黑" panose="020B0503020204020204" pitchFamily="34" charset="-122"/>
                <a:ea typeface="微软雅黑" panose="020B0503020204020204" pitchFamily="34" charset="-122"/>
              </a:rPr>
              <a:t>本节利用</a:t>
            </a:r>
            <a:r>
              <a:rPr lang="en-US" altLang="zh-CN" sz="1500" dirty="0">
                <a:latin typeface="微软雅黑" panose="020B0503020204020204" pitchFamily="34" charset="-122"/>
                <a:ea typeface="微软雅黑" panose="020B0503020204020204" pitchFamily="34" charset="-122"/>
              </a:rPr>
              <a:t>ID3</a:t>
            </a:r>
            <a:r>
              <a:rPr lang="zh-CN" altLang="en-US" sz="1500" dirty="0">
                <a:latin typeface="微软雅黑" panose="020B0503020204020204" pitchFamily="34" charset="-122"/>
                <a:ea typeface="微软雅黑" panose="020B0503020204020204" pitchFamily="34" charset="-122"/>
              </a:rPr>
              <a:t>决策树算法对旅游业客户流失进行预测，数据集来源于一家旅游公司提供的</a:t>
            </a:r>
            <a:r>
              <a:rPr lang="en-US" altLang="zh-CN" sz="1500" dirty="0">
                <a:latin typeface="微软雅黑" panose="020B0503020204020204" pitchFamily="34" charset="-122"/>
                <a:ea typeface="微软雅黑" panose="020B0503020204020204" pitchFamily="34" charset="-122"/>
              </a:rPr>
              <a:t>954</a:t>
            </a:r>
            <a:r>
              <a:rPr lang="zh-CN" altLang="en-US" sz="1500" dirty="0">
                <a:latin typeface="微软雅黑" panose="020B0503020204020204" pitchFamily="34" charset="-122"/>
                <a:ea typeface="微软雅黑" panose="020B0503020204020204" pitchFamily="34" charset="-122"/>
              </a:rPr>
              <a:t>名客户信息，具体字段包括：用户年龄、飞机乘坐情况（客户是否经常乘坐飞机）、年收入等级、服务次数（客户近几年来选择服务的次数）、社交媒体同步情况（用户的公司账户是否与他们的社交媒体同步）、预订住宿情况（客户是否使用公司服务预订住宿）、流失情况（如果客户流失，则为</a:t>
            </a:r>
            <a:r>
              <a:rPr lang="en-US" altLang="zh-CN" sz="1500" dirty="0">
                <a:latin typeface="微软雅黑" panose="020B0503020204020204" pitchFamily="34" charset="-122"/>
                <a:ea typeface="微软雅黑" panose="020B0503020204020204" pitchFamily="34" charset="-122"/>
              </a:rPr>
              <a:t>1</a:t>
            </a:r>
            <a:r>
              <a:rPr lang="zh-CN" altLang="en-US" sz="1500" dirty="0">
                <a:latin typeface="微软雅黑" panose="020B0503020204020204" pitchFamily="34" charset="-122"/>
                <a:ea typeface="微软雅黑" panose="020B0503020204020204" pitchFamily="34" charset="-122"/>
              </a:rPr>
              <a:t>；如果客户未流失，则为</a:t>
            </a:r>
            <a:r>
              <a:rPr lang="en-US" altLang="zh-CN" sz="1500" dirty="0">
                <a:latin typeface="微软雅黑" panose="020B0503020204020204" pitchFamily="34" charset="-122"/>
                <a:ea typeface="微软雅黑" panose="020B0503020204020204" pitchFamily="34" charset="-122"/>
              </a:rPr>
              <a:t>0</a:t>
            </a:r>
            <a:r>
              <a:rPr lang="zh-CN" altLang="en-US" sz="1500" dirty="0">
                <a:latin typeface="微软雅黑" panose="020B0503020204020204" pitchFamily="34" charset="-122"/>
                <a:ea typeface="微软雅黑" panose="020B0503020204020204" pitchFamily="34" charset="-122"/>
              </a:rPr>
              <a:t>）。</a:t>
            </a:r>
          </a:p>
        </p:txBody>
      </p:sp>
      <p:pic>
        <p:nvPicPr>
          <p:cNvPr id="4" name="图片 3">
            <a:extLst>
              <a:ext uri="{FF2B5EF4-FFF2-40B4-BE49-F238E27FC236}">
                <a16:creationId xmlns:a16="http://schemas.microsoft.com/office/drawing/2014/main" id="{B6E56E39-753D-1E6B-68AE-1A82EFC537C9}"/>
              </a:ext>
            </a:extLst>
          </p:cNvPr>
          <p:cNvPicPr>
            <a:picLocks noChangeAspect="1"/>
          </p:cNvPicPr>
          <p:nvPr/>
        </p:nvPicPr>
        <p:blipFill>
          <a:blip r:embed="rId3"/>
          <a:stretch>
            <a:fillRect/>
          </a:stretch>
        </p:blipFill>
        <p:spPr>
          <a:xfrm>
            <a:off x="9525" y="2800143"/>
            <a:ext cx="9144000" cy="2908777"/>
          </a:xfrm>
          <a:prstGeom prst="rect">
            <a:avLst/>
          </a:prstGeom>
        </p:spPr>
      </p:pic>
      <p:sp>
        <p:nvSpPr>
          <p:cNvPr id="2" name="标题 1">
            <a:extLst>
              <a:ext uri="{FF2B5EF4-FFF2-40B4-BE49-F238E27FC236}">
                <a16:creationId xmlns:a16="http://schemas.microsoft.com/office/drawing/2014/main" id="{75A2E0B2-DD6A-4775-9A69-7B7D5460AE0D}"/>
              </a:ext>
            </a:extLst>
          </p:cNvPr>
          <p:cNvSpPr>
            <a:spLocks noGrp="1"/>
          </p:cNvSpPr>
          <p:nvPr>
            <p:ph type="title"/>
          </p:nvPr>
        </p:nvSpPr>
        <p:spPr/>
        <p:txBody>
          <a:bodyPr/>
          <a:lstStyle/>
          <a:p>
            <a:r>
              <a:rPr lang="zh-CN" altLang="en-US" sz="3200" dirty="0">
                <a:latin typeface="华光综艺_CNKI" panose="02000500000000000000" pitchFamily="2" charset="-122"/>
                <a:ea typeface="华光综艺_CNKI" panose="02000500000000000000" pitchFamily="2" charset="-122"/>
              </a:rPr>
              <a:t>实践案例：基于决策树的旅游业客户流失预测</a:t>
            </a:r>
            <a:endParaRPr lang="zh-CN" altLang="en-US" sz="3200" dirty="0"/>
          </a:p>
        </p:txBody>
      </p:sp>
    </p:spTree>
    <p:extLst>
      <p:ext uri="{BB962C8B-B14F-4D97-AF65-F5344CB8AC3E}">
        <p14:creationId xmlns:p14="http://schemas.microsoft.com/office/powerpoint/2010/main" val="301695962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ACAD3-ED67-B4D2-752F-4E61B05EAA2A}"/>
            </a:ext>
          </a:extLst>
        </p:cNvPr>
        <p:cNvGrpSpPr/>
        <p:nvPr/>
      </p:nvGrpSpPr>
      <p:grpSpPr>
        <a:xfrm>
          <a:off x="0" y="0"/>
          <a:ext cx="0" cy="0"/>
          <a:chOff x="0" y="0"/>
          <a:chExt cx="0" cy="0"/>
        </a:xfrm>
      </p:grpSpPr>
      <p:sp>
        <p:nvSpPr>
          <p:cNvPr id="15" name="Rectangle 3">
            <a:extLst>
              <a:ext uri="{FF2B5EF4-FFF2-40B4-BE49-F238E27FC236}">
                <a16:creationId xmlns:a16="http://schemas.microsoft.com/office/drawing/2014/main" id="{CE93F468-26B3-B3E6-F010-9558D5812C13}"/>
              </a:ext>
            </a:extLst>
          </p:cNvPr>
          <p:cNvSpPr>
            <a:spLocks noChangeArrowheads="1"/>
          </p:cNvSpPr>
          <p:nvPr/>
        </p:nvSpPr>
        <p:spPr bwMode="auto">
          <a:xfrm>
            <a:off x="1" y="89020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sp>
        <p:nvSpPr>
          <p:cNvPr id="9" name="文本框 8">
            <a:extLst>
              <a:ext uri="{FF2B5EF4-FFF2-40B4-BE49-F238E27FC236}">
                <a16:creationId xmlns:a16="http://schemas.microsoft.com/office/drawing/2014/main" id="{21EA332A-9E53-3AE6-7F68-3B42090E94AD}"/>
              </a:ext>
            </a:extLst>
          </p:cNvPr>
          <p:cNvSpPr txBox="1"/>
          <p:nvPr/>
        </p:nvSpPr>
        <p:spPr>
          <a:xfrm>
            <a:off x="124617" y="1839404"/>
            <a:ext cx="2740118" cy="3600986"/>
          </a:xfrm>
          <a:prstGeom prst="rect">
            <a:avLst/>
          </a:prstGeom>
          <a:noFill/>
        </p:spPr>
        <p:txBody>
          <a:bodyPr wrap="square">
            <a:spAutoFit/>
          </a:bodyPr>
          <a:lstStyle>
            <a:defPPr>
              <a:defRPr lang="zh-CN"/>
            </a:defPPr>
            <a:lvl1pPr>
              <a:defRPr sz="2400" b="1">
                <a:solidFill>
                  <a:srgbClr val="FF0000"/>
                </a:solidFill>
                <a:latin typeface="微软雅黑" panose="020B0503020204020204" pitchFamily="34" charset="-122"/>
                <a:ea typeface="微软雅黑" panose="020B0503020204020204" pitchFamily="34" charset="-122"/>
              </a:defRPr>
            </a:lvl1pPr>
          </a:lstStyle>
          <a:p>
            <a:r>
              <a:rPr lang="zh-CN" altLang="zh-CN" sz="1800" dirty="0"/>
              <a:t>数据预处理。</a:t>
            </a:r>
            <a:endParaRPr lang="en-US" altLang="zh-CN" sz="1800" dirty="0"/>
          </a:p>
          <a:p>
            <a:r>
              <a:rPr lang="zh-CN" altLang="zh-CN" sz="1500" b="0" dirty="0">
                <a:solidFill>
                  <a:schemeClr val="tx1"/>
                </a:solidFill>
              </a:rPr>
              <a:t>对于离散特征，使用</a:t>
            </a:r>
            <a:r>
              <a:rPr lang="en-US" altLang="zh-CN" sz="1500" b="0" dirty="0">
                <a:solidFill>
                  <a:schemeClr val="tx1"/>
                </a:solidFill>
              </a:rPr>
              <a:t>pandas</a:t>
            </a:r>
            <a:r>
              <a:rPr lang="zh-CN" altLang="zh-CN" sz="1500" b="0" dirty="0">
                <a:solidFill>
                  <a:schemeClr val="tx1"/>
                </a:solidFill>
              </a:rPr>
              <a:t>中</a:t>
            </a:r>
            <a:r>
              <a:rPr lang="en-US" altLang="zh-CN" sz="1500" b="0" dirty="0">
                <a:solidFill>
                  <a:schemeClr val="tx1"/>
                </a:solidFill>
              </a:rPr>
              <a:t>Series</a:t>
            </a:r>
            <a:r>
              <a:rPr lang="zh-CN" altLang="zh-CN" sz="1500" b="0" dirty="0">
                <a:solidFill>
                  <a:schemeClr val="tx1"/>
                </a:solidFill>
              </a:rPr>
              <a:t>对象内置的</a:t>
            </a:r>
            <a:r>
              <a:rPr lang="en-US" altLang="zh-CN" sz="1500" b="0" dirty="0" err="1">
                <a:solidFill>
                  <a:schemeClr val="tx1"/>
                </a:solidFill>
              </a:rPr>
              <a:t>value_counts</a:t>
            </a:r>
            <a:r>
              <a:rPr lang="zh-CN" altLang="zh-CN" sz="1500" b="0" dirty="0">
                <a:solidFill>
                  <a:schemeClr val="tx1"/>
                </a:solidFill>
              </a:rPr>
              <a:t>函数方法可查看某特征不同特征取值的样本数，结果显示特征“飞机乘坐情况”共有三种取值，分别是“</a:t>
            </a:r>
            <a:r>
              <a:rPr lang="en-US" altLang="zh-CN" sz="1500" b="0" dirty="0">
                <a:solidFill>
                  <a:schemeClr val="tx1"/>
                </a:solidFill>
              </a:rPr>
              <a:t>No</a:t>
            </a:r>
            <a:r>
              <a:rPr lang="zh-CN" altLang="zh-CN" sz="1500" b="0" dirty="0">
                <a:solidFill>
                  <a:schemeClr val="tx1"/>
                </a:solidFill>
              </a:rPr>
              <a:t>”，“</a:t>
            </a:r>
            <a:r>
              <a:rPr lang="en-US" altLang="zh-CN" sz="1500" b="0" dirty="0">
                <a:solidFill>
                  <a:schemeClr val="tx1"/>
                </a:solidFill>
              </a:rPr>
              <a:t>Yes</a:t>
            </a:r>
            <a:r>
              <a:rPr lang="zh-CN" altLang="zh-CN" sz="1500" b="0" dirty="0">
                <a:solidFill>
                  <a:schemeClr val="tx1"/>
                </a:solidFill>
              </a:rPr>
              <a:t>”，“</a:t>
            </a:r>
            <a:r>
              <a:rPr lang="en-US" altLang="zh-CN" sz="1500" b="0" dirty="0">
                <a:solidFill>
                  <a:schemeClr val="tx1"/>
                </a:solidFill>
              </a:rPr>
              <a:t>No Record</a:t>
            </a:r>
            <a:r>
              <a:rPr lang="zh-CN" altLang="zh-CN" sz="1500" b="0" dirty="0">
                <a:solidFill>
                  <a:schemeClr val="tx1"/>
                </a:solidFill>
              </a:rPr>
              <a:t>”，对应的样本数分别为</a:t>
            </a:r>
            <a:r>
              <a:rPr lang="en-US" altLang="zh-CN" sz="1500" b="0" dirty="0">
                <a:solidFill>
                  <a:schemeClr val="tx1"/>
                </a:solidFill>
              </a:rPr>
              <a:t>608</a:t>
            </a:r>
            <a:r>
              <a:rPr lang="zh-CN" altLang="zh-CN" sz="1500" b="0" dirty="0">
                <a:solidFill>
                  <a:schemeClr val="tx1"/>
                </a:solidFill>
              </a:rPr>
              <a:t>、</a:t>
            </a:r>
            <a:r>
              <a:rPr lang="en-US" altLang="zh-CN" sz="1500" b="0" dirty="0">
                <a:solidFill>
                  <a:schemeClr val="tx1"/>
                </a:solidFill>
              </a:rPr>
              <a:t>286</a:t>
            </a:r>
            <a:r>
              <a:rPr lang="zh-CN" altLang="zh-CN" sz="1500" b="0" dirty="0">
                <a:solidFill>
                  <a:schemeClr val="tx1"/>
                </a:solidFill>
              </a:rPr>
              <a:t>、</a:t>
            </a:r>
            <a:r>
              <a:rPr lang="en-US" altLang="zh-CN" sz="1500" b="0" dirty="0">
                <a:solidFill>
                  <a:schemeClr val="tx1"/>
                </a:solidFill>
              </a:rPr>
              <a:t>60</a:t>
            </a:r>
            <a:r>
              <a:rPr lang="zh-CN" altLang="zh-CN" sz="1500" b="0" dirty="0">
                <a:solidFill>
                  <a:schemeClr val="tx1"/>
                </a:solidFill>
              </a:rPr>
              <a:t>。显然，“</a:t>
            </a:r>
            <a:r>
              <a:rPr lang="en-US" altLang="zh-CN" sz="1500" b="0" dirty="0">
                <a:solidFill>
                  <a:schemeClr val="tx1"/>
                </a:solidFill>
              </a:rPr>
              <a:t>No Record</a:t>
            </a:r>
            <a:r>
              <a:rPr lang="zh-CN" altLang="zh-CN" sz="1500" b="0" dirty="0">
                <a:solidFill>
                  <a:schemeClr val="tx1"/>
                </a:solidFill>
              </a:rPr>
              <a:t>”表示该特征的数据缺失，由于取值为“</a:t>
            </a:r>
            <a:r>
              <a:rPr lang="en-US" altLang="zh-CN" sz="1500" b="0" dirty="0">
                <a:solidFill>
                  <a:schemeClr val="tx1"/>
                </a:solidFill>
              </a:rPr>
              <a:t>NO</a:t>
            </a:r>
            <a:r>
              <a:rPr lang="zh-CN" altLang="zh-CN" sz="1500" b="0" dirty="0">
                <a:solidFill>
                  <a:schemeClr val="tx1"/>
                </a:solidFill>
              </a:rPr>
              <a:t>”的样本明显比取值为“</a:t>
            </a:r>
            <a:r>
              <a:rPr lang="en-US" altLang="zh-CN" sz="1500" b="0" dirty="0">
                <a:solidFill>
                  <a:schemeClr val="tx1"/>
                </a:solidFill>
              </a:rPr>
              <a:t>Yes</a:t>
            </a:r>
            <a:r>
              <a:rPr lang="zh-CN" altLang="zh-CN" sz="1500" b="0" dirty="0">
                <a:solidFill>
                  <a:schemeClr val="tx1"/>
                </a:solidFill>
              </a:rPr>
              <a:t>”的样本多，本例使用众数填充法对该特征的缺失值进行填充。</a:t>
            </a:r>
          </a:p>
        </p:txBody>
      </p:sp>
      <p:pic>
        <p:nvPicPr>
          <p:cNvPr id="11" name="图片 10">
            <a:extLst>
              <a:ext uri="{FF2B5EF4-FFF2-40B4-BE49-F238E27FC236}">
                <a16:creationId xmlns:a16="http://schemas.microsoft.com/office/drawing/2014/main" id="{252E0F31-2A53-1D96-1ED2-B962F6BB6599}"/>
              </a:ext>
            </a:extLst>
          </p:cNvPr>
          <p:cNvPicPr>
            <a:picLocks noChangeAspect="1"/>
          </p:cNvPicPr>
          <p:nvPr/>
        </p:nvPicPr>
        <p:blipFill>
          <a:blip r:embed="rId3"/>
          <a:stretch>
            <a:fillRect/>
          </a:stretch>
        </p:blipFill>
        <p:spPr>
          <a:xfrm>
            <a:off x="2967047" y="2522917"/>
            <a:ext cx="6052337" cy="2210876"/>
          </a:xfrm>
          <a:prstGeom prst="rect">
            <a:avLst/>
          </a:prstGeom>
        </p:spPr>
      </p:pic>
      <p:sp>
        <p:nvSpPr>
          <p:cNvPr id="2" name="标题 1">
            <a:extLst>
              <a:ext uri="{FF2B5EF4-FFF2-40B4-BE49-F238E27FC236}">
                <a16:creationId xmlns:a16="http://schemas.microsoft.com/office/drawing/2014/main" id="{84AC9931-9258-47D9-A7D7-C182C56F7888}"/>
              </a:ext>
            </a:extLst>
          </p:cNvPr>
          <p:cNvSpPr>
            <a:spLocks noGrp="1"/>
          </p:cNvSpPr>
          <p:nvPr>
            <p:ph type="title"/>
          </p:nvPr>
        </p:nvSpPr>
        <p:spPr/>
        <p:txBody>
          <a:bodyPr/>
          <a:lstStyle/>
          <a:p>
            <a:r>
              <a:rPr lang="zh-CN" altLang="en-US" sz="3200" dirty="0">
                <a:latin typeface="华光综艺_CNKI" panose="02000500000000000000" pitchFamily="2" charset="-122"/>
                <a:ea typeface="华光综艺_CNKI" panose="02000500000000000000" pitchFamily="2" charset="-122"/>
              </a:rPr>
              <a:t>实践案例：基于决策树的旅游业客户流失预测</a:t>
            </a:r>
            <a:endParaRPr lang="zh-CN" altLang="en-US" sz="3200" dirty="0"/>
          </a:p>
        </p:txBody>
      </p:sp>
    </p:spTree>
    <p:extLst>
      <p:ext uri="{BB962C8B-B14F-4D97-AF65-F5344CB8AC3E}">
        <p14:creationId xmlns:p14="http://schemas.microsoft.com/office/powerpoint/2010/main" val="342248125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6AA4D-E061-9570-E8AD-9B8071AB4013}"/>
            </a:ext>
          </a:extLst>
        </p:cNvPr>
        <p:cNvGrpSpPr/>
        <p:nvPr/>
      </p:nvGrpSpPr>
      <p:grpSpPr>
        <a:xfrm>
          <a:off x="0" y="0"/>
          <a:ext cx="0" cy="0"/>
          <a:chOff x="0" y="0"/>
          <a:chExt cx="0" cy="0"/>
        </a:xfrm>
      </p:grpSpPr>
      <p:sp>
        <p:nvSpPr>
          <p:cNvPr id="15" name="Rectangle 3">
            <a:extLst>
              <a:ext uri="{FF2B5EF4-FFF2-40B4-BE49-F238E27FC236}">
                <a16:creationId xmlns:a16="http://schemas.microsoft.com/office/drawing/2014/main" id="{B09BC781-C1CC-1522-6F42-065A2EC80F8C}"/>
              </a:ext>
            </a:extLst>
          </p:cNvPr>
          <p:cNvSpPr>
            <a:spLocks noChangeArrowheads="1"/>
          </p:cNvSpPr>
          <p:nvPr/>
        </p:nvSpPr>
        <p:spPr bwMode="auto">
          <a:xfrm>
            <a:off x="1" y="89020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sp>
        <p:nvSpPr>
          <p:cNvPr id="11" name="文本框 10">
            <a:extLst>
              <a:ext uri="{FF2B5EF4-FFF2-40B4-BE49-F238E27FC236}">
                <a16:creationId xmlns:a16="http://schemas.microsoft.com/office/drawing/2014/main" id="{6512E75F-8ECC-4875-ABCC-BEC27424C9CC}"/>
              </a:ext>
            </a:extLst>
          </p:cNvPr>
          <p:cNvSpPr txBox="1"/>
          <p:nvPr/>
        </p:nvSpPr>
        <p:spPr>
          <a:xfrm>
            <a:off x="131913" y="1912361"/>
            <a:ext cx="8565077" cy="1292662"/>
          </a:xfrm>
          <a:prstGeom prst="rect">
            <a:avLst/>
          </a:prstGeom>
          <a:noFill/>
        </p:spPr>
        <p:txBody>
          <a:bodyPr wrap="square">
            <a:spAutoFit/>
          </a:bodyPr>
          <a:lstStyle>
            <a:defPPr>
              <a:defRPr lang="zh-CN"/>
            </a:defPPr>
            <a:lvl1pPr>
              <a:defRPr sz="2400" b="1">
                <a:solidFill>
                  <a:srgbClr val="FF0000"/>
                </a:solidFill>
                <a:latin typeface="微软雅黑" panose="020B0503020204020204" pitchFamily="34" charset="-122"/>
                <a:ea typeface="微软雅黑" panose="020B0503020204020204" pitchFamily="34" charset="-122"/>
              </a:defRPr>
            </a:lvl1pPr>
          </a:lstStyle>
          <a:p>
            <a:r>
              <a:rPr lang="zh-CN" altLang="zh-CN" sz="1800" dirty="0"/>
              <a:t>数据预处理。</a:t>
            </a:r>
            <a:endParaRPr lang="en-US" altLang="zh-CN" sz="1800" dirty="0"/>
          </a:p>
          <a:p>
            <a:r>
              <a:rPr lang="zh-CN" altLang="en-US" sz="1500" b="0" dirty="0">
                <a:solidFill>
                  <a:schemeClr val="tx1"/>
                </a:solidFill>
              </a:rPr>
              <a:t>该数据集存在多个离散特征，在构建模型前需要对离散特征编码。“飞机乘坐情况”、“社交媒体同步情况”、“预定住宿情况”均为二元特征，适合用</a:t>
            </a:r>
            <a:r>
              <a:rPr lang="en-US" altLang="zh-CN" sz="1500" b="0" dirty="0">
                <a:solidFill>
                  <a:schemeClr val="tx1"/>
                </a:solidFill>
              </a:rPr>
              <a:t>01</a:t>
            </a:r>
            <a:r>
              <a:rPr lang="zh-CN" altLang="en-US" sz="1500" b="0" dirty="0">
                <a:solidFill>
                  <a:schemeClr val="tx1"/>
                </a:solidFill>
              </a:rPr>
              <a:t>编码，在本例中将“</a:t>
            </a:r>
            <a:r>
              <a:rPr lang="en-US" altLang="zh-CN" sz="1500" b="0" dirty="0">
                <a:solidFill>
                  <a:schemeClr val="tx1"/>
                </a:solidFill>
              </a:rPr>
              <a:t>YES”</a:t>
            </a:r>
            <a:r>
              <a:rPr lang="zh-CN" altLang="en-US" sz="1500" b="0" dirty="0">
                <a:solidFill>
                  <a:schemeClr val="tx1"/>
                </a:solidFill>
              </a:rPr>
              <a:t>编码为</a:t>
            </a:r>
            <a:r>
              <a:rPr lang="en-US" altLang="zh-CN" sz="1500" b="0" dirty="0">
                <a:solidFill>
                  <a:schemeClr val="tx1"/>
                </a:solidFill>
              </a:rPr>
              <a:t>1</a:t>
            </a:r>
            <a:r>
              <a:rPr lang="zh-CN" altLang="en-US" sz="1500" b="0" dirty="0">
                <a:solidFill>
                  <a:schemeClr val="tx1"/>
                </a:solidFill>
              </a:rPr>
              <a:t>，将“</a:t>
            </a:r>
            <a:r>
              <a:rPr lang="en-US" altLang="zh-CN" sz="1500" b="0" dirty="0">
                <a:solidFill>
                  <a:schemeClr val="tx1"/>
                </a:solidFill>
              </a:rPr>
              <a:t>NO”</a:t>
            </a:r>
            <a:r>
              <a:rPr lang="zh-CN" altLang="en-US" sz="1500" b="0" dirty="0">
                <a:solidFill>
                  <a:schemeClr val="tx1"/>
                </a:solidFill>
              </a:rPr>
              <a:t>编码为</a:t>
            </a:r>
            <a:r>
              <a:rPr lang="en-US" altLang="zh-CN" sz="1500" b="0" dirty="0">
                <a:solidFill>
                  <a:schemeClr val="tx1"/>
                </a:solidFill>
              </a:rPr>
              <a:t>0</a:t>
            </a:r>
            <a:r>
              <a:rPr lang="zh-CN" altLang="en-US" sz="1500" b="0" dirty="0">
                <a:solidFill>
                  <a:schemeClr val="tx1"/>
                </a:solidFill>
              </a:rPr>
              <a:t>。“年收入等级”有三种不同取值：“</a:t>
            </a:r>
            <a:r>
              <a:rPr lang="en-US" altLang="zh-CN" sz="1500" b="0" dirty="0">
                <a:solidFill>
                  <a:schemeClr val="tx1"/>
                </a:solidFill>
              </a:rPr>
              <a:t>Low Income”</a:t>
            </a:r>
            <a:r>
              <a:rPr lang="zh-CN" altLang="en-US" sz="1500" b="0" dirty="0">
                <a:solidFill>
                  <a:schemeClr val="tx1"/>
                </a:solidFill>
              </a:rPr>
              <a:t>、“</a:t>
            </a:r>
            <a:r>
              <a:rPr lang="en-US" altLang="zh-CN" sz="1500" b="0" dirty="0">
                <a:solidFill>
                  <a:schemeClr val="tx1"/>
                </a:solidFill>
              </a:rPr>
              <a:t>Middle Income”</a:t>
            </a:r>
            <a:r>
              <a:rPr lang="zh-CN" altLang="en-US" sz="1500" b="0" dirty="0">
                <a:solidFill>
                  <a:schemeClr val="tx1"/>
                </a:solidFill>
              </a:rPr>
              <a:t>、“</a:t>
            </a:r>
            <a:r>
              <a:rPr lang="en-US" altLang="zh-CN" sz="1500" b="0" dirty="0">
                <a:solidFill>
                  <a:schemeClr val="tx1"/>
                </a:solidFill>
              </a:rPr>
              <a:t>High Income”</a:t>
            </a:r>
            <a:r>
              <a:rPr lang="zh-CN" altLang="en-US" sz="1500" b="0" dirty="0">
                <a:solidFill>
                  <a:schemeClr val="tx1"/>
                </a:solidFill>
              </a:rPr>
              <a:t>，存在序数关系，本例分别编码为</a:t>
            </a:r>
            <a:r>
              <a:rPr lang="en-US" altLang="zh-CN" sz="1500" b="0" dirty="0">
                <a:solidFill>
                  <a:schemeClr val="tx1"/>
                </a:solidFill>
              </a:rPr>
              <a:t>1</a:t>
            </a:r>
            <a:r>
              <a:rPr lang="zh-CN" altLang="en-US" sz="1500" b="0" dirty="0">
                <a:solidFill>
                  <a:schemeClr val="tx1"/>
                </a:solidFill>
              </a:rPr>
              <a:t>、</a:t>
            </a:r>
            <a:r>
              <a:rPr lang="en-US" altLang="zh-CN" sz="1500" b="0" dirty="0">
                <a:solidFill>
                  <a:schemeClr val="tx1"/>
                </a:solidFill>
              </a:rPr>
              <a:t>2</a:t>
            </a:r>
            <a:r>
              <a:rPr lang="zh-CN" altLang="en-US" sz="1500" b="0" dirty="0">
                <a:solidFill>
                  <a:schemeClr val="tx1"/>
                </a:solidFill>
              </a:rPr>
              <a:t>、</a:t>
            </a:r>
            <a:r>
              <a:rPr lang="en-US" altLang="zh-CN" sz="1500" b="0" dirty="0">
                <a:solidFill>
                  <a:schemeClr val="tx1"/>
                </a:solidFill>
              </a:rPr>
              <a:t>3</a:t>
            </a:r>
            <a:r>
              <a:rPr lang="zh-CN" altLang="en-US" sz="1500" b="0" dirty="0">
                <a:solidFill>
                  <a:schemeClr val="tx1"/>
                </a:solidFill>
              </a:rPr>
              <a:t>。</a:t>
            </a:r>
            <a:endParaRPr lang="zh-CN" altLang="zh-CN" sz="1500" b="0" dirty="0">
              <a:solidFill>
                <a:schemeClr val="tx1"/>
              </a:solidFill>
            </a:endParaRPr>
          </a:p>
        </p:txBody>
      </p:sp>
      <p:pic>
        <p:nvPicPr>
          <p:cNvPr id="13" name="图片 12">
            <a:extLst>
              <a:ext uri="{FF2B5EF4-FFF2-40B4-BE49-F238E27FC236}">
                <a16:creationId xmlns:a16="http://schemas.microsoft.com/office/drawing/2014/main" id="{5BB7F5A4-769C-913C-4A7C-ADDFE2803380}"/>
              </a:ext>
            </a:extLst>
          </p:cNvPr>
          <p:cNvPicPr>
            <a:picLocks noChangeAspect="1"/>
          </p:cNvPicPr>
          <p:nvPr/>
        </p:nvPicPr>
        <p:blipFill>
          <a:blip r:embed="rId3"/>
          <a:stretch>
            <a:fillRect/>
          </a:stretch>
        </p:blipFill>
        <p:spPr>
          <a:xfrm>
            <a:off x="838499" y="3490014"/>
            <a:ext cx="7151903" cy="1407523"/>
          </a:xfrm>
          <a:prstGeom prst="rect">
            <a:avLst/>
          </a:prstGeom>
        </p:spPr>
      </p:pic>
      <p:sp>
        <p:nvSpPr>
          <p:cNvPr id="2" name="标题 1">
            <a:extLst>
              <a:ext uri="{FF2B5EF4-FFF2-40B4-BE49-F238E27FC236}">
                <a16:creationId xmlns:a16="http://schemas.microsoft.com/office/drawing/2014/main" id="{E7BB7FE2-33B5-45F6-BE3D-58DA66B07A3D}"/>
              </a:ext>
            </a:extLst>
          </p:cNvPr>
          <p:cNvSpPr>
            <a:spLocks noGrp="1"/>
          </p:cNvSpPr>
          <p:nvPr>
            <p:ph type="title"/>
          </p:nvPr>
        </p:nvSpPr>
        <p:spPr/>
        <p:txBody>
          <a:bodyPr/>
          <a:lstStyle/>
          <a:p>
            <a:r>
              <a:rPr lang="zh-CN" altLang="en-US" sz="3200" dirty="0">
                <a:latin typeface="华光综艺_CNKI" panose="02000500000000000000" pitchFamily="2" charset="-122"/>
                <a:ea typeface="华光综艺_CNKI" panose="02000500000000000000" pitchFamily="2" charset="-122"/>
              </a:rPr>
              <a:t>实践案例：基于决策树的旅游业客户流失预测</a:t>
            </a:r>
            <a:endParaRPr lang="zh-CN" altLang="en-US" sz="3200" dirty="0"/>
          </a:p>
        </p:txBody>
      </p:sp>
    </p:spTree>
    <p:extLst>
      <p:ext uri="{BB962C8B-B14F-4D97-AF65-F5344CB8AC3E}">
        <p14:creationId xmlns:p14="http://schemas.microsoft.com/office/powerpoint/2010/main" val="199095339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1A1A9-35D8-200D-17F4-79491E6C57C8}"/>
            </a:ext>
          </a:extLst>
        </p:cNvPr>
        <p:cNvGrpSpPr/>
        <p:nvPr/>
      </p:nvGrpSpPr>
      <p:grpSpPr>
        <a:xfrm>
          <a:off x="0" y="0"/>
          <a:ext cx="0" cy="0"/>
          <a:chOff x="0" y="0"/>
          <a:chExt cx="0" cy="0"/>
        </a:xfrm>
      </p:grpSpPr>
      <p:sp>
        <p:nvSpPr>
          <p:cNvPr id="15" name="Rectangle 3">
            <a:extLst>
              <a:ext uri="{FF2B5EF4-FFF2-40B4-BE49-F238E27FC236}">
                <a16:creationId xmlns:a16="http://schemas.microsoft.com/office/drawing/2014/main" id="{9744C5C9-8E3F-ADD2-D1D8-2F178616BF6D}"/>
              </a:ext>
            </a:extLst>
          </p:cNvPr>
          <p:cNvSpPr>
            <a:spLocks noChangeArrowheads="1"/>
          </p:cNvSpPr>
          <p:nvPr/>
        </p:nvSpPr>
        <p:spPr bwMode="auto">
          <a:xfrm>
            <a:off x="1" y="89020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sp>
        <p:nvSpPr>
          <p:cNvPr id="8" name="文本框 7">
            <a:extLst>
              <a:ext uri="{FF2B5EF4-FFF2-40B4-BE49-F238E27FC236}">
                <a16:creationId xmlns:a16="http://schemas.microsoft.com/office/drawing/2014/main" id="{796D140C-0C07-A58C-BCBB-E89BEC7F17C5}"/>
              </a:ext>
            </a:extLst>
          </p:cNvPr>
          <p:cNvSpPr txBox="1"/>
          <p:nvPr/>
        </p:nvSpPr>
        <p:spPr>
          <a:xfrm>
            <a:off x="124617" y="1817516"/>
            <a:ext cx="3729753" cy="3831818"/>
          </a:xfrm>
          <a:prstGeom prst="rect">
            <a:avLst/>
          </a:prstGeom>
          <a:noFill/>
        </p:spPr>
        <p:txBody>
          <a:bodyPr wrap="square">
            <a:spAutoFit/>
          </a:bodyPr>
          <a:lstStyle>
            <a:defPPr>
              <a:defRPr lang="zh-CN"/>
            </a:defPPr>
            <a:lvl1pPr>
              <a:defRPr sz="2400" b="1">
                <a:solidFill>
                  <a:srgbClr val="FF0000"/>
                </a:solidFill>
                <a:latin typeface="微软雅黑" panose="020B0503020204020204" pitchFamily="34" charset="-122"/>
                <a:ea typeface="微软雅黑" panose="020B0503020204020204" pitchFamily="34" charset="-122"/>
              </a:defRPr>
            </a:lvl1pPr>
          </a:lstStyle>
          <a:p>
            <a:r>
              <a:rPr lang="zh-CN" altLang="en-US" sz="1800" dirty="0"/>
              <a:t>模型训练。</a:t>
            </a:r>
            <a:endParaRPr lang="en-US" altLang="zh-CN" sz="1800" dirty="0"/>
          </a:p>
          <a:p>
            <a:r>
              <a:rPr lang="zh-CN" altLang="en-US" sz="1500" b="0" dirty="0">
                <a:solidFill>
                  <a:schemeClr val="tx1"/>
                </a:solidFill>
              </a:rPr>
              <a:t>使用</a:t>
            </a:r>
            <a:r>
              <a:rPr lang="en-US" altLang="zh-CN" sz="1500" b="0" dirty="0">
                <a:solidFill>
                  <a:schemeClr val="tx1"/>
                </a:solidFill>
              </a:rPr>
              <a:t>scikit-learn</a:t>
            </a:r>
            <a:r>
              <a:rPr lang="zh-CN" altLang="en-US" sz="1500" b="0" dirty="0">
                <a:solidFill>
                  <a:schemeClr val="tx1"/>
                </a:solidFill>
              </a:rPr>
              <a:t>中</a:t>
            </a:r>
            <a:r>
              <a:rPr lang="en-US" altLang="zh-CN" sz="1500" b="0" dirty="0">
                <a:solidFill>
                  <a:schemeClr val="tx1"/>
                </a:solidFill>
              </a:rPr>
              <a:t>tree</a:t>
            </a:r>
            <a:r>
              <a:rPr lang="zh-CN" altLang="en-US" sz="1500" b="0" dirty="0">
                <a:solidFill>
                  <a:schemeClr val="tx1"/>
                </a:solidFill>
              </a:rPr>
              <a:t>模块的</a:t>
            </a:r>
            <a:r>
              <a:rPr lang="en-US" altLang="zh-CN" sz="1500" b="0" dirty="0" err="1">
                <a:solidFill>
                  <a:schemeClr val="tx1"/>
                </a:solidFill>
              </a:rPr>
              <a:t>DecisionTreeClassifier</a:t>
            </a:r>
            <a:r>
              <a:rPr lang="zh-CN" altLang="en-US" sz="1500" b="0" dirty="0">
                <a:solidFill>
                  <a:schemeClr val="tx1"/>
                </a:solidFill>
              </a:rPr>
              <a:t>类构建</a:t>
            </a:r>
            <a:r>
              <a:rPr lang="en-US" altLang="zh-CN" sz="1500" b="0" dirty="0">
                <a:solidFill>
                  <a:schemeClr val="tx1"/>
                </a:solidFill>
              </a:rPr>
              <a:t>CART</a:t>
            </a:r>
            <a:r>
              <a:rPr lang="zh-CN" altLang="en-US" sz="1500" b="0" dirty="0">
                <a:solidFill>
                  <a:schemeClr val="tx1"/>
                </a:solidFill>
              </a:rPr>
              <a:t>决策树模型。参数“</a:t>
            </a:r>
            <a:r>
              <a:rPr lang="en-US" altLang="zh-CN" sz="1500" b="0" dirty="0">
                <a:solidFill>
                  <a:schemeClr val="tx1"/>
                </a:solidFill>
              </a:rPr>
              <a:t>criterion”</a:t>
            </a:r>
            <a:r>
              <a:rPr lang="zh-CN" altLang="en-US" sz="1500" b="0" dirty="0">
                <a:solidFill>
                  <a:schemeClr val="tx1"/>
                </a:solidFill>
              </a:rPr>
              <a:t>表示评价信息增益的标准，取值包括“</a:t>
            </a:r>
            <a:r>
              <a:rPr lang="en-US" altLang="zh-CN" sz="1500" b="0" dirty="0" err="1">
                <a:solidFill>
                  <a:schemeClr val="tx1"/>
                </a:solidFill>
              </a:rPr>
              <a:t>gini</a:t>
            </a:r>
            <a:r>
              <a:rPr lang="en-US" altLang="zh-CN" sz="1500" b="0" dirty="0">
                <a:solidFill>
                  <a:schemeClr val="tx1"/>
                </a:solidFill>
              </a:rPr>
              <a:t>”</a:t>
            </a:r>
            <a:r>
              <a:rPr lang="zh-CN" altLang="en-US" sz="1500" b="0" dirty="0">
                <a:solidFill>
                  <a:schemeClr val="tx1"/>
                </a:solidFill>
              </a:rPr>
              <a:t>、“</a:t>
            </a:r>
            <a:r>
              <a:rPr lang="en-US" altLang="zh-CN" sz="1500" b="0" dirty="0">
                <a:solidFill>
                  <a:schemeClr val="tx1"/>
                </a:solidFill>
              </a:rPr>
              <a:t>entropy”</a:t>
            </a:r>
            <a:r>
              <a:rPr lang="zh-CN" altLang="en-US" sz="1500" b="0" dirty="0">
                <a:solidFill>
                  <a:schemeClr val="tx1"/>
                </a:solidFill>
              </a:rPr>
              <a:t>，默认值为“</a:t>
            </a:r>
            <a:r>
              <a:rPr lang="en-US" altLang="zh-CN" sz="1500" b="0" dirty="0" err="1">
                <a:solidFill>
                  <a:schemeClr val="tx1"/>
                </a:solidFill>
              </a:rPr>
              <a:t>gini</a:t>
            </a:r>
            <a:r>
              <a:rPr lang="en-US" altLang="zh-CN" sz="1500" b="0" dirty="0">
                <a:solidFill>
                  <a:schemeClr val="tx1"/>
                </a:solidFill>
              </a:rPr>
              <a:t>”</a:t>
            </a:r>
            <a:r>
              <a:rPr lang="zh-CN" altLang="en-US" sz="1500" b="0" dirty="0">
                <a:solidFill>
                  <a:schemeClr val="tx1"/>
                </a:solidFill>
              </a:rPr>
              <a:t>。参数“</a:t>
            </a:r>
            <a:r>
              <a:rPr lang="en-US" altLang="zh-CN" sz="1500" b="0" dirty="0" err="1">
                <a:solidFill>
                  <a:schemeClr val="tx1"/>
                </a:solidFill>
              </a:rPr>
              <a:t>max_depth</a:t>
            </a:r>
            <a:r>
              <a:rPr lang="en-US" altLang="zh-CN" sz="1500" b="0" dirty="0">
                <a:solidFill>
                  <a:schemeClr val="tx1"/>
                </a:solidFill>
              </a:rPr>
              <a:t>”</a:t>
            </a:r>
            <a:r>
              <a:rPr lang="zh-CN" altLang="en-US" sz="1500" b="0" dirty="0">
                <a:solidFill>
                  <a:schemeClr val="tx1"/>
                </a:solidFill>
              </a:rPr>
              <a:t>表示树的最大深度，默认不限制（“</a:t>
            </a:r>
            <a:r>
              <a:rPr lang="en-US" altLang="zh-CN" sz="1500" b="0" dirty="0">
                <a:solidFill>
                  <a:schemeClr val="tx1"/>
                </a:solidFill>
              </a:rPr>
              <a:t>None”</a:t>
            </a:r>
            <a:r>
              <a:rPr lang="zh-CN" altLang="en-US" sz="1500" b="0" dirty="0">
                <a:solidFill>
                  <a:schemeClr val="tx1"/>
                </a:solidFill>
              </a:rPr>
              <a:t>）。参数“</a:t>
            </a:r>
            <a:r>
              <a:rPr lang="en-US" altLang="zh-CN" sz="1500" b="0" dirty="0" err="1">
                <a:solidFill>
                  <a:schemeClr val="tx1"/>
                </a:solidFill>
              </a:rPr>
              <a:t>min_samples_split</a:t>
            </a:r>
            <a:r>
              <a:rPr lang="en-US" altLang="zh-CN" sz="1500" b="0" dirty="0">
                <a:solidFill>
                  <a:schemeClr val="tx1"/>
                </a:solidFill>
              </a:rPr>
              <a:t>”</a:t>
            </a:r>
            <a:r>
              <a:rPr lang="zh-CN" altLang="en-US" sz="1500" b="0" dirty="0">
                <a:solidFill>
                  <a:schemeClr val="tx1"/>
                </a:solidFill>
              </a:rPr>
              <a:t>表示划分结点所需要的最小样本数，如果小于这个数就不再分裂，默认为</a:t>
            </a:r>
            <a:r>
              <a:rPr lang="en-US" altLang="zh-CN" sz="1500" b="0" dirty="0">
                <a:solidFill>
                  <a:schemeClr val="tx1"/>
                </a:solidFill>
              </a:rPr>
              <a:t>2</a:t>
            </a:r>
            <a:r>
              <a:rPr lang="zh-CN" altLang="en-US" sz="1500" b="0" dirty="0">
                <a:solidFill>
                  <a:schemeClr val="tx1"/>
                </a:solidFill>
              </a:rPr>
              <a:t>。参数“</a:t>
            </a:r>
            <a:r>
              <a:rPr lang="en-US" altLang="zh-CN" sz="1500" b="0" dirty="0" err="1">
                <a:solidFill>
                  <a:schemeClr val="tx1"/>
                </a:solidFill>
              </a:rPr>
              <a:t>min_samples_leaf</a:t>
            </a:r>
            <a:r>
              <a:rPr lang="en-US" altLang="zh-CN" sz="1500" b="0" dirty="0">
                <a:solidFill>
                  <a:schemeClr val="tx1"/>
                </a:solidFill>
              </a:rPr>
              <a:t>”</a:t>
            </a:r>
            <a:r>
              <a:rPr lang="zh-CN" altLang="en-US" sz="1500" b="0" dirty="0">
                <a:solidFill>
                  <a:schemeClr val="tx1"/>
                </a:solidFill>
              </a:rPr>
              <a:t>表示叶结点需要的最小样本数，默认为</a:t>
            </a:r>
            <a:r>
              <a:rPr lang="en-US" altLang="zh-CN" sz="1500" b="0" dirty="0">
                <a:solidFill>
                  <a:schemeClr val="tx1"/>
                </a:solidFill>
              </a:rPr>
              <a:t>1</a:t>
            </a:r>
            <a:r>
              <a:rPr lang="zh-CN" altLang="en-US" sz="1500" b="0" dirty="0">
                <a:solidFill>
                  <a:schemeClr val="tx1"/>
                </a:solidFill>
              </a:rPr>
              <a:t>。参数“</a:t>
            </a:r>
            <a:r>
              <a:rPr lang="en-US" altLang="zh-CN" sz="1500" b="0" dirty="0" err="1">
                <a:solidFill>
                  <a:schemeClr val="tx1"/>
                </a:solidFill>
              </a:rPr>
              <a:t>min_impurity_decrease</a:t>
            </a:r>
            <a:r>
              <a:rPr lang="en-US" altLang="zh-CN" sz="1500" b="0" dirty="0">
                <a:solidFill>
                  <a:schemeClr val="tx1"/>
                </a:solidFill>
              </a:rPr>
              <a:t>”</a:t>
            </a:r>
            <a:r>
              <a:rPr lang="zh-CN" altLang="en-US" sz="1500" b="0" dirty="0">
                <a:solidFill>
                  <a:schemeClr val="tx1"/>
                </a:solidFill>
              </a:rPr>
              <a:t>表示结点分裂的最小不纯度阈值，只有当结点的不纯度大于此阈值时才会继续分裂。</a:t>
            </a:r>
            <a:endParaRPr lang="zh-CN" altLang="zh-CN" sz="1500" b="0" dirty="0">
              <a:solidFill>
                <a:schemeClr val="tx1"/>
              </a:solidFill>
            </a:endParaRPr>
          </a:p>
        </p:txBody>
      </p:sp>
      <p:pic>
        <p:nvPicPr>
          <p:cNvPr id="10" name="图片 9">
            <a:extLst>
              <a:ext uri="{FF2B5EF4-FFF2-40B4-BE49-F238E27FC236}">
                <a16:creationId xmlns:a16="http://schemas.microsoft.com/office/drawing/2014/main" id="{D7273702-0581-0211-7521-F18B4AA6D428}"/>
              </a:ext>
            </a:extLst>
          </p:cNvPr>
          <p:cNvPicPr>
            <a:picLocks noChangeAspect="1"/>
          </p:cNvPicPr>
          <p:nvPr/>
        </p:nvPicPr>
        <p:blipFill>
          <a:blip r:embed="rId3"/>
          <a:stretch>
            <a:fillRect/>
          </a:stretch>
        </p:blipFill>
        <p:spPr>
          <a:xfrm>
            <a:off x="3854370" y="1784736"/>
            <a:ext cx="4982901" cy="3778735"/>
          </a:xfrm>
          <a:prstGeom prst="rect">
            <a:avLst/>
          </a:prstGeom>
        </p:spPr>
      </p:pic>
      <p:sp>
        <p:nvSpPr>
          <p:cNvPr id="2" name="标题 1">
            <a:extLst>
              <a:ext uri="{FF2B5EF4-FFF2-40B4-BE49-F238E27FC236}">
                <a16:creationId xmlns:a16="http://schemas.microsoft.com/office/drawing/2014/main" id="{C611F43D-D0A4-457A-9EDC-32A1610FB32E}"/>
              </a:ext>
            </a:extLst>
          </p:cNvPr>
          <p:cNvSpPr>
            <a:spLocks noGrp="1"/>
          </p:cNvSpPr>
          <p:nvPr>
            <p:ph type="title"/>
          </p:nvPr>
        </p:nvSpPr>
        <p:spPr/>
        <p:txBody>
          <a:bodyPr/>
          <a:lstStyle/>
          <a:p>
            <a:r>
              <a:rPr lang="zh-CN" altLang="en-US" sz="3200" dirty="0"/>
              <a:t>实践案例：基于决策树的旅游业客户流失预测</a:t>
            </a:r>
          </a:p>
        </p:txBody>
      </p:sp>
    </p:spTree>
    <p:extLst>
      <p:ext uri="{BB962C8B-B14F-4D97-AF65-F5344CB8AC3E}">
        <p14:creationId xmlns:p14="http://schemas.microsoft.com/office/powerpoint/2010/main" val="303210204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A8934-3F8A-8397-E895-CA46384FF039}"/>
            </a:ext>
          </a:extLst>
        </p:cNvPr>
        <p:cNvGrpSpPr/>
        <p:nvPr/>
      </p:nvGrpSpPr>
      <p:grpSpPr>
        <a:xfrm>
          <a:off x="0" y="0"/>
          <a:ext cx="0" cy="0"/>
          <a:chOff x="0" y="0"/>
          <a:chExt cx="0" cy="0"/>
        </a:xfrm>
      </p:grpSpPr>
      <p:sp>
        <p:nvSpPr>
          <p:cNvPr id="2" name="矩形: 圆角 12">
            <a:extLst>
              <a:ext uri="{FF2B5EF4-FFF2-40B4-BE49-F238E27FC236}">
                <a16:creationId xmlns:a16="http://schemas.microsoft.com/office/drawing/2014/main" id="{D591291E-5244-C740-EAE5-6E1C03ACF7B7}"/>
              </a:ext>
            </a:extLst>
          </p:cNvPr>
          <p:cNvSpPr/>
          <p:nvPr/>
        </p:nvSpPr>
        <p:spPr>
          <a:xfrm>
            <a:off x="124616" y="1576922"/>
            <a:ext cx="5955598" cy="434161"/>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864000" rIns="81000" rtlCol="0" anchor="ctr">
            <a:spAutoFit/>
          </a:bodyPr>
          <a:lstStyle/>
          <a:p>
            <a:pPr defTabSz="1095375">
              <a:spcBef>
                <a:spcPct val="30000"/>
              </a:spcBef>
              <a:defRPr/>
            </a:pPr>
            <a:r>
              <a:rPr lang="zh-CN" altLang="en-US" sz="1950" b="1" dirty="0">
                <a:solidFill>
                  <a:srgbClr val="5B9BD5"/>
                </a:solidFill>
                <a:latin typeface="Times New Roman" panose="02020603050405020304" pitchFamily="18" charset="0"/>
                <a:ea typeface="微软雅黑" panose="020B0503020204020204" charset="-122"/>
                <a:sym typeface="Times New Roman" panose="02020603050405020304" pitchFamily="18" charset="0"/>
              </a:rPr>
              <a:t>实践案例：基于决策树的旅游业客户流失预测</a:t>
            </a:r>
          </a:p>
        </p:txBody>
      </p:sp>
      <p:sp>
        <p:nvSpPr>
          <p:cNvPr id="7" name="箭头: 五边形 11">
            <a:extLst>
              <a:ext uri="{FF2B5EF4-FFF2-40B4-BE49-F238E27FC236}">
                <a16:creationId xmlns:a16="http://schemas.microsoft.com/office/drawing/2014/main" id="{DE2FC5D3-18A8-8F96-69E7-B7D5C6126E26}"/>
              </a:ext>
            </a:extLst>
          </p:cNvPr>
          <p:cNvSpPr/>
          <p:nvPr/>
        </p:nvSpPr>
        <p:spPr>
          <a:xfrm>
            <a:off x="124616" y="1589692"/>
            <a:ext cx="809730" cy="408623"/>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685800">
              <a:defRPr/>
            </a:pPr>
            <a:r>
              <a:rPr lang="en-US" altLang="zh-CN" sz="2700" dirty="0">
                <a:solidFill>
                  <a:prstClr val="white"/>
                </a:solidFill>
                <a:latin typeface="Impact" panose="020B0806030902050204" pitchFamily="34" charset="0"/>
                <a:ea typeface="等线" panose="02010600030101010101" pitchFamily="2" charset="-122"/>
                <a:sym typeface="Times New Roman" panose="02020603050405020304" pitchFamily="18" charset="0"/>
              </a:rPr>
              <a:t>4.5</a:t>
            </a:r>
            <a:endParaRPr lang="zh-CN" altLang="en-US" sz="2700" dirty="0">
              <a:solidFill>
                <a:prstClr val="white"/>
              </a:solidFill>
              <a:latin typeface="Impact" panose="020B0806030902050204" pitchFamily="34" charset="0"/>
              <a:ea typeface="等线" panose="02010600030101010101" pitchFamily="2" charset="-122"/>
              <a:sym typeface="Times New Roman" panose="02020603050405020304" pitchFamily="18" charset="0"/>
            </a:endParaRPr>
          </a:p>
        </p:txBody>
      </p:sp>
      <p:sp>
        <p:nvSpPr>
          <p:cNvPr id="15" name="Rectangle 3">
            <a:extLst>
              <a:ext uri="{FF2B5EF4-FFF2-40B4-BE49-F238E27FC236}">
                <a16:creationId xmlns:a16="http://schemas.microsoft.com/office/drawing/2014/main" id="{5B3A1688-B8CE-1B16-CF42-D037824A32D8}"/>
              </a:ext>
            </a:extLst>
          </p:cNvPr>
          <p:cNvSpPr>
            <a:spLocks noChangeArrowheads="1"/>
          </p:cNvSpPr>
          <p:nvPr/>
        </p:nvSpPr>
        <p:spPr bwMode="auto">
          <a:xfrm>
            <a:off x="1" y="89020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sp>
        <p:nvSpPr>
          <p:cNvPr id="16" name="Rectangle 4">
            <a:extLst>
              <a:ext uri="{FF2B5EF4-FFF2-40B4-BE49-F238E27FC236}">
                <a16:creationId xmlns:a16="http://schemas.microsoft.com/office/drawing/2014/main" id="{8BCD8269-482B-761B-493D-0D56C5D39156}"/>
              </a:ext>
            </a:extLst>
          </p:cNvPr>
          <p:cNvSpPr>
            <a:spLocks noChangeArrowheads="1"/>
          </p:cNvSpPr>
          <p:nvPr/>
        </p:nvSpPr>
        <p:spPr bwMode="auto">
          <a:xfrm>
            <a:off x="4382432" y="2076161"/>
            <a:ext cx="398187" cy="207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indent="228600" algn="ctr" defTabSz="685800" eaLnBrk="0" fontAlgn="base" hangingPunct="0">
              <a:spcBef>
                <a:spcPct val="0"/>
              </a:spcBef>
              <a:spcAft>
                <a:spcPct val="0"/>
              </a:spcAft>
            </a:pPr>
            <a:r>
              <a:rPr lang="en-US" altLang="en-US" sz="900" dirty="0">
                <a:latin typeface="Times New Roman" panose="02020603050405020304" pitchFamily="18" charset="0"/>
                <a:ea typeface="宋体" panose="02010600030101010101" pitchFamily="2" charset="-122"/>
                <a:cs typeface="Times New Roman" panose="02020603050405020304" pitchFamily="18" charset="0"/>
              </a:rPr>
              <a:t> </a:t>
            </a:r>
            <a:endParaRPr lang="en-US" altLang="en-US" sz="1350" dirty="0">
              <a:latin typeface="Arial" panose="020B0604020202020204" pitchFamily="34" charset="0"/>
            </a:endParaRPr>
          </a:p>
        </p:txBody>
      </p:sp>
      <p:pic>
        <p:nvPicPr>
          <p:cNvPr id="6146" name="Picture 2">
            <a:extLst>
              <a:ext uri="{FF2B5EF4-FFF2-40B4-BE49-F238E27FC236}">
                <a16:creationId xmlns:a16="http://schemas.microsoft.com/office/drawing/2014/main" id="{EDCF30CD-28DA-7132-CE78-52DF86F925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68" y="1028701"/>
            <a:ext cx="9136091" cy="4596596"/>
          </a:xfrm>
          <a:prstGeom prst="rect">
            <a:avLst/>
          </a:prstGeom>
          <a:noFill/>
          <a:extLst>
            <a:ext uri="{909E8E84-426E-40DD-AFC4-6F175D3DCCD1}">
              <a14:hiddenFill xmlns:a14="http://schemas.microsoft.com/office/drawing/2010/main">
                <a:solidFill>
                  <a:srgbClr val="FFFFFF"/>
                </a:solidFill>
              </a14:hiddenFill>
            </a:ext>
          </a:extLst>
        </p:spPr>
      </p:pic>
      <p:sp>
        <p:nvSpPr>
          <p:cNvPr id="4" name="标题 3">
            <a:extLst>
              <a:ext uri="{FF2B5EF4-FFF2-40B4-BE49-F238E27FC236}">
                <a16:creationId xmlns:a16="http://schemas.microsoft.com/office/drawing/2014/main" id="{1C737316-3B8A-4133-990B-3764E3E0B173}"/>
              </a:ext>
            </a:extLst>
          </p:cNvPr>
          <p:cNvSpPr>
            <a:spLocks noGrp="1"/>
          </p:cNvSpPr>
          <p:nvPr>
            <p:ph type="title"/>
          </p:nvPr>
        </p:nvSpPr>
        <p:spPr/>
        <p:txBody>
          <a:bodyPr/>
          <a:lstStyle/>
          <a:p>
            <a:r>
              <a:rPr lang="zh-CN" altLang="en-US" sz="3200" dirty="0">
                <a:latin typeface="华光综艺_CNKI" panose="02000500000000000000" pitchFamily="2" charset="-122"/>
                <a:ea typeface="华光综艺_CNKI" panose="02000500000000000000" pitchFamily="2" charset="-122"/>
              </a:rPr>
              <a:t>实践案例：基于决策树的旅游业客户流失预测</a:t>
            </a:r>
            <a:endParaRPr lang="zh-CN" altLang="en-US" sz="3200" dirty="0"/>
          </a:p>
        </p:txBody>
      </p:sp>
    </p:spTree>
    <p:extLst>
      <p:ext uri="{BB962C8B-B14F-4D97-AF65-F5344CB8AC3E}">
        <p14:creationId xmlns:p14="http://schemas.microsoft.com/office/powerpoint/2010/main" val="1409104772"/>
      </p:ext>
    </p:extLst>
  </p:cSld>
  <p:clrMapOvr>
    <a:masterClrMapping/>
  </p:clrMapOvr>
</p:sld>
</file>

<file path=ppt/theme/theme1.xml><?xml version="1.0" encoding="utf-8"?>
<a:theme xmlns:a="http://schemas.openxmlformats.org/drawingml/2006/main" name="白底灰边-Office2010风格">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黑体+Times">
      <a:majorFont>
        <a:latin typeface="Times New Roman"/>
        <a:ea typeface="黑体"/>
        <a:cs typeface=""/>
      </a:majorFont>
      <a:minorFont>
        <a:latin typeface="Times New Roman"/>
        <a:ea typeface="黑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白底灰边-Office2010风格</Template>
  <TotalTime>23039</TotalTime>
  <Words>7033</Words>
  <Application>Microsoft Office PowerPoint</Application>
  <PresentationFormat>全屏显示(4:3)</PresentationFormat>
  <Paragraphs>2177</Paragraphs>
  <Slides>93</Slides>
  <Notes>31</Notes>
  <HiddenSlides>1</HiddenSlides>
  <MMClips>0</MMClips>
  <ScaleCrop>false</ScaleCrop>
  <HeadingPairs>
    <vt:vector size="8" baseType="variant">
      <vt:variant>
        <vt:lpstr>已用的字体</vt:lpstr>
      </vt:variant>
      <vt:variant>
        <vt:i4>22</vt:i4>
      </vt:variant>
      <vt:variant>
        <vt:lpstr>主题</vt:lpstr>
      </vt:variant>
      <vt:variant>
        <vt:i4>1</vt:i4>
      </vt:variant>
      <vt:variant>
        <vt:lpstr>嵌入 OLE 服务器</vt:lpstr>
      </vt:variant>
      <vt:variant>
        <vt:i4>6</vt:i4>
      </vt:variant>
      <vt:variant>
        <vt:lpstr>幻灯片标题</vt:lpstr>
      </vt:variant>
      <vt:variant>
        <vt:i4>93</vt:i4>
      </vt:variant>
    </vt:vector>
  </HeadingPairs>
  <TitlesOfParts>
    <vt:vector size="122" baseType="lpstr">
      <vt:lpstr>Arial Unicode MS</vt:lpstr>
      <vt:lpstr>Lucida Grande</vt:lpstr>
      <vt:lpstr>Monotype Sorts</vt:lpstr>
      <vt:lpstr>SF Pro Display</vt:lpstr>
      <vt:lpstr>等线</vt:lpstr>
      <vt:lpstr>汉仪水滴体简</vt:lpstr>
      <vt:lpstr>黑体</vt:lpstr>
      <vt:lpstr>华光综艺_CNKI</vt:lpstr>
      <vt:lpstr>华文细黑</vt:lpstr>
      <vt:lpstr>楷体</vt:lpstr>
      <vt:lpstr>楷体_GB2312</vt:lpstr>
      <vt:lpstr>宋体</vt:lpstr>
      <vt:lpstr>微软雅黑</vt:lpstr>
      <vt:lpstr>幼圆</vt:lpstr>
      <vt:lpstr>Arial</vt:lpstr>
      <vt:lpstr>Calibri</vt:lpstr>
      <vt:lpstr>Cambria Math</vt:lpstr>
      <vt:lpstr>Courier New</vt:lpstr>
      <vt:lpstr>Impact</vt:lpstr>
      <vt:lpstr>Times New Roman</vt:lpstr>
      <vt:lpstr>Wingdings</vt:lpstr>
      <vt:lpstr>Wingdings 3</vt:lpstr>
      <vt:lpstr>白底灰边-Office2010风格</vt:lpstr>
      <vt:lpstr>Equation.3</vt:lpstr>
      <vt:lpstr>Equation</vt:lpstr>
      <vt:lpstr>Document</vt:lpstr>
      <vt:lpstr>公式</vt:lpstr>
      <vt:lpstr>VISIO</vt:lpstr>
      <vt:lpstr>Visio</vt:lpstr>
      <vt:lpstr>第7章 决策树  王丽苹   </vt:lpstr>
      <vt:lpstr> 经典分类问题</vt:lpstr>
      <vt:lpstr> 经典分类问题</vt:lpstr>
      <vt:lpstr> 经典分类问题</vt:lpstr>
      <vt:lpstr> 经典分类问题</vt:lpstr>
      <vt:lpstr> 经典分类问题</vt:lpstr>
      <vt:lpstr> 经典分类问题</vt:lpstr>
      <vt:lpstr> 经典分类问题</vt:lpstr>
      <vt:lpstr>分类问题定义</vt:lpstr>
      <vt:lpstr>分类问题的种类</vt:lpstr>
      <vt:lpstr>分类问题的步骤</vt:lpstr>
      <vt:lpstr>分类问题的步骤</vt:lpstr>
      <vt:lpstr>分类问题的步骤</vt:lpstr>
      <vt:lpstr>分类问题的步骤</vt:lpstr>
      <vt:lpstr>如何避免过度训练</vt:lpstr>
      <vt:lpstr>如何避免过度训练 </vt:lpstr>
      <vt:lpstr>决策树</vt:lpstr>
      <vt:lpstr>1.建立决策树分类模型</vt:lpstr>
      <vt:lpstr>1.建立决策树分类模型</vt:lpstr>
      <vt:lpstr>1.建立决策树分类模型</vt:lpstr>
      <vt:lpstr>1.建立决策树分类模型</vt:lpstr>
      <vt:lpstr>2.测试并评估模型</vt:lpstr>
      <vt:lpstr>3.使用决策树模型</vt:lpstr>
      <vt:lpstr>思考？</vt:lpstr>
      <vt:lpstr>思考？</vt:lpstr>
      <vt:lpstr>思考？</vt:lpstr>
      <vt:lpstr>熵</vt:lpstr>
      <vt:lpstr>决策树：信息熵</vt:lpstr>
      <vt:lpstr>决策树：信息熵</vt:lpstr>
      <vt:lpstr>决策树：信息增益</vt:lpstr>
      <vt:lpstr>信息增益率</vt:lpstr>
      <vt:lpstr>决策树：信息增益率</vt:lpstr>
      <vt:lpstr>信息增益率</vt:lpstr>
      <vt:lpstr>从哪个属性开始：信息增益率</vt:lpstr>
      <vt:lpstr>GINI系数指标</vt:lpstr>
      <vt:lpstr>GINI系数指标</vt:lpstr>
      <vt:lpstr>GINI系数指标</vt:lpstr>
      <vt:lpstr>GINI系数指标</vt:lpstr>
      <vt:lpstr>分类误差Classification Error</vt:lpstr>
      <vt:lpstr>连续属性的划分方法</vt:lpstr>
      <vt:lpstr>连续属性的划分方法</vt:lpstr>
      <vt:lpstr>连续属性的划分方法</vt:lpstr>
      <vt:lpstr>连续属性的划分方法</vt:lpstr>
      <vt:lpstr>连续属性的划分方法</vt:lpstr>
      <vt:lpstr>连续属性的划分方法</vt:lpstr>
      <vt:lpstr>连续属性的划分方法</vt:lpstr>
      <vt:lpstr>连续属性的划分方法</vt:lpstr>
      <vt:lpstr>连续属性的划分方法</vt:lpstr>
      <vt:lpstr>连续属性的划分方法</vt:lpstr>
      <vt:lpstr>模型评价</vt:lpstr>
      <vt:lpstr>【例】</vt:lpstr>
      <vt:lpstr>【例】</vt:lpstr>
      <vt:lpstr>【例】哺乳动物的分类问题</vt:lpstr>
      <vt:lpstr>【例】哺乳动物的分类问题</vt:lpstr>
      <vt:lpstr>【例】哺乳动物的分类问题</vt:lpstr>
      <vt:lpstr>过度拟合</vt:lpstr>
      <vt:lpstr>过度拟合</vt:lpstr>
      <vt:lpstr>过度拟合</vt:lpstr>
      <vt:lpstr>剪枝</vt:lpstr>
      <vt:lpstr>剪枝</vt:lpstr>
      <vt:lpstr>剪枝</vt:lpstr>
      <vt:lpstr>先剪枝</vt:lpstr>
      <vt:lpstr>先剪枝</vt:lpstr>
      <vt:lpstr>先剪枝</vt:lpstr>
      <vt:lpstr>后剪枝</vt:lpstr>
      <vt:lpstr>减少错误剪枝REP</vt:lpstr>
      <vt:lpstr>减少错误剪枝REP</vt:lpstr>
      <vt:lpstr>减少错误剪枝REP</vt:lpstr>
      <vt:lpstr>减少错误剪枝REP</vt:lpstr>
      <vt:lpstr>悲观错误剪枝法PEP</vt:lpstr>
      <vt:lpstr>悲观错误剪枝法PEP</vt:lpstr>
      <vt:lpstr>悲观错误剪枝法PEP</vt:lpstr>
      <vt:lpstr>悲观错误剪枝法PEP</vt:lpstr>
      <vt:lpstr>悲观错误剪枝法PEP</vt:lpstr>
      <vt:lpstr>悲观错误剪枝法PEP</vt:lpstr>
      <vt:lpstr>代价-复杂度剪枝CCP</vt:lpstr>
      <vt:lpstr>最小错误剪枝MEP</vt:lpstr>
      <vt:lpstr>拟合不足</vt:lpstr>
      <vt:lpstr>剪枝方法比较</vt:lpstr>
      <vt:lpstr>常提到的决策树算法</vt:lpstr>
      <vt:lpstr>决策树归纳的特点</vt:lpstr>
      <vt:lpstr>决策树归纳的特点</vt:lpstr>
      <vt:lpstr>决策树归纳的特点</vt:lpstr>
      <vt:lpstr>决策树归纳的特点</vt:lpstr>
      <vt:lpstr>决策树归纳的特点</vt:lpstr>
      <vt:lpstr>决策树归纳的特点</vt:lpstr>
      <vt:lpstr>决策树归纳的特点</vt:lpstr>
      <vt:lpstr>决策树分类</vt:lpstr>
      <vt:lpstr>实践案例：基于决策树的旅游业客户流失预测</vt:lpstr>
      <vt:lpstr>实践案例：基于决策树的旅游业客户流失预测</vt:lpstr>
      <vt:lpstr>实践案例：基于决策树的旅游业客户流失预测</vt:lpstr>
      <vt:lpstr>实践案例：基于决策树的旅游业客户流失预测</vt:lpstr>
      <vt:lpstr>实践案例：基于决策树的旅游业客户流失预测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wuxf</dc:creator>
  <cp:lastModifiedBy>Liping Wang</cp:lastModifiedBy>
  <cp:revision>1600</cp:revision>
  <dcterms:created xsi:type="dcterms:W3CDTF">2018-01-15T02:11:00Z</dcterms:created>
  <dcterms:modified xsi:type="dcterms:W3CDTF">2025-12-11T01:27:14Z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2052-11.1.0.9440</vt:lpwstr>
  </property>
</Properties>
</file>