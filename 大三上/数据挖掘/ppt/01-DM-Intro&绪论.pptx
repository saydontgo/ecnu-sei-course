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0"/>
  </p:notesMasterIdLst>
  <p:sldIdLst>
    <p:sldId id="4261" r:id="rId2"/>
    <p:sldId id="4269" r:id="rId3"/>
    <p:sldId id="4280" r:id="rId4"/>
    <p:sldId id="4270" r:id="rId5"/>
    <p:sldId id="4271" r:id="rId6"/>
    <p:sldId id="711" r:id="rId7"/>
    <p:sldId id="4279" r:id="rId8"/>
    <p:sldId id="4273" r:id="rId9"/>
    <p:sldId id="4274" r:id="rId10"/>
    <p:sldId id="4276" r:id="rId11"/>
    <p:sldId id="4304" r:id="rId12"/>
    <p:sldId id="489" r:id="rId13"/>
    <p:sldId id="4303" r:id="rId14"/>
    <p:sldId id="4306" r:id="rId15"/>
    <p:sldId id="4307" r:id="rId16"/>
    <p:sldId id="4308" r:id="rId17"/>
    <p:sldId id="4309" r:id="rId18"/>
    <p:sldId id="496" r:id="rId19"/>
    <p:sldId id="501" r:id="rId20"/>
    <p:sldId id="502" r:id="rId21"/>
    <p:sldId id="500" r:id="rId22"/>
    <p:sldId id="495" r:id="rId23"/>
    <p:sldId id="503" r:id="rId24"/>
    <p:sldId id="4310" r:id="rId25"/>
    <p:sldId id="384" r:id="rId26"/>
    <p:sldId id="534" r:id="rId27"/>
    <p:sldId id="4311" r:id="rId28"/>
    <p:sldId id="457" r:id="rId29"/>
    <p:sldId id="4313" r:id="rId30"/>
    <p:sldId id="283" r:id="rId31"/>
    <p:sldId id="4316" r:id="rId32"/>
    <p:sldId id="394" r:id="rId33"/>
    <p:sldId id="395" r:id="rId34"/>
    <p:sldId id="396" r:id="rId35"/>
    <p:sldId id="397" r:id="rId36"/>
    <p:sldId id="399" r:id="rId37"/>
    <p:sldId id="400" r:id="rId38"/>
    <p:sldId id="471" r:id="rId39"/>
    <p:sldId id="508" r:id="rId40"/>
    <p:sldId id="509" r:id="rId41"/>
    <p:sldId id="407" r:id="rId42"/>
    <p:sldId id="408" r:id="rId43"/>
    <p:sldId id="409" r:id="rId44"/>
    <p:sldId id="513" r:id="rId45"/>
    <p:sldId id="401" r:id="rId46"/>
    <p:sldId id="402" r:id="rId47"/>
    <p:sldId id="405" r:id="rId48"/>
    <p:sldId id="518" r:id="rId49"/>
    <p:sldId id="411" r:id="rId50"/>
    <p:sldId id="507" r:id="rId51"/>
    <p:sldId id="4318" r:id="rId52"/>
    <p:sldId id="4319" r:id="rId53"/>
    <p:sldId id="4320" r:id="rId54"/>
    <p:sldId id="4321" r:id="rId55"/>
    <p:sldId id="4286" r:id="rId56"/>
    <p:sldId id="4281" r:id="rId57"/>
    <p:sldId id="313" r:id="rId58"/>
    <p:sldId id="4278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1309"/>
    <a:srgbClr val="E3FDBE"/>
    <a:srgbClr val="DCFDAB"/>
    <a:srgbClr val="FFAAA9"/>
    <a:srgbClr val="DBFDAA"/>
    <a:srgbClr val="FFE1E1"/>
    <a:srgbClr val="ECE5F7"/>
    <a:srgbClr val="E1D6F2"/>
    <a:srgbClr val="DCFDAD"/>
    <a:srgbClr val="D4C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89333" autoAdjust="0"/>
  </p:normalViewPr>
  <p:slideViewPr>
    <p:cSldViewPr snapToGrid="0">
      <p:cViewPr varScale="1">
        <p:scale>
          <a:sx n="95" d="100"/>
          <a:sy n="95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B4B762-BD98-48C8-9B2B-410750BD7443}" type="doc">
      <dgm:prSet loTypeId="urn:microsoft.com/office/officeart/2005/8/layout/cycle2" loCatId="cycle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3F9D4117-A998-493A-B851-F943C125F83E}">
      <dgm:prSet phldrT="[文本]"/>
      <dgm:spPr/>
      <dgm:t>
        <a:bodyPr/>
        <a:lstStyle/>
        <a:p>
          <a:r>
            <a:rPr lang="zh-CN" altLang="en-US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互联网</a:t>
          </a:r>
        </a:p>
      </dgm:t>
    </dgm:pt>
    <dgm:pt modelId="{5988CEA8-9481-4BF3-82E4-54CE15BC3BE4}" type="parTrans" cxnId="{8381EA28-C54B-45FC-AA5B-DBCDC59B0778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27818E4A-CE42-451D-83E8-18DA2606EFB7}" type="sibTrans" cxnId="{8381EA28-C54B-45FC-AA5B-DBCDC59B0778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D16A7298-4667-4EDB-9660-86DF9152C005}">
      <dgm:prSet phldrT="[文本]"/>
      <dgm:spPr/>
      <dgm:t>
        <a:bodyPr/>
        <a:lstStyle/>
        <a:p>
          <a:r>
            <a:rPr lang="zh-CN" altLang="en-US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感知</a:t>
          </a:r>
          <a:endParaRPr lang="en-US" altLang="zh-CN" b="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C155B839-52EB-4385-B34C-8ED90DAA25F2}" type="parTrans" cxnId="{78B5159D-108C-4E5C-8811-CB99CD2E08CB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2AAA9EE1-62D9-4AA7-BB9C-50E590C047C9}" type="sibTrans" cxnId="{78B5159D-108C-4E5C-8811-CB99CD2E08CB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BAE288ED-EC5D-420C-BD0A-72398AD5E90A}">
      <dgm:prSet phldrT="[文本]"/>
      <dgm:spPr/>
      <dgm:t>
        <a:bodyPr/>
        <a:lstStyle/>
        <a:p>
          <a:r>
            <a:rPr lang="en-US" altLang="zh-CN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……</a:t>
          </a:r>
          <a:endParaRPr lang="zh-CN" altLang="en-US" b="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8FDF50D3-0086-409A-B0A8-49D2F6775505}" type="parTrans" cxnId="{E07F6A76-7EB8-43D9-A71A-F5D8635FDB56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7FE77DF1-1681-4170-BA6A-8D7664A85D69}" type="sibTrans" cxnId="{E07F6A76-7EB8-43D9-A71A-F5D8635FDB56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E4841504-E139-4979-A029-B0FA5496F0F1}">
      <dgm:prSet phldrT="[文本]"/>
      <dgm:spPr/>
      <dgm:t>
        <a:bodyPr/>
        <a:lstStyle/>
        <a:p>
          <a:r>
            <a:rPr lang="zh-CN" altLang="en-US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大数据</a:t>
          </a:r>
        </a:p>
      </dgm:t>
    </dgm:pt>
    <dgm:pt modelId="{3DD4D8C3-61D8-40CB-8D5A-B89C8007F34C}" type="parTrans" cxnId="{27106BEB-7D7F-4EB1-89AA-FC1F0079AF88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D344C8DB-F11D-4728-AFB8-5410E63EFDF1}" type="sibTrans" cxnId="{27106BEB-7D7F-4EB1-89AA-FC1F0079AF88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F3FAD7E4-1A5B-4F0E-B007-1F19C5A70890}">
      <dgm:prSet/>
      <dgm:spPr/>
      <dgm:t>
        <a:bodyPr/>
        <a:lstStyle/>
        <a:p>
          <a:r>
            <a:rPr lang="zh-CN" altLang="en-US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计算机</a:t>
          </a:r>
        </a:p>
      </dgm:t>
    </dgm:pt>
    <dgm:pt modelId="{1504A8FD-2707-43C9-8204-B24DCA9E29DC}" type="parTrans" cxnId="{1DE93D1C-459E-4FEF-A908-3DF3339729DE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15C6B4C8-622F-428F-AC00-034D424E9A3A}" type="sibTrans" cxnId="{1DE93D1C-459E-4FEF-A908-3DF3339729DE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9946F6E7-567E-4820-B1BD-4F464518181A}">
      <dgm:prSet phldrT="[文本]"/>
      <dgm:spPr/>
      <dgm:t>
        <a:bodyPr/>
        <a:lstStyle/>
        <a:p>
          <a:r>
            <a:rPr lang="zh-CN" altLang="en-US" b="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智能</a:t>
          </a:r>
          <a:endParaRPr lang="en-US" altLang="zh-CN" b="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308074FD-6468-4B2D-B648-DEFF490D1BA5}" type="parTrans" cxnId="{7B7DA32C-FD84-42B2-840D-20BEA985F02B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F6CA9951-2BF8-421D-92A1-516576487122}" type="sibTrans" cxnId="{7B7DA32C-FD84-42B2-840D-20BEA985F02B}">
      <dgm:prSet/>
      <dgm:spPr/>
      <dgm:t>
        <a:bodyPr/>
        <a:lstStyle/>
        <a:p>
          <a:endParaRPr lang="zh-CN" altLang="en-US" b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gm:t>
    </dgm:pt>
    <dgm:pt modelId="{06B8C9BB-FFDE-4285-A8BD-DB85371D9290}" type="pres">
      <dgm:prSet presAssocID="{58B4B762-BD98-48C8-9B2B-410750BD7443}" presName="cycle" presStyleCnt="0">
        <dgm:presLayoutVars>
          <dgm:dir/>
          <dgm:resizeHandles val="exact"/>
        </dgm:presLayoutVars>
      </dgm:prSet>
      <dgm:spPr/>
    </dgm:pt>
    <dgm:pt modelId="{EBCD50BE-2E71-4799-AE14-CA1035DB9D30}" type="pres">
      <dgm:prSet presAssocID="{F3FAD7E4-1A5B-4F0E-B007-1F19C5A70890}" presName="node" presStyleLbl="node1" presStyleIdx="0" presStyleCnt="6">
        <dgm:presLayoutVars>
          <dgm:bulletEnabled val="1"/>
        </dgm:presLayoutVars>
      </dgm:prSet>
      <dgm:spPr/>
    </dgm:pt>
    <dgm:pt modelId="{CD66EB5A-9CBB-4B6D-8278-D02DDE613F1D}" type="pres">
      <dgm:prSet presAssocID="{15C6B4C8-622F-428F-AC00-034D424E9A3A}" presName="sibTrans" presStyleLbl="sibTrans2D1" presStyleIdx="0" presStyleCnt="6" custScaleX="119444" custScaleY="94176"/>
      <dgm:spPr>
        <a:prstGeom prst="quadArrowCallout">
          <a:avLst/>
        </a:prstGeom>
      </dgm:spPr>
    </dgm:pt>
    <dgm:pt modelId="{714F3EB6-0A1A-49B5-B9B7-98108D8355FB}" type="pres">
      <dgm:prSet presAssocID="{15C6B4C8-622F-428F-AC00-034D424E9A3A}" presName="connectorText" presStyleLbl="sibTrans2D1" presStyleIdx="0" presStyleCnt="6"/>
      <dgm:spPr/>
    </dgm:pt>
    <dgm:pt modelId="{ECBEF882-CA07-4479-B822-58BE06E0EC1F}" type="pres">
      <dgm:prSet presAssocID="{3F9D4117-A998-493A-B851-F943C125F83E}" presName="node" presStyleLbl="node1" presStyleIdx="1" presStyleCnt="6">
        <dgm:presLayoutVars>
          <dgm:bulletEnabled val="1"/>
        </dgm:presLayoutVars>
      </dgm:prSet>
      <dgm:spPr/>
    </dgm:pt>
    <dgm:pt modelId="{538A90B5-D729-432C-8BA7-28A7BC94FDB4}" type="pres">
      <dgm:prSet presAssocID="{27818E4A-CE42-451D-83E8-18DA2606EFB7}" presName="sibTrans" presStyleLbl="sibTrans2D1" presStyleIdx="1" presStyleCnt="6" custScaleX="118818" custScaleY="93403"/>
      <dgm:spPr>
        <a:prstGeom prst="quadArrowCallout">
          <a:avLst/>
        </a:prstGeom>
      </dgm:spPr>
    </dgm:pt>
    <dgm:pt modelId="{70A650AB-6438-4E9C-B287-F10E2B64792D}" type="pres">
      <dgm:prSet presAssocID="{27818E4A-CE42-451D-83E8-18DA2606EFB7}" presName="connectorText" presStyleLbl="sibTrans2D1" presStyleIdx="1" presStyleCnt="6"/>
      <dgm:spPr/>
    </dgm:pt>
    <dgm:pt modelId="{E8ADFE03-59FE-4DE8-9DC8-365AF35FBF61}" type="pres">
      <dgm:prSet presAssocID="{E4841504-E139-4979-A029-B0FA5496F0F1}" presName="node" presStyleLbl="node1" presStyleIdx="2" presStyleCnt="6">
        <dgm:presLayoutVars>
          <dgm:bulletEnabled val="1"/>
        </dgm:presLayoutVars>
      </dgm:prSet>
      <dgm:spPr/>
    </dgm:pt>
    <dgm:pt modelId="{D3C8798F-F37D-4260-BA9B-F0586B3319C8}" type="pres">
      <dgm:prSet presAssocID="{D344C8DB-F11D-4728-AFB8-5410E63EFDF1}" presName="sibTrans" presStyleLbl="sibTrans2D1" presStyleIdx="2" presStyleCnt="6" custScaleX="118818" custScaleY="93403"/>
      <dgm:spPr>
        <a:prstGeom prst="quadArrowCallout">
          <a:avLst/>
        </a:prstGeom>
      </dgm:spPr>
    </dgm:pt>
    <dgm:pt modelId="{7F7C3203-F859-4C7A-8BFF-AC37753149E3}" type="pres">
      <dgm:prSet presAssocID="{D344C8DB-F11D-4728-AFB8-5410E63EFDF1}" presName="connectorText" presStyleLbl="sibTrans2D1" presStyleIdx="2" presStyleCnt="6"/>
      <dgm:spPr/>
    </dgm:pt>
    <dgm:pt modelId="{A234AE28-2A65-4E12-9DE0-F4D291F11241}" type="pres">
      <dgm:prSet presAssocID="{D16A7298-4667-4EDB-9660-86DF9152C005}" presName="node" presStyleLbl="node1" presStyleIdx="3" presStyleCnt="6">
        <dgm:presLayoutVars>
          <dgm:bulletEnabled val="1"/>
        </dgm:presLayoutVars>
      </dgm:prSet>
      <dgm:spPr/>
    </dgm:pt>
    <dgm:pt modelId="{D271CD57-82E3-4CC2-AB38-102DDEADD2E3}" type="pres">
      <dgm:prSet presAssocID="{2AAA9EE1-62D9-4AA7-BB9C-50E590C047C9}" presName="sibTrans" presStyleLbl="sibTrans2D1" presStyleIdx="3" presStyleCnt="6" custScaleX="118818" custScaleY="93403"/>
      <dgm:spPr>
        <a:prstGeom prst="quadArrowCallout">
          <a:avLst/>
        </a:prstGeom>
      </dgm:spPr>
    </dgm:pt>
    <dgm:pt modelId="{27E9F96D-2E36-46B8-862C-F5BEC5243FA9}" type="pres">
      <dgm:prSet presAssocID="{2AAA9EE1-62D9-4AA7-BB9C-50E590C047C9}" presName="connectorText" presStyleLbl="sibTrans2D1" presStyleIdx="3" presStyleCnt="6"/>
      <dgm:spPr/>
    </dgm:pt>
    <dgm:pt modelId="{B09F1CCC-A2D4-4EF8-A231-3E0BD14083AE}" type="pres">
      <dgm:prSet presAssocID="{9946F6E7-567E-4820-B1BD-4F464518181A}" presName="node" presStyleLbl="node1" presStyleIdx="4" presStyleCnt="6">
        <dgm:presLayoutVars>
          <dgm:bulletEnabled val="1"/>
        </dgm:presLayoutVars>
      </dgm:prSet>
      <dgm:spPr/>
    </dgm:pt>
    <dgm:pt modelId="{7AFB6DE0-D774-4C9B-B593-E1983CA91A83}" type="pres">
      <dgm:prSet presAssocID="{F6CA9951-2BF8-421D-92A1-516576487122}" presName="sibTrans" presStyleLbl="sibTrans2D1" presStyleIdx="4" presStyleCnt="6" custScaleX="119444" custScaleY="94176"/>
      <dgm:spPr>
        <a:prstGeom prst="quadArrowCallout">
          <a:avLst/>
        </a:prstGeom>
      </dgm:spPr>
    </dgm:pt>
    <dgm:pt modelId="{EC8748FE-A750-41F3-B448-180DA6135A33}" type="pres">
      <dgm:prSet presAssocID="{F6CA9951-2BF8-421D-92A1-516576487122}" presName="connectorText" presStyleLbl="sibTrans2D1" presStyleIdx="4" presStyleCnt="6"/>
      <dgm:spPr/>
    </dgm:pt>
    <dgm:pt modelId="{2343F16C-93E9-4EF7-86A5-8DA41D397C84}" type="pres">
      <dgm:prSet presAssocID="{BAE288ED-EC5D-420C-BD0A-72398AD5E90A}" presName="node" presStyleLbl="node1" presStyleIdx="5" presStyleCnt="6">
        <dgm:presLayoutVars>
          <dgm:bulletEnabled val="1"/>
        </dgm:presLayoutVars>
      </dgm:prSet>
      <dgm:spPr/>
    </dgm:pt>
    <dgm:pt modelId="{1F02161F-BDCE-4C37-AA20-8D16974D6C35}" type="pres">
      <dgm:prSet presAssocID="{7FE77DF1-1681-4170-BA6A-8D7664A85D69}" presName="sibTrans" presStyleLbl="sibTrans2D1" presStyleIdx="5" presStyleCnt="6" custScaleX="118818" custScaleY="93403"/>
      <dgm:spPr>
        <a:prstGeom prst="quadArrowCallout">
          <a:avLst/>
        </a:prstGeom>
      </dgm:spPr>
    </dgm:pt>
    <dgm:pt modelId="{60940EC5-3CB8-40F5-8794-A73DDC17814E}" type="pres">
      <dgm:prSet presAssocID="{7FE77DF1-1681-4170-BA6A-8D7664A85D69}" presName="connectorText" presStyleLbl="sibTrans2D1" presStyleIdx="5" presStyleCnt="6"/>
      <dgm:spPr/>
    </dgm:pt>
  </dgm:ptLst>
  <dgm:cxnLst>
    <dgm:cxn modelId="{FC79F502-9E61-4B72-AEF2-02876F64E5AD}" type="presOf" srcId="{2AAA9EE1-62D9-4AA7-BB9C-50E590C047C9}" destId="{27E9F96D-2E36-46B8-862C-F5BEC5243FA9}" srcOrd="1" destOrd="0" presId="urn:microsoft.com/office/officeart/2005/8/layout/cycle2"/>
    <dgm:cxn modelId="{7A0F7305-F49B-4C11-8984-C5136084B60D}" type="presOf" srcId="{27818E4A-CE42-451D-83E8-18DA2606EFB7}" destId="{538A90B5-D729-432C-8BA7-28A7BC94FDB4}" srcOrd="0" destOrd="0" presId="urn:microsoft.com/office/officeart/2005/8/layout/cycle2"/>
    <dgm:cxn modelId="{1EA71C06-5073-4621-9B8E-46218DF76CCC}" type="presOf" srcId="{D344C8DB-F11D-4728-AFB8-5410E63EFDF1}" destId="{D3C8798F-F37D-4260-BA9B-F0586B3319C8}" srcOrd="0" destOrd="0" presId="urn:microsoft.com/office/officeart/2005/8/layout/cycle2"/>
    <dgm:cxn modelId="{1DE93D1C-459E-4FEF-A908-3DF3339729DE}" srcId="{58B4B762-BD98-48C8-9B2B-410750BD7443}" destId="{F3FAD7E4-1A5B-4F0E-B007-1F19C5A70890}" srcOrd="0" destOrd="0" parTransId="{1504A8FD-2707-43C9-8204-B24DCA9E29DC}" sibTransId="{15C6B4C8-622F-428F-AC00-034D424E9A3A}"/>
    <dgm:cxn modelId="{6C367A1E-5F4E-4ED4-AF24-C4A5633EF889}" type="presOf" srcId="{F6CA9951-2BF8-421D-92A1-516576487122}" destId="{EC8748FE-A750-41F3-B448-180DA6135A33}" srcOrd="1" destOrd="0" presId="urn:microsoft.com/office/officeart/2005/8/layout/cycle2"/>
    <dgm:cxn modelId="{8381EA28-C54B-45FC-AA5B-DBCDC59B0778}" srcId="{58B4B762-BD98-48C8-9B2B-410750BD7443}" destId="{3F9D4117-A998-493A-B851-F943C125F83E}" srcOrd="1" destOrd="0" parTransId="{5988CEA8-9481-4BF3-82E4-54CE15BC3BE4}" sibTransId="{27818E4A-CE42-451D-83E8-18DA2606EFB7}"/>
    <dgm:cxn modelId="{7B7DA32C-FD84-42B2-840D-20BEA985F02B}" srcId="{58B4B762-BD98-48C8-9B2B-410750BD7443}" destId="{9946F6E7-567E-4820-B1BD-4F464518181A}" srcOrd="4" destOrd="0" parTransId="{308074FD-6468-4B2D-B648-DEFF490D1BA5}" sibTransId="{F6CA9951-2BF8-421D-92A1-516576487122}"/>
    <dgm:cxn modelId="{BA78E440-F01F-4257-8BE0-597906C1F0F9}" type="presOf" srcId="{E4841504-E139-4979-A029-B0FA5496F0F1}" destId="{E8ADFE03-59FE-4DE8-9DC8-365AF35FBF61}" srcOrd="0" destOrd="0" presId="urn:microsoft.com/office/officeart/2005/8/layout/cycle2"/>
    <dgm:cxn modelId="{68CE1E42-3D08-4FFF-8F94-ADC641E61477}" type="presOf" srcId="{D16A7298-4667-4EDB-9660-86DF9152C005}" destId="{A234AE28-2A65-4E12-9DE0-F4D291F11241}" srcOrd="0" destOrd="0" presId="urn:microsoft.com/office/officeart/2005/8/layout/cycle2"/>
    <dgm:cxn modelId="{133EE748-6CFB-48F1-A214-80FCC5DC053F}" type="presOf" srcId="{7FE77DF1-1681-4170-BA6A-8D7664A85D69}" destId="{60940EC5-3CB8-40F5-8794-A73DDC17814E}" srcOrd="1" destOrd="0" presId="urn:microsoft.com/office/officeart/2005/8/layout/cycle2"/>
    <dgm:cxn modelId="{78E69F4F-9C95-409B-B7D4-A224F9BE1E7C}" type="presOf" srcId="{F6CA9951-2BF8-421D-92A1-516576487122}" destId="{7AFB6DE0-D774-4C9B-B593-E1983CA91A83}" srcOrd="0" destOrd="0" presId="urn:microsoft.com/office/officeart/2005/8/layout/cycle2"/>
    <dgm:cxn modelId="{1374CF54-05A9-4467-8A32-628D81C836A3}" type="presOf" srcId="{27818E4A-CE42-451D-83E8-18DA2606EFB7}" destId="{70A650AB-6438-4E9C-B287-F10E2B64792D}" srcOrd="1" destOrd="0" presId="urn:microsoft.com/office/officeart/2005/8/layout/cycle2"/>
    <dgm:cxn modelId="{E07F6A76-7EB8-43D9-A71A-F5D8635FDB56}" srcId="{58B4B762-BD98-48C8-9B2B-410750BD7443}" destId="{BAE288ED-EC5D-420C-BD0A-72398AD5E90A}" srcOrd="5" destOrd="0" parTransId="{8FDF50D3-0086-409A-B0A8-49D2F6775505}" sibTransId="{7FE77DF1-1681-4170-BA6A-8D7664A85D69}"/>
    <dgm:cxn modelId="{25C23359-DCE0-4C1C-9D39-CED248DC3A81}" type="presOf" srcId="{3F9D4117-A998-493A-B851-F943C125F83E}" destId="{ECBEF882-CA07-4479-B822-58BE06E0EC1F}" srcOrd="0" destOrd="0" presId="urn:microsoft.com/office/officeart/2005/8/layout/cycle2"/>
    <dgm:cxn modelId="{71181E9A-27E7-44C4-8064-459A45247CFD}" type="presOf" srcId="{58B4B762-BD98-48C8-9B2B-410750BD7443}" destId="{06B8C9BB-FFDE-4285-A8BD-DB85371D9290}" srcOrd="0" destOrd="0" presId="urn:microsoft.com/office/officeart/2005/8/layout/cycle2"/>
    <dgm:cxn modelId="{78B5159D-108C-4E5C-8811-CB99CD2E08CB}" srcId="{58B4B762-BD98-48C8-9B2B-410750BD7443}" destId="{D16A7298-4667-4EDB-9660-86DF9152C005}" srcOrd="3" destOrd="0" parTransId="{C155B839-52EB-4385-B34C-8ED90DAA25F2}" sibTransId="{2AAA9EE1-62D9-4AA7-BB9C-50E590C047C9}"/>
    <dgm:cxn modelId="{568CADA5-92CC-4F2E-B982-190D749B4C94}" type="presOf" srcId="{15C6B4C8-622F-428F-AC00-034D424E9A3A}" destId="{CD66EB5A-9CBB-4B6D-8278-D02DDE613F1D}" srcOrd="0" destOrd="0" presId="urn:microsoft.com/office/officeart/2005/8/layout/cycle2"/>
    <dgm:cxn modelId="{17CA7FA6-F623-42E4-A435-A2A4BDD49355}" type="presOf" srcId="{2AAA9EE1-62D9-4AA7-BB9C-50E590C047C9}" destId="{D271CD57-82E3-4CC2-AB38-102DDEADD2E3}" srcOrd="0" destOrd="0" presId="urn:microsoft.com/office/officeart/2005/8/layout/cycle2"/>
    <dgm:cxn modelId="{56144FB3-D210-4E2E-B580-1CA09B208D1B}" type="presOf" srcId="{F3FAD7E4-1A5B-4F0E-B007-1F19C5A70890}" destId="{EBCD50BE-2E71-4799-AE14-CA1035DB9D30}" srcOrd="0" destOrd="0" presId="urn:microsoft.com/office/officeart/2005/8/layout/cycle2"/>
    <dgm:cxn modelId="{F19574B4-47F1-435B-B267-68140ABE9ACF}" type="presOf" srcId="{9946F6E7-567E-4820-B1BD-4F464518181A}" destId="{B09F1CCC-A2D4-4EF8-A231-3E0BD14083AE}" srcOrd="0" destOrd="0" presId="urn:microsoft.com/office/officeart/2005/8/layout/cycle2"/>
    <dgm:cxn modelId="{5423DEBC-1759-4F44-AEDE-15F3DF511DA7}" type="presOf" srcId="{BAE288ED-EC5D-420C-BD0A-72398AD5E90A}" destId="{2343F16C-93E9-4EF7-86A5-8DA41D397C84}" srcOrd="0" destOrd="0" presId="urn:microsoft.com/office/officeart/2005/8/layout/cycle2"/>
    <dgm:cxn modelId="{C62FB5C1-E519-4E39-BB24-7364859E057D}" type="presOf" srcId="{7FE77DF1-1681-4170-BA6A-8D7664A85D69}" destId="{1F02161F-BDCE-4C37-AA20-8D16974D6C35}" srcOrd="0" destOrd="0" presId="urn:microsoft.com/office/officeart/2005/8/layout/cycle2"/>
    <dgm:cxn modelId="{9CC0E5C3-0428-4546-BD05-6C038D1D609F}" type="presOf" srcId="{D344C8DB-F11D-4728-AFB8-5410E63EFDF1}" destId="{7F7C3203-F859-4C7A-8BFF-AC37753149E3}" srcOrd="1" destOrd="0" presId="urn:microsoft.com/office/officeart/2005/8/layout/cycle2"/>
    <dgm:cxn modelId="{F436FCDF-B1A3-4C13-A3E7-A2AACF604807}" type="presOf" srcId="{15C6B4C8-622F-428F-AC00-034D424E9A3A}" destId="{714F3EB6-0A1A-49B5-B9B7-98108D8355FB}" srcOrd="1" destOrd="0" presId="urn:microsoft.com/office/officeart/2005/8/layout/cycle2"/>
    <dgm:cxn modelId="{27106BEB-7D7F-4EB1-89AA-FC1F0079AF88}" srcId="{58B4B762-BD98-48C8-9B2B-410750BD7443}" destId="{E4841504-E139-4979-A029-B0FA5496F0F1}" srcOrd="2" destOrd="0" parTransId="{3DD4D8C3-61D8-40CB-8D5A-B89C8007F34C}" sibTransId="{D344C8DB-F11D-4728-AFB8-5410E63EFDF1}"/>
    <dgm:cxn modelId="{8FD7D332-1D2F-49B0-9002-7E11E1D8ACED}" type="presParOf" srcId="{06B8C9BB-FFDE-4285-A8BD-DB85371D9290}" destId="{EBCD50BE-2E71-4799-AE14-CA1035DB9D30}" srcOrd="0" destOrd="0" presId="urn:microsoft.com/office/officeart/2005/8/layout/cycle2"/>
    <dgm:cxn modelId="{5BF8955B-6580-4224-9354-54EC9B1D1729}" type="presParOf" srcId="{06B8C9BB-FFDE-4285-A8BD-DB85371D9290}" destId="{CD66EB5A-9CBB-4B6D-8278-D02DDE613F1D}" srcOrd="1" destOrd="0" presId="urn:microsoft.com/office/officeart/2005/8/layout/cycle2"/>
    <dgm:cxn modelId="{80E269BF-A77F-4E6E-9CFF-8F5B1536A768}" type="presParOf" srcId="{CD66EB5A-9CBB-4B6D-8278-D02DDE613F1D}" destId="{714F3EB6-0A1A-49B5-B9B7-98108D8355FB}" srcOrd="0" destOrd="0" presId="urn:microsoft.com/office/officeart/2005/8/layout/cycle2"/>
    <dgm:cxn modelId="{C8CC0FBB-96D8-4764-A5B4-9B13F4696EF9}" type="presParOf" srcId="{06B8C9BB-FFDE-4285-A8BD-DB85371D9290}" destId="{ECBEF882-CA07-4479-B822-58BE06E0EC1F}" srcOrd="2" destOrd="0" presId="urn:microsoft.com/office/officeart/2005/8/layout/cycle2"/>
    <dgm:cxn modelId="{962F7256-60DD-487D-9DE6-E141182F0CD3}" type="presParOf" srcId="{06B8C9BB-FFDE-4285-A8BD-DB85371D9290}" destId="{538A90B5-D729-432C-8BA7-28A7BC94FDB4}" srcOrd="3" destOrd="0" presId="urn:microsoft.com/office/officeart/2005/8/layout/cycle2"/>
    <dgm:cxn modelId="{C2E2AC89-4EE4-4063-88BF-AD911A8FA00C}" type="presParOf" srcId="{538A90B5-D729-432C-8BA7-28A7BC94FDB4}" destId="{70A650AB-6438-4E9C-B287-F10E2B64792D}" srcOrd="0" destOrd="0" presId="urn:microsoft.com/office/officeart/2005/8/layout/cycle2"/>
    <dgm:cxn modelId="{8169AA81-1085-4662-B160-16668E0C27CE}" type="presParOf" srcId="{06B8C9BB-FFDE-4285-A8BD-DB85371D9290}" destId="{E8ADFE03-59FE-4DE8-9DC8-365AF35FBF61}" srcOrd="4" destOrd="0" presId="urn:microsoft.com/office/officeart/2005/8/layout/cycle2"/>
    <dgm:cxn modelId="{1248A957-020F-464B-8456-719E7C8EB28D}" type="presParOf" srcId="{06B8C9BB-FFDE-4285-A8BD-DB85371D9290}" destId="{D3C8798F-F37D-4260-BA9B-F0586B3319C8}" srcOrd="5" destOrd="0" presId="urn:microsoft.com/office/officeart/2005/8/layout/cycle2"/>
    <dgm:cxn modelId="{A60D3EA0-4619-48D7-8EF0-DA301DD0663A}" type="presParOf" srcId="{D3C8798F-F37D-4260-BA9B-F0586B3319C8}" destId="{7F7C3203-F859-4C7A-8BFF-AC37753149E3}" srcOrd="0" destOrd="0" presId="urn:microsoft.com/office/officeart/2005/8/layout/cycle2"/>
    <dgm:cxn modelId="{A2328C17-8BD2-4E06-B4B0-EED1F77FF209}" type="presParOf" srcId="{06B8C9BB-FFDE-4285-A8BD-DB85371D9290}" destId="{A234AE28-2A65-4E12-9DE0-F4D291F11241}" srcOrd="6" destOrd="0" presId="urn:microsoft.com/office/officeart/2005/8/layout/cycle2"/>
    <dgm:cxn modelId="{9AED5C9F-FD12-4D9C-896A-317B7520F90C}" type="presParOf" srcId="{06B8C9BB-FFDE-4285-A8BD-DB85371D9290}" destId="{D271CD57-82E3-4CC2-AB38-102DDEADD2E3}" srcOrd="7" destOrd="0" presId="urn:microsoft.com/office/officeart/2005/8/layout/cycle2"/>
    <dgm:cxn modelId="{1C9F356C-67CB-4070-B54D-196036C416AF}" type="presParOf" srcId="{D271CD57-82E3-4CC2-AB38-102DDEADD2E3}" destId="{27E9F96D-2E36-46B8-862C-F5BEC5243FA9}" srcOrd="0" destOrd="0" presId="urn:microsoft.com/office/officeart/2005/8/layout/cycle2"/>
    <dgm:cxn modelId="{9207F3CD-9948-4D10-AB74-3E68DB0AB88A}" type="presParOf" srcId="{06B8C9BB-FFDE-4285-A8BD-DB85371D9290}" destId="{B09F1CCC-A2D4-4EF8-A231-3E0BD14083AE}" srcOrd="8" destOrd="0" presId="urn:microsoft.com/office/officeart/2005/8/layout/cycle2"/>
    <dgm:cxn modelId="{918A95E1-44BD-449F-8B4A-1F10F6F24B41}" type="presParOf" srcId="{06B8C9BB-FFDE-4285-A8BD-DB85371D9290}" destId="{7AFB6DE0-D774-4C9B-B593-E1983CA91A83}" srcOrd="9" destOrd="0" presId="urn:microsoft.com/office/officeart/2005/8/layout/cycle2"/>
    <dgm:cxn modelId="{76DEF029-CEEC-4B29-B1E8-575632EEE997}" type="presParOf" srcId="{7AFB6DE0-D774-4C9B-B593-E1983CA91A83}" destId="{EC8748FE-A750-41F3-B448-180DA6135A33}" srcOrd="0" destOrd="0" presId="urn:microsoft.com/office/officeart/2005/8/layout/cycle2"/>
    <dgm:cxn modelId="{CF3FD5B7-E734-47FB-A86B-01AEC09A058C}" type="presParOf" srcId="{06B8C9BB-FFDE-4285-A8BD-DB85371D9290}" destId="{2343F16C-93E9-4EF7-86A5-8DA41D397C84}" srcOrd="10" destOrd="0" presId="urn:microsoft.com/office/officeart/2005/8/layout/cycle2"/>
    <dgm:cxn modelId="{AD78CCFA-AA73-4A6A-B04C-879231B32851}" type="presParOf" srcId="{06B8C9BB-FFDE-4285-A8BD-DB85371D9290}" destId="{1F02161F-BDCE-4C37-AA20-8D16974D6C35}" srcOrd="11" destOrd="0" presId="urn:microsoft.com/office/officeart/2005/8/layout/cycle2"/>
    <dgm:cxn modelId="{A9256CEB-B7E2-417B-B80F-C2EE7E3B3567}" type="presParOf" srcId="{1F02161F-BDCE-4C37-AA20-8D16974D6C35}" destId="{60940EC5-3CB8-40F5-8794-A73DDC17814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AA4262-0E02-4B35-892B-4C17BD16460C}" type="doc">
      <dgm:prSet loTypeId="urn:microsoft.com/office/officeart/2011/layout/HexagonRadial#1" loCatId="cycle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13FA976-8850-482A-8E99-6DF96BAFDD98}">
      <dgm:prSet phldrT="[文本]" custT="1"/>
      <dgm:spPr/>
      <dgm:t>
        <a:bodyPr/>
        <a:lstStyle/>
        <a:p>
          <a:r>
            <a:rPr lang="zh-CN" altLang="en-US" sz="2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数据挖掘</a:t>
          </a:r>
        </a:p>
      </dgm:t>
    </dgm:pt>
    <dgm:pt modelId="{CC7CC4A6-B565-4FC2-A7E4-0827F4507453}" type="parTrans" cxnId="{78AEFB72-158C-4581-A368-BC527D835D79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B381BF43-BFB1-407A-A5FD-22B1109A7D55}" type="sibTrans" cxnId="{78AEFB72-158C-4581-A368-BC527D835D79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C8BBFD98-C8EA-4303-9582-94B44AAB2396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统计学</a:t>
          </a:r>
        </a:p>
      </dgm:t>
    </dgm:pt>
    <dgm:pt modelId="{0A84AD4D-1000-4B86-9E17-E21D0486EE34}" type="parTrans" cxnId="{5B4DF09F-9CDB-4BF0-ABFB-EED22A53553A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C916A7CA-FBCD-4CEB-A3B2-CAF3E503BC76}" type="sibTrans" cxnId="{5B4DF09F-9CDB-4BF0-ABFB-EED22A53553A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289E24E9-F922-4D8F-A283-1A5C36936506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可视化</a:t>
          </a:r>
        </a:p>
      </dgm:t>
    </dgm:pt>
    <dgm:pt modelId="{5B5B056B-CC5B-44E1-97E3-DE3235A1ACA1}" type="parTrans" cxnId="{87FD6EA1-1AA7-448A-9E94-17BAEC014B98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D4DDB5C2-F75E-4017-A57A-891EAF6D7A62}" type="sibTrans" cxnId="{87FD6EA1-1AA7-448A-9E94-17BAEC014B98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39F9349C-4201-4854-B547-B137A628F60A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机器学习</a:t>
          </a:r>
        </a:p>
      </dgm:t>
    </dgm:pt>
    <dgm:pt modelId="{87F71039-A589-4067-A488-940D77EA1138}" type="parTrans" cxnId="{BAC1929F-A48D-4A01-84BE-652DEEA34FB4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5BFB3D94-7213-41E4-B1FA-1101C8CD4E47}" type="sibTrans" cxnId="{BAC1929F-A48D-4A01-84BE-652DEEA34FB4}">
      <dgm:prSet/>
      <dgm:spPr/>
      <dgm:t>
        <a:bodyPr/>
        <a:lstStyle/>
        <a:p>
          <a:endParaRPr lang="zh-CN" altLang="en-US" sz="1400" b="0">
            <a:solidFill>
              <a:schemeClr val="bg2">
                <a:lumMod val="10000"/>
              </a:schemeClr>
            </a:solidFill>
            <a:latin typeface="华文细黑" pitchFamily="2" charset="-122"/>
            <a:ea typeface="华文细黑" pitchFamily="2" charset="-122"/>
          </a:endParaRPr>
        </a:p>
      </dgm:t>
    </dgm:pt>
    <dgm:pt modelId="{2502A7FE-A344-4C87-A27C-B85FC89EE3D6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高性能计算</a:t>
          </a:r>
          <a:endParaRPr lang="zh-CN" altLang="en-US" sz="1800" b="1" dirty="0">
            <a:solidFill>
              <a:schemeClr val="bg1"/>
            </a:solidFill>
            <a:latin typeface="华文细黑" pitchFamily="2" charset="-122"/>
            <a:ea typeface="华文细黑" pitchFamily="2" charset="-122"/>
          </a:endParaRPr>
        </a:p>
      </dgm:t>
    </dgm:pt>
    <dgm:pt modelId="{B3833D90-157B-4F84-B215-7C9DEE3B0E81}" type="parTrans" cxnId="{FBBF1FC7-D8D3-4D0A-98FA-59DC69E75983}">
      <dgm:prSet/>
      <dgm:spPr/>
      <dgm:t>
        <a:bodyPr/>
        <a:lstStyle/>
        <a:p>
          <a:endParaRPr lang="zh-CN" altLang="en-US"/>
        </a:p>
      </dgm:t>
    </dgm:pt>
    <dgm:pt modelId="{F237128F-B057-4F00-B61D-32732ADAE7D6}" type="sibTrans" cxnId="{FBBF1FC7-D8D3-4D0A-98FA-59DC69E75983}">
      <dgm:prSet/>
      <dgm:spPr/>
      <dgm:t>
        <a:bodyPr/>
        <a:lstStyle/>
        <a:p>
          <a:endParaRPr lang="zh-CN" altLang="en-US"/>
        </a:p>
      </dgm:t>
    </dgm:pt>
    <dgm:pt modelId="{C68E8019-0896-4FD1-9B9C-DCCCE88FDB3E}">
      <dgm:prSet phldrT="[文本]" custT="1"/>
      <dgm:spPr/>
      <dgm:t>
        <a:bodyPr/>
        <a:lstStyle/>
        <a:p>
          <a:r>
            <a:rPr lang="zh-CN" altLang="en-US" sz="1800" b="1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数据库</a:t>
          </a:r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技术</a:t>
          </a:r>
        </a:p>
      </dgm:t>
    </dgm:pt>
    <dgm:pt modelId="{FE1DB3E4-35C2-4F84-AA70-C723EA1D0783}" type="parTrans" cxnId="{5990D402-086F-4972-AB95-342906C7FB24}">
      <dgm:prSet/>
      <dgm:spPr/>
      <dgm:t>
        <a:bodyPr/>
        <a:lstStyle/>
        <a:p>
          <a:endParaRPr lang="zh-CN" altLang="en-US"/>
        </a:p>
      </dgm:t>
    </dgm:pt>
    <dgm:pt modelId="{835352D3-36B8-45F7-9AD1-C909308DB63B}" type="sibTrans" cxnId="{5990D402-086F-4972-AB95-342906C7FB24}">
      <dgm:prSet/>
      <dgm:spPr/>
      <dgm:t>
        <a:bodyPr/>
        <a:lstStyle/>
        <a:p>
          <a:endParaRPr lang="zh-CN" altLang="en-US"/>
        </a:p>
      </dgm:t>
    </dgm:pt>
    <dgm:pt modelId="{EE23EE8F-4AA4-4868-9B8A-E93CC70E7B8F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人工智能、模式识别</a:t>
          </a:r>
        </a:p>
      </dgm:t>
    </dgm:pt>
    <dgm:pt modelId="{5C1CE75E-EEEC-4B7B-92B2-5FBBF56B6028}" type="parTrans" cxnId="{FCD1CA87-F721-4F44-B6F2-25F516CC269A}">
      <dgm:prSet/>
      <dgm:spPr/>
      <dgm:t>
        <a:bodyPr/>
        <a:lstStyle/>
        <a:p>
          <a:endParaRPr lang="zh-CN" altLang="en-US"/>
        </a:p>
      </dgm:t>
    </dgm:pt>
    <dgm:pt modelId="{FB25CD65-0112-4EEF-9547-DFE5E5A90903}" type="sibTrans" cxnId="{FCD1CA87-F721-4F44-B6F2-25F516CC269A}">
      <dgm:prSet/>
      <dgm:spPr/>
      <dgm:t>
        <a:bodyPr/>
        <a:lstStyle/>
        <a:p>
          <a:endParaRPr lang="zh-CN" altLang="en-US"/>
        </a:p>
      </dgm:t>
    </dgm:pt>
    <dgm:pt modelId="{CD2D47FF-EA0E-4315-A247-2251E7F884F2}" type="pres">
      <dgm:prSet presAssocID="{C2AA4262-0E02-4B35-892B-4C17BD16460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43BFFED8-6B86-48A7-A36C-172F5F177144}" type="pres">
      <dgm:prSet presAssocID="{413FA976-8850-482A-8E99-6DF96BAFDD98}" presName="Parent" presStyleLbl="node0" presStyleIdx="0" presStyleCnt="1">
        <dgm:presLayoutVars>
          <dgm:chMax val="6"/>
          <dgm:chPref val="6"/>
        </dgm:presLayoutVars>
      </dgm:prSet>
      <dgm:spPr/>
    </dgm:pt>
    <dgm:pt modelId="{83025208-994E-49FB-8FEA-FC91A775D446}" type="pres">
      <dgm:prSet presAssocID="{C8BBFD98-C8EA-4303-9582-94B44AAB2396}" presName="Accent1" presStyleCnt="0"/>
      <dgm:spPr/>
    </dgm:pt>
    <dgm:pt modelId="{870840B2-0417-4DC5-BB44-01DEDE6AB91F}" type="pres">
      <dgm:prSet presAssocID="{C8BBFD98-C8EA-4303-9582-94B44AAB2396}" presName="Accent" presStyleLbl="bgShp" presStyleIdx="0" presStyleCnt="6"/>
      <dgm:spPr/>
    </dgm:pt>
    <dgm:pt modelId="{C28D498B-7224-4E4B-9E60-8587D58A3C46}" type="pres">
      <dgm:prSet presAssocID="{C8BBFD98-C8EA-4303-9582-94B44AAB2396}" presName="Child1" presStyleLbl="node1" presStyleIdx="0" presStyleCnt="6" custLinFactNeighborX="-736" custLinFactNeighborY="1701">
        <dgm:presLayoutVars>
          <dgm:chMax val="0"/>
          <dgm:chPref val="0"/>
          <dgm:bulletEnabled val="1"/>
        </dgm:presLayoutVars>
      </dgm:prSet>
      <dgm:spPr/>
    </dgm:pt>
    <dgm:pt modelId="{E9BFB125-DD95-4B69-8599-A5A6369412E1}" type="pres">
      <dgm:prSet presAssocID="{C68E8019-0896-4FD1-9B9C-DCCCE88FDB3E}" presName="Accent2" presStyleCnt="0"/>
      <dgm:spPr/>
    </dgm:pt>
    <dgm:pt modelId="{249381C2-1B7C-42B2-9FD6-DD56AABA4F06}" type="pres">
      <dgm:prSet presAssocID="{C68E8019-0896-4FD1-9B9C-DCCCE88FDB3E}" presName="Accent" presStyleLbl="bgShp" presStyleIdx="1" presStyleCnt="6"/>
      <dgm:spPr/>
    </dgm:pt>
    <dgm:pt modelId="{C6D10B81-5837-469D-AD26-5C1129417F77}" type="pres">
      <dgm:prSet presAssocID="{C68E8019-0896-4FD1-9B9C-DCCCE88FDB3E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0EECEC94-E740-4B57-9E45-EF389C1A0242}" type="pres">
      <dgm:prSet presAssocID="{289E24E9-F922-4D8F-A283-1A5C36936506}" presName="Accent3" presStyleCnt="0"/>
      <dgm:spPr/>
    </dgm:pt>
    <dgm:pt modelId="{B548DAAE-52E2-4FF7-BA3E-26696F17A90A}" type="pres">
      <dgm:prSet presAssocID="{289E24E9-F922-4D8F-A283-1A5C36936506}" presName="Accent" presStyleLbl="bgShp" presStyleIdx="2" presStyleCnt="6"/>
      <dgm:spPr/>
    </dgm:pt>
    <dgm:pt modelId="{EEDC84B9-8B8D-4847-BE8A-89DC0086FAF2}" type="pres">
      <dgm:prSet presAssocID="{289E24E9-F922-4D8F-A283-1A5C36936506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476B4211-D4F8-4572-BA21-B20C03CF50DB}" type="pres">
      <dgm:prSet presAssocID="{2502A7FE-A344-4C87-A27C-B85FC89EE3D6}" presName="Accent4" presStyleCnt="0"/>
      <dgm:spPr/>
    </dgm:pt>
    <dgm:pt modelId="{A0698842-02A1-495D-B6DB-12324FFA3465}" type="pres">
      <dgm:prSet presAssocID="{2502A7FE-A344-4C87-A27C-B85FC89EE3D6}" presName="Accent" presStyleLbl="bgShp" presStyleIdx="3" presStyleCnt="6"/>
      <dgm:spPr/>
    </dgm:pt>
    <dgm:pt modelId="{4F02A038-E1F5-48BF-B93E-196233AF1891}" type="pres">
      <dgm:prSet presAssocID="{2502A7FE-A344-4C87-A27C-B85FC89EE3D6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68FD286A-8CD0-4C75-BFE2-8EF14BAF7BB3}" type="pres">
      <dgm:prSet presAssocID="{39F9349C-4201-4854-B547-B137A628F60A}" presName="Accent5" presStyleCnt="0"/>
      <dgm:spPr/>
    </dgm:pt>
    <dgm:pt modelId="{4369E72E-5E7F-4222-B6C4-96EA2E5AD6B1}" type="pres">
      <dgm:prSet presAssocID="{39F9349C-4201-4854-B547-B137A628F60A}" presName="Accent" presStyleLbl="bgShp" presStyleIdx="4" presStyleCnt="6"/>
      <dgm:spPr/>
    </dgm:pt>
    <dgm:pt modelId="{8AA21E45-4A7B-4807-ABD1-61D7EFC0413B}" type="pres">
      <dgm:prSet presAssocID="{39F9349C-4201-4854-B547-B137A628F60A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BE4D8AED-FAA8-45CB-A306-7F0953AF7C53}" type="pres">
      <dgm:prSet presAssocID="{EE23EE8F-4AA4-4868-9B8A-E93CC70E7B8F}" presName="Accent6" presStyleCnt="0"/>
      <dgm:spPr/>
    </dgm:pt>
    <dgm:pt modelId="{8627BD1F-3839-43E9-A236-F15C5B8055AA}" type="pres">
      <dgm:prSet presAssocID="{EE23EE8F-4AA4-4868-9B8A-E93CC70E7B8F}" presName="Accent" presStyleLbl="bgShp" presStyleIdx="5" presStyleCnt="6"/>
      <dgm:spPr/>
    </dgm:pt>
    <dgm:pt modelId="{FFA4CBB4-4D10-4854-86C4-FF2D284841BE}" type="pres">
      <dgm:prSet presAssocID="{EE23EE8F-4AA4-4868-9B8A-E93CC70E7B8F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990D402-086F-4972-AB95-342906C7FB24}" srcId="{413FA976-8850-482A-8E99-6DF96BAFDD98}" destId="{C68E8019-0896-4FD1-9B9C-DCCCE88FDB3E}" srcOrd="1" destOrd="0" parTransId="{FE1DB3E4-35C2-4F84-AA70-C723EA1D0783}" sibTransId="{835352D3-36B8-45F7-9AD1-C909308DB63B}"/>
    <dgm:cxn modelId="{9BBD0D40-9350-46CC-AF60-F04E8F7D03CC}" type="presOf" srcId="{39F9349C-4201-4854-B547-B137A628F60A}" destId="{8AA21E45-4A7B-4807-ABD1-61D7EFC0413B}" srcOrd="0" destOrd="0" presId="urn:microsoft.com/office/officeart/2011/layout/HexagonRadial#1"/>
    <dgm:cxn modelId="{43C91A43-A109-4F2E-BD44-9F3D19637FFB}" type="presOf" srcId="{EE23EE8F-4AA4-4868-9B8A-E93CC70E7B8F}" destId="{FFA4CBB4-4D10-4854-86C4-FF2D284841BE}" srcOrd="0" destOrd="0" presId="urn:microsoft.com/office/officeart/2011/layout/HexagonRadial#1"/>
    <dgm:cxn modelId="{78AEFB72-158C-4581-A368-BC527D835D79}" srcId="{C2AA4262-0E02-4B35-892B-4C17BD16460C}" destId="{413FA976-8850-482A-8E99-6DF96BAFDD98}" srcOrd="0" destOrd="0" parTransId="{CC7CC4A6-B565-4FC2-A7E4-0827F4507453}" sibTransId="{B381BF43-BFB1-407A-A5FD-22B1109A7D55}"/>
    <dgm:cxn modelId="{043B9E7A-C6B1-467E-91AB-1C4DE19AED81}" type="presOf" srcId="{C2AA4262-0E02-4B35-892B-4C17BD16460C}" destId="{CD2D47FF-EA0E-4315-A247-2251E7F884F2}" srcOrd="0" destOrd="0" presId="urn:microsoft.com/office/officeart/2011/layout/HexagonRadial#1"/>
    <dgm:cxn modelId="{FCD1CA87-F721-4F44-B6F2-25F516CC269A}" srcId="{413FA976-8850-482A-8E99-6DF96BAFDD98}" destId="{EE23EE8F-4AA4-4868-9B8A-E93CC70E7B8F}" srcOrd="5" destOrd="0" parTransId="{5C1CE75E-EEEC-4B7B-92B2-5FBBF56B6028}" sibTransId="{FB25CD65-0112-4EEF-9547-DFE5E5A90903}"/>
    <dgm:cxn modelId="{9BA71A88-1B3F-4085-B6E9-A76CD96E3E36}" type="presOf" srcId="{C8BBFD98-C8EA-4303-9582-94B44AAB2396}" destId="{C28D498B-7224-4E4B-9E60-8587D58A3C46}" srcOrd="0" destOrd="0" presId="urn:microsoft.com/office/officeart/2011/layout/HexagonRadial#1"/>
    <dgm:cxn modelId="{38DE4897-42BE-4BA2-A19C-38D11E8A6039}" type="presOf" srcId="{413FA976-8850-482A-8E99-6DF96BAFDD98}" destId="{43BFFED8-6B86-48A7-A36C-172F5F177144}" srcOrd="0" destOrd="0" presId="urn:microsoft.com/office/officeart/2011/layout/HexagonRadial#1"/>
    <dgm:cxn modelId="{BAC1929F-A48D-4A01-84BE-652DEEA34FB4}" srcId="{413FA976-8850-482A-8E99-6DF96BAFDD98}" destId="{39F9349C-4201-4854-B547-B137A628F60A}" srcOrd="4" destOrd="0" parTransId="{87F71039-A589-4067-A488-940D77EA1138}" sibTransId="{5BFB3D94-7213-41E4-B1FA-1101C8CD4E47}"/>
    <dgm:cxn modelId="{5B4DF09F-9CDB-4BF0-ABFB-EED22A53553A}" srcId="{413FA976-8850-482A-8E99-6DF96BAFDD98}" destId="{C8BBFD98-C8EA-4303-9582-94B44AAB2396}" srcOrd="0" destOrd="0" parTransId="{0A84AD4D-1000-4B86-9E17-E21D0486EE34}" sibTransId="{C916A7CA-FBCD-4CEB-A3B2-CAF3E503BC76}"/>
    <dgm:cxn modelId="{87FD6EA1-1AA7-448A-9E94-17BAEC014B98}" srcId="{413FA976-8850-482A-8E99-6DF96BAFDD98}" destId="{289E24E9-F922-4D8F-A283-1A5C36936506}" srcOrd="2" destOrd="0" parTransId="{5B5B056B-CC5B-44E1-97E3-DE3235A1ACA1}" sibTransId="{D4DDB5C2-F75E-4017-A57A-891EAF6D7A62}"/>
    <dgm:cxn modelId="{352199A3-0524-43B7-950B-A6426BE4DE88}" type="presOf" srcId="{289E24E9-F922-4D8F-A283-1A5C36936506}" destId="{EEDC84B9-8B8D-4847-BE8A-89DC0086FAF2}" srcOrd="0" destOrd="0" presId="urn:microsoft.com/office/officeart/2011/layout/HexagonRadial#1"/>
    <dgm:cxn modelId="{FBBF1FC7-D8D3-4D0A-98FA-59DC69E75983}" srcId="{413FA976-8850-482A-8E99-6DF96BAFDD98}" destId="{2502A7FE-A344-4C87-A27C-B85FC89EE3D6}" srcOrd="3" destOrd="0" parTransId="{B3833D90-157B-4F84-B215-7C9DEE3B0E81}" sibTransId="{F237128F-B057-4F00-B61D-32732ADAE7D6}"/>
    <dgm:cxn modelId="{B26B0BD1-CCD4-44BA-AD8B-EE6DF39ADC79}" type="presOf" srcId="{C68E8019-0896-4FD1-9B9C-DCCCE88FDB3E}" destId="{C6D10B81-5837-469D-AD26-5C1129417F77}" srcOrd="0" destOrd="0" presId="urn:microsoft.com/office/officeart/2011/layout/HexagonRadial#1"/>
    <dgm:cxn modelId="{AD5839E3-69A2-4324-9086-BFFF8C8BD6DB}" type="presOf" srcId="{2502A7FE-A344-4C87-A27C-B85FC89EE3D6}" destId="{4F02A038-E1F5-48BF-B93E-196233AF1891}" srcOrd="0" destOrd="0" presId="urn:microsoft.com/office/officeart/2011/layout/HexagonRadial#1"/>
    <dgm:cxn modelId="{D02CD4BC-DBF1-4194-84F4-D7B0301EBB53}" type="presParOf" srcId="{CD2D47FF-EA0E-4315-A247-2251E7F884F2}" destId="{43BFFED8-6B86-48A7-A36C-172F5F177144}" srcOrd="0" destOrd="0" presId="urn:microsoft.com/office/officeart/2011/layout/HexagonRadial#1"/>
    <dgm:cxn modelId="{D72E69CB-DD77-4F6E-B282-8003F259DA8B}" type="presParOf" srcId="{CD2D47FF-EA0E-4315-A247-2251E7F884F2}" destId="{83025208-994E-49FB-8FEA-FC91A775D446}" srcOrd="1" destOrd="0" presId="urn:microsoft.com/office/officeart/2011/layout/HexagonRadial#1"/>
    <dgm:cxn modelId="{7A458EDC-8D49-429A-8520-96F82501CB94}" type="presParOf" srcId="{83025208-994E-49FB-8FEA-FC91A775D446}" destId="{870840B2-0417-4DC5-BB44-01DEDE6AB91F}" srcOrd="0" destOrd="0" presId="urn:microsoft.com/office/officeart/2011/layout/HexagonRadial#1"/>
    <dgm:cxn modelId="{99A38F3E-D37D-4067-9323-10B360F9A1BE}" type="presParOf" srcId="{CD2D47FF-EA0E-4315-A247-2251E7F884F2}" destId="{C28D498B-7224-4E4B-9E60-8587D58A3C46}" srcOrd="2" destOrd="0" presId="urn:microsoft.com/office/officeart/2011/layout/HexagonRadial#1"/>
    <dgm:cxn modelId="{95361C15-BFF4-455C-83C7-F7731DC074CD}" type="presParOf" srcId="{CD2D47FF-EA0E-4315-A247-2251E7F884F2}" destId="{E9BFB125-DD95-4B69-8599-A5A6369412E1}" srcOrd="3" destOrd="0" presId="urn:microsoft.com/office/officeart/2011/layout/HexagonRadial#1"/>
    <dgm:cxn modelId="{93569C9A-1C85-48DD-AC3D-1EFD4FD9A6CA}" type="presParOf" srcId="{E9BFB125-DD95-4B69-8599-A5A6369412E1}" destId="{249381C2-1B7C-42B2-9FD6-DD56AABA4F06}" srcOrd="0" destOrd="0" presId="urn:microsoft.com/office/officeart/2011/layout/HexagonRadial#1"/>
    <dgm:cxn modelId="{831F6EBF-083D-4AF4-955C-B9AB589ACE29}" type="presParOf" srcId="{CD2D47FF-EA0E-4315-A247-2251E7F884F2}" destId="{C6D10B81-5837-469D-AD26-5C1129417F77}" srcOrd="4" destOrd="0" presId="urn:microsoft.com/office/officeart/2011/layout/HexagonRadial#1"/>
    <dgm:cxn modelId="{5A639AAD-195A-4384-B226-594390D2748F}" type="presParOf" srcId="{CD2D47FF-EA0E-4315-A247-2251E7F884F2}" destId="{0EECEC94-E740-4B57-9E45-EF389C1A0242}" srcOrd="5" destOrd="0" presId="urn:microsoft.com/office/officeart/2011/layout/HexagonRadial#1"/>
    <dgm:cxn modelId="{0F0C6258-3787-4756-A754-63FF8EDC03A6}" type="presParOf" srcId="{0EECEC94-E740-4B57-9E45-EF389C1A0242}" destId="{B548DAAE-52E2-4FF7-BA3E-26696F17A90A}" srcOrd="0" destOrd="0" presId="urn:microsoft.com/office/officeart/2011/layout/HexagonRadial#1"/>
    <dgm:cxn modelId="{70236F31-E7EE-4100-A352-FA7EE75AC66A}" type="presParOf" srcId="{CD2D47FF-EA0E-4315-A247-2251E7F884F2}" destId="{EEDC84B9-8B8D-4847-BE8A-89DC0086FAF2}" srcOrd="6" destOrd="0" presId="urn:microsoft.com/office/officeart/2011/layout/HexagonRadial#1"/>
    <dgm:cxn modelId="{341E0EC6-907A-44E5-AD72-8B3CAAF8CCB6}" type="presParOf" srcId="{CD2D47FF-EA0E-4315-A247-2251E7F884F2}" destId="{476B4211-D4F8-4572-BA21-B20C03CF50DB}" srcOrd="7" destOrd="0" presId="urn:microsoft.com/office/officeart/2011/layout/HexagonRadial#1"/>
    <dgm:cxn modelId="{CA74B56A-2CA7-4361-86F2-587DB874004E}" type="presParOf" srcId="{476B4211-D4F8-4572-BA21-B20C03CF50DB}" destId="{A0698842-02A1-495D-B6DB-12324FFA3465}" srcOrd="0" destOrd="0" presId="urn:microsoft.com/office/officeart/2011/layout/HexagonRadial#1"/>
    <dgm:cxn modelId="{67C54434-B69F-4EDE-93F5-1BDA88179E92}" type="presParOf" srcId="{CD2D47FF-EA0E-4315-A247-2251E7F884F2}" destId="{4F02A038-E1F5-48BF-B93E-196233AF1891}" srcOrd="8" destOrd="0" presId="urn:microsoft.com/office/officeart/2011/layout/HexagonRadial#1"/>
    <dgm:cxn modelId="{9F349AFA-2F96-4330-B743-E1CB13A82CA9}" type="presParOf" srcId="{CD2D47FF-EA0E-4315-A247-2251E7F884F2}" destId="{68FD286A-8CD0-4C75-BFE2-8EF14BAF7BB3}" srcOrd="9" destOrd="0" presId="urn:microsoft.com/office/officeart/2011/layout/HexagonRadial#1"/>
    <dgm:cxn modelId="{2C0D4A85-922E-4FFF-B9DC-26418F985E88}" type="presParOf" srcId="{68FD286A-8CD0-4C75-BFE2-8EF14BAF7BB3}" destId="{4369E72E-5E7F-4222-B6C4-96EA2E5AD6B1}" srcOrd="0" destOrd="0" presId="urn:microsoft.com/office/officeart/2011/layout/HexagonRadial#1"/>
    <dgm:cxn modelId="{80ECC8CD-1D33-45FA-9355-93433F9A31AD}" type="presParOf" srcId="{CD2D47FF-EA0E-4315-A247-2251E7F884F2}" destId="{8AA21E45-4A7B-4807-ABD1-61D7EFC0413B}" srcOrd="10" destOrd="0" presId="urn:microsoft.com/office/officeart/2011/layout/HexagonRadial#1"/>
    <dgm:cxn modelId="{55A2A5D0-A541-4917-AAEB-5F64120D48AB}" type="presParOf" srcId="{CD2D47FF-EA0E-4315-A247-2251E7F884F2}" destId="{BE4D8AED-FAA8-45CB-A306-7F0953AF7C53}" srcOrd="11" destOrd="0" presId="urn:microsoft.com/office/officeart/2011/layout/HexagonRadial#1"/>
    <dgm:cxn modelId="{6F722933-BD48-41BE-87B2-99A9FD57B535}" type="presParOf" srcId="{BE4D8AED-FAA8-45CB-A306-7F0953AF7C53}" destId="{8627BD1F-3839-43E9-A236-F15C5B8055AA}" srcOrd="0" destOrd="0" presId="urn:microsoft.com/office/officeart/2011/layout/HexagonRadial#1"/>
    <dgm:cxn modelId="{C5C5E5A4-6942-4AB2-B7D6-FC012053527B}" type="presParOf" srcId="{CD2D47FF-EA0E-4315-A247-2251E7F884F2}" destId="{FFA4CBB4-4D10-4854-86C4-FF2D284841BE}" srcOrd="12" destOrd="0" presId="urn:microsoft.com/office/officeart/2011/layout/HexagonRadial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D50BE-2E71-4799-AE14-CA1035DB9D30}">
      <dsp:nvSpPr>
        <dsp:cNvPr id="0" name=""/>
        <dsp:cNvSpPr/>
      </dsp:nvSpPr>
      <dsp:spPr>
        <a:xfrm>
          <a:off x="2946702" y="577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计算机</a:t>
          </a:r>
        </a:p>
      </dsp:txBody>
      <dsp:txXfrm>
        <a:off x="3095984" y="149859"/>
        <a:ext cx="720799" cy="720799"/>
      </dsp:txXfrm>
    </dsp:sp>
    <dsp:sp modelId="{CD66EB5A-9CBB-4B6D-8278-D02DDE613F1D}">
      <dsp:nvSpPr>
        <dsp:cNvPr id="0" name=""/>
        <dsp:cNvSpPr/>
      </dsp:nvSpPr>
      <dsp:spPr>
        <a:xfrm rot="1800000">
          <a:off x="3950750" y="727213"/>
          <a:ext cx="323999" cy="323998"/>
        </a:xfrm>
        <a:prstGeom prst="quadArrowCallou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3957261" y="767713"/>
        <a:ext cx="226800" cy="194398"/>
      </dsp:txXfrm>
    </dsp:sp>
    <dsp:sp modelId="{ECBEF882-CA07-4479-B822-58BE06E0EC1F}">
      <dsp:nvSpPr>
        <dsp:cNvPr id="0" name=""/>
        <dsp:cNvSpPr/>
      </dsp:nvSpPr>
      <dsp:spPr>
        <a:xfrm>
          <a:off x="4272732" y="766161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互联网</a:t>
          </a:r>
        </a:p>
      </dsp:txBody>
      <dsp:txXfrm>
        <a:off x="4422014" y="915443"/>
        <a:ext cx="720799" cy="720799"/>
      </dsp:txXfrm>
    </dsp:sp>
    <dsp:sp modelId="{538A90B5-D729-432C-8BA7-28A7BC94FDB4}">
      <dsp:nvSpPr>
        <dsp:cNvPr id="0" name=""/>
        <dsp:cNvSpPr/>
      </dsp:nvSpPr>
      <dsp:spPr>
        <a:xfrm rot="5400000">
          <a:off x="4621263" y="1873080"/>
          <a:ext cx="322301" cy="321339"/>
        </a:xfrm>
        <a:prstGeom prst="quadArrowCallou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shade val="51000"/>
                <a:satMod val="130000"/>
              </a:schemeClr>
            </a:gs>
            <a:gs pos="80000">
              <a:schemeClr val="accent5">
                <a:hueOff val="-1986775"/>
                <a:satOff val="7962"/>
                <a:lumOff val="1726"/>
                <a:alphaOff val="0"/>
                <a:shade val="93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4669464" y="1889147"/>
        <a:ext cx="225899" cy="192803"/>
      </dsp:txXfrm>
    </dsp:sp>
    <dsp:sp modelId="{E8ADFE03-59FE-4DE8-9DC8-365AF35FBF61}">
      <dsp:nvSpPr>
        <dsp:cNvPr id="0" name=""/>
        <dsp:cNvSpPr/>
      </dsp:nvSpPr>
      <dsp:spPr>
        <a:xfrm>
          <a:off x="4272732" y="2297329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大数据</a:t>
          </a:r>
        </a:p>
      </dsp:txBody>
      <dsp:txXfrm>
        <a:off x="4422014" y="2446611"/>
        <a:ext cx="720799" cy="720799"/>
      </dsp:txXfrm>
    </dsp:sp>
    <dsp:sp modelId="{D3C8798F-F37D-4260-BA9B-F0586B3319C8}">
      <dsp:nvSpPr>
        <dsp:cNvPr id="0" name=""/>
        <dsp:cNvSpPr/>
      </dsp:nvSpPr>
      <dsp:spPr>
        <a:xfrm rot="9000000">
          <a:off x="3964896" y="3025294"/>
          <a:ext cx="322301" cy="321339"/>
        </a:xfrm>
        <a:prstGeom prst="quadArrowCallou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shade val="51000"/>
                <a:satMod val="130000"/>
              </a:schemeClr>
            </a:gs>
            <a:gs pos="80000">
              <a:schemeClr val="accent5">
                <a:hueOff val="-3973551"/>
                <a:satOff val="15924"/>
                <a:lumOff val="3451"/>
                <a:alphaOff val="0"/>
                <a:shade val="93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 rot="10800000">
        <a:off x="4054840" y="3065462"/>
        <a:ext cx="225899" cy="192803"/>
      </dsp:txXfrm>
    </dsp:sp>
    <dsp:sp modelId="{A234AE28-2A65-4E12-9DE0-F4D291F11241}">
      <dsp:nvSpPr>
        <dsp:cNvPr id="0" name=""/>
        <dsp:cNvSpPr/>
      </dsp:nvSpPr>
      <dsp:spPr>
        <a:xfrm>
          <a:off x="2946702" y="3062912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感知</a:t>
          </a:r>
          <a:endParaRPr lang="en-US" altLang="zh-CN" sz="2000" b="0" kern="120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3095984" y="3212194"/>
        <a:ext cx="720799" cy="720799"/>
      </dsp:txXfrm>
    </dsp:sp>
    <dsp:sp modelId="{D271CD57-82E3-4CC2-AB38-102DDEADD2E3}">
      <dsp:nvSpPr>
        <dsp:cNvPr id="0" name=""/>
        <dsp:cNvSpPr/>
      </dsp:nvSpPr>
      <dsp:spPr>
        <a:xfrm rot="12600000">
          <a:off x="2638866" y="3032971"/>
          <a:ext cx="322301" cy="321339"/>
        </a:xfrm>
        <a:prstGeom prst="quadArrowCallou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shade val="51000"/>
                <a:satMod val="130000"/>
              </a:schemeClr>
            </a:gs>
            <a:gs pos="80000">
              <a:schemeClr val="accent5">
                <a:hueOff val="-5960326"/>
                <a:satOff val="23887"/>
                <a:lumOff val="5177"/>
                <a:alphaOff val="0"/>
                <a:shade val="93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 rot="10800000">
        <a:off x="2728810" y="3121340"/>
        <a:ext cx="225899" cy="192803"/>
      </dsp:txXfrm>
    </dsp:sp>
    <dsp:sp modelId="{B09F1CCC-A2D4-4EF8-A231-3E0BD14083AE}">
      <dsp:nvSpPr>
        <dsp:cNvPr id="0" name=""/>
        <dsp:cNvSpPr/>
      </dsp:nvSpPr>
      <dsp:spPr>
        <a:xfrm>
          <a:off x="1620672" y="2297329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智能</a:t>
          </a:r>
          <a:endParaRPr lang="en-US" altLang="zh-CN" sz="2000" b="0" kern="120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1769954" y="2446611"/>
        <a:ext cx="720799" cy="720799"/>
      </dsp:txXfrm>
    </dsp:sp>
    <dsp:sp modelId="{7AFB6DE0-D774-4C9B-B593-E1983CA91A83}">
      <dsp:nvSpPr>
        <dsp:cNvPr id="0" name=""/>
        <dsp:cNvSpPr/>
      </dsp:nvSpPr>
      <dsp:spPr>
        <a:xfrm rot="16200000">
          <a:off x="1968354" y="1887104"/>
          <a:ext cx="323999" cy="323998"/>
        </a:xfrm>
        <a:prstGeom prst="quadArrowCallou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shade val="51000"/>
                <a:satMod val="130000"/>
              </a:schemeClr>
            </a:gs>
            <a:gs pos="80000">
              <a:schemeClr val="accent5">
                <a:hueOff val="-7947101"/>
                <a:satOff val="31849"/>
                <a:lumOff val="6902"/>
                <a:alphaOff val="0"/>
                <a:shade val="93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2016954" y="2000504"/>
        <a:ext cx="226800" cy="194398"/>
      </dsp:txXfrm>
    </dsp:sp>
    <dsp:sp modelId="{2343F16C-93E9-4EF7-86A5-8DA41D397C84}">
      <dsp:nvSpPr>
        <dsp:cNvPr id="0" name=""/>
        <dsp:cNvSpPr/>
      </dsp:nvSpPr>
      <dsp:spPr>
        <a:xfrm>
          <a:off x="1620672" y="766161"/>
          <a:ext cx="1019363" cy="1019363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0" kern="1200" dirty="0">
              <a:solidFill>
                <a:schemeClr val="tx1"/>
              </a:solidFill>
              <a:latin typeface="华文细黑" pitchFamily="2" charset="-122"/>
              <a:ea typeface="华文细黑" pitchFamily="2" charset="-122"/>
            </a:rPr>
            <a:t>……</a:t>
          </a:r>
          <a:endParaRPr lang="zh-CN" altLang="en-US" sz="2000" b="0" kern="1200" dirty="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1769954" y="915443"/>
        <a:ext cx="720799" cy="720799"/>
      </dsp:txXfrm>
    </dsp:sp>
    <dsp:sp modelId="{1F02161F-BDCE-4C37-AA20-8D16974D6C35}">
      <dsp:nvSpPr>
        <dsp:cNvPr id="0" name=""/>
        <dsp:cNvSpPr/>
      </dsp:nvSpPr>
      <dsp:spPr>
        <a:xfrm rot="19800000">
          <a:off x="2625569" y="736220"/>
          <a:ext cx="322301" cy="321339"/>
        </a:xfrm>
        <a:prstGeom prst="quadArrowCallou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b="0" kern="1200">
            <a:solidFill>
              <a:schemeClr val="tx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2632027" y="824589"/>
        <a:ext cx="225899" cy="19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FFED8-6B86-48A7-A36C-172F5F177144}">
      <dsp:nvSpPr>
        <dsp:cNvPr id="0" name=""/>
        <dsp:cNvSpPr/>
      </dsp:nvSpPr>
      <dsp:spPr>
        <a:xfrm>
          <a:off x="1398855" y="1311046"/>
          <a:ext cx="1666396" cy="1441500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数据挖掘</a:t>
          </a:r>
        </a:p>
      </dsp:txBody>
      <dsp:txXfrm>
        <a:off x="1675000" y="1549923"/>
        <a:ext cx="1114106" cy="963746"/>
      </dsp:txXfrm>
    </dsp:sp>
    <dsp:sp modelId="{249381C2-1B7C-42B2-9FD6-DD56AABA4F06}">
      <dsp:nvSpPr>
        <dsp:cNvPr id="0" name=""/>
        <dsp:cNvSpPr/>
      </dsp:nvSpPr>
      <dsp:spPr>
        <a:xfrm>
          <a:off x="2442340" y="621385"/>
          <a:ext cx="628726" cy="541731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28D498B-7224-4E4B-9E60-8587D58A3C46}">
      <dsp:nvSpPr>
        <dsp:cNvPr id="0" name=""/>
        <dsp:cNvSpPr/>
      </dsp:nvSpPr>
      <dsp:spPr>
        <a:xfrm>
          <a:off x="1542304" y="20095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统计学</a:t>
          </a:r>
        </a:p>
      </dsp:txBody>
      <dsp:txXfrm>
        <a:off x="1768613" y="215879"/>
        <a:ext cx="912982" cy="789836"/>
      </dsp:txXfrm>
    </dsp:sp>
    <dsp:sp modelId="{B548DAAE-52E2-4FF7-BA3E-26696F17A90A}">
      <dsp:nvSpPr>
        <dsp:cNvPr id="0" name=""/>
        <dsp:cNvSpPr/>
      </dsp:nvSpPr>
      <dsp:spPr>
        <a:xfrm>
          <a:off x="3176113" y="1634134"/>
          <a:ext cx="628726" cy="541731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6D10B81-5837-469D-AD26-5C1129417F77}">
      <dsp:nvSpPr>
        <dsp:cNvPr id="0" name=""/>
        <dsp:cNvSpPr/>
      </dsp:nvSpPr>
      <dsp:spPr>
        <a:xfrm>
          <a:off x="2804769" y="726643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shade val="51000"/>
                <a:satMod val="130000"/>
              </a:schemeClr>
            </a:gs>
            <a:gs pos="80000">
              <a:schemeClr val="accent2">
                <a:hueOff val="936304"/>
                <a:satOff val="-1168"/>
                <a:lumOff val="275"/>
                <a:alphaOff val="0"/>
                <a:shade val="93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数据库</a:t>
          </a: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技术</a:t>
          </a:r>
        </a:p>
      </dsp:txBody>
      <dsp:txXfrm>
        <a:off x="3031078" y="922427"/>
        <a:ext cx="912982" cy="789836"/>
      </dsp:txXfrm>
    </dsp:sp>
    <dsp:sp modelId="{A0698842-02A1-495D-B6DB-12324FFA3465}">
      <dsp:nvSpPr>
        <dsp:cNvPr id="0" name=""/>
        <dsp:cNvSpPr/>
      </dsp:nvSpPr>
      <dsp:spPr>
        <a:xfrm>
          <a:off x="2666387" y="2777337"/>
          <a:ext cx="628726" cy="541731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EDC84B9-8B8D-4847-BE8A-89DC0086FAF2}">
      <dsp:nvSpPr>
        <dsp:cNvPr id="0" name=""/>
        <dsp:cNvSpPr/>
      </dsp:nvSpPr>
      <dsp:spPr>
        <a:xfrm>
          <a:off x="2804769" y="2155139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shade val="51000"/>
                <a:satMod val="130000"/>
              </a:schemeClr>
            </a:gs>
            <a:gs pos="80000">
              <a:schemeClr val="accent2">
                <a:hueOff val="1872608"/>
                <a:satOff val="-2336"/>
                <a:lumOff val="549"/>
                <a:alphaOff val="0"/>
                <a:shade val="93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可视化</a:t>
          </a:r>
        </a:p>
      </dsp:txBody>
      <dsp:txXfrm>
        <a:off x="3031078" y="2350923"/>
        <a:ext cx="912982" cy="789836"/>
      </dsp:txXfrm>
    </dsp:sp>
    <dsp:sp modelId="{4369E72E-5E7F-4222-B6C4-96EA2E5AD6B1}">
      <dsp:nvSpPr>
        <dsp:cNvPr id="0" name=""/>
        <dsp:cNvSpPr/>
      </dsp:nvSpPr>
      <dsp:spPr>
        <a:xfrm>
          <a:off x="1401956" y="2896006"/>
          <a:ext cx="628726" cy="541731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4F02A038-E1F5-48BF-B93E-196233AF1891}">
      <dsp:nvSpPr>
        <dsp:cNvPr id="0" name=""/>
        <dsp:cNvSpPr/>
      </dsp:nvSpPr>
      <dsp:spPr>
        <a:xfrm>
          <a:off x="1552354" y="2882595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shade val="51000"/>
                <a:satMod val="130000"/>
              </a:schemeClr>
            </a:gs>
            <a:gs pos="80000">
              <a:schemeClr val="accent2">
                <a:hueOff val="2808911"/>
                <a:satOff val="-3503"/>
                <a:lumOff val="824"/>
                <a:alphaOff val="0"/>
                <a:shade val="93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高性能计算</a:t>
          </a:r>
          <a:endParaRPr lang="zh-CN" altLang="en-US" sz="1800" b="1" kern="1200" dirty="0">
            <a:solidFill>
              <a:schemeClr val="bg1"/>
            </a:solidFill>
            <a:latin typeface="华文细黑" pitchFamily="2" charset="-122"/>
            <a:ea typeface="华文细黑" pitchFamily="2" charset="-122"/>
          </a:endParaRPr>
        </a:p>
      </dsp:txBody>
      <dsp:txXfrm>
        <a:off x="1778663" y="3078379"/>
        <a:ext cx="912982" cy="789836"/>
      </dsp:txXfrm>
    </dsp:sp>
    <dsp:sp modelId="{8627BD1F-3839-43E9-A236-F15C5B8055AA}">
      <dsp:nvSpPr>
        <dsp:cNvPr id="0" name=""/>
        <dsp:cNvSpPr/>
      </dsp:nvSpPr>
      <dsp:spPr>
        <a:xfrm>
          <a:off x="656167" y="1883664"/>
          <a:ext cx="628726" cy="541731"/>
        </a:xfrm>
        <a:prstGeom prst="hexagon">
          <a:avLst>
            <a:gd name="adj" fmla="val 28900"/>
            <a:gd name="vf" fmla="val 115470"/>
          </a:avLst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AA21E45-4A7B-4807-ABD1-61D7EFC0413B}">
      <dsp:nvSpPr>
        <dsp:cNvPr id="0" name=""/>
        <dsp:cNvSpPr/>
      </dsp:nvSpPr>
      <dsp:spPr>
        <a:xfrm>
          <a:off x="294126" y="2155952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shade val="51000"/>
                <a:satMod val="130000"/>
              </a:schemeClr>
            </a:gs>
            <a:gs pos="80000">
              <a:schemeClr val="accent2">
                <a:hueOff val="3745215"/>
                <a:satOff val="-4671"/>
                <a:lumOff val="1098"/>
                <a:alphaOff val="0"/>
                <a:shade val="93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机器学习</a:t>
          </a:r>
        </a:p>
      </dsp:txBody>
      <dsp:txXfrm>
        <a:off x="520435" y="2351736"/>
        <a:ext cx="912982" cy="789836"/>
      </dsp:txXfrm>
    </dsp:sp>
    <dsp:sp modelId="{FFA4CBB4-4D10-4854-86C4-FF2D284841BE}">
      <dsp:nvSpPr>
        <dsp:cNvPr id="0" name=""/>
        <dsp:cNvSpPr/>
      </dsp:nvSpPr>
      <dsp:spPr>
        <a:xfrm>
          <a:off x="294126" y="725017"/>
          <a:ext cx="1365600" cy="1181404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bg2">
                  <a:lumMod val="10000"/>
                </a:schemeClr>
              </a:solidFill>
              <a:latin typeface="华文细黑" pitchFamily="2" charset="-122"/>
              <a:ea typeface="华文细黑" pitchFamily="2" charset="-122"/>
            </a:rPr>
            <a:t>人工智能、模式识别</a:t>
          </a:r>
        </a:p>
      </dsp:txBody>
      <dsp:txXfrm>
        <a:off x="520435" y="920801"/>
        <a:ext cx="912982" cy="789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HexagonRadial#1">
  <dgm:title val="六边形射线"/>
  <dgm:desc val="用于显示与中心观点或主题相关的顺序流程。限制为六个级别 2 形状。非常适合于少量文本。不使用的文本不出现，但是在切换版式后仍然可用。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672398-B163-40BF-B9DB-BE79F5748C46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129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61C67-365B-455B-8333-B2F3856160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7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809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9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9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9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9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9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48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0723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2386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3510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B894C3-D206-423F-8459-27D825EA3203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7388"/>
            <a:ext cx="6091237" cy="3427412"/>
          </a:xfrm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4800"/>
          </a:xfrm>
        </p:spPr>
        <p:txBody>
          <a:bodyPr lIns="89894" tIns="44946" rIns="89894" bIns="44946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301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35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lipingwang@sei.ecn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anj.cs.illinois.edu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3.wmf"/><Relationship Id="rId5" Type="http://schemas.openxmlformats.org/officeDocument/2006/relationships/oleObject" Target="../embeddings/Microsoft_Word_97_-_2003_Document.doc"/><Relationship Id="rId4" Type="http://schemas.openxmlformats.org/officeDocument/2006/relationships/image" Target="../media/image42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0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png"/><Relationship Id="rId9" Type="http://schemas.openxmlformats.org/officeDocument/2006/relationships/image" Target="../media/image5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www.ccf.org.cn/Academic_Evaluation/DM_CS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dd2025.kdd.org/keynote-speakers/" TargetMode="Externa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8" y="2485077"/>
            <a:ext cx="8713694" cy="219701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课程介绍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 教授</a:t>
            </a:r>
            <a:br>
              <a:rPr lang="en-US" altLang="zh-CN" sz="3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3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5" y="4813202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3155182" y="1230910"/>
            <a:ext cx="35370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8A498-0D22-4BEA-B358-53926D2D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我的联系方式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46004-0242-4413-A500-A24ABE951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Email :  </a:t>
            </a:r>
            <a:r>
              <a:rPr lang="en-US" altLang="zh-CN" dirty="0">
                <a:hlinkClick r:id="rId2"/>
              </a:rPr>
              <a:t>lipingwang@sei.ecnu.edu.cn</a:t>
            </a:r>
            <a:endParaRPr lang="en-US" altLang="zh-CN" dirty="0"/>
          </a:p>
          <a:p>
            <a:r>
              <a:rPr lang="en-US" altLang="zh-CN" dirty="0"/>
              <a:t>Phone :  021-6223110</a:t>
            </a:r>
          </a:p>
          <a:p>
            <a:r>
              <a:rPr lang="zh-CN" altLang="en-US" dirty="0"/>
              <a:t>办公地点</a:t>
            </a:r>
            <a:r>
              <a:rPr lang="en-US" altLang="zh-CN" dirty="0"/>
              <a:t>: </a:t>
            </a:r>
            <a:r>
              <a:rPr lang="zh-CN" altLang="en-US" dirty="0"/>
              <a:t>理科楼</a:t>
            </a:r>
            <a:r>
              <a:rPr lang="en-US" altLang="zh-CN" dirty="0"/>
              <a:t>A1810</a:t>
            </a:r>
          </a:p>
          <a:p>
            <a:r>
              <a:rPr lang="zh-CN" altLang="en-US" dirty="0"/>
              <a:t>研究兴趣：</a:t>
            </a:r>
          </a:p>
          <a:p>
            <a:pPr lvl="1"/>
            <a:r>
              <a:rPr lang="zh-CN" altLang="en-US" sz="2400" dirty="0"/>
              <a:t>智能系统、数据挖掘、数据管理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4A0A8-F9C4-4849-897E-EA481010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11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8806D-61EB-4AB4-831B-75BA6879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关于这门课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E0AA62-4EE9-449B-8178-8FEFAD597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学习数据挖掘</a:t>
            </a:r>
            <a:r>
              <a:rPr lang="en-US" altLang="zh-CN" dirty="0"/>
              <a:t>的</a:t>
            </a:r>
            <a:r>
              <a:rPr lang="zh-CN" altLang="en-US" dirty="0"/>
              <a:t>核心算法和模型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err="1"/>
              <a:t>培养对</a:t>
            </a:r>
            <a:r>
              <a:rPr lang="zh-CN" altLang="en-US" dirty="0"/>
              <a:t>数据挖掘理论与应用</a:t>
            </a:r>
            <a:r>
              <a:rPr lang="en-US" altLang="zh-CN" dirty="0" err="1"/>
              <a:t>的兴趣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err="1"/>
              <a:t>了解</a:t>
            </a:r>
            <a:r>
              <a:rPr lang="zh-CN" altLang="en-US" dirty="0"/>
              <a:t>数据挖掘</a:t>
            </a:r>
            <a:r>
              <a:rPr lang="en-US" altLang="zh-CN" dirty="0" err="1"/>
              <a:t>的最新研究和发展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能动手做一些</a:t>
            </a:r>
            <a:r>
              <a:rPr lang="zh-CN" altLang="en-US" dirty="0"/>
              <a:t>数据挖掘相关</a:t>
            </a:r>
            <a:r>
              <a:rPr lang="en-US" altLang="zh-CN" dirty="0" err="1"/>
              <a:t>的实际开发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61D39D-C703-41A9-A5A5-01A3E53A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185E02-36B6-48D3-AA21-0225A7B97B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920"/>
          <a:stretch/>
        </p:blipFill>
        <p:spPr>
          <a:xfrm>
            <a:off x="5707464" y="1050098"/>
            <a:ext cx="3156532" cy="20849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942542-FC1C-4606-AEFD-91AE984D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488" y="3607169"/>
            <a:ext cx="2629901" cy="199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9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68A19-8EB6-44AB-81EC-B6A28858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38E94-823A-4570-BA4F-D659EFA6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46DD432-CE73-4863-9CAF-C1EE7C990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3" y="906011"/>
            <a:ext cx="8883941" cy="5637402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数据预处理与可视化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相关分析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分类：决策树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关联规则挖掘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聚类</a:t>
            </a:r>
            <a:endParaRPr lang="en-US" altLang="zh-CN" dirty="0"/>
          </a:p>
          <a:p>
            <a:r>
              <a:rPr lang="en-US" altLang="zh-CN" dirty="0"/>
              <a:t>6. </a:t>
            </a:r>
            <a:r>
              <a:rPr lang="zh-CN" altLang="en-US" dirty="0"/>
              <a:t>集成学习</a:t>
            </a:r>
            <a:endParaRPr lang="en-US" altLang="zh-CN" dirty="0"/>
          </a:p>
          <a:p>
            <a:r>
              <a:rPr lang="en-US" altLang="zh-CN" dirty="0"/>
              <a:t>7. </a:t>
            </a:r>
            <a:r>
              <a:rPr lang="zh-CN" altLang="en-US" dirty="0"/>
              <a:t>数据挖掘应用：异常监测、推荐系统等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1B6879-BE9A-4D76-8317-7B00658CF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65" b="16837"/>
          <a:stretch/>
        </p:blipFill>
        <p:spPr>
          <a:xfrm>
            <a:off x="3173561" y="1685802"/>
            <a:ext cx="5736880" cy="258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0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BDA58-C98D-4097-AD36-EECC365A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2FCE1-EB90-4A5A-A637-4CD6E3744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平时和期末 </a:t>
            </a:r>
            <a:r>
              <a:rPr lang="en-US" altLang="zh-CN" dirty="0"/>
              <a:t>50%+50%</a:t>
            </a:r>
          </a:p>
          <a:p>
            <a:r>
              <a:rPr lang="zh-CN" altLang="en-US" dirty="0"/>
              <a:t>平时包括作业、出勤、课堂表现等情况</a:t>
            </a:r>
            <a:endParaRPr lang="en-US" altLang="zh-CN" dirty="0"/>
          </a:p>
          <a:p>
            <a:pPr lvl="1"/>
            <a:r>
              <a:rPr lang="zh-CN" altLang="en-US" dirty="0"/>
              <a:t>课堂情况（</a:t>
            </a:r>
            <a:r>
              <a:rPr lang="en-US" altLang="zh-CN" dirty="0"/>
              <a:t>10%</a:t>
            </a:r>
            <a:r>
              <a:rPr lang="zh-CN" altLang="en-US" dirty="0"/>
              <a:t>）：出勤、参与度等 </a:t>
            </a:r>
            <a:endParaRPr lang="en-US" altLang="zh-CN" dirty="0"/>
          </a:p>
          <a:p>
            <a:pPr lvl="1"/>
            <a:r>
              <a:rPr lang="zh-CN" altLang="en-US" dirty="0"/>
              <a:t>随堂练习（</a:t>
            </a:r>
            <a:r>
              <a:rPr lang="en-US" altLang="zh-CN" dirty="0"/>
              <a:t>20%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课后作业（</a:t>
            </a:r>
            <a:r>
              <a:rPr lang="en-US" altLang="zh-CN" dirty="0"/>
              <a:t>20%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期末</a:t>
            </a:r>
            <a:r>
              <a:rPr lang="en-US" altLang="zh-CN" dirty="0"/>
              <a:t>Project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小组项目（每组</a:t>
            </a:r>
            <a:r>
              <a:rPr lang="en-US" altLang="zh-CN" dirty="0"/>
              <a:t>1-3</a:t>
            </a:r>
            <a:r>
              <a:rPr lang="zh-CN" altLang="en-US" dirty="0"/>
              <a:t>人）</a:t>
            </a:r>
            <a:r>
              <a:rPr lang="en-US" altLang="zh-CN" dirty="0"/>
              <a:t>+</a:t>
            </a:r>
            <a:r>
              <a:rPr lang="zh-CN" altLang="en-US" dirty="0"/>
              <a:t>个人报告</a:t>
            </a:r>
            <a:endParaRPr lang="en-US" altLang="zh-CN" dirty="0"/>
          </a:p>
          <a:p>
            <a:pPr lvl="1"/>
            <a:r>
              <a:rPr lang="en-US" altLang="zh-CN" dirty="0"/>
              <a:t>Kaggle</a:t>
            </a:r>
            <a:r>
              <a:rPr lang="zh-CN" altLang="en-US" dirty="0"/>
              <a:t>、阿里天池、</a:t>
            </a:r>
            <a:r>
              <a:rPr lang="en-US" altLang="zh-CN" dirty="0" err="1"/>
              <a:t>datafountain</a:t>
            </a:r>
            <a:endParaRPr lang="en-US" altLang="zh-CN" dirty="0"/>
          </a:p>
          <a:p>
            <a:r>
              <a:rPr lang="zh-CN" altLang="en-US"/>
              <a:t>奖励</a:t>
            </a:r>
            <a:endParaRPr lang="en-US" altLang="zh-CN" dirty="0"/>
          </a:p>
          <a:p>
            <a:pPr marL="360362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9A96E9-A48F-427A-AFC3-6D7CD86E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24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5"/>
          <p:cNvSpPr>
            <a:spLocks noGrp="1"/>
          </p:cNvSpPr>
          <p:nvPr>
            <p:ph type="title"/>
          </p:nvPr>
        </p:nvSpPr>
        <p:spPr>
          <a:xfrm>
            <a:off x="461919" y="141346"/>
            <a:ext cx="8365349" cy="657727"/>
          </a:xfrm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教材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AE6627-F092-4695-95E2-B9F31F13AC5E}"/>
              </a:ext>
            </a:extLst>
          </p:cNvPr>
          <p:cNvSpPr/>
          <p:nvPr/>
        </p:nvSpPr>
        <p:spPr>
          <a:xfrm>
            <a:off x="226243" y="1107352"/>
            <a:ext cx="8729222" cy="520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 indent="-360363">
              <a:lnSpc>
                <a:spcPct val="130000"/>
              </a:lnSpc>
              <a:spcBef>
                <a:spcPts val="1000"/>
              </a:spcBef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2060"/>
                </a:solidFill>
              </a:rPr>
              <a:t>吕欣等，</a:t>
            </a:r>
            <a:r>
              <a:rPr lang="en-US" altLang="zh-CN" sz="2400" dirty="0">
                <a:solidFill>
                  <a:srgbClr val="002060"/>
                </a:solidFill>
              </a:rPr>
              <a:t>《</a:t>
            </a:r>
            <a:r>
              <a:rPr lang="zh-CN" altLang="en-US" sz="2400" dirty="0">
                <a:solidFill>
                  <a:srgbClr val="002060"/>
                </a:solidFill>
              </a:rPr>
              <a:t>数据挖掘</a:t>
            </a:r>
            <a:r>
              <a:rPr lang="en-US" altLang="zh-CN" sz="2400" dirty="0">
                <a:solidFill>
                  <a:srgbClr val="002060"/>
                </a:solidFill>
              </a:rPr>
              <a:t>》</a:t>
            </a:r>
            <a:r>
              <a:rPr lang="zh-CN" altLang="en-US" sz="2400" dirty="0">
                <a:solidFill>
                  <a:srgbClr val="002060"/>
                </a:solidFill>
              </a:rPr>
              <a:t>，科学出版社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C28CFA1-D5C9-42DD-84ED-7B9E7837F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109" y="1881653"/>
            <a:ext cx="4491613" cy="449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78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16603-BD7C-452E-87D5-BD63157B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45AE0-4049-44A8-A77C-322531E13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3" y="906012"/>
            <a:ext cx="8883941" cy="942886"/>
          </a:xfrm>
        </p:spPr>
        <p:txBody>
          <a:bodyPr/>
          <a:lstStyle/>
          <a:p>
            <a:pPr marL="360045" indent="-347345" algn="l" rtl="0" eaLnBrk="0">
              <a:lnSpc>
                <a:spcPct val="86000"/>
              </a:lnSpc>
              <a:tabLst/>
            </a:pPr>
            <a:r>
              <a:rPr lang="en-US" altLang="zh-CN" kern="0" spc="-4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J.</a:t>
            </a:r>
            <a:r>
              <a:rPr lang="en-US" altLang="zh-CN" kern="0" spc="19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kern="0" spc="-4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Han,</a:t>
            </a:r>
            <a:r>
              <a:rPr lang="en-US" altLang="zh-CN" kern="0" spc="19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kern="0" spc="-4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M.</a:t>
            </a:r>
            <a:r>
              <a:rPr lang="en-US" altLang="zh-CN" kern="0" spc="19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kern="0" spc="-40" dirty="0" err="1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Kamb</a:t>
            </a:r>
            <a:r>
              <a:rPr lang="en-US" altLang="zh-CN" kern="0" spc="-50" dirty="0" err="1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er</a:t>
            </a:r>
            <a:r>
              <a:rPr lang="en-US" altLang="zh-CN" kern="0" spc="-5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, and Jian</a:t>
            </a:r>
            <a:r>
              <a:rPr lang="en-US" altLang="zh-CN" kern="0" spc="20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kern="0" spc="-5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Pei.</a:t>
            </a:r>
            <a:r>
              <a:rPr lang="en-US" altLang="zh-CN" kern="0" spc="15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b="1" kern="0" spc="-5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Data</a:t>
            </a:r>
            <a:r>
              <a:rPr lang="en-US" altLang="zh-CN" b="1" kern="0" spc="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 </a:t>
            </a:r>
            <a:r>
              <a:rPr lang="en-US" altLang="zh-CN" b="1" kern="0" spc="-1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Mining: Concepts and Techniques. </a:t>
            </a:r>
            <a:r>
              <a:rPr lang="en-US" altLang="zh-CN" b="1" kern="0" spc="-1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  <a:hlinkClick r:id="rId3"/>
              </a:rPr>
              <a:t>https://hanj.cs.illinois.edu/</a:t>
            </a:r>
            <a:r>
              <a:rPr lang="en-US" altLang="zh-CN" b="1" kern="0" spc="-1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endParaRPr lang="en-US" altLang="zh-CN" b="1" dirty="0">
              <a:latin typeface="+mj-lt"/>
              <a:ea typeface="Calibri"/>
              <a:cs typeface="Calibri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2A7FDE-8FF9-4976-A38C-972B0F33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picture 76">
            <a:extLst>
              <a:ext uri="{FF2B5EF4-FFF2-40B4-BE49-F238E27FC236}">
                <a16:creationId xmlns:a16="http://schemas.microsoft.com/office/drawing/2014/main" id="{7BA2B827-00F0-4260-A7CA-DA1F5C0FC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18340" y="3970604"/>
            <a:ext cx="2054369" cy="2275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33C0533-B4ED-483C-918A-F42FC06DC8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4" t="22124" r="25824" b="19560"/>
          <a:stretch/>
        </p:blipFill>
        <p:spPr>
          <a:xfrm>
            <a:off x="3627455" y="3846673"/>
            <a:ext cx="2054368" cy="25235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3D7014-59CD-4035-89BA-151EC4BC4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093" y="1720958"/>
            <a:ext cx="7221171" cy="195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3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1B1C9-D3DE-4501-9970-0597513E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0FDF12-59B5-40C5-B744-C63BB1EEE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algn="l" rtl="0" eaLnBrk="0">
              <a:lnSpc>
                <a:spcPct val="150000"/>
              </a:lnSpc>
              <a:spcBef>
                <a:spcPts val="732"/>
              </a:spcBef>
              <a:tabLst/>
            </a:pPr>
            <a:r>
              <a:rPr lang="en-US" altLang="zh-CN" sz="2400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Jure</a:t>
            </a:r>
            <a:r>
              <a:rPr lang="en-US" altLang="zh-CN" sz="2400" kern="0" spc="21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sz="2400" kern="0" spc="-20" dirty="0" err="1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Leskovec</a:t>
            </a:r>
            <a:r>
              <a:rPr lang="en-US" altLang="zh-CN" sz="2400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, Anand</a:t>
            </a:r>
            <a:r>
              <a:rPr lang="en-US" altLang="zh-CN" sz="2400" kern="0" spc="19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sz="2400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Rajar</a:t>
            </a:r>
            <a:r>
              <a:rPr lang="en-US" altLang="zh-CN" sz="2400" kern="0" spc="-3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aman, Jeff </a:t>
            </a:r>
            <a:r>
              <a:rPr lang="en-US" altLang="zh-CN" sz="2400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Ullman.</a:t>
            </a:r>
            <a:r>
              <a:rPr lang="en-US" altLang="zh-CN" sz="2400" kern="0" spc="15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sz="2400" b="1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Mining of</a:t>
            </a:r>
            <a:r>
              <a:rPr lang="en-US" altLang="zh-CN" sz="2400" b="1" kern="0" spc="14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sz="2400" b="1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Massive</a:t>
            </a:r>
            <a:r>
              <a:rPr lang="en-US" altLang="zh-CN" sz="2400" b="1" kern="0" spc="16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 </a:t>
            </a:r>
            <a:r>
              <a:rPr lang="en-US" altLang="zh-CN" sz="2400" b="1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Datasets</a:t>
            </a:r>
            <a:r>
              <a:rPr lang="en-US" altLang="zh-CN" sz="2400" kern="0" spc="-20" dirty="0">
                <a:solidFill>
                  <a:srgbClr val="000000">
                    <a:alpha val="100000"/>
                  </a:srgbClr>
                </a:solidFill>
                <a:latin typeface="+mj-lt"/>
                <a:ea typeface="Calibri"/>
                <a:cs typeface="Calibri"/>
              </a:rPr>
              <a:t>. </a:t>
            </a:r>
            <a:r>
              <a:rPr lang="en-US" altLang="zh-CN" dirty="0"/>
              <a:t>https://cs.stanford.edu/~jure/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37A871-A8D6-46EB-9652-146918F9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ABB6C5-7D12-4582-AD1A-C5978232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16" y="3857749"/>
            <a:ext cx="1810489" cy="25526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7B3C4C2-5692-4F1F-ABDC-EE74A00148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147" y="3879897"/>
            <a:ext cx="2530479" cy="25304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7E50AE-489E-49AE-8046-43287AC46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15" y="2018237"/>
            <a:ext cx="6551525" cy="170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88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93C43-B9FA-4FBD-A838-657B4FB7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CABDC-22F6-476E-9259-BD135E9BC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《</a:t>
            </a:r>
            <a:r>
              <a:rPr lang="en-US" altLang="zh-CN" dirty="0"/>
              <a:t>Deep learning</a:t>
            </a:r>
            <a:r>
              <a:rPr lang="zh-CN" altLang="zh-CN" dirty="0"/>
              <a:t>》，</a:t>
            </a:r>
            <a:r>
              <a:rPr lang="en-US" altLang="zh-CN" dirty="0"/>
              <a:t>Ian Goodfellow, </a:t>
            </a:r>
            <a:r>
              <a:rPr lang="en-US" altLang="zh-CN" dirty="0" err="1"/>
              <a:t>Yoshua</a:t>
            </a:r>
            <a:r>
              <a:rPr lang="en-US" altLang="zh-CN" dirty="0"/>
              <a:t> </a:t>
            </a:r>
            <a:r>
              <a:rPr lang="en-US" altLang="zh-CN" dirty="0" err="1"/>
              <a:t>Bengio</a:t>
            </a:r>
            <a:r>
              <a:rPr lang="en-US" altLang="zh-CN" dirty="0"/>
              <a:t> and Aaron Courville</a:t>
            </a:r>
            <a:r>
              <a:rPr lang="zh-CN" altLang="zh-CN" dirty="0"/>
              <a:t>编著，人民邮电出版社，</a:t>
            </a:r>
            <a:r>
              <a:rPr lang="en-US" altLang="zh-CN" dirty="0"/>
              <a:t>2016</a:t>
            </a:r>
            <a:r>
              <a:rPr lang="zh-CN" altLang="zh-CN" dirty="0"/>
              <a:t>年。</a:t>
            </a:r>
            <a:endParaRPr lang="en-US" altLang="zh-CN" dirty="0"/>
          </a:p>
          <a:p>
            <a:r>
              <a:rPr lang="zh-CN" altLang="en-US" dirty="0"/>
              <a:t>神经网络与深度学习，邱锡鹏，机械工业出版社。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74E37-5B18-4A20-8ED9-41FA5B5C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036E27-F9F2-4796-9F3C-6D95819C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60" y="2773253"/>
            <a:ext cx="3588700" cy="3588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0229F8-875E-4806-8825-CF5D6055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609" y="2773253"/>
            <a:ext cx="3588699" cy="35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6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B6DE5-B1C3-412E-83D7-99841E15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推荐在线课程资源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AC3F8D-643A-4945-8A87-C414B05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李宏毅 在线课程</a:t>
            </a:r>
            <a:r>
              <a:rPr lang="en-US" altLang="zh-CN" dirty="0"/>
              <a:t>《</a:t>
            </a:r>
            <a:r>
              <a:rPr lang="zh-CN" altLang="en-US" dirty="0"/>
              <a:t>机器学习</a:t>
            </a:r>
            <a:r>
              <a:rPr lang="en-US" altLang="zh-CN" dirty="0"/>
              <a:t>》 </a:t>
            </a:r>
          </a:p>
          <a:p>
            <a:r>
              <a:rPr lang="en-US" altLang="zh-CN" dirty="0"/>
              <a:t>2. Andrew Ng</a:t>
            </a:r>
            <a:r>
              <a:rPr lang="zh-CN" altLang="en-US" dirty="0"/>
              <a:t> 在线课程</a:t>
            </a:r>
            <a:r>
              <a:rPr lang="en-US" altLang="zh-CN" dirty="0"/>
              <a:t>《Machine Learning》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斯坦福</a:t>
            </a:r>
            <a:r>
              <a:rPr lang="en-US" altLang="zh-CN" dirty="0"/>
              <a:t>CS246 Mining of Massive Datasets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472B6-186E-4373-8DBB-148C17ED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91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AE53D-8FD7-4FFA-B2CA-F7259C3C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Why</a:t>
            </a:r>
            <a:r>
              <a:rPr lang="zh-CN" altLang="en-US" b="1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27938-BBC8-427A-AD34-B3D6B19C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为什么需要数据挖掘？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27BC7-43C6-4D9A-B6A0-9800A4BB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17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人类已进入一个崭新的信息时代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6" name="同心圆 5"/>
          <p:cNvSpPr>
            <a:spLocks noChangeAspect="1"/>
          </p:cNvSpPr>
          <p:nvPr/>
        </p:nvSpPr>
        <p:spPr>
          <a:xfrm>
            <a:off x="1739213" y="2798998"/>
            <a:ext cx="1767600" cy="1590815"/>
          </a:xfrm>
          <a:prstGeom prst="donut">
            <a:avLst>
              <a:gd name="adj" fmla="val 1101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1">
            <a:schemeClr val="accent2">
              <a:hueOff val="19008842"/>
              <a:satOff val="-36686"/>
              <a:lumOff val="-4710"/>
              <a:alphaOff val="0"/>
            </a:schemeClr>
          </a:lnRef>
          <a:fillRef idx="3">
            <a:schemeClr val="accent2">
              <a:hueOff val="19008842"/>
              <a:satOff val="-36686"/>
              <a:lumOff val="-4710"/>
              <a:alphaOff val="0"/>
            </a:schemeClr>
          </a:fillRef>
          <a:effectRef idx="2">
            <a:schemeClr val="accent2">
              <a:hueOff val="19008842"/>
              <a:satOff val="-36686"/>
              <a:lumOff val="-471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1933701" y="2974033"/>
            <a:ext cx="1378624" cy="1240742"/>
            <a:chOff x="5867621" y="8462369"/>
            <a:chExt cx="1082181" cy="1082164"/>
          </a:xfrm>
          <a:scene3d>
            <a:camera prst="orthographicFront"/>
            <a:lightRig rig="flat" dir="t"/>
          </a:scene3d>
        </p:grpSpPr>
        <p:sp>
          <p:nvSpPr>
            <p:cNvPr id="9" name="椭圆 8"/>
            <p:cNvSpPr/>
            <p:nvPr/>
          </p:nvSpPr>
          <p:spPr>
            <a:xfrm>
              <a:off x="5867621" y="8462369"/>
              <a:ext cx="1082181" cy="1082164"/>
            </a:xfrm>
            <a:prstGeom prst="ellipse">
              <a:avLst/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19724680"/>
                <a:satOff val="-58726"/>
                <a:lumOff val="-3877"/>
                <a:alphaOff val="0"/>
              </a:schemeClr>
            </a:lnRef>
            <a:fillRef idx="1">
              <a:schemeClr val="accent2">
                <a:tint val="40000"/>
                <a:alpha val="90000"/>
                <a:hueOff val="19724680"/>
                <a:satOff val="-58726"/>
                <a:lumOff val="-3877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19724680"/>
                <a:satOff val="-58726"/>
                <a:lumOff val="-3877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 dirty="0">
                <a:latin typeface="华文细黑" pitchFamily="2" charset="-122"/>
                <a:ea typeface="华文细黑" pitchFamily="2" charset="-122"/>
              </a:endParaRPr>
            </a:p>
          </p:txBody>
        </p:sp>
        <p:sp>
          <p:nvSpPr>
            <p:cNvPr id="10" name="椭圆 6"/>
            <p:cNvSpPr/>
            <p:nvPr/>
          </p:nvSpPr>
          <p:spPr>
            <a:xfrm>
              <a:off x="6026103" y="8620848"/>
              <a:ext cx="765217" cy="765206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细黑" pitchFamily="2" charset="-122"/>
                  <a:ea typeface="华文细黑" pitchFamily="2" charset="-122"/>
                </a:rPr>
                <a:t>信息</a:t>
              </a:r>
              <a:endPara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endParaRPr>
            </a:p>
            <a:p>
              <a:pPr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细黑" pitchFamily="2" charset="-122"/>
                  <a:ea typeface="华文细黑" pitchFamily="2" charset="-122"/>
                </a:rPr>
                <a:t>社会</a:t>
              </a:r>
            </a:p>
          </p:txBody>
        </p:sp>
      </p:grpSp>
      <p:graphicFrame>
        <p:nvGraphicFramePr>
          <p:cNvPr id="11" name="图示 10"/>
          <p:cNvGraphicFramePr/>
          <p:nvPr>
            <p:extLst>
              <p:ext uri="{D42A27DB-BD31-4B8C-83A1-F6EECF244321}">
                <p14:modId xmlns:p14="http://schemas.microsoft.com/office/powerpoint/2010/main" val="874425443"/>
              </p:ext>
            </p:extLst>
          </p:nvPr>
        </p:nvGraphicFramePr>
        <p:xfrm>
          <a:off x="-885675" y="1567660"/>
          <a:ext cx="6912768" cy="4082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CF26CA9F-3825-4E73-B82F-555C94F709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8487" y="1984549"/>
            <a:ext cx="4194545" cy="324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4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97817-3E4A-4B9E-9024-AE1CEA0A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AD11C-1FF2-4C8E-B3AD-9DCEE95B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C97190-0E8E-4A71-AE35-8B50E169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picture 194">
            <a:extLst>
              <a:ext uri="{FF2B5EF4-FFF2-40B4-BE49-F238E27FC236}">
                <a16:creationId xmlns:a16="http://schemas.microsoft.com/office/drawing/2014/main" id="{41C8FB0E-B2FF-4DA5-871B-0B0DFC508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314" y="-24675"/>
            <a:ext cx="8079371" cy="5976664"/>
          </a:xfrm>
          <a:prstGeom prst="rect">
            <a:avLst/>
          </a:prstGeom>
        </p:spPr>
      </p:pic>
      <p:sp>
        <p:nvSpPr>
          <p:cNvPr id="6" name="textbox 196">
            <a:extLst>
              <a:ext uri="{FF2B5EF4-FFF2-40B4-BE49-F238E27FC236}">
                <a16:creationId xmlns:a16="http://schemas.microsoft.com/office/drawing/2014/main" id="{1297886E-6685-481B-8B4C-B95984FECCCB}"/>
              </a:ext>
            </a:extLst>
          </p:cNvPr>
          <p:cNvSpPr/>
          <p:nvPr/>
        </p:nvSpPr>
        <p:spPr>
          <a:xfrm>
            <a:off x="855122" y="5981065"/>
            <a:ext cx="6816725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4000" b="1" kern="0" spc="-5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Business</a:t>
            </a:r>
            <a:r>
              <a:rPr sz="4000" b="1" kern="0" spc="27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5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promotes</a:t>
            </a:r>
            <a:r>
              <a:rPr sz="4000" b="1" kern="0" spc="28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6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DM a</a:t>
            </a:r>
            <a:r>
              <a:rPr sz="4000" b="1" kern="0" spc="29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000" b="1" kern="0" spc="-60" dirty="0">
                <a:solidFill>
                  <a:srgbClr val="FF0066">
                    <a:alpha val="100000"/>
                  </a:srgbClr>
                </a:solidFill>
                <a:latin typeface="Arial"/>
                <a:ea typeface="Arial"/>
                <a:cs typeface="Arial"/>
              </a:rPr>
              <a:t>lot</a:t>
            </a:r>
            <a:endParaRPr sz="40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246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9FA6D-016A-41A8-BB27-33DA01122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丰富的数据类型</a:t>
            </a:r>
            <a:r>
              <a:rPr lang="en-US" altLang="zh-CN" dirty="0"/>
              <a:t>-</a:t>
            </a:r>
            <a:r>
              <a:rPr lang="zh-CN" altLang="en-US" dirty="0"/>
              <a:t>表格数据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D3EE6B-8505-40CD-875B-2124027A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picture 308">
            <a:extLst>
              <a:ext uri="{FF2B5EF4-FFF2-40B4-BE49-F238E27FC236}">
                <a16:creationId xmlns:a16="http://schemas.microsoft.com/office/drawing/2014/main" id="{E7AEF7AB-D8E1-4C62-AC83-BCA898DA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59552" y="2109216"/>
            <a:ext cx="3212591" cy="2139695"/>
          </a:xfrm>
          <a:prstGeom prst="rect">
            <a:avLst/>
          </a:prstGeom>
        </p:spPr>
      </p:pic>
      <p:pic>
        <p:nvPicPr>
          <p:cNvPr id="6" name="picture 316">
            <a:extLst>
              <a:ext uri="{FF2B5EF4-FFF2-40B4-BE49-F238E27FC236}">
                <a16:creationId xmlns:a16="http://schemas.microsoft.com/office/drawing/2014/main" id="{C0730D91-0D0C-445E-876A-F78AF8A8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3608" y="2348880"/>
            <a:ext cx="3213286" cy="1343643"/>
          </a:xfrm>
          <a:prstGeom prst="rect">
            <a:avLst/>
          </a:prstGeom>
        </p:spPr>
      </p:pic>
      <p:graphicFrame>
        <p:nvGraphicFramePr>
          <p:cNvPr id="7" name="table 318">
            <a:extLst>
              <a:ext uri="{FF2B5EF4-FFF2-40B4-BE49-F238E27FC236}">
                <a16:creationId xmlns:a16="http://schemas.microsoft.com/office/drawing/2014/main" id="{151C83AE-33F4-4E47-AF2D-273EFF3F63CB}"/>
              </a:ext>
            </a:extLst>
          </p:cNvPr>
          <p:cNvGraphicFramePr>
            <a:graphicFrameLocks noGrp="1"/>
          </p:cNvGraphicFramePr>
          <p:nvPr/>
        </p:nvGraphicFramePr>
        <p:xfrm>
          <a:off x="4025533" y="4369074"/>
          <a:ext cx="3063235" cy="1345563"/>
        </p:xfrm>
        <a:graphic>
          <a:graphicData uri="http://schemas.openxmlformats.org/drawingml/2006/table">
            <a:tbl>
              <a:tblPr/>
              <a:tblGrid>
                <a:gridCol w="70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860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</a:t>
                      </a:r>
                      <a:r>
                        <a:rPr sz="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86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 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0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860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</a:t>
                      </a:r>
                      <a:r>
                        <a:rPr sz="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139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8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320">
            <a:extLst>
              <a:ext uri="{FF2B5EF4-FFF2-40B4-BE49-F238E27FC236}">
                <a16:creationId xmlns:a16="http://schemas.microsoft.com/office/drawing/2014/main" id="{08775066-5A79-4A1D-BE2E-DCDE2D4DFB69}"/>
              </a:ext>
            </a:extLst>
          </p:cNvPr>
          <p:cNvSpPr/>
          <p:nvPr/>
        </p:nvSpPr>
        <p:spPr>
          <a:xfrm>
            <a:off x="243896" y="1154683"/>
            <a:ext cx="4764404" cy="659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Relational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reco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rds</a:t>
            </a:r>
            <a:endParaRPr sz="24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5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24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Relational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tables,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highly structured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table 322">
            <a:extLst>
              <a:ext uri="{FF2B5EF4-FFF2-40B4-BE49-F238E27FC236}">
                <a16:creationId xmlns:a16="http://schemas.microsoft.com/office/drawing/2014/main" id="{169F2C89-1BBC-41FA-84B4-22373CC40E05}"/>
              </a:ext>
            </a:extLst>
          </p:cNvPr>
          <p:cNvGraphicFramePr>
            <a:graphicFrameLocks noGrp="1"/>
          </p:cNvGraphicFramePr>
          <p:nvPr/>
        </p:nvGraphicFramePr>
        <p:xfrm>
          <a:off x="1192204" y="4675376"/>
          <a:ext cx="2090418" cy="1055369"/>
        </p:xfrm>
        <a:graphic>
          <a:graphicData uri="http://schemas.openxmlformats.org/drawingml/2006/table">
            <a:tbl>
              <a:tblPr/>
              <a:tblGrid>
                <a:gridCol w="38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7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i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TID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5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700" b="1" i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Items</a:t>
                      </a:r>
                      <a:endParaRPr sz="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Bread, Coke, Milk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7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Beer</a:t>
                      </a: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Bread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19" algn="l" rtl="0" eaLnBrk="0">
                        <a:lnSpc>
                          <a:spcPct val="7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Beer, Coke, Diaper, Milk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Beer, Bread, Diaper, Milk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Coke, Diaper, Milk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324">
            <a:extLst>
              <a:ext uri="{FF2B5EF4-FFF2-40B4-BE49-F238E27FC236}">
                <a16:creationId xmlns:a16="http://schemas.microsoft.com/office/drawing/2014/main" id="{51BB02CA-A066-4751-B411-02F1FAADAE55}"/>
              </a:ext>
            </a:extLst>
          </p:cNvPr>
          <p:cNvSpPr/>
          <p:nvPr/>
        </p:nvSpPr>
        <p:spPr>
          <a:xfrm>
            <a:off x="243896" y="1892299"/>
            <a:ext cx="5834379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matrix, e.g.,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numerical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matrix, crosstabs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328">
            <a:extLst>
              <a:ext uri="{FF2B5EF4-FFF2-40B4-BE49-F238E27FC236}">
                <a16:creationId xmlns:a16="http://schemas.microsoft.com/office/drawing/2014/main" id="{A0790274-0C35-40BD-8C8F-DDE7037C19F6}"/>
              </a:ext>
            </a:extLst>
          </p:cNvPr>
          <p:cNvSpPr/>
          <p:nvPr/>
        </p:nvSpPr>
        <p:spPr>
          <a:xfrm>
            <a:off x="243896" y="4090516"/>
            <a:ext cx="2305685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5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Transaction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data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330">
            <a:extLst>
              <a:ext uri="{FF2B5EF4-FFF2-40B4-BE49-F238E27FC236}">
                <a16:creationId xmlns:a16="http://schemas.microsoft.com/office/drawing/2014/main" id="{0A98F5BC-6366-4E58-AE0B-259E38F79ABC}"/>
              </a:ext>
            </a:extLst>
          </p:cNvPr>
          <p:cNvSpPr/>
          <p:nvPr/>
        </p:nvSpPr>
        <p:spPr>
          <a:xfrm rot="5400000">
            <a:off x="6603733" y="4653881"/>
            <a:ext cx="268604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6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imeout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3" name="textbox 332">
            <a:extLst>
              <a:ext uri="{FF2B5EF4-FFF2-40B4-BE49-F238E27FC236}">
                <a16:creationId xmlns:a16="http://schemas.microsoft.com/office/drawing/2014/main" id="{DF033EA4-2280-4FE8-8C34-E91FEE8AA83F}"/>
              </a:ext>
            </a:extLst>
          </p:cNvPr>
          <p:cNvSpPr/>
          <p:nvPr/>
        </p:nvSpPr>
        <p:spPr>
          <a:xfrm rot="5400000">
            <a:off x="4980173" y="4654659"/>
            <a:ext cx="221615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coach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334">
            <a:extLst>
              <a:ext uri="{FF2B5EF4-FFF2-40B4-BE49-F238E27FC236}">
                <a16:creationId xmlns:a16="http://schemas.microsoft.com/office/drawing/2014/main" id="{C6B39A65-F9AA-4F52-A0A6-71D578AD4E7F}"/>
              </a:ext>
            </a:extLst>
          </p:cNvPr>
          <p:cNvSpPr/>
          <p:nvPr/>
        </p:nvSpPr>
        <p:spPr>
          <a:xfrm rot="5400000">
            <a:off x="5912278" y="4645877"/>
            <a:ext cx="20955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game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5" name="textbox 336">
            <a:extLst>
              <a:ext uri="{FF2B5EF4-FFF2-40B4-BE49-F238E27FC236}">
                <a16:creationId xmlns:a16="http://schemas.microsoft.com/office/drawing/2014/main" id="{31F7BFD4-C73C-430B-97A2-EA535804C955}"/>
              </a:ext>
            </a:extLst>
          </p:cNvPr>
          <p:cNvSpPr/>
          <p:nvPr/>
        </p:nvSpPr>
        <p:spPr>
          <a:xfrm rot="5400000">
            <a:off x="6834281" y="4663948"/>
            <a:ext cx="263525" cy="88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3"/>
              </a:lnSpc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season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6" name="textbox 338">
            <a:extLst>
              <a:ext uri="{FF2B5EF4-FFF2-40B4-BE49-F238E27FC236}">
                <a16:creationId xmlns:a16="http://schemas.microsoft.com/office/drawing/2014/main" id="{D81FAA05-D597-4C46-ADA0-CE1C36C55303}"/>
              </a:ext>
            </a:extLst>
          </p:cNvPr>
          <p:cNvSpPr/>
          <p:nvPr/>
        </p:nvSpPr>
        <p:spPr>
          <a:xfrm rot="5400000">
            <a:off x="4759993" y="4655001"/>
            <a:ext cx="189864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7" name="textbox 340">
            <a:extLst>
              <a:ext uri="{FF2B5EF4-FFF2-40B4-BE49-F238E27FC236}">
                <a16:creationId xmlns:a16="http://schemas.microsoft.com/office/drawing/2014/main" id="{2C2B98F7-ED47-4E89-9991-FA5A9570192E}"/>
              </a:ext>
            </a:extLst>
          </p:cNvPr>
          <p:cNvSpPr/>
          <p:nvPr/>
        </p:nvSpPr>
        <p:spPr>
          <a:xfrm rot="5400000">
            <a:off x="5686788" y="4663532"/>
            <a:ext cx="205740" cy="88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3"/>
              </a:lnSpc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8" name="textbox 342">
            <a:extLst>
              <a:ext uri="{FF2B5EF4-FFF2-40B4-BE49-F238E27FC236}">
                <a16:creationId xmlns:a16="http://schemas.microsoft.com/office/drawing/2014/main" id="{1C569C64-338D-4F48-BC9E-C52CA09276D0}"/>
              </a:ext>
            </a:extLst>
          </p:cNvPr>
          <p:cNvSpPr/>
          <p:nvPr/>
        </p:nvSpPr>
        <p:spPr>
          <a:xfrm rot="5400000">
            <a:off x="5305773" y="4659365"/>
            <a:ext cx="120014" cy="9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1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19" name="textbox 344">
            <a:extLst>
              <a:ext uri="{FF2B5EF4-FFF2-40B4-BE49-F238E27FC236}">
                <a16:creationId xmlns:a16="http://schemas.microsoft.com/office/drawing/2014/main" id="{F6CA46AC-F2F6-43F6-A013-937DC23E0B92}"/>
              </a:ext>
            </a:extLst>
          </p:cNvPr>
          <p:cNvSpPr/>
          <p:nvPr/>
        </p:nvSpPr>
        <p:spPr>
          <a:xfrm rot="5400000">
            <a:off x="6434361" y="4655577"/>
            <a:ext cx="137160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lost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346">
            <a:extLst>
              <a:ext uri="{FF2B5EF4-FFF2-40B4-BE49-F238E27FC236}">
                <a16:creationId xmlns:a16="http://schemas.microsoft.com/office/drawing/2014/main" id="{2D270278-C2D5-4EB5-824C-F878D571B7CD}"/>
              </a:ext>
            </a:extLst>
          </p:cNvPr>
          <p:cNvSpPr/>
          <p:nvPr/>
        </p:nvSpPr>
        <p:spPr>
          <a:xfrm rot="5400000">
            <a:off x="5493155" y="4655556"/>
            <a:ext cx="137160" cy="107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</a:t>
            </a:r>
            <a:r>
              <a:rPr sz="6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21" name="textbox 348">
            <a:extLst>
              <a:ext uri="{FF2B5EF4-FFF2-40B4-BE49-F238E27FC236}">
                <a16:creationId xmlns:a16="http://schemas.microsoft.com/office/drawing/2014/main" id="{83B2D5C2-F465-4E82-BF5D-EC5EF99F3601}"/>
              </a:ext>
            </a:extLst>
          </p:cNvPr>
          <p:cNvSpPr/>
          <p:nvPr/>
        </p:nvSpPr>
        <p:spPr>
          <a:xfrm rot="5400000">
            <a:off x="6266947" y="4652393"/>
            <a:ext cx="95885" cy="108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1"/>
              </a:spcBef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350">
            <a:extLst>
              <a:ext uri="{FF2B5EF4-FFF2-40B4-BE49-F238E27FC236}">
                <a16:creationId xmlns:a16="http://schemas.microsoft.com/office/drawing/2014/main" id="{27CEBFD2-F937-4988-B91B-780C5FD3448E}"/>
              </a:ext>
            </a:extLst>
          </p:cNvPr>
          <p:cNvSpPr/>
          <p:nvPr/>
        </p:nvSpPr>
        <p:spPr>
          <a:xfrm rot="5400000">
            <a:off x="5232967" y="4644769"/>
            <a:ext cx="61594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23" name="textbox 352">
            <a:extLst>
              <a:ext uri="{FF2B5EF4-FFF2-40B4-BE49-F238E27FC236}">
                <a16:creationId xmlns:a16="http://schemas.microsoft.com/office/drawing/2014/main" id="{B7CE2B02-383A-45CF-ADE9-1AF770769EFA}"/>
              </a:ext>
            </a:extLst>
          </p:cNvPr>
          <p:cNvSpPr/>
          <p:nvPr/>
        </p:nvSpPr>
        <p:spPr>
          <a:xfrm rot="5400000">
            <a:off x="6182588" y="4664323"/>
            <a:ext cx="62230" cy="8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3"/>
              </a:lnSpc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600"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2856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21F7D-71FB-4FFB-BD11-D6B865FB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丰富的数据类型</a:t>
            </a:r>
            <a:r>
              <a:rPr lang="en-US" altLang="zh-CN" dirty="0"/>
              <a:t>-</a:t>
            </a:r>
            <a:r>
              <a:rPr lang="zh-CN" altLang="en-US" dirty="0"/>
              <a:t>图数据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8023A-8097-40F3-A843-DD92E008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picture 354">
            <a:extLst>
              <a:ext uri="{FF2B5EF4-FFF2-40B4-BE49-F238E27FC236}">
                <a16:creationId xmlns:a16="http://schemas.microsoft.com/office/drawing/2014/main" id="{628DB0EF-5C40-4115-AA65-CFB746F56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16390" y="4509119"/>
            <a:ext cx="3503193" cy="1970545"/>
          </a:xfrm>
          <a:prstGeom prst="rect">
            <a:avLst/>
          </a:prstGeom>
        </p:spPr>
      </p:pic>
      <p:pic>
        <p:nvPicPr>
          <p:cNvPr id="6" name="picture 356">
            <a:extLst>
              <a:ext uri="{FF2B5EF4-FFF2-40B4-BE49-F238E27FC236}">
                <a16:creationId xmlns:a16="http://schemas.microsoft.com/office/drawing/2014/main" id="{B706EFD9-6F32-442C-A0BF-E3187ED9E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55208" y="1057655"/>
            <a:ext cx="2334767" cy="2093976"/>
          </a:xfrm>
          <a:prstGeom prst="rect">
            <a:avLst/>
          </a:prstGeom>
        </p:spPr>
      </p:pic>
      <p:pic>
        <p:nvPicPr>
          <p:cNvPr id="7" name="picture 358">
            <a:extLst>
              <a:ext uri="{FF2B5EF4-FFF2-40B4-BE49-F238E27FC236}">
                <a16:creationId xmlns:a16="http://schemas.microsoft.com/office/drawing/2014/main" id="{433D2249-A1BB-413E-ABFA-0BB0F8A8E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33127" y="1781766"/>
            <a:ext cx="2004340" cy="2138067"/>
          </a:xfrm>
          <a:prstGeom prst="rect">
            <a:avLst/>
          </a:prstGeom>
        </p:spPr>
      </p:pic>
      <p:pic>
        <p:nvPicPr>
          <p:cNvPr id="8" name="picture 360">
            <a:extLst>
              <a:ext uri="{FF2B5EF4-FFF2-40B4-BE49-F238E27FC236}">
                <a16:creationId xmlns:a16="http://schemas.microsoft.com/office/drawing/2014/main" id="{0B39F807-C9B8-4462-99CF-B2FCAE7E9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28813" y="2708919"/>
            <a:ext cx="2131816" cy="1941167"/>
          </a:xfrm>
          <a:prstGeom prst="rect">
            <a:avLst/>
          </a:prstGeom>
        </p:spPr>
      </p:pic>
      <p:sp>
        <p:nvSpPr>
          <p:cNvPr id="9" name="textbox 362">
            <a:extLst>
              <a:ext uri="{FF2B5EF4-FFF2-40B4-BE49-F238E27FC236}">
                <a16:creationId xmlns:a16="http://schemas.microsoft.com/office/drawing/2014/main" id="{BC70FF18-29AE-4B93-812F-5629AD165C69}"/>
              </a:ext>
            </a:extLst>
          </p:cNvPr>
          <p:cNvSpPr/>
          <p:nvPr/>
        </p:nvSpPr>
        <p:spPr>
          <a:xfrm>
            <a:off x="392027" y="5073891"/>
            <a:ext cx="4057650" cy="1031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800" kern="0" spc="-20" dirty="0">
                <a:solidFill>
                  <a:srgbClr val="0000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800" kern="0" spc="-1200" dirty="0">
                <a:solidFill>
                  <a:srgbClr val="0000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Molecular Structures</a:t>
            </a:r>
            <a:endParaRPr sz="24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3"/>
              </a:spcBef>
              <a:tabLst/>
            </a:pPr>
            <a:r>
              <a:rPr sz="1800" kern="0" spc="-20" dirty="0">
                <a:solidFill>
                  <a:srgbClr val="0000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o</a:t>
            </a:r>
            <a:r>
              <a:rPr sz="1800" kern="0" spc="-1390" dirty="0">
                <a:solidFill>
                  <a:srgbClr val="0000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Social or</a:t>
            </a:r>
            <a:r>
              <a:rPr sz="24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informatio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364">
            <a:extLst>
              <a:ext uri="{FF2B5EF4-FFF2-40B4-BE49-F238E27FC236}">
                <a16:creationId xmlns:a16="http://schemas.microsoft.com/office/drawing/2014/main" id="{0474D6CC-33AD-4E20-BE21-F1E90322DE89}"/>
              </a:ext>
            </a:extLst>
          </p:cNvPr>
          <p:cNvSpPr/>
          <p:nvPr/>
        </p:nvSpPr>
        <p:spPr>
          <a:xfrm>
            <a:off x="318596" y="1290827"/>
            <a:ext cx="3667759" cy="1200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7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8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Transportat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</a:t>
            </a:r>
            <a:r>
              <a:rPr sz="2800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network</a:t>
            </a:r>
            <a:endParaRPr sz="2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3"/>
              </a:spcBef>
              <a:tabLst/>
            </a:pP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800" kern="0" spc="3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World Wide</a:t>
            </a:r>
            <a:r>
              <a:rPr sz="28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Web</a:t>
            </a:r>
            <a:endParaRPr sz="2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444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21F7D-71FB-4FFB-BD11-D6B865FB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丰富的数据类型</a:t>
            </a:r>
            <a:r>
              <a:rPr lang="en-US" altLang="zh-CN" dirty="0"/>
              <a:t>-</a:t>
            </a:r>
            <a:r>
              <a:rPr lang="zh-CN" altLang="en-US" dirty="0"/>
              <a:t>序列数据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8023A-8097-40F3-A843-DD92E008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picture 374">
            <a:extLst>
              <a:ext uri="{FF2B5EF4-FFF2-40B4-BE49-F238E27FC236}">
                <a16:creationId xmlns:a16="http://schemas.microsoft.com/office/drawing/2014/main" id="{1804E3CF-54D0-4868-8F6C-D52F3FCC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80132" y="3904261"/>
            <a:ext cx="3884321" cy="2279783"/>
          </a:xfrm>
          <a:prstGeom prst="rect">
            <a:avLst/>
          </a:prstGeom>
        </p:spPr>
      </p:pic>
      <p:pic>
        <p:nvPicPr>
          <p:cNvPr id="6" name="picture 376">
            <a:extLst>
              <a:ext uri="{FF2B5EF4-FFF2-40B4-BE49-F238E27FC236}">
                <a16:creationId xmlns:a16="http://schemas.microsoft.com/office/drawing/2014/main" id="{56B34132-8CBD-4416-B5ED-A89B8327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0728" y="1525676"/>
            <a:ext cx="5016192" cy="1404533"/>
          </a:xfrm>
          <a:prstGeom prst="rect">
            <a:avLst/>
          </a:prstGeom>
        </p:spPr>
      </p:pic>
      <p:pic>
        <p:nvPicPr>
          <p:cNvPr id="7" name="picture 378">
            <a:extLst>
              <a:ext uri="{FF2B5EF4-FFF2-40B4-BE49-F238E27FC236}">
                <a16:creationId xmlns:a16="http://schemas.microsoft.com/office/drawing/2014/main" id="{19CC5A8B-B27D-45C4-998E-57F95CC41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8608" y="2462519"/>
            <a:ext cx="3743438" cy="1614552"/>
          </a:xfrm>
          <a:prstGeom prst="rect">
            <a:avLst/>
          </a:prstGeom>
        </p:spPr>
      </p:pic>
      <p:sp>
        <p:nvSpPr>
          <p:cNvPr id="8" name="textbox 386">
            <a:extLst>
              <a:ext uri="{FF2B5EF4-FFF2-40B4-BE49-F238E27FC236}">
                <a16:creationId xmlns:a16="http://schemas.microsoft.com/office/drawing/2014/main" id="{DC2FF124-5795-4B16-99B6-6239386F33EA}"/>
              </a:ext>
            </a:extLst>
          </p:cNvPr>
          <p:cNvSpPr/>
          <p:nvPr/>
        </p:nvSpPr>
        <p:spPr>
          <a:xfrm>
            <a:off x="281618" y="4803139"/>
            <a:ext cx="3763009" cy="675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Sequential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Data: transact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ion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329565" algn="l" rtl="0" eaLnBrk="0">
              <a:lnSpc>
                <a:spcPts val="3053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sequences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388">
            <a:extLst>
              <a:ext uri="{FF2B5EF4-FFF2-40B4-BE49-F238E27FC236}">
                <a16:creationId xmlns:a16="http://schemas.microsoft.com/office/drawing/2014/main" id="{9A5D093C-E8E2-4A17-9C1D-3F0351A9CA2E}"/>
              </a:ext>
            </a:extLst>
          </p:cNvPr>
          <p:cNvSpPr/>
          <p:nvPr/>
        </p:nvSpPr>
        <p:spPr>
          <a:xfrm>
            <a:off x="281618" y="1144320"/>
            <a:ext cx="4194175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5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Video data: sequence</a:t>
            </a:r>
            <a:r>
              <a:rPr sz="24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4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images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390">
            <a:extLst>
              <a:ext uri="{FF2B5EF4-FFF2-40B4-BE49-F238E27FC236}">
                <a16:creationId xmlns:a16="http://schemas.microsoft.com/office/drawing/2014/main" id="{430273BC-9EAA-4DE1-BB0E-98A9EABFB634}"/>
              </a:ext>
            </a:extLst>
          </p:cNvPr>
          <p:cNvSpPr/>
          <p:nvPr/>
        </p:nvSpPr>
        <p:spPr>
          <a:xfrm>
            <a:off x="281618" y="1883155"/>
            <a:ext cx="3565525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5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Temporal data: time-series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394">
            <a:extLst>
              <a:ext uri="{FF2B5EF4-FFF2-40B4-BE49-F238E27FC236}">
                <a16:creationId xmlns:a16="http://schemas.microsoft.com/office/drawing/2014/main" id="{F2CAD564-A5BF-44FE-A055-86F6DCF8862A}"/>
              </a:ext>
            </a:extLst>
          </p:cNvPr>
          <p:cNvSpPr/>
          <p:nvPr/>
        </p:nvSpPr>
        <p:spPr>
          <a:xfrm>
            <a:off x="281618" y="6278981"/>
            <a:ext cx="3093085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6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Genetic sequence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4566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21F7D-71FB-4FFB-BD11-D6B865FB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丰富的数据类型</a:t>
            </a:r>
            <a:r>
              <a:rPr lang="en-US" altLang="zh-CN" dirty="0"/>
              <a:t>-</a:t>
            </a:r>
            <a:r>
              <a:rPr lang="zh-CN" altLang="en-US" dirty="0"/>
              <a:t>时空数据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8023A-8097-40F3-A843-DD92E008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picture 396">
            <a:extLst>
              <a:ext uri="{FF2B5EF4-FFF2-40B4-BE49-F238E27FC236}">
                <a16:creationId xmlns:a16="http://schemas.microsoft.com/office/drawing/2014/main" id="{A7FCCA2F-E1CB-424D-A495-6D8DC2EC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83680" y="1122511"/>
            <a:ext cx="3435561" cy="3201597"/>
          </a:xfrm>
          <a:prstGeom prst="rect">
            <a:avLst/>
          </a:prstGeom>
        </p:spPr>
      </p:pic>
      <p:pic>
        <p:nvPicPr>
          <p:cNvPr id="6" name="picture 398">
            <a:extLst>
              <a:ext uri="{FF2B5EF4-FFF2-40B4-BE49-F238E27FC236}">
                <a16:creationId xmlns:a16="http://schemas.microsoft.com/office/drawing/2014/main" id="{43BAEEE8-6434-40F7-9659-BCF23A0D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9108" y="1919546"/>
            <a:ext cx="3161390" cy="2106277"/>
          </a:xfrm>
          <a:prstGeom prst="rect">
            <a:avLst/>
          </a:prstGeom>
        </p:spPr>
      </p:pic>
      <p:sp>
        <p:nvSpPr>
          <p:cNvPr id="8" name="textbox 408">
            <a:extLst>
              <a:ext uri="{FF2B5EF4-FFF2-40B4-BE49-F238E27FC236}">
                <a16:creationId xmlns:a16="http://schemas.microsoft.com/office/drawing/2014/main" id="{C0162425-598F-4F98-9C91-783A2B3408A5}"/>
              </a:ext>
            </a:extLst>
          </p:cNvPr>
          <p:cNvSpPr/>
          <p:nvPr/>
        </p:nvSpPr>
        <p:spPr>
          <a:xfrm>
            <a:off x="949893" y="4562764"/>
            <a:ext cx="2496692" cy="132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Image</a:t>
            </a:r>
            <a:r>
              <a:rPr sz="2400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data:</a:t>
            </a:r>
            <a:endParaRPr sz="24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6"/>
              </a:spcBef>
              <a:tabLst/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6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Textual</a:t>
            </a:r>
            <a:r>
              <a:rPr sz="24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data: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412">
            <a:extLst>
              <a:ext uri="{FF2B5EF4-FFF2-40B4-BE49-F238E27FC236}">
                <a16:creationId xmlns:a16="http://schemas.microsoft.com/office/drawing/2014/main" id="{8903528D-F888-4AAB-80C6-BF8C5F2D3B27}"/>
              </a:ext>
            </a:extLst>
          </p:cNvPr>
          <p:cNvSpPr/>
          <p:nvPr/>
        </p:nvSpPr>
        <p:spPr>
          <a:xfrm>
            <a:off x="417330" y="1465039"/>
            <a:ext cx="2529839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6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Spatial data: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maps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CE9CBF-DC39-4261-930F-A522449E0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806" y="4565194"/>
            <a:ext cx="4360269" cy="1746695"/>
          </a:xfrm>
          <a:prstGeom prst="rect">
            <a:avLst/>
          </a:prstGeom>
          <a:ln w="19050">
            <a:solidFill>
              <a:srgbClr val="3E1309"/>
            </a:solidFill>
          </a:ln>
        </p:spPr>
      </p:pic>
    </p:spTree>
    <p:extLst>
      <p:ext uri="{BB962C8B-B14F-4D97-AF65-F5344CB8AC3E}">
        <p14:creationId xmlns:p14="http://schemas.microsoft.com/office/powerpoint/2010/main" val="2217034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大数据的特点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数据的体量巨大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8" name="AutoShape 6" descr="http://img1.imgtn.bdimg.com/it/u=2620018436,1658842787&amp;fm=214&amp;gp=0.jpg"/>
          <p:cNvSpPr>
            <a:spLocks noChangeAspect="1" noChangeArrowheads="1"/>
          </p:cNvSpPr>
          <p:nvPr/>
        </p:nvSpPr>
        <p:spPr bwMode="auto">
          <a:xfrm>
            <a:off x="155575" y="727235"/>
            <a:ext cx="304800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://img1.imgtn.bdimg.com/it/u=2620018436,1658842787&amp;fm=214&amp;gp=0.jpg"/>
          <p:cNvSpPr>
            <a:spLocks noChangeAspect="1" noChangeArrowheads="1"/>
          </p:cNvSpPr>
          <p:nvPr/>
        </p:nvSpPr>
        <p:spPr bwMode="auto">
          <a:xfrm>
            <a:off x="307975" y="864395"/>
            <a:ext cx="304800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276" name="Picture 12" descr="https://www.mytechlogy.com/upload/by_users/Robert/311503022816Volum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30" y="1744013"/>
            <a:ext cx="486611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634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大数据的特点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数据的体量巨大</a:t>
            </a:r>
          </a:p>
          <a:p>
            <a:r>
              <a:rPr lang="zh-CN" altLang="zh-CN" dirty="0"/>
              <a:t>数据类型繁多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19</a:t>
            </a:fld>
            <a:endParaRPr lang="en-US" altLang="zh-C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191" y="3007812"/>
            <a:ext cx="3132187" cy="2559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 descr="The four V's of Big Data - Imag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107" y="1744013"/>
            <a:ext cx="4795760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973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大数据的特点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数据的体量巨大</a:t>
            </a:r>
          </a:p>
          <a:p>
            <a:r>
              <a:rPr lang="zh-CN" altLang="zh-CN" dirty="0"/>
              <a:t>数据类型繁多</a:t>
            </a:r>
          </a:p>
          <a:p>
            <a:r>
              <a:rPr lang="zh-CN" altLang="zh-CN" dirty="0"/>
              <a:t>商业价值高，而价值密度却较低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20</a:t>
            </a:fld>
            <a:endParaRPr lang="en-US" altLang="zh-CN"/>
          </a:p>
        </p:txBody>
      </p:sp>
      <p:pic>
        <p:nvPicPr>
          <p:cNvPr id="14338" name="Picture 2" descr="See the source imag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199" y="1154630"/>
            <a:ext cx="3024336" cy="444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456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大数据的特点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数据的体量巨大</a:t>
            </a:r>
          </a:p>
          <a:p>
            <a:r>
              <a:rPr lang="zh-CN" altLang="zh-CN" dirty="0"/>
              <a:t>数据类型繁多</a:t>
            </a:r>
          </a:p>
          <a:p>
            <a:r>
              <a:rPr lang="zh-CN" altLang="zh-CN" dirty="0"/>
              <a:t>商业价值高，而价值密度却较低</a:t>
            </a:r>
            <a:endParaRPr lang="en-US" altLang="zh-CN" dirty="0"/>
          </a:p>
          <a:p>
            <a:r>
              <a:rPr lang="zh-CN" altLang="zh-CN" dirty="0"/>
              <a:t>数据产生速度快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21</a:t>
            </a:fld>
            <a:endParaRPr lang="en-US" altLang="zh-CN"/>
          </a:p>
        </p:txBody>
      </p:sp>
      <p:pic>
        <p:nvPicPr>
          <p:cNvPr id="11278" name="Picture 14" descr="The four V's of Big Data - Imag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466" y="1250833"/>
            <a:ext cx="3908311" cy="278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642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5" name="图片 4"/>
          <p:cNvPicPr>
            <a:picLocks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634739" y="1462649"/>
            <a:ext cx="3874521" cy="3932701"/>
          </a:xfrm>
          <a:prstGeom prst="ellipse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线形标注 1(无边框) 2"/>
          <p:cNvSpPr/>
          <p:nvPr/>
        </p:nvSpPr>
        <p:spPr>
          <a:xfrm flipH="1">
            <a:off x="978554" y="1817550"/>
            <a:ext cx="1872208" cy="551383"/>
          </a:xfrm>
          <a:prstGeom prst="callout1">
            <a:avLst>
              <a:gd name="adj1" fmla="val 49845"/>
              <a:gd name="adj2" fmla="val -3585"/>
              <a:gd name="adj3" fmla="val 127011"/>
              <a:gd name="adj4" fmla="val -15269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数据的体量巨大</a:t>
            </a:r>
          </a:p>
        </p:txBody>
      </p:sp>
      <p:sp>
        <p:nvSpPr>
          <p:cNvPr id="6" name="线形标注 1(无边框) 5"/>
          <p:cNvSpPr/>
          <p:nvPr/>
        </p:nvSpPr>
        <p:spPr>
          <a:xfrm>
            <a:off x="6379154" y="1817550"/>
            <a:ext cx="1872208" cy="551383"/>
          </a:xfrm>
          <a:prstGeom prst="callout1">
            <a:avLst>
              <a:gd name="adj1" fmla="val 47772"/>
              <a:gd name="adj2" fmla="val -2906"/>
              <a:gd name="adj3" fmla="val 102135"/>
              <a:gd name="adj4" fmla="val -26801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数据类型繁多</a:t>
            </a:r>
          </a:p>
        </p:txBody>
      </p:sp>
      <p:sp>
        <p:nvSpPr>
          <p:cNvPr id="7" name="线形标注 1(无边框) 6"/>
          <p:cNvSpPr/>
          <p:nvPr/>
        </p:nvSpPr>
        <p:spPr>
          <a:xfrm>
            <a:off x="6595178" y="4554871"/>
            <a:ext cx="1872208" cy="551383"/>
          </a:xfrm>
          <a:prstGeom prst="callout1">
            <a:avLst>
              <a:gd name="adj1" fmla="val 51918"/>
              <a:gd name="adj2" fmla="val -2228"/>
              <a:gd name="adj3" fmla="val -28462"/>
              <a:gd name="adj4" fmla="val -28836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商业价值高，而价值密度却较低</a:t>
            </a:r>
          </a:p>
        </p:txBody>
      </p:sp>
      <p:sp>
        <p:nvSpPr>
          <p:cNvPr id="8" name="线形标注 1(无边框) 7"/>
          <p:cNvSpPr/>
          <p:nvPr/>
        </p:nvSpPr>
        <p:spPr>
          <a:xfrm flipH="1">
            <a:off x="690522" y="4717411"/>
            <a:ext cx="1872208" cy="551383"/>
          </a:xfrm>
          <a:prstGeom prst="callout1">
            <a:avLst>
              <a:gd name="adj1" fmla="val 51918"/>
              <a:gd name="adj2" fmla="val -2228"/>
              <a:gd name="adj3" fmla="val -22243"/>
              <a:gd name="adj4" fmla="val -34941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数据产生速度快</a:t>
            </a:r>
            <a:endParaRPr lang="en-US" altLang="zh-CN" dirty="0">
              <a:latin typeface="华文细黑" pitchFamily="2" charset="-122"/>
              <a:ea typeface="华文细黑" pitchFamily="2" charset="-122"/>
            </a:endParaRPr>
          </a:p>
          <a:p>
            <a:pPr algn="r"/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处理速度快</a:t>
            </a:r>
          </a:p>
        </p:txBody>
      </p:sp>
    </p:spTree>
    <p:extLst>
      <p:ext uri="{BB962C8B-B14F-4D97-AF65-F5344CB8AC3E}">
        <p14:creationId xmlns:p14="http://schemas.microsoft.com/office/powerpoint/2010/main" val="1624572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大数据的特点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数据的体量巨大</a:t>
            </a:r>
          </a:p>
          <a:p>
            <a:r>
              <a:rPr lang="zh-CN" altLang="zh-CN" dirty="0"/>
              <a:t>数据类型繁多</a:t>
            </a:r>
          </a:p>
          <a:p>
            <a:r>
              <a:rPr lang="zh-CN" altLang="zh-CN" dirty="0"/>
              <a:t>商业价值高，而价值密度却较低</a:t>
            </a:r>
            <a:endParaRPr lang="en-US" altLang="zh-CN" dirty="0"/>
          </a:p>
          <a:p>
            <a:r>
              <a:rPr lang="zh-CN" altLang="zh-CN" dirty="0"/>
              <a:t>数据产生速度快</a:t>
            </a:r>
            <a:endParaRPr lang="en-US" altLang="zh-CN" dirty="0"/>
          </a:p>
          <a:p>
            <a:r>
              <a:rPr lang="zh-CN" altLang="en-US" dirty="0">
                <a:solidFill>
                  <a:srgbClr val="002060"/>
                </a:solidFill>
              </a:rPr>
              <a:t>数据的真实性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zh-CN" altLang="en-US" dirty="0">
                <a:solidFill>
                  <a:srgbClr val="002060"/>
                </a:solidFill>
              </a:rPr>
              <a:t>数据的波动性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zh-CN" altLang="en-US" dirty="0">
                <a:solidFill>
                  <a:srgbClr val="002060"/>
                </a:solidFill>
              </a:rPr>
              <a:t>数据的复杂性</a:t>
            </a:r>
            <a:endParaRPr lang="zh-CN" altLang="zh-CN" dirty="0">
              <a:solidFill>
                <a:srgbClr val="00206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23</a:t>
            </a:fld>
            <a:endParaRPr lang="en-US" altLang="zh-CN"/>
          </a:p>
        </p:txBody>
      </p:sp>
      <p:pic>
        <p:nvPicPr>
          <p:cNvPr id="11282" name="Picture 18" descr="The four V's of Big Data - Imag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666" y="1571911"/>
            <a:ext cx="5180929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112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2E685-E799-4C6A-84C9-EB0C9F26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5BCEA6-3C6F-4734-B0A4-5B49D7483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什么是数据挖掘？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648716-314B-4D94-B5D0-7FEEFE65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82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数据挖掘的定义</a:t>
            </a:r>
            <a:endParaRPr lang="zh-CN" altLang="en-US" dirty="0"/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商业应用角度</a:t>
            </a:r>
            <a:endParaRPr lang="en-US" altLang="zh-CN" dirty="0"/>
          </a:p>
          <a:p>
            <a:pPr lvl="1"/>
            <a:r>
              <a:rPr lang="zh-CN" altLang="en-US" dirty="0"/>
              <a:t>数据挖掘是一种新的商业信息处理技术，其主要特点是对商业数据库中的大量业务数据进行抽取、转换、分析和其他模型化处理，从中提取辅助商业决策的关键性数据。 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数据处理技术角度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数据挖掘</a:t>
            </a:r>
            <a:r>
              <a:rPr lang="en-US" altLang="zh-CN" dirty="0"/>
              <a:t>(Data Mining)</a:t>
            </a:r>
            <a:r>
              <a:rPr lang="zh-CN" altLang="en-US" dirty="0"/>
              <a:t>就是从大量的、不完全的、有噪声的、模糊的、随机的实际应用数据中，提取隐含在其中的、人们事先不知道的、但又是潜在有用的信息和知识的过程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0DEF5-D533-40CD-9F44-C4189FEE110B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pic>
        <p:nvPicPr>
          <p:cNvPr id="17" name="picture 122">
            <a:extLst>
              <a:ext uri="{FF2B5EF4-FFF2-40B4-BE49-F238E27FC236}">
                <a16:creationId xmlns:a16="http://schemas.microsoft.com/office/drawing/2014/main" id="{B1F725AC-0691-4883-958C-A5E418516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76774" y="4570888"/>
            <a:ext cx="5903737" cy="2055533"/>
          </a:xfrm>
          <a:prstGeom prst="rect">
            <a:avLst/>
          </a:prstGeom>
        </p:spPr>
      </p:pic>
      <p:sp>
        <p:nvSpPr>
          <p:cNvPr id="18" name="textbox 126">
            <a:extLst>
              <a:ext uri="{FF2B5EF4-FFF2-40B4-BE49-F238E27FC236}">
                <a16:creationId xmlns:a16="http://schemas.microsoft.com/office/drawing/2014/main" id="{CF6F5AEC-81CD-4B3B-86E0-75BC06F41B08}"/>
              </a:ext>
            </a:extLst>
          </p:cNvPr>
          <p:cNvSpPr/>
          <p:nvPr/>
        </p:nvSpPr>
        <p:spPr>
          <a:xfrm>
            <a:off x="5238843" y="4943692"/>
            <a:ext cx="2586989" cy="154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0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5000"/>
              </a:lnSpc>
              <a:tabLst>
                <a:tab pos="175260" algn="l"/>
              </a:tabLst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	Postprocessing</a:t>
            </a:r>
            <a:endParaRPr sz="10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b="1" dirty="0">
              <a:latin typeface="Arial"/>
              <a:ea typeface="Arial"/>
              <a:cs typeface="Arial"/>
            </a:endParaRPr>
          </a:p>
          <a:p>
            <a:pPr marL="732790" algn="l" rtl="0" eaLnBrk="0">
              <a:lnSpc>
                <a:spcPct val="85000"/>
              </a:lnSpc>
              <a:spcBef>
                <a:spcPts val="312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Filtering</a:t>
            </a:r>
            <a:r>
              <a:rPr sz="1000" b="1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terns</a:t>
            </a:r>
            <a:endParaRPr sz="1000" b="1" dirty="0">
              <a:latin typeface="Arial"/>
              <a:ea typeface="Arial"/>
              <a:cs typeface="Arial"/>
            </a:endParaRPr>
          </a:p>
          <a:p>
            <a:pPr marL="721994" algn="l" rtl="0" eaLnBrk="0">
              <a:lnSpc>
                <a:spcPct val="75000"/>
              </a:lnSpc>
              <a:spcBef>
                <a:spcPts val="261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Visualizat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</a:t>
            </a:r>
            <a:endParaRPr sz="10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b="1" dirty="0">
              <a:latin typeface="Arial"/>
              <a:ea typeface="Arial"/>
              <a:cs typeface="Arial"/>
            </a:endParaRPr>
          </a:p>
          <a:p>
            <a:pPr marL="732155" algn="l" rtl="0" eaLnBrk="0">
              <a:lnSpc>
                <a:spcPct val="81000"/>
              </a:lnSpc>
              <a:spcBef>
                <a:spcPts val="3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Pattern</a:t>
            </a:r>
            <a:r>
              <a:rPr sz="1000" b="1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Interpretatio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000" b="1" dirty="0">
              <a:latin typeface="Arial"/>
              <a:ea typeface="Arial"/>
              <a:cs typeface="Arial"/>
            </a:endParaRPr>
          </a:p>
        </p:txBody>
      </p:sp>
      <p:pic>
        <p:nvPicPr>
          <p:cNvPr id="19" name="picture 128">
            <a:extLst>
              <a:ext uri="{FF2B5EF4-FFF2-40B4-BE49-F238E27FC236}">
                <a16:creationId xmlns:a16="http://schemas.microsoft.com/office/drawing/2014/main" id="{2BC762CC-2D97-45FA-9C29-1DE51E82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91982" y="4844779"/>
            <a:ext cx="6350" cy="154653"/>
          </a:xfrm>
          <a:prstGeom prst="rect">
            <a:avLst/>
          </a:prstGeom>
        </p:spPr>
      </p:pic>
      <p:pic>
        <p:nvPicPr>
          <p:cNvPr id="20" name="picture 130">
            <a:extLst>
              <a:ext uri="{FF2B5EF4-FFF2-40B4-BE49-F238E27FC236}">
                <a16:creationId xmlns:a16="http://schemas.microsoft.com/office/drawing/2014/main" id="{170CCA21-854D-405A-88C8-5676FE5AF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27757" y="4846971"/>
            <a:ext cx="6350" cy="154565"/>
          </a:xfrm>
          <a:prstGeom prst="rect">
            <a:avLst/>
          </a:prstGeom>
        </p:spPr>
      </p:pic>
      <p:sp>
        <p:nvSpPr>
          <p:cNvPr id="21" name="textbox 140">
            <a:extLst>
              <a:ext uri="{FF2B5EF4-FFF2-40B4-BE49-F238E27FC236}">
                <a16:creationId xmlns:a16="http://schemas.microsoft.com/office/drawing/2014/main" id="{E7EA0332-17B8-4D27-86D3-429BFDF13F76}"/>
              </a:ext>
            </a:extLst>
          </p:cNvPr>
          <p:cNvSpPr/>
          <p:nvPr/>
        </p:nvSpPr>
        <p:spPr>
          <a:xfrm>
            <a:off x="2563108" y="5726926"/>
            <a:ext cx="1332864" cy="645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54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7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Se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lection</a:t>
            </a:r>
            <a:endParaRPr sz="1000" b="1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spcBef>
                <a:spcPts val="20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Dimension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duction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Normalization</a:t>
            </a:r>
            <a:endParaRPr sz="1000" b="1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81"/>
              </a:spcBef>
              <a:tabLst/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subsetting</a:t>
            </a:r>
            <a:endParaRPr sz="1000" b="1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142">
            <a:extLst>
              <a:ext uri="{FF2B5EF4-FFF2-40B4-BE49-F238E27FC236}">
                <a16:creationId xmlns:a16="http://schemas.microsoft.com/office/drawing/2014/main" id="{4F634121-09A0-4E06-A189-E636AEA092CE}"/>
              </a:ext>
            </a:extLst>
          </p:cNvPr>
          <p:cNvSpPr/>
          <p:nvPr/>
        </p:nvSpPr>
        <p:spPr>
          <a:xfrm>
            <a:off x="2050960" y="4753904"/>
            <a:ext cx="1138517" cy="364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54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346075" algn="l" rtl="0" eaLnBrk="0">
              <a:lnSpc>
                <a:spcPct val="75000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200" b="1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0"/>
              </a:spcBef>
              <a:tabLst/>
            </a:pP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Preproces</a:t>
            </a: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sing</a:t>
            </a:r>
            <a:endParaRPr sz="1200" b="1" dirty="0">
              <a:latin typeface="Arial"/>
              <a:ea typeface="Arial"/>
              <a:cs typeface="Arial"/>
            </a:endParaRPr>
          </a:p>
        </p:txBody>
      </p:sp>
      <p:sp>
        <p:nvSpPr>
          <p:cNvPr id="23" name="textbox 144">
            <a:extLst>
              <a:ext uri="{FF2B5EF4-FFF2-40B4-BE49-F238E27FC236}">
                <a16:creationId xmlns:a16="http://schemas.microsoft.com/office/drawing/2014/main" id="{6320CA0D-6313-4DE1-9831-0374716697F7}"/>
              </a:ext>
            </a:extLst>
          </p:cNvPr>
          <p:cNvSpPr/>
          <p:nvPr/>
        </p:nvSpPr>
        <p:spPr>
          <a:xfrm>
            <a:off x="3995940" y="4753904"/>
            <a:ext cx="576060" cy="349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13" rIns="0" bIns="0"/>
          <a:lstStyle/>
          <a:p>
            <a:pPr marL="12700" indent="65405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Mining</a:t>
            </a:r>
            <a:endParaRPr sz="1200" b="1" dirty="0">
              <a:latin typeface="Arial"/>
              <a:ea typeface="Arial"/>
              <a:cs typeface="Arial"/>
            </a:endParaRPr>
          </a:p>
        </p:txBody>
      </p:sp>
      <p:sp>
        <p:nvSpPr>
          <p:cNvPr id="24" name="textbox 146">
            <a:extLst>
              <a:ext uri="{FF2B5EF4-FFF2-40B4-BE49-F238E27FC236}">
                <a16:creationId xmlns:a16="http://schemas.microsoft.com/office/drawing/2014/main" id="{312002C0-B2A7-43CE-92A8-EFC05F8DDC74}"/>
              </a:ext>
            </a:extLst>
          </p:cNvPr>
          <p:cNvSpPr/>
          <p:nvPr/>
        </p:nvSpPr>
        <p:spPr>
          <a:xfrm>
            <a:off x="1107678" y="4753904"/>
            <a:ext cx="342900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54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5000"/>
              </a:lnSpc>
              <a:tabLst/>
            </a:pPr>
            <a:r>
              <a:rPr lang="en-US" sz="1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Raw</a:t>
            </a:r>
            <a:endParaRPr lang="en-US" sz="1200" b="1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b="1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1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200" b="1" dirty="0">
              <a:latin typeface="Arial"/>
              <a:ea typeface="Arial"/>
              <a:cs typeface="Arial"/>
            </a:endParaRPr>
          </a:p>
        </p:txBody>
      </p:sp>
      <p:pic>
        <p:nvPicPr>
          <p:cNvPr id="25" name="picture 148">
            <a:extLst>
              <a:ext uri="{FF2B5EF4-FFF2-40B4-BE49-F238E27FC236}">
                <a16:creationId xmlns:a16="http://schemas.microsoft.com/office/drawing/2014/main" id="{5B5F2C30-7592-44A5-80EA-EF410D66C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76774" y="4844253"/>
            <a:ext cx="392011" cy="154653"/>
          </a:xfrm>
          <a:prstGeom prst="rect">
            <a:avLst/>
          </a:prstGeom>
        </p:spPr>
      </p:pic>
      <p:pic>
        <p:nvPicPr>
          <p:cNvPr id="26" name="picture 150">
            <a:extLst>
              <a:ext uri="{FF2B5EF4-FFF2-40B4-BE49-F238E27FC236}">
                <a16:creationId xmlns:a16="http://schemas.microsoft.com/office/drawing/2014/main" id="{6C890A6E-A331-492B-84AF-DC079D0A6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41269" y="4825225"/>
            <a:ext cx="6350" cy="154565"/>
          </a:xfrm>
          <a:prstGeom prst="rect">
            <a:avLst/>
          </a:prstGeom>
        </p:spPr>
      </p:pic>
      <p:sp>
        <p:nvSpPr>
          <p:cNvPr id="27" name="textbox 146">
            <a:extLst>
              <a:ext uri="{FF2B5EF4-FFF2-40B4-BE49-F238E27FC236}">
                <a16:creationId xmlns:a16="http://schemas.microsoft.com/office/drawing/2014/main" id="{8A0516C5-F866-48A2-86F0-FA4ECAE6B777}"/>
              </a:ext>
            </a:extLst>
          </p:cNvPr>
          <p:cNvSpPr/>
          <p:nvPr/>
        </p:nvSpPr>
        <p:spPr>
          <a:xfrm>
            <a:off x="7211225" y="4868664"/>
            <a:ext cx="1192284" cy="2222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54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5000"/>
              </a:lnSpc>
              <a:tabLst/>
            </a:pPr>
            <a:r>
              <a:rPr lang="en-US" altLang="zh-CN" sz="12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Knowledge</a:t>
            </a:r>
            <a:endParaRPr sz="1200" b="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数据挖掘的定义</a:t>
            </a:r>
            <a:endParaRPr lang="zh-CN" altLang="en-US" dirty="0"/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Jiawei Han</a:t>
            </a:r>
            <a:r>
              <a:rPr lang="zh-CN" altLang="en-US" dirty="0"/>
              <a:t>的定义</a:t>
            </a:r>
          </a:p>
          <a:p>
            <a:pPr lvl="1"/>
            <a:r>
              <a:rPr lang="zh-CN" altLang="en-US" dirty="0"/>
              <a:t>从大型数据集中提取有趣的 </a:t>
            </a:r>
            <a:r>
              <a:rPr lang="en-US" altLang="zh-CN" dirty="0"/>
              <a:t>(</a:t>
            </a:r>
            <a:r>
              <a:rPr lang="zh-CN" altLang="en-GB" dirty="0"/>
              <a:t>非平凡的, 蕴涵的, 先前未知的并且是潜在有用的</a:t>
            </a:r>
            <a:r>
              <a:rPr lang="en-GB" altLang="zh-CN" dirty="0"/>
              <a:t>) </a:t>
            </a:r>
            <a:r>
              <a:rPr lang="zh-CN" altLang="en-GB" dirty="0"/>
              <a:t>信息或模式</a:t>
            </a:r>
            <a:endParaRPr lang="zh-CN" altLang="en-US" dirty="0"/>
          </a:p>
          <a:p>
            <a:r>
              <a:rPr lang="zh-CN" altLang="en-US" dirty="0"/>
              <a:t>其他定义</a:t>
            </a:r>
            <a:endParaRPr lang="en-US" altLang="zh-CN" dirty="0"/>
          </a:p>
          <a:p>
            <a:pPr lvl="1"/>
            <a:r>
              <a:rPr lang="zh-CN" altLang="en-US" dirty="0"/>
              <a:t>在大型数据存储库中，自动地发现有用信息的过程。 </a:t>
            </a:r>
          </a:p>
          <a:p>
            <a:pPr lvl="1"/>
            <a:r>
              <a:rPr lang="en-US" altLang="zh-CN" dirty="0"/>
              <a:t>Exploration &amp; analysis, by automatic or semi-automatic means, of large quantities of data in order to discover meaningful patterns</a:t>
            </a:r>
          </a:p>
          <a:p>
            <a:pPr lvl="1"/>
            <a:r>
              <a:rPr lang="en-US" altLang="zh-CN" dirty="0"/>
              <a:t>Non-trivial extraction of implicit, previously unknown and potentially useful information from data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0DEF5-D533-40CD-9F44-C4189FEE110B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1777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D6CC5-0B13-4169-A0E6-85F278ED6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FE1D33-69A6-497E-BD95-339642A2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A919D9-8545-46CE-88C4-CE90674435F6}"/>
              </a:ext>
            </a:extLst>
          </p:cNvPr>
          <p:cNvSpPr txBox="1"/>
          <p:nvPr/>
        </p:nvSpPr>
        <p:spPr>
          <a:xfrm>
            <a:off x="3815861" y="2523365"/>
            <a:ext cx="1891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How</a:t>
            </a:r>
            <a:r>
              <a:rPr lang="zh-CN" altLang="en-US" sz="3600" b="1" dirty="0">
                <a:solidFill>
                  <a:srgbClr val="C00000"/>
                </a:solidFill>
              </a:rPr>
              <a:t>？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741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1" name="Rectangle 1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数据挖掘</a:t>
            </a:r>
            <a:r>
              <a:rPr lang="en-US" altLang="zh-CN" dirty="0"/>
              <a:t>de</a:t>
            </a:r>
            <a:r>
              <a:rPr lang="zh-CN" altLang="en-US" dirty="0"/>
              <a:t>特点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数据挖掘是多学科的产物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505724138"/>
              </p:ext>
            </p:extLst>
          </p:nvPr>
        </p:nvGraphicFramePr>
        <p:xfrm>
          <a:off x="71885" y="1692712"/>
          <a:ext cx="446449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443041" y="1498077"/>
            <a:ext cx="4436494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marL="365125" indent="-282575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28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39763" indent="-2365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4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5825" indent="-22860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6963" indent="-1730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6988" indent="-182563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2575">
              <a:lnSpc>
                <a:spcPct val="160000"/>
              </a:lnSpc>
            </a:pPr>
            <a:r>
              <a:rPr lang="zh-CN" altLang="en-US" dirty="0"/>
              <a:t>统计学的抽样、估计和假设检验</a:t>
            </a:r>
          </a:p>
          <a:p>
            <a:pPr marL="282575">
              <a:lnSpc>
                <a:spcPct val="160000"/>
              </a:lnSpc>
            </a:pPr>
            <a:r>
              <a:rPr lang="zh-CN" altLang="en-US" dirty="0"/>
              <a:t>数据库系统提供有效的存储、索引和查询处理支持 </a:t>
            </a:r>
            <a:endParaRPr lang="en-US" altLang="zh-CN" dirty="0"/>
          </a:p>
          <a:p>
            <a:pPr marL="282575">
              <a:lnSpc>
                <a:spcPct val="160000"/>
              </a:lnSpc>
            </a:pPr>
            <a:r>
              <a:rPr lang="zh-CN" altLang="en-US" dirty="0"/>
              <a:t>可视化</a:t>
            </a:r>
            <a:endParaRPr lang="en-US" altLang="zh-CN" dirty="0"/>
          </a:p>
          <a:p>
            <a:pPr marL="282575">
              <a:lnSpc>
                <a:spcPct val="160000"/>
              </a:lnSpc>
            </a:pPr>
            <a:r>
              <a:rPr lang="zh-CN" altLang="en-US" dirty="0"/>
              <a:t>算法和高性能计算（最优化、进化计算）</a:t>
            </a:r>
            <a:endParaRPr lang="en-US" altLang="zh-CN" dirty="0"/>
          </a:p>
          <a:p>
            <a:pPr marL="282575">
              <a:lnSpc>
                <a:spcPct val="160000"/>
              </a:lnSpc>
            </a:pPr>
            <a:r>
              <a:rPr lang="zh-CN" altLang="en-US" dirty="0"/>
              <a:t>机器学习的搜索算法、建模技术和学习理论</a:t>
            </a:r>
          </a:p>
          <a:p>
            <a:pPr marL="282575">
              <a:lnSpc>
                <a:spcPct val="160000"/>
              </a:lnSpc>
            </a:pPr>
            <a:r>
              <a:rPr lang="zh-CN" altLang="en-US" dirty="0"/>
              <a:t>人工智能、模式识别和分布式技术也能帮助处理海量数据</a:t>
            </a:r>
          </a:p>
          <a:p>
            <a:pPr marL="282575">
              <a:lnSpc>
                <a:spcPct val="160000"/>
              </a:lnSpc>
            </a:pPr>
            <a:r>
              <a:rPr lang="zh-CN" altLang="en-US" dirty="0"/>
              <a:t>信息论、信号处理、可视化和信息检索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870A3-574E-49F4-8E64-F34654A5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</a:t>
            </a:r>
            <a:r>
              <a:rPr lang="en-US" altLang="zh-CN" dirty="0"/>
              <a:t>de</a:t>
            </a:r>
            <a:r>
              <a:rPr lang="zh-CN" altLang="en-US" dirty="0"/>
              <a:t>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FB0F3-29CF-47A0-80D2-EC2FB152E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457200" eaLnBrk="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kumimoji="0" lang="en-US" altLang="zh-CN" sz="2800" b="0" i="0" u="none" strike="noStrike" kern="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Predictive Tasks</a:t>
            </a:r>
            <a:r>
              <a:rPr kumimoji="0" lang="zh-CN" altLang="en-US" sz="2800" b="0" i="0" u="none" strike="noStrike" kern="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（预测性的任务）</a:t>
            </a:r>
            <a:endParaRPr lang="en-US" altLang="zh-CN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830262" lvl="1" indent="-457200" eaLnBrk="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Use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some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variables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to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predict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unknown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values</a:t>
            </a:r>
            <a:r>
              <a:rPr kumimoji="0" lang="en-US" altLang="zh-CN" b="0" i="0" u="none" strike="noStrike" kern="0" cap="none" spc="8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of</a:t>
            </a:r>
            <a:r>
              <a:rPr kumimoji="0" lang="en-US" altLang="zh-CN" b="0" i="0" u="none" strike="noStrike" kern="0" cap="none" spc="-16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other 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variables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</a:endParaRPr>
          </a:p>
          <a:p>
            <a:pPr marL="0" marR="0" lvl="0" indent="0" algn="l" defTabSz="914400" rtl="0" eaLnBrk="0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469900" marR="0" lvl="0" indent="-457200" algn="l" defTabSz="914400" rtl="0" eaLnBrk="0" fontAlgn="auto" latinLnBrk="0" hangingPunct="1">
              <a:lnSpc>
                <a:spcPct val="150000"/>
              </a:lnSpc>
              <a:spcBef>
                <a:spcPts val="847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800" b="0" i="0" u="none" strike="noStrike" kern="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Descriptive Tasks</a:t>
            </a:r>
            <a:r>
              <a:rPr kumimoji="0" lang="zh-CN" altLang="en-US" sz="2800" b="0" i="0" u="none" strike="noStrike" kern="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（描述性的任务）</a:t>
            </a:r>
            <a:endParaRPr lang="en-US" altLang="zh-CN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715962" lvl="1" indent="-342900" eaLnBrk="0">
              <a:lnSpc>
                <a:spcPct val="150000"/>
              </a:lnSpc>
              <a:spcBef>
                <a:spcPts val="847"/>
              </a:spcBef>
              <a:buSzTx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Find human-interpretable patterns that describe the</a:t>
            </a:r>
            <a:r>
              <a:rPr kumimoji="0" lang="en-US" altLang="zh-CN" b="0" i="0" u="none" strike="noStrike" kern="0" cap="none" spc="7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CC3399">
                    <a:alpha val="100000"/>
                  </a:srgbClr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</a:rPr>
              <a:t>data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A8AFCE-4A78-49AE-847E-D0682A54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423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448"/>
          <p:cNvSpPr/>
          <p:nvPr/>
        </p:nvSpPr>
        <p:spPr>
          <a:xfrm>
            <a:off x="183833" y="1245287"/>
            <a:ext cx="8776334" cy="3730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1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Association Rule Discovery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(Descriptive)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lang="zh-CN" altLang="en-US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关联规则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】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464184" algn="l" rtl="0" eaLnBrk="0">
              <a:lnSpc>
                <a:spcPct val="93000"/>
              </a:lnSpc>
              <a:spcBef>
                <a:spcPts val="556"/>
              </a:spcBef>
              <a:tabLst/>
            </a:pP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4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Diaper      Bee</a:t>
            </a:r>
            <a:r>
              <a:rPr sz="2400" kern="0" spc="-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400" kern="0" spc="19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[0.5%, 75%]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8000"/>
              </a:lnSpc>
              <a:spcBef>
                <a:spcPts val="914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Regression (Predictive)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lang="zh-CN" altLang="en-US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回归任务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】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739775" indent="-275590" algn="l" rtl="0" eaLnBrk="0">
              <a:lnSpc>
                <a:spcPct val="115000"/>
              </a:lnSpc>
              <a:spcBef>
                <a:spcPts val="259"/>
              </a:spcBef>
              <a:tabLst/>
            </a:pP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Predict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400" kern="0" spc="-9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given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variable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based</a:t>
            </a:r>
            <a:r>
              <a:rPr sz="2400" kern="0" spc="8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values</a:t>
            </a:r>
            <a:r>
              <a:rPr sz="2400" kern="0" spc="8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400" kern="0" spc="-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other              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variables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6000"/>
              </a:lnSpc>
              <a:spcBef>
                <a:spcPts val="197"/>
              </a:spcBef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Classification (Predictive)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lang="zh-CN" altLang="en-US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分类任务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】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747394" indent="-283209" algn="l" rtl="0" eaLnBrk="0">
              <a:lnSpc>
                <a:spcPct val="106000"/>
              </a:lnSpc>
              <a:spcBef>
                <a:spcPts val="336"/>
              </a:spcBef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Construct models (functions) that descr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ibe and distinguish classes</a:t>
            </a:r>
            <a:r>
              <a:rPr sz="2400" kern="0" spc="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or concepts for futur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prediction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916305" algn="l" rtl="0" eaLnBrk="0">
              <a:lnSpc>
                <a:spcPts val="2625"/>
              </a:lnSpc>
              <a:spcBef>
                <a:spcPts val="93"/>
              </a:spcBef>
              <a:tabLst/>
            </a:pPr>
            <a:r>
              <a:rPr sz="2000" kern="0" spc="0" dirty="0">
                <a:solidFill>
                  <a:srgbClr val="1F497D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»</a:t>
            </a:r>
            <a:r>
              <a:rPr sz="2000" kern="0" spc="340" dirty="0">
                <a:solidFill>
                  <a:srgbClr val="1F497D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E.g., labe</a:t>
            </a:r>
            <a:r>
              <a:rPr sz="2000" kern="0" spc="-1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 emails as</a:t>
            </a:r>
            <a:r>
              <a:rPr sz="2000" kern="0" spc="9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-1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spam or non-spam,</a:t>
            </a:r>
            <a:r>
              <a:rPr sz="2000" kern="0" spc="22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000" kern="0" spc="-10" dirty="0">
                <a:solidFill>
                  <a:srgbClr val="0066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…</a:t>
            </a:r>
            <a:endParaRPr sz="20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50" name="picture 4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35015" y="1743392"/>
            <a:ext cx="272795" cy="338327"/>
          </a:xfrm>
          <a:prstGeom prst="rect">
            <a:avLst/>
          </a:prstGeom>
        </p:spPr>
      </p:pic>
      <p:sp>
        <p:nvSpPr>
          <p:cNvPr id="452" name="textbox 452"/>
          <p:cNvSpPr/>
          <p:nvPr/>
        </p:nvSpPr>
        <p:spPr>
          <a:xfrm>
            <a:off x="1580935" y="252186"/>
            <a:ext cx="5115559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lang="en-US"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Mining Tasks</a:t>
            </a:r>
            <a:r>
              <a:rPr lang="en-US" sz="3900" b="1" kern="0" spc="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(1)</a:t>
            </a:r>
            <a:endParaRPr sz="3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box 464"/>
          <p:cNvSpPr/>
          <p:nvPr/>
        </p:nvSpPr>
        <p:spPr>
          <a:xfrm>
            <a:off x="312775" y="897534"/>
            <a:ext cx="7967980" cy="53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76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Cluster a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nalysis (Descriptive)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lang="zh-CN" altLang="en-US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聚类任务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】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464184" algn="l" rtl="0" eaLnBrk="0">
              <a:lnSpc>
                <a:spcPts val="3151"/>
              </a:lnSpc>
              <a:spcBef>
                <a:spcPts val="422"/>
              </a:spcBef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 label is unk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nown: group data to form</a:t>
            </a:r>
            <a:r>
              <a:rPr sz="2400" kern="0" spc="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new</a:t>
            </a:r>
            <a:r>
              <a:rPr sz="2400" kern="0" spc="8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classes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751840" indent="-287654" algn="l" rtl="0" eaLnBrk="0">
              <a:lnSpc>
                <a:spcPct val="104000"/>
              </a:lnSpc>
              <a:spcBef>
                <a:spcPts val="429"/>
              </a:spcBef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Maximizing intra-class</a:t>
            </a:r>
            <a:r>
              <a:rPr sz="2400" kern="0" spc="1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similarity &amp; minimi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zing</a:t>
            </a:r>
            <a:r>
              <a:rPr sz="2400" kern="0" spc="7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interclass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400" kern="0" spc="-2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similarity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3591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Outlier/anomaly detect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ion (Predictive)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【</a:t>
            </a:r>
            <a:r>
              <a:rPr lang="zh-CN" altLang="en-US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异常监测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】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736600" indent="-272415" algn="l" rtl="0" eaLnBrk="0">
              <a:lnSpc>
                <a:spcPct val="113000"/>
              </a:lnSpc>
              <a:spcBef>
                <a:spcPts val="418"/>
              </a:spcBef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Outlier: a data object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that does not comply with</a:t>
            </a:r>
            <a:r>
              <a:rPr sz="2400" kern="0" spc="3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2400" kern="0" spc="7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general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behavior</a:t>
            </a:r>
            <a:r>
              <a:rPr sz="2400" kern="0" spc="10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</a:t>
            </a:r>
            <a:r>
              <a:rPr sz="2400" kern="0" spc="-23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the</a:t>
            </a:r>
            <a:r>
              <a:rPr sz="2400" kern="0" spc="10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464184" algn="l" rtl="0" eaLnBrk="0">
              <a:lnSpc>
                <a:spcPts val="3078"/>
              </a:lnSpc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  Useful in</a:t>
            </a:r>
            <a:r>
              <a:rPr sz="2400" kern="0" spc="9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fraud</a:t>
            </a:r>
            <a:r>
              <a:rPr sz="2400" kern="0" spc="8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ection, rare</a:t>
            </a:r>
            <a:r>
              <a:rPr sz="2400" kern="0" spc="8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events</a:t>
            </a:r>
            <a:r>
              <a:rPr sz="2400" kern="0" spc="9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3603"/>
              </a:lnSpc>
              <a:tabLst/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28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Other pattern-directed or statistica</a:t>
            </a:r>
            <a:r>
              <a:rPr sz="28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 analyses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marL="464184" algn="l" rtl="0" eaLnBrk="0">
              <a:lnSpc>
                <a:spcPct val="88000"/>
              </a:lnSpc>
              <a:spcBef>
                <a:spcPts val="1157"/>
              </a:spcBef>
              <a:tabLst/>
            </a:pP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4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400" kern="0" spc="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Recommender sy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stems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(Predictive)</a:t>
            </a:r>
            <a:r>
              <a:rPr lang="en-US" altLang="zh-CN"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【</a:t>
            </a:r>
            <a:r>
              <a:rPr lang="zh-CN" altLang="en-US"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推荐系统</a:t>
            </a:r>
            <a:r>
              <a:rPr lang="en-US" altLang="zh-CN"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】</a:t>
            </a:r>
            <a:endParaRPr sz="1800" dirty="0">
              <a:latin typeface="Arial"/>
              <a:ea typeface="Arial"/>
              <a:cs typeface="Arial"/>
            </a:endParaRPr>
          </a:p>
          <a:p>
            <a:pPr marL="464184" algn="l" rtl="0" eaLnBrk="0">
              <a:lnSpc>
                <a:spcPts val="3151"/>
              </a:lnSpc>
              <a:spcBef>
                <a:spcPts val="331"/>
              </a:spcBef>
              <a:tabLst/>
            </a:pP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400" kern="0" spc="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lang="en-US" altLang="zh-CN" sz="2400" kern="0" spc="16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NLP </a:t>
            </a:r>
            <a:r>
              <a:rPr sz="2400" kern="0" spc="-10" dirty="0">
                <a:solidFill>
                  <a:srgbClr val="CC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Topic models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(De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scriptive)</a:t>
            </a:r>
            <a:r>
              <a:rPr lang="en-US" altLang="zh-CN"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【</a:t>
            </a:r>
            <a:r>
              <a:rPr lang="zh-CN" altLang="en-US"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主题发掘</a:t>
            </a:r>
            <a:r>
              <a:rPr lang="en-US" altLang="zh-CN"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】</a:t>
            </a:r>
          </a:p>
          <a:p>
            <a:pPr marL="464184" algn="l" rtl="0" eaLnBrk="0">
              <a:lnSpc>
                <a:spcPts val="3151"/>
              </a:lnSpc>
              <a:spcBef>
                <a:spcPts val="331"/>
              </a:spcBef>
              <a:tabLst/>
            </a:pP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1580935" y="252186"/>
            <a:ext cx="5115559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 Mining Tasks</a:t>
            </a:r>
            <a:r>
              <a:rPr sz="3900" b="1" kern="0" spc="4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(2)</a:t>
            </a:r>
            <a:endParaRPr sz="3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</a:t>
            </a:r>
            <a:r>
              <a:rPr lang="en-US" altLang="zh-CN" dirty="0"/>
              <a:t>de</a:t>
            </a:r>
            <a:r>
              <a:rPr lang="zh-CN" altLang="en-US" dirty="0"/>
              <a:t>任务：</a:t>
            </a:r>
            <a:r>
              <a:rPr lang="zh-CN" altLang="en-US" dirty="0">
                <a:latin typeface="宋体" pitchFamily="2" charset="-122"/>
              </a:rPr>
              <a:t>分类定义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70000"/>
              </a:lnSpc>
            </a:pPr>
            <a:r>
              <a:rPr lang="zh-CN" altLang="en-US" sz="3100" dirty="0"/>
              <a:t>给定一批记录</a:t>
            </a:r>
            <a:r>
              <a:rPr lang="en-US" altLang="zh-CN" sz="3100" dirty="0"/>
              <a:t>----</a:t>
            </a:r>
            <a:r>
              <a:rPr lang="zh-CN" altLang="en-US" sz="3100" dirty="0"/>
              <a:t>训练集 </a:t>
            </a:r>
            <a:r>
              <a:rPr lang="en-US" altLang="zh-CN" sz="3100" dirty="0"/>
              <a:t>(</a:t>
            </a:r>
            <a:r>
              <a:rPr lang="en-US" altLang="zh-CN" sz="3100" i="1" dirty="0">
                <a:solidFill>
                  <a:srgbClr val="CC0000"/>
                </a:solidFill>
              </a:rPr>
              <a:t>training set </a:t>
            </a:r>
            <a:r>
              <a:rPr lang="en-US" altLang="zh-CN" sz="3100" dirty="0"/>
              <a:t>)</a:t>
            </a:r>
          </a:p>
          <a:p>
            <a:pPr lvl="1" eaLnBrk="1" hangingPunct="1">
              <a:lnSpc>
                <a:spcPct val="170000"/>
              </a:lnSpc>
            </a:pPr>
            <a:r>
              <a:rPr lang="en-US" altLang="zh-CN" dirty="0"/>
              <a:t>Each record contains a set of </a:t>
            </a:r>
            <a:r>
              <a:rPr lang="en-US" altLang="zh-CN" i="1" dirty="0">
                <a:solidFill>
                  <a:srgbClr val="CC0000"/>
                </a:solidFill>
              </a:rPr>
              <a:t>attributes</a:t>
            </a:r>
            <a:r>
              <a:rPr lang="en-US" altLang="zh-CN" dirty="0"/>
              <a:t>, one of the attributes is the </a:t>
            </a:r>
            <a:r>
              <a:rPr lang="en-US" altLang="zh-CN" i="1" dirty="0">
                <a:solidFill>
                  <a:srgbClr val="CC0000"/>
                </a:solidFill>
              </a:rPr>
              <a:t>class label</a:t>
            </a:r>
            <a:r>
              <a:rPr lang="en-US" altLang="zh-CN" dirty="0"/>
              <a:t> (</a:t>
            </a:r>
            <a:r>
              <a:rPr lang="zh-CN" altLang="en-US" dirty="0"/>
              <a:t>类标号</a:t>
            </a:r>
            <a:r>
              <a:rPr lang="en-US" altLang="zh-CN" dirty="0"/>
              <a:t>) .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3100" dirty="0"/>
              <a:t>任务</a:t>
            </a:r>
            <a:r>
              <a:rPr lang="en-US" altLang="zh-CN" sz="3100" dirty="0"/>
              <a:t>: </a:t>
            </a:r>
            <a:r>
              <a:rPr lang="zh-CN" altLang="en-US" sz="3100" dirty="0"/>
              <a:t>建立一个模型</a:t>
            </a:r>
            <a:r>
              <a:rPr lang="en-US" altLang="zh-CN" sz="3100" dirty="0"/>
              <a:t>(</a:t>
            </a:r>
            <a:r>
              <a:rPr lang="en-US" altLang="zh-CN" sz="3100" i="1" dirty="0">
                <a:solidFill>
                  <a:srgbClr val="CC0000"/>
                </a:solidFill>
              </a:rPr>
              <a:t>model</a:t>
            </a:r>
            <a:r>
              <a:rPr lang="en-US" altLang="zh-CN" sz="3100" dirty="0"/>
              <a:t> )</a:t>
            </a:r>
          </a:p>
          <a:p>
            <a:pPr lvl="1" eaLnBrk="1" hangingPunct="1">
              <a:lnSpc>
                <a:spcPct val="170000"/>
              </a:lnSpc>
            </a:pPr>
            <a:r>
              <a:rPr lang="zh-CN" altLang="en-US" dirty="0"/>
              <a:t>类标号属性是其他属性值的函数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sz="3100" dirty="0"/>
              <a:t>目标</a:t>
            </a:r>
            <a:r>
              <a:rPr lang="en-US" altLang="zh-CN" sz="3100" dirty="0"/>
              <a:t>: </a:t>
            </a:r>
            <a:r>
              <a:rPr lang="en-US" altLang="zh-CN" sz="3100" u="sng" dirty="0"/>
              <a:t>previously unseen</a:t>
            </a:r>
            <a:r>
              <a:rPr lang="en-US" altLang="zh-CN" sz="3100" dirty="0"/>
              <a:t> records should be assigned a class as accurately as possible.</a:t>
            </a:r>
          </a:p>
          <a:p>
            <a:pPr lvl="1" eaLnBrk="1" hangingPunct="1">
              <a:lnSpc>
                <a:spcPct val="170000"/>
              </a:lnSpc>
            </a:pPr>
            <a:r>
              <a:rPr lang="en-US" altLang="zh-CN" dirty="0"/>
              <a:t>A </a:t>
            </a:r>
            <a:r>
              <a:rPr lang="en-US" altLang="zh-CN" i="1" dirty="0">
                <a:solidFill>
                  <a:srgbClr val="CC0000"/>
                </a:solidFill>
              </a:rPr>
              <a:t>test set</a:t>
            </a:r>
            <a:r>
              <a:rPr lang="en-US" altLang="zh-CN" dirty="0"/>
              <a:t> (</a:t>
            </a:r>
            <a:r>
              <a:rPr lang="zh-CN" altLang="en-US" dirty="0"/>
              <a:t>检验集</a:t>
            </a:r>
            <a:r>
              <a:rPr lang="en-US" altLang="zh-CN" dirty="0"/>
              <a:t>) is used to determine the accuracy of the model. </a:t>
            </a:r>
          </a:p>
          <a:p>
            <a:pPr lvl="1" eaLnBrk="1" hangingPunct="1">
              <a:lnSpc>
                <a:spcPct val="170000"/>
              </a:lnSpc>
            </a:pPr>
            <a:r>
              <a:rPr lang="en-US" altLang="zh-CN" dirty="0"/>
              <a:t>Usually, the given data set is divided into training and test sets, with training set used to build the model and test set used to validate it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20639E-CA5E-4D42-B61C-49B0E55A517F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分类</a:t>
            </a:r>
            <a:r>
              <a:rPr lang="en-US" altLang="zh-CN">
                <a:latin typeface="宋体" pitchFamily="2" charset="-122"/>
              </a:rPr>
              <a:t>:</a:t>
            </a:r>
            <a:r>
              <a:rPr lang="zh-CN" altLang="en-US">
                <a:latin typeface="宋体" pitchFamily="2" charset="-122"/>
              </a:rPr>
              <a:t>例子</a:t>
            </a:r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EE7EF7-AD1B-4902-BAA2-643A91A51255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grpSp>
        <p:nvGrpSpPr>
          <p:cNvPr id="23558" name="Group 4"/>
          <p:cNvGrpSpPr>
            <a:grpSpLocks/>
          </p:cNvGrpSpPr>
          <p:nvPr/>
        </p:nvGrpSpPr>
        <p:grpSpPr bwMode="auto">
          <a:xfrm>
            <a:off x="228600" y="2170957"/>
            <a:ext cx="8534400" cy="3498056"/>
            <a:chOff x="144" y="867"/>
            <a:chExt cx="5376" cy="2938"/>
          </a:xfrm>
        </p:grpSpPr>
        <p:graphicFrame>
          <p:nvGraphicFramePr>
            <p:cNvPr id="23559" name="Object 5"/>
            <p:cNvGraphicFramePr>
              <a:graphicFrameLocks noChangeAspect="1"/>
            </p:cNvGraphicFramePr>
            <p:nvPr/>
          </p:nvGraphicFramePr>
          <p:xfrm>
            <a:off x="144" y="1296"/>
            <a:ext cx="2246" cy="2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Document" r:id="rId3" imgW="5405628" imgH="5782056" progId="Word.Document.8">
                    <p:embed/>
                  </p:oleObj>
                </mc:Choice>
                <mc:Fallback>
                  <p:oleObj name="Document" r:id="rId3" imgW="5405628" imgH="5782056" progId="Word.Document.8">
                    <p:embed/>
                    <p:pic>
                      <p:nvPicPr>
                        <p:cNvPr id="2355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296"/>
                          <a:ext cx="2246" cy="2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0" name="Text Box 6"/>
            <p:cNvSpPr txBox="1">
              <a:spLocks noChangeArrowheads="1"/>
            </p:cNvSpPr>
            <p:nvPr/>
          </p:nvSpPr>
          <p:spPr bwMode="auto">
            <a:xfrm rot="19183191">
              <a:off x="564" y="867"/>
              <a:ext cx="72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Times New Roman" pitchFamily="18" charset="0"/>
                </a:rPr>
                <a:t>categorical</a:t>
              </a:r>
              <a:endParaRPr kumimoji="0" lang="en-US" altLang="zh-CN" sz="16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23561" name="Text Box 7"/>
            <p:cNvSpPr txBox="1">
              <a:spLocks noChangeArrowheads="1"/>
            </p:cNvSpPr>
            <p:nvPr/>
          </p:nvSpPr>
          <p:spPr bwMode="auto">
            <a:xfrm rot="19183191">
              <a:off x="1044" y="867"/>
              <a:ext cx="72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Times New Roman" pitchFamily="18" charset="0"/>
                </a:rPr>
                <a:t>categorical</a:t>
              </a:r>
              <a:endParaRPr kumimoji="0" lang="en-US" altLang="zh-CN" sz="16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23562" name="Text Box 8"/>
            <p:cNvSpPr txBox="1">
              <a:spLocks noChangeArrowheads="1"/>
            </p:cNvSpPr>
            <p:nvPr/>
          </p:nvSpPr>
          <p:spPr bwMode="auto">
            <a:xfrm rot="19183191">
              <a:off x="1530" y="867"/>
              <a:ext cx="720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Times New Roman" pitchFamily="18" charset="0"/>
                </a:rPr>
                <a:t>continuous</a:t>
              </a:r>
              <a:endParaRPr kumimoji="0" lang="en-US" altLang="zh-CN" sz="16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23563" name="Text Box 9"/>
            <p:cNvSpPr txBox="1">
              <a:spLocks noChangeArrowheads="1"/>
            </p:cNvSpPr>
            <p:nvPr/>
          </p:nvSpPr>
          <p:spPr bwMode="auto">
            <a:xfrm rot="19183191">
              <a:off x="1998" y="1011"/>
              <a:ext cx="376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rgbClr val="006600"/>
                  </a:solidFill>
                  <a:latin typeface="Times New Roman" pitchFamily="18" charset="0"/>
                </a:rPr>
                <a:t>class</a:t>
              </a:r>
              <a:endParaRPr kumimoji="0" lang="en-US" altLang="zh-CN" sz="16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356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6191869"/>
                </p:ext>
              </p:extLst>
            </p:nvPr>
          </p:nvGraphicFramePr>
          <p:xfrm>
            <a:off x="2688" y="1288"/>
            <a:ext cx="1886" cy="16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Document" r:id="rId5" imgW="4614480" imgH="4076640" progId="Word.Document.8">
                    <p:embed/>
                  </p:oleObj>
                </mc:Choice>
                <mc:Fallback>
                  <p:oleObj name="Document" r:id="rId5" imgW="4614480" imgH="4076640" progId="Word.Document.8">
                    <p:embed/>
                    <p:pic>
                      <p:nvPicPr>
                        <p:cNvPr id="2356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1288"/>
                          <a:ext cx="1886" cy="16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65" name="Group 11"/>
            <p:cNvGrpSpPr>
              <a:grpSpLocks/>
            </p:cNvGrpSpPr>
            <p:nvPr/>
          </p:nvGrpSpPr>
          <p:grpSpPr bwMode="auto">
            <a:xfrm>
              <a:off x="4848" y="2487"/>
              <a:ext cx="624" cy="477"/>
              <a:chOff x="4944" y="2736"/>
              <a:chExt cx="624" cy="477"/>
            </a:xfrm>
          </p:grpSpPr>
          <p:sp>
            <p:nvSpPr>
              <p:cNvPr id="23578" name="AutoShape 12"/>
              <p:cNvSpPr>
                <a:spLocks noChangeArrowheads="1"/>
              </p:cNvSpPr>
              <p:nvPr/>
            </p:nvSpPr>
            <p:spPr bwMode="auto">
              <a:xfrm>
                <a:off x="4944" y="2736"/>
                <a:ext cx="624" cy="432"/>
              </a:xfrm>
              <a:prstGeom prst="can">
                <a:avLst>
                  <a:gd name="adj" fmla="val 25000"/>
                </a:avLst>
              </a:prstGeom>
              <a:solidFill>
                <a:srgbClr val="CCCCFF"/>
              </a:solidFill>
              <a:ln w="127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9" name="Text Box 13"/>
              <p:cNvSpPr txBox="1">
                <a:spLocks noChangeArrowheads="1"/>
              </p:cNvSpPr>
              <p:nvPr/>
            </p:nvSpPr>
            <p:spPr bwMode="auto">
              <a:xfrm>
                <a:off x="5115" y="2856"/>
                <a:ext cx="285" cy="3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1200" b="1" dirty="0">
                    <a:solidFill>
                      <a:srgbClr val="0000CC"/>
                    </a:solidFill>
                    <a:latin typeface="Times New Roman" pitchFamily="18" charset="0"/>
                  </a:rPr>
                  <a:t>Test</a:t>
                </a:r>
              </a:p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1200" b="1" dirty="0">
                    <a:solidFill>
                      <a:srgbClr val="0000CC"/>
                    </a:solidFill>
                    <a:latin typeface="Times New Roman" pitchFamily="18" charset="0"/>
                  </a:rPr>
                  <a:t>Set</a:t>
                </a:r>
                <a:endParaRPr kumimoji="0" lang="en-US" altLang="zh-CN" sz="1200" dirty="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23566" name="AutoShape 14"/>
            <p:cNvSpPr>
              <a:spLocks noChangeArrowheads="1"/>
            </p:cNvSpPr>
            <p:nvPr/>
          </p:nvSpPr>
          <p:spPr bwMode="auto">
            <a:xfrm>
              <a:off x="2448" y="3207"/>
              <a:ext cx="624" cy="432"/>
            </a:xfrm>
            <a:prstGeom prst="can">
              <a:avLst>
                <a:gd name="adj" fmla="val 25056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2463" y="3300"/>
              <a:ext cx="609" cy="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chemeClr val="tx2"/>
                  </a:solidFill>
                  <a:latin typeface="Times New Roman" pitchFamily="18" charset="0"/>
                </a:rPr>
                <a:t>Training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1600" b="1" dirty="0">
                  <a:solidFill>
                    <a:schemeClr val="tx2"/>
                  </a:solidFill>
                  <a:latin typeface="Times New Roman" pitchFamily="18" charset="0"/>
                </a:rPr>
                <a:t>Set</a:t>
              </a:r>
              <a:endParaRPr kumimoji="0" lang="en-US" altLang="zh-CN" sz="1400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23568" name="Group 16"/>
            <p:cNvGrpSpPr>
              <a:grpSpLocks/>
            </p:cNvGrpSpPr>
            <p:nvPr/>
          </p:nvGrpSpPr>
          <p:grpSpPr bwMode="auto">
            <a:xfrm>
              <a:off x="4811" y="3203"/>
              <a:ext cx="709" cy="439"/>
              <a:chOff x="3360" y="2880"/>
              <a:chExt cx="672" cy="419"/>
            </a:xfrm>
          </p:grpSpPr>
          <p:sp>
            <p:nvSpPr>
              <p:cNvPr id="23576" name="AutoShape 17"/>
              <p:cNvSpPr>
                <a:spLocks noChangeArrowheads="1"/>
              </p:cNvSpPr>
              <p:nvPr/>
            </p:nvSpPr>
            <p:spPr bwMode="auto">
              <a:xfrm>
                <a:off x="3360" y="2880"/>
                <a:ext cx="672" cy="415"/>
              </a:xfrm>
              <a:prstGeom prst="flowChartMultidocument">
                <a:avLst/>
              </a:prstGeom>
              <a:solidFill>
                <a:srgbClr val="00E0CB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7" name="Text Box 18"/>
              <p:cNvSpPr txBox="1">
                <a:spLocks noChangeArrowheads="1"/>
              </p:cNvSpPr>
              <p:nvPr/>
            </p:nvSpPr>
            <p:spPr bwMode="auto">
              <a:xfrm>
                <a:off x="3412" y="2978"/>
                <a:ext cx="527" cy="3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marL="342900" indent="-3429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r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kumimoji="0" lang="en-US" altLang="zh-CN" sz="2000" b="1" dirty="0">
                    <a:solidFill>
                      <a:srgbClr val="CC0000"/>
                    </a:solidFill>
                    <a:latin typeface="Times New Roman" pitchFamily="18" charset="0"/>
                  </a:rPr>
                  <a:t>Model</a:t>
                </a:r>
                <a:endParaRPr kumimoji="0" lang="en-US" altLang="zh-CN" sz="1400" dirty="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23569" name="AutoShape 19"/>
            <p:cNvSpPr>
              <a:spLocks noChangeArrowheads="1"/>
            </p:cNvSpPr>
            <p:nvPr/>
          </p:nvSpPr>
          <p:spPr bwMode="auto">
            <a:xfrm>
              <a:off x="3456" y="3111"/>
              <a:ext cx="912" cy="627"/>
            </a:xfrm>
            <a:prstGeom prst="bevel">
              <a:avLst>
                <a:gd name="adj" fmla="val 12500"/>
              </a:avLst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Text Box 20"/>
            <p:cNvSpPr txBox="1">
              <a:spLocks noChangeArrowheads="1"/>
            </p:cNvSpPr>
            <p:nvPr/>
          </p:nvSpPr>
          <p:spPr bwMode="auto">
            <a:xfrm>
              <a:off x="3536" y="3159"/>
              <a:ext cx="770" cy="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b="1" dirty="0">
                  <a:solidFill>
                    <a:srgbClr val="000000"/>
                  </a:solidFill>
                  <a:latin typeface="Times New Roman" pitchFamily="18" charset="0"/>
                </a:rPr>
                <a:t>Learn </a:t>
              </a:r>
            </a:p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kumimoji="0" lang="en-US" altLang="zh-CN" sz="2000" b="1" dirty="0">
                  <a:solidFill>
                    <a:srgbClr val="000000"/>
                  </a:solidFill>
                  <a:latin typeface="Times New Roman" pitchFamily="18" charset="0"/>
                </a:rPr>
                <a:t>Classifier</a:t>
              </a:r>
              <a:endParaRPr kumimoji="0" lang="en-US" altLang="zh-CN" sz="1400" dirty="0">
                <a:solidFill>
                  <a:srgbClr val="00E0CB"/>
                </a:solidFill>
                <a:latin typeface="Times New Roman" pitchFamily="18" charset="0"/>
              </a:endParaRPr>
            </a:p>
          </p:txBody>
        </p:sp>
        <p:sp>
          <p:nvSpPr>
            <p:cNvPr id="23571" name="AutoShape 21"/>
            <p:cNvSpPr>
              <a:spLocks noChangeArrowheads="1"/>
            </p:cNvSpPr>
            <p:nvPr/>
          </p:nvSpPr>
          <p:spPr bwMode="auto">
            <a:xfrm>
              <a:off x="3142" y="3370"/>
              <a:ext cx="305" cy="89"/>
            </a:xfrm>
            <a:prstGeom prst="rightArrow">
              <a:avLst>
                <a:gd name="adj1" fmla="val 50000"/>
                <a:gd name="adj2" fmla="val 85674"/>
              </a:avLst>
            </a:prstGeom>
            <a:solidFill>
              <a:srgbClr val="CC0000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AutoShape 22"/>
            <p:cNvSpPr>
              <a:spLocks noChangeArrowheads="1"/>
            </p:cNvSpPr>
            <p:nvPr/>
          </p:nvSpPr>
          <p:spPr bwMode="auto">
            <a:xfrm>
              <a:off x="4416" y="3348"/>
              <a:ext cx="305" cy="89"/>
            </a:xfrm>
            <a:prstGeom prst="rightArrow">
              <a:avLst>
                <a:gd name="adj1" fmla="val 50000"/>
                <a:gd name="adj2" fmla="val 85674"/>
              </a:avLst>
            </a:prstGeom>
            <a:solidFill>
              <a:srgbClr val="CC0000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AutoShape 23"/>
            <p:cNvSpPr>
              <a:spLocks noChangeArrowheads="1"/>
            </p:cNvSpPr>
            <p:nvPr/>
          </p:nvSpPr>
          <p:spPr bwMode="auto">
            <a:xfrm rot="5400000">
              <a:off x="5085" y="3018"/>
              <a:ext cx="197" cy="96"/>
            </a:xfrm>
            <a:prstGeom prst="rightArrow">
              <a:avLst>
                <a:gd name="adj1" fmla="val 50000"/>
                <a:gd name="adj2" fmla="val 51302"/>
              </a:avLst>
            </a:prstGeom>
            <a:solidFill>
              <a:srgbClr val="CC0000"/>
            </a:solidFill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24"/>
            <p:cNvSpPr>
              <a:spLocks noChangeShapeType="1"/>
            </p:cNvSpPr>
            <p:nvPr/>
          </p:nvSpPr>
          <p:spPr bwMode="auto">
            <a:xfrm>
              <a:off x="2304" y="2823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Line 25"/>
            <p:cNvSpPr>
              <a:spLocks noChangeShapeType="1"/>
            </p:cNvSpPr>
            <p:nvPr/>
          </p:nvSpPr>
          <p:spPr bwMode="auto">
            <a:xfrm>
              <a:off x="4608" y="2151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分类</a:t>
            </a:r>
            <a:r>
              <a:rPr lang="en-US" altLang="zh-CN">
                <a:latin typeface="宋体" pitchFamily="2" charset="-122"/>
              </a:rPr>
              <a:t>:</a:t>
            </a:r>
            <a:r>
              <a:rPr lang="zh-CN" altLang="en-US">
                <a:latin typeface="宋体" pitchFamily="2" charset="-122"/>
              </a:rPr>
              <a:t>应用</a:t>
            </a:r>
            <a:r>
              <a:rPr lang="en-US" altLang="zh-CN">
                <a:latin typeface="宋体" pitchFamily="2" charset="-122"/>
              </a:rPr>
              <a:t>1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Direct Marketing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Goal: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Reduce cost of mailing by </a:t>
            </a:r>
            <a:r>
              <a:rPr lang="en-US" altLang="zh-CN" i="1" dirty="0">
                <a:solidFill>
                  <a:srgbClr val="FF0066"/>
                </a:solidFill>
              </a:rPr>
              <a:t>targeting</a:t>
            </a:r>
            <a:r>
              <a:rPr lang="en-US" altLang="zh-CN" dirty="0"/>
              <a:t> a set of consumers likely to buy a new cell-phone product.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Approach: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Use the data for a similar product introduced before.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We know which customers decided to buy and which decided otherwise. This </a:t>
            </a:r>
            <a:r>
              <a:rPr lang="en-US" altLang="zh-CN" dirty="0">
                <a:solidFill>
                  <a:srgbClr val="0000FF"/>
                </a:solidFill>
              </a:rPr>
              <a:t>{</a:t>
            </a:r>
            <a:r>
              <a:rPr lang="en-US" altLang="zh-CN" i="1" dirty="0">
                <a:solidFill>
                  <a:srgbClr val="0000FF"/>
                </a:solidFill>
              </a:rPr>
              <a:t>buy, don’t buy</a:t>
            </a:r>
            <a:r>
              <a:rPr lang="en-US" altLang="zh-CN" dirty="0">
                <a:solidFill>
                  <a:srgbClr val="0000FF"/>
                </a:solidFill>
              </a:rPr>
              <a:t>}</a:t>
            </a:r>
            <a:r>
              <a:rPr lang="en-US" altLang="zh-CN" dirty="0"/>
              <a:t> decision forms the </a:t>
            </a:r>
            <a:r>
              <a:rPr lang="en-US" altLang="zh-CN" i="1" dirty="0">
                <a:solidFill>
                  <a:srgbClr val="0000FF"/>
                </a:solidFill>
              </a:rPr>
              <a:t>class attribute</a:t>
            </a:r>
            <a:r>
              <a:rPr lang="en-US" altLang="zh-CN" dirty="0"/>
              <a:t>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Collect various demographic, lifestyle, and company-interaction related information about all such customers.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dirty="0"/>
              <a:t>Type of business, where they stay, how much they earn, etc.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Use this information as input attributes to learn a classifier model.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7836A3-2B0E-48E4-9FE1-C6374F316DA8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分类</a:t>
            </a:r>
            <a:r>
              <a:rPr lang="en-US" altLang="zh-CN">
                <a:latin typeface="宋体" pitchFamily="2" charset="-122"/>
              </a:rPr>
              <a:t>:</a:t>
            </a:r>
            <a:r>
              <a:rPr lang="zh-CN" altLang="en-US">
                <a:latin typeface="宋体" pitchFamily="2" charset="-122"/>
              </a:rPr>
              <a:t>应用</a:t>
            </a:r>
            <a:r>
              <a:rPr lang="en-US" altLang="zh-CN">
                <a:latin typeface="宋体" pitchFamily="2" charset="-122"/>
              </a:rPr>
              <a:t>2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Fraud Detection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Goal: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Predict fraudulent cases in credit card transactions.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Approach: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Use credit card transactions and the information on its account-holder as attributes.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dirty="0"/>
              <a:t>When does a customer buy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dirty="0"/>
              <a:t>what does he buy</a:t>
            </a:r>
          </a:p>
          <a:p>
            <a:pPr lvl="3" eaLnBrk="1" hangingPunct="1">
              <a:lnSpc>
                <a:spcPct val="150000"/>
              </a:lnSpc>
            </a:pPr>
            <a:r>
              <a:rPr lang="en-US" altLang="zh-CN" dirty="0"/>
              <a:t>how often he pays on time, </a:t>
            </a:r>
            <a:r>
              <a:rPr lang="en-US" altLang="zh-CN" dirty="0" err="1"/>
              <a:t>etc</a:t>
            </a:r>
            <a:endParaRPr lang="en-US" altLang="zh-CN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Label past transactions as fraud or fair transactions. This forms the class attribute.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Learn a model for the class of the transactions.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Use this model to detect fraud by observing credit card transactions on an account.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712AC8-99FA-4E42-A44D-C94119C8B305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pic>
        <p:nvPicPr>
          <p:cNvPr id="41986" name="Picture 2" descr="https://timgsa.baidu.com/timg?image&amp;quality=80&amp;size=b9999_10000&amp;sec=1563441402882&amp;di=ff611ec41224f187fb9edfdb112c0a1e&amp;imgtype=0&amp;src=http%3A%2F%2Fappsdiscover.com%2Fwp-content%2Fuploads%2F2017%2F06%2Ffraud-detection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90" y="954405"/>
            <a:ext cx="3478426" cy="208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分类</a:t>
            </a:r>
            <a:r>
              <a:rPr lang="en-US" altLang="zh-CN">
                <a:latin typeface="宋体" pitchFamily="2" charset="-122"/>
              </a:rPr>
              <a:t>:</a:t>
            </a:r>
            <a:r>
              <a:rPr lang="zh-CN" altLang="en-US">
                <a:latin typeface="宋体" pitchFamily="2" charset="-122"/>
              </a:rPr>
              <a:t>应用</a:t>
            </a:r>
            <a:r>
              <a:rPr lang="en-US" altLang="zh-CN">
                <a:latin typeface="宋体" pitchFamily="2" charset="-122"/>
              </a:rPr>
              <a:t>3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Sky Survey Cataloging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dirty="0"/>
              <a:t>Goal: To predict class (star or galaxy) of sky objects, especially visually faint ones, based on the telescopic survey images (from Palomar Observatory).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dirty="0"/>
              <a:t>3000 images with 23,040 x 23,040 pixels per image.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Approach: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Segment the image. 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Measure image attributes (features) - 40 of them per object.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Model the class based on these features.</a:t>
            </a:r>
          </a:p>
          <a:p>
            <a:pPr lvl="2" eaLnBrk="1" hangingPunct="1">
              <a:lnSpc>
                <a:spcPct val="150000"/>
              </a:lnSpc>
            </a:pPr>
            <a:r>
              <a:rPr lang="en-US" altLang="zh-CN" dirty="0"/>
              <a:t>Success Story: Could find 16 new high red-shift quasars, some of the farthest objects that are difficult to find!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2C0CF5-EAC0-4226-9BDF-FB79981C5BEA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itchFamily="2" charset="-122"/>
              </a:rPr>
              <a:t>分类</a:t>
            </a:r>
            <a:r>
              <a:rPr lang="en-US" altLang="zh-CN">
                <a:latin typeface="宋体" pitchFamily="2" charset="-122"/>
              </a:rPr>
              <a:t>:</a:t>
            </a:r>
            <a:r>
              <a:rPr lang="zh-CN" altLang="en-US">
                <a:latin typeface="宋体" pitchFamily="2" charset="-122"/>
              </a:rPr>
              <a:t>应用</a:t>
            </a:r>
            <a:r>
              <a:rPr lang="en-US" altLang="zh-CN">
                <a:latin typeface="宋体" pitchFamily="2" charset="-122"/>
              </a:rPr>
              <a:t>3</a:t>
            </a: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E02715-BD30-4486-83B7-59DDC56F9B36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grpSp>
        <p:nvGrpSpPr>
          <p:cNvPr id="27654" name="Group 4"/>
          <p:cNvGrpSpPr>
            <a:grpSpLocks/>
          </p:cNvGrpSpPr>
          <p:nvPr/>
        </p:nvGrpSpPr>
        <p:grpSpPr bwMode="auto">
          <a:xfrm>
            <a:off x="381002" y="1242644"/>
            <a:ext cx="8292786" cy="4659715"/>
            <a:chOff x="240" y="134"/>
            <a:chExt cx="5376" cy="4020"/>
          </a:xfrm>
        </p:grpSpPr>
        <p:sp>
          <p:nvSpPr>
            <p:cNvPr id="27655" name="Text Box 5"/>
            <p:cNvSpPr txBox="1">
              <a:spLocks noChangeArrowheads="1"/>
            </p:cNvSpPr>
            <p:nvPr/>
          </p:nvSpPr>
          <p:spPr bwMode="auto">
            <a:xfrm>
              <a:off x="3939" y="1053"/>
              <a:ext cx="1677" cy="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73038" indent="-173038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1800" b="1">
                  <a:latin typeface="Times New Roman" pitchFamily="18" charset="0"/>
                </a:rPr>
                <a:t>Attributes:</a:t>
              </a:r>
            </a:p>
            <a:p>
              <a:pPr>
                <a:buFontTx/>
                <a:buChar char="•"/>
              </a:pPr>
              <a:r>
                <a:rPr kumimoji="0" lang="en-US" altLang="zh-CN" sz="1600" b="1">
                  <a:latin typeface="Times New Roman" pitchFamily="18" charset="0"/>
                </a:rPr>
                <a:t>Image features, </a:t>
              </a:r>
            </a:p>
            <a:p>
              <a:pPr>
                <a:buFontTx/>
                <a:buChar char="•"/>
              </a:pPr>
              <a:r>
                <a:rPr kumimoji="0" lang="en-US" altLang="zh-CN" sz="1600" b="1">
                  <a:latin typeface="Times New Roman" pitchFamily="18" charset="0"/>
                </a:rPr>
                <a:t>Characteristics of light waves received, etc.</a:t>
              </a:r>
            </a:p>
          </p:txBody>
        </p:sp>
        <p:grpSp>
          <p:nvGrpSpPr>
            <p:cNvPr id="27656" name="Group 6"/>
            <p:cNvGrpSpPr>
              <a:grpSpLocks/>
            </p:cNvGrpSpPr>
            <p:nvPr/>
          </p:nvGrpSpPr>
          <p:grpSpPr bwMode="auto">
            <a:xfrm>
              <a:off x="240" y="134"/>
              <a:ext cx="5313" cy="4020"/>
              <a:chOff x="240" y="134"/>
              <a:chExt cx="5313" cy="4020"/>
            </a:xfrm>
          </p:grpSpPr>
          <p:grpSp>
            <p:nvGrpSpPr>
              <p:cNvPr id="27657" name="Group 7"/>
              <p:cNvGrpSpPr>
                <a:grpSpLocks/>
              </p:cNvGrpSpPr>
              <p:nvPr/>
            </p:nvGrpSpPr>
            <p:grpSpPr bwMode="auto">
              <a:xfrm>
                <a:off x="240" y="1056"/>
                <a:ext cx="5313" cy="3098"/>
                <a:chOff x="240" y="1056"/>
                <a:chExt cx="5313" cy="3098"/>
              </a:xfrm>
            </p:grpSpPr>
            <p:pic>
              <p:nvPicPr>
                <p:cNvPr id="27659" name="Picture 8" descr="early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36" y="1296"/>
                  <a:ext cx="1632" cy="1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660" name="Picture 9" descr="intermediate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32" y="2071"/>
                  <a:ext cx="1632" cy="12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661" name="Picture 10" descr="late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888" y="2582"/>
                  <a:ext cx="1665" cy="1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66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912" y="1057"/>
                  <a:ext cx="461" cy="3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r>
                    <a:rPr kumimoji="0" lang="en-US" altLang="zh-CN" sz="1800" b="1" i="1">
                      <a:latin typeface="Times New Roman" pitchFamily="18" charset="0"/>
                    </a:rPr>
                    <a:t>Early</a:t>
                  </a:r>
                  <a:endParaRPr kumimoji="0" lang="en-US" altLang="zh-CN" sz="2800" b="1">
                    <a:latin typeface="Times New Roman" pitchFamily="18" charset="0"/>
                  </a:endParaRPr>
                </a:p>
              </p:txBody>
            </p:sp>
            <p:sp>
              <p:nvSpPr>
                <p:cNvPr id="2766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448" y="1729"/>
                  <a:ext cx="909" cy="3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r>
                    <a:rPr kumimoji="0" lang="en-US" altLang="zh-CN" sz="1800" b="1" i="1">
                      <a:latin typeface="Times New Roman" pitchFamily="18" charset="0"/>
                    </a:rPr>
                    <a:t>Intermediate</a:t>
                  </a:r>
                  <a:endParaRPr kumimoji="0" lang="en-US" altLang="zh-CN" b="1" i="1">
                    <a:latin typeface="Times New Roman" pitchFamily="18" charset="0"/>
                  </a:endParaRPr>
                </a:p>
              </p:txBody>
            </p:sp>
            <p:sp>
              <p:nvSpPr>
                <p:cNvPr id="2766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512" y="2353"/>
                  <a:ext cx="394" cy="31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r>
                    <a:rPr kumimoji="0" lang="en-US" altLang="zh-CN" sz="1800" b="1" i="1">
                      <a:latin typeface="Times New Roman" pitchFamily="18" charset="0"/>
                    </a:rPr>
                    <a:t>Late</a:t>
                  </a:r>
                  <a:endParaRPr kumimoji="0" lang="en-US" altLang="zh-CN" sz="2800" b="1">
                    <a:latin typeface="Times New Roman" pitchFamily="18" charset="0"/>
                  </a:endParaRPr>
                </a:p>
              </p:txBody>
            </p:sp>
            <p:sp>
              <p:nvSpPr>
                <p:cNvPr id="2766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0" y="3172"/>
                  <a:ext cx="2227" cy="9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marL="173038" indent="-173038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r>
                    <a:rPr kumimoji="0" lang="en-US" altLang="zh-CN" sz="1800" b="1">
                      <a:latin typeface="Times New Roman" pitchFamily="18" charset="0"/>
                    </a:rPr>
                    <a:t>Data Size: </a:t>
                  </a:r>
                </a:p>
                <a:p>
                  <a:pPr>
                    <a:buFontTx/>
                    <a:buChar char="•"/>
                  </a:pPr>
                  <a:r>
                    <a:rPr kumimoji="0" lang="en-US" altLang="zh-CN" sz="1600" b="1">
                      <a:latin typeface="Times New Roman" pitchFamily="18" charset="0"/>
                    </a:rPr>
                    <a:t>72 million stars, 20 million galaxies</a:t>
                  </a:r>
                </a:p>
                <a:p>
                  <a:pPr>
                    <a:buFontTx/>
                    <a:buChar char="•"/>
                  </a:pPr>
                  <a:r>
                    <a:rPr kumimoji="0" lang="en-US" altLang="zh-CN" sz="1600" b="1">
                      <a:latin typeface="Times New Roman" pitchFamily="18" charset="0"/>
                    </a:rPr>
                    <a:t>Object Catalog: 9 GB</a:t>
                  </a:r>
                </a:p>
                <a:p>
                  <a:pPr>
                    <a:buFontTx/>
                    <a:buChar char="•"/>
                  </a:pPr>
                  <a:r>
                    <a:rPr kumimoji="0" lang="en-US" altLang="zh-CN" sz="1600" b="1">
                      <a:latin typeface="Times New Roman" pitchFamily="18" charset="0"/>
                    </a:rPr>
                    <a:t>Image Database: 150 GB</a:t>
                  </a:r>
                  <a:r>
                    <a:rPr kumimoji="0" lang="en-US" altLang="zh-CN" sz="1800" b="1">
                      <a:latin typeface="Times New Roman" pitchFamily="18" charset="0"/>
                    </a:rPr>
                    <a:t> </a:t>
                  </a:r>
                  <a:endParaRPr kumimoji="0" lang="en-US" altLang="zh-CN" b="1">
                    <a:latin typeface="Times New Roman" pitchFamily="18" charset="0"/>
                  </a:endParaRPr>
                </a:p>
              </p:txBody>
            </p:sp>
            <p:sp>
              <p:nvSpPr>
                <p:cNvPr id="2766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256" y="1056"/>
                  <a:ext cx="1585" cy="5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marL="173038" indent="-173038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r>
                    <a:rPr kumimoji="0" lang="en-US" altLang="zh-CN" sz="1800" b="1" dirty="0">
                      <a:latin typeface="Times New Roman" pitchFamily="18" charset="0"/>
                    </a:rPr>
                    <a:t>Class: </a:t>
                  </a:r>
                </a:p>
                <a:p>
                  <a:pPr>
                    <a:buFontTx/>
                    <a:buChar char="•"/>
                  </a:pPr>
                  <a:r>
                    <a:rPr kumimoji="0" lang="en-US" altLang="zh-CN" sz="1600" b="1" dirty="0">
                      <a:latin typeface="Times New Roman" pitchFamily="18" charset="0"/>
                    </a:rPr>
                    <a:t>Stages of Formation</a:t>
                  </a:r>
                  <a:endParaRPr kumimoji="0" lang="en-US" altLang="zh-CN" sz="1800" b="1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27658" name="Text Box 16"/>
              <p:cNvSpPr txBox="1">
                <a:spLocks noChangeArrowheads="1"/>
              </p:cNvSpPr>
              <p:nvPr/>
            </p:nvSpPr>
            <p:spPr bwMode="auto">
              <a:xfrm>
                <a:off x="336" y="134"/>
                <a:ext cx="2227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r>
                  <a:rPr kumimoji="0" lang="en-US" altLang="zh-CN" sz="1600" b="1" dirty="0">
                    <a:latin typeface="Times New Roman" pitchFamily="18" charset="0"/>
                  </a:rPr>
                  <a:t>Courtesy: http://aps.umn.edu</a:t>
                </a: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</a:t>
            </a:r>
            <a:r>
              <a:rPr lang="en-US" altLang="zh-CN" dirty="0"/>
              <a:t>de</a:t>
            </a:r>
            <a:r>
              <a:rPr lang="zh-CN" altLang="en-US" dirty="0"/>
              <a:t>任务：聚类分析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）定义</a:t>
            </a:r>
          </a:p>
          <a:p>
            <a:pPr lvl="1"/>
            <a:r>
              <a:rPr lang="zh-CN" altLang="en-US" dirty="0"/>
              <a:t>聚类 </a:t>
            </a:r>
            <a:r>
              <a:rPr lang="en-US" altLang="zh-CN" dirty="0"/>
              <a:t>(clustering)</a:t>
            </a:r>
            <a:r>
              <a:rPr lang="zh-CN" altLang="en-US" dirty="0"/>
              <a:t>：与分类和预测不同，它主要分析数据对象，而不考虑已知的类标记。</a:t>
            </a:r>
          </a:p>
          <a:p>
            <a:pPr lvl="1"/>
            <a:r>
              <a:rPr lang="zh-CN" altLang="en-US" dirty="0"/>
              <a:t>一般情况下，训练数据中不提供类标记，因为不知道从何开始。聚类可以用于产生这种标记。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）聚类或分组的原则</a:t>
            </a:r>
          </a:p>
          <a:p>
            <a:pPr lvl="1"/>
            <a:r>
              <a:rPr lang="zh-CN" altLang="en-US" dirty="0"/>
              <a:t>“最大化类内的相似性、最小化类间的相似性”</a:t>
            </a:r>
          </a:p>
          <a:p>
            <a:pPr lvl="1"/>
            <a:r>
              <a:rPr lang="zh-CN" altLang="en-US" dirty="0"/>
              <a:t>对象的簇（聚类）的形成办法为：使得在一个簇中的对象具有很高的相似性，而与其它簇中的对象很不相似。所形成的每个簇可以看作一个对象类，由它可以导出规则。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聚类（</a:t>
            </a:r>
            <a:r>
              <a:rPr lang="en-US" altLang="zh-CN" dirty="0"/>
              <a:t>Clustering</a:t>
            </a:r>
            <a:r>
              <a:rPr lang="zh-CN" altLang="en-US" dirty="0">
                <a:latin typeface="宋体" pitchFamily="2" charset="-122"/>
              </a:rPr>
              <a:t>）</a:t>
            </a:r>
            <a:r>
              <a:rPr lang="zh-CN" altLang="en-US" dirty="0"/>
              <a:t> 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itchFamily="2" charset="-122"/>
              </a:rPr>
              <a:t>聚类（</a:t>
            </a:r>
            <a:r>
              <a:rPr lang="en-US" altLang="zh-CN" dirty="0"/>
              <a:t>Clustering</a:t>
            </a:r>
            <a:r>
              <a:rPr lang="zh-CN" altLang="en-US" dirty="0">
                <a:latin typeface="宋体" pitchFamily="2" charset="-122"/>
              </a:rPr>
              <a:t>）是将物理或抽象的对象集合分成多个组的过程，聚类生成的组称为簇（</a:t>
            </a:r>
            <a:r>
              <a:rPr lang="en-US" altLang="zh-CN" dirty="0"/>
              <a:t>Cluster</a:t>
            </a:r>
            <a:r>
              <a:rPr lang="zh-CN" altLang="en-US" dirty="0">
                <a:latin typeface="宋体" pitchFamily="2" charset="-122"/>
              </a:rPr>
              <a:t>），即簇是数据对象的集合。</a:t>
            </a:r>
            <a:endParaRPr lang="en-US" altLang="zh-CN" dirty="0">
              <a:latin typeface="宋体" pitchFamily="2" charset="-122"/>
            </a:endParaRPr>
          </a:p>
          <a:p>
            <a:r>
              <a:rPr lang="zh-CN" altLang="en-US" dirty="0">
                <a:latin typeface="宋体" pitchFamily="2" charset="-122"/>
              </a:rPr>
              <a:t>聚类就是要让生成的簇内部的任意两个对象之间具有较高的相似度，而属于不同簇的两个对象间具有较高的相异度。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</a:t>
            </a: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1282556" y="2343152"/>
            <a:ext cx="2787943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0" hangingPunct="0"/>
            <a:r>
              <a:rPr lang="en-US" altLang="zh-CN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Intracluster distances</a:t>
            </a:r>
          </a:p>
          <a:p>
            <a:pPr algn="ctr" eaLnBrk="0" hangingPunct="0"/>
            <a:r>
              <a:rPr lang="en-US" altLang="zh-CN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are minimized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5492561" y="2343152"/>
            <a:ext cx="2140330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defPPr>
              <a:defRPr lang="zh-CN"/>
            </a:defPPr>
            <a:lvl1pPr algn="ctr" eaLnBrk="0" hangingPunct="0">
              <a:defRPr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 err="1"/>
              <a:t>Intercluster</a:t>
            </a:r>
            <a:r>
              <a:rPr lang="en-US" altLang="zh-CN" dirty="0"/>
              <a:t> distances</a:t>
            </a:r>
          </a:p>
          <a:p>
            <a:r>
              <a:rPr lang="en-US" altLang="zh-CN" dirty="0"/>
              <a:t>are maximized</a:t>
            </a:r>
          </a:p>
        </p:txBody>
      </p:sp>
      <p:grpSp>
        <p:nvGrpSpPr>
          <p:cNvPr id="172037" name="Group 5"/>
          <p:cNvGrpSpPr>
            <a:grpSpLocks/>
          </p:cNvGrpSpPr>
          <p:nvPr/>
        </p:nvGrpSpPr>
        <p:grpSpPr bwMode="auto">
          <a:xfrm>
            <a:off x="3276600" y="3257550"/>
            <a:ext cx="3048000" cy="2439702"/>
            <a:chOff x="2160" y="2544"/>
            <a:chExt cx="1920" cy="1687"/>
          </a:xfrm>
        </p:grpSpPr>
        <p:sp>
          <p:nvSpPr>
            <p:cNvPr id="172038" name="Line 6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9" name="Line 7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0" name="Freeform 8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1" name="AutoShape 9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2" name="AutoShape 10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3" name="AutoShape 11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4" name="AutoShape 12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5" name="AutoShape 13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6" name="AutoShape 14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7" name="AutoShape 15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8" name="AutoShape 16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49" name="AutoShape 17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0" name="AutoShape 18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1" name="AutoShape 19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2" name="AutoShape 20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3" name="AutoShape 21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4" name="AutoShape 22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5" name="AutoShape 23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6" name="AutoShape 24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7" name="AutoShape 25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8" name="AutoShape 26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59" name="AutoShape 27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0" name="AutoShape 28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1" name="AutoShape 29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2" name="AutoShape 30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63" name="AutoShape 31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r>
              <a:rPr lang="en-US" altLang="zh-CN"/>
              <a:t>: </a:t>
            </a:r>
            <a:r>
              <a:rPr lang="zh-CN" altLang="en-US"/>
              <a:t>定义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给定一组具有多个属性的数据点，以及点与点的相似性衡量方法，则聚类即为使</a:t>
            </a:r>
            <a:endParaRPr lang="en-US" altLang="zh-CN" dirty="0"/>
          </a:p>
          <a:p>
            <a:pPr lvl="1"/>
            <a:r>
              <a:rPr lang="zh-CN" altLang="en-US" dirty="0"/>
              <a:t>同一个簇中的点较与其他簇中的点更相似</a:t>
            </a:r>
            <a:endParaRPr lang="en-US" altLang="zh-CN" dirty="0"/>
          </a:p>
          <a:p>
            <a:pPr lvl="1"/>
            <a:r>
              <a:rPr lang="zh-CN" altLang="en-US" dirty="0"/>
              <a:t>不同簇中的点比同一个簇中的点的相似性更弱</a:t>
            </a:r>
            <a:endParaRPr lang="en-US" altLang="zh-CN" dirty="0"/>
          </a:p>
          <a:p>
            <a:r>
              <a:rPr lang="zh-CN" altLang="en-US" dirty="0"/>
              <a:t>相似性测度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欧几里得距离（对于连续属性）</a:t>
            </a:r>
            <a:endParaRPr lang="en-US" altLang="zh-CN" dirty="0"/>
          </a:p>
          <a:p>
            <a:pPr lvl="1"/>
            <a:r>
              <a:rPr lang="zh-CN" altLang="en-US" dirty="0"/>
              <a:t>其他针对不同问题的测度方法</a:t>
            </a:r>
            <a:endParaRPr lang="en-US" altLang="zh-CN" dirty="0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02F76A-AADD-4433-84E1-71A61F76B9A4}" type="slidenum">
              <a:rPr lang="en-US" altLang="zh-CN" smtClean="0"/>
              <a:pPr/>
              <a:t>41</a:t>
            </a:fld>
            <a:endParaRPr lang="en-US" altLang="zh-CN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926" y="3799761"/>
            <a:ext cx="4340570" cy="2156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聚类</a:t>
            </a:r>
            <a:r>
              <a:rPr lang="en-US" altLang="zh-CN"/>
              <a:t>: </a:t>
            </a:r>
            <a:r>
              <a:rPr lang="zh-CN" altLang="en-US"/>
              <a:t>应用</a:t>
            </a:r>
            <a:r>
              <a:rPr lang="en-US" altLang="zh-CN"/>
              <a:t>1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Market Segmentation:</a:t>
            </a:r>
          </a:p>
          <a:p>
            <a:pPr lvl="1"/>
            <a:r>
              <a:rPr lang="en-US" altLang="zh-CN"/>
              <a:t>Goal: </a:t>
            </a:r>
          </a:p>
          <a:p>
            <a:pPr lvl="2"/>
            <a:r>
              <a:rPr lang="en-US" altLang="zh-CN"/>
              <a:t>subdivide a market into distinct subsets of customers where any subset may conceivably be selected as a market target to be reached with a distinct marketing mix.</a:t>
            </a:r>
          </a:p>
          <a:p>
            <a:pPr lvl="1"/>
            <a:r>
              <a:rPr lang="en-US" altLang="zh-CN"/>
              <a:t>Approach: </a:t>
            </a:r>
          </a:p>
          <a:p>
            <a:pPr lvl="2"/>
            <a:r>
              <a:rPr lang="en-US" altLang="zh-CN"/>
              <a:t>Collect different attributes of customers based on their geographical and lifestyle related information.</a:t>
            </a:r>
          </a:p>
          <a:p>
            <a:pPr lvl="2"/>
            <a:r>
              <a:rPr lang="en-US" altLang="zh-CN"/>
              <a:t>Find clusters of similar customers.</a:t>
            </a:r>
          </a:p>
          <a:p>
            <a:pPr lvl="2"/>
            <a:r>
              <a:rPr lang="en-US" altLang="zh-CN"/>
              <a:t>Measure the clustering quality by observing buying patterns of customers in same cluster vs. those from different clusters. 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61039-A5BC-46B9-A89C-0715D114396C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聚类</a:t>
            </a:r>
            <a:r>
              <a:rPr lang="en-US" altLang="zh-CN"/>
              <a:t>: </a:t>
            </a:r>
            <a:r>
              <a:rPr lang="zh-CN" altLang="en-US"/>
              <a:t>应用</a:t>
            </a:r>
            <a:r>
              <a:rPr lang="en-US" altLang="zh-CN"/>
              <a:t>2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Document Clustering: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Goal: 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dirty="0"/>
              <a:t>To find groups of documents that are similar to each other based on the important terms appearing in them.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Approach: </a:t>
            </a:r>
          </a:p>
          <a:p>
            <a:pPr lvl="2" algn="just">
              <a:lnSpc>
                <a:spcPct val="150000"/>
              </a:lnSpc>
            </a:pPr>
            <a:r>
              <a:rPr lang="en-US" altLang="zh-CN" dirty="0"/>
              <a:t>To identify frequently occurring terms in each document. Form a similarity measure based on the frequencies of different terms. Use it to cluster.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Gain:</a:t>
            </a:r>
          </a:p>
          <a:p>
            <a:pPr lvl="2" algn="just">
              <a:lnSpc>
                <a:spcPct val="150000"/>
              </a:lnSpc>
            </a:pPr>
            <a:r>
              <a:rPr lang="en-US" altLang="zh-CN" dirty="0"/>
              <a:t> Information Retrieval can utilize the clusters to relate a new document or search term to clustered documents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450AE-0B67-43E5-BA40-CAE9F42942FA}" type="slidenum">
              <a:rPr lang="en-US" altLang="zh-CN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数据挖掘</a:t>
            </a:r>
            <a:r>
              <a:rPr lang="en-US" altLang="zh-CN" dirty="0"/>
              <a:t>de</a:t>
            </a:r>
            <a:r>
              <a:rPr lang="zh-CN" altLang="en-US" dirty="0"/>
              <a:t>任务：关联分析</a:t>
            </a:r>
            <a:r>
              <a:rPr lang="en-US" altLang="zh-CN" dirty="0"/>
              <a:t>: </a:t>
            </a:r>
            <a:r>
              <a:rPr lang="zh-CN" altLang="en-US" dirty="0"/>
              <a:t>定义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用来发现描述数据中强关联特征的模式，所发现的模式通常用蕴涵规则或特征子集的形式表示。由于搜索空间是指数规模的，关联分析的目标是以有效的方式提取最有趣的模式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找出具有相关功能的基因组、识别一起访问的</a:t>
            </a:r>
            <a:r>
              <a:rPr lang="en-US" altLang="zh-CN" dirty="0"/>
              <a:t>Web</a:t>
            </a:r>
            <a:r>
              <a:rPr lang="zh-CN" altLang="en-US" dirty="0"/>
              <a:t>页面、理解地球气候系统不同元素之间的联系</a:t>
            </a:r>
            <a:r>
              <a:rPr lang="en-US" altLang="zh-CN" dirty="0"/>
              <a:t>.</a:t>
            </a:r>
            <a:endParaRPr lang="en-US" altLang="zh-CN" sz="1800" dirty="0"/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467544" y="4012265"/>
          <a:ext cx="4089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Document" r:id="rId3" imgW="3737306" imgH="1997909" progId="Word.Document.8">
                  <p:embed/>
                </p:oleObj>
              </mc:Choice>
              <mc:Fallback>
                <p:oleObj name="Document" r:id="rId3" imgW="3737306" imgH="1997909" progId="Word.Document.8">
                  <p:embed/>
                  <p:pic>
                    <p:nvPicPr>
                      <p:cNvPr id="168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012265"/>
                        <a:ext cx="4089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4876803" y="4754168"/>
            <a:ext cx="3842719" cy="984885"/>
          </a:xfrm>
          <a:prstGeom prst="rect">
            <a:avLst/>
          </a:prstGeom>
          <a:solidFill>
            <a:srgbClr val="CC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dirty="0">
                <a:latin typeface="Times New Roman" pitchFamily="18" charset="0"/>
              </a:rPr>
              <a:t>Rules Discovered:</a:t>
            </a:r>
          </a:p>
          <a:p>
            <a:pPr eaLnBrk="0" hangingPunct="0"/>
            <a:r>
              <a:rPr lang="en-US" altLang="zh-CN" dirty="0">
                <a:latin typeface="Times New Roman" pitchFamily="18" charset="0"/>
              </a:rPr>
              <a:t>    </a:t>
            </a:r>
            <a:r>
              <a:rPr lang="en-US" altLang="zh-CN" sz="2000" b="1" dirty="0">
                <a:solidFill>
                  <a:srgbClr val="CC0000"/>
                </a:solidFill>
                <a:latin typeface="Tahoma" pitchFamily="34" charset="0"/>
              </a:rPr>
              <a:t>{Diaper} --&gt; {Milk}</a:t>
            </a:r>
          </a:p>
          <a:p>
            <a:pPr eaLnBrk="0" hangingPunct="0"/>
            <a:r>
              <a:rPr lang="en-US" altLang="zh-CN" sz="2000" b="1" dirty="0">
                <a:solidFill>
                  <a:srgbClr val="CC0000"/>
                </a:solidFill>
                <a:latin typeface="Tahoma" pitchFamily="34" charset="0"/>
              </a:rPr>
              <a:t>    {Diaper, Milk} --&gt; {Beer}</a:t>
            </a:r>
            <a:endParaRPr lang="en-US" altLang="zh-CN" sz="20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关联规则</a:t>
            </a:r>
            <a:r>
              <a:rPr lang="en-US" altLang="zh-CN"/>
              <a:t>:</a:t>
            </a:r>
            <a:r>
              <a:rPr lang="zh-CN" altLang="en-US"/>
              <a:t>定义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关联规则</a:t>
            </a:r>
            <a:r>
              <a:rPr lang="en-US" altLang="zh-CN" dirty="0"/>
              <a:t>(association rule)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sz="2200" dirty="0"/>
              <a:t>Given a set of records each of which contain some number of items from a given collection;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sz="2000" dirty="0"/>
              <a:t>Produce dependency rules which will predict occurrence of items based on occurrences of other items.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</a:pPr>
            <a:endParaRPr lang="en-US" altLang="zh-CN" sz="2000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DA672B-49EB-48D5-91BF-D5B966E32ECE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grpSp>
        <p:nvGrpSpPr>
          <p:cNvPr id="29703" name="Group 4"/>
          <p:cNvGrpSpPr>
            <a:grpSpLocks/>
          </p:cNvGrpSpPr>
          <p:nvPr/>
        </p:nvGrpSpPr>
        <p:grpSpPr bwMode="auto">
          <a:xfrm>
            <a:off x="1116087" y="3996613"/>
            <a:ext cx="7219950" cy="1646635"/>
            <a:chOff x="309" y="2304"/>
            <a:chExt cx="4548" cy="1383"/>
          </a:xfrm>
        </p:grpSpPr>
        <p:graphicFrame>
          <p:nvGraphicFramePr>
            <p:cNvPr id="29704" name="Object 5"/>
            <p:cNvGraphicFramePr>
              <a:graphicFrameLocks noChangeAspect="1"/>
            </p:cNvGraphicFramePr>
            <p:nvPr/>
          </p:nvGraphicFramePr>
          <p:xfrm>
            <a:off x="309" y="2331"/>
            <a:ext cx="2634" cy="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Document" r:id="rId3" imgW="3823716" imgH="1999488" progId="Word.Document.8">
                    <p:embed/>
                  </p:oleObj>
                </mc:Choice>
                <mc:Fallback>
                  <p:oleObj name="Document" r:id="rId3" imgW="3823716" imgH="1999488" progId="Word.Document.8">
                    <p:embed/>
                    <p:pic>
                      <p:nvPicPr>
                        <p:cNvPr id="2970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" y="2331"/>
                          <a:ext cx="2634" cy="1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5" name="Text Box 6"/>
            <p:cNvSpPr txBox="1">
              <a:spLocks noChangeArrowheads="1"/>
            </p:cNvSpPr>
            <p:nvPr/>
          </p:nvSpPr>
          <p:spPr bwMode="auto">
            <a:xfrm>
              <a:off x="3072" y="2304"/>
              <a:ext cx="1785" cy="82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000" dirty="0">
                  <a:latin typeface="Times New Roman" pitchFamily="18" charset="0"/>
                </a:rPr>
                <a:t>Rules Discovered:</a:t>
              </a:r>
            </a:p>
            <a:p>
              <a:r>
                <a:rPr kumimoji="0" lang="en-US" altLang="zh-CN" sz="2000" dirty="0">
                  <a:latin typeface="Times New Roman" pitchFamily="18" charset="0"/>
                </a:rPr>
                <a:t>   </a:t>
              </a:r>
              <a:r>
                <a:rPr kumimoji="0" lang="en-US" altLang="zh-CN" sz="1800" b="1" dirty="0">
                  <a:solidFill>
                    <a:srgbClr val="CC0000"/>
                  </a:solidFill>
                  <a:latin typeface="Times New Roman" pitchFamily="18" charset="0"/>
                </a:rPr>
                <a:t>{Milk} --&gt; {Coke}</a:t>
              </a:r>
            </a:p>
            <a:p>
              <a:r>
                <a:rPr kumimoji="0" lang="en-US" altLang="zh-CN" sz="1800" b="1" dirty="0">
                  <a:solidFill>
                    <a:srgbClr val="CC0000"/>
                  </a:solidFill>
                  <a:latin typeface="Times New Roman" pitchFamily="18" charset="0"/>
                </a:rPr>
                <a:t>   {Diaper, Milk} --&gt; {Beer}</a:t>
              </a:r>
              <a:endParaRPr kumimoji="0" lang="en-US" altLang="zh-CN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关联规则</a:t>
            </a:r>
            <a:r>
              <a:rPr lang="en-US" altLang="zh-CN"/>
              <a:t>:</a:t>
            </a:r>
            <a:r>
              <a:rPr lang="zh-CN" altLang="en-US"/>
              <a:t>应用</a:t>
            </a:r>
            <a:r>
              <a:rPr lang="en-US" altLang="zh-CN"/>
              <a:t>1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Marketing and Sales Promotion:</a:t>
            </a:r>
            <a:endParaRPr lang="en-US" altLang="zh-CN" sz="18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66"/>
                </a:solidFill>
              </a:rPr>
              <a:t>Let the rule discovered be</a:t>
            </a:r>
            <a:r>
              <a:rPr lang="en-US" altLang="zh-CN" i="1" dirty="0">
                <a:solidFill>
                  <a:srgbClr val="FF0066"/>
                </a:solidFill>
              </a:rPr>
              <a:t> 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i="1" dirty="0">
                <a:solidFill>
                  <a:srgbClr val="FF0066"/>
                </a:solidFill>
              </a:rPr>
              <a:t> 			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i="1" dirty="0">
                <a:solidFill>
                  <a:srgbClr val="FF0066"/>
                </a:solidFill>
              </a:rPr>
              <a:t>Bagels(</a:t>
            </a:r>
            <a:r>
              <a:rPr lang="zh-CN" altLang="en-US" i="1" dirty="0">
                <a:solidFill>
                  <a:srgbClr val="FF0066"/>
                </a:solidFill>
              </a:rPr>
              <a:t>百吉饼</a:t>
            </a:r>
            <a:r>
              <a:rPr lang="en-US" altLang="zh-CN" i="1" dirty="0">
                <a:solidFill>
                  <a:srgbClr val="FF0066"/>
                </a:solidFill>
              </a:rPr>
              <a:t>), … 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i="1" dirty="0">
                <a:solidFill>
                  <a:srgbClr val="FF0066"/>
                </a:solidFill>
              </a:rPr>
              <a:t> </a:t>
            </a:r>
            <a:r>
              <a:rPr lang="en-US" altLang="zh-CN" sz="1800" dirty="0"/>
              <a:t>--&gt;</a:t>
            </a:r>
            <a:r>
              <a:rPr lang="en-US" altLang="zh-CN" i="1" dirty="0">
                <a:solidFill>
                  <a:srgbClr val="FF0066"/>
                </a:solidFill>
              </a:rPr>
              <a:t> 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i="1" dirty="0">
                <a:solidFill>
                  <a:srgbClr val="FF0066"/>
                </a:solidFill>
              </a:rPr>
              <a:t>Potato Chips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u="sng" dirty="0">
                <a:solidFill>
                  <a:srgbClr val="0000FF"/>
                </a:solidFill>
              </a:rPr>
              <a:t>Potato Chips</a:t>
            </a:r>
            <a:r>
              <a:rPr lang="en-US" altLang="zh-CN" u="sng" dirty="0"/>
              <a:t> </a:t>
            </a:r>
            <a:r>
              <a:rPr lang="en-US" altLang="zh-CN" u="sng" dirty="0">
                <a:solidFill>
                  <a:srgbClr val="0000FF"/>
                </a:solidFill>
              </a:rPr>
              <a:t>as consequent</a:t>
            </a:r>
            <a:r>
              <a:rPr lang="en-US" altLang="zh-CN" sz="1800" dirty="0"/>
              <a:t> =&gt; </a:t>
            </a:r>
            <a:r>
              <a:rPr lang="en-US" altLang="zh-CN" dirty="0"/>
              <a:t>Can be used to determine what should be done to boost its sales.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u="sng" dirty="0">
                <a:solidFill>
                  <a:srgbClr val="0000FF"/>
                </a:solidFill>
              </a:rPr>
              <a:t>Bagels in the antecedent</a:t>
            </a:r>
            <a:r>
              <a:rPr lang="en-US" altLang="zh-CN" sz="1800" dirty="0"/>
              <a:t> =&gt; C</a:t>
            </a:r>
            <a:r>
              <a:rPr lang="en-US" altLang="zh-CN" dirty="0"/>
              <a:t>an be used to see which products would be affected if the store discontinues selling Bagels.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zh-CN" u="sng" dirty="0">
                <a:solidFill>
                  <a:srgbClr val="0000FF"/>
                </a:solidFill>
              </a:rPr>
              <a:t>Bagels in antecedent</a:t>
            </a:r>
            <a:r>
              <a:rPr lang="en-US" altLang="zh-CN" u="sng" dirty="0"/>
              <a:t> </a:t>
            </a:r>
            <a:r>
              <a:rPr lang="en-US" altLang="zh-CN" i="1" u="sng" dirty="0">
                <a:solidFill>
                  <a:srgbClr val="C00000"/>
                </a:solidFill>
              </a:rPr>
              <a:t>and</a:t>
            </a:r>
            <a:r>
              <a:rPr lang="en-US" altLang="zh-CN" u="sng" dirty="0"/>
              <a:t> </a:t>
            </a:r>
            <a:r>
              <a:rPr lang="en-US" altLang="zh-CN" u="sng" dirty="0">
                <a:solidFill>
                  <a:srgbClr val="0000FF"/>
                </a:solidFill>
              </a:rPr>
              <a:t>Potato chips in consequent</a:t>
            </a:r>
            <a:r>
              <a:rPr lang="en-US" altLang="zh-CN" sz="1800" u="sng" dirty="0">
                <a:solidFill>
                  <a:srgbClr val="0000FF"/>
                </a:solidFill>
              </a:rPr>
              <a:t> </a:t>
            </a:r>
            <a:r>
              <a:rPr lang="en-US" altLang="zh-CN" sz="1800" dirty="0">
                <a:solidFill>
                  <a:schemeClr val="tx2"/>
                </a:solidFill>
              </a:rPr>
              <a:t>=&gt; </a:t>
            </a:r>
            <a:r>
              <a:rPr lang="en-US" altLang="zh-CN" dirty="0"/>
              <a:t>Can be used to see what products should be sold with Bagels to promote sale of Potato chips!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A61816-5819-44C8-90F0-9E92E6D4FFC1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关联规则</a:t>
            </a:r>
            <a:r>
              <a:rPr lang="en-US" altLang="zh-CN"/>
              <a:t>:</a:t>
            </a:r>
            <a:r>
              <a:rPr lang="zh-CN" altLang="en-US"/>
              <a:t>应用</a:t>
            </a:r>
            <a:r>
              <a:rPr lang="en-US" altLang="zh-CN"/>
              <a:t>2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600" dirty="0"/>
              <a:t>Supermarket shelf management.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Goal: </a:t>
            </a:r>
          </a:p>
          <a:p>
            <a:pPr lvl="2" algn="just" eaLnBrk="1" hangingPunct="1">
              <a:lnSpc>
                <a:spcPct val="150000"/>
              </a:lnSpc>
            </a:pPr>
            <a:r>
              <a:rPr lang="en-US" altLang="zh-CN" sz="2200" dirty="0"/>
              <a:t>To identify items that are bought together by sufficiently many customers.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Approach: 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/>
              <a:t>Process the point-of-sale data collected with barcode scanners to find dependencies among items.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A classic rule --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/>
              <a:t>If a customer buys diaper and milk, then he is very likely to buy beer.</a:t>
            </a:r>
          </a:p>
          <a:p>
            <a:pPr lvl="2" algn="just">
              <a:lnSpc>
                <a:spcPct val="150000"/>
              </a:lnSpc>
            </a:pPr>
            <a:r>
              <a:rPr lang="en-US" altLang="zh-CN" sz="2200" dirty="0"/>
              <a:t>So, don’t be surprised if you find six-packs stacked next to diapers!</a:t>
            </a:r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A03F60-2EC6-4DD0-BD40-D537D1DA85DA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异常检测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识别特征显著不同于其他数据的观测值</a:t>
            </a:r>
          </a:p>
          <a:p>
            <a:r>
              <a:rPr lang="zh-CN" altLang="en-US"/>
              <a:t>应用</a:t>
            </a:r>
            <a:r>
              <a:rPr lang="en-US" altLang="zh-CN"/>
              <a:t>:</a:t>
            </a:r>
          </a:p>
          <a:p>
            <a:pPr lvl="1"/>
            <a:r>
              <a:rPr lang="zh-CN" altLang="en-US"/>
              <a:t>检测欺诈</a:t>
            </a:r>
          </a:p>
          <a:p>
            <a:pPr lvl="1"/>
            <a:r>
              <a:rPr lang="zh-CN" altLang="en-US"/>
              <a:t>网络攻击</a:t>
            </a:r>
          </a:p>
          <a:p>
            <a:pPr lvl="1"/>
            <a:r>
              <a:rPr lang="zh-CN" altLang="en-US"/>
              <a:t>疾病的不寻常模式</a:t>
            </a:r>
          </a:p>
          <a:p>
            <a:pPr lvl="1"/>
            <a:r>
              <a:rPr lang="zh-CN" altLang="en-US"/>
              <a:t>生态系统扰动</a:t>
            </a:r>
          </a:p>
          <a:p>
            <a:pPr lvl="1"/>
            <a:endParaRPr lang="en-US" altLang="zh-CN"/>
          </a:p>
        </p:txBody>
      </p:sp>
      <p:pic>
        <p:nvPicPr>
          <p:cNvPr id="1730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799285"/>
            <a:ext cx="3162300" cy="1283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3061" name="Group 5"/>
          <p:cNvGrpSpPr>
            <a:grpSpLocks/>
          </p:cNvGrpSpPr>
          <p:nvPr/>
        </p:nvGrpSpPr>
        <p:grpSpPr bwMode="auto">
          <a:xfrm>
            <a:off x="4818064" y="3867150"/>
            <a:ext cx="2605087" cy="1790700"/>
            <a:chOff x="2963" y="2441"/>
            <a:chExt cx="1641" cy="1504"/>
          </a:xfrm>
        </p:grpSpPr>
        <p:pic>
          <p:nvPicPr>
            <p:cNvPr id="173062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3" y="2441"/>
              <a:ext cx="1641" cy="1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3063" name="Picture 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3" y="2441"/>
              <a:ext cx="1641" cy="1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306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3771901"/>
            <a:ext cx="1922462" cy="95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3065" name="Object 9"/>
          <p:cNvGraphicFramePr>
            <a:graphicFrameLocks noChangeAspect="1"/>
          </p:cNvGraphicFramePr>
          <p:nvPr/>
        </p:nvGraphicFramePr>
        <p:xfrm>
          <a:off x="5791200" y="2245520"/>
          <a:ext cx="3124200" cy="1412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VISIO" r:id="rId8" imgW="2904480" imgH="1751760" progId="Visio.Drawing.6">
                  <p:embed/>
                </p:oleObj>
              </mc:Choice>
              <mc:Fallback>
                <p:oleObj name="VISIO" r:id="rId8" imgW="2904480" imgH="1751760" progId="Visio.Drawing.6">
                  <p:embed/>
                  <p:pic>
                    <p:nvPicPr>
                      <p:cNvPr id="173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245520"/>
                        <a:ext cx="3124200" cy="1412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异常检测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任务：识别其特征显著不同于其他数据的观测值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这样的观测值称为异常点（</a:t>
            </a:r>
            <a:r>
              <a:rPr lang="en-US" altLang="zh-CN" dirty="0"/>
              <a:t>anomaly</a:t>
            </a:r>
            <a:r>
              <a:rPr lang="zh-CN" altLang="en-US" dirty="0"/>
              <a:t>）或离群点（</a:t>
            </a:r>
            <a:r>
              <a:rPr lang="en-US" altLang="zh-CN" dirty="0"/>
              <a:t>outlier</a:t>
            </a:r>
            <a:r>
              <a:rPr lang="zh-CN" altLang="en-US" dirty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发现真正的异常点，而避免错误地将正常的对象标注为异常点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应用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信用卡欺诈检测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网络入侵检测</a:t>
            </a: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EED07B-4AD0-4E7D-95E2-5BFAE4BF4455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pic>
        <p:nvPicPr>
          <p:cNvPr id="36873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172" y="4256455"/>
            <a:ext cx="3162300" cy="1283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036" y="4229071"/>
            <a:ext cx="1922463" cy="95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数据挖掘技术的产生和发展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KDD</a:t>
            </a:r>
            <a:r>
              <a:rPr lang="zh-CN" altLang="en-US" dirty="0"/>
              <a:t>的发展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" name="形状 4"/>
          <p:cNvSpPr/>
          <p:nvPr/>
        </p:nvSpPr>
        <p:spPr>
          <a:xfrm rot="163766">
            <a:off x="715347" y="1922400"/>
            <a:ext cx="7713309" cy="3013200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椭圆 5"/>
          <p:cNvSpPr/>
          <p:nvPr/>
        </p:nvSpPr>
        <p:spPr>
          <a:xfrm>
            <a:off x="1624412" y="3951724"/>
            <a:ext cx="139276" cy="125348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椭圆 6"/>
          <p:cNvSpPr/>
          <p:nvPr/>
        </p:nvSpPr>
        <p:spPr>
          <a:xfrm>
            <a:off x="3635898" y="3169772"/>
            <a:ext cx="251769" cy="226592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-8413219"/>
              <a:satOff val="-4326"/>
              <a:lumOff val="-1863"/>
              <a:alphaOff val="0"/>
            </a:schemeClr>
          </a:fillRef>
          <a:effectRef idx="0">
            <a:schemeClr val="accent3">
              <a:hueOff val="-8413219"/>
              <a:satOff val="-4326"/>
              <a:lumOff val="-1863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椭圆 7"/>
          <p:cNvSpPr/>
          <p:nvPr/>
        </p:nvSpPr>
        <p:spPr>
          <a:xfrm>
            <a:off x="6276544" y="2791592"/>
            <a:ext cx="348192" cy="313373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-16826439"/>
              <a:satOff val="-8652"/>
              <a:lumOff val="-3725"/>
              <a:alphaOff val="0"/>
            </a:schemeClr>
          </a:fillRef>
          <a:effectRef idx="0">
            <a:schemeClr val="accent3">
              <a:hueOff val="-16826439"/>
              <a:satOff val="-8652"/>
              <a:lumOff val="-3725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矩形 8"/>
          <p:cNvSpPr/>
          <p:nvPr/>
        </p:nvSpPr>
        <p:spPr>
          <a:xfrm>
            <a:off x="755577" y="4405050"/>
            <a:ext cx="3672408" cy="87081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lvl="1"/>
            <a:r>
              <a:rPr lang="zh-CN" altLang="en-US" b="1" u="sng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基于数据库的知识发现</a:t>
            </a:r>
            <a:r>
              <a:rPr lang="zh-CN" altLang="en-US" b="1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KDD</a:t>
            </a:r>
            <a:r>
              <a:rPr lang="zh-CN" altLang="en-US" b="1" dirty="0">
                <a:solidFill>
                  <a:srgbClr val="FF0000"/>
                </a:solidFill>
                <a:latin typeface="华文细黑" pitchFamily="2" charset="-122"/>
                <a:ea typeface="华文细黑" pitchFamily="2" charset="-122"/>
              </a:rPr>
              <a:t>）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一词首次出现在国际人工智能联合大会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IJCAI-89 Workshop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上。</a:t>
            </a:r>
          </a:p>
          <a:p>
            <a:endParaRPr lang="zh-CN" altLang="en-US" sz="2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07642" y="4113558"/>
            <a:ext cx="1248134" cy="2875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3800" tIns="0" rIns="0" bIns="0" numCol="1" spcCol="1270" anchor="t" anchorCtr="0">
            <a:noAutofit/>
          </a:bodyPr>
          <a:lstStyle/>
          <a:p>
            <a:pPr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dirty="0">
                <a:ea typeface="华文细黑" pitchFamily="2" charset="-122"/>
              </a:rPr>
              <a:t>1989</a:t>
            </a:r>
            <a:endParaRPr lang="zh-CN" altLang="en-US" dirty="0">
              <a:ea typeface="华文细黑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19872" y="3493807"/>
            <a:ext cx="1248134" cy="2875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3800" tIns="0" rIns="0" bIns="0" numCol="1" spcCol="1270" anchor="t" anchorCtr="0">
            <a:noAutofit/>
          </a:bodyPr>
          <a:lstStyle/>
          <a:p>
            <a:pPr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dirty="0">
                <a:ea typeface="华文细黑" pitchFamily="2" charset="-122"/>
              </a:rPr>
              <a:t>1995</a:t>
            </a:r>
            <a:endParaRPr lang="zh-CN" altLang="en-US" dirty="0">
              <a:ea typeface="华文细黑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0228" y="2175271"/>
            <a:ext cx="4320480" cy="87081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180975" lvl="1" indent="-163513">
              <a:buFont typeface="Arial" pitchFamily="34" charset="0"/>
              <a:buChar char="•"/>
            </a:pP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第一届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KDD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国际学术会议（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KDD’95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）</a:t>
            </a:r>
            <a:endParaRPr lang="en-US" altLang="zh-CN" dirty="0">
              <a:latin typeface="华文细黑" pitchFamily="2" charset="-122"/>
              <a:ea typeface="华文细黑" pitchFamily="2" charset="-122"/>
            </a:endParaRPr>
          </a:p>
          <a:p>
            <a:pPr marL="180975" lvl="1" indent="-163513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加拿大蒙特利尔召开</a:t>
            </a:r>
            <a:endParaRPr lang="zh-CN" altLang="en-US" sz="2800" dirty="0">
              <a:ea typeface="华文细黑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60640" y="3206257"/>
            <a:ext cx="1248134" cy="2875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3800" tIns="0" rIns="0" bIns="0" numCol="1" spcCol="1270" anchor="t" anchorCtr="0">
            <a:noAutofit/>
          </a:bodyPr>
          <a:lstStyle/>
          <a:p>
            <a:pPr algn="ctr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dirty="0">
                <a:ea typeface="华文细黑" pitchFamily="2" charset="-122"/>
              </a:rPr>
              <a:t>1997</a:t>
            </a:r>
            <a:endParaRPr lang="zh-CN" altLang="en-US" dirty="0">
              <a:ea typeface="华文细黑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28122" y="3494804"/>
            <a:ext cx="3515878" cy="1165533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271463" lvl="1" indent="-254000">
              <a:buFont typeface="Arial" pitchFamily="34" charset="0"/>
              <a:buChar char="•"/>
            </a:pP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第一本学术刊物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《Knowledge Discovery and Data Mining》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创刊</a:t>
            </a:r>
            <a:endParaRPr lang="en-US" altLang="zh-CN" dirty="0">
              <a:latin typeface="华文细黑" pitchFamily="2" charset="-122"/>
              <a:ea typeface="华文细黑" pitchFamily="2" charset="-122"/>
            </a:endParaRPr>
          </a:p>
          <a:p>
            <a:pPr marL="271463" lvl="1" indent="-254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err="1">
                <a:latin typeface="华文细黑" pitchFamily="2" charset="-122"/>
                <a:ea typeface="华文细黑" pitchFamily="2" charset="-122"/>
              </a:rPr>
              <a:t>Kluwers</a:t>
            </a:r>
            <a:r>
              <a:rPr lang="en-US" altLang="zh-CN" dirty="0">
                <a:latin typeface="华文细黑" pitchFamily="2" charset="-122"/>
                <a:ea typeface="华文细黑" pitchFamily="2" charset="-122"/>
              </a:rPr>
              <a:t> Publishers</a:t>
            </a:r>
            <a:r>
              <a:rPr lang="zh-CN" altLang="en-US" dirty="0">
                <a:latin typeface="华文细黑" pitchFamily="2" charset="-122"/>
                <a:ea typeface="华文细黑" pitchFamily="2" charset="-122"/>
              </a:rPr>
              <a:t>出版</a:t>
            </a:r>
          </a:p>
          <a:p>
            <a:pPr marL="271463" lvl="1" indent="-254000">
              <a:buFont typeface="Arial" pitchFamily="34" charset="0"/>
              <a:buChar char="•"/>
            </a:pPr>
            <a:endParaRPr lang="zh-CN" altLang="en-US" dirty="0"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937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0ED26-12CB-4FAA-AF4E-E06E4BC9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最新的发展 </a:t>
            </a:r>
            <a:r>
              <a:rPr lang="en-US" altLang="zh-CN" dirty="0"/>
              <a:t>DBLP</a:t>
            </a:r>
            <a:r>
              <a:rPr lang="zh-CN" altLang="en-US" dirty="0"/>
              <a:t>、 </a:t>
            </a:r>
            <a:r>
              <a:rPr lang="en-US" altLang="zh-CN" dirty="0"/>
              <a:t>Google</a:t>
            </a:r>
            <a:r>
              <a:rPr lang="zh-CN" altLang="en-US" dirty="0"/>
              <a:t>学术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C0A912-86C1-4A32-BBB9-F6860F7B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textbox 732">
            <a:extLst>
              <a:ext uri="{FF2B5EF4-FFF2-40B4-BE49-F238E27FC236}">
                <a16:creationId xmlns:a16="http://schemas.microsoft.com/office/drawing/2014/main" id="{2A4F5C7D-78E4-47D7-A617-953D2D96B394}"/>
              </a:ext>
            </a:extLst>
          </p:cNvPr>
          <p:cNvSpPr/>
          <p:nvPr/>
        </p:nvSpPr>
        <p:spPr>
          <a:xfrm>
            <a:off x="4688462" y="1096010"/>
            <a:ext cx="4031615" cy="4665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100" kern="0" spc="-10" dirty="0">
                <a:solidFill>
                  <a:srgbClr val="80008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100" kern="0" spc="830" dirty="0">
                <a:solidFill>
                  <a:srgbClr val="80008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Other related</a:t>
            </a: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confere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nces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742950" indent="-274320" algn="l" rtl="0" eaLnBrk="0">
              <a:lnSpc>
                <a:spcPct val="95000"/>
              </a:lnSpc>
              <a:spcBef>
                <a:spcPts val="1077"/>
              </a:spcBef>
              <a:tabLst/>
            </a:pPr>
            <a:r>
              <a:rPr sz="1000" kern="0" spc="-1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63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DB conferences: ACM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SIGMOD,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 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VLDB, ICDE,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EDBT,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ICDT,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…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751840" indent="-283209" algn="l" rtl="0" eaLnBrk="0">
              <a:lnSpc>
                <a:spcPct val="95000"/>
              </a:lnSpc>
              <a:spcBef>
                <a:spcPts val="1080"/>
              </a:spcBef>
              <a:tabLst/>
            </a:pPr>
            <a:r>
              <a:rPr sz="1000" kern="0" spc="-2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59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Web and IR conferences: WWW,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SIGIR, WSDM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468630" algn="l" rtl="0" eaLnBrk="0">
              <a:lnSpc>
                <a:spcPct val="80000"/>
              </a:lnSpc>
              <a:spcBef>
                <a:spcPts val="1113"/>
              </a:spcBef>
              <a:tabLst/>
            </a:pPr>
            <a:r>
              <a:rPr sz="1000" kern="0" spc="-2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71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ML conferences: ICML,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NIPS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468630" algn="l" rtl="0" eaLnBrk="0">
              <a:lnSpc>
                <a:spcPct val="80000"/>
              </a:lnSpc>
              <a:spcBef>
                <a:spcPts val="1080"/>
              </a:spcBef>
              <a:tabLst/>
            </a:pPr>
            <a:r>
              <a:rPr sz="1000" kern="0" spc="-1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63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PR conferences: CVPR,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ICCF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468630" algn="l" rtl="0" eaLnBrk="0">
              <a:lnSpc>
                <a:spcPct val="80000"/>
              </a:lnSpc>
              <a:spcBef>
                <a:spcPts val="1056"/>
              </a:spcBef>
              <a:tabLst/>
            </a:pPr>
            <a:r>
              <a:rPr sz="1000" kern="0" spc="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50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AI confe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rences: AAAI, IJCAI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12700" algn="l" rtl="0" eaLnBrk="0">
              <a:lnSpc>
                <a:spcPct val="80000"/>
              </a:lnSpc>
              <a:spcBef>
                <a:spcPts val="1086"/>
              </a:spcBef>
              <a:tabLst/>
            </a:pPr>
            <a:r>
              <a:rPr sz="1100" kern="0" spc="-20" dirty="0">
                <a:solidFill>
                  <a:srgbClr val="80008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100" kern="0" spc="830" dirty="0">
                <a:solidFill>
                  <a:srgbClr val="80008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Journals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760094" indent="-291465" algn="l" rtl="0" eaLnBrk="0">
              <a:lnSpc>
                <a:spcPct val="96000"/>
              </a:lnSpc>
              <a:spcBef>
                <a:spcPts val="1070"/>
              </a:spcBef>
              <a:tabLst/>
            </a:pPr>
            <a:r>
              <a:rPr sz="1000" kern="0" spc="-2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59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IEEE Trans. On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Knowledge and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Data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Eng. (TKDE)</a:t>
            </a:r>
            <a:endParaRPr sz="1800" dirty="0">
              <a:latin typeface="Tahoma"/>
              <a:ea typeface="Tahoma"/>
              <a:cs typeface="Tahoma"/>
            </a:endParaRPr>
          </a:p>
          <a:p>
            <a:pPr marL="468630" algn="l" rtl="0" eaLnBrk="0">
              <a:lnSpc>
                <a:spcPct val="79000"/>
              </a:lnSpc>
              <a:spcBef>
                <a:spcPts val="1071"/>
              </a:spcBef>
              <a:tabLst/>
            </a:pPr>
            <a:r>
              <a:rPr sz="1000" kern="0" spc="-3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54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ACM Trans. on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KDD</a:t>
            </a:r>
            <a:endParaRPr sz="1800" dirty="0">
              <a:latin typeface="Tahoma"/>
              <a:ea typeface="Tahoma"/>
              <a:cs typeface="Tahoma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760094" indent="-29146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000" kern="0" spc="-2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000" kern="0" spc="640" dirty="0">
                <a:solidFill>
                  <a:srgbClr val="0000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Data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Mining and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Kno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wledge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    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Discovery (DA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MI or</a:t>
            </a:r>
            <a:r>
              <a:rPr sz="1800" kern="0" spc="13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ahoma"/>
                <a:ea typeface="Tahoma"/>
                <a:cs typeface="Tahoma"/>
              </a:rPr>
              <a:t>DMKD)</a:t>
            </a:r>
            <a:endParaRPr sz="1800" dirty="0">
              <a:latin typeface="Tahoma"/>
              <a:ea typeface="Tahoma"/>
              <a:cs typeface="Tahoma"/>
            </a:endParaRPr>
          </a:p>
        </p:txBody>
      </p:sp>
      <p:sp>
        <p:nvSpPr>
          <p:cNvPr id="6" name="textbox 734">
            <a:extLst>
              <a:ext uri="{FF2B5EF4-FFF2-40B4-BE49-F238E27FC236}">
                <a16:creationId xmlns:a16="http://schemas.microsoft.com/office/drawing/2014/main" id="{03F35EAD-A290-4298-96BD-009569BF0556}"/>
              </a:ext>
            </a:extLst>
          </p:cNvPr>
          <p:cNvSpPr/>
          <p:nvPr/>
        </p:nvSpPr>
        <p:spPr>
          <a:xfrm>
            <a:off x="228981" y="1197546"/>
            <a:ext cx="4226559" cy="4389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KDD Conferen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ces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62000" indent="-304800" algn="l" rtl="0" eaLnBrk="0">
              <a:lnSpc>
                <a:spcPct val="85000"/>
              </a:lnSpc>
              <a:spcBef>
                <a:spcPts val="1025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ACM SIGKDD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Int. Conf.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dge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Discovery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tabases and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62634" algn="l" rtl="0" eaLnBrk="0">
              <a:lnSpc>
                <a:spcPct val="73000"/>
              </a:lnSpc>
              <a:spcBef>
                <a:spcPts val="615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3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KDD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7200" algn="l" rtl="0" eaLnBrk="0">
              <a:lnSpc>
                <a:spcPct val="73000"/>
              </a:lnSpc>
              <a:spcBef>
                <a:spcPts val="1039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SIAM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 Conf.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3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SDM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7200" algn="l" rtl="0" eaLnBrk="0">
              <a:lnSpc>
                <a:spcPct val="73000"/>
              </a:lnSpc>
              <a:spcBef>
                <a:spcPts val="1015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(IEEE)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Int. Conf. on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58190" algn="l" rtl="0" eaLnBrk="0">
              <a:lnSpc>
                <a:spcPct val="73000"/>
              </a:lnSpc>
              <a:spcBef>
                <a:spcPts val="539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3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ICDM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53109" indent="-295909" algn="l" rtl="0" eaLnBrk="0">
              <a:lnSpc>
                <a:spcPct val="87000"/>
              </a:lnSpc>
              <a:spcBef>
                <a:spcPts val="1031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European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Conf. on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Mach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ine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Learning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Principles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and</a:t>
            </a: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practices of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62634" algn="l" rtl="0" eaLnBrk="0">
              <a:lnSpc>
                <a:spcPct val="85000"/>
              </a:lnSpc>
              <a:spcBef>
                <a:spcPts val="624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Knowledge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Discover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 and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r>
              <a:rPr sz="1800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20" dirty="0">
                <a:solidFill>
                  <a:srgbClr val="314B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ECML-PKDD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457200" algn="l" rtl="0" eaLnBrk="0">
              <a:lnSpc>
                <a:spcPct val="72000"/>
              </a:lnSpc>
              <a:spcBef>
                <a:spcPts val="1046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Pacific-Asia Conf. on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Knowledge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762634" algn="l" rtl="0" eaLnBrk="0">
              <a:lnSpc>
                <a:spcPct val="73000"/>
              </a:lnSpc>
              <a:spcBef>
                <a:spcPts val="630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Discovery and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30" dirty="0">
                <a:solidFill>
                  <a:srgbClr val="0000F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PAKDD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762000" indent="-304800" algn="l" rtl="0" eaLnBrk="0">
              <a:lnSpc>
                <a:spcPct val="85000"/>
              </a:lnSpc>
              <a:spcBef>
                <a:spcPts val="7"/>
              </a:spcBef>
              <a:tabLst/>
            </a:pP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</a:t>
            </a:r>
            <a:r>
              <a:rPr sz="1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Int. Conf. on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Web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Search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1800" kern="0" spc="-30" dirty="0">
                <a:solidFill>
                  <a:srgbClr val="314BF5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WSDM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6723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43160-E794-4372-A6D8-9E5377C8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CCF</a:t>
            </a:r>
            <a:r>
              <a:rPr lang="zh-CN" altLang="en-US" dirty="0"/>
              <a:t>的推荐列表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AC86D-F7BE-4C4D-BFF0-B0DBD674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https://www.ccf.org.cn/Academic_Evaluation/DM_CS/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B5B880-65C4-4C1D-A357-5FFE57B5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E35C3A8-9DE5-4637-9D7A-C694375D2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0" y="1525076"/>
            <a:ext cx="7270813" cy="480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80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EBD98-9565-4839-B4AE-7DE03B01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SIGKDD 2025  </a:t>
            </a:r>
            <a:r>
              <a:rPr lang="en-US" altLang="zh-CN" dirty="0"/>
              <a:t>Toronto Canada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EAC80-2259-4A87-B43F-C361FB48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0C4221-1525-4B5E-99BE-A571772B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88" y="872742"/>
            <a:ext cx="2101113" cy="14007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944982-EC4D-46F2-B083-039EC6A44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098" y="857866"/>
            <a:ext cx="2101112" cy="14007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E8C74F-7A81-439C-A7A4-5798B84BF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672" y="872742"/>
            <a:ext cx="2084358" cy="1389572"/>
          </a:xfrm>
          <a:prstGeom prst="rect">
            <a:avLst/>
          </a:prstGeom>
        </p:spPr>
      </p:pic>
      <p:sp>
        <p:nvSpPr>
          <p:cNvPr id="8" name="textbox 780">
            <a:extLst>
              <a:ext uri="{FF2B5EF4-FFF2-40B4-BE49-F238E27FC236}">
                <a16:creationId xmlns:a16="http://schemas.microsoft.com/office/drawing/2014/main" id="{FC587BD1-C38A-4B56-819D-1A9CBE4F17A4}"/>
              </a:ext>
            </a:extLst>
          </p:cNvPr>
          <p:cNvSpPr/>
          <p:nvPr/>
        </p:nvSpPr>
        <p:spPr>
          <a:xfrm>
            <a:off x="647852" y="2407577"/>
            <a:ext cx="1077818" cy="2476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2"/>
              </a:lnSpc>
              <a:tabLst/>
            </a:pPr>
            <a:endParaRPr sz="100" dirty="0"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(a):</a:t>
            </a:r>
            <a:r>
              <a:rPr lang="en-US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 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Poster</a:t>
            </a:r>
            <a:endParaRPr sz="1400" dirty="0">
              <a:ea typeface="Arial"/>
              <a:cs typeface="Arial"/>
            </a:endParaRPr>
          </a:p>
        </p:txBody>
      </p:sp>
      <p:sp>
        <p:nvSpPr>
          <p:cNvPr id="9" name="textbox 780">
            <a:extLst>
              <a:ext uri="{FF2B5EF4-FFF2-40B4-BE49-F238E27FC236}">
                <a16:creationId xmlns:a16="http://schemas.microsoft.com/office/drawing/2014/main" id="{81A73AA5-E5A9-4AF2-8AB0-CF300DBCAA94}"/>
              </a:ext>
            </a:extLst>
          </p:cNvPr>
          <p:cNvSpPr/>
          <p:nvPr/>
        </p:nvSpPr>
        <p:spPr>
          <a:xfrm>
            <a:off x="2890522" y="2407577"/>
            <a:ext cx="1077818" cy="2476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2"/>
              </a:lnSpc>
              <a:tabLst/>
            </a:pPr>
            <a:endParaRPr sz="100" dirty="0"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(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b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):</a:t>
            </a:r>
            <a:r>
              <a:rPr lang="en-US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 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KDD CUP</a:t>
            </a:r>
            <a:endParaRPr sz="1400" dirty="0">
              <a:ea typeface="Arial"/>
              <a:cs typeface="Arial"/>
            </a:endParaRPr>
          </a:p>
        </p:txBody>
      </p:sp>
      <p:sp>
        <p:nvSpPr>
          <p:cNvPr id="10" name="textbox 780">
            <a:extLst>
              <a:ext uri="{FF2B5EF4-FFF2-40B4-BE49-F238E27FC236}">
                <a16:creationId xmlns:a16="http://schemas.microsoft.com/office/drawing/2014/main" id="{6716CF0F-41E9-417B-B293-BD45CFB6D792}"/>
              </a:ext>
            </a:extLst>
          </p:cNvPr>
          <p:cNvSpPr/>
          <p:nvPr/>
        </p:nvSpPr>
        <p:spPr>
          <a:xfrm>
            <a:off x="4882152" y="2407577"/>
            <a:ext cx="2020620" cy="2476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2"/>
              </a:lnSpc>
              <a:tabLst/>
            </a:pPr>
            <a:endParaRPr sz="100" dirty="0"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(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c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):</a:t>
            </a:r>
            <a:r>
              <a:rPr lang="en-US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 </a:t>
            </a:r>
            <a:r>
              <a:rPr lang="zh-CN" altLang="en-US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大会主席 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Jian Pei</a:t>
            </a:r>
            <a:endParaRPr sz="1400" dirty="0">
              <a:ea typeface="Arial"/>
              <a:cs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84BFFA-E70E-4106-BD6F-5C7307547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492" y="939404"/>
            <a:ext cx="2101112" cy="1400741"/>
          </a:xfrm>
          <a:prstGeom prst="rect">
            <a:avLst/>
          </a:prstGeom>
        </p:spPr>
      </p:pic>
      <p:sp>
        <p:nvSpPr>
          <p:cNvPr id="12" name="textbox 780">
            <a:extLst>
              <a:ext uri="{FF2B5EF4-FFF2-40B4-BE49-F238E27FC236}">
                <a16:creationId xmlns:a16="http://schemas.microsoft.com/office/drawing/2014/main" id="{F70F2D2B-9E45-4809-A6EE-75232C791B07}"/>
              </a:ext>
            </a:extLst>
          </p:cNvPr>
          <p:cNvSpPr/>
          <p:nvPr/>
        </p:nvSpPr>
        <p:spPr>
          <a:xfrm>
            <a:off x="7559167" y="2440979"/>
            <a:ext cx="1077818" cy="2476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2"/>
              </a:lnSpc>
              <a:tabLst/>
            </a:pPr>
            <a:endParaRPr sz="100" dirty="0"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(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d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):</a:t>
            </a:r>
            <a:r>
              <a:rPr lang="en-US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 </a:t>
            </a:r>
            <a:r>
              <a:rPr lang="en-US" altLang="zh-CN" sz="1400" kern="0" spc="-40" dirty="0">
                <a:solidFill>
                  <a:srgbClr val="000000">
                    <a:alpha val="100000"/>
                  </a:srgbClr>
                </a:solidFill>
                <a:ea typeface="Arial"/>
                <a:cs typeface="Arial"/>
              </a:rPr>
              <a:t>oral</a:t>
            </a:r>
            <a:endParaRPr sz="1400" dirty="0">
              <a:ea typeface="Arial"/>
              <a:cs typeface="Arial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4B4E7BB-F5EE-40A2-9D89-EAE171560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35" y="2815899"/>
            <a:ext cx="7203550" cy="34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60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EBD98-9565-4839-B4AE-7DE03B01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SIGKDD 2025 Keynote Speakers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EAC80-2259-4A87-B43F-C361FB48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A3F1878-B005-47F2-8063-AA4F26E88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223" y="906011"/>
            <a:ext cx="8883941" cy="563740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000" b="1" i="0" dirty="0">
                <a:effectLst/>
                <a:latin typeface="+mj-lt"/>
              </a:rPr>
              <a:t>Caroline </a:t>
            </a:r>
            <a:r>
              <a:rPr lang="en-US" altLang="zh-CN" sz="2000" b="1" i="0" dirty="0" err="1">
                <a:effectLst/>
                <a:latin typeface="+mj-lt"/>
              </a:rPr>
              <a:t>Uhler</a:t>
            </a:r>
            <a:r>
              <a:rPr lang="zh-CN" altLang="en-US" sz="2000" b="1" i="0" dirty="0">
                <a:effectLst/>
                <a:latin typeface="+mj-lt"/>
              </a:rPr>
              <a:t>：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+mj-lt"/>
              </a:rPr>
              <a:t>Causality from Multi-Modal Data</a:t>
            </a:r>
          </a:p>
          <a:p>
            <a:pPr algn="just">
              <a:lnSpc>
                <a:spcPct val="100000"/>
              </a:lnSpc>
            </a:pPr>
            <a:r>
              <a:rPr lang="en-US" altLang="zh-CN" sz="2000" b="1" i="0" dirty="0">
                <a:effectLst/>
                <a:latin typeface="+mj-lt"/>
              </a:rPr>
              <a:t>Jason Cong</a:t>
            </a:r>
            <a:r>
              <a:rPr lang="zh-CN" altLang="en-US" sz="2000" b="1" i="0" dirty="0">
                <a:effectLst/>
                <a:latin typeface="+mj-lt"/>
              </a:rPr>
              <a:t>：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+mj-lt"/>
              </a:rPr>
              <a:t>Deep Learning Meets Chip Design: Driving Next-Gen Efficiency and Innovation</a:t>
            </a:r>
          </a:p>
          <a:p>
            <a:pPr algn="just">
              <a:lnSpc>
                <a:spcPct val="100000"/>
              </a:lnSpc>
            </a:pPr>
            <a:r>
              <a:rPr lang="en-US" altLang="zh-CN" sz="2000" b="1" i="0" dirty="0">
                <a:effectLst/>
                <a:latin typeface="+mj-lt"/>
              </a:rPr>
              <a:t>Dan Roth</a:t>
            </a:r>
            <a:r>
              <a:rPr lang="zh-CN" altLang="en-US" sz="2000" b="1" i="0" dirty="0">
                <a:effectLst/>
                <a:latin typeface="+mj-lt"/>
              </a:rPr>
              <a:t>：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+mj-lt"/>
              </a:rPr>
              <a:t>On Reasoning LLMs: Myths, Merits, and How to Move Forward</a:t>
            </a:r>
          </a:p>
          <a:p>
            <a:pPr algn="just">
              <a:lnSpc>
                <a:spcPct val="150000"/>
              </a:lnSpc>
            </a:pPr>
            <a:r>
              <a:rPr lang="en-US" altLang="zh-CN" b="1" i="0" dirty="0">
                <a:effectLst/>
                <a:latin typeface="+mj-lt"/>
              </a:rPr>
              <a:t>Chris Manning</a:t>
            </a:r>
            <a:r>
              <a:rPr lang="zh-CN" altLang="en-US" b="1" i="0" dirty="0">
                <a:effectLst/>
                <a:latin typeface="+mj-lt"/>
              </a:rPr>
              <a:t>：</a:t>
            </a:r>
            <a:r>
              <a:rPr lang="en-US" altLang="zh-CN" sz="2000" dirty="0">
                <a:solidFill>
                  <a:srgbClr val="333333"/>
                </a:solidFill>
                <a:latin typeface="+mj-lt"/>
              </a:rPr>
              <a:t>Meaning and Intelligence in Language Models:  From History and Philosophy to Universal Transformers and Web Agents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5C1A527-12E9-4D7D-BEF6-943962B22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4" y="3670883"/>
            <a:ext cx="1921024" cy="192102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6B664F2-132F-45B9-A8EF-F0373FE32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961" y="3670882"/>
            <a:ext cx="1813727" cy="202989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585E0E4-4639-499A-9BD7-3DF0A2B56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41" y="3670882"/>
            <a:ext cx="1886481" cy="20298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95044A3-4755-45FE-8A07-B1178E241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913" y="3670881"/>
            <a:ext cx="2401864" cy="192102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A6838C5-A6A1-4678-9547-1829AF9C933E}"/>
              </a:ext>
            </a:extLst>
          </p:cNvPr>
          <p:cNvSpPr txBox="1"/>
          <p:nvPr/>
        </p:nvSpPr>
        <p:spPr>
          <a:xfrm>
            <a:off x="271884" y="58829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https://kdd2025.kdd.org/keynote-speakers/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02637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B8B4397-40C5-4CAB-B252-426639D9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49" y="1518889"/>
            <a:ext cx="3914751" cy="24717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649F7AB-50E8-4E08-8BBA-F43AA85F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相关顶级国际学术会议的投稿与录用情况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4AE77A-2510-47DA-9815-AADB2173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A9C12F-0623-4A4D-9419-EB92BE5E3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79" b="3478"/>
          <a:stretch/>
        </p:blipFill>
        <p:spPr>
          <a:xfrm>
            <a:off x="156654" y="961536"/>
            <a:ext cx="5429030" cy="255353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44568FE-96C4-4661-82B9-7690A7AB0F31}"/>
              </a:ext>
            </a:extLst>
          </p:cNvPr>
          <p:cNvSpPr/>
          <p:nvPr/>
        </p:nvSpPr>
        <p:spPr>
          <a:xfrm>
            <a:off x="499571" y="3652129"/>
            <a:ext cx="4402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AI</a:t>
            </a:r>
            <a:r>
              <a:rPr lang="zh-CN" altLang="en-US" sz="1600" dirty="0"/>
              <a:t>相关顶级国际学术会议 </a:t>
            </a:r>
            <a:r>
              <a:rPr lang="en-US" altLang="zh-CN" sz="1600" dirty="0"/>
              <a:t>2020 </a:t>
            </a:r>
            <a:r>
              <a:rPr lang="zh-CN" altLang="en-US" sz="1600" dirty="0"/>
              <a:t>年的投稿量情况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1DEE7-2433-4ED6-9E09-CC0508DF8751}"/>
              </a:ext>
            </a:extLst>
          </p:cNvPr>
          <p:cNvSpPr/>
          <p:nvPr/>
        </p:nvSpPr>
        <p:spPr>
          <a:xfrm>
            <a:off x="4901738" y="4211839"/>
            <a:ext cx="4020845" cy="21172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AAAI 2026 </a:t>
            </a:r>
            <a:r>
              <a:rPr lang="zh-CN" altLang="en-US" dirty="0"/>
              <a:t>投稿量</a:t>
            </a:r>
            <a:r>
              <a:rPr lang="en-US" altLang="zh-CN" dirty="0"/>
              <a:t>2.9W</a:t>
            </a:r>
            <a:r>
              <a:rPr lang="zh-CN" altLang="en-US" dirty="0"/>
              <a:t>篇，是</a:t>
            </a:r>
            <a:r>
              <a:rPr lang="en-US" altLang="zh-CN" dirty="0"/>
              <a:t>2025</a:t>
            </a:r>
            <a:r>
              <a:rPr lang="zh-CN" altLang="en-US" dirty="0"/>
              <a:t>年的近两倍；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70C0"/>
                </a:solidFill>
              </a:rPr>
              <a:t>NeurIPS</a:t>
            </a:r>
            <a:r>
              <a:rPr lang="en-US" altLang="zh-CN" dirty="0">
                <a:solidFill>
                  <a:srgbClr val="0070C0"/>
                </a:solidFill>
              </a:rPr>
              <a:t> 2025 </a:t>
            </a:r>
            <a:r>
              <a:rPr lang="zh-CN" altLang="en-US" dirty="0"/>
              <a:t>投稿量近</a:t>
            </a:r>
            <a:r>
              <a:rPr lang="en-US" altLang="zh-CN" dirty="0"/>
              <a:t>3W</a:t>
            </a:r>
            <a:r>
              <a:rPr lang="zh-CN" altLang="en-US" dirty="0"/>
              <a:t>篇；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CVPR 2025 </a:t>
            </a:r>
            <a:r>
              <a:rPr lang="zh-CN" altLang="en-US" dirty="0"/>
              <a:t>投稿量</a:t>
            </a:r>
            <a:r>
              <a:rPr lang="en-US" altLang="zh-CN" dirty="0"/>
              <a:t>1.3W</a:t>
            </a:r>
            <a:r>
              <a:rPr lang="zh-CN" altLang="en-US" dirty="0"/>
              <a:t>篇；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ICML 2025</a:t>
            </a:r>
            <a:r>
              <a:rPr lang="zh-CN" altLang="en-US" dirty="0"/>
              <a:t>投稿量</a:t>
            </a:r>
            <a:r>
              <a:rPr lang="en-US" altLang="zh-CN" dirty="0"/>
              <a:t>1.2W</a:t>
            </a:r>
            <a:r>
              <a:rPr lang="zh-CN" altLang="en-US" dirty="0"/>
              <a:t>篇；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D7E1091-E47A-4291-BBDA-9BFA3433C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5" y="4014926"/>
            <a:ext cx="4020845" cy="225389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6118A80-2AA9-4596-9315-0210C95901D6}"/>
              </a:ext>
            </a:extLst>
          </p:cNvPr>
          <p:cNvSpPr/>
          <p:nvPr/>
        </p:nvSpPr>
        <p:spPr>
          <a:xfrm>
            <a:off x="680304" y="6195917"/>
            <a:ext cx="36838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AI</a:t>
            </a:r>
            <a:r>
              <a:rPr lang="zh-CN" altLang="en-US" sz="1600" dirty="0"/>
              <a:t>相关顶级国际学术会议华人作者占比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D705AF-5756-45E8-9C28-A4EDEBB025B0}"/>
              </a:ext>
            </a:extLst>
          </p:cNvPr>
          <p:cNvSpPr/>
          <p:nvPr/>
        </p:nvSpPr>
        <p:spPr>
          <a:xfrm>
            <a:off x="5612508" y="1332735"/>
            <a:ext cx="36838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AI</a:t>
            </a:r>
            <a:r>
              <a:rPr lang="zh-CN" altLang="en-US" sz="1600" dirty="0"/>
              <a:t>相关顶级国际学术会议论文录用情况</a:t>
            </a:r>
          </a:p>
        </p:txBody>
      </p:sp>
    </p:spTree>
    <p:extLst>
      <p:ext uri="{BB962C8B-B14F-4D97-AF65-F5344CB8AC3E}">
        <p14:creationId xmlns:p14="http://schemas.microsoft.com/office/powerpoint/2010/main" val="27385912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718FF-C38A-4634-B467-32F6C163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/>
              <a:t>CS Ranking </a:t>
            </a:r>
            <a:r>
              <a:rPr lang="zh-CN" altLang="en-US" sz="3200" b="1" dirty="0"/>
              <a:t>研究机构排名（</a:t>
            </a:r>
            <a:r>
              <a:rPr lang="en-US" altLang="zh-CN" sz="3200" b="1" dirty="0"/>
              <a:t>AI</a:t>
            </a:r>
            <a:r>
              <a:rPr lang="zh-CN" altLang="en-US" sz="3200" b="1" dirty="0"/>
              <a:t>领域　近</a:t>
            </a:r>
            <a:r>
              <a:rPr lang="en-US" altLang="zh-CN" sz="3200" b="1" dirty="0"/>
              <a:t>5</a:t>
            </a:r>
            <a:r>
              <a:rPr lang="zh-CN" altLang="en-US" sz="3200" b="1" dirty="0"/>
              <a:t>年）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DF569C-72CB-41B9-93BA-642641A5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96E479-B8E9-4F4D-8DEF-A4D3B5A9D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" y="974304"/>
            <a:ext cx="4249337" cy="247193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EA3A3E-6C30-4667-A6C6-7ED623F83DCF}"/>
              </a:ext>
            </a:extLst>
          </p:cNvPr>
          <p:cNvSpPr/>
          <p:nvPr/>
        </p:nvSpPr>
        <p:spPr>
          <a:xfrm>
            <a:off x="278661" y="670214"/>
            <a:ext cx="38523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个领域世界综合排名</a:t>
            </a:r>
            <a:r>
              <a:rPr lang="en-US" altLang="zh-CN" dirty="0"/>
              <a:t>2016-2021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A52092-1FAC-433B-959C-FC4178595A0D}"/>
              </a:ext>
            </a:extLst>
          </p:cNvPr>
          <p:cNvSpPr/>
          <p:nvPr/>
        </p:nvSpPr>
        <p:spPr>
          <a:xfrm>
            <a:off x="278662" y="6050808"/>
            <a:ext cx="3852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个领域世界综合排名</a:t>
            </a:r>
            <a:r>
              <a:rPr lang="en-US" altLang="zh-CN" dirty="0"/>
              <a:t>2020-2025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FEAB664-0440-4D65-81F0-AF4CD498B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5" y="3799102"/>
            <a:ext cx="3985613" cy="2573388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E2C0FB11-FF56-47AB-AA33-BF1B5E1D40DD}"/>
              </a:ext>
            </a:extLst>
          </p:cNvPr>
          <p:cNvSpPr/>
          <p:nvPr/>
        </p:nvSpPr>
        <p:spPr>
          <a:xfrm>
            <a:off x="145384" y="3446238"/>
            <a:ext cx="38523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个领域世界综合排名</a:t>
            </a:r>
            <a:r>
              <a:rPr lang="en-US" altLang="zh-CN" dirty="0"/>
              <a:t>2020-2025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9E760A4-8747-4905-8AC8-2C9618B2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182" y="876184"/>
            <a:ext cx="2614928" cy="550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190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box 992"/>
          <p:cNvSpPr/>
          <p:nvPr/>
        </p:nvSpPr>
        <p:spPr>
          <a:xfrm>
            <a:off x="459125" y="1316886"/>
            <a:ext cx="7676515" cy="404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73000"/>
              </a:lnSpc>
              <a:spcBef>
                <a:spcPts val="848"/>
              </a:spcBef>
            </a:pP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Why:</a:t>
            </a:r>
          </a:p>
          <a:p>
            <a:pPr marL="450215" algn="l" rtl="0" eaLnBrk="0">
              <a:lnSpc>
                <a:spcPct val="73000"/>
              </a:lnSpc>
              <a:spcBef>
                <a:spcPts val="1696"/>
              </a:spcBef>
              <a:tabLst/>
            </a:pPr>
            <a:r>
              <a:rPr lang="en-US" altLang="zh-CN" sz="2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  </a:t>
            </a:r>
            <a:r>
              <a:rPr lang="en-US" altLang="zh-CN" sz="2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lang="en-US" altLang="zh-CN" sz="28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ains</a:t>
            </a:r>
            <a:r>
              <a:rPr lang="en-US" altLang="zh-CN" sz="28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value</a:t>
            </a:r>
            <a:r>
              <a:rPr lang="en-US" altLang="zh-CN" sz="28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US" altLang="zh-CN" sz="2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knowledge</a:t>
            </a:r>
            <a:endParaRPr lang="en-US" altLang="zh-CN" sz="2800" dirty="0">
              <a:latin typeface="Calibri"/>
              <a:ea typeface="Calibri"/>
              <a:cs typeface="Calibri"/>
            </a:endParaRPr>
          </a:p>
          <a:p>
            <a:pPr marL="450215" algn="l" rtl="0" eaLnBrk="0">
              <a:lnSpc>
                <a:spcPct val="72000"/>
              </a:lnSpc>
              <a:spcBef>
                <a:spcPts val="1664"/>
              </a:spcBef>
              <a:tabLst/>
            </a:pP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 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</a:t>
            </a:r>
            <a:r>
              <a:rPr lang="en-US" altLang="zh-CN" sz="28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lang="en-US" altLang="zh-CN" sz="2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lang="en-US" altLang="zh-CN" sz="28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performed</a:t>
            </a:r>
            <a:r>
              <a:rPr lang="en-US" altLang="zh-CN" sz="28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lang="en-US" altLang="zh-CN" sz="28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var</a:t>
            </a:r>
            <a:r>
              <a:rPr lang="en-US" altLang="zh-CN" sz="2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iety</a:t>
            </a:r>
            <a:r>
              <a:rPr lang="en-US" altLang="zh-CN" sz="28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lang="en-US" altLang="zh-CN" sz="28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zh-CN" sz="2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endParaRPr lang="en-US" sz="2800" kern="0" spc="130" dirty="0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73000"/>
              </a:lnSpc>
              <a:spcBef>
                <a:spcPts val="848"/>
              </a:spcBef>
            </a:pPr>
            <a:r>
              <a:rPr lang="en-US" altLang="zh-CN"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What:</a:t>
            </a: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015" indent="-304800" algn="l" rtl="0" eaLnBrk="0">
              <a:lnSpc>
                <a:spcPct val="89000"/>
              </a:lnSpc>
              <a:spcBef>
                <a:spcPts val="603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Data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mining: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scovering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interesting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patterns and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knowledge from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massive amount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da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eaLnBrk="0">
              <a:lnSpc>
                <a:spcPct val="73000"/>
              </a:lnSpc>
              <a:spcBef>
                <a:spcPts val="848"/>
              </a:spcBef>
            </a:pPr>
            <a:r>
              <a:rPr sz="2800" kern="0" spc="-5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•  How:</a:t>
            </a:r>
          </a:p>
          <a:p>
            <a:pPr algn="r" rtl="0" eaLnBrk="0">
              <a:lnSpc>
                <a:spcPct val="72000"/>
              </a:lnSpc>
              <a:spcBef>
                <a:spcPts val="1759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Association, classification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clustering, outlier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trend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analysis,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etc</a:t>
            </a:r>
            <a:endParaRPr sz="20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450215" algn="l" rtl="0" eaLnBrk="0">
              <a:lnSpc>
                <a:spcPct val="73000"/>
              </a:lnSpc>
              <a:spcBef>
                <a:spcPts val="3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–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Many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real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applications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industry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994" name="textbox 994"/>
          <p:cNvSpPr/>
          <p:nvPr/>
        </p:nvSpPr>
        <p:spPr>
          <a:xfrm>
            <a:off x="3075481" y="254004"/>
            <a:ext cx="2752563" cy="530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tabLst/>
            </a:pPr>
            <a:r>
              <a:rPr sz="40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3712" y="2369184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谢谢！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/>
            </a:br>
            <a:r>
              <a:rPr lang="zh-CN" altLang="en-US" sz="3600" b="1" dirty="0">
                <a:solidFill>
                  <a:srgbClr val="002060"/>
                </a:solidFill>
              </a:rPr>
              <a:t>下一章：数据预处理</a:t>
            </a:r>
            <a:br>
              <a:rPr lang="en-US" altLang="zh-CN" sz="3600" b="1" dirty="0">
                <a:solidFill>
                  <a:srgbClr val="002060"/>
                </a:solidFill>
              </a:rPr>
            </a:br>
            <a:r>
              <a:rPr lang="zh-CN" altLang="en-US" sz="2200" b="1" dirty="0">
                <a:solidFill>
                  <a:srgbClr val="002060"/>
                </a:solidFill>
              </a:rPr>
              <a:t>部分课程材料来源于互联网</a:t>
            </a:r>
            <a:br>
              <a:rPr lang="en-US" altLang="zh-CN" sz="3100" dirty="0">
                <a:solidFill>
                  <a:srgbClr val="002060"/>
                </a:solidFill>
                <a:latin typeface="+mn-ea"/>
                <a:ea typeface="+mn-ea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+mn-ea"/>
                <a:ea typeface="+mn-ea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20942</TotalTime>
  <Words>3125</Words>
  <Application>Microsoft Office PowerPoint</Application>
  <PresentationFormat>全屏显示(4:3)</PresentationFormat>
  <Paragraphs>612</Paragraphs>
  <Slides>58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73" baseType="lpstr">
      <vt:lpstr>Monotype Sorts</vt:lpstr>
      <vt:lpstr>黑体</vt:lpstr>
      <vt:lpstr>华文细黑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Wingdings 2</vt:lpstr>
      <vt:lpstr>白底灰边-Office2010风格</vt:lpstr>
      <vt:lpstr>Document</vt:lpstr>
      <vt:lpstr>Microsoft Word 97 - 2003 Document</vt:lpstr>
      <vt:lpstr>VISIO</vt:lpstr>
      <vt:lpstr>  课程介绍  授课老师：王丽苹 教授    </vt:lpstr>
      <vt:lpstr> 我的联系方式</vt:lpstr>
      <vt:lpstr>关于这门课</vt:lpstr>
      <vt:lpstr>课程介绍</vt:lpstr>
      <vt:lpstr>考核方式</vt:lpstr>
      <vt:lpstr>教材</vt:lpstr>
      <vt:lpstr>参考教材</vt:lpstr>
      <vt:lpstr>参考教材</vt:lpstr>
      <vt:lpstr>参考教材</vt:lpstr>
      <vt:lpstr>推荐在线课程资源</vt:lpstr>
      <vt:lpstr>Why？</vt:lpstr>
      <vt:lpstr>人类已进入一个崭新的信息时代 </vt:lpstr>
      <vt:lpstr>PowerPoint 演示文稿</vt:lpstr>
      <vt:lpstr>丰富的数据类型-表格数据</vt:lpstr>
      <vt:lpstr>丰富的数据类型-图数据</vt:lpstr>
      <vt:lpstr>丰富的数据类型-序列数据</vt:lpstr>
      <vt:lpstr>丰富的数据类型-时空数据</vt:lpstr>
      <vt:lpstr>大数据的特点</vt:lpstr>
      <vt:lpstr>大数据的特点</vt:lpstr>
      <vt:lpstr>大数据的特点</vt:lpstr>
      <vt:lpstr>大数据的特点</vt:lpstr>
      <vt:lpstr>大数据的概念</vt:lpstr>
      <vt:lpstr>大数据的特点</vt:lpstr>
      <vt:lpstr>What?</vt:lpstr>
      <vt:lpstr>数据挖掘的定义</vt:lpstr>
      <vt:lpstr>数据挖掘的定义</vt:lpstr>
      <vt:lpstr>PowerPoint 演示文稿</vt:lpstr>
      <vt:lpstr>数据挖掘de特点</vt:lpstr>
      <vt:lpstr>数据挖掘de任务</vt:lpstr>
      <vt:lpstr>PowerPoint 演示文稿</vt:lpstr>
      <vt:lpstr>PowerPoint 演示文稿</vt:lpstr>
      <vt:lpstr>数据挖掘de任务：分类定义</vt:lpstr>
      <vt:lpstr>分类:例子</vt:lpstr>
      <vt:lpstr>分类:应用1</vt:lpstr>
      <vt:lpstr>分类:应用2</vt:lpstr>
      <vt:lpstr>分类:应用3</vt:lpstr>
      <vt:lpstr>分类:应用3</vt:lpstr>
      <vt:lpstr>数据挖掘de任务：聚类分析</vt:lpstr>
      <vt:lpstr>聚类（Clustering） </vt:lpstr>
      <vt:lpstr>聚类</vt:lpstr>
      <vt:lpstr>聚类: 定义</vt:lpstr>
      <vt:lpstr>聚类: 应用1</vt:lpstr>
      <vt:lpstr>聚类: 应用2</vt:lpstr>
      <vt:lpstr>数据挖掘de任务：关联分析: 定义</vt:lpstr>
      <vt:lpstr>关联规则:定义</vt:lpstr>
      <vt:lpstr>关联规则:应用1</vt:lpstr>
      <vt:lpstr>关联规则:应用2</vt:lpstr>
      <vt:lpstr>异常检测</vt:lpstr>
      <vt:lpstr>异常检测</vt:lpstr>
      <vt:lpstr>数据挖掘技术的产生和发展</vt:lpstr>
      <vt:lpstr>最新的发展 DBLP、 Google学术</vt:lpstr>
      <vt:lpstr>CCF的推荐列表</vt:lpstr>
      <vt:lpstr>SIGKDD 2025  Toronto Canada</vt:lpstr>
      <vt:lpstr>SIGKDD 2025 Keynote Speakers</vt:lpstr>
      <vt:lpstr>相关顶级国际学术会议的投稿与录用情况</vt:lpstr>
      <vt:lpstr>CS Ranking 研究机构排名（AI领域　近5年）</vt:lpstr>
      <vt:lpstr>PowerPoint 演示文稿</vt:lpstr>
      <vt:lpstr>谢谢！  下一章：数据预处理 部分课程材料来源于互联网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1742</cp:revision>
  <dcterms:created xsi:type="dcterms:W3CDTF">2018-01-15T02:11:01Z</dcterms:created>
  <dcterms:modified xsi:type="dcterms:W3CDTF">2025-09-17T14:05:03Z</dcterms:modified>
</cp:coreProperties>
</file>