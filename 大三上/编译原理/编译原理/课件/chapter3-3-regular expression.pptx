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61"/>
  </p:notesMasterIdLst>
  <p:handoutMasterIdLst>
    <p:handoutMasterId r:id="rId62"/>
  </p:handoutMasterIdLst>
  <p:sldIdLst>
    <p:sldId id="446" r:id="rId2"/>
    <p:sldId id="445" r:id="rId3"/>
    <p:sldId id="330" r:id="rId4"/>
    <p:sldId id="442" r:id="rId5"/>
    <p:sldId id="441" r:id="rId6"/>
    <p:sldId id="309" r:id="rId7"/>
    <p:sldId id="269" r:id="rId8"/>
    <p:sldId id="327" r:id="rId9"/>
    <p:sldId id="328" r:id="rId10"/>
    <p:sldId id="331" r:id="rId11"/>
    <p:sldId id="332" r:id="rId12"/>
    <p:sldId id="329" r:id="rId13"/>
    <p:sldId id="333" r:id="rId14"/>
    <p:sldId id="313" r:id="rId15"/>
    <p:sldId id="310" r:id="rId16"/>
    <p:sldId id="447" r:id="rId17"/>
    <p:sldId id="448" r:id="rId18"/>
    <p:sldId id="334" r:id="rId19"/>
    <p:sldId id="311" r:id="rId20"/>
    <p:sldId id="335" r:id="rId21"/>
    <p:sldId id="337" r:id="rId22"/>
    <p:sldId id="336" r:id="rId23"/>
    <p:sldId id="342" r:id="rId24"/>
    <p:sldId id="271" r:id="rId25"/>
    <p:sldId id="340" r:id="rId26"/>
    <p:sldId id="338" r:id="rId27"/>
    <p:sldId id="343" r:id="rId28"/>
    <p:sldId id="344" r:id="rId29"/>
    <p:sldId id="346" r:id="rId30"/>
    <p:sldId id="274" r:id="rId31"/>
    <p:sldId id="314" r:id="rId32"/>
    <p:sldId id="347" r:id="rId33"/>
    <p:sldId id="275" r:id="rId34"/>
    <p:sldId id="276" r:id="rId35"/>
    <p:sldId id="348" r:id="rId36"/>
    <p:sldId id="350" r:id="rId37"/>
    <p:sldId id="352" r:id="rId38"/>
    <p:sldId id="277" r:id="rId39"/>
    <p:sldId id="353" r:id="rId40"/>
    <p:sldId id="466" r:id="rId41"/>
    <p:sldId id="467" r:id="rId42"/>
    <p:sldId id="468" r:id="rId43"/>
    <p:sldId id="469" r:id="rId44"/>
    <p:sldId id="450" r:id="rId45"/>
    <p:sldId id="451" r:id="rId46"/>
    <p:sldId id="452" r:id="rId47"/>
    <p:sldId id="453" r:id="rId48"/>
    <p:sldId id="454" r:id="rId49"/>
    <p:sldId id="455" r:id="rId50"/>
    <p:sldId id="456" r:id="rId51"/>
    <p:sldId id="457" r:id="rId52"/>
    <p:sldId id="458" r:id="rId53"/>
    <p:sldId id="459" r:id="rId54"/>
    <p:sldId id="460" r:id="rId55"/>
    <p:sldId id="461" r:id="rId56"/>
    <p:sldId id="462" r:id="rId57"/>
    <p:sldId id="463" r:id="rId58"/>
    <p:sldId id="464" r:id="rId59"/>
    <p:sldId id="465" r:id="rId60"/>
  </p:sldIdLst>
  <p:sldSz cx="9906000" cy="6858000" type="A4"/>
  <p:notesSz cx="6997700" cy="92837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80">
          <p15:clr>
            <a:srgbClr val="A4A3A4"/>
          </p15:clr>
        </p15:guide>
        <p15:guide id="2" pos="30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4">
          <p15:clr>
            <a:srgbClr val="A4A3A4"/>
          </p15:clr>
        </p15:guide>
        <p15:guide id="2" pos="22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33"/>
    <a:srgbClr val="FF3300"/>
    <a:srgbClr val="6666FF"/>
    <a:srgbClr val="FFCCFF"/>
    <a:srgbClr val="CCECFF"/>
    <a:srgbClr val="660066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825" autoAdjust="0"/>
    <p:restoredTop sz="92775" autoAdjust="0"/>
  </p:normalViewPr>
  <p:slideViewPr>
    <p:cSldViewPr>
      <p:cViewPr varScale="1">
        <p:scale>
          <a:sx n="75" d="100"/>
          <a:sy n="75" d="100"/>
        </p:scale>
        <p:origin x="900" y="66"/>
      </p:cViewPr>
      <p:guideLst>
        <p:guide orient="horz" pos="1680"/>
        <p:guide pos="30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-1188" y="-102"/>
      </p:cViewPr>
      <p:guideLst>
        <p:guide orient="horz" pos="2924"/>
        <p:guide pos="22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05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084" tIns="45542" rIns="91084" bIns="45542" numCol="1" anchor="t" anchorCtr="0" compatLnSpc="1">
            <a:prstTxWarp prst="textNoShape">
              <a:avLst/>
            </a:prstTxWarp>
          </a:bodyPr>
          <a:lstStyle>
            <a:lvl1pPr defTabSz="911225">
              <a:defRPr sz="1200" b="0"/>
            </a:lvl1pPr>
          </a:lstStyle>
          <a:p>
            <a:pPr>
              <a:defRPr/>
            </a:pPr>
            <a:r>
              <a:rPr lang="zh-CN" altLang="en-US"/>
              <a:t>lec01-lexicalanalyzer</a:t>
            </a:r>
          </a:p>
        </p:txBody>
      </p:sp>
      <p:sp>
        <p:nvSpPr>
          <p:cNvPr id="2211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43350" y="0"/>
            <a:ext cx="30305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084" tIns="45542" rIns="91084" bIns="45542" numCol="1" anchor="t" anchorCtr="0" compatLnSpc="1">
            <a:prstTxWarp prst="textNoShape">
              <a:avLst/>
            </a:prstTxWarp>
          </a:bodyPr>
          <a:lstStyle>
            <a:lvl1pPr algn="r" defTabSz="911225">
              <a:defRPr sz="1200" b="0"/>
            </a:lvl1pPr>
          </a:lstStyle>
          <a:p>
            <a:pPr>
              <a:defRPr/>
            </a:pPr>
            <a:fld id="{469483E6-803D-4DFB-B68F-C3168B659DB4}" type="datetime4">
              <a:rPr lang="zh-CN" altLang="en-US"/>
              <a:pPr>
                <a:defRPr/>
              </a:pPr>
              <a:t>2015年10月7日星期三</a:t>
            </a:fld>
            <a:endParaRPr lang="en-US" altLang="zh-CN"/>
          </a:p>
        </p:txBody>
      </p:sp>
      <p:sp>
        <p:nvSpPr>
          <p:cNvPr id="2211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6500"/>
            <a:ext cx="30305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084" tIns="45542" rIns="91084" bIns="45542" numCol="1" anchor="b" anchorCtr="0" compatLnSpc="1">
            <a:prstTxWarp prst="textNoShape">
              <a:avLst/>
            </a:prstTxWarp>
          </a:bodyPr>
          <a:lstStyle>
            <a:lvl1pPr defTabSz="911225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11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43350" y="8826500"/>
            <a:ext cx="30305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084" tIns="45542" rIns="91084" bIns="45542" numCol="1" anchor="b" anchorCtr="0" compatLnSpc="1">
            <a:prstTxWarp prst="textNoShape">
              <a:avLst/>
            </a:prstTxWarp>
          </a:bodyPr>
          <a:lstStyle>
            <a:lvl1pPr algn="r" defTabSz="911225">
              <a:defRPr sz="1200" b="0"/>
            </a:lvl1pPr>
          </a:lstStyle>
          <a:p>
            <a:fld id="{3A328983-7FC5-4878-B06B-776283848E74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0538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51" tIns="46476" rIns="92951" bIns="46476" numCol="1" anchor="t" anchorCtr="0" compatLnSpc="1">
            <a:prstTxWarp prst="textNoShape">
              <a:avLst/>
            </a:prstTxWarp>
          </a:bodyPr>
          <a:lstStyle>
            <a:lvl1pPr defTabSz="928688">
              <a:defRPr sz="1200" b="0"/>
            </a:lvl1pPr>
          </a:lstStyle>
          <a:p>
            <a:pPr>
              <a:defRPr/>
            </a:pPr>
            <a:r>
              <a:rPr lang="zh-CN" altLang="en-US"/>
              <a:t>lec01-lexicalanalyzer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7163" y="0"/>
            <a:ext cx="3030537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51" tIns="46476" rIns="92951" bIns="46476" numCol="1" anchor="t" anchorCtr="0" compatLnSpc="1">
            <a:prstTxWarp prst="textNoShape">
              <a:avLst/>
            </a:prstTxWarp>
          </a:bodyPr>
          <a:lstStyle>
            <a:lvl1pPr algn="r" defTabSz="928688">
              <a:defRPr sz="1200" b="0"/>
            </a:lvl1pPr>
          </a:lstStyle>
          <a:p>
            <a:pPr>
              <a:defRPr/>
            </a:pPr>
            <a:fld id="{00C9B36A-CAF8-4BD6-993A-6C07D47E049C}" type="datetime4">
              <a:rPr lang="zh-CN" altLang="en-US"/>
              <a:pPr>
                <a:defRPr/>
              </a:pPr>
              <a:t>2015年10月7日星期三</a:t>
            </a:fld>
            <a:endParaRPr lang="en-US" altLang="zh-CN"/>
          </a:p>
        </p:txBody>
      </p:sp>
      <p:sp>
        <p:nvSpPr>
          <p:cNvPr id="62468" name="Rectangle 4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985838" y="695325"/>
            <a:ext cx="5029200" cy="34813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89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3450" y="4411663"/>
            <a:ext cx="5130800" cy="417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51" tIns="46476" rIns="92951" bIns="4647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 smtClean="0"/>
              <a:t>Click to edit Master text styles</a:t>
            </a:r>
          </a:p>
          <a:p>
            <a:pPr lvl="1"/>
            <a:r>
              <a:rPr lang="en-US" altLang="zh-CN" noProof="0" smtClean="0"/>
              <a:t>Second level</a:t>
            </a:r>
          </a:p>
          <a:p>
            <a:pPr lvl="2"/>
            <a:r>
              <a:rPr lang="en-US" altLang="zh-CN" noProof="0" smtClean="0"/>
              <a:t>Third level</a:t>
            </a:r>
          </a:p>
          <a:p>
            <a:pPr lvl="3"/>
            <a:r>
              <a:rPr lang="en-US" altLang="zh-CN" noProof="0" smtClean="0"/>
              <a:t>Fourth level</a:t>
            </a:r>
          </a:p>
          <a:p>
            <a:pPr lvl="4"/>
            <a:r>
              <a:rPr lang="en-US" altLang="zh-CN" noProof="0" smtClean="0"/>
              <a:t>Fifth level</a:t>
            </a:r>
          </a:p>
        </p:txBody>
      </p:sp>
      <p:sp>
        <p:nvSpPr>
          <p:cNvPr id="389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18563"/>
            <a:ext cx="3030538" cy="46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51" tIns="46476" rIns="92951" bIns="46476" numCol="1" anchor="b" anchorCtr="0" compatLnSpc="1">
            <a:prstTxWarp prst="textNoShape">
              <a:avLst/>
            </a:prstTxWarp>
          </a:bodyPr>
          <a:lstStyle>
            <a:lvl1pPr defTabSz="928688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7163" y="8818563"/>
            <a:ext cx="3030537" cy="46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51" tIns="46476" rIns="92951" bIns="46476" numCol="1" anchor="b" anchorCtr="0" compatLnSpc="1">
            <a:prstTxWarp prst="textNoShape">
              <a:avLst/>
            </a:prstTxWarp>
          </a:bodyPr>
          <a:lstStyle>
            <a:lvl1pPr algn="r" defTabSz="928688">
              <a:defRPr sz="1200" b="0"/>
            </a:lvl1pPr>
          </a:lstStyle>
          <a:p>
            <a:fld id="{8F845195-4E49-4A2E-8742-083D0B104E7D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200" b="0" smtClean="0"/>
              <a:t>lec01-lexicalanalyzer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03626B5-C36E-4B1B-A720-FFCE2998DFFB}" type="datetime4">
              <a:rPr lang="zh-CN" altLang="en-US" sz="1200" b="0" smtClean="0"/>
              <a:pPr/>
              <a:t>2015年10月7日星期三</a:t>
            </a:fld>
            <a:endParaRPr lang="en-US" altLang="zh-CN" sz="1200" b="0" smtClean="0"/>
          </a:p>
        </p:txBody>
      </p:sp>
      <p:sp>
        <p:nvSpPr>
          <p:cNvPr id="6349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7D3DAA5-7291-435D-8976-5371CDBBBB65}" type="slidenum">
              <a:rPr lang="zh-CN" altLang="en-US" sz="1200" b="0"/>
              <a:pPr/>
              <a:t>7</a:t>
            </a:fld>
            <a:endParaRPr lang="en-US" altLang="zh-CN" sz="1200" b="0"/>
          </a:p>
        </p:txBody>
      </p:sp>
      <p:sp>
        <p:nvSpPr>
          <p:cNvPr id="63493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200" b="0" smtClean="0"/>
              <a:t>lec01-lexicalanalyzer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168DD1E-D465-4216-9F42-E63079211277}" type="datetime4">
              <a:rPr lang="zh-CN" altLang="en-US" sz="1200" b="0" smtClean="0"/>
              <a:pPr/>
              <a:t>2015年10月7日星期三</a:t>
            </a:fld>
            <a:endParaRPr lang="en-US" altLang="zh-CN" sz="1200" b="0" smtClean="0"/>
          </a:p>
        </p:txBody>
      </p:sp>
      <p:sp>
        <p:nvSpPr>
          <p:cNvPr id="6451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BF830C3-8BD4-4EAD-8FA6-967901147A04}" type="slidenum">
              <a:rPr lang="zh-CN" altLang="en-US" sz="1200" b="0"/>
              <a:pPr/>
              <a:t>13</a:t>
            </a:fld>
            <a:endParaRPr lang="en-US" altLang="zh-CN" sz="1200" b="0"/>
          </a:p>
        </p:txBody>
      </p:sp>
      <p:sp>
        <p:nvSpPr>
          <p:cNvPr id="64517" name="Rectangle 1026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graphicFrame>
        <p:nvGraphicFramePr>
          <p:cNvPr id="354342" name="Group 1062"/>
          <p:cNvGraphicFramePr>
            <a:graphicFrameLocks noGrp="1"/>
          </p:cNvGraphicFramePr>
          <p:nvPr>
            <p:ph type="body" idx="1"/>
          </p:nvPr>
        </p:nvGraphicFramePr>
        <p:xfrm>
          <a:off x="933450" y="4411663"/>
          <a:ext cx="5130800" cy="4605337"/>
        </p:xfrm>
        <a:graphic>
          <a:graphicData uri="http://schemas.openxmlformats.org/drawingml/2006/table">
            <a:tbl>
              <a:tblPr/>
              <a:tblGrid>
                <a:gridCol w="663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51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114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token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Sample lexemes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Informal description of pattern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330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Const</a:t>
                      </a:r>
                    </a:p>
                  </a:txBody>
                  <a:tcPr marL="90000" marR="90000" marT="46807" marB="468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Const</a:t>
                      </a:r>
                    </a:p>
                  </a:txBody>
                  <a:tcPr marL="90000" marR="90000" marT="46807" marB="468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Const</a:t>
                      </a:r>
                    </a:p>
                  </a:txBody>
                  <a:tcPr marL="90000" marR="90000" marT="46807" marB="468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If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If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If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14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Relation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&lt;,&lt;=,=,&lt;&gt;,&gt;,&gt;=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 or 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Wingdings" pitchFamily="2" charset="2"/>
                        </a:rPr>
                        <a:t>&lt;= or &lt;&gt; or &gt;= or &gt;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14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Id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Pi,count,d2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Letter followed by letters and digits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14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Num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3.1415,0,6.0E23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Any numeric constant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114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literal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“core dumped”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Any characters between “ and ” except “”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200" b="0" smtClean="0"/>
              <a:t>lec01-lexicalanalyzer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A9FEF04-C070-437E-9153-4E69D23B8E3D}" type="datetime4">
              <a:rPr lang="zh-CN" altLang="en-US" sz="1200" b="0" smtClean="0"/>
              <a:pPr/>
              <a:t>2015年10月7日星期三</a:t>
            </a:fld>
            <a:endParaRPr lang="en-US" altLang="zh-CN" sz="1200" b="0" smtClean="0"/>
          </a:p>
        </p:txBody>
      </p:sp>
      <p:sp>
        <p:nvSpPr>
          <p:cNvPr id="6554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97899CC-3152-409B-9CA4-422CD69DAAFC}" type="slidenum">
              <a:rPr lang="zh-CN" altLang="en-US" sz="1200" b="0"/>
              <a:pPr/>
              <a:t>21</a:t>
            </a:fld>
            <a:endParaRPr lang="en-US" altLang="zh-CN" sz="1200" b="0"/>
          </a:p>
        </p:txBody>
      </p:sp>
      <p:sp>
        <p:nvSpPr>
          <p:cNvPr id="65541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989013" y="696913"/>
            <a:ext cx="5024437" cy="3479800"/>
          </a:xfrm>
          <a:ln/>
        </p:spPr>
      </p:sp>
      <p:sp>
        <p:nvSpPr>
          <p:cNvPr id="655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0075"/>
            <a:ext cx="5130800" cy="4178300"/>
          </a:xfrm>
          <a:noFill/>
        </p:spPr>
        <p:txBody>
          <a:bodyPr/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200" b="0" smtClean="0"/>
              <a:t>lec01-lexicalanalyzer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1172F0B-CF54-4560-8B8A-356EF9ECE3EE}" type="datetime4">
              <a:rPr lang="zh-CN" altLang="en-US" sz="1200" b="0" smtClean="0"/>
              <a:pPr/>
              <a:t>2015年10月7日星期三</a:t>
            </a:fld>
            <a:endParaRPr lang="en-US" altLang="zh-CN" sz="1200" b="0" smtClean="0"/>
          </a:p>
        </p:txBody>
      </p:sp>
      <p:sp>
        <p:nvSpPr>
          <p:cNvPr id="6656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D351A7C-3D37-4A99-9BC3-6357CFCDEE00}" type="slidenum">
              <a:rPr lang="zh-CN" altLang="en-US" sz="1200" b="0"/>
              <a:pPr/>
              <a:t>23</a:t>
            </a:fld>
            <a:endParaRPr lang="en-US" altLang="zh-CN" sz="1200" b="0"/>
          </a:p>
        </p:txBody>
      </p:sp>
      <p:sp>
        <p:nvSpPr>
          <p:cNvPr id="66565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989013" y="696913"/>
            <a:ext cx="5024437" cy="3479800"/>
          </a:xfrm>
          <a:ln/>
        </p:spPr>
      </p:sp>
      <p:sp>
        <p:nvSpPr>
          <p:cNvPr id="665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0075"/>
            <a:ext cx="5130800" cy="4178300"/>
          </a:xfrm>
          <a:noFill/>
        </p:spPr>
        <p:txBody>
          <a:bodyPr/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200" b="0" smtClean="0"/>
              <a:t>lec01-lexicalanalyzer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D8D2272-474D-4B99-8DAA-414E016FBBD6}" type="datetime4">
              <a:rPr lang="zh-CN" altLang="en-US" sz="1200" b="0" smtClean="0"/>
              <a:pPr/>
              <a:t>2015年10月7日星期三</a:t>
            </a:fld>
            <a:endParaRPr lang="en-US" altLang="zh-CN" sz="1200" b="0" smtClean="0"/>
          </a:p>
        </p:txBody>
      </p:sp>
      <p:sp>
        <p:nvSpPr>
          <p:cNvPr id="6758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2B65033-6BAB-407F-8417-64517408C0C1}" type="slidenum">
              <a:rPr lang="zh-CN" altLang="en-US" sz="1200" b="0"/>
              <a:pPr/>
              <a:t>25</a:t>
            </a:fld>
            <a:endParaRPr lang="en-US" altLang="zh-CN" sz="1200" b="0"/>
          </a:p>
        </p:txBody>
      </p:sp>
      <p:sp>
        <p:nvSpPr>
          <p:cNvPr id="67589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989013" y="696913"/>
            <a:ext cx="5024437" cy="3479800"/>
          </a:xfrm>
          <a:ln/>
        </p:spPr>
      </p:sp>
      <p:sp>
        <p:nvSpPr>
          <p:cNvPr id="675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0075"/>
            <a:ext cx="5130800" cy="4178300"/>
          </a:xfrm>
          <a:noFill/>
        </p:spPr>
        <p:txBody>
          <a:bodyPr/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200" b="0" smtClean="0"/>
              <a:t>lec01-lexicalanalyzer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7BAE445-8029-4FC3-9443-D7B946CE5586}" type="datetime4">
              <a:rPr lang="zh-CN" altLang="en-US" sz="1200" b="0" smtClean="0"/>
              <a:pPr/>
              <a:t>2015年10月7日星期三</a:t>
            </a:fld>
            <a:endParaRPr lang="en-US" altLang="zh-CN" sz="1200" b="0" smtClean="0"/>
          </a:p>
        </p:txBody>
      </p:sp>
      <p:sp>
        <p:nvSpPr>
          <p:cNvPr id="6861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13C8075-C272-4ACE-BBAF-45DCFDF1EB9D}" type="slidenum">
              <a:rPr lang="zh-CN" altLang="en-US" sz="1200" b="0"/>
              <a:pPr/>
              <a:t>27</a:t>
            </a:fld>
            <a:endParaRPr lang="en-US" altLang="zh-CN" sz="1200" b="0"/>
          </a:p>
        </p:txBody>
      </p:sp>
      <p:sp>
        <p:nvSpPr>
          <p:cNvPr id="68613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989013" y="696913"/>
            <a:ext cx="5024437" cy="3479800"/>
          </a:xfrm>
          <a:ln/>
        </p:spPr>
      </p:sp>
      <p:sp>
        <p:nvSpPr>
          <p:cNvPr id="686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0075"/>
            <a:ext cx="5130800" cy="4178300"/>
          </a:xfrm>
          <a:noFill/>
        </p:spPr>
        <p:txBody>
          <a:bodyPr/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200" b="0" smtClean="0"/>
              <a:t>lec01-lexicalanalyzer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3D979AE-F5D3-45D3-85BA-A9B92C8EDC89}" type="datetime4">
              <a:rPr lang="zh-CN" altLang="en-US" sz="1200" b="0" smtClean="0"/>
              <a:pPr/>
              <a:t>2015年10月7日星期三</a:t>
            </a:fld>
            <a:endParaRPr lang="en-US" altLang="zh-CN" sz="1200" b="0" smtClean="0"/>
          </a:p>
        </p:txBody>
      </p:sp>
      <p:sp>
        <p:nvSpPr>
          <p:cNvPr id="6963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144A077-F35A-46AD-94D0-AA354E889218}" type="slidenum">
              <a:rPr lang="zh-CN" altLang="en-US" sz="1200" b="0"/>
              <a:pPr/>
              <a:t>28</a:t>
            </a:fld>
            <a:endParaRPr lang="en-US" altLang="zh-CN" sz="1200" b="0"/>
          </a:p>
        </p:txBody>
      </p:sp>
      <p:sp>
        <p:nvSpPr>
          <p:cNvPr id="69637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989013" y="696913"/>
            <a:ext cx="5024437" cy="3479800"/>
          </a:xfrm>
          <a:ln/>
        </p:spPr>
      </p:sp>
      <p:sp>
        <p:nvSpPr>
          <p:cNvPr id="696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0075"/>
            <a:ext cx="5130800" cy="4178300"/>
          </a:xfrm>
          <a:noFill/>
        </p:spPr>
        <p:txBody>
          <a:bodyPr/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200" b="0" smtClean="0"/>
              <a:t>lec01-lexicalanalyzer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7D5AA17-7ECB-4239-BF3A-1EBD70626CE4}" type="datetime4">
              <a:rPr lang="zh-CN" altLang="en-US" sz="1200" b="0" smtClean="0"/>
              <a:pPr/>
              <a:t>2015年10月7日星期三</a:t>
            </a:fld>
            <a:endParaRPr lang="en-US" altLang="zh-CN" sz="1200" b="0" smtClean="0"/>
          </a:p>
        </p:txBody>
      </p:sp>
      <p:sp>
        <p:nvSpPr>
          <p:cNvPr id="7066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AE6633B-60F1-456B-81A5-50530076C1A9}" type="slidenum">
              <a:rPr lang="zh-CN" altLang="en-US" sz="1200" b="0"/>
              <a:pPr/>
              <a:t>29</a:t>
            </a:fld>
            <a:endParaRPr lang="en-US" altLang="zh-CN" sz="1200" b="0"/>
          </a:p>
        </p:txBody>
      </p:sp>
      <p:sp>
        <p:nvSpPr>
          <p:cNvPr id="70661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989013" y="696913"/>
            <a:ext cx="5024437" cy="3479800"/>
          </a:xfrm>
          <a:ln/>
        </p:spPr>
      </p:sp>
      <p:sp>
        <p:nvSpPr>
          <p:cNvPr id="706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0075"/>
            <a:ext cx="5130800" cy="4178300"/>
          </a:xfrm>
          <a:noFill/>
        </p:spPr>
        <p:txBody>
          <a:bodyPr/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200" b="0" smtClean="0"/>
              <a:t>lec01-lexicalanalyzer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770E0BA-0F88-4950-B19B-85D54379526C}" type="datetime4">
              <a:rPr lang="zh-CN" altLang="en-US" sz="1200" b="0" smtClean="0"/>
              <a:pPr/>
              <a:t>2015年10月7日星期三</a:t>
            </a:fld>
            <a:endParaRPr lang="en-US" altLang="zh-CN" sz="1200" b="0" smtClean="0"/>
          </a:p>
        </p:txBody>
      </p:sp>
      <p:sp>
        <p:nvSpPr>
          <p:cNvPr id="7168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E4ABFDE-5603-4014-A102-ACCC3BE85FC4}" type="slidenum">
              <a:rPr lang="zh-CN" altLang="en-US" sz="1200" b="0"/>
              <a:pPr/>
              <a:t>31</a:t>
            </a:fld>
            <a:endParaRPr lang="en-US" altLang="zh-CN" sz="1200" b="0"/>
          </a:p>
        </p:txBody>
      </p:sp>
      <p:sp>
        <p:nvSpPr>
          <p:cNvPr id="71685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 smtClean="0"/>
              <a:t>Metacharacter: </a:t>
            </a:r>
            <a:r>
              <a:rPr lang="zh-CN" altLang="en-US" smtClean="0"/>
              <a:t>元字符；</a:t>
            </a:r>
            <a:r>
              <a:rPr lang="en-US" altLang="zh-CN" smtClean="0"/>
              <a:t>metasymbol: </a:t>
            </a:r>
            <a:r>
              <a:rPr lang="zh-CN" altLang="en-US" smtClean="0"/>
              <a:t>元符号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200" b="0" smtClean="0"/>
              <a:t>lec01-lexicalanalyzer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00ED3BB-EACF-4D14-B63B-78DDB1ADF009}" type="datetime4">
              <a:rPr lang="zh-CN" altLang="en-US" sz="1200" b="0" smtClean="0"/>
              <a:pPr/>
              <a:t>2015年10月7日星期三</a:t>
            </a:fld>
            <a:endParaRPr lang="en-US" altLang="zh-CN" sz="1200" b="0" smtClean="0"/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0CA232A-FD46-4149-961F-D7680C7DC8B5}" type="slidenum">
              <a:rPr lang="zh-CN" altLang="en-US" sz="1200" b="0"/>
              <a:pPr/>
              <a:t>32</a:t>
            </a:fld>
            <a:endParaRPr lang="en-US" altLang="zh-CN" sz="1200" b="0"/>
          </a:p>
        </p:txBody>
      </p:sp>
      <p:sp>
        <p:nvSpPr>
          <p:cNvPr id="72709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989013" y="696913"/>
            <a:ext cx="5024437" cy="3479800"/>
          </a:xfrm>
          <a:ln/>
        </p:spPr>
      </p:sp>
      <p:sp>
        <p:nvSpPr>
          <p:cNvPr id="727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0075"/>
            <a:ext cx="5130800" cy="4178300"/>
          </a:xfrm>
          <a:noFill/>
        </p:spPr>
        <p:txBody>
          <a:bodyPr/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200" b="0" smtClean="0"/>
              <a:t>lec01-lexicalanalyzer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3F03AA7-7486-4B0C-8FCB-441C8BDD6CCA}" type="datetime4">
              <a:rPr lang="zh-CN" altLang="en-US" sz="1200" b="0" smtClean="0"/>
              <a:pPr/>
              <a:t>2015年10月7日星期三</a:t>
            </a:fld>
            <a:endParaRPr lang="en-US" altLang="zh-CN" sz="1200" b="0" smtClean="0"/>
          </a:p>
        </p:txBody>
      </p:sp>
      <p:sp>
        <p:nvSpPr>
          <p:cNvPr id="7373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AC46737-9879-47A7-B758-C72D20AC6AD0}" type="slidenum">
              <a:rPr lang="zh-CN" altLang="en-US" sz="1200" b="0"/>
              <a:pPr/>
              <a:t>36</a:t>
            </a:fld>
            <a:endParaRPr lang="en-US" altLang="zh-CN" sz="1200" b="0"/>
          </a:p>
        </p:txBody>
      </p:sp>
      <p:sp>
        <p:nvSpPr>
          <p:cNvPr id="73733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989013" y="696913"/>
            <a:ext cx="5024437" cy="3479800"/>
          </a:xfrm>
          <a:ln/>
        </p:spPr>
      </p:sp>
      <p:sp>
        <p:nvSpPr>
          <p:cNvPr id="737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0075"/>
            <a:ext cx="5130800" cy="4178300"/>
          </a:xfrm>
          <a:noFill/>
        </p:spPr>
        <p:txBody>
          <a:bodyPr/>
          <a:lstStyle/>
          <a:p>
            <a:r>
              <a:rPr lang="en-US" altLang="zh-CN" smtClean="0"/>
              <a:t>Axiom: </a:t>
            </a:r>
            <a:r>
              <a:rPr lang="zh-CN" altLang="en-US" smtClean="0"/>
              <a:t>公理，原理；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200" b="0" smtClean="0"/>
              <a:t>lec01-lexicalanalyzer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C9CA331-325D-4199-BB5C-AA912B982D1D}" type="datetime4">
              <a:rPr lang="zh-CN" altLang="en-US" sz="1200" b="0" smtClean="0"/>
              <a:pPr/>
              <a:t>2015年10月7日星期三</a:t>
            </a:fld>
            <a:endParaRPr lang="en-US" altLang="zh-CN" sz="1200" b="0" smtClean="0"/>
          </a:p>
        </p:txBody>
      </p:sp>
      <p:sp>
        <p:nvSpPr>
          <p:cNvPr id="7475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69C3528-1DA7-4914-8014-32462DCB34C6}" type="slidenum">
              <a:rPr lang="zh-CN" altLang="en-US" sz="1200" b="0"/>
              <a:pPr/>
              <a:t>37</a:t>
            </a:fld>
            <a:endParaRPr lang="en-US" altLang="zh-CN" sz="1200" b="0"/>
          </a:p>
        </p:txBody>
      </p:sp>
      <p:sp>
        <p:nvSpPr>
          <p:cNvPr id="74757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989013" y="696913"/>
            <a:ext cx="5024437" cy="3479800"/>
          </a:xfrm>
          <a:ln/>
        </p:spPr>
      </p:sp>
      <p:sp>
        <p:nvSpPr>
          <p:cNvPr id="747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0075"/>
            <a:ext cx="5130800" cy="4178300"/>
          </a:xfrm>
          <a:noFill/>
        </p:spPr>
        <p:txBody>
          <a:bodyPr/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200" b="0" smtClean="0"/>
              <a:t>lec01-lexicalanalyzer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D760737-16CE-4272-8E9B-C542FF394A8E}" type="datetime4">
              <a:rPr lang="zh-CN" altLang="en-US" sz="1200" b="0" smtClean="0"/>
              <a:pPr/>
              <a:t>2015年10月7日星期三</a:t>
            </a:fld>
            <a:endParaRPr lang="en-US" altLang="zh-CN" sz="1200" b="0" smtClean="0"/>
          </a:p>
        </p:txBody>
      </p:sp>
      <p:sp>
        <p:nvSpPr>
          <p:cNvPr id="7578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8688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F44EAEB-4F76-4668-9F6C-F57BB1BCD9EE}" type="slidenum">
              <a:rPr lang="zh-CN" altLang="en-US" sz="1200" b="0"/>
              <a:pPr/>
              <a:t>39</a:t>
            </a:fld>
            <a:endParaRPr lang="en-US" altLang="zh-CN" sz="1200" b="0"/>
          </a:p>
        </p:txBody>
      </p:sp>
      <p:sp>
        <p:nvSpPr>
          <p:cNvPr id="75781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989013" y="696913"/>
            <a:ext cx="5024437" cy="3479800"/>
          </a:xfrm>
          <a:ln/>
        </p:spPr>
      </p:sp>
      <p:sp>
        <p:nvSpPr>
          <p:cNvPr id="757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0075"/>
            <a:ext cx="5130800" cy="4178300"/>
          </a:xfrm>
          <a:noFill/>
        </p:spPr>
        <p:txBody>
          <a:bodyPr/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CA43940-BF29-489C-9318-F6875D8495F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30265075"/>
      </p:ext>
    </p:extLst>
  </p:cSld>
  <p:clrMapOvr>
    <a:masterClrMapping/>
  </p:clrMapOvr>
  <p:transition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354DFB3-A898-430D-92EC-7CDFB6B5323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12754364"/>
      </p:ext>
    </p:extLst>
  </p:cSld>
  <p:clrMapOvr>
    <a:masterClrMapping/>
  </p:clrMapOvr>
  <p:transition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1EAAB3-01DC-43F8-A211-BD2DD64C574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0279884"/>
      </p:ext>
    </p:extLst>
  </p:cSld>
  <p:clrMapOvr>
    <a:masterClrMapping/>
  </p:clrMapOvr>
  <p:transition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219200"/>
            <a:ext cx="46101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3500" y="1219200"/>
            <a:ext cx="46101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2B680F0-530A-49A3-A225-F3D1B68CC37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35649082"/>
      </p:ext>
    </p:extLst>
  </p:cSld>
  <p:clrMapOvr>
    <a:masterClrMapping/>
  </p:clrMapOvr>
  <p:transition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589D36-1DA1-4CDA-A2D8-A39F4891001A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26848651"/>
      </p:ext>
    </p:extLst>
  </p:cSld>
  <p:clrMapOvr>
    <a:masterClrMapping/>
  </p:clrMapOvr>
  <p:transition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2D4453-5CC0-4378-A494-BC3E8BE1C3A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3016960"/>
      </p:ext>
    </p:extLst>
  </p:cSld>
  <p:clrMapOvr>
    <a:masterClrMapping/>
  </p:clrMapOvr>
  <p:transition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FA91C55-12EC-4CD6-A585-25AB76C9A95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26274490"/>
      </p:ext>
    </p:extLst>
  </p:cSld>
  <p:clrMapOvr>
    <a:masterClrMapping/>
  </p:clrMapOvr>
  <p:transition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1EFBD5D-CFA3-4086-A710-267D3DF75AE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7931482"/>
      </p:ext>
    </p:extLst>
  </p:cSld>
  <p:clrMapOvr>
    <a:masterClrMapping/>
  </p:clrMapOvr>
  <p:transition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AF3E7A1-9245-4C9C-9D2E-2176664A116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160294"/>
      </p:ext>
    </p:extLst>
  </p:cSld>
  <p:clrMapOvr>
    <a:masterClrMapping/>
  </p:clrMapOvr>
  <p:transition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6B7815B-867C-4529-9240-8FA9395DD01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2238925"/>
      </p:ext>
    </p:extLst>
  </p:cSld>
  <p:clrMapOvr>
    <a:masterClrMapping/>
  </p:clrMapOvr>
  <p:transition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410450" y="152400"/>
            <a:ext cx="2343150" cy="6172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152400"/>
            <a:ext cx="6877050" cy="6172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5A861F-AC7D-420E-8A23-DC8F1DA70B7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40133376"/>
      </p:ext>
    </p:extLst>
  </p:cSld>
  <p:clrMapOvr>
    <a:masterClrMapping/>
  </p:clrMapOvr>
  <p:transition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9372600" cy="9144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81000" y="1219200"/>
            <a:ext cx="4610100" cy="5105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3500" y="1219200"/>
            <a:ext cx="4610100" cy="5105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B71218A-EF8C-49DA-96F1-1F8CEEF93C3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60554011"/>
      </p:ext>
    </p:extLst>
  </p:cSld>
  <p:clrMapOvr>
    <a:masterClrMapping/>
  </p:clrMapOvr>
  <p:transition>
    <p:rand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9372600" cy="9144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381000" y="1219200"/>
            <a:ext cx="9372600" cy="5105400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0A3575-C64B-42EE-BE23-2508E4B9CA7A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115340"/>
      </p:ext>
    </p:extLst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152400"/>
            <a:ext cx="93726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219200"/>
            <a:ext cx="937260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81000" y="6477000"/>
            <a:ext cx="20637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800" b="0">
                <a:ea typeface="宋体" pitchFamily="2" charset="-122"/>
              </a:defRPr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54350" y="6477000"/>
            <a:ext cx="37147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 b="0">
                <a:ea typeface="宋体" pitchFamily="2" charset="-122"/>
              </a:defRPr>
            </a:lvl1pPr>
          </a:lstStyle>
          <a:p>
            <a:pPr>
              <a:defRPr/>
            </a:pPr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77000"/>
            <a:ext cx="20637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800" b="0">
                <a:ea typeface="宋体" panose="02010600030101010101" pitchFamily="2" charset="-122"/>
              </a:defRPr>
            </a:lvl1pPr>
          </a:lstStyle>
          <a:p>
            <a:fld id="{732C0FC7-2507-47E8-9854-6F92C3F451EE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>
    <p:random/>
  </p:transition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e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3.bin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◎2005 ECNU SEI</a:t>
            </a:r>
            <a:endParaRPr lang="en-US" altLang="zh-CN" sz="800" b="0" smtClean="0"/>
          </a:p>
        </p:txBody>
      </p:sp>
      <p:sp>
        <p:nvSpPr>
          <p:cNvPr id="205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Compilers: Principles, Techniques, and Tools</a:t>
            </a:r>
            <a:endParaRPr lang="en-US" altLang="zh-CN" sz="800" b="0" smtClean="0"/>
          </a:p>
        </p:txBody>
      </p:sp>
      <p:sp>
        <p:nvSpPr>
          <p:cNvPr id="205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912675B-90DA-4246-873D-1DFE304372E8}" type="slidenum">
              <a:rPr lang="zh-CN" altLang="en-US" sz="800" b="0"/>
              <a:pPr/>
              <a:t>1</a:t>
            </a:fld>
            <a:endParaRPr lang="en-US" altLang="zh-CN" sz="800" b="0"/>
          </a:p>
        </p:txBody>
      </p:sp>
      <p:sp>
        <p:nvSpPr>
          <p:cNvPr id="20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smtClean="0">
                <a:ea typeface="宋体" panose="02010600030101010101" pitchFamily="2" charset="-122"/>
              </a:rPr>
              <a:t>Homework  (lexical analyzer)</a:t>
            </a:r>
          </a:p>
        </p:txBody>
      </p:sp>
      <p:sp>
        <p:nvSpPr>
          <p:cNvPr id="205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3600" smtClean="0">
                <a:ea typeface="宋体" panose="02010600030101010101" pitchFamily="2" charset="-122"/>
              </a:rPr>
              <a:t>P.147 Exercises: 3.5,  3.6,  3.7 a) b) c)  </a:t>
            </a:r>
          </a:p>
          <a:p>
            <a:r>
              <a:rPr lang="en-US" altLang="zh-CN" sz="3600" smtClean="0">
                <a:ea typeface="宋体" panose="02010600030101010101" pitchFamily="2" charset="-122"/>
              </a:rPr>
              <a:t>Due :</a:t>
            </a:r>
            <a:endParaRPr lang="en-US" altLang="zh-CN" sz="3600" smtClean="0">
              <a:solidFill>
                <a:schemeClr val="accent2"/>
              </a:solidFill>
              <a:ea typeface="宋体" panose="02010600030101010101" pitchFamily="2" charset="-122"/>
            </a:endParaRPr>
          </a:p>
          <a:p>
            <a:endParaRPr lang="en-US" altLang="zh-CN" sz="3600" smtClean="0">
              <a:solidFill>
                <a:schemeClr val="accent2"/>
              </a:solidFill>
              <a:ea typeface="宋体" panose="02010600030101010101" pitchFamily="2" charset="-122"/>
            </a:endParaRPr>
          </a:p>
          <a:p>
            <a:r>
              <a:rPr lang="en-US" altLang="zh-CN" sz="3600" smtClean="0">
                <a:solidFill>
                  <a:schemeClr val="accent2"/>
                </a:solidFill>
                <a:ea typeface="宋体" panose="02010600030101010101" pitchFamily="2" charset="-122"/>
              </a:rPr>
              <a:t>P.149 Exercises: 3.16 (a)-(d) RE-&gt;NFA </a:t>
            </a:r>
          </a:p>
          <a:p>
            <a:pPr>
              <a:buFontTx/>
              <a:buNone/>
            </a:pPr>
            <a:r>
              <a:rPr lang="en-US" altLang="zh-CN" sz="3600" smtClean="0">
                <a:solidFill>
                  <a:schemeClr val="accent2"/>
                </a:solidFill>
                <a:ea typeface="宋体" panose="02010600030101010101" pitchFamily="2" charset="-122"/>
              </a:rPr>
              <a:t>				       3.17 (a)-(d) NFA-&gt;DFA</a:t>
            </a:r>
          </a:p>
          <a:p>
            <a:pPr>
              <a:buFontTx/>
              <a:buNone/>
            </a:pPr>
            <a:r>
              <a:rPr lang="en-US" altLang="zh-CN" sz="3600" smtClean="0">
                <a:solidFill>
                  <a:schemeClr val="accent2"/>
                </a:solidFill>
                <a:ea typeface="宋体" panose="02010600030101010101" pitchFamily="2" charset="-122"/>
              </a:rPr>
              <a:t>				       3.18 (a)-(d) RE-&gt;DFA</a:t>
            </a:r>
          </a:p>
          <a:p>
            <a:r>
              <a:rPr lang="en-US" altLang="zh-CN" sz="3600" smtClean="0">
                <a:solidFill>
                  <a:schemeClr val="accent2"/>
                </a:solidFill>
                <a:ea typeface="宋体" panose="02010600030101010101" pitchFamily="2" charset="-122"/>
              </a:rPr>
              <a:t>Due: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◎2005 ECNU SEI</a:t>
            </a:r>
            <a:endParaRPr lang="en-US" altLang="zh-CN" sz="800" b="0" smtClean="0"/>
          </a:p>
        </p:txBody>
      </p:sp>
      <p:sp>
        <p:nvSpPr>
          <p:cNvPr id="307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Compilers: Principles, Techniques, and Tools</a:t>
            </a:r>
            <a:endParaRPr lang="en-US" altLang="zh-CN" sz="800" b="0" smtClean="0"/>
          </a:p>
        </p:txBody>
      </p:sp>
      <p:sp>
        <p:nvSpPr>
          <p:cNvPr id="307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90234D0-7631-4D66-BD7C-AFFFA0137A46}" type="slidenum">
              <a:rPr lang="zh-CN" altLang="en-US" sz="800" b="0"/>
              <a:pPr/>
              <a:t>2</a:t>
            </a:fld>
            <a:endParaRPr lang="en-US" altLang="zh-CN" sz="800" b="0"/>
          </a:p>
        </p:txBody>
      </p:sp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smtClean="0">
                <a:ea typeface="宋体" panose="02010600030101010101" pitchFamily="2" charset="-122"/>
              </a:rPr>
              <a:t>review</a:t>
            </a:r>
          </a:p>
        </p:txBody>
      </p:sp>
      <p:sp>
        <p:nvSpPr>
          <p:cNvPr id="30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8748713" cy="4873625"/>
          </a:xfrm>
        </p:spPr>
        <p:txBody>
          <a:bodyPr/>
          <a:lstStyle/>
          <a:p>
            <a:r>
              <a:rPr lang="en-US" altLang="zh-CN" smtClean="0">
                <a:solidFill>
                  <a:srgbClr val="660033"/>
                </a:solidFill>
                <a:ea typeface="宋体" panose="02010600030101010101" pitchFamily="2" charset="-122"/>
              </a:rPr>
              <a:t>Lexical analyzer (scanner)   	</a:t>
            </a:r>
            <a:r>
              <a:rPr lang="zh-CN" altLang="en-US" smtClean="0">
                <a:solidFill>
                  <a:srgbClr val="660033"/>
                </a:solidFill>
                <a:ea typeface="宋体" panose="02010600030101010101" pitchFamily="2" charset="-122"/>
              </a:rPr>
              <a:t>词法分析器</a:t>
            </a:r>
          </a:p>
          <a:p>
            <a:r>
              <a:rPr lang="en-US" altLang="zh-CN" smtClean="0">
                <a:solidFill>
                  <a:srgbClr val="660033"/>
                </a:solidFill>
                <a:ea typeface="宋体" panose="02010600030101010101" pitchFamily="2" charset="-122"/>
              </a:rPr>
              <a:t>Syntax analyzer (parser)   		</a:t>
            </a:r>
            <a:r>
              <a:rPr lang="zh-CN" altLang="en-US" smtClean="0">
                <a:solidFill>
                  <a:srgbClr val="660033"/>
                </a:solidFill>
                <a:ea typeface="宋体" panose="02010600030101010101" pitchFamily="2" charset="-122"/>
              </a:rPr>
              <a:t>语法分析器</a:t>
            </a:r>
          </a:p>
          <a:p>
            <a:r>
              <a:rPr lang="en-US" altLang="zh-CN" smtClean="0">
                <a:solidFill>
                  <a:srgbClr val="FF00FF"/>
                </a:solidFill>
                <a:ea typeface="宋体" panose="02010600030101010101" pitchFamily="2" charset="-122"/>
              </a:rPr>
              <a:t>Token 	</a:t>
            </a:r>
            <a:r>
              <a:rPr lang="zh-CN" altLang="en-US" smtClean="0">
                <a:solidFill>
                  <a:srgbClr val="FF00FF"/>
                </a:solidFill>
                <a:ea typeface="宋体" panose="02010600030101010101" pitchFamily="2" charset="-122"/>
              </a:rPr>
              <a:t>单词</a:t>
            </a:r>
          </a:p>
          <a:p>
            <a:r>
              <a:rPr lang="en-US" altLang="zh-CN" smtClean="0">
                <a:solidFill>
                  <a:srgbClr val="FF00FF"/>
                </a:solidFill>
                <a:ea typeface="宋体" panose="02010600030101010101" pitchFamily="2" charset="-122"/>
              </a:rPr>
              <a:t>Attribute 	</a:t>
            </a:r>
            <a:r>
              <a:rPr lang="zh-CN" altLang="en-US" smtClean="0">
                <a:solidFill>
                  <a:srgbClr val="FF00FF"/>
                </a:solidFill>
                <a:ea typeface="宋体" panose="02010600030101010101" pitchFamily="2" charset="-122"/>
              </a:rPr>
              <a:t>属性</a:t>
            </a:r>
          </a:p>
          <a:p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</a:rPr>
              <a:t>Regular expression 	</a:t>
            </a:r>
            <a:r>
              <a:rPr lang="zh-CN" altLang="en-US" smtClean="0">
                <a:solidFill>
                  <a:schemeClr val="accent2"/>
                </a:solidFill>
                <a:ea typeface="宋体" panose="02010600030101010101" pitchFamily="2" charset="-122"/>
              </a:rPr>
              <a:t>正规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</a:rPr>
              <a:t>/</a:t>
            </a:r>
            <a:r>
              <a:rPr lang="zh-CN" altLang="en-US" smtClean="0">
                <a:solidFill>
                  <a:schemeClr val="accent2"/>
                </a:solidFill>
                <a:ea typeface="宋体" panose="02010600030101010101" pitchFamily="2" charset="-122"/>
              </a:rPr>
              <a:t>正则表达式</a:t>
            </a:r>
          </a:p>
          <a:p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</a:rPr>
              <a:t>Regular definition		</a:t>
            </a:r>
            <a:r>
              <a:rPr lang="zh-CN" altLang="en-US" smtClean="0">
                <a:solidFill>
                  <a:schemeClr val="accent2"/>
                </a:solidFill>
                <a:ea typeface="宋体" panose="02010600030101010101" pitchFamily="2" charset="-122"/>
              </a:rPr>
              <a:t>正规定义</a:t>
            </a:r>
          </a:p>
          <a:p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</a:rPr>
              <a:t>Transition Diagram	 (TD)		</a:t>
            </a:r>
            <a:r>
              <a:rPr lang="zh-CN" altLang="en-US" smtClean="0">
                <a:solidFill>
                  <a:schemeClr val="accent2"/>
                </a:solidFill>
                <a:ea typeface="宋体" panose="02010600030101010101" pitchFamily="2" charset="-122"/>
              </a:rPr>
              <a:t>转换图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Finite Automata (FA)		</a:t>
            </a:r>
            <a:r>
              <a:rPr lang="zh-CN" altLang="en-US" smtClean="0">
                <a:ea typeface="宋体" panose="02010600030101010101" pitchFamily="2" charset="-122"/>
              </a:rPr>
              <a:t>有限自动机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Nondeterministic Finite Automata (NFA) 	</a:t>
            </a:r>
            <a:r>
              <a:rPr lang="zh-CN" altLang="en-US" smtClean="0">
                <a:ea typeface="宋体" panose="02010600030101010101" pitchFamily="2" charset="-122"/>
              </a:rPr>
              <a:t>不确定的有限自动机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Deterministic Finite Automata (DFA)	 </a:t>
            </a:r>
            <a:r>
              <a:rPr lang="zh-CN" altLang="en-US" smtClean="0">
                <a:ea typeface="宋体" panose="02010600030101010101" pitchFamily="2" charset="-122"/>
              </a:rPr>
              <a:t>确定的有限自动机</a:t>
            </a:r>
            <a:endParaRPr lang="en-US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◎2005 ECNU SEI</a:t>
            </a:r>
            <a:endParaRPr lang="en-US" altLang="zh-CN" sz="800" b="0" smtClean="0"/>
          </a:p>
        </p:txBody>
      </p:sp>
      <p:sp>
        <p:nvSpPr>
          <p:cNvPr id="409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Compilers: Principles, Techniques, and Tools</a:t>
            </a:r>
            <a:endParaRPr lang="en-US" altLang="zh-CN" sz="800" b="0" smtClean="0"/>
          </a:p>
        </p:txBody>
      </p:sp>
      <p:sp>
        <p:nvSpPr>
          <p:cNvPr id="410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1775709-A0A3-41EA-BB0A-3AB7BA2C00C1}" type="slidenum">
              <a:rPr lang="zh-CN" altLang="en-US" sz="800" b="0"/>
              <a:pPr/>
              <a:t>3</a:t>
            </a:fld>
            <a:endParaRPr lang="en-US" altLang="zh-CN" sz="800" b="0"/>
          </a:p>
        </p:txBody>
      </p:sp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Lexical Analysis (Scanning) (P.83)</a:t>
            </a:r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41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9372600" cy="4946650"/>
          </a:xfrm>
        </p:spPr>
        <p:txBody>
          <a:bodyPr/>
          <a:lstStyle/>
          <a:p>
            <a:r>
              <a:rPr lang="en-US" altLang="zh-CN" sz="3200" smtClean="0">
                <a:ea typeface="宋体" panose="02010600030101010101" pitchFamily="2" charset="-122"/>
              </a:rPr>
              <a:t>Basic Concepts &amp; Regular Expressions</a:t>
            </a:r>
          </a:p>
          <a:p>
            <a:pPr lvl="1"/>
            <a:r>
              <a:rPr lang="en-US" altLang="zh-CN" sz="3200" smtClean="0">
                <a:ea typeface="宋体" panose="02010600030101010101" pitchFamily="2" charset="-122"/>
              </a:rPr>
              <a:t>What does a Lexical Analyzer do? </a:t>
            </a:r>
          </a:p>
          <a:p>
            <a:pPr lvl="1"/>
            <a:r>
              <a:rPr lang="en-US" altLang="zh-CN" sz="3200" smtClean="0">
                <a:ea typeface="宋体" panose="02010600030101010101" pitchFamily="2" charset="-122"/>
              </a:rPr>
              <a:t>How does it Work? </a:t>
            </a:r>
          </a:p>
          <a:p>
            <a:pPr lvl="1"/>
            <a:r>
              <a:rPr lang="en-US" altLang="zh-CN" sz="3200" smtClean="0">
                <a:ea typeface="宋体" panose="02010600030101010101" pitchFamily="2" charset="-122"/>
              </a:rPr>
              <a:t>Formalizing Token Definition &amp; Recognition</a:t>
            </a:r>
          </a:p>
          <a:p>
            <a:r>
              <a:rPr lang="en-US" altLang="zh-CN" sz="3200" smtClean="0">
                <a:ea typeface="宋体" panose="02010600030101010101" pitchFamily="2" charset="-122"/>
              </a:rPr>
              <a:t>LEX - A Lexical Analyzer Generator</a:t>
            </a:r>
            <a:endParaRPr lang="zh-CN" altLang="en-US" sz="320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◎2005 ECNU SEI</a:t>
            </a:r>
            <a:endParaRPr lang="en-US" altLang="zh-CN" sz="800" b="0" smtClean="0"/>
          </a:p>
        </p:txBody>
      </p:sp>
      <p:sp>
        <p:nvSpPr>
          <p:cNvPr id="512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Compilers: Principles, Techniques, and Tools</a:t>
            </a:r>
            <a:endParaRPr lang="en-US" altLang="zh-CN" sz="800" b="0" smtClean="0"/>
          </a:p>
        </p:txBody>
      </p:sp>
      <p:sp>
        <p:nvSpPr>
          <p:cNvPr id="512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DDD1C57-14B5-4B4C-B56B-E0157C5B73FC}" type="slidenum">
              <a:rPr lang="zh-CN" altLang="en-US" sz="800" b="0"/>
              <a:pPr/>
              <a:t>4</a:t>
            </a:fld>
            <a:endParaRPr lang="en-US" altLang="zh-CN" sz="800" b="0"/>
          </a:p>
        </p:txBody>
      </p:sp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Lexical Analysis (cont.)</a:t>
            </a:r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5126" name="Rectangle 8"/>
          <p:cNvSpPr>
            <a:spLocks noChangeArrowheads="1"/>
          </p:cNvSpPr>
          <p:nvPr/>
        </p:nvSpPr>
        <p:spPr bwMode="auto">
          <a:xfrm>
            <a:off x="457200" y="990600"/>
            <a:ext cx="83820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alpha val="50195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altLang="zh-CN" sz="2200" b="0" dirty="0">
                <a:ea typeface="宋体" pitchFamily="2" charset="-122"/>
              </a:rPr>
              <a:t>Breaking the program down into words or </a:t>
            </a:r>
            <a:r>
              <a:rPr lang="en-US" altLang="zh-CN" sz="2200" b="0" dirty="0">
                <a:latin typeface="Verdana" pitchFamily="34" charset="0"/>
                <a:ea typeface="宋体" pitchFamily="2" charset="-122"/>
              </a:rPr>
              <a:t>“</a:t>
            </a:r>
            <a:r>
              <a:rPr lang="en-US" altLang="zh-CN" sz="2200" b="0" dirty="0">
                <a:ea typeface="宋体" pitchFamily="2" charset="-122"/>
              </a:rPr>
              <a:t>tokens</a:t>
            </a:r>
            <a:r>
              <a:rPr lang="en-US" altLang="zh-CN" sz="2200" b="0" dirty="0">
                <a:latin typeface="Verdana" pitchFamily="34" charset="0"/>
                <a:ea typeface="宋体" pitchFamily="2" charset="-122"/>
              </a:rPr>
              <a:t>”</a:t>
            </a:r>
            <a:endParaRPr lang="en-US" altLang="zh-CN" sz="2200" b="0" dirty="0">
              <a:ea typeface="宋体" pitchFamily="2" charset="-122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altLang="zh-CN" sz="2200" b="0" dirty="0">
                <a:ea typeface="宋体" pitchFamily="2" charset="-122"/>
              </a:rPr>
              <a:t>Input:</a:t>
            </a:r>
            <a:r>
              <a:rPr lang="en-US" altLang="zh-CN" sz="2200" dirty="0">
                <a:ea typeface="宋体" pitchFamily="2" charset="-122"/>
              </a:rPr>
              <a:t> stream of characters</a:t>
            </a: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altLang="zh-CN" sz="2200" b="0" dirty="0">
                <a:ea typeface="宋体" pitchFamily="2" charset="-122"/>
              </a:rPr>
              <a:t>Output:</a:t>
            </a:r>
            <a:r>
              <a:rPr lang="en-US" altLang="zh-CN" sz="2200" dirty="0">
                <a:ea typeface="宋体" pitchFamily="2" charset="-122"/>
              </a:rPr>
              <a:t> stream of names, keywords, punctuation marks</a:t>
            </a: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altLang="zh-CN" sz="2200" b="0" dirty="0">
                <a:ea typeface="宋体" pitchFamily="2" charset="-122"/>
              </a:rPr>
              <a:t>Side effect:</a:t>
            </a:r>
            <a:r>
              <a:rPr lang="en-US" altLang="zh-CN" sz="2200" dirty="0">
                <a:ea typeface="宋体" pitchFamily="2" charset="-122"/>
              </a:rPr>
              <a:t> Discards white space, comments</a:t>
            </a: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endParaRPr lang="en-US" altLang="zh-CN" sz="2200" dirty="0">
              <a:ea typeface="宋体" pitchFamily="2" charset="-122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altLang="zh-CN" sz="2200" dirty="0">
                <a:ea typeface="宋体" pitchFamily="2" charset="-122"/>
              </a:rPr>
              <a:t>Source code:  if (b==0) a = </a:t>
            </a:r>
            <a:r>
              <a:rPr lang="en-US" altLang="zh-CN" sz="2200" dirty="0">
                <a:latin typeface="Verdana" pitchFamily="34" charset="0"/>
                <a:ea typeface="宋体" pitchFamily="2" charset="-122"/>
              </a:rPr>
              <a:t>“</a:t>
            </a:r>
            <a:r>
              <a:rPr lang="en-US" altLang="zh-CN" sz="2200" dirty="0">
                <a:ea typeface="宋体" pitchFamily="2" charset="-122"/>
              </a:rPr>
              <a:t>Hi</a:t>
            </a:r>
            <a:r>
              <a:rPr lang="en-US" altLang="zh-CN" sz="2200" dirty="0">
                <a:latin typeface="Verdana" pitchFamily="34" charset="0"/>
                <a:ea typeface="宋体" pitchFamily="2" charset="-122"/>
              </a:rPr>
              <a:t>”</a:t>
            </a:r>
            <a:r>
              <a:rPr lang="en-US" altLang="zh-CN" sz="2200" dirty="0">
                <a:ea typeface="宋体" pitchFamily="2" charset="-122"/>
              </a:rPr>
              <a:t>;</a:t>
            </a: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endParaRPr lang="en-US" altLang="zh-CN" sz="2200" dirty="0">
              <a:ea typeface="宋体" pitchFamily="2" charset="-122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endParaRPr lang="en-US" altLang="zh-CN" sz="2200" dirty="0">
              <a:ea typeface="宋体" pitchFamily="2" charset="-122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altLang="zh-CN" sz="2200" dirty="0">
                <a:ea typeface="宋体" pitchFamily="2" charset="-122"/>
              </a:rPr>
              <a:t>Token Stream:    if</a:t>
            </a:r>
            <a:endParaRPr lang="en-US" altLang="zh-CN" sz="2200" b="0" dirty="0">
              <a:ea typeface="宋体" pitchFamily="2" charset="-122"/>
            </a:endParaRPr>
          </a:p>
          <a:p>
            <a:pPr>
              <a:spcBef>
                <a:spcPct val="20000"/>
              </a:spcBef>
              <a:defRPr/>
            </a:pPr>
            <a:r>
              <a:rPr lang="en-US" altLang="zh-CN" sz="2200" b="0" dirty="0">
                <a:ea typeface="宋体" pitchFamily="2" charset="-122"/>
              </a:rPr>
              <a:t>                                  (</a:t>
            </a:r>
          </a:p>
          <a:p>
            <a:pPr>
              <a:spcBef>
                <a:spcPct val="20000"/>
              </a:spcBef>
              <a:defRPr/>
            </a:pPr>
            <a:r>
              <a:rPr lang="en-US" altLang="zh-CN" sz="2200" b="0" dirty="0">
                <a:ea typeface="宋体" pitchFamily="2" charset="-122"/>
              </a:rPr>
              <a:t>                                  id</a:t>
            </a:r>
          </a:p>
          <a:p>
            <a:pPr>
              <a:spcBef>
                <a:spcPct val="20000"/>
              </a:spcBef>
              <a:defRPr/>
            </a:pPr>
            <a:r>
              <a:rPr lang="en-US" altLang="zh-CN" sz="2200" b="0" dirty="0">
                <a:ea typeface="宋体" pitchFamily="2" charset="-122"/>
              </a:rPr>
              <a:t>                                  …</a:t>
            </a:r>
            <a:endParaRPr lang="en-US" altLang="zh-CN" sz="2200" dirty="0">
              <a:ea typeface="宋体" pitchFamily="2" charset="-122"/>
            </a:endParaRPr>
          </a:p>
        </p:txBody>
      </p:sp>
      <p:sp>
        <p:nvSpPr>
          <p:cNvPr id="5127" name="Rectangle 9"/>
          <p:cNvSpPr>
            <a:spLocks noChangeArrowheads="1"/>
          </p:cNvSpPr>
          <p:nvPr/>
        </p:nvSpPr>
        <p:spPr bwMode="auto">
          <a:xfrm>
            <a:off x="6629400" y="3733800"/>
            <a:ext cx="2133600" cy="457200"/>
          </a:xfrm>
          <a:prstGeom prst="rect">
            <a:avLst/>
          </a:prstGeom>
          <a:solidFill>
            <a:schemeClr val="accent1"/>
          </a:solidFill>
          <a:ln w="508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 sz="2000" b="0">
                <a:latin typeface="Verdana" panose="020B0604030504040204" pitchFamily="34" charset="0"/>
                <a:ea typeface="宋体" panose="02010600030101010101" pitchFamily="2" charset="-122"/>
              </a:rPr>
              <a:t>Lexical Analysis</a:t>
            </a:r>
          </a:p>
        </p:txBody>
      </p:sp>
      <p:sp>
        <p:nvSpPr>
          <p:cNvPr id="5128" name="Rectangle 10"/>
          <p:cNvSpPr>
            <a:spLocks noChangeArrowheads="1"/>
          </p:cNvSpPr>
          <p:nvPr/>
        </p:nvSpPr>
        <p:spPr bwMode="auto">
          <a:xfrm>
            <a:off x="6629400" y="5029200"/>
            <a:ext cx="2133600" cy="457200"/>
          </a:xfrm>
          <a:prstGeom prst="rect">
            <a:avLst/>
          </a:prstGeom>
          <a:solidFill>
            <a:schemeClr val="accent1"/>
          </a:solidFill>
          <a:ln w="508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 sz="2000" b="0">
                <a:latin typeface="Verdana" panose="020B0604030504040204" pitchFamily="34" charset="0"/>
                <a:ea typeface="宋体" panose="02010600030101010101" pitchFamily="2" charset="-122"/>
              </a:rPr>
              <a:t>Parsing</a:t>
            </a:r>
          </a:p>
        </p:txBody>
      </p:sp>
      <p:cxnSp>
        <p:nvCxnSpPr>
          <p:cNvPr id="5129" name="AutoShape 11"/>
          <p:cNvCxnSpPr>
            <a:cxnSpLocks noChangeShapeType="1"/>
            <a:stCxn id="5127" idx="2"/>
            <a:endCxn id="5128" idx="0"/>
          </p:cNvCxnSpPr>
          <p:nvPr/>
        </p:nvCxnSpPr>
        <p:spPr bwMode="auto">
          <a:xfrm>
            <a:off x="7696200" y="4216400"/>
            <a:ext cx="0" cy="787400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30" name="AutoShape 12"/>
          <p:cNvCxnSpPr>
            <a:cxnSpLocks noChangeShapeType="1"/>
          </p:cNvCxnSpPr>
          <p:nvPr/>
        </p:nvCxnSpPr>
        <p:spPr bwMode="auto">
          <a:xfrm>
            <a:off x="7696200" y="5461000"/>
            <a:ext cx="0" cy="558800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31" name="Line 13"/>
          <p:cNvSpPr>
            <a:spLocks noChangeShapeType="1"/>
          </p:cNvSpPr>
          <p:nvPr/>
        </p:nvSpPr>
        <p:spPr bwMode="auto">
          <a:xfrm>
            <a:off x="7696200" y="3352800"/>
            <a:ext cx="0" cy="3810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32" name="Line 14"/>
          <p:cNvSpPr>
            <a:spLocks noChangeShapeType="1"/>
          </p:cNvSpPr>
          <p:nvPr/>
        </p:nvSpPr>
        <p:spPr bwMode="auto">
          <a:xfrm>
            <a:off x="5410200" y="3352800"/>
            <a:ext cx="22860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33" name="Line 15"/>
          <p:cNvSpPr>
            <a:spLocks noChangeShapeType="1"/>
          </p:cNvSpPr>
          <p:nvPr/>
        </p:nvSpPr>
        <p:spPr bwMode="auto">
          <a:xfrm>
            <a:off x="6096000" y="4572000"/>
            <a:ext cx="1600200" cy="0"/>
          </a:xfrm>
          <a:prstGeom prst="line">
            <a:avLst/>
          </a:prstGeom>
          <a:noFill/>
          <a:ln w="508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34" name="AutoShape 16"/>
          <p:cNvSpPr>
            <a:spLocks/>
          </p:cNvSpPr>
          <p:nvPr/>
        </p:nvSpPr>
        <p:spPr bwMode="auto">
          <a:xfrm>
            <a:off x="2514600" y="4114800"/>
            <a:ext cx="381000" cy="1676400"/>
          </a:xfrm>
          <a:prstGeom prst="leftBrace">
            <a:avLst>
              <a:gd name="adj1" fmla="val 36667"/>
              <a:gd name="adj2" fmla="val 50000"/>
            </a:avLst>
          </a:prstGeom>
          <a:noFill/>
          <a:ln w="50800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◎2005 ECNU SEI</a:t>
            </a:r>
            <a:endParaRPr lang="en-US" altLang="zh-CN" sz="800" b="0" smtClean="0"/>
          </a:p>
        </p:txBody>
      </p:sp>
      <p:sp>
        <p:nvSpPr>
          <p:cNvPr id="614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Compilers: Principles, Techniques, and Tools</a:t>
            </a:r>
            <a:endParaRPr lang="en-US" altLang="zh-CN" sz="800" b="0" smtClean="0"/>
          </a:p>
        </p:txBody>
      </p:sp>
      <p:sp>
        <p:nvSpPr>
          <p:cNvPr id="614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102528E-17A5-4657-8647-504AD8771337}" type="slidenum">
              <a:rPr lang="zh-CN" altLang="en-US" sz="800" b="0"/>
              <a:pPr/>
              <a:t>5</a:t>
            </a:fld>
            <a:endParaRPr lang="en-US" altLang="zh-CN" sz="800" b="0"/>
          </a:p>
        </p:txBody>
      </p:sp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Lexical Analysis (cont.) </a:t>
            </a:r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507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9251950" cy="5105400"/>
          </a:xfrm>
        </p:spPr>
        <p:txBody>
          <a:bodyPr/>
          <a:lstStyle/>
          <a:p>
            <a:r>
              <a:rPr lang="en-US" altLang="zh-CN" sz="3200" smtClean="0">
                <a:ea typeface="宋体" panose="02010600030101010101" pitchFamily="2" charset="-122"/>
              </a:rPr>
              <a:t>Reviewing Finite Automata Concepts</a:t>
            </a:r>
          </a:p>
          <a:p>
            <a:pPr lvl="1"/>
            <a:r>
              <a:rPr lang="en-US" altLang="zh-CN" sz="3200" smtClean="0">
                <a:ea typeface="宋体" panose="02010600030101010101" pitchFamily="2" charset="-122"/>
              </a:rPr>
              <a:t>Non-Deterministic and Deterministic FA</a:t>
            </a:r>
          </a:p>
          <a:p>
            <a:pPr lvl="1"/>
            <a:r>
              <a:rPr lang="en-US" altLang="zh-CN" sz="3200" smtClean="0">
                <a:ea typeface="宋体" panose="02010600030101010101" pitchFamily="2" charset="-122"/>
              </a:rPr>
              <a:t>Conversion Process</a:t>
            </a:r>
          </a:p>
          <a:p>
            <a:pPr lvl="2">
              <a:lnSpc>
                <a:spcPct val="90000"/>
              </a:lnSpc>
            </a:pPr>
            <a:r>
              <a:rPr lang="en-US" altLang="zh-CN" sz="3200" smtClean="0">
                <a:solidFill>
                  <a:srgbClr val="0000FF"/>
                </a:solidFill>
                <a:ea typeface="宋体" panose="02010600030101010101" pitchFamily="2" charset="-122"/>
              </a:rPr>
              <a:t>Regular Expressions to NFA</a:t>
            </a:r>
          </a:p>
          <a:p>
            <a:pPr lvl="2">
              <a:lnSpc>
                <a:spcPct val="90000"/>
              </a:lnSpc>
            </a:pPr>
            <a:r>
              <a:rPr lang="en-US" altLang="zh-CN" sz="3200" smtClean="0">
                <a:solidFill>
                  <a:srgbClr val="0000FF"/>
                </a:solidFill>
                <a:ea typeface="宋体" panose="02010600030101010101" pitchFamily="2" charset="-122"/>
              </a:rPr>
              <a:t>NFA to DFA</a:t>
            </a:r>
          </a:p>
          <a:p>
            <a:pPr lvl="2">
              <a:lnSpc>
                <a:spcPct val="90000"/>
              </a:lnSpc>
            </a:pPr>
            <a:r>
              <a:rPr lang="en-US" altLang="zh-CN" sz="3200" smtClean="0">
                <a:solidFill>
                  <a:srgbClr val="660066"/>
                </a:solidFill>
                <a:ea typeface="宋体" panose="02010600030101010101" pitchFamily="2" charset="-122"/>
              </a:rPr>
              <a:t>Regular Expressions to DFA</a:t>
            </a:r>
          </a:p>
          <a:p>
            <a:r>
              <a:rPr lang="en-US" altLang="zh-CN" sz="3200" smtClean="0">
                <a:ea typeface="宋体" panose="02010600030101010101" pitchFamily="2" charset="-122"/>
              </a:rPr>
              <a:t>Relating NFAs/DFAs /Conversion to Lexical Analysis</a:t>
            </a:r>
          </a:p>
          <a:p>
            <a:r>
              <a:rPr lang="en-US" altLang="zh-CN" sz="3200" smtClean="0">
                <a:ea typeface="宋体" panose="02010600030101010101" pitchFamily="2" charset="-122"/>
              </a:rPr>
              <a:t>Concluding Remarks /Looking Ahead</a:t>
            </a:r>
            <a:endParaRPr lang="zh-CN" altLang="en-US" sz="320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07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507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507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◎2005 ECNU SEI</a:t>
            </a:r>
            <a:endParaRPr lang="en-US" altLang="zh-CN" sz="800" b="0" smtClean="0"/>
          </a:p>
        </p:txBody>
      </p:sp>
      <p:sp>
        <p:nvSpPr>
          <p:cNvPr id="717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Compilers: Principles, Techniques, and Tools</a:t>
            </a:r>
            <a:endParaRPr lang="en-US" altLang="zh-CN" sz="800" b="0" smtClean="0"/>
          </a:p>
        </p:txBody>
      </p:sp>
      <p:sp>
        <p:nvSpPr>
          <p:cNvPr id="717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E61712B-8907-49DC-96DB-64A54AADB95A}" type="slidenum">
              <a:rPr lang="zh-CN" altLang="en-US" sz="800" b="0"/>
              <a:pPr/>
              <a:t>6</a:t>
            </a:fld>
            <a:endParaRPr lang="en-US" altLang="zh-CN" sz="800" b="0"/>
          </a:p>
        </p:txBody>
      </p:sp>
      <p:sp>
        <p:nvSpPr>
          <p:cNvPr id="71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Lexical Analysis (cont.)</a:t>
            </a:r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305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9372600" cy="5305425"/>
          </a:xfrm>
        </p:spPr>
        <p:txBody>
          <a:bodyPr/>
          <a:lstStyle/>
          <a:p>
            <a:pPr>
              <a:defRPr/>
            </a:pPr>
            <a:r>
              <a:rPr lang="zh-CN" altLang="en-US" dirty="0">
                <a:ea typeface="宋体" pitchFamily="2" charset="-122"/>
              </a:rPr>
              <a:t> </a:t>
            </a:r>
            <a:r>
              <a:rPr lang="en-US" altLang="zh-CN" dirty="0">
                <a:ea typeface="宋体" pitchFamily="2" charset="-122"/>
              </a:rPr>
              <a:t>Reading the source program as a file of characters. </a:t>
            </a:r>
          </a:p>
          <a:p>
            <a:pPr>
              <a:defRPr/>
            </a:pPr>
            <a:r>
              <a:rPr lang="en-US" altLang="zh-CN" dirty="0" smtClean="0">
                <a:ea typeface="宋体" pitchFamily="2" charset="-122"/>
              </a:rPr>
              <a:t> Dividing the file up into tokens.</a:t>
            </a:r>
          </a:p>
          <a:p>
            <a:pPr>
              <a:defRPr/>
            </a:pPr>
            <a:r>
              <a:rPr lang="en-US" altLang="zh-CN" dirty="0" smtClean="0">
                <a:ea typeface="宋体" pitchFamily="2" charset="-122"/>
              </a:rPr>
              <a:t> </a:t>
            </a:r>
            <a:r>
              <a:rPr lang="en-US" altLang="zh-CN" b="1" dirty="0" smtClean="0">
                <a:solidFill>
                  <a:schemeClr val="accent2"/>
                </a:solidFill>
                <a:ea typeface="宋体" pitchFamily="2" charset="-122"/>
              </a:rPr>
              <a:t>Tokens</a:t>
            </a:r>
            <a:r>
              <a:rPr lang="zh-CN" altLang="en-US" dirty="0" smtClean="0">
                <a:ea typeface="宋体" pitchFamily="2" charset="-122"/>
              </a:rPr>
              <a:t>（单词）</a:t>
            </a:r>
            <a:r>
              <a:rPr lang="en-US" altLang="zh-CN" dirty="0" smtClean="0">
                <a:ea typeface="宋体" pitchFamily="2" charset="-122"/>
              </a:rPr>
              <a:t>: </a:t>
            </a:r>
            <a:r>
              <a:rPr lang="en-US" altLang="zh-CN" dirty="0" smtClean="0">
                <a:solidFill>
                  <a:srgbClr val="660066"/>
                </a:solidFill>
                <a:ea typeface="宋体" pitchFamily="2" charset="-122"/>
              </a:rPr>
              <a:t>represents a unit of information in the source program.</a:t>
            </a:r>
          </a:p>
          <a:p>
            <a:pPr>
              <a:buFontTx/>
              <a:buNone/>
              <a:defRPr/>
            </a:pPr>
            <a:r>
              <a:rPr lang="en-US" altLang="zh-CN" dirty="0" smtClean="0">
                <a:ea typeface="宋体" pitchFamily="2" charset="-122"/>
              </a:rPr>
              <a:t>      Examples: keywords</a:t>
            </a:r>
            <a:r>
              <a:rPr lang="zh-CN" altLang="en-US" dirty="0" smtClean="0">
                <a:ea typeface="宋体" pitchFamily="2" charset="-122"/>
              </a:rPr>
              <a:t>（关键词</a:t>
            </a:r>
            <a:r>
              <a:rPr lang="en-US" altLang="zh-CN" dirty="0" smtClean="0">
                <a:ea typeface="宋体" pitchFamily="2" charset="-122"/>
              </a:rPr>
              <a:t>/</a:t>
            </a:r>
            <a:r>
              <a:rPr lang="zh-CN" altLang="en-US" dirty="0" smtClean="0">
                <a:ea typeface="宋体" pitchFamily="2" charset="-122"/>
              </a:rPr>
              <a:t>保留字）</a:t>
            </a:r>
            <a:r>
              <a:rPr lang="en-US" altLang="zh-CN" dirty="0" smtClean="0">
                <a:ea typeface="宋体" pitchFamily="2" charset="-122"/>
              </a:rPr>
              <a:t>, identifiers</a:t>
            </a:r>
            <a:r>
              <a:rPr lang="zh-CN" altLang="en-US" dirty="0" smtClean="0">
                <a:ea typeface="宋体" pitchFamily="2" charset="-122"/>
              </a:rPr>
              <a:t>（标识符）</a:t>
            </a:r>
            <a:r>
              <a:rPr lang="en-US" altLang="zh-CN" dirty="0" smtClean="0">
                <a:ea typeface="宋体" pitchFamily="2" charset="-122"/>
              </a:rPr>
              <a:t>, arithmetic symbols, </a:t>
            </a:r>
            <a:r>
              <a:rPr lang="en-US" altLang="zh-CN" dirty="0" err="1" smtClean="0">
                <a:ea typeface="宋体" pitchFamily="2" charset="-122"/>
              </a:rPr>
              <a:t>multicharacter</a:t>
            </a:r>
            <a:r>
              <a:rPr lang="en-US" altLang="zh-CN" dirty="0" smtClean="0">
                <a:ea typeface="宋体" pitchFamily="2" charset="-122"/>
              </a:rPr>
              <a:t> symbols(&gt;=, &lt;&gt;).</a:t>
            </a:r>
          </a:p>
          <a:p>
            <a:pPr>
              <a:defRPr/>
            </a:pPr>
            <a:r>
              <a:rPr lang="en-US" altLang="zh-CN" dirty="0" smtClean="0">
                <a:ea typeface="宋体" pitchFamily="2" charset="-122"/>
              </a:rPr>
              <a:t> </a:t>
            </a:r>
            <a:r>
              <a:rPr lang="en-US" altLang="zh-CN" b="1" dirty="0" smtClean="0">
                <a:ea typeface="宋体" pitchFamily="2" charset="-122"/>
              </a:rPr>
              <a:t>Emphasis:</a:t>
            </a:r>
            <a:r>
              <a:rPr lang="en-US" altLang="zh-CN" dirty="0" smtClean="0">
                <a:ea typeface="宋体" pitchFamily="2" charset="-122"/>
              </a:rPr>
              <a:t> </a:t>
            </a:r>
          </a:p>
          <a:p>
            <a:pPr lvl="1">
              <a:buFontTx/>
              <a:buChar char="•"/>
              <a:defRPr/>
            </a:pPr>
            <a:r>
              <a:rPr lang="en-US" altLang="zh-CN" sz="2000" dirty="0">
                <a:solidFill>
                  <a:srgbClr val="660033"/>
                </a:solidFill>
                <a:ea typeface="宋体" pitchFamily="2" charset="-122"/>
              </a:rPr>
              <a:t>	          specification and recognition of </a:t>
            </a:r>
            <a:r>
              <a:rPr lang="en-US" altLang="zh-CN" sz="2000" dirty="0" smtClean="0">
                <a:solidFill>
                  <a:srgbClr val="660033"/>
                </a:solidFill>
                <a:ea typeface="宋体" pitchFamily="2" charset="-122"/>
              </a:rPr>
              <a:t>tokens — Regular expression </a:t>
            </a:r>
            <a:endParaRPr lang="en-US" altLang="zh-CN" sz="2000" dirty="0">
              <a:solidFill>
                <a:srgbClr val="660033"/>
              </a:solidFill>
              <a:ea typeface="宋体" pitchFamily="2" charset="-122"/>
            </a:endParaRPr>
          </a:p>
          <a:p>
            <a:pPr marL="457200" lvl="1" indent="0">
              <a:buFontTx/>
              <a:buNone/>
              <a:defRPr/>
            </a:pPr>
            <a:r>
              <a:rPr lang="zh-CN" altLang="en-US" sz="2000" dirty="0">
                <a:solidFill>
                  <a:srgbClr val="660033"/>
                </a:solidFill>
                <a:ea typeface="宋体" pitchFamily="2" charset="-122"/>
              </a:rPr>
              <a:t>                                                                              （正规</a:t>
            </a:r>
            <a:r>
              <a:rPr lang="en-US" altLang="zh-CN" sz="2000" dirty="0">
                <a:solidFill>
                  <a:srgbClr val="660033"/>
                </a:solidFill>
                <a:ea typeface="宋体" pitchFamily="2" charset="-122"/>
              </a:rPr>
              <a:t>/</a:t>
            </a:r>
            <a:r>
              <a:rPr lang="zh-CN" altLang="en-US" sz="2000" dirty="0">
                <a:solidFill>
                  <a:srgbClr val="660033"/>
                </a:solidFill>
                <a:ea typeface="宋体" pitchFamily="2" charset="-122"/>
              </a:rPr>
              <a:t>正则表达式）</a:t>
            </a:r>
          </a:p>
          <a:p>
            <a:pPr lvl="1">
              <a:buFontTx/>
              <a:buChar char="•"/>
              <a:defRPr/>
            </a:pPr>
            <a:r>
              <a:rPr lang="en-US" altLang="zh-CN" sz="2000" dirty="0">
                <a:solidFill>
                  <a:srgbClr val="660033"/>
                </a:solidFill>
                <a:ea typeface="宋体" pitchFamily="2" charset="-122"/>
              </a:rPr>
              <a:t>             </a:t>
            </a:r>
            <a:r>
              <a:rPr lang="en-US" altLang="zh-CN" sz="2000" dirty="0" smtClean="0">
                <a:solidFill>
                  <a:srgbClr val="660033"/>
                </a:solidFill>
                <a:ea typeface="宋体" pitchFamily="2" charset="-122"/>
              </a:rPr>
              <a:t>how </a:t>
            </a:r>
            <a:r>
              <a:rPr lang="en-US" altLang="zh-CN" sz="2000" dirty="0">
                <a:solidFill>
                  <a:srgbClr val="660033"/>
                </a:solidFill>
                <a:ea typeface="宋体" pitchFamily="2" charset="-122"/>
              </a:rPr>
              <a:t>to recognize tokens--Finite automata</a:t>
            </a:r>
            <a:r>
              <a:rPr lang="zh-CN" altLang="en-US" sz="2000" dirty="0">
                <a:solidFill>
                  <a:srgbClr val="660033"/>
                </a:solidFill>
                <a:ea typeface="宋体" pitchFamily="2" charset="-122"/>
              </a:rPr>
              <a:t>（有限自动机）</a:t>
            </a:r>
          </a:p>
          <a:p>
            <a:pPr lvl="1">
              <a:buFontTx/>
              <a:buChar char="•"/>
              <a:defRPr/>
            </a:pPr>
            <a:r>
              <a:rPr lang="zh-CN" altLang="en-US" sz="2000" dirty="0">
                <a:solidFill>
                  <a:srgbClr val="660033"/>
                </a:solidFill>
                <a:ea typeface="宋体" pitchFamily="2" charset="-122"/>
              </a:rPr>
              <a:t>             </a:t>
            </a:r>
            <a:r>
              <a:rPr lang="en-US" altLang="zh-CN" sz="2000" dirty="0" smtClean="0">
                <a:solidFill>
                  <a:srgbClr val="660033"/>
                </a:solidFill>
                <a:ea typeface="宋体" pitchFamily="2" charset="-122"/>
              </a:rPr>
              <a:t>design </a:t>
            </a:r>
            <a:r>
              <a:rPr lang="en-US" altLang="zh-CN" sz="2000" dirty="0">
                <a:solidFill>
                  <a:srgbClr val="660033"/>
                </a:solidFill>
                <a:ea typeface="宋体" pitchFamily="2" charset="-122"/>
              </a:rPr>
              <a:t>of a lexical analyzer—programming in C or LEX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05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05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1000"/>
                                        <p:tgtEl>
                                          <p:spTgt spid="305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17" presetID="5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1000"/>
                                        <p:tgtEl>
                                          <p:spTgt spid="3051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日期占位符 4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◎2005 ECNU SEI</a:t>
            </a:r>
            <a:endParaRPr lang="en-US" altLang="zh-CN" sz="800" b="0" smtClean="0"/>
          </a:p>
        </p:txBody>
      </p:sp>
      <p:sp>
        <p:nvSpPr>
          <p:cNvPr id="8195" name="页脚占位符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Compilers: Principles, Techniques, and Tools</a:t>
            </a:r>
            <a:endParaRPr lang="en-US" altLang="zh-CN" sz="800" b="0" smtClean="0"/>
          </a:p>
        </p:txBody>
      </p:sp>
      <p:sp>
        <p:nvSpPr>
          <p:cNvPr id="8196" name="灯片编号占位符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EEC6A5F-E3E6-421A-9A8D-828C059B7372}" type="slidenum">
              <a:rPr lang="zh-CN" altLang="en-US" sz="800" b="0"/>
              <a:pPr/>
              <a:t>7</a:t>
            </a:fld>
            <a:endParaRPr lang="en-US" altLang="zh-CN" sz="800" b="0"/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3.1 The Role of the Lexical Analyzer </a:t>
            </a:r>
            <a:r>
              <a:rPr lang="zh-CN" altLang="en-US" smtClean="0">
                <a:ea typeface="宋体" panose="02010600030101010101" pitchFamily="2" charset="-122"/>
              </a:rPr>
              <a:t>（</a:t>
            </a:r>
            <a:r>
              <a:rPr lang="en-US" altLang="zh-CN" smtClean="0">
                <a:ea typeface="宋体" panose="02010600030101010101" pitchFamily="2" charset="-122"/>
              </a:rPr>
              <a:t>P.84</a:t>
            </a:r>
            <a:r>
              <a:rPr lang="zh-CN" altLang="en-US" smtClean="0">
                <a:ea typeface="宋体" panose="02010600030101010101" pitchFamily="2" charset="-122"/>
              </a:rPr>
              <a:t>）</a:t>
            </a:r>
          </a:p>
        </p:txBody>
      </p:sp>
      <p:sp>
        <p:nvSpPr>
          <p:cNvPr id="2478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219200"/>
            <a:ext cx="9109075" cy="4873625"/>
          </a:xfrm>
        </p:spPr>
        <p:txBody>
          <a:bodyPr/>
          <a:lstStyle/>
          <a:p>
            <a:r>
              <a:rPr lang="en-US" altLang="zh-CN" sz="3200" b="1" smtClean="0">
                <a:ea typeface="宋体" panose="02010600030101010101" pitchFamily="2" charset="-122"/>
              </a:rPr>
              <a:t>Lexical Analyzer</a:t>
            </a:r>
            <a:r>
              <a:rPr lang="en-US" altLang="zh-CN" sz="3200" smtClean="0">
                <a:ea typeface="宋体" panose="02010600030101010101" pitchFamily="2" charset="-122"/>
              </a:rPr>
              <a:t> (</a:t>
            </a:r>
            <a:r>
              <a:rPr lang="zh-CN" altLang="en-US" sz="3200" smtClean="0">
                <a:ea typeface="宋体" panose="02010600030101010101" pitchFamily="2" charset="-122"/>
              </a:rPr>
              <a:t>词法分析器</a:t>
            </a:r>
            <a:r>
              <a:rPr lang="en-US" altLang="zh-CN" sz="3200" smtClean="0">
                <a:ea typeface="宋体" panose="02010600030101010101" pitchFamily="2" charset="-122"/>
              </a:rPr>
              <a:t>) is the first phase of a  compiler, it reads the source program character by character to produce tokens for syntax analysis.</a:t>
            </a:r>
          </a:p>
          <a:p>
            <a:r>
              <a:rPr lang="en-US" altLang="zh-CN" sz="3200" smtClean="0">
                <a:ea typeface="宋体" panose="02010600030101010101" pitchFamily="2" charset="-122"/>
              </a:rPr>
              <a:t>Normally a lexical analyzer doesn’t return a list of tokens at one shot</a:t>
            </a:r>
            <a:r>
              <a:rPr lang="en-US" altLang="zh-CN" sz="3200" b="1" smtClean="0">
                <a:ea typeface="宋体" panose="02010600030101010101" pitchFamily="2" charset="-122"/>
              </a:rPr>
              <a:t>, it returns a token when the parser asks a token from it.</a:t>
            </a:r>
          </a:p>
          <a:p>
            <a:r>
              <a:rPr lang="en-US" altLang="zh-CN" sz="3200" b="1" smtClean="0">
                <a:solidFill>
                  <a:srgbClr val="FF00FF"/>
                </a:solidFill>
                <a:ea typeface="宋体" panose="02010600030101010101" pitchFamily="2" charset="-122"/>
              </a:rPr>
              <a:t>Lexical analyzer = scanning + lexical analysis</a:t>
            </a:r>
          </a:p>
          <a:p>
            <a:pPr>
              <a:buFontTx/>
              <a:buNone/>
            </a:pPr>
            <a:endParaRPr lang="en-US" altLang="zh-CN" sz="3200" smtClean="0">
              <a:ea typeface="宋体" panose="02010600030101010101" pitchFamily="2" charset="-122"/>
            </a:endParaRPr>
          </a:p>
          <a:p>
            <a:pPr>
              <a:buFontTx/>
              <a:buNone/>
            </a:pPr>
            <a:endParaRPr lang="en-US" altLang="zh-CN" sz="1200" smtClean="0">
              <a:ea typeface="宋体" panose="02010600030101010101" pitchFamily="2" charset="-122"/>
            </a:endParaRPr>
          </a:p>
          <a:p>
            <a:endParaRPr lang="zh-CN" altLang="en-US" sz="120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30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47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◎2005 ECNU SEI</a:t>
            </a:r>
            <a:endParaRPr lang="en-US" altLang="zh-CN" sz="800" b="0" smtClean="0"/>
          </a:p>
        </p:txBody>
      </p:sp>
      <p:sp>
        <p:nvSpPr>
          <p:cNvPr id="921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Compilers: Principles, Techniques, and Tools</a:t>
            </a:r>
            <a:endParaRPr lang="en-US" altLang="zh-CN" sz="800" b="0" smtClean="0"/>
          </a:p>
        </p:txBody>
      </p:sp>
      <p:sp>
        <p:nvSpPr>
          <p:cNvPr id="922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17EB818-8395-4E83-B542-AFE4F82D9D72}" type="slidenum">
              <a:rPr lang="zh-CN" altLang="en-US" sz="800" b="0"/>
              <a:pPr/>
              <a:t>8</a:t>
            </a:fld>
            <a:endParaRPr lang="en-US" altLang="zh-CN" sz="800" b="0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title"/>
          </p:nvPr>
        </p:nvSpPr>
        <p:spPr>
          <a:xfrm>
            <a:off x="200025" y="260350"/>
            <a:ext cx="9372600" cy="914400"/>
          </a:xfrm>
        </p:spPr>
        <p:txBody>
          <a:bodyPr/>
          <a:lstStyle/>
          <a:p>
            <a:r>
              <a:rPr lang="zh-CN" altLang="en-US" smtClean="0">
                <a:ea typeface="宋体" panose="02010600030101010101" pitchFamily="2" charset="-122"/>
              </a:rPr>
              <a:t> </a:t>
            </a:r>
          </a:p>
        </p:txBody>
      </p:sp>
      <p:graphicFrame>
        <p:nvGraphicFramePr>
          <p:cNvPr id="345092" name="Object 4"/>
          <p:cNvGraphicFramePr>
            <a:graphicFrameLocks noChangeAspect="1"/>
          </p:cNvGraphicFramePr>
          <p:nvPr>
            <p:ph idx="1"/>
          </p:nvPr>
        </p:nvGraphicFramePr>
        <p:xfrm>
          <a:off x="560388" y="1112838"/>
          <a:ext cx="8353425" cy="3535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5" name="Visio" r:id="rId3" imgW="5179466" imgH="2192731" progId="Visio.Drawing.11">
                  <p:embed/>
                </p:oleObj>
              </mc:Choice>
              <mc:Fallback>
                <p:oleObj name="Visio" r:id="rId3" imgW="5179466" imgH="2192731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388" y="1112838"/>
                        <a:ext cx="8353425" cy="3535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3" name="Rectangle 7"/>
          <p:cNvSpPr>
            <a:spLocks noChangeArrowheads="1"/>
          </p:cNvSpPr>
          <p:nvPr/>
        </p:nvSpPr>
        <p:spPr bwMode="auto">
          <a:xfrm>
            <a:off x="200025" y="404813"/>
            <a:ext cx="93726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zh-CN" altLang="en-US" sz="3200">
                <a:solidFill>
                  <a:schemeClr val="tx2"/>
                </a:solidFill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9224" name="Rectangle 8"/>
          <p:cNvSpPr>
            <a:spLocks noChangeArrowheads="1"/>
          </p:cNvSpPr>
          <p:nvPr/>
        </p:nvSpPr>
        <p:spPr bwMode="auto">
          <a:xfrm>
            <a:off x="2073275" y="5157788"/>
            <a:ext cx="52117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What are responsibilities of each box ?</a:t>
            </a:r>
            <a:endParaRPr lang="zh-CN" altLang="en-US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000"/>
                                        <p:tgtEl>
                                          <p:spTgt spid="345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◎2005 ECNU SEI</a:t>
            </a:r>
            <a:endParaRPr lang="en-US" altLang="zh-CN" sz="800" b="0" smtClean="0"/>
          </a:p>
        </p:txBody>
      </p:sp>
      <p:sp>
        <p:nvSpPr>
          <p:cNvPr id="1024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Compilers: Principles, Techniques, and Tools</a:t>
            </a:r>
            <a:endParaRPr lang="en-US" altLang="zh-CN" sz="800" b="0" smtClean="0"/>
          </a:p>
        </p:txBody>
      </p:sp>
      <p:sp>
        <p:nvSpPr>
          <p:cNvPr id="1024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24348B1-8F84-4A53-9503-A92E62C016B3}" type="slidenum">
              <a:rPr lang="zh-CN" altLang="en-US" sz="800" b="0"/>
              <a:pPr/>
              <a:t>9</a:t>
            </a:fld>
            <a:endParaRPr lang="en-US" altLang="zh-CN" sz="800" b="0"/>
          </a:p>
        </p:txBody>
      </p:sp>
      <p:sp>
        <p:nvSpPr>
          <p:cNvPr id="102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Issues in lexical analysis (P.84)</a:t>
            </a:r>
          </a:p>
        </p:txBody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908050"/>
            <a:ext cx="9372600" cy="5473700"/>
          </a:xfrm>
        </p:spPr>
        <p:txBody>
          <a:bodyPr/>
          <a:lstStyle/>
          <a:p>
            <a:r>
              <a:rPr lang="en-US" altLang="zh-CN" sz="2800" smtClean="0">
                <a:ea typeface="宋体" panose="02010600030101010101" pitchFamily="2" charset="-122"/>
              </a:rPr>
              <a:t>Separation of Lexical Analysis From Parsing Presents a </a:t>
            </a:r>
            <a:r>
              <a:rPr lang="en-US" altLang="zh-CN" sz="2800" b="1" smtClean="0">
                <a:solidFill>
                  <a:schemeClr val="accent2"/>
                </a:solidFill>
                <a:ea typeface="宋体" panose="02010600030101010101" pitchFamily="2" charset="-122"/>
              </a:rPr>
              <a:t>Simpler Conceptual Model</a:t>
            </a:r>
          </a:p>
          <a:p>
            <a:pPr lvl="1"/>
            <a:r>
              <a:rPr lang="en-US" altLang="zh-CN" sz="2400" smtClean="0">
                <a:ea typeface="宋体" panose="02010600030101010101" pitchFamily="2" charset="-122"/>
              </a:rPr>
              <a:t>From a </a:t>
            </a:r>
            <a:r>
              <a:rPr lang="en-US" altLang="zh-CN" sz="2400" b="1" smtClean="0">
                <a:solidFill>
                  <a:srgbClr val="660066"/>
                </a:solidFill>
                <a:ea typeface="宋体" panose="02010600030101010101" pitchFamily="2" charset="-122"/>
              </a:rPr>
              <a:t>Software Engineering Perspective</a:t>
            </a:r>
            <a:r>
              <a:rPr lang="en-US" altLang="zh-CN" sz="2400" smtClean="0">
                <a:ea typeface="宋体" panose="02010600030101010101" pitchFamily="2" charset="-122"/>
              </a:rPr>
              <a:t> Division Emphasizes</a:t>
            </a:r>
          </a:p>
          <a:p>
            <a:pPr lvl="2"/>
            <a:r>
              <a:rPr lang="en-US" altLang="zh-CN" sz="2400" smtClean="0">
                <a:ea typeface="宋体" panose="02010600030101010101" pitchFamily="2" charset="-122"/>
              </a:rPr>
              <a:t> High Cohesion and Low</a:t>
            </a:r>
            <a:r>
              <a:rPr lang="en-US" altLang="zh-CN" sz="2400" smtClean="0">
                <a:solidFill>
                  <a:schemeClr val="accent1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400" b="1" smtClean="0">
                <a:solidFill>
                  <a:srgbClr val="FF00FF"/>
                </a:solidFill>
                <a:ea typeface="宋体" panose="02010600030101010101" pitchFamily="2" charset="-122"/>
              </a:rPr>
              <a:t>Coupling</a:t>
            </a:r>
          </a:p>
          <a:p>
            <a:pPr lvl="2"/>
            <a:r>
              <a:rPr lang="en-US" altLang="zh-CN" sz="2400" smtClean="0">
                <a:ea typeface="宋体" panose="02010600030101010101" pitchFamily="2" charset="-122"/>
              </a:rPr>
              <a:t>Implies </a:t>
            </a:r>
            <a:r>
              <a:rPr lang="en-US" altLang="zh-CN" sz="2400" smtClean="0">
                <a:ea typeface="宋体" panose="02010600030101010101" pitchFamily="2" charset="-122"/>
                <a:sym typeface="Symbol" panose="05050102010706020507" pitchFamily="18" charset="2"/>
              </a:rPr>
              <a:t>Well Specified  </a:t>
            </a:r>
            <a:r>
              <a:rPr lang="en-US" altLang="zh-CN" sz="2400" b="1" smtClean="0">
                <a:solidFill>
                  <a:srgbClr val="FF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Parallel</a:t>
            </a:r>
            <a:r>
              <a:rPr lang="en-US" altLang="zh-CN" sz="2400" smtClean="0">
                <a:solidFill>
                  <a:srgbClr val="FF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smtClean="0">
                <a:ea typeface="宋体" panose="02010600030101010101" pitchFamily="2" charset="-122"/>
                <a:sym typeface="Symbol" panose="05050102010706020507" pitchFamily="18" charset="2"/>
              </a:rPr>
              <a:t>Implementation</a:t>
            </a:r>
            <a:endParaRPr lang="en-US" altLang="zh-CN" sz="2400" smtClean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zh-CN" sz="2800" smtClean="0">
                <a:ea typeface="宋体" panose="02010600030101010101" pitchFamily="2" charset="-122"/>
                <a:sym typeface="Symbol" panose="05050102010706020507" pitchFamily="18" charset="2"/>
              </a:rPr>
              <a:t>Separation Increases Compiler </a:t>
            </a:r>
            <a:r>
              <a:rPr lang="en-US" altLang="zh-CN" sz="2800" b="1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Efficiency </a:t>
            </a:r>
            <a:r>
              <a:rPr lang="en-US" altLang="zh-CN" sz="2800" smtClean="0">
                <a:ea typeface="宋体" panose="02010600030101010101" pitchFamily="2" charset="-122"/>
                <a:sym typeface="Symbol" panose="05050102010706020507" pitchFamily="18" charset="2"/>
              </a:rPr>
              <a:t>(I/O Techniques to Enhance Lexical Analysis)</a:t>
            </a:r>
          </a:p>
          <a:p>
            <a:pPr>
              <a:spcBef>
                <a:spcPct val="50000"/>
              </a:spcBef>
            </a:pPr>
            <a:r>
              <a:rPr lang="en-US" altLang="zh-CN" sz="2800" smtClean="0">
                <a:ea typeface="宋体" panose="02010600030101010101" pitchFamily="2" charset="-122"/>
                <a:sym typeface="Symbol" panose="05050102010706020507" pitchFamily="18" charset="2"/>
              </a:rPr>
              <a:t>Separation Promotes </a:t>
            </a:r>
            <a:r>
              <a:rPr lang="en-US" altLang="zh-CN" sz="2800" b="1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Portability</a:t>
            </a:r>
            <a:r>
              <a:rPr lang="en-US" altLang="zh-CN" sz="2800" smtClean="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</a:p>
          <a:p>
            <a:pPr lvl="1">
              <a:spcBef>
                <a:spcPct val="50000"/>
              </a:spcBef>
            </a:pPr>
            <a:r>
              <a:rPr lang="en-US" altLang="zh-CN" sz="2800" smtClean="0">
                <a:ea typeface="宋体" panose="02010600030101010101" pitchFamily="2" charset="-122"/>
                <a:sym typeface="Symbol" panose="05050102010706020507" pitchFamily="18" charset="2"/>
              </a:rPr>
              <a:t>This is critical today, when platforms (OSs and Hardware) are numerous and varied!</a:t>
            </a:r>
          </a:p>
          <a:p>
            <a:pPr lvl="1">
              <a:lnSpc>
                <a:spcPct val="50000"/>
              </a:lnSpc>
              <a:spcBef>
                <a:spcPct val="50000"/>
              </a:spcBef>
            </a:pPr>
            <a:r>
              <a:rPr lang="en-US" altLang="zh-CN" sz="2800" smtClean="0">
                <a:ea typeface="宋体" panose="02010600030101010101" pitchFamily="2" charset="-122"/>
                <a:sym typeface="Symbol" panose="05050102010706020507" pitchFamily="18" charset="2"/>
              </a:rPr>
              <a:t>Emergence of Platform Independence – Java 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◎2005 ECNU SEI</a:t>
            </a:r>
            <a:endParaRPr lang="en-US" altLang="zh-CN" sz="800" b="0" smtClean="0"/>
          </a:p>
        </p:txBody>
      </p:sp>
      <p:sp>
        <p:nvSpPr>
          <p:cNvPr id="1126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Compilers: Principles, Techniques, and Tools</a:t>
            </a:r>
            <a:endParaRPr lang="en-US" altLang="zh-CN" sz="800" b="0" smtClean="0"/>
          </a:p>
        </p:txBody>
      </p:sp>
      <p:sp>
        <p:nvSpPr>
          <p:cNvPr id="1126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593C01C-7551-429D-936F-A6BAB4862443}" type="slidenum">
              <a:rPr lang="zh-CN" altLang="en-US" sz="800" b="0"/>
              <a:pPr/>
              <a:t>10</a:t>
            </a:fld>
            <a:endParaRPr lang="en-US" altLang="zh-CN" sz="800" b="0"/>
          </a:p>
        </p:txBody>
      </p:sp>
      <p:sp>
        <p:nvSpPr>
          <p:cNvPr id="112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smtClean="0">
                <a:solidFill>
                  <a:schemeClr val="tx1"/>
                </a:solidFill>
                <a:ea typeface="宋体" panose="02010600030101010101" pitchFamily="2" charset="-122"/>
              </a:rPr>
              <a:t>Lexical Analyzer in Perspective </a:t>
            </a:r>
            <a:endParaRPr lang="zh-CN" altLang="en-US" b="0" smtClean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4500563" cy="5105400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zh-CN" smtClean="0">
                <a:ea typeface="宋体" panose="02010600030101010101" pitchFamily="2" charset="-122"/>
              </a:rPr>
              <a:t>LEXICAL ANALYZER</a:t>
            </a:r>
          </a:p>
          <a:p>
            <a:pPr lvl="1">
              <a:spcBef>
                <a:spcPct val="50000"/>
              </a:spcBef>
            </a:pPr>
            <a:r>
              <a:rPr lang="en-US" altLang="zh-CN" sz="2400" smtClean="0">
                <a:ea typeface="宋体" panose="02010600030101010101" pitchFamily="2" charset="-122"/>
              </a:rPr>
              <a:t> Scan Input</a:t>
            </a:r>
          </a:p>
          <a:p>
            <a:pPr lvl="1">
              <a:spcBef>
                <a:spcPct val="50000"/>
              </a:spcBef>
            </a:pPr>
            <a:r>
              <a:rPr lang="en-US" altLang="zh-CN" sz="2400" smtClean="0">
                <a:ea typeface="宋体" panose="02010600030101010101" pitchFamily="2" charset="-122"/>
              </a:rPr>
              <a:t> Remove WS, NL, …</a:t>
            </a:r>
          </a:p>
          <a:p>
            <a:pPr lvl="1">
              <a:spcBef>
                <a:spcPct val="50000"/>
              </a:spcBef>
            </a:pPr>
            <a:r>
              <a:rPr lang="en-US" altLang="zh-CN" sz="2400" smtClean="0">
                <a:ea typeface="宋体" panose="02010600030101010101" pitchFamily="2" charset="-122"/>
              </a:rPr>
              <a:t> Identify Tokens</a:t>
            </a:r>
          </a:p>
          <a:p>
            <a:pPr lvl="1">
              <a:spcBef>
                <a:spcPct val="50000"/>
              </a:spcBef>
            </a:pPr>
            <a:r>
              <a:rPr lang="en-US" altLang="zh-CN" sz="2400" smtClean="0">
                <a:ea typeface="宋体" panose="02010600030101010101" pitchFamily="2" charset="-122"/>
              </a:rPr>
              <a:t> Create Symbol Table</a:t>
            </a:r>
          </a:p>
          <a:p>
            <a:pPr lvl="1">
              <a:spcBef>
                <a:spcPct val="50000"/>
              </a:spcBef>
            </a:pPr>
            <a:r>
              <a:rPr lang="en-US" altLang="zh-CN" sz="2400" smtClean="0">
                <a:ea typeface="宋体" panose="02010600030101010101" pitchFamily="2" charset="-122"/>
              </a:rPr>
              <a:t> Insert Tokens into ST</a:t>
            </a:r>
          </a:p>
          <a:p>
            <a:pPr lvl="1">
              <a:spcBef>
                <a:spcPct val="50000"/>
              </a:spcBef>
            </a:pPr>
            <a:r>
              <a:rPr lang="en-US" altLang="zh-CN" sz="2400" smtClean="0">
                <a:ea typeface="宋体" panose="02010600030101010101" pitchFamily="2" charset="-122"/>
              </a:rPr>
              <a:t> Generate Errors</a:t>
            </a:r>
          </a:p>
          <a:p>
            <a:pPr lvl="1">
              <a:spcBef>
                <a:spcPct val="50000"/>
              </a:spcBef>
            </a:pPr>
            <a:r>
              <a:rPr lang="en-US" altLang="zh-CN" sz="2400" smtClean="0">
                <a:ea typeface="宋体" panose="02010600030101010101" pitchFamily="2" charset="-122"/>
              </a:rPr>
              <a:t> Send Tokens to Parser</a:t>
            </a:r>
          </a:p>
          <a:p>
            <a:endParaRPr lang="zh-CN" altLang="en-US" smtClean="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zh-CN" altLang="en-US" smtClean="0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350212" name="Rectangle 4"/>
          <p:cNvSpPr>
            <a:spLocks noChangeArrowheads="1"/>
          </p:cNvSpPr>
          <p:nvPr/>
        </p:nvSpPr>
        <p:spPr bwMode="auto">
          <a:xfrm>
            <a:off x="4448175" y="1203325"/>
            <a:ext cx="5184775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zh-CN" b="0">
                <a:solidFill>
                  <a:srgbClr val="660066"/>
                </a:solidFill>
                <a:ea typeface="宋体" panose="02010600030101010101" pitchFamily="2" charset="-122"/>
              </a:rPr>
              <a:t>PARSER</a:t>
            </a:r>
          </a:p>
          <a:p>
            <a:pPr lvl="1">
              <a:spcBef>
                <a:spcPct val="50000"/>
              </a:spcBef>
              <a:buFontTx/>
              <a:buChar char="–"/>
            </a:pPr>
            <a:r>
              <a:rPr lang="en-US" altLang="zh-CN" b="0">
                <a:solidFill>
                  <a:srgbClr val="660066"/>
                </a:solidFill>
                <a:ea typeface="宋体" panose="02010600030101010101" pitchFamily="2" charset="-122"/>
              </a:rPr>
              <a:t> Perform Syntax Analysis</a:t>
            </a:r>
          </a:p>
          <a:p>
            <a:pPr lvl="1">
              <a:spcBef>
                <a:spcPct val="50000"/>
              </a:spcBef>
              <a:buFontTx/>
              <a:buChar char="–"/>
            </a:pPr>
            <a:r>
              <a:rPr lang="en-US" altLang="zh-CN" b="0">
                <a:solidFill>
                  <a:srgbClr val="660066"/>
                </a:solidFill>
                <a:ea typeface="宋体" panose="02010600030101010101" pitchFamily="2" charset="-122"/>
              </a:rPr>
              <a:t> Actions Dictated by Token Order</a:t>
            </a:r>
          </a:p>
          <a:p>
            <a:pPr lvl="1">
              <a:spcBef>
                <a:spcPct val="50000"/>
              </a:spcBef>
              <a:buFontTx/>
              <a:buChar char="–"/>
            </a:pPr>
            <a:r>
              <a:rPr lang="en-US" altLang="zh-CN" b="0">
                <a:solidFill>
                  <a:srgbClr val="660066"/>
                </a:solidFill>
                <a:ea typeface="宋体" panose="02010600030101010101" pitchFamily="2" charset="-122"/>
              </a:rPr>
              <a:t> Update Symbol Table Entries</a:t>
            </a:r>
          </a:p>
          <a:p>
            <a:pPr lvl="1">
              <a:spcBef>
                <a:spcPct val="50000"/>
              </a:spcBef>
              <a:buFontTx/>
              <a:buChar char="–"/>
            </a:pPr>
            <a:r>
              <a:rPr lang="en-US" altLang="zh-CN" b="0">
                <a:solidFill>
                  <a:srgbClr val="660066"/>
                </a:solidFill>
                <a:ea typeface="宋体" panose="02010600030101010101" pitchFamily="2" charset="-122"/>
              </a:rPr>
              <a:t> Create Abstract Rep. of Source</a:t>
            </a:r>
          </a:p>
          <a:p>
            <a:pPr lvl="1">
              <a:spcBef>
                <a:spcPct val="50000"/>
              </a:spcBef>
              <a:buFontTx/>
              <a:buChar char="–"/>
            </a:pPr>
            <a:r>
              <a:rPr lang="en-US" altLang="zh-CN" b="0">
                <a:solidFill>
                  <a:srgbClr val="660066"/>
                </a:solidFill>
                <a:ea typeface="宋体" panose="02010600030101010101" pitchFamily="2" charset="-122"/>
              </a:rPr>
              <a:t> Generate Errors</a:t>
            </a:r>
          </a:p>
          <a:p>
            <a:pPr lvl="1">
              <a:spcBef>
                <a:spcPct val="50000"/>
              </a:spcBef>
              <a:buFontTx/>
              <a:buChar char="–"/>
            </a:pPr>
            <a:r>
              <a:rPr lang="en-US" altLang="zh-CN" b="0">
                <a:solidFill>
                  <a:srgbClr val="660066"/>
                </a:solidFill>
                <a:ea typeface="宋体" panose="02010600030101010101" pitchFamily="2" charset="-122"/>
              </a:rPr>
              <a:t> And More…. (We’ll see later</a:t>
            </a:r>
            <a:r>
              <a:rPr lang="en-US" altLang="zh-CN">
                <a:solidFill>
                  <a:srgbClr val="660066"/>
                </a:solidFill>
                <a:ea typeface="宋体" panose="02010600030101010101" pitchFamily="2" charset="-122"/>
              </a:rPr>
              <a:t>)</a:t>
            </a:r>
          </a:p>
          <a:p>
            <a:pPr>
              <a:spcBef>
                <a:spcPct val="20000"/>
              </a:spcBef>
            </a:pPr>
            <a:r>
              <a:rPr lang="zh-CN" altLang="en-US" b="0">
                <a:ea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50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50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02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◎2005 ECNU SEI</a:t>
            </a:r>
            <a:endParaRPr lang="en-US" altLang="zh-CN" sz="800" b="0" smtClean="0"/>
          </a:p>
        </p:txBody>
      </p:sp>
      <p:sp>
        <p:nvSpPr>
          <p:cNvPr id="1229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Compilers: Principles, Techniques, and Tools</a:t>
            </a:r>
            <a:endParaRPr lang="en-US" altLang="zh-CN" sz="800" b="0" smtClean="0"/>
          </a:p>
        </p:txBody>
      </p:sp>
      <p:sp>
        <p:nvSpPr>
          <p:cNvPr id="1229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4204361-E461-46C1-AB39-68A79486FF8E}" type="slidenum">
              <a:rPr lang="zh-CN" altLang="en-US" sz="800" b="0"/>
              <a:pPr/>
              <a:t>11</a:t>
            </a:fld>
            <a:endParaRPr lang="en-US" altLang="zh-CN" sz="800" b="0"/>
          </a:p>
        </p:txBody>
      </p:sp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solidFill>
                  <a:schemeClr val="tx1"/>
                </a:solidFill>
                <a:ea typeface="宋体" panose="02010600030101010101" pitchFamily="2" charset="-122"/>
              </a:rPr>
              <a:t>Introducing Basic Terminology (P.85)</a:t>
            </a:r>
            <a:endParaRPr lang="zh-CN" altLang="en-US" smtClean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51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9372600" cy="508952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zh-CN" sz="2800" smtClean="0">
                <a:ea typeface="宋体" panose="02010600030101010101" pitchFamily="2" charset="-122"/>
              </a:rPr>
              <a:t>What are Major Terms for Lexical Analysis?</a:t>
            </a:r>
          </a:p>
          <a:p>
            <a:pPr lvl="1">
              <a:lnSpc>
                <a:spcPct val="80000"/>
              </a:lnSpc>
            </a:pPr>
            <a:r>
              <a:rPr lang="en-US" altLang="zh-CN" sz="2800" b="1" smtClean="0">
                <a:solidFill>
                  <a:srgbClr val="008000"/>
                </a:solidFill>
                <a:ea typeface="宋体" panose="02010600030101010101" pitchFamily="2" charset="-122"/>
              </a:rPr>
              <a:t>TOKEN</a:t>
            </a:r>
          </a:p>
          <a:p>
            <a:pPr lvl="2">
              <a:lnSpc>
                <a:spcPct val="80000"/>
              </a:lnSpc>
            </a:pPr>
            <a:r>
              <a:rPr lang="en-US" altLang="zh-CN" sz="2800" b="1" smtClean="0">
                <a:ea typeface="宋体" panose="02010600030101010101" pitchFamily="2" charset="-122"/>
              </a:rPr>
              <a:t> </a:t>
            </a:r>
            <a:r>
              <a:rPr lang="en-US" altLang="zh-CN" sz="2800" smtClean="0">
                <a:ea typeface="宋体" panose="02010600030101010101" pitchFamily="2" charset="-122"/>
              </a:rPr>
              <a:t>A classification for a common set of strings</a:t>
            </a:r>
          </a:p>
          <a:p>
            <a:pPr lvl="2">
              <a:lnSpc>
                <a:spcPct val="80000"/>
              </a:lnSpc>
            </a:pPr>
            <a:r>
              <a:rPr lang="en-US" altLang="zh-CN" sz="2800" smtClean="0">
                <a:ea typeface="宋体" panose="02010600030101010101" pitchFamily="2" charset="-122"/>
              </a:rPr>
              <a:t>Examples Include &lt;Identifier&gt;, &lt;number&gt;, etc.</a:t>
            </a:r>
            <a:endParaRPr lang="en-US" altLang="zh-CN" sz="2800" b="1" smtClean="0">
              <a:solidFill>
                <a:srgbClr val="008000"/>
              </a:solidFill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</a:pPr>
            <a:r>
              <a:rPr lang="en-US" altLang="zh-CN" sz="2800" b="1" smtClean="0">
                <a:solidFill>
                  <a:srgbClr val="008000"/>
                </a:solidFill>
                <a:ea typeface="宋体" panose="02010600030101010101" pitchFamily="2" charset="-122"/>
              </a:rPr>
              <a:t>PATTERN</a:t>
            </a:r>
          </a:p>
          <a:p>
            <a:pPr lvl="2">
              <a:lnSpc>
                <a:spcPct val="80000"/>
              </a:lnSpc>
            </a:pPr>
            <a:r>
              <a:rPr lang="en-US" altLang="zh-CN" sz="2800" smtClean="0">
                <a:ea typeface="宋体" panose="02010600030101010101" pitchFamily="2" charset="-122"/>
              </a:rPr>
              <a:t>The rules which characterize the set of strings for a token</a:t>
            </a:r>
          </a:p>
          <a:p>
            <a:pPr lvl="2">
              <a:lnSpc>
                <a:spcPct val="80000"/>
              </a:lnSpc>
            </a:pPr>
            <a:r>
              <a:rPr lang="en-US" altLang="zh-CN" sz="2800" smtClean="0">
                <a:ea typeface="宋体" panose="02010600030101010101" pitchFamily="2" charset="-122"/>
              </a:rPr>
              <a:t>Recall File and OS Wildcards ([A-Z]*. *)</a:t>
            </a:r>
            <a:endParaRPr lang="en-US" altLang="zh-CN" sz="2800" smtClean="0">
              <a:solidFill>
                <a:srgbClr val="008000"/>
              </a:solidFill>
              <a:ea typeface="宋体" panose="02010600030101010101" pitchFamily="2" charset="-122"/>
            </a:endParaRPr>
          </a:p>
          <a:p>
            <a:pPr lvl="1">
              <a:lnSpc>
                <a:spcPct val="80000"/>
              </a:lnSpc>
            </a:pPr>
            <a:r>
              <a:rPr lang="en-US" altLang="zh-CN" sz="2800" b="1" smtClean="0">
                <a:solidFill>
                  <a:srgbClr val="008000"/>
                </a:solidFill>
                <a:ea typeface="宋体" panose="02010600030101010101" pitchFamily="2" charset="-122"/>
              </a:rPr>
              <a:t>LEXEME</a:t>
            </a:r>
          </a:p>
          <a:p>
            <a:pPr lvl="2">
              <a:lnSpc>
                <a:spcPct val="80000"/>
              </a:lnSpc>
            </a:pPr>
            <a:r>
              <a:rPr lang="en-US" altLang="zh-CN" sz="2800" smtClean="0">
                <a:ea typeface="宋体" panose="02010600030101010101" pitchFamily="2" charset="-122"/>
              </a:rPr>
              <a:t>Actual sequence of characters that matches pattern and is classified by a token</a:t>
            </a:r>
          </a:p>
          <a:p>
            <a:pPr lvl="2">
              <a:lnSpc>
                <a:spcPct val="80000"/>
              </a:lnSpc>
            </a:pPr>
            <a:r>
              <a:rPr lang="en-US" altLang="zh-CN" sz="2800" smtClean="0">
                <a:ea typeface="宋体" panose="02010600030101010101" pitchFamily="2" charset="-122"/>
              </a:rPr>
              <a:t>Identifiers: x, count, name, etc… </a:t>
            </a:r>
            <a:r>
              <a:rPr lang="zh-CN" altLang="en-US" smtClean="0">
                <a:ea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51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51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51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51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351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351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351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351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351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351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3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3512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512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35" presetID="2" presetClass="entr" presetSubtype="4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3512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3512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4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3512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3512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4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512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3512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◎2005 ECNU SEI</a:t>
            </a:r>
            <a:endParaRPr lang="en-US" altLang="zh-CN" sz="800" b="0" smtClean="0"/>
          </a:p>
        </p:txBody>
      </p:sp>
      <p:sp>
        <p:nvSpPr>
          <p:cNvPr id="1331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Compilers: Principles, Techniques, and Tools</a:t>
            </a:r>
            <a:endParaRPr lang="en-US" altLang="zh-CN" sz="800" b="0" smtClean="0"/>
          </a:p>
        </p:txBody>
      </p:sp>
      <p:sp>
        <p:nvSpPr>
          <p:cNvPr id="1331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EA51882-B5EE-4A4C-933B-B0DBCD296B10}" type="slidenum">
              <a:rPr lang="zh-CN" altLang="en-US" sz="800" b="0"/>
              <a:pPr/>
              <a:t>12</a:t>
            </a:fld>
            <a:endParaRPr lang="en-US" altLang="zh-CN" sz="800" b="0"/>
          </a:p>
        </p:txBody>
      </p:sp>
      <p:sp>
        <p:nvSpPr>
          <p:cNvPr id="133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Token, pattern, lexemes </a:t>
            </a:r>
            <a:r>
              <a:rPr lang="zh-CN" altLang="en-US" smtClean="0">
                <a:ea typeface="宋体" panose="02010600030101010101" pitchFamily="2" charset="-122"/>
              </a:rPr>
              <a:t>（</a:t>
            </a:r>
            <a:r>
              <a:rPr lang="en-US" altLang="zh-CN" smtClean="0">
                <a:ea typeface="宋体" panose="02010600030101010101" pitchFamily="2" charset="-122"/>
              </a:rPr>
              <a:t>P.85</a:t>
            </a:r>
            <a:r>
              <a:rPr lang="zh-CN" altLang="en-US" smtClean="0">
                <a:ea typeface="宋体" panose="02010600030101010101" pitchFamily="2" charset="-122"/>
              </a:rPr>
              <a:t>）</a:t>
            </a:r>
          </a:p>
        </p:txBody>
      </p:sp>
      <p:sp>
        <p:nvSpPr>
          <p:cNvPr id="1331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800" smtClean="0">
                <a:ea typeface="宋体" panose="02010600030101010101" pitchFamily="2" charset="-122"/>
              </a:rPr>
              <a:t>Since a token can represent more than one lexeme, additional information should be held for that specific lexeme. This additional information is called as the </a:t>
            </a:r>
            <a:r>
              <a:rPr lang="en-US" altLang="zh-CN" sz="2800" b="1" i="1" smtClean="0">
                <a:solidFill>
                  <a:schemeClr val="accent2"/>
                </a:solidFill>
                <a:ea typeface="宋体" panose="02010600030101010101" pitchFamily="2" charset="-122"/>
              </a:rPr>
              <a:t>attribute</a:t>
            </a:r>
            <a:r>
              <a:rPr lang="en-US" altLang="zh-CN" sz="2800" b="1" smtClean="0">
                <a:solidFill>
                  <a:schemeClr val="accent2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800" smtClean="0">
                <a:solidFill>
                  <a:schemeClr val="accent2"/>
                </a:solidFill>
                <a:ea typeface="宋体" panose="02010600030101010101" pitchFamily="2" charset="-122"/>
              </a:rPr>
              <a:t>(</a:t>
            </a:r>
            <a:r>
              <a:rPr lang="zh-CN" altLang="en-US" sz="2800" smtClean="0">
                <a:solidFill>
                  <a:schemeClr val="accent2"/>
                </a:solidFill>
                <a:ea typeface="宋体" panose="02010600030101010101" pitchFamily="2" charset="-122"/>
              </a:rPr>
              <a:t>属性</a:t>
            </a:r>
            <a:r>
              <a:rPr lang="en-US" altLang="zh-CN" sz="2800" smtClean="0">
                <a:solidFill>
                  <a:schemeClr val="accent2"/>
                </a:solidFill>
                <a:ea typeface="宋体" panose="02010600030101010101" pitchFamily="2" charset="-122"/>
              </a:rPr>
              <a:t>)</a:t>
            </a:r>
            <a:r>
              <a:rPr lang="en-US" altLang="zh-CN" sz="2800" smtClean="0">
                <a:ea typeface="宋体" panose="02010600030101010101" pitchFamily="2" charset="-122"/>
              </a:rPr>
              <a:t>of the token.</a:t>
            </a:r>
          </a:p>
          <a:p>
            <a:r>
              <a:rPr lang="en-US" altLang="zh-CN" sz="2800" smtClean="0">
                <a:ea typeface="宋体" panose="02010600030101010101" pitchFamily="2" charset="-122"/>
              </a:rPr>
              <a:t>For simplicity, a token may have a single attribute which holds the required information for that token. </a:t>
            </a:r>
          </a:p>
          <a:p>
            <a:pPr lvl="1"/>
            <a:r>
              <a:rPr lang="en-US" altLang="zh-CN" sz="2400" smtClean="0">
                <a:ea typeface="宋体" panose="02010600030101010101" pitchFamily="2" charset="-122"/>
              </a:rPr>
              <a:t>For identifiers, this attribute a pointer to the symbol table, and the symbol table holds the actual attributes for that token.</a:t>
            </a:r>
          </a:p>
          <a:p>
            <a:r>
              <a:rPr lang="en-US" altLang="zh-CN" sz="2800" smtClean="0">
                <a:solidFill>
                  <a:srgbClr val="FF00FF"/>
                </a:solidFill>
                <a:ea typeface="宋体" panose="02010600030101010101" pitchFamily="2" charset="-122"/>
              </a:rPr>
              <a:t>Token type and its attribute uniquely identifies a lexeme.</a:t>
            </a:r>
          </a:p>
          <a:p>
            <a:r>
              <a:rPr lang="en-US" altLang="zh-CN" sz="2800" b="1" i="1" smtClean="0">
                <a:solidFill>
                  <a:schemeClr val="accent2"/>
                </a:solidFill>
                <a:ea typeface="宋体" panose="02010600030101010101" pitchFamily="2" charset="-122"/>
              </a:rPr>
              <a:t>Regular expressions</a:t>
            </a:r>
            <a:r>
              <a:rPr lang="en-US" altLang="zh-CN" sz="2800" smtClean="0">
                <a:ea typeface="宋体" panose="02010600030101010101" pitchFamily="2" charset="-122"/>
              </a:rPr>
              <a:t> </a:t>
            </a:r>
            <a:r>
              <a:rPr lang="zh-CN" altLang="en-US" sz="2800" smtClean="0">
                <a:ea typeface="宋体" panose="02010600030101010101" pitchFamily="2" charset="-122"/>
              </a:rPr>
              <a:t>（正规表达式）</a:t>
            </a:r>
            <a:r>
              <a:rPr lang="en-US" altLang="zh-CN" sz="2800" smtClean="0">
                <a:ea typeface="宋体" panose="02010600030101010101" pitchFamily="2" charset="-122"/>
              </a:rPr>
              <a:t>are widely used to specify patterns.</a:t>
            </a:r>
            <a:endParaRPr lang="zh-CN" altLang="en-US" sz="280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◎2005 ECNU SEI</a:t>
            </a:r>
            <a:endParaRPr lang="en-US" altLang="zh-CN" sz="800" b="0" smtClean="0"/>
          </a:p>
        </p:txBody>
      </p:sp>
      <p:sp>
        <p:nvSpPr>
          <p:cNvPr id="1433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Compilers: Principles, Techniques, and Tools</a:t>
            </a:r>
            <a:endParaRPr lang="en-US" altLang="zh-CN" sz="800" b="0" smtClean="0"/>
          </a:p>
        </p:txBody>
      </p:sp>
      <p:sp>
        <p:nvSpPr>
          <p:cNvPr id="1434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89A22C1-B4FD-40AE-A2BA-B4138BC6A148}" type="slidenum">
              <a:rPr lang="zh-CN" altLang="en-US" sz="800" b="0"/>
              <a:pPr/>
              <a:t>13</a:t>
            </a:fld>
            <a:endParaRPr lang="en-US" altLang="zh-CN" sz="800" b="0"/>
          </a:p>
        </p:txBody>
      </p:sp>
      <p:sp>
        <p:nvSpPr>
          <p:cNvPr id="14341" name="Rectangle 2"/>
          <p:cNvSpPr>
            <a:spLocks noGrp="1" noChangeArrowheads="1"/>
          </p:cNvSpPr>
          <p:nvPr>
            <p:ph type="title"/>
          </p:nvPr>
        </p:nvSpPr>
        <p:spPr>
          <a:xfrm>
            <a:off x="344488" y="260350"/>
            <a:ext cx="9372600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Token, pattern, lexemes (example P.85)</a:t>
            </a:r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352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4488" y="1052513"/>
            <a:ext cx="9372600" cy="8636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zh-CN" sz="2800" smtClean="0">
                <a:ea typeface="宋体" panose="02010600030101010101" pitchFamily="2" charset="-122"/>
              </a:rPr>
              <a:t>Token is a logical unit in the scanner.</a:t>
            </a:r>
          </a:p>
          <a:p>
            <a:pPr>
              <a:lnSpc>
                <a:spcPct val="80000"/>
              </a:lnSpc>
            </a:pPr>
            <a:r>
              <a:rPr lang="en-US" altLang="zh-CN" sz="2800" smtClean="0">
                <a:solidFill>
                  <a:schemeClr val="accent2"/>
                </a:solidFill>
                <a:ea typeface="宋体" panose="02010600030101010101" pitchFamily="2" charset="-122"/>
              </a:rPr>
              <a:t>A lexeme is a instance of token</a:t>
            </a:r>
            <a:r>
              <a:rPr lang="en-US" altLang="zh-CN" sz="2800" smtClean="0">
                <a:ea typeface="宋体" panose="02010600030101010101" pitchFamily="2" charset="-122"/>
              </a:rPr>
              <a:t>. </a:t>
            </a:r>
            <a:r>
              <a:rPr lang="zh-CN" altLang="en-US" sz="1800" smtClean="0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14343" name="Text Box 16"/>
          <p:cNvSpPr txBox="1">
            <a:spLocks noChangeArrowheads="1"/>
          </p:cNvSpPr>
          <p:nvPr/>
        </p:nvSpPr>
        <p:spPr bwMode="auto">
          <a:xfrm>
            <a:off x="4059238" y="2354263"/>
            <a:ext cx="3846512" cy="2430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 b="0">
                <a:ea typeface="宋体" panose="02010600030101010101" pitchFamily="2" charset="-122"/>
              </a:rPr>
              <a:t>const</a:t>
            </a:r>
          </a:p>
          <a:p>
            <a:pPr>
              <a:spcBef>
                <a:spcPct val="50000"/>
              </a:spcBef>
            </a:pPr>
            <a:r>
              <a:rPr lang="en-US" altLang="zh-CN" sz="1800" b="0">
                <a:ea typeface="宋体" panose="02010600030101010101" pitchFamily="2" charset="-122"/>
              </a:rPr>
              <a:t>if</a:t>
            </a:r>
          </a:p>
          <a:p>
            <a:pPr>
              <a:spcBef>
                <a:spcPct val="50000"/>
              </a:spcBef>
            </a:pPr>
            <a:r>
              <a:rPr lang="en-US" altLang="zh-CN" sz="1800" b="0">
                <a:ea typeface="宋体" panose="02010600030101010101" pitchFamily="2" charset="-122"/>
              </a:rPr>
              <a:t>&lt; or &lt;= or = or &lt; &gt; or &gt;= or &gt;</a:t>
            </a:r>
          </a:p>
          <a:p>
            <a:pPr>
              <a:spcBef>
                <a:spcPct val="50000"/>
              </a:spcBef>
            </a:pPr>
            <a:r>
              <a:rPr lang="en-US" altLang="zh-CN" sz="1800" b="0">
                <a:ea typeface="宋体" panose="02010600030101010101" pitchFamily="2" charset="-122"/>
              </a:rPr>
              <a:t>letter followed by letters and digits</a:t>
            </a:r>
          </a:p>
          <a:p>
            <a:pPr>
              <a:spcBef>
                <a:spcPct val="50000"/>
              </a:spcBef>
            </a:pPr>
            <a:r>
              <a:rPr lang="en-US" altLang="zh-CN" sz="1800" b="0">
                <a:ea typeface="宋体" panose="02010600030101010101" pitchFamily="2" charset="-122"/>
              </a:rPr>
              <a:t>any numeric constant</a:t>
            </a:r>
          </a:p>
          <a:p>
            <a:pPr>
              <a:spcBef>
                <a:spcPct val="50000"/>
              </a:spcBef>
            </a:pPr>
            <a:r>
              <a:rPr lang="en-US" altLang="zh-CN" sz="1800" b="0">
                <a:ea typeface="宋体" panose="02010600030101010101" pitchFamily="2" charset="-122"/>
              </a:rPr>
              <a:t>any characters between “ and “ except “</a:t>
            </a:r>
          </a:p>
        </p:txBody>
      </p:sp>
      <p:grpSp>
        <p:nvGrpSpPr>
          <p:cNvPr id="14344" name="Group 26"/>
          <p:cNvGrpSpPr>
            <a:grpSpLocks/>
          </p:cNvGrpSpPr>
          <p:nvPr/>
        </p:nvGrpSpPr>
        <p:grpSpPr bwMode="auto">
          <a:xfrm>
            <a:off x="446088" y="1916113"/>
            <a:ext cx="7315200" cy="4400550"/>
            <a:chOff x="281" y="1207"/>
            <a:chExt cx="4608" cy="2772"/>
          </a:xfrm>
        </p:grpSpPr>
        <p:sp>
          <p:nvSpPr>
            <p:cNvPr id="14346" name="Line 5"/>
            <p:cNvSpPr>
              <a:spLocks noChangeShapeType="1"/>
            </p:cNvSpPr>
            <p:nvPr/>
          </p:nvSpPr>
          <p:spPr bwMode="auto">
            <a:xfrm>
              <a:off x="282" y="1207"/>
              <a:ext cx="45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47" name="Line 6"/>
            <p:cNvSpPr>
              <a:spLocks noChangeShapeType="1"/>
            </p:cNvSpPr>
            <p:nvPr/>
          </p:nvSpPr>
          <p:spPr bwMode="auto">
            <a:xfrm>
              <a:off x="281" y="1243"/>
              <a:ext cx="455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48" name="Line 7"/>
            <p:cNvSpPr>
              <a:spLocks noChangeShapeType="1"/>
            </p:cNvSpPr>
            <p:nvPr/>
          </p:nvSpPr>
          <p:spPr bwMode="auto">
            <a:xfrm>
              <a:off x="281" y="1483"/>
              <a:ext cx="455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49" name="Line 8"/>
            <p:cNvSpPr>
              <a:spLocks noChangeShapeType="1"/>
            </p:cNvSpPr>
            <p:nvPr/>
          </p:nvSpPr>
          <p:spPr bwMode="auto">
            <a:xfrm>
              <a:off x="281" y="3067"/>
              <a:ext cx="455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50" name="Text Box 9"/>
            <p:cNvSpPr txBox="1">
              <a:spLocks noChangeArrowheads="1"/>
            </p:cNvSpPr>
            <p:nvPr/>
          </p:nvSpPr>
          <p:spPr bwMode="auto">
            <a:xfrm>
              <a:off x="281" y="1243"/>
              <a:ext cx="77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000" b="0">
                  <a:ea typeface="宋体" panose="02010600030101010101" pitchFamily="2" charset="-122"/>
                </a:rPr>
                <a:t>Token</a:t>
              </a:r>
            </a:p>
          </p:txBody>
        </p:sp>
        <p:sp>
          <p:nvSpPr>
            <p:cNvPr id="14351" name="Text Box 10"/>
            <p:cNvSpPr txBox="1">
              <a:spLocks noChangeArrowheads="1"/>
            </p:cNvSpPr>
            <p:nvPr/>
          </p:nvSpPr>
          <p:spPr bwMode="auto">
            <a:xfrm>
              <a:off x="1225" y="1243"/>
              <a:ext cx="149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 b="0">
                  <a:ea typeface="宋体" panose="02010600030101010101" pitchFamily="2" charset="-122"/>
                </a:rPr>
                <a:t>Sample Lexemes</a:t>
              </a:r>
            </a:p>
          </p:txBody>
        </p:sp>
        <p:sp>
          <p:nvSpPr>
            <p:cNvPr id="14352" name="Text Box 11"/>
            <p:cNvSpPr txBox="1">
              <a:spLocks noChangeArrowheads="1"/>
            </p:cNvSpPr>
            <p:nvPr/>
          </p:nvSpPr>
          <p:spPr bwMode="auto">
            <a:xfrm>
              <a:off x="2502" y="1243"/>
              <a:ext cx="238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000" b="0">
                  <a:ea typeface="宋体" panose="02010600030101010101" pitchFamily="2" charset="-122"/>
                </a:rPr>
                <a:t>Informal Description of Pattern</a:t>
              </a:r>
            </a:p>
          </p:txBody>
        </p:sp>
        <p:sp>
          <p:nvSpPr>
            <p:cNvPr id="14353" name="Line 12"/>
            <p:cNvSpPr>
              <a:spLocks noChangeShapeType="1"/>
            </p:cNvSpPr>
            <p:nvPr/>
          </p:nvSpPr>
          <p:spPr bwMode="auto">
            <a:xfrm>
              <a:off x="1114" y="1243"/>
              <a:ext cx="10" cy="18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54" name="Line 13"/>
            <p:cNvSpPr>
              <a:spLocks noChangeShapeType="1"/>
            </p:cNvSpPr>
            <p:nvPr/>
          </p:nvSpPr>
          <p:spPr bwMode="auto">
            <a:xfrm>
              <a:off x="2557" y="1243"/>
              <a:ext cx="19" cy="18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55" name="Text Box 14"/>
            <p:cNvSpPr txBox="1">
              <a:spLocks noChangeArrowheads="1"/>
            </p:cNvSpPr>
            <p:nvPr/>
          </p:nvSpPr>
          <p:spPr bwMode="auto">
            <a:xfrm>
              <a:off x="281" y="1483"/>
              <a:ext cx="833" cy="15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>
                  <a:ea typeface="宋体" panose="02010600030101010101" pitchFamily="2" charset="-122"/>
                </a:rPr>
                <a:t>const</a:t>
              </a:r>
            </a:p>
            <a:p>
              <a:pPr>
                <a:spcBef>
                  <a:spcPct val="50000"/>
                </a:spcBef>
              </a:pPr>
              <a:r>
                <a:rPr lang="en-US" altLang="zh-CN" sz="1800">
                  <a:ea typeface="宋体" panose="02010600030101010101" pitchFamily="2" charset="-122"/>
                </a:rPr>
                <a:t>if</a:t>
              </a:r>
            </a:p>
            <a:p>
              <a:pPr>
                <a:spcBef>
                  <a:spcPct val="50000"/>
                </a:spcBef>
              </a:pPr>
              <a:r>
                <a:rPr lang="en-US" altLang="zh-CN" sz="1800">
                  <a:ea typeface="宋体" panose="02010600030101010101" pitchFamily="2" charset="-122"/>
                </a:rPr>
                <a:t>relation</a:t>
              </a:r>
            </a:p>
            <a:p>
              <a:pPr>
                <a:spcBef>
                  <a:spcPct val="50000"/>
                </a:spcBef>
              </a:pPr>
              <a:r>
                <a:rPr lang="en-US" altLang="zh-CN" sz="1800">
                  <a:ea typeface="宋体" panose="02010600030101010101" pitchFamily="2" charset="-122"/>
                </a:rPr>
                <a:t>id</a:t>
              </a:r>
            </a:p>
            <a:p>
              <a:pPr>
                <a:spcBef>
                  <a:spcPct val="50000"/>
                </a:spcBef>
              </a:pPr>
              <a:r>
                <a:rPr lang="en-US" altLang="zh-CN" sz="1800" u="sng">
                  <a:ea typeface="宋体" panose="02010600030101010101" pitchFamily="2" charset="-122"/>
                </a:rPr>
                <a:t>num</a:t>
              </a:r>
              <a:endParaRPr lang="en-US" altLang="zh-CN" sz="1800">
                <a:ea typeface="宋体" panose="02010600030101010101" pitchFamily="2" charset="-122"/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sz="1800">
                  <a:ea typeface="宋体" panose="02010600030101010101" pitchFamily="2" charset="-122"/>
                </a:rPr>
                <a:t>literal</a:t>
              </a:r>
            </a:p>
          </p:txBody>
        </p:sp>
        <p:sp>
          <p:nvSpPr>
            <p:cNvPr id="14356" name="Text Box 15"/>
            <p:cNvSpPr txBox="1">
              <a:spLocks noChangeArrowheads="1"/>
            </p:cNvSpPr>
            <p:nvPr/>
          </p:nvSpPr>
          <p:spPr bwMode="auto">
            <a:xfrm>
              <a:off x="1114" y="1483"/>
              <a:ext cx="1443" cy="15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 b="0">
                  <a:ea typeface="宋体" panose="02010600030101010101" pitchFamily="2" charset="-122"/>
                </a:rPr>
                <a:t>const</a:t>
              </a:r>
            </a:p>
            <a:p>
              <a:pPr>
                <a:spcBef>
                  <a:spcPct val="50000"/>
                </a:spcBef>
              </a:pPr>
              <a:r>
                <a:rPr lang="en-US" altLang="zh-CN" sz="1800" b="0">
                  <a:ea typeface="宋体" panose="02010600030101010101" pitchFamily="2" charset="-122"/>
                </a:rPr>
                <a:t>if</a:t>
              </a:r>
            </a:p>
            <a:p>
              <a:pPr>
                <a:spcBef>
                  <a:spcPct val="50000"/>
                </a:spcBef>
              </a:pPr>
              <a:r>
                <a:rPr lang="en-US" altLang="zh-CN" sz="1800" b="0">
                  <a:ea typeface="宋体" panose="02010600030101010101" pitchFamily="2" charset="-122"/>
                </a:rPr>
                <a:t>&lt;, &lt;=, =, &lt; &gt;, &gt;, &gt;=</a:t>
              </a:r>
            </a:p>
            <a:p>
              <a:pPr>
                <a:spcBef>
                  <a:spcPct val="50000"/>
                </a:spcBef>
              </a:pPr>
              <a:r>
                <a:rPr lang="en-US" altLang="zh-CN" sz="1800" b="0">
                  <a:ea typeface="宋体" panose="02010600030101010101" pitchFamily="2" charset="-122"/>
                </a:rPr>
                <a:t>pi, </a:t>
              </a:r>
              <a:r>
                <a:rPr lang="en-US" altLang="zh-CN" sz="1800" b="0" u="sng">
                  <a:ea typeface="宋体" panose="02010600030101010101" pitchFamily="2" charset="-122"/>
                </a:rPr>
                <a:t>count</a:t>
              </a:r>
              <a:r>
                <a:rPr lang="en-US" altLang="zh-CN" sz="1800" b="0">
                  <a:ea typeface="宋体" panose="02010600030101010101" pitchFamily="2" charset="-122"/>
                </a:rPr>
                <a:t>, </a:t>
              </a:r>
              <a:r>
                <a:rPr lang="en-US" altLang="zh-CN" sz="1800" b="0" u="sng">
                  <a:ea typeface="宋体" panose="02010600030101010101" pitchFamily="2" charset="-122"/>
                </a:rPr>
                <a:t>D2</a:t>
              </a:r>
            </a:p>
            <a:p>
              <a:pPr>
                <a:spcBef>
                  <a:spcPct val="50000"/>
                </a:spcBef>
              </a:pPr>
              <a:r>
                <a:rPr lang="en-US" altLang="zh-CN" sz="1800" b="0" u="sng">
                  <a:ea typeface="宋体" panose="02010600030101010101" pitchFamily="2" charset="-122"/>
                </a:rPr>
                <a:t>3.1416,  0,  6.02E23</a:t>
              </a:r>
            </a:p>
            <a:p>
              <a:pPr>
                <a:spcBef>
                  <a:spcPct val="50000"/>
                </a:spcBef>
              </a:pPr>
              <a:r>
                <a:rPr lang="en-US" altLang="zh-CN" sz="1800" b="0">
                  <a:ea typeface="宋体" panose="02010600030101010101" pitchFamily="2" charset="-122"/>
                </a:rPr>
                <a:t>“core dumped”</a:t>
              </a:r>
            </a:p>
          </p:txBody>
        </p:sp>
        <p:sp>
          <p:nvSpPr>
            <p:cNvPr id="14357" name="Text Box 17"/>
            <p:cNvSpPr txBox="1">
              <a:spLocks noChangeArrowheads="1"/>
            </p:cNvSpPr>
            <p:nvPr/>
          </p:nvSpPr>
          <p:spPr bwMode="auto">
            <a:xfrm>
              <a:off x="337" y="3403"/>
              <a:ext cx="943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 b="0">
                  <a:ea typeface="宋体" panose="02010600030101010101" pitchFamily="2" charset="-122"/>
                </a:rPr>
                <a:t>Classifies Pattern</a:t>
              </a:r>
            </a:p>
          </p:txBody>
        </p:sp>
        <p:sp>
          <p:nvSpPr>
            <p:cNvPr id="14358" name="Rectangle 18"/>
            <p:cNvSpPr>
              <a:spLocks noChangeArrowheads="1"/>
            </p:cNvSpPr>
            <p:nvPr/>
          </p:nvSpPr>
          <p:spPr bwMode="auto">
            <a:xfrm>
              <a:off x="281" y="2443"/>
              <a:ext cx="444" cy="1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cxnSp>
          <p:nvCxnSpPr>
            <p:cNvPr id="14359" name="AutoShape 19"/>
            <p:cNvCxnSpPr>
              <a:cxnSpLocks noChangeShapeType="1"/>
              <a:stCxn id="14357" idx="1"/>
              <a:endCxn id="14358" idx="1"/>
            </p:cNvCxnSpPr>
            <p:nvPr/>
          </p:nvCxnSpPr>
          <p:spPr bwMode="auto">
            <a:xfrm rot="10800000">
              <a:off x="281" y="2523"/>
              <a:ext cx="56" cy="1101"/>
            </a:xfrm>
            <a:prstGeom prst="curvedConnector3">
              <a:avLst>
                <a:gd name="adj1" fmla="val 357144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360" name="Text Box 20"/>
            <p:cNvSpPr txBox="1">
              <a:spLocks noChangeArrowheads="1"/>
            </p:cNvSpPr>
            <p:nvPr/>
          </p:nvSpPr>
          <p:spPr bwMode="auto">
            <a:xfrm>
              <a:off x="1891" y="3307"/>
              <a:ext cx="2665" cy="6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 b="0">
                  <a:ea typeface="宋体" panose="02010600030101010101" pitchFamily="2" charset="-122"/>
                </a:rPr>
                <a:t>Actual values are critical.  Info is :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000" b="0">
                  <a:ea typeface="宋体" panose="02010600030101010101" pitchFamily="2" charset="-122"/>
                </a:rPr>
                <a:t>1.  Stored in symbol table</a:t>
              </a:r>
            </a:p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2000" b="0">
                  <a:ea typeface="宋体" panose="02010600030101010101" pitchFamily="2" charset="-122"/>
                </a:rPr>
                <a:t>2. Returned to parser</a:t>
              </a:r>
            </a:p>
          </p:txBody>
        </p:sp>
        <p:sp>
          <p:nvSpPr>
            <p:cNvPr id="14361" name="Line 21"/>
            <p:cNvSpPr>
              <a:spLocks noChangeShapeType="1"/>
            </p:cNvSpPr>
            <p:nvPr/>
          </p:nvSpPr>
          <p:spPr bwMode="auto">
            <a:xfrm flipH="1" flipV="1">
              <a:off x="2058" y="2755"/>
              <a:ext cx="444" cy="4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62" name="Rectangle 22"/>
            <p:cNvSpPr>
              <a:spLocks noChangeArrowheads="1"/>
            </p:cNvSpPr>
            <p:nvPr/>
          </p:nvSpPr>
          <p:spPr bwMode="auto">
            <a:xfrm>
              <a:off x="1770" y="2311"/>
              <a:ext cx="2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cxnSp>
          <p:nvCxnSpPr>
            <p:cNvPr id="14363" name="AutoShape 23"/>
            <p:cNvCxnSpPr>
              <a:cxnSpLocks noChangeShapeType="1"/>
              <a:stCxn id="14361" idx="0"/>
              <a:endCxn id="14362" idx="3"/>
            </p:cNvCxnSpPr>
            <p:nvPr/>
          </p:nvCxnSpPr>
          <p:spPr bwMode="auto">
            <a:xfrm rot="16200000" flipV="1">
              <a:off x="1864" y="2577"/>
              <a:ext cx="832" cy="444"/>
            </a:xfrm>
            <a:prstGeom prst="curvedConnector4">
              <a:avLst>
                <a:gd name="adj1" fmla="val 37139"/>
                <a:gd name="adj2" fmla="val -2481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4345" name="Rectangle 24"/>
          <p:cNvSpPr>
            <a:spLocks noChangeArrowheads="1"/>
          </p:cNvSpPr>
          <p:nvPr/>
        </p:nvSpPr>
        <p:spPr bwMode="auto">
          <a:xfrm>
            <a:off x="6824663" y="5661025"/>
            <a:ext cx="2447925" cy="72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altLang="zh-CN" b="0">
                <a:ea typeface="宋体" panose="02010600030101010101" pitchFamily="2" charset="-122"/>
              </a:rPr>
              <a:t>Fig.3.2 Examples of tokens. </a:t>
            </a:r>
            <a:endParaRPr lang="zh-CN" altLang="en-US" b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352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◎2005 ECNU SEI</a:t>
            </a:r>
            <a:endParaRPr lang="en-US" altLang="zh-CN" sz="800" b="0" smtClean="0"/>
          </a:p>
        </p:txBody>
      </p:sp>
      <p:sp>
        <p:nvSpPr>
          <p:cNvPr id="1536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Compilers: Principles, Techniques, and Tools</a:t>
            </a:r>
            <a:endParaRPr lang="en-US" altLang="zh-CN" sz="800" b="0" smtClean="0"/>
          </a:p>
        </p:txBody>
      </p:sp>
      <p:sp>
        <p:nvSpPr>
          <p:cNvPr id="1536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0783A59-33C3-45F6-90C5-43459D30D706}" type="slidenum">
              <a:rPr lang="zh-CN" altLang="en-US" sz="800" b="0"/>
              <a:pPr/>
              <a:t>14</a:t>
            </a:fld>
            <a:endParaRPr lang="en-US" altLang="zh-CN" sz="800" b="0"/>
          </a:p>
        </p:txBody>
      </p:sp>
      <p:sp>
        <p:nvSpPr>
          <p:cNvPr id="153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Attributes for tokens (P.87)</a:t>
            </a:r>
          </a:p>
        </p:txBody>
      </p:sp>
      <p:sp>
        <p:nvSpPr>
          <p:cNvPr id="1536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>
                <a:solidFill>
                  <a:srgbClr val="6666FF"/>
                </a:solidFill>
                <a:ea typeface="宋体" panose="02010600030101010101" pitchFamily="2" charset="-122"/>
              </a:rPr>
              <a:t>An attribute of the token : any value associated to a token</a:t>
            </a:r>
            <a:r>
              <a:rPr lang="en-US" altLang="zh-CN" smtClean="0">
                <a:ea typeface="宋体" panose="02010600030101010101" pitchFamily="2" charset="-122"/>
              </a:rPr>
              <a:t> 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The lexical analyzer collects information about tokens into their associated attributes.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The tokens influence parsing decisions; the attributes influence the translation of tokens.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Usually a token has only a single attribute—a pointer to the symbol table entry in which the information about the token is kept.</a:t>
            </a:r>
          </a:p>
          <a:p>
            <a:endParaRPr lang="zh-CN" altLang="en-US" smtClean="0">
              <a:ea typeface="宋体" panose="02010600030101010101" pitchFamily="2" charset="-122"/>
            </a:endParaRPr>
          </a:p>
          <a:p>
            <a:r>
              <a:rPr lang="en-US" altLang="zh-CN" smtClean="0">
                <a:ea typeface="宋体" panose="02010600030101010101" pitchFamily="2" charset="-122"/>
              </a:rPr>
              <a:t>Some attributes: (cf. example 3.1)</a:t>
            </a:r>
          </a:p>
          <a:p>
            <a:pPr lvl="1"/>
            <a:r>
              <a:rPr lang="en-US" altLang="zh-CN" b="1" smtClean="0">
                <a:ea typeface="宋体" panose="02010600030101010101" pitchFamily="2" charset="-122"/>
              </a:rPr>
              <a:t>&lt;id,attr&gt;    </a:t>
            </a:r>
            <a:r>
              <a:rPr lang="en-US" altLang="zh-CN" smtClean="0">
                <a:ea typeface="宋体" panose="02010600030101010101" pitchFamily="2" charset="-122"/>
              </a:rPr>
              <a:t>	 where attr is pointer to the symbol table</a:t>
            </a:r>
          </a:p>
          <a:p>
            <a:pPr lvl="1"/>
            <a:r>
              <a:rPr lang="en-US" altLang="zh-CN" b="1" smtClean="0">
                <a:ea typeface="宋体" panose="02010600030101010101" pitchFamily="2" charset="-122"/>
              </a:rPr>
              <a:t>&lt;assgop,_&gt;     </a:t>
            </a:r>
            <a:r>
              <a:rPr lang="en-US" altLang="zh-CN" smtClean="0">
                <a:ea typeface="宋体" panose="02010600030101010101" pitchFamily="2" charset="-122"/>
              </a:rPr>
              <a:t>	no attribute is needed (if there is only one assignment operator)</a:t>
            </a:r>
          </a:p>
          <a:p>
            <a:pPr lvl="1"/>
            <a:r>
              <a:rPr lang="en-US" altLang="zh-CN" b="1" smtClean="0">
                <a:ea typeface="宋体" panose="02010600030101010101" pitchFamily="2" charset="-122"/>
              </a:rPr>
              <a:t>&lt;num,val&gt;	</a:t>
            </a:r>
            <a:r>
              <a:rPr lang="en-US" altLang="zh-CN" smtClean="0">
                <a:ea typeface="宋体" panose="02010600030101010101" pitchFamily="2" charset="-122"/>
              </a:rPr>
              <a:t>	where val is the actual value of the number.</a:t>
            </a:r>
            <a:endParaRPr lang="zh-CN" altLang="en-US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◎2005 ECNU SEI</a:t>
            </a:r>
            <a:endParaRPr lang="en-US" altLang="zh-CN" sz="800" b="0" smtClean="0"/>
          </a:p>
        </p:txBody>
      </p:sp>
      <p:sp>
        <p:nvSpPr>
          <p:cNvPr id="1638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Compilers: Principles, Techniques, and Tools</a:t>
            </a:r>
            <a:endParaRPr lang="en-US" altLang="zh-CN" sz="800" b="0" smtClean="0"/>
          </a:p>
        </p:txBody>
      </p:sp>
      <p:sp>
        <p:nvSpPr>
          <p:cNvPr id="1638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1FF1E17-9D38-421F-9487-23BD06FB6A81}" type="slidenum">
              <a:rPr lang="zh-CN" altLang="en-US" sz="800" b="0"/>
              <a:pPr/>
              <a:t>15</a:t>
            </a:fld>
            <a:endParaRPr lang="en-US" altLang="zh-CN" sz="800" b="0"/>
          </a:p>
        </p:txBody>
      </p:sp>
      <p:sp>
        <p:nvSpPr>
          <p:cNvPr id="163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Scanning process </a:t>
            </a:r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306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0025" y="1219200"/>
            <a:ext cx="9553575" cy="4873625"/>
          </a:xfrm>
        </p:spPr>
        <p:txBody>
          <a:bodyPr/>
          <a:lstStyle/>
          <a:p>
            <a:r>
              <a:rPr lang="en-US" altLang="zh-CN" sz="3200" smtClean="0">
                <a:ea typeface="宋体" panose="02010600030101010101" pitchFamily="2" charset="-122"/>
              </a:rPr>
              <a:t>tokens :  the logical units which the scanner generates.</a:t>
            </a:r>
          </a:p>
          <a:p>
            <a:r>
              <a:rPr lang="en-US" altLang="zh-CN" sz="3200" smtClean="0">
                <a:ea typeface="宋体" panose="02010600030101010101" pitchFamily="2" charset="-122"/>
              </a:rPr>
              <a:t>Tokens fall into several categories: </a:t>
            </a:r>
          </a:p>
          <a:p>
            <a:pPr lvl="1"/>
            <a:r>
              <a:rPr lang="en-US" altLang="zh-CN" sz="2800" b="1" smtClean="0">
                <a:solidFill>
                  <a:schemeClr val="accent2"/>
                </a:solidFill>
                <a:ea typeface="宋体" panose="02010600030101010101" pitchFamily="2" charset="-122"/>
              </a:rPr>
              <a:t>Reserved words</a:t>
            </a:r>
            <a:r>
              <a:rPr lang="en-US" altLang="zh-CN" sz="2800" smtClean="0">
                <a:ea typeface="宋体" panose="02010600030101010101" pitchFamily="2" charset="-122"/>
              </a:rPr>
              <a:t>: IF, THEN</a:t>
            </a:r>
          </a:p>
          <a:p>
            <a:pPr lvl="1"/>
            <a:r>
              <a:rPr lang="en-US" altLang="zh-CN" sz="2800" b="1" smtClean="0">
                <a:solidFill>
                  <a:schemeClr val="accent2"/>
                </a:solidFill>
                <a:ea typeface="宋体" panose="02010600030101010101" pitchFamily="2" charset="-122"/>
              </a:rPr>
              <a:t>Identifiers</a:t>
            </a:r>
            <a:r>
              <a:rPr lang="en-US" altLang="zh-CN" sz="2800" smtClean="0">
                <a:ea typeface="宋体" panose="02010600030101010101" pitchFamily="2" charset="-122"/>
              </a:rPr>
              <a:t>: ID</a:t>
            </a:r>
          </a:p>
          <a:p>
            <a:pPr lvl="1"/>
            <a:r>
              <a:rPr lang="en-US" altLang="zh-CN" sz="2800" b="1" smtClean="0">
                <a:solidFill>
                  <a:schemeClr val="accent2"/>
                </a:solidFill>
                <a:ea typeface="宋体" panose="02010600030101010101" pitchFamily="2" charset="-122"/>
              </a:rPr>
              <a:t>operation symbols</a:t>
            </a:r>
            <a:r>
              <a:rPr lang="en-US" altLang="zh-CN" sz="2800" smtClean="0">
                <a:ea typeface="宋体" panose="02010600030101010101" pitchFamily="2" charset="-122"/>
              </a:rPr>
              <a:t>: PLUS, MINUS</a:t>
            </a:r>
          </a:p>
          <a:p>
            <a:pPr lvl="1"/>
            <a:r>
              <a:rPr lang="en-US" altLang="zh-CN" sz="2800" b="1" smtClean="0">
                <a:solidFill>
                  <a:schemeClr val="accent2"/>
                </a:solidFill>
                <a:ea typeface="宋体" panose="02010600030101010101" pitchFamily="2" charset="-122"/>
              </a:rPr>
              <a:t>Numbers</a:t>
            </a:r>
            <a:r>
              <a:rPr lang="en-US" altLang="zh-CN" sz="2800" smtClean="0">
                <a:ea typeface="宋体" panose="02010600030101010101" pitchFamily="2" charset="-122"/>
              </a:rPr>
              <a:t>:  NUM </a:t>
            </a:r>
          </a:p>
          <a:p>
            <a:pPr lvl="1"/>
            <a:r>
              <a:rPr lang="en-US" altLang="zh-CN" sz="2800" b="1" smtClean="0">
                <a:solidFill>
                  <a:schemeClr val="accent2"/>
                </a:solidFill>
                <a:ea typeface="宋体" panose="02010600030101010101" pitchFamily="2" charset="-122"/>
              </a:rPr>
              <a:t>Character and string</a:t>
            </a:r>
            <a:r>
              <a:rPr lang="en-US" altLang="zh-CN" sz="2800" smtClean="0">
                <a:ea typeface="宋体" panose="02010600030101010101" pitchFamily="2" charset="-122"/>
              </a:rPr>
              <a:t>: STR</a:t>
            </a:r>
          </a:p>
          <a:p>
            <a:pPr lvl="1"/>
            <a:r>
              <a:rPr lang="en-US" altLang="zh-CN" sz="2800" b="1" smtClean="0">
                <a:solidFill>
                  <a:schemeClr val="accent2"/>
                </a:solidFill>
                <a:ea typeface="宋体" panose="02010600030101010101" pitchFamily="2" charset="-122"/>
              </a:rPr>
              <a:t>Others</a:t>
            </a:r>
            <a:r>
              <a:rPr lang="en-US" altLang="zh-CN" sz="2800" smtClean="0">
                <a:ea typeface="宋体" panose="02010600030101010101" pitchFamily="2" charset="-122"/>
              </a:rPr>
              <a:t>: {, }, (, ), ;, ”, ’, /, *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06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06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06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06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306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306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306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306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306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306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3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306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6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◎2005 ECNU SEI</a:t>
            </a:r>
            <a:endParaRPr lang="en-US" altLang="zh-CN" sz="800" b="0" smtClean="0"/>
          </a:p>
        </p:txBody>
      </p:sp>
      <p:sp>
        <p:nvSpPr>
          <p:cNvPr id="1741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Compilers: Principles, Techniques, and Tools</a:t>
            </a:r>
            <a:endParaRPr lang="en-US" altLang="zh-CN" sz="800" b="0" smtClean="0"/>
          </a:p>
        </p:txBody>
      </p:sp>
      <p:sp>
        <p:nvSpPr>
          <p:cNvPr id="1741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9C319ED-28C9-4A5A-AF9F-2CAEF3580F8E}" type="slidenum">
              <a:rPr lang="zh-CN" altLang="en-US" sz="800" b="0"/>
              <a:pPr/>
              <a:t>16</a:t>
            </a:fld>
            <a:endParaRPr lang="en-US" altLang="zh-CN" sz="800" b="0"/>
          </a:p>
        </p:txBody>
      </p:sp>
      <p:sp>
        <p:nvSpPr>
          <p:cNvPr id="174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Lexical Tokens</a:t>
            </a:r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1741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800" smtClean="0">
                <a:ea typeface="宋体" panose="02010600030101010101" pitchFamily="2" charset="-122"/>
              </a:rPr>
              <a:t> </a:t>
            </a:r>
            <a:r>
              <a:rPr lang="en-US" altLang="zh-CN" sz="2800" smtClean="0">
                <a:ea typeface="宋体" panose="02010600030101010101" pitchFamily="2" charset="-122"/>
              </a:rPr>
              <a:t>Identifiers</a:t>
            </a:r>
            <a:r>
              <a:rPr lang="en-US" altLang="zh-CN" sz="2800" b="1" smtClean="0">
                <a:ea typeface="宋体" panose="02010600030101010101" pitchFamily="2" charset="-122"/>
              </a:rPr>
              <a:t>: x y11 elsex _i00</a:t>
            </a:r>
          </a:p>
          <a:p>
            <a:r>
              <a:rPr lang="en-US" altLang="zh-CN" sz="2800" smtClean="0">
                <a:ea typeface="宋体" panose="02010600030101010101" pitchFamily="2" charset="-122"/>
              </a:rPr>
              <a:t> Keywords</a:t>
            </a:r>
            <a:r>
              <a:rPr lang="en-US" altLang="zh-CN" sz="2800" b="1" smtClean="0">
                <a:ea typeface="宋体" panose="02010600030101010101" pitchFamily="2" charset="-122"/>
              </a:rPr>
              <a:t>: if else while break</a:t>
            </a:r>
          </a:p>
          <a:p>
            <a:r>
              <a:rPr lang="en-US" altLang="zh-CN" sz="2800" smtClean="0">
                <a:ea typeface="宋体" panose="02010600030101010101" pitchFamily="2" charset="-122"/>
              </a:rPr>
              <a:t> Integers</a:t>
            </a:r>
            <a:r>
              <a:rPr lang="en-US" altLang="zh-CN" sz="2800" b="1" smtClean="0">
                <a:ea typeface="宋体" panose="02010600030101010101" pitchFamily="2" charset="-122"/>
              </a:rPr>
              <a:t>: 2 1000 -500 5L</a:t>
            </a:r>
          </a:p>
          <a:p>
            <a:r>
              <a:rPr lang="en-US" altLang="zh-CN" sz="2800" smtClean="0">
                <a:ea typeface="宋体" panose="02010600030101010101" pitchFamily="2" charset="-122"/>
              </a:rPr>
              <a:t> Floating point</a:t>
            </a:r>
            <a:r>
              <a:rPr lang="en-US" altLang="zh-CN" sz="2800" b="1" smtClean="0">
                <a:ea typeface="宋体" panose="02010600030101010101" pitchFamily="2" charset="-122"/>
              </a:rPr>
              <a:t>: 2.0 0.00020 .02 1.1e5 0.e-10</a:t>
            </a:r>
          </a:p>
          <a:p>
            <a:r>
              <a:rPr lang="en-US" altLang="zh-CN" sz="2800" smtClean="0">
                <a:ea typeface="宋体" panose="02010600030101010101" pitchFamily="2" charset="-122"/>
              </a:rPr>
              <a:t> Symbols</a:t>
            </a:r>
            <a:r>
              <a:rPr lang="en-US" altLang="zh-CN" sz="2800" b="1" smtClean="0">
                <a:ea typeface="宋体" panose="02010600030101010101" pitchFamily="2" charset="-122"/>
              </a:rPr>
              <a:t>: + * { } ++ &lt; &lt;&lt; [ ] &gt;=</a:t>
            </a:r>
          </a:p>
          <a:p>
            <a:r>
              <a:rPr lang="en-US" altLang="zh-CN" sz="2800" smtClean="0">
                <a:ea typeface="宋体" panose="02010600030101010101" pitchFamily="2" charset="-122"/>
              </a:rPr>
              <a:t> Strings</a:t>
            </a:r>
            <a:r>
              <a:rPr lang="en-US" altLang="zh-CN" sz="2800" b="1" smtClean="0">
                <a:ea typeface="宋体" panose="02010600030101010101" pitchFamily="2" charset="-122"/>
              </a:rPr>
              <a:t>: </a:t>
            </a:r>
            <a:r>
              <a:rPr lang="en-US" altLang="zh-CN" sz="2800" b="1" smtClean="0">
                <a:latin typeface="Verdana" panose="020B0604030504040204" pitchFamily="34" charset="0"/>
                <a:ea typeface="宋体" panose="02010600030101010101" pitchFamily="2" charset="-122"/>
              </a:rPr>
              <a:t>“</a:t>
            </a:r>
            <a:r>
              <a:rPr lang="en-US" altLang="zh-CN" sz="2800" b="1" smtClean="0">
                <a:ea typeface="宋体" panose="02010600030101010101" pitchFamily="2" charset="-122"/>
              </a:rPr>
              <a:t>x</a:t>
            </a:r>
            <a:r>
              <a:rPr lang="en-US" altLang="zh-CN" sz="2800" b="1" smtClean="0">
                <a:latin typeface="Verdana" panose="020B0604030504040204" pitchFamily="34" charset="0"/>
                <a:ea typeface="宋体" panose="02010600030101010101" pitchFamily="2" charset="-122"/>
              </a:rPr>
              <a:t>”</a:t>
            </a:r>
            <a:r>
              <a:rPr lang="en-US" altLang="zh-CN" sz="2800" b="1" smtClean="0">
                <a:ea typeface="宋体" panose="02010600030101010101" pitchFamily="2" charset="-122"/>
              </a:rPr>
              <a:t> </a:t>
            </a:r>
            <a:r>
              <a:rPr lang="en-US" altLang="zh-CN" sz="2800" b="1" smtClean="0">
                <a:latin typeface="Verdana" panose="020B0604030504040204" pitchFamily="34" charset="0"/>
                <a:ea typeface="宋体" panose="02010600030101010101" pitchFamily="2" charset="-122"/>
              </a:rPr>
              <a:t>“</a:t>
            </a:r>
            <a:r>
              <a:rPr lang="en-US" altLang="zh-CN" sz="2800" b="1" smtClean="0">
                <a:ea typeface="宋体" panose="02010600030101010101" pitchFamily="2" charset="-122"/>
              </a:rPr>
              <a:t>He said, \</a:t>
            </a:r>
            <a:r>
              <a:rPr lang="en-US" altLang="zh-CN" sz="2800" b="1" smtClean="0">
                <a:latin typeface="Verdana" panose="020B0604030504040204" pitchFamily="34" charset="0"/>
                <a:ea typeface="宋体" panose="02010600030101010101" pitchFamily="2" charset="-122"/>
              </a:rPr>
              <a:t>“</a:t>
            </a:r>
            <a:r>
              <a:rPr lang="en-US" altLang="zh-CN" sz="2800" b="1" smtClean="0">
                <a:ea typeface="宋体" panose="02010600030101010101" pitchFamily="2" charset="-122"/>
              </a:rPr>
              <a:t>Are you?\</a:t>
            </a:r>
            <a:r>
              <a:rPr lang="en-US" altLang="zh-CN" sz="2800" b="1" smtClean="0">
                <a:latin typeface="Verdana" panose="020B0604030504040204" pitchFamily="34" charset="0"/>
                <a:ea typeface="宋体" panose="02010600030101010101" pitchFamily="2" charset="-122"/>
              </a:rPr>
              <a:t>””</a:t>
            </a:r>
            <a:endParaRPr lang="en-US" altLang="zh-CN" sz="2800" b="1" smtClean="0">
              <a:ea typeface="宋体" panose="02010600030101010101" pitchFamily="2" charset="-122"/>
            </a:endParaRPr>
          </a:p>
          <a:p>
            <a:r>
              <a:rPr lang="en-US" altLang="zh-CN" sz="2800" smtClean="0">
                <a:ea typeface="宋体" panose="02010600030101010101" pitchFamily="2" charset="-122"/>
              </a:rPr>
              <a:t> Comments</a:t>
            </a:r>
            <a:r>
              <a:rPr lang="en-US" altLang="zh-CN" sz="2800" b="1" smtClean="0">
                <a:ea typeface="宋体" panose="02010600030101010101" pitchFamily="2" charset="-122"/>
              </a:rPr>
              <a:t>: /** ignore me **/</a:t>
            </a:r>
            <a:endParaRPr lang="en-US" altLang="zh-CN" sz="2800" smtClean="0">
              <a:ea typeface="宋体" panose="02010600030101010101" pitchFamily="2" charset="-122"/>
            </a:endParaRPr>
          </a:p>
          <a:p>
            <a:endParaRPr lang="zh-CN" altLang="en-US" sz="280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◎2005 ECNU SEI</a:t>
            </a:r>
            <a:endParaRPr lang="en-US" altLang="zh-CN" sz="800" b="0" smtClean="0"/>
          </a:p>
        </p:txBody>
      </p:sp>
      <p:sp>
        <p:nvSpPr>
          <p:cNvPr id="1843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Compilers: Principles, Techniques, and Tools</a:t>
            </a:r>
            <a:endParaRPr lang="en-US" altLang="zh-CN" sz="800" b="0" smtClean="0"/>
          </a:p>
        </p:txBody>
      </p:sp>
      <p:sp>
        <p:nvSpPr>
          <p:cNvPr id="1843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4D75C42-7AAE-468A-97CA-4F3F37A31B16}" type="slidenum">
              <a:rPr lang="zh-CN" altLang="en-US" sz="800" b="0"/>
              <a:pPr/>
              <a:t>17</a:t>
            </a:fld>
            <a:endParaRPr lang="en-US" altLang="zh-CN" sz="800" b="0"/>
          </a:p>
        </p:txBody>
      </p:sp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Lexical Tokens</a:t>
            </a:r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</a:rPr>
              <a:t>float match0(char *s) /* find a zero */</a:t>
            </a:r>
          </a:p>
          <a:p>
            <a:pPr>
              <a:lnSpc>
                <a:spcPct val="90000"/>
              </a:lnSpc>
            </a:pPr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</a:rPr>
              <a:t>{</a:t>
            </a:r>
          </a:p>
          <a:p>
            <a:pPr>
              <a:lnSpc>
                <a:spcPct val="90000"/>
              </a:lnSpc>
            </a:pPr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</a:rPr>
              <a:t>    if (!strncmp(s, “0.0”, 3))</a:t>
            </a:r>
          </a:p>
          <a:p>
            <a:pPr>
              <a:lnSpc>
                <a:spcPct val="90000"/>
              </a:lnSpc>
            </a:pPr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</a:rPr>
              <a:t>	return 0.;</a:t>
            </a:r>
          </a:p>
          <a:p>
            <a:pPr>
              <a:lnSpc>
                <a:spcPct val="90000"/>
              </a:lnSpc>
            </a:pPr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</a:rPr>
              <a:t>}</a:t>
            </a:r>
          </a:p>
          <a:p>
            <a:pPr>
              <a:lnSpc>
                <a:spcPct val="90000"/>
              </a:lnSpc>
            </a:pPr>
            <a:endParaRPr lang="en-US" altLang="zh-CN" smtClean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FLOAT ID(match0) LPAREN CHAR STAR ID(s) RPAREN </a:t>
            </a:r>
          </a:p>
          <a:p>
            <a:pPr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LBRACE </a:t>
            </a:r>
          </a:p>
          <a:p>
            <a:pPr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IF LPAREN BANG ID(</a:t>
            </a:r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</a:rPr>
              <a:t>strncmp</a:t>
            </a:r>
            <a:r>
              <a:rPr lang="en-US" altLang="zh-CN" smtClean="0">
                <a:ea typeface="宋体" panose="02010600030101010101" pitchFamily="2" charset="-122"/>
              </a:rPr>
              <a:t>) LPAREN ID(s) COMMA STRING(0.0) COMMA NUM(3) RPAREN RPAREN </a:t>
            </a:r>
          </a:p>
          <a:p>
            <a:pPr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RETURN REAL(0.0) SEMICOLON  </a:t>
            </a:r>
          </a:p>
          <a:p>
            <a:pPr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RBRACE EOF</a:t>
            </a:r>
            <a:endParaRPr lang="zh-CN" altLang="en-US" smtClean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zh-CN" altLang="en-US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◎2005 ECNU SEI</a:t>
            </a:r>
            <a:endParaRPr lang="en-US" altLang="zh-CN" sz="800" b="0" smtClean="0"/>
          </a:p>
        </p:txBody>
      </p:sp>
      <p:sp>
        <p:nvSpPr>
          <p:cNvPr id="1945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Compilers: Principles, Techniques, and Tools</a:t>
            </a:r>
            <a:endParaRPr lang="en-US" altLang="zh-CN" sz="800" b="0" smtClean="0"/>
          </a:p>
        </p:txBody>
      </p:sp>
      <p:sp>
        <p:nvSpPr>
          <p:cNvPr id="1946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72031CD-F9DD-4DCB-BB04-8D66C2F64B79}" type="slidenum">
              <a:rPr lang="zh-CN" altLang="en-US" sz="800" b="0"/>
              <a:pPr/>
              <a:t>18</a:t>
            </a:fld>
            <a:endParaRPr lang="en-US" altLang="zh-CN" sz="800" b="0"/>
          </a:p>
        </p:txBody>
      </p:sp>
      <p:sp>
        <p:nvSpPr>
          <p:cNvPr id="194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Scanning process (cont.)</a:t>
            </a:r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194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9372600" cy="4802188"/>
          </a:xfrm>
        </p:spPr>
        <p:txBody>
          <a:bodyPr/>
          <a:lstStyle/>
          <a:p>
            <a:r>
              <a:rPr lang="en-US" altLang="zh-CN" sz="3200" smtClean="0">
                <a:ea typeface="宋体" panose="02010600030101010101" pitchFamily="2" charset="-122"/>
              </a:rPr>
              <a:t>Lexeme (string value): the strings of characters represented by a token.</a:t>
            </a:r>
          </a:p>
          <a:p>
            <a:r>
              <a:rPr lang="en-US" altLang="zh-CN" sz="3200" smtClean="0">
                <a:ea typeface="宋体" panose="02010600030101010101" pitchFamily="2" charset="-122"/>
              </a:rPr>
              <a:t> </a:t>
            </a:r>
            <a:r>
              <a:rPr lang="en-US" altLang="zh-CN" sz="3200" smtClean="0">
                <a:solidFill>
                  <a:schemeClr val="accent2"/>
                </a:solidFill>
                <a:ea typeface="宋体" panose="02010600030101010101" pitchFamily="2" charset="-122"/>
              </a:rPr>
              <a:t>Tokens             one lexeme  or many lexemes</a:t>
            </a:r>
          </a:p>
          <a:p>
            <a:r>
              <a:rPr lang="en-US" altLang="zh-CN" sz="3200" smtClean="0">
                <a:ea typeface="宋体" panose="02010600030101010101" pitchFamily="2" charset="-122"/>
              </a:rPr>
              <a:t> An attribute of the token : any value associated to a token </a:t>
            </a:r>
          </a:p>
          <a:p>
            <a:r>
              <a:rPr lang="en-US" altLang="zh-CN" sz="3200" smtClean="0">
                <a:ea typeface="宋体" panose="02010600030101010101" pitchFamily="2" charset="-122"/>
              </a:rPr>
              <a:t> </a:t>
            </a:r>
            <a:r>
              <a:rPr lang="en-US" altLang="zh-CN" sz="3200" smtClean="0">
                <a:solidFill>
                  <a:schemeClr val="accent2"/>
                </a:solidFill>
                <a:ea typeface="宋体" panose="02010600030101010101" pitchFamily="2" charset="-122"/>
              </a:rPr>
              <a:t>Tokens             many attributes</a:t>
            </a:r>
          </a:p>
          <a:p>
            <a:r>
              <a:rPr lang="en-US" altLang="zh-CN" sz="3200" smtClean="0">
                <a:ea typeface="宋体" panose="02010600030101010101" pitchFamily="2" charset="-122"/>
              </a:rPr>
              <a:t> The scanner needs to compute at least as many attributes of a token . </a:t>
            </a:r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19463" name="Line 4"/>
          <p:cNvSpPr>
            <a:spLocks noChangeShapeType="1"/>
          </p:cNvSpPr>
          <p:nvPr/>
        </p:nvSpPr>
        <p:spPr bwMode="auto">
          <a:xfrm>
            <a:off x="2289175" y="2636838"/>
            <a:ext cx="931863" cy="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4" name="Line 5"/>
          <p:cNvSpPr>
            <a:spLocks noChangeShapeType="1"/>
          </p:cNvSpPr>
          <p:nvPr/>
        </p:nvSpPr>
        <p:spPr bwMode="auto">
          <a:xfrm>
            <a:off x="2360613" y="4292600"/>
            <a:ext cx="865187" cy="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◎2005 ECNU SEI</a:t>
            </a:r>
            <a:endParaRPr lang="en-US" altLang="zh-CN" sz="800" b="0" smtClean="0"/>
          </a:p>
        </p:txBody>
      </p:sp>
      <p:sp>
        <p:nvSpPr>
          <p:cNvPr id="2048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Compilers: Principles, Techniques, and Tools</a:t>
            </a:r>
            <a:endParaRPr lang="en-US" altLang="zh-CN" sz="800" b="0" smtClean="0"/>
          </a:p>
        </p:txBody>
      </p:sp>
      <p:sp>
        <p:nvSpPr>
          <p:cNvPr id="2048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DAF804E-BE40-4931-8A9D-7EC4D45D03EB}" type="slidenum">
              <a:rPr lang="zh-CN" altLang="en-US" sz="800" b="0"/>
              <a:pPr/>
              <a:t>19</a:t>
            </a:fld>
            <a:endParaRPr lang="en-US" altLang="zh-CN" sz="800" b="0"/>
          </a:p>
        </p:txBody>
      </p:sp>
      <p:sp>
        <p:nvSpPr>
          <p:cNvPr id="20485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9372600" cy="612775"/>
          </a:xfrm>
        </p:spPr>
        <p:txBody>
          <a:bodyPr/>
          <a:lstStyle/>
          <a:p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204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765175"/>
            <a:ext cx="9372600" cy="5594350"/>
          </a:xfrm>
        </p:spPr>
        <p:txBody>
          <a:bodyPr/>
          <a:lstStyle/>
          <a:p>
            <a:r>
              <a:rPr lang="en-US" altLang="zh-CN" sz="2800" smtClean="0">
                <a:ea typeface="宋体" panose="02010600030101010101" pitchFamily="2" charset="-122"/>
              </a:rPr>
              <a:t>A token record : </a:t>
            </a:r>
          </a:p>
          <a:p>
            <a:pPr>
              <a:buFontTx/>
              <a:buNone/>
            </a:pPr>
            <a:r>
              <a:rPr lang="en-US" altLang="zh-CN" sz="2800" smtClean="0">
                <a:ea typeface="宋体" panose="02010600030101010101" pitchFamily="2" charset="-122"/>
              </a:rPr>
              <a:t>      </a:t>
            </a:r>
            <a:r>
              <a:rPr lang="en-US" altLang="zh-CN" sz="2800" smtClean="0">
                <a:solidFill>
                  <a:schemeClr val="accent2"/>
                </a:solidFill>
                <a:ea typeface="宋体" panose="02010600030101010101" pitchFamily="2" charset="-122"/>
              </a:rPr>
              <a:t>Typedef  struct </a:t>
            </a:r>
          </a:p>
          <a:p>
            <a:pPr>
              <a:buFontTx/>
              <a:buNone/>
            </a:pPr>
            <a:r>
              <a:rPr lang="en-US" altLang="zh-CN" sz="2800" smtClean="0">
                <a:solidFill>
                  <a:schemeClr val="accent2"/>
                </a:solidFill>
                <a:ea typeface="宋体" panose="02010600030101010101" pitchFamily="2" charset="-122"/>
              </a:rPr>
              <a:t>         {  TokenType  tokenval;</a:t>
            </a:r>
          </a:p>
          <a:p>
            <a:pPr>
              <a:buFontTx/>
              <a:buNone/>
            </a:pPr>
            <a:r>
              <a:rPr lang="en-US" altLang="zh-CN" sz="2800" smtClean="0">
                <a:solidFill>
                  <a:schemeClr val="accent2"/>
                </a:solidFill>
                <a:ea typeface="宋体" panose="02010600030101010101" pitchFamily="2" charset="-122"/>
              </a:rPr>
              <a:t>             char *stringval;</a:t>
            </a:r>
          </a:p>
          <a:p>
            <a:pPr>
              <a:buFontTx/>
              <a:buNone/>
            </a:pPr>
            <a:r>
              <a:rPr lang="en-US" altLang="zh-CN" sz="2800" smtClean="0">
                <a:solidFill>
                  <a:schemeClr val="accent2"/>
                </a:solidFill>
                <a:ea typeface="宋体" panose="02010600030101010101" pitchFamily="2" charset="-122"/>
              </a:rPr>
              <a:t>	         int numval;</a:t>
            </a:r>
          </a:p>
          <a:p>
            <a:pPr>
              <a:buFontTx/>
              <a:buNone/>
            </a:pPr>
            <a:r>
              <a:rPr lang="en-US" altLang="zh-CN" sz="2800" smtClean="0">
                <a:solidFill>
                  <a:schemeClr val="accent2"/>
                </a:solidFill>
                <a:ea typeface="宋体" panose="02010600030101010101" pitchFamily="2" charset="-122"/>
              </a:rPr>
              <a:t>		} TokenRecord </a:t>
            </a:r>
          </a:p>
          <a:p>
            <a:r>
              <a:rPr lang="en-US" altLang="zh-CN" sz="2800" smtClean="0">
                <a:ea typeface="宋体" panose="02010600030101010101" pitchFamily="2" charset="-122"/>
              </a:rPr>
              <a:t> A more common arrangement: the scanner return the token value only and place the other attributes in variables (such as in LEX and YACC).</a:t>
            </a:r>
          </a:p>
          <a:p>
            <a:r>
              <a:rPr lang="en-US" altLang="zh-CN" sz="2800" smtClean="0">
                <a:ea typeface="宋体" panose="02010600030101010101" pitchFamily="2" charset="-122"/>
              </a:rPr>
              <a:t>The string of input characters is kept in a </a:t>
            </a:r>
            <a:r>
              <a:rPr lang="en-US" altLang="zh-CN" sz="2800" b="1" smtClean="0">
                <a:solidFill>
                  <a:schemeClr val="accent2"/>
                </a:solidFill>
                <a:ea typeface="宋体" panose="02010600030101010101" pitchFamily="2" charset="-122"/>
              </a:rPr>
              <a:t>buffer</a:t>
            </a:r>
            <a:r>
              <a:rPr lang="en-US" altLang="zh-CN" sz="2800" smtClean="0">
                <a:solidFill>
                  <a:schemeClr val="accent2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800" smtClean="0">
                <a:ea typeface="宋体" panose="02010600030101010101" pitchFamily="2" charset="-122"/>
              </a:rPr>
              <a:t>or provided by the system input facilities. </a:t>
            </a:r>
            <a:endParaRPr lang="zh-CN" altLang="en-US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◎2005 ECNU SEI</a:t>
            </a:r>
            <a:endParaRPr lang="en-US" altLang="zh-CN" sz="800" b="0" smtClean="0"/>
          </a:p>
        </p:txBody>
      </p:sp>
      <p:sp>
        <p:nvSpPr>
          <p:cNvPr id="2150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Compilers: Principles, Techniques, and Tools</a:t>
            </a:r>
            <a:endParaRPr lang="en-US" altLang="zh-CN" sz="800" b="0" smtClean="0"/>
          </a:p>
        </p:txBody>
      </p:sp>
      <p:sp>
        <p:nvSpPr>
          <p:cNvPr id="2150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0BC0C1-D0AE-40A8-9AFA-252060CEE228}" type="slidenum">
              <a:rPr lang="zh-CN" altLang="en-US" sz="800" b="0"/>
              <a:pPr/>
              <a:t>20</a:t>
            </a:fld>
            <a:endParaRPr lang="en-US" altLang="zh-CN" sz="800" b="0"/>
          </a:p>
        </p:txBody>
      </p:sp>
      <p:sp>
        <p:nvSpPr>
          <p:cNvPr id="215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3.2 Input buffering (P.88)</a:t>
            </a:r>
          </a:p>
        </p:txBody>
      </p:sp>
      <p:sp>
        <p:nvSpPr>
          <p:cNvPr id="215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981075"/>
            <a:ext cx="9251950" cy="35274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3200" smtClean="0">
                <a:ea typeface="宋体" panose="02010600030101010101" pitchFamily="2" charset="-122"/>
              </a:rPr>
              <a:t>Character-at-a-time I/O (getc, ungetc)</a:t>
            </a:r>
          </a:p>
          <a:p>
            <a:pPr>
              <a:lnSpc>
                <a:spcPct val="90000"/>
              </a:lnSpc>
            </a:pPr>
            <a:r>
              <a:rPr lang="en-US" altLang="zh-CN" sz="3200" smtClean="0">
                <a:ea typeface="宋体" panose="02010600030101010101" pitchFamily="2" charset="-122"/>
              </a:rPr>
              <a:t>Block / Buffered I/O</a:t>
            </a:r>
          </a:p>
          <a:p>
            <a:pPr lvl="1">
              <a:lnSpc>
                <a:spcPct val="90000"/>
              </a:lnSpc>
            </a:pPr>
            <a:r>
              <a:rPr lang="en-US" altLang="zh-CN" sz="2400" smtClean="0">
                <a:ea typeface="宋体" panose="02010600030101010101" pitchFamily="2" charset="-122"/>
              </a:rPr>
              <a:t>Utilize Block of memory </a:t>
            </a:r>
          </a:p>
          <a:p>
            <a:pPr lvl="1">
              <a:lnSpc>
                <a:spcPct val="90000"/>
              </a:lnSpc>
            </a:pPr>
            <a:r>
              <a:rPr lang="en-US" altLang="zh-CN" sz="2400" smtClean="0">
                <a:ea typeface="宋体" panose="02010600030101010101" pitchFamily="2" charset="-122"/>
              </a:rPr>
              <a:t>Stage data from source to buffer block at a time </a:t>
            </a:r>
          </a:p>
          <a:p>
            <a:pPr lvl="1">
              <a:lnSpc>
                <a:spcPct val="90000"/>
              </a:lnSpc>
            </a:pPr>
            <a:r>
              <a:rPr lang="en-US" altLang="zh-CN" sz="2400" smtClean="0">
                <a:ea typeface="宋体" panose="02010600030101010101" pitchFamily="2" charset="-122"/>
              </a:rPr>
              <a:t>Maintain two blocks  -  Why (Recall OS)?</a:t>
            </a:r>
          </a:p>
          <a:p>
            <a:pPr lvl="2">
              <a:lnSpc>
                <a:spcPct val="90000"/>
              </a:lnSpc>
            </a:pPr>
            <a:r>
              <a:rPr lang="en-US" altLang="zh-CN" sz="2400" smtClean="0">
                <a:ea typeface="宋体" panose="02010600030101010101" pitchFamily="2" charset="-122"/>
              </a:rPr>
              <a:t>Asynchronous I/O - for 1 block </a:t>
            </a:r>
          </a:p>
          <a:p>
            <a:pPr lvl="2">
              <a:lnSpc>
                <a:spcPct val="90000"/>
              </a:lnSpc>
            </a:pPr>
            <a:r>
              <a:rPr lang="en-US" altLang="zh-CN" sz="2400" smtClean="0">
                <a:ea typeface="宋体" panose="02010600030101010101" pitchFamily="2" charset="-122"/>
              </a:rPr>
              <a:t>While Lexical Analysis on 2nd block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zh-CN" altLang="en-US" smtClean="0">
                <a:ea typeface="宋体" panose="02010600030101010101" pitchFamily="2" charset="-122"/>
              </a:rPr>
              <a:t> </a:t>
            </a:r>
          </a:p>
        </p:txBody>
      </p:sp>
      <p:grpSp>
        <p:nvGrpSpPr>
          <p:cNvPr id="21511" name="Group 4"/>
          <p:cNvGrpSpPr>
            <a:grpSpLocks/>
          </p:cNvGrpSpPr>
          <p:nvPr/>
        </p:nvGrpSpPr>
        <p:grpSpPr bwMode="auto">
          <a:xfrm>
            <a:off x="920750" y="4437063"/>
            <a:ext cx="7239000" cy="1616075"/>
            <a:chOff x="720" y="3072"/>
            <a:chExt cx="4560" cy="1018"/>
          </a:xfrm>
        </p:grpSpPr>
        <p:sp>
          <p:nvSpPr>
            <p:cNvPr id="21512" name="Rectangle 5"/>
            <p:cNvSpPr>
              <a:spLocks noChangeArrowheads="1"/>
            </p:cNvSpPr>
            <p:nvPr/>
          </p:nvSpPr>
          <p:spPr bwMode="auto">
            <a:xfrm>
              <a:off x="1920" y="3072"/>
              <a:ext cx="960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1513" name="Rectangle 6"/>
            <p:cNvSpPr>
              <a:spLocks noChangeArrowheads="1"/>
            </p:cNvSpPr>
            <p:nvPr/>
          </p:nvSpPr>
          <p:spPr bwMode="auto">
            <a:xfrm>
              <a:off x="2880" y="3072"/>
              <a:ext cx="960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1514" name="Text Box 7"/>
            <p:cNvSpPr txBox="1">
              <a:spLocks noChangeArrowheads="1"/>
            </p:cNvSpPr>
            <p:nvPr/>
          </p:nvSpPr>
          <p:spPr bwMode="auto">
            <a:xfrm>
              <a:off x="1920" y="3072"/>
              <a:ext cx="91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000">
                  <a:ea typeface="宋体" panose="02010600030101010101" pitchFamily="2" charset="-122"/>
                </a:rPr>
                <a:t>Block 1</a:t>
              </a:r>
            </a:p>
          </p:txBody>
        </p:sp>
        <p:sp>
          <p:nvSpPr>
            <p:cNvPr id="21515" name="Text Box 8"/>
            <p:cNvSpPr txBox="1">
              <a:spLocks noChangeArrowheads="1"/>
            </p:cNvSpPr>
            <p:nvPr/>
          </p:nvSpPr>
          <p:spPr bwMode="auto">
            <a:xfrm>
              <a:off x="2880" y="3072"/>
              <a:ext cx="91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000">
                  <a:ea typeface="宋体" panose="02010600030101010101" pitchFamily="2" charset="-122"/>
                </a:rPr>
                <a:t>Block 2</a:t>
              </a:r>
            </a:p>
          </p:txBody>
        </p:sp>
        <p:sp>
          <p:nvSpPr>
            <p:cNvPr id="21516" name="Text Box 9"/>
            <p:cNvSpPr txBox="1">
              <a:spLocks noChangeArrowheads="1"/>
            </p:cNvSpPr>
            <p:nvPr/>
          </p:nvSpPr>
          <p:spPr bwMode="auto">
            <a:xfrm>
              <a:off x="2976" y="3600"/>
              <a:ext cx="5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>
                  <a:ea typeface="宋体" panose="02010600030101010101" pitchFamily="2" charset="-122"/>
                </a:rPr>
                <a:t>ptr...</a:t>
              </a:r>
            </a:p>
          </p:txBody>
        </p:sp>
        <p:sp>
          <p:nvSpPr>
            <p:cNvPr id="21517" name="Line 10"/>
            <p:cNvSpPr>
              <a:spLocks noChangeShapeType="1"/>
            </p:cNvSpPr>
            <p:nvPr/>
          </p:nvSpPr>
          <p:spPr bwMode="auto">
            <a:xfrm flipV="1">
              <a:off x="3072" y="34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18" name="AutoShape 11"/>
            <p:cNvSpPr>
              <a:spLocks/>
            </p:cNvSpPr>
            <p:nvPr/>
          </p:nvSpPr>
          <p:spPr bwMode="auto">
            <a:xfrm rot="-5400000">
              <a:off x="3312" y="3504"/>
              <a:ext cx="192" cy="864"/>
            </a:xfrm>
            <a:prstGeom prst="leftBrace">
              <a:avLst>
                <a:gd name="adj1" fmla="val 3750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1519" name="AutoShape 12"/>
            <p:cNvSpPr>
              <a:spLocks/>
            </p:cNvSpPr>
            <p:nvPr/>
          </p:nvSpPr>
          <p:spPr bwMode="auto">
            <a:xfrm rot="-5400000">
              <a:off x="2280" y="3048"/>
              <a:ext cx="192" cy="912"/>
            </a:xfrm>
            <a:prstGeom prst="leftBrace">
              <a:avLst>
                <a:gd name="adj1" fmla="val 3958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1520" name="Line 13"/>
            <p:cNvSpPr>
              <a:spLocks noChangeShapeType="1"/>
            </p:cNvSpPr>
            <p:nvPr/>
          </p:nvSpPr>
          <p:spPr bwMode="auto">
            <a:xfrm flipV="1">
              <a:off x="1776" y="3648"/>
              <a:ext cx="57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1" name="Text Box 14"/>
            <p:cNvSpPr txBox="1">
              <a:spLocks noChangeArrowheads="1"/>
            </p:cNvSpPr>
            <p:nvPr/>
          </p:nvSpPr>
          <p:spPr bwMode="auto">
            <a:xfrm>
              <a:off x="720" y="3552"/>
              <a:ext cx="1008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>
                  <a:ea typeface="宋体" panose="02010600030101010101" pitchFamily="2" charset="-122"/>
                </a:rPr>
                <a:t>When done, issue I/O</a:t>
              </a:r>
            </a:p>
          </p:txBody>
        </p:sp>
        <p:sp>
          <p:nvSpPr>
            <p:cNvPr id="21522" name="Text Box 15"/>
            <p:cNvSpPr txBox="1">
              <a:spLocks noChangeArrowheads="1"/>
            </p:cNvSpPr>
            <p:nvPr/>
          </p:nvSpPr>
          <p:spPr bwMode="auto">
            <a:xfrm>
              <a:off x="3888" y="3648"/>
              <a:ext cx="1392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>
                  <a:ea typeface="宋体" panose="02010600030101010101" pitchFamily="2" charset="-122"/>
                </a:rPr>
                <a:t>Still Process token in 2nd block</a:t>
              </a: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日期占位符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◎2005 ECNU SEI</a:t>
            </a:r>
            <a:endParaRPr lang="en-US" altLang="zh-CN" sz="800" b="0" smtClean="0"/>
          </a:p>
        </p:txBody>
      </p:sp>
      <p:sp>
        <p:nvSpPr>
          <p:cNvPr id="22531" name="页脚占位符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Compilers: Principles, Techniques, and Tools</a:t>
            </a:r>
            <a:endParaRPr lang="en-US" altLang="zh-CN" sz="800" b="0" smtClean="0"/>
          </a:p>
        </p:txBody>
      </p:sp>
      <p:sp>
        <p:nvSpPr>
          <p:cNvPr id="22532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8A4AC78-2757-4A99-B86E-D9220659950E}" type="slidenum">
              <a:rPr lang="zh-CN" altLang="en-US" sz="800" b="0"/>
              <a:pPr/>
              <a:t>21</a:t>
            </a:fld>
            <a:endParaRPr lang="en-US" altLang="zh-CN" sz="800" b="0"/>
          </a:p>
        </p:txBody>
      </p:sp>
      <p:sp>
        <p:nvSpPr>
          <p:cNvPr id="22533" name="Rectangle 2"/>
          <p:cNvSpPr>
            <a:spLocks noGrp="1" noChangeArrowheads="1"/>
          </p:cNvSpPr>
          <p:nvPr>
            <p:ph type="title"/>
          </p:nvPr>
        </p:nvSpPr>
        <p:spPr>
          <a:xfrm>
            <a:off x="382588" y="152400"/>
            <a:ext cx="9371012" cy="755650"/>
          </a:xfrm>
        </p:spPr>
        <p:txBody>
          <a:bodyPr/>
          <a:lstStyle/>
          <a:p>
            <a:r>
              <a:rPr lang="en-US" altLang="zh-CN" b="0" smtClean="0">
                <a:solidFill>
                  <a:schemeClr val="tx1"/>
                </a:solidFill>
                <a:ea typeface="宋体" panose="02010600030101010101" pitchFamily="2" charset="-122"/>
              </a:rPr>
              <a:t>Algorithm: Buffered I/O with Sentinels (P.91)</a:t>
            </a:r>
            <a:endParaRPr lang="en-US" altLang="zh-CN" smtClean="0">
              <a:solidFill>
                <a:srgbClr val="0066FF"/>
              </a:solidFill>
              <a:ea typeface="宋体" panose="02010600030101010101" pitchFamily="2" charset="-122"/>
            </a:endParaRPr>
          </a:p>
        </p:txBody>
      </p:sp>
      <p:grpSp>
        <p:nvGrpSpPr>
          <p:cNvPr id="22534" name="Group 3"/>
          <p:cNvGrpSpPr>
            <a:grpSpLocks/>
          </p:cNvGrpSpPr>
          <p:nvPr/>
        </p:nvGrpSpPr>
        <p:grpSpPr bwMode="auto">
          <a:xfrm>
            <a:off x="1179513" y="1293813"/>
            <a:ext cx="7429500" cy="366712"/>
            <a:chOff x="144" y="1344"/>
            <a:chExt cx="3936" cy="231"/>
          </a:xfrm>
        </p:grpSpPr>
        <p:grpSp>
          <p:nvGrpSpPr>
            <p:cNvPr id="22550" name="Group 4"/>
            <p:cNvGrpSpPr>
              <a:grpSpLocks/>
            </p:cNvGrpSpPr>
            <p:nvPr/>
          </p:nvGrpSpPr>
          <p:grpSpPr bwMode="auto">
            <a:xfrm>
              <a:off x="1872" y="1344"/>
              <a:ext cx="288" cy="212"/>
              <a:chOff x="624" y="1776"/>
              <a:chExt cx="288" cy="212"/>
            </a:xfrm>
          </p:grpSpPr>
          <p:sp>
            <p:nvSpPr>
              <p:cNvPr id="22610" name="Rectangle 5"/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2611" name="Text Box 6"/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8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1600">
                    <a:ea typeface="宋体" panose="02010600030101010101" pitchFamily="2" charset="-122"/>
                  </a:rPr>
                  <a:t>eof</a:t>
                </a:r>
                <a:endParaRPr lang="en-US" altLang="zh-CN" sz="1800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2551" name="Group 7"/>
            <p:cNvGrpSpPr>
              <a:grpSpLocks/>
            </p:cNvGrpSpPr>
            <p:nvPr/>
          </p:nvGrpSpPr>
          <p:grpSpPr bwMode="auto">
            <a:xfrm>
              <a:off x="1680" y="1344"/>
              <a:ext cx="288" cy="212"/>
              <a:chOff x="624" y="1776"/>
              <a:chExt cx="288" cy="212"/>
            </a:xfrm>
          </p:grpSpPr>
          <p:sp>
            <p:nvSpPr>
              <p:cNvPr id="22608" name="Rectangle 8"/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2609" name="Text Box 9"/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8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zh-CN" altLang="en-US" sz="1600">
                    <a:ea typeface="宋体" panose="02010600030101010101" pitchFamily="2" charset="-122"/>
                  </a:rPr>
                  <a:t>*</a:t>
                </a: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2552" name="Group 10"/>
            <p:cNvGrpSpPr>
              <a:grpSpLocks/>
            </p:cNvGrpSpPr>
            <p:nvPr/>
          </p:nvGrpSpPr>
          <p:grpSpPr bwMode="auto">
            <a:xfrm>
              <a:off x="1488" y="1344"/>
              <a:ext cx="288" cy="231"/>
              <a:chOff x="624" y="1776"/>
              <a:chExt cx="288" cy="231"/>
            </a:xfrm>
          </p:grpSpPr>
          <p:sp>
            <p:nvSpPr>
              <p:cNvPr id="22606" name="Rectangle 11"/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2607" name="Text Box 12"/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1800">
                    <a:ea typeface="宋体" panose="02010600030101010101" pitchFamily="2" charset="-122"/>
                  </a:rPr>
                  <a:t>M</a:t>
                </a:r>
              </a:p>
            </p:txBody>
          </p:sp>
        </p:grpSp>
        <p:grpSp>
          <p:nvGrpSpPr>
            <p:cNvPr id="22553" name="Group 13"/>
            <p:cNvGrpSpPr>
              <a:grpSpLocks/>
            </p:cNvGrpSpPr>
            <p:nvPr/>
          </p:nvGrpSpPr>
          <p:grpSpPr bwMode="auto">
            <a:xfrm>
              <a:off x="1296" y="1344"/>
              <a:ext cx="288" cy="231"/>
              <a:chOff x="624" y="1776"/>
              <a:chExt cx="288" cy="231"/>
            </a:xfrm>
          </p:grpSpPr>
          <p:sp>
            <p:nvSpPr>
              <p:cNvPr id="22604" name="Rectangle 14"/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2605" name="Text Box 15"/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2554" name="Group 16"/>
            <p:cNvGrpSpPr>
              <a:grpSpLocks/>
            </p:cNvGrpSpPr>
            <p:nvPr/>
          </p:nvGrpSpPr>
          <p:grpSpPr bwMode="auto">
            <a:xfrm>
              <a:off x="1104" y="1344"/>
              <a:ext cx="288" cy="231"/>
              <a:chOff x="624" y="1776"/>
              <a:chExt cx="288" cy="231"/>
            </a:xfrm>
          </p:grpSpPr>
          <p:sp>
            <p:nvSpPr>
              <p:cNvPr id="22602" name="Rectangle 17"/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2603" name="Text Box 18"/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1800">
                    <a:ea typeface="宋体" panose="02010600030101010101" pitchFamily="2" charset="-122"/>
                  </a:rPr>
                  <a:t>=</a:t>
                </a:r>
              </a:p>
            </p:txBody>
          </p:sp>
        </p:grpSp>
        <p:grpSp>
          <p:nvGrpSpPr>
            <p:cNvPr id="22555" name="Group 19"/>
            <p:cNvGrpSpPr>
              <a:grpSpLocks/>
            </p:cNvGrpSpPr>
            <p:nvPr/>
          </p:nvGrpSpPr>
          <p:grpSpPr bwMode="auto">
            <a:xfrm>
              <a:off x="912" y="1344"/>
              <a:ext cx="288" cy="231"/>
              <a:chOff x="624" y="1776"/>
              <a:chExt cx="288" cy="231"/>
            </a:xfrm>
          </p:grpSpPr>
          <p:sp>
            <p:nvSpPr>
              <p:cNvPr id="22600" name="Rectangle 20"/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2601" name="Text Box 21"/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2556" name="Group 22"/>
            <p:cNvGrpSpPr>
              <a:grpSpLocks/>
            </p:cNvGrpSpPr>
            <p:nvPr/>
          </p:nvGrpSpPr>
          <p:grpSpPr bwMode="auto">
            <a:xfrm>
              <a:off x="720" y="1344"/>
              <a:ext cx="288" cy="231"/>
              <a:chOff x="624" y="1776"/>
              <a:chExt cx="288" cy="231"/>
            </a:xfrm>
          </p:grpSpPr>
          <p:sp>
            <p:nvSpPr>
              <p:cNvPr id="22598" name="Rectangle 23"/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2599" name="Text Box 24"/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1800">
                    <a:ea typeface="宋体" panose="02010600030101010101" pitchFamily="2" charset="-122"/>
                  </a:rPr>
                  <a:t>E</a:t>
                </a:r>
              </a:p>
            </p:txBody>
          </p:sp>
        </p:grpSp>
        <p:grpSp>
          <p:nvGrpSpPr>
            <p:cNvPr id="22557" name="Group 25"/>
            <p:cNvGrpSpPr>
              <a:grpSpLocks/>
            </p:cNvGrpSpPr>
            <p:nvPr/>
          </p:nvGrpSpPr>
          <p:grpSpPr bwMode="auto">
            <a:xfrm>
              <a:off x="528" y="1344"/>
              <a:ext cx="288" cy="231"/>
              <a:chOff x="624" y="1776"/>
              <a:chExt cx="288" cy="231"/>
            </a:xfrm>
          </p:grpSpPr>
          <p:sp>
            <p:nvSpPr>
              <p:cNvPr id="22596" name="Rectangle 26"/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2597" name="Text Box 27"/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2558" name="Group 28"/>
            <p:cNvGrpSpPr>
              <a:grpSpLocks/>
            </p:cNvGrpSpPr>
            <p:nvPr/>
          </p:nvGrpSpPr>
          <p:grpSpPr bwMode="auto">
            <a:xfrm>
              <a:off x="336" y="1344"/>
              <a:ext cx="288" cy="231"/>
              <a:chOff x="624" y="1776"/>
              <a:chExt cx="288" cy="231"/>
            </a:xfrm>
          </p:grpSpPr>
          <p:sp>
            <p:nvSpPr>
              <p:cNvPr id="22594" name="Rectangle 29"/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2595" name="Text Box 30"/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2559" name="Group 31"/>
            <p:cNvGrpSpPr>
              <a:grpSpLocks/>
            </p:cNvGrpSpPr>
            <p:nvPr/>
          </p:nvGrpSpPr>
          <p:grpSpPr bwMode="auto">
            <a:xfrm>
              <a:off x="144" y="1344"/>
              <a:ext cx="288" cy="231"/>
              <a:chOff x="624" y="1776"/>
              <a:chExt cx="288" cy="231"/>
            </a:xfrm>
          </p:grpSpPr>
          <p:sp>
            <p:nvSpPr>
              <p:cNvPr id="22592" name="Rectangle 32"/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2593" name="Text Box 33"/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2560" name="Rectangle 34"/>
            <p:cNvSpPr>
              <a:spLocks noChangeArrowheads="1"/>
            </p:cNvSpPr>
            <p:nvPr/>
          </p:nvSpPr>
          <p:spPr bwMode="auto">
            <a:xfrm>
              <a:off x="144" y="1344"/>
              <a:ext cx="192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grpSp>
          <p:nvGrpSpPr>
            <p:cNvPr id="22561" name="Group 35"/>
            <p:cNvGrpSpPr>
              <a:grpSpLocks/>
            </p:cNvGrpSpPr>
            <p:nvPr/>
          </p:nvGrpSpPr>
          <p:grpSpPr bwMode="auto">
            <a:xfrm>
              <a:off x="3792" y="1344"/>
              <a:ext cx="288" cy="212"/>
              <a:chOff x="624" y="1776"/>
              <a:chExt cx="288" cy="212"/>
            </a:xfrm>
          </p:grpSpPr>
          <p:sp>
            <p:nvSpPr>
              <p:cNvPr id="22590" name="Rectangle 36"/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2591" name="Text Box 37"/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8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1600">
                    <a:ea typeface="宋体" panose="02010600030101010101" pitchFamily="2" charset="-122"/>
                  </a:rPr>
                  <a:t>eof</a:t>
                </a:r>
                <a:endParaRPr lang="en-US" altLang="zh-CN" sz="1800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2562" name="Group 38"/>
            <p:cNvGrpSpPr>
              <a:grpSpLocks/>
            </p:cNvGrpSpPr>
            <p:nvPr/>
          </p:nvGrpSpPr>
          <p:grpSpPr bwMode="auto">
            <a:xfrm>
              <a:off x="3600" y="1344"/>
              <a:ext cx="288" cy="231"/>
              <a:chOff x="624" y="1776"/>
              <a:chExt cx="288" cy="231"/>
            </a:xfrm>
          </p:grpSpPr>
          <p:sp>
            <p:nvSpPr>
              <p:cNvPr id="22588" name="Rectangle 39"/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2589" name="Text Box 40"/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2563" name="Group 41"/>
            <p:cNvGrpSpPr>
              <a:grpSpLocks/>
            </p:cNvGrpSpPr>
            <p:nvPr/>
          </p:nvGrpSpPr>
          <p:grpSpPr bwMode="auto">
            <a:xfrm>
              <a:off x="3408" y="1344"/>
              <a:ext cx="288" cy="231"/>
              <a:chOff x="624" y="1776"/>
              <a:chExt cx="288" cy="231"/>
            </a:xfrm>
          </p:grpSpPr>
          <p:sp>
            <p:nvSpPr>
              <p:cNvPr id="22586" name="Rectangle 42"/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2587" name="Text Box 43"/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2564" name="Group 44"/>
            <p:cNvGrpSpPr>
              <a:grpSpLocks/>
            </p:cNvGrpSpPr>
            <p:nvPr/>
          </p:nvGrpSpPr>
          <p:grpSpPr bwMode="auto">
            <a:xfrm>
              <a:off x="3216" y="1344"/>
              <a:ext cx="288" cy="231"/>
              <a:chOff x="624" y="1776"/>
              <a:chExt cx="288" cy="231"/>
            </a:xfrm>
          </p:grpSpPr>
          <p:sp>
            <p:nvSpPr>
              <p:cNvPr id="22584" name="Rectangle 45"/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2585" name="Text Box 46"/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2565" name="Group 47"/>
            <p:cNvGrpSpPr>
              <a:grpSpLocks/>
            </p:cNvGrpSpPr>
            <p:nvPr/>
          </p:nvGrpSpPr>
          <p:grpSpPr bwMode="auto">
            <a:xfrm>
              <a:off x="3024" y="1344"/>
              <a:ext cx="288" cy="231"/>
              <a:chOff x="624" y="1776"/>
              <a:chExt cx="288" cy="231"/>
            </a:xfrm>
          </p:grpSpPr>
          <p:sp>
            <p:nvSpPr>
              <p:cNvPr id="22582" name="Rectangle 48"/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2583" name="Text Box 49"/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2566" name="Group 50"/>
            <p:cNvGrpSpPr>
              <a:grpSpLocks/>
            </p:cNvGrpSpPr>
            <p:nvPr/>
          </p:nvGrpSpPr>
          <p:grpSpPr bwMode="auto">
            <a:xfrm>
              <a:off x="2832" y="1344"/>
              <a:ext cx="288" cy="212"/>
              <a:chOff x="624" y="1776"/>
              <a:chExt cx="288" cy="212"/>
            </a:xfrm>
          </p:grpSpPr>
          <p:sp>
            <p:nvSpPr>
              <p:cNvPr id="22580" name="Rectangle 51"/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2581" name="Text Box 52"/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8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1600">
                    <a:ea typeface="宋体" panose="02010600030101010101" pitchFamily="2" charset="-122"/>
                  </a:rPr>
                  <a:t>eof</a:t>
                </a:r>
                <a:endParaRPr lang="en-US" altLang="zh-CN" sz="1800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2567" name="Group 53"/>
            <p:cNvGrpSpPr>
              <a:grpSpLocks/>
            </p:cNvGrpSpPr>
            <p:nvPr/>
          </p:nvGrpSpPr>
          <p:grpSpPr bwMode="auto">
            <a:xfrm>
              <a:off x="2640" y="1344"/>
              <a:ext cx="288" cy="231"/>
              <a:chOff x="624" y="1776"/>
              <a:chExt cx="288" cy="231"/>
            </a:xfrm>
          </p:grpSpPr>
          <p:sp>
            <p:nvSpPr>
              <p:cNvPr id="22578" name="Rectangle 54"/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2579" name="Text Box 55"/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1800">
                    <a:ea typeface="宋体" panose="02010600030101010101" pitchFamily="2" charset="-122"/>
                  </a:rPr>
                  <a:t>2</a:t>
                </a:r>
              </a:p>
            </p:txBody>
          </p:sp>
        </p:grpSp>
        <p:grpSp>
          <p:nvGrpSpPr>
            <p:cNvPr id="22568" name="Group 56"/>
            <p:cNvGrpSpPr>
              <a:grpSpLocks/>
            </p:cNvGrpSpPr>
            <p:nvPr/>
          </p:nvGrpSpPr>
          <p:grpSpPr bwMode="auto">
            <a:xfrm>
              <a:off x="2448" y="1344"/>
              <a:ext cx="288" cy="231"/>
              <a:chOff x="624" y="1776"/>
              <a:chExt cx="288" cy="231"/>
            </a:xfrm>
          </p:grpSpPr>
          <p:sp>
            <p:nvSpPr>
              <p:cNvPr id="22576" name="Rectangle 57"/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2577" name="Text Box 58"/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zh-CN" altLang="en-US" sz="1800">
                    <a:ea typeface="宋体" panose="02010600030101010101" pitchFamily="2" charset="-122"/>
                  </a:rPr>
                  <a:t>*</a:t>
                </a:r>
              </a:p>
            </p:txBody>
          </p:sp>
        </p:grpSp>
        <p:grpSp>
          <p:nvGrpSpPr>
            <p:cNvPr id="22569" name="Group 59"/>
            <p:cNvGrpSpPr>
              <a:grpSpLocks/>
            </p:cNvGrpSpPr>
            <p:nvPr/>
          </p:nvGrpSpPr>
          <p:grpSpPr bwMode="auto">
            <a:xfrm>
              <a:off x="2256" y="1344"/>
              <a:ext cx="288" cy="231"/>
              <a:chOff x="624" y="1776"/>
              <a:chExt cx="288" cy="231"/>
            </a:xfrm>
          </p:grpSpPr>
          <p:sp>
            <p:nvSpPr>
              <p:cNvPr id="22574" name="Rectangle 60"/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2575" name="Text Box 61"/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zh-CN" altLang="en-US" sz="1800">
                    <a:ea typeface="宋体" panose="02010600030101010101" pitchFamily="2" charset="-122"/>
                  </a:rPr>
                  <a:t>*</a:t>
                </a:r>
              </a:p>
            </p:txBody>
          </p:sp>
        </p:grpSp>
        <p:grpSp>
          <p:nvGrpSpPr>
            <p:cNvPr id="22570" name="Group 62"/>
            <p:cNvGrpSpPr>
              <a:grpSpLocks/>
            </p:cNvGrpSpPr>
            <p:nvPr/>
          </p:nvGrpSpPr>
          <p:grpSpPr bwMode="auto">
            <a:xfrm>
              <a:off x="2064" y="1344"/>
              <a:ext cx="288" cy="231"/>
              <a:chOff x="624" y="1776"/>
              <a:chExt cx="288" cy="231"/>
            </a:xfrm>
          </p:grpSpPr>
          <p:sp>
            <p:nvSpPr>
              <p:cNvPr id="22572" name="Rectangle 63"/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2573" name="Text Box 64"/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zh-CN" sz="1800">
                    <a:ea typeface="宋体" panose="02010600030101010101" pitchFamily="2" charset="-122"/>
                  </a:rPr>
                  <a:t>C</a:t>
                </a:r>
              </a:p>
            </p:txBody>
          </p:sp>
        </p:grpSp>
        <p:sp>
          <p:nvSpPr>
            <p:cNvPr id="22571" name="Rectangle 65"/>
            <p:cNvSpPr>
              <a:spLocks noChangeArrowheads="1"/>
            </p:cNvSpPr>
            <p:nvPr/>
          </p:nvSpPr>
          <p:spPr bwMode="auto">
            <a:xfrm>
              <a:off x="2064" y="1344"/>
              <a:ext cx="192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</p:grpSp>
      <p:sp>
        <p:nvSpPr>
          <p:cNvPr id="22535" name="AutoShape 66"/>
          <p:cNvSpPr>
            <a:spLocks/>
          </p:cNvSpPr>
          <p:nvPr/>
        </p:nvSpPr>
        <p:spPr bwMode="auto">
          <a:xfrm rot="5400000">
            <a:off x="5649913" y="569913"/>
            <a:ext cx="304800" cy="990600"/>
          </a:xfrm>
          <a:prstGeom prst="leftBrace">
            <a:avLst>
              <a:gd name="adj1" fmla="val 2708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2536" name="Text Box 67"/>
          <p:cNvSpPr txBox="1">
            <a:spLocks noChangeArrowheads="1"/>
          </p:cNvSpPr>
          <p:nvPr/>
        </p:nvSpPr>
        <p:spPr bwMode="auto">
          <a:xfrm>
            <a:off x="6215063" y="836613"/>
            <a:ext cx="2311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>
                <a:ea typeface="宋体" panose="02010600030101010101" pitchFamily="2" charset="-122"/>
              </a:rPr>
              <a:t>Current token</a:t>
            </a:r>
          </a:p>
        </p:txBody>
      </p:sp>
      <p:sp>
        <p:nvSpPr>
          <p:cNvPr id="22537" name="Text Box 68"/>
          <p:cNvSpPr txBox="1">
            <a:spLocks noChangeArrowheads="1"/>
          </p:cNvSpPr>
          <p:nvPr/>
        </p:nvSpPr>
        <p:spPr bwMode="auto">
          <a:xfrm>
            <a:off x="2335213" y="1751013"/>
            <a:ext cx="2476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>
                <a:ea typeface="宋体" panose="02010600030101010101" pitchFamily="2" charset="-122"/>
              </a:rPr>
              <a:t>lexeme beginning</a:t>
            </a:r>
          </a:p>
        </p:txBody>
      </p:sp>
      <p:sp>
        <p:nvSpPr>
          <p:cNvPr id="22538" name="Line 69"/>
          <p:cNvSpPr>
            <a:spLocks noChangeShapeType="1"/>
          </p:cNvSpPr>
          <p:nvPr/>
        </p:nvSpPr>
        <p:spPr bwMode="auto">
          <a:xfrm flipV="1">
            <a:off x="4811713" y="1674813"/>
            <a:ext cx="660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9" name="Text Box 70"/>
          <p:cNvSpPr txBox="1">
            <a:spLocks noChangeArrowheads="1"/>
          </p:cNvSpPr>
          <p:nvPr/>
        </p:nvSpPr>
        <p:spPr bwMode="auto">
          <a:xfrm>
            <a:off x="6627813" y="1751013"/>
            <a:ext cx="28892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>
                <a:ea typeface="宋体" panose="02010600030101010101" pitchFamily="2" charset="-122"/>
              </a:rPr>
              <a:t>forward (scans ahead to find pattern match)</a:t>
            </a:r>
          </a:p>
        </p:txBody>
      </p:sp>
      <p:sp>
        <p:nvSpPr>
          <p:cNvPr id="22540" name="Line 71"/>
          <p:cNvSpPr>
            <a:spLocks noChangeShapeType="1"/>
          </p:cNvSpPr>
          <p:nvPr/>
        </p:nvSpPr>
        <p:spPr bwMode="auto">
          <a:xfrm flipH="1" flipV="1">
            <a:off x="6132513" y="1674813"/>
            <a:ext cx="330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58472" name="Group 72"/>
          <p:cNvGrpSpPr>
            <a:grpSpLocks/>
          </p:cNvGrpSpPr>
          <p:nvPr/>
        </p:nvGrpSpPr>
        <p:grpSpPr bwMode="auto">
          <a:xfrm>
            <a:off x="849313" y="2205038"/>
            <a:ext cx="5688012" cy="4275137"/>
            <a:chOff x="1200" y="1536"/>
            <a:chExt cx="3360" cy="2693"/>
          </a:xfrm>
        </p:grpSpPr>
        <p:sp>
          <p:nvSpPr>
            <p:cNvPr id="22544" name="Text Box 73"/>
            <p:cNvSpPr txBox="1">
              <a:spLocks noChangeArrowheads="1"/>
            </p:cNvSpPr>
            <p:nvPr/>
          </p:nvSpPr>
          <p:spPr bwMode="auto">
            <a:xfrm>
              <a:off x="1200" y="1536"/>
              <a:ext cx="3360" cy="269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70000"/>
                </a:lnSpc>
                <a:spcBef>
                  <a:spcPct val="50000"/>
                </a:spcBef>
              </a:pPr>
              <a:r>
                <a:rPr lang="en-US" altLang="zh-CN" sz="1800" b="0" i="1">
                  <a:ea typeface="宋体" panose="02010600030101010101" pitchFamily="2" charset="-122"/>
                </a:rPr>
                <a:t>forward </a:t>
              </a:r>
              <a:r>
                <a:rPr lang="en-US" altLang="zh-CN" sz="1800" b="0">
                  <a:ea typeface="宋体" panose="02010600030101010101" pitchFamily="2" charset="-122"/>
                </a:rPr>
                <a:t>: =  </a:t>
              </a:r>
              <a:r>
                <a:rPr lang="en-US" altLang="zh-CN" sz="1800" b="0" i="1">
                  <a:ea typeface="宋体" panose="02010600030101010101" pitchFamily="2" charset="-122"/>
                </a:rPr>
                <a:t>forward + </a:t>
              </a:r>
              <a:r>
                <a:rPr lang="en-US" altLang="zh-CN" sz="1800" b="0">
                  <a:ea typeface="宋体" panose="02010600030101010101" pitchFamily="2" charset="-122"/>
                </a:rPr>
                <a:t>1 ;</a:t>
              </a:r>
            </a:p>
            <a:p>
              <a:pPr>
                <a:lnSpc>
                  <a:spcPct val="70000"/>
                </a:lnSpc>
                <a:spcBef>
                  <a:spcPct val="50000"/>
                </a:spcBef>
              </a:pPr>
              <a:r>
                <a:rPr lang="en-US" altLang="zh-CN" sz="1800">
                  <a:ea typeface="宋体" panose="02010600030101010101" pitchFamily="2" charset="-122"/>
                </a:rPr>
                <a:t>if </a:t>
              </a:r>
              <a:r>
                <a:rPr lang="en-US" altLang="zh-CN" sz="1800" b="0" i="1">
                  <a:ea typeface="宋体" panose="02010600030101010101" pitchFamily="2" charset="-122"/>
                </a:rPr>
                <a:t> forward </a:t>
              </a:r>
              <a:r>
                <a:rPr lang="en-US" altLang="zh-CN" sz="1800" b="0">
                  <a:ea typeface="宋体" panose="02010600030101010101" pitchFamily="2" charset="-122"/>
                  <a:sym typeface="Symbol" panose="05050102010706020507" pitchFamily="18" charset="2"/>
                </a:rPr>
                <a:t> = </a:t>
              </a: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eof  then  begin</a:t>
              </a:r>
            </a:p>
            <a:p>
              <a:pPr>
                <a:lnSpc>
                  <a:spcPct val="70000"/>
                </a:lnSpc>
                <a:spcBef>
                  <a:spcPct val="50000"/>
                </a:spcBef>
              </a:pP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    if </a:t>
              </a:r>
              <a:r>
                <a:rPr lang="en-US" altLang="zh-CN" sz="1800" b="0">
                  <a:ea typeface="宋体" panose="02010600030101010101" pitchFamily="2" charset="-122"/>
                  <a:sym typeface="Symbol" panose="05050102010706020507" pitchFamily="18" charset="2"/>
                </a:rPr>
                <a:t> </a:t>
              </a:r>
              <a:r>
                <a:rPr lang="en-US" altLang="zh-CN" sz="1800" b="0" i="1">
                  <a:ea typeface="宋体" panose="02010600030101010101" pitchFamily="2" charset="-122"/>
                  <a:sym typeface="Symbol" panose="05050102010706020507" pitchFamily="18" charset="2"/>
                </a:rPr>
                <a:t>forward </a:t>
              </a:r>
              <a:r>
                <a:rPr lang="en-US" altLang="zh-CN" sz="1800" b="0">
                  <a:ea typeface="宋体" panose="02010600030101010101" pitchFamily="2" charset="-122"/>
                  <a:sym typeface="Symbol" panose="05050102010706020507" pitchFamily="18" charset="2"/>
                </a:rPr>
                <a:t> at end of first half  </a:t>
              </a: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then  begin</a:t>
              </a:r>
            </a:p>
            <a:p>
              <a:pPr>
                <a:lnSpc>
                  <a:spcPct val="70000"/>
                </a:lnSpc>
                <a:spcBef>
                  <a:spcPct val="50000"/>
                </a:spcBef>
              </a:pPr>
              <a:r>
                <a:rPr lang="en-US" altLang="zh-CN" sz="1800" b="0">
                  <a:ea typeface="宋体" panose="02010600030101010101" pitchFamily="2" charset="-122"/>
                  <a:sym typeface="Symbol" panose="05050102010706020507" pitchFamily="18" charset="2"/>
                </a:rPr>
                <a:t>          reload second half ;</a:t>
              </a:r>
            </a:p>
            <a:p>
              <a:pPr>
                <a:lnSpc>
                  <a:spcPct val="70000"/>
                </a:lnSpc>
                <a:spcBef>
                  <a:spcPct val="50000"/>
                </a:spcBef>
              </a:pPr>
              <a:r>
                <a:rPr lang="en-US" altLang="zh-CN" sz="1800" b="0">
                  <a:ea typeface="宋体" panose="02010600030101010101" pitchFamily="2" charset="-122"/>
                  <a:sym typeface="Symbol" panose="05050102010706020507" pitchFamily="18" charset="2"/>
                </a:rPr>
                <a:t>          </a:t>
              </a:r>
              <a:r>
                <a:rPr lang="en-US" altLang="zh-CN" sz="1800" b="0" i="1">
                  <a:ea typeface="宋体" panose="02010600030101010101" pitchFamily="2" charset="-122"/>
                  <a:sym typeface="Symbol" panose="05050102010706020507" pitchFamily="18" charset="2"/>
                </a:rPr>
                <a:t>forward  </a:t>
              </a:r>
              <a:r>
                <a:rPr lang="en-US" altLang="zh-CN" sz="1800" b="0">
                  <a:ea typeface="宋体" panose="02010600030101010101" pitchFamily="2" charset="-122"/>
                  <a:sym typeface="Symbol" panose="05050102010706020507" pitchFamily="18" charset="2"/>
                </a:rPr>
                <a:t>: =  </a:t>
              </a:r>
              <a:r>
                <a:rPr lang="en-US" altLang="zh-CN" sz="1800" b="0" i="1">
                  <a:ea typeface="宋体" panose="02010600030101010101" pitchFamily="2" charset="-122"/>
                  <a:sym typeface="Symbol" panose="05050102010706020507" pitchFamily="18" charset="2"/>
                </a:rPr>
                <a:t>forward  </a:t>
              </a:r>
              <a:r>
                <a:rPr lang="en-US" altLang="zh-CN" sz="1800" b="0">
                  <a:ea typeface="宋体" panose="02010600030101010101" pitchFamily="2" charset="-122"/>
                  <a:sym typeface="Symbol" panose="05050102010706020507" pitchFamily="18" charset="2"/>
                </a:rPr>
                <a:t>+ 1</a:t>
              </a:r>
            </a:p>
            <a:p>
              <a:pPr>
                <a:lnSpc>
                  <a:spcPct val="70000"/>
                </a:lnSpc>
                <a:spcBef>
                  <a:spcPct val="50000"/>
                </a:spcBef>
              </a:pPr>
              <a:r>
                <a:rPr lang="en-US" altLang="zh-CN" sz="1800" b="0">
                  <a:ea typeface="宋体" panose="02010600030101010101" pitchFamily="2" charset="-122"/>
                  <a:sym typeface="Symbol" panose="05050102010706020507" pitchFamily="18" charset="2"/>
                </a:rPr>
                <a:t>    </a:t>
              </a: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end</a:t>
              </a:r>
            </a:p>
            <a:p>
              <a:pPr>
                <a:lnSpc>
                  <a:spcPct val="70000"/>
                </a:lnSpc>
                <a:spcBef>
                  <a:spcPct val="50000"/>
                </a:spcBef>
              </a:pP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else if  </a:t>
              </a:r>
              <a:r>
                <a:rPr lang="en-US" altLang="zh-CN" sz="1800" b="0" i="1">
                  <a:ea typeface="宋体" panose="02010600030101010101" pitchFamily="2" charset="-122"/>
                  <a:sym typeface="Symbol" panose="05050102010706020507" pitchFamily="18" charset="2"/>
                </a:rPr>
                <a:t>forward  </a:t>
              </a:r>
              <a:r>
                <a:rPr lang="en-US" altLang="zh-CN" sz="1800" b="0">
                  <a:ea typeface="宋体" panose="02010600030101010101" pitchFamily="2" charset="-122"/>
                  <a:sym typeface="Symbol" panose="05050102010706020507" pitchFamily="18" charset="2"/>
                </a:rPr>
                <a:t>at end of second half  </a:t>
              </a: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then  begin</a:t>
              </a:r>
            </a:p>
            <a:p>
              <a:pPr>
                <a:lnSpc>
                  <a:spcPct val="70000"/>
                </a:lnSpc>
                <a:spcBef>
                  <a:spcPct val="50000"/>
                </a:spcBef>
              </a:pP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          </a:t>
              </a:r>
              <a:r>
                <a:rPr lang="en-US" altLang="zh-CN" sz="1800" b="0">
                  <a:ea typeface="宋体" panose="02010600030101010101" pitchFamily="2" charset="-122"/>
                  <a:sym typeface="Symbol" panose="05050102010706020507" pitchFamily="18" charset="2"/>
                </a:rPr>
                <a:t>reload first half ;</a:t>
              </a:r>
            </a:p>
            <a:p>
              <a:pPr>
                <a:lnSpc>
                  <a:spcPct val="70000"/>
                </a:lnSpc>
                <a:spcBef>
                  <a:spcPct val="50000"/>
                </a:spcBef>
              </a:pPr>
              <a:r>
                <a:rPr lang="en-US" altLang="zh-CN" sz="1800" b="0">
                  <a:ea typeface="宋体" panose="02010600030101010101" pitchFamily="2" charset="-122"/>
                  <a:sym typeface="Symbol" panose="05050102010706020507" pitchFamily="18" charset="2"/>
                </a:rPr>
                <a:t>          move  </a:t>
              </a:r>
              <a:r>
                <a:rPr lang="en-US" altLang="zh-CN" sz="1800" b="0" i="1">
                  <a:ea typeface="宋体" panose="02010600030101010101" pitchFamily="2" charset="-122"/>
                  <a:sym typeface="Symbol" panose="05050102010706020507" pitchFamily="18" charset="2"/>
                </a:rPr>
                <a:t>forward  </a:t>
              </a:r>
              <a:r>
                <a:rPr lang="en-US" altLang="zh-CN" sz="1800" b="0">
                  <a:ea typeface="宋体" panose="02010600030101010101" pitchFamily="2" charset="-122"/>
                  <a:sym typeface="Symbol" panose="05050102010706020507" pitchFamily="18" charset="2"/>
                </a:rPr>
                <a:t>to beginning of first half</a:t>
              </a:r>
            </a:p>
            <a:p>
              <a:pPr>
                <a:lnSpc>
                  <a:spcPct val="70000"/>
                </a:lnSpc>
                <a:spcBef>
                  <a:spcPct val="50000"/>
                </a:spcBef>
              </a:pPr>
              <a:r>
                <a:rPr lang="en-US" altLang="zh-CN" sz="1800" b="0">
                  <a:ea typeface="宋体" panose="02010600030101010101" pitchFamily="2" charset="-122"/>
                  <a:sym typeface="Symbol" panose="05050102010706020507" pitchFamily="18" charset="2"/>
                </a:rPr>
                <a:t>    </a:t>
              </a: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end</a:t>
              </a:r>
            </a:p>
            <a:p>
              <a:pPr>
                <a:lnSpc>
                  <a:spcPct val="70000"/>
                </a:lnSpc>
                <a:spcBef>
                  <a:spcPct val="50000"/>
                </a:spcBef>
              </a:pP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else  </a:t>
              </a:r>
              <a:r>
                <a:rPr lang="en-US" altLang="zh-CN" sz="1800" b="0">
                  <a:ea typeface="宋体" panose="02010600030101010101" pitchFamily="2" charset="-122"/>
                  <a:sym typeface="Symbol" panose="05050102010706020507" pitchFamily="18" charset="2"/>
                </a:rPr>
                <a:t>/ * </a:t>
              </a: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eof</a:t>
              </a:r>
              <a:r>
                <a:rPr lang="en-US" altLang="zh-CN" sz="1800" b="0">
                  <a:ea typeface="宋体" panose="02010600030101010101" pitchFamily="2" charset="-122"/>
                  <a:sym typeface="Symbol" panose="05050102010706020507" pitchFamily="18" charset="2"/>
                </a:rPr>
                <a:t> within buffer signifying end of input  * /</a:t>
              </a:r>
            </a:p>
            <a:p>
              <a:pPr>
                <a:lnSpc>
                  <a:spcPct val="70000"/>
                </a:lnSpc>
                <a:spcBef>
                  <a:spcPct val="50000"/>
                </a:spcBef>
              </a:pPr>
              <a:r>
                <a:rPr lang="en-US" altLang="zh-CN" sz="1800" b="0">
                  <a:ea typeface="宋体" panose="02010600030101010101" pitchFamily="2" charset="-122"/>
                  <a:sym typeface="Symbol" panose="05050102010706020507" pitchFamily="18" charset="2"/>
                </a:rPr>
                <a:t>         terminate lexical analysis</a:t>
              </a:r>
            </a:p>
            <a:p>
              <a:pPr>
                <a:lnSpc>
                  <a:spcPct val="70000"/>
                </a:lnSpc>
                <a:spcBef>
                  <a:spcPct val="50000"/>
                </a:spcBef>
              </a:pP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end</a:t>
              </a:r>
              <a:endParaRPr lang="en-US" altLang="zh-CN" sz="1800" b="0" i="1">
                <a:ea typeface="宋体" panose="02010600030101010101" pitchFamily="2" charset="-122"/>
              </a:endParaRPr>
            </a:p>
          </p:txBody>
        </p:sp>
        <p:sp>
          <p:nvSpPr>
            <p:cNvPr id="22545" name="Text Box 74"/>
            <p:cNvSpPr txBox="1">
              <a:spLocks noChangeArrowheads="1"/>
            </p:cNvSpPr>
            <p:nvPr/>
          </p:nvSpPr>
          <p:spPr bwMode="auto">
            <a:xfrm>
              <a:off x="1776" y="3936"/>
              <a:ext cx="196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 b="0">
                  <a:solidFill>
                    <a:srgbClr val="FF5050"/>
                  </a:solidFill>
                  <a:ea typeface="宋体" panose="02010600030101010101" pitchFamily="2" charset="-122"/>
                </a:rPr>
                <a:t>2nd </a:t>
              </a:r>
              <a:r>
                <a:rPr lang="en-US" altLang="zh-CN" sz="1800">
                  <a:solidFill>
                    <a:srgbClr val="FF5050"/>
                  </a:solidFill>
                  <a:ea typeface="宋体" panose="02010600030101010101" pitchFamily="2" charset="-122"/>
                </a:rPr>
                <a:t>eof</a:t>
              </a:r>
              <a:r>
                <a:rPr lang="en-US" altLang="zh-CN" sz="1800" b="0">
                  <a:solidFill>
                    <a:srgbClr val="FF5050"/>
                  </a:solidFill>
                  <a:ea typeface="宋体" panose="02010600030101010101" pitchFamily="2" charset="-122"/>
                </a:rPr>
                <a:t> </a:t>
              </a:r>
              <a:r>
                <a:rPr lang="en-US" altLang="zh-CN" sz="1800" b="0">
                  <a:solidFill>
                    <a:srgbClr val="FF5050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 no more input !</a:t>
              </a:r>
              <a:endParaRPr lang="en-US" altLang="zh-CN" sz="1800" b="0">
                <a:solidFill>
                  <a:srgbClr val="FF505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2546" name="Text Box 75"/>
            <p:cNvSpPr txBox="1">
              <a:spLocks noChangeArrowheads="1"/>
            </p:cNvSpPr>
            <p:nvPr/>
          </p:nvSpPr>
          <p:spPr bwMode="auto">
            <a:xfrm>
              <a:off x="2928" y="2160"/>
              <a:ext cx="12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 b="0">
                  <a:solidFill>
                    <a:srgbClr val="FF5050"/>
                  </a:solidFill>
                  <a:ea typeface="宋体" panose="02010600030101010101" pitchFamily="2" charset="-122"/>
                </a:rPr>
                <a:t>Block I/O</a:t>
              </a:r>
            </a:p>
          </p:txBody>
        </p:sp>
        <p:sp>
          <p:nvSpPr>
            <p:cNvPr id="22547" name="Text Box 76"/>
            <p:cNvSpPr txBox="1">
              <a:spLocks noChangeArrowheads="1"/>
            </p:cNvSpPr>
            <p:nvPr/>
          </p:nvSpPr>
          <p:spPr bwMode="auto">
            <a:xfrm>
              <a:off x="2640" y="2928"/>
              <a:ext cx="12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 b="0">
                  <a:solidFill>
                    <a:srgbClr val="FF5050"/>
                  </a:solidFill>
                  <a:ea typeface="宋体" panose="02010600030101010101" pitchFamily="2" charset="-122"/>
                </a:rPr>
                <a:t>Block I/O</a:t>
              </a:r>
            </a:p>
          </p:txBody>
        </p:sp>
        <p:sp>
          <p:nvSpPr>
            <p:cNvPr id="22548" name="Line 77"/>
            <p:cNvSpPr>
              <a:spLocks noChangeShapeType="1"/>
            </p:cNvSpPr>
            <p:nvPr/>
          </p:nvSpPr>
          <p:spPr bwMode="auto">
            <a:xfrm flipH="1">
              <a:off x="2496" y="3024"/>
              <a:ext cx="144" cy="0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49" name="Line 78"/>
            <p:cNvSpPr>
              <a:spLocks noChangeShapeType="1"/>
            </p:cNvSpPr>
            <p:nvPr/>
          </p:nvSpPr>
          <p:spPr bwMode="auto">
            <a:xfrm flipH="1">
              <a:off x="2736" y="2256"/>
              <a:ext cx="144" cy="0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58479" name="Text Box 79"/>
          <p:cNvSpPr txBox="1">
            <a:spLocks noChangeArrowheads="1"/>
          </p:cNvSpPr>
          <p:nvPr/>
        </p:nvSpPr>
        <p:spPr bwMode="auto">
          <a:xfrm>
            <a:off x="6651625" y="2906713"/>
            <a:ext cx="2647950" cy="222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zh-CN" sz="2000">
                <a:solidFill>
                  <a:srgbClr val="0066FF"/>
                </a:solidFill>
                <a:ea typeface="宋体" panose="02010600030101010101" pitchFamily="2" charset="-122"/>
              </a:rPr>
              <a:t>Algorithm performs </a:t>
            </a:r>
          </a:p>
          <a:p>
            <a:pPr algn="r">
              <a:spcBef>
                <a:spcPct val="50000"/>
              </a:spcBef>
            </a:pPr>
            <a:r>
              <a:rPr lang="en-US" altLang="zh-CN" sz="2000">
                <a:solidFill>
                  <a:srgbClr val="0066FF"/>
                </a:solidFill>
                <a:ea typeface="宋体" panose="02010600030101010101" pitchFamily="2" charset="-122"/>
              </a:rPr>
              <a:t>I/O’s. We can still </a:t>
            </a:r>
          </a:p>
          <a:p>
            <a:pPr algn="r">
              <a:spcBef>
                <a:spcPct val="50000"/>
              </a:spcBef>
            </a:pPr>
            <a:r>
              <a:rPr lang="en-US" altLang="zh-CN" sz="2000">
                <a:solidFill>
                  <a:srgbClr val="0066FF"/>
                </a:solidFill>
                <a:ea typeface="宋体" panose="02010600030101010101" pitchFamily="2" charset="-122"/>
              </a:rPr>
              <a:t>have get &amp; ungetchar</a:t>
            </a:r>
            <a:endParaRPr lang="en-US" altLang="zh-CN" sz="2000">
              <a:solidFill>
                <a:srgbClr val="0066FF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r">
              <a:spcBef>
                <a:spcPct val="50000"/>
              </a:spcBef>
            </a:pPr>
            <a:r>
              <a:rPr lang="en-US" altLang="zh-CN" sz="2000">
                <a:solidFill>
                  <a:srgbClr val="0066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Now these work on</a:t>
            </a:r>
          </a:p>
          <a:p>
            <a:pPr algn="r">
              <a:spcBef>
                <a:spcPct val="50000"/>
              </a:spcBef>
            </a:pPr>
            <a:r>
              <a:rPr lang="en-US" altLang="zh-CN" sz="2000">
                <a:solidFill>
                  <a:srgbClr val="0066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real memory buffers !</a:t>
            </a:r>
            <a:endParaRPr lang="en-US" altLang="zh-CN" sz="2000">
              <a:solidFill>
                <a:srgbClr val="0066FF"/>
              </a:solidFill>
              <a:ea typeface="宋体" panose="02010600030101010101" pitchFamily="2" charset="-122"/>
            </a:endParaRPr>
          </a:p>
        </p:txBody>
      </p:sp>
      <p:sp>
        <p:nvSpPr>
          <p:cNvPr id="22543" name="Text Box 80"/>
          <p:cNvSpPr txBox="1">
            <a:spLocks noChangeArrowheads="1"/>
          </p:cNvSpPr>
          <p:nvPr/>
        </p:nvSpPr>
        <p:spPr bwMode="auto">
          <a:xfrm>
            <a:off x="6796088" y="5373688"/>
            <a:ext cx="23590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zh-CN" sz="2000" b="0">
                <a:ea typeface="宋体" panose="02010600030101010101" pitchFamily="2" charset="-122"/>
              </a:rPr>
              <a:t>Fig.3.6 Lookahead code with sentinels.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84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84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84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84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7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◎2005 ECNU SEI</a:t>
            </a:r>
            <a:endParaRPr lang="en-US" altLang="zh-CN" sz="800" b="0" smtClean="0"/>
          </a:p>
        </p:txBody>
      </p:sp>
      <p:sp>
        <p:nvSpPr>
          <p:cNvPr id="2355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Compilers: Principles, Techniques, and Tools</a:t>
            </a:r>
            <a:endParaRPr lang="en-US" altLang="zh-CN" sz="800" b="0" smtClean="0"/>
          </a:p>
        </p:txBody>
      </p:sp>
      <p:sp>
        <p:nvSpPr>
          <p:cNvPr id="2355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0D90602-425D-4435-8C8D-82B0DD80A1F5}" type="slidenum">
              <a:rPr lang="zh-CN" altLang="en-US" sz="800" b="0"/>
              <a:pPr/>
              <a:t>22</a:t>
            </a:fld>
            <a:endParaRPr lang="en-US" altLang="zh-CN" sz="800" b="0"/>
          </a:p>
        </p:txBody>
      </p:sp>
      <p:sp>
        <p:nvSpPr>
          <p:cNvPr id="23557" name="Rectangle 4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b="0" smtClean="0">
                <a:ea typeface="宋体" panose="02010600030101010101" pitchFamily="2" charset="-122"/>
              </a:rPr>
              <a:t>Character-at-a-time I/O</a:t>
            </a:r>
            <a:r>
              <a:rPr lang="en-US" altLang="zh-CN" sz="4000" smtClean="0">
                <a:ea typeface="宋体" panose="02010600030101010101" pitchFamily="2" charset="-122"/>
              </a:rPr>
              <a:t> </a:t>
            </a:r>
            <a:endParaRPr lang="zh-CN" altLang="en-US" sz="4000" smtClean="0">
              <a:ea typeface="宋体" panose="02010600030101010101" pitchFamily="2" charset="-122"/>
            </a:endParaRPr>
          </a:p>
        </p:txBody>
      </p:sp>
      <p:sp>
        <p:nvSpPr>
          <p:cNvPr id="23558" name="Rectangle 32"/>
          <p:cNvSpPr>
            <a:spLocks noChangeArrowheads="1"/>
          </p:cNvSpPr>
          <p:nvPr/>
        </p:nvSpPr>
        <p:spPr bwMode="auto">
          <a:xfrm>
            <a:off x="0" y="2073275"/>
            <a:ext cx="9906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 b="0">
              <a:ea typeface="宋体" panose="02010600030101010101" pitchFamily="2" charset="-122"/>
            </a:endParaRPr>
          </a:p>
        </p:txBody>
      </p:sp>
      <p:sp>
        <p:nvSpPr>
          <p:cNvPr id="23559" name="Rectangle 38"/>
          <p:cNvSpPr>
            <a:spLocks noChangeArrowheads="1"/>
          </p:cNvSpPr>
          <p:nvPr/>
        </p:nvSpPr>
        <p:spPr bwMode="auto">
          <a:xfrm>
            <a:off x="0" y="2073275"/>
            <a:ext cx="9906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 b="0">
              <a:ea typeface="宋体" panose="02010600030101010101" pitchFamily="2" charset="-122"/>
            </a:endParaRPr>
          </a:p>
        </p:txBody>
      </p:sp>
      <p:graphicFrame>
        <p:nvGraphicFramePr>
          <p:cNvPr id="23560" name="Object 39"/>
          <p:cNvGraphicFramePr>
            <a:graphicFrameLocks noChangeAspect="1"/>
          </p:cNvGraphicFramePr>
          <p:nvPr>
            <p:ph idx="1"/>
          </p:nvPr>
        </p:nvGraphicFramePr>
        <p:xfrm>
          <a:off x="344488" y="1247775"/>
          <a:ext cx="9217025" cy="4960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1" name="Visio" r:id="rId3" imgW="4163263" imgH="2241194" progId="Visio.Drawing.6">
                  <p:embed/>
                </p:oleObj>
              </mc:Choice>
              <mc:Fallback>
                <p:oleObj name="Visio" r:id="rId3" imgW="4163263" imgH="2241194" progId="Visio.Drawing.6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488" y="1247775"/>
                        <a:ext cx="9217025" cy="4960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日期占位符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◎2005 ECNU SEI</a:t>
            </a:r>
            <a:endParaRPr lang="en-US" altLang="zh-CN" sz="800" b="0" smtClean="0"/>
          </a:p>
        </p:txBody>
      </p:sp>
      <p:sp>
        <p:nvSpPr>
          <p:cNvPr id="24579" name="页脚占位符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Compilers: Principles, Techniques, and Tools</a:t>
            </a:r>
            <a:endParaRPr lang="en-US" altLang="zh-CN" sz="800" b="0" smtClean="0"/>
          </a:p>
        </p:txBody>
      </p:sp>
      <p:sp>
        <p:nvSpPr>
          <p:cNvPr id="24580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EB8DBFF-E238-460A-A4D2-ACAD62AD3DFE}" type="slidenum">
              <a:rPr lang="zh-CN" altLang="en-US" sz="800" b="0"/>
              <a:pPr/>
              <a:t>23</a:t>
            </a:fld>
            <a:endParaRPr lang="en-US" altLang="zh-CN" sz="800" b="0"/>
          </a:p>
        </p:txBody>
      </p:sp>
      <p:sp>
        <p:nvSpPr>
          <p:cNvPr id="24581" name="Rectangle 2"/>
          <p:cNvSpPr>
            <a:spLocks noGrp="1" noChangeArrowheads="1"/>
          </p:cNvSpPr>
          <p:nvPr>
            <p:ph type="title"/>
          </p:nvPr>
        </p:nvSpPr>
        <p:spPr>
          <a:xfrm>
            <a:off x="382588" y="152400"/>
            <a:ext cx="9371012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3.3 Specification of tokens (P.92) </a:t>
            </a:r>
          </a:p>
        </p:txBody>
      </p:sp>
      <p:sp>
        <p:nvSpPr>
          <p:cNvPr id="24582" name="Rectangle 3"/>
          <p:cNvSpPr>
            <a:spLocks noChangeArrowheads="1"/>
          </p:cNvSpPr>
          <p:nvPr/>
        </p:nvSpPr>
        <p:spPr bwMode="auto">
          <a:xfrm>
            <a:off x="992188" y="836613"/>
            <a:ext cx="8281987" cy="1373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sz="2800">
                <a:solidFill>
                  <a:schemeClr val="tx2"/>
                </a:solidFill>
                <a:ea typeface="宋体" panose="02010600030101010101" pitchFamily="2" charset="-122"/>
              </a:rPr>
              <a:t>Language Concepts</a:t>
            </a:r>
            <a:r>
              <a:rPr lang="en-US" altLang="zh-CN" b="0">
                <a:ea typeface="宋体" panose="02010600030101010101" pitchFamily="2" charset="-122"/>
              </a:rPr>
              <a:t> :</a:t>
            </a:r>
          </a:p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A  </a:t>
            </a:r>
            <a:r>
              <a:rPr lang="en-US" altLang="zh-CN" sz="2800">
                <a:solidFill>
                  <a:srgbClr val="00CC00"/>
                </a:solidFill>
                <a:ea typeface="宋体" panose="02010600030101010101" pitchFamily="2" charset="-122"/>
              </a:rPr>
              <a:t>language, L</a:t>
            </a:r>
            <a:r>
              <a:rPr lang="en-US" altLang="zh-CN" sz="2800">
                <a:ea typeface="宋体" panose="02010600030101010101" pitchFamily="2" charset="-122"/>
              </a:rPr>
              <a:t>, </a:t>
            </a:r>
            <a:r>
              <a:rPr lang="en-US" altLang="zh-CN" sz="2800">
                <a:solidFill>
                  <a:srgbClr val="660066"/>
                </a:solidFill>
                <a:ea typeface="宋体" panose="02010600030101010101" pitchFamily="2" charset="-122"/>
              </a:rPr>
              <a:t>is simply any set of strings over a fixed alphabet.</a:t>
            </a:r>
          </a:p>
        </p:txBody>
      </p:sp>
      <p:sp>
        <p:nvSpPr>
          <p:cNvPr id="24583" name="Text Box 4"/>
          <p:cNvSpPr txBox="1">
            <a:spLocks noChangeArrowheads="1"/>
          </p:cNvSpPr>
          <p:nvPr/>
        </p:nvSpPr>
        <p:spPr bwMode="auto">
          <a:xfrm>
            <a:off x="1320800" y="2057400"/>
            <a:ext cx="2228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Alphabet</a:t>
            </a:r>
          </a:p>
        </p:txBody>
      </p:sp>
      <p:sp>
        <p:nvSpPr>
          <p:cNvPr id="24584" name="Text Box 5"/>
          <p:cNvSpPr txBox="1">
            <a:spLocks noChangeArrowheads="1"/>
          </p:cNvSpPr>
          <p:nvPr/>
        </p:nvSpPr>
        <p:spPr bwMode="auto">
          <a:xfrm>
            <a:off x="4375150" y="2057400"/>
            <a:ext cx="2228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Languages</a:t>
            </a:r>
          </a:p>
        </p:txBody>
      </p:sp>
      <p:sp>
        <p:nvSpPr>
          <p:cNvPr id="368646" name="Text Box 6"/>
          <p:cNvSpPr txBox="1">
            <a:spLocks noChangeArrowheads="1"/>
          </p:cNvSpPr>
          <p:nvPr/>
        </p:nvSpPr>
        <p:spPr bwMode="auto">
          <a:xfrm>
            <a:off x="1073150" y="2667000"/>
            <a:ext cx="8201025" cy="271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sz="2000">
                <a:ea typeface="宋体" panose="02010600030101010101" pitchFamily="2" charset="-122"/>
              </a:rPr>
              <a:t>     </a:t>
            </a:r>
            <a:r>
              <a:rPr lang="en-US" altLang="zh-CN" sz="2000">
                <a:solidFill>
                  <a:srgbClr val="FF5050"/>
                </a:solidFill>
                <a:ea typeface="宋体" panose="02010600030101010101" pitchFamily="2" charset="-122"/>
              </a:rPr>
              <a:t>{0,1}</a:t>
            </a:r>
            <a:r>
              <a:rPr lang="en-US" altLang="zh-CN" sz="2000">
                <a:ea typeface="宋体" panose="02010600030101010101" pitchFamily="2" charset="-122"/>
              </a:rPr>
              <a:t>                               </a:t>
            </a:r>
            <a:r>
              <a:rPr lang="en-US" altLang="zh-CN" sz="2000">
                <a:solidFill>
                  <a:srgbClr val="FF5050"/>
                </a:solidFill>
                <a:ea typeface="宋体" panose="02010600030101010101" pitchFamily="2" charset="-122"/>
              </a:rPr>
              <a:t>{0,10,100,1000,100000…}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sz="2000">
                <a:solidFill>
                  <a:srgbClr val="FF5050"/>
                </a:solidFill>
                <a:ea typeface="宋体" panose="02010600030101010101" pitchFamily="2" charset="-122"/>
              </a:rPr>
              <a:t>                                            {0,1,00,11,000,111,…}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sz="2000">
                <a:ea typeface="宋体" panose="02010600030101010101" pitchFamily="2" charset="-122"/>
              </a:rPr>
              <a:t>     </a:t>
            </a:r>
            <a:r>
              <a:rPr lang="en-US" altLang="zh-CN" sz="2000">
                <a:solidFill>
                  <a:srgbClr val="00CC00"/>
                </a:solidFill>
                <a:ea typeface="宋体" panose="02010600030101010101" pitchFamily="2" charset="-122"/>
              </a:rPr>
              <a:t>{a,b,c}                            {abc,aabbcc,aaabbbccc,…}</a:t>
            </a:r>
            <a:endParaRPr lang="en-US" altLang="zh-CN" sz="2000"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sz="2000">
                <a:ea typeface="宋体" panose="02010600030101010101" pitchFamily="2" charset="-122"/>
              </a:rPr>
              <a:t>     </a:t>
            </a:r>
            <a:r>
              <a:rPr lang="en-US" altLang="zh-CN" sz="2000">
                <a:solidFill>
                  <a:srgbClr val="0066FF"/>
                </a:solidFill>
                <a:ea typeface="宋体" panose="02010600030101010101" pitchFamily="2" charset="-122"/>
              </a:rPr>
              <a:t>{A, … ,Z}                      {TEE,FORE,BALL,…}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sz="2000">
                <a:solidFill>
                  <a:srgbClr val="0066FF"/>
                </a:solidFill>
                <a:ea typeface="宋体" panose="02010600030101010101" pitchFamily="2" charset="-122"/>
              </a:rPr>
              <a:t>                                            {FOR,WHILE,GOTO,…}</a:t>
            </a:r>
            <a:endParaRPr lang="en-US" altLang="zh-CN" sz="2000"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sz="2000">
                <a:ea typeface="宋体" panose="02010600030101010101" pitchFamily="2" charset="-122"/>
              </a:rPr>
              <a:t>     </a:t>
            </a:r>
            <a:r>
              <a:rPr lang="en-US" altLang="zh-CN" sz="2000">
                <a:solidFill>
                  <a:srgbClr val="990000"/>
                </a:solidFill>
                <a:ea typeface="宋体" panose="02010600030101010101" pitchFamily="2" charset="-122"/>
              </a:rPr>
              <a:t>{A,…,Z,a,…,z,0,…9,    { All legal PASCAL progs}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sz="2000">
                <a:solidFill>
                  <a:srgbClr val="990000"/>
                </a:solidFill>
                <a:ea typeface="宋体" panose="02010600030101010101" pitchFamily="2" charset="-122"/>
              </a:rPr>
              <a:t>       +,-,…,&lt;,&gt;,…}              { All grammatically correct English sentences }</a:t>
            </a:r>
          </a:p>
        </p:txBody>
      </p:sp>
      <p:sp>
        <p:nvSpPr>
          <p:cNvPr id="368647" name="Text Box 7"/>
          <p:cNvSpPr txBox="1">
            <a:spLocks noChangeArrowheads="1"/>
          </p:cNvSpPr>
          <p:nvPr/>
        </p:nvSpPr>
        <p:spPr bwMode="auto">
          <a:xfrm>
            <a:off x="1281113" y="5738813"/>
            <a:ext cx="7429500" cy="785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>
                <a:solidFill>
                  <a:srgbClr val="0066FF"/>
                </a:solidFill>
                <a:ea typeface="宋体" panose="02010600030101010101" pitchFamily="2" charset="-122"/>
              </a:rPr>
              <a:t>Special Languages:   </a:t>
            </a:r>
            <a:r>
              <a:rPr lang="en-US" altLang="zh-CN">
                <a:solidFill>
                  <a:srgbClr val="00CC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 - EMPTY LANGUAGE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>
                <a:solidFill>
                  <a:srgbClr val="00CC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                                  {} - contains  string only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68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368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46" grpId="0"/>
      <p:bldP spid="36864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◎2005 ECNU SEI</a:t>
            </a:r>
            <a:endParaRPr lang="en-US" altLang="zh-CN" sz="800" b="0" smtClean="0"/>
          </a:p>
        </p:txBody>
      </p:sp>
      <p:sp>
        <p:nvSpPr>
          <p:cNvPr id="2560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Compilers: Principles, Techniques, and Tools</a:t>
            </a:r>
            <a:endParaRPr lang="en-US" altLang="zh-CN" sz="800" b="0" smtClean="0"/>
          </a:p>
        </p:txBody>
      </p:sp>
      <p:sp>
        <p:nvSpPr>
          <p:cNvPr id="2560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49133F9-D3F7-4E7F-A80B-05C96861B04E}" type="slidenum">
              <a:rPr lang="zh-CN" altLang="en-US" sz="800" b="0"/>
              <a:pPr/>
              <a:t>24</a:t>
            </a:fld>
            <a:endParaRPr lang="en-US" altLang="zh-CN" sz="800" b="0"/>
          </a:p>
        </p:txBody>
      </p:sp>
      <p:sp>
        <p:nvSpPr>
          <p:cNvPr id="256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smtClean="0">
                <a:ea typeface="宋体" panose="02010600030101010101" pitchFamily="2" charset="-122"/>
              </a:rPr>
              <a:t>Terminology of Languages (P.92)</a:t>
            </a:r>
          </a:p>
        </p:txBody>
      </p:sp>
      <p:sp>
        <p:nvSpPr>
          <p:cNvPr id="2560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3200" b="1" smtClean="0">
                <a:solidFill>
                  <a:schemeClr val="accent2"/>
                </a:solidFill>
                <a:ea typeface="宋体" panose="02010600030101010101" pitchFamily="2" charset="-122"/>
              </a:rPr>
              <a:t>Alphabet</a:t>
            </a:r>
            <a:r>
              <a:rPr lang="en-US" altLang="zh-CN" sz="3200" smtClean="0">
                <a:solidFill>
                  <a:schemeClr val="accent2"/>
                </a:solidFill>
                <a:ea typeface="宋体" panose="02010600030101010101" pitchFamily="2" charset="-122"/>
              </a:rPr>
              <a:t> </a:t>
            </a:r>
            <a:r>
              <a:rPr lang="en-US" altLang="zh-CN" sz="3200" smtClean="0">
                <a:ea typeface="宋体" panose="02010600030101010101" pitchFamily="2" charset="-122"/>
              </a:rPr>
              <a:t>: a finite set of symbols  (ASCII characters)</a:t>
            </a:r>
          </a:p>
          <a:p>
            <a:r>
              <a:rPr lang="en-US" altLang="zh-CN" sz="3200" b="1" smtClean="0">
                <a:solidFill>
                  <a:schemeClr val="accent2"/>
                </a:solidFill>
                <a:ea typeface="宋体" panose="02010600030101010101" pitchFamily="2" charset="-122"/>
              </a:rPr>
              <a:t>String</a:t>
            </a:r>
            <a:r>
              <a:rPr lang="en-US" altLang="zh-CN" sz="3200" smtClean="0">
                <a:ea typeface="宋体" panose="02010600030101010101" pitchFamily="2" charset="-122"/>
              </a:rPr>
              <a:t> : </a:t>
            </a:r>
          </a:p>
          <a:p>
            <a:pPr lvl="1"/>
            <a:r>
              <a:rPr lang="en-US" altLang="zh-CN" sz="2800" smtClean="0">
                <a:ea typeface="宋体" panose="02010600030101010101" pitchFamily="2" charset="-122"/>
              </a:rPr>
              <a:t>Finite sequence of symbols on an alphabet</a:t>
            </a:r>
          </a:p>
          <a:p>
            <a:pPr lvl="1"/>
            <a:r>
              <a:rPr lang="en-US" altLang="zh-CN" sz="2800" smtClean="0">
                <a:ea typeface="宋体" panose="02010600030101010101" pitchFamily="2" charset="-122"/>
              </a:rPr>
              <a:t>Sentence and word are also used in terms of string</a:t>
            </a:r>
          </a:p>
          <a:p>
            <a:pPr lvl="1"/>
            <a:r>
              <a:rPr lang="en-US" altLang="zh-CN" sz="2800" b="1" smtClean="0">
                <a:solidFill>
                  <a:srgbClr val="C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  <a:r>
              <a:rPr lang="en-US" altLang="zh-CN" sz="2800" smtClean="0">
                <a:ea typeface="宋体" panose="02010600030101010101" pitchFamily="2" charset="-122"/>
                <a:sym typeface="Symbol" panose="05050102010706020507" pitchFamily="18" charset="2"/>
              </a:rPr>
              <a:t>  is the empty string</a:t>
            </a:r>
          </a:p>
          <a:p>
            <a:pPr lvl="1"/>
            <a:r>
              <a:rPr lang="en-US" altLang="zh-CN" sz="2800" b="1" smtClean="0">
                <a:solidFill>
                  <a:srgbClr val="C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|s|</a:t>
            </a:r>
            <a:r>
              <a:rPr lang="en-US" altLang="zh-CN" sz="2800" smtClean="0">
                <a:ea typeface="宋体" panose="02010600030101010101" pitchFamily="2" charset="-122"/>
                <a:sym typeface="Symbol" panose="05050102010706020507" pitchFamily="18" charset="2"/>
              </a:rPr>
              <a:t> is the length of string s.</a:t>
            </a:r>
          </a:p>
          <a:p>
            <a:pPr lvl="1"/>
            <a:endParaRPr lang="zh-CN" altLang="en-US" sz="2800" smtClean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日期占位符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◎2005 ECNU SEI</a:t>
            </a:r>
            <a:endParaRPr lang="en-US" altLang="zh-CN" sz="800" b="0" smtClean="0"/>
          </a:p>
        </p:txBody>
      </p:sp>
      <p:sp>
        <p:nvSpPr>
          <p:cNvPr id="26627" name="页脚占位符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Compilers: Principles, Techniques, and Tools</a:t>
            </a:r>
            <a:endParaRPr lang="en-US" altLang="zh-CN" sz="800" b="0" smtClean="0"/>
          </a:p>
        </p:txBody>
      </p:sp>
      <p:sp>
        <p:nvSpPr>
          <p:cNvPr id="26628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7760148-C559-4206-841B-C62306307BDA}" type="slidenum">
              <a:rPr lang="zh-CN" altLang="en-US" sz="800" b="0"/>
              <a:pPr/>
              <a:t>25</a:t>
            </a:fld>
            <a:endParaRPr lang="en-US" altLang="zh-CN" sz="800" b="0"/>
          </a:p>
        </p:txBody>
      </p:sp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382588" y="152400"/>
            <a:ext cx="9371012" cy="914400"/>
          </a:xfrm>
        </p:spPr>
        <p:txBody>
          <a:bodyPr/>
          <a:lstStyle/>
          <a:p>
            <a:r>
              <a:rPr lang="en-US" altLang="zh-CN" sz="4000" smtClean="0">
                <a:ea typeface="宋体" panose="02010600030101010101" pitchFamily="2" charset="-122"/>
              </a:rPr>
              <a:t>Terminology of Languages</a:t>
            </a:r>
            <a:r>
              <a:rPr lang="en-US" altLang="zh-CN" b="0" smtClean="0">
                <a:solidFill>
                  <a:schemeClr val="tx1"/>
                </a:solidFill>
                <a:ea typeface="宋体" panose="02010600030101010101" pitchFamily="2" charset="-122"/>
              </a:rPr>
              <a:t>(cont. cf. Fig.3.7)</a:t>
            </a:r>
          </a:p>
        </p:txBody>
      </p:sp>
      <p:sp>
        <p:nvSpPr>
          <p:cNvPr id="26630" name="Text Box 3"/>
          <p:cNvSpPr txBox="1">
            <a:spLocks noChangeArrowheads="1"/>
          </p:cNvSpPr>
          <p:nvPr/>
        </p:nvSpPr>
        <p:spPr bwMode="auto">
          <a:xfrm>
            <a:off x="1403350" y="1371600"/>
            <a:ext cx="660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FF5050"/>
                </a:solidFill>
                <a:ea typeface="宋体" panose="02010600030101010101" pitchFamily="2" charset="-122"/>
              </a:rPr>
              <a:t>EXAMPLES AND OTHER CONCEPTS:</a:t>
            </a:r>
          </a:p>
        </p:txBody>
      </p:sp>
      <p:sp>
        <p:nvSpPr>
          <p:cNvPr id="26631" name="Text Box 4"/>
          <p:cNvSpPr txBox="1">
            <a:spLocks noChangeArrowheads="1"/>
          </p:cNvSpPr>
          <p:nvPr/>
        </p:nvSpPr>
        <p:spPr bwMode="auto">
          <a:xfrm>
            <a:off x="1568450" y="2286000"/>
            <a:ext cx="6108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Suppose:  S is the string  </a:t>
            </a:r>
            <a:r>
              <a:rPr lang="en-US" altLang="zh-CN">
                <a:solidFill>
                  <a:srgbClr val="990000"/>
                </a:solidFill>
                <a:ea typeface="宋体" panose="02010600030101010101" pitchFamily="2" charset="-122"/>
              </a:rPr>
              <a:t>banana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365573" name="Text Box 5"/>
          <p:cNvSpPr txBox="1">
            <a:spLocks noChangeArrowheads="1"/>
          </p:cNvSpPr>
          <p:nvPr/>
        </p:nvSpPr>
        <p:spPr bwMode="auto">
          <a:xfrm>
            <a:off x="992188" y="3213100"/>
            <a:ext cx="4951412" cy="2128838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00CC00"/>
                </a:solidFill>
                <a:ea typeface="宋体" panose="02010600030101010101" pitchFamily="2" charset="-122"/>
              </a:rPr>
              <a:t>Prefix  :  </a:t>
            </a:r>
            <a:r>
              <a:rPr lang="en-US" altLang="zh-CN">
                <a:solidFill>
                  <a:schemeClr val="tx2"/>
                </a:solidFill>
                <a:ea typeface="宋体" panose="02010600030101010101" pitchFamily="2" charset="-122"/>
              </a:rPr>
              <a:t>ban,  banana</a:t>
            </a:r>
          </a:p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00CC00"/>
                </a:solidFill>
                <a:ea typeface="宋体" panose="02010600030101010101" pitchFamily="2" charset="-122"/>
              </a:rPr>
              <a:t>Suffix  :  </a:t>
            </a:r>
            <a:r>
              <a:rPr lang="en-US" altLang="zh-CN">
                <a:ea typeface="宋体" panose="02010600030101010101" pitchFamily="2" charset="-122"/>
              </a:rPr>
              <a:t>ana, banana</a:t>
            </a:r>
          </a:p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00CC00"/>
                </a:solidFill>
                <a:ea typeface="宋体" panose="02010600030101010101" pitchFamily="2" charset="-122"/>
              </a:rPr>
              <a:t>Substring :  </a:t>
            </a:r>
            <a:r>
              <a:rPr lang="en-US" altLang="zh-CN">
                <a:ea typeface="宋体" panose="02010600030101010101" pitchFamily="2" charset="-122"/>
              </a:rPr>
              <a:t>nan, ban, ana, banana</a:t>
            </a:r>
          </a:p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00CC00"/>
                </a:solidFill>
                <a:ea typeface="宋体" panose="02010600030101010101" pitchFamily="2" charset="-122"/>
              </a:rPr>
              <a:t>Subsequence: </a:t>
            </a:r>
            <a:r>
              <a:rPr lang="en-US" altLang="zh-CN">
                <a:ea typeface="宋体" panose="02010600030101010101" pitchFamily="2" charset="-122"/>
              </a:rPr>
              <a:t>bnan, nn</a:t>
            </a:r>
            <a:endParaRPr lang="en-US" altLang="zh-CN">
              <a:solidFill>
                <a:srgbClr val="00CC00"/>
              </a:solidFill>
              <a:ea typeface="宋体" panose="02010600030101010101" pitchFamily="2" charset="-122"/>
            </a:endParaRPr>
          </a:p>
        </p:txBody>
      </p:sp>
      <p:sp>
        <p:nvSpPr>
          <p:cNvPr id="365574" name="Text Box 6"/>
          <p:cNvSpPr txBox="1">
            <a:spLocks noChangeArrowheads="1"/>
          </p:cNvSpPr>
          <p:nvPr/>
        </p:nvSpPr>
        <p:spPr bwMode="auto">
          <a:xfrm>
            <a:off x="6356350" y="3657600"/>
            <a:ext cx="321945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FF00FF"/>
                </a:solidFill>
                <a:ea typeface="宋体" panose="02010600030101010101" pitchFamily="2" charset="-122"/>
              </a:rPr>
              <a:t>Proper</a:t>
            </a:r>
            <a:r>
              <a:rPr lang="en-US" altLang="zh-CN">
                <a:ea typeface="宋体" panose="02010600030101010101" pitchFamily="2" charset="-122"/>
              </a:rPr>
              <a:t> prefix, subfix, or substring </a:t>
            </a:r>
            <a:r>
              <a:rPr lang="en-US" altLang="zh-CN" b="0" i="1">
                <a:ea typeface="宋体" panose="02010600030101010101" pitchFamily="2" charset="-122"/>
              </a:rPr>
              <a:t>cannot</a:t>
            </a:r>
            <a:r>
              <a:rPr lang="en-US" altLang="zh-CN">
                <a:ea typeface="宋体" panose="02010600030101010101" pitchFamily="2" charset="-122"/>
              </a:rPr>
              <a:t> be </a:t>
            </a:r>
            <a:r>
              <a:rPr lang="en-US" altLang="zh-CN" b="0"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  <a:r>
              <a:rPr lang="en-US" altLang="zh-CN">
                <a:ea typeface="宋体" panose="02010600030101010101" pitchFamily="2" charset="-122"/>
              </a:rPr>
              <a:t> or all of S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65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65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655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655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5573" grpId="0" animBg="1"/>
      <p:bldP spid="36557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◎2005 ECNU SEI</a:t>
            </a:r>
            <a:endParaRPr lang="en-US" altLang="zh-CN" sz="800" b="0" smtClean="0"/>
          </a:p>
        </p:txBody>
      </p:sp>
      <p:sp>
        <p:nvSpPr>
          <p:cNvPr id="2765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Compilers: Principles, Techniques, and Tools</a:t>
            </a:r>
            <a:endParaRPr lang="en-US" altLang="zh-CN" sz="800" b="0" smtClean="0"/>
          </a:p>
        </p:txBody>
      </p:sp>
      <p:sp>
        <p:nvSpPr>
          <p:cNvPr id="2765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35EFAF2-5F64-488B-BCA9-B3000DD97FE9}" type="slidenum">
              <a:rPr lang="zh-CN" altLang="en-US" sz="800" b="0"/>
              <a:pPr/>
              <a:t>26</a:t>
            </a:fld>
            <a:endParaRPr lang="en-US" altLang="zh-CN" sz="800" b="0"/>
          </a:p>
        </p:txBody>
      </p:sp>
      <p:sp>
        <p:nvSpPr>
          <p:cNvPr id="276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smtClean="0">
                <a:ea typeface="宋体" panose="02010600030101010101" pitchFamily="2" charset="-122"/>
              </a:rPr>
              <a:t>Terminology of Languages (cont.)</a:t>
            </a:r>
            <a:endParaRPr lang="zh-CN" altLang="en-US" sz="4000" b="0" smtClean="0">
              <a:ea typeface="宋体" panose="02010600030101010101" pitchFamily="2" charset="-122"/>
            </a:endParaRPr>
          </a:p>
        </p:txBody>
      </p:sp>
      <p:sp>
        <p:nvSpPr>
          <p:cNvPr id="2765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3200" b="1" smtClean="0">
                <a:ea typeface="宋体" panose="02010600030101010101" pitchFamily="2" charset="-122"/>
              </a:rPr>
              <a:t>Language</a:t>
            </a:r>
            <a:r>
              <a:rPr lang="en-US" altLang="zh-CN" sz="3200" smtClean="0">
                <a:ea typeface="宋体" panose="02010600030101010101" pitchFamily="2" charset="-122"/>
              </a:rPr>
              <a:t>: </a:t>
            </a:r>
            <a:r>
              <a:rPr lang="en-US" altLang="zh-CN" sz="3200" smtClean="0">
                <a:solidFill>
                  <a:schemeClr val="accent2"/>
                </a:solidFill>
                <a:ea typeface="宋体" panose="02010600030101010101" pitchFamily="2" charset="-122"/>
              </a:rPr>
              <a:t>sets of strings over some fixed alphabet</a:t>
            </a:r>
          </a:p>
          <a:p>
            <a:pPr lvl="1"/>
            <a:r>
              <a:rPr lang="en-US" altLang="zh-CN" sz="2800" smtClean="0">
                <a:ea typeface="宋体" panose="02010600030101010101" pitchFamily="2" charset="-122"/>
                <a:sym typeface="Symbol" panose="05050102010706020507" pitchFamily="18" charset="2"/>
              </a:rPr>
              <a:t> the empty set is a language.</a:t>
            </a:r>
          </a:p>
          <a:p>
            <a:pPr lvl="1"/>
            <a:r>
              <a:rPr lang="en-US" altLang="zh-CN" sz="2800" smtClean="0">
                <a:ea typeface="宋体" panose="02010600030101010101" pitchFamily="2" charset="-122"/>
                <a:sym typeface="Symbol" panose="05050102010706020507" pitchFamily="18" charset="2"/>
              </a:rPr>
              <a:t>{} the set containing empty string is a language</a:t>
            </a:r>
          </a:p>
          <a:p>
            <a:pPr lvl="1"/>
            <a:r>
              <a:rPr lang="en-US" altLang="zh-CN" sz="2800" smtClean="0">
                <a:ea typeface="宋体" panose="02010600030101010101" pitchFamily="2" charset="-122"/>
                <a:sym typeface="Symbol" panose="05050102010706020507" pitchFamily="18" charset="2"/>
              </a:rPr>
              <a:t>The set of all possible identifiers is a language.</a:t>
            </a:r>
          </a:p>
          <a:p>
            <a:r>
              <a:rPr lang="en-US" altLang="zh-CN" sz="3200" b="1" smtClean="0">
                <a:ea typeface="宋体" panose="02010600030101010101" pitchFamily="2" charset="-122"/>
                <a:sym typeface="Symbol" panose="05050102010706020507" pitchFamily="18" charset="2"/>
              </a:rPr>
              <a:t>Operators on Strings</a:t>
            </a:r>
            <a:r>
              <a:rPr lang="en-US" altLang="zh-CN" sz="3200" smtClean="0">
                <a:ea typeface="宋体" panose="02010600030101010101" pitchFamily="2" charset="-122"/>
                <a:sym typeface="Symbol" panose="05050102010706020507" pitchFamily="18" charset="2"/>
              </a:rPr>
              <a:t>:</a:t>
            </a:r>
          </a:p>
          <a:p>
            <a:pPr lvl="1"/>
            <a:r>
              <a:rPr lang="en-US" altLang="zh-CN" sz="2800" i="1" smtClean="0">
                <a:ea typeface="宋体" panose="02010600030101010101" pitchFamily="2" charset="-122"/>
                <a:sym typeface="Symbol" panose="05050102010706020507" pitchFamily="18" charset="2"/>
              </a:rPr>
              <a:t>Concatenation</a:t>
            </a:r>
            <a:r>
              <a:rPr lang="en-US" altLang="zh-CN" sz="2800" smtClean="0">
                <a:ea typeface="宋体" panose="02010600030101010101" pitchFamily="2" charset="-122"/>
                <a:sym typeface="Symbol" panose="05050102010706020507" pitchFamily="18" charset="2"/>
              </a:rPr>
              <a:t>:  xy represents the concatenation of strings x and y.  s   = s         s = s</a:t>
            </a:r>
          </a:p>
          <a:p>
            <a:pPr lvl="1"/>
            <a:r>
              <a:rPr lang="en-US" altLang="zh-CN" sz="2800" smtClean="0"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sz="2800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28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  =  </a:t>
            </a:r>
            <a:r>
              <a:rPr lang="en-US" altLang="zh-CN" sz="2800" smtClean="0">
                <a:ea typeface="宋体" panose="02010600030101010101" pitchFamily="2" charset="-122"/>
                <a:sym typeface="Symbol" panose="05050102010706020507" pitchFamily="18" charset="2"/>
              </a:rPr>
              <a:t>s s s .. s ( n times)     s</a:t>
            </a:r>
            <a:r>
              <a:rPr lang="en-US" altLang="zh-CN" sz="2800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0</a:t>
            </a:r>
            <a:r>
              <a:rPr lang="en-US" altLang="zh-CN" sz="28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  = </a:t>
            </a:r>
            <a:r>
              <a:rPr lang="en-US" altLang="zh-CN" sz="2800" smtClean="0">
                <a:ea typeface="宋体" panose="02010600030101010101" pitchFamily="2" charset="-122"/>
                <a:sym typeface="Symbol" panose="05050102010706020507" pitchFamily="18" charset="2"/>
              </a:rPr>
              <a:t>     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日期占位符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◎2005 ECNU SEI</a:t>
            </a:r>
            <a:endParaRPr lang="en-US" altLang="zh-CN" sz="800" b="0" smtClean="0"/>
          </a:p>
        </p:txBody>
      </p:sp>
      <p:sp>
        <p:nvSpPr>
          <p:cNvPr id="28675" name="页脚占位符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Compilers: Principles, Techniques, and Tools</a:t>
            </a:r>
            <a:endParaRPr lang="en-US" altLang="zh-CN" sz="800" b="0" smtClean="0"/>
          </a:p>
        </p:txBody>
      </p:sp>
      <p:sp>
        <p:nvSpPr>
          <p:cNvPr id="28676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15E5D72-B5F6-4F23-A537-77B68B4B6F94}" type="slidenum">
              <a:rPr lang="zh-CN" altLang="en-US" sz="800" b="0"/>
              <a:pPr/>
              <a:t>27</a:t>
            </a:fld>
            <a:endParaRPr lang="en-US" altLang="zh-CN" sz="800" b="0"/>
          </a:p>
        </p:txBody>
      </p:sp>
      <p:sp>
        <p:nvSpPr>
          <p:cNvPr id="28677" name="Rectangle 2"/>
          <p:cNvSpPr>
            <a:spLocks noGrp="1" noChangeArrowheads="1"/>
          </p:cNvSpPr>
          <p:nvPr>
            <p:ph type="title"/>
          </p:nvPr>
        </p:nvSpPr>
        <p:spPr>
          <a:xfrm>
            <a:off x="382588" y="152400"/>
            <a:ext cx="9371012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Operations on Languages (P.93) </a:t>
            </a:r>
          </a:p>
        </p:txBody>
      </p:sp>
      <p:grpSp>
        <p:nvGrpSpPr>
          <p:cNvPr id="28678" name="Group 3"/>
          <p:cNvGrpSpPr>
            <a:grpSpLocks/>
          </p:cNvGrpSpPr>
          <p:nvPr/>
        </p:nvGrpSpPr>
        <p:grpSpPr bwMode="auto">
          <a:xfrm>
            <a:off x="776288" y="1557338"/>
            <a:ext cx="8420100" cy="3937000"/>
            <a:chOff x="192" y="768"/>
            <a:chExt cx="3888" cy="1975"/>
          </a:xfrm>
        </p:grpSpPr>
        <p:sp>
          <p:nvSpPr>
            <p:cNvPr id="28680" name="Line 4"/>
            <p:cNvSpPr>
              <a:spLocks noChangeShapeType="1"/>
            </p:cNvSpPr>
            <p:nvPr/>
          </p:nvSpPr>
          <p:spPr bwMode="auto">
            <a:xfrm>
              <a:off x="192" y="768"/>
              <a:ext cx="38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81" name="Line 5"/>
            <p:cNvSpPr>
              <a:spLocks noChangeShapeType="1"/>
            </p:cNvSpPr>
            <p:nvPr/>
          </p:nvSpPr>
          <p:spPr bwMode="auto">
            <a:xfrm>
              <a:off x="192" y="816"/>
              <a:ext cx="38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82" name="Line 6"/>
            <p:cNvSpPr>
              <a:spLocks noChangeShapeType="1"/>
            </p:cNvSpPr>
            <p:nvPr/>
          </p:nvSpPr>
          <p:spPr bwMode="auto">
            <a:xfrm>
              <a:off x="192" y="1008"/>
              <a:ext cx="38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83" name="Line 7"/>
            <p:cNvSpPr>
              <a:spLocks noChangeShapeType="1"/>
            </p:cNvSpPr>
            <p:nvPr/>
          </p:nvSpPr>
          <p:spPr bwMode="auto">
            <a:xfrm>
              <a:off x="192" y="1344"/>
              <a:ext cx="38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84" name="Line 8"/>
            <p:cNvSpPr>
              <a:spLocks noChangeShapeType="1"/>
            </p:cNvSpPr>
            <p:nvPr/>
          </p:nvSpPr>
          <p:spPr bwMode="auto">
            <a:xfrm>
              <a:off x="192" y="1680"/>
              <a:ext cx="38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85" name="Line 9"/>
            <p:cNvSpPr>
              <a:spLocks noChangeShapeType="1"/>
            </p:cNvSpPr>
            <p:nvPr/>
          </p:nvSpPr>
          <p:spPr bwMode="auto">
            <a:xfrm>
              <a:off x="192" y="2208"/>
              <a:ext cx="38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86" name="Line 10"/>
            <p:cNvSpPr>
              <a:spLocks noChangeShapeType="1"/>
            </p:cNvSpPr>
            <p:nvPr/>
          </p:nvSpPr>
          <p:spPr bwMode="auto">
            <a:xfrm>
              <a:off x="192" y="2736"/>
              <a:ext cx="38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87" name="Line 11"/>
            <p:cNvSpPr>
              <a:spLocks noChangeShapeType="1"/>
            </p:cNvSpPr>
            <p:nvPr/>
          </p:nvSpPr>
          <p:spPr bwMode="auto">
            <a:xfrm>
              <a:off x="1344" y="816"/>
              <a:ext cx="0" cy="19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88" name="Text Box 12"/>
            <p:cNvSpPr txBox="1">
              <a:spLocks noChangeArrowheads="1"/>
            </p:cNvSpPr>
            <p:nvPr/>
          </p:nvSpPr>
          <p:spPr bwMode="auto">
            <a:xfrm>
              <a:off x="192" y="816"/>
              <a:ext cx="1104" cy="1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>
                  <a:ea typeface="宋体" panose="02010600030101010101" pitchFamily="2" charset="-122"/>
                </a:rPr>
                <a:t>OPERATION</a:t>
              </a:r>
            </a:p>
          </p:txBody>
        </p:sp>
        <p:sp>
          <p:nvSpPr>
            <p:cNvPr id="28689" name="Text Box 13"/>
            <p:cNvSpPr txBox="1">
              <a:spLocks noChangeArrowheads="1"/>
            </p:cNvSpPr>
            <p:nvPr/>
          </p:nvSpPr>
          <p:spPr bwMode="auto">
            <a:xfrm>
              <a:off x="1344" y="816"/>
              <a:ext cx="2736" cy="1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000">
                  <a:ea typeface="宋体" panose="02010600030101010101" pitchFamily="2" charset="-122"/>
                </a:rPr>
                <a:t>DEFINITION</a:t>
              </a:r>
            </a:p>
          </p:txBody>
        </p:sp>
        <p:sp>
          <p:nvSpPr>
            <p:cNvPr id="28690" name="Text Box 14"/>
            <p:cNvSpPr txBox="1">
              <a:spLocks noChangeArrowheads="1"/>
            </p:cNvSpPr>
            <p:nvPr/>
          </p:nvSpPr>
          <p:spPr bwMode="auto">
            <a:xfrm>
              <a:off x="192" y="1008"/>
              <a:ext cx="1152" cy="3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sz="2000" i="1">
                  <a:ea typeface="宋体" panose="02010600030101010101" pitchFamily="2" charset="-122"/>
                </a:rPr>
                <a:t>union</a:t>
              </a:r>
              <a:r>
                <a:rPr lang="en-US" altLang="zh-CN" sz="2000">
                  <a:ea typeface="宋体" panose="02010600030101010101" pitchFamily="2" charset="-122"/>
                </a:rPr>
                <a:t> of L and M written  L </a:t>
              </a:r>
              <a:r>
                <a:rPr lang="en-US" altLang="zh-CN" sz="2000">
                  <a:ea typeface="宋体" panose="02010600030101010101" pitchFamily="2" charset="-122"/>
                  <a:sym typeface="Symbol" panose="05050102010706020507" pitchFamily="18" charset="2"/>
                </a:rPr>
                <a:t> M</a:t>
              </a:r>
              <a:endParaRPr lang="en-US" altLang="zh-CN" sz="2000" i="1">
                <a:ea typeface="宋体" panose="02010600030101010101" pitchFamily="2" charset="-122"/>
              </a:endParaRPr>
            </a:p>
          </p:txBody>
        </p:sp>
        <p:sp>
          <p:nvSpPr>
            <p:cNvPr id="28691" name="Text Box 15"/>
            <p:cNvSpPr txBox="1">
              <a:spLocks noChangeArrowheads="1"/>
            </p:cNvSpPr>
            <p:nvPr/>
          </p:nvSpPr>
          <p:spPr bwMode="auto">
            <a:xfrm>
              <a:off x="192" y="1344"/>
              <a:ext cx="1152" cy="3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sz="2000" i="1">
                  <a:ea typeface="宋体" panose="02010600030101010101" pitchFamily="2" charset="-122"/>
                </a:rPr>
                <a:t>concatenation o</a:t>
              </a:r>
              <a:r>
                <a:rPr lang="en-US" altLang="zh-CN" sz="2000">
                  <a:ea typeface="宋体" panose="02010600030101010101" pitchFamily="2" charset="-122"/>
                </a:rPr>
                <a:t>f L and M written  LM</a:t>
              </a:r>
              <a:endParaRPr lang="en-US" altLang="zh-CN" sz="2000" i="1">
                <a:ea typeface="宋体" panose="02010600030101010101" pitchFamily="2" charset="-122"/>
              </a:endParaRPr>
            </a:p>
          </p:txBody>
        </p:sp>
        <p:sp>
          <p:nvSpPr>
            <p:cNvPr id="28692" name="Text Box 16"/>
            <p:cNvSpPr txBox="1">
              <a:spLocks noChangeArrowheads="1"/>
            </p:cNvSpPr>
            <p:nvPr/>
          </p:nvSpPr>
          <p:spPr bwMode="auto">
            <a:xfrm>
              <a:off x="192" y="1680"/>
              <a:ext cx="1152" cy="3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sz="2000" i="1">
                  <a:ea typeface="宋体" panose="02010600030101010101" pitchFamily="2" charset="-122"/>
                </a:rPr>
                <a:t>Kleene closure</a:t>
              </a:r>
              <a:r>
                <a:rPr lang="en-US" altLang="zh-CN" sz="2000">
                  <a:ea typeface="宋体" panose="02010600030101010101" pitchFamily="2" charset="-122"/>
                </a:rPr>
                <a:t> of L   written L*</a:t>
              </a:r>
              <a:endParaRPr lang="en-US" altLang="zh-CN" sz="2000" i="1">
                <a:ea typeface="宋体" panose="02010600030101010101" pitchFamily="2" charset="-122"/>
              </a:endParaRPr>
            </a:p>
          </p:txBody>
        </p:sp>
        <p:sp>
          <p:nvSpPr>
            <p:cNvPr id="28693" name="Text Box 17"/>
            <p:cNvSpPr txBox="1">
              <a:spLocks noChangeArrowheads="1"/>
            </p:cNvSpPr>
            <p:nvPr/>
          </p:nvSpPr>
          <p:spPr bwMode="auto">
            <a:xfrm>
              <a:off x="192" y="2208"/>
              <a:ext cx="1152" cy="3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sz="2000" i="1">
                  <a:ea typeface="宋体" panose="02010600030101010101" pitchFamily="2" charset="-122"/>
                </a:rPr>
                <a:t>positive closure</a:t>
              </a:r>
              <a:r>
                <a:rPr lang="en-US" altLang="zh-CN" sz="2000">
                  <a:ea typeface="宋体" panose="02010600030101010101" pitchFamily="2" charset="-122"/>
                </a:rPr>
                <a:t> of L written  L</a:t>
              </a:r>
              <a:r>
                <a:rPr lang="en-US" altLang="zh-CN" sz="2000" baseline="30000">
                  <a:ea typeface="宋体" panose="02010600030101010101" pitchFamily="2" charset="-122"/>
                </a:rPr>
                <a:t>+</a:t>
              </a:r>
              <a:endParaRPr lang="en-US" altLang="zh-CN" sz="2000" i="1">
                <a:ea typeface="宋体" panose="02010600030101010101" pitchFamily="2" charset="-122"/>
              </a:endParaRPr>
            </a:p>
          </p:txBody>
        </p:sp>
        <p:sp>
          <p:nvSpPr>
            <p:cNvPr id="28694" name="Text Box 18"/>
            <p:cNvSpPr txBox="1">
              <a:spLocks noChangeArrowheads="1"/>
            </p:cNvSpPr>
            <p:nvPr/>
          </p:nvSpPr>
          <p:spPr bwMode="auto">
            <a:xfrm>
              <a:off x="1344" y="1008"/>
              <a:ext cx="2736" cy="1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000">
                  <a:ea typeface="宋体" panose="02010600030101010101" pitchFamily="2" charset="-122"/>
                </a:rPr>
                <a:t>L </a:t>
              </a:r>
              <a:r>
                <a:rPr lang="en-US" altLang="zh-CN" sz="2000">
                  <a:ea typeface="宋体" panose="02010600030101010101" pitchFamily="2" charset="-122"/>
                  <a:sym typeface="Symbol" panose="05050102010706020507" pitchFamily="18" charset="2"/>
                </a:rPr>
                <a:t> M = {s | s is in L or s is in M}</a:t>
              </a:r>
              <a:endParaRPr lang="en-US" altLang="zh-CN" sz="2000">
                <a:ea typeface="宋体" panose="02010600030101010101" pitchFamily="2" charset="-122"/>
              </a:endParaRPr>
            </a:p>
          </p:txBody>
        </p:sp>
        <p:sp>
          <p:nvSpPr>
            <p:cNvPr id="28695" name="Text Box 19"/>
            <p:cNvSpPr txBox="1">
              <a:spLocks noChangeArrowheads="1"/>
            </p:cNvSpPr>
            <p:nvPr/>
          </p:nvSpPr>
          <p:spPr bwMode="auto">
            <a:xfrm>
              <a:off x="1344" y="1344"/>
              <a:ext cx="2736" cy="1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000">
                  <a:ea typeface="宋体" panose="02010600030101010101" pitchFamily="2" charset="-122"/>
                </a:rPr>
                <a:t>L</a:t>
              </a:r>
              <a:r>
                <a:rPr lang="en-US" altLang="zh-CN" sz="2000">
                  <a:ea typeface="宋体" panose="02010600030101010101" pitchFamily="2" charset="-122"/>
                  <a:sym typeface="Symbol" panose="05050102010706020507" pitchFamily="18" charset="2"/>
                </a:rPr>
                <a:t>M = {st | s is in L and t is in M}</a:t>
              </a:r>
              <a:endParaRPr lang="en-US" altLang="zh-CN" sz="2000">
                <a:ea typeface="宋体" panose="02010600030101010101" pitchFamily="2" charset="-122"/>
              </a:endParaRPr>
            </a:p>
          </p:txBody>
        </p:sp>
        <p:sp>
          <p:nvSpPr>
            <p:cNvPr id="28696" name="Text Box 20"/>
            <p:cNvSpPr txBox="1">
              <a:spLocks noChangeArrowheads="1"/>
            </p:cNvSpPr>
            <p:nvPr/>
          </p:nvSpPr>
          <p:spPr bwMode="auto">
            <a:xfrm>
              <a:off x="1344" y="2304"/>
              <a:ext cx="2736" cy="1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000">
                  <a:ea typeface="宋体" panose="02010600030101010101" pitchFamily="2" charset="-122"/>
                </a:rPr>
                <a:t>L</a:t>
              </a:r>
              <a:r>
                <a:rPr lang="en-US" altLang="zh-CN" sz="2000" baseline="30000">
                  <a:ea typeface="宋体" panose="02010600030101010101" pitchFamily="2" charset="-122"/>
                </a:rPr>
                <a:t>+</a:t>
              </a:r>
              <a:r>
                <a:rPr lang="en-US" altLang="zh-CN" sz="2000">
                  <a:ea typeface="宋体" panose="02010600030101010101" pitchFamily="2" charset="-122"/>
                  <a:sym typeface="Symbol" panose="05050102010706020507" pitchFamily="18" charset="2"/>
                </a:rPr>
                <a:t>= </a:t>
              </a:r>
              <a:endParaRPr lang="en-US" altLang="zh-CN" sz="2000">
                <a:ea typeface="宋体" panose="02010600030101010101" pitchFamily="2" charset="-122"/>
              </a:endParaRPr>
            </a:p>
          </p:txBody>
        </p:sp>
        <p:graphicFrame>
          <p:nvGraphicFramePr>
            <p:cNvPr id="28697" name="Object 21"/>
            <p:cNvGraphicFramePr>
              <a:graphicFrameLocks noChangeAspect="1"/>
            </p:cNvGraphicFramePr>
            <p:nvPr/>
          </p:nvGraphicFramePr>
          <p:xfrm>
            <a:off x="2832" y="1680"/>
            <a:ext cx="267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02" name="Equation" r:id="rId4" imgW="342751" imgH="431613" progId="Equation.3">
                    <p:embed/>
                  </p:oleObj>
                </mc:Choice>
                <mc:Fallback>
                  <p:oleObj name="Equation" r:id="rId4" imgW="342751" imgH="431613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2" y="1680"/>
                          <a:ext cx="267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98" name="Text Box 22"/>
            <p:cNvSpPr txBox="1">
              <a:spLocks noChangeArrowheads="1"/>
            </p:cNvSpPr>
            <p:nvPr/>
          </p:nvSpPr>
          <p:spPr bwMode="auto">
            <a:xfrm>
              <a:off x="1344" y="2016"/>
              <a:ext cx="2544" cy="1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800">
                  <a:ea typeface="宋体" panose="02010600030101010101" pitchFamily="2" charset="-122"/>
                </a:rPr>
                <a:t>L* denotes “zero or more concatenations of “ L</a:t>
              </a:r>
            </a:p>
          </p:txBody>
        </p:sp>
        <p:sp>
          <p:nvSpPr>
            <p:cNvPr id="28699" name="Text Box 23"/>
            <p:cNvSpPr txBox="1">
              <a:spLocks noChangeArrowheads="1"/>
            </p:cNvSpPr>
            <p:nvPr/>
          </p:nvSpPr>
          <p:spPr bwMode="auto">
            <a:xfrm>
              <a:off x="1344" y="1728"/>
              <a:ext cx="2736" cy="1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000">
                  <a:ea typeface="宋体" panose="02010600030101010101" pitchFamily="2" charset="-122"/>
                </a:rPr>
                <a:t>L*</a:t>
              </a:r>
              <a:r>
                <a:rPr lang="en-US" altLang="zh-CN" sz="2000">
                  <a:ea typeface="宋体" panose="02010600030101010101" pitchFamily="2" charset="-122"/>
                  <a:sym typeface="Symbol" panose="05050102010706020507" pitchFamily="18" charset="2"/>
                </a:rPr>
                <a:t>= </a:t>
              </a:r>
              <a:endParaRPr lang="en-US" altLang="zh-CN" sz="2000">
                <a:ea typeface="宋体" panose="02010600030101010101" pitchFamily="2" charset="-122"/>
              </a:endParaRPr>
            </a:p>
          </p:txBody>
        </p:sp>
        <p:graphicFrame>
          <p:nvGraphicFramePr>
            <p:cNvPr id="28700" name="Object 24"/>
            <p:cNvGraphicFramePr>
              <a:graphicFrameLocks noChangeAspect="1"/>
            </p:cNvGraphicFramePr>
            <p:nvPr/>
          </p:nvGraphicFramePr>
          <p:xfrm>
            <a:off x="2832" y="2256"/>
            <a:ext cx="21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03" name="Microsoft 公式 3.0" r:id="rId6" imgW="342751" imgH="431613" progId="Equation.3">
                    <p:embed/>
                  </p:oleObj>
                </mc:Choice>
                <mc:Fallback>
                  <p:oleObj name="Microsoft 公式 3.0" r:id="rId6" imgW="342751" imgH="431613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2" y="2256"/>
                          <a:ext cx="216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701" name="Text Box 25"/>
            <p:cNvSpPr txBox="1">
              <a:spLocks noChangeArrowheads="1"/>
            </p:cNvSpPr>
            <p:nvPr/>
          </p:nvSpPr>
          <p:spPr bwMode="auto">
            <a:xfrm>
              <a:off x="1344" y="2544"/>
              <a:ext cx="2544" cy="1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>
                  <a:ea typeface="宋体" panose="02010600030101010101" pitchFamily="2" charset="-122"/>
                </a:rPr>
                <a:t>L</a:t>
              </a:r>
              <a:r>
                <a:rPr lang="en-US" altLang="zh-CN" sz="2000" baseline="30000">
                  <a:ea typeface="宋体" panose="02010600030101010101" pitchFamily="2" charset="-122"/>
                </a:rPr>
                <a:t>+</a:t>
              </a:r>
              <a:r>
                <a:rPr lang="en-US" altLang="zh-CN" sz="1800">
                  <a:ea typeface="宋体" panose="02010600030101010101" pitchFamily="2" charset="-122"/>
                </a:rPr>
                <a:t> denotes “one or more concatenations of “ L</a:t>
              </a:r>
            </a:p>
          </p:txBody>
        </p:sp>
      </p:grpSp>
      <p:sp>
        <p:nvSpPr>
          <p:cNvPr id="28679" name="Rectangle 26"/>
          <p:cNvSpPr>
            <a:spLocks noChangeArrowheads="1"/>
          </p:cNvSpPr>
          <p:nvPr/>
        </p:nvSpPr>
        <p:spPr bwMode="auto">
          <a:xfrm>
            <a:off x="1462088" y="5754688"/>
            <a:ext cx="7235825" cy="554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 b="0">
                <a:solidFill>
                  <a:schemeClr val="tx2"/>
                </a:solidFill>
                <a:ea typeface="宋体" panose="02010600030101010101" pitchFamily="2" charset="-122"/>
              </a:rPr>
              <a:t>Fig.3.8 Definitions of operations on languages.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日期占位符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◎2005 ECNU SEI</a:t>
            </a:r>
            <a:endParaRPr lang="en-US" altLang="zh-CN" sz="800" b="0" smtClean="0"/>
          </a:p>
        </p:txBody>
      </p:sp>
      <p:sp>
        <p:nvSpPr>
          <p:cNvPr id="29699" name="页脚占位符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Compilers: Principles, Techniques, and Tools</a:t>
            </a:r>
            <a:endParaRPr lang="en-US" altLang="zh-CN" sz="800" b="0" smtClean="0"/>
          </a:p>
        </p:txBody>
      </p:sp>
      <p:sp>
        <p:nvSpPr>
          <p:cNvPr id="29700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4DD1E43-66FE-4903-B4F9-302128EE73E1}" type="slidenum">
              <a:rPr lang="zh-CN" altLang="en-US" sz="800" b="0"/>
              <a:pPr/>
              <a:t>28</a:t>
            </a:fld>
            <a:endParaRPr lang="en-US" altLang="zh-CN" sz="800" b="0"/>
          </a:p>
        </p:txBody>
      </p:sp>
      <p:sp>
        <p:nvSpPr>
          <p:cNvPr id="29701" name="Rectangle 2"/>
          <p:cNvSpPr>
            <a:spLocks noGrp="1" noChangeArrowheads="1"/>
          </p:cNvSpPr>
          <p:nvPr>
            <p:ph type="title"/>
          </p:nvPr>
        </p:nvSpPr>
        <p:spPr>
          <a:xfrm>
            <a:off x="382588" y="152400"/>
            <a:ext cx="9371012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Operations on Languages  (</a:t>
            </a:r>
            <a:r>
              <a:rPr lang="en-US" altLang="zh-CN" b="0" smtClean="0">
                <a:solidFill>
                  <a:schemeClr val="tx1"/>
                </a:solidFill>
                <a:ea typeface="宋体" panose="02010600030101010101" pitchFamily="2" charset="-122"/>
              </a:rPr>
              <a:t>Examples3.2)</a:t>
            </a:r>
          </a:p>
        </p:txBody>
      </p:sp>
      <p:sp>
        <p:nvSpPr>
          <p:cNvPr id="29702" name="Text Box 3"/>
          <p:cNvSpPr txBox="1">
            <a:spLocks noChangeArrowheads="1"/>
          </p:cNvSpPr>
          <p:nvPr/>
        </p:nvSpPr>
        <p:spPr bwMode="auto">
          <a:xfrm>
            <a:off x="1352550" y="981075"/>
            <a:ext cx="7239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>
                <a:ea typeface="宋体" panose="02010600030101010101" pitchFamily="2" charset="-122"/>
              </a:rPr>
              <a:t>L = {A, B, C, D }                   D = {1, 2, 3}</a:t>
            </a:r>
          </a:p>
        </p:txBody>
      </p:sp>
      <p:sp>
        <p:nvSpPr>
          <p:cNvPr id="29703" name="Text Box 4"/>
          <p:cNvSpPr txBox="1">
            <a:spLocks noChangeArrowheads="1"/>
          </p:cNvSpPr>
          <p:nvPr/>
        </p:nvSpPr>
        <p:spPr bwMode="auto">
          <a:xfrm>
            <a:off x="488950" y="1628775"/>
            <a:ext cx="9144000" cy="429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b="0">
                <a:ea typeface="宋体" panose="02010600030101010101" pitchFamily="2" charset="-122"/>
              </a:rPr>
              <a:t>L </a:t>
            </a:r>
            <a:r>
              <a:rPr lang="en-US" altLang="zh-CN" b="0">
                <a:ea typeface="宋体" panose="02010600030101010101" pitchFamily="2" charset="-122"/>
                <a:sym typeface="Symbol" panose="05050102010706020507" pitchFamily="18" charset="2"/>
              </a:rPr>
              <a:t> D = {A, B, C, D, 1, 2, 3 }</a:t>
            </a:r>
          </a:p>
          <a:p>
            <a:pPr>
              <a:spcBef>
                <a:spcPct val="50000"/>
              </a:spcBef>
            </a:pPr>
            <a:r>
              <a:rPr lang="en-US" altLang="zh-CN" b="0">
                <a:ea typeface="宋体" panose="02010600030101010101" pitchFamily="2" charset="-122"/>
                <a:sym typeface="Symbol" panose="05050102010706020507" pitchFamily="18" charset="2"/>
              </a:rPr>
              <a:t>LD = {A1, A2, A3, B1, B2, B3, C1, C2, C3, D1, D2, D3 }</a:t>
            </a:r>
          </a:p>
          <a:p>
            <a:pPr>
              <a:spcBef>
                <a:spcPct val="50000"/>
              </a:spcBef>
            </a:pPr>
            <a:r>
              <a:rPr lang="en-US" altLang="zh-CN" b="0">
                <a:ea typeface="宋体" panose="02010600030101010101" pitchFamily="2" charset="-122"/>
                <a:sym typeface="Symbol" panose="05050102010706020507" pitchFamily="18" charset="2"/>
              </a:rPr>
              <a:t>L</a:t>
            </a:r>
            <a:r>
              <a:rPr lang="en-US" altLang="zh-CN" b="0" baseline="30000">
                <a:ea typeface="宋体" panose="02010600030101010101" pitchFamily="2" charset="-122"/>
                <a:sym typeface="Symbol" panose="05050102010706020507" pitchFamily="18" charset="2"/>
              </a:rPr>
              <a:t>2 </a:t>
            </a:r>
            <a:r>
              <a:rPr lang="en-US" altLang="zh-CN" b="0">
                <a:ea typeface="宋体" panose="02010600030101010101" pitchFamily="2" charset="-122"/>
                <a:sym typeface="Symbol" panose="05050102010706020507" pitchFamily="18" charset="2"/>
              </a:rPr>
              <a:t>= { AA, AB, AC, AD, BA, BB, BC, BD, CA, … DD}</a:t>
            </a:r>
          </a:p>
          <a:p>
            <a:pPr>
              <a:spcBef>
                <a:spcPct val="50000"/>
              </a:spcBef>
            </a:pPr>
            <a:r>
              <a:rPr lang="en-US" altLang="zh-CN" b="0">
                <a:ea typeface="宋体" panose="02010600030101010101" pitchFamily="2" charset="-122"/>
                <a:sym typeface="Symbol" panose="05050102010706020507" pitchFamily="18" charset="2"/>
              </a:rPr>
              <a:t>L</a:t>
            </a:r>
            <a:r>
              <a:rPr lang="en-US" altLang="zh-CN" b="0" baseline="30000">
                <a:ea typeface="宋体" panose="02010600030101010101" pitchFamily="2" charset="-122"/>
                <a:sym typeface="Symbol" panose="05050102010706020507" pitchFamily="18" charset="2"/>
              </a:rPr>
              <a:t>4 </a:t>
            </a:r>
            <a:r>
              <a:rPr lang="en-US" altLang="zh-CN" b="0">
                <a:ea typeface="宋体" panose="02010600030101010101" pitchFamily="2" charset="-122"/>
                <a:sym typeface="Symbol" panose="05050102010706020507" pitchFamily="18" charset="2"/>
              </a:rPr>
              <a:t>= L</a:t>
            </a:r>
            <a:r>
              <a:rPr lang="en-US" altLang="zh-CN" b="0" baseline="30000">
                <a:ea typeface="宋体" panose="02010600030101010101" pitchFamily="2" charset="-122"/>
                <a:sym typeface="Symbol" panose="05050102010706020507" pitchFamily="18" charset="2"/>
              </a:rPr>
              <a:t>2 </a:t>
            </a:r>
            <a:r>
              <a:rPr lang="en-US" altLang="zh-CN" b="0">
                <a:ea typeface="宋体" panose="02010600030101010101" pitchFamily="2" charset="-122"/>
                <a:sym typeface="Symbol" panose="05050102010706020507" pitchFamily="18" charset="2"/>
              </a:rPr>
              <a:t> L</a:t>
            </a:r>
            <a:r>
              <a:rPr lang="en-US" altLang="zh-CN" b="0" baseline="30000">
                <a:ea typeface="宋体" panose="02010600030101010101" pitchFamily="2" charset="-122"/>
                <a:sym typeface="Symbol" panose="05050102010706020507" pitchFamily="18" charset="2"/>
              </a:rPr>
              <a:t>2 </a:t>
            </a:r>
            <a:r>
              <a:rPr lang="en-US" altLang="zh-CN" b="0">
                <a:ea typeface="宋体" panose="02010600030101010101" pitchFamily="2" charset="-122"/>
                <a:sym typeface="Symbol" panose="05050102010706020507" pitchFamily="18" charset="2"/>
              </a:rPr>
              <a:t> = </a:t>
            </a:r>
            <a:r>
              <a:rPr lang="en-US" altLang="zh-CN" b="0">
                <a:solidFill>
                  <a:srgbClr val="FF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??</a:t>
            </a:r>
            <a:r>
              <a:rPr lang="en-US" altLang="zh-CN" b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</a:p>
          <a:p>
            <a:pPr>
              <a:spcBef>
                <a:spcPct val="50000"/>
              </a:spcBef>
            </a:pPr>
            <a:r>
              <a:rPr lang="en-US" altLang="zh-CN" b="0">
                <a:ea typeface="宋体" panose="02010600030101010101" pitchFamily="2" charset="-122"/>
                <a:sym typeface="Symbol" panose="05050102010706020507" pitchFamily="18" charset="2"/>
              </a:rPr>
              <a:t>L* = { All possible strings of  L plus  }</a:t>
            </a:r>
          </a:p>
          <a:p>
            <a:pPr>
              <a:spcBef>
                <a:spcPct val="50000"/>
              </a:spcBef>
            </a:pPr>
            <a:r>
              <a:rPr lang="en-US" altLang="zh-CN" b="0">
                <a:ea typeface="宋体" panose="02010600030101010101" pitchFamily="2" charset="-122"/>
                <a:sym typeface="Symbol" panose="05050102010706020507" pitchFamily="18" charset="2"/>
              </a:rPr>
              <a:t>L</a:t>
            </a:r>
            <a:r>
              <a:rPr lang="en-US" altLang="zh-CN" b="0" baseline="30000">
                <a:ea typeface="宋体" panose="02010600030101010101" pitchFamily="2" charset="-122"/>
                <a:sym typeface="Symbol" panose="05050102010706020507" pitchFamily="18" charset="2"/>
              </a:rPr>
              <a:t>+ </a:t>
            </a:r>
            <a:r>
              <a:rPr lang="en-US" altLang="zh-CN" b="0">
                <a:ea typeface="宋体" panose="02010600030101010101" pitchFamily="2" charset="-122"/>
                <a:sym typeface="Symbol" panose="05050102010706020507" pitchFamily="18" charset="2"/>
              </a:rPr>
              <a:t>= L* - </a:t>
            </a:r>
          </a:p>
          <a:p>
            <a:pPr>
              <a:spcBef>
                <a:spcPct val="50000"/>
              </a:spcBef>
            </a:pPr>
            <a:r>
              <a:rPr lang="en-US" altLang="zh-CN" b="0">
                <a:ea typeface="宋体" panose="02010600030101010101" pitchFamily="2" charset="-122"/>
                <a:sym typeface="Symbol" panose="05050102010706020507" pitchFamily="18" charset="2"/>
              </a:rPr>
              <a:t>L (</a:t>
            </a:r>
            <a:r>
              <a:rPr lang="en-US" altLang="zh-CN" b="0">
                <a:ea typeface="宋体" panose="02010600030101010101" pitchFamily="2" charset="-122"/>
              </a:rPr>
              <a:t>L </a:t>
            </a:r>
            <a:r>
              <a:rPr lang="en-US" altLang="zh-CN" b="0">
                <a:ea typeface="宋体" panose="02010600030101010101" pitchFamily="2" charset="-122"/>
                <a:sym typeface="Symbol" panose="05050102010706020507" pitchFamily="18" charset="2"/>
              </a:rPr>
              <a:t> D ) = </a:t>
            </a:r>
            <a:r>
              <a:rPr lang="en-US" altLang="zh-CN" b="0">
                <a:solidFill>
                  <a:srgbClr val="FF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?? </a:t>
            </a:r>
          </a:p>
          <a:p>
            <a:pPr>
              <a:spcBef>
                <a:spcPct val="50000"/>
              </a:spcBef>
            </a:pPr>
            <a:r>
              <a:rPr lang="en-US" altLang="zh-CN" b="0">
                <a:ea typeface="宋体" panose="02010600030101010101" pitchFamily="2" charset="-122"/>
                <a:sym typeface="Symbol" panose="05050102010706020507" pitchFamily="18" charset="2"/>
              </a:rPr>
              <a:t>L (</a:t>
            </a:r>
            <a:r>
              <a:rPr lang="en-US" altLang="zh-CN" b="0">
                <a:ea typeface="宋体" panose="02010600030101010101" pitchFamily="2" charset="-122"/>
              </a:rPr>
              <a:t>L </a:t>
            </a:r>
            <a:r>
              <a:rPr lang="en-US" altLang="zh-CN" b="0">
                <a:ea typeface="宋体" panose="02010600030101010101" pitchFamily="2" charset="-122"/>
                <a:sym typeface="Symbol" panose="05050102010706020507" pitchFamily="18" charset="2"/>
              </a:rPr>
              <a:t> D )* = </a:t>
            </a:r>
            <a:r>
              <a:rPr lang="en-US" altLang="zh-CN" b="0">
                <a:solidFill>
                  <a:srgbClr val="FF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??</a:t>
            </a:r>
            <a:r>
              <a:rPr lang="en-US" altLang="zh-CN" b="0">
                <a:ea typeface="宋体" panose="02010600030101010101" pitchFamily="2" charset="-122"/>
                <a:sym typeface="Symbol" panose="05050102010706020507" pitchFamily="18" charset="2"/>
              </a:rPr>
              <a:t>  </a:t>
            </a:r>
            <a:endParaRPr lang="en-US" altLang="zh-CN" b="0">
              <a:solidFill>
                <a:srgbClr val="FF00FF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72741" name="Text Box 5"/>
          <p:cNvSpPr txBox="1">
            <a:spLocks noChangeArrowheads="1"/>
          </p:cNvSpPr>
          <p:nvPr/>
        </p:nvSpPr>
        <p:spPr bwMode="auto">
          <a:xfrm>
            <a:off x="3224213" y="3284538"/>
            <a:ext cx="4537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b="0">
                <a:solidFill>
                  <a:srgbClr val="FF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{is the set of all four-letter strings}</a:t>
            </a:r>
            <a:endParaRPr lang="en-US" altLang="zh-CN" sz="2800">
              <a:ea typeface="宋体" panose="02010600030101010101" pitchFamily="2" charset="-122"/>
            </a:endParaRPr>
          </a:p>
        </p:txBody>
      </p:sp>
      <p:sp>
        <p:nvSpPr>
          <p:cNvPr id="372742" name="Text Box 6"/>
          <p:cNvSpPr txBox="1">
            <a:spLocks noChangeArrowheads="1"/>
          </p:cNvSpPr>
          <p:nvPr/>
        </p:nvSpPr>
        <p:spPr bwMode="auto">
          <a:xfrm>
            <a:off x="3440113" y="4724400"/>
            <a:ext cx="51847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b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{is the set of strings beginning with a letter followed by a letter or digit}</a:t>
            </a:r>
          </a:p>
        </p:txBody>
      </p:sp>
      <p:sp>
        <p:nvSpPr>
          <p:cNvPr id="372743" name="Text Box 7"/>
          <p:cNvSpPr txBox="1">
            <a:spLocks noChangeArrowheads="1"/>
          </p:cNvSpPr>
          <p:nvPr/>
        </p:nvSpPr>
        <p:spPr bwMode="auto">
          <a:xfrm>
            <a:off x="3440113" y="5589588"/>
            <a:ext cx="54006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b="0">
                <a:solidFill>
                  <a:srgbClr val="FF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{is the set of all strings of letters and digits beginning with a letter} 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1000"/>
                                        <p:tgtEl>
                                          <p:spTgt spid="372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372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1000"/>
                                        <p:tgtEl>
                                          <p:spTgt spid="372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2741" grpId="0"/>
      <p:bldP spid="372742" grpId="0"/>
      <p:bldP spid="37274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◎2005 ECNU SEI</a:t>
            </a:r>
            <a:endParaRPr lang="en-US" altLang="zh-CN" sz="800" b="0" smtClean="0"/>
          </a:p>
        </p:txBody>
      </p:sp>
      <p:sp>
        <p:nvSpPr>
          <p:cNvPr id="3072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Compilers: Principles, Techniques, and Tools</a:t>
            </a:r>
            <a:endParaRPr lang="en-US" altLang="zh-CN" sz="800" b="0" smtClean="0"/>
          </a:p>
        </p:txBody>
      </p:sp>
      <p:sp>
        <p:nvSpPr>
          <p:cNvPr id="3072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77C7B1B-36A9-4109-B438-3754F76BE31D}" type="slidenum">
              <a:rPr lang="zh-CN" altLang="en-US" sz="800" b="0"/>
              <a:pPr/>
              <a:t>29</a:t>
            </a:fld>
            <a:endParaRPr lang="en-US" altLang="zh-CN" sz="800" b="0"/>
          </a:p>
        </p:txBody>
      </p:sp>
      <p:sp>
        <p:nvSpPr>
          <p:cNvPr id="3072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82588" y="1219200"/>
            <a:ext cx="9371012" cy="5105400"/>
          </a:xfrm>
        </p:spPr>
        <p:txBody>
          <a:bodyPr/>
          <a:lstStyle/>
          <a:p>
            <a:pPr>
              <a:lnSpc>
                <a:spcPct val="119000"/>
              </a:lnSpc>
            </a:pPr>
            <a:r>
              <a:rPr lang="zh-CN" altLang="en-US" smtClean="0">
                <a:ea typeface="宋体" panose="02010600030101010101" pitchFamily="2" charset="-122"/>
              </a:rPr>
              <a:t> </a:t>
            </a:r>
            <a:r>
              <a:rPr lang="en-US" altLang="zh-CN" sz="2800" smtClean="0">
                <a:ea typeface="宋体" panose="02010600030101010101" pitchFamily="2" charset="-122"/>
              </a:rPr>
              <a:t>A </a:t>
            </a:r>
            <a:r>
              <a:rPr lang="en-US" altLang="zh-CN" sz="2800" b="1" smtClean="0">
                <a:solidFill>
                  <a:srgbClr val="FF00FF"/>
                </a:solidFill>
                <a:ea typeface="宋体" panose="02010600030101010101" pitchFamily="2" charset="-122"/>
              </a:rPr>
              <a:t>Regular Expression</a:t>
            </a:r>
            <a:r>
              <a:rPr lang="en-US" altLang="zh-CN" sz="2800" smtClean="0">
                <a:solidFill>
                  <a:srgbClr val="00CC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800" smtClean="0">
                <a:ea typeface="宋体" panose="02010600030101010101" pitchFamily="2" charset="-122"/>
              </a:rPr>
              <a:t>is </a:t>
            </a:r>
            <a:r>
              <a:rPr lang="en-US" altLang="zh-CN" sz="2800" smtClean="0">
                <a:solidFill>
                  <a:schemeClr val="accent2"/>
                </a:solidFill>
                <a:ea typeface="宋体" panose="02010600030101010101" pitchFamily="2" charset="-122"/>
              </a:rPr>
              <a:t>a Set of </a:t>
            </a:r>
            <a:r>
              <a:rPr lang="en-US" altLang="zh-CN" sz="2800" smtClean="0">
                <a:solidFill>
                  <a:srgbClr val="660066"/>
                </a:solidFill>
                <a:ea typeface="宋体" panose="02010600030101010101" pitchFamily="2" charset="-122"/>
              </a:rPr>
              <a:t>Rules / Techniques</a:t>
            </a:r>
            <a:r>
              <a:rPr lang="en-US" altLang="zh-CN" sz="2800" smtClean="0">
                <a:solidFill>
                  <a:schemeClr val="accent2"/>
                </a:solidFill>
                <a:ea typeface="宋体" panose="02010600030101010101" pitchFamily="2" charset="-122"/>
              </a:rPr>
              <a:t> for Constructing Sequences of Symbols (Strings) From an Alphabet.</a:t>
            </a:r>
          </a:p>
          <a:p>
            <a:pPr>
              <a:lnSpc>
                <a:spcPct val="140000"/>
              </a:lnSpc>
              <a:spcBef>
                <a:spcPct val="50000"/>
              </a:spcBef>
            </a:pPr>
            <a:r>
              <a:rPr lang="en-US" altLang="zh-CN" sz="2800" smtClean="0">
                <a:ea typeface="宋体" panose="02010600030101010101" pitchFamily="2" charset="-122"/>
              </a:rPr>
              <a:t>Let  </a:t>
            </a:r>
            <a:r>
              <a:rPr lang="en-US" altLang="zh-CN" sz="2800" smtClean="0">
                <a:ea typeface="宋体" panose="02010600030101010101" pitchFamily="2" charset="-122"/>
                <a:sym typeface="Symbol" panose="05050102010706020507" pitchFamily="18" charset="2"/>
              </a:rPr>
              <a:t>  be an Alphabet, r a Regular Expression. Then  L(r)  </a:t>
            </a:r>
            <a:r>
              <a:rPr lang="en-US" altLang="zh-CN" sz="2800" smtClean="0">
                <a:ea typeface="宋体" panose="02010600030101010101" pitchFamily="2" charset="-122"/>
              </a:rPr>
              <a:t>is the Language, that is Characterized by the Rules of  r.</a:t>
            </a:r>
          </a:p>
        </p:txBody>
      </p:sp>
      <p:sp>
        <p:nvSpPr>
          <p:cNvPr id="30726" name="Text Box 3"/>
          <p:cNvSpPr>
            <a:spLocks noChangeArrowheads="1"/>
          </p:cNvSpPr>
          <p:nvPr>
            <p:ph type="title"/>
          </p:nvPr>
        </p:nvSpPr>
        <p:spPr>
          <a:xfrm>
            <a:off x="382588" y="152400"/>
            <a:ext cx="9371012" cy="914400"/>
          </a:xfrm>
          <a:noFill/>
        </p:spPr>
        <p:txBody>
          <a:bodyPr lIns="92075" tIns="46038" rIns="92075" bIns="46038"/>
          <a:lstStyle/>
          <a:p>
            <a:pPr>
              <a:spcBef>
                <a:spcPct val="50000"/>
              </a:spcBef>
            </a:pPr>
            <a:r>
              <a:rPr lang="en-US" altLang="zh-CN" smtClean="0">
                <a:solidFill>
                  <a:schemeClr val="tx1"/>
                </a:solidFill>
                <a:ea typeface="宋体" panose="02010600030101010101" pitchFamily="2" charset="-122"/>
              </a:rPr>
              <a:t>Language &amp; Regular Expressions (P.94)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◎2005 ECNU SEI</a:t>
            </a:r>
            <a:endParaRPr lang="en-US" altLang="zh-CN" sz="800" b="0" smtClean="0"/>
          </a:p>
        </p:txBody>
      </p:sp>
      <p:sp>
        <p:nvSpPr>
          <p:cNvPr id="3174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Compilers: Principles, Techniques, and Tools</a:t>
            </a:r>
            <a:endParaRPr lang="en-US" altLang="zh-CN" sz="800" b="0" smtClean="0"/>
          </a:p>
        </p:txBody>
      </p:sp>
      <p:sp>
        <p:nvSpPr>
          <p:cNvPr id="3174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DE358DD-E3C7-41C9-9D29-5ADE91907106}" type="slidenum">
              <a:rPr lang="zh-CN" altLang="en-US" sz="800" b="0"/>
              <a:pPr/>
              <a:t>30</a:t>
            </a:fld>
            <a:endParaRPr lang="en-US" altLang="zh-CN" sz="800" b="0"/>
          </a:p>
        </p:txBody>
      </p:sp>
      <p:sp>
        <p:nvSpPr>
          <p:cNvPr id="317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Regular Expressions</a:t>
            </a:r>
          </a:p>
        </p:txBody>
      </p:sp>
      <p:sp>
        <p:nvSpPr>
          <p:cNvPr id="317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800" smtClean="0">
                <a:ea typeface="宋体" panose="02010600030101010101" pitchFamily="2" charset="-122"/>
              </a:rPr>
              <a:t>We use regular expressions to describe tokens of a programming language.</a:t>
            </a:r>
          </a:p>
          <a:p>
            <a:r>
              <a:rPr lang="en-US" altLang="zh-CN" sz="2800" smtClean="0">
                <a:ea typeface="宋体" panose="02010600030101010101" pitchFamily="2" charset="-122"/>
              </a:rPr>
              <a:t>A regular expression is built up of simpler regular expressions using a set of defining rules.</a:t>
            </a:r>
          </a:p>
          <a:p>
            <a:r>
              <a:rPr lang="en-US" altLang="zh-CN" sz="2800" smtClean="0">
                <a:ea typeface="宋体" panose="02010600030101010101" pitchFamily="2" charset="-122"/>
              </a:rPr>
              <a:t>Each regular expression </a:t>
            </a:r>
            <a:r>
              <a:rPr lang="en-US" altLang="zh-CN" sz="2800" i="1" smtClean="0">
                <a:ea typeface="宋体" panose="02010600030101010101" pitchFamily="2" charset="-122"/>
              </a:rPr>
              <a:t>r</a:t>
            </a:r>
            <a:r>
              <a:rPr lang="en-US" altLang="zh-CN" sz="2800" smtClean="0">
                <a:ea typeface="宋体" panose="02010600030101010101" pitchFamily="2" charset="-122"/>
              </a:rPr>
              <a:t> denotes a language </a:t>
            </a:r>
            <a:r>
              <a:rPr lang="en-US" altLang="zh-CN" sz="2800" i="1" smtClean="0">
                <a:ea typeface="宋体" panose="02010600030101010101" pitchFamily="2" charset="-122"/>
              </a:rPr>
              <a:t>L(r).</a:t>
            </a:r>
          </a:p>
          <a:p>
            <a:r>
              <a:rPr lang="en-US" altLang="zh-CN" sz="2800" smtClean="0">
                <a:ea typeface="宋体" panose="02010600030101010101" pitchFamily="2" charset="-122"/>
              </a:rPr>
              <a:t>A language </a:t>
            </a:r>
            <a:r>
              <a:rPr lang="en-US" altLang="zh-CN" sz="2800" i="1" smtClean="0">
                <a:ea typeface="宋体" panose="02010600030101010101" pitchFamily="2" charset="-122"/>
              </a:rPr>
              <a:t>L(r)</a:t>
            </a:r>
            <a:r>
              <a:rPr lang="en-US" altLang="zh-CN" sz="2800" smtClean="0">
                <a:ea typeface="宋体" panose="02010600030101010101" pitchFamily="2" charset="-122"/>
              </a:rPr>
              <a:t> denoted by a regular expression </a:t>
            </a:r>
            <a:r>
              <a:rPr lang="en-US" altLang="zh-CN" sz="2800" i="1" smtClean="0">
                <a:ea typeface="宋体" panose="02010600030101010101" pitchFamily="2" charset="-122"/>
              </a:rPr>
              <a:t>r</a:t>
            </a:r>
            <a:r>
              <a:rPr lang="en-US" altLang="zh-CN" sz="2800" smtClean="0">
                <a:ea typeface="宋体" panose="02010600030101010101" pitchFamily="2" charset="-122"/>
              </a:rPr>
              <a:t> is called as a </a:t>
            </a:r>
            <a:r>
              <a:rPr lang="en-US" altLang="zh-CN" sz="2800" smtClean="0">
                <a:solidFill>
                  <a:schemeClr val="accent2"/>
                </a:solidFill>
                <a:ea typeface="宋体" panose="02010600030101010101" pitchFamily="2" charset="-122"/>
              </a:rPr>
              <a:t>regular set.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◎2005 ECNU SEI</a:t>
            </a:r>
            <a:endParaRPr lang="en-US" altLang="zh-CN" sz="800" b="0" smtClean="0"/>
          </a:p>
        </p:txBody>
      </p:sp>
      <p:sp>
        <p:nvSpPr>
          <p:cNvPr id="3277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Compilers: Principles, Techniques, and Tools</a:t>
            </a:r>
            <a:endParaRPr lang="en-US" altLang="zh-CN" sz="800" b="0" smtClean="0"/>
          </a:p>
        </p:txBody>
      </p:sp>
      <p:sp>
        <p:nvSpPr>
          <p:cNvPr id="3277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BC991E4-E342-4982-8B28-860422E668E9}" type="slidenum">
              <a:rPr lang="zh-CN" altLang="en-US" sz="800" b="0"/>
              <a:pPr/>
              <a:t>31</a:t>
            </a:fld>
            <a:endParaRPr lang="en-US" altLang="zh-CN" sz="800" b="0"/>
          </a:p>
        </p:txBody>
      </p:sp>
      <p:sp>
        <p:nvSpPr>
          <p:cNvPr id="327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Regular Expressions (cont.)</a:t>
            </a:r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3277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800" smtClean="0">
                <a:ea typeface="宋体" panose="02010600030101010101" pitchFamily="2" charset="-122"/>
              </a:rPr>
              <a:t>a regular expression</a:t>
            </a:r>
            <a:r>
              <a:rPr lang="en-US" altLang="zh-CN" sz="2800" i="1" smtClean="0">
                <a:ea typeface="宋体" panose="02010600030101010101" pitchFamily="2" charset="-122"/>
              </a:rPr>
              <a:t> r</a:t>
            </a:r>
            <a:r>
              <a:rPr lang="en-US" altLang="zh-CN" sz="2800" smtClean="0">
                <a:ea typeface="宋体" panose="02010600030101010101" pitchFamily="2" charset="-122"/>
              </a:rPr>
              <a:t>: is defined by the set of strings that it matches.</a:t>
            </a:r>
            <a:endParaRPr lang="en-US" altLang="zh-CN" sz="2800" i="1" smtClean="0">
              <a:ea typeface="宋体" panose="02010600030101010101" pitchFamily="2" charset="-122"/>
            </a:endParaRPr>
          </a:p>
          <a:p>
            <a:r>
              <a:rPr lang="en-US" altLang="zh-CN" sz="2800" b="1" i="1" smtClean="0">
                <a:solidFill>
                  <a:srgbClr val="FF00FF"/>
                </a:solidFill>
                <a:ea typeface="宋体" panose="02010600030101010101" pitchFamily="2" charset="-122"/>
              </a:rPr>
              <a:t>L(r)</a:t>
            </a:r>
            <a:r>
              <a:rPr lang="en-US" altLang="zh-CN" sz="2800" smtClean="0">
                <a:ea typeface="宋体" panose="02010600030101010101" pitchFamily="2" charset="-122"/>
              </a:rPr>
              <a:t>:  language generated by the regular expression.</a:t>
            </a:r>
          </a:p>
          <a:p>
            <a:r>
              <a:rPr lang="en-US" altLang="zh-CN" sz="2800" b="1" smtClean="0">
                <a:solidFill>
                  <a:srgbClr val="FF00FF"/>
                </a:solidFill>
                <a:ea typeface="宋体" panose="02010600030101010101" pitchFamily="2" charset="-122"/>
              </a:rPr>
              <a:t>Character set</a:t>
            </a:r>
            <a:r>
              <a:rPr lang="en-US" altLang="zh-CN" sz="2800" smtClean="0">
                <a:ea typeface="宋体" panose="02010600030101010101" pitchFamily="2" charset="-122"/>
              </a:rPr>
              <a:t>:  be set of the ASCII characters or some subset of it </a:t>
            </a:r>
          </a:p>
          <a:p>
            <a:r>
              <a:rPr lang="en-US" altLang="zh-CN" sz="2800" b="1" smtClean="0">
                <a:solidFill>
                  <a:srgbClr val="FF00FF"/>
                </a:solidFill>
                <a:ea typeface="宋体" panose="02010600030101010101" pitchFamily="2" charset="-122"/>
              </a:rPr>
              <a:t>∑</a:t>
            </a:r>
            <a:r>
              <a:rPr lang="en-US" altLang="zh-CN" sz="2800" smtClean="0">
                <a:ea typeface="宋体" panose="02010600030101010101" pitchFamily="2" charset="-122"/>
              </a:rPr>
              <a:t>: legal symbols, called alphabet.</a:t>
            </a:r>
          </a:p>
          <a:p>
            <a:r>
              <a:rPr lang="en-US" altLang="zh-CN" sz="2800" smtClean="0">
                <a:solidFill>
                  <a:schemeClr val="accent2"/>
                </a:solidFill>
                <a:ea typeface="宋体" panose="02010600030101010101" pitchFamily="2" charset="-122"/>
              </a:rPr>
              <a:t>A regular repression symbols indicates patterns,</a:t>
            </a:r>
            <a:r>
              <a:rPr lang="en-US" altLang="zh-CN" sz="2800" smtClean="0">
                <a:ea typeface="宋体" panose="02010600030101010101" pitchFamily="2" charset="-122"/>
              </a:rPr>
              <a:t> metacharacters (metasymbols).</a:t>
            </a:r>
          </a:p>
          <a:p>
            <a:r>
              <a:rPr lang="en-US" altLang="zh-CN" sz="2800" smtClean="0">
                <a:ea typeface="宋体" panose="02010600030101010101" pitchFamily="2" charset="-122"/>
              </a:rPr>
              <a:t>Backslash and quotes(escape character): turns off the special meaning of a metacharacter. </a:t>
            </a:r>
            <a:endParaRPr lang="zh-CN" altLang="en-US" sz="280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日期占位符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◎2005 ECNU SEI</a:t>
            </a:r>
            <a:endParaRPr lang="en-US" altLang="zh-CN" sz="800" b="0" smtClean="0"/>
          </a:p>
        </p:txBody>
      </p:sp>
      <p:sp>
        <p:nvSpPr>
          <p:cNvPr id="33795" name="页脚占位符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Compilers: Principles, Techniques, and Tools</a:t>
            </a:r>
            <a:endParaRPr lang="en-US" altLang="zh-CN" sz="800" b="0" smtClean="0"/>
          </a:p>
        </p:txBody>
      </p:sp>
      <p:sp>
        <p:nvSpPr>
          <p:cNvPr id="33796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831423C-EFED-4484-8E46-3EC0F6AEB005}" type="slidenum">
              <a:rPr lang="zh-CN" altLang="en-US" sz="800" b="0"/>
              <a:pPr/>
              <a:t>32</a:t>
            </a:fld>
            <a:endParaRPr lang="en-US" altLang="zh-CN" sz="800" b="0"/>
          </a:p>
        </p:txBody>
      </p:sp>
      <p:sp>
        <p:nvSpPr>
          <p:cNvPr id="33797" name="Text Box 2"/>
          <p:cNvSpPr txBox="1">
            <a:spLocks noChangeArrowheads="1"/>
          </p:cNvSpPr>
          <p:nvPr/>
        </p:nvSpPr>
        <p:spPr bwMode="auto">
          <a:xfrm>
            <a:off x="849313" y="981075"/>
            <a:ext cx="8585200" cy="556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b="0">
                <a:ea typeface="宋体" panose="02010600030101010101" pitchFamily="2" charset="-122"/>
                <a:sym typeface="Symbol" panose="05050102010706020507" pitchFamily="18" charset="2"/>
              </a:rPr>
              <a:t>fix alphabet  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zh-CN" b="0">
                <a:ea typeface="宋体" panose="02010600030101010101" pitchFamily="2" charset="-122"/>
                <a:sym typeface="Symbol" panose="05050102010706020507" pitchFamily="18" charset="2"/>
              </a:rPr>
              <a:t> is a regular expression denoting {}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zh-CN" b="0">
                <a:ea typeface="宋体" panose="02010600030101010101" pitchFamily="2" charset="-122"/>
                <a:sym typeface="Symbol" panose="05050102010706020507" pitchFamily="18" charset="2"/>
              </a:rPr>
              <a:t>If  a is in </a:t>
            </a:r>
            <a:r>
              <a:rPr lang="en-US" altLang="zh-CN" b="0">
                <a:ea typeface="宋体" panose="02010600030101010101" pitchFamily="2" charset="-122"/>
              </a:rPr>
              <a:t> </a:t>
            </a:r>
            <a:r>
              <a:rPr lang="en-US" altLang="zh-CN" b="0">
                <a:ea typeface="宋体" panose="02010600030101010101" pitchFamily="2" charset="-122"/>
                <a:sym typeface="Symbol" panose="05050102010706020507" pitchFamily="18" charset="2"/>
              </a:rPr>
              <a:t>, a is a regular expression that denotes {a}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zh-CN" b="0">
                <a:ea typeface="宋体" panose="02010600030101010101" pitchFamily="2" charset="-122"/>
                <a:sym typeface="Symbol" panose="05050102010706020507" pitchFamily="18" charset="2"/>
              </a:rPr>
              <a:t>Let r and s be regular expressions with languages L(r) and L(s).  Then </a:t>
            </a:r>
          </a:p>
          <a:p>
            <a:pPr lvl="2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zh-CN" b="0">
                <a:ea typeface="宋体" panose="02010600030101010101" pitchFamily="2" charset="-122"/>
                <a:sym typeface="Symbol" panose="05050102010706020507" pitchFamily="18" charset="2"/>
              </a:rPr>
              <a:t>(r) | (s) is a regular expression  L(r)  L(s)</a:t>
            </a:r>
          </a:p>
          <a:p>
            <a:pPr lvl="2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zh-CN" b="0">
                <a:ea typeface="宋体" panose="02010600030101010101" pitchFamily="2" charset="-122"/>
                <a:sym typeface="Symbol" panose="05050102010706020507" pitchFamily="18" charset="2"/>
              </a:rPr>
              <a:t>(r)(s) is a regular expression  L(r) L(s)</a:t>
            </a:r>
          </a:p>
          <a:p>
            <a:pPr lvl="2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zh-CN" b="0">
                <a:ea typeface="宋体" panose="02010600030101010101" pitchFamily="2" charset="-122"/>
                <a:sym typeface="Symbol" panose="05050102010706020507" pitchFamily="18" charset="2"/>
              </a:rPr>
              <a:t>(r)* is a regular expression  (L(r))*</a:t>
            </a:r>
          </a:p>
          <a:p>
            <a:pPr lvl="2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zh-CN" b="0">
                <a:ea typeface="宋体" panose="02010600030101010101" pitchFamily="2" charset="-122"/>
                <a:sym typeface="Symbol" panose="05050102010706020507" pitchFamily="18" charset="2"/>
              </a:rPr>
              <a:t>(r) is a regular expression  L(r) </a:t>
            </a:r>
          </a:p>
          <a:p>
            <a:pPr>
              <a:spcBef>
                <a:spcPct val="50000"/>
              </a:spcBef>
            </a:pPr>
            <a:r>
              <a:rPr lang="en-US" altLang="zh-CN" b="0">
                <a:ea typeface="宋体" panose="02010600030101010101" pitchFamily="2" charset="-122"/>
                <a:sym typeface="Symbol" panose="05050102010706020507" pitchFamily="18" charset="2"/>
              </a:rPr>
              <a:t>All are Left-Associative. Parentheses are dropped as allowed by precedence rules.</a:t>
            </a:r>
          </a:p>
        </p:txBody>
      </p:sp>
      <p:grpSp>
        <p:nvGrpSpPr>
          <p:cNvPr id="33798" name="Group 8"/>
          <p:cNvGrpSpPr>
            <a:grpSpLocks/>
          </p:cNvGrpSpPr>
          <p:nvPr/>
        </p:nvGrpSpPr>
        <p:grpSpPr bwMode="auto">
          <a:xfrm>
            <a:off x="971550" y="3500438"/>
            <a:ext cx="569913" cy="2012950"/>
            <a:chOff x="612" y="2205"/>
            <a:chExt cx="359" cy="1268"/>
          </a:xfrm>
        </p:grpSpPr>
        <p:sp>
          <p:nvSpPr>
            <p:cNvPr id="33800" name="Line 4"/>
            <p:cNvSpPr>
              <a:spLocks noChangeShapeType="1"/>
            </p:cNvSpPr>
            <p:nvPr/>
          </p:nvSpPr>
          <p:spPr bwMode="auto">
            <a:xfrm>
              <a:off x="761" y="2341"/>
              <a:ext cx="210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01" name="Line 5"/>
            <p:cNvSpPr>
              <a:spLocks noChangeShapeType="1"/>
            </p:cNvSpPr>
            <p:nvPr/>
          </p:nvSpPr>
          <p:spPr bwMode="auto">
            <a:xfrm>
              <a:off x="852" y="2342"/>
              <a:ext cx="15" cy="10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02" name="Text Box 6"/>
            <p:cNvSpPr txBox="1">
              <a:spLocks noChangeArrowheads="1"/>
            </p:cNvSpPr>
            <p:nvPr/>
          </p:nvSpPr>
          <p:spPr bwMode="auto">
            <a:xfrm>
              <a:off x="612" y="2205"/>
              <a:ext cx="240" cy="1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70000"/>
                </a:lnSpc>
                <a:spcBef>
                  <a:spcPct val="50000"/>
                </a:spcBef>
              </a:pPr>
              <a:r>
                <a:rPr lang="en-US" altLang="zh-CN" sz="1800">
                  <a:ea typeface="宋体" panose="02010600030101010101" pitchFamily="2" charset="-122"/>
                </a:rPr>
                <a:t>precedence</a:t>
              </a:r>
            </a:p>
          </p:txBody>
        </p:sp>
      </p:grpSp>
      <p:sp>
        <p:nvSpPr>
          <p:cNvPr id="33799" name="Rectangle 7"/>
          <p:cNvSpPr>
            <a:spLocks noGrp="1" noChangeArrowheads="1"/>
          </p:cNvSpPr>
          <p:nvPr>
            <p:ph type="title"/>
          </p:nvPr>
        </p:nvSpPr>
        <p:spPr>
          <a:xfrm>
            <a:off x="382588" y="152400"/>
            <a:ext cx="9371012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Rules for Specifying Regular Expressions (P.94)</a:t>
            </a:r>
            <a:endParaRPr lang="en-US" altLang="zh-CN" sz="240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◎2005 ECNU SEI</a:t>
            </a:r>
            <a:endParaRPr lang="en-US" altLang="zh-CN" sz="800" b="0" smtClean="0"/>
          </a:p>
        </p:txBody>
      </p:sp>
      <p:sp>
        <p:nvSpPr>
          <p:cNvPr id="3481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Compilers: Principles, Techniques, and Tools</a:t>
            </a:r>
            <a:endParaRPr lang="en-US" altLang="zh-CN" sz="800" b="0" smtClean="0"/>
          </a:p>
        </p:txBody>
      </p:sp>
      <p:sp>
        <p:nvSpPr>
          <p:cNvPr id="3482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C7E4B53-95DC-4198-A40D-D3D29DCCDD67}" type="slidenum">
              <a:rPr lang="zh-CN" altLang="en-US" sz="800" b="0"/>
              <a:pPr/>
              <a:t>33</a:t>
            </a:fld>
            <a:endParaRPr lang="en-US" altLang="zh-CN" sz="800" b="0"/>
          </a:p>
        </p:txBody>
      </p:sp>
      <p:sp>
        <p:nvSpPr>
          <p:cNvPr id="348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Rules for Specifying Regular Expressions (cont.)</a:t>
            </a:r>
          </a:p>
        </p:txBody>
      </p:sp>
      <p:sp>
        <p:nvSpPr>
          <p:cNvPr id="348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8088" y="1196975"/>
            <a:ext cx="7705725" cy="510540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Regular expressions over alphabet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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  <a:r>
              <a:rPr lang="en-US" altLang="zh-CN" u="sng" smtClean="0">
                <a:ea typeface="宋体" panose="02010600030101010101" pitchFamily="2" charset="-122"/>
                <a:sym typeface="Symbol" panose="05050102010706020507" pitchFamily="18" charset="2"/>
              </a:rPr>
              <a:t>Reg. Expr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		</a:t>
            </a:r>
            <a:r>
              <a:rPr lang="en-US" altLang="zh-CN" u="sng" smtClean="0">
                <a:ea typeface="宋体" panose="02010600030101010101" pitchFamily="2" charset="-122"/>
                <a:sym typeface="Symbol" panose="05050102010706020507" pitchFamily="18" charset="2"/>
              </a:rPr>
              <a:t>Language it denotes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			{}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a 		{a}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(r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) | (r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) 		L(r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)  L(r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(r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) (r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) 		L(r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) L(r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(r)</a:t>
            </a:r>
            <a:r>
              <a:rPr lang="en-US" altLang="zh-CN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*			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(L(r))</a:t>
            </a:r>
            <a:r>
              <a:rPr lang="en-US" altLang="zh-CN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*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(r)			L(r)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</a:p>
          <a:p>
            <a:pPr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(r)</a:t>
            </a:r>
            <a:r>
              <a:rPr lang="en-US" altLang="zh-CN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 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=  (r)(r)</a:t>
            </a:r>
            <a:r>
              <a:rPr lang="en-US" altLang="zh-CN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*                </a:t>
            </a:r>
            <a:r>
              <a:rPr lang="en-US" altLang="zh-CN" sz="2800" smtClean="0">
                <a:solidFill>
                  <a:srgbClr val="FF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??</a:t>
            </a:r>
          </a:p>
          <a:p>
            <a:pPr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(r)?</a:t>
            </a:r>
            <a:r>
              <a:rPr lang="en-US" altLang="zh-CN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 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=  (r) | </a:t>
            </a:r>
            <a:r>
              <a:rPr lang="en-US" altLang="zh-CN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 	</a:t>
            </a:r>
            <a:r>
              <a:rPr lang="en-US" altLang="zh-CN" sz="2800" smtClean="0">
                <a:solidFill>
                  <a:srgbClr val="FF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??</a:t>
            </a:r>
          </a:p>
          <a:p>
            <a:pPr>
              <a:lnSpc>
                <a:spcPct val="90000"/>
              </a:lnSpc>
              <a:buFontTx/>
              <a:buNone/>
            </a:pPr>
            <a:endParaRPr lang="zh-CN" altLang="en-US" smtClean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94916" name="Rectangle 1028"/>
          <p:cNvSpPr>
            <a:spLocks noChangeArrowheads="1"/>
          </p:cNvSpPr>
          <p:nvPr/>
        </p:nvSpPr>
        <p:spPr bwMode="auto">
          <a:xfrm>
            <a:off x="4808538" y="5229225"/>
            <a:ext cx="1512887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b="0">
                <a:ea typeface="宋体" panose="02010600030101010101" pitchFamily="2" charset="-122"/>
                <a:sym typeface="Symbol" panose="05050102010706020507" pitchFamily="18" charset="2"/>
              </a:rPr>
              <a:t>L(r)(L(r))</a:t>
            </a:r>
            <a:r>
              <a:rPr lang="en-US" altLang="zh-CN" b="0" baseline="30000">
                <a:ea typeface="宋体" panose="02010600030101010101" pitchFamily="2" charset="-122"/>
                <a:sym typeface="Symbol" panose="05050102010706020507" pitchFamily="18" charset="2"/>
              </a:rPr>
              <a:t>*</a:t>
            </a:r>
            <a:endParaRPr lang="zh-CN" altLang="en-US" b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94917" name="Rectangle 1029"/>
          <p:cNvSpPr>
            <a:spLocks noChangeArrowheads="1"/>
          </p:cNvSpPr>
          <p:nvPr/>
        </p:nvSpPr>
        <p:spPr bwMode="auto">
          <a:xfrm>
            <a:off x="6032500" y="5661025"/>
            <a:ext cx="1655763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b="0">
                <a:ea typeface="宋体" panose="02010600030101010101" pitchFamily="2" charset="-122"/>
                <a:sym typeface="Symbol" panose="05050102010706020507" pitchFamily="18" charset="2"/>
              </a:rPr>
              <a:t>L(r) { }</a:t>
            </a:r>
            <a:r>
              <a:rPr lang="en-US" altLang="zh-CN" b="0" baseline="3000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endParaRPr lang="zh-CN" altLang="en-US" b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49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49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49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49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4916" grpId="0"/>
      <p:bldP spid="29491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◎2005 ECNU SEI</a:t>
            </a:r>
            <a:endParaRPr lang="en-US" altLang="zh-CN" sz="800" b="0" smtClean="0"/>
          </a:p>
        </p:txBody>
      </p:sp>
      <p:sp>
        <p:nvSpPr>
          <p:cNvPr id="3584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Compilers: Principles, Techniques, and Tools</a:t>
            </a:r>
            <a:endParaRPr lang="en-US" altLang="zh-CN" sz="800" b="0" smtClean="0"/>
          </a:p>
        </p:txBody>
      </p:sp>
      <p:sp>
        <p:nvSpPr>
          <p:cNvPr id="3584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5247E6F-6063-4054-A8D1-AF409E241DC7}" type="slidenum">
              <a:rPr lang="zh-CN" altLang="en-US" sz="800" b="0"/>
              <a:pPr/>
              <a:t>34</a:t>
            </a:fld>
            <a:endParaRPr lang="en-US" altLang="zh-CN" sz="800" b="0"/>
          </a:p>
        </p:txBody>
      </p:sp>
      <p:sp>
        <p:nvSpPr>
          <p:cNvPr id="358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Regular Expressions (Ex.)</a:t>
            </a:r>
          </a:p>
        </p:txBody>
      </p:sp>
      <p:sp>
        <p:nvSpPr>
          <p:cNvPr id="3584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mtClean="0">
              <a:ea typeface="宋体" panose="02010600030101010101" pitchFamily="2" charset="-122"/>
            </a:endParaRPr>
          </a:p>
          <a:p>
            <a:r>
              <a:rPr lang="en-US" altLang="zh-CN" smtClean="0">
                <a:ea typeface="宋体" panose="02010600030101010101" pitchFamily="2" charset="-122"/>
              </a:rPr>
              <a:t>Ex:</a:t>
            </a:r>
          </a:p>
          <a:p>
            <a:pPr lvl="1"/>
            <a:r>
              <a:rPr lang="en-US" altLang="zh-CN" sz="2800" smtClean="0">
                <a:solidFill>
                  <a:srgbClr val="FF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 = {0,1}</a:t>
            </a:r>
          </a:p>
          <a:p>
            <a:pPr lvl="1"/>
            <a:r>
              <a:rPr lang="en-US" altLang="zh-CN" sz="2800" smtClean="0">
                <a:ea typeface="宋体" panose="02010600030101010101" pitchFamily="2" charset="-122"/>
                <a:sym typeface="Symbol" panose="05050102010706020507" pitchFamily="18" charset="2"/>
              </a:rPr>
              <a:t>0|1 =&gt; {0,1}</a:t>
            </a:r>
          </a:p>
          <a:p>
            <a:pPr lvl="1"/>
            <a:r>
              <a:rPr lang="en-US" altLang="zh-CN" sz="2800" smtClean="0">
                <a:ea typeface="宋体" panose="02010600030101010101" pitchFamily="2" charset="-122"/>
                <a:sym typeface="Symbol" panose="05050102010706020507" pitchFamily="18" charset="2"/>
              </a:rPr>
              <a:t>(0|1)(0|1)  =&gt;  {00,01,10,11}</a:t>
            </a:r>
          </a:p>
          <a:p>
            <a:pPr lvl="1"/>
            <a:r>
              <a:rPr lang="en-US" altLang="zh-CN" sz="2800" smtClean="0">
                <a:ea typeface="宋体" panose="02010600030101010101" pitchFamily="2" charset="-122"/>
                <a:sym typeface="Symbol" panose="05050102010706020507" pitchFamily="18" charset="2"/>
              </a:rPr>
              <a:t>0</a:t>
            </a:r>
            <a:r>
              <a:rPr lang="en-US" altLang="zh-CN" sz="2800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*</a:t>
            </a:r>
            <a:r>
              <a:rPr lang="en-US" altLang="zh-CN" sz="28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   </a:t>
            </a:r>
            <a:r>
              <a:rPr lang="en-US" altLang="zh-CN" sz="2800" smtClean="0">
                <a:ea typeface="宋体" panose="02010600030101010101" pitchFamily="2" charset="-122"/>
                <a:sym typeface="Symbol" panose="05050102010706020507" pitchFamily="18" charset="2"/>
              </a:rPr>
              <a:t>=&gt;</a:t>
            </a:r>
          </a:p>
          <a:p>
            <a:pPr lvl="1"/>
            <a:r>
              <a:rPr lang="en-US" altLang="zh-CN" sz="2800" smtClean="0">
                <a:ea typeface="宋体" panose="02010600030101010101" pitchFamily="2" charset="-122"/>
                <a:sym typeface="Symbol" panose="05050102010706020507" pitchFamily="18" charset="2"/>
              </a:rPr>
              <a:t>(0|1)</a:t>
            </a:r>
            <a:r>
              <a:rPr lang="en-US" altLang="zh-CN" sz="2800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*</a:t>
            </a:r>
            <a:r>
              <a:rPr lang="en-US" altLang="zh-CN" sz="28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   </a:t>
            </a:r>
            <a:r>
              <a:rPr lang="en-US" altLang="zh-CN" sz="2800" smtClean="0">
                <a:ea typeface="宋体" panose="02010600030101010101" pitchFamily="2" charset="-122"/>
                <a:sym typeface="Symbol" panose="05050102010706020507" pitchFamily="18" charset="2"/>
              </a:rPr>
              <a:t>=&gt;</a:t>
            </a:r>
            <a:endParaRPr lang="zh-CN" altLang="en-US" sz="28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>
              <a:buFontTx/>
              <a:buNone/>
            </a:pPr>
            <a:r>
              <a:rPr lang="en-US" altLang="zh-CN" sz="2800" smtClean="0">
                <a:ea typeface="宋体" panose="02010600030101010101" pitchFamily="2" charset="-122"/>
                <a:sym typeface="Symbol" panose="05050102010706020507" pitchFamily="18" charset="2"/>
              </a:rPr>
              <a:t> 			</a:t>
            </a:r>
          </a:p>
        </p:txBody>
      </p:sp>
      <p:sp>
        <p:nvSpPr>
          <p:cNvPr id="35847" name="Rectangle 1045"/>
          <p:cNvSpPr>
            <a:spLocks noChangeArrowheads="1"/>
          </p:cNvSpPr>
          <p:nvPr/>
        </p:nvSpPr>
        <p:spPr bwMode="auto">
          <a:xfrm>
            <a:off x="6969125" y="3429000"/>
            <a:ext cx="64135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3600" b="0">
                <a:solidFill>
                  <a:srgbClr val="FF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？</a:t>
            </a:r>
          </a:p>
          <a:p>
            <a:r>
              <a:rPr lang="zh-CN" altLang="en-US" sz="3600" b="0">
                <a:solidFill>
                  <a:srgbClr val="FF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？</a:t>
            </a:r>
          </a:p>
        </p:txBody>
      </p:sp>
      <p:sp>
        <p:nvSpPr>
          <p:cNvPr id="295958" name="Rectangle 1046"/>
          <p:cNvSpPr>
            <a:spLocks noChangeArrowheads="1"/>
          </p:cNvSpPr>
          <p:nvPr/>
        </p:nvSpPr>
        <p:spPr bwMode="auto">
          <a:xfrm>
            <a:off x="2576513" y="3665538"/>
            <a:ext cx="33496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800" b="0">
                <a:ea typeface="宋体" panose="02010600030101010101" pitchFamily="2" charset="-122"/>
                <a:sym typeface="Symbol" panose="05050102010706020507" pitchFamily="18" charset="2"/>
              </a:rPr>
              <a:t>{ ,0,00,000,0000,....}</a:t>
            </a:r>
            <a:endParaRPr lang="zh-CN" altLang="en-US" sz="2800" b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95959" name="Rectangle 1047"/>
          <p:cNvSpPr>
            <a:spLocks noChangeArrowheads="1"/>
          </p:cNvSpPr>
          <p:nvPr/>
        </p:nvSpPr>
        <p:spPr bwMode="auto">
          <a:xfrm>
            <a:off x="1784350" y="4581525"/>
            <a:ext cx="78041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>
              <a:spcBef>
                <a:spcPct val="20000"/>
              </a:spcBef>
            </a:pPr>
            <a:r>
              <a:rPr lang="en-US" altLang="zh-CN" sz="2800" b="0">
                <a:ea typeface="宋体" panose="02010600030101010101" pitchFamily="2" charset="-122"/>
                <a:sym typeface="Symbol" panose="05050102010706020507" pitchFamily="18" charset="2"/>
              </a:rPr>
              <a:t>all strings with 0 and 1, including the empty string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95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95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5958" grpId="0"/>
      <p:bldP spid="29595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◎2005 ECNU SEI</a:t>
            </a:r>
            <a:endParaRPr lang="en-US" altLang="zh-CN" sz="800" b="0" smtClean="0"/>
          </a:p>
        </p:txBody>
      </p:sp>
      <p:sp>
        <p:nvSpPr>
          <p:cNvPr id="3686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Compilers: Principles, Techniques, and Tools</a:t>
            </a:r>
            <a:endParaRPr lang="en-US" altLang="zh-CN" sz="800" b="0" smtClean="0"/>
          </a:p>
        </p:txBody>
      </p:sp>
      <p:sp>
        <p:nvSpPr>
          <p:cNvPr id="3686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0D4BE6A-1E66-4A6B-9012-B4F2ED5FC08B}" type="slidenum">
              <a:rPr lang="zh-CN" altLang="en-US" sz="800" b="0"/>
              <a:pPr/>
              <a:t>35</a:t>
            </a:fld>
            <a:endParaRPr lang="en-US" altLang="zh-CN" sz="800" b="0"/>
          </a:p>
        </p:txBody>
      </p:sp>
      <p:sp>
        <p:nvSpPr>
          <p:cNvPr id="36869" name="Rectangle 8"/>
          <p:cNvSpPr>
            <a:spLocks noChangeArrowheads="1"/>
          </p:cNvSpPr>
          <p:nvPr/>
        </p:nvSpPr>
        <p:spPr bwMode="auto">
          <a:xfrm>
            <a:off x="1081088" y="233363"/>
            <a:ext cx="8062912" cy="1111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 sz="3200">
                <a:solidFill>
                  <a:schemeClr val="tx2"/>
                </a:solidFill>
                <a:ea typeface="宋体" panose="02010600030101010101" pitchFamily="2" charset="-122"/>
              </a:rPr>
              <a:t>Regular Expressions (Ex.) </a:t>
            </a:r>
          </a:p>
        </p:txBody>
      </p:sp>
      <p:sp>
        <p:nvSpPr>
          <p:cNvPr id="36870" name="Text Box 9"/>
          <p:cNvSpPr txBox="1">
            <a:spLocks noChangeArrowheads="1"/>
          </p:cNvSpPr>
          <p:nvPr/>
        </p:nvSpPr>
        <p:spPr bwMode="auto">
          <a:xfrm>
            <a:off x="1752600" y="1681163"/>
            <a:ext cx="6248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>
                <a:ea typeface="宋体" panose="02010600030101010101" pitchFamily="2" charset="-122"/>
              </a:rPr>
              <a:t>P = {A, B, C, D }          Q = {1, 2, 3}</a:t>
            </a:r>
          </a:p>
        </p:txBody>
      </p:sp>
      <p:sp>
        <p:nvSpPr>
          <p:cNvPr id="36871" name="Text Box 10"/>
          <p:cNvSpPr txBox="1">
            <a:spLocks noChangeArrowheads="1"/>
          </p:cNvSpPr>
          <p:nvPr/>
        </p:nvSpPr>
        <p:spPr bwMode="auto">
          <a:xfrm>
            <a:off x="1136650" y="2924175"/>
            <a:ext cx="7632700" cy="2128838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P</a:t>
            </a:r>
            <a:r>
              <a:rPr lang="zh-CN" altLang="en-US">
                <a:ea typeface="宋体" panose="02010600030101010101" pitchFamily="2" charset="-122"/>
              </a:rPr>
              <a:t>＝</a:t>
            </a:r>
            <a:r>
              <a:rPr lang="en-US" altLang="zh-CN">
                <a:ea typeface="宋体" panose="02010600030101010101" pitchFamily="2" charset="-122"/>
              </a:rPr>
              <a:t>L(A | B | C | D  )</a:t>
            </a:r>
          </a:p>
          <a:p>
            <a:pPr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P</a:t>
            </a:r>
            <a:r>
              <a:rPr lang="en-US" altLang="zh-CN" baseline="30000">
                <a:ea typeface="宋体" panose="02010600030101010101" pitchFamily="2" charset="-122"/>
              </a:rPr>
              <a:t>2</a:t>
            </a:r>
            <a:r>
              <a:rPr lang="zh-CN" altLang="en-US">
                <a:ea typeface="宋体" panose="02010600030101010101" pitchFamily="2" charset="-122"/>
              </a:rPr>
              <a:t>＝</a:t>
            </a:r>
            <a:r>
              <a:rPr lang="en-US" altLang="zh-CN">
                <a:ea typeface="宋体" panose="02010600030101010101" pitchFamily="2" charset="-122"/>
              </a:rPr>
              <a:t>L((A | B | C | D ) (A | B | C | D ) )</a:t>
            </a:r>
            <a:endParaRPr lang="en-US" altLang="zh-CN" baseline="30000"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P*</a:t>
            </a:r>
            <a:r>
              <a:rPr lang="zh-CN" altLang="en-US">
                <a:ea typeface="宋体" panose="02010600030101010101" pitchFamily="2" charset="-122"/>
              </a:rPr>
              <a:t>＝</a:t>
            </a:r>
            <a:r>
              <a:rPr lang="en-US" altLang="zh-CN">
                <a:ea typeface="宋体" panose="02010600030101010101" pitchFamily="2" charset="-122"/>
              </a:rPr>
              <a:t>L(A | B | C | D )*</a:t>
            </a:r>
          </a:p>
          <a:p>
            <a:pPr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P (P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 Q)</a:t>
            </a:r>
            <a:r>
              <a:rPr lang="zh-CN" altLang="en-US">
                <a:ea typeface="宋体" panose="02010600030101010101" pitchFamily="2" charset="-122"/>
                <a:sym typeface="Symbol" panose="05050102010706020507" pitchFamily="18" charset="2"/>
              </a:rPr>
              <a:t>＝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L</a:t>
            </a:r>
            <a:r>
              <a:rPr lang="en-US" altLang="zh-CN">
                <a:solidFill>
                  <a:srgbClr val="FF33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>
                <a:ea typeface="宋体" panose="02010600030101010101" pitchFamily="2" charset="-122"/>
              </a:rPr>
              <a:t>(A | B | C | D )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(</a:t>
            </a:r>
            <a:r>
              <a:rPr lang="en-US" altLang="zh-CN">
                <a:ea typeface="宋体" panose="02010600030101010101" pitchFamily="2" charset="-122"/>
              </a:rPr>
              <a:t>(A | B | C | D ) | ( 1 | 2 | 3 )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)</a:t>
            </a:r>
            <a:r>
              <a:rPr lang="en-US" altLang="zh-CN">
                <a:solidFill>
                  <a:srgbClr val="FF3300"/>
                </a:solidFill>
                <a:ea typeface="宋体" panose="02010600030101010101" pitchFamily="2" charset="-122"/>
              </a:rPr>
              <a:t>)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日期占位符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◎2005 ECNU SEI</a:t>
            </a:r>
            <a:endParaRPr lang="en-US" altLang="zh-CN" sz="800" b="0" smtClean="0"/>
          </a:p>
        </p:txBody>
      </p:sp>
      <p:sp>
        <p:nvSpPr>
          <p:cNvPr id="37891" name="页脚占位符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Compilers: Principles, Techniques, and Tools</a:t>
            </a:r>
            <a:endParaRPr lang="en-US" altLang="zh-CN" sz="800" b="0" smtClean="0"/>
          </a:p>
        </p:txBody>
      </p:sp>
      <p:sp>
        <p:nvSpPr>
          <p:cNvPr id="37892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64869F0-F322-44F0-8C49-D0285A1F95A2}" type="slidenum">
              <a:rPr lang="zh-CN" altLang="en-US" sz="800" b="0"/>
              <a:pPr/>
              <a:t>36</a:t>
            </a:fld>
            <a:endParaRPr lang="en-US" altLang="zh-CN" sz="800" b="0"/>
          </a:p>
        </p:txBody>
      </p:sp>
      <p:sp>
        <p:nvSpPr>
          <p:cNvPr id="37893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5229225"/>
            <a:ext cx="8882062" cy="914400"/>
          </a:xfrm>
        </p:spPr>
        <p:txBody>
          <a:bodyPr/>
          <a:lstStyle/>
          <a:p>
            <a:r>
              <a:rPr lang="en-US" altLang="zh-CN" sz="2400" b="0" smtClean="0">
                <a:ea typeface="宋体" panose="02010600030101010101" pitchFamily="2" charset="-122"/>
              </a:rPr>
              <a:t>Fig.3.9 Algebraic Properties of Regular Expressions (P.96)</a:t>
            </a:r>
          </a:p>
        </p:txBody>
      </p:sp>
      <p:grpSp>
        <p:nvGrpSpPr>
          <p:cNvPr id="37894" name="Group 3"/>
          <p:cNvGrpSpPr>
            <a:grpSpLocks/>
          </p:cNvGrpSpPr>
          <p:nvPr/>
        </p:nvGrpSpPr>
        <p:grpSpPr bwMode="auto">
          <a:xfrm>
            <a:off x="704850" y="1125538"/>
            <a:ext cx="8667750" cy="3886200"/>
            <a:chOff x="1104" y="1104"/>
            <a:chExt cx="3984" cy="2064"/>
          </a:xfrm>
        </p:grpSpPr>
        <p:sp>
          <p:nvSpPr>
            <p:cNvPr id="37895" name="Line 4"/>
            <p:cNvSpPr>
              <a:spLocks noChangeShapeType="1"/>
            </p:cNvSpPr>
            <p:nvPr/>
          </p:nvSpPr>
          <p:spPr bwMode="auto">
            <a:xfrm>
              <a:off x="1104" y="1104"/>
              <a:ext cx="37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896" name="Line 5"/>
            <p:cNvSpPr>
              <a:spLocks noChangeShapeType="1"/>
            </p:cNvSpPr>
            <p:nvPr/>
          </p:nvSpPr>
          <p:spPr bwMode="auto">
            <a:xfrm>
              <a:off x="1104" y="1152"/>
              <a:ext cx="37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897" name="Line 6"/>
            <p:cNvSpPr>
              <a:spLocks noChangeShapeType="1"/>
            </p:cNvSpPr>
            <p:nvPr/>
          </p:nvSpPr>
          <p:spPr bwMode="auto">
            <a:xfrm>
              <a:off x="1104" y="2256"/>
              <a:ext cx="37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898" name="Line 7"/>
            <p:cNvSpPr>
              <a:spLocks noChangeShapeType="1"/>
            </p:cNvSpPr>
            <p:nvPr/>
          </p:nvSpPr>
          <p:spPr bwMode="auto">
            <a:xfrm>
              <a:off x="1104" y="2928"/>
              <a:ext cx="37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899" name="Line 8"/>
            <p:cNvSpPr>
              <a:spLocks noChangeShapeType="1"/>
            </p:cNvSpPr>
            <p:nvPr/>
          </p:nvSpPr>
          <p:spPr bwMode="auto">
            <a:xfrm>
              <a:off x="1104" y="2688"/>
              <a:ext cx="37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00" name="Line 9"/>
            <p:cNvSpPr>
              <a:spLocks noChangeShapeType="1"/>
            </p:cNvSpPr>
            <p:nvPr/>
          </p:nvSpPr>
          <p:spPr bwMode="auto">
            <a:xfrm>
              <a:off x="1104" y="3168"/>
              <a:ext cx="37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01" name="Line 10"/>
            <p:cNvSpPr>
              <a:spLocks noChangeShapeType="1"/>
            </p:cNvSpPr>
            <p:nvPr/>
          </p:nvSpPr>
          <p:spPr bwMode="auto">
            <a:xfrm>
              <a:off x="1104" y="1920"/>
              <a:ext cx="37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02" name="Line 11"/>
            <p:cNvSpPr>
              <a:spLocks noChangeShapeType="1"/>
            </p:cNvSpPr>
            <p:nvPr/>
          </p:nvSpPr>
          <p:spPr bwMode="auto">
            <a:xfrm>
              <a:off x="1104" y="1728"/>
              <a:ext cx="37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03" name="Line 12"/>
            <p:cNvSpPr>
              <a:spLocks noChangeShapeType="1"/>
            </p:cNvSpPr>
            <p:nvPr/>
          </p:nvSpPr>
          <p:spPr bwMode="auto">
            <a:xfrm>
              <a:off x="1104" y="1536"/>
              <a:ext cx="37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04" name="Line 13"/>
            <p:cNvSpPr>
              <a:spLocks noChangeShapeType="1"/>
            </p:cNvSpPr>
            <p:nvPr/>
          </p:nvSpPr>
          <p:spPr bwMode="auto">
            <a:xfrm>
              <a:off x="1104" y="1344"/>
              <a:ext cx="37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05" name="Text Box 14"/>
            <p:cNvSpPr txBox="1">
              <a:spLocks noChangeArrowheads="1"/>
            </p:cNvSpPr>
            <p:nvPr/>
          </p:nvSpPr>
          <p:spPr bwMode="auto">
            <a:xfrm>
              <a:off x="1104" y="1152"/>
              <a:ext cx="140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 sz="2000">
                  <a:ea typeface="宋体" panose="02010600030101010101" pitchFamily="2" charset="-122"/>
                </a:rPr>
                <a:t>AXIOM</a:t>
              </a:r>
            </a:p>
          </p:txBody>
        </p:sp>
        <p:sp>
          <p:nvSpPr>
            <p:cNvPr id="37906" name="Line 15"/>
            <p:cNvSpPr>
              <a:spLocks noChangeShapeType="1"/>
            </p:cNvSpPr>
            <p:nvPr/>
          </p:nvSpPr>
          <p:spPr bwMode="auto">
            <a:xfrm flipV="1">
              <a:off x="2592" y="1152"/>
              <a:ext cx="0" cy="20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07" name="Text Box 16"/>
            <p:cNvSpPr txBox="1">
              <a:spLocks noChangeArrowheads="1"/>
            </p:cNvSpPr>
            <p:nvPr/>
          </p:nvSpPr>
          <p:spPr bwMode="auto">
            <a:xfrm>
              <a:off x="2592" y="1152"/>
              <a:ext cx="2304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 sz="2000">
                  <a:ea typeface="宋体" panose="02010600030101010101" pitchFamily="2" charset="-122"/>
                </a:rPr>
                <a:t>DESCRIPTION</a:t>
              </a:r>
            </a:p>
          </p:txBody>
        </p:sp>
        <p:sp>
          <p:nvSpPr>
            <p:cNvPr id="37908" name="Text Box 17"/>
            <p:cNvSpPr txBox="1">
              <a:spLocks noChangeArrowheads="1"/>
            </p:cNvSpPr>
            <p:nvPr/>
          </p:nvSpPr>
          <p:spPr bwMode="auto">
            <a:xfrm>
              <a:off x="1104" y="1344"/>
              <a:ext cx="140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 sz="2000">
                  <a:ea typeface="宋体" panose="02010600030101010101" pitchFamily="2" charset="-122"/>
                </a:rPr>
                <a:t>r | s = s | r</a:t>
              </a:r>
            </a:p>
          </p:txBody>
        </p:sp>
        <p:sp>
          <p:nvSpPr>
            <p:cNvPr id="37909" name="Text Box 18"/>
            <p:cNvSpPr txBox="1">
              <a:spLocks noChangeArrowheads="1"/>
            </p:cNvSpPr>
            <p:nvPr/>
          </p:nvSpPr>
          <p:spPr bwMode="auto">
            <a:xfrm>
              <a:off x="1104" y="1536"/>
              <a:ext cx="140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 sz="2000">
                  <a:ea typeface="宋体" panose="02010600030101010101" pitchFamily="2" charset="-122"/>
                </a:rPr>
                <a:t>r | (s | t) =  (r | s) | t</a:t>
              </a:r>
            </a:p>
          </p:txBody>
        </p:sp>
        <p:sp>
          <p:nvSpPr>
            <p:cNvPr id="37910" name="Text Box 19"/>
            <p:cNvSpPr txBox="1">
              <a:spLocks noChangeArrowheads="1"/>
            </p:cNvSpPr>
            <p:nvPr/>
          </p:nvSpPr>
          <p:spPr bwMode="auto">
            <a:xfrm>
              <a:off x="1104" y="1728"/>
              <a:ext cx="140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 sz="2000">
                  <a:ea typeface="宋体" panose="02010600030101010101" pitchFamily="2" charset="-122"/>
                </a:rPr>
                <a:t>(r  s) t =  r (s t)</a:t>
              </a:r>
            </a:p>
          </p:txBody>
        </p:sp>
        <p:sp>
          <p:nvSpPr>
            <p:cNvPr id="37911" name="Text Box 20"/>
            <p:cNvSpPr txBox="1">
              <a:spLocks noChangeArrowheads="1"/>
            </p:cNvSpPr>
            <p:nvPr/>
          </p:nvSpPr>
          <p:spPr bwMode="auto">
            <a:xfrm>
              <a:off x="1104" y="2304"/>
              <a:ext cx="1402" cy="3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zh-CN" altLang="en-US" sz="2000">
                  <a:ea typeface="宋体" panose="02010600030101010101" pitchFamily="2" charset="-122"/>
                  <a:sym typeface="Symbol" panose="05050102010706020507" pitchFamily="18" charset="2"/>
                </a:rPr>
                <a:t></a:t>
              </a:r>
              <a:r>
                <a:rPr lang="en-US" altLang="zh-CN" sz="2000">
                  <a:ea typeface="宋体" panose="02010600030101010101" pitchFamily="2" charset="-122"/>
                </a:rPr>
                <a:t>r = r</a:t>
              </a:r>
            </a:p>
            <a:p>
              <a:pPr algn="ctr"/>
              <a:r>
                <a:rPr lang="en-US" altLang="zh-CN" sz="2000">
                  <a:ea typeface="宋体" panose="02010600030101010101" pitchFamily="2" charset="-122"/>
                </a:rPr>
                <a:t>r</a:t>
              </a:r>
              <a:r>
                <a:rPr lang="en-US" altLang="zh-CN" sz="2000">
                  <a:ea typeface="宋体" panose="02010600030101010101" pitchFamily="2" charset="-122"/>
                  <a:sym typeface="Symbol" panose="05050102010706020507" pitchFamily="18" charset="2"/>
                </a:rPr>
                <a:t></a:t>
              </a:r>
              <a:r>
                <a:rPr lang="en-US" altLang="zh-CN" sz="2000">
                  <a:ea typeface="宋体" panose="02010600030101010101" pitchFamily="2" charset="-122"/>
                </a:rPr>
                <a:t> = r</a:t>
              </a:r>
            </a:p>
          </p:txBody>
        </p:sp>
        <p:sp>
          <p:nvSpPr>
            <p:cNvPr id="37912" name="Text Box 21"/>
            <p:cNvSpPr txBox="1">
              <a:spLocks noChangeArrowheads="1"/>
            </p:cNvSpPr>
            <p:nvPr/>
          </p:nvSpPr>
          <p:spPr bwMode="auto">
            <a:xfrm>
              <a:off x="1104" y="2688"/>
              <a:ext cx="1402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 sz="2000">
                  <a:ea typeface="宋体" panose="02010600030101010101" pitchFamily="2" charset="-122"/>
                </a:rPr>
                <a:t>r* = ( r | </a:t>
              </a:r>
              <a:r>
                <a:rPr lang="en-US" altLang="zh-CN" sz="2000">
                  <a:ea typeface="宋体" panose="02010600030101010101" pitchFamily="2" charset="-122"/>
                  <a:sym typeface="Symbol" panose="05050102010706020507" pitchFamily="18" charset="2"/>
                </a:rPr>
                <a:t> )*</a:t>
              </a:r>
              <a:endParaRPr lang="en-US" altLang="zh-CN" sz="2000">
                <a:ea typeface="宋体" panose="02010600030101010101" pitchFamily="2" charset="-122"/>
              </a:endParaRPr>
            </a:p>
          </p:txBody>
        </p:sp>
        <p:sp>
          <p:nvSpPr>
            <p:cNvPr id="37913" name="Text Box 22"/>
            <p:cNvSpPr txBox="1">
              <a:spLocks noChangeArrowheads="1"/>
            </p:cNvSpPr>
            <p:nvPr/>
          </p:nvSpPr>
          <p:spPr bwMode="auto">
            <a:xfrm>
              <a:off x="1104" y="1920"/>
              <a:ext cx="1402" cy="3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 sz="2000">
                  <a:ea typeface="宋体" panose="02010600030101010101" pitchFamily="2" charset="-122"/>
                </a:rPr>
                <a:t>r ( s | t ) = r s | r t</a:t>
              </a:r>
            </a:p>
            <a:p>
              <a:pPr algn="ctr"/>
              <a:r>
                <a:rPr lang="en-US" altLang="zh-CN" sz="2000">
                  <a:ea typeface="宋体" panose="02010600030101010101" pitchFamily="2" charset="-122"/>
                </a:rPr>
                <a:t>( s | t ) r = s r | t r</a:t>
              </a:r>
            </a:p>
          </p:txBody>
        </p:sp>
        <p:sp>
          <p:nvSpPr>
            <p:cNvPr id="37914" name="Text Box 23"/>
            <p:cNvSpPr txBox="1">
              <a:spLocks noChangeArrowheads="1"/>
            </p:cNvSpPr>
            <p:nvPr/>
          </p:nvSpPr>
          <p:spPr bwMode="auto">
            <a:xfrm>
              <a:off x="1152" y="2928"/>
              <a:ext cx="140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 sz="2000">
                  <a:ea typeface="宋体" panose="02010600030101010101" pitchFamily="2" charset="-122"/>
                </a:rPr>
                <a:t>r** = r*</a:t>
              </a:r>
            </a:p>
          </p:txBody>
        </p:sp>
        <p:sp>
          <p:nvSpPr>
            <p:cNvPr id="37915" name="Text Box 24"/>
            <p:cNvSpPr txBox="1">
              <a:spLocks noChangeArrowheads="1"/>
            </p:cNvSpPr>
            <p:nvPr/>
          </p:nvSpPr>
          <p:spPr bwMode="auto">
            <a:xfrm>
              <a:off x="2736" y="1344"/>
              <a:ext cx="216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sz="2000">
                  <a:ea typeface="宋体" panose="02010600030101010101" pitchFamily="2" charset="-122"/>
                </a:rPr>
                <a:t>|  is commutative</a:t>
              </a:r>
            </a:p>
          </p:txBody>
        </p:sp>
        <p:sp>
          <p:nvSpPr>
            <p:cNvPr id="37916" name="Text Box 25"/>
            <p:cNvSpPr txBox="1">
              <a:spLocks noChangeArrowheads="1"/>
            </p:cNvSpPr>
            <p:nvPr/>
          </p:nvSpPr>
          <p:spPr bwMode="auto">
            <a:xfrm>
              <a:off x="2736" y="1536"/>
              <a:ext cx="216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sz="2000">
                  <a:ea typeface="宋体" panose="02010600030101010101" pitchFamily="2" charset="-122"/>
                </a:rPr>
                <a:t>|  is associative</a:t>
              </a:r>
            </a:p>
          </p:txBody>
        </p:sp>
        <p:sp>
          <p:nvSpPr>
            <p:cNvPr id="37917" name="Text Box 26"/>
            <p:cNvSpPr txBox="1">
              <a:spLocks noChangeArrowheads="1"/>
            </p:cNvSpPr>
            <p:nvPr/>
          </p:nvSpPr>
          <p:spPr bwMode="auto">
            <a:xfrm>
              <a:off x="2736" y="1728"/>
              <a:ext cx="216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sz="2000">
                  <a:ea typeface="宋体" panose="02010600030101010101" pitchFamily="2" charset="-122"/>
                </a:rPr>
                <a:t>concatenation  is associative</a:t>
              </a:r>
            </a:p>
          </p:txBody>
        </p:sp>
        <p:sp>
          <p:nvSpPr>
            <p:cNvPr id="37918" name="Text Box 27"/>
            <p:cNvSpPr txBox="1">
              <a:spLocks noChangeArrowheads="1"/>
            </p:cNvSpPr>
            <p:nvPr/>
          </p:nvSpPr>
          <p:spPr bwMode="auto">
            <a:xfrm>
              <a:off x="2736" y="2016"/>
              <a:ext cx="216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sz="2000">
                  <a:ea typeface="宋体" panose="02010600030101010101" pitchFamily="2" charset="-122"/>
                </a:rPr>
                <a:t>concatenation distributes over |</a:t>
              </a:r>
            </a:p>
          </p:txBody>
        </p:sp>
        <p:sp>
          <p:nvSpPr>
            <p:cNvPr id="37919" name="Text Box 28"/>
            <p:cNvSpPr txBox="1">
              <a:spLocks noChangeArrowheads="1"/>
            </p:cNvSpPr>
            <p:nvPr/>
          </p:nvSpPr>
          <p:spPr bwMode="auto">
            <a:xfrm>
              <a:off x="2688" y="2688"/>
              <a:ext cx="2160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sz="2000">
                  <a:ea typeface="宋体" panose="02010600030101010101" pitchFamily="2" charset="-122"/>
                </a:rPr>
                <a:t>relation between * and </a:t>
              </a:r>
              <a:r>
                <a:rPr lang="en-US" altLang="zh-CN" sz="2000">
                  <a:ea typeface="宋体" panose="02010600030101010101" pitchFamily="2" charset="-122"/>
                  <a:sym typeface="Symbol" panose="05050102010706020507" pitchFamily="18" charset="2"/>
                </a:rPr>
                <a:t></a:t>
              </a:r>
              <a:endParaRPr lang="en-US" altLang="zh-CN" sz="2000">
                <a:ea typeface="宋体" panose="02010600030101010101" pitchFamily="2" charset="-122"/>
              </a:endParaRPr>
            </a:p>
          </p:txBody>
        </p:sp>
        <p:sp>
          <p:nvSpPr>
            <p:cNvPr id="37920" name="Text Box 29"/>
            <p:cNvSpPr txBox="1">
              <a:spLocks noChangeArrowheads="1"/>
            </p:cNvSpPr>
            <p:nvPr/>
          </p:nvSpPr>
          <p:spPr bwMode="auto">
            <a:xfrm>
              <a:off x="2640" y="2400"/>
              <a:ext cx="2448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 sz="2000">
                  <a:ea typeface="宋体" panose="02010600030101010101" pitchFamily="2" charset="-122"/>
                  <a:sym typeface="Symbol" panose="05050102010706020507" pitchFamily="18" charset="2"/>
                </a:rPr>
                <a:t> </a:t>
              </a:r>
              <a:r>
                <a:rPr lang="en-US" altLang="zh-CN" sz="2000">
                  <a:ea typeface="宋体" panose="02010600030101010101" pitchFamily="2" charset="-122"/>
                  <a:sym typeface="Symbol" panose="05050102010706020507" pitchFamily="18" charset="2"/>
                </a:rPr>
                <a:t>is the identity element for concatenation</a:t>
              </a:r>
              <a:endParaRPr lang="en-US" altLang="zh-CN" sz="2000">
                <a:ea typeface="宋体" panose="02010600030101010101" pitchFamily="2" charset="-122"/>
              </a:endParaRPr>
            </a:p>
          </p:txBody>
        </p:sp>
        <p:sp>
          <p:nvSpPr>
            <p:cNvPr id="37921" name="Text Box 30"/>
            <p:cNvSpPr txBox="1">
              <a:spLocks noChangeArrowheads="1"/>
            </p:cNvSpPr>
            <p:nvPr/>
          </p:nvSpPr>
          <p:spPr bwMode="auto">
            <a:xfrm>
              <a:off x="2688" y="2928"/>
              <a:ext cx="2160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 sz="2000">
                  <a:ea typeface="宋体" panose="02010600030101010101" pitchFamily="2" charset="-122"/>
                </a:rPr>
                <a:t>*  </a:t>
              </a:r>
              <a:r>
                <a:rPr lang="en-US" altLang="zh-CN" sz="2000">
                  <a:ea typeface="宋体" panose="02010600030101010101" pitchFamily="2" charset="-122"/>
                </a:rPr>
                <a:t>is idempotent</a:t>
              </a: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日期占位符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◎2005 ECNU SEI</a:t>
            </a:r>
            <a:endParaRPr lang="en-US" altLang="zh-CN" sz="800" b="0" smtClean="0"/>
          </a:p>
        </p:txBody>
      </p:sp>
      <p:sp>
        <p:nvSpPr>
          <p:cNvPr id="38915" name="页脚占位符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Compilers: Principles, Techniques, and Tools</a:t>
            </a:r>
            <a:endParaRPr lang="en-US" altLang="zh-CN" sz="800" b="0" smtClean="0"/>
          </a:p>
        </p:txBody>
      </p:sp>
      <p:sp>
        <p:nvSpPr>
          <p:cNvPr id="38916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9176B24-38EF-47D4-8DF6-2A9F43E76917}" type="slidenum">
              <a:rPr lang="zh-CN" altLang="en-US" sz="800" b="0"/>
              <a:pPr/>
              <a:t>37</a:t>
            </a:fld>
            <a:endParaRPr lang="en-US" altLang="zh-CN" sz="800" b="0"/>
          </a:p>
        </p:txBody>
      </p:sp>
      <p:sp>
        <p:nvSpPr>
          <p:cNvPr id="38917" name="Rectangle 2"/>
          <p:cNvSpPr>
            <a:spLocks noGrp="1" noChangeArrowheads="1"/>
          </p:cNvSpPr>
          <p:nvPr>
            <p:ph type="title"/>
          </p:nvPr>
        </p:nvSpPr>
        <p:spPr>
          <a:xfrm>
            <a:off x="382588" y="152400"/>
            <a:ext cx="9371012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Regular Expressions (Exercise) </a:t>
            </a:r>
          </a:p>
        </p:txBody>
      </p:sp>
      <p:sp>
        <p:nvSpPr>
          <p:cNvPr id="385027" name="Text Box 3"/>
          <p:cNvSpPr txBox="1">
            <a:spLocks noChangeArrowheads="1"/>
          </p:cNvSpPr>
          <p:nvPr/>
        </p:nvSpPr>
        <p:spPr bwMode="auto">
          <a:xfrm>
            <a:off x="488950" y="1052513"/>
            <a:ext cx="9015413" cy="5265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Char char="•"/>
            </a:pPr>
            <a:r>
              <a:rPr lang="zh-CN" altLang="en-US" sz="2800">
                <a:ea typeface="宋体" panose="02010600030101010101" pitchFamily="2" charset="-122"/>
              </a:rPr>
              <a:t> </a:t>
            </a:r>
            <a:r>
              <a:rPr lang="en-US" altLang="zh-CN" sz="2800" b="0">
                <a:solidFill>
                  <a:srgbClr val="660033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</a:t>
            </a:r>
            <a:r>
              <a:rPr lang="zh-CN" altLang="en-US" sz="2800" b="0">
                <a:solidFill>
                  <a:srgbClr val="660033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＝</a:t>
            </a:r>
            <a:r>
              <a:rPr lang="en-US" altLang="zh-CN" sz="2800" b="0">
                <a:solidFill>
                  <a:srgbClr val="660033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{A,…,Z, a,…,z}</a:t>
            </a:r>
            <a:endParaRPr lang="en-US" altLang="zh-CN" sz="2800">
              <a:solidFill>
                <a:srgbClr val="660033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0">
                <a:ea typeface="宋体" panose="02010600030101010101" pitchFamily="2" charset="-122"/>
              </a:rPr>
              <a:t>   All Strings that start with “</a:t>
            </a:r>
            <a:r>
              <a:rPr lang="en-US" altLang="zh-CN" sz="2800">
                <a:solidFill>
                  <a:srgbClr val="660033"/>
                </a:solidFill>
                <a:ea typeface="宋体" panose="02010600030101010101" pitchFamily="2" charset="-122"/>
              </a:rPr>
              <a:t>tab</a:t>
            </a:r>
            <a:r>
              <a:rPr lang="en-US" altLang="zh-CN" sz="2800" b="0">
                <a:ea typeface="宋体" panose="02010600030101010101" pitchFamily="2" charset="-122"/>
              </a:rPr>
              <a:t>” or end with “</a:t>
            </a:r>
            <a:r>
              <a:rPr lang="en-US" altLang="zh-CN" sz="2800">
                <a:solidFill>
                  <a:srgbClr val="660033"/>
                </a:solidFill>
                <a:ea typeface="宋体" panose="02010600030101010101" pitchFamily="2" charset="-122"/>
              </a:rPr>
              <a:t>bat</a:t>
            </a:r>
            <a:r>
              <a:rPr lang="en-US" altLang="zh-CN" sz="2800" b="0">
                <a:ea typeface="宋体" panose="02010600030101010101" pitchFamily="2" charset="-122"/>
              </a:rPr>
              <a:t>”: </a:t>
            </a:r>
            <a:r>
              <a:rPr lang="en-US" altLang="zh-CN" sz="2800" b="0">
                <a:solidFill>
                  <a:srgbClr val="FF00FF"/>
                </a:solidFill>
                <a:ea typeface="宋体" panose="02010600030101010101" pitchFamily="2" charset="-122"/>
              </a:rPr>
              <a:t>??</a:t>
            </a:r>
          </a:p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>
                <a:ea typeface="宋体" panose="02010600030101010101" pitchFamily="2" charset="-122"/>
              </a:rPr>
              <a:t>       </a:t>
            </a:r>
            <a:r>
              <a:rPr lang="en-US" altLang="zh-CN" sz="2800">
                <a:solidFill>
                  <a:srgbClr val="660033"/>
                </a:solidFill>
                <a:ea typeface="宋体" panose="02010600030101010101" pitchFamily="2" charset="-122"/>
              </a:rPr>
              <a:t>tab</a:t>
            </a:r>
            <a:r>
              <a:rPr lang="en-US" altLang="zh-CN" sz="2800" b="0">
                <a:ea typeface="宋体" panose="02010600030101010101" pitchFamily="2" charset="-122"/>
              </a:rPr>
              <a:t>[A,…,Z,a,...,z]*|[A,…,Z,a,....,z]*</a:t>
            </a:r>
            <a:r>
              <a:rPr lang="en-US" altLang="zh-CN" sz="2800">
                <a:solidFill>
                  <a:srgbClr val="660033"/>
                </a:solidFill>
                <a:ea typeface="宋体" panose="02010600030101010101" pitchFamily="2" charset="-122"/>
              </a:rPr>
              <a:t>bat</a:t>
            </a:r>
            <a:r>
              <a:rPr lang="en-US" altLang="zh-CN" sz="2800" b="0">
                <a:solidFill>
                  <a:srgbClr val="660033"/>
                </a:solidFill>
                <a:ea typeface="宋体" panose="02010600030101010101" pitchFamily="2" charset="-122"/>
              </a:rPr>
              <a:t/>
            </a:r>
            <a:br>
              <a:rPr lang="en-US" altLang="zh-CN" sz="2800" b="0">
                <a:solidFill>
                  <a:srgbClr val="660033"/>
                </a:solidFill>
                <a:ea typeface="宋体" panose="02010600030101010101" pitchFamily="2" charset="-122"/>
              </a:rPr>
            </a:br>
            <a:endParaRPr lang="en-US" altLang="zh-CN" sz="2800" b="0">
              <a:solidFill>
                <a:srgbClr val="660033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Char char="•"/>
            </a:pPr>
            <a:r>
              <a:rPr lang="en-US" altLang="zh-CN" sz="2800" b="0">
                <a:solidFill>
                  <a:srgbClr val="660033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</a:t>
            </a:r>
            <a:r>
              <a:rPr lang="zh-CN" altLang="en-US" sz="2800" b="0">
                <a:solidFill>
                  <a:srgbClr val="660033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＝</a:t>
            </a:r>
            <a:r>
              <a:rPr lang="en-US" altLang="zh-CN" sz="2800" b="0">
                <a:solidFill>
                  <a:srgbClr val="660033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{A,…,Z}</a:t>
            </a:r>
            <a:r>
              <a:rPr lang="en-US" altLang="zh-CN" b="0">
                <a:solidFill>
                  <a:srgbClr val="660033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endParaRPr lang="en-US" altLang="zh-CN" sz="2800" b="0">
              <a:solidFill>
                <a:srgbClr val="660033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0">
                <a:ea typeface="宋体" panose="02010600030101010101" pitchFamily="2" charset="-122"/>
              </a:rPr>
              <a:t>  All Strings in Which Digits </a:t>
            </a:r>
            <a:r>
              <a:rPr lang="en-US" altLang="zh-CN" sz="2800">
                <a:solidFill>
                  <a:srgbClr val="660033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800">
                <a:ea typeface="宋体" panose="02010600030101010101" pitchFamily="2" charset="-122"/>
              </a:rPr>
              <a:t>,</a:t>
            </a:r>
            <a:r>
              <a:rPr lang="en-US" altLang="zh-CN" sz="2800">
                <a:solidFill>
                  <a:srgbClr val="660033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800">
                <a:ea typeface="宋体" panose="02010600030101010101" pitchFamily="2" charset="-122"/>
              </a:rPr>
              <a:t>,</a:t>
            </a:r>
            <a:r>
              <a:rPr lang="en-US" altLang="zh-CN" sz="2800">
                <a:solidFill>
                  <a:srgbClr val="660033"/>
                </a:solidFill>
                <a:ea typeface="宋体" panose="02010600030101010101" pitchFamily="2" charset="-122"/>
              </a:rPr>
              <a:t>3</a:t>
            </a:r>
            <a:r>
              <a:rPr lang="en-US" altLang="zh-CN" sz="2800" b="0">
                <a:ea typeface="宋体" panose="02010600030101010101" pitchFamily="2" charset="-122"/>
              </a:rPr>
              <a:t> exist in ascending numerical order: </a:t>
            </a:r>
            <a:r>
              <a:rPr lang="en-US" altLang="zh-CN" sz="2800" b="0">
                <a:solidFill>
                  <a:srgbClr val="FF00FF"/>
                </a:solidFill>
                <a:ea typeface="宋体" panose="02010600030101010101" pitchFamily="2" charset="-122"/>
              </a:rPr>
              <a:t>??</a:t>
            </a:r>
          </a:p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0">
                <a:ea typeface="宋体" panose="02010600030101010101" pitchFamily="2" charset="-122"/>
              </a:rPr>
              <a:t>     [A,…,Z]*</a:t>
            </a:r>
            <a:r>
              <a:rPr lang="en-US" altLang="zh-CN" sz="2800">
                <a:solidFill>
                  <a:srgbClr val="660033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800" b="0">
                <a:ea typeface="宋体" panose="02010600030101010101" pitchFamily="2" charset="-122"/>
              </a:rPr>
              <a:t> [A,…,Z]*</a:t>
            </a:r>
            <a:r>
              <a:rPr lang="en-US" altLang="zh-CN" sz="2800">
                <a:solidFill>
                  <a:srgbClr val="660033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800" b="0">
                <a:ea typeface="宋体" panose="02010600030101010101" pitchFamily="2" charset="-122"/>
              </a:rPr>
              <a:t> [A,…,Z]*</a:t>
            </a:r>
            <a:r>
              <a:rPr lang="en-US" altLang="zh-CN" sz="2800">
                <a:solidFill>
                  <a:srgbClr val="660033"/>
                </a:solidFill>
                <a:ea typeface="宋体" panose="02010600030101010101" pitchFamily="2" charset="-122"/>
              </a:rPr>
              <a:t>3</a:t>
            </a:r>
            <a:r>
              <a:rPr lang="en-US" altLang="zh-CN" sz="2800" b="0">
                <a:ea typeface="宋体" panose="02010600030101010101" pitchFamily="2" charset="-122"/>
              </a:rPr>
              <a:t> [A,…,Z]*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85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85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850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850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◎2005 ECNU SEI</a:t>
            </a:r>
            <a:endParaRPr lang="en-US" altLang="zh-CN" sz="800" b="0" smtClean="0"/>
          </a:p>
        </p:txBody>
      </p:sp>
      <p:sp>
        <p:nvSpPr>
          <p:cNvPr id="3993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Compilers: Principles, Techniques, and Tools</a:t>
            </a:r>
            <a:endParaRPr lang="en-US" altLang="zh-CN" sz="800" b="0" smtClean="0"/>
          </a:p>
        </p:txBody>
      </p:sp>
      <p:sp>
        <p:nvSpPr>
          <p:cNvPr id="3994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88D7977-C0F7-4FB1-923B-ED6F0F28A54B}" type="slidenum">
              <a:rPr lang="zh-CN" altLang="en-US" sz="800" b="0"/>
              <a:pPr/>
              <a:t>38</a:t>
            </a:fld>
            <a:endParaRPr lang="en-US" altLang="zh-CN" sz="800" b="0"/>
          </a:p>
        </p:txBody>
      </p:sp>
      <p:sp>
        <p:nvSpPr>
          <p:cNvPr id="399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Regular Definitions (P.96)</a:t>
            </a:r>
          </a:p>
        </p:txBody>
      </p:sp>
      <p:sp>
        <p:nvSpPr>
          <p:cNvPr id="3994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To write regular expression for some languages can be difficult, because their regular expressions can be quite complex. In those cases, we may use </a:t>
            </a:r>
            <a:r>
              <a:rPr lang="en-US" altLang="zh-CN" b="1" i="1" smtClean="0">
                <a:solidFill>
                  <a:schemeClr val="accent2"/>
                </a:solidFill>
                <a:ea typeface="宋体" panose="02010600030101010101" pitchFamily="2" charset="-122"/>
              </a:rPr>
              <a:t>regular definitions</a:t>
            </a:r>
            <a:r>
              <a:rPr lang="en-US" altLang="zh-CN" smtClean="0">
                <a:ea typeface="宋体" panose="02010600030101010101" pitchFamily="2" charset="-122"/>
              </a:rPr>
              <a:t>.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We can </a:t>
            </a:r>
            <a:r>
              <a:rPr lang="en-US" altLang="zh-CN" smtClean="0">
                <a:solidFill>
                  <a:srgbClr val="660033"/>
                </a:solidFill>
                <a:ea typeface="宋体" panose="02010600030101010101" pitchFamily="2" charset="-122"/>
              </a:rPr>
              <a:t>give names to regular expressions</a:t>
            </a:r>
            <a:r>
              <a:rPr lang="en-US" altLang="zh-CN" smtClean="0">
                <a:ea typeface="宋体" panose="02010600030101010101" pitchFamily="2" charset="-122"/>
              </a:rPr>
              <a:t>, and we can use these names as symbols to define other regular expressions.</a:t>
            </a:r>
          </a:p>
          <a:p>
            <a:endParaRPr lang="en-US" altLang="zh-CN" smtClean="0">
              <a:ea typeface="宋体" panose="02010600030101010101" pitchFamily="2" charset="-122"/>
            </a:endParaRPr>
          </a:p>
          <a:p>
            <a:r>
              <a:rPr lang="en-US" altLang="zh-CN" smtClean="0">
                <a:ea typeface="宋体" panose="02010600030101010101" pitchFamily="2" charset="-122"/>
              </a:rPr>
              <a:t>A </a:t>
            </a:r>
            <a:r>
              <a:rPr lang="en-US" altLang="zh-CN" b="1" i="1" smtClean="0">
                <a:ea typeface="宋体" panose="02010600030101010101" pitchFamily="2" charset="-122"/>
              </a:rPr>
              <a:t>regular definition</a:t>
            </a:r>
            <a:r>
              <a:rPr lang="en-US" altLang="zh-CN" smtClean="0">
                <a:ea typeface="宋体" panose="02010600030101010101" pitchFamily="2" charset="-122"/>
              </a:rPr>
              <a:t> is a sequence of the definitions of the form: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d</a:t>
            </a:r>
            <a:r>
              <a:rPr lang="en-US" altLang="zh-CN" baseline="-25000" smtClean="0">
                <a:ea typeface="宋体" panose="02010600030101010101" pitchFamily="2" charset="-122"/>
              </a:rPr>
              <a:t>1</a:t>
            </a:r>
            <a:r>
              <a:rPr lang="en-US" altLang="zh-CN" smtClean="0">
                <a:ea typeface="宋体" panose="02010600030101010101" pitchFamily="2" charset="-122"/>
              </a:rPr>
              <a:t> 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  r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		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where  d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 is a distinct name and</a:t>
            </a:r>
            <a:endParaRPr lang="en-US" altLang="zh-CN" baseline="-250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  <a:r>
              <a:rPr lang="en-US" altLang="zh-CN" smtClean="0">
                <a:ea typeface="宋体" panose="02010600030101010101" pitchFamily="2" charset="-122"/>
              </a:rPr>
              <a:t>d</a:t>
            </a:r>
            <a:r>
              <a:rPr lang="en-US" altLang="zh-CN" baseline="-25000" smtClean="0">
                <a:ea typeface="宋体" panose="02010600030101010101" pitchFamily="2" charset="-122"/>
              </a:rPr>
              <a:t>2</a:t>
            </a:r>
            <a:r>
              <a:rPr lang="en-US" altLang="zh-CN" smtClean="0">
                <a:ea typeface="宋体" panose="02010600030101010101" pitchFamily="2" charset="-122"/>
              </a:rPr>
              <a:t> 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  r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2			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i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 is a regular expression over symbols in</a:t>
            </a:r>
            <a:endParaRPr lang="en-US" altLang="zh-CN" smtClean="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      .				     </a:t>
            </a:r>
            <a:r>
              <a:rPr lang="en-US" altLang="zh-CN" smtClean="0">
                <a:solidFill>
                  <a:srgbClr val="660033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{d</a:t>
            </a:r>
            <a:r>
              <a:rPr lang="en-US" altLang="zh-CN" baseline="-25000" smtClean="0">
                <a:solidFill>
                  <a:srgbClr val="660033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mtClean="0">
                <a:solidFill>
                  <a:srgbClr val="660033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,d</a:t>
            </a:r>
            <a:r>
              <a:rPr lang="en-US" altLang="zh-CN" baseline="-25000" smtClean="0">
                <a:solidFill>
                  <a:srgbClr val="660033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mtClean="0">
                <a:solidFill>
                  <a:srgbClr val="660033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,...,d</a:t>
            </a:r>
            <a:r>
              <a:rPr lang="en-US" altLang="zh-CN" baseline="-25000" smtClean="0">
                <a:solidFill>
                  <a:srgbClr val="660033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i-1</a:t>
            </a:r>
            <a:r>
              <a:rPr lang="en-US" altLang="zh-CN" smtClean="0">
                <a:solidFill>
                  <a:srgbClr val="660033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}</a:t>
            </a:r>
            <a:endParaRPr lang="en-US" altLang="zh-CN" smtClean="0">
              <a:solidFill>
                <a:srgbClr val="660033"/>
              </a:solidFill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d</a:t>
            </a:r>
            <a:r>
              <a:rPr lang="en-US" altLang="zh-CN" baseline="-25000" smtClean="0">
                <a:ea typeface="宋体" panose="02010600030101010101" pitchFamily="2" charset="-122"/>
              </a:rPr>
              <a:t>n</a:t>
            </a:r>
            <a:r>
              <a:rPr lang="en-US" altLang="zh-CN" smtClean="0">
                <a:ea typeface="宋体" panose="02010600030101010101" pitchFamily="2" charset="-122"/>
              </a:rPr>
              <a:t> 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  r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endParaRPr lang="en-US" altLang="zh-CN" smtClean="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			        </a:t>
            </a:r>
            <a:r>
              <a:rPr lang="en-US" altLang="zh-CN" sz="1600" smtClean="0">
                <a:ea typeface="宋体" panose="02010600030101010101" pitchFamily="2" charset="-122"/>
              </a:rPr>
              <a:t>basic symbols		previously defined names</a:t>
            </a:r>
          </a:p>
        </p:txBody>
      </p:sp>
      <p:sp>
        <p:nvSpPr>
          <p:cNvPr id="39943" name="Line 4"/>
          <p:cNvSpPr>
            <a:spLocks noChangeShapeType="1"/>
          </p:cNvSpPr>
          <p:nvPr/>
        </p:nvSpPr>
        <p:spPr bwMode="auto">
          <a:xfrm flipV="1">
            <a:off x="4343400" y="5334000"/>
            <a:ext cx="228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44" name="Line 5"/>
          <p:cNvSpPr>
            <a:spLocks noChangeShapeType="1"/>
          </p:cNvSpPr>
          <p:nvPr/>
        </p:nvSpPr>
        <p:spPr bwMode="auto">
          <a:xfrm flipH="1" flipV="1">
            <a:off x="5715000" y="5410200"/>
            <a:ext cx="1066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日期占位符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◎2005 ECNU SEI</a:t>
            </a:r>
            <a:endParaRPr lang="en-US" altLang="zh-CN" sz="800" b="0" smtClean="0"/>
          </a:p>
        </p:txBody>
      </p:sp>
      <p:sp>
        <p:nvSpPr>
          <p:cNvPr id="40963" name="页脚占位符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Compilers: Principles, Techniques, and Tools</a:t>
            </a:r>
            <a:endParaRPr lang="en-US" altLang="zh-CN" sz="800" b="0" smtClean="0"/>
          </a:p>
        </p:txBody>
      </p:sp>
      <p:sp>
        <p:nvSpPr>
          <p:cNvPr id="40964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99A77BB-158A-43E9-9E43-3DF6A8537E1F}" type="slidenum">
              <a:rPr lang="zh-CN" altLang="en-US" sz="800" b="0"/>
              <a:pPr/>
              <a:t>39</a:t>
            </a:fld>
            <a:endParaRPr lang="en-US" altLang="zh-CN" sz="800" b="0"/>
          </a:p>
        </p:txBody>
      </p:sp>
      <p:sp>
        <p:nvSpPr>
          <p:cNvPr id="40965" name="Rectangle 2"/>
          <p:cNvSpPr>
            <a:spLocks noGrp="1" noChangeArrowheads="1"/>
          </p:cNvSpPr>
          <p:nvPr>
            <p:ph type="title"/>
          </p:nvPr>
        </p:nvSpPr>
        <p:spPr>
          <a:xfrm>
            <a:off x="382588" y="152400"/>
            <a:ext cx="9371012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Regular Definitions (cont.) (P.97)</a:t>
            </a:r>
          </a:p>
        </p:txBody>
      </p:sp>
      <p:sp>
        <p:nvSpPr>
          <p:cNvPr id="40966" name="Text Box 3"/>
          <p:cNvSpPr txBox="1">
            <a:spLocks noChangeArrowheads="1"/>
          </p:cNvSpPr>
          <p:nvPr/>
        </p:nvSpPr>
        <p:spPr bwMode="auto">
          <a:xfrm>
            <a:off x="560388" y="1268413"/>
            <a:ext cx="8785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b="0">
                <a:ea typeface="宋体" panose="02010600030101010101" pitchFamily="2" charset="-122"/>
              </a:rPr>
              <a:t>Regular Definitions:  Associate names with Regular Expressions</a:t>
            </a:r>
          </a:p>
        </p:txBody>
      </p:sp>
      <p:sp>
        <p:nvSpPr>
          <p:cNvPr id="40967" name="Text Box 4"/>
          <p:cNvSpPr txBox="1">
            <a:spLocks noChangeArrowheads="1"/>
          </p:cNvSpPr>
          <p:nvPr/>
        </p:nvSpPr>
        <p:spPr bwMode="auto">
          <a:xfrm>
            <a:off x="1485900" y="1752600"/>
            <a:ext cx="80899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>
                <a:ea typeface="宋体" panose="02010600030101010101" pitchFamily="2" charset="-122"/>
              </a:rPr>
              <a:t>Example 3.4 :  PASCAL IDs</a:t>
            </a:r>
          </a:p>
        </p:txBody>
      </p:sp>
      <p:sp>
        <p:nvSpPr>
          <p:cNvPr id="40968" name="Text Box 5"/>
          <p:cNvSpPr txBox="1">
            <a:spLocks noChangeArrowheads="1"/>
          </p:cNvSpPr>
          <p:nvPr/>
        </p:nvSpPr>
        <p:spPr bwMode="auto">
          <a:xfrm>
            <a:off x="2393950" y="2209800"/>
            <a:ext cx="6604000" cy="1127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0">
                <a:ea typeface="宋体" panose="02010600030101010101" pitchFamily="2" charset="-122"/>
              </a:rPr>
              <a:t>letter  </a:t>
            </a:r>
            <a:r>
              <a:rPr lang="en-US" altLang="zh-CN" sz="2000" b="0">
                <a:ea typeface="宋体" panose="02010600030101010101" pitchFamily="2" charset="-122"/>
                <a:sym typeface="Symbol" panose="05050102010706020507" pitchFamily="18" charset="2"/>
              </a:rPr>
              <a:t>  </a:t>
            </a:r>
            <a:r>
              <a:rPr lang="en-US" altLang="zh-CN" sz="2000" b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 | B | C | … | Z | a | b | … | z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sz="2000" b="0">
                <a:ea typeface="宋体" panose="02010600030101010101" pitchFamily="2" charset="-122"/>
                <a:sym typeface="Symbol" panose="05050102010706020507" pitchFamily="18" charset="2"/>
              </a:rPr>
              <a:t>digit   </a:t>
            </a:r>
            <a:r>
              <a:rPr lang="en-US" altLang="zh-CN" sz="2000" b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0 | 1 | 2 | … | 9 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id   </a:t>
            </a:r>
            <a:r>
              <a:rPr lang="en-US" altLang="zh-CN" sz="2000">
                <a:solidFill>
                  <a:srgbClr val="660066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letter ( letter | digit )*</a:t>
            </a:r>
          </a:p>
        </p:txBody>
      </p:sp>
      <p:sp>
        <p:nvSpPr>
          <p:cNvPr id="40969" name="Text Box 6"/>
          <p:cNvSpPr txBox="1">
            <a:spLocks noChangeArrowheads="1"/>
          </p:cNvSpPr>
          <p:nvPr/>
        </p:nvSpPr>
        <p:spPr bwMode="auto">
          <a:xfrm>
            <a:off x="1568450" y="3429000"/>
            <a:ext cx="6913563" cy="185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>
                <a:ea typeface="宋体" panose="02010600030101010101" pitchFamily="2" charset="-122"/>
              </a:rPr>
              <a:t>Shorthand Notation: </a:t>
            </a:r>
          </a:p>
          <a:p>
            <a:pPr lvl="1" eaLnBrk="1" hangingPunct="1">
              <a:lnSpc>
                <a:spcPct val="70000"/>
              </a:lnSpc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en-US" altLang="zh-CN" sz="2000">
                <a:solidFill>
                  <a:srgbClr val="FF3300"/>
                </a:solidFill>
                <a:ea typeface="宋体" panose="02010600030101010101" pitchFamily="2" charset="-122"/>
              </a:rPr>
              <a:t>     “+” : one or more       r* = r</a:t>
            </a:r>
            <a:r>
              <a:rPr lang="en-US" altLang="zh-CN" sz="2000" baseline="30000">
                <a:solidFill>
                  <a:srgbClr val="FF3300"/>
                </a:solidFill>
                <a:ea typeface="宋体" panose="02010600030101010101" pitchFamily="2" charset="-122"/>
              </a:rPr>
              <a:t>+ </a:t>
            </a:r>
            <a:r>
              <a:rPr lang="en-US" altLang="zh-CN" sz="2000">
                <a:solidFill>
                  <a:srgbClr val="FF3300"/>
                </a:solidFill>
                <a:ea typeface="宋体" panose="02010600030101010101" pitchFamily="2" charset="-122"/>
              </a:rPr>
              <a:t>| </a:t>
            </a:r>
            <a:r>
              <a:rPr lang="en-US" altLang="zh-CN" sz="2000">
                <a:solidFill>
                  <a:srgbClr val="FF33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   &amp;    </a:t>
            </a:r>
            <a:r>
              <a:rPr lang="en-US" altLang="zh-CN" sz="2000">
                <a:solidFill>
                  <a:srgbClr val="FF3300"/>
                </a:solidFill>
                <a:ea typeface="宋体" panose="02010600030101010101" pitchFamily="2" charset="-122"/>
              </a:rPr>
              <a:t>r</a:t>
            </a:r>
            <a:r>
              <a:rPr lang="en-US" altLang="zh-CN" sz="2000" baseline="30000">
                <a:solidFill>
                  <a:srgbClr val="FF3300"/>
                </a:solidFill>
                <a:ea typeface="宋体" panose="02010600030101010101" pitchFamily="2" charset="-122"/>
              </a:rPr>
              <a:t>+ </a:t>
            </a:r>
            <a:r>
              <a:rPr lang="en-US" altLang="zh-CN" sz="2000">
                <a:solidFill>
                  <a:srgbClr val="FF3300"/>
                </a:solidFill>
                <a:ea typeface="宋体" panose="02010600030101010101" pitchFamily="2" charset="-122"/>
              </a:rPr>
              <a:t>= r r*</a:t>
            </a:r>
          </a:p>
          <a:p>
            <a:pPr lvl="1" eaLnBrk="1" hangingPunct="1">
              <a:lnSpc>
                <a:spcPct val="70000"/>
              </a:lnSpc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en-US" altLang="zh-CN" sz="2000">
                <a:solidFill>
                  <a:srgbClr val="FF3300"/>
                </a:solidFill>
                <a:ea typeface="宋体" panose="02010600030101010101" pitchFamily="2" charset="-122"/>
              </a:rPr>
              <a:t>     “?” : zero or one	r?=r | </a:t>
            </a:r>
            <a:r>
              <a:rPr lang="en-US" altLang="zh-CN" sz="2000">
                <a:solidFill>
                  <a:srgbClr val="FF33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endParaRPr lang="en-US" altLang="zh-CN" sz="2000">
              <a:solidFill>
                <a:srgbClr val="FF3300"/>
              </a:solidFill>
              <a:ea typeface="宋体" panose="02010600030101010101" pitchFamily="2" charset="-122"/>
            </a:endParaRPr>
          </a:p>
          <a:p>
            <a:pPr lvl="1" eaLnBrk="1" hangingPunct="1">
              <a:lnSpc>
                <a:spcPct val="70000"/>
              </a:lnSpc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en-US" altLang="zh-CN" sz="2000">
                <a:solidFill>
                  <a:srgbClr val="FF3300"/>
                </a:solidFill>
                <a:ea typeface="宋体" panose="02010600030101010101" pitchFamily="2" charset="-122"/>
              </a:rPr>
              <a:t>     [range] : set range of characters (replaces “|” )</a:t>
            </a:r>
          </a:p>
          <a:p>
            <a:pPr lvl="1" eaLnBrk="1" hangingPunct="1">
              <a:lnSpc>
                <a:spcPct val="7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FF3300"/>
                </a:solidFill>
                <a:ea typeface="宋体" panose="02010600030101010101" pitchFamily="2" charset="-122"/>
              </a:rPr>
              <a:t>                   [A-Z] = A | B | C | … | Z</a:t>
            </a:r>
          </a:p>
        </p:txBody>
      </p:sp>
      <p:sp>
        <p:nvSpPr>
          <p:cNvPr id="40970" name="Text Box 7"/>
          <p:cNvSpPr txBox="1">
            <a:spLocks noChangeArrowheads="1"/>
          </p:cNvSpPr>
          <p:nvPr/>
        </p:nvSpPr>
        <p:spPr bwMode="auto">
          <a:xfrm>
            <a:off x="1485900" y="5334000"/>
            <a:ext cx="80899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>
                <a:ea typeface="宋体" panose="02010600030101010101" pitchFamily="2" charset="-122"/>
              </a:rPr>
              <a:t>Example Using Shorthand : PASCAL IDs</a:t>
            </a:r>
          </a:p>
        </p:txBody>
      </p:sp>
      <p:sp>
        <p:nvSpPr>
          <p:cNvPr id="40971" name="Text Box 8"/>
          <p:cNvSpPr txBox="1">
            <a:spLocks noChangeArrowheads="1"/>
          </p:cNvSpPr>
          <p:nvPr/>
        </p:nvSpPr>
        <p:spPr bwMode="auto">
          <a:xfrm>
            <a:off x="1981200" y="5734050"/>
            <a:ext cx="68516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>
                <a:ea typeface="宋体" panose="02010600030101010101" pitchFamily="2" charset="-122"/>
              </a:rPr>
              <a:t>id </a:t>
            </a: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0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[A-Za-z][A-Za-z0-9]*</a:t>
            </a:r>
            <a:endParaRPr lang="en-US" altLang="zh-CN" sz="200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◎2005 ECNU SEI</a:t>
            </a:r>
            <a:endParaRPr lang="en-US" altLang="zh-CN" sz="800" b="0" smtClean="0"/>
          </a:p>
        </p:txBody>
      </p:sp>
      <p:sp>
        <p:nvSpPr>
          <p:cNvPr id="4198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Compilers: Principles, Techniques, and Tools</a:t>
            </a:r>
            <a:endParaRPr lang="en-US" altLang="zh-CN" sz="800" b="0" smtClean="0"/>
          </a:p>
        </p:txBody>
      </p:sp>
      <p:sp>
        <p:nvSpPr>
          <p:cNvPr id="4198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FD5AAB5-BA92-44E1-BFA2-F27AB0F99AED}" type="slidenum">
              <a:rPr lang="zh-CN" altLang="en-US" sz="800" b="0"/>
              <a:pPr/>
              <a:t>40</a:t>
            </a:fld>
            <a:endParaRPr lang="en-US" altLang="zh-CN" sz="800" b="0"/>
          </a:p>
        </p:txBody>
      </p:sp>
      <p:sp>
        <p:nvSpPr>
          <p:cNvPr id="419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Exercise in class</a:t>
            </a:r>
          </a:p>
        </p:txBody>
      </p:sp>
      <p:sp>
        <p:nvSpPr>
          <p:cNvPr id="4199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FontTx/>
              <a:buAutoNum type="arabicPeriod"/>
            </a:pPr>
            <a:r>
              <a:rPr lang="en-US" altLang="zh-CN" sz="2800" smtClean="0">
                <a:ea typeface="宋体" panose="02010600030101010101" pitchFamily="2" charset="-122"/>
              </a:rPr>
              <a:t>Given:∑={ a,b,c}, describing the set of all strings that  contain at most one b with regular expression.</a:t>
            </a:r>
          </a:p>
          <a:p>
            <a:pPr marL="457200" indent="-457200">
              <a:buFontTx/>
              <a:buAutoNum type="arabicPeriod"/>
            </a:pPr>
            <a:r>
              <a:rPr lang="en-US" altLang="zh-CN" sz="2800" smtClean="0">
                <a:ea typeface="宋体" panose="02010600030101010101" pitchFamily="2" charset="-122"/>
              </a:rPr>
              <a:t>Example 3.5:</a:t>
            </a:r>
          </a:p>
          <a:p>
            <a:pPr marL="457200" indent="-457200">
              <a:buFontTx/>
              <a:buNone/>
            </a:pPr>
            <a:r>
              <a:rPr lang="en-US" altLang="zh-CN" sz="2800" smtClean="0">
                <a:ea typeface="宋体" panose="02010600030101010101" pitchFamily="2" charset="-122"/>
              </a:rPr>
              <a:t>		Given:  letter </a:t>
            </a:r>
            <a:r>
              <a:rPr lang="en-US" altLang="zh-CN" sz="2800" smtClean="0">
                <a:ea typeface="宋体" panose="02010600030101010101" pitchFamily="2" charset="-122"/>
                <a:sym typeface="Symbol" panose="05050102010706020507" pitchFamily="18" charset="2"/>
              </a:rPr>
              <a:t> A | B | ... | Z | a | b | ... | z</a:t>
            </a:r>
          </a:p>
          <a:p>
            <a:pPr marL="457200" indent="-457200">
              <a:buFontTx/>
              <a:buNone/>
            </a:pPr>
            <a:r>
              <a:rPr lang="en-US" altLang="zh-CN" sz="2800" smtClean="0">
                <a:ea typeface="宋体" panose="02010600030101010101" pitchFamily="2" charset="-122"/>
                <a:sym typeface="Symbol" panose="05050102010706020507" pitchFamily="18" charset="2"/>
              </a:rPr>
              <a:t>		digit   0 | 1 | ... | 9</a:t>
            </a:r>
          </a:p>
          <a:p>
            <a:pPr marL="457200" indent="-457200">
              <a:buFontTx/>
              <a:buNone/>
            </a:pPr>
            <a:r>
              <a:rPr lang="en-US" altLang="zh-CN" sz="2800" smtClean="0">
                <a:ea typeface="宋体" panose="02010600030101010101" pitchFamily="2" charset="-122"/>
                <a:sym typeface="Symbol" panose="05050102010706020507" pitchFamily="18" charset="2"/>
              </a:rPr>
              <a:t>     Describing</a:t>
            </a:r>
            <a:r>
              <a:rPr lang="en-US" altLang="zh-CN" sz="2800" smtClean="0">
                <a:solidFill>
                  <a:schemeClr val="accent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800" smtClean="0">
                <a:solidFill>
                  <a:srgbClr val="660033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2800" smtClean="0">
                <a:solidFill>
                  <a:srgbClr val="660033"/>
                </a:solidFill>
                <a:ea typeface="宋体" panose="02010600030101010101" pitchFamily="2" charset="-122"/>
              </a:rPr>
              <a:t>dentifiers</a:t>
            </a:r>
            <a:r>
              <a:rPr lang="en-US" altLang="zh-CN" sz="2800" smtClean="0">
                <a:solidFill>
                  <a:schemeClr val="accent1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800" smtClean="0">
                <a:ea typeface="宋体" panose="02010600030101010101" pitchFamily="2" charset="-122"/>
              </a:rPr>
              <a:t>and </a:t>
            </a:r>
            <a:r>
              <a:rPr lang="en-US" altLang="zh-CN" sz="2800" smtClean="0">
                <a:solidFill>
                  <a:srgbClr val="660033"/>
                </a:solidFill>
                <a:ea typeface="宋体" panose="02010600030101010101" pitchFamily="2" charset="-122"/>
              </a:rPr>
              <a:t>numbers</a:t>
            </a:r>
            <a:r>
              <a:rPr lang="en-US" altLang="zh-CN" sz="2800" smtClean="0">
                <a:ea typeface="宋体" panose="02010600030101010101" pitchFamily="2" charset="-122"/>
              </a:rPr>
              <a:t> in Pascal or C with regular expression. </a:t>
            </a:r>
          </a:p>
          <a:p>
            <a:pPr marL="457200" indent="-457200"/>
            <a:endParaRPr lang="zh-CN" altLang="en-US" sz="280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◎2005 ECNU SEI</a:t>
            </a:r>
            <a:endParaRPr lang="en-US" altLang="zh-CN" sz="800" b="0" smtClean="0"/>
          </a:p>
        </p:txBody>
      </p:sp>
      <p:sp>
        <p:nvSpPr>
          <p:cNvPr id="4301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Compilers: Principles, Techniques, and Tools</a:t>
            </a:r>
            <a:endParaRPr lang="en-US" altLang="zh-CN" sz="800" b="0" smtClean="0"/>
          </a:p>
        </p:txBody>
      </p:sp>
      <p:sp>
        <p:nvSpPr>
          <p:cNvPr id="4301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1F1440F-D48C-40B1-BA4E-BB89F153D152}" type="slidenum">
              <a:rPr lang="zh-CN" altLang="en-US" sz="800" b="0"/>
              <a:pPr/>
              <a:t>41</a:t>
            </a:fld>
            <a:endParaRPr lang="en-US" altLang="zh-CN" sz="800" b="0"/>
          </a:p>
        </p:txBody>
      </p:sp>
      <p:sp>
        <p:nvSpPr>
          <p:cNvPr id="430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Exercise in class (cont.)</a:t>
            </a:r>
          </a:p>
        </p:txBody>
      </p:sp>
      <p:sp>
        <p:nvSpPr>
          <p:cNvPr id="544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836613"/>
            <a:ext cx="9372600" cy="56896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EX: ∑={ a,b,c} </a:t>
            </a:r>
          </a:p>
          <a:p>
            <a:pPr lvl="1">
              <a:buFontTx/>
              <a:buNone/>
            </a:pPr>
            <a:r>
              <a:rPr lang="en-US" altLang="zh-CN" sz="2400" smtClean="0">
                <a:ea typeface="宋体" panose="02010600030101010101" pitchFamily="2" charset="-122"/>
              </a:rPr>
              <a:t>     the set of all strings that  contain at most one b.</a:t>
            </a:r>
          </a:p>
          <a:p>
            <a:pPr lvl="1">
              <a:buFontTx/>
              <a:buNone/>
            </a:pPr>
            <a:r>
              <a:rPr lang="en-US" altLang="zh-CN" sz="2400" smtClean="0">
                <a:ea typeface="宋体" panose="02010600030101010101" pitchFamily="2" charset="-122"/>
              </a:rPr>
              <a:t>     </a:t>
            </a:r>
            <a:r>
              <a:rPr lang="en-US" altLang="zh-CN" sz="2400" b="1" smtClean="0">
                <a:solidFill>
                  <a:srgbClr val="660033"/>
                </a:solidFill>
                <a:ea typeface="宋体" panose="02010600030101010101" pitchFamily="2" charset="-122"/>
              </a:rPr>
              <a:t>(a|c)*(b|ε)(a|c)*                 (a|c)*|(a|c)*b(a|c)* </a:t>
            </a:r>
          </a:p>
          <a:p>
            <a:pPr lvl="1">
              <a:buFontTx/>
              <a:buNone/>
            </a:pPr>
            <a:r>
              <a:rPr lang="en-US" altLang="zh-CN" sz="2400" smtClean="0">
                <a:ea typeface="宋体" panose="02010600030101010101" pitchFamily="2" charset="-122"/>
              </a:rPr>
              <a:t>the same language may be generated by many different regular expressions.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Ex: Identifiers in Pascal or C</a:t>
            </a:r>
          </a:p>
          <a:p>
            <a:pPr lvl="1">
              <a:buFontTx/>
              <a:buNone/>
            </a:pPr>
            <a:r>
              <a:rPr lang="en-US" altLang="zh-CN" sz="2400" smtClean="0">
                <a:ea typeface="宋体" panose="02010600030101010101" pitchFamily="2" charset="-122"/>
              </a:rPr>
              <a:t>		letter </a:t>
            </a:r>
            <a:r>
              <a:rPr lang="en-US" altLang="zh-CN" sz="2400" smtClean="0">
                <a:ea typeface="宋体" panose="02010600030101010101" pitchFamily="2" charset="-122"/>
                <a:sym typeface="Symbol" panose="05050102010706020507" pitchFamily="18" charset="2"/>
              </a:rPr>
              <a:t> A | B | ... | Z | a | b | ... | z</a:t>
            </a:r>
          </a:p>
          <a:p>
            <a:pPr lvl="1">
              <a:buFontTx/>
              <a:buNone/>
            </a:pPr>
            <a:r>
              <a:rPr lang="en-US" altLang="zh-CN" sz="2400" smtClean="0">
                <a:ea typeface="宋体" panose="02010600030101010101" pitchFamily="2" charset="-122"/>
                <a:sym typeface="Symbol" panose="05050102010706020507" pitchFamily="18" charset="2"/>
              </a:rPr>
              <a:t>		digit   0 | 1 | ... | 9</a:t>
            </a:r>
          </a:p>
          <a:p>
            <a:pPr lvl="1">
              <a:buFontTx/>
              <a:buNone/>
            </a:pPr>
            <a:r>
              <a:rPr lang="en-US" altLang="zh-CN" sz="2400" smtClean="0"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  <a:r>
              <a:rPr lang="en-US" altLang="zh-CN" sz="2400" b="1" smtClean="0">
                <a:solidFill>
                  <a:srgbClr val="660033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	id  letter (letter | digit ) </a:t>
            </a:r>
            <a:r>
              <a:rPr lang="en-US" altLang="zh-CN" sz="2400" b="1" baseline="30000" smtClean="0">
                <a:solidFill>
                  <a:srgbClr val="660033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</a:t>
            </a:r>
          </a:p>
          <a:p>
            <a:pPr lvl="1"/>
            <a:r>
              <a:rPr lang="en-US" altLang="zh-CN" sz="2400" smtClean="0">
                <a:ea typeface="宋体" panose="02010600030101010101" pitchFamily="2" charset="-122"/>
                <a:sym typeface="Symbol" panose="05050102010706020507" pitchFamily="18" charset="2"/>
              </a:rPr>
              <a:t>If we try to write the regular expression representing identifiers without using regular definitions, that regular expression will be complex.</a:t>
            </a:r>
          </a:p>
          <a:p>
            <a:pPr lvl="1">
              <a:buFontTx/>
              <a:buNone/>
            </a:pPr>
            <a:r>
              <a:rPr lang="en-US" altLang="zh-CN" sz="2400" smtClean="0">
                <a:ea typeface="宋体" panose="02010600030101010101" pitchFamily="2" charset="-122"/>
                <a:sym typeface="Symbol" panose="05050102010706020507" pitchFamily="18" charset="2"/>
              </a:rPr>
              <a:t>		(A|...|Z|a|...|z) </a:t>
            </a:r>
            <a:r>
              <a:rPr lang="en-US" altLang="zh-CN" sz="2400" smtClean="0">
                <a:solidFill>
                  <a:srgbClr val="FF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400" smtClean="0">
                <a:ea typeface="宋体" panose="02010600030101010101" pitchFamily="2" charset="-122"/>
                <a:sym typeface="Symbol" panose="05050102010706020507" pitchFamily="18" charset="2"/>
              </a:rPr>
              <a:t> (A|...|Z|a|...|z) | (0|...|9) </a:t>
            </a:r>
            <a:r>
              <a:rPr lang="en-US" altLang="zh-CN" sz="2400" smtClean="0">
                <a:solidFill>
                  <a:srgbClr val="FF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sz="2400" smtClean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*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44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44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544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544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5447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5447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◎2005 ECNU SEI</a:t>
            </a:r>
            <a:endParaRPr lang="en-US" altLang="zh-CN" sz="800" b="0" smtClean="0"/>
          </a:p>
        </p:txBody>
      </p:sp>
      <p:sp>
        <p:nvSpPr>
          <p:cNvPr id="4403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Compilers: Principles, Techniques, and Tools</a:t>
            </a:r>
            <a:endParaRPr lang="en-US" altLang="zh-CN" sz="800" b="0" smtClean="0"/>
          </a:p>
        </p:txBody>
      </p:sp>
      <p:sp>
        <p:nvSpPr>
          <p:cNvPr id="4403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B1EABFA-3C43-4F25-83E1-40AA131F1AEC}" type="slidenum">
              <a:rPr lang="zh-CN" altLang="en-US" sz="800" b="0"/>
              <a:pPr/>
              <a:t>42</a:t>
            </a:fld>
            <a:endParaRPr lang="en-US" altLang="zh-CN" sz="800" b="0"/>
          </a:p>
        </p:txBody>
      </p:sp>
      <p:sp>
        <p:nvSpPr>
          <p:cNvPr id="440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Exercise in class (cont.)</a:t>
            </a:r>
          </a:p>
        </p:txBody>
      </p:sp>
      <p:sp>
        <p:nvSpPr>
          <p:cNvPr id="545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908050"/>
            <a:ext cx="9372600" cy="4826000"/>
          </a:xfrm>
        </p:spPr>
        <p:txBody>
          <a:bodyPr/>
          <a:lstStyle/>
          <a:p>
            <a:r>
              <a:rPr lang="en-US" altLang="zh-CN" sz="2800" smtClean="0">
                <a:ea typeface="宋体" panose="02010600030101010101" pitchFamily="2" charset="-122"/>
                <a:sym typeface="Symbol" panose="05050102010706020507" pitchFamily="18" charset="2"/>
              </a:rPr>
              <a:t>Ex: Unsigned numbers in Pascal or C</a:t>
            </a:r>
          </a:p>
          <a:p>
            <a:pPr lvl="1">
              <a:buFontTx/>
              <a:buNone/>
            </a:pPr>
            <a:r>
              <a:rPr lang="en-US" altLang="zh-CN" sz="2800" smtClean="0">
                <a:ea typeface="宋体" panose="02010600030101010101" pitchFamily="2" charset="-122"/>
                <a:sym typeface="Symbol" panose="05050102010706020507" pitchFamily="18" charset="2"/>
              </a:rPr>
              <a:t>		digit   0 | 1 | ... | 9</a:t>
            </a:r>
          </a:p>
          <a:p>
            <a:pPr lvl="1">
              <a:buFontTx/>
              <a:buNone/>
            </a:pPr>
            <a:endParaRPr lang="en-US" altLang="zh-CN" sz="2800" smtClean="0">
              <a:solidFill>
                <a:srgbClr val="660033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>
              <a:buFontTx/>
              <a:buNone/>
            </a:pPr>
            <a:r>
              <a:rPr lang="en-US" altLang="zh-CN" sz="2800" b="1" smtClean="0">
                <a:solidFill>
                  <a:srgbClr val="660033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		digits  digit </a:t>
            </a:r>
            <a:r>
              <a:rPr lang="en-US" altLang="zh-CN" sz="2800" b="1" baseline="30000" smtClean="0">
                <a:solidFill>
                  <a:srgbClr val="660033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endParaRPr lang="en-US" altLang="zh-CN" sz="2800" b="1" smtClean="0">
              <a:solidFill>
                <a:srgbClr val="660033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>
              <a:buFontTx/>
              <a:buNone/>
            </a:pPr>
            <a:r>
              <a:rPr lang="en-US" altLang="zh-CN" sz="2800" b="1" smtClean="0">
                <a:solidFill>
                  <a:srgbClr val="660033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		opt-fraction  ( . digits ) ?</a:t>
            </a:r>
          </a:p>
          <a:p>
            <a:pPr lvl="1">
              <a:buFontTx/>
              <a:buNone/>
            </a:pPr>
            <a:r>
              <a:rPr lang="en-US" altLang="zh-CN" sz="2800" b="1" smtClean="0">
                <a:solidFill>
                  <a:srgbClr val="660033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		opt-exponent  ( E (+|-)? digits ) ?</a:t>
            </a:r>
          </a:p>
          <a:p>
            <a:pPr lvl="1">
              <a:buFontTx/>
              <a:buNone/>
            </a:pPr>
            <a:r>
              <a:rPr lang="en-US" altLang="zh-CN" sz="2800" smtClean="0">
                <a:solidFill>
                  <a:srgbClr val="660033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	 	</a:t>
            </a:r>
            <a:r>
              <a:rPr lang="en-US" altLang="zh-CN" sz="2800" b="1" smtClean="0">
                <a:solidFill>
                  <a:srgbClr val="660033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unsigned-num  digits opt-fraction opt-exponent</a:t>
            </a:r>
            <a:r>
              <a:rPr lang="en-US" altLang="zh-CN" sz="2800" smtClean="0">
                <a:solidFill>
                  <a:schemeClr val="accent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		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45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45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545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545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545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545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545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◎2005 ECNU SEI</a:t>
            </a:r>
            <a:endParaRPr lang="en-US" altLang="zh-CN" sz="800" b="0" smtClean="0"/>
          </a:p>
        </p:txBody>
      </p:sp>
      <p:sp>
        <p:nvSpPr>
          <p:cNvPr id="4505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Compilers: Principles, Techniques, and Tools</a:t>
            </a:r>
            <a:endParaRPr lang="en-US" altLang="zh-CN" sz="800" b="0" smtClean="0"/>
          </a:p>
        </p:txBody>
      </p:sp>
      <p:sp>
        <p:nvSpPr>
          <p:cNvPr id="4506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E33DC44-986E-4651-85E2-69A12ED828D0}" type="slidenum">
              <a:rPr lang="zh-CN" altLang="en-US" sz="800" b="0"/>
              <a:pPr/>
              <a:t>43</a:t>
            </a:fld>
            <a:endParaRPr lang="en-US" altLang="zh-CN" sz="800" b="0"/>
          </a:p>
        </p:txBody>
      </p:sp>
      <p:sp>
        <p:nvSpPr>
          <p:cNvPr id="450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4506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For further study……</a:t>
            </a:r>
          </a:p>
        </p:txBody>
      </p:sp>
    </p:spTree>
  </p:cSld>
  <p:clrMapOvr>
    <a:masterClrMapping/>
  </p:clrMapOvr>
  <p:transition>
    <p:random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◎2005 ECNU SEI</a:t>
            </a:r>
            <a:endParaRPr lang="en-US" altLang="zh-CN" sz="800" b="0" smtClean="0"/>
          </a:p>
        </p:txBody>
      </p:sp>
      <p:sp>
        <p:nvSpPr>
          <p:cNvPr id="4608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Compilers: Principles, Techniques, and Tools</a:t>
            </a:r>
            <a:endParaRPr lang="en-US" altLang="zh-CN" sz="800" b="0" smtClean="0"/>
          </a:p>
        </p:txBody>
      </p:sp>
      <p:sp>
        <p:nvSpPr>
          <p:cNvPr id="4608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1AABF2B-E585-41A2-BF66-E23CDCC26166}" type="slidenum">
              <a:rPr lang="zh-CN" altLang="en-US" sz="800" b="0"/>
              <a:pPr/>
              <a:t>44</a:t>
            </a:fld>
            <a:endParaRPr lang="en-US" altLang="zh-CN" sz="800" b="0"/>
          </a:p>
        </p:txBody>
      </p:sp>
      <p:sp>
        <p:nvSpPr>
          <p:cNvPr id="46085" name="Rectangle 2"/>
          <p:cNvSpPr>
            <a:spLocks noGrp="1" noChangeArrowheads="1"/>
          </p:cNvSpPr>
          <p:nvPr>
            <p:ph type="title"/>
          </p:nvPr>
        </p:nvSpPr>
        <p:spPr>
          <a:xfrm>
            <a:off x="382588" y="152400"/>
            <a:ext cx="9371012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Ad-hoc Lexer</a:t>
            </a:r>
          </a:p>
        </p:txBody>
      </p:sp>
      <p:sp>
        <p:nvSpPr>
          <p:cNvPr id="460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2588" y="1219200"/>
            <a:ext cx="9371012" cy="5105400"/>
          </a:xfrm>
        </p:spPr>
        <p:txBody>
          <a:bodyPr/>
          <a:lstStyle/>
          <a:p>
            <a:r>
              <a:rPr lang="zh-CN" altLang="en-US" b="1" smtClean="0">
                <a:ea typeface="宋体" panose="02010600030101010101" pitchFamily="2" charset="-122"/>
              </a:rPr>
              <a:t> </a:t>
            </a:r>
            <a:r>
              <a:rPr lang="en-US" altLang="zh-CN" b="1" smtClean="0">
                <a:ea typeface="宋体" panose="02010600030101010101" pitchFamily="2" charset="-122"/>
              </a:rPr>
              <a:t>Hand-write code to generate tokens</a:t>
            </a:r>
          </a:p>
          <a:p>
            <a:r>
              <a:rPr lang="en-US" altLang="zh-CN" b="1" smtClean="0">
                <a:ea typeface="宋体" panose="02010600030101010101" pitchFamily="2" charset="-122"/>
              </a:rPr>
              <a:t> How to read identifier tokens?</a:t>
            </a:r>
          </a:p>
          <a:p>
            <a:endParaRPr lang="en-US" altLang="zh-CN" smtClean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r>
              <a:rPr lang="en-US" altLang="zh-CN" sz="2200" smtClean="0">
                <a:latin typeface="Courier New" panose="02070309020205020404" pitchFamily="49" charset="0"/>
                <a:ea typeface="宋体" panose="02010600030101010101" pitchFamily="2" charset="-122"/>
              </a:rPr>
              <a:t>Token readIdentifier( ) {</a:t>
            </a:r>
          </a:p>
          <a:p>
            <a:r>
              <a:rPr lang="en-US" altLang="zh-CN" sz="2200" smtClean="0">
                <a:latin typeface="Courier New" panose="02070309020205020404" pitchFamily="49" charset="0"/>
                <a:ea typeface="宋体" panose="02010600030101010101" pitchFamily="2" charset="-122"/>
              </a:rPr>
              <a:t>  String id = “”;</a:t>
            </a:r>
          </a:p>
          <a:p>
            <a:r>
              <a:rPr lang="en-US" altLang="zh-CN" sz="2200" smtClean="0">
                <a:latin typeface="Courier New" panose="02070309020205020404" pitchFamily="49" charset="0"/>
                <a:ea typeface="宋体" panose="02010600030101010101" pitchFamily="2" charset="-122"/>
              </a:rPr>
              <a:t>  while (true) {</a:t>
            </a:r>
          </a:p>
          <a:p>
            <a:r>
              <a:rPr lang="en-US" altLang="zh-CN" sz="2200" smtClean="0">
                <a:latin typeface="Courier New" panose="02070309020205020404" pitchFamily="49" charset="0"/>
                <a:ea typeface="宋体" panose="02010600030101010101" pitchFamily="2" charset="-122"/>
              </a:rPr>
              <a:t>    char c = input.read();</a:t>
            </a:r>
          </a:p>
          <a:p>
            <a:r>
              <a:rPr lang="en-US" altLang="zh-CN" sz="2200" smtClean="0">
                <a:latin typeface="Courier New" panose="02070309020205020404" pitchFamily="49" charset="0"/>
                <a:ea typeface="宋体" panose="02010600030101010101" pitchFamily="2" charset="-122"/>
              </a:rPr>
              <a:t>    if (!identifierChar(c))</a:t>
            </a:r>
          </a:p>
          <a:p>
            <a:r>
              <a:rPr lang="en-US" altLang="zh-CN" sz="2200" smtClean="0">
                <a:latin typeface="Courier New" panose="02070309020205020404" pitchFamily="49" charset="0"/>
                <a:ea typeface="宋体" panose="02010600030101010101" pitchFamily="2" charset="-122"/>
              </a:rPr>
              <a:t>      return new Token(ID, id, lineNumber);</a:t>
            </a:r>
          </a:p>
          <a:p>
            <a:r>
              <a:rPr lang="en-US" altLang="zh-CN" sz="2200" smtClean="0">
                <a:latin typeface="Courier New" panose="02070309020205020404" pitchFamily="49" charset="0"/>
                <a:ea typeface="宋体" panose="02010600030101010101" pitchFamily="2" charset="-122"/>
              </a:rPr>
              <a:t>    id = id + String(c);</a:t>
            </a:r>
          </a:p>
          <a:p>
            <a:r>
              <a:rPr lang="en-US" altLang="zh-CN" sz="2200" smtClean="0">
                <a:latin typeface="Courier New" panose="02070309020205020404" pitchFamily="49" charset="0"/>
                <a:ea typeface="宋体" panose="02010600030101010101" pitchFamily="2" charset="-122"/>
              </a:rPr>
              <a:t>  }</a:t>
            </a:r>
          </a:p>
          <a:p>
            <a:r>
              <a:rPr lang="en-US" altLang="zh-CN" sz="2200" smtClean="0">
                <a:latin typeface="Courier New" panose="02070309020205020404" pitchFamily="49" charset="0"/>
                <a:ea typeface="宋体" panose="02010600030101010101" pitchFamily="2" charset="-122"/>
              </a:rPr>
              <a:t>}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◎2005 ECNU SEI</a:t>
            </a:r>
            <a:endParaRPr lang="en-US" altLang="zh-CN" sz="800" b="0" smtClean="0"/>
          </a:p>
        </p:txBody>
      </p:sp>
      <p:sp>
        <p:nvSpPr>
          <p:cNvPr id="4710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Compilers: Principles, Techniques, and Tools</a:t>
            </a:r>
            <a:endParaRPr lang="en-US" altLang="zh-CN" sz="800" b="0" smtClean="0"/>
          </a:p>
        </p:txBody>
      </p:sp>
      <p:sp>
        <p:nvSpPr>
          <p:cNvPr id="4710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EA28F31-1C02-4EF6-A940-F36477E557ED}" type="slidenum">
              <a:rPr lang="zh-CN" altLang="en-US" sz="800" b="0"/>
              <a:pPr/>
              <a:t>45</a:t>
            </a:fld>
            <a:endParaRPr lang="en-US" altLang="zh-CN" sz="800" b="0"/>
          </a:p>
        </p:txBody>
      </p:sp>
      <p:sp>
        <p:nvSpPr>
          <p:cNvPr id="47109" name="Rectangle 2"/>
          <p:cNvSpPr>
            <a:spLocks noGrp="1" noChangeArrowheads="1"/>
          </p:cNvSpPr>
          <p:nvPr>
            <p:ph type="title"/>
          </p:nvPr>
        </p:nvSpPr>
        <p:spPr>
          <a:xfrm>
            <a:off x="382588" y="152400"/>
            <a:ext cx="9371012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Problems</a:t>
            </a:r>
          </a:p>
        </p:txBody>
      </p:sp>
      <p:sp>
        <p:nvSpPr>
          <p:cNvPr id="471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2588" y="1219200"/>
            <a:ext cx="9371012" cy="5105400"/>
          </a:xfrm>
        </p:spPr>
        <p:txBody>
          <a:bodyPr/>
          <a:lstStyle/>
          <a:p>
            <a:r>
              <a:rPr lang="zh-CN" altLang="en-US" sz="2800" b="1" smtClean="0">
                <a:ea typeface="宋体" panose="02010600030101010101" pitchFamily="2" charset="-122"/>
              </a:rPr>
              <a:t> </a:t>
            </a:r>
            <a:r>
              <a:rPr lang="en-US" altLang="zh-CN" sz="2800" b="1" smtClean="0">
                <a:ea typeface="宋体" panose="02010600030101010101" pitchFamily="2" charset="-122"/>
              </a:rPr>
              <a:t>Don</a:t>
            </a:r>
            <a:r>
              <a:rPr lang="en-US" altLang="zh-CN" sz="2800" b="1" smtClean="0">
                <a:latin typeface="Verdana" panose="020B0604030504040204" pitchFamily="34" charset="0"/>
                <a:ea typeface="宋体" panose="02010600030101010101" pitchFamily="2" charset="-122"/>
              </a:rPr>
              <a:t>’</a:t>
            </a:r>
            <a:r>
              <a:rPr lang="en-US" altLang="zh-CN" sz="2800" b="1" smtClean="0">
                <a:ea typeface="宋体" panose="02010600030101010101" pitchFamily="2" charset="-122"/>
              </a:rPr>
              <a:t>t know what kind of token we are going to read from seeing first character</a:t>
            </a:r>
          </a:p>
          <a:p>
            <a:pPr lvl="2"/>
            <a:r>
              <a:rPr lang="en-US" altLang="zh-CN" sz="1800" smtClean="0">
                <a:ea typeface="宋体" panose="02010600030101010101" pitchFamily="2" charset="-122"/>
              </a:rPr>
              <a:t>if token begins with </a:t>
            </a:r>
            <a:r>
              <a:rPr lang="en-US" altLang="zh-CN" sz="1800" smtClean="0">
                <a:latin typeface="Verdana" panose="020B0604030504040204" pitchFamily="34" charset="0"/>
                <a:ea typeface="宋体" panose="02010600030101010101" pitchFamily="2" charset="-122"/>
              </a:rPr>
              <a:t>“</a:t>
            </a:r>
            <a:r>
              <a:rPr lang="en-US" altLang="zh-CN" sz="1800" smtClean="0">
                <a:ea typeface="宋体" panose="02010600030101010101" pitchFamily="2" charset="-122"/>
              </a:rPr>
              <a:t>i</a:t>
            </a:r>
            <a:r>
              <a:rPr lang="en-US" altLang="zh-CN" sz="1800" smtClean="0">
                <a:latin typeface="Verdana" panose="020B0604030504040204" pitchFamily="34" charset="0"/>
                <a:ea typeface="宋体" panose="02010600030101010101" pitchFamily="2" charset="-122"/>
              </a:rPr>
              <a:t>’’</a:t>
            </a:r>
            <a:r>
              <a:rPr lang="en-US" altLang="zh-CN" sz="1800" smtClean="0">
                <a:ea typeface="宋体" panose="02010600030101010101" pitchFamily="2" charset="-122"/>
              </a:rPr>
              <a:t> is it an identifier?</a:t>
            </a:r>
          </a:p>
          <a:p>
            <a:pPr lvl="2"/>
            <a:r>
              <a:rPr lang="en-US" altLang="zh-CN" sz="1800" smtClean="0">
                <a:ea typeface="宋体" panose="02010600030101010101" pitchFamily="2" charset="-122"/>
              </a:rPr>
              <a:t>if token begins with </a:t>
            </a:r>
            <a:r>
              <a:rPr lang="en-US" altLang="zh-CN" sz="1800" smtClean="0">
                <a:latin typeface="Verdana" panose="020B0604030504040204" pitchFamily="34" charset="0"/>
                <a:ea typeface="宋体" panose="02010600030101010101" pitchFamily="2" charset="-122"/>
              </a:rPr>
              <a:t>“</a:t>
            </a:r>
            <a:r>
              <a:rPr lang="en-US" altLang="zh-CN" sz="1800" smtClean="0">
                <a:ea typeface="宋体" panose="02010600030101010101" pitchFamily="2" charset="-122"/>
              </a:rPr>
              <a:t>2</a:t>
            </a:r>
            <a:r>
              <a:rPr lang="en-US" altLang="zh-CN" sz="1800" smtClean="0">
                <a:latin typeface="Verdana" panose="020B0604030504040204" pitchFamily="34" charset="0"/>
                <a:ea typeface="宋体" panose="02010600030101010101" pitchFamily="2" charset="-122"/>
              </a:rPr>
              <a:t>”</a:t>
            </a:r>
            <a:r>
              <a:rPr lang="en-US" altLang="zh-CN" sz="1800" smtClean="0">
                <a:ea typeface="宋体" panose="02010600030101010101" pitchFamily="2" charset="-122"/>
              </a:rPr>
              <a:t> is it an integer? constant?</a:t>
            </a:r>
          </a:p>
          <a:p>
            <a:pPr lvl="2"/>
            <a:r>
              <a:rPr lang="en-US" altLang="zh-CN" sz="1800" smtClean="0">
                <a:ea typeface="宋体" panose="02010600030101010101" pitchFamily="2" charset="-122"/>
              </a:rPr>
              <a:t>interleaved tokenizer code is hard to write correctly, harder to maintain</a:t>
            </a:r>
          </a:p>
          <a:p>
            <a:pPr lvl="2"/>
            <a:endParaRPr lang="en-US" altLang="zh-CN" sz="1800" smtClean="0">
              <a:ea typeface="宋体" panose="02010600030101010101" pitchFamily="2" charset="-122"/>
            </a:endParaRPr>
          </a:p>
          <a:p>
            <a:r>
              <a:rPr lang="en-US" altLang="zh-CN" sz="2800" b="1" smtClean="0">
                <a:ea typeface="宋体" panose="02010600030101010101" pitchFamily="2" charset="-122"/>
              </a:rPr>
              <a:t> More principled approach: </a:t>
            </a:r>
            <a:r>
              <a:rPr lang="en-US" altLang="zh-CN" sz="2800" smtClean="0">
                <a:solidFill>
                  <a:srgbClr val="E68900"/>
                </a:solidFill>
                <a:ea typeface="宋体" panose="02010600030101010101" pitchFamily="2" charset="-122"/>
              </a:rPr>
              <a:t>lexer generator</a:t>
            </a:r>
            <a:r>
              <a:rPr lang="en-US" altLang="zh-CN" sz="2800" b="1" i="1" smtClean="0">
                <a:ea typeface="宋体" panose="02010600030101010101" pitchFamily="2" charset="-122"/>
              </a:rPr>
              <a:t> </a:t>
            </a:r>
            <a:r>
              <a:rPr lang="en-US" altLang="zh-CN" sz="2800" b="1" smtClean="0">
                <a:ea typeface="宋体" panose="02010600030101010101" pitchFamily="2" charset="-122"/>
              </a:rPr>
              <a:t>that generates efficient tokenizer automatically (e.g., lex, flex)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◎2005 ECNU SEI</a:t>
            </a:r>
            <a:endParaRPr lang="en-US" altLang="zh-CN" sz="800" b="0" smtClean="0"/>
          </a:p>
        </p:txBody>
      </p:sp>
      <p:sp>
        <p:nvSpPr>
          <p:cNvPr id="4813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Compilers: Principles, Techniques, and Tools</a:t>
            </a:r>
            <a:endParaRPr lang="en-US" altLang="zh-CN" sz="800" b="0" smtClean="0"/>
          </a:p>
        </p:txBody>
      </p:sp>
      <p:sp>
        <p:nvSpPr>
          <p:cNvPr id="4813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0F140B9-AC5C-49B4-9BEB-0943C4B8580F}" type="slidenum">
              <a:rPr lang="zh-CN" altLang="en-US" sz="800" b="0"/>
              <a:pPr/>
              <a:t>46</a:t>
            </a:fld>
            <a:endParaRPr lang="en-US" altLang="zh-CN" sz="800" b="0"/>
          </a:p>
        </p:txBody>
      </p:sp>
      <p:sp>
        <p:nvSpPr>
          <p:cNvPr id="48133" name="Rectangle 2"/>
          <p:cNvSpPr>
            <a:spLocks noGrp="1" noChangeArrowheads="1"/>
          </p:cNvSpPr>
          <p:nvPr>
            <p:ph type="title"/>
          </p:nvPr>
        </p:nvSpPr>
        <p:spPr>
          <a:xfrm>
            <a:off x="382588" y="152400"/>
            <a:ext cx="9371012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Issues</a:t>
            </a:r>
          </a:p>
        </p:txBody>
      </p:sp>
      <p:sp>
        <p:nvSpPr>
          <p:cNvPr id="481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2588" y="1219200"/>
            <a:ext cx="9371012" cy="5105400"/>
          </a:xfrm>
        </p:spPr>
        <p:txBody>
          <a:bodyPr/>
          <a:lstStyle/>
          <a:p>
            <a:r>
              <a:rPr lang="zh-CN" altLang="en-US" smtClean="0">
                <a:ea typeface="宋体" panose="02010600030101010101" pitchFamily="2" charset="-122"/>
              </a:rPr>
              <a:t> </a:t>
            </a:r>
            <a:r>
              <a:rPr lang="en-US" altLang="zh-CN" smtClean="0">
                <a:ea typeface="宋体" panose="02010600030101010101" pitchFamily="2" charset="-122"/>
              </a:rPr>
              <a:t>How to describe tokens unambiguously</a:t>
            </a:r>
          </a:p>
          <a:p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</a:rPr>
              <a:t>       2.e0 20.e-01 2.0000</a:t>
            </a:r>
          </a:p>
          <a:p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</a:rPr>
              <a:t>       “”  “x”   “\\”    “\”\’”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 How to break text down into tokens</a:t>
            </a:r>
          </a:p>
          <a:p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</a:rPr>
              <a:t>      if (x == 0) a = x&lt;&lt;1;</a:t>
            </a:r>
          </a:p>
          <a:p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</a:rPr>
              <a:t>      if (x == 0) a = x&lt;1;</a:t>
            </a:r>
          </a:p>
          <a:p>
            <a:r>
              <a:rPr lang="en-US" altLang="zh-CN" b="1" smtClean="0">
                <a:ea typeface="宋体" panose="02010600030101010101" pitchFamily="2" charset="-122"/>
              </a:rPr>
              <a:t> </a:t>
            </a:r>
            <a:r>
              <a:rPr lang="en-US" altLang="zh-CN" smtClean="0">
                <a:ea typeface="宋体" panose="02010600030101010101" pitchFamily="2" charset="-122"/>
              </a:rPr>
              <a:t>How to tokenize efficiently</a:t>
            </a:r>
          </a:p>
          <a:p>
            <a:pPr lvl="2"/>
            <a:r>
              <a:rPr lang="en-US" altLang="zh-CN" sz="1800" smtClean="0">
                <a:ea typeface="宋体" panose="02010600030101010101" pitchFamily="2" charset="-122"/>
              </a:rPr>
              <a:t>tokens may have similar prefixes</a:t>
            </a:r>
          </a:p>
          <a:p>
            <a:pPr lvl="2"/>
            <a:r>
              <a:rPr lang="en-US" altLang="zh-CN" sz="1800" smtClean="0">
                <a:ea typeface="宋体" panose="02010600030101010101" pitchFamily="2" charset="-122"/>
              </a:rPr>
              <a:t>want to look at each character ~1 time</a:t>
            </a:r>
          </a:p>
          <a:p>
            <a:endParaRPr lang="zh-CN" altLang="en-US" b="1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◎2005 ECNU SEI</a:t>
            </a:r>
            <a:endParaRPr lang="en-US" altLang="zh-CN" sz="800" b="0" smtClean="0"/>
          </a:p>
        </p:txBody>
      </p:sp>
      <p:sp>
        <p:nvSpPr>
          <p:cNvPr id="4915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Compilers: Principles, Techniques, and Tools</a:t>
            </a:r>
            <a:endParaRPr lang="en-US" altLang="zh-CN" sz="800" b="0" smtClean="0"/>
          </a:p>
        </p:txBody>
      </p:sp>
      <p:sp>
        <p:nvSpPr>
          <p:cNvPr id="4915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1572786-C4BD-4E90-952E-C0C94E2EC16B}" type="slidenum">
              <a:rPr lang="zh-CN" altLang="en-US" sz="800" b="0"/>
              <a:pPr/>
              <a:t>47</a:t>
            </a:fld>
            <a:endParaRPr lang="en-US" altLang="zh-CN" sz="800" b="0"/>
          </a:p>
        </p:txBody>
      </p:sp>
      <p:sp>
        <p:nvSpPr>
          <p:cNvPr id="49157" name="Rectangle 2"/>
          <p:cNvSpPr>
            <a:spLocks noGrp="1" noChangeArrowheads="1"/>
          </p:cNvSpPr>
          <p:nvPr>
            <p:ph type="title"/>
          </p:nvPr>
        </p:nvSpPr>
        <p:spPr>
          <a:xfrm>
            <a:off x="382588" y="152400"/>
            <a:ext cx="9371012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How To Describe Tokens</a:t>
            </a:r>
          </a:p>
        </p:txBody>
      </p:sp>
      <p:sp>
        <p:nvSpPr>
          <p:cNvPr id="491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2588" y="1219200"/>
            <a:ext cx="9371012" cy="5105400"/>
          </a:xfrm>
        </p:spPr>
        <p:txBody>
          <a:bodyPr/>
          <a:lstStyle/>
          <a:p>
            <a:r>
              <a:rPr lang="zh-CN" altLang="en-US" b="1" smtClean="0">
                <a:ea typeface="宋体" panose="02010600030101010101" pitchFamily="2" charset="-122"/>
              </a:rPr>
              <a:t> </a:t>
            </a:r>
            <a:r>
              <a:rPr lang="en-US" altLang="zh-CN" smtClean="0">
                <a:ea typeface="宋体" panose="02010600030101010101" pitchFamily="2" charset="-122"/>
              </a:rPr>
              <a:t>Programming language tokens can be described using regular expressions</a:t>
            </a:r>
          </a:p>
          <a:p>
            <a:r>
              <a:rPr lang="en-US" altLang="zh-CN" b="1" smtClean="0">
                <a:ea typeface="宋体" panose="02010600030101010101" pitchFamily="2" charset="-122"/>
              </a:rPr>
              <a:t> A </a:t>
            </a:r>
            <a:r>
              <a:rPr lang="en-US" altLang="zh-CN" smtClean="0">
                <a:ea typeface="宋体" panose="02010600030101010101" pitchFamily="2" charset="-122"/>
              </a:rPr>
              <a:t>regular expression</a:t>
            </a:r>
            <a:r>
              <a:rPr lang="en-US" altLang="zh-CN" b="1" smtClean="0">
                <a:ea typeface="宋体" panose="02010600030101010101" pitchFamily="2" charset="-122"/>
              </a:rPr>
              <a:t> R describes some set of strings L(R)</a:t>
            </a:r>
          </a:p>
          <a:p>
            <a:r>
              <a:rPr lang="en-US" altLang="zh-CN" b="1" smtClean="0">
                <a:ea typeface="宋体" panose="02010600030101010101" pitchFamily="2" charset="-122"/>
              </a:rPr>
              <a:t> L(R) is the </a:t>
            </a:r>
            <a:r>
              <a:rPr lang="en-US" altLang="zh-CN" smtClean="0">
                <a:ea typeface="宋体" panose="02010600030101010101" pitchFamily="2" charset="-122"/>
              </a:rPr>
              <a:t>language</a:t>
            </a:r>
            <a:r>
              <a:rPr lang="en-US" altLang="zh-CN" b="1" smtClean="0">
                <a:ea typeface="宋体" panose="02010600030101010101" pitchFamily="2" charset="-122"/>
              </a:rPr>
              <a:t> defined by R</a:t>
            </a:r>
          </a:p>
          <a:p>
            <a:pPr lvl="2"/>
            <a:r>
              <a:rPr lang="en-US" altLang="zh-CN" sz="1800" smtClean="0">
                <a:ea typeface="宋体" panose="02010600030101010101" pitchFamily="2" charset="-122"/>
              </a:rPr>
              <a:t> L(abc) = { abc }</a:t>
            </a:r>
          </a:p>
          <a:p>
            <a:pPr lvl="2"/>
            <a:r>
              <a:rPr lang="en-US" altLang="zh-CN" sz="1800" smtClean="0">
                <a:ea typeface="宋体" panose="02010600030101010101" pitchFamily="2" charset="-122"/>
              </a:rPr>
              <a:t> L(hello|goodbye) = {hello, goodbye}</a:t>
            </a:r>
          </a:p>
          <a:p>
            <a:pPr lvl="2"/>
            <a:r>
              <a:rPr lang="en-US" altLang="zh-CN" sz="1800" smtClean="0">
                <a:ea typeface="宋体" panose="02010600030101010101" pitchFamily="2" charset="-122"/>
              </a:rPr>
              <a:t> L([1-9][0-9]*) = </a:t>
            </a:r>
            <a:r>
              <a:rPr lang="en-US" altLang="zh-CN" sz="1800" smtClean="0">
                <a:solidFill>
                  <a:schemeClr val="folHlink"/>
                </a:solidFill>
                <a:ea typeface="宋体" panose="02010600030101010101" pitchFamily="2" charset="-122"/>
              </a:rPr>
              <a:t>_______________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 Idea:</a:t>
            </a:r>
            <a:r>
              <a:rPr lang="en-US" altLang="zh-CN" b="1" smtClean="0">
                <a:ea typeface="宋体" panose="02010600030101010101" pitchFamily="2" charset="-122"/>
              </a:rPr>
              <a:t> define each kind of token using RE</a:t>
            </a:r>
          </a:p>
          <a:p>
            <a:endParaRPr lang="en-US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◎2005 ECNU SEI</a:t>
            </a:r>
            <a:endParaRPr lang="en-US" altLang="zh-CN" sz="800" b="0" smtClean="0"/>
          </a:p>
        </p:txBody>
      </p:sp>
      <p:sp>
        <p:nvSpPr>
          <p:cNvPr id="5017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Compilers: Principles, Techniques, and Tools</a:t>
            </a:r>
            <a:endParaRPr lang="en-US" altLang="zh-CN" sz="800" b="0" smtClean="0"/>
          </a:p>
        </p:txBody>
      </p:sp>
      <p:sp>
        <p:nvSpPr>
          <p:cNvPr id="5018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8DAC351-8961-4353-BA6F-003FAF3DDDEA}" type="slidenum">
              <a:rPr lang="zh-CN" altLang="en-US" sz="800" b="0"/>
              <a:pPr/>
              <a:t>48</a:t>
            </a:fld>
            <a:endParaRPr lang="en-US" altLang="zh-CN" sz="800" b="0"/>
          </a:p>
        </p:txBody>
      </p:sp>
      <p:sp>
        <p:nvSpPr>
          <p:cNvPr id="50181" name="Rectangle 2"/>
          <p:cNvSpPr>
            <a:spLocks noGrp="1" noChangeArrowheads="1"/>
          </p:cNvSpPr>
          <p:nvPr>
            <p:ph type="title"/>
          </p:nvPr>
        </p:nvSpPr>
        <p:spPr>
          <a:xfrm>
            <a:off x="382588" y="152400"/>
            <a:ext cx="9371012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Regular expressions</a:t>
            </a:r>
          </a:p>
        </p:txBody>
      </p:sp>
      <p:sp>
        <p:nvSpPr>
          <p:cNvPr id="5018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8313" y="1219200"/>
            <a:ext cx="9209087" cy="2071688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Language </a:t>
            </a:r>
            <a:r>
              <a:rPr lang="en-US" altLang="zh-CN" smtClean="0">
                <a:latin typeface="Verdana" panose="020B0604030504040204" pitchFamily="34" charset="0"/>
                <a:ea typeface="宋体" panose="02010600030101010101" pitchFamily="2" charset="-122"/>
              </a:rPr>
              <a:t>–</a:t>
            </a:r>
            <a:r>
              <a:rPr lang="en-US" altLang="zh-CN" smtClean="0">
                <a:ea typeface="宋体" panose="02010600030101010101" pitchFamily="2" charset="-122"/>
              </a:rPr>
              <a:t> set of strings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String </a:t>
            </a:r>
            <a:r>
              <a:rPr lang="en-US" altLang="zh-CN" smtClean="0">
                <a:latin typeface="Verdana" panose="020B0604030504040204" pitchFamily="34" charset="0"/>
                <a:ea typeface="宋体" panose="02010600030101010101" pitchFamily="2" charset="-122"/>
              </a:rPr>
              <a:t>–</a:t>
            </a:r>
            <a:r>
              <a:rPr lang="en-US" altLang="zh-CN" smtClean="0">
                <a:ea typeface="宋体" panose="02010600030101010101" pitchFamily="2" charset="-122"/>
              </a:rPr>
              <a:t> finite sequence of symbols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Symbols </a:t>
            </a:r>
            <a:r>
              <a:rPr lang="en-US" altLang="zh-CN" smtClean="0">
                <a:latin typeface="Verdana" panose="020B0604030504040204" pitchFamily="34" charset="0"/>
                <a:ea typeface="宋体" panose="02010600030101010101" pitchFamily="2" charset="-122"/>
              </a:rPr>
              <a:t>–</a:t>
            </a:r>
            <a:r>
              <a:rPr lang="en-US" altLang="zh-CN" smtClean="0">
                <a:ea typeface="宋体" panose="02010600030101010101" pitchFamily="2" charset="-122"/>
              </a:rPr>
              <a:t> taken from a finite alphabet</a:t>
            </a:r>
          </a:p>
          <a:p>
            <a:endParaRPr lang="en-US" altLang="zh-CN" sz="1000" smtClean="0">
              <a:ea typeface="宋体" panose="02010600030101010101" pitchFamily="2" charset="-122"/>
            </a:endParaRPr>
          </a:p>
          <a:p>
            <a:r>
              <a:rPr lang="en-US" altLang="zh-CN" smtClean="0">
                <a:ea typeface="宋体" panose="02010600030101010101" pitchFamily="2" charset="-122"/>
              </a:rPr>
              <a:t>Specify languages using regular expressions</a:t>
            </a:r>
          </a:p>
        </p:txBody>
      </p:sp>
      <p:graphicFrame>
        <p:nvGraphicFramePr>
          <p:cNvPr id="531460" name="Group 4"/>
          <p:cNvGraphicFramePr>
            <a:graphicFrameLocks noGrp="1"/>
          </p:cNvGraphicFramePr>
          <p:nvPr>
            <p:ph type="tbl" idx="1"/>
          </p:nvPr>
        </p:nvGraphicFramePr>
        <p:xfrm>
          <a:off x="493713" y="3200400"/>
          <a:ext cx="9164637" cy="2895600"/>
        </p:xfrm>
        <a:graphic>
          <a:graphicData uri="http://schemas.openxmlformats.org/drawingml/2006/table">
            <a:tbl>
              <a:tblPr/>
              <a:tblGrid>
                <a:gridCol w="2395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30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Symbol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one instance of a</a:t>
                      </a:r>
                    </a:p>
                  </a:txBody>
                  <a:tcPr marL="2743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Epsilon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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empty string</a:t>
                      </a:r>
                    </a:p>
                  </a:txBody>
                  <a:tcPr marL="2743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Alternation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 | S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string from either L(R) or L(S)</a:t>
                      </a:r>
                    </a:p>
                  </a:txBody>
                  <a:tcPr marL="2743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78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Concatenation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 ∙ S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string from L(R) followed by L(S)</a:t>
                      </a:r>
                    </a:p>
                  </a:txBody>
                  <a:tcPr marL="2743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Repetition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R*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2743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◎2005 ECNU SEI</a:t>
            </a:r>
            <a:endParaRPr lang="en-US" altLang="zh-CN" sz="800" b="0" smtClean="0"/>
          </a:p>
        </p:txBody>
      </p:sp>
      <p:sp>
        <p:nvSpPr>
          <p:cNvPr id="5120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Compilers: Principles, Techniques, and Tools</a:t>
            </a:r>
            <a:endParaRPr lang="en-US" altLang="zh-CN" sz="800" b="0" smtClean="0"/>
          </a:p>
        </p:txBody>
      </p:sp>
      <p:sp>
        <p:nvSpPr>
          <p:cNvPr id="5120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30ECE55-2F9E-4A05-8232-55C91D4EF62F}" type="slidenum">
              <a:rPr lang="zh-CN" altLang="en-US" sz="800" b="0"/>
              <a:pPr/>
              <a:t>49</a:t>
            </a:fld>
            <a:endParaRPr lang="en-US" altLang="zh-CN" sz="800" b="0"/>
          </a:p>
        </p:txBody>
      </p:sp>
      <p:sp>
        <p:nvSpPr>
          <p:cNvPr id="51205" name="Rectangle 2"/>
          <p:cNvSpPr>
            <a:spLocks noGrp="1" noChangeArrowheads="1"/>
          </p:cNvSpPr>
          <p:nvPr>
            <p:ph type="title"/>
          </p:nvPr>
        </p:nvSpPr>
        <p:spPr>
          <a:xfrm>
            <a:off x="382588" y="152400"/>
            <a:ext cx="9371012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Convenient Shorthand</a:t>
            </a:r>
          </a:p>
        </p:txBody>
      </p:sp>
      <p:sp>
        <p:nvSpPr>
          <p:cNvPr id="512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2588" y="1219200"/>
            <a:ext cx="9371012" cy="5105400"/>
          </a:xfrm>
        </p:spPr>
        <p:txBody>
          <a:bodyPr/>
          <a:lstStyle/>
          <a:p>
            <a:r>
              <a:rPr lang="en-US" altLang="zh-CN" sz="2200" smtClean="0">
                <a:ea typeface="宋体" panose="02010600030101010101" pitchFamily="2" charset="-122"/>
              </a:rPr>
              <a:t>[abcd] 	one of the listed characters (a | b | c | d)</a:t>
            </a:r>
          </a:p>
          <a:p>
            <a:r>
              <a:rPr lang="en-US" altLang="zh-CN" sz="2200" smtClean="0">
                <a:ea typeface="宋体" panose="02010600030101010101" pitchFamily="2" charset="-122"/>
              </a:rPr>
              <a:t>[b-g] 	[bcdefg]</a:t>
            </a:r>
          </a:p>
          <a:p>
            <a:r>
              <a:rPr lang="en-US" altLang="zh-CN" sz="2200" smtClean="0">
                <a:ea typeface="宋体" panose="02010600030101010101" pitchFamily="2" charset="-122"/>
              </a:rPr>
              <a:t>[b-gM-Qkr]	</a:t>
            </a:r>
            <a:r>
              <a:rPr lang="en-US" altLang="zh-CN" sz="2200" smtClean="0">
                <a:solidFill>
                  <a:schemeClr val="folHlink"/>
                </a:solidFill>
                <a:ea typeface="宋体" panose="02010600030101010101" pitchFamily="2" charset="-122"/>
              </a:rPr>
              <a:t>____________</a:t>
            </a:r>
          </a:p>
          <a:p>
            <a:r>
              <a:rPr lang="en-US" altLang="zh-CN" sz="2200" smtClean="0">
                <a:ea typeface="宋体" panose="02010600030101010101" pitchFamily="2" charset="-122"/>
              </a:rPr>
              <a:t>[^ab]	anything but one of the listed chars</a:t>
            </a:r>
          </a:p>
          <a:p>
            <a:r>
              <a:rPr lang="en-US" altLang="zh-CN" sz="2200" smtClean="0">
                <a:ea typeface="宋体" panose="02010600030101010101" pitchFamily="2" charset="-122"/>
              </a:rPr>
              <a:t>[^a-f]	</a:t>
            </a:r>
            <a:r>
              <a:rPr lang="en-US" altLang="zh-CN" sz="2200" smtClean="0">
                <a:solidFill>
                  <a:schemeClr val="folHlink"/>
                </a:solidFill>
                <a:ea typeface="宋体" panose="02010600030101010101" pitchFamily="2" charset="-122"/>
              </a:rPr>
              <a:t>____________</a:t>
            </a:r>
            <a:r>
              <a:rPr lang="en-US" altLang="zh-CN" sz="2200" smtClean="0">
                <a:ea typeface="宋体" panose="02010600030101010101" pitchFamily="2" charset="-122"/>
              </a:rPr>
              <a:t>	</a:t>
            </a:r>
          </a:p>
          <a:p>
            <a:r>
              <a:rPr lang="en-US" altLang="zh-CN" sz="2200" smtClean="0">
                <a:ea typeface="宋体" panose="02010600030101010101" pitchFamily="2" charset="-122"/>
              </a:rPr>
              <a:t>M?		Zero or one M</a:t>
            </a:r>
            <a:endParaRPr lang="en-US" altLang="zh-CN" sz="22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r>
              <a:rPr lang="en-US" altLang="zh-CN" sz="2200" smtClean="0">
                <a:ea typeface="宋体" panose="02010600030101010101" pitchFamily="2" charset="-122"/>
                <a:sym typeface="Symbol" panose="05050102010706020507" pitchFamily="18" charset="2"/>
              </a:rPr>
              <a:t>M+		One or more M</a:t>
            </a:r>
          </a:p>
          <a:p>
            <a:r>
              <a:rPr lang="en-US" altLang="zh-CN" sz="2200" smtClean="0">
                <a:ea typeface="宋体" panose="02010600030101010101" pitchFamily="2" charset="-122"/>
                <a:sym typeface="Symbol" panose="05050102010706020507" pitchFamily="18" charset="2"/>
              </a:rPr>
              <a:t>M*		</a:t>
            </a:r>
            <a:r>
              <a:rPr lang="en-US" altLang="zh-CN" sz="2200" smtClean="0">
                <a:solidFill>
                  <a:schemeClr val="folHlink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____________</a:t>
            </a:r>
            <a:endParaRPr lang="en-US" altLang="zh-CN" sz="2200" smtClean="0">
              <a:solidFill>
                <a:schemeClr val="folHlink"/>
              </a:solidFill>
              <a:ea typeface="宋体" panose="02010600030101010101" pitchFamily="2" charset="-122"/>
            </a:endParaRPr>
          </a:p>
          <a:p>
            <a:r>
              <a:rPr lang="en-US" altLang="zh-CN" sz="2200" smtClean="0">
                <a:latin typeface="Verdana" panose="020B0604030504040204" pitchFamily="34" charset="0"/>
                <a:ea typeface="宋体" panose="02010600030101010101" pitchFamily="2" charset="-122"/>
              </a:rPr>
              <a:t>“</a:t>
            </a:r>
            <a:r>
              <a:rPr lang="en-US" altLang="zh-CN" sz="2200" smtClean="0">
                <a:ea typeface="宋体" panose="02010600030101010101" pitchFamily="2" charset="-122"/>
              </a:rPr>
              <a:t>a.+*</a:t>
            </a:r>
            <a:r>
              <a:rPr lang="en-US" altLang="zh-CN" sz="2200" smtClean="0">
                <a:latin typeface="Verdana" panose="020B0604030504040204" pitchFamily="34" charset="0"/>
                <a:ea typeface="宋体" panose="02010600030101010101" pitchFamily="2" charset="-122"/>
              </a:rPr>
              <a:t>”</a:t>
            </a:r>
            <a:r>
              <a:rPr lang="en-US" altLang="zh-CN" sz="2200" smtClean="0">
                <a:ea typeface="宋体" panose="02010600030101010101" pitchFamily="2" charset="-122"/>
              </a:rPr>
              <a:t>	literally a.+*</a:t>
            </a:r>
          </a:p>
          <a:p>
            <a:r>
              <a:rPr lang="en-US" altLang="zh-CN" sz="2200" smtClean="0">
                <a:ea typeface="宋体" panose="02010600030101010101" pitchFamily="2" charset="-122"/>
              </a:rPr>
              <a:t>.		Any single character (except \n)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◎2005 ECNU SEI</a:t>
            </a:r>
            <a:endParaRPr lang="en-US" altLang="zh-CN" sz="800" b="0" smtClean="0"/>
          </a:p>
        </p:txBody>
      </p:sp>
      <p:sp>
        <p:nvSpPr>
          <p:cNvPr id="5222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Compilers: Principles, Techniques, and Tools</a:t>
            </a:r>
            <a:endParaRPr lang="en-US" altLang="zh-CN" sz="800" b="0" smtClean="0"/>
          </a:p>
        </p:txBody>
      </p:sp>
      <p:sp>
        <p:nvSpPr>
          <p:cNvPr id="5222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BF571DB-0A31-45D5-91A4-943C3E78C472}" type="slidenum">
              <a:rPr lang="zh-CN" altLang="en-US" sz="800" b="0"/>
              <a:pPr/>
              <a:t>50</a:t>
            </a:fld>
            <a:endParaRPr lang="en-US" altLang="zh-CN" sz="800" b="0"/>
          </a:p>
        </p:txBody>
      </p:sp>
      <p:sp>
        <p:nvSpPr>
          <p:cNvPr id="52229" name="Rectangle 2"/>
          <p:cNvSpPr>
            <a:spLocks noGrp="1" noChangeArrowheads="1"/>
          </p:cNvSpPr>
          <p:nvPr>
            <p:ph type="title"/>
          </p:nvPr>
        </p:nvSpPr>
        <p:spPr>
          <a:xfrm>
            <a:off x="382588" y="152400"/>
            <a:ext cx="9371012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Examples</a:t>
            </a:r>
          </a:p>
        </p:txBody>
      </p:sp>
      <p:sp>
        <p:nvSpPr>
          <p:cNvPr id="522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2588" y="1219200"/>
            <a:ext cx="9371012" cy="5105400"/>
          </a:xfrm>
        </p:spPr>
        <p:txBody>
          <a:bodyPr/>
          <a:lstStyle/>
          <a:p>
            <a:r>
              <a:rPr lang="en-US" altLang="zh-CN" u="sng" smtClean="0">
                <a:ea typeface="宋体" panose="02010600030101010101" pitchFamily="2" charset="-122"/>
              </a:rPr>
              <a:t>Regular Expression</a:t>
            </a:r>
            <a:r>
              <a:rPr lang="en-US" altLang="zh-CN" b="1" smtClean="0">
                <a:ea typeface="宋体" panose="02010600030101010101" pitchFamily="2" charset="-122"/>
              </a:rPr>
              <a:t> 		</a:t>
            </a:r>
            <a:r>
              <a:rPr lang="en-US" altLang="zh-CN" u="sng" smtClean="0">
                <a:ea typeface="宋体" panose="02010600030101010101" pitchFamily="2" charset="-122"/>
              </a:rPr>
              <a:t>Strings in L(R)</a:t>
            </a:r>
          </a:p>
          <a:p>
            <a:r>
              <a:rPr lang="en-US" altLang="zh-CN" b="1" i="1" smtClean="0">
                <a:ea typeface="宋体" panose="02010600030101010101" pitchFamily="2" charset="-122"/>
              </a:rPr>
              <a:t>digit </a:t>
            </a:r>
            <a:r>
              <a:rPr lang="en-US" altLang="zh-CN" b="1" smtClean="0">
                <a:ea typeface="宋体" panose="02010600030101010101" pitchFamily="2" charset="-122"/>
              </a:rPr>
              <a:t>= [0-9] 			</a:t>
            </a:r>
            <a:r>
              <a:rPr lang="en-US" altLang="zh-CN" b="1" smtClean="0">
                <a:latin typeface="Verdana" panose="020B0604030504040204" pitchFamily="34" charset="0"/>
                <a:ea typeface="宋体" panose="02010600030101010101" pitchFamily="2" charset="-122"/>
              </a:rPr>
              <a:t>“</a:t>
            </a:r>
            <a:r>
              <a:rPr lang="en-US" altLang="zh-CN" b="1" smtClean="0">
                <a:ea typeface="宋体" panose="02010600030101010101" pitchFamily="2" charset="-122"/>
              </a:rPr>
              <a:t>0</a:t>
            </a:r>
            <a:r>
              <a:rPr lang="en-US" altLang="zh-CN" b="1" smtClean="0">
                <a:latin typeface="Verdana" panose="020B0604030504040204" pitchFamily="34" charset="0"/>
                <a:ea typeface="宋体" panose="02010600030101010101" pitchFamily="2" charset="-122"/>
              </a:rPr>
              <a:t>”</a:t>
            </a:r>
            <a:r>
              <a:rPr lang="en-US" altLang="zh-CN" b="1" smtClean="0">
                <a:ea typeface="宋体" panose="02010600030101010101" pitchFamily="2" charset="-122"/>
              </a:rPr>
              <a:t> </a:t>
            </a:r>
            <a:r>
              <a:rPr lang="en-US" altLang="zh-CN" b="1" smtClean="0">
                <a:latin typeface="Verdana" panose="020B0604030504040204" pitchFamily="34" charset="0"/>
                <a:ea typeface="宋体" panose="02010600030101010101" pitchFamily="2" charset="-122"/>
              </a:rPr>
              <a:t>“</a:t>
            </a:r>
            <a:r>
              <a:rPr lang="en-US" altLang="zh-CN" b="1" smtClean="0">
                <a:ea typeface="宋体" panose="02010600030101010101" pitchFamily="2" charset="-122"/>
              </a:rPr>
              <a:t>1</a:t>
            </a:r>
            <a:r>
              <a:rPr lang="en-US" altLang="zh-CN" b="1" smtClean="0">
                <a:latin typeface="Verdana" panose="020B0604030504040204" pitchFamily="34" charset="0"/>
                <a:ea typeface="宋体" panose="02010600030101010101" pitchFamily="2" charset="-122"/>
              </a:rPr>
              <a:t>”</a:t>
            </a:r>
            <a:r>
              <a:rPr lang="en-US" altLang="zh-CN" b="1" smtClean="0">
                <a:ea typeface="宋体" panose="02010600030101010101" pitchFamily="2" charset="-122"/>
              </a:rPr>
              <a:t> </a:t>
            </a:r>
            <a:r>
              <a:rPr lang="en-US" altLang="zh-CN" b="1" smtClean="0">
                <a:latin typeface="Verdana" panose="020B0604030504040204" pitchFamily="34" charset="0"/>
                <a:ea typeface="宋体" panose="02010600030101010101" pitchFamily="2" charset="-122"/>
              </a:rPr>
              <a:t>“</a:t>
            </a:r>
            <a:r>
              <a:rPr lang="en-US" altLang="zh-CN" b="1" smtClean="0">
                <a:ea typeface="宋体" panose="02010600030101010101" pitchFamily="2" charset="-122"/>
              </a:rPr>
              <a:t>2</a:t>
            </a:r>
            <a:r>
              <a:rPr lang="en-US" altLang="zh-CN" b="1" smtClean="0">
                <a:latin typeface="Verdana" panose="020B0604030504040204" pitchFamily="34" charset="0"/>
                <a:ea typeface="宋体" panose="02010600030101010101" pitchFamily="2" charset="-122"/>
              </a:rPr>
              <a:t>”</a:t>
            </a:r>
            <a:r>
              <a:rPr lang="en-US" altLang="zh-CN" b="1" smtClean="0">
                <a:ea typeface="宋体" panose="02010600030101010101" pitchFamily="2" charset="-122"/>
              </a:rPr>
              <a:t> </a:t>
            </a:r>
            <a:r>
              <a:rPr lang="en-US" altLang="zh-CN" b="1" smtClean="0">
                <a:latin typeface="Verdana" panose="020B0604030504040204" pitchFamily="34" charset="0"/>
                <a:ea typeface="宋体" panose="02010600030101010101" pitchFamily="2" charset="-122"/>
              </a:rPr>
              <a:t>“</a:t>
            </a:r>
            <a:r>
              <a:rPr lang="en-US" altLang="zh-CN" b="1" smtClean="0">
                <a:ea typeface="宋体" panose="02010600030101010101" pitchFamily="2" charset="-122"/>
              </a:rPr>
              <a:t>3</a:t>
            </a:r>
            <a:r>
              <a:rPr lang="en-US" altLang="zh-CN" b="1" smtClean="0">
                <a:latin typeface="Verdana" panose="020B0604030504040204" pitchFamily="34" charset="0"/>
                <a:ea typeface="宋体" panose="02010600030101010101" pitchFamily="2" charset="-122"/>
              </a:rPr>
              <a:t>”</a:t>
            </a:r>
            <a:r>
              <a:rPr lang="en-US" altLang="zh-CN" b="1" smtClean="0">
                <a:ea typeface="宋体" panose="02010600030101010101" pitchFamily="2" charset="-122"/>
              </a:rPr>
              <a:t> </a:t>
            </a:r>
            <a:r>
              <a:rPr lang="en-US" altLang="zh-CN" b="1" smtClean="0">
                <a:latin typeface="Verdana" panose="020B0604030504040204" pitchFamily="34" charset="0"/>
                <a:ea typeface="宋体" panose="02010600030101010101" pitchFamily="2" charset="-122"/>
              </a:rPr>
              <a:t>…</a:t>
            </a:r>
            <a:endParaRPr lang="en-US" altLang="zh-CN" b="1" smtClean="0">
              <a:ea typeface="宋体" panose="02010600030101010101" pitchFamily="2" charset="-122"/>
            </a:endParaRPr>
          </a:p>
          <a:p>
            <a:r>
              <a:rPr lang="en-US" altLang="zh-CN" b="1" i="1" smtClean="0">
                <a:ea typeface="宋体" panose="02010600030101010101" pitchFamily="2" charset="-122"/>
              </a:rPr>
              <a:t>posint </a:t>
            </a:r>
            <a:r>
              <a:rPr lang="en-US" altLang="zh-CN" b="1" smtClean="0">
                <a:ea typeface="宋体" panose="02010600030101010101" pitchFamily="2" charset="-122"/>
              </a:rPr>
              <a:t>= </a:t>
            </a:r>
            <a:r>
              <a:rPr lang="en-US" altLang="zh-CN" b="1" i="1" smtClean="0">
                <a:ea typeface="宋体" panose="02010600030101010101" pitchFamily="2" charset="-122"/>
              </a:rPr>
              <a:t>digit</a:t>
            </a:r>
            <a:r>
              <a:rPr lang="en-US" altLang="zh-CN" b="1" smtClean="0">
                <a:ea typeface="宋体" panose="02010600030101010101" pitchFamily="2" charset="-122"/>
              </a:rPr>
              <a:t>+ 			</a:t>
            </a:r>
            <a:r>
              <a:rPr lang="en-US" altLang="zh-CN" b="1" smtClean="0">
                <a:latin typeface="Verdana" panose="020B0604030504040204" pitchFamily="34" charset="0"/>
                <a:ea typeface="宋体" panose="02010600030101010101" pitchFamily="2" charset="-122"/>
              </a:rPr>
              <a:t>“</a:t>
            </a:r>
            <a:r>
              <a:rPr lang="en-US" altLang="zh-CN" b="1" smtClean="0">
                <a:ea typeface="宋体" panose="02010600030101010101" pitchFamily="2" charset="-122"/>
              </a:rPr>
              <a:t>8</a:t>
            </a:r>
            <a:r>
              <a:rPr lang="en-US" altLang="zh-CN" b="1" smtClean="0">
                <a:latin typeface="Verdana" panose="020B0604030504040204" pitchFamily="34" charset="0"/>
                <a:ea typeface="宋体" panose="02010600030101010101" pitchFamily="2" charset="-122"/>
              </a:rPr>
              <a:t>”</a:t>
            </a:r>
            <a:r>
              <a:rPr lang="en-US" altLang="zh-CN" b="1" smtClean="0">
                <a:ea typeface="宋体" panose="02010600030101010101" pitchFamily="2" charset="-122"/>
              </a:rPr>
              <a:t> </a:t>
            </a:r>
            <a:r>
              <a:rPr lang="en-US" altLang="zh-CN" b="1" smtClean="0">
                <a:latin typeface="Verdana" panose="020B0604030504040204" pitchFamily="34" charset="0"/>
                <a:ea typeface="宋体" panose="02010600030101010101" pitchFamily="2" charset="-122"/>
              </a:rPr>
              <a:t>“</a:t>
            </a:r>
            <a:r>
              <a:rPr lang="en-US" altLang="zh-CN" b="1" smtClean="0">
                <a:ea typeface="宋体" panose="02010600030101010101" pitchFamily="2" charset="-122"/>
              </a:rPr>
              <a:t>412</a:t>
            </a:r>
            <a:r>
              <a:rPr lang="en-US" altLang="zh-CN" b="1" smtClean="0">
                <a:latin typeface="Verdana" panose="020B0604030504040204" pitchFamily="34" charset="0"/>
                <a:ea typeface="宋体" panose="02010600030101010101" pitchFamily="2" charset="-122"/>
              </a:rPr>
              <a:t>”</a:t>
            </a:r>
            <a:r>
              <a:rPr lang="en-US" altLang="zh-CN" b="1" smtClean="0">
                <a:ea typeface="宋体" panose="02010600030101010101" pitchFamily="2" charset="-122"/>
              </a:rPr>
              <a:t> </a:t>
            </a:r>
            <a:r>
              <a:rPr lang="en-US" altLang="zh-CN" b="1" smtClean="0">
                <a:latin typeface="Verdana" panose="020B0604030504040204" pitchFamily="34" charset="0"/>
                <a:ea typeface="宋体" panose="02010600030101010101" pitchFamily="2" charset="-122"/>
              </a:rPr>
              <a:t>…</a:t>
            </a:r>
            <a:endParaRPr lang="en-US" altLang="zh-CN" b="1" smtClean="0">
              <a:ea typeface="宋体" panose="02010600030101010101" pitchFamily="2" charset="-122"/>
            </a:endParaRPr>
          </a:p>
          <a:p>
            <a:r>
              <a:rPr lang="en-US" altLang="zh-CN" b="1" i="1" smtClean="0">
                <a:ea typeface="宋体" panose="02010600030101010101" pitchFamily="2" charset="-122"/>
              </a:rPr>
              <a:t>int </a:t>
            </a:r>
            <a:r>
              <a:rPr lang="en-US" altLang="zh-CN" b="1" smtClean="0">
                <a:ea typeface="宋体" panose="02010600030101010101" pitchFamily="2" charset="-122"/>
              </a:rPr>
              <a:t>= -? </a:t>
            </a:r>
            <a:r>
              <a:rPr lang="en-US" altLang="zh-CN" b="1" i="1" smtClean="0">
                <a:ea typeface="宋体" panose="02010600030101010101" pitchFamily="2" charset="-122"/>
              </a:rPr>
              <a:t>posint 			</a:t>
            </a:r>
            <a:r>
              <a:rPr lang="en-US" altLang="zh-CN" b="1" smtClean="0">
                <a:latin typeface="Verdana" panose="020B0604030504040204" pitchFamily="34" charset="0"/>
                <a:ea typeface="宋体" panose="02010600030101010101" pitchFamily="2" charset="-122"/>
              </a:rPr>
              <a:t>“</a:t>
            </a:r>
            <a:r>
              <a:rPr lang="en-US" altLang="zh-CN" b="1" smtClean="0">
                <a:ea typeface="宋体" panose="02010600030101010101" pitchFamily="2" charset="-122"/>
              </a:rPr>
              <a:t>-42</a:t>
            </a:r>
            <a:r>
              <a:rPr lang="en-US" altLang="zh-CN" b="1" smtClean="0">
                <a:latin typeface="Verdana" panose="020B0604030504040204" pitchFamily="34" charset="0"/>
                <a:ea typeface="宋体" panose="02010600030101010101" pitchFamily="2" charset="-122"/>
              </a:rPr>
              <a:t>”</a:t>
            </a:r>
            <a:r>
              <a:rPr lang="en-US" altLang="zh-CN" b="1" smtClean="0">
                <a:ea typeface="宋体" panose="02010600030101010101" pitchFamily="2" charset="-122"/>
              </a:rPr>
              <a:t> </a:t>
            </a:r>
            <a:r>
              <a:rPr lang="en-US" altLang="zh-CN" b="1" smtClean="0">
                <a:latin typeface="Verdana" panose="020B0604030504040204" pitchFamily="34" charset="0"/>
                <a:ea typeface="宋体" panose="02010600030101010101" pitchFamily="2" charset="-122"/>
              </a:rPr>
              <a:t>“</a:t>
            </a:r>
            <a:r>
              <a:rPr lang="en-US" altLang="zh-CN" b="1" smtClean="0">
                <a:ea typeface="宋体" panose="02010600030101010101" pitchFamily="2" charset="-122"/>
              </a:rPr>
              <a:t>1024</a:t>
            </a:r>
            <a:r>
              <a:rPr lang="en-US" altLang="zh-CN" b="1" smtClean="0">
                <a:latin typeface="Verdana" panose="020B0604030504040204" pitchFamily="34" charset="0"/>
                <a:ea typeface="宋体" panose="02010600030101010101" pitchFamily="2" charset="-122"/>
              </a:rPr>
              <a:t>”</a:t>
            </a:r>
            <a:r>
              <a:rPr lang="en-US" altLang="zh-CN" b="1" smtClean="0">
                <a:ea typeface="宋体" panose="02010600030101010101" pitchFamily="2" charset="-122"/>
              </a:rPr>
              <a:t> </a:t>
            </a:r>
            <a:r>
              <a:rPr lang="en-US" altLang="zh-CN" b="1" smtClean="0">
                <a:latin typeface="Verdana" panose="020B0604030504040204" pitchFamily="34" charset="0"/>
                <a:ea typeface="宋体" panose="02010600030101010101" pitchFamily="2" charset="-122"/>
              </a:rPr>
              <a:t>…</a:t>
            </a:r>
            <a:endParaRPr lang="en-US" altLang="zh-CN" b="1" smtClean="0">
              <a:ea typeface="宋体" panose="02010600030101010101" pitchFamily="2" charset="-122"/>
            </a:endParaRPr>
          </a:p>
          <a:p>
            <a:r>
              <a:rPr lang="en-US" altLang="zh-CN" b="1" i="1" smtClean="0">
                <a:ea typeface="宋体" panose="02010600030101010101" pitchFamily="2" charset="-122"/>
              </a:rPr>
              <a:t>real </a:t>
            </a:r>
            <a:r>
              <a:rPr lang="en-US" altLang="zh-CN" b="1" smtClean="0">
                <a:ea typeface="宋体" panose="02010600030101010101" pitchFamily="2" charset="-122"/>
              </a:rPr>
              <a:t>= </a:t>
            </a:r>
            <a:r>
              <a:rPr lang="en-US" altLang="zh-CN" b="1" i="1" smtClean="0">
                <a:ea typeface="宋体" panose="02010600030101010101" pitchFamily="2" charset="-122"/>
              </a:rPr>
              <a:t>int </a:t>
            </a:r>
            <a:r>
              <a:rPr lang="en-US" altLang="zh-CN" b="1" smtClean="0">
                <a:ea typeface="宋体" panose="02010600030101010101" pitchFamily="2" charset="-122"/>
              </a:rPr>
              <a:t>(ε | (. </a:t>
            </a:r>
            <a:r>
              <a:rPr lang="en-US" altLang="zh-CN" b="1" i="1" smtClean="0">
                <a:ea typeface="宋体" panose="02010600030101010101" pitchFamily="2" charset="-122"/>
              </a:rPr>
              <a:t>posint</a:t>
            </a:r>
            <a:r>
              <a:rPr lang="en-US" altLang="zh-CN" b="1" smtClean="0">
                <a:ea typeface="宋体" panose="02010600030101010101" pitchFamily="2" charset="-122"/>
              </a:rPr>
              <a:t>)) 	</a:t>
            </a:r>
            <a:r>
              <a:rPr lang="en-US" altLang="zh-CN" b="1" smtClean="0">
                <a:latin typeface="Verdana" panose="020B0604030504040204" pitchFamily="34" charset="0"/>
                <a:ea typeface="宋体" panose="02010600030101010101" pitchFamily="2" charset="-122"/>
              </a:rPr>
              <a:t>“</a:t>
            </a:r>
            <a:r>
              <a:rPr lang="en-US" altLang="zh-CN" b="1" smtClean="0">
                <a:ea typeface="宋体" panose="02010600030101010101" pitchFamily="2" charset="-122"/>
              </a:rPr>
              <a:t>-1.56</a:t>
            </a:r>
            <a:r>
              <a:rPr lang="en-US" altLang="zh-CN" b="1" smtClean="0">
                <a:latin typeface="Verdana" panose="020B0604030504040204" pitchFamily="34" charset="0"/>
                <a:ea typeface="宋体" panose="02010600030101010101" pitchFamily="2" charset="-122"/>
              </a:rPr>
              <a:t>”</a:t>
            </a:r>
            <a:r>
              <a:rPr lang="en-US" altLang="zh-CN" b="1" smtClean="0">
                <a:ea typeface="宋体" panose="02010600030101010101" pitchFamily="2" charset="-122"/>
              </a:rPr>
              <a:t> </a:t>
            </a:r>
            <a:r>
              <a:rPr lang="en-US" altLang="zh-CN" b="1" smtClean="0">
                <a:latin typeface="Verdana" panose="020B0604030504040204" pitchFamily="34" charset="0"/>
                <a:ea typeface="宋体" panose="02010600030101010101" pitchFamily="2" charset="-122"/>
              </a:rPr>
              <a:t>“</a:t>
            </a:r>
            <a:r>
              <a:rPr lang="en-US" altLang="zh-CN" b="1" smtClean="0">
                <a:ea typeface="宋体" panose="02010600030101010101" pitchFamily="2" charset="-122"/>
              </a:rPr>
              <a:t>12</a:t>
            </a:r>
            <a:r>
              <a:rPr lang="en-US" altLang="zh-CN" b="1" smtClean="0">
                <a:latin typeface="Verdana" panose="020B0604030504040204" pitchFamily="34" charset="0"/>
                <a:ea typeface="宋体" panose="02010600030101010101" pitchFamily="2" charset="-122"/>
              </a:rPr>
              <a:t>”</a:t>
            </a:r>
            <a:r>
              <a:rPr lang="en-US" altLang="zh-CN" b="1" smtClean="0">
                <a:ea typeface="宋体" panose="02010600030101010101" pitchFamily="2" charset="-122"/>
              </a:rPr>
              <a:t> </a:t>
            </a:r>
            <a:r>
              <a:rPr lang="en-US" altLang="zh-CN" b="1" smtClean="0">
                <a:latin typeface="Verdana" panose="020B0604030504040204" pitchFamily="34" charset="0"/>
                <a:ea typeface="宋体" panose="02010600030101010101" pitchFamily="2" charset="-122"/>
              </a:rPr>
              <a:t>“</a:t>
            </a:r>
            <a:r>
              <a:rPr lang="en-US" altLang="zh-CN" b="1" smtClean="0">
                <a:ea typeface="宋体" panose="02010600030101010101" pitchFamily="2" charset="-122"/>
              </a:rPr>
              <a:t>1.0</a:t>
            </a:r>
            <a:r>
              <a:rPr lang="en-US" altLang="zh-CN" b="1" smtClean="0">
                <a:latin typeface="Verdana" panose="020B0604030504040204" pitchFamily="34" charset="0"/>
                <a:ea typeface="宋体" panose="02010600030101010101" pitchFamily="2" charset="-122"/>
              </a:rPr>
              <a:t>”</a:t>
            </a:r>
            <a:endParaRPr lang="en-US" altLang="zh-CN" b="1" smtClean="0">
              <a:ea typeface="宋体" panose="02010600030101010101" pitchFamily="2" charset="-122"/>
            </a:endParaRPr>
          </a:p>
          <a:p>
            <a:r>
              <a:rPr lang="en-US" altLang="zh-CN" b="1" smtClean="0">
                <a:ea typeface="宋体" panose="02010600030101010101" pitchFamily="2" charset="-122"/>
              </a:rPr>
              <a:t>[a-zA-Z_][a-zA-Z0-9_]* 	C identifiers</a:t>
            </a:r>
          </a:p>
          <a:p>
            <a:endParaRPr lang="en-US" altLang="zh-CN" b="1" smtClean="0">
              <a:ea typeface="宋体" panose="02010600030101010101" pitchFamily="2" charset="-122"/>
            </a:endParaRPr>
          </a:p>
          <a:p>
            <a:r>
              <a:rPr lang="en-US" altLang="zh-CN" b="1" smtClean="0">
                <a:ea typeface="宋体" panose="02010600030101010101" pitchFamily="2" charset="-122"/>
              </a:rPr>
              <a:t> </a:t>
            </a:r>
            <a:r>
              <a:rPr lang="en-US" altLang="zh-CN" smtClean="0">
                <a:ea typeface="宋体" panose="02010600030101010101" pitchFamily="2" charset="-122"/>
              </a:rPr>
              <a:t>Lexer generators support abbreviations</a:t>
            </a:r>
          </a:p>
          <a:p>
            <a:pPr lvl="2"/>
            <a:r>
              <a:rPr lang="en-US" altLang="zh-CN" sz="1800" smtClean="0">
                <a:ea typeface="宋体" panose="02010600030101010101" pitchFamily="2" charset="-122"/>
              </a:rPr>
              <a:t>But they cannot be recursive</a:t>
            </a:r>
          </a:p>
          <a:p>
            <a:endParaRPr lang="zh-CN" altLang="en-US" sz="2200" b="1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◎2005 ECNU SEI</a:t>
            </a:r>
            <a:endParaRPr lang="en-US" altLang="zh-CN" sz="800" b="0" smtClean="0"/>
          </a:p>
        </p:txBody>
      </p:sp>
      <p:sp>
        <p:nvSpPr>
          <p:cNvPr id="5325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Compilers: Principles, Techniques, and Tools</a:t>
            </a:r>
            <a:endParaRPr lang="en-US" altLang="zh-CN" sz="800" b="0" smtClean="0"/>
          </a:p>
        </p:txBody>
      </p:sp>
      <p:sp>
        <p:nvSpPr>
          <p:cNvPr id="5325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C4361BF-E9FD-4889-A5B2-3D6AD4EF1859}" type="slidenum">
              <a:rPr lang="zh-CN" altLang="en-US" sz="800" b="0"/>
              <a:pPr/>
              <a:t>51</a:t>
            </a:fld>
            <a:endParaRPr lang="en-US" altLang="zh-CN" sz="800" b="0"/>
          </a:p>
        </p:txBody>
      </p:sp>
      <p:sp>
        <p:nvSpPr>
          <p:cNvPr id="53253" name="Rectangle 2"/>
          <p:cNvSpPr>
            <a:spLocks noGrp="1" noChangeArrowheads="1"/>
          </p:cNvSpPr>
          <p:nvPr>
            <p:ph type="title"/>
          </p:nvPr>
        </p:nvSpPr>
        <p:spPr>
          <a:xfrm>
            <a:off x="382588" y="152400"/>
            <a:ext cx="9371012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More Examples</a:t>
            </a:r>
          </a:p>
        </p:txBody>
      </p:sp>
      <p:sp>
        <p:nvSpPr>
          <p:cNvPr id="532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2588" y="1219200"/>
            <a:ext cx="9371012" cy="5105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Whitespace: 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     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Integers: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     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Hex numbers: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     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Valid UVa User Ids: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     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Loop keywords in C:   </a:t>
            </a:r>
          </a:p>
          <a:p>
            <a:endParaRPr lang="zh-CN" altLang="en-US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◎2005 ECNU SEI</a:t>
            </a:r>
            <a:endParaRPr lang="en-US" altLang="zh-CN" sz="800" b="0" smtClean="0"/>
          </a:p>
        </p:txBody>
      </p:sp>
      <p:sp>
        <p:nvSpPr>
          <p:cNvPr id="5427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Compilers: Principles, Techniques, and Tools</a:t>
            </a:r>
            <a:endParaRPr lang="en-US" altLang="zh-CN" sz="800" b="0" smtClean="0"/>
          </a:p>
        </p:txBody>
      </p:sp>
      <p:sp>
        <p:nvSpPr>
          <p:cNvPr id="5427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03E40CB-B0A1-4CFF-AF1A-202BB7748FCB}" type="slidenum">
              <a:rPr lang="zh-CN" altLang="en-US" sz="800" b="0"/>
              <a:pPr/>
              <a:t>52</a:t>
            </a:fld>
            <a:endParaRPr lang="en-US" altLang="zh-CN" sz="800" b="0"/>
          </a:p>
        </p:txBody>
      </p:sp>
      <p:sp>
        <p:nvSpPr>
          <p:cNvPr id="54277" name="Rectangle 2"/>
          <p:cNvSpPr>
            <a:spLocks noGrp="1" noChangeArrowheads="1"/>
          </p:cNvSpPr>
          <p:nvPr>
            <p:ph type="title"/>
          </p:nvPr>
        </p:nvSpPr>
        <p:spPr>
          <a:xfrm>
            <a:off x="382588" y="152400"/>
            <a:ext cx="9371012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Breaking up Text</a:t>
            </a:r>
          </a:p>
        </p:txBody>
      </p:sp>
      <p:sp>
        <p:nvSpPr>
          <p:cNvPr id="542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2588" y="1219200"/>
            <a:ext cx="9371012" cy="5105400"/>
          </a:xfrm>
        </p:spPr>
        <p:txBody>
          <a:bodyPr/>
          <a:lstStyle/>
          <a:p>
            <a:pPr>
              <a:spcAft>
                <a:spcPct val="200000"/>
              </a:spcAft>
            </a:pPr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elsex=0;</a:t>
            </a:r>
          </a:p>
          <a:p>
            <a:r>
              <a:rPr lang="en-US" altLang="zh-CN" b="1" smtClean="0">
                <a:ea typeface="宋体" panose="02010600030101010101" pitchFamily="2" charset="-122"/>
                <a:cs typeface="Courier New" panose="02070309020205020404" pitchFamily="49" charset="0"/>
              </a:rPr>
              <a:t>REs alone not enough: need rules for choosing</a:t>
            </a:r>
          </a:p>
          <a:p>
            <a:r>
              <a:rPr lang="en-US" altLang="zh-CN" b="1" smtClean="0">
                <a:ea typeface="宋体" panose="02010600030101010101" pitchFamily="2" charset="-122"/>
                <a:cs typeface="Courier New" panose="02070309020205020404" pitchFamily="49" charset="0"/>
              </a:rPr>
              <a:t>Most languages: </a:t>
            </a:r>
            <a:r>
              <a:rPr lang="en-US" altLang="zh-CN" smtClean="0">
                <a:ea typeface="宋体" panose="02010600030101010101" pitchFamily="2" charset="-122"/>
                <a:cs typeface="Courier New" panose="02070309020205020404" pitchFamily="49" charset="0"/>
              </a:rPr>
              <a:t>longest matching token</a:t>
            </a:r>
            <a:r>
              <a:rPr lang="en-US" altLang="zh-CN" b="1" smtClean="0">
                <a:ea typeface="宋体" panose="02010600030101010101" pitchFamily="2" charset="-122"/>
                <a:cs typeface="Courier New" panose="02070309020205020404" pitchFamily="49" charset="0"/>
              </a:rPr>
              <a:t> wins</a:t>
            </a:r>
          </a:p>
          <a:p>
            <a:pPr lvl="2"/>
            <a:r>
              <a:rPr lang="en-US" altLang="zh-CN" sz="1800" smtClean="0">
                <a:ea typeface="宋体" panose="02010600030101010101" pitchFamily="2" charset="-122"/>
                <a:cs typeface="Courier New" panose="02070309020205020404" pitchFamily="49" charset="0"/>
              </a:rPr>
              <a:t>even if a shorter token is only way</a:t>
            </a:r>
          </a:p>
          <a:p>
            <a:r>
              <a:rPr lang="en-US" altLang="zh-CN" b="1" smtClean="0">
                <a:ea typeface="宋体" panose="02010600030101010101" pitchFamily="2" charset="-122"/>
                <a:cs typeface="Courier New" panose="02070309020205020404" pitchFamily="49" charset="0"/>
              </a:rPr>
              <a:t>Ties in length resolved by </a:t>
            </a:r>
            <a:r>
              <a:rPr lang="en-US" altLang="zh-CN" smtClean="0">
                <a:ea typeface="宋体" panose="02010600030101010101" pitchFamily="2" charset="-122"/>
                <a:cs typeface="Courier New" panose="02070309020205020404" pitchFamily="49" charset="0"/>
              </a:rPr>
              <a:t>prioritizing tokens</a:t>
            </a:r>
          </a:p>
          <a:p>
            <a:r>
              <a:rPr lang="en-US" altLang="zh-CN" b="1" smtClean="0">
                <a:ea typeface="宋体" panose="02010600030101010101" pitchFamily="2" charset="-122"/>
                <a:cs typeface="Courier New" panose="02070309020205020404" pitchFamily="49" charset="0"/>
              </a:rPr>
              <a:t>RE</a:t>
            </a:r>
            <a:r>
              <a:rPr lang="en-US" altLang="zh-CN" b="1" smtClean="0">
                <a:latin typeface="Verdana" panose="020B0604030504040204" pitchFamily="34" charset="0"/>
                <a:ea typeface="宋体" panose="02010600030101010101" pitchFamily="2" charset="-122"/>
                <a:cs typeface="Courier New" panose="02070309020205020404" pitchFamily="49" charset="0"/>
              </a:rPr>
              <a:t>’</a:t>
            </a:r>
            <a:r>
              <a:rPr lang="en-US" altLang="zh-CN" b="1" smtClean="0">
                <a:ea typeface="宋体" panose="02010600030101010101" pitchFamily="2" charset="-122"/>
                <a:cs typeface="Courier New" panose="02070309020205020404" pitchFamily="49" charset="0"/>
              </a:rPr>
              <a:t>s + priorities + longest-matching token rule = </a:t>
            </a:r>
            <a:r>
              <a:rPr lang="en-US" altLang="zh-CN" smtClean="0">
                <a:ea typeface="宋体" panose="02010600030101010101" pitchFamily="2" charset="-122"/>
                <a:cs typeface="Courier New" panose="02070309020205020404" pitchFamily="49" charset="0"/>
              </a:rPr>
              <a:t>lexer definition</a:t>
            </a:r>
          </a:p>
        </p:txBody>
      </p:sp>
      <p:grpSp>
        <p:nvGrpSpPr>
          <p:cNvPr id="54279" name="Group 4"/>
          <p:cNvGrpSpPr>
            <a:grpSpLocks/>
          </p:cNvGrpSpPr>
          <p:nvPr/>
        </p:nvGrpSpPr>
        <p:grpSpPr bwMode="auto">
          <a:xfrm>
            <a:off x="5365750" y="990600"/>
            <a:ext cx="2641600" cy="990600"/>
            <a:chOff x="3120" y="624"/>
            <a:chExt cx="1536" cy="624"/>
          </a:xfrm>
        </p:grpSpPr>
        <p:sp>
          <p:nvSpPr>
            <p:cNvPr id="54280" name="Rectangle 5"/>
            <p:cNvSpPr>
              <a:spLocks noChangeArrowheads="1"/>
            </p:cNvSpPr>
            <p:nvPr/>
          </p:nvSpPr>
          <p:spPr bwMode="auto">
            <a:xfrm>
              <a:off x="3120" y="624"/>
              <a:ext cx="1536" cy="240"/>
            </a:xfrm>
            <a:prstGeom prst="rect">
              <a:avLst/>
            </a:prstGeom>
            <a:noFill/>
            <a:ln w="50800" algn="ctr">
              <a:solidFill>
                <a:srgbClr val="E689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>
                  <a:latin typeface="Courier New" panose="02070309020205020404" pitchFamily="49" charset="0"/>
                  <a:ea typeface="宋体" panose="02010600030101010101" pitchFamily="2" charset="-122"/>
                  <a:cs typeface="Courier New" panose="02070309020205020404" pitchFamily="49" charset="0"/>
                </a:rPr>
                <a:t>else x = 0 ;</a:t>
              </a:r>
            </a:p>
          </p:txBody>
        </p:sp>
        <p:sp>
          <p:nvSpPr>
            <p:cNvPr id="54281" name="Rectangle 6"/>
            <p:cNvSpPr>
              <a:spLocks noChangeArrowheads="1"/>
            </p:cNvSpPr>
            <p:nvPr/>
          </p:nvSpPr>
          <p:spPr bwMode="auto">
            <a:xfrm>
              <a:off x="3168" y="1008"/>
              <a:ext cx="1440" cy="240"/>
            </a:xfrm>
            <a:prstGeom prst="rect">
              <a:avLst/>
            </a:prstGeom>
            <a:noFill/>
            <a:ln w="50800" algn="ctr">
              <a:solidFill>
                <a:srgbClr val="E689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latin typeface="Courier New" panose="02070309020205020404" pitchFamily="49" charset="0"/>
                  <a:ea typeface="宋体" panose="02010600030101010101" pitchFamily="2" charset="-122"/>
                  <a:cs typeface="Courier New" panose="02070309020205020404" pitchFamily="49" charset="0"/>
                </a:rPr>
                <a:t>elsex = 0 ;</a:t>
              </a:r>
            </a:p>
          </p:txBody>
        </p:sp>
        <p:sp>
          <p:nvSpPr>
            <p:cNvPr id="54282" name="Line 7"/>
            <p:cNvSpPr>
              <a:spLocks noChangeShapeType="1"/>
            </p:cNvSpPr>
            <p:nvPr/>
          </p:nvSpPr>
          <p:spPr bwMode="auto">
            <a:xfrm>
              <a:off x="3744" y="624"/>
              <a:ext cx="0" cy="240"/>
            </a:xfrm>
            <a:prstGeom prst="line">
              <a:avLst/>
            </a:prstGeom>
            <a:noFill/>
            <a:ln w="50800">
              <a:solidFill>
                <a:srgbClr val="E68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283" name="Line 8"/>
            <p:cNvSpPr>
              <a:spLocks noChangeShapeType="1"/>
            </p:cNvSpPr>
            <p:nvPr/>
          </p:nvSpPr>
          <p:spPr bwMode="auto">
            <a:xfrm>
              <a:off x="3936" y="624"/>
              <a:ext cx="0" cy="240"/>
            </a:xfrm>
            <a:prstGeom prst="line">
              <a:avLst/>
            </a:prstGeom>
            <a:noFill/>
            <a:ln w="50800">
              <a:solidFill>
                <a:srgbClr val="E68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284" name="Line 9"/>
            <p:cNvSpPr>
              <a:spLocks noChangeShapeType="1"/>
            </p:cNvSpPr>
            <p:nvPr/>
          </p:nvSpPr>
          <p:spPr bwMode="auto">
            <a:xfrm>
              <a:off x="4176" y="624"/>
              <a:ext cx="0" cy="240"/>
            </a:xfrm>
            <a:prstGeom prst="line">
              <a:avLst/>
            </a:prstGeom>
            <a:noFill/>
            <a:ln w="50800">
              <a:solidFill>
                <a:srgbClr val="E68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285" name="Line 10"/>
            <p:cNvSpPr>
              <a:spLocks noChangeShapeType="1"/>
            </p:cNvSpPr>
            <p:nvPr/>
          </p:nvSpPr>
          <p:spPr bwMode="auto">
            <a:xfrm>
              <a:off x="4416" y="624"/>
              <a:ext cx="0" cy="240"/>
            </a:xfrm>
            <a:prstGeom prst="line">
              <a:avLst/>
            </a:prstGeom>
            <a:noFill/>
            <a:ln w="50800">
              <a:solidFill>
                <a:srgbClr val="E68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286" name="Line 11"/>
            <p:cNvSpPr>
              <a:spLocks noChangeShapeType="1"/>
            </p:cNvSpPr>
            <p:nvPr/>
          </p:nvSpPr>
          <p:spPr bwMode="auto">
            <a:xfrm>
              <a:off x="3888" y="1008"/>
              <a:ext cx="0" cy="240"/>
            </a:xfrm>
            <a:prstGeom prst="line">
              <a:avLst/>
            </a:prstGeom>
            <a:noFill/>
            <a:ln w="50800">
              <a:solidFill>
                <a:srgbClr val="E68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287" name="Line 12"/>
            <p:cNvSpPr>
              <a:spLocks noChangeShapeType="1"/>
            </p:cNvSpPr>
            <p:nvPr/>
          </p:nvSpPr>
          <p:spPr bwMode="auto">
            <a:xfrm>
              <a:off x="4128" y="1008"/>
              <a:ext cx="0" cy="240"/>
            </a:xfrm>
            <a:prstGeom prst="line">
              <a:avLst/>
            </a:prstGeom>
            <a:noFill/>
            <a:ln w="50800">
              <a:solidFill>
                <a:srgbClr val="E68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288" name="Line 13"/>
            <p:cNvSpPr>
              <a:spLocks noChangeShapeType="1"/>
            </p:cNvSpPr>
            <p:nvPr/>
          </p:nvSpPr>
          <p:spPr bwMode="auto">
            <a:xfrm>
              <a:off x="4368" y="1008"/>
              <a:ext cx="0" cy="240"/>
            </a:xfrm>
            <a:prstGeom prst="line">
              <a:avLst/>
            </a:prstGeom>
            <a:noFill/>
            <a:ln w="50800">
              <a:solidFill>
                <a:srgbClr val="E68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◎2005 ECNU SEI</a:t>
            </a:r>
            <a:endParaRPr lang="en-US" altLang="zh-CN" sz="800" b="0" smtClean="0"/>
          </a:p>
        </p:txBody>
      </p:sp>
      <p:sp>
        <p:nvSpPr>
          <p:cNvPr id="5529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Compilers: Principles, Techniques, and Tools</a:t>
            </a:r>
            <a:endParaRPr lang="en-US" altLang="zh-CN" sz="800" b="0" smtClean="0"/>
          </a:p>
        </p:txBody>
      </p:sp>
      <p:sp>
        <p:nvSpPr>
          <p:cNvPr id="5530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1F28983-1C29-49AE-86FA-51345292AAD6}" type="slidenum">
              <a:rPr lang="zh-CN" altLang="en-US" sz="800" b="0"/>
              <a:pPr/>
              <a:t>53</a:t>
            </a:fld>
            <a:endParaRPr lang="en-US" altLang="zh-CN" sz="800" b="0"/>
          </a:p>
        </p:txBody>
      </p:sp>
      <p:sp>
        <p:nvSpPr>
          <p:cNvPr id="55301" name="Rectangle 2"/>
          <p:cNvSpPr>
            <a:spLocks noGrp="1" noChangeArrowheads="1"/>
          </p:cNvSpPr>
          <p:nvPr>
            <p:ph type="title"/>
          </p:nvPr>
        </p:nvSpPr>
        <p:spPr>
          <a:xfrm>
            <a:off x="382588" y="152400"/>
            <a:ext cx="9371012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Lexer Generator Specification</a:t>
            </a:r>
          </a:p>
        </p:txBody>
      </p:sp>
      <p:sp>
        <p:nvSpPr>
          <p:cNvPr id="553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2588" y="1219200"/>
            <a:ext cx="9371012" cy="5105400"/>
          </a:xfrm>
        </p:spPr>
        <p:txBody>
          <a:bodyPr/>
          <a:lstStyle/>
          <a:p>
            <a:r>
              <a:rPr lang="zh-CN" altLang="en-US" b="1" smtClean="0">
                <a:ea typeface="宋体" panose="02010600030101010101" pitchFamily="2" charset="-122"/>
              </a:rPr>
              <a:t> </a:t>
            </a:r>
            <a:r>
              <a:rPr lang="en-US" altLang="zh-CN" smtClean="0">
                <a:ea typeface="宋体" panose="02010600030101010101" pitchFamily="2" charset="-122"/>
              </a:rPr>
              <a:t>Input to lexer generator:</a:t>
            </a:r>
          </a:p>
          <a:p>
            <a:pPr lvl="2"/>
            <a:r>
              <a:rPr lang="en-US" altLang="zh-CN" sz="1800" smtClean="0">
                <a:ea typeface="宋体" panose="02010600030101010101" pitchFamily="2" charset="-122"/>
              </a:rPr>
              <a:t>list of regular expressions in priority order</a:t>
            </a:r>
          </a:p>
          <a:p>
            <a:pPr lvl="2"/>
            <a:r>
              <a:rPr lang="en-US" altLang="zh-CN" sz="1800" smtClean="0">
                <a:ea typeface="宋体" panose="02010600030101010101" pitchFamily="2" charset="-122"/>
              </a:rPr>
              <a:t>associated </a:t>
            </a:r>
            <a:r>
              <a:rPr lang="en-US" altLang="zh-CN" sz="1800" i="1" smtClean="0">
                <a:ea typeface="宋体" panose="02010600030101010101" pitchFamily="2" charset="-122"/>
              </a:rPr>
              <a:t>action </a:t>
            </a:r>
            <a:r>
              <a:rPr lang="en-US" altLang="zh-CN" sz="1800" smtClean="0">
                <a:ea typeface="宋体" panose="02010600030101010101" pitchFamily="2" charset="-122"/>
              </a:rPr>
              <a:t>for each RE (generates appropriate kind of token, other bookkeeping)</a:t>
            </a:r>
          </a:p>
          <a:p>
            <a:r>
              <a:rPr lang="en-US" altLang="zh-CN" b="1" smtClean="0">
                <a:ea typeface="宋体" panose="02010600030101010101" pitchFamily="2" charset="-122"/>
              </a:rPr>
              <a:t> </a:t>
            </a:r>
            <a:r>
              <a:rPr lang="en-US" altLang="zh-CN" smtClean="0">
                <a:ea typeface="宋体" panose="02010600030101010101" pitchFamily="2" charset="-122"/>
              </a:rPr>
              <a:t>Output: </a:t>
            </a:r>
          </a:p>
          <a:p>
            <a:pPr lvl="2"/>
            <a:r>
              <a:rPr lang="en-US" altLang="zh-CN" sz="1800" smtClean="0">
                <a:ea typeface="宋体" panose="02010600030101010101" pitchFamily="2" charset="-122"/>
              </a:rPr>
              <a:t>program that reads an input stream and breaks it up into tokens according to the REs. (Or reports lexical error -- </a:t>
            </a:r>
            <a:r>
              <a:rPr lang="en-US" altLang="zh-CN" sz="1800" i="1" smtClean="0">
                <a:latin typeface="Verdana" panose="020B0604030504040204" pitchFamily="34" charset="0"/>
                <a:ea typeface="宋体" panose="02010600030101010101" pitchFamily="2" charset="-122"/>
              </a:rPr>
              <a:t>“</a:t>
            </a:r>
            <a:r>
              <a:rPr lang="en-US" altLang="zh-CN" sz="1800" i="1" smtClean="0">
                <a:ea typeface="宋体" panose="02010600030101010101" pitchFamily="2" charset="-122"/>
              </a:rPr>
              <a:t>Unexpected character</a:t>
            </a:r>
            <a:r>
              <a:rPr lang="en-US" altLang="zh-CN" sz="1800" i="1" smtClean="0">
                <a:latin typeface="Verdana" panose="020B0604030504040204" pitchFamily="34" charset="0"/>
                <a:ea typeface="宋体" panose="02010600030101010101" pitchFamily="2" charset="-122"/>
              </a:rPr>
              <a:t>”</a:t>
            </a:r>
            <a:r>
              <a:rPr lang="en-US" altLang="zh-CN" sz="1800" i="1" smtClean="0">
                <a:ea typeface="宋体" panose="02010600030101010101" pitchFamily="2" charset="-122"/>
              </a:rPr>
              <a:t> </a:t>
            </a:r>
            <a:r>
              <a:rPr lang="en-US" altLang="zh-CN" sz="1800" smtClean="0">
                <a:ea typeface="宋体" panose="02010600030101010101" pitchFamily="2" charset="-122"/>
              </a:rPr>
              <a:t>)</a:t>
            </a:r>
          </a:p>
          <a:p>
            <a:pPr lvl="2"/>
            <a:endParaRPr lang="zh-CN" altLang="en-US" sz="180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◎2005 ECNU SEI</a:t>
            </a:r>
            <a:endParaRPr lang="en-US" altLang="zh-CN" sz="800" b="0" smtClean="0"/>
          </a:p>
        </p:txBody>
      </p:sp>
      <p:sp>
        <p:nvSpPr>
          <p:cNvPr id="5632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Compilers: Principles, Techniques, and Tools</a:t>
            </a:r>
            <a:endParaRPr lang="en-US" altLang="zh-CN" sz="800" b="0" smtClean="0"/>
          </a:p>
        </p:txBody>
      </p:sp>
      <p:sp>
        <p:nvSpPr>
          <p:cNvPr id="5632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81AAC0A-AB47-464E-BED6-558FB9F921D5}" type="slidenum">
              <a:rPr lang="zh-CN" altLang="en-US" sz="800" b="0"/>
              <a:pPr/>
              <a:t>54</a:t>
            </a:fld>
            <a:endParaRPr lang="en-US" altLang="zh-CN" sz="800" b="0"/>
          </a:p>
        </p:txBody>
      </p:sp>
      <p:sp>
        <p:nvSpPr>
          <p:cNvPr id="56325" name="Rectangle 2"/>
          <p:cNvSpPr>
            <a:spLocks noGrp="1" noChangeArrowheads="1"/>
          </p:cNvSpPr>
          <p:nvPr>
            <p:ph type="title"/>
          </p:nvPr>
        </p:nvSpPr>
        <p:spPr>
          <a:xfrm>
            <a:off x="382588" y="152400"/>
            <a:ext cx="9371012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Lex: A Lexical Analyzer Generator</a:t>
            </a:r>
          </a:p>
        </p:txBody>
      </p:sp>
      <p:sp>
        <p:nvSpPr>
          <p:cNvPr id="563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2588" y="1219200"/>
            <a:ext cx="9371012" cy="5105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200" smtClean="0">
                <a:ea typeface="宋体" panose="02010600030101010101" pitchFamily="2" charset="-122"/>
              </a:rPr>
              <a:t> </a:t>
            </a:r>
            <a:r>
              <a:rPr lang="en-US" altLang="zh-CN" sz="2200" smtClean="0">
                <a:ea typeface="宋体" panose="02010600030101010101" pitchFamily="2" charset="-122"/>
              </a:rPr>
              <a:t>Lex produces a C program from a lexical specification </a:t>
            </a:r>
          </a:p>
          <a:p>
            <a:pPr>
              <a:lnSpc>
                <a:spcPct val="90000"/>
              </a:lnSpc>
            </a:pPr>
            <a:r>
              <a:rPr lang="en-US" altLang="zh-CN" sz="2200" smtClean="0">
                <a:ea typeface="宋体" panose="02010600030101010101" pitchFamily="2" charset="-122"/>
              </a:rPr>
              <a:t> http://www.epaperpress.com/lexandyacc/</a:t>
            </a:r>
          </a:p>
          <a:p>
            <a:pPr>
              <a:lnSpc>
                <a:spcPct val="90000"/>
              </a:lnSpc>
            </a:pPr>
            <a:endParaRPr lang="en-US" altLang="zh-CN" sz="1000" smtClean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000" smtClean="0">
                <a:solidFill>
                  <a:srgbClr val="E68900"/>
                </a:solidFill>
                <a:ea typeface="宋体" panose="02010600030101010101" pitchFamily="2" charset="-122"/>
              </a:rPr>
              <a:t>%%</a:t>
            </a:r>
          </a:p>
          <a:p>
            <a:pPr>
              <a:lnSpc>
                <a:spcPct val="90000"/>
              </a:lnSpc>
            </a:pPr>
            <a:r>
              <a:rPr lang="en-US" altLang="zh-CN" sz="2000" smtClean="0">
                <a:ea typeface="宋体" panose="02010600030101010101" pitchFamily="2" charset="-122"/>
              </a:rPr>
              <a:t>DIGITS  [0-9]+</a:t>
            </a:r>
          </a:p>
          <a:p>
            <a:pPr>
              <a:lnSpc>
                <a:spcPct val="90000"/>
              </a:lnSpc>
            </a:pPr>
            <a:r>
              <a:rPr lang="en-US" altLang="zh-CN" sz="2000" smtClean="0">
                <a:ea typeface="宋体" panose="02010600030101010101" pitchFamily="2" charset="-122"/>
              </a:rPr>
              <a:t>ALPHA  [A-Za-z]</a:t>
            </a:r>
          </a:p>
          <a:p>
            <a:pPr>
              <a:lnSpc>
                <a:spcPct val="90000"/>
              </a:lnSpc>
            </a:pPr>
            <a:r>
              <a:rPr lang="en-US" altLang="zh-CN" sz="2000" smtClean="0">
                <a:ea typeface="宋体" panose="02010600030101010101" pitchFamily="2" charset="-122"/>
              </a:rPr>
              <a:t>CHARACTER {ALPHA}|_</a:t>
            </a:r>
          </a:p>
          <a:p>
            <a:pPr>
              <a:lnSpc>
                <a:spcPct val="90000"/>
              </a:lnSpc>
            </a:pPr>
            <a:r>
              <a:rPr lang="en-US" altLang="zh-CN" sz="2000" smtClean="0">
                <a:ea typeface="宋体" panose="02010600030101010101" pitchFamily="2" charset="-122"/>
              </a:rPr>
              <a:t>IDENTIFIER  {ALPHA}({CHARACTER}|{DIGITS})*</a:t>
            </a:r>
          </a:p>
          <a:p>
            <a:pPr>
              <a:lnSpc>
                <a:spcPct val="90000"/>
              </a:lnSpc>
            </a:pPr>
            <a:r>
              <a:rPr lang="en-US" altLang="zh-CN" sz="2000" smtClean="0">
                <a:solidFill>
                  <a:srgbClr val="E68900"/>
                </a:solidFill>
                <a:ea typeface="宋体" panose="02010600030101010101" pitchFamily="2" charset="-122"/>
              </a:rPr>
              <a:t>%%</a:t>
            </a:r>
          </a:p>
          <a:p>
            <a:pPr>
              <a:lnSpc>
                <a:spcPct val="90000"/>
              </a:lnSpc>
            </a:pPr>
            <a:r>
              <a:rPr lang="en-US" altLang="zh-CN" sz="2000" smtClean="0">
                <a:ea typeface="宋体" panose="02010600030101010101" pitchFamily="2" charset="-122"/>
              </a:rPr>
              <a:t>if						{return IF; }</a:t>
            </a:r>
          </a:p>
          <a:p>
            <a:pPr>
              <a:lnSpc>
                <a:spcPct val="90000"/>
              </a:lnSpc>
            </a:pPr>
            <a:r>
              <a:rPr lang="en-US" altLang="zh-CN" sz="2000" smtClean="0">
                <a:ea typeface="宋体" panose="02010600030101010101" pitchFamily="2" charset="-122"/>
              </a:rPr>
              <a:t>{IDENTIFIER}				{return ID; }</a:t>
            </a:r>
          </a:p>
          <a:p>
            <a:pPr>
              <a:lnSpc>
                <a:spcPct val="90000"/>
              </a:lnSpc>
            </a:pPr>
            <a:r>
              <a:rPr lang="en-US" altLang="zh-CN" sz="2000" smtClean="0">
                <a:ea typeface="宋体" panose="02010600030101010101" pitchFamily="2" charset="-122"/>
              </a:rPr>
              <a:t>{DIGITS}					{return NUM; }</a:t>
            </a:r>
          </a:p>
          <a:p>
            <a:pPr>
              <a:lnSpc>
                <a:spcPct val="90000"/>
              </a:lnSpc>
            </a:pPr>
            <a:r>
              <a:rPr lang="en-US" altLang="zh-CN" sz="2000" smtClean="0">
                <a:ea typeface="宋体" panose="02010600030101010101" pitchFamily="2" charset="-122"/>
              </a:rPr>
              <a:t>([0-9]+</a:t>
            </a:r>
            <a:r>
              <a:rPr lang="en-US" altLang="zh-CN" sz="2000" smtClean="0">
                <a:latin typeface="Verdana" panose="020B0604030504040204" pitchFamily="34" charset="0"/>
                <a:ea typeface="宋体" panose="02010600030101010101" pitchFamily="2" charset="-122"/>
              </a:rPr>
              <a:t>”</a:t>
            </a:r>
            <a:r>
              <a:rPr lang="en-US" altLang="zh-CN" sz="2000" smtClean="0">
                <a:ea typeface="宋体" panose="02010600030101010101" pitchFamily="2" charset="-122"/>
              </a:rPr>
              <a:t>.</a:t>
            </a:r>
            <a:r>
              <a:rPr lang="en-US" altLang="zh-CN" sz="2000" smtClean="0">
                <a:latin typeface="Verdana" panose="020B0604030504040204" pitchFamily="34" charset="0"/>
                <a:ea typeface="宋体" panose="02010600030101010101" pitchFamily="2" charset="-122"/>
              </a:rPr>
              <a:t>”</a:t>
            </a:r>
            <a:r>
              <a:rPr lang="en-US" altLang="zh-CN" sz="2000" smtClean="0">
                <a:ea typeface="宋体" panose="02010600030101010101" pitchFamily="2" charset="-122"/>
              </a:rPr>
              <a:t>[0-9]*)|([0-9]*</a:t>
            </a:r>
            <a:r>
              <a:rPr lang="en-US" altLang="zh-CN" sz="2000" smtClean="0">
                <a:latin typeface="Verdana" panose="020B0604030504040204" pitchFamily="34" charset="0"/>
                <a:ea typeface="宋体" panose="02010600030101010101" pitchFamily="2" charset="-122"/>
              </a:rPr>
              <a:t>”</a:t>
            </a:r>
            <a:r>
              <a:rPr lang="en-US" altLang="zh-CN" sz="2000" smtClean="0">
                <a:ea typeface="宋体" panose="02010600030101010101" pitchFamily="2" charset="-122"/>
              </a:rPr>
              <a:t>.</a:t>
            </a:r>
            <a:r>
              <a:rPr lang="en-US" altLang="zh-CN" sz="2000" smtClean="0">
                <a:latin typeface="Verdana" panose="020B0604030504040204" pitchFamily="34" charset="0"/>
                <a:ea typeface="宋体" panose="02010600030101010101" pitchFamily="2" charset="-122"/>
              </a:rPr>
              <a:t>”</a:t>
            </a:r>
            <a:r>
              <a:rPr lang="en-US" altLang="zh-CN" sz="2000" smtClean="0">
                <a:ea typeface="宋体" panose="02010600030101010101" pitchFamily="2" charset="-122"/>
              </a:rPr>
              <a:t>[0-9]+)	{return </a:t>
            </a:r>
            <a:r>
              <a:rPr lang="en-US" altLang="zh-CN" sz="2000" smtClean="0">
                <a:solidFill>
                  <a:schemeClr val="folHlink"/>
                </a:solidFill>
                <a:ea typeface="宋体" panose="02010600030101010101" pitchFamily="2" charset="-122"/>
              </a:rPr>
              <a:t>____</a:t>
            </a:r>
            <a:r>
              <a:rPr lang="en-US" altLang="zh-CN" sz="2000" smtClean="0">
                <a:ea typeface="宋体" panose="02010600030101010101" pitchFamily="2" charset="-122"/>
              </a:rPr>
              <a:t>; }</a:t>
            </a:r>
          </a:p>
          <a:p>
            <a:pPr>
              <a:lnSpc>
                <a:spcPct val="90000"/>
              </a:lnSpc>
            </a:pPr>
            <a:r>
              <a:rPr lang="en-US" altLang="zh-CN" sz="2000" smtClean="0">
                <a:ea typeface="宋体" panose="02010600030101010101" pitchFamily="2" charset="-122"/>
              </a:rPr>
              <a:t>.						{error(); }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◎2005 ECNU SEI</a:t>
            </a:r>
            <a:endParaRPr lang="en-US" altLang="zh-CN" sz="800" b="0" smtClean="0"/>
          </a:p>
        </p:txBody>
      </p:sp>
      <p:sp>
        <p:nvSpPr>
          <p:cNvPr id="5734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Compilers: Principles, Techniques, and Tools</a:t>
            </a:r>
            <a:endParaRPr lang="en-US" altLang="zh-CN" sz="800" b="0" smtClean="0"/>
          </a:p>
        </p:txBody>
      </p:sp>
      <p:sp>
        <p:nvSpPr>
          <p:cNvPr id="5734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1355718-6F79-4758-A9C9-74E7F7B33F43}" type="slidenum">
              <a:rPr lang="zh-CN" altLang="en-US" sz="800" b="0"/>
              <a:pPr/>
              <a:t>55</a:t>
            </a:fld>
            <a:endParaRPr lang="en-US" altLang="zh-CN" sz="800" b="0"/>
          </a:p>
        </p:txBody>
      </p:sp>
      <p:sp>
        <p:nvSpPr>
          <p:cNvPr id="57349" name="Rectangle 2"/>
          <p:cNvSpPr>
            <a:spLocks noGrp="1" noChangeArrowheads="1"/>
          </p:cNvSpPr>
          <p:nvPr>
            <p:ph type="title"/>
          </p:nvPr>
        </p:nvSpPr>
        <p:spPr>
          <a:xfrm>
            <a:off x="382588" y="152400"/>
            <a:ext cx="9371012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Lexer Generator</a:t>
            </a:r>
          </a:p>
        </p:txBody>
      </p:sp>
      <p:sp>
        <p:nvSpPr>
          <p:cNvPr id="573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2588" y="1219200"/>
            <a:ext cx="9371012" cy="5105400"/>
          </a:xfrm>
        </p:spPr>
        <p:txBody>
          <a:bodyPr/>
          <a:lstStyle/>
          <a:p>
            <a:pPr marL="381000" indent="-381000"/>
            <a:r>
              <a:rPr lang="en-US" altLang="zh-CN" sz="2200" b="1" smtClean="0">
                <a:ea typeface="宋体" panose="02010600030101010101" pitchFamily="2" charset="-122"/>
              </a:rPr>
              <a:t>Reads in list of regular expressions </a:t>
            </a:r>
            <a:r>
              <a:rPr lang="en-US" altLang="zh-CN" sz="2200" b="1" i="1" smtClean="0">
                <a:ea typeface="宋体" panose="02010600030101010101" pitchFamily="2" charset="-122"/>
              </a:rPr>
              <a:t>R</a:t>
            </a:r>
            <a:r>
              <a:rPr lang="en-US" altLang="zh-CN" sz="2200" b="1" smtClean="0">
                <a:ea typeface="宋体" panose="02010600030101010101" pitchFamily="2" charset="-122"/>
              </a:rPr>
              <a:t>1,</a:t>
            </a:r>
            <a:r>
              <a:rPr lang="en-US" altLang="zh-CN" sz="2200" b="1" smtClean="0">
                <a:latin typeface="Verdana" panose="020B0604030504040204" pitchFamily="34" charset="0"/>
                <a:ea typeface="宋体" panose="02010600030101010101" pitchFamily="2" charset="-122"/>
              </a:rPr>
              <a:t>…</a:t>
            </a:r>
            <a:r>
              <a:rPr lang="en-US" altLang="zh-CN" sz="2200" b="1" i="1" smtClean="0">
                <a:ea typeface="宋体" panose="02010600030101010101" pitchFamily="2" charset="-122"/>
              </a:rPr>
              <a:t>Rn</a:t>
            </a:r>
            <a:r>
              <a:rPr lang="en-US" altLang="zh-CN" sz="2200" b="1" smtClean="0">
                <a:ea typeface="宋体" panose="02010600030101010101" pitchFamily="2" charset="-122"/>
              </a:rPr>
              <a:t>, one per token, with attached actions</a:t>
            </a:r>
          </a:p>
          <a:p>
            <a:pPr marL="381000" indent="-381000"/>
            <a:r>
              <a:rPr lang="en-US" altLang="zh-CN" sz="2000" b="1" smtClean="0">
                <a:ea typeface="宋体" panose="02010600030101010101" pitchFamily="2" charset="-122"/>
              </a:rPr>
              <a:t>-?[1-9][0-9]* { return new Token(Tokens.IntConst, </a:t>
            </a:r>
          </a:p>
          <a:p>
            <a:pPr marL="381000" indent="-381000"/>
            <a:r>
              <a:rPr lang="en-US" altLang="zh-CN" sz="2000" b="1" smtClean="0">
                <a:ea typeface="宋体" panose="02010600030101010101" pitchFamily="2" charset="-122"/>
              </a:rPr>
              <a:t>				          Integer.parseInt(yytext()) </a:t>
            </a:r>
          </a:p>
          <a:p>
            <a:pPr marL="381000" indent="-381000"/>
            <a:r>
              <a:rPr lang="en-US" altLang="zh-CN" sz="2000" b="1" smtClean="0">
                <a:ea typeface="宋体" panose="02010600030101010101" pitchFamily="2" charset="-122"/>
              </a:rPr>
              <a:t>			 }</a:t>
            </a:r>
          </a:p>
          <a:p>
            <a:pPr marL="381000" indent="-381000"/>
            <a:r>
              <a:rPr lang="en-US" altLang="zh-CN" sz="2200" b="1" smtClean="0">
                <a:ea typeface="宋体" panose="02010600030101010101" pitchFamily="2" charset="-122"/>
              </a:rPr>
              <a:t>Generates scanning code that decides:</a:t>
            </a:r>
          </a:p>
          <a:p>
            <a:pPr marL="628650" lvl="2" indent="-381000">
              <a:buFontTx/>
              <a:buAutoNum type="arabicPeriod"/>
            </a:pPr>
            <a:r>
              <a:rPr lang="en-US" altLang="zh-CN" smtClean="0">
                <a:ea typeface="宋体" panose="02010600030101010101" pitchFamily="2" charset="-122"/>
              </a:rPr>
              <a:t>whether the input is lexically well-formed</a:t>
            </a:r>
          </a:p>
          <a:p>
            <a:pPr marL="628650" lvl="2" indent="-381000">
              <a:buFontTx/>
              <a:buAutoNum type="arabicPeriod"/>
            </a:pPr>
            <a:r>
              <a:rPr lang="en-US" altLang="zh-CN" smtClean="0">
                <a:ea typeface="宋体" panose="02010600030101010101" pitchFamily="2" charset="-122"/>
              </a:rPr>
              <a:t>corresponding token sequence</a:t>
            </a:r>
          </a:p>
          <a:p>
            <a:pPr marL="381000" indent="-381000">
              <a:buFontTx/>
              <a:buAutoNum type="arabicPeriod"/>
            </a:pPr>
            <a:endParaRPr lang="en-US" altLang="zh-CN" sz="1000" b="1" smtClean="0">
              <a:ea typeface="宋体" panose="02010600030101010101" pitchFamily="2" charset="-122"/>
            </a:endParaRPr>
          </a:p>
          <a:p>
            <a:pPr marL="381000" indent="-381000"/>
            <a:r>
              <a:rPr lang="en-US" altLang="zh-CN" sz="2200" b="1" smtClean="0">
                <a:ea typeface="宋体" panose="02010600030101010101" pitchFamily="2" charset="-122"/>
              </a:rPr>
              <a:t>Problem 1 is equivalent to deciding whether the input is in the language of the regular expression </a:t>
            </a:r>
          </a:p>
          <a:p>
            <a:pPr marL="381000" indent="-381000"/>
            <a:r>
              <a:rPr lang="en-US" altLang="zh-CN" sz="2200" b="1" smtClean="0">
                <a:ea typeface="宋体" panose="02010600030101010101" pitchFamily="2" charset="-122"/>
              </a:rPr>
              <a:t>How can we efficiently test membership in L(</a:t>
            </a:r>
            <a:r>
              <a:rPr lang="en-US" altLang="zh-CN" sz="2200" b="1" i="1" smtClean="0">
                <a:ea typeface="宋体" panose="02010600030101010101" pitchFamily="2" charset="-122"/>
              </a:rPr>
              <a:t>R</a:t>
            </a:r>
            <a:r>
              <a:rPr lang="en-US" altLang="zh-CN" sz="2200" b="1" smtClean="0">
                <a:ea typeface="宋体" panose="02010600030101010101" pitchFamily="2" charset="-122"/>
              </a:rPr>
              <a:t>) for arbitrary </a:t>
            </a:r>
            <a:r>
              <a:rPr lang="en-US" altLang="zh-CN" sz="2200" b="1" i="1" smtClean="0">
                <a:ea typeface="宋体" panose="02010600030101010101" pitchFamily="2" charset="-122"/>
              </a:rPr>
              <a:t>R</a:t>
            </a:r>
            <a:r>
              <a:rPr lang="en-US" altLang="zh-CN" sz="2200" b="1" smtClean="0">
                <a:ea typeface="宋体" panose="02010600030101010101" pitchFamily="2" charset="-122"/>
              </a:rPr>
              <a:t>?</a:t>
            </a:r>
            <a:endParaRPr lang="en-US" altLang="zh-CN" sz="220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◎2005 ECNU SEI</a:t>
            </a:r>
            <a:endParaRPr lang="en-US" altLang="zh-CN" sz="800" b="0" smtClean="0"/>
          </a:p>
        </p:txBody>
      </p:sp>
      <p:sp>
        <p:nvSpPr>
          <p:cNvPr id="5837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Compilers: Principles, Techniques, and Tools</a:t>
            </a:r>
            <a:endParaRPr lang="en-US" altLang="zh-CN" sz="800" b="0" smtClean="0"/>
          </a:p>
        </p:txBody>
      </p:sp>
      <p:sp>
        <p:nvSpPr>
          <p:cNvPr id="5837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94C44A7-D932-4A3D-BA89-8D568BEB6D70}" type="slidenum">
              <a:rPr lang="zh-CN" altLang="en-US" sz="800" b="0"/>
              <a:pPr/>
              <a:t>56</a:t>
            </a:fld>
            <a:endParaRPr lang="en-US" altLang="zh-CN" sz="800" b="0"/>
          </a:p>
        </p:txBody>
      </p:sp>
      <p:sp>
        <p:nvSpPr>
          <p:cNvPr id="58373" name="Rectangle 2"/>
          <p:cNvSpPr>
            <a:spLocks noGrp="1" noChangeArrowheads="1"/>
          </p:cNvSpPr>
          <p:nvPr>
            <p:ph type="title"/>
          </p:nvPr>
        </p:nvSpPr>
        <p:spPr>
          <a:xfrm>
            <a:off x="382588" y="152400"/>
            <a:ext cx="9371012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Regular Expression Matching</a:t>
            </a:r>
          </a:p>
        </p:txBody>
      </p:sp>
      <p:sp>
        <p:nvSpPr>
          <p:cNvPr id="583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2588" y="1219200"/>
            <a:ext cx="9371012" cy="5105400"/>
          </a:xfrm>
        </p:spPr>
        <p:txBody>
          <a:bodyPr/>
          <a:lstStyle/>
          <a:p>
            <a:r>
              <a:rPr lang="zh-CN" altLang="en-US" b="1" smtClean="0">
                <a:ea typeface="宋体" panose="02010600030101010101" pitchFamily="2" charset="-122"/>
              </a:rPr>
              <a:t> </a:t>
            </a:r>
            <a:r>
              <a:rPr lang="en-US" altLang="zh-CN" smtClean="0">
                <a:ea typeface="宋体" panose="02010600030101010101" pitchFamily="2" charset="-122"/>
              </a:rPr>
              <a:t>Sketch of an efficient implementation:</a:t>
            </a:r>
          </a:p>
          <a:p>
            <a:pPr lvl="2"/>
            <a:r>
              <a:rPr lang="en-US" altLang="zh-CN" sz="1800" smtClean="0">
                <a:ea typeface="宋体" panose="02010600030101010101" pitchFamily="2" charset="-122"/>
              </a:rPr>
              <a:t>start in some initial state</a:t>
            </a:r>
          </a:p>
          <a:p>
            <a:pPr lvl="2"/>
            <a:r>
              <a:rPr lang="en-US" altLang="zh-CN" sz="1800" smtClean="0">
                <a:ea typeface="宋体" panose="02010600030101010101" pitchFamily="2" charset="-122"/>
              </a:rPr>
              <a:t>look at each input character in sequence, update scanner state accordingly</a:t>
            </a:r>
          </a:p>
          <a:p>
            <a:pPr lvl="2"/>
            <a:r>
              <a:rPr lang="en-US" altLang="zh-CN" sz="1800" smtClean="0">
                <a:ea typeface="宋体" panose="02010600030101010101" pitchFamily="2" charset="-122"/>
              </a:rPr>
              <a:t>if state at end of input is an </a:t>
            </a:r>
            <a:r>
              <a:rPr lang="en-US" altLang="zh-CN" sz="1800" i="1" smtClean="0">
                <a:ea typeface="宋体" panose="02010600030101010101" pitchFamily="2" charset="-122"/>
              </a:rPr>
              <a:t>accepting state</a:t>
            </a:r>
            <a:r>
              <a:rPr lang="en-US" altLang="zh-CN" sz="1800" smtClean="0">
                <a:ea typeface="宋体" panose="02010600030101010101" pitchFamily="2" charset="-122"/>
              </a:rPr>
              <a:t>, the input string matches the RE</a:t>
            </a:r>
          </a:p>
          <a:p>
            <a:r>
              <a:rPr lang="en-US" altLang="zh-CN" b="1" smtClean="0">
                <a:ea typeface="宋体" panose="02010600030101010101" pitchFamily="2" charset="-122"/>
              </a:rPr>
              <a:t> </a:t>
            </a:r>
            <a:r>
              <a:rPr lang="en-US" altLang="zh-CN" smtClean="0">
                <a:ea typeface="宋体" panose="02010600030101010101" pitchFamily="2" charset="-122"/>
              </a:rPr>
              <a:t>For tokenizing</a:t>
            </a:r>
            <a:r>
              <a:rPr lang="en-US" altLang="zh-CN" b="1" smtClean="0">
                <a:ea typeface="宋体" panose="02010600030101010101" pitchFamily="2" charset="-122"/>
              </a:rPr>
              <a:t>, only need a finite amount of state: (</a:t>
            </a:r>
            <a:r>
              <a:rPr lang="en-US" altLang="zh-CN" b="1" i="1" smtClean="0">
                <a:ea typeface="宋体" panose="02010600030101010101" pitchFamily="2" charset="-122"/>
              </a:rPr>
              <a:t>deterministic</a:t>
            </a:r>
            <a:r>
              <a:rPr lang="en-US" altLang="zh-CN" b="1" smtClean="0">
                <a:ea typeface="宋体" panose="02010600030101010101" pitchFamily="2" charset="-122"/>
              </a:rPr>
              <a:t>) </a:t>
            </a:r>
            <a:r>
              <a:rPr lang="en-US" altLang="zh-CN" b="1" i="1" smtClean="0">
                <a:ea typeface="宋体" panose="02010600030101010101" pitchFamily="2" charset="-122"/>
              </a:rPr>
              <a:t>finite automaton </a:t>
            </a:r>
            <a:r>
              <a:rPr lang="en-US" altLang="zh-CN" b="1" smtClean="0">
                <a:ea typeface="宋体" panose="02010600030101010101" pitchFamily="2" charset="-122"/>
              </a:rPr>
              <a:t>(DFA) or </a:t>
            </a:r>
            <a:r>
              <a:rPr lang="en-US" altLang="zh-CN" b="1" i="1" smtClean="0">
                <a:ea typeface="宋体" panose="02010600030101010101" pitchFamily="2" charset="-122"/>
              </a:rPr>
              <a:t>finite state machine</a:t>
            </a:r>
          </a:p>
          <a:p>
            <a:endParaRPr lang="en-US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◎2005 ECNU SEI</a:t>
            </a:r>
            <a:endParaRPr lang="en-US" altLang="zh-CN" sz="800" b="0" smtClean="0"/>
          </a:p>
        </p:txBody>
      </p:sp>
      <p:sp>
        <p:nvSpPr>
          <p:cNvPr id="5939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Compilers: Principles, Techniques, and Tools</a:t>
            </a:r>
            <a:endParaRPr lang="en-US" altLang="zh-CN" sz="800" b="0" smtClean="0"/>
          </a:p>
        </p:txBody>
      </p:sp>
      <p:sp>
        <p:nvSpPr>
          <p:cNvPr id="5939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EC0D7DC-FE9C-49F7-ADA8-1BFC403FAC02}" type="slidenum">
              <a:rPr lang="zh-CN" altLang="en-US" sz="800" b="0"/>
              <a:pPr/>
              <a:t>57</a:t>
            </a:fld>
            <a:endParaRPr lang="en-US" altLang="zh-CN" sz="800" b="0"/>
          </a:p>
        </p:txBody>
      </p:sp>
      <p:sp>
        <p:nvSpPr>
          <p:cNvPr id="59397" name="Rectangle 2"/>
          <p:cNvSpPr>
            <a:spLocks noGrp="1" noChangeArrowheads="1"/>
          </p:cNvSpPr>
          <p:nvPr>
            <p:ph type="title"/>
          </p:nvPr>
        </p:nvSpPr>
        <p:spPr>
          <a:xfrm>
            <a:off x="382588" y="152400"/>
            <a:ext cx="9371012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High Level View</a:t>
            </a:r>
          </a:p>
        </p:txBody>
      </p:sp>
      <p:sp>
        <p:nvSpPr>
          <p:cNvPr id="593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2588" y="1219200"/>
            <a:ext cx="9371012" cy="5105400"/>
          </a:xfrm>
        </p:spPr>
        <p:txBody>
          <a:bodyPr/>
          <a:lstStyle/>
          <a:p>
            <a:endParaRPr lang="zh-CN" altLang="en-US" sz="2800" smtClean="0">
              <a:ea typeface="宋体" panose="02010600030101010101" pitchFamily="2" charset="-122"/>
            </a:endParaRPr>
          </a:p>
          <a:p>
            <a:endParaRPr lang="zh-CN" altLang="en-US" sz="2800" smtClean="0">
              <a:ea typeface="宋体" panose="02010600030101010101" pitchFamily="2" charset="-122"/>
            </a:endParaRPr>
          </a:p>
          <a:p>
            <a:endParaRPr lang="zh-CN" altLang="en-US" sz="2800" smtClean="0">
              <a:ea typeface="宋体" panose="02010600030101010101" pitchFamily="2" charset="-122"/>
            </a:endParaRPr>
          </a:p>
          <a:p>
            <a:endParaRPr lang="zh-CN" altLang="en-US" sz="2800" smtClean="0">
              <a:ea typeface="宋体" panose="02010600030101010101" pitchFamily="2" charset="-122"/>
            </a:endParaRPr>
          </a:p>
          <a:p>
            <a:endParaRPr lang="zh-CN" altLang="en-US" sz="2800" smtClean="0">
              <a:ea typeface="宋体" panose="02010600030101010101" pitchFamily="2" charset="-122"/>
            </a:endParaRPr>
          </a:p>
          <a:p>
            <a:endParaRPr lang="zh-CN" altLang="en-US" sz="2800" smtClean="0">
              <a:ea typeface="宋体" panose="02010600030101010101" pitchFamily="2" charset="-122"/>
            </a:endParaRPr>
          </a:p>
          <a:p>
            <a:r>
              <a:rPr lang="en-US" altLang="zh-CN" smtClean="0">
                <a:ea typeface="宋体" panose="02010600030101010101" pitchFamily="2" charset="-122"/>
              </a:rPr>
              <a:t>Regular expressions = specification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Finite automata = implementation</a:t>
            </a:r>
          </a:p>
          <a:p>
            <a:endParaRPr lang="en-US" altLang="zh-CN" sz="1000" smtClean="0">
              <a:ea typeface="宋体" panose="02010600030101010101" pitchFamily="2" charset="-122"/>
            </a:endParaRPr>
          </a:p>
          <a:p>
            <a:r>
              <a:rPr lang="en-US" altLang="zh-CN" smtClean="0">
                <a:ea typeface="宋体" panose="02010600030101010101" pitchFamily="2" charset="-122"/>
              </a:rPr>
              <a:t>Every regex has a FSA that recognizes its language</a:t>
            </a:r>
          </a:p>
        </p:txBody>
      </p:sp>
      <p:sp>
        <p:nvSpPr>
          <p:cNvPr id="59399" name="Rectangle 4"/>
          <p:cNvSpPr>
            <a:spLocks noChangeArrowheads="1"/>
          </p:cNvSpPr>
          <p:nvPr/>
        </p:nvSpPr>
        <p:spPr bwMode="auto">
          <a:xfrm>
            <a:off x="3632200" y="1447800"/>
            <a:ext cx="1981200" cy="609600"/>
          </a:xfrm>
          <a:prstGeom prst="rect">
            <a:avLst/>
          </a:prstGeom>
          <a:solidFill>
            <a:schemeClr val="accent1"/>
          </a:solidFill>
          <a:ln w="508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 b="0">
                <a:latin typeface="Verdana" panose="020B0604030504040204" pitchFamily="34" charset="0"/>
                <a:ea typeface="宋体" panose="02010600030101010101" pitchFamily="2" charset="-122"/>
              </a:rPr>
              <a:t>Scanner</a:t>
            </a:r>
          </a:p>
        </p:txBody>
      </p:sp>
      <p:sp>
        <p:nvSpPr>
          <p:cNvPr id="59400" name="Rectangle 5"/>
          <p:cNvSpPr>
            <a:spLocks noChangeArrowheads="1"/>
          </p:cNvSpPr>
          <p:nvPr/>
        </p:nvSpPr>
        <p:spPr bwMode="auto">
          <a:xfrm>
            <a:off x="3632200" y="2819400"/>
            <a:ext cx="1981200" cy="914400"/>
          </a:xfrm>
          <a:prstGeom prst="rect">
            <a:avLst/>
          </a:prstGeom>
          <a:solidFill>
            <a:schemeClr val="accent1"/>
          </a:solidFill>
          <a:ln w="508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 b="0">
                <a:latin typeface="Verdana" panose="020B0604030504040204" pitchFamily="34" charset="0"/>
                <a:ea typeface="宋体" panose="02010600030101010101" pitchFamily="2" charset="-122"/>
              </a:rPr>
              <a:t>Scanner</a:t>
            </a:r>
          </a:p>
          <a:p>
            <a:pPr algn="ctr"/>
            <a:r>
              <a:rPr lang="en-US" altLang="zh-CN" b="0">
                <a:latin typeface="Verdana" panose="020B0604030504040204" pitchFamily="34" charset="0"/>
                <a:ea typeface="宋体" panose="02010600030101010101" pitchFamily="2" charset="-122"/>
              </a:rPr>
              <a:t>Generator</a:t>
            </a:r>
          </a:p>
        </p:txBody>
      </p:sp>
      <p:sp>
        <p:nvSpPr>
          <p:cNvPr id="59401" name="Line 6"/>
          <p:cNvSpPr>
            <a:spLocks noChangeShapeType="1"/>
          </p:cNvSpPr>
          <p:nvPr/>
        </p:nvSpPr>
        <p:spPr bwMode="auto">
          <a:xfrm>
            <a:off x="1073150" y="1752600"/>
            <a:ext cx="255905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402" name="Text Box 7"/>
          <p:cNvSpPr txBox="1">
            <a:spLocks noChangeArrowheads="1"/>
          </p:cNvSpPr>
          <p:nvPr/>
        </p:nvSpPr>
        <p:spPr bwMode="auto">
          <a:xfrm>
            <a:off x="1155700" y="1295400"/>
            <a:ext cx="2476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b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source code</a:t>
            </a:r>
          </a:p>
        </p:txBody>
      </p:sp>
      <p:sp>
        <p:nvSpPr>
          <p:cNvPr id="59403" name="Line 8"/>
          <p:cNvSpPr>
            <a:spLocks noChangeShapeType="1"/>
          </p:cNvSpPr>
          <p:nvPr/>
        </p:nvSpPr>
        <p:spPr bwMode="auto">
          <a:xfrm>
            <a:off x="1073150" y="3352800"/>
            <a:ext cx="255905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404" name="Text Box 9"/>
          <p:cNvSpPr txBox="1">
            <a:spLocks noChangeArrowheads="1"/>
          </p:cNvSpPr>
          <p:nvPr/>
        </p:nvSpPr>
        <p:spPr bwMode="auto">
          <a:xfrm>
            <a:off x="1155700" y="2895600"/>
            <a:ext cx="2476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b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specification</a:t>
            </a:r>
          </a:p>
        </p:txBody>
      </p:sp>
      <p:sp>
        <p:nvSpPr>
          <p:cNvPr id="59405" name="Line 10"/>
          <p:cNvSpPr>
            <a:spLocks noChangeShapeType="1"/>
          </p:cNvSpPr>
          <p:nvPr/>
        </p:nvSpPr>
        <p:spPr bwMode="auto">
          <a:xfrm>
            <a:off x="660400" y="2438400"/>
            <a:ext cx="7924800" cy="0"/>
          </a:xfrm>
          <a:prstGeom prst="line">
            <a:avLst/>
          </a:prstGeom>
          <a:noFill/>
          <a:ln w="508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406" name="Line 11"/>
          <p:cNvSpPr>
            <a:spLocks noChangeShapeType="1"/>
          </p:cNvSpPr>
          <p:nvPr/>
        </p:nvSpPr>
        <p:spPr bwMode="auto">
          <a:xfrm>
            <a:off x="5613400" y="1752600"/>
            <a:ext cx="255905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407" name="Text Box 12"/>
          <p:cNvSpPr txBox="1">
            <a:spLocks noChangeArrowheads="1"/>
          </p:cNvSpPr>
          <p:nvPr/>
        </p:nvSpPr>
        <p:spPr bwMode="auto">
          <a:xfrm>
            <a:off x="5613400" y="1295400"/>
            <a:ext cx="2476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b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tokens</a:t>
            </a:r>
          </a:p>
        </p:txBody>
      </p:sp>
      <p:sp>
        <p:nvSpPr>
          <p:cNvPr id="59408" name="Line 13"/>
          <p:cNvSpPr>
            <a:spLocks noChangeShapeType="1"/>
          </p:cNvSpPr>
          <p:nvPr/>
        </p:nvSpPr>
        <p:spPr bwMode="auto">
          <a:xfrm flipV="1">
            <a:off x="4540250" y="2057400"/>
            <a:ext cx="0" cy="7620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409" name="Text Box 14"/>
          <p:cNvSpPr txBox="1">
            <a:spLocks noChangeArrowheads="1"/>
          </p:cNvSpPr>
          <p:nvPr/>
        </p:nvSpPr>
        <p:spPr bwMode="auto">
          <a:xfrm>
            <a:off x="5943600" y="2438400"/>
            <a:ext cx="2806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b="0" i="1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Design time</a:t>
            </a:r>
          </a:p>
        </p:txBody>
      </p:sp>
      <p:sp>
        <p:nvSpPr>
          <p:cNvPr id="59410" name="Text Box 15"/>
          <p:cNvSpPr txBox="1">
            <a:spLocks noChangeArrowheads="1"/>
          </p:cNvSpPr>
          <p:nvPr/>
        </p:nvSpPr>
        <p:spPr bwMode="auto">
          <a:xfrm>
            <a:off x="5943600" y="1981200"/>
            <a:ext cx="2806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b="0" i="1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Compile time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◎2005 ECNU SEI</a:t>
            </a:r>
            <a:endParaRPr lang="en-US" altLang="zh-CN" sz="800" b="0" smtClean="0"/>
          </a:p>
        </p:txBody>
      </p:sp>
      <p:sp>
        <p:nvSpPr>
          <p:cNvPr id="6041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Compilers: Principles, Techniques, and Tools</a:t>
            </a:r>
            <a:endParaRPr lang="en-US" altLang="zh-CN" sz="800" b="0" smtClean="0"/>
          </a:p>
        </p:txBody>
      </p:sp>
      <p:sp>
        <p:nvSpPr>
          <p:cNvPr id="6042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A1A0235-0222-4299-BB8B-994804FEA3C6}" type="slidenum">
              <a:rPr lang="zh-CN" altLang="en-US" sz="800" b="0"/>
              <a:pPr/>
              <a:t>58</a:t>
            </a:fld>
            <a:endParaRPr lang="en-US" altLang="zh-CN" sz="800" b="0"/>
          </a:p>
        </p:txBody>
      </p:sp>
      <p:sp>
        <p:nvSpPr>
          <p:cNvPr id="60421" name="Rectangle 2"/>
          <p:cNvSpPr>
            <a:spLocks noGrp="1" noChangeArrowheads="1"/>
          </p:cNvSpPr>
          <p:nvPr>
            <p:ph type="title"/>
          </p:nvPr>
        </p:nvSpPr>
        <p:spPr>
          <a:xfrm>
            <a:off x="382588" y="152400"/>
            <a:ext cx="9371012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Finite Automata</a:t>
            </a:r>
          </a:p>
        </p:txBody>
      </p:sp>
      <p:sp>
        <p:nvSpPr>
          <p:cNvPr id="604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2588" y="1219200"/>
            <a:ext cx="9371012" cy="2959100"/>
          </a:xfrm>
        </p:spPr>
        <p:txBody>
          <a:bodyPr/>
          <a:lstStyle/>
          <a:p>
            <a:r>
              <a:rPr lang="en-US" altLang="zh-CN" sz="2600" smtClean="0">
                <a:ea typeface="宋体" panose="02010600030101010101" pitchFamily="2" charset="-122"/>
              </a:rPr>
              <a:t>Takes an input string and determines whether it</a:t>
            </a:r>
            <a:r>
              <a:rPr lang="en-US" altLang="zh-CN" sz="2600" smtClean="0">
                <a:latin typeface="Verdana" panose="020B0604030504040204" pitchFamily="34" charset="0"/>
                <a:ea typeface="宋体" panose="02010600030101010101" pitchFamily="2" charset="-122"/>
              </a:rPr>
              <a:t>’</a:t>
            </a:r>
            <a:r>
              <a:rPr lang="en-US" altLang="zh-CN" sz="2600" smtClean="0">
                <a:ea typeface="宋体" panose="02010600030101010101" pitchFamily="2" charset="-122"/>
              </a:rPr>
              <a:t>s a valid sentence of a language</a:t>
            </a:r>
          </a:p>
          <a:p>
            <a:pPr lvl="2"/>
            <a:r>
              <a:rPr lang="en-US" altLang="zh-CN" sz="1800" smtClean="0">
                <a:ea typeface="宋体" panose="02010600030101010101" pitchFamily="2" charset="-122"/>
              </a:rPr>
              <a:t>A finite automaton has a finite set of states</a:t>
            </a:r>
          </a:p>
          <a:p>
            <a:pPr lvl="2"/>
            <a:r>
              <a:rPr lang="en-US" altLang="zh-CN" sz="1800" smtClean="0">
                <a:ea typeface="宋体" panose="02010600030101010101" pitchFamily="2" charset="-122"/>
              </a:rPr>
              <a:t>Edges lead from one state to another</a:t>
            </a:r>
          </a:p>
          <a:p>
            <a:pPr lvl="2"/>
            <a:r>
              <a:rPr lang="en-US" altLang="zh-CN" sz="1800" smtClean="0">
                <a:ea typeface="宋体" panose="02010600030101010101" pitchFamily="2" charset="-122"/>
              </a:rPr>
              <a:t>Edges are labeled with a symbol</a:t>
            </a:r>
          </a:p>
          <a:p>
            <a:pPr lvl="2"/>
            <a:r>
              <a:rPr lang="en-US" altLang="zh-CN" sz="1800" smtClean="0">
                <a:ea typeface="宋体" panose="02010600030101010101" pitchFamily="2" charset="-122"/>
              </a:rPr>
              <a:t>One state is the start state</a:t>
            </a:r>
          </a:p>
          <a:p>
            <a:pPr lvl="2"/>
            <a:r>
              <a:rPr lang="en-US" altLang="zh-CN" sz="1800" smtClean="0">
                <a:ea typeface="宋体" panose="02010600030101010101" pitchFamily="2" charset="-122"/>
              </a:rPr>
              <a:t>One or more states are the final state</a:t>
            </a:r>
          </a:p>
          <a:p>
            <a:pPr lvl="1"/>
            <a:endParaRPr lang="zh-CN" altLang="en-US" sz="2000" b="1" smtClean="0">
              <a:ea typeface="宋体" panose="02010600030101010101" pitchFamily="2" charset="-122"/>
            </a:endParaRPr>
          </a:p>
        </p:txBody>
      </p:sp>
      <p:grpSp>
        <p:nvGrpSpPr>
          <p:cNvPr id="60423" name="Group 4"/>
          <p:cNvGrpSpPr>
            <a:grpSpLocks/>
          </p:cNvGrpSpPr>
          <p:nvPr/>
        </p:nvGrpSpPr>
        <p:grpSpPr bwMode="auto">
          <a:xfrm>
            <a:off x="742950" y="4267200"/>
            <a:ext cx="3302000" cy="1066800"/>
            <a:chOff x="576" y="1872"/>
            <a:chExt cx="1920" cy="672"/>
          </a:xfrm>
        </p:grpSpPr>
        <p:sp>
          <p:nvSpPr>
            <p:cNvPr id="60438" name="Oval 5"/>
            <p:cNvSpPr>
              <a:spLocks noChangeArrowheads="1"/>
            </p:cNvSpPr>
            <p:nvPr/>
          </p:nvSpPr>
          <p:spPr bwMode="auto">
            <a:xfrm>
              <a:off x="576" y="2256"/>
              <a:ext cx="288" cy="288"/>
            </a:xfrm>
            <a:prstGeom prst="ellipse">
              <a:avLst/>
            </a:prstGeom>
            <a:solidFill>
              <a:schemeClr val="accent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 b="0">
                  <a:latin typeface="Verdana" panose="020B0604030504040204" pitchFamily="34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60439" name="Oval 6"/>
            <p:cNvSpPr>
              <a:spLocks noChangeArrowheads="1"/>
            </p:cNvSpPr>
            <p:nvPr/>
          </p:nvSpPr>
          <p:spPr bwMode="auto">
            <a:xfrm>
              <a:off x="1392" y="2256"/>
              <a:ext cx="288" cy="288"/>
            </a:xfrm>
            <a:prstGeom prst="ellipse">
              <a:avLst/>
            </a:prstGeom>
            <a:solidFill>
              <a:schemeClr val="accent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 b="0">
                  <a:latin typeface="Verdana" panose="020B060403050404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60440" name="Oval 7"/>
            <p:cNvSpPr>
              <a:spLocks noChangeArrowheads="1"/>
            </p:cNvSpPr>
            <p:nvPr/>
          </p:nvSpPr>
          <p:spPr bwMode="auto">
            <a:xfrm>
              <a:off x="2208" y="2256"/>
              <a:ext cx="288" cy="288"/>
            </a:xfrm>
            <a:prstGeom prst="ellipse">
              <a:avLst/>
            </a:prstGeom>
            <a:solidFill>
              <a:schemeClr val="accent1"/>
            </a:solidFill>
            <a:ln w="76200" cmpd="tri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 b="0">
                  <a:latin typeface="Verdana" panose="020B0604030504040204" pitchFamily="34" charset="0"/>
                  <a:ea typeface="宋体" panose="02010600030101010101" pitchFamily="2" charset="-122"/>
                </a:rPr>
                <a:t>2</a:t>
              </a:r>
            </a:p>
          </p:txBody>
        </p:sp>
        <p:cxnSp>
          <p:nvCxnSpPr>
            <p:cNvPr id="60441" name="AutoShape 8"/>
            <p:cNvCxnSpPr>
              <a:cxnSpLocks noChangeShapeType="1"/>
              <a:stCxn id="60438" idx="7"/>
              <a:endCxn id="60439" idx="1"/>
            </p:cNvCxnSpPr>
            <p:nvPr/>
          </p:nvCxnSpPr>
          <p:spPr bwMode="auto">
            <a:xfrm rot="5400000" flipV="1">
              <a:off x="1127" y="1981"/>
              <a:ext cx="1" cy="612"/>
            </a:xfrm>
            <a:prstGeom prst="curvedConnector3">
              <a:avLst>
                <a:gd name="adj1" fmla="val -17400000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0442" name="AutoShape 9"/>
            <p:cNvCxnSpPr>
              <a:cxnSpLocks noChangeShapeType="1"/>
              <a:stCxn id="60439" idx="7"/>
              <a:endCxn id="60440" idx="1"/>
            </p:cNvCxnSpPr>
            <p:nvPr/>
          </p:nvCxnSpPr>
          <p:spPr bwMode="auto">
            <a:xfrm rot="-5400000">
              <a:off x="1938" y="1974"/>
              <a:ext cx="12" cy="612"/>
            </a:xfrm>
            <a:prstGeom prst="curvedConnector3">
              <a:avLst>
                <a:gd name="adj1" fmla="val 1450000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0443" name="Text Box 10"/>
            <p:cNvSpPr txBox="1">
              <a:spLocks noChangeArrowheads="1"/>
            </p:cNvSpPr>
            <p:nvPr/>
          </p:nvSpPr>
          <p:spPr bwMode="auto">
            <a:xfrm>
              <a:off x="1008" y="1872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>
                  <a:latin typeface="Courier New" panose="02070309020205020404" pitchFamily="49" charset="0"/>
                  <a:ea typeface="宋体" panose="02010600030101010101" pitchFamily="2" charset="-122"/>
                </a:rPr>
                <a:t>i</a:t>
              </a:r>
            </a:p>
          </p:txBody>
        </p:sp>
        <p:sp>
          <p:nvSpPr>
            <p:cNvPr id="60444" name="Text Box 11"/>
            <p:cNvSpPr txBox="1">
              <a:spLocks noChangeArrowheads="1"/>
            </p:cNvSpPr>
            <p:nvPr/>
          </p:nvSpPr>
          <p:spPr bwMode="auto">
            <a:xfrm>
              <a:off x="1824" y="1872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>
                  <a:latin typeface="Courier New" panose="02070309020205020404" pitchFamily="49" charset="0"/>
                  <a:ea typeface="宋体" panose="02010600030101010101" pitchFamily="2" charset="-122"/>
                </a:rPr>
                <a:t>f</a:t>
              </a:r>
            </a:p>
          </p:txBody>
        </p:sp>
      </p:grpSp>
      <p:sp>
        <p:nvSpPr>
          <p:cNvPr id="60424" name="Text Box 12"/>
          <p:cNvSpPr txBox="1">
            <a:spLocks noChangeArrowheads="1"/>
          </p:cNvSpPr>
          <p:nvPr/>
        </p:nvSpPr>
        <p:spPr bwMode="auto">
          <a:xfrm>
            <a:off x="1816100" y="5486400"/>
            <a:ext cx="1155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IF</a:t>
            </a:r>
          </a:p>
        </p:txBody>
      </p:sp>
      <p:grpSp>
        <p:nvGrpSpPr>
          <p:cNvPr id="60425" name="Group 13"/>
          <p:cNvGrpSpPr>
            <a:grpSpLocks/>
          </p:cNvGrpSpPr>
          <p:nvPr/>
        </p:nvGrpSpPr>
        <p:grpSpPr bwMode="auto">
          <a:xfrm>
            <a:off x="5778500" y="4267200"/>
            <a:ext cx="3054350" cy="1676400"/>
            <a:chOff x="3648" y="1872"/>
            <a:chExt cx="1776" cy="1056"/>
          </a:xfrm>
        </p:grpSpPr>
        <p:sp>
          <p:nvSpPr>
            <p:cNvPr id="60429" name="Oval 14"/>
            <p:cNvSpPr>
              <a:spLocks noChangeArrowheads="1"/>
            </p:cNvSpPr>
            <p:nvPr/>
          </p:nvSpPr>
          <p:spPr bwMode="auto">
            <a:xfrm>
              <a:off x="3648" y="2256"/>
              <a:ext cx="288" cy="288"/>
            </a:xfrm>
            <a:prstGeom prst="ellipse">
              <a:avLst/>
            </a:prstGeom>
            <a:solidFill>
              <a:schemeClr val="accent1"/>
            </a:soli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 b="0">
                  <a:latin typeface="Verdana" panose="020B0604030504040204" pitchFamily="34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60430" name="Oval 15"/>
            <p:cNvSpPr>
              <a:spLocks noChangeArrowheads="1"/>
            </p:cNvSpPr>
            <p:nvPr/>
          </p:nvSpPr>
          <p:spPr bwMode="auto">
            <a:xfrm>
              <a:off x="4464" y="2256"/>
              <a:ext cx="288" cy="288"/>
            </a:xfrm>
            <a:prstGeom prst="ellipse">
              <a:avLst/>
            </a:prstGeom>
            <a:solidFill>
              <a:schemeClr val="accent1"/>
            </a:solidFill>
            <a:ln w="76200" cmpd="tri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 b="0">
                  <a:latin typeface="Verdana" panose="020B060403050404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  <p:cxnSp>
          <p:nvCxnSpPr>
            <p:cNvPr id="60431" name="AutoShape 16"/>
            <p:cNvCxnSpPr>
              <a:cxnSpLocks noChangeShapeType="1"/>
              <a:stCxn id="60429" idx="7"/>
              <a:endCxn id="60430" idx="1"/>
            </p:cNvCxnSpPr>
            <p:nvPr/>
          </p:nvCxnSpPr>
          <p:spPr bwMode="auto">
            <a:xfrm rot="-5400000">
              <a:off x="4194" y="1974"/>
              <a:ext cx="12" cy="612"/>
            </a:xfrm>
            <a:prstGeom prst="curvedConnector3">
              <a:avLst>
                <a:gd name="adj1" fmla="val 1450000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0432" name="Text Box 17"/>
            <p:cNvSpPr txBox="1">
              <a:spLocks noChangeArrowheads="1"/>
            </p:cNvSpPr>
            <p:nvPr/>
          </p:nvSpPr>
          <p:spPr bwMode="auto">
            <a:xfrm>
              <a:off x="3888" y="1872"/>
              <a:ext cx="6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>
                  <a:latin typeface="Courier New" panose="02070309020205020404" pitchFamily="49" charset="0"/>
                  <a:ea typeface="宋体" panose="02010600030101010101" pitchFamily="2" charset="-122"/>
                </a:rPr>
                <a:t>a-z</a:t>
              </a:r>
            </a:p>
          </p:txBody>
        </p:sp>
        <p:cxnSp>
          <p:nvCxnSpPr>
            <p:cNvPr id="60433" name="AutoShape 18"/>
            <p:cNvCxnSpPr>
              <a:cxnSpLocks noChangeShapeType="1"/>
              <a:stCxn id="60430" idx="0"/>
              <a:endCxn id="60430" idx="6"/>
            </p:cNvCxnSpPr>
            <p:nvPr/>
          </p:nvCxnSpPr>
          <p:spPr bwMode="auto">
            <a:xfrm rot="5400000" flipV="1">
              <a:off x="4608" y="2232"/>
              <a:ext cx="168" cy="168"/>
            </a:xfrm>
            <a:prstGeom prst="curvedConnector4">
              <a:avLst>
                <a:gd name="adj1" fmla="val -71431"/>
                <a:gd name="adj2" fmla="val 171431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0434" name="AutoShape 19"/>
            <p:cNvCxnSpPr>
              <a:cxnSpLocks noChangeShapeType="1"/>
              <a:stCxn id="60430" idx="4"/>
              <a:endCxn id="60430" idx="2"/>
            </p:cNvCxnSpPr>
            <p:nvPr/>
          </p:nvCxnSpPr>
          <p:spPr bwMode="auto">
            <a:xfrm rot="16200000" flipV="1">
              <a:off x="4440" y="2400"/>
              <a:ext cx="168" cy="168"/>
            </a:xfrm>
            <a:prstGeom prst="curvedConnector4">
              <a:avLst>
                <a:gd name="adj1" fmla="val -71431"/>
                <a:gd name="adj2" fmla="val 171431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0435" name="Text Box 20"/>
            <p:cNvSpPr txBox="1">
              <a:spLocks noChangeArrowheads="1"/>
            </p:cNvSpPr>
            <p:nvPr/>
          </p:nvSpPr>
          <p:spPr bwMode="auto">
            <a:xfrm>
              <a:off x="4752" y="2016"/>
              <a:ext cx="6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>
                  <a:latin typeface="Courier New" panose="02070309020205020404" pitchFamily="49" charset="0"/>
                  <a:ea typeface="宋体" panose="02010600030101010101" pitchFamily="2" charset="-122"/>
                </a:rPr>
                <a:t>a-z</a:t>
              </a:r>
            </a:p>
          </p:txBody>
        </p:sp>
        <p:sp>
          <p:nvSpPr>
            <p:cNvPr id="60436" name="Text Box 21"/>
            <p:cNvSpPr txBox="1">
              <a:spLocks noChangeArrowheads="1"/>
            </p:cNvSpPr>
            <p:nvPr/>
          </p:nvSpPr>
          <p:spPr bwMode="auto">
            <a:xfrm>
              <a:off x="4464" y="2496"/>
              <a:ext cx="6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>
                  <a:latin typeface="Courier New" panose="02070309020205020404" pitchFamily="49" charset="0"/>
                  <a:ea typeface="宋体" panose="02010600030101010101" pitchFamily="2" charset="-122"/>
                </a:rPr>
                <a:t>0-9</a:t>
              </a:r>
            </a:p>
          </p:txBody>
        </p:sp>
        <p:sp>
          <p:nvSpPr>
            <p:cNvPr id="60437" name="Text Box 22"/>
            <p:cNvSpPr txBox="1">
              <a:spLocks noChangeArrowheads="1"/>
            </p:cNvSpPr>
            <p:nvPr/>
          </p:nvSpPr>
          <p:spPr bwMode="auto">
            <a:xfrm>
              <a:off x="3744" y="2640"/>
              <a:ext cx="6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>
                  <a:solidFill>
                    <a:schemeClr val="bg1"/>
                  </a:solidFill>
                  <a:latin typeface="Courier New" panose="02070309020205020404" pitchFamily="49" charset="0"/>
                  <a:ea typeface="宋体" panose="02010600030101010101" pitchFamily="2" charset="-122"/>
                </a:rPr>
                <a:t>ID</a:t>
              </a:r>
            </a:p>
          </p:txBody>
        </p:sp>
      </p:grpSp>
      <p:sp>
        <p:nvSpPr>
          <p:cNvPr id="60426" name="AutoShape 23"/>
          <p:cNvSpPr>
            <a:spLocks/>
          </p:cNvSpPr>
          <p:nvPr/>
        </p:nvSpPr>
        <p:spPr bwMode="auto">
          <a:xfrm>
            <a:off x="7759700" y="3581400"/>
            <a:ext cx="1816100" cy="457200"/>
          </a:xfrm>
          <a:prstGeom prst="borderCallout1">
            <a:avLst>
              <a:gd name="adj1" fmla="val 25000"/>
              <a:gd name="adj2" fmla="val -4546"/>
              <a:gd name="adj3" fmla="val 158333"/>
              <a:gd name="adj4" fmla="val -50000"/>
            </a:avLst>
          </a:prstGeom>
          <a:solidFill>
            <a:srgbClr val="FFFF99"/>
          </a:solidFill>
          <a:ln w="50800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 b="0">
                <a:latin typeface="Verdana" panose="020B0604030504040204" pitchFamily="34" charset="0"/>
                <a:ea typeface="宋体" panose="02010600030101010101" pitchFamily="2" charset="-122"/>
              </a:rPr>
              <a:t>26 edges</a:t>
            </a:r>
          </a:p>
        </p:txBody>
      </p:sp>
      <p:sp>
        <p:nvSpPr>
          <p:cNvPr id="60427" name="Line 24"/>
          <p:cNvSpPr>
            <a:spLocks noChangeShapeType="1"/>
          </p:cNvSpPr>
          <p:nvPr/>
        </p:nvSpPr>
        <p:spPr bwMode="auto">
          <a:xfrm>
            <a:off x="330200" y="5105400"/>
            <a:ext cx="4127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28" name="Line 25"/>
          <p:cNvSpPr>
            <a:spLocks noChangeShapeType="1"/>
          </p:cNvSpPr>
          <p:nvPr/>
        </p:nvSpPr>
        <p:spPr bwMode="auto">
          <a:xfrm>
            <a:off x="5365750" y="5105400"/>
            <a:ext cx="4127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◎2005 ECNU SEI</a:t>
            </a:r>
            <a:endParaRPr lang="en-US" altLang="zh-CN" sz="800" b="0" smtClean="0"/>
          </a:p>
        </p:txBody>
      </p:sp>
      <p:sp>
        <p:nvSpPr>
          <p:cNvPr id="6144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 b="0" smtClean="0"/>
              <a:t>Compilers: Principles, Techniques, and Tools</a:t>
            </a:r>
            <a:endParaRPr lang="en-US" altLang="zh-CN" sz="800" b="0" smtClean="0"/>
          </a:p>
        </p:txBody>
      </p:sp>
      <p:sp>
        <p:nvSpPr>
          <p:cNvPr id="6144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75CF9FB-1526-4D81-B1C7-C2C91B8116B7}" type="slidenum">
              <a:rPr lang="zh-CN" altLang="en-US" sz="800" b="0"/>
              <a:pPr/>
              <a:t>59</a:t>
            </a:fld>
            <a:endParaRPr lang="en-US" altLang="zh-CN" sz="800" b="0"/>
          </a:p>
        </p:txBody>
      </p:sp>
      <p:sp>
        <p:nvSpPr>
          <p:cNvPr id="61445" name="Rectangle 2"/>
          <p:cNvSpPr>
            <a:spLocks noGrp="1" noChangeArrowheads="1"/>
          </p:cNvSpPr>
          <p:nvPr>
            <p:ph type="title"/>
          </p:nvPr>
        </p:nvSpPr>
        <p:spPr>
          <a:xfrm>
            <a:off x="382588" y="152400"/>
            <a:ext cx="9371012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Language</a:t>
            </a:r>
          </a:p>
        </p:txBody>
      </p:sp>
      <p:sp>
        <p:nvSpPr>
          <p:cNvPr id="614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2588" y="1219200"/>
            <a:ext cx="9371012" cy="3478213"/>
          </a:xfrm>
        </p:spPr>
        <p:txBody>
          <a:bodyPr/>
          <a:lstStyle/>
          <a:p>
            <a:pPr marL="381000" indent="-381000">
              <a:spcAft>
                <a:spcPct val="50000"/>
              </a:spcAft>
            </a:pPr>
            <a:r>
              <a:rPr lang="en-US" altLang="zh-CN" smtClean="0">
                <a:ea typeface="宋体" panose="02010600030101010101" pitchFamily="2" charset="-122"/>
              </a:rPr>
              <a:t>Each string is accepted or rejected</a:t>
            </a:r>
          </a:p>
          <a:p>
            <a:pPr marL="381000" indent="-381000">
              <a:buFontTx/>
              <a:buAutoNum type="arabicPeriod"/>
            </a:pPr>
            <a:r>
              <a:rPr lang="en-US" altLang="zh-CN" b="1" smtClean="0">
                <a:ea typeface="宋体" panose="02010600030101010101" pitchFamily="2" charset="-122"/>
              </a:rPr>
              <a:t>Starting in the start state</a:t>
            </a:r>
          </a:p>
          <a:p>
            <a:pPr marL="381000" indent="-381000">
              <a:buFontTx/>
              <a:buAutoNum type="arabicPeriod"/>
            </a:pPr>
            <a:r>
              <a:rPr lang="en-US" altLang="zh-CN" b="1" smtClean="0">
                <a:ea typeface="宋体" panose="02010600030101010101" pitchFamily="2" charset="-122"/>
              </a:rPr>
              <a:t>Automaton follows one edge for every character (edge must match character)</a:t>
            </a:r>
          </a:p>
          <a:p>
            <a:pPr marL="381000" indent="-381000">
              <a:buFontTx/>
              <a:buAutoNum type="arabicPeriod"/>
            </a:pPr>
            <a:r>
              <a:rPr lang="en-US" altLang="zh-CN" b="1" smtClean="0">
                <a:ea typeface="宋体" panose="02010600030101010101" pitchFamily="2" charset="-122"/>
              </a:rPr>
              <a:t>After n-transitions for an n-character string, if final state then accept</a:t>
            </a:r>
          </a:p>
          <a:p>
            <a:pPr marL="381000" indent="-381000">
              <a:spcBef>
                <a:spcPct val="70000"/>
              </a:spcBef>
            </a:pPr>
            <a:r>
              <a:rPr lang="en-US" altLang="zh-CN" smtClean="0">
                <a:solidFill>
                  <a:srgbClr val="E68900"/>
                </a:solidFill>
                <a:ea typeface="宋体" panose="02010600030101010101" pitchFamily="2" charset="-122"/>
              </a:rPr>
              <a:t>Language:</a:t>
            </a:r>
            <a:r>
              <a:rPr lang="en-US" altLang="zh-CN" smtClean="0">
                <a:ea typeface="宋体" panose="02010600030101010101" pitchFamily="2" charset="-122"/>
              </a:rPr>
              <a:t> set of strings that the FSA accepts</a:t>
            </a:r>
          </a:p>
        </p:txBody>
      </p:sp>
      <p:sp>
        <p:nvSpPr>
          <p:cNvPr id="61447" name="Oval 4"/>
          <p:cNvSpPr>
            <a:spLocks noChangeArrowheads="1"/>
          </p:cNvSpPr>
          <p:nvPr/>
        </p:nvSpPr>
        <p:spPr bwMode="auto">
          <a:xfrm>
            <a:off x="1898650" y="5105400"/>
            <a:ext cx="495300" cy="457200"/>
          </a:xfrm>
          <a:prstGeom prst="ellipse">
            <a:avLst/>
          </a:prstGeom>
          <a:solidFill>
            <a:schemeClr val="accent1"/>
          </a:solidFill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 b="0">
                <a:latin typeface="Verdana" panose="020B060403050404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61448" name="Oval 5"/>
          <p:cNvSpPr>
            <a:spLocks noChangeArrowheads="1"/>
          </p:cNvSpPr>
          <p:nvPr/>
        </p:nvSpPr>
        <p:spPr bwMode="auto">
          <a:xfrm>
            <a:off x="3302000" y="5105400"/>
            <a:ext cx="495300" cy="457200"/>
          </a:xfrm>
          <a:prstGeom prst="ellipse">
            <a:avLst/>
          </a:prstGeom>
          <a:solidFill>
            <a:schemeClr val="accent1"/>
          </a:solidFill>
          <a:ln w="76200" cmpd="tri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 b="0">
                <a:latin typeface="Verdan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61449" name="Oval 6"/>
          <p:cNvSpPr>
            <a:spLocks noChangeArrowheads="1"/>
          </p:cNvSpPr>
          <p:nvPr/>
        </p:nvSpPr>
        <p:spPr bwMode="auto">
          <a:xfrm>
            <a:off x="4705350" y="5105400"/>
            <a:ext cx="495300" cy="457200"/>
          </a:xfrm>
          <a:prstGeom prst="ellipse">
            <a:avLst/>
          </a:prstGeom>
          <a:solidFill>
            <a:schemeClr val="accent1"/>
          </a:solidFill>
          <a:ln w="76200" cmpd="tri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 b="0">
                <a:latin typeface="Verdana" panose="020B0604030504040204" pitchFamily="34" charset="0"/>
                <a:ea typeface="宋体" panose="02010600030101010101" pitchFamily="2" charset="-122"/>
              </a:rPr>
              <a:t>2</a:t>
            </a:r>
          </a:p>
        </p:txBody>
      </p:sp>
      <p:cxnSp>
        <p:nvCxnSpPr>
          <p:cNvPr id="61450" name="AutoShape 7"/>
          <p:cNvCxnSpPr>
            <a:cxnSpLocks noChangeShapeType="1"/>
            <a:stCxn id="61447" idx="7"/>
            <a:endCxn id="61448" idx="1"/>
          </p:cNvCxnSpPr>
          <p:nvPr/>
        </p:nvCxnSpPr>
        <p:spPr bwMode="auto">
          <a:xfrm rot="-5400000">
            <a:off x="2619375" y="4657725"/>
            <a:ext cx="19050" cy="971550"/>
          </a:xfrm>
          <a:prstGeom prst="curvedConnector3">
            <a:avLst>
              <a:gd name="adj1" fmla="val 1450000"/>
            </a:avLst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1451" name="AutoShape 8"/>
          <p:cNvCxnSpPr>
            <a:cxnSpLocks noChangeShapeType="1"/>
            <a:stCxn id="61448" idx="7"/>
            <a:endCxn id="61449" idx="1"/>
          </p:cNvCxnSpPr>
          <p:nvPr/>
        </p:nvCxnSpPr>
        <p:spPr bwMode="auto">
          <a:xfrm rot="5400000" flipV="1">
            <a:off x="3923506" y="4648994"/>
            <a:ext cx="1588" cy="971550"/>
          </a:xfrm>
          <a:prstGeom prst="curvedConnector3">
            <a:avLst>
              <a:gd name="adj1" fmla="val -16200000"/>
            </a:avLst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1452" name="Text Box 9"/>
          <p:cNvSpPr txBox="1">
            <a:spLocks noChangeArrowheads="1"/>
          </p:cNvSpPr>
          <p:nvPr/>
        </p:nvSpPr>
        <p:spPr bwMode="auto">
          <a:xfrm>
            <a:off x="2641600" y="4495800"/>
            <a:ext cx="412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i</a:t>
            </a:r>
          </a:p>
        </p:txBody>
      </p:sp>
      <p:sp>
        <p:nvSpPr>
          <p:cNvPr id="61453" name="Text Box 10"/>
          <p:cNvSpPr txBox="1">
            <a:spLocks noChangeArrowheads="1"/>
          </p:cNvSpPr>
          <p:nvPr/>
        </p:nvSpPr>
        <p:spPr bwMode="auto">
          <a:xfrm>
            <a:off x="4044950" y="4495800"/>
            <a:ext cx="412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f</a:t>
            </a:r>
          </a:p>
        </p:txBody>
      </p:sp>
      <p:sp>
        <p:nvSpPr>
          <p:cNvPr id="61454" name="Text Box 11"/>
          <p:cNvSpPr txBox="1">
            <a:spLocks noChangeArrowheads="1"/>
          </p:cNvSpPr>
          <p:nvPr/>
        </p:nvSpPr>
        <p:spPr bwMode="auto">
          <a:xfrm>
            <a:off x="4457700" y="5486400"/>
            <a:ext cx="1155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IF</a:t>
            </a:r>
          </a:p>
        </p:txBody>
      </p:sp>
      <p:sp>
        <p:nvSpPr>
          <p:cNvPr id="61455" name="Text Box 12"/>
          <p:cNvSpPr txBox="1">
            <a:spLocks noChangeArrowheads="1"/>
          </p:cNvSpPr>
          <p:nvPr/>
        </p:nvSpPr>
        <p:spPr bwMode="auto">
          <a:xfrm>
            <a:off x="2971800" y="5486400"/>
            <a:ext cx="1155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ID</a:t>
            </a:r>
          </a:p>
        </p:txBody>
      </p:sp>
      <p:sp>
        <p:nvSpPr>
          <p:cNvPr id="61456" name="Oval 13"/>
          <p:cNvSpPr>
            <a:spLocks noChangeArrowheads="1"/>
          </p:cNvSpPr>
          <p:nvPr/>
        </p:nvSpPr>
        <p:spPr bwMode="auto">
          <a:xfrm>
            <a:off x="6108700" y="5105400"/>
            <a:ext cx="495300" cy="457200"/>
          </a:xfrm>
          <a:prstGeom prst="ellipse">
            <a:avLst/>
          </a:prstGeom>
          <a:solidFill>
            <a:schemeClr val="accent1"/>
          </a:solidFill>
          <a:ln w="76200" cmpd="tri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 b="0">
                <a:latin typeface="Verdana" panose="020B0604030504040204" pitchFamily="34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61457" name="Text Box 14"/>
          <p:cNvSpPr txBox="1">
            <a:spLocks noChangeArrowheads="1"/>
          </p:cNvSpPr>
          <p:nvPr/>
        </p:nvSpPr>
        <p:spPr bwMode="auto">
          <a:xfrm>
            <a:off x="5861050" y="5562600"/>
            <a:ext cx="1155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ID</a:t>
            </a:r>
          </a:p>
        </p:txBody>
      </p:sp>
      <p:cxnSp>
        <p:nvCxnSpPr>
          <p:cNvPr id="61458" name="AutoShape 15"/>
          <p:cNvCxnSpPr>
            <a:cxnSpLocks noChangeShapeType="1"/>
            <a:stCxn id="61449" idx="7"/>
            <a:endCxn id="61456" idx="1"/>
          </p:cNvCxnSpPr>
          <p:nvPr/>
        </p:nvCxnSpPr>
        <p:spPr bwMode="auto">
          <a:xfrm rot="5400000" flipV="1">
            <a:off x="5218906" y="4648994"/>
            <a:ext cx="1588" cy="971550"/>
          </a:xfrm>
          <a:prstGeom prst="curvedConnector3">
            <a:avLst>
              <a:gd name="adj1" fmla="val -16200000"/>
            </a:avLst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1459" name="Text Box 16"/>
          <p:cNvSpPr txBox="1">
            <a:spLocks noChangeArrowheads="1"/>
          </p:cNvSpPr>
          <p:nvPr/>
        </p:nvSpPr>
        <p:spPr bwMode="auto">
          <a:xfrm>
            <a:off x="4705350" y="4495800"/>
            <a:ext cx="1898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[a-z0-9]</a:t>
            </a:r>
          </a:p>
        </p:txBody>
      </p:sp>
      <p:cxnSp>
        <p:nvCxnSpPr>
          <p:cNvPr id="61460" name="AutoShape 17"/>
          <p:cNvCxnSpPr>
            <a:cxnSpLocks noChangeShapeType="1"/>
            <a:stCxn id="61447" idx="5"/>
            <a:endCxn id="61456" idx="3"/>
          </p:cNvCxnSpPr>
          <p:nvPr/>
        </p:nvCxnSpPr>
        <p:spPr bwMode="auto">
          <a:xfrm rot="16200000" flipH="1">
            <a:off x="3914775" y="3743325"/>
            <a:ext cx="19050" cy="3562350"/>
          </a:xfrm>
          <a:prstGeom prst="curvedConnector3">
            <a:avLst>
              <a:gd name="adj1" fmla="val 2666667"/>
            </a:avLst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1461" name="AutoShape 18"/>
          <p:cNvCxnSpPr>
            <a:cxnSpLocks noChangeShapeType="1"/>
            <a:stCxn id="61456" idx="7"/>
            <a:endCxn id="61456" idx="5"/>
          </p:cNvCxnSpPr>
          <p:nvPr/>
        </p:nvCxnSpPr>
        <p:spPr bwMode="auto">
          <a:xfrm rot="5400000" flipV="1">
            <a:off x="5830094" y="5333206"/>
            <a:ext cx="400050" cy="1588"/>
          </a:xfrm>
          <a:prstGeom prst="curvedConnector5">
            <a:avLst>
              <a:gd name="adj1" fmla="val -64287"/>
              <a:gd name="adj2" fmla="val 39000000"/>
              <a:gd name="adj3" fmla="val 164287"/>
            </a:avLst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1462" name="Text Box 19"/>
          <p:cNvSpPr txBox="1">
            <a:spLocks noChangeArrowheads="1"/>
          </p:cNvSpPr>
          <p:nvPr/>
        </p:nvSpPr>
        <p:spPr bwMode="auto">
          <a:xfrm>
            <a:off x="7016750" y="5029200"/>
            <a:ext cx="1898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[a-z0-9]</a:t>
            </a:r>
          </a:p>
        </p:txBody>
      </p:sp>
      <p:sp>
        <p:nvSpPr>
          <p:cNvPr id="61463" name="Text Box 20"/>
          <p:cNvSpPr txBox="1">
            <a:spLocks noChangeArrowheads="1"/>
          </p:cNvSpPr>
          <p:nvPr/>
        </p:nvSpPr>
        <p:spPr bwMode="auto">
          <a:xfrm>
            <a:off x="3714750" y="5943600"/>
            <a:ext cx="1898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[a-hj-z]</a:t>
            </a:r>
          </a:p>
        </p:txBody>
      </p:sp>
      <p:sp>
        <p:nvSpPr>
          <p:cNvPr id="61464" name="Line 21"/>
          <p:cNvSpPr>
            <a:spLocks noChangeShapeType="1"/>
          </p:cNvSpPr>
          <p:nvPr/>
        </p:nvSpPr>
        <p:spPr bwMode="auto">
          <a:xfrm>
            <a:off x="1485900" y="5334000"/>
            <a:ext cx="4127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10484</TotalTime>
  <Words>4497</Words>
  <Application>Microsoft Office PowerPoint</Application>
  <PresentationFormat>A4 纸张(210x297 毫米)</PresentationFormat>
  <Paragraphs>877</Paragraphs>
  <Slides>59</Slides>
  <Notes>13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59</vt:i4>
      </vt:variant>
    </vt:vector>
  </HeadingPairs>
  <TitlesOfParts>
    <vt:vector size="71" baseType="lpstr">
      <vt:lpstr>Times New Roman</vt:lpstr>
      <vt:lpstr>Arial</vt:lpstr>
      <vt:lpstr>宋体</vt:lpstr>
      <vt:lpstr>Verdana</vt:lpstr>
      <vt:lpstr>Symbol</vt:lpstr>
      <vt:lpstr>Courier New</vt:lpstr>
      <vt:lpstr>Wingdings</vt:lpstr>
      <vt:lpstr>Default Design</vt:lpstr>
      <vt:lpstr>Microsoft Visio 绘图</vt:lpstr>
      <vt:lpstr>Microsoft Visio Drawing</vt:lpstr>
      <vt:lpstr>Microsoft Equation 3.0</vt:lpstr>
      <vt:lpstr>Microsoft 公式 3.0</vt:lpstr>
      <vt:lpstr>Homework  (lexical analyzer)</vt:lpstr>
      <vt:lpstr>review</vt:lpstr>
      <vt:lpstr>Lexical Analysis (Scanning) (P.83)</vt:lpstr>
      <vt:lpstr>Lexical Analysis (cont.)</vt:lpstr>
      <vt:lpstr>Lexical Analysis (cont.) </vt:lpstr>
      <vt:lpstr>Lexical Analysis (cont.)</vt:lpstr>
      <vt:lpstr>3.1 The Role of the Lexical Analyzer （P.84）</vt:lpstr>
      <vt:lpstr> </vt:lpstr>
      <vt:lpstr>Issues in lexical analysis (P.84)</vt:lpstr>
      <vt:lpstr>Lexical Analyzer in Perspective </vt:lpstr>
      <vt:lpstr>Introducing Basic Terminology (P.85)</vt:lpstr>
      <vt:lpstr>Token, pattern, lexemes （P.85）</vt:lpstr>
      <vt:lpstr>Token, pattern, lexemes (example P.85)</vt:lpstr>
      <vt:lpstr>Attributes for tokens (P.87)</vt:lpstr>
      <vt:lpstr>Scanning process </vt:lpstr>
      <vt:lpstr>Lexical Tokens</vt:lpstr>
      <vt:lpstr>Lexical Tokens</vt:lpstr>
      <vt:lpstr>Scanning process (cont.)</vt:lpstr>
      <vt:lpstr>PowerPoint 演示文稿</vt:lpstr>
      <vt:lpstr>3.2 Input buffering (P.88)</vt:lpstr>
      <vt:lpstr>Algorithm: Buffered I/O with Sentinels (P.91)</vt:lpstr>
      <vt:lpstr>Character-at-a-time I/O </vt:lpstr>
      <vt:lpstr>3.3 Specification of tokens (P.92) </vt:lpstr>
      <vt:lpstr>Terminology of Languages (P.92)</vt:lpstr>
      <vt:lpstr>Terminology of Languages(cont. cf. Fig.3.7)</vt:lpstr>
      <vt:lpstr>Terminology of Languages (cont.)</vt:lpstr>
      <vt:lpstr>Operations on Languages (P.93) </vt:lpstr>
      <vt:lpstr>Operations on Languages  (Examples3.2)</vt:lpstr>
      <vt:lpstr>Language &amp; Regular Expressions (P.94)</vt:lpstr>
      <vt:lpstr>Regular Expressions</vt:lpstr>
      <vt:lpstr>Regular Expressions (cont.)</vt:lpstr>
      <vt:lpstr>Rules for Specifying Regular Expressions (P.94)</vt:lpstr>
      <vt:lpstr>Rules for Specifying Regular Expressions (cont.)</vt:lpstr>
      <vt:lpstr>Regular Expressions (Ex.)</vt:lpstr>
      <vt:lpstr>PowerPoint 演示文稿</vt:lpstr>
      <vt:lpstr>Fig.3.9 Algebraic Properties of Regular Expressions (P.96)</vt:lpstr>
      <vt:lpstr>Regular Expressions (Exercise) </vt:lpstr>
      <vt:lpstr>Regular Definitions (P.96)</vt:lpstr>
      <vt:lpstr>Regular Definitions (cont.) (P.97)</vt:lpstr>
      <vt:lpstr>Exercise in class</vt:lpstr>
      <vt:lpstr>Exercise in class (cont.)</vt:lpstr>
      <vt:lpstr>Exercise in class (cont.)</vt:lpstr>
      <vt:lpstr>PowerPoint 演示文稿</vt:lpstr>
      <vt:lpstr>Ad-hoc Lexer</vt:lpstr>
      <vt:lpstr>Problems</vt:lpstr>
      <vt:lpstr>Issues</vt:lpstr>
      <vt:lpstr>How To Describe Tokens</vt:lpstr>
      <vt:lpstr>Regular expressions</vt:lpstr>
      <vt:lpstr>Convenient Shorthand</vt:lpstr>
      <vt:lpstr>Examples</vt:lpstr>
      <vt:lpstr>More Examples</vt:lpstr>
      <vt:lpstr>Breaking up Text</vt:lpstr>
      <vt:lpstr>Lexer Generator Specification</vt:lpstr>
      <vt:lpstr>Lex: A Lexical Analyzer Generator</vt:lpstr>
      <vt:lpstr>Lexer Generator</vt:lpstr>
      <vt:lpstr>Regular Expression Matching</vt:lpstr>
      <vt:lpstr>High Level View</vt:lpstr>
      <vt:lpstr>Finite Automata</vt:lpstr>
      <vt:lpstr>Language</vt:lpstr>
    </vt:vector>
  </TitlesOfParts>
  <Company>Bilkent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CS416:lec01-lexicalanalyzer</dc:title>
  <dc:creator>Ilyas Cicekli</dc:creator>
  <cp:lastModifiedBy>Exin Y</cp:lastModifiedBy>
  <cp:revision>355</cp:revision>
  <cp:lastPrinted>1999-09-09T03:15:50Z</cp:lastPrinted>
  <dcterms:created xsi:type="dcterms:W3CDTF">1999-01-20T19:57:44Z</dcterms:created>
  <dcterms:modified xsi:type="dcterms:W3CDTF">2015-10-07T09:26:13Z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2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2</vt:i4>
  </property>
  <property fmtid="{D5CDD505-2E9C-101B-9397-08002B2CF9AE}" pid="6" name="ScreenUsage">
    <vt:i4>2</vt:i4>
  </property>
  <property fmtid="{D5CDD505-2E9C-101B-9397-08002B2CF9AE}" pid="7" name="MailAddress">
    <vt:lpwstr>radev@cs.columbia.edu</vt:lpwstr>
  </property>
  <property fmtid="{D5CDD505-2E9C-101B-9397-08002B2CF9AE}" pid="8" name="HomePage">
    <vt:lpwstr>http://www.cs.columbia.edu/~radev/cs4705/</vt:lpwstr>
  </property>
  <property fmtid="{D5CDD505-2E9C-101B-9397-08002B2CF9AE}" pid="9" name="Other">
    <vt:lpwstr/>
  </property>
  <property fmtid="{D5CDD505-2E9C-101B-9397-08002B2CF9AE}" pid="10" name="DownloadOriginal">
    <vt:bool>true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F:\html\cs4705</vt:lpwstr>
  </property>
</Properties>
</file>