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592" r:id="rId2"/>
    <p:sldId id="594" r:id="rId3"/>
    <p:sldId id="598" r:id="rId4"/>
    <p:sldId id="595" r:id="rId5"/>
    <p:sldId id="599" r:id="rId6"/>
    <p:sldId id="596" r:id="rId7"/>
    <p:sldId id="600" r:id="rId8"/>
    <p:sldId id="597" r:id="rId9"/>
    <p:sldId id="604" r:id="rId10"/>
    <p:sldId id="626" r:id="rId11"/>
    <p:sldId id="605" r:id="rId12"/>
    <p:sldId id="606" r:id="rId13"/>
    <p:sldId id="625" r:id="rId14"/>
    <p:sldId id="607" r:id="rId15"/>
    <p:sldId id="608" r:id="rId16"/>
    <p:sldId id="603" r:id="rId17"/>
    <p:sldId id="601" r:id="rId18"/>
    <p:sldId id="602" r:id="rId19"/>
    <p:sldId id="609" r:id="rId20"/>
    <p:sldId id="611" r:id="rId21"/>
    <p:sldId id="610" r:id="rId22"/>
    <p:sldId id="631" r:id="rId23"/>
    <p:sldId id="612" r:id="rId24"/>
    <p:sldId id="628" r:id="rId25"/>
    <p:sldId id="627" r:id="rId26"/>
    <p:sldId id="624" r:id="rId27"/>
    <p:sldId id="613" r:id="rId28"/>
    <p:sldId id="629" r:id="rId29"/>
    <p:sldId id="630" r:id="rId30"/>
    <p:sldId id="614" r:id="rId31"/>
    <p:sldId id="616" r:id="rId32"/>
    <p:sldId id="615" r:id="rId33"/>
    <p:sldId id="617" r:id="rId34"/>
    <p:sldId id="618" r:id="rId35"/>
    <p:sldId id="619" r:id="rId36"/>
    <p:sldId id="620" r:id="rId37"/>
    <p:sldId id="621" r:id="rId38"/>
    <p:sldId id="622" r:id="rId39"/>
    <p:sldId id="623" r:id="rId40"/>
  </p:sldIdLst>
  <p:sldSz cx="9144000" cy="6858000" type="screen4x3"/>
  <p:notesSz cx="7010400" cy="92964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Courier New" panose="02070309020205020404" pitchFamily="49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Courier New" panose="02070309020205020404" pitchFamily="49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Courier New" panose="02070309020205020404" pitchFamily="49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Courier New" panose="02070309020205020404" pitchFamily="49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Courier New" panose="02070309020205020404" pitchFamily="49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Courier New" panose="02070309020205020404" pitchFamily="49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Courier New" panose="02070309020205020404" pitchFamily="49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Courier New" panose="02070309020205020404" pitchFamily="49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Courier New" panose="02070309020205020404" pitchFamily="49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99"/>
    <a:srgbClr val="CCFF99"/>
    <a:srgbClr val="99CCFF"/>
    <a:srgbClr val="FF7C80"/>
    <a:srgbClr val="DDDDDD"/>
    <a:srgbClr val="FF3300"/>
    <a:srgbClr val="A50021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597" autoAdjust="0"/>
    <p:restoredTop sz="94686" autoAdjust="0"/>
  </p:normalViewPr>
  <p:slideViewPr>
    <p:cSldViewPr>
      <p:cViewPr varScale="1">
        <p:scale>
          <a:sx n="95" d="100"/>
          <a:sy n="95" d="100"/>
        </p:scale>
        <p:origin x="931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998"/>
    </p:cViewPr>
  </p:sorterViewPr>
  <p:notesViewPr>
    <p:cSldViewPr>
      <p:cViewPr varScale="1">
        <p:scale>
          <a:sx n="43" d="100"/>
          <a:sy n="43" d="100"/>
        </p:scale>
        <p:origin x="-546" y="-78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-1588"/>
            <a:ext cx="3038475" cy="466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662" tIns="47625" rIns="93662" bIns="47625" numCol="1" anchor="t" anchorCtr="0" compatLnSpc="1">
            <a:prstTxWarp prst="textNoShape">
              <a:avLst/>
            </a:prstTxWarp>
          </a:bodyPr>
          <a:lstStyle>
            <a:lvl1pPr algn="l" defTabSz="955675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endParaRPr lang="zh-CN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925" y="-1588"/>
            <a:ext cx="3038475" cy="466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662" tIns="47625" rIns="93662" bIns="47625" numCol="1" anchor="t" anchorCtr="0" compatLnSpc="1">
            <a:prstTxWarp prst="textNoShape">
              <a:avLst/>
            </a:prstTxWarp>
          </a:bodyPr>
          <a:lstStyle>
            <a:lvl1pPr algn="r" defTabSz="955675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3038475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662" tIns="47625" rIns="93662" bIns="47625" numCol="1" anchor="b" anchorCtr="0" compatLnSpc="1">
            <a:prstTxWarp prst="textNoShape">
              <a:avLst/>
            </a:prstTxWarp>
          </a:bodyPr>
          <a:lstStyle>
            <a:lvl1pPr algn="l" defTabSz="955675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925" y="8831263"/>
            <a:ext cx="3038475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662" tIns="47625" rIns="93662" bIns="47625" numCol="1" anchor="b" anchorCtr="0" compatLnSpc="1">
            <a:prstTxWarp prst="textNoShape">
              <a:avLst/>
            </a:prstTxWarp>
          </a:bodyPr>
          <a:lstStyle>
            <a:lvl1pPr algn="r" defTabSz="955675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fld id="{E744ABAF-2F03-4D1C-A4CD-5195C6BA0FF7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84958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-1588"/>
            <a:ext cx="3038475" cy="466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662" tIns="47625" rIns="93662" bIns="47625" numCol="1" anchor="t" anchorCtr="0" compatLnSpc="1">
            <a:prstTxWarp prst="textNoShape">
              <a:avLst/>
            </a:prstTxWarp>
          </a:bodyPr>
          <a:lstStyle>
            <a:lvl1pPr algn="l" defTabSz="955675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endParaRPr lang="zh-CN" alt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-1588"/>
            <a:ext cx="3038475" cy="466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662" tIns="47625" rIns="93662" bIns="47625" numCol="1" anchor="t" anchorCtr="0" compatLnSpc="1">
            <a:prstTxWarp prst="textNoShape">
              <a:avLst/>
            </a:prstTxWarp>
          </a:bodyPr>
          <a:lstStyle>
            <a:lvl1pPr algn="r" defTabSz="955675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2052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79513" y="698500"/>
            <a:ext cx="4651375" cy="348456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662" tIns="47625" rIns="93662" bIns="4762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3038475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662" tIns="47625" rIns="93662" bIns="47625" numCol="1" anchor="b" anchorCtr="0" compatLnSpc="1">
            <a:prstTxWarp prst="textNoShape">
              <a:avLst/>
            </a:prstTxWarp>
          </a:bodyPr>
          <a:lstStyle>
            <a:lvl1pPr algn="l" defTabSz="955675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31263"/>
            <a:ext cx="3038475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662" tIns="47625" rIns="93662" bIns="47625" numCol="1" anchor="b" anchorCtr="0" compatLnSpc="1">
            <a:prstTxWarp prst="textNoShape">
              <a:avLst/>
            </a:prstTxWarp>
          </a:bodyPr>
          <a:lstStyle>
            <a:lvl1pPr algn="r" defTabSz="955675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fld id="{2F949A6D-8D34-4A51-A24B-8A944ADA3E9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5391832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955675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66725" algn="l" defTabSz="955675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35038" algn="l" defTabSz="955675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401763" algn="l" defTabSz="955675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68488" algn="l" defTabSz="955675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E957DFF-712B-49BC-BF11-A1E30B04B35D}" type="slidenum">
              <a:rPr lang="zh-CN" altLang="en-US"/>
              <a:pPr/>
              <a:t>1</a:t>
            </a:fld>
            <a:endParaRPr lang="en-US" altLang="zh-CN"/>
          </a:p>
        </p:txBody>
      </p:sp>
      <p:sp>
        <p:nvSpPr>
          <p:cNvPr id="374786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374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21760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E555BE7-8ABB-46F9-9B46-DFABB572D498}" type="slidenum">
              <a:rPr lang="zh-CN" altLang="en-US"/>
              <a:pPr/>
              <a:t>2</a:t>
            </a:fld>
            <a:endParaRPr lang="en-US" altLang="zh-CN"/>
          </a:p>
        </p:txBody>
      </p:sp>
      <p:sp>
        <p:nvSpPr>
          <p:cNvPr id="375810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375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85601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82C947-45F2-4B24-BE51-8280D0205CB8}" type="slidenum">
              <a:rPr lang="zh-CN" altLang="en-US"/>
              <a:pPr/>
              <a:t>3</a:t>
            </a:fld>
            <a:endParaRPr lang="en-US" altLang="zh-CN"/>
          </a:p>
        </p:txBody>
      </p:sp>
      <p:sp>
        <p:nvSpPr>
          <p:cNvPr id="376834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376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94328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999742A-72CE-4176-AE27-F9ADFD045691}" type="slidenum">
              <a:rPr lang="zh-CN" altLang="en-US"/>
              <a:pPr/>
              <a:t>4</a:t>
            </a:fld>
            <a:endParaRPr lang="en-US" altLang="zh-CN"/>
          </a:p>
        </p:txBody>
      </p:sp>
      <p:sp>
        <p:nvSpPr>
          <p:cNvPr id="377858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377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76183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448F189-A63F-4B89-8A44-336DC6D0E485}" type="slidenum">
              <a:rPr lang="zh-CN" altLang="en-US"/>
              <a:pPr/>
              <a:t>5</a:t>
            </a:fld>
            <a:endParaRPr lang="en-US" altLang="zh-CN"/>
          </a:p>
        </p:txBody>
      </p:sp>
      <p:sp>
        <p:nvSpPr>
          <p:cNvPr id="378882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378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9607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BA5546-BA0E-4BDD-B94C-EEEA76178528}" type="slidenum">
              <a:rPr lang="zh-CN" altLang="en-US"/>
              <a:pPr/>
              <a:t>6</a:t>
            </a:fld>
            <a:endParaRPr lang="en-US" altLang="zh-CN"/>
          </a:p>
        </p:txBody>
      </p:sp>
      <p:sp>
        <p:nvSpPr>
          <p:cNvPr id="379906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379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67605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D5DDC58-1E61-42BA-BFF8-666E699AE06D}" type="slidenum">
              <a:rPr lang="zh-CN" altLang="en-US"/>
              <a:pPr/>
              <a:t>7</a:t>
            </a:fld>
            <a:endParaRPr lang="en-US" altLang="zh-CN"/>
          </a:p>
        </p:txBody>
      </p:sp>
      <p:sp>
        <p:nvSpPr>
          <p:cNvPr id="380930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380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71023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256AB85-093F-419C-8F26-6EDE126DC5DC}" type="slidenum">
              <a:rPr lang="zh-CN" altLang="en-US"/>
              <a:pPr/>
              <a:t>8</a:t>
            </a:fld>
            <a:endParaRPr lang="en-US" altLang="zh-CN"/>
          </a:p>
        </p:txBody>
      </p:sp>
      <p:sp>
        <p:nvSpPr>
          <p:cNvPr id="381954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381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96093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56B0B73-DA31-46DE-832C-2C9202573601}" type="slidenum">
              <a:rPr lang="zh-CN" altLang="en-US"/>
              <a:pPr/>
              <a:t>9</a:t>
            </a:fld>
            <a:endParaRPr lang="en-US" altLang="zh-CN"/>
          </a:p>
        </p:txBody>
      </p:sp>
      <p:sp>
        <p:nvSpPr>
          <p:cNvPr id="382978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382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73025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04109A9-64CF-4580-825A-ED98CB048047}" type="slidenum">
              <a:rPr lang="zh-CN" altLang="en-US"/>
              <a:pPr/>
              <a:t>11</a:t>
            </a:fld>
            <a:endParaRPr lang="en-US" altLang="zh-CN"/>
          </a:p>
        </p:txBody>
      </p:sp>
      <p:sp>
        <p:nvSpPr>
          <p:cNvPr id="384002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384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64111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C93BAE-888A-4959-ACDC-C7EA15142BBA}" type="slidenum">
              <a:rPr lang="zh-CN" altLang="en-US"/>
              <a:pPr/>
              <a:t>12</a:t>
            </a:fld>
            <a:endParaRPr lang="en-US" altLang="zh-CN"/>
          </a:p>
        </p:txBody>
      </p:sp>
      <p:sp>
        <p:nvSpPr>
          <p:cNvPr id="385026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385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57871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33A5856-943C-4739-B143-4404C98BC0BB}" type="slidenum">
              <a:rPr lang="zh-CN" altLang="en-US"/>
              <a:pPr/>
              <a:t>14</a:t>
            </a:fld>
            <a:endParaRPr lang="en-US" altLang="zh-CN"/>
          </a:p>
        </p:txBody>
      </p:sp>
      <p:sp>
        <p:nvSpPr>
          <p:cNvPr id="386050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386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36185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9FD0959-1AA7-46AB-8AE8-EA5BE5D6DAFC}" type="slidenum">
              <a:rPr lang="zh-CN" altLang="en-US"/>
              <a:pPr/>
              <a:t>15</a:t>
            </a:fld>
            <a:endParaRPr lang="en-US" altLang="zh-CN"/>
          </a:p>
        </p:txBody>
      </p:sp>
      <p:sp>
        <p:nvSpPr>
          <p:cNvPr id="387074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387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38008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8A76DE1-0FD5-4635-9525-7D9283DDF470}" type="slidenum">
              <a:rPr lang="zh-CN" altLang="en-US"/>
              <a:pPr/>
              <a:t>16</a:t>
            </a:fld>
            <a:endParaRPr lang="en-US" altLang="zh-CN"/>
          </a:p>
        </p:txBody>
      </p:sp>
      <p:sp>
        <p:nvSpPr>
          <p:cNvPr id="388098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388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38031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E93F18C-A004-4DB3-94F8-DB20CCBC840D}" type="slidenum">
              <a:rPr lang="zh-CN" altLang="en-US"/>
              <a:pPr/>
              <a:t>17</a:t>
            </a:fld>
            <a:endParaRPr lang="en-US" altLang="zh-CN"/>
          </a:p>
        </p:txBody>
      </p:sp>
      <p:sp>
        <p:nvSpPr>
          <p:cNvPr id="389122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389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36495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CC71C21-63FB-4415-8103-047EB0AE43DF}" type="slidenum">
              <a:rPr lang="zh-CN" altLang="en-US"/>
              <a:pPr/>
              <a:t>18</a:t>
            </a:fld>
            <a:endParaRPr lang="en-US" altLang="zh-CN"/>
          </a:p>
        </p:txBody>
      </p:sp>
      <p:sp>
        <p:nvSpPr>
          <p:cNvPr id="390146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390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46491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38F239-5682-45A9-88CD-7ED0338A9709}" type="slidenum">
              <a:rPr lang="zh-CN" altLang="en-US"/>
              <a:pPr/>
              <a:t>19</a:t>
            </a:fld>
            <a:endParaRPr lang="en-US" altLang="zh-CN"/>
          </a:p>
        </p:txBody>
      </p:sp>
      <p:sp>
        <p:nvSpPr>
          <p:cNvPr id="391170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391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28531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6C8905-2DC7-48CD-B75A-8EDBE54105B2}" type="slidenum">
              <a:rPr lang="zh-CN" altLang="en-US"/>
              <a:pPr/>
              <a:t>20</a:t>
            </a:fld>
            <a:endParaRPr lang="en-US" altLang="zh-CN"/>
          </a:p>
        </p:txBody>
      </p:sp>
      <p:sp>
        <p:nvSpPr>
          <p:cNvPr id="392194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392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41317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6F52EED-3D0A-47D6-8694-0C7D6C417E27}" type="slidenum">
              <a:rPr lang="zh-CN" altLang="en-US"/>
              <a:pPr/>
              <a:t>21</a:t>
            </a:fld>
            <a:endParaRPr lang="en-US" altLang="zh-CN"/>
          </a:p>
        </p:txBody>
      </p:sp>
      <p:sp>
        <p:nvSpPr>
          <p:cNvPr id="393218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393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6587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FE46587-1DF3-4D7A-91C7-DB8866B6D299}" type="slidenum">
              <a:rPr lang="zh-CN" altLang="en-US"/>
              <a:pPr/>
              <a:t>23</a:t>
            </a:fld>
            <a:endParaRPr lang="en-US" altLang="zh-CN"/>
          </a:p>
        </p:txBody>
      </p:sp>
      <p:sp>
        <p:nvSpPr>
          <p:cNvPr id="394242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394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97135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86CA99-43A9-4E9D-B4A0-7DE06BE3531E}" type="slidenum">
              <a:rPr lang="zh-CN" altLang="en-US"/>
              <a:pPr/>
              <a:t>27</a:t>
            </a:fld>
            <a:endParaRPr lang="en-US" altLang="zh-CN"/>
          </a:p>
        </p:txBody>
      </p:sp>
      <p:sp>
        <p:nvSpPr>
          <p:cNvPr id="357378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35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322334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65E716E-C13E-40C5-BF43-AA2FBD5C9132}" type="slidenum">
              <a:rPr lang="zh-CN" altLang="en-US"/>
              <a:pPr/>
              <a:t>30</a:t>
            </a:fld>
            <a:endParaRPr lang="en-US" altLang="zh-CN"/>
          </a:p>
        </p:txBody>
      </p:sp>
      <p:sp>
        <p:nvSpPr>
          <p:cNvPr id="359426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359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73396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ED932D6-221B-4703-B922-D3468C28E4BF}" type="slidenum">
              <a:rPr lang="zh-CN" altLang="en-US"/>
              <a:pPr/>
              <a:t>31</a:t>
            </a:fld>
            <a:endParaRPr lang="en-US" altLang="zh-CN"/>
          </a:p>
        </p:txBody>
      </p:sp>
      <p:sp>
        <p:nvSpPr>
          <p:cNvPr id="364546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364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373779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FAA5E3E-B42D-48DE-8618-A39ACE2CDB50}" type="slidenum">
              <a:rPr lang="zh-CN" altLang="en-US"/>
              <a:pPr/>
              <a:t>32</a:t>
            </a:fld>
            <a:endParaRPr lang="en-US" altLang="zh-CN"/>
          </a:p>
        </p:txBody>
      </p:sp>
      <p:sp>
        <p:nvSpPr>
          <p:cNvPr id="361474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361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57001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000A3B0-6C99-4B11-B8F6-2C16A2981BC0}" type="slidenum">
              <a:rPr lang="zh-CN" altLang="en-US"/>
              <a:pPr/>
              <a:t>33</a:t>
            </a:fld>
            <a:endParaRPr lang="en-US" altLang="zh-CN"/>
          </a:p>
        </p:txBody>
      </p:sp>
      <p:sp>
        <p:nvSpPr>
          <p:cNvPr id="395266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395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459923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BB45ADF-C413-491A-9960-0FD746DDB739}" type="slidenum">
              <a:rPr lang="zh-CN" altLang="en-US"/>
              <a:pPr/>
              <a:t>34</a:t>
            </a:fld>
            <a:endParaRPr lang="en-US" altLang="zh-CN"/>
          </a:p>
        </p:txBody>
      </p:sp>
      <p:sp>
        <p:nvSpPr>
          <p:cNvPr id="396290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396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789437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1CD508B-19EE-42B7-8C7A-ABBFE43B7938}" type="slidenum">
              <a:rPr lang="zh-CN" altLang="en-US"/>
              <a:pPr/>
              <a:t>35</a:t>
            </a:fld>
            <a:endParaRPr lang="en-US" altLang="zh-CN"/>
          </a:p>
        </p:txBody>
      </p:sp>
      <p:sp>
        <p:nvSpPr>
          <p:cNvPr id="397314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397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165644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841FC66-C1E3-41D6-B930-CF585CA26D64}" type="slidenum">
              <a:rPr lang="zh-CN" altLang="en-US"/>
              <a:pPr/>
              <a:t>36</a:t>
            </a:fld>
            <a:endParaRPr lang="en-US" altLang="zh-CN"/>
          </a:p>
        </p:txBody>
      </p:sp>
      <p:sp>
        <p:nvSpPr>
          <p:cNvPr id="398338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398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198248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B8703BF-29BB-4E5E-83BF-53D5B87C0F5F}" type="slidenum">
              <a:rPr lang="zh-CN" altLang="en-US"/>
              <a:pPr/>
              <a:t>37</a:t>
            </a:fld>
            <a:endParaRPr lang="en-US" altLang="zh-CN"/>
          </a:p>
        </p:txBody>
      </p:sp>
      <p:sp>
        <p:nvSpPr>
          <p:cNvPr id="399362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937187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35451C9-4127-46A2-8B2C-614AF5A3058E}" type="slidenum">
              <a:rPr lang="zh-CN" altLang="en-US"/>
              <a:pPr/>
              <a:t>38</a:t>
            </a:fld>
            <a:endParaRPr lang="en-US" altLang="zh-CN"/>
          </a:p>
        </p:txBody>
      </p:sp>
      <p:sp>
        <p:nvSpPr>
          <p:cNvPr id="400386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400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976417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66CA55C-18B2-4612-9FF5-BB121EB2DE7C}" type="slidenum">
              <a:rPr lang="zh-CN" altLang="en-US"/>
              <a:pPr/>
              <a:t>39</a:t>
            </a:fld>
            <a:endParaRPr lang="en-US" altLang="zh-CN"/>
          </a:p>
        </p:txBody>
      </p:sp>
      <p:sp>
        <p:nvSpPr>
          <p:cNvPr id="401410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401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5973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D2E5AB-ED32-4F1E-ACB1-9B2CFD77071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2185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2C0F26-EA32-483B-B258-914694C9D43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18373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4B5483-5E09-449E-9B93-F445BDF5242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8886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2588" y="1219200"/>
            <a:ext cx="4227512" cy="5105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62500" y="1219200"/>
            <a:ext cx="4229100" cy="5105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DC771D-C7A8-4B01-8D1D-F0366C96E4C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4964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F5718F-2ADB-46EB-AF3C-943A192A8A5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805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574B3E-312E-4192-93C7-C06F71800E1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36603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87A8F5-F554-4018-8048-E7F6819A5C9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29898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4C32A8-7AEC-4DAE-A2EA-C72227A4B6F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6136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1A6E5C-369E-49F9-9F61-35889BFCE847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65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8CCE59-43A8-4126-9149-CE44302A925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32717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40538" y="152400"/>
            <a:ext cx="2151062" cy="6172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2588" y="152400"/>
            <a:ext cx="6305550" cy="6172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5F852E-04E0-4CA7-9A98-D8EE3DC07A9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0165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AndTx" preserve="1">
  <p:cSld name="标题，图表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2588" y="152400"/>
            <a:ext cx="8609012" cy="914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表占位符 2"/>
          <p:cNvSpPr>
            <a:spLocks noGrp="1"/>
          </p:cNvSpPr>
          <p:nvPr>
            <p:ph type="chart" sz="half" idx="1"/>
          </p:nvPr>
        </p:nvSpPr>
        <p:spPr>
          <a:xfrm>
            <a:off x="382588" y="1219200"/>
            <a:ext cx="4227512" cy="5105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762500" y="1219200"/>
            <a:ext cx="4229100" cy="5105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82588" y="6477000"/>
            <a:ext cx="1895475" cy="2286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2971800" y="6477000"/>
            <a:ext cx="3413125" cy="2286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10400" y="6477000"/>
            <a:ext cx="1895475" cy="228600"/>
          </a:xfrm>
        </p:spPr>
        <p:txBody>
          <a:bodyPr/>
          <a:lstStyle>
            <a:lvl1pPr>
              <a:defRPr/>
            </a:lvl1pPr>
          </a:lstStyle>
          <a:p>
            <a:fld id="{9837FA71-483B-450A-8E42-307E3EF5188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95985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382588" y="152400"/>
            <a:ext cx="8609012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42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2588" y="1219200"/>
            <a:ext cx="8609012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2588" y="6477000"/>
            <a:ext cx="189547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800">
                <a:latin typeface="+mn-lt"/>
                <a:ea typeface="宋体" panose="02010600030101010101" pitchFamily="2" charset="-122"/>
              </a:defRPr>
            </a:lvl1pPr>
          </a:lstStyle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1044" name="Rectangle 2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971800" y="6477000"/>
            <a:ext cx="34131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800">
                <a:latin typeface="+mn-lt"/>
                <a:ea typeface="宋体" panose="02010600030101010101" pitchFamily="2" charset="-122"/>
              </a:defRPr>
            </a:lvl1pPr>
          </a:lstStyle>
          <a:p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1045" name="Rectangle 2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477000"/>
            <a:ext cx="189547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800">
                <a:latin typeface="+mn-lt"/>
                <a:ea typeface="宋体" panose="02010600030101010101" pitchFamily="2" charset="-122"/>
              </a:defRPr>
            </a:lvl1pPr>
          </a:lstStyle>
          <a:p>
            <a:fld id="{FB1BCF90-7A20-4AB0-B6BE-8CDA7DBE7101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ctr" rtl="0" fontAlgn="base">
        <a:lnSpc>
          <a:spcPct val="80000"/>
        </a:lnSpc>
        <a:spcBef>
          <a:spcPct val="0"/>
        </a:spcBef>
        <a:spcAft>
          <a:spcPct val="0"/>
        </a:spcAft>
        <a:defRPr sz="3600" kern="12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+mj-lt"/>
          <a:ea typeface="+mj-ea"/>
          <a:cs typeface="+mj-cs"/>
        </a:defRPr>
      </a:lvl1pPr>
      <a:lvl2pPr algn="ctr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anose="02020603050405020304" pitchFamily="18" charset="0"/>
        </a:defRPr>
      </a:lvl2pPr>
      <a:lvl3pPr algn="ctr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anose="02020603050405020304" pitchFamily="18" charset="0"/>
        </a:defRPr>
      </a:lvl3pPr>
      <a:lvl4pPr algn="ctr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anose="02020603050405020304" pitchFamily="18" charset="0"/>
        </a:defRPr>
      </a:lvl4pPr>
      <a:lvl5pPr algn="ctr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anose="02020603050405020304" pitchFamily="18" charset="0"/>
        </a:defRPr>
      </a:lvl5pPr>
      <a:lvl6pPr marL="457200" algn="ctr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anose="02020603050405020304" pitchFamily="18" charset="0"/>
        </a:defRPr>
      </a:lvl6pPr>
      <a:lvl7pPr marL="914400" algn="ctr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anose="02020603050405020304" pitchFamily="18" charset="0"/>
        </a:defRPr>
      </a:lvl7pPr>
      <a:lvl8pPr marL="1371600" algn="ctr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anose="02020603050405020304" pitchFamily="18" charset="0"/>
        </a:defRPr>
      </a:lvl8pPr>
      <a:lvl9pPr marL="1828800" algn="ctr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anose="02020603050405020304" pitchFamily="18" charset="0"/>
        </a:defRPr>
      </a:lvl9pPr>
    </p:titleStyle>
    <p:bodyStyle>
      <a:lvl1pPr marL="523875" indent="-523875" algn="l" rtl="0" fontAlgn="base">
        <a:lnSpc>
          <a:spcPct val="89000"/>
        </a:lnSpc>
        <a:spcBef>
          <a:spcPct val="10000"/>
        </a:spcBef>
        <a:spcAft>
          <a:spcPct val="0"/>
        </a:spcAft>
        <a:buClr>
          <a:srgbClr val="FF3300"/>
        </a:buClr>
        <a:buSzPct val="75000"/>
        <a:buFont typeface="Wingdings" panose="05000000000000000000" pitchFamily="2" charset="2"/>
        <a:buChar char="m"/>
        <a:tabLst>
          <a:tab pos="1025525" algn="l"/>
        </a:tabLst>
        <a:defRPr sz="2800" kern="1200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  <a:cs typeface="+mn-cs"/>
        </a:defRPr>
      </a:lvl1pPr>
      <a:lvl2pPr marL="1025525" indent="-387350" algn="l" rtl="0" fontAlgn="base">
        <a:lnSpc>
          <a:spcPct val="80000"/>
        </a:lnSpc>
        <a:spcBef>
          <a:spcPct val="20000"/>
        </a:spcBef>
        <a:spcAft>
          <a:spcPct val="0"/>
        </a:spcAft>
        <a:buSzPct val="69000"/>
        <a:buFont typeface="Wingdings" panose="05000000000000000000" pitchFamily="2" charset="2"/>
        <a:buChar char="q"/>
        <a:tabLst>
          <a:tab pos="1025525" algn="l"/>
        </a:tabLst>
        <a:defRPr sz="28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1477963" indent="-338138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Ø"/>
        <a:tabLst>
          <a:tab pos="1025525" algn="l"/>
        </a:tabLst>
        <a:defRPr sz="2400" kern="1200">
          <a:solidFill>
            <a:srgbClr val="FF3300"/>
          </a:solidFill>
          <a:latin typeface="+mn-lt"/>
          <a:ea typeface="+mn-ea"/>
          <a:cs typeface="+mn-cs"/>
        </a:defRPr>
      </a:lvl3pPr>
      <a:lvl4pPr marL="1820863" indent="-228600" algn="l" rtl="0" fontAlgn="base">
        <a:spcBef>
          <a:spcPct val="20000"/>
        </a:spcBef>
        <a:spcAft>
          <a:spcPct val="0"/>
        </a:spcAft>
        <a:buChar char="–"/>
        <a:tabLst>
          <a:tab pos="1025525" algn="l"/>
        </a:tabLst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163763" indent="-228600" algn="l" rtl="0" fontAlgn="base">
        <a:spcBef>
          <a:spcPct val="20000"/>
        </a:spcBef>
        <a:spcAft>
          <a:spcPct val="0"/>
        </a:spcAft>
        <a:buChar char="»"/>
        <a:tabLst>
          <a:tab pos="1025525" algn="l"/>
        </a:tabLst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45BA8-C0A8-4B8A-B287-8074A50E0D17}" type="slidenum">
              <a:rPr lang="zh-CN" altLang="en-US"/>
              <a:pPr/>
              <a:t>1</a:t>
            </a:fld>
            <a:endParaRPr lang="en-US" altLang="zh-CN"/>
          </a:p>
        </p:txBody>
      </p:sp>
      <p:sp>
        <p:nvSpPr>
          <p:cNvPr id="33075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8229600" cy="914400"/>
          </a:xfrm>
        </p:spPr>
        <p:txBody>
          <a:bodyPr/>
          <a:lstStyle/>
          <a:p>
            <a:r>
              <a:rPr lang="en-US" altLang="zh-CN" b="1">
                <a:solidFill>
                  <a:srgbClr val="990000"/>
                </a:solidFill>
                <a:effectLst/>
                <a:ea typeface="宋体" panose="02010600030101010101" pitchFamily="2" charset="-122"/>
              </a:rPr>
              <a:t>The Entire Compilation Process</a:t>
            </a:r>
            <a:endParaRPr lang="en-US" altLang="zh-CN" sz="4000">
              <a:solidFill>
                <a:srgbClr val="9900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330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143000"/>
            <a:ext cx="7086600" cy="4495800"/>
          </a:xfrm>
        </p:spPr>
        <p:txBody>
          <a:bodyPr/>
          <a:lstStyle/>
          <a:p>
            <a:pPr>
              <a:lnSpc>
                <a:spcPct val="79000"/>
              </a:lnSpc>
            </a:pPr>
            <a:r>
              <a:rPr lang="zh-CN" altLang="en-US"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Grammars for Syntax Definition</a:t>
            </a:r>
          </a:p>
          <a:p>
            <a:pPr>
              <a:lnSpc>
                <a:spcPct val="79000"/>
              </a:lnSpc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 Syntax-Directed Translation</a:t>
            </a:r>
          </a:p>
          <a:p>
            <a:pPr>
              <a:lnSpc>
                <a:spcPct val="79000"/>
              </a:lnSpc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 Parsing - Top Down &amp; Predictive</a:t>
            </a:r>
          </a:p>
          <a:p>
            <a:pPr>
              <a:lnSpc>
                <a:spcPct val="79000"/>
              </a:lnSpc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 Pulling Together the Pieces</a:t>
            </a:r>
          </a:p>
          <a:p>
            <a:pPr>
              <a:lnSpc>
                <a:spcPct val="79000"/>
              </a:lnSpc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 The Lexical Analysis Process</a:t>
            </a:r>
          </a:p>
          <a:p>
            <a:pPr>
              <a:lnSpc>
                <a:spcPct val="79000"/>
              </a:lnSpc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 Symbol Table Considerations</a:t>
            </a:r>
          </a:p>
          <a:p>
            <a:pPr>
              <a:lnSpc>
                <a:spcPct val="79000"/>
              </a:lnSpc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 A Brief Look at Code Generation</a:t>
            </a:r>
          </a:p>
          <a:p>
            <a:pPr>
              <a:lnSpc>
                <a:spcPct val="79000"/>
              </a:lnSpc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 Concluding Remarks/Looking Ahead</a:t>
            </a:r>
            <a:endParaRPr lang="en-US" altLang="zh-CN">
              <a:solidFill>
                <a:srgbClr val="0066FF"/>
              </a:solidFill>
              <a:effectLst>
                <a:outerShdw blurRad="38100" dist="38100" dir="2700000" algn="tl">
                  <a:srgbClr val="000000"/>
                </a:outerShdw>
              </a:effectLst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66B98-4C9E-4898-A9FC-5A570CC02592}" type="slidenum">
              <a:rPr lang="zh-CN" altLang="en-US"/>
              <a:pPr/>
              <a:t>2</a:t>
            </a:fld>
            <a:endParaRPr lang="en-US" altLang="zh-CN"/>
          </a:p>
        </p:txBody>
      </p:sp>
      <p:sp>
        <p:nvSpPr>
          <p:cNvPr id="33280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8229600" cy="914400"/>
          </a:xfrm>
        </p:spPr>
        <p:txBody>
          <a:bodyPr/>
          <a:lstStyle/>
          <a:p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Grammars for Syntax Definition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32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143000"/>
            <a:ext cx="8305800" cy="53244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A </a:t>
            </a:r>
            <a:r>
              <a:rPr lang="en-US" altLang="zh-CN" b="1" u="sng">
                <a:solidFill>
                  <a:srgbClr val="FF5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Context-free Grammar</a:t>
            </a:r>
            <a:r>
              <a:rPr lang="en-US" altLang="zh-CN">
                <a:ea typeface="宋体" panose="02010600030101010101" pitchFamily="2" charset="-122"/>
              </a:rPr>
              <a:t> (</a:t>
            </a:r>
            <a:r>
              <a:rPr lang="en-US" altLang="zh-CN" b="1">
                <a:solidFill>
                  <a:srgbClr val="FF5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CFG</a:t>
            </a:r>
            <a:r>
              <a:rPr lang="en-US" altLang="zh-CN">
                <a:ea typeface="宋体" panose="02010600030101010101" pitchFamily="2" charset="-122"/>
              </a:rPr>
              <a:t>) Is Utilized to Describe the Syntactic Structure of a Language</a:t>
            </a:r>
          </a:p>
          <a:p>
            <a:pPr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A CFG Is Characterized By:</a:t>
            </a:r>
          </a:p>
          <a:p>
            <a:pPr lvl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1.  A Set of </a:t>
            </a:r>
            <a:r>
              <a:rPr lang="en-US" altLang="zh-CN">
                <a:solidFill>
                  <a:srgbClr val="00CC00"/>
                </a:solidFill>
                <a:ea typeface="宋体" panose="02010600030101010101" pitchFamily="2" charset="-122"/>
              </a:rPr>
              <a:t>Tokens</a:t>
            </a:r>
            <a:r>
              <a:rPr lang="en-US" altLang="zh-CN">
                <a:ea typeface="宋体" panose="02010600030101010101" pitchFamily="2" charset="-122"/>
              </a:rPr>
              <a:t> or </a:t>
            </a:r>
            <a:r>
              <a:rPr lang="en-US" altLang="zh-CN">
                <a:solidFill>
                  <a:srgbClr val="00CC00"/>
                </a:solidFill>
                <a:ea typeface="宋体" panose="02010600030101010101" pitchFamily="2" charset="-122"/>
              </a:rPr>
              <a:t>Terminal</a:t>
            </a:r>
            <a:r>
              <a:rPr lang="en-US" altLang="zh-CN">
                <a:ea typeface="宋体" panose="02010600030101010101" pitchFamily="2" charset="-122"/>
              </a:rPr>
              <a:t> Symbols</a:t>
            </a:r>
          </a:p>
          <a:p>
            <a:pPr lvl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2.  A Set of </a:t>
            </a:r>
            <a:r>
              <a:rPr lang="en-US" altLang="zh-CN">
                <a:solidFill>
                  <a:srgbClr val="00CC00"/>
                </a:solidFill>
                <a:ea typeface="宋体" panose="02010600030101010101" pitchFamily="2" charset="-122"/>
              </a:rPr>
              <a:t>Non-terminals</a:t>
            </a:r>
          </a:p>
          <a:p>
            <a:pPr lvl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3.  A Set of </a:t>
            </a:r>
            <a:r>
              <a:rPr lang="en-US" altLang="zh-CN">
                <a:solidFill>
                  <a:srgbClr val="00CC00"/>
                </a:solidFill>
                <a:ea typeface="宋体" panose="02010600030101010101" pitchFamily="2" charset="-122"/>
              </a:rPr>
              <a:t>Production Rules</a:t>
            </a:r>
            <a:r>
              <a:rPr lang="en-US" altLang="zh-CN">
                <a:ea typeface="宋体" panose="02010600030101010101" pitchFamily="2" charset="-122"/>
              </a:rPr>
              <a:t>  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Each Rule Has the Form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/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NT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  <a:sym typeface="Math1" pitchFamily="2" charset="2"/>
              </a:rPr>
              <a:t>{T, NT}*</a:t>
            </a:r>
          </a:p>
          <a:p>
            <a:pPr lvl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4.  A Non-terminal Designated As the </a:t>
            </a:r>
            <a:r>
              <a:rPr lang="en-US" altLang="zh-CN">
                <a:solidFill>
                  <a:srgbClr val="00CC00"/>
                </a:solidFill>
                <a:ea typeface="宋体" panose="02010600030101010101" pitchFamily="2" charset="-122"/>
              </a:rPr>
              <a:t>Start Symbol</a:t>
            </a:r>
            <a:endParaRPr lang="en-US" altLang="zh-CN" sz="2400">
              <a:solidFill>
                <a:srgbClr val="00CC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FA8E-7E95-4C23-B690-D1CF27845862}" type="slidenum">
              <a:rPr lang="zh-CN" altLang="en-US"/>
              <a:pPr/>
              <a:t>3</a:t>
            </a:fld>
            <a:endParaRPr lang="en-US" altLang="zh-CN"/>
          </a:p>
        </p:txBody>
      </p:sp>
      <p:sp>
        <p:nvSpPr>
          <p:cNvPr id="33689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8229600" cy="914400"/>
          </a:xfrm>
        </p:spPr>
        <p:txBody>
          <a:bodyPr/>
          <a:lstStyle/>
          <a:p>
            <a:r>
              <a:rPr lang="en-US" altLang="zh-CN" sz="3200" b="1">
                <a:solidFill>
                  <a:schemeClr val="tx1"/>
                </a:solidFill>
                <a:ea typeface="宋体" panose="02010600030101010101" pitchFamily="2" charset="-122"/>
              </a:rPr>
              <a:t>Grammars for Syntax Definition</a:t>
            </a:r>
            <a:br>
              <a:rPr lang="en-US" altLang="zh-CN" sz="3200" b="1">
                <a:solidFill>
                  <a:schemeClr val="tx1"/>
                </a:solidFill>
                <a:ea typeface="宋体" panose="02010600030101010101" pitchFamily="2" charset="-122"/>
              </a:rPr>
            </a:br>
            <a:r>
              <a:rPr lang="en-US" altLang="zh-CN" sz="3200" b="1">
                <a:solidFill>
                  <a:schemeClr val="tx1"/>
                </a:solidFill>
                <a:ea typeface="宋体" panose="02010600030101010101" pitchFamily="2" charset="-122"/>
              </a:rPr>
              <a:t>Example CFG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336900" name="Text Box 4"/>
          <p:cNvSpPr txBox="1">
            <a:spLocks noChangeArrowheads="1"/>
          </p:cNvSpPr>
          <p:nvPr/>
        </p:nvSpPr>
        <p:spPr bwMode="auto">
          <a:xfrm>
            <a:off x="1676400" y="1752600"/>
            <a:ext cx="5638800" cy="2443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list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list + digit</a:t>
            </a:r>
          </a:p>
          <a:p>
            <a:pPr algn="l" eaLnBrk="0" hangingPunct="0">
              <a:spcBef>
                <a:spcPct val="50000"/>
              </a:spcBef>
            </a:pP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list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list - digit</a:t>
            </a:r>
          </a:p>
          <a:p>
            <a:pPr algn="l" eaLnBrk="0" hangingPunct="0">
              <a:spcBef>
                <a:spcPct val="50000"/>
              </a:spcBef>
            </a:pP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list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digit</a:t>
            </a:r>
          </a:p>
          <a:p>
            <a:pPr algn="l" eaLnBrk="0" hangingPunct="0">
              <a:spcBef>
                <a:spcPct val="50000"/>
              </a:spcBef>
            </a:pP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digit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0 | 1 | 2 | 3 | 4 | 5 | 6 | 7 | 8 | 9</a:t>
            </a:r>
          </a:p>
        </p:txBody>
      </p:sp>
      <p:sp>
        <p:nvSpPr>
          <p:cNvPr id="336901" name="Rectangle 5"/>
          <p:cNvSpPr>
            <a:spLocks noChangeArrowheads="1"/>
          </p:cNvSpPr>
          <p:nvPr/>
        </p:nvSpPr>
        <p:spPr bwMode="auto">
          <a:xfrm>
            <a:off x="1524000" y="1752600"/>
            <a:ext cx="6096000" cy="25146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6902" name="Rectangle 6"/>
          <p:cNvSpPr>
            <a:spLocks noChangeArrowheads="1"/>
          </p:cNvSpPr>
          <p:nvPr/>
        </p:nvSpPr>
        <p:spPr bwMode="auto">
          <a:xfrm>
            <a:off x="1447800" y="4419600"/>
            <a:ext cx="62484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buFont typeface="Wingdings" panose="05000000000000000000" pitchFamily="2" charset="2"/>
              <a:buChar char="ü"/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the “|” means OR</a:t>
            </a:r>
          </a:p>
          <a:p>
            <a:pPr algn="l">
              <a:buFont typeface="Wingdings" panose="05000000000000000000" pitchFamily="2" charset="2"/>
              <a:buChar char="ü"/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So we could have written:</a:t>
            </a:r>
          </a:p>
          <a:p>
            <a:pPr algn="l">
              <a:buFont typeface="Wingdings" panose="05000000000000000000" pitchFamily="2" charset="2"/>
              <a:buNone/>
            </a:pP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list 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list + digit | list - digit | digit</a:t>
            </a:r>
            <a:endParaRPr lang="en-US" altLang="zh-CN" sz="2400" b="1">
              <a:latin typeface="Times New Roman" panose="02020603050405020304" pitchFamily="18" charset="0"/>
              <a:ea typeface="宋体" panose="02010600030101010101" pitchFamily="2" charset="-122"/>
              <a:sym typeface="Math1" pitchFamily="2" charset="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8151D-53DE-4EBA-8E64-78274CD4E73E}" type="slidenum">
              <a:rPr lang="zh-CN" altLang="en-US"/>
              <a:pPr/>
              <a:t>4</a:t>
            </a:fld>
            <a:endParaRPr lang="en-US" altLang="zh-CN"/>
          </a:p>
        </p:txBody>
      </p:sp>
      <p:sp>
        <p:nvSpPr>
          <p:cNvPr id="33382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8229600" cy="914400"/>
          </a:xfrm>
        </p:spPr>
        <p:txBody>
          <a:bodyPr/>
          <a:lstStyle/>
          <a:p>
            <a:r>
              <a:rPr lang="en-US" altLang="zh-CN" b="1">
                <a:effectLst/>
                <a:ea typeface="宋体" panose="02010600030101010101" pitchFamily="2" charset="-122"/>
              </a:rPr>
              <a:t>Grammars are Used to Derive Strings: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33828" name="Text Box 4"/>
          <p:cNvSpPr txBox="1">
            <a:spLocks noChangeArrowheads="1"/>
          </p:cNvSpPr>
          <p:nvPr/>
        </p:nvSpPr>
        <p:spPr bwMode="auto">
          <a:xfrm>
            <a:off x="1219200" y="2362200"/>
            <a:ext cx="3429000" cy="3195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</a:rPr>
              <a:t>list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</a:t>
            </a:r>
            <a:r>
              <a:rPr lang="en-US" altLang="zh-CN" sz="2400" b="1" i="1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list </a:t>
            </a: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+</a:t>
            </a:r>
            <a:r>
              <a:rPr lang="en-US" altLang="zh-CN" sz="2400" b="1" i="1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</a:t>
            </a:r>
            <a:r>
              <a:rPr lang="en-US" altLang="zh-CN" sz="2400" b="1" i="1">
                <a:solidFill>
                  <a:srgbClr val="00CC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digit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</a:t>
            </a:r>
          </a:p>
          <a:p>
            <a:pPr algn="l" eaLnBrk="0" hangingPunct="0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     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 </a:t>
            </a:r>
            <a:r>
              <a:rPr lang="en-US" altLang="zh-CN" sz="2400" b="1" i="1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list</a:t>
            </a:r>
            <a:r>
              <a:rPr lang="en-US" altLang="zh-CN" sz="2400" b="1" i="1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- </a:t>
            </a:r>
            <a:r>
              <a:rPr lang="en-US" altLang="zh-CN" sz="2400" b="1" i="1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digit</a:t>
            </a: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+ </a:t>
            </a:r>
            <a:r>
              <a:rPr lang="en-US" altLang="zh-CN" sz="2400" b="1" i="1">
                <a:solidFill>
                  <a:srgbClr val="00CC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digit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</a:t>
            </a:r>
          </a:p>
          <a:p>
            <a:pPr algn="l" eaLnBrk="0" hangingPunct="0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     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 </a:t>
            </a:r>
            <a:r>
              <a:rPr lang="en-US" altLang="zh-CN" sz="2400" b="1" i="1">
                <a:solidFill>
                  <a:srgbClr val="FF66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digit</a:t>
            </a: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- </a:t>
            </a:r>
            <a:r>
              <a:rPr lang="en-US" altLang="zh-CN" sz="2400" b="1" i="1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digit</a:t>
            </a: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+ </a:t>
            </a:r>
            <a:r>
              <a:rPr lang="en-US" altLang="zh-CN" sz="2400" b="1" i="1">
                <a:solidFill>
                  <a:srgbClr val="00CC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digit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</a:t>
            </a:r>
          </a:p>
          <a:p>
            <a:pPr algn="l" eaLnBrk="0" hangingPunct="0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     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</a:t>
            </a:r>
            <a:r>
              <a:rPr lang="en-US" altLang="zh-CN" sz="2400" b="1">
                <a:solidFill>
                  <a:srgbClr val="FF66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9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- </a:t>
            </a:r>
            <a:r>
              <a:rPr lang="en-US" altLang="zh-CN" sz="2400" b="1" i="1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digit </a:t>
            </a: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+ </a:t>
            </a:r>
            <a:r>
              <a:rPr lang="en-US" altLang="zh-CN" sz="2400" b="1" i="1">
                <a:solidFill>
                  <a:srgbClr val="00CC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digit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</a:t>
            </a:r>
          </a:p>
          <a:p>
            <a:pPr algn="l" eaLnBrk="0" hangingPunct="0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     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 </a:t>
            </a:r>
            <a:r>
              <a:rPr lang="en-US" altLang="zh-CN" sz="2400" b="1">
                <a:solidFill>
                  <a:srgbClr val="FF66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9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- </a:t>
            </a:r>
            <a:r>
              <a:rPr lang="en-US" altLang="zh-CN" sz="2400" b="1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5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+ </a:t>
            </a:r>
            <a:r>
              <a:rPr lang="en-US" altLang="zh-CN" sz="2400" b="1" i="1">
                <a:solidFill>
                  <a:srgbClr val="00CC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digit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</a:t>
            </a:r>
          </a:p>
          <a:p>
            <a:pPr algn="l" eaLnBrk="0" hangingPunct="0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     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</a:t>
            </a:r>
            <a:r>
              <a:rPr lang="en-US" altLang="zh-CN" sz="2400" b="1">
                <a:solidFill>
                  <a:srgbClr val="FF66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9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- </a:t>
            </a:r>
            <a:r>
              <a:rPr lang="en-US" altLang="zh-CN" sz="2400" b="1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5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+ </a:t>
            </a:r>
            <a:r>
              <a:rPr lang="en-US" altLang="zh-CN" sz="2400" b="1">
                <a:solidFill>
                  <a:srgbClr val="00CC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</a:t>
            </a:r>
          </a:p>
        </p:txBody>
      </p:sp>
      <p:sp>
        <p:nvSpPr>
          <p:cNvPr id="333829" name="Rectangle 5"/>
          <p:cNvSpPr>
            <a:spLocks noChangeArrowheads="1"/>
          </p:cNvSpPr>
          <p:nvPr/>
        </p:nvSpPr>
        <p:spPr bwMode="auto">
          <a:xfrm>
            <a:off x="1143000" y="2286000"/>
            <a:ext cx="7086600" cy="3429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3830" name="Text Box 6"/>
          <p:cNvSpPr txBox="1">
            <a:spLocks noChangeArrowheads="1"/>
          </p:cNvSpPr>
          <p:nvPr/>
        </p:nvSpPr>
        <p:spPr bwMode="auto">
          <a:xfrm>
            <a:off x="5029200" y="2362200"/>
            <a:ext cx="3429000" cy="3195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P1 :  </a:t>
            </a: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</a:rPr>
              <a:t>list 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list + digit</a:t>
            </a:r>
          </a:p>
          <a:p>
            <a:pPr algn="l" eaLnBrk="0" hangingPunct="0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P2 : </a:t>
            </a: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list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 </a:t>
            </a: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list - digit</a:t>
            </a:r>
          </a:p>
          <a:p>
            <a:pPr algn="l" eaLnBrk="0" hangingPunct="0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P3 :  </a:t>
            </a: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list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 </a:t>
            </a: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digit</a:t>
            </a:r>
          </a:p>
          <a:p>
            <a:pPr algn="l" eaLnBrk="0" hangingPunct="0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P4 : </a:t>
            </a: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digit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 9</a:t>
            </a:r>
          </a:p>
          <a:p>
            <a:pPr algn="l" eaLnBrk="0" hangingPunct="0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P4 : </a:t>
            </a: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digit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 5</a:t>
            </a:r>
          </a:p>
          <a:p>
            <a:pPr algn="l" eaLnBrk="0" hangingPunct="0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P4 : </a:t>
            </a: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digit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 2</a:t>
            </a:r>
          </a:p>
        </p:txBody>
      </p:sp>
      <p:sp>
        <p:nvSpPr>
          <p:cNvPr id="333831" name="Rectangle 7"/>
          <p:cNvSpPr>
            <a:spLocks noChangeArrowheads="1"/>
          </p:cNvSpPr>
          <p:nvPr/>
        </p:nvSpPr>
        <p:spPr bwMode="auto">
          <a:xfrm>
            <a:off x="1066800" y="1295400"/>
            <a:ext cx="74676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Using the CFG defined on the previous slide, we can derive the string:      9 - 5 + 2     as follows: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2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2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1A6D2-8297-4C69-BE56-FAABF922BE85}" type="slidenum">
              <a:rPr lang="zh-CN" altLang="en-US"/>
              <a:pPr/>
              <a:t>5</a:t>
            </a:fld>
            <a:endParaRPr lang="en-US" altLang="zh-CN"/>
          </a:p>
        </p:txBody>
      </p:sp>
      <p:sp>
        <p:nvSpPr>
          <p:cNvPr id="33792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229600" cy="838200"/>
          </a:xfrm>
        </p:spPr>
        <p:txBody>
          <a:bodyPr/>
          <a:lstStyle/>
          <a:p>
            <a:r>
              <a:rPr lang="en-US" altLang="zh-CN" b="1">
                <a:effectLst/>
                <a:ea typeface="宋体" panose="02010600030101010101" pitchFamily="2" charset="-122"/>
              </a:rPr>
              <a:t>Grammars are Used to Derive Strings: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37930" name="Text Box 10"/>
          <p:cNvSpPr txBox="1">
            <a:spLocks noChangeArrowheads="1"/>
          </p:cNvSpPr>
          <p:nvPr/>
        </p:nvSpPr>
        <p:spPr bwMode="auto">
          <a:xfrm>
            <a:off x="762000" y="1219200"/>
            <a:ext cx="8001000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This derivation could also be represented via a Parse Tree</a:t>
            </a:r>
          </a:p>
          <a:p>
            <a:pPr eaLnBrk="0" hangingPunct="0">
              <a:lnSpc>
                <a:spcPct val="70000"/>
              </a:lnSpc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(parents on left,  children on right)</a:t>
            </a:r>
            <a:endParaRPr lang="en-US" altLang="zh-CN" sz="28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37931" name="Group 11"/>
          <p:cNvGrpSpPr>
            <a:grpSpLocks/>
          </p:cNvGrpSpPr>
          <p:nvPr/>
        </p:nvGrpSpPr>
        <p:grpSpPr bwMode="auto">
          <a:xfrm>
            <a:off x="3048000" y="2286000"/>
            <a:ext cx="5867400" cy="3571875"/>
            <a:chOff x="768" y="3696"/>
            <a:chExt cx="2160" cy="1816"/>
          </a:xfrm>
        </p:grpSpPr>
        <p:sp>
          <p:nvSpPr>
            <p:cNvPr id="337932" name="Text Box 12"/>
            <p:cNvSpPr txBox="1">
              <a:spLocks noChangeArrowheads="1"/>
            </p:cNvSpPr>
            <p:nvPr/>
          </p:nvSpPr>
          <p:spPr bwMode="auto">
            <a:xfrm>
              <a:off x="1824" y="3696"/>
              <a:ext cx="528" cy="2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list</a:t>
              </a:r>
            </a:p>
          </p:txBody>
        </p:sp>
        <p:sp>
          <p:nvSpPr>
            <p:cNvPr id="337933" name="Text Box 13"/>
            <p:cNvSpPr txBox="1">
              <a:spLocks noChangeArrowheads="1"/>
            </p:cNvSpPr>
            <p:nvPr/>
          </p:nvSpPr>
          <p:spPr bwMode="auto">
            <a:xfrm>
              <a:off x="2400" y="4032"/>
              <a:ext cx="528" cy="2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00CC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digit</a:t>
              </a:r>
              <a:endPara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7934" name="Text Box 14"/>
            <p:cNvSpPr txBox="1">
              <a:spLocks noChangeArrowheads="1"/>
            </p:cNvSpPr>
            <p:nvPr/>
          </p:nvSpPr>
          <p:spPr bwMode="auto">
            <a:xfrm>
              <a:off x="1728" y="4463"/>
              <a:ext cx="528" cy="2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FF505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digit</a:t>
              </a:r>
              <a:endPara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7935" name="Text Box 15"/>
            <p:cNvSpPr txBox="1">
              <a:spLocks noChangeArrowheads="1"/>
            </p:cNvSpPr>
            <p:nvPr/>
          </p:nvSpPr>
          <p:spPr bwMode="auto">
            <a:xfrm>
              <a:off x="1296" y="4032"/>
              <a:ext cx="528" cy="2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0066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list</a:t>
              </a:r>
              <a:endPara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7936" name="Text Box 16"/>
            <p:cNvSpPr txBox="1">
              <a:spLocks noChangeArrowheads="1"/>
            </p:cNvSpPr>
            <p:nvPr/>
          </p:nvSpPr>
          <p:spPr bwMode="auto">
            <a:xfrm>
              <a:off x="768" y="4944"/>
              <a:ext cx="528" cy="2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FF66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digit</a:t>
              </a:r>
              <a:endPara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7937" name="Text Box 17"/>
            <p:cNvSpPr txBox="1">
              <a:spLocks noChangeArrowheads="1"/>
            </p:cNvSpPr>
            <p:nvPr/>
          </p:nvSpPr>
          <p:spPr bwMode="auto">
            <a:xfrm>
              <a:off x="768" y="4463"/>
              <a:ext cx="528" cy="2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FF505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list</a:t>
              </a:r>
              <a:endPara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7938" name="Text Box 18"/>
            <p:cNvSpPr txBox="1">
              <a:spLocks noChangeArrowheads="1"/>
            </p:cNvSpPr>
            <p:nvPr/>
          </p:nvSpPr>
          <p:spPr bwMode="auto">
            <a:xfrm>
              <a:off x="912" y="5279"/>
              <a:ext cx="28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400" b="1">
                  <a:solidFill>
                    <a:srgbClr val="FF66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9</a:t>
              </a:r>
            </a:p>
          </p:txBody>
        </p:sp>
        <p:sp>
          <p:nvSpPr>
            <p:cNvPr id="337939" name="Text Box 19"/>
            <p:cNvSpPr txBox="1">
              <a:spLocks noChangeArrowheads="1"/>
            </p:cNvSpPr>
            <p:nvPr/>
          </p:nvSpPr>
          <p:spPr bwMode="auto">
            <a:xfrm>
              <a:off x="1872" y="4800"/>
              <a:ext cx="288" cy="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400" b="1">
                  <a:solidFill>
                    <a:srgbClr val="FF505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7940" name="Text Box 20"/>
            <p:cNvSpPr txBox="1">
              <a:spLocks noChangeArrowheads="1"/>
            </p:cNvSpPr>
            <p:nvPr/>
          </p:nvSpPr>
          <p:spPr bwMode="auto">
            <a:xfrm>
              <a:off x="2544" y="4368"/>
              <a:ext cx="28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400" b="1">
                  <a:solidFill>
                    <a:srgbClr val="00CC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337941" name="Text Box 21"/>
            <p:cNvSpPr txBox="1">
              <a:spLocks noChangeArrowheads="1"/>
            </p:cNvSpPr>
            <p:nvPr/>
          </p:nvSpPr>
          <p:spPr bwMode="auto">
            <a:xfrm>
              <a:off x="1392" y="4416"/>
              <a:ext cx="288" cy="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-</a:t>
              </a:r>
            </a:p>
          </p:txBody>
        </p:sp>
        <p:sp>
          <p:nvSpPr>
            <p:cNvPr id="337942" name="Text Box 22"/>
            <p:cNvSpPr txBox="1">
              <a:spLocks noChangeArrowheads="1"/>
            </p:cNvSpPr>
            <p:nvPr/>
          </p:nvSpPr>
          <p:spPr bwMode="auto">
            <a:xfrm>
              <a:off x="1968" y="4080"/>
              <a:ext cx="28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337943" name="Line 23"/>
            <p:cNvSpPr>
              <a:spLocks noChangeShapeType="1"/>
            </p:cNvSpPr>
            <p:nvPr/>
          </p:nvSpPr>
          <p:spPr bwMode="auto">
            <a:xfrm flipH="1">
              <a:off x="1680" y="3888"/>
              <a:ext cx="28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7944" name="Line 24"/>
            <p:cNvSpPr>
              <a:spLocks noChangeShapeType="1"/>
            </p:cNvSpPr>
            <p:nvPr/>
          </p:nvSpPr>
          <p:spPr bwMode="auto">
            <a:xfrm flipH="1" flipV="1">
              <a:off x="2208" y="3888"/>
              <a:ext cx="28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7945" name="Line 25"/>
            <p:cNvSpPr>
              <a:spLocks noChangeShapeType="1"/>
            </p:cNvSpPr>
            <p:nvPr/>
          </p:nvSpPr>
          <p:spPr bwMode="auto">
            <a:xfrm flipH="1">
              <a:off x="1104" y="4272"/>
              <a:ext cx="28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7946" name="Line 26"/>
            <p:cNvSpPr>
              <a:spLocks noChangeShapeType="1"/>
            </p:cNvSpPr>
            <p:nvPr/>
          </p:nvSpPr>
          <p:spPr bwMode="auto">
            <a:xfrm flipH="1" flipV="1">
              <a:off x="1632" y="4272"/>
              <a:ext cx="28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7947" name="Line 27"/>
            <p:cNvSpPr>
              <a:spLocks noChangeShapeType="1"/>
            </p:cNvSpPr>
            <p:nvPr/>
          </p:nvSpPr>
          <p:spPr bwMode="auto">
            <a:xfrm>
              <a:off x="2112" y="393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7948" name="Line 28"/>
            <p:cNvSpPr>
              <a:spLocks noChangeShapeType="1"/>
            </p:cNvSpPr>
            <p:nvPr/>
          </p:nvSpPr>
          <p:spPr bwMode="auto">
            <a:xfrm>
              <a:off x="1056" y="518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7949" name="Line 29"/>
            <p:cNvSpPr>
              <a:spLocks noChangeShapeType="1"/>
            </p:cNvSpPr>
            <p:nvPr/>
          </p:nvSpPr>
          <p:spPr bwMode="auto">
            <a:xfrm>
              <a:off x="2016" y="470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7950" name="Line 30"/>
            <p:cNvSpPr>
              <a:spLocks noChangeShapeType="1"/>
            </p:cNvSpPr>
            <p:nvPr/>
          </p:nvSpPr>
          <p:spPr bwMode="auto">
            <a:xfrm>
              <a:off x="2688" y="42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7951" name="Line 31"/>
            <p:cNvSpPr>
              <a:spLocks noChangeShapeType="1"/>
            </p:cNvSpPr>
            <p:nvPr/>
          </p:nvSpPr>
          <p:spPr bwMode="auto">
            <a:xfrm>
              <a:off x="1536" y="42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7952" name="Line 32"/>
            <p:cNvSpPr>
              <a:spLocks noChangeShapeType="1"/>
            </p:cNvSpPr>
            <p:nvPr/>
          </p:nvSpPr>
          <p:spPr bwMode="auto">
            <a:xfrm>
              <a:off x="1056" y="470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37955" name="Text Box 35"/>
          <p:cNvSpPr txBox="1">
            <a:spLocks noChangeArrowheads="1"/>
          </p:cNvSpPr>
          <p:nvPr/>
        </p:nvSpPr>
        <p:spPr bwMode="auto">
          <a:xfrm>
            <a:off x="685800" y="2286000"/>
            <a:ext cx="7180263" cy="268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</a:rPr>
              <a:t>list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</a:t>
            </a:r>
            <a:r>
              <a:rPr lang="en-US" altLang="zh-CN" b="1" i="1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list </a:t>
            </a: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+</a:t>
            </a:r>
            <a:r>
              <a:rPr lang="en-US" altLang="zh-CN" b="1" i="1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</a:t>
            </a:r>
            <a:r>
              <a:rPr lang="en-US" altLang="zh-CN" b="1" i="1">
                <a:solidFill>
                  <a:srgbClr val="00CC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digit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</a:t>
            </a:r>
          </a:p>
          <a:p>
            <a:pPr algn="l" eaLnBrk="0" hangingPunct="0"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    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 </a:t>
            </a:r>
            <a:r>
              <a:rPr lang="en-US" altLang="zh-CN" b="1" i="1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list</a:t>
            </a:r>
            <a:r>
              <a:rPr lang="en-US" altLang="zh-CN" b="1" i="1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- </a:t>
            </a:r>
            <a:r>
              <a:rPr lang="en-US" altLang="zh-CN" b="1" i="1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digit</a:t>
            </a: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+ </a:t>
            </a:r>
            <a:r>
              <a:rPr lang="en-US" altLang="zh-CN" b="1" i="1">
                <a:solidFill>
                  <a:srgbClr val="00CC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digit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</a:t>
            </a:r>
          </a:p>
          <a:p>
            <a:pPr algn="l" eaLnBrk="0" hangingPunct="0"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    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 </a:t>
            </a:r>
            <a:r>
              <a:rPr lang="en-US" altLang="zh-CN" b="1" i="1">
                <a:solidFill>
                  <a:srgbClr val="FF66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digit</a:t>
            </a: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- </a:t>
            </a:r>
            <a:r>
              <a:rPr lang="en-US" altLang="zh-CN" b="1" i="1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digit</a:t>
            </a: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+ </a:t>
            </a:r>
            <a:r>
              <a:rPr lang="en-US" altLang="zh-CN" b="1" i="1">
                <a:solidFill>
                  <a:srgbClr val="00CC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digit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</a:t>
            </a:r>
          </a:p>
          <a:p>
            <a:pPr algn="l" eaLnBrk="0" hangingPunct="0"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    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</a:t>
            </a:r>
            <a:r>
              <a:rPr lang="en-US" altLang="zh-CN" b="1">
                <a:solidFill>
                  <a:srgbClr val="FF66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9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- </a:t>
            </a:r>
            <a:r>
              <a:rPr lang="en-US" altLang="zh-CN" b="1" i="1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digit </a:t>
            </a: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+ </a:t>
            </a:r>
            <a:r>
              <a:rPr lang="en-US" altLang="zh-CN" b="1" i="1">
                <a:solidFill>
                  <a:srgbClr val="00CC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digit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</a:t>
            </a:r>
          </a:p>
          <a:p>
            <a:pPr algn="l" eaLnBrk="0" hangingPunct="0"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    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 </a:t>
            </a:r>
            <a:r>
              <a:rPr lang="en-US" altLang="zh-CN" b="1">
                <a:solidFill>
                  <a:srgbClr val="FF66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9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- </a:t>
            </a:r>
            <a:r>
              <a:rPr lang="en-US" altLang="zh-CN" b="1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5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+ </a:t>
            </a:r>
            <a:r>
              <a:rPr lang="en-US" altLang="zh-CN" b="1" i="1">
                <a:solidFill>
                  <a:srgbClr val="00CC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digit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</a:t>
            </a:r>
          </a:p>
          <a:p>
            <a:pPr algn="l" eaLnBrk="0" hangingPunct="0"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    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</a:t>
            </a:r>
            <a:r>
              <a:rPr lang="en-US" altLang="zh-CN" b="1">
                <a:solidFill>
                  <a:srgbClr val="FF66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9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- </a:t>
            </a:r>
            <a:r>
              <a:rPr lang="en-US" altLang="zh-CN" b="1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5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+ </a:t>
            </a:r>
            <a:r>
              <a:rPr lang="en-US" altLang="zh-CN" b="1">
                <a:solidFill>
                  <a:srgbClr val="00CC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2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10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570A0-A6D6-4192-BAB8-92408000792F}" type="slidenum">
              <a:rPr lang="zh-CN" altLang="en-US"/>
              <a:pPr/>
              <a:t>6</a:t>
            </a:fld>
            <a:endParaRPr lang="en-US" altLang="zh-CN"/>
          </a:p>
        </p:txBody>
      </p:sp>
      <p:sp>
        <p:nvSpPr>
          <p:cNvPr id="334851" name="Text Box 3"/>
          <p:cNvSpPr txBox="1">
            <a:spLocks noChangeArrowheads="1"/>
          </p:cNvSpPr>
          <p:nvPr>
            <p:ph type="title"/>
          </p:nvPr>
        </p:nvSpPr>
        <p:spPr>
          <a:xfrm>
            <a:off x="533400" y="228600"/>
            <a:ext cx="8229600" cy="838200"/>
          </a:xfrm>
          <a:noFill/>
          <a:ln/>
        </p:spPr>
        <p:txBody>
          <a:bodyPr lIns="92075" tIns="46038" rIns="92075" bIns="46038"/>
          <a:lstStyle/>
          <a:p>
            <a:pPr>
              <a:spcBef>
                <a:spcPct val="50000"/>
              </a:spcBef>
            </a:pPr>
            <a:r>
              <a:rPr lang="en-US" altLang="zh-CN" b="1">
                <a:effectLst/>
                <a:ea typeface="宋体" panose="02010600030101010101" pitchFamily="2" charset="-122"/>
              </a:rPr>
              <a:t>A More Complex Grammar</a:t>
            </a:r>
            <a:endParaRPr lang="en-US" altLang="zh-CN" sz="4000" b="1">
              <a:effectLst/>
              <a:ea typeface="宋体" panose="02010600030101010101" pitchFamily="2" charset="-122"/>
            </a:endParaRPr>
          </a:p>
        </p:txBody>
      </p:sp>
      <p:sp>
        <p:nvSpPr>
          <p:cNvPr id="334852" name="Rectangle 4"/>
          <p:cNvSpPr>
            <a:spLocks noChangeArrowheads="1"/>
          </p:cNvSpPr>
          <p:nvPr/>
        </p:nvSpPr>
        <p:spPr bwMode="auto">
          <a:xfrm>
            <a:off x="2149475" y="2016125"/>
            <a:ext cx="5013325" cy="18700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4853" name="Text Box 5"/>
          <p:cNvSpPr txBox="1">
            <a:spLocks noChangeArrowheads="1"/>
          </p:cNvSpPr>
          <p:nvPr/>
        </p:nvSpPr>
        <p:spPr bwMode="auto">
          <a:xfrm>
            <a:off x="1752600" y="4191000"/>
            <a:ext cx="67818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/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What is this grammar for ?</a:t>
            </a:r>
          </a:p>
          <a:p>
            <a:pPr algn="l" eaLnBrk="0" hangingPunct="0"/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What does “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” represent ?</a:t>
            </a:r>
          </a:p>
          <a:p>
            <a:pPr algn="l" eaLnBrk="0" hangingPunct="0"/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What kind of production rule is this ?</a:t>
            </a:r>
          </a:p>
        </p:txBody>
      </p:sp>
      <p:grpSp>
        <p:nvGrpSpPr>
          <p:cNvPr id="334857" name="Group 9"/>
          <p:cNvGrpSpPr>
            <a:grpSpLocks/>
          </p:cNvGrpSpPr>
          <p:nvPr/>
        </p:nvGrpSpPr>
        <p:grpSpPr bwMode="auto">
          <a:xfrm>
            <a:off x="6553200" y="3276600"/>
            <a:ext cx="1727200" cy="1752600"/>
            <a:chOff x="4464" y="2446"/>
            <a:chExt cx="752" cy="954"/>
          </a:xfrm>
        </p:grpSpPr>
        <p:sp>
          <p:nvSpPr>
            <p:cNvPr id="334854" name="Freeform 6"/>
            <p:cNvSpPr>
              <a:spLocks/>
            </p:cNvSpPr>
            <p:nvPr/>
          </p:nvSpPr>
          <p:spPr bwMode="auto">
            <a:xfrm>
              <a:off x="4560" y="2446"/>
              <a:ext cx="656" cy="954"/>
            </a:xfrm>
            <a:custGeom>
              <a:avLst/>
              <a:gdLst>
                <a:gd name="T0" fmla="*/ 336 w 488"/>
                <a:gd name="T1" fmla="*/ 904 h 904"/>
                <a:gd name="T2" fmla="*/ 432 w 488"/>
                <a:gd name="T3" fmla="*/ 136 h 904"/>
                <a:gd name="T4" fmla="*/ 0 w 488"/>
                <a:gd name="T5" fmla="*/ 88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8" h="904">
                  <a:moveTo>
                    <a:pt x="336" y="904"/>
                  </a:moveTo>
                  <a:cubicBezTo>
                    <a:pt x="412" y="588"/>
                    <a:pt x="488" y="272"/>
                    <a:pt x="432" y="136"/>
                  </a:cubicBezTo>
                  <a:cubicBezTo>
                    <a:pt x="376" y="0"/>
                    <a:pt x="72" y="96"/>
                    <a:pt x="0" y="88"/>
                  </a:cubicBez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4855" name="Line 7"/>
            <p:cNvSpPr>
              <a:spLocks noChangeShapeType="1"/>
            </p:cNvSpPr>
            <p:nvPr/>
          </p:nvSpPr>
          <p:spPr bwMode="auto">
            <a:xfrm flipH="1">
              <a:off x="4464" y="2544"/>
              <a:ext cx="129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34856" name="Text Box 8"/>
          <p:cNvSpPr txBox="1">
            <a:spLocks noChangeArrowheads="1"/>
          </p:cNvSpPr>
          <p:nvPr/>
        </p:nvSpPr>
        <p:spPr bwMode="auto">
          <a:xfrm>
            <a:off x="2133600" y="2133600"/>
            <a:ext cx="52578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</a:rPr>
              <a:t>block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</a:t>
            </a:r>
            <a:r>
              <a:rPr lang="en-US" altLang="zh-CN" sz="2400" b="1" u="sng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begin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 </a:t>
            </a: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opt_stmts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</a:t>
            </a:r>
            <a:r>
              <a:rPr lang="en-US" altLang="zh-CN" sz="2400" b="1" u="sng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end</a:t>
            </a:r>
            <a:endParaRPr lang="en-US" altLang="zh-CN" sz="2400" b="1">
              <a:latin typeface="Times New Roman" panose="02020603050405020304" pitchFamily="18" charset="0"/>
              <a:ea typeface="宋体" panose="02010600030101010101" pitchFamily="2" charset="-122"/>
              <a:sym typeface="Math1" pitchFamily="2" charset="2"/>
            </a:endParaRPr>
          </a:p>
          <a:p>
            <a:pPr algn="l" eaLnBrk="0" hangingPunct="0">
              <a:spcBef>
                <a:spcPct val="50000"/>
              </a:spcBef>
            </a:pP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opt_stmts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 </a:t>
            </a: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stmt_list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| 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</a:t>
            </a:r>
            <a:endParaRPr lang="en-US" altLang="zh-CN" sz="2400" b="1">
              <a:latin typeface="Times New Roman" panose="02020603050405020304" pitchFamily="18" charset="0"/>
              <a:ea typeface="宋体" panose="02010600030101010101" pitchFamily="2" charset="-122"/>
              <a:sym typeface="Math1" pitchFamily="2" charset="2"/>
            </a:endParaRPr>
          </a:p>
          <a:p>
            <a:pPr algn="l" eaLnBrk="0" hangingPunct="0">
              <a:spcBef>
                <a:spcPct val="50000"/>
              </a:spcBef>
            </a:pP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stmt_list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 </a:t>
            </a: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stmt_list ; stmt | stmt</a:t>
            </a:r>
            <a:endParaRPr lang="en-US" altLang="zh-CN" b="1" i="1">
              <a:latin typeface="Times New Roman" panose="02020603050405020304" pitchFamily="18" charset="0"/>
              <a:ea typeface="宋体" panose="02010600030101010101" pitchFamily="2" charset="-122"/>
              <a:sym typeface="Math1" pitchFamily="2" charset="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116D1-5A19-4B6E-AD6B-6C4825063855}" type="slidenum">
              <a:rPr lang="zh-CN" altLang="en-US"/>
              <a:pPr/>
              <a:t>7</a:t>
            </a:fld>
            <a:endParaRPr lang="en-US" altLang="zh-CN"/>
          </a:p>
        </p:txBody>
      </p:sp>
      <p:sp>
        <p:nvSpPr>
          <p:cNvPr id="33894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8229600" cy="914400"/>
          </a:xfrm>
        </p:spPr>
        <p:txBody>
          <a:bodyPr/>
          <a:lstStyle/>
          <a:p>
            <a:r>
              <a:rPr lang="en-US" altLang="zh-CN" b="1">
                <a:effectLst/>
                <a:ea typeface="宋体" panose="02010600030101010101" pitchFamily="2" charset="-122"/>
              </a:rPr>
              <a:t>Defining a Parse Tree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3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143000"/>
            <a:ext cx="8229600" cy="5324475"/>
          </a:xfrm>
        </p:spPr>
        <p:txBody>
          <a:bodyPr/>
          <a:lstStyle/>
          <a:p>
            <a:pPr>
              <a:lnSpc>
                <a:spcPct val="109000"/>
              </a:lnSpc>
            </a:pPr>
            <a:r>
              <a:rPr lang="en-US" altLang="zh-CN">
                <a:ea typeface="宋体" panose="02010600030101010101" pitchFamily="2" charset="-122"/>
              </a:rPr>
              <a:t>More Formally, a Parse Tree for a CFG Has the Following Properties:</a:t>
            </a:r>
          </a:p>
          <a:p>
            <a:pPr lvl="1">
              <a:lnSpc>
                <a:spcPct val="109000"/>
              </a:lnSpc>
            </a:pPr>
            <a:r>
              <a:rPr lang="en-US" altLang="zh-CN">
                <a:ea typeface="宋体" panose="02010600030101010101" pitchFamily="2" charset="-122"/>
              </a:rPr>
              <a:t>Root Is Labeled With the </a:t>
            </a:r>
            <a:r>
              <a:rPr lang="en-US" altLang="zh-CN">
                <a:solidFill>
                  <a:srgbClr val="00CC00"/>
                </a:solidFill>
                <a:ea typeface="宋体" panose="02010600030101010101" pitchFamily="2" charset="-122"/>
              </a:rPr>
              <a:t>Start Symbol 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lnSpc>
                <a:spcPct val="109000"/>
              </a:lnSpc>
            </a:pPr>
            <a:r>
              <a:rPr lang="en-US" altLang="zh-CN">
                <a:ea typeface="宋体" panose="02010600030101010101" pitchFamily="2" charset="-122"/>
              </a:rPr>
              <a:t>Leaf Node Is a Token or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 </a:t>
            </a:r>
            <a:endParaRPr lang="en-US" altLang="zh-CN">
              <a:ea typeface="宋体" panose="02010600030101010101" pitchFamily="2" charset="-122"/>
              <a:sym typeface="Math1" pitchFamily="2" charset="2"/>
            </a:endParaRPr>
          </a:p>
          <a:p>
            <a:pPr lvl="1">
              <a:lnSpc>
                <a:spcPct val="109000"/>
              </a:lnSpc>
            </a:pPr>
            <a:r>
              <a:rPr lang="en-US" altLang="zh-CN">
                <a:ea typeface="宋体" panose="02010600030101010101" pitchFamily="2" charset="-122"/>
                <a:sym typeface="Math1" pitchFamily="2" charset="2"/>
              </a:rPr>
              <a:t>Interior Node (Now Leaf) Is a </a:t>
            </a:r>
            <a:r>
              <a:rPr lang="en-US" altLang="zh-CN">
                <a:solidFill>
                  <a:srgbClr val="00CC00"/>
                </a:solidFill>
                <a:ea typeface="宋体" panose="02010600030101010101" pitchFamily="2" charset="-122"/>
                <a:sym typeface="Math1" pitchFamily="2" charset="2"/>
              </a:rPr>
              <a:t>Non-Terminal </a:t>
            </a:r>
          </a:p>
          <a:p>
            <a:pPr lvl="1">
              <a:lnSpc>
                <a:spcPct val="109000"/>
              </a:lnSpc>
            </a:pPr>
            <a:r>
              <a:rPr lang="en-US" altLang="zh-CN">
                <a:ea typeface="宋体" panose="02010600030101010101" pitchFamily="2" charset="-122"/>
                <a:sym typeface="Math1" pitchFamily="2" charset="2"/>
              </a:rPr>
              <a:t>If  A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>
                <a:ea typeface="宋体" panose="02010600030101010101" pitchFamily="2" charset="-122"/>
                <a:sym typeface="Math1" pitchFamily="2" charset="2"/>
              </a:rPr>
              <a:t>  x1x2…xn,  Then A Is an Interior;  x1x2…xn Are Children of A and May Be </a:t>
            </a:r>
            <a:r>
              <a:rPr lang="en-US" altLang="zh-CN">
                <a:solidFill>
                  <a:srgbClr val="00CC00"/>
                </a:solidFill>
                <a:ea typeface="宋体" panose="02010600030101010101" pitchFamily="2" charset="-122"/>
                <a:sym typeface="Math1" pitchFamily="2" charset="2"/>
              </a:rPr>
              <a:t>Non</a:t>
            </a:r>
            <a:r>
              <a:rPr lang="en-US" altLang="zh-CN">
                <a:ea typeface="宋体" panose="02010600030101010101" pitchFamily="2" charset="-122"/>
                <a:sym typeface="Math1" pitchFamily="2" charset="2"/>
              </a:rPr>
              <a:t>-</a:t>
            </a:r>
            <a:r>
              <a:rPr lang="en-US" altLang="zh-CN">
                <a:solidFill>
                  <a:srgbClr val="00CC00"/>
                </a:solidFill>
                <a:ea typeface="宋体" panose="02010600030101010101" pitchFamily="2" charset="-122"/>
                <a:sym typeface="Math1" pitchFamily="2" charset="2"/>
              </a:rPr>
              <a:t>Terminals</a:t>
            </a:r>
            <a:r>
              <a:rPr lang="en-US" altLang="zh-CN">
                <a:ea typeface="宋体" panose="02010600030101010101" pitchFamily="2" charset="-122"/>
                <a:sym typeface="Math1" pitchFamily="2" charset="2"/>
              </a:rPr>
              <a:t> or </a:t>
            </a:r>
            <a:r>
              <a:rPr lang="en-US" altLang="zh-CN">
                <a:solidFill>
                  <a:srgbClr val="00CC00"/>
                </a:solidFill>
                <a:ea typeface="宋体" panose="02010600030101010101" pitchFamily="2" charset="-122"/>
                <a:sym typeface="Math1" pitchFamily="2" charset="2"/>
              </a:rPr>
              <a:t>Tokens</a:t>
            </a:r>
            <a:endParaRPr lang="en-US" altLang="zh-CN" sz="2400">
              <a:solidFill>
                <a:srgbClr val="00CC00"/>
              </a:solidFill>
              <a:ea typeface="宋体" panose="02010600030101010101" pitchFamily="2" charset="-122"/>
              <a:sym typeface="Math1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48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4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3C5FD-BD7A-40F0-A8C5-729961602BAD}" type="slidenum">
              <a:rPr lang="zh-CN" altLang="en-US"/>
              <a:pPr/>
              <a:t>8</a:t>
            </a:fld>
            <a:endParaRPr lang="en-US" altLang="zh-CN"/>
          </a:p>
        </p:txBody>
      </p:sp>
      <p:sp>
        <p:nvSpPr>
          <p:cNvPr id="33587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8229600" cy="914400"/>
          </a:xfrm>
        </p:spPr>
        <p:txBody>
          <a:bodyPr/>
          <a:lstStyle/>
          <a:p>
            <a:r>
              <a:rPr lang="en-US" altLang="zh-CN" sz="3200" b="1" u="sng">
                <a:effectLst/>
                <a:ea typeface="宋体" panose="02010600030101010101" pitchFamily="2" charset="-122"/>
              </a:rPr>
              <a:t>Other Important Concepts</a:t>
            </a:r>
            <a:r>
              <a:rPr lang="en-US" altLang="zh-CN" sz="3200" b="1">
                <a:effectLst/>
                <a:ea typeface="宋体" panose="02010600030101010101" pitchFamily="2" charset="-122"/>
              </a:rPr>
              <a:t> </a:t>
            </a:r>
            <a:r>
              <a:rPr lang="en-US" altLang="zh-CN" b="1">
                <a:effectLst/>
                <a:ea typeface="宋体" panose="02010600030101010101" pitchFamily="2" charset="-122"/>
              </a:rPr>
              <a:t/>
            </a:r>
            <a:br>
              <a:rPr lang="en-US" altLang="zh-CN" b="1">
                <a:effectLst/>
                <a:ea typeface="宋体" panose="02010600030101010101" pitchFamily="2" charset="-122"/>
              </a:rPr>
            </a:br>
            <a:r>
              <a:rPr lang="en-US" altLang="zh-CN" sz="3200" b="1">
                <a:effectLst/>
                <a:ea typeface="宋体" panose="02010600030101010101" pitchFamily="2" charset="-122"/>
              </a:rPr>
              <a:t>Ambiguity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grpSp>
        <p:nvGrpSpPr>
          <p:cNvPr id="335875" name="Group 3"/>
          <p:cNvGrpSpPr>
            <a:grpSpLocks/>
          </p:cNvGrpSpPr>
          <p:nvPr/>
        </p:nvGrpSpPr>
        <p:grpSpPr bwMode="auto">
          <a:xfrm>
            <a:off x="1295400" y="2286000"/>
            <a:ext cx="2895600" cy="1768475"/>
            <a:chOff x="144" y="1104"/>
            <a:chExt cx="1824" cy="1114"/>
          </a:xfrm>
        </p:grpSpPr>
        <p:sp>
          <p:nvSpPr>
            <p:cNvPr id="335876" name="Text Box 4"/>
            <p:cNvSpPr txBox="1">
              <a:spLocks noChangeArrowheads="1"/>
            </p:cNvSpPr>
            <p:nvPr/>
          </p:nvSpPr>
          <p:spPr bwMode="auto">
            <a:xfrm>
              <a:off x="144" y="1680"/>
              <a:ext cx="5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b="1" i="1">
                  <a:solidFill>
                    <a:srgbClr val="0066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string</a:t>
              </a:r>
            </a:p>
          </p:txBody>
        </p:sp>
        <p:sp>
          <p:nvSpPr>
            <p:cNvPr id="335877" name="Text Box 5"/>
            <p:cNvSpPr txBox="1">
              <a:spLocks noChangeArrowheads="1"/>
            </p:cNvSpPr>
            <p:nvPr/>
          </p:nvSpPr>
          <p:spPr bwMode="auto">
            <a:xfrm>
              <a:off x="912" y="1680"/>
              <a:ext cx="5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b="1" i="1">
                  <a:solidFill>
                    <a:srgbClr val="0066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string</a:t>
              </a:r>
            </a:p>
          </p:txBody>
        </p:sp>
        <p:sp>
          <p:nvSpPr>
            <p:cNvPr id="335878" name="Text Box 6"/>
            <p:cNvSpPr txBox="1">
              <a:spLocks noChangeArrowheads="1"/>
            </p:cNvSpPr>
            <p:nvPr/>
          </p:nvSpPr>
          <p:spPr bwMode="auto">
            <a:xfrm>
              <a:off x="480" y="1440"/>
              <a:ext cx="5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b="1" i="1">
                  <a:solidFill>
                    <a:srgbClr val="0066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string</a:t>
              </a:r>
            </a:p>
          </p:txBody>
        </p:sp>
        <p:sp>
          <p:nvSpPr>
            <p:cNvPr id="335879" name="Text Box 7"/>
            <p:cNvSpPr txBox="1">
              <a:spLocks noChangeArrowheads="1"/>
            </p:cNvSpPr>
            <p:nvPr/>
          </p:nvSpPr>
          <p:spPr bwMode="auto">
            <a:xfrm>
              <a:off x="1440" y="1440"/>
              <a:ext cx="5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b="1" i="1">
                  <a:solidFill>
                    <a:srgbClr val="0066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string</a:t>
              </a:r>
            </a:p>
          </p:txBody>
        </p:sp>
        <p:sp>
          <p:nvSpPr>
            <p:cNvPr id="335880" name="Text Box 8"/>
            <p:cNvSpPr txBox="1">
              <a:spLocks noChangeArrowheads="1"/>
            </p:cNvSpPr>
            <p:nvPr/>
          </p:nvSpPr>
          <p:spPr bwMode="auto">
            <a:xfrm>
              <a:off x="1008" y="1104"/>
              <a:ext cx="5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b="1" i="1">
                  <a:solidFill>
                    <a:srgbClr val="0066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string</a:t>
              </a:r>
            </a:p>
          </p:txBody>
        </p:sp>
        <p:sp>
          <p:nvSpPr>
            <p:cNvPr id="335881" name="Text Box 9"/>
            <p:cNvSpPr txBox="1">
              <a:spLocks noChangeArrowheads="1"/>
            </p:cNvSpPr>
            <p:nvPr/>
          </p:nvSpPr>
          <p:spPr bwMode="auto">
            <a:xfrm>
              <a:off x="1104" y="1344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335882" name="Text Box 10"/>
            <p:cNvSpPr txBox="1">
              <a:spLocks noChangeArrowheads="1"/>
            </p:cNvSpPr>
            <p:nvPr/>
          </p:nvSpPr>
          <p:spPr bwMode="auto">
            <a:xfrm>
              <a:off x="1536" y="1680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335883" name="Text Box 11"/>
            <p:cNvSpPr txBox="1">
              <a:spLocks noChangeArrowheads="1"/>
            </p:cNvSpPr>
            <p:nvPr/>
          </p:nvSpPr>
          <p:spPr bwMode="auto">
            <a:xfrm>
              <a:off x="576" y="1632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rPr>
                <a:t>-</a:t>
              </a:r>
            </a:p>
          </p:txBody>
        </p:sp>
        <p:sp>
          <p:nvSpPr>
            <p:cNvPr id="335884" name="Text Box 12"/>
            <p:cNvSpPr txBox="1">
              <a:spLocks noChangeArrowheads="1"/>
            </p:cNvSpPr>
            <p:nvPr/>
          </p:nvSpPr>
          <p:spPr bwMode="auto">
            <a:xfrm>
              <a:off x="1008" y="1968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335885" name="Text Box 13"/>
            <p:cNvSpPr txBox="1">
              <a:spLocks noChangeArrowheads="1"/>
            </p:cNvSpPr>
            <p:nvPr/>
          </p:nvSpPr>
          <p:spPr bwMode="auto">
            <a:xfrm>
              <a:off x="240" y="1968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rPr>
                <a:t>9</a:t>
              </a:r>
            </a:p>
          </p:txBody>
        </p:sp>
        <p:sp>
          <p:nvSpPr>
            <p:cNvPr id="335886" name="Line 14"/>
            <p:cNvSpPr>
              <a:spLocks noChangeShapeType="1"/>
            </p:cNvSpPr>
            <p:nvPr/>
          </p:nvSpPr>
          <p:spPr bwMode="auto">
            <a:xfrm>
              <a:off x="336" y="192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5887" name="Line 15"/>
            <p:cNvSpPr>
              <a:spLocks noChangeShapeType="1"/>
            </p:cNvSpPr>
            <p:nvPr/>
          </p:nvSpPr>
          <p:spPr bwMode="auto">
            <a:xfrm>
              <a:off x="1200" y="129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5888" name="Line 16"/>
            <p:cNvSpPr>
              <a:spLocks noChangeShapeType="1"/>
            </p:cNvSpPr>
            <p:nvPr/>
          </p:nvSpPr>
          <p:spPr bwMode="auto">
            <a:xfrm>
              <a:off x="672" y="163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5889" name="Line 17"/>
            <p:cNvSpPr>
              <a:spLocks noChangeShapeType="1"/>
            </p:cNvSpPr>
            <p:nvPr/>
          </p:nvSpPr>
          <p:spPr bwMode="auto">
            <a:xfrm>
              <a:off x="1104" y="187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5890" name="Line 18"/>
            <p:cNvSpPr>
              <a:spLocks noChangeShapeType="1"/>
            </p:cNvSpPr>
            <p:nvPr/>
          </p:nvSpPr>
          <p:spPr bwMode="auto">
            <a:xfrm>
              <a:off x="1632" y="163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5891" name="Line 19"/>
            <p:cNvSpPr>
              <a:spLocks noChangeShapeType="1"/>
            </p:cNvSpPr>
            <p:nvPr/>
          </p:nvSpPr>
          <p:spPr bwMode="auto">
            <a:xfrm>
              <a:off x="1440" y="1296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5892" name="Line 20"/>
            <p:cNvSpPr>
              <a:spLocks noChangeShapeType="1"/>
            </p:cNvSpPr>
            <p:nvPr/>
          </p:nvSpPr>
          <p:spPr bwMode="auto">
            <a:xfrm flipV="1">
              <a:off x="864" y="1296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5893" name="Line 21"/>
            <p:cNvSpPr>
              <a:spLocks noChangeShapeType="1"/>
            </p:cNvSpPr>
            <p:nvPr/>
          </p:nvSpPr>
          <p:spPr bwMode="auto">
            <a:xfrm>
              <a:off x="864" y="1632"/>
              <a:ext cx="14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5894" name="Line 22"/>
            <p:cNvSpPr>
              <a:spLocks noChangeShapeType="1"/>
            </p:cNvSpPr>
            <p:nvPr/>
          </p:nvSpPr>
          <p:spPr bwMode="auto">
            <a:xfrm flipH="1">
              <a:off x="432" y="1680"/>
              <a:ext cx="4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35915" name="Text Box 43"/>
          <p:cNvSpPr txBox="1">
            <a:spLocks noChangeArrowheads="1"/>
          </p:cNvSpPr>
          <p:nvPr/>
        </p:nvSpPr>
        <p:spPr bwMode="auto">
          <a:xfrm>
            <a:off x="2286000" y="5562600"/>
            <a:ext cx="434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400" b="1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Why is this a Problem ?</a:t>
            </a:r>
          </a:p>
        </p:txBody>
      </p:sp>
      <p:sp>
        <p:nvSpPr>
          <p:cNvPr id="335916" name="Text Box 44"/>
          <p:cNvSpPr txBox="1">
            <a:spLocks noChangeArrowheads="1"/>
          </p:cNvSpPr>
          <p:nvPr/>
        </p:nvSpPr>
        <p:spPr bwMode="auto">
          <a:xfrm>
            <a:off x="1600200" y="4267200"/>
            <a:ext cx="5715000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Grammar:</a:t>
            </a:r>
          </a:p>
          <a:p>
            <a:pPr algn="l" eaLnBrk="0" hangingPunct="0">
              <a:spcBef>
                <a:spcPct val="50000"/>
              </a:spcBef>
            </a:pP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</a:rPr>
              <a:t>string</a:t>
            </a:r>
            <a:r>
              <a:rPr lang="en-US" altLang="zh-CN" sz="1800" b="1" i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string + string | string – string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| 0 | 1 | …| 9</a:t>
            </a:r>
          </a:p>
        </p:txBody>
      </p:sp>
      <p:sp>
        <p:nvSpPr>
          <p:cNvPr id="335917" name="Rectangle 45"/>
          <p:cNvSpPr>
            <a:spLocks noChangeArrowheads="1"/>
          </p:cNvSpPr>
          <p:nvPr/>
        </p:nvSpPr>
        <p:spPr bwMode="auto">
          <a:xfrm>
            <a:off x="1600200" y="4267200"/>
            <a:ext cx="5867400" cy="990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5918" name="Rectangle 46"/>
          <p:cNvSpPr>
            <a:spLocks noChangeArrowheads="1"/>
          </p:cNvSpPr>
          <p:nvPr/>
        </p:nvSpPr>
        <p:spPr bwMode="auto">
          <a:xfrm>
            <a:off x="838200" y="1447800"/>
            <a:ext cx="7505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Two derivations (Parse Trees) for the same token string.</a:t>
            </a:r>
          </a:p>
        </p:txBody>
      </p:sp>
      <p:grpSp>
        <p:nvGrpSpPr>
          <p:cNvPr id="335939" name="Group 67"/>
          <p:cNvGrpSpPr>
            <a:grpSpLocks/>
          </p:cNvGrpSpPr>
          <p:nvPr/>
        </p:nvGrpSpPr>
        <p:grpSpPr bwMode="auto">
          <a:xfrm>
            <a:off x="4876800" y="2209800"/>
            <a:ext cx="2895600" cy="1768475"/>
            <a:chOff x="3312" y="1440"/>
            <a:chExt cx="1824" cy="1114"/>
          </a:xfrm>
        </p:grpSpPr>
        <p:sp>
          <p:nvSpPr>
            <p:cNvPr id="335920" name="Text Box 48"/>
            <p:cNvSpPr txBox="1">
              <a:spLocks noChangeArrowheads="1"/>
            </p:cNvSpPr>
            <p:nvPr/>
          </p:nvSpPr>
          <p:spPr bwMode="auto">
            <a:xfrm flipH="1">
              <a:off x="4608" y="2016"/>
              <a:ext cx="5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b="1" i="1">
                  <a:solidFill>
                    <a:srgbClr val="00CC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string</a:t>
              </a:r>
              <a:endParaRPr lang="en-US" altLang="zh-CN" b="1" i="1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5921" name="Text Box 49"/>
            <p:cNvSpPr txBox="1">
              <a:spLocks noChangeArrowheads="1"/>
            </p:cNvSpPr>
            <p:nvPr/>
          </p:nvSpPr>
          <p:spPr bwMode="auto">
            <a:xfrm flipH="1">
              <a:off x="3840" y="2016"/>
              <a:ext cx="5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b="1" i="1">
                  <a:solidFill>
                    <a:srgbClr val="00CC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string</a:t>
              </a:r>
              <a:endParaRPr lang="en-US" altLang="zh-CN" b="1" i="1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5922" name="Text Box 50"/>
            <p:cNvSpPr txBox="1">
              <a:spLocks noChangeArrowheads="1"/>
            </p:cNvSpPr>
            <p:nvPr/>
          </p:nvSpPr>
          <p:spPr bwMode="auto">
            <a:xfrm flipH="1">
              <a:off x="4272" y="1776"/>
              <a:ext cx="5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b="1" i="1">
                  <a:solidFill>
                    <a:srgbClr val="00CC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string</a:t>
              </a:r>
              <a:endParaRPr lang="en-US" altLang="zh-CN" b="1" i="1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5923" name="Text Box 51"/>
            <p:cNvSpPr txBox="1">
              <a:spLocks noChangeArrowheads="1"/>
            </p:cNvSpPr>
            <p:nvPr/>
          </p:nvSpPr>
          <p:spPr bwMode="auto">
            <a:xfrm flipH="1">
              <a:off x="3312" y="1776"/>
              <a:ext cx="5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b="1" i="1">
                  <a:solidFill>
                    <a:srgbClr val="00CC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string</a:t>
              </a:r>
              <a:endParaRPr lang="en-US" altLang="zh-CN" b="1" i="1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5924" name="Text Box 52"/>
            <p:cNvSpPr txBox="1">
              <a:spLocks noChangeArrowheads="1"/>
            </p:cNvSpPr>
            <p:nvPr/>
          </p:nvSpPr>
          <p:spPr bwMode="auto">
            <a:xfrm flipH="1">
              <a:off x="3744" y="1440"/>
              <a:ext cx="5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b="1" i="1">
                  <a:solidFill>
                    <a:srgbClr val="00CC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string</a:t>
              </a:r>
              <a:endParaRPr lang="en-US" altLang="zh-CN" b="1" i="1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5925" name="Text Box 53"/>
            <p:cNvSpPr txBox="1">
              <a:spLocks noChangeArrowheads="1"/>
            </p:cNvSpPr>
            <p:nvPr/>
          </p:nvSpPr>
          <p:spPr bwMode="auto">
            <a:xfrm flipH="1">
              <a:off x="3888" y="1632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rPr>
                <a:t>-</a:t>
              </a:r>
            </a:p>
          </p:txBody>
        </p:sp>
        <p:sp>
          <p:nvSpPr>
            <p:cNvPr id="335926" name="Text Box 54"/>
            <p:cNvSpPr txBox="1">
              <a:spLocks noChangeArrowheads="1"/>
            </p:cNvSpPr>
            <p:nvPr/>
          </p:nvSpPr>
          <p:spPr bwMode="auto">
            <a:xfrm flipH="1">
              <a:off x="3504" y="2016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rPr>
                <a:t>9</a:t>
              </a:r>
            </a:p>
          </p:txBody>
        </p:sp>
        <p:sp>
          <p:nvSpPr>
            <p:cNvPr id="335927" name="Text Box 55"/>
            <p:cNvSpPr txBox="1">
              <a:spLocks noChangeArrowheads="1"/>
            </p:cNvSpPr>
            <p:nvPr/>
          </p:nvSpPr>
          <p:spPr bwMode="auto">
            <a:xfrm flipH="1">
              <a:off x="4464" y="1968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335928" name="Text Box 56"/>
            <p:cNvSpPr txBox="1">
              <a:spLocks noChangeArrowheads="1"/>
            </p:cNvSpPr>
            <p:nvPr/>
          </p:nvSpPr>
          <p:spPr bwMode="auto">
            <a:xfrm flipH="1">
              <a:off x="4032" y="2304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335929" name="Text Box 57"/>
            <p:cNvSpPr txBox="1">
              <a:spLocks noChangeArrowheads="1"/>
            </p:cNvSpPr>
            <p:nvPr/>
          </p:nvSpPr>
          <p:spPr bwMode="auto">
            <a:xfrm flipH="1">
              <a:off x="4800" y="2304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335930" name="Line 58"/>
            <p:cNvSpPr>
              <a:spLocks noChangeShapeType="1"/>
            </p:cNvSpPr>
            <p:nvPr/>
          </p:nvSpPr>
          <p:spPr bwMode="auto">
            <a:xfrm flipH="1">
              <a:off x="4944" y="225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5931" name="Line 59"/>
            <p:cNvSpPr>
              <a:spLocks noChangeShapeType="1"/>
            </p:cNvSpPr>
            <p:nvPr/>
          </p:nvSpPr>
          <p:spPr bwMode="auto">
            <a:xfrm flipH="1">
              <a:off x="3984" y="163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5932" name="Line 60"/>
            <p:cNvSpPr>
              <a:spLocks noChangeShapeType="1"/>
            </p:cNvSpPr>
            <p:nvPr/>
          </p:nvSpPr>
          <p:spPr bwMode="auto">
            <a:xfrm flipH="1">
              <a:off x="4608" y="1968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5933" name="Line 61"/>
            <p:cNvSpPr>
              <a:spLocks noChangeShapeType="1"/>
            </p:cNvSpPr>
            <p:nvPr/>
          </p:nvSpPr>
          <p:spPr bwMode="auto">
            <a:xfrm flipH="1">
              <a:off x="4176" y="2208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5934" name="Line 62"/>
            <p:cNvSpPr>
              <a:spLocks noChangeShapeType="1"/>
            </p:cNvSpPr>
            <p:nvPr/>
          </p:nvSpPr>
          <p:spPr bwMode="auto">
            <a:xfrm flipH="1">
              <a:off x="3648" y="1968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5935" name="Line 63"/>
            <p:cNvSpPr>
              <a:spLocks noChangeShapeType="1"/>
            </p:cNvSpPr>
            <p:nvPr/>
          </p:nvSpPr>
          <p:spPr bwMode="auto">
            <a:xfrm flipH="1">
              <a:off x="3648" y="1632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5936" name="Line 64"/>
            <p:cNvSpPr>
              <a:spLocks noChangeShapeType="1"/>
            </p:cNvSpPr>
            <p:nvPr/>
          </p:nvSpPr>
          <p:spPr bwMode="auto">
            <a:xfrm flipH="1" flipV="1">
              <a:off x="4224" y="1632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5937" name="Line 65"/>
            <p:cNvSpPr>
              <a:spLocks noChangeShapeType="1"/>
            </p:cNvSpPr>
            <p:nvPr/>
          </p:nvSpPr>
          <p:spPr bwMode="auto">
            <a:xfrm flipH="1">
              <a:off x="4272" y="1968"/>
              <a:ext cx="14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5938" name="Line 66"/>
            <p:cNvSpPr>
              <a:spLocks noChangeShapeType="1"/>
            </p:cNvSpPr>
            <p:nvPr/>
          </p:nvSpPr>
          <p:spPr bwMode="auto">
            <a:xfrm>
              <a:off x="4800" y="2016"/>
              <a:ext cx="4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1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52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3AE0-927D-4DD9-9337-AC5A335E9D76}" type="slidenum">
              <a:rPr lang="zh-CN" altLang="en-US"/>
              <a:pPr/>
              <a:t>9</a:t>
            </a:fld>
            <a:endParaRPr lang="en-US" altLang="zh-CN"/>
          </a:p>
        </p:txBody>
      </p:sp>
      <p:sp>
        <p:nvSpPr>
          <p:cNvPr id="34304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8229600" cy="914400"/>
          </a:xfrm>
        </p:spPr>
        <p:txBody>
          <a:bodyPr/>
          <a:lstStyle/>
          <a:p>
            <a:r>
              <a:rPr lang="en-US" altLang="zh-CN" sz="3200" b="1" u="sng">
                <a:effectLst/>
                <a:ea typeface="宋体" panose="02010600030101010101" pitchFamily="2" charset="-122"/>
              </a:rPr>
              <a:t>Other Important Concepts</a:t>
            </a:r>
            <a:r>
              <a:rPr lang="en-US" altLang="zh-CN" sz="3200" b="1">
                <a:effectLst/>
                <a:ea typeface="宋体" panose="02010600030101010101" pitchFamily="2" charset="-122"/>
              </a:rPr>
              <a:t> </a:t>
            </a:r>
            <a:r>
              <a:rPr lang="en-US" altLang="zh-CN" b="1">
                <a:effectLst/>
                <a:ea typeface="宋体" panose="02010600030101010101" pitchFamily="2" charset="-122"/>
              </a:rPr>
              <a:t/>
            </a:r>
            <a:br>
              <a:rPr lang="en-US" altLang="zh-CN" b="1">
                <a:effectLst/>
                <a:ea typeface="宋体" panose="02010600030101010101" pitchFamily="2" charset="-122"/>
              </a:rPr>
            </a:br>
            <a:r>
              <a:rPr lang="en-US" altLang="zh-CN" sz="3200" b="1">
                <a:effectLst/>
                <a:ea typeface="宋体" panose="02010600030101010101" pitchFamily="2" charset="-122"/>
              </a:rPr>
              <a:t>Associativity of Operators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343086" name="Rectangle 46"/>
          <p:cNvSpPr>
            <a:spLocks noChangeArrowheads="1"/>
          </p:cNvSpPr>
          <p:nvPr/>
        </p:nvSpPr>
        <p:spPr bwMode="auto">
          <a:xfrm>
            <a:off x="3276600" y="1143000"/>
            <a:ext cx="22494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Left vs. Right</a:t>
            </a:r>
          </a:p>
        </p:txBody>
      </p:sp>
      <p:grpSp>
        <p:nvGrpSpPr>
          <p:cNvPr id="343109" name="Group 69"/>
          <p:cNvGrpSpPr>
            <a:grpSpLocks/>
          </p:cNvGrpSpPr>
          <p:nvPr/>
        </p:nvGrpSpPr>
        <p:grpSpPr bwMode="auto">
          <a:xfrm flipH="1">
            <a:off x="4572000" y="2057400"/>
            <a:ext cx="3429000" cy="2911475"/>
            <a:chOff x="768" y="3696"/>
            <a:chExt cx="2160" cy="1834"/>
          </a:xfrm>
        </p:grpSpPr>
        <p:sp>
          <p:nvSpPr>
            <p:cNvPr id="343110" name="Text Box 70"/>
            <p:cNvSpPr txBox="1">
              <a:spLocks noChangeArrowheads="1"/>
            </p:cNvSpPr>
            <p:nvPr/>
          </p:nvSpPr>
          <p:spPr bwMode="auto">
            <a:xfrm>
              <a:off x="1824" y="3696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400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right</a:t>
              </a:r>
            </a:p>
          </p:txBody>
        </p:sp>
        <p:sp>
          <p:nvSpPr>
            <p:cNvPr id="343111" name="Text Box 71"/>
            <p:cNvSpPr txBox="1">
              <a:spLocks noChangeArrowheads="1"/>
            </p:cNvSpPr>
            <p:nvPr/>
          </p:nvSpPr>
          <p:spPr bwMode="auto">
            <a:xfrm>
              <a:off x="2400" y="4032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400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letter</a:t>
              </a:r>
            </a:p>
          </p:txBody>
        </p:sp>
        <p:sp>
          <p:nvSpPr>
            <p:cNvPr id="343112" name="Text Box 72"/>
            <p:cNvSpPr txBox="1">
              <a:spLocks noChangeArrowheads="1"/>
            </p:cNvSpPr>
            <p:nvPr/>
          </p:nvSpPr>
          <p:spPr bwMode="auto">
            <a:xfrm>
              <a:off x="1728" y="4464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400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letter</a:t>
              </a:r>
            </a:p>
          </p:txBody>
        </p:sp>
        <p:sp>
          <p:nvSpPr>
            <p:cNvPr id="343113" name="Text Box 73"/>
            <p:cNvSpPr txBox="1">
              <a:spLocks noChangeArrowheads="1"/>
            </p:cNvSpPr>
            <p:nvPr/>
          </p:nvSpPr>
          <p:spPr bwMode="auto">
            <a:xfrm>
              <a:off x="1296" y="4032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400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right</a:t>
              </a:r>
            </a:p>
          </p:txBody>
        </p:sp>
        <p:sp>
          <p:nvSpPr>
            <p:cNvPr id="343114" name="Text Box 74"/>
            <p:cNvSpPr txBox="1">
              <a:spLocks noChangeArrowheads="1"/>
            </p:cNvSpPr>
            <p:nvPr/>
          </p:nvSpPr>
          <p:spPr bwMode="auto">
            <a:xfrm>
              <a:off x="768" y="4944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400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letter</a:t>
              </a:r>
            </a:p>
          </p:txBody>
        </p:sp>
        <p:sp>
          <p:nvSpPr>
            <p:cNvPr id="343115" name="Text Box 75"/>
            <p:cNvSpPr txBox="1">
              <a:spLocks noChangeArrowheads="1"/>
            </p:cNvSpPr>
            <p:nvPr/>
          </p:nvSpPr>
          <p:spPr bwMode="auto">
            <a:xfrm>
              <a:off x="768" y="4464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400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right</a:t>
              </a:r>
            </a:p>
          </p:txBody>
        </p:sp>
        <p:sp>
          <p:nvSpPr>
            <p:cNvPr id="343116" name="Text Box 76"/>
            <p:cNvSpPr txBox="1">
              <a:spLocks noChangeArrowheads="1"/>
            </p:cNvSpPr>
            <p:nvPr/>
          </p:nvSpPr>
          <p:spPr bwMode="auto">
            <a:xfrm>
              <a:off x="912" y="5280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343117" name="Text Box 77"/>
            <p:cNvSpPr txBox="1">
              <a:spLocks noChangeArrowheads="1"/>
            </p:cNvSpPr>
            <p:nvPr/>
          </p:nvSpPr>
          <p:spPr bwMode="auto">
            <a:xfrm>
              <a:off x="1872" y="4800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343118" name="Text Box 78"/>
            <p:cNvSpPr txBox="1">
              <a:spLocks noChangeArrowheads="1"/>
            </p:cNvSpPr>
            <p:nvPr/>
          </p:nvSpPr>
          <p:spPr bwMode="auto">
            <a:xfrm>
              <a:off x="2544" y="4368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b="1">
                <a:solidFill>
                  <a:srgbClr val="00CC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3119" name="Text Box 79"/>
            <p:cNvSpPr txBox="1">
              <a:spLocks noChangeArrowheads="1"/>
            </p:cNvSpPr>
            <p:nvPr/>
          </p:nvSpPr>
          <p:spPr bwMode="auto">
            <a:xfrm>
              <a:off x="1392" y="4416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rPr>
                <a:t>=</a:t>
              </a:r>
            </a:p>
          </p:txBody>
        </p:sp>
        <p:sp>
          <p:nvSpPr>
            <p:cNvPr id="343120" name="Text Box 80"/>
            <p:cNvSpPr txBox="1">
              <a:spLocks noChangeArrowheads="1"/>
            </p:cNvSpPr>
            <p:nvPr/>
          </p:nvSpPr>
          <p:spPr bwMode="auto">
            <a:xfrm>
              <a:off x="1968" y="4080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rPr>
                <a:t>=</a:t>
              </a:r>
            </a:p>
          </p:txBody>
        </p:sp>
        <p:sp>
          <p:nvSpPr>
            <p:cNvPr id="343121" name="Line 81"/>
            <p:cNvSpPr>
              <a:spLocks noChangeShapeType="1"/>
            </p:cNvSpPr>
            <p:nvPr/>
          </p:nvSpPr>
          <p:spPr bwMode="auto">
            <a:xfrm flipH="1">
              <a:off x="1680" y="3888"/>
              <a:ext cx="28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3122" name="Line 82"/>
            <p:cNvSpPr>
              <a:spLocks noChangeShapeType="1"/>
            </p:cNvSpPr>
            <p:nvPr/>
          </p:nvSpPr>
          <p:spPr bwMode="auto">
            <a:xfrm flipH="1" flipV="1">
              <a:off x="2208" y="3888"/>
              <a:ext cx="28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3123" name="Line 83"/>
            <p:cNvSpPr>
              <a:spLocks noChangeShapeType="1"/>
            </p:cNvSpPr>
            <p:nvPr/>
          </p:nvSpPr>
          <p:spPr bwMode="auto">
            <a:xfrm flipH="1">
              <a:off x="1104" y="4272"/>
              <a:ext cx="28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3124" name="Line 84"/>
            <p:cNvSpPr>
              <a:spLocks noChangeShapeType="1"/>
            </p:cNvSpPr>
            <p:nvPr/>
          </p:nvSpPr>
          <p:spPr bwMode="auto">
            <a:xfrm flipH="1" flipV="1">
              <a:off x="1632" y="4272"/>
              <a:ext cx="28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3125" name="Line 85"/>
            <p:cNvSpPr>
              <a:spLocks noChangeShapeType="1"/>
            </p:cNvSpPr>
            <p:nvPr/>
          </p:nvSpPr>
          <p:spPr bwMode="auto">
            <a:xfrm>
              <a:off x="2112" y="393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3126" name="Line 86"/>
            <p:cNvSpPr>
              <a:spLocks noChangeShapeType="1"/>
            </p:cNvSpPr>
            <p:nvPr/>
          </p:nvSpPr>
          <p:spPr bwMode="auto">
            <a:xfrm>
              <a:off x="1056" y="518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3127" name="Line 87"/>
            <p:cNvSpPr>
              <a:spLocks noChangeShapeType="1"/>
            </p:cNvSpPr>
            <p:nvPr/>
          </p:nvSpPr>
          <p:spPr bwMode="auto">
            <a:xfrm>
              <a:off x="2016" y="470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3128" name="Line 88"/>
            <p:cNvSpPr>
              <a:spLocks noChangeShapeType="1"/>
            </p:cNvSpPr>
            <p:nvPr/>
          </p:nvSpPr>
          <p:spPr bwMode="auto">
            <a:xfrm>
              <a:off x="2688" y="42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3129" name="Line 89"/>
            <p:cNvSpPr>
              <a:spLocks noChangeShapeType="1"/>
            </p:cNvSpPr>
            <p:nvPr/>
          </p:nvSpPr>
          <p:spPr bwMode="auto">
            <a:xfrm>
              <a:off x="1536" y="42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3130" name="Line 90"/>
            <p:cNvSpPr>
              <a:spLocks noChangeShapeType="1"/>
            </p:cNvSpPr>
            <p:nvPr/>
          </p:nvSpPr>
          <p:spPr bwMode="auto">
            <a:xfrm>
              <a:off x="1056" y="470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43131" name="Text Box 91"/>
          <p:cNvSpPr txBox="1">
            <a:spLocks noChangeArrowheads="1"/>
          </p:cNvSpPr>
          <p:nvPr/>
        </p:nvSpPr>
        <p:spPr bwMode="auto">
          <a:xfrm>
            <a:off x="5257800" y="5105400"/>
            <a:ext cx="3124200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</a:rPr>
              <a:t>right</a:t>
            </a:r>
            <a:r>
              <a:rPr lang="en-US" altLang="zh-CN" sz="18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18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letter = right | letter</a:t>
            </a:r>
          </a:p>
          <a:p>
            <a:pPr algn="l" eaLnBrk="0" hangingPunct="0">
              <a:spcBef>
                <a:spcPct val="50000"/>
              </a:spcBef>
            </a:pP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letter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 a | b | c | …| z</a:t>
            </a:r>
          </a:p>
        </p:txBody>
      </p:sp>
      <p:grpSp>
        <p:nvGrpSpPr>
          <p:cNvPr id="343132" name="Group 92"/>
          <p:cNvGrpSpPr>
            <a:grpSpLocks/>
          </p:cNvGrpSpPr>
          <p:nvPr/>
        </p:nvGrpSpPr>
        <p:grpSpPr bwMode="auto">
          <a:xfrm>
            <a:off x="457200" y="1981200"/>
            <a:ext cx="3429000" cy="2911475"/>
            <a:chOff x="768" y="3696"/>
            <a:chExt cx="2160" cy="1834"/>
          </a:xfrm>
        </p:grpSpPr>
        <p:sp>
          <p:nvSpPr>
            <p:cNvPr id="343133" name="Text Box 93"/>
            <p:cNvSpPr txBox="1">
              <a:spLocks noChangeArrowheads="1"/>
            </p:cNvSpPr>
            <p:nvPr/>
          </p:nvSpPr>
          <p:spPr bwMode="auto">
            <a:xfrm>
              <a:off x="1824" y="3696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400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list</a:t>
              </a:r>
            </a:p>
          </p:txBody>
        </p:sp>
        <p:sp>
          <p:nvSpPr>
            <p:cNvPr id="343134" name="Text Box 94"/>
            <p:cNvSpPr txBox="1">
              <a:spLocks noChangeArrowheads="1"/>
            </p:cNvSpPr>
            <p:nvPr/>
          </p:nvSpPr>
          <p:spPr bwMode="auto">
            <a:xfrm>
              <a:off x="2400" y="4032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400" b="1" i="1">
                  <a:solidFill>
                    <a:srgbClr val="00CC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digit</a:t>
              </a:r>
              <a:endPara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3135" name="Text Box 95"/>
            <p:cNvSpPr txBox="1">
              <a:spLocks noChangeArrowheads="1"/>
            </p:cNvSpPr>
            <p:nvPr/>
          </p:nvSpPr>
          <p:spPr bwMode="auto">
            <a:xfrm>
              <a:off x="1728" y="4464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400" b="1" i="1">
                  <a:solidFill>
                    <a:srgbClr val="FF505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digit</a:t>
              </a:r>
              <a:endPara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3136" name="Text Box 96"/>
            <p:cNvSpPr txBox="1">
              <a:spLocks noChangeArrowheads="1"/>
            </p:cNvSpPr>
            <p:nvPr/>
          </p:nvSpPr>
          <p:spPr bwMode="auto">
            <a:xfrm>
              <a:off x="1296" y="4032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400" b="1" i="1">
                  <a:solidFill>
                    <a:srgbClr val="0066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list</a:t>
              </a:r>
              <a:endPara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3137" name="Text Box 97"/>
            <p:cNvSpPr txBox="1">
              <a:spLocks noChangeArrowheads="1"/>
            </p:cNvSpPr>
            <p:nvPr/>
          </p:nvSpPr>
          <p:spPr bwMode="auto">
            <a:xfrm>
              <a:off x="768" y="4944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400" b="1" i="1">
                  <a:solidFill>
                    <a:srgbClr val="FF66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digit</a:t>
              </a:r>
              <a:endPara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3138" name="Text Box 98"/>
            <p:cNvSpPr txBox="1">
              <a:spLocks noChangeArrowheads="1"/>
            </p:cNvSpPr>
            <p:nvPr/>
          </p:nvSpPr>
          <p:spPr bwMode="auto">
            <a:xfrm>
              <a:off x="768" y="4464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400" b="1" i="1">
                  <a:solidFill>
                    <a:srgbClr val="FF505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list</a:t>
              </a:r>
              <a:endPara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3139" name="Text Box 99"/>
            <p:cNvSpPr txBox="1">
              <a:spLocks noChangeArrowheads="1"/>
            </p:cNvSpPr>
            <p:nvPr/>
          </p:nvSpPr>
          <p:spPr bwMode="auto">
            <a:xfrm>
              <a:off x="912" y="5280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b="1">
                  <a:solidFill>
                    <a:srgbClr val="FF66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9</a:t>
              </a:r>
            </a:p>
          </p:txBody>
        </p:sp>
        <p:sp>
          <p:nvSpPr>
            <p:cNvPr id="343140" name="Text Box 100"/>
            <p:cNvSpPr txBox="1">
              <a:spLocks noChangeArrowheads="1"/>
            </p:cNvSpPr>
            <p:nvPr/>
          </p:nvSpPr>
          <p:spPr bwMode="auto">
            <a:xfrm>
              <a:off x="1872" y="4800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b="1">
                  <a:solidFill>
                    <a:srgbClr val="FF505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lang="en-US" altLang="zh-CN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3141" name="Text Box 101"/>
            <p:cNvSpPr txBox="1">
              <a:spLocks noChangeArrowheads="1"/>
            </p:cNvSpPr>
            <p:nvPr/>
          </p:nvSpPr>
          <p:spPr bwMode="auto">
            <a:xfrm>
              <a:off x="2544" y="4368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b="1">
                  <a:solidFill>
                    <a:srgbClr val="00CC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343142" name="Text Box 102"/>
            <p:cNvSpPr txBox="1">
              <a:spLocks noChangeArrowheads="1"/>
            </p:cNvSpPr>
            <p:nvPr/>
          </p:nvSpPr>
          <p:spPr bwMode="auto">
            <a:xfrm>
              <a:off x="1392" y="4416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rPr>
                <a:t>-</a:t>
              </a:r>
            </a:p>
          </p:txBody>
        </p:sp>
        <p:sp>
          <p:nvSpPr>
            <p:cNvPr id="343143" name="Text Box 103"/>
            <p:cNvSpPr txBox="1">
              <a:spLocks noChangeArrowheads="1"/>
            </p:cNvSpPr>
            <p:nvPr/>
          </p:nvSpPr>
          <p:spPr bwMode="auto">
            <a:xfrm>
              <a:off x="1968" y="4080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343144" name="Line 104"/>
            <p:cNvSpPr>
              <a:spLocks noChangeShapeType="1"/>
            </p:cNvSpPr>
            <p:nvPr/>
          </p:nvSpPr>
          <p:spPr bwMode="auto">
            <a:xfrm flipH="1">
              <a:off x="1680" y="3888"/>
              <a:ext cx="28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3145" name="Line 105"/>
            <p:cNvSpPr>
              <a:spLocks noChangeShapeType="1"/>
            </p:cNvSpPr>
            <p:nvPr/>
          </p:nvSpPr>
          <p:spPr bwMode="auto">
            <a:xfrm flipH="1" flipV="1">
              <a:off x="2208" y="3888"/>
              <a:ext cx="28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3146" name="Line 106"/>
            <p:cNvSpPr>
              <a:spLocks noChangeShapeType="1"/>
            </p:cNvSpPr>
            <p:nvPr/>
          </p:nvSpPr>
          <p:spPr bwMode="auto">
            <a:xfrm flipH="1">
              <a:off x="1104" y="4272"/>
              <a:ext cx="28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3147" name="Line 107"/>
            <p:cNvSpPr>
              <a:spLocks noChangeShapeType="1"/>
            </p:cNvSpPr>
            <p:nvPr/>
          </p:nvSpPr>
          <p:spPr bwMode="auto">
            <a:xfrm flipH="1" flipV="1">
              <a:off x="1632" y="4272"/>
              <a:ext cx="28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3148" name="Line 108"/>
            <p:cNvSpPr>
              <a:spLocks noChangeShapeType="1"/>
            </p:cNvSpPr>
            <p:nvPr/>
          </p:nvSpPr>
          <p:spPr bwMode="auto">
            <a:xfrm>
              <a:off x="2112" y="393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3149" name="Line 109"/>
            <p:cNvSpPr>
              <a:spLocks noChangeShapeType="1"/>
            </p:cNvSpPr>
            <p:nvPr/>
          </p:nvSpPr>
          <p:spPr bwMode="auto">
            <a:xfrm>
              <a:off x="1056" y="518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3150" name="Line 110"/>
            <p:cNvSpPr>
              <a:spLocks noChangeShapeType="1"/>
            </p:cNvSpPr>
            <p:nvPr/>
          </p:nvSpPr>
          <p:spPr bwMode="auto">
            <a:xfrm>
              <a:off x="2016" y="470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3151" name="Line 111"/>
            <p:cNvSpPr>
              <a:spLocks noChangeShapeType="1"/>
            </p:cNvSpPr>
            <p:nvPr/>
          </p:nvSpPr>
          <p:spPr bwMode="auto">
            <a:xfrm>
              <a:off x="2688" y="42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3152" name="Line 112"/>
            <p:cNvSpPr>
              <a:spLocks noChangeShapeType="1"/>
            </p:cNvSpPr>
            <p:nvPr/>
          </p:nvSpPr>
          <p:spPr bwMode="auto">
            <a:xfrm>
              <a:off x="1536" y="42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3153" name="Line 113"/>
            <p:cNvSpPr>
              <a:spLocks noChangeShapeType="1"/>
            </p:cNvSpPr>
            <p:nvPr/>
          </p:nvSpPr>
          <p:spPr bwMode="auto">
            <a:xfrm>
              <a:off x="1056" y="470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43154" name="Text Box 114"/>
          <p:cNvSpPr txBox="1">
            <a:spLocks noChangeArrowheads="1"/>
          </p:cNvSpPr>
          <p:nvPr/>
        </p:nvSpPr>
        <p:spPr bwMode="auto">
          <a:xfrm>
            <a:off x="1371600" y="5105400"/>
            <a:ext cx="31242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</a:rPr>
              <a:t>list</a:t>
            </a:r>
            <a:r>
              <a:rPr lang="en-US" altLang="zh-CN" sz="18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18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list + digit |</a:t>
            </a:r>
          </a:p>
          <a:p>
            <a:pPr algn="l" eaLnBrk="0" hangingPunct="0">
              <a:spcBef>
                <a:spcPct val="50000"/>
              </a:spcBef>
            </a:pP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         | list - digit | digit</a:t>
            </a:r>
          </a:p>
          <a:p>
            <a:pPr algn="l" eaLnBrk="0" hangingPunct="0">
              <a:spcBef>
                <a:spcPct val="50000"/>
              </a:spcBef>
            </a:pP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digit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 0 | 1 | 2 | …| 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78176-7178-4E94-936B-02F8787EC9E4}" type="slidenum">
              <a:rPr lang="zh-CN" altLang="en-US"/>
              <a:pPr/>
              <a:t>10</a:t>
            </a:fld>
            <a:endParaRPr lang="en-US" altLang="zh-CN"/>
          </a:p>
        </p:txBody>
      </p:sp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8229600" cy="914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Embedding Associativity</a:t>
            </a:r>
          </a:p>
        </p:txBody>
      </p:sp>
      <p:sp>
        <p:nvSpPr>
          <p:cNvPr id="405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143000"/>
            <a:ext cx="8305800" cy="5324475"/>
          </a:xfrm>
        </p:spPr>
        <p:txBody>
          <a:bodyPr/>
          <a:lstStyle/>
          <a:p>
            <a:pPr>
              <a:lnSpc>
                <a:spcPct val="79000"/>
              </a:lnSpc>
            </a:pPr>
            <a:r>
              <a:rPr lang="en-US" altLang="zh-CN">
                <a:ea typeface="宋体" panose="02010600030101010101" pitchFamily="2" charset="-122"/>
              </a:rPr>
              <a:t>The language of arithmetic expressions with + -</a:t>
            </a:r>
          </a:p>
          <a:p>
            <a:pPr lvl="1">
              <a:lnSpc>
                <a:spcPct val="70000"/>
              </a:lnSpc>
            </a:pPr>
            <a:r>
              <a:rPr lang="en-US" altLang="zh-CN">
                <a:ea typeface="宋体" panose="02010600030101010101" pitchFamily="2" charset="-122"/>
              </a:rPr>
              <a:t>(ambiguous)  grammar that does not enforce associativity</a:t>
            </a:r>
            <a:endParaRPr lang="en-US" altLang="zh-CN" sz="2000" b="1" i="1">
              <a:ea typeface="宋体" panose="02010600030101010101" pitchFamily="2" charset="-122"/>
            </a:endParaRPr>
          </a:p>
          <a:p>
            <a:pPr>
              <a:lnSpc>
                <a:spcPct val="79000"/>
              </a:lnSpc>
              <a:buFont typeface="Wingdings" panose="05000000000000000000" pitchFamily="2" charset="2"/>
              <a:buNone/>
            </a:pPr>
            <a:r>
              <a:rPr lang="en-US" altLang="zh-CN" sz="2000" b="1" i="1">
                <a:effectLst/>
                <a:ea typeface="宋体" panose="02010600030101010101" pitchFamily="2" charset="-122"/>
              </a:rPr>
              <a:t>		string</a:t>
            </a:r>
            <a:r>
              <a:rPr lang="en-US" altLang="zh-CN" sz="1800" b="1" i="1">
                <a:effectLst/>
                <a:ea typeface="宋体" panose="02010600030101010101" pitchFamily="2" charset="-122"/>
              </a:rPr>
              <a:t> </a:t>
            </a:r>
            <a:r>
              <a:rPr lang="en-US" altLang="zh-CN" sz="2000" b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effectLst/>
                <a:ea typeface="宋体" panose="02010600030101010101" pitchFamily="2" charset="-122"/>
              </a:rPr>
              <a:t> </a:t>
            </a:r>
            <a:r>
              <a:rPr lang="en-US" altLang="zh-CN" sz="2000" b="1">
                <a:effectLst/>
                <a:ea typeface="宋体" panose="02010600030101010101" pitchFamily="2" charset="-122"/>
                <a:sym typeface="Math1" pitchFamily="2" charset="2"/>
              </a:rPr>
              <a:t> </a:t>
            </a:r>
            <a:r>
              <a:rPr lang="en-US" altLang="zh-CN" sz="2000" b="1" i="1">
                <a:effectLst/>
                <a:ea typeface="宋体" panose="02010600030101010101" pitchFamily="2" charset="-122"/>
                <a:sym typeface="Math1" pitchFamily="2" charset="2"/>
              </a:rPr>
              <a:t>string + string | string – string</a:t>
            </a:r>
            <a:r>
              <a:rPr lang="en-US" altLang="zh-CN" sz="2000" b="1">
                <a:effectLst/>
                <a:ea typeface="宋体" panose="02010600030101010101" pitchFamily="2" charset="-122"/>
                <a:sym typeface="Math1" pitchFamily="2" charset="2"/>
              </a:rPr>
              <a:t> | 0 | 1 | …| 9</a:t>
            </a:r>
          </a:p>
          <a:p>
            <a:pPr>
              <a:lnSpc>
                <a:spcPct val="79000"/>
              </a:lnSpc>
              <a:buFont typeface="Wingdings" panose="05000000000000000000" pitchFamily="2" charset="2"/>
              <a:buNone/>
            </a:pPr>
            <a:endParaRPr lang="en-US" altLang="zh-CN" sz="2000" b="1">
              <a:effectLst/>
              <a:ea typeface="宋体" panose="02010600030101010101" pitchFamily="2" charset="-122"/>
              <a:sym typeface="Math1" pitchFamily="2" charset="2"/>
            </a:endParaRPr>
          </a:p>
          <a:p>
            <a:pPr lvl="1">
              <a:lnSpc>
                <a:spcPct val="70000"/>
              </a:lnSpc>
            </a:pPr>
            <a:r>
              <a:rPr lang="en-US" altLang="zh-CN">
                <a:ea typeface="宋体" panose="02010600030101010101" pitchFamily="2" charset="-122"/>
              </a:rPr>
              <a:t>non-ambiguous grammar enforcing left associativity (parse tree will grow to the left)</a:t>
            </a:r>
            <a:endParaRPr lang="en-US" altLang="zh-CN" sz="2000" b="1" i="1">
              <a:ea typeface="宋体" panose="02010600030101010101" pitchFamily="2" charset="-122"/>
            </a:endParaRPr>
          </a:p>
          <a:p>
            <a:pPr eaLnBrk="0" hangingPunct="0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i="1">
                <a:effectLst/>
                <a:ea typeface="宋体" panose="02010600030101010101" pitchFamily="2" charset="-122"/>
              </a:rPr>
              <a:t>		string</a:t>
            </a:r>
            <a:r>
              <a:rPr lang="en-US" altLang="zh-CN" sz="1800" b="1">
                <a:effectLst/>
                <a:ea typeface="宋体" panose="02010600030101010101" pitchFamily="2" charset="-122"/>
              </a:rPr>
              <a:t> </a:t>
            </a:r>
            <a:r>
              <a:rPr lang="en-US" altLang="zh-CN" sz="2000" b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1800" b="1">
                <a:effectLst/>
                <a:ea typeface="宋体" panose="02010600030101010101" pitchFamily="2" charset="-122"/>
              </a:rPr>
              <a:t> </a:t>
            </a:r>
            <a:r>
              <a:rPr lang="en-US" altLang="zh-CN" sz="2000" b="1" i="1">
                <a:effectLst/>
                <a:ea typeface="宋体" panose="02010600030101010101" pitchFamily="2" charset="-122"/>
                <a:sym typeface="Math1" pitchFamily="2" charset="2"/>
              </a:rPr>
              <a:t>string + digit | string - digit | digit</a:t>
            </a:r>
          </a:p>
          <a:p>
            <a:pPr eaLnBrk="0" hangingPunct="0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i="1">
                <a:effectLst/>
                <a:ea typeface="宋体" panose="02010600030101010101" pitchFamily="2" charset="-122"/>
                <a:sym typeface="Math1" pitchFamily="2" charset="2"/>
              </a:rPr>
              <a:t>		digit </a:t>
            </a:r>
            <a:r>
              <a:rPr lang="en-US" altLang="zh-CN" sz="2000" b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000" b="1">
                <a:effectLst/>
                <a:ea typeface="宋体" panose="02010600030101010101" pitchFamily="2" charset="-122"/>
                <a:sym typeface="Math1" pitchFamily="2" charset="2"/>
              </a:rPr>
              <a:t>  0 | 1 | 2 | …| 9</a:t>
            </a:r>
          </a:p>
          <a:p>
            <a:pPr>
              <a:lnSpc>
                <a:spcPct val="79000"/>
              </a:lnSpc>
              <a:buFont typeface="Wingdings" panose="05000000000000000000" pitchFamily="2" charset="2"/>
              <a:buNone/>
            </a:pPr>
            <a:endParaRPr lang="en-US" altLang="zh-CN" sz="2000" b="1">
              <a:effectLst/>
              <a:ea typeface="宋体" panose="02010600030101010101" pitchFamily="2" charset="-122"/>
              <a:sym typeface="Math1" pitchFamily="2" charset="2"/>
            </a:endParaRPr>
          </a:p>
          <a:p>
            <a:pPr lvl="1">
              <a:lnSpc>
                <a:spcPct val="70000"/>
              </a:lnSpc>
            </a:pPr>
            <a:r>
              <a:rPr lang="en-US" altLang="zh-CN">
                <a:ea typeface="宋体" panose="02010600030101010101" pitchFamily="2" charset="-122"/>
              </a:rPr>
              <a:t>non-ambiguous grammar enforcing right associativity (parse tree will grow to the right)</a:t>
            </a:r>
            <a:endParaRPr lang="en-US" altLang="zh-CN" sz="2000" b="1" i="1">
              <a:ea typeface="宋体" panose="02010600030101010101" pitchFamily="2" charset="-122"/>
            </a:endParaRPr>
          </a:p>
          <a:p>
            <a:pPr eaLnBrk="0" hangingPunct="0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i="1">
                <a:effectLst/>
                <a:ea typeface="宋体" panose="02010600030101010101" pitchFamily="2" charset="-122"/>
              </a:rPr>
              <a:t>		string</a:t>
            </a:r>
            <a:r>
              <a:rPr lang="en-US" altLang="zh-CN" sz="1800" b="1">
                <a:effectLst/>
                <a:ea typeface="宋体" panose="02010600030101010101" pitchFamily="2" charset="-122"/>
              </a:rPr>
              <a:t> </a:t>
            </a:r>
            <a:r>
              <a:rPr lang="en-US" altLang="zh-CN" sz="2000" b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1800" b="1">
                <a:effectLst/>
                <a:ea typeface="宋体" panose="02010600030101010101" pitchFamily="2" charset="-122"/>
              </a:rPr>
              <a:t> </a:t>
            </a:r>
            <a:r>
              <a:rPr lang="en-US" altLang="zh-CN" sz="2000" b="1" i="1">
                <a:effectLst/>
                <a:ea typeface="宋体" panose="02010600030101010101" pitchFamily="2" charset="-122"/>
                <a:sym typeface="Math1" pitchFamily="2" charset="2"/>
              </a:rPr>
              <a:t>digit + string | digit - string | digit</a:t>
            </a:r>
          </a:p>
          <a:p>
            <a:pPr eaLnBrk="0" hangingPunct="0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i="1">
                <a:effectLst/>
                <a:ea typeface="宋体" panose="02010600030101010101" pitchFamily="2" charset="-122"/>
                <a:sym typeface="Math1" pitchFamily="2" charset="2"/>
              </a:rPr>
              <a:t>		digit </a:t>
            </a:r>
            <a:r>
              <a:rPr lang="en-US" altLang="zh-CN" sz="2000" b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000" b="1">
                <a:effectLst/>
                <a:ea typeface="宋体" panose="02010600030101010101" pitchFamily="2" charset="-122"/>
                <a:sym typeface="Math1" pitchFamily="2" charset="2"/>
              </a:rPr>
              <a:t>  0 | 1 | 2 | …| 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13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C435-70A5-4B3E-8A86-79B598E8B9DE}" type="slidenum">
              <a:rPr lang="zh-CN" altLang="en-US"/>
              <a:pPr/>
              <a:t>11</a:t>
            </a:fld>
            <a:endParaRPr lang="en-US" altLang="zh-CN"/>
          </a:p>
        </p:txBody>
      </p:sp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8229600" cy="914400"/>
          </a:xfrm>
        </p:spPr>
        <p:txBody>
          <a:bodyPr/>
          <a:lstStyle/>
          <a:p>
            <a:r>
              <a:rPr lang="en-US" altLang="zh-CN" sz="3200" b="1" u="sng">
                <a:effectLst/>
                <a:ea typeface="宋体" panose="02010600030101010101" pitchFamily="2" charset="-122"/>
              </a:rPr>
              <a:t>Other Important Concepts</a:t>
            </a:r>
            <a:r>
              <a:rPr lang="en-US" altLang="zh-CN" sz="3200" b="1">
                <a:effectLst/>
                <a:ea typeface="宋体" panose="02010600030101010101" pitchFamily="2" charset="-122"/>
              </a:rPr>
              <a:t> </a:t>
            </a:r>
            <a:r>
              <a:rPr lang="en-US" altLang="zh-CN" b="1">
                <a:effectLst/>
                <a:ea typeface="宋体" panose="02010600030101010101" pitchFamily="2" charset="-122"/>
              </a:rPr>
              <a:t/>
            </a:r>
            <a:br>
              <a:rPr lang="en-US" altLang="zh-CN" b="1">
                <a:effectLst/>
                <a:ea typeface="宋体" panose="02010600030101010101" pitchFamily="2" charset="-122"/>
              </a:rPr>
            </a:br>
            <a:r>
              <a:rPr lang="en-US" altLang="zh-CN" sz="3200" b="1">
                <a:effectLst/>
                <a:ea typeface="宋体" panose="02010600030101010101" pitchFamily="2" charset="-122"/>
              </a:rPr>
              <a:t>Operator Precedence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344067" name="Rectangle 3"/>
          <p:cNvSpPr>
            <a:spLocks noChangeArrowheads="1"/>
          </p:cNvSpPr>
          <p:nvPr/>
        </p:nvSpPr>
        <p:spPr bwMode="auto">
          <a:xfrm>
            <a:off x="1066800" y="1295400"/>
            <a:ext cx="1973263" cy="1331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>
              <a:lnSpc>
                <a:spcPct val="70000"/>
              </a:lnSpc>
              <a:spcBef>
                <a:spcPct val="50000"/>
              </a:spcBef>
            </a:pPr>
            <a:r>
              <a:rPr lang="en-US" altLang="zh-CN" sz="2800" b="1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What does  </a:t>
            </a:r>
          </a:p>
          <a:p>
            <a:pPr algn="l" eaLnBrk="0" hangingPunct="0">
              <a:lnSpc>
                <a:spcPct val="70000"/>
              </a:lnSpc>
              <a:spcBef>
                <a:spcPct val="50000"/>
              </a:spcBef>
            </a:pPr>
            <a:r>
              <a:rPr lang="en-US" altLang="zh-CN" sz="2800" b="1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9 + 5 * 2  </a:t>
            </a:r>
          </a:p>
          <a:p>
            <a:pPr algn="l" eaLnBrk="0" hangingPunct="0">
              <a:lnSpc>
                <a:spcPct val="50000"/>
              </a:lnSpc>
              <a:spcBef>
                <a:spcPct val="50000"/>
              </a:spcBef>
            </a:pPr>
            <a:r>
              <a:rPr lang="en-US" altLang="zh-CN" sz="2800" b="1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mean?</a:t>
            </a:r>
          </a:p>
        </p:txBody>
      </p:sp>
      <p:sp>
        <p:nvSpPr>
          <p:cNvPr id="344113" name="Text Box 49"/>
          <p:cNvSpPr txBox="1">
            <a:spLocks noChangeArrowheads="1"/>
          </p:cNvSpPr>
          <p:nvPr/>
        </p:nvSpPr>
        <p:spPr bwMode="auto">
          <a:xfrm>
            <a:off x="3657600" y="1752600"/>
            <a:ext cx="1752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Typically</a:t>
            </a:r>
          </a:p>
        </p:txBody>
      </p:sp>
      <p:sp>
        <p:nvSpPr>
          <p:cNvPr id="344114" name="AutoShape 50"/>
          <p:cNvSpPr>
            <a:spLocks/>
          </p:cNvSpPr>
          <p:nvPr/>
        </p:nvSpPr>
        <p:spPr bwMode="auto">
          <a:xfrm>
            <a:off x="5105400" y="1295400"/>
            <a:ext cx="381000" cy="1219200"/>
          </a:xfrm>
          <a:prstGeom prst="leftBrace">
            <a:avLst>
              <a:gd name="adj1" fmla="val 26667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4115" name="Text Box 51"/>
          <p:cNvSpPr txBox="1">
            <a:spLocks noChangeArrowheads="1"/>
          </p:cNvSpPr>
          <p:nvPr/>
        </p:nvSpPr>
        <p:spPr bwMode="auto">
          <a:xfrm>
            <a:off x="5486400" y="1371600"/>
            <a:ext cx="914400" cy="1150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(  )</a:t>
            </a:r>
          </a:p>
          <a:p>
            <a:pPr algn="l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*    /</a:t>
            </a:r>
          </a:p>
          <a:p>
            <a:pPr algn="l" eaLnBrk="0" hangingPunct="0">
              <a:lnSpc>
                <a:spcPct val="30000"/>
              </a:lnSpc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+   -</a:t>
            </a:r>
          </a:p>
        </p:txBody>
      </p:sp>
      <p:sp>
        <p:nvSpPr>
          <p:cNvPr id="344116" name="Text Box 52"/>
          <p:cNvSpPr txBox="1">
            <a:spLocks noChangeArrowheads="1"/>
          </p:cNvSpPr>
          <p:nvPr/>
        </p:nvSpPr>
        <p:spPr bwMode="auto">
          <a:xfrm>
            <a:off x="6477000" y="1676400"/>
            <a:ext cx="24384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is precedence order</a:t>
            </a:r>
          </a:p>
        </p:txBody>
      </p:sp>
      <p:sp>
        <p:nvSpPr>
          <p:cNvPr id="344117" name="Text Box 53"/>
          <p:cNvSpPr txBox="1">
            <a:spLocks noChangeArrowheads="1"/>
          </p:cNvSpPr>
          <p:nvPr/>
        </p:nvSpPr>
        <p:spPr bwMode="auto">
          <a:xfrm>
            <a:off x="304800" y="3048000"/>
            <a:ext cx="2133600" cy="1768475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This can be</a:t>
            </a:r>
          </a:p>
          <a:p>
            <a:pPr algn="l" eaLnBrk="0" hangingPunct="0"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 incorporated </a:t>
            </a:r>
          </a:p>
          <a:p>
            <a:pPr algn="l" eaLnBrk="0" hangingPunct="0"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into a grammar </a:t>
            </a:r>
          </a:p>
          <a:p>
            <a:pPr algn="l" eaLnBrk="0" hangingPunct="0"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via rules:</a:t>
            </a:r>
          </a:p>
        </p:txBody>
      </p:sp>
      <p:sp>
        <p:nvSpPr>
          <p:cNvPr id="344118" name="Text Box 54"/>
          <p:cNvSpPr txBox="1">
            <a:spLocks noChangeArrowheads="1"/>
          </p:cNvSpPr>
          <p:nvPr/>
        </p:nvSpPr>
        <p:spPr bwMode="auto">
          <a:xfrm>
            <a:off x="2819400" y="3124200"/>
            <a:ext cx="5867400" cy="1662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lnSpc>
                <a:spcPct val="70000"/>
              </a:lnSpc>
              <a:spcBef>
                <a:spcPct val="50000"/>
              </a:spcBef>
            </a:pP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</a:rPr>
              <a:t>expr 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expr + term | expr – term | term</a:t>
            </a:r>
          </a:p>
          <a:p>
            <a:pPr algn="l" eaLnBrk="0" hangingPunct="0">
              <a:lnSpc>
                <a:spcPct val="70000"/>
              </a:lnSpc>
              <a:spcBef>
                <a:spcPct val="50000"/>
              </a:spcBef>
            </a:pP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term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 </a:t>
            </a: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term * factor | term / factor | factor</a:t>
            </a:r>
          </a:p>
          <a:p>
            <a:pPr algn="l" eaLnBrk="0" hangingPunct="0">
              <a:lnSpc>
                <a:spcPct val="70000"/>
              </a:lnSpc>
              <a:spcBef>
                <a:spcPct val="50000"/>
              </a:spcBef>
            </a:pP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factor 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digit</a:t>
            </a: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| (  expr  )</a:t>
            </a:r>
          </a:p>
          <a:p>
            <a:pPr algn="l" eaLnBrk="0" hangingPunct="0">
              <a:lnSpc>
                <a:spcPct val="70000"/>
              </a:lnSpc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digit</a:t>
            </a: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0 | 1 | 2 | 3 | … | 9</a:t>
            </a:r>
          </a:p>
        </p:txBody>
      </p:sp>
      <p:sp>
        <p:nvSpPr>
          <p:cNvPr id="344119" name="Rectangle 55"/>
          <p:cNvSpPr>
            <a:spLocks noChangeArrowheads="1"/>
          </p:cNvSpPr>
          <p:nvPr/>
        </p:nvSpPr>
        <p:spPr bwMode="auto">
          <a:xfrm>
            <a:off x="2667000" y="3124200"/>
            <a:ext cx="617220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4120" name="Rectangle 56"/>
          <p:cNvSpPr>
            <a:spLocks noChangeArrowheads="1"/>
          </p:cNvSpPr>
          <p:nvPr/>
        </p:nvSpPr>
        <p:spPr bwMode="auto">
          <a:xfrm>
            <a:off x="762000" y="5029200"/>
            <a:ext cx="8001000" cy="1443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/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</a:rPr>
              <a:t>Precedence Achieved by:</a:t>
            </a:r>
          </a:p>
          <a:p>
            <a:pPr algn="l" eaLnBrk="0" hangingPunct="0"/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</a:rPr>
              <a:t>    expr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 &amp; </a:t>
            </a: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</a:rPr>
              <a:t>term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 for each precedence level</a:t>
            </a:r>
          </a:p>
          <a:p>
            <a:pPr algn="l" eaLnBrk="0" hangingPunct="0">
              <a:lnSpc>
                <a:spcPct val="70000"/>
              </a:lnSpc>
            </a:pPr>
            <a:endParaRPr lang="en-US" altLang="zh-CN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 eaLnBrk="0" hangingPunct="0"/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    Rules for each are </a:t>
            </a:r>
            <a:r>
              <a:rPr lang="en-US" altLang="zh-CN" sz="2400" b="1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left recursive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 u="sng">
                <a:latin typeface="Times New Roman" panose="02020603050405020304" pitchFamily="18" charset="0"/>
                <a:ea typeface="宋体" panose="02010600030101010101" pitchFamily="2" charset="-122"/>
              </a:rPr>
              <a:t>or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associate to the left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667F-3A1B-4F1A-B2F7-E3DD39A4AE40}" type="slidenum">
              <a:rPr lang="zh-CN" altLang="en-US"/>
              <a:pPr/>
              <a:t>12</a:t>
            </a:fld>
            <a:endParaRPr lang="en-US" altLang="zh-CN"/>
          </a:p>
        </p:txBody>
      </p:sp>
      <p:sp>
        <p:nvSpPr>
          <p:cNvPr id="34509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8229600" cy="914400"/>
          </a:xfrm>
        </p:spPr>
        <p:txBody>
          <a:bodyPr/>
          <a:lstStyle/>
          <a:p>
            <a:r>
              <a:rPr lang="en-US" altLang="zh-CN" b="1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Syntax-Directed Translation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45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066800"/>
            <a:ext cx="8305800" cy="2895600"/>
          </a:xfrm>
        </p:spPr>
        <p:txBody>
          <a:bodyPr/>
          <a:lstStyle/>
          <a:p>
            <a:pPr>
              <a:lnSpc>
                <a:spcPct val="79000"/>
              </a:lnSpc>
            </a:pPr>
            <a:r>
              <a:rPr lang="en-US" altLang="zh-CN" sz="2400">
                <a:effectLst/>
                <a:ea typeface="宋体" panose="02010600030101010101" pitchFamily="2" charset="-122"/>
              </a:rPr>
              <a:t>Associate Attributes With Grammar Rules &amp; Constructs and Translate As Parsing Occurs</a:t>
            </a:r>
          </a:p>
          <a:p>
            <a:pPr>
              <a:lnSpc>
                <a:spcPct val="79000"/>
              </a:lnSpc>
            </a:pPr>
            <a:r>
              <a:rPr lang="en-US" altLang="zh-CN" sz="2400">
                <a:effectLst/>
                <a:ea typeface="宋体" panose="02010600030101010101" pitchFamily="2" charset="-122"/>
              </a:rPr>
              <a:t>The translation will follow the parse tree structure (and as a result the structure and form of the parse tree will affect the translation).</a:t>
            </a:r>
          </a:p>
          <a:p>
            <a:pPr>
              <a:lnSpc>
                <a:spcPct val="79000"/>
              </a:lnSpc>
            </a:pPr>
            <a:r>
              <a:rPr lang="en-US" altLang="zh-CN" sz="2400">
                <a:effectLst/>
                <a:ea typeface="宋体" panose="02010600030101010101" pitchFamily="2" charset="-122"/>
              </a:rPr>
              <a:t>First example: Inductive Translation.</a:t>
            </a:r>
          </a:p>
          <a:p>
            <a:pPr lvl="1">
              <a:lnSpc>
                <a:spcPct val="70000"/>
              </a:lnSpc>
            </a:pPr>
            <a:r>
              <a:rPr lang="en-US" altLang="zh-CN" sz="2400">
                <a:solidFill>
                  <a:srgbClr val="FF5050"/>
                </a:solidFill>
                <a:ea typeface="宋体" panose="02010600030101010101" pitchFamily="2" charset="-122"/>
              </a:rPr>
              <a:t>Infix</a:t>
            </a:r>
            <a:r>
              <a:rPr lang="en-US" altLang="zh-CN" sz="2400">
                <a:ea typeface="宋体" panose="02010600030101010101" pitchFamily="2" charset="-122"/>
              </a:rPr>
              <a:t> to </a:t>
            </a:r>
            <a:r>
              <a:rPr lang="en-US" altLang="zh-CN" sz="2400">
                <a:solidFill>
                  <a:srgbClr val="FF5050"/>
                </a:solidFill>
                <a:ea typeface="宋体" panose="02010600030101010101" pitchFamily="2" charset="-122"/>
              </a:rPr>
              <a:t>Postfix</a:t>
            </a:r>
            <a:r>
              <a:rPr lang="en-US" altLang="zh-CN" sz="2400">
                <a:ea typeface="宋体" panose="02010600030101010101" pitchFamily="2" charset="-122"/>
              </a:rPr>
              <a:t> Notation Translation for Expressions</a:t>
            </a:r>
          </a:p>
          <a:p>
            <a:pPr lvl="1">
              <a:lnSpc>
                <a:spcPct val="70000"/>
              </a:lnSpc>
            </a:pPr>
            <a:r>
              <a:rPr lang="en-US" altLang="zh-CN" sz="2400">
                <a:ea typeface="宋体" panose="02010600030101010101" pitchFamily="2" charset="-122"/>
              </a:rPr>
              <a:t>Translation defined inductively As: </a:t>
            </a:r>
            <a:r>
              <a:rPr lang="en-US" altLang="zh-CN" sz="2400">
                <a:solidFill>
                  <a:srgbClr val="FF5050"/>
                </a:solidFill>
                <a:ea typeface="宋体" panose="02010600030101010101" pitchFamily="2" charset="-122"/>
              </a:rPr>
              <a:t>Postfix(</a:t>
            </a:r>
            <a:r>
              <a:rPr lang="en-US" altLang="zh-CN" sz="2400">
                <a:ea typeface="宋体" panose="02010600030101010101" pitchFamily="2" charset="-122"/>
              </a:rPr>
              <a:t>E</a:t>
            </a:r>
            <a:r>
              <a:rPr lang="en-US" altLang="zh-CN" sz="2400">
                <a:solidFill>
                  <a:srgbClr val="FF5050"/>
                </a:solidFill>
                <a:ea typeface="宋体" panose="02010600030101010101" pitchFamily="2" charset="-122"/>
              </a:rPr>
              <a:t>)</a:t>
            </a:r>
            <a:r>
              <a:rPr lang="en-US" altLang="zh-CN" sz="2400">
                <a:ea typeface="宋体" panose="02010600030101010101" pitchFamily="2" charset="-122"/>
              </a:rPr>
              <a:t> where E is an Expression.</a:t>
            </a:r>
            <a:endParaRPr lang="en-US" altLang="zh-CN" sz="2000">
              <a:ea typeface="宋体" panose="02010600030101010101" pitchFamily="2" charset="-122"/>
            </a:endParaRPr>
          </a:p>
        </p:txBody>
      </p:sp>
      <p:sp>
        <p:nvSpPr>
          <p:cNvPr id="345092" name="Text Box 4"/>
          <p:cNvSpPr txBox="1">
            <a:spLocks noChangeArrowheads="1"/>
          </p:cNvSpPr>
          <p:nvPr/>
        </p:nvSpPr>
        <p:spPr bwMode="auto">
          <a:xfrm>
            <a:off x="990600" y="4419600"/>
            <a:ext cx="7696200" cy="1808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 algn="l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 algn="l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 algn="l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 algn="l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b="1">
                <a:ea typeface="宋体" panose="02010600030101010101" pitchFamily="2" charset="-122"/>
              </a:rPr>
              <a:t>1.    </a:t>
            </a:r>
            <a:r>
              <a:rPr lang="en-US" altLang="zh-CN" b="1" i="1">
                <a:ea typeface="宋体" panose="02010600030101010101" pitchFamily="2" charset="-122"/>
              </a:rPr>
              <a:t>If </a:t>
            </a:r>
            <a:r>
              <a:rPr lang="en-US" altLang="zh-CN" b="1">
                <a:ea typeface="宋体" panose="02010600030101010101" pitchFamily="2" charset="-122"/>
              </a:rPr>
              <a:t>E</a:t>
            </a:r>
            <a:r>
              <a:rPr lang="en-US" altLang="zh-CN" b="1" i="1">
                <a:ea typeface="宋体" panose="02010600030101010101" pitchFamily="2" charset="-122"/>
              </a:rPr>
              <a:t> is a </a:t>
            </a:r>
            <a:r>
              <a:rPr lang="en-US" altLang="zh-CN" b="1">
                <a:ea typeface="宋体" panose="02010600030101010101" pitchFamily="2" charset="-122"/>
              </a:rPr>
              <a:t>variable </a:t>
            </a:r>
            <a:r>
              <a:rPr lang="en-US" altLang="zh-CN" b="1" i="1">
                <a:ea typeface="宋体" panose="02010600030101010101" pitchFamily="2" charset="-122"/>
              </a:rPr>
              <a:t>or</a:t>
            </a:r>
            <a:r>
              <a:rPr lang="en-US" altLang="zh-CN" b="1">
                <a:ea typeface="宋体" panose="02010600030101010101" pitchFamily="2" charset="-122"/>
              </a:rPr>
              <a:t> constant 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then</a:t>
            </a:r>
            <a:r>
              <a:rPr lang="en-US" altLang="zh-CN" b="1">
                <a:ea typeface="宋体" panose="02010600030101010101" pitchFamily="2" charset="-122"/>
              </a:rPr>
              <a:t> </a:t>
            </a:r>
            <a:r>
              <a:rPr lang="en-US" altLang="zh-CN" b="1">
                <a:ea typeface="宋体" panose="02010600030101010101" pitchFamily="2" charset="-122"/>
                <a:sym typeface="Math1" pitchFamily="2" charset="2"/>
              </a:rPr>
              <a:t> </a:t>
            </a:r>
            <a:r>
              <a:rPr lang="en-US" altLang="zh-CN" b="1">
                <a:solidFill>
                  <a:srgbClr val="FF5050"/>
                </a:solidFill>
                <a:ea typeface="宋体" panose="02010600030101010101" pitchFamily="2" charset="-122"/>
                <a:sym typeface="Math1" pitchFamily="2" charset="2"/>
              </a:rPr>
              <a:t>Postfix(</a:t>
            </a:r>
            <a:r>
              <a:rPr lang="en-US" altLang="zh-CN" b="1">
                <a:ea typeface="宋体" panose="02010600030101010101" pitchFamily="2" charset="-122"/>
                <a:sym typeface="Math1" pitchFamily="2" charset="2"/>
              </a:rPr>
              <a:t>E</a:t>
            </a:r>
            <a:r>
              <a:rPr lang="en-US" altLang="zh-CN" b="1">
                <a:solidFill>
                  <a:srgbClr val="FF5050"/>
                </a:solidFill>
                <a:ea typeface="宋体" panose="02010600030101010101" pitchFamily="2" charset="-122"/>
                <a:sym typeface="Math1" pitchFamily="2" charset="2"/>
              </a:rPr>
              <a:t>)</a:t>
            </a:r>
            <a:r>
              <a:rPr lang="en-US" altLang="zh-CN" b="1">
                <a:ea typeface="宋体" panose="02010600030101010101" pitchFamily="2" charset="-122"/>
                <a:sym typeface="Math1" pitchFamily="2" charset="2"/>
              </a:rPr>
              <a:t> = E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b="1">
                <a:ea typeface="宋体" panose="02010600030101010101" pitchFamily="2" charset="-122"/>
                <a:sym typeface="Math1" pitchFamily="2" charset="2"/>
              </a:rPr>
              <a:t>2.    </a:t>
            </a:r>
            <a:r>
              <a:rPr lang="en-US" altLang="zh-CN" b="1" i="1">
                <a:ea typeface="宋体" panose="02010600030101010101" pitchFamily="2" charset="-122"/>
                <a:sym typeface="Math1" pitchFamily="2" charset="2"/>
              </a:rPr>
              <a:t>If </a:t>
            </a:r>
            <a:r>
              <a:rPr lang="en-US" altLang="zh-CN" b="1">
                <a:ea typeface="宋体" panose="02010600030101010101" pitchFamily="2" charset="-122"/>
                <a:sym typeface="Math1" pitchFamily="2" charset="2"/>
              </a:rPr>
              <a:t>E</a:t>
            </a:r>
            <a:r>
              <a:rPr lang="en-US" altLang="zh-CN" b="1" i="1">
                <a:ea typeface="宋体" panose="02010600030101010101" pitchFamily="2" charset="-122"/>
                <a:sym typeface="Math1" pitchFamily="2" charset="2"/>
              </a:rPr>
              <a:t> is </a:t>
            </a:r>
            <a:r>
              <a:rPr lang="en-US" altLang="zh-CN" b="1">
                <a:ea typeface="宋体" panose="02010600030101010101" pitchFamily="2" charset="-122"/>
                <a:sym typeface="Math1" pitchFamily="2" charset="2"/>
              </a:rPr>
              <a:t>E1 </a:t>
            </a:r>
            <a:r>
              <a:rPr lang="en-US" altLang="zh-CN" b="1">
                <a:solidFill>
                  <a:srgbClr val="00CC00"/>
                </a:solidFill>
                <a:ea typeface="宋体" panose="02010600030101010101" pitchFamily="2" charset="-122"/>
                <a:sym typeface="Math1" pitchFamily="2" charset="2"/>
              </a:rPr>
              <a:t>op</a:t>
            </a:r>
            <a:r>
              <a:rPr lang="en-US" altLang="zh-CN" b="1">
                <a:ea typeface="宋体" panose="02010600030101010101" pitchFamily="2" charset="-122"/>
                <a:sym typeface="Math1" pitchFamily="2" charset="2"/>
              </a:rPr>
              <a:t> E2 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then</a:t>
            </a:r>
            <a:r>
              <a:rPr lang="en-US" altLang="zh-CN" b="1">
                <a:ea typeface="宋体" panose="02010600030101010101" pitchFamily="2" charset="-122"/>
                <a:sym typeface="Math1" pitchFamily="2" charset="2"/>
              </a:rPr>
              <a:t>  </a:t>
            </a:r>
            <a:r>
              <a:rPr lang="en-US" altLang="zh-CN" b="1">
                <a:solidFill>
                  <a:srgbClr val="FF5050"/>
                </a:solidFill>
                <a:ea typeface="宋体" panose="02010600030101010101" pitchFamily="2" charset="-122"/>
                <a:sym typeface="Math1" pitchFamily="2" charset="2"/>
              </a:rPr>
              <a:t>Postfix(</a:t>
            </a:r>
            <a:r>
              <a:rPr lang="en-US" altLang="zh-CN" b="1">
                <a:ea typeface="宋体" panose="02010600030101010101" pitchFamily="2" charset="-122"/>
                <a:sym typeface="Math1" pitchFamily="2" charset="2"/>
              </a:rPr>
              <a:t>E</a:t>
            </a:r>
            <a:r>
              <a:rPr lang="en-US" altLang="zh-CN" b="1">
                <a:solidFill>
                  <a:srgbClr val="FF5050"/>
                </a:solidFill>
                <a:ea typeface="宋体" panose="02010600030101010101" pitchFamily="2" charset="-122"/>
                <a:sym typeface="Math1" pitchFamily="2" charset="2"/>
              </a:rPr>
              <a:t>)</a:t>
            </a:r>
            <a:r>
              <a:rPr lang="en-US" altLang="zh-CN" b="1">
                <a:ea typeface="宋体" panose="02010600030101010101" pitchFamily="2" charset="-122"/>
                <a:sym typeface="Math1" pitchFamily="2" charset="2"/>
              </a:rPr>
              <a:t> 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b="1">
                <a:ea typeface="宋体" panose="02010600030101010101" pitchFamily="2" charset="-122"/>
                <a:sym typeface="Math1" pitchFamily="2" charset="2"/>
              </a:rPr>
              <a:t>              = </a:t>
            </a:r>
            <a:r>
              <a:rPr lang="en-US" altLang="zh-CN" b="1">
                <a:solidFill>
                  <a:srgbClr val="FF5050"/>
                </a:solidFill>
                <a:ea typeface="宋体" panose="02010600030101010101" pitchFamily="2" charset="-122"/>
                <a:sym typeface="Math1" pitchFamily="2" charset="2"/>
              </a:rPr>
              <a:t>Postfix(</a:t>
            </a:r>
            <a:r>
              <a:rPr lang="en-US" altLang="zh-CN" b="1">
                <a:ea typeface="宋体" panose="02010600030101010101" pitchFamily="2" charset="-122"/>
                <a:sym typeface="Math1" pitchFamily="2" charset="2"/>
              </a:rPr>
              <a:t>E1 </a:t>
            </a:r>
            <a:r>
              <a:rPr lang="en-US" altLang="zh-CN" b="1">
                <a:solidFill>
                  <a:srgbClr val="00CC00"/>
                </a:solidFill>
                <a:ea typeface="宋体" panose="02010600030101010101" pitchFamily="2" charset="-122"/>
                <a:sym typeface="Math1" pitchFamily="2" charset="2"/>
              </a:rPr>
              <a:t>op </a:t>
            </a:r>
            <a:r>
              <a:rPr lang="en-US" altLang="zh-CN" b="1">
                <a:ea typeface="宋体" panose="02010600030101010101" pitchFamily="2" charset="-122"/>
                <a:sym typeface="Math1" pitchFamily="2" charset="2"/>
              </a:rPr>
              <a:t>E2</a:t>
            </a:r>
            <a:r>
              <a:rPr lang="en-US" altLang="zh-CN" b="1">
                <a:solidFill>
                  <a:srgbClr val="FF5050"/>
                </a:solidFill>
                <a:ea typeface="宋体" panose="02010600030101010101" pitchFamily="2" charset="-122"/>
                <a:sym typeface="Math1" pitchFamily="2" charset="2"/>
              </a:rPr>
              <a:t>) </a:t>
            </a:r>
            <a:r>
              <a:rPr lang="en-US" altLang="zh-CN" b="1">
                <a:ea typeface="宋体" panose="02010600030101010101" pitchFamily="2" charset="-122"/>
                <a:sym typeface="Math1" pitchFamily="2" charset="2"/>
              </a:rPr>
              <a:t>= </a:t>
            </a:r>
            <a:r>
              <a:rPr lang="en-US" altLang="zh-CN" b="1">
                <a:solidFill>
                  <a:srgbClr val="FF5050"/>
                </a:solidFill>
                <a:ea typeface="宋体" panose="02010600030101010101" pitchFamily="2" charset="-122"/>
                <a:sym typeface="Math1" pitchFamily="2" charset="2"/>
              </a:rPr>
              <a:t>Postfix(</a:t>
            </a:r>
            <a:r>
              <a:rPr lang="en-US" altLang="zh-CN" b="1">
                <a:ea typeface="宋体" panose="02010600030101010101" pitchFamily="2" charset="-122"/>
                <a:sym typeface="Math1" pitchFamily="2" charset="2"/>
              </a:rPr>
              <a:t>E1</a:t>
            </a:r>
            <a:r>
              <a:rPr lang="en-US" altLang="zh-CN" b="1">
                <a:solidFill>
                  <a:srgbClr val="FF5050"/>
                </a:solidFill>
                <a:ea typeface="宋体" panose="02010600030101010101" pitchFamily="2" charset="-122"/>
                <a:sym typeface="Math1" pitchFamily="2" charset="2"/>
              </a:rPr>
              <a:t>) Postfix(</a:t>
            </a:r>
            <a:r>
              <a:rPr lang="en-US" altLang="zh-CN" b="1">
                <a:ea typeface="宋体" panose="02010600030101010101" pitchFamily="2" charset="-122"/>
                <a:sym typeface="Math1" pitchFamily="2" charset="2"/>
              </a:rPr>
              <a:t>E2</a:t>
            </a:r>
            <a:r>
              <a:rPr lang="en-US" altLang="zh-CN" b="1">
                <a:solidFill>
                  <a:srgbClr val="FF5050"/>
                </a:solidFill>
                <a:ea typeface="宋体" panose="02010600030101010101" pitchFamily="2" charset="-122"/>
                <a:sym typeface="Math1" pitchFamily="2" charset="2"/>
              </a:rPr>
              <a:t>) </a:t>
            </a:r>
            <a:r>
              <a:rPr lang="en-US" altLang="zh-CN" b="1">
                <a:solidFill>
                  <a:srgbClr val="00CC00"/>
                </a:solidFill>
                <a:ea typeface="宋体" panose="02010600030101010101" pitchFamily="2" charset="-122"/>
                <a:sym typeface="Math1" pitchFamily="2" charset="2"/>
              </a:rPr>
              <a:t>op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b="1">
                <a:ea typeface="宋体" panose="02010600030101010101" pitchFamily="2" charset="-122"/>
                <a:sym typeface="Math1" pitchFamily="2" charset="2"/>
              </a:rPr>
              <a:t>3.    </a:t>
            </a:r>
            <a:r>
              <a:rPr lang="en-US" altLang="zh-CN" b="1" i="1">
                <a:ea typeface="宋体" panose="02010600030101010101" pitchFamily="2" charset="-122"/>
                <a:sym typeface="Math1" pitchFamily="2" charset="2"/>
              </a:rPr>
              <a:t>If </a:t>
            </a:r>
            <a:r>
              <a:rPr lang="en-US" altLang="zh-CN" b="1">
                <a:ea typeface="宋体" panose="02010600030101010101" pitchFamily="2" charset="-122"/>
                <a:sym typeface="Math1" pitchFamily="2" charset="2"/>
              </a:rPr>
              <a:t>E</a:t>
            </a:r>
            <a:r>
              <a:rPr lang="en-US" altLang="zh-CN" b="1" i="1">
                <a:ea typeface="宋体" panose="02010600030101010101" pitchFamily="2" charset="-122"/>
                <a:sym typeface="Math1" pitchFamily="2" charset="2"/>
              </a:rPr>
              <a:t> is </a:t>
            </a:r>
            <a:r>
              <a:rPr lang="en-US" altLang="zh-CN" b="1">
                <a:ea typeface="宋体" panose="02010600030101010101" pitchFamily="2" charset="-122"/>
                <a:sym typeface="Math1" pitchFamily="2" charset="2"/>
              </a:rPr>
              <a:t>(E1) 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then</a:t>
            </a:r>
            <a:r>
              <a:rPr lang="en-US" altLang="zh-CN" b="1">
                <a:ea typeface="宋体" panose="02010600030101010101" pitchFamily="2" charset="-122"/>
                <a:sym typeface="Math1" pitchFamily="2" charset="2"/>
              </a:rPr>
              <a:t> </a:t>
            </a:r>
            <a:r>
              <a:rPr lang="en-US" altLang="zh-CN" b="1">
                <a:solidFill>
                  <a:srgbClr val="FF5050"/>
                </a:solidFill>
                <a:ea typeface="宋体" panose="02010600030101010101" pitchFamily="2" charset="-122"/>
                <a:sym typeface="Math1" pitchFamily="2" charset="2"/>
              </a:rPr>
              <a:t>Postfix(</a:t>
            </a:r>
            <a:r>
              <a:rPr lang="en-US" altLang="zh-CN" b="1">
                <a:ea typeface="宋体" panose="02010600030101010101" pitchFamily="2" charset="-122"/>
                <a:sym typeface="Math1" pitchFamily="2" charset="2"/>
              </a:rPr>
              <a:t>E</a:t>
            </a:r>
            <a:r>
              <a:rPr lang="en-US" altLang="zh-CN" b="1">
                <a:solidFill>
                  <a:srgbClr val="FF5050"/>
                </a:solidFill>
                <a:ea typeface="宋体" panose="02010600030101010101" pitchFamily="2" charset="-122"/>
                <a:sym typeface="Math1" pitchFamily="2" charset="2"/>
              </a:rPr>
              <a:t>)</a:t>
            </a:r>
            <a:r>
              <a:rPr lang="en-US" altLang="zh-CN" b="1">
                <a:ea typeface="宋体" panose="02010600030101010101" pitchFamily="2" charset="-122"/>
                <a:sym typeface="Math1" pitchFamily="2" charset="2"/>
              </a:rPr>
              <a:t> = </a:t>
            </a:r>
            <a:r>
              <a:rPr lang="en-US" altLang="zh-CN" b="1">
                <a:solidFill>
                  <a:srgbClr val="FF5050"/>
                </a:solidFill>
                <a:ea typeface="宋体" panose="02010600030101010101" pitchFamily="2" charset="-122"/>
                <a:sym typeface="Math1" pitchFamily="2" charset="2"/>
              </a:rPr>
              <a:t>Postfix(</a:t>
            </a:r>
            <a:r>
              <a:rPr lang="en-US" altLang="zh-CN" b="1">
                <a:ea typeface="宋体" panose="02010600030101010101" pitchFamily="2" charset="-122"/>
                <a:sym typeface="Math1" pitchFamily="2" charset="2"/>
              </a:rPr>
              <a:t>E1</a:t>
            </a:r>
            <a:r>
              <a:rPr lang="en-US" altLang="zh-CN" b="1">
                <a:solidFill>
                  <a:srgbClr val="FF5050"/>
                </a:solidFill>
                <a:ea typeface="宋体" panose="02010600030101010101" pitchFamily="2" charset="-122"/>
                <a:sym typeface="Math1" pitchFamily="2" charset="2"/>
              </a:rPr>
              <a:t>)</a:t>
            </a:r>
            <a:r>
              <a:rPr lang="en-US" altLang="zh-CN" b="1">
                <a:ea typeface="宋体" panose="02010600030101010101" pitchFamily="2" charset="-122"/>
                <a:sym typeface="Math1" pitchFamily="2" charset="2"/>
              </a:rPr>
              <a:t> </a:t>
            </a:r>
          </a:p>
        </p:txBody>
      </p:sp>
      <p:sp>
        <p:nvSpPr>
          <p:cNvPr id="345095" name="Text Box 7"/>
          <p:cNvSpPr txBox="1">
            <a:spLocks noChangeArrowheads="1"/>
          </p:cNvSpPr>
          <p:nvPr/>
        </p:nvSpPr>
        <p:spPr bwMode="auto">
          <a:xfrm>
            <a:off x="3886200" y="3886200"/>
            <a:ext cx="12477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>
                <a:ea typeface="宋体" panose="02010600030101010101" pitchFamily="2" charset="-122"/>
              </a:rPr>
              <a:t>Rules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1EA56-2A8B-46F5-9858-ECD4BCEBBD40}" type="slidenum">
              <a:rPr lang="zh-CN" altLang="en-US"/>
              <a:pPr/>
              <a:t>13</a:t>
            </a:fld>
            <a:endParaRPr lang="en-US" altLang="zh-CN"/>
          </a:p>
        </p:txBody>
      </p:sp>
      <p:sp>
        <p:nvSpPr>
          <p:cNvPr id="40448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8229600" cy="914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Examples</a:t>
            </a:r>
          </a:p>
        </p:txBody>
      </p:sp>
      <p:sp>
        <p:nvSpPr>
          <p:cNvPr id="404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143000"/>
            <a:ext cx="5791200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solidFill>
                  <a:srgbClr val="FF5050"/>
                </a:solidFill>
                <a:effectLst/>
                <a:ea typeface="宋体" panose="02010600030101010101" pitchFamily="2" charset="-122"/>
                <a:sym typeface="Math1" pitchFamily="2" charset="2"/>
              </a:rPr>
              <a:t>Postfix(</a:t>
            </a:r>
            <a:r>
              <a:rPr lang="en-US" altLang="zh-CN" sz="2400" b="1">
                <a:effectLst/>
                <a:ea typeface="宋体" panose="02010600030101010101" pitchFamily="2" charset="-122"/>
              </a:rPr>
              <a:t> ( 9 – 5 ) + 2 </a:t>
            </a:r>
            <a:r>
              <a:rPr lang="en-US" altLang="zh-CN" sz="2400" b="1">
                <a:solidFill>
                  <a:srgbClr val="FF5050"/>
                </a:solidFill>
                <a:effectLst/>
                <a:ea typeface="宋体" panose="02010600030101010101" pitchFamily="2" charset="-122"/>
                <a:sym typeface="Math1" pitchFamily="2" charset="2"/>
              </a:rPr>
              <a:t>)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solidFill>
                  <a:srgbClr val="FF5050"/>
                </a:solidFill>
                <a:effectLst/>
                <a:ea typeface="宋体" panose="02010600030101010101" pitchFamily="2" charset="-122"/>
                <a:sym typeface="Math1" pitchFamily="2" charset="2"/>
              </a:rPr>
              <a:t>= Postfix(</a:t>
            </a:r>
            <a:r>
              <a:rPr lang="en-US" altLang="zh-CN" sz="2400" b="1">
                <a:effectLst/>
                <a:ea typeface="宋体" panose="02010600030101010101" pitchFamily="2" charset="-122"/>
              </a:rPr>
              <a:t> ( 9 – 5 ) </a:t>
            </a:r>
            <a:r>
              <a:rPr lang="en-US" altLang="zh-CN" sz="2400" b="1">
                <a:solidFill>
                  <a:srgbClr val="FF5050"/>
                </a:solidFill>
                <a:effectLst/>
                <a:ea typeface="宋体" panose="02010600030101010101" pitchFamily="2" charset="-122"/>
                <a:sym typeface="Math1" pitchFamily="2" charset="2"/>
              </a:rPr>
              <a:t>)</a:t>
            </a:r>
            <a:r>
              <a:rPr lang="en-US" altLang="zh-CN" sz="2400" b="1">
                <a:effectLst/>
                <a:ea typeface="宋体" panose="02010600030101010101" pitchFamily="2" charset="-122"/>
              </a:rPr>
              <a:t> </a:t>
            </a:r>
            <a:r>
              <a:rPr lang="en-US" altLang="zh-CN" sz="2400" b="1">
                <a:solidFill>
                  <a:srgbClr val="FF5050"/>
                </a:solidFill>
                <a:effectLst/>
                <a:ea typeface="宋体" panose="02010600030101010101" pitchFamily="2" charset="-122"/>
                <a:sym typeface="Math1" pitchFamily="2" charset="2"/>
              </a:rPr>
              <a:t>Postfix( </a:t>
            </a:r>
            <a:r>
              <a:rPr lang="en-US" altLang="zh-CN" sz="2400" b="1">
                <a:effectLst/>
                <a:ea typeface="宋体" panose="02010600030101010101" pitchFamily="2" charset="-122"/>
              </a:rPr>
              <a:t>2 </a:t>
            </a:r>
            <a:r>
              <a:rPr lang="en-US" altLang="zh-CN" sz="2400" b="1">
                <a:solidFill>
                  <a:srgbClr val="FF5050"/>
                </a:solidFill>
                <a:effectLst/>
                <a:ea typeface="宋体" panose="02010600030101010101" pitchFamily="2" charset="-122"/>
                <a:sym typeface="Math1" pitchFamily="2" charset="2"/>
              </a:rPr>
              <a:t>) </a:t>
            </a:r>
            <a:r>
              <a:rPr lang="en-US" altLang="zh-CN" sz="2400" b="1">
                <a:effectLst/>
                <a:ea typeface="宋体" panose="02010600030101010101" pitchFamily="2" charset="-122"/>
              </a:rPr>
              <a:t>+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solidFill>
                  <a:srgbClr val="FF5050"/>
                </a:solidFill>
                <a:effectLst/>
                <a:ea typeface="宋体" panose="02010600030101010101" pitchFamily="2" charset="-122"/>
                <a:sym typeface="Math1" pitchFamily="2" charset="2"/>
              </a:rPr>
              <a:t>= Postfix( </a:t>
            </a:r>
            <a:r>
              <a:rPr lang="en-US" altLang="zh-CN" sz="2400" b="1">
                <a:effectLst/>
                <a:ea typeface="宋体" panose="02010600030101010101" pitchFamily="2" charset="-122"/>
              </a:rPr>
              <a:t>9 – 5 </a:t>
            </a:r>
            <a:r>
              <a:rPr lang="en-US" altLang="zh-CN" sz="2400" b="1">
                <a:solidFill>
                  <a:srgbClr val="FF5050"/>
                </a:solidFill>
                <a:effectLst/>
                <a:ea typeface="宋体" panose="02010600030101010101" pitchFamily="2" charset="-122"/>
                <a:sym typeface="Math1" pitchFamily="2" charset="2"/>
              </a:rPr>
              <a:t>)</a:t>
            </a:r>
            <a:r>
              <a:rPr lang="en-US" altLang="zh-CN" sz="2400" b="1">
                <a:effectLst/>
                <a:ea typeface="宋体" panose="02010600030101010101" pitchFamily="2" charset="-122"/>
              </a:rPr>
              <a:t> </a:t>
            </a:r>
            <a:r>
              <a:rPr lang="en-US" altLang="zh-CN" sz="2400" b="1">
                <a:solidFill>
                  <a:srgbClr val="FF5050"/>
                </a:solidFill>
                <a:effectLst/>
                <a:ea typeface="宋体" panose="02010600030101010101" pitchFamily="2" charset="-122"/>
                <a:sym typeface="Math1" pitchFamily="2" charset="2"/>
              </a:rPr>
              <a:t>Postfix( </a:t>
            </a:r>
            <a:r>
              <a:rPr lang="en-US" altLang="zh-CN" sz="2400" b="1">
                <a:effectLst/>
                <a:ea typeface="宋体" panose="02010600030101010101" pitchFamily="2" charset="-122"/>
              </a:rPr>
              <a:t>2 </a:t>
            </a:r>
            <a:r>
              <a:rPr lang="en-US" altLang="zh-CN" sz="2400" b="1">
                <a:solidFill>
                  <a:srgbClr val="FF5050"/>
                </a:solidFill>
                <a:effectLst/>
                <a:ea typeface="宋体" panose="02010600030101010101" pitchFamily="2" charset="-122"/>
                <a:sym typeface="Math1" pitchFamily="2" charset="2"/>
              </a:rPr>
              <a:t>) </a:t>
            </a:r>
            <a:r>
              <a:rPr lang="en-US" altLang="zh-CN" sz="2400" b="1">
                <a:effectLst/>
                <a:ea typeface="宋体" panose="02010600030101010101" pitchFamily="2" charset="-122"/>
              </a:rPr>
              <a:t>+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solidFill>
                  <a:srgbClr val="FF5050"/>
                </a:solidFill>
                <a:effectLst/>
                <a:ea typeface="宋体" panose="02010600030101010101" pitchFamily="2" charset="-122"/>
                <a:sym typeface="Math1" pitchFamily="2" charset="2"/>
              </a:rPr>
              <a:t>= Postfix( </a:t>
            </a:r>
            <a:r>
              <a:rPr lang="en-US" altLang="zh-CN" sz="2400" b="1">
                <a:effectLst/>
                <a:ea typeface="宋体" panose="02010600030101010101" pitchFamily="2" charset="-122"/>
              </a:rPr>
              <a:t>9 </a:t>
            </a:r>
            <a:r>
              <a:rPr lang="en-US" altLang="zh-CN" sz="2400" b="1">
                <a:solidFill>
                  <a:srgbClr val="FF5050"/>
                </a:solidFill>
                <a:effectLst/>
                <a:ea typeface="宋体" panose="02010600030101010101" pitchFamily="2" charset="-122"/>
                <a:sym typeface="Math1" pitchFamily="2" charset="2"/>
              </a:rPr>
              <a:t>)</a:t>
            </a:r>
            <a:r>
              <a:rPr lang="en-US" altLang="zh-CN" sz="2400" b="1">
                <a:effectLst/>
                <a:ea typeface="宋体" panose="02010600030101010101" pitchFamily="2" charset="-122"/>
              </a:rPr>
              <a:t> </a:t>
            </a:r>
            <a:r>
              <a:rPr lang="en-US" altLang="zh-CN" sz="2400" b="1">
                <a:solidFill>
                  <a:srgbClr val="FF5050"/>
                </a:solidFill>
                <a:effectLst/>
                <a:ea typeface="宋体" panose="02010600030101010101" pitchFamily="2" charset="-122"/>
                <a:sym typeface="Math1" pitchFamily="2" charset="2"/>
              </a:rPr>
              <a:t>Postfix( </a:t>
            </a:r>
            <a:r>
              <a:rPr lang="en-US" altLang="zh-CN" sz="2400" b="1">
                <a:effectLst/>
                <a:ea typeface="宋体" panose="02010600030101010101" pitchFamily="2" charset="-122"/>
              </a:rPr>
              <a:t>5 </a:t>
            </a:r>
            <a:r>
              <a:rPr lang="en-US" altLang="zh-CN" sz="2400" b="1">
                <a:solidFill>
                  <a:srgbClr val="FF5050"/>
                </a:solidFill>
                <a:effectLst/>
                <a:ea typeface="宋体" panose="02010600030101010101" pitchFamily="2" charset="-122"/>
                <a:sym typeface="Math1" pitchFamily="2" charset="2"/>
              </a:rPr>
              <a:t>) </a:t>
            </a:r>
            <a:r>
              <a:rPr lang="en-US" altLang="zh-CN" sz="2400" b="1">
                <a:effectLst/>
                <a:ea typeface="宋体" panose="02010600030101010101" pitchFamily="2" charset="-122"/>
              </a:rPr>
              <a:t>- </a:t>
            </a:r>
            <a:r>
              <a:rPr lang="en-US" altLang="zh-CN" sz="2400" b="1">
                <a:solidFill>
                  <a:srgbClr val="FF5050"/>
                </a:solidFill>
                <a:effectLst/>
                <a:ea typeface="宋体" panose="02010600030101010101" pitchFamily="2" charset="-122"/>
                <a:sym typeface="Math1" pitchFamily="2" charset="2"/>
              </a:rPr>
              <a:t>Postfix( </a:t>
            </a:r>
            <a:r>
              <a:rPr lang="en-US" altLang="zh-CN" sz="2400" b="1">
                <a:effectLst/>
                <a:ea typeface="宋体" panose="02010600030101010101" pitchFamily="2" charset="-122"/>
              </a:rPr>
              <a:t>2 </a:t>
            </a:r>
            <a:r>
              <a:rPr lang="en-US" altLang="zh-CN" sz="2400" b="1">
                <a:solidFill>
                  <a:srgbClr val="FF5050"/>
                </a:solidFill>
                <a:effectLst/>
                <a:ea typeface="宋体" panose="02010600030101010101" pitchFamily="2" charset="-122"/>
                <a:sym typeface="Math1" pitchFamily="2" charset="2"/>
              </a:rPr>
              <a:t>) </a:t>
            </a:r>
            <a:r>
              <a:rPr lang="en-US" altLang="zh-CN" sz="2400" b="1">
                <a:effectLst/>
                <a:ea typeface="宋体" panose="02010600030101010101" pitchFamily="2" charset="-122"/>
              </a:rPr>
              <a:t>+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solidFill>
                  <a:srgbClr val="FF5050"/>
                </a:solidFill>
                <a:effectLst/>
                <a:ea typeface="宋体" panose="02010600030101010101" pitchFamily="2" charset="-122"/>
                <a:sym typeface="Math1" pitchFamily="2" charset="2"/>
              </a:rPr>
              <a:t>= </a:t>
            </a:r>
            <a:r>
              <a:rPr lang="en-US" altLang="zh-CN" sz="2400" b="1">
                <a:effectLst/>
                <a:ea typeface="宋体" panose="02010600030101010101" pitchFamily="2" charset="-122"/>
                <a:sym typeface="Math1" pitchFamily="2" charset="2"/>
              </a:rPr>
              <a:t>9 5 – 2 +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2400" b="1">
              <a:effectLst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2400" b="1">
              <a:effectLst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solidFill>
                  <a:srgbClr val="FF5050"/>
                </a:solidFill>
                <a:effectLst/>
                <a:ea typeface="宋体" panose="02010600030101010101" pitchFamily="2" charset="-122"/>
                <a:sym typeface="Math1" pitchFamily="2" charset="2"/>
              </a:rPr>
              <a:t>Postfix(</a:t>
            </a:r>
            <a:r>
              <a:rPr lang="en-US" altLang="zh-CN" sz="2400" b="1">
                <a:effectLst/>
                <a:ea typeface="宋体" panose="02010600030101010101" pitchFamily="2" charset="-122"/>
              </a:rPr>
              <a:t>9 – ( 5 + 2 ) </a:t>
            </a:r>
            <a:r>
              <a:rPr lang="en-US" altLang="zh-CN" sz="2400" b="1">
                <a:solidFill>
                  <a:srgbClr val="FF5050"/>
                </a:solidFill>
                <a:effectLst/>
                <a:ea typeface="宋体" panose="02010600030101010101" pitchFamily="2" charset="-122"/>
                <a:sym typeface="Math1" pitchFamily="2" charset="2"/>
              </a:rPr>
              <a:t>)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solidFill>
                  <a:srgbClr val="FF5050"/>
                </a:solidFill>
                <a:effectLst/>
                <a:ea typeface="宋体" panose="02010600030101010101" pitchFamily="2" charset="-122"/>
                <a:sym typeface="Math1" pitchFamily="2" charset="2"/>
              </a:rPr>
              <a:t>= Postfix( </a:t>
            </a:r>
            <a:r>
              <a:rPr lang="en-US" altLang="zh-CN" sz="2400" b="1">
                <a:effectLst/>
                <a:ea typeface="宋体" panose="02010600030101010101" pitchFamily="2" charset="-122"/>
              </a:rPr>
              <a:t>9 </a:t>
            </a:r>
            <a:r>
              <a:rPr lang="en-US" altLang="zh-CN" sz="2400" b="1">
                <a:solidFill>
                  <a:srgbClr val="FF5050"/>
                </a:solidFill>
                <a:effectLst/>
                <a:ea typeface="宋体" panose="02010600030101010101" pitchFamily="2" charset="-122"/>
                <a:sym typeface="Math1" pitchFamily="2" charset="2"/>
              </a:rPr>
              <a:t>)</a:t>
            </a:r>
            <a:r>
              <a:rPr lang="en-US" altLang="zh-CN" sz="2400" b="1">
                <a:effectLst/>
                <a:ea typeface="宋体" panose="02010600030101010101" pitchFamily="2" charset="-122"/>
              </a:rPr>
              <a:t> </a:t>
            </a:r>
            <a:r>
              <a:rPr lang="en-US" altLang="zh-CN" sz="2400" b="1">
                <a:solidFill>
                  <a:srgbClr val="FF5050"/>
                </a:solidFill>
                <a:effectLst/>
                <a:ea typeface="宋体" panose="02010600030101010101" pitchFamily="2" charset="-122"/>
                <a:sym typeface="Math1" pitchFamily="2" charset="2"/>
              </a:rPr>
              <a:t>Postfix( </a:t>
            </a:r>
            <a:r>
              <a:rPr lang="en-US" altLang="zh-CN" sz="2400" b="1">
                <a:effectLst/>
                <a:ea typeface="宋体" panose="02010600030101010101" pitchFamily="2" charset="-122"/>
              </a:rPr>
              <a:t>( 5 + 2 ) </a:t>
            </a:r>
            <a:r>
              <a:rPr lang="en-US" altLang="zh-CN" sz="2400" b="1">
                <a:solidFill>
                  <a:srgbClr val="FF5050"/>
                </a:solidFill>
                <a:effectLst/>
                <a:ea typeface="宋体" panose="02010600030101010101" pitchFamily="2" charset="-122"/>
                <a:sym typeface="Math1" pitchFamily="2" charset="2"/>
              </a:rPr>
              <a:t>) </a:t>
            </a:r>
            <a:r>
              <a:rPr lang="en-US" altLang="zh-CN" sz="2400" b="1">
                <a:effectLst/>
                <a:ea typeface="宋体" panose="02010600030101010101" pitchFamily="2" charset="-122"/>
              </a:rPr>
              <a:t>-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solidFill>
                  <a:srgbClr val="FF5050"/>
                </a:solidFill>
                <a:effectLst/>
                <a:ea typeface="宋体" panose="02010600030101010101" pitchFamily="2" charset="-122"/>
                <a:sym typeface="Math1" pitchFamily="2" charset="2"/>
              </a:rPr>
              <a:t>= Postfix( </a:t>
            </a:r>
            <a:r>
              <a:rPr lang="en-US" altLang="zh-CN" sz="2400" b="1">
                <a:effectLst/>
                <a:ea typeface="宋体" panose="02010600030101010101" pitchFamily="2" charset="-122"/>
              </a:rPr>
              <a:t>9 </a:t>
            </a:r>
            <a:r>
              <a:rPr lang="en-US" altLang="zh-CN" sz="2400" b="1">
                <a:solidFill>
                  <a:srgbClr val="FF5050"/>
                </a:solidFill>
                <a:effectLst/>
                <a:ea typeface="宋体" panose="02010600030101010101" pitchFamily="2" charset="-122"/>
                <a:sym typeface="Math1" pitchFamily="2" charset="2"/>
              </a:rPr>
              <a:t>)</a:t>
            </a:r>
            <a:r>
              <a:rPr lang="en-US" altLang="zh-CN" sz="2400" b="1">
                <a:effectLst/>
                <a:ea typeface="宋体" panose="02010600030101010101" pitchFamily="2" charset="-122"/>
              </a:rPr>
              <a:t> </a:t>
            </a:r>
            <a:r>
              <a:rPr lang="en-US" altLang="zh-CN" sz="2400" b="1">
                <a:solidFill>
                  <a:srgbClr val="FF5050"/>
                </a:solidFill>
                <a:effectLst/>
                <a:ea typeface="宋体" panose="02010600030101010101" pitchFamily="2" charset="-122"/>
                <a:sym typeface="Math1" pitchFamily="2" charset="2"/>
              </a:rPr>
              <a:t>Postfix( </a:t>
            </a:r>
            <a:r>
              <a:rPr lang="en-US" altLang="zh-CN" sz="2400" b="1">
                <a:effectLst/>
                <a:ea typeface="宋体" panose="02010600030101010101" pitchFamily="2" charset="-122"/>
              </a:rPr>
              <a:t>5 + 2 </a:t>
            </a:r>
            <a:r>
              <a:rPr lang="en-US" altLang="zh-CN" sz="2400" b="1">
                <a:solidFill>
                  <a:srgbClr val="FF5050"/>
                </a:solidFill>
                <a:effectLst/>
                <a:ea typeface="宋体" panose="02010600030101010101" pitchFamily="2" charset="-122"/>
                <a:sym typeface="Math1" pitchFamily="2" charset="2"/>
              </a:rPr>
              <a:t>) </a:t>
            </a:r>
            <a:r>
              <a:rPr lang="en-US" altLang="zh-CN" sz="2400" b="1">
                <a:effectLst/>
                <a:ea typeface="宋体" panose="02010600030101010101" pitchFamily="2" charset="-122"/>
              </a:rPr>
              <a:t>–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solidFill>
                  <a:srgbClr val="FF5050"/>
                </a:solidFill>
                <a:effectLst/>
                <a:ea typeface="宋体" panose="02010600030101010101" pitchFamily="2" charset="-122"/>
                <a:sym typeface="Math1" pitchFamily="2" charset="2"/>
              </a:rPr>
              <a:t>= Postfix( </a:t>
            </a:r>
            <a:r>
              <a:rPr lang="en-US" altLang="zh-CN" sz="2400" b="1">
                <a:effectLst/>
                <a:ea typeface="宋体" panose="02010600030101010101" pitchFamily="2" charset="-122"/>
              </a:rPr>
              <a:t>9 </a:t>
            </a:r>
            <a:r>
              <a:rPr lang="en-US" altLang="zh-CN" sz="2400" b="1">
                <a:solidFill>
                  <a:srgbClr val="FF5050"/>
                </a:solidFill>
                <a:effectLst/>
                <a:ea typeface="宋体" panose="02010600030101010101" pitchFamily="2" charset="-122"/>
                <a:sym typeface="Math1" pitchFamily="2" charset="2"/>
              </a:rPr>
              <a:t>)</a:t>
            </a:r>
            <a:r>
              <a:rPr lang="en-US" altLang="zh-CN" sz="2400" b="1">
                <a:effectLst/>
                <a:ea typeface="宋体" panose="02010600030101010101" pitchFamily="2" charset="-122"/>
              </a:rPr>
              <a:t> </a:t>
            </a:r>
            <a:r>
              <a:rPr lang="en-US" altLang="zh-CN" sz="2400" b="1">
                <a:solidFill>
                  <a:srgbClr val="FF5050"/>
                </a:solidFill>
                <a:effectLst/>
                <a:ea typeface="宋体" panose="02010600030101010101" pitchFamily="2" charset="-122"/>
                <a:sym typeface="Math1" pitchFamily="2" charset="2"/>
              </a:rPr>
              <a:t>Postfix( </a:t>
            </a:r>
            <a:r>
              <a:rPr lang="en-US" altLang="zh-CN" sz="2400" b="1">
                <a:effectLst/>
                <a:ea typeface="宋体" panose="02010600030101010101" pitchFamily="2" charset="-122"/>
              </a:rPr>
              <a:t>5 </a:t>
            </a:r>
            <a:r>
              <a:rPr lang="en-US" altLang="zh-CN" sz="2400" b="1">
                <a:solidFill>
                  <a:srgbClr val="FF5050"/>
                </a:solidFill>
                <a:effectLst/>
                <a:ea typeface="宋体" panose="02010600030101010101" pitchFamily="2" charset="-122"/>
                <a:sym typeface="Math1" pitchFamily="2" charset="2"/>
              </a:rPr>
              <a:t>)</a:t>
            </a:r>
            <a:r>
              <a:rPr lang="en-US" altLang="zh-CN" sz="2400" b="1">
                <a:effectLst/>
                <a:ea typeface="宋体" panose="02010600030101010101" pitchFamily="2" charset="-122"/>
              </a:rPr>
              <a:t> </a:t>
            </a:r>
            <a:r>
              <a:rPr lang="en-US" altLang="zh-CN" sz="2400" b="1">
                <a:solidFill>
                  <a:srgbClr val="FF5050"/>
                </a:solidFill>
                <a:effectLst/>
                <a:ea typeface="宋体" panose="02010600030101010101" pitchFamily="2" charset="-122"/>
                <a:sym typeface="Math1" pitchFamily="2" charset="2"/>
              </a:rPr>
              <a:t>Postfix( </a:t>
            </a:r>
            <a:r>
              <a:rPr lang="en-US" altLang="zh-CN" sz="2400" b="1">
                <a:effectLst/>
                <a:ea typeface="宋体" panose="02010600030101010101" pitchFamily="2" charset="-122"/>
              </a:rPr>
              <a:t>2 </a:t>
            </a:r>
            <a:r>
              <a:rPr lang="en-US" altLang="zh-CN" sz="2400" b="1">
                <a:solidFill>
                  <a:srgbClr val="FF5050"/>
                </a:solidFill>
                <a:effectLst/>
                <a:ea typeface="宋体" panose="02010600030101010101" pitchFamily="2" charset="-122"/>
                <a:sym typeface="Math1" pitchFamily="2" charset="2"/>
              </a:rPr>
              <a:t>) </a:t>
            </a:r>
            <a:r>
              <a:rPr lang="en-US" altLang="zh-CN" sz="2400" b="1">
                <a:effectLst/>
                <a:ea typeface="宋体" panose="02010600030101010101" pitchFamily="2" charset="-122"/>
              </a:rPr>
              <a:t>+ –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solidFill>
                  <a:srgbClr val="FF5050"/>
                </a:solidFill>
                <a:effectLst/>
                <a:ea typeface="宋体" panose="02010600030101010101" pitchFamily="2" charset="-122"/>
                <a:sym typeface="Math1" pitchFamily="2" charset="2"/>
              </a:rPr>
              <a:t>= </a:t>
            </a:r>
            <a:r>
              <a:rPr lang="en-US" altLang="zh-CN" sz="2400" b="1">
                <a:effectLst/>
                <a:ea typeface="宋体" panose="02010600030101010101" pitchFamily="2" charset="-122"/>
                <a:sym typeface="Math1" pitchFamily="2" charset="2"/>
              </a:rPr>
              <a:t>9 5 2 + – </a:t>
            </a:r>
          </a:p>
          <a:p>
            <a:pPr>
              <a:buFont typeface="Wingdings" panose="05000000000000000000" pitchFamily="2" charset="2"/>
              <a:buNone/>
            </a:pPr>
            <a:endParaRPr lang="zh-CN" altLang="en-US" sz="2400" b="1">
              <a:effectLst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8ECC6-103E-4E05-8F6D-95A1577641F9}" type="slidenum">
              <a:rPr lang="zh-CN" altLang="en-US"/>
              <a:pPr/>
              <a:t>14</a:t>
            </a:fld>
            <a:endParaRPr lang="en-US" altLang="zh-CN"/>
          </a:p>
        </p:txBody>
      </p:sp>
      <p:sp>
        <p:nvSpPr>
          <p:cNvPr id="34611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229600" cy="838200"/>
          </a:xfrm>
        </p:spPr>
        <p:txBody>
          <a:bodyPr/>
          <a:lstStyle/>
          <a:p>
            <a:r>
              <a:rPr lang="en-US" altLang="zh-CN" sz="3200" b="1">
                <a:effectLst/>
                <a:ea typeface="宋体" panose="02010600030101010101" pitchFamily="2" charset="-122"/>
              </a:rPr>
              <a:t>Syntax-Directed Definition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346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143000"/>
            <a:ext cx="8382000" cy="3886200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zh-CN">
                <a:effectLst/>
                <a:ea typeface="宋体" panose="02010600030101010101" pitchFamily="2" charset="-122"/>
              </a:rPr>
              <a:t>Each Production Has a Set of </a:t>
            </a:r>
            <a:r>
              <a:rPr lang="en-US" altLang="zh-CN">
                <a:solidFill>
                  <a:srgbClr val="00CC00"/>
                </a:solidFill>
                <a:effectLst/>
                <a:ea typeface="宋体" panose="02010600030101010101" pitchFamily="2" charset="-122"/>
              </a:rPr>
              <a:t>Semantic Rules</a:t>
            </a:r>
          </a:p>
          <a:p>
            <a:pPr>
              <a:spcBef>
                <a:spcPct val="50000"/>
              </a:spcBef>
            </a:pPr>
            <a:r>
              <a:rPr lang="en-US" altLang="zh-CN">
                <a:effectLst/>
                <a:ea typeface="宋体" panose="02010600030101010101" pitchFamily="2" charset="-122"/>
              </a:rPr>
              <a:t>Each Grammar Symbol Has a Set of </a:t>
            </a:r>
            <a:r>
              <a:rPr lang="en-US" altLang="zh-CN">
                <a:solidFill>
                  <a:srgbClr val="00CC00"/>
                </a:solidFill>
                <a:effectLst/>
                <a:ea typeface="宋体" panose="02010600030101010101" pitchFamily="2" charset="-122"/>
              </a:rPr>
              <a:t>Attributes</a:t>
            </a:r>
          </a:p>
          <a:p>
            <a:pPr>
              <a:spcBef>
                <a:spcPct val="50000"/>
              </a:spcBef>
            </a:pPr>
            <a:r>
              <a:rPr lang="en-US" altLang="zh-CN">
                <a:effectLst/>
                <a:ea typeface="宋体" panose="02010600030101010101" pitchFamily="2" charset="-122"/>
              </a:rPr>
              <a:t>For the Following Example, String Attribute “</a:t>
            </a:r>
            <a:r>
              <a:rPr lang="en-US" altLang="zh-CN" i="1">
                <a:effectLst/>
                <a:ea typeface="宋体" panose="02010600030101010101" pitchFamily="2" charset="-122"/>
              </a:rPr>
              <a:t>t</a:t>
            </a:r>
            <a:r>
              <a:rPr lang="en-US" altLang="zh-CN">
                <a:effectLst/>
                <a:ea typeface="宋体" panose="02010600030101010101" pitchFamily="2" charset="-122"/>
              </a:rPr>
              <a:t>” is Associated With Each Grammar Symbol</a:t>
            </a:r>
          </a:p>
          <a:p>
            <a:pPr>
              <a:spcBef>
                <a:spcPct val="50000"/>
              </a:spcBef>
            </a:pPr>
            <a:endParaRPr lang="en-US" altLang="zh-CN">
              <a:effectLst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endParaRPr lang="en-US" altLang="zh-CN">
              <a:effectLst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>
                <a:effectLst/>
                <a:ea typeface="宋体" panose="02010600030101010101" pitchFamily="2" charset="-122"/>
              </a:rPr>
              <a:t>recall: a Derivation for  9 + 5  - 2?</a:t>
            </a:r>
            <a:endParaRPr lang="en-US" altLang="zh-CN" sz="2400">
              <a:ea typeface="宋体" panose="02010600030101010101" pitchFamily="2" charset="-122"/>
            </a:endParaRPr>
          </a:p>
        </p:txBody>
      </p:sp>
      <p:grpSp>
        <p:nvGrpSpPr>
          <p:cNvPr id="346118" name="Group 6"/>
          <p:cNvGrpSpPr>
            <a:grpSpLocks/>
          </p:cNvGrpSpPr>
          <p:nvPr/>
        </p:nvGrpSpPr>
        <p:grpSpPr bwMode="auto">
          <a:xfrm>
            <a:off x="1752600" y="3276600"/>
            <a:ext cx="5715000" cy="990600"/>
            <a:chOff x="1248" y="2544"/>
            <a:chExt cx="3600" cy="624"/>
          </a:xfrm>
        </p:grpSpPr>
        <p:sp>
          <p:nvSpPr>
            <p:cNvPr id="346116" name="Rectangle 4"/>
            <p:cNvSpPr>
              <a:spLocks noChangeArrowheads="1"/>
            </p:cNvSpPr>
            <p:nvPr/>
          </p:nvSpPr>
          <p:spPr bwMode="auto">
            <a:xfrm>
              <a:off x="1392" y="2544"/>
              <a:ext cx="3217" cy="5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400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expr </a:t>
              </a:r>
              <a:r>
                <a:rPr lang="en-US" altLang="zh-CN" sz="2400" b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</a:t>
              </a:r>
              <a:r>
                <a:rPr lang="en-US" altLang="zh-CN" sz="2400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2400" b="1" i="1">
                  <a:latin typeface="Times New Roman" panose="02020603050405020304" pitchFamily="18" charset="0"/>
                  <a:ea typeface="宋体" panose="02010600030101010101" pitchFamily="2" charset="-122"/>
                  <a:sym typeface="Math1" pitchFamily="2" charset="2"/>
                </a:rPr>
                <a:t>expr – term | expr + term | term</a:t>
              </a:r>
            </a:p>
            <a:p>
              <a:pPr algn="l" eaLnBrk="0" hangingPunct="0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400" b="1" i="1">
                  <a:latin typeface="Times New Roman" panose="02020603050405020304" pitchFamily="18" charset="0"/>
                  <a:ea typeface="宋体" panose="02010600030101010101" pitchFamily="2" charset="-122"/>
                  <a:sym typeface="Math1" pitchFamily="2" charset="2"/>
                </a:rPr>
                <a:t>term</a:t>
              </a:r>
              <a:r>
                <a:rPr lang="en-US" altLang="zh-CN" sz="2400" b="1">
                  <a:latin typeface="Times New Roman" panose="02020603050405020304" pitchFamily="18" charset="0"/>
                  <a:ea typeface="宋体" panose="02010600030101010101" pitchFamily="2" charset="-122"/>
                  <a:sym typeface="Math1" pitchFamily="2" charset="2"/>
                </a:rPr>
                <a:t> </a:t>
              </a:r>
              <a:r>
                <a:rPr lang="en-US" altLang="zh-CN" sz="2400" b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</a:t>
              </a:r>
              <a:r>
                <a:rPr lang="en-US" altLang="zh-CN" sz="2400" b="1">
                  <a:latin typeface="Times New Roman" panose="02020603050405020304" pitchFamily="18" charset="0"/>
                  <a:ea typeface="宋体" panose="02010600030101010101" pitchFamily="2" charset="-122"/>
                  <a:sym typeface="Math1" pitchFamily="2" charset="2"/>
                </a:rPr>
                <a:t>  0 | 1 | 2 | 3 | … | 9</a:t>
              </a:r>
            </a:p>
          </p:txBody>
        </p:sp>
        <p:sp>
          <p:nvSpPr>
            <p:cNvPr id="346117" name="Rectangle 5"/>
            <p:cNvSpPr>
              <a:spLocks noChangeArrowheads="1"/>
            </p:cNvSpPr>
            <p:nvPr/>
          </p:nvSpPr>
          <p:spPr bwMode="auto">
            <a:xfrm>
              <a:off x="1248" y="2544"/>
              <a:ext cx="3600" cy="62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46119" name="Rectangle 7"/>
          <p:cNvSpPr>
            <a:spLocks noChangeArrowheads="1"/>
          </p:cNvSpPr>
          <p:nvPr/>
        </p:nvSpPr>
        <p:spPr bwMode="auto">
          <a:xfrm>
            <a:off x="6145213" y="5387975"/>
            <a:ext cx="2730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  <a:buFontTx/>
              <a:buChar char="•"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6120" name="Rectangle 8"/>
          <p:cNvSpPr>
            <a:spLocks noChangeArrowheads="1"/>
          </p:cNvSpPr>
          <p:nvPr/>
        </p:nvSpPr>
        <p:spPr bwMode="auto">
          <a:xfrm>
            <a:off x="685800" y="5105400"/>
            <a:ext cx="80772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</a:rPr>
              <a:t>expr 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</a:t>
            </a:r>
            <a:r>
              <a:rPr lang="en-US" altLang="zh-CN" sz="2400" b="1" i="1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expr </a:t>
            </a: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-</a:t>
            </a:r>
            <a:r>
              <a:rPr lang="en-US" altLang="zh-CN" sz="2400" b="1" i="1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</a:t>
            </a:r>
            <a:r>
              <a:rPr lang="en-US" altLang="zh-CN" sz="2400" b="1" i="1">
                <a:solidFill>
                  <a:srgbClr val="00CC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term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  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 </a:t>
            </a:r>
            <a:r>
              <a:rPr lang="en-US" altLang="zh-CN" sz="2400" b="1" i="1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expr</a:t>
            </a:r>
            <a:r>
              <a:rPr lang="en-US" altLang="zh-CN" sz="2400" b="1" i="1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+ </a:t>
            </a:r>
            <a:r>
              <a:rPr lang="en-US" altLang="zh-CN" sz="2400" b="1" i="1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term</a:t>
            </a: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- </a:t>
            </a:r>
            <a:r>
              <a:rPr lang="en-US" altLang="zh-CN" sz="2400" b="1" i="1">
                <a:solidFill>
                  <a:srgbClr val="00CC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term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  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 </a:t>
            </a:r>
            <a:r>
              <a:rPr lang="en-US" altLang="zh-CN" sz="2400" b="1" i="1">
                <a:solidFill>
                  <a:srgbClr val="FF66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term</a:t>
            </a: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+ </a:t>
            </a:r>
            <a:r>
              <a:rPr lang="en-US" altLang="zh-CN" sz="2400" b="1" i="1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term</a:t>
            </a: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- </a:t>
            </a:r>
            <a:r>
              <a:rPr lang="en-US" altLang="zh-CN" sz="2400" b="1" i="1">
                <a:solidFill>
                  <a:srgbClr val="00CC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term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 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</a:t>
            </a:r>
            <a:r>
              <a:rPr lang="en-US" altLang="zh-CN" sz="2400" b="1">
                <a:solidFill>
                  <a:srgbClr val="FF66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9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+ </a:t>
            </a:r>
            <a:r>
              <a:rPr lang="en-US" altLang="zh-CN" sz="2400" b="1" i="1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term </a:t>
            </a: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- </a:t>
            </a:r>
            <a:r>
              <a:rPr lang="en-US" altLang="zh-CN" sz="2400" b="1" i="1">
                <a:solidFill>
                  <a:srgbClr val="00CC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term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  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 </a:t>
            </a:r>
            <a:r>
              <a:rPr lang="en-US" altLang="zh-CN" sz="2400" b="1">
                <a:solidFill>
                  <a:srgbClr val="FF66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9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+ </a:t>
            </a:r>
            <a:r>
              <a:rPr lang="en-US" altLang="zh-CN" sz="2400" b="1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5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- </a:t>
            </a:r>
            <a:r>
              <a:rPr lang="en-US" altLang="zh-CN" sz="2400" b="1" i="1">
                <a:solidFill>
                  <a:srgbClr val="00CC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term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 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</a:t>
            </a:r>
            <a:r>
              <a:rPr lang="en-US" altLang="zh-CN" sz="2400" b="1">
                <a:solidFill>
                  <a:srgbClr val="FF66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9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+ </a:t>
            </a:r>
            <a:r>
              <a:rPr lang="en-US" altLang="zh-CN" sz="2400" b="1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5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- </a:t>
            </a:r>
            <a:r>
              <a:rPr lang="en-US" altLang="zh-CN" sz="2400" b="1">
                <a:solidFill>
                  <a:srgbClr val="00CC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Math1" pitchFamily="2" charset="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6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6120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A4D3E-6B05-497B-967F-18AEC8B25123}" type="slidenum">
              <a:rPr lang="zh-CN" altLang="en-US"/>
              <a:pPr/>
              <a:t>15</a:t>
            </a:fld>
            <a:endParaRPr lang="en-US" altLang="zh-CN"/>
          </a:p>
        </p:txBody>
      </p:sp>
      <p:sp>
        <p:nvSpPr>
          <p:cNvPr id="3471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229600" cy="838200"/>
          </a:xfrm>
        </p:spPr>
        <p:txBody>
          <a:bodyPr/>
          <a:lstStyle/>
          <a:p>
            <a:r>
              <a:rPr lang="en-US" altLang="zh-CN" sz="3200" b="1">
                <a:effectLst/>
                <a:ea typeface="宋体" panose="02010600030101010101" pitchFamily="2" charset="-122"/>
              </a:rPr>
              <a:t>Syntax-Directed Definition  (2</a:t>
            </a:r>
            <a:r>
              <a:rPr lang="en-US" altLang="zh-CN" sz="3200"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347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143000"/>
            <a:ext cx="8305800" cy="5324475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  <a:sym typeface="Math1" pitchFamily="2" charset="2"/>
              </a:rPr>
              <a:t>Each Production Rule of the CFG Has a Semantic Rule</a:t>
            </a:r>
          </a:p>
          <a:p>
            <a:pPr>
              <a:spcBef>
                <a:spcPct val="50000"/>
              </a:spcBef>
            </a:pPr>
            <a:endParaRPr lang="en-US" altLang="zh-CN">
              <a:effectLst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endParaRPr lang="en-US" altLang="zh-CN">
              <a:effectLst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endParaRPr lang="en-US" altLang="zh-CN">
              <a:effectLst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endParaRPr lang="en-US" altLang="zh-CN">
              <a:effectLst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endParaRPr lang="en-US" altLang="zh-CN">
              <a:solidFill>
                <a:srgbClr val="FF5050"/>
              </a:solidFill>
              <a:effectLst>
                <a:outerShdw blurRad="38100" dist="38100" dir="2700000" algn="tl">
                  <a:srgbClr val="000000"/>
                </a:outerShdw>
              </a:effectLst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FF5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Note</a:t>
            </a:r>
            <a:r>
              <a:rPr lang="en-US" altLang="zh-CN">
                <a:ea typeface="宋体" panose="02010600030101010101" pitchFamily="2" charset="-122"/>
              </a:rPr>
              <a:t>:  Semantic Rules for </a:t>
            </a:r>
            <a:r>
              <a:rPr lang="en-US" altLang="zh-CN" i="1">
                <a:ea typeface="宋体" panose="02010600030101010101" pitchFamily="2" charset="-122"/>
              </a:rPr>
              <a:t>expr</a:t>
            </a:r>
            <a:r>
              <a:rPr lang="en-US" altLang="zh-CN">
                <a:ea typeface="宋体" panose="02010600030101010101" pitchFamily="2" charset="-122"/>
              </a:rPr>
              <a:t> define </a:t>
            </a:r>
            <a:r>
              <a:rPr lang="en-US" altLang="zh-CN" i="1">
                <a:ea typeface="宋体" panose="02010600030101010101" pitchFamily="2" charset="-122"/>
              </a:rPr>
              <a:t>t</a:t>
            </a:r>
            <a:r>
              <a:rPr lang="en-US" altLang="zh-CN">
                <a:ea typeface="宋体" panose="02010600030101010101" pitchFamily="2" charset="-122"/>
              </a:rPr>
              <a:t> as a “synthesized attribute” i.e., the various copies of </a:t>
            </a:r>
            <a:r>
              <a:rPr lang="en-US" altLang="zh-CN" i="1">
                <a:ea typeface="宋体" panose="02010600030101010101" pitchFamily="2" charset="-122"/>
              </a:rPr>
              <a:t>t</a:t>
            </a:r>
            <a:r>
              <a:rPr lang="en-US" altLang="zh-CN">
                <a:ea typeface="宋体" panose="02010600030101010101" pitchFamily="2" charset="-122"/>
              </a:rPr>
              <a:t> obtain their values from “children </a:t>
            </a:r>
            <a:r>
              <a:rPr lang="en-US" altLang="zh-CN" i="1">
                <a:ea typeface="宋体" panose="02010600030101010101" pitchFamily="2" charset="-122"/>
              </a:rPr>
              <a:t>t</a:t>
            </a:r>
            <a:r>
              <a:rPr lang="en-US" altLang="zh-CN">
                <a:ea typeface="宋体" panose="02010600030101010101" pitchFamily="2" charset="-122"/>
              </a:rPr>
              <a:t>’s”</a:t>
            </a:r>
          </a:p>
        </p:txBody>
      </p:sp>
      <p:sp>
        <p:nvSpPr>
          <p:cNvPr id="347143" name="Rectangle 7"/>
          <p:cNvSpPr>
            <a:spLocks noChangeArrowheads="1"/>
          </p:cNvSpPr>
          <p:nvPr/>
        </p:nvSpPr>
        <p:spPr bwMode="auto">
          <a:xfrm>
            <a:off x="6145213" y="5387975"/>
            <a:ext cx="2730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  <a:buFontTx/>
              <a:buChar char="•"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47150" name="Group 14"/>
          <p:cNvGrpSpPr>
            <a:grpSpLocks/>
          </p:cNvGrpSpPr>
          <p:nvPr/>
        </p:nvGrpSpPr>
        <p:grpSpPr bwMode="auto">
          <a:xfrm>
            <a:off x="1371600" y="2193925"/>
            <a:ext cx="6934200" cy="2606675"/>
            <a:chOff x="1152" y="1488"/>
            <a:chExt cx="3744" cy="1536"/>
          </a:xfrm>
        </p:grpSpPr>
        <p:sp>
          <p:nvSpPr>
            <p:cNvPr id="347144" name="Text Box 8"/>
            <p:cNvSpPr txBox="1">
              <a:spLocks noChangeArrowheads="1"/>
            </p:cNvSpPr>
            <p:nvPr/>
          </p:nvSpPr>
          <p:spPr bwMode="auto">
            <a:xfrm>
              <a:off x="1152" y="1536"/>
              <a:ext cx="3744" cy="14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Production                                    Semantic Rule</a:t>
              </a:r>
            </a:p>
            <a:p>
              <a:pPr algn="l" eaLnBrk="0" hangingPunct="0">
                <a:lnSpc>
                  <a:spcPct val="50000"/>
                </a:lnSpc>
                <a:spcBef>
                  <a:spcPct val="50000"/>
                </a:spcBef>
              </a:pPr>
              <a:r>
                <a:rPr lang="en-US" altLang="zh-CN" sz="1800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expr </a:t>
              </a:r>
              <a:r>
                <a:rPr lang="en-US" altLang="zh-CN" sz="1800" b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</a:t>
              </a:r>
              <a:r>
                <a:rPr lang="en-US" altLang="zh-CN" sz="1800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expr + term                 expr.t := expr.t || term.t || ‘+’</a:t>
              </a:r>
            </a:p>
            <a:p>
              <a:pPr algn="l" eaLnBrk="0" hangingPunct="0"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zh-CN" sz="1800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expr </a:t>
              </a:r>
              <a:r>
                <a:rPr lang="en-US" altLang="zh-CN" sz="1800" b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</a:t>
              </a:r>
              <a:r>
                <a:rPr lang="en-US" altLang="zh-CN" sz="1800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expr – term                 expr.t := expr.t || term.t || ’-’</a:t>
              </a:r>
            </a:p>
            <a:p>
              <a:pPr algn="l" eaLnBrk="0" hangingPunct="0"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zh-CN" sz="1800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expr </a:t>
              </a:r>
              <a:r>
                <a:rPr lang="en-US" altLang="zh-CN" sz="1800" b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</a:t>
              </a:r>
              <a:r>
                <a:rPr lang="en-US" altLang="zh-CN" sz="1800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term                            expr.t := term.t</a:t>
              </a:r>
            </a:p>
            <a:p>
              <a:pPr algn="l"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800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term </a:t>
              </a:r>
              <a:r>
                <a:rPr lang="en-US" altLang="zh-CN" sz="1800" b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</a:t>
              </a:r>
              <a:r>
                <a:rPr lang="en-US" altLang="zh-CN" sz="1800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</a:t>
              </a:r>
              <a:r>
                <a:rPr lang="en-US" altLang="zh-CN" sz="1800" b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0</a:t>
              </a:r>
              <a:r>
                <a:rPr lang="en-US" altLang="zh-CN" sz="1800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                                term.t := ‘</a:t>
              </a:r>
              <a:r>
                <a:rPr lang="en-US" altLang="zh-CN" sz="1800" b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0</a:t>
              </a:r>
              <a:r>
                <a:rPr lang="en-US" altLang="zh-CN" sz="1800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’</a:t>
              </a:r>
            </a:p>
            <a:p>
              <a:pPr algn="l" eaLnBrk="0" hangingPunct="0"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zh-CN" sz="1800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term </a:t>
              </a:r>
              <a:r>
                <a:rPr lang="en-US" altLang="zh-CN" sz="1800" b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</a:t>
              </a:r>
              <a:r>
                <a:rPr lang="en-US" altLang="zh-CN" sz="1800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</a:t>
              </a:r>
              <a:r>
                <a:rPr lang="en-US" altLang="zh-CN" sz="1800" b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1 </a:t>
              </a:r>
              <a:r>
                <a:rPr lang="en-US" altLang="zh-CN" sz="1800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                               term.t := ‘</a:t>
              </a:r>
              <a:r>
                <a:rPr lang="en-US" altLang="zh-CN" sz="1800" b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  <a:r>
                <a:rPr lang="en-US" altLang="zh-CN" sz="1800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’</a:t>
              </a:r>
            </a:p>
            <a:p>
              <a:pPr algn="l" eaLnBrk="0" hangingPunct="0">
                <a:lnSpc>
                  <a:spcPct val="50000"/>
                </a:lnSpc>
                <a:spcBef>
                  <a:spcPct val="50000"/>
                </a:spcBef>
              </a:pPr>
              <a:r>
                <a:rPr lang="en-US" altLang="zh-CN" sz="1800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….                                           ….</a:t>
              </a:r>
            </a:p>
            <a:p>
              <a:pPr algn="l" eaLnBrk="0" hangingPunct="0">
                <a:lnSpc>
                  <a:spcPct val="50000"/>
                </a:lnSpc>
                <a:spcBef>
                  <a:spcPct val="50000"/>
                </a:spcBef>
              </a:pPr>
              <a:r>
                <a:rPr lang="en-US" altLang="zh-CN" sz="1800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term </a:t>
              </a:r>
              <a:r>
                <a:rPr lang="en-US" altLang="zh-CN" sz="1800" b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</a:t>
              </a:r>
              <a:r>
                <a:rPr lang="en-US" altLang="zh-CN" sz="1800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</a:t>
              </a:r>
              <a:r>
                <a:rPr lang="en-US" altLang="zh-CN" sz="1800" b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9</a:t>
              </a:r>
              <a:r>
                <a:rPr lang="en-US" altLang="zh-CN" sz="1800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                                term.t := ‘</a:t>
              </a:r>
              <a:r>
                <a:rPr lang="en-US" altLang="zh-CN" sz="1800" b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9</a:t>
              </a:r>
              <a:r>
                <a:rPr lang="en-US" altLang="zh-CN" sz="1800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’</a:t>
              </a:r>
            </a:p>
          </p:txBody>
        </p:sp>
        <p:sp>
          <p:nvSpPr>
            <p:cNvPr id="347145" name="Line 9"/>
            <p:cNvSpPr>
              <a:spLocks noChangeShapeType="1"/>
            </p:cNvSpPr>
            <p:nvPr/>
          </p:nvSpPr>
          <p:spPr bwMode="auto">
            <a:xfrm>
              <a:off x="1152" y="1536"/>
              <a:ext cx="31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7146" name="Line 10"/>
            <p:cNvSpPr>
              <a:spLocks noChangeShapeType="1"/>
            </p:cNvSpPr>
            <p:nvPr/>
          </p:nvSpPr>
          <p:spPr bwMode="auto">
            <a:xfrm>
              <a:off x="1152" y="1488"/>
              <a:ext cx="31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7147" name="Line 11"/>
            <p:cNvSpPr>
              <a:spLocks noChangeShapeType="1"/>
            </p:cNvSpPr>
            <p:nvPr/>
          </p:nvSpPr>
          <p:spPr bwMode="auto">
            <a:xfrm>
              <a:off x="1152" y="3024"/>
              <a:ext cx="31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7148" name="Line 12"/>
            <p:cNvSpPr>
              <a:spLocks noChangeShapeType="1"/>
            </p:cNvSpPr>
            <p:nvPr/>
          </p:nvSpPr>
          <p:spPr bwMode="auto">
            <a:xfrm>
              <a:off x="1152" y="1728"/>
              <a:ext cx="31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7149" name="Line 13"/>
            <p:cNvSpPr>
              <a:spLocks noChangeShapeType="1"/>
            </p:cNvSpPr>
            <p:nvPr/>
          </p:nvSpPr>
          <p:spPr bwMode="auto">
            <a:xfrm>
              <a:off x="2496" y="1536"/>
              <a:ext cx="0" cy="14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28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29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4A40B-F532-4209-841A-30F7AE82DBA3}" type="slidenum">
              <a:rPr lang="zh-CN" altLang="en-US"/>
              <a:pPr/>
              <a:t>16</a:t>
            </a:fld>
            <a:endParaRPr lang="en-US" altLang="zh-CN"/>
          </a:p>
        </p:txBody>
      </p:sp>
      <p:sp>
        <p:nvSpPr>
          <p:cNvPr id="34201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8229600" cy="914400"/>
          </a:xfrm>
        </p:spPr>
        <p:txBody>
          <a:bodyPr/>
          <a:lstStyle/>
          <a:p>
            <a:r>
              <a:rPr lang="en-US" altLang="zh-CN" sz="3200" b="1">
                <a:effectLst/>
                <a:ea typeface="宋体" panose="02010600030101010101" pitchFamily="2" charset="-122"/>
              </a:rPr>
              <a:t>Semantic Rules are Embedded in Parse Tree 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grpSp>
        <p:nvGrpSpPr>
          <p:cNvPr id="342019" name="Group 3"/>
          <p:cNvGrpSpPr>
            <a:grpSpLocks/>
          </p:cNvGrpSpPr>
          <p:nvPr/>
        </p:nvGrpSpPr>
        <p:grpSpPr bwMode="auto">
          <a:xfrm>
            <a:off x="1371600" y="1143000"/>
            <a:ext cx="5181600" cy="3292475"/>
            <a:chOff x="576" y="768"/>
            <a:chExt cx="3264" cy="2074"/>
          </a:xfrm>
        </p:grpSpPr>
        <p:sp>
          <p:nvSpPr>
            <p:cNvPr id="342020" name="Text Box 4"/>
            <p:cNvSpPr txBox="1">
              <a:spLocks noChangeArrowheads="1"/>
            </p:cNvSpPr>
            <p:nvPr/>
          </p:nvSpPr>
          <p:spPr bwMode="auto">
            <a:xfrm>
              <a:off x="1152" y="1152"/>
              <a:ext cx="86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expr.t =</a:t>
              </a:r>
              <a:r>
                <a:rPr lang="en-US" altLang="zh-CN" b="1">
                  <a:solidFill>
                    <a:srgbClr val="0066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95-</a:t>
              </a:r>
              <a:endParaRPr lang="en-US" altLang="zh-CN" b="1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2021" name="Text Box 5"/>
            <p:cNvSpPr txBox="1">
              <a:spLocks noChangeArrowheads="1"/>
            </p:cNvSpPr>
            <p:nvPr/>
          </p:nvSpPr>
          <p:spPr bwMode="auto">
            <a:xfrm>
              <a:off x="576" y="1536"/>
              <a:ext cx="86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expr.t =</a:t>
              </a:r>
              <a:r>
                <a:rPr lang="en-US" altLang="zh-CN" b="1">
                  <a:solidFill>
                    <a:srgbClr val="0066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9</a:t>
              </a:r>
              <a:endParaRPr lang="en-US" altLang="zh-CN" b="1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2022" name="Text Box 6"/>
            <p:cNvSpPr txBox="1">
              <a:spLocks noChangeArrowheads="1"/>
            </p:cNvSpPr>
            <p:nvPr/>
          </p:nvSpPr>
          <p:spPr bwMode="auto">
            <a:xfrm>
              <a:off x="2208" y="768"/>
              <a:ext cx="100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expr.t =</a:t>
              </a:r>
              <a:r>
                <a:rPr lang="en-US" altLang="zh-CN" b="1">
                  <a:solidFill>
                    <a:srgbClr val="0066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95-2+</a:t>
              </a:r>
              <a:endParaRPr lang="en-US" altLang="zh-CN" b="1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2023" name="Text Box 7"/>
            <p:cNvSpPr txBox="1">
              <a:spLocks noChangeArrowheads="1"/>
            </p:cNvSpPr>
            <p:nvPr/>
          </p:nvSpPr>
          <p:spPr bwMode="auto">
            <a:xfrm>
              <a:off x="1584" y="1536"/>
              <a:ext cx="86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term.t =</a:t>
              </a:r>
              <a:r>
                <a:rPr lang="en-US" altLang="zh-CN" b="1">
                  <a:solidFill>
                    <a:srgbClr val="0066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lang="en-US" altLang="zh-CN" b="1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2024" name="Text Box 8"/>
            <p:cNvSpPr txBox="1">
              <a:spLocks noChangeArrowheads="1"/>
            </p:cNvSpPr>
            <p:nvPr/>
          </p:nvSpPr>
          <p:spPr bwMode="auto">
            <a:xfrm>
              <a:off x="2976" y="1152"/>
              <a:ext cx="86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term.t =</a:t>
              </a:r>
              <a:r>
                <a:rPr lang="en-US" altLang="zh-CN" b="1">
                  <a:solidFill>
                    <a:srgbClr val="0066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b="1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2025" name="Text Box 9"/>
            <p:cNvSpPr txBox="1">
              <a:spLocks noChangeArrowheads="1"/>
            </p:cNvSpPr>
            <p:nvPr/>
          </p:nvSpPr>
          <p:spPr bwMode="auto">
            <a:xfrm>
              <a:off x="576" y="2016"/>
              <a:ext cx="86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term.t =</a:t>
              </a:r>
              <a:r>
                <a:rPr lang="en-US" altLang="zh-CN" b="1">
                  <a:solidFill>
                    <a:srgbClr val="0066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9</a:t>
              </a:r>
              <a:endParaRPr lang="en-US" altLang="zh-CN" b="1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2026" name="Line 10"/>
            <p:cNvSpPr>
              <a:spLocks noChangeShapeType="1"/>
            </p:cNvSpPr>
            <p:nvPr/>
          </p:nvSpPr>
          <p:spPr bwMode="auto">
            <a:xfrm>
              <a:off x="816" y="230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27" name="Line 11"/>
            <p:cNvSpPr>
              <a:spLocks noChangeShapeType="1"/>
            </p:cNvSpPr>
            <p:nvPr/>
          </p:nvSpPr>
          <p:spPr bwMode="auto">
            <a:xfrm>
              <a:off x="2736" y="960"/>
              <a:ext cx="43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28" name="Line 12"/>
            <p:cNvSpPr>
              <a:spLocks noChangeShapeType="1"/>
            </p:cNvSpPr>
            <p:nvPr/>
          </p:nvSpPr>
          <p:spPr bwMode="auto">
            <a:xfrm>
              <a:off x="1536" y="1344"/>
              <a:ext cx="28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29" name="Line 13"/>
            <p:cNvSpPr>
              <a:spLocks noChangeShapeType="1"/>
            </p:cNvSpPr>
            <p:nvPr/>
          </p:nvSpPr>
          <p:spPr bwMode="auto">
            <a:xfrm flipH="1">
              <a:off x="1392" y="912"/>
              <a:ext cx="81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30" name="Line 14"/>
            <p:cNvSpPr>
              <a:spLocks noChangeShapeType="1"/>
            </p:cNvSpPr>
            <p:nvPr/>
          </p:nvSpPr>
          <p:spPr bwMode="auto">
            <a:xfrm flipH="1">
              <a:off x="816" y="1344"/>
              <a:ext cx="33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31" name="Line 15"/>
            <p:cNvSpPr>
              <a:spLocks noChangeShapeType="1"/>
            </p:cNvSpPr>
            <p:nvPr/>
          </p:nvSpPr>
          <p:spPr bwMode="auto">
            <a:xfrm>
              <a:off x="768" y="177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32" name="Line 16"/>
            <p:cNvSpPr>
              <a:spLocks noChangeShapeType="1"/>
            </p:cNvSpPr>
            <p:nvPr/>
          </p:nvSpPr>
          <p:spPr bwMode="auto">
            <a:xfrm>
              <a:off x="1344" y="1440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33" name="Line 17"/>
            <p:cNvSpPr>
              <a:spLocks noChangeShapeType="1"/>
            </p:cNvSpPr>
            <p:nvPr/>
          </p:nvSpPr>
          <p:spPr bwMode="auto">
            <a:xfrm>
              <a:off x="2400" y="1056"/>
              <a:ext cx="0" cy="15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34" name="Line 18"/>
            <p:cNvSpPr>
              <a:spLocks noChangeShapeType="1"/>
            </p:cNvSpPr>
            <p:nvPr/>
          </p:nvSpPr>
          <p:spPr bwMode="auto">
            <a:xfrm>
              <a:off x="1776" y="1776"/>
              <a:ext cx="0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35" name="Line 19"/>
            <p:cNvSpPr>
              <a:spLocks noChangeShapeType="1"/>
            </p:cNvSpPr>
            <p:nvPr/>
          </p:nvSpPr>
          <p:spPr bwMode="auto">
            <a:xfrm>
              <a:off x="3168" y="1440"/>
              <a:ext cx="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36" name="Text Box 20"/>
            <p:cNvSpPr txBox="1">
              <a:spLocks noChangeArrowheads="1"/>
            </p:cNvSpPr>
            <p:nvPr/>
          </p:nvSpPr>
          <p:spPr bwMode="auto">
            <a:xfrm>
              <a:off x="2928" y="254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342037" name="Text Box 21"/>
            <p:cNvSpPr txBox="1">
              <a:spLocks noChangeArrowheads="1"/>
            </p:cNvSpPr>
            <p:nvPr/>
          </p:nvSpPr>
          <p:spPr bwMode="auto">
            <a:xfrm>
              <a:off x="2160" y="2592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342038" name="Text Box 22"/>
            <p:cNvSpPr txBox="1">
              <a:spLocks noChangeArrowheads="1"/>
            </p:cNvSpPr>
            <p:nvPr/>
          </p:nvSpPr>
          <p:spPr bwMode="auto">
            <a:xfrm>
              <a:off x="1584" y="2592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342039" name="Text Box 23"/>
            <p:cNvSpPr txBox="1">
              <a:spLocks noChangeArrowheads="1"/>
            </p:cNvSpPr>
            <p:nvPr/>
          </p:nvSpPr>
          <p:spPr bwMode="auto">
            <a:xfrm>
              <a:off x="1104" y="2592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rPr>
                <a:t>-</a:t>
              </a:r>
            </a:p>
          </p:txBody>
        </p:sp>
        <p:sp>
          <p:nvSpPr>
            <p:cNvPr id="342040" name="Text Box 24"/>
            <p:cNvSpPr txBox="1">
              <a:spLocks noChangeArrowheads="1"/>
            </p:cNvSpPr>
            <p:nvPr/>
          </p:nvSpPr>
          <p:spPr bwMode="auto">
            <a:xfrm>
              <a:off x="576" y="2592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rPr>
                <a:t>9</a:t>
              </a:r>
            </a:p>
          </p:txBody>
        </p:sp>
      </p:grpSp>
      <p:sp>
        <p:nvSpPr>
          <p:cNvPr id="342042" name="Rectangle 26"/>
          <p:cNvSpPr>
            <a:spLocks noGrp="1" noChangeArrowheads="1"/>
          </p:cNvSpPr>
          <p:nvPr>
            <p:ph type="body" sz="half" idx="2"/>
          </p:nvPr>
        </p:nvSpPr>
        <p:spPr>
          <a:xfrm>
            <a:off x="685800" y="4572000"/>
            <a:ext cx="8153400" cy="1905000"/>
          </a:xfrm>
        </p:spPr>
        <p:txBody>
          <a:bodyPr/>
          <a:lstStyle/>
          <a:p>
            <a:pPr>
              <a:lnSpc>
                <a:spcPct val="79000"/>
              </a:lnSpc>
              <a:spcBef>
                <a:spcPct val="50000"/>
              </a:spcBef>
            </a:pPr>
            <a:r>
              <a:rPr lang="en-US" altLang="zh-CN">
                <a:effectLst/>
                <a:ea typeface="宋体" panose="02010600030101010101" pitchFamily="2" charset="-122"/>
              </a:rPr>
              <a:t>How Do Semantic Rules Work ?</a:t>
            </a:r>
          </a:p>
          <a:p>
            <a:pPr>
              <a:lnSpc>
                <a:spcPct val="79000"/>
              </a:lnSpc>
              <a:spcBef>
                <a:spcPct val="50000"/>
              </a:spcBef>
            </a:pPr>
            <a:r>
              <a:rPr lang="en-US" altLang="zh-CN">
                <a:effectLst/>
                <a:ea typeface="宋体" panose="02010600030101010101" pitchFamily="2" charset="-122"/>
              </a:rPr>
              <a:t>What Type of Tree Traversal is Being Performed?</a:t>
            </a:r>
          </a:p>
          <a:p>
            <a:pPr>
              <a:lnSpc>
                <a:spcPct val="79000"/>
              </a:lnSpc>
              <a:spcBef>
                <a:spcPct val="50000"/>
              </a:spcBef>
            </a:pPr>
            <a:r>
              <a:rPr lang="en-US" altLang="zh-CN">
                <a:effectLst/>
                <a:ea typeface="宋体" panose="02010600030101010101" pitchFamily="2" charset="-122"/>
              </a:rPr>
              <a:t> How Can We More Closely Associate Semantic Rules With Production Rules ?</a:t>
            </a:r>
            <a:endParaRPr lang="en-US" altLang="zh-CN" sz="2400">
              <a:ea typeface="宋体" panose="02010600030101010101" pitchFamily="2" charset="-122"/>
            </a:endParaRPr>
          </a:p>
        </p:txBody>
      </p:sp>
      <p:sp>
        <p:nvSpPr>
          <p:cNvPr id="342043" name="Rectangle 27"/>
          <p:cNvSpPr>
            <a:spLocks noChangeArrowheads="1"/>
          </p:cNvSpPr>
          <p:nvPr/>
        </p:nvSpPr>
        <p:spPr bwMode="auto">
          <a:xfrm>
            <a:off x="1143000" y="5410200"/>
            <a:ext cx="2582863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79000"/>
              </a:lnSpc>
              <a:spcBef>
                <a:spcPct val="5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</a:pPr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(“postorder depth-first”)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204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41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42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779BD-F7D6-4D51-92EF-9ED2FB5831A5}" type="slidenum">
              <a:rPr lang="zh-CN" altLang="en-US"/>
              <a:pPr/>
              <a:t>17</a:t>
            </a:fld>
            <a:endParaRPr lang="en-US" altLang="zh-CN"/>
          </a:p>
        </p:txBody>
      </p:sp>
      <p:sp>
        <p:nvSpPr>
          <p:cNvPr id="339972" name="Rectangle 4"/>
          <p:cNvSpPr>
            <a:spLocks noChangeArrowheads="1"/>
          </p:cNvSpPr>
          <p:nvPr/>
        </p:nvSpPr>
        <p:spPr bwMode="auto">
          <a:xfrm>
            <a:off x="1600200" y="609600"/>
            <a:ext cx="6096000" cy="9144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997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76200"/>
            <a:ext cx="8229600" cy="533400"/>
          </a:xfrm>
        </p:spPr>
        <p:txBody>
          <a:bodyPr/>
          <a:lstStyle/>
          <a:p>
            <a:r>
              <a:rPr lang="en-US" altLang="zh-CN" b="1">
                <a:effectLst/>
                <a:ea typeface="宋体" panose="02010600030101010101" pitchFamily="2" charset="-122"/>
              </a:rPr>
              <a:t>Translation Schemes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39971" name="Text Box 3"/>
          <p:cNvSpPr txBox="1">
            <a:spLocks noChangeArrowheads="1"/>
          </p:cNvSpPr>
          <p:nvPr/>
        </p:nvSpPr>
        <p:spPr bwMode="auto">
          <a:xfrm>
            <a:off x="1828800" y="685800"/>
            <a:ext cx="57150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Embed Semantic Actions into the right sides of the productions.</a:t>
            </a:r>
          </a:p>
        </p:txBody>
      </p:sp>
      <p:grpSp>
        <p:nvGrpSpPr>
          <p:cNvPr id="339975" name="Group 7"/>
          <p:cNvGrpSpPr>
            <a:grpSpLocks/>
          </p:cNvGrpSpPr>
          <p:nvPr/>
        </p:nvGrpSpPr>
        <p:grpSpPr bwMode="auto">
          <a:xfrm>
            <a:off x="533400" y="1752600"/>
            <a:ext cx="5562600" cy="3200400"/>
            <a:chOff x="336" y="1632"/>
            <a:chExt cx="3504" cy="2016"/>
          </a:xfrm>
        </p:grpSpPr>
        <p:sp>
          <p:nvSpPr>
            <p:cNvPr id="339974" name="Rectangle 6"/>
            <p:cNvSpPr>
              <a:spLocks noChangeArrowheads="1"/>
            </p:cNvSpPr>
            <p:nvPr/>
          </p:nvSpPr>
          <p:spPr bwMode="auto">
            <a:xfrm>
              <a:off x="336" y="1680"/>
              <a:ext cx="2281" cy="196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9973" name="Text Box 5"/>
            <p:cNvSpPr txBox="1">
              <a:spLocks noChangeArrowheads="1"/>
            </p:cNvSpPr>
            <p:nvPr/>
          </p:nvSpPr>
          <p:spPr bwMode="auto">
            <a:xfrm>
              <a:off x="384" y="1632"/>
              <a:ext cx="3456" cy="19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expr </a:t>
              </a: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 </a:t>
              </a:r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expr + term  </a:t>
              </a: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{</a:t>
              </a:r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print</a:t>
              </a: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(‘+’)}</a:t>
              </a:r>
              <a:endParaRPr lang="en-US" altLang="zh-CN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l" eaLnBrk="0" hangingPunct="0"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        </a:t>
              </a:r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expr - term    </a:t>
              </a: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{</a:t>
              </a:r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print</a:t>
              </a: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(‘-’)}</a:t>
              </a:r>
            </a:p>
            <a:p>
              <a:pPr algn="l" eaLnBrk="0" hangingPunct="0"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        </a:t>
              </a:r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term</a:t>
              </a:r>
            </a:p>
            <a:p>
              <a:pPr algn="l" eaLnBrk="0" hangingPunct="0"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term </a:t>
              </a: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 </a:t>
              </a:r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0                   </a:t>
              </a: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{</a:t>
              </a:r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print</a:t>
              </a: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(‘0’)}</a:t>
              </a:r>
            </a:p>
            <a:p>
              <a:pPr algn="l" eaLnBrk="0" hangingPunct="0"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term </a:t>
              </a: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 1</a:t>
              </a:r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                  </a:t>
              </a: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{</a:t>
              </a:r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print</a:t>
              </a: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(‘1’)}</a:t>
              </a:r>
            </a:p>
            <a:p>
              <a:pPr algn="l" eaLnBrk="0" hangingPunct="0"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…</a:t>
              </a:r>
            </a:p>
            <a:p>
              <a:pPr algn="l" eaLnBrk="0" hangingPunct="0"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term </a:t>
              </a: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 9</a:t>
              </a:r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                  </a:t>
              </a: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{</a:t>
              </a:r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print</a:t>
              </a: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(‘9’)}</a:t>
              </a:r>
            </a:p>
          </p:txBody>
        </p:sp>
      </p:grpSp>
      <p:grpSp>
        <p:nvGrpSpPr>
          <p:cNvPr id="339976" name="Group 8"/>
          <p:cNvGrpSpPr>
            <a:grpSpLocks/>
          </p:cNvGrpSpPr>
          <p:nvPr/>
        </p:nvGrpSpPr>
        <p:grpSpPr bwMode="auto">
          <a:xfrm>
            <a:off x="3276600" y="3810000"/>
            <a:ext cx="5486400" cy="2652713"/>
            <a:chOff x="288" y="3936"/>
            <a:chExt cx="3312" cy="1671"/>
          </a:xfrm>
        </p:grpSpPr>
        <p:sp>
          <p:nvSpPr>
            <p:cNvPr id="339977" name="Text Box 9"/>
            <p:cNvSpPr txBox="1">
              <a:spLocks noChangeArrowheads="1"/>
            </p:cNvSpPr>
            <p:nvPr/>
          </p:nvSpPr>
          <p:spPr bwMode="auto">
            <a:xfrm>
              <a:off x="432" y="5136"/>
              <a:ext cx="62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1800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term</a:t>
              </a:r>
            </a:p>
          </p:txBody>
        </p:sp>
        <p:sp>
          <p:nvSpPr>
            <p:cNvPr id="339978" name="Text Box 10"/>
            <p:cNvSpPr txBox="1">
              <a:spLocks noChangeArrowheads="1"/>
            </p:cNvSpPr>
            <p:nvPr/>
          </p:nvSpPr>
          <p:spPr bwMode="auto">
            <a:xfrm>
              <a:off x="2592" y="4320"/>
              <a:ext cx="62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1800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term</a:t>
              </a:r>
            </a:p>
          </p:txBody>
        </p:sp>
        <p:sp>
          <p:nvSpPr>
            <p:cNvPr id="339979" name="Text Box 11"/>
            <p:cNvSpPr txBox="1">
              <a:spLocks noChangeArrowheads="1"/>
            </p:cNvSpPr>
            <p:nvPr/>
          </p:nvSpPr>
          <p:spPr bwMode="auto">
            <a:xfrm>
              <a:off x="1488" y="4800"/>
              <a:ext cx="62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1800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term</a:t>
              </a:r>
            </a:p>
          </p:txBody>
        </p:sp>
        <p:sp>
          <p:nvSpPr>
            <p:cNvPr id="339980" name="Text Box 12"/>
            <p:cNvSpPr txBox="1">
              <a:spLocks noChangeArrowheads="1"/>
            </p:cNvSpPr>
            <p:nvPr/>
          </p:nvSpPr>
          <p:spPr bwMode="auto">
            <a:xfrm>
              <a:off x="432" y="4800"/>
              <a:ext cx="62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1800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expr</a:t>
              </a:r>
            </a:p>
          </p:txBody>
        </p:sp>
        <p:sp>
          <p:nvSpPr>
            <p:cNvPr id="339981" name="Text Box 13"/>
            <p:cNvSpPr txBox="1">
              <a:spLocks noChangeArrowheads="1"/>
            </p:cNvSpPr>
            <p:nvPr/>
          </p:nvSpPr>
          <p:spPr bwMode="auto">
            <a:xfrm>
              <a:off x="1152" y="4320"/>
              <a:ext cx="62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1800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expr</a:t>
              </a:r>
            </a:p>
          </p:txBody>
        </p:sp>
        <p:sp>
          <p:nvSpPr>
            <p:cNvPr id="339982" name="Text Box 14"/>
            <p:cNvSpPr txBox="1">
              <a:spLocks noChangeArrowheads="1"/>
            </p:cNvSpPr>
            <p:nvPr/>
          </p:nvSpPr>
          <p:spPr bwMode="auto">
            <a:xfrm>
              <a:off x="2016" y="3936"/>
              <a:ext cx="62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1800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expr</a:t>
              </a:r>
            </a:p>
          </p:txBody>
        </p:sp>
        <p:sp>
          <p:nvSpPr>
            <p:cNvPr id="339983" name="Text Box 15"/>
            <p:cNvSpPr txBox="1">
              <a:spLocks noChangeArrowheads="1"/>
            </p:cNvSpPr>
            <p:nvPr/>
          </p:nvSpPr>
          <p:spPr bwMode="auto">
            <a:xfrm>
              <a:off x="288" y="5376"/>
              <a:ext cx="2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9</a:t>
              </a:r>
            </a:p>
          </p:txBody>
        </p:sp>
        <p:sp>
          <p:nvSpPr>
            <p:cNvPr id="339984" name="Text Box 16"/>
            <p:cNvSpPr txBox="1">
              <a:spLocks noChangeArrowheads="1"/>
            </p:cNvSpPr>
            <p:nvPr/>
          </p:nvSpPr>
          <p:spPr bwMode="auto">
            <a:xfrm>
              <a:off x="1392" y="5040"/>
              <a:ext cx="2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339985" name="Text Box 17"/>
            <p:cNvSpPr txBox="1">
              <a:spLocks noChangeArrowheads="1"/>
            </p:cNvSpPr>
            <p:nvPr/>
          </p:nvSpPr>
          <p:spPr bwMode="auto">
            <a:xfrm>
              <a:off x="2496" y="4560"/>
              <a:ext cx="2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339986" name="Text Box 18"/>
            <p:cNvSpPr txBox="1">
              <a:spLocks noChangeArrowheads="1"/>
            </p:cNvSpPr>
            <p:nvPr/>
          </p:nvSpPr>
          <p:spPr bwMode="auto">
            <a:xfrm>
              <a:off x="1056" y="4608"/>
              <a:ext cx="2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-</a:t>
              </a:r>
            </a:p>
          </p:txBody>
        </p:sp>
        <p:sp>
          <p:nvSpPr>
            <p:cNvPr id="339987" name="Text Box 19"/>
            <p:cNvSpPr txBox="1">
              <a:spLocks noChangeArrowheads="1"/>
            </p:cNvSpPr>
            <p:nvPr/>
          </p:nvSpPr>
          <p:spPr bwMode="auto">
            <a:xfrm>
              <a:off x="1872" y="4224"/>
              <a:ext cx="2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339988" name="Text Box 20"/>
            <p:cNvSpPr txBox="1">
              <a:spLocks noChangeArrowheads="1"/>
            </p:cNvSpPr>
            <p:nvPr/>
          </p:nvSpPr>
          <p:spPr bwMode="auto">
            <a:xfrm>
              <a:off x="1536" y="4560"/>
              <a:ext cx="7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{</a:t>
              </a:r>
              <a:r>
                <a:rPr lang="en-US" altLang="zh-CN" sz="1800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print</a:t>
              </a:r>
              <a:r>
                <a:rPr lang="en-US" altLang="zh-CN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(‘-’)}</a:t>
              </a:r>
            </a:p>
          </p:txBody>
        </p:sp>
        <p:sp>
          <p:nvSpPr>
            <p:cNvPr id="339989" name="Text Box 21"/>
            <p:cNvSpPr txBox="1">
              <a:spLocks noChangeArrowheads="1"/>
            </p:cNvSpPr>
            <p:nvPr/>
          </p:nvSpPr>
          <p:spPr bwMode="auto">
            <a:xfrm>
              <a:off x="625" y="5376"/>
              <a:ext cx="76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{</a:t>
              </a:r>
              <a:r>
                <a:rPr lang="en-US" altLang="zh-CN" sz="1800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print</a:t>
              </a:r>
              <a:r>
                <a:rPr lang="en-US" altLang="zh-CN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(‘9’)}</a:t>
              </a:r>
            </a:p>
          </p:txBody>
        </p:sp>
        <p:sp>
          <p:nvSpPr>
            <p:cNvPr id="339990" name="Text Box 22"/>
            <p:cNvSpPr txBox="1">
              <a:spLocks noChangeArrowheads="1"/>
            </p:cNvSpPr>
            <p:nvPr/>
          </p:nvSpPr>
          <p:spPr bwMode="auto">
            <a:xfrm>
              <a:off x="1729" y="5040"/>
              <a:ext cx="76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{</a:t>
              </a:r>
              <a:r>
                <a:rPr lang="en-US" altLang="zh-CN" sz="1800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print</a:t>
              </a:r>
              <a:r>
                <a:rPr lang="en-US" altLang="zh-CN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(‘5’)}</a:t>
              </a:r>
            </a:p>
          </p:txBody>
        </p:sp>
        <p:sp>
          <p:nvSpPr>
            <p:cNvPr id="339991" name="Text Box 23"/>
            <p:cNvSpPr txBox="1">
              <a:spLocks noChangeArrowheads="1"/>
            </p:cNvSpPr>
            <p:nvPr/>
          </p:nvSpPr>
          <p:spPr bwMode="auto">
            <a:xfrm>
              <a:off x="2833" y="4560"/>
              <a:ext cx="76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{</a:t>
              </a:r>
              <a:r>
                <a:rPr lang="en-US" altLang="zh-CN" sz="1800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print</a:t>
              </a:r>
              <a:r>
                <a:rPr lang="en-US" altLang="zh-CN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(‘2’)}</a:t>
              </a:r>
            </a:p>
          </p:txBody>
        </p:sp>
        <p:sp>
          <p:nvSpPr>
            <p:cNvPr id="339992" name="Text Box 24"/>
            <p:cNvSpPr txBox="1">
              <a:spLocks noChangeArrowheads="1"/>
            </p:cNvSpPr>
            <p:nvPr/>
          </p:nvSpPr>
          <p:spPr bwMode="auto">
            <a:xfrm>
              <a:off x="2496" y="4032"/>
              <a:ext cx="76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{</a:t>
              </a:r>
              <a:r>
                <a:rPr lang="en-US" altLang="zh-CN" sz="1800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print</a:t>
              </a:r>
              <a:r>
                <a:rPr lang="en-US" altLang="zh-CN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(‘+’)}</a:t>
              </a:r>
            </a:p>
          </p:txBody>
        </p:sp>
        <p:sp>
          <p:nvSpPr>
            <p:cNvPr id="339993" name="Line 25"/>
            <p:cNvSpPr>
              <a:spLocks noChangeShapeType="1"/>
            </p:cNvSpPr>
            <p:nvPr/>
          </p:nvSpPr>
          <p:spPr bwMode="auto">
            <a:xfrm flipH="1">
              <a:off x="384" y="5328"/>
              <a:ext cx="14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9994" name="Line 26"/>
            <p:cNvSpPr>
              <a:spLocks noChangeShapeType="1"/>
            </p:cNvSpPr>
            <p:nvPr/>
          </p:nvSpPr>
          <p:spPr bwMode="auto">
            <a:xfrm flipH="1">
              <a:off x="1152" y="4512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9995" name="Line 27"/>
            <p:cNvSpPr>
              <a:spLocks noChangeShapeType="1"/>
            </p:cNvSpPr>
            <p:nvPr/>
          </p:nvSpPr>
          <p:spPr bwMode="auto">
            <a:xfrm>
              <a:off x="576" y="499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9996" name="Line 28"/>
            <p:cNvSpPr>
              <a:spLocks noChangeShapeType="1"/>
            </p:cNvSpPr>
            <p:nvPr/>
          </p:nvSpPr>
          <p:spPr bwMode="auto">
            <a:xfrm flipH="1">
              <a:off x="624" y="4512"/>
              <a:ext cx="57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9997" name="Line 29"/>
            <p:cNvSpPr>
              <a:spLocks noChangeShapeType="1"/>
            </p:cNvSpPr>
            <p:nvPr/>
          </p:nvSpPr>
          <p:spPr bwMode="auto">
            <a:xfrm>
              <a:off x="1344" y="4512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9998" name="Line 30"/>
            <p:cNvSpPr>
              <a:spLocks noChangeShapeType="1"/>
            </p:cNvSpPr>
            <p:nvPr/>
          </p:nvSpPr>
          <p:spPr bwMode="auto">
            <a:xfrm flipH="1">
              <a:off x="1488" y="4992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9999" name="Line 31"/>
            <p:cNvSpPr>
              <a:spLocks noChangeShapeType="1"/>
            </p:cNvSpPr>
            <p:nvPr/>
          </p:nvSpPr>
          <p:spPr bwMode="auto">
            <a:xfrm flipH="1">
              <a:off x="2592" y="4512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000" name="Line 32"/>
            <p:cNvSpPr>
              <a:spLocks noChangeShapeType="1"/>
            </p:cNvSpPr>
            <p:nvPr/>
          </p:nvSpPr>
          <p:spPr bwMode="auto">
            <a:xfrm flipH="1">
              <a:off x="1968" y="4128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001" name="Line 33"/>
            <p:cNvSpPr>
              <a:spLocks noChangeShapeType="1"/>
            </p:cNvSpPr>
            <p:nvPr/>
          </p:nvSpPr>
          <p:spPr bwMode="auto">
            <a:xfrm>
              <a:off x="2256" y="4128"/>
              <a:ext cx="38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002" name="Line 34"/>
            <p:cNvSpPr>
              <a:spLocks noChangeShapeType="1"/>
            </p:cNvSpPr>
            <p:nvPr/>
          </p:nvSpPr>
          <p:spPr bwMode="auto">
            <a:xfrm flipH="1">
              <a:off x="1392" y="4080"/>
              <a:ext cx="62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003" name="Line 35"/>
            <p:cNvSpPr>
              <a:spLocks noChangeShapeType="1"/>
            </p:cNvSpPr>
            <p:nvPr/>
          </p:nvSpPr>
          <p:spPr bwMode="auto">
            <a:xfrm>
              <a:off x="1728" y="4992"/>
              <a:ext cx="192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004" name="Line 36"/>
            <p:cNvSpPr>
              <a:spLocks noChangeShapeType="1"/>
            </p:cNvSpPr>
            <p:nvPr/>
          </p:nvSpPr>
          <p:spPr bwMode="auto">
            <a:xfrm>
              <a:off x="720" y="5328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005" name="Line 37"/>
            <p:cNvSpPr>
              <a:spLocks noChangeShapeType="1"/>
            </p:cNvSpPr>
            <p:nvPr/>
          </p:nvSpPr>
          <p:spPr bwMode="auto">
            <a:xfrm>
              <a:off x="1440" y="4464"/>
              <a:ext cx="19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006" name="Line 38"/>
            <p:cNvSpPr>
              <a:spLocks noChangeShapeType="1"/>
            </p:cNvSpPr>
            <p:nvPr/>
          </p:nvSpPr>
          <p:spPr bwMode="auto">
            <a:xfrm>
              <a:off x="2832" y="4512"/>
              <a:ext cx="192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007" name="Line 39"/>
            <p:cNvSpPr>
              <a:spLocks noChangeShapeType="1"/>
            </p:cNvSpPr>
            <p:nvPr/>
          </p:nvSpPr>
          <p:spPr bwMode="auto">
            <a:xfrm>
              <a:off x="2352" y="4080"/>
              <a:ext cx="192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61B3E-D335-4EFC-B555-747ADB3DFDC1}" type="slidenum">
              <a:rPr lang="zh-CN" altLang="en-US"/>
              <a:pPr/>
              <a:t>18</a:t>
            </a:fld>
            <a:endParaRPr lang="en-US" altLang="zh-CN"/>
          </a:p>
        </p:txBody>
      </p:sp>
      <p:sp>
        <p:nvSpPr>
          <p:cNvPr id="340995" name="Text Box 3"/>
          <p:cNvSpPr txBox="1">
            <a:spLocks noChangeArrowheads="1"/>
          </p:cNvSpPr>
          <p:nvPr>
            <p:ph type="title"/>
          </p:nvPr>
        </p:nvSpPr>
        <p:spPr>
          <a:xfrm>
            <a:off x="533400" y="228600"/>
            <a:ext cx="8229600" cy="838200"/>
          </a:xfrm>
          <a:noFill/>
          <a:ln/>
        </p:spPr>
        <p:txBody>
          <a:bodyPr lIns="92075" tIns="46038" rIns="92075" bIns="46038"/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Parsing – Top-Down &amp; Predictive</a:t>
            </a:r>
          </a:p>
        </p:txBody>
      </p:sp>
      <p:sp>
        <p:nvSpPr>
          <p:cNvPr id="340996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143000"/>
            <a:ext cx="4224338" cy="2057400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zh-CN" sz="2400">
                <a:solidFill>
                  <a:srgbClr val="00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Top-Down Parsing</a:t>
            </a:r>
            <a:r>
              <a:rPr lang="en-US" altLang="zh-CN" sz="2400">
                <a:ea typeface="宋体" panose="02010600030101010101" pitchFamily="2" charset="-122"/>
              </a:rPr>
              <a:t>    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  Parse tree / derivation of a token string occurs in a top down fashion.</a:t>
            </a:r>
          </a:p>
          <a:p>
            <a:pPr>
              <a:spcBef>
                <a:spcPct val="50000"/>
              </a:spcBef>
            </a:pP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For Example, Consider:</a:t>
            </a:r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340998" name="Text Box 6"/>
          <p:cNvSpPr txBox="1">
            <a:spLocks noChangeArrowheads="1"/>
          </p:cNvSpPr>
          <p:nvPr/>
        </p:nvSpPr>
        <p:spPr bwMode="auto">
          <a:xfrm>
            <a:off x="4953000" y="1412875"/>
            <a:ext cx="3581400" cy="2320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type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simple</a:t>
            </a:r>
          </a:p>
          <a:p>
            <a:pPr algn="l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      | 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 id</a:t>
            </a:r>
          </a:p>
          <a:p>
            <a:pPr algn="l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      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|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array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[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simple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]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of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type</a:t>
            </a:r>
          </a:p>
          <a:p>
            <a:pPr algn="l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simple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integer</a:t>
            </a:r>
          </a:p>
          <a:p>
            <a:pPr algn="l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        |    char</a:t>
            </a:r>
          </a:p>
          <a:p>
            <a:pPr algn="l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        |    num dotdot num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40999" name="Rectangle 7"/>
          <p:cNvSpPr>
            <a:spLocks noChangeArrowheads="1"/>
          </p:cNvSpPr>
          <p:nvPr/>
        </p:nvSpPr>
        <p:spPr bwMode="auto">
          <a:xfrm>
            <a:off x="4953000" y="1295400"/>
            <a:ext cx="3657600" cy="2590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1001" name="Text Box 9"/>
          <p:cNvSpPr txBox="1">
            <a:spLocks noChangeArrowheads="1"/>
          </p:cNvSpPr>
          <p:nvPr/>
        </p:nvSpPr>
        <p:spPr bwMode="auto">
          <a:xfrm>
            <a:off x="1447800" y="4038600"/>
            <a:ext cx="5791200" cy="210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Suppose</a:t>
            </a:r>
            <a:r>
              <a:rPr lang="en-US" altLang="zh-CN" sz="2400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input 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is :</a:t>
            </a:r>
          </a:p>
          <a:p>
            <a:pPr algn="l" eaLnBrk="0" hangingPunct="0"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array 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[ 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num dotdot num 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] 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of integer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 eaLnBrk="0" hangingPunct="0">
              <a:spcBef>
                <a:spcPct val="50000"/>
              </a:spcBef>
            </a:pPr>
            <a:r>
              <a:rPr lang="en-US" altLang="zh-CN" sz="2400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Parsing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 would begin with</a:t>
            </a:r>
          </a:p>
          <a:p>
            <a:pPr algn="l" eaLnBrk="0" hangingPunct="0"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rPr>
              <a:t>type 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???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1003" name="Line 11"/>
          <p:cNvSpPr>
            <a:spLocks noChangeShapeType="1"/>
          </p:cNvSpPr>
          <p:nvPr/>
        </p:nvSpPr>
        <p:spPr bwMode="auto">
          <a:xfrm flipH="1">
            <a:off x="5181600" y="1371600"/>
            <a:ext cx="228600" cy="152400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1004" name="Line 12"/>
          <p:cNvSpPr>
            <a:spLocks noChangeShapeType="1"/>
          </p:cNvSpPr>
          <p:nvPr/>
        </p:nvSpPr>
        <p:spPr bwMode="auto">
          <a:xfrm>
            <a:off x="5410200" y="1371600"/>
            <a:ext cx="2057400" cy="0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1005" name="Text Box 13"/>
          <p:cNvSpPr txBox="1">
            <a:spLocks noChangeArrowheads="1"/>
          </p:cNvSpPr>
          <p:nvPr/>
        </p:nvSpPr>
        <p:spPr bwMode="auto">
          <a:xfrm>
            <a:off x="6781800" y="1371600"/>
            <a:ext cx="11557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Start symbol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5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212ED-AC41-4468-9438-DDAA82EB5F33}" type="slidenum">
              <a:rPr lang="zh-CN" altLang="en-US"/>
              <a:pPr/>
              <a:t>19</a:t>
            </a:fld>
            <a:endParaRPr lang="en-US" altLang="zh-CN"/>
          </a:p>
        </p:txBody>
      </p:sp>
      <p:sp>
        <p:nvSpPr>
          <p:cNvPr id="35123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8229600" cy="914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Top-Down Parse (type = start symbol)</a:t>
            </a:r>
          </a:p>
        </p:txBody>
      </p:sp>
      <p:grpSp>
        <p:nvGrpSpPr>
          <p:cNvPr id="351235" name="Group 3"/>
          <p:cNvGrpSpPr>
            <a:grpSpLocks/>
          </p:cNvGrpSpPr>
          <p:nvPr/>
        </p:nvGrpSpPr>
        <p:grpSpPr bwMode="auto">
          <a:xfrm>
            <a:off x="2667000" y="2438400"/>
            <a:ext cx="4114800" cy="793750"/>
            <a:chOff x="192" y="672"/>
            <a:chExt cx="2592" cy="500"/>
          </a:xfrm>
        </p:grpSpPr>
        <p:sp>
          <p:nvSpPr>
            <p:cNvPr id="351236" name="Text Box 4"/>
            <p:cNvSpPr txBox="1">
              <a:spLocks noChangeArrowheads="1"/>
            </p:cNvSpPr>
            <p:nvPr/>
          </p:nvSpPr>
          <p:spPr bwMode="auto">
            <a:xfrm>
              <a:off x="2064" y="960"/>
              <a:ext cx="7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1600" i="1">
                  <a:latin typeface="Times New Roman" panose="02020603050405020304" pitchFamily="18" charset="0"/>
                  <a:ea typeface="宋体" panose="02010600030101010101" pitchFamily="2" charset="-122"/>
                </a:rPr>
                <a:t>type</a:t>
              </a:r>
            </a:p>
          </p:txBody>
        </p:sp>
        <p:sp>
          <p:nvSpPr>
            <p:cNvPr id="351237" name="Text Box 5"/>
            <p:cNvSpPr txBox="1">
              <a:spLocks noChangeArrowheads="1"/>
            </p:cNvSpPr>
            <p:nvPr/>
          </p:nvSpPr>
          <p:spPr bwMode="auto">
            <a:xfrm>
              <a:off x="1392" y="960"/>
              <a:ext cx="7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]</a:t>
              </a:r>
            </a:p>
          </p:txBody>
        </p:sp>
        <p:sp>
          <p:nvSpPr>
            <p:cNvPr id="351238" name="Text Box 6"/>
            <p:cNvSpPr txBox="1">
              <a:spLocks noChangeArrowheads="1"/>
            </p:cNvSpPr>
            <p:nvPr/>
          </p:nvSpPr>
          <p:spPr bwMode="auto">
            <a:xfrm>
              <a:off x="864" y="960"/>
              <a:ext cx="7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1600" i="1">
                  <a:latin typeface="Times New Roman" panose="02020603050405020304" pitchFamily="18" charset="0"/>
                  <a:ea typeface="宋体" panose="02010600030101010101" pitchFamily="2" charset="-122"/>
                </a:rPr>
                <a:t>simple</a:t>
              </a:r>
            </a:p>
          </p:txBody>
        </p:sp>
        <p:sp>
          <p:nvSpPr>
            <p:cNvPr id="351239" name="Text Box 7"/>
            <p:cNvSpPr txBox="1">
              <a:spLocks noChangeArrowheads="1"/>
            </p:cNvSpPr>
            <p:nvPr/>
          </p:nvSpPr>
          <p:spPr bwMode="auto">
            <a:xfrm>
              <a:off x="1728" y="960"/>
              <a:ext cx="7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1600" b="1">
                  <a:latin typeface="Times New Roman" panose="02020603050405020304" pitchFamily="18" charset="0"/>
                  <a:ea typeface="宋体" panose="02010600030101010101" pitchFamily="2" charset="-122"/>
                </a:rPr>
                <a:t>of</a:t>
              </a:r>
            </a:p>
          </p:txBody>
        </p:sp>
        <p:sp>
          <p:nvSpPr>
            <p:cNvPr id="351240" name="Text Box 8"/>
            <p:cNvSpPr txBox="1">
              <a:spLocks noChangeArrowheads="1"/>
            </p:cNvSpPr>
            <p:nvPr/>
          </p:nvSpPr>
          <p:spPr bwMode="auto">
            <a:xfrm>
              <a:off x="624" y="960"/>
              <a:ext cx="7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[</a:t>
              </a:r>
            </a:p>
          </p:txBody>
        </p:sp>
        <p:sp>
          <p:nvSpPr>
            <p:cNvPr id="351241" name="Text Box 9"/>
            <p:cNvSpPr txBox="1">
              <a:spLocks noChangeArrowheads="1"/>
            </p:cNvSpPr>
            <p:nvPr/>
          </p:nvSpPr>
          <p:spPr bwMode="auto">
            <a:xfrm>
              <a:off x="192" y="960"/>
              <a:ext cx="7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1600" b="1">
                  <a:latin typeface="Times New Roman" panose="02020603050405020304" pitchFamily="18" charset="0"/>
                  <a:ea typeface="宋体" panose="02010600030101010101" pitchFamily="2" charset="-122"/>
                </a:rPr>
                <a:t>array</a:t>
              </a:r>
            </a:p>
          </p:txBody>
        </p:sp>
        <p:sp>
          <p:nvSpPr>
            <p:cNvPr id="351242" name="Text Box 10"/>
            <p:cNvSpPr txBox="1">
              <a:spLocks noChangeArrowheads="1"/>
            </p:cNvSpPr>
            <p:nvPr/>
          </p:nvSpPr>
          <p:spPr bwMode="auto">
            <a:xfrm>
              <a:off x="1104" y="672"/>
              <a:ext cx="7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1600" i="1">
                  <a:latin typeface="Times New Roman" panose="02020603050405020304" pitchFamily="18" charset="0"/>
                  <a:ea typeface="宋体" panose="02010600030101010101" pitchFamily="2" charset="-122"/>
                </a:rPr>
                <a:t>type</a:t>
              </a:r>
            </a:p>
          </p:txBody>
        </p:sp>
        <p:sp>
          <p:nvSpPr>
            <p:cNvPr id="351243" name="Line 11"/>
            <p:cNvSpPr>
              <a:spLocks noChangeShapeType="1"/>
            </p:cNvSpPr>
            <p:nvPr/>
          </p:nvSpPr>
          <p:spPr bwMode="auto">
            <a:xfrm flipH="1">
              <a:off x="1056" y="864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1244" name="Line 12"/>
            <p:cNvSpPr>
              <a:spLocks noChangeShapeType="1"/>
            </p:cNvSpPr>
            <p:nvPr/>
          </p:nvSpPr>
          <p:spPr bwMode="auto">
            <a:xfrm>
              <a:off x="1344" y="864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1245" name="Line 13"/>
            <p:cNvSpPr>
              <a:spLocks noChangeShapeType="1"/>
            </p:cNvSpPr>
            <p:nvPr/>
          </p:nvSpPr>
          <p:spPr bwMode="auto">
            <a:xfrm>
              <a:off x="1392" y="816"/>
              <a:ext cx="43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1246" name="Line 14"/>
            <p:cNvSpPr>
              <a:spLocks noChangeShapeType="1"/>
            </p:cNvSpPr>
            <p:nvPr/>
          </p:nvSpPr>
          <p:spPr bwMode="auto">
            <a:xfrm>
              <a:off x="1392" y="768"/>
              <a:ext cx="76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1247" name="Line 15"/>
            <p:cNvSpPr>
              <a:spLocks noChangeShapeType="1"/>
            </p:cNvSpPr>
            <p:nvPr/>
          </p:nvSpPr>
          <p:spPr bwMode="auto">
            <a:xfrm flipH="1">
              <a:off x="432" y="816"/>
              <a:ext cx="67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1248" name="Line 16"/>
            <p:cNvSpPr>
              <a:spLocks noChangeShapeType="1"/>
            </p:cNvSpPr>
            <p:nvPr/>
          </p:nvSpPr>
          <p:spPr bwMode="auto">
            <a:xfrm flipH="1">
              <a:off x="768" y="864"/>
              <a:ext cx="33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51249" name="Group 17"/>
          <p:cNvGrpSpPr>
            <a:grpSpLocks/>
          </p:cNvGrpSpPr>
          <p:nvPr/>
        </p:nvGrpSpPr>
        <p:grpSpPr bwMode="auto">
          <a:xfrm>
            <a:off x="2057400" y="4953000"/>
            <a:ext cx="4114800" cy="1327150"/>
            <a:chOff x="144" y="1584"/>
            <a:chExt cx="2592" cy="836"/>
          </a:xfrm>
        </p:grpSpPr>
        <p:sp>
          <p:nvSpPr>
            <p:cNvPr id="351250" name="Text Box 18"/>
            <p:cNvSpPr txBox="1">
              <a:spLocks noChangeArrowheads="1"/>
            </p:cNvSpPr>
            <p:nvPr/>
          </p:nvSpPr>
          <p:spPr bwMode="auto">
            <a:xfrm>
              <a:off x="2016" y="1872"/>
              <a:ext cx="7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1600" i="1">
                  <a:latin typeface="Times New Roman" panose="02020603050405020304" pitchFamily="18" charset="0"/>
                  <a:ea typeface="宋体" panose="02010600030101010101" pitchFamily="2" charset="-122"/>
                </a:rPr>
                <a:t>type</a:t>
              </a:r>
            </a:p>
          </p:txBody>
        </p:sp>
        <p:sp>
          <p:nvSpPr>
            <p:cNvPr id="351251" name="Text Box 19"/>
            <p:cNvSpPr txBox="1">
              <a:spLocks noChangeArrowheads="1"/>
            </p:cNvSpPr>
            <p:nvPr/>
          </p:nvSpPr>
          <p:spPr bwMode="auto">
            <a:xfrm>
              <a:off x="1344" y="1872"/>
              <a:ext cx="7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]</a:t>
              </a:r>
            </a:p>
          </p:txBody>
        </p:sp>
        <p:sp>
          <p:nvSpPr>
            <p:cNvPr id="351252" name="Text Box 20"/>
            <p:cNvSpPr txBox="1">
              <a:spLocks noChangeArrowheads="1"/>
            </p:cNvSpPr>
            <p:nvPr/>
          </p:nvSpPr>
          <p:spPr bwMode="auto">
            <a:xfrm>
              <a:off x="816" y="1872"/>
              <a:ext cx="7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1600" i="1">
                  <a:latin typeface="Times New Roman" panose="02020603050405020304" pitchFamily="18" charset="0"/>
                  <a:ea typeface="宋体" panose="02010600030101010101" pitchFamily="2" charset="-122"/>
                </a:rPr>
                <a:t>simple</a:t>
              </a:r>
            </a:p>
          </p:txBody>
        </p:sp>
        <p:sp>
          <p:nvSpPr>
            <p:cNvPr id="351253" name="Text Box 21"/>
            <p:cNvSpPr txBox="1">
              <a:spLocks noChangeArrowheads="1"/>
            </p:cNvSpPr>
            <p:nvPr/>
          </p:nvSpPr>
          <p:spPr bwMode="auto">
            <a:xfrm>
              <a:off x="1680" y="1872"/>
              <a:ext cx="7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1600" b="1">
                  <a:latin typeface="Times New Roman" panose="02020603050405020304" pitchFamily="18" charset="0"/>
                  <a:ea typeface="宋体" panose="02010600030101010101" pitchFamily="2" charset="-122"/>
                </a:rPr>
                <a:t>of</a:t>
              </a:r>
            </a:p>
          </p:txBody>
        </p:sp>
        <p:sp>
          <p:nvSpPr>
            <p:cNvPr id="351254" name="Text Box 22"/>
            <p:cNvSpPr txBox="1">
              <a:spLocks noChangeArrowheads="1"/>
            </p:cNvSpPr>
            <p:nvPr/>
          </p:nvSpPr>
          <p:spPr bwMode="auto">
            <a:xfrm>
              <a:off x="576" y="1872"/>
              <a:ext cx="7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[</a:t>
              </a:r>
            </a:p>
          </p:txBody>
        </p:sp>
        <p:sp>
          <p:nvSpPr>
            <p:cNvPr id="351255" name="Text Box 23"/>
            <p:cNvSpPr txBox="1">
              <a:spLocks noChangeArrowheads="1"/>
            </p:cNvSpPr>
            <p:nvPr/>
          </p:nvSpPr>
          <p:spPr bwMode="auto">
            <a:xfrm>
              <a:off x="144" y="1872"/>
              <a:ext cx="7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1600" b="1">
                  <a:latin typeface="Times New Roman" panose="02020603050405020304" pitchFamily="18" charset="0"/>
                  <a:ea typeface="宋体" panose="02010600030101010101" pitchFamily="2" charset="-122"/>
                </a:rPr>
                <a:t>array</a:t>
              </a:r>
            </a:p>
          </p:txBody>
        </p:sp>
        <p:sp>
          <p:nvSpPr>
            <p:cNvPr id="351256" name="Text Box 24"/>
            <p:cNvSpPr txBox="1">
              <a:spLocks noChangeArrowheads="1"/>
            </p:cNvSpPr>
            <p:nvPr/>
          </p:nvSpPr>
          <p:spPr bwMode="auto">
            <a:xfrm>
              <a:off x="1056" y="1584"/>
              <a:ext cx="7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1600" i="1">
                  <a:latin typeface="Times New Roman" panose="02020603050405020304" pitchFamily="18" charset="0"/>
                  <a:ea typeface="宋体" panose="02010600030101010101" pitchFamily="2" charset="-122"/>
                </a:rPr>
                <a:t>type</a:t>
              </a:r>
            </a:p>
          </p:txBody>
        </p:sp>
        <p:sp>
          <p:nvSpPr>
            <p:cNvPr id="351257" name="Line 25"/>
            <p:cNvSpPr>
              <a:spLocks noChangeShapeType="1"/>
            </p:cNvSpPr>
            <p:nvPr/>
          </p:nvSpPr>
          <p:spPr bwMode="auto">
            <a:xfrm flipH="1">
              <a:off x="1008" y="1776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1258" name="Line 26"/>
            <p:cNvSpPr>
              <a:spLocks noChangeShapeType="1"/>
            </p:cNvSpPr>
            <p:nvPr/>
          </p:nvSpPr>
          <p:spPr bwMode="auto">
            <a:xfrm>
              <a:off x="1296" y="1776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1259" name="Line 27"/>
            <p:cNvSpPr>
              <a:spLocks noChangeShapeType="1"/>
            </p:cNvSpPr>
            <p:nvPr/>
          </p:nvSpPr>
          <p:spPr bwMode="auto">
            <a:xfrm>
              <a:off x="1344" y="1728"/>
              <a:ext cx="43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1260" name="Line 28"/>
            <p:cNvSpPr>
              <a:spLocks noChangeShapeType="1"/>
            </p:cNvSpPr>
            <p:nvPr/>
          </p:nvSpPr>
          <p:spPr bwMode="auto">
            <a:xfrm>
              <a:off x="1344" y="1680"/>
              <a:ext cx="76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1261" name="Line 29"/>
            <p:cNvSpPr>
              <a:spLocks noChangeShapeType="1"/>
            </p:cNvSpPr>
            <p:nvPr/>
          </p:nvSpPr>
          <p:spPr bwMode="auto">
            <a:xfrm flipH="1">
              <a:off x="384" y="1728"/>
              <a:ext cx="67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1262" name="Line 30"/>
            <p:cNvSpPr>
              <a:spLocks noChangeShapeType="1"/>
            </p:cNvSpPr>
            <p:nvPr/>
          </p:nvSpPr>
          <p:spPr bwMode="auto">
            <a:xfrm flipH="1">
              <a:off x="720" y="1776"/>
              <a:ext cx="33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1263" name="Text Box 31"/>
            <p:cNvSpPr txBox="1">
              <a:spLocks noChangeArrowheads="1"/>
            </p:cNvSpPr>
            <p:nvPr/>
          </p:nvSpPr>
          <p:spPr bwMode="auto">
            <a:xfrm>
              <a:off x="1296" y="2208"/>
              <a:ext cx="6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1600" b="1">
                  <a:latin typeface="Times New Roman" panose="02020603050405020304" pitchFamily="18" charset="0"/>
                  <a:ea typeface="宋体" panose="02010600030101010101" pitchFamily="2" charset="-122"/>
                </a:rPr>
                <a:t>num</a:t>
              </a:r>
            </a:p>
          </p:txBody>
        </p:sp>
        <p:sp>
          <p:nvSpPr>
            <p:cNvPr id="351264" name="Text Box 32"/>
            <p:cNvSpPr txBox="1">
              <a:spLocks noChangeArrowheads="1"/>
            </p:cNvSpPr>
            <p:nvPr/>
          </p:nvSpPr>
          <p:spPr bwMode="auto">
            <a:xfrm>
              <a:off x="432" y="2208"/>
              <a:ext cx="6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1600" b="1">
                  <a:latin typeface="Times New Roman" panose="02020603050405020304" pitchFamily="18" charset="0"/>
                  <a:ea typeface="宋体" panose="02010600030101010101" pitchFamily="2" charset="-122"/>
                </a:rPr>
                <a:t>num</a:t>
              </a:r>
            </a:p>
          </p:txBody>
        </p:sp>
        <p:sp>
          <p:nvSpPr>
            <p:cNvPr id="351265" name="Text Box 33"/>
            <p:cNvSpPr txBox="1">
              <a:spLocks noChangeArrowheads="1"/>
            </p:cNvSpPr>
            <p:nvPr/>
          </p:nvSpPr>
          <p:spPr bwMode="auto">
            <a:xfrm>
              <a:off x="816" y="2208"/>
              <a:ext cx="6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1600" b="1">
                  <a:latin typeface="Times New Roman" panose="02020603050405020304" pitchFamily="18" charset="0"/>
                  <a:ea typeface="宋体" panose="02010600030101010101" pitchFamily="2" charset="-122"/>
                </a:rPr>
                <a:t>dotdot</a:t>
              </a:r>
            </a:p>
          </p:txBody>
        </p:sp>
        <p:sp>
          <p:nvSpPr>
            <p:cNvPr id="351266" name="Line 34"/>
            <p:cNvSpPr>
              <a:spLocks noChangeShapeType="1"/>
            </p:cNvSpPr>
            <p:nvPr/>
          </p:nvSpPr>
          <p:spPr bwMode="auto">
            <a:xfrm flipH="1">
              <a:off x="1008" y="2112"/>
              <a:ext cx="48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1267" name="Line 35"/>
            <p:cNvSpPr>
              <a:spLocks noChangeShapeType="1"/>
            </p:cNvSpPr>
            <p:nvPr/>
          </p:nvSpPr>
          <p:spPr bwMode="auto">
            <a:xfrm>
              <a:off x="1152" y="2064"/>
              <a:ext cx="28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1268" name="Line 36"/>
            <p:cNvSpPr>
              <a:spLocks noChangeShapeType="1"/>
            </p:cNvSpPr>
            <p:nvPr/>
          </p:nvSpPr>
          <p:spPr bwMode="auto">
            <a:xfrm flipH="1">
              <a:off x="624" y="2064"/>
              <a:ext cx="28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51269" name="Text Box 37"/>
          <p:cNvSpPr txBox="1">
            <a:spLocks noChangeArrowheads="1"/>
          </p:cNvSpPr>
          <p:nvPr/>
        </p:nvSpPr>
        <p:spPr bwMode="auto">
          <a:xfrm>
            <a:off x="1447800" y="1752600"/>
            <a:ext cx="5105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Input : 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array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[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num dotdot num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]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of integer</a:t>
            </a:r>
          </a:p>
        </p:txBody>
      </p:sp>
      <p:sp>
        <p:nvSpPr>
          <p:cNvPr id="351277" name="Line 45"/>
          <p:cNvSpPr>
            <a:spLocks noChangeShapeType="1"/>
          </p:cNvSpPr>
          <p:nvPr/>
        </p:nvSpPr>
        <p:spPr bwMode="auto">
          <a:xfrm flipH="1">
            <a:off x="2590800" y="1447800"/>
            <a:ext cx="228600" cy="381000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1278" name="Line 46"/>
          <p:cNvSpPr>
            <a:spLocks noChangeShapeType="1"/>
          </p:cNvSpPr>
          <p:nvPr/>
        </p:nvSpPr>
        <p:spPr bwMode="auto">
          <a:xfrm>
            <a:off x="2819400" y="1447800"/>
            <a:ext cx="2057400" cy="0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1279" name="Text Box 47"/>
          <p:cNvSpPr txBox="1">
            <a:spLocks noChangeArrowheads="1"/>
          </p:cNvSpPr>
          <p:nvPr/>
        </p:nvSpPr>
        <p:spPr bwMode="auto">
          <a:xfrm>
            <a:off x="3962400" y="1447800"/>
            <a:ext cx="16208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Lookahead symbol</a:t>
            </a:r>
          </a:p>
        </p:txBody>
      </p:sp>
      <p:grpSp>
        <p:nvGrpSpPr>
          <p:cNvPr id="351282" name="Group 50"/>
          <p:cNvGrpSpPr>
            <a:grpSpLocks/>
          </p:cNvGrpSpPr>
          <p:nvPr/>
        </p:nvGrpSpPr>
        <p:grpSpPr bwMode="auto">
          <a:xfrm>
            <a:off x="1371600" y="2362200"/>
            <a:ext cx="523875" cy="641350"/>
            <a:chOff x="2016" y="1440"/>
            <a:chExt cx="330" cy="404"/>
          </a:xfrm>
        </p:grpSpPr>
        <p:sp>
          <p:nvSpPr>
            <p:cNvPr id="351280" name="Rectangle 48"/>
            <p:cNvSpPr>
              <a:spLocks noChangeArrowheads="1"/>
            </p:cNvSpPr>
            <p:nvPr/>
          </p:nvSpPr>
          <p:spPr bwMode="auto">
            <a:xfrm>
              <a:off x="2016" y="1440"/>
              <a:ext cx="33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600" i="1">
                  <a:latin typeface="Times New Roman" panose="02020603050405020304" pitchFamily="18" charset="0"/>
                  <a:ea typeface="宋体" panose="02010600030101010101" pitchFamily="2" charset="-122"/>
                </a:rPr>
                <a:t>type</a:t>
              </a:r>
            </a:p>
          </p:txBody>
        </p:sp>
        <p:sp>
          <p:nvSpPr>
            <p:cNvPr id="351281" name="Rectangle 49"/>
            <p:cNvSpPr>
              <a:spLocks noChangeArrowheads="1"/>
            </p:cNvSpPr>
            <p:nvPr/>
          </p:nvSpPr>
          <p:spPr bwMode="auto">
            <a:xfrm>
              <a:off x="2064" y="1632"/>
              <a:ext cx="1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600" i="1">
                  <a:latin typeface="Times New Roman" panose="02020603050405020304" pitchFamily="18" charset="0"/>
                  <a:ea typeface="宋体" panose="02010600030101010101" pitchFamily="2" charset="-122"/>
                </a:rPr>
                <a:t>?</a:t>
              </a:r>
            </a:p>
          </p:txBody>
        </p:sp>
      </p:grpSp>
      <p:sp>
        <p:nvSpPr>
          <p:cNvPr id="351283" name="Text Box 51"/>
          <p:cNvSpPr txBox="1">
            <a:spLocks noChangeArrowheads="1"/>
          </p:cNvSpPr>
          <p:nvPr/>
        </p:nvSpPr>
        <p:spPr bwMode="auto">
          <a:xfrm>
            <a:off x="1219200" y="4267200"/>
            <a:ext cx="5105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Input : 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array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[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num dotdot num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]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of integer</a:t>
            </a:r>
          </a:p>
        </p:txBody>
      </p:sp>
      <p:sp>
        <p:nvSpPr>
          <p:cNvPr id="351284" name="Line 52"/>
          <p:cNvSpPr>
            <a:spLocks noChangeShapeType="1"/>
          </p:cNvSpPr>
          <p:nvPr/>
        </p:nvSpPr>
        <p:spPr bwMode="auto">
          <a:xfrm>
            <a:off x="3276600" y="3962400"/>
            <a:ext cx="1371600" cy="0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1285" name="Text Box 53"/>
          <p:cNvSpPr txBox="1">
            <a:spLocks noChangeArrowheads="1"/>
          </p:cNvSpPr>
          <p:nvPr/>
        </p:nvSpPr>
        <p:spPr bwMode="auto">
          <a:xfrm>
            <a:off x="3733800" y="3962400"/>
            <a:ext cx="16208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Lookahead symbol</a:t>
            </a:r>
          </a:p>
        </p:txBody>
      </p:sp>
      <p:sp>
        <p:nvSpPr>
          <p:cNvPr id="351286" name="Line 54"/>
          <p:cNvSpPr>
            <a:spLocks noChangeShapeType="1"/>
          </p:cNvSpPr>
          <p:nvPr/>
        </p:nvSpPr>
        <p:spPr bwMode="auto">
          <a:xfrm flipH="1">
            <a:off x="3048000" y="3962400"/>
            <a:ext cx="228600" cy="381000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51297" name="Group 65"/>
          <p:cNvGrpSpPr>
            <a:grpSpLocks/>
          </p:cNvGrpSpPr>
          <p:nvPr/>
        </p:nvGrpSpPr>
        <p:grpSpPr bwMode="auto">
          <a:xfrm>
            <a:off x="6400800" y="2743200"/>
            <a:ext cx="2514600" cy="1925638"/>
            <a:chOff x="3264" y="1728"/>
            <a:chExt cx="2352" cy="1650"/>
          </a:xfrm>
        </p:grpSpPr>
        <p:sp>
          <p:nvSpPr>
            <p:cNvPr id="351292" name="Text Box 60"/>
            <p:cNvSpPr txBox="1">
              <a:spLocks noChangeArrowheads="1"/>
            </p:cNvSpPr>
            <p:nvPr/>
          </p:nvSpPr>
          <p:spPr bwMode="auto">
            <a:xfrm>
              <a:off x="3361" y="1825"/>
              <a:ext cx="2255" cy="15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1400" i="1">
                  <a:latin typeface="Times New Roman" panose="02020603050405020304" pitchFamily="18" charset="0"/>
                  <a:ea typeface="宋体" panose="02010600030101010101" pitchFamily="2" charset="-122"/>
                </a:rPr>
                <a:t>type </a:t>
              </a:r>
              <a:r>
                <a:rPr lang="en-US" altLang="zh-CN" sz="14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 </a:t>
              </a:r>
              <a:r>
                <a:rPr lang="en-US" altLang="zh-CN" sz="1400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simple</a:t>
              </a:r>
            </a:p>
            <a:p>
              <a:pPr algn="l" eaLnBrk="0" hangingPunct="0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1400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         |  </a:t>
              </a:r>
              <a:r>
                <a:rPr lang="en-US" altLang="zh-CN" sz="1400" b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 id</a:t>
              </a:r>
            </a:p>
            <a:p>
              <a:pPr algn="l" eaLnBrk="0" hangingPunct="0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1400" b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          </a:t>
              </a:r>
              <a:r>
                <a:rPr lang="en-US" altLang="zh-CN" sz="14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| </a:t>
              </a:r>
              <a:r>
                <a:rPr lang="en-US" altLang="zh-CN" sz="1400" b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array</a:t>
              </a:r>
              <a:r>
                <a:rPr lang="en-US" altLang="zh-CN" sz="14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[ </a:t>
              </a:r>
              <a:r>
                <a:rPr lang="en-US" altLang="zh-CN" sz="1400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simple</a:t>
              </a:r>
              <a:r>
                <a:rPr lang="en-US" altLang="zh-CN" sz="14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] </a:t>
              </a:r>
              <a:r>
                <a:rPr lang="en-US" altLang="zh-CN" sz="1400" b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of</a:t>
              </a:r>
              <a:r>
                <a:rPr lang="en-US" altLang="zh-CN" sz="14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 </a:t>
              </a:r>
              <a:r>
                <a:rPr lang="en-US" altLang="zh-CN" sz="1400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type</a:t>
              </a:r>
            </a:p>
            <a:p>
              <a:pPr algn="l" eaLnBrk="0" hangingPunct="0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1400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simple </a:t>
              </a:r>
              <a:r>
                <a:rPr lang="en-US" altLang="zh-CN" sz="14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 </a:t>
              </a:r>
              <a:r>
                <a:rPr lang="en-US" altLang="zh-CN" sz="1400" b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integer</a:t>
              </a:r>
            </a:p>
            <a:p>
              <a:pPr algn="l" eaLnBrk="0" hangingPunct="0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1400" b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           |    char</a:t>
              </a:r>
            </a:p>
            <a:p>
              <a:pPr algn="l" eaLnBrk="0" hangingPunct="0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1400" b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           |    num dotdot num</a:t>
              </a:r>
              <a:endParaRPr lang="en-US" altLang="zh-CN" sz="14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51293" name="Rectangle 61"/>
            <p:cNvSpPr>
              <a:spLocks noChangeArrowheads="1"/>
            </p:cNvSpPr>
            <p:nvPr/>
          </p:nvSpPr>
          <p:spPr bwMode="auto">
            <a:xfrm>
              <a:off x="3264" y="1728"/>
              <a:ext cx="2304" cy="163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1294" name="Line 62"/>
            <p:cNvSpPr>
              <a:spLocks noChangeShapeType="1"/>
            </p:cNvSpPr>
            <p:nvPr/>
          </p:nvSpPr>
          <p:spPr bwMode="auto">
            <a:xfrm flipH="1">
              <a:off x="3600" y="1776"/>
              <a:ext cx="144" cy="96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1295" name="Line 63"/>
            <p:cNvSpPr>
              <a:spLocks noChangeShapeType="1"/>
            </p:cNvSpPr>
            <p:nvPr/>
          </p:nvSpPr>
          <p:spPr bwMode="auto">
            <a:xfrm>
              <a:off x="3744" y="1776"/>
              <a:ext cx="1296" cy="1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1296" name="Text Box 64"/>
            <p:cNvSpPr txBox="1">
              <a:spLocks noChangeArrowheads="1"/>
            </p:cNvSpPr>
            <p:nvPr/>
          </p:nvSpPr>
          <p:spPr bwMode="auto">
            <a:xfrm>
              <a:off x="4431" y="1776"/>
              <a:ext cx="1081" cy="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Start symbol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60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61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A8835-A682-4862-90F1-999CC31959B3}" type="slidenum">
              <a:rPr lang="zh-CN" altLang="en-US"/>
              <a:pPr/>
              <a:t>20</a:t>
            </a:fld>
            <a:endParaRPr lang="en-US" altLang="zh-CN"/>
          </a:p>
        </p:txBody>
      </p:sp>
      <p:sp>
        <p:nvSpPr>
          <p:cNvPr id="35328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8229600" cy="914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Top-Down Parse (type = start symbol)</a:t>
            </a:r>
          </a:p>
        </p:txBody>
      </p:sp>
      <p:sp>
        <p:nvSpPr>
          <p:cNvPr id="353317" name="Text Box 37"/>
          <p:cNvSpPr txBox="1">
            <a:spLocks noChangeArrowheads="1"/>
          </p:cNvSpPr>
          <p:nvPr/>
        </p:nvSpPr>
        <p:spPr bwMode="auto">
          <a:xfrm>
            <a:off x="1371600" y="1676400"/>
            <a:ext cx="5105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Input : 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array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[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num dotdot num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]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of   integer</a:t>
            </a:r>
          </a:p>
        </p:txBody>
      </p:sp>
      <p:grpSp>
        <p:nvGrpSpPr>
          <p:cNvPr id="353324" name="Group 44"/>
          <p:cNvGrpSpPr>
            <a:grpSpLocks/>
          </p:cNvGrpSpPr>
          <p:nvPr/>
        </p:nvGrpSpPr>
        <p:grpSpPr bwMode="auto">
          <a:xfrm>
            <a:off x="838200" y="2514600"/>
            <a:ext cx="4130675" cy="1327150"/>
            <a:chOff x="144" y="2736"/>
            <a:chExt cx="2602" cy="836"/>
          </a:xfrm>
        </p:grpSpPr>
        <p:sp>
          <p:nvSpPr>
            <p:cNvPr id="353325" name="Text Box 45"/>
            <p:cNvSpPr txBox="1">
              <a:spLocks noChangeArrowheads="1"/>
            </p:cNvSpPr>
            <p:nvPr/>
          </p:nvSpPr>
          <p:spPr bwMode="auto">
            <a:xfrm>
              <a:off x="2016" y="3024"/>
              <a:ext cx="7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1600" i="1">
                  <a:latin typeface="Times New Roman" panose="02020603050405020304" pitchFamily="18" charset="0"/>
                  <a:ea typeface="宋体" panose="02010600030101010101" pitchFamily="2" charset="-122"/>
                </a:rPr>
                <a:t>type</a:t>
              </a:r>
            </a:p>
          </p:txBody>
        </p:sp>
        <p:sp>
          <p:nvSpPr>
            <p:cNvPr id="353326" name="Text Box 46"/>
            <p:cNvSpPr txBox="1">
              <a:spLocks noChangeArrowheads="1"/>
            </p:cNvSpPr>
            <p:nvPr/>
          </p:nvSpPr>
          <p:spPr bwMode="auto">
            <a:xfrm>
              <a:off x="1344" y="3024"/>
              <a:ext cx="7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]</a:t>
              </a:r>
            </a:p>
          </p:txBody>
        </p:sp>
        <p:sp>
          <p:nvSpPr>
            <p:cNvPr id="353327" name="Text Box 47"/>
            <p:cNvSpPr txBox="1">
              <a:spLocks noChangeArrowheads="1"/>
            </p:cNvSpPr>
            <p:nvPr/>
          </p:nvSpPr>
          <p:spPr bwMode="auto">
            <a:xfrm>
              <a:off x="816" y="3024"/>
              <a:ext cx="7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1600" i="1">
                  <a:latin typeface="Times New Roman" panose="02020603050405020304" pitchFamily="18" charset="0"/>
                  <a:ea typeface="宋体" panose="02010600030101010101" pitchFamily="2" charset="-122"/>
                </a:rPr>
                <a:t>simple</a:t>
              </a:r>
            </a:p>
          </p:txBody>
        </p:sp>
        <p:sp>
          <p:nvSpPr>
            <p:cNvPr id="353328" name="Text Box 48"/>
            <p:cNvSpPr txBox="1">
              <a:spLocks noChangeArrowheads="1"/>
            </p:cNvSpPr>
            <p:nvPr/>
          </p:nvSpPr>
          <p:spPr bwMode="auto">
            <a:xfrm>
              <a:off x="1680" y="3024"/>
              <a:ext cx="7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1600" b="1">
                  <a:latin typeface="Times New Roman" panose="02020603050405020304" pitchFamily="18" charset="0"/>
                  <a:ea typeface="宋体" panose="02010600030101010101" pitchFamily="2" charset="-122"/>
                </a:rPr>
                <a:t>of</a:t>
              </a:r>
            </a:p>
          </p:txBody>
        </p:sp>
        <p:sp>
          <p:nvSpPr>
            <p:cNvPr id="353329" name="Text Box 49"/>
            <p:cNvSpPr txBox="1">
              <a:spLocks noChangeArrowheads="1"/>
            </p:cNvSpPr>
            <p:nvPr/>
          </p:nvSpPr>
          <p:spPr bwMode="auto">
            <a:xfrm>
              <a:off x="576" y="3024"/>
              <a:ext cx="7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[</a:t>
              </a:r>
            </a:p>
          </p:txBody>
        </p:sp>
        <p:sp>
          <p:nvSpPr>
            <p:cNvPr id="353330" name="Text Box 50"/>
            <p:cNvSpPr txBox="1">
              <a:spLocks noChangeArrowheads="1"/>
            </p:cNvSpPr>
            <p:nvPr/>
          </p:nvSpPr>
          <p:spPr bwMode="auto">
            <a:xfrm>
              <a:off x="144" y="3024"/>
              <a:ext cx="7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1600" b="1">
                  <a:latin typeface="Times New Roman" panose="02020603050405020304" pitchFamily="18" charset="0"/>
                  <a:ea typeface="宋体" panose="02010600030101010101" pitchFamily="2" charset="-122"/>
                </a:rPr>
                <a:t>array</a:t>
              </a:r>
            </a:p>
          </p:txBody>
        </p:sp>
        <p:sp>
          <p:nvSpPr>
            <p:cNvPr id="353331" name="Text Box 51"/>
            <p:cNvSpPr txBox="1">
              <a:spLocks noChangeArrowheads="1"/>
            </p:cNvSpPr>
            <p:nvPr/>
          </p:nvSpPr>
          <p:spPr bwMode="auto">
            <a:xfrm>
              <a:off x="1056" y="2736"/>
              <a:ext cx="7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1600" i="1">
                  <a:latin typeface="Times New Roman" panose="02020603050405020304" pitchFamily="18" charset="0"/>
                  <a:ea typeface="宋体" panose="02010600030101010101" pitchFamily="2" charset="-122"/>
                </a:rPr>
                <a:t>type</a:t>
              </a:r>
            </a:p>
          </p:txBody>
        </p:sp>
        <p:sp>
          <p:nvSpPr>
            <p:cNvPr id="353332" name="Line 52"/>
            <p:cNvSpPr>
              <a:spLocks noChangeShapeType="1"/>
            </p:cNvSpPr>
            <p:nvPr/>
          </p:nvSpPr>
          <p:spPr bwMode="auto">
            <a:xfrm flipH="1">
              <a:off x="1008" y="2928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3333" name="Line 53"/>
            <p:cNvSpPr>
              <a:spLocks noChangeShapeType="1"/>
            </p:cNvSpPr>
            <p:nvPr/>
          </p:nvSpPr>
          <p:spPr bwMode="auto">
            <a:xfrm>
              <a:off x="1296" y="2928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3334" name="Line 54"/>
            <p:cNvSpPr>
              <a:spLocks noChangeShapeType="1"/>
            </p:cNvSpPr>
            <p:nvPr/>
          </p:nvSpPr>
          <p:spPr bwMode="auto">
            <a:xfrm>
              <a:off x="1344" y="2880"/>
              <a:ext cx="43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3335" name="Line 55"/>
            <p:cNvSpPr>
              <a:spLocks noChangeShapeType="1"/>
            </p:cNvSpPr>
            <p:nvPr/>
          </p:nvSpPr>
          <p:spPr bwMode="auto">
            <a:xfrm>
              <a:off x="1344" y="2832"/>
              <a:ext cx="76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3336" name="Line 56"/>
            <p:cNvSpPr>
              <a:spLocks noChangeShapeType="1"/>
            </p:cNvSpPr>
            <p:nvPr/>
          </p:nvSpPr>
          <p:spPr bwMode="auto">
            <a:xfrm flipH="1">
              <a:off x="384" y="2880"/>
              <a:ext cx="67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3337" name="Line 57"/>
            <p:cNvSpPr>
              <a:spLocks noChangeShapeType="1"/>
            </p:cNvSpPr>
            <p:nvPr/>
          </p:nvSpPr>
          <p:spPr bwMode="auto">
            <a:xfrm flipH="1">
              <a:off x="720" y="2928"/>
              <a:ext cx="33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3338" name="Text Box 58"/>
            <p:cNvSpPr txBox="1">
              <a:spLocks noChangeArrowheads="1"/>
            </p:cNvSpPr>
            <p:nvPr/>
          </p:nvSpPr>
          <p:spPr bwMode="auto">
            <a:xfrm>
              <a:off x="1296" y="3360"/>
              <a:ext cx="6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1600" b="1">
                  <a:latin typeface="Times New Roman" panose="02020603050405020304" pitchFamily="18" charset="0"/>
                  <a:ea typeface="宋体" panose="02010600030101010101" pitchFamily="2" charset="-122"/>
                </a:rPr>
                <a:t>num</a:t>
              </a:r>
            </a:p>
          </p:txBody>
        </p:sp>
        <p:sp>
          <p:nvSpPr>
            <p:cNvPr id="353339" name="Text Box 59"/>
            <p:cNvSpPr txBox="1">
              <a:spLocks noChangeArrowheads="1"/>
            </p:cNvSpPr>
            <p:nvPr/>
          </p:nvSpPr>
          <p:spPr bwMode="auto">
            <a:xfrm>
              <a:off x="432" y="3360"/>
              <a:ext cx="6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1600" b="1">
                  <a:latin typeface="Times New Roman" panose="02020603050405020304" pitchFamily="18" charset="0"/>
                  <a:ea typeface="宋体" panose="02010600030101010101" pitchFamily="2" charset="-122"/>
                </a:rPr>
                <a:t>num</a:t>
              </a:r>
            </a:p>
          </p:txBody>
        </p:sp>
        <p:sp>
          <p:nvSpPr>
            <p:cNvPr id="353340" name="Text Box 60"/>
            <p:cNvSpPr txBox="1">
              <a:spLocks noChangeArrowheads="1"/>
            </p:cNvSpPr>
            <p:nvPr/>
          </p:nvSpPr>
          <p:spPr bwMode="auto">
            <a:xfrm>
              <a:off x="816" y="3360"/>
              <a:ext cx="6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1600" b="1">
                  <a:latin typeface="Times New Roman" panose="02020603050405020304" pitchFamily="18" charset="0"/>
                  <a:ea typeface="宋体" panose="02010600030101010101" pitchFamily="2" charset="-122"/>
                </a:rPr>
                <a:t>dotdot</a:t>
              </a:r>
            </a:p>
          </p:txBody>
        </p:sp>
        <p:sp>
          <p:nvSpPr>
            <p:cNvPr id="353341" name="Line 61"/>
            <p:cNvSpPr>
              <a:spLocks noChangeShapeType="1"/>
            </p:cNvSpPr>
            <p:nvPr/>
          </p:nvSpPr>
          <p:spPr bwMode="auto">
            <a:xfrm flipH="1">
              <a:off x="1008" y="3264"/>
              <a:ext cx="48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3342" name="Line 62"/>
            <p:cNvSpPr>
              <a:spLocks noChangeShapeType="1"/>
            </p:cNvSpPr>
            <p:nvPr/>
          </p:nvSpPr>
          <p:spPr bwMode="auto">
            <a:xfrm>
              <a:off x="1152" y="3216"/>
              <a:ext cx="28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3343" name="Line 63"/>
            <p:cNvSpPr>
              <a:spLocks noChangeShapeType="1"/>
            </p:cNvSpPr>
            <p:nvPr/>
          </p:nvSpPr>
          <p:spPr bwMode="auto">
            <a:xfrm flipH="1">
              <a:off x="624" y="3216"/>
              <a:ext cx="28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3344" name="Text Box 64"/>
            <p:cNvSpPr txBox="1">
              <a:spLocks noChangeArrowheads="1"/>
            </p:cNvSpPr>
            <p:nvPr/>
          </p:nvSpPr>
          <p:spPr bwMode="auto">
            <a:xfrm>
              <a:off x="1968" y="3360"/>
              <a:ext cx="77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/>
              <a:r>
                <a:rPr lang="en-US" altLang="zh-CN" sz="1600" i="1">
                  <a:latin typeface="Times New Roman" panose="02020603050405020304" pitchFamily="18" charset="0"/>
                  <a:ea typeface="宋体" panose="02010600030101010101" pitchFamily="2" charset="-122"/>
                </a:rPr>
                <a:t>simple</a:t>
              </a:r>
            </a:p>
          </p:txBody>
        </p:sp>
        <p:sp>
          <p:nvSpPr>
            <p:cNvPr id="353345" name="Line 65"/>
            <p:cNvSpPr>
              <a:spLocks noChangeShapeType="1"/>
            </p:cNvSpPr>
            <p:nvPr/>
          </p:nvSpPr>
          <p:spPr bwMode="auto">
            <a:xfrm>
              <a:off x="2160" y="326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53346" name="Group 66"/>
          <p:cNvGrpSpPr>
            <a:grpSpLocks/>
          </p:cNvGrpSpPr>
          <p:nvPr/>
        </p:nvGrpSpPr>
        <p:grpSpPr bwMode="auto">
          <a:xfrm>
            <a:off x="838200" y="4419600"/>
            <a:ext cx="4267200" cy="1860550"/>
            <a:chOff x="192" y="3888"/>
            <a:chExt cx="2688" cy="1172"/>
          </a:xfrm>
        </p:grpSpPr>
        <p:sp>
          <p:nvSpPr>
            <p:cNvPr id="353347" name="Text Box 67"/>
            <p:cNvSpPr txBox="1">
              <a:spLocks noChangeArrowheads="1"/>
            </p:cNvSpPr>
            <p:nvPr/>
          </p:nvSpPr>
          <p:spPr bwMode="auto">
            <a:xfrm>
              <a:off x="2064" y="4176"/>
              <a:ext cx="7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1600" i="1">
                  <a:latin typeface="Times New Roman" panose="02020603050405020304" pitchFamily="18" charset="0"/>
                  <a:ea typeface="宋体" panose="02010600030101010101" pitchFamily="2" charset="-122"/>
                </a:rPr>
                <a:t>type</a:t>
              </a:r>
            </a:p>
          </p:txBody>
        </p:sp>
        <p:sp>
          <p:nvSpPr>
            <p:cNvPr id="353348" name="Text Box 68"/>
            <p:cNvSpPr txBox="1">
              <a:spLocks noChangeArrowheads="1"/>
            </p:cNvSpPr>
            <p:nvPr/>
          </p:nvSpPr>
          <p:spPr bwMode="auto">
            <a:xfrm>
              <a:off x="1392" y="4176"/>
              <a:ext cx="7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]</a:t>
              </a:r>
            </a:p>
          </p:txBody>
        </p:sp>
        <p:sp>
          <p:nvSpPr>
            <p:cNvPr id="353349" name="Text Box 69"/>
            <p:cNvSpPr txBox="1">
              <a:spLocks noChangeArrowheads="1"/>
            </p:cNvSpPr>
            <p:nvPr/>
          </p:nvSpPr>
          <p:spPr bwMode="auto">
            <a:xfrm>
              <a:off x="864" y="4176"/>
              <a:ext cx="7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1600" i="1">
                  <a:latin typeface="Times New Roman" panose="02020603050405020304" pitchFamily="18" charset="0"/>
                  <a:ea typeface="宋体" panose="02010600030101010101" pitchFamily="2" charset="-122"/>
                </a:rPr>
                <a:t>simple</a:t>
              </a:r>
            </a:p>
          </p:txBody>
        </p:sp>
        <p:sp>
          <p:nvSpPr>
            <p:cNvPr id="353350" name="Text Box 70"/>
            <p:cNvSpPr txBox="1">
              <a:spLocks noChangeArrowheads="1"/>
            </p:cNvSpPr>
            <p:nvPr/>
          </p:nvSpPr>
          <p:spPr bwMode="auto">
            <a:xfrm>
              <a:off x="1728" y="4176"/>
              <a:ext cx="7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1600" b="1">
                  <a:latin typeface="Times New Roman" panose="02020603050405020304" pitchFamily="18" charset="0"/>
                  <a:ea typeface="宋体" panose="02010600030101010101" pitchFamily="2" charset="-122"/>
                </a:rPr>
                <a:t>of</a:t>
              </a:r>
            </a:p>
          </p:txBody>
        </p:sp>
        <p:sp>
          <p:nvSpPr>
            <p:cNvPr id="353351" name="Text Box 71"/>
            <p:cNvSpPr txBox="1">
              <a:spLocks noChangeArrowheads="1"/>
            </p:cNvSpPr>
            <p:nvPr/>
          </p:nvSpPr>
          <p:spPr bwMode="auto">
            <a:xfrm>
              <a:off x="624" y="4176"/>
              <a:ext cx="7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[</a:t>
              </a:r>
            </a:p>
          </p:txBody>
        </p:sp>
        <p:sp>
          <p:nvSpPr>
            <p:cNvPr id="353352" name="Text Box 72"/>
            <p:cNvSpPr txBox="1">
              <a:spLocks noChangeArrowheads="1"/>
            </p:cNvSpPr>
            <p:nvPr/>
          </p:nvSpPr>
          <p:spPr bwMode="auto">
            <a:xfrm>
              <a:off x="192" y="4176"/>
              <a:ext cx="7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1600" b="1">
                  <a:latin typeface="Times New Roman" panose="02020603050405020304" pitchFamily="18" charset="0"/>
                  <a:ea typeface="宋体" panose="02010600030101010101" pitchFamily="2" charset="-122"/>
                </a:rPr>
                <a:t>array</a:t>
              </a:r>
            </a:p>
          </p:txBody>
        </p:sp>
        <p:sp>
          <p:nvSpPr>
            <p:cNvPr id="353353" name="Text Box 73"/>
            <p:cNvSpPr txBox="1">
              <a:spLocks noChangeArrowheads="1"/>
            </p:cNvSpPr>
            <p:nvPr/>
          </p:nvSpPr>
          <p:spPr bwMode="auto">
            <a:xfrm>
              <a:off x="1104" y="3888"/>
              <a:ext cx="7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1600" i="1">
                  <a:latin typeface="Times New Roman" panose="02020603050405020304" pitchFamily="18" charset="0"/>
                  <a:ea typeface="宋体" panose="02010600030101010101" pitchFamily="2" charset="-122"/>
                </a:rPr>
                <a:t>type</a:t>
              </a:r>
            </a:p>
          </p:txBody>
        </p:sp>
        <p:sp>
          <p:nvSpPr>
            <p:cNvPr id="353354" name="Line 74"/>
            <p:cNvSpPr>
              <a:spLocks noChangeShapeType="1"/>
            </p:cNvSpPr>
            <p:nvPr/>
          </p:nvSpPr>
          <p:spPr bwMode="auto">
            <a:xfrm flipH="1">
              <a:off x="1056" y="4080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3355" name="Line 75"/>
            <p:cNvSpPr>
              <a:spLocks noChangeShapeType="1"/>
            </p:cNvSpPr>
            <p:nvPr/>
          </p:nvSpPr>
          <p:spPr bwMode="auto">
            <a:xfrm>
              <a:off x="1344" y="4080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3356" name="Line 76"/>
            <p:cNvSpPr>
              <a:spLocks noChangeShapeType="1"/>
            </p:cNvSpPr>
            <p:nvPr/>
          </p:nvSpPr>
          <p:spPr bwMode="auto">
            <a:xfrm>
              <a:off x="1392" y="4032"/>
              <a:ext cx="43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3357" name="Line 77"/>
            <p:cNvSpPr>
              <a:spLocks noChangeShapeType="1"/>
            </p:cNvSpPr>
            <p:nvPr/>
          </p:nvSpPr>
          <p:spPr bwMode="auto">
            <a:xfrm>
              <a:off x="1392" y="3984"/>
              <a:ext cx="76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3358" name="Line 78"/>
            <p:cNvSpPr>
              <a:spLocks noChangeShapeType="1"/>
            </p:cNvSpPr>
            <p:nvPr/>
          </p:nvSpPr>
          <p:spPr bwMode="auto">
            <a:xfrm flipH="1">
              <a:off x="432" y="4032"/>
              <a:ext cx="67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3359" name="Line 79"/>
            <p:cNvSpPr>
              <a:spLocks noChangeShapeType="1"/>
            </p:cNvSpPr>
            <p:nvPr/>
          </p:nvSpPr>
          <p:spPr bwMode="auto">
            <a:xfrm flipH="1">
              <a:off x="768" y="4080"/>
              <a:ext cx="33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3360" name="Text Box 80"/>
            <p:cNvSpPr txBox="1">
              <a:spLocks noChangeArrowheads="1"/>
            </p:cNvSpPr>
            <p:nvPr/>
          </p:nvSpPr>
          <p:spPr bwMode="auto">
            <a:xfrm>
              <a:off x="1344" y="4512"/>
              <a:ext cx="6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1600" b="1">
                  <a:latin typeface="Times New Roman" panose="02020603050405020304" pitchFamily="18" charset="0"/>
                  <a:ea typeface="宋体" panose="02010600030101010101" pitchFamily="2" charset="-122"/>
                </a:rPr>
                <a:t>num</a:t>
              </a:r>
            </a:p>
          </p:txBody>
        </p:sp>
        <p:sp>
          <p:nvSpPr>
            <p:cNvPr id="353361" name="Text Box 81"/>
            <p:cNvSpPr txBox="1">
              <a:spLocks noChangeArrowheads="1"/>
            </p:cNvSpPr>
            <p:nvPr/>
          </p:nvSpPr>
          <p:spPr bwMode="auto">
            <a:xfrm>
              <a:off x="480" y="4512"/>
              <a:ext cx="6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1600" b="1">
                  <a:latin typeface="Times New Roman" panose="02020603050405020304" pitchFamily="18" charset="0"/>
                  <a:ea typeface="宋体" panose="02010600030101010101" pitchFamily="2" charset="-122"/>
                </a:rPr>
                <a:t>num</a:t>
              </a:r>
            </a:p>
          </p:txBody>
        </p:sp>
        <p:sp>
          <p:nvSpPr>
            <p:cNvPr id="353362" name="Text Box 82"/>
            <p:cNvSpPr txBox="1">
              <a:spLocks noChangeArrowheads="1"/>
            </p:cNvSpPr>
            <p:nvPr/>
          </p:nvSpPr>
          <p:spPr bwMode="auto">
            <a:xfrm>
              <a:off x="864" y="4512"/>
              <a:ext cx="6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1600" b="1">
                  <a:latin typeface="Times New Roman" panose="02020603050405020304" pitchFamily="18" charset="0"/>
                  <a:ea typeface="宋体" panose="02010600030101010101" pitchFamily="2" charset="-122"/>
                </a:rPr>
                <a:t>dotdot</a:t>
              </a:r>
            </a:p>
          </p:txBody>
        </p:sp>
        <p:sp>
          <p:nvSpPr>
            <p:cNvPr id="353363" name="Line 83"/>
            <p:cNvSpPr>
              <a:spLocks noChangeShapeType="1"/>
            </p:cNvSpPr>
            <p:nvPr/>
          </p:nvSpPr>
          <p:spPr bwMode="auto">
            <a:xfrm flipH="1">
              <a:off x="1056" y="4416"/>
              <a:ext cx="48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3364" name="Line 84"/>
            <p:cNvSpPr>
              <a:spLocks noChangeShapeType="1"/>
            </p:cNvSpPr>
            <p:nvPr/>
          </p:nvSpPr>
          <p:spPr bwMode="auto">
            <a:xfrm>
              <a:off x="1200" y="4368"/>
              <a:ext cx="28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3365" name="Line 85"/>
            <p:cNvSpPr>
              <a:spLocks noChangeShapeType="1"/>
            </p:cNvSpPr>
            <p:nvPr/>
          </p:nvSpPr>
          <p:spPr bwMode="auto">
            <a:xfrm flipH="1">
              <a:off x="672" y="4368"/>
              <a:ext cx="28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3366" name="Text Box 86"/>
            <p:cNvSpPr txBox="1">
              <a:spLocks noChangeArrowheads="1"/>
            </p:cNvSpPr>
            <p:nvPr/>
          </p:nvSpPr>
          <p:spPr bwMode="auto">
            <a:xfrm>
              <a:off x="2016" y="4512"/>
              <a:ext cx="77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/>
              <a:r>
                <a:rPr lang="en-US" altLang="zh-CN" sz="1600" i="1">
                  <a:latin typeface="Times New Roman" panose="02020603050405020304" pitchFamily="18" charset="0"/>
                  <a:ea typeface="宋体" panose="02010600030101010101" pitchFamily="2" charset="-122"/>
                </a:rPr>
                <a:t>simple</a:t>
              </a:r>
            </a:p>
          </p:txBody>
        </p:sp>
        <p:sp>
          <p:nvSpPr>
            <p:cNvPr id="353367" name="Line 87"/>
            <p:cNvSpPr>
              <a:spLocks noChangeShapeType="1"/>
            </p:cNvSpPr>
            <p:nvPr/>
          </p:nvSpPr>
          <p:spPr bwMode="auto">
            <a:xfrm>
              <a:off x="2208" y="441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3368" name="Text Box 88"/>
            <p:cNvSpPr txBox="1">
              <a:spLocks noChangeArrowheads="1"/>
            </p:cNvSpPr>
            <p:nvPr/>
          </p:nvSpPr>
          <p:spPr bwMode="auto">
            <a:xfrm>
              <a:off x="2016" y="4848"/>
              <a:ext cx="86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1600" b="1">
                  <a:latin typeface="Times New Roman" panose="02020603050405020304" pitchFamily="18" charset="0"/>
                  <a:ea typeface="宋体" panose="02010600030101010101" pitchFamily="2" charset="-122"/>
                </a:rPr>
                <a:t>integer</a:t>
              </a:r>
            </a:p>
          </p:txBody>
        </p:sp>
        <p:sp>
          <p:nvSpPr>
            <p:cNvPr id="353369" name="Line 89"/>
            <p:cNvSpPr>
              <a:spLocks noChangeShapeType="1"/>
            </p:cNvSpPr>
            <p:nvPr/>
          </p:nvSpPr>
          <p:spPr bwMode="auto">
            <a:xfrm>
              <a:off x="2208" y="470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53377" name="Line 97"/>
          <p:cNvSpPr>
            <a:spLocks noChangeShapeType="1"/>
          </p:cNvSpPr>
          <p:nvPr/>
        </p:nvSpPr>
        <p:spPr bwMode="auto">
          <a:xfrm>
            <a:off x="5943600" y="1371600"/>
            <a:ext cx="1371600" cy="0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3378" name="Text Box 98"/>
          <p:cNvSpPr txBox="1">
            <a:spLocks noChangeArrowheads="1"/>
          </p:cNvSpPr>
          <p:nvPr/>
        </p:nvSpPr>
        <p:spPr bwMode="auto">
          <a:xfrm>
            <a:off x="6400800" y="1371600"/>
            <a:ext cx="16208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Lookahead symbol</a:t>
            </a:r>
          </a:p>
        </p:txBody>
      </p:sp>
      <p:sp>
        <p:nvSpPr>
          <p:cNvPr id="353379" name="Line 99"/>
          <p:cNvSpPr>
            <a:spLocks noChangeShapeType="1"/>
          </p:cNvSpPr>
          <p:nvPr/>
        </p:nvSpPr>
        <p:spPr bwMode="auto">
          <a:xfrm flipH="1">
            <a:off x="5715000" y="1371600"/>
            <a:ext cx="228600" cy="381000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53380" name="Group 100"/>
          <p:cNvGrpSpPr>
            <a:grpSpLocks/>
          </p:cNvGrpSpPr>
          <p:nvPr/>
        </p:nvGrpSpPr>
        <p:grpSpPr bwMode="auto">
          <a:xfrm>
            <a:off x="5562600" y="2951163"/>
            <a:ext cx="2514600" cy="1925637"/>
            <a:chOff x="3264" y="1728"/>
            <a:chExt cx="2352" cy="1650"/>
          </a:xfrm>
        </p:grpSpPr>
        <p:sp>
          <p:nvSpPr>
            <p:cNvPr id="353381" name="Text Box 101"/>
            <p:cNvSpPr txBox="1">
              <a:spLocks noChangeArrowheads="1"/>
            </p:cNvSpPr>
            <p:nvPr/>
          </p:nvSpPr>
          <p:spPr bwMode="auto">
            <a:xfrm>
              <a:off x="3361" y="1825"/>
              <a:ext cx="2255" cy="15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1400" i="1">
                  <a:latin typeface="Times New Roman" panose="02020603050405020304" pitchFamily="18" charset="0"/>
                  <a:ea typeface="宋体" panose="02010600030101010101" pitchFamily="2" charset="-122"/>
                </a:rPr>
                <a:t>type </a:t>
              </a:r>
              <a:r>
                <a:rPr lang="en-US" altLang="zh-CN" sz="14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 </a:t>
              </a:r>
              <a:r>
                <a:rPr lang="en-US" altLang="zh-CN" sz="1400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simple</a:t>
              </a:r>
            </a:p>
            <a:p>
              <a:pPr algn="l" eaLnBrk="0" hangingPunct="0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1400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         |  </a:t>
              </a:r>
              <a:r>
                <a:rPr lang="en-US" altLang="zh-CN" sz="1400" b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 id</a:t>
              </a:r>
            </a:p>
            <a:p>
              <a:pPr algn="l" eaLnBrk="0" hangingPunct="0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1400" b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          </a:t>
              </a:r>
              <a:r>
                <a:rPr lang="en-US" altLang="zh-CN" sz="14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| </a:t>
              </a:r>
              <a:r>
                <a:rPr lang="en-US" altLang="zh-CN" sz="1400" b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array</a:t>
              </a:r>
              <a:r>
                <a:rPr lang="en-US" altLang="zh-CN" sz="14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[ </a:t>
              </a:r>
              <a:r>
                <a:rPr lang="en-US" altLang="zh-CN" sz="1400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simple</a:t>
              </a:r>
              <a:r>
                <a:rPr lang="en-US" altLang="zh-CN" sz="14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] </a:t>
              </a:r>
              <a:r>
                <a:rPr lang="en-US" altLang="zh-CN" sz="1400" b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of</a:t>
              </a:r>
              <a:r>
                <a:rPr lang="en-US" altLang="zh-CN" sz="14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 </a:t>
              </a:r>
              <a:r>
                <a:rPr lang="en-US" altLang="zh-CN" sz="1400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type</a:t>
              </a:r>
            </a:p>
            <a:p>
              <a:pPr algn="l" eaLnBrk="0" hangingPunct="0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1400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simple </a:t>
              </a:r>
              <a:r>
                <a:rPr lang="en-US" altLang="zh-CN" sz="14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 </a:t>
              </a:r>
              <a:r>
                <a:rPr lang="en-US" altLang="zh-CN" sz="1400" b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integer</a:t>
              </a:r>
            </a:p>
            <a:p>
              <a:pPr algn="l" eaLnBrk="0" hangingPunct="0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1400" b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           |    char</a:t>
              </a:r>
            </a:p>
            <a:p>
              <a:pPr algn="l" eaLnBrk="0" hangingPunct="0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1400" b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           |    num dotdot num</a:t>
              </a:r>
              <a:endParaRPr lang="en-US" altLang="zh-CN" sz="14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53382" name="Rectangle 102"/>
            <p:cNvSpPr>
              <a:spLocks noChangeArrowheads="1"/>
            </p:cNvSpPr>
            <p:nvPr/>
          </p:nvSpPr>
          <p:spPr bwMode="auto">
            <a:xfrm>
              <a:off x="3264" y="1728"/>
              <a:ext cx="2304" cy="163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3383" name="Line 103"/>
            <p:cNvSpPr>
              <a:spLocks noChangeShapeType="1"/>
            </p:cNvSpPr>
            <p:nvPr/>
          </p:nvSpPr>
          <p:spPr bwMode="auto">
            <a:xfrm flipH="1">
              <a:off x="3600" y="1776"/>
              <a:ext cx="144" cy="96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3384" name="Line 104"/>
            <p:cNvSpPr>
              <a:spLocks noChangeShapeType="1"/>
            </p:cNvSpPr>
            <p:nvPr/>
          </p:nvSpPr>
          <p:spPr bwMode="auto">
            <a:xfrm>
              <a:off x="3744" y="1776"/>
              <a:ext cx="1296" cy="1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3385" name="Text Box 105"/>
            <p:cNvSpPr txBox="1">
              <a:spLocks noChangeArrowheads="1"/>
            </p:cNvSpPr>
            <p:nvPr/>
          </p:nvSpPr>
          <p:spPr bwMode="auto">
            <a:xfrm>
              <a:off x="4431" y="1776"/>
              <a:ext cx="1081" cy="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Start symbol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7813A-5423-45C0-A863-8AA29065AB61}" type="slidenum">
              <a:rPr lang="zh-CN" altLang="en-US"/>
              <a:pPr/>
              <a:t>21</a:t>
            </a:fld>
            <a:endParaRPr lang="en-US" altLang="zh-CN"/>
          </a:p>
        </p:txBody>
      </p:sp>
      <p:sp>
        <p:nvSpPr>
          <p:cNvPr id="35225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8382000" cy="958850"/>
          </a:xfrm>
        </p:spPr>
        <p:txBody>
          <a:bodyPr/>
          <a:lstStyle/>
          <a:p>
            <a:r>
              <a:rPr lang="en-US" altLang="zh-CN" sz="3200" b="1">
                <a:effectLst/>
                <a:ea typeface="宋体" panose="02010600030101010101" pitchFamily="2" charset="-122"/>
              </a:rPr>
              <a:t>Top-Down Process</a:t>
            </a:r>
            <a:br>
              <a:rPr lang="en-US" altLang="zh-CN" sz="3200" b="1">
                <a:effectLst/>
                <a:ea typeface="宋体" panose="02010600030101010101" pitchFamily="2" charset="-122"/>
              </a:rPr>
            </a:br>
            <a:r>
              <a:rPr lang="en-US" altLang="zh-CN" b="1">
                <a:effectLst/>
                <a:ea typeface="宋体" panose="02010600030101010101" pitchFamily="2" charset="-122"/>
              </a:rPr>
              <a:t> </a:t>
            </a:r>
            <a:r>
              <a:rPr lang="en-US" altLang="zh-CN" sz="3200" b="1">
                <a:solidFill>
                  <a:srgbClr val="00CC00"/>
                </a:solidFill>
                <a:effectLst/>
                <a:ea typeface="宋体" panose="02010600030101010101" pitchFamily="2" charset="-122"/>
              </a:rPr>
              <a:t>Recursive Descent </a:t>
            </a:r>
            <a:r>
              <a:rPr lang="en-US" altLang="zh-CN" sz="3200" b="1">
                <a:effectLst/>
                <a:ea typeface="宋体" panose="02010600030101010101" pitchFamily="2" charset="-122"/>
              </a:rPr>
              <a:t>or</a:t>
            </a:r>
            <a:r>
              <a:rPr lang="en-US" altLang="zh-CN" sz="3200" b="1">
                <a:solidFill>
                  <a:srgbClr val="00CC00"/>
                </a:solidFill>
                <a:effectLst/>
                <a:ea typeface="宋体" panose="02010600030101010101" pitchFamily="2" charset="-122"/>
              </a:rPr>
              <a:t> Predictive Parsing</a:t>
            </a:r>
            <a:endParaRPr lang="en-US" altLang="zh-CN" sz="2800">
              <a:solidFill>
                <a:srgbClr val="00CC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352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143000"/>
            <a:ext cx="8229600" cy="1676400"/>
          </a:xfrm>
        </p:spPr>
        <p:txBody>
          <a:bodyPr/>
          <a:lstStyle/>
          <a:p>
            <a:r>
              <a:rPr lang="en-US" altLang="zh-CN">
                <a:effectLst/>
                <a:ea typeface="宋体" panose="02010600030101010101" pitchFamily="2" charset="-122"/>
              </a:rPr>
              <a:t>Parser Operates by Attempting to Match Tokens in the Input Stream</a:t>
            </a:r>
          </a:p>
          <a:p>
            <a:r>
              <a:rPr lang="en-US" altLang="zh-CN">
                <a:effectLst/>
                <a:ea typeface="宋体" panose="02010600030101010101" pitchFamily="2" charset="-122"/>
              </a:rPr>
              <a:t>Utilize both Grammar and Input Below to Motivate Code for Algorithm</a:t>
            </a:r>
          </a:p>
        </p:txBody>
      </p:sp>
      <p:sp>
        <p:nvSpPr>
          <p:cNvPr id="352260" name="Rectangle 4"/>
          <p:cNvSpPr>
            <a:spLocks noChangeArrowheads="1"/>
          </p:cNvSpPr>
          <p:nvPr/>
        </p:nvSpPr>
        <p:spPr bwMode="auto">
          <a:xfrm>
            <a:off x="1981200" y="2895600"/>
            <a:ext cx="5810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array 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[ 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num dotdot num 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] 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of   integer</a:t>
            </a:r>
          </a:p>
        </p:txBody>
      </p:sp>
      <p:sp>
        <p:nvSpPr>
          <p:cNvPr id="352261" name="Rectangle 5"/>
          <p:cNvSpPr>
            <a:spLocks noChangeArrowheads="1"/>
          </p:cNvSpPr>
          <p:nvPr/>
        </p:nvSpPr>
        <p:spPr bwMode="auto">
          <a:xfrm>
            <a:off x="381000" y="3733800"/>
            <a:ext cx="3460750" cy="2333625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type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simple</a:t>
            </a:r>
          </a:p>
          <a:p>
            <a:pPr algn="l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      | 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 id</a:t>
            </a:r>
          </a:p>
          <a:p>
            <a:pPr algn="l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      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|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array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[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simple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]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of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type</a:t>
            </a:r>
          </a:p>
          <a:p>
            <a:pPr algn="l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simple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integer</a:t>
            </a:r>
          </a:p>
          <a:p>
            <a:pPr algn="l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        |    char</a:t>
            </a:r>
          </a:p>
          <a:p>
            <a:pPr algn="l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        |    num dotdot num</a:t>
            </a:r>
          </a:p>
        </p:txBody>
      </p:sp>
      <p:sp>
        <p:nvSpPr>
          <p:cNvPr id="352262" name="Rectangle 6"/>
          <p:cNvSpPr>
            <a:spLocks noChangeArrowheads="1"/>
          </p:cNvSpPr>
          <p:nvPr/>
        </p:nvSpPr>
        <p:spPr bwMode="auto">
          <a:xfrm>
            <a:off x="4114800" y="3733800"/>
            <a:ext cx="4778375" cy="2319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procedure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rPr>
              <a:t>match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 ( </a:t>
            </a: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 : token ) ;</a:t>
            </a:r>
          </a:p>
          <a:p>
            <a:pPr algn="l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begin</a:t>
            </a:r>
          </a:p>
          <a:p>
            <a:pPr algn="l" eaLnBrk="0" hangingPunct="0">
              <a:lnSpc>
                <a:spcPct val="50000"/>
              </a:lnSpc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          if </a:t>
            </a: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rPr>
              <a:t> lookahead 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then</a:t>
            </a:r>
          </a:p>
          <a:p>
            <a:pPr algn="l" eaLnBrk="0" hangingPunct="0">
              <a:lnSpc>
                <a:spcPct val="50000"/>
              </a:lnSpc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</a:t>
            </a: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rPr>
              <a:t>lookahead  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: =  </a:t>
            </a: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rPr>
              <a:t>nexttoken</a:t>
            </a:r>
          </a:p>
          <a:p>
            <a:pPr algn="l" eaLnBrk="0" hangingPunct="0">
              <a:lnSpc>
                <a:spcPct val="50000"/>
              </a:lnSpc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          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else  </a:t>
            </a: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rPr>
              <a:t>error</a:t>
            </a:r>
          </a:p>
          <a:p>
            <a:pPr algn="l" eaLnBrk="0" hangingPunct="0">
              <a:lnSpc>
                <a:spcPct val="50000"/>
              </a:lnSpc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end 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0E4DE-BB45-4255-BBCA-965ABC7D1557}" type="slidenum">
              <a:rPr lang="zh-CN" altLang="en-US"/>
              <a:pPr/>
              <a:t>22</a:t>
            </a:fld>
            <a:endParaRPr lang="en-US" altLang="zh-CN"/>
          </a:p>
        </p:txBody>
      </p:sp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8229600" cy="914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Top-down algorithm (continued)</a:t>
            </a:r>
          </a:p>
        </p:txBody>
      </p:sp>
      <p:sp>
        <p:nvSpPr>
          <p:cNvPr id="411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143000"/>
            <a:ext cx="8229600" cy="2743200"/>
          </a:xfrm>
        </p:spPr>
        <p:txBody>
          <a:bodyPr/>
          <a:lstStyle/>
          <a:p>
            <a:pPr eaLnBrk="0" hangingPunct="0">
              <a:lnSpc>
                <a:spcPct val="4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procedure </a:t>
            </a:r>
            <a:r>
              <a:rPr lang="en-US" altLang="zh-CN" sz="2000" i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 simple </a:t>
            </a:r>
            <a:r>
              <a:rPr lang="en-US" altLang="zh-CN" sz="2000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;</a:t>
            </a:r>
          </a:p>
          <a:p>
            <a:pPr eaLnBrk="0" hangingPunct="0">
              <a:lnSpc>
                <a:spcPct val="4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begin</a:t>
            </a:r>
          </a:p>
          <a:p>
            <a:pPr eaLnBrk="0" hangingPunct="0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         if </a:t>
            </a:r>
            <a:r>
              <a:rPr lang="en-US" altLang="zh-CN" sz="2000" i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 lookahead </a:t>
            </a:r>
            <a:r>
              <a:rPr lang="en-US" altLang="zh-CN" sz="2000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= </a:t>
            </a:r>
            <a:r>
              <a:rPr lang="en-US" altLang="zh-CN" sz="2000" b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integer  then   </a:t>
            </a:r>
            <a:r>
              <a:rPr lang="en-US" altLang="zh-CN" sz="2000" i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match</a:t>
            </a:r>
            <a:r>
              <a:rPr lang="en-US" altLang="zh-CN" sz="2000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 ( </a:t>
            </a:r>
            <a:r>
              <a:rPr lang="en-US" altLang="zh-CN" sz="2000" b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integer</a:t>
            </a:r>
            <a:r>
              <a:rPr lang="en-US" altLang="zh-CN" sz="2000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 );</a:t>
            </a:r>
          </a:p>
          <a:p>
            <a:pPr eaLnBrk="0" hangingPunct="0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         </a:t>
            </a:r>
            <a:r>
              <a:rPr lang="en-US" altLang="zh-CN" sz="2000" b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else if </a:t>
            </a:r>
            <a:r>
              <a:rPr lang="en-US" altLang="zh-CN" sz="2000" i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 lookahead </a:t>
            </a:r>
            <a:r>
              <a:rPr lang="en-US" altLang="zh-CN" sz="2000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= </a:t>
            </a:r>
            <a:r>
              <a:rPr lang="en-US" altLang="zh-CN" sz="2000" b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char  then  </a:t>
            </a:r>
            <a:r>
              <a:rPr lang="en-US" altLang="zh-CN" sz="2000" i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match </a:t>
            </a:r>
            <a:r>
              <a:rPr lang="en-US" altLang="zh-CN" sz="2000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( </a:t>
            </a:r>
            <a:r>
              <a:rPr lang="en-US" altLang="zh-CN" sz="2000" b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char</a:t>
            </a:r>
            <a:r>
              <a:rPr lang="en-US" altLang="zh-CN" sz="2000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 );</a:t>
            </a:r>
          </a:p>
          <a:p>
            <a:pPr eaLnBrk="0" hangingPunct="0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                </a:t>
            </a:r>
            <a:r>
              <a:rPr lang="en-US" altLang="zh-CN" sz="2000" b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else if  </a:t>
            </a:r>
            <a:r>
              <a:rPr lang="en-US" altLang="zh-CN" sz="2000" i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lookahead </a:t>
            </a:r>
            <a:r>
              <a:rPr lang="en-US" altLang="zh-CN" sz="2000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= </a:t>
            </a:r>
            <a:r>
              <a:rPr lang="en-US" altLang="zh-CN" sz="2000" b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num  then  begin</a:t>
            </a:r>
          </a:p>
          <a:p>
            <a:pPr eaLnBrk="0" hangingPunct="0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                           </a:t>
            </a:r>
            <a:r>
              <a:rPr lang="en-US" altLang="zh-CN" sz="2000" i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match </a:t>
            </a:r>
            <a:r>
              <a:rPr lang="en-US" altLang="zh-CN" sz="2000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000" b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num</a:t>
            </a:r>
            <a:r>
              <a:rPr lang="en-US" altLang="zh-CN" sz="2000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); </a:t>
            </a:r>
            <a:r>
              <a:rPr lang="en-US" altLang="zh-CN" sz="2000" i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match </a:t>
            </a:r>
            <a:r>
              <a:rPr lang="en-US" altLang="zh-CN" sz="2000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000" b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dotdot</a:t>
            </a:r>
            <a:r>
              <a:rPr lang="en-US" altLang="zh-CN" sz="2000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); </a:t>
            </a:r>
            <a:r>
              <a:rPr lang="en-US" altLang="zh-CN" sz="2000" i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match </a:t>
            </a:r>
            <a:r>
              <a:rPr lang="en-US" altLang="zh-CN" sz="2000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000" b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num</a:t>
            </a:r>
            <a:r>
              <a:rPr lang="en-US" altLang="zh-CN" sz="2000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pPr eaLnBrk="0" hangingPunct="0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                       </a:t>
            </a:r>
            <a:r>
              <a:rPr lang="en-US" altLang="zh-CN" sz="2000" b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end</a:t>
            </a:r>
          </a:p>
          <a:p>
            <a:pPr eaLnBrk="0" hangingPunct="0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                       else  </a:t>
            </a:r>
            <a:r>
              <a:rPr lang="en-US" altLang="zh-CN" sz="2000" i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error</a:t>
            </a:r>
          </a:p>
          <a:p>
            <a:pPr eaLnBrk="0" hangingPunct="0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end ;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11652" name="Rectangle 4"/>
          <p:cNvSpPr>
            <a:spLocks noChangeArrowheads="1"/>
          </p:cNvSpPr>
          <p:nvPr/>
        </p:nvSpPr>
        <p:spPr bwMode="auto">
          <a:xfrm>
            <a:off x="3124200" y="3979863"/>
            <a:ext cx="2895600" cy="1887537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zh-CN" sz="1600" i="1">
                <a:latin typeface="Times New Roman" panose="02020603050405020304" pitchFamily="18" charset="0"/>
                <a:ea typeface="宋体" panose="02010600030101010101" pitchFamily="2" charset="-122"/>
              </a:rPr>
              <a:t>type </a:t>
            </a:r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1600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simple</a:t>
            </a:r>
          </a:p>
          <a:p>
            <a:pPr algn="l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zh-CN" sz="1600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      |  </a:t>
            </a:r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 id</a:t>
            </a:r>
          </a:p>
          <a:p>
            <a:pPr algn="l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       </a:t>
            </a:r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| </a:t>
            </a:r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array</a:t>
            </a:r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[ </a:t>
            </a:r>
            <a:r>
              <a:rPr lang="en-US" altLang="zh-CN" sz="1600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simple</a:t>
            </a:r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] </a:t>
            </a:r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of</a:t>
            </a:r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</a:t>
            </a:r>
            <a:r>
              <a:rPr lang="en-US" altLang="zh-CN" sz="1600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type</a:t>
            </a:r>
          </a:p>
          <a:p>
            <a:pPr algn="l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zh-CN" sz="1600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simple </a:t>
            </a:r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integer</a:t>
            </a:r>
          </a:p>
          <a:p>
            <a:pPr algn="l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        |    char</a:t>
            </a:r>
          </a:p>
          <a:p>
            <a:pPr algn="l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        |    num dotdot num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5C2F7-1C8F-426D-B676-0556FD60C162}" type="slidenum">
              <a:rPr lang="zh-CN" altLang="en-US"/>
              <a:pPr/>
              <a:t>23</a:t>
            </a:fld>
            <a:endParaRPr lang="en-US" altLang="zh-CN"/>
          </a:p>
        </p:txBody>
      </p:sp>
      <p:sp>
        <p:nvSpPr>
          <p:cNvPr id="35533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8229600" cy="914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Top-Down Algorithm (Continued)</a:t>
            </a:r>
          </a:p>
        </p:txBody>
      </p:sp>
      <p:sp>
        <p:nvSpPr>
          <p:cNvPr id="355331" name="Rectangle 3"/>
          <p:cNvSpPr>
            <a:spLocks noChangeArrowheads="1"/>
          </p:cNvSpPr>
          <p:nvPr/>
        </p:nvSpPr>
        <p:spPr bwMode="auto">
          <a:xfrm>
            <a:off x="609600" y="1143000"/>
            <a:ext cx="7886700" cy="2713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procedure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 type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</a:p>
          <a:p>
            <a:pPr algn="l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begin</a:t>
            </a:r>
          </a:p>
          <a:p>
            <a:pPr algn="l" eaLnBrk="0" hangingPunct="0">
              <a:lnSpc>
                <a:spcPct val="50000"/>
              </a:lnSpc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         if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 lookahead 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is in {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integer, char, num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} 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then 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simple</a:t>
            </a:r>
          </a:p>
          <a:p>
            <a:pPr algn="l" eaLnBrk="0" hangingPunct="0">
              <a:lnSpc>
                <a:spcPct val="50000"/>
              </a:lnSpc>
              <a:spcBef>
                <a:spcPct val="50000"/>
              </a:spcBef>
            </a:pP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        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else if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lookahead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 = ‘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’ 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then  begin 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match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‘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’ ) ; 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match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id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end</a:t>
            </a:r>
          </a:p>
          <a:p>
            <a:pPr algn="l" eaLnBrk="0" hangingPunct="0">
              <a:lnSpc>
                <a:spcPct val="50000"/>
              </a:lnSpc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         else if 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lookahead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=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array  then  begin</a:t>
            </a:r>
          </a:p>
          <a:p>
            <a:pPr algn="l" eaLnBrk="0" hangingPunct="0">
              <a:lnSpc>
                <a:spcPct val="50000"/>
              </a:lnSpc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                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match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array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);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match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(‘[‘); simple;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match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(‘]’);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match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of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);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type</a:t>
            </a:r>
          </a:p>
          <a:p>
            <a:pPr algn="l" eaLnBrk="0" hangingPunct="0">
              <a:lnSpc>
                <a:spcPct val="50000"/>
              </a:lnSpc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                end</a:t>
            </a:r>
          </a:p>
          <a:p>
            <a:pPr algn="l" eaLnBrk="0" hangingPunct="0">
              <a:lnSpc>
                <a:spcPct val="50000"/>
              </a:lnSpc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                else 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error</a:t>
            </a:r>
          </a:p>
          <a:p>
            <a:pPr algn="l" eaLnBrk="0" hangingPunct="0">
              <a:lnSpc>
                <a:spcPct val="40000"/>
              </a:lnSpc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end ;</a:t>
            </a:r>
          </a:p>
        </p:txBody>
      </p:sp>
      <p:sp>
        <p:nvSpPr>
          <p:cNvPr id="355332" name="Rectangle 4"/>
          <p:cNvSpPr>
            <a:spLocks noChangeArrowheads="1"/>
          </p:cNvSpPr>
          <p:nvPr/>
        </p:nvSpPr>
        <p:spPr bwMode="auto">
          <a:xfrm>
            <a:off x="3200400" y="4267200"/>
            <a:ext cx="2895600" cy="1887538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zh-CN" sz="1600" i="1">
                <a:latin typeface="Times New Roman" panose="02020603050405020304" pitchFamily="18" charset="0"/>
                <a:ea typeface="宋体" panose="02010600030101010101" pitchFamily="2" charset="-122"/>
              </a:rPr>
              <a:t>type </a:t>
            </a:r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1600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simple</a:t>
            </a:r>
          </a:p>
          <a:p>
            <a:pPr algn="l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zh-CN" sz="1600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      |  </a:t>
            </a:r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 id</a:t>
            </a:r>
          </a:p>
          <a:p>
            <a:pPr algn="l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       </a:t>
            </a:r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| </a:t>
            </a:r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array</a:t>
            </a:r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[ </a:t>
            </a:r>
            <a:r>
              <a:rPr lang="en-US" altLang="zh-CN" sz="1600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simple</a:t>
            </a:r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] </a:t>
            </a:r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of</a:t>
            </a:r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</a:t>
            </a:r>
            <a:r>
              <a:rPr lang="en-US" altLang="zh-CN" sz="1600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type</a:t>
            </a:r>
          </a:p>
          <a:p>
            <a:pPr algn="l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zh-CN" sz="1600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simple </a:t>
            </a:r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integer</a:t>
            </a:r>
          </a:p>
          <a:p>
            <a:pPr algn="l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        |    char</a:t>
            </a:r>
          </a:p>
          <a:p>
            <a:pPr algn="l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        |    num dotdot num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FC264-ED53-476F-B48E-B9BD73ABE7E7}" type="slidenum">
              <a:rPr lang="zh-CN" altLang="en-US"/>
              <a:pPr/>
              <a:t>24</a:t>
            </a:fld>
            <a:endParaRPr lang="en-US" altLang="zh-CN"/>
          </a:p>
        </p:txBody>
      </p:sp>
      <p:sp>
        <p:nvSpPr>
          <p:cNvPr id="408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229600" cy="8382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Tracing</a:t>
            </a:r>
          </a:p>
        </p:txBody>
      </p:sp>
      <p:sp>
        <p:nvSpPr>
          <p:cNvPr id="408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143000"/>
            <a:ext cx="8077200" cy="532447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effectLst/>
                <a:ea typeface="宋体" panose="02010600030101010101" pitchFamily="2" charset="-122"/>
              </a:rPr>
              <a:t>Input:</a:t>
            </a:r>
            <a:r>
              <a:rPr lang="en-US" altLang="zh-CN" sz="2000" b="1">
                <a:effectLst/>
                <a:ea typeface="宋体" panose="02010600030101010101" pitchFamily="2" charset="-122"/>
              </a:rPr>
              <a:t> array </a:t>
            </a:r>
            <a:r>
              <a:rPr lang="en-US" altLang="zh-CN" sz="2000">
                <a:effectLst/>
                <a:ea typeface="宋体" panose="02010600030101010101" pitchFamily="2" charset="-122"/>
              </a:rPr>
              <a:t>[ </a:t>
            </a:r>
            <a:r>
              <a:rPr lang="en-US" altLang="zh-CN" sz="2000" b="1">
                <a:effectLst/>
                <a:ea typeface="宋体" panose="02010600030101010101" pitchFamily="2" charset="-122"/>
              </a:rPr>
              <a:t>num dotdot num </a:t>
            </a:r>
            <a:r>
              <a:rPr lang="en-US" altLang="zh-CN" sz="2000">
                <a:effectLst/>
                <a:ea typeface="宋体" panose="02010600030101010101" pitchFamily="2" charset="-122"/>
              </a:rPr>
              <a:t>] </a:t>
            </a:r>
            <a:r>
              <a:rPr lang="en-US" altLang="zh-CN" sz="2000" b="1">
                <a:effectLst/>
                <a:ea typeface="宋体" panose="02010600030101010101" pitchFamily="2" charset="-122"/>
              </a:rPr>
              <a:t>of   integer</a:t>
            </a:r>
            <a:br>
              <a:rPr lang="en-US" altLang="zh-CN" sz="2000" b="1">
                <a:effectLst/>
                <a:ea typeface="宋体" panose="02010600030101010101" pitchFamily="2" charset="-122"/>
              </a:rPr>
            </a:br>
            <a:r>
              <a:rPr lang="en-US" altLang="zh-CN" sz="2000" i="1">
                <a:effectLst/>
                <a:ea typeface="宋体" panose="02010600030101010101" pitchFamily="2" charset="-122"/>
              </a:rPr>
              <a:t>To initialize the parser:</a:t>
            </a:r>
            <a:br>
              <a:rPr lang="en-US" altLang="zh-CN" sz="2000" i="1">
                <a:effectLst/>
                <a:ea typeface="宋体" panose="02010600030101010101" pitchFamily="2" charset="-122"/>
              </a:rPr>
            </a:br>
            <a:r>
              <a:rPr lang="en-US" altLang="zh-CN" sz="2000" i="1">
                <a:effectLst/>
                <a:ea typeface="宋体" panose="02010600030101010101" pitchFamily="2" charset="-122"/>
              </a:rPr>
              <a:t>set global variable : </a:t>
            </a:r>
            <a:r>
              <a:rPr lang="en-US" altLang="zh-CN" sz="2000" b="1">
                <a:effectLst/>
                <a:ea typeface="宋体" panose="02010600030101010101" pitchFamily="2" charset="-122"/>
              </a:rPr>
              <a:t>lookahead = array</a:t>
            </a:r>
            <a:br>
              <a:rPr lang="en-US" altLang="zh-CN" sz="2000" b="1">
                <a:effectLst/>
                <a:ea typeface="宋体" panose="02010600030101010101" pitchFamily="2" charset="-122"/>
              </a:rPr>
            </a:br>
            <a:r>
              <a:rPr lang="en-US" altLang="zh-CN" sz="2000" i="1">
                <a:effectLst/>
                <a:ea typeface="宋体" panose="02010600030101010101" pitchFamily="2" charset="-122"/>
              </a:rPr>
              <a:t>call procedure: </a:t>
            </a:r>
            <a:r>
              <a:rPr lang="en-US" altLang="zh-CN" sz="2000" b="1">
                <a:effectLst/>
                <a:ea typeface="宋体" panose="02010600030101010101" pitchFamily="2" charset="-122"/>
              </a:rPr>
              <a:t>type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2000" b="1">
              <a:effectLst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Procedure call</a:t>
            </a:r>
            <a:r>
              <a:rPr lang="en-US" altLang="zh-CN" sz="2000" b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000" i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to </a:t>
            </a:r>
            <a:r>
              <a:rPr lang="en-US" altLang="zh-CN" sz="2000" b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type </a:t>
            </a:r>
            <a:r>
              <a:rPr lang="en-US" altLang="zh-CN" sz="2000" i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with </a:t>
            </a:r>
            <a:r>
              <a:rPr lang="en-US" altLang="zh-CN" sz="2000" b="1">
                <a:effectLst/>
                <a:ea typeface="宋体" panose="02010600030101010101" pitchFamily="2" charset="-122"/>
              </a:rPr>
              <a:t>lookahead = array</a:t>
            </a:r>
            <a:r>
              <a:rPr lang="en-US" altLang="zh-CN" sz="2000" i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 results in the actions: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match</a:t>
            </a:r>
            <a:r>
              <a:rPr lang="en-US" altLang="zh-CN" sz="2000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( </a:t>
            </a:r>
            <a:r>
              <a:rPr lang="en-US" altLang="zh-CN" sz="2000" b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array </a:t>
            </a:r>
            <a:r>
              <a:rPr lang="en-US" altLang="zh-CN" sz="2000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); </a:t>
            </a:r>
            <a:r>
              <a:rPr lang="en-US" altLang="zh-CN" sz="2000" i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match</a:t>
            </a:r>
            <a:r>
              <a:rPr lang="en-US" altLang="zh-CN" sz="2000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(‘[‘); simple; </a:t>
            </a:r>
            <a:r>
              <a:rPr lang="en-US" altLang="zh-CN" sz="2000" i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match</a:t>
            </a:r>
            <a:r>
              <a:rPr lang="en-US" altLang="zh-CN" sz="2000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(‘]’); </a:t>
            </a:r>
            <a:r>
              <a:rPr lang="en-US" altLang="zh-CN" sz="2000" i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match</a:t>
            </a:r>
            <a:r>
              <a:rPr lang="en-US" altLang="zh-CN" sz="2000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000" b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of</a:t>
            </a:r>
            <a:r>
              <a:rPr lang="en-US" altLang="zh-CN" sz="2000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); </a:t>
            </a:r>
            <a:r>
              <a:rPr lang="en-US" altLang="zh-CN" sz="2000" i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type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2000" i="1">
              <a:effectLst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Procedure call</a:t>
            </a:r>
            <a:r>
              <a:rPr lang="en-US" altLang="zh-CN" sz="2000" b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000" i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to </a:t>
            </a:r>
            <a:r>
              <a:rPr lang="en-US" altLang="zh-CN" sz="2000" b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simple </a:t>
            </a:r>
            <a:r>
              <a:rPr lang="en-US" altLang="zh-CN" sz="2000" i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with </a:t>
            </a:r>
            <a:r>
              <a:rPr lang="en-US" altLang="zh-CN" sz="2000" b="1">
                <a:effectLst/>
                <a:ea typeface="宋体" panose="02010600030101010101" pitchFamily="2" charset="-122"/>
              </a:rPr>
              <a:t>lookahead = num </a:t>
            </a:r>
            <a:r>
              <a:rPr lang="en-US" altLang="zh-CN" sz="2000" i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results in the actions: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match </a:t>
            </a:r>
            <a:r>
              <a:rPr lang="en-US" altLang="zh-CN" sz="2000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000" b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num</a:t>
            </a:r>
            <a:r>
              <a:rPr lang="en-US" altLang="zh-CN" sz="2000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); </a:t>
            </a:r>
            <a:r>
              <a:rPr lang="en-US" altLang="zh-CN" sz="2000" i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match </a:t>
            </a:r>
            <a:r>
              <a:rPr lang="en-US" altLang="zh-CN" sz="2000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000" b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dotdot</a:t>
            </a:r>
            <a:r>
              <a:rPr lang="en-US" altLang="zh-CN" sz="2000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); </a:t>
            </a:r>
            <a:r>
              <a:rPr lang="en-US" altLang="zh-CN" sz="2000" i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match </a:t>
            </a:r>
            <a:r>
              <a:rPr lang="en-US" altLang="zh-CN" sz="2000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000" b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num</a:t>
            </a:r>
            <a:r>
              <a:rPr lang="en-US" altLang="zh-CN" sz="2000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2000">
              <a:effectLst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Procedure call</a:t>
            </a:r>
            <a:r>
              <a:rPr lang="en-US" altLang="zh-CN" sz="2000" b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000" i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to </a:t>
            </a:r>
            <a:r>
              <a:rPr lang="en-US" altLang="zh-CN" sz="2000" b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type </a:t>
            </a:r>
            <a:r>
              <a:rPr lang="en-US" altLang="zh-CN" sz="2000" i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with </a:t>
            </a:r>
            <a:r>
              <a:rPr lang="en-US" altLang="zh-CN" sz="2000" b="1">
                <a:effectLst/>
                <a:ea typeface="宋体" panose="02010600030101010101" pitchFamily="2" charset="-122"/>
              </a:rPr>
              <a:t>lookahead = integer</a:t>
            </a:r>
            <a:r>
              <a:rPr lang="en-US" altLang="zh-CN" sz="2000" i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 results in the actions: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effectLst/>
                <a:ea typeface="宋体" panose="02010600030101010101" pitchFamily="2" charset="-122"/>
              </a:rPr>
              <a:t>simple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2000" i="1">
              <a:effectLst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Procedure call</a:t>
            </a:r>
            <a:r>
              <a:rPr lang="en-US" altLang="zh-CN" sz="2000" b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000" i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to </a:t>
            </a:r>
            <a:r>
              <a:rPr lang="en-US" altLang="zh-CN" sz="2000" b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simple </a:t>
            </a:r>
            <a:r>
              <a:rPr lang="en-US" altLang="zh-CN" sz="2000" i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with </a:t>
            </a:r>
            <a:r>
              <a:rPr lang="en-US" altLang="zh-CN" sz="2000" b="1">
                <a:effectLst/>
                <a:ea typeface="宋体" panose="02010600030101010101" pitchFamily="2" charset="-122"/>
              </a:rPr>
              <a:t>lookahead = integer </a:t>
            </a:r>
            <a:r>
              <a:rPr lang="en-US" altLang="zh-CN" sz="2000" i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results in the actions: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match</a:t>
            </a:r>
            <a:r>
              <a:rPr lang="en-US" altLang="zh-CN" sz="2000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 ( </a:t>
            </a:r>
            <a:r>
              <a:rPr lang="en-US" altLang="zh-CN" sz="2000" b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integer</a:t>
            </a:r>
            <a:r>
              <a:rPr lang="en-US" altLang="zh-CN" sz="2000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 )</a:t>
            </a:r>
          </a:p>
        </p:txBody>
      </p:sp>
      <p:sp>
        <p:nvSpPr>
          <p:cNvPr id="408580" name="Rectangle 4"/>
          <p:cNvSpPr>
            <a:spLocks noChangeArrowheads="1"/>
          </p:cNvSpPr>
          <p:nvPr/>
        </p:nvSpPr>
        <p:spPr bwMode="auto">
          <a:xfrm>
            <a:off x="5867400" y="398463"/>
            <a:ext cx="2895600" cy="1887537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zh-CN" sz="1600" i="1">
                <a:latin typeface="Times New Roman" panose="02020603050405020304" pitchFamily="18" charset="0"/>
                <a:ea typeface="宋体" panose="02010600030101010101" pitchFamily="2" charset="-122"/>
              </a:rPr>
              <a:t>type </a:t>
            </a:r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1600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simple</a:t>
            </a:r>
          </a:p>
          <a:p>
            <a:pPr algn="l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zh-CN" sz="1600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      |  </a:t>
            </a:r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 id</a:t>
            </a:r>
          </a:p>
          <a:p>
            <a:pPr algn="l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       </a:t>
            </a:r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| </a:t>
            </a:r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array</a:t>
            </a:r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[ </a:t>
            </a:r>
            <a:r>
              <a:rPr lang="en-US" altLang="zh-CN" sz="1600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simple</a:t>
            </a:r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] </a:t>
            </a:r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of</a:t>
            </a:r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</a:t>
            </a:r>
            <a:r>
              <a:rPr lang="en-US" altLang="zh-CN" sz="1600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type</a:t>
            </a:r>
          </a:p>
          <a:p>
            <a:pPr algn="l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zh-CN" sz="1600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simple </a:t>
            </a:r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integer</a:t>
            </a:r>
          </a:p>
          <a:p>
            <a:pPr algn="l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        |    char</a:t>
            </a:r>
          </a:p>
          <a:p>
            <a:pPr algn="l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        |    num dotdot num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8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08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08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08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08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08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08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085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085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8579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1A496-6C9B-417D-BD49-50B29879664E}" type="slidenum">
              <a:rPr lang="zh-CN" altLang="en-US"/>
              <a:pPr/>
              <a:t>25</a:t>
            </a:fld>
            <a:endParaRPr lang="en-US" altLang="zh-CN"/>
          </a:p>
        </p:txBody>
      </p:sp>
      <p:sp>
        <p:nvSpPr>
          <p:cNvPr id="40755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8229600" cy="914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Limitations</a:t>
            </a:r>
          </a:p>
        </p:txBody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143000"/>
            <a:ext cx="8229600" cy="5324475"/>
          </a:xfrm>
        </p:spPr>
        <p:txBody>
          <a:bodyPr/>
          <a:lstStyle/>
          <a:p>
            <a:pPr>
              <a:lnSpc>
                <a:spcPct val="79000"/>
              </a:lnSpc>
            </a:pPr>
            <a:r>
              <a:rPr lang="en-US" altLang="zh-CN">
                <a:ea typeface="宋体" panose="02010600030101010101" pitchFamily="2" charset="-122"/>
              </a:rPr>
              <a:t>Can we apply the previous technique to every grammar? NO</a:t>
            </a:r>
          </a:p>
          <a:p>
            <a:pPr eaLnBrk="0" hangingPunct="0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en-US" altLang="zh-CN" sz="2000" i="1">
              <a:effectLst/>
              <a:ea typeface="宋体" panose="02010600030101010101" pitchFamily="2" charset="-122"/>
            </a:endParaRPr>
          </a:p>
          <a:p>
            <a:pPr eaLnBrk="0" hangingPunct="0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i="1">
                <a:effectLst/>
                <a:ea typeface="宋体" panose="02010600030101010101" pitchFamily="2" charset="-122"/>
              </a:rPr>
              <a:t>type </a:t>
            </a:r>
            <a:r>
              <a:rPr lang="en-US" altLang="zh-CN" sz="2000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000" i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simple</a:t>
            </a:r>
            <a:endParaRPr lang="en-US" altLang="zh-CN" sz="2000" b="1">
              <a:effectLst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0" hangingPunct="0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           </a:t>
            </a:r>
            <a:r>
              <a:rPr lang="en-US" altLang="zh-CN" sz="2000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| </a:t>
            </a:r>
            <a:r>
              <a:rPr lang="en-US" altLang="zh-CN" sz="2000" b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array</a:t>
            </a:r>
            <a:r>
              <a:rPr lang="en-US" altLang="zh-CN" sz="2000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 [ </a:t>
            </a:r>
            <a:r>
              <a:rPr lang="en-US" altLang="zh-CN" sz="2000" i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simple</a:t>
            </a:r>
            <a:r>
              <a:rPr lang="en-US" altLang="zh-CN" sz="2000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 ] </a:t>
            </a:r>
            <a:r>
              <a:rPr lang="en-US" altLang="zh-CN" sz="2000" b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of</a:t>
            </a:r>
            <a:r>
              <a:rPr lang="en-US" altLang="zh-CN" sz="2000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  </a:t>
            </a:r>
            <a:r>
              <a:rPr lang="en-US" altLang="zh-CN" sz="2000" i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type</a:t>
            </a:r>
          </a:p>
          <a:p>
            <a:pPr eaLnBrk="0" hangingPunct="0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i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simple </a:t>
            </a:r>
            <a:r>
              <a:rPr lang="en-US" altLang="zh-CN" sz="2000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000" b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integer</a:t>
            </a:r>
          </a:p>
          <a:p>
            <a:pPr eaLnBrk="0" hangingPunct="0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            |    array </a:t>
            </a:r>
            <a:r>
              <a:rPr lang="en-US" altLang="zh-CN" sz="2000" i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digit</a:t>
            </a:r>
          </a:p>
          <a:p>
            <a:pPr eaLnBrk="0" hangingPunct="0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i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digit </a:t>
            </a:r>
            <a:r>
              <a:rPr lang="en-US" altLang="zh-CN" sz="2000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000" b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0|1|2|3|4|5|6|7|8|9</a:t>
            </a:r>
            <a:endParaRPr lang="en-US" altLang="zh-CN" sz="2000">
              <a:effectLst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79000"/>
              </a:lnSpc>
              <a:buFont typeface="Wingdings" panose="05000000000000000000" pitchFamily="2" charset="2"/>
              <a:buNone/>
            </a:pPr>
            <a:endParaRPr lang="en-US" altLang="zh-CN">
              <a:ea typeface="宋体" panose="02010600030101010101" pitchFamily="2" charset="-122"/>
            </a:endParaRPr>
          </a:p>
          <a:p>
            <a:pPr>
              <a:lnSpc>
                <a:spcPct val="79000"/>
              </a:lnSpc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consider the string “</a:t>
            </a:r>
            <a:r>
              <a:rPr lang="en-US" altLang="zh-CN" sz="2000" b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array</a:t>
            </a:r>
            <a:r>
              <a:rPr lang="en-US" altLang="zh-CN" sz="2000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 6”</a:t>
            </a:r>
          </a:p>
          <a:p>
            <a:pPr>
              <a:lnSpc>
                <a:spcPct val="79000"/>
              </a:lnSpc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the predictive parser starts with </a:t>
            </a:r>
            <a:r>
              <a:rPr lang="en-US" altLang="zh-CN" i="1">
                <a:ea typeface="宋体" panose="02010600030101010101" pitchFamily="2" charset="-122"/>
              </a:rPr>
              <a:t>type</a:t>
            </a:r>
            <a:r>
              <a:rPr lang="en-US" altLang="zh-CN">
                <a:ea typeface="宋体" panose="02010600030101010101" pitchFamily="2" charset="-122"/>
              </a:rPr>
              <a:t> and lookahead= </a:t>
            </a:r>
            <a:r>
              <a:rPr lang="en-US" altLang="zh-CN" sz="2000" b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array</a:t>
            </a:r>
            <a:r>
              <a:rPr lang="en-US" altLang="zh-CN" sz="2000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</a:p>
          <a:p>
            <a:pPr>
              <a:lnSpc>
                <a:spcPct val="79000"/>
              </a:lnSpc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apply production </a:t>
            </a:r>
            <a:r>
              <a:rPr lang="en-US" altLang="zh-CN" sz="2000" i="1">
                <a:effectLst/>
                <a:ea typeface="宋体" panose="02010600030101010101" pitchFamily="2" charset="-122"/>
              </a:rPr>
              <a:t>type </a:t>
            </a:r>
            <a:r>
              <a:rPr lang="en-US" altLang="zh-CN" sz="2000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000" i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simple </a:t>
            </a:r>
            <a:r>
              <a:rPr lang="en-US" altLang="zh-CN">
                <a:ea typeface="宋体" panose="02010600030101010101" pitchFamily="2" charset="-122"/>
              </a:rPr>
              <a:t>OR </a:t>
            </a:r>
            <a:r>
              <a:rPr lang="en-US" altLang="zh-CN" sz="2000" i="1">
                <a:effectLst/>
                <a:ea typeface="宋体" panose="02010600030101010101" pitchFamily="2" charset="-122"/>
              </a:rPr>
              <a:t>type </a:t>
            </a:r>
            <a:r>
              <a:rPr lang="en-US" altLang="zh-CN" sz="2000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000" b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array </a:t>
            </a:r>
            <a:r>
              <a:rPr lang="en-US" altLang="zh-CN" sz="2000" i="1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digit </a:t>
            </a:r>
            <a:r>
              <a:rPr lang="en-US" altLang="zh-CN">
                <a:ea typeface="宋体" panose="02010600030101010101" pitchFamily="2" charset="-122"/>
              </a:rPr>
              <a:t>??</a:t>
            </a:r>
          </a:p>
          <a:p>
            <a:pPr>
              <a:lnSpc>
                <a:spcPct val="79000"/>
              </a:lnSpc>
              <a:buFont typeface="Wingdings" panose="05000000000000000000" pitchFamily="2" charset="2"/>
              <a:buNone/>
            </a:pP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C5FEF-B0FC-41BE-A7D0-2B0CE316371B}" type="slidenum">
              <a:rPr lang="zh-CN" altLang="en-US"/>
              <a:pPr/>
              <a:t>26</a:t>
            </a:fld>
            <a:endParaRPr lang="en-US" altLang="zh-CN"/>
          </a:p>
        </p:txBody>
      </p:sp>
      <p:sp>
        <p:nvSpPr>
          <p:cNvPr id="40243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76200"/>
            <a:ext cx="8229600" cy="8382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Designing a Predictive Parser</a:t>
            </a:r>
          </a:p>
        </p:txBody>
      </p:sp>
      <p:sp>
        <p:nvSpPr>
          <p:cNvPr id="402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914400"/>
            <a:ext cx="8305800" cy="5553075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Consider A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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FIRST(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)=set of leftmost tokens that appear in  or in strings generated by .</a:t>
            </a:r>
          </a:p>
          <a:p>
            <a:pPr lvl="1"/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E.g. FIRST(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type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)={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,array,integer,char,num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}</a:t>
            </a:r>
          </a:p>
          <a:p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Consider productions of the form </a:t>
            </a:r>
            <a:r>
              <a:rPr lang="en-US" altLang="zh-CN">
                <a:ea typeface="宋体" panose="02010600030101010101" pitchFamily="2" charset="-122"/>
              </a:rPr>
              <a:t>A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, </a:t>
            </a:r>
            <a:r>
              <a:rPr lang="en-US" altLang="zh-CN">
                <a:ea typeface="宋体" panose="02010600030101010101" pitchFamily="2" charset="-122"/>
              </a:rPr>
              <a:t>A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 the sets FIRST() and FIRST() should be disjoint</a:t>
            </a:r>
          </a:p>
          <a:p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Then we can implement predictive parsing  (initially: start NT + lookahead=lefmost)</a:t>
            </a:r>
          </a:p>
          <a:p>
            <a:pPr lvl="1"/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Starting with </a:t>
            </a:r>
            <a:r>
              <a:rPr lang="en-US" altLang="zh-CN">
                <a:ea typeface="宋体" panose="02010600030101010101" pitchFamily="2" charset="-122"/>
              </a:rPr>
              <a:t>A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? we find into which FIRST() set the lookahead symbol belongs to and we use this production.</a:t>
            </a:r>
          </a:p>
          <a:p>
            <a:pPr lvl="1"/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Any non-terminal results in the corresponding procedure call</a:t>
            </a:r>
          </a:p>
          <a:p>
            <a:pPr lvl="1"/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Terminals are matched.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51D5A-D137-4A78-AC35-D076032F65C2}" type="slidenum">
              <a:rPr lang="zh-CN" altLang="en-US"/>
              <a:pPr/>
              <a:t>27</a:t>
            </a:fld>
            <a:endParaRPr lang="en-US" altLang="zh-CN"/>
          </a:p>
        </p:txBody>
      </p:sp>
      <p:sp>
        <p:nvSpPr>
          <p:cNvPr id="35635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8229600" cy="914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Problems with Top Down Parsing</a:t>
            </a:r>
          </a:p>
        </p:txBody>
      </p:sp>
      <p:sp>
        <p:nvSpPr>
          <p:cNvPr id="356367" name="Rectangle 15"/>
          <p:cNvSpPr>
            <a:spLocks noGrp="1" noChangeArrowheads="1"/>
          </p:cNvSpPr>
          <p:nvPr>
            <p:ph type="body" idx="1"/>
          </p:nvPr>
        </p:nvSpPr>
        <p:spPr>
          <a:xfrm>
            <a:off x="533400" y="1143000"/>
            <a:ext cx="8382000" cy="4267200"/>
          </a:xfrm>
        </p:spPr>
        <p:txBody>
          <a:bodyPr/>
          <a:lstStyle/>
          <a:p>
            <a:pPr>
              <a:lnSpc>
                <a:spcPct val="79000"/>
              </a:lnSpc>
            </a:pPr>
            <a:r>
              <a:rPr lang="en-US" altLang="zh-CN" sz="2400">
                <a:ea typeface="宋体" panose="02010600030101010101" pitchFamily="2" charset="-122"/>
              </a:rPr>
              <a:t>Left Recursion in CFG May Cause Parser to Loop Forever.</a:t>
            </a:r>
          </a:p>
          <a:p>
            <a:pPr>
              <a:lnSpc>
                <a:spcPct val="79000"/>
              </a:lnSpc>
            </a:pPr>
            <a:r>
              <a:rPr lang="en-US" altLang="zh-CN" sz="2400">
                <a:ea typeface="宋体" panose="02010600030101010101" pitchFamily="2" charset="-122"/>
              </a:rPr>
              <a:t>Indeed:</a:t>
            </a:r>
          </a:p>
          <a:p>
            <a:pPr lvl="1">
              <a:lnSpc>
                <a:spcPct val="70000"/>
              </a:lnSpc>
            </a:pPr>
            <a:r>
              <a:rPr lang="en-US" altLang="zh-CN" sz="2400">
                <a:ea typeface="宋体" panose="02010600030101010101" pitchFamily="2" charset="-122"/>
              </a:rPr>
              <a:t>In the production </a:t>
            </a:r>
            <a:r>
              <a:rPr lang="en-US" altLang="zh-CN" sz="2000">
                <a:solidFill>
                  <a:srgbClr val="FF33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000">
                <a:solidFill>
                  <a:srgbClr val="FF33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A </a:t>
            </a:r>
            <a:r>
              <a:rPr lang="en-US" altLang="zh-CN" sz="2400">
                <a:ea typeface="宋体" panose="02010600030101010101" pitchFamily="2" charset="-122"/>
              </a:rPr>
              <a:t>we write the program</a:t>
            </a:r>
            <a:br>
              <a:rPr lang="en-US" altLang="zh-CN" sz="2400">
                <a:ea typeface="宋体" panose="02010600030101010101" pitchFamily="2" charset="-122"/>
              </a:rPr>
            </a:br>
            <a:r>
              <a:rPr lang="en-US" altLang="zh-CN" sz="2400">
                <a:ea typeface="宋体" panose="02010600030101010101" pitchFamily="2" charset="-122"/>
              </a:rPr>
              <a:t>procedure </a:t>
            </a:r>
            <a:r>
              <a:rPr lang="en-US" altLang="zh-CN" sz="2000">
                <a:solidFill>
                  <a:srgbClr val="FF3300"/>
                </a:solidFill>
                <a:ea typeface="宋体" panose="02010600030101010101" pitchFamily="2" charset="-122"/>
              </a:rPr>
              <a:t>A</a:t>
            </a:r>
            <a:br>
              <a:rPr lang="en-US" altLang="zh-CN" sz="2000">
                <a:solidFill>
                  <a:srgbClr val="FF3300"/>
                </a:solidFill>
                <a:ea typeface="宋体" panose="02010600030101010101" pitchFamily="2" charset="-122"/>
              </a:rPr>
            </a:br>
            <a:r>
              <a:rPr lang="en-US" altLang="zh-CN" sz="3200">
                <a:ea typeface="宋体" panose="02010600030101010101" pitchFamily="2" charset="-122"/>
              </a:rPr>
              <a:t>{</a:t>
            </a:r>
            <a:r>
              <a:rPr lang="en-US" altLang="zh-CN" sz="2400">
                <a:ea typeface="宋体" panose="02010600030101010101" pitchFamily="2" charset="-122"/>
              </a:rPr>
              <a:t/>
            </a:r>
            <a:br>
              <a:rPr lang="en-US" altLang="zh-CN" sz="2400">
                <a:ea typeface="宋体" panose="02010600030101010101" pitchFamily="2" charset="-122"/>
              </a:rPr>
            </a:br>
            <a:r>
              <a:rPr lang="en-US" altLang="zh-CN" sz="2400">
                <a:ea typeface="宋体" panose="02010600030101010101" pitchFamily="2" charset="-122"/>
              </a:rPr>
              <a:t>	if lookahead belongs to First(</a:t>
            </a:r>
            <a:r>
              <a:rPr lang="en-US" altLang="zh-CN" sz="2000">
                <a:solidFill>
                  <a:srgbClr val="FF33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A</a:t>
            </a:r>
            <a:r>
              <a:rPr lang="en-US" altLang="zh-CN" sz="2400">
                <a:ea typeface="宋体" panose="02010600030101010101" pitchFamily="2" charset="-122"/>
              </a:rPr>
              <a:t>) then</a:t>
            </a:r>
            <a:br>
              <a:rPr lang="en-US" altLang="zh-CN" sz="2400">
                <a:ea typeface="宋体" panose="02010600030101010101" pitchFamily="2" charset="-122"/>
              </a:rPr>
            </a:br>
            <a:r>
              <a:rPr lang="en-US" altLang="zh-CN" sz="2400">
                <a:ea typeface="宋体" panose="02010600030101010101" pitchFamily="2" charset="-122"/>
              </a:rPr>
              <a:t>			call the procedure </a:t>
            </a:r>
            <a:r>
              <a:rPr lang="en-US" altLang="zh-CN" sz="2000">
                <a:solidFill>
                  <a:srgbClr val="FF3300"/>
                </a:solidFill>
                <a:ea typeface="宋体" panose="02010600030101010101" pitchFamily="2" charset="-122"/>
              </a:rPr>
              <a:t>A</a:t>
            </a:r>
            <a:br>
              <a:rPr lang="en-US" altLang="zh-CN" sz="2000">
                <a:solidFill>
                  <a:srgbClr val="FF3300"/>
                </a:solidFill>
                <a:ea typeface="宋体" panose="02010600030101010101" pitchFamily="2" charset="-122"/>
              </a:rPr>
            </a:br>
            <a:r>
              <a:rPr lang="en-US" altLang="zh-CN" sz="3200">
                <a:ea typeface="宋体" panose="02010600030101010101" pitchFamily="2" charset="-122"/>
              </a:rPr>
              <a:t>}</a:t>
            </a:r>
            <a:r>
              <a:rPr lang="en-US" altLang="zh-CN" sz="2400">
                <a:ea typeface="宋体" panose="02010600030101010101" pitchFamily="2" charset="-122"/>
              </a:rPr>
              <a:t/>
            </a:r>
            <a:br>
              <a:rPr lang="en-US" altLang="zh-CN" sz="2400">
                <a:ea typeface="宋体" panose="02010600030101010101" pitchFamily="2" charset="-122"/>
              </a:rPr>
            </a:br>
            <a:endParaRPr lang="en-US" altLang="zh-CN" sz="2000">
              <a:solidFill>
                <a:srgbClr val="FF3300"/>
              </a:solidFill>
              <a:ea typeface="宋体" panose="02010600030101010101" pitchFamily="2" charset="-122"/>
            </a:endParaRP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endParaRPr lang="en-US" altLang="zh-CN" sz="2400">
              <a:ea typeface="宋体" panose="02010600030101010101" pitchFamily="2" charset="-122"/>
            </a:endParaRPr>
          </a:p>
          <a:p>
            <a:pPr>
              <a:lnSpc>
                <a:spcPct val="79000"/>
              </a:lnSpc>
            </a:pPr>
            <a:r>
              <a:rPr lang="en-US" altLang="zh-CN" sz="2400">
                <a:ea typeface="宋体" panose="02010600030101010101" pitchFamily="2" charset="-122"/>
              </a:rPr>
              <a:t>Solution: Remove Left Recursion...</a:t>
            </a:r>
          </a:p>
          <a:p>
            <a:pPr lvl="1">
              <a:lnSpc>
                <a:spcPct val="70000"/>
              </a:lnSpc>
            </a:pPr>
            <a:r>
              <a:rPr lang="en-US" altLang="zh-CN" sz="2400">
                <a:ea typeface="宋体" panose="02010600030101010101" pitchFamily="2" charset="-122"/>
              </a:rPr>
              <a:t>without changing the Language defined by the Grammar.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046CC-F9E9-4692-89A1-F0563A25F8BA}" type="slidenum">
              <a:rPr lang="zh-CN" altLang="en-US"/>
              <a:pPr/>
              <a:t>28</a:t>
            </a:fld>
            <a:endParaRPr lang="en-US" altLang="zh-CN"/>
          </a:p>
        </p:txBody>
      </p:sp>
      <p:sp>
        <p:nvSpPr>
          <p:cNvPr id="40960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8229600" cy="914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Dealing with Left recursion</a:t>
            </a:r>
          </a:p>
        </p:txBody>
      </p:sp>
      <p:sp>
        <p:nvSpPr>
          <p:cNvPr id="409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143000"/>
            <a:ext cx="8153400" cy="6096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Solution: Algorithm to Remove Left Recursion:</a:t>
            </a: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grpSp>
        <p:nvGrpSpPr>
          <p:cNvPr id="409604" name="Group 4"/>
          <p:cNvGrpSpPr>
            <a:grpSpLocks/>
          </p:cNvGrpSpPr>
          <p:nvPr/>
        </p:nvGrpSpPr>
        <p:grpSpPr bwMode="auto">
          <a:xfrm>
            <a:off x="2057400" y="3429000"/>
            <a:ext cx="5810250" cy="2819400"/>
            <a:chOff x="1332" y="1632"/>
            <a:chExt cx="3660" cy="1776"/>
          </a:xfrm>
        </p:grpSpPr>
        <p:sp>
          <p:nvSpPr>
            <p:cNvPr id="409605" name="Text Box 5"/>
            <p:cNvSpPr txBox="1">
              <a:spLocks noChangeArrowheads="1"/>
            </p:cNvSpPr>
            <p:nvPr/>
          </p:nvSpPr>
          <p:spPr bwMode="auto">
            <a:xfrm>
              <a:off x="1584" y="1632"/>
              <a:ext cx="3408" cy="5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expr </a:t>
              </a: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 </a:t>
              </a:r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expr </a:t>
              </a: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 </a:t>
              </a:r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term  </a:t>
              </a: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|  </a:t>
              </a:r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expr </a:t>
              </a: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- </a:t>
              </a:r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term  </a:t>
              </a: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|  </a:t>
              </a:r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term</a:t>
              </a:r>
            </a:p>
            <a:p>
              <a:pPr algn="l" eaLnBrk="0" hangingPunct="0"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term </a:t>
              </a: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 </a:t>
              </a:r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</a:t>
              </a: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0 | 1 | 2 | 3 | 4 | 5 | 6 | 7 | 8 | 9</a:t>
              </a:r>
            </a:p>
          </p:txBody>
        </p:sp>
        <p:sp>
          <p:nvSpPr>
            <p:cNvPr id="409606" name="Rectangle 6"/>
            <p:cNvSpPr>
              <a:spLocks noChangeArrowheads="1"/>
            </p:cNvSpPr>
            <p:nvPr/>
          </p:nvSpPr>
          <p:spPr bwMode="auto">
            <a:xfrm>
              <a:off x="1344" y="1680"/>
              <a:ext cx="3072" cy="52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607" name="Text Box 7"/>
            <p:cNvSpPr txBox="1">
              <a:spLocks noChangeArrowheads="1"/>
            </p:cNvSpPr>
            <p:nvPr/>
          </p:nvSpPr>
          <p:spPr bwMode="auto">
            <a:xfrm>
              <a:off x="1536" y="2544"/>
              <a:ext cx="3408" cy="8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expr </a:t>
              </a: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 </a:t>
              </a:r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term  rest</a:t>
              </a:r>
            </a:p>
            <a:p>
              <a:pPr algn="l" eaLnBrk="0" hangingPunct="0"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rest </a:t>
              </a: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 </a:t>
              </a:r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</a:t>
              </a: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 </a:t>
              </a:r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term  rest  </a:t>
              </a: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|  - </a:t>
              </a:r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term  rest </a:t>
              </a: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|  </a:t>
              </a:r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</a:t>
              </a:r>
            </a:p>
            <a:p>
              <a:pPr algn="l" eaLnBrk="0" hangingPunct="0"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term </a:t>
              </a: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 </a:t>
              </a:r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</a:t>
              </a: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0 | 1 | 2 | 3 | 4 | 5 | 6 | 7 | 8 | 9</a:t>
              </a:r>
            </a:p>
          </p:txBody>
        </p:sp>
        <p:sp>
          <p:nvSpPr>
            <p:cNvPr id="409608" name="Rectangle 8"/>
            <p:cNvSpPr>
              <a:spLocks noChangeArrowheads="1"/>
            </p:cNvSpPr>
            <p:nvPr/>
          </p:nvSpPr>
          <p:spPr bwMode="auto">
            <a:xfrm>
              <a:off x="1344" y="2592"/>
              <a:ext cx="3072" cy="81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409609" name="AutoShape 9"/>
            <p:cNvCxnSpPr>
              <a:cxnSpLocks noChangeShapeType="1"/>
              <a:stCxn id="409606" idx="1"/>
              <a:endCxn id="409608" idx="0"/>
            </p:cNvCxnSpPr>
            <p:nvPr/>
          </p:nvCxnSpPr>
          <p:spPr bwMode="auto">
            <a:xfrm rot="10800000" flipH="1" flipV="1">
              <a:off x="1332" y="1944"/>
              <a:ext cx="1548" cy="636"/>
            </a:xfrm>
            <a:prstGeom prst="bentConnector4">
              <a:avLst>
                <a:gd name="adj1" fmla="val -8528"/>
                <a:gd name="adj2" fmla="val 71699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9610" name="Text Box 10"/>
          <p:cNvSpPr txBox="1">
            <a:spLocks noChangeArrowheads="1"/>
          </p:cNvSpPr>
          <p:nvPr/>
        </p:nvSpPr>
        <p:spPr bwMode="auto">
          <a:xfrm>
            <a:off x="3155950" y="1682750"/>
            <a:ext cx="2486025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BASIC IDEA:</a:t>
            </a:r>
          </a:p>
          <a:p>
            <a:r>
              <a:rPr lang="en-US" altLang="zh-CN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A| becomes</a:t>
            </a:r>
          </a:p>
          <a:p>
            <a:r>
              <a:rPr lang="en-US" altLang="zh-CN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 R</a:t>
            </a:r>
          </a:p>
          <a:p>
            <a:r>
              <a:rPr lang="en-US" altLang="zh-CN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R R| </a:t>
            </a:r>
            <a:r>
              <a:rPr lang="en-US" altLang="zh-CN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endParaRPr lang="en-US" altLang="zh-CN" b="1" i="1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5F45B-F3BD-4F2F-AAFA-BB88F1136246}" type="slidenum">
              <a:rPr lang="zh-CN" altLang="en-US"/>
              <a:pPr/>
              <a:t>29</a:t>
            </a:fld>
            <a:endParaRPr lang="en-US" altLang="zh-CN"/>
          </a:p>
        </p:txBody>
      </p:sp>
      <p:sp>
        <p:nvSpPr>
          <p:cNvPr id="41062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8229600" cy="914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What happens to semantic actions?</a:t>
            </a:r>
          </a:p>
        </p:txBody>
      </p:sp>
      <p:sp>
        <p:nvSpPr>
          <p:cNvPr id="410628" name="Rectangle 4"/>
          <p:cNvSpPr>
            <a:spLocks noChangeArrowheads="1"/>
          </p:cNvSpPr>
          <p:nvPr/>
        </p:nvSpPr>
        <p:spPr bwMode="auto">
          <a:xfrm>
            <a:off x="685800" y="1752600"/>
            <a:ext cx="3810000" cy="31527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</a:rPr>
              <a:t>expr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expr + term 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{</a:t>
            </a: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print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(‘+’)}</a:t>
            </a:r>
            <a:endParaRPr lang="en-US" altLang="zh-CN" b="1" i="1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l" eaLnBrk="0" hangingPunct="0"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     </a:t>
            </a: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expr - term   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{</a:t>
            </a: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print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(‘-’)}</a:t>
            </a:r>
          </a:p>
          <a:p>
            <a:pPr algn="l" eaLnBrk="0" hangingPunct="0"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     </a:t>
            </a: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term</a:t>
            </a:r>
          </a:p>
          <a:p>
            <a:pPr algn="l" eaLnBrk="0" hangingPunct="0">
              <a:spcBef>
                <a:spcPct val="50000"/>
              </a:spcBef>
            </a:pP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term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0                  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{</a:t>
            </a: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print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(‘0’)}</a:t>
            </a:r>
          </a:p>
          <a:p>
            <a:pPr algn="l" eaLnBrk="0" hangingPunct="0">
              <a:spcBef>
                <a:spcPct val="50000"/>
              </a:spcBef>
            </a:pP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term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 1</a:t>
            </a: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              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{</a:t>
            </a: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print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(‘1’)}</a:t>
            </a:r>
          </a:p>
          <a:p>
            <a:pPr algn="l" eaLnBrk="0" hangingPunct="0">
              <a:spcBef>
                <a:spcPct val="50000"/>
              </a:spcBef>
            </a:pP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…</a:t>
            </a:r>
          </a:p>
          <a:p>
            <a:pPr algn="l" eaLnBrk="0" hangingPunct="0">
              <a:spcBef>
                <a:spcPct val="50000"/>
              </a:spcBef>
            </a:pP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term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 9</a:t>
            </a: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              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{</a:t>
            </a: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print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(‘9’)}</a:t>
            </a:r>
          </a:p>
        </p:txBody>
      </p:sp>
      <p:sp>
        <p:nvSpPr>
          <p:cNvPr id="410632" name="Rectangle 8"/>
          <p:cNvSpPr>
            <a:spLocks noChangeArrowheads="1"/>
          </p:cNvSpPr>
          <p:nvPr/>
        </p:nvSpPr>
        <p:spPr bwMode="auto">
          <a:xfrm>
            <a:off x="4953000" y="1752600"/>
            <a:ext cx="3810000" cy="3609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</a:rPr>
              <a:t>expr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term rest</a:t>
            </a:r>
            <a:endParaRPr lang="en-US" altLang="zh-CN" b="1" i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 eaLnBrk="0" hangingPunct="0">
              <a:spcBef>
                <a:spcPct val="50000"/>
              </a:spcBef>
            </a:pP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</a:rPr>
              <a:t>rest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+ term 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{</a:t>
            </a: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print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(‘+’)} </a:t>
            </a: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rest</a:t>
            </a:r>
          </a:p>
          <a:p>
            <a:pPr algn="l" eaLnBrk="0" hangingPunct="0"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     </a:t>
            </a: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- term 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{</a:t>
            </a: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print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(‘-’)} </a:t>
            </a: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rest</a:t>
            </a:r>
            <a:endParaRPr lang="en-US" altLang="zh-CN" b="1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l" eaLnBrk="0" hangingPunct="0"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     </a:t>
            </a: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</a:p>
          <a:p>
            <a:pPr algn="l" eaLnBrk="0" hangingPunct="0">
              <a:spcBef>
                <a:spcPct val="50000"/>
              </a:spcBef>
            </a:pP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term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0                  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{</a:t>
            </a: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print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(‘0’)}</a:t>
            </a:r>
          </a:p>
          <a:p>
            <a:pPr algn="l" eaLnBrk="0" hangingPunct="0">
              <a:spcBef>
                <a:spcPct val="50000"/>
              </a:spcBef>
            </a:pP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term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 1</a:t>
            </a: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              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{</a:t>
            </a: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print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(‘1’)}</a:t>
            </a:r>
          </a:p>
          <a:p>
            <a:pPr algn="l" eaLnBrk="0" hangingPunct="0">
              <a:spcBef>
                <a:spcPct val="50000"/>
              </a:spcBef>
            </a:pP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…</a:t>
            </a:r>
          </a:p>
          <a:p>
            <a:pPr algn="l" eaLnBrk="0" hangingPunct="0">
              <a:spcBef>
                <a:spcPct val="50000"/>
              </a:spcBef>
            </a:pP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term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 9</a:t>
            </a: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              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{</a:t>
            </a: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print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(‘9’)}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3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3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3DB83-A4D5-405B-A208-12C57740FA70}" type="slidenum">
              <a:rPr lang="zh-CN" altLang="en-US"/>
              <a:pPr/>
              <a:t>30</a:t>
            </a:fld>
            <a:endParaRPr lang="en-US" altLang="zh-CN"/>
          </a:p>
        </p:txBody>
      </p:sp>
      <p:sp>
        <p:nvSpPr>
          <p:cNvPr id="35840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8229600" cy="914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Comparing Grammars with Left Recursion</a:t>
            </a:r>
          </a:p>
        </p:txBody>
      </p:sp>
      <p:sp>
        <p:nvSpPr>
          <p:cNvPr id="358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143000"/>
            <a:ext cx="7696200" cy="13716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Notice Location of Semantic Actions in Tree</a:t>
            </a:r>
          </a:p>
          <a:p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What is Order of Processing?</a:t>
            </a:r>
          </a:p>
        </p:txBody>
      </p:sp>
      <p:grpSp>
        <p:nvGrpSpPr>
          <p:cNvPr id="358436" name="Group 36"/>
          <p:cNvGrpSpPr>
            <a:grpSpLocks/>
          </p:cNvGrpSpPr>
          <p:nvPr/>
        </p:nvGrpSpPr>
        <p:grpSpPr bwMode="auto">
          <a:xfrm>
            <a:off x="1143000" y="3200400"/>
            <a:ext cx="6934200" cy="2606675"/>
            <a:chOff x="1008" y="2016"/>
            <a:chExt cx="4368" cy="1642"/>
          </a:xfrm>
        </p:grpSpPr>
        <p:sp>
          <p:nvSpPr>
            <p:cNvPr id="358405" name="Text Box 5"/>
            <p:cNvSpPr txBox="1">
              <a:spLocks noChangeArrowheads="1"/>
            </p:cNvSpPr>
            <p:nvPr/>
          </p:nvSpPr>
          <p:spPr bwMode="auto">
            <a:xfrm>
              <a:off x="1229" y="2784"/>
              <a:ext cx="83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expr</a:t>
              </a:r>
            </a:p>
          </p:txBody>
        </p:sp>
        <p:sp>
          <p:nvSpPr>
            <p:cNvPr id="358406" name="Text Box 6"/>
            <p:cNvSpPr txBox="1">
              <a:spLocks noChangeArrowheads="1"/>
            </p:cNvSpPr>
            <p:nvPr/>
          </p:nvSpPr>
          <p:spPr bwMode="auto">
            <a:xfrm>
              <a:off x="1893" y="2400"/>
              <a:ext cx="82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expr</a:t>
              </a:r>
            </a:p>
          </p:txBody>
        </p:sp>
        <p:sp>
          <p:nvSpPr>
            <p:cNvPr id="358407" name="Text Box 7"/>
            <p:cNvSpPr txBox="1">
              <a:spLocks noChangeArrowheads="1"/>
            </p:cNvSpPr>
            <p:nvPr/>
          </p:nvSpPr>
          <p:spPr bwMode="auto">
            <a:xfrm>
              <a:off x="2777" y="2016"/>
              <a:ext cx="8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2400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expr</a:t>
              </a:r>
            </a:p>
          </p:txBody>
        </p:sp>
        <p:sp>
          <p:nvSpPr>
            <p:cNvPr id="358408" name="Text Box 8"/>
            <p:cNvSpPr txBox="1">
              <a:spLocks noChangeArrowheads="1"/>
            </p:cNvSpPr>
            <p:nvPr/>
          </p:nvSpPr>
          <p:spPr bwMode="auto">
            <a:xfrm>
              <a:off x="2335" y="2784"/>
              <a:ext cx="82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term</a:t>
              </a:r>
            </a:p>
          </p:txBody>
        </p:sp>
        <p:sp>
          <p:nvSpPr>
            <p:cNvPr id="358409" name="Text Box 9"/>
            <p:cNvSpPr txBox="1">
              <a:spLocks noChangeArrowheads="1"/>
            </p:cNvSpPr>
            <p:nvPr/>
          </p:nvSpPr>
          <p:spPr bwMode="auto">
            <a:xfrm>
              <a:off x="1229" y="3120"/>
              <a:ext cx="83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term</a:t>
              </a:r>
            </a:p>
          </p:txBody>
        </p:sp>
        <p:sp>
          <p:nvSpPr>
            <p:cNvPr id="358410" name="Text Box 10"/>
            <p:cNvSpPr txBox="1">
              <a:spLocks noChangeArrowheads="1"/>
            </p:cNvSpPr>
            <p:nvPr/>
          </p:nvSpPr>
          <p:spPr bwMode="auto">
            <a:xfrm>
              <a:off x="3386" y="2400"/>
              <a:ext cx="82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term</a:t>
              </a:r>
            </a:p>
          </p:txBody>
        </p:sp>
        <p:sp>
          <p:nvSpPr>
            <p:cNvPr id="358411" name="Text Box 11"/>
            <p:cNvSpPr txBox="1">
              <a:spLocks noChangeArrowheads="1"/>
            </p:cNvSpPr>
            <p:nvPr/>
          </p:nvSpPr>
          <p:spPr bwMode="auto">
            <a:xfrm>
              <a:off x="3773" y="2592"/>
              <a:ext cx="160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2400" b="1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{</a:t>
              </a:r>
              <a:r>
                <a:rPr lang="en-US" altLang="zh-CN" b="1" i="1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print</a:t>
              </a:r>
              <a:r>
                <a:rPr lang="en-US" altLang="zh-CN" sz="2400" b="1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(‘2’)}</a:t>
              </a:r>
              <a:endParaRPr lang="en-US" altLang="zh-CN" sz="2400" b="1" i="1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412" name="Text Box 12"/>
            <p:cNvSpPr txBox="1">
              <a:spLocks noChangeArrowheads="1"/>
            </p:cNvSpPr>
            <p:nvPr/>
          </p:nvSpPr>
          <p:spPr bwMode="auto">
            <a:xfrm>
              <a:off x="3648" y="2112"/>
              <a:ext cx="16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2400" b="1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{</a:t>
              </a:r>
              <a:r>
                <a:rPr lang="en-US" altLang="zh-CN" b="1" i="1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print</a:t>
              </a:r>
              <a:r>
                <a:rPr lang="en-US" altLang="zh-CN" sz="2400" b="1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(‘+’)}</a:t>
              </a:r>
              <a:endParaRPr lang="en-US" altLang="zh-CN" sz="2400" b="1" i="1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413" name="Text Box 13"/>
            <p:cNvSpPr txBox="1">
              <a:spLocks noChangeArrowheads="1"/>
            </p:cNvSpPr>
            <p:nvPr/>
          </p:nvSpPr>
          <p:spPr bwMode="auto">
            <a:xfrm>
              <a:off x="2667" y="3072"/>
              <a:ext cx="160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b="1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{</a:t>
              </a:r>
              <a:r>
                <a:rPr lang="en-US" altLang="zh-CN" b="1" i="1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print</a:t>
              </a:r>
              <a:r>
                <a:rPr lang="en-US" altLang="zh-CN" b="1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(‘5’)}</a:t>
              </a:r>
              <a:endParaRPr lang="en-US" altLang="zh-CN" b="1" i="1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414" name="Text Box 14"/>
            <p:cNvSpPr txBox="1">
              <a:spLocks noChangeArrowheads="1"/>
            </p:cNvSpPr>
            <p:nvPr/>
          </p:nvSpPr>
          <p:spPr bwMode="auto">
            <a:xfrm>
              <a:off x="2446" y="2544"/>
              <a:ext cx="105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b="1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{</a:t>
              </a:r>
              <a:r>
                <a:rPr lang="en-US" altLang="zh-CN" b="1" i="1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print</a:t>
              </a:r>
              <a:r>
                <a:rPr lang="en-US" altLang="zh-CN" b="1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(‘-’)}</a:t>
              </a:r>
              <a:endParaRPr lang="en-US" altLang="zh-CN" b="1" i="1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415" name="Text Box 15"/>
            <p:cNvSpPr txBox="1">
              <a:spLocks noChangeArrowheads="1"/>
            </p:cNvSpPr>
            <p:nvPr/>
          </p:nvSpPr>
          <p:spPr bwMode="auto">
            <a:xfrm>
              <a:off x="1450" y="3408"/>
              <a:ext cx="16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b="1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{</a:t>
              </a:r>
              <a:r>
                <a:rPr lang="en-US" altLang="zh-CN" b="1" i="1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print</a:t>
              </a:r>
              <a:r>
                <a:rPr lang="en-US" altLang="zh-CN" b="1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(‘9’)}</a:t>
              </a:r>
              <a:endParaRPr lang="en-US" altLang="zh-CN" b="1" i="1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416" name="Text Box 16"/>
            <p:cNvSpPr txBox="1">
              <a:spLocks noChangeArrowheads="1"/>
            </p:cNvSpPr>
            <p:nvPr/>
          </p:nvSpPr>
          <p:spPr bwMode="auto">
            <a:xfrm>
              <a:off x="2224" y="3120"/>
              <a:ext cx="3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358417" name="Text Box 17"/>
            <p:cNvSpPr txBox="1">
              <a:spLocks noChangeArrowheads="1"/>
            </p:cNvSpPr>
            <p:nvPr/>
          </p:nvSpPr>
          <p:spPr bwMode="auto">
            <a:xfrm>
              <a:off x="2777" y="2304"/>
              <a:ext cx="3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358418" name="Text Box 18"/>
            <p:cNvSpPr txBox="1">
              <a:spLocks noChangeArrowheads="1"/>
            </p:cNvSpPr>
            <p:nvPr/>
          </p:nvSpPr>
          <p:spPr bwMode="auto">
            <a:xfrm>
              <a:off x="3441" y="2640"/>
              <a:ext cx="3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358419" name="Text Box 19"/>
            <p:cNvSpPr txBox="1">
              <a:spLocks noChangeArrowheads="1"/>
            </p:cNvSpPr>
            <p:nvPr/>
          </p:nvSpPr>
          <p:spPr bwMode="auto">
            <a:xfrm>
              <a:off x="1893" y="2832"/>
              <a:ext cx="33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rPr>
                <a:t>-</a:t>
              </a:r>
            </a:p>
          </p:txBody>
        </p:sp>
        <p:sp>
          <p:nvSpPr>
            <p:cNvPr id="358420" name="Text Box 20"/>
            <p:cNvSpPr txBox="1">
              <a:spLocks noChangeArrowheads="1"/>
            </p:cNvSpPr>
            <p:nvPr/>
          </p:nvSpPr>
          <p:spPr bwMode="auto">
            <a:xfrm>
              <a:off x="1008" y="3408"/>
              <a:ext cx="3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rPr>
                <a:t>9</a:t>
              </a:r>
            </a:p>
          </p:txBody>
        </p:sp>
        <p:sp>
          <p:nvSpPr>
            <p:cNvPr id="358421" name="Line 21"/>
            <p:cNvSpPr>
              <a:spLocks noChangeShapeType="1"/>
            </p:cNvSpPr>
            <p:nvPr/>
          </p:nvSpPr>
          <p:spPr bwMode="auto">
            <a:xfrm flipH="1">
              <a:off x="2390" y="2976"/>
              <a:ext cx="5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422" name="Line 22"/>
            <p:cNvSpPr>
              <a:spLocks noChangeShapeType="1"/>
            </p:cNvSpPr>
            <p:nvPr/>
          </p:nvSpPr>
          <p:spPr bwMode="auto">
            <a:xfrm>
              <a:off x="2169" y="2640"/>
              <a:ext cx="277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423" name="Line 23"/>
            <p:cNvSpPr>
              <a:spLocks noChangeShapeType="1"/>
            </p:cNvSpPr>
            <p:nvPr/>
          </p:nvSpPr>
          <p:spPr bwMode="auto">
            <a:xfrm flipH="1">
              <a:off x="2003" y="2640"/>
              <a:ext cx="5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424" name="Line 24"/>
            <p:cNvSpPr>
              <a:spLocks noChangeShapeType="1"/>
            </p:cNvSpPr>
            <p:nvPr/>
          </p:nvSpPr>
          <p:spPr bwMode="auto">
            <a:xfrm flipH="1">
              <a:off x="1119" y="3312"/>
              <a:ext cx="221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425" name="Line 25"/>
            <p:cNvSpPr>
              <a:spLocks noChangeShapeType="1"/>
            </p:cNvSpPr>
            <p:nvPr/>
          </p:nvSpPr>
          <p:spPr bwMode="auto">
            <a:xfrm flipH="1">
              <a:off x="1450" y="2592"/>
              <a:ext cx="443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426" name="Line 26"/>
            <p:cNvSpPr>
              <a:spLocks noChangeShapeType="1"/>
            </p:cNvSpPr>
            <p:nvPr/>
          </p:nvSpPr>
          <p:spPr bwMode="auto">
            <a:xfrm>
              <a:off x="1395" y="302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427" name="Line 27"/>
            <p:cNvSpPr>
              <a:spLocks noChangeShapeType="1"/>
            </p:cNvSpPr>
            <p:nvPr/>
          </p:nvSpPr>
          <p:spPr bwMode="auto">
            <a:xfrm flipH="1">
              <a:off x="2169" y="2208"/>
              <a:ext cx="60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428" name="Line 28"/>
            <p:cNvSpPr>
              <a:spLocks noChangeShapeType="1"/>
            </p:cNvSpPr>
            <p:nvPr/>
          </p:nvSpPr>
          <p:spPr bwMode="auto">
            <a:xfrm>
              <a:off x="3054" y="2256"/>
              <a:ext cx="387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429" name="Line 29"/>
            <p:cNvSpPr>
              <a:spLocks noChangeShapeType="1"/>
            </p:cNvSpPr>
            <p:nvPr/>
          </p:nvSpPr>
          <p:spPr bwMode="auto">
            <a:xfrm>
              <a:off x="3551" y="259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430" name="Line 30"/>
            <p:cNvSpPr>
              <a:spLocks noChangeShapeType="1"/>
            </p:cNvSpPr>
            <p:nvPr/>
          </p:nvSpPr>
          <p:spPr bwMode="auto">
            <a:xfrm flipH="1">
              <a:off x="2888" y="2256"/>
              <a:ext cx="11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431" name="Line 31"/>
            <p:cNvSpPr>
              <a:spLocks noChangeShapeType="1"/>
            </p:cNvSpPr>
            <p:nvPr/>
          </p:nvSpPr>
          <p:spPr bwMode="auto">
            <a:xfrm>
              <a:off x="3773" y="2544"/>
              <a:ext cx="276" cy="96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432" name="Line 32"/>
            <p:cNvSpPr>
              <a:spLocks noChangeShapeType="1"/>
            </p:cNvSpPr>
            <p:nvPr/>
          </p:nvSpPr>
          <p:spPr bwMode="auto">
            <a:xfrm>
              <a:off x="3164" y="2160"/>
              <a:ext cx="553" cy="48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433" name="Line 33"/>
            <p:cNvSpPr>
              <a:spLocks noChangeShapeType="1"/>
            </p:cNvSpPr>
            <p:nvPr/>
          </p:nvSpPr>
          <p:spPr bwMode="auto">
            <a:xfrm>
              <a:off x="2667" y="2976"/>
              <a:ext cx="276" cy="144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434" name="Line 34"/>
            <p:cNvSpPr>
              <a:spLocks noChangeShapeType="1"/>
            </p:cNvSpPr>
            <p:nvPr/>
          </p:nvSpPr>
          <p:spPr bwMode="auto">
            <a:xfrm>
              <a:off x="2280" y="2544"/>
              <a:ext cx="387" cy="48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435" name="Line 35"/>
            <p:cNvSpPr>
              <a:spLocks noChangeShapeType="1"/>
            </p:cNvSpPr>
            <p:nvPr/>
          </p:nvSpPr>
          <p:spPr bwMode="auto">
            <a:xfrm>
              <a:off x="1506" y="3312"/>
              <a:ext cx="276" cy="144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39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40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45384-CEB3-43FD-8E96-70D4BF48A69E}" type="slidenum">
              <a:rPr lang="zh-CN" altLang="en-US"/>
              <a:pPr/>
              <a:t>31</a:t>
            </a:fld>
            <a:endParaRPr lang="en-US" altLang="zh-CN"/>
          </a:p>
        </p:txBody>
      </p:sp>
      <p:sp>
        <p:nvSpPr>
          <p:cNvPr id="36352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8229600" cy="914400"/>
          </a:xfrm>
        </p:spPr>
        <p:txBody>
          <a:bodyPr/>
          <a:lstStyle/>
          <a:p>
            <a:r>
              <a:rPr lang="en-US" altLang="zh-CN" sz="3200">
                <a:ea typeface="宋体" panose="02010600030101010101" pitchFamily="2" charset="-122"/>
              </a:rPr>
              <a:t>Comparing Grammars without Left Recursion</a:t>
            </a:r>
          </a:p>
        </p:txBody>
      </p:sp>
      <p:sp>
        <p:nvSpPr>
          <p:cNvPr id="363523" name="Rectangle 3"/>
          <p:cNvSpPr>
            <a:spLocks noChangeArrowheads="1"/>
          </p:cNvSpPr>
          <p:nvPr/>
        </p:nvSpPr>
        <p:spPr bwMode="auto">
          <a:xfrm>
            <a:off x="457200" y="1143000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523875" indent="-523875" algn="l">
              <a:lnSpc>
                <a:spcPct val="89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tabLst>
                <a:tab pos="1025525" algn="l"/>
              </a:tabLst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defRPr>
            </a:lvl1pPr>
            <a:lvl2pPr marL="1025525" indent="-387350" algn="l">
              <a:lnSpc>
                <a:spcPct val="80000"/>
              </a:lnSpc>
              <a:spcBef>
                <a:spcPct val="20000"/>
              </a:spcBef>
              <a:buSzPct val="69000"/>
              <a:buFont typeface="Wingdings" panose="05000000000000000000" pitchFamily="2" charset="2"/>
              <a:buChar char="q"/>
              <a:tabLst>
                <a:tab pos="1025525" algn="l"/>
              </a:tabLst>
              <a:defRPr sz="2800">
                <a:solidFill>
                  <a:schemeClr val="accent2"/>
                </a:solidFill>
                <a:latin typeface="Times New Roman" panose="02020603050405020304" pitchFamily="18" charset="0"/>
              </a:defRPr>
            </a:lvl2pPr>
            <a:lvl3pPr marL="1477963" indent="-338138" algn="l">
              <a:spcBef>
                <a:spcPct val="20000"/>
              </a:spcBef>
              <a:buFont typeface="Wingdings" panose="05000000000000000000" pitchFamily="2" charset="2"/>
              <a:buChar char="Ø"/>
              <a:tabLst>
                <a:tab pos="1025525" algn="l"/>
              </a:tabLst>
              <a:defRPr sz="2400">
                <a:solidFill>
                  <a:srgbClr val="FF3300"/>
                </a:solidFill>
                <a:latin typeface="Times New Roman" panose="02020603050405020304" pitchFamily="18" charset="0"/>
              </a:defRPr>
            </a:lvl3pPr>
            <a:lvl4pPr marL="1820863" indent="-228600" algn="l">
              <a:spcBef>
                <a:spcPct val="20000"/>
              </a:spcBef>
              <a:buChar char="–"/>
              <a:tabLst>
                <a:tab pos="102552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163763" indent="-228600" algn="l">
              <a:spcBef>
                <a:spcPct val="20000"/>
              </a:spcBef>
              <a:buChar char="»"/>
              <a:tabLst>
                <a:tab pos="102552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620963" indent="-228600" fontAlgn="base">
              <a:spcBef>
                <a:spcPct val="20000"/>
              </a:spcBef>
              <a:spcAft>
                <a:spcPct val="0"/>
              </a:spcAft>
              <a:buChar char="»"/>
              <a:tabLst>
                <a:tab pos="102552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78163" indent="-228600" fontAlgn="base">
              <a:spcBef>
                <a:spcPct val="20000"/>
              </a:spcBef>
              <a:spcAft>
                <a:spcPct val="0"/>
              </a:spcAft>
              <a:buChar char="»"/>
              <a:tabLst>
                <a:tab pos="102552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535363" indent="-228600" fontAlgn="base">
              <a:spcBef>
                <a:spcPct val="20000"/>
              </a:spcBef>
              <a:spcAft>
                <a:spcPct val="0"/>
              </a:spcAft>
              <a:buChar char="»"/>
              <a:tabLst>
                <a:tab pos="102552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92563" indent="-228600" fontAlgn="base">
              <a:spcBef>
                <a:spcPct val="20000"/>
              </a:spcBef>
              <a:spcAft>
                <a:spcPct val="0"/>
              </a:spcAft>
              <a:buChar char="»"/>
              <a:tabLst>
                <a:tab pos="102552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Now, Notice Location of Semantic Actions in Tree for Revised Grammar</a:t>
            </a:r>
          </a:p>
          <a:p>
            <a:r>
              <a:rPr lang="en-US" altLang="zh-CN">
                <a:ea typeface="宋体" panose="02010600030101010101" pitchFamily="2" charset="-122"/>
              </a:rPr>
              <a:t>What is Order of Processing in this Case?</a:t>
            </a:r>
          </a:p>
        </p:txBody>
      </p:sp>
      <p:grpSp>
        <p:nvGrpSpPr>
          <p:cNvPr id="363524" name="Group 4"/>
          <p:cNvGrpSpPr>
            <a:grpSpLocks/>
          </p:cNvGrpSpPr>
          <p:nvPr/>
        </p:nvGrpSpPr>
        <p:grpSpPr bwMode="auto">
          <a:xfrm>
            <a:off x="1219200" y="2971800"/>
            <a:ext cx="6629400" cy="2606675"/>
            <a:chOff x="144" y="3264"/>
            <a:chExt cx="3984" cy="1642"/>
          </a:xfrm>
        </p:grpSpPr>
        <p:sp>
          <p:nvSpPr>
            <p:cNvPr id="363525" name="Text Box 5"/>
            <p:cNvSpPr txBox="1">
              <a:spLocks noChangeArrowheads="1"/>
            </p:cNvSpPr>
            <p:nvPr/>
          </p:nvSpPr>
          <p:spPr bwMode="auto">
            <a:xfrm>
              <a:off x="2928" y="4656"/>
              <a:ext cx="11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{</a:t>
              </a:r>
              <a:r>
                <a:rPr lang="en-US" altLang="zh-CN" b="1" i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print</a:t>
              </a:r>
              <a:r>
                <a:rPr lang="en-US" altLang="zh-CN"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(‘2’)}</a:t>
              </a:r>
              <a:endParaRPr lang="en-US" altLang="zh-CN" b="1" i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3526" name="Text Box 6"/>
            <p:cNvSpPr txBox="1">
              <a:spLocks noChangeArrowheads="1"/>
            </p:cNvSpPr>
            <p:nvPr/>
          </p:nvSpPr>
          <p:spPr bwMode="auto">
            <a:xfrm>
              <a:off x="912" y="3264"/>
              <a:ext cx="72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expr</a:t>
              </a:r>
            </a:p>
          </p:txBody>
        </p:sp>
        <p:sp>
          <p:nvSpPr>
            <p:cNvPr id="363527" name="Text Box 7"/>
            <p:cNvSpPr txBox="1">
              <a:spLocks noChangeArrowheads="1"/>
            </p:cNvSpPr>
            <p:nvPr/>
          </p:nvSpPr>
          <p:spPr bwMode="auto">
            <a:xfrm>
              <a:off x="336" y="3600"/>
              <a:ext cx="72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term</a:t>
              </a:r>
            </a:p>
          </p:txBody>
        </p:sp>
        <p:sp>
          <p:nvSpPr>
            <p:cNvPr id="363528" name="Text Box 8"/>
            <p:cNvSpPr txBox="1">
              <a:spLocks noChangeArrowheads="1"/>
            </p:cNvSpPr>
            <p:nvPr/>
          </p:nvSpPr>
          <p:spPr bwMode="auto">
            <a:xfrm>
              <a:off x="1536" y="3936"/>
              <a:ext cx="13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term </a:t>
              </a:r>
              <a:r>
                <a:rPr lang="en-US" altLang="zh-CN"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{</a:t>
              </a:r>
              <a:r>
                <a:rPr lang="en-US" altLang="zh-CN" b="1" i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print</a:t>
              </a:r>
              <a:r>
                <a:rPr lang="en-US" altLang="zh-CN"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(‘-’)}</a:t>
              </a:r>
              <a:endParaRPr lang="en-US" altLang="zh-CN" b="1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3529" name="Text Box 9"/>
            <p:cNvSpPr txBox="1">
              <a:spLocks noChangeArrowheads="1"/>
            </p:cNvSpPr>
            <p:nvPr/>
          </p:nvSpPr>
          <p:spPr bwMode="auto">
            <a:xfrm>
              <a:off x="2688" y="4176"/>
              <a:ext cx="13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term  </a:t>
              </a:r>
              <a:r>
                <a:rPr lang="en-US" altLang="zh-CN"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{</a:t>
              </a:r>
              <a:r>
                <a:rPr lang="en-US" altLang="zh-CN" b="1" i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print</a:t>
              </a:r>
              <a:r>
                <a:rPr lang="en-US" altLang="zh-CN"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(‘+’)}</a:t>
              </a:r>
              <a:endParaRPr lang="en-US" altLang="zh-CN" b="1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3530" name="Text Box 10"/>
            <p:cNvSpPr txBox="1">
              <a:spLocks noChangeArrowheads="1"/>
            </p:cNvSpPr>
            <p:nvPr/>
          </p:nvSpPr>
          <p:spPr bwMode="auto">
            <a:xfrm>
              <a:off x="1728" y="4272"/>
              <a:ext cx="13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{</a:t>
              </a:r>
              <a:r>
                <a:rPr lang="en-US" altLang="zh-CN" b="1" i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print</a:t>
              </a:r>
              <a:r>
                <a:rPr lang="en-US" altLang="zh-CN"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(‘5’)}</a:t>
              </a:r>
              <a:endParaRPr lang="en-US" altLang="zh-CN" b="1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3531" name="Text Box 11"/>
            <p:cNvSpPr txBox="1">
              <a:spLocks noChangeArrowheads="1"/>
            </p:cNvSpPr>
            <p:nvPr/>
          </p:nvSpPr>
          <p:spPr bwMode="auto">
            <a:xfrm>
              <a:off x="480" y="3984"/>
              <a:ext cx="13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{</a:t>
              </a:r>
              <a:r>
                <a:rPr lang="en-US" altLang="zh-CN" b="1" i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print</a:t>
              </a:r>
              <a:r>
                <a:rPr lang="en-US" altLang="zh-CN"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(‘9’)}</a:t>
              </a:r>
              <a:endParaRPr lang="en-US" altLang="zh-CN" b="1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3532" name="Text Box 12"/>
            <p:cNvSpPr txBox="1">
              <a:spLocks noChangeArrowheads="1"/>
            </p:cNvSpPr>
            <p:nvPr/>
          </p:nvSpPr>
          <p:spPr bwMode="auto">
            <a:xfrm>
              <a:off x="2928" y="3936"/>
              <a:ext cx="72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rest</a:t>
              </a:r>
            </a:p>
          </p:txBody>
        </p:sp>
        <p:sp>
          <p:nvSpPr>
            <p:cNvPr id="363533" name="Text Box 13"/>
            <p:cNvSpPr txBox="1">
              <a:spLocks noChangeArrowheads="1"/>
            </p:cNvSpPr>
            <p:nvPr/>
          </p:nvSpPr>
          <p:spPr bwMode="auto">
            <a:xfrm>
              <a:off x="1824" y="3600"/>
              <a:ext cx="72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rest</a:t>
              </a:r>
            </a:p>
          </p:txBody>
        </p:sp>
        <p:sp>
          <p:nvSpPr>
            <p:cNvPr id="363534" name="Text Box 14"/>
            <p:cNvSpPr txBox="1">
              <a:spLocks noChangeArrowheads="1"/>
            </p:cNvSpPr>
            <p:nvPr/>
          </p:nvSpPr>
          <p:spPr bwMode="auto">
            <a:xfrm>
              <a:off x="2640" y="4656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363535" name="Text Box 15"/>
            <p:cNvSpPr txBox="1">
              <a:spLocks noChangeArrowheads="1"/>
            </p:cNvSpPr>
            <p:nvPr/>
          </p:nvSpPr>
          <p:spPr bwMode="auto">
            <a:xfrm>
              <a:off x="1440" y="4272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363536" name="Text Box 16"/>
            <p:cNvSpPr txBox="1">
              <a:spLocks noChangeArrowheads="1"/>
            </p:cNvSpPr>
            <p:nvPr/>
          </p:nvSpPr>
          <p:spPr bwMode="auto">
            <a:xfrm>
              <a:off x="1344" y="3936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rPr>
                <a:t>-</a:t>
              </a:r>
            </a:p>
          </p:txBody>
        </p:sp>
        <p:sp>
          <p:nvSpPr>
            <p:cNvPr id="363537" name="Text Box 17"/>
            <p:cNvSpPr txBox="1">
              <a:spLocks noChangeArrowheads="1"/>
            </p:cNvSpPr>
            <p:nvPr/>
          </p:nvSpPr>
          <p:spPr bwMode="auto">
            <a:xfrm>
              <a:off x="144" y="3984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rPr>
                <a:t>9</a:t>
              </a:r>
            </a:p>
          </p:txBody>
        </p:sp>
        <p:sp>
          <p:nvSpPr>
            <p:cNvPr id="363538" name="Text Box 18"/>
            <p:cNvSpPr txBox="1">
              <a:spLocks noChangeArrowheads="1"/>
            </p:cNvSpPr>
            <p:nvPr/>
          </p:nvSpPr>
          <p:spPr bwMode="auto">
            <a:xfrm>
              <a:off x="2448" y="4176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363539" name="Text Box 19"/>
            <p:cNvSpPr txBox="1">
              <a:spLocks noChangeArrowheads="1"/>
            </p:cNvSpPr>
            <p:nvPr/>
          </p:nvSpPr>
          <p:spPr bwMode="auto">
            <a:xfrm>
              <a:off x="3840" y="4656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zh-CN" altLang="en-US" b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</a:t>
              </a:r>
              <a:endParaRPr lang="zh-CN" altLang="en-US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3540" name="Line 20"/>
            <p:cNvSpPr>
              <a:spLocks noChangeShapeType="1"/>
            </p:cNvSpPr>
            <p:nvPr/>
          </p:nvSpPr>
          <p:spPr bwMode="auto">
            <a:xfrm>
              <a:off x="3936" y="441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3541" name="Line 21"/>
            <p:cNvSpPr>
              <a:spLocks noChangeShapeType="1"/>
            </p:cNvSpPr>
            <p:nvPr/>
          </p:nvSpPr>
          <p:spPr bwMode="auto">
            <a:xfrm>
              <a:off x="3216" y="4032"/>
              <a:ext cx="62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3542" name="Line 22"/>
            <p:cNvSpPr>
              <a:spLocks noChangeShapeType="1"/>
            </p:cNvSpPr>
            <p:nvPr/>
          </p:nvSpPr>
          <p:spPr bwMode="auto">
            <a:xfrm>
              <a:off x="3168" y="4128"/>
              <a:ext cx="48" cy="96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3543" name="Line 23"/>
            <p:cNvSpPr>
              <a:spLocks noChangeShapeType="1"/>
            </p:cNvSpPr>
            <p:nvPr/>
          </p:nvSpPr>
          <p:spPr bwMode="auto">
            <a:xfrm flipH="1">
              <a:off x="2736" y="4368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3544" name="Line 24"/>
            <p:cNvSpPr>
              <a:spLocks noChangeShapeType="1"/>
            </p:cNvSpPr>
            <p:nvPr/>
          </p:nvSpPr>
          <p:spPr bwMode="auto">
            <a:xfrm flipH="1">
              <a:off x="1440" y="3792"/>
              <a:ext cx="38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3545" name="Line 25"/>
            <p:cNvSpPr>
              <a:spLocks noChangeShapeType="1"/>
            </p:cNvSpPr>
            <p:nvPr/>
          </p:nvSpPr>
          <p:spPr bwMode="auto">
            <a:xfrm>
              <a:off x="2160" y="3744"/>
              <a:ext cx="91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3546" name="Line 26"/>
            <p:cNvSpPr>
              <a:spLocks noChangeShapeType="1"/>
            </p:cNvSpPr>
            <p:nvPr/>
          </p:nvSpPr>
          <p:spPr bwMode="auto">
            <a:xfrm>
              <a:off x="1248" y="3456"/>
              <a:ext cx="72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3547" name="Line 27"/>
            <p:cNvSpPr>
              <a:spLocks noChangeShapeType="1"/>
            </p:cNvSpPr>
            <p:nvPr/>
          </p:nvSpPr>
          <p:spPr bwMode="auto">
            <a:xfrm flipH="1">
              <a:off x="240" y="3840"/>
              <a:ext cx="19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3548" name="Line 28"/>
            <p:cNvSpPr>
              <a:spLocks noChangeShapeType="1"/>
            </p:cNvSpPr>
            <p:nvPr/>
          </p:nvSpPr>
          <p:spPr bwMode="auto">
            <a:xfrm flipH="1">
              <a:off x="528" y="3456"/>
              <a:ext cx="38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3549" name="Line 29"/>
            <p:cNvSpPr>
              <a:spLocks noChangeShapeType="1"/>
            </p:cNvSpPr>
            <p:nvPr/>
          </p:nvSpPr>
          <p:spPr bwMode="auto">
            <a:xfrm flipH="1">
              <a:off x="2880" y="4128"/>
              <a:ext cx="14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3550" name="Line 30"/>
            <p:cNvSpPr>
              <a:spLocks noChangeShapeType="1"/>
            </p:cNvSpPr>
            <p:nvPr/>
          </p:nvSpPr>
          <p:spPr bwMode="auto">
            <a:xfrm flipH="1">
              <a:off x="2544" y="4080"/>
              <a:ext cx="43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3551" name="Line 31"/>
            <p:cNvSpPr>
              <a:spLocks noChangeShapeType="1"/>
            </p:cNvSpPr>
            <p:nvPr/>
          </p:nvSpPr>
          <p:spPr bwMode="auto">
            <a:xfrm flipH="1">
              <a:off x="1536" y="4128"/>
              <a:ext cx="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3552" name="Line 32"/>
            <p:cNvSpPr>
              <a:spLocks noChangeShapeType="1"/>
            </p:cNvSpPr>
            <p:nvPr/>
          </p:nvSpPr>
          <p:spPr bwMode="auto">
            <a:xfrm flipH="1">
              <a:off x="1728" y="3840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3553" name="Line 33"/>
            <p:cNvSpPr>
              <a:spLocks noChangeShapeType="1"/>
            </p:cNvSpPr>
            <p:nvPr/>
          </p:nvSpPr>
          <p:spPr bwMode="auto">
            <a:xfrm>
              <a:off x="2928" y="4368"/>
              <a:ext cx="288" cy="288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3554" name="Line 34"/>
            <p:cNvSpPr>
              <a:spLocks noChangeShapeType="1"/>
            </p:cNvSpPr>
            <p:nvPr/>
          </p:nvSpPr>
          <p:spPr bwMode="auto">
            <a:xfrm>
              <a:off x="2016" y="3792"/>
              <a:ext cx="48" cy="192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3555" name="Line 35"/>
            <p:cNvSpPr>
              <a:spLocks noChangeShapeType="1"/>
            </p:cNvSpPr>
            <p:nvPr/>
          </p:nvSpPr>
          <p:spPr bwMode="auto">
            <a:xfrm>
              <a:off x="1776" y="4128"/>
              <a:ext cx="192" cy="192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3556" name="Line 36"/>
            <p:cNvSpPr>
              <a:spLocks noChangeShapeType="1"/>
            </p:cNvSpPr>
            <p:nvPr/>
          </p:nvSpPr>
          <p:spPr bwMode="auto">
            <a:xfrm>
              <a:off x="576" y="3792"/>
              <a:ext cx="192" cy="24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63557" name="Text Box 37"/>
          <p:cNvSpPr txBox="1">
            <a:spLocks noChangeArrowheads="1"/>
          </p:cNvSpPr>
          <p:nvPr/>
        </p:nvSpPr>
        <p:spPr bwMode="auto">
          <a:xfrm>
            <a:off x="7620000" y="4343400"/>
            <a:ext cx="914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</a:rPr>
              <a:t>rest</a:t>
            </a:r>
            <a:endParaRPr lang="en-US" altLang="zh-CN" sz="2400" b="1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1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1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A48B-EFB5-4807-9FCB-8C341FF2ACA4}" type="slidenum">
              <a:rPr lang="zh-CN" altLang="en-US"/>
              <a:pPr/>
              <a:t>32</a:t>
            </a:fld>
            <a:endParaRPr lang="en-US" altLang="zh-CN"/>
          </a:p>
        </p:txBody>
      </p:sp>
      <p:sp>
        <p:nvSpPr>
          <p:cNvPr id="36045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8229600" cy="914400"/>
          </a:xfrm>
        </p:spPr>
        <p:txBody>
          <a:bodyPr/>
          <a:lstStyle/>
          <a:p>
            <a:r>
              <a:rPr lang="en-US" altLang="zh-CN" sz="3200" b="1">
                <a:solidFill>
                  <a:srgbClr val="0066FF"/>
                </a:solidFill>
                <a:effectLst/>
                <a:ea typeface="宋体" panose="02010600030101010101" pitchFamily="2" charset="-122"/>
              </a:rPr>
              <a:t>The Lexical Analysis Process</a:t>
            </a:r>
            <a:r>
              <a:rPr lang="en-US" altLang="zh-CN" sz="3200" b="1">
                <a:effectLst/>
                <a:ea typeface="宋体" panose="02010600030101010101" pitchFamily="2" charset="-122"/>
              </a:rPr>
              <a:t/>
            </a:r>
            <a:br>
              <a:rPr lang="en-US" altLang="zh-CN" sz="3200" b="1">
                <a:effectLst/>
                <a:ea typeface="宋体" panose="02010600030101010101" pitchFamily="2" charset="-122"/>
              </a:rPr>
            </a:br>
            <a:r>
              <a:rPr lang="en-US" altLang="zh-CN" sz="3200" b="1">
                <a:effectLst/>
                <a:ea typeface="宋体" panose="02010600030101010101" pitchFamily="2" charset="-122"/>
              </a:rPr>
              <a:t>A Graphical Depiction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360451" name="Text Box 3"/>
          <p:cNvSpPr txBox="1">
            <a:spLocks noChangeArrowheads="1"/>
          </p:cNvSpPr>
          <p:nvPr/>
        </p:nvSpPr>
        <p:spPr bwMode="auto">
          <a:xfrm>
            <a:off x="914400" y="2514600"/>
            <a:ext cx="267493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uses   getchar ( ) to read character</a:t>
            </a:r>
          </a:p>
        </p:txBody>
      </p:sp>
      <p:sp>
        <p:nvSpPr>
          <p:cNvPr id="360452" name="Text Box 4"/>
          <p:cNvSpPr txBox="1">
            <a:spLocks noChangeArrowheads="1"/>
          </p:cNvSpPr>
          <p:nvPr/>
        </p:nvSpPr>
        <p:spPr bwMode="auto">
          <a:xfrm>
            <a:off x="762000" y="3581400"/>
            <a:ext cx="277336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pushes back c using ungetc (c , stdin)</a:t>
            </a:r>
          </a:p>
        </p:txBody>
      </p:sp>
      <p:sp>
        <p:nvSpPr>
          <p:cNvPr id="360453" name="Text Box 5"/>
          <p:cNvSpPr txBox="1">
            <a:spLocks noChangeArrowheads="1"/>
          </p:cNvSpPr>
          <p:nvPr/>
        </p:nvSpPr>
        <p:spPr bwMode="auto">
          <a:xfrm>
            <a:off x="5867400" y="2286000"/>
            <a:ext cx="19812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returns token to caller</a:t>
            </a:r>
          </a:p>
        </p:txBody>
      </p:sp>
      <p:sp>
        <p:nvSpPr>
          <p:cNvPr id="360455" name="Text Box 7"/>
          <p:cNvSpPr txBox="1">
            <a:spLocks noChangeArrowheads="1"/>
          </p:cNvSpPr>
          <p:nvPr/>
        </p:nvSpPr>
        <p:spPr bwMode="auto">
          <a:xfrm>
            <a:off x="5715000" y="4191000"/>
            <a:ext cx="1752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tokenval</a:t>
            </a:r>
            <a:endParaRPr lang="en-US" altLang="zh-CN" sz="1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0456" name="Rectangle 8"/>
          <p:cNvSpPr>
            <a:spLocks noChangeArrowheads="1"/>
          </p:cNvSpPr>
          <p:nvPr/>
        </p:nvSpPr>
        <p:spPr bwMode="auto">
          <a:xfrm>
            <a:off x="5715000" y="4191000"/>
            <a:ext cx="1219200" cy="6096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0457" name="Text Box 9"/>
          <p:cNvSpPr txBox="1">
            <a:spLocks noChangeArrowheads="1"/>
          </p:cNvSpPr>
          <p:nvPr/>
        </p:nvSpPr>
        <p:spPr bwMode="auto">
          <a:xfrm>
            <a:off x="5638800" y="4876800"/>
            <a:ext cx="277336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Sets global variable to attribute value</a:t>
            </a:r>
          </a:p>
        </p:txBody>
      </p:sp>
      <p:sp>
        <p:nvSpPr>
          <p:cNvPr id="360459" name="Text Box 11"/>
          <p:cNvSpPr txBox="1">
            <a:spLocks noChangeArrowheads="1"/>
          </p:cNvSpPr>
          <p:nvPr/>
        </p:nvSpPr>
        <p:spPr bwMode="auto">
          <a:xfrm>
            <a:off x="4038600" y="2667000"/>
            <a:ext cx="12954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lexan ( )</a:t>
            </a:r>
          </a:p>
          <a:p>
            <a:pPr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lexical </a:t>
            </a:r>
          </a:p>
          <a:p>
            <a:pPr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analyzer</a:t>
            </a:r>
          </a:p>
        </p:txBody>
      </p:sp>
      <p:sp>
        <p:nvSpPr>
          <p:cNvPr id="360460" name="Rectangle 12"/>
          <p:cNvSpPr>
            <a:spLocks noChangeArrowheads="1"/>
          </p:cNvSpPr>
          <p:nvPr/>
        </p:nvSpPr>
        <p:spPr bwMode="auto">
          <a:xfrm>
            <a:off x="4038600" y="2590800"/>
            <a:ext cx="1295400" cy="12192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0461" name="Line 13"/>
          <p:cNvSpPr>
            <a:spLocks noChangeShapeType="1"/>
          </p:cNvSpPr>
          <p:nvPr/>
        </p:nvSpPr>
        <p:spPr bwMode="auto">
          <a:xfrm>
            <a:off x="3581400" y="2895600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0462" name="Line 14"/>
          <p:cNvSpPr>
            <a:spLocks noChangeShapeType="1"/>
          </p:cNvSpPr>
          <p:nvPr/>
        </p:nvSpPr>
        <p:spPr bwMode="auto">
          <a:xfrm flipH="1">
            <a:off x="3581400" y="3657600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0463" name="Line 15"/>
          <p:cNvSpPr>
            <a:spLocks noChangeShapeType="1"/>
          </p:cNvSpPr>
          <p:nvPr/>
        </p:nvSpPr>
        <p:spPr bwMode="auto">
          <a:xfrm>
            <a:off x="5334000" y="2819400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360464" name="AutoShape 16"/>
          <p:cNvCxnSpPr>
            <a:cxnSpLocks noChangeShapeType="1"/>
            <a:stCxn id="360460" idx="3"/>
            <a:endCxn id="360456" idx="1"/>
          </p:cNvCxnSpPr>
          <p:nvPr/>
        </p:nvCxnSpPr>
        <p:spPr bwMode="auto">
          <a:xfrm>
            <a:off x="5353050" y="3200400"/>
            <a:ext cx="342900" cy="1295400"/>
          </a:xfrm>
          <a:prstGeom prst="bentConnector3">
            <a:avLst>
              <a:gd name="adj1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DE5B4-2302-4B67-9763-47F6F679E17D}" type="slidenum">
              <a:rPr lang="zh-CN" altLang="en-US"/>
              <a:pPr/>
              <a:t>33</a:t>
            </a:fld>
            <a:endParaRPr lang="en-US" altLang="zh-CN"/>
          </a:p>
        </p:txBody>
      </p:sp>
      <p:sp>
        <p:nvSpPr>
          <p:cNvPr id="36659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8229600" cy="914400"/>
          </a:xfrm>
        </p:spPr>
        <p:txBody>
          <a:bodyPr/>
          <a:lstStyle/>
          <a:p>
            <a:r>
              <a:rPr lang="en-US" altLang="zh-CN" sz="3200" b="1">
                <a:solidFill>
                  <a:srgbClr val="0066FF"/>
                </a:solidFill>
                <a:effectLst/>
                <a:ea typeface="宋体" panose="02010600030101010101" pitchFamily="2" charset="-122"/>
              </a:rPr>
              <a:t>The Lexical Analysis Process</a:t>
            </a:r>
            <a:r>
              <a:rPr lang="en-US" altLang="zh-CN" sz="3200" b="1">
                <a:effectLst/>
                <a:ea typeface="宋体" panose="02010600030101010101" pitchFamily="2" charset="-122"/>
              </a:rPr>
              <a:t/>
            </a:r>
            <a:br>
              <a:rPr lang="en-US" altLang="zh-CN" sz="3200" b="1">
                <a:effectLst/>
                <a:ea typeface="宋体" panose="02010600030101010101" pitchFamily="2" charset="-122"/>
              </a:rPr>
            </a:br>
            <a:r>
              <a:rPr lang="en-US" altLang="zh-CN" sz="3200" b="1">
                <a:effectLst/>
                <a:ea typeface="宋体" panose="02010600030101010101" pitchFamily="2" charset="-122"/>
              </a:rPr>
              <a:t>Functional Responsibilities</a:t>
            </a:r>
          </a:p>
        </p:txBody>
      </p:sp>
      <p:sp>
        <p:nvSpPr>
          <p:cNvPr id="366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295400"/>
            <a:ext cx="8305800" cy="4572000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>
                <a:effectLst/>
                <a:ea typeface="宋体" panose="02010600030101010101" pitchFamily="2" charset="-122"/>
              </a:rPr>
              <a:t> </a:t>
            </a:r>
            <a:r>
              <a:rPr lang="en-US" altLang="zh-CN">
                <a:effectLst/>
                <a:ea typeface="宋体" panose="02010600030101010101" pitchFamily="2" charset="-122"/>
              </a:rPr>
              <a:t>Input Token String Is Broken Down</a:t>
            </a:r>
          </a:p>
          <a:p>
            <a:pPr>
              <a:spcBef>
                <a:spcPct val="50000"/>
              </a:spcBef>
            </a:pPr>
            <a:r>
              <a:rPr lang="en-US" altLang="zh-CN">
                <a:effectLst/>
                <a:ea typeface="宋体" panose="02010600030101010101" pitchFamily="2" charset="-122"/>
              </a:rPr>
              <a:t> White Space and Comments Are Filtered Out</a:t>
            </a:r>
          </a:p>
          <a:p>
            <a:pPr>
              <a:spcBef>
                <a:spcPct val="50000"/>
              </a:spcBef>
            </a:pPr>
            <a:r>
              <a:rPr lang="en-US" altLang="zh-CN">
                <a:effectLst/>
                <a:ea typeface="宋体" panose="02010600030101010101" pitchFamily="2" charset="-122"/>
              </a:rPr>
              <a:t> Individual Tokens With Associated Values Are Identified</a:t>
            </a:r>
          </a:p>
          <a:p>
            <a:pPr>
              <a:spcBef>
                <a:spcPct val="50000"/>
              </a:spcBef>
            </a:pPr>
            <a:r>
              <a:rPr lang="en-US" altLang="zh-CN">
                <a:effectLst/>
                <a:ea typeface="宋体" panose="02010600030101010101" pitchFamily="2" charset="-122"/>
              </a:rPr>
              <a:t> Symbol Table Is Initialized and Entries Are Constructed for Each “Appropriate” Token</a:t>
            </a:r>
          </a:p>
          <a:p>
            <a:pPr>
              <a:spcBef>
                <a:spcPct val="50000"/>
              </a:spcBef>
            </a:pPr>
            <a:r>
              <a:rPr lang="en-US" altLang="zh-CN">
                <a:effectLst/>
                <a:ea typeface="宋体" panose="02010600030101010101" pitchFamily="2" charset="-122"/>
              </a:rPr>
              <a:t>Under What Conditions will a Character be Pushed Back?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20F9C-700B-489D-9460-92729C3A813F}" type="slidenum">
              <a:rPr lang="zh-CN" altLang="en-US"/>
              <a:pPr/>
              <a:t>34</a:t>
            </a:fld>
            <a:endParaRPr lang="en-US" altLang="zh-CN"/>
          </a:p>
        </p:txBody>
      </p:sp>
      <p:sp>
        <p:nvSpPr>
          <p:cNvPr id="36761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8229600" cy="914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Example of a Lexical Analyzer</a:t>
            </a:r>
          </a:p>
        </p:txBody>
      </p:sp>
      <p:sp>
        <p:nvSpPr>
          <p:cNvPr id="367619" name="Rectangle 3"/>
          <p:cNvSpPr>
            <a:spLocks noChangeArrowheads="1"/>
          </p:cNvSpPr>
          <p:nvPr/>
        </p:nvSpPr>
        <p:spPr bwMode="auto">
          <a:xfrm>
            <a:off x="1143000" y="1295400"/>
            <a:ext cx="7416800" cy="4751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function 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lexan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 integer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en-US" altLang="zh-CN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var   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lexbuf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:  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array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[ 0 .. 100 ]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of  char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</a:p>
          <a:p>
            <a:pPr algn="l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       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:           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char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</a:p>
          <a:p>
            <a:pPr algn="l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begin</a:t>
            </a:r>
          </a:p>
          <a:p>
            <a:pPr algn="l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           loop begin</a:t>
            </a:r>
          </a:p>
          <a:p>
            <a:pPr algn="l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read a character into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;</a:t>
            </a:r>
          </a:p>
          <a:p>
            <a:pPr algn="l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if  </a:t>
            </a: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</a:rPr>
              <a:t>c 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is a blank or a tab 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then</a:t>
            </a:r>
          </a:p>
          <a:p>
            <a:pPr algn="l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do nothing</a:t>
            </a:r>
          </a:p>
          <a:p>
            <a:pPr algn="l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else if 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c 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is a newline 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then</a:t>
            </a:r>
          </a:p>
          <a:p>
            <a:pPr algn="l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lineno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: =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lineno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+ 1</a:t>
            </a:r>
          </a:p>
          <a:p>
            <a:pPr algn="l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else if 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 is a digit 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then  begin</a:t>
            </a:r>
          </a:p>
          <a:p>
            <a:pPr algn="l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set 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tokenval 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to the value of this and following digits ;</a:t>
            </a:r>
          </a:p>
          <a:p>
            <a:pPr algn="l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return 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NUM</a:t>
            </a:r>
          </a:p>
          <a:p>
            <a:pPr algn="l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end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8EE75-7BCC-4A52-A31F-ED7047CCECFF}" type="slidenum">
              <a:rPr lang="zh-CN" altLang="en-US"/>
              <a:pPr/>
              <a:t>35</a:t>
            </a:fld>
            <a:endParaRPr lang="en-US" altLang="zh-CN"/>
          </a:p>
        </p:txBody>
      </p:sp>
      <p:sp>
        <p:nvSpPr>
          <p:cNvPr id="36864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229600" cy="8382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Algorithm for Lexical Analyzer</a:t>
            </a:r>
          </a:p>
        </p:txBody>
      </p:sp>
      <p:sp>
        <p:nvSpPr>
          <p:cNvPr id="368644" name="Rectangle 4"/>
          <p:cNvSpPr>
            <a:spLocks noChangeArrowheads="1"/>
          </p:cNvSpPr>
          <p:nvPr/>
        </p:nvSpPr>
        <p:spPr bwMode="auto">
          <a:xfrm>
            <a:off x="990600" y="1371600"/>
            <a:ext cx="7310438" cy="4294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>
              <a:lnSpc>
                <a:spcPct val="60000"/>
              </a:lnSpc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18" charset="0"/>
                <a:ea typeface="宋体" panose="02010600030101010101" pitchFamily="2" charset="-122"/>
              </a:rPr>
              <a:t>                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else if 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c 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is a letter 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then  begin</a:t>
            </a:r>
          </a:p>
          <a:p>
            <a:pPr algn="l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place 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 and successive letters and digits into 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lexbuf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</a:p>
          <a:p>
            <a:pPr algn="l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 : = </a:t>
            </a:r>
            <a:r>
              <a:rPr lang="en-US" altLang="zh-CN" b="1" i="1" u="sng">
                <a:latin typeface="Times New Roman" panose="02020603050405020304" pitchFamily="18" charset="0"/>
                <a:ea typeface="宋体" panose="02010600030101010101" pitchFamily="2" charset="-122"/>
              </a:rPr>
              <a:t>lookup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 ( lexbuf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) ;</a:t>
            </a:r>
          </a:p>
          <a:p>
            <a:pPr algn="l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if 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p 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= 0 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then</a:t>
            </a:r>
          </a:p>
          <a:p>
            <a:pPr algn="l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    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p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: = </a:t>
            </a:r>
            <a:r>
              <a:rPr lang="en-US" altLang="zh-CN" b="1" i="1" u="sng">
                <a:latin typeface="Times New Roman" panose="02020603050405020304" pitchFamily="18" charset="0"/>
                <a:ea typeface="宋体" panose="02010600030101010101" pitchFamily="2" charset="-122"/>
              </a:rPr>
              <a:t>insert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( lexbf,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ID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</a:p>
          <a:p>
            <a:pPr algn="l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tokenval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: =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</a:p>
          <a:p>
            <a:pPr algn="l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return 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the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token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field of table entry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</a:p>
          <a:p>
            <a:pPr algn="l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                  end</a:t>
            </a:r>
          </a:p>
          <a:p>
            <a:pPr algn="l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                  else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set 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tokenval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to NONE ;  / * there is no attribute * /</a:t>
            </a:r>
          </a:p>
          <a:p>
            <a:pPr algn="l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return 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integer encoding of character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</a:p>
          <a:p>
            <a:pPr algn="l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                 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end</a:t>
            </a:r>
          </a:p>
          <a:p>
            <a:pPr algn="l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end</a:t>
            </a:r>
          </a:p>
        </p:txBody>
      </p:sp>
      <p:sp>
        <p:nvSpPr>
          <p:cNvPr id="368645" name="Rectangle 5"/>
          <p:cNvSpPr>
            <a:spLocks noChangeArrowheads="1"/>
          </p:cNvSpPr>
          <p:nvPr/>
        </p:nvSpPr>
        <p:spPr bwMode="auto">
          <a:xfrm>
            <a:off x="990600" y="5791200"/>
            <a:ext cx="73596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Note: Insert / Lookup operations occur against the </a:t>
            </a:r>
            <a:r>
              <a:rPr lang="en-US" altLang="zh-CN" b="1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Symbol Table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81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82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3D102-112C-4A3C-916C-481F3AFF994F}" type="slidenum">
              <a:rPr lang="zh-CN" altLang="en-US"/>
              <a:pPr/>
              <a:t>36</a:t>
            </a:fld>
            <a:endParaRPr lang="en-US" altLang="zh-CN"/>
          </a:p>
        </p:txBody>
      </p:sp>
      <p:sp>
        <p:nvSpPr>
          <p:cNvPr id="36966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8229600" cy="7620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Symbol Table Considerations</a:t>
            </a:r>
          </a:p>
        </p:txBody>
      </p:sp>
      <p:sp>
        <p:nvSpPr>
          <p:cNvPr id="369667" name="Text Box 3"/>
          <p:cNvSpPr txBox="1">
            <a:spLocks noChangeArrowheads="1"/>
          </p:cNvSpPr>
          <p:nvPr/>
        </p:nvSpPr>
        <p:spPr bwMode="auto">
          <a:xfrm>
            <a:off x="5334000" y="2971800"/>
            <a:ext cx="3124200" cy="1876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zh-CN" altLang="en-US" sz="1600" b="1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</a:t>
            </a:r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</a:rPr>
              <a:t>ARRAY  symtable</a:t>
            </a:r>
          </a:p>
          <a:p>
            <a:pPr algn="l" eaLnBrk="0" hangingPunct="0">
              <a:lnSpc>
                <a:spcPct val="70000"/>
              </a:lnSpc>
              <a:spcBef>
                <a:spcPct val="50000"/>
              </a:spcBef>
            </a:pPr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</a:rPr>
              <a:t>   lexptr        token      attributes</a:t>
            </a:r>
            <a:endParaRPr lang="en-US" altLang="zh-CN" sz="16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 eaLnBrk="0" hangingPunct="0">
              <a:lnSpc>
                <a:spcPct val="60000"/>
              </a:lnSpc>
              <a:spcBef>
                <a:spcPct val="50000"/>
              </a:spcBef>
            </a:pPr>
            <a:endParaRPr lang="en-US" altLang="zh-CN" sz="16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 eaLnBrk="0" hangingPunct="0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</a:t>
            </a:r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</a:rPr>
              <a:t>div</a:t>
            </a:r>
          </a:p>
          <a:p>
            <a:pPr algn="l" eaLnBrk="0" hangingPunct="0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mod</a:t>
            </a:r>
          </a:p>
          <a:p>
            <a:pPr algn="l" eaLnBrk="0" hangingPunct="0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id</a:t>
            </a:r>
          </a:p>
          <a:p>
            <a:pPr algn="l" eaLnBrk="0" hangingPunct="0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id</a:t>
            </a:r>
            <a:endParaRPr lang="en-US" altLang="zh-CN" sz="16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9668" name="Rectangle 4"/>
          <p:cNvSpPr>
            <a:spLocks noChangeArrowheads="1"/>
          </p:cNvSpPr>
          <p:nvPr/>
        </p:nvSpPr>
        <p:spPr bwMode="auto">
          <a:xfrm>
            <a:off x="5410200" y="3581400"/>
            <a:ext cx="1676400" cy="1219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669" name="Line 5"/>
          <p:cNvSpPr>
            <a:spLocks noChangeShapeType="1"/>
          </p:cNvSpPr>
          <p:nvPr/>
        </p:nvSpPr>
        <p:spPr bwMode="auto">
          <a:xfrm>
            <a:off x="5410200" y="4572000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670" name="Line 6"/>
          <p:cNvSpPr>
            <a:spLocks noChangeShapeType="1"/>
          </p:cNvSpPr>
          <p:nvPr/>
        </p:nvSpPr>
        <p:spPr bwMode="auto">
          <a:xfrm>
            <a:off x="5410200" y="4343400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671" name="Line 7"/>
          <p:cNvSpPr>
            <a:spLocks noChangeShapeType="1"/>
          </p:cNvSpPr>
          <p:nvPr/>
        </p:nvSpPr>
        <p:spPr bwMode="auto">
          <a:xfrm>
            <a:off x="5410200" y="4114800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672" name="Line 8"/>
          <p:cNvSpPr>
            <a:spLocks noChangeShapeType="1"/>
          </p:cNvSpPr>
          <p:nvPr/>
        </p:nvSpPr>
        <p:spPr bwMode="auto">
          <a:xfrm flipV="1">
            <a:off x="6248400" y="3581400"/>
            <a:ext cx="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673" name="Line 9"/>
          <p:cNvSpPr>
            <a:spLocks noChangeShapeType="1"/>
          </p:cNvSpPr>
          <p:nvPr/>
        </p:nvSpPr>
        <p:spPr bwMode="auto">
          <a:xfrm>
            <a:off x="5410200" y="3810000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674" name="Line 10"/>
          <p:cNvSpPr>
            <a:spLocks noChangeShapeType="1"/>
          </p:cNvSpPr>
          <p:nvPr/>
        </p:nvSpPr>
        <p:spPr bwMode="auto">
          <a:xfrm>
            <a:off x="5410200" y="48006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675" name="Line 11"/>
          <p:cNvSpPr>
            <a:spLocks noChangeShapeType="1"/>
          </p:cNvSpPr>
          <p:nvPr/>
        </p:nvSpPr>
        <p:spPr bwMode="auto">
          <a:xfrm>
            <a:off x="7086600" y="48006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676" name="Line 12"/>
          <p:cNvSpPr>
            <a:spLocks noChangeShapeType="1"/>
          </p:cNvSpPr>
          <p:nvPr/>
        </p:nvSpPr>
        <p:spPr bwMode="auto">
          <a:xfrm>
            <a:off x="7086600" y="3581400"/>
            <a:ext cx="9906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677" name="Line 13"/>
          <p:cNvSpPr>
            <a:spLocks noChangeShapeType="1"/>
          </p:cNvSpPr>
          <p:nvPr/>
        </p:nvSpPr>
        <p:spPr bwMode="auto">
          <a:xfrm>
            <a:off x="7086600" y="3810000"/>
            <a:ext cx="9906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678" name="Line 14"/>
          <p:cNvSpPr>
            <a:spLocks noChangeShapeType="1"/>
          </p:cNvSpPr>
          <p:nvPr/>
        </p:nvSpPr>
        <p:spPr bwMode="auto">
          <a:xfrm>
            <a:off x="7086600" y="4114800"/>
            <a:ext cx="9906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679" name="Line 15"/>
          <p:cNvSpPr>
            <a:spLocks noChangeShapeType="1"/>
          </p:cNvSpPr>
          <p:nvPr/>
        </p:nvSpPr>
        <p:spPr bwMode="auto">
          <a:xfrm>
            <a:off x="7086600" y="4572000"/>
            <a:ext cx="9906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680" name="Line 16"/>
          <p:cNvSpPr>
            <a:spLocks noChangeShapeType="1"/>
          </p:cNvSpPr>
          <p:nvPr/>
        </p:nvSpPr>
        <p:spPr bwMode="auto">
          <a:xfrm>
            <a:off x="7086600" y="4800600"/>
            <a:ext cx="9906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681" name="Line 17"/>
          <p:cNvSpPr>
            <a:spLocks noChangeShapeType="1"/>
          </p:cNvSpPr>
          <p:nvPr/>
        </p:nvSpPr>
        <p:spPr bwMode="auto">
          <a:xfrm>
            <a:off x="8077200" y="3581400"/>
            <a:ext cx="0" cy="15240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682" name="Line 18"/>
          <p:cNvSpPr>
            <a:spLocks noChangeShapeType="1"/>
          </p:cNvSpPr>
          <p:nvPr/>
        </p:nvSpPr>
        <p:spPr bwMode="auto">
          <a:xfrm>
            <a:off x="7086600" y="4343400"/>
            <a:ext cx="9906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683" name="Text Box 19"/>
          <p:cNvSpPr txBox="1">
            <a:spLocks noChangeArrowheads="1"/>
          </p:cNvSpPr>
          <p:nvPr/>
        </p:nvSpPr>
        <p:spPr bwMode="auto">
          <a:xfrm>
            <a:off x="8229600" y="3581400"/>
            <a:ext cx="304800" cy="128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pPr algn="l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pPr algn="l" eaLnBrk="0" hangingPunct="0">
              <a:lnSpc>
                <a:spcPct val="70000"/>
              </a:lnSpc>
              <a:spcBef>
                <a:spcPct val="50000"/>
              </a:spcBef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  <a:p>
            <a:pPr algn="l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  <a:p>
            <a:pPr algn="l" eaLnBrk="0" hangingPunct="0">
              <a:lnSpc>
                <a:spcPct val="70000"/>
              </a:lnSpc>
              <a:spcBef>
                <a:spcPct val="50000"/>
              </a:spcBef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369684" name="Text Box 20"/>
          <p:cNvSpPr txBox="1">
            <a:spLocks noChangeArrowheads="1"/>
          </p:cNvSpPr>
          <p:nvPr/>
        </p:nvSpPr>
        <p:spPr bwMode="auto">
          <a:xfrm>
            <a:off x="5715000" y="4038600"/>
            <a:ext cx="228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369685" name="Text Box 21"/>
          <p:cNvSpPr txBox="1">
            <a:spLocks noChangeArrowheads="1"/>
          </p:cNvSpPr>
          <p:nvPr/>
        </p:nvSpPr>
        <p:spPr bwMode="auto">
          <a:xfrm>
            <a:off x="5715000" y="4495800"/>
            <a:ext cx="228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369686" name="Text Box 22"/>
          <p:cNvSpPr txBox="1">
            <a:spLocks noChangeArrowheads="1"/>
          </p:cNvSpPr>
          <p:nvPr/>
        </p:nvSpPr>
        <p:spPr bwMode="auto">
          <a:xfrm>
            <a:off x="5699125" y="4267200"/>
            <a:ext cx="184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369687" name="Text Box 23"/>
          <p:cNvSpPr txBox="1">
            <a:spLocks noChangeArrowheads="1"/>
          </p:cNvSpPr>
          <p:nvPr/>
        </p:nvSpPr>
        <p:spPr bwMode="auto">
          <a:xfrm>
            <a:off x="5715000" y="3810000"/>
            <a:ext cx="228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grpSp>
        <p:nvGrpSpPr>
          <p:cNvPr id="369688" name="Group 24"/>
          <p:cNvGrpSpPr>
            <a:grpSpLocks/>
          </p:cNvGrpSpPr>
          <p:nvPr/>
        </p:nvGrpSpPr>
        <p:grpSpPr bwMode="auto">
          <a:xfrm>
            <a:off x="7924800" y="5715000"/>
            <a:ext cx="609600" cy="304800"/>
            <a:chOff x="912" y="3600"/>
            <a:chExt cx="384" cy="192"/>
          </a:xfrm>
        </p:grpSpPr>
        <p:sp>
          <p:nvSpPr>
            <p:cNvPr id="369689" name="Text Box 25"/>
            <p:cNvSpPr txBox="1">
              <a:spLocks noChangeArrowheads="1"/>
            </p:cNvSpPr>
            <p:nvPr/>
          </p:nvSpPr>
          <p:spPr bwMode="auto">
            <a:xfrm>
              <a:off x="912" y="3600"/>
              <a:ext cx="38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400" b="1">
                  <a:latin typeface="Times New Roman" panose="02020603050405020304" pitchFamily="18" charset="0"/>
                  <a:ea typeface="宋体" panose="02010600030101010101" pitchFamily="2" charset="-122"/>
                </a:rPr>
                <a:t>EOS</a:t>
              </a:r>
            </a:p>
          </p:txBody>
        </p:sp>
        <p:sp>
          <p:nvSpPr>
            <p:cNvPr id="369690" name="Rectangle 26"/>
            <p:cNvSpPr>
              <a:spLocks noChangeArrowheads="1"/>
            </p:cNvSpPr>
            <p:nvPr/>
          </p:nvSpPr>
          <p:spPr bwMode="auto">
            <a:xfrm>
              <a:off x="960" y="3600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69691" name="Group 27"/>
          <p:cNvGrpSpPr>
            <a:grpSpLocks/>
          </p:cNvGrpSpPr>
          <p:nvPr/>
        </p:nvGrpSpPr>
        <p:grpSpPr bwMode="auto">
          <a:xfrm>
            <a:off x="7543800" y="5715000"/>
            <a:ext cx="609600" cy="304800"/>
            <a:chOff x="912" y="3600"/>
            <a:chExt cx="384" cy="192"/>
          </a:xfrm>
        </p:grpSpPr>
        <p:sp>
          <p:nvSpPr>
            <p:cNvPr id="369692" name="Text Box 28"/>
            <p:cNvSpPr txBox="1">
              <a:spLocks noChangeArrowheads="1"/>
            </p:cNvSpPr>
            <p:nvPr/>
          </p:nvSpPr>
          <p:spPr bwMode="auto">
            <a:xfrm>
              <a:off x="912" y="3600"/>
              <a:ext cx="38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400" b="1"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</a:p>
          </p:txBody>
        </p:sp>
        <p:sp>
          <p:nvSpPr>
            <p:cNvPr id="369693" name="Rectangle 29"/>
            <p:cNvSpPr>
              <a:spLocks noChangeArrowheads="1"/>
            </p:cNvSpPr>
            <p:nvPr/>
          </p:nvSpPr>
          <p:spPr bwMode="auto">
            <a:xfrm>
              <a:off x="960" y="3600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69694" name="Group 30"/>
          <p:cNvGrpSpPr>
            <a:grpSpLocks/>
          </p:cNvGrpSpPr>
          <p:nvPr/>
        </p:nvGrpSpPr>
        <p:grpSpPr bwMode="auto">
          <a:xfrm>
            <a:off x="7162800" y="5715000"/>
            <a:ext cx="609600" cy="304800"/>
            <a:chOff x="912" y="3600"/>
            <a:chExt cx="384" cy="192"/>
          </a:xfrm>
        </p:grpSpPr>
        <p:sp>
          <p:nvSpPr>
            <p:cNvPr id="369695" name="Text Box 31"/>
            <p:cNvSpPr txBox="1">
              <a:spLocks noChangeArrowheads="1"/>
            </p:cNvSpPr>
            <p:nvPr/>
          </p:nvSpPr>
          <p:spPr bwMode="auto">
            <a:xfrm>
              <a:off x="912" y="3600"/>
              <a:ext cx="38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400" b="1">
                  <a:latin typeface="Times New Roman" panose="02020603050405020304" pitchFamily="18" charset="0"/>
                  <a:ea typeface="宋体" panose="02010600030101010101" pitchFamily="2" charset="-122"/>
                </a:rPr>
                <a:t>EOS</a:t>
              </a:r>
            </a:p>
          </p:txBody>
        </p:sp>
        <p:sp>
          <p:nvSpPr>
            <p:cNvPr id="369696" name="Rectangle 32"/>
            <p:cNvSpPr>
              <a:spLocks noChangeArrowheads="1"/>
            </p:cNvSpPr>
            <p:nvPr/>
          </p:nvSpPr>
          <p:spPr bwMode="auto">
            <a:xfrm>
              <a:off x="960" y="3600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69697" name="Group 33"/>
          <p:cNvGrpSpPr>
            <a:grpSpLocks/>
          </p:cNvGrpSpPr>
          <p:nvPr/>
        </p:nvGrpSpPr>
        <p:grpSpPr bwMode="auto">
          <a:xfrm>
            <a:off x="6781800" y="5715000"/>
            <a:ext cx="609600" cy="304800"/>
            <a:chOff x="912" y="3600"/>
            <a:chExt cx="384" cy="192"/>
          </a:xfrm>
        </p:grpSpPr>
        <p:sp>
          <p:nvSpPr>
            <p:cNvPr id="369698" name="Text Box 34"/>
            <p:cNvSpPr txBox="1">
              <a:spLocks noChangeArrowheads="1"/>
            </p:cNvSpPr>
            <p:nvPr/>
          </p:nvSpPr>
          <p:spPr bwMode="auto">
            <a:xfrm>
              <a:off x="912" y="3600"/>
              <a:ext cx="38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400" b="1"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</a:p>
          </p:txBody>
        </p:sp>
        <p:sp>
          <p:nvSpPr>
            <p:cNvPr id="369699" name="Rectangle 35"/>
            <p:cNvSpPr>
              <a:spLocks noChangeArrowheads="1"/>
            </p:cNvSpPr>
            <p:nvPr/>
          </p:nvSpPr>
          <p:spPr bwMode="auto">
            <a:xfrm>
              <a:off x="960" y="3600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69700" name="Group 36"/>
          <p:cNvGrpSpPr>
            <a:grpSpLocks/>
          </p:cNvGrpSpPr>
          <p:nvPr/>
        </p:nvGrpSpPr>
        <p:grpSpPr bwMode="auto">
          <a:xfrm>
            <a:off x="6400800" y="5715000"/>
            <a:ext cx="609600" cy="304800"/>
            <a:chOff x="912" y="3600"/>
            <a:chExt cx="384" cy="192"/>
          </a:xfrm>
        </p:grpSpPr>
        <p:sp>
          <p:nvSpPr>
            <p:cNvPr id="369701" name="Text Box 37"/>
            <p:cNvSpPr txBox="1">
              <a:spLocks noChangeArrowheads="1"/>
            </p:cNvSpPr>
            <p:nvPr/>
          </p:nvSpPr>
          <p:spPr bwMode="auto">
            <a:xfrm>
              <a:off x="912" y="3600"/>
              <a:ext cx="38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400" b="1"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</a:p>
          </p:txBody>
        </p:sp>
        <p:sp>
          <p:nvSpPr>
            <p:cNvPr id="369702" name="Rectangle 38"/>
            <p:cNvSpPr>
              <a:spLocks noChangeArrowheads="1"/>
            </p:cNvSpPr>
            <p:nvPr/>
          </p:nvSpPr>
          <p:spPr bwMode="auto">
            <a:xfrm>
              <a:off x="960" y="3600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69703" name="Group 39"/>
          <p:cNvGrpSpPr>
            <a:grpSpLocks/>
          </p:cNvGrpSpPr>
          <p:nvPr/>
        </p:nvGrpSpPr>
        <p:grpSpPr bwMode="auto">
          <a:xfrm>
            <a:off x="6019800" y="5715000"/>
            <a:ext cx="609600" cy="304800"/>
            <a:chOff x="912" y="3600"/>
            <a:chExt cx="384" cy="192"/>
          </a:xfrm>
        </p:grpSpPr>
        <p:sp>
          <p:nvSpPr>
            <p:cNvPr id="369704" name="Text Box 40"/>
            <p:cNvSpPr txBox="1">
              <a:spLocks noChangeArrowheads="1"/>
            </p:cNvSpPr>
            <p:nvPr/>
          </p:nvSpPr>
          <p:spPr bwMode="auto">
            <a:xfrm>
              <a:off x="912" y="3600"/>
              <a:ext cx="38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400" b="1"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</a:p>
          </p:txBody>
        </p:sp>
        <p:sp>
          <p:nvSpPr>
            <p:cNvPr id="369705" name="Rectangle 41"/>
            <p:cNvSpPr>
              <a:spLocks noChangeArrowheads="1"/>
            </p:cNvSpPr>
            <p:nvPr/>
          </p:nvSpPr>
          <p:spPr bwMode="auto">
            <a:xfrm>
              <a:off x="960" y="3600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69706" name="Group 42"/>
          <p:cNvGrpSpPr>
            <a:grpSpLocks/>
          </p:cNvGrpSpPr>
          <p:nvPr/>
        </p:nvGrpSpPr>
        <p:grpSpPr bwMode="auto">
          <a:xfrm>
            <a:off x="5638800" y="5715000"/>
            <a:ext cx="609600" cy="304800"/>
            <a:chOff x="912" y="3600"/>
            <a:chExt cx="384" cy="192"/>
          </a:xfrm>
        </p:grpSpPr>
        <p:sp>
          <p:nvSpPr>
            <p:cNvPr id="369707" name="Text Box 43"/>
            <p:cNvSpPr txBox="1">
              <a:spLocks noChangeArrowheads="1"/>
            </p:cNvSpPr>
            <p:nvPr/>
          </p:nvSpPr>
          <p:spPr bwMode="auto">
            <a:xfrm>
              <a:off x="912" y="3600"/>
              <a:ext cx="38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400" b="1"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</a:p>
          </p:txBody>
        </p:sp>
        <p:sp>
          <p:nvSpPr>
            <p:cNvPr id="369708" name="Rectangle 44"/>
            <p:cNvSpPr>
              <a:spLocks noChangeArrowheads="1"/>
            </p:cNvSpPr>
            <p:nvPr/>
          </p:nvSpPr>
          <p:spPr bwMode="auto">
            <a:xfrm>
              <a:off x="960" y="3600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69709" name="Group 45"/>
          <p:cNvGrpSpPr>
            <a:grpSpLocks/>
          </p:cNvGrpSpPr>
          <p:nvPr/>
        </p:nvGrpSpPr>
        <p:grpSpPr bwMode="auto">
          <a:xfrm>
            <a:off x="5257800" y="5715000"/>
            <a:ext cx="609600" cy="304800"/>
            <a:chOff x="912" y="3600"/>
            <a:chExt cx="384" cy="192"/>
          </a:xfrm>
        </p:grpSpPr>
        <p:sp>
          <p:nvSpPr>
            <p:cNvPr id="369710" name="Text Box 46"/>
            <p:cNvSpPr txBox="1">
              <a:spLocks noChangeArrowheads="1"/>
            </p:cNvSpPr>
            <p:nvPr/>
          </p:nvSpPr>
          <p:spPr bwMode="auto">
            <a:xfrm>
              <a:off x="912" y="3600"/>
              <a:ext cx="38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400" b="1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369711" name="Rectangle 47"/>
            <p:cNvSpPr>
              <a:spLocks noChangeArrowheads="1"/>
            </p:cNvSpPr>
            <p:nvPr/>
          </p:nvSpPr>
          <p:spPr bwMode="auto">
            <a:xfrm>
              <a:off x="960" y="3600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69712" name="Group 48"/>
          <p:cNvGrpSpPr>
            <a:grpSpLocks/>
          </p:cNvGrpSpPr>
          <p:nvPr/>
        </p:nvGrpSpPr>
        <p:grpSpPr bwMode="auto">
          <a:xfrm>
            <a:off x="4876800" y="5715000"/>
            <a:ext cx="609600" cy="304800"/>
            <a:chOff x="912" y="3600"/>
            <a:chExt cx="384" cy="192"/>
          </a:xfrm>
        </p:grpSpPr>
        <p:sp>
          <p:nvSpPr>
            <p:cNvPr id="369713" name="Text Box 49"/>
            <p:cNvSpPr txBox="1">
              <a:spLocks noChangeArrowheads="1"/>
            </p:cNvSpPr>
            <p:nvPr/>
          </p:nvSpPr>
          <p:spPr bwMode="auto">
            <a:xfrm>
              <a:off x="912" y="3600"/>
              <a:ext cx="38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400" b="1">
                  <a:latin typeface="Times New Roman" panose="02020603050405020304" pitchFamily="18" charset="0"/>
                  <a:ea typeface="宋体" panose="02010600030101010101" pitchFamily="2" charset="-122"/>
                </a:rPr>
                <a:t>EOS</a:t>
              </a:r>
            </a:p>
          </p:txBody>
        </p:sp>
        <p:sp>
          <p:nvSpPr>
            <p:cNvPr id="369714" name="Rectangle 50"/>
            <p:cNvSpPr>
              <a:spLocks noChangeArrowheads="1"/>
            </p:cNvSpPr>
            <p:nvPr/>
          </p:nvSpPr>
          <p:spPr bwMode="auto">
            <a:xfrm>
              <a:off x="960" y="3600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69715" name="Group 51"/>
          <p:cNvGrpSpPr>
            <a:grpSpLocks/>
          </p:cNvGrpSpPr>
          <p:nvPr/>
        </p:nvGrpSpPr>
        <p:grpSpPr bwMode="auto">
          <a:xfrm>
            <a:off x="4495800" y="5715000"/>
            <a:ext cx="609600" cy="304800"/>
            <a:chOff x="912" y="3600"/>
            <a:chExt cx="384" cy="192"/>
          </a:xfrm>
        </p:grpSpPr>
        <p:sp>
          <p:nvSpPr>
            <p:cNvPr id="369716" name="Text Box 52"/>
            <p:cNvSpPr txBox="1">
              <a:spLocks noChangeArrowheads="1"/>
            </p:cNvSpPr>
            <p:nvPr/>
          </p:nvSpPr>
          <p:spPr bwMode="auto">
            <a:xfrm>
              <a:off x="912" y="3600"/>
              <a:ext cx="38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400" b="1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</a:p>
          </p:txBody>
        </p:sp>
        <p:sp>
          <p:nvSpPr>
            <p:cNvPr id="369717" name="Rectangle 53"/>
            <p:cNvSpPr>
              <a:spLocks noChangeArrowheads="1"/>
            </p:cNvSpPr>
            <p:nvPr/>
          </p:nvSpPr>
          <p:spPr bwMode="auto">
            <a:xfrm>
              <a:off x="960" y="3600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69718" name="Group 54"/>
          <p:cNvGrpSpPr>
            <a:grpSpLocks/>
          </p:cNvGrpSpPr>
          <p:nvPr/>
        </p:nvGrpSpPr>
        <p:grpSpPr bwMode="auto">
          <a:xfrm>
            <a:off x="4114800" y="5715000"/>
            <a:ext cx="609600" cy="304800"/>
            <a:chOff x="912" y="3600"/>
            <a:chExt cx="384" cy="192"/>
          </a:xfrm>
        </p:grpSpPr>
        <p:sp>
          <p:nvSpPr>
            <p:cNvPr id="369719" name="Text Box 55"/>
            <p:cNvSpPr txBox="1">
              <a:spLocks noChangeArrowheads="1"/>
            </p:cNvSpPr>
            <p:nvPr/>
          </p:nvSpPr>
          <p:spPr bwMode="auto">
            <a:xfrm>
              <a:off x="912" y="3600"/>
              <a:ext cx="38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400" b="1"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</a:p>
          </p:txBody>
        </p:sp>
        <p:sp>
          <p:nvSpPr>
            <p:cNvPr id="369720" name="Rectangle 56"/>
            <p:cNvSpPr>
              <a:spLocks noChangeArrowheads="1"/>
            </p:cNvSpPr>
            <p:nvPr/>
          </p:nvSpPr>
          <p:spPr bwMode="auto">
            <a:xfrm>
              <a:off x="960" y="3600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69721" name="Group 57"/>
          <p:cNvGrpSpPr>
            <a:grpSpLocks/>
          </p:cNvGrpSpPr>
          <p:nvPr/>
        </p:nvGrpSpPr>
        <p:grpSpPr bwMode="auto">
          <a:xfrm>
            <a:off x="3733800" y="5715000"/>
            <a:ext cx="609600" cy="304800"/>
            <a:chOff x="912" y="3600"/>
            <a:chExt cx="384" cy="192"/>
          </a:xfrm>
        </p:grpSpPr>
        <p:sp>
          <p:nvSpPr>
            <p:cNvPr id="369722" name="Text Box 58"/>
            <p:cNvSpPr txBox="1">
              <a:spLocks noChangeArrowheads="1"/>
            </p:cNvSpPr>
            <p:nvPr/>
          </p:nvSpPr>
          <p:spPr bwMode="auto">
            <a:xfrm>
              <a:off x="912" y="3600"/>
              <a:ext cx="38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400" b="1"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</a:p>
          </p:txBody>
        </p:sp>
        <p:sp>
          <p:nvSpPr>
            <p:cNvPr id="369723" name="Rectangle 59"/>
            <p:cNvSpPr>
              <a:spLocks noChangeArrowheads="1"/>
            </p:cNvSpPr>
            <p:nvPr/>
          </p:nvSpPr>
          <p:spPr bwMode="auto">
            <a:xfrm>
              <a:off x="960" y="3600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69724" name="Group 60"/>
          <p:cNvGrpSpPr>
            <a:grpSpLocks/>
          </p:cNvGrpSpPr>
          <p:nvPr/>
        </p:nvGrpSpPr>
        <p:grpSpPr bwMode="auto">
          <a:xfrm>
            <a:off x="3352800" y="5715000"/>
            <a:ext cx="609600" cy="304800"/>
            <a:chOff x="912" y="3600"/>
            <a:chExt cx="384" cy="192"/>
          </a:xfrm>
        </p:grpSpPr>
        <p:sp>
          <p:nvSpPr>
            <p:cNvPr id="369725" name="Text Box 61"/>
            <p:cNvSpPr txBox="1">
              <a:spLocks noChangeArrowheads="1"/>
            </p:cNvSpPr>
            <p:nvPr/>
          </p:nvSpPr>
          <p:spPr bwMode="auto">
            <a:xfrm>
              <a:off x="912" y="3600"/>
              <a:ext cx="38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400" b="1">
                  <a:latin typeface="Times New Roman" panose="02020603050405020304" pitchFamily="18" charset="0"/>
                  <a:ea typeface="宋体" panose="02010600030101010101" pitchFamily="2" charset="-122"/>
                </a:rPr>
                <a:t>EOS</a:t>
              </a:r>
            </a:p>
          </p:txBody>
        </p:sp>
        <p:sp>
          <p:nvSpPr>
            <p:cNvPr id="369726" name="Rectangle 62"/>
            <p:cNvSpPr>
              <a:spLocks noChangeArrowheads="1"/>
            </p:cNvSpPr>
            <p:nvPr/>
          </p:nvSpPr>
          <p:spPr bwMode="auto">
            <a:xfrm>
              <a:off x="960" y="3600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69727" name="Group 63"/>
          <p:cNvGrpSpPr>
            <a:grpSpLocks/>
          </p:cNvGrpSpPr>
          <p:nvPr/>
        </p:nvGrpSpPr>
        <p:grpSpPr bwMode="auto">
          <a:xfrm>
            <a:off x="2971800" y="5715000"/>
            <a:ext cx="609600" cy="304800"/>
            <a:chOff x="912" y="3600"/>
            <a:chExt cx="384" cy="192"/>
          </a:xfrm>
        </p:grpSpPr>
        <p:sp>
          <p:nvSpPr>
            <p:cNvPr id="369728" name="Text Box 64"/>
            <p:cNvSpPr txBox="1">
              <a:spLocks noChangeArrowheads="1"/>
            </p:cNvSpPr>
            <p:nvPr/>
          </p:nvSpPr>
          <p:spPr bwMode="auto">
            <a:xfrm>
              <a:off x="912" y="3600"/>
              <a:ext cx="38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400" b="1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</a:p>
          </p:txBody>
        </p:sp>
        <p:sp>
          <p:nvSpPr>
            <p:cNvPr id="369729" name="Rectangle 65"/>
            <p:cNvSpPr>
              <a:spLocks noChangeArrowheads="1"/>
            </p:cNvSpPr>
            <p:nvPr/>
          </p:nvSpPr>
          <p:spPr bwMode="auto">
            <a:xfrm>
              <a:off x="960" y="3600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69730" name="Group 66"/>
          <p:cNvGrpSpPr>
            <a:grpSpLocks/>
          </p:cNvGrpSpPr>
          <p:nvPr/>
        </p:nvGrpSpPr>
        <p:grpSpPr bwMode="auto">
          <a:xfrm>
            <a:off x="2590800" y="5715000"/>
            <a:ext cx="609600" cy="304800"/>
            <a:chOff x="912" y="3600"/>
            <a:chExt cx="384" cy="192"/>
          </a:xfrm>
        </p:grpSpPr>
        <p:sp>
          <p:nvSpPr>
            <p:cNvPr id="369731" name="Text Box 67"/>
            <p:cNvSpPr txBox="1">
              <a:spLocks noChangeArrowheads="1"/>
            </p:cNvSpPr>
            <p:nvPr/>
          </p:nvSpPr>
          <p:spPr bwMode="auto">
            <a:xfrm>
              <a:off x="912" y="3600"/>
              <a:ext cx="38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400" b="1"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</a:p>
          </p:txBody>
        </p:sp>
        <p:sp>
          <p:nvSpPr>
            <p:cNvPr id="369732" name="Rectangle 68"/>
            <p:cNvSpPr>
              <a:spLocks noChangeArrowheads="1"/>
            </p:cNvSpPr>
            <p:nvPr/>
          </p:nvSpPr>
          <p:spPr bwMode="auto">
            <a:xfrm>
              <a:off x="960" y="3600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69733" name="Group 69"/>
          <p:cNvGrpSpPr>
            <a:grpSpLocks/>
          </p:cNvGrpSpPr>
          <p:nvPr/>
        </p:nvGrpSpPr>
        <p:grpSpPr bwMode="auto">
          <a:xfrm>
            <a:off x="2209800" y="5715000"/>
            <a:ext cx="609600" cy="304800"/>
            <a:chOff x="912" y="3600"/>
            <a:chExt cx="384" cy="192"/>
          </a:xfrm>
        </p:grpSpPr>
        <p:sp>
          <p:nvSpPr>
            <p:cNvPr id="369734" name="Text Box 70"/>
            <p:cNvSpPr txBox="1">
              <a:spLocks noChangeArrowheads="1"/>
            </p:cNvSpPr>
            <p:nvPr/>
          </p:nvSpPr>
          <p:spPr bwMode="auto">
            <a:xfrm>
              <a:off x="912" y="3600"/>
              <a:ext cx="38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400" b="1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</a:p>
          </p:txBody>
        </p:sp>
        <p:sp>
          <p:nvSpPr>
            <p:cNvPr id="369735" name="Rectangle 71"/>
            <p:cNvSpPr>
              <a:spLocks noChangeArrowheads="1"/>
            </p:cNvSpPr>
            <p:nvPr/>
          </p:nvSpPr>
          <p:spPr bwMode="auto">
            <a:xfrm>
              <a:off x="960" y="3600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69736" name="Line 72"/>
          <p:cNvSpPr>
            <a:spLocks noChangeShapeType="1"/>
          </p:cNvSpPr>
          <p:nvPr/>
        </p:nvSpPr>
        <p:spPr bwMode="auto">
          <a:xfrm>
            <a:off x="8382000" y="57150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737" name="Line 73"/>
          <p:cNvSpPr>
            <a:spLocks noChangeShapeType="1"/>
          </p:cNvSpPr>
          <p:nvPr/>
        </p:nvSpPr>
        <p:spPr bwMode="auto">
          <a:xfrm>
            <a:off x="8382000" y="60198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369738" name="AutoShape 74"/>
          <p:cNvCxnSpPr>
            <a:cxnSpLocks noChangeShapeType="1"/>
            <a:stCxn id="369686" idx="2"/>
            <a:endCxn id="369693" idx="0"/>
          </p:cNvCxnSpPr>
          <p:nvPr/>
        </p:nvCxnSpPr>
        <p:spPr bwMode="auto">
          <a:xfrm rot="16200000" flipH="1">
            <a:off x="6275387" y="4179888"/>
            <a:ext cx="1050925" cy="2019300"/>
          </a:xfrm>
          <a:prstGeom prst="curvedConnector3">
            <a:avLst>
              <a:gd name="adj1" fmla="val 72657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9739" name="AutoShape 75"/>
          <p:cNvCxnSpPr>
            <a:cxnSpLocks noChangeShapeType="1"/>
            <a:stCxn id="369686" idx="0"/>
            <a:endCxn id="369723" idx="0"/>
          </p:cNvCxnSpPr>
          <p:nvPr/>
        </p:nvCxnSpPr>
        <p:spPr bwMode="auto">
          <a:xfrm rot="16200000" flipH="1" flipV="1">
            <a:off x="4171950" y="4095750"/>
            <a:ext cx="1447800" cy="1790700"/>
          </a:xfrm>
          <a:prstGeom prst="curvedConnector3">
            <a:avLst>
              <a:gd name="adj1" fmla="val -5157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9740" name="AutoShape 76"/>
          <p:cNvCxnSpPr>
            <a:cxnSpLocks noChangeShapeType="1"/>
            <a:stCxn id="369687" idx="1"/>
            <a:endCxn id="369735" idx="0"/>
          </p:cNvCxnSpPr>
          <p:nvPr/>
        </p:nvCxnSpPr>
        <p:spPr bwMode="auto">
          <a:xfrm rot="10800000" flipV="1">
            <a:off x="2476500" y="4008438"/>
            <a:ext cx="3238500" cy="1706562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9741" name="AutoShape 77"/>
          <p:cNvCxnSpPr>
            <a:cxnSpLocks noChangeShapeType="1"/>
            <a:stCxn id="369686" idx="3"/>
            <a:endCxn id="369711" idx="0"/>
          </p:cNvCxnSpPr>
          <p:nvPr/>
        </p:nvCxnSpPr>
        <p:spPr bwMode="auto">
          <a:xfrm flipH="1">
            <a:off x="5524500" y="4465638"/>
            <a:ext cx="358775" cy="1249362"/>
          </a:xfrm>
          <a:prstGeom prst="curvedConnector4">
            <a:avLst>
              <a:gd name="adj1" fmla="val 95130"/>
              <a:gd name="adj2" fmla="val 5794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9742" name="Text Box 78"/>
          <p:cNvSpPr txBox="1">
            <a:spLocks noChangeArrowheads="1"/>
          </p:cNvSpPr>
          <p:nvPr/>
        </p:nvSpPr>
        <p:spPr bwMode="auto">
          <a:xfrm>
            <a:off x="2209800" y="6096000"/>
            <a:ext cx="1905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</a:rPr>
              <a:t>ARRAY  lexemes</a:t>
            </a:r>
          </a:p>
        </p:txBody>
      </p:sp>
      <p:sp>
        <p:nvSpPr>
          <p:cNvPr id="369743" name="Text Box 79"/>
          <p:cNvSpPr txBox="1">
            <a:spLocks noChangeArrowheads="1"/>
          </p:cNvSpPr>
          <p:nvPr/>
        </p:nvSpPr>
        <p:spPr bwMode="auto">
          <a:xfrm>
            <a:off x="609600" y="1066800"/>
            <a:ext cx="5562600" cy="2379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 sz="1800" b="1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OPERATIONS:  </a:t>
            </a:r>
            <a:r>
              <a:rPr lang="en-US" altLang="zh-CN" sz="1800" b="1">
                <a:latin typeface="Times New Roman" panose="02020603050405020304" pitchFamily="18" charset="0"/>
                <a:ea typeface="宋体" panose="02010600030101010101" pitchFamily="2" charset="-122"/>
              </a:rPr>
              <a:t>Insert (string, token_ID)</a:t>
            </a:r>
          </a:p>
          <a:p>
            <a:pPr algn="l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 sz="1800" b="1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Lookup (string)</a:t>
            </a:r>
          </a:p>
          <a:p>
            <a:pPr algn="l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 sz="1800" b="1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NOTICE:            </a:t>
            </a:r>
            <a:r>
              <a:rPr lang="en-US" altLang="zh-CN" sz="1800" b="1">
                <a:latin typeface="Times New Roman" panose="02020603050405020304" pitchFamily="18" charset="0"/>
                <a:ea typeface="宋体" panose="02010600030101010101" pitchFamily="2" charset="-122"/>
              </a:rPr>
              <a:t>Reserved words are placed into </a:t>
            </a:r>
          </a:p>
          <a:p>
            <a:pPr algn="l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 sz="1800" b="1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symbol table for easy lookup</a:t>
            </a:r>
          </a:p>
          <a:p>
            <a:pPr algn="l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 sz="1800" b="1">
                <a:latin typeface="Times New Roman" panose="02020603050405020304" pitchFamily="18" charset="0"/>
                <a:ea typeface="宋体" panose="02010600030101010101" pitchFamily="2" charset="-122"/>
              </a:rPr>
              <a:t>Attributes may be associated with each entry, i.e., </a:t>
            </a:r>
          </a:p>
          <a:p>
            <a:pPr algn="l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 sz="1800" b="1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Semantic Actions</a:t>
            </a:r>
          </a:p>
          <a:p>
            <a:pPr algn="l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 sz="1800" b="1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Typing Info:  id </a:t>
            </a:r>
            <a:r>
              <a:rPr lang="en-US" altLang="zh-CN" sz="18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 integer</a:t>
            </a:r>
          </a:p>
          <a:p>
            <a:pPr algn="l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 sz="18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                         etc.</a:t>
            </a:r>
            <a:endParaRPr lang="en-US" altLang="zh-CN" sz="1800" b="1">
              <a:solidFill>
                <a:srgbClr val="FF5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63E0D-B964-4947-B6DE-11FC2EE2D6A2}" type="slidenum">
              <a:rPr lang="zh-CN" altLang="en-US"/>
              <a:pPr/>
              <a:t>37</a:t>
            </a:fld>
            <a:endParaRPr lang="en-US" altLang="zh-CN"/>
          </a:p>
        </p:txBody>
      </p:sp>
      <p:sp>
        <p:nvSpPr>
          <p:cNvPr id="37069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229600" cy="838200"/>
          </a:xfrm>
        </p:spPr>
        <p:txBody>
          <a:bodyPr/>
          <a:lstStyle/>
          <a:p>
            <a:r>
              <a:rPr lang="en-US" altLang="zh-CN" b="1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A Brief Look at Code Generation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70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143000"/>
            <a:ext cx="8229600" cy="2057400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zh-CN">
                <a:effectLst/>
                <a:ea typeface="宋体" panose="02010600030101010101" pitchFamily="2" charset="-122"/>
              </a:rPr>
              <a:t>Back-end of Compilation Process - Which Will Not Be Our Emphasis</a:t>
            </a:r>
          </a:p>
          <a:p>
            <a:pPr>
              <a:lnSpc>
                <a:spcPct val="69000"/>
              </a:lnSpc>
              <a:spcBef>
                <a:spcPct val="50000"/>
              </a:spcBef>
            </a:pPr>
            <a:r>
              <a:rPr lang="en-US" altLang="zh-CN">
                <a:effectLst/>
                <a:ea typeface="宋体" panose="02010600030101010101" pitchFamily="2" charset="-122"/>
              </a:rPr>
              <a:t> We’ll Focus on Front-end</a:t>
            </a:r>
          </a:p>
          <a:p>
            <a:pPr>
              <a:lnSpc>
                <a:spcPct val="69000"/>
              </a:lnSpc>
              <a:spcBef>
                <a:spcPct val="50000"/>
              </a:spcBef>
            </a:pPr>
            <a:r>
              <a:rPr lang="en-US" altLang="zh-CN">
                <a:effectLst/>
                <a:ea typeface="宋体" panose="02010600030101010101" pitchFamily="2" charset="-122"/>
              </a:rPr>
              <a:t> Important Concepts to Re-emphasize</a:t>
            </a:r>
            <a:endParaRPr lang="en-US" altLang="zh-CN" sz="2400">
              <a:ea typeface="宋体" panose="02010600030101010101" pitchFamily="2" charset="-122"/>
            </a:endParaRPr>
          </a:p>
        </p:txBody>
      </p:sp>
      <p:sp>
        <p:nvSpPr>
          <p:cNvPr id="370692" name="Rectangle 4"/>
          <p:cNvSpPr>
            <a:spLocks noChangeArrowheads="1"/>
          </p:cNvSpPr>
          <p:nvPr/>
        </p:nvSpPr>
        <p:spPr bwMode="auto">
          <a:xfrm>
            <a:off x="1143000" y="3124200"/>
            <a:ext cx="6764338" cy="3214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zh-CN" altLang="en-US" sz="28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••  Abstract Stack Machine for Intermediate</a:t>
            </a:r>
          </a:p>
          <a:p>
            <a:pPr algn="l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Code Generation: (i) basic arithmetic, </a:t>
            </a:r>
          </a:p>
          <a:p>
            <a:pPr algn="l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(ii) stack, (iii), flow control</a:t>
            </a:r>
          </a:p>
          <a:p>
            <a:pPr algn="l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••  L-value  Vs.  R-value of an identifier</a:t>
            </a:r>
          </a:p>
          <a:p>
            <a:pPr algn="l" eaLnBrk="0" hangingPunct="0">
              <a:lnSpc>
                <a:spcPct val="50000"/>
              </a:lnSpc>
              <a:spcBef>
                <a:spcPct val="50000"/>
              </a:spcBef>
            </a:pPr>
            <a:r>
              <a:rPr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I : = 5 ;                L - Location</a:t>
            </a:r>
          </a:p>
          <a:p>
            <a:pPr algn="l" eaLnBrk="0" hangingPunct="0">
              <a:lnSpc>
                <a:spcPct val="50000"/>
              </a:lnSpc>
              <a:spcBef>
                <a:spcPct val="50000"/>
              </a:spcBef>
            </a:pPr>
            <a:r>
              <a:rPr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I : = I + 1 ;           R - Contents</a:t>
            </a:r>
          </a:p>
          <a:p>
            <a:pPr algn="l" eaLnBrk="0" hangingPunct="0">
              <a:lnSpc>
                <a:spcPct val="50000"/>
              </a:lnSpc>
              <a:spcBef>
                <a:spcPct val="50000"/>
              </a:spcBef>
            </a:pPr>
            <a:r>
              <a:rPr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2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2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0EA27-66E5-4429-BADE-3C2BE6EE42CC}" type="slidenum">
              <a:rPr lang="zh-CN" altLang="en-US"/>
              <a:pPr/>
              <a:t>38</a:t>
            </a:fld>
            <a:endParaRPr lang="en-US" altLang="zh-CN"/>
          </a:p>
        </p:txBody>
      </p:sp>
      <p:sp>
        <p:nvSpPr>
          <p:cNvPr id="37171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8229600" cy="762000"/>
          </a:xfrm>
        </p:spPr>
        <p:txBody>
          <a:bodyPr/>
          <a:lstStyle/>
          <a:p>
            <a:r>
              <a:rPr lang="en-US" altLang="zh-CN" b="1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A Brief Look at Code Generation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71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066800"/>
            <a:ext cx="8229600" cy="1981200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zh-CN">
                <a:effectLst/>
                <a:ea typeface="宋体" panose="02010600030101010101" pitchFamily="2" charset="-122"/>
              </a:rPr>
              <a:t>Employ Statement Templates for Code Generation.</a:t>
            </a:r>
            <a:endParaRPr lang="en-US" altLang="zh-CN" sz="3200">
              <a:effectLst/>
              <a:ea typeface="宋体" panose="02010600030101010101" pitchFamily="2" charset="-122"/>
            </a:endParaRPr>
          </a:p>
          <a:p>
            <a:pPr>
              <a:lnSpc>
                <a:spcPct val="69000"/>
              </a:lnSpc>
              <a:spcBef>
                <a:spcPct val="50000"/>
              </a:spcBef>
            </a:pPr>
            <a:r>
              <a:rPr lang="en-US" altLang="zh-CN">
                <a:effectLst/>
                <a:ea typeface="宋体" panose="02010600030101010101" pitchFamily="2" charset="-122"/>
              </a:rPr>
              <a:t>Each Template Characterizes the Translation</a:t>
            </a:r>
          </a:p>
          <a:p>
            <a:pPr>
              <a:spcBef>
                <a:spcPct val="50000"/>
              </a:spcBef>
            </a:pPr>
            <a:r>
              <a:rPr lang="en-US" altLang="zh-CN">
                <a:effectLst/>
                <a:ea typeface="宋体" panose="02010600030101010101" pitchFamily="2" charset="-122"/>
              </a:rPr>
              <a:t>Different Templates for Each Major Programming Language Construct, if, while, procedure, etc.</a:t>
            </a:r>
          </a:p>
        </p:txBody>
      </p:sp>
      <p:sp>
        <p:nvSpPr>
          <p:cNvPr id="371717" name="Rectangle 5"/>
          <p:cNvSpPr>
            <a:spLocks noChangeArrowheads="1"/>
          </p:cNvSpPr>
          <p:nvPr/>
        </p:nvSpPr>
        <p:spPr bwMode="auto">
          <a:xfrm>
            <a:off x="2133600" y="3810000"/>
            <a:ext cx="1828800" cy="198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1718" name="Text Box 6"/>
          <p:cNvSpPr txBox="1">
            <a:spLocks noChangeArrowheads="1"/>
          </p:cNvSpPr>
          <p:nvPr/>
        </p:nvSpPr>
        <p:spPr bwMode="auto">
          <a:xfrm>
            <a:off x="2819400" y="3276600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IF</a:t>
            </a:r>
          </a:p>
        </p:txBody>
      </p:sp>
      <p:sp>
        <p:nvSpPr>
          <p:cNvPr id="371719" name="Text Box 7"/>
          <p:cNvSpPr txBox="1">
            <a:spLocks noChangeArrowheads="1"/>
          </p:cNvSpPr>
          <p:nvPr/>
        </p:nvSpPr>
        <p:spPr bwMode="auto">
          <a:xfrm>
            <a:off x="2133600" y="3810000"/>
            <a:ext cx="1828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code for expr</a:t>
            </a:r>
          </a:p>
        </p:txBody>
      </p:sp>
      <p:sp>
        <p:nvSpPr>
          <p:cNvPr id="371720" name="Text Box 8"/>
          <p:cNvSpPr txBox="1">
            <a:spLocks noChangeArrowheads="1"/>
          </p:cNvSpPr>
          <p:nvPr/>
        </p:nvSpPr>
        <p:spPr bwMode="auto">
          <a:xfrm>
            <a:off x="2362200" y="4343400"/>
            <a:ext cx="1600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gofalse out</a:t>
            </a:r>
          </a:p>
        </p:txBody>
      </p:sp>
      <p:sp>
        <p:nvSpPr>
          <p:cNvPr id="371721" name="Text Box 9"/>
          <p:cNvSpPr txBox="1">
            <a:spLocks noChangeArrowheads="1"/>
          </p:cNvSpPr>
          <p:nvPr/>
        </p:nvSpPr>
        <p:spPr bwMode="auto">
          <a:xfrm>
            <a:off x="2133600" y="4876800"/>
            <a:ext cx="1828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code for stmt</a:t>
            </a:r>
          </a:p>
        </p:txBody>
      </p:sp>
      <p:sp>
        <p:nvSpPr>
          <p:cNvPr id="371722" name="Text Box 10"/>
          <p:cNvSpPr txBox="1">
            <a:spLocks noChangeArrowheads="1"/>
          </p:cNvSpPr>
          <p:nvPr/>
        </p:nvSpPr>
        <p:spPr bwMode="auto">
          <a:xfrm>
            <a:off x="2362200" y="5410200"/>
            <a:ext cx="1600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label out</a:t>
            </a:r>
          </a:p>
        </p:txBody>
      </p:sp>
      <p:sp>
        <p:nvSpPr>
          <p:cNvPr id="371723" name="Line 11"/>
          <p:cNvSpPr>
            <a:spLocks noChangeShapeType="1"/>
          </p:cNvSpPr>
          <p:nvPr/>
        </p:nvSpPr>
        <p:spPr bwMode="auto">
          <a:xfrm>
            <a:off x="2133600" y="4267200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1724" name="Line 12"/>
          <p:cNvSpPr>
            <a:spLocks noChangeShapeType="1"/>
          </p:cNvSpPr>
          <p:nvPr/>
        </p:nvSpPr>
        <p:spPr bwMode="auto">
          <a:xfrm>
            <a:off x="2133600" y="4876800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1725" name="Line 13"/>
          <p:cNvSpPr>
            <a:spLocks noChangeShapeType="1"/>
          </p:cNvSpPr>
          <p:nvPr/>
        </p:nvSpPr>
        <p:spPr bwMode="auto">
          <a:xfrm>
            <a:off x="2133600" y="5334000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1726" name="Rectangle 14"/>
          <p:cNvSpPr>
            <a:spLocks noChangeArrowheads="1"/>
          </p:cNvSpPr>
          <p:nvPr/>
        </p:nvSpPr>
        <p:spPr bwMode="auto">
          <a:xfrm>
            <a:off x="5029200" y="3505200"/>
            <a:ext cx="1981200" cy="2743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1727" name="Text Box 15"/>
          <p:cNvSpPr txBox="1">
            <a:spLocks noChangeArrowheads="1"/>
          </p:cNvSpPr>
          <p:nvPr/>
        </p:nvSpPr>
        <p:spPr bwMode="auto">
          <a:xfrm>
            <a:off x="5562600" y="3124200"/>
            <a:ext cx="1219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WHILE</a:t>
            </a:r>
          </a:p>
        </p:txBody>
      </p:sp>
      <p:sp>
        <p:nvSpPr>
          <p:cNvPr id="371728" name="Text Box 16"/>
          <p:cNvSpPr txBox="1">
            <a:spLocks noChangeArrowheads="1"/>
          </p:cNvSpPr>
          <p:nvPr/>
        </p:nvSpPr>
        <p:spPr bwMode="auto">
          <a:xfrm>
            <a:off x="5029200" y="3505200"/>
            <a:ext cx="1981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label test</a:t>
            </a:r>
          </a:p>
        </p:txBody>
      </p:sp>
      <p:sp>
        <p:nvSpPr>
          <p:cNvPr id="371729" name="Text Box 17"/>
          <p:cNvSpPr txBox="1">
            <a:spLocks noChangeArrowheads="1"/>
          </p:cNvSpPr>
          <p:nvPr/>
        </p:nvSpPr>
        <p:spPr bwMode="auto">
          <a:xfrm>
            <a:off x="5029200" y="3962400"/>
            <a:ext cx="1981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code for expr</a:t>
            </a:r>
          </a:p>
        </p:txBody>
      </p:sp>
      <p:sp>
        <p:nvSpPr>
          <p:cNvPr id="371730" name="Text Box 18"/>
          <p:cNvSpPr txBox="1">
            <a:spLocks noChangeArrowheads="1"/>
          </p:cNvSpPr>
          <p:nvPr/>
        </p:nvSpPr>
        <p:spPr bwMode="auto">
          <a:xfrm>
            <a:off x="5029200" y="4419600"/>
            <a:ext cx="1981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gofalse out</a:t>
            </a:r>
          </a:p>
        </p:txBody>
      </p:sp>
      <p:sp>
        <p:nvSpPr>
          <p:cNvPr id="371731" name="Text Box 19"/>
          <p:cNvSpPr txBox="1">
            <a:spLocks noChangeArrowheads="1"/>
          </p:cNvSpPr>
          <p:nvPr/>
        </p:nvSpPr>
        <p:spPr bwMode="auto">
          <a:xfrm>
            <a:off x="5029200" y="4953000"/>
            <a:ext cx="1981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code for stmt</a:t>
            </a:r>
          </a:p>
        </p:txBody>
      </p:sp>
      <p:sp>
        <p:nvSpPr>
          <p:cNvPr id="371732" name="Text Box 20"/>
          <p:cNvSpPr txBox="1">
            <a:spLocks noChangeArrowheads="1"/>
          </p:cNvSpPr>
          <p:nvPr/>
        </p:nvSpPr>
        <p:spPr bwMode="auto">
          <a:xfrm>
            <a:off x="5029200" y="5410200"/>
            <a:ext cx="1981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goto test</a:t>
            </a:r>
          </a:p>
        </p:txBody>
      </p:sp>
      <p:sp>
        <p:nvSpPr>
          <p:cNvPr id="371733" name="Text Box 21"/>
          <p:cNvSpPr txBox="1">
            <a:spLocks noChangeArrowheads="1"/>
          </p:cNvSpPr>
          <p:nvPr/>
        </p:nvSpPr>
        <p:spPr bwMode="auto">
          <a:xfrm>
            <a:off x="5029200" y="5867400"/>
            <a:ext cx="1981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label out</a:t>
            </a:r>
          </a:p>
        </p:txBody>
      </p:sp>
      <p:sp>
        <p:nvSpPr>
          <p:cNvPr id="371734" name="Line 22"/>
          <p:cNvSpPr>
            <a:spLocks noChangeShapeType="1"/>
          </p:cNvSpPr>
          <p:nvPr/>
        </p:nvSpPr>
        <p:spPr bwMode="auto">
          <a:xfrm>
            <a:off x="5029200" y="38862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1735" name="Line 23"/>
          <p:cNvSpPr>
            <a:spLocks noChangeShapeType="1"/>
          </p:cNvSpPr>
          <p:nvPr/>
        </p:nvSpPr>
        <p:spPr bwMode="auto">
          <a:xfrm>
            <a:off x="50292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1736" name="Line 24"/>
          <p:cNvSpPr>
            <a:spLocks noChangeShapeType="1"/>
          </p:cNvSpPr>
          <p:nvPr/>
        </p:nvSpPr>
        <p:spPr bwMode="auto">
          <a:xfrm>
            <a:off x="5029200" y="48768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1737" name="Line 25"/>
          <p:cNvSpPr>
            <a:spLocks noChangeShapeType="1"/>
          </p:cNvSpPr>
          <p:nvPr/>
        </p:nvSpPr>
        <p:spPr bwMode="auto">
          <a:xfrm>
            <a:off x="5029200" y="54102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1738" name="Line 26"/>
          <p:cNvSpPr>
            <a:spLocks noChangeShapeType="1"/>
          </p:cNvSpPr>
          <p:nvPr/>
        </p:nvSpPr>
        <p:spPr bwMode="auto">
          <a:xfrm>
            <a:off x="5029200" y="58674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22F4B-90F1-43C0-BBAA-5127E1895C2C}" type="slidenum">
              <a:rPr lang="zh-CN" altLang="en-US"/>
              <a:pPr/>
              <a:t>39</a:t>
            </a:fld>
            <a:endParaRPr lang="en-US" altLang="zh-CN"/>
          </a:p>
        </p:txBody>
      </p:sp>
      <p:sp>
        <p:nvSpPr>
          <p:cNvPr id="3727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229600" cy="685800"/>
          </a:xfrm>
        </p:spPr>
        <p:txBody>
          <a:bodyPr/>
          <a:lstStyle/>
          <a:p>
            <a:r>
              <a:rPr lang="en-US" altLang="zh-CN" b="1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Concluding Remarks / Looking Ahead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72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143000"/>
            <a:ext cx="8229600" cy="5181600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We’ve Reviewed / Highlighted Entire Compilation Process</a:t>
            </a:r>
          </a:p>
          <a:p>
            <a:pPr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 Introduced </a:t>
            </a:r>
            <a:r>
              <a:rPr lang="en-US" altLang="zh-CN">
                <a:solidFill>
                  <a:srgbClr val="FF5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Context-free Grammars</a:t>
            </a:r>
            <a:r>
              <a:rPr lang="en-US" altLang="zh-CN">
                <a:ea typeface="宋体" panose="02010600030101010101" pitchFamily="2" charset="-122"/>
              </a:rPr>
              <a:t> (CFG) and Indicated /Illustrated Relationship to Compiler Theory</a:t>
            </a:r>
          </a:p>
          <a:p>
            <a:pPr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 Reviewed Many Different Versions of </a:t>
            </a:r>
            <a:r>
              <a:rPr lang="en-US" altLang="zh-CN">
                <a:solidFill>
                  <a:srgbClr val="FF5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Parse Trees</a:t>
            </a:r>
            <a:r>
              <a:rPr lang="en-US" altLang="zh-CN">
                <a:ea typeface="宋体" panose="02010600030101010101" pitchFamily="2" charset="-122"/>
              </a:rPr>
              <a:t> That Assist in Both </a:t>
            </a:r>
            <a:r>
              <a:rPr lang="en-US" altLang="zh-CN">
                <a:solidFill>
                  <a:srgbClr val="00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Recognition</a:t>
            </a:r>
            <a:r>
              <a:rPr lang="en-US" altLang="zh-CN">
                <a:ea typeface="宋体" panose="02010600030101010101" pitchFamily="2" charset="-122"/>
              </a:rPr>
              <a:t> and </a:t>
            </a:r>
            <a:r>
              <a:rPr lang="en-US" altLang="zh-CN">
                <a:solidFill>
                  <a:srgbClr val="00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Translation</a:t>
            </a:r>
          </a:p>
          <a:p>
            <a:pPr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We’ll Return to Beginning - </a:t>
            </a:r>
            <a:r>
              <a:rPr lang="en-US" altLang="zh-CN">
                <a:solidFill>
                  <a:srgbClr val="00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Lexical Analysis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 We’ll Explore Close Relationship of </a:t>
            </a:r>
            <a:r>
              <a:rPr lang="en-US" altLang="zh-CN">
                <a:solidFill>
                  <a:srgbClr val="FF5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Lexical Analysis</a:t>
            </a:r>
            <a:r>
              <a:rPr lang="en-US" altLang="zh-CN">
                <a:ea typeface="宋体" panose="02010600030101010101" pitchFamily="2" charset="-122"/>
              </a:rPr>
              <a:t> to </a:t>
            </a:r>
            <a:r>
              <a:rPr lang="en-US" altLang="zh-CN">
                <a:solidFill>
                  <a:srgbClr val="00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Regular Expressions</a:t>
            </a:r>
            <a:r>
              <a:rPr lang="en-US" altLang="zh-CN">
                <a:ea typeface="宋体" panose="02010600030101010101" pitchFamily="2" charset="-122"/>
              </a:rPr>
              <a:t>, </a:t>
            </a:r>
            <a:r>
              <a:rPr lang="en-US" altLang="zh-CN">
                <a:solidFill>
                  <a:srgbClr val="00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Grammars</a:t>
            </a:r>
            <a:r>
              <a:rPr lang="en-US" altLang="zh-CN">
                <a:ea typeface="宋体" panose="02010600030101010101" pitchFamily="2" charset="-122"/>
              </a:rPr>
              <a:t>, and </a:t>
            </a:r>
            <a:r>
              <a:rPr lang="en-US" altLang="zh-CN">
                <a:solidFill>
                  <a:srgbClr val="00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Finite Automatons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urier New" panose="02070309020205020404" pitchFamily="49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urier New" panose="02070309020205020404" pitchFamily="49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Office\Templates\Blank Presentation.pot</Template>
  <TotalTime>3667</TotalTime>
  <Words>3399</Words>
  <Application>Microsoft Office PowerPoint</Application>
  <PresentationFormat>全屏显示(4:3)</PresentationFormat>
  <Paragraphs>757</Paragraphs>
  <Slides>39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46" baseType="lpstr">
      <vt:lpstr>Times New Roman</vt:lpstr>
      <vt:lpstr>Wingdings</vt:lpstr>
      <vt:lpstr>宋体</vt:lpstr>
      <vt:lpstr>Symbol</vt:lpstr>
      <vt:lpstr>Math1</vt:lpstr>
      <vt:lpstr>Courier New</vt:lpstr>
      <vt:lpstr>Blank Presentation</vt:lpstr>
      <vt:lpstr>The Entire Compilation Process</vt:lpstr>
      <vt:lpstr>Grammars for Syntax Definition</vt:lpstr>
      <vt:lpstr>Grammars for Syntax Definition Example CFG</vt:lpstr>
      <vt:lpstr>Grammars are Used to Derive Strings:</vt:lpstr>
      <vt:lpstr>Grammars are Used to Derive Strings:</vt:lpstr>
      <vt:lpstr>A More Complex Grammar</vt:lpstr>
      <vt:lpstr>Defining a Parse Tree</vt:lpstr>
      <vt:lpstr>Other Important Concepts  Ambiguity</vt:lpstr>
      <vt:lpstr>Other Important Concepts  Associativity of Operators</vt:lpstr>
      <vt:lpstr>Embedding Associativity</vt:lpstr>
      <vt:lpstr>Other Important Concepts  Operator Precedence</vt:lpstr>
      <vt:lpstr>Syntax-Directed Translation</vt:lpstr>
      <vt:lpstr>Examples</vt:lpstr>
      <vt:lpstr>Syntax-Directed Definition</vt:lpstr>
      <vt:lpstr>Syntax-Directed Definition  (2)</vt:lpstr>
      <vt:lpstr>Semantic Rules are Embedded in Parse Tree </vt:lpstr>
      <vt:lpstr>Translation Schemes</vt:lpstr>
      <vt:lpstr>Parsing – Top-Down &amp; Predictive</vt:lpstr>
      <vt:lpstr>Top-Down Parse (type = start symbol)</vt:lpstr>
      <vt:lpstr>Top-Down Parse (type = start symbol)</vt:lpstr>
      <vt:lpstr>Top-Down Process  Recursive Descent or Predictive Parsing</vt:lpstr>
      <vt:lpstr>Top-down algorithm (continued)</vt:lpstr>
      <vt:lpstr>Top-Down Algorithm (Continued)</vt:lpstr>
      <vt:lpstr>Tracing</vt:lpstr>
      <vt:lpstr>Limitations</vt:lpstr>
      <vt:lpstr>Designing a Predictive Parser</vt:lpstr>
      <vt:lpstr>Problems with Top Down Parsing</vt:lpstr>
      <vt:lpstr>Dealing with Left recursion</vt:lpstr>
      <vt:lpstr>What happens to semantic actions?</vt:lpstr>
      <vt:lpstr>Comparing Grammars with Left Recursion</vt:lpstr>
      <vt:lpstr>Comparing Grammars without Left Recursion</vt:lpstr>
      <vt:lpstr>The Lexical Analysis Process A Graphical Depiction</vt:lpstr>
      <vt:lpstr>The Lexical Analysis Process Functional Responsibilities</vt:lpstr>
      <vt:lpstr>Example of a Lexical Analyzer</vt:lpstr>
      <vt:lpstr>Algorithm for Lexical Analyzer</vt:lpstr>
      <vt:lpstr>Symbol Table Considerations</vt:lpstr>
      <vt:lpstr>A Brief Look at Code Generation</vt:lpstr>
      <vt:lpstr>A Brief Look at Code Generation</vt:lpstr>
      <vt:lpstr>Concluding Remarks / Looking Ahead</vt:lpstr>
    </vt:vector>
  </TitlesOfParts>
  <Company> 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Steven A. Demurjian</dc:creator>
  <cp:lastModifiedBy>Exin Y</cp:lastModifiedBy>
  <cp:revision>532</cp:revision>
  <cp:lastPrinted>2002-09-05T03:25:00Z</cp:lastPrinted>
  <dcterms:created xsi:type="dcterms:W3CDTF">1997-11-12T07:36:58Z</dcterms:created>
  <dcterms:modified xsi:type="dcterms:W3CDTF">2015-09-29T15:12:57Z</dcterms:modified>
</cp:coreProperties>
</file>