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</p:sldMasterIdLst>
  <p:notesMasterIdLst>
    <p:notesMasterId r:id="rId32"/>
  </p:notesMasterIdLst>
  <p:handoutMasterIdLst>
    <p:handoutMasterId r:id="rId33"/>
  </p:handoutMasterIdLst>
  <p:sldIdLst>
    <p:sldId id="256" r:id="rId2"/>
    <p:sldId id="297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82" r:id="rId12"/>
    <p:sldId id="283" r:id="rId13"/>
    <p:sldId id="284" r:id="rId14"/>
    <p:sldId id="265" r:id="rId15"/>
    <p:sldId id="267" r:id="rId16"/>
    <p:sldId id="286" r:id="rId17"/>
    <p:sldId id="287" r:id="rId18"/>
    <p:sldId id="288" r:id="rId19"/>
    <p:sldId id="289" r:id="rId20"/>
    <p:sldId id="290" r:id="rId21"/>
    <p:sldId id="291" r:id="rId22"/>
    <p:sldId id="292" r:id="rId23"/>
    <p:sldId id="293" r:id="rId24"/>
    <p:sldId id="294" r:id="rId25"/>
    <p:sldId id="295" r:id="rId26"/>
    <p:sldId id="296" r:id="rId27"/>
    <p:sldId id="268" r:id="rId28"/>
    <p:sldId id="266" r:id="rId29"/>
    <p:sldId id="269" r:id="rId30"/>
    <p:sldId id="298" r:id="rId31"/>
  </p:sldIdLst>
  <p:sldSz cx="9906000" cy="6858000" type="A4"/>
  <p:notesSz cx="6997700" cy="92837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80">
          <p15:clr>
            <a:srgbClr val="A4A3A4"/>
          </p15:clr>
        </p15:guide>
        <p15:guide id="2" pos="307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4">
          <p15:clr>
            <a:srgbClr val="A4A3A4"/>
          </p15:clr>
        </p15:guide>
        <p15:guide id="2" pos="22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50021"/>
    <a:srgbClr val="9900FF"/>
    <a:srgbClr val="FFFF00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21" autoAdjust="0"/>
    <p:restoredTop sz="98971" autoAdjust="0"/>
  </p:normalViewPr>
  <p:slideViewPr>
    <p:cSldViewPr>
      <p:cViewPr varScale="1">
        <p:scale>
          <a:sx n="81" d="100"/>
          <a:sy n="81" d="100"/>
        </p:scale>
        <p:origin x="1194" y="84"/>
      </p:cViewPr>
      <p:guideLst>
        <p:guide orient="horz" pos="1680"/>
        <p:guide pos="3072"/>
      </p:guideLst>
    </p:cSldViewPr>
  </p:slideViewPr>
  <p:outlineViewPr>
    <p:cViewPr>
      <p:scale>
        <a:sx n="25" d="100"/>
        <a:sy n="25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-1698" y="-78"/>
      </p:cViewPr>
      <p:guideLst>
        <p:guide orient="horz" pos="2924"/>
        <p:guide pos="22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156" tIns="45578" rIns="91156" bIns="45578" numCol="1" anchor="t" anchorCtr="0" compatLnSpc="1">
            <a:prstTxWarp prst="textNoShape">
              <a:avLst/>
            </a:prstTxWarp>
          </a:bodyPr>
          <a:lstStyle>
            <a:lvl1pPr defTabSz="912813">
              <a:defRPr sz="1200" smtClean="0"/>
            </a:lvl1pPr>
          </a:lstStyle>
          <a:p>
            <a:pPr>
              <a:defRPr/>
            </a:pPr>
            <a:r>
              <a:rPr lang="zh-CN" altLang="en-US"/>
              <a:t>lec07-intermediatecg</a:t>
            </a:r>
          </a:p>
        </p:txBody>
      </p:sp>
      <p:sp>
        <p:nvSpPr>
          <p:cNvPr id="22118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41763" y="0"/>
            <a:ext cx="3032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156" tIns="45578" rIns="91156" bIns="45578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 smtClean="0"/>
            </a:lvl1pPr>
          </a:lstStyle>
          <a:p>
            <a:pPr>
              <a:defRPr/>
            </a:pPr>
            <a:fld id="{F557CC1D-0E21-4F4E-859A-829920889E30}" type="datetime4">
              <a:rPr lang="zh-CN" altLang="en-US"/>
              <a:pPr>
                <a:defRPr/>
              </a:pPr>
              <a:t>2015年10月7日星期三</a:t>
            </a:fld>
            <a:endParaRPr lang="en-US" altLang="zh-CN"/>
          </a:p>
        </p:txBody>
      </p:sp>
      <p:sp>
        <p:nvSpPr>
          <p:cNvPr id="22118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6500"/>
            <a:ext cx="3032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156" tIns="45578" rIns="91156" bIns="45578" numCol="1" anchor="b" anchorCtr="0" compatLnSpc="1">
            <a:prstTxWarp prst="textNoShape">
              <a:avLst/>
            </a:prstTxWarp>
          </a:bodyPr>
          <a:lstStyle>
            <a:lvl1pPr defTabSz="912813"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211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41763" y="8826500"/>
            <a:ext cx="3032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156" tIns="45578" rIns="91156" bIns="45578" numCol="1" anchor="b" anchorCtr="0" compatLnSpc="1">
            <a:prstTxWarp prst="textNoShape">
              <a:avLst/>
            </a:prstTxWarp>
          </a:bodyPr>
          <a:lstStyle>
            <a:lvl1pPr algn="r" defTabSz="912813">
              <a:defRPr sz="1200"/>
            </a:lvl1pPr>
          </a:lstStyle>
          <a:p>
            <a:fld id="{D8C1A035-EA91-497A-B428-3BEDFCE0B926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025" tIns="46512" rIns="93025" bIns="46512" numCol="1" anchor="t" anchorCtr="0" compatLnSpc="1">
            <a:prstTxWarp prst="textNoShape">
              <a:avLst/>
            </a:prstTxWarp>
          </a:bodyPr>
          <a:lstStyle>
            <a:lvl1pPr defTabSz="930275">
              <a:defRPr sz="1200" smtClean="0"/>
            </a:lvl1pPr>
          </a:lstStyle>
          <a:p>
            <a:pPr>
              <a:defRPr/>
            </a:pPr>
            <a:r>
              <a:rPr lang="zh-CN" altLang="en-US"/>
              <a:t>lec07-intermediatecg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65575" y="0"/>
            <a:ext cx="303212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025" tIns="46512" rIns="93025" bIns="46512" numCol="1" anchor="t" anchorCtr="0" compatLnSpc="1">
            <a:prstTxWarp prst="textNoShape">
              <a:avLst/>
            </a:prstTxWarp>
          </a:bodyPr>
          <a:lstStyle>
            <a:lvl1pPr algn="r" defTabSz="930275">
              <a:defRPr sz="1200" smtClean="0"/>
            </a:lvl1pPr>
          </a:lstStyle>
          <a:p>
            <a:pPr>
              <a:defRPr/>
            </a:pPr>
            <a:fld id="{AE11818F-EB46-4322-9C2D-BBE218082ED6}" type="datetime4">
              <a:rPr lang="zh-CN" altLang="en-US"/>
              <a:pPr>
                <a:defRPr/>
              </a:pPr>
              <a:t>2015年10月7日星期三</a:t>
            </a:fld>
            <a:endParaRPr lang="en-US" altLang="zh-CN"/>
          </a:p>
        </p:txBody>
      </p:sp>
      <p:sp>
        <p:nvSpPr>
          <p:cNvPr id="32772" name="Rectangle 4"/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985838" y="695325"/>
            <a:ext cx="5029200" cy="34813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89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3450" y="4411663"/>
            <a:ext cx="5130800" cy="417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025" tIns="46512" rIns="93025" bIns="4651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 smtClean="0"/>
              <a:t>Click to edit Master text styles</a:t>
            </a:r>
          </a:p>
          <a:p>
            <a:pPr lvl="1"/>
            <a:r>
              <a:rPr lang="en-US" altLang="zh-CN" noProof="0" smtClean="0"/>
              <a:t>Second level</a:t>
            </a:r>
          </a:p>
          <a:p>
            <a:pPr lvl="2"/>
            <a:r>
              <a:rPr lang="en-US" altLang="zh-CN" noProof="0" smtClean="0"/>
              <a:t>Third level</a:t>
            </a:r>
          </a:p>
          <a:p>
            <a:pPr lvl="3"/>
            <a:r>
              <a:rPr lang="en-US" altLang="zh-CN" noProof="0" smtClean="0"/>
              <a:t>Fourth level</a:t>
            </a:r>
          </a:p>
          <a:p>
            <a:pPr lvl="4"/>
            <a:r>
              <a:rPr lang="en-US" altLang="zh-CN" noProof="0" smtClean="0"/>
              <a:t>Fifth level</a:t>
            </a:r>
          </a:p>
        </p:txBody>
      </p:sp>
      <p:sp>
        <p:nvSpPr>
          <p:cNvPr id="389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18563"/>
            <a:ext cx="3032125" cy="465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025" tIns="46512" rIns="93025" bIns="46512" numCol="1" anchor="b" anchorCtr="0" compatLnSpc="1">
            <a:prstTxWarp prst="textNoShape">
              <a:avLst/>
            </a:prstTxWarp>
          </a:bodyPr>
          <a:lstStyle>
            <a:lvl1pPr defTabSz="930275"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89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5575" y="8818563"/>
            <a:ext cx="3032125" cy="465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025" tIns="46512" rIns="93025" bIns="46512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/>
            </a:lvl1pPr>
          </a:lstStyle>
          <a:p>
            <a:fld id="{DAA319D8-745B-4090-8F9D-2AD56E21999C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1200"/>
              <a:t>lec07-intermediatecg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A31C5F5-4035-4FF1-970A-A1CB197B2A6C}" type="datetime4">
              <a:rPr lang="zh-CN" altLang="en-US" sz="1200"/>
              <a:pPr/>
              <a:t>2015年10月7日星期三</a:t>
            </a:fld>
            <a:endParaRPr lang="en-US" altLang="zh-CN" sz="1200"/>
          </a:p>
        </p:txBody>
      </p:sp>
      <p:sp>
        <p:nvSpPr>
          <p:cNvPr id="3379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61C065E-9A36-4C55-9362-741C46D76355}" type="slidenum">
              <a:rPr lang="zh-CN" altLang="en-US" sz="1200"/>
              <a:pPr/>
              <a:t>1</a:t>
            </a:fld>
            <a:endParaRPr lang="en-US" altLang="zh-CN" sz="1200"/>
          </a:p>
        </p:txBody>
      </p:sp>
      <p:sp>
        <p:nvSpPr>
          <p:cNvPr id="33797" name="Rectangle 1026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8" name="Rectangle 1027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1200"/>
              <a:t>lec07-intermediatecg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7803B3E-6898-46C7-8387-727027B43398}" type="datetime4">
              <a:rPr lang="zh-CN" altLang="en-US" sz="1200"/>
              <a:pPr/>
              <a:t>2015年10月7日星期三</a:t>
            </a:fld>
            <a:endParaRPr lang="en-US" altLang="zh-CN" sz="1200"/>
          </a:p>
        </p:txBody>
      </p:sp>
      <p:sp>
        <p:nvSpPr>
          <p:cNvPr id="3482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FE2D52C-4206-42A5-8DE1-E8AD4EFC635C}" type="slidenum">
              <a:rPr lang="zh-CN" altLang="en-US" sz="1200"/>
              <a:pPr/>
              <a:t>21</a:t>
            </a:fld>
            <a:endParaRPr lang="en-US" altLang="zh-CN" sz="1200"/>
          </a:p>
        </p:txBody>
      </p:sp>
      <p:sp>
        <p:nvSpPr>
          <p:cNvPr id="34821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zh-CN" smtClean="0"/>
              <a:t>These productions allow a pointer to the symbol-table entry for the array name to be passed as a synthesized attribute array of Elist.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3D92586-CC50-49E7-B8B3-4E47A8A4098B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275697"/>
      </p:ext>
    </p:extLst>
  </p:cSld>
  <p:clrMapOvr>
    <a:masterClrMapping/>
  </p:clrMapOvr>
  <p:transition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3CE7797-57EB-45BB-9E94-2DDB5D1A846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39229714"/>
      </p:ext>
    </p:extLst>
  </p:cSld>
  <p:clrMapOvr>
    <a:masterClrMapping/>
  </p:clrMapOvr>
  <p:transition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645DD83-E402-48C6-98E7-4A9B921216A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15843044"/>
      </p:ext>
    </p:extLst>
  </p:cSld>
  <p:clrMapOvr>
    <a:masterClrMapping/>
  </p:clrMapOvr>
  <p:transition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219200"/>
            <a:ext cx="46101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3500" y="1219200"/>
            <a:ext cx="46101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31141-C7CB-4F07-AA5F-36003D738CDA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98957241"/>
      </p:ext>
    </p:extLst>
  </p:cSld>
  <p:clrMapOvr>
    <a:masterClrMapping/>
  </p:clrMapOvr>
  <p:transition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8F24944-31EE-4C17-877D-A101BD326A47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26726107"/>
      </p:ext>
    </p:extLst>
  </p:cSld>
  <p:clrMapOvr>
    <a:masterClrMapping/>
  </p:clrMapOvr>
  <p:transition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6CFFC7E-0970-457C-903F-9E9656E75BE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46646829"/>
      </p:ext>
    </p:extLst>
  </p:cSld>
  <p:clrMapOvr>
    <a:masterClrMapping/>
  </p:clrMapOvr>
  <p:transition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D8FF1A0-3E57-4CC6-85CC-B26F1AAF376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40013742"/>
      </p:ext>
    </p:extLst>
  </p:cSld>
  <p:clrMapOvr>
    <a:masterClrMapping/>
  </p:clrMapOvr>
  <p:transition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67BF1FE-140C-4F9B-A554-DC30EC7F1EB8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78107029"/>
      </p:ext>
    </p:extLst>
  </p:cSld>
  <p:clrMapOvr>
    <a:masterClrMapping/>
  </p:clrMapOvr>
  <p:transition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34A711F-760C-40BD-A22C-A73D35F56CFB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2618430"/>
      </p:ext>
    </p:extLst>
  </p:cSld>
  <p:clrMapOvr>
    <a:masterClrMapping/>
  </p:clrMapOvr>
  <p:transition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630C84F-4D8B-448D-9D73-7D381DEFC447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30423442"/>
      </p:ext>
    </p:extLst>
  </p:cSld>
  <p:clrMapOvr>
    <a:masterClrMapping/>
  </p:clrMapOvr>
  <p:transition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410450" y="152400"/>
            <a:ext cx="2343150" cy="61722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152400"/>
            <a:ext cx="6877050" cy="61722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EEC702-0AEC-4C99-B861-D5A02D6D832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26225897"/>
      </p:ext>
    </p:extLst>
  </p:cSld>
  <p:clrMapOvr>
    <a:masterClrMapping/>
  </p:clrMapOvr>
  <p:transition>
    <p:rand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9372600" cy="9144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81000" y="1219200"/>
            <a:ext cx="4610100" cy="51054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3500" y="1219200"/>
            <a:ext cx="4610100" cy="51054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EE6603D-456C-481D-A996-A385CF259CA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24074713"/>
      </p:ext>
    </p:extLst>
  </p:cSld>
  <p:clrMapOvr>
    <a:masterClrMapping/>
  </p:clrMapOvr>
  <p:transition>
    <p:rand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152400"/>
            <a:ext cx="93726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219200"/>
            <a:ext cx="9372600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81000" y="6477000"/>
            <a:ext cx="206375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800" smtClean="0">
                <a:ea typeface="宋体" pitchFamily="2" charset="-122"/>
              </a:defRPr>
            </a:lvl1pPr>
          </a:lstStyle>
          <a:p>
            <a:pPr>
              <a:defRPr/>
            </a:pPr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54350" y="6477000"/>
            <a:ext cx="371475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800" smtClean="0">
                <a:ea typeface="宋体" pitchFamily="2" charset="-122"/>
              </a:defRPr>
            </a:lvl1pPr>
          </a:lstStyle>
          <a:p>
            <a:pPr>
              <a:defRPr/>
            </a:pPr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000" y="6477000"/>
            <a:ext cx="206375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800">
                <a:ea typeface="宋体" panose="02010600030101010101" pitchFamily="2" charset="-122"/>
              </a:defRPr>
            </a:lvl1pPr>
          </a:lstStyle>
          <a:p>
            <a:fld id="{EC06E1BF-8E7F-4E65-BEFD-D8444D39F681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>
    <p:random/>
  </p:transition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&#34920;&#36798;&#24335;&#34920;&#31034;&#27861;&#65293;RTL.doc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&#32534;&#31243;&#27169;&#22411;&#31616;&#20171;.ppt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array.txt" TargetMode="Externa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205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205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48E7EB9-E705-4BDF-B172-1B846DF6E08E}" type="slidenum">
              <a:rPr lang="zh-CN" altLang="en-US" sz="800"/>
              <a:pPr/>
              <a:t>1</a:t>
            </a:fld>
            <a:endParaRPr lang="en-US" altLang="zh-CN" sz="800"/>
          </a:p>
        </p:txBody>
      </p:sp>
      <p:sp>
        <p:nvSpPr>
          <p:cNvPr id="20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Intermediate Code Generation (P.463)</a:t>
            </a:r>
          </a:p>
        </p:txBody>
      </p:sp>
      <p:sp>
        <p:nvSpPr>
          <p:cNvPr id="20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9144000" cy="2286000"/>
          </a:xfrm>
        </p:spPr>
        <p:txBody>
          <a:bodyPr/>
          <a:lstStyle/>
          <a:p>
            <a:r>
              <a:rPr lang="en-US" altLang="zh-CN" b="1" i="1" smtClean="0">
                <a:solidFill>
                  <a:srgbClr val="CC0000"/>
                </a:solidFill>
                <a:ea typeface="宋体" panose="02010600030101010101" pitchFamily="2" charset="-122"/>
                <a:hlinkClick r:id="rId3" action="ppaction://hlinkfile"/>
              </a:rPr>
              <a:t>Intermediate codes</a:t>
            </a:r>
            <a:r>
              <a:rPr lang="en-US" altLang="zh-CN" smtClean="0">
                <a:ea typeface="宋体" panose="02010600030101010101" pitchFamily="2" charset="-122"/>
                <a:hlinkClick r:id="rId3" action="ppaction://hlinkfile"/>
              </a:rPr>
              <a:t> </a:t>
            </a:r>
            <a:r>
              <a:rPr lang="en-US" altLang="zh-CN" smtClean="0">
                <a:ea typeface="宋体" panose="02010600030101010101" pitchFamily="2" charset="-122"/>
              </a:rPr>
              <a:t>are machine independent codes, but they are close  to machine instructions.</a:t>
            </a:r>
          </a:p>
          <a:p>
            <a:r>
              <a:rPr lang="en-US" altLang="zh-CN" smtClean="0">
                <a:ea typeface="宋体" panose="02010600030101010101" pitchFamily="2" charset="-122"/>
              </a:rPr>
              <a:t>The given program in a source language is converted to an      </a:t>
            </a:r>
            <a:r>
              <a:rPr lang="en-US" altLang="zh-CN" b="1" smtClean="0">
                <a:solidFill>
                  <a:srgbClr val="A50021"/>
                </a:solidFill>
                <a:ea typeface="宋体" panose="02010600030101010101" pitchFamily="2" charset="-122"/>
                <a:hlinkClick r:id="rId4" action="ppaction://hlinkpres?slideindex=1&amp;slidetitle="/>
              </a:rPr>
              <a:t>equivalent program</a:t>
            </a:r>
            <a:r>
              <a:rPr lang="en-US" altLang="zh-CN" smtClean="0">
                <a:ea typeface="宋体" panose="02010600030101010101" pitchFamily="2" charset="-122"/>
                <a:hlinkClick r:id="rId4" action="ppaction://hlinkpres?slideindex=1&amp;slidetitle="/>
              </a:rPr>
              <a:t> </a:t>
            </a:r>
            <a:r>
              <a:rPr lang="en-US" altLang="zh-CN" smtClean="0">
                <a:ea typeface="宋体" panose="02010600030101010101" pitchFamily="2" charset="-122"/>
              </a:rPr>
              <a:t>in an intermediate language by the intermediate code generator. </a:t>
            </a:r>
          </a:p>
        </p:txBody>
      </p:sp>
      <p:grpSp>
        <p:nvGrpSpPr>
          <p:cNvPr id="2055" name="Group 21"/>
          <p:cNvGrpSpPr>
            <a:grpSpLocks/>
          </p:cNvGrpSpPr>
          <p:nvPr/>
        </p:nvGrpSpPr>
        <p:grpSpPr bwMode="auto">
          <a:xfrm>
            <a:off x="228600" y="3489325"/>
            <a:ext cx="9372600" cy="2073275"/>
            <a:chOff x="144" y="2198"/>
            <a:chExt cx="5904" cy="1306"/>
          </a:xfrm>
        </p:grpSpPr>
        <p:sp>
          <p:nvSpPr>
            <p:cNvPr id="2056" name="Rectangle 4"/>
            <p:cNvSpPr>
              <a:spLocks noChangeArrowheads="1"/>
            </p:cNvSpPr>
            <p:nvPr/>
          </p:nvSpPr>
          <p:spPr bwMode="auto">
            <a:xfrm>
              <a:off x="720" y="3072"/>
              <a:ext cx="720" cy="43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parser</a:t>
              </a:r>
            </a:p>
          </p:txBody>
        </p:sp>
        <p:sp>
          <p:nvSpPr>
            <p:cNvPr id="2057" name="Rectangle 5"/>
            <p:cNvSpPr>
              <a:spLocks noChangeArrowheads="1"/>
            </p:cNvSpPr>
            <p:nvPr/>
          </p:nvSpPr>
          <p:spPr bwMode="auto">
            <a:xfrm>
              <a:off x="2784" y="3024"/>
              <a:ext cx="1296" cy="480"/>
            </a:xfrm>
            <a:prstGeom prst="rect">
              <a:avLst/>
            </a:prstGeom>
            <a:solidFill>
              <a:srgbClr val="00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Intermediate </a:t>
              </a:r>
            </a:p>
            <a:p>
              <a:pPr algn="ctr"/>
              <a:r>
                <a:rPr lang="en-US" altLang="zh-CN">
                  <a:ea typeface="宋体" panose="02010600030101010101" pitchFamily="2" charset="-122"/>
                </a:rPr>
                <a:t>code generator</a:t>
              </a:r>
            </a:p>
          </p:txBody>
        </p:sp>
        <p:sp>
          <p:nvSpPr>
            <p:cNvPr id="2058" name="Rectangle 6"/>
            <p:cNvSpPr>
              <a:spLocks noChangeArrowheads="1"/>
            </p:cNvSpPr>
            <p:nvPr/>
          </p:nvSpPr>
          <p:spPr bwMode="auto">
            <a:xfrm>
              <a:off x="1440" y="3072"/>
              <a:ext cx="912" cy="43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Type </a:t>
              </a:r>
            </a:p>
            <a:p>
              <a:pPr algn="ctr"/>
              <a:r>
                <a:rPr lang="en-US" altLang="zh-CN">
                  <a:ea typeface="宋体" panose="02010600030101010101" pitchFamily="2" charset="-122"/>
                </a:rPr>
                <a:t>checker</a:t>
              </a:r>
            </a:p>
          </p:txBody>
        </p:sp>
        <p:sp>
          <p:nvSpPr>
            <p:cNvPr id="2059" name="Rectangle 8"/>
            <p:cNvSpPr>
              <a:spLocks noChangeArrowheads="1"/>
            </p:cNvSpPr>
            <p:nvPr/>
          </p:nvSpPr>
          <p:spPr bwMode="auto">
            <a:xfrm>
              <a:off x="2304" y="3014"/>
              <a:ext cx="624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 sz="2000">
                  <a:ea typeface="宋体" panose="02010600030101010101" pitchFamily="2" charset="-122"/>
                </a:rPr>
                <a:t>Syntax tree</a:t>
              </a:r>
              <a:endParaRPr lang="zh-CN" altLang="en-US" sz="2000">
                <a:ea typeface="宋体" panose="02010600030101010101" pitchFamily="2" charset="-122"/>
              </a:endParaRPr>
            </a:p>
          </p:txBody>
        </p:sp>
        <p:sp>
          <p:nvSpPr>
            <p:cNvPr id="2060" name="Rectangle 9"/>
            <p:cNvSpPr>
              <a:spLocks noChangeArrowheads="1"/>
            </p:cNvSpPr>
            <p:nvPr/>
          </p:nvSpPr>
          <p:spPr bwMode="auto">
            <a:xfrm>
              <a:off x="144" y="3024"/>
              <a:ext cx="672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 sz="2000">
                  <a:ea typeface="宋体" panose="02010600030101010101" pitchFamily="2" charset="-122"/>
                </a:rPr>
                <a:t>Token stream</a:t>
              </a:r>
              <a:endParaRPr lang="zh-CN" altLang="en-US" sz="2000">
                <a:ea typeface="宋体" panose="02010600030101010101" pitchFamily="2" charset="-122"/>
              </a:endParaRPr>
            </a:p>
          </p:txBody>
        </p:sp>
        <p:sp>
          <p:nvSpPr>
            <p:cNvPr id="2061" name="Rectangle 10"/>
            <p:cNvSpPr>
              <a:spLocks noChangeArrowheads="1"/>
            </p:cNvSpPr>
            <p:nvPr/>
          </p:nvSpPr>
          <p:spPr bwMode="auto">
            <a:xfrm>
              <a:off x="4128" y="2976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IR</a:t>
              </a: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062" name="Line 11"/>
            <p:cNvSpPr>
              <a:spLocks noChangeShapeType="1"/>
            </p:cNvSpPr>
            <p:nvPr/>
          </p:nvSpPr>
          <p:spPr bwMode="auto">
            <a:xfrm>
              <a:off x="240" y="3264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3" name="Line 13"/>
            <p:cNvSpPr>
              <a:spLocks noChangeShapeType="1"/>
            </p:cNvSpPr>
            <p:nvPr/>
          </p:nvSpPr>
          <p:spPr bwMode="auto">
            <a:xfrm>
              <a:off x="2352" y="3264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4" name="Line 14"/>
            <p:cNvSpPr>
              <a:spLocks noChangeShapeType="1"/>
            </p:cNvSpPr>
            <p:nvPr/>
          </p:nvSpPr>
          <p:spPr bwMode="auto">
            <a:xfrm>
              <a:off x="4080" y="3216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5" name="Rectangle 15"/>
            <p:cNvSpPr>
              <a:spLocks noChangeArrowheads="1"/>
            </p:cNvSpPr>
            <p:nvPr/>
          </p:nvSpPr>
          <p:spPr bwMode="auto">
            <a:xfrm>
              <a:off x="4512" y="3014"/>
              <a:ext cx="1344" cy="43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Code generation</a:t>
              </a:r>
            </a:p>
          </p:txBody>
        </p:sp>
        <p:sp>
          <p:nvSpPr>
            <p:cNvPr id="2066" name="Line 16"/>
            <p:cNvSpPr>
              <a:spLocks noChangeShapeType="1"/>
            </p:cNvSpPr>
            <p:nvPr/>
          </p:nvSpPr>
          <p:spPr bwMode="auto">
            <a:xfrm>
              <a:off x="5856" y="3206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7" name="Rectangle 18"/>
            <p:cNvSpPr>
              <a:spLocks noChangeArrowheads="1"/>
            </p:cNvSpPr>
            <p:nvPr/>
          </p:nvSpPr>
          <p:spPr bwMode="auto">
            <a:xfrm>
              <a:off x="3312" y="2198"/>
              <a:ext cx="1776" cy="43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Run-time environment</a:t>
              </a:r>
            </a:p>
          </p:txBody>
        </p:sp>
        <p:sp>
          <p:nvSpPr>
            <p:cNvPr id="2068" name="Line 19"/>
            <p:cNvSpPr>
              <a:spLocks noChangeShapeType="1"/>
            </p:cNvSpPr>
            <p:nvPr/>
          </p:nvSpPr>
          <p:spPr bwMode="auto">
            <a:xfrm flipH="1">
              <a:off x="3408" y="2630"/>
              <a:ext cx="576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9" name="Line 20"/>
            <p:cNvSpPr>
              <a:spLocks noChangeShapeType="1"/>
            </p:cNvSpPr>
            <p:nvPr/>
          </p:nvSpPr>
          <p:spPr bwMode="auto">
            <a:xfrm>
              <a:off x="4368" y="2630"/>
              <a:ext cx="72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3075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307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584E1A3-2B66-4C06-8E88-2EB8AE741254}" type="slidenum">
              <a:rPr lang="zh-CN" altLang="en-US" sz="800"/>
              <a:pPr/>
              <a:t>2</a:t>
            </a:fld>
            <a:endParaRPr lang="en-US" altLang="zh-CN" sz="800"/>
          </a:p>
        </p:txBody>
      </p:sp>
      <p:sp>
        <p:nvSpPr>
          <p:cNvPr id="30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Intermediate language </a:t>
            </a:r>
            <a:endParaRPr lang="zh-CN" altLang="en-US" smtClean="0">
              <a:ea typeface="宋体" panose="02010600030101010101" pitchFamily="2" charset="-122"/>
            </a:endParaRPr>
          </a:p>
        </p:txBody>
      </p:sp>
      <p:sp>
        <p:nvSpPr>
          <p:cNvPr id="307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8991600" cy="5105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Intermediate language can be many different languages, and the designer of the compiler decides this intermediate language.</a:t>
            </a:r>
          </a:p>
          <a:p>
            <a:pPr lvl="1"/>
            <a:r>
              <a:rPr lang="en-US" altLang="zh-CN" sz="2000" smtClean="0">
                <a:ea typeface="宋体" panose="02010600030101010101" pitchFamily="2" charset="-122"/>
              </a:rPr>
              <a:t>syntax trees can be used as an intermediate language.</a:t>
            </a:r>
          </a:p>
          <a:p>
            <a:pPr lvl="1"/>
            <a:r>
              <a:rPr lang="en-US" altLang="zh-CN" sz="2000" smtClean="0">
                <a:ea typeface="宋体" panose="02010600030101010101" pitchFamily="2" charset="-122"/>
              </a:rPr>
              <a:t>postfix notation can be used as an intermediate language.</a:t>
            </a:r>
          </a:p>
          <a:p>
            <a:pPr lvl="1"/>
            <a:r>
              <a:rPr lang="en-US" altLang="zh-CN" sz="2000" smtClean="0">
                <a:ea typeface="宋体" panose="02010600030101010101" pitchFamily="2" charset="-122"/>
              </a:rPr>
              <a:t>three-address code (Quadraples) can be used as an intermediate language</a:t>
            </a:r>
          </a:p>
          <a:p>
            <a:pPr lvl="2"/>
            <a:r>
              <a:rPr lang="en-US" altLang="zh-CN" sz="1800" smtClean="0">
                <a:ea typeface="宋体" panose="02010600030101010101" pitchFamily="2" charset="-122"/>
              </a:rPr>
              <a:t>we will use quadraples to discuss intermediate code generation</a:t>
            </a:r>
          </a:p>
          <a:p>
            <a:pPr lvl="2"/>
            <a:r>
              <a:rPr lang="en-US" altLang="zh-CN" sz="1800" smtClean="0">
                <a:ea typeface="宋体" panose="02010600030101010101" pitchFamily="2" charset="-122"/>
              </a:rPr>
              <a:t>quadraples are close to machine instructions, but they are not actual machine instructions.</a:t>
            </a:r>
          </a:p>
          <a:p>
            <a:pPr lvl="1"/>
            <a:r>
              <a:rPr lang="en-US" altLang="zh-CN" sz="2000" smtClean="0">
                <a:ea typeface="宋体" panose="02010600030101010101" pitchFamily="2" charset="-122"/>
              </a:rPr>
              <a:t>some programming languages have well defined intermediate languages.</a:t>
            </a:r>
          </a:p>
          <a:p>
            <a:pPr lvl="2"/>
            <a:r>
              <a:rPr lang="en-US" altLang="zh-CN" sz="1800" smtClean="0">
                <a:ea typeface="宋体" panose="02010600030101010101" pitchFamily="2" charset="-122"/>
              </a:rPr>
              <a:t>java – java virtual machine</a:t>
            </a:r>
          </a:p>
          <a:p>
            <a:pPr lvl="2"/>
            <a:r>
              <a:rPr lang="en-US" altLang="zh-CN" sz="1800" smtClean="0">
                <a:ea typeface="宋体" panose="02010600030101010101" pitchFamily="2" charset="-122"/>
              </a:rPr>
              <a:t>prolog – warren abstract machine</a:t>
            </a:r>
          </a:p>
          <a:p>
            <a:pPr lvl="2"/>
            <a:r>
              <a:rPr lang="en-US" altLang="zh-CN" sz="1800" smtClean="0">
                <a:ea typeface="宋体" panose="02010600030101010101" pitchFamily="2" charset="-122"/>
              </a:rPr>
              <a:t>In fact, there are byte-code emulators to execute instructions in these intermediate languages.</a:t>
            </a:r>
            <a:endParaRPr lang="zh-CN" altLang="en-US" sz="1800" smtClean="0">
              <a:ea typeface="宋体" panose="02010600030101010101" pitchFamily="2" charset="-122"/>
            </a:endParaRPr>
          </a:p>
          <a:p>
            <a:endParaRPr lang="zh-CN" altLang="en-US" sz="1800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4099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410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7E76B5E-C8D5-40EC-90E9-5188045D91F4}" type="slidenum">
              <a:rPr lang="zh-CN" altLang="en-US" sz="800"/>
              <a:pPr/>
              <a:t>3</a:t>
            </a:fld>
            <a:endParaRPr lang="en-US" altLang="zh-CN" sz="800"/>
          </a:p>
        </p:txBody>
      </p:sp>
      <p:sp>
        <p:nvSpPr>
          <p:cNvPr id="41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Three-Address Code (Quadraples) (P.466)</a:t>
            </a:r>
          </a:p>
        </p:txBody>
      </p:sp>
      <p:sp>
        <p:nvSpPr>
          <p:cNvPr id="410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A quadraple is:</a:t>
            </a: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		</a:t>
            </a:r>
            <a:r>
              <a:rPr lang="en-US" altLang="zh-CN" smtClean="0">
                <a:latin typeface="Courier New" panose="02070309020205020404" pitchFamily="49" charset="0"/>
                <a:ea typeface="宋体" panose="02010600030101010101" pitchFamily="2" charset="-122"/>
              </a:rPr>
              <a:t>x </a:t>
            </a:r>
            <a:r>
              <a:rPr lang="en-US" altLang="zh-CN" b="1" smtClean="0">
                <a:latin typeface="Courier New" panose="02070309020205020404" pitchFamily="49" charset="0"/>
                <a:ea typeface="宋体" panose="02010600030101010101" pitchFamily="2" charset="-122"/>
              </a:rPr>
              <a:t>:=</a:t>
            </a:r>
            <a:r>
              <a:rPr lang="en-US" altLang="zh-CN" smtClean="0">
                <a:latin typeface="Courier New" panose="02070309020205020404" pitchFamily="49" charset="0"/>
                <a:ea typeface="宋体" panose="02010600030101010101" pitchFamily="2" charset="-122"/>
              </a:rPr>
              <a:t> y </a:t>
            </a:r>
            <a:r>
              <a:rPr lang="en-US" altLang="zh-CN" b="1" i="1" smtClean="0">
                <a:latin typeface="Courier New" panose="02070309020205020404" pitchFamily="49" charset="0"/>
                <a:ea typeface="宋体" panose="02010600030101010101" pitchFamily="2" charset="-122"/>
              </a:rPr>
              <a:t>op</a:t>
            </a:r>
            <a:r>
              <a:rPr lang="en-US" altLang="zh-CN" smtClean="0">
                <a:latin typeface="Courier New" panose="02070309020205020404" pitchFamily="49" charset="0"/>
                <a:ea typeface="宋体" panose="02010600030101010101" pitchFamily="2" charset="-122"/>
              </a:rPr>
              <a:t> z</a:t>
            </a: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	where x, y and z are names, constants or compiler-generated temporaries;  </a:t>
            </a:r>
            <a:r>
              <a:rPr lang="en-US" altLang="zh-CN" b="1" smtClean="0">
                <a:latin typeface="Courier New" panose="02070309020205020404" pitchFamily="49" charset="0"/>
                <a:ea typeface="宋体" panose="02010600030101010101" pitchFamily="2" charset="-122"/>
              </a:rPr>
              <a:t>op</a:t>
            </a:r>
            <a:r>
              <a:rPr lang="en-US" altLang="zh-CN" smtClean="0">
                <a:ea typeface="宋体" panose="02010600030101010101" pitchFamily="2" charset="-122"/>
              </a:rPr>
              <a:t> is any operator.</a:t>
            </a:r>
          </a:p>
          <a:p>
            <a:pPr>
              <a:buFontTx/>
              <a:buNone/>
            </a:pPr>
            <a:endParaRPr lang="en-US" altLang="zh-CN" smtClean="0">
              <a:ea typeface="宋体" panose="02010600030101010101" pitchFamily="2" charset="-122"/>
            </a:endParaRPr>
          </a:p>
          <a:p>
            <a:r>
              <a:rPr lang="en-US" altLang="zh-CN" smtClean="0">
                <a:ea typeface="宋体" panose="02010600030101010101" pitchFamily="2" charset="-122"/>
              </a:rPr>
              <a:t>But we may also the following notation for quadraples (much better notation because it looks like a machine code instruction)</a:t>
            </a: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		</a:t>
            </a:r>
            <a:r>
              <a:rPr lang="en-US" altLang="zh-CN" smtClean="0">
                <a:latin typeface="Courier New" panose="02070309020205020404" pitchFamily="49" charset="0"/>
                <a:ea typeface="宋体" panose="02010600030101010101" pitchFamily="2" charset="-122"/>
              </a:rPr>
              <a:t>op  x,y,z</a:t>
            </a: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	apply operator </a:t>
            </a:r>
            <a:r>
              <a:rPr lang="en-US" altLang="zh-CN" smtClean="0">
                <a:latin typeface="Courier New" panose="02070309020205020404" pitchFamily="49" charset="0"/>
                <a:ea typeface="宋体" panose="02010600030101010101" pitchFamily="2" charset="-122"/>
              </a:rPr>
              <a:t>op</a:t>
            </a:r>
            <a:r>
              <a:rPr lang="en-US" altLang="zh-CN" smtClean="0">
                <a:ea typeface="宋体" panose="02010600030101010101" pitchFamily="2" charset="-122"/>
              </a:rPr>
              <a:t> to </a:t>
            </a:r>
            <a:r>
              <a:rPr lang="en-US" altLang="zh-CN" smtClean="0">
                <a:latin typeface="Courier New" panose="02070309020205020404" pitchFamily="49" charset="0"/>
                <a:ea typeface="宋体" panose="02010600030101010101" pitchFamily="2" charset="-122"/>
              </a:rPr>
              <a:t>y</a:t>
            </a:r>
            <a:r>
              <a:rPr lang="en-US" altLang="zh-CN" smtClean="0">
                <a:ea typeface="宋体" panose="02010600030101010101" pitchFamily="2" charset="-122"/>
              </a:rPr>
              <a:t> and </a:t>
            </a:r>
            <a:r>
              <a:rPr lang="en-US" altLang="zh-CN" smtClean="0">
                <a:latin typeface="Courier New" panose="02070309020205020404" pitchFamily="49" charset="0"/>
                <a:ea typeface="宋体" panose="02010600030101010101" pitchFamily="2" charset="-122"/>
              </a:rPr>
              <a:t>z</a:t>
            </a:r>
            <a:r>
              <a:rPr lang="en-US" altLang="zh-CN" smtClean="0">
                <a:ea typeface="宋体" panose="02010600030101010101" pitchFamily="2" charset="-122"/>
              </a:rPr>
              <a:t>, and store the result in </a:t>
            </a:r>
            <a:r>
              <a:rPr lang="en-US" altLang="zh-CN" smtClean="0">
                <a:latin typeface="Courier New" panose="02070309020205020404" pitchFamily="49" charset="0"/>
                <a:ea typeface="宋体" panose="02010600030101010101" pitchFamily="2" charset="-122"/>
              </a:rPr>
              <a:t>x</a:t>
            </a:r>
            <a:r>
              <a:rPr lang="en-US" altLang="zh-CN" smtClean="0">
                <a:ea typeface="宋体" panose="02010600030101010101" pitchFamily="2" charset="-122"/>
              </a:rPr>
              <a:t>.</a:t>
            </a:r>
          </a:p>
          <a:p>
            <a:pPr>
              <a:buFontTx/>
              <a:buNone/>
            </a:pPr>
            <a:endParaRPr lang="en-US" altLang="zh-CN" smtClean="0">
              <a:ea typeface="宋体" panose="02010600030101010101" pitchFamily="2" charset="-122"/>
            </a:endParaRPr>
          </a:p>
          <a:p>
            <a:r>
              <a:rPr lang="en-US" altLang="zh-CN" smtClean="0">
                <a:ea typeface="宋体" panose="02010600030101010101" pitchFamily="2" charset="-122"/>
              </a:rPr>
              <a:t>We use the term “three-address code” because each statement usually contains three addresses (two for operands, one for the result).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512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512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3A75F73-485E-4781-AE4C-6ECD3AE69C4A}" type="slidenum">
              <a:rPr lang="zh-CN" altLang="en-US" sz="800"/>
              <a:pPr/>
              <a:t>4</a:t>
            </a:fld>
            <a:endParaRPr lang="en-US" altLang="zh-CN" sz="800"/>
          </a:p>
        </p:txBody>
      </p:sp>
      <p:sp>
        <p:nvSpPr>
          <p:cNvPr id="51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Three-Address Statements (P.467)</a:t>
            </a:r>
          </a:p>
        </p:txBody>
      </p:sp>
      <p:sp>
        <p:nvSpPr>
          <p:cNvPr id="512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zh-CN" b="1" i="1" smtClean="0">
                <a:ea typeface="宋体" panose="02010600030101010101" pitchFamily="2" charset="-122"/>
              </a:rPr>
              <a:t>Binary Operator:</a:t>
            </a:r>
            <a:r>
              <a:rPr lang="en-US" altLang="zh-CN" smtClean="0">
                <a:ea typeface="宋体" panose="02010600030101010101" pitchFamily="2" charset="-122"/>
              </a:rPr>
              <a:t> 	</a:t>
            </a:r>
            <a:r>
              <a:rPr lang="en-US" altLang="zh-CN" smtClean="0">
                <a:latin typeface="Courier New" panose="02070309020205020404" pitchFamily="49" charset="0"/>
                <a:ea typeface="宋体" panose="02010600030101010101" pitchFamily="2" charset="-122"/>
              </a:rPr>
              <a:t>op result,y,z</a:t>
            </a:r>
            <a:r>
              <a:rPr lang="en-US" altLang="zh-CN" smtClean="0">
                <a:ea typeface="宋体" panose="02010600030101010101" pitchFamily="2" charset="-122"/>
              </a:rPr>
              <a:t>   or   </a:t>
            </a:r>
            <a:r>
              <a:rPr lang="en-US" altLang="zh-CN" smtClean="0">
                <a:latin typeface="Courier New" panose="02070309020205020404" pitchFamily="49" charset="0"/>
                <a:ea typeface="宋体" panose="02010600030101010101" pitchFamily="2" charset="-122"/>
              </a:rPr>
              <a:t>result := y op z</a:t>
            </a:r>
          </a:p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</a:rPr>
              <a:t>	where </a:t>
            </a:r>
            <a:r>
              <a:rPr lang="en-US" altLang="zh-CN" sz="2000" smtClean="0">
                <a:latin typeface="Courier New" panose="02070309020205020404" pitchFamily="49" charset="0"/>
                <a:ea typeface="宋体" panose="02010600030101010101" pitchFamily="2" charset="-122"/>
              </a:rPr>
              <a:t>op</a:t>
            </a:r>
            <a:r>
              <a:rPr lang="en-US" altLang="zh-CN" sz="2000" smtClean="0">
                <a:ea typeface="宋体" panose="02010600030101010101" pitchFamily="2" charset="-122"/>
              </a:rPr>
              <a:t> is a binary arithmetic or logical operator. This binary operator is applied to </a:t>
            </a:r>
            <a:r>
              <a:rPr lang="en-US" altLang="zh-CN" sz="2000" smtClean="0">
                <a:latin typeface="Courier New" panose="02070309020205020404" pitchFamily="49" charset="0"/>
                <a:ea typeface="宋体" panose="02010600030101010101" pitchFamily="2" charset="-122"/>
              </a:rPr>
              <a:t>y</a:t>
            </a:r>
            <a:r>
              <a:rPr lang="en-US" altLang="zh-CN" sz="2000" smtClean="0">
                <a:ea typeface="宋体" panose="02010600030101010101" pitchFamily="2" charset="-122"/>
              </a:rPr>
              <a:t> and </a:t>
            </a:r>
            <a:r>
              <a:rPr lang="en-US" altLang="zh-CN" sz="2000" smtClean="0">
                <a:latin typeface="Courier New" panose="02070309020205020404" pitchFamily="49" charset="0"/>
                <a:ea typeface="宋体" panose="02010600030101010101" pitchFamily="2" charset="-122"/>
              </a:rPr>
              <a:t>z</a:t>
            </a:r>
            <a:r>
              <a:rPr lang="en-US" altLang="zh-CN" sz="2000" smtClean="0">
                <a:ea typeface="宋体" panose="02010600030101010101" pitchFamily="2" charset="-122"/>
              </a:rPr>
              <a:t>, and the result of the operation is stored in </a:t>
            </a:r>
            <a:r>
              <a:rPr lang="en-US" altLang="zh-CN" sz="2000" smtClean="0">
                <a:latin typeface="Courier New" panose="02070309020205020404" pitchFamily="49" charset="0"/>
                <a:ea typeface="宋体" panose="02010600030101010101" pitchFamily="2" charset="-122"/>
              </a:rPr>
              <a:t>result</a:t>
            </a:r>
            <a:r>
              <a:rPr lang="en-US" altLang="zh-CN" sz="2000" smtClean="0">
                <a:ea typeface="宋体" panose="02010600030101010101" pitchFamily="2" charset="-122"/>
              </a:rPr>
              <a:t>.</a:t>
            </a:r>
          </a:p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</a:rPr>
              <a:t>	Ex:		</a:t>
            </a:r>
            <a:r>
              <a:rPr lang="en-US" altLang="zh-CN" sz="2000" smtClean="0">
                <a:latin typeface="Courier New" panose="02070309020205020404" pitchFamily="49" charset="0"/>
                <a:ea typeface="宋体" panose="02010600030101010101" pitchFamily="2" charset="-122"/>
              </a:rPr>
              <a:t>add  a,b,c		</a:t>
            </a:r>
          </a:p>
          <a:p>
            <a:pPr>
              <a:buFontTx/>
              <a:buNone/>
            </a:pPr>
            <a:r>
              <a:rPr lang="en-US" altLang="zh-CN" sz="2000" smtClean="0">
                <a:latin typeface="Courier New" panose="02070309020205020404" pitchFamily="49" charset="0"/>
                <a:ea typeface="宋体" panose="02010600030101010101" pitchFamily="2" charset="-122"/>
              </a:rPr>
              <a:t>			addi a,b,c</a:t>
            </a:r>
          </a:p>
          <a:p>
            <a:pPr>
              <a:buFontTx/>
              <a:buNone/>
            </a:pPr>
            <a:r>
              <a:rPr lang="zh-CN" altLang="en-US" sz="2000" smtClean="0">
                <a:latin typeface="Courier New" panose="02070309020205020404" pitchFamily="49" charset="0"/>
                <a:ea typeface="宋体" panose="02010600030101010101" pitchFamily="2" charset="-122"/>
              </a:rPr>
              <a:t>			</a:t>
            </a:r>
            <a:r>
              <a:rPr lang="en-US" altLang="zh-CN" sz="2000" smtClean="0">
                <a:latin typeface="Courier New" panose="02070309020205020404" pitchFamily="49" charset="0"/>
                <a:ea typeface="宋体" panose="02010600030101010101" pitchFamily="2" charset="-122"/>
              </a:rPr>
              <a:t>gt   a,b,c</a:t>
            </a:r>
          </a:p>
          <a:p>
            <a:pPr>
              <a:buFontTx/>
              <a:buNone/>
            </a:pPr>
            <a:endParaRPr lang="en-US" altLang="zh-CN" sz="2000" smtClean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b="1" i="1" smtClean="0">
                <a:ea typeface="宋体" panose="02010600030101010101" pitchFamily="2" charset="-122"/>
              </a:rPr>
              <a:t>Unary Operator:</a:t>
            </a:r>
            <a:r>
              <a:rPr lang="en-US" altLang="zh-CN" smtClean="0">
                <a:ea typeface="宋体" panose="02010600030101010101" pitchFamily="2" charset="-122"/>
              </a:rPr>
              <a:t> 	</a:t>
            </a:r>
            <a:r>
              <a:rPr lang="en-US" altLang="zh-CN" smtClean="0">
                <a:latin typeface="Courier New" panose="02070309020205020404" pitchFamily="49" charset="0"/>
                <a:ea typeface="宋体" panose="02010600030101010101" pitchFamily="2" charset="-122"/>
              </a:rPr>
              <a:t>op result,,y</a:t>
            </a:r>
            <a:r>
              <a:rPr lang="en-US" altLang="zh-CN" smtClean="0">
                <a:ea typeface="宋体" panose="02010600030101010101" pitchFamily="2" charset="-122"/>
              </a:rPr>
              <a:t>   or   </a:t>
            </a:r>
            <a:r>
              <a:rPr lang="en-US" altLang="zh-CN" smtClean="0">
                <a:latin typeface="Courier New" panose="02070309020205020404" pitchFamily="49" charset="0"/>
                <a:ea typeface="宋体" panose="02010600030101010101" pitchFamily="2" charset="-122"/>
              </a:rPr>
              <a:t>result := op y</a:t>
            </a:r>
            <a:endParaRPr lang="en-US" altLang="zh-CN" smtClean="0"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</a:rPr>
              <a:t>	where </a:t>
            </a:r>
            <a:r>
              <a:rPr lang="en-US" altLang="zh-CN" sz="2000" smtClean="0">
                <a:latin typeface="Courier New" panose="02070309020205020404" pitchFamily="49" charset="0"/>
                <a:ea typeface="宋体" panose="02010600030101010101" pitchFamily="2" charset="-122"/>
              </a:rPr>
              <a:t>op</a:t>
            </a:r>
            <a:r>
              <a:rPr lang="en-US" altLang="zh-CN" sz="2000" smtClean="0">
                <a:ea typeface="宋体" panose="02010600030101010101" pitchFamily="2" charset="-122"/>
              </a:rPr>
              <a:t> is a unary arithmetic or logical operator. This unary operator is applied to </a:t>
            </a:r>
            <a:r>
              <a:rPr lang="en-US" altLang="zh-CN" sz="2000" smtClean="0">
                <a:latin typeface="Courier New" panose="02070309020205020404" pitchFamily="49" charset="0"/>
                <a:ea typeface="宋体" panose="02010600030101010101" pitchFamily="2" charset="-122"/>
              </a:rPr>
              <a:t>y</a:t>
            </a:r>
            <a:r>
              <a:rPr lang="en-US" altLang="zh-CN" sz="2000" smtClean="0">
                <a:ea typeface="宋体" panose="02010600030101010101" pitchFamily="2" charset="-122"/>
              </a:rPr>
              <a:t>, and the result of the operation is stored in </a:t>
            </a:r>
            <a:r>
              <a:rPr lang="en-US" altLang="zh-CN" sz="2000" smtClean="0">
                <a:latin typeface="Courier New" panose="02070309020205020404" pitchFamily="49" charset="0"/>
                <a:ea typeface="宋体" panose="02010600030101010101" pitchFamily="2" charset="-122"/>
              </a:rPr>
              <a:t>result</a:t>
            </a:r>
            <a:r>
              <a:rPr lang="en-US" altLang="zh-CN" sz="2000" smtClean="0">
                <a:ea typeface="宋体" panose="02010600030101010101" pitchFamily="2" charset="-122"/>
              </a:rPr>
              <a:t>.</a:t>
            </a:r>
          </a:p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</a:rPr>
              <a:t>	Ex:		</a:t>
            </a:r>
            <a:r>
              <a:rPr lang="en-US" altLang="zh-CN" sz="2000" smtClean="0">
                <a:latin typeface="Courier New" panose="02070309020205020404" pitchFamily="49" charset="0"/>
                <a:ea typeface="宋体" panose="02010600030101010101" pitchFamily="2" charset="-122"/>
              </a:rPr>
              <a:t>uminus    a,,c</a:t>
            </a:r>
          </a:p>
          <a:p>
            <a:pPr>
              <a:buFontTx/>
              <a:buNone/>
            </a:pPr>
            <a:r>
              <a:rPr lang="en-US" altLang="zh-CN" sz="2000" smtClean="0">
                <a:latin typeface="Courier New" panose="02070309020205020404" pitchFamily="49" charset="0"/>
                <a:ea typeface="宋体" panose="02010600030101010101" pitchFamily="2" charset="-122"/>
              </a:rPr>
              <a:t>			not       a,,c</a:t>
            </a:r>
          </a:p>
          <a:p>
            <a:pPr>
              <a:buFontTx/>
              <a:buNone/>
            </a:pPr>
            <a:r>
              <a:rPr lang="en-US" altLang="zh-CN" sz="2000" smtClean="0">
                <a:latin typeface="Courier New" panose="02070309020205020404" pitchFamily="49" charset="0"/>
                <a:ea typeface="宋体" panose="02010600030101010101" pitchFamily="2" charset="-122"/>
              </a:rPr>
              <a:t>			inttoreal a,,c		</a:t>
            </a:r>
          </a:p>
          <a:p>
            <a:pPr>
              <a:buFontTx/>
              <a:buNone/>
            </a:pPr>
            <a:endParaRPr lang="en-US" altLang="zh-CN" sz="2000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614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614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2BC1D0C-5D97-42F3-9638-3645E812DE65}" type="slidenum">
              <a:rPr lang="zh-CN" altLang="en-US" sz="800"/>
              <a:pPr/>
              <a:t>5</a:t>
            </a:fld>
            <a:endParaRPr lang="en-US" altLang="zh-CN" sz="800"/>
          </a:p>
        </p:txBody>
      </p:sp>
      <p:sp>
        <p:nvSpPr>
          <p:cNvPr id="61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Three-Address Statements (cont.)</a:t>
            </a:r>
          </a:p>
        </p:txBody>
      </p:sp>
      <p:sp>
        <p:nvSpPr>
          <p:cNvPr id="615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zh-CN" b="1" i="1" smtClean="0">
                <a:ea typeface="宋体" panose="02010600030101010101" pitchFamily="2" charset="-122"/>
              </a:rPr>
              <a:t>Move Operator:</a:t>
            </a:r>
            <a:r>
              <a:rPr lang="en-US" altLang="zh-CN" smtClean="0">
                <a:ea typeface="宋体" panose="02010600030101010101" pitchFamily="2" charset="-122"/>
              </a:rPr>
              <a:t> 	</a:t>
            </a:r>
            <a:r>
              <a:rPr lang="en-US" altLang="zh-CN" smtClean="0">
                <a:latin typeface="Courier New" panose="02070309020205020404" pitchFamily="49" charset="0"/>
                <a:ea typeface="宋体" panose="02010600030101010101" pitchFamily="2" charset="-122"/>
              </a:rPr>
              <a:t>mov result,,y</a:t>
            </a:r>
            <a:r>
              <a:rPr lang="en-US" altLang="zh-CN" smtClean="0">
                <a:ea typeface="宋体" panose="02010600030101010101" pitchFamily="2" charset="-122"/>
              </a:rPr>
              <a:t>  or   </a:t>
            </a:r>
            <a:r>
              <a:rPr lang="en-US" altLang="zh-CN" smtClean="0">
                <a:latin typeface="Courier New" panose="02070309020205020404" pitchFamily="49" charset="0"/>
                <a:ea typeface="宋体" panose="02010600030101010101" pitchFamily="2" charset="-122"/>
              </a:rPr>
              <a:t>result := y</a:t>
            </a:r>
          </a:p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</a:rPr>
              <a:t>	where the content of </a:t>
            </a:r>
            <a:r>
              <a:rPr lang="en-US" altLang="zh-CN" sz="2000" smtClean="0">
                <a:latin typeface="Courier New" panose="02070309020205020404" pitchFamily="49" charset="0"/>
                <a:ea typeface="宋体" panose="02010600030101010101" pitchFamily="2" charset="-122"/>
              </a:rPr>
              <a:t>y</a:t>
            </a:r>
            <a:r>
              <a:rPr lang="en-US" altLang="zh-CN" sz="2000" smtClean="0">
                <a:ea typeface="宋体" panose="02010600030101010101" pitchFamily="2" charset="-122"/>
              </a:rPr>
              <a:t> is copied into </a:t>
            </a:r>
            <a:r>
              <a:rPr lang="en-US" altLang="zh-CN" sz="2000" smtClean="0">
                <a:latin typeface="Courier New" panose="02070309020205020404" pitchFamily="49" charset="0"/>
                <a:ea typeface="宋体" panose="02010600030101010101" pitchFamily="2" charset="-122"/>
              </a:rPr>
              <a:t>result</a:t>
            </a:r>
            <a:r>
              <a:rPr lang="en-US" altLang="zh-CN" sz="2000" smtClean="0">
                <a:ea typeface="宋体" panose="02010600030101010101" pitchFamily="2" charset="-122"/>
              </a:rPr>
              <a:t>.</a:t>
            </a:r>
          </a:p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</a:rPr>
              <a:t>	Ex:		</a:t>
            </a:r>
            <a:r>
              <a:rPr lang="en-US" altLang="zh-CN" sz="2000" smtClean="0">
                <a:latin typeface="Courier New" panose="02070309020205020404" pitchFamily="49" charset="0"/>
                <a:ea typeface="宋体" panose="02010600030101010101" pitchFamily="2" charset="-122"/>
              </a:rPr>
              <a:t>mov   a,,c</a:t>
            </a:r>
          </a:p>
          <a:p>
            <a:pPr>
              <a:buFontTx/>
              <a:buNone/>
            </a:pPr>
            <a:r>
              <a:rPr lang="en-US" altLang="zh-CN" sz="2000" smtClean="0">
                <a:latin typeface="Courier New" panose="02070309020205020404" pitchFamily="49" charset="0"/>
                <a:ea typeface="宋体" panose="02010600030101010101" pitchFamily="2" charset="-122"/>
              </a:rPr>
              <a:t>			movi  a,,c</a:t>
            </a:r>
          </a:p>
          <a:p>
            <a:pPr>
              <a:buFontTx/>
              <a:buNone/>
            </a:pPr>
            <a:r>
              <a:rPr lang="en-US" altLang="zh-CN" sz="2000" smtClean="0">
                <a:latin typeface="Courier New" panose="02070309020205020404" pitchFamily="49" charset="0"/>
                <a:ea typeface="宋体" panose="02010600030101010101" pitchFamily="2" charset="-122"/>
              </a:rPr>
              <a:t>			movr  a,,c</a:t>
            </a:r>
          </a:p>
          <a:p>
            <a:pPr>
              <a:buFontTx/>
              <a:buNone/>
            </a:pPr>
            <a:endParaRPr lang="en-US" altLang="zh-CN" sz="2000" smtClean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b="1" i="1" smtClean="0">
                <a:ea typeface="宋体" panose="02010600030101010101" pitchFamily="2" charset="-122"/>
              </a:rPr>
              <a:t>Unconditional Jumps:</a:t>
            </a:r>
            <a:r>
              <a:rPr lang="en-US" altLang="zh-CN" smtClean="0">
                <a:ea typeface="宋体" panose="02010600030101010101" pitchFamily="2" charset="-122"/>
              </a:rPr>
              <a:t>  </a:t>
            </a:r>
            <a:r>
              <a:rPr lang="en-US" altLang="zh-CN" smtClean="0">
                <a:latin typeface="Courier New" panose="02070309020205020404" pitchFamily="49" charset="0"/>
                <a:ea typeface="宋体" panose="02010600030101010101" pitchFamily="2" charset="-122"/>
              </a:rPr>
              <a:t>jmp ,,L</a:t>
            </a:r>
            <a:r>
              <a:rPr lang="en-US" altLang="zh-CN" smtClean="0">
                <a:ea typeface="宋体" panose="02010600030101010101" pitchFamily="2" charset="-122"/>
              </a:rPr>
              <a:t>   or   </a:t>
            </a:r>
            <a:r>
              <a:rPr lang="en-US" altLang="zh-CN" smtClean="0">
                <a:latin typeface="Courier New" panose="02070309020205020404" pitchFamily="49" charset="0"/>
                <a:ea typeface="宋体" panose="02010600030101010101" pitchFamily="2" charset="-122"/>
              </a:rPr>
              <a:t>goto L</a:t>
            </a:r>
          </a:p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</a:rPr>
              <a:t>	We will jump to the three-address code with the label </a:t>
            </a:r>
            <a:r>
              <a:rPr lang="en-US" altLang="zh-CN" sz="2000" smtClean="0">
                <a:latin typeface="Courier New" panose="02070309020205020404" pitchFamily="49" charset="0"/>
                <a:ea typeface="宋体" panose="02010600030101010101" pitchFamily="2" charset="-122"/>
              </a:rPr>
              <a:t>L</a:t>
            </a:r>
            <a:r>
              <a:rPr lang="en-US" altLang="zh-CN" sz="2000" smtClean="0">
                <a:ea typeface="宋体" panose="02010600030101010101" pitchFamily="2" charset="-122"/>
              </a:rPr>
              <a:t>, and the execution continues from that statement.</a:t>
            </a:r>
          </a:p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</a:rPr>
              <a:t>	Ex:		</a:t>
            </a:r>
            <a:r>
              <a:rPr lang="en-US" altLang="zh-CN" sz="2000" smtClean="0">
                <a:latin typeface="Courier New" panose="02070309020205020404" pitchFamily="49" charset="0"/>
                <a:ea typeface="宋体" panose="02010600030101010101" pitchFamily="2" charset="-122"/>
              </a:rPr>
              <a:t>jmp  ,,L1	</a:t>
            </a:r>
            <a:r>
              <a:rPr lang="en-US" altLang="zh-CN" sz="2000" smtClean="0">
                <a:ea typeface="宋体" panose="02010600030101010101" pitchFamily="2" charset="-122"/>
              </a:rPr>
              <a:t>// jump to L1</a:t>
            </a:r>
          </a:p>
          <a:p>
            <a:pPr>
              <a:buFontTx/>
              <a:buNone/>
            </a:pPr>
            <a:r>
              <a:rPr lang="en-US" altLang="zh-CN" sz="2000" smtClean="0">
                <a:latin typeface="Courier New" panose="02070309020205020404" pitchFamily="49" charset="0"/>
                <a:ea typeface="宋体" panose="02010600030101010101" pitchFamily="2" charset="-122"/>
              </a:rPr>
              <a:t>			jmp  ,,7 	</a:t>
            </a:r>
            <a:r>
              <a:rPr lang="en-US" altLang="zh-CN" sz="2000" smtClean="0">
                <a:ea typeface="宋体" panose="02010600030101010101" pitchFamily="2" charset="-122"/>
              </a:rPr>
              <a:t>// jump to the statement 7</a:t>
            </a:r>
            <a:r>
              <a:rPr lang="en-US" altLang="zh-CN" sz="2000" smtClean="0">
                <a:latin typeface="Courier New" panose="02070309020205020404" pitchFamily="49" charset="0"/>
                <a:ea typeface="宋体" panose="02010600030101010101" pitchFamily="2" charset="-122"/>
              </a:rPr>
              <a:t>	</a:t>
            </a:r>
          </a:p>
          <a:p>
            <a:pPr>
              <a:buFontTx/>
              <a:buNone/>
            </a:pPr>
            <a:endParaRPr lang="en-US" altLang="zh-CN" sz="2000" smtClean="0">
              <a:latin typeface="Courier New" panose="02070309020205020404" pitchFamily="49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717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717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864504D-B5B1-4A9D-A7DD-EE21C084BE3E}" type="slidenum">
              <a:rPr lang="zh-CN" altLang="en-US" sz="800"/>
              <a:pPr/>
              <a:t>6</a:t>
            </a:fld>
            <a:endParaRPr lang="en-US" altLang="zh-CN" sz="800"/>
          </a:p>
        </p:txBody>
      </p:sp>
      <p:sp>
        <p:nvSpPr>
          <p:cNvPr id="71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Three-Address Statements (cont.)</a:t>
            </a:r>
          </a:p>
        </p:txBody>
      </p:sp>
      <p:sp>
        <p:nvSpPr>
          <p:cNvPr id="71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991600" cy="5105400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zh-CN" b="1" i="1" smtClean="0">
                <a:ea typeface="宋体" panose="02010600030101010101" pitchFamily="2" charset="-122"/>
              </a:rPr>
              <a:t>Conditional Jumps:</a:t>
            </a:r>
            <a:r>
              <a:rPr lang="en-US" altLang="zh-CN" smtClean="0">
                <a:ea typeface="宋体" panose="02010600030101010101" pitchFamily="2" charset="-122"/>
              </a:rPr>
              <a:t>  </a:t>
            </a:r>
            <a:r>
              <a:rPr lang="en-US" altLang="zh-CN" smtClean="0">
                <a:latin typeface="Courier New" panose="02070309020205020404" pitchFamily="49" charset="0"/>
                <a:ea typeface="宋体" panose="02010600030101010101" pitchFamily="2" charset="-122"/>
              </a:rPr>
              <a:t>jmp</a:t>
            </a:r>
            <a:r>
              <a:rPr lang="en-US" altLang="zh-CN" b="1" i="1" smtClean="0">
                <a:latin typeface="Courier New" panose="02070309020205020404" pitchFamily="49" charset="0"/>
                <a:ea typeface="宋体" panose="02010600030101010101" pitchFamily="2" charset="-122"/>
              </a:rPr>
              <a:t>relop</a:t>
            </a:r>
            <a:r>
              <a:rPr lang="en-US" altLang="zh-CN" smtClean="0">
                <a:latin typeface="Courier New" panose="02070309020205020404" pitchFamily="49" charset="0"/>
                <a:ea typeface="宋体" panose="02010600030101010101" pitchFamily="2" charset="-122"/>
              </a:rPr>
              <a:t> y,z,L</a:t>
            </a:r>
            <a:r>
              <a:rPr lang="en-US" altLang="zh-CN" smtClean="0">
                <a:ea typeface="宋体" panose="02010600030101010101" pitchFamily="2" charset="-122"/>
              </a:rPr>
              <a:t>                or  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mtClean="0">
                <a:latin typeface="Courier New" panose="02070309020205020404" pitchFamily="49" charset="0"/>
                <a:ea typeface="宋体" panose="02010600030101010101" pitchFamily="2" charset="-122"/>
              </a:rPr>
              <a:t>				if y </a:t>
            </a:r>
            <a:r>
              <a:rPr lang="en-US" altLang="zh-CN" b="1" i="1" smtClean="0">
                <a:latin typeface="Courier New" panose="02070309020205020404" pitchFamily="49" charset="0"/>
                <a:ea typeface="宋体" panose="02010600030101010101" pitchFamily="2" charset="-122"/>
              </a:rPr>
              <a:t>relop</a:t>
            </a:r>
            <a:r>
              <a:rPr lang="en-US" altLang="zh-CN" smtClean="0">
                <a:latin typeface="Courier New" panose="02070309020205020404" pitchFamily="49" charset="0"/>
                <a:ea typeface="宋体" panose="02010600030101010101" pitchFamily="2" charset="-122"/>
              </a:rPr>
              <a:t> z goto L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</a:rPr>
              <a:t>	We will jump to the three-address code with the label </a:t>
            </a:r>
            <a:r>
              <a:rPr lang="en-US" altLang="zh-CN" sz="2000" smtClean="0">
                <a:latin typeface="Courier New" panose="02070309020205020404" pitchFamily="49" charset="0"/>
                <a:ea typeface="宋体" panose="02010600030101010101" pitchFamily="2" charset="-122"/>
              </a:rPr>
              <a:t>L </a:t>
            </a:r>
            <a:r>
              <a:rPr lang="en-US" altLang="zh-CN" sz="2000" smtClean="0">
                <a:ea typeface="宋体" panose="02010600030101010101" pitchFamily="2" charset="-122"/>
              </a:rPr>
              <a:t>if  the result of </a:t>
            </a:r>
            <a:r>
              <a:rPr lang="en-US" altLang="zh-CN" sz="2000" smtClean="0">
                <a:latin typeface="Courier New" panose="02070309020205020404" pitchFamily="49" charset="0"/>
                <a:ea typeface="宋体" panose="02010600030101010101" pitchFamily="2" charset="-122"/>
              </a:rPr>
              <a:t>y relop z</a:t>
            </a:r>
            <a:r>
              <a:rPr lang="en-US" altLang="zh-CN" sz="2000" smtClean="0">
                <a:ea typeface="宋体" panose="02010600030101010101" pitchFamily="2" charset="-122"/>
              </a:rPr>
              <a:t>  is true, and the execution continues from that statement. If the result is false, the execution continues from the statement following this conditional jump statement.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</a:rPr>
              <a:t>	Ex:		</a:t>
            </a:r>
            <a:r>
              <a:rPr lang="en-US" altLang="zh-CN" sz="2000" smtClean="0">
                <a:latin typeface="Courier New" panose="02070309020205020404" pitchFamily="49" charset="0"/>
                <a:ea typeface="宋体" panose="02010600030101010101" pitchFamily="2" charset="-122"/>
              </a:rPr>
              <a:t>jmpgt  y,z,L1	</a:t>
            </a:r>
            <a:r>
              <a:rPr lang="en-US" altLang="zh-CN" sz="2000" smtClean="0">
                <a:ea typeface="宋体" panose="02010600030101010101" pitchFamily="2" charset="-122"/>
              </a:rPr>
              <a:t>// jump to L1 if y&gt;z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</a:rPr>
              <a:t>			</a:t>
            </a:r>
            <a:r>
              <a:rPr lang="en-US" altLang="zh-CN" sz="2000" smtClean="0">
                <a:latin typeface="Courier New" panose="02070309020205020404" pitchFamily="49" charset="0"/>
                <a:ea typeface="宋体" panose="02010600030101010101" pitchFamily="2" charset="-122"/>
              </a:rPr>
              <a:t>jmpge  y,z,L1	</a:t>
            </a:r>
            <a:r>
              <a:rPr lang="en-US" altLang="zh-CN" sz="2000" smtClean="0">
                <a:ea typeface="宋体" panose="02010600030101010101" pitchFamily="2" charset="-122"/>
              </a:rPr>
              <a:t>// jump to L1 if y&gt;=z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</a:rPr>
              <a:t>			</a:t>
            </a:r>
            <a:r>
              <a:rPr lang="en-US" altLang="zh-CN" sz="2000" smtClean="0">
                <a:latin typeface="Courier New" panose="02070309020205020404" pitchFamily="49" charset="0"/>
                <a:ea typeface="宋体" panose="02010600030101010101" pitchFamily="2" charset="-122"/>
              </a:rPr>
              <a:t>jmpeq  y,z,L1	</a:t>
            </a:r>
            <a:r>
              <a:rPr lang="en-US" altLang="zh-CN" sz="2000" smtClean="0">
                <a:ea typeface="宋体" panose="02010600030101010101" pitchFamily="2" charset="-122"/>
              </a:rPr>
              <a:t>// jump to L1 if y==z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</a:rPr>
              <a:t>			</a:t>
            </a:r>
            <a:r>
              <a:rPr lang="en-US" altLang="zh-CN" sz="2000" smtClean="0">
                <a:latin typeface="Courier New" panose="02070309020205020404" pitchFamily="49" charset="0"/>
                <a:ea typeface="宋体" panose="02010600030101010101" pitchFamily="2" charset="-122"/>
              </a:rPr>
              <a:t>jmpne  y,z,L1	</a:t>
            </a:r>
            <a:r>
              <a:rPr lang="en-US" altLang="zh-CN" sz="2000" smtClean="0">
                <a:ea typeface="宋体" panose="02010600030101010101" pitchFamily="2" charset="-122"/>
              </a:rPr>
              <a:t>// jump to L1 if y!=z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zh-CN" sz="1000" smtClean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</a:rPr>
              <a:t>	Our relational operator can also be a unary operator.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</a:rPr>
              <a:t>			 </a:t>
            </a:r>
            <a:r>
              <a:rPr lang="en-US" altLang="zh-CN" sz="2000" smtClean="0">
                <a:latin typeface="Courier New" panose="02070309020205020404" pitchFamily="49" charset="0"/>
                <a:ea typeface="宋体" panose="02010600030101010101" pitchFamily="2" charset="-122"/>
              </a:rPr>
              <a:t>jmpnz  y,,L1	</a:t>
            </a:r>
            <a:r>
              <a:rPr lang="en-US" altLang="zh-CN" sz="2000" smtClean="0">
                <a:ea typeface="宋体" panose="02010600030101010101" pitchFamily="2" charset="-122"/>
              </a:rPr>
              <a:t>// jump to L1 if y is not zero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</a:rPr>
              <a:t>			 </a:t>
            </a:r>
            <a:r>
              <a:rPr lang="en-US" altLang="zh-CN" sz="2000" smtClean="0">
                <a:latin typeface="Courier New" panose="02070309020205020404" pitchFamily="49" charset="0"/>
                <a:ea typeface="宋体" panose="02010600030101010101" pitchFamily="2" charset="-122"/>
              </a:rPr>
              <a:t>jmpz   y,,L1	</a:t>
            </a:r>
            <a:r>
              <a:rPr lang="en-US" altLang="zh-CN" sz="2000" smtClean="0">
                <a:ea typeface="宋体" panose="02010600030101010101" pitchFamily="2" charset="-122"/>
              </a:rPr>
              <a:t>// jump to L1 if y is zero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</a:rPr>
              <a:t>			 </a:t>
            </a:r>
            <a:r>
              <a:rPr lang="en-US" altLang="zh-CN" sz="2000" smtClean="0">
                <a:latin typeface="Courier New" panose="02070309020205020404" pitchFamily="49" charset="0"/>
                <a:ea typeface="宋体" panose="02010600030101010101" pitchFamily="2" charset="-122"/>
              </a:rPr>
              <a:t>jmpt   y,,L1	</a:t>
            </a:r>
            <a:r>
              <a:rPr lang="en-US" altLang="zh-CN" sz="2000" smtClean="0">
                <a:ea typeface="宋体" panose="02010600030101010101" pitchFamily="2" charset="-122"/>
              </a:rPr>
              <a:t>// jump to L1 if y is true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</a:rPr>
              <a:t>			 </a:t>
            </a:r>
            <a:r>
              <a:rPr lang="en-US" altLang="zh-CN" sz="2000" smtClean="0">
                <a:latin typeface="Courier New" panose="02070309020205020404" pitchFamily="49" charset="0"/>
                <a:ea typeface="宋体" panose="02010600030101010101" pitchFamily="2" charset="-122"/>
              </a:rPr>
              <a:t>jmpf   y,,L1	</a:t>
            </a:r>
            <a:r>
              <a:rPr lang="en-US" altLang="zh-CN" sz="2000" smtClean="0">
                <a:ea typeface="宋体" panose="02010600030101010101" pitchFamily="2" charset="-122"/>
              </a:rPr>
              <a:t>// jump to L1 if y is false</a:t>
            </a:r>
            <a:endParaRPr lang="en-US" altLang="zh-CN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8195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819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6074886-F7BA-44DB-ABC2-9EC9797902A8}" type="slidenum">
              <a:rPr lang="zh-CN" altLang="en-US" sz="800"/>
              <a:pPr/>
              <a:t>7</a:t>
            </a:fld>
            <a:endParaRPr lang="en-US" altLang="zh-CN" sz="800"/>
          </a:p>
        </p:txBody>
      </p:sp>
      <p:sp>
        <p:nvSpPr>
          <p:cNvPr id="81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Three-Address Statements (cont.)</a:t>
            </a:r>
          </a:p>
        </p:txBody>
      </p:sp>
      <p:sp>
        <p:nvSpPr>
          <p:cNvPr id="819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zh-CN" b="1" i="1" smtClean="0">
                <a:ea typeface="宋体" panose="02010600030101010101" pitchFamily="2" charset="-122"/>
              </a:rPr>
              <a:t>Procedure Parameters:</a:t>
            </a:r>
            <a:r>
              <a:rPr lang="en-US" altLang="zh-CN" smtClean="0">
                <a:ea typeface="宋体" panose="02010600030101010101" pitchFamily="2" charset="-122"/>
              </a:rPr>
              <a:t> 	</a:t>
            </a:r>
            <a:r>
              <a:rPr lang="en-US" altLang="zh-CN" smtClean="0">
                <a:latin typeface="Courier New" panose="02070309020205020404" pitchFamily="49" charset="0"/>
                <a:ea typeface="宋体" panose="02010600030101010101" pitchFamily="2" charset="-122"/>
              </a:rPr>
              <a:t>param x,,</a:t>
            </a:r>
            <a:r>
              <a:rPr lang="en-US" altLang="zh-CN" smtClean="0">
                <a:ea typeface="宋体" panose="02010600030101010101" pitchFamily="2" charset="-122"/>
              </a:rPr>
              <a:t>   or   </a:t>
            </a:r>
            <a:r>
              <a:rPr lang="en-US" altLang="zh-CN" smtClean="0">
                <a:latin typeface="Courier New" panose="02070309020205020404" pitchFamily="49" charset="0"/>
                <a:ea typeface="宋体" panose="02010600030101010101" pitchFamily="2" charset="-122"/>
              </a:rPr>
              <a:t>param x</a:t>
            </a:r>
          </a:p>
          <a:p>
            <a:pPr>
              <a:buFontTx/>
              <a:buNone/>
            </a:pPr>
            <a:r>
              <a:rPr lang="en-US" altLang="zh-CN" b="1" i="1" smtClean="0">
                <a:ea typeface="宋体" panose="02010600030101010101" pitchFamily="2" charset="-122"/>
              </a:rPr>
              <a:t>Procedure Calls:</a:t>
            </a:r>
            <a:r>
              <a:rPr lang="en-US" altLang="zh-CN" smtClean="0">
                <a:ea typeface="宋体" panose="02010600030101010101" pitchFamily="2" charset="-122"/>
              </a:rPr>
              <a:t> 		</a:t>
            </a:r>
            <a:r>
              <a:rPr lang="en-US" altLang="zh-CN" smtClean="0">
                <a:latin typeface="Courier New" panose="02070309020205020404" pitchFamily="49" charset="0"/>
                <a:ea typeface="宋体" panose="02010600030101010101" pitchFamily="2" charset="-122"/>
              </a:rPr>
              <a:t>call p,n,</a:t>
            </a:r>
            <a:r>
              <a:rPr lang="en-US" altLang="zh-CN" smtClean="0">
                <a:ea typeface="宋体" panose="02010600030101010101" pitchFamily="2" charset="-122"/>
              </a:rPr>
              <a:t>   or   </a:t>
            </a:r>
            <a:r>
              <a:rPr lang="en-US" altLang="zh-CN" smtClean="0">
                <a:latin typeface="Courier New" panose="02070309020205020404" pitchFamily="49" charset="0"/>
                <a:ea typeface="宋体" panose="02010600030101010101" pitchFamily="2" charset="-122"/>
              </a:rPr>
              <a:t>call p,n</a:t>
            </a:r>
          </a:p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</a:rPr>
              <a:t>	where </a:t>
            </a:r>
            <a:r>
              <a:rPr lang="en-US" altLang="zh-CN" sz="2000" smtClean="0">
                <a:latin typeface="Courier New" panose="02070309020205020404" pitchFamily="49" charset="0"/>
                <a:ea typeface="宋体" panose="02010600030101010101" pitchFamily="2" charset="-122"/>
              </a:rPr>
              <a:t>x</a:t>
            </a:r>
            <a:r>
              <a:rPr lang="en-US" altLang="zh-CN" sz="2000" smtClean="0">
                <a:ea typeface="宋体" panose="02010600030101010101" pitchFamily="2" charset="-122"/>
              </a:rPr>
              <a:t> is an actual parameter, we invoke the procedure </a:t>
            </a:r>
            <a:r>
              <a:rPr lang="en-US" altLang="zh-CN" sz="2000" smtClean="0">
                <a:latin typeface="Courier New" panose="02070309020205020404" pitchFamily="49" charset="0"/>
                <a:ea typeface="宋体" panose="02010600030101010101" pitchFamily="2" charset="-122"/>
              </a:rPr>
              <a:t>p</a:t>
            </a:r>
            <a:r>
              <a:rPr lang="en-US" altLang="zh-CN" sz="2000" smtClean="0">
                <a:ea typeface="宋体" panose="02010600030101010101" pitchFamily="2" charset="-122"/>
              </a:rPr>
              <a:t> with </a:t>
            </a:r>
            <a:r>
              <a:rPr lang="en-US" altLang="zh-CN" sz="2000" smtClean="0">
                <a:latin typeface="Courier New" panose="02070309020205020404" pitchFamily="49" charset="0"/>
                <a:ea typeface="宋体" panose="02010600030101010101" pitchFamily="2" charset="-122"/>
              </a:rPr>
              <a:t>n</a:t>
            </a:r>
            <a:r>
              <a:rPr lang="en-US" altLang="zh-CN" sz="2000" smtClean="0">
                <a:ea typeface="宋体" panose="02010600030101010101" pitchFamily="2" charset="-122"/>
              </a:rPr>
              <a:t> parameters. </a:t>
            </a:r>
          </a:p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</a:rPr>
              <a:t>	Ex:		</a:t>
            </a:r>
            <a:r>
              <a:rPr lang="en-US" altLang="zh-CN" sz="2000" smtClean="0">
                <a:latin typeface="Courier New" panose="02070309020205020404" pitchFamily="49" charset="0"/>
                <a:ea typeface="宋体" panose="02010600030101010101" pitchFamily="2" charset="-122"/>
              </a:rPr>
              <a:t>param x</a:t>
            </a:r>
            <a:r>
              <a:rPr lang="en-US" altLang="zh-CN" sz="2000" baseline="-25000" smtClean="0">
                <a:latin typeface="Courier New" panose="02070309020205020404" pitchFamily="49" charset="0"/>
                <a:ea typeface="宋体" panose="02010600030101010101" pitchFamily="2" charset="-122"/>
              </a:rPr>
              <a:t>1</a:t>
            </a:r>
            <a:r>
              <a:rPr lang="en-US" altLang="zh-CN" sz="2000" smtClean="0">
                <a:latin typeface="Courier New" panose="02070309020205020404" pitchFamily="49" charset="0"/>
                <a:ea typeface="宋体" panose="02010600030101010101" pitchFamily="2" charset="-122"/>
              </a:rPr>
              <a:t>,,</a:t>
            </a:r>
          </a:p>
          <a:p>
            <a:pPr>
              <a:buFontTx/>
              <a:buNone/>
            </a:pPr>
            <a:r>
              <a:rPr lang="en-US" altLang="zh-CN" sz="2000" smtClean="0">
                <a:latin typeface="Courier New" panose="02070309020205020404" pitchFamily="49" charset="0"/>
                <a:ea typeface="宋体" panose="02010600030101010101" pitchFamily="2" charset="-122"/>
              </a:rPr>
              <a:t>			param x</a:t>
            </a:r>
            <a:r>
              <a:rPr lang="en-US" altLang="zh-CN" sz="2000" baseline="-25000" smtClean="0">
                <a:latin typeface="Courier New" panose="02070309020205020404" pitchFamily="49" charset="0"/>
                <a:ea typeface="宋体" panose="02010600030101010101" pitchFamily="2" charset="-122"/>
              </a:rPr>
              <a:t>2</a:t>
            </a:r>
            <a:r>
              <a:rPr lang="en-US" altLang="zh-CN" sz="2000" smtClean="0">
                <a:latin typeface="Courier New" panose="02070309020205020404" pitchFamily="49" charset="0"/>
                <a:ea typeface="宋体" panose="02010600030101010101" pitchFamily="2" charset="-122"/>
              </a:rPr>
              <a:t>,,</a:t>
            </a:r>
          </a:p>
          <a:p>
            <a:pPr>
              <a:buFontTx/>
              <a:buNone/>
            </a:pPr>
            <a:r>
              <a:rPr lang="en-US" altLang="zh-CN" sz="2000" smtClean="0">
                <a:latin typeface="Courier New" panose="02070309020205020404" pitchFamily="49" charset="0"/>
                <a:ea typeface="宋体" panose="02010600030101010101" pitchFamily="2" charset="-122"/>
              </a:rPr>
              <a:t>			……		</a:t>
            </a:r>
            <a:r>
              <a:rPr lang="en-US" altLang="zh-CN" sz="2000" smtClean="0">
                <a:latin typeface="Courier New" panose="02070309020205020404" pitchFamily="49" charset="0"/>
                <a:ea typeface="宋体" panose="02010600030101010101" pitchFamily="2" charset="-122"/>
                <a:sym typeface="Wingdings" panose="05000000000000000000" pitchFamily="2" charset="2"/>
              </a:rPr>
              <a:t> p(x</a:t>
            </a:r>
            <a:r>
              <a:rPr lang="en-US" altLang="zh-CN" sz="2000" baseline="-25000" smtClean="0">
                <a:latin typeface="Courier New" panose="02070309020205020404" pitchFamily="49" charset="0"/>
                <a:ea typeface="宋体" panose="02010600030101010101" pitchFamily="2" charset="-122"/>
                <a:sym typeface="Wingdings" panose="05000000000000000000" pitchFamily="2" charset="2"/>
              </a:rPr>
              <a:t>1</a:t>
            </a:r>
            <a:r>
              <a:rPr lang="en-US" altLang="zh-CN" sz="2000" smtClean="0">
                <a:latin typeface="Courier New" panose="02070309020205020404" pitchFamily="49" charset="0"/>
                <a:ea typeface="宋体" panose="02010600030101010101" pitchFamily="2" charset="-122"/>
                <a:sym typeface="Wingdings" panose="05000000000000000000" pitchFamily="2" charset="2"/>
              </a:rPr>
              <a:t>,...,x</a:t>
            </a:r>
            <a:r>
              <a:rPr lang="en-US" altLang="zh-CN" sz="2000" baseline="-25000" smtClean="0">
                <a:latin typeface="Courier New" panose="02070309020205020404" pitchFamily="49" charset="0"/>
                <a:ea typeface="宋体" panose="02010600030101010101" pitchFamily="2" charset="-122"/>
                <a:sym typeface="Wingdings" panose="05000000000000000000" pitchFamily="2" charset="2"/>
              </a:rPr>
              <a:t>n</a:t>
            </a:r>
            <a:r>
              <a:rPr lang="en-US" altLang="zh-CN" sz="2000" smtClean="0">
                <a:latin typeface="Courier New" panose="02070309020205020404" pitchFamily="49" charset="0"/>
                <a:ea typeface="宋体" panose="02010600030101010101" pitchFamily="2" charset="-122"/>
                <a:sym typeface="Wingdings" panose="05000000000000000000" pitchFamily="2" charset="2"/>
              </a:rPr>
              <a:t>)</a:t>
            </a:r>
            <a:endParaRPr lang="en-US" altLang="zh-CN" sz="2000" smtClean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sz="2000" smtClean="0">
                <a:latin typeface="Courier New" panose="02070309020205020404" pitchFamily="49" charset="0"/>
                <a:ea typeface="宋体" panose="02010600030101010101" pitchFamily="2" charset="-122"/>
              </a:rPr>
              <a:t>			param x</a:t>
            </a:r>
            <a:r>
              <a:rPr lang="en-US" altLang="zh-CN" sz="2000" baseline="-25000" smtClean="0">
                <a:latin typeface="Courier New" panose="02070309020205020404" pitchFamily="49" charset="0"/>
                <a:ea typeface="宋体" panose="02010600030101010101" pitchFamily="2" charset="-122"/>
              </a:rPr>
              <a:t>n</a:t>
            </a:r>
            <a:r>
              <a:rPr lang="en-US" altLang="zh-CN" sz="2000" smtClean="0">
                <a:latin typeface="Courier New" panose="02070309020205020404" pitchFamily="49" charset="0"/>
                <a:ea typeface="宋体" panose="02010600030101010101" pitchFamily="2" charset="-122"/>
              </a:rPr>
              <a:t>,,</a:t>
            </a:r>
          </a:p>
          <a:p>
            <a:pPr>
              <a:buFontTx/>
              <a:buNone/>
            </a:pPr>
            <a:r>
              <a:rPr lang="en-US" altLang="zh-CN" sz="2000" smtClean="0">
                <a:latin typeface="Courier New" panose="02070309020205020404" pitchFamily="49" charset="0"/>
                <a:ea typeface="宋体" panose="02010600030101010101" pitchFamily="2" charset="-122"/>
              </a:rPr>
              <a:t>			call  p,n,</a:t>
            </a:r>
          </a:p>
          <a:p>
            <a:pPr>
              <a:buFontTx/>
              <a:buNone/>
            </a:pPr>
            <a:endParaRPr lang="en-US" altLang="zh-CN" sz="2000" smtClean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sz="2000" smtClean="0">
                <a:latin typeface="Courier New" panose="02070309020205020404" pitchFamily="49" charset="0"/>
                <a:ea typeface="宋体" panose="02010600030101010101" pitchFamily="2" charset="-122"/>
              </a:rPr>
              <a:t>	f(x+1,y) </a:t>
            </a:r>
            <a:r>
              <a:rPr lang="en-US" altLang="zh-CN" sz="2000" smtClean="0">
                <a:latin typeface="Courier New" panose="02070309020205020404" pitchFamily="49" charset="0"/>
                <a:ea typeface="宋体" panose="02010600030101010101" pitchFamily="2" charset="-122"/>
                <a:sym typeface="Wingdings" panose="05000000000000000000" pitchFamily="2" charset="2"/>
              </a:rPr>
              <a:t>	add   t1,x,1</a:t>
            </a:r>
          </a:p>
          <a:p>
            <a:pPr>
              <a:buFontTx/>
              <a:buNone/>
            </a:pPr>
            <a:r>
              <a:rPr lang="en-US" altLang="zh-CN" sz="2000" smtClean="0">
                <a:latin typeface="Courier New" panose="02070309020205020404" pitchFamily="49" charset="0"/>
                <a:ea typeface="宋体" panose="02010600030101010101" pitchFamily="2" charset="-122"/>
                <a:sym typeface="Wingdings" panose="05000000000000000000" pitchFamily="2" charset="2"/>
              </a:rPr>
              <a:t>				param t1,,</a:t>
            </a:r>
          </a:p>
          <a:p>
            <a:pPr>
              <a:buFontTx/>
              <a:buNone/>
            </a:pPr>
            <a:r>
              <a:rPr lang="en-US" altLang="zh-CN" sz="2000" smtClean="0">
                <a:latin typeface="Courier New" panose="02070309020205020404" pitchFamily="49" charset="0"/>
                <a:ea typeface="宋体" panose="02010600030101010101" pitchFamily="2" charset="-122"/>
                <a:sym typeface="Wingdings" panose="05000000000000000000" pitchFamily="2" charset="2"/>
              </a:rPr>
              <a:t>				param y,,</a:t>
            </a:r>
          </a:p>
          <a:p>
            <a:pPr>
              <a:buFontTx/>
              <a:buNone/>
            </a:pPr>
            <a:r>
              <a:rPr lang="en-US" altLang="zh-CN" sz="2000" smtClean="0">
                <a:latin typeface="Courier New" panose="02070309020205020404" pitchFamily="49" charset="0"/>
                <a:ea typeface="宋体" panose="02010600030101010101" pitchFamily="2" charset="-122"/>
                <a:sym typeface="Wingdings" panose="05000000000000000000" pitchFamily="2" charset="2"/>
              </a:rPr>
              <a:t>				call  f,2,</a:t>
            </a:r>
            <a:endParaRPr lang="en-US" altLang="zh-CN" sz="2000" smtClean="0">
              <a:latin typeface="Courier New" panose="02070309020205020404" pitchFamily="49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9219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922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D9E2274-B12F-4A52-9200-6B1DB15C8744}" type="slidenum">
              <a:rPr lang="zh-CN" altLang="en-US" sz="800"/>
              <a:pPr/>
              <a:t>8</a:t>
            </a:fld>
            <a:endParaRPr lang="en-US" altLang="zh-CN" sz="800"/>
          </a:p>
        </p:txBody>
      </p:sp>
      <p:sp>
        <p:nvSpPr>
          <p:cNvPr id="92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Three-Address Statements (cont.)</a:t>
            </a:r>
          </a:p>
        </p:txBody>
      </p:sp>
      <p:sp>
        <p:nvSpPr>
          <p:cNvPr id="922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zh-CN" b="1" i="1" smtClean="0">
                <a:ea typeface="宋体" panose="02010600030101010101" pitchFamily="2" charset="-122"/>
              </a:rPr>
              <a:t>Indexed Assignments:    	</a:t>
            </a:r>
          </a:p>
          <a:p>
            <a:pPr>
              <a:buFontTx/>
              <a:buNone/>
            </a:pPr>
            <a:r>
              <a:rPr lang="en-US" altLang="zh-CN" b="1" i="1" smtClean="0">
                <a:ea typeface="宋体" panose="02010600030101010101" pitchFamily="2" charset="-122"/>
              </a:rPr>
              <a:t>		  </a:t>
            </a:r>
            <a:r>
              <a:rPr lang="en-US" altLang="zh-CN" smtClean="0">
                <a:latin typeface="Courier New" panose="02070309020205020404" pitchFamily="49" charset="0"/>
                <a:ea typeface="宋体" panose="02010600030101010101" pitchFamily="2" charset="-122"/>
              </a:rPr>
              <a:t>move x,,y[i] </a:t>
            </a:r>
            <a:r>
              <a:rPr lang="en-US" altLang="zh-CN" smtClean="0">
                <a:ea typeface="宋体" panose="02010600030101010101" pitchFamily="2" charset="-122"/>
              </a:rPr>
              <a:t>or</a:t>
            </a:r>
            <a:r>
              <a:rPr lang="en-US" altLang="zh-CN" smtClean="0">
                <a:latin typeface="Courier New" panose="02070309020205020404" pitchFamily="49" charset="0"/>
                <a:ea typeface="宋体" panose="02010600030101010101" pitchFamily="2" charset="-122"/>
              </a:rPr>
              <a:t>  x := y[i]</a:t>
            </a:r>
          </a:p>
          <a:p>
            <a:pPr>
              <a:buFontTx/>
              <a:buNone/>
            </a:pPr>
            <a:r>
              <a:rPr lang="en-US" altLang="zh-CN" smtClean="0">
                <a:latin typeface="Courier New" panose="02070309020205020404" pitchFamily="49" charset="0"/>
                <a:ea typeface="宋体" panose="02010600030101010101" pitchFamily="2" charset="-122"/>
              </a:rPr>
              <a:t>		 move y[i],,x </a:t>
            </a:r>
            <a:r>
              <a:rPr lang="en-US" altLang="zh-CN" smtClean="0">
                <a:ea typeface="宋体" panose="02010600030101010101" pitchFamily="2" charset="-122"/>
              </a:rPr>
              <a:t>or</a:t>
            </a:r>
            <a:r>
              <a:rPr lang="en-US" altLang="zh-CN" smtClean="0">
                <a:latin typeface="Courier New" panose="02070309020205020404" pitchFamily="49" charset="0"/>
                <a:ea typeface="宋体" panose="02010600030101010101" pitchFamily="2" charset="-122"/>
              </a:rPr>
              <a:t>  y[i] := x</a:t>
            </a:r>
            <a:endParaRPr lang="en-US" altLang="zh-CN" b="1" i="1" smtClean="0">
              <a:ea typeface="宋体" panose="02010600030101010101" pitchFamily="2" charset="-122"/>
            </a:endParaRPr>
          </a:p>
          <a:p>
            <a:pPr>
              <a:buFontTx/>
              <a:buNone/>
            </a:pPr>
            <a:endParaRPr lang="en-US" altLang="zh-CN" smtClean="0">
              <a:ea typeface="宋体" panose="02010600030101010101" pitchFamily="2" charset="-122"/>
            </a:endParaRPr>
          </a:p>
          <a:p>
            <a:pPr>
              <a:buFontTx/>
              <a:buNone/>
            </a:pPr>
            <a:endParaRPr lang="en-US" altLang="zh-CN" smtClean="0"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b="1" i="1" smtClean="0">
                <a:ea typeface="宋体" panose="02010600030101010101" pitchFamily="2" charset="-122"/>
              </a:rPr>
              <a:t>Address and Pointer Assignments:</a:t>
            </a:r>
          </a:p>
          <a:p>
            <a:pPr>
              <a:buFontTx/>
              <a:buNone/>
            </a:pPr>
            <a:r>
              <a:rPr lang="en-US" altLang="zh-CN" smtClean="0">
                <a:latin typeface="Courier New" panose="02070309020205020404" pitchFamily="49" charset="0"/>
                <a:ea typeface="宋体" panose="02010600030101010101" pitchFamily="2" charset="-122"/>
              </a:rPr>
              <a:t>		moveaddr x,,y  </a:t>
            </a:r>
            <a:r>
              <a:rPr lang="en-US" altLang="zh-CN" smtClean="0">
                <a:ea typeface="宋体" panose="02010600030101010101" pitchFamily="2" charset="-122"/>
              </a:rPr>
              <a:t>or</a:t>
            </a:r>
            <a:r>
              <a:rPr lang="en-US" altLang="zh-CN" smtClean="0">
                <a:latin typeface="Courier New" panose="02070309020205020404" pitchFamily="49" charset="0"/>
                <a:ea typeface="宋体" panose="02010600030101010101" pitchFamily="2" charset="-122"/>
              </a:rPr>
              <a:t>  x := &amp;y</a:t>
            </a:r>
          </a:p>
          <a:p>
            <a:pPr>
              <a:buFontTx/>
              <a:buNone/>
            </a:pPr>
            <a:r>
              <a:rPr lang="en-US" altLang="zh-CN" smtClean="0">
                <a:latin typeface="Courier New" panose="02070309020205020404" pitchFamily="49" charset="0"/>
                <a:ea typeface="宋体" panose="02010600030101010101" pitchFamily="2" charset="-122"/>
              </a:rPr>
              <a:t>		movecont x,,y  </a:t>
            </a:r>
            <a:r>
              <a:rPr lang="en-US" altLang="zh-CN" smtClean="0">
                <a:ea typeface="宋体" panose="02010600030101010101" pitchFamily="2" charset="-122"/>
              </a:rPr>
              <a:t>or</a:t>
            </a:r>
            <a:r>
              <a:rPr lang="en-US" altLang="zh-CN" smtClean="0">
                <a:latin typeface="Courier New" panose="02070309020205020404" pitchFamily="49" charset="0"/>
                <a:ea typeface="宋体" panose="02010600030101010101" pitchFamily="2" charset="-122"/>
              </a:rPr>
              <a:t>  x := *y</a:t>
            </a:r>
            <a:endParaRPr lang="en-US" altLang="zh-CN" b="1" i="1" smtClean="0">
              <a:ea typeface="宋体" panose="02010600030101010101" pitchFamily="2" charset="-122"/>
            </a:endParaRPr>
          </a:p>
          <a:p>
            <a:pPr>
              <a:buFontTx/>
              <a:buNone/>
            </a:pPr>
            <a:endParaRPr lang="zh-CN" altLang="en-US" b="1" i="1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1024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1024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0DCB386-2E1C-46A0-9A20-3F035250BA48}" type="slidenum">
              <a:rPr lang="zh-CN" altLang="en-US" sz="800"/>
              <a:pPr/>
              <a:t>9</a:t>
            </a:fld>
            <a:endParaRPr lang="en-US" altLang="zh-CN" sz="800"/>
          </a:p>
        </p:txBody>
      </p:sp>
      <p:sp>
        <p:nvSpPr>
          <p:cNvPr id="102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Syntax-Directed Translation into Three-Address Code (P.468)</a:t>
            </a:r>
          </a:p>
        </p:txBody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295400"/>
            <a:ext cx="9448800" cy="50292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</a:rPr>
              <a:t>S 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000" b="1" smtClean="0">
                <a:ea typeface="宋体" panose="02010600030101010101" pitchFamily="2" charset="-122"/>
                <a:sym typeface="Symbol" panose="05050102010706020507" pitchFamily="18" charset="2"/>
              </a:rPr>
              <a:t>id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 := E	S.code = E.code || gen(‘mov’ id.place ‘,,’ E.place)</a:t>
            </a:r>
          </a:p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</a:rPr>
              <a:t>E 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 E</a:t>
            </a:r>
            <a:r>
              <a:rPr lang="en-US" altLang="zh-CN" sz="20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 + E</a:t>
            </a:r>
            <a:r>
              <a:rPr lang="en-US" altLang="zh-CN" sz="20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	E.place = newtemp();</a:t>
            </a:r>
          </a:p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			E.code = E</a:t>
            </a:r>
            <a:r>
              <a:rPr lang="en-US" altLang="zh-CN" sz="20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.code || E</a:t>
            </a:r>
            <a:r>
              <a:rPr lang="en-US" altLang="zh-CN" sz="20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.code || gen(‘add’ E.place ‘,’E</a:t>
            </a:r>
            <a:r>
              <a:rPr lang="en-US" altLang="zh-CN" sz="20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.place ‘,’ E</a:t>
            </a:r>
            <a:r>
              <a:rPr lang="en-US" altLang="zh-CN" sz="20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.place)</a:t>
            </a:r>
          </a:p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</a:rPr>
              <a:t>E 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 E</a:t>
            </a:r>
            <a:r>
              <a:rPr lang="en-US" altLang="zh-CN" sz="20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 * E</a:t>
            </a:r>
            <a:r>
              <a:rPr lang="en-US" altLang="zh-CN" sz="20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	E.place = newtemp();</a:t>
            </a:r>
          </a:p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			E.code = E</a:t>
            </a:r>
            <a:r>
              <a:rPr lang="en-US" altLang="zh-CN" sz="20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.code || E</a:t>
            </a:r>
            <a:r>
              <a:rPr lang="en-US" altLang="zh-CN" sz="20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.code || gen(‘mult’ E.place ‘,’ E</a:t>
            </a:r>
            <a:r>
              <a:rPr lang="en-US" altLang="zh-CN" sz="20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.place ‘,’ E</a:t>
            </a:r>
            <a:r>
              <a:rPr lang="en-US" altLang="zh-CN" sz="20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.place)</a:t>
            </a:r>
          </a:p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</a:rPr>
              <a:t>E 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 - E</a:t>
            </a:r>
            <a:r>
              <a:rPr lang="en-US" altLang="zh-CN" sz="20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 	E.place = newtemp();</a:t>
            </a:r>
          </a:p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			E.code = E</a:t>
            </a:r>
            <a:r>
              <a:rPr lang="en-US" altLang="zh-CN" sz="20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.code || gen(‘uminus’ E.place ‘,,’ E</a:t>
            </a:r>
            <a:r>
              <a:rPr lang="en-US" altLang="zh-CN" sz="20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.place)</a:t>
            </a:r>
          </a:p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</a:rPr>
              <a:t>E 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 ( E</a:t>
            </a:r>
            <a:r>
              <a:rPr lang="en-US" altLang="zh-CN" sz="20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 )	E.place = E</a:t>
            </a:r>
            <a:r>
              <a:rPr lang="en-US" altLang="zh-CN" sz="20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.place;</a:t>
            </a:r>
          </a:p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			E.code = E</a:t>
            </a:r>
            <a:r>
              <a:rPr lang="en-US" altLang="zh-CN" sz="20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.code</a:t>
            </a:r>
          </a:p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</a:rPr>
              <a:t>E 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000" b="1" smtClean="0">
                <a:ea typeface="宋体" panose="02010600030101010101" pitchFamily="2" charset="-122"/>
                <a:sym typeface="Symbol" panose="05050102010706020507" pitchFamily="18" charset="2"/>
              </a:rPr>
              <a:t>id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		E.place = </a:t>
            </a:r>
            <a:r>
              <a:rPr lang="en-US" altLang="zh-CN" sz="2000" b="1" smtClean="0">
                <a:ea typeface="宋体" panose="02010600030101010101" pitchFamily="2" charset="-122"/>
                <a:sym typeface="Symbol" panose="05050102010706020507" pitchFamily="18" charset="2"/>
              </a:rPr>
              <a:t>id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.place;</a:t>
            </a:r>
          </a:p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			E.code = null</a:t>
            </a:r>
          </a:p>
          <a:p>
            <a:pPr>
              <a:buFontTx/>
              <a:buNone/>
            </a:pPr>
            <a:endParaRPr lang="zh-CN" altLang="en-US" sz="2000" smtClean="0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>
    <p:rand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1126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1126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1872946-23DA-49A1-B188-7BF7398D557F}" type="slidenum">
              <a:rPr lang="zh-CN" altLang="en-US" sz="800"/>
              <a:pPr/>
              <a:t>10</a:t>
            </a:fld>
            <a:endParaRPr lang="en-US" altLang="zh-CN" sz="800"/>
          </a:p>
        </p:txBody>
      </p:sp>
      <p:sp>
        <p:nvSpPr>
          <p:cNvPr id="112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Syntax-Directed Translation (cont.)</a:t>
            </a:r>
          </a:p>
        </p:txBody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143000"/>
            <a:ext cx="8686800" cy="51054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</a:rPr>
              <a:t>S 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 while E do S</a:t>
            </a:r>
            <a:r>
              <a:rPr lang="en-US" altLang="zh-CN" sz="20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	S.begin = newlabel();</a:t>
            </a:r>
          </a:p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				S.after = newlabel();</a:t>
            </a:r>
          </a:p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				S.code = gen(S.begin “:”)  ||  E.code  ||</a:t>
            </a:r>
          </a:p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					 gen(‘jmpf’ E.place ‘,,’ S.after)  || S</a:t>
            </a:r>
            <a:r>
              <a:rPr lang="en-US" altLang="zh-CN" sz="20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.code ||</a:t>
            </a:r>
          </a:p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					 gen(‘jmp’ ‘,,’ S.begin)  ||  </a:t>
            </a:r>
          </a:p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					 gen(S.after ‘:”)</a:t>
            </a:r>
          </a:p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</a:rPr>
              <a:t>S 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 if E then S</a:t>
            </a:r>
            <a:r>
              <a:rPr lang="en-US" altLang="zh-CN" sz="20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1 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else S</a:t>
            </a:r>
            <a:r>
              <a:rPr lang="en-US" altLang="zh-CN" sz="20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  	S.else = newlabel();</a:t>
            </a:r>
          </a:p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				S.after = newlabel();</a:t>
            </a:r>
          </a:p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				S.code = E.code  ||</a:t>
            </a:r>
          </a:p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					 gen(‘jmpf’ E.place ‘,,’ S.else)  || S</a:t>
            </a:r>
            <a:r>
              <a:rPr lang="en-US" altLang="zh-CN" sz="20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.code ||</a:t>
            </a:r>
          </a:p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					 gen(‘jmp’ ‘,,’ S.after)  ||</a:t>
            </a:r>
          </a:p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					 gen(S.else ‘:”) || S</a:t>
            </a:r>
            <a:r>
              <a:rPr lang="en-US" altLang="zh-CN" sz="20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.code || </a:t>
            </a:r>
          </a:p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					 gen(S.after ‘:”)</a:t>
            </a:r>
            <a:endParaRPr lang="zh-CN" altLang="en-US" sz="2000" smtClean="0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1229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1229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2210CBB-6187-45FE-9E45-3F59CC6140D3}" type="slidenum">
              <a:rPr lang="zh-CN" altLang="en-US" sz="800"/>
              <a:pPr/>
              <a:t>11</a:t>
            </a:fld>
            <a:endParaRPr lang="en-US" altLang="zh-CN" sz="800"/>
          </a:p>
        </p:txBody>
      </p:sp>
      <p:sp>
        <p:nvSpPr>
          <p:cNvPr id="12293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9372600" cy="7620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Declarations (P.473)</a:t>
            </a:r>
          </a:p>
        </p:txBody>
      </p:sp>
      <p:sp>
        <p:nvSpPr>
          <p:cNvPr id="122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990600"/>
            <a:ext cx="8991600" cy="50292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P 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 M D</a:t>
            </a: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M 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mtClean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€		{ offset=0 }</a:t>
            </a: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D 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 D ; D</a:t>
            </a: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D   </a:t>
            </a:r>
            <a:r>
              <a:rPr lang="en-US" altLang="zh-CN" b="1" smtClean="0">
                <a:ea typeface="宋体" panose="02010600030101010101" pitchFamily="2" charset="-122"/>
                <a:sym typeface="Symbol" panose="05050102010706020507" pitchFamily="18" charset="2"/>
              </a:rPr>
              <a:t>id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 : T	{ enter(</a:t>
            </a:r>
            <a:r>
              <a:rPr lang="en-US" altLang="zh-CN" b="1" smtClean="0">
                <a:ea typeface="宋体" panose="02010600030101010101" pitchFamily="2" charset="-122"/>
                <a:sym typeface="Symbol" panose="05050102010706020507" pitchFamily="18" charset="2"/>
              </a:rPr>
              <a:t>id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.name,T.type,offset);  offset=offset+T.width }</a:t>
            </a: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T  int	{ T.type=int; T.width=4 }</a:t>
            </a: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T  real	{ T.type=real; T.width=8 }</a:t>
            </a: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T  array[num] of T</a:t>
            </a:r>
            <a:r>
              <a:rPr lang="en-US" altLang="zh-CN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  { T.type=array(num.val,T</a:t>
            </a:r>
            <a:r>
              <a:rPr lang="en-US" altLang="zh-CN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.type); </a:t>
            </a: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				    T.width=num.val*T</a:t>
            </a:r>
            <a:r>
              <a:rPr lang="en-US" altLang="zh-CN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.width } </a:t>
            </a: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T  ↑ T</a:t>
            </a:r>
            <a:r>
              <a:rPr lang="en-US" altLang="zh-CN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1	 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{ T.type=pointer(T</a:t>
            </a:r>
            <a:r>
              <a:rPr lang="en-US" altLang="zh-CN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.type); T.width=4 }</a:t>
            </a:r>
          </a:p>
          <a:p>
            <a:pPr>
              <a:buFontTx/>
              <a:buNone/>
            </a:pPr>
            <a:endParaRPr lang="en-US" altLang="zh-CN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where </a:t>
            </a:r>
            <a:r>
              <a:rPr lang="en-US" altLang="zh-CN" i="1" smtClean="0">
                <a:ea typeface="宋体" panose="02010600030101010101" pitchFamily="2" charset="-122"/>
                <a:sym typeface="Symbol" panose="05050102010706020507" pitchFamily="18" charset="2"/>
              </a:rPr>
              <a:t>enter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 creates a symbol table entry with given values.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13315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1331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BDC8D17-6572-42D4-8F23-476E187FF632}" type="slidenum">
              <a:rPr lang="zh-CN" altLang="en-US" sz="800"/>
              <a:pPr/>
              <a:t>12</a:t>
            </a:fld>
            <a:endParaRPr lang="en-US" altLang="zh-CN" sz="800"/>
          </a:p>
        </p:txBody>
      </p:sp>
      <p:sp>
        <p:nvSpPr>
          <p:cNvPr id="133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Nested Procedure Declarations (P.476)</a:t>
            </a:r>
          </a:p>
        </p:txBody>
      </p:sp>
      <p:sp>
        <p:nvSpPr>
          <p:cNvPr id="133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8915400" cy="5105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000" smtClean="0">
                <a:ea typeface="宋体" panose="02010600030101010101" pitchFamily="2" charset="-122"/>
              </a:rPr>
              <a:t>For each procedure we should create a symbol table.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zh-CN" sz="800" smtClean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b="1" smtClean="0">
                <a:ea typeface="宋体" panose="02010600030101010101" pitchFamily="2" charset="-122"/>
              </a:rPr>
              <a:t>mktable(previous)</a:t>
            </a:r>
            <a:r>
              <a:rPr lang="en-US" altLang="zh-CN" sz="2000" smtClean="0">
                <a:ea typeface="宋体" panose="02010600030101010101" pitchFamily="2" charset="-122"/>
              </a:rPr>
              <a:t> – create a new symbol table where previous is the parent symbol  table of this new symbol table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zh-CN" sz="800" smtClean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b="1" smtClean="0">
                <a:ea typeface="宋体" panose="02010600030101010101" pitchFamily="2" charset="-122"/>
              </a:rPr>
              <a:t>enter(symtable,name,type,offset)</a:t>
            </a:r>
            <a:r>
              <a:rPr lang="en-US" altLang="zh-CN" sz="2000" smtClean="0">
                <a:ea typeface="宋体" panose="02010600030101010101" pitchFamily="2" charset="-122"/>
              </a:rPr>
              <a:t> – create a new entry for a variable in the given  symbol table.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zh-CN" sz="800" smtClean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b="1" smtClean="0">
                <a:ea typeface="宋体" panose="02010600030101010101" pitchFamily="2" charset="-122"/>
              </a:rPr>
              <a:t>enterproc(symtable,name,newsymbtable)</a:t>
            </a:r>
            <a:r>
              <a:rPr lang="en-US" altLang="zh-CN" sz="2000" smtClean="0">
                <a:ea typeface="宋体" panose="02010600030101010101" pitchFamily="2" charset="-122"/>
              </a:rPr>
              <a:t> – create a new entry for the procedure in    the symbol table of its parent.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zh-CN" sz="800" smtClean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b="1" smtClean="0">
                <a:ea typeface="宋体" panose="02010600030101010101" pitchFamily="2" charset="-122"/>
              </a:rPr>
              <a:t>addwidth(symtable,width)</a:t>
            </a:r>
            <a:r>
              <a:rPr lang="en-US" altLang="zh-CN" sz="2000" smtClean="0">
                <a:ea typeface="宋体" panose="02010600030101010101" pitchFamily="2" charset="-122"/>
              </a:rPr>
              <a:t> – puts the total width of all entries in the symbol table       into the header of that table.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zh-CN" sz="2000" smtClean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000" smtClean="0">
                <a:ea typeface="宋体" panose="02010600030101010101" pitchFamily="2" charset="-122"/>
              </a:rPr>
              <a:t>We will have two stacks:</a:t>
            </a:r>
          </a:p>
          <a:p>
            <a:pPr lvl="1">
              <a:lnSpc>
                <a:spcPct val="90000"/>
              </a:lnSpc>
            </a:pPr>
            <a:r>
              <a:rPr lang="en-US" altLang="zh-CN" sz="1600" b="1" smtClean="0">
                <a:ea typeface="宋体" panose="02010600030101010101" pitchFamily="2" charset="-122"/>
              </a:rPr>
              <a:t>tblptr</a:t>
            </a:r>
            <a:r>
              <a:rPr lang="en-US" altLang="zh-CN" sz="1600" smtClean="0">
                <a:ea typeface="宋体" panose="02010600030101010101" pitchFamily="2" charset="-122"/>
              </a:rPr>
              <a:t> – to hold the pointers to the symbol tables</a:t>
            </a:r>
          </a:p>
          <a:p>
            <a:pPr lvl="1">
              <a:lnSpc>
                <a:spcPct val="90000"/>
              </a:lnSpc>
            </a:pPr>
            <a:r>
              <a:rPr lang="en-US" altLang="zh-CN" sz="1600" b="1" smtClean="0">
                <a:ea typeface="宋体" panose="02010600030101010101" pitchFamily="2" charset="-122"/>
              </a:rPr>
              <a:t>offset</a:t>
            </a:r>
            <a:r>
              <a:rPr lang="en-US" altLang="zh-CN" sz="1600" smtClean="0">
                <a:ea typeface="宋体" panose="02010600030101010101" pitchFamily="2" charset="-122"/>
              </a:rPr>
              <a:t> – to hold the current offsets in the symbol tables in </a:t>
            </a:r>
            <a:r>
              <a:rPr lang="en-US" altLang="zh-CN" sz="1600" b="1" smtClean="0">
                <a:ea typeface="宋体" panose="02010600030101010101" pitchFamily="2" charset="-122"/>
              </a:rPr>
              <a:t>tblptr</a:t>
            </a:r>
            <a:r>
              <a:rPr lang="en-US" altLang="zh-CN" sz="1600" smtClean="0">
                <a:ea typeface="宋体" panose="02010600030101010101" pitchFamily="2" charset="-122"/>
              </a:rPr>
              <a:t> stack.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</a:rPr>
              <a:t>	</a:t>
            </a:r>
          </a:p>
        </p:txBody>
      </p:sp>
    </p:spTree>
  </p:cSld>
  <p:clrMapOvr>
    <a:masterClrMapping/>
  </p:clrMapOvr>
  <p:transition>
    <p:rand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14339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1434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5D9BEC2-5643-4AF5-92C2-E18903E95F3C}" type="slidenum">
              <a:rPr lang="zh-CN" altLang="en-US" sz="800"/>
              <a:pPr/>
              <a:t>13</a:t>
            </a:fld>
            <a:endParaRPr lang="en-US" altLang="zh-CN" sz="800"/>
          </a:p>
        </p:txBody>
      </p:sp>
      <p:sp>
        <p:nvSpPr>
          <p:cNvPr id="143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Nested Procedure Declarations (P.477)</a:t>
            </a:r>
          </a:p>
        </p:txBody>
      </p:sp>
      <p:sp>
        <p:nvSpPr>
          <p:cNvPr id="1434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P 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 M D    { addwidth(top(tblptr),top(offset)); pop(tblptr); pop(offset) }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zh-CN" sz="800" smtClean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M 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mtClean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€	        { t=mktable(nil); push(t,tblptr); push(0,offset) }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zh-CN" sz="800" smtClean="0"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D 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 D ; D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zh-CN" sz="800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D   proc </a:t>
            </a:r>
            <a:r>
              <a:rPr lang="en-US" altLang="zh-CN" b="1" smtClean="0">
                <a:ea typeface="宋体" panose="02010600030101010101" pitchFamily="2" charset="-122"/>
                <a:sym typeface="Symbol" panose="05050102010706020507" pitchFamily="18" charset="2"/>
              </a:rPr>
              <a:t>id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 N D ; S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		       { t=top(tblptr); addwidth(t,top(offset));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		          pop(tblptr); pop(offset);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		          enterproc(top(tblptr),id.name,t) }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zh-CN" sz="800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D   </a:t>
            </a:r>
            <a:r>
              <a:rPr lang="en-US" altLang="zh-CN" b="1" smtClean="0">
                <a:ea typeface="宋体" panose="02010600030101010101" pitchFamily="2" charset="-122"/>
                <a:sym typeface="Symbol" panose="05050102010706020507" pitchFamily="18" charset="2"/>
              </a:rPr>
              <a:t>id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 : T { enter(top(tblptr),id.name,T.type,top(offset));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		           top(offset)=top(offset)+T.width }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zh-CN" sz="800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N   €	       { t=mktable(top(tblptr)); push(t,tblptr); push(0,offset) }</a:t>
            </a:r>
          </a:p>
        </p:txBody>
      </p:sp>
    </p:spTree>
  </p:cSld>
  <p:clrMapOvr>
    <a:masterClrMapping/>
  </p:clrMapOvr>
  <p:transition>
    <p:rand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1536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1536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01AA5D2-63C4-43D0-BF92-16D894691205}" type="slidenum">
              <a:rPr lang="zh-CN" altLang="en-US" sz="800"/>
              <a:pPr/>
              <a:t>14</a:t>
            </a:fld>
            <a:endParaRPr lang="en-US" altLang="zh-CN" sz="800"/>
          </a:p>
        </p:txBody>
      </p:sp>
      <p:sp>
        <p:nvSpPr>
          <p:cNvPr id="153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smtClean="0">
                <a:ea typeface="宋体" panose="02010600030101010101" pitchFamily="2" charset="-122"/>
              </a:rPr>
              <a:t>Translation Scheme to Produce Three-Address Code --Assignment Statements (P.478)</a:t>
            </a:r>
          </a:p>
        </p:txBody>
      </p:sp>
      <p:sp>
        <p:nvSpPr>
          <p:cNvPr id="153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95400" y="1219200"/>
            <a:ext cx="7162800" cy="51054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</a:rPr>
              <a:t>S 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000" b="1" smtClean="0">
                <a:ea typeface="宋体" panose="02010600030101010101" pitchFamily="2" charset="-122"/>
                <a:sym typeface="Symbol" panose="05050102010706020507" pitchFamily="18" charset="2"/>
              </a:rPr>
              <a:t>id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 := E	{ p= lookup(id.name);</a:t>
            </a:r>
          </a:p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			   if (p is not nil) then  emit(‘mov’ p‘,,’ E.place)</a:t>
            </a:r>
          </a:p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			   else error(“undefined-variable”)  }</a:t>
            </a:r>
          </a:p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</a:rPr>
              <a:t>E 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 E</a:t>
            </a:r>
            <a:r>
              <a:rPr lang="en-US" altLang="zh-CN" sz="20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 + E</a:t>
            </a:r>
            <a:r>
              <a:rPr lang="en-US" altLang="zh-CN" sz="20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	{ E.place = newtemp();</a:t>
            </a:r>
          </a:p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			   emit(‘add’ E.place ‘,’ E</a:t>
            </a:r>
            <a:r>
              <a:rPr lang="en-US" altLang="zh-CN" sz="20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.place ‘,’ E</a:t>
            </a:r>
            <a:r>
              <a:rPr lang="en-US" altLang="zh-CN" sz="20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.place) }</a:t>
            </a:r>
          </a:p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</a:rPr>
              <a:t>E 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 E</a:t>
            </a:r>
            <a:r>
              <a:rPr lang="en-US" altLang="zh-CN" sz="20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 * E</a:t>
            </a:r>
            <a:r>
              <a:rPr lang="en-US" altLang="zh-CN" sz="20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	{ E.place = newtemp();</a:t>
            </a:r>
          </a:p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			   emit(‘mult’ E.place ‘,’ E</a:t>
            </a:r>
            <a:r>
              <a:rPr lang="en-US" altLang="zh-CN" sz="20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.place ‘,’ E</a:t>
            </a:r>
            <a:r>
              <a:rPr lang="en-US" altLang="zh-CN" sz="20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.place)  }</a:t>
            </a:r>
          </a:p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</a:rPr>
              <a:t>E 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 - E</a:t>
            </a:r>
            <a:r>
              <a:rPr lang="en-US" altLang="zh-CN" sz="20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 	{ E.place = newtemp();</a:t>
            </a:r>
          </a:p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			   emit(‘uminus’ E.place ‘,,’ E</a:t>
            </a:r>
            <a:r>
              <a:rPr lang="en-US" altLang="zh-CN" sz="20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.place)  }</a:t>
            </a:r>
          </a:p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</a:rPr>
              <a:t>E 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 ( E</a:t>
            </a:r>
            <a:r>
              <a:rPr lang="en-US" altLang="zh-CN" sz="20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 )	{ E.place = E</a:t>
            </a:r>
            <a:r>
              <a:rPr lang="en-US" altLang="zh-CN" sz="20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.place; }			</a:t>
            </a:r>
          </a:p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</a:rPr>
              <a:t>E 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000" b="1" smtClean="0">
                <a:ea typeface="宋体" panose="02010600030101010101" pitchFamily="2" charset="-122"/>
                <a:sym typeface="Symbol" panose="05050102010706020507" pitchFamily="18" charset="2"/>
              </a:rPr>
              <a:t>id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		{ p= lookup(id.name);</a:t>
            </a:r>
          </a:p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			   if (p is not nil) then E.place = </a:t>
            </a:r>
            <a:r>
              <a:rPr lang="en-US" altLang="zh-CN" sz="2000" b="1" smtClean="0">
                <a:ea typeface="宋体" panose="02010600030101010101" pitchFamily="2" charset="-122"/>
                <a:sym typeface="Symbol" panose="05050102010706020507" pitchFamily="18" charset="2"/>
              </a:rPr>
              <a:t>id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.place</a:t>
            </a:r>
          </a:p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			   else error(“undefined-variable”)  }</a:t>
            </a:r>
          </a:p>
          <a:p>
            <a:pPr>
              <a:buFontTx/>
              <a:buNone/>
            </a:pPr>
            <a:endParaRPr lang="zh-CN" altLang="en-US" sz="2000" smtClean="0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1638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1638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CC0FB60-298A-4653-B4AF-B4ADF48147BB}" type="slidenum">
              <a:rPr lang="zh-CN" altLang="en-US" sz="800"/>
              <a:pPr/>
              <a:t>15</a:t>
            </a:fld>
            <a:endParaRPr lang="en-US" altLang="zh-CN" sz="800"/>
          </a:p>
        </p:txBody>
      </p:sp>
      <p:sp>
        <p:nvSpPr>
          <p:cNvPr id="16389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9372600" cy="6096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Translation Scheme with Locations</a:t>
            </a:r>
          </a:p>
        </p:txBody>
      </p:sp>
      <p:sp>
        <p:nvSpPr>
          <p:cNvPr id="163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990600"/>
            <a:ext cx="9448800" cy="5334000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zh-CN" sz="1600" smtClean="0">
                <a:ea typeface="宋体" panose="02010600030101010101" pitchFamily="2" charset="-122"/>
              </a:rPr>
              <a:t>S </a:t>
            </a:r>
            <a:r>
              <a:rPr lang="en-US" altLang="zh-CN" sz="1600" smtClean="0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1600" b="1" smtClean="0">
                <a:ea typeface="宋体" panose="02010600030101010101" pitchFamily="2" charset="-122"/>
                <a:sym typeface="Symbol" panose="05050102010706020507" pitchFamily="18" charset="2"/>
              </a:rPr>
              <a:t>id</a:t>
            </a:r>
            <a:r>
              <a:rPr lang="en-US" altLang="zh-CN" sz="1600" smtClean="0">
                <a:ea typeface="宋体" panose="02010600030101010101" pitchFamily="2" charset="-122"/>
                <a:sym typeface="Symbol" panose="05050102010706020507" pitchFamily="18" charset="2"/>
              </a:rPr>
              <a:t> := { E.inloc = S.inloc } E 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1600" smtClean="0">
                <a:ea typeface="宋体" panose="02010600030101010101" pitchFamily="2" charset="-122"/>
                <a:sym typeface="Symbol" panose="05050102010706020507" pitchFamily="18" charset="2"/>
              </a:rPr>
              <a:t> 	{ p = lookup(id.name);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1600" smtClean="0">
                <a:ea typeface="宋体" panose="02010600030101010101" pitchFamily="2" charset="-122"/>
                <a:sym typeface="Symbol" panose="05050102010706020507" pitchFamily="18" charset="2"/>
              </a:rPr>
              <a:t>	   if (p is not nil) then  { emit(E.outloc ‘mov’ E.place ‘,,’ p); S.outloc=E.outloc+1 }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1600" smtClean="0">
                <a:ea typeface="宋体" panose="02010600030101010101" pitchFamily="2" charset="-122"/>
                <a:sym typeface="Symbol" panose="05050102010706020507" pitchFamily="18" charset="2"/>
              </a:rPr>
              <a:t>	   else { error(“undefined-variable”); S.outloc=E.outloc } }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zh-CN" sz="1600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1600" smtClean="0">
                <a:ea typeface="宋体" panose="02010600030101010101" pitchFamily="2" charset="-122"/>
              </a:rPr>
              <a:t>E </a:t>
            </a:r>
            <a:r>
              <a:rPr lang="en-US" altLang="zh-CN" sz="1600" smtClean="0">
                <a:ea typeface="宋体" panose="02010600030101010101" pitchFamily="2" charset="-122"/>
                <a:sym typeface="Symbol" panose="05050102010706020507" pitchFamily="18" charset="2"/>
              </a:rPr>
              <a:t> { E</a:t>
            </a:r>
            <a:r>
              <a:rPr lang="en-US" altLang="zh-CN" sz="16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1600" smtClean="0">
                <a:ea typeface="宋体" panose="02010600030101010101" pitchFamily="2" charset="-122"/>
                <a:sym typeface="Symbol" panose="05050102010706020507" pitchFamily="18" charset="2"/>
              </a:rPr>
              <a:t>.inloc = E.inloc } E</a:t>
            </a:r>
            <a:r>
              <a:rPr lang="en-US" altLang="zh-CN" sz="16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1600" smtClean="0">
                <a:ea typeface="宋体" panose="02010600030101010101" pitchFamily="2" charset="-122"/>
                <a:sym typeface="Symbol" panose="05050102010706020507" pitchFamily="18" charset="2"/>
              </a:rPr>
              <a:t> + { E</a:t>
            </a:r>
            <a:r>
              <a:rPr lang="en-US" altLang="zh-CN" sz="16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1600" smtClean="0">
                <a:ea typeface="宋体" panose="02010600030101010101" pitchFamily="2" charset="-122"/>
                <a:sym typeface="Symbol" panose="05050102010706020507" pitchFamily="18" charset="2"/>
              </a:rPr>
              <a:t>.inloc = E</a:t>
            </a:r>
            <a:r>
              <a:rPr lang="en-US" altLang="zh-CN" sz="16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1600" smtClean="0">
                <a:ea typeface="宋体" panose="02010600030101010101" pitchFamily="2" charset="-122"/>
                <a:sym typeface="Symbol" panose="05050102010706020507" pitchFamily="18" charset="2"/>
              </a:rPr>
              <a:t>.outloc } E</a:t>
            </a:r>
            <a:r>
              <a:rPr lang="en-US" altLang="zh-CN" sz="16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1600" smtClean="0">
                <a:ea typeface="宋体" panose="02010600030101010101" pitchFamily="2" charset="-122"/>
                <a:sym typeface="Symbol" panose="05050102010706020507" pitchFamily="18" charset="2"/>
              </a:rPr>
              <a:t>	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1600" smtClean="0">
                <a:ea typeface="宋体" panose="02010600030101010101" pitchFamily="2" charset="-122"/>
                <a:sym typeface="Symbol" panose="05050102010706020507" pitchFamily="18" charset="2"/>
              </a:rPr>
              <a:t>         { E.place = newtemp();  emit(E</a:t>
            </a:r>
            <a:r>
              <a:rPr lang="en-US" altLang="zh-CN" sz="16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1600" smtClean="0">
                <a:ea typeface="宋体" panose="02010600030101010101" pitchFamily="2" charset="-122"/>
                <a:sym typeface="Symbol" panose="05050102010706020507" pitchFamily="18" charset="2"/>
              </a:rPr>
              <a:t>.outloc ‘add’ E.place ‘,’ E</a:t>
            </a:r>
            <a:r>
              <a:rPr lang="en-US" altLang="zh-CN" sz="16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1600" smtClean="0">
                <a:ea typeface="宋体" panose="02010600030101010101" pitchFamily="2" charset="-122"/>
                <a:sym typeface="Symbol" panose="05050102010706020507" pitchFamily="18" charset="2"/>
              </a:rPr>
              <a:t>.place ‘,’ E</a:t>
            </a:r>
            <a:r>
              <a:rPr lang="en-US" altLang="zh-CN" sz="16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1600" smtClean="0">
                <a:ea typeface="宋体" panose="02010600030101010101" pitchFamily="2" charset="-122"/>
                <a:sym typeface="Symbol" panose="05050102010706020507" pitchFamily="18" charset="2"/>
              </a:rPr>
              <a:t>.place); E.outloc=E</a:t>
            </a:r>
            <a:r>
              <a:rPr lang="en-US" altLang="zh-CN" sz="16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1600" smtClean="0">
                <a:ea typeface="宋体" panose="02010600030101010101" pitchFamily="2" charset="-122"/>
                <a:sym typeface="Symbol" panose="05050102010706020507" pitchFamily="18" charset="2"/>
              </a:rPr>
              <a:t>.outloc+1 }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zh-CN" sz="1600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1600" smtClean="0">
                <a:ea typeface="宋体" panose="02010600030101010101" pitchFamily="2" charset="-122"/>
              </a:rPr>
              <a:t>E </a:t>
            </a:r>
            <a:r>
              <a:rPr lang="en-US" altLang="zh-CN" sz="1600" smtClean="0">
                <a:ea typeface="宋体" panose="02010600030101010101" pitchFamily="2" charset="-122"/>
                <a:sym typeface="Symbol" panose="05050102010706020507" pitchFamily="18" charset="2"/>
              </a:rPr>
              <a:t> { E</a:t>
            </a:r>
            <a:r>
              <a:rPr lang="en-US" altLang="zh-CN" sz="16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1600" smtClean="0">
                <a:ea typeface="宋体" panose="02010600030101010101" pitchFamily="2" charset="-122"/>
                <a:sym typeface="Symbol" panose="05050102010706020507" pitchFamily="18" charset="2"/>
              </a:rPr>
              <a:t>.inloc = E.inloc } E</a:t>
            </a:r>
            <a:r>
              <a:rPr lang="en-US" altLang="zh-CN" sz="16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1600" smtClean="0">
                <a:ea typeface="宋体" panose="02010600030101010101" pitchFamily="2" charset="-122"/>
                <a:sym typeface="Symbol" panose="05050102010706020507" pitchFamily="18" charset="2"/>
              </a:rPr>
              <a:t> + { E</a:t>
            </a:r>
            <a:r>
              <a:rPr lang="en-US" altLang="zh-CN" sz="16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1600" smtClean="0">
                <a:ea typeface="宋体" panose="02010600030101010101" pitchFamily="2" charset="-122"/>
                <a:sym typeface="Symbol" panose="05050102010706020507" pitchFamily="18" charset="2"/>
              </a:rPr>
              <a:t>.inloc = E</a:t>
            </a:r>
            <a:r>
              <a:rPr lang="en-US" altLang="zh-CN" sz="16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1600" smtClean="0">
                <a:ea typeface="宋体" panose="02010600030101010101" pitchFamily="2" charset="-122"/>
                <a:sym typeface="Symbol" panose="05050102010706020507" pitchFamily="18" charset="2"/>
              </a:rPr>
              <a:t>.outloc } E</a:t>
            </a:r>
            <a:r>
              <a:rPr lang="en-US" altLang="zh-CN" sz="16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1600" smtClean="0">
                <a:ea typeface="宋体" panose="02010600030101010101" pitchFamily="2" charset="-122"/>
                <a:sym typeface="Symbol" panose="05050102010706020507" pitchFamily="18" charset="2"/>
              </a:rPr>
              <a:t>	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1600" smtClean="0">
                <a:ea typeface="宋体" panose="02010600030101010101" pitchFamily="2" charset="-122"/>
                <a:sym typeface="Symbol" panose="05050102010706020507" pitchFamily="18" charset="2"/>
              </a:rPr>
              <a:t>         { E.place = newtemp();  emit(E</a:t>
            </a:r>
            <a:r>
              <a:rPr lang="en-US" altLang="zh-CN" sz="16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1600" smtClean="0">
                <a:ea typeface="宋体" panose="02010600030101010101" pitchFamily="2" charset="-122"/>
                <a:sym typeface="Symbol" panose="05050102010706020507" pitchFamily="18" charset="2"/>
              </a:rPr>
              <a:t>.outloc ‘mult’ E.place ‘,’ E</a:t>
            </a:r>
            <a:r>
              <a:rPr lang="en-US" altLang="zh-CN" sz="16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1600" smtClean="0">
                <a:ea typeface="宋体" panose="02010600030101010101" pitchFamily="2" charset="-122"/>
                <a:sym typeface="Symbol" panose="05050102010706020507" pitchFamily="18" charset="2"/>
              </a:rPr>
              <a:t>.place ‘,’ E</a:t>
            </a:r>
            <a:r>
              <a:rPr lang="en-US" altLang="zh-CN" sz="16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1600" smtClean="0">
                <a:ea typeface="宋体" panose="02010600030101010101" pitchFamily="2" charset="-122"/>
                <a:sym typeface="Symbol" panose="05050102010706020507" pitchFamily="18" charset="2"/>
              </a:rPr>
              <a:t>.place); E.outloc=E</a:t>
            </a:r>
            <a:r>
              <a:rPr lang="en-US" altLang="zh-CN" sz="16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1600" smtClean="0">
                <a:ea typeface="宋体" panose="02010600030101010101" pitchFamily="2" charset="-122"/>
                <a:sym typeface="Symbol" panose="05050102010706020507" pitchFamily="18" charset="2"/>
              </a:rPr>
              <a:t>.outloc+1 }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zh-CN" sz="1600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1600" smtClean="0">
                <a:ea typeface="宋体" panose="02010600030101010101" pitchFamily="2" charset="-122"/>
              </a:rPr>
              <a:t>E </a:t>
            </a:r>
            <a:r>
              <a:rPr lang="en-US" altLang="zh-CN" sz="1600" smtClean="0">
                <a:ea typeface="宋体" panose="02010600030101010101" pitchFamily="2" charset="-122"/>
                <a:sym typeface="Symbol" panose="05050102010706020507" pitchFamily="18" charset="2"/>
              </a:rPr>
              <a:t> - { E</a:t>
            </a:r>
            <a:r>
              <a:rPr lang="en-US" altLang="zh-CN" sz="16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1600" smtClean="0">
                <a:ea typeface="宋体" panose="02010600030101010101" pitchFamily="2" charset="-122"/>
                <a:sym typeface="Symbol" panose="05050102010706020507" pitchFamily="18" charset="2"/>
              </a:rPr>
              <a:t>.inloc = E.inloc } E</a:t>
            </a:r>
            <a:r>
              <a:rPr lang="en-US" altLang="zh-CN" sz="16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1600" smtClean="0">
                <a:ea typeface="宋体" panose="02010600030101010101" pitchFamily="2" charset="-122"/>
                <a:sym typeface="Symbol" panose="05050102010706020507" pitchFamily="18" charset="2"/>
              </a:rPr>
              <a:t> 	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1600" smtClean="0">
                <a:ea typeface="宋体" panose="02010600030101010101" pitchFamily="2" charset="-122"/>
                <a:sym typeface="Symbol" panose="05050102010706020507" pitchFamily="18" charset="2"/>
              </a:rPr>
              <a:t>	  { E.place = newtemp(); emit(E</a:t>
            </a:r>
            <a:r>
              <a:rPr lang="en-US" altLang="zh-CN" sz="16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1600" smtClean="0">
                <a:ea typeface="宋体" panose="02010600030101010101" pitchFamily="2" charset="-122"/>
                <a:sym typeface="Symbol" panose="05050102010706020507" pitchFamily="18" charset="2"/>
              </a:rPr>
              <a:t>.outloc ‘uminus’ E.place ‘,,’ E</a:t>
            </a:r>
            <a:r>
              <a:rPr lang="en-US" altLang="zh-CN" sz="16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1600" smtClean="0">
                <a:ea typeface="宋体" panose="02010600030101010101" pitchFamily="2" charset="-122"/>
                <a:sym typeface="Symbol" panose="05050102010706020507" pitchFamily="18" charset="2"/>
              </a:rPr>
              <a:t>.place); E.outloc=E</a:t>
            </a:r>
            <a:r>
              <a:rPr lang="en-US" altLang="zh-CN" sz="16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1600" smtClean="0">
                <a:ea typeface="宋体" panose="02010600030101010101" pitchFamily="2" charset="-122"/>
                <a:sym typeface="Symbol" panose="05050102010706020507" pitchFamily="18" charset="2"/>
              </a:rPr>
              <a:t>.outloc+1 }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zh-CN" sz="1600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1600" smtClean="0">
                <a:ea typeface="宋体" panose="02010600030101010101" pitchFamily="2" charset="-122"/>
              </a:rPr>
              <a:t>E </a:t>
            </a:r>
            <a:r>
              <a:rPr lang="en-US" altLang="zh-CN" sz="1600" smtClean="0">
                <a:ea typeface="宋体" panose="02010600030101010101" pitchFamily="2" charset="-122"/>
                <a:sym typeface="Symbol" panose="05050102010706020507" pitchFamily="18" charset="2"/>
              </a:rPr>
              <a:t> ( E</a:t>
            </a:r>
            <a:r>
              <a:rPr lang="en-US" altLang="zh-CN" sz="16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1600" smtClean="0">
                <a:ea typeface="宋体" panose="02010600030101010101" pitchFamily="2" charset="-122"/>
                <a:sym typeface="Symbol" panose="05050102010706020507" pitchFamily="18" charset="2"/>
              </a:rPr>
              <a:t> )	{ E.place = E</a:t>
            </a:r>
            <a:r>
              <a:rPr lang="en-US" altLang="zh-CN" sz="16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1600" smtClean="0">
                <a:ea typeface="宋体" panose="02010600030101010101" pitchFamily="2" charset="-122"/>
                <a:sym typeface="Symbol" panose="05050102010706020507" pitchFamily="18" charset="2"/>
              </a:rPr>
              <a:t>.place; E.outloc=E</a:t>
            </a:r>
            <a:r>
              <a:rPr lang="en-US" altLang="zh-CN" sz="16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1600" smtClean="0">
                <a:ea typeface="宋体" panose="02010600030101010101" pitchFamily="2" charset="-122"/>
                <a:sym typeface="Symbol" panose="05050102010706020507" pitchFamily="18" charset="2"/>
              </a:rPr>
              <a:t>.outloc+1 }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1600" smtClean="0">
                <a:ea typeface="宋体" panose="02010600030101010101" pitchFamily="2" charset="-122"/>
                <a:sym typeface="Symbol" panose="05050102010706020507" pitchFamily="18" charset="2"/>
              </a:rPr>
              <a:t>			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1600" smtClean="0">
                <a:ea typeface="宋体" panose="02010600030101010101" pitchFamily="2" charset="-122"/>
              </a:rPr>
              <a:t>E </a:t>
            </a:r>
            <a:r>
              <a:rPr lang="en-US" altLang="zh-CN" sz="1600" smtClean="0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1600" b="1" smtClean="0">
                <a:ea typeface="宋体" panose="02010600030101010101" pitchFamily="2" charset="-122"/>
                <a:sym typeface="Symbol" panose="05050102010706020507" pitchFamily="18" charset="2"/>
              </a:rPr>
              <a:t>id</a:t>
            </a:r>
            <a:r>
              <a:rPr lang="en-US" altLang="zh-CN" sz="1600" smtClean="0">
                <a:ea typeface="宋体" panose="02010600030101010101" pitchFamily="2" charset="-122"/>
                <a:sym typeface="Symbol" panose="05050102010706020507" pitchFamily="18" charset="2"/>
              </a:rPr>
              <a:t> { E.outloc = E.inloc; p= lookup(id.name); 	       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1600" smtClean="0">
                <a:ea typeface="宋体" panose="02010600030101010101" pitchFamily="2" charset="-122"/>
                <a:sym typeface="Symbol" panose="05050102010706020507" pitchFamily="18" charset="2"/>
              </a:rPr>
              <a:t>	         if (p is not nil) then E.place = </a:t>
            </a:r>
            <a:r>
              <a:rPr lang="en-US" altLang="zh-CN" sz="1600" b="1" smtClean="0">
                <a:ea typeface="宋体" panose="02010600030101010101" pitchFamily="2" charset="-122"/>
                <a:sym typeface="Symbol" panose="05050102010706020507" pitchFamily="18" charset="2"/>
              </a:rPr>
              <a:t>id</a:t>
            </a:r>
            <a:r>
              <a:rPr lang="en-US" altLang="zh-CN" sz="1600" smtClean="0">
                <a:ea typeface="宋体" panose="02010600030101010101" pitchFamily="2" charset="-122"/>
                <a:sym typeface="Symbol" panose="05050102010706020507" pitchFamily="18" charset="2"/>
              </a:rPr>
              <a:t>.place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1600" smtClean="0">
                <a:ea typeface="宋体" panose="02010600030101010101" pitchFamily="2" charset="-122"/>
                <a:sym typeface="Symbol" panose="05050102010706020507" pitchFamily="18" charset="2"/>
              </a:rPr>
              <a:t>	         else error(“undefined-variable”)  }</a:t>
            </a:r>
          </a:p>
          <a:p>
            <a:pPr>
              <a:lnSpc>
                <a:spcPct val="90000"/>
              </a:lnSpc>
              <a:buFontTx/>
              <a:buNone/>
            </a:pPr>
            <a:endParaRPr lang="zh-CN" altLang="en-US" sz="1600" smtClean="0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日期占位符 4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17411" name="页脚占位符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17412" name="灯片编号占位符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F5917BA-2DAB-4CFA-B45C-D0E7254C2174}" type="slidenum">
              <a:rPr lang="zh-CN" altLang="en-US" sz="800"/>
              <a:pPr/>
              <a:t>16</a:t>
            </a:fld>
            <a:endParaRPr lang="en-US" altLang="zh-CN" sz="800"/>
          </a:p>
        </p:txBody>
      </p:sp>
      <p:sp>
        <p:nvSpPr>
          <p:cNvPr id="174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Arrays (P.481)</a:t>
            </a:r>
          </a:p>
        </p:txBody>
      </p:sp>
      <p:sp>
        <p:nvSpPr>
          <p:cNvPr id="1741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219200"/>
            <a:ext cx="8991600" cy="5257800"/>
          </a:xfrm>
        </p:spPr>
        <p:txBody>
          <a:bodyPr/>
          <a:lstStyle/>
          <a:p>
            <a:r>
              <a:rPr lang="en-US" altLang="zh-CN" sz="2000" smtClean="0">
                <a:ea typeface="宋体" panose="02010600030101010101" pitchFamily="2" charset="-122"/>
              </a:rPr>
              <a:t>Elements of arrays can be accessed quickly if the elements are stored in a block of consecutive locations.</a:t>
            </a:r>
          </a:p>
          <a:p>
            <a:endParaRPr lang="en-US" altLang="zh-CN" sz="2000" smtClean="0"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</a:rPr>
              <a:t>A one-dimensional array </a:t>
            </a:r>
            <a:r>
              <a:rPr lang="en-US" altLang="zh-CN" sz="2000" b="1" smtClean="0">
                <a:ea typeface="宋体" panose="02010600030101010101" pitchFamily="2" charset="-122"/>
              </a:rPr>
              <a:t>A</a:t>
            </a:r>
            <a:r>
              <a:rPr lang="en-US" altLang="zh-CN" sz="2000" smtClean="0">
                <a:ea typeface="宋体" panose="02010600030101010101" pitchFamily="2" charset="-122"/>
              </a:rPr>
              <a:t>:</a:t>
            </a:r>
          </a:p>
          <a:p>
            <a:pPr>
              <a:buFontTx/>
              <a:buNone/>
            </a:pPr>
            <a:endParaRPr lang="en-US" altLang="zh-CN" sz="2000" smtClean="0">
              <a:ea typeface="宋体" panose="02010600030101010101" pitchFamily="2" charset="-122"/>
            </a:endParaRPr>
          </a:p>
          <a:p>
            <a:pPr>
              <a:buFontTx/>
              <a:buNone/>
            </a:pPr>
            <a:endParaRPr lang="en-US" altLang="zh-CN" sz="2000" smtClean="0">
              <a:ea typeface="宋体" panose="02010600030101010101" pitchFamily="2" charset="-122"/>
            </a:endParaRPr>
          </a:p>
          <a:p>
            <a:pPr>
              <a:buFontTx/>
              <a:buNone/>
            </a:pPr>
            <a:endParaRPr lang="en-US" altLang="zh-CN" sz="2000" smtClean="0"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</a:rPr>
              <a:t>base</a:t>
            </a:r>
            <a:r>
              <a:rPr lang="en-US" altLang="zh-CN" sz="2000" baseline="-25000" smtClean="0">
                <a:ea typeface="宋体" panose="02010600030101010101" pitchFamily="2" charset="-122"/>
              </a:rPr>
              <a:t>A</a:t>
            </a:r>
            <a:r>
              <a:rPr lang="en-US" altLang="zh-CN" sz="2000" smtClean="0">
                <a:ea typeface="宋体" panose="02010600030101010101" pitchFamily="2" charset="-122"/>
              </a:rPr>
              <a:t>   low		i		     width</a:t>
            </a:r>
          </a:p>
          <a:p>
            <a:pPr>
              <a:buFontTx/>
              <a:buNone/>
            </a:pPr>
            <a:endParaRPr lang="en-US" altLang="zh-CN" sz="2000" smtClean="0"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sz="2000" b="1" smtClean="0">
                <a:ea typeface="宋体" panose="02010600030101010101" pitchFamily="2" charset="-122"/>
              </a:rPr>
              <a:t>base</a:t>
            </a:r>
            <a:r>
              <a:rPr lang="en-US" altLang="zh-CN" sz="2000" b="1" baseline="-25000" smtClean="0">
                <a:ea typeface="宋体" panose="02010600030101010101" pitchFamily="2" charset="-122"/>
              </a:rPr>
              <a:t>A</a:t>
            </a:r>
            <a:r>
              <a:rPr lang="en-US" altLang="zh-CN" sz="2000" smtClean="0">
                <a:ea typeface="宋体" panose="02010600030101010101" pitchFamily="2" charset="-122"/>
              </a:rPr>
              <a:t> is the address of the first location of the array A, </a:t>
            </a:r>
          </a:p>
          <a:p>
            <a:pPr>
              <a:buFontTx/>
              <a:buNone/>
            </a:pPr>
            <a:r>
              <a:rPr lang="en-US" altLang="zh-CN" sz="2000" b="1" smtClean="0">
                <a:ea typeface="宋体" panose="02010600030101010101" pitchFamily="2" charset="-122"/>
              </a:rPr>
              <a:t>width</a:t>
            </a:r>
            <a:r>
              <a:rPr lang="en-US" altLang="zh-CN" sz="2000" smtClean="0">
                <a:ea typeface="宋体" panose="02010600030101010101" pitchFamily="2" charset="-122"/>
              </a:rPr>
              <a:t> is the width of each array element.</a:t>
            </a:r>
          </a:p>
          <a:p>
            <a:pPr>
              <a:buFontTx/>
              <a:buNone/>
            </a:pPr>
            <a:r>
              <a:rPr lang="en-US" altLang="zh-CN" sz="2000" b="1" smtClean="0">
                <a:ea typeface="宋体" panose="02010600030101010101" pitchFamily="2" charset="-122"/>
              </a:rPr>
              <a:t>low</a:t>
            </a:r>
            <a:r>
              <a:rPr lang="en-US" altLang="zh-CN" sz="2000" smtClean="0">
                <a:ea typeface="宋体" panose="02010600030101010101" pitchFamily="2" charset="-122"/>
              </a:rPr>
              <a:t> is the index of the first array element</a:t>
            </a:r>
          </a:p>
          <a:p>
            <a:pPr>
              <a:buFontTx/>
              <a:buNone/>
            </a:pPr>
            <a:endParaRPr lang="en-US" altLang="zh-CN" sz="2000" smtClean="0"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</a:rPr>
              <a:t>location of A[i]  </a:t>
            </a:r>
            <a:r>
              <a:rPr lang="en-US" altLang="zh-CN" sz="2000" smtClean="0">
                <a:ea typeface="宋体" panose="02010600030101010101" pitchFamily="2" charset="-122"/>
                <a:sym typeface="Wingdings" panose="05000000000000000000" pitchFamily="2" charset="2"/>
              </a:rPr>
              <a:t> </a:t>
            </a:r>
            <a:r>
              <a:rPr lang="en-US" altLang="zh-CN" sz="2000" smtClean="0">
                <a:ea typeface="宋体" panose="02010600030101010101" pitchFamily="2" charset="-122"/>
              </a:rPr>
              <a:t> base</a:t>
            </a:r>
            <a:r>
              <a:rPr lang="en-US" altLang="zh-CN" sz="2000" baseline="-25000" smtClean="0">
                <a:ea typeface="宋体" panose="02010600030101010101" pitchFamily="2" charset="-122"/>
              </a:rPr>
              <a:t>A</a:t>
            </a:r>
            <a:r>
              <a:rPr lang="en-US" altLang="zh-CN" sz="2000" smtClean="0">
                <a:ea typeface="宋体" panose="02010600030101010101" pitchFamily="2" charset="-122"/>
              </a:rPr>
              <a:t>+(i-low)*width</a:t>
            </a:r>
          </a:p>
        </p:txBody>
      </p:sp>
      <p:graphicFrame>
        <p:nvGraphicFramePr>
          <p:cNvPr id="454660" name="Group 4"/>
          <p:cNvGraphicFramePr>
            <a:graphicFrameLocks noGrp="1"/>
          </p:cNvGraphicFramePr>
          <p:nvPr>
            <p:ph sz="half" idx="2"/>
          </p:nvPr>
        </p:nvGraphicFramePr>
        <p:xfrm>
          <a:off x="1143000" y="2819400"/>
          <a:ext cx="4648200" cy="396875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93" marB="457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  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…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  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…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429" name="Line 18"/>
          <p:cNvSpPr>
            <a:spLocks noChangeShapeType="1"/>
          </p:cNvSpPr>
          <p:nvPr/>
        </p:nvSpPr>
        <p:spPr bwMode="auto">
          <a:xfrm flipV="1">
            <a:off x="762000" y="3200400"/>
            <a:ext cx="3810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430" name="Line 19"/>
          <p:cNvSpPr>
            <a:spLocks noChangeShapeType="1"/>
          </p:cNvSpPr>
          <p:nvPr/>
        </p:nvSpPr>
        <p:spPr bwMode="auto">
          <a:xfrm flipV="1">
            <a:off x="3276600" y="3276600"/>
            <a:ext cx="152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431" name="AutoShape 20"/>
          <p:cNvSpPr>
            <a:spLocks/>
          </p:cNvSpPr>
          <p:nvPr/>
        </p:nvSpPr>
        <p:spPr bwMode="auto">
          <a:xfrm rot="16200000" flipV="1">
            <a:off x="5410200" y="3048000"/>
            <a:ext cx="152400" cy="609600"/>
          </a:xfrm>
          <a:prstGeom prst="leftBrace">
            <a:avLst>
              <a:gd name="adj1" fmla="val 3333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7432" name="Line 21"/>
          <p:cNvSpPr>
            <a:spLocks noChangeShapeType="1"/>
          </p:cNvSpPr>
          <p:nvPr/>
        </p:nvSpPr>
        <p:spPr bwMode="auto">
          <a:xfrm flipV="1">
            <a:off x="5486400" y="35052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433" name="Line 22"/>
          <p:cNvSpPr>
            <a:spLocks noChangeShapeType="1"/>
          </p:cNvSpPr>
          <p:nvPr/>
        </p:nvSpPr>
        <p:spPr bwMode="auto">
          <a:xfrm flipV="1">
            <a:off x="1447800" y="3276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rand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18435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1843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50FBBCB-6EC8-42BC-9631-E68872087D94}" type="slidenum">
              <a:rPr lang="zh-CN" altLang="en-US" sz="800"/>
              <a:pPr/>
              <a:t>17</a:t>
            </a:fld>
            <a:endParaRPr lang="en-US" altLang="zh-CN" sz="800"/>
          </a:p>
        </p:txBody>
      </p:sp>
      <p:sp>
        <p:nvSpPr>
          <p:cNvPr id="184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Arrays (cont.)</a:t>
            </a:r>
          </a:p>
        </p:txBody>
      </p:sp>
      <p:sp>
        <p:nvSpPr>
          <p:cNvPr id="1843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zh-CN" smtClean="0">
                <a:latin typeface="Courier New" panose="02070309020205020404" pitchFamily="49" charset="0"/>
                <a:ea typeface="宋体" panose="02010600030101010101" pitchFamily="2" charset="-122"/>
              </a:rPr>
              <a:t>base</a:t>
            </a:r>
            <a:r>
              <a:rPr lang="en-US" altLang="zh-CN" baseline="-25000" smtClean="0">
                <a:latin typeface="Courier New" panose="02070309020205020404" pitchFamily="49" charset="0"/>
                <a:ea typeface="宋体" panose="02010600030101010101" pitchFamily="2" charset="-122"/>
              </a:rPr>
              <a:t>A</a:t>
            </a:r>
            <a:r>
              <a:rPr lang="en-US" altLang="zh-CN" smtClean="0">
                <a:latin typeface="Courier New" panose="02070309020205020404" pitchFamily="49" charset="0"/>
                <a:ea typeface="宋体" panose="02010600030101010101" pitchFamily="2" charset="-122"/>
              </a:rPr>
              <a:t>+(i-low)*width</a:t>
            </a:r>
            <a:r>
              <a:rPr lang="en-US" altLang="zh-CN" smtClean="0">
                <a:ea typeface="宋体" panose="02010600030101010101" pitchFamily="2" charset="-122"/>
              </a:rPr>
              <a:t>   </a:t>
            </a: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can be re-written as </a:t>
            </a:r>
            <a:r>
              <a:rPr lang="en-US" altLang="zh-CN" smtClean="0">
                <a:latin typeface="Courier New" panose="02070309020205020404" pitchFamily="49" charset="0"/>
                <a:ea typeface="宋体" panose="02010600030101010101" pitchFamily="2" charset="-122"/>
              </a:rPr>
              <a:t>  </a:t>
            </a:r>
            <a:r>
              <a:rPr lang="en-US" altLang="zh-CN" smtClean="0">
                <a:solidFill>
                  <a:srgbClr val="CC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i*width</a:t>
            </a:r>
            <a:r>
              <a:rPr lang="en-US" altLang="zh-CN" smtClean="0">
                <a:latin typeface="Courier New" panose="02070309020205020404" pitchFamily="49" charset="0"/>
                <a:ea typeface="宋体" panose="02010600030101010101" pitchFamily="2" charset="-122"/>
              </a:rPr>
              <a:t> + </a:t>
            </a:r>
            <a:r>
              <a:rPr lang="en-US" altLang="zh-CN" smtClean="0">
                <a:solidFill>
                  <a:schemeClr val="accent2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(base</a:t>
            </a:r>
            <a:r>
              <a:rPr lang="en-US" altLang="zh-CN" baseline="-25000" smtClean="0">
                <a:solidFill>
                  <a:schemeClr val="accent2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A</a:t>
            </a:r>
            <a:r>
              <a:rPr lang="en-US" altLang="zh-CN" smtClean="0">
                <a:solidFill>
                  <a:schemeClr val="accent2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-low*width)</a:t>
            </a:r>
            <a:endParaRPr lang="en-US" altLang="zh-CN" smtClean="0">
              <a:solidFill>
                <a:schemeClr val="accent2"/>
              </a:solidFill>
              <a:ea typeface="宋体" panose="02010600030101010101" pitchFamily="2" charset="-122"/>
            </a:endParaRPr>
          </a:p>
          <a:p>
            <a:pPr>
              <a:buFontTx/>
              <a:buNone/>
            </a:pPr>
            <a:endParaRPr lang="en-US" altLang="zh-CN" smtClean="0"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should be computed at run-time	can be computed at compile-time</a:t>
            </a:r>
          </a:p>
          <a:p>
            <a:pPr>
              <a:buFontTx/>
              <a:buNone/>
            </a:pPr>
            <a:endParaRPr lang="en-US" altLang="zh-CN" smtClean="0">
              <a:ea typeface="宋体" panose="02010600030101010101" pitchFamily="2" charset="-122"/>
            </a:endParaRPr>
          </a:p>
          <a:p>
            <a:r>
              <a:rPr lang="en-US" altLang="zh-CN" smtClean="0">
                <a:ea typeface="宋体" panose="02010600030101010101" pitchFamily="2" charset="-122"/>
              </a:rPr>
              <a:t>So, the location of A[i] can be computed at the run-time by evaluating the formula i*width+c  where c is (base</a:t>
            </a:r>
            <a:r>
              <a:rPr lang="en-US" altLang="zh-CN" baseline="-25000" smtClean="0">
                <a:ea typeface="宋体" panose="02010600030101010101" pitchFamily="2" charset="-122"/>
              </a:rPr>
              <a:t>A</a:t>
            </a:r>
            <a:r>
              <a:rPr lang="en-US" altLang="zh-CN" smtClean="0">
                <a:ea typeface="宋体" panose="02010600030101010101" pitchFamily="2" charset="-122"/>
              </a:rPr>
              <a:t>-low*width) which is evaluated at compile-time.</a:t>
            </a:r>
          </a:p>
          <a:p>
            <a:endParaRPr lang="en-US" altLang="zh-CN" smtClean="0">
              <a:ea typeface="宋体" panose="02010600030101010101" pitchFamily="2" charset="-122"/>
            </a:endParaRPr>
          </a:p>
          <a:p>
            <a:r>
              <a:rPr lang="en-US" altLang="zh-CN" smtClean="0">
                <a:ea typeface="宋体" panose="02010600030101010101" pitchFamily="2" charset="-122"/>
              </a:rPr>
              <a:t>Intermediate code generator should produce the code to evaluate this formula i*width+c  (one multiplication and one addition operation).</a:t>
            </a:r>
          </a:p>
        </p:txBody>
      </p:sp>
      <p:sp>
        <p:nvSpPr>
          <p:cNvPr id="18439" name="AutoShape 4"/>
          <p:cNvSpPr>
            <a:spLocks/>
          </p:cNvSpPr>
          <p:nvPr/>
        </p:nvSpPr>
        <p:spPr bwMode="auto">
          <a:xfrm rot="16200000" flipV="1">
            <a:off x="6477000" y="762000"/>
            <a:ext cx="304800" cy="2895600"/>
          </a:xfrm>
          <a:prstGeom prst="leftBrace">
            <a:avLst>
              <a:gd name="adj1" fmla="val 791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8440" name="AutoShape 5"/>
          <p:cNvSpPr>
            <a:spLocks/>
          </p:cNvSpPr>
          <p:nvPr/>
        </p:nvSpPr>
        <p:spPr bwMode="auto">
          <a:xfrm rot="16200000" flipV="1">
            <a:off x="3848100" y="1485900"/>
            <a:ext cx="228600" cy="1219200"/>
          </a:xfrm>
          <a:prstGeom prst="leftBrace">
            <a:avLst>
              <a:gd name="adj1" fmla="val 44444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8441" name="Line 6"/>
          <p:cNvSpPr>
            <a:spLocks noChangeShapeType="1"/>
          </p:cNvSpPr>
          <p:nvPr/>
        </p:nvSpPr>
        <p:spPr bwMode="auto">
          <a:xfrm flipV="1">
            <a:off x="2590800" y="2209800"/>
            <a:ext cx="1143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42" name="Line 7"/>
          <p:cNvSpPr>
            <a:spLocks noChangeShapeType="1"/>
          </p:cNvSpPr>
          <p:nvPr/>
        </p:nvSpPr>
        <p:spPr bwMode="auto">
          <a:xfrm flipH="1" flipV="1">
            <a:off x="6553200" y="23622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rand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日期占位符 4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19459" name="页脚占位符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19460" name="灯片编号占位符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B0D50D7-E5F4-418E-8C09-25A0D7BB3036}" type="slidenum">
              <a:rPr lang="zh-CN" altLang="en-US" sz="800"/>
              <a:pPr/>
              <a:t>18</a:t>
            </a:fld>
            <a:endParaRPr lang="en-US" altLang="zh-CN" sz="800"/>
          </a:p>
        </p:txBody>
      </p:sp>
      <p:sp>
        <p:nvSpPr>
          <p:cNvPr id="194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Two-Dimensional Arrays</a:t>
            </a:r>
          </a:p>
        </p:txBody>
      </p:sp>
      <p:sp>
        <p:nvSpPr>
          <p:cNvPr id="19462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219200"/>
            <a:ext cx="9144000" cy="5105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A two-dimensional array can be stored in </a:t>
            </a:r>
          </a:p>
          <a:p>
            <a:pPr lvl="1"/>
            <a:r>
              <a:rPr lang="en-US" altLang="zh-CN" sz="2400" smtClean="0">
                <a:ea typeface="宋体" panose="02010600030101010101" pitchFamily="2" charset="-122"/>
              </a:rPr>
              <a:t>either </a:t>
            </a:r>
            <a:r>
              <a:rPr lang="en-US" altLang="zh-CN" sz="2400" b="1" smtClean="0">
                <a:ea typeface="宋体" panose="02010600030101010101" pitchFamily="2" charset="-122"/>
              </a:rPr>
              <a:t>row-major</a:t>
            </a:r>
            <a:r>
              <a:rPr lang="en-US" altLang="zh-CN" sz="2400" smtClean="0">
                <a:ea typeface="宋体" panose="02010600030101010101" pitchFamily="2" charset="-122"/>
              </a:rPr>
              <a:t> (</a:t>
            </a:r>
            <a:r>
              <a:rPr lang="en-US" altLang="zh-CN" sz="2400" i="1" smtClean="0">
                <a:ea typeface="宋体" panose="02010600030101010101" pitchFamily="2" charset="-122"/>
              </a:rPr>
              <a:t>row-by-row</a:t>
            </a:r>
            <a:r>
              <a:rPr lang="en-US" altLang="zh-CN" sz="2400" smtClean="0">
                <a:ea typeface="宋体" panose="02010600030101010101" pitchFamily="2" charset="-122"/>
              </a:rPr>
              <a:t>) </a:t>
            </a:r>
          </a:p>
          <a:p>
            <a:pPr lvl="1"/>
            <a:r>
              <a:rPr lang="en-US" altLang="zh-CN" sz="2400" smtClean="0">
                <a:ea typeface="宋体" panose="02010600030101010101" pitchFamily="2" charset="-122"/>
              </a:rPr>
              <a:t>or</a:t>
            </a:r>
            <a:r>
              <a:rPr lang="en-US" altLang="zh-CN" sz="2400" b="1" smtClean="0">
                <a:ea typeface="宋体" panose="02010600030101010101" pitchFamily="2" charset="-122"/>
              </a:rPr>
              <a:t> column-major</a:t>
            </a:r>
            <a:r>
              <a:rPr lang="en-US" altLang="zh-CN" sz="2400" smtClean="0">
                <a:ea typeface="宋体" panose="02010600030101010101" pitchFamily="2" charset="-122"/>
              </a:rPr>
              <a:t> (</a:t>
            </a:r>
            <a:r>
              <a:rPr lang="en-US" altLang="zh-CN" sz="2400" i="1" smtClean="0">
                <a:ea typeface="宋体" panose="02010600030101010101" pitchFamily="2" charset="-122"/>
              </a:rPr>
              <a:t>column-by-column</a:t>
            </a:r>
            <a:r>
              <a:rPr lang="en-US" altLang="zh-CN" sz="2400" smtClean="0">
                <a:ea typeface="宋体" panose="02010600030101010101" pitchFamily="2" charset="-122"/>
              </a:rPr>
              <a:t>).</a:t>
            </a:r>
          </a:p>
          <a:p>
            <a:r>
              <a:rPr lang="en-US" altLang="zh-CN" smtClean="0">
                <a:ea typeface="宋体" panose="02010600030101010101" pitchFamily="2" charset="-122"/>
              </a:rPr>
              <a:t>Most of the programming languages use </a:t>
            </a:r>
            <a:r>
              <a:rPr lang="en-US" altLang="zh-CN" b="1" smtClean="0">
                <a:ea typeface="宋体" panose="02010600030101010101" pitchFamily="2" charset="-122"/>
              </a:rPr>
              <a:t>row-major</a:t>
            </a:r>
            <a:r>
              <a:rPr lang="en-US" altLang="zh-CN" smtClean="0">
                <a:ea typeface="宋体" panose="02010600030101010101" pitchFamily="2" charset="-122"/>
              </a:rPr>
              <a:t> method.</a:t>
            </a:r>
          </a:p>
          <a:p>
            <a:endParaRPr lang="en-US" altLang="zh-CN" smtClean="0">
              <a:ea typeface="宋体" panose="02010600030101010101" pitchFamily="2" charset="-122"/>
            </a:endParaRPr>
          </a:p>
          <a:p>
            <a:r>
              <a:rPr lang="en-US" altLang="zh-CN" smtClean="0">
                <a:ea typeface="宋体" panose="02010600030101010101" pitchFamily="2" charset="-122"/>
              </a:rPr>
              <a:t>Row-major representation of a two-dimensional array:</a:t>
            </a:r>
          </a:p>
          <a:p>
            <a:endParaRPr lang="en-US" altLang="zh-CN" smtClean="0">
              <a:ea typeface="宋体" panose="02010600030101010101" pitchFamily="2" charset="-122"/>
            </a:endParaRPr>
          </a:p>
          <a:p>
            <a:endParaRPr lang="en-US" altLang="zh-CN" smtClean="0">
              <a:ea typeface="宋体" panose="02010600030101010101" pitchFamily="2" charset="-122"/>
            </a:endParaRPr>
          </a:p>
          <a:p>
            <a:endParaRPr lang="en-US" altLang="zh-CN" smtClean="0"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	base</a:t>
            </a:r>
            <a:r>
              <a:rPr lang="en-US" altLang="zh-CN" baseline="-25000" smtClean="0">
                <a:ea typeface="宋体" panose="02010600030101010101" pitchFamily="2" charset="-122"/>
              </a:rPr>
              <a:t>A </a:t>
            </a:r>
            <a:r>
              <a:rPr lang="en-US" altLang="zh-CN" smtClean="0">
                <a:ea typeface="宋体" panose="02010600030101010101" pitchFamily="2" charset="-122"/>
              </a:rPr>
              <a:t> row</a:t>
            </a:r>
            <a:r>
              <a:rPr lang="en-US" altLang="zh-CN" baseline="-25000" smtClean="0">
                <a:ea typeface="宋体" panose="02010600030101010101" pitchFamily="2" charset="-122"/>
              </a:rPr>
              <a:t>1</a:t>
            </a:r>
            <a:r>
              <a:rPr lang="en-US" altLang="zh-CN" smtClean="0">
                <a:ea typeface="宋体" panose="02010600030101010101" pitchFamily="2" charset="-122"/>
              </a:rPr>
              <a:t>	    row</a:t>
            </a:r>
            <a:r>
              <a:rPr lang="en-US" altLang="zh-CN" baseline="-25000" smtClean="0">
                <a:ea typeface="宋体" panose="02010600030101010101" pitchFamily="2" charset="-122"/>
              </a:rPr>
              <a:t>2</a:t>
            </a:r>
            <a:r>
              <a:rPr lang="en-US" altLang="zh-CN" smtClean="0">
                <a:ea typeface="宋体" panose="02010600030101010101" pitchFamily="2" charset="-122"/>
              </a:rPr>
              <a:t> 		     row</a:t>
            </a:r>
            <a:r>
              <a:rPr lang="en-US" altLang="zh-CN" baseline="-25000" smtClean="0">
                <a:ea typeface="宋体" panose="02010600030101010101" pitchFamily="2" charset="-122"/>
              </a:rPr>
              <a:t>n</a:t>
            </a:r>
            <a:endParaRPr lang="en-US" altLang="zh-CN" smtClean="0">
              <a:ea typeface="宋体" panose="02010600030101010101" pitchFamily="2" charset="-122"/>
            </a:endParaRPr>
          </a:p>
          <a:p>
            <a:endParaRPr lang="zh-CN" altLang="en-US" smtClean="0">
              <a:ea typeface="宋体" panose="02010600030101010101" pitchFamily="2" charset="-122"/>
            </a:endParaRPr>
          </a:p>
        </p:txBody>
      </p:sp>
      <p:graphicFrame>
        <p:nvGraphicFramePr>
          <p:cNvPr id="456708" name="Group 4"/>
          <p:cNvGraphicFramePr>
            <a:graphicFrameLocks noGrp="1"/>
          </p:cNvGraphicFramePr>
          <p:nvPr>
            <p:ph sz="half" idx="2"/>
          </p:nvPr>
        </p:nvGraphicFramePr>
        <p:xfrm>
          <a:off x="1447800" y="4038600"/>
          <a:ext cx="4730750" cy="396875"/>
        </p:xfrm>
        <a:graphic>
          <a:graphicData uri="http://schemas.openxmlformats.org/drawingml/2006/table">
            <a:tbl>
              <a:tblPr/>
              <a:tblGrid>
                <a:gridCol w="22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7006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801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93" marB="457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93" marB="457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93" marB="457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93" marB="457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9487" name="AutoShape 28"/>
          <p:cNvSpPr>
            <a:spLocks/>
          </p:cNvSpPr>
          <p:nvPr/>
        </p:nvSpPr>
        <p:spPr bwMode="auto">
          <a:xfrm rot="16200000" flipV="1">
            <a:off x="1828800" y="4114800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9488" name="AutoShape 29"/>
          <p:cNvSpPr>
            <a:spLocks/>
          </p:cNvSpPr>
          <p:nvPr/>
        </p:nvSpPr>
        <p:spPr bwMode="auto">
          <a:xfrm rot="16200000" flipV="1">
            <a:off x="2819400" y="4114800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9489" name="AutoShape 30"/>
          <p:cNvSpPr>
            <a:spLocks/>
          </p:cNvSpPr>
          <p:nvPr/>
        </p:nvSpPr>
        <p:spPr bwMode="auto">
          <a:xfrm rot="16200000" flipV="1">
            <a:off x="5486400" y="4114800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9490" name="Line 31"/>
          <p:cNvSpPr>
            <a:spLocks noChangeShapeType="1"/>
          </p:cNvSpPr>
          <p:nvPr/>
        </p:nvSpPr>
        <p:spPr bwMode="auto">
          <a:xfrm flipV="1">
            <a:off x="1752600" y="4724400"/>
            <a:ext cx="152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91" name="Line 32"/>
          <p:cNvSpPr>
            <a:spLocks noChangeShapeType="1"/>
          </p:cNvSpPr>
          <p:nvPr/>
        </p:nvSpPr>
        <p:spPr bwMode="auto">
          <a:xfrm flipH="1" flipV="1">
            <a:off x="2895600" y="4724400"/>
            <a:ext cx="76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92" name="Line 33"/>
          <p:cNvSpPr>
            <a:spLocks noChangeShapeType="1"/>
          </p:cNvSpPr>
          <p:nvPr/>
        </p:nvSpPr>
        <p:spPr bwMode="auto">
          <a:xfrm flipH="1" flipV="1">
            <a:off x="5562600" y="4724400"/>
            <a:ext cx="762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93" name="Line 34"/>
          <p:cNvSpPr>
            <a:spLocks noChangeShapeType="1"/>
          </p:cNvSpPr>
          <p:nvPr/>
        </p:nvSpPr>
        <p:spPr bwMode="auto">
          <a:xfrm flipV="1">
            <a:off x="1143000" y="4648200"/>
            <a:ext cx="228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rand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2048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2048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E31D6EC-2941-414E-A0AE-C3FE53923F4D}" type="slidenum">
              <a:rPr lang="zh-CN" altLang="en-US" sz="800"/>
              <a:pPr/>
              <a:t>19</a:t>
            </a:fld>
            <a:endParaRPr lang="en-US" altLang="zh-CN" sz="800"/>
          </a:p>
        </p:txBody>
      </p:sp>
      <p:sp>
        <p:nvSpPr>
          <p:cNvPr id="204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Two-Dimensional Arrays (cont.)</a:t>
            </a:r>
          </a:p>
        </p:txBody>
      </p:sp>
      <p:sp>
        <p:nvSpPr>
          <p:cNvPr id="2048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mtClean="0">
                <a:ea typeface="宋体" panose="02010600030101010101" pitchFamily="2" charset="-122"/>
              </a:rPr>
              <a:t>The location of  A[i</a:t>
            </a:r>
            <a:r>
              <a:rPr lang="en-US" altLang="zh-CN" baseline="-25000" smtClean="0">
                <a:ea typeface="宋体" panose="02010600030101010101" pitchFamily="2" charset="-122"/>
              </a:rPr>
              <a:t>1</a:t>
            </a:r>
            <a:r>
              <a:rPr lang="en-US" altLang="zh-CN" smtClean="0">
                <a:ea typeface="宋体" panose="02010600030101010101" pitchFamily="2" charset="-122"/>
              </a:rPr>
              <a:t>,i</a:t>
            </a:r>
            <a:r>
              <a:rPr lang="en-US" altLang="zh-CN" baseline="-25000" smtClean="0">
                <a:ea typeface="宋体" panose="02010600030101010101" pitchFamily="2" charset="-122"/>
              </a:rPr>
              <a:t>2</a:t>
            </a:r>
            <a:r>
              <a:rPr lang="en-US" altLang="zh-CN" smtClean="0">
                <a:ea typeface="宋体" panose="02010600030101010101" pitchFamily="2" charset="-122"/>
              </a:rPr>
              <a:t>]  is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zh-CN" sz="900" smtClean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		base</a:t>
            </a:r>
            <a:r>
              <a:rPr lang="en-US" altLang="zh-CN" baseline="-25000" smtClean="0">
                <a:ea typeface="宋体" panose="02010600030101010101" pitchFamily="2" charset="-122"/>
              </a:rPr>
              <a:t>A</a:t>
            </a:r>
            <a:r>
              <a:rPr lang="en-US" altLang="zh-CN" smtClean="0">
                <a:ea typeface="宋体" panose="02010600030101010101" pitchFamily="2" charset="-122"/>
              </a:rPr>
              <a:t>+ ((i</a:t>
            </a:r>
            <a:r>
              <a:rPr lang="en-US" altLang="zh-CN" baseline="-25000" smtClean="0">
                <a:ea typeface="宋体" panose="02010600030101010101" pitchFamily="2" charset="-122"/>
              </a:rPr>
              <a:t>1</a:t>
            </a:r>
            <a:r>
              <a:rPr lang="en-US" altLang="zh-CN" smtClean="0">
                <a:ea typeface="宋体" panose="02010600030101010101" pitchFamily="2" charset="-122"/>
              </a:rPr>
              <a:t>-low</a:t>
            </a:r>
            <a:r>
              <a:rPr lang="en-US" altLang="zh-CN" baseline="-25000" smtClean="0">
                <a:ea typeface="宋体" panose="02010600030101010101" pitchFamily="2" charset="-122"/>
              </a:rPr>
              <a:t>1</a:t>
            </a:r>
            <a:r>
              <a:rPr lang="en-US" altLang="zh-CN" smtClean="0">
                <a:ea typeface="宋体" panose="02010600030101010101" pitchFamily="2" charset="-122"/>
              </a:rPr>
              <a:t>)*n</a:t>
            </a:r>
            <a:r>
              <a:rPr lang="en-US" altLang="zh-CN" baseline="-25000" smtClean="0">
                <a:ea typeface="宋体" panose="02010600030101010101" pitchFamily="2" charset="-122"/>
              </a:rPr>
              <a:t>2</a:t>
            </a:r>
            <a:r>
              <a:rPr lang="en-US" altLang="zh-CN" smtClean="0">
                <a:ea typeface="宋体" panose="02010600030101010101" pitchFamily="2" charset="-122"/>
              </a:rPr>
              <a:t>+i</a:t>
            </a:r>
            <a:r>
              <a:rPr lang="en-US" altLang="zh-CN" baseline="-25000" smtClean="0">
                <a:ea typeface="宋体" panose="02010600030101010101" pitchFamily="2" charset="-122"/>
              </a:rPr>
              <a:t>2</a:t>
            </a:r>
            <a:r>
              <a:rPr lang="en-US" altLang="zh-CN" smtClean="0">
                <a:ea typeface="宋体" panose="02010600030101010101" pitchFamily="2" charset="-122"/>
              </a:rPr>
              <a:t>-low</a:t>
            </a:r>
            <a:r>
              <a:rPr lang="en-US" altLang="zh-CN" baseline="-25000" smtClean="0">
                <a:ea typeface="宋体" panose="02010600030101010101" pitchFamily="2" charset="-122"/>
              </a:rPr>
              <a:t>2</a:t>
            </a:r>
            <a:r>
              <a:rPr lang="en-US" altLang="zh-CN" smtClean="0">
                <a:ea typeface="宋体" panose="02010600030101010101" pitchFamily="2" charset="-122"/>
              </a:rPr>
              <a:t>)*width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zh-CN" sz="800" smtClean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b="1" smtClean="0">
                <a:ea typeface="宋体" panose="02010600030101010101" pitchFamily="2" charset="-122"/>
              </a:rPr>
              <a:t>	base</a:t>
            </a:r>
            <a:r>
              <a:rPr lang="en-US" altLang="zh-CN" b="1" baseline="-25000" smtClean="0">
                <a:ea typeface="宋体" panose="02010600030101010101" pitchFamily="2" charset="-122"/>
              </a:rPr>
              <a:t>A</a:t>
            </a:r>
            <a:r>
              <a:rPr lang="en-US" altLang="zh-CN" smtClean="0">
                <a:ea typeface="宋体" panose="02010600030101010101" pitchFamily="2" charset="-122"/>
              </a:rPr>
              <a:t>  is the location of  the array A.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b="1" smtClean="0">
                <a:ea typeface="宋体" panose="02010600030101010101" pitchFamily="2" charset="-122"/>
              </a:rPr>
              <a:t>	low</a:t>
            </a:r>
            <a:r>
              <a:rPr lang="en-US" altLang="zh-CN" b="1" baseline="-25000" smtClean="0">
                <a:ea typeface="宋体" panose="02010600030101010101" pitchFamily="2" charset="-122"/>
              </a:rPr>
              <a:t>1</a:t>
            </a:r>
            <a:r>
              <a:rPr lang="en-US" altLang="zh-CN" smtClean="0">
                <a:ea typeface="宋体" panose="02010600030101010101" pitchFamily="2" charset="-122"/>
              </a:rPr>
              <a:t>  is the index of the first row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b="1" smtClean="0">
                <a:ea typeface="宋体" panose="02010600030101010101" pitchFamily="2" charset="-122"/>
              </a:rPr>
              <a:t>	low</a:t>
            </a:r>
            <a:r>
              <a:rPr lang="en-US" altLang="zh-CN" b="1" baseline="-25000" smtClean="0">
                <a:ea typeface="宋体" panose="02010600030101010101" pitchFamily="2" charset="-122"/>
              </a:rPr>
              <a:t>2</a:t>
            </a:r>
            <a:r>
              <a:rPr lang="en-US" altLang="zh-CN" smtClean="0">
                <a:ea typeface="宋体" panose="02010600030101010101" pitchFamily="2" charset="-122"/>
              </a:rPr>
              <a:t>  is the index of the first column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b="1" smtClean="0">
                <a:ea typeface="宋体" panose="02010600030101010101" pitchFamily="2" charset="-122"/>
              </a:rPr>
              <a:t>	n</a:t>
            </a:r>
            <a:r>
              <a:rPr lang="en-US" altLang="zh-CN" b="1" baseline="-25000" smtClean="0">
                <a:ea typeface="宋体" panose="02010600030101010101" pitchFamily="2" charset="-122"/>
              </a:rPr>
              <a:t>2</a:t>
            </a:r>
            <a:r>
              <a:rPr lang="en-US" altLang="zh-CN" smtClean="0">
                <a:ea typeface="宋体" panose="02010600030101010101" pitchFamily="2" charset="-122"/>
              </a:rPr>
              <a:t>  is the number of elements in each row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b="1" smtClean="0">
                <a:ea typeface="宋体" panose="02010600030101010101" pitchFamily="2" charset="-122"/>
              </a:rPr>
              <a:t>	width </a:t>
            </a:r>
            <a:r>
              <a:rPr lang="en-US" altLang="zh-CN" smtClean="0">
                <a:ea typeface="宋体" panose="02010600030101010101" pitchFamily="2" charset="-122"/>
              </a:rPr>
              <a:t> is the width of each array element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zh-CN" sz="800" smtClean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mtClean="0">
                <a:ea typeface="宋体" panose="02010600030101010101" pitchFamily="2" charset="-122"/>
              </a:rPr>
              <a:t>Again, this formula can be re-written as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zh-CN" sz="800" smtClean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		</a:t>
            </a:r>
            <a:r>
              <a:rPr lang="en-US" altLang="zh-CN" smtClean="0">
                <a:solidFill>
                  <a:srgbClr val="CC0000"/>
                </a:solidFill>
                <a:ea typeface="宋体" panose="02010600030101010101" pitchFamily="2" charset="-122"/>
              </a:rPr>
              <a:t>((i</a:t>
            </a:r>
            <a:r>
              <a:rPr lang="en-US" altLang="zh-CN" baseline="-25000" smtClean="0">
                <a:solidFill>
                  <a:srgbClr val="CC0000"/>
                </a:solidFill>
                <a:ea typeface="宋体" panose="02010600030101010101" pitchFamily="2" charset="-122"/>
              </a:rPr>
              <a:t>1</a:t>
            </a:r>
            <a:r>
              <a:rPr lang="en-US" altLang="zh-CN" smtClean="0">
                <a:solidFill>
                  <a:srgbClr val="CC0000"/>
                </a:solidFill>
                <a:ea typeface="宋体" panose="02010600030101010101" pitchFamily="2" charset="-122"/>
              </a:rPr>
              <a:t>*n</a:t>
            </a:r>
            <a:r>
              <a:rPr lang="en-US" altLang="zh-CN" baseline="-25000" smtClean="0">
                <a:solidFill>
                  <a:srgbClr val="CC0000"/>
                </a:solidFill>
                <a:ea typeface="宋体" panose="02010600030101010101" pitchFamily="2" charset="-122"/>
              </a:rPr>
              <a:t>2</a:t>
            </a:r>
            <a:r>
              <a:rPr lang="en-US" altLang="zh-CN" smtClean="0">
                <a:solidFill>
                  <a:srgbClr val="CC0000"/>
                </a:solidFill>
                <a:ea typeface="宋体" panose="02010600030101010101" pitchFamily="2" charset="-122"/>
              </a:rPr>
              <a:t>)+i</a:t>
            </a:r>
            <a:r>
              <a:rPr lang="en-US" altLang="zh-CN" baseline="-25000" smtClean="0">
                <a:solidFill>
                  <a:srgbClr val="CC0000"/>
                </a:solidFill>
                <a:ea typeface="宋体" panose="02010600030101010101" pitchFamily="2" charset="-122"/>
              </a:rPr>
              <a:t>2</a:t>
            </a:r>
            <a:r>
              <a:rPr lang="en-US" altLang="zh-CN" smtClean="0">
                <a:solidFill>
                  <a:srgbClr val="CC0000"/>
                </a:solidFill>
                <a:ea typeface="宋体" panose="02010600030101010101" pitchFamily="2" charset="-122"/>
              </a:rPr>
              <a:t>)*width</a:t>
            </a:r>
            <a:r>
              <a:rPr lang="en-US" altLang="zh-CN" smtClean="0">
                <a:ea typeface="宋体" panose="02010600030101010101" pitchFamily="2" charset="-122"/>
              </a:rPr>
              <a:t>  +  </a:t>
            </a:r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</a:rPr>
              <a:t>(base</a:t>
            </a:r>
            <a:r>
              <a:rPr lang="en-US" altLang="zh-CN" baseline="-25000" smtClean="0">
                <a:solidFill>
                  <a:schemeClr val="accent2"/>
                </a:solidFill>
                <a:ea typeface="宋体" panose="02010600030101010101" pitchFamily="2" charset="-122"/>
              </a:rPr>
              <a:t>A</a:t>
            </a:r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</a:rPr>
              <a:t>-((low</a:t>
            </a:r>
            <a:r>
              <a:rPr lang="en-US" altLang="zh-CN" baseline="-25000" smtClean="0">
                <a:solidFill>
                  <a:schemeClr val="accent2"/>
                </a:solidFill>
                <a:ea typeface="宋体" panose="02010600030101010101" pitchFamily="2" charset="-122"/>
              </a:rPr>
              <a:t>1</a:t>
            </a:r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</a:rPr>
              <a:t>*n</a:t>
            </a:r>
            <a:r>
              <a:rPr lang="en-US" altLang="zh-CN" baseline="-25000" smtClean="0">
                <a:solidFill>
                  <a:schemeClr val="accent2"/>
                </a:solidFill>
                <a:ea typeface="宋体" panose="02010600030101010101" pitchFamily="2" charset="-122"/>
              </a:rPr>
              <a:t>1</a:t>
            </a:r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</a:rPr>
              <a:t>)+low</a:t>
            </a:r>
            <a:r>
              <a:rPr lang="en-US" altLang="zh-CN" baseline="-25000" smtClean="0">
                <a:solidFill>
                  <a:schemeClr val="accent2"/>
                </a:solidFill>
                <a:ea typeface="宋体" panose="02010600030101010101" pitchFamily="2" charset="-122"/>
              </a:rPr>
              <a:t>2</a:t>
            </a:r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</a:rPr>
              <a:t>)*width)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zh-CN" smtClean="0">
              <a:solidFill>
                <a:schemeClr val="accent2"/>
              </a:solidFill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</a:rPr>
              <a:t>should be computed at run-time</a:t>
            </a:r>
            <a:r>
              <a:rPr lang="en-US" altLang="zh-CN" smtClean="0">
                <a:ea typeface="宋体" panose="02010600030101010101" pitchFamily="2" charset="-122"/>
              </a:rPr>
              <a:t>	</a:t>
            </a:r>
            <a:r>
              <a:rPr lang="en-US" altLang="zh-CN" sz="2000" smtClean="0">
                <a:ea typeface="宋体" panose="02010600030101010101" pitchFamily="2" charset="-122"/>
              </a:rPr>
              <a:t>can be computed at compile-time</a:t>
            </a:r>
          </a:p>
        </p:txBody>
      </p:sp>
      <p:sp>
        <p:nvSpPr>
          <p:cNvPr id="20487" name="Line 4"/>
          <p:cNvSpPr>
            <a:spLocks noChangeShapeType="1"/>
          </p:cNvSpPr>
          <p:nvPr/>
        </p:nvSpPr>
        <p:spPr bwMode="auto">
          <a:xfrm flipV="1">
            <a:off x="1905000" y="5562600"/>
            <a:ext cx="4572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88" name="AutoShape 5"/>
          <p:cNvSpPr>
            <a:spLocks/>
          </p:cNvSpPr>
          <p:nvPr/>
        </p:nvSpPr>
        <p:spPr bwMode="auto">
          <a:xfrm rot="16200000" flipV="1">
            <a:off x="2362200" y="4343400"/>
            <a:ext cx="228600" cy="2209800"/>
          </a:xfrm>
          <a:prstGeom prst="leftBrace">
            <a:avLst>
              <a:gd name="adj1" fmla="val 80556"/>
              <a:gd name="adj2" fmla="val 50000"/>
            </a:avLst>
          </a:prstGeom>
          <a:noFill/>
          <a:ln w="952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0489" name="AutoShape 6"/>
          <p:cNvSpPr>
            <a:spLocks/>
          </p:cNvSpPr>
          <p:nvPr/>
        </p:nvSpPr>
        <p:spPr bwMode="auto">
          <a:xfrm rot="16200000" flipV="1">
            <a:off x="5905500" y="3543300"/>
            <a:ext cx="152400" cy="3886200"/>
          </a:xfrm>
          <a:prstGeom prst="leftBrace">
            <a:avLst>
              <a:gd name="adj1" fmla="val 212500"/>
              <a:gd name="adj2" fmla="val 50000"/>
            </a:avLst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0490" name="Line 7"/>
          <p:cNvSpPr>
            <a:spLocks noChangeShapeType="1"/>
          </p:cNvSpPr>
          <p:nvPr/>
        </p:nvSpPr>
        <p:spPr bwMode="auto">
          <a:xfrm flipV="1">
            <a:off x="5486400" y="5562600"/>
            <a:ext cx="381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2150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2150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87B8C98-3B57-4F3B-829A-AE528E711DDD}" type="slidenum">
              <a:rPr lang="zh-CN" altLang="en-US" sz="800"/>
              <a:pPr/>
              <a:t>20</a:t>
            </a:fld>
            <a:endParaRPr lang="en-US" altLang="zh-CN" sz="800"/>
          </a:p>
        </p:txBody>
      </p:sp>
      <p:sp>
        <p:nvSpPr>
          <p:cNvPr id="215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Multi-Dimensional Arrays</a:t>
            </a:r>
          </a:p>
        </p:txBody>
      </p:sp>
      <p:sp>
        <p:nvSpPr>
          <p:cNvPr id="215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9220200" cy="5105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In general, the location of  A[i</a:t>
            </a:r>
            <a:r>
              <a:rPr lang="en-US" altLang="zh-CN" baseline="-25000" smtClean="0">
                <a:ea typeface="宋体" panose="02010600030101010101" pitchFamily="2" charset="-122"/>
              </a:rPr>
              <a:t>1</a:t>
            </a:r>
            <a:r>
              <a:rPr lang="en-US" altLang="zh-CN" smtClean="0">
                <a:ea typeface="宋体" panose="02010600030101010101" pitchFamily="2" charset="-122"/>
              </a:rPr>
              <a:t>,i</a:t>
            </a:r>
            <a:r>
              <a:rPr lang="en-US" altLang="zh-CN" baseline="-25000" smtClean="0">
                <a:ea typeface="宋体" panose="02010600030101010101" pitchFamily="2" charset="-122"/>
              </a:rPr>
              <a:t>2</a:t>
            </a:r>
            <a:r>
              <a:rPr lang="en-US" altLang="zh-CN" smtClean="0">
                <a:ea typeface="宋体" panose="02010600030101010101" pitchFamily="2" charset="-122"/>
              </a:rPr>
              <a:t>,...,i</a:t>
            </a:r>
            <a:r>
              <a:rPr lang="en-US" altLang="zh-CN" baseline="-25000" smtClean="0">
                <a:ea typeface="宋体" panose="02010600030101010101" pitchFamily="2" charset="-122"/>
              </a:rPr>
              <a:t>k</a:t>
            </a:r>
            <a:r>
              <a:rPr lang="en-US" altLang="zh-CN" smtClean="0">
                <a:ea typeface="宋体" panose="02010600030101010101" pitchFamily="2" charset="-122"/>
              </a:rPr>
              <a:t>]  is</a:t>
            </a:r>
          </a:p>
          <a:p>
            <a:pPr>
              <a:buFontTx/>
              <a:buNone/>
            </a:pPr>
            <a:endParaRPr lang="en-US" altLang="zh-CN" sz="800" smtClean="0">
              <a:solidFill>
                <a:srgbClr val="CC0000"/>
              </a:solidFill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sz="2000" smtClean="0">
                <a:solidFill>
                  <a:srgbClr val="CC0000"/>
                </a:solidFill>
                <a:ea typeface="宋体" panose="02010600030101010101" pitchFamily="2" charset="-122"/>
              </a:rPr>
              <a:t>	(( ... ((i</a:t>
            </a:r>
            <a:r>
              <a:rPr lang="en-US" altLang="zh-CN" sz="2000" baseline="-25000" smtClean="0">
                <a:solidFill>
                  <a:srgbClr val="CC0000"/>
                </a:solidFill>
                <a:ea typeface="宋体" panose="02010600030101010101" pitchFamily="2" charset="-122"/>
              </a:rPr>
              <a:t>1</a:t>
            </a:r>
            <a:r>
              <a:rPr lang="en-US" altLang="zh-CN" sz="2000" smtClean="0">
                <a:solidFill>
                  <a:srgbClr val="CC0000"/>
                </a:solidFill>
                <a:ea typeface="宋体" panose="02010600030101010101" pitchFamily="2" charset="-122"/>
              </a:rPr>
              <a:t>*n</a:t>
            </a:r>
            <a:r>
              <a:rPr lang="en-US" altLang="zh-CN" sz="2000" baseline="-25000" smtClean="0">
                <a:solidFill>
                  <a:srgbClr val="CC0000"/>
                </a:solidFill>
                <a:ea typeface="宋体" panose="02010600030101010101" pitchFamily="2" charset="-122"/>
              </a:rPr>
              <a:t>2</a:t>
            </a:r>
            <a:r>
              <a:rPr lang="en-US" altLang="zh-CN" sz="2000" smtClean="0">
                <a:solidFill>
                  <a:srgbClr val="CC0000"/>
                </a:solidFill>
                <a:ea typeface="宋体" panose="02010600030101010101" pitchFamily="2" charset="-122"/>
              </a:rPr>
              <a:t>)+i</a:t>
            </a:r>
            <a:r>
              <a:rPr lang="en-US" altLang="zh-CN" sz="2000" baseline="-25000" smtClean="0">
                <a:solidFill>
                  <a:srgbClr val="CC0000"/>
                </a:solidFill>
                <a:ea typeface="宋体" panose="02010600030101010101" pitchFamily="2" charset="-122"/>
              </a:rPr>
              <a:t>2</a:t>
            </a:r>
            <a:r>
              <a:rPr lang="en-US" altLang="zh-CN" sz="2000" smtClean="0">
                <a:solidFill>
                  <a:srgbClr val="CC0000"/>
                </a:solidFill>
                <a:ea typeface="宋体" panose="02010600030101010101" pitchFamily="2" charset="-122"/>
              </a:rPr>
              <a:t>) ...)*n</a:t>
            </a:r>
            <a:r>
              <a:rPr lang="en-US" altLang="zh-CN" sz="2000" baseline="-25000" smtClean="0">
                <a:solidFill>
                  <a:srgbClr val="CC0000"/>
                </a:solidFill>
                <a:ea typeface="宋体" panose="02010600030101010101" pitchFamily="2" charset="-122"/>
              </a:rPr>
              <a:t>k</a:t>
            </a:r>
            <a:r>
              <a:rPr lang="en-US" altLang="zh-CN" sz="2000" smtClean="0">
                <a:solidFill>
                  <a:srgbClr val="CC0000"/>
                </a:solidFill>
                <a:ea typeface="宋体" panose="02010600030101010101" pitchFamily="2" charset="-122"/>
              </a:rPr>
              <a:t>+i</a:t>
            </a:r>
            <a:r>
              <a:rPr lang="en-US" altLang="zh-CN" sz="2000" baseline="-25000" smtClean="0">
                <a:solidFill>
                  <a:srgbClr val="CC0000"/>
                </a:solidFill>
                <a:ea typeface="宋体" panose="02010600030101010101" pitchFamily="2" charset="-122"/>
              </a:rPr>
              <a:t>k</a:t>
            </a:r>
            <a:r>
              <a:rPr lang="en-US" altLang="zh-CN" sz="2000" smtClean="0">
                <a:solidFill>
                  <a:srgbClr val="CC0000"/>
                </a:solidFill>
                <a:ea typeface="宋体" panose="02010600030101010101" pitchFamily="2" charset="-122"/>
              </a:rPr>
              <a:t>)*width</a:t>
            </a:r>
            <a:r>
              <a:rPr lang="en-US" altLang="zh-CN" sz="2000" smtClean="0">
                <a:ea typeface="宋体" panose="02010600030101010101" pitchFamily="2" charset="-122"/>
              </a:rPr>
              <a:t>  +  </a:t>
            </a:r>
            <a:r>
              <a:rPr lang="en-US" altLang="zh-CN" sz="2000" smtClean="0">
                <a:solidFill>
                  <a:schemeClr val="accent2"/>
                </a:solidFill>
                <a:ea typeface="宋体" panose="02010600030101010101" pitchFamily="2" charset="-122"/>
              </a:rPr>
              <a:t>(base</a:t>
            </a:r>
            <a:r>
              <a:rPr lang="en-US" altLang="zh-CN" sz="2000" baseline="-25000" smtClean="0">
                <a:solidFill>
                  <a:schemeClr val="accent2"/>
                </a:solidFill>
                <a:ea typeface="宋体" panose="02010600030101010101" pitchFamily="2" charset="-122"/>
              </a:rPr>
              <a:t>A</a:t>
            </a:r>
            <a:r>
              <a:rPr lang="en-US" altLang="zh-CN" sz="2000" smtClean="0">
                <a:solidFill>
                  <a:schemeClr val="accent2"/>
                </a:solidFill>
                <a:ea typeface="宋体" panose="02010600030101010101" pitchFamily="2" charset="-122"/>
              </a:rPr>
              <a:t>-((...((low</a:t>
            </a:r>
            <a:r>
              <a:rPr lang="en-US" altLang="zh-CN" sz="2000" baseline="-25000" smtClean="0">
                <a:solidFill>
                  <a:schemeClr val="accent2"/>
                </a:solidFill>
                <a:ea typeface="宋体" panose="02010600030101010101" pitchFamily="2" charset="-122"/>
              </a:rPr>
              <a:t>1</a:t>
            </a:r>
            <a:r>
              <a:rPr lang="en-US" altLang="zh-CN" sz="2000" smtClean="0">
                <a:solidFill>
                  <a:schemeClr val="accent2"/>
                </a:solidFill>
                <a:ea typeface="宋体" panose="02010600030101010101" pitchFamily="2" charset="-122"/>
              </a:rPr>
              <a:t>*n</a:t>
            </a:r>
            <a:r>
              <a:rPr lang="en-US" altLang="zh-CN" sz="2000" baseline="-25000" smtClean="0">
                <a:solidFill>
                  <a:schemeClr val="accent2"/>
                </a:solidFill>
                <a:ea typeface="宋体" panose="02010600030101010101" pitchFamily="2" charset="-122"/>
              </a:rPr>
              <a:t>1</a:t>
            </a:r>
            <a:r>
              <a:rPr lang="en-US" altLang="zh-CN" sz="2000" smtClean="0">
                <a:solidFill>
                  <a:schemeClr val="accent2"/>
                </a:solidFill>
                <a:ea typeface="宋体" panose="02010600030101010101" pitchFamily="2" charset="-122"/>
              </a:rPr>
              <a:t>)+low</a:t>
            </a:r>
            <a:r>
              <a:rPr lang="en-US" altLang="zh-CN" sz="2000" baseline="-25000" smtClean="0">
                <a:solidFill>
                  <a:schemeClr val="accent2"/>
                </a:solidFill>
                <a:ea typeface="宋体" panose="02010600030101010101" pitchFamily="2" charset="-122"/>
              </a:rPr>
              <a:t>2</a:t>
            </a:r>
            <a:r>
              <a:rPr lang="en-US" altLang="zh-CN" sz="2000" smtClean="0">
                <a:solidFill>
                  <a:schemeClr val="accent2"/>
                </a:solidFill>
                <a:ea typeface="宋体" panose="02010600030101010101" pitchFamily="2" charset="-122"/>
              </a:rPr>
              <a:t>)...)*n</a:t>
            </a:r>
            <a:r>
              <a:rPr lang="en-US" altLang="zh-CN" sz="2000" baseline="-25000" smtClean="0">
                <a:solidFill>
                  <a:schemeClr val="accent2"/>
                </a:solidFill>
                <a:ea typeface="宋体" panose="02010600030101010101" pitchFamily="2" charset="-122"/>
              </a:rPr>
              <a:t>k</a:t>
            </a:r>
            <a:r>
              <a:rPr lang="en-US" altLang="zh-CN" sz="2000" smtClean="0">
                <a:solidFill>
                  <a:schemeClr val="accent2"/>
                </a:solidFill>
                <a:ea typeface="宋体" panose="02010600030101010101" pitchFamily="2" charset="-122"/>
              </a:rPr>
              <a:t>+low</a:t>
            </a:r>
            <a:r>
              <a:rPr lang="en-US" altLang="zh-CN" sz="2000" baseline="-25000" smtClean="0">
                <a:solidFill>
                  <a:schemeClr val="accent2"/>
                </a:solidFill>
                <a:ea typeface="宋体" panose="02010600030101010101" pitchFamily="2" charset="-122"/>
              </a:rPr>
              <a:t>k</a:t>
            </a:r>
            <a:r>
              <a:rPr lang="en-US" altLang="zh-CN" sz="2000" smtClean="0">
                <a:solidFill>
                  <a:schemeClr val="accent2"/>
                </a:solidFill>
                <a:ea typeface="宋体" panose="02010600030101010101" pitchFamily="2" charset="-122"/>
              </a:rPr>
              <a:t>)*width)</a:t>
            </a:r>
          </a:p>
          <a:p>
            <a:pPr>
              <a:buFontTx/>
              <a:buNone/>
            </a:pPr>
            <a:endParaRPr lang="en-US" altLang="zh-CN" sz="2000" smtClean="0">
              <a:solidFill>
                <a:schemeClr val="accent2"/>
              </a:solidFill>
              <a:ea typeface="宋体" panose="02010600030101010101" pitchFamily="2" charset="-122"/>
            </a:endParaRPr>
          </a:p>
          <a:p>
            <a:r>
              <a:rPr lang="en-US" altLang="zh-CN" smtClean="0">
                <a:ea typeface="宋体" panose="02010600030101010101" pitchFamily="2" charset="-122"/>
              </a:rPr>
              <a:t>So, the intermediate code generator should produce the codes to evaluate the following formula (to find the location of A[i</a:t>
            </a:r>
            <a:r>
              <a:rPr lang="en-US" altLang="zh-CN" baseline="-25000" smtClean="0">
                <a:ea typeface="宋体" panose="02010600030101010101" pitchFamily="2" charset="-122"/>
              </a:rPr>
              <a:t>1</a:t>
            </a:r>
            <a:r>
              <a:rPr lang="en-US" altLang="zh-CN" smtClean="0">
                <a:ea typeface="宋体" panose="02010600030101010101" pitchFamily="2" charset="-122"/>
              </a:rPr>
              <a:t>,i</a:t>
            </a:r>
            <a:r>
              <a:rPr lang="en-US" altLang="zh-CN" baseline="-25000" smtClean="0">
                <a:ea typeface="宋体" panose="02010600030101010101" pitchFamily="2" charset="-122"/>
              </a:rPr>
              <a:t>2</a:t>
            </a:r>
            <a:r>
              <a:rPr lang="en-US" altLang="zh-CN" smtClean="0">
                <a:ea typeface="宋体" panose="02010600030101010101" pitchFamily="2" charset="-122"/>
              </a:rPr>
              <a:t>,...,i</a:t>
            </a:r>
            <a:r>
              <a:rPr lang="en-US" altLang="zh-CN" baseline="-25000" smtClean="0">
                <a:ea typeface="宋体" panose="02010600030101010101" pitchFamily="2" charset="-122"/>
              </a:rPr>
              <a:t>k</a:t>
            </a:r>
            <a:r>
              <a:rPr lang="en-US" altLang="zh-CN" smtClean="0">
                <a:ea typeface="宋体" panose="02010600030101010101" pitchFamily="2" charset="-122"/>
              </a:rPr>
              <a:t>]) :</a:t>
            </a:r>
          </a:p>
          <a:p>
            <a:pPr>
              <a:buFontTx/>
              <a:buNone/>
            </a:pPr>
            <a:endParaRPr lang="en-US" altLang="zh-CN" sz="800" smtClean="0"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	 </a:t>
            </a:r>
            <a:r>
              <a:rPr lang="en-US" altLang="zh-CN" smtClean="0">
                <a:solidFill>
                  <a:srgbClr val="CC0000"/>
                </a:solidFill>
                <a:ea typeface="宋体" panose="02010600030101010101" pitchFamily="2" charset="-122"/>
              </a:rPr>
              <a:t>(( ... ((i</a:t>
            </a:r>
            <a:r>
              <a:rPr lang="en-US" altLang="zh-CN" baseline="-25000" smtClean="0">
                <a:solidFill>
                  <a:srgbClr val="CC0000"/>
                </a:solidFill>
                <a:ea typeface="宋体" panose="02010600030101010101" pitchFamily="2" charset="-122"/>
              </a:rPr>
              <a:t>1</a:t>
            </a:r>
            <a:r>
              <a:rPr lang="en-US" altLang="zh-CN" smtClean="0">
                <a:solidFill>
                  <a:srgbClr val="CC0000"/>
                </a:solidFill>
                <a:ea typeface="宋体" panose="02010600030101010101" pitchFamily="2" charset="-122"/>
              </a:rPr>
              <a:t>*n</a:t>
            </a:r>
            <a:r>
              <a:rPr lang="en-US" altLang="zh-CN" baseline="-25000" smtClean="0">
                <a:solidFill>
                  <a:srgbClr val="CC0000"/>
                </a:solidFill>
                <a:ea typeface="宋体" panose="02010600030101010101" pitchFamily="2" charset="-122"/>
              </a:rPr>
              <a:t>2</a:t>
            </a:r>
            <a:r>
              <a:rPr lang="en-US" altLang="zh-CN" smtClean="0">
                <a:solidFill>
                  <a:srgbClr val="CC0000"/>
                </a:solidFill>
                <a:ea typeface="宋体" panose="02010600030101010101" pitchFamily="2" charset="-122"/>
              </a:rPr>
              <a:t>)+i</a:t>
            </a:r>
            <a:r>
              <a:rPr lang="en-US" altLang="zh-CN" baseline="-25000" smtClean="0">
                <a:solidFill>
                  <a:srgbClr val="CC0000"/>
                </a:solidFill>
                <a:ea typeface="宋体" panose="02010600030101010101" pitchFamily="2" charset="-122"/>
              </a:rPr>
              <a:t>2</a:t>
            </a:r>
            <a:r>
              <a:rPr lang="en-US" altLang="zh-CN" smtClean="0">
                <a:solidFill>
                  <a:srgbClr val="CC0000"/>
                </a:solidFill>
                <a:ea typeface="宋体" panose="02010600030101010101" pitchFamily="2" charset="-122"/>
              </a:rPr>
              <a:t>) ...)*n</a:t>
            </a:r>
            <a:r>
              <a:rPr lang="en-US" altLang="zh-CN" baseline="-25000" smtClean="0">
                <a:solidFill>
                  <a:srgbClr val="CC0000"/>
                </a:solidFill>
                <a:ea typeface="宋体" panose="02010600030101010101" pitchFamily="2" charset="-122"/>
              </a:rPr>
              <a:t>k</a:t>
            </a:r>
            <a:r>
              <a:rPr lang="en-US" altLang="zh-CN" smtClean="0">
                <a:solidFill>
                  <a:srgbClr val="CC0000"/>
                </a:solidFill>
                <a:ea typeface="宋体" panose="02010600030101010101" pitchFamily="2" charset="-122"/>
              </a:rPr>
              <a:t>+i</a:t>
            </a:r>
            <a:r>
              <a:rPr lang="en-US" altLang="zh-CN" baseline="-25000" smtClean="0">
                <a:solidFill>
                  <a:srgbClr val="CC0000"/>
                </a:solidFill>
                <a:ea typeface="宋体" panose="02010600030101010101" pitchFamily="2" charset="-122"/>
              </a:rPr>
              <a:t>k</a:t>
            </a:r>
            <a:r>
              <a:rPr lang="en-US" altLang="zh-CN" smtClean="0">
                <a:solidFill>
                  <a:srgbClr val="CC0000"/>
                </a:solidFill>
                <a:ea typeface="宋体" panose="02010600030101010101" pitchFamily="2" charset="-122"/>
              </a:rPr>
              <a:t>)*width</a:t>
            </a:r>
            <a:r>
              <a:rPr lang="en-US" altLang="zh-CN" smtClean="0">
                <a:ea typeface="宋体" panose="02010600030101010101" pitchFamily="2" charset="-122"/>
              </a:rPr>
              <a:t>  </a:t>
            </a:r>
            <a:r>
              <a:rPr lang="en-US" altLang="zh-CN" smtClean="0">
                <a:solidFill>
                  <a:srgbClr val="CC0000"/>
                </a:solidFill>
                <a:ea typeface="宋体" panose="02010600030101010101" pitchFamily="2" charset="-122"/>
              </a:rPr>
              <a:t>+ c</a:t>
            </a:r>
          </a:p>
          <a:p>
            <a:endParaRPr lang="en-US" altLang="zh-CN" smtClean="0">
              <a:ea typeface="宋体" panose="02010600030101010101" pitchFamily="2" charset="-122"/>
            </a:endParaRPr>
          </a:p>
          <a:p>
            <a:r>
              <a:rPr lang="en-US" altLang="zh-CN" smtClean="0">
                <a:ea typeface="宋体" panose="02010600030101010101" pitchFamily="2" charset="-122"/>
              </a:rPr>
              <a:t>To evaluate the </a:t>
            </a:r>
            <a:r>
              <a:rPr lang="en-US" altLang="zh-CN" smtClean="0">
                <a:solidFill>
                  <a:srgbClr val="CC0000"/>
                </a:solidFill>
                <a:ea typeface="宋体" panose="02010600030101010101" pitchFamily="2" charset="-122"/>
              </a:rPr>
              <a:t>(( ... ((i</a:t>
            </a:r>
            <a:r>
              <a:rPr lang="en-US" altLang="zh-CN" baseline="-25000" smtClean="0">
                <a:solidFill>
                  <a:srgbClr val="CC0000"/>
                </a:solidFill>
                <a:ea typeface="宋体" panose="02010600030101010101" pitchFamily="2" charset="-122"/>
              </a:rPr>
              <a:t>1</a:t>
            </a:r>
            <a:r>
              <a:rPr lang="en-US" altLang="zh-CN" smtClean="0">
                <a:solidFill>
                  <a:srgbClr val="CC0000"/>
                </a:solidFill>
                <a:ea typeface="宋体" panose="02010600030101010101" pitchFamily="2" charset="-122"/>
              </a:rPr>
              <a:t>*n</a:t>
            </a:r>
            <a:r>
              <a:rPr lang="en-US" altLang="zh-CN" baseline="-25000" smtClean="0">
                <a:solidFill>
                  <a:srgbClr val="CC0000"/>
                </a:solidFill>
                <a:ea typeface="宋体" panose="02010600030101010101" pitchFamily="2" charset="-122"/>
              </a:rPr>
              <a:t>2</a:t>
            </a:r>
            <a:r>
              <a:rPr lang="en-US" altLang="zh-CN" smtClean="0">
                <a:solidFill>
                  <a:srgbClr val="CC0000"/>
                </a:solidFill>
                <a:ea typeface="宋体" panose="02010600030101010101" pitchFamily="2" charset="-122"/>
              </a:rPr>
              <a:t>)+i</a:t>
            </a:r>
            <a:r>
              <a:rPr lang="en-US" altLang="zh-CN" baseline="-25000" smtClean="0">
                <a:solidFill>
                  <a:srgbClr val="CC0000"/>
                </a:solidFill>
                <a:ea typeface="宋体" panose="02010600030101010101" pitchFamily="2" charset="-122"/>
              </a:rPr>
              <a:t>2</a:t>
            </a:r>
            <a:r>
              <a:rPr lang="en-US" altLang="zh-CN" smtClean="0">
                <a:solidFill>
                  <a:srgbClr val="CC0000"/>
                </a:solidFill>
                <a:ea typeface="宋体" panose="02010600030101010101" pitchFamily="2" charset="-122"/>
              </a:rPr>
              <a:t>) ...)*n</a:t>
            </a:r>
            <a:r>
              <a:rPr lang="en-US" altLang="zh-CN" baseline="-25000" smtClean="0">
                <a:solidFill>
                  <a:srgbClr val="CC0000"/>
                </a:solidFill>
                <a:ea typeface="宋体" panose="02010600030101010101" pitchFamily="2" charset="-122"/>
              </a:rPr>
              <a:t>k</a:t>
            </a:r>
            <a:r>
              <a:rPr lang="en-US" altLang="zh-CN" smtClean="0">
                <a:solidFill>
                  <a:srgbClr val="CC0000"/>
                </a:solidFill>
                <a:ea typeface="宋体" panose="02010600030101010101" pitchFamily="2" charset="-122"/>
              </a:rPr>
              <a:t>+i</a:t>
            </a:r>
            <a:r>
              <a:rPr lang="en-US" altLang="zh-CN" baseline="-25000" smtClean="0">
                <a:solidFill>
                  <a:srgbClr val="CC0000"/>
                </a:solidFill>
                <a:ea typeface="宋体" panose="02010600030101010101" pitchFamily="2" charset="-122"/>
              </a:rPr>
              <a:t>k</a:t>
            </a:r>
            <a:r>
              <a:rPr lang="en-US" altLang="zh-CN" smtClean="0">
                <a:ea typeface="宋体" panose="02010600030101010101" pitchFamily="2" charset="-122"/>
              </a:rPr>
              <a:t>  portion of this formula, we can use the recurrence equation:</a:t>
            </a:r>
          </a:p>
          <a:p>
            <a:pPr>
              <a:buFontTx/>
              <a:buNone/>
            </a:pPr>
            <a:endParaRPr lang="en-US" altLang="zh-CN" sz="800" smtClean="0"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	e</a:t>
            </a:r>
            <a:r>
              <a:rPr lang="en-US" altLang="zh-CN" baseline="-25000" smtClean="0">
                <a:ea typeface="宋体" panose="02010600030101010101" pitchFamily="2" charset="-122"/>
              </a:rPr>
              <a:t>1</a:t>
            </a:r>
            <a:r>
              <a:rPr lang="en-US" altLang="zh-CN" smtClean="0">
                <a:ea typeface="宋体" panose="02010600030101010101" pitchFamily="2" charset="-122"/>
              </a:rPr>
              <a:t> = i</a:t>
            </a:r>
            <a:r>
              <a:rPr lang="en-US" altLang="zh-CN" baseline="-25000" smtClean="0">
                <a:ea typeface="宋体" panose="02010600030101010101" pitchFamily="2" charset="-122"/>
              </a:rPr>
              <a:t>1</a:t>
            </a:r>
            <a:endParaRPr lang="en-US" altLang="zh-CN" smtClean="0"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	e</a:t>
            </a:r>
            <a:r>
              <a:rPr lang="en-US" altLang="zh-CN" baseline="-25000" smtClean="0">
                <a:ea typeface="宋体" panose="02010600030101010101" pitchFamily="2" charset="-122"/>
              </a:rPr>
              <a:t>m</a:t>
            </a:r>
            <a:r>
              <a:rPr lang="en-US" altLang="zh-CN" smtClean="0">
                <a:ea typeface="宋体" panose="02010600030101010101" pitchFamily="2" charset="-122"/>
              </a:rPr>
              <a:t> = e</a:t>
            </a:r>
            <a:r>
              <a:rPr lang="en-US" altLang="zh-CN" baseline="-25000" smtClean="0">
                <a:ea typeface="宋体" panose="02010600030101010101" pitchFamily="2" charset="-122"/>
              </a:rPr>
              <a:t>m-1</a:t>
            </a:r>
            <a:r>
              <a:rPr lang="en-US" altLang="zh-CN" smtClean="0">
                <a:ea typeface="宋体" panose="02010600030101010101" pitchFamily="2" charset="-122"/>
              </a:rPr>
              <a:t> * n</a:t>
            </a:r>
            <a:r>
              <a:rPr lang="en-US" altLang="zh-CN" baseline="-25000" smtClean="0">
                <a:ea typeface="宋体" panose="02010600030101010101" pitchFamily="2" charset="-122"/>
              </a:rPr>
              <a:t>m</a:t>
            </a:r>
            <a:r>
              <a:rPr lang="en-US" altLang="zh-CN" smtClean="0">
                <a:ea typeface="宋体" panose="02010600030101010101" pitchFamily="2" charset="-122"/>
              </a:rPr>
              <a:t> + i</a:t>
            </a:r>
            <a:r>
              <a:rPr lang="en-US" altLang="zh-CN" baseline="-25000" smtClean="0">
                <a:ea typeface="宋体" panose="02010600030101010101" pitchFamily="2" charset="-122"/>
              </a:rPr>
              <a:t>m</a:t>
            </a:r>
            <a:endParaRPr lang="en-US" altLang="zh-CN" sz="2000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2253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2253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0CB0265-CECE-49AA-9A85-5E299AF1CD6D}" type="slidenum">
              <a:rPr lang="zh-CN" altLang="en-US" sz="800"/>
              <a:pPr/>
              <a:t>21</a:t>
            </a:fld>
            <a:endParaRPr lang="en-US" altLang="zh-CN" sz="800"/>
          </a:p>
        </p:txBody>
      </p:sp>
      <p:sp>
        <p:nvSpPr>
          <p:cNvPr id="225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Translation Scheme for Arrays (P.483)</a:t>
            </a:r>
          </a:p>
        </p:txBody>
      </p:sp>
      <p:sp>
        <p:nvSpPr>
          <p:cNvPr id="2253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9372600" cy="48006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If we use the following grammar to calculate addresses of array elements, we need inherited attributes.</a:t>
            </a:r>
          </a:p>
          <a:p>
            <a:pPr>
              <a:buFontTx/>
              <a:buNone/>
            </a:pPr>
            <a:r>
              <a:rPr lang="en-US" altLang="zh-CN" sz="800" smtClean="0">
                <a:ea typeface="宋体" panose="02010600030101010101" pitchFamily="2" charset="-122"/>
              </a:rPr>
              <a:t>	</a:t>
            </a: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		L 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b="1" smtClean="0">
                <a:ea typeface="宋体" panose="02010600030101010101" pitchFamily="2" charset="-122"/>
                <a:sym typeface="Symbol" panose="05050102010706020507" pitchFamily="18" charset="2"/>
              </a:rPr>
              <a:t>id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   |   </a:t>
            </a:r>
            <a:r>
              <a:rPr lang="en-US" altLang="zh-CN" b="1" smtClean="0">
                <a:ea typeface="宋体" panose="02010600030101010101" pitchFamily="2" charset="-122"/>
                <a:sym typeface="Symbol" panose="05050102010706020507" pitchFamily="18" charset="2"/>
              </a:rPr>
              <a:t>id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 [ Elist ]</a:t>
            </a: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		Elist  Elist , E   |   E</a:t>
            </a:r>
          </a:p>
          <a:p>
            <a:pPr>
              <a:buFontTx/>
              <a:buNone/>
            </a:pPr>
            <a:endParaRPr lang="en-US" altLang="zh-CN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Instead of this grammar, we will use the following grammar to calculate addresses of array elements so that we do not need inherited attributes (we will use only synthesized attributes).</a:t>
            </a:r>
          </a:p>
          <a:p>
            <a:endParaRPr lang="en-US" altLang="zh-CN" sz="800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		L 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b="1" smtClean="0">
                <a:ea typeface="宋体" panose="02010600030101010101" pitchFamily="2" charset="-122"/>
                <a:sym typeface="Symbol" panose="05050102010706020507" pitchFamily="18" charset="2"/>
              </a:rPr>
              <a:t>id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   |   Elist ]</a:t>
            </a: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		Elist  Elist , E   | </a:t>
            </a:r>
            <a:r>
              <a:rPr lang="en-US" altLang="zh-CN" b="1" smtClean="0">
                <a:ea typeface="宋体" panose="02010600030101010101" pitchFamily="2" charset="-122"/>
                <a:sym typeface="Symbol" panose="05050102010706020507" pitchFamily="18" charset="2"/>
              </a:rPr>
              <a:t>id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 [ E</a:t>
            </a:r>
            <a:endParaRPr lang="zh-CN" altLang="en-US" smtClean="0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>
    <p:rand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23555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2355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F5CDE30-2825-4AA0-9950-DDF58FE45DC1}" type="slidenum">
              <a:rPr lang="zh-CN" altLang="en-US" sz="800"/>
              <a:pPr/>
              <a:t>22</a:t>
            </a:fld>
            <a:endParaRPr lang="en-US" altLang="zh-CN" sz="800"/>
          </a:p>
        </p:txBody>
      </p:sp>
      <p:sp>
        <p:nvSpPr>
          <p:cNvPr id="235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Translation Scheme for Arrays (cont.)</a:t>
            </a:r>
          </a:p>
        </p:txBody>
      </p:sp>
      <p:sp>
        <p:nvSpPr>
          <p:cNvPr id="2355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9220200" cy="51054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S 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 L := E	{ if (L.offset is null)  emit(‘mov’ L.place ‘,,’ E.place)</a:t>
            </a: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			   else emit(‘mov’ L.place ‘[’ L.offset ‘]’ ‘,,’ E.place ) }</a:t>
            </a:r>
          </a:p>
          <a:p>
            <a:pPr>
              <a:buFontTx/>
              <a:buNone/>
            </a:pPr>
            <a:endParaRPr lang="en-US" altLang="zh-CN" sz="800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E 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 E</a:t>
            </a:r>
            <a:r>
              <a:rPr lang="en-US" altLang="zh-CN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 + E</a:t>
            </a:r>
            <a:r>
              <a:rPr lang="en-US" altLang="zh-CN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	{ E.place = newtemp();</a:t>
            </a: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			   emit(‘add’ E.place ‘,’ E</a:t>
            </a:r>
            <a:r>
              <a:rPr lang="en-US" altLang="zh-CN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.place ‘,’ E</a:t>
            </a:r>
            <a:r>
              <a:rPr lang="en-US" altLang="zh-CN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.place) }</a:t>
            </a:r>
          </a:p>
          <a:p>
            <a:pPr>
              <a:buFontTx/>
              <a:buNone/>
            </a:pPr>
            <a:endParaRPr lang="en-US" altLang="zh-CN" sz="800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E 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 ( E</a:t>
            </a:r>
            <a:r>
              <a:rPr lang="en-US" altLang="zh-CN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 )	{ E.place = E</a:t>
            </a:r>
            <a:r>
              <a:rPr lang="en-US" altLang="zh-CN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.place; }</a:t>
            </a:r>
          </a:p>
          <a:p>
            <a:pPr>
              <a:buFontTx/>
              <a:buNone/>
            </a:pPr>
            <a:r>
              <a:rPr lang="en-US" altLang="zh-CN" sz="800" smtClean="0">
                <a:ea typeface="宋体" panose="02010600030101010101" pitchFamily="2" charset="-122"/>
                <a:sym typeface="Symbol" panose="05050102010706020507" pitchFamily="18" charset="2"/>
              </a:rPr>
              <a:t>	</a:t>
            </a: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E 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 L		{ if (L.offset is null)  E.place = L.place)</a:t>
            </a: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			   else { E.place = newtemp();</a:t>
            </a: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				 emit(‘mov’ E.place ‘,,’ L.place ‘[’ L.offset ‘]’ ) } }</a:t>
            </a:r>
            <a:endParaRPr lang="zh-CN" altLang="en-US" smtClean="0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>
    <p:rand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24579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2458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C6B53CA-F6DA-4310-8018-9D0B5678CDA8}" type="slidenum">
              <a:rPr lang="zh-CN" altLang="en-US" sz="800"/>
              <a:pPr/>
              <a:t>23</a:t>
            </a:fld>
            <a:endParaRPr lang="en-US" altLang="zh-CN" sz="800"/>
          </a:p>
        </p:txBody>
      </p:sp>
      <p:sp>
        <p:nvSpPr>
          <p:cNvPr id="245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Translation Scheme for Arrays (cont.)</a:t>
            </a:r>
          </a:p>
        </p:txBody>
      </p:sp>
      <p:sp>
        <p:nvSpPr>
          <p:cNvPr id="2458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9144000" cy="51054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</a:rPr>
              <a:t>L 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000" b="1" smtClean="0">
                <a:ea typeface="宋体" panose="02010600030101010101" pitchFamily="2" charset="-122"/>
                <a:sym typeface="Symbol" panose="05050102010706020507" pitchFamily="18" charset="2"/>
              </a:rPr>
              <a:t>id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   { L.place = </a:t>
            </a:r>
            <a:r>
              <a:rPr lang="en-US" altLang="zh-CN" sz="2000" b="1" smtClean="0">
                <a:ea typeface="宋体" panose="02010600030101010101" pitchFamily="2" charset="-122"/>
                <a:sym typeface="Symbol" panose="05050102010706020507" pitchFamily="18" charset="2"/>
              </a:rPr>
              <a:t>id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.place;  L.offset = null; }</a:t>
            </a:r>
          </a:p>
          <a:p>
            <a:pPr>
              <a:buFontTx/>
              <a:buNone/>
            </a:pPr>
            <a:endParaRPr lang="en-US" altLang="zh-CN" sz="800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</a:rPr>
              <a:t>L 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 Elist ]	</a:t>
            </a:r>
          </a:p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	{ L.place = newtemp();  L.offset = newtemp();</a:t>
            </a:r>
          </a:p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	   emit(‘mov’ L.place ‘,,’ c(Elist.array) ); </a:t>
            </a:r>
          </a:p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	   emit(‘mult’ L.offset ‘,’ Elist.place ‘,’ width(Elist.array)) }</a:t>
            </a:r>
          </a:p>
          <a:p>
            <a:pPr>
              <a:buFontTx/>
              <a:buNone/>
            </a:pPr>
            <a:endParaRPr lang="en-US" altLang="zh-CN" sz="800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Elist  Elist</a:t>
            </a:r>
            <a:r>
              <a:rPr lang="en-US" altLang="zh-CN" sz="20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 , E  </a:t>
            </a:r>
          </a:p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	{ Elist.array = Elist</a:t>
            </a:r>
            <a:r>
              <a:rPr lang="en-US" altLang="zh-CN" sz="20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.array ;  Elist.place = newtemp();  Elist.ndim = Elist</a:t>
            </a:r>
            <a:r>
              <a:rPr lang="en-US" altLang="zh-CN" sz="20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.ndim + 1;</a:t>
            </a:r>
          </a:p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	   emit(‘mult’ Elist.place ‘,’ Elist</a:t>
            </a:r>
            <a:r>
              <a:rPr lang="en-US" altLang="zh-CN" sz="20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.place ‘,’ limit(Elist.array,Elist.ndim));</a:t>
            </a:r>
          </a:p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	   emit(‘add’ Elist.place ‘,’ Elist.place ‘,’ E.place); } </a:t>
            </a:r>
          </a:p>
          <a:p>
            <a:pPr>
              <a:buFontTx/>
              <a:buNone/>
            </a:pPr>
            <a:endParaRPr lang="en-US" altLang="zh-CN" sz="800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Elist  </a:t>
            </a:r>
            <a:r>
              <a:rPr lang="en-US" altLang="zh-CN" sz="2000" b="1" smtClean="0">
                <a:ea typeface="宋体" panose="02010600030101010101" pitchFamily="2" charset="-122"/>
                <a:sym typeface="Symbol" panose="05050102010706020507" pitchFamily="18" charset="2"/>
              </a:rPr>
              <a:t>id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 [ E </a:t>
            </a:r>
          </a:p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	{Elist.array = id.place ;  Elist.place = E.place;  Elist.ndim = 1; }</a:t>
            </a:r>
          </a:p>
          <a:p>
            <a:pPr>
              <a:buFontTx/>
              <a:buNone/>
            </a:pPr>
            <a:endParaRPr lang="zh-CN" altLang="en-US" sz="2000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2560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2560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A7AA2A2-2052-4172-B93E-C86C5C36DC01}" type="slidenum">
              <a:rPr lang="zh-CN" altLang="en-US" sz="800"/>
              <a:pPr/>
              <a:t>24</a:t>
            </a:fld>
            <a:endParaRPr lang="en-US" altLang="zh-CN" sz="800"/>
          </a:p>
        </p:txBody>
      </p:sp>
      <p:sp>
        <p:nvSpPr>
          <p:cNvPr id="256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Translation Scheme for Arrays – Example1</a:t>
            </a:r>
          </a:p>
        </p:txBody>
      </p:sp>
      <p:sp>
        <p:nvSpPr>
          <p:cNvPr id="2560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9220200" cy="5105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A one-dimensional </a:t>
            </a:r>
            <a:r>
              <a:rPr lang="en-US" altLang="zh-CN" smtClean="0">
                <a:latin typeface="Courier New" panose="02070309020205020404" pitchFamily="49" charset="0"/>
                <a:ea typeface="宋体" panose="02010600030101010101" pitchFamily="2" charset="-122"/>
              </a:rPr>
              <a:t>double</a:t>
            </a:r>
            <a:r>
              <a:rPr lang="en-US" altLang="zh-CN" smtClean="0">
                <a:ea typeface="宋体" panose="02010600030101010101" pitchFamily="2" charset="-122"/>
              </a:rPr>
              <a:t> array </a:t>
            </a:r>
            <a:r>
              <a:rPr lang="en-US" altLang="zh-CN" smtClean="0">
                <a:latin typeface="Courier New" panose="02070309020205020404" pitchFamily="49" charset="0"/>
                <a:ea typeface="宋体" panose="02010600030101010101" pitchFamily="2" charset="-122"/>
              </a:rPr>
              <a:t>A </a:t>
            </a:r>
            <a:r>
              <a:rPr lang="en-US" altLang="zh-CN" smtClean="0">
                <a:ea typeface="宋体" panose="02010600030101010101" pitchFamily="2" charset="-122"/>
              </a:rPr>
              <a:t>:  5..100 </a:t>
            </a: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	</a:t>
            </a:r>
            <a:r>
              <a:rPr lang="en-US" altLang="zh-CN" smtClean="0">
                <a:ea typeface="宋体" panose="02010600030101010101" pitchFamily="2" charset="-122"/>
                <a:sym typeface="Wingdings" panose="05000000000000000000" pitchFamily="2" charset="2"/>
              </a:rPr>
              <a:t>  n</a:t>
            </a:r>
            <a:r>
              <a:rPr lang="en-US" altLang="zh-CN" baseline="-25000" smtClean="0">
                <a:ea typeface="宋体" panose="02010600030101010101" pitchFamily="2" charset="-122"/>
                <a:sym typeface="Wingdings" panose="05000000000000000000" pitchFamily="2" charset="2"/>
              </a:rPr>
              <a:t>1</a:t>
            </a:r>
            <a:r>
              <a:rPr lang="en-US" altLang="zh-CN" smtClean="0">
                <a:ea typeface="宋体" panose="02010600030101010101" pitchFamily="2" charset="-122"/>
                <a:sym typeface="Wingdings" panose="05000000000000000000" pitchFamily="2" charset="2"/>
              </a:rPr>
              <a:t>=95   width=8 (double)   low</a:t>
            </a:r>
            <a:r>
              <a:rPr lang="en-US" altLang="zh-CN" baseline="-25000" smtClean="0">
                <a:ea typeface="宋体" panose="02010600030101010101" pitchFamily="2" charset="-122"/>
                <a:sym typeface="Wingdings" panose="05000000000000000000" pitchFamily="2" charset="2"/>
              </a:rPr>
              <a:t>1</a:t>
            </a:r>
            <a:r>
              <a:rPr lang="en-US" altLang="zh-CN" smtClean="0">
                <a:ea typeface="宋体" panose="02010600030101010101" pitchFamily="2" charset="-122"/>
                <a:sym typeface="Wingdings" panose="05000000000000000000" pitchFamily="2" charset="2"/>
              </a:rPr>
              <a:t>=5</a:t>
            </a:r>
          </a:p>
          <a:p>
            <a:pPr>
              <a:buFontTx/>
              <a:buNone/>
            </a:pPr>
            <a:endParaRPr lang="en-US" altLang="zh-CN" smtClean="0">
              <a:ea typeface="宋体" panose="02010600030101010101" pitchFamily="2" charset="-122"/>
              <a:sym typeface="Wingdings" panose="05000000000000000000" pitchFamily="2" charset="2"/>
            </a:endParaRPr>
          </a:p>
          <a:p>
            <a:r>
              <a:rPr lang="en-US" altLang="zh-CN" smtClean="0">
                <a:ea typeface="宋体" panose="02010600030101010101" pitchFamily="2" charset="-122"/>
              </a:rPr>
              <a:t>Intermediate codes corresponding to    </a:t>
            </a:r>
            <a:r>
              <a:rPr lang="en-US" altLang="zh-CN" smtClean="0">
                <a:latin typeface="Courier New" panose="02070309020205020404" pitchFamily="49" charset="0"/>
                <a:ea typeface="宋体" panose="02010600030101010101" pitchFamily="2" charset="-122"/>
              </a:rPr>
              <a:t>x := A[y]</a:t>
            </a:r>
          </a:p>
          <a:p>
            <a:endParaRPr lang="en-US" altLang="zh-CN" smtClean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smtClean="0">
                <a:latin typeface="Courier New" panose="02070309020205020404" pitchFamily="49" charset="0"/>
                <a:ea typeface="宋体" panose="02010600030101010101" pitchFamily="2" charset="-122"/>
              </a:rPr>
              <a:t>	mov	   t1,,c		</a:t>
            </a:r>
            <a:r>
              <a:rPr lang="en-US" altLang="zh-CN" smtClean="0">
                <a:ea typeface="宋体" panose="02010600030101010101" pitchFamily="2" charset="-122"/>
              </a:rPr>
              <a:t>; where c=base</a:t>
            </a:r>
            <a:r>
              <a:rPr lang="en-US" altLang="zh-CN" baseline="-25000" smtClean="0">
                <a:ea typeface="宋体" panose="02010600030101010101" pitchFamily="2" charset="-122"/>
              </a:rPr>
              <a:t>A</a:t>
            </a:r>
            <a:r>
              <a:rPr lang="en-US" altLang="zh-CN" smtClean="0">
                <a:ea typeface="宋体" panose="02010600030101010101" pitchFamily="2" charset="-122"/>
              </a:rPr>
              <a:t>-(5)*8</a:t>
            </a:r>
          </a:p>
          <a:p>
            <a:pPr>
              <a:buFontTx/>
              <a:buNone/>
            </a:pPr>
            <a:r>
              <a:rPr lang="en-US" altLang="zh-CN" smtClean="0">
                <a:latin typeface="Courier New" panose="02070309020205020404" pitchFamily="49" charset="0"/>
                <a:ea typeface="宋体" panose="02010600030101010101" pitchFamily="2" charset="-122"/>
              </a:rPr>
              <a:t>	mult  t2,y,8</a:t>
            </a:r>
          </a:p>
          <a:p>
            <a:pPr>
              <a:buFontTx/>
              <a:buNone/>
            </a:pPr>
            <a:r>
              <a:rPr lang="en-US" altLang="zh-CN" smtClean="0">
                <a:solidFill>
                  <a:srgbClr val="660066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	mov   t3,,t1[t2]</a:t>
            </a:r>
            <a:r>
              <a:rPr lang="en-US" altLang="zh-CN" b="1" smtClean="0">
                <a:solidFill>
                  <a:srgbClr val="660066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 </a:t>
            </a:r>
            <a:r>
              <a:rPr lang="en-US" altLang="zh-CN" smtClean="0">
                <a:solidFill>
                  <a:schemeClr val="bg1"/>
                </a:solidFill>
                <a:ea typeface="宋体" panose="02010600030101010101" pitchFamily="2" charset="-122"/>
              </a:rPr>
              <a:t>;</a:t>
            </a:r>
            <a:r>
              <a:rPr lang="zh-CN" altLang="en-US" smtClean="0">
                <a:solidFill>
                  <a:schemeClr val="bg1"/>
                </a:solidFill>
                <a:ea typeface="宋体" panose="02010600030101010101" pitchFamily="2" charset="-122"/>
              </a:rPr>
              <a:t>补充数组赋值给变量的文法及属性文法</a:t>
            </a:r>
            <a:endParaRPr lang="en-US" altLang="zh-CN" smtClean="0">
              <a:solidFill>
                <a:schemeClr val="bg1"/>
              </a:solidFill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smtClean="0">
                <a:solidFill>
                  <a:srgbClr val="660066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	mov   x,,t3</a:t>
            </a:r>
          </a:p>
          <a:p>
            <a:endParaRPr lang="zh-CN" altLang="en-US" smtClean="0">
              <a:solidFill>
                <a:srgbClr val="660066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2662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2662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C4706D6-1988-4275-AC8A-1987BFDCB053}" type="slidenum">
              <a:rPr lang="zh-CN" altLang="en-US" sz="800"/>
              <a:pPr/>
              <a:t>25</a:t>
            </a:fld>
            <a:endParaRPr lang="en-US" altLang="zh-CN" sz="800"/>
          </a:p>
        </p:txBody>
      </p:sp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Translation Scheme for Arrays – Example2 (P.485)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8991600" cy="5105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A two-dimensional </a:t>
            </a:r>
            <a:r>
              <a:rPr lang="en-US" altLang="zh-CN" smtClean="0">
                <a:latin typeface="Courier New" panose="02070309020205020404" pitchFamily="49" charset="0"/>
                <a:ea typeface="宋体" panose="02010600030101010101" pitchFamily="2" charset="-122"/>
              </a:rPr>
              <a:t>int</a:t>
            </a:r>
            <a:r>
              <a:rPr lang="en-US" altLang="zh-CN" smtClean="0">
                <a:ea typeface="宋体" panose="02010600030101010101" pitchFamily="2" charset="-122"/>
              </a:rPr>
              <a:t> array </a:t>
            </a:r>
            <a:r>
              <a:rPr lang="en-US" altLang="zh-CN" smtClean="0">
                <a:latin typeface="Courier New" panose="02070309020205020404" pitchFamily="49" charset="0"/>
                <a:ea typeface="宋体" panose="02010600030101010101" pitchFamily="2" charset="-122"/>
              </a:rPr>
              <a:t>A </a:t>
            </a:r>
            <a:r>
              <a:rPr lang="en-US" altLang="zh-CN" smtClean="0">
                <a:ea typeface="宋体" panose="02010600030101010101" pitchFamily="2" charset="-122"/>
              </a:rPr>
              <a:t>:  1..10x1..20</a:t>
            </a: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	</a:t>
            </a:r>
            <a:r>
              <a:rPr lang="en-US" altLang="zh-CN" smtClean="0">
                <a:ea typeface="宋体" panose="02010600030101010101" pitchFamily="2" charset="-122"/>
                <a:sym typeface="Wingdings" panose="05000000000000000000" pitchFamily="2" charset="2"/>
              </a:rPr>
              <a:t>  n</a:t>
            </a:r>
            <a:r>
              <a:rPr lang="en-US" altLang="zh-CN" baseline="-25000" smtClean="0">
                <a:ea typeface="宋体" panose="02010600030101010101" pitchFamily="2" charset="-122"/>
                <a:sym typeface="Wingdings" panose="05000000000000000000" pitchFamily="2" charset="2"/>
              </a:rPr>
              <a:t>1</a:t>
            </a:r>
            <a:r>
              <a:rPr lang="en-US" altLang="zh-CN" smtClean="0">
                <a:ea typeface="宋体" panose="02010600030101010101" pitchFamily="2" charset="-122"/>
                <a:sym typeface="Wingdings" panose="05000000000000000000" pitchFamily="2" charset="2"/>
              </a:rPr>
              <a:t>=10   n</a:t>
            </a:r>
            <a:r>
              <a:rPr lang="en-US" altLang="zh-CN" baseline="-25000" smtClean="0">
                <a:ea typeface="宋体" panose="02010600030101010101" pitchFamily="2" charset="-122"/>
                <a:sym typeface="Wingdings" panose="05000000000000000000" pitchFamily="2" charset="2"/>
              </a:rPr>
              <a:t>2</a:t>
            </a:r>
            <a:r>
              <a:rPr lang="en-US" altLang="zh-CN" smtClean="0">
                <a:ea typeface="宋体" panose="02010600030101010101" pitchFamily="2" charset="-122"/>
                <a:sym typeface="Wingdings" panose="05000000000000000000" pitchFamily="2" charset="2"/>
              </a:rPr>
              <a:t>=20   width=4 (integers)   low</a:t>
            </a:r>
            <a:r>
              <a:rPr lang="en-US" altLang="zh-CN" baseline="-25000" smtClean="0">
                <a:ea typeface="宋体" panose="02010600030101010101" pitchFamily="2" charset="-122"/>
                <a:sym typeface="Wingdings" panose="05000000000000000000" pitchFamily="2" charset="2"/>
              </a:rPr>
              <a:t>1</a:t>
            </a:r>
            <a:r>
              <a:rPr lang="en-US" altLang="zh-CN" smtClean="0">
                <a:ea typeface="宋体" panose="02010600030101010101" pitchFamily="2" charset="-122"/>
                <a:sym typeface="Wingdings" panose="05000000000000000000" pitchFamily="2" charset="2"/>
              </a:rPr>
              <a:t>=1   low</a:t>
            </a:r>
            <a:r>
              <a:rPr lang="en-US" altLang="zh-CN" baseline="-25000" smtClean="0">
                <a:ea typeface="宋体" panose="02010600030101010101" pitchFamily="2" charset="-122"/>
                <a:sym typeface="Wingdings" panose="05000000000000000000" pitchFamily="2" charset="2"/>
              </a:rPr>
              <a:t>2</a:t>
            </a:r>
            <a:r>
              <a:rPr lang="en-US" altLang="zh-CN" smtClean="0">
                <a:ea typeface="宋体" panose="02010600030101010101" pitchFamily="2" charset="-122"/>
                <a:sym typeface="Wingdings" panose="05000000000000000000" pitchFamily="2" charset="2"/>
              </a:rPr>
              <a:t>=1</a:t>
            </a:r>
          </a:p>
          <a:p>
            <a:pPr>
              <a:buFontTx/>
              <a:buNone/>
            </a:pPr>
            <a:endParaRPr lang="en-US" altLang="zh-CN" smtClean="0">
              <a:ea typeface="宋体" panose="02010600030101010101" pitchFamily="2" charset="-122"/>
              <a:sym typeface="Wingdings" panose="05000000000000000000" pitchFamily="2" charset="2"/>
            </a:endParaRPr>
          </a:p>
          <a:p>
            <a:r>
              <a:rPr lang="en-US" altLang="zh-CN" smtClean="0">
                <a:ea typeface="宋体" panose="02010600030101010101" pitchFamily="2" charset="-122"/>
              </a:rPr>
              <a:t>Intermediate codes corresponding to    </a:t>
            </a:r>
            <a:r>
              <a:rPr lang="en-US" altLang="zh-CN" smtClean="0">
                <a:latin typeface="Courier New" panose="02070309020205020404" pitchFamily="49" charset="0"/>
                <a:ea typeface="宋体" panose="02010600030101010101" pitchFamily="2" charset="-122"/>
              </a:rPr>
              <a:t>x := A[y,z]</a:t>
            </a:r>
          </a:p>
          <a:p>
            <a:endParaRPr lang="en-US" altLang="zh-CN" smtClean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smtClean="0">
                <a:latin typeface="Courier New" panose="02070309020205020404" pitchFamily="49" charset="0"/>
                <a:ea typeface="宋体" panose="02010600030101010101" pitchFamily="2" charset="-122"/>
              </a:rPr>
              <a:t>	</a:t>
            </a:r>
            <a:r>
              <a:rPr lang="en-US" altLang="zh-CN" smtClean="0">
                <a:solidFill>
                  <a:schemeClr val="accent2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mult  t1,y,20		; </a:t>
            </a:r>
            <a:r>
              <a:rPr lang="en-US" altLang="zh-CN" smtClean="0">
                <a:solidFill>
                  <a:srgbClr val="CC0000"/>
                </a:solidFill>
                <a:ea typeface="宋体" panose="02010600030101010101" pitchFamily="2" charset="-122"/>
              </a:rPr>
              <a:t>((i</a:t>
            </a:r>
            <a:r>
              <a:rPr lang="en-US" altLang="zh-CN" baseline="-25000" smtClean="0">
                <a:solidFill>
                  <a:srgbClr val="CC0000"/>
                </a:solidFill>
                <a:ea typeface="宋体" panose="02010600030101010101" pitchFamily="2" charset="-122"/>
              </a:rPr>
              <a:t>1</a:t>
            </a:r>
            <a:r>
              <a:rPr lang="en-US" altLang="zh-CN" smtClean="0">
                <a:solidFill>
                  <a:srgbClr val="CC0000"/>
                </a:solidFill>
                <a:ea typeface="宋体" panose="02010600030101010101" pitchFamily="2" charset="-122"/>
              </a:rPr>
              <a:t>*n</a:t>
            </a:r>
            <a:r>
              <a:rPr lang="en-US" altLang="zh-CN" baseline="-25000" smtClean="0">
                <a:solidFill>
                  <a:srgbClr val="CC0000"/>
                </a:solidFill>
                <a:ea typeface="宋体" panose="02010600030101010101" pitchFamily="2" charset="-122"/>
              </a:rPr>
              <a:t>2</a:t>
            </a:r>
            <a:r>
              <a:rPr lang="en-US" altLang="zh-CN" smtClean="0">
                <a:solidFill>
                  <a:srgbClr val="CC0000"/>
                </a:solidFill>
                <a:ea typeface="宋体" panose="02010600030101010101" pitchFamily="2" charset="-122"/>
              </a:rPr>
              <a:t>)+i</a:t>
            </a:r>
            <a:r>
              <a:rPr lang="en-US" altLang="zh-CN" baseline="-25000" smtClean="0">
                <a:solidFill>
                  <a:srgbClr val="CC0000"/>
                </a:solidFill>
                <a:ea typeface="宋体" panose="02010600030101010101" pitchFamily="2" charset="-122"/>
              </a:rPr>
              <a:t>2</a:t>
            </a:r>
            <a:r>
              <a:rPr lang="en-US" altLang="zh-CN" smtClean="0">
                <a:solidFill>
                  <a:srgbClr val="CC0000"/>
                </a:solidFill>
                <a:ea typeface="宋体" panose="02010600030101010101" pitchFamily="2" charset="-122"/>
              </a:rPr>
              <a:t>)*width</a:t>
            </a:r>
            <a:r>
              <a:rPr lang="en-US" altLang="zh-CN" smtClean="0">
                <a:ea typeface="宋体" panose="02010600030101010101" pitchFamily="2" charset="-122"/>
              </a:rPr>
              <a:t> </a:t>
            </a:r>
            <a:endParaRPr lang="en-US" altLang="zh-CN" smtClean="0">
              <a:solidFill>
                <a:schemeClr val="accent2"/>
              </a:solidFill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smtClean="0">
                <a:solidFill>
                  <a:schemeClr val="accent2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	add   t1,z,t1</a:t>
            </a:r>
          </a:p>
          <a:p>
            <a:pPr>
              <a:buFontTx/>
              <a:buNone/>
            </a:pPr>
            <a:r>
              <a:rPr lang="en-US" altLang="zh-CN" smtClean="0">
                <a:latin typeface="Courier New" panose="02070309020205020404" pitchFamily="49" charset="0"/>
                <a:ea typeface="宋体" panose="02010600030101010101" pitchFamily="2" charset="-122"/>
              </a:rPr>
              <a:t>	</a:t>
            </a:r>
            <a:r>
              <a:rPr lang="en-US" altLang="zh-CN" smtClean="0">
                <a:solidFill>
                  <a:srgbClr val="A50021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mov	   t2,,c	</a:t>
            </a:r>
            <a:r>
              <a:rPr lang="en-US" altLang="zh-CN" smtClean="0">
                <a:latin typeface="Courier New" panose="02070309020205020404" pitchFamily="49" charset="0"/>
                <a:ea typeface="宋体" panose="02010600030101010101" pitchFamily="2" charset="-122"/>
              </a:rPr>
              <a:t>	</a:t>
            </a:r>
            <a:r>
              <a:rPr lang="en-US" altLang="zh-CN" smtClean="0">
                <a:ea typeface="宋体" panose="02010600030101010101" pitchFamily="2" charset="-122"/>
              </a:rPr>
              <a:t>;where c=base</a:t>
            </a:r>
            <a:r>
              <a:rPr lang="en-US" altLang="zh-CN" baseline="-25000" smtClean="0">
                <a:ea typeface="宋体" panose="02010600030101010101" pitchFamily="2" charset="-122"/>
              </a:rPr>
              <a:t>A</a:t>
            </a:r>
            <a:r>
              <a:rPr lang="en-US" altLang="zh-CN" smtClean="0">
                <a:ea typeface="宋体" panose="02010600030101010101" pitchFamily="2" charset="-122"/>
              </a:rPr>
              <a:t>-(1*20+1)*4</a:t>
            </a:r>
          </a:p>
          <a:p>
            <a:pPr>
              <a:buFontTx/>
              <a:buNone/>
            </a:pPr>
            <a:r>
              <a:rPr lang="en-US" altLang="zh-CN" smtClean="0">
                <a:latin typeface="Courier New" panose="02070309020205020404" pitchFamily="49" charset="0"/>
                <a:ea typeface="宋体" panose="02010600030101010101" pitchFamily="2" charset="-122"/>
              </a:rPr>
              <a:t>	</a:t>
            </a:r>
            <a:r>
              <a:rPr lang="en-US" altLang="zh-CN" smtClean="0">
                <a:solidFill>
                  <a:srgbClr val="A50021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mult  t3,t1,4</a:t>
            </a:r>
          </a:p>
          <a:p>
            <a:pPr>
              <a:buFontTx/>
              <a:buNone/>
            </a:pPr>
            <a:r>
              <a:rPr lang="en-US" altLang="zh-CN" smtClean="0">
                <a:latin typeface="Courier New" panose="02070309020205020404" pitchFamily="49" charset="0"/>
                <a:ea typeface="宋体" panose="02010600030101010101" pitchFamily="2" charset="-122"/>
              </a:rPr>
              <a:t>	mov   t4,,t2[t3]</a:t>
            </a:r>
          </a:p>
          <a:p>
            <a:pPr>
              <a:buFontTx/>
              <a:buNone/>
            </a:pPr>
            <a:r>
              <a:rPr lang="en-US" altLang="zh-CN" smtClean="0">
                <a:latin typeface="Courier New" panose="02070309020205020404" pitchFamily="49" charset="0"/>
                <a:ea typeface="宋体" panose="02010600030101010101" pitchFamily="2" charset="-122"/>
              </a:rPr>
              <a:t>	mov   x,,t4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2765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2765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A75CA4F-67E4-4252-850B-00C05C439152}" type="slidenum">
              <a:rPr lang="zh-CN" altLang="en-US" sz="800"/>
              <a:pPr/>
              <a:t>26</a:t>
            </a:fld>
            <a:endParaRPr lang="en-US" altLang="zh-CN" sz="800"/>
          </a:p>
        </p:txBody>
      </p:sp>
      <p:sp>
        <p:nvSpPr>
          <p:cNvPr id="276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Translation Scheme for Arrays – Example3</a:t>
            </a:r>
          </a:p>
        </p:txBody>
      </p:sp>
      <p:sp>
        <p:nvSpPr>
          <p:cNvPr id="2765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mtClean="0">
                <a:ea typeface="宋体" panose="02010600030101010101" pitchFamily="2" charset="-122"/>
              </a:rPr>
              <a:t>A three-dimensional </a:t>
            </a:r>
            <a:r>
              <a:rPr lang="en-US" altLang="zh-CN" smtClean="0">
                <a:latin typeface="Courier New" panose="02070309020205020404" pitchFamily="49" charset="0"/>
                <a:ea typeface="宋体" panose="02010600030101010101" pitchFamily="2" charset="-122"/>
              </a:rPr>
              <a:t>int</a:t>
            </a:r>
            <a:r>
              <a:rPr lang="en-US" altLang="zh-CN" smtClean="0">
                <a:ea typeface="宋体" panose="02010600030101010101" pitchFamily="2" charset="-122"/>
              </a:rPr>
              <a:t> array </a:t>
            </a:r>
            <a:r>
              <a:rPr lang="en-US" altLang="zh-CN" smtClean="0">
                <a:latin typeface="Courier New" panose="02070309020205020404" pitchFamily="49" charset="0"/>
                <a:ea typeface="宋体" panose="02010600030101010101" pitchFamily="2" charset="-122"/>
              </a:rPr>
              <a:t>A </a:t>
            </a:r>
            <a:r>
              <a:rPr lang="en-US" altLang="zh-CN" smtClean="0">
                <a:ea typeface="宋体" panose="02010600030101010101" pitchFamily="2" charset="-122"/>
              </a:rPr>
              <a:t>:  0..9x0..19x0..29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	</a:t>
            </a:r>
            <a:r>
              <a:rPr lang="en-US" altLang="zh-CN" smtClean="0">
                <a:ea typeface="宋体" panose="02010600030101010101" pitchFamily="2" charset="-122"/>
                <a:sym typeface="Wingdings" panose="05000000000000000000" pitchFamily="2" charset="2"/>
              </a:rPr>
              <a:t>  n</a:t>
            </a:r>
            <a:r>
              <a:rPr lang="en-US" altLang="zh-CN" baseline="-25000" smtClean="0">
                <a:ea typeface="宋体" panose="02010600030101010101" pitchFamily="2" charset="-122"/>
                <a:sym typeface="Wingdings" panose="05000000000000000000" pitchFamily="2" charset="2"/>
              </a:rPr>
              <a:t>1</a:t>
            </a:r>
            <a:r>
              <a:rPr lang="en-US" altLang="zh-CN" smtClean="0">
                <a:ea typeface="宋体" panose="02010600030101010101" pitchFamily="2" charset="-122"/>
                <a:sym typeface="Wingdings" panose="05000000000000000000" pitchFamily="2" charset="2"/>
              </a:rPr>
              <a:t>=10   n</a:t>
            </a:r>
            <a:r>
              <a:rPr lang="en-US" altLang="zh-CN" baseline="-25000" smtClean="0">
                <a:ea typeface="宋体" panose="02010600030101010101" pitchFamily="2" charset="-122"/>
                <a:sym typeface="Wingdings" panose="05000000000000000000" pitchFamily="2" charset="2"/>
              </a:rPr>
              <a:t>2</a:t>
            </a:r>
            <a:r>
              <a:rPr lang="en-US" altLang="zh-CN" smtClean="0">
                <a:ea typeface="宋体" panose="02010600030101010101" pitchFamily="2" charset="-122"/>
                <a:sym typeface="Wingdings" panose="05000000000000000000" pitchFamily="2" charset="2"/>
              </a:rPr>
              <a:t>=20  n</a:t>
            </a:r>
            <a:r>
              <a:rPr lang="en-US" altLang="zh-CN" baseline="-25000" smtClean="0">
                <a:ea typeface="宋体" panose="02010600030101010101" pitchFamily="2" charset="-122"/>
                <a:sym typeface="Wingdings" panose="05000000000000000000" pitchFamily="2" charset="2"/>
              </a:rPr>
              <a:t>3</a:t>
            </a:r>
            <a:r>
              <a:rPr lang="en-US" altLang="zh-CN" smtClean="0">
                <a:ea typeface="宋体" panose="02010600030101010101" pitchFamily="2" charset="-122"/>
                <a:sym typeface="Wingdings" panose="05000000000000000000" pitchFamily="2" charset="2"/>
              </a:rPr>
              <a:t>=30  width=4 (integers)   low</a:t>
            </a:r>
            <a:r>
              <a:rPr lang="en-US" altLang="zh-CN" baseline="-25000" smtClean="0">
                <a:ea typeface="宋体" panose="02010600030101010101" pitchFamily="2" charset="-122"/>
                <a:sym typeface="Wingdings" panose="05000000000000000000" pitchFamily="2" charset="2"/>
              </a:rPr>
              <a:t>1</a:t>
            </a:r>
            <a:r>
              <a:rPr lang="en-US" altLang="zh-CN" smtClean="0">
                <a:ea typeface="宋体" panose="02010600030101010101" pitchFamily="2" charset="-122"/>
                <a:sym typeface="Wingdings" panose="05000000000000000000" pitchFamily="2" charset="2"/>
              </a:rPr>
              <a:t>=0   low</a:t>
            </a:r>
            <a:r>
              <a:rPr lang="en-US" altLang="zh-CN" baseline="-25000" smtClean="0">
                <a:ea typeface="宋体" panose="02010600030101010101" pitchFamily="2" charset="-122"/>
                <a:sym typeface="Wingdings" panose="05000000000000000000" pitchFamily="2" charset="2"/>
              </a:rPr>
              <a:t>2</a:t>
            </a:r>
            <a:r>
              <a:rPr lang="en-US" altLang="zh-CN" smtClean="0">
                <a:ea typeface="宋体" panose="02010600030101010101" pitchFamily="2" charset="-122"/>
                <a:sym typeface="Wingdings" panose="05000000000000000000" pitchFamily="2" charset="2"/>
              </a:rPr>
              <a:t>=0  low</a:t>
            </a:r>
            <a:r>
              <a:rPr lang="en-US" altLang="zh-CN" baseline="-25000" smtClean="0">
                <a:ea typeface="宋体" panose="02010600030101010101" pitchFamily="2" charset="-122"/>
                <a:sym typeface="Wingdings" panose="05000000000000000000" pitchFamily="2" charset="2"/>
              </a:rPr>
              <a:t>3</a:t>
            </a:r>
            <a:r>
              <a:rPr lang="en-US" altLang="zh-CN" smtClean="0">
                <a:ea typeface="宋体" panose="02010600030101010101" pitchFamily="2" charset="-122"/>
                <a:sym typeface="Wingdings" panose="05000000000000000000" pitchFamily="2" charset="2"/>
              </a:rPr>
              <a:t>=0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zh-CN" sz="800" smtClean="0">
              <a:ea typeface="宋体" panose="02010600030101010101" pitchFamily="2" charset="-122"/>
              <a:sym typeface="Wingdings" panose="05000000000000000000" pitchFamily="2" charset="2"/>
            </a:endParaRPr>
          </a:p>
          <a:p>
            <a:pPr>
              <a:lnSpc>
                <a:spcPct val="90000"/>
              </a:lnSpc>
            </a:pPr>
            <a:r>
              <a:rPr lang="en-US" altLang="zh-CN" smtClean="0">
                <a:ea typeface="宋体" panose="02010600030101010101" pitchFamily="2" charset="-122"/>
              </a:rPr>
              <a:t>Intermediate codes corresponding to    </a:t>
            </a:r>
            <a:r>
              <a:rPr lang="en-US" altLang="zh-CN" smtClean="0">
                <a:latin typeface="Courier New" panose="02070309020205020404" pitchFamily="49" charset="0"/>
                <a:ea typeface="宋体" panose="02010600030101010101" pitchFamily="2" charset="-122"/>
              </a:rPr>
              <a:t>x := A[w,y,z]</a:t>
            </a:r>
          </a:p>
          <a:p>
            <a:pPr>
              <a:lnSpc>
                <a:spcPct val="90000"/>
              </a:lnSpc>
            </a:pPr>
            <a:endParaRPr lang="en-US" altLang="zh-CN" sz="800" smtClean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mtClean="0">
                <a:solidFill>
                  <a:schemeClr val="accent2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	mult  t1,w,20		; </a:t>
            </a:r>
            <a:r>
              <a:rPr lang="en-US" altLang="zh-CN" sz="2000" smtClean="0">
                <a:solidFill>
                  <a:srgbClr val="CC0000"/>
                </a:solidFill>
                <a:ea typeface="宋体" panose="02010600030101010101" pitchFamily="2" charset="-122"/>
              </a:rPr>
              <a:t>(((i</a:t>
            </a:r>
            <a:r>
              <a:rPr lang="en-US" altLang="zh-CN" sz="2000" baseline="-25000" smtClean="0">
                <a:solidFill>
                  <a:srgbClr val="CC0000"/>
                </a:solidFill>
                <a:ea typeface="宋体" panose="02010600030101010101" pitchFamily="2" charset="-122"/>
              </a:rPr>
              <a:t>1</a:t>
            </a:r>
            <a:r>
              <a:rPr lang="en-US" altLang="zh-CN" sz="2000" smtClean="0">
                <a:solidFill>
                  <a:srgbClr val="CC0000"/>
                </a:solidFill>
                <a:ea typeface="宋体" panose="02010600030101010101" pitchFamily="2" charset="-122"/>
              </a:rPr>
              <a:t>*n</a:t>
            </a:r>
            <a:r>
              <a:rPr lang="en-US" altLang="zh-CN" sz="2000" baseline="-25000" smtClean="0">
                <a:solidFill>
                  <a:srgbClr val="CC0000"/>
                </a:solidFill>
                <a:ea typeface="宋体" panose="02010600030101010101" pitchFamily="2" charset="-122"/>
              </a:rPr>
              <a:t>2</a:t>
            </a:r>
            <a:r>
              <a:rPr lang="en-US" altLang="zh-CN" sz="2000" smtClean="0">
                <a:solidFill>
                  <a:srgbClr val="CC0000"/>
                </a:solidFill>
                <a:ea typeface="宋体" panose="02010600030101010101" pitchFamily="2" charset="-122"/>
              </a:rPr>
              <a:t>)+i</a:t>
            </a:r>
            <a:r>
              <a:rPr lang="en-US" altLang="zh-CN" sz="2000" baseline="-25000" smtClean="0">
                <a:solidFill>
                  <a:srgbClr val="CC0000"/>
                </a:solidFill>
                <a:ea typeface="宋体" panose="02010600030101010101" pitchFamily="2" charset="-122"/>
              </a:rPr>
              <a:t>2</a:t>
            </a:r>
            <a:r>
              <a:rPr lang="en-US" altLang="zh-CN" sz="2000" smtClean="0">
                <a:solidFill>
                  <a:srgbClr val="CC0000"/>
                </a:solidFill>
                <a:ea typeface="宋体" panose="02010600030101010101" pitchFamily="2" charset="-122"/>
              </a:rPr>
              <a:t>) *n</a:t>
            </a:r>
            <a:r>
              <a:rPr lang="en-US" altLang="zh-CN" sz="2000" baseline="-25000" smtClean="0">
                <a:solidFill>
                  <a:srgbClr val="CC0000"/>
                </a:solidFill>
                <a:ea typeface="宋体" panose="02010600030101010101" pitchFamily="2" charset="-122"/>
              </a:rPr>
              <a:t>3</a:t>
            </a:r>
            <a:r>
              <a:rPr lang="en-US" altLang="zh-CN" sz="2000" smtClean="0">
                <a:solidFill>
                  <a:srgbClr val="CC0000"/>
                </a:solidFill>
                <a:ea typeface="宋体" panose="02010600030101010101" pitchFamily="2" charset="-122"/>
              </a:rPr>
              <a:t>+i</a:t>
            </a:r>
            <a:r>
              <a:rPr lang="en-US" altLang="zh-CN" sz="2000" baseline="-25000" smtClean="0">
                <a:solidFill>
                  <a:srgbClr val="CC0000"/>
                </a:solidFill>
                <a:ea typeface="宋体" panose="02010600030101010101" pitchFamily="2" charset="-122"/>
              </a:rPr>
              <a:t>3</a:t>
            </a:r>
            <a:r>
              <a:rPr lang="en-US" altLang="zh-CN" sz="2000" smtClean="0">
                <a:solidFill>
                  <a:srgbClr val="CC0000"/>
                </a:solidFill>
                <a:ea typeface="宋体" panose="02010600030101010101" pitchFamily="2" charset="-122"/>
              </a:rPr>
              <a:t>)*width</a:t>
            </a:r>
            <a:r>
              <a:rPr lang="en-US" altLang="zh-CN" sz="2000" smtClean="0">
                <a:ea typeface="宋体" panose="02010600030101010101" pitchFamily="2" charset="-122"/>
              </a:rPr>
              <a:t> </a:t>
            </a:r>
            <a:endParaRPr lang="en-US" altLang="zh-CN" smtClean="0">
              <a:solidFill>
                <a:schemeClr val="accent2"/>
              </a:solidFill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mtClean="0">
                <a:solidFill>
                  <a:schemeClr val="accent2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	add   t1,y,t1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mtClean="0">
                <a:solidFill>
                  <a:srgbClr val="9900FF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	mult  t2,t1,30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mtClean="0">
                <a:solidFill>
                  <a:srgbClr val="9900FF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	add   t2,z,t2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mtClean="0">
                <a:latin typeface="Courier New" panose="02070309020205020404" pitchFamily="49" charset="0"/>
                <a:ea typeface="宋体" panose="02010600030101010101" pitchFamily="2" charset="-122"/>
              </a:rPr>
              <a:t>	</a:t>
            </a:r>
            <a:r>
              <a:rPr lang="en-US" altLang="zh-CN" smtClean="0">
                <a:solidFill>
                  <a:srgbClr val="A50021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mov	   t3,,c		</a:t>
            </a:r>
            <a:r>
              <a:rPr lang="en-US" altLang="zh-CN" smtClean="0">
                <a:ea typeface="宋体" panose="02010600030101010101" pitchFamily="2" charset="-122"/>
              </a:rPr>
              <a:t>; where c=base</a:t>
            </a:r>
            <a:r>
              <a:rPr lang="en-US" altLang="zh-CN" baseline="-25000" smtClean="0">
                <a:ea typeface="宋体" panose="02010600030101010101" pitchFamily="2" charset="-122"/>
              </a:rPr>
              <a:t>A</a:t>
            </a:r>
            <a:r>
              <a:rPr lang="en-US" altLang="zh-CN" smtClean="0">
                <a:ea typeface="宋体" panose="02010600030101010101" pitchFamily="2" charset="-122"/>
              </a:rPr>
              <a:t>-((0*20+0)*30+0)*4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mtClean="0">
                <a:solidFill>
                  <a:srgbClr val="A50021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	mult  t4,t2,4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mtClean="0">
                <a:latin typeface="Courier New" panose="02070309020205020404" pitchFamily="49" charset="0"/>
                <a:ea typeface="宋体" panose="02010600030101010101" pitchFamily="2" charset="-122"/>
              </a:rPr>
              <a:t>	mov   t5,,t3[t4]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mtClean="0">
                <a:latin typeface="Courier New" panose="02070309020205020404" pitchFamily="49" charset="0"/>
                <a:ea typeface="宋体" panose="02010600030101010101" pitchFamily="2" charset="-122"/>
              </a:rPr>
              <a:t>	mov   x,,t5</a:t>
            </a:r>
          </a:p>
          <a:p>
            <a:pPr>
              <a:lnSpc>
                <a:spcPct val="90000"/>
              </a:lnSpc>
            </a:pPr>
            <a:endParaRPr lang="zh-CN" altLang="en-US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28675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2867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4B4ED07-0793-4ECB-9AF9-BB5185D34D7D}" type="slidenum">
              <a:rPr lang="zh-CN" altLang="en-US" sz="800"/>
              <a:pPr/>
              <a:t>27</a:t>
            </a:fld>
            <a:endParaRPr lang="en-US" altLang="zh-CN" sz="800"/>
          </a:p>
        </p:txBody>
      </p:sp>
      <p:sp>
        <p:nvSpPr>
          <p:cNvPr id="28677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9372600" cy="6858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Boolean Expressions (P.488)</a:t>
            </a:r>
          </a:p>
        </p:txBody>
      </p:sp>
      <p:sp>
        <p:nvSpPr>
          <p:cNvPr id="2867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914400"/>
            <a:ext cx="8763000" cy="48768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</a:rPr>
              <a:t>E 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 E</a:t>
            </a:r>
            <a:r>
              <a:rPr lang="en-US" altLang="zh-CN" sz="20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 and E</a:t>
            </a:r>
            <a:r>
              <a:rPr lang="en-US" altLang="zh-CN" sz="20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	</a:t>
            </a:r>
          </a:p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         { E.place = newtemp();  emit(‘and’ E.place ‘,’ E</a:t>
            </a:r>
            <a:r>
              <a:rPr lang="en-US" altLang="zh-CN" sz="20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.place ‘,’ E</a:t>
            </a:r>
            <a:r>
              <a:rPr lang="en-US" altLang="zh-CN" sz="20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.place}</a:t>
            </a:r>
          </a:p>
          <a:p>
            <a:pPr>
              <a:buFontTx/>
              <a:buNone/>
            </a:pPr>
            <a:endParaRPr lang="en-US" altLang="zh-CN" sz="2000" smtClean="0"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</a:rPr>
              <a:t>E 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 E</a:t>
            </a:r>
            <a:r>
              <a:rPr lang="en-US" altLang="zh-CN" sz="20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 or E</a:t>
            </a:r>
            <a:r>
              <a:rPr lang="en-US" altLang="zh-CN" sz="20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	</a:t>
            </a:r>
          </a:p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         { E.place = newtemp();  emit(‘or’ E.place ‘,’ E</a:t>
            </a:r>
            <a:r>
              <a:rPr lang="en-US" altLang="zh-CN" sz="20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.place ‘,’ E</a:t>
            </a:r>
            <a:r>
              <a:rPr lang="en-US" altLang="zh-CN" sz="20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.place}</a:t>
            </a:r>
          </a:p>
          <a:p>
            <a:pPr>
              <a:buFontTx/>
              <a:buNone/>
            </a:pPr>
            <a:endParaRPr lang="en-US" altLang="zh-CN" sz="2000" smtClean="0"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</a:rPr>
              <a:t>E 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 not E</a:t>
            </a:r>
            <a:r>
              <a:rPr lang="en-US" altLang="zh-CN" sz="20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 	</a:t>
            </a:r>
          </a:p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	  { E.place = newtemp();   emit(‘not’ E.place ‘,,’ E</a:t>
            </a:r>
            <a:r>
              <a:rPr lang="en-US" altLang="zh-CN" sz="20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.place) }</a:t>
            </a:r>
          </a:p>
          <a:p>
            <a:pPr>
              <a:buFontTx/>
              <a:buNone/>
            </a:pPr>
            <a:endParaRPr lang="en-US" altLang="zh-CN" sz="2000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</a:rPr>
              <a:t>E 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 E</a:t>
            </a:r>
            <a:r>
              <a:rPr lang="en-US" altLang="zh-CN" sz="20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000" b="1" smtClean="0">
                <a:ea typeface="宋体" panose="02010600030101010101" pitchFamily="2" charset="-122"/>
                <a:sym typeface="Symbol" panose="05050102010706020507" pitchFamily="18" charset="2"/>
              </a:rPr>
              <a:t>relop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 E</a:t>
            </a:r>
            <a:r>
              <a:rPr lang="en-US" altLang="zh-CN" sz="20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	</a:t>
            </a:r>
          </a:p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         { E.place = newtemp();  emit(</a:t>
            </a:r>
            <a:r>
              <a:rPr lang="en-US" altLang="zh-CN" sz="2000" b="1" smtClean="0">
                <a:ea typeface="宋体" panose="02010600030101010101" pitchFamily="2" charset="-122"/>
                <a:sym typeface="Symbol" panose="05050102010706020507" pitchFamily="18" charset="2"/>
              </a:rPr>
              <a:t>relop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.code E.place ‘,’ E</a:t>
            </a:r>
            <a:r>
              <a:rPr lang="en-US" altLang="zh-CN" sz="20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.place ‘,’ E</a:t>
            </a:r>
            <a:r>
              <a:rPr lang="en-US" altLang="zh-CN" sz="20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.place) }</a:t>
            </a:r>
            <a:endParaRPr lang="en-US" altLang="zh-CN" sz="1600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buFontTx/>
              <a:buNone/>
            </a:pPr>
            <a:endParaRPr lang="zh-CN" altLang="en-US" sz="1600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29699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2970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62847FF-AF2D-4DC5-825A-8E4E34F2990B}" type="slidenum">
              <a:rPr lang="zh-CN" altLang="en-US" sz="800"/>
              <a:pPr/>
              <a:t>28</a:t>
            </a:fld>
            <a:endParaRPr lang="en-US" altLang="zh-CN" sz="800"/>
          </a:p>
        </p:txBody>
      </p:sp>
      <p:sp>
        <p:nvSpPr>
          <p:cNvPr id="297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Translation Scheme(cont.)</a:t>
            </a:r>
          </a:p>
        </p:txBody>
      </p:sp>
      <p:sp>
        <p:nvSpPr>
          <p:cNvPr id="2970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0" y="1219200"/>
            <a:ext cx="6324600" cy="51054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sz="1800" smtClean="0">
                <a:ea typeface="宋体" panose="02010600030101010101" pitchFamily="2" charset="-122"/>
              </a:rPr>
              <a:t>S 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 while { E.inloc = S.inloc } E do </a:t>
            </a:r>
          </a:p>
          <a:p>
            <a:pPr>
              <a:buFontTx/>
              <a:buNone/>
            </a:pP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	 { emit(E.outloc ‘jmpf’ E.place ‘,,’ ‘</a:t>
            </a:r>
            <a:r>
              <a:rPr lang="en-US" altLang="zh-CN" sz="1800" b="1" smtClean="0">
                <a:ea typeface="宋体" panose="02010600030101010101" pitchFamily="2" charset="-122"/>
                <a:sym typeface="Symbol" panose="05050102010706020507" pitchFamily="18" charset="2"/>
              </a:rPr>
              <a:t>NOTKNOWN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’); </a:t>
            </a:r>
          </a:p>
          <a:p>
            <a:pPr>
              <a:buFontTx/>
              <a:buNone/>
            </a:pP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	    S</a:t>
            </a:r>
            <a:r>
              <a:rPr lang="en-US" altLang="zh-CN" sz="18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.inloc=E.outloc+1;  }  S</a:t>
            </a:r>
            <a:r>
              <a:rPr lang="en-US" altLang="zh-CN" sz="18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	</a:t>
            </a:r>
          </a:p>
          <a:p>
            <a:pPr>
              <a:buFontTx/>
              <a:buNone/>
            </a:pP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	 { emit(S</a:t>
            </a:r>
            <a:r>
              <a:rPr lang="en-US" altLang="zh-CN" sz="18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.outloc ‘jmp’ ‘,,’ S.inloc);</a:t>
            </a:r>
          </a:p>
          <a:p>
            <a:pPr>
              <a:buFontTx/>
              <a:buNone/>
            </a:pP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	    S.outloc=S</a:t>
            </a:r>
            <a:r>
              <a:rPr lang="en-US" altLang="zh-CN" sz="18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.outloc+1;</a:t>
            </a:r>
          </a:p>
          <a:p>
            <a:pPr>
              <a:buFontTx/>
              <a:buNone/>
            </a:pP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	    backpatch(E.outloc,S.outloc); }</a:t>
            </a:r>
          </a:p>
          <a:p>
            <a:pPr>
              <a:buFontTx/>
              <a:buNone/>
            </a:pPr>
            <a:endParaRPr lang="en-US" altLang="zh-CN" sz="1800" smtClean="0"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sz="1800" smtClean="0">
                <a:ea typeface="宋体" panose="02010600030101010101" pitchFamily="2" charset="-122"/>
              </a:rPr>
              <a:t>S 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 if { E.inloc = S.inloc } E then</a:t>
            </a:r>
          </a:p>
          <a:p>
            <a:pPr>
              <a:buFontTx/>
              <a:buNone/>
            </a:pP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	 { emit(E.outloc ‘jmpf’ E.place ‘,,’ ‘</a:t>
            </a:r>
            <a:r>
              <a:rPr lang="en-US" altLang="zh-CN" sz="1800" b="1" smtClean="0">
                <a:ea typeface="宋体" panose="02010600030101010101" pitchFamily="2" charset="-122"/>
                <a:sym typeface="Symbol" panose="05050102010706020507" pitchFamily="18" charset="2"/>
              </a:rPr>
              <a:t>NOTKNOWN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’); </a:t>
            </a:r>
          </a:p>
          <a:p>
            <a:pPr>
              <a:buFontTx/>
              <a:buNone/>
            </a:pP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	    S</a:t>
            </a:r>
            <a:r>
              <a:rPr lang="en-US" altLang="zh-CN" sz="18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.inloc=E.outloc+1;  } S</a:t>
            </a:r>
            <a:r>
              <a:rPr lang="en-US" altLang="zh-CN" sz="18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1 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else </a:t>
            </a:r>
          </a:p>
          <a:p>
            <a:pPr>
              <a:buFontTx/>
              <a:buNone/>
            </a:pP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	 { emit(S</a:t>
            </a:r>
            <a:r>
              <a:rPr lang="en-US" altLang="zh-CN" sz="18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.outloc ‘jmp’ ‘,,’ ‘</a:t>
            </a:r>
            <a:r>
              <a:rPr lang="en-US" altLang="zh-CN" sz="1800" b="1" smtClean="0">
                <a:ea typeface="宋体" panose="02010600030101010101" pitchFamily="2" charset="-122"/>
                <a:sym typeface="Symbol" panose="05050102010706020507" pitchFamily="18" charset="2"/>
              </a:rPr>
              <a:t>NOTKNOWN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’); </a:t>
            </a:r>
          </a:p>
          <a:p>
            <a:pPr>
              <a:buFontTx/>
              <a:buNone/>
            </a:pP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	    S</a:t>
            </a:r>
            <a:r>
              <a:rPr lang="en-US" altLang="zh-CN" sz="18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.inloc=S</a:t>
            </a:r>
            <a:r>
              <a:rPr lang="en-US" altLang="zh-CN" sz="18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.outloc+1; </a:t>
            </a:r>
          </a:p>
          <a:p>
            <a:pPr>
              <a:buFontTx/>
              <a:buNone/>
            </a:pP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	    backpatch(E.outloc,S</a:t>
            </a:r>
            <a:r>
              <a:rPr lang="en-US" altLang="zh-CN" sz="18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.inloc); }  S</a:t>
            </a:r>
            <a:r>
              <a:rPr lang="en-US" altLang="zh-CN" sz="18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  </a:t>
            </a:r>
          </a:p>
          <a:p>
            <a:pPr>
              <a:buFontTx/>
              <a:buNone/>
            </a:pP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	 { S.outloc=S</a:t>
            </a:r>
            <a:r>
              <a:rPr lang="en-US" altLang="zh-CN" sz="18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.outloc; </a:t>
            </a:r>
          </a:p>
          <a:p>
            <a:pPr>
              <a:buFontTx/>
              <a:buNone/>
            </a:pP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	    backpatch(S</a:t>
            </a:r>
            <a:r>
              <a:rPr lang="en-US" altLang="zh-CN" sz="18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.outloc,S.outloc); } 	</a:t>
            </a:r>
            <a:endParaRPr lang="zh-CN" altLang="en-US" sz="1800" smtClean="0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3072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3072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933494B-5699-4097-9561-CB520ECF57C1}" type="slidenum">
              <a:rPr lang="zh-CN" altLang="en-US" sz="800"/>
              <a:pPr/>
              <a:t>29</a:t>
            </a:fld>
            <a:endParaRPr lang="en-US" altLang="zh-CN" sz="800"/>
          </a:p>
        </p:txBody>
      </p:sp>
      <p:sp>
        <p:nvSpPr>
          <p:cNvPr id="30725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9372600" cy="6096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Three Address Codes - Example</a:t>
            </a:r>
          </a:p>
        </p:txBody>
      </p:sp>
      <p:sp>
        <p:nvSpPr>
          <p:cNvPr id="430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47800" y="838200"/>
            <a:ext cx="7162800" cy="5410200"/>
          </a:xfrm>
        </p:spPr>
        <p:txBody>
          <a:bodyPr/>
          <a:lstStyle/>
          <a:p>
            <a:pPr>
              <a:spcBef>
                <a:spcPct val="0"/>
              </a:spcBef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</a:rPr>
              <a:t>x:=1; 					01: mov   x,,1 	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</a:rPr>
              <a:t>y:=x+10;				02: add   t1,x,10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</a:rPr>
              <a:t>while (x&lt;y) {		</a:t>
            </a:r>
            <a:r>
              <a:rPr lang="en-US" altLang="zh-CN" sz="2000" smtClean="0">
                <a:ea typeface="宋体" panose="02010600030101010101" pitchFamily="2" charset="-122"/>
                <a:sym typeface="Wingdings" panose="05000000000000000000" pitchFamily="2" charset="2"/>
              </a:rPr>
              <a:t>		</a:t>
            </a:r>
            <a:r>
              <a:rPr lang="en-US" altLang="zh-CN" sz="2000" smtClean="0">
                <a:ea typeface="宋体" panose="02010600030101010101" pitchFamily="2" charset="-122"/>
              </a:rPr>
              <a:t>03: mov   y,,t1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</a:rPr>
              <a:t>	x:=x+1;				</a:t>
            </a:r>
            <a:r>
              <a:rPr lang="en-US" altLang="zh-CN" sz="2000" b="1" smtClean="0">
                <a:solidFill>
                  <a:srgbClr val="A50021"/>
                </a:solidFill>
                <a:ea typeface="宋体" panose="02010600030101010101" pitchFamily="2" charset="-122"/>
              </a:rPr>
              <a:t>04</a:t>
            </a:r>
            <a:r>
              <a:rPr lang="en-US" altLang="zh-CN" sz="2000" smtClean="0">
                <a:ea typeface="宋体" panose="02010600030101010101" pitchFamily="2" charset="-122"/>
              </a:rPr>
              <a:t>: lt    t2,x,y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</a:rPr>
              <a:t>	if (x%2==1) then y:=y+1;  </a:t>
            </a:r>
            <a:r>
              <a:rPr lang="en-US" altLang="zh-CN" sz="2000" smtClean="0">
                <a:ea typeface="宋体" panose="02010600030101010101" pitchFamily="2" charset="-122"/>
                <a:sym typeface="Wingdings" panose="05000000000000000000" pitchFamily="2" charset="2"/>
              </a:rPr>
              <a:t></a:t>
            </a:r>
            <a:r>
              <a:rPr lang="en-US" altLang="zh-CN" sz="2000" smtClean="0">
                <a:ea typeface="宋体" panose="02010600030101010101" pitchFamily="2" charset="-122"/>
              </a:rPr>
              <a:t> 		05: jmpf  t2,,</a:t>
            </a:r>
            <a:r>
              <a:rPr lang="en-US" altLang="zh-CN" sz="2000" b="1" smtClean="0">
                <a:solidFill>
                  <a:srgbClr val="CC0000"/>
                </a:solidFill>
                <a:ea typeface="宋体" panose="02010600030101010101" pitchFamily="2" charset="-122"/>
              </a:rPr>
              <a:t>17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</a:rPr>
              <a:t>	else y:=y-2;				06: add   t3,x,1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</a:rPr>
              <a:t>}						07: mov   x,,t3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</a:rPr>
              <a:t>						</a:t>
            </a:r>
            <a:r>
              <a:rPr lang="en-US" altLang="zh-CN" sz="2000" smtClean="0">
                <a:solidFill>
                  <a:schemeClr val="accent2"/>
                </a:solidFill>
                <a:ea typeface="宋体" panose="02010600030101010101" pitchFamily="2" charset="-122"/>
              </a:rPr>
              <a:t>08: mod   t4,x,2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smtClean="0">
                <a:solidFill>
                  <a:schemeClr val="accent2"/>
                </a:solidFill>
                <a:ea typeface="宋体" panose="02010600030101010101" pitchFamily="2" charset="-122"/>
              </a:rPr>
              <a:t>						09: eq    t5,t4,1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smtClean="0">
                <a:solidFill>
                  <a:schemeClr val="accent2"/>
                </a:solidFill>
                <a:ea typeface="宋体" panose="02010600030101010101" pitchFamily="2" charset="-122"/>
              </a:rPr>
              <a:t>						10: jmpf  t5,,</a:t>
            </a:r>
            <a:r>
              <a:rPr lang="en-US" altLang="zh-CN" sz="2000" b="1" smtClean="0">
                <a:solidFill>
                  <a:schemeClr val="accent1"/>
                </a:solidFill>
                <a:ea typeface="宋体" panose="02010600030101010101" pitchFamily="2" charset="-122"/>
              </a:rPr>
              <a:t>14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smtClean="0">
                <a:solidFill>
                  <a:schemeClr val="accent2"/>
                </a:solidFill>
                <a:ea typeface="宋体" panose="02010600030101010101" pitchFamily="2" charset="-122"/>
              </a:rPr>
              <a:t>						11: add   t6,y,1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smtClean="0">
                <a:solidFill>
                  <a:schemeClr val="accent2"/>
                </a:solidFill>
                <a:ea typeface="宋体" panose="02010600030101010101" pitchFamily="2" charset="-122"/>
              </a:rPr>
              <a:t>						12: mov   y,,t6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smtClean="0">
                <a:solidFill>
                  <a:schemeClr val="accent2"/>
                </a:solidFill>
                <a:ea typeface="宋体" panose="02010600030101010101" pitchFamily="2" charset="-122"/>
              </a:rPr>
              <a:t>						13: jmp   ,,</a:t>
            </a:r>
            <a:r>
              <a:rPr lang="en-US" altLang="zh-CN" sz="2000" smtClean="0">
                <a:solidFill>
                  <a:srgbClr val="9900FF"/>
                </a:solidFill>
                <a:ea typeface="宋体" panose="02010600030101010101" pitchFamily="2" charset="-122"/>
              </a:rPr>
              <a:t>16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smtClean="0">
                <a:solidFill>
                  <a:schemeClr val="accent2"/>
                </a:solidFill>
                <a:ea typeface="宋体" panose="02010600030101010101" pitchFamily="2" charset="-122"/>
              </a:rPr>
              <a:t>						</a:t>
            </a:r>
            <a:r>
              <a:rPr lang="en-US" altLang="zh-CN" sz="2000" b="1" smtClean="0">
                <a:solidFill>
                  <a:schemeClr val="accent1"/>
                </a:solidFill>
                <a:ea typeface="宋体" panose="02010600030101010101" pitchFamily="2" charset="-122"/>
              </a:rPr>
              <a:t>14</a:t>
            </a:r>
            <a:r>
              <a:rPr lang="en-US" altLang="zh-CN" sz="2000" smtClean="0">
                <a:solidFill>
                  <a:schemeClr val="accent2"/>
                </a:solidFill>
                <a:ea typeface="宋体" panose="02010600030101010101" pitchFamily="2" charset="-122"/>
              </a:rPr>
              <a:t>: sub   t7,y,2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smtClean="0">
                <a:solidFill>
                  <a:schemeClr val="accent2"/>
                </a:solidFill>
                <a:ea typeface="宋体" panose="02010600030101010101" pitchFamily="2" charset="-122"/>
              </a:rPr>
              <a:t>						15: mov   y,,t7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</a:rPr>
              <a:t>						</a:t>
            </a:r>
            <a:r>
              <a:rPr lang="en-US" altLang="zh-CN" sz="2000" b="1" smtClean="0">
                <a:solidFill>
                  <a:srgbClr val="9900FF"/>
                </a:solidFill>
                <a:ea typeface="宋体" panose="02010600030101010101" pitchFamily="2" charset="-122"/>
              </a:rPr>
              <a:t>16</a:t>
            </a:r>
            <a:r>
              <a:rPr lang="en-US" altLang="zh-CN" sz="2000" smtClean="0">
                <a:ea typeface="宋体" panose="02010600030101010101" pitchFamily="2" charset="-122"/>
              </a:rPr>
              <a:t>: jmp   ,,</a:t>
            </a:r>
            <a:r>
              <a:rPr lang="en-US" altLang="zh-CN" sz="2000" b="1" smtClean="0">
                <a:solidFill>
                  <a:srgbClr val="A50021"/>
                </a:solidFill>
                <a:ea typeface="宋体" panose="02010600030101010101" pitchFamily="2" charset="-122"/>
              </a:rPr>
              <a:t>4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</a:rPr>
              <a:t>						</a:t>
            </a:r>
            <a:r>
              <a:rPr lang="en-US" altLang="zh-CN" sz="2000" b="1" smtClean="0">
                <a:solidFill>
                  <a:srgbClr val="CC0000"/>
                </a:solidFill>
                <a:ea typeface="宋体" panose="02010600030101010101" pitchFamily="2" charset="-122"/>
              </a:rPr>
              <a:t>17</a:t>
            </a:r>
            <a:r>
              <a:rPr lang="en-US" altLang="zh-CN" sz="2000" smtClean="0">
                <a:ea typeface="宋体" panose="02010600030101010101" pitchFamily="2" charset="-122"/>
              </a:rPr>
              <a:t>: </a:t>
            </a:r>
          </a:p>
        </p:txBody>
      </p:sp>
      <p:sp>
        <p:nvSpPr>
          <p:cNvPr id="430084" name="Line 4"/>
          <p:cNvSpPr>
            <a:spLocks noChangeShapeType="1"/>
          </p:cNvSpPr>
          <p:nvPr/>
        </p:nvSpPr>
        <p:spPr bwMode="auto">
          <a:xfrm flipH="1">
            <a:off x="5562600" y="3810000"/>
            <a:ext cx="457200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085" name="Line 5"/>
          <p:cNvSpPr>
            <a:spLocks noChangeShapeType="1"/>
          </p:cNvSpPr>
          <p:nvPr/>
        </p:nvSpPr>
        <p:spPr bwMode="auto">
          <a:xfrm>
            <a:off x="5562600" y="3810000"/>
            <a:ext cx="0" cy="121920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087" name="Line 7"/>
          <p:cNvSpPr>
            <a:spLocks noChangeShapeType="1"/>
          </p:cNvSpPr>
          <p:nvPr/>
        </p:nvSpPr>
        <p:spPr bwMode="auto">
          <a:xfrm>
            <a:off x="5562600" y="5029200"/>
            <a:ext cx="533400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088" name="Line 8"/>
          <p:cNvSpPr>
            <a:spLocks noChangeShapeType="1"/>
          </p:cNvSpPr>
          <p:nvPr/>
        </p:nvSpPr>
        <p:spPr bwMode="auto">
          <a:xfrm>
            <a:off x="7696200" y="4724400"/>
            <a:ext cx="381000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089" name="Line 9"/>
          <p:cNvSpPr>
            <a:spLocks noChangeShapeType="1"/>
          </p:cNvSpPr>
          <p:nvPr/>
        </p:nvSpPr>
        <p:spPr bwMode="auto">
          <a:xfrm>
            <a:off x="8077200" y="4724400"/>
            <a:ext cx="0" cy="91440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090" name="Line 10"/>
          <p:cNvSpPr>
            <a:spLocks noChangeShapeType="1"/>
          </p:cNvSpPr>
          <p:nvPr/>
        </p:nvSpPr>
        <p:spPr bwMode="auto">
          <a:xfrm flipH="1">
            <a:off x="7620000" y="5638800"/>
            <a:ext cx="457200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091" name="Line 11"/>
          <p:cNvSpPr>
            <a:spLocks noChangeShapeType="1"/>
          </p:cNvSpPr>
          <p:nvPr/>
        </p:nvSpPr>
        <p:spPr bwMode="auto">
          <a:xfrm flipH="1">
            <a:off x="5105400" y="5638800"/>
            <a:ext cx="914400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092" name="Line 12"/>
          <p:cNvSpPr>
            <a:spLocks noChangeShapeType="1"/>
          </p:cNvSpPr>
          <p:nvPr/>
        </p:nvSpPr>
        <p:spPr bwMode="auto">
          <a:xfrm flipV="1">
            <a:off x="5105400" y="1905000"/>
            <a:ext cx="0" cy="37338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093" name="Line 13"/>
          <p:cNvSpPr>
            <a:spLocks noChangeShapeType="1"/>
          </p:cNvSpPr>
          <p:nvPr/>
        </p:nvSpPr>
        <p:spPr bwMode="auto">
          <a:xfrm>
            <a:off x="5105400" y="1905000"/>
            <a:ext cx="914400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094" name="Line 14"/>
          <p:cNvSpPr>
            <a:spLocks noChangeShapeType="1"/>
          </p:cNvSpPr>
          <p:nvPr/>
        </p:nvSpPr>
        <p:spPr bwMode="auto">
          <a:xfrm>
            <a:off x="7696200" y="2286000"/>
            <a:ext cx="609600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095" name="Line 15"/>
          <p:cNvSpPr>
            <a:spLocks noChangeShapeType="1"/>
          </p:cNvSpPr>
          <p:nvPr/>
        </p:nvSpPr>
        <p:spPr bwMode="auto">
          <a:xfrm>
            <a:off x="8305800" y="2286000"/>
            <a:ext cx="0" cy="36576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096" name="Line 16"/>
          <p:cNvSpPr>
            <a:spLocks noChangeShapeType="1"/>
          </p:cNvSpPr>
          <p:nvPr/>
        </p:nvSpPr>
        <p:spPr bwMode="auto">
          <a:xfrm flipH="1">
            <a:off x="7391400" y="5943600"/>
            <a:ext cx="914400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30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30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30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30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30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30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300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300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300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300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300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300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3008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43008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43008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3008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43008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8500"/>
                            </p:stCondLst>
                            <p:childTnLst>
                              <p:par>
                                <p:cTn id="73" presetID="22" presetClass="entr" presetSubtype="2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5" dur="1000"/>
                                        <p:tgtEl>
                                          <p:spTgt spid="430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14500"/>
                            </p:stCondLst>
                            <p:childTnLst>
                              <p:par>
                                <p:cTn id="7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1000"/>
                                        <p:tgtEl>
                                          <p:spTgt spid="430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15500"/>
                            </p:stCondLst>
                            <p:childTnLst>
                              <p:par>
                                <p:cTn id="8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1000"/>
                                        <p:tgtEl>
                                          <p:spTgt spid="430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16500"/>
                            </p:stCondLst>
                            <p:childTnLst>
                              <p:par>
                                <p:cTn id="8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1000"/>
                                        <p:tgtEl>
                                          <p:spTgt spid="430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17500"/>
                            </p:stCondLst>
                            <p:childTnLst>
                              <p:par>
                                <p:cTn id="8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1000"/>
                                        <p:tgtEl>
                                          <p:spTgt spid="430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18500"/>
                            </p:stCondLst>
                            <p:childTnLst>
                              <p:par>
                                <p:cTn id="9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5" dur="1000"/>
                                        <p:tgtEl>
                                          <p:spTgt spid="430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 nodeType="afterGroup">
                            <p:stCondLst>
                              <p:cond delay="19500"/>
                            </p:stCondLst>
                            <p:childTnLst>
                              <p:par>
                                <p:cTn id="9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9" dur="1000"/>
                                        <p:tgtEl>
                                          <p:spTgt spid="430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 nodeType="afterGroup">
                            <p:stCondLst>
                              <p:cond delay="20500"/>
                            </p:stCondLst>
                            <p:childTnLst>
                              <p:par>
                                <p:cTn id="10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1000"/>
                                        <p:tgtEl>
                                          <p:spTgt spid="430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21500"/>
                            </p:stCondLst>
                            <p:childTnLst>
                              <p:par>
                                <p:cTn id="10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1000"/>
                                        <p:tgtEl>
                                          <p:spTgt spid="430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 nodeType="afterGroup">
                            <p:stCondLst>
                              <p:cond delay="22500"/>
                            </p:stCondLst>
                            <p:childTnLst>
                              <p:par>
                                <p:cTn id="10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1000"/>
                                        <p:tgtEl>
                                          <p:spTgt spid="430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 nodeType="afterGroup">
                            <p:stCondLst>
                              <p:cond delay="23500"/>
                            </p:stCondLst>
                            <p:childTnLst>
                              <p:par>
                                <p:cTn id="1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5" dur="1000"/>
                                        <p:tgtEl>
                                          <p:spTgt spid="430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 nodeType="afterGroup">
                            <p:stCondLst>
                              <p:cond delay="24500"/>
                            </p:stCondLst>
                            <p:childTnLst>
                              <p:par>
                                <p:cTn id="11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9" dur="1000"/>
                                        <p:tgtEl>
                                          <p:spTgt spid="430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08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日期占位符 4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31747" name="页脚占位符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31748" name="灯片编号占位符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3E7D8A3-96D0-40D8-85AB-6494202E939F}" type="slidenum">
              <a:rPr lang="zh-CN" altLang="en-US" sz="800"/>
              <a:pPr/>
              <a:t>30</a:t>
            </a:fld>
            <a:endParaRPr lang="en-US" altLang="zh-CN" sz="800"/>
          </a:p>
        </p:txBody>
      </p:sp>
      <p:sp>
        <p:nvSpPr>
          <p:cNvPr id="317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Exercises</a:t>
            </a:r>
          </a:p>
        </p:txBody>
      </p:sp>
      <p:sp>
        <p:nvSpPr>
          <p:cNvPr id="31750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3200" smtClean="0">
                <a:ea typeface="宋体" panose="02010600030101010101" pitchFamily="2" charset="-122"/>
              </a:rPr>
              <a:t>P.508    8.3 c)</a:t>
            </a:r>
          </a:p>
          <a:p>
            <a:pPr>
              <a:lnSpc>
                <a:spcPct val="90000"/>
              </a:lnSpc>
            </a:pPr>
            <a:r>
              <a:rPr lang="en-US" altLang="zh-CN" sz="3200" smtClean="0">
                <a:ea typeface="宋体" panose="02010600030101010101" pitchFamily="2" charset="-122"/>
              </a:rPr>
              <a:t>Translating the following C codes into three address codes.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</a:rPr>
              <a:t>  int fun_for()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</a:rPr>
              <a:t> 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</a:rPr>
              <a:t>  int i,s=0;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</a:rPr>
              <a:t>  int a[10]={0,1,2,3,4,5,6,7,8,9};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</a:rPr>
              <a:t>  for (i=0;i&lt;10;i++)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</a:rPr>
              <a:t>      s=s+a[i];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</a:rPr>
              <a:t>  return s;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</a:rPr>
              <a:t>  }</a:t>
            </a:r>
          </a:p>
        </p:txBody>
      </p:sp>
      <p:sp>
        <p:nvSpPr>
          <p:cNvPr id="31751" name="Rectangle 8"/>
          <p:cNvSpPr>
            <a:spLocks noGrp="1" noChangeArrowheads="1"/>
          </p:cNvSpPr>
          <p:nvPr>
            <p:ph type="body" sz="half" idx="2"/>
          </p:nvPr>
        </p:nvSpPr>
        <p:spPr>
          <a:xfrm>
            <a:off x="5143500" y="3048000"/>
            <a:ext cx="2324100" cy="3276600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</a:rPr>
              <a:t>int fun_if()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</a:rPr>
              <a:t> 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</a:rPr>
              <a:t>  int i=10,j=12;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</a:rPr>
              <a:t>  if(i&lt;j)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</a:rPr>
              <a:t>      j=j-i;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</a:rPr>
              <a:t>  else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</a:rPr>
              <a:t>      i=i-j;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</a:rPr>
              <a:t>  return i+j;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</a:rPr>
              <a:t>  }</a:t>
            </a:r>
          </a:p>
          <a:p>
            <a:pPr>
              <a:lnSpc>
                <a:spcPct val="90000"/>
              </a:lnSpc>
            </a:pPr>
            <a:endParaRPr lang="zh-CN" altLang="en-US" sz="2000" smtClean="0">
              <a:ea typeface="宋体" panose="02010600030101010101" pitchFamily="2" charset="-122"/>
            </a:endParaRPr>
          </a:p>
        </p:txBody>
      </p:sp>
      <p:sp>
        <p:nvSpPr>
          <p:cNvPr id="31752" name="Rectangle 7"/>
          <p:cNvSpPr>
            <a:spLocks noChangeArrowheads="1"/>
          </p:cNvSpPr>
          <p:nvPr/>
        </p:nvSpPr>
        <p:spPr bwMode="auto">
          <a:xfrm>
            <a:off x="6324600" y="4267200"/>
            <a:ext cx="2841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  <a:hlinkClick r:id="rId2" action="ppaction://hlinkfile"/>
              </a:rPr>
              <a:t>ARM assemble codes</a:t>
            </a:r>
            <a:endParaRPr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8974</TotalTime>
  <Words>1200</Words>
  <Application>Microsoft Office PowerPoint</Application>
  <PresentationFormat>A4 纸张(210x297 毫米)</PresentationFormat>
  <Paragraphs>499</Paragraphs>
  <Slides>30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37" baseType="lpstr">
      <vt:lpstr>Times New Roman</vt:lpstr>
      <vt:lpstr>Arial</vt:lpstr>
      <vt:lpstr>宋体</vt:lpstr>
      <vt:lpstr>Courier New</vt:lpstr>
      <vt:lpstr>Wingdings</vt:lpstr>
      <vt:lpstr>Symbol</vt:lpstr>
      <vt:lpstr>Default Design</vt:lpstr>
      <vt:lpstr>Intermediate Code Generation (P.463)</vt:lpstr>
      <vt:lpstr>Intermediate language </vt:lpstr>
      <vt:lpstr>Three-Address Code (Quadraples) (P.466)</vt:lpstr>
      <vt:lpstr>Three-Address Statements (P.467)</vt:lpstr>
      <vt:lpstr>Three-Address Statements (cont.)</vt:lpstr>
      <vt:lpstr>Three-Address Statements (cont.)</vt:lpstr>
      <vt:lpstr>Three-Address Statements (cont.)</vt:lpstr>
      <vt:lpstr>Three-Address Statements (cont.)</vt:lpstr>
      <vt:lpstr>Syntax-Directed Translation into Three-Address Code (P.468)</vt:lpstr>
      <vt:lpstr>Syntax-Directed Translation (cont.)</vt:lpstr>
      <vt:lpstr>Declarations (P.473)</vt:lpstr>
      <vt:lpstr>Nested Procedure Declarations (P.476)</vt:lpstr>
      <vt:lpstr>Nested Procedure Declarations (P.477)</vt:lpstr>
      <vt:lpstr>Translation Scheme to Produce Three-Address Code --Assignment Statements (P.478)</vt:lpstr>
      <vt:lpstr>Translation Scheme with Locations</vt:lpstr>
      <vt:lpstr>Arrays (P.481)</vt:lpstr>
      <vt:lpstr>Arrays (cont.)</vt:lpstr>
      <vt:lpstr>Two-Dimensional Arrays</vt:lpstr>
      <vt:lpstr>Two-Dimensional Arrays (cont.)</vt:lpstr>
      <vt:lpstr>Multi-Dimensional Arrays</vt:lpstr>
      <vt:lpstr>Translation Scheme for Arrays (P.483)</vt:lpstr>
      <vt:lpstr>Translation Scheme for Arrays (cont.)</vt:lpstr>
      <vt:lpstr>Translation Scheme for Arrays (cont.)</vt:lpstr>
      <vt:lpstr>Translation Scheme for Arrays – Example1</vt:lpstr>
      <vt:lpstr>Translation Scheme for Arrays – Example2 (P.485)</vt:lpstr>
      <vt:lpstr>Translation Scheme for Arrays – Example3</vt:lpstr>
      <vt:lpstr>Boolean Expressions (P.488)</vt:lpstr>
      <vt:lpstr>Translation Scheme(cont.)</vt:lpstr>
      <vt:lpstr>Three Address Codes - Example</vt:lpstr>
      <vt:lpstr>Exercises</vt:lpstr>
    </vt:vector>
  </TitlesOfParts>
  <Company>Bilkent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CS416 Compiler Design</dc:title>
  <dc:creator>Ilyas Cicekli</dc:creator>
  <cp:lastModifiedBy>Exin Y</cp:lastModifiedBy>
  <cp:revision>437</cp:revision>
  <cp:lastPrinted>1999-09-09T03:15:50Z</cp:lastPrinted>
  <dcterms:created xsi:type="dcterms:W3CDTF">1999-01-20T19:57:44Z</dcterms:created>
  <dcterms:modified xsi:type="dcterms:W3CDTF">2015-10-07T09:27:48Z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2</vt:i4>
  </property>
  <property fmtid="{D5CDD505-2E9C-101B-9397-08002B2CF9AE}" pid="3" name="GraphicType">
    <vt:i4>1</vt:i4>
  </property>
  <property fmtid="{D5CDD505-2E9C-101B-9397-08002B2CF9AE}" pid="4" name="Compression">
    <vt:i4>100</vt:i4>
  </property>
  <property fmtid="{D5CDD505-2E9C-101B-9397-08002B2CF9AE}" pid="5" name="ScreenSize">
    <vt:i4>2</vt:i4>
  </property>
  <property fmtid="{D5CDD505-2E9C-101B-9397-08002B2CF9AE}" pid="6" name="ScreenUsage">
    <vt:i4>2</vt:i4>
  </property>
  <property fmtid="{D5CDD505-2E9C-101B-9397-08002B2CF9AE}" pid="7" name="MailAddress">
    <vt:lpwstr>radev@cs.columbia.edu</vt:lpwstr>
  </property>
  <property fmtid="{D5CDD505-2E9C-101B-9397-08002B2CF9AE}" pid="8" name="HomePage">
    <vt:lpwstr>http://www.cs.columbia.edu/~radev/cs4705/</vt:lpwstr>
  </property>
  <property fmtid="{D5CDD505-2E9C-101B-9397-08002B2CF9AE}" pid="9" name="Other">
    <vt:lpwstr/>
  </property>
  <property fmtid="{D5CDD505-2E9C-101B-9397-08002B2CF9AE}" pid="10" name="DownloadOriginal">
    <vt:bool>true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3</vt:i4>
  </property>
  <property fmtid="{D5CDD505-2E9C-101B-9397-08002B2CF9AE}" pid="19" name="ShowNotes">
    <vt:bool>false</vt:bool>
  </property>
  <property fmtid="{D5CDD505-2E9C-101B-9397-08002B2CF9AE}" pid="20" name="NavBtnPos">
    <vt:i4>1</vt:i4>
  </property>
  <property fmtid="{D5CDD505-2E9C-101B-9397-08002B2CF9AE}" pid="21" name="OutputDir">
    <vt:lpwstr>F:\html\cs4705</vt:lpwstr>
  </property>
</Properties>
</file>