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70"/>
  </p:notesMasterIdLst>
  <p:handoutMasterIdLst>
    <p:handoutMasterId r:id="rId71"/>
  </p:handoutMasterIdLst>
  <p:sldIdLst>
    <p:sldId id="317" r:id="rId2"/>
    <p:sldId id="322" r:id="rId3"/>
    <p:sldId id="321" r:id="rId4"/>
    <p:sldId id="256" r:id="rId5"/>
    <p:sldId id="257" r:id="rId6"/>
    <p:sldId id="258" r:id="rId7"/>
    <p:sldId id="260" r:id="rId8"/>
    <p:sldId id="324" r:id="rId9"/>
    <p:sldId id="261" r:id="rId10"/>
    <p:sldId id="262" r:id="rId11"/>
    <p:sldId id="259" r:id="rId12"/>
    <p:sldId id="263" r:id="rId13"/>
    <p:sldId id="328" r:id="rId14"/>
    <p:sldId id="265" r:id="rId15"/>
    <p:sldId id="267" r:id="rId16"/>
    <p:sldId id="315" r:id="rId17"/>
    <p:sldId id="330" r:id="rId18"/>
    <p:sldId id="332" r:id="rId19"/>
    <p:sldId id="268" r:id="rId20"/>
    <p:sldId id="269" r:id="rId21"/>
    <p:sldId id="334" r:id="rId22"/>
    <p:sldId id="270" r:id="rId23"/>
    <p:sldId id="271" r:id="rId24"/>
    <p:sldId id="284" r:id="rId25"/>
    <p:sldId id="318" r:id="rId26"/>
    <p:sldId id="285" r:id="rId27"/>
    <p:sldId id="275" r:id="rId28"/>
    <p:sldId id="335" r:id="rId29"/>
    <p:sldId id="336" r:id="rId30"/>
    <p:sldId id="277" r:id="rId31"/>
    <p:sldId id="278" r:id="rId32"/>
    <p:sldId id="279" r:id="rId33"/>
    <p:sldId id="309" r:id="rId34"/>
    <p:sldId id="314" r:id="rId35"/>
    <p:sldId id="310" r:id="rId36"/>
    <p:sldId id="311" r:id="rId37"/>
    <p:sldId id="312" r:id="rId38"/>
    <p:sldId id="280" r:id="rId39"/>
    <p:sldId id="283" r:id="rId40"/>
    <p:sldId id="353" r:id="rId41"/>
    <p:sldId id="355" r:id="rId42"/>
    <p:sldId id="356" r:id="rId43"/>
    <p:sldId id="357" r:id="rId44"/>
    <p:sldId id="286" r:id="rId45"/>
    <p:sldId id="338" r:id="rId46"/>
    <p:sldId id="287" r:id="rId47"/>
    <p:sldId id="288" r:id="rId48"/>
    <p:sldId id="289" r:id="rId49"/>
    <p:sldId id="290" r:id="rId50"/>
    <p:sldId id="358" r:id="rId51"/>
    <p:sldId id="291" r:id="rId52"/>
    <p:sldId id="292" r:id="rId53"/>
    <p:sldId id="296" r:id="rId54"/>
    <p:sldId id="297" r:id="rId55"/>
    <p:sldId id="298" r:id="rId56"/>
    <p:sldId id="299" r:id="rId57"/>
    <p:sldId id="300" r:id="rId58"/>
    <p:sldId id="345" r:id="rId59"/>
    <p:sldId id="346" r:id="rId60"/>
    <p:sldId id="347" r:id="rId61"/>
    <p:sldId id="348" r:id="rId62"/>
    <p:sldId id="350" r:id="rId63"/>
    <p:sldId id="351" r:id="rId64"/>
    <p:sldId id="352" r:id="rId65"/>
    <p:sldId id="306" r:id="rId66"/>
    <p:sldId id="307" r:id="rId67"/>
    <p:sldId id="359" r:id="rId68"/>
    <p:sldId id="363" r:id="rId69"/>
  </p:sldIdLst>
  <p:sldSz cx="9906000" cy="6858000" type="A4"/>
  <p:notesSz cx="6781800" cy="9926638"/>
  <p:defaultTextStyle>
    <a:defPPr>
      <a:defRPr lang="en-US"/>
    </a:defPPr>
    <a:lvl1pPr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4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4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4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4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680">
          <p15:clr>
            <a:srgbClr val="A4A3A4"/>
          </p15:clr>
        </p15:guide>
        <p15:guide id="2" pos="3072">
          <p15:clr>
            <a:srgbClr val="A4A3A4"/>
          </p15:clr>
        </p15:guide>
      </p15:sldGuideLst>
    </p:ext>
    <p:ext uri="{2D200454-40CA-4A62-9FC3-DE9A4176ACB9}">
      <p15:notesGuideLst xmlns:p15="http://schemas.microsoft.com/office/powerpoint/2012/main">
        <p15:guide id="1" orient="horz" pos="3127">
          <p15:clr>
            <a:srgbClr val="A4A3A4"/>
          </p15:clr>
        </p15:guide>
        <p15:guide id="2" pos="21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66"/>
    <a:srgbClr val="660066"/>
    <a:srgbClr val="0000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68" autoAdjust="0"/>
    <p:restoredTop sz="90640" autoAdjust="0"/>
  </p:normalViewPr>
  <p:slideViewPr>
    <p:cSldViewPr>
      <p:cViewPr varScale="1">
        <p:scale>
          <a:sx n="73" d="100"/>
          <a:sy n="73" d="100"/>
        </p:scale>
        <p:origin x="1302" y="72"/>
      </p:cViewPr>
      <p:guideLst>
        <p:guide orient="horz" pos="1680"/>
        <p:guide pos="3072"/>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0" d="100"/>
          <a:sy n="60" d="100"/>
        </p:scale>
        <p:origin x="-1698" y="-78"/>
      </p:cViewPr>
      <p:guideLst>
        <p:guide orient="horz" pos="3127"/>
        <p:guide pos="21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1186" name="Rectangle 2"/>
          <p:cNvSpPr>
            <a:spLocks noGrp="1" noChangeArrowheads="1"/>
          </p:cNvSpPr>
          <p:nvPr>
            <p:ph type="hdr" sz="quarter"/>
          </p:nvPr>
        </p:nvSpPr>
        <p:spPr bwMode="auto">
          <a:xfrm>
            <a:off x="0" y="0"/>
            <a:ext cx="29384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56" tIns="45578" rIns="91156" bIns="45578" numCol="1" anchor="t" anchorCtr="0" compatLnSpc="1">
            <a:prstTxWarp prst="textNoShape">
              <a:avLst/>
            </a:prstTxWarp>
          </a:bodyPr>
          <a:lstStyle>
            <a:lvl1pPr defTabSz="912813">
              <a:defRPr sz="1200" b="0"/>
            </a:lvl1pPr>
          </a:lstStyle>
          <a:p>
            <a:pPr>
              <a:defRPr/>
            </a:pPr>
            <a:r>
              <a:rPr lang="zh-CN" altLang="en-US"/>
              <a:t>lec05-syntaxdirected</a:t>
            </a:r>
          </a:p>
        </p:txBody>
      </p:sp>
      <p:sp>
        <p:nvSpPr>
          <p:cNvPr id="221187" name="Rectangle 3"/>
          <p:cNvSpPr>
            <a:spLocks noGrp="1" noChangeArrowheads="1"/>
          </p:cNvSpPr>
          <p:nvPr>
            <p:ph type="dt" sz="quarter" idx="1"/>
          </p:nvPr>
        </p:nvSpPr>
        <p:spPr bwMode="auto">
          <a:xfrm>
            <a:off x="3819525" y="0"/>
            <a:ext cx="29384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56" tIns="45578" rIns="91156" bIns="45578" numCol="1" anchor="t" anchorCtr="0" compatLnSpc="1">
            <a:prstTxWarp prst="textNoShape">
              <a:avLst/>
            </a:prstTxWarp>
          </a:bodyPr>
          <a:lstStyle>
            <a:lvl1pPr algn="r" defTabSz="912813">
              <a:defRPr sz="1200" b="0"/>
            </a:lvl1pPr>
          </a:lstStyle>
          <a:p>
            <a:pPr>
              <a:defRPr/>
            </a:pPr>
            <a:fld id="{72A8BA18-A825-4C3D-AD00-2BB878C36337}" type="datetime4">
              <a:rPr lang="zh-CN" altLang="en-US"/>
              <a:pPr>
                <a:defRPr/>
              </a:pPr>
              <a:t>2015年10月7日星期三</a:t>
            </a:fld>
            <a:endParaRPr lang="en-US" altLang="zh-CN"/>
          </a:p>
        </p:txBody>
      </p:sp>
      <p:sp>
        <p:nvSpPr>
          <p:cNvPr id="221188" name="Rectangle 4"/>
          <p:cNvSpPr>
            <a:spLocks noGrp="1" noChangeArrowheads="1"/>
          </p:cNvSpPr>
          <p:nvPr>
            <p:ph type="ftr" sz="quarter" idx="2"/>
          </p:nvPr>
        </p:nvSpPr>
        <p:spPr bwMode="auto">
          <a:xfrm>
            <a:off x="0" y="9437688"/>
            <a:ext cx="29384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56" tIns="45578" rIns="91156" bIns="45578" numCol="1" anchor="b" anchorCtr="0" compatLnSpc="1">
            <a:prstTxWarp prst="textNoShape">
              <a:avLst/>
            </a:prstTxWarp>
          </a:bodyPr>
          <a:lstStyle>
            <a:lvl1pPr defTabSz="912813">
              <a:defRPr sz="1200" b="0"/>
            </a:lvl1pPr>
          </a:lstStyle>
          <a:p>
            <a:pPr>
              <a:defRPr/>
            </a:pPr>
            <a:endParaRPr lang="en-US" altLang="zh-CN"/>
          </a:p>
        </p:txBody>
      </p:sp>
      <p:sp>
        <p:nvSpPr>
          <p:cNvPr id="221189" name="Rectangle 5"/>
          <p:cNvSpPr>
            <a:spLocks noGrp="1" noChangeArrowheads="1"/>
          </p:cNvSpPr>
          <p:nvPr>
            <p:ph type="sldNum" sz="quarter" idx="3"/>
          </p:nvPr>
        </p:nvSpPr>
        <p:spPr bwMode="auto">
          <a:xfrm>
            <a:off x="3819525" y="9437688"/>
            <a:ext cx="29384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56" tIns="45578" rIns="91156" bIns="45578" numCol="1" anchor="b" anchorCtr="0" compatLnSpc="1">
            <a:prstTxWarp prst="textNoShape">
              <a:avLst/>
            </a:prstTxWarp>
          </a:bodyPr>
          <a:lstStyle>
            <a:lvl1pPr algn="r" defTabSz="912813">
              <a:defRPr sz="1200" b="0"/>
            </a:lvl1pPr>
          </a:lstStyle>
          <a:p>
            <a:fld id="{58F0317C-6B05-4DB3-9F55-47E1741B6D33}"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3846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5" tIns="46512" rIns="93025" bIns="46512" numCol="1" anchor="t" anchorCtr="0" compatLnSpc="1">
            <a:prstTxWarp prst="textNoShape">
              <a:avLst/>
            </a:prstTxWarp>
          </a:bodyPr>
          <a:lstStyle>
            <a:lvl1pPr defTabSz="930275">
              <a:defRPr sz="1200" b="0"/>
            </a:lvl1pPr>
          </a:lstStyle>
          <a:p>
            <a:pPr>
              <a:defRPr/>
            </a:pPr>
            <a:r>
              <a:rPr lang="zh-CN" altLang="en-US"/>
              <a:t>lec05-syntaxdirected</a:t>
            </a:r>
          </a:p>
        </p:txBody>
      </p:sp>
      <p:sp>
        <p:nvSpPr>
          <p:cNvPr id="38915" name="Rectangle 3"/>
          <p:cNvSpPr>
            <a:spLocks noGrp="1" noChangeArrowheads="1"/>
          </p:cNvSpPr>
          <p:nvPr>
            <p:ph type="dt" idx="1"/>
          </p:nvPr>
        </p:nvSpPr>
        <p:spPr bwMode="auto">
          <a:xfrm>
            <a:off x="3843338" y="0"/>
            <a:ext cx="2938462"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5" tIns="46512" rIns="93025" bIns="46512" numCol="1" anchor="t" anchorCtr="0" compatLnSpc="1">
            <a:prstTxWarp prst="textNoShape">
              <a:avLst/>
            </a:prstTxWarp>
          </a:bodyPr>
          <a:lstStyle>
            <a:lvl1pPr algn="r" defTabSz="930275">
              <a:defRPr sz="1200" b="0"/>
            </a:lvl1pPr>
          </a:lstStyle>
          <a:p>
            <a:pPr>
              <a:defRPr/>
            </a:pPr>
            <a:fld id="{7691ADD7-6F37-4077-8D89-BDF7D7751B55}" type="datetime4">
              <a:rPr lang="zh-CN" altLang="en-US"/>
              <a:pPr>
                <a:defRPr/>
              </a:pPr>
              <a:t>2015年10月7日星期三</a:t>
            </a:fld>
            <a:endParaRPr lang="en-US" altLang="zh-CN"/>
          </a:p>
        </p:txBody>
      </p:sp>
      <p:sp>
        <p:nvSpPr>
          <p:cNvPr id="71684" name="Rectangle 4"/>
          <p:cNvSpPr>
            <a:spLocks noChangeArrowheads="1" noTextEdit="1"/>
          </p:cNvSpPr>
          <p:nvPr>
            <p:ph type="sldImg" idx="2"/>
          </p:nvPr>
        </p:nvSpPr>
        <p:spPr bwMode="auto">
          <a:xfrm>
            <a:off x="704850" y="742950"/>
            <a:ext cx="5376863" cy="37226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7" name="Rectangle 5"/>
          <p:cNvSpPr>
            <a:spLocks noGrp="1" noChangeArrowheads="1"/>
          </p:cNvSpPr>
          <p:nvPr>
            <p:ph type="body" sz="quarter" idx="3"/>
          </p:nvPr>
        </p:nvSpPr>
        <p:spPr bwMode="auto">
          <a:xfrm>
            <a:off x="904875" y="4716463"/>
            <a:ext cx="4972050"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5" tIns="46512" rIns="93025" bIns="46512" numCol="1" anchor="t" anchorCtr="0" compatLnSpc="1">
            <a:prstTxWarp prst="textNoShape">
              <a:avLst/>
            </a:prstTxWarp>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38918" name="Rectangle 6"/>
          <p:cNvSpPr>
            <a:spLocks noGrp="1" noChangeArrowheads="1"/>
          </p:cNvSpPr>
          <p:nvPr>
            <p:ph type="ftr" sz="quarter" idx="4"/>
          </p:nvPr>
        </p:nvSpPr>
        <p:spPr bwMode="auto">
          <a:xfrm>
            <a:off x="0" y="9429750"/>
            <a:ext cx="293846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5" tIns="46512" rIns="93025" bIns="46512" numCol="1" anchor="b" anchorCtr="0" compatLnSpc="1">
            <a:prstTxWarp prst="textNoShape">
              <a:avLst/>
            </a:prstTxWarp>
          </a:bodyPr>
          <a:lstStyle>
            <a:lvl1pPr defTabSz="930275">
              <a:defRPr sz="1200" b="0"/>
            </a:lvl1pPr>
          </a:lstStyle>
          <a:p>
            <a:pPr>
              <a:defRPr/>
            </a:pPr>
            <a:endParaRPr lang="en-US" altLang="zh-CN"/>
          </a:p>
        </p:txBody>
      </p:sp>
      <p:sp>
        <p:nvSpPr>
          <p:cNvPr id="38919" name="Rectangle 7"/>
          <p:cNvSpPr>
            <a:spLocks noGrp="1" noChangeArrowheads="1"/>
          </p:cNvSpPr>
          <p:nvPr>
            <p:ph type="sldNum" sz="quarter" idx="5"/>
          </p:nvPr>
        </p:nvSpPr>
        <p:spPr bwMode="auto">
          <a:xfrm>
            <a:off x="3843338" y="9429750"/>
            <a:ext cx="2938462"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5" tIns="46512" rIns="93025" bIns="46512" numCol="1" anchor="b" anchorCtr="0" compatLnSpc="1">
            <a:prstTxWarp prst="textNoShape">
              <a:avLst/>
            </a:prstTxWarp>
          </a:bodyPr>
          <a:lstStyle>
            <a:lvl1pPr algn="r" defTabSz="930275">
              <a:defRPr sz="1200" b="0"/>
            </a:lvl1pPr>
          </a:lstStyle>
          <a:p>
            <a:fld id="{A601545D-A12E-4905-874D-AF0B2CFEF610}" type="slidenum">
              <a:rPr lang="zh-CN" altLang="en-US"/>
              <a:pPr/>
              <a:t>‹#›</a:t>
            </a:fld>
            <a:endParaRPr lang="en-US" altLang="zh-CN"/>
          </a:p>
        </p:txBody>
      </p:sp>
    </p:spTree>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2707"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285391F0-B241-49DC-93D9-4CA8F92EFC26}" type="datetime4">
              <a:rPr lang="zh-CN" altLang="en-US" sz="1200" b="0" smtClean="0"/>
              <a:pPr/>
              <a:t>2015年10月7日星期三</a:t>
            </a:fld>
            <a:endParaRPr lang="en-US" altLang="zh-CN" sz="1200" b="0" smtClean="0"/>
          </a:p>
        </p:txBody>
      </p:sp>
      <p:sp>
        <p:nvSpPr>
          <p:cNvPr id="72708"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101A7A63-1B25-44E8-B1ED-0FB9383196D1}" type="slidenum">
              <a:rPr lang="zh-CN" altLang="en-US" sz="1200" b="0"/>
              <a:pPr/>
              <a:t>4</a:t>
            </a:fld>
            <a:endParaRPr lang="en-US" altLang="zh-CN" sz="1200" b="0"/>
          </a:p>
        </p:txBody>
      </p:sp>
      <p:sp>
        <p:nvSpPr>
          <p:cNvPr id="72709" name="Rectangle 2"/>
          <p:cNvSpPr>
            <a:spLocks noChangeArrowheads="1" noTextEdit="1"/>
          </p:cNvSpPr>
          <p:nvPr>
            <p:ph type="sldImg"/>
          </p:nvPr>
        </p:nvSpPr>
        <p:spPr>
          <a:ln/>
        </p:spPr>
      </p:sp>
      <p:sp>
        <p:nvSpPr>
          <p:cNvPr id="72710"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3731"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DCF1644C-10C5-4671-AE23-9657739484CF}" type="datetime4">
              <a:rPr lang="zh-CN" altLang="en-US" sz="1200" b="0" smtClean="0"/>
              <a:pPr/>
              <a:t>2015年10月7日星期三</a:t>
            </a:fld>
            <a:endParaRPr lang="en-US" altLang="zh-CN" sz="1200" b="0" smtClean="0"/>
          </a:p>
        </p:txBody>
      </p:sp>
      <p:sp>
        <p:nvSpPr>
          <p:cNvPr id="73732"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EF0717C6-5CFC-41C6-8250-ADE0A0D2BD77}" type="slidenum">
              <a:rPr lang="zh-CN" altLang="en-US" sz="1200" b="0"/>
              <a:pPr/>
              <a:t>6</a:t>
            </a:fld>
            <a:endParaRPr lang="en-US" altLang="zh-CN" sz="1200" b="0"/>
          </a:p>
        </p:txBody>
      </p:sp>
      <p:sp>
        <p:nvSpPr>
          <p:cNvPr id="73733" name="Rectangle 2"/>
          <p:cNvSpPr>
            <a:spLocks noChangeArrowheads="1" noTextEdit="1"/>
          </p:cNvSpPr>
          <p:nvPr>
            <p:ph type="sldImg"/>
          </p:nvPr>
        </p:nvSpPr>
        <p:spPr>
          <a:ln/>
        </p:spPr>
      </p:sp>
      <p:sp>
        <p:nvSpPr>
          <p:cNvPr id="73734" name="Rectangle 3"/>
          <p:cNvSpPr>
            <a:spLocks noGrp="1" noChangeArrowheads="1"/>
          </p:cNvSpPr>
          <p:nvPr>
            <p:ph type="body" idx="1"/>
          </p:nvPr>
        </p:nvSpPr>
        <p:spPr>
          <a:noFill/>
        </p:spPr>
        <p:txBody>
          <a:bodyPr/>
          <a:lstStyle/>
          <a:p>
            <a:r>
              <a:rPr lang="en-US" altLang="zh-CN" smtClean="0"/>
              <a:t>An attribute can represent anything we choose: a string, a number, a type, a memory location, or whatever.</a:t>
            </a:r>
          </a:p>
          <a:p>
            <a:r>
              <a:rPr lang="en-US" altLang="zh-CN" smtClean="0"/>
              <a:t>The value of an attribute at a parse-tree node is defined by a semantic rule associated with the production used at that node.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4755"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0309FAF3-9A17-47C5-9F75-43A2CFECF7BA}" type="datetime4">
              <a:rPr lang="zh-CN" altLang="en-US" sz="1200" b="0" smtClean="0"/>
              <a:pPr/>
              <a:t>2015年10月7日星期三</a:t>
            </a:fld>
            <a:endParaRPr lang="en-US" altLang="zh-CN" sz="1200" b="0" smtClean="0"/>
          </a:p>
        </p:txBody>
      </p:sp>
      <p:sp>
        <p:nvSpPr>
          <p:cNvPr id="74756"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2182BC40-F8DA-44C6-A4D6-04A5D5ECF3C4}" type="slidenum">
              <a:rPr lang="zh-CN" altLang="en-US" sz="1200" b="0"/>
              <a:pPr/>
              <a:t>10</a:t>
            </a:fld>
            <a:endParaRPr lang="en-US" altLang="zh-CN" sz="1200" b="0"/>
          </a:p>
        </p:txBody>
      </p:sp>
      <p:sp>
        <p:nvSpPr>
          <p:cNvPr id="74757" name="Rectangle 2"/>
          <p:cNvSpPr>
            <a:spLocks noChangeArrowheads="1" noTextEdit="1"/>
          </p:cNvSpPr>
          <p:nvPr>
            <p:ph type="sldImg"/>
          </p:nvPr>
        </p:nvSpPr>
        <p:spPr>
          <a:ln/>
        </p:spPr>
      </p:sp>
      <p:sp>
        <p:nvSpPr>
          <p:cNvPr id="74758" name="Rectangle 3"/>
          <p:cNvSpPr>
            <a:spLocks noGrp="1" noChangeArrowheads="1"/>
          </p:cNvSpPr>
          <p:nvPr>
            <p:ph type="body" idx="1"/>
          </p:nvPr>
        </p:nvSpPr>
        <p:spPr>
          <a:noFill/>
        </p:spPr>
        <p:txBody>
          <a:bodyPr/>
          <a:lstStyle/>
          <a:p>
            <a:r>
              <a:rPr lang="en-US" altLang="zh-CN" smtClean="0"/>
              <a:t>In a syntax-directed definition, terminals are assumed to have synthesized attributes only, as the definition does not provide any semantic rules for terminals. </a:t>
            </a:r>
          </a:p>
          <a:p>
            <a:r>
              <a:rPr lang="en-US" altLang="zh-CN" smtClean="0"/>
              <a:t>The start symbol is assumed not to have any inherited attributes.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5779"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7051A16B-B76A-4CE2-BDB6-3EC7E9827974}" type="datetime4">
              <a:rPr lang="zh-CN" altLang="en-US" sz="1200" b="0" smtClean="0"/>
              <a:pPr/>
              <a:t>2015年10月7日星期三</a:t>
            </a:fld>
            <a:endParaRPr lang="en-US" altLang="zh-CN" sz="1200" b="0" smtClean="0"/>
          </a:p>
        </p:txBody>
      </p:sp>
      <p:sp>
        <p:nvSpPr>
          <p:cNvPr id="75780"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9ED9C85D-A36C-43D4-B623-0AC9A93C66EE}" type="slidenum">
              <a:rPr lang="zh-CN" altLang="en-US" sz="1200" b="0"/>
              <a:pPr/>
              <a:t>20</a:t>
            </a:fld>
            <a:endParaRPr lang="en-US" altLang="zh-CN" sz="1200" b="0"/>
          </a:p>
        </p:txBody>
      </p:sp>
      <p:sp>
        <p:nvSpPr>
          <p:cNvPr id="75781" name="Rectangle 2"/>
          <p:cNvSpPr>
            <a:spLocks noChangeArrowheads="1" noTextEdit="1"/>
          </p:cNvSpPr>
          <p:nvPr>
            <p:ph type="sldImg"/>
          </p:nvPr>
        </p:nvSpPr>
        <p:spPr>
          <a:ln/>
        </p:spPr>
      </p:sp>
      <p:sp>
        <p:nvSpPr>
          <p:cNvPr id="75782" name="Rectangle 3"/>
          <p:cNvSpPr>
            <a:spLocks noGrp="1" noChangeArrowheads="1"/>
          </p:cNvSpPr>
          <p:nvPr>
            <p:ph type="body" idx="1"/>
          </p:nvPr>
        </p:nvSpPr>
        <p:spPr>
          <a:noFill/>
        </p:spPr>
        <p:txBody>
          <a:bodyPr/>
          <a:lstStyle/>
          <a:p>
            <a:r>
              <a:rPr lang="en-US" altLang="zh-CN" sz="1600" b="1" smtClean="0"/>
              <a:t>L-Attributed Definitions: the L is for left, because attribute information appears to flow from left to right.</a:t>
            </a:r>
            <a:endParaRPr lang="zh-CN" altLang="en-US" sz="1600" b="1"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6803"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E0D44295-163C-464C-AF5F-BCE9A2E0524A}" type="datetime4">
              <a:rPr lang="zh-CN" altLang="en-US" sz="1200" b="0" smtClean="0"/>
              <a:pPr/>
              <a:t>2015年10月7日星期三</a:t>
            </a:fld>
            <a:endParaRPr lang="en-US" altLang="zh-CN" sz="1200" b="0" smtClean="0"/>
          </a:p>
        </p:txBody>
      </p:sp>
      <p:sp>
        <p:nvSpPr>
          <p:cNvPr id="76804"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9C709675-9E0B-4D81-954F-105C3A46BD8E}" type="slidenum">
              <a:rPr lang="zh-CN" altLang="en-US" sz="1200" b="0"/>
              <a:pPr/>
              <a:t>31</a:t>
            </a:fld>
            <a:endParaRPr lang="en-US" altLang="zh-CN" sz="1200" b="0"/>
          </a:p>
        </p:txBody>
      </p:sp>
      <p:sp>
        <p:nvSpPr>
          <p:cNvPr id="76805" name="Rectangle 2"/>
          <p:cNvSpPr>
            <a:spLocks noChangeArrowheads="1" noTextEdit="1"/>
          </p:cNvSpPr>
          <p:nvPr>
            <p:ph type="sldImg"/>
          </p:nvPr>
        </p:nvSpPr>
        <p:spPr>
          <a:ln/>
        </p:spPr>
      </p:sp>
      <p:sp>
        <p:nvSpPr>
          <p:cNvPr id="76806" name="Rectangle 3"/>
          <p:cNvSpPr>
            <a:spLocks noGrp="1" noChangeArrowheads="1"/>
          </p:cNvSpPr>
          <p:nvPr>
            <p:ph type="body" idx="1"/>
          </p:nvPr>
        </p:nvSpPr>
        <p:spPr>
          <a:noFill/>
        </p:spPr>
        <p:txBody>
          <a:bodyPr/>
          <a:lstStyle/>
          <a:p>
            <a:r>
              <a:rPr lang="zh-CN" altLang="en-US" smtClean="0"/>
              <a:t>翻译模式（</a:t>
            </a:r>
            <a:r>
              <a:rPr lang="en-US" altLang="zh-CN" smtClean="0"/>
              <a:t>Translation schemes</a:t>
            </a:r>
            <a:r>
              <a:rPr lang="zh-CN" altLang="en-US" smtClean="0"/>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7827"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28C9ABB2-DCC7-459B-ABF7-3F613809B707}" type="datetime4">
              <a:rPr lang="zh-CN" altLang="en-US" sz="1200" b="0" smtClean="0"/>
              <a:pPr/>
              <a:t>2015年10月7日星期三</a:t>
            </a:fld>
            <a:endParaRPr lang="en-US" altLang="zh-CN" sz="1200" b="0" smtClean="0"/>
          </a:p>
        </p:txBody>
      </p:sp>
      <p:sp>
        <p:nvSpPr>
          <p:cNvPr id="77828"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DAB1933D-A076-46DD-9D34-0CEBE43CF088}" type="slidenum">
              <a:rPr lang="zh-CN" altLang="en-US" sz="1200" b="0"/>
              <a:pPr/>
              <a:t>41</a:t>
            </a:fld>
            <a:endParaRPr lang="en-US" altLang="zh-CN" sz="1200" b="0"/>
          </a:p>
        </p:txBody>
      </p:sp>
      <p:sp>
        <p:nvSpPr>
          <p:cNvPr id="77829" name="Rectangle 2"/>
          <p:cNvSpPr>
            <a:spLocks noChangeArrowheads="1" noTextEdit="1"/>
          </p:cNvSpPr>
          <p:nvPr>
            <p:ph type="sldImg"/>
          </p:nvPr>
        </p:nvSpPr>
        <p:spPr>
          <a:ln/>
        </p:spPr>
      </p:sp>
      <p:sp>
        <p:nvSpPr>
          <p:cNvPr id="77830" name="Rectangle 3"/>
          <p:cNvSpPr>
            <a:spLocks noGrp="1" noChangeArrowheads="1"/>
          </p:cNvSpPr>
          <p:nvPr>
            <p:ph type="body" idx="1"/>
          </p:nvPr>
        </p:nvSpPr>
        <p:spPr>
          <a:noFill/>
        </p:spPr>
        <p:txBody>
          <a:bodyPr/>
          <a:lstStyle/>
          <a:p>
            <a:r>
              <a:rPr lang="en-US" altLang="zh-CN" smtClean="0">
                <a:latin typeface="Courier New" panose="02070309020205020404" pitchFamily="49" charset="0"/>
                <a:cs typeface="Times New Roman" panose="02020603050405020304" pitchFamily="18" charset="0"/>
              </a:rPr>
              <a:t>a+b+c</a:t>
            </a:r>
            <a:r>
              <a:rPr lang="zh-CN" altLang="en-US" smtClean="0">
                <a:cs typeface="Times New Roman" panose="02020603050405020304" pitchFamily="18" charset="0"/>
              </a:rPr>
              <a:t>的前缀</a:t>
            </a:r>
            <a:r>
              <a:rPr lang="en-US" altLang="zh-CN" smtClean="0">
                <a:cs typeface="Times New Roman" panose="02020603050405020304" pitchFamily="18" charset="0"/>
              </a:rPr>
              <a:t>++abc</a:t>
            </a:r>
            <a:r>
              <a:rPr lang="zh-CN" altLang="en-US" smtClean="0">
                <a:cs typeface="Times New Roman" panose="02020603050405020304" pitchFamily="18" charset="0"/>
              </a:rP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8851"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1119052D-FF3C-4974-9320-86C24752CF7E}" type="datetime4">
              <a:rPr lang="zh-CN" altLang="en-US" sz="1200" b="0" smtClean="0"/>
              <a:pPr/>
              <a:t>2015年10月7日星期三</a:t>
            </a:fld>
            <a:endParaRPr lang="en-US" altLang="zh-CN" sz="1200" b="0" smtClean="0"/>
          </a:p>
        </p:txBody>
      </p:sp>
      <p:sp>
        <p:nvSpPr>
          <p:cNvPr id="78852"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FCDFBD63-2E8E-49F3-9FFA-A8877305667D}" type="slidenum">
              <a:rPr lang="zh-CN" altLang="en-US" sz="1200" b="0"/>
              <a:pPr/>
              <a:t>42</a:t>
            </a:fld>
            <a:endParaRPr lang="en-US" altLang="zh-CN" sz="1200" b="0"/>
          </a:p>
        </p:txBody>
      </p:sp>
      <p:sp>
        <p:nvSpPr>
          <p:cNvPr id="78853" name="Rectangle 2"/>
          <p:cNvSpPr>
            <a:spLocks noChangeArrowheads="1" noTextEdit="1"/>
          </p:cNvSpPr>
          <p:nvPr>
            <p:ph type="sldImg"/>
          </p:nvPr>
        </p:nvSpPr>
        <p:spPr>
          <a:ln/>
        </p:spPr>
      </p:sp>
      <p:sp>
        <p:nvSpPr>
          <p:cNvPr id="78854" name="Rectangle 3"/>
          <p:cNvSpPr>
            <a:spLocks noGrp="1" noChangeArrowheads="1"/>
          </p:cNvSpPr>
          <p:nvPr>
            <p:ph type="body" idx="1"/>
          </p:nvPr>
        </p:nvSpPr>
        <p:spPr>
          <a:noFill/>
        </p:spPr>
        <p:txBody>
          <a:bodyPr/>
          <a:lstStyle/>
          <a:p>
            <a:r>
              <a:rPr lang="en-US" altLang="zh-CN" smtClean="0"/>
              <a:t>E-&gt;TR-&gt;T+T{+}R-&gt;T+T{+}+T{+}R-&gt;T+T{+}+T{+}-&gt;T+T{+}+id{id}{+}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79875"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4BE1BEAD-3A5B-4874-8B4E-507914508EB8}" type="datetime4">
              <a:rPr lang="zh-CN" altLang="en-US" sz="1200" b="0" smtClean="0"/>
              <a:pPr/>
              <a:t>2015年10月7日星期三</a:t>
            </a:fld>
            <a:endParaRPr lang="en-US" altLang="zh-CN" sz="1200" b="0" smtClean="0"/>
          </a:p>
        </p:txBody>
      </p:sp>
      <p:sp>
        <p:nvSpPr>
          <p:cNvPr id="79876"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CEC941E8-A57D-4E24-9939-5D42B05E695F}" type="slidenum">
              <a:rPr lang="zh-CN" altLang="en-US" sz="1200" b="0"/>
              <a:pPr/>
              <a:t>43</a:t>
            </a:fld>
            <a:endParaRPr lang="en-US" altLang="zh-CN" sz="1200" b="0"/>
          </a:p>
        </p:txBody>
      </p:sp>
      <p:sp>
        <p:nvSpPr>
          <p:cNvPr id="79877" name="Rectangle 2"/>
          <p:cNvSpPr>
            <a:spLocks noChangeArrowheads="1" noTextEdit="1"/>
          </p:cNvSpPr>
          <p:nvPr>
            <p:ph type="sldImg"/>
          </p:nvPr>
        </p:nvSpPr>
        <p:spPr>
          <a:ln/>
        </p:spPr>
      </p:sp>
      <p:sp>
        <p:nvSpPr>
          <p:cNvPr id="79878" name="Rectangle 3"/>
          <p:cNvSpPr>
            <a:spLocks noGrp="1" noChangeArrowheads="1"/>
          </p:cNvSpPr>
          <p:nvPr>
            <p:ph type="body" idx="1"/>
          </p:nvPr>
        </p:nvSpPr>
        <p:spPr>
          <a:noFill/>
        </p:spPr>
        <p:txBody>
          <a:bodyPr/>
          <a:lstStyle/>
          <a:p>
            <a:r>
              <a:rPr lang="en-US" altLang="zh-CN" smtClean="0"/>
              <a:t>Right-most derivation:</a:t>
            </a:r>
          </a:p>
          <a:p>
            <a:r>
              <a:rPr lang="en-US" altLang="zh-CN" smtClean="0"/>
              <a:t>E → T R</a:t>
            </a:r>
          </a:p>
          <a:p>
            <a:r>
              <a:rPr lang="en-US" altLang="zh-CN" smtClean="0"/>
              <a:t>→ T + T </a:t>
            </a:r>
            <a:r>
              <a:rPr lang="en-US" altLang="zh-CN" smtClean="0">
                <a:solidFill>
                  <a:srgbClr val="CC0000"/>
                </a:solidFill>
              </a:rPr>
              <a:t>{ print(“+”) }</a:t>
            </a:r>
            <a:r>
              <a:rPr lang="en-US" altLang="zh-CN" smtClean="0"/>
              <a:t> R</a:t>
            </a:r>
          </a:p>
          <a:p>
            <a:r>
              <a:rPr lang="en-US" altLang="zh-CN" smtClean="0"/>
              <a:t>→ T + T </a:t>
            </a:r>
            <a:r>
              <a:rPr lang="en-US" altLang="zh-CN" smtClean="0">
                <a:solidFill>
                  <a:srgbClr val="CC0000"/>
                </a:solidFill>
              </a:rPr>
              <a:t>{ print(“+”) }</a:t>
            </a:r>
            <a:r>
              <a:rPr lang="en-US" altLang="zh-CN" smtClean="0"/>
              <a:t> + T </a:t>
            </a:r>
            <a:r>
              <a:rPr lang="en-US" altLang="zh-CN" smtClean="0">
                <a:solidFill>
                  <a:srgbClr val="CC0000"/>
                </a:solidFill>
              </a:rPr>
              <a:t>{ print(“+”) }</a:t>
            </a:r>
            <a:r>
              <a:rPr lang="en-US" altLang="zh-CN" smtClean="0"/>
              <a:t> R</a:t>
            </a:r>
          </a:p>
          <a:p>
            <a:r>
              <a:rPr lang="en-US" altLang="zh-CN" smtClean="0"/>
              <a:t>→ T + T </a:t>
            </a:r>
            <a:r>
              <a:rPr lang="en-US" altLang="zh-CN" smtClean="0">
                <a:solidFill>
                  <a:srgbClr val="CC0000"/>
                </a:solidFill>
              </a:rPr>
              <a:t>{ print(“+”) }</a:t>
            </a:r>
            <a:r>
              <a:rPr lang="en-US" altLang="zh-CN" smtClean="0"/>
              <a:t> + T </a:t>
            </a:r>
            <a:r>
              <a:rPr lang="en-US" altLang="zh-CN" smtClean="0">
                <a:solidFill>
                  <a:srgbClr val="CC0000"/>
                </a:solidFill>
              </a:rPr>
              <a:t>{ print(“+”) }</a:t>
            </a:r>
            <a:r>
              <a:rPr lang="en-US" altLang="zh-CN" smtClean="0"/>
              <a:t> </a:t>
            </a:r>
            <a:r>
              <a:rPr lang="en-US" altLang="zh-CN" smtClean="0">
                <a:sym typeface="Symbol" panose="05050102010706020507" pitchFamily="18" charset="2"/>
              </a:rPr>
              <a:t></a:t>
            </a:r>
          </a:p>
          <a:p>
            <a:r>
              <a:rPr lang="en-US" altLang="zh-CN" smtClean="0"/>
              <a:t>→ T + T </a:t>
            </a:r>
            <a:r>
              <a:rPr lang="en-US" altLang="zh-CN" smtClean="0">
                <a:solidFill>
                  <a:srgbClr val="CC0000"/>
                </a:solidFill>
              </a:rPr>
              <a:t>{ print(“+”) }</a:t>
            </a:r>
            <a:r>
              <a:rPr lang="en-US" altLang="zh-CN" smtClean="0"/>
              <a:t> + </a:t>
            </a:r>
            <a:r>
              <a:rPr lang="en-US" altLang="zh-CN" b="1" smtClean="0"/>
              <a:t>id</a:t>
            </a:r>
            <a:r>
              <a:rPr lang="en-US" altLang="zh-CN" smtClean="0"/>
              <a:t> </a:t>
            </a:r>
            <a:r>
              <a:rPr lang="en-US" altLang="zh-CN" smtClean="0">
                <a:solidFill>
                  <a:srgbClr val="CC0000"/>
                </a:solidFill>
              </a:rPr>
              <a:t>{ print(</a:t>
            </a:r>
            <a:r>
              <a:rPr lang="en-US" altLang="zh-CN" b="1" smtClean="0">
                <a:solidFill>
                  <a:srgbClr val="CC0000"/>
                </a:solidFill>
              </a:rPr>
              <a:t>id</a:t>
            </a:r>
            <a:r>
              <a:rPr lang="en-US" altLang="zh-CN" smtClean="0">
                <a:solidFill>
                  <a:srgbClr val="CC0000"/>
                </a:solidFill>
              </a:rPr>
              <a:t>.name) }</a:t>
            </a:r>
            <a:r>
              <a:rPr lang="en-US" altLang="zh-CN" smtClean="0"/>
              <a:t> </a:t>
            </a:r>
            <a:r>
              <a:rPr lang="en-US" altLang="zh-CN" smtClean="0">
                <a:solidFill>
                  <a:srgbClr val="CC0000"/>
                </a:solidFill>
              </a:rPr>
              <a:t>{ print(“+”) }</a:t>
            </a:r>
            <a:endParaRPr lang="en-US" altLang="zh-CN" smtClean="0">
              <a:sym typeface="Symbol" panose="05050102010706020507" pitchFamily="18" charset="2"/>
            </a:endParaRPr>
          </a:p>
          <a:p>
            <a:r>
              <a:rPr lang="en-US" altLang="zh-CN" smtClean="0"/>
              <a:t>→ T + </a:t>
            </a:r>
            <a:r>
              <a:rPr lang="en-US" altLang="zh-CN" b="1" smtClean="0"/>
              <a:t>id</a:t>
            </a:r>
            <a:r>
              <a:rPr lang="en-US" altLang="zh-CN" smtClean="0"/>
              <a:t> </a:t>
            </a:r>
            <a:r>
              <a:rPr lang="en-US" altLang="zh-CN" smtClean="0">
                <a:solidFill>
                  <a:srgbClr val="CC0000"/>
                </a:solidFill>
              </a:rPr>
              <a:t>{ print(</a:t>
            </a:r>
            <a:r>
              <a:rPr lang="en-US" altLang="zh-CN" b="1" smtClean="0">
                <a:solidFill>
                  <a:srgbClr val="CC0000"/>
                </a:solidFill>
              </a:rPr>
              <a:t>id</a:t>
            </a:r>
            <a:r>
              <a:rPr lang="en-US" altLang="zh-CN" smtClean="0">
                <a:solidFill>
                  <a:srgbClr val="CC0000"/>
                </a:solidFill>
              </a:rPr>
              <a:t>.name) }</a:t>
            </a:r>
            <a:r>
              <a:rPr lang="en-US" altLang="zh-CN" smtClean="0"/>
              <a:t> </a:t>
            </a:r>
            <a:r>
              <a:rPr lang="en-US" altLang="zh-CN" smtClean="0">
                <a:solidFill>
                  <a:srgbClr val="CC0000"/>
                </a:solidFill>
              </a:rPr>
              <a:t>{ print(“+”) }</a:t>
            </a:r>
            <a:r>
              <a:rPr lang="en-US" altLang="zh-CN" smtClean="0"/>
              <a:t> + </a:t>
            </a:r>
            <a:r>
              <a:rPr lang="en-US" altLang="zh-CN" b="1" smtClean="0"/>
              <a:t>id</a:t>
            </a:r>
            <a:r>
              <a:rPr lang="en-US" altLang="zh-CN" smtClean="0"/>
              <a:t> </a:t>
            </a:r>
            <a:r>
              <a:rPr lang="en-US" altLang="zh-CN" smtClean="0">
                <a:solidFill>
                  <a:srgbClr val="CC0000"/>
                </a:solidFill>
              </a:rPr>
              <a:t>{ print(</a:t>
            </a:r>
            <a:r>
              <a:rPr lang="en-US" altLang="zh-CN" b="1" smtClean="0">
                <a:solidFill>
                  <a:srgbClr val="CC0000"/>
                </a:solidFill>
              </a:rPr>
              <a:t>id</a:t>
            </a:r>
            <a:r>
              <a:rPr lang="en-US" altLang="zh-CN" smtClean="0">
                <a:solidFill>
                  <a:srgbClr val="CC0000"/>
                </a:solidFill>
              </a:rPr>
              <a:t>.name) }</a:t>
            </a:r>
            <a:r>
              <a:rPr lang="en-US" altLang="zh-CN" smtClean="0"/>
              <a:t> </a:t>
            </a:r>
            <a:r>
              <a:rPr lang="en-US" altLang="zh-CN" smtClean="0">
                <a:solidFill>
                  <a:srgbClr val="CC0000"/>
                </a:solidFill>
              </a:rPr>
              <a:t>{ print(“+”) }</a:t>
            </a:r>
            <a:endParaRPr lang="en-US" altLang="zh-CN" smtClean="0">
              <a:sym typeface="Symbol" panose="05050102010706020507" pitchFamily="18" charset="2"/>
            </a:endParaRPr>
          </a:p>
          <a:p>
            <a:r>
              <a:rPr lang="en-US" altLang="zh-CN" smtClean="0"/>
              <a:t>→ </a:t>
            </a:r>
            <a:r>
              <a:rPr lang="en-US" altLang="zh-CN" b="1" smtClean="0"/>
              <a:t>id</a:t>
            </a:r>
            <a:r>
              <a:rPr lang="en-US" altLang="zh-CN" smtClean="0"/>
              <a:t> </a:t>
            </a:r>
            <a:r>
              <a:rPr lang="en-US" altLang="zh-CN" smtClean="0">
                <a:solidFill>
                  <a:srgbClr val="CC0000"/>
                </a:solidFill>
              </a:rPr>
              <a:t>{ print(</a:t>
            </a:r>
            <a:r>
              <a:rPr lang="en-US" altLang="zh-CN" b="1" smtClean="0">
                <a:solidFill>
                  <a:srgbClr val="CC0000"/>
                </a:solidFill>
              </a:rPr>
              <a:t>id</a:t>
            </a:r>
            <a:r>
              <a:rPr lang="en-US" altLang="zh-CN" smtClean="0">
                <a:solidFill>
                  <a:srgbClr val="CC0000"/>
                </a:solidFill>
              </a:rPr>
              <a:t>.name) }</a:t>
            </a:r>
            <a:r>
              <a:rPr lang="en-US" altLang="zh-CN" smtClean="0"/>
              <a:t> + </a:t>
            </a:r>
            <a:r>
              <a:rPr lang="en-US" altLang="zh-CN" b="1" smtClean="0"/>
              <a:t>id</a:t>
            </a:r>
            <a:r>
              <a:rPr lang="en-US" altLang="zh-CN" smtClean="0"/>
              <a:t> </a:t>
            </a:r>
            <a:r>
              <a:rPr lang="en-US" altLang="zh-CN" smtClean="0">
                <a:solidFill>
                  <a:srgbClr val="CC0000"/>
                </a:solidFill>
              </a:rPr>
              <a:t>{ print(</a:t>
            </a:r>
            <a:r>
              <a:rPr lang="en-US" altLang="zh-CN" b="1" smtClean="0">
                <a:solidFill>
                  <a:srgbClr val="CC0000"/>
                </a:solidFill>
              </a:rPr>
              <a:t>id</a:t>
            </a:r>
            <a:r>
              <a:rPr lang="en-US" altLang="zh-CN" smtClean="0">
                <a:solidFill>
                  <a:srgbClr val="CC0000"/>
                </a:solidFill>
              </a:rPr>
              <a:t>.name) }</a:t>
            </a:r>
            <a:r>
              <a:rPr lang="en-US" altLang="zh-CN" smtClean="0"/>
              <a:t> </a:t>
            </a:r>
            <a:r>
              <a:rPr lang="en-US" altLang="zh-CN" smtClean="0">
                <a:solidFill>
                  <a:srgbClr val="CC0000"/>
                </a:solidFill>
              </a:rPr>
              <a:t>{ print(“+”) }</a:t>
            </a:r>
            <a:r>
              <a:rPr lang="en-US" altLang="zh-CN" smtClean="0"/>
              <a:t> + </a:t>
            </a:r>
            <a:r>
              <a:rPr lang="en-US" altLang="zh-CN" b="1" smtClean="0"/>
              <a:t>id</a:t>
            </a:r>
            <a:r>
              <a:rPr lang="en-US" altLang="zh-CN" smtClean="0"/>
              <a:t> </a:t>
            </a:r>
            <a:r>
              <a:rPr lang="en-US" altLang="zh-CN" smtClean="0">
                <a:solidFill>
                  <a:srgbClr val="CC0000"/>
                </a:solidFill>
              </a:rPr>
              <a:t>{ print(</a:t>
            </a:r>
            <a:r>
              <a:rPr lang="en-US" altLang="zh-CN" b="1" smtClean="0">
                <a:solidFill>
                  <a:srgbClr val="CC0000"/>
                </a:solidFill>
              </a:rPr>
              <a:t>id</a:t>
            </a:r>
            <a:r>
              <a:rPr lang="en-US" altLang="zh-CN" smtClean="0">
                <a:solidFill>
                  <a:srgbClr val="CC0000"/>
                </a:solidFill>
              </a:rPr>
              <a:t>.name) }</a:t>
            </a:r>
            <a:r>
              <a:rPr lang="en-US" altLang="zh-CN" smtClean="0"/>
              <a:t> </a:t>
            </a:r>
            <a:r>
              <a:rPr lang="en-US" altLang="zh-CN" smtClean="0">
                <a:solidFill>
                  <a:srgbClr val="CC0000"/>
                </a:solidFill>
              </a:rPr>
              <a:t>{ print(“+”) }</a:t>
            </a:r>
            <a:endParaRPr lang="en-US" altLang="zh-CN" smtClean="0">
              <a:sym typeface="Symbol" panose="05050102010706020507" pitchFamily="18" charset="2"/>
            </a:endParaRPr>
          </a:p>
          <a:p>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smtClean="0"/>
              <a:t>lec05-syntaxdirected</a:t>
            </a:r>
          </a:p>
        </p:txBody>
      </p:sp>
      <p:sp>
        <p:nvSpPr>
          <p:cNvPr id="80899" name="Rectangle 3"/>
          <p:cNvSpPr>
            <a:spLocks noGrp="1" noChangeArrowheads="1"/>
          </p:cNvSpPr>
          <p:nvPr>
            <p:ph type="dt" sz="quarter" idx="1"/>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8988186C-1734-4DDF-B61F-DCF7940D376C}" type="datetime4">
              <a:rPr lang="zh-CN" altLang="en-US" sz="1200" b="0" smtClean="0"/>
              <a:pPr/>
              <a:t>2015年10月7日星期三</a:t>
            </a:fld>
            <a:endParaRPr lang="en-US" altLang="zh-CN" sz="1200" b="0" smtClean="0"/>
          </a:p>
        </p:txBody>
      </p:sp>
      <p:sp>
        <p:nvSpPr>
          <p:cNvPr id="80900" name="Rectangle 7"/>
          <p:cNvSpPr>
            <a:spLocks noGrp="1" noChangeArrowheads="1"/>
          </p:cNvSpPr>
          <p:nvPr>
            <p:ph type="sldNum" sz="quarter" idx="5"/>
          </p:nvPr>
        </p:nvSpPr>
        <p:spPr>
          <a:noFill/>
        </p:spPr>
        <p:txBody>
          <a:bodyPr/>
          <a:lstStyle>
            <a:lvl1pPr defTabSz="930275">
              <a:defRPr sz="2400" b="1">
                <a:solidFill>
                  <a:schemeClr val="tx1"/>
                </a:solidFill>
                <a:latin typeface="Times New Roman" panose="02020603050405020304" pitchFamily="18" charset="0"/>
              </a:defRPr>
            </a:lvl1pPr>
            <a:lvl2pPr marL="742950" indent="-285750" defTabSz="930275">
              <a:defRPr sz="2400" b="1">
                <a:solidFill>
                  <a:schemeClr val="tx1"/>
                </a:solidFill>
                <a:latin typeface="Times New Roman" panose="02020603050405020304" pitchFamily="18" charset="0"/>
              </a:defRPr>
            </a:lvl2pPr>
            <a:lvl3pPr marL="1143000" indent="-228600" defTabSz="930275">
              <a:defRPr sz="2400" b="1">
                <a:solidFill>
                  <a:schemeClr val="tx1"/>
                </a:solidFill>
                <a:latin typeface="Times New Roman" panose="02020603050405020304" pitchFamily="18" charset="0"/>
              </a:defRPr>
            </a:lvl3pPr>
            <a:lvl4pPr marL="1600200" indent="-228600" defTabSz="930275">
              <a:defRPr sz="2400" b="1">
                <a:solidFill>
                  <a:schemeClr val="tx1"/>
                </a:solidFill>
                <a:latin typeface="Times New Roman" panose="02020603050405020304" pitchFamily="18" charset="0"/>
              </a:defRPr>
            </a:lvl4pPr>
            <a:lvl5pPr marL="2057400" indent="-228600" defTabSz="930275">
              <a:defRPr sz="2400" b="1">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b="1">
                <a:solidFill>
                  <a:schemeClr val="tx1"/>
                </a:solidFill>
                <a:latin typeface="Times New Roman" panose="02020603050405020304" pitchFamily="18" charset="0"/>
              </a:defRPr>
            </a:lvl9pPr>
          </a:lstStyle>
          <a:p>
            <a:fld id="{9254DC8A-D70E-4289-BB11-5481544F28A2}" type="slidenum">
              <a:rPr lang="zh-CN" altLang="en-US" sz="1200" b="0"/>
              <a:pPr/>
              <a:t>61</a:t>
            </a:fld>
            <a:endParaRPr lang="en-US" altLang="zh-CN" sz="1200" b="0"/>
          </a:p>
        </p:txBody>
      </p:sp>
      <p:sp>
        <p:nvSpPr>
          <p:cNvPr id="80901" name="Rectangle 2"/>
          <p:cNvSpPr>
            <a:spLocks noChangeArrowheads="1" noTextEdit="1"/>
          </p:cNvSpPr>
          <p:nvPr>
            <p:ph type="sldImg"/>
          </p:nvPr>
        </p:nvSpPr>
        <p:spPr>
          <a:ln/>
        </p:spPr>
      </p:sp>
      <p:sp>
        <p:nvSpPr>
          <p:cNvPr id="80902" name="Rectangle 3"/>
          <p:cNvSpPr>
            <a:spLocks noGrp="1" noChangeArrowheads="1"/>
          </p:cNvSpPr>
          <p:nvPr>
            <p:ph type="body" idx="1"/>
          </p:nvPr>
        </p:nvSpPr>
        <p:spPr>
          <a:noFill/>
        </p:spPr>
        <p:txBody>
          <a:bodyPr/>
          <a:lstStyle/>
          <a:p>
            <a:r>
              <a:rPr lang="en-US" altLang="zh-CN" smtClean="0"/>
              <a:t>Note that every time the right side of a production for L is reduced in Fig.5.33, T is in the stack just below the right side. We can use this fact to access the attribute value T.type. P.311</a:t>
            </a:r>
          </a:p>
          <a:p>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608F7424-2849-40F8-A5EE-31AB935B8901}" type="slidenum">
              <a:rPr lang="zh-CN" altLang="en-US"/>
              <a:pPr/>
              <a:t>‹#›</a:t>
            </a:fld>
            <a:endParaRPr lang="en-US" altLang="zh-CN"/>
          </a:p>
        </p:txBody>
      </p:sp>
    </p:spTree>
    <p:extLst>
      <p:ext uri="{BB962C8B-B14F-4D97-AF65-F5344CB8AC3E}">
        <p14:creationId xmlns:p14="http://schemas.microsoft.com/office/powerpoint/2010/main" val="1984211281"/>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4DACA7D1-32E3-4FA9-AC69-7166F2BFFF91}" type="slidenum">
              <a:rPr lang="zh-CN" altLang="en-US"/>
              <a:pPr/>
              <a:t>‹#›</a:t>
            </a:fld>
            <a:endParaRPr lang="en-US" altLang="zh-CN"/>
          </a:p>
        </p:txBody>
      </p:sp>
    </p:spTree>
    <p:extLst>
      <p:ext uri="{BB962C8B-B14F-4D97-AF65-F5344CB8AC3E}">
        <p14:creationId xmlns:p14="http://schemas.microsoft.com/office/powerpoint/2010/main" val="2305519428"/>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F592A5B6-F856-47FF-A25F-00888E64304F}" type="slidenum">
              <a:rPr lang="zh-CN" altLang="en-US"/>
              <a:pPr/>
              <a:t>‹#›</a:t>
            </a:fld>
            <a:endParaRPr lang="en-US" altLang="zh-CN"/>
          </a:p>
        </p:txBody>
      </p:sp>
    </p:spTree>
    <p:extLst>
      <p:ext uri="{BB962C8B-B14F-4D97-AF65-F5344CB8AC3E}">
        <p14:creationId xmlns:p14="http://schemas.microsoft.com/office/powerpoint/2010/main" val="1075796681"/>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219200"/>
            <a:ext cx="46101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3500" y="1219200"/>
            <a:ext cx="46101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0ABA632E-FE34-4491-A462-A855B8A83C6C}" type="slidenum">
              <a:rPr lang="zh-CN" altLang="en-US"/>
              <a:pPr/>
              <a:t>‹#›</a:t>
            </a:fld>
            <a:endParaRPr lang="en-US" altLang="zh-CN"/>
          </a:p>
        </p:txBody>
      </p:sp>
    </p:spTree>
    <p:extLst>
      <p:ext uri="{BB962C8B-B14F-4D97-AF65-F5344CB8AC3E}">
        <p14:creationId xmlns:p14="http://schemas.microsoft.com/office/powerpoint/2010/main" val="146915747"/>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9" name="Rectangle 6"/>
          <p:cNvSpPr>
            <a:spLocks noGrp="1" noChangeArrowheads="1"/>
          </p:cNvSpPr>
          <p:nvPr>
            <p:ph type="sldNum" sz="quarter" idx="12"/>
          </p:nvPr>
        </p:nvSpPr>
        <p:spPr>
          <a:ln/>
        </p:spPr>
        <p:txBody>
          <a:bodyPr/>
          <a:lstStyle>
            <a:lvl1pPr>
              <a:defRPr/>
            </a:lvl1pPr>
          </a:lstStyle>
          <a:p>
            <a:fld id="{9704EB27-3F16-4074-998A-C39873D446EB}" type="slidenum">
              <a:rPr lang="zh-CN" altLang="en-US"/>
              <a:pPr/>
              <a:t>‹#›</a:t>
            </a:fld>
            <a:endParaRPr lang="en-US" altLang="zh-CN"/>
          </a:p>
        </p:txBody>
      </p:sp>
    </p:spTree>
    <p:extLst>
      <p:ext uri="{BB962C8B-B14F-4D97-AF65-F5344CB8AC3E}">
        <p14:creationId xmlns:p14="http://schemas.microsoft.com/office/powerpoint/2010/main" val="3856820739"/>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5" name="Rectangle 6"/>
          <p:cNvSpPr>
            <a:spLocks noGrp="1" noChangeArrowheads="1"/>
          </p:cNvSpPr>
          <p:nvPr>
            <p:ph type="sldNum" sz="quarter" idx="12"/>
          </p:nvPr>
        </p:nvSpPr>
        <p:spPr>
          <a:ln/>
        </p:spPr>
        <p:txBody>
          <a:bodyPr/>
          <a:lstStyle>
            <a:lvl1pPr>
              <a:defRPr/>
            </a:lvl1pPr>
          </a:lstStyle>
          <a:p>
            <a:fld id="{3367D2CE-DC83-496F-AFDA-96BC0738F690}" type="slidenum">
              <a:rPr lang="zh-CN" altLang="en-US"/>
              <a:pPr/>
              <a:t>‹#›</a:t>
            </a:fld>
            <a:endParaRPr lang="en-US" altLang="zh-CN"/>
          </a:p>
        </p:txBody>
      </p:sp>
    </p:spTree>
    <p:extLst>
      <p:ext uri="{BB962C8B-B14F-4D97-AF65-F5344CB8AC3E}">
        <p14:creationId xmlns:p14="http://schemas.microsoft.com/office/powerpoint/2010/main" val="2500452447"/>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4" name="Rectangle 6"/>
          <p:cNvSpPr>
            <a:spLocks noGrp="1" noChangeArrowheads="1"/>
          </p:cNvSpPr>
          <p:nvPr>
            <p:ph type="sldNum" sz="quarter" idx="12"/>
          </p:nvPr>
        </p:nvSpPr>
        <p:spPr>
          <a:ln/>
        </p:spPr>
        <p:txBody>
          <a:bodyPr/>
          <a:lstStyle>
            <a:lvl1pPr>
              <a:defRPr/>
            </a:lvl1pPr>
          </a:lstStyle>
          <a:p>
            <a:fld id="{331A64A6-AD06-46FD-87A8-A2B99B7A2310}" type="slidenum">
              <a:rPr lang="zh-CN" altLang="en-US"/>
              <a:pPr/>
              <a:t>‹#›</a:t>
            </a:fld>
            <a:endParaRPr lang="en-US" altLang="zh-CN"/>
          </a:p>
        </p:txBody>
      </p:sp>
    </p:spTree>
    <p:extLst>
      <p:ext uri="{BB962C8B-B14F-4D97-AF65-F5344CB8AC3E}">
        <p14:creationId xmlns:p14="http://schemas.microsoft.com/office/powerpoint/2010/main" val="522916424"/>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E6403F67-670C-497E-9981-B2868D821CA2}" type="slidenum">
              <a:rPr lang="zh-CN" altLang="en-US"/>
              <a:pPr/>
              <a:t>‹#›</a:t>
            </a:fld>
            <a:endParaRPr lang="en-US" altLang="zh-CN"/>
          </a:p>
        </p:txBody>
      </p:sp>
    </p:spTree>
    <p:extLst>
      <p:ext uri="{BB962C8B-B14F-4D97-AF65-F5344CB8AC3E}">
        <p14:creationId xmlns:p14="http://schemas.microsoft.com/office/powerpoint/2010/main" val="165435393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1E28834E-1543-4B2E-BB4B-6CE6FE6D85B8}" type="slidenum">
              <a:rPr lang="zh-CN" altLang="en-US"/>
              <a:pPr/>
              <a:t>‹#›</a:t>
            </a:fld>
            <a:endParaRPr lang="en-US" altLang="zh-CN"/>
          </a:p>
        </p:txBody>
      </p:sp>
    </p:spTree>
    <p:extLst>
      <p:ext uri="{BB962C8B-B14F-4D97-AF65-F5344CB8AC3E}">
        <p14:creationId xmlns:p14="http://schemas.microsoft.com/office/powerpoint/2010/main" val="1529880146"/>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818F40D1-BCCE-4C26-AB5C-1D58C3F69311}" type="slidenum">
              <a:rPr lang="zh-CN" altLang="en-US"/>
              <a:pPr/>
              <a:t>‹#›</a:t>
            </a:fld>
            <a:endParaRPr lang="en-US" altLang="zh-CN"/>
          </a:p>
        </p:txBody>
      </p:sp>
    </p:spTree>
    <p:extLst>
      <p:ext uri="{BB962C8B-B14F-4D97-AF65-F5344CB8AC3E}">
        <p14:creationId xmlns:p14="http://schemas.microsoft.com/office/powerpoint/2010/main" val="354507957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10450" y="152400"/>
            <a:ext cx="2343150" cy="6172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152400"/>
            <a:ext cx="6877050" cy="6172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92DA8E38-9B02-479F-AA2E-D188187D5BD7}" type="slidenum">
              <a:rPr lang="zh-CN" altLang="en-US"/>
              <a:pPr/>
              <a:t>‹#›</a:t>
            </a:fld>
            <a:endParaRPr lang="en-US" altLang="zh-CN"/>
          </a:p>
        </p:txBody>
      </p:sp>
    </p:spTree>
    <p:extLst>
      <p:ext uri="{BB962C8B-B14F-4D97-AF65-F5344CB8AC3E}">
        <p14:creationId xmlns:p14="http://schemas.microsoft.com/office/powerpoint/2010/main" val="3766295567"/>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9372600" cy="914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219200"/>
            <a:ext cx="4610100" cy="5105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3500" y="1219200"/>
            <a:ext cx="4610100" cy="5105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AC2E6E97-C8CB-4939-86CA-66E04C93AA44}" type="slidenum">
              <a:rPr lang="zh-CN" altLang="en-US"/>
              <a:pPr/>
              <a:t>‹#›</a:t>
            </a:fld>
            <a:endParaRPr lang="en-US" altLang="zh-CN"/>
          </a:p>
        </p:txBody>
      </p:sp>
    </p:spTree>
    <p:extLst>
      <p:ext uri="{BB962C8B-B14F-4D97-AF65-F5344CB8AC3E}">
        <p14:creationId xmlns:p14="http://schemas.microsoft.com/office/powerpoint/2010/main" val="1690864730"/>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9372600" cy="914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81000" y="1219200"/>
            <a:ext cx="9372600" cy="5105400"/>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01F41B22-F44A-4D7E-99B4-0A6AB395C58B}" type="slidenum">
              <a:rPr lang="zh-CN" altLang="en-US"/>
              <a:pPr/>
              <a:t>‹#›</a:t>
            </a:fld>
            <a:endParaRPr lang="en-US" altLang="zh-CN"/>
          </a:p>
        </p:txBody>
      </p:sp>
    </p:spTree>
    <p:extLst>
      <p:ext uri="{BB962C8B-B14F-4D97-AF65-F5344CB8AC3E}">
        <p14:creationId xmlns:p14="http://schemas.microsoft.com/office/powerpoint/2010/main" val="890793321"/>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9372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Rectangle 3"/>
          <p:cNvSpPr>
            <a:spLocks noGrp="1" noChangeArrowheads="1"/>
          </p:cNvSpPr>
          <p:nvPr>
            <p:ph type="body" idx="1"/>
          </p:nvPr>
        </p:nvSpPr>
        <p:spPr bwMode="auto">
          <a:xfrm>
            <a:off x="381000" y="1219200"/>
            <a:ext cx="9372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8" name="Rectangle 4"/>
          <p:cNvSpPr>
            <a:spLocks noGrp="1" noChangeArrowheads="1"/>
          </p:cNvSpPr>
          <p:nvPr>
            <p:ph type="dt" sz="half" idx="2"/>
          </p:nvPr>
        </p:nvSpPr>
        <p:spPr bwMode="auto">
          <a:xfrm>
            <a:off x="381000" y="6477000"/>
            <a:ext cx="20637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800" b="0">
                <a:ea typeface="宋体" pitchFamily="2" charset="-122"/>
              </a:defRPr>
            </a:lvl1pPr>
          </a:lstStyle>
          <a:p>
            <a:pPr>
              <a:defRPr/>
            </a:pPr>
            <a:r>
              <a:rPr lang="zh-CN" altLang="en-US"/>
              <a:t>◎2005 ECNU SEI</a:t>
            </a:r>
            <a:endParaRPr lang="en-US" altLang="zh-CN"/>
          </a:p>
        </p:txBody>
      </p:sp>
      <p:sp>
        <p:nvSpPr>
          <p:cNvPr id="1029" name="Rectangle 5"/>
          <p:cNvSpPr>
            <a:spLocks noGrp="1" noChangeArrowheads="1"/>
          </p:cNvSpPr>
          <p:nvPr>
            <p:ph type="ftr" sz="quarter" idx="3"/>
          </p:nvPr>
        </p:nvSpPr>
        <p:spPr bwMode="auto">
          <a:xfrm>
            <a:off x="3054350" y="6477000"/>
            <a:ext cx="37147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800" b="0">
                <a:ea typeface="宋体" pitchFamily="2" charset="-122"/>
              </a:defRPr>
            </a:lvl1pPr>
          </a:lstStyle>
          <a:p>
            <a:pPr>
              <a:defRPr/>
            </a:pPr>
            <a:r>
              <a:rPr lang="zh-CN" altLang="en-US"/>
              <a:t>Compilers: Principles, Techniques, and Tools</a:t>
            </a:r>
            <a:endParaRPr lang="en-US" altLang="zh-CN"/>
          </a:p>
        </p:txBody>
      </p:sp>
      <p:sp>
        <p:nvSpPr>
          <p:cNvPr id="1030" name="Rectangle 6"/>
          <p:cNvSpPr>
            <a:spLocks noGrp="1" noChangeArrowheads="1"/>
          </p:cNvSpPr>
          <p:nvPr>
            <p:ph type="sldNum" sz="quarter" idx="4"/>
          </p:nvPr>
        </p:nvSpPr>
        <p:spPr bwMode="auto">
          <a:xfrm>
            <a:off x="7620000" y="6477000"/>
            <a:ext cx="20637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00" b="0">
                <a:ea typeface="宋体" panose="02010600030101010101" pitchFamily="2" charset="-122"/>
              </a:defRPr>
            </a:lvl1pPr>
          </a:lstStyle>
          <a:p>
            <a:fld id="{D7EBAE16-0E85-47E4-B4AF-EC5A686123C5}"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transition>
  <p:hf hdr="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Times New Roman" pitchFamily="18" charset="0"/>
        </a:defRPr>
      </a:lvl2pPr>
      <a:lvl3pPr algn="ctr" rtl="0" eaLnBrk="0" fontAlgn="base" hangingPunct="0">
        <a:spcBef>
          <a:spcPct val="0"/>
        </a:spcBef>
        <a:spcAft>
          <a:spcPct val="0"/>
        </a:spcAft>
        <a:defRPr sz="3200" b="1">
          <a:solidFill>
            <a:schemeClr val="tx2"/>
          </a:solidFill>
          <a:latin typeface="Times New Roman" pitchFamily="18" charset="0"/>
        </a:defRPr>
      </a:lvl3pPr>
      <a:lvl4pPr algn="ctr" rtl="0" eaLnBrk="0" fontAlgn="base" hangingPunct="0">
        <a:spcBef>
          <a:spcPct val="0"/>
        </a:spcBef>
        <a:spcAft>
          <a:spcPct val="0"/>
        </a:spcAft>
        <a:defRPr sz="3200" b="1">
          <a:solidFill>
            <a:schemeClr val="tx2"/>
          </a:solidFill>
          <a:latin typeface="Times New Roman" pitchFamily="18" charset="0"/>
        </a:defRPr>
      </a:lvl4pPr>
      <a:lvl5pPr algn="ctr" rtl="0" eaLnBrk="0" fontAlgn="base" hangingPunct="0">
        <a:spcBef>
          <a:spcPct val="0"/>
        </a:spcBef>
        <a:spcAft>
          <a:spcPct val="0"/>
        </a:spcAft>
        <a:defRPr sz="3200" b="1">
          <a:solidFill>
            <a:schemeClr val="tx2"/>
          </a:solidFill>
          <a:latin typeface="Times New Roman" pitchFamily="18" charset="0"/>
        </a:defRPr>
      </a:lvl5pPr>
      <a:lvl6pPr marL="457200" algn="ctr" rtl="0" eaLnBrk="0" fontAlgn="base" hangingPunct="0">
        <a:spcBef>
          <a:spcPct val="0"/>
        </a:spcBef>
        <a:spcAft>
          <a:spcPct val="0"/>
        </a:spcAft>
        <a:defRPr sz="3200" b="1">
          <a:solidFill>
            <a:schemeClr val="tx2"/>
          </a:solidFill>
          <a:latin typeface="Times New Roman" pitchFamily="18" charset="0"/>
        </a:defRPr>
      </a:lvl6pPr>
      <a:lvl7pPr marL="914400" algn="ctr" rtl="0" eaLnBrk="0" fontAlgn="base" hangingPunct="0">
        <a:spcBef>
          <a:spcPct val="0"/>
        </a:spcBef>
        <a:spcAft>
          <a:spcPct val="0"/>
        </a:spcAft>
        <a:defRPr sz="3200" b="1">
          <a:solidFill>
            <a:schemeClr val="tx2"/>
          </a:solidFill>
          <a:latin typeface="Times New Roman" pitchFamily="18" charset="0"/>
        </a:defRPr>
      </a:lvl7pPr>
      <a:lvl8pPr marL="1371600" algn="ctr" rtl="0" eaLnBrk="0" fontAlgn="base" hangingPunct="0">
        <a:spcBef>
          <a:spcPct val="0"/>
        </a:spcBef>
        <a:spcAft>
          <a:spcPct val="0"/>
        </a:spcAft>
        <a:defRPr sz="3200" b="1">
          <a:solidFill>
            <a:schemeClr val="tx2"/>
          </a:solidFill>
          <a:latin typeface="Times New Roman" pitchFamily="18" charset="0"/>
        </a:defRPr>
      </a:lvl8pPr>
      <a:lvl9pPr marL="1828800" algn="ctr" rtl="0" eaLnBrk="0" fontAlgn="base" hangingPunct="0">
        <a:spcBef>
          <a:spcPct val="0"/>
        </a:spcBef>
        <a:spcAft>
          <a:spcPct val="0"/>
        </a:spcAft>
        <a:defRPr sz="32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05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05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6617A9D2-A4BF-44B2-A1E9-2200AD51BB9B}" type="slidenum">
              <a:rPr lang="zh-CN" altLang="en-US" sz="800"/>
              <a:pPr>
                <a:spcBef>
                  <a:spcPct val="0"/>
                </a:spcBef>
                <a:buFontTx/>
                <a:buNone/>
              </a:pPr>
              <a:t>1</a:t>
            </a:fld>
            <a:endParaRPr lang="en-US" altLang="zh-CN" sz="800"/>
          </a:p>
        </p:txBody>
      </p:sp>
      <p:sp>
        <p:nvSpPr>
          <p:cNvPr id="2053" name="Rectangle 2"/>
          <p:cNvSpPr>
            <a:spLocks noGrp="1" noChangeArrowheads="1"/>
          </p:cNvSpPr>
          <p:nvPr>
            <p:ph type="title"/>
          </p:nvPr>
        </p:nvSpPr>
        <p:spPr/>
        <p:txBody>
          <a:bodyPr/>
          <a:lstStyle/>
          <a:p>
            <a:r>
              <a:rPr lang="en-US" altLang="zh-CN" smtClean="0">
                <a:ea typeface="宋体" panose="02010600030101010101" pitchFamily="2" charset="-122"/>
              </a:rPr>
              <a:t>Exercises </a:t>
            </a:r>
          </a:p>
        </p:txBody>
      </p:sp>
      <p:sp>
        <p:nvSpPr>
          <p:cNvPr id="2054" name="Rectangle 3"/>
          <p:cNvSpPr>
            <a:spLocks noGrp="1" noChangeArrowheads="1"/>
          </p:cNvSpPr>
          <p:nvPr>
            <p:ph type="body" idx="1"/>
          </p:nvPr>
        </p:nvSpPr>
        <p:spPr>
          <a:xfrm>
            <a:off x="381000" y="1219200"/>
            <a:ext cx="8915400" cy="5105400"/>
          </a:xfrm>
        </p:spPr>
        <p:txBody>
          <a:bodyPr/>
          <a:lstStyle/>
          <a:p>
            <a:r>
              <a:rPr lang="en-US" altLang="zh-CN" smtClean="0">
                <a:ea typeface="宋体" panose="02010600030101010101" pitchFamily="2" charset="-122"/>
              </a:rPr>
              <a:t>P.337     5.6 a), 5.8 a),  5.11 a)</a:t>
            </a:r>
          </a:p>
          <a:p>
            <a:r>
              <a:rPr lang="en-US" altLang="zh-CN" smtClean="0">
                <a:ea typeface="宋体" panose="02010600030101010101" pitchFamily="2" charset="-122"/>
              </a:rPr>
              <a:t>Due:</a:t>
            </a:r>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07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07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B3D21861-19A8-49BD-8ADF-42D9766E9179}" type="slidenum">
              <a:rPr lang="zh-CN" altLang="en-US" sz="800"/>
              <a:pPr>
                <a:spcBef>
                  <a:spcPct val="0"/>
                </a:spcBef>
                <a:buFontTx/>
                <a:buNone/>
              </a:pPr>
              <a:t>2</a:t>
            </a:fld>
            <a:endParaRPr lang="en-US" altLang="zh-CN" sz="800"/>
          </a:p>
        </p:txBody>
      </p:sp>
      <p:sp>
        <p:nvSpPr>
          <p:cNvPr id="3077"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Semantic Analysis</a:t>
            </a:r>
          </a:p>
        </p:txBody>
      </p:sp>
      <p:sp>
        <p:nvSpPr>
          <p:cNvPr id="419843" name="Rectangle 3"/>
          <p:cNvSpPr>
            <a:spLocks noGrp="1" noChangeArrowheads="1"/>
          </p:cNvSpPr>
          <p:nvPr>
            <p:ph type="body" idx="1"/>
          </p:nvPr>
        </p:nvSpPr>
        <p:spPr>
          <a:xfrm>
            <a:off x="1246188" y="1600200"/>
            <a:ext cx="6777037" cy="4537075"/>
          </a:xfrm>
        </p:spPr>
        <p:txBody>
          <a:bodyPr/>
          <a:lstStyle/>
          <a:p>
            <a:pPr>
              <a:lnSpc>
                <a:spcPct val="90000"/>
              </a:lnSpc>
            </a:pPr>
            <a:r>
              <a:rPr lang="en-US" altLang="zh-TW" sz="2800" smtClean="0">
                <a:ea typeface="PMingLiU" pitchFamily="18" charset="-120"/>
              </a:rPr>
              <a:t>Semantic Analyzer</a:t>
            </a:r>
          </a:p>
          <a:p>
            <a:pPr>
              <a:lnSpc>
                <a:spcPct val="90000"/>
              </a:lnSpc>
            </a:pPr>
            <a:r>
              <a:rPr lang="en-US" altLang="zh-TW" sz="2800" smtClean="0">
                <a:ea typeface="PMingLiU" pitchFamily="18" charset="-120"/>
              </a:rPr>
              <a:t>Attribute Grammars</a:t>
            </a:r>
          </a:p>
          <a:p>
            <a:pPr>
              <a:lnSpc>
                <a:spcPct val="90000"/>
              </a:lnSpc>
            </a:pPr>
            <a:r>
              <a:rPr lang="en-US" altLang="zh-TW" sz="2800" smtClean="0">
                <a:ea typeface="PMingLiU" pitchFamily="18" charset="-120"/>
              </a:rPr>
              <a:t>Syntax Tree Construction</a:t>
            </a:r>
          </a:p>
          <a:p>
            <a:pPr>
              <a:lnSpc>
                <a:spcPct val="90000"/>
              </a:lnSpc>
            </a:pPr>
            <a:r>
              <a:rPr lang="en-US" altLang="zh-TW" sz="2800" smtClean="0">
                <a:ea typeface="PMingLiU" pitchFamily="18" charset="-120"/>
              </a:rPr>
              <a:t>Top-Down Translators</a:t>
            </a:r>
          </a:p>
          <a:p>
            <a:pPr>
              <a:lnSpc>
                <a:spcPct val="90000"/>
              </a:lnSpc>
            </a:pPr>
            <a:r>
              <a:rPr lang="en-US" altLang="zh-TW" sz="2800" smtClean="0">
                <a:ea typeface="PMingLiU" pitchFamily="18" charset="-120"/>
              </a:rPr>
              <a:t>Recursive Evaluators</a:t>
            </a:r>
          </a:p>
          <a:p>
            <a:pPr>
              <a:lnSpc>
                <a:spcPct val="90000"/>
              </a:lnSpc>
            </a:pPr>
            <a:r>
              <a:rPr lang="en-US" altLang="zh-TW" sz="2800" smtClean="0">
                <a:ea typeface="PMingLiU" pitchFamily="18" charset="-120"/>
              </a:rPr>
              <a:t>Bottom-Up Translators</a:t>
            </a:r>
          </a:p>
          <a:p>
            <a:pPr>
              <a:lnSpc>
                <a:spcPct val="90000"/>
              </a:lnSpc>
            </a:pPr>
            <a:r>
              <a:rPr lang="en-US" altLang="zh-TW" sz="2800" smtClean="0">
                <a:ea typeface="PMingLiU" pitchFamily="18" charset="-120"/>
              </a:rPr>
              <a:t>Type Checking</a:t>
            </a:r>
            <a:r>
              <a:rPr lang="en-US" altLang="zh-CN" sz="2800" smtClean="0">
                <a:ea typeface="宋体" panose="02010600030101010101" pitchFamily="2" charset="-122"/>
              </a:rPr>
              <a:t> (next chapter)</a:t>
            </a:r>
            <a:endParaRPr lang="en-US" altLang="zh-TW" sz="2800" smtClean="0">
              <a:ea typeface="PMingLiU" pitchFamily="18" charset="-12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9843">
                                            <p:txEl>
                                              <p:pRg st="0" end="0"/>
                                            </p:txEl>
                                          </p:spTgt>
                                        </p:tgtEl>
                                        <p:attrNameLst>
                                          <p:attrName>style.visibility</p:attrName>
                                        </p:attrNameLst>
                                      </p:cBhvr>
                                      <p:to>
                                        <p:strVal val="visible"/>
                                      </p:to>
                                    </p:set>
                                    <p:animEffect transition="in" filter="wipe(left)">
                                      <p:cBhvr>
                                        <p:cTn id="7" dur="1000"/>
                                        <p:tgtEl>
                                          <p:spTgt spid="419843">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19843">
                                            <p:txEl>
                                              <p:pRg st="1" end="1"/>
                                            </p:txEl>
                                          </p:spTgt>
                                        </p:tgtEl>
                                        <p:attrNameLst>
                                          <p:attrName>style.visibility</p:attrName>
                                        </p:attrNameLst>
                                      </p:cBhvr>
                                      <p:to>
                                        <p:strVal val="visible"/>
                                      </p:to>
                                    </p:set>
                                    <p:animEffect transition="in" filter="wipe(left)">
                                      <p:cBhvr>
                                        <p:cTn id="11" dur="1000"/>
                                        <p:tgtEl>
                                          <p:spTgt spid="419843">
                                            <p:txEl>
                                              <p:pRg st="1" end="1"/>
                                            </p:txEl>
                                          </p:spTgt>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19843">
                                            <p:txEl>
                                              <p:pRg st="2" end="2"/>
                                            </p:txEl>
                                          </p:spTgt>
                                        </p:tgtEl>
                                        <p:attrNameLst>
                                          <p:attrName>style.visibility</p:attrName>
                                        </p:attrNameLst>
                                      </p:cBhvr>
                                      <p:to>
                                        <p:strVal val="visible"/>
                                      </p:to>
                                    </p:set>
                                    <p:animEffect transition="in" filter="wipe(left)">
                                      <p:cBhvr>
                                        <p:cTn id="15" dur="1000"/>
                                        <p:tgtEl>
                                          <p:spTgt spid="419843">
                                            <p:txEl>
                                              <p:pRg st="2" end="2"/>
                                            </p:txEl>
                                          </p:spTgt>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419843">
                                            <p:txEl>
                                              <p:pRg st="3" end="3"/>
                                            </p:txEl>
                                          </p:spTgt>
                                        </p:tgtEl>
                                        <p:attrNameLst>
                                          <p:attrName>style.visibility</p:attrName>
                                        </p:attrNameLst>
                                      </p:cBhvr>
                                      <p:to>
                                        <p:strVal val="visible"/>
                                      </p:to>
                                    </p:set>
                                    <p:animEffect transition="in" filter="wipe(left)">
                                      <p:cBhvr>
                                        <p:cTn id="19" dur="1000"/>
                                        <p:tgtEl>
                                          <p:spTgt spid="419843">
                                            <p:txEl>
                                              <p:pRg st="3" end="3"/>
                                            </p:txEl>
                                          </p:spTgt>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419843">
                                            <p:txEl>
                                              <p:pRg st="4" end="4"/>
                                            </p:txEl>
                                          </p:spTgt>
                                        </p:tgtEl>
                                        <p:attrNameLst>
                                          <p:attrName>style.visibility</p:attrName>
                                        </p:attrNameLst>
                                      </p:cBhvr>
                                      <p:to>
                                        <p:strVal val="visible"/>
                                      </p:to>
                                    </p:set>
                                    <p:animEffect transition="in" filter="wipe(left)">
                                      <p:cBhvr>
                                        <p:cTn id="23" dur="1000"/>
                                        <p:tgtEl>
                                          <p:spTgt spid="419843">
                                            <p:txEl>
                                              <p:pRg st="4" end="4"/>
                                            </p:txEl>
                                          </p:spTgt>
                                        </p:tgtEl>
                                      </p:cBhvr>
                                    </p:animEffect>
                                  </p:childTnLst>
                                </p:cTn>
                              </p:par>
                            </p:childTnLst>
                          </p:cTn>
                        </p:par>
                        <p:par>
                          <p:cTn id="24" fill="hold" nodeType="afterGroup">
                            <p:stCondLst>
                              <p:cond delay="5000"/>
                            </p:stCondLst>
                            <p:childTnLst>
                              <p:par>
                                <p:cTn id="25" presetID="22" presetClass="entr" presetSubtype="8" fill="hold" nodeType="afterEffect">
                                  <p:stCondLst>
                                    <p:cond delay="0"/>
                                  </p:stCondLst>
                                  <p:childTnLst>
                                    <p:set>
                                      <p:cBhvr>
                                        <p:cTn id="26" dur="1" fill="hold">
                                          <p:stCondLst>
                                            <p:cond delay="0"/>
                                          </p:stCondLst>
                                        </p:cTn>
                                        <p:tgtEl>
                                          <p:spTgt spid="419843">
                                            <p:txEl>
                                              <p:pRg st="5" end="5"/>
                                            </p:txEl>
                                          </p:spTgt>
                                        </p:tgtEl>
                                        <p:attrNameLst>
                                          <p:attrName>style.visibility</p:attrName>
                                        </p:attrNameLst>
                                      </p:cBhvr>
                                      <p:to>
                                        <p:strVal val="visible"/>
                                      </p:to>
                                    </p:set>
                                    <p:animEffect transition="in" filter="wipe(left)">
                                      <p:cBhvr>
                                        <p:cTn id="27" dur="1000"/>
                                        <p:tgtEl>
                                          <p:spTgt spid="419843">
                                            <p:txEl>
                                              <p:pRg st="5" end="5"/>
                                            </p:txEl>
                                          </p:spTgt>
                                        </p:tgtEl>
                                      </p:cBhvr>
                                    </p:animEffect>
                                  </p:childTnLst>
                                </p:cTn>
                              </p:par>
                            </p:childTnLst>
                          </p:cTn>
                        </p:par>
                        <p:par>
                          <p:cTn id="28" fill="hold" nodeType="afterGroup">
                            <p:stCondLst>
                              <p:cond delay="6000"/>
                            </p:stCondLst>
                            <p:childTnLst>
                              <p:par>
                                <p:cTn id="29" presetID="22" presetClass="entr" presetSubtype="8" fill="hold" nodeType="afterEffect">
                                  <p:stCondLst>
                                    <p:cond delay="0"/>
                                  </p:stCondLst>
                                  <p:childTnLst>
                                    <p:set>
                                      <p:cBhvr>
                                        <p:cTn id="30" dur="1" fill="hold">
                                          <p:stCondLst>
                                            <p:cond delay="0"/>
                                          </p:stCondLst>
                                        </p:cTn>
                                        <p:tgtEl>
                                          <p:spTgt spid="419843">
                                            <p:txEl>
                                              <p:pRg st="6" end="6"/>
                                            </p:txEl>
                                          </p:spTgt>
                                        </p:tgtEl>
                                        <p:attrNameLst>
                                          <p:attrName>style.visibility</p:attrName>
                                        </p:attrNameLst>
                                      </p:cBhvr>
                                      <p:to>
                                        <p:strVal val="visible"/>
                                      </p:to>
                                    </p:set>
                                    <p:animEffect transition="in" filter="wipe(left)">
                                      <p:cBhvr>
                                        <p:cTn id="31" dur="1000"/>
                                        <p:tgtEl>
                                          <p:spTgt spid="4198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09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10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C977D7B3-8496-4448-B379-3F1FAC733D99}" type="slidenum">
              <a:rPr lang="zh-CN" altLang="en-US" sz="800"/>
              <a:pPr>
                <a:spcBef>
                  <a:spcPct val="0"/>
                </a:spcBef>
                <a:buFontTx/>
                <a:buNone/>
              </a:pPr>
              <a:t>3</a:t>
            </a:fld>
            <a:endParaRPr lang="en-US" altLang="zh-CN" sz="800"/>
          </a:p>
        </p:txBody>
      </p:sp>
      <p:sp>
        <p:nvSpPr>
          <p:cNvPr id="4101" name="Rectangle 2"/>
          <p:cNvSpPr>
            <a:spLocks noGrp="1" noChangeArrowheads="1"/>
          </p:cNvSpPr>
          <p:nvPr>
            <p:ph type="title"/>
          </p:nvPr>
        </p:nvSpPr>
        <p:spPr/>
        <p:txBody>
          <a:bodyPr/>
          <a:lstStyle/>
          <a:p>
            <a:r>
              <a:rPr lang="en-US" altLang="zh-TW" smtClean="0">
                <a:ea typeface="PMingLiU" pitchFamily="18" charset="-120"/>
              </a:rPr>
              <a:t>Semantic Analyzer</a:t>
            </a:r>
          </a:p>
        </p:txBody>
      </p:sp>
      <p:grpSp>
        <p:nvGrpSpPr>
          <p:cNvPr id="418840" name="Group 24"/>
          <p:cNvGrpSpPr>
            <a:grpSpLocks/>
          </p:cNvGrpSpPr>
          <p:nvPr/>
        </p:nvGrpSpPr>
        <p:grpSpPr bwMode="auto">
          <a:xfrm>
            <a:off x="809625" y="1495425"/>
            <a:ext cx="8497888" cy="4144963"/>
            <a:chOff x="510" y="942"/>
            <a:chExt cx="5353" cy="2611"/>
          </a:xfrm>
        </p:grpSpPr>
        <p:sp>
          <p:nvSpPr>
            <p:cNvPr id="4104" name="Rectangle 3"/>
            <p:cNvSpPr>
              <a:spLocks noChangeArrowheads="1"/>
            </p:cNvSpPr>
            <p:nvPr/>
          </p:nvSpPr>
          <p:spPr bwMode="auto">
            <a:xfrm>
              <a:off x="1104" y="1537"/>
              <a:ext cx="1092" cy="7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4105" name="Text Box 4"/>
            <p:cNvSpPr txBox="1">
              <a:spLocks noChangeArrowheads="1"/>
            </p:cNvSpPr>
            <p:nvPr/>
          </p:nvSpPr>
          <p:spPr bwMode="auto">
            <a:xfrm>
              <a:off x="1210" y="1610"/>
              <a:ext cx="86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eaLnBrk="1" hangingPunct="1">
                <a:spcBef>
                  <a:spcPct val="0"/>
                </a:spcBef>
                <a:buFontTx/>
                <a:buNone/>
              </a:pPr>
              <a:r>
                <a:rPr kumimoji="1" lang="en-US" altLang="zh-TW" b="0">
                  <a:latin typeface="Arial" panose="020B0604020202020204" pitchFamily="34" charset="0"/>
                  <a:ea typeface="PMingLiU" pitchFamily="18" charset="-120"/>
                </a:rPr>
                <a:t>Lexical</a:t>
              </a:r>
            </a:p>
            <a:p>
              <a:pPr algn="ctr" eaLnBrk="1" hangingPunct="1">
                <a:spcBef>
                  <a:spcPct val="0"/>
                </a:spcBef>
                <a:buFontTx/>
                <a:buNone/>
              </a:pPr>
              <a:r>
                <a:rPr kumimoji="1" lang="en-US" altLang="zh-TW" b="0">
                  <a:latin typeface="Arial" panose="020B0604020202020204" pitchFamily="34" charset="0"/>
                  <a:ea typeface="PMingLiU" pitchFamily="18" charset="-120"/>
                </a:rPr>
                <a:t>Analyzer</a:t>
              </a:r>
            </a:p>
          </p:txBody>
        </p:sp>
        <p:sp>
          <p:nvSpPr>
            <p:cNvPr id="4106" name="Rectangle 5"/>
            <p:cNvSpPr>
              <a:spLocks noChangeArrowheads="1"/>
            </p:cNvSpPr>
            <p:nvPr/>
          </p:nvSpPr>
          <p:spPr bwMode="auto">
            <a:xfrm>
              <a:off x="2560" y="1537"/>
              <a:ext cx="1092" cy="7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4107" name="Rectangle 6"/>
            <p:cNvSpPr>
              <a:spLocks noChangeArrowheads="1"/>
            </p:cNvSpPr>
            <p:nvPr/>
          </p:nvSpPr>
          <p:spPr bwMode="auto">
            <a:xfrm>
              <a:off x="4016" y="1537"/>
              <a:ext cx="1092" cy="7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4108" name="Text Box 7"/>
            <p:cNvSpPr txBox="1">
              <a:spLocks noChangeArrowheads="1"/>
            </p:cNvSpPr>
            <p:nvPr/>
          </p:nvSpPr>
          <p:spPr bwMode="auto">
            <a:xfrm>
              <a:off x="2676" y="1632"/>
              <a:ext cx="86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eaLnBrk="1" hangingPunct="1">
                <a:spcBef>
                  <a:spcPct val="0"/>
                </a:spcBef>
                <a:buFontTx/>
                <a:buNone/>
              </a:pPr>
              <a:r>
                <a:rPr kumimoji="1" lang="en-US" altLang="zh-TW" b="0">
                  <a:latin typeface="Arial" panose="020B0604020202020204" pitchFamily="34" charset="0"/>
                  <a:ea typeface="PMingLiU" pitchFamily="18" charset="-120"/>
                </a:rPr>
                <a:t>Syntax</a:t>
              </a:r>
            </a:p>
            <a:p>
              <a:pPr algn="ctr" eaLnBrk="1" hangingPunct="1">
                <a:spcBef>
                  <a:spcPct val="0"/>
                </a:spcBef>
                <a:buFontTx/>
                <a:buNone/>
              </a:pPr>
              <a:r>
                <a:rPr kumimoji="1" lang="en-US" altLang="zh-TW" b="0">
                  <a:latin typeface="Arial" panose="020B0604020202020204" pitchFamily="34" charset="0"/>
                  <a:ea typeface="PMingLiU" pitchFamily="18" charset="-120"/>
                </a:rPr>
                <a:t>Analyzer</a:t>
              </a:r>
            </a:p>
          </p:txBody>
        </p:sp>
        <p:sp>
          <p:nvSpPr>
            <p:cNvPr id="4109" name="Text Box 8"/>
            <p:cNvSpPr txBox="1">
              <a:spLocks noChangeArrowheads="1"/>
            </p:cNvSpPr>
            <p:nvPr/>
          </p:nvSpPr>
          <p:spPr bwMode="auto">
            <a:xfrm>
              <a:off x="4120" y="1632"/>
              <a:ext cx="917"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Semantic</a:t>
              </a:r>
            </a:p>
            <a:p>
              <a:pPr eaLnBrk="1" hangingPunct="1">
                <a:spcBef>
                  <a:spcPct val="0"/>
                </a:spcBef>
                <a:buFontTx/>
                <a:buNone/>
              </a:pPr>
              <a:r>
                <a:rPr kumimoji="1" lang="en-US" altLang="zh-TW" b="0">
                  <a:latin typeface="Arial" panose="020B0604020202020204" pitchFamily="34" charset="0"/>
                  <a:ea typeface="PMingLiU" pitchFamily="18" charset="-120"/>
                </a:rPr>
                <a:t>Analyzer</a:t>
              </a:r>
            </a:p>
          </p:txBody>
        </p:sp>
        <p:sp>
          <p:nvSpPr>
            <p:cNvPr id="4110" name="Rectangle 9"/>
            <p:cNvSpPr>
              <a:spLocks noChangeArrowheads="1"/>
            </p:cNvSpPr>
            <p:nvPr/>
          </p:nvSpPr>
          <p:spPr bwMode="auto">
            <a:xfrm>
              <a:off x="2560" y="2833"/>
              <a:ext cx="1092" cy="7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4111" name="Text Box 10"/>
            <p:cNvSpPr txBox="1">
              <a:spLocks noChangeArrowheads="1"/>
            </p:cNvSpPr>
            <p:nvPr/>
          </p:nvSpPr>
          <p:spPr bwMode="auto">
            <a:xfrm>
              <a:off x="2724" y="2928"/>
              <a:ext cx="757"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eaLnBrk="1" hangingPunct="1">
                <a:spcBef>
                  <a:spcPct val="0"/>
                </a:spcBef>
                <a:buFontTx/>
                <a:buNone/>
              </a:pPr>
              <a:r>
                <a:rPr kumimoji="1" lang="en-US" altLang="zh-TW" b="0">
                  <a:latin typeface="Arial" panose="020B0604020202020204" pitchFamily="34" charset="0"/>
                  <a:ea typeface="PMingLiU" pitchFamily="18" charset="-120"/>
                </a:rPr>
                <a:t>Symbol</a:t>
              </a:r>
            </a:p>
            <a:p>
              <a:pPr algn="ctr" eaLnBrk="1" hangingPunct="1">
                <a:spcBef>
                  <a:spcPct val="0"/>
                </a:spcBef>
                <a:buFontTx/>
                <a:buNone/>
              </a:pPr>
              <a:r>
                <a:rPr kumimoji="1" lang="en-US" altLang="zh-TW" b="0">
                  <a:latin typeface="Arial" panose="020B0604020202020204" pitchFamily="34" charset="0"/>
                  <a:ea typeface="PMingLiU" pitchFamily="18" charset="-120"/>
                </a:rPr>
                <a:t>Table</a:t>
              </a:r>
            </a:p>
          </p:txBody>
        </p:sp>
        <p:sp>
          <p:nvSpPr>
            <p:cNvPr id="4112" name="Line 11"/>
            <p:cNvSpPr>
              <a:spLocks noChangeShapeType="1"/>
            </p:cNvSpPr>
            <p:nvPr/>
          </p:nvSpPr>
          <p:spPr bwMode="auto">
            <a:xfrm>
              <a:off x="2196" y="1921"/>
              <a:ext cx="36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 name="Line 12"/>
            <p:cNvSpPr>
              <a:spLocks noChangeShapeType="1"/>
            </p:cNvSpPr>
            <p:nvPr/>
          </p:nvSpPr>
          <p:spPr bwMode="auto">
            <a:xfrm>
              <a:off x="3652" y="1921"/>
              <a:ext cx="36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 name="Line 13"/>
            <p:cNvSpPr>
              <a:spLocks noChangeShapeType="1"/>
            </p:cNvSpPr>
            <p:nvPr/>
          </p:nvSpPr>
          <p:spPr bwMode="auto">
            <a:xfrm>
              <a:off x="1624" y="2257"/>
              <a:ext cx="1456" cy="576"/>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 name="Line 14"/>
            <p:cNvSpPr>
              <a:spLocks noChangeShapeType="1"/>
            </p:cNvSpPr>
            <p:nvPr/>
          </p:nvSpPr>
          <p:spPr bwMode="auto">
            <a:xfrm>
              <a:off x="3080" y="2257"/>
              <a:ext cx="0" cy="576"/>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6" name="Line 15"/>
            <p:cNvSpPr>
              <a:spLocks noChangeShapeType="1"/>
            </p:cNvSpPr>
            <p:nvPr/>
          </p:nvSpPr>
          <p:spPr bwMode="auto">
            <a:xfrm flipH="1">
              <a:off x="3080" y="2257"/>
              <a:ext cx="1508" cy="576"/>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7" name="Line 16"/>
            <p:cNvSpPr>
              <a:spLocks noChangeShapeType="1"/>
            </p:cNvSpPr>
            <p:nvPr/>
          </p:nvSpPr>
          <p:spPr bwMode="auto">
            <a:xfrm>
              <a:off x="819" y="1894"/>
              <a:ext cx="26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8" name="Line 17"/>
            <p:cNvSpPr>
              <a:spLocks noChangeShapeType="1"/>
            </p:cNvSpPr>
            <p:nvPr/>
          </p:nvSpPr>
          <p:spPr bwMode="auto">
            <a:xfrm>
              <a:off x="5094" y="1894"/>
              <a:ext cx="3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9" name="Text Box 18"/>
            <p:cNvSpPr txBox="1">
              <a:spLocks noChangeArrowheads="1"/>
            </p:cNvSpPr>
            <p:nvPr/>
          </p:nvSpPr>
          <p:spPr bwMode="auto">
            <a:xfrm>
              <a:off x="510" y="942"/>
              <a:ext cx="83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eaLnBrk="1" hangingPunct="1">
                <a:spcBef>
                  <a:spcPct val="0"/>
                </a:spcBef>
                <a:buFontTx/>
                <a:buNone/>
              </a:pPr>
              <a:r>
                <a:rPr kumimoji="1" lang="en-US" altLang="zh-TW" b="0">
                  <a:solidFill>
                    <a:srgbClr val="FF3300"/>
                  </a:solidFill>
                  <a:latin typeface="Arial" panose="020B0604020202020204" pitchFamily="34" charset="0"/>
                  <a:ea typeface="PMingLiU" pitchFamily="18" charset="-120"/>
                </a:rPr>
                <a:t>source</a:t>
              </a:r>
            </a:p>
            <a:p>
              <a:pPr algn="ctr" eaLnBrk="1" hangingPunct="1">
                <a:spcBef>
                  <a:spcPct val="0"/>
                </a:spcBef>
                <a:buFontTx/>
                <a:buNone/>
              </a:pPr>
              <a:r>
                <a:rPr kumimoji="1" lang="en-US" altLang="zh-TW" b="0">
                  <a:latin typeface="Arial" panose="020B0604020202020204" pitchFamily="34" charset="0"/>
                  <a:ea typeface="PMingLiU" pitchFamily="18" charset="-120"/>
                </a:rPr>
                <a:t>program</a:t>
              </a:r>
            </a:p>
          </p:txBody>
        </p:sp>
        <p:sp>
          <p:nvSpPr>
            <p:cNvPr id="4120" name="Text Box 19"/>
            <p:cNvSpPr txBox="1">
              <a:spLocks noChangeArrowheads="1"/>
            </p:cNvSpPr>
            <p:nvPr/>
          </p:nvSpPr>
          <p:spPr bwMode="auto">
            <a:xfrm>
              <a:off x="5031" y="942"/>
              <a:ext cx="83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eaLnBrk="1" hangingPunct="1">
                <a:spcBef>
                  <a:spcPct val="0"/>
                </a:spcBef>
                <a:buFontTx/>
                <a:buNone/>
              </a:pPr>
              <a:r>
                <a:rPr kumimoji="1" lang="en-US" altLang="zh-TW" b="0">
                  <a:solidFill>
                    <a:srgbClr val="FF3300"/>
                  </a:solidFill>
                  <a:latin typeface="Arial" panose="020B0604020202020204" pitchFamily="34" charset="0"/>
                  <a:ea typeface="PMingLiU" pitchFamily="18" charset="-120"/>
                </a:rPr>
                <a:t>correct</a:t>
              </a:r>
            </a:p>
            <a:p>
              <a:pPr algn="ctr" eaLnBrk="1" hangingPunct="1">
                <a:spcBef>
                  <a:spcPct val="0"/>
                </a:spcBef>
                <a:buFontTx/>
                <a:buNone/>
              </a:pPr>
              <a:r>
                <a:rPr kumimoji="1" lang="en-US" altLang="zh-TW" b="0">
                  <a:latin typeface="Arial" panose="020B0604020202020204" pitchFamily="34" charset="0"/>
                  <a:ea typeface="PMingLiU" pitchFamily="18" charset="-120"/>
                </a:rPr>
                <a:t>program</a:t>
              </a:r>
            </a:p>
          </p:txBody>
        </p:sp>
        <p:sp>
          <p:nvSpPr>
            <p:cNvPr id="4121" name="Line 20"/>
            <p:cNvSpPr>
              <a:spLocks noChangeShapeType="1"/>
            </p:cNvSpPr>
            <p:nvPr/>
          </p:nvSpPr>
          <p:spPr bwMode="auto">
            <a:xfrm>
              <a:off x="819" y="1486"/>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2" name="Line 21"/>
            <p:cNvSpPr>
              <a:spLocks noChangeShapeType="1"/>
            </p:cNvSpPr>
            <p:nvPr/>
          </p:nvSpPr>
          <p:spPr bwMode="auto">
            <a:xfrm flipV="1">
              <a:off x="5439" y="1486"/>
              <a:ext cx="0" cy="40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3" name="Line 22"/>
            <p:cNvSpPr>
              <a:spLocks noChangeShapeType="1"/>
            </p:cNvSpPr>
            <p:nvPr/>
          </p:nvSpPr>
          <p:spPr bwMode="auto">
            <a:xfrm>
              <a:off x="5439" y="1894"/>
              <a:ext cx="0" cy="40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4" name="Text Box 23"/>
            <p:cNvSpPr txBox="1">
              <a:spLocks noChangeArrowheads="1"/>
            </p:cNvSpPr>
            <p:nvPr/>
          </p:nvSpPr>
          <p:spPr bwMode="auto">
            <a:xfrm>
              <a:off x="5111" y="2302"/>
              <a:ext cx="671"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eaLnBrk="1" hangingPunct="1">
                <a:spcBef>
                  <a:spcPct val="0"/>
                </a:spcBef>
                <a:buFontTx/>
                <a:buNone/>
              </a:pPr>
              <a:r>
                <a:rPr kumimoji="1" lang="en-US" altLang="zh-TW" b="0">
                  <a:latin typeface="Arial" panose="020B0604020202020204" pitchFamily="34" charset="0"/>
                  <a:ea typeface="PMingLiU" pitchFamily="18" charset="-120"/>
                </a:rPr>
                <a:t>syntax</a:t>
              </a:r>
            </a:p>
            <a:p>
              <a:pPr algn="ctr" eaLnBrk="1" hangingPunct="1">
                <a:spcBef>
                  <a:spcPct val="0"/>
                </a:spcBef>
                <a:buFontTx/>
                <a:buNone/>
              </a:pPr>
              <a:r>
                <a:rPr kumimoji="1" lang="en-US" altLang="zh-TW" b="0">
                  <a:latin typeface="Arial" panose="020B0604020202020204" pitchFamily="34" charset="0"/>
                  <a:ea typeface="PMingLiU" pitchFamily="18" charset="-120"/>
                </a:rPr>
                <a:t>tree</a:t>
              </a:r>
            </a:p>
          </p:txBody>
        </p:sp>
      </p:grpSp>
      <p:graphicFrame>
        <p:nvGraphicFramePr>
          <p:cNvPr id="418841" name="Object 25"/>
          <p:cNvGraphicFramePr>
            <a:graphicFrameLocks noChangeAspect="1"/>
          </p:cNvGraphicFramePr>
          <p:nvPr>
            <p:ph idx="1"/>
          </p:nvPr>
        </p:nvGraphicFramePr>
        <p:xfrm>
          <a:off x="609600" y="2971800"/>
          <a:ext cx="8610600" cy="801688"/>
        </p:xfrm>
        <a:graphic>
          <a:graphicData uri="http://schemas.openxmlformats.org/presentationml/2006/ole">
            <mc:AlternateContent xmlns:mc="http://schemas.openxmlformats.org/markup-compatibility/2006">
              <mc:Choice xmlns:v="urn:schemas-microsoft-com:vml" Requires="v">
                <p:oleObj spid="_x0000_s4125" name="Visio" r:id="rId3" imgW="4711598" imgH="438302" progId="Visio.Drawing.11">
                  <p:embed/>
                </p:oleObj>
              </mc:Choice>
              <mc:Fallback>
                <p:oleObj name="Visio" r:id="rId3" imgW="4711598" imgH="438302" progId="Visio.Drawing.11">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971800"/>
                        <a:ext cx="8610600" cy="80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418840"/>
                                        </p:tgtEl>
                                        <p:attrNameLst>
                                          <p:attrName>style.visibility</p:attrName>
                                        </p:attrNameLst>
                                      </p:cBhvr>
                                      <p:to>
                                        <p:strVal val="visible"/>
                                      </p:to>
                                    </p:set>
                                    <p:animEffect transition="in" filter="wipe(down)">
                                      <p:cBhvr>
                                        <p:cTn id="7" dur="1000"/>
                                        <p:tgtEl>
                                          <p:spTgt spid="418840"/>
                                        </p:tgtEl>
                                      </p:cBhvr>
                                    </p:animEffect>
                                  </p:childTnLst>
                                  <p:subTnLst>
                                    <p:set>
                                      <p:cBhvr override="childStyle">
                                        <p:cTn dur="1" fill="hold" display="0" masterRel="nextClick" afterEffect="1"/>
                                        <p:tgtEl>
                                          <p:spTgt spid="41884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8841"/>
                                        </p:tgtEl>
                                        <p:attrNameLst>
                                          <p:attrName>style.visibility</p:attrName>
                                        </p:attrNameLst>
                                      </p:cBhvr>
                                      <p:to>
                                        <p:strVal val="visible"/>
                                      </p:to>
                                    </p:set>
                                    <p:animEffect transition="in" filter="wipe(left)">
                                      <p:cBhvr>
                                        <p:cTn id="12" dur="1000"/>
                                        <p:tgtEl>
                                          <p:spTgt spid="418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12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12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8F3DEB5-B61E-48FA-9879-34E502882480}" type="slidenum">
              <a:rPr lang="zh-CN" altLang="en-US" sz="800"/>
              <a:pPr>
                <a:spcBef>
                  <a:spcPct val="0"/>
                </a:spcBef>
                <a:buFontTx/>
                <a:buNone/>
              </a:pPr>
              <a:t>4</a:t>
            </a:fld>
            <a:endParaRPr lang="en-US" altLang="zh-CN" sz="800"/>
          </a:p>
        </p:txBody>
      </p:sp>
      <p:sp>
        <p:nvSpPr>
          <p:cNvPr id="5125" name="Rectangle 4"/>
          <p:cNvSpPr>
            <a:spLocks noGrp="1" noChangeArrowheads="1"/>
          </p:cNvSpPr>
          <p:nvPr>
            <p:ph type="title"/>
          </p:nvPr>
        </p:nvSpPr>
        <p:spPr/>
        <p:txBody>
          <a:bodyPr/>
          <a:lstStyle/>
          <a:p>
            <a:r>
              <a:rPr lang="en-US" altLang="zh-CN" smtClean="0">
                <a:ea typeface="宋体" panose="02010600030101010101" pitchFamily="2" charset="-122"/>
              </a:rPr>
              <a:t>Syntax-Directed Translation </a:t>
            </a:r>
            <a:r>
              <a:rPr lang="zh-CN" altLang="en-US" smtClean="0">
                <a:ea typeface="宋体" panose="02010600030101010101" pitchFamily="2" charset="-122"/>
              </a:rPr>
              <a:t>语法制导翻译</a:t>
            </a:r>
            <a:r>
              <a:rPr lang="en-US" altLang="zh-CN" smtClean="0">
                <a:ea typeface="宋体" panose="02010600030101010101" pitchFamily="2" charset="-122"/>
              </a:rPr>
              <a:t>(P.279)</a:t>
            </a:r>
          </a:p>
        </p:txBody>
      </p:sp>
      <p:sp>
        <p:nvSpPr>
          <p:cNvPr id="5126" name="Rectangle 5"/>
          <p:cNvSpPr>
            <a:spLocks noGrp="1" noChangeArrowheads="1"/>
          </p:cNvSpPr>
          <p:nvPr>
            <p:ph type="body" idx="1"/>
          </p:nvPr>
        </p:nvSpPr>
        <p:spPr>
          <a:xfrm>
            <a:off x="381000" y="1219200"/>
            <a:ext cx="9220200" cy="5105400"/>
          </a:xfrm>
        </p:spPr>
        <p:txBody>
          <a:bodyPr/>
          <a:lstStyle/>
          <a:p>
            <a:pPr>
              <a:lnSpc>
                <a:spcPct val="90000"/>
              </a:lnSpc>
            </a:pPr>
            <a:r>
              <a:rPr lang="en-US" altLang="zh-CN" smtClean="0">
                <a:ea typeface="宋体" panose="02010600030101010101" pitchFamily="2" charset="-122"/>
              </a:rPr>
              <a:t>Grammar symbols are associated with </a:t>
            </a:r>
            <a:r>
              <a:rPr lang="en-US" altLang="zh-CN" b="1" smtClean="0">
                <a:solidFill>
                  <a:schemeClr val="accent2"/>
                </a:solidFill>
                <a:ea typeface="宋体" panose="02010600030101010101" pitchFamily="2" charset="-122"/>
              </a:rPr>
              <a:t>attributes</a:t>
            </a:r>
            <a:r>
              <a:rPr lang="en-US" altLang="zh-CN" smtClean="0">
                <a:solidFill>
                  <a:schemeClr val="accent2"/>
                </a:solidFill>
                <a:ea typeface="宋体" panose="02010600030101010101" pitchFamily="2" charset="-122"/>
              </a:rPr>
              <a:t> </a:t>
            </a:r>
            <a:r>
              <a:rPr lang="en-US" altLang="zh-CN" smtClean="0">
                <a:ea typeface="宋体" panose="02010600030101010101" pitchFamily="2" charset="-122"/>
              </a:rPr>
              <a:t>to associate information with the programming language constructs that they represent.</a:t>
            </a:r>
          </a:p>
          <a:p>
            <a:pPr>
              <a:lnSpc>
                <a:spcPct val="90000"/>
              </a:lnSpc>
            </a:pPr>
            <a:r>
              <a:rPr lang="en-US" altLang="zh-CN" smtClean="0">
                <a:ea typeface="宋体" panose="02010600030101010101" pitchFamily="2" charset="-122"/>
              </a:rPr>
              <a:t>Values of these attributes are evaluated by the </a:t>
            </a:r>
            <a:r>
              <a:rPr lang="en-US" altLang="zh-CN" b="1" smtClean="0">
                <a:solidFill>
                  <a:schemeClr val="accent2"/>
                </a:solidFill>
                <a:ea typeface="宋体" panose="02010600030101010101" pitchFamily="2" charset="-122"/>
              </a:rPr>
              <a:t>semantic rules</a:t>
            </a:r>
            <a:r>
              <a:rPr lang="en-US" altLang="zh-CN" b="1" smtClean="0">
                <a:ea typeface="宋体" panose="02010600030101010101" pitchFamily="2" charset="-122"/>
              </a:rPr>
              <a:t> </a:t>
            </a:r>
            <a:r>
              <a:rPr lang="zh-CN" altLang="en-US" b="1" smtClean="0">
                <a:ea typeface="宋体" panose="02010600030101010101" pitchFamily="2" charset="-122"/>
              </a:rPr>
              <a:t>（语义规则）</a:t>
            </a:r>
            <a:r>
              <a:rPr lang="zh-CN" altLang="en-US" smtClean="0">
                <a:ea typeface="宋体" panose="02010600030101010101" pitchFamily="2" charset="-122"/>
              </a:rPr>
              <a:t> </a:t>
            </a:r>
            <a:r>
              <a:rPr lang="en-US" altLang="zh-CN" smtClean="0">
                <a:ea typeface="宋体" panose="02010600030101010101" pitchFamily="2" charset="-122"/>
              </a:rPr>
              <a:t>associated with the production rules.</a:t>
            </a:r>
          </a:p>
          <a:p>
            <a:pPr>
              <a:lnSpc>
                <a:spcPct val="90000"/>
              </a:lnSpc>
            </a:pPr>
            <a:r>
              <a:rPr lang="en-US" altLang="zh-CN" smtClean="0">
                <a:ea typeface="宋体" panose="02010600030101010101" pitchFamily="2" charset="-122"/>
              </a:rPr>
              <a:t>Evaluation of these semantic rules:</a:t>
            </a:r>
          </a:p>
          <a:p>
            <a:pPr lvl="1">
              <a:lnSpc>
                <a:spcPct val="90000"/>
              </a:lnSpc>
            </a:pPr>
            <a:r>
              <a:rPr lang="en-US" altLang="zh-CN" b="1" smtClean="0">
                <a:solidFill>
                  <a:srgbClr val="660066"/>
                </a:solidFill>
                <a:ea typeface="宋体" panose="02010600030101010101" pitchFamily="2" charset="-122"/>
              </a:rPr>
              <a:t>may generate intermediate codes</a:t>
            </a:r>
          </a:p>
          <a:p>
            <a:pPr lvl="1">
              <a:lnSpc>
                <a:spcPct val="90000"/>
              </a:lnSpc>
            </a:pPr>
            <a:r>
              <a:rPr lang="en-US" altLang="zh-CN" b="1" smtClean="0">
                <a:solidFill>
                  <a:srgbClr val="660066"/>
                </a:solidFill>
                <a:ea typeface="宋体" panose="02010600030101010101" pitchFamily="2" charset="-122"/>
              </a:rPr>
              <a:t>may put information into the symbol table</a:t>
            </a:r>
          </a:p>
          <a:p>
            <a:pPr lvl="1">
              <a:lnSpc>
                <a:spcPct val="90000"/>
              </a:lnSpc>
            </a:pPr>
            <a:r>
              <a:rPr lang="en-US" altLang="zh-CN" b="1" smtClean="0">
                <a:solidFill>
                  <a:srgbClr val="660066"/>
                </a:solidFill>
                <a:ea typeface="宋体" panose="02010600030101010101" pitchFamily="2" charset="-122"/>
              </a:rPr>
              <a:t>may perform type checking</a:t>
            </a:r>
          </a:p>
          <a:p>
            <a:pPr lvl="1">
              <a:lnSpc>
                <a:spcPct val="90000"/>
              </a:lnSpc>
            </a:pPr>
            <a:r>
              <a:rPr lang="en-US" altLang="zh-CN" b="1" smtClean="0">
                <a:solidFill>
                  <a:srgbClr val="660066"/>
                </a:solidFill>
                <a:ea typeface="宋体" panose="02010600030101010101" pitchFamily="2" charset="-122"/>
              </a:rPr>
              <a:t>may issue error messages</a:t>
            </a:r>
          </a:p>
          <a:p>
            <a:pPr lvl="1">
              <a:lnSpc>
                <a:spcPct val="90000"/>
              </a:lnSpc>
            </a:pPr>
            <a:r>
              <a:rPr lang="en-US" altLang="zh-CN" b="1" smtClean="0">
                <a:solidFill>
                  <a:srgbClr val="660066"/>
                </a:solidFill>
                <a:ea typeface="宋体" panose="02010600030101010101" pitchFamily="2" charset="-122"/>
              </a:rPr>
              <a:t>may perform some other activities</a:t>
            </a:r>
          </a:p>
          <a:p>
            <a:pPr lvl="1">
              <a:lnSpc>
                <a:spcPct val="90000"/>
              </a:lnSpc>
            </a:pPr>
            <a:r>
              <a:rPr lang="en-US" altLang="zh-CN" b="1" smtClean="0">
                <a:solidFill>
                  <a:srgbClr val="660066"/>
                </a:solidFill>
                <a:ea typeface="宋体" panose="02010600030101010101" pitchFamily="2" charset="-122"/>
              </a:rPr>
              <a:t>in fact, they may perform almost any activities.</a:t>
            </a:r>
          </a:p>
          <a:p>
            <a:pPr>
              <a:lnSpc>
                <a:spcPct val="90000"/>
              </a:lnSpc>
            </a:pPr>
            <a:r>
              <a:rPr lang="en-US" altLang="zh-CN" smtClean="0">
                <a:ea typeface="宋体" panose="02010600030101010101" pitchFamily="2" charset="-122"/>
              </a:rPr>
              <a:t>An attribute may hold almost any thing.</a:t>
            </a:r>
          </a:p>
          <a:p>
            <a:pPr lvl="1">
              <a:lnSpc>
                <a:spcPct val="90000"/>
              </a:lnSpc>
            </a:pPr>
            <a:r>
              <a:rPr lang="en-US" altLang="zh-CN" smtClean="0">
                <a:ea typeface="宋体" panose="02010600030101010101" pitchFamily="2" charset="-122"/>
              </a:rPr>
              <a:t>a string, a number, a memory location, a complex record. </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14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14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63F11BBE-1561-485B-A616-4DAB0943E322}" type="slidenum">
              <a:rPr lang="zh-CN" altLang="en-US" sz="800"/>
              <a:pPr>
                <a:spcBef>
                  <a:spcPct val="0"/>
                </a:spcBef>
                <a:buFontTx/>
                <a:buNone/>
              </a:pPr>
              <a:t>5</a:t>
            </a:fld>
            <a:endParaRPr lang="en-US" altLang="zh-CN" sz="800"/>
          </a:p>
        </p:txBody>
      </p:sp>
      <p:sp>
        <p:nvSpPr>
          <p:cNvPr id="6149" name="Rectangle 2"/>
          <p:cNvSpPr>
            <a:spLocks noGrp="1" noChangeArrowheads="1"/>
          </p:cNvSpPr>
          <p:nvPr>
            <p:ph type="title"/>
          </p:nvPr>
        </p:nvSpPr>
        <p:spPr>
          <a:xfrm>
            <a:off x="228600" y="152400"/>
            <a:ext cx="9525000" cy="914400"/>
          </a:xfrm>
        </p:spPr>
        <p:txBody>
          <a:bodyPr/>
          <a:lstStyle/>
          <a:p>
            <a:r>
              <a:rPr lang="en-US" altLang="zh-CN" smtClean="0">
                <a:ea typeface="宋体" panose="02010600030101010101" pitchFamily="2" charset="-122"/>
              </a:rPr>
              <a:t>Syntax-Directed Definitions and Translation Schemes</a:t>
            </a:r>
          </a:p>
        </p:txBody>
      </p:sp>
      <p:sp>
        <p:nvSpPr>
          <p:cNvPr id="335875" name="Rectangle 3"/>
          <p:cNvSpPr>
            <a:spLocks noGrp="1" noChangeArrowheads="1"/>
          </p:cNvSpPr>
          <p:nvPr>
            <p:ph type="body" idx="1"/>
          </p:nvPr>
        </p:nvSpPr>
        <p:spPr>
          <a:xfrm>
            <a:off x="381000" y="1219200"/>
            <a:ext cx="9144000" cy="5105400"/>
          </a:xfrm>
        </p:spPr>
        <p:txBody>
          <a:bodyPr/>
          <a:lstStyle/>
          <a:p>
            <a:r>
              <a:rPr lang="en-US" altLang="zh-CN" smtClean="0">
                <a:ea typeface="宋体" panose="02010600030101010101" pitchFamily="2" charset="-122"/>
              </a:rPr>
              <a:t>When we associate semantic rules with productions, we use two notations:</a:t>
            </a:r>
          </a:p>
          <a:p>
            <a:pPr lvl="1"/>
            <a:r>
              <a:rPr lang="en-US" altLang="zh-CN" sz="2400" b="1" smtClean="0">
                <a:solidFill>
                  <a:schemeClr val="accent2"/>
                </a:solidFill>
                <a:ea typeface="宋体" panose="02010600030101010101" pitchFamily="2" charset="-122"/>
              </a:rPr>
              <a:t>Syntax-Directed Definitions</a:t>
            </a:r>
          </a:p>
          <a:p>
            <a:pPr lvl="1"/>
            <a:r>
              <a:rPr lang="en-US" altLang="zh-CN" sz="2400" b="1" smtClean="0">
                <a:solidFill>
                  <a:schemeClr val="accent2"/>
                </a:solidFill>
                <a:ea typeface="宋体" panose="02010600030101010101" pitchFamily="2" charset="-122"/>
              </a:rPr>
              <a:t>Translation Schemes</a:t>
            </a:r>
          </a:p>
          <a:p>
            <a:r>
              <a:rPr lang="en-US" altLang="zh-CN" b="1" smtClean="0">
                <a:ea typeface="宋体" panose="02010600030101010101" pitchFamily="2" charset="-122"/>
              </a:rPr>
              <a:t>Syntax-Directed Definitions:</a:t>
            </a:r>
          </a:p>
          <a:p>
            <a:pPr lvl="1"/>
            <a:r>
              <a:rPr lang="en-US" altLang="zh-CN" smtClean="0">
                <a:ea typeface="宋体" panose="02010600030101010101" pitchFamily="2" charset="-122"/>
              </a:rPr>
              <a:t>give high-level specifications for translations</a:t>
            </a:r>
          </a:p>
          <a:p>
            <a:pPr lvl="1"/>
            <a:r>
              <a:rPr lang="en-US" altLang="zh-CN" smtClean="0">
                <a:ea typeface="宋体" panose="02010600030101010101" pitchFamily="2" charset="-122"/>
              </a:rPr>
              <a:t>hide many implementation details such as order of evaluation of semantic actions.</a:t>
            </a:r>
          </a:p>
          <a:p>
            <a:pPr lvl="1"/>
            <a:r>
              <a:rPr lang="en-US" altLang="zh-CN" smtClean="0">
                <a:ea typeface="宋体" panose="02010600030101010101" pitchFamily="2" charset="-122"/>
              </a:rPr>
              <a:t>We associate a production rule with a set of semantic actions, and we do not say </a:t>
            </a:r>
            <a:r>
              <a:rPr lang="en-US" altLang="zh-CN" sz="3600" b="1" i="1" smtClean="0">
                <a:solidFill>
                  <a:srgbClr val="0000CC"/>
                </a:solidFill>
                <a:ea typeface="宋体" panose="02010600030101010101" pitchFamily="2" charset="-122"/>
              </a:rPr>
              <a:t>when</a:t>
            </a:r>
            <a:r>
              <a:rPr lang="en-US" altLang="zh-CN" b="1" smtClean="0">
                <a:solidFill>
                  <a:srgbClr val="CC0000"/>
                </a:solidFill>
                <a:ea typeface="宋体" panose="02010600030101010101" pitchFamily="2" charset="-122"/>
              </a:rPr>
              <a:t> </a:t>
            </a:r>
            <a:r>
              <a:rPr lang="en-US" altLang="zh-CN" smtClean="0">
                <a:ea typeface="宋体" panose="02010600030101010101" pitchFamily="2" charset="-122"/>
              </a:rPr>
              <a:t>they will be evaluated. </a:t>
            </a:r>
          </a:p>
          <a:p>
            <a:r>
              <a:rPr lang="en-US" altLang="zh-CN" b="1" smtClean="0">
                <a:ea typeface="宋体" panose="02010600030101010101" pitchFamily="2" charset="-122"/>
              </a:rPr>
              <a:t>Translation Schemes:</a:t>
            </a:r>
          </a:p>
          <a:p>
            <a:pPr lvl="1"/>
            <a:r>
              <a:rPr lang="en-US" altLang="zh-CN" smtClean="0">
                <a:ea typeface="宋体" panose="02010600030101010101" pitchFamily="2" charset="-122"/>
              </a:rPr>
              <a:t>indicate the order of evaluation of semantic actions associated with a production rule.</a:t>
            </a:r>
          </a:p>
          <a:p>
            <a:pPr lvl="1"/>
            <a:r>
              <a:rPr lang="en-US" altLang="zh-CN" smtClean="0">
                <a:ea typeface="宋体" panose="02010600030101010101" pitchFamily="2" charset="-122"/>
              </a:rPr>
              <a:t>In other words, translation schemes give a little bit information about implementation details.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335875">
                                            <p:txEl>
                                              <p:pRg st="1" end="1"/>
                                            </p:txEl>
                                          </p:spTgt>
                                        </p:tgtEl>
                                        <p:attrNameLst>
                                          <p:attrName>style.visibility</p:attrName>
                                        </p:attrNameLst>
                                      </p:cBhvr>
                                      <p:to>
                                        <p:strVal val="visible"/>
                                      </p:to>
                                    </p:set>
                                    <p:animEffect transition="in" filter="wipe(left)">
                                      <p:cBhvr>
                                        <p:cTn id="7" dur="2000"/>
                                        <p:tgtEl>
                                          <p:spTgt spid="335875">
                                            <p:txEl>
                                              <p:pRg st="1" end="1"/>
                                            </p:txEl>
                                          </p:spTgt>
                                        </p:tgtEl>
                                      </p:cBhvr>
                                    </p:animEffect>
                                  </p:childTnLst>
                                </p:cTn>
                              </p:par>
                            </p:childTnLst>
                          </p:cTn>
                        </p:par>
                        <p:par>
                          <p:cTn id="8" fill="hold" nodeType="afterGroup">
                            <p:stCondLst>
                              <p:cond delay="4000"/>
                            </p:stCondLst>
                            <p:childTnLst>
                              <p:par>
                                <p:cTn id="9" presetID="22" presetClass="entr" presetSubtype="8" fill="hold" nodeType="afterEffect">
                                  <p:stCondLst>
                                    <p:cond delay="2000"/>
                                  </p:stCondLst>
                                  <p:childTnLst>
                                    <p:set>
                                      <p:cBhvr>
                                        <p:cTn id="10" dur="1" fill="hold">
                                          <p:stCondLst>
                                            <p:cond delay="0"/>
                                          </p:stCondLst>
                                        </p:cTn>
                                        <p:tgtEl>
                                          <p:spTgt spid="335875">
                                            <p:txEl>
                                              <p:pRg st="2" end="2"/>
                                            </p:txEl>
                                          </p:spTgt>
                                        </p:tgtEl>
                                        <p:attrNameLst>
                                          <p:attrName>style.visibility</p:attrName>
                                        </p:attrNameLst>
                                      </p:cBhvr>
                                      <p:to>
                                        <p:strVal val="visible"/>
                                      </p:to>
                                    </p:set>
                                    <p:animEffect transition="in" filter="wipe(left)">
                                      <p:cBhvr>
                                        <p:cTn id="11" dur="2000"/>
                                        <p:tgtEl>
                                          <p:spTgt spid="3358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717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717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E3AB01EB-A2D6-4682-B85E-9F4CB502176F}" type="slidenum">
              <a:rPr lang="zh-CN" altLang="en-US" sz="800"/>
              <a:pPr>
                <a:spcBef>
                  <a:spcPct val="0"/>
                </a:spcBef>
                <a:buFontTx/>
                <a:buNone/>
              </a:pPr>
              <a:t>6</a:t>
            </a:fld>
            <a:endParaRPr lang="en-US" altLang="zh-CN" sz="800"/>
          </a:p>
        </p:txBody>
      </p:sp>
      <p:sp>
        <p:nvSpPr>
          <p:cNvPr id="7173" name="Rectangle 2"/>
          <p:cNvSpPr>
            <a:spLocks noGrp="1" noChangeArrowheads="1"/>
          </p:cNvSpPr>
          <p:nvPr>
            <p:ph type="title"/>
          </p:nvPr>
        </p:nvSpPr>
        <p:spPr/>
        <p:txBody>
          <a:bodyPr/>
          <a:lstStyle/>
          <a:p>
            <a:r>
              <a:rPr lang="en-US" altLang="zh-CN" smtClean="0">
                <a:ea typeface="宋体" panose="02010600030101010101" pitchFamily="2" charset="-122"/>
              </a:rPr>
              <a:t>Syntax-Directed Definitions (P.280)</a:t>
            </a:r>
          </a:p>
        </p:txBody>
      </p:sp>
      <p:sp>
        <p:nvSpPr>
          <p:cNvPr id="336899" name="Rectangle 3"/>
          <p:cNvSpPr>
            <a:spLocks noGrp="1" noChangeArrowheads="1"/>
          </p:cNvSpPr>
          <p:nvPr>
            <p:ph type="body" idx="1"/>
          </p:nvPr>
        </p:nvSpPr>
        <p:spPr/>
        <p:txBody>
          <a:bodyPr/>
          <a:lstStyle/>
          <a:p>
            <a:r>
              <a:rPr lang="en-US" altLang="zh-CN" smtClean="0">
                <a:ea typeface="宋体" panose="02010600030101010101" pitchFamily="2" charset="-122"/>
              </a:rPr>
              <a:t>A syntax-directed definition is a generalization of a context-free grammar in which:</a:t>
            </a:r>
          </a:p>
          <a:p>
            <a:pPr lvl="1"/>
            <a:r>
              <a:rPr lang="en-US" altLang="zh-CN" sz="2000" smtClean="0">
                <a:solidFill>
                  <a:srgbClr val="0000CC"/>
                </a:solidFill>
                <a:ea typeface="宋体" panose="02010600030101010101" pitchFamily="2" charset="-122"/>
              </a:rPr>
              <a:t>Each grammar symbol is associated with a set of attributes. </a:t>
            </a:r>
          </a:p>
          <a:p>
            <a:pPr lvl="1"/>
            <a:r>
              <a:rPr lang="en-US" altLang="zh-CN" sz="2000" smtClean="0">
                <a:solidFill>
                  <a:srgbClr val="0000CC"/>
                </a:solidFill>
                <a:ea typeface="宋体" panose="02010600030101010101" pitchFamily="2" charset="-122"/>
              </a:rPr>
              <a:t>This set of attributes for a grammar symbol  is partitioned into two subsets called </a:t>
            </a:r>
            <a:r>
              <a:rPr lang="en-US" altLang="zh-CN" sz="2000" b="1" smtClean="0">
                <a:solidFill>
                  <a:srgbClr val="CC0000"/>
                </a:solidFill>
                <a:ea typeface="宋体" panose="02010600030101010101" pitchFamily="2" charset="-122"/>
              </a:rPr>
              <a:t>synthesized</a:t>
            </a:r>
            <a:r>
              <a:rPr lang="en-US" altLang="zh-CN" sz="2000" smtClean="0">
                <a:solidFill>
                  <a:srgbClr val="0000CC"/>
                </a:solidFill>
                <a:ea typeface="宋体" panose="02010600030101010101" pitchFamily="2" charset="-122"/>
              </a:rPr>
              <a:t> and </a:t>
            </a:r>
            <a:r>
              <a:rPr lang="en-US" altLang="zh-CN" sz="2000" b="1" smtClean="0">
                <a:solidFill>
                  <a:srgbClr val="CC0000"/>
                </a:solidFill>
                <a:ea typeface="宋体" panose="02010600030101010101" pitchFamily="2" charset="-122"/>
              </a:rPr>
              <a:t>inherited</a:t>
            </a:r>
            <a:r>
              <a:rPr lang="en-US" altLang="zh-CN" sz="2000" smtClean="0">
                <a:solidFill>
                  <a:srgbClr val="CC0000"/>
                </a:solidFill>
                <a:ea typeface="宋体" panose="02010600030101010101" pitchFamily="2" charset="-122"/>
              </a:rPr>
              <a:t> </a:t>
            </a:r>
            <a:r>
              <a:rPr lang="en-US" altLang="zh-CN" sz="2000" b="1" smtClean="0">
                <a:solidFill>
                  <a:srgbClr val="CC0000"/>
                </a:solidFill>
                <a:ea typeface="宋体" panose="02010600030101010101" pitchFamily="2" charset="-122"/>
              </a:rPr>
              <a:t>attributes</a:t>
            </a:r>
            <a:r>
              <a:rPr lang="en-US" altLang="zh-CN" sz="2000" smtClean="0">
                <a:solidFill>
                  <a:srgbClr val="0000CC"/>
                </a:solidFill>
                <a:ea typeface="宋体" panose="02010600030101010101" pitchFamily="2" charset="-122"/>
              </a:rPr>
              <a:t> of that grammar symbol.</a:t>
            </a:r>
          </a:p>
          <a:p>
            <a:pPr lvl="1"/>
            <a:r>
              <a:rPr lang="en-US" altLang="zh-CN" sz="2000" smtClean="0">
                <a:solidFill>
                  <a:srgbClr val="0000CC"/>
                </a:solidFill>
                <a:ea typeface="宋体" panose="02010600030101010101" pitchFamily="2" charset="-122"/>
              </a:rPr>
              <a:t>Each production rule is associated with a set of semantic rules.</a:t>
            </a:r>
          </a:p>
          <a:p>
            <a:r>
              <a:rPr lang="en-US" altLang="zh-CN" b="1" i="1" smtClean="0">
                <a:solidFill>
                  <a:srgbClr val="CC0000"/>
                </a:solidFill>
                <a:ea typeface="宋体" panose="02010600030101010101" pitchFamily="2" charset="-122"/>
              </a:rPr>
              <a:t>Semantic rules</a:t>
            </a:r>
            <a:r>
              <a:rPr lang="en-US" altLang="zh-CN" smtClean="0">
                <a:ea typeface="宋体" panose="02010600030101010101" pitchFamily="2" charset="-122"/>
              </a:rPr>
              <a:t> set up dependencies between attributes which can be represented by a </a:t>
            </a:r>
            <a:r>
              <a:rPr lang="en-US" altLang="zh-CN" b="1" i="1" smtClean="0">
                <a:solidFill>
                  <a:srgbClr val="660066"/>
                </a:solidFill>
                <a:ea typeface="宋体" panose="02010600030101010101" pitchFamily="2" charset="-122"/>
              </a:rPr>
              <a:t>dependency graph</a:t>
            </a:r>
            <a:r>
              <a:rPr lang="en-US" altLang="zh-CN" smtClean="0">
                <a:ea typeface="宋体" panose="02010600030101010101" pitchFamily="2" charset="-122"/>
              </a:rPr>
              <a:t>. </a:t>
            </a:r>
          </a:p>
          <a:p>
            <a:r>
              <a:rPr lang="en-US" altLang="zh-CN" smtClean="0">
                <a:ea typeface="宋体" panose="02010600030101010101" pitchFamily="2" charset="-122"/>
              </a:rPr>
              <a:t>This </a:t>
            </a:r>
            <a:r>
              <a:rPr lang="en-US" altLang="zh-CN" i="1" smtClean="0">
                <a:ea typeface="宋体" panose="02010600030101010101" pitchFamily="2" charset="-122"/>
              </a:rPr>
              <a:t>dependency graph</a:t>
            </a:r>
            <a:r>
              <a:rPr lang="en-US" altLang="zh-CN" smtClean="0">
                <a:ea typeface="宋体" panose="02010600030101010101" pitchFamily="2" charset="-122"/>
              </a:rPr>
              <a:t> determines the evaluation order of these semantic rules.</a:t>
            </a:r>
          </a:p>
          <a:p>
            <a:r>
              <a:rPr lang="en-US" altLang="zh-CN" smtClean="0">
                <a:ea typeface="宋体" panose="02010600030101010101" pitchFamily="2" charset="-122"/>
              </a:rPr>
              <a:t>Evaluation of a semantic rule defines the value of an attribute. But a semantic rule may also have some side effects such as printing a value.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336899">
                                            <p:txEl>
                                              <p:pRg st="1" end="1"/>
                                            </p:txEl>
                                          </p:spTgt>
                                        </p:tgtEl>
                                        <p:attrNameLst>
                                          <p:attrName>style.visibility</p:attrName>
                                        </p:attrNameLst>
                                      </p:cBhvr>
                                      <p:to>
                                        <p:strVal val="visible"/>
                                      </p:to>
                                    </p:set>
                                    <p:animEffect transition="in" filter="wipe(left)">
                                      <p:cBhvr>
                                        <p:cTn id="7" dur="2000"/>
                                        <p:tgtEl>
                                          <p:spTgt spid="336899">
                                            <p:txEl>
                                              <p:pRg st="1" end="1"/>
                                            </p:txEl>
                                          </p:spTgt>
                                        </p:tgtEl>
                                      </p:cBhvr>
                                    </p:animEffect>
                                  </p:childTnLst>
                                </p:cTn>
                              </p:par>
                            </p:childTnLst>
                          </p:cTn>
                        </p:par>
                        <p:par>
                          <p:cTn id="8" fill="hold" nodeType="afterGroup">
                            <p:stCondLst>
                              <p:cond delay="3000"/>
                            </p:stCondLst>
                            <p:childTnLst>
                              <p:par>
                                <p:cTn id="9" presetID="22" presetClass="entr" presetSubtype="8" fill="hold" nodeType="afterEffect">
                                  <p:stCondLst>
                                    <p:cond delay="2000"/>
                                  </p:stCondLst>
                                  <p:childTnLst>
                                    <p:set>
                                      <p:cBhvr>
                                        <p:cTn id="10" dur="1" fill="hold">
                                          <p:stCondLst>
                                            <p:cond delay="0"/>
                                          </p:stCondLst>
                                        </p:cTn>
                                        <p:tgtEl>
                                          <p:spTgt spid="336899">
                                            <p:txEl>
                                              <p:pRg st="2" end="2"/>
                                            </p:txEl>
                                          </p:spTgt>
                                        </p:tgtEl>
                                        <p:attrNameLst>
                                          <p:attrName>style.visibility</p:attrName>
                                        </p:attrNameLst>
                                      </p:cBhvr>
                                      <p:to>
                                        <p:strVal val="visible"/>
                                      </p:to>
                                    </p:set>
                                    <p:animEffect transition="in" filter="wipe(left)">
                                      <p:cBhvr>
                                        <p:cTn id="11" dur="2000"/>
                                        <p:tgtEl>
                                          <p:spTgt spid="336899">
                                            <p:txEl>
                                              <p:pRg st="2" end="2"/>
                                            </p:txEl>
                                          </p:spTgt>
                                        </p:tgtEl>
                                      </p:cBhvr>
                                    </p:animEffect>
                                  </p:childTnLst>
                                </p:cTn>
                              </p:par>
                            </p:childTnLst>
                          </p:cTn>
                        </p:par>
                        <p:par>
                          <p:cTn id="12" fill="hold" nodeType="afterGroup">
                            <p:stCondLst>
                              <p:cond delay="7000"/>
                            </p:stCondLst>
                            <p:childTnLst>
                              <p:par>
                                <p:cTn id="13" presetID="22" presetClass="entr" presetSubtype="8" fill="hold" nodeType="afterEffect">
                                  <p:stCondLst>
                                    <p:cond delay="2000"/>
                                  </p:stCondLst>
                                  <p:childTnLst>
                                    <p:set>
                                      <p:cBhvr>
                                        <p:cTn id="14" dur="1" fill="hold">
                                          <p:stCondLst>
                                            <p:cond delay="0"/>
                                          </p:stCondLst>
                                        </p:cTn>
                                        <p:tgtEl>
                                          <p:spTgt spid="336899">
                                            <p:txEl>
                                              <p:pRg st="3" end="3"/>
                                            </p:txEl>
                                          </p:spTgt>
                                        </p:tgtEl>
                                        <p:attrNameLst>
                                          <p:attrName>style.visibility</p:attrName>
                                        </p:attrNameLst>
                                      </p:cBhvr>
                                      <p:to>
                                        <p:strVal val="visible"/>
                                      </p:to>
                                    </p:set>
                                    <p:animEffect transition="in" filter="wipe(left)">
                                      <p:cBhvr>
                                        <p:cTn id="15" dur="2000"/>
                                        <p:tgtEl>
                                          <p:spTgt spid="336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819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819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357155D9-AADF-48F9-9E18-D84EE21C5004}" type="slidenum">
              <a:rPr lang="zh-CN" altLang="en-US" sz="800"/>
              <a:pPr>
                <a:spcBef>
                  <a:spcPct val="0"/>
                </a:spcBef>
                <a:buFontTx/>
                <a:buNone/>
              </a:pPr>
              <a:t>7</a:t>
            </a:fld>
            <a:endParaRPr lang="en-US" altLang="zh-CN" sz="800"/>
          </a:p>
        </p:txBody>
      </p:sp>
      <p:sp>
        <p:nvSpPr>
          <p:cNvPr id="8197" name="Rectangle 2"/>
          <p:cNvSpPr>
            <a:spLocks noGrp="1" noChangeArrowheads="1"/>
          </p:cNvSpPr>
          <p:nvPr>
            <p:ph type="title"/>
          </p:nvPr>
        </p:nvSpPr>
        <p:spPr/>
        <p:txBody>
          <a:bodyPr/>
          <a:lstStyle/>
          <a:p>
            <a:r>
              <a:rPr lang="en-US" altLang="zh-CN" sz="2800" smtClean="0">
                <a:ea typeface="宋体" panose="02010600030101010101" pitchFamily="2" charset="-122"/>
              </a:rPr>
              <a:t>Form of a Syntax-Directed Definition</a:t>
            </a:r>
            <a:br>
              <a:rPr lang="en-US" altLang="zh-CN" sz="2800" smtClean="0">
                <a:ea typeface="宋体" panose="02010600030101010101" pitchFamily="2" charset="-122"/>
              </a:rPr>
            </a:br>
            <a:r>
              <a:rPr lang="en-US" altLang="zh-CN" sz="2800" smtClean="0">
                <a:ea typeface="宋体" panose="02010600030101010101" pitchFamily="2" charset="-122"/>
              </a:rPr>
              <a:t>(Semantic Rules)</a:t>
            </a:r>
          </a:p>
        </p:txBody>
      </p:sp>
      <p:sp>
        <p:nvSpPr>
          <p:cNvPr id="338947" name="Rectangle 3"/>
          <p:cNvSpPr>
            <a:spLocks noGrp="1" noChangeArrowheads="1"/>
          </p:cNvSpPr>
          <p:nvPr>
            <p:ph type="body" idx="1"/>
          </p:nvPr>
        </p:nvSpPr>
        <p:spPr>
          <a:xfrm>
            <a:off x="381000" y="1219200"/>
            <a:ext cx="9220200" cy="5029200"/>
          </a:xfrm>
        </p:spPr>
        <p:txBody>
          <a:bodyPr/>
          <a:lstStyle/>
          <a:p>
            <a:r>
              <a:rPr lang="en-US" altLang="zh-CN" smtClean="0">
                <a:ea typeface="宋体" panose="02010600030101010101" pitchFamily="2" charset="-122"/>
              </a:rPr>
              <a:t>In a syntax-directed definition, each production  A</a:t>
            </a:r>
            <a:r>
              <a:rPr lang="en-US" altLang="zh-CN" smtClean="0">
                <a:ea typeface="宋体" panose="02010600030101010101" pitchFamily="2" charset="-122"/>
                <a:cs typeface="Times New Roman" panose="02020603050405020304" pitchFamily="18" charset="0"/>
              </a:rPr>
              <a:t>→</a:t>
            </a:r>
            <a:r>
              <a:rPr lang="el-GR" altLang="zh-CN" smtClean="0">
                <a:cs typeface="Times New Roman" panose="02020603050405020304" pitchFamily="18" charset="0"/>
              </a:rPr>
              <a:t>α</a:t>
            </a:r>
            <a:r>
              <a:rPr lang="en-US" altLang="zh-CN" smtClean="0">
                <a:ea typeface="宋体" panose="02010600030101010101" pitchFamily="2" charset="-122"/>
              </a:rPr>
              <a:t>  is associated with a set of semantic rules of  the form:</a:t>
            </a:r>
          </a:p>
          <a:p>
            <a:pPr>
              <a:buFontTx/>
              <a:buNone/>
            </a:pPr>
            <a:r>
              <a:rPr lang="en-US" altLang="zh-CN" smtClean="0">
                <a:ea typeface="宋体" panose="02010600030101010101" pitchFamily="2" charset="-122"/>
              </a:rPr>
              <a:t>		</a:t>
            </a:r>
            <a:r>
              <a:rPr lang="en-US" altLang="zh-CN" b="1" i="1" smtClean="0">
                <a:solidFill>
                  <a:srgbClr val="660066"/>
                </a:solidFill>
                <a:ea typeface="宋体" panose="02010600030101010101" pitchFamily="2" charset="-122"/>
              </a:rPr>
              <a:t>b=f(c</a:t>
            </a:r>
            <a:r>
              <a:rPr lang="en-US" altLang="zh-CN" b="1" i="1" baseline="-25000" smtClean="0">
                <a:solidFill>
                  <a:srgbClr val="660066"/>
                </a:solidFill>
                <a:ea typeface="宋体" panose="02010600030101010101" pitchFamily="2" charset="-122"/>
              </a:rPr>
              <a:t>1</a:t>
            </a:r>
            <a:r>
              <a:rPr lang="en-US" altLang="zh-CN" b="1" i="1" smtClean="0">
                <a:solidFill>
                  <a:srgbClr val="660066"/>
                </a:solidFill>
                <a:ea typeface="宋体" panose="02010600030101010101" pitchFamily="2" charset="-122"/>
              </a:rPr>
              <a:t>,c</a:t>
            </a:r>
            <a:r>
              <a:rPr lang="en-US" altLang="zh-CN" b="1" i="1" baseline="-25000" smtClean="0">
                <a:solidFill>
                  <a:srgbClr val="660066"/>
                </a:solidFill>
                <a:ea typeface="宋体" panose="02010600030101010101" pitchFamily="2" charset="-122"/>
              </a:rPr>
              <a:t>2</a:t>
            </a:r>
            <a:r>
              <a:rPr lang="en-US" altLang="zh-CN" b="1" i="1" smtClean="0">
                <a:solidFill>
                  <a:srgbClr val="660066"/>
                </a:solidFill>
                <a:ea typeface="宋体" panose="02010600030101010101" pitchFamily="2" charset="-122"/>
              </a:rPr>
              <a:t>,…,c</a:t>
            </a:r>
            <a:r>
              <a:rPr lang="en-US" altLang="zh-CN" b="1" i="1" baseline="-25000" smtClean="0">
                <a:solidFill>
                  <a:srgbClr val="660066"/>
                </a:solidFill>
                <a:ea typeface="宋体" panose="02010600030101010101" pitchFamily="2" charset="-122"/>
              </a:rPr>
              <a:t>n</a:t>
            </a:r>
            <a:r>
              <a:rPr lang="en-US" altLang="zh-CN" b="1" i="1" smtClean="0">
                <a:solidFill>
                  <a:srgbClr val="660066"/>
                </a:solidFill>
                <a:ea typeface="宋体" panose="02010600030101010101" pitchFamily="2" charset="-122"/>
              </a:rPr>
              <a:t>)</a:t>
            </a:r>
            <a:r>
              <a:rPr lang="en-US" altLang="zh-CN" smtClean="0">
                <a:ea typeface="宋体" panose="02010600030101010101" pitchFamily="2" charset="-122"/>
              </a:rPr>
              <a:t>	where </a:t>
            </a:r>
            <a:r>
              <a:rPr lang="en-US" altLang="zh-CN" i="1" smtClean="0">
                <a:ea typeface="宋体" panose="02010600030101010101" pitchFamily="2" charset="-122"/>
              </a:rPr>
              <a:t>f</a:t>
            </a:r>
            <a:r>
              <a:rPr lang="en-US" altLang="zh-CN" smtClean="0">
                <a:ea typeface="宋体" panose="02010600030101010101" pitchFamily="2" charset="-122"/>
              </a:rPr>
              <a:t>  is a function, </a:t>
            </a:r>
          </a:p>
          <a:p>
            <a:pPr>
              <a:buFontTx/>
              <a:buNone/>
            </a:pPr>
            <a:r>
              <a:rPr lang="en-US" altLang="zh-CN" smtClean="0">
                <a:ea typeface="宋体" panose="02010600030101010101" pitchFamily="2" charset="-122"/>
              </a:rPr>
              <a:t>	and </a:t>
            </a:r>
            <a:r>
              <a:rPr lang="en-US" altLang="zh-CN" i="1" smtClean="0">
                <a:ea typeface="宋体" panose="02010600030101010101" pitchFamily="2" charset="-122"/>
              </a:rPr>
              <a:t>b</a:t>
            </a:r>
            <a:r>
              <a:rPr lang="en-US" altLang="zh-CN" smtClean="0">
                <a:ea typeface="宋体" panose="02010600030101010101" pitchFamily="2" charset="-122"/>
              </a:rPr>
              <a:t> can be one of the followings:</a:t>
            </a:r>
          </a:p>
          <a:p>
            <a:pPr>
              <a:buFontTx/>
              <a:buNone/>
            </a:pPr>
            <a:r>
              <a:rPr lang="en-US" altLang="zh-CN" smtClean="0">
                <a:ea typeface="宋体" panose="02010600030101010101" pitchFamily="2" charset="-122"/>
              </a:rPr>
              <a:t>	</a:t>
            </a:r>
            <a:r>
              <a:rPr lang="en-US" altLang="zh-CN" smtClean="0">
                <a:solidFill>
                  <a:schemeClr val="accent2"/>
                </a:solidFill>
                <a:ea typeface="宋体" panose="02010600030101010101" pitchFamily="2" charset="-122"/>
                <a:sym typeface="Wingdings" panose="05000000000000000000" pitchFamily="2" charset="2"/>
              </a:rPr>
              <a:t> 	</a:t>
            </a:r>
            <a:r>
              <a:rPr lang="en-US" altLang="zh-CN" i="1" smtClean="0">
                <a:solidFill>
                  <a:schemeClr val="accent2"/>
                </a:solidFill>
                <a:ea typeface="宋体" panose="02010600030101010101" pitchFamily="2" charset="-122"/>
                <a:sym typeface="Wingdings" panose="05000000000000000000" pitchFamily="2" charset="2"/>
              </a:rPr>
              <a:t>b</a:t>
            </a:r>
            <a:r>
              <a:rPr lang="en-US" altLang="zh-CN" smtClean="0">
                <a:solidFill>
                  <a:schemeClr val="accent2"/>
                </a:solidFill>
                <a:ea typeface="宋体" panose="02010600030101010101" pitchFamily="2" charset="-122"/>
                <a:sym typeface="Wingdings" panose="05000000000000000000" pitchFamily="2" charset="2"/>
              </a:rPr>
              <a:t> is a </a:t>
            </a:r>
            <a:r>
              <a:rPr lang="en-US" altLang="zh-CN" b="1" smtClean="0">
                <a:solidFill>
                  <a:srgbClr val="CC0000"/>
                </a:solidFill>
                <a:ea typeface="宋体" panose="02010600030101010101" pitchFamily="2" charset="-122"/>
                <a:sym typeface="Wingdings" panose="05000000000000000000" pitchFamily="2" charset="2"/>
              </a:rPr>
              <a:t>synthesized attribute</a:t>
            </a:r>
            <a:r>
              <a:rPr lang="en-US" altLang="zh-CN" smtClean="0">
                <a:solidFill>
                  <a:schemeClr val="accent2"/>
                </a:solidFill>
                <a:ea typeface="宋体" panose="02010600030101010101" pitchFamily="2" charset="-122"/>
                <a:sym typeface="Wingdings" panose="05000000000000000000" pitchFamily="2" charset="2"/>
              </a:rPr>
              <a:t> of A and </a:t>
            </a:r>
            <a:r>
              <a:rPr lang="en-US" altLang="zh-CN" i="1" smtClean="0">
                <a:solidFill>
                  <a:schemeClr val="accent2"/>
                </a:solidFill>
                <a:ea typeface="宋体" panose="02010600030101010101" pitchFamily="2" charset="-122"/>
              </a:rPr>
              <a:t>c</a:t>
            </a:r>
            <a:r>
              <a:rPr lang="en-US" altLang="zh-CN" i="1" baseline="-25000" smtClean="0">
                <a:solidFill>
                  <a:schemeClr val="accent2"/>
                </a:solidFill>
                <a:ea typeface="宋体" panose="02010600030101010101" pitchFamily="2" charset="-122"/>
              </a:rPr>
              <a:t>1</a:t>
            </a:r>
            <a:r>
              <a:rPr lang="en-US" altLang="zh-CN" i="1" smtClean="0">
                <a:solidFill>
                  <a:schemeClr val="accent2"/>
                </a:solidFill>
                <a:ea typeface="宋体" panose="02010600030101010101" pitchFamily="2" charset="-122"/>
              </a:rPr>
              <a:t>,c</a:t>
            </a:r>
            <a:r>
              <a:rPr lang="en-US" altLang="zh-CN" i="1" baseline="-25000" smtClean="0">
                <a:solidFill>
                  <a:schemeClr val="accent2"/>
                </a:solidFill>
                <a:ea typeface="宋体" panose="02010600030101010101" pitchFamily="2" charset="-122"/>
              </a:rPr>
              <a:t>2</a:t>
            </a:r>
            <a:r>
              <a:rPr lang="en-US" altLang="zh-CN" i="1" smtClean="0">
                <a:solidFill>
                  <a:schemeClr val="accent2"/>
                </a:solidFill>
                <a:ea typeface="宋体" panose="02010600030101010101" pitchFamily="2" charset="-122"/>
              </a:rPr>
              <a:t>,…,c</a:t>
            </a:r>
            <a:r>
              <a:rPr lang="en-US" altLang="zh-CN" i="1" baseline="-25000" smtClean="0">
                <a:solidFill>
                  <a:schemeClr val="accent2"/>
                </a:solidFill>
                <a:ea typeface="宋体" panose="02010600030101010101" pitchFamily="2" charset="-122"/>
              </a:rPr>
              <a:t>n</a:t>
            </a:r>
            <a:r>
              <a:rPr lang="en-US" altLang="zh-CN" smtClean="0">
                <a:solidFill>
                  <a:schemeClr val="accent2"/>
                </a:solidFill>
                <a:ea typeface="宋体" panose="02010600030101010101" pitchFamily="2" charset="-122"/>
                <a:sym typeface="Wingdings" panose="05000000000000000000" pitchFamily="2" charset="2"/>
              </a:rPr>
              <a:t> are attributes of 	the grammar symbols in the production ( </a:t>
            </a:r>
            <a:r>
              <a:rPr lang="en-US" altLang="zh-CN" smtClean="0">
                <a:solidFill>
                  <a:schemeClr val="accent2"/>
                </a:solidFill>
                <a:ea typeface="宋体" panose="02010600030101010101" pitchFamily="2" charset="-122"/>
              </a:rPr>
              <a:t>A→</a:t>
            </a:r>
            <a:r>
              <a:rPr lang="el-GR" altLang="zh-CN" smtClean="0">
                <a:solidFill>
                  <a:schemeClr val="accent2"/>
                </a:solidFill>
                <a:cs typeface="Times New Roman" panose="02020603050405020304" pitchFamily="18" charset="0"/>
              </a:rPr>
              <a:t>α</a:t>
            </a:r>
            <a:r>
              <a:rPr lang="en-US" altLang="zh-CN" smtClean="0">
                <a:solidFill>
                  <a:schemeClr val="accent2"/>
                </a:solidFill>
                <a:ea typeface="宋体" panose="02010600030101010101" pitchFamily="2" charset="-122"/>
              </a:rPr>
              <a:t> )</a:t>
            </a:r>
            <a:r>
              <a:rPr lang="en-US" altLang="zh-CN" smtClean="0">
                <a:solidFill>
                  <a:schemeClr val="accent2"/>
                </a:solidFill>
                <a:ea typeface="宋体" panose="02010600030101010101" pitchFamily="2" charset="-122"/>
                <a:sym typeface="Wingdings" panose="05000000000000000000" pitchFamily="2" charset="2"/>
              </a:rPr>
              <a:t>.</a:t>
            </a:r>
          </a:p>
          <a:p>
            <a:pPr>
              <a:buFontTx/>
              <a:buNone/>
            </a:pPr>
            <a:r>
              <a:rPr lang="en-US" altLang="zh-CN" smtClean="0">
                <a:solidFill>
                  <a:schemeClr val="accent2"/>
                </a:solidFill>
                <a:ea typeface="宋体" panose="02010600030101010101" pitchFamily="2" charset="-122"/>
                <a:sym typeface="Wingdings" panose="05000000000000000000" pitchFamily="2" charset="2"/>
              </a:rPr>
              <a:t>	OR</a:t>
            </a:r>
          </a:p>
          <a:p>
            <a:pPr>
              <a:buFontTx/>
              <a:buNone/>
            </a:pPr>
            <a:r>
              <a:rPr lang="en-US" altLang="zh-CN" smtClean="0">
                <a:solidFill>
                  <a:schemeClr val="accent2"/>
                </a:solidFill>
                <a:ea typeface="宋体" panose="02010600030101010101" pitchFamily="2" charset="-122"/>
                <a:sym typeface="Wingdings" panose="05000000000000000000" pitchFamily="2" charset="2"/>
              </a:rPr>
              <a:t>		</a:t>
            </a:r>
            <a:r>
              <a:rPr lang="en-US" altLang="zh-CN" i="1" smtClean="0">
                <a:solidFill>
                  <a:schemeClr val="accent2"/>
                </a:solidFill>
                <a:ea typeface="宋体" panose="02010600030101010101" pitchFamily="2" charset="-122"/>
                <a:sym typeface="Wingdings" panose="05000000000000000000" pitchFamily="2" charset="2"/>
              </a:rPr>
              <a:t>b</a:t>
            </a:r>
            <a:r>
              <a:rPr lang="en-US" altLang="zh-CN" smtClean="0">
                <a:solidFill>
                  <a:schemeClr val="accent2"/>
                </a:solidFill>
                <a:ea typeface="宋体" panose="02010600030101010101" pitchFamily="2" charset="-122"/>
                <a:sym typeface="Wingdings" panose="05000000000000000000" pitchFamily="2" charset="2"/>
              </a:rPr>
              <a:t> is an </a:t>
            </a:r>
            <a:r>
              <a:rPr lang="en-US" altLang="zh-CN" b="1" smtClean="0">
                <a:solidFill>
                  <a:srgbClr val="CC0000"/>
                </a:solidFill>
                <a:ea typeface="宋体" panose="02010600030101010101" pitchFamily="2" charset="-122"/>
                <a:sym typeface="Wingdings" panose="05000000000000000000" pitchFamily="2" charset="2"/>
              </a:rPr>
              <a:t>inherited attribute</a:t>
            </a:r>
            <a:r>
              <a:rPr lang="en-US" altLang="zh-CN" smtClean="0">
                <a:solidFill>
                  <a:schemeClr val="accent2"/>
                </a:solidFill>
                <a:ea typeface="宋体" panose="02010600030101010101" pitchFamily="2" charset="-122"/>
                <a:sym typeface="Wingdings" panose="05000000000000000000" pitchFamily="2" charset="2"/>
              </a:rPr>
              <a:t> of one of the grammar symbols in </a:t>
            </a:r>
            <a:r>
              <a:rPr lang="el-GR" altLang="zh-CN" smtClean="0">
                <a:solidFill>
                  <a:schemeClr val="accent2"/>
                </a:solidFill>
                <a:cs typeface="Times New Roman" panose="02020603050405020304" pitchFamily="18" charset="0"/>
              </a:rPr>
              <a:t>α</a:t>
            </a:r>
            <a:r>
              <a:rPr lang="en-US" altLang="zh-CN" smtClean="0">
                <a:solidFill>
                  <a:schemeClr val="accent2"/>
                </a:solidFill>
                <a:ea typeface="宋体" panose="02010600030101010101" pitchFamily="2" charset="-122"/>
              </a:rPr>
              <a:t> 	(on the right side of the production), and </a:t>
            </a:r>
            <a:r>
              <a:rPr lang="en-US" altLang="zh-CN" i="1" smtClean="0">
                <a:solidFill>
                  <a:schemeClr val="accent2"/>
                </a:solidFill>
                <a:ea typeface="宋体" panose="02010600030101010101" pitchFamily="2" charset="-122"/>
              </a:rPr>
              <a:t>c</a:t>
            </a:r>
            <a:r>
              <a:rPr lang="en-US" altLang="zh-CN" i="1" baseline="-25000" smtClean="0">
                <a:solidFill>
                  <a:schemeClr val="accent2"/>
                </a:solidFill>
                <a:ea typeface="宋体" panose="02010600030101010101" pitchFamily="2" charset="-122"/>
              </a:rPr>
              <a:t>1</a:t>
            </a:r>
            <a:r>
              <a:rPr lang="en-US" altLang="zh-CN" i="1" smtClean="0">
                <a:solidFill>
                  <a:schemeClr val="accent2"/>
                </a:solidFill>
                <a:ea typeface="宋体" panose="02010600030101010101" pitchFamily="2" charset="-122"/>
              </a:rPr>
              <a:t>,c</a:t>
            </a:r>
            <a:r>
              <a:rPr lang="en-US" altLang="zh-CN" i="1" baseline="-25000" smtClean="0">
                <a:solidFill>
                  <a:schemeClr val="accent2"/>
                </a:solidFill>
                <a:ea typeface="宋体" panose="02010600030101010101" pitchFamily="2" charset="-122"/>
              </a:rPr>
              <a:t>2</a:t>
            </a:r>
            <a:r>
              <a:rPr lang="en-US" altLang="zh-CN" i="1" smtClean="0">
                <a:solidFill>
                  <a:schemeClr val="accent2"/>
                </a:solidFill>
                <a:ea typeface="宋体" panose="02010600030101010101" pitchFamily="2" charset="-122"/>
              </a:rPr>
              <a:t>,…,c</a:t>
            </a:r>
            <a:r>
              <a:rPr lang="en-US" altLang="zh-CN" i="1" baseline="-25000" smtClean="0">
                <a:solidFill>
                  <a:schemeClr val="accent2"/>
                </a:solidFill>
                <a:ea typeface="宋体" panose="02010600030101010101" pitchFamily="2" charset="-122"/>
              </a:rPr>
              <a:t>n</a:t>
            </a:r>
            <a:r>
              <a:rPr lang="en-US" altLang="zh-CN" smtClean="0">
                <a:solidFill>
                  <a:schemeClr val="accent2"/>
                </a:solidFill>
                <a:ea typeface="宋体" panose="02010600030101010101" pitchFamily="2" charset="-122"/>
                <a:sym typeface="Wingdings" panose="05000000000000000000" pitchFamily="2" charset="2"/>
              </a:rPr>
              <a:t> are attributes 	of the grammar symbols in the production ( </a:t>
            </a:r>
            <a:r>
              <a:rPr lang="en-US" altLang="zh-CN" smtClean="0">
                <a:solidFill>
                  <a:schemeClr val="accent2"/>
                </a:solidFill>
                <a:ea typeface="宋体" panose="02010600030101010101" pitchFamily="2" charset="-122"/>
              </a:rPr>
              <a:t>A→</a:t>
            </a:r>
            <a:r>
              <a:rPr lang="el-GR" altLang="zh-CN" smtClean="0">
                <a:solidFill>
                  <a:schemeClr val="accent2"/>
                </a:solidFill>
                <a:cs typeface="Times New Roman" panose="02020603050405020304" pitchFamily="18" charset="0"/>
              </a:rPr>
              <a:t>α</a:t>
            </a:r>
            <a:r>
              <a:rPr lang="en-US" altLang="zh-CN" smtClean="0">
                <a:solidFill>
                  <a:schemeClr val="accent2"/>
                </a:solidFill>
                <a:ea typeface="宋体" panose="02010600030101010101" pitchFamily="2" charset="-122"/>
              </a:rPr>
              <a:t> )</a:t>
            </a:r>
            <a:r>
              <a:rPr lang="en-US" altLang="zh-CN" smtClean="0">
                <a:solidFill>
                  <a:schemeClr val="accent2"/>
                </a:solidFill>
                <a:ea typeface="宋体" panose="02010600030101010101" pitchFamily="2" charset="-122"/>
                <a:sym typeface="Wingdings" panose="05000000000000000000" pitchFamily="2" charset="2"/>
              </a:rPr>
              <a:t>.</a:t>
            </a:r>
            <a:endParaRPr lang="el-GR" altLang="zh-CN" smtClean="0">
              <a:solidFill>
                <a:schemeClr val="accent2"/>
              </a:solidFill>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338947">
                                            <p:txEl>
                                              <p:pRg st="3" end="3"/>
                                            </p:txEl>
                                          </p:spTgt>
                                        </p:tgtEl>
                                        <p:attrNameLst>
                                          <p:attrName>style.visibility</p:attrName>
                                        </p:attrNameLst>
                                      </p:cBhvr>
                                      <p:to>
                                        <p:strVal val="visible"/>
                                      </p:to>
                                    </p:set>
                                    <p:animEffect transition="in" filter="wipe(left)">
                                      <p:cBhvr>
                                        <p:cTn id="7" dur="2000"/>
                                        <p:tgtEl>
                                          <p:spTgt spid="338947">
                                            <p:txEl>
                                              <p:pRg st="3" end="3"/>
                                            </p:txEl>
                                          </p:spTgt>
                                        </p:tgtEl>
                                      </p:cBhvr>
                                    </p:animEffect>
                                  </p:childTnLst>
                                </p:cTn>
                              </p:par>
                            </p:childTnLst>
                          </p:cTn>
                        </p:par>
                        <p:par>
                          <p:cTn id="8" fill="hold" nodeType="afterGroup">
                            <p:stCondLst>
                              <p:cond delay="4000"/>
                            </p:stCondLst>
                            <p:childTnLst>
                              <p:par>
                                <p:cTn id="9" presetID="22" presetClass="entr" presetSubtype="8" fill="hold" nodeType="afterEffect">
                                  <p:stCondLst>
                                    <p:cond delay="1000"/>
                                  </p:stCondLst>
                                  <p:childTnLst>
                                    <p:set>
                                      <p:cBhvr>
                                        <p:cTn id="10" dur="1" fill="hold">
                                          <p:stCondLst>
                                            <p:cond delay="0"/>
                                          </p:stCondLst>
                                        </p:cTn>
                                        <p:tgtEl>
                                          <p:spTgt spid="338947">
                                            <p:txEl>
                                              <p:pRg st="4" end="4"/>
                                            </p:txEl>
                                          </p:spTgt>
                                        </p:tgtEl>
                                        <p:attrNameLst>
                                          <p:attrName>style.visibility</p:attrName>
                                        </p:attrNameLst>
                                      </p:cBhvr>
                                      <p:to>
                                        <p:strVal val="visible"/>
                                      </p:to>
                                    </p:set>
                                    <p:animEffect transition="in" filter="wipe(left)">
                                      <p:cBhvr>
                                        <p:cTn id="11" dur="2000"/>
                                        <p:tgtEl>
                                          <p:spTgt spid="338947">
                                            <p:txEl>
                                              <p:pRg st="4" end="4"/>
                                            </p:txEl>
                                          </p:spTgt>
                                        </p:tgtEl>
                                      </p:cBhvr>
                                    </p:animEffect>
                                  </p:childTnLst>
                                </p:cTn>
                              </p:par>
                              <p:par>
                                <p:cTn id="12" presetID="22" presetClass="entr" presetSubtype="8" fill="hold" nodeType="withEffect">
                                  <p:stCondLst>
                                    <p:cond delay="0"/>
                                  </p:stCondLst>
                                  <p:childTnLst>
                                    <p:set>
                                      <p:cBhvr>
                                        <p:cTn id="13" dur="1" fill="hold">
                                          <p:stCondLst>
                                            <p:cond delay="0"/>
                                          </p:stCondLst>
                                        </p:cTn>
                                        <p:tgtEl>
                                          <p:spTgt spid="338947">
                                            <p:txEl>
                                              <p:pRg st="5" end="5"/>
                                            </p:txEl>
                                          </p:spTgt>
                                        </p:tgtEl>
                                        <p:attrNameLst>
                                          <p:attrName>style.visibility</p:attrName>
                                        </p:attrNameLst>
                                      </p:cBhvr>
                                      <p:to>
                                        <p:strVal val="visible"/>
                                      </p:to>
                                    </p:set>
                                    <p:animEffect transition="in" filter="wipe(left)">
                                      <p:cBhvr>
                                        <p:cTn id="14" dur="2000"/>
                                        <p:tgtEl>
                                          <p:spTgt spid="3389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921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922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99A325F9-753E-44CC-89B0-6DEC99762EF8}" type="slidenum">
              <a:rPr lang="zh-CN" altLang="en-US" sz="800"/>
              <a:pPr>
                <a:spcBef>
                  <a:spcPct val="0"/>
                </a:spcBef>
                <a:buFontTx/>
                <a:buNone/>
              </a:pPr>
              <a:t>8</a:t>
            </a:fld>
            <a:endParaRPr lang="en-US" altLang="zh-CN" sz="800"/>
          </a:p>
        </p:txBody>
      </p:sp>
      <p:sp>
        <p:nvSpPr>
          <p:cNvPr id="9221"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Attribute Grammars </a:t>
            </a:r>
            <a:r>
              <a:rPr lang="en-US" altLang="zh-CN" smtClean="0">
                <a:ea typeface="宋体" panose="02010600030101010101" pitchFamily="2" charset="-122"/>
              </a:rPr>
              <a:t>(P.280)</a:t>
            </a:r>
            <a:endParaRPr lang="en-US" altLang="zh-TW" smtClean="0">
              <a:ea typeface="宋体" panose="02010600030101010101" pitchFamily="2" charset="-122"/>
            </a:endParaRPr>
          </a:p>
        </p:txBody>
      </p:sp>
      <p:sp>
        <p:nvSpPr>
          <p:cNvPr id="9222" name="Rectangle 3"/>
          <p:cNvSpPr>
            <a:spLocks noGrp="1" noChangeArrowheads="1"/>
          </p:cNvSpPr>
          <p:nvPr>
            <p:ph type="body" idx="1"/>
          </p:nvPr>
        </p:nvSpPr>
        <p:spPr>
          <a:xfrm>
            <a:off x="685800" y="1524000"/>
            <a:ext cx="8686800" cy="4800600"/>
          </a:xfrm>
        </p:spPr>
        <p:txBody>
          <a:bodyPr/>
          <a:lstStyle/>
          <a:p>
            <a:r>
              <a:rPr lang="en-US" altLang="zh-TW" smtClean="0">
                <a:ea typeface="PMingLiU" pitchFamily="18" charset="-120"/>
              </a:rPr>
              <a:t>Each </a:t>
            </a:r>
            <a:r>
              <a:rPr lang="en-US" altLang="zh-TW" smtClean="0">
                <a:solidFill>
                  <a:schemeClr val="accent2"/>
                </a:solidFill>
                <a:ea typeface="PMingLiU" pitchFamily="18" charset="-120"/>
              </a:rPr>
              <a:t>grammar symbol</a:t>
            </a:r>
            <a:r>
              <a:rPr lang="en-US" altLang="zh-TW" smtClean="0">
                <a:ea typeface="PMingLiU" pitchFamily="18" charset="-120"/>
              </a:rPr>
              <a:t> is associated with a set of semantic attributes</a:t>
            </a:r>
            <a:endParaRPr lang="en-US" altLang="zh-CN" smtClean="0">
              <a:ea typeface="宋体" panose="02010600030101010101" pitchFamily="2" charset="-122"/>
            </a:endParaRPr>
          </a:p>
          <a:p>
            <a:endParaRPr lang="en-US" altLang="zh-TW" smtClean="0">
              <a:ea typeface="PMingLiU" pitchFamily="18" charset="-120"/>
            </a:endParaRPr>
          </a:p>
          <a:p>
            <a:r>
              <a:rPr lang="en-US" altLang="zh-TW" smtClean="0">
                <a:ea typeface="PMingLiU" pitchFamily="18" charset="-120"/>
              </a:rPr>
              <a:t>Each</a:t>
            </a:r>
            <a:r>
              <a:rPr lang="en-US" altLang="zh-TW" smtClean="0">
                <a:solidFill>
                  <a:schemeClr val="accent2"/>
                </a:solidFill>
                <a:ea typeface="PMingLiU" pitchFamily="18" charset="-120"/>
              </a:rPr>
              <a:t> production</a:t>
            </a:r>
            <a:r>
              <a:rPr lang="en-US" altLang="zh-TW" smtClean="0">
                <a:ea typeface="PMingLiU" pitchFamily="18" charset="-120"/>
              </a:rPr>
              <a:t> is associated with a set of semantic rules for computing semantic attributes</a:t>
            </a:r>
            <a:endParaRPr lang="en-US" altLang="zh-CN" smtClean="0">
              <a:ea typeface="PMingLiU" pitchFamily="18" charset="-120"/>
            </a:endParaRPr>
          </a:p>
          <a:p>
            <a:endParaRPr lang="en-US" altLang="zh-CN" smtClean="0">
              <a:ea typeface="PMingLiU" pitchFamily="18" charset="-120"/>
            </a:endParaRPr>
          </a:p>
          <a:p>
            <a:r>
              <a:rPr lang="en-US" altLang="zh-CN" smtClean="0">
                <a:ea typeface="PMingLiU" pitchFamily="18" charset="-120"/>
              </a:rPr>
              <a:t>A</a:t>
            </a:r>
            <a:r>
              <a:rPr lang="en-US" altLang="zh-TW" smtClean="0">
                <a:ea typeface="PMingLiU" pitchFamily="18" charset="-120"/>
              </a:rPr>
              <a:t> </a:t>
            </a:r>
            <a:r>
              <a:rPr lang="en-US" altLang="zh-TW" smtClean="0">
                <a:solidFill>
                  <a:schemeClr val="accent2"/>
                </a:solidFill>
                <a:ea typeface="PMingLiU" pitchFamily="18" charset="-120"/>
              </a:rPr>
              <a:t>context free grammar</a:t>
            </a:r>
            <a:r>
              <a:rPr lang="en-US" altLang="zh-TW" smtClean="0">
                <a:ea typeface="PMingLiU" pitchFamily="18" charset="-120"/>
              </a:rPr>
              <a:t> </a:t>
            </a:r>
            <a:r>
              <a:rPr lang="en-US" altLang="zh-CN" smtClean="0">
                <a:ea typeface="PMingLiU" pitchFamily="18" charset="-120"/>
              </a:rPr>
              <a:t>is </a:t>
            </a:r>
            <a:r>
              <a:rPr lang="en-US" altLang="zh-TW" smtClean="0">
                <a:ea typeface="PMingLiU" pitchFamily="18" charset="-120"/>
              </a:rPr>
              <a:t>associated </a:t>
            </a:r>
            <a:r>
              <a:rPr lang="en-US" altLang="zh-CN" smtClean="0">
                <a:ea typeface="PMingLiU" pitchFamily="18" charset="-120"/>
              </a:rPr>
              <a:t>with a</a:t>
            </a:r>
            <a:r>
              <a:rPr lang="en-US" altLang="zh-TW" smtClean="0">
                <a:ea typeface="PMingLiU" pitchFamily="18" charset="-120"/>
              </a:rPr>
              <a:t>n attribute grammar </a:t>
            </a:r>
            <a:r>
              <a:rPr lang="en-US" altLang="zh-CN" smtClean="0">
                <a:ea typeface="PMingLiU" pitchFamily="18" charset="-120"/>
              </a:rPr>
              <a:t>for </a:t>
            </a:r>
            <a:r>
              <a:rPr lang="en-US" altLang="zh-TW" smtClean="0">
                <a:ea typeface="PMingLiU" pitchFamily="18" charset="-120"/>
              </a:rPr>
              <a:t>semantic attributes and semantic rules</a:t>
            </a:r>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024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024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4437D31C-A5ED-4EF2-BB04-DFA0C0860FFD}" type="slidenum">
              <a:rPr lang="zh-CN" altLang="en-US" sz="800"/>
              <a:pPr>
                <a:spcBef>
                  <a:spcPct val="0"/>
                </a:spcBef>
                <a:buFontTx/>
                <a:buNone/>
              </a:pPr>
              <a:t>9</a:t>
            </a:fld>
            <a:endParaRPr lang="en-US" altLang="zh-CN" sz="800"/>
          </a:p>
        </p:txBody>
      </p:sp>
      <p:sp>
        <p:nvSpPr>
          <p:cNvPr id="10245" name="Rectangle 2"/>
          <p:cNvSpPr>
            <a:spLocks noGrp="1" noChangeArrowheads="1"/>
          </p:cNvSpPr>
          <p:nvPr>
            <p:ph type="title"/>
          </p:nvPr>
        </p:nvSpPr>
        <p:spPr/>
        <p:txBody>
          <a:bodyPr/>
          <a:lstStyle/>
          <a:p>
            <a:r>
              <a:rPr lang="en-US" altLang="zh-CN" smtClean="0">
                <a:ea typeface="宋体" panose="02010600030101010101" pitchFamily="2" charset="-122"/>
              </a:rPr>
              <a:t>Attribute Grammar (cont.)</a:t>
            </a:r>
          </a:p>
        </p:txBody>
      </p:sp>
      <p:sp>
        <p:nvSpPr>
          <p:cNvPr id="10246" name="Rectangle 3"/>
          <p:cNvSpPr>
            <a:spLocks noGrp="1" noChangeArrowheads="1"/>
          </p:cNvSpPr>
          <p:nvPr>
            <p:ph type="body" idx="1"/>
          </p:nvPr>
        </p:nvSpPr>
        <p:spPr>
          <a:xfrm>
            <a:off x="381000" y="1219200"/>
            <a:ext cx="8991600" cy="5105400"/>
          </a:xfrm>
        </p:spPr>
        <p:txBody>
          <a:bodyPr/>
          <a:lstStyle/>
          <a:p>
            <a:r>
              <a:rPr lang="en-US" altLang="zh-CN" smtClean="0">
                <a:ea typeface="宋体" panose="02010600030101010101" pitchFamily="2" charset="-122"/>
              </a:rPr>
              <a:t>So, a semantic rule </a:t>
            </a:r>
            <a:r>
              <a:rPr lang="en-US" altLang="zh-CN" i="1" smtClean="0">
                <a:ea typeface="宋体" panose="02010600030101010101" pitchFamily="2" charset="-122"/>
                <a:cs typeface="Times New Roman" panose="02020603050405020304" pitchFamily="18" charset="0"/>
              </a:rPr>
              <a:t>b=f(c</a:t>
            </a:r>
            <a:r>
              <a:rPr lang="en-US" altLang="zh-CN" i="1" baseline="-25000" smtClean="0">
                <a:ea typeface="宋体" panose="02010600030101010101" pitchFamily="2" charset="-122"/>
                <a:cs typeface="Times New Roman" panose="02020603050405020304" pitchFamily="18" charset="0"/>
              </a:rPr>
              <a:t>1</a:t>
            </a:r>
            <a:r>
              <a:rPr lang="en-US" altLang="zh-CN" i="1" smtClean="0">
                <a:ea typeface="宋体" panose="02010600030101010101" pitchFamily="2" charset="-122"/>
                <a:cs typeface="Times New Roman" panose="02020603050405020304" pitchFamily="18" charset="0"/>
              </a:rPr>
              <a:t>,c</a:t>
            </a:r>
            <a:r>
              <a:rPr lang="en-US" altLang="zh-CN" i="1" baseline="-25000" smtClean="0">
                <a:ea typeface="宋体" panose="02010600030101010101" pitchFamily="2" charset="-122"/>
                <a:cs typeface="Times New Roman" panose="02020603050405020304" pitchFamily="18" charset="0"/>
              </a:rPr>
              <a:t>2</a:t>
            </a:r>
            <a:r>
              <a:rPr lang="en-US" altLang="zh-CN" i="1" smtClean="0">
                <a:ea typeface="宋体" panose="02010600030101010101" pitchFamily="2" charset="-122"/>
                <a:cs typeface="Times New Roman" panose="02020603050405020304" pitchFamily="18" charset="0"/>
              </a:rPr>
              <a:t>,…,c</a:t>
            </a:r>
            <a:r>
              <a:rPr lang="en-US" altLang="zh-CN" i="1" baseline="-25000" smtClean="0">
                <a:ea typeface="宋体" panose="02010600030101010101" pitchFamily="2" charset="-122"/>
                <a:cs typeface="Times New Roman" panose="02020603050405020304" pitchFamily="18" charset="0"/>
              </a:rPr>
              <a:t>n</a:t>
            </a:r>
            <a:r>
              <a:rPr lang="en-US" altLang="zh-CN" i="1" smtClean="0">
                <a:ea typeface="宋体" panose="02010600030101010101" pitchFamily="2" charset="-122"/>
                <a:cs typeface="Times New Roman" panose="02020603050405020304" pitchFamily="18" charset="0"/>
              </a:rPr>
              <a:t>)  </a:t>
            </a:r>
            <a:r>
              <a:rPr lang="en-US" altLang="zh-CN" smtClean="0">
                <a:ea typeface="宋体" panose="02010600030101010101" pitchFamily="2" charset="-122"/>
                <a:cs typeface="Times New Roman" panose="02020603050405020304" pitchFamily="18" charset="0"/>
              </a:rPr>
              <a:t>indicates that the attribute b </a:t>
            </a:r>
            <a:r>
              <a:rPr lang="en-US" altLang="zh-CN" i="1" smtClean="0">
                <a:ea typeface="宋体" panose="02010600030101010101" pitchFamily="2" charset="-122"/>
                <a:cs typeface="Times New Roman" panose="02020603050405020304" pitchFamily="18" charset="0"/>
              </a:rPr>
              <a:t>depends</a:t>
            </a:r>
            <a:r>
              <a:rPr lang="en-US" altLang="zh-CN" smtClean="0">
                <a:ea typeface="宋体" panose="02010600030101010101" pitchFamily="2" charset="-122"/>
                <a:cs typeface="Times New Roman" panose="02020603050405020304" pitchFamily="18" charset="0"/>
              </a:rPr>
              <a:t> o</a:t>
            </a:r>
            <a:r>
              <a:rPr lang="en-US" altLang="zh-CN" i="1" smtClean="0">
                <a:ea typeface="宋体" panose="02010600030101010101" pitchFamily="2" charset="-122"/>
                <a:cs typeface="Times New Roman" panose="02020603050405020304" pitchFamily="18" charset="0"/>
              </a:rPr>
              <a:t>n</a:t>
            </a:r>
            <a:r>
              <a:rPr lang="en-US" altLang="zh-CN" smtClean="0">
                <a:ea typeface="宋体" panose="02010600030101010101" pitchFamily="2" charset="-122"/>
                <a:cs typeface="Times New Roman" panose="02020603050405020304" pitchFamily="18" charset="0"/>
              </a:rPr>
              <a:t>  attributes </a:t>
            </a:r>
            <a:r>
              <a:rPr lang="en-US" altLang="zh-CN" i="1" smtClean="0">
                <a:ea typeface="宋体" panose="02010600030101010101" pitchFamily="2" charset="-122"/>
                <a:cs typeface="Times New Roman" panose="02020603050405020304" pitchFamily="18" charset="0"/>
              </a:rPr>
              <a:t>c</a:t>
            </a:r>
            <a:r>
              <a:rPr lang="en-US" altLang="zh-CN" i="1" baseline="-25000" smtClean="0">
                <a:ea typeface="宋体" panose="02010600030101010101" pitchFamily="2" charset="-122"/>
                <a:cs typeface="Times New Roman" panose="02020603050405020304" pitchFamily="18" charset="0"/>
              </a:rPr>
              <a:t>1</a:t>
            </a:r>
            <a:r>
              <a:rPr lang="en-US" altLang="zh-CN" i="1" smtClean="0">
                <a:ea typeface="宋体" panose="02010600030101010101" pitchFamily="2" charset="-122"/>
                <a:cs typeface="Times New Roman" panose="02020603050405020304" pitchFamily="18" charset="0"/>
              </a:rPr>
              <a:t>,c</a:t>
            </a:r>
            <a:r>
              <a:rPr lang="en-US" altLang="zh-CN" i="1" baseline="-25000" smtClean="0">
                <a:ea typeface="宋体" panose="02010600030101010101" pitchFamily="2" charset="-122"/>
                <a:cs typeface="Times New Roman" panose="02020603050405020304" pitchFamily="18" charset="0"/>
              </a:rPr>
              <a:t>2</a:t>
            </a:r>
            <a:r>
              <a:rPr lang="en-US" altLang="zh-CN" i="1" smtClean="0">
                <a:ea typeface="宋体" panose="02010600030101010101" pitchFamily="2" charset="-122"/>
                <a:cs typeface="Times New Roman" panose="02020603050405020304" pitchFamily="18" charset="0"/>
              </a:rPr>
              <a:t>,…,c</a:t>
            </a:r>
            <a:r>
              <a:rPr lang="en-US" altLang="zh-CN" i="1" baseline="-25000" smtClean="0">
                <a:ea typeface="宋体" panose="02010600030101010101" pitchFamily="2" charset="-122"/>
                <a:cs typeface="Times New Roman" panose="02020603050405020304" pitchFamily="18" charset="0"/>
              </a:rPr>
              <a:t>n</a:t>
            </a:r>
            <a:r>
              <a:rPr lang="en-US" altLang="zh-CN" i="1" smtClean="0">
                <a:ea typeface="宋体" panose="02010600030101010101" pitchFamily="2" charset="-122"/>
                <a:cs typeface="Times New Roman" panose="02020603050405020304" pitchFamily="18" charset="0"/>
              </a:rPr>
              <a:t>.</a:t>
            </a:r>
          </a:p>
          <a:p>
            <a:r>
              <a:rPr lang="en-US" altLang="zh-CN" smtClean="0">
                <a:ea typeface="宋体" panose="02010600030101010101" pitchFamily="2" charset="-122"/>
                <a:cs typeface="Times New Roman" panose="02020603050405020304" pitchFamily="18" charset="0"/>
              </a:rPr>
              <a:t>In a </a:t>
            </a:r>
            <a:r>
              <a:rPr lang="en-US" altLang="zh-CN" b="1" smtClean="0">
                <a:solidFill>
                  <a:srgbClr val="0000CC"/>
                </a:solidFill>
                <a:ea typeface="宋体" panose="02010600030101010101" pitchFamily="2" charset="-122"/>
                <a:cs typeface="Times New Roman" panose="02020603050405020304" pitchFamily="18" charset="0"/>
              </a:rPr>
              <a:t>syntax-directed definition</a:t>
            </a:r>
            <a:r>
              <a:rPr lang="en-US" altLang="zh-CN" smtClean="0">
                <a:ea typeface="宋体" panose="02010600030101010101" pitchFamily="2" charset="-122"/>
                <a:cs typeface="Times New Roman" panose="02020603050405020304" pitchFamily="18" charset="0"/>
              </a:rPr>
              <a:t>, a semantic rule may just evaluate           a value of an attribute or it may have some side effects such as    printing values.</a:t>
            </a:r>
          </a:p>
          <a:p>
            <a:endParaRPr lang="en-US" altLang="zh-CN" smtClean="0">
              <a:ea typeface="宋体" panose="02010600030101010101" pitchFamily="2" charset="-122"/>
              <a:cs typeface="Times New Roman" panose="02020603050405020304" pitchFamily="18" charset="0"/>
            </a:endParaRPr>
          </a:p>
          <a:p>
            <a:r>
              <a:rPr lang="en-US" altLang="zh-CN" smtClean="0">
                <a:ea typeface="宋体" panose="02010600030101010101" pitchFamily="2" charset="-122"/>
                <a:cs typeface="Times New Roman" panose="02020603050405020304" pitchFamily="18" charset="0"/>
              </a:rPr>
              <a:t>An </a:t>
            </a:r>
            <a:r>
              <a:rPr lang="en-US" altLang="zh-CN" b="1" smtClean="0">
                <a:solidFill>
                  <a:srgbClr val="0000CC"/>
                </a:solidFill>
                <a:ea typeface="宋体" panose="02010600030101010101" pitchFamily="2" charset="-122"/>
                <a:cs typeface="Times New Roman" panose="02020603050405020304" pitchFamily="18" charset="0"/>
              </a:rPr>
              <a:t>attribute grammar</a:t>
            </a:r>
            <a:r>
              <a:rPr lang="en-US" altLang="zh-CN" smtClean="0">
                <a:ea typeface="宋体" panose="02010600030101010101" pitchFamily="2" charset="-122"/>
                <a:cs typeface="Times New Roman" panose="02020603050405020304" pitchFamily="18" charset="0"/>
              </a:rPr>
              <a:t> is a syntax-directed definition in which the functions in the semantic rules cannot have side effects  (they can     only evaluate values of attributes).</a:t>
            </a:r>
          </a:p>
        </p:txBody>
      </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126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126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BDF1F021-C2AB-448C-BA5B-E4FB08D52B75}" type="slidenum">
              <a:rPr lang="zh-CN" altLang="en-US" sz="800"/>
              <a:pPr>
                <a:spcBef>
                  <a:spcPct val="0"/>
                </a:spcBef>
                <a:buFontTx/>
                <a:buNone/>
              </a:pPr>
              <a:t>10</a:t>
            </a:fld>
            <a:endParaRPr lang="en-US" altLang="zh-CN" sz="800"/>
          </a:p>
        </p:txBody>
      </p:sp>
      <p:sp>
        <p:nvSpPr>
          <p:cNvPr id="11269" name="Rectangle 2"/>
          <p:cNvSpPr>
            <a:spLocks noGrp="1" noChangeArrowheads="1"/>
          </p:cNvSpPr>
          <p:nvPr>
            <p:ph type="title"/>
          </p:nvPr>
        </p:nvSpPr>
        <p:spPr/>
        <p:txBody>
          <a:bodyPr/>
          <a:lstStyle/>
          <a:p>
            <a:r>
              <a:rPr lang="en-US" altLang="zh-CN" smtClean="0">
                <a:ea typeface="宋体" panose="02010600030101010101" pitchFamily="2" charset="-122"/>
              </a:rPr>
              <a:t>Syntax-Directed Definition – Example5.1 (P.281)</a:t>
            </a:r>
          </a:p>
        </p:txBody>
      </p:sp>
      <p:sp>
        <p:nvSpPr>
          <p:cNvPr id="342019" name="Rectangle 3"/>
          <p:cNvSpPr>
            <a:spLocks noGrp="1" noChangeArrowheads="1"/>
          </p:cNvSpPr>
          <p:nvPr>
            <p:ph type="body" idx="1"/>
          </p:nvPr>
        </p:nvSpPr>
        <p:spPr>
          <a:xfrm>
            <a:off x="381000" y="1219200"/>
            <a:ext cx="9067800" cy="5105400"/>
          </a:xfrm>
        </p:spPr>
        <p:txBody>
          <a:bodyPr/>
          <a:lstStyle/>
          <a:p>
            <a:pPr>
              <a:lnSpc>
                <a:spcPct val="90000"/>
              </a:lnSpc>
              <a:buFontTx/>
              <a:buNone/>
            </a:pPr>
            <a:r>
              <a:rPr lang="zh-CN" altLang="en-US" sz="2800" b="1" smtClean="0">
                <a:ea typeface="宋体" panose="02010600030101010101" pitchFamily="2" charset="-122"/>
              </a:rPr>
              <a:t>		</a:t>
            </a:r>
            <a:r>
              <a:rPr lang="en-US" altLang="zh-CN" sz="2800" b="1" u="sng" smtClean="0">
                <a:ea typeface="宋体" panose="02010600030101010101" pitchFamily="2" charset="-122"/>
              </a:rPr>
              <a:t>Production</a:t>
            </a:r>
            <a:r>
              <a:rPr lang="en-US" altLang="zh-CN" smtClean="0">
                <a:ea typeface="宋体" panose="02010600030101010101" pitchFamily="2" charset="-122"/>
              </a:rPr>
              <a:t> 			</a:t>
            </a:r>
            <a:r>
              <a:rPr lang="en-US" altLang="zh-CN" sz="2800" b="1" u="sng" smtClean="0">
                <a:ea typeface="宋体" panose="02010600030101010101" pitchFamily="2" charset="-122"/>
              </a:rPr>
              <a:t>Semantic Rules</a:t>
            </a:r>
          </a:p>
          <a:p>
            <a:pPr>
              <a:lnSpc>
                <a:spcPct val="90000"/>
              </a:lnSpc>
              <a:buFontTx/>
              <a:buNone/>
            </a:pPr>
            <a:r>
              <a:rPr lang="en-US" altLang="zh-CN" smtClean="0">
                <a:ea typeface="宋体" panose="02010600030101010101" pitchFamily="2" charset="-122"/>
              </a:rPr>
              <a:t>		L </a:t>
            </a:r>
            <a:r>
              <a:rPr lang="en-US" altLang="zh-CN" smtClean="0">
                <a:ea typeface="宋体" panose="02010600030101010101" pitchFamily="2" charset="-122"/>
                <a:cs typeface="Times New Roman" panose="02020603050405020304" pitchFamily="18" charset="0"/>
              </a:rPr>
              <a:t>→ E </a:t>
            </a:r>
            <a:r>
              <a:rPr lang="en-US" altLang="zh-CN" b="1" smtClean="0">
                <a:ea typeface="宋体" panose="02010600030101010101" pitchFamily="2" charset="-122"/>
                <a:cs typeface="Times New Roman" panose="02020603050405020304" pitchFamily="18" charset="0"/>
              </a:rPr>
              <a:t>return</a:t>
            </a:r>
            <a:r>
              <a:rPr lang="en-US" altLang="zh-CN" smtClean="0">
                <a:ea typeface="宋体" panose="02010600030101010101" pitchFamily="2" charset="-122"/>
                <a:cs typeface="Times New Roman" panose="02020603050405020304" pitchFamily="18" charset="0"/>
              </a:rPr>
              <a:t>			print(E.val)</a:t>
            </a:r>
          </a:p>
          <a:p>
            <a:pPr>
              <a:lnSpc>
                <a:spcPct val="90000"/>
              </a:lnSpc>
              <a:buFontTx/>
              <a:buNone/>
            </a:pPr>
            <a:r>
              <a:rPr lang="en-US" altLang="zh-CN" smtClean="0">
                <a:ea typeface="宋体" panose="02010600030101010101" pitchFamily="2" charset="-122"/>
                <a:cs typeface="Times New Roman" panose="02020603050405020304" pitchFamily="18" charset="0"/>
              </a:rPr>
              <a:t>		E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T			E.val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.val + T.val</a:t>
            </a:r>
          </a:p>
          <a:p>
            <a:pPr>
              <a:lnSpc>
                <a:spcPct val="90000"/>
              </a:lnSpc>
              <a:buFontTx/>
              <a:buNone/>
            </a:pPr>
            <a:r>
              <a:rPr lang="en-US" altLang="zh-CN" smtClean="0">
                <a:ea typeface="宋体" panose="02010600030101010101" pitchFamily="2" charset="-122"/>
                <a:cs typeface="Times New Roman" panose="02020603050405020304" pitchFamily="18" charset="0"/>
              </a:rPr>
              <a:t>		E → T				E.val = T.val</a:t>
            </a:r>
          </a:p>
          <a:p>
            <a:pPr>
              <a:lnSpc>
                <a:spcPct val="90000"/>
              </a:lnSpc>
              <a:buFontTx/>
              <a:buNone/>
            </a:pPr>
            <a:r>
              <a:rPr lang="en-US" altLang="zh-CN" smtClean="0">
                <a:ea typeface="宋体" panose="02010600030101010101" pitchFamily="2" charset="-122"/>
                <a:cs typeface="Times New Roman" panose="02020603050405020304" pitchFamily="18" charset="0"/>
              </a:rPr>
              <a:t>		T → T</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F			T.val = T</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.val * F.val</a:t>
            </a:r>
          </a:p>
          <a:p>
            <a:pPr>
              <a:lnSpc>
                <a:spcPct val="90000"/>
              </a:lnSpc>
              <a:buFontTx/>
              <a:buNone/>
            </a:pPr>
            <a:r>
              <a:rPr lang="en-US" altLang="zh-CN" smtClean="0">
                <a:ea typeface="宋体" panose="02010600030101010101" pitchFamily="2" charset="-122"/>
                <a:cs typeface="Times New Roman" panose="02020603050405020304" pitchFamily="18" charset="0"/>
              </a:rPr>
              <a:t>		T → F				T.val = F.val</a:t>
            </a:r>
          </a:p>
          <a:p>
            <a:pPr>
              <a:lnSpc>
                <a:spcPct val="90000"/>
              </a:lnSpc>
              <a:buFontTx/>
              <a:buNone/>
            </a:pPr>
            <a:r>
              <a:rPr lang="en-US" altLang="zh-CN" smtClean="0">
                <a:ea typeface="宋体" panose="02010600030101010101" pitchFamily="2" charset="-122"/>
                <a:cs typeface="Times New Roman" panose="02020603050405020304" pitchFamily="18" charset="0"/>
              </a:rPr>
              <a:t>		F → ( E )			F.val = E.val</a:t>
            </a:r>
          </a:p>
          <a:p>
            <a:pPr>
              <a:lnSpc>
                <a:spcPct val="90000"/>
              </a:lnSpc>
              <a:buFontTx/>
              <a:buNone/>
            </a:pPr>
            <a:r>
              <a:rPr lang="en-US" altLang="zh-CN" smtClean="0">
                <a:ea typeface="宋体" panose="02010600030101010101" pitchFamily="2" charset="-122"/>
                <a:cs typeface="Times New Roman" panose="02020603050405020304" pitchFamily="18" charset="0"/>
              </a:rPr>
              <a:t>		F → </a:t>
            </a:r>
            <a:r>
              <a:rPr lang="en-US" altLang="zh-CN" b="1" smtClean="0">
                <a:ea typeface="宋体" panose="02010600030101010101" pitchFamily="2" charset="-122"/>
                <a:cs typeface="Times New Roman" panose="02020603050405020304" pitchFamily="18" charset="0"/>
              </a:rPr>
              <a:t>digit</a:t>
            </a:r>
            <a:r>
              <a:rPr lang="en-US" altLang="zh-CN" smtClean="0">
                <a:ea typeface="宋体" panose="02010600030101010101" pitchFamily="2" charset="-122"/>
                <a:cs typeface="Times New Roman" panose="02020603050405020304" pitchFamily="18" charset="0"/>
              </a:rPr>
              <a:t>			F.val = </a:t>
            </a:r>
            <a:r>
              <a:rPr lang="en-US" altLang="zh-CN" b="1" smtClean="0">
                <a:ea typeface="宋体" panose="02010600030101010101" pitchFamily="2" charset="-122"/>
                <a:cs typeface="Times New Roman" panose="02020603050405020304" pitchFamily="18" charset="0"/>
              </a:rPr>
              <a:t>digit</a:t>
            </a:r>
            <a:r>
              <a:rPr lang="en-US" altLang="zh-CN" smtClean="0">
                <a:ea typeface="宋体" panose="02010600030101010101" pitchFamily="2" charset="-122"/>
                <a:cs typeface="Times New Roman" panose="02020603050405020304" pitchFamily="18" charset="0"/>
              </a:rPr>
              <a:t>.lexval</a:t>
            </a:r>
          </a:p>
          <a:p>
            <a:pPr>
              <a:lnSpc>
                <a:spcPct val="90000"/>
              </a:lnSpc>
              <a:buFontTx/>
              <a:buNone/>
            </a:pPr>
            <a:endParaRPr lang="en-US" altLang="zh-CN" smtClean="0">
              <a:ea typeface="宋体" panose="02010600030101010101" pitchFamily="2" charset="-122"/>
              <a:cs typeface="Times New Roman" panose="02020603050405020304" pitchFamily="18" charset="0"/>
            </a:endParaRPr>
          </a:p>
          <a:p>
            <a:pPr>
              <a:lnSpc>
                <a:spcPct val="90000"/>
              </a:lnSpc>
            </a:pPr>
            <a:r>
              <a:rPr lang="en-US" altLang="zh-CN" smtClean="0">
                <a:ea typeface="宋体" panose="02010600030101010101" pitchFamily="2" charset="-122"/>
                <a:cs typeface="Times New Roman" panose="02020603050405020304" pitchFamily="18" charset="0"/>
              </a:rPr>
              <a:t>Symbols E, T, and F are associated with a synthesized attribute </a:t>
            </a:r>
            <a:r>
              <a:rPr lang="en-US" altLang="zh-CN" i="1" smtClean="0">
                <a:ea typeface="宋体" panose="02010600030101010101" pitchFamily="2" charset="-122"/>
                <a:cs typeface="Times New Roman" panose="02020603050405020304" pitchFamily="18" charset="0"/>
              </a:rPr>
              <a:t>val</a:t>
            </a:r>
            <a:r>
              <a:rPr lang="en-US" altLang="zh-CN" smtClean="0">
                <a:ea typeface="宋体" panose="02010600030101010101" pitchFamily="2" charset="-122"/>
                <a:cs typeface="Times New Roman" panose="02020603050405020304" pitchFamily="18" charset="0"/>
              </a:rPr>
              <a:t>.</a:t>
            </a:r>
          </a:p>
          <a:p>
            <a:pPr>
              <a:lnSpc>
                <a:spcPct val="90000"/>
              </a:lnSpc>
            </a:pPr>
            <a:r>
              <a:rPr lang="en-US" altLang="zh-CN" smtClean="0">
                <a:ea typeface="宋体" panose="02010600030101010101" pitchFamily="2" charset="-122"/>
                <a:cs typeface="Times New Roman" panose="02020603050405020304" pitchFamily="18" charset="0"/>
              </a:rPr>
              <a:t>The token </a:t>
            </a:r>
            <a:r>
              <a:rPr lang="en-US" altLang="zh-CN" b="1" smtClean="0">
                <a:ea typeface="宋体" panose="02010600030101010101" pitchFamily="2" charset="-122"/>
                <a:cs typeface="Times New Roman" panose="02020603050405020304" pitchFamily="18" charset="0"/>
              </a:rPr>
              <a:t>digit</a:t>
            </a:r>
            <a:r>
              <a:rPr lang="en-US" altLang="zh-CN" smtClean="0">
                <a:ea typeface="宋体" panose="02010600030101010101" pitchFamily="2" charset="-122"/>
                <a:cs typeface="Times New Roman" panose="02020603050405020304" pitchFamily="18" charset="0"/>
              </a:rPr>
              <a:t> has a synthesized attribute </a:t>
            </a:r>
            <a:r>
              <a:rPr lang="en-US" altLang="zh-CN" i="1" smtClean="0">
                <a:ea typeface="宋体" panose="02010600030101010101" pitchFamily="2" charset="-122"/>
                <a:cs typeface="Times New Roman" panose="02020603050405020304" pitchFamily="18" charset="0"/>
              </a:rPr>
              <a:t>lexval</a:t>
            </a:r>
            <a:r>
              <a:rPr lang="en-US" altLang="zh-CN" smtClean="0">
                <a:ea typeface="宋体" panose="02010600030101010101" pitchFamily="2" charset="-122"/>
                <a:cs typeface="Times New Roman" panose="02020603050405020304" pitchFamily="18" charset="0"/>
              </a:rPr>
              <a:t> (it is assumed that it is evaluated by the lexical analyzer).</a:t>
            </a:r>
            <a:endParaRPr lang="zh-CN" altLang="en-US" smtClean="0">
              <a:ea typeface="宋体" panose="02010600030101010101" pitchFamily="2"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42019">
                                            <p:txEl>
                                              <p:pRg st="1" end="1"/>
                                            </p:txEl>
                                          </p:spTgt>
                                        </p:tgtEl>
                                        <p:attrNameLst>
                                          <p:attrName>style.visibility</p:attrName>
                                        </p:attrNameLst>
                                      </p:cBhvr>
                                      <p:to>
                                        <p:strVal val="visible"/>
                                      </p:to>
                                    </p:set>
                                    <p:animEffect transition="in" filter="wipe(left)">
                                      <p:cBhvr>
                                        <p:cTn id="7" dur="1000"/>
                                        <p:tgtEl>
                                          <p:spTgt spid="342019">
                                            <p:txEl>
                                              <p:pRg st="1" end="1"/>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342019">
                                            <p:txEl>
                                              <p:pRg st="2" end="2"/>
                                            </p:txEl>
                                          </p:spTgt>
                                        </p:tgtEl>
                                        <p:attrNameLst>
                                          <p:attrName>style.visibility</p:attrName>
                                        </p:attrNameLst>
                                      </p:cBhvr>
                                      <p:to>
                                        <p:strVal val="visible"/>
                                      </p:to>
                                    </p:set>
                                    <p:animEffect transition="in" filter="wipe(left)">
                                      <p:cBhvr>
                                        <p:cTn id="11" dur="1000"/>
                                        <p:tgtEl>
                                          <p:spTgt spid="342019">
                                            <p:txEl>
                                              <p:pRg st="2" end="2"/>
                                            </p:txEl>
                                          </p:spTgt>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342019">
                                            <p:txEl>
                                              <p:pRg st="3" end="3"/>
                                            </p:txEl>
                                          </p:spTgt>
                                        </p:tgtEl>
                                        <p:attrNameLst>
                                          <p:attrName>style.visibility</p:attrName>
                                        </p:attrNameLst>
                                      </p:cBhvr>
                                      <p:to>
                                        <p:strVal val="visible"/>
                                      </p:to>
                                    </p:set>
                                    <p:animEffect transition="in" filter="wipe(left)">
                                      <p:cBhvr>
                                        <p:cTn id="15" dur="1000"/>
                                        <p:tgtEl>
                                          <p:spTgt spid="342019">
                                            <p:txEl>
                                              <p:pRg st="3" end="3"/>
                                            </p:txEl>
                                          </p:spTgt>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342019">
                                            <p:txEl>
                                              <p:pRg st="4" end="4"/>
                                            </p:txEl>
                                          </p:spTgt>
                                        </p:tgtEl>
                                        <p:attrNameLst>
                                          <p:attrName>style.visibility</p:attrName>
                                        </p:attrNameLst>
                                      </p:cBhvr>
                                      <p:to>
                                        <p:strVal val="visible"/>
                                      </p:to>
                                    </p:set>
                                    <p:animEffect transition="in" filter="wipe(left)">
                                      <p:cBhvr>
                                        <p:cTn id="19" dur="1000"/>
                                        <p:tgtEl>
                                          <p:spTgt spid="342019">
                                            <p:txEl>
                                              <p:pRg st="4" end="4"/>
                                            </p:txEl>
                                          </p:spTgt>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342019">
                                            <p:txEl>
                                              <p:pRg st="5" end="5"/>
                                            </p:txEl>
                                          </p:spTgt>
                                        </p:tgtEl>
                                        <p:attrNameLst>
                                          <p:attrName>style.visibility</p:attrName>
                                        </p:attrNameLst>
                                      </p:cBhvr>
                                      <p:to>
                                        <p:strVal val="visible"/>
                                      </p:to>
                                    </p:set>
                                    <p:animEffect transition="in" filter="wipe(left)">
                                      <p:cBhvr>
                                        <p:cTn id="23" dur="1000"/>
                                        <p:tgtEl>
                                          <p:spTgt spid="342019">
                                            <p:txEl>
                                              <p:pRg st="5" end="5"/>
                                            </p:txEl>
                                          </p:spTgt>
                                        </p:tgtEl>
                                      </p:cBhvr>
                                    </p:animEffect>
                                  </p:childTnLst>
                                </p:cTn>
                              </p:par>
                            </p:childTnLst>
                          </p:cTn>
                        </p:par>
                        <p:par>
                          <p:cTn id="24" fill="hold" nodeType="afterGroup">
                            <p:stCondLst>
                              <p:cond delay="5000"/>
                            </p:stCondLst>
                            <p:childTnLst>
                              <p:par>
                                <p:cTn id="25" presetID="22" presetClass="entr" presetSubtype="8" fill="hold" nodeType="afterEffect">
                                  <p:stCondLst>
                                    <p:cond delay="0"/>
                                  </p:stCondLst>
                                  <p:childTnLst>
                                    <p:set>
                                      <p:cBhvr>
                                        <p:cTn id="26" dur="1" fill="hold">
                                          <p:stCondLst>
                                            <p:cond delay="0"/>
                                          </p:stCondLst>
                                        </p:cTn>
                                        <p:tgtEl>
                                          <p:spTgt spid="342019">
                                            <p:txEl>
                                              <p:pRg st="6" end="6"/>
                                            </p:txEl>
                                          </p:spTgt>
                                        </p:tgtEl>
                                        <p:attrNameLst>
                                          <p:attrName>style.visibility</p:attrName>
                                        </p:attrNameLst>
                                      </p:cBhvr>
                                      <p:to>
                                        <p:strVal val="visible"/>
                                      </p:to>
                                    </p:set>
                                    <p:animEffect transition="in" filter="wipe(left)">
                                      <p:cBhvr>
                                        <p:cTn id="27" dur="1000"/>
                                        <p:tgtEl>
                                          <p:spTgt spid="342019">
                                            <p:txEl>
                                              <p:pRg st="6" end="6"/>
                                            </p:txEl>
                                          </p:spTgt>
                                        </p:tgtEl>
                                      </p:cBhvr>
                                    </p:animEffect>
                                  </p:childTnLst>
                                </p:cTn>
                              </p:par>
                            </p:childTnLst>
                          </p:cTn>
                        </p:par>
                        <p:par>
                          <p:cTn id="28" fill="hold" nodeType="afterGroup">
                            <p:stCondLst>
                              <p:cond delay="6000"/>
                            </p:stCondLst>
                            <p:childTnLst>
                              <p:par>
                                <p:cTn id="29" presetID="22" presetClass="entr" presetSubtype="8" fill="hold" nodeType="afterEffect">
                                  <p:stCondLst>
                                    <p:cond delay="0"/>
                                  </p:stCondLst>
                                  <p:childTnLst>
                                    <p:set>
                                      <p:cBhvr>
                                        <p:cTn id="30" dur="1" fill="hold">
                                          <p:stCondLst>
                                            <p:cond delay="0"/>
                                          </p:stCondLst>
                                        </p:cTn>
                                        <p:tgtEl>
                                          <p:spTgt spid="342019">
                                            <p:txEl>
                                              <p:pRg st="7" end="7"/>
                                            </p:txEl>
                                          </p:spTgt>
                                        </p:tgtEl>
                                        <p:attrNameLst>
                                          <p:attrName>style.visibility</p:attrName>
                                        </p:attrNameLst>
                                      </p:cBhvr>
                                      <p:to>
                                        <p:strVal val="visible"/>
                                      </p:to>
                                    </p:set>
                                    <p:animEffect transition="in" filter="wipe(left)">
                                      <p:cBhvr>
                                        <p:cTn id="31" dur="1000"/>
                                        <p:tgtEl>
                                          <p:spTgt spid="3420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229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229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72A69DC6-2A94-4AEA-8C8D-EEBBE9235FB3}" type="slidenum">
              <a:rPr lang="zh-CN" altLang="en-US" sz="800"/>
              <a:pPr>
                <a:spcBef>
                  <a:spcPct val="0"/>
                </a:spcBef>
                <a:buFontTx/>
                <a:buNone/>
              </a:pPr>
              <a:t>11</a:t>
            </a:fld>
            <a:endParaRPr lang="en-US" altLang="zh-CN" sz="800"/>
          </a:p>
        </p:txBody>
      </p:sp>
      <p:sp>
        <p:nvSpPr>
          <p:cNvPr id="12293" name="Rectangle 6"/>
          <p:cNvSpPr>
            <a:spLocks noGrp="1" noChangeArrowheads="1"/>
          </p:cNvSpPr>
          <p:nvPr>
            <p:ph type="title"/>
          </p:nvPr>
        </p:nvSpPr>
        <p:spPr>
          <a:xfrm>
            <a:off x="1081088" y="0"/>
            <a:ext cx="8062912" cy="1111250"/>
          </a:xfrm>
          <a:noFill/>
        </p:spPr>
        <p:txBody>
          <a:bodyPr lIns="92075" tIns="46038" rIns="92075" bIns="46038"/>
          <a:lstStyle/>
          <a:p>
            <a:r>
              <a:rPr lang="en-US" altLang="zh-CN" smtClean="0">
                <a:ea typeface="宋体" panose="02010600030101010101" pitchFamily="2" charset="-122"/>
              </a:rPr>
              <a:t>Annotated Parse-Trees</a:t>
            </a:r>
          </a:p>
        </p:txBody>
      </p:sp>
      <p:sp>
        <p:nvSpPr>
          <p:cNvPr id="12294" name="Rectangle 7"/>
          <p:cNvSpPr>
            <a:spLocks noGrp="1" noChangeArrowheads="1"/>
          </p:cNvSpPr>
          <p:nvPr>
            <p:ph type="body" idx="1"/>
          </p:nvPr>
        </p:nvSpPr>
        <p:spPr>
          <a:xfrm>
            <a:off x="1066800" y="990600"/>
            <a:ext cx="8077200" cy="5334000"/>
          </a:xfrm>
          <a:noFill/>
        </p:spPr>
        <p:txBody>
          <a:bodyPr lIns="92075" tIns="46038" rIns="92075" bIns="46038"/>
          <a:lstStyle/>
          <a:p>
            <a:r>
              <a:rPr lang="en-US" altLang="zh-CN" smtClean="0">
                <a:ea typeface="宋体" panose="02010600030101010101" pitchFamily="2" charset="-122"/>
              </a:rPr>
              <a:t>Parse-tree that also shows the values of the attributes at each node.</a:t>
            </a:r>
          </a:p>
          <a:p>
            <a:r>
              <a:rPr lang="en-US" altLang="zh-CN" smtClean="0">
                <a:solidFill>
                  <a:schemeClr val="accent2"/>
                </a:solidFill>
                <a:ea typeface="宋体" panose="02010600030101010101" pitchFamily="2" charset="-122"/>
              </a:rPr>
              <a:t>Attributes in the leaves of the annotated parse-tree are determined by the lexical analyzer.</a:t>
            </a:r>
          </a:p>
          <a:p>
            <a:r>
              <a:rPr lang="en-US" altLang="zh-CN" smtClean="0">
                <a:solidFill>
                  <a:schemeClr val="accent2"/>
                </a:solidFill>
                <a:ea typeface="宋体" panose="02010600030101010101" pitchFamily="2" charset="-122"/>
              </a:rPr>
              <a:t>Values of attributes in inner nodes of annotated parse-tree are determined by the semantic-rules.</a:t>
            </a:r>
          </a:p>
          <a:p>
            <a:r>
              <a:rPr lang="en-US" altLang="zh-CN" smtClean="0">
                <a:ea typeface="宋体" panose="02010600030101010101" pitchFamily="2" charset="-122"/>
              </a:rPr>
              <a:t>If a syntax-directed definition employs only </a:t>
            </a:r>
            <a:r>
              <a:rPr lang="en-US" altLang="zh-CN" i="1" smtClean="0">
                <a:ea typeface="宋体" panose="02010600030101010101" pitchFamily="2" charset="-122"/>
              </a:rPr>
              <a:t>Synthesized </a:t>
            </a:r>
            <a:r>
              <a:rPr lang="en-US" altLang="zh-CN" smtClean="0">
                <a:ea typeface="宋体" panose="02010600030101010101" pitchFamily="2" charset="-122"/>
              </a:rPr>
              <a:t>attributes the evaluation of all attributes can be done in a bottom-up fashion.</a:t>
            </a:r>
          </a:p>
          <a:p>
            <a:r>
              <a:rPr lang="en-US" altLang="zh-CN" i="1" smtClean="0">
                <a:ea typeface="宋体" panose="02010600030101010101" pitchFamily="2" charset="-122"/>
              </a:rPr>
              <a:t>Inherited </a:t>
            </a:r>
            <a:r>
              <a:rPr lang="en-US" altLang="zh-CN" smtClean="0">
                <a:ea typeface="宋体" panose="02010600030101010101" pitchFamily="2" charset="-122"/>
              </a:rPr>
              <a:t>attributes would require more arbitrary “traversals” of the annotated parse-tree.</a:t>
            </a:r>
          </a:p>
          <a:p>
            <a:r>
              <a:rPr lang="en-US" altLang="zh-CN" smtClean="0">
                <a:ea typeface="宋体" panose="02010600030101010101" pitchFamily="2" charset="-122"/>
              </a:rPr>
              <a:t>A </a:t>
            </a:r>
            <a:r>
              <a:rPr lang="en-US" altLang="zh-CN" b="1" i="1" smtClean="0">
                <a:solidFill>
                  <a:srgbClr val="CC0000"/>
                </a:solidFill>
                <a:ea typeface="宋体" panose="02010600030101010101" pitchFamily="2" charset="-122"/>
              </a:rPr>
              <a:t>dependency graph</a:t>
            </a:r>
            <a:r>
              <a:rPr lang="en-US" altLang="zh-CN" smtClean="0">
                <a:ea typeface="宋体" panose="02010600030101010101" pitchFamily="2" charset="-122"/>
              </a:rPr>
              <a:t> suggests possible </a:t>
            </a:r>
            <a:r>
              <a:rPr lang="en-US" altLang="zh-CN" i="1" smtClean="0">
                <a:ea typeface="宋体" panose="02010600030101010101" pitchFamily="2" charset="-122"/>
              </a:rPr>
              <a:t>evaluation orders</a:t>
            </a:r>
            <a:r>
              <a:rPr lang="en-US" altLang="zh-CN" smtClean="0">
                <a:ea typeface="宋体" panose="02010600030101010101" pitchFamily="2" charset="-122"/>
              </a:rPr>
              <a:t> for an annotated parse-tree.</a:t>
            </a:r>
          </a:p>
        </p:txBody>
      </p:sp>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3315"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3316"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CC6E3B7C-4A76-4338-9CCA-70095066EEDC}" type="slidenum">
              <a:rPr lang="zh-CN" altLang="en-US" sz="800"/>
              <a:pPr>
                <a:spcBef>
                  <a:spcPct val="0"/>
                </a:spcBef>
                <a:buFontTx/>
                <a:buNone/>
              </a:pPr>
              <a:t>12</a:t>
            </a:fld>
            <a:endParaRPr lang="en-US" altLang="zh-CN" sz="800"/>
          </a:p>
        </p:txBody>
      </p:sp>
      <p:sp>
        <p:nvSpPr>
          <p:cNvPr id="13317" name="Rectangle 4"/>
          <p:cNvSpPr>
            <a:spLocks noGrp="1" noChangeArrowheads="1"/>
          </p:cNvSpPr>
          <p:nvPr>
            <p:ph type="title"/>
          </p:nvPr>
        </p:nvSpPr>
        <p:spPr/>
        <p:txBody>
          <a:bodyPr/>
          <a:lstStyle/>
          <a:p>
            <a:r>
              <a:rPr lang="en-US" altLang="zh-CN" smtClean="0">
                <a:ea typeface="宋体" panose="02010600030101010101" pitchFamily="2" charset="-122"/>
              </a:rPr>
              <a:t>Annotated Parse Tree -- Example </a:t>
            </a:r>
          </a:p>
        </p:txBody>
      </p:sp>
      <p:grpSp>
        <p:nvGrpSpPr>
          <p:cNvPr id="343069" name="Group 29"/>
          <p:cNvGrpSpPr>
            <a:grpSpLocks/>
          </p:cNvGrpSpPr>
          <p:nvPr/>
        </p:nvGrpSpPr>
        <p:grpSpPr bwMode="auto">
          <a:xfrm>
            <a:off x="669925" y="1143000"/>
            <a:ext cx="8050213" cy="4572000"/>
            <a:chOff x="422" y="720"/>
            <a:chExt cx="5071" cy="2880"/>
          </a:xfrm>
        </p:grpSpPr>
        <p:sp>
          <p:nvSpPr>
            <p:cNvPr id="13320" name="Text Box 5"/>
            <p:cNvSpPr txBox="1">
              <a:spLocks noChangeArrowheads="1"/>
            </p:cNvSpPr>
            <p:nvPr/>
          </p:nvSpPr>
          <p:spPr bwMode="auto">
            <a:xfrm>
              <a:off x="422" y="746"/>
              <a:ext cx="11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Input:  5+3*4</a:t>
              </a:r>
            </a:p>
          </p:txBody>
        </p:sp>
        <p:sp>
          <p:nvSpPr>
            <p:cNvPr id="13321" name="Text Box 6"/>
            <p:cNvSpPr txBox="1">
              <a:spLocks noChangeArrowheads="1"/>
            </p:cNvSpPr>
            <p:nvPr/>
          </p:nvSpPr>
          <p:spPr bwMode="auto">
            <a:xfrm>
              <a:off x="3456" y="72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L</a:t>
              </a:r>
            </a:p>
          </p:txBody>
        </p:sp>
        <p:sp>
          <p:nvSpPr>
            <p:cNvPr id="13322" name="Text Box 7"/>
            <p:cNvSpPr txBox="1">
              <a:spLocks noChangeArrowheads="1"/>
            </p:cNvSpPr>
            <p:nvPr/>
          </p:nvSpPr>
          <p:spPr bwMode="auto">
            <a:xfrm>
              <a:off x="2592" y="1296"/>
              <a:ext cx="19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E.val=17            </a:t>
              </a:r>
              <a:r>
                <a:rPr lang="en-US" altLang="zh-CN">
                  <a:ea typeface="宋体" panose="02010600030101010101" pitchFamily="2" charset="-122"/>
                </a:rPr>
                <a:t>return</a:t>
              </a:r>
            </a:p>
          </p:txBody>
        </p:sp>
        <p:sp>
          <p:nvSpPr>
            <p:cNvPr id="13323" name="Text Box 9"/>
            <p:cNvSpPr txBox="1">
              <a:spLocks noChangeArrowheads="1"/>
            </p:cNvSpPr>
            <p:nvPr/>
          </p:nvSpPr>
          <p:spPr bwMode="auto">
            <a:xfrm>
              <a:off x="1296" y="1824"/>
              <a:ext cx="3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E.val=5                  +                    T.val=12</a:t>
              </a:r>
            </a:p>
          </p:txBody>
        </p:sp>
        <p:sp>
          <p:nvSpPr>
            <p:cNvPr id="13324" name="Text Box 10"/>
            <p:cNvSpPr txBox="1">
              <a:spLocks noChangeArrowheads="1"/>
            </p:cNvSpPr>
            <p:nvPr/>
          </p:nvSpPr>
          <p:spPr bwMode="auto">
            <a:xfrm>
              <a:off x="1296" y="2304"/>
              <a:ext cx="37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T.val=5                          T.val=3     *      F.val=4</a:t>
              </a:r>
            </a:p>
          </p:txBody>
        </p:sp>
        <p:sp>
          <p:nvSpPr>
            <p:cNvPr id="13325" name="Text Box 11"/>
            <p:cNvSpPr txBox="1">
              <a:spLocks noChangeArrowheads="1"/>
            </p:cNvSpPr>
            <p:nvPr/>
          </p:nvSpPr>
          <p:spPr bwMode="auto">
            <a:xfrm>
              <a:off x="1296" y="2784"/>
              <a:ext cx="41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F.val=5                          F.val=3            digit.lexval=4</a:t>
              </a:r>
            </a:p>
          </p:txBody>
        </p:sp>
        <p:sp>
          <p:nvSpPr>
            <p:cNvPr id="13326" name="Text Box 12"/>
            <p:cNvSpPr txBox="1">
              <a:spLocks noChangeArrowheads="1"/>
            </p:cNvSpPr>
            <p:nvPr/>
          </p:nvSpPr>
          <p:spPr bwMode="auto">
            <a:xfrm>
              <a:off x="1296" y="3312"/>
              <a:ext cx="30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digit.lexval=5                digit.lexval=3</a:t>
              </a:r>
            </a:p>
          </p:txBody>
        </p:sp>
        <p:sp>
          <p:nvSpPr>
            <p:cNvPr id="13327" name="Line 14"/>
            <p:cNvSpPr>
              <a:spLocks noChangeShapeType="1"/>
            </p:cNvSpPr>
            <p:nvPr/>
          </p:nvSpPr>
          <p:spPr bwMode="auto">
            <a:xfrm flipH="1">
              <a:off x="2880" y="960"/>
              <a:ext cx="67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8" name="Line 15"/>
            <p:cNvSpPr>
              <a:spLocks noChangeShapeType="1"/>
            </p:cNvSpPr>
            <p:nvPr/>
          </p:nvSpPr>
          <p:spPr bwMode="auto">
            <a:xfrm>
              <a:off x="3552" y="960"/>
              <a:ext cx="62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9" name="Line 16"/>
            <p:cNvSpPr>
              <a:spLocks noChangeShapeType="1"/>
            </p:cNvSpPr>
            <p:nvPr/>
          </p:nvSpPr>
          <p:spPr bwMode="auto">
            <a:xfrm flipH="1">
              <a:off x="1632" y="1584"/>
              <a:ext cx="124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0" name="Line 17"/>
            <p:cNvSpPr>
              <a:spLocks noChangeShapeType="1"/>
            </p:cNvSpPr>
            <p:nvPr/>
          </p:nvSpPr>
          <p:spPr bwMode="auto">
            <a:xfrm>
              <a:off x="2880" y="1584"/>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1" name="Line 18"/>
            <p:cNvSpPr>
              <a:spLocks noChangeShapeType="1"/>
            </p:cNvSpPr>
            <p:nvPr/>
          </p:nvSpPr>
          <p:spPr bwMode="auto">
            <a:xfrm>
              <a:off x="2880" y="1584"/>
              <a:ext cx="120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2" name="Line 19"/>
            <p:cNvSpPr>
              <a:spLocks noChangeShapeType="1"/>
            </p:cNvSpPr>
            <p:nvPr/>
          </p:nvSpPr>
          <p:spPr bwMode="auto">
            <a:xfrm>
              <a:off x="1584"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3" name="Line 20"/>
            <p:cNvSpPr>
              <a:spLocks noChangeShapeType="1"/>
            </p:cNvSpPr>
            <p:nvPr/>
          </p:nvSpPr>
          <p:spPr bwMode="auto">
            <a:xfrm>
              <a:off x="1584" y="31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4" name="Line 21"/>
            <p:cNvSpPr>
              <a:spLocks noChangeShapeType="1"/>
            </p:cNvSpPr>
            <p:nvPr/>
          </p:nvSpPr>
          <p:spPr bwMode="auto">
            <a:xfrm>
              <a:off x="1584" y="26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5" name="Line 22"/>
            <p:cNvSpPr>
              <a:spLocks noChangeShapeType="1"/>
            </p:cNvSpPr>
            <p:nvPr/>
          </p:nvSpPr>
          <p:spPr bwMode="auto">
            <a:xfrm>
              <a:off x="3408" y="31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6" name="Line 23"/>
            <p:cNvSpPr>
              <a:spLocks noChangeShapeType="1"/>
            </p:cNvSpPr>
            <p:nvPr/>
          </p:nvSpPr>
          <p:spPr bwMode="auto">
            <a:xfrm>
              <a:off x="4656" y="26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7" name="Line 24"/>
            <p:cNvSpPr>
              <a:spLocks noChangeShapeType="1"/>
            </p:cNvSpPr>
            <p:nvPr/>
          </p:nvSpPr>
          <p:spPr bwMode="auto">
            <a:xfrm>
              <a:off x="3408" y="259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8" name="Line 25"/>
            <p:cNvSpPr>
              <a:spLocks noChangeShapeType="1"/>
            </p:cNvSpPr>
            <p:nvPr/>
          </p:nvSpPr>
          <p:spPr bwMode="auto">
            <a:xfrm flipH="1">
              <a:off x="3408" y="2112"/>
              <a:ext cx="67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9" name="Line 26"/>
            <p:cNvSpPr>
              <a:spLocks noChangeShapeType="1"/>
            </p:cNvSpPr>
            <p:nvPr/>
          </p:nvSpPr>
          <p:spPr bwMode="auto">
            <a:xfrm>
              <a:off x="4080" y="2112"/>
              <a:ext cx="576"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0" name="Line 27"/>
            <p:cNvSpPr>
              <a:spLocks noChangeShapeType="1"/>
            </p:cNvSpPr>
            <p:nvPr/>
          </p:nvSpPr>
          <p:spPr bwMode="auto">
            <a:xfrm>
              <a:off x="40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9" name="Rectangle 52"/>
          <p:cNvSpPr>
            <a:spLocks noChangeArrowheads="1"/>
          </p:cNvSpPr>
          <p:nvPr/>
        </p:nvSpPr>
        <p:spPr bwMode="auto">
          <a:xfrm>
            <a:off x="1600200" y="5867400"/>
            <a:ext cx="6553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a:spcBef>
                <a:spcPct val="0"/>
              </a:spcBef>
              <a:buFontTx/>
              <a:buNone/>
            </a:pPr>
            <a:r>
              <a:rPr lang="en-US" altLang="zh-CN" b="0">
                <a:solidFill>
                  <a:schemeClr val="tx2"/>
                </a:solidFill>
                <a:ea typeface="宋体" panose="02010600030101010101" pitchFamily="2" charset="-122"/>
              </a:rPr>
              <a:t>Fig. 5.3. Annotated parse tree for 5+3*4</a:t>
            </a:r>
            <a:r>
              <a:rPr lang="en-US" altLang="zh-CN" sz="3200">
                <a:solidFill>
                  <a:schemeClr val="tx2"/>
                </a:solidFill>
                <a:ea typeface="宋体" panose="02010600030101010101" pitchFamily="2"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43069"/>
                                        </p:tgtEl>
                                        <p:attrNameLst>
                                          <p:attrName>style.visibility</p:attrName>
                                        </p:attrNameLst>
                                      </p:cBhvr>
                                      <p:to>
                                        <p:strVal val="visible"/>
                                      </p:to>
                                    </p:set>
                                    <p:animEffect transition="in" filter="wipe(up)">
                                      <p:cBhvr>
                                        <p:cTn id="7" dur="2000"/>
                                        <p:tgtEl>
                                          <p:spTgt spid="343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4339"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4340"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5C04E51C-7DB1-4D92-BD3A-38611595A508}" type="slidenum">
              <a:rPr lang="zh-CN" altLang="en-US" sz="800"/>
              <a:pPr>
                <a:spcBef>
                  <a:spcPct val="0"/>
                </a:spcBef>
                <a:buFontTx/>
                <a:buNone/>
              </a:pPr>
              <a:t>13</a:t>
            </a:fld>
            <a:endParaRPr lang="en-US" altLang="zh-CN" sz="800"/>
          </a:p>
        </p:txBody>
      </p:sp>
      <p:sp>
        <p:nvSpPr>
          <p:cNvPr id="14341"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Synthesized Attributes</a:t>
            </a:r>
          </a:p>
        </p:txBody>
      </p:sp>
      <p:sp>
        <p:nvSpPr>
          <p:cNvPr id="14342" name="Text Box 3"/>
          <p:cNvSpPr txBox="1">
            <a:spLocks noChangeArrowheads="1"/>
          </p:cNvSpPr>
          <p:nvPr/>
        </p:nvSpPr>
        <p:spPr bwMode="auto">
          <a:xfrm>
            <a:off x="1066800" y="1600200"/>
            <a:ext cx="8161338" cy="368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L → E </a:t>
            </a:r>
            <a:r>
              <a:rPr kumimoji="1" lang="en-US" altLang="zh-CN" sz="2800" b="0">
                <a:latin typeface="Arial" panose="020B0604020202020204" pitchFamily="34" charset="0"/>
                <a:ea typeface="PMingLiU" pitchFamily="18" charset="-120"/>
                <a:cs typeface="Arial" panose="020B0604020202020204" pitchFamily="34" charset="0"/>
              </a:rPr>
              <a:t>return</a:t>
            </a:r>
            <a:r>
              <a:rPr kumimoji="1" lang="en-US" altLang="zh-TW" sz="2800" b="0">
                <a:latin typeface="Arial" panose="020B0604020202020204" pitchFamily="34" charset="0"/>
                <a:ea typeface="PMingLiU" pitchFamily="18" charset="-120"/>
                <a:cs typeface="Arial" panose="020B0604020202020204" pitchFamily="34" charset="0"/>
              </a:rPr>
              <a:t>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print(E.val)</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E → E</a:t>
            </a:r>
            <a:r>
              <a:rPr kumimoji="1" lang="en-US" altLang="zh-TW" sz="2800" b="0" baseline="-30000">
                <a:latin typeface="Arial" panose="020B0604020202020204" pitchFamily="34" charset="0"/>
                <a:ea typeface="PMingLiU" pitchFamily="18" charset="-120"/>
                <a:cs typeface="Arial" panose="020B0604020202020204" pitchFamily="34" charset="0"/>
              </a:rPr>
              <a:t>1</a:t>
            </a:r>
            <a:r>
              <a:rPr kumimoji="1" lang="en-US" altLang="zh-TW" sz="2800" b="0">
                <a:latin typeface="Arial" panose="020B0604020202020204" pitchFamily="34" charset="0"/>
                <a:ea typeface="PMingLiU" pitchFamily="18" charset="-120"/>
                <a:cs typeface="Arial" panose="020B0604020202020204" pitchFamily="34" charset="0"/>
              </a:rPr>
              <a:t> + T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E.val := E</a:t>
            </a:r>
            <a:r>
              <a:rPr kumimoji="1" lang="en-US" altLang="zh-TW" sz="2800" b="0" baseline="-30000">
                <a:latin typeface="Arial" panose="020B0604020202020204" pitchFamily="34" charset="0"/>
                <a:ea typeface="PMingLiU" pitchFamily="18" charset="-120"/>
                <a:cs typeface="Arial" panose="020B0604020202020204" pitchFamily="34" charset="0"/>
              </a:rPr>
              <a:t>1</a:t>
            </a:r>
            <a:r>
              <a:rPr kumimoji="1" lang="en-US" altLang="zh-TW" sz="2800" b="0">
                <a:latin typeface="Arial" panose="020B0604020202020204" pitchFamily="34" charset="0"/>
                <a:ea typeface="PMingLiU" pitchFamily="18" charset="-120"/>
                <a:cs typeface="Arial" panose="020B0604020202020204" pitchFamily="34" charset="0"/>
              </a:rPr>
              <a:t>.val + T.val</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E → T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E.val := T.val</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T → T</a:t>
            </a:r>
            <a:r>
              <a:rPr kumimoji="1" lang="en-US" altLang="zh-TW" sz="2800" b="0" baseline="-30000">
                <a:latin typeface="Arial" panose="020B0604020202020204" pitchFamily="34" charset="0"/>
                <a:ea typeface="PMingLiU" pitchFamily="18" charset="-120"/>
                <a:cs typeface="Arial" panose="020B0604020202020204" pitchFamily="34" charset="0"/>
              </a:rPr>
              <a:t>1</a:t>
            </a:r>
            <a:r>
              <a:rPr kumimoji="1" lang="en-US" altLang="zh-TW" sz="2800" b="0">
                <a:latin typeface="Arial" panose="020B0604020202020204" pitchFamily="34" charset="0"/>
                <a:ea typeface="PMingLiU" pitchFamily="18" charset="-120"/>
                <a:cs typeface="Arial" panose="020B0604020202020204" pitchFamily="34" charset="0"/>
              </a:rPr>
              <a:t> * F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T.val := T</a:t>
            </a:r>
            <a:r>
              <a:rPr kumimoji="1" lang="en-US" altLang="zh-TW" sz="2800" b="0" baseline="-30000">
                <a:latin typeface="Arial" panose="020B0604020202020204" pitchFamily="34" charset="0"/>
                <a:ea typeface="PMingLiU" pitchFamily="18" charset="-120"/>
                <a:cs typeface="Arial" panose="020B0604020202020204" pitchFamily="34" charset="0"/>
              </a:rPr>
              <a:t>1</a:t>
            </a:r>
            <a:r>
              <a:rPr kumimoji="1" lang="en-US" altLang="zh-TW" sz="2800" b="0">
                <a:latin typeface="Arial" panose="020B0604020202020204" pitchFamily="34" charset="0"/>
                <a:ea typeface="PMingLiU" pitchFamily="18" charset="-120"/>
                <a:cs typeface="Arial" panose="020B0604020202020204" pitchFamily="34" charset="0"/>
              </a:rPr>
              <a:t>.val * F.val</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T → F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T.val := F.val</a:t>
            </a:r>
            <a:endParaRPr kumimoji="1" lang="en-US" altLang="zh-TW" sz="2800" b="0">
              <a:ea typeface="PMingLiU" pitchFamily="18" charset="-120"/>
              <a:cs typeface="Times New Roman" panose="02020603050405020304" pitchFamily="18" charset="0"/>
            </a:endParaRP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F → ( E )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F.val := E.val</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F → </a:t>
            </a:r>
            <a:r>
              <a:rPr kumimoji="1" lang="en-US" altLang="zh-TW" sz="2800">
                <a:latin typeface="Arial" panose="020B0604020202020204" pitchFamily="34" charset="0"/>
                <a:ea typeface="PMingLiU" pitchFamily="18" charset="-120"/>
                <a:cs typeface="Arial" panose="020B0604020202020204" pitchFamily="34" charset="0"/>
              </a:rPr>
              <a:t>digit</a:t>
            </a:r>
            <a:r>
              <a:rPr kumimoji="1" lang="en-US" altLang="zh-TW" sz="2800" b="0">
                <a:latin typeface="Arial" panose="020B0604020202020204" pitchFamily="34" charset="0"/>
                <a:ea typeface="PMingLiU" pitchFamily="18" charset="-120"/>
                <a:cs typeface="Arial" panose="020B0604020202020204" pitchFamily="34" charset="0"/>
              </a:rPr>
              <a:t>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F.val := </a:t>
            </a:r>
            <a:r>
              <a:rPr kumimoji="1" lang="en-US" altLang="zh-TW" sz="2800">
                <a:latin typeface="Arial" panose="020B0604020202020204" pitchFamily="34" charset="0"/>
                <a:ea typeface="PMingLiU" pitchFamily="18" charset="-120"/>
                <a:cs typeface="Arial" panose="020B0604020202020204" pitchFamily="34" charset="0"/>
              </a:rPr>
              <a:t>digit</a:t>
            </a:r>
            <a:r>
              <a:rPr kumimoji="1" lang="en-US" altLang="zh-TW" sz="2800" b="0">
                <a:latin typeface="Arial" panose="020B0604020202020204" pitchFamily="34" charset="0"/>
                <a:ea typeface="PMingLiU" pitchFamily="18" charset="-120"/>
                <a:cs typeface="Arial" panose="020B0604020202020204" pitchFamily="34" charset="0"/>
              </a:rPr>
              <a:t>.</a:t>
            </a:r>
            <a:r>
              <a:rPr kumimoji="1" lang="en-US" altLang="zh-CN" sz="2800" b="0">
                <a:latin typeface="Arial" panose="020B0604020202020204" pitchFamily="34" charset="0"/>
                <a:ea typeface="PMingLiU" pitchFamily="18" charset="-120"/>
                <a:cs typeface="Arial" panose="020B0604020202020204" pitchFamily="34" charset="0"/>
              </a:rPr>
              <a:t>lex</a:t>
            </a:r>
            <a:r>
              <a:rPr kumimoji="1" lang="en-US" altLang="zh-TW" sz="2800" b="0">
                <a:latin typeface="Arial" panose="020B0604020202020204" pitchFamily="34" charset="0"/>
                <a:ea typeface="PMingLiU" pitchFamily="18" charset="-120"/>
                <a:cs typeface="Arial" panose="020B0604020202020204" pitchFamily="34" charset="0"/>
              </a:rPr>
              <a:t>val</a:t>
            </a:r>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5363"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5364"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FC1F1B16-4892-4364-AC62-CDE43DE93D56}" type="slidenum">
              <a:rPr lang="zh-CN" altLang="en-US" sz="800"/>
              <a:pPr>
                <a:spcBef>
                  <a:spcPct val="0"/>
                </a:spcBef>
                <a:buFontTx/>
                <a:buNone/>
              </a:pPr>
              <a:t>14</a:t>
            </a:fld>
            <a:endParaRPr lang="en-US" altLang="zh-CN" sz="800"/>
          </a:p>
        </p:txBody>
      </p:sp>
      <p:sp>
        <p:nvSpPr>
          <p:cNvPr id="15365" name="Rectangle 4"/>
          <p:cNvSpPr>
            <a:spLocks noGrp="1" noChangeArrowheads="1"/>
          </p:cNvSpPr>
          <p:nvPr>
            <p:ph type="title"/>
          </p:nvPr>
        </p:nvSpPr>
        <p:spPr>
          <a:xfrm>
            <a:off x="381000" y="152400"/>
            <a:ext cx="9372600" cy="685800"/>
          </a:xfrm>
        </p:spPr>
        <p:txBody>
          <a:bodyPr/>
          <a:lstStyle/>
          <a:p>
            <a:r>
              <a:rPr lang="en-US" altLang="zh-CN" smtClean="0">
                <a:ea typeface="宋体" panose="02010600030101010101" pitchFamily="2" charset="-122"/>
              </a:rPr>
              <a:t>Synthesized attributes (P.281)</a:t>
            </a:r>
          </a:p>
        </p:txBody>
      </p:sp>
      <p:sp>
        <p:nvSpPr>
          <p:cNvPr id="15366" name="Text Box 6"/>
          <p:cNvSpPr txBox="1">
            <a:spLocks noChangeArrowheads="1"/>
          </p:cNvSpPr>
          <p:nvPr/>
        </p:nvSpPr>
        <p:spPr bwMode="auto">
          <a:xfrm>
            <a:off x="685800" y="955675"/>
            <a:ext cx="184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Input:  5+3*4</a:t>
            </a:r>
          </a:p>
        </p:txBody>
      </p:sp>
      <p:sp>
        <p:nvSpPr>
          <p:cNvPr id="347143" name="Text Box 7"/>
          <p:cNvSpPr txBox="1">
            <a:spLocks noChangeArrowheads="1"/>
          </p:cNvSpPr>
          <p:nvPr/>
        </p:nvSpPr>
        <p:spPr bwMode="auto">
          <a:xfrm>
            <a:off x="4583113" y="838200"/>
            <a:ext cx="2274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L </a:t>
            </a:r>
            <a:r>
              <a:rPr kumimoji="1" lang="en-US" altLang="zh-TW" b="0">
                <a:ea typeface="PMingLiU" pitchFamily="18" charset="-120"/>
              </a:rPr>
              <a:t>print(E.val)</a:t>
            </a:r>
            <a:endParaRPr kumimoji="1" lang="en-US" altLang="zh-CN" b="0">
              <a:ea typeface="宋体" panose="02010600030101010101" pitchFamily="2" charset="-122"/>
            </a:endParaRPr>
          </a:p>
        </p:txBody>
      </p:sp>
      <p:sp>
        <p:nvSpPr>
          <p:cNvPr id="347144" name="Text Box 8"/>
          <p:cNvSpPr txBox="1">
            <a:spLocks noChangeArrowheads="1"/>
          </p:cNvSpPr>
          <p:nvPr/>
        </p:nvSpPr>
        <p:spPr bwMode="auto">
          <a:xfrm>
            <a:off x="4130675" y="1828800"/>
            <a:ext cx="1293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E.val=17</a:t>
            </a:r>
            <a:endParaRPr lang="en-US" altLang="zh-CN">
              <a:ea typeface="宋体" panose="02010600030101010101" pitchFamily="2" charset="-122"/>
            </a:endParaRPr>
          </a:p>
        </p:txBody>
      </p:sp>
      <p:sp>
        <p:nvSpPr>
          <p:cNvPr id="347145" name="Text Box 9"/>
          <p:cNvSpPr txBox="1">
            <a:spLocks noChangeArrowheads="1"/>
          </p:cNvSpPr>
          <p:nvPr/>
        </p:nvSpPr>
        <p:spPr bwMode="auto">
          <a:xfrm>
            <a:off x="5868988" y="2743200"/>
            <a:ext cx="1293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T.val=12</a:t>
            </a:r>
          </a:p>
        </p:txBody>
      </p:sp>
      <p:sp>
        <p:nvSpPr>
          <p:cNvPr id="347146" name="Text Box 10"/>
          <p:cNvSpPr txBox="1">
            <a:spLocks noChangeArrowheads="1"/>
          </p:cNvSpPr>
          <p:nvPr/>
        </p:nvSpPr>
        <p:spPr bwMode="auto">
          <a:xfrm>
            <a:off x="4878388" y="3505200"/>
            <a:ext cx="1141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T.val=3</a:t>
            </a:r>
          </a:p>
        </p:txBody>
      </p:sp>
      <p:sp>
        <p:nvSpPr>
          <p:cNvPr id="347147" name="Text Box 11"/>
          <p:cNvSpPr txBox="1">
            <a:spLocks noChangeArrowheads="1"/>
          </p:cNvSpPr>
          <p:nvPr/>
        </p:nvSpPr>
        <p:spPr bwMode="auto">
          <a:xfrm>
            <a:off x="4876800" y="4191000"/>
            <a:ext cx="1125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F.val=3</a:t>
            </a:r>
          </a:p>
        </p:txBody>
      </p:sp>
      <p:sp>
        <p:nvSpPr>
          <p:cNvPr id="347148" name="Text Box 12"/>
          <p:cNvSpPr txBox="1">
            <a:spLocks noChangeArrowheads="1"/>
          </p:cNvSpPr>
          <p:nvPr/>
        </p:nvSpPr>
        <p:spPr bwMode="auto">
          <a:xfrm>
            <a:off x="1600200" y="5029200"/>
            <a:ext cx="1884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digit.lexval=5</a:t>
            </a:r>
          </a:p>
        </p:txBody>
      </p:sp>
      <p:sp>
        <p:nvSpPr>
          <p:cNvPr id="347151" name="Line 15"/>
          <p:cNvSpPr>
            <a:spLocks noChangeShapeType="1"/>
          </p:cNvSpPr>
          <p:nvPr/>
        </p:nvSpPr>
        <p:spPr bwMode="auto">
          <a:xfrm flipH="1">
            <a:off x="2606675" y="2286000"/>
            <a:ext cx="1981200" cy="4572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3" name="Line 17"/>
          <p:cNvSpPr>
            <a:spLocks noChangeShapeType="1"/>
          </p:cNvSpPr>
          <p:nvPr/>
        </p:nvSpPr>
        <p:spPr bwMode="auto">
          <a:xfrm>
            <a:off x="4587875" y="2286000"/>
            <a:ext cx="1905000" cy="4572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4" name="Line 18"/>
          <p:cNvSpPr>
            <a:spLocks noChangeShapeType="1"/>
          </p:cNvSpPr>
          <p:nvPr/>
        </p:nvSpPr>
        <p:spPr bwMode="auto">
          <a:xfrm>
            <a:off x="2530475" y="3200400"/>
            <a:ext cx="0" cy="304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5" name="Line 19"/>
          <p:cNvSpPr>
            <a:spLocks noChangeShapeType="1"/>
          </p:cNvSpPr>
          <p:nvPr/>
        </p:nvSpPr>
        <p:spPr bwMode="auto">
          <a:xfrm>
            <a:off x="2530475" y="4724400"/>
            <a:ext cx="0" cy="304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6" name="Line 20"/>
          <p:cNvSpPr>
            <a:spLocks noChangeShapeType="1"/>
          </p:cNvSpPr>
          <p:nvPr/>
        </p:nvSpPr>
        <p:spPr bwMode="auto">
          <a:xfrm>
            <a:off x="2530475" y="3962400"/>
            <a:ext cx="0" cy="304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7" name="Line 21"/>
          <p:cNvSpPr>
            <a:spLocks noChangeShapeType="1"/>
          </p:cNvSpPr>
          <p:nvPr/>
        </p:nvSpPr>
        <p:spPr bwMode="auto">
          <a:xfrm>
            <a:off x="5426075" y="4724400"/>
            <a:ext cx="0" cy="304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8" name="Line 22"/>
          <p:cNvSpPr>
            <a:spLocks noChangeShapeType="1"/>
          </p:cNvSpPr>
          <p:nvPr/>
        </p:nvSpPr>
        <p:spPr bwMode="auto">
          <a:xfrm>
            <a:off x="7407275" y="3962400"/>
            <a:ext cx="0" cy="304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59" name="Line 23"/>
          <p:cNvSpPr>
            <a:spLocks noChangeShapeType="1"/>
          </p:cNvSpPr>
          <p:nvPr/>
        </p:nvSpPr>
        <p:spPr bwMode="auto">
          <a:xfrm>
            <a:off x="5426075" y="3886200"/>
            <a:ext cx="0" cy="304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60" name="Line 24"/>
          <p:cNvSpPr>
            <a:spLocks noChangeShapeType="1"/>
          </p:cNvSpPr>
          <p:nvPr/>
        </p:nvSpPr>
        <p:spPr bwMode="auto">
          <a:xfrm flipH="1">
            <a:off x="5426075" y="3124200"/>
            <a:ext cx="1066800" cy="3810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61" name="Line 25"/>
          <p:cNvSpPr>
            <a:spLocks noChangeShapeType="1"/>
          </p:cNvSpPr>
          <p:nvPr/>
        </p:nvSpPr>
        <p:spPr bwMode="auto">
          <a:xfrm>
            <a:off x="6492875" y="3124200"/>
            <a:ext cx="914400" cy="3810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7164" name="Line 28"/>
          <p:cNvSpPr>
            <a:spLocks noChangeShapeType="1"/>
          </p:cNvSpPr>
          <p:nvPr/>
        </p:nvSpPr>
        <p:spPr bwMode="auto">
          <a:xfrm flipV="1">
            <a:off x="4800600" y="1295400"/>
            <a:ext cx="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4" name="Text Box 29"/>
          <p:cNvSpPr txBox="1">
            <a:spLocks noChangeArrowheads="1"/>
          </p:cNvSpPr>
          <p:nvPr/>
        </p:nvSpPr>
        <p:spPr bwMode="auto">
          <a:xfrm>
            <a:off x="381000" y="5578475"/>
            <a:ext cx="914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S-attributed definition can be annotated by evaluating the semantic rules for the attributes at each node bottom up, from the leaves to the root.</a:t>
            </a:r>
          </a:p>
        </p:txBody>
      </p:sp>
      <p:grpSp>
        <p:nvGrpSpPr>
          <p:cNvPr id="347174" name="Group 38"/>
          <p:cNvGrpSpPr>
            <a:grpSpLocks/>
          </p:cNvGrpSpPr>
          <p:nvPr/>
        </p:nvGrpSpPr>
        <p:grpSpPr bwMode="auto">
          <a:xfrm>
            <a:off x="3276600" y="1295400"/>
            <a:ext cx="5486400" cy="3733800"/>
            <a:chOff x="2064" y="816"/>
            <a:chExt cx="3456" cy="2352"/>
          </a:xfrm>
        </p:grpSpPr>
        <p:sp>
          <p:nvSpPr>
            <p:cNvPr id="15392" name="Line 30"/>
            <p:cNvSpPr>
              <a:spLocks noChangeShapeType="1"/>
            </p:cNvSpPr>
            <p:nvPr/>
          </p:nvSpPr>
          <p:spPr bwMode="auto">
            <a:xfrm flipV="1">
              <a:off x="2064" y="1872"/>
              <a:ext cx="0" cy="1296"/>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3" name="Line 31"/>
            <p:cNvSpPr>
              <a:spLocks noChangeShapeType="1"/>
            </p:cNvSpPr>
            <p:nvPr/>
          </p:nvSpPr>
          <p:spPr bwMode="auto">
            <a:xfrm flipV="1">
              <a:off x="3936" y="2256"/>
              <a:ext cx="0" cy="912"/>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4" name="Line 32"/>
            <p:cNvSpPr>
              <a:spLocks noChangeShapeType="1"/>
            </p:cNvSpPr>
            <p:nvPr/>
          </p:nvSpPr>
          <p:spPr bwMode="auto">
            <a:xfrm flipV="1">
              <a:off x="5520" y="2256"/>
              <a:ext cx="0" cy="62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5" name="Line 33"/>
            <p:cNvSpPr>
              <a:spLocks noChangeShapeType="1"/>
            </p:cNvSpPr>
            <p:nvPr/>
          </p:nvSpPr>
          <p:spPr bwMode="auto">
            <a:xfrm flipV="1">
              <a:off x="2160" y="1488"/>
              <a:ext cx="1200" cy="336"/>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Line 34"/>
            <p:cNvSpPr>
              <a:spLocks noChangeShapeType="1"/>
            </p:cNvSpPr>
            <p:nvPr/>
          </p:nvSpPr>
          <p:spPr bwMode="auto">
            <a:xfrm flipV="1">
              <a:off x="4032" y="1824"/>
              <a:ext cx="672" cy="38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7" name="Line 35"/>
            <p:cNvSpPr>
              <a:spLocks noChangeShapeType="1"/>
            </p:cNvSpPr>
            <p:nvPr/>
          </p:nvSpPr>
          <p:spPr bwMode="auto">
            <a:xfrm flipH="1" flipV="1">
              <a:off x="4800" y="1824"/>
              <a:ext cx="624" cy="38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8" name="Line 36"/>
            <p:cNvSpPr>
              <a:spLocks noChangeShapeType="1"/>
            </p:cNvSpPr>
            <p:nvPr/>
          </p:nvSpPr>
          <p:spPr bwMode="auto">
            <a:xfrm flipH="1" flipV="1">
              <a:off x="3552" y="1440"/>
              <a:ext cx="1152" cy="28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9" name="Line 37"/>
            <p:cNvSpPr>
              <a:spLocks noChangeShapeType="1"/>
            </p:cNvSpPr>
            <p:nvPr/>
          </p:nvSpPr>
          <p:spPr bwMode="auto">
            <a:xfrm flipV="1">
              <a:off x="3456" y="816"/>
              <a:ext cx="0" cy="576"/>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7175" name="Text Box 39"/>
          <p:cNvSpPr txBox="1">
            <a:spLocks noChangeArrowheads="1"/>
          </p:cNvSpPr>
          <p:nvPr/>
        </p:nvSpPr>
        <p:spPr bwMode="auto">
          <a:xfrm>
            <a:off x="4495800" y="5029200"/>
            <a:ext cx="1884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digit.lexval=3</a:t>
            </a:r>
          </a:p>
        </p:txBody>
      </p:sp>
      <p:sp>
        <p:nvSpPr>
          <p:cNvPr id="347177" name="Text Box 41"/>
          <p:cNvSpPr txBox="1">
            <a:spLocks noChangeArrowheads="1"/>
          </p:cNvSpPr>
          <p:nvPr/>
        </p:nvSpPr>
        <p:spPr bwMode="auto">
          <a:xfrm>
            <a:off x="1981200" y="4343400"/>
            <a:ext cx="1125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F.val=5</a:t>
            </a:r>
          </a:p>
        </p:txBody>
      </p:sp>
      <p:sp>
        <p:nvSpPr>
          <p:cNvPr id="347178" name="Text Box 42"/>
          <p:cNvSpPr txBox="1">
            <a:spLocks noChangeArrowheads="1"/>
          </p:cNvSpPr>
          <p:nvPr/>
        </p:nvSpPr>
        <p:spPr bwMode="auto">
          <a:xfrm>
            <a:off x="6477000" y="4343400"/>
            <a:ext cx="1884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digit.lexval=4</a:t>
            </a:r>
          </a:p>
        </p:txBody>
      </p:sp>
      <p:sp>
        <p:nvSpPr>
          <p:cNvPr id="347179" name="Text Box 43"/>
          <p:cNvSpPr txBox="1">
            <a:spLocks noChangeArrowheads="1"/>
          </p:cNvSpPr>
          <p:nvPr/>
        </p:nvSpPr>
        <p:spPr bwMode="auto">
          <a:xfrm>
            <a:off x="1981200" y="3581400"/>
            <a:ext cx="114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T.val=5</a:t>
            </a:r>
          </a:p>
        </p:txBody>
      </p:sp>
      <p:sp>
        <p:nvSpPr>
          <p:cNvPr id="347180" name="Text Box 44"/>
          <p:cNvSpPr txBox="1">
            <a:spLocks noChangeArrowheads="1"/>
          </p:cNvSpPr>
          <p:nvPr/>
        </p:nvSpPr>
        <p:spPr bwMode="auto">
          <a:xfrm>
            <a:off x="6858000" y="3505200"/>
            <a:ext cx="1125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F.val=4</a:t>
            </a:r>
          </a:p>
        </p:txBody>
      </p:sp>
      <p:sp>
        <p:nvSpPr>
          <p:cNvPr id="347182" name="Text Box 46"/>
          <p:cNvSpPr txBox="1">
            <a:spLocks noChangeArrowheads="1"/>
          </p:cNvSpPr>
          <p:nvPr/>
        </p:nvSpPr>
        <p:spPr bwMode="auto">
          <a:xfrm>
            <a:off x="1981200" y="2819400"/>
            <a:ext cx="114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E.val=5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47148"/>
                                        </p:tgtEl>
                                        <p:attrNameLst>
                                          <p:attrName>style.visibility</p:attrName>
                                        </p:attrNameLst>
                                      </p:cBhvr>
                                      <p:to>
                                        <p:strVal val="visible"/>
                                      </p:to>
                                    </p:set>
                                    <p:animEffect transition="in" filter="wipe(down)">
                                      <p:cBhvr>
                                        <p:cTn id="7" dur="1000"/>
                                        <p:tgtEl>
                                          <p:spTgt spid="347148"/>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347155"/>
                                        </p:tgtEl>
                                        <p:attrNameLst>
                                          <p:attrName>style.visibility</p:attrName>
                                        </p:attrNameLst>
                                      </p:cBhvr>
                                      <p:to>
                                        <p:strVal val="visible"/>
                                      </p:to>
                                    </p:set>
                                    <p:animEffect transition="in" filter="wipe(down)">
                                      <p:cBhvr>
                                        <p:cTn id="11" dur="1000"/>
                                        <p:tgtEl>
                                          <p:spTgt spid="347155"/>
                                        </p:tgtEl>
                                      </p:cBhvr>
                                    </p:animEffect>
                                  </p:childTnLst>
                                </p:cTn>
                              </p:par>
                            </p:childTnLst>
                          </p:cTn>
                        </p:par>
                        <p:par>
                          <p:cTn id="12" fill="hold" nodeType="afterGroup">
                            <p:stCondLst>
                              <p:cond delay="2000"/>
                            </p:stCondLst>
                            <p:childTnLst>
                              <p:par>
                                <p:cTn id="13" presetID="22" presetClass="entr" presetSubtype="4" fill="hold" grpId="0" nodeType="afterEffect">
                                  <p:stCondLst>
                                    <p:cond delay="0"/>
                                  </p:stCondLst>
                                  <p:childTnLst>
                                    <p:set>
                                      <p:cBhvr>
                                        <p:cTn id="14" dur="1" fill="hold">
                                          <p:stCondLst>
                                            <p:cond delay="0"/>
                                          </p:stCondLst>
                                        </p:cTn>
                                        <p:tgtEl>
                                          <p:spTgt spid="347177"/>
                                        </p:tgtEl>
                                        <p:attrNameLst>
                                          <p:attrName>style.visibility</p:attrName>
                                        </p:attrNameLst>
                                      </p:cBhvr>
                                      <p:to>
                                        <p:strVal val="visible"/>
                                      </p:to>
                                    </p:set>
                                    <p:animEffect transition="in" filter="wipe(down)">
                                      <p:cBhvr>
                                        <p:cTn id="15" dur="1000"/>
                                        <p:tgtEl>
                                          <p:spTgt spid="347177"/>
                                        </p:tgtEl>
                                      </p:cBhvr>
                                    </p:animEffect>
                                  </p:childTnLst>
                                </p:cTn>
                              </p:par>
                            </p:childTnLst>
                          </p:cTn>
                        </p:par>
                        <p:par>
                          <p:cTn id="16" fill="hold" nodeType="afterGroup">
                            <p:stCondLst>
                              <p:cond delay="3000"/>
                            </p:stCondLst>
                            <p:childTnLst>
                              <p:par>
                                <p:cTn id="17" presetID="22" presetClass="entr" presetSubtype="4" fill="hold" nodeType="afterEffect">
                                  <p:stCondLst>
                                    <p:cond delay="0"/>
                                  </p:stCondLst>
                                  <p:childTnLst>
                                    <p:set>
                                      <p:cBhvr>
                                        <p:cTn id="18" dur="1" fill="hold">
                                          <p:stCondLst>
                                            <p:cond delay="0"/>
                                          </p:stCondLst>
                                        </p:cTn>
                                        <p:tgtEl>
                                          <p:spTgt spid="347156"/>
                                        </p:tgtEl>
                                        <p:attrNameLst>
                                          <p:attrName>style.visibility</p:attrName>
                                        </p:attrNameLst>
                                      </p:cBhvr>
                                      <p:to>
                                        <p:strVal val="visible"/>
                                      </p:to>
                                    </p:set>
                                    <p:animEffect transition="in" filter="wipe(down)">
                                      <p:cBhvr>
                                        <p:cTn id="19" dur="1000"/>
                                        <p:tgtEl>
                                          <p:spTgt spid="347156"/>
                                        </p:tgtEl>
                                      </p:cBhvr>
                                    </p:animEffect>
                                  </p:childTnLst>
                                </p:cTn>
                              </p:par>
                            </p:childTnLst>
                          </p:cTn>
                        </p:par>
                        <p:par>
                          <p:cTn id="20" fill="hold" nodeType="afterGroup">
                            <p:stCondLst>
                              <p:cond delay="4000"/>
                            </p:stCondLst>
                            <p:childTnLst>
                              <p:par>
                                <p:cTn id="21" presetID="22" presetClass="entr" presetSubtype="4" fill="hold" grpId="0" nodeType="afterEffect">
                                  <p:stCondLst>
                                    <p:cond delay="0"/>
                                  </p:stCondLst>
                                  <p:childTnLst>
                                    <p:set>
                                      <p:cBhvr>
                                        <p:cTn id="22" dur="1" fill="hold">
                                          <p:stCondLst>
                                            <p:cond delay="0"/>
                                          </p:stCondLst>
                                        </p:cTn>
                                        <p:tgtEl>
                                          <p:spTgt spid="347179"/>
                                        </p:tgtEl>
                                        <p:attrNameLst>
                                          <p:attrName>style.visibility</p:attrName>
                                        </p:attrNameLst>
                                      </p:cBhvr>
                                      <p:to>
                                        <p:strVal val="visible"/>
                                      </p:to>
                                    </p:set>
                                    <p:animEffect transition="in" filter="wipe(down)">
                                      <p:cBhvr>
                                        <p:cTn id="23" dur="1000"/>
                                        <p:tgtEl>
                                          <p:spTgt spid="347179"/>
                                        </p:tgtEl>
                                      </p:cBhvr>
                                    </p:animEffect>
                                  </p:childTnLst>
                                </p:cTn>
                              </p:par>
                            </p:childTnLst>
                          </p:cTn>
                        </p:par>
                        <p:par>
                          <p:cTn id="24" fill="hold" nodeType="afterGroup">
                            <p:stCondLst>
                              <p:cond delay="5000"/>
                            </p:stCondLst>
                            <p:childTnLst>
                              <p:par>
                                <p:cTn id="25" presetID="22" presetClass="entr" presetSubtype="4" fill="hold" nodeType="afterEffect">
                                  <p:stCondLst>
                                    <p:cond delay="0"/>
                                  </p:stCondLst>
                                  <p:childTnLst>
                                    <p:set>
                                      <p:cBhvr>
                                        <p:cTn id="26" dur="1" fill="hold">
                                          <p:stCondLst>
                                            <p:cond delay="0"/>
                                          </p:stCondLst>
                                        </p:cTn>
                                        <p:tgtEl>
                                          <p:spTgt spid="347154"/>
                                        </p:tgtEl>
                                        <p:attrNameLst>
                                          <p:attrName>style.visibility</p:attrName>
                                        </p:attrNameLst>
                                      </p:cBhvr>
                                      <p:to>
                                        <p:strVal val="visible"/>
                                      </p:to>
                                    </p:set>
                                    <p:animEffect transition="in" filter="wipe(down)">
                                      <p:cBhvr>
                                        <p:cTn id="27" dur="1000"/>
                                        <p:tgtEl>
                                          <p:spTgt spid="347154"/>
                                        </p:tgtEl>
                                      </p:cBhvr>
                                    </p:animEffect>
                                  </p:childTnLst>
                                </p:cTn>
                              </p:par>
                            </p:childTnLst>
                          </p:cTn>
                        </p:par>
                        <p:par>
                          <p:cTn id="28" fill="hold" nodeType="afterGroup">
                            <p:stCondLst>
                              <p:cond delay="6000"/>
                            </p:stCondLst>
                            <p:childTnLst>
                              <p:par>
                                <p:cTn id="29" presetID="22" presetClass="entr" presetSubtype="4" fill="hold" grpId="0" nodeType="afterEffect">
                                  <p:stCondLst>
                                    <p:cond delay="0"/>
                                  </p:stCondLst>
                                  <p:childTnLst>
                                    <p:set>
                                      <p:cBhvr>
                                        <p:cTn id="30" dur="1" fill="hold">
                                          <p:stCondLst>
                                            <p:cond delay="0"/>
                                          </p:stCondLst>
                                        </p:cTn>
                                        <p:tgtEl>
                                          <p:spTgt spid="347182"/>
                                        </p:tgtEl>
                                        <p:attrNameLst>
                                          <p:attrName>style.visibility</p:attrName>
                                        </p:attrNameLst>
                                      </p:cBhvr>
                                      <p:to>
                                        <p:strVal val="visible"/>
                                      </p:to>
                                    </p:set>
                                    <p:animEffect transition="in" filter="wipe(down)">
                                      <p:cBhvr>
                                        <p:cTn id="31" dur="1000"/>
                                        <p:tgtEl>
                                          <p:spTgt spid="347182"/>
                                        </p:tgtEl>
                                      </p:cBhvr>
                                    </p:animEffect>
                                  </p:childTnLst>
                                </p:cTn>
                              </p:par>
                            </p:childTnLst>
                          </p:cTn>
                        </p:par>
                        <p:par>
                          <p:cTn id="32" fill="hold" nodeType="afterGroup">
                            <p:stCondLst>
                              <p:cond delay="7000"/>
                            </p:stCondLst>
                            <p:childTnLst>
                              <p:par>
                                <p:cTn id="33" presetID="22" presetClass="entr" presetSubtype="4" fill="hold" nodeType="afterEffect">
                                  <p:stCondLst>
                                    <p:cond delay="0"/>
                                  </p:stCondLst>
                                  <p:childTnLst>
                                    <p:set>
                                      <p:cBhvr>
                                        <p:cTn id="34" dur="1" fill="hold">
                                          <p:stCondLst>
                                            <p:cond delay="0"/>
                                          </p:stCondLst>
                                        </p:cTn>
                                        <p:tgtEl>
                                          <p:spTgt spid="347151"/>
                                        </p:tgtEl>
                                        <p:attrNameLst>
                                          <p:attrName>style.visibility</p:attrName>
                                        </p:attrNameLst>
                                      </p:cBhvr>
                                      <p:to>
                                        <p:strVal val="visible"/>
                                      </p:to>
                                    </p:set>
                                    <p:animEffect transition="in" filter="wipe(down)">
                                      <p:cBhvr>
                                        <p:cTn id="35" dur="1000"/>
                                        <p:tgtEl>
                                          <p:spTgt spid="347151"/>
                                        </p:tgtEl>
                                      </p:cBhvr>
                                    </p:animEffect>
                                  </p:childTnLst>
                                </p:cTn>
                              </p:par>
                            </p:childTnLst>
                          </p:cTn>
                        </p:par>
                        <p:par>
                          <p:cTn id="36" fill="hold" nodeType="afterGroup">
                            <p:stCondLst>
                              <p:cond delay="8000"/>
                            </p:stCondLst>
                            <p:childTnLst>
                              <p:par>
                                <p:cTn id="37" presetID="22" presetClass="entr" presetSubtype="4" fill="hold" grpId="0" nodeType="afterEffect">
                                  <p:stCondLst>
                                    <p:cond delay="0"/>
                                  </p:stCondLst>
                                  <p:childTnLst>
                                    <p:set>
                                      <p:cBhvr>
                                        <p:cTn id="38" dur="1" fill="hold">
                                          <p:stCondLst>
                                            <p:cond delay="0"/>
                                          </p:stCondLst>
                                        </p:cTn>
                                        <p:tgtEl>
                                          <p:spTgt spid="347175"/>
                                        </p:tgtEl>
                                        <p:attrNameLst>
                                          <p:attrName>style.visibility</p:attrName>
                                        </p:attrNameLst>
                                      </p:cBhvr>
                                      <p:to>
                                        <p:strVal val="visible"/>
                                      </p:to>
                                    </p:set>
                                    <p:animEffect transition="in" filter="wipe(down)">
                                      <p:cBhvr>
                                        <p:cTn id="39" dur="1000"/>
                                        <p:tgtEl>
                                          <p:spTgt spid="347175"/>
                                        </p:tgtEl>
                                      </p:cBhvr>
                                    </p:animEffect>
                                  </p:childTnLst>
                                </p:cTn>
                              </p:par>
                            </p:childTnLst>
                          </p:cTn>
                        </p:par>
                        <p:par>
                          <p:cTn id="40" fill="hold" nodeType="afterGroup">
                            <p:stCondLst>
                              <p:cond delay="9000"/>
                            </p:stCondLst>
                            <p:childTnLst>
                              <p:par>
                                <p:cTn id="41" presetID="22" presetClass="entr" presetSubtype="4" fill="hold" nodeType="afterEffect">
                                  <p:stCondLst>
                                    <p:cond delay="0"/>
                                  </p:stCondLst>
                                  <p:childTnLst>
                                    <p:set>
                                      <p:cBhvr>
                                        <p:cTn id="42" dur="1" fill="hold">
                                          <p:stCondLst>
                                            <p:cond delay="0"/>
                                          </p:stCondLst>
                                        </p:cTn>
                                        <p:tgtEl>
                                          <p:spTgt spid="347157"/>
                                        </p:tgtEl>
                                        <p:attrNameLst>
                                          <p:attrName>style.visibility</p:attrName>
                                        </p:attrNameLst>
                                      </p:cBhvr>
                                      <p:to>
                                        <p:strVal val="visible"/>
                                      </p:to>
                                    </p:set>
                                    <p:animEffect transition="in" filter="wipe(down)">
                                      <p:cBhvr>
                                        <p:cTn id="43" dur="1000"/>
                                        <p:tgtEl>
                                          <p:spTgt spid="347157"/>
                                        </p:tgtEl>
                                      </p:cBhvr>
                                    </p:animEffect>
                                  </p:childTnLst>
                                </p:cTn>
                              </p:par>
                            </p:childTnLst>
                          </p:cTn>
                        </p:par>
                        <p:par>
                          <p:cTn id="44" fill="hold" nodeType="afterGroup">
                            <p:stCondLst>
                              <p:cond delay="10000"/>
                            </p:stCondLst>
                            <p:childTnLst>
                              <p:par>
                                <p:cTn id="45" presetID="22" presetClass="entr" presetSubtype="4" fill="hold" grpId="0" nodeType="afterEffect">
                                  <p:stCondLst>
                                    <p:cond delay="0"/>
                                  </p:stCondLst>
                                  <p:childTnLst>
                                    <p:set>
                                      <p:cBhvr>
                                        <p:cTn id="46" dur="1" fill="hold">
                                          <p:stCondLst>
                                            <p:cond delay="0"/>
                                          </p:stCondLst>
                                        </p:cTn>
                                        <p:tgtEl>
                                          <p:spTgt spid="347147"/>
                                        </p:tgtEl>
                                        <p:attrNameLst>
                                          <p:attrName>style.visibility</p:attrName>
                                        </p:attrNameLst>
                                      </p:cBhvr>
                                      <p:to>
                                        <p:strVal val="visible"/>
                                      </p:to>
                                    </p:set>
                                    <p:animEffect transition="in" filter="wipe(down)">
                                      <p:cBhvr>
                                        <p:cTn id="47" dur="1000"/>
                                        <p:tgtEl>
                                          <p:spTgt spid="347147"/>
                                        </p:tgtEl>
                                      </p:cBhvr>
                                    </p:animEffect>
                                  </p:childTnLst>
                                </p:cTn>
                              </p:par>
                            </p:childTnLst>
                          </p:cTn>
                        </p:par>
                        <p:par>
                          <p:cTn id="48" fill="hold" nodeType="afterGroup">
                            <p:stCondLst>
                              <p:cond delay="11000"/>
                            </p:stCondLst>
                            <p:childTnLst>
                              <p:par>
                                <p:cTn id="49" presetID="22" presetClass="entr" presetSubtype="4" fill="hold" nodeType="afterEffect">
                                  <p:stCondLst>
                                    <p:cond delay="0"/>
                                  </p:stCondLst>
                                  <p:childTnLst>
                                    <p:set>
                                      <p:cBhvr>
                                        <p:cTn id="50" dur="1" fill="hold">
                                          <p:stCondLst>
                                            <p:cond delay="0"/>
                                          </p:stCondLst>
                                        </p:cTn>
                                        <p:tgtEl>
                                          <p:spTgt spid="347159"/>
                                        </p:tgtEl>
                                        <p:attrNameLst>
                                          <p:attrName>style.visibility</p:attrName>
                                        </p:attrNameLst>
                                      </p:cBhvr>
                                      <p:to>
                                        <p:strVal val="visible"/>
                                      </p:to>
                                    </p:set>
                                    <p:animEffect transition="in" filter="wipe(down)">
                                      <p:cBhvr>
                                        <p:cTn id="51" dur="1000"/>
                                        <p:tgtEl>
                                          <p:spTgt spid="347159"/>
                                        </p:tgtEl>
                                      </p:cBhvr>
                                    </p:animEffect>
                                  </p:childTnLst>
                                </p:cTn>
                              </p:par>
                            </p:childTnLst>
                          </p:cTn>
                        </p:par>
                        <p:par>
                          <p:cTn id="52" fill="hold" nodeType="afterGroup">
                            <p:stCondLst>
                              <p:cond delay="12000"/>
                            </p:stCondLst>
                            <p:childTnLst>
                              <p:par>
                                <p:cTn id="53" presetID="22" presetClass="entr" presetSubtype="4" fill="hold" grpId="0" nodeType="afterEffect">
                                  <p:stCondLst>
                                    <p:cond delay="0"/>
                                  </p:stCondLst>
                                  <p:childTnLst>
                                    <p:set>
                                      <p:cBhvr>
                                        <p:cTn id="54" dur="1" fill="hold">
                                          <p:stCondLst>
                                            <p:cond delay="0"/>
                                          </p:stCondLst>
                                        </p:cTn>
                                        <p:tgtEl>
                                          <p:spTgt spid="347146"/>
                                        </p:tgtEl>
                                        <p:attrNameLst>
                                          <p:attrName>style.visibility</p:attrName>
                                        </p:attrNameLst>
                                      </p:cBhvr>
                                      <p:to>
                                        <p:strVal val="visible"/>
                                      </p:to>
                                    </p:set>
                                    <p:animEffect transition="in" filter="wipe(down)">
                                      <p:cBhvr>
                                        <p:cTn id="55" dur="1000"/>
                                        <p:tgtEl>
                                          <p:spTgt spid="347146"/>
                                        </p:tgtEl>
                                      </p:cBhvr>
                                    </p:animEffect>
                                  </p:childTnLst>
                                </p:cTn>
                              </p:par>
                            </p:childTnLst>
                          </p:cTn>
                        </p:par>
                        <p:par>
                          <p:cTn id="56" fill="hold" nodeType="afterGroup">
                            <p:stCondLst>
                              <p:cond delay="13000"/>
                            </p:stCondLst>
                            <p:childTnLst>
                              <p:par>
                                <p:cTn id="57" presetID="22" presetClass="entr" presetSubtype="4" fill="hold" nodeType="afterEffect">
                                  <p:stCondLst>
                                    <p:cond delay="0"/>
                                  </p:stCondLst>
                                  <p:childTnLst>
                                    <p:set>
                                      <p:cBhvr>
                                        <p:cTn id="58" dur="1" fill="hold">
                                          <p:stCondLst>
                                            <p:cond delay="0"/>
                                          </p:stCondLst>
                                        </p:cTn>
                                        <p:tgtEl>
                                          <p:spTgt spid="347160"/>
                                        </p:tgtEl>
                                        <p:attrNameLst>
                                          <p:attrName>style.visibility</p:attrName>
                                        </p:attrNameLst>
                                      </p:cBhvr>
                                      <p:to>
                                        <p:strVal val="visible"/>
                                      </p:to>
                                    </p:set>
                                    <p:animEffect transition="in" filter="wipe(down)">
                                      <p:cBhvr>
                                        <p:cTn id="59" dur="1000"/>
                                        <p:tgtEl>
                                          <p:spTgt spid="347160"/>
                                        </p:tgtEl>
                                      </p:cBhvr>
                                    </p:animEffect>
                                  </p:childTnLst>
                                </p:cTn>
                              </p:par>
                            </p:childTnLst>
                          </p:cTn>
                        </p:par>
                        <p:par>
                          <p:cTn id="60" fill="hold" nodeType="afterGroup">
                            <p:stCondLst>
                              <p:cond delay="14000"/>
                            </p:stCondLst>
                            <p:childTnLst>
                              <p:par>
                                <p:cTn id="61" presetID="22" presetClass="entr" presetSubtype="4" fill="hold" grpId="0" nodeType="afterEffect">
                                  <p:stCondLst>
                                    <p:cond delay="0"/>
                                  </p:stCondLst>
                                  <p:childTnLst>
                                    <p:set>
                                      <p:cBhvr>
                                        <p:cTn id="62" dur="1" fill="hold">
                                          <p:stCondLst>
                                            <p:cond delay="0"/>
                                          </p:stCondLst>
                                        </p:cTn>
                                        <p:tgtEl>
                                          <p:spTgt spid="347178"/>
                                        </p:tgtEl>
                                        <p:attrNameLst>
                                          <p:attrName>style.visibility</p:attrName>
                                        </p:attrNameLst>
                                      </p:cBhvr>
                                      <p:to>
                                        <p:strVal val="visible"/>
                                      </p:to>
                                    </p:set>
                                    <p:animEffect transition="in" filter="wipe(down)">
                                      <p:cBhvr>
                                        <p:cTn id="63" dur="1000"/>
                                        <p:tgtEl>
                                          <p:spTgt spid="347178"/>
                                        </p:tgtEl>
                                      </p:cBhvr>
                                    </p:animEffect>
                                  </p:childTnLst>
                                </p:cTn>
                              </p:par>
                            </p:childTnLst>
                          </p:cTn>
                        </p:par>
                        <p:par>
                          <p:cTn id="64" fill="hold" nodeType="afterGroup">
                            <p:stCondLst>
                              <p:cond delay="15000"/>
                            </p:stCondLst>
                            <p:childTnLst>
                              <p:par>
                                <p:cTn id="65" presetID="22" presetClass="entr" presetSubtype="4" fill="hold" nodeType="afterEffect">
                                  <p:stCondLst>
                                    <p:cond delay="0"/>
                                  </p:stCondLst>
                                  <p:childTnLst>
                                    <p:set>
                                      <p:cBhvr>
                                        <p:cTn id="66" dur="1" fill="hold">
                                          <p:stCondLst>
                                            <p:cond delay="0"/>
                                          </p:stCondLst>
                                        </p:cTn>
                                        <p:tgtEl>
                                          <p:spTgt spid="347158"/>
                                        </p:tgtEl>
                                        <p:attrNameLst>
                                          <p:attrName>style.visibility</p:attrName>
                                        </p:attrNameLst>
                                      </p:cBhvr>
                                      <p:to>
                                        <p:strVal val="visible"/>
                                      </p:to>
                                    </p:set>
                                    <p:animEffect transition="in" filter="wipe(down)">
                                      <p:cBhvr>
                                        <p:cTn id="67" dur="1000"/>
                                        <p:tgtEl>
                                          <p:spTgt spid="347158"/>
                                        </p:tgtEl>
                                      </p:cBhvr>
                                    </p:animEffect>
                                  </p:childTnLst>
                                </p:cTn>
                              </p:par>
                            </p:childTnLst>
                          </p:cTn>
                        </p:par>
                        <p:par>
                          <p:cTn id="68" fill="hold" nodeType="afterGroup">
                            <p:stCondLst>
                              <p:cond delay="16000"/>
                            </p:stCondLst>
                            <p:childTnLst>
                              <p:par>
                                <p:cTn id="69" presetID="22" presetClass="entr" presetSubtype="4" fill="hold" grpId="0" nodeType="afterEffect">
                                  <p:stCondLst>
                                    <p:cond delay="0"/>
                                  </p:stCondLst>
                                  <p:childTnLst>
                                    <p:set>
                                      <p:cBhvr>
                                        <p:cTn id="70" dur="1" fill="hold">
                                          <p:stCondLst>
                                            <p:cond delay="0"/>
                                          </p:stCondLst>
                                        </p:cTn>
                                        <p:tgtEl>
                                          <p:spTgt spid="347180"/>
                                        </p:tgtEl>
                                        <p:attrNameLst>
                                          <p:attrName>style.visibility</p:attrName>
                                        </p:attrNameLst>
                                      </p:cBhvr>
                                      <p:to>
                                        <p:strVal val="visible"/>
                                      </p:to>
                                    </p:set>
                                    <p:animEffect transition="in" filter="wipe(down)">
                                      <p:cBhvr>
                                        <p:cTn id="71" dur="1000"/>
                                        <p:tgtEl>
                                          <p:spTgt spid="347180"/>
                                        </p:tgtEl>
                                      </p:cBhvr>
                                    </p:animEffect>
                                  </p:childTnLst>
                                </p:cTn>
                              </p:par>
                            </p:childTnLst>
                          </p:cTn>
                        </p:par>
                        <p:par>
                          <p:cTn id="72" fill="hold" nodeType="afterGroup">
                            <p:stCondLst>
                              <p:cond delay="17000"/>
                            </p:stCondLst>
                            <p:childTnLst>
                              <p:par>
                                <p:cTn id="73" presetID="22" presetClass="entr" presetSubtype="4" fill="hold" nodeType="afterEffect">
                                  <p:stCondLst>
                                    <p:cond delay="0"/>
                                  </p:stCondLst>
                                  <p:childTnLst>
                                    <p:set>
                                      <p:cBhvr>
                                        <p:cTn id="74" dur="1" fill="hold">
                                          <p:stCondLst>
                                            <p:cond delay="0"/>
                                          </p:stCondLst>
                                        </p:cTn>
                                        <p:tgtEl>
                                          <p:spTgt spid="347161"/>
                                        </p:tgtEl>
                                        <p:attrNameLst>
                                          <p:attrName>style.visibility</p:attrName>
                                        </p:attrNameLst>
                                      </p:cBhvr>
                                      <p:to>
                                        <p:strVal val="visible"/>
                                      </p:to>
                                    </p:set>
                                    <p:animEffect transition="in" filter="wipe(down)">
                                      <p:cBhvr>
                                        <p:cTn id="75" dur="1000"/>
                                        <p:tgtEl>
                                          <p:spTgt spid="347161"/>
                                        </p:tgtEl>
                                      </p:cBhvr>
                                    </p:animEffect>
                                  </p:childTnLst>
                                </p:cTn>
                              </p:par>
                            </p:childTnLst>
                          </p:cTn>
                        </p:par>
                        <p:par>
                          <p:cTn id="76" fill="hold" nodeType="afterGroup">
                            <p:stCondLst>
                              <p:cond delay="18000"/>
                            </p:stCondLst>
                            <p:childTnLst>
                              <p:par>
                                <p:cTn id="77" presetID="22" presetClass="entr" presetSubtype="4" fill="hold" grpId="0" nodeType="afterEffect">
                                  <p:stCondLst>
                                    <p:cond delay="0"/>
                                  </p:stCondLst>
                                  <p:childTnLst>
                                    <p:set>
                                      <p:cBhvr>
                                        <p:cTn id="78" dur="1" fill="hold">
                                          <p:stCondLst>
                                            <p:cond delay="0"/>
                                          </p:stCondLst>
                                        </p:cTn>
                                        <p:tgtEl>
                                          <p:spTgt spid="347145"/>
                                        </p:tgtEl>
                                        <p:attrNameLst>
                                          <p:attrName>style.visibility</p:attrName>
                                        </p:attrNameLst>
                                      </p:cBhvr>
                                      <p:to>
                                        <p:strVal val="visible"/>
                                      </p:to>
                                    </p:set>
                                    <p:animEffect transition="in" filter="wipe(down)">
                                      <p:cBhvr>
                                        <p:cTn id="79" dur="1000"/>
                                        <p:tgtEl>
                                          <p:spTgt spid="347145"/>
                                        </p:tgtEl>
                                      </p:cBhvr>
                                    </p:animEffect>
                                  </p:childTnLst>
                                </p:cTn>
                              </p:par>
                            </p:childTnLst>
                          </p:cTn>
                        </p:par>
                        <p:par>
                          <p:cTn id="80" fill="hold" nodeType="afterGroup">
                            <p:stCondLst>
                              <p:cond delay="19000"/>
                            </p:stCondLst>
                            <p:childTnLst>
                              <p:par>
                                <p:cTn id="81" presetID="22" presetClass="entr" presetSubtype="4" fill="hold" nodeType="afterEffect">
                                  <p:stCondLst>
                                    <p:cond delay="0"/>
                                  </p:stCondLst>
                                  <p:childTnLst>
                                    <p:set>
                                      <p:cBhvr>
                                        <p:cTn id="82" dur="1" fill="hold">
                                          <p:stCondLst>
                                            <p:cond delay="0"/>
                                          </p:stCondLst>
                                        </p:cTn>
                                        <p:tgtEl>
                                          <p:spTgt spid="347153"/>
                                        </p:tgtEl>
                                        <p:attrNameLst>
                                          <p:attrName>style.visibility</p:attrName>
                                        </p:attrNameLst>
                                      </p:cBhvr>
                                      <p:to>
                                        <p:strVal val="visible"/>
                                      </p:to>
                                    </p:set>
                                    <p:animEffect transition="in" filter="wipe(down)">
                                      <p:cBhvr>
                                        <p:cTn id="83" dur="1000"/>
                                        <p:tgtEl>
                                          <p:spTgt spid="347153"/>
                                        </p:tgtEl>
                                      </p:cBhvr>
                                    </p:animEffect>
                                  </p:childTnLst>
                                </p:cTn>
                              </p:par>
                            </p:childTnLst>
                          </p:cTn>
                        </p:par>
                        <p:par>
                          <p:cTn id="84" fill="hold" nodeType="afterGroup">
                            <p:stCondLst>
                              <p:cond delay="20000"/>
                            </p:stCondLst>
                            <p:childTnLst>
                              <p:par>
                                <p:cTn id="85" presetID="22" presetClass="entr" presetSubtype="4" fill="hold" grpId="0" nodeType="afterEffect">
                                  <p:stCondLst>
                                    <p:cond delay="0"/>
                                  </p:stCondLst>
                                  <p:childTnLst>
                                    <p:set>
                                      <p:cBhvr>
                                        <p:cTn id="86" dur="1" fill="hold">
                                          <p:stCondLst>
                                            <p:cond delay="0"/>
                                          </p:stCondLst>
                                        </p:cTn>
                                        <p:tgtEl>
                                          <p:spTgt spid="347144"/>
                                        </p:tgtEl>
                                        <p:attrNameLst>
                                          <p:attrName>style.visibility</p:attrName>
                                        </p:attrNameLst>
                                      </p:cBhvr>
                                      <p:to>
                                        <p:strVal val="visible"/>
                                      </p:to>
                                    </p:set>
                                    <p:animEffect transition="in" filter="wipe(down)">
                                      <p:cBhvr>
                                        <p:cTn id="87" dur="1000"/>
                                        <p:tgtEl>
                                          <p:spTgt spid="347144"/>
                                        </p:tgtEl>
                                      </p:cBhvr>
                                    </p:animEffect>
                                  </p:childTnLst>
                                </p:cTn>
                              </p:par>
                            </p:childTnLst>
                          </p:cTn>
                        </p:par>
                        <p:par>
                          <p:cTn id="88" fill="hold" nodeType="afterGroup">
                            <p:stCondLst>
                              <p:cond delay="21000"/>
                            </p:stCondLst>
                            <p:childTnLst>
                              <p:par>
                                <p:cTn id="89" presetID="22" presetClass="entr" presetSubtype="4" fill="hold" nodeType="afterEffect">
                                  <p:stCondLst>
                                    <p:cond delay="0"/>
                                  </p:stCondLst>
                                  <p:childTnLst>
                                    <p:set>
                                      <p:cBhvr>
                                        <p:cTn id="90" dur="1" fill="hold">
                                          <p:stCondLst>
                                            <p:cond delay="0"/>
                                          </p:stCondLst>
                                        </p:cTn>
                                        <p:tgtEl>
                                          <p:spTgt spid="347164"/>
                                        </p:tgtEl>
                                        <p:attrNameLst>
                                          <p:attrName>style.visibility</p:attrName>
                                        </p:attrNameLst>
                                      </p:cBhvr>
                                      <p:to>
                                        <p:strVal val="visible"/>
                                      </p:to>
                                    </p:set>
                                    <p:animEffect transition="in" filter="wipe(down)">
                                      <p:cBhvr>
                                        <p:cTn id="91" dur="1000"/>
                                        <p:tgtEl>
                                          <p:spTgt spid="347164"/>
                                        </p:tgtEl>
                                      </p:cBhvr>
                                    </p:animEffect>
                                  </p:childTnLst>
                                </p:cTn>
                              </p:par>
                            </p:childTnLst>
                          </p:cTn>
                        </p:par>
                        <p:par>
                          <p:cTn id="92" fill="hold" nodeType="afterGroup">
                            <p:stCondLst>
                              <p:cond delay="22000"/>
                            </p:stCondLst>
                            <p:childTnLst>
                              <p:par>
                                <p:cTn id="93" presetID="22" presetClass="entr" presetSubtype="4" fill="hold" grpId="0" nodeType="afterEffect">
                                  <p:stCondLst>
                                    <p:cond delay="0"/>
                                  </p:stCondLst>
                                  <p:childTnLst>
                                    <p:set>
                                      <p:cBhvr>
                                        <p:cTn id="94" dur="1" fill="hold">
                                          <p:stCondLst>
                                            <p:cond delay="0"/>
                                          </p:stCondLst>
                                        </p:cTn>
                                        <p:tgtEl>
                                          <p:spTgt spid="347143"/>
                                        </p:tgtEl>
                                        <p:attrNameLst>
                                          <p:attrName>style.visibility</p:attrName>
                                        </p:attrNameLst>
                                      </p:cBhvr>
                                      <p:to>
                                        <p:strVal val="visible"/>
                                      </p:to>
                                    </p:set>
                                    <p:animEffect transition="in" filter="wipe(down)">
                                      <p:cBhvr>
                                        <p:cTn id="95" dur="1000"/>
                                        <p:tgtEl>
                                          <p:spTgt spid="34714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347174"/>
                                        </p:tgtEl>
                                        <p:attrNameLst>
                                          <p:attrName>style.visibility</p:attrName>
                                        </p:attrNameLst>
                                      </p:cBhvr>
                                      <p:to>
                                        <p:strVal val="visible"/>
                                      </p:to>
                                    </p:set>
                                    <p:animEffect transition="in" filter="wipe(down)">
                                      <p:cBhvr>
                                        <p:cTn id="100" dur="2000"/>
                                        <p:tgtEl>
                                          <p:spTgt spid="34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3" grpId="0"/>
      <p:bldP spid="347144" grpId="0"/>
      <p:bldP spid="347145" grpId="0"/>
      <p:bldP spid="347146" grpId="0"/>
      <p:bldP spid="347147" grpId="0"/>
      <p:bldP spid="347148" grpId="0"/>
      <p:bldP spid="347175" grpId="0"/>
      <p:bldP spid="347177" grpId="0"/>
      <p:bldP spid="347178" grpId="0"/>
      <p:bldP spid="347179" grpId="0"/>
      <p:bldP spid="347180" grpId="0"/>
      <p:bldP spid="3471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638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638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DE2E2C82-5BEA-4ED8-96CB-D17F4C46968F}" type="slidenum">
              <a:rPr lang="zh-CN" altLang="en-US" sz="800"/>
              <a:pPr>
                <a:spcBef>
                  <a:spcPct val="0"/>
                </a:spcBef>
                <a:buFontTx/>
                <a:buNone/>
              </a:pPr>
              <a:t>15</a:t>
            </a:fld>
            <a:endParaRPr lang="en-US" altLang="zh-CN" sz="800"/>
          </a:p>
        </p:txBody>
      </p:sp>
      <p:sp>
        <p:nvSpPr>
          <p:cNvPr id="16389" name="Rectangle 2"/>
          <p:cNvSpPr>
            <a:spLocks noGrp="1" noChangeArrowheads="1"/>
          </p:cNvSpPr>
          <p:nvPr>
            <p:ph type="title"/>
          </p:nvPr>
        </p:nvSpPr>
        <p:spPr/>
        <p:txBody>
          <a:bodyPr/>
          <a:lstStyle/>
          <a:p>
            <a:r>
              <a:rPr lang="en-US" altLang="zh-CN" smtClean="0">
                <a:ea typeface="宋体" panose="02010600030101010101" pitchFamily="2" charset="-122"/>
              </a:rPr>
              <a:t>Inherited Attributes (P.283)</a:t>
            </a:r>
          </a:p>
        </p:txBody>
      </p:sp>
      <p:sp>
        <p:nvSpPr>
          <p:cNvPr id="16390" name="Rectangle 3"/>
          <p:cNvSpPr>
            <a:spLocks noGrp="1" noChangeArrowheads="1"/>
          </p:cNvSpPr>
          <p:nvPr>
            <p:ph type="body" idx="1"/>
          </p:nvPr>
        </p:nvSpPr>
        <p:spPr>
          <a:xfrm>
            <a:off x="381000" y="1219200"/>
            <a:ext cx="8915400" cy="5105400"/>
          </a:xfrm>
        </p:spPr>
        <p:txBody>
          <a:bodyPr/>
          <a:lstStyle/>
          <a:p>
            <a:pPr>
              <a:buFontTx/>
              <a:buNone/>
            </a:pPr>
            <a:r>
              <a:rPr lang="zh-CN" altLang="en-US" sz="2800" b="1" smtClean="0">
                <a:ea typeface="宋体" panose="02010600030101010101" pitchFamily="2" charset="-122"/>
              </a:rPr>
              <a:t>		</a:t>
            </a:r>
            <a:r>
              <a:rPr lang="en-US" altLang="zh-CN" sz="2800" b="1" u="sng" smtClean="0">
                <a:ea typeface="宋体" panose="02010600030101010101" pitchFamily="2" charset="-122"/>
              </a:rPr>
              <a:t>Production</a:t>
            </a:r>
            <a:r>
              <a:rPr lang="en-US" altLang="zh-CN" smtClean="0">
                <a:ea typeface="宋体" panose="02010600030101010101" pitchFamily="2" charset="-122"/>
              </a:rPr>
              <a:t> 		</a:t>
            </a:r>
            <a:r>
              <a:rPr lang="en-US" altLang="zh-CN" sz="2800" b="1" u="sng" smtClean="0">
                <a:ea typeface="宋体" panose="02010600030101010101" pitchFamily="2" charset="-122"/>
              </a:rPr>
              <a:t>Semantic Rules</a:t>
            </a:r>
          </a:p>
          <a:p>
            <a:pPr>
              <a:buFontTx/>
              <a:buNone/>
            </a:pPr>
            <a:r>
              <a:rPr lang="en-US" altLang="zh-CN" smtClean="0">
                <a:ea typeface="宋体" panose="02010600030101010101" pitchFamily="2" charset="-122"/>
              </a:rPr>
              <a:t>		D </a:t>
            </a:r>
            <a:r>
              <a:rPr lang="en-US" altLang="zh-CN" smtClean="0">
                <a:ea typeface="宋体" panose="02010600030101010101" pitchFamily="2" charset="-122"/>
                <a:cs typeface="Times New Roman" panose="02020603050405020304" pitchFamily="18" charset="0"/>
              </a:rPr>
              <a:t>→ T L		L.in = T.type</a:t>
            </a:r>
          </a:p>
          <a:p>
            <a:pPr>
              <a:buFontTx/>
              <a:buNone/>
            </a:pPr>
            <a:r>
              <a:rPr lang="en-US" altLang="zh-CN" smtClean="0">
                <a:ea typeface="宋体" panose="02010600030101010101" pitchFamily="2" charset="-122"/>
                <a:cs typeface="Times New Roman" panose="02020603050405020304" pitchFamily="18" charset="0"/>
              </a:rPr>
              <a:t>		T → </a:t>
            </a:r>
            <a:r>
              <a:rPr lang="en-US" altLang="zh-CN" b="1" smtClean="0">
                <a:ea typeface="宋体" panose="02010600030101010101" pitchFamily="2" charset="-122"/>
                <a:cs typeface="Times New Roman" panose="02020603050405020304" pitchFamily="18" charset="0"/>
              </a:rPr>
              <a:t>int</a:t>
            </a:r>
            <a:r>
              <a:rPr lang="en-US" altLang="zh-CN" smtClean="0">
                <a:ea typeface="宋体" panose="02010600030101010101" pitchFamily="2" charset="-122"/>
                <a:cs typeface="Times New Roman" panose="02020603050405020304" pitchFamily="18" charset="0"/>
              </a:rPr>
              <a:t>		T.type = integer</a:t>
            </a:r>
          </a:p>
          <a:p>
            <a:pPr>
              <a:buFontTx/>
              <a:buNone/>
            </a:pPr>
            <a:r>
              <a:rPr lang="en-US" altLang="zh-CN" smtClean="0">
                <a:ea typeface="宋体" panose="02010600030101010101" pitchFamily="2" charset="-122"/>
                <a:cs typeface="Times New Roman" panose="02020603050405020304" pitchFamily="18" charset="0"/>
              </a:rPr>
              <a:t>		T → </a:t>
            </a:r>
            <a:r>
              <a:rPr lang="en-US" altLang="zh-CN" b="1" smtClean="0">
                <a:ea typeface="宋体" panose="02010600030101010101" pitchFamily="2" charset="-122"/>
                <a:cs typeface="Times New Roman" panose="02020603050405020304" pitchFamily="18" charset="0"/>
              </a:rPr>
              <a:t>real</a:t>
            </a:r>
            <a:r>
              <a:rPr lang="en-US" altLang="zh-CN" smtClean="0">
                <a:ea typeface="宋体" panose="02010600030101010101" pitchFamily="2" charset="-122"/>
                <a:cs typeface="Times New Roman" panose="02020603050405020304" pitchFamily="18" charset="0"/>
              </a:rPr>
              <a:t>		T.type = real</a:t>
            </a:r>
          </a:p>
          <a:p>
            <a:pPr>
              <a:buFontTx/>
              <a:buNone/>
            </a:pPr>
            <a:r>
              <a:rPr lang="en-US" altLang="zh-CN" smtClean="0">
                <a:ea typeface="宋体" panose="02010600030101010101" pitchFamily="2" charset="-122"/>
                <a:cs typeface="Times New Roman" panose="02020603050405020304" pitchFamily="18" charset="0"/>
              </a:rPr>
              <a:t>		L → L</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		L</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.in = L.in,   addtype(</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.entry,L.in)</a:t>
            </a:r>
          </a:p>
          <a:p>
            <a:pPr>
              <a:buFontTx/>
              <a:buNone/>
            </a:pPr>
            <a:r>
              <a:rPr lang="en-US" altLang="zh-CN" smtClean="0">
                <a:ea typeface="宋体" panose="02010600030101010101" pitchFamily="2" charset="-122"/>
                <a:cs typeface="Times New Roman" panose="02020603050405020304" pitchFamily="18" charset="0"/>
              </a:rPr>
              <a:t>		L → </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			addtype(</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.entry,L.in)</a:t>
            </a:r>
          </a:p>
          <a:p>
            <a:pPr>
              <a:buFontTx/>
              <a:buNone/>
            </a:pPr>
            <a:endParaRPr lang="en-US" altLang="zh-CN" smtClean="0">
              <a:ea typeface="宋体" panose="02010600030101010101" pitchFamily="2" charset="-122"/>
              <a:cs typeface="Times New Roman" panose="02020603050405020304" pitchFamily="18" charset="0"/>
            </a:endParaRPr>
          </a:p>
          <a:p>
            <a:r>
              <a:rPr lang="en-US" altLang="zh-CN" smtClean="0">
                <a:ea typeface="宋体" panose="02010600030101010101" pitchFamily="2" charset="-122"/>
                <a:cs typeface="Times New Roman" panose="02020603050405020304" pitchFamily="18" charset="0"/>
              </a:rPr>
              <a:t>Symbol T is associated with a synthesized attribute </a:t>
            </a:r>
            <a:r>
              <a:rPr lang="en-US" altLang="zh-CN" i="1" smtClean="0">
                <a:ea typeface="宋体" panose="02010600030101010101" pitchFamily="2" charset="-122"/>
                <a:cs typeface="Times New Roman" panose="02020603050405020304" pitchFamily="18" charset="0"/>
              </a:rPr>
              <a:t>type</a:t>
            </a:r>
            <a:r>
              <a:rPr lang="en-US" altLang="zh-CN" smtClean="0">
                <a:ea typeface="宋体" panose="02010600030101010101" pitchFamily="2" charset="-122"/>
                <a:cs typeface="Times New Roman" panose="02020603050405020304" pitchFamily="18" charset="0"/>
              </a:rPr>
              <a:t>.</a:t>
            </a:r>
          </a:p>
          <a:p>
            <a:pPr>
              <a:spcBef>
                <a:spcPct val="0"/>
              </a:spcBef>
            </a:pPr>
            <a:r>
              <a:rPr lang="en-US" altLang="zh-CN" smtClean="0">
                <a:ea typeface="宋体" panose="02010600030101010101" pitchFamily="2" charset="-122"/>
                <a:cs typeface="Times New Roman" panose="02020603050405020304" pitchFamily="18" charset="0"/>
              </a:rPr>
              <a:t>Symbol L is associated with an inherited attribute </a:t>
            </a:r>
            <a:r>
              <a:rPr lang="en-US" altLang="zh-CN" i="1" smtClean="0">
                <a:ea typeface="宋体" panose="02010600030101010101" pitchFamily="2" charset="-122"/>
                <a:cs typeface="Times New Roman" panose="02020603050405020304" pitchFamily="18" charset="0"/>
              </a:rPr>
              <a:t>in.</a:t>
            </a:r>
            <a:endParaRPr lang="en-US" altLang="zh-CN" smtClean="0">
              <a:ea typeface="宋体" panose="02010600030101010101" pitchFamily="2" charset="-122"/>
              <a:cs typeface="Times New Roman" panose="02020603050405020304" pitchFamily="18" charset="0"/>
            </a:endParaRPr>
          </a:p>
          <a:p>
            <a:pPr>
              <a:buFontTx/>
              <a:buNone/>
            </a:pPr>
            <a:endParaRPr lang="zh-CN" altLang="en-US" smtClean="0">
              <a:ea typeface="宋体" panose="02010600030101010101" pitchFamily="2" charset="-122"/>
              <a:cs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4"/>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7411" name="页脚占位符 5"/>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7412" name="灯片编号占位符 6"/>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1564F008-5464-4366-8198-B85701E85136}" type="slidenum">
              <a:rPr lang="zh-CN" altLang="en-US" sz="800"/>
              <a:pPr>
                <a:spcBef>
                  <a:spcPct val="0"/>
                </a:spcBef>
                <a:buFontTx/>
                <a:buNone/>
              </a:pPr>
              <a:t>16</a:t>
            </a:fld>
            <a:endParaRPr lang="en-US" altLang="zh-CN" sz="800"/>
          </a:p>
        </p:txBody>
      </p:sp>
      <p:sp>
        <p:nvSpPr>
          <p:cNvPr id="17413" name="Rectangle 2"/>
          <p:cNvSpPr>
            <a:spLocks noGrp="1" noChangeArrowheads="1"/>
          </p:cNvSpPr>
          <p:nvPr>
            <p:ph type="title"/>
          </p:nvPr>
        </p:nvSpPr>
        <p:spPr>
          <a:xfrm>
            <a:off x="381000" y="152400"/>
            <a:ext cx="9372600" cy="838200"/>
          </a:xfrm>
        </p:spPr>
        <p:txBody>
          <a:bodyPr/>
          <a:lstStyle/>
          <a:p>
            <a:r>
              <a:rPr lang="en-US" altLang="zh-CN" sz="2800" smtClean="0">
                <a:ea typeface="宋体" panose="02010600030101010101" pitchFamily="2" charset="-122"/>
              </a:rPr>
              <a:t>Inherited Attributes (cont.)</a:t>
            </a:r>
            <a:endParaRPr lang="zh-CN" altLang="en-US" sz="2800" smtClean="0">
              <a:ea typeface="宋体" panose="02010600030101010101" pitchFamily="2" charset="-122"/>
            </a:endParaRPr>
          </a:p>
        </p:txBody>
      </p:sp>
      <p:sp>
        <p:nvSpPr>
          <p:cNvPr id="17414" name="Rectangle 3"/>
          <p:cNvSpPr>
            <a:spLocks noGrp="1" noChangeArrowheads="1"/>
          </p:cNvSpPr>
          <p:nvPr>
            <p:ph type="body" sz="half" idx="1"/>
          </p:nvPr>
        </p:nvSpPr>
        <p:spPr>
          <a:xfrm>
            <a:off x="1371600" y="5715000"/>
            <a:ext cx="7239000" cy="457200"/>
          </a:xfrm>
        </p:spPr>
        <p:txBody>
          <a:bodyPr/>
          <a:lstStyle/>
          <a:p>
            <a:pPr>
              <a:buFontTx/>
              <a:buNone/>
            </a:pPr>
            <a:r>
              <a:rPr lang="en-US" altLang="zh-CN" sz="1800" smtClean="0">
                <a:ea typeface="宋体" panose="02010600030101010101" pitchFamily="2" charset="-122"/>
              </a:rPr>
              <a:t>Fig 5.5 parse tree with inherited attribute in at each node labeled L   (P.284)</a:t>
            </a:r>
          </a:p>
        </p:txBody>
      </p:sp>
      <p:graphicFrame>
        <p:nvGraphicFramePr>
          <p:cNvPr id="404484" name="Object 4"/>
          <p:cNvGraphicFramePr>
            <a:graphicFrameLocks noChangeAspect="1"/>
          </p:cNvGraphicFramePr>
          <p:nvPr>
            <p:ph sz="half" idx="2"/>
          </p:nvPr>
        </p:nvGraphicFramePr>
        <p:xfrm>
          <a:off x="1600200" y="1295400"/>
          <a:ext cx="6553200" cy="4151313"/>
        </p:xfrm>
        <a:graphic>
          <a:graphicData uri="http://schemas.openxmlformats.org/presentationml/2006/ole">
            <mc:AlternateContent xmlns:mc="http://schemas.openxmlformats.org/markup-compatibility/2006">
              <mc:Choice xmlns:v="urn:schemas-microsoft-com:vml" Requires="v">
                <p:oleObj spid="_x0000_s17426" name="Visio" r:id="rId3" imgW="2785872" imgH="1764792" progId="Visio.Drawing.6">
                  <p:embed/>
                </p:oleObj>
              </mc:Choice>
              <mc:Fallback>
                <p:oleObj name="Visio" r:id="rId3" imgW="2785872" imgH="1764792"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295400"/>
                        <a:ext cx="6553200" cy="415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4485" name="Line 5"/>
          <p:cNvSpPr>
            <a:spLocks noChangeShapeType="1"/>
          </p:cNvSpPr>
          <p:nvPr/>
        </p:nvSpPr>
        <p:spPr bwMode="auto">
          <a:xfrm flipV="1">
            <a:off x="2895600" y="2590800"/>
            <a:ext cx="0" cy="6096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86" name="Line 6"/>
          <p:cNvSpPr>
            <a:spLocks noChangeShapeType="1"/>
          </p:cNvSpPr>
          <p:nvPr/>
        </p:nvSpPr>
        <p:spPr bwMode="auto">
          <a:xfrm>
            <a:off x="3352800" y="2362200"/>
            <a:ext cx="22098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87" name="Line 7"/>
          <p:cNvSpPr>
            <a:spLocks noChangeShapeType="1"/>
          </p:cNvSpPr>
          <p:nvPr/>
        </p:nvSpPr>
        <p:spPr bwMode="auto">
          <a:xfrm flipH="1">
            <a:off x="4648200" y="2590800"/>
            <a:ext cx="914400" cy="3810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88" name="Line 8"/>
          <p:cNvSpPr>
            <a:spLocks noChangeShapeType="1"/>
          </p:cNvSpPr>
          <p:nvPr/>
        </p:nvSpPr>
        <p:spPr bwMode="auto">
          <a:xfrm>
            <a:off x="5715000" y="2590800"/>
            <a:ext cx="10668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89" name="Line 9"/>
          <p:cNvSpPr>
            <a:spLocks noChangeShapeType="1"/>
          </p:cNvSpPr>
          <p:nvPr/>
        </p:nvSpPr>
        <p:spPr bwMode="auto">
          <a:xfrm>
            <a:off x="6934200" y="2590800"/>
            <a:ext cx="990600" cy="4572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90" name="Line 10"/>
          <p:cNvSpPr>
            <a:spLocks noChangeShapeType="1"/>
          </p:cNvSpPr>
          <p:nvPr/>
        </p:nvSpPr>
        <p:spPr bwMode="auto">
          <a:xfrm flipH="1">
            <a:off x="3048000" y="3429000"/>
            <a:ext cx="990600" cy="5334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91" name="Line 11"/>
          <p:cNvSpPr>
            <a:spLocks noChangeShapeType="1"/>
          </p:cNvSpPr>
          <p:nvPr/>
        </p:nvSpPr>
        <p:spPr bwMode="auto">
          <a:xfrm>
            <a:off x="2819400" y="4419600"/>
            <a:ext cx="4572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92" name="Line 12"/>
          <p:cNvSpPr>
            <a:spLocks noChangeShapeType="1"/>
          </p:cNvSpPr>
          <p:nvPr/>
        </p:nvSpPr>
        <p:spPr bwMode="auto">
          <a:xfrm>
            <a:off x="3505200" y="4495800"/>
            <a:ext cx="0" cy="5334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93" name="Line 13"/>
          <p:cNvSpPr>
            <a:spLocks noChangeShapeType="1"/>
          </p:cNvSpPr>
          <p:nvPr/>
        </p:nvSpPr>
        <p:spPr bwMode="auto">
          <a:xfrm>
            <a:off x="4191000" y="3429000"/>
            <a:ext cx="7620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494" name="Line 14"/>
          <p:cNvSpPr>
            <a:spLocks noChangeShapeType="1"/>
          </p:cNvSpPr>
          <p:nvPr/>
        </p:nvSpPr>
        <p:spPr bwMode="auto">
          <a:xfrm>
            <a:off x="4953000" y="3505200"/>
            <a:ext cx="457200" cy="4572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04484"/>
                                        </p:tgtEl>
                                        <p:attrNameLst>
                                          <p:attrName>style.visibility</p:attrName>
                                        </p:attrNameLst>
                                      </p:cBhvr>
                                      <p:to>
                                        <p:strVal val="visible"/>
                                      </p:to>
                                    </p:set>
                                    <p:animEffect transition="in" filter="wipe(up)">
                                      <p:cBhvr>
                                        <p:cTn id="7" dur="2000"/>
                                        <p:tgtEl>
                                          <p:spTgt spid="4044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04485"/>
                                        </p:tgtEl>
                                        <p:attrNameLst>
                                          <p:attrName>style.visibility</p:attrName>
                                        </p:attrNameLst>
                                      </p:cBhvr>
                                      <p:to>
                                        <p:strVal val="visible"/>
                                      </p:to>
                                    </p:set>
                                    <p:animEffect transition="in" filter="wipe(down)">
                                      <p:cBhvr>
                                        <p:cTn id="12" dur="1000"/>
                                        <p:tgtEl>
                                          <p:spTgt spid="404485"/>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04486"/>
                                        </p:tgtEl>
                                        <p:attrNameLst>
                                          <p:attrName>style.visibility</p:attrName>
                                        </p:attrNameLst>
                                      </p:cBhvr>
                                      <p:to>
                                        <p:strVal val="visible"/>
                                      </p:to>
                                    </p:set>
                                    <p:animEffect transition="in" filter="wipe(left)">
                                      <p:cBhvr>
                                        <p:cTn id="16" dur="1000"/>
                                        <p:tgtEl>
                                          <p:spTgt spid="404486"/>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404487"/>
                                        </p:tgtEl>
                                        <p:attrNameLst>
                                          <p:attrName>style.visibility</p:attrName>
                                        </p:attrNameLst>
                                      </p:cBhvr>
                                      <p:to>
                                        <p:strVal val="visible"/>
                                      </p:to>
                                    </p:set>
                                    <p:animEffect transition="in" filter="wipe(up)">
                                      <p:cBhvr>
                                        <p:cTn id="20" dur="1000"/>
                                        <p:tgtEl>
                                          <p:spTgt spid="404487"/>
                                        </p:tgtEl>
                                      </p:cBhvr>
                                    </p:animEffect>
                                  </p:childTnLst>
                                </p:cTn>
                              </p:par>
                            </p:childTnLst>
                          </p:cTn>
                        </p:par>
                        <p:par>
                          <p:cTn id="21" fill="hold" nodeType="afterGroup">
                            <p:stCondLst>
                              <p:cond delay="3000"/>
                            </p:stCondLst>
                            <p:childTnLst>
                              <p:par>
                                <p:cTn id="22" presetID="22" presetClass="entr" presetSubtype="1" fill="hold" nodeType="afterEffect">
                                  <p:stCondLst>
                                    <p:cond delay="0"/>
                                  </p:stCondLst>
                                  <p:childTnLst>
                                    <p:set>
                                      <p:cBhvr>
                                        <p:cTn id="23" dur="1" fill="hold">
                                          <p:stCondLst>
                                            <p:cond delay="0"/>
                                          </p:stCondLst>
                                        </p:cTn>
                                        <p:tgtEl>
                                          <p:spTgt spid="404490"/>
                                        </p:tgtEl>
                                        <p:attrNameLst>
                                          <p:attrName>style.visibility</p:attrName>
                                        </p:attrNameLst>
                                      </p:cBhvr>
                                      <p:to>
                                        <p:strVal val="visible"/>
                                      </p:to>
                                    </p:set>
                                    <p:animEffect transition="in" filter="wipe(up)">
                                      <p:cBhvr>
                                        <p:cTn id="24" dur="1000"/>
                                        <p:tgtEl>
                                          <p:spTgt spid="404490"/>
                                        </p:tgtEl>
                                      </p:cBhvr>
                                    </p:animEffect>
                                  </p:childTnLst>
                                </p:cTn>
                              </p:par>
                            </p:childTnLst>
                          </p:cTn>
                        </p:par>
                        <p:par>
                          <p:cTn id="25" fill="hold" nodeType="afterGroup">
                            <p:stCondLst>
                              <p:cond delay="5000"/>
                            </p:stCondLst>
                            <p:childTnLst>
                              <p:par>
                                <p:cTn id="26" presetID="22" presetClass="entr" presetSubtype="8" fill="hold" nodeType="afterEffect">
                                  <p:stCondLst>
                                    <p:cond delay="0"/>
                                  </p:stCondLst>
                                  <p:childTnLst>
                                    <p:set>
                                      <p:cBhvr>
                                        <p:cTn id="27" dur="1" fill="hold">
                                          <p:stCondLst>
                                            <p:cond delay="0"/>
                                          </p:stCondLst>
                                        </p:cTn>
                                        <p:tgtEl>
                                          <p:spTgt spid="404491"/>
                                        </p:tgtEl>
                                        <p:attrNameLst>
                                          <p:attrName>style.visibility</p:attrName>
                                        </p:attrNameLst>
                                      </p:cBhvr>
                                      <p:to>
                                        <p:strVal val="visible"/>
                                      </p:to>
                                    </p:set>
                                    <p:animEffect transition="in" filter="wipe(left)">
                                      <p:cBhvr>
                                        <p:cTn id="28" dur="1000"/>
                                        <p:tgtEl>
                                          <p:spTgt spid="404491"/>
                                        </p:tgtEl>
                                      </p:cBhvr>
                                    </p:animEffect>
                                  </p:childTnLst>
                                </p:cTn>
                              </p:par>
                            </p:childTnLst>
                          </p:cTn>
                        </p:par>
                        <p:par>
                          <p:cTn id="29" fill="hold" nodeType="afterGroup">
                            <p:stCondLst>
                              <p:cond delay="6000"/>
                            </p:stCondLst>
                            <p:childTnLst>
                              <p:par>
                                <p:cTn id="30" presetID="22" presetClass="entr" presetSubtype="1" fill="hold" nodeType="afterEffect">
                                  <p:stCondLst>
                                    <p:cond delay="0"/>
                                  </p:stCondLst>
                                  <p:childTnLst>
                                    <p:set>
                                      <p:cBhvr>
                                        <p:cTn id="31" dur="1" fill="hold">
                                          <p:stCondLst>
                                            <p:cond delay="0"/>
                                          </p:stCondLst>
                                        </p:cTn>
                                        <p:tgtEl>
                                          <p:spTgt spid="404492"/>
                                        </p:tgtEl>
                                        <p:attrNameLst>
                                          <p:attrName>style.visibility</p:attrName>
                                        </p:attrNameLst>
                                      </p:cBhvr>
                                      <p:to>
                                        <p:strVal val="visible"/>
                                      </p:to>
                                    </p:set>
                                    <p:animEffect transition="in" filter="wipe(up)">
                                      <p:cBhvr>
                                        <p:cTn id="32" dur="1000"/>
                                        <p:tgtEl>
                                          <p:spTgt spid="404492"/>
                                        </p:tgtEl>
                                      </p:cBhvr>
                                    </p:animEffect>
                                  </p:childTnLst>
                                </p:cTn>
                              </p:par>
                            </p:childTnLst>
                          </p:cTn>
                        </p:par>
                        <p:par>
                          <p:cTn id="33" fill="hold" nodeType="afterGroup">
                            <p:stCondLst>
                              <p:cond delay="7000"/>
                            </p:stCondLst>
                            <p:childTnLst>
                              <p:par>
                                <p:cTn id="34" presetID="22" presetClass="entr" presetSubtype="8" fill="hold" nodeType="afterEffect">
                                  <p:stCondLst>
                                    <p:cond delay="0"/>
                                  </p:stCondLst>
                                  <p:childTnLst>
                                    <p:set>
                                      <p:cBhvr>
                                        <p:cTn id="35" dur="1" fill="hold">
                                          <p:stCondLst>
                                            <p:cond delay="0"/>
                                          </p:stCondLst>
                                        </p:cTn>
                                        <p:tgtEl>
                                          <p:spTgt spid="404493"/>
                                        </p:tgtEl>
                                        <p:attrNameLst>
                                          <p:attrName>style.visibility</p:attrName>
                                        </p:attrNameLst>
                                      </p:cBhvr>
                                      <p:to>
                                        <p:strVal val="visible"/>
                                      </p:to>
                                    </p:set>
                                    <p:animEffect transition="in" filter="wipe(left)">
                                      <p:cBhvr>
                                        <p:cTn id="36" dur="1000"/>
                                        <p:tgtEl>
                                          <p:spTgt spid="404493"/>
                                        </p:tgtEl>
                                      </p:cBhvr>
                                    </p:animEffect>
                                  </p:childTnLst>
                                </p:cTn>
                              </p:par>
                            </p:childTnLst>
                          </p:cTn>
                        </p:par>
                        <p:par>
                          <p:cTn id="37" fill="hold" nodeType="afterGroup">
                            <p:stCondLst>
                              <p:cond delay="8000"/>
                            </p:stCondLst>
                            <p:childTnLst>
                              <p:par>
                                <p:cTn id="38" presetID="22" presetClass="entr" presetSubtype="1" fill="hold" nodeType="afterEffect">
                                  <p:stCondLst>
                                    <p:cond delay="0"/>
                                  </p:stCondLst>
                                  <p:childTnLst>
                                    <p:set>
                                      <p:cBhvr>
                                        <p:cTn id="39" dur="1" fill="hold">
                                          <p:stCondLst>
                                            <p:cond delay="0"/>
                                          </p:stCondLst>
                                        </p:cTn>
                                        <p:tgtEl>
                                          <p:spTgt spid="404494"/>
                                        </p:tgtEl>
                                        <p:attrNameLst>
                                          <p:attrName>style.visibility</p:attrName>
                                        </p:attrNameLst>
                                      </p:cBhvr>
                                      <p:to>
                                        <p:strVal val="visible"/>
                                      </p:to>
                                    </p:set>
                                    <p:animEffect transition="in" filter="wipe(up)">
                                      <p:cBhvr>
                                        <p:cTn id="40" dur="1000"/>
                                        <p:tgtEl>
                                          <p:spTgt spid="404494"/>
                                        </p:tgtEl>
                                      </p:cBhvr>
                                    </p:animEffect>
                                  </p:childTnLst>
                                </p:cTn>
                              </p:par>
                            </p:childTnLst>
                          </p:cTn>
                        </p:par>
                        <p:par>
                          <p:cTn id="41" fill="hold" nodeType="afterGroup">
                            <p:stCondLst>
                              <p:cond delay="9000"/>
                            </p:stCondLst>
                            <p:childTnLst>
                              <p:par>
                                <p:cTn id="42" presetID="22" presetClass="entr" presetSubtype="8" fill="hold" nodeType="afterEffect">
                                  <p:stCondLst>
                                    <p:cond delay="0"/>
                                  </p:stCondLst>
                                  <p:childTnLst>
                                    <p:set>
                                      <p:cBhvr>
                                        <p:cTn id="43" dur="1" fill="hold">
                                          <p:stCondLst>
                                            <p:cond delay="0"/>
                                          </p:stCondLst>
                                        </p:cTn>
                                        <p:tgtEl>
                                          <p:spTgt spid="404488"/>
                                        </p:tgtEl>
                                        <p:attrNameLst>
                                          <p:attrName>style.visibility</p:attrName>
                                        </p:attrNameLst>
                                      </p:cBhvr>
                                      <p:to>
                                        <p:strVal val="visible"/>
                                      </p:to>
                                    </p:set>
                                    <p:animEffect transition="in" filter="wipe(left)">
                                      <p:cBhvr>
                                        <p:cTn id="44" dur="1000"/>
                                        <p:tgtEl>
                                          <p:spTgt spid="404488"/>
                                        </p:tgtEl>
                                      </p:cBhvr>
                                    </p:animEffect>
                                  </p:childTnLst>
                                </p:cTn>
                              </p:par>
                            </p:childTnLst>
                          </p:cTn>
                        </p:par>
                        <p:par>
                          <p:cTn id="45" fill="hold" nodeType="afterGroup">
                            <p:stCondLst>
                              <p:cond delay="10000"/>
                            </p:stCondLst>
                            <p:childTnLst>
                              <p:par>
                                <p:cTn id="46" presetID="22" presetClass="entr" presetSubtype="1" fill="hold" nodeType="afterEffect">
                                  <p:stCondLst>
                                    <p:cond delay="0"/>
                                  </p:stCondLst>
                                  <p:childTnLst>
                                    <p:set>
                                      <p:cBhvr>
                                        <p:cTn id="47" dur="1" fill="hold">
                                          <p:stCondLst>
                                            <p:cond delay="0"/>
                                          </p:stCondLst>
                                        </p:cTn>
                                        <p:tgtEl>
                                          <p:spTgt spid="404489"/>
                                        </p:tgtEl>
                                        <p:attrNameLst>
                                          <p:attrName>style.visibility</p:attrName>
                                        </p:attrNameLst>
                                      </p:cBhvr>
                                      <p:to>
                                        <p:strVal val="visible"/>
                                      </p:to>
                                    </p:set>
                                    <p:animEffect transition="in" filter="wipe(up)">
                                      <p:cBhvr>
                                        <p:cTn id="48" dur="1000"/>
                                        <p:tgtEl>
                                          <p:spTgt spid="404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843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843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B8FC2AE1-027F-45F0-B8EB-28E04F49476B}" type="slidenum">
              <a:rPr lang="zh-CN" altLang="en-US" sz="800"/>
              <a:pPr>
                <a:spcBef>
                  <a:spcPct val="0"/>
                </a:spcBef>
                <a:buFontTx/>
                <a:buNone/>
              </a:pPr>
              <a:t>17</a:t>
            </a:fld>
            <a:endParaRPr lang="en-US" altLang="zh-CN" sz="800"/>
          </a:p>
        </p:txBody>
      </p:sp>
      <p:sp>
        <p:nvSpPr>
          <p:cNvPr id="18437"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Dependencies of Attributes</a:t>
            </a:r>
          </a:p>
        </p:txBody>
      </p:sp>
      <p:sp>
        <p:nvSpPr>
          <p:cNvPr id="18438" name="Rectangle 3"/>
          <p:cNvSpPr>
            <a:spLocks noGrp="1" noChangeArrowheads="1"/>
          </p:cNvSpPr>
          <p:nvPr>
            <p:ph type="body" idx="1"/>
          </p:nvPr>
        </p:nvSpPr>
        <p:spPr>
          <a:xfrm>
            <a:off x="895350" y="1524000"/>
            <a:ext cx="8420100" cy="4937125"/>
          </a:xfrm>
        </p:spPr>
        <p:txBody>
          <a:bodyPr/>
          <a:lstStyle/>
          <a:p>
            <a:r>
              <a:rPr lang="en-US" altLang="zh-TW" smtClean="0">
                <a:ea typeface="PMingLiU" pitchFamily="18" charset="-120"/>
              </a:rPr>
              <a:t>In the semantic rule</a:t>
            </a:r>
            <a:br>
              <a:rPr lang="en-US" altLang="zh-TW" smtClean="0">
                <a:ea typeface="PMingLiU" pitchFamily="18" charset="-120"/>
              </a:rPr>
            </a:br>
            <a:r>
              <a:rPr lang="en-US" altLang="zh-TW" smtClean="0">
                <a:ea typeface="PMingLiU" pitchFamily="18" charset="-120"/>
              </a:rPr>
              <a:t>	</a:t>
            </a:r>
            <a:r>
              <a:rPr lang="en-US" altLang="zh-TW" i="1" smtClean="0">
                <a:ea typeface="PMingLiU" pitchFamily="18" charset="-120"/>
              </a:rPr>
              <a:t>b</a:t>
            </a:r>
            <a:r>
              <a:rPr lang="en-US" altLang="zh-TW" smtClean="0">
                <a:ea typeface="PMingLiU" pitchFamily="18" charset="-120"/>
              </a:rPr>
              <a:t> := </a:t>
            </a:r>
            <a:r>
              <a:rPr lang="en-US" altLang="zh-TW" i="1" smtClean="0">
                <a:ea typeface="PMingLiU" pitchFamily="18" charset="-120"/>
              </a:rPr>
              <a:t>f</a:t>
            </a:r>
            <a:r>
              <a:rPr lang="en-US" altLang="zh-TW" smtClean="0">
                <a:ea typeface="PMingLiU" pitchFamily="18" charset="-120"/>
              </a:rPr>
              <a:t>(</a:t>
            </a:r>
            <a:r>
              <a:rPr lang="en-US" altLang="zh-TW" i="1" smtClean="0">
                <a:ea typeface="PMingLiU" pitchFamily="18" charset="-120"/>
              </a:rPr>
              <a:t>c</a:t>
            </a:r>
            <a:r>
              <a:rPr lang="en-US" altLang="zh-TW" baseline="-25000" smtClean="0">
                <a:ea typeface="PMingLiU" pitchFamily="18" charset="-120"/>
              </a:rPr>
              <a:t>1</a:t>
            </a:r>
            <a:r>
              <a:rPr lang="en-US" altLang="zh-TW" smtClean="0">
                <a:ea typeface="PMingLiU" pitchFamily="18" charset="-120"/>
              </a:rPr>
              <a:t>, </a:t>
            </a:r>
            <a:r>
              <a:rPr lang="en-US" altLang="zh-TW" i="1" smtClean="0">
                <a:ea typeface="PMingLiU" pitchFamily="18" charset="-120"/>
              </a:rPr>
              <a:t>c</a:t>
            </a:r>
            <a:r>
              <a:rPr lang="en-US" altLang="zh-TW" baseline="-25000" smtClean="0">
                <a:ea typeface="PMingLiU" pitchFamily="18" charset="-120"/>
              </a:rPr>
              <a:t>2</a:t>
            </a:r>
            <a:r>
              <a:rPr lang="en-US" altLang="zh-TW" smtClean="0">
                <a:ea typeface="PMingLiU" pitchFamily="18" charset="-120"/>
              </a:rPr>
              <a:t>, …, </a:t>
            </a:r>
            <a:r>
              <a:rPr lang="en-US" altLang="zh-TW" i="1" smtClean="0">
                <a:ea typeface="PMingLiU" pitchFamily="18" charset="-120"/>
              </a:rPr>
              <a:t>c</a:t>
            </a:r>
            <a:r>
              <a:rPr lang="en-US" altLang="zh-TW" i="1" baseline="-25000" smtClean="0">
                <a:ea typeface="PMingLiU" pitchFamily="18" charset="-120"/>
              </a:rPr>
              <a:t>k</a:t>
            </a:r>
            <a:r>
              <a:rPr lang="en-US" altLang="zh-TW" smtClean="0">
                <a:ea typeface="PMingLiU" pitchFamily="18" charset="-120"/>
              </a:rPr>
              <a:t>)</a:t>
            </a:r>
            <a:br>
              <a:rPr lang="en-US" altLang="zh-TW" smtClean="0">
                <a:ea typeface="PMingLiU" pitchFamily="18" charset="-120"/>
              </a:rPr>
            </a:br>
            <a:r>
              <a:rPr lang="en-US" altLang="zh-TW" smtClean="0">
                <a:ea typeface="PMingLiU" pitchFamily="18" charset="-120"/>
              </a:rPr>
              <a:t>we say </a:t>
            </a:r>
            <a:r>
              <a:rPr lang="en-US" altLang="zh-TW" i="1" smtClean="0">
                <a:ea typeface="PMingLiU" pitchFamily="18" charset="-120"/>
              </a:rPr>
              <a:t>b</a:t>
            </a:r>
            <a:r>
              <a:rPr lang="en-US" altLang="zh-TW" smtClean="0">
                <a:ea typeface="PMingLiU" pitchFamily="18" charset="-120"/>
              </a:rPr>
              <a:t> </a:t>
            </a:r>
            <a:r>
              <a:rPr lang="en-US" altLang="zh-TW" smtClean="0">
                <a:solidFill>
                  <a:srgbClr val="FF3300"/>
                </a:solidFill>
                <a:ea typeface="PMingLiU" pitchFamily="18" charset="-120"/>
              </a:rPr>
              <a:t>depends on</a:t>
            </a:r>
            <a:r>
              <a:rPr lang="en-US" altLang="zh-TW" smtClean="0">
                <a:ea typeface="PMingLiU" pitchFamily="18" charset="-120"/>
              </a:rPr>
              <a:t> </a:t>
            </a:r>
            <a:r>
              <a:rPr lang="en-US" altLang="zh-TW" i="1" smtClean="0">
                <a:ea typeface="PMingLiU" pitchFamily="18" charset="-120"/>
              </a:rPr>
              <a:t>c</a:t>
            </a:r>
            <a:r>
              <a:rPr lang="en-US" altLang="zh-TW" baseline="-25000" smtClean="0">
                <a:ea typeface="PMingLiU" pitchFamily="18" charset="-120"/>
              </a:rPr>
              <a:t>1</a:t>
            </a:r>
            <a:r>
              <a:rPr lang="en-US" altLang="zh-TW" smtClean="0">
                <a:ea typeface="PMingLiU" pitchFamily="18" charset="-120"/>
              </a:rPr>
              <a:t>, </a:t>
            </a:r>
            <a:r>
              <a:rPr lang="en-US" altLang="zh-TW" i="1" smtClean="0">
                <a:ea typeface="PMingLiU" pitchFamily="18" charset="-120"/>
              </a:rPr>
              <a:t>c</a:t>
            </a:r>
            <a:r>
              <a:rPr lang="en-US" altLang="zh-TW" baseline="-25000" smtClean="0">
                <a:ea typeface="PMingLiU" pitchFamily="18" charset="-120"/>
              </a:rPr>
              <a:t>2</a:t>
            </a:r>
            <a:r>
              <a:rPr lang="en-US" altLang="zh-TW" smtClean="0">
                <a:ea typeface="PMingLiU" pitchFamily="18" charset="-120"/>
              </a:rPr>
              <a:t>, …, </a:t>
            </a:r>
            <a:r>
              <a:rPr lang="en-US" altLang="zh-TW" i="1" smtClean="0">
                <a:ea typeface="PMingLiU" pitchFamily="18" charset="-120"/>
              </a:rPr>
              <a:t>c</a:t>
            </a:r>
            <a:r>
              <a:rPr lang="en-US" altLang="zh-TW" i="1" baseline="-25000" smtClean="0">
                <a:ea typeface="PMingLiU" pitchFamily="18" charset="-120"/>
              </a:rPr>
              <a:t>k</a:t>
            </a:r>
            <a:endParaRPr lang="en-US" altLang="zh-CN" i="1" baseline="-25000" smtClean="0">
              <a:ea typeface="宋体" panose="02010600030101010101" pitchFamily="2" charset="-122"/>
            </a:endParaRPr>
          </a:p>
          <a:p>
            <a:endParaRPr lang="en-US" altLang="zh-TW" smtClean="0">
              <a:ea typeface="PMingLiU" pitchFamily="18" charset="-120"/>
            </a:endParaRPr>
          </a:p>
          <a:p>
            <a:r>
              <a:rPr lang="en-US" altLang="zh-TW" smtClean="0">
                <a:ea typeface="PMingLiU" pitchFamily="18" charset="-120"/>
              </a:rPr>
              <a:t>The semantic rule for </a:t>
            </a:r>
            <a:r>
              <a:rPr lang="en-US" altLang="zh-TW" i="1" smtClean="0">
                <a:ea typeface="PMingLiU" pitchFamily="18" charset="-120"/>
              </a:rPr>
              <a:t>b</a:t>
            </a:r>
            <a:r>
              <a:rPr lang="en-US" altLang="zh-TW" smtClean="0">
                <a:ea typeface="PMingLiU" pitchFamily="18" charset="-120"/>
              </a:rPr>
              <a:t> must be evaluated </a:t>
            </a:r>
            <a:r>
              <a:rPr lang="en-US" altLang="zh-TW" smtClean="0">
                <a:solidFill>
                  <a:srgbClr val="FF3300"/>
                </a:solidFill>
                <a:ea typeface="PMingLiU" pitchFamily="18" charset="-120"/>
              </a:rPr>
              <a:t>after</a:t>
            </a:r>
            <a:r>
              <a:rPr lang="en-US" altLang="zh-TW" smtClean="0">
                <a:ea typeface="PMingLiU" pitchFamily="18" charset="-120"/>
              </a:rPr>
              <a:t> the semantic rules for </a:t>
            </a:r>
            <a:r>
              <a:rPr lang="en-US" altLang="zh-TW" i="1" smtClean="0">
                <a:ea typeface="PMingLiU" pitchFamily="18" charset="-120"/>
              </a:rPr>
              <a:t>c</a:t>
            </a:r>
            <a:r>
              <a:rPr lang="en-US" altLang="zh-TW" baseline="-25000" smtClean="0">
                <a:ea typeface="PMingLiU" pitchFamily="18" charset="-120"/>
              </a:rPr>
              <a:t>1</a:t>
            </a:r>
            <a:r>
              <a:rPr lang="en-US" altLang="zh-TW" smtClean="0">
                <a:ea typeface="PMingLiU" pitchFamily="18" charset="-120"/>
              </a:rPr>
              <a:t>, </a:t>
            </a:r>
            <a:r>
              <a:rPr lang="en-US" altLang="zh-TW" i="1" smtClean="0">
                <a:ea typeface="PMingLiU" pitchFamily="18" charset="-120"/>
              </a:rPr>
              <a:t>c</a:t>
            </a:r>
            <a:r>
              <a:rPr lang="en-US" altLang="zh-TW" baseline="-25000" smtClean="0">
                <a:ea typeface="PMingLiU" pitchFamily="18" charset="-120"/>
              </a:rPr>
              <a:t>2</a:t>
            </a:r>
            <a:r>
              <a:rPr lang="en-US" altLang="zh-TW" smtClean="0">
                <a:ea typeface="PMingLiU" pitchFamily="18" charset="-120"/>
              </a:rPr>
              <a:t>, …, </a:t>
            </a:r>
            <a:r>
              <a:rPr lang="en-US" altLang="zh-TW" i="1" smtClean="0">
                <a:ea typeface="PMingLiU" pitchFamily="18" charset="-120"/>
              </a:rPr>
              <a:t>c</a:t>
            </a:r>
            <a:r>
              <a:rPr lang="en-US" altLang="zh-TW" i="1" baseline="-25000" smtClean="0">
                <a:ea typeface="PMingLiU" pitchFamily="18" charset="-120"/>
              </a:rPr>
              <a:t>k</a:t>
            </a:r>
            <a:endParaRPr lang="en-US" altLang="zh-CN" i="1" baseline="-25000" smtClean="0">
              <a:ea typeface="宋体" panose="02010600030101010101" pitchFamily="2" charset="-122"/>
            </a:endParaRPr>
          </a:p>
          <a:p>
            <a:endParaRPr lang="en-US" altLang="zh-TW" smtClean="0">
              <a:ea typeface="PMingLiU" pitchFamily="18" charset="-120"/>
            </a:endParaRPr>
          </a:p>
          <a:p>
            <a:r>
              <a:rPr lang="en-US" altLang="zh-TW" smtClean="0">
                <a:ea typeface="PMingLiU" pitchFamily="18" charset="-120"/>
              </a:rPr>
              <a:t>The dependencies of attributes can be represented by a directed graph called </a:t>
            </a:r>
            <a:r>
              <a:rPr lang="en-US" altLang="zh-TW" smtClean="0">
                <a:solidFill>
                  <a:srgbClr val="FF3300"/>
                </a:solidFill>
                <a:ea typeface="PMingLiU" pitchFamily="18" charset="-120"/>
              </a:rPr>
              <a:t>dependency graph</a:t>
            </a:r>
            <a:endParaRPr lang="en-US" altLang="zh-TW" baseline="-25000" smtClean="0">
              <a:solidFill>
                <a:srgbClr val="FF3300"/>
              </a:solidFill>
              <a:ea typeface="PMingLiU" pitchFamily="18" charset="-120"/>
            </a:endParaRP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19459"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19460"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D378C19A-CC3E-4E54-9D5A-3A6A9FC53937}" type="slidenum">
              <a:rPr lang="zh-CN" altLang="en-US" sz="800"/>
              <a:pPr>
                <a:spcBef>
                  <a:spcPct val="0"/>
                </a:spcBef>
                <a:buFontTx/>
                <a:buNone/>
              </a:pPr>
              <a:t>18</a:t>
            </a:fld>
            <a:endParaRPr lang="en-US" altLang="zh-CN" sz="800"/>
          </a:p>
        </p:txBody>
      </p:sp>
      <p:sp>
        <p:nvSpPr>
          <p:cNvPr id="19461"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Dependency Graphs </a:t>
            </a:r>
            <a:r>
              <a:rPr lang="en-US" altLang="zh-CN" smtClean="0">
                <a:ea typeface="宋体" panose="02010600030101010101" pitchFamily="2" charset="-122"/>
              </a:rPr>
              <a:t>– Inherited Attributes</a:t>
            </a:r>
            <a:endParaRPr lang="en-US" altLang="zh-TW" smtClean="0">
              <a:ea typeface="宋体" panose="02010600030101010101" pitchFamily="2" charset="-122"/>
            </a:endParaRPr>
          </a:p>
        </p:txBody>
      </p:sp>
      <p:grpSp>
        <p:nvGrpSpPr>
          <p:cNvPr id="432175" name="Group 47"/>
          <p:cNvGrpSpPr>
            <a:grpSpLocks/>
          </p:cNvGrpSpPr>
          <p:nvPr/>
        </p:nvGrpSpPr>
        <p:grpSpPr bwMode="auto">
          <a:xfrm>
            <a:off x="1600200" y="1525588"/>
            <a:ext cx="6894513" cy="3732212"/>
            <a:chOff x="1008" y="960"/>
            <a:chExt cx="4343" cy="2351"/>
          </a:xfrm>
        </p:grpSpPr>
        <p:sp>
          <p:nvSpPr>
            <p:cNvPr id="19473" name="Text Box 3"/>
            <p:cNvSpPr txBox="1">
              <a:spLocks noChangeArrowheads="1"/>
            </p:cNvSpPr>
            <p:nvPr/>
          </p:nvSpPr>
          <p:spPr bwMode="auto">
            <a:xfrm>
              <a:off x="2360" y="96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D</a:t>
              </a:r>
            </a:p>
          </p:txBody>
        </p:sp>
        <p:sp>
          <p:nvSpPr>
            <p:cNvPr id="19474" name="Text Box 4"/>
            <p:cNvSpPr txBox="1">
              <a:spLocks noChangeArrowheads="1"/>
            </p:cNvSpPr>
            <p:nvPr/>
          </p:nvSpPr>
          <p:spPr bwMode="auto">
            <a:xfrm>
              <a:off x="1164" y="153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T</a:t>
              </a:r>
            </a:p>
          </p:txBody>
        </p:sp>
        <p:sp>
          <p:nvSpPr>
            <p:cNvPr id="19475" name="Text Box 5"/>
            <p:cNvSpPr txBox="1">
              <a:spLocks noChangeArrowheads="1"/>
            </p:cNvSpPr>
            <p:nvPr/>
          </p:nvSpPr>
          <p:spPr bwMode="auto">
            <a:xfrm>
              <a:off x="1008" y="2015"/>
              <a:ext cx="4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CN" b="0">
                  <a:latin typeface="Arial" panose="020B0604020202020204" pitchFamily="34" charset="0"/>
                  <a:ea typeface="PMingLiU" pitchFamily="18" charset="-120"/>
                </a:rPr>
                <a:t>real</a:t>
              </a:r>
              <a:endParaRPr kumimoji="1" lang="en-US" altLang="zh-TW" b="0">
                <a:latin typeface="Arial" panose="020B0604020202020204" pitchFamily="34" charset="0"/>
                <a:ea typeface="PMingLiU" pitchFamily="18" charset="-120"/>
              </a:endParaRPr>
            </a:p>
          </p:txBody>
        </p:sp>
        <p:sp>
          <p:nvSpPr>
            <p:cNvPr id="19476" name="Line 6"/>
            <p:cNvSpPr>
              <a:spLocks noChangeShapeType="1"/>
            </p:cNvSpPr>
            <p:nvPr/>
          </p:nvSpPr>
          <p:spPr bwMode="auto">
            <a:xfrm>
              <a:off x="1268" y="1824"/>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7" name="Text Box 7"/>
            <p:cNvSpPr txBox="1">
              <a:spLocks noChangeArrowheads="1"/>
            </p:cNvSpPr>
            <p:nvPr/>
          </p:nvSpPr>
          <p:spPr bwMode="auto">
            <a:xfrm>
              <a:off x="3764" y="153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19478" name="Text Box 8"/>
            <p:cNvSpPr txBox="1">
              <a:spLocks noChangeArrowheads="1"/>
            </p:cNvSpPr>
            <p:nvPr/>
          </p:nvSpPr>
          <p:spPr bwMode="auto">
            <a:xfrm>
              <a:off x="3712" y="2015"/>
              <a:ext cx="2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CN" b="0">
                  <a:latin typeface="Arial" panose="020B0604020202020204" pitchFamily="34" charset="0"/>
                  <a:ea typeface="PMingLiU" pitchFamily="18" charset="-120"/>
                </a:rPr>
                <a:t> </a:t>
              </a:r>
              <a:r>
                <a:rPr kumimoji="1" lang="en-US" altLang="zh-TW" b="0">
                  <a:latin typeface="Arial" panose="020B0604020202020204" pitchFamily="34" charset="0"/>
                  <a:ea typeface="PMingLiU" pitchFamily="18" charset="-120"/>
                </a:rPr>
                <a:t>,</a:t>
              </a:r>
            </a:p>
          </p:txBody>
        </p:sp>
        <p:sp>
          <p:nvSpPr>
            <p:cNvPr id="19479" name="Text Box 9"/>
            <p:cNvSpPr txBox="1">
              <a:spLocks noChangeArrowheads="1"/>
            </p:cNvSpPr>
            <p:nvPr/>
          </p:nvSpPr>
          <p:spPr bwMode="auto">
            <a:xfrm>
              <a:off x="2932" y="201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19480" name="Text Box 10"/>
            <p:cNvSpPr txBox="1">
              <a:spLocks noChangeArrowheads="1"/>
            </p:cNvSpPr>
            <p:nvPr/>
          </p:nvSpPr>
          <p:spPr bwMode="auto">
            <a:xfrm>
              <a:off x="4284" y="2015"/>
              <a:ext cx="3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a:latin typeface="Arial" panose="020B0604020202020204" pitchFamily="34" charset="0"/>
                  <a:ea typeface="PMingLiU" pitchFamily="18" charset="-120"/>
                </a:rPr>
                <a:t>id</a:t>
              </a:r>
              <a:r>
                <a:rPr kumimoji="1" lang="en-US" altLang="zh-TW" b="0" baseline="-25000">
                  <a:latin typeface="Arial" panose="020B0604020202020204" pitchFamily="34" charset="0"/>
                  <a:ea typeface="PMingLiU" pitchFamily="18" charset="-120"/>
                </a:rPr>
                <a:t>3</a:t>
              </a:r>
              <a:endParaRPr kumimoji="1" lang="en-US" altLang="zh-TW" b="0">
                <a:latin typeface="Arial" panose="020B0604020202020204" pitchFamily="34" charset="0"/>
                <a:ea typeface="PMingLiU" pitchFamily="18" charset="-120"/>
              </a:endParaRPr>
            </a:p>
          </p:txBody>
        </p:sp>
        <p:sp>
          <p:nvSpPr>
            <p:cNvPr id="19481" name="Text Box 11"/>
            <p:cNvSpPr txBox="1">
              <a:spLocks noChangeArrowheads="1"/>
            </p:cNvSpPr>
            <p:nvPr/>
          </p:nvSpPr>
          <p:spPr bwMode="auto">
            <a:xfrm>
              <a:off x="2100" y="249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19482" name="Text Box 12"/>
            <p:cNvSpPr txBox="1">
              <a:spLocks noChangeArrowheads="1"/>
            </p:cNvSpPr>
            <p:nvPr/>
          </p:nvSpPr>
          <p:spPr bwMode="auto">
            <a:xfrm>
              <a:off x="2880" y="2495"/>
              <a:ext cx="2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CN" b="0">
                  <a:latin typeface="Arial" panose="020B0604020202020204" pitchFamily="34" charset="0"/>
                  <a:ea typeface="PMingLiU" pitchFamily="18" charset="-120"/>
                </a:rPr>
                <a:t> </a:t>
              </a:r>
              <a:r>
                <a:rPr kumimoji="1" lang="en-US" altLang="zh-TW" b="0">
                  <a:latin typeface="Arial" panose="020B0604020202020204" pitchFamily="34" charset="0"/>
                  <a:ea typeface="PMingLiU" pitchFamily="18" charset="-120"/>
                </a:rPr>
                <a:t>,</a:t>
              </a:r>
            </a:p>
          </p:txBody>
        </p:sp>
        <p:sp>
          <p:nvSpPr>
            <p:cNvPr id="19483" name="Text Box 13"/>
            <p:cNvSpPr txBox="1">
              <a:spLocks noChangeArrowheads="1"/>
            </p:cNvSpPr>
            <p:nvPr/>
          </p:nvSpPr>
          <p:spPr bwMode="auto">
            <a:xfrm>
              <a:off x="3452" y="2495"/>
              <a:ext cx="3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a:latin typeface="Arial" panose="020B0604020202020204" pitchFamily="34" charset="0"/>
                  <a:ea typeface="PMingLiU" pitchFamily="18" charset="-120"/>
                </a:rPr>
                <a:t>id</a:t>
              </a:r>
              <a:r>
                <a:rPr kumimoji="1" lang="en-US" altLang="zh-TW" b="0" baseline="-25000">
                  <a:latin typeface="Arial" panose="020B0604020202020204" pitchFamily="34" charset="0"/>
                  <a:ea typeface="PMingLiU" pitchFamily="18" charset="-120"/>
                </a:rPr>
                <a:t>2</a:t>
              </a:r>
              <a:endParaRPr kumimoji="1" lang="en-US" altLang="zh-TW" b="0">
                <a:latin typeface="Arial" panose="020B0604020202020204" pitchFamily="34" charset="0"/>
                <a:ea typeface="PMingLiU" pitchFamily="18" charset="-120"/>
              </a:endParaRPr>
            </a:p>
          </p:txBody>
        </p:sp>
        <p:sp>
          <p:nvSpPr>
            <p:cNvPr id="19484" name="Text Box 14"/>
            <p:cNvSpPr txBox="1">
              <a:spLocks noChangeArrowheads="1"/>
            </p:cNvSpPr>
            <p:nvPr/>
          </p:nvSpPr>
          <p:spPr bwMode="auto">
            <a:xfrm>
              <a:off x="2048" y="3023"/>
              <a:ext cx="3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a:latin typeface="Arial" panose="020B0604020202020204" pitchFamily="34" charset="0"/>
                  <a:ea typeface="PMingLiU" pitchFamily="18" charset="-120"/>
                </a:rPr>
                <a:t>id</a:t>
              </a:r>
              <a:r>
                <a:rPr kumimoji="1" lang="en-US" altLang="zh-TW" b="0" baseline="-25000">
                  <a:latin typeface="Arial" panose="020B0604020202020204" pitchFamily="34" charset="0"/>
                  <a:ea typeface="PMingLiU" pitchFamily="18" charset="-120"/>
                </a:rPr>
                <a:t>1</a:t>
              </a:r>
              <a:endParaRPr kumimoji="1" lang="en-US" altLang="zh-TW" b="0">
                <a:latin typeface="Arial" panose="020B0604020202020204" pitchFamily="34" charset="0"/>
                <a:ea typeface="PMingLiU" pitchFamily="18" charset="-120"/>
              </a:endParaRPr>
            </a:p>
          </p:txBody>
        </p:sp>
        <p:sp>
          <p:nvSpPr>
            <p:cNvPr id="19485" name="Line 15"/>
            <p:cNvSpPr>
              <a:spLocks noChangeShapeType="1"/>
            </p:cNvSpPr>
            <p:nvPr/>
          </p:nvSpPr>
          <p:spPr bwMode="auto">
            <a:xfrm>
              <a:off x="2204" y="2784"/>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486" name="Group 16"/>
            <p:cNvGrpSpPr>
              <a:grpSpLocks/>
            </p:cNvGrpSpPr>
            <p:nvPr/>
          </p:nvGrpSpPr>
          <p:grpSpPr bwMode="auto">
            <a:xfrm>
              <a:off x="3036" y="1776"/>
              <a:ext cx="1404" cy="240"/>
              <a:chOff x="2784" y="2208"/>
              <a:chExt cx="1296" cy="240"/>
            </a:xfrm>
          </p:grpSpPr>
          <p:sp>
            <p:nvSpPr>
              <p:cNvPr id="19503" name="Line 17"/>
              <p:cNvSpPr>
                <a:spLocks noChangeShapeType="1"/>
              </p:cNvSpPr>
              <p:nvPr/>
            </p:nvSpPr>
            <p:spPr bwMode="auto">
              <a:xfrm>
                <a:off x="3552" y="2208"/>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4" name="Line 18"/>
              <p:cNvSpPr>
                <a:spLocks noChangeShapeType="1"/>
              </p:cNvSpPr>
              <p:nvPr/>
            </p:nvSpPr>
            <p:spPr bwMode="auto">
              <a:xfrm flipH="1">
                <a:off x="2784" y="2208"/>
                <a:ext cx="768"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5" name="Line 19"/>
              <p:cNvSpPr>
                <a:spLocks noChangeShapeType="1"/>
              </p:cNvSpPr>
              <p:nvPr/>
            </p:nvSpPr>
            <p:spPr bwMode="auto">
              <a:xfrm>
                <a:off x="3552" y="2208"/>
                <a:ext cx="528"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87" name="Group 20"/>
            <p:cNvGrpSpPr>
              <a:grpSpLocks/>
            </p:cNvGrpSpPr>
            <p:nvPr/>
          </p:nvGrpSpPr>
          <p:grpSpPr bwMode="auto">
            <a:xfrm>
              <a:off x="2204" y="2256"/>
              <a:ext cx="1404" cy="240"/>
              <a:chOff x="2784" y="2208"/>
              <a:chExt cx="1296" cy="240"/>
            </a:xfrm>
          </p:grpSpPr>
          <p:sp>
            <p:nvSpPr>
              <p:cNvPr id="19500" name="Line 21"/>
              <p:cNvSpPr>
                <a:spLocks noChangeShapeType="1"/>
              </p:cNvSpPr>
              <p:nvPr/>
            </p:nvSpPr>
            <p:spPr bwMode="auto">
              <a:xfrm>
                <a:off x="3552" y="2208"/>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1" name="Line 22"/>
              <p:cNvSpPr>
                <a:spLocks noChangeShapeType="1"/>
              </p:cNvSpPr>
              <p:nvPr/>
            </p:nvSpPr>
            <p:spPr bwMode="auto">
              <a:xfrm flipH="1">
                <a:off x="2784" y="2208"/>
                <a:ext cx="768"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2" name="Line 23"/>
              <p:cNvSpPr>
                <a:spLocks noChangeShapeType="1"/>
              </p:cNvSpPr>
              <p:nvPr/>
            </p:nvSpPr>
            <p:spPr bwMode="auto">
              <a:xfrm>
                <a:off x="3552" y="2208"/>
                <a:ext cx="528"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88" name="Line 24"/>
            <p:cNvSpPr>
              <a:spLocks noChangeShapeType="1"/>
            </p:cNvSpPr>
            <p:nvPr/>
          </p:nvSpPr>
          <p:spPr bwMode="auto">
            <a:xfrm flipH="1">
              <a:off x="1268" y="1248"/>
              <a:ext cx="1196"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9" name="Line 25"/>
            <p:cNvSpPr>
              <a:spLocks noChangeShapeType="1"/>
            </p:cNvSpPr>
            <p:nvPr/>
          </p:nvSpPr>
          <p:spPr bwMode="auto">
            <a:xfrm>
              <a:off x="2464" y="1248"/>
              <a:ext cx="1404" cy="336"/>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0" name="Text Box 26"/>
            <p:cNvSpPr txBox="1">
              <a:spLocks noChangeArrowheads="1"/>
            </p:cNvSpPr>
            <p:nvPr/>
          </p:nvSpPr>
          <p:spPr bwMode="auto">
            <a:xfrm>
              <a:off x="1372" y="1535"/>
              <a:ext cx="6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1  type</a:t>
              </a:r>
            </a:p>
          </p:txBody>
        </p:sp>
        <p:sp>
          <p:nvSpPr>
            <p:cNvPr id="19491" name="Text Box 27"/>
            <p:cNvSpPr txBox="1">
              <a:spLocks noChangeArrowheads="1"/>
            </p:cNvSpPr>
            <p:nvPr/>
          </p:nvSpPr>
          <p:spPr bwMode="auto">
            <a:xfrm>
              <a:off x="3244" y="1535"/>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in  2</a:t>
              </a:r>
            </a:p>
          </p:txBody>
        </p:sp>
        <p:sp>
          <p:nvSpPr>
            <p:cNvPr id="19492" name="Text Box 28"/>
            <p:cNvSpPr txBox="1">
              <a:spLocks noChangeArrowheads="1"/>
            </p:cNvSpPr>
            <p:nvPr/>
          </p:nvSpPr>
          <p:spPr bwMode="auto">
            <a:xfrm>
              <a:off x="1580" y="2495"/>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in  4</a:t>
              </a:r>
            </a:p>
          </p:txBody>
        </p:sp>
        <p:sp>
          <p:nvSpPr>
            <p:cNvPr id="19493" name="Text Box 29"/>
            <p:cNvSpPr txBox="1">
              <a:spLocks noChangeArrowheads="1"/>
            </p:cNvSpPr>
            <p:nvPr/>
          </p:nvSpPr>
          <p:spPr bwMode="auto">
            <a:xfrm>
              <a:off x="2412" y="2015"/>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in  3</a:t>
              </a:r>
            </a:p>
          </p:txBody>
        </p:sp>
        <p:sp>
          <p:nvSpPr>
            <p:cNvPr id="19494" name="Text Box 30"/>
            <p:cNvSpPr txBox="1">
              <a:spLocks noChangeArrowheads="1"/>
            </p:cNvSpPr>
            <p:nvPr/>
          </p:nvSpPr>
          <p:spPr bwMode="auto">
            <a:xfrm>
              <a:off x="2360" y="249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6</a:t>
              </a:r>
            </a:p>
          </p:txBody>
        </p:sp>
        <p:sp>
          <p:nvSpPr>
            <p:cNvPr id="19495" name="Text Box 31"/>
            <p:cNvSpPr txBox="1">
              <a:spLocks noChangeArrowheads="1"/>
            </p:cNvSpPr>
            <p:nvPr/>
          </p:nvSpPr>
          <p:spPr bwMode="auto">
            <a:xfrm>
              <a:off x="4024" y="1535"/>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10</a:t>
              </a:r>
            </a:p>
          </p:txBody>
        </p:sp>
        <p:sp>
          <p:nvSpPr>
            <p:cNvPr id="19496" name="Text Box 32"/>
            <p:cNvSpPr txBox="1">
              <a:spLocks noChangeArrowheads="1"/>
            </p:cNvSpPr>
            <p:nvPr/>
          </p:nvSpPr>
          <p:spPr bwMode="auto">
            <a:xfrm>
              <a:off x="3192" y="201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8</a:t>
              </a:r>
            </a:p>
          </p:txBody>
        </p:sp>
        <p:sp>
          <p:nvSpPr>
            <p:cNvPr id="19497" name="Text Box 33"/>
            <p:cNvSpPr txBox="1">
              <a:spLocks noChangeArrowheads="1"/>
            </p:cNvSpPr>
            <p:nvPr/>
          </p:nvSpPr>
          <p:spPr bwMode="auto">
            <a:xfrm>
              <a:off x="2412" y="3023"/>
              <a:ext cx="7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5 entry</a:t>
              </a:r>
            </a:p>
          </p:txBody>
        </p:sp>
        <p:sp>
          <p:nvSpPr>
            <p:cNvPr id="19498" name="Text Box 34"/>
            <p:cNvSpPr txBox="1">
              <a:spLocks noChangeArrowheads="1"/>
            </p:cNvSpPr>
            <p:nvPr/>
          </p:nvSpPr>
          <p:spPr bwMode="auto">
            <a:xfrm>
              <a:off x="4648" y="2015"/>
              <a:ext cx="7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9 entry</a:t>
              </a:r>
            </a:p>
          </p:txBody>
        </p:sp>
        <p:sp>
          <p:nvSpPr>
            <p:cNvPr id="19499" name="Text Box 35"/>
            <p:cNvSpPr txBox="1">
              <a:spLocks noChangeArrowheads="1"/>
            </p:cNvSpPr>
            <p:nvPr/>
          </p:nvSpPr>
          <p:spPr bwMode="auto">
            <a:xfrm>
              <a:off x="3816" y="2495"/>
              <a:ext cx="7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7 entry</a:t>
              </a:r>
            </a:p>
          </p:txBody>
        </p:sp>
      </p:grpSp>
      <p:sp>
        <p:nvSpPr>
          <p:cNvPr id="432164" name="Line 36"/>
          <p:cNvSpPr>
            <a:spLocks noChangeShapeType="1"/>
          </p:cNvSpPr>
          <p:nvPr/>
        </p:nvSpPr>
        <p:spPr bwMode="auto">
          <a:xfrm>
            <a:off x="3333750" y="2667000"/>
            <a:ext cx="1733550"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65" name="Line 37"/>
          <p:cNvSpPr>
            <a:spLocks noChangeShapeType="1"/>
          </p:cNvSpPr>
          <p:nvPr/>
        </p:nvSpPr>
        <p:spPr bwMode="auto">
          <a:xfrm flipH="1">
            <a:off x="4076700" y="2895600"/>
            <a:ext cx="1238250" cy="381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66" name="Line 38"/>
          <p:cNvSpPr>
            <a:spLocks noChangeShapeType="1"/>
          </p:cNvSpPr>
          <p:nvPr/>
        </p:nvSpPr>
        <p:spPr bwMode="auto">
          <a:xfrm flipH="1">
            <a:off x="2755900" y="3657600"/>
            <a:ext cx="1238250" cy="381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67" name="Line 39"/>
          <p:cNvSpPr>
            <a:spLocks noChangeShapeType="1"/>
          </p:cNvSpPr>
          <p:nvPr/>
        </p:nvSpPr>
        <p:spPr bwMode="auto">
          <a:xfrm>
            <a:off x="3962400" y="4419600"/>
            <a:ext cx="0" cy="381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68" name="Line 40"/>
          <p:cNvSpPr>
            <a:spLocks noChangeShapeType="1"/>
          </p:cNvSpPr>
          <p:nvPr/>
        </p:nvSpPr>
        <p:spPr bwMode="auto">
          <a:xfrm>
            <a:off x="5257800" y="3657600"/>
            <a:ext cx="863600" cy="381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69" name="Line 41"/>
          <p:cNvSpPr>
            <a:spLocks noChangeShapeType="1"/>
          </p:cNvSpPr>
          <p:nvPr/>
        </p:nvSpPr>
        <p:spPr bwMode="auto">
          <a:xfrm>
            <a:off x="6629400" y="2895600"/>
            <a:ext cx="762000" cy="3048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70" name="Line 42"/>
          <p:cNvSpPr>
            <a:spLocks noChangeShapeType="1"/>
          </p:cNvSpPr>
          <p:nvPr/>
        </p:nvSpPr>
        <p:spPr bwMode="auto">
          <a:xfrm>
            <a:off x="2755900" y="4419600"/>
            <a:ext cx="1073150"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71" name="Line 43"/>
          <p:cNvSpPr>
            <a:spLocks noChangeShapeType="1"/>
          </p:cNvSpPr>
          <p:nvPr/>
        </p:nvSpPr>
        <p:spPr bwMode="auto">
          <a:xfrm>
            <a:off x="4159250" y="3657600"/>
            <a:ext cx="1073150"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72" name="Line 44"/>
          <p:cNvSpPr>
            <a:spLocks noChangeShapeType="1"/>
          </p:cNvSpPr>
          <p:nvPr/>
        </p:nvSpPr>
        <p:spPr bwMode="auto">
          <a:xfrm>
            <a:off x="5480050" y="2895600"/>
            <a:ext cx="1073150"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2173" name="Line 45"/>
          <p:cNvSpPr>
            <a:spLocks noChangeShapeType="1"/>
          </p:cNvSpPr>
          <p:nvPr/>
        </p:nvSpPr>
        <p:spPr bwMode="auto">
          <a:xfrm flipV="1">
            <a:off x="2552700" y="2959100"/>
            <a:ext cx="0" cy="381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32175"/>
                                        </p:tgtEl>
                                        <p:attrNameLst>
                                          <p:attrName>style.visibility</p:attrName>
                                        </p:attrNameLst>
                                      </p:cBhvr>
                                      <p:to>
                                        <p:strVal val="visible"/>
                                      </p:to>
                                    </p:set>
                                    <p:animEffect transition="in" filter="wipe(up)">
                                      <p:cBhvr>
                                        <p:cTn id="7" dur="1000"/>
                                        <p:tgtEl>
                                          <p:spTgt spid="432175"/>
                                        </p:tgtEl>
                                      </p:cBhvr>
                                    </p:animEffect>
                                  </p:childTnLst>
                                </p:cTn>
                              </p:par>
                            </p:childTnLst>
                          </p:cTn>
                        </p:par>
                        <p:par>
                          <p:cTn id="8" fill="hold" nodeType="afterGroup">
                            <p:stCondLst>
                              <p:cond delay="1000"/>
                            </p:stCondLst>
                            <p:childTnLst>
                              <p:par>
                                <p:cTn id="9" presetID="22" presetClass="entr" presetSubtype="4" fill="hold" nodeType="afterEffect">
                                  <p:stCondLst>
                                    <p:cond delay="3000"/>
                                  </p:stCondLst>
                                  <p:childTnLst>
                                    <p:set>
                                      <p:cBhvr>
                                        <p:cTn id="10" dur="1" fill="hold">
                                          <p:stCondLst>
                                            <p:cond delay="0"/>
                                          </p:stCondLst>
                                        </p:cTn>
                                        <p:tgtEl>
                                          <p:spTgt spid="432173"/>
                                        </p:tgtEl>
                                        <p:attrNameLst>
                                          <p:attrName>style.visibility</p:attrName>
                                        </p:attrNameLst>
                                      </p:cBhvr>
                                      <p:to>
                                        <p:strVal val="visible"/>
                                      </p:to>
                                    </p:set>
                                    <p:animEffect transition="in" filter="wipe(down)">
                                      <p:cBhvr>
                                        <p:cTn id="11" dur="1000"/>
                                        <p:tgtEl>
                                          <p:spTgt spid="432173"/>
                                        </p:tgtEl>
                                      </p:cBhvr>
                                    </p:animEffect>
                                  </p:childTnLst>
                                </p:cTn>
                              </p:par>
                            </p:childTnLst>
                          </p:cTn>
                        </p:par>
                        <p:par>
                          <p:cTn id="12" fill="hold" nodeType="afterGroup">
                            <p:stCondLst>
                              <p:cond delay="5000"/>
                            </p:stCondLst>
                            <p:childTnLst>
                              <p:par>
                                <p:cTn id="13" presetID="22" presetClass="entr" presetSubtype="8" fill="hold" nodeType="afterEffect">
                                  <p:stCondLst>
                                    <p:cond delay="0"/>
                                  </p:stCondLst>
                                  <p:childTnLst>
                                    <p:set>
                                      <p:cBhvr>
                                        <p:cTn id="14" dur="1" fill="hold">
                                          <p:stCondLst>
                                            <p:cond delay="0"/>
                                          </p:stCondLst>
                                        </p:cTn>
                                        <p:tgtEl>
                                          <p:spTgt spid="432164"/>
                                        </p:tgtEl>
                                        <p:attrNameLst>
                                          <p:attrName>style.visibility</p:attrName>
                                        </p:attrNameLst>
                                      </p:cBhvr>
                                      <p:to>
                                        <p:strVal val="visible"/>
                                      </p:to>
                                    </p:set>
                                    <p:animEffect transition="in" filter="wipe(left)">
                                      <p:cBhvr>
                                        <p:cTn id="15" dur="1000"/>
                                        <p:tgtEl>
                                          <p:spTgt spid="432164"/>
                                        </p:tgtEl>
                                      </p:cBhvr>
                                    </p:animEffect>
                                  </p:childTnLst>
                                </p:cTn>
                              </p:par>
                            </p:childTnLst>
                          </p:cTn>
                        </p:par>
                        <p:par>
                          <p:cTn id="16" fill="hold" nodeType="afterGroup">
                            <p:stCondLst>
                              <p:cond delay="6000"/>
                            </p:stCondLst>
                            <p:childTnLst>
                              <p:par>
                                <p:cTn id="17" presetID="22" presetClass="entr" presetSubtype="1" fill="hold" nodeType="afterEffect">
                                  <p:stCondLst>
                                    <p:cond delay="0"/>
                                  </p:stCondLst>
                                  <p:childTnLst>
                                    <p:set>
                                      <p:cBhvr>
                                        <p:cTn id="18" dur="1" fill="hold">
                                          <p:stCondLst>
                                            <p:cond delay="0"/>
                                          </p:stCondLst>
                                        </p:cTn>
                                        <p:tgtEl>
                                          <p:spTgt spid="432165"/>
                                        </p:tgtEl>
                                        <p:attrNameLst>
                                          <p:attrName>style.visibility</p:attrName>
                                        </p:attrNameLst>
                                      </p:cBhvr>
                                      <p:to>
                                        <p:strVal val="visible"/>
                                      </p:to>
                                    </p:set>
                                    <p:animEffect transition="in" filter="wipe(up)">
                                      <p:cBhvr>
                                        <p:cTn id="19" dur="1000"/>
                                        <p:tgtEl>
                                          <p:spTgt spid="432165"/>
                                        </p:tgtEl>
                                      </p:cBhvr>
                                    </p:animEffect>
                                  </p:childTnLst>
                                </p:cTn>
                              </p:par>
                            </p:childTnLst>
                          </p:cTn>
                        </p:par>
                        <p:par>
                          <p:cTn id="20" fill="hold" nodeType="afterGroup">
                            <p:stCondLst>
                              <p:cond delay="7000"/>
                            </p:stCondLst>
                            <p:childTnLst>
                              <p:par>
                                <p:cTn id="21" presetID="22" presetClass="entr" presetSubtype="1" fill="hold" nodeType="afterEffect">
                                  <p:stCondLst>
                                    <p:cond delay="0"/>
                                  </p:stCondLst>
                                  <p:childTnLst>
                                    <p:set>
                                      <p:cBhvr>
                                        <p:cTn id="22" dur="1" fill="hold">
                                          <p:stCondLst>
                                            <p:cond delay="0"/>
                                          </p:stCondLst>
                                        </p:cTn>
                                        <p:tgtEl>
                                          <p:spTgt spid="432166"/>
                                        </p:tgtEl>
                                        <p:attrNameLst>
                                          <p:attrName>style.visibility</p:attrName>
                                        </p:attrNameLst>
                                      </p:cBhvr>
                                      <p:to>
                                        <p:strVal val="visible"/>
                                      </p:to>
                                    </p:set>
                                    <p:animEffect transition="in" filter="wipe(up)">
                                      <p:cBhvr>
                                        <p:cTn id="23" dur="1000"/>
                                        <p:tgtEl>
                                          <p:spTgt spid="432166"/>
                                        </p:tgtEl>
                                      </p:cBhvr>
                                    </p:animEffect>
                                  </p:childTnLst>
                                </p:cTn>
                              </p:par>
                            </p:childTnLst>
                          </p:cTn>
                        </p:par>
                        <p:par>
                          <p:cTn id="24" fill="hold" nodeType="afterGroup">
                            <p:stCondLst>
                              <p:cond delay="8000"/>
                            </p:stCondLst>
                            <p:childTnLst>
                              <p:par>
                                <p:cTn id="25" presetID="22" presetClass="entr" presetSubtype="8" fill="hold" nodeType="afterEffect">
                                  <p:stCondLst>
                                    <p:cond delay="0"/>
                                  </p:stCondLst>
                                  <p:childTnLst>
                                    <p:set>
                                      <p:cBhvr>
                                        <p:cTn id="26" dur="1" fill="hold">
                                          <p:stCondLst>
                                            <p:cond delay="0"/>
                                          </p:stCondLst>
                                        </p:cTn>
                                        <p:tgtEl>
                                          <p:spTgt spid="432170"/>
                                        </p:tgtEl>
                                        <p:attrNameLst>
                                          <p:attrName>style.visibility</p:attrName>
                                        </p:attrNameLst>
                                      </p:cBhvr>
                                      <p:to>
                                        <p:strVal val="visible"/>
                                      </p:to>
                                    </p:set>
                                    <p:animEffect transition="in" filter="wipe(left)">
                                      <p:cBhvr>
                                        <p:cTn id="27" dur="1000"/>
                                        <p:tgtEl>
                                          <p:spTgt spid="432170"/>
                                        </p:tgtEl>
                                      </p:cBhvr>
                                    </p:animEffect>
                                  </p:childTnLst>
                                </p:cTn>
                              </p:par>
                            </p:childTnLst>
                          </p:cTn>
                        </p:par>
                        <p:par>
                          <p:cTn id="28" fill="hold" nodeType="afterGroup">
                            <p:stCondLst>
                              <p:cond delay="9000"/>
                            </p:stCondLst>
                            <p:childTnLst>
                              <p:par>
                                <p:cTn id="29" presetID="22" presetClass="entr" presetSubtype="1" fill="hold" nodeType="afterEffect">
                                  <p:stCondLst>
                                    <p:cond delay="0"/>
                                  </p:stCondLst>
                                  <p:childTnLst>
                                    <p:set>
                                      <p:cBhvr>
                                        <p:cTn id="30" dur="1" fill="hold">
                                          <p:stCondLst>
                                            <p:cond delay="0"/>
                                          </p:stCondLst>
                                        </p:cTn>
                                        <p:tgtEl>
                                          <p:spTgt spid="432167"/>
                                        </p:tgtEl>
                                        <p:attrNameLst>
                                          <p:attrName>style.visibility</p:attrName>
                                        </p:attrNameLst>
                                      </p:cBhvr>
                                      <p:to>
                                        <p:strVal val="visible"/>
                                      </p:to>
                                    </p:set>
                                    <p:animEffect transition="in" filter="wipe(up)">
                                      <p:cBhvr>
                                        <p:cTn id="31" dur="1000"/>
                                        <p:tgtEl>
                                          <p:spTgt spid="432167"/>
                                        </p:tgtEl>
                                      </p:cBhvr>
                                    </p:animEffect>
                                  </p:childTnLst>
                                </p:cTn>
                              </p:par>
                            </p:childTnLst>
                          </p:cTn>
                        </p:par>
                        <p:par>
                          <p:cTn id="32" fill="hold" nodeType="afterGroup">
                            <p:stCondLst>
                              <p:cond delay="10000"/>
                            </p:stCondLst>
                            <p:childTnLst>
                              <p:par>
                                <p:cTn id="33" presetID="22" presetClass="entr" presetSubtype="8" fill="hold" nodeType="afterEffect">
                                  <p:stCondLst>
                                    <p:cond delay="0"/>
                                  </p:stCondLst>
                                  <p:childTnLst>
                                    <p:set>
                                      <p:cBhvr>
                                        <p:cTn id="34" dur="1" fill="hold">
                                          <p:stCondLst>
                                            <p:cond delay="0"/>
                                          </p:stCondLst>
                                        </p:cTn>
                                        <p:tgtEl>
                                          <p:spTgt spid="432171"/>
                                        </p:tgtEl>
                                        <p:attrNameLst>
                                          <p:attrName>style.visibility</p:attrName>
                                        </p:attrNameLst>
                                      </p:cBhvr>
                                      <p:to>
                                        <p:strVal val="visible"/>
                                      </p:to>
                                    </p:set>
                                    <p:animEffect transition="in" filter="wipe(left)">
                                      <p:cBhvr>
                                        <p:cTn id="35" dur="1000"/>
                                        <p:tgtEl>
                                          <p:spTgt spid="432171"/>
                                        </p:tgtEl>
                                      </p:cBhvr>
                                    </p:animEffect>
                                  </p:childTnLst>
                                </p:cTn>
                              </p:par>
                            </p:childTnLst>
                          </p:cTn>
                        </p:par>
                        <p:par>
                          <p:cTn id="36" fill="hold" nodeType="afterGroup">
                            <p:stCondLst>
                              <p:cond delay="11000"/>
                            </p:stCondLst>
                            <p:childTnLst>
                              <p:par>
                                <p:cTn id="37" presetID="22" presetClass="entr" presetSubtype="1" fill="hold" nodeType="afterEffect">
                                  <p:stCondLst>
                                    <p:cond delay="0"/>
                                  </p:stCondLst>
                                  <p:childTnLst>
                                    <p:set>
                                      <p:cBhvr>
                                        <p:cTn id="38" dur="1" fill="hold">
                                          <p:stCondLst>
                                            <p:cond delay="0"/>
                                          </p:stCondLst>
                                        </p:cTn>
                                        <p:tgtEl>
                                          <p:spTgt spid="432168"/>
                                        </p:tgtEl>
                                        <p:attrNameLst>
                                          <p:attrName>style.visibility</p:attrName>
                                        </p:attrNameLst>
                                      </p:cBhvr>
                                      <p:to>
                                        <p:strVal val="visible"/>
                                      </p:to>
                                    </p:set>
                                    <p:animEffect transition="in" filter="wipe(up)">
                                      <p:cBhvr>
                                        <p:cTn id="39" dur="1000"/>
                                        <p:tgtEl>
                                          <p:spTgt spid="432168"/>
                                        </p:tgtEl>
                                      </p:cBhvr>
                                    </p:animEffect>
                                  </p:childTnLst>
                                </p:cTn>
                              </p:par>
                            </p:childTnLst>
                          </p:cTn>
                        </p:par>
                        <p:par>
                          <p:cTn id="40" fill="hold" nodeType="afterGroup">
                            <p:stCondLst>
                              <p:cond delay="12000"/>
                            </p:stCondLst>
                            <p:childTnLst>
                              <p:par>
                                <p:cTn id="41" presetID="22" presetClass="entr" presetSubtype="8" fill="hold" nodeType="afterEffect">
                                  <p:stCondLst>
                                    <p:cond delay="0"/>
                                  </p:stCondLst>
                                  <p:childTnLst>
                                    <p:set>
                                      <p:cBhvr>
                                        <p:cTn id="42" dur="1" fill="hold">
                                          <p:stCondLst>
                                            <p:cond delay="0"/>
                                          </p:stCondLst>
                                        </p:cTn>
                                        <p:tgtEl>
                                          <p:spTgt spid="432172"/>
                                        </p:tgtEl>
                                        <p:attrNameLst>
                                          <p:attrName>style.visibility</p:attrName>
                                        </p:attrNameLst>
                                      </p:cBhvr>
                                      <p:to>
                                        <p:strVal val="visible"/>
                                      </p:to>
                                    </p:set>
                                    <p:animEffect transition="in" filter="wipe(left)">
                                      <p:cBhvr>
                                        <p:cTn id="43" dur="1000"/>
                                        <p:tgtEl>
                                          <p:spTgt spid="432172"/>
                                        </p:tgtEl>
                                      </p:cBhvr>
                                    </p:animEffect>
                                  </p:childTnLst>
                                </p:cTn>
                              </p:par>
                            </p:childTnLst>
                          </p:cTn>
                        </p:par>
                        <p:par>
                          <p:cTn id="44" fill="hold" nodeType="afterGroup">
                            <p:stCondLst>
                              <p:cond delay="13000"/>
                            </p:stCondLst>
                            <p:childTnLst>
                              <p:par>
                                <p:cTn id="45" presetID="22" presetClass="entr" presetSubtype="1" fill="hold" nodeType="afterEffect">
                                  <p:stCondLst>
                                    <p:cond delay="0"/>
                                  </p:stCondLst>
                                  <p:childTnLst>
                                    <p:set>
                                      <p:cBhvr>
                                        <p:cTn id="46" dur="1" fill="hold">
                                          <p:stCondLst>
                                            <p:cond delay="0"/>
                                          </p:stCondLst>
                                        </p:cTn>
                                        <p:tgtEl>
                                          <p:spTgt spid="432169"/>
                                        </p:tgtEl>
                                        <p:attrNameLst>
                                          <p:attrName>style.visibility</p:attrName>
                                        </p:attrNameLst>
                                      </p:cBhvr>
                                      <p:to>
                                        <p:strVal val="visible"/>
                                      </p:to>
                                    </p:set>
                                    <p:animEffect transition="in" filter="wipe(up)">
                                      <p:cBhvr>
                                        <p:cTn id="47" dur="1000"/>
                                        <p:tgtEl>
                                          <p:spTgt spid="432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048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048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46B22482-6A4A-4D46-8031-4FB644DEF7D5}" type="slidenum">
              <a:rPr lang="zh-CN" altLang="en-US" sz="800"/>
              <a:pPr>
                <a:spcBef>
                  <a:spcPct val="0"/>
                </a:spcBef>
                <a:buFontTx/>
                <a:buNone/>
              </a:pPr>
              <a:t>19</a:t>
            </a:fld>
            <a:endParaRPr lang="en-US" altLang="zh-CN" sz="800"/>
          </a:p>
        </p:txBody>
      </p:sp>
      <p:sp>
        <p:nvSpPr>
          <p:cNvPr id="20485" name="Rectangle 2"/>
          <p:cNvSpPr>
            <a:spLocks noGrp="1" noChangeArrowheads="1"/>
          </p:cNvSpPr>
          <p:nvPr>
            <p:ph type="title"/>
          </p:nvPr>
        </p:nvSpPr>
        <p:spPr/>
        <p:txBody>
          <a:bodyPr/>
          <a:lstStyle/>
          <a:p>
            <a:r>
              <a:rPr lang="en-US" altLang="zh-CN" smtClean="0">
                <a:ea typeface="宋体" panose="02010600030101010101" pitchFamily="2" charset="-122"/>
              </a:rPr>
              <a:t>Dependency Graph (cont.)</a:t>
            </a:r>
          </a:p>
        </p:txBody>
      </p:sp>
      <p:sp>
        <p:nvSpPr>
          <p:cNvPr id="20486" name="Rectangle 3"/>
          <p:cNvSpPr>
            <a:spLocks noGrp="1" noChangeArrowheads="1"/>
          </p:cNvSpPr>
          <p:nvPr>
            <p:ph type="body" idx="1"/>
          </p:nvPr>
        </p:nvSpPr>
        <p:spPr>
          <a:xfrm>
            <a:off x="381000" y="1219200"/>
            <a:ext cx="9220200" cy="5105400"/>
          </a:xfrm>
        </p:spPr>
        <p:txBody>
          <a:bodyPr/>
          <a:lstStyle/>
          <a:p>
            <a:pPr>
              <a:buFontTx/>
              <a:buNone/>
            </a:pPr>
            <a:r>
              <a:rPr lang="en-US" altLang="zh-CN" smtClean="0">
                <a:ea typeface="宋体" panose="02010600030101010101" pitchFamily="2" charset="-122"/>
              </a:rPr>
              <a:t>Input:  </a:t>
            </a:r>
            <a:r>
              <a:rPr lang="en-US" altLang="zh-CN" smtClean="0">
                <a:latin typeface="Arial" panose="020B0604020202020204" pitchFamily="34" charset="0"/>
                <a:ea typeface="宋体" panose="02010600030101010101" pitchFamily="2" charset="-122"/>
              </a:rPr>
              <a:t>real p q </a:t>
            </a:r>
          </a:p>
          <a:p>
            <a:pPr>
              <a:buFontTx/>
              <a:buNone/>
            </a:pPr>
            <a:endParaRPr lang="en-US" altLang="zh-CN" smtClean="0">
              <a:latin typeface="Arial" panose="020B0604020202020204" pitchFamily="34" charset="0"/>
              <a:ea typeface="宋体" panose="02010600030101010101" pitchFamily="2" charset="-122"/>
            </a:endParaRPr>
          </a:p>
          <a:p>
            <a:pPr>
              <a:buFontTx/>
              <a:buNone/>
            </a:pPr>
            <a:r>
              <a:rPr lang="en-US" altLang="zh-CN" smtClean="0">
                <a:ea typeface="宋体" panose="02010600030101010101" pitchFamily="2" charset="-122"/>
              </a:rPr>
              <a:t>	   D					   L.in=real</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T		    L			 	L</a:t>
            </a:r>
            <a:r>
              <a:rPr lang="en-US" altLang="zh-CN" baseline="-25000" smtClean="0">
                <a:ea typeface="宋体" panose="02010600030101010101" pitchFamily="2" charset="-122"/>
              </a:rPr>
              <a:t>1</a:t>
            </a:r>
            <a:r>
              <a:rPr lang="en-US" altLang="zh-CN" smtClean="0">
                <a:ea typeface="宋体" panose="02010600030101010101" pitchFamily="2" charset="-122"/>
              </a:rPr>
              <a:t>.in=real        addtype(q,real)</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real      L       id			 addtype(p,real)	id.entry=q</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id 					id.entry=p</a:t>
            </a:r>
          </a:p>
          <a:p>
            <a:pPr>
              <a:buFontTx/>
              <a:buNone/>
            </a:pPr>
            <a:endParaRPr lang="en-US" altLang="zh-CN" smtClean="0">
              <a:ea typeface="宋体" panose="02010600030101010101" pitchFamily="2" charset="-122"/>
            </a:endParaRPr>
          </a:p>
          <a:p>
            <a:pPr>
              <a:buFontTx/>
              <a:buNone/>
            </a:pPr>
            <a:r>
              <a:rPr lang="en-US" altLang="zh-CN" i="1" smtClean="0">
                <a:ea typeface="宋体" panose="02010600030101010101" pitchFamily="2" charset="-122"/>
              </a:rPr>
              <a:t>    parse tree			                      </a:t>
            </a:r>
            <a:r>
              <a:rPr lang="en-US" altLang="zh-CN" i="1" smtClean="0">
                <a:solidFill>
                  <a:srgbClr val="CC0000"/>
                </a:solidFill>
                <a:ea typeface="宋体" panose="02010600030101010101" pitchFamily="2" charset="-122"/>
              </a:rPr>
              <a:t>dependency graph</a:t>
            </a:r>
          </a:p>
        </p:txBody>
      </p:sp>
      <p:sp>
        <p:nvSpPr>
          <p:cNvPr id="20487" name="Line 4"/>
          <p:cNvSpPr>
            <a:spLocks noChangeShapeType="1"/>
          </p:cNvSpPr>
          <p:nvPr/>
        </p:nvSpPr>
        <p:spPr bwMode="auto">
          <a:xfrm flipH="1">
            <a:off x="685800" y="25146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8" name="Line 5"/>
          <p:cNvSpPr>
            <a:spLocks noChangeShapeType="1"/>
          </p:cNvSpPr>
          <p:nvPr/>
        </p:nvSpPr>
        <p:spPr bwMode="auto">
          <a:xfrm>
            <a:off x="1143000" y="251460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9" name="Line 6"/>
          <p:cNvSpPr>
            <a:spLocks noChangeShapeType="1"/>
          </p:cNvSpPr>
          <p:nvPr/>
        </p:nvSpPr>
        <p:spPr bwMode="auto">
          <a:xfrm>
            <a:off x="609600" y="33528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0" name="Line 7"/>
          <p:cNvSpPr>
            <a:spLocks noChangeShapeType="1"/>
          </p:cNvSpPr>
          <p:nvPr/>
        </p:nvSpPr>
        <p:spPr bwMode="auto">
          <a:xfrm flipH="1">
            <a:off x="1447800" y="33528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1" name="Line 8"/>
          <p:cNvSpPr>
            <a:spLocks noChangeShapeType="1"/>
          </p:cNvSpPr>
          <p:nvPr/>
        </p:nvSpPr>
        <p:spPr bwMode="auto">
          <a:xfrm>
            <a:off x="1752600" y="33528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2" name="Line 9"/>
          <p:cNvSpPr>
            <a:spLocks noChangeShapeType="1"/>
          </p:cNvSpPr>
          <p:nvPr/>
        </p:nvSpPr>
        <p:spPr bwMode="auto">
          <a:xfrm>
            <a:off x="1447800" y="42672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2" name="Line 10"/>
          <p:cNvSpPr>
            <a:spLocks noChangeShapeType="1"/>
          </p:cNvSpPr>
          <p:nvPr/>
        </p:nvSpPr>
        <p:spPr bwMode="auto">
          <a:xfrm flipV="1">
            <a:off x="4572000" y="2362200"/>
            <a:ext cx="6858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3" name="Line 11"/>
          <p:cNvSpPr>
            <a:spLocks noChangeShapeType="1"/>
          </p:cNvSpPr>
          <p:nvPr/>
        </p:nvSpPr>
        <p:spPr bwMode="auto">
          <a:xfrm>
            <a:off x="5562600" y="2514600"/>
            <a:ext cx="76200" cy="5334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4" name="Line 12"/>
          <p:cNvSpPr>
            <a:spLocks noChangeShapeType="1"/>
          </p:cNvSpPr>
          <p:nvPr/>
        </p:nvSpPr>
        <p:spPr bwMode="auto">
          <a:xfrm>
            <a:off x="5562600" y="2514600"/>
            <a:ext cx="1828800" cy="4572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5" name="Line 13"/>
          <p:cNvSpPr>
            <a:spLocks noChangeShapeType="1"/>
          </p:cNvSpPr>
          <p:nvPr/>
        </p:nvSpPr>
        <p:spPr bwMode="auto">
          <a:xfrm>
            <a:off x="5638800" y="3352800"/>
            <a:ext cx="152400" cy="60960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6" name="Line 14"/>
          <p:cNvSpPr>
            <a:spLocks noChangeShapeType="1"/>
          </p:cNvSpPr>
          <p:nvPr/>
        </p:nvSpPr>
        <p:spPr bwMode="auto">
          <a:xfrm>
            <a:off x="6019800" y="4267200"/>
            <a:ext cx="457200" cy="609600"/>
          </a:xfrm>
          <a:prstGeom prst="line">
            <a:avLst/>
          </a:prstGeom>
          <a:noFill/>
          <a:ln w="952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7" name="Line 15"/>
          <p:cNvSpPr>
            <a:spLocks noChangeShapeType="1"/>
          </p:cNvSpPr>
          <p:nvPr/>
        </p:nvSpPr>
        <p:spPr bwMode="auto">
          <a:xfrm>
            <a:off x="7772400" y="3352800"/>
            <a:ext cx="533400" cy="609600"/>
          </a:xfrm>
          <a:prstGeom prst="line">
            <a:avLst/>
          </a:prstGeom>
          <a:noFill/>
          <a:ln w="952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9" name="Rectangle 16"/>
          <p:cNvSpPr>
            <a:spLocks noChangeArrowheads="1"/>
          </p:cNvSpPr>
          <p:nvPr/>
        </p:nvSpPr>
        <p:spPr bwMode="auto">
          <a:xfrm>
            <a:off x="3048000" y="2133600"/>
            <a:ext cx="159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T.type=real</a:t>
            </a:r>
            <a:endParaRPr lang="zh-CN" altLang="en-US" b="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351242"/>
                                        </p:tgtEl>
                                        <p:attrNameLst>
                                          <p:attrName>style.visibility</p:attrName>
                                        </p:attrNameLst>
                                      </p:cBhvr>
                                      <p:to>
                                        <p:strVal val="visible"/>
                                      </p:to>
                                    </p:set>
                                    <p:animEffect transition="in" filter="wipe(left)">
                                      <p:cBhvr>
                                        <p:cTn id="7" dur="2000"/>
                                        <p:tgtEl>
                                          <p:spTgt spid="351242"/>
                                        </p:tgtEl>
                                      </p:cBhvr>
                                    </p:animEffect>
                                  </p:childTnLst>
                                </p:cTn>
                              </p:par>
                            </p:childTnLst>
                          </p:cTn>
                        </p:par>
                        <p:par>
                          <p:cTn id="8" fill="hold" nodeType="afterGroup">
                            <p:stCondLst>
                              <p:cond delay="3000"/>
                            </p:stCondLst>
                            <p:childTnLst>
                              <p:par>
                                <p:cTn id="9" presetID="22" presetClass="entr" presetSubtype="1" fill="hold" nodeType="afterEffect">
                                  <p:stCondLst>
                                    <p:cond delay="1000"/>
                                  </p:stCondLst>
                                  <p:childTnLst>
                                    <p:set>
                                      <p:cBhvr>
                                        <p:cTn id="10" dur="1" fill="hold">
                                          <p:stCondLst>
                                            <p:cond delay="0"/>
                                          </p:stCondLst>
                                        </p:cTn>
                                        <p:tgtEl>
                                          <p:spTgt spid="351243"/>
                                        </p:tgtEl>
                                        <p:attrNameLst>
                                          <p:attrName>style.visibility</p:attrName>
                                        </p:attrNameLst>
                                      </p:cBhvr>
                                      <p:to>
                                        <p:strVal val="visible"/>
                                      </p:to>
                                    </p:set>
                                    <p:animEffect transition="in" filter="wipe(up)">
                                      <p:cBhvr>
                                        <p:cTn id="11" dur="2000"/>
                                        <p:tgtEl>
                                          <p:spTgt spid="351243"/>
                                        </p:tgtEl>
                                      </p:cBhvr>
                                    </p:animEffect>
                                  </p:childTnLst>
                                </p:cTn>
                              </p:par>
                            </p:childTnLst>
                          </p:cTn>
                        </p:par>
                        <p:par>
                          <p:cTn id="12" fill="hold" nodeType="afterGroup">
                            <p:stCondLst>
                              <p:cond delay="6000"/>
                            </p:stCondLst>
                            <p:childTnLst>
                              <p:par>
                                <p:cTn id="13" presetID="22" presetClass="entr" presetSubtype="1" fill="hold" nodeType="afterEffect">
                                  <p:stCondLst>
                                    <p:cond delay="1000"/>
                                  </p:stCondLst>
                                  <p:childTnLst>
                                    <p:set>
                                      <p:cBhvr>
                                        <p:cTn id="14" dur="1" fill="hold">
                                          <p:stCondLst>
                                            <p:cond delay="0"/>
                                          </p:stCondLst>
                                        </p:cTn>
                                        <p:tgtEl>
                                          <p:spTgt spid="351244"/>
                                        </p:tgtEl>
                                        <p:attrNameLst>
                                          <p:attrName>style.visibility</p:attrName>
                                        </p:attrNameLst>
                                      </p:cBhvr>
                                      <p:to>
                                        <p:strVal val="visible"/>
                                      </p:to>
                                    </p:set>
                                    <p:animEffect transition="in" filter="wipe(up)">
                                      <p:cBhvr>
                                        <p:cTn id="15" dur="2000"/>
                                        <p:tgtEl>
                                          <p:spTgt spid="351244"/>
                                        </p:tgtEl>
                                      </p:cBhvr>
                                    </p:animEffect>
                                  </p:childTnLst>
                                </p:cTn>
                              </p:par>
                            </p:childTnLst>
                          </p:cTn>
                        </p:par>
                        <p:par>
                          <p:cTn id="16" fill="hold" nodeType="afterGroup">
                            <p:stCondLst>
                              <p:cond delay="9000"/>
                            </p:stCondLst>
                            <p:childTnLst>
                              <p:par>
                                <p:cTn id="17" presetID="22" presetClass="entr" presetSubtype="1" fill="hold" nodeType="afterEffect">
                                  <p:stCondLst>
                                    <p:cond delay="1000"/>
                                  </p:stCondLst>
                                  <p:childTnLst>
                                    <p:set>
                                      <p:cBhvr>
                                        <p:cTn id="18" dur="1" fill="hold">
                                          <p:stCondLst>
                                            <p:cond delay="0"/>
                                          </p:stCondLst>
                                        </p:cTn>
                                        <p:tgtEl>
                                          <p:spTgt spid="351245"/>
                                        </p:tgtEl>
                                        <p:attrNameLst>
                                          <p:attrName>style.visibility</p:attrName>
                                        </p:attrNameLst>
                                      </p:cBhvr>
                                      <p:to>
                                        <p:strVal val="visible"/>
                                      </p:to>
                                    </p:set>
                                    <p:animEffect transition="in" filter="wipe(up)">
                                      <p:cBhvr>
                                        <p:cTn id="19" dur="2000"/>
                                        <p:tgtEl>
                                          <p:spTgt spid="351245"/>
                                        </p:tgtEl>
                                      </p:cBhvr>
                                    </p:animEffect>
                                  </p:childTnLst>
                                </p:cTn>
                              </p:par>
                            </p:childTnLst>
                          </p:cTn>
                        </p:par>
                        <p:par>
                          <p:cTn id="20" fill="hold" nodeType="afterGroup">
                            <p:stCondLst>
                              <p:cond delay="12000"/>
                            </p:stCondLst>
                            <p:childTnLst>
                              <p:par>
                                <p:cTn id="21" presetID="22" presetClass="entr" presetSubtype="1" fill="hold" nodeType="afterEffect">
                                  <p:stCondLst>
                                    <p:cond delay="0"/>
                                  </p:stCondLst>
                                  <p:childTnLst>
                                    <p:set>
                                      <p:cBhvr>
                                        <p:cTn id="22" dur="1" fill="hold">
                                          <p:stCondLst>
                                            <p:cond delay="0"/>
                                          </p:stCondLst>
                                        </p:cTn>
                                        <p:tgtEl>
                                          <p:spTgt spid="351246"/>
                                        </p:tgtEl>
                                        <p:attrNameLst>
                                          <p:attrName>style.visibility</p:attrName>
                                        </p:attrNameLst>
                                      </p:cBhvr>
                                      <p:to>
                                        <p:strVal val="visible"/>
                                      </p:to>
                                    </p:set>
                                    <p:animEffect transition="in" filter="wipe(up)">
                                      <p:cBhvr>
                                        <p:cTn id="23" dur="1000"/>
                                        <p:tgtEl>
                                          <p:spTgt spid="351246"/>
                                        </p:tgtEl>
                                      </p:cBhvr>
                                    </p:animEffect>
                                  </p:childTnLst>
                                </p:cTn>
                              </p:par>
                            </p:childTnLst>
                          </p:cTn>
                        </p:par>
                        <p:par>
                          <p:cTn id="24" fill="hold" nodeType="afterGroup">
                            <p:stCondLst>
                              <p:cond delay="13000"/>
                            </p:stCondLst>
                            <p:childTnLst>
                              <p:par>
                                <p:cTn id="25" presetID="22" presetClass="entr" presetSubtype="1" fill="hold" nodeType="afterEffect">
                                  <p:stCondLst>
                                    <p:cond delay="0"/>
                                  </p:stCondLst>
                                  <p:childTnLst>
                                    <p:set>
                                      <p:cBhvr>
                                        <p:cTn id="26" dur="1" fill="hold">
                                          <p:stCondLst>
                                            <p:cond delay="0"/>
                                          </p:stCondLst>
                                        </p:cTn>
                                        <p:tgtEl>
                                          <p:spTgt spid="351247"/>
                                        </p:tgtEl>
                                        <p:attrNameLst>
                                          <p:attrName>style.visibility</p:attrName>
                                        </p:attrNameLst>
                                      </p:cBhvr>
                                      <p:to>
                                        <p:strVal val="visible"/>
                                      </p:to>
                                    </p:set>
                                    <p:animEffect transition="in" filter="wipe(up)">
                                      <p:cBhvr>
                                        <p:cTn id="27" dur="1000"/>
                                        <p:tgtEl>
                                          <p:spTgt spid="351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150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150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5F07268E-3A16-424F-8EF6-2A0031540BE7}" type="slidenum">
              <a:rPr lang="zh-CN" altLang="en-US" sz="800"/>
              <a:pPr>
                <a:spcBef>
                  <a:spcPct val="0"/>
                </a:spcBef>
                <a:buFontTx/>
                <a:buNone/>
              </a:pPr>
              <a:t>20</a:t>
            </a:fld>
            <a:endParaRPr lang="en-US" altLang="zh-CN" sz="800"/>
          </a:p>
        </p:txBody>
      </p:sp>
      <p:sp>
        <p:nvSpPr>
          <p:cNvPr id="21509" name="Rectangle 2"/>
          <p:cNvSpPr>
            <a:spLocks noGrp="1" noChangeArrowheads="1"/>
          </p:cNvSpPr>
          <p:nvPr>
            <p:ph type="title"/>
          </p:nvPr>
        </p:nvSpPr>
        <p:spPr>
          <a:xfrm>
            <a:off x="381000" y="152400"/>
            <a:ext cx="9372600" cy="609600"/>
          </a:xfrm>
        </p:spPr>
        <p:txBody>
          <a:bodyPr/>
          <a:lstStyle/>
          <a:p>
            <a:pPr algn="l"/>
            <a:r>
              <a:rPr lang="en-US" altLang="zh-CN" sz="2800" smtClean="0">
                <a:ea typeface="宋体" panose="02010600030101010101" pitchFamily="2" charset="-122"/>
              </a:rPr>
              <a:t>           S-Attributed Definitions  &amp; </a:t>
            </a:r>
            <a:br>
              <a:rPr lang="en-US" altLang="zh-CN" sz="2800" smtClean="0">
                <a:ea typeface="宋体" panose="02010600030101010101" pitchFamily="2" charset="-122"/>
              </a:rPr>
            </a:br>
            <a:r>
              <a:rPr lang="en-US" altLang="zh-CN" sz="2800" smtClean="0">
                <a:ea typeface="宋体" panose="02010600030101010101" pitchFamily="2" charset="-122"/>
              </a:rPr>
              <a:t>                                                L-Attributed Definitions</a:t>
            </a:r>
          </a:p>
        </p:txBody>
      </p:sp>
      <p:sp>
        <p:nvSpPr>
          <p:cNvPr id="21510" name="Rectangle 3"/>
          <p:cNvSpPr>
            <a:spLocks noGrp="1" noChangeArrowheads="1"/>
          </p:cNvSpPr>
          <p:nvPr>
            <p:ph type="body" idx="1"/>
          </p:nvPr>
        </p:nvSpPr>
        <p:spPr>
          <a:xfrm>
            <a:off x="533400" y="1066800"/>
            <a:ext cx="8839200" cy="5181600"/>
          </a:xfrm>
        </p:spPr>
        <p:txBody>
          <a:bodyPr/>
          <a:lstStyle/>
          <a:p>
            <a:r>
              <a:rPr lang="en-US" altLang="zh-CN" sz="2000" smtClean="0">
                <a:ea typeface="宋体" panose="02010600030101010101" pitchFamily="2" charset="-122"/>
              </a:rPr>
              <a:t>Syntax-directed definitions are used to specify syntax-directed translations.</a:t>
            </a:r>
          </a:p>
          <a:p>
            <a:r>
              <a:rPr lang="en-US" altLang="zh-CN" sz="2000" smtClean="0">
                <a:ea typeface="宋体" panose="02010600030101010101" pitchFamily="2" charset="-122"/>
              </a:rPr>
              <a:t>To create a translator for an arbitrary syntax-directed definition can be difficult. </a:t>
            </a:r>
          </a:p>
          <a:p>
            <a:r>
              <a:rPr lang="en-US" altLang="zh-CN" sz="2000" smtClean="0">
                <a:ea typeface="宋体" panose="02010600030101010101" pitchFamily="2" charset="-122"/>
              </a:rPr>
              <a:t>We would like to evaluate the semantic rules during parsing (i.e. in a single pass, we will parse and we will also evaluate semantic rules during the parsing).</a:t>
            </a:r>
          </a:p>
          <a:p>
            <a:r>
              <a:rPr lang="en-US" altLang="zh-CN" sz="2000" smtClean="0">
                <a:ea typeface="宋体" panose="02010600030101010101" pitchFamily="2" charset="-122"/>
              </a:rPr>
              <a:t>We will look at two sub-classes of the syntax-directed definitions:</a:t>
            </a:r>
          </a:p>
          <a:p>
            <a:pPr lvl="1"/>
            <a:r>
              <a:rPr lang="en-US" altLang="zh-CN" sz="2000" b="1" smtClean="0">
                <a:solidFill>
                  <a:srgbClr val="0000CC"/>
                </a:solidFill>
                <a:ea typeface="宋体" panose="02010600030101010101" pitchFamily="2" charset="-122"/>
              </a:rPr>
              <a:t>S-Attributed Definitions</a:t>
            </a:r>
            <a:r>
              <a:rPr lang="en-US" altLang="zh-CN" sz="2000" smtClean="0">
                <a:ea typeface="宋体" panose="02010600030101010101" pitchFamily="2" charset="-122"/>
              </a:rPr>
              <a:t>: only synthesized attributes used in the syntax-directed definitions.</a:t>
            </a:r>
          </a:p>
          <a:p>
            <a:pPr lvl="1"/>
            <a:r>
              <a:rPr lang="en-US" altLang="zh-CN" sz="2000" b="1" smtClean="0">
                <a:solidFill>
                  <a:srgbClr val="0000CC"/>
                </a:solidFill>
                <a:ea typeface="宋体" panose="02010600030101010101" pitchFamily="2" charset="-122"/>
              </a:rPr>
              <a:t>L-Attributed Definitions</a:t>
            </a:r>
            <a:r>
              <a:rPr lang="en-US" altLang="zh-CN" sz="2000" smtClean="0">
                <a:ea typeface="宋体" panose="02010600030101010101" pitchFamily="2" charset="-122"/>
              </a:rPr>
              <a:t>: in addition to synthesized attributes, we may also use inherited attributes in a restricted fashion.</a:t>
            </a:r>
          </a:p>
          <a:p>
            <a:r>
              <a:rPr lang="en-US" altLang="zh-CN" sz="2000" smtClean="0">
                <a:ea typeface="宋体" panose="02010600030101010101" pitchFamily="2" charset="-122"/>
              </a:rPr>
              <a:t>To implement S-Attributed Definitions and L-Attributed Definitions are easy (we can evaluate semantic rules in a single pass during the parsing). </a:t>
            </a:r>
          </a:p>
          <a:p>
            <a:r>
              <a:rPr lang="en-US" altLang="zh-CN" sz="2000" smtClean="0">
                <a:ea typeface="宋体" panose="02010600030101010101" pitchFamily="2" charset="-122"/>
              </a:rPr>
              <a:t>Implementations of S-attributed Definitions are a little bit easier than implementations of L-Attributed Definitions.</a:t>
            </a: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253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253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286A77C-95DA-4D44-9FF9-B01141E7BCFC}" type="slidenum">
              <a:rPr lang="zh-CN" altLang="en-US" sz="800"/>
              <a:pPr>
                <a:spcBef>
                  <a:spcPct val="0"/>
                </a:spcBef>
                <a:buFontTx/>
                <a:buNone/>
              </a:pPr>
              <a:t>21</a:t>
            </a:fld>
            <a:endParaRPr lang="en-US" altLang="zh-CN" sz="800"/>
          </a:p>
        </p:txBody>
      </p:sp>
      <p:sp>
        <p:nvSpPr>
          <p:cNvPr id="22533"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S-Attributed Attribute Grammars</a:t>
            </a:r>
          </a:p>
        </p:txBody>
      </p:sp>
      <p:sp>
        <p:nvSpPr>
          <p:cNvPr id="22534" name="Rectangle 3"/>
          <p:cNvSpPr>
            <a:spLocks noGrp="1" noChangeArrowheads="1"/>
          </p:cNvSpPr>
          <p:nvPr>
            <p:ph type="body" idx="1"/>
          </p:nvPr>
        </p:nvSpPr>
        <p:spPr>
          <a:xfrm>
            <a:off x="825500" y="1066800"/>
            <a:ext cx="8420100" cy="990600"/>
          </a:xfrm>
        </p:spPr>
        <p:txBody>
          <a:bodyPr/>
          <a:lstStyle/>
          <a:p>
            <a:r>
              <a:rPr lang="en-US" altLang="zh-TW" smtClean="0">
                <a:ea typeface="PMingLiU" pitchFamily="18" charset="-120"/>
              </a:rPr>
              <a:t>An attribute grammar is </a:t>
            </a:r>
            <a:r>
              <a:rPr lang="en-US" altLang="zh-TW" b="1" smtClean="0">
                <a:solidFill>
                  <a:schemeClr val="accent2"/>
                </a:solidFill>
                <a:ea typeface="PMingLiU" pitchFamily="18" charset="-120"/>
              </a:rPr>
              <a:t>S-attributed</a:t>
            </a:r>
            <a:r>
              <a:rPr lang="en-US" altLang="zh-TW" i="1" smtClean="0">
                <a:ea typeface="PMingLiU" pitchFamily="18" charset="-120"/>
              </a:rPr>
              <a:t> </a:t>
            </a:r>
            <a:r>
              <a:rPr lang="en-US" altLang="zh-TW" smtClean="0">
                <a:ea typeface="PMingLiU" pitchFamily="18" charset="-120"/>
              </a:rPr>
              <a:t>if it uses synthesized attributes exclusively</a:t>
            </a:r>
          </a:p>
        </p:txBody>
      </p:sp>
      <p:sp>
        <p:nvSpPr>
          <p:cNvPr id="22535" name="Text Box 4"/>
          <p:cNvSpPr txBox="1">
            <a:spLocks noChangeArrowheads="1"/>
          </p:cNvSpPr>
          <p:nvPr/>
        </p:nvSpPr>
        <p:spPr bwMode="auto">
          <a:xfrm>
            <a:off x="990600" y="2057400"/>
            <a:ext cx="8001000"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lnSpc>
                <a:spcPct val="120000"/>
              </a:lnSpc>
              <a:spcBef>
                <a:spcPct val="0"/>
              </a:spcBef>
              <a:buFontTx/>
              <a:buNone/>
            </a:pPr>
            <a:r>
              <a:rPr kumimoji="1" lang="en-US" altLang="zh-CN" b="0">
                <a:latin typeface="Arial" panose="020B0604020202020204" pitchFamily="34" charset="0"/>
                <a:ea typeface="PMingLiU" pitchFamily="18" charset="-120"/>
                <a:cs typeface="Arial" panose="020B0604020202020204" pitchFamily="34" charset="0"/>
              </a:rPr>
              <a:t>An example:</a:t>
            </a: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L → E </a:t>
            </a:r>
            <a:r>
              <a:rPr kumimoji="1" lang="en-US" altLang="zh-CN" b="0">
                <a:latin typeface="Arial" panose="020B0604020202020204" pitchFamily="34" charset="0"/>
                <a:ea typeface="PMingLiU" pitchFamily="18" charset="-120"/>
                <a:cs typeface="Arial" panose="020B0604020202020204" pitchFamily="34" charset="0"/>
              </a:rPr>
              <a:t>return</a:t>
            </a:r>
            <a:r>
              <a:rPr kumimoji="1" lang="en-US" altLang="zh-TW" b="0">
                <a:latin typeface="Arial" panose="020B0604020202020204" pitchFamily="34" charset="0"/>
                <a:ea typeface="PMingLiU" pitchFamily="18" charset="-120"/>
                <a:cs typeface="Arial" panose="020B0604020202020204" pitchFamily="34" charset="0"/>
              </a:rPr>
              <a:t>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print(E.val)</a:t>
            </a: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E → E</a:t>
            </a:r>
            <a:r>
              <a:rPr kumimoji="1" lang="en-US" altLang="zh-TW" b="0" baseline="-30000">
                <a:latin typeface="Arial" panose="020B0604020202020204" pitchFamily="34" charset="0"/>
                <a:ea typeface="PMingLiU" pitchFamily="18" charset="-120"/>
                <a:cs typeface="Arial" panose="020B0604020202020204" pitchFamily="34" charset="0"/>
              </a:rPr>
              <a:t>1</a:t>
            </a:r>
            <a:r>
              <a:rPr kumimoji="1" lang="en-US" altLang="zh-TW" b="0">
                <a:latin typeface="Arial" panose="020B0604020202020204" pitchFamily="34" charset="0"/>
                <a:ea typeface="PMingLiU" pitchFamily="18" charset="-120"/>
                <a:cs typeface="Arial" panose="020B0604020202020204" pitchFamily="34" charset="0"/>
              </a:rPr>
              <a:t> + T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E.val := E</a:t>
            </a:r>
            <a:r>
              <a:rPr kumimoji="1" lang="en-US" altLang="zh-TW" b="0" baseline="-30000">
                <a:latin typeface="Arial" panose="020B0604020202020204" pitchFamily="34" charset="0"/>
                <a:ea typeface="PMingLiU" pitchFamily="18" charset="-120"/>
                <a:cs typeface="Arial" panose="020B0604020202020204" pitchFamily="34" charset="0"/>
              </a:rPr>
              <a:t>1</a:t>
            </a:r>
            <a:r>
              <a:rPr kumimoji="1" lang="en-US" altLang="zh-TW" b="0">
                <a:latin typeface="Arial" panose="020B0604020202020204" pitchFamily="34" charset="0"/>
                <a:ea typeface="PMingLiU" pitchFamily="18" charset="-120"/>
                <a:cs typeface="Arial" panose="020B0604020202020204" pitchFamily="34" charset="0"/>
              </a:rPr>
              <a:t>.val + T.val</a:t>
            </a: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E → T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E.val := T.val</a:t>
            </a: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T → T</a:t>
            </a:r>
            <a:r>
              <a:rPr kumimoji="1" lang="en-US" altLang="zh-TW" b="0" baseline="-30000">
                <a:latin typeface="Arial" panose="020B0604020202020204" pitchFamily="34" charset="0"/>
                <a:ea typeface="PMingLiU" pitchFamily="18" charset="-120"/>
                <a:cs typeface="Arial" panose="020B0604020202020204" pitchFamily="34" charset="0"/>
              </a:rPr>
              <a:t>1</a:t>
            </a:r>
            <a:r>
              <a:rPr kumimoji="1" lang="en-US" altLang="zh-TW" b="0">
                <a:latin typeface="Arial" panose="020B0604020202020204" pitchFamily="34" charset="0"/>
                <a:ea typeface="PMingLiU" pitchFamily="18" charset="-120"/>
                <a:cs typeface="Arial" panose="020B0604020202020204" pitchFamily="34" charset="0"/>
              </a:rPr>
              <a:t> * F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T.val := T</a:t>
            </a:r>
            <a:r>
              <a:rPr kumimoji="1" lang="en-US" altLang="zh-TW" b="0" baseline="-30000">
                <a:latin typeface="Arial" panose="020B0604020202020204" pitchFamily="34" charset="0"/>
                <a:ea typeface="PMingLiU" pitchFamily="18" charset="-120"/>
                <a:cs typeface="Arial" panose="020B0604020202020204" pitchFamily="34" charset="0"/>
              </a:rPr>
              <a:t>1</a:t>
            </a:r>
            <a:r>
              <a:rPr kumimoji="1" lang="en-US" altLang="zh-TW" b="0">
                <a:latin typeface="Arial" panose="020B0604020202020204" pitchFamily="34" charset="0"/>
                <a:ea typeface="PMingLiU" pitchFamily="18" charset="-120"/>
                <a:cs typeface="Arial" panose="020B0604020202020204" pitchFamily="34" charset="0"/>
              </a:rPr>
              <a:t>.val * F.val</a:t>
            </a: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T → F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T.val := F.val</a:t>
            </a:r>
            <a:endParaRPr kumimoji="1" lang="en-US" altLang="zh-TW" b="0">
              <a:ea typeface="PMingLiU" pitchFamily="18" charset="-120"/>
              <a:cs typeface="Times New Roman" panose="02020603050405020304" pitchFamily="18" charset="0"/>
            </a:endParaRP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F → ( E )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F.val := E.val</a:t>
            </a:r>
          </a:p>
          <a:p>
            <a:pPr lvl="1" eaLnBrk="1" hangingPunct="1">
              <a:lnSpc>
                <a:spcPct val="120000"/>
              </a:lnSpc>
              <a:spcBef>
                <a:spcPct val="0"/>
              </a:spcBef>
              <a:buFontTx/>
              <a:buNone/>
            </a:pPr>
            <a:r>
              <a:rPr kumimoji="1" lang="en-US" altLang="zh-TW" b="0">
                <a:latin typeface="Arial" panose="020B0604020202020204" pitchFamily="34" charset="0"/>
                <a:ea typeface="PMingLiU" pitchFamily="18" charset="-120"/>
                <a:cs typeface="Arial" panose="020B0604020202020204" pitchFamily="34" charset="0"/>
              </a:rPr>
              <a:t>F → </a:t>
            </a:r>
            <a:r>
              <a:rPr kumimoji="1" lang="en-US" altLang="zh-TW">
                <a:latin typeface="Arial" panose="020B0604020202020204" pitchFamily="34" charset="0"/>
                <a:ea typeface="PMingLiU" pitchFamily="18" charset="-120"/>
                <a:cs typeface="Arial" panose="020B0604020202020204" pitchFamily="34" charset="0"/>
              </a:rPr>
              <a:t>digit</a:t>
            </a:r>
            <a:r>
              <a:rPr kumimoji="1" lang="en-US" altLang="zh-TW" b="0">
                <a:latin typeface="Arial" panose="020B0604020202020204" pitchFamily="34" charset="0"/>
                <a:ea typeface="PMingLiU" pitchFamily="18" charset="-120"/>
                <a:cs typeface="Arial" panose="020B0604020202020204" pitchFamily="34" charset="0"/>
              </a:rPr>
              <a:t>		</a:t>
            </a:r>
            <a:r>
              <a:rPr kumimoji="1" lang="en-US" altLang="zh-CN" b="0">
                <a:latin typeface="Arial" panose="020B0604020202020204" pitchFamily="34" charset="0"/>
                <a:ea typeface="PMingLiU" pitchFamily="18" charset="-120"/>
                <a:cs typeface="Arial" panose="020B0604020202020204" pitchFamily="34" charset="0"/>
              </a:rPr>
              <a:t>	</a:t>
            </a:r>
            <a:r>
              <a:rPr kumimoji="1" lang="en-US" altLang="zh-TW" b="0">
                <a:latin typeface="Arial" panose="020B0604020202020204" pitchFamily="34" charset="0"/>
                <a:ea typeface="PMingLiU" pitchFamily="18" charset="-120"/>
                <a:cs typeface="Arial" panose="020B0604020202020204" pitchFamily="34" charset="0"/>
              </a:rPr>
              <a:t>F.val := </a:t>
            </a:r>
            <a:r>
              <a:rPr kumimoji="1" lang="en-US" altLang="zh-TW">
                <a:latin typeface="Arial" panose="020B0604020202020204" pitchFamily="34" charset="0"/>
                <a:ea typeface="PMingLiU" pitchFamily="18" charset="-120"/>
                <a:cs typeface="Arial" panose="020B0604020202020204" pitchFamily="34" charset="0"/>
              </a:rPr>
              <a:t>digit</a:t>
            </a:r>
            <a:r>
              <a:rPr kumimoji="1" lang="en-US" altLang="zh-TW" b="0">
                <a:latin typeface="Arial" panose="020B0604020202020204" pitchFamily="34" charset="0"/>
                <a:ea typeface="PMingLiU" pitchFamily="18" charset="-120"/>
                <a:cs typeface="Arial" panose="020B0604020202020204" pitchFamily="34" charset="0"/>
              </a:rPr>
              <a:t>.</a:t>
            </a:r>
            <a:r>
              <a:rPr kumimoji="1" lang="en-US" altLang="zh-CN" b="0">
                <a:latin typeface="Arial" panose="020B0604020202020204" pitchFamily="34" charset="0"/>
                <a:ea typeface="PMingLiU" pitchFamily="18" charset="-120"/>
                <a:cs typeface="Arial" panose="020B0604020202020204" pitchFamily="34" charset="0"/>
              </a:rPr>
              <a:t>lex</a:t>
            </a:r>
            <a:r>
              <a:rPr kumimoji="1" lang="en-US" altLang="zh-TW" b="0">
                <a:latin typeface="Arial" panose="020B0604020202020204" pitchFamily="34" charset="0"/>
                <a:ea typeface="PMingLiU" pitchFamily="18" charset="-120"/>
                <a:cs typeface="Arial" panose="020B0604020202020204" pitchFamily="34" charset="0"/>
              </a:rPr>
              <a:t>val</a:t>
            </a: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355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355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273617EF-D135-4370-9491-072175D41FCA}" type="slidenum">
              <a:rPr lang="zh-CN" altLang="en-US" sz="800"/>
              <a:pPr>
                <a:spcBef>
                  <a:spcPct val="0"/>
                </a:spcBef>
                <a:buFontTx/>
                <a:buNone/>
              </a:pPr>
              <a:t>22</a:t>
            </a:fld>
            <a:endParaRPr lang="en-US" altLang="zh-CN" sz="800"/>
          </a:p>
        </p:txBody>
      </p:sp>
      <p:sp>
        <p:nvSpPr>
          <p:cNvPr id="23557" name="Rectangle 2"/>
          <p:cNvSpPr>
            <a:spLocks noGrp="1" noChangeArrowheads="1"/>
          </p:cNvSpPr>
          <p:nvPr>
            <p:ph type="title"/>
          </p:nvPr>
        </p:nvSpPr>
        <p:spPr/>
        <p:txBody>
          <a:bodyPr/>
          <a:lstStyle/>
          <a:p>
            <a:r>
              <a:rPr lang="en-US" altLang="zh-CN" sz="2800" smtClean="0">
                <a:ea typeface="宋体" panose="02010600030101010101" pitchFamily="2" charset="-122"/>
              </a:rPr>
              <a:t>Bottom-Up Evaluation of S-Attributed Definitions (P.293)</a:t>
            </a:r>
          </a:p>
        </p:txBody>
      </p:sp>
      <p:sp>
        <p:nvSpPr>
          <p:cNvPr id="23558" name="Rectangle 3"/>
          <p:cNvSpPr>
            <a:spLocks noGrp="1" noChangeArrowheads="1"/>
          </p:cNvSpPr>
          <p:nvPr>
            <p:ph type="body" idx="1"/>
          </p:nvPr>
        </p:nvSpPr>
        <p:spPr>
          <a:xfrm>
            <a:off x="381000" y="1066800"/>
            <a:ext cx="9296400" cy="2971800"/>
          </a:xfrm>
        </p:spPr>
        <p:txBody>
          <a:bodyPr/>
          <a:lstStyle/>
          <a:p>
            <a:r>
              <a:rPr lang="en-US" altLang="zh-CN" sz="2000" smtClean="0">
                <a:ea typeface="宋体" panose="02010600030101010101" pitchFamily="2" charset="-122"/>
              </a:rPr>
              <a:t>S-attributed Definition: Syntax-Directed Definition using only Synthesized attributes.</a:t>
            </a:r>
          </a:p>
          <a:p>
            <a:r>
              <a:rPr lang="en-US" altLang="zh-CN" sz="2000" smtClean="0">
                <a:ea typeface="宋体" panose="02010600030101010101" pitchFamily="2" charset="-122"/>
              </a:rPr>
              <a:t>Stack of a LR(1) parser contains states.</a:t>
            </a:r>
          </a:p>
          <a:p>
            <a:r>
              <a:rPr lang="en-US" altLang="zh-CN" sz="2000" smtClean="0">
                <a:ea typeface="宋体" panose="02010600030101010101" pitchFamily="2" charset="-122"/>
              </a:rPr>
              <a:t>Recall that each state corresponds to some grammar symbol (and many different states might correspond to the same grammar symbol)</a:t>
            </a:r>
          </a:p>
          <a:p>
            <a:r>
              <a:rPr lang="en-US" altLang="zh-CN" sz="2000" smtClean="0">
                <a:ea typeface="宋体" panose="02010600030101010101" pitchFamily="2" charset="-122"/>
              </a:rPr>
              <a:t>Extend stack entries to include the attribute(s).</a:t>
            </a:r>
          </a:p>
          <a:p>
            <a:r>
              <a:rPr lang="en-US" altLang="zh-CN" sz="2000" smtClean="0">
                <a:ea typeface="宋体" panose="02010600030101010101" pitchFamily="2" charset="-122"/>
              </a:rPr>
              <a:t>Modify stack contents as productions are selected.</a:t>
            </a:r>
          </a:p>
          <a:p>
            <a:endParaRPr lang="en-US" altLang="zh-CN" sz="2000" smtClean="0">
              <a:ea typeface="宋体" panose="02010600030101010101" pitchFamily="2" charset="-122"/>
            </a:endParaRPr>
          </a:p>
          <a:p>
            <a:pPr>
              <a:buFontTx/>
              <a:buNone/>
            </a:pPr>
            <a:r>
              <a:rPr lang="en-US" altLang="zh-CN" sz="2000" smtClean="0">
                <a:ea typeface="宋体" panose="02010600030101010101" pitchFamily="2" charset="-122"/>
              </a:rPr>
              <a:t>A </a:t>
            </a:r>
            <a:r>
              <a:rPr lang="en-US" altLang="zh-CN" sz="2000" smtClean="0">
                <a:ea typeface="宋体" panose="02010600030101010101" pitchFamily="2" charset="-122"/>
                <a:sym typeface="Symbol" panose="05050102010706020507" pitchFamily="18" charset="2"/>
              </a:rPr>
              <a:t> XYZ       A.a=f(X.x,Y.y,Z.z)	where all attributes are synthesized.</a:t>
            </a:r>
            <a:endParaRPr lang="en-US" altLang="zh-CN" smtClean="0">
              <a:ea typeface="宋体" panose="02010600030101010101" pitchFamily="2" charset="-122"/>
              <a:sym typeface="Symbol" panose="05050102010706020507" pitchFamily="18" charset="2"/>
            </a:endParaRPr>
          </a:p>
        </p:txBody>
      </p:sp>
      <p:graphicFrame>
        <p:nvGraphicFramePr>
          <p:cNvPr id="353314" name="Group 34"/>
          <p:cNvGraphicFramePr>
            <a:graphicFrameLocks noGrp="1"/>
          </p:cNvGraphicFramePr>
          <p:nvPr/>
        </p:nvGraphicFramePr>
        <p:xfrm>
          <a:off x="1371600" y="4724400"/>
          <a:ext cx="304800" cy="1584325"/>
        </p:xfrm>
        <a:graphic>
          <a:graphicData uri="http://schemas.openxmlformats.org/drawingml/2006/table">
            <a:tbl>
              <a:tblPr/>
              <a:tblGrid>
                <a:gridCol w="304800">
                  <a:extLst>
                    <a:ext uri="{9D8B030D-6E8A-4147-A177-3AD203B41FA5}">
                      <a16:colId xmlns:a16="http://schemas.microsoft.com/office/drawing/2014/main" val="20000"/>
                    </a:ext>
                  </a:extLst>
                </a:gridCol>
              </a:tblGrid>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Z</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Y</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X</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 </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53315" name="Group 35"/>
          <p:cNvGraphicFramePr>
            <a:graphicFrameLocks noGrp="1"/>
          </p:cNvGraphicFramePr>
          <p:nvPr/>
        </p:nvGraphicFramePr>
        <p:xfrm>
          <a:off x="1905000" y="4724400"/>
          <a:ext cx="609600" cy="1584325"/>
        </p:xfrm>
        <a:graphic>
          <a:graphicData uri="http://schemas.openxmlformats.org/drawingml/2006/table">
            <a:tbl>
              <a:tblPr/>
              <a:tblGrid>
                <a:gridCol w="609600">
                  <a:extLst>
                    <a:ext uri="{9D8B030D-6E8A-4147-A177-3AD203B41FA5}">
                      <a16:colId xmlns:a16="http://schemas.microsoft.com/office/drawing/2014/main" val="20000"/>
                    </a:ext>
                  </a:extLst>
                </a:gridCol>
              </a:tblGrid>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Z.z</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Y.y</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X.x</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 </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53327" name="Group 47"/>
          <p:cNvGraphicFramePr>
            <a:graphicFrameLocks noGrp="1"/>
          </p:cNvGraphicFramePr>
          <p:nvPr/>
        </p:nvGraphicFramePr>
        <p:xfrm>
          <a:off x="5638800" y="4724400"/>
          <a:ext cx="304800" cy="1584325"/>
        </p:xfrm>
        <a:graphic>
          <a:graphicData uri="http://schemas.openxmlformats.org/drawingml/2006/table">
            <a:tbl>
              <a:tblPr/>
              <a:tblGrid>
                <a:gridCol w="304800">
                  <a:extLst>
                    <a:ext uri="{9D8B030D-6E8A-4147-A177-3AD203B41FA5}">
                      <a16:colId xmlns:a16="http://schemas.microsoft.com/office/drawing/2014/main" val="20000"/>
                    </a:ext>
                  </a:extLst>
                </a:gridCol>
              </a:tblGrid>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0" i="0" u="none" strike="noStrike" cap="none" normalizeH="0" baseline="0" smtClean="0">
                        <a:ln>
                          <a:noFill/>
                        </a:ln>
                        <a:solidFill>
                          <a:schemeClr val="tx1"/>
                        </a:solidFill>
                        <a:effectLst/>
                        <a:latin typeface="Times New Roman" pitchFamily="18" charset="0"/>
                        <a:ea typeface="宋体" pitchFamily="2" charset="-122"/>
                      </a:endParaRP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0" i="0" u="none" strike="noStrike" cap="none" normalizeH="0" baseline="0" smtClean="0">
                        <a:ln>
                          <a:noFill/>
                        </a:ln>
                        <a:solidFill>
                          <a:schemeClr val="tx1"/>
                        </a:solidFill>
                        <a:effectLst/>
                        <a:latin typeface="Times New Roman" pitchFamily="18" charset="0"/>
                        <a:ea typeface="宋体" pitchFamily="2" charset="-122"/>
                      </a:endParaRP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A</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 </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53339" name="Group 59"/>
          <p:cNvGraphicFramePr>
            <a:graphicFrameLocks noGrp="1"/>
          </p:cNvGraphicFramePr>
          <p:nvPr/>
        </p:nvGraphicFramePr>
        <p:xfrm>
          <a:off x="6172200" y="4724400"/>
          <a:ext cx="609600" cy="1584325"/>
        </p:xfrm>
        <a:graphic>
          <a:graphicData uri="http://schemas.openxmlformats.org/drawingml/2006/table">
            <a:tbl>
              <a:tblPr/>
              <a:tblGrid>
                <a:gridCol w="609600">
                  <a:extLst>
                    <a:ext uri="{9D8B030D-6E8A-4147-A177-3AD203B41FA5}">
                      <a16:colId xmlns:a16="http://schemas.microsoft.com/office/drawing/2014/main" val="20000"/>
                    </a:ext>
                  </a:extLst>
                </a:gridCol>
              </a:tblGrid>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0" i="0" u="none" strike="noStrike" cap="none" normalizeH="0" baseline="0" smtClean="0">
                        <a:ln>
                          <a:noFill/>
                        </a:ln>
                        <a:solidFill>
                          <a:schemeClr val="tx1"/>
                        </a:solidFill>
                        <a:effectLst/>
                        <a:latin typeface="Times New Roman" pitchFamily="18" charset="0"/>
                        <a:ea typeface="宋体" pitchFamily="2" charset="-122"/>
                      </a:endParaRP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0" i="0" u="none" strike="noStrike" cap="none" normalizeH="0" baseline="0" smtClean="0">
                        <a:ln>
                          <a:noFill/>
                        </a:ln>
                        <a:solidFill>
                          <a:schemeClr val="tx1"/>
                        </a:solidFill>
                        <a:effectLst/>
                        <a:latin typeface="Times New Roman" pitchFamily="18" charset="0"/>
                        <a:ea typeface="宋体" pitchFamily="2" charset="-122"/>
                      </a:endParaRP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A.a</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 </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53352" name="Rectangle 72"/>
          <p:cNvSpPr>
            <a:spLocks noChangeArrowheads="1"/>
          </p:cNvSpPr>
          <p:nvPr/>
        </p:nvSpPr>
        <p:spPr bwMode="auto">
          <a:xfrm>
            <a:off x="4689475" y="5257800"/>
            <a:ext cx="94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sym typeface="Wingdings" panose="05000000000000000000" pitchFamily="2" charset="2"/>
              </a:rPr>
              <a:t>top </a:t>
            </a:r>
            <a:r>
              <a:rPr lang="en-US" altLang="zh-CN" b="0">
                <a:ea typeface="宋体" panose="02010600030101010101" pitchFamily="2" charset="-122"/>
                <a:sym typeface="Symbol" panose="05050102010706020507" pitchFamily="18" charset="2"/>
              </a:rPr>
              <a:t></a:t>
            </a:r>
            <a:endParaRPr lang="zh-CN" altLang="en-US" b="0">
              <a:ea typeface="宋体" panose="02010600030101010101" pitchFamily="2" charset="-122"/>
              <a:sym typeface="Symbol" panose="05050102010706020507" pitchFamily="18" charset="2"/>
            </a:endParaRPr>
          </a:p>
        </p:txBody>
      </p:sp>
      <p:sp>
        <p:nvSpPr>
          <p:cNvPr id="353353" name="Rectangle 73"/>
          <p:cNvSpPr>
            <a:spLocks noChangeArrowheads="1"/>
          </p:cNvSpPr>
          <p:nvPr/>
        </p:nvSpPr>
        <p:spPr bwMode="auto">
          <a:xfrm>
            <a:off x="457200" y="4495800"/>
            <a:ext cx="94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sym typeface="Symbol" panose="05050102010706020507" pitchFamily="18" charset="2"/>
              </a:rPr>
              <a:t>top </a:t>
            </a:r>
            <a:endParaRPr lang="zh-CN" altLang="en-US" b="0">
              <a:ea typeface="宋体" panose="02010600030101010101" pitchFamily="2" charset="-122"/>
              <a:sym typeface="Symbol" panose="05050102010706020507" pitchFamily="18" charset="2"/>
            </a:endParaRPr>
          </a:p>
        </p:txBody>
      </p:sp>
      <p:sp>
        <p:nvSpPr>
          <p:cNvPr id="353354" name="Rectangle 74"/>
          <p:cNvSpPr>
            <a:spLocks noChangeArrowheads="1"/>
          </p:cNvSpPr>
          <p:nvPr/>
        </p:nvSpPr>
        <p:spPr bwMode="auto">
          <a:xfrm>
            <a:off x="3581400" y="5257800"/>
            <a:ext cx="509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rgbClr val="660066"/>
                </a:solidFill>
                <a:ea typeface="宋体" panose="02010600030101010101" pitchFamily="2" charset="-122"/>
                <a:sym typeface="Wingdings" panose="05000000000000000000" pitchFamily="2" charset="2"/>
              </a:rPr>
              <a:t></a:t>
            </a:r>
            <a:endParaRPr lang="zh-CN" altLang="en-US" b="0">
              <a:solidFill>
                <a:srgbClr val="660066"/>
              </a:solidFill>
              <a:ea typeface="宋体" panose="02010600030101010101" pitchFamily="2" charset="-122"/>
              <a:sym typeface="Wingdings" panose="05000000000000000000" pitchFamily="2" charset="2"/>
            </a:endParaRPr>
          </a:p>
        </p:txBody>
      </p:sp>
      <p:sp>
        <p:nvSpPr>
          <p:cNvPr id="23610" name="Rectangle 75"/>
          <p:cNvSpPr>
            <a:spLocks noChangeArrowheads="1"/>
          </p:cNvSpPr>
          <p:nvPr/>
        </p:nvSpPr>
        <p:spPr bwMode="auto">
          <a:xfrm>
            <a:off x="990600" y="4114800"/>
            <a:ext cx="2600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sym typeface="Symbol" panose="05050102010706020507" pitchFamily="18" charset="2"/>
              </a:rPr>
              <a:t>stack  parallel-stack</a:t>
            </a:r>
            <a:endParaRPr lang="zh-CN" altLang="en-US" b="0">
              <a:ea typeface="宋体" panose="02010600030101010101" pitchFamily="2" charset="-122"/>
              <a:sym typeface="Symbol" panose="05050102010706020507" pitchFamily="18" charset="2"/>
            </a:endParaRPr>
          </a:p>
        </p:txBody>
      </p:sp>
      <p:sp>
        <p:nvSpPr>
          <p:cNvPr id="23611" name="Rectangle 76"/>
          <p:cNvSpPr>
            <a:spLocks noChangeArrowheads="1"/>
          </p:cNvSpPr>
          <p:nvPr/>
        </p:nvSpPr>
        <p:spPr bwMode="auto">
          <a:xfrm>
            <a:off x="1066800" y="6248400"/>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sym typeface="Symbol" panose="05050102010706020507" pitchFamily="18" charset="2"/>
              </a:rPr>
              <a:t>symbol</a:t>
            </a:r>
            <a:endParaRPr lang="zh-CN" altLang="en-US" sz="1800" b="0">
              <a:ea typeface="宋体" panose="02010600030101010101" pitchFamily="2" charset="-122"/>
              <a:sym typeface="Symbol" panose="05050102010706020507" pitchFamily="18" charset="2"/>
            </a:endParaRPr>
          </a:p>
        </p:txBody>
      </p:sp>
      <p:sp>
        <p:nvSpPr>
          <p:cNvPr id="23612" name="Rectangle 77"/>
          <p:cNvSpPr>
            <a:spLocks noChangeArrowheads="1"/>
          </p:cNvSpPr>
          <p:nvPr/>
        </p:nvSpPr>
        <p:spPr bwMode="auto">
          <a:xfrm>
            <a:off x="1911350" y="624840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sym typeface="Symbol" panose="05050102010706020507" pitchFamily="18" charset="2"/>
              </a:rPr>
              <a:t>value</a:t>
            </a:r>
            <a:endParaRPr lang="zh-CN" altLang="en-US" sz="1800" b="0">
              <a:ea typeface="宋体" panose="02010600030101010101" pitchFamily="2" charset="-122"/>
              <a:sym typeface="Symbol" panose="05050102010706020507" pitchFamily="18" charset="2"/>
            </a:endParaRPr>
          </a:p>
        </p:txBody>
      </p:sp>
      <p:sp>
        <p:nvSpPr>
          <p:cNvPr id="23613" name="Rectangle 78"/>
          <p:cNvSpPr>
            <a:spLocks noChangeArrowheads="1"/>
          </p:cNvSpPr>
          <p:nvPr/>
        </p:nvSpPr>
        <p:spPr bwMode="auto">
          <a:xfrm>
            <a:off x="5334000" y="6248400"/>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sym typeface="Symbol" panose="05050102010706020507" pitchFamily="18" charset="2"/>
              </a:rPr>
              <a:t>symbol</a:t>
            </a:r>
            <a:endParaRPr lang="zh-CN" altLang="en-US" sz="1800" b="0">
              <a:ea typeface="宋体" panose="02010600030101010101" pitchFamily="2" charset="-122"/>
              <a:sym typeface="Symbol" panose="05050102010706020507" pitchFamily="18" charset="2"/>
            </a:endParaRPr>
          </a:p>
        </p:txBody>
      </p:sp>
      <p:sp>
        <p:nvSpPr>
          <p:cNvPr id="23614" name="Rectangle 79"/>
          <p:cNvSpPr>
            <a:spLocks noChangeArrowheads="1"/>
          </p:cNvSpPr>
          <p:nvPr/>
        </p:nvSpPr>
        <p:spPr bwMode="auto">
          <a:xfrm>
            <a:off x="6102350" y="624840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sym typeface="Symbol" panose="05050102010706020507" pitchFamily="18" charset="2"/>
              </a:rPr>
              <a:t>value</a:t>
            </a:r>
            <a:endParaRPr lang="zh-CN" altLang="en-US" sz="1800" b="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3000"/>
                                  </p:stCondLst>
                                  <p:childTnLst>
                                    <p:set>
                                      <p:cBhvr>
                                        <p:cTn id="6" dur="1" fill="hold">
                                          <p:stCondLst>
                                            <p:cond delay="0"/>
                                          </p:stCondLst>
                                        </p:cTn>
                                        <p:tgtEl>
                                          <p:spTgt spid="353353"/>
                                        </p:tgtEl>
                                        <p:attrNameLst>
                                          <p:attrName>style.visibility</p:attrName>
                                        </p:attrNameLst>
                                      </p:cBhvr>
                                      <p:to>
                                        <p:strVal val="visible"/>
                                      </p:to>
                                    </p:set>
                                    <p:animEffect transition="in" filter="wipe(left)">
                                      <p:cBhvr>
                                        <p:cTn id="7" dur="1000"/>
                                        <p:tgtEl>
                                          <p:spTgt spid="353353"/>
                                        </p:tgtEl>
                                      </p:cBhvr>
                                    </p:animEffect>
                                  </p:childTnLst>
                                </p:cTn>
                              </p:par>
                            </p:childTnLst>
                          </p:cTn>
                        </p:par>
                        <p:par>
                          <p:cTn id="8" fill="hold" nodeType="afterGroup">
                            <p:stCondLst>
                              <p:cond delay="4000"/>
                            </p:stCondLst>
                            <p:childTnLst>
                              <p:par>
                                <p:cTn id="9" presetID="22" presetClass="entr" presetSubtype="4" fill="hold" nodeType="afterEffect">
                                  <p:stCondLst>
                                    <p:cond delay="0"/>
                                  </p:stCondLst>
                                  <p:childTnLst>
                                    <p:set>
                                      <p:cBhvr>
                                        <p:cTn id="10" dur="1" fill="hold">
                                          <p:stCondLst>
                                            <p:cond delay="0"/>
                                          </p:stCondLst>
                                        </p:cTn>
                                        <p:tgtEl>
                                          <p:spTgt spid="353314"/>
                                        </p:tgtEl>
                                        <p:attrNameLst>
                                          <p:attrName>style.visibility</p:attrName>
                                        </p:attrNameLst>
                                      </p:cBhvr>
                                      <p:to>
                                        <p:strVal val="visible"/>
                                      </p:to>
                                    </p:set>
                                    <p:animEffect transition="in" filter="wipe(down)">
                                      <p:cBhvr>
                                        <p:cTn id="11" dur="1000"/>
                                        <p:tgtEl>
                                          <p:spTgt spid="353314"/>
                                        </p:tgtEl>
                                      </p:cBhvr>
                                    </p:animEffect>
                                  </p:childTnLst>
                                </p:cTn>
                              </p:par>
                            </p:childTnLst>
                          </p:cTn>
                        </p:par>
                        <p:par>
                          <p:cTn id="12" fill="hold" nodeType="afterGroup">
                            <p:stCondLst>
                              <p:cond delay="5000"/>
                            </p:stCondLst>
                            <p:childTnLst>
                              <p:par>
                                <p:cTn id="13" presetID="22" presetClass="entr" presetSubtype="4" fill="hold" nodeType="afterEffect">
                                  <p:stCondLst>
                                    <p:cond delay="0"/>
                                  </p:stCondLst>
                                  <p:childTnLst>
                                    <p:set>
                                      <p:cBhvr>
                                        <p:cTn id="14" dur="1" fill="hold">
                                          <p:stCondLst>
                                            <p:cond delay="0"/>
                                          </p:stCondLst>
                                        </p:cTn>
                                        <p:tgtEl>
                                          <p:spTgt spid="353315"/>
                                        </p:tgtEl>
                                        <p:attrNameLst>
                                          <p:attrName>style.visibility</p:attrName>
                                        </p:attrNameLst>
                                      </p:cBhvr>
                                      <p:to>
                                        <p:strVal val="visible"/>
                                      </p:to>
                                    </p:set>
                                    <p:animEffect transition="in" filter="wipe(down)">
                                      <p:cBhvr>
                                        <p:cTn id="15" dur="1000"/>
                                        <p:tgtEl>
                                          <p:spTgt spid="35331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53354"/>
                                        </p:tgtEl>
                                        <p:attrNameLst>
                                          <p:attrName>style.visibility</p:attrName>
                                        </p:attrNameLst>
                                      </p:cBhvr>
                                      <p:to>
                                        <p:strVal val="visible"/>
                                      </p:to>
                                    </p:set>
                                    <p:animEffect transition="in" filter="wipe(left)">
                                      <p:cBhvr>
                                        <p:cTn id="20" dur="1000"/>
                                        <p:tgtEl>
                                          <p:spTgt spid="353354"/>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53352"/>
                                        </p:tgtEl>
                                        <p:attrNameLst>
                                          <p:attrName>style.visibility</p:attrName>
                                        </p:attrNameLst>
                                      </p:cBhvr>
                                      <p:to>
                                        <p:strVal val="visible"/>
                                      </p:to>
                                    </p:set>
                                    <p:animEffect transition="in" filter="wipe(left)">
                                      <p:cBhvr>
                                        <p:cTn id="24" dur="1000"/>
                                        <p:tgtEl>
                                          <p:spTgt spid="353352"/>
                                        </p:tgtEl>
                                      </p:cBhvr>
                                    </p:animEffect>
                                  </p:childTnLst>
                                </p:cTn>
                              </p:par>
                            </p:childTnLst>
                          </p:cTn>
                        </p:par>
                        <p:par>
                          <p:cTn id="25" fill="hold" nodeType="afterGroup">
                            <p:stCondLst>
                              <p:cond delay="2000"/>
                            </p:stCondLst>
                            <p:childTnLst>
                              <p:par>
                                <p:cTn id="26" presetID="22" presetClass="entr" presetSubtype="4" fill="hold" nodeType="afterEffect">
                                  <p:stCondLst>
                                    <p:cond delay="0"/>
                                  </p:stCondLst>
                                  <p:childTnLst>
                                    <p:set>
                                      <p:cBhvr>
                                        <p:cTn id="27" dur="1" fill="hold">
                                          <p:stCondLst>
                                            <p:cond delay="0"/>
                                          </p:stCondLst>
                                        </p:cTn>
                                        <p:tgtEl>
                                          <p:spTgt spid="353327"/>
                                        </p:tgtEl>
                                        <p:attrNameLst>
                                          <p:attrName>style.visibility</p:attrName>
                                        </p:attrNameLst>
                                      </p:cBhvr>
                                      <p:to>
                                        <p:strVal val="visible"/>
                                      </p:to>
                                    </p:set>
                                    <p:animEffect transition="in" filter="wipe(down)">
                                      <p:cBhvr>
                                        <p:cTn id="28" dur="1000"/>
                                        <p:tgtEl>
                                          <p:spTgt spid="353327"/>
                                        </p:tgtEl>
                                      </p:cBhvr>
                                    </p:animEffect>
                                  </p:childTnLst>
                                </p:cTn>
                              </p:par>
                            </p:childTnLst>
                          </p:cTn>
                        </p:par>
                        <p:par>
                          <p:cTn id="29" fill="hold" nodeType="afterGroup">
                            <p:stCondLst>
                              <p:cond delay="3000"/>
                            </p:stCondLst>
                            <p:childTnLst>
                              <p:par>
                                <p:cTn id="30" presetID="22" presetClass="entr" presetSubtype="4" fill="hold" nodeType="afterEffect">
                                  <p:stCondLst>
                                    <p:cond delay="0"/>
                                  </p:stCondLst>
                                  <p:childTnLst>
                                    <p:set>
                                      <p:cBhvr>
                                        <p:cTn id="31" dur="1" fill="hold">
                                          <p:stCondLst>
                                            <p:cond delay="0"/>
                                          </p:stCondLst>
                                        </p:cTn>
                                        <p:tgtEl>
                                          <p:spTgt spid="353339"/>
                                        </p:tgtEl>
                                        <p:attrNameLst>
                                          <p:attrName>style.visibility</p:attrName>
                                        </p:attrNameLst>
                                      </p:cBhvr>
                                      <p:to>
                                        <p:strVal val="visible"/>
                                      </p:to>
                                    </p:set>
                                    <p:animEffect transition="in" filter="wipe(down)">
                                      <p:cBhvr>
                                        <p:cTn id="32" dur="1000"/>
                                        <p:tgtEl>
                                          <p:spTgt spid="353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352" grpId="0"/>
      <p:bldP spid="353353" grpId="0"/>
      <p:bldP spid="35335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457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458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965A68C7-715F-4CCD-9E15-68D73C77389C}" type="slidenum">
              <a:rPr lang="zh-CN" altLang="en-US" sz="800"/>
              <a:pPr>
                <a:spcBef>
                  <a:spcPct val="0"/>
                </a:spcBef>
                <a:buFontTx/>
                <a:buNone/>
              </a:pPr>
              <a:t>23</a:t>
            </a:fld>
            <a:endParaRPr lang="en-US" altLang="zh-CN" sz="800"/>
          </a:p>
        </p:txBody>
      </p:sp>
      <p:sp>
        <p:nvSpPr>
          <p:cNvPr id="24581" name="Rectangle 2"/>
          <p:cNvSpPr>
            <a:spLocks noGrp="1" noChangeArrowheads="1"/>
          </p:cNvSpPr>
          <p:nvPr>
            <p:ph type="title"/>
          </p:nvPr>
        </p:nvSpPr>
        <p:spPr/>
        <p:txBody>
          <a:bodyPr/>
          <a:lstStyle/>
          <a:p>
            <a:r>
              <a:rPr lang="en-US" altLang="zh-CN" smtClean="0">
                <a:ea typeface="宋体" panose="02010600030101010101" pitchFamily="2" charset="-122"/>
              </a:rPr>
              <a:t>Bottom-Up Eval. of S-Attributed Definitions (cont.)</a:t>
            </a:r>
          </a:p>
        </p:txBody>
      </p:sp>
      <p:sp>
        <p:nvSpPr>
          <p:cNvPr id="24582" name="Rectangle 3"/>
          <p:cNvSpPr>
            <a:spLocks noGrp="1" noChangeArrowheads="1"/>
          </p:cNvSpPr>
          <p:nvPr>
            <p:ph type="body" idx="1"/>
          </p:nvPr>
        </p:nvSpPr>
        <p:spPr>
          <a:xfrm>
            <a:off x="381000" y="4419600"/>
            <a:ext cx="9067800" cy="1905000"/>
          </a:xfrm>
        </p:spPr>
        <p:txBody>
          <a:bodyPr/>
          <a:lstStyle/>
          <a:p>
            <a:pPr>
              <a:buFontTx/>
              <a:buNone/>
            </a:pPr>
            <a:endParaRPr lang="en-US" altLang="zh-CN" sz="900" smtClean="0">
              <a:ea typeface="宋体" panose="02010600030101010101" pitchFamily="2" charset="-122"/>
              <a:cs typeface="Times New Roman" panose="02020603050405020304" pitchFamily="18" charset="0"/>
            </a:endParaRPr>
          </a:p>
          <a:p>
            <a:r>
              <a:rPr lang="en-US" altLang="zh-CN" smtClean="0">
                <a:ea typeface="宋体" panose="02010600030101010101" pitchFamily="2" charset="-122"/>
                <a:cs typeface="Times New Roman" panose="02020603050405020304" pitchFamily="18" charset="0"/>
              </a:rPr>
              <a:t>At each shift of </a:t>
            </a:r>
            <a:r>
              <a:rPr lang="en-US" altLang="zh-CN" b="1" smtClean="0">
                <a:ea typeface="宋体" panose="02010600030101010101" pitchFamily="2" charset="-122"/>
                <a:cs typeface="Times New Roman" panose="02020603050405020304" pitchFamily="18" charset="0"/>
              </a:rPr>
              <a:t>digit</a:t>
            </a:r>
            <a:r>
              <a:rPr lang="en-US" altLang="zh-CN" smtClean="0">
                <a:ea typeface="宋体" panose="02010600030101010101" pitchFamily="2" charset="-122"/>
                <a:cs typeface="Times New Roman" panose="02020603050405020304" pitchFamily="18" charset="0"/>
              </a:rPr>
              <a:t>, we also push </a:t>
            </a:r>
            <a:r>
              <a:rPr lang="en-US" altLang="zh-CN" b="1" smtClean="0">
                <a:ea typeface="宋体" panose="02010600030101010101" pitchFamily="2" charset="-122"/>
                <a:cs typeface="Times New Roman" panose="02020603050405020304" pitchFamily="18" charset="0"/>
              </a:rPr>
              <a:t>digit.lexval</a:t>
            </a:r>
            <a:r>
              <a:rPr lang="en-US" altLang="zh-CN" smtClean="0">
                <a:ea typeface="宋体" panose="02010600030101010101" pitchFamily="2" charset="-122"/>
                <a:cs typeface="Times New Roman" panose="02020603050405020304" pitchFamily="18" charset="0"/>
              </a:rPr>
              <a:t> into </a:t>
            </a:r>
            <a:r>
              <a:rPr lang="en-US" altLang="zh-CN" i="1" smtClean="0">
                <a:ea typeface="宋体" panose="02010600030101010101" pitchFamily="2" charset="-122"/>
                <a:cs typeface="Times New Roman" panose="02020603050405020304" pitchFamily="18" charset="0"/>
              </a:rPr>
              <a:t>val-stack</a:t>
            </a:r>
            <a:r>
              <a:rPr lang="en-US" altLang="zh-CN" smtClean="0">
                <a:ea typeface="宋体" panose="02010600030101010101" pitchFamily="2" charset="-122"/>
                <a:cs typeface="Times New Roman" panose="02020603050405020304" pitchFamily="18" charset="0"/>
              </a:rPr>
              <a:t>.</a:t>
            </a:r>
          </a:p>
          <a:p>
            <a:r>
              <a:rPr lang="en-US" altLang="zh-CN" smtClean="0">
                <a:ea typeface="宋体" panose="02010600030101010101" pitchFamily="2" charset="-122"/>
                <a:cs typeface="Times New Roman" panose="02020603050405020304" pitchFamily="18" charset="0"/>
              </a:rPr>
              <a:t>At all other shifts, we do not put anything into </a:t>
            </a:r>
            <a:r>
              <a:rPr lang="en-US" altLang="zh-CN" i="1" smtClean="0">
                <a:ea typeface="宋体" panose="02010600030101010101" pitchFamily="2" charset="-122"/>
                <a:cs typeface="Times New Roman" panose="02020603050405020304" pitchFamily="18" charset="0"/>
              </a:rPr>
              <a:t>val-stack</a:t>
            </a:r>
            <a:r>
              <a:rPr lang="en-US" altLang="zh-CN" smtClean="0">
                <a:ea typeface="宋体" panose="02010600030101010101" pitchFamily="2" charset="-122"/>
                <a:cs typeface="Times New Roman" panose="02020603050405020304" pitchFamily="18" charset="0"/>
              </a:rPr>
              <a:t> because     other terminals do not have attributes (but we increment the             stack pointer for </a:t>
            </a:r>
            <a:r>
              <a:rPr lang="en-US" altLang="zh-CN" i="1" smtClean="0">
                <a:ea typeface="宋体" panose="02010600030101010101" pitchFamily="2" charset="-122"/>
                <a:cs typeface="Times New Roman" panose="02020603050405020304" pitchFamily="18" charset="0"/>
              </a:rPr>
              <a:t>val-stack</a:t>
            </a:r>
            <a:r>
              <a:rPr lang="en-US" altLang="zh-CN" smtClean="0">
                <a:ea typeface="宋体" panose="02010600030101010101" pitchFamily="2" charset="-122"/>
                <a:cs typeface="Times New Roman" panose="02020603050405020304" pitchFamily="18" charset="0"/>
              </a:rPr>
              <a:t>).	</a:t>
            </a:r>
            <a:endParaRPr lang="zh-CN" altLang="en-US" smtClean="0">
              <a:ea typeface="宋体" panose="02010600030101010101" pitchFamily="2" charset="-122"/>
              <a:cs typeface="Times New Roman" panose="02020603050405020304" pitchFamily="18" charset="0"/>
            </a:endParaRPr>
          </a:p>
        </p:txBody>
      </p:sp>
      <p:sp>
        <p:nvSpPr>
          <p:cNvPr id="24583" name="Rectangle 4"/>
          <p:cNvSpPr>
            <a:spLocks noChangeArrowheads="1"/>
          </p:cNvSpPr>
          <p:nvPr/>
        </p:nvSpPr>
        <p:spPr bwMode="auto">
          <a:xfrm>
            <a:off x="609600" y="1219200"/>
            <a:ext cx="72390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u="sng">
                <a:ea typeface="宋体" panose="02010600030101010101" pitchFamily="2" charset="-122"/>
              </a:rPr>
              <a:t>Production</a:t>
            </a:r>
            <a:r>
              <a:rPr lang="en-US" altLang="zh-CN" b="0">
                <a:ea typeface="宋体" panose="02010600030101010101" pitchFamily="2" charset="-122"/>
              </a:rPr>
              <a:t> 		</a:t>
            </a:r>
            <a:r>
              <a:rPr lang="en-US" altLang="zh-CN" u="sng">
                <a:ea typeface="宋体" panose="02010600030101010101" pitchFamily="2" charset="-122"/>
              </a:rPr>
              <a:t>Semantic Rules</a:t>
            </a:r>
          </a:p>
          <a:p>
            <a:pPr>
              <a:spcBef>
                <a:spcPct val="0"/>
              </a:spcBef>
              <a:buFontTx/>
              <a:buNone/>
            </a:pPr>
            <a:r>
              <a:rPr lang="en-US" altLang="zh-CN" b="0">
                <a:ea typeface="宋体" panose="02010600030101010101" pitchFamily="2" charset="-122"/>
              </a:rPr>
              <a:t>L → E </a:t>
            </a:r>
            <a:r>
              <a:rPr lang="en-US" altLang="zh-CN">
                <a:ea typeface="宋体" panose="02010600030101010101" pitchFamily="2" charset="-122"/>
              </a:rPr>
              <a:t>return</a:t>
            </a:r>
            <a:r>
              <a:rPr lang="en-US" altLang="zh-CN" b="0">
                <a:ea typeface="宋体" panose="02010600030101010101" pitchFamily="2" charset="-122"/>
              </a:rPr>
              <a:t>		print(val[top-1])</a:t>
            </a:r>
          </a:p>
          <a:p>
            <a:pPr>
              <a:spcBef>
                <a:spcPct val="0"/>
              </a:spcBef>
              <a:buFontTx/>
              <a:buNone/>
            </a:pPr>
            <a:r>
              <a:rPr lang="en-US" altLang="zh-CN" b="0">
                <a:solidFill>
                  <a:srgbClr val="0000CC"/>
                </a:solidFill>
                <a:ea typeface="宋体" panose="02010600030101010101" pitchFamily="2" charset="-122"/>
              </a:rPr>
              <a:t>E → E1 + T		val[ntop] = val[top-2] + val[top]</a:t>
            </a:r>
          </a:p>
          <a:p>
            <a:pPr>
              <a:spcBef>
                <a:spcPct val="0"/>
              </a:spcBef>
              <a:buFontTx/>
              <a:buNone/>
            </a:pPr>
            <a:r>
              <a:rPr lang="en-US" altLang="zh-CN" b="0">
                <a:ea typeface="宋体" panose="02010600030101010101" pitchFamily="2" charset="-122"/>
              </a:rPr>
              <a:t>E → T			</a:t>
            </a:r>
          </a:p>
          <a:p>
            <a:pPr>
              <a:spcBef>
                <a:spcPct val="0"/>
              </a:spcBef>
              <a:buFontTx/>
              <a:buNone/>
            </a:pPr>
            <a:r>
              <a:rPr lang="en-US" altLang="zh-CN" b="0">
                <a:ea typeface="宋体" panose="02010600030101010101" pitchFamily="2" charset="-122"/>
              </a:rPr>
              <a:t>T → T1 * F		val[ntop] = val[top-2] * val[top]</a:t>
            </a:r>
          </a:p>
          <a:p>
            <a:pPr>
              <a:spcBef>
                <a:spcPct val="0"/>
              </a:spcBef>
              <a:buFontTx/>
              <a:buNone/>
            </a:pPr>
            <a:r>
              <a:rPr lang="en-US" altLang="zh-CN" b="0">
                <a:ea typeface="宋体" panose="02010600030101010101" pitchFamily="2" charset="-122"/>
              </a:rPr>
              <a:t>T → F			</a:t>
            </a:r>
          </a:p>
          <a:p>
            <a:pPr>
              <a:spcBef>
                <a:spcPct val="0"/>
              </a:spcBef>
              <a:buFontTx/>
              <a:buNone/>
            </a:pPr>
            <a:r>
              <a:rPr lang="en-US" altLang="zh-CN" b="0">
                <a:ea typeface="宋体" panose="02010600030101010101" pitchFamily="2" charset="-122"/>
              </a:rPr>
              <a:t>F → ( E )		val[ntop] = val[top-1]</a:t>
            </a:r>
          </a:p>
          <a:p>
            <a:pPr>
              <a:spcBef>
                <a:spcPct val="0"/>
              </a:spcBef>
              <a:buFontTx/>
              <a:buNone/>
            </a:pPr>
            <a:r>
              <a:rPr lang="en-US" altLang="zh-CN" b="0">
                <a:ea typeface="宋体" panose="02010600030101010101" pitchFamily="2" charset="-122"/>
              </a:rPr>
              <a:t>F → </a:t>
            </a:r>
            <a:r>
              <a:rPr lang="en-US" altLang="zh-CN">
                <a:ea typeface="宋体" panose="02010600030101010101" pitchFamily="2" charset="-122"/>
              </a:rPr>
              <a:t>digit</a:t>
            </a:r>
            <a:r>
              <a:rPr lang="en-US" altLang="zh-CN" b="0">
                <a:ea typeface="宋体" panose="02010600030101010101" pitchFamily="2" charset="-122"/>
              </a:rPr>
              <a:t>	</a:t>
            </a:r>
          </a:p>
        </p:txBody>
      </p:sp>
      <p:graphicFrame>
        <p:nvGraphicFramePr>
          <p:cNvPr id="354309" name="Group 5"/>
          <p:cNvGraphicFramePr>
            <a:graphicFrameLocks noGrp="1"/>
          </p:cNvGraphicFramePr>
          <p:nvPr/>
        </p:nvGraphicFramePr>
        <p:xfrm>
          <a:off x="8686800" y="1905000"/>
          <a:ext cx="304800" cy="1584325"/>
        </p:xfrm>
        <a:graphic>
          <a:graphicData uri="http://schemas.openxmlformats.org/drawingml/2006/table">
            <a:tbl>
              <a:tblPr/>
              <a:tblGrid>
                <a:gridCol w="304800">
                  <a:extLst>
                    <a:ext uri="{9D8B030D-6E8A-4147-A177-3AD203B41FA5}">
                      <a16:colId xmlns:a16="http://schemas.microsoft.com/office/drawing/2014/main" val="20000"/>
                    </a:ext>
                  </a:extLst>
                </a:gridCol>
              </a:tblGrid>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T</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E</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rPr>
                        <a:t>. </a:t>
                      </a:r>
                    </a:p>
                  </a:txBody>
                  <a:tcPr marT="45677" marB="4567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54321" name="Rectangle 17"/>
          <p:cNvSpPr>
            <a:spLocks noChangeArrowheads="1"/>
          </p:cNvSpPr>
          <p:nvPr/>
        </p:nvSpPr>
        <p:spPr bwMode="auto">
          <a:xfrm>
            <a:off x="7772400" y="1676400"/>
            <a:ext cx="94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sym typeface="Symbol" panose="05050102010706020507" pitchFamily="18" charset="2"/>
              </a:rPr>
              <a:t>top </a:t>
            </a:r>
            <a:endParaRPr lang="zh-CN" altLang="en-US" b="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3000"/>
                                  </p:stCondLst>
                                  <p:childTnLst>
                                    <p:set>
                                      <p:cBhvr>
                                        <p:cTn id="6" dur="1" fill="hold">
                                          <p:stCondLst>
                                            <p:cond delay="0"/>
                                          </p:stCondLst>
                                        </p:cTn>
                                        <p:tgtEl>
                                          <p:spTgt spid="354321"/>
                                        </p:tgtEl>
                                        <p:attrNameLst>
                                          <p:attrName>style.visibility</p:attrName>
                                        </p:attrNameLst>
                                      </p:cBhvr>
                                      <p:to>
                                        <p:strVal val="visible"/>
                                      </p:to>
                                    </p:set>
                                    <p:animEffect transition="in" filter="wipe(left)">
                                      <p:cBhvr>
                                        <p:cTn id="7" dur="1000"/>
                                        <p:tgtEl>
                                          <p:spTgt spid="354321"/>
                                        </p:tgtEl>
                                      </p:cBhvr>
                                    </p:animEffect>
                                  </p:childTnLst>
                                </p:cTn>
                              </p:par>
                            </p:childTnLst>
                          </p:cTn>
                        </p:par>
                        <p:par>
                          <p:cTn id="8" fill="hold" nodeType="afterGroup">
                            <p:stCondLst>
                              <p:cond delay="4000"/>
                            </p:stCondLst>
                            <p:childTnLst>
                              <p:par>
                                <p:cTn id="9" presetID="22" presetClass="entr" presetSubtype="4" fill="hold" nodeType="afterEffect">
                                  <p:stCondLst>
                                    <p:cond delay="0"/>
                                  </p:stCondLst>
                                  <p:childTnLst>
                                    <p:set>
                                      <p:cBhvr>
                                        <p:cTn id="10" dur="1" fill="hold">
                                          <p:stCondLst>
                                            <p:cond delay="0"/>
                                          </p:stCondLst>
                                        </p:cTn>
                                        <p:tgtEl>
                                          <p:spTgt spid="354309"/>
                                        </p:tgtEl>
                                        <p:attrNameLst>
                                          <p:attrName>style.visibility</p:attrName>
                                        </p:attrNameLst>
                                      </p:cBhvr>
                                      <p:to>
                                        <p:strVal val="visible"/>
                                      </p:to>
                                    </p:set>
                                    <p:animEffect transition="in" filter="wipe(down)">
                                      <p:cBhvr>
                                        <p:cTn id="11" dur="1000"/>
                                        <p:tgtEl>
                                          <p:spTgt spid="354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5603"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5604"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E95F5BF0-C64C-44F7-B95F-4005C1B0067F}" type="slidenum">
              <a:rPr lang="zh-CN" altLang="en-US" sz="800"/>
              <a:pPr>
                <a:spcBef>
                  <a:spcPct val="0"/>
                </a:spcBef>
                <a:buFontTx/>
                <a:buNone/>
              </a:pPr>
              <a:t>24</a:t>
            </a:fld>
            <a:endParaRPr lang="en-US" altLang="zh-CN" sz="800"/>
          </a:p>
        </p:txBody>
      </p:sp>
      <p:sp>
        <p:nvSpPr>
          <p:cNvPr id="25605" name="Rectangle 2"/>
          <p:cNvSpPr>
            <a:spLocks noGrp="1" noChangeArrowheads="1"/>
          </p:cNvSpPr>
          <p:nvPr>
            <p:ph type="title"/>
          </p:nvPr>
        </p:nvSpPr>
        <p:spPr/>
        <p:txBody>
          <a:bodyPr/>
          <a:lstStyle/>
          <a:p>
            <a:r>
              <a:rPr lang="en-US" altLang="zh-CN" smtClean="0">
                <a:ea typeface="宋体" panose="02010600030101010101" pitchFamily="2" charset="-122"/>
              </a:rPr>
              <a:t>Canonical LR(0) Collection for The Grammar</a:t>
            </a:r>
          </a:p>
        </p:txBody>
      </p:sp>
      <p:sp>
        <p:nvSpPr>
          <p:cNvPr id="25606" name="Text Box 3"/>
          <p:cNvSpPr txBox="1">
            <a:spLocks noChangeArrowheads="1"/>
          </p:cNvSpPr>
          <p:nvPr/>
        </p:nvSpPr>
        <p:spPr bwMode="auto">
          <a:xfrm>
            <a:off x="304800" y="1219200"/>
            <a:ext cx="1398588"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nSpc>
                <a:spcPts val="2000"/>
              </a:lnSpc>
              <a:spcBef>
                <a:spcPct val="0"/>
              </a:spcBef>
              <a:buFontTx/>
              <a:buNone/>
            </a:pPr>
            <a:r>
              <a:rPr lang="en-US" altLang="zh-CN" sz="1800" b="0">
                <a:solidFill>
                  <a:schemeClr val="accent2"/>
                </a:solidFill>
                <a:ea typeface="宋体" panose="02010600030101010101" pitchFamily="2" charset="-122"/>
              </a:rPr>
              <a:t>   L’</a:t>
            </a:r>
            <a:r>
              <a:rPr lang="en-US" altLang="zh-CN" sz="1800" b="0">
                <a:solidFill>
                  <a:schemeClr val="accent2"/>
                </a:solidFill>
                <a:ea typeface="宋体" panose="02010600030101010101" pitchFamily="2" charset="-122"/>
                <a:cs typeface="Times New Roman" panose="02020603050405020304" pitchFamily="18" charset="0"/>
              </a:rPr>
              <a:t>→</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L</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1 L</a:t>
            </a:r>
            <a:r>
              <a:rPr lang="en-US" altLang="zh-CN" b="0">
                <a:ea typeface="宋体" panose="02010600030101010101" pitchFamily="2" charset="-122"/>
                <a:cs typeface="Times New Roman" panose="02020603050405020304" pitchFamily="18" charset="0"/>
              </a:rPr>
              <a:t> </a:t>
            </a:r>
            <a:r>
              <a:rPr lang="en-US" altLang="zh-CN" sz="1800" b="0">
                <a:ea typeface="宋体" panose="02010600030101010101" pitchFamily="2" charset="-122"/>
                <a:cs typeface="Times New Roman" panose="02020603050405020304" pitchFamily="18" charset="0"/>
              </a:rPr>
              <a:t>→</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Er</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2 E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E+T</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3 E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T</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4 T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5 T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6 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7 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digit</a:t>
            </a:r>
          </a:p>
        </p:txBody>
      </p:sp>
      <p:sp>
        <p:nvSpPr>
          <p:cNvPr id="368644" name="Text Box 4"/>
          <p:cNvSpPr txBox="1">
            <a:spLocks noChangeArrowheads="1"/>
          </p:cNvSpPr>
          <p:nvPr/>
        </p:nvSpPr>
        <p:spPr bwMode="auto">
          <a:xfrm>
            <a:off x="2362200" y="1219200"/>
            <a:ext cx="1193800" cy="491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nSpc>
                <a:spcPts val="2000"/>
              </a:lnSpc>
              <a:spcBef>
                <a:spcPct val="0"/>
              </a:spcBef>
              <a:buFontTx/>
              <a:buNone/>
            </a:pPr>
            <a:r>
              <a:rPr lang="en-US" altLang="zh-CN" sz="1800" b="0">
                <a:solidFill>
                  <a:schemeClr val="accent2"/>
                </a:solidFill>
                <a:ea typeface="宋体" panose="02010600030101010101" pitchFamily="2" charset="-122"/>
              </a:rPr>
              <a:t>L’</a:t>
            </a:r>
            <a:r>
              <a:rPr lang="en-US" altLang="zh-CN" sz="1800" b="0">
                <a:solidFill>
                  <a:schemeClr val="accent2"/>
                </a:solidFill>
                <a:ea typeface="宋体" panose="02010600030101010101" pitchFamily="2" charset="-122"/>
                <a:cs typeface="Times New Roman" panose="02020603050405020304" pitchFamily="18" charset="0"/>
              </a:rPr>
              <a:t>→L</a:t>
            </a:r>
            <a:r>
              <a:rPr lang="en-US" altLang="zh-CN" sz="4800" b="0">
                <a:solidFill>
                  <a:schemeClr val="accent2"/>
                </a:solidFill>
                <a:ea typeface="宋体" panose="02010600030101010101" pitchFamily="2" charset="-122"/>
                <a:cs typeface="Times New Roman" panose="02020603050405020304" pitchFamily="18" charset="0"/>
              </a:rPr>
              <a:t>.</a:t>
            </a: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L</a:t>
            </a:r>
            <a:r>
              <a:rPr lang="en-US" altLang="zh-CN" b="0">
                <a:solidFill>
                  <a:schemeClr val="accent2"/>
                </a:solidFill>
                <a:ea typeface="宋体" panose="02010600030101010101" pitchFamily="2" charset="-122"/>
                <a:cs typeface="Times New Roman" panose="02020603050405020304" pitchFamily="18" charset="0"/>
              </a:rPr>
              <a:t> </a:t>
            </a:r>
            <a:r>
              <a:rPr lang="en-US" altLang="zh-CN" sz="1800" b="0">
                <a:solidFill>
                  <a:schemeClr val="accent2"/>
                </a:solidFill>
                <a:ea typeface="宋体" panose="02010600030101010101" pitchFamily="2" charset="-122"/>
                <a:cs typeface="Times New Roman" panose="02020603050405020304" pitchFamily="18" charset="0"/>
              </a:rPr>
              <a:t>→E</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r</a:t>
            </a: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E →E</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+T</a:t>
            </a: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E →T</a:t>
            </a:r>
            <a:r>
              <a:rPr lang="en-US" altLang="zh-CN" sz="4800" b="0">
                <a:solidFill>
                  <a:schemeClr val="accent2"/>
                </a:solidFill>
                <a:ea typeface="宋体" panose="02010600030101010101" pitchFamily="2" charset="-122"/>
                <a:cs typeface="Times New Roman" panose="02020603050405020304" pitchFamily="18" charset="0"/>
              </a:rPr>
              <a:t>.</a:t>
            </a: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T →T</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*F</a:t>
            </a: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T →F</a:t>
            </a:r>
            <a:r>
              <a:rPr lang="en-US" altLang="zh-CN" sz="4800" b="0">
                <a:solidFill>
                  <a:schemeClr val="accent2"/>
                </a:solidFill>
                <a:ea typeface="宋体" panose="02010600030101010101" pitchFamily="2" charset="-122"/>
                <a:cs typeface="Times New Roman" panose="02020603050405020304" pitchFamily="18" charset="0"/>
              </a:rPr>
              <a:t>.</a:t>
            </a: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F →</a:t>
            </a:r>
            <a:r>
              <a:rPr lang="en-US" altLang="zh-CN" sz="4800" b="0">
                <a:solidFill>
                  <a:schemeClr val="accent2"/>
                </a:solidFill>
                <a:ea typeface="宋体" panose="02010600030101010101" pitchFamily="2" charset="-122"/>
                <a:cs typeface="Times New Roman" panose="02020603050405020304" pitchFamily="18" charset="0"/>
              </a:rPr>
              <a:t> </a:t>
            </a:r>
            <a:r>
              <a:rPr lang="en-US" altLang="zh-CN" sz="1800" b="0">
                <a:solidFill>
                  <a:schemeClr val="accent2"/>
                </a:solidFill>
                <a:ea typeface="宋体" panose="02010600030101010101" pitchFamily="2" charset="-122"/>
                <a:cs typeface="Times New Roman" panose="02020603050405020304" pitchFamily="18" charset="0"/>
              </a:rPr>
              <a:t>(</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E)</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E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E+T</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E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T</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T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T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digit</a:t>
            </a: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→digit</a:t>
            </a:r>
            <a:r>
              <a:rPr lang="en-US" altLang="zh-CN" sz="4800" b="0">
                <a:ea typeface="宋体" panose="02010600030101010101" pitchFamily="2" charset="-122"/>
                <a:cs typeface="Times New Roman" panose="02020603050405020304" pitchFamily="18" charset="0"/>
              </a:rPr>
              <a:t>.</a:t>
            </a:r>
          </a:p>
        </p:txBody>
      </p:sp>
      <p:sp>
        <p:nvSpPr>
          <p:cNvPr id="368645" name="Text Box 5"/>
          <p:cNvSpPr txBox="1">
            <a:spLocks noChangeArrowheads="1"/>
          </p:cNvSpPr>
          <p:nvPr/>
        </p:nvSpPr>
        <p:spPr bwMode="auto">
          <a:xfrm>
            <a:off x="4572000" y="1219200"/>
            <a:ext cx="1169988"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L</a:t>
            </a:r>
            <a:r>
              <a:rPr lang="en-US" altLang="zh-CN" b="0">
                <a:ea typeface="宋体" panose="02010600030101010101" pitchFamily="2" charset="-122"/>
                <a:cs typeface="Times New Roman" panose="02020603050405020304" pitchFamily="18" charset="0"/>
              </a:rPr>
              <a:t> </a:t>
            </a:r>
            <a:r>
              <a:rPr lang="en-US" altLang="zh-CN" sz="1800" b="0">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Er</a:t>
            </a:r>
            <a:r>
              <a:rPr lang="en-US" altLang="zh-CN" sz="4800" b="0">
                <a:solidFill>
                  <a:schemeClr val="accent2"/>
                </a:solidFill>
                <a:ea typeface="宋体" panose="02010600030101010101" pitchFamily="2" charset="-122"/>
                <a:cs typeface="Times New Roman" panose="02020603050405020304" pitchFamily="18" charset="0"/>
              </a:rPr>
              <a:t>.</a:t>
            </a: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E →E+</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T</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T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T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digit</a:t>
            </a: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T →T*</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F</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(E)</a:t>
            </a:r>
          </a:p>
          <a:p>
            <a:pPr>
              <a:lnSpc>
                <a:spcPts val="2000"/>
              </a:lnSpc>
              <a:spcBef>
                <a:spcPct val="0"/>
              </a:spcBef>
              <a:buFontTx/>
              <a:buNone/>
            </a:pPr>
            <a:r>
              <a:rPr lang="en-US" altLang="zh-CN" sz="1800" b="0">
                <a:ea typeface="宋体" panose="02010600030101010101" pitchFamily="2" charset="-122"/>
                <a:cs typeface="Times New Roman" panose="02020603050405020304" pitchFamily="18" charset="0"/>
              </a:rPr>
              <a:t>F →</a:t>
            </a:r>
            <a:r>
              <a:rPr lang="en-US" altLang="zh-CN" sz="4800" b="0">
                <a:ea typeface="宋体" panose="02010600030101010101" pitchFamily="2" charset="-122"/>
                <a:cs typeface="Times New Roman" panose="02020603050405020304" pitchFamily="18" charset="0"/>
              </a:rPr>
              <a:t>.</a:t>
            </a:r>
            <a:r>
              <a:rPr lang="en-US" altLang="zh-CN" sz="1800" b="0">
                <a:ea typeface="宋体" panose="02010600030101010101" pitchFamily="2" charset="-122"/>
                <a:cs typeface="Times New Roman" panose="02020603050405020304" pitchFamily="18" charset="0"/>
              </a:rPr>
              <a:t>digit</a:t>
            </a: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F →(E</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a:t>
            </a: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E →E</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+T</a:t>
            </a:r>
          </a:p>
          <a:p>
            <a:pPr>
              <a:lnSpc>
                <a:spcPts val="2000"/>
              </a:lnSpc>
              <a:spcBef>
                <a:spcPct val="0"/>
              </a:spcBef>
              <a:buFontTx/>
              <a:buNone/>
            </a:pPr>
            <a:endParaRPr lang="zh-CN" altLang="en-US" sz="1800" b="0">
              <a:solidFill>
                <a:schemeClr val="accent2"/>
              </a:solidFill>
              <a:ea typeface="宋体" panose="02010600030101010101" pitchFamily="2" charset="-122"/>
              <a:cs typeface="Times New Roman" panose="02020603050405020304" pitchFamily="18" charset="0"/>
            </a:endParaRPr>
          </a:p>
        </p:txBody>
      </p:sp>
      <p:sp>
        <p:nvSpPr>
          <p:cNvPr id="368646" name="Text Box 6"/>
          <p:cNvSpPr txBox="1">
            <a:spLocks noChangeArrowheads="1"/>
          </p:cNvSpPr>
          <p:nvPr/>
        </p:nvSpPr>
        <p:spPr bwMode="auto">
          <a:xfrm>
            <a:off x="6858000" y="1295400"/>
            <a:ext cx="1169988"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E →E+T</a:t>
            </a:r>
            <a:r>
              <a:rPr lang="en-US" altLang="zh-CN" sz="4800" b="0">
                <a:solidFill>
                  <a:schemeClr val="accent2"/>
                </a:solidFill>
                <a:ea typeface="宋体" panose="02010600030101010101" pitchFamily="2" charset="-122"/>
                <a:cs typeface="Times New Roman" panose="02020603050405020304" pitchFamily="18" charset="0"/>
              </a:rPr>
              <a:t>.</a:t>
            </a: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T →T</a:t>
            </a:r>
            <a:r>
              <a:rPr lang="en-US" altLang="zh-CN" sz="4800" b="0">
                <a:solidFill>
                  <a:schemeClr val="accent2"/>
                </a:solidFill>
                <a:ea typeface="宋体" panose="02010600030101010101" pitchFamily="2" charset="-122"/>
                <a:cs typeface="Times New Roman" panose="02020603050405020304" pitchFamily="18" charset="0"/>
              </a:rPr>
              <a:t>.</a:t>
            </a:r>
            <a:r>
              <a:rPr lang="en-US" altLang="zh-CN" sz="1800" b="0">
                <a:solidFill>
                  <a:schemeClr val="accent2"/>
                </a:solidFill>
                <a:ea typeface="宋体" panose="02010600030101010101" pitchFamily="2" charset="-122"/>
                <a:cs typeface="Times New Roman" panose="02020603050405020304" pitchFamily="18" charset="0"/>
              </a:rPr>
              <a:t>*F</a:t>
            </a:r>
          </a:p>
          <a:p>
            <a:pPr>
              <a:lnSpc>
                <a:spcPts val="2000"/>
              </a:lnSpc>
              <a:spcBef>
                <a:spcPct val="0"/>
              </a:spcBef>
              <a:buFontTx/>
              <a:buNone/>
            </a:pP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T →T*F</a:t>
            </a:r>
            <a:r>
              <a:rPr lang="en-US" altLang="zh-CN" sz="4800" b="0">
                <a:solidFill>
                  <a:schemeClr val="accent2"/>
                </a:solidFill>
                <a:ea typeface="宋体" panose="02010600030101010101" pitchFamily="2" charset="-122"/>
                <a:cs typeface="Times New Roman" panose="02020603050405020304" pitchFamily="18" charset="0"/>
              </a:rPr>
              <a:t>.</a:t>
            </a:r>
            <a:endParaRPr lang="en-US" altLang="zh-CN" sz="1800" b="0">
              <a:solidFill>
                <a:schemeClr val="accent2"/>
              </a:solidFill>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endParaRPr lang="en-US" altLang="zh-CN" sz="1800" b="0">
              <a:ea typeface="宋体" panose="02010600030101010101" pitchFamily="2" charset="-122"/>
              <a:cs typeface="Times New Roman" panose="02020603050405020304" pitchFamily="18" charset="0"/>
            </a:endParaRPr>
          </a:p>
          <a:p>
            <a:pPr>
              <a:lnSpc>
                <a:spcPts val="2000"/>
              </a:lnSpc>
              <a:spcBef>
                <a:spcPct val="0"/>
              </a:spcBef>
              <a:buFontTx/>
              <a:buNone/>
            </a:pPr>
            <a:r>
              <a:rPr lang="en-US" altLang="zh-CN" sz="1800" b="0">
                <a:solidFill>
                  <a:schemeClr val="accent2"/>
                </a:solidFill>
                <a:ea typeface="宋体" panose="02010600030101010101" pitchFamily="2" charset="-122"/>
                <a:cs typeface="Times New Roman" panose="02020603050405020304" pitchFamily="18" charset="0"/>
              </a:rPr>
              <a:t>F →(E)</a:t>
            </a:r>
            <a:r>
              <a:rPr lang="en-US" altLang="zh-CN" sz="4800" b="0">
                <a:solidFill>
                  <a:schemeClr val="accent2"/>
                </a:solidFill>
                <a:ea typeface="宋体" panose="02010600030101010101" pitchFamily="2" charset="-122"/>
                <a:cs typeface="Times New Roman" panose="02020603050405020304" pitchFamily="18" charset="0"/>
              </a:rPr>
              <a:t>.</a:t>
            </a:r>
          </a:p>
        </p:txBody>
      </p:sp>
      <p:sp>
        <p:nvSpPr>
          <p:cNvPr id="25610" name="Text Box 7"/>
          <p:cNvSpPr txBox="1">
            <a:spLocks noChangeArrowheads="1"/>
          </p:cNvSpPr>
          <p:nvPr/>
        </p:nvSpPr>
        <p:spPr bwMode="auto">
          <a:xfrm>
            <a:off x="228600" y="1219200"/>
            <a:ext cx="400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0</a:t>
            </a:r>
            <a:r>
              <a:rPr lang="en-US" altLang="zh-CN" sz="1800" b="0">
                <a:ea typeface="宋体" panose="02010600030101010101" pitchFamily="2" charset="-122"/>
              </a:rPr>
              <a:t>:</a:t>
            </a:r>
          </a:p>
        </p:txBody>
      </p:sp>
      <p:grpSp>
        <p:nvGrpSpPr>
          <p:cNvPr id="368725" name="Group 85"/>
          <p:cNvGrpSpPr>
            <a:grpSpLocks/>
          </p:cNvGrpSpPr>
          <p:nvPr/>
        </p:nvGrpSpPr>
        <p:grpSpPr bwMode="auto">
          <a:xfrm>
            <a:off x="1524000" y="1066800"/>
            <a:ext cx="933450" cy="5014913"/>
            <a:chOff x="960" y="672"/>
            <a:chExt cx="588" cy="3159"/>
          </a:xfrm>
        </p:grpSpPr>
        <p:sp>
          <p:nvSpPr>
            <p:cNvPr id="25673" name="Text Box 8"/>
            <p:cNvSpPr txBox="1">
              <a:spLocks noChangeArrowheads="1"/>
            </p:cNvSpPr>
            <p:nvPr/>
          </p:nvSpPr>
          <p:spPr bwMode="auto">
            <a:xfrm>
              <a:off x="1296" y="720"/>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1</a:t>
              </a:r>
              <a:r>
                <a:rPr lang="en-US" altLang="zh-CN" sz="1800" b="0">
                  <a:ea typeface="宋体" panose="02010600030101010101" pitchFamily="2" charset="-122"/>
                </a:rPr>
                <a:t>:</a:t>
              </a:r>
            </a:p>
          </p:txBody>
        </p:sp>
        <p:sp>
          <p:nvSpPr>
            <p:cNvPr id="25674" name="Text Box 9"/>
            <p:cNvSpPr txBox="1">
              <a:spLocks noChangeArrowheads="1"/>
            </p:cNvSpPr>
            <p:nvPr/>
          </p:nvSpPr>
          <p:spPr bwMode="auto">
            <a:xfrm>
              <a:off x="1296" y="1056"/>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2</a:t>
              </a:r>
              <a:r>
                <a:rPr lang="en-US" altLang="zh-CN" sz="1800" b="0">
                  <a:ea typeface="宋体" panose="02010600030101010101" pitchFamily="2" charset="-122"/>
                </a:rPr>
                <a:t>:</a:t>
              </a:r>
            </a:p>
          </p:txBody>
        </p:sp>
        <p:sp>
          <p:nvSpPr>
            <p:cNvPr id="25675" name="Text Box 10"/>
            <p:cNvSpPr txBox="1">
              <a:spLocks noChangeArrowheads="1"/>
            </p:cNvSpPr>
            <p:nvPr/>
          </p:nvSpPr>
          <p:spPr bwMode="auto">
            <a:xfrm>
              <a:off x="1296" y="2016"/>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4</a:t>
              </a:r>
              <a:r>
                <a:rPr lang="en-US" altLang="zh-CN" sz="1800" b="0">
                  <a:ea typeface="宋体" panose="02010600030101010101" pitchFamily="2" charset="-122"/>
                </a:rPr>
                <a:t>:</a:t>
              </a:r>
            </a:p>
          </p:txBody>
        </p:sp>
        <p:sp>
          <p:nvSpPr>
            <p:cNvPr id="25676" name="Text Box 11"/>
            <p:cNvSpPr txBox="1">
              <a:spLocks noChangeArrowheads="1"/>
            </p:cNvSpPr>
            <p:nvPr/>
          </p:nvSpPr>
          <p:spPr bwMode="auto">
            <a:xfrm>
              <a:off x="1296" y="1536"/>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3</a:t>
              </a:r>
              <a:r>
                <a:rPr lang="en-US" altLang="zh-CN" sz="1800" b="0">
                  <a:ea typeface="宋体" panose="02010600030101010101" pitchFamily="2" charset="-122"/>
                </a:rPr>
                <a:t>:</a:t>
              </a:r>
            </a:p>
          </p:txBody>
        </p:sp>
        <p:sp>
          <p:nvSpPr>
            <p:cNvPr id="25677" name="Text Box 12"/>
            <p:cNvSpPr txBox="1">
              <a:spLocks noChangeArrowheads="1"/>
            </p:cNvSpPr>
            <p:nvPr/>
          </p:nvSpPr>
          <p:spPr bwMode="auto">
            <a:xfrm>
              <a:off x="1296" y="2352"/>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5</a:t>
              </a:r>
              <a:r>
                <a:rPr lang="en-US" altLang="zh-CN" sz="1800" b="0">
                  <a:ea typeface="宋体" panose="02010600030101010101" pitchFamily="2" charset="-122"/>
                </a:rPr>
                <a:t>:</a:t>
              </a:r>
            </a:p>
          </p:txBody>
        </p:sp>
        <p:sp>
          <p:nvSpPr>
            <p:cNvPr id="25678" name="Text Box 13"/>
            <p:cNvSpPr txBox="1">
              <a:spLocks noChangeArrowheads="1"/>
            </p:cNvSpPr>
            <p:nvPr/>
          </p:nvSpPr>
          <p:spPr bwMode="auto">
            <a:xfrm>
              <a:off x="1296" y="3600"/>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6</a:t>
              </a:r>
              <a:r>
                <a:rPr lang="en-US" altLang="zh-CN" sz="1800" b="0">
                  <a:ea typeface="宋体" panose="02010600030101010101" pitchFamily="2" charset="-122"/>
                </a:rPr>
                <a:t>:</a:t>
              </a:r>
            </a:p>
          </p:txBody>
        </p:sp>
        <p:sp>
          <p:nvSpPr>
            <p:cNvPr id="25679" name="Line 21"/>
            <p:cNvSpPr>
              <a:spLocks noChangeShapeType="1"/>
            </p:cNvSpPr>
            <p:nvPr/>
          </p:nvSpPr>
          <p:spPr bwMode="auto">
            <a:xfrm>
              <a:off x="960" y="864"/>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0" name="Line 22"/>
            <p:cNvSpPr>
              <a:spLocks noChangeShapeType="1"/>
            </p:cNvSpPr>
            <p:nvPr/>
          </p:nvSpPr>
          <p:spPr bwMode="auto">
            <a:xfrm>
              <a:off x="1056" y="864"/>
              <a:ext cx="0" cy="28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1" name="Line 23"/>
            <p:cNvSpPr>
              <a:spLocks noChangeShapeType="1"/>
            </p:cNvSpPr>
            <p:nvPr/>
          </p:nvSpPr>
          <p:spPr bwMode="auto">
            <a:xfrm>
              <a:off x="1056" y="120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2" name="Line 24"/>
            <p:cNvSpPr>
              <a:spLocks noChangeShapeType="1"/>
            </p:cNvSpPr>
            <p:nvPr/>
          </p:nvSpPr>
          <p:spPr bwMode="auto">
            <a:xfrm>
              <a:off x="1056" y="168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3" name="Line 25"/>
            <p:cNvSpPr>
              <a:spLocks noChangeShapeType="1"/>
            </p:cNvSpPr>
            <p:nvPr/>
          </p:nvSpPr>
          <p:spPr bwMode="auto">
            <a:xfrm>
              <a:off x="1056" y="216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4" name="Line 26"/>
            <p:cNvSpPr>
              <a:spLocks noChangeShapeType="1"/>
            </p:cNvSpPr>
            <p:nvPr/>
          </p:nvSpPr>
          <p:spPr bwMode="auto">
            <a:xfrm>
              <a:off x="1056" y="249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5" name="Line 27"/>
            <p:cNvSpPr>
              <a:spLocks noChangeShapeType="1"/>
            </p:cNvSpPr>
            <p:nvPr/>
          </p:nvSpPr>
          <p:spPr bwMode="auto">
            <a:xfrm>
              <a:off x="1056" y="3744"/>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6" name="Text Box 49"/>
            <p:cNvSpPr txBox="1">
              <a:spLocks noChangeArrowheads="1"/>
            </p:cNvSpPr>
            <p:nvPr/>
          </p:nvSpPr>
          <p:spPr bwMode="auto">
            <a:xfrm>
              <a:off x="1056" y="672"/>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L</a:t>
              </a:r>
            </a:p>
          </p:txBody>
        </p:sp>
        <p:sp>
          <p:nvSpPr>
            <p:cNvPr id="25687" name="Text Box 51"/>
            <p:cNvSpPr txBox="1">
              <a:spLocks noChangeArrowheads="1"/>
            </p:cNvSpPr>
            <p:nvPr/>
          </p:nvSpPr>
          <p:spPr bwMode="auto">
            <a:xfrm>
              <a:off x="1056" y="1008"/>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E</a:t>
              </a:r>
            </a:p>
          </p:txBody>
        </p:sp>
        <p:sp>
          <p:nvSpPr>
            <p:cNvPr id="25688" name="Text Box 54"/>
            <p:cNvSpPr txBox="1">
              <a:spLocks noChangeArrowheads="1"/>
            </p:cNvSpPr>
            <p:nvPr/>
          </p:nvSpPr>
          <p:spPr bwMode="auto">
            <a:xfrm>
              <a:off x="1056" y="1488"/>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T</a:t>
              </a:r>
            </a:p>
          </p:txBody>
        </p:sp>
        <p:sp>
          <p:nvSpPr>
            <p:cNvPr id="25689" name="Text Box 58"/>
            <p:cNvSpPr txBox="1">
              <a:spLocks noChangeArrowheads="1"/>
            </p:cNvSpPr>
            <p:nvPr/>
          </p:nvSpPr>
          <p:spPr bwMode="auto">
            <a:xfrm>
              <a:off x="1056" y="1968"/>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F</a:t>
              </a:r>
            </a:p>
          </p:txBody>
        </p:sp>
        <p:sp>
          <p:nvSpPr>
            <p:cNvPr id="25690" name="Text Box 61"/>
            <p:cNvSpPr txBox="1">
              <a:spLocks noChangeArrowheads="1"/>
            </p:cNvSpPr>
            <p:nvPr/>
          </p:nvSpPr>
          <p:spPr bwMode="auto">
            <a:xfrm>
              <a:off x="1104" y="2304"/>
              <a:ext cx="1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91" name="Text Box 66"/>
            <p:cNvSpPr txBox="1">
              <a:spLocks noChangeArrowheads="1"/>
            </p:cNvSpPr>
            <p:nvPr/>
          </p:nvSpPr>
          <p:spPr bwMode="auto">
            <a:xfrm>
              <a:off x="1056" y="3552"/>
              <a:ext cx="3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digit</a:t>
              </a:r>
            </a:p>
          </p:txBody>
        </p:sp>
      </p:grpSp>
      <p:grpSp>
        <p:nvGrpSpPr>
          <p:cNvPr id="368726" name="Group 86"/>
          <p:cNvGrpSpPr>
            <a:grpSpLocks/>
          </p:cNvGrpSpPr>
          <p:nvPr/>
        </p:nvGrpSpPr>
        <p:grpSpPr bwMode="auto">
          <a:xfrm>
            <a:off x="3429000" y="1219200"/>
            <a:ext cx="1314450" cy="5060950"/>
            <a:chOff x="2160" y="768"/>
            <a:chExt cx="828" cy="3188"/>
          </a:xfrm>
        </p:grpSpPr>
        <p:sp>
          <p:nvSpPr>
            <p:cNvPr id="25648" name="Text Box 14"/>
            <p:cNvSpPr txBox="1">
              <a:spLocks noChangeArrowheads="1"/>
            </p:cNvSpPr>
            <p:nvPr/>
          </p:nvSpPr>
          <p:spPr bwMode="auto">
            <a:xfrm>
              <a:off x="2688" y="768"/>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7</a:t>
              </a:r>
              <a:r>
                <a:rPr lang="en-US" altLang="zh-CN" sz="1800" b="0">
                  <a:ea typeface="宋体" panose="02010600030101010101" pitchFamily="2" charset="-122"/>
                </a:rPr>
                <a:t>:</a:t>
              </a:r>
            </a:p>
          </p:txBody>
        </p:sp>
        <p:sp>
          <p:nvSpPr>
            <p:cNvPr id="25649" name="Text Box 17"/>
            <p:cNvSpPr txBox="1">
              <a:spLocks noChangeArrowheads="1"/>
            </p:cNvSpPr>
            <p:nvPr/>
          </p:nvSpPr>
          <p:spPr bwMode="auto">
            <a:xfrm>
              <a:off x="2688" y="2976"/>
              <a:ext cx="3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10</a:t>
              </a:r>
              <a:r>
                <a:rPr lang="en-US" altLang="zh-CN" sz="1800" b="0">
                  <a:ea typeface="宋体" panose="02010600030101010101" pitchFamily="2" charset="-122"/>
                </a:rPr>
                <a:t>:</a:t>
              </a:r>
            </a:p>
          </p:txBody>
        </p:sp>
        <p:sp>
          <p:nvSpPr>
            <p:cNvPr id="25650" name="Text Box 18"/>
            <p:cNvSpPr txBox="1">
              <a:spLocks noChangeArrowheads="1"/>
            </p:cNvSpPr>
            <p:nvPr/>
          </p:nvSpPr>
          <p:spPr bwMode="auto">
            <a:xfrm>
              <a:off x="2688" y="2160"/>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9</a:t>
              </a:r>
              <a:r>
                <a:rPr lang="en-US" altLang="zh-CN" sz="1800" b="0">
                  <a:ea typeface="宋体" panose="02010600030101010101" pitchFamily="2" charset="-122"/>
                </a:rPr>
                <a:t>:</a:t>
              </a:r>
            </a:p>
          </p:txBody>
        </p:sp>
        <p:sp>
          <p:nvSpPr>
            <p:cNvPr id="25651" name="Text Box 20"/>
            <p:cNvSpPr txBox="1">
              <a:spLocks noChangeArrowheads="1"/>
            </p:cNvSpPr>
            <p:nvPr/>
          </p:nvSpPr>
          <p:spPr bwMode="auto">
            <a:xfrm>
              <a:off x="2688" y="1056"/>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8</a:t>
              </a:r>
              <a:r>
                <a:rPr lang="en-US" altLang="zh-CN" sz="1800" b="0">
                  <a:ea typeface="宋体" panose="02010600030101010101" pitchFamily="2" charset="-122"/>
                </a:rPr>
                <a:t>:</a:t>
              </a:r>
            </a:p>
          </p:txBody>
        </p:sp>
        <p:sp>
          <p:nvSpPr>
            <p:cNvPr id="25652" name="Line 28"/>
            <p:cNvSpPr>
              <a:spLocks noChangeShapeType="1"/>
            </p:cNvSpPr>
            <p:nvPr/>
          </p:nvSpPr>
          <p:spPr bwMode="auto">
            <a:xfrm>
              <a:off x="2160" y="1200"/>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3" name="Line 29"/>
            <p:cNvSpPr>
              <a:spLocks noChangeShapeType="1"/>
            </p:cNvSpPr>
            <p:nvPr/>
          </p:nvSpPr>
          <p:spPr bwMode="auto">
            <a:xfrm flipV="1">
              <a:off x="2160" y="912"/>
              <a:ext cx="576"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4" name="Line 30"/>
            <p:cNvSpPr>
              <a:spLocks noChangeShapeType="1"/>
            </p:cNvSpPr>
            <p:nvPr/>
          </p:nvSpPr>
          <p:spPr bwMode="auto">
            <a:xfrm>
              <a:off x="2160" y="1680"/>
              <a:ext cx="576"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5" name="Line 31"/>
            <p:cNvSpPr>
              <a:spLocks noChangeShapeType="1"/>
            </p:cNvSpPr>
            <p:nvPr/>
          </p:nvSpPr>
          <p:spPr bwMode="auto">
            <a:xfrm>
              <a:off x="2208" y="2496"/>
              <a:ext cx="52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6" name="Line 32"/>
            <p:cNvSpPr>
              <a:spLocks noChangeShapeType="1"/>
            </p:cNvSpPr>
            <p:nvPr/>
          </p:nvSpPr>
          <p:spPr bwMode="auto">
            <a:xfrm>
              <a:off x="2208" y="2496"/>
              <a:ext cx="0" cy="13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7" name="Line 33"/>
            <p:cNvSpPr>
              <a:spLocks noChangeShapeType="1"/>
            </p:cNvSpPr>
            <p:nvPr/>
          </p:nvSpPr>
          <p:spPr bwMode="auto">
            <a:xfrm>
              <a:off x="2208" y="345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8" name="Line 34"/>
            <p:cNvSpPr>
              <a:spLocks noChangeShapeType="1"/>
            </p:cNvSpPr>
            <p:nvPr/>
          </p:nvSpPr>
          <p:spPr bwMode="auto">
            <a:xfrm>
              <a:off x="2208" y="3648"/>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9" name="Line 35"/>
            <p:cNvSpPr>
              <a:spLocks noChangeShapeType="1"/>
            </p:cNvSpPr>
            <p:nvPr/>
          </p:nvSpPr>
          <p:spPr bwMode="auto">
            <a:xfrm>
              <a:off x="2208" y="384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0" name="Line 36"/>
            <p:cNvSpPr>
              <a:spLocks noChangeShapeType="1"/>
            </p:cNvSpPr>
            <p:nvPr/>
          </p:nvSpPr>
          <p:spPr bwMode="auto">
            <a:xfrm>
              <a:off x="2208" y="321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1" name="Text Box 48"/>
            <p:cNvSpPr txBox="1">
              <a:spLocks noChangeArrowheads="1"/>
            </p:cNvSpPr>
            <p:nvPr/>
          </p:nvSpPr>
          <p:spPr bwMode="auto">
            <a:xfrm>
              <a:off x="2352" y="864"/>
              <a:ext cx="1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r</a:t>
              </a:r>
            </a:p>
          </p:txBody>
        </p:sp>
        <p:sp>
          <p:nvSpPr>
            <p:cNvPr id="25662" name="Text Box 50"/>
            <p:cNvSpPr txBox="1">
              <a:spLocks noChangeArrowheads="1"/>
            </p:cNvSpPr>
            <p:nvPr/>
          </p:nvSpPr>
          <p:spPr bwMode="auto">
            <a:xfrm>
              <a:off x="2400" y="2592"/>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E</a:t>
              </a:r>
            </a:p>
          </p:txBody>
        </p:sp>
        <p:sp>
          <p:nvSpPr>
            <p:cNvPr id="25663" name="Text Box 53"/>
            <p:cNvSpPr txBox="1">
              <a:spLocks noChangeArrowheads="1"/>
            </p:cNvSpPr>
            <p:nvPr/>
          </p:nvSpPr>
          <p:spPr bwMode="auto">
            <a:xfrm>
              <a:off x="2208" y="3024"/>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T</a:t>
              </a:r>
            </a:p>
          </p:txBody>
        </p:sp>
        <p:sp>
          <p:nvSpPr>
            <p:cNvPr id="25664" name="Text Box 57"/>
            <p:cNvSpPr txBox="1">
              <a:spLocks noChangeArrowheads="1"/>
            </p:cNvSpPr>
            <p:nvPr/>
          </p:nvSpPr>
          <p:spPr bwMode="auto">
            <a:xfrm>
              <a:off x="2208" y="3264"/>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F</a:t>
              </a:r>
            </a:p>
          </p:txBody>
        </p:sp>
        <p:sp>
          <p:nvSpPr>
            <p:cNvPr id="25665" name="Text Box 60"/>
            <p:cNvSpPr txBox="1">
              <a:spLocks noChangeArrowheads="1"/>
            </p:cNvSpPr>
            <p:nvPr/>
          </p:nvSpPr>
          <p:spPr bwMode="auto">
            <a:xfrm>
              <a:off x="2208" y="3456"/>
              <a:ext cx="1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66" name="Text Box 65"/>
            <p:cNvSpPr txBox="1">
              <a:spLocks noChangeArrowheads="1"/>
            </p:cNvSpPr>
            <p:nvPr/>
          </p:nvSpPr>
          <p:spPr bwMode="auto">
            <a:xfrm>
              <a:off x="2208" y="3648"/>
              <a:ext cx="3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digit</a:t>
              </a:r>
            </a:p>
          </p:txBody>
        </p:sp>
        <p:sp>
          <p:nvSpPr>
            <p:cNvPr id="25667" name="Text Box 68"/>
            <p:cNvSpPr txBox="1">
              <a:spLocks noChangeArrowheads="1"/>
            </p:cNvSpPr>
            <p:nvPr/>
          </p:nvSpPr>
          <p:spPr bwMode="auto">
            <a:xfrm>
              <a:off x="2448" y="1872"/>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1600" b="0">
                  <a:ea typeface="宋体" panose="02010600030101010101" pitchFamily="2" charset="-122"/>
                </a:rPr>
                <a:t>*</a:t>
              </a:r>
            </a:p>
          </p:txBody>
        </p:sp>
        <p:sp>
          <p:nvSpPr>
            <p:cNvPr id="25668" name="Text Box 69"/>
            <p:cNvSpPr txBox="1">
              <a:spLocks noChangeArrowheads="1"/>
            </p:cNvSpPr>
            <p:nvPr/>
          </p:nvSpPr>
          <p:spPr bwMode="auto">
            <a:xfrm>
              <a:off x="2448" y="1056"/>
              <a:ext cx="1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69" name="Text Box 73"/>
            <p:cNvSpPr txBox="1">
              <a:spLocks noChangeArrowheads="1"/>
            </p:cNvSpPr>
            <p:nvPr/>
          </p:nvSpPr>
          <p:spPr bwMode="auto">
            <a:xfrm>
              <a:off x="2448" y="3744"/>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6</a:t>
              </a:r>
            </a:p>
          </p:txBody>
        </p:sp>
        <p:sp>
          <p:nvSpPr>
            <p:cNvPr id="25670" name="Text Box 74"/>
            <p:cNvSpPr txBox="1">
              <a:spLocks noChangeArrowheads="1"/>
            </p:cNvSpPr>
            <p:nvPr/>
          </p:nvSpPr>
          <p:spPr bwMode="auto">
            <a:xfrm>
              <a:off x="2448" y="3120"/>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3</a:t>
              </a:r>
            </a:p>
          </p:txBody>
        </p:sp>
        <p:sp>
          <p:nvSpPr>
            <p:cNvPr id="25671" name="Text Box 75"/>
            <p:cNvSpPr txBox="1">
              <a:spLocks noChangeArrowheads="1"/>
            </p:cNvSpPr>
            <p:nvPr/>
          </p:nvSpPr>
          <p:spPr bwMode="auto">
            <a:xfrm>
              <a:off x="2448" y="3552"/>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5</a:t>
              </a:r>
            </a:p>
          </p:txBody>
        </p:sp>
        <p:sp>
          <p:nvSpPr>
            <p:cNvPr id="25672" name="Text Box 76"/>
            <p:cNvSpPr txBox="1">
              <a:spLocks noChangeArrowheads="1"/>
            </p:cNvSpPr>
            <p:nvPr/>
          </p:nvSpPr>
          <p:spPr bwMode="auto">
            <a:xfrm>
              <a:off x="2448" y="3360"/>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4</a:t>
              </a:r>
            </a:p>
          </p:txBody>
        </p:sp>
      </p:grpSp>
      <p:grpSp>
        <p:nvGrpSpPr>
          <p:cNvPr id="368728" name="Group 88"/>
          <p:cNvGrpSpPr>
            <a:grpSpLocks/>
          </p:cNvGrpSpPr>
          <p:nvPr/>
        </p:nvGrpSpPr>
        <p:grpSpPr bwMode="auto">
          <a:xfrm>
            <a:off x="8077200" y="1219200"/>
            <a:ext cx="931863" cy="412750"/>
            <a:chOff x="5088" y="768"/>
            <a:chExt cx="587" cy="260"/>
          </a:xfrm>
        </p:grpSpPr>
        <p:sp>
          <p:nvSpPr>
            <p:cNvPr id="25645" name="Line 71"/>
            <p:cNvSpPr>
              <a:spLocks noChangeShapeType="1"/>
            </p:cNvSpPr>
            <p:nvPr/>
          </p:nvSpPr>
          <p:spPr bwMode="auto">
            <a:xfrm>
              <a:off x="5088" y="912"/>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6" name="Text Box 72"/>
            <p:cNvSpPr txBox="1">
              <a:spLocks noChangeArrowheads="1"/>
            </p:cNvSpPr>
            <p:nvPr/>
          </p:nvSpPr>
          <p:spPr bwMode="auto">
            <a:xfrm>
              <a:off x="5136" y="76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1600" b="0">
                  <a:ea typeface="宋体" panose="02010600030101010101" pitchFamily="2" charset="-122"/>
                </a:rPr>
                <a:t>*</a:t>
              </a:r>
            </a:p>
          </p:txBody>
        </p:sp>
        <p:sp>
          <p:nvSpPr>
            <p:cNvPr id="25647" name="Text Box 82"/>
            <p:cNvSpPr txBox="1">
              <a:spLocks noChangeArrowheads="1"/>
            </p:cNvSpPr>
            <p:nvPr/>
          </p:nvSpPr>
          <p:spPr bwMode="auto">
            <a:xfrm>
              <a:off x="5472" y="816"/>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9</a:t>
              </a:r>
            </a:p>
          </p:txBody>
        </p:sp>
      </p:grpSp>
      <p:grpSp>
        <p:nvGrpSpPr>
          <p:cNvPr id="368727" name="Group 87"/>
          <p:cNvGrpSpPr>
            <a:grpSpLocks/>
          </p:cNvGrpSpPr>
          <p:nvPr/>
        </p:nvGrpSpPr>
        <p:grpSpPr bwMode="auto">
          <a:xfrm>
            <a:off x="5638800" y="1295400"/>
            <a:ext cx="1314450" cy="4375150"/>
            <a:chOff x="3552" y="816"/>
            <a:chExt cx="828" cy="2756"/>
          </a:xfrm>
        </p:grpSpPr>
        <p:sp>
          <p:nvSpPr>
            <p:cNvPr id="25616" name="Text Box 15"/>
            <p:cNvSpPr txBox="1">
              <a:spLocks noChangeArrowheads="1"/>
            </p:cNvSpPr>
            <p:nvPr/>
          </p:nvSpPr>
          <p:spPr bwMode="auto">
            <a:xfrm>
              <a:off x="4080" y="2256"/>
              <a:ext cx="3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12</a:t>
              </a:r>
              <a:r>
                <a:rPr lang="en-US" altLang="zh-CN" sz="1800" b="0">
                  <a:ea typeface="宋体" panose="02010600030101010101" pitchFamily="2" charset="-122"/>
                </a:rPr>
                <a:t>:</a:t>
              </a:r>
            </a:p>
          </p:txBody>
        </p:sp>
        <p:sp>
          <p:nvSpPr>
            <p:cNvPr id="25617" name="Text Box 16"/>
            <p:cNvSpPr txBox="1">
              <a:spLocks noChangeArrowheads="1"/>
            </p:cNvSpPr>
            <p:nvPr/>
          </p:nvSpPr>
          <p:spPr bwMode="auto">
            <a:xfrm>
              <a:off x="4080" y="816"/>
              <a:ext cx="3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11</a:t>
              </a:r>
              <a:r>
                <a:rPr lang="en-US" altLang="zh-CN" sz="1800" b="0">
                  <a:ea typeface="宋体" panose="02010600030101010101" pitchFamily="2" charset="-122"/>
                </a:rPr>
                <a:t>:</a:t>
              </a:r>
            </a:p>
          </p:txBody>
        </p:sp>
        <p:sp>
          <p:nvSpPr>
            <p:cNvPr id="25618" name="Text Box 19"/>
            <p:cNvSpPr txBox="1">
              <a:spLocks noChangeArrowheads="1"/>
            </p:cNvSpPr>
            <p:nvPr/>
          </p:nvSpPr>
          <p:spPr bwMode="auto">
            <a:xfrm>
              <a:off x="4080" y="3024"/>
              <a:ext cx="3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ea typeface="宋体" panose="02010600030101010101" pitchFamily="2" charset="-122"/>
                </a:rPr>
                <a:t>I</a:t>
              </a:r>
              <a:r>
                <a:rPr lang="en-US" altLang="zh-CN" sz="1800" b="0" baseline="-25000">
                  <a:ea typeface="宋体" panose="02010600030101010101" pitchFamily="2" charset="-122"/>
                </a:rPr>
                <a:t>13</a:t>
              </a:r>
              <a:r>
                <a:rPr lang="en-US" altLang="zh-CN" sz="1800" b="0">
                  <a:ea typeface="宋体" panose="02010600030101010101" pitchFamily="2" charset="-122"/>
                </a:rPr>
                <a:t>:</a:t>
              </a:r>
            </a:p>
          </p:txBody>
        </p:sp>
        <p:sp>
          <p:nvSpPr>
            <p:cNvPr id="25619" name="Line 37"/>
            <p:cNvSpPr>
              <a:spLocks noChangeShapeType="1"/>
            </p:cNvSpPr>
            <p:nvPr/>
          </p:nvSpPr>
          <p:spPr bwMode="auto">
            <a:xfrm flipV="1">
              <a:off x="3648" y="960"/>
              <a:ext cx="43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0" name="Line 38"/>
            <p:cNvSpPr>
              <a:spLocks noChangeShapeType="1"/>
            </p:cNvSpPr>
            <p:nvPr/>
          </p:nvSpPr>
          <p:spPr bwMode="auto">
            <a:xfrm>
              <a:off x="3648" y="1200"/>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1" name="Line 39"/>
            <p:cNvSpPr>
              <a:spLocks noChangeShapeType="1"/>
            </p:cNvSpPr>
            <p:nvPr/>
          </p:nvSpPr>
          <p:spPr bwMode="auto">
            <a:xfrm>
              <a:off x="3648" y="1200"/>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2" name="Line 40"/>
            <p:cNvSpPr>
              <a:spLocks noChangeShapeType="1"/>
            </p:cNvSpPr>
            <p:nvPr/>
          </p:nvSpPr>
          <p:spPr bwMode="auto">
            <a:xfrm>
              <a:off x="3648" y="1392"/>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3" name="Line 41"/>
            <p:cNvSpPr>
              <a:spLocks noChangeShapeType="1"/>
            </p:cNvSpPr>
            <p:nvPr/>
          </p:nvSpPr>
          <p:spPr bwMode="auto">
            <a:xfrm>
              <a:off x="3648" y="1584"/>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4" name="Line 42"/>
            <p:cNvSpPr>
              <a:spLocks noChangeShapeType="1"/>
            </p:cNvSpPr>
            <p:nvPr/>
          </p:nvSpPr>
          <p:spPr bwMode="auto">
            <a:xfrm>
              <a:off x="3648" y="2304"/>
              <a:ext cx="432"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5" name="Line 43"/>
            <p:cNvSpPr>
              <a:spLocks noChangeShapeType="1"/>
            </p:cNvSpPr>
            <p:nvPr/>
          </p:nvSpPr>
          <p:spPr bwMode="auto">
            <a:xfrm>
              <a:off x="3648" y="230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6" name="Line 44"/>
            <p:cNvSpPr>
              <a:spLocks noChangeShapeType="1"/>
            </p:cNvSpPr>
            <p:nvPr/>
          </p:nvSpPr>
          <p:spPr bwMode="auto">
            <a:xfrm>
              <a:off x="3648" y="2640"/>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7" name="Line 45"/>
            <p:cNvSpPr>
              <a:spLocks noChangeShapeType="1"/>
            </p:cNvSpPr>
            <p:nvPr/>
          </p:nvSpPr>
          <p:spPr bwMode="auto">
            <a:xfrm>
              <a:off x="3648" y="2832"/>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8" name="Line 46"/>
            <p:cNvSpPr>
              <a:spLocks noChangeShapeType="1"/>
            </p:cNvSpPr>
            <p:nvPr/>
          </p:nvSpPr>
          <p:spPr bwMode="auto">
            <a:xfrm>
              <a:off x="3552" y="3120"/>
              <a:ext cx="52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9" name="Line 47"/>
            <p:cNvSpPr>
              <a:spLocks noChangeShapeType="1"/>
            </p:cNvSpPr>
            <p:nvPr/>
          </p:nvSpPr>
          <p:spPr bwMode="auto">
            <a:xfrm>
              <a:off x="3552" y="3120"/>
              <a:ext cx="33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0" name="Text Box 52"/>
            <p:cNvSpPr txBox="1">
              <a:spLocks noChangeArrowheads="1"/>
            </p:cNvSpPr>
            <p:nvPr/>
          </p:nvSpPr>
          <p:spPr bwMode="auto">
            <a:xfrm>
              <a:off x="3696" y="912"/>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T</a:t>
              </a:r>
            </a:p>
          </p:txBody>
        </p:sp>
        <p:sp>
          <p:nvSpPr>
            <p:cNvPr id="25631" name="Text Box 55"/>
            <p:cNvSpPr txBox="1">
              <a:spLocks noChangeArrowheads="1"/>
            </p:cNvSpPr>
            <p:nvPr/>
          </p:nvSpPr>
          <p:spPr bwMode="auto">
            <a:xfrm>
              <a:off x="3792" y="1056"/>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F</a:t>
              </a:r>
            </a:p>
          </p:txBody>
        </p:sp>
        <p:sp>
          <p:nvSpPr>
            <p:cNvPr id="25632" name="Text Box 56"/>
            <p:cNvSpPr txBox="1">
              <a:spLocks noChangeArrowheads="1"/>
            </p:cNvSpPr>
            <p:nvPr/>
          </p:nvSpPr>
          <p:spPr bwMode="auto">
            <a:xfrm>
              <a:off x="3744" y="2160"/>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F</a:t>
              </a:r>
            </a:p>
          </p:txBody>
        </p:sp>
        <p:sp>
          <p:nvSpPr>
            <p:cNvPr id="25633" name="Text Box 59"/>
            <p:cNvSpPr txBox="1">
              <a:spLocks noChangeArrowheads="1"/>
            </p:cNvSpPr>
            <p:nvPr/>
          </p:nvSpPr>
          <p:spPr bwMode="auto">
            <a:xfrm>
              <a:off x="3744" y="1200"/>
              <a:ext cx="1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34" name="Text Box 62"/>
            <p:cNvSpPr txBox="1">
              <a:spLocks noChangeArrowheads="1"/>
            </p:cNvSpPr>
            <p:nvPr/>
          </p:nvSpPr>
          <p:spPr bwMode="auto">
            <a:xfrm>
              <a:off x="3744" y="2448"/>
              <a:ext cx="1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35" name="Text Box 63"/>
            <p:cNvSpPr txBox="1">
              <a:spLocks noChangeArrowheads="1"/>
            </p:cNvSpPr>
            <p:nvPr/>
          </p:nvSpPr>
          <p:spPr bwMode="auto">
            <a:xfrm>
              <a:off x="3744" y="2640"/>
              <a:ext cx="3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digit</a:t>
              </a:r>
            </a:p>
          </p:txBody>
        </p:sp>
        <p:sp>
          <p:nvSpPr>
            <p:cNvPr id="25636" name="Text Box 64"/>
            <p:cNvSpPr txBox="1">
              <a:spLocks noChangeArrowheads="1"/>
            </p:cNvSpPr>
            <p:nvPr/>
          </p:nvSpPr>
          <p:spPr bwMode="auto">
            <a:xfrm>
              <a:off x="3744" y="1392"/>
              <a:ext cx="3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digit</a:t>
              </a:r>
            </a:p>
          </p:txBody>
        </p:sp>
        <p:sp>
          <p:nvSpPr>
            <p:cNvPr id="25637" name="Text Box 67"/>
            <p:cNvSpPr txBox="1">
              <a:spLocks noChangeArrowheads="1"/>
            </p:cNvSpPr>
            <p:nvPr/>
          </p:nvSpPr>
          <p:spPr bwMode="auto">
            <a:xfrm>
              <a:off x="3744" y="2976"/>
              <a:ext cx="1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38" name="Text Box 70"/>
            <p:cNvSpPr txBox="1">
              <a:spLocks noChangeArrowheads="1"/>
            </p:cNvSpPr>
            <p:nvPr/>
          </p:nvSpPr>
          <p:spPr bwMode="auto">
            <a:xfrm>
              <a:off x="3696" y="3168"/>
              <a:ext cx="1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a:t>
              </a:r>
            </a:p>
          </p:txBody>
        </p:sp>
        <p:sp>
          <p:nvSpPr>
            <p:cNvPr id="25639" name="Text Box 77"/>
            <p:cNvSpPr txBox="1">
              <a:spLocks noChangeArrowheads="1"/>
            </p:cNvSpPr>
            <p:nvPr/>
          </p:nvSpPr>
          <p:spPr bwMode="auto">
            <a:xfrm>
              <a:off x="4032" y="2736"/>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6</a:t>
              </a:r>
            </a:p>
          </p:txBody>
        </p:sp>
        <p:sp>
          <p:nvSpPr>
            <p:cNvPr id="25640" name="Text Box 78"/>
            <p:cNvSpPr txBox="1">
              <a:spLocks noChangeArrowheads="1"/>
            </p:cNvSpPr>
            <p:nvPr/>
          </p:nvSpPr>
          <p:spPr bwMode="auto">
            <a:xfrm>
              <a:off x="4032" y="1488"/>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6</a:t>
              </a:r>
            </a:p>
          </p:txBody>
        </p:sp>
        <p:sp>
          <p:nvSpPr>
            <p:cNvPr id="25641" name="Text Box 79"/>
            <p:cNvSpPr txBox="1">
              <a:spLocks noChangeArrowheads="1"/>
            </p:cNvSpPr>
            <p:nvPr/>
          </p:nvSpPr>
          <p:spPr bwMode="auto">
            <a:xfrm>
              <a:off x="4032" y="1296"/>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5</a:t>
              </a:r>
            </a:p>
          </p:txBody>
        </p:sp>
        <p:sp>
          <p:nvSpPr>
            <p:cNvPr id="25642" name="Text Box 80"/>
            <p:cNvSpPr txBox="1">
              <a:spLocks noChangeArrowheads="1"/>
            </p:cNvSpPr>
            <p:nvPr/>
          </p:nvSpPr>
          <p:spPr bwMode="auto">
            <a:xfrm>
              <a:off x="4032" y="2544"/>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5</a:t>
              </a:r>
            </a:p>
          </p:txBody>
        </p:sp>
        <p:sp>
          <p:nvSpPr>
            <p:cNvPr id="25643" name="Text Box 81"/>
            <p:cNvSpPr txBox="1">
              <a:spLocks noChangeArrowheads="1"/>
            </p:cNvSpPr>
            <p:nvPr/>
          </p:nvSpPr>
          <p:spPr bwMode="auto">
            <a:xfrm>
              <a:off x="3888" y="3360"/>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8</a:t>
              </a:r>
            </a:p>
          </p:txBody>
        </p:sp>
        <p:sp>
          <p:nvSpPr>
            <p:cNvPr id="25644" name="Text Box 83"/>
            <p:cNvSpPr txBox="1">
              <a:spLocks noChangeArrowheads="1"/>
            </p:cNvSpPr>
            <p:nvPr/>
          </p:nvSpPr>
          <p:spPr bwMode="auto">
            <a:xfrm>
              <a:off x="4032" y="1104"/>
              <a:ext cx="2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600" b="0">
                  <a:ea typeface="宋体" panose="02010600030101010101" pitchFamily="2" charset="-122"/>
                </a:rPr>
                <a:t>I</a:t>
              </a:r>
              <a:r>
                <a:rPr lang="en-US" altLang="zh-CN" sz="1600" b="0" baseline="-25000">
                  <a:ea typeface="宋体" panose="02010600030101010101" pitchFamily="2" charset="-122"/>
                </a:rPr>
                <a:t>4</a:t>
              </a:r>
            </a:p>
          </p:txBody>
        </p:sp>
      </p:grpSp>
      <p:sp>
        <p:nvSpPr>
          <p:cNvPr id="368724" name="Text Box 84"/>
          <p:cNvSpPr txBox="1">
            <a:spLocks noChangeArrowheads="1"/>
          </p:cNvSpPr>
          <p:nvPr/>
        </p:nvSpPr>
        <p:spPr bwMode="auto">
          <a:xfrm>
            <a:off x="6172200" y="5867400"/>
            <a:ext cx="3124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2000">
                <a:solidFill>
                  <a:srgbClr val="CC0000"/>
                </a:solidFill>
                <a:ea typeface="宋体" panose="02010600030101010101" pitchFamily="2" charset="-122"/>
              </a:rPr>
              <a:t>Creating SLR table  later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500"/>
                                  </p:stCondLst>
                                  <p:childTnLst>
                                    <p:set>
                                      <p:cBhvr>
                                        <p:cTn id="6" dur="1" fill="hold">
                                          <p:stCondLst>
                                            <p:cond delay="0"/>
                                          </p:stCondLst>
                                        </p:cTn>
                                        <p:tgtEl>
                                          <p:spTgt spid="368725"/>
                                        </p:tgtEl>
                                        <p:attrNameLst>
                                          <p:attrName>style.visibility</p:attrName>
                                        </p:attrNameLst>
                                      </p:cBhvr>
                                      <p:to>
                                        <p:strVal val="visible"/>
                                      </p:to>
                                    </p:set>
                                    <p:animEffect transition="in" filter="wipe(left)">
                                      <p:cBhvr>
                                        <p:cTn id="7" dur="3000"/>
                                        <p:tgtEl>
                                          <p:spTgt spid="368725"/>
                                        </p:tgtEl>
                                      </p:cBhvr>
                                    </p:animEffect>
                                  </p:childTnLst>
                                </p:cTn>
                              </p:par>
                            </p:childTnLst>
                          </p:cTn>
                        </p:par>
                        <p:par>
                          <p:cTn id="8" fill="hold" nodeType="afterGroup">
                            <p:stCondLst>
                              <p:cond delay="3500"/>
                            </p:stCondLst>
                            <p:childTnLst>
                              <p:par>
                                <p:cTn id="9" presetID="22" presetClass="entr" presetSubtype="8" fill="hold" grpId="0" nodeType="afterEffect">
                                  <p:stCondLst>
                                    <p:cond delay="0"/>
                                  </p:stCondLst>
                                  <p:childTnLst>
                                    <p:set>
                                      <p:cBhvr>
                                        <p:cTn id="10" dur="1" fill="hold">
                                          <p:stCondLst>
                                            <p:cond delay="0"/>
                                          </p:stCondLst>
                                        </p:cTn>
                                        <p:tgtEl>
                                          <p:spTgt spid="368644"/>
                                        </p:tgtEl>
                                        <p:attrNameLst>
                                          <p:attrName>style.visibility</p:attrName>
                                        </p:attrNameLst>
                                      </p:cBhvr>
                                      <p:to>
                                        <p:strVal val="visible"/>
                                      </p:to>
                                    </p:set>
                                    <p:animEffect transition="in" filter="wipe(left)">
                                      <p:cBhvr>
                                        <p:cTn id="11" dur="3000"/>
                                        <p:tgtEl>
                                          <p:spTgt spid="368644"/>
                                        </p:tgtEl>
                                      </p:cBhvr>
                                    </p:animEffect>
                                  </p:childTnLst>
                                </p:cTn>
                              </p:par>
                            </p:childTnLst>
                          </p:cTn>
                        </p:par>
                        <p:par>
                          <p:cTn id="12" fill="hold" nodeType="afterGroup">
                            <p:stCondLst>
                              <p:cond delay="6500"/>
                            </p:stCondLst>
                            <p:childTnLst>
                              <p:par>
                                <p:cTn id="13" presetID="22" presetClass="entr" presetSubtype="8" fill="hold" nodeType="afterEffect">
                                  <p:stCondLst>
                                    <p:cond delay="0"/>
                                  </p:stCondLst>
                                  <p:childTnLst>
                                    <p:set>
                                      <p:cBhvr>
                                        <p:cTn id="14" dur="1" fill="hold">
                                          <p:stCondLst>
                                            <p:cond delay="0"/>
                                          </p:stCondLst>
                                        </p:cTn>
                                        <p:tgtEl>
                                          <p:spTgt spid="368726"/>
                                        </p:tgtEl>
                                        <p:attrNameLst>
                                          <p:attrName>style.visibility</p:attrName>
                                        </p:attrNameLst>
                                      </p:cBhvr>
                                      <p:to>
                                        <p:strVal val="visible"/>
                                      </p:to>
                                    </p:set>
                                    <p:animEffect transition="in" filter="wipe(left)">
                                      <p:cBhvr>
                                        <p:cTn id="15" dur="3000"/>
                                        <p:tgtEl>
                                          <p:spTgt spid="368726"/>
                                        </p:tgtEl>
                                      </p:cBhvr>
                                    </p:animEffect>
                                  </p:childTnLst>
                                </p:cTn>
                              </p:par>
                            </p:childTnLst>
                          </p:cTn>
                        </p:par>
                        <p:par>
                          <p:cTn id="16" fill="hold" nodeType="afterGroup">
                            <p:stCondLst>
                              <p:cond delay="9500"/>
                            </p:stCondLst>
                            <p:childTnLst>
                              <p:par>
                                <p:cTn id="17" presetID="22" presetClass="entr" presetSubtype="8" fill="hold" grpId="0" nodeType="afterEffect">
                                  <p:stCondLst>
                                    <p:cond delay="0"/>
                                  </p:stCondLst>
                                  <p:childTnLst>
                                    <p:set>
                                      <p:cBhvr>
                                        <p:cTn id="18" dur="1" fill="hold">
                                          <p:stCondLst>
                                            <p:cond delay="0"/>
                                          </p:stCondLst>
                                        </p:cTn>
                                        <p:tgtEl>
                                          <p:spTgt spid="368645"/>
                                        </p:tgtEl>
                                        <p:attrNameLst>
                                          <p:attrName>style.visibility</p:attrName>
                                        </p:attrNameLst>
                                      </p:cBhvr>
                                      <p:to>
                                        <p:strVal val="visible"/>
                                      </p:to>
                                    </p:set>
                                    <p:animEffect transition="in" filter="wipe(left)">
                                      <p:cBhvr>
                                        <p:cTn id="19" dur="3000"/>
                                        <p:tgtEl>
                                          <p:spTgt spid="368645"/>
                                        </p:tgtEl>
                                      </p:cBhvr>
                                    </p:animEffect>
                                  </p:childTnLst>
                                </p:cTn>
                              </p:par>
                            </p:childTnLst>
                          </p:cTn>
                        </p:par>
                        <p:par>
                          <p:cTn id="20" fill="hold" nodeType="afterGroup">
                            <p:stCondLst>
                              <p:cond delay="12500"/>
                            </p:stCondLst>
                            <p:childTnLst>
                              <p:par>
                                <p:cTn id="21" presetID="22" presetClass="entr" presetSubtype="8" fill="hold" nodeType="afterEffect">
                                  <p:stCondLst>
                                    <p:cond delay="0"/>
                                  </p:stCondLst>
                                  <p:childTnLst>
                                    <p:set>
                                      <p:cBhvr>
                                        <p:cTn id="22" dur="1" fill="hold">
                                          <p:stCondLst>
                                            <p:cond delay="0"/>
                                          </p:stCondLst>
                                        </p:cTn>
                                        <p:tgtEl>
                                          <p:spTgt spid="368727"/>
                                        </p:tgtEl>
                                        <p:attrNameLst>
                                          <p:attrName>style.visibility</p:attrName>
                                        </p:attrNameLst>
                                      </p:cBhvr>
                                      <p:to>
                                        <p:strVal val="visible"/>
                                      </p:to>
                                    </p:set>
                                    <p:animEffect transition="in" filter="wipe(left)">
                                      <p:cBhvr>
                                        <p:cTn id="23" dur="3000"/>
                                        <p:tgtEl>
                                          <p:spTgt spid="368727"/>
                                        </p:tgtEl>
                                      </p:cBhvr>
                                    </p:animEffect>
                                  </p:childTnLst>
                                </p:cTn>
                              </p:par>
                            </p:childTnLst>
                          </p:cTn>
                        </p:par>
                        <p:par>
                          <p:cTn id="24" fill="hold" nodeType="afterGroup">
                            <p:stCondLst>
                              <p:cond delay="15500"/>
                            </p:stCondLst>
                            <p:childTnLst>
                              <p:par>
                                <p:cTn id="25" presetID="22" presetClass="entr" presetSubtype="8" fill="hold" grpId="0" nodeType="afterEffect">
                                  <p:stCondLst>
                                    <p:cond delay="0"/>
                                  </p:stCondLst>
                                  <p:childTnLst>
                                    <p:set>
                                      <p:cBhvr>
                                        <p:cTn id="26" dur="1" fill="hold">
                                          <p:stCondLst>
                                            <p:cond delay="0"/>
                                          </p:stCondLst>
                                        </p:cTn>
                                        <p:tgtEl>
                                          <p:spTgt spid="368646"/>
                                        </p:tgtEl>
                                        <p:attrNameLst>
                                          <p:attrName>style.visibility</p:attrName>
                                        </p:attrNameLst>
                                      </p:cBhvr>
                                      <p:to>
                                        <p:strVal val="visible"/>
                                      </p:to>
                                    </p:set>
                                    <p:animEffect transition="in" filter="wipe(left)">
                                      <p:cBhvr>
                                        <p:cTn id="27" dur="3000"/>
                                        <p:tgtEl>
                                          <p:spTgt spid="368646"/>
                                        </p:tgtEl>
                                      </p:cBhvr>
                                    </p:animEffect>
                                  </p:childTnLst>
                                </p:cTn>
                              </p:par>
                            </p:childTnLst>
                          </p:cTn>
                        </p:par>
                        <p:par>
                          <p:cTn id="28" fill="hold" nodeType="afterGroup">
                            <p:stCondLst>
                              <p:cond delay="18500"/>
                            </p:stCondLst>
                            <p:childTnLst>
                              <p:par>
                                <p:cTn id="29" presetID="22" presetClass="entr" presetSubtype="8" fill="hold" nodeType="afterEffect">
                                  <p:stCondLst>
                                    <p:cond delay="0"/>
                                  </p:stCondLst>
                                  <p:childTnLst>
                                    <p:set>
                                      <p:cBhvr>
                                        <p:cTn id="30" dur="1" fill="hold">
                                          <p:stCondLst>
                                            <p:cond delay="0"/>
                                          </p:stCondLst>
                                        </p:cTn>
                                        <p:tgtEl>
                                          <p:spTgt spid="368728"/>
                                        </p:tgtEl>
                                        <p:attrNameLst>
                                          <p:attrName>style.visibility</p:attrName>
                                        </p:attrNameLst>
                                      </p:cBhvr>
                                      <p:to>
                                        <p:strVal val="visible"/>
                                      </p:to>
                                    </p:set>
                                    <p:animEffect transition="in" filter="wipe(left)">
                                      <p:cBhvr>
                                        <p:cTn id="31" dur="3000"/>
                                        <p:tgtEl>
                                          <p:spTgt spid="368728"/>
                                        </p:tgtEl>
                                      </p:cBhvr>
                                    </p:animEffect>
                                  </p:childTnLst>
                                </p:cTn>
                              </p:par>
                            </p:childTnLst>
                          </p:cTn>
                        </p:par>
                        <p:par>
                          <p:cTn id="32" fill="hold" nodeType="afterGroup">
                            <p:stCondLst>
                              <p:cond delay="21500"/>
                            </p:stCondLst>
                            <p:childTnLst>
                              <p:par>
                                <p:cTn id="33" presetID="22" presetClass="entr" presetSubtype="8" fill="hold" grpId="0" nodeType="afterEffect">
                                  <p:stCondLst>
                                    <p:cond delay="0"/>
                                  </p:stCondLst>
                                  <p:childTnLst>
                                    <p:set>
                                      <p:cBhvr>
                                        <p:cTn id="34" dur="1" fill="hold">
                                          <p:stCondLst>
                                            <p:cond delay="0"/>
                                          </p:stCondLst>
                                        </p:cTn>
                                        <p:tgtEl>
                                          <p:spTgt spid="368724"/>
                                        </p:tgtEl>
                                        <p:attrNameLst>
                                          <p:attrName>style.visibility</p:attrName>
                                        </p:attrNameLst>
                                      </p:cBhvr>
                                      <p:to>
                                        <p:strVal val="visible"/>
                                      </p:to>
                                    </p:set>
                                    <p:animEffect transition="in" filter="wipe(left)">
                                      <p:cBhvr>
                                        <p:cTn id="35" dur="3000"/>
                                        <p:tgtEl>
                                          <p:spTgt spid="368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4" grpId="0"/>
      <p:bldP spid="368645" grpId="0"/>
      <p:bldP spid="368646" grpId="0"/>
      <p:bldP spid="3687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662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662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54E9D78F-DEFF-499F-9972-68D75AD083A5}" type="slidenum">
              <a:rPr lang="zh-CN" altLang="en-US" sz="800"/>
              <a:pPr>
                <a:spcBef>
                  <a:spcPct val="0"/>
                </a:spcBef>
                <a:buFontTx/>
                <a:buNone/>
              </a:pPr>
              <a:t>25</a:t>
            </a:fld>
            <a:endParaRPr lang="en-US" altLang="zh-CN" sz="800"/>
          </a:p>
        </p:txBody>
      </p:sp>
      <p:sp>
        <p:nvSpPr>
          <p:cNvPr id="26629" name="Rectangle 202"/>
          <p:cNvSpPr>
            <a:spLocks noGrp="1" noChangeArrowheads="1"/>
          </p:cNvSpPr>
          <p:nvPr>
            <p:ph type="title"/>
          </p:nvPr>
        </p:nvSpPr>
        <p:spPr>
          <a:xfrm>
            <a:off x="1143000" y="304800"/>
            <a:ext cx="7924800" cy="381000"/>
          </a:xfrm>
        </p:spPr>
        <p:txBody>
          <a:bodyPr/>
          <a:lstStyle/>
          <a:p>
            <a:r>
              <a:rPr lang="en-US" altLang="zh-CN" sz="2400" smtClean="0">
                <a:ea typeface="宋体" panose="02010600030101010101" pitchFamily="2" charset="-122"/>
              </a:rPr>
              <a:t>SLR(1)</a:t>
            </a:r>
            <a:r>
              <a:rPr lang="zh-CN" altLang="en-US" sz="2400" smtClean="0">
                <a:ea typeface="宋体" panose="02010600030101010101" pitchFamily="2" charset="-122"/>
              </a:rPr>
              <a:t> </a:t>
            </a:r>
            <a:r>
              <a:rPr lang="en-US" altLang="zh-CN" sz="2400" smtClean="0">
                <a:ea typeface="宋体" panose="02010600030101010101" pitchFamily="2" charset="-122"/>
              </a:rPr>
              <a:t>parsing table</a:t>
            </a:r>
          </a:p>
        </p:txBody>
      </p:sp>
      <p:graphicFrame>
        <p:nvGraphicFramePr>
          <p:cNvPr id="414125" name="Group 429"/>
          <p:cNvGraphicFramePr>
            <a:graphicFrameLocks noGrp="1"/>
          </p:cNvGraphicFramePr>
          <p:nvPr>
            <p:ph idx="1"/>
          </p:nvPr>
        </p:nvGraphicFramePr>
        <p:xfrm>
          <a:off x="838200" y="838200"/>
          <a:ext cx="8229600" cy="5389563"/>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gridCol w="685800">
                  <a:extLst>
                    <a:ext uri="{9D8B030D-6E8A-4147-A177-3AD203B41FA5}">
                      <a16:colId xmlns:a16="http://schemas.microsoft.com/office/drawing/2014/main" val="20010"/>
                    </a:ext>
                  </a:extLst>
                </a:gridCol>
                <a:gridCol w="685800">
                  <a:extLst>
                    <a:ext uri="{9D8B030D-6E8A-4147-A177-3AD203B41FA5}">
                      <a16:colId xmlns:a16="http://schemas.microsoft.com/office/drawing/2014/main" val="20011"/>
                    </a:ext>
                  </a:extLst>
                </a:gridCol>
              </a:tblGrid>
              <a:tr h="314325">
                <a:tc row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states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gridSpan="7">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Action table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Goto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143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digit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660066"/>
                          </a:solidFill>
                          <a:effectLst/>
                          <a:latin typeface="Times New Roman" pitchFamily="18" charset="0"/>
                          <a:ea typeface="宋体" pitchFamily="2" charset="-122"/>
                        </a:rPr>
                        <a:t>acc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rgbClr val="CC0000"/>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315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rgbClr val="CC0000"/>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rgbClr val="CC0000"/>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3603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S9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4"/>
                  </a:ext>
                </a:extLst>
              </a:tr>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CC0000"/>
                          </a:solidFill>
                          <a:effectLst/>
                          <a:latin typeface="Times New Roman" pitchFamily="18" charset="0"/>
                          <a:ea typeface="宋体" pitchFamily="2" charset="-122"/>
                        </a:rPr>
                        <a:t>R6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414125"/>
                                        </p:tgtEl>
                                        <p:attrNameLst>
                                          <p:attrName>style.visibility</p:attrName>
                                        </p:attrNameLst>
                                      </p:cBhvr>
                                      <p:to>
                                        <p:strVal val="visible"/>
                                      </p:to>
                                    </p:set>
                                    <p:animEffect transition="in" filter="diamond(out)">
                                      <p:cBhvr>
                                        <p:cTn id="7" dur="2000"/>
                                        <p:tgtEl>
                                          <p:spTgt spid="414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765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765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45C35321-2165-4489-B21E-1C8C65A7CB51}" type="slidenum">
              <a:rPr lang="zh-CN" altLang="en-US" sz="800"/>
              <a:pPr>
                <a:spcBef>
                  <a:spcPct val="0"/>
                </a:spcBef>
                <a:buFontTx/>
                <a:buNone/>
              </a:pPr>
              <a:t>26</a:t>
            </a:fld>
            <a:endParaRPr lang="en-US" altLang="zh-CN" sz="800"/>
          </a:p>
        </p:txBody>
      </p:sp>
      <p:sp>
        <p:nvSpPr>
          <p:cNvPr id="27653" name="Rectangle 2"/>
          <p:cNvSpPr>
            <a:spLocks noGrp="1" noChangeArrowheads="1"/>
          </p:cNvSpPr>
          <p:nvPr>
            <p:ph type="title"/>
          </p:nvPr>
        </p:nvSpPr>
        <p:spPr>
          <a:xfrm>
            <a:off x="381000" y="152400"/>
            <a:ext cx="9372600" cy="381000"/>
          </a:xfrm>
        </p:spPr>
        <p:txBody>
          <a:bodyPr/>
          <a:lstStyle/>
          <a:p>
            <a:r>
              <a:rPr lang="en-US" altLang="zh-CN" sz="2800" smtClean="0">
                <a:ea typeface="宋体" panose="02010600030101010101" pitchFamily="2" charset="-122"/>
              </a:rPr>
              <a:t>Bottom-Up Evaluation – Example 5.10</a:t>
            </a:r>
          </a:p>
        </p:txBody>
      </p:sp>
      <p:sp>
        <p:nvSpPr>
          <p:cNvPr id="369667" name="Rectangle 3"/>
          <p:cNvSpPr>
            <a:spLocks noGrp="1" noChangeArrowheads="1"/>
          </p:cNvSpPr>
          <p:nvPr>
            <p:ph type="body" idx="1"/>
          </p:nvPr>
        </p:nvSpPr>
        <p:spPr>
          <a:xfrm>
            <a:off x="381000" y="838200"/>
            <a:ext cx="9296400" cy="5486400"/>
          </a:xfrm>
        </p:spPr>
        <p:txBody>
          <a:bodyPr/>
          <a:lstStyle/>
          <a:p>
            <a:pPr>
              <a:lnSpc>
                <a:spcPct val="80000"/>
              </a:lnSpc>
            </a:pPr>
            <a:r>
              <a:rPr lang="en-US" altLang="zh-CN" sz="2000" smtClean="0">
                <a:ea typeface="宋体" panose="02010600030101010101" pitchFamily="2" charset="-122"/>
                <a:cs typeface="Times New Roman" panose="02020603050405020304" pitchFamily="18" charset="0"/>
              </a:rPr>
              <a:t>At each shift of </a:t>
            </a:r>
            <a:r>
              <a:rPr lang="en-US" altLang="zh-CN" sz="2000" b="1" smtClean="0">
                <a:ea typeface="宋体" panose="02010600030101010101" pitchFamily="2" charset="-122"/>
                <a:cs typeface="Times New Roman" panose="02020603050405020304" pitchFamily="18" charset="0"/>
              </a:rPr>
              <a:t>digit</a:t>
            </a:r>
            <a:r>
              <a:rPr lang="en-US" altLang="zh-CN" sz="2000" smtClean="0">
                <a:ea typeface="宋体" panose="02010600030101010101" pitchFamily="2" charset="-122"/>
                <a:cs typeface="Times New Roman" panose="02020603050405020304" pitchFamily="18" charset="0"/>
              </a:rPr>
              <a:t>, we also push </a:t>
            </a:r>
            <a:r>
              <a:rPr lang="en-US" altLang="zh-CN" sz="2000" b="1" smtClean="0">
                <a:ea typeface="宋体" panose="02010600030101010101" pitchFamily="2" charset="-122"/>
                <a:cs typeface="Times New Roman" panose="02020603050405020304" pitchFamily="18" charset="0"/>
              </a:rPr>
              <a:t>digit.lexval</a:t>
            </a:r>
            <a:r>
              <a:rPr lang="en-US" altLang="zh-CN" sz="2000" smtClean="0">
                <a:ea typeface="宋体" panose="02010600030101010101" pitchFamily="2" charset="-122"/>
                <a:cs typeface="Times New Roman" panose="02020603050405020304" pitchFamily="18" charset="0"/>
              </a:rPr>
              <a:t> into </a:t>
            </a:r>
            <a:r>
              <a:rPr lang="en-US" altLang="zh-CN" sz="2000" i="1" smtClean="0">
                <a:ea typeface="宋体" panose="02010600030101010101" pitchFamily="2" charset="-122"/>
                <a:cs typeface="Times New Roman" panose="02020603050405020304" pitchFamily="18" charset="0"/>
              </a:rPr>
              <a:t>val-stack</a:t>
            </a:r>
            <a:r>
              <a:rPr lang="en-US" altLang="zh-CN" sz="2000" smtClean="0">
                <a:ea typeface="宋体" panose="02010600030101010101" pitchFamily="2" charset="-122"/>
                <a:cs typeface="Times New Roman" panose="02020603050405020304" pitchFamily="18" charset="0"/>
              </a:rPr>
              <a:t>.</a:t>
            </a:r>
            <a:endParaRPr lang="en-US" altLang="zh-CN" sz="1800" smtClean="0">
              <a:ea typeface="宋体" panose="02010600030101010101" pitchFamily="2" charset="-122"/>
              <a:cs typeface="Times New Roman" panose="02020603050405020304" pitchFamily="18" charset="0"/>
            </a:endParaRPr>
          </a:p>
          <a:p>
            <a:pPr>
              <a:lnSpc>
                <a:spcPts val="2000"/>
              </a:lnSpc>
              <a:buFontTx/>
              <a:buNone/>
            </a:pPr>
            <a:r>
              <a:rPr lang="en-US" altLang="zh-CN" sz="1800" u="sng" smtClean="0">
                <a:ea typeface="宋体" panose="02010600030101010101" pitchFamily="2" charset="-122"/>
                <a:cs typeface="Times New Roman" panose="02020603050405020304" pitchFamily="18" charset="0"/>
              </a:rPr>
              <a:t>stack</a:t>
            </a:r>
            <a:r>
              <a:rPr lang="en-US" altLang="zh-CN" sz="1800" smtClean="0">
                <a:ea typeface="宋体" panose="02010600030101010101" pitchFamily="2" charset="-122"/>
                <a:cs typeface="Times New Roman" panose="02020603050405020304" pitchFamily="18" charset="0"/>
              </a:rPr>
              <a:t>		</a:t>
            </a:r>
            <a:r>
              <a:rPr lang="en-US" altLang="zh-CN" sz="1800" u="sng" smtClean="0">
                <a:ea typeface="宋体" panose="02010600030101010101" pitchFamily="2" charset="-122"/>
                <a:cs typeface="Times New Roman" panose="02020603050405020304" pitchFamily="18" charset="0"/>
              </a:rPr>
              <a:t>val-stack</a:t>
            </a:r>
            <a:r>
              <a:rPr lang="en-US" altLang="zh-CN" sz="1800" smtClean="0">
                <a:ea typeface="宋体" panose="02010600030101010101" pitchFamily="2" charset="-122"/>
                <a:cs typeface="Times New Roman" panose="02020603050405020304" pitchFamily="18" charset="0"/>
              </a:rPr>
              <a:t>		</a:t>
            </a:r>
            <a:r>
              <a:rPr lang="en-US" altLang="zh-CN" sz="1800" u="sng" smtClean="0">
                <a:ea typeface="宋体" panose="02010600030101010101" pitchFamily="2" charset="-122"/>
                <a:cs typeface="Times New Roman" panose="02020603050405020304" pitchFamily="18" charset="0"/>
              </a:rPr>
              <a:t>input</a:t>
            </a:r>
            <a:r>
              <a:rPr lang="en-US" altLang="zh-CN" sz="1800" smtClean="0">
                <a:ea typeface="宋体" panose="02010600030101010101" pitchFamily="2" charset="-122"/>
                <a:cs typeface="Times New Roman" panose="02020603050405020304" pitchFamily="18" charset="0"/>
              </a:rPr>
              <a:t>	</a:t>
            </a:r>
            <a:r>
              <a:rPr lang="en-US" altLang="zh-CN" sz="1800" u="sng" smtClean="0">
                <a:ea typeface="宋体" panose="02010600030101010101" pitchFamily="2" charset="-122"/>
                <a:cs typeface="Times New Roman" panose="02020603050405020304" pitchFamily="18" charset="0"/>
              </a:rPr>
              <a:t>action</a:t>
            </a:r>
            <a:r>
              <a:rPr lang="en-US" altLang="zh-CN" sz="1800" smtClean="0">
                <a:ea typeface="宋体" panose="02010600030101010101" pitchFamily="2" charset="-122"/>
                <a:cs typeface="Times New Roman" panose="02020603050405020304" pitchFamily="18" charset="0"/>
              </a:rPr>
              <a:t>	</a:t>
            </a:r>
            <a:r>
              <a:rPr lang="en-US" altLang="zh-CN" sz="1800" u="sng" smtClean="0">
                <a:ea typeface="宋体" panose="02010600030101010101" pitchFamily="2" charset="-122"/>
                <a:cs typeface="Times New Roman" panose="02020603050405020304" pitchFamily="18" charset="0"/>
              </a:rPr>
              <a:t>semantic rule</a:t>
            </a:r>
          </a:p>
          <a:p>
            <a:pPr>
              <a:lnSpc>
                <a:spcPts val="1800"/>
              </a:lnSpc>
              <a:buFontTx/>
              <a:buNone/>
            </a:pPr>
            <a:r>
              <a:rPr lang="en-US" altLang="zh-CN" sz="1600" smtClean="0">
                <a:ea typeface="宋体" panose="02010600030101010101" pitchFamily="2" charset="-122"/>
                <a:cs typeface="Times New Roman" panose="02020603050405020304" pitchFamily="18" charset="0"/>
              </a:rPr>
              <a:t>0					5+3*4r	s6	digit.lexval(5) into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0digit6		5		+3*4r	F→digit	F.val=d.lexval – do nothing</a:t>
            </a:r>
          </a:p>
          <a:p>
            <a:pPr>
              <a:lnSpc>
                <a:spcPts val="1800"/>
              </a:lnSpc>
              <a:buFontTx/>
              <a:buNone/>
            </a:pPr>
            <a:r>
              <a:rPr lang="en-US" altLang="zh-CN" sz="1600" smtClean="0">
                <a:ea typeface="宋体" panose="02010600030101010101" pitchFamily="2" charset="-122"/>
                <a:cs typeface="Times New Roman" panose="02020603050405020304" pitchFamily="18" charset="0"/>
              </a:rPr>
              <a:t>0F4			5		+3*4r	T→F	T.val=F.val – do nothing</a:t>
            </a:r>
          </a:p>
          <a:p>
            <a:pPr>
              <a:lnSpc>
                <a:spcPts val="1800"/>
              </a:lnSpc>
              <a:buFontTx/>
              <a:buNone/>
            </a:pPr>
            <a:r>
              <a:rPr lang="en-US" altLang="zh-CN" sz="1600" smtClean="0">
                <a:ea typeface="宋体" panose="02010600030101010101" pitchFamily="2" charset="-122"/>
                <a:cs typeface="Times New Roman" panose="02020603050405020304" pitchFamily="18" charset="0"/>
              </a:rPr>
              <a:t>0T3			5		+3*4r	E→T	E.val=T.val – do nothing</a:t>
            </a:r>
          </a:p>
          <a:p>
            <a:pPr>
              <a:lnSpc>
                <a:spcPts val="1800"/>
              </a:lnSpc>
              <a:buFontTx/>
              <a:buNone/>
            </a:pPr>
            <a:r>
              <a:rPr lang="en-US" altLang="zh-CN" sz="1600" smtClean="0">
                <a:ea typeface="宋体" panose="02010600030101010101" pitchFamily="2" charset="-122"/>
                <a:cs typeface="Times New Roman" panose="02020603050405020304" pitchFamily="18" charset="0"/>
              </a:rPr>
              <a:t>0E2			5		+3*4r	s8	push empty slot into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0E2+8		5-		3*4r	s6	digit.lexval(3) into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0E2+8digit6	5-3		*4r	F→digit	F.val=digit.lexval – do nothing</a:t>
            </a:r>
          </a:p>
          <a:p>
            <a:pPr>
              <a:lnSpc>
                <a:spcPts val="1800"/>
              </a:lnSpc>
              <a:buFontTx/>
              <a:buNone/>
            </a:pPr>
            <a:r>
              <a:rPr lang="en-US" altLang="zh-CN" sz="1600" smtClean="0">
                <a:ea typeface="宋体" panose="02010600030101010101" pitchFamily="2" charset="-122"/>
                <a:cs typeface="Times New Roman" panose="02020603050405020304" pitchFamily="18" charset="0"/>
              </a:rPr>
              <a:t>0E2+8F4		5-3		*4r	T→F	T.val=F.val – do nothing</a:t>
            </a:r>
          </a:p>
          <a:p>
            <a:pPr>
              <a:lnSpc>
                <a:spcPts val="1800"/>
              </a:lnSpc>
              <a:buFontTx/>
              <a:buNone/>
            </a:pPr>
            <a:r>
              <a:rPr lang="en-US" altLang="zh-CN" sz="1600" smtClean="0">
                <a:ea typeface="宋体" panose="02010600030101010101" pitchFamily="2" charset="-122"/>
                <a:cs typeface="Times New Roman" panose="02020603050405020304" pitchFamily="18" charset="0"/>
              </a:rPr>
              <a:t>0E2+8T11		5-3		*4r	s9	push empty slot into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0E2+8T11*9	5-3-		4r	s6	digit.lexval(4) into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0E2+8T11*9digit6	5-3-4		r	F→digit 	F.val=digit.lexval – do nothing 	</a:t>
            </a:r>
          </a:p>
          <a:p>
            <a:pPr>
              <a:lnSpc>
                <a:spcPts val="1800"/>
              </a:lnSpc>
              <a:buFontTx/>
              <a:buNone/>
            </a:pPr>
            <a:r>
              <a:rPr lang="en-US" altLang="zh-CN" sz="1600" smtClean="0">
                <a:ea typeface="宋体" panose="02010600030101010101" pitchFamily="2" charset="-122"/>
                <a:cs typeface="Times New Roman" panose="02020603050405020304" pitchFamily="18" charset="0"/>
              </a:rPr>
              <a:t>0E2+8T11*9F12	5-3-4		r	T→T*F	T.val=T</a:t>
            </a:r>
            <a:r>
              <a:rPr lang="en-US" altLang="zh-CN" sz="1600" baseline="-25000" smtClean="0">
                <a:ea typeface="宋体" panose="02010600030101010101" pitchFamily="2" charset="-122"/>
                <a:cs typeface="Times New Roman" panose="02020603050405020304" pitchFamily="18" charset="0"/>
              </a:rPr>
              <a:t>1</a:t>
            </a:r>
            <a:r>
              <a:rPr lang="en-US" altLang="zh-CN" sz="1600" smtClean="0">
                <a:ea typeface="宋体" panose="02010600030101010101" pitchFamily="2" charset="-122"/>
                <a:cs typeface="Times New Roman" panose="02020603050405020304" pitchFamily="18" charset="0"/>
              </a:rPr>
              <a:t>.val*F.val </a:t>
            </a:r>
          </a:p>
          <a:p>
            <a:pPr>
              <a:lnSpc>
                <a:spcPts val="1800"/>
              </a:lnSpc>
              <a:buFontTx/>
              <a:buNone/>
            </a:pPr>
            <a:r>
              <a:rPr lang="en-US" altLang="zh-CN" sz="1600" smtClean="0">
                <a:ea typeface="宋体" panose="02010600030101010101" pitchFamily="2" charset="-122"/>
                <a:cs typeface="Times New Roman" panose="02020603050405020304" pitchFamily="18" charset="0"/>
              </a:rPr>
              <a:t>0E2+8T11		5-12		r	E→E+T	E.val=E</a:t>
            </a:r>
            <a:r>
              <a:rPr lang="en-US" altLang="zh-CN" sz="1600" baseline="-25000" smtClean="0">
                <a:ea typeface="宋体" panose="02010600030101010101" pitchFamily="2" charset="-122"/>
                <a:cs typeface="Times New Roman" panose="02020603050405020304" pitchFamily="18" charset="0"/>
              </a:rPr>
              <a:t>1</a:t>
            </a:r>
            <a:r>
              <a:rPr lang="en-US" altLang="zh-CN" sz="1600" smtClean="0">
                <a:ea typeface="宋体" panose="02010600030101010101" pitchFamily="2" charset="-122"/>
                <a:cs typeface="Times New Roman" panose="02020603050405020304" pitchFamily="18" charset="0"/>
              </a:rPr>
              <a:t>.val+T.val </a:t>
            </a:r>
          </a:p>
          <a:p>
            <a:pPr>
              <a:lnSpc>
                <a:spcPts val="1800"/>
              </a:lnSpc>
              <a:buFontTx/>
              <a:buNone/>
            </a:pPr>
            <a:r>
              <a:rPr lang="en-US" altLang="zh-CN" sz="1600" smtClean="0">
                <a:ea typeface="宋体" panose="02010600030101010101" pitchFamily="2" charset="-122"/>
                <a:cs typeface="Times New Roman" panose="02020603050405020304" pitchFamily="18" charset="0"/>
              </a:rPr>
              <a:t>0E2			17		r	s7	push empty slot into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0E2r7		17-		$	L→Er	print(17), pop empty slot from val-stack</a:t>
            </a:r>
          </a:p>
          <a:p>
            <a:pPr>
              <a:lnSpc>
                <a:spcPts val="1800"/>
              </a:lnSpc>
              <a:buFontTx/>
              <a:buNone/>
            </a:pPr>
            <a:r>
              <a:rPr lang="en-US" altLang="zh-CN" sz="1600" smtClean="0">
                <a:ea typeface="宋体" panose="02010600030101010101" pitchFamily="2" charset="-122"/>
                <a:cs typeface="Times New Roman" panose="02020603050405020304" pitchFamily="18" charset="0"/>
              </a:rPr>
              <a:t>0L1			17		$	acc</a:t>
            </a:r>
            <a:endParaRPr lang="en-US" altLang="zh-CN" sz="2000" smtClean="0">
              <a:ea typeface="宋体" panose="02010600030101010101" pitchFamily="2" charset="-122"/>
              <a:cs typeface="Times New Roman" panose="02020603050405020304" pitchFamily="18" charset="0"/>
            </a:endParaRPr>
          </a:p>
          <a:p>
            <a:pPr>
              <a:lnSpc>
                <a:spcPts val="2000"/>
              </a:lnSpc>
              <a:buFontTx/>
              <a:buNone/>
            </a:pPr>
            <a:r>
              <a:rPr lang="en-US" altLang="zh-CN" sz="1600" smtClean="0">
                <a:ea typeface="宋体" panose="02010600030101010101" pitchFamily="2" charset="-122"/>
                <a:cs typeface="Times New Roman" panose="02020603050405020304" pitchFamily="18" charset="0"/>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9667">
                                            <p:txEl>
                                              <p:pRg st="3" end="3"/>
                                            </p:txEl>
                                          </p:spTgt>
                                        </p:tgtEl>
                                        <p:attrNameLst>
                                          <p:attrName>style.visibility</p:attrName>
                                        </p:attrNameLst>
                                      </p:cBhvr>
                                      <p:to>
                                        <p:strVal val="visible"/>
                                      </p:to>
                                    </p:set>
                                    <p:anim calcmode="lin" valueType="num">
                                      <p:cBhvr additive="base">
                                        <p:cTn id="7" dur="1000" fill="hold"/>
                                        <p:tgtEl>
                                          <p:spTgt spid="369667">
                                            <p:txEl>
                                              <p:pRg st="3" end="3"/>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696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9667">
                                            <p:txEl>
                                              <p:pRg st="4" end="4"/>
                                            </p:txEl>
                                          </p:spTgt>
                                        </p:tgtEl>
                                        <p:attrNameLst>
                                          <p:attrName>style.visibility</p:attrName>
                                        </p:attrNameLst>
                                      </p:cBhvr>
                                      <p:to>
                                        <p:strVal val="visible"/>
                                      </p:to>
                                    </p:set>
                                    <p:anim calcmode="lin" valueType="num">
                                      <p:cBhvr additive="base">
                                        <p:cTn id="13" dur="1000" fill="hold"/>
                                        <p:tgtEl>
                                          <p:spTgt spid="369667">
                                            <p:txEl>
                                              <p:pRg st="4" end="4"/>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696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9667">
                                            <p:txEl>
                                              <p:pRg st="5" end="5"/>
                                            </p:txEl>
                                          </p:spTgt>
                                        </p:tgtEl>
                                        <p:attrNameLst>
                                          <p:attrName>style.visibility</p:attrName>
                                        </p:attrNameLst>
                                      </p:cBhvr>
                                      <p:to>
                                        <p:strVal val="visible"/>
                                      </p:to>
                                    </p:set>
                                    <p:anim calcmode="lin" valueType="num">
                                      <p:cBhvr additive="base">
                                        <p:cTn id="19" dur="1000" fill="hold"/>
                                        <p:tgtEl>
                                          <p:spTgt spid="369667">
                                            <p:txEl>
                                              <p:pRg st="5" end="5"/>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696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9667">
                                            <p:txEl>
                                              <p:pRg st="6" end="6"/>
                                            </p:txEl>
                                          </p:spTgt>
                                        </p:tgtEl>
                                        <p:attrNameLst>
                                          <p:attrName>style.visibility</p:attrName>
                                        </p:attrNameLst>
                                      </p:cBhvr>
                                      <p:to>
                                        <p:strVal val="visible"/>
                                      </p:to>
                                    </p:set>
                                    <p:anim calcmode="lin" valueType="num">
                                      <p:cBhvr additive="base">
                                        <p:cTn id="25" dur="1000" fill="hold"/>
                                        <p:tgtEl>
                                          <p:spTgt spid="369667">
                                            <p:txEl>
                                              <p:pRg st="6" end="6"/>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696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69667">
                                            <p:txEl>
                                              <p:pRg st="7" end="7"/>
                                            </p:txEl>
                                          </p:spTgt>
                                        </p:tgtEl>
                                        <p:attrNameLst>
                                          <p:attrName>style.visibility</p:attrName>
                                        </p:attrNameLst>
                                      </p:cBhvr>
                                      <p:to>
                                        <p:strVal val="visible"/>
                                      </p:to>
                                    </p:set>
                                    <p:anim calcmode="lin" valueType="num">
                                      <p:cBhvr additive="base">
                                        <p:cTn id="31" dur="1000" fill="hold"/>
                                        <p:tgtEl>
                                          <p:spTgt spid="369667">
                                            <p:txEl>
                                              <p:pRg st="7" end="7"/>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696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69667">
                                            <p:txEl>
                                              <p:pRg st="8" end="8"/>
                                            </p:txEl>
                                          </p:spTgt>
                                        </p:tgtEl>
                                        <p:attrNameLst>
                                          <p:attrName>style.visibility</p:attrName>
                                        </p:attrNameLst>
                                      </p:cBhvr>
                                      <p:to>
                                        <p:strVal val="visible"/>
                                      </p:to>
                                    </p:set>
                                    <p:anim calcmode="lin" valueType="num">
                                      <p:cBhvr additive="base">
                                        <p:cTn id="37" dur="1000" fill="hold"/>
                                        <p:tgtEl>
                                          <p:spTgt spid="369667">
                                            <p:txEl>
                                              <p:pRg st="8" end="8"/>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6966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69667">
                                            <p:txEl>
                                              <p:pRg st="9" end="9"/>
                                            </p:txEl>
                                          </p:spTgt>
                                        </p:tgtEl>
                                        <p:attrNameLst>
                                          <p:attrName>style.visibility</p:attrName>
                                        </p:attrNameLst>
                                      </p:cBhvr>
                                      <p:to>
                                        <p:strVal val="visible"/>
                                      </p:to>
                                    </p:set>
                                    <p:anim calcmode="lin" valueType="num">
                                      <p:cBhvr additive="base">
                                        <p:cTn id="43" dur="1000" fill="hold"/>
                                        <p:tgtEl>
                                          <p:spTgt spid="369667">
                                            <p:txEl>
                                              <p:pRg st="9" end="9"/>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6966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369667">
                                            <p:txEl>
                                              <p:pRg st="10" end="10"/>
                                            </p:txEl>
                                          </p:spTgt>
                                        </p:tgtEl>
                                        <p:attrNameLst>
                                          <p:attrName>style.visibility</p:attrName>
                                        </p:attrNameLst>
                                      </p:cBhvr>
                                      <p:to>
                                        <p:strVal val="visible"/>
                                      </p:to>
                                    </p:set>
                                    <p:anim calcmode="lin" valueType="num">
                                      <p:cBhvr additive="base">
                                        <p:cTn id="49" dur="1000" fill="hold"/>
                                        <p:tgtEl>
                                          <p:spTgt spid="369667">
                                            <p:txEl>
                                              <p:pRg st="10" end="10"/>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6966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369667">
                                            <p:txEl>
                                              <p:pRg st="11" end="11"/>
                                            </p:txEl>
                                          </p:spTgt>
                                        </p:tgtEl>
                                        <p:attrNameLst>
                                          <p:attrName>style.visibility</p:attrName>
                                        </p:attrNameLst>
                                      </p:cBhvr>
                                      <p:to>
                                        <p:strVal val="visible"/>
                                      </p:to>
                                    </p:set>
                                    <p:anim calcmode="lin" valueType="num">
                                      <p:cBhvr additive="base">
                                        <p:cTn id="55" dur="1000" fill="hold"/>
                                        <p:tgtEl>
                                          <p:spTgt spid="369667">
                                            <p:txEl>
                                              <p:pRg st="11" end="11"/>
                                            </p:txEl>
                                          </p:spTgt>
                                        </p:tgtEl>
                                        <p:attrNameLst>
                                          <p:attrName>ppt_x</p:attrName>
                                        </p:attrNameLst>
                                      </p:cBhvr>
                                      <p:tavLst>
                                        <p:tav tm="0">
                                          <p:val>
                                            <p:strVal val="#ppt_x"/>
                                          </p:val>
                                        </p:tav>
                                        <p:tav tm="100000">
                                          <p:val>
                                            <p:strVal val="#ppt_x"/>
                                          </p:val>
                                        </p:tav>
                                      </p:tavLst>
                                    </p:anim>
                                    <p:anim calcmode="lin" valueType="num">
                                      <p:cBhvr additive="base">
                                        <p:cTn id="56" dur="1000" fill="hold"/>
                                        <p:tgtEl>
                                          <p:spTgt spid="36966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369667">
                                            <p:txEl>
                                              <p:pRg st="12" end="12"/>
                                            </p:txEl>
                                          </p:spTgt>
                                        </p:tgtEl>
                                        <p:attrNameLst>
                                          <p:attrName>style.visibility</p:attrName>
                                        </p:attrNameLst>
                                      </p:cBhvr>
                                      <p:to>
                                        <p:strVal val="visible"/>
                                      </p:to>
                                    </p:set>
                                    <p:anim calcmode="lin" valueType="num">
                                      <p:cBhvr additive="base">
                                        <p:cTn id="61" dur="1000" fill="hold"/>
                                        <p:tgtEl>
                                          <p:spTgt spid="369667">
                                            <p:txEl>
                                              <p:pRg st="12" end="12"/>
                                            </p:txEl>
                                          </p:spTgt>
                                        </p:tgtEl>
                                        <p:attrNameLst>
                                          <p:attrName>ppt_x</p:attrName>
                                        </p:attrNameLst>
                                      </p:cBhvr>
                                      <p:tavLst>
                                        <p:tav tm="0">
                                          <p:val>
                                            <p:strVal val="#ppt_x"/>
                                          </p:val>
                                        </p:tav>
                                        <p:tav tm="100000">
                                          <p:val>
                                            <p:strVal val="#ppt_x"/>
                                          </p:val>
                                        </p:tav>
                                      </p:tavLst>
                                    </p:anim>
                                    <p:anim calcmode="lin" valueType="num">
                                      <p:cBhvr additive="base">
                                        <p:cTn id="62" dur="1000" fill="hold"/>
                                        <p:tgtEl>
                                          <p:spTgt spid="36966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369667">
                                            <p:txEl>
                                              <p:pRg st="13" end="13"/>
                                            </p:txEl>
                                          </p:spTgt>
                                        </p:tgtEl>
                                        <p:attrNameLst>
                                          <p:attrName>style.visibility</p:attrName>
                                        </p:attrNameLst>
                                      </p:cBhvr>
                                      <p:to>
                                        <p:strVal val="visible"/>
                                      </p:to>
                                    </p:set>
                                    <p:anim calcmode="lin" valueType="num">
                                      <p:cBhvr additive="base">
                                        <p:cTn id="67" dur="1000" fill="hold"/>
                                        <p:tgtEl>
                                          <p:spTgt spid="369667">
                                            <p:txEl>
                                              <p:pRg st="13" end="13"/>
                                            </p:txEl>
                                          </p:spTgt>
                                        </p:tgtEl>
                                        <p:attrNameLst>
                                          <p:attrName>ppt_x</p:attrName>
                                        </p:attrNameLst>
                                      </p:cBhvr>
                                      <p:tavLst>
                                        <p:tav tm="0">
                                          <p:val>
                                            <p:strVal val="#ppt_x"/>
                                          </p:val>
                                        </p:tav>
                                        <p:tav tm="100000">
                                          <p:val>
                                            <p:strVal val="#ppt_x"/>
                                          </p:val>
                                        </p:tav>
                                      </p:tavLst>
                                    </p:anim>
                                    <p:anim calcmode="lin" valueType="num">
                                      <p:cBhvr additive="base">
                                        <p:cTn id="68" dur="1000" fill="hold"/>
                                        <p:tgtEl>
                                          <p:spTgt spid="36966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369667">
                                            <p:txEl>
                                              <p:pRg st="14" end="14"/>
                                            </p:txEl>
                                          </p:spTgt>
                                        </p:tgtEl>
                                        <p:attrNameLst>
                                          <p:attrName>style.visibility</p:attrName>
                                        </p:attrNameLst>
                                      </p:cBhvr>
                                      <p:to>
                                        <p:strVal val="visible"/>
                                      </p:to>
                                    </p:set>
                                    <p:anim calcmode="lin" valueType="num">
                                      <p:cBhvr additive="base">
                                        <p:cTn id="73" dur="1000" fill="hold"/>
                                        <p:tgtEl>
                                          <p:spTgt spid="369667">
                                            <p:txEl>
                                              <p:pRg st="14" end="14"/>
                                            </p:txEl>
                                          </p:spTgt>
                                        </p:tgtEl>
                                        <p:attrNameLst>
                                          <p:attrName>ppt_x</p:attrName>
                                        </p:attrNameLst>
                                      </p:cBhvr>
                                      <p:tavLst>
                                        <p:tav tm="0">
                                          <p:val>
                                            <p:strVal val="#ppt_x"/>
                                          </p:val>
                                        </p:tav>
                                        <p:tav tm="100000">
                                          <p:val>
                                            <p:strVal val="#ppt_x"/>
                                          </p:val>
                                        </p:tav>
                                      </p:tavLst>
                                    </p:anim>
                                    <p:anim calcmode="lin" valueType="num">
                                      <p:cBhvr additive="base">
                                        <p:cTn id="74" dur="1000" fill="hold"/>
                                        <p:tgtEl>
                                          <p:spTgt spid="369667">
                                            <p:txEl>
                                              <p:pRg st="14" end="14"/>
                                            </p:txEl>
                                          </p:spTgt>
                                        </p:tgtEl>
                                        <p:attrNameLst>
                                          <p:attrName>ppt_y</p:attrName>
                                        </p:attrNameLst>
                                      </p:cBhvr>
                                      <p:tavLst>
                                        <p:tav tm="0">
                                          <p:val>
                                            <p:strVal val="1+#ppt_h/2"/>
                                          </p:val>
                                        </p:tav>
                                        <p:tav tm="100000">
                                          <p:val>
                                            <p:strVal val="#ppt_y"/>
                                          </p:val>
                                        </p:tav>
                                      </p:tavLst>
                                    </p:anim>
                                  </p:childTnLst>
                                </p:cTn>
                              </p:par>
                            </p:childTnLst>
                          </p:cTn>
                        </p:par>
                        <p:par>
                          <p:cTn id="75" fill="hold" nodeType="afterGroup">
                            <p:stCondLst>
                              <p:cond delay="1000"/>
                            </p:stCondLst>
                            <p:childTnLst>
                              <p:par>
                                <p:cTn id="76" presetID="2" presetClass="entr" presetSubtype="4" fill="hold" nodeType="afterEffect">
                                  <p:stCondLst>
                                    <p:cond delay="0"/>
                                  </p:stCondLst>
                                  <p:childTnLst>
                                    <p:set>
                                      <p:cBhvr>
                                        <p:cTn id="77" dur="1" fill="hold">
                                          <p:stCondLst>
                                            <p:cond delay="0"/>
                                          </p:stCondLst>
                                        </p:cTn>
                                        <p:tgtEl>
                                          <p:spTgt spid="369667">
                                            <p:txEl>
                                              <p:pRg st="15" end="15"/>
                                            </p:txEl>
                                          </p:spTgt>
                                        </p:tgtEl>
                                        <p:attrNameLst>
                                          <p:attrName>style.visibility</p:attrName>
                                        </p:attrNameLst>
                                      </p:cBhvr>
                                      <p:to>
                                        <p:strVal val="visible"/>
                                      </p:to>
                                    </p:set>
                                    <p:anim calcmode="lin" valueType="num">
                                      <p:cBhvr additive="base">
                                        <p:cTn id="78" dur="1000" fill="hold"/>
                                        <p:tgtEl>
                                          <p:spTgt spid="369667">
                                            <p:txEl>
                                              <p:pRg st="15" end="15"/>
                                            </p:txEl>
                                          </p:spTgt>
                                        </p:tgtEl>
                                        <p:attrNameLst>
                                          <p:attrName>ppt_x</p:attrName>
                                        </p:attrNameLst>
                                      </p:cBhvr>
                                      <p:tavLst>
                                        <p:tav tm="0">
                                          <p:val>
                                            <p:strVal val="#ppt_x"/>
                                          </p:val>
                                        </p:tav>
                                        <p:tav tm="100000">
                                          <p:val>
                                            <p:strVal val="#ppt_x"/>
                                          </p:val>
                                        </p:tav>
                                      </p:tavLst>
                                    </p:anim>
                                    <p:anim calcmode="lin" valueType="num">
                                      <p:cBhvr additive="base">
                                        <p:cTn id="79" dur="1000" fill="hold"/>
                                        <p:tgtEl>
                                          <p:spTgt spid="369667">
                                            <p:txEl>
                                              <p:pRg st="15" end="15"/>
                                            </p:txEl>
                                          </p:spTgt>
                                        </p:tgtEl>
                                        <p:attrNameLst>
                                          <p:attrName>ppt_y</p:attrName>
                                        </p:attrNameLst>
                                      </p:cBhvr>
                                      <p:tavLst>
                                        <p:tav tm="0">
                                          <p:val>
                                            <p:strVal val="1+#ppt_h/2"/>
                                          </p:val>
                                        </p:tav>
                                        <p:tav tm="100000">
                                          <p:val>
                                            <p:strVal val="#ppt_y"/>
                                          </p:val>
                                        </p:tav>
                                      </p:tavLst>
                                    </p:anim>
                                  </p:childTnLst>
                                </p:cTn>
                              </p:par>
                            </p:childTnLst>
                          </p:cTn>
                        </p:par>
                        <p:par>
                          <p:cTn id="80" fill="hold" nodeType="afterGroup">
                            <p:stCondLst>
                              <p:cond delay="2000"/>
                            </p:stCondLst>
                            <p:childTnLst>
                              <p:par>
                                <p:cTn id="81" presetID="2" presetClass="entr" presetSubtype="4" fill="hold" nodeType="afterEffect">
                                  <p:stCondLst>
                                    <p:cond delay="0"/>
                                  </p:stCondLst>
                                  <p:childTnLst>
                                    <p:set>
                                      <p:cBhvr>
                                        <p:cTn id="82" dur="1" fill="hold">
                                          <p:stCondLst>
                                            <p:cond delay="0"/>
                                          </p:stCondLst>
                                        </p:cTn>
                                        <p:tgtEl>
                                          <p:spTgt spid="369667">
                                            <p:txEl>
                                              <p:pRg st="16" end="16"/>
                                            </p:txEl>
                                          </p:spTgt>
                                        </p:tgtEl>
                                        <p:attrNameLst>
                                          <p:attrName>style.visibility</p:attrName>
                                        </p:attrNameLst>
                                      </p:cBhvr>
                                      <p:to>
                                        <p:strVal val="visible"/>
                                      </p:to>
                                    </p:set>
                                    <p:anim calcmode="lin" valueType="num">
                                      <p:cBhvr additive="base">
                                        <p:cTn id="83" dur="1000" fill="hold"/>
                                        <p:tgtEl>
                                          <p:spTgt spid="369667">
                                            <p:txEl>
                                              <p:pRg st="16" end="16"/>
                                            </p:txEl>
                                          </p:spTgt>
                                        </p:tgtEl>
                                        <p:attrNameLst>
                                          <p:attrName>ppt_x</p:attrName>
                                        </p:attrNameLst>
                                      </p:cBhvr>
                                      <p:tavLst>
                                        <p:tav tm="0">
                                          <p:val>
                                            <p:strVal val="#ppt_x"/>
                                          </p:val>
                                        </p:tav>
                                        <p:tav tm="100000">
                                          <p:val>
                                            <p:strVal val="#ppt_x"/>
                                          </p:val>
                                        </p:tav>
                                      </p:tavLst>
                                    </p:anim>
                                    <p:anim calcmode="lin" valueType="num">
                                      <p:cBhvr additive="base">
                                        <p:cTn id="84" dur="1000" fill="hold"/>
                                        <p:tgtEl>
                                          <p:spTgt spid="369667">
                                            <p:txEl>
                                              <p:pRg st="16" end="16"/>
                                            </p:txEl>
                                          </p:spTgt>
                                        </p:tgtEl>
                                        <p:attrNameLst>
                                          <p:attrName>ppt_y</p:attrName>
                                        </p:attrNameLst>
                                      </p:cBhvr>
                                      <p:tavLst>
                                        <p:tav tm="0">
                                          <p:val>
                                            <p:strVal val="1+#ppt_h/2"/>
                                          </p:val>
                                        </p:tav>
                                        <p:tav tm="100000">
                                          <p:val>
                                            <p:strVal val="#ppt_y"/>
                                          </p:val>
                                        </p:tav>
                                      </p:tavLst>
                                    </p:anim>
                                  </p:childTnLst>
                                </p:cTn>
                              </p:par>
                            </p:childTnLst>
                          </p:cTn>
                        </p:par>
                        <p:par>
                          <p:cTn id="85" fill="hold" nodeType="afterGroup">
                            <p:stCondLst>
                              <p:cond delay="3000"/>
                            </p:stCondLst>
                            <p:childTnLst>
                              <p:par>
                                <p:cTn id="86" presetID="2" presetClass="entr" presetSubtype="4" fill="hold" nodeType="afterEffect">
                                  <p:stCondLst>
                                    <p:cond delay="0"/>
                                  </p:stCondLst>
                                  <p:childTnLst>
                                    <p:set>
                                      <p:cBhvr>
                                        <p:cTn id="87" dur="1" fill="hold">
                                          <p:stCondLst>
                                            <p:cond delay="0"/>
                                          </p:stCondLst>
                                        </p:cTn>
                                        <p:tgtEl>
                                          <p:spTgt spid="369667">
                                            <p:txEl>
                                              <p:pRg st="17" end="17"/>
                                            </p:txEl>
                                          </p:spTgt>
                                        </p:tgtEl>
                                        <p:attrNameLst>
                                          <p:attrName>style.visibility</p:attrName>
                                        </p:attrNameLst>
                                      </p:cBhvr>
                                      <p:to>
                                        <p:strVal val="visible"/>
                                      </p:to>
                                    </p:set>
                                    <p:anim calcmode="lin" valueType="num">
                                      <p:cBhvr additive="base">
                                        <p:cTn id="88" dur="1000" fill="hold"/>
                                        <p:tgtEl>
                                          <p:spTgt spid="369667">
                                            <p:txEl>
                                              <p:pRg st="17" end="17"/>
                                            </p:txEl>
                                          </p:spTgt>
                                        </p:tgtEl>
                                        <p:attrNameLst>
                                          <p:attrName>ppt_x</p:attrName>
                                        </p:attrNameLst>
                                      </p:cBhvr>
                                      <p:tavLst>
                                        <p:tav tm="0">
                                          <p:val>
                                            <p:strVal val="#ppt_x"/>
                                          </p:val>
                                        </p:tav>
                                        <p:tav tm="100000">
                                          <p:val>
                                            <p:strVal val="#ppt_x"/>
                                          </p:val>
                                        </p:tav>
                                      </p:tavLst>
                                    </p:anim>
                                    <p:anim calcmode="lin" valueType="num">
                                      <p:cBhvr additive="base">
                                        <p:cTn id="89" dur="1000" fill="hold"/>
                                        <p:tgtEl>
                                          <p:spTgt spid="369667">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867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867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301DA1DE-DFDD-4AE6-B0F7-A631D25E1CFF}" type="slidenum">
              <a:rPr lang="zh-CN" altLang="en-US" sz="800"/>
              <a:pPr>
                <a:spcBef>
                  <a:spcPct val="0"/>
                </a:spcBef>
                <a:buFontTx/>
                <a:buNone/>
              </a:pPr>
              <a:t>27</a:t>
            </a:fld>
            <a:endParaRPr lang="en-US" altLang="zh-CN" sz="800"/>
          </a:p>
        </p:txBody>
      </p:sp>
      <p:sp>
        <p:nvSpPr>
          <p:cNvPr id="28677" name="Rectangle 2"/>
          <p:cNvSpPr>
            <a:spLocks noGrp="1" noChangeArrowheads="1"/>
          </p:cNvSpPr>
          <p:nvPr>
            <p:ph type="title"/>
          </p:nvPr>
        </p:nvSpPr>
        <p:spPr/>
        <p:txBody>
          <a:bodyPr/>
          <a:lstStyle/>
          <a:p>
            <a:r>
              <a:rPr lang="en-US" altLang="zh-CN" smtClean="0">
                <a:ea typeface="宋体" panose="02010600030101010101" pitchFamily="2" charset="-122"/>
              </a:rPr>
              <a:t>L-Attributed Definitions (P.296)</a:t>
            </a:r>
          </a:p>
        </p:txBody>
      </p:sp>
      <p:sp>
        <p:nvSpPr>
          <p:cNvPr id="28678" name="Rectangle 3"/>
          <p:cNvSpPr>
            <a:spLocks noGrp="1" noChangeArrowheads="1"/>
          </p:cNvSpPr>
          <p:nvPr>
            <p:ph type="body" idx="1"/>
          </p:nvPr>
        </p:nvSpPr>
        <p:spPr>
          <a:xfrm>
            <a:off x="381000" y="990600"/>
            <a:ext cx="9067800" cy="4572000"/>
          </a:xfrm>
        </p:spPr>
        <p:txBody>
          <a:bodyPr/>
          <a:lstStyle/>
          <a:p>
            <a:r>
              <a:rPr lang="en-US" altLang="zh-CN" smtClean="0">
                <a:ea typeface="宋体" panose="02010600030101010101" pitchFamily="2" charset="-122"/>
              </a:rPr>
              <a:t>S-Attributed Definitions can be efficiently implemented.</a:t>
            </a:r>
          </a:p>
          <a:p>
            <a:r>
              <a:rPr lang="en-US" altLang="zh-CN" smtClean="0">
                <a:ea typeface="宋体" panose="02010600030101010101" pitchFamily="2" charset="-122"/>
              </a:rPr>
              <a:t>We are looking for a larger (larger than S-Attributed Definitions) subset of syntax-directed definitions which can be efficiently evaluated. 	</a:t>
            </a:r>
          </a:p>
          <a:p>
            <a:pPr>
              <a:buFontTx/>
              <a:buNone/>
            </a:pPr>
            <a:r>
              <a:rPr lang="en-US" altLang="zh-CN" smtClean="0">
                <a:ea typeface="宋体" panose="02010600030101010101" pitchFamily="2" charset="-122"/>
                <a:sym typeface="Wingdings" panose="05000000000000000000" pitchFamily="2" charset="2"/>
              </a:rPr>
              <a:t>	</a:t>
            </a:r>
            <a:r>
              <a:rPr lang="en-US" altLang="zh-CN" smtClean="0">
                <a:solidFill>
                  <a:srgbClr val="0000CC"/>
                </a:solidFill>
                <a:ea typeface="宋体" panose="02010600030101010101" pitchFamily="2" charset="-122"/>
                <a:sym typeface="Wingdings" panose="05000000000000000000" pitchFamily="2" charset="2"/>
              </a:rPr>
              <a:t> </a:t>
            </a:r>
            <a:r>
              <a:rPr lang="en-US" altLang="zh-CN" b="1" smtClean="0">
                <a:solidFill>
                  <a:srgbClr val="0000CC"/>
                </a:solidFill>
                <a:ea typeface="宋体" panose="02010600030101010101" pitchFamily="2" charset="-122"/>
                <a:sym typeface="Wingdings" panose="05000000000000000000" pitchFamily="2" charset="2"/>
              </a:rPr>
              <a:t>L-Attributed Definitions</a:t>
            </a:r>
            <a:r>
              <a:rPr lang="en-US" altLang="zh-CN" smtClean="0">
                <a:ea typeface="宋体" panose="02010600030101010101" pitchFamily="2" charset="-122"/>
                <a:sym typeface="Wingdings" panose="05000000000000000000" pitchFamily="2" charset="2"/>
              </a:rPr>
              <a:t>  </a:t>
            </a:r>
          </a:p>
          <a:p>
            <a:endParaRPr lang="en-US" altLang="zh-CN" smtClean="0">
              <a:ea typeface="宋体" panose="02010600030101010101" pitchFamily="2" charset="-122"/>
            </a:endParaRPr>
          </a:p>
          <a:p>
            <a:r>
              <a:rPr lang="en-US" altLang="zh-CN" smtClean="0">
                <a:ea typeface="宋体" panose="02010600030101010101" pitchFamily="2" charset="-122"/>
              </a:rPr>
              <a:t>L-Attributed Definitions can always be evaluated by the depth first visit of the parse tree. </a:t>
            </a:r>
          </a:p>
          <a:p>
            <a:r>
              <a:rPr lang="en-US" altLang="zh-CN" smtClean="0">
                <a:ea typeface="宋体" panose="02010600030101010101" pitchFamily="2" charset="-122"/>
              </a:rPr>
              <a:t>This means that they can also be evaluated during the parsing.</a:t>
            </a: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2969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2970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7F6F1D2A-FD9C-4F13-A3DA-AF39BB7DD8B0}" type="slidenum">
              <a:rPr lang="zh-CN" altLang="en-US" sz="800"/>
              <a:pPr>
                <a:spcBef>
                  <a:spcPct val="0"/>
                </a:spcBef>
                <a:buFontTx/>
                <a:buNone/>
              </a:pPr>
              <a:t>28</a:t>
            </a:fld>
            <a:endParaRPr lang="en-US" altLang="zh-CN" sz="800"/>
          </a:p>
        </p:txBody>
      </p:sp>
      <p:sp>
        <p:nvSpPr>
          <p:cNvPr id="29701"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L-Attributed Attribute Grammars</a:t>
            </a:r>
          </a:p>
        </p:txBody>
      </p:sp>
      <p:sp>
        <p:nvSpPr>
          <p:cNvPr id="436227" name="Rectangle 3"/>
          <p:cNvSpPr>
            <a:spLocks noGrp="1" noChangeArrowheads="1"/>
          </p:cNvSpPr>
          <p:nvPr>
            <p:ph type="body" idx="1"/>
          </p:nvPr>
        </p:nvSpPr>
        <p:spPr>
          <a:xfrm>
            <a:off x="685800" y="1219200"/>
            <a:ext cx="8556625" cy="5105400"/>
          </a:xfrm>
        </p:spPr>
        <p:txBody>
          <a:bodyPr/>
          <a:lstStyle/>
          <a:p>
            <a:pPr>
              <a:lnSpc>
                <a:spcPct val="110000"/>
              </a:lnSpc>
            </a:pPr>
            <a:r>
              <a:rPr lang="en-US" altLang="zh-TW" smtClean="0">
                <a:ea typeface="PMingLiU" pitchFamily="18" charset="-120"/>
              </a:rPr>
              <a:t>An attribute grammar is</a:t>
            </a:r>
            <a:r>
              <a:rPr lang="en-US" altLang="zh-TW" b="1" smtClean="0">
                <a:solidFill>
                  <a:schemeClr val="accent2"/>
                </a:solidFill>
                <a:ea typeface="PMingLiU" pitchFamily="18" charset="-120"/>
              </a:rPr>
              <a:t> L-attributed </a:t>
            </a:r>
            <a:r>
              <a:rPr lang="en-US" altLang="zh-TW" smtClean="0">
                <a:ea typeface="PMingLiU" pitchFamily="18" charset="-120"/>
              </a:rPr>
              <a:t>if each attribute computed in each semantic rule for each production</a:t>
            </a:r>
            <a:br>
              <a:rPr lang="en-US" altLang="zh-TW" smtClean="0">
                <a:ea typeface="PMingLiU" pitchFamily="18" charset="-120"/>
              </a:rPr>
            </a:br>
            <a:r>
              <a:rPr lang="en-US" altLang="zh-TW" smtClean="0">
                <a:ea typeface="PMingLiU" pitchFamily="18" charset="-120"/>
              </a:rPr>
              <a:t>	</a:t>
            </a:r>
            <a:r>
              <a:rPr lang="en-US" altLang="zh-CN" smtClean="0">
                <a:ea typeface="宋体" panose="02010600030101010101" pitchFamily="2" charset="-122"/>
              </a:rPr>
              <a:t>		</a:t>
            </a:r>
            <a:r>
              <a:rPr lang="en-US" altLang="zh-TW" smtClean="0">
                <a:ea typeface="PMingLiU" pitchFamily="18" charset="-120"/>
              </a:rPr>
              <a:t>A </a:t>
            </a:r>
            <a:r>
              <a:rPr lang="en-US" altLang="zh-TW" smtClean="0">
                <a:ea typeface="PMingLiU" pitchFamily="18" charset="-120"/>
                <a:sym typeface="Symbol" panose="05050102010706020507" pitchFamily="18" charset="2"/>
              </a:rPr>
              <a:t> X</a:t>
            </a:r>
            <a:r>
              <a:rPr lang="en-US" altLang="zh-TW" baseline="-25000" smtClean="0">
                <a:ea typeface="PMingLiU" pitchFamily="18" charset="-120"/>
                <a:sym typeface="Symbol" panose="05050102010706020507" pitchFamily="18" charset="2"/>
              </a:rPr>
              <a:t>1</a:t>
            </a:r>
            <a:r>
              <a:rPr lang="en-US" altLang="zh-TW" smtClean="0">
                <a:ea typeface="PMingLiU" pitchFamily="18" charset="-120"/>
                <a:sym typeface="Symbol" panose="05050102010706020507" pitchFamily="18" charset="2"/>
              </a:rPr>
              <a:t> X</a:t>
            </a:r>
            <a:r>
              <a:rPr lang="en-US" altLang="zh-TW" baseline="-25000" smtClean="0">
                <a:ea typeface="PMingLiU" pitchFamily="18" charset="-120"/>
                <a:sym typeface="Symbol" panose="05050102010706020507" pitchFamily="18" charset="2"/>
              </a:rPr>
              <a:t>2</a:t>
            </a:r>
            <a:r>
              <a:rPr lang="en-US" altLang="zh-TW" smtClean="0">
                <a:ea typeface="PMingLiU" pitchFamily="18" charset="-120"/>
                <a:sym typeface="Symbol" panose="05050102010706020507" pitchFamily="18" charset="2"/>
              </a:rPr>
              <a:t> … X</a:t>
            </a:r>
            <a:r>
              <a:rPr lang="en-US" altLang="zh-CN" baseline="-25000" smtClean="0">
                <a:ea typeface="PMingLiU" pitchFamily="18" charset="-120"/>
                <a:sym typeface="Symbol" panose="05050102010706020507" pitchFamily="18" charset="2"/>
              </a:rPr>
              <a:t>j-1</a:t>
            </a:r>
            <a:r>
              <a:rPr lang="en-US" altLang="zh-TW" smtClean="0">
                <a:ea typeface="PMingLiU" pitchFamily="18" charset="-120"/>
                <a:sym typeface="Symbol" panose="05050102010706020507" pitchFamily="18" charset="2"/>
              </a:rPr>
              <a:t> X</a:t>
            </a:r>
            <a:r>
              <a:rPr lang="en-US" altLang="zh-CN" baseline="-25000" smtClean="0">
                <a:ea typeface="PMingLiU" pitchFamily="18" charset="-120"/>
                <a:sym typeface="Symbol" panose="05050102010706020507" pitchFamily="18" charset="2"/>
              </a:rPr>
              <a:t>j</a:t>
            </a:r>
            <a:r>
              <a:rPr lang="en-US" altLang="zh-TW" smtClean="0">
                <a:ea typeface="PMingLiU" pitchFamily="18" charset="-120"/>
                <a:sym typeface="Symbol" panose="05050102010706020507" pitchFamily="18" charset="2"/>
              </a:rPr>
              <a:t> … X</a:t>
            </a:r>
            <a:r>
              <a:rPr lang="en-US" altLang="zh-TW" i="1" baseline="-25000" smtClean="0">
                <a:ea typeface="PMingLiU" pitchFamily="18" charset="-120"/>
                <a:sym typeface="Symbol" panose="05050102010706020507" pitchFamily="18" charset="2"/>
              </a:rPr>
              <a:t>n</a:t>
            </a:r>
            <a:r>
              <a:rPr lang="en-US" altLang="zh-TW" smtClean="0">
                <a:ea typeface="PMingLiU" pitchFamily="18" charset="-120"/>
                <a:sym typeface="Symbol" panose="05050102010706020507" pitchFamily="18" charset="2"/>
              </a:rPr>
              <a:t/>
            </a:r>
            <a:br>
              <a:rPr lang="en-US" altLang="zh-TW" smtClean="0">
                <a:ea typeface="PMingLiU" pitchFamily="18" charset="-120"/>
                <a:sym typeface="Symbol" panose="05050102010706020507" pitchFamily="18" charset="2"/>
              </a:rPr>
            </a:br>
            <a:r>
              <a:rPr lang="en-US" altLang="zh-TW" smtClean="0">
                <a:ea typeface="PMingLiU" pitchFamily="18" charset="-120"/>
                <a:sym typeface="Symbol" panose="05050102010706020507" pitchFamily="18" charset="2"/>
              </a:rPr>
              <a:t>is a </a:t>
            </a:r>
            <a:r>
              <a:rPr lang="en-US" altLang="zh-TW" smtClean="0">
                <a:solidFill>
                  <a:schemeClr val="accent2"/>
                </a:solidFill>
                <a:ea typeface="PMingLiU" pitchFamily="18" charset="-120"/>
                <a:sym typeface="Symbol" panose="05050102010706020507" pitchFamily="18" charset="2"/>
              </a:rPr>
              <a:t>synthesized</a:t>
            </a:r>
            <a:r>
              <a:rPr lang="en-US" altLang="zh-TW" smtClean="0">
                <a:ea typeface="PMingLiU" pitchFamily="18" charset="-120"/>
                <a:sym typeface="Symbol" panose="05050102010706020507" pitchFamily="18" charset="2"/>
              </a:rPr>
              <a:t> attribute, or an</a:t>
            </a:r>
            <a:r>
              <a:rPr lang="en-US" altLang="zh-TW" smtClean="0">
                <a:solidFill>
                  <a:schemeClr val="accent2"/>
                </a:solidFill>
                <a:ea typeface="PMingLiU" pitchFamily="18" charset="-120"/>
                <a:sym typeface="Symbol" panose="05050102010706020507" pitchFamily="18" charset="2"/>
              </a:rPr>
              <a:t> inherited </a:t>
            </a:r>
            <a:r>
              <a:rPr lang="en-US" altLang="zh-TW" smtClean="0">
                <a:ea typeface="PMingLiU" pitchFamily="18" charset="-120"/>
                <a:sym typeface="Symbol" panose="05050102010706020507" pitchFamily="18" charset="2"/>
              </a:rPr>
              <a:t>attribute of X</a:t>
            </a:r>
            <a:r>
              <a:rPr lang="en-US" altLang="zh-TW" i="1" baseline="-25000" smtClean="0">
                <a:ea typeface="PMingLiU" pitchFamily="18" charset="-120"/>
                <a:sym typeface="Symbol" panose="05050102010706020507" pitchFamily="18" charset="2"/>
              </a:rPr>
              <a:t>j</a:t>
            </a:r>
            <a:r>
              <a:rPr lang="en-US" altLang="zh-TW" smtClean="0">
                <a:ea typeface="PMingLiU" pitchFamily="18" charset="-120"/>
                <a:sym typeface="Symbol" panose="05050102010706020507" pitchFamily="18" charset="2"/>
              </a:rPr>
              <a:t>, 1  </a:t>
            </a:r>
            <a:r>
              <a:rPr lang="en-US" altLang="zh-TW" i="1" smtClean="0">
                <a:ea typeface="PMingLiU" pitchFamily="18" charset="-120"/>
                <a:sym typeface="Symbol" panose="05050102010706020507" pitchFamily="18" charset="2"/>
              </a:rPr>
              <a:t>j</a:t>
            </a:r>
            <a:r>
              <a:rPr lang="en-US" altLang="zh-TW" smtClean="0">
                <a:ea typeface="PMingLiU" pitchFamily="18" charset="-120"/>
                <a:sym typeface="Symbol" panose="05050102010706020507" pitchFamily="18" charset="2"/>
              </a:rPr>
              <a:t>  </a:t>
            </a:r>
            <a:r>
              <a:rPr lang="en-US" altLang="zh-TW" i="1" smtClean="0">
                <a:ea typeface="PMingLiU" pitchFamily="18" charset="-120"/>
                <a:sym typeface="Symbol" panose="05050102010706020507" pitchFamily="18" charset="2"/>
              </a:rPr>
              <a:t>n</a:t>
            </a:r>
            <a:r>
              <a:rPr lang="en-US" altLang="zh-TW" smtClean="0">
                <a:ea typeface="PMingLiU" pitchFamily="18" charset="-120"/>
                <a:sym typeface="Symbol" panose="05050102010706020507" pitchFamily="18" charset="2"/>
              </a:rPr>
              <a:t>, depending only on</a:t>
            </a:r>
            <a:endParaRPr lang="en-US" altLang="zh-CN" smtClean="0">
              <a:ea typeface="PMingLiU" pitchFamily="18" charset="-120"/>
              <a:sym typeface="Symbol" panose="05050102010706020507" pitchFamily="18" charset="2"/>
            </a:endParaRPr>
          </a:p>
          <a:p>
            <a:pPr>
              <a:lnSpc>
                <a:spcPct val="110000"/>
              </a:lnSpc>
            </a:pPr>
            <a:endParaRPr lang="en-US" altLang="zh-CN" smtClean="0">
              <a:ea typeface="PMingLiU" pitchFamily="18" charset="-120"/>
              <a:sym typeface="Symbol" panose="05050102010706020507" pitchFamily="18" charset="2"/>
            </a:endParaRPr>
          </a:p>
          <a:p>
            <a:pPr>
              <a:lnSpc>
                <a:spcPct val="110000"/>
              </a:lnSpc>
              <a:buFontTx/>
              <a:buNone/>
            </a:pPr>
            <a:r>
              <a:rPr lang="en-US" altLang="zh-CN" b="1" smtClean="0">
                <a:solidFill>
                  <a:srgbClr val="CC0000"/>
                </a:solidFill>
                <a:ea typeface="宋体" panose="02010600030101010101" pitchFamily="2" charset="-122"/>
                <a:sym typeface="Symbol" panose="05050102010706020507" pitchFamily="18" charset="2"/>
              </a:rPr>
              <a:t>		1. </a:t>
            </a:r>
            <a:r>
              <a:rPr lang="en-US" altLang="zh-TW" b="1" smtClean="0">
                <a:solidFill>
                  <a:srgbClr val="CC0000"/>
                </a:solidFill>
                <a:ea typeface="PMingLiU" pitchFamily="18" charset="-120"/>
                <a:sym typeface="Symbol" panose="05050102010706020507" pitchFamily="18" charset="2"/>
              </a:rPr>
              <a:t>the attributes of X</a:t>
            </a:r>
            <a:r>
              <a:rPr lang="en-US" altLang="zh-TW" b="1" baseline="-25000" smtClean="0">
                <a:solidFill>
                  <a:srgbClr val="CC0000"/>
                </a:solidFill>
                <a:ea typeface="PMingLiU" pitchFamily="18" charset="-120"/>
                <a:sym typeface="Symbol" panose="05050102010706020507" pitchFamily="18" charset="2"/>
              </a:rPr>
              <a:t>1</a:t>
            </a:r>
            <a:r>
              <a:rPr lang="en-US" altLang="zh-TW" b="1" smtClean="0">
                <a:solidFill>
                  <a:srgbClr val="CC0000"/>
                </a:solidFill>
                <a:ea typeface="PMingLiU" pitchFamily="18" charset="-120"/>
                <a:sym typeface="Symbol" panose="05050102010706020507" pitchFamily="18" charset="2"/>
              </a:rPr>
              <a:t>, X</a:t>
            </a:r>
            <a:r>
              <a:rPr lang="en-US" altLang="zh-TW" b="1" baseline="-25000" smtClean="0">
                <a:solidFill>
                  <a:srgbClr val="CC0000"/>
                </a:solidFill>
                <a:ea typeface="PMingLiU" pitchFamily="18" charset="-120"/>
                <a:sym typeface="Symbol" panose="05050102010706020507" pitchFamily="18" charset="2"/>
              </a:rPr>
              <a:t>2</a:t>
            </a:r>
            <a:r>
              <a:rPr lang="en-US" altLang="zh-TW" b="1" smtClean="0">
                <a:solidFill>
                  <a:srgbClr val="CC0000"/>
                </a:solidFill>
                <a:ea typeface="PMingLiU" pitchFamily="18" charset="-120"/>
                <a:sym typeface="Symbol" panose="05050102010706020507" pitchFamily="18" charset="2"/>
              </a:rPr>
              <a:t>, …, X</a:t>
            </a:r>
            <a:r>
              <a:rPr lang="en-US" altLang="zh-TW" b="1" i="1" baseline="-25000" smtClean="0">
                <a:solidFill>
                  <a:srgbClr val="CC0000"/>
                </a:solidFill>
                <a:ea typeface="PMingLiU" pitchFamily="18" charset="-120"/>
                <a:sym typeface="Symbol" panose="05050102010706020507" pitchFamily="18" charset="2"/>
              </a:rPr>
              <a:t>j</a:t>
            </a:r>
            <a:r>
              <a:rPr lang="en-US" altLang="zh-TW" b="1" baseline="-25000" smtClean="0">
                <a:solidFill>
                  <a:srgbClr val="CC0000"/>
                </a:solidFill>
                <a:ea typeface="PMingLiU" pitchFamily="18" charset="-120"/>
                <a:sym typeface="Symbol" panose="05050102010706020507" pitchFamily="18" charset="2"/>
              </a:rPr>
              <a:t>-1</a:t>
            </a:r>
            <a:r>
              <a:rPr lang="en-US" altLang="zh-TW" b="1" smtClean="0">
                <a:solidFill>
                  <a:srgbClr val="CC0000"/>
                </a:solidFill>
                <a:ea typeface="PMingLiU" pitchFamily="18" charset="-120"/>
                <a:sym typeface="Symbol" panose="05050102010706020507" pitchFamily="18" charset="2"/>
              </a:rPr>
              <a:t/>
            </a:r>
            <a:br>
              <a:rPr lang="en-US" altLang="zh-TW" b="1" smtClean="0">
                <a:solidFill>
                  <a:srgbClr val="CC0000"/>
                </a:solidFill>
                <a:ea typeface="PMingLiU" pitchFamily="18" charset="-120"/>
                <a:sym typeface="Symbol" panose="05050102010706020507" pitchFamily="18" charset="2"/>
              </a:rPr>
            </a:br>
            <a:endParaRPr lang="en-US" altLang="zh-CN" b="1" smtClean="0">
              <a:solidFill>
                <a:srgbClr val="CC0000"/>
              </a:solidFill>
              <a:ea typeface="宋体" panose="02010600030101010101" pitchFamily="2" charset="-122"/>
              <a:sym typeface="Symbol" panose="05050102010706020507" pitchFamily="18" charset="2"/>
            </a:endParaRPr>
          </a:p>
          <a:p>
            <a:pPr>
              <a:lnSpc>
                <a:spcPct val="110000"/>
              </a:lnSpc>
              <a:buFontTx/>
              <a:buNone/>
            </a:pPr>
            <a:r>
              <a:rPr lang="en-US" altLang="zh-CN" b="1" smtClean="0">
                <a:solidFill>
                  <a:srgbClr val="CC0000"/>
                </a:solidFill>
                <a:ea typeface="宋体" panose="02010600030101010101" pitchFamily="2" charset="-122"/>
                <a:sym typeface="Symbol" panose="05050102010706020507" pitchFamily="18" charset="2"/>
              </a:rPr>
              <a:t>		2. </a:t>
            </a:r>
            <a:r>
              <a:rPr lang="en-US" altLang="zh-TW" b="1" smtClean="0">
                <a:solidFill>
                  <a:srgbClr val="CC0000"/>
                </a:solidFill>
                <a:ea typeface="PMingLiU" pitchFamily="18" charset="-120"/>
                <a:sym typeface="Symbol" panose="05050102010706020507" pitchFamily="18" charset="2"/>
              </a:rPr>
              <a:t>the inherited attributes of A</a:t>
            </a:r>
            <a:endParaRPr lang="en-US" altLang="zh-TW" b="1" smtClean="0">
              <a:solidFill>
                <a:srgbClr val="CC0000"/>
              </a:solidFill>
              <a:ea typeface="PMingLiU" pitchFamily="18" charset="-120"/>
            </a:endParaRPr>
          </a:p>
          <a:p>
            <a:pPr>
              <a:lnSpc>
                <a:spcPct val="110000"/>
              </a:lnSpc>
              <a:buFontTx/>
              <a:buNone/>
            </a:pPr>
            <a:endParaRPr lang="en-US" altLang="zh-CN" smtClean="0">
              <a:ea typeface="宋体" panose="02010600030101010101" pitchFamily="2" charset="-122"/>
              <a:sym typeface="Symbol" panose="05050102010706020507" pitchFamily="18" charset="2"/>
            </a:endParaRPr>
          </a:p>
          <a:p>
            <a:pPr>
              <a:lnSpc>
                <a:spcPct val="110000"/>
              </a:lnSpc>
              <a:buFontTx/>
              <a:buNone/>
            </a:pPr>
            <a:r>
              <a:rPr lang="en-US" altLang="zh-CN" smtClean="0">
                <a:solidFill>
                  <a:srgbClr val="CC0000"/>
                </a:solidFill>
                <a:ea typeface="宋体" panose="02010600030101010101" pitchFamily="2" charset="-122"/>
                <a:sym typeface="Symbol" panose="05050102010706020507" pitchFamily="18" charset="2"/>
              </a:rPr>
              <a:t>		</a:t>
            </a:r>
            <a:endParaRPr lang="en-US" altLang="zh-TW" smtClean="0">
              <a:solidFill>
                <a:srgbClr val="CC0000"/>
              </a:solidFill>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6227">
                                            <p:txEl>
                                              <p:pRg st="2" end="2"/>
                                            </p:txEl>
                                          </p:spTgt>
                                        </p:tgtEl>
                                        <p:attrNameLst>
                                          <p:attrName>style.visibility</p:attrName>
                                        </p:attrNameLst>
                                      </p:cBhvr>
                                      <p:to>
                                        <p:strVal val="visible"/>
                                      </p:to>
                                    </p:set>
                                    <p:animEffect transition="in" filter="wipe(left)">
                                      <p:cBhvr>
                                        <p:cTn id="7" dur="3000"/>
                                        <p:tgtEl>
                                          <p:spTgt spid="436227">
                                            <p:txEl>
                                              <p:pRg st="2" end="2"/>
                                            </p:txEl>
                                          </p:spTgt>
                                        </p:tgtEl>
                                      </p:cBhvr>
                                    </p:animEffect>
                                  </p:childTnLst>
                                </p:cTn>
                              </p:par>
                            </p:childTnLst>
                          </p:cTn>
                        </p:par>
                        <p:par>
                          <p:cTn id="8" fill="hold" nodeType="afterGroup">
                            <p:stCondLst>
                              <p:cond delay="3000"/>
                            </p:stCondLst>
                            <p:childTnLst>
                              <p:par>
                                <p:cTn id="9" presetID="22" presetClass="entr" presetSubtype="2" fill="hold" nodeType="afterEffect">
                                  <p:stCondLst>
                                    <p:cond delay="3500"/>
                                  </p:stCondLst>
                                  <p:childTnLst>
                                    <p:set>
                                      <p:cBhvr>
                                        <p:cTn id="10" dur="1" fill="hold">
                                          <p:stCondLst>
                                            <p:cond delay="0"/>
                                          </p:stCondLst>
                                        </p:cTn>
                                        <p:tgtEl>
                                          <p:spTgt spid="436227">
                                            <p:txEl>
                                              <p:pRg st="3" end="3"/>
                                            </p:txEl>
                                          </p:spTgt>
                                        </p:tgtEl>
                                        <p:attrNameLst>
                                          <p:attrName>style.visibility</p:attrName>
                                        </p:attrNameLst>
                                      </p:cBhvr>
                                      <p:to>
                                        <p:strVal val="visible"/>
                                      </p:to>
                                    </p:set>
                                    <p:animEffect transition="in" filter="wipe(right)">
                                      <p:cBhvr>
                                        <p:cTn id="11" dur="3000"/>
                                        <p:tgtEl>
                                          <p:spTgt spid="4362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0723"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0724"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1E464065-6EB3-4E38-9EA4-1D37D342108F}" type="slidenum">
              <a:rPr lang="zh-CN" altLang="en-US" sz="800"/>
              <a:pPr>
                <a:spcBef>
                  <a:spcPct val="0"/>
                </a:spcBef>
                <a:buFontTx/>
                <a:buNone/>
              </a:pPr>
              <a:t>29</a:t>
            </a:fld>
            <a:endParaRPr lang="en-US" altLang="zh-CN" sz="800"/>
          </a:p>
        </p:txBody>
      </p:sp>
      <p:sp>
        <p:nvSpPr>
          <p:cNvPr id="30725" name="Rectangle 2"/>
          <p:cNvSpPr>
            <a:spLocks noGrp="1" noChangeArrowheads="1"/>
          </p:cNvSpPr>
          <p:nvPr>
            <p:ph type="title"/>
          </p:nvPr>
        </p:nvSpPr>
        <p:spPr>
          <a:xfrm>
            <a:off x="382588" y="152400"/>
            <a:ext cx="9371012" cy="914400"/>
          </a:xfrm>
        </p:spPr>
        <p:txBody>
          <a:bodyPr/>
          <a:lstStyle/>
          <a:p>
            <a:r>
              <a:rPr lang="en-US" altLang="zh-TW" b="0" smtClean="0">
                <a:ea typeface="PMingLiU" pitchFamily="18" charset="-120"/>
              </a:rPr>
              <a:t>An Example</a:t>
            </a:r>
          </a:p>
        </p:txBody>
      </p:sp>
      <p:sp>
        <p:nvSpPr>
          <p:cNvPr id="30726" name="Text Box 3"/>
          <p:cNvSpPr txBox="1">
            <a:spLocks noChangeArrowheads="1"/>
          </p:cNvSpPr>
          <p:nvPr/>
        </p:nvSpPr>
        <p:spPr bwMode="auto">
          <a:xfrm>
            <a:off x="1633538" y="1752600"/>
            <a:ext cx="6748462"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D → T L		L.in := T.type</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T → </a:t>
            </a:r>
            <a:r>
              <a:rPr kumimoji="1" lang="en-US" altLang="zh-TW" sz="2800">
                <a:latin typeface="Arial" panose="020B0604020202020204" pitchFamily="34" charset="0"/>
                <a:ea typeface="PMingLiU" pitchFamily="18" charset="-120"/>
                <a:cs typeface="Arial" panose="020B0604020202020204" pitchFamily="34" charset="0"/>
              </a:rPr>
              <a:t>int</a:t>
            </a:r>
            <a:r>
              <a:rPr kumimoji="1" lang="en-US" altLang="zh-TW" sz="2800" b="0">
                <a:latin typeface="Arial" panose="020B0604020202020204" pitchFamily="34" charset="0"/>
                <a:ea typeface="PMingLiU" pitchFamily="18" charset="-120"/>
                <a:cs typeface="Arial" panose="020B0604020202020204" pitchFamily="34" charset="0"/>
              </a:rPr>
              <a:t>		T.type := integer</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T → </a:t>
            </a:r>
            <a:r>
              <a:rPr kumimoji="1" lang="en-US" altLang="zh-TW" sz="2800">
                <a:latin typeface="Arial" panose="020B0604020202020204" pitchFamily="34" charset="0"/>
                <a:ea typeface="PMingLiU" pitchFamily="18" charset="-120"/>
                <a:cs typeface="Arial" panose="020B0604020202020204" pitchFamily="34" charset="0"/>
              </a:rPr>
              <a:t>float</a:t>
            </a:r>
            <a:r>
              <a:rPr kumimoji="1" lang="en-US" altLang="zh-TW" sz="2800" b="0">
                <a:latin typeface="Arial" panose="020B0604020202020204" pitchFamily="34" charset="0"/>
                <a:ea typeface="PMingLiU" pitchFamily="18" charset="-120"/>
                <a:cs typeface="Arial" panose="020B0604020202020204" pitchFamily="34" charset="0"/>
              </a:rPr>
              <a:t>		T.type := float</a:t>
            </a:r>
            <a:endParaRPr kumimoji="1" lang="en-US" altLang="zh-TW" sz="2800" b="0">
              <a:ea typeface="PMingLiU" pitchFamily="18" charset="-120"/>
              <a:cs typeface="Times New Roman" panose="02020603050405020304" pitchFamily="18" charset="0"/>
            </a:endParaRP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L → L</a:t>
            </a:r>
            <a:r>
              <a:rPr kumimoji="1" lang="en-US" altLang="zh-TW" sz="2800" b="0" baseline="-30000">
                <a:latin typeface="Arial" panose="020B0604020202020204" pitchFamily="34" charset="0"/>
                <a:ea typeface="PMingLiU" pitchFamily="18" charset="-120"/>
                <a:cs typeface="Arial" panose="020B0604020202020204" pitchFamily="34" charset="0"/>
              </a:rPr>
              <a:t>1</a:t>
            </a:r>
            <a:r>
              <a:rPr kumimoji="1" lang="en-US" altLang="zh-TW" sz="2800" b="0">
                <a:latin typeface="Arial" panose="020B0604020202020204" pitchFamily="34" charset="0"/>
                <a:ea typeface="PMingLiU" pitchFamily="18" charset="-120"/>
                <a:cs typeface="Arial" panose="020B0604020202020204" pitchFamily="34" charset="0"/>
              </a:rPr>
              <a:t> , </a:t>
            </a:r>
            <a:r>
              <a:rPr kumimoji="1" lang="en-US" altLang="zh-TW" sz="2800">
                <a:latin typeface="Arial" panose="020B0604020202020204" pitchFamily="34" charset="0"/>
                <a:ea typeface="PMingLiU" pitchFamily="18" charset="-120"/>
                <a:cs typeface="Arial" panose="020B0604020202020204" pitchFamily="34" charset="0"/>
              </a:rPr>
              <a:t>id</a:t>
            </a:r>
            <a:r>
              <a:rPr kumimoji="1" lang="en-US" altLang="zh-TW" sz="2800" b="0">
                <a:latin typeface="Arial" panose="020B0604020202020204" pitchFamily="34" charset="0"/>
                <a:ea typeface="PMingLiU" pitchFamily="18" charset="-120"/>
                <a:cs typeface="Arial" panose="020B0604020202020204" pitchFamily="34" charset="0"/>
              </a:rPr>
              <a:t>	</a:t>
            </a:r>
            <a:r>
              <a:rPr kumimoji="1" lang="en-US" altLang="zh-CN" sz="2800" b="0">
                <a:latin typeface="Arial" panose="020B0604020202020204" pitchFamily="34" charset="0"/>
                <a:ea typeface="PMingLiU" pitchFamily="18" charset="-120"/>
                <a:cs typeface="Arial" panose="020B0604020202020204" pitchFamily="34" charset="0"/>
              </a:rPr>
              <a:t>	</a:t>
            </a:r>
            <a:r>
              <a:rPr kumimoji="1" lang="en-US" altLang="zh-TW" sz="2800" b="0">
                <a:latin typeface="Arial" panose="020B0604020202020204" pitchFamily="34" charset="0"/>
                <a:ea typeface="PMingLiU" pitchFamily="18" charset="-120"/>
                <a:cs typeface="Arial" panose="020B0604020202020204" pitchFamily="34" charset="0"/>
              </a:rPr>
              <a:t>L</a:t>
            </a:r>
            <a:r>
              <a:rPr kumimoji="1" lang="en-US" altLang="zh-TW" sz="2800" b="0" baseline="-30000">
                <a:latin typeface="Arial" panose="020B0604020202020204" pitchFamily="34" charset="0"/>
                <a:ea typeface="PMingLiU" pitchFamily="18" charset="-120"/>
                <a:cs typeface="Arial" panose="020B0604020202020204" pitchFamily="34" charset="0"/>
              </a:rPr>
              <a:t>1</a:t>
            </a:r>
            <a:r>
              <a:rPr kumimoji="1" lang="en-US" altLang="zh-TW" sz="2800" b="0">
                <a:latin typeface="Arial" panose="020B0604020202020204" pitchFamily="34" charset="0"/>
                <a:ea typeface="PMingLiU" pitchFamily="18" charset="-120"/>
                <a:cs typeface="Arial" panose="020B0604020202020204" pitchFamily="34" charset="0"/>
              </a:rPr>
              <a:t>.in := L.in;</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			addtype(</a:t>
            </a:r>
            <a:r>
              <a:rPr kumimoji="1" lang="en-US" altLang="zh-TW" sz="2800">
                <a:latin typeface="Arial" panose="020B0604020202020204" pitchFamily="34" charset="0"/>
                <a:ea typeface="PMingLiU" pitchFamily="18" charset="-120"/>
                <a:cs typeface="Arial" panose="020B0604020202020204" pitchFamily="34" charset="0"/>
              </a:rPr>
              <a:t>id</a:t>
            </a:r>
            <a:r>
              <a:rPr kumimoji="1" lang="en-US" altLang="zh-TW" sz="2800" b="0">
                <a:latin typeface="Arial" panose="020B0604020202020204" pitchFamily="34" charset="0"/>
                <a:ea typeface="PMingLiU" pitchFamily="18" charset="-120"/>
                <a:cs typeface="Arial" panose="020B0604020202020204" pitchFamily="34" charset="0"/>
              </a:rPr>
              <a:t>.entry, L.in)</a:t>
            </a:r>
          </a:p>
          <a:p>
            <a:pPr eaLnBrk="1" hangingPunct="1">
              <a:lnSpc>
                <a:spcPct val="120000"/>
              </a:lnSpc>
              <a:spcBef>
                <a:spcPct val="0"/>
              </a:spcBef>
              <a:buFontTx/>
              <a:buNone/>
            </a:pPr>
            <a:r>
              <a:rPr kumimoji="1" lang="en-US" altLang="zh-TW" sz="2800" b="0">
                <a:latin typeface="Arial" panose="020B0604020202020204" pitchFamily="34" charset="0"/>
                <a:ea typeface="PMingLiU" pitchFamily="18" charset="-120"/>
                <a:cs typeface="Arial" panose="020B0604020202020204" pitchFamily="34" charset="0"/>
              </a:rPr>
              <a:t>L → </a:t>
            </a:r>
            <a:r>
              <a:rPr kumimoji="1" lang="en-US" altLang="zh-TW" sz="2800">
                <a:latin typeface="Arial" panose="020B0604020202020204" pitchFamily="34" charset="0"/>
                <a:ea typeface="PMingLiU" pitchFamily="18" charset="-120"/>
                <a:cs typeface="Arial" panose="020B0604020202020204" pitchFamily="34" charset="0"/>
              </a:rPr>
              <a:t>id</a:t>
            </a:r>
            <a:r>
              <a:rPr kumimoji="1" lang="en-US" altLang="zh-TW" sz="2800" b="0">
                <a:latin typeface="Arial" panose="020B0604020202020204" pitchFamily="34" charset="0"/>
                <a:ea typeface="PMingLiU" pitchFamily="18" charset="-120"/>
                <a:cs typeface="Arial" panose="020B0604020202020204" pitchFamily="34" charset="0"/>
              </a:rPr>
              <a:t>		addtype(</a:t>
            </a:r>
            <a:r>
              <a:rPr kumimoji="1" lang="en-US" altLang="zh-TW" sz="2800">
                <a:latin typeface="Arial" panose="020B0604020202020204" pitchFamily="34" charset="0"/>
                <a:ea typeface="PMingLiU" pitchFamily="18" charset="-120"/>
                <a:cs typeface="Arial" panose="020B0604020202020204" pitchFamily="34" charset="0"/>
              </a:rPr>
              <a:t>id</a:t>
            </a:r>
            <a:r>
              <a:rPr kumimoji="1" lang="en-US" altLang="zh-TW" sz="2800" b="0">
                <a:latin typeface="Arial" panose="020B0604020202020204" pitchFamily="34" charset="0"/>
                <a:ea typeface="PMingLiU" pitchFamily="18" charset="-120"/>
                <a:cs typeface="Arial" panose="020B0604020202020204" pitchFamily="34" charset="0"/>
              </a:rPr>
              <a:t>.entry, L.in)</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174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174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33919A47-271E-4EFD-B53F-85B0E2CF7012}" type="slidenum">
              <a:rPr lang="zh-CN" altLang="en-US" sz="800"/>
              <a:pPr>
                <a:spcBef>
                  <a:spcPct val="0"/>
                </a:spcBef>
                <a:buFontTx/>
                <a:buNone/>
              </a:pPr>
              <a:t>30</a:t>
            </a:fld>
            <a:endParaRPr lang="en-US" altLang="zh-CN" sz="800"/>
          </a:p>
        </p:txBody>
      </p:sp>
      <p:sp>
        <p:nvSpPr>
          <p:cNvPr id="31749" name="Rectangle 2"/>
          <p:cNvSpPr>
            <a:spLocks noGrp="1" noChangeArrowheads="1"/>
          </p:cNvSpPr>
          <p:nvPr>
            <p:ph type="title"/>
          </p:nvPr>
        </p:nvSpPr>
        <p:spPr/>
        <p:txBody>
          <a:bodyPr/>
          <a:lstStyle/>
          <a:p>
            <a:r>
              <a:rPr lang="en-US" altLang="zh-CN" smtClean="0">
                <a:ea typeface="宋体" panose="02010600030101010101" pitchFamily="2" charset="-122"/>
              </a:rPr>
              <a:t>A Definition which is NOT L-Attributed</a:t>
            </a:r>
          </a:p>
        </p:txBody>
      </p:sp>
      <p:sp>
        <p:nvSpPr>
          <p:cNvPr id="31750" name="Rectangle 3"/>
          <p:cNvSpPr>
            <a:spLocks noGrp="1" noChangeArrowheads="1"/>
          </p:cNvSpPr>
          <p:nvPr>
            <p:ph type="body" idx="1"/>
          </p:nvPr>
        </p:nvSpPr>
        <p:spPr/>
        <p:txBody>
          <a:bodyPr/>
          <a:lstStyle/>
          <a:p>
            <a:pPr>
              <a:buFontTx/>
              <a:buNone/>
            </a:pPr>
            <a:r>
              <a:rPr lang="en-US" altLang="zh-CN" b="1" u="sng" smtClean="0">
                <a:ea typeface="宋体" panose="02010600030101010101" pitchFamily="2" charset="-122"/>
                <a:cs typeface="Times New Roman" panose="02020603050405020304" pitchFamily="18" charset="0"/>
              </a:rPr>
              <a:t>Productions</a:t>
            </a:r>
            <a:r>
              <a:rPr lang="en-US" altLang="zh-CN" smtClean="0">
                <a:ea typeface="宋体" panose="02010600030101010101" pitchFamily="2" charset="-122"/>
                <a:cs typeface="Times New Roman" panose="02020603050405020304" pitchFamily="18" charset="0"/>
              </a:rPr>
              <a:t>		</a:t>
            </a:r>
            <a:r>
              <a:rPr lang="en-US" altLang="zh-CN" b="1" u="sng" smtClean="0">
                <a:ea typeface="宋体" panose="02010600030101010101" pitchFamily="2" charset="-122"/>
                <a:cs typeface="Times New Roman" panose="02020603050405020304" pitchFamily="18" charset="0"/>
              </a:rPr>
              <a:t>Semantic Rules</a:t>
            </a:r>
          </a:p>
          <a:p>
            <a:pPr>
              <a:buFontTx/>
              <a:buNone/>
            </a:pPr>
            <a:r>
              <a:rPr lang="en-US" altLang="zh-CN" smtClean="0">
                <a:ea typeface="宋体" panose="02010600030101010101" pitchFamily="2" charset="-122"/>
                <a:cs typeface="Times New Roman" panose="02020603050405020304" pitchFamily="18" charset="0"/>
              </a:rPr>
              <a:t>A → L M		L.in=l(A.i), M.in=m(L.s), A.s=f(M.s)</a:t>
            </a:r>
          </a:p>
          <a:p>
            <a:pPr>
              <a:buFontTx/>
              <a:buNone/>
            </a:pPr>
            <a:r>
              <a:rPr lang="en-US" altLang="zh-CN" smtClean="0">
                <a:ea typeface="宋体" panose="02010600030101010101" pitchFamily="2" charset="-122"/>
                <a:cs typeface="Times New Roman" panose="02020603050405020304" pitchFamily="18" charset="0"/>
              </a:rPr>
              <a:t>A → Q R 		R.in=r(A.in), </a:t>
            </a:r>
            <a:r>
              <a:rPr lang="en-US" altLang="zh-CN" smtClean="0">
                <a:solidFill>
                  <a:srgbClr val="CC0000"/>
                </a:solidFill>
                <a:ea typeface="宋体" panose="02010600030101010101" pitchFamily="2" charset="-122"/>
                <a:cs typeface="Times New Roman" panose="02020603050405020304" pitchFamily="18" charset="0"/>
              </a:rPr>
              <a:t>Q.in=q(R.s),</a:t>
            </a:r>
            <a:r>
              <a:rPr lang="en-US" altLang="zh-CN" smtClean="0">
                <a:ea typeface="宋体" panose="02010600030101010101" pitchFamily="2" charset="-122"/>
                <a:cs typeface="Times New Roman" panose="02020603050405020304" pitchFamily="18" charset="0"/>
              </a:rPr>
              <a:t> A.s=f(Q.s)</a:t>
            </a:r>
          </a:p>
          <a:p>
            <a:pPr>
              <a:buFontTx/>
              <a:buNone/>
            </a:pPr>
            <a:endParaRPr lang="en-US" altLang="zh-CN" smtClean="0">
              <a:ea typeface="宋体" panose="02010600030101010101" pitchFamily="2" charset="-122"/>
              <a:cs typeface="Times New Roman" panose="02020603050405020304" pitchFamily="18" charset="0"/>
            </a:endParaRPr>
          </a:p>
          <a:p>
            <a:r>
              <a:rPr lang="en-US" altLang="zh-CN" smtClean="0">
                <a:ea typeface="宋体" panose="02010600030101010101" pitchFamily="2" charset="-122"/>
                <a:cs typeface="Times New Roman" panose="02020603050405020304" pitchFamily="18" charset="0"/>
              </a:rPr>
              <a:t>This syntax-directed definition is not L-attributed because the semantic rule	 </a:t>
            </a:r>
            <a:r>
              <a:rPr lang="en-US" altLang="zh-CN" smtClean="0">
                <a:solidFill>
                  <a:srgbClr val="CC0000"/>
                </a:solidFill>
                <a:ea typeface="宋体" panose="02010600030101010101" pitchFamily="2" charset="-122"/>
                <a:cs typeface="Times New Roman" panose="02020603050405020304" pitchFamily="18" charset="0"/>
              </a:rPr>
              <a:t>Q.in=q(R.s)</a:t>
            </a:r>
            <a:r>
              <a:rPr lang="en-US" altLang="zh-CN" smtClean="0">
                <a:ea typeface="宋体" panose="02010600030101010101" pitchFamily="2" charset="-122"/>
                <a:cs typeface="Times New Roman" panose="02020603050405020304" pitchFamily="18" charset="0"/>
              </a:rPr>
              <a:t>  violates the restrictions of L-attributed definitions.</a:t>
            </a:r>
          </a:p>
          <a:p>
            <a:r>
              <a:rPr lang="en-US" altLang="zh-CN" smtClean="0">
                <a:ea typeface="宋体" panose="02010600030101010101" pitchFamily="2" charset="-122"/>
                <a:cs typeface="Times New Roman" panose="02020603050405020304" pitchFamily="18" charset="0"/>
              </a:rPr>
              <a:t>When Q.in must be evaluated before we enter to Q because it is an inherited attribute. </a:t>
            </a:r>
          </a:p>
          <a:p>
            <a:r>
              <a:rPr lang="en-US" altLang="zh-CN" smtClean="0">
                <a:ea typeface="宋体" panose="02010600030101010101" pitchFamily="2" charset="-122"/>
                <a:cs typeface="Times New Roman" panose="02020603050405020304" pitchFamily="18" charset="0"/>
              </a:rPr>
              <a:t>But the value of Q.in depends on R.s which will be available after we return from R. So, we are not be able to evaluate the value of Q.in before we enter to Q.</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277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277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4F858274-5288-4793-82DD-C361CC9F90C4}" type="slidenum">
              <a:rPr lang="zh-CN" altLang="en-US" sz="800"/>
              <a:pPr>
                <a:spcBef>
                  <a:spcPct val="0"/>
                </a:spcBef>
                <a:buFontTx/>
                <a:buNone/>
              </a:pPr>
              <a:t>31</a:t>
            </a:fld>
            <a:endParaRPr lang="en-US" altLang="zh-CN" sz="800"/>
          </a:p>
        </p:txBody>
      </p:sp>
      <p:sp>
        <p:nvSpPr>
          <p:cNvPr id="32773" name="Rectangle 2"/>
          <p:cNvSpPr>
            <a:spLocks noGrp="1" noChangeArrowheads="1"/>
          </p:cNvSpPr>
          <p:nvPr>
            <p:ph type="title"/>
          </p:nvPr>
        </p:nvSpPr>
        <p:spPr/>
        <p:txBody>
          <a:bodyPr/>
          <a:lstStyle/>
          <a:p>
            <a:r>
              <a:rPr lang="en-US" altLang="zh-CN" smtClean="0">
                <a:ea typeface="宋体" panose="02010600030101010101" pitchFamily="2" charset="-122"/>
              </a:rPr>
              <a:t>Translation Schemes (P.297)</a:t>
            </a:r>
          </a:p>
        </p:txBody>
      </p:sp>
      <p:sp>
        <p:nvSpPr>
          <p:cNvPr id="362499" name="Rectangle 3"/>
          <p:cNvSpPr>
            <a:spLocks noGrp="1" noChangeArrowheads="1"/>
          </p:cNvSpPr>
          <p:nvPr>
            <p:ph type="body" idx="1"/>
          </p:nvPr>
        </p:nvSpPr>
        <p:spPr>
          <a:xfrm>
            <a:off x="381000" y="1219200"/>
            <a:ext cx="9220200" cy="5105400"/>
          </a:xfrm>
        </p:spPr>
        <p:txBody>
          <a:bodyPr/>
          <a:lstStyle/>
          <a:p>
            <a:r>
              <a:rPr lang="en-US" altLang="zh-CN" smtClean="0">
                <a:ea typeface="宋体" panose="02010600030101010101" pitchFamily="2" charset="-122"/>
              </a:rPr>
              <a:t>In a syntax-directed definition, we do not say anything about the evaluation times of the semantic rules (when the semantic rules associated with a production should be evaluated?).</a:t>
            </a:r>
          </a:p>
          <a:p>
            <a:endParaRPr lang="en-US" altLang="zh-CN" smtClean="0">
              <a:ea typeface="宋体" panose="02010600030101010101" pitchFamily="2" charset="-122"/>
            </a:endParaRPr>
          </a:p>
          <a:p>
            <a:r>
              <a:rPr lang="en-US" altLang="zh-CN" smtClean="0">
                <a:ea typeface="宋体" panose="02010600030101010101" pitchFamily="2" charset="-122"/>
              </a:rPr>
              <a:t>A </a:t>
            </a:r>
            <a:r>
              <a:rPr lang="en-US" altLang="zh-CN" b="1" smtClean="0">
                <a:ea typeface="宋体" panose="02010600030101010101" pitchFamily="2" charset="-122"/>
              </a:rPr>
              <a:t>translation scheme</a:t>
            </a:r>
            <a:r>
              <a:rPr lang="en-US" altLang="zh-CN" smtClean="0">
                <a:ea typeface="宋体" panose="02010600030101010101" pitchFamily="2" charset="-122"/>
              </a:rPr>
              <a:t> is a context-free grammar in which: </a:t>
            </a:r>
          </a:p>
          <a:p>
            <a:pPr lvl="1"/>
            <a:r>
              <a:rPr lang="en-US" altLang="zh-CN" sz="2400" b="1" smtClean="0">
                <a:solidFill>
                  <a:schemeClr val="accent2"/>
                </a:solidFill>
                <a:ea typeface="宋体" panose="02010600030101010101" pitchFamily="2" charset="-122"/>
              </a:rPr>
              <a:t>attributes are associated with the grammar symbols and </a:t>
            </a:r>
          </a:p>
          <a:p>
            <a:pPr lvl="1"/>
            <a:r>
              <a:rPr lang="en-US" altLang="zh-CN" sz="2400" b="1" smtClean="0">
                <a:solidFill>
                  <a:schemeClr val="accent2"/>
                </a:solidFill>
                <a:ea typeface="宋体" panose="02010600030101010101" pitchFamily="2" charset="-122"/>
              </a:rPr>
              <a:t>semantic actions enclosed between braces {} are inserted within    the right sides of productions.</a:t>
            </a:r>
          </a:p>
          <a:p>
            <a:endParaRPr lang="en-US" altLang="zh-CN" b="1" smtClean="0">
              <a:solidFill>
                <a:schemeClr val="accent2"/>
              </a:solidFill>
              <a:ea typeface="宋体" panose="02010600030101010101" pitchFamily="2" charset="-122"/>
            </a:endParaRPr>
          </a:p>
          <a:p>
            <a:r>
              <a:rPr lang="en-US" altLang="zh-CN" i="1" smtClean="0">
                <a:ea typeface="宋体" panose="02010600030101010101" pitchFamily="2" charset="-122"/>
              </a:rPr>
              <a:t>Ex:</a:t>
            </a:r>
            <a:r>
              <a:rPr lang="en-US" altLang="zh-CN" smtClean="0">
                <a:ea typeface="宋体" panose="02010600030101010101" pitchFamily="2" charset="-122"/>
              </a:rPr>
              <a:t>		</a:t>
            </a:r>
            <a:r>
              <a:rPr lang="en-US" altLang="zh-CN" smtClean="0">
                <a:ea typeface="宋体" panose="02010600030101010101" pitchFamily="2" charset="-122"/>
                <a:cs typeface="Times New Roman" panose="02020603050405020304" pitchFamily="18" charset="0"/>
              </a:rPr>
              <a:t>A → </a:t>
            </a:r>
            <a:r>
              <a:rPr lang="en-US" altLang="zh-CN" smtClean="0">
                <a:solidFill>
                  <a:srgbClr val="CC0000"/>
                </a:solidFill>
                <a:ea typeface="宋体" panose="02010600030101010101" pitchFamily="2" charset="-122"/>
                <a:cs typeface="Times New Roman" panose="02020603050405020304" pitchFamily="18" charset="0"/>
              </a:rPr>
              <a:t>{ ... }</a:t>
            </a:r>
            <a:r>
              <a:rPr lang="en-US" altLang="zh-CN" smtClean="0">
                <a:ea typeface="宋体" panose="02010600030101010101" pitchFamily="2" charset="-122"/>
                <a:cs typeface="Times New Roman" panose="02020603050405020304" pitchFamily="18" charset="0"/>
              </a:rPr>
              <a:t> X </a:t>
            </a:r>
            <a:r>
              <a:rPr lang="en-US" altLang="zh-CN" smtClean="0">
                <a:solidFill>
                  <a:srgbClr val="CC0000"/>
                </a:solidFill>
                <a:ea typeface="宋体" panose="02010600030101010101" pitchFamily="2" charset="-122"/>
                <a:cs typeface="Times New Roman" panose="02020603050405020304" pitchFamily="18" charset="0"/>
              </a:rPr>
              <a:t>{ ... }</a:t>
            </a:r>
            <a:r>
              <a:rPr lang="en-US" altLang="zh-CN" smtClean="0">
                <a:ea typeface="宋体" panose="02010600030101010101" pitchFamily="2" charset="-122"/>
                <a:cs typeface="Times New Roman" panose="02020603050405020304" pitchFamily="18" charset="0"/>
              </a:rPr>
              <a:t> Y </a:t>
            </a:r>
            <a:r>
              <a:rPr lang="en-US" altLang="zh-CN" smtClean="0">
                <a:solidFill>
                  <a:srgbClr val="CC0000"/>
                </a:solidFill>
                <a:ea typeface="宋体" panose="02010600030101010101" pitchFamily="2" charset="-122"/>
                <a:cs typeface="Times New Roman" panose="02020603050405020304" pitchFamily="18" charset="0"/>
              </a:rPr>
              <a:t>{ ... }</a:t>
            </a:r>
          </a:p>
          <a:p>
            <a:endParaRPr lang="en-US" altLang="zh-CN" smtClean="0">
              <a:ea typeface="宋体" panose="02010600030101010101" pitchFamily="2" charset="-122"/>
              <a:cs typeface="Times New Roman" panose="02020603050405020304" pitchFamily="18" charset="0"/>
            </a:endParaRPr>
          </a:p>
          <a:p>
            <a:pPr>
              <a:buFontTx/>
              <a:buNone/>
            </a:pPr>
            <a:r>
              <a:rPr lang="en-US" altLang="zh-CN" smtClean="0">
                <a:ea typeface="宋体" panose="02010600030101010101" pitchFamily="2" charset="-122"/>
                <a:cs typeface="Times New Roman" panose="02020603050405020304" pitchFamily="18" charset="0"/>
              </a:rPr>
              <a:t>				 </a:t>
            </a:r>
            <a:r>
              <a:rPr lang="en-US" altLang="zh-CN" smtClean="0">
                <a:solidFill>
                  <a:srgbClr val="CC0000"/>
                </a:solidFill>
                <a:ea typeface="宋体" panose="02010600030101010101" pitchFamily="2" charset="-122"/>
                <a:cs typeface="Times New Roman" panose="02020603050405020304" pitchFamily="18" charset="0"/>
              </a:rPr>
              <a:t>Semantic Actions</a:t>
            </a:r>
          </a:p>
        </p:txBody>
      </p:sp>
      <p:grpSp>
        <p:nvGrpSpPr>
          <p:cNvPr id="362503" name="Group 7"/>
          <p:cNvGrpSpPr>
            <a:grpSpLocks/>
          </p:cNvGrpSpPr>
          <p:nvPr/>
        </p:nvGrpSpPr>
        <p:grpSpPr bwMode="auto">
          <a:xfrm>
            <a:off x="3352800" y="5410200"/>
            <a:ext cx="2057400" cy="457200"/>
            <a:chOff x="2112" y="3408"/>
            <a:chExt cx="1296" cy="288"/>
          </a:xfrm>
        </p:grpSpPr>
        <p:sp>
          <p:nvSpPr>
            <p:cNvPr id="32776" name="Line 4"/>
            <p:cNvSpPr>
              <a:spLocks noChangeShapeType="1"/>
            </p:cNvSpPr>
            <p:nvPr/>
          </p:nvSpPr>
          <p:spPr bwMode="auto">
            <a:xfrm flipH="1" flipV="1">
              <a:off x="2112" y="3408"/>
              <a:ext cx="480" cy="2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7" name="Line 5"/>
            <p:cNvSpPr>
              <a:spLocks noChangeShapeType="1"/>
            </p:cNvSpPr>
            <p:nvPr/>
          </p:nvSpPr>
          <p:spPr bwMode="auto">
            <a:xfrm flipV="1">
              <a:off x="2592" y="3408"/>
              <a:ext cx="144" cy="2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8" name="Line 6"/>
            <p:cNvSpPr>
              <a:spLocks noChangeShapeType="1"/>
            </p:cNvSpPr>
            <p:nvPr/>
          </p:nvSpPr>
          <p:spPr bwMode="auto">
            <a:xfrm flipV="1">
              <a:off x="2592" y="3408"/>
              <a:ext cx="816" cy="2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2499">
                                            <p:txEl>
                                              <p:pRg st="3" end="3"/>
                                            </p:txEl>
                                          </p:spTgt>
                                        </p:tgtEl>
                                        <p:attrNameLst>
                                          <p:attrName>style.visibility</p:attrName>
                                        </p:attrNameLst>
                                      </p:cBhvr>
                                      <p:to>
                                        <p:strVal val="visible"/>
                                      </p:to>
                                    </p:set>
                                    <p:animEffect transition="in" filter="wipe(left)">
                                      <p:cBhvr>
                                        <p:cTn id="7" dur="2000"/>
                                        <p:tgtEl>
                                          <p:spTgt spid="362499">
                                            <p:txEl>
                                              <p:pRg st="3" end="3"/>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362499">
                                            <p:txEl>
                                              <p:pRg st="4" end="4"/>
                                            </p:txEl>
                                          </p:spTgt>
                                        </p:tgtEl>
                                        <p:attrNameLst>
                                          <p:attrName>style.visibility</p:attrName>
                                        </p:attrNameLst>
                                      </p:cBhvr>
                                      <p:to>
                                        <p:strVal val="visible"/>
                                      </p:to>
                                    </p:set>
                                    <p:animEffect transition="in" filter="wipe(left)">
                                      <p:cBhvr>
                                        <p:cTn id="11" dur="2000"/>
                                        <p:tgtEl>
                                          <p:spTgt spid="362499">
                                            <p:txEl>
                                              <p:pRg st="4" end="4"/>
                                            </p:txEl>
                                          </p:spTgt>
                                        </p:tgtEl>
                                      </p:cBhvr>
                                    </p:animEffect>
                                  </p:childTnLst>
                                </p:cTn>
                              </p:par>
                            </p:childTnLst>
                          </p:cTn>
                        </p:par>
                        <p:par>
                          <p:cTn id="12" fill="hold" nodeType="afterGroup">
                            <p:stCondLst>
                              <p:cond delay="5000"/>
                            </p:stCondLst>
                            <p:childTnLst>
                              <p:par>
                                <p:cTn id="13" presetID="22" presetClass="entr" presetSubtype="8" fill="hold" nodeType="afterEffect">
                                  <p:stCondLst>
                                    <p:cond delay="2000"/>
                                  </p:stCondLst>
                                  <p:childTnLst>
                                    <p:set>
                                      <p:cBhvr>
                                        <p:cTn id="14" dur="1" fill="hold">
                                          <p:stCondLst>
                                            <p:cond delay="0"/>
                                          </p:stCondLst>
                                        </p:cTn>
                                        <p:tgtEl>
                                          <p:spTgt spid="362499">
                                            <p:txEl>
                                              <p:pRg st="6" end="6"/>
                                            </p:txEl>
                                          </p:spTgt>
                                        </p:tgtEl>
                                        <p:attrNameLst>
                                          <p:attrName>style.visibility</p:attrName>
                                        </p:attrNameLst>
                                      </p:cBhvr>
                                      <p:to>
                                        <p:strVal val="visible"/>
                                      </p:to>
                                    </p:set>
                                    <p:animEffect transition="in" filter="wipe(left)">
                                      <p:cBhvr>
                                        <p:cTn id="15" dur="2000"/>
                                        <p:tgtEl>
                                          <p:spTgt spid="362499">
                                            <p:txEl>
                                              <p:pRg st="6" end="6"/>
                                            </p:txEl>
                                          </p:spTgt>
                                        </p:tgtEl>
                                      </p:cBhvr>
                                    </p:animEffect>
                                  </p:childTnLst>
                                </p:cTn>
                              </p:par>
                            </p:childTnLst>
                          </p:cTn>
                        </p:par>
                        <p:par>
                          <p:cTn id="16" fill="hold" nodeType="afterGroup">
                            <p:stCondLst>
                              <p:cond delay="9000"/>
                            </p:stCondLst>
                            <p:childTnLst>
                              <p:par>
                                <p:cTn id="17" presetID="22" presetClass="entr" presetSubtype="4" fill="hold" nodeType="afterEffect">
                                  <p:stCondLst>
                                    <p:cond delay="0"/>
                                  </p:stCondLst>
                                  <p:childTnLst>
                                    <p:set>
                                      <p:cBhvr>
                                        <p:cTn id="18" dur="1" fill="hold">
                                          <p:stCondLst>
                                            <p:cond delay="0"/>
                                          </p:stCondLst>
                                        </p:cTn>
                                        <p:tgtEl>
                                          <p:spTgt spid="362499">
                                            <p:txEl>
                                              <p:pRg st="8" end="8"/>
                                            </p:txEl>
                                          </p:spTgt>
                                        </p:tgtEl>
                                        <p:attrNameLst>
                                          <p:attrName>style.visibility</p:attrName>
                                        </p:attrNameLst>
                                      </p:cBhvr>
                                      <p:to>
                                        <p:strVal val="visible"/>
                                      </p:to>
                                    </p:set>
                                    <p:animEffect transition="in" filter="wipe(down)">
                                      <p:cBhvr>
                                        <p:cTn id="19" dur="2000"/>
                                        <p:tgtEl>
                                          <p:spTgt spid="362499">
                                            <p:txEl>
                                              <p:pRg st="8" end="8"/>
                                            </p:txEl>
                                          </p:spTgt>
                                        </p:tgtEl>
                                      </p:cBhvr>
                                    </p:animEffect>
                                  </p:childTnLst>
                                </p:cTn>
                              </p:par>
                            </p:childTnLst>
                          </p:cTn>
                        </p:par>
                        <p:par>
                          <p:cTn id="20" fill="hold" nodeType="afterGroup">
                            <p:stCondLst>
                              <p:cond delay="11000"/>
                            </p:stCondLst>
                            <p:childTnLst>
                              <p:par>
                                <p:cTn id="21" presetID="22" presetClass="entr" presetSubtype="4" fill="hold" nodeType="afterEffect">
                                  <p:stCondLst>
                                    <p:cond delay="0"/>
                                  </p:stCondLst>
                                  <p:childTnLst>
                                    <p:set>
                                      <p:cBhvr>
                                        <p:cTn id="22" dur="1" fill="hold">
                                          <p:stCondLst>
                                            <p:cond delay="0"/>
                                          </p:stCondLst>
                                        </p:cTn>
                                        <p:tgtEl>
                                          <p:spTgt spid="362503"/>
                                        </p:tgtEl>
                                        <p:attrNameLst>
                                          <p:attrName>style.visibility</p:attrName>
                                        </p:attrNameLst>
                                      </p:cBhvr>
                                      <p:to>
                                        <p:strVal val="visible"/>
                                      </p:to>
                                    </p:set>
                                    <p:animEffect transition="in" filter="wipe(down)">
                                      <p:cBhvr>
                                        <p:cTn id="23" dur="2000"/>
                                        <p:tgtEl>
                                          <p:spTgt spid="362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379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379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A40EDD2A-5226-481C-8986-47A01C3FC221}" type="slidenum">
              <a:rPr lang="zh-CN" altLang="en-US" sz="800"/>
              <a:pPr>
                <a:spcBef>
                  <a:spcPct val="0"/>
                </a:spcBef>
                <a:buFontTx/>
                <a:buNone/>
              </a:pPr>
              <a:t>32</a:t>
            </a:fld>
            <a:endParaRPr lang="en-US" altLang="zh-CN" sz="800"/>
          </a:p>
        </p:txBody>
      </p:sp>
      <p:sp>
        <p:nvSpPr>
          <p:cNvPr id="33797" name="Rectangle 2"/>
          <p:cNvSpPr>
            <a:spLocks noGrp="1" noChangeArrowheads="1"/>
          </p:cNvSpPr>
          <p:nvPr>
            <p:ph type="title"/>
          </p:nvPr>
        </p:nvSpPr>
        <p:spPr/>
        <p:txBody>
          <a:bodyPr/>
          <a:lstStyle/>
          <a:p>
            <a:r>
              <a:rPr lang="en-US" altLang="zh-CN" smtClean="0">
                <a:ea typeface="宋体" panose="02010600030101010101" pitchFamily="2" charset="-122"/>
              </a:rPr>
              <a:t>Translation Schemes (cont.)</a:t>
            </a:r>
          </a:p>
        </p:txBody>
      </p:sp>
      <p:sp>
        <p:nvSpPr>
          <p:cNvPr id="363523" name="Rectangle 3"/>
          <p:cNvSpPr>
            <a:spLocks noGrp="1" noChangeArrowheads="1"/>
          </p:cNvSpPr>
          <p:nvPr>
            <p:ph type="body" idx="1"/>
          </p:nvPr>
        </p:nvSpPr>
        <p:spPr>
          <a:xfrm>
            <a:off x="381000" y="1219200"/>
            <a:ext cx="9067800" cy="4724400"/>
          </a:xfrm>
        </p:spPr>
        <p:txBody>
          <a:bodyPr/>
          <a:lstStyle/>
          <a:p>
            <a:pPr>
              <a:defRPr/>
            </a:pPr>
            <a:r>
              <a:rPr lang="en-US" altLang="zh-CN" smtClean="0">
                <a:ea typeface="宋体" pitchFamily="2" charset="-122"/>
              </a:rPr>
              <a:t>When designing a translation scheme, some restrictions should be observed </a:t>
            </a:r>
            <a:r>
              <a:rPr lang="en-US" altLang="zh-CN" smtClean="0">
                <a:solidFill>
                  <a:schemeClr val="accent2"/>
                </a:solidFill>
                <a:ea typeface="宋体" pitchFamily="2" charset="-122"/>
              </a:rPr>
              <a:t>to ensure that an attribute value is available when a semantic action refers to that attribute.</a:t>
            </a:r>
          </a:p>
          <a:p>
            <a:pPr>
              <a:defRPr/>
            </a:pPr>
            <a:r>
              <a:rPr lang="en-US" altLang="zh-CN" smtClean="0">
                <a:ea typeface="宋体" pitchFamily="2" charset="-122"/>
              </a:rPr>
              <a:t>These restrictions (motivated by L-attributed definitions) ensure that     a semantic action does not refer to an attribute that has not yet computed.</a:t>
            </a:r>
          </a:p>
          <a:p>
            <a:pPr>
              <a:defRPr/>
            </a:pPr>
            <a:r>
              <a:rPr lang="en-US" altLang="zh-CN" smtClean="0">
                <a:ea typeface="宋体" pitchFamily="2" charset="-122"/>
              </a:rPr>
              <a:t>In translation schemes, we use  </a:t>
            </a:r>
            <a:r>
              <a:rPr lang="en-US" altLang="zh-CN" b="1" i="1" smtClean="0">
                <a:solidFill>
                  <a:srgbClr val="CC0000"/>
                </a:solidFill>
                <a:ea typeface="宋体" pitchFamily="2" charset="-122"/>
              </a:rPr>
              <a:t>semantic action</a:t>
            </a:r>
            <a:r>
              <a:rPr lang="en-US" altLang="zh-CN" smtClean="0">
                <a:ea typeface="宋体" pitchFamily="2" charset="-122"/>
              </a:rPr>
              <a:t>  terminology instead of </a:t>
            </a:r>
            <a:r>
              <a:rPr lang="en-US" altLang="zh-CN" b="1" i="1" smtClean="0">
                <a:solidFill>
                  <a:srgbClr val="CC0000"/>
                </a:solidFill>
                <a:ea typeface="宋体" pitchFamily="2" charset="-122"/>
              </a:rPr>
              <a:t>semantic rule</a:t>
            </a:r>
            <a:r>
              <a:rPr lang="en-US" altLang="zh-CN" i="1" smtClean="0">
                <a:ea typeface="宋体" pitchFamily="2" charset="-122"/>
              </a:rPr>
              <a:t> </a:t>
            </a:r>
            <a:r>
              <a:rPr lang="en-US" altLang="zh-CN" smtClean="0">
                <a:ea typeface="宋体" pitchFamily="2" charset="-122"/>
              </a:rPr>
              <a:t> terminology used in syntax-directed definitions.</a:t>
            </a:r>
          </a:p>
          <a:p>
            <a:pPr>
              <a:defRPr/>
            </a:pPr>
            <a:r>
              <a:rPr lang="en-US" altLang="zh-CN" smtClean="0">
                <a:ea typeface="宋体" pitchFamily="2" charset="-122"/>
              </a:rPr>
              <a:t>The position of the semantic action on the right side indicates </a:t>
            </a:r>
            <a:r>
              <a:rPr lang="en-US" altLang="zh-CN" sz="3200" b="1" i="1" smtClean="0">
                <a:solidFill>
                  <a:schemeClr val="accent2"/>
                </a:solidFill>
                <a:effectLst>
                  <a:outerShdw blurRad="38100" dist="38100" dir="2700000" algn="tl">
                    <a:srgbClr val="000000"/>
                  </a:outerShdw>
                </a:effectLst>
                <a:latin typeface="Arial" pitchFamily="34" charset="0"/>
                <a:ea typeface="宋体" pitchFamily="2" charset="-122"/>
              </a:rPr>
              <a:t>when</a:t>
            </a:r>
            <a:r>
              <a:rPr lang="en-US" altLang="zh-CN" b="1" i="1" smtClean="0">
                <a:effectLst>
                  <a:outerShdw blurRad="38100" dist="38100" dir="2700000" algn="tl">
                    <a:srgbClr val="FFFFFF"/>
                  </a:outerShdw>
                </a:effectLst>
                <a:latin typeface="Arial" pitchFamily="34" charset="0"/>
                <a:ea typeface="宋体" pitchFamily="2" charset="-122"/>
              </a:rPr>
              <a:t> </a:t>
            </a:r>
            <a:r>
              <a:rPr lang="en-US" altLang="zh-CN" smtClean="0">
                <a:ea typeface="宋体" pitchFamily="2" charset="-122"/>
              </a:rPr>
              <a:t>that semantic action will be evaluated.</a:t>
            </a:r>
          </a:p>
        </p:txBody>
      </p:sp>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481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482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F3483F66-3474-4F33-9E15-5FDBF63F6F87}" type="slidenum">
              <a:rPr lang="zh-CN" altLang="en-US" sz="800"/>
              <a:pPr>
                <a:spcBef>
                  <a:spcPct val="0"/>
                </a:spcBef>
                <a:buFontTx/>
                <a:buNone/>
              </a:pPr>
              <a:t>33</a:t>
            </a:fld>
            <a:endParaRPr lang="en-US" altLang="zh-CN" sz="800"/>
          </a:p>
        </p:txBody>
      </p:sp>
      <p:sp>
        <p:nvSpPr>
          <p:cNvPr id="34821"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Translation Schemes (cont.)</a:t>
            </a:r>
          </a:p>
        </p:txBody>
      </p:sp>
      <p:sp>
        <p:nvSpPr>
          <p:cNvPr id="396291" name="Rectangle 3"/>
          <p:cNvSpPr>
            <a:spLocks noGrp="1" noChangeArrowheads="1"/>
          </p:cNvSpPr>
          <p:nvPr>
            <p:ph type="body" idx="1"/>
          </p:nvPr>
        </p:nvSpPr>
        <p:spPr>
          <a:xfrm>
            <a:off x="382588" y="990600"/>
            <a:ext cx="8990012" cy="5334000"/>
          </a:xfrm>
        </p:spPr>
        <p:txBody>
          <a:bodyPr/>
          <a:lstStyle/>
          <a:p>
            <a:pPr>
              <a:lnSpc>
                <a:spcPct val="79000"/>
              </a:lnSpc>
            </a:pPr>
            <a:r>
              <a:rPr lang="en-US" altLang="zh-CN" smtClean="0">
                <a:ea typeface="宋体" panose="02010600030101010101" pitchFamily="2" charset="-122"/>
              </a:rPr>
              <a:t>A CFG with “</a:t>
            </a:r>
            <a:r>
              <a:rPr lang="en-US" altLang="zh-CN" smtClean="0">
                <a:solidFill>
                  <a:srgbClr val="0000CC"/>
                </a:solidFill>
                <a:ea typeface="宋体" panose="02010600030101010101" pitchFamily="2" charset="-122"/>
              </a:rPr>
              <a:t>semantic actions</a:t>
            </a:r>
            <a:r>
              <a:rPr lang="en-US" altLang="zh-CN" smtClean="0">
                <a:ea typeface="宋体" panose="02010600030101010101" pitchFamily="2" charset="-122"/>
              </a:rPr>
              <a:t>” </a:t>
            </a:r>
            <a:r>
              <a:rPr lang="en-US" altLang="zh-CN" i="1" smtClean="0">
                <a:ea typeface="宋体" panose="02010600030101010101" pitchFamily="2" charset="-122"/>
              </a:rPr>
              <a:t>embedded</a:t>
            </a:r>
            <a:r>
              <a:rPr lang="en-US" altLang="zh-CN" smtClean="0">
                <a:ea typeface="宋体" panose="02010600030101010101" pitchFamily="2" charset="-122"/>
              </a:rPr>
              <a:t> into its productions. Useful for binding the order of evaluation into the parse-tree.</a:t>
            </a:r>
          </a:p>
          <a:p>
            <a:pPr>
              <a:lnSpc>
                <a:spcPct val="79000"/>
              </a:lnSpc>
            </a:pPr>
            <a:r>
              <a:rPr lang="en-US" altLang="zh-CN" smtClean="0">
                <a:ea typeface="宋体" panose="02010600030101010101" pitchFamily="2" charset="-122"/>
              </a:rPr>
              <a:t>As before semantic actions might refer to the attributes of the symbols.</a:t>
            </a:r>
          </a:p>
          <a:p>
            <a:pPr>
              <a:lnSpc>
                <a:spcPct val="79000"/>
              </a:lnSpc>
              <a:buFontTx/>
              <a:buNone/>
            </a:pPr>
            <a:r>
              <a:rPr lang="en-US" altLang="zh-CN" smtClean="0">
                <a:ea typeface="宋体" panose="02010600030101010101" pitchFamily="2" charset="-122"/>
              </a:rPr>
              <a:t>Example.</a:t>
            </a:r>
          </a:p>
          <a:p>
            <a:pPr>
              <a:lnSpc>
                <a:spcPct val="79000"/>
              </a:lnSpc>
              <a:buFontTx/>
              <a:buNone/>
            </a:pPr>
            <a:r>
              <a:rPr lang="en-US" altLang="zh-CN" b="1" smtClean="0">
                <a:ea typeface="宋体" panose="02010600030101010101" pitchFamily="2" charset="-122"/>
                <a:sym typeface="Symbol" panose="05050102010706020507" pitchFamily="18" charset="2"/>
              </a:rPr>
              <a:t>		expr  expr </a:t>
            </a:r>
            <a:r>
              <a:rPr lang="en-US" altLang="zh-CN" b="1" smtClean="0">
                <a:solidFill>
                  <a:schemeClr val="accent2"/>
                </a:solidFill>
                <a:ea typeface="宋体" panose="02010600030101010101" pitchFamily="2" charset="-122"/>
                <a:sym typeface="Symbol" panose="05050102010706020507" pitchFamily="18" charset="2"/>
              </a:rPr>
              <a:t>+</a:t>
            </a:r>
            <a:r>
              <a:rPr lang="en-US" altLang="zh-CN" b="1" smtClean="0">
                <a:ea typeface="宋体" panose="02010600030101010101" pitchFamily="2" charset="-122"/>
                <a:sym typeface="Symbol" panose="05050102010706020507" pitchFamily="18" charset="2"/>
              </a:rPr>
              <a:t> term { </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 }</a:t>
            </a:r>
          </a:p>
          <a:p>
            <a:pPr>
              <a:lnSpc>
                <a:spcPct val="79000"/>
              </a:lnSpc>
              <a:buFontTx/>
              <a:buNone/>
            </a:pPr>
            <a:r>
              <a:rPr lang="en-US" altLang="zh-CN" b="1" smtClean="0">
                <a:ea typeface="宋体" panose="02010600030101010101" pitchFamily="2" charset="-122"/>
                <a:sym typeface="Symbol" panose="05050102010706020507" pitchFamily="18" charset="2"/>
              </a:rPr>
              <a:t>		expr  expr </a:t>
            </a:r>
            <a:r>
              <a:rPr lang="en-US" altLang="zh-CN" b="1" smtClean="0">
                <a:solidFill>
                  <a:schemeClr val="accent2"/>
                </a:solidFill>
                <a:ea typeface="宋体" panose="02010600030101010101" pitchFamily="2" charset="-122"/>
                <a:sym typeface="Symbol" panose="05050102010706020507" pitchFamily="18" charset="2"/>
              </a:rPr>
              <a:t>-</a:t>
            </a:r>
            <a:r>
              <a:rPr lang="en-US" altLang="zh-CN" b="1" smtClean="0">
                <a:ea typeface="宋体" panose="02010600030101010101" pitchFamily="2" charset="-122"/>
                <a:sym typeface="Symbol" panose="05050102010706020507" pitchFamily="18" charset="2"/>
              </a:rPr>
              <a:t> term { </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 }</a:t>
            </a:r>
          </a:p>
          <a:p>
            <a:pPr>
              <a:lnSpc>
                <a:spcPct val="79000"/>
              </a:lnSpc>
              <a:buFontTx/>
              <a:buNone/>
            </a:pPr>
            <a:r>
              <a:rPr lang="en-US" altLang="zh-CN" b="1" smtClean="0">
                <a:ea typeface="宋体" panose="02010600030101010101" pitchFamily="2" charset="-122"/>
                <a:sym typeface="Symbol" panose="05050102010706020507" pitchFamily="18" charset="2"/>
              </a:rPr>
              <a:t>		expr  term</a:t>
            </a:r>
          </a:p>
          <a:p>
            <a:pPr>
              <a:lnSpc>
                <a:spcPct val="79000"/>
              </a:lnSpc>
              <a:buFontTx/>
              <a:buNone/>
            </a:pPr>
            <a:r>
              <a:rPr lang="en-US" altLang="zh-CN" b="1" smtClean="0">
                <a:ea typeface="宋体" panose="02010600030101010101" pitchFamily="2" charset="-122"/>
                <a:sym typeface="Symbol" panose="05050102010706020507" pitchFamily="18" charset="2"/>
              </a:rPr>
              <a:t>		term  </a:t>
            </a:r>
            <a:r>
              <a:rPr lang="en-US" altLang="zh-CN" b="1" smtClean="0">
                <a:solidFill>
                  <a:schemeClr val="accent2"/>
                </a:solidFill>
                <a:ea typeface="宋体" panose="02010600030101010101" pitchFamily="2" charset="-122"/>
                <a:sym typeface="Symbol" panose="05050102010706020507" pitchFamily="18" charset="2"/>
              </a:rPr>
              <a:t>0</a:t>
            </a:r>
            <a:r>
              <a:rPr lang="en-US" altLang="zh-CN" b="1" smtClean="0">
                <a:ea typeface="宋体" panose="02010600030101010101" pitchFamily="2" charset="-122"/>
                <a:sym typeface="Symbol" panose="05050102010706020507" pitchFamily="18" charset="2"/>
              </a:rPr>
              <a:t> { </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(“0”) }</a:t>
            </a:r>
          </a:p>
          <a:p>
            <a:pPr>
              <a:lnSpc>
                <a:spcPct val="79000"/>
              </a:lnSpc>
              <a:buFontTx/>
              <a:buNone/>
            </a:pPr>
            <a:r>
              <a:rPr lang="en-US" altLang="zh-CN" b="1" smtClean="0">
                <a:ea typeface="宋体" panose="02010600030101010101" pitchFamily="2" charset="-122"/>
                <a:sym typeface="Symbol" panose="05050102010706020507" pitchFamily="18" charset="2"/>
              </a:rPr>
              <a:t>		…</a:t>
            </a:r>
          </a:p>
          <a:p>
            <a:pPr>
              <a:lnSpc>
                <a:spcPct val="79000"/>
              </a:lnSpc>
              <a:buFontTx/>
              <a:buNone/>
            </a:pPr>
            <a:r>
              <a:rPr lang="en-US" altLang="zh-CN" b="1" smtClean="0">
                <a:ea typeface="宋体" panose="02010600030101010101" pitchFamily="2" charset="-122"/>
                <a:sym typeface="Symbol" panose="05050102010706020507" pitchFamily="18" charset="2"/>
              </a:rPr>
              <a:t>		term  </a:t>
            </a:r>
            <a:r>
              <a:rPr lang="en-US" altLang="zh-CN" b="1" smtClean="0">
                <a:solidFill>
                  <a:schemeClr val="accent2"/>
                </a:solidFill>
                <a:ea typeface="宋体" panose="02010600030101010101" pitchFamily="2" charset="-122"/>
                <a:sym typeface="Symbol" panose="05050102010706020507" pitchFamily="18" charset="2"/>
              </a:rPr>
              <a:t>9</a:t>
            </a:r>
            <a:r>
              <a:rPr lang="en-US" altLang="zh-CN" b="1" smtClean="0">
                <a:ea typeface="宋体" panose="02010600030101010101" pitchFamily="2" charset="-122"/>
                <a:sym typeface="Symbol" panose="05050102010706020507" pitchFamily="18" charset="2"/>
              </a:rPr>
              <a:t> { </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(“9”) }</a:t>
            </a:r>
          </a:p>
          <a:p>
            <a:pPr>
              <a:lnSpc>
                <a:spcPct val="79000"/>
              </a:lnSpc>
              <a:buFontTx/>
              <a:buNone/>
            </a:pPr>
            <a:endParaRPr lang="en-US" altLang="zh-CN" b="1" smtClean="0">
              <a:ea typeface="宋体" panose="02010600030101010101" pitchFamily="2" charset="-122"/>
              <a:sym typeface="Symbol" panose="05050102010706020507" pitchFamily="18" charset="2"/>
            </a:endParaRPr>
          </a:p>
          <a:p>
            <a:pPr>
              <a:lnSpc>
                <a:spcPct val="79000"/>
              </a:lnSpc>
              <a:buFontTx/>
              <a:buNone/>
            </a:pPr>
            <a:r>
              <a:rPr lang="en-US" altLang="zh-CN" b="1" smtClean="0">
                <a:ea typeface="宋体" panose="02010600030101010101" pitchFamily="2" charset="-122"/>
                <a:sym typeface="Symbol" panose="05050102010706020507" pitchFamily="18" charset="2"/>
              </a:rPr>
              <a:t>  =&gt;</a:t>
            </a:r>
            <a:r>
              <a:rPr lang="en-US" altLang="zh-CN" smtClean="0">
                <a:ea typeface="宋体" panose="02010600030101010101" pitchFamily="2" charset="-122"/>
                <a:sym typeface="Symbol" panose="05050102010706020507" pitchFamily="18" charset="2"/>
              </a:rPr>
              <a:t>Traversing a parse tree for a Translation-Scheme produces the translation. (we will employ only DFS)</a:t>
            </a:r>
          </a:p>
          <a:p>
            <a:pPr>
              <a:lnSpc>
                <a:spcPct val="79000"/>
              </a:lnSpc>
              <a:buFontTx/>
              <a:buNone/>
            </a:pPr>
            <a:r>
              <a:rPr lang="en-US" altLang="zh-CN" smtClean="0">
                <a:ea typeface="宋体" panose="02010600030101010101" pitchFamily="2" charset="-122"/>
                <a:sym typeface="Symbol" panose="05050102010706020507" pitchFamily="18" charset="2"/>
              </a:rPr>
              <a:t>  =&gt;Translation schemes also help in materializing L-attributed Definitions.</a:t>
            </a:r>
            <a:endParaRPr lang="zh-CN" altLang="en-US" smtClean="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6291">
                                            <p:txEl>
                                              <p:pRg st="3" end="3"/>
                                            </p:txEl>
                                          </p:spTgt>
                                        </p:tgtEl>
                                        <p:attrNameLst>
                                          <p:attrName>style.visibility</p:attrName>
                                        </p:attrNameLst>
                                      </p:cBhvr>
                                      <p:to>
                                        <p:strVal val="visible"/>
                                      </p:to>
                                    </p:set>
                                    <p:animEffect transition="in" filter="wipe(left)">
                                      <p:cBhvr>
                                        <p:cTn id="7" dur="1000"/>
                                        <p:tgtEl>
                                          <p:spTgt spid="396291">
                                            <p:txEl>
                                              <p:pRg st="3" end="3"/>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396291">
                                            <p:txEl>
                                              <p:pRg st="4" end="4"/>
                                            </p:txEl>
                                          </p:spTgt>
                                        </p:tgtEl>
                                        <p:attrNameLst>
                                          <p:attrName>style.visibility</p:attrName>
                                        </p:attrNameLst>
                                      </p:cBhvr>
                                      <p:to>
                                        <p:strVal val="visible"/>
                                      </p:to>
                                    </p:set>
                                    <p:animEffect transition="in" filter="wipe(left)">
                                      <p:cBhvr>
                                        <p:cTn id="11" dur="1000"/>
                                        <p:tgtEl>
                                          <p:spTgt spid="396291">
                                            <p:txEl>
                                              <p:pRg st="4" end="4"/>
                                            </p:txEl>
                                          </p:spTgt>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396291">
                                            <p:txEl>
                                              <p:pRg st="5" end="5"/>
                                            </p:txEl>
                                          </p:spTgt>
                                        </p:tgtEl>
                                        <p:attrNameLst>
                                          <p:attrName>style.visibility</p:attrName>
                                        </p:attrNameLst>
                                      </p:cBhvr>
                                      <p:to>
                                        <p:strVal val="visible"/>
                                      </p:to>
                                    </p:set>
                                    <p:animEffect transition="in" filter="wipe(left)">
                                      <p:cBhvr>
                                        <p:cTn id="15" dur="1000"/>
                                        <p:tgtEl>
                                          <p:spTgt spid="396291">
                                            <p:txEl>
                                              <p:pRg st="5" end="5"/>
                                            </p:txEl>
                                          </p:spTgt>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396291">
                                            <p:txEl>
                                              <p:pRg st="6" end="6"/>
                                            </p:txEl>
                                          </p:spTgt>
                                        </p:tgtEl>
                                        <p:attrNameLst>
                                          <p:attrName>style.visibility</p:attrName>
                                        </p:attrNameLst>
                                      </p:cBhvr>
                                      <p:to>
                                        <p:strVal val="visible"/>
                                      </p:to>
                                    </p:set>
                                    <p:animEffect transition="in" filter="wipe(left)">
                                      <p:cBhvr>
                                        <p:cTn id="19" dur="1000"/>
                                        <p:tgtEl>
                                          <p:spTgt spid="396291">
                                            <p:txEl>
                                              <p:pRg st="6" end="6"/>
                                            </p:txEl>
                                          </p:spTgt>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396291">
                                            <p:txEl>
                                              <p:pRg st="7" end="7"/>
                                            </p:txEl>
                                          </p:spTgt>
                                        </p:tgtEl>
                                        <p:attrNameLst>
                                          <p:attrName>style.visibility</p:attrName>
                                        </p:attrNameLst>
                                      </p:cBhvr>
                                      <p:to>
                                        <p:strVal val="visible"/>
                                      </p:to>
                                    </p:set>
                                    <p:animEffect transition="in" filter="wipe(left)">
                                      <p:cBhvr>
                                        <p:cTn id="23" dur="1000"/>
                                        <p:tgtEl>
                                          <p:spTgt spid="396291">
                                            <p:txEl>
                                              <p:pRg st="7" end="7"/>
                                            </p:txEl>
                                          </p:spTgt>
                                        </p:tgtEl>
                                      </p:cBhvr>
                                    </p:animEffect>
                                  </p:childTnLst>
                                </p:cTn>
                              </p:par>
                            </p:childTnLst>
                          </p:cTn>
                        </p:par>
                        <p:par>
                          <p:cTn id="24" fill="hold" nodeType="afterGroup">
                            <p:stCondLst>
                              <p:cond delay="5000"/>
                            </p:stCondLst>
                            <p:childTnLst>
                              <p:par>
                                <p:cTn id="25" presetID="22" presetClass="entr" presetSubtype="8" fill="hold" nodeType="afterEffect">
                                  <p:stCondLst>
                                    <p:cond delay="0"/>
                                  </p:stCondLst>
                                  <p:childTnLst>
                                    <p:set>
                                      <p:cBhvr>
                                        <p:cTn id="26" dur="1" fill="hold">
                                          <p:stCondLst>
                                            <p:cond delay="0"/>
                                          </p:stCondLst>
                                        </p:cTn>
                                        <p:tgtEl>
                                          <p:spTgt spid="396291">
                                            <p:txEl>
                                              <p:pRg st="8" end="8"/>
                                            </p:txEl>
                                          </p:spTgt>
                                        </p:tgtEl>
                                        <p:attrNameLst>
                                          <p:attrName>style.visibility</p:attrName>
                                        </p:attrNameLst>
                                      </p:cBhvr>
                                      <p:to>
                                        <p:strVal val="visible"/>
                                      </p:to>
                                    </p:set>
                                    <p:animEffect transition="in" filter="wipe(left)">
                                      <p:cBhvr>
                                        <p:cTn id="27" dur="1000"/>
                                        <p:tgtEl>
                                          <p:spTgt spid="396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584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584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9EE15DEE-FD7D-4B7E-9708-793AB56C6E56}" type="slidenum">
              <a:rPr lang="zh-CN" altLang="en-US" sz="800"/>
              <a:pPr>
                <a:spcBef>
                  <a:spcPct val="0"/>
                </a:spcBef>
                <a:buFontTx/>
                <a:buNone/>
              </a:pPr>
              <a:t>34</a:t>
            </a:fld>
            <a:endParaRPr lang="en-US" altLang="zh-CN" sz="800"/>
          </a:p>
        </p:txBody>
      </p:sp>
      <p:sp>
        <p:nvSpPr>
          <p:cNvPr id="35845" name="Rectangle 2"/>
          <p:cNvSpPr>
            <a:spLocks noGrp="1" noChangeArrowheads="1"/>
          </p:cNvSpPr>
          <p:nvPr>
            <p:ph type="title"/>
          </p:nvPr>
        </p:nvSpPr>
        <p:spPr/>
        <p:txBody>
          <a:bodyPr/>
          <a:lstStyle/>
          <a:p>
            <a:r>
              <a:rPr lang="en-US" altLang="zh-CN" smtClean="0">
                <a:ea typeface="宋体" panose="02010600030101010101" pitchFamily="2" charset="-122"/>
              </a:rPr>
              <a:t>Translation Schemes - example</a:t>
            </a:r>
            <a:endParaRPr lang="zh-CN" altLang="en-US" smtClean="0">
              <a:ea typeface="宋体" panose="02010600030101010101" pitchFamily="2" charset="-122"/>
            </a:endParaRPr>
          </a:p>
        </p:txBody>
      </p:sp>
      <p:sp>
        <p:nvSpPr>
          <p:cNvPr id="403459" name="Rectangle 3"/>
          <p:cNvSpPr>
            <a:spLocks noGrp="1" noChangeArrowheads="1"/>
          </p:cNvSpPr>
          <p:nvPr>
            <p:ph type="body" idx="1"/>
          </p:nvPr>
        </p:nvSpPr>
        <p:spPr>
          <a:xfrm>
            <a:off x="381000" y="1219200"/>
            <a:ext cx="8077200" cy="4419600"/>
          </a:xfrm>
        </p:spPr>
        <p:txBody>
          <a:bodyPr/>
          <a:lstStyle/>
          <a:p>
            <a:r>
              <a:rPr lang="en-US" altLang="zh-CN" smtClean="0">
                <a:ea typeface="宋体" panose="02010600030101010101" pitchFamily="2" charset="-122"/>
              </a:rPr>
              <a:t>The production and semantic rule:</a:t>
            </a:r>
          </a:p>
          <a:p>
            <a:pPr>
              <a:buFontTx/>
              <a:buNone/>
            </a:pPr>
            <a:r>
              <a:rPr lang="en-US" altLang="zh-CN" smtClean="0">
                <a:ea typeface="宋体" panose="02010600030101010101" pitchFamily="2" charset="-122"/>
              </a:rPr>
              <a:t>	Production                         semantic rule</a:t>
            </a:r>
          </a:p>
          <a:p>
            <a:pPr>
              <a:buFontTx/>
              <a:buNone/>
            </a:pPr>
            <a:r>
              <a:rPr lang="en-US" altLang="zh-CN" smtClean="0">
                <a:ea typeface="宋体" panose="02010600030101010101" pitchFamily="2" charset="-122"/>
              </a:rPr>
              <a:t>	T        T1 * F                     T.val := T1.val * F.val</a:t>
            </a:r>
          </a:p>
          <a:p>
            <a:pPr>
              <a:buFontTx/>
              <a:buNone/>
            </a:pPr>
            <a:r>
              <a:rPr lang="en-US" altLang="zh-CN" smtClean="0">
                <a:ea typeface="宋体" panose="02010600030101010101" pitchFamily="2" charset="-122"/>
              </a:rPr>
              <a:t>	</a:t>
            </a:r>
          </a:p>
          <a:p>
            <a:pPr>
              <a:buFontTx/>
              <a:buNone/>
            </a:pPr>
            <a:endParaRPr lang="en-US" altLang="zh-CN" smtClean="0">
              <a:ea typeface="宋体" panose="02010600030101010101" pitchFamily="2" charset="-122"/>
            </a:endParaRP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Yield the following production and semantic action:</a:t>
            </a:r>
          </a:p>
          <a:p>
            <a:pPr>
              <a:buFontTx/>
              <a:buNone/>
            </a:pPr>
            <a:r>
              <a:rPr lang="en-US" altLang="zh-CN" smtClean="0">
                <a:ea typeface="宋体" panose="02010600030101010101" pitchFamily="2" charset="-122"/>
              </a:rPr>
              <a:t>	T        T1 * F                   {T.val := T1.val * F.val}</a:t>
            </a:r>
          </a:p>
        </p:txBody>
      </p:sp>
      <p:sp>
        <p:nvSpPr>
          <p:cNvPr id="35847" name="Line 4"/>
          <p:cNvSpPr>
            <a:spLocks noChangeShapeType="1"/>
          </p:cNvSpPr>
          <p:nvPr/>
        </p:nvSpPr>
        <p:spPr bwMode="auto">
          <a:xfrm>
            <a:off x="1143000" y="228600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3461" name="Line 5"/>
          <p:cNvSpPr>
            <a:spLocks noChangeShapeType="1"/>
          </p:cNvSpPr>
          <p:nvPr/>
        </p:nvSpPr>
        <p:spPr bwMode="auto">
          <a:xfrm>
            <a:off x="1143000" y="449580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3463" name="AutoShape 7"/>
          <p:cNvSpPr>
            <a:spLocks noChangeArrowheads="1"/>
          </p:cNvSpPr>
          <p:nvPr/>
        </p:nvSpPr>
        <p:spPr bwMode="auto">
          <a:xfrm>
            <a:off x="3429000" y="2667000"/>
            <a:ext cx="228600" cy="1143000"/>
          </a:xfrm>
          <a:prstGeom prst="downArrow">
            <a:avLst>
              <a:gd name="adj1" fmla="val 50000"/>
              <a:gd name="adj2" fmla="val 1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2000"/>
                                  </p:stCondLst>
                                  <p:childTnLst>
                                    <p:set>
                                      <p:cBhvr>
                                        <p:cTn id="6" dur="1" fill="hold">
                                          <p:stCondLst>
                                            <p:cond delay="0"/>
                                          </p:stCondLst>
                                        </p:cTn>
                                        <p:tgtEl>
                                          <p:spTgt spid="403463"/>
                                        </p:tgtEl>
                                        <p:attrNameLst>
                                          <p:attrName>style.visibility</p:attrName>
                                        </p:attrNameLst>
                                      </p:cBhvr>
                                      <p:to>
                                        <p:strVal val="visible"/>
                                      </p:to>
                                    </p:set>
                                    <p:animEffect transition="in" filter="wipe(up)">
                                      <p:cBhvr>
                                        <p:cTn id="7" dur="1000"/>
                                        <p:tgtEl>
                                          <p:spTgt spid="4034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3459">
                                            <p:txEl>
                                              <p:pRg st="6" end="6"/>
                                            </p:txEl>
                                          </p:spTgt>
                                        </p:tgtEl>
                                        <p:attrNameLst>
                                          <p:attrName>style.visibility</p:attrName>
                                        </p:attrNameLst>
                                      </p:cBhvr>
                                      <p:to>
                                        <p:strVal val="visible"/>
                                      </p:to>
                                    </p:set>
                                    <p:animEffect transition="in" filter="wipe(left)">
                                      <p:cBhvr>
                                        <p:cTn id="12" dur="2000"/>
                                        <p:tgtEl>
                                          <p:spTgt spid="403459">
                                            <p:txEl>
                                              <p:pRg st="6" end="6"/>
                                            </p:txEl>
                                          </p:spTgt>
                                        </p:tgtEl>
                                      </p:cBhvr>
                                    </p:animEffect>
                                  </p:childTnLst>
                                </p:cTn>
                              </p:par>
                            </p:childTnLst>
                          </p:cTn>
                        </p:par>
                        <p:par>
                          <p:cTn id="13" fill="hold" nodeType="afterGroup">
                            <p:stCondLst>
                              <p:cond delay="2000"/>
                            </p:stCondLst>
                            <p:childTnLst>
                              <p:par>
                                <p:cTn id="14" presetID="22" presetClass="entr" presetSubtype="8" fill="hold" nodeType="afterEffect">
                                  <p:stCondLst>
                                    <p:cond delay="0"/>
                                  </p:stCondLst>
                                  <p:childTnLst>
                                    <p:set>
                                      <p:cBhvr>
                                        <p:cTn id="15" dur="1" fill="hold">
                                          <p:stCondLst>
                                            <p:cond delay="0"/>
                                          </p:stCondLst>
                                        </p:cTn>
                                        <p:tgtEl>
                                          <p:spTgt spid="403459">
                                            <p:txEl>
                                              <p:pRg st="7" end="7"/>
                                            </p:txEl>
                                          </p:spTgt>
                                        </p:tgtEl>
                                        <p:attrNameLst>
                                          <p:attrName>style.visibility</p:attrName>
                                        </p:attrNameLst>
                                      </p:cBhvr>
                                      <p:to>
                                        <p:strVal val="visible"/>
                                      </p:to>
                                    </p:set>
                                    <p:animEffect transition="in" filter="wipe(left)">
                                      <p:cBhvr>
                                        <p:cTn id="16" dur="2000"/>
                                        <p:tgtEl>
                                          <p:spTgt spid="403459">
                                            <p:txEl>
                                              <p:pRg st="7" end="7"/>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403461"/>
                                        </p:tgtEl>
                                        <p:attrNameLst>
                                          <p:attrName>style.visibility</p:attrName>
                                        </p:attrNameLst>
                                      </p:cBhvr>
                                      <p:to>
                                        <p:strVal val="visible"/>
                                      </p:to>
                                    </p:set>
                                    <p:animEffect transition="in" filter="wipe(left)">
                                      <p:cBhvr>
                                        <p:cTn id="19" dur="1000"/>
                                        <p:tgtEl>
                                          <p:spTgt spid="403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686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686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7616F763-33D8-4050-805B-DC52C0CFD06D}" type="slidenum">
              <a:rPr lang="zh-CN" altLang="en-US" sz="800"/>
              <a:pPr>
                <a:spcBef>
                  <a:spcPct val="0"/>
                </a:spcBef>
                <a:buFontTx/>
                <a:buNone/>
              </a:pPr>
              <a:t>35</a:t>
            </a:fld>
            <a:endParaRPr lang="en-US" altLang="zh-CN" sz="800"/>
          </a:p>
        </p:txBody>
      </p:sp>
      <p:sp>
        <p:nvSpPr>
          <p:cNvPr id="3686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Writing Translation Schemes</a:t>
            </a:r>
          </a:p>
        </p:txBody>
      </p:sp>
      <p:sp>
        <p:nvSpPr>
          <p:cNvPr id="397315" name="Rectangle 3"/>
          <p:cNvSpPr>
            <a:spLocks noGrp="1" noChangeArrowheads="1"/>
          </p:cNvSpPr>
          <p:nvPr>
            <p:ph type="body" idx="1"/>
          </p:nvPr>
        </p:nvSpPr>
        <p:spPr>
          <a:xfrm>
            <a:off x="382588" y="1219200"/>
            <a:ext cx="9066212" cy="4800600"/>
          </a:xfrm>
        </p:spPr>
        <p:txBody>
          <a:bodyPr/>
          <a:lstStyle/>
          <a:p>
            <a:pPr>
              <a:lnSpc>
                <a:spcPct val="79000"/>
              </a:lnSpc>
            </a:pPr>
            <a:r>
              <a:rPr lang="en-US" altLang="zh-CN" smtClean="0">
                <a:ea typeface="宋体" panose="02010600030101010101" pitchFamily="2" charset="-122"/>
              </a:rPr>
              <a:t>Start with a Syntax-Directed Definition.</a:t>
            </a:r>
          </a:p>
          <a:p>
            <a:pPr>
              <a:lnSpc>
                <a:spcPct val="79000"/>
              </a:lnSpc>
            </a:pPr>
            <a:r>
              <a:rPr lang="en-US" altLang="zh-CN" i="1" smtClean="0">
                <a:ea typeface="宋体" panose="02010600030101010101" pitchFamily="2" charset="-122"/>
              </a:rPr>
              <a:t>In General</a:t>
            </a:r>
            <a:r>
              <a:rPr lang="en-US" altLang="zh-CN" smtClean="0">
                <a:ea typeface="宋体" panose="02010600030101010101" pitchFamily="2" charset="-122"/>
              </a:rPr>
              <a:t>: Make sure that we never refer to an attribute that has not been defined already.</a:t>
            </a:r>
          </a:p>
          <a:p>
            <a:pPr>
              <a:lnSpc>
                <a:spcPct val="79000"/>
              </a:lnSpc>
            </a:pPr>
            <a:r>
              <a:rPr lang="en-US" altLang="zh-CN" smtClean="0">
                <a:ea typeface="宋体" panose="02010600030101010101" pitchFamily="2" charset="-122"/>
              </a:rPr>
              <a:t>For S-Attributed Definitions, we simply put all semantic rules into {…} at the rightmost of each production.</a:t>
            </a:r>
          </a:p>
          <a:p>
            <a:pPr>
              <a:lnSpc>
                <a:spcPct val="79000"/>
              </a:lnSpc>
            </a:pPr>
            <a:r>
              <a:rPr lang="en-US" altLang="zh-CN" smtClean="0">
                <a:ea typeface="宋体" panose="02010600030101010101" pitchFamily="2" charset="-122"/>
              </a:rPr>
              <a:t>If both inherited and synthesized attributes are involved:</a:t>
            </a:r>
          </a:p>
          <a:p>
            <a:pPr lvl="1">
              <a:lnSpc>
                <a:spcPct val="70000"/>
              </a:lnSpc>
            </a:pPr>
            <a:r>
              <a:rPr lang="en-US" altLang="zh-CN" sz="2400" smtClean="0">
                <a:solidFill>
                  <a:schemeClr val="accent2"/>
                </a:solidFill>
                <a:ea typeface="宋体" panose="02010600030101010101" pitchFamily="2" charset="-122"/>
              </a:rPr>
              <a:t>An </a:t>
            </a:r>
            <a:r>
              <a:rPr lang="en-US" altLang="zh-CN" sz="2400" b="1" smtClean="0">
                <a:solidFill>
                  <a:schemeClr val="accent2"/>
                </a:solidFill>
                <a:ea typeface="宋体" panose="02010600030101010101" pitchFamily="2" charset="-122"/>
              </a:rPr>
              <a:t>inherited attribute</a:t>
            </a:r>
            <a:r>
              <a:rPr lang="en-US" altLang="zh-CN" sz="2400" smtClean="0">
                <a:solidFill>
                  <a:schemeClr val="accent2"/>
                </a:solidFill>
                <a:ea typeface="宋体" panose="02010600030101010101" pitchFamily="2" charset="-122"/>
              </a:rPr>
              <a:t> for a symbol on the </a:t>
            </a:r>
            <a:r>
              <a:rPr lang="en-US" altLang="zh-CN" sz="2400" b="1" smtClean="0">
                <a:solidFill>
                  <a:schemeClr val="accent2"/>
                </a:solidFill>
                <a:ea typeface="宋体" panose="02010600030101010101" pitchFamily="2" charset="-122"/>
              </a:rPr>
              <a:t>RHS</a:t>
            </a:r>
            <a:r>
              <a:rPr lang="en-US" altLang="zh-CN" sz="2400" smtClean="0">
                <a:solidFill>
                  <a:schemeClr val="accent2"/>
                </a:solidFill>
                <a:ea typeface="宋体" panose="02010600030101010101" pitchFamily="2" charset="-122"/>
              </a:rPr>
              <a:t> of a production must be computed in an action before that symbol.</a:t>
            </a:r>
          </a:p>
          <a:p>
            <a:pPr lvl="1">
              <a:lnSpc>
                <a:spcPct val="70000"/>
              </a:lnSpc>
            </a:pPr>
            <a:r>
              <a:rPr lang="en-US" altLang="zh-CN" sz="2400" smtClean="0">
                <a:solidFill>
                  <a:schemeClr val="accent2"/>
                </a:solidFill>
                <a:ea typeface="宋体" panose="02010600030101010101" pitchFamily="2" charset="-122"/>
              </a:rPr>
              <a:t>An action must not refer to a synthesized attribute of a symbol that is to the right.</a:t>
            </a:r>
          </a:p>
          <a:p>
            <a:pPr lvl="1">
              <a:lnSpc>
                <a:spcPct val="70000"/>
              </a:lnSpc>
            </a:pPr>
            <a:r>
              <a:rPr lang="en-US" altLang="zh-CN" sz="2400" smtClean="0">
                <a:solidFill>
                  <a:schemeClr val="accent2"/>
                </a:solidFill>
                <a:ea typeface="宋体" panose="02010600030101010101" pitchFamily="2" charset="-122"/>
              </a:rPr>
              <a:t>A </a:t>
            </a:r>
            <a:r>
              <a:rPr lang="en-US" altLang="zh-CN" sz="2400" b="1" smtClean="0">
                <a:solidFill>
                  <a:schemeClr val="accent2"/>
                </a:solidFill>
                <a:ea typeface="宋体" panose="02010600030101010101" pitchFamily="2" charset="-122"/>
              </a:rPr>
              <a:t>synthesized attribute</a:t>
            </a:r>
            <a:r>
              <a:rPr lang="en-US" altLang="zh-CN" sz="2400" smtClean="0">
                <a:solidFill>
                  <a:schemeClr val="accent2"/>
                </a:solidFill>
                <a:ea typeface="宋体" panose="02010600030101010101" pitchFamily="2" charset="-122"/>
              </a:rPr>
              <a:t> for the NT on the LHS can only be computed after all attributes it references are already computed. (the action for such attributes is typically placed in the rightmost end of the production).</a:t>
            </a:r>
          </a:p>
          <a:p>
            <a:pPr>
              <a:lnSpc>
                <a:spcPct val="79000"/>
              </a:lnSpc>
            </a:pPr>
            <a:r>
              <a:rPr lang="en-US" altLang="zh-CN" smtClean="0">
                <a:ea typeface="宋体" panose="02010600030101010101" pitchFamily="2" charset="-122"/>
              </a:rPr>
              <a:t>L-attributed definitions are suited for the above…</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7315">
                                            <p:txEl>
                                              <p:pRg st="4" end="4"/>
                                            </p:txEl>
                                          </p:spTgt>
                                        </p:tgtEl>
                                        <p:attrNameLst>
                                          <p:attrName>style.visibility</p:attrName>
                                        </p:attrNameLst>
                                      </p:cBhvr>
                                      <p:to>
                                        <p:strVal val="visible"/>
                                      </p:to>
                                    </p:set>
                                    <p:animEffect transition="in" filter="wipe(left)">
                                      <p:cBhvr>
                                        <p:cTn id="7" dur="2000"/>
                                        <p:tgtEl>
                                          <p:spTgt spid="397315">
                                            <p:txEl>
                                              <p:pRg st="4" end="4"/>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4000"/>
                                  </p:stCondLst>
                                  <p:childTnLst>
                                    <p:set>
                                      <p:cBhvr>
                                        <p:cTn id="10" dur="1" fill="hold">
                                          <p:stCondLst>
                                            <p:cond delay="0"/>
                                          </p:stCondLst>
                                        </p:cTn>
                                        <p:tgtEl>
                                          <p:spTgt spid="397315">
                                            <p:txEl>
                                              <p:pRg st="5" end="5"/>
                                            </p:txEl>
                                          </p:spTgt>
                                        </p:tgtEl>
                                        <p:attrNameLst>
                                          <p:attrName>style.visibility</p:attrName>
                                        </p:attrNameLst>
                                      </p:cBhvr>
                                      <p:to>
                                        <p:strVal val="visible"/>
                                      </p:to>
                                    </p:set>
                                    <p:animEffect transition="in" filter="wipe(left)">
                                      <p:cBhvr>
                                        <p:cTn id="11" dur="2000"/>
                                        <p:tgtEl>
                                          <p:spTgt spid="397315">
                                            <p:txEl>
                                              <p:pRg st="5" end="5"/>
                                            </p:txEl>
                                          </p:spTgt>
                                        </p:tgtEl>
                                      </p:cBhvr>
                                    </p:animEffect>
                                  </p:childTnLst>
                                </p:cTn>
                              </p:par>
                            </p:childTnLst>
                          </p:cTn>
                        </p:par>
                        <p:par>
                          <p:cTn id="12" fill="hold" nodeType="afterGroup">
                            <p:stCondLst>
                              <p:cond delay="8000"/>
                            </p:stCondLst>
                            <p:childTnLst>
                              <p:par>
                                <p:cTn id="13" presetID="22" presetClass="entr" presetSubtype="8" fill="hold" nodeType="afterEffect">
                                  <p:stCondLst>
                                    <p:cond delay="4000"/>
                                  </p:stCondLst>
                                  <p:childTnLst>
                                    <p:set>
                                      <p:cBhvr>
                                        <p:cTn id="14" dur="1" fill="hold">
                                          <p:stCondLst>
                                            <p:cond delay="0"/>
                                          </p:stCondLst>
                                        </p:cTn>
                                        <p:tgtEl>
                                          <p:spTgt spid="397315">
                                            <p:txEl>
                                              <p:pRg st="6" end="6"/>
                                            </p:txEl>
                                          </p:spTgt>
                                        </p:tgtEl>
                                        <p:attrNameLst>
                                          <p:attrName>style.visibility</p:attrName>
                                        </p:attrNameLst>
                                      </p:cBhvr>
                                      <p:to>
                                        <p:strVal val="visible"/>
                                      </p:to>
                                    </p:set>
                                    <p:animEffect transition="in" filter="wipe(left)">
                                      <p:cBhvr>
                                        <p:cTn id="15" dur="2000"/>
                                        <p:tgtEl>
                                          <p:spTgt spid="397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7891"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7892"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EF10206F-1A9D-4615-B680-0721DF324A30}" type="slidenum">
              <a:rPr lang="zh-CN" altLang="en-US" sz="800"/>
              <a:pPr>
                <a:spcBef>
                  <a:spcPct val="0"/>
                </a:spcBef>
                <a:buFontTx/>
                <a:buNone/>
              </a:pPr>
              <a:t>36</a:t>
            </a:fld>
            <a:endParaRPr lang="en-US" altLang="zh-CN" sz="800"/>
          </a:p>
        </p:txBody>
      </p:sp>
      <p:sp>
        <p:nvSpPr>
          <p:cNvPr id="37893" name="Rectangle 2"/>
          <p:cNvSpPr>
            <a:spLocks noGrp="1" noChangeArrowheads="1"/>
          </p:cNvSpPr>
          <p:nvPr>
            <p:ph type="title"/>
          </p:nvPr>
        </p:nvSpPr>
        <p:spPr>
          <a:xfrm>
            <a:off x="228600" y="152400"/>
            <a:ext cx="9371013" cy="914400"/>
          </a:xfrm>
        </p:spPr>
        <p:txBody>
          <a:bodyPr/>
          <a:lstStyle/>
          <a:p>
            <a:r>
              <a:rPr lang="en-US" altLang="zh-CN" smtClean="0">
                <a:ea typeface="宋体" panose="02010600030101010101" pitchFamily="2" charset="-122"/>
              </a:rPr>
              <a:t>Examples</a:t>
            </a:r>
          </a:p>
        </p:txBody>
      </p:sp>
      <p:sp>
        <p:nvSpPr>
          <p:cNvPr id="398339" name="Rectangle 3"/>
          <p:cNvSpPr>
            <a:spLocks noChangeArrowheads="1"/>
          </p:cNvSpPr>
          <p:nvPr/>
        </p:nvSpPr>
        <p:spPr bwMode="auto">
          <a:xfrm>
            <a:off x="2222500" y="1143000"/>
            <a:ext cx="53975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23875" indent="-523875" eaLnBrk="1" hangingPunct="1">
              <a:lnSpc>
                <a:spcPct val="89000"/>
              </a:lnSpc>
              <a:spcBef>
                <a:spcPct val="10000"/>
              </a:spcBef>
              <a:buClr>
                <a:srgbClr val="FF3300"/>
              </a:buClr>
              <a:buSzPct val="75000"/>
              <a:buFont typeface="Wingdings" pitchFamily="2" charset="2"/>
              <a:buNone/>
              <a:tabLst>
                <a:tab pos="1025525" algn="l"/>
              </a:tabLst>
              <a:defRPr/>
            </a:pPr>
            <a:r>
              <a:rPr lang="en-US" altLang="zh-CN" sz="2800">
                <a:ea typeface="宋体" pitchFamily="2" charset="-122"/>
                <a:sym typeface="Symbol" pitchFamily="18" charset="2"/>
              </a:rPr>
              <a:t>S  A</a:t>
            </a:r>
            <a:r>
              <a:rPr lang="en-US" altLang="zh-CN" sz="2800" baseline="-25000">
                <a:ea typeface="宋体" pitchFamily="2" charset="-122"/>
                <a:sym typeface="Symbol" pitchFamily="18" charset="2"/>
              </a:rPr>
              <a:t>1 </a:t>
            </a:r>
            <a:r>
              <a:rPr lang="en-US" altLang="zh-CN" sz="2800">
                <a:ea typeface="宋体" pitchFamily="2" charset="-122"/>
                <a:sym typeface="Symbol" pitchFamily="18" charset="2"/>
              </a:rPr>
              <a:t>{S.</a:t>
            </a:r>
            <a:r>
              <a:rPr lang="en-US" altLang="zh-CN" sz="2800" i="1">
                <a:ea typeface="宋体" pitchFamily="2" charset="-122"/>
                <a:sym typeface="Symbol" pitchFamily="18" charset="2"/>
              </a:rPr>
              <a:t>s</a:t>
            </a:r>
            <a:r>
              <a:rPr lang="en-US" altLang="zh-CN" sz="2800">
                <a:ea typeface="宋体" pitchFamily="2" charset="-122"/>
                <a:sym typeface="Symbol" pitchFamily="18" charset="2"/>
              </a:rPr>
              <a:t> = A</a:t>
            </a:r>
            <a:r>
              <a:rPr lang="en-US" altLang="zh-CN" sz="2800" baseline="-25000">
                <a:ea typeface="宋体" pitchFamily="2" charset="-122"/>
                <a:sym typeface="Symbol" pitchFamily="18" charset="2"/>
              </a:rPr>
              <a:t>1</a:t>
            </a:r>
            <a:r>
              <a:rPr lang="en-US" altLang="zh-CN" sz="2800">
                <a:ea typeface="宋体" pitchFamily="2" charset="-122"/>
                <a:sym typeface="Symbol" pitchFamily="18" charset="2"/>
              </a:rPr>
              <a:t>.</a:t>
            </a:r>
            <a:r>
              <a:rPr lang="en-US" altLang="zh-CN" sz="2800" i="1">
                <a:ea typeface="宋体" pitchFamily="2" charset="-122"/>
                <a:sym typeface="Symbol" pitchFamily="18" charset="2"/>
              </a:rPr>
              <a:t>s</a:t>
            </a:r>
            <a:r>
              <a:rPr lang="en-US" altLang="zh-CN" sz="2800">
                <a:ea typeface="宋体" pitchFamily="2" charset="-122"/>
                <a:sym typeface="Symbol" pitchFamily="18" charset="2"/>
              </a:rPr>
              <a:t>+A</a:t>
            </a:r>
            <a:r>
              <a:rPr lang="en-US" altLang="zh-CN" sz="2800" baseline="-25000">
                <a:ea typeface="宋体" pitchFamily="2" charset="-122"/>
                <a:sym typeface="Symbol" pitchFamily="18" charset="2"/>
              </a:rPr>
              <a:t>2</a:t>
            </a:r>
            <a:r>
              <a:rPr lang="en-US" altLang="zh-CN" sz="2800">
                <a:ea typeface="宋体" pitchFamily="2" charset="-122"/>
                <a:sym typeface="Symbol" pitchFamily="18" charset="2"/>
              </a:rPr>
              <a:t>.</a:t>
            </a:r>
            <a:r>
              <a:rPr lang="en-US" altLang="zh-CN" sz="2800" i="1">
                <a:ea typeface="宋体" pitchFamily="2" charset="-122"/>
                <a:sym typeface="Symbol" pitchFamily="18" charset="2"/>
              </a:rPr>
              <a:t>s</a:t>
            </a:r>
            <a:r>
              <a:rPr lang="en-US" altLang="zh-CN" sz="2800">
                <a:ea typeface="宋体" pitchFamily="2" charset="-122"/>
                <a:sym typeface="Symbol" pitchFamily="18" charset="2"/>
              </a:rPr>
              <a:t>}</a:t>
            </a:r>
            <a:r>
              <a:rPr lang="en-US" altLang="zh-CN" sz="2800" baseline="-25000">
                <a:ea typeface="宋体" pitchFamily="2" charset="-122"/>
                <a:sym typeface="Symbol" pitchFamily="18" charset="2"/>
              </a:rPr>
              <a:t> </a:t>
            </a:r>
            <a:r>
              <a:rPr lang="en-US" altLang="zh-CN" sz="2800">
                <a:ea typeface="宋体" pitchFamily="2" charset="-122"/>
                <a:sym typeface="Symbol" pitchFamily="18" charset="2"/>
              </a:rPr>
              <a:t>A</a:t>
            </a:r>
            <a:r>
              <a:rPr lang="en-US" altLang="zh-CN" sz="2800" baseline="-25000">
                <a:ea typeface="宋体" pitchFamily="2" charset="-122"/>
                <a:sym typeface="Symbol" pitchFamily="18" charset="2"/>
              </a:rPr>
              <a:t>2</a:t>
            </a:r>
            <a:endParaRPr lang="en-US" altLang="zh-CN" sz="2800" i="1">
              <a:ea typeface="宋体" pitchFamily="2" charset="-122"/>
              <a:sym typeface="Symbol" pitchFamily="18" charset="2"/>
            </a:endParaRP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r>
              <a:rPr lang="en-US" altLang="zh-CN" sz="2800">
                <a:ea typeface="宋体" pitchFamily="2" charset="-122"/>
                <a:sym typeface="Symbol" pitchFamily="18" charset="2"/>
              </a:rPr>
              <a:t>A </a:t>
            </a:r>
            <a:r>
              <a:rPr lang="en-US" altLang="zh-CN" sz="2800">
                <a:solidFill>
                  <a:schemeClr val="accent2"/>
                </a:solidFill>
                <a:ea typeface="宋体" pitchFamily="2" charset="-122"/>
                <a:sym typeface="Symbol" pitchFamily="18" charset="2"/>
              </a:rPr>
              <a:t>a </a:t>
            </a:r>
            <a:r>
              <a:rPr lang="en-US" altLang="zh-CN" sz="2800">
                <a:ea typeface="宋体" pitchFamily="2" charset="-122"/>
                <a:sym typeface="Symbol" pitchFamily="18" charset="2"/>
              </a:rPr>
              <a:t>{A.</a:t>
            </a:r>
            <a:r>
              <a:rPr lang="en-US" altLang="zh-CN" sz="2800" i="1">
                <a:ea typeface="宋体" pitchFamily="2" charset="-122"/>
                <a:sym typeface="Symbol" pitchFamily="18" charset="2"/>
              </a:rPr>
              <a:t>s</a:t>
            </a:r>
            <a:r>
              <a:rPr lang="en-US" altLang="zh-CN" sz="2800">
                <a:ea typeface="宋体" pitchFamily="2" charset="-122"/>
                <a:sym typeface="Symbol" pitchFamily="18" charset="2"/>
              </a:rPr>
              <a:t> = 1}</a:t>
            </a: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endParaRPr lang="en-US" altLang="zh-CN" sz="2800" b="0">
              <a:effectLst>
                <a:outerShdw blurRad="38100" dist="38100" dir="2700000" algn="tl">
                  <a:srgbClr val="FFFFFF"/>
                </a:outerShdw>
              </a:effectLst>
              <a:ea typeface="宋体" pitchFamily="2" charset="-122"/>
            </a:endParaRP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r>
              <a:rPr lang="en-US" altLang="zh-CN" sz="2800" b="0">
                <a:effectLst>
                  <a:outerShdw blurRad="38100" dist="38100" dir="2700000" algn="tl">
                    <a:srgbClr val="FFFFFF"/>
                  </a:outerShdw>
                </a:effectLst>
                <a:ea typeface="宋体" pitchFamily="2" charset="-122"/>
              </a:rPr>
              <a:t>This will not work…</a:t>
            </a: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endParaRPr lang="en-US" altLang="zh-CN" sz="2800" b="0">
              <a:effectLst>
                <a:outerShdw blurRad="38100" dist="38100" dir="2700000" algn="tl">
                  <a:srgbClr val="FFFFFF"/>
                </a:outerShdw>
              </a:effectLst>
              <a:ea typeface="宋体" pitchFamily="2" charset="-122"/>
            </a:endParaRP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r>
              <a:rPr lang="en-US" altLang="zh-CN" sz="2800" b="0">
                <a:effectLst>
                  <a:outerShdw blurRad="38100" dist="38100" dir="2700000" algn="tl">
                    <a:srgbClr val="FFFFFF"/>
                  </a:outerShdw>
                </a:effectLst>
                <a:ea typeface="宋体" pitchFamily="2" charset="-122"/>
              </a:rPr>
              <a:t>On the other hand this is good:</a:t>
            </a: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r>
              <a:rPr lang="en-US" altLang="zh-CN" sz="2800">
                <a:ea typeface="宋体" pitchFamily="2" charset="-122"/>
                <a:sym typeface="Symbol" pitchFamily="18" charset="2"/>
              </a:rPr>
              <a:t>S  A</a:t>
            </a:r>
            <a:r>
              <a:rPr lang="en-US" altLang="zh-CN" sz="2800" baseline="-25000">
                <a:ea typeface="宋体" pitchFamily="2" charset="-122"/>
                <a:sym typeface="Symbol" pitchFamily="18" charset="2"/>
              </a:rPr>
              <a:t>1 </a:t>
            </a:r>
            <a:r>
              <a:rPr lang="en-US" altLang="zh-CN" sz="2800">
                <a:ea typeface="宋体" pitchFamily="2" charset="-122"/>
                <a:sym typeface="Symbol" pitchFamily="18" charset="2"/>
              </a:rPr>
              <a:t>A</a:t>
            </a:r>
            <a:r>
              <a:rPr lang="en-US" altLang="zh-CN" sz="2800" baseline="-25000">
                <a:ea typeface="宋体" pitchFamily="2" charset="-122"/>
                <a:sym typeface="Symbol" pitchFamily="18" charset="2"/>
              </a:rPr>
              <a:t>2 </a:t>
            </a:r>
            <a:r>
              <a:rPr lang="en-US" altLang="zh-CN" sz="2800">
                <a:ea typeface="宋体" pitchFamily="2" charset="-122"/>
                <a:sym typeface="Symbol" pitchFamily="18" charset="2"/>
              </a:rPr>
              <a:t>{S.</a:t>
            </a:r>
            <a:r>
              <a:rPr lang="en-US" altLang="zh-CN" sz="2800" i="1">
                <a:ea typeface="宋体" pitchFamily="2" charset="-122"/>
                <a:sym typeface="Symbol" pitchFamily="18" charset="2"/>
              </a:rPr>
              <a:t>s</a:t>
            </a:r>
            <a:r>
              <a:rPr lang="en-US" altLang="zh-CN" sz="2800">
                <a:ea typeface="宋体" pitchFamily="2" charset="-122"/>
                <a:sym typeface="Symbol" pitchFamily="18" charset="2"/>
              </a:rPr>
              <a:t> = A</a:t>
            </a:r>
            <a:r>
              <a:rPr lang="en-US" altLang="zh-CN" sz="2800" baseline="-25000">
                <a:ea typeface="宋体" pitchFamily="2" charset="-122"/>
                <a:sym typeface="Symbol" pitchFamily="18" charset="2"/>
              </a:rPr>
              <a:t>1</a:t>
            </a:r>
            <a:r>
              <a:rPr lang="en-US" altLang="zh-CN" sz="2800">
                <a:ea typeface="宋体" pitchFamily="2" charset="-122"/>
                <a:sym typeface="Symbol" pitchFamily="18" charset="2"/>
              </a:rPr>
              <a:t>.</a:t>
            </a:r>
            <a:r>
              <a:rPr lang="en-US" altLang="zh-CN" sz="2800" i="1">
                <a:ea typeface="宋体" pitchFamily="2" charset="-122"/>
                <a:sym typeface="Symbol" pitchFamily="18" charset="2"/>
              </a:rPr>
              <a:t>s</a:t>
            </a:r>
            <a:r>
              <a:rPr lang="en-US" altLang="zh-CN" sz="2800">
                <a:ea typeface="宋体" pitchFamily="2" charset="-122"/>
                <a:sym typeface="Symbol" pitchFamily="18" charset="2"/>
              </a:rPr>
              <a:t>+A</a:t>
            </a:r>
            <a:r>
              <a:rPr lang="en-US" altLang="zh-CN" sz="2800" baseline="-25000">
                <a:ea typeface="宋体" pitchFamily="2" charset="-122"/>
                <a:sym typeface="Symbol" pitchFamily="18" charset="2"/>
              </a:rPr>
              <a:t>2</a:t>
            </a:r>
            <a:r>
              <a:rPr lang="en-US" altLang="zh-CN" sz="2800">
                <a:ea typeface="宋体" pitchFamily="2" charset="-122"/>
                <a:sym typeface="Symbol" pitchFamily="18" charset="2"/>
              </a:rPr>
              <a:t>.</a:t>
            </a:r>
            <a:r>
              <a:rPr lang="en-US" altLang="zh-CN" sz="2800" i="1">
                <a:ea typeface="宋体" pitchFamily="2" charset="-122"/>
                <a:sym typeface="Symbol" pitchFamily="18" charset="2"/>
              </a:rPr>
              <a:t>s</a:t>
            </a:r>
            <a:r>
              <a:rPr lang="en-US" altLang="zh-CN" sz="2800">
                <a:ea typeface="宋体" pitchFamily="2" charset="-122"/>
                <a:sym typeface="Symbol" pitchFamily="18" charset="2"/>
              </a:rPr>
              <a:t>}</a:t>
            </a:r>
            <a:r>
              <a:rPr lang="en-US" altLang="zh-CN" sz="2800" baseline="-25000">
                <a:ea typeface="宋体" pitchFamily="2" charset="-122"/>
                <a:sym typeface="Symbol" pitchFamily="18" charset="2"/>
              </a:rPr>
              <a:t> </a:t>
            </a:r>
            <a:endParaRPr lang="en-US" altLang="zh-CN" sz="2800" i="1">
              <a:ea typeface="宋体" pitchFamily="2" charset="-122"/>
              <a:sym typeface="Symbol" pitchFamily="18" charset="2"/>
            </a:endParaRP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r>
              <a:rPr lang="en-US" altLang="zh-CN" sz="2800">
                <a:ea typeface="宋体" pitchFamily="2" charset="-122"/>
                <a:sym typeface="Symbol" pitchFamily="18" charset="2"/>
              </a:rPr>
              <a:t>A </a:t>
            </a:r>
            <a:r>
              <a:rPr lang="en-US" altLang="zh-CN" sz="2800">
                <a:solidFill>
                  <a:schemeClr val="accent2"/>
                </a:solidFill>
                <a:ea typeface="宋体" pitchFamily="2" charset="-122"/>
                <a:sym typeface="Symbol" pitchFamily="18" charset="2"/>
              </a:rPr>
              <a:t>a </a:t>
            </a:r>
            <a:r>
              <a:rPr lang="en-US" altLang="zh-CN" sz="2800">
                <a:ea typeface="宋体" pitchFamily="2" charset="-122"/>
                <a:sym typeface="Symbol" pitchFamily="18" charset="2"/>
              </a:rPr>
              <a:t>{A.</a:t>
            </a:r>
            <a:r>
              <a:rPr lang="en-US" altLang="zh-CN" sz="2800" i="1">
                <a:ea typeface="宋体" pitchFamily="2" charset="-122"/>
                <a:sym typeface="Symbol" pitchFamily="18" charset="2"/>
              </a:rPr>
              <a:t>s</a:t>
            </a:r>
            <a:r>
              <a:rPr lang="en-US" altLang="zh-CN" sz="2800">
                <a:ea typeface="宋体" pitchFamily="2" charset="-122"/>
                <a:sym typeface="Symbol" pitchFamily="18" charset="2"/>
              </a:rPr>
              <a:t> = 1}</a:t>
            </a:r>
          </a:p>
          <a:p>
            <a:pPr marL="523875" indent="-523875" eaLnBrk="1" hangingPunct="1">
              <a:lnSpc>
                <a:spcPct val="89000"/>
              </a:lnSpc>
              <a:spcBef>
                <a:spcPct val="10000"/>
              </a:spcBef>
              <a:buClr>
                <a:srgbClr val="FF3300"/>
              </a:buClr>
              <a:buSzPct val="75000"/>
              <a:buFont typeface="Wingdings" pitchFamily="2" charset="2"/>
              <a:buNone/>
              <a:tabLst>
                <a:tab pos="1025525" algn="l"/>
              </a:tabLst>
              <a:defRPr/>
            </a:pPr>
            <a:endParaRPr lang="zh-CN" altLang="en-US" sz="2800">
              <a:ea typeface="宋体" pitchFamily="2" charset="-122"/>
              <a:sym typeface="Symbol"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8339">
                                            <p:txEl>
                                              <p:pRg st="6" end="6"/>
                                            </p:txEl>
                                          </p:spTgt>
                                        </p:tgtEl>
                                        <p:attrNameLst>
                                          <p:attrName>style.visibility</p:attrName>
                                        </p:attrNameLst>
                                      </p:cBhvr>
                                      <p:to>
                                        <p:strVal val="visible"/>
                                      </p:to>
                                    </p:set>
                                    <p:animEffect transition="in" filter="wipe(left)">
                                      <p:cBhvr>
                                        <p:cTn id="7" dur="2000"/>
                                        <p:tgtEl>
                                          <p:spTgt spid="398339">
                                            <p:txEl>
                                              <p:pRg st="6" end="6"/>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98339">
                                            <p:txEl>
                                              <p:pRg st="7" end="7"/>
                                            </p:txEl>
                                          </p:spTgt>
                                        </p:tgtEl>
                                        <p:attrNameLst>
                                          <p:attrName>style.visibility</p:attrName>
                                        </p:attrNameLst>
                                      </p:cBhvr>
                                      <p:to>
                                        <p:strVal val="visible"/>
                                      </p:to>
                                    </p:set>
                                    <p:animEffect transition="in" filter="wipe(left)">
                                      <p:cBhvr>
                                        <p:cTn id="10" dur="2000"/>
                                        <p:tgtEl>
                                          <p:spTgt spid="398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891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891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FCFD7DC2-C1BE-4121-BD27-7229AF3035C8}" type="slidenum">
              <a:rPr lang="zh-CN" altLang="en-US" sz="800"/>
              <a:pPr>
                <a:spcBef>
                  <a:spcPct val="0"/>
                </a:spcBef>
                <a:buFontTx/>
                <a:buNone/>
              </a:pPr>
              <a:t>37</a:t>
            </a:fld>
            <a:endParaRPr lang="en-US" altLang="zh-CN" sz="800"/>
          </a:p>
        </p:txBody>
      </p:sp>
      <p:sp>
        <p:nvSpPr>
          <p:cNvPr id="38917" name="Rectangle 2"/>
          <p:cNvSpPr>
            <a:spLocks noGrp="1" noChangeArrowheads="1"/>
          </p:cNvSpPr>
          <p:nvPr>
            <p:ph type="title"/>
          </p:nvPr>
        </p:nvSpPr>
        <p:spPr>
          <a:xfrm>
            <a:off x="382588" y="152400"/>
            <a:ext cx="9371012" cy="685800"/>
          </a:xfrm>
        </p:spPr>
        <p:txBody>
          <a:bodyPr/>
          <a:lstStyle/>
          <a:p>
            <a:r>
              <a:rPr lang="en-US" altLang="zh-CN" smtClean="0">
                <a:ea typeface="宋体" panose="02010600030101010101" pitchFamily="2" charset="-122"/>
              </a:rPr>
              <a:t>Examples II</a:t>
            </a:r>
          </a:p>
        </p:txBody>
      </p:sp>
      <p:sp>
        <p:nvSpPr>
          <p:cNvPr id="399363" name="Rectangle 3"/>
          <p:cNvSpPr>
            <a:spLocks noGrp="1" noChangeArrowheads="1"/>
          </p:cNvSpPr>
          <p:nvPr>
            <p:ph type="body" idx="1"/>
          </p:nvPr>
        </p:nvSpPr>
        <p:spPr>
          <a:xfrm>
            <a:off x="1981200" y="914400"/>
            <a:ext cx="6324600" cy="5334000"/>
          </a:xfrm>
        </p:spPr>
        <p:txBody>
          <a:bodyPr/>
          <a:lstStyle/>
          <a:p>
            <a:pPr>
              <a:buFontTx/>
              <a:buNone/>
            </a:pPr>
            <a:r>
              <a:rPr lang="en-US" altLang="zh-CN" b="1" smtClean="0">
                <a:ea typeface="宋体" panose="02010600030101010101" pitchFamily="2" charset="-122"/>
                <a:sym typeface="Symbol" panose="05050102010706020507" pitchFamily="18" charset="2"/>
              </a:rPr>
              <a:t>S  A</a:t>
            </a:r>
            <a:r>
              <a:rPr lang="en-US" altLang="zh-CN" b="1" baseline="-25000" smtClean="0">
                <a:ea typeface="宋体" panose="02010600030101010101" pitchFamily="2" charset="-122"/>
                <a:sym typeface="Symbol" panose="05050102010706020507" pitchFamily="18" charset="2"/>
              </a:rPr>
              <a:t>1</a:t>
            </a:r>
            <a:r>
              <a:rPr lang="en-US" altLang="zh-CN" b="1" smtClean="0">
                <a:ea typeface="宋体" panose="02010600030101010101" pitchFamily="2" charset="-122"/>
                <a:sym typeface="Symbol" panose="05050102010706020507" pitchFamily="18" charset="2"/>
              </a:rPr>
              <a:t> A</a:t>
            </a:r>
            <a:r>
              <a:rPr lang="en-US" altLang="zh-CN" b="1" baseline="-25000" smtClean="0">
                <a:ea typeface="宋体" panose="02010600030101010101" pitchFamily="2" charset="-122"/>
                <a:sym typeface="Symbol" panose="05050102010706020507" pitchFamily="18" charset="2"/>
              </a:rPr>
              <a:t>2</a:t>
            </a:r>
            <a:r>
              <a:rPr lang="en-US" altLang="zh-CN" b="1" smtClean="0">
                <a:ea typeface="宋体" panose="02010600030101010101" pitchFamily="2" charset="-122"/>
                <a:sym typeface="Symbol" panose="05050102010706020507" pitchFamily="18" charset="2"/>
              </a:rPr>
              <a:t> {A</a:t>
            </a:r>
            <a:r>
              <a:rPr lang="en-US" altLang="zh-CN" b="1" baseline="-25000" smtClean="0">
                <a:ea typeface="宋体" panose="02010600030101010101" pitchFamily="2" charset="-122"/>
                <a:sym typeface="Symbol" panose="05050102010706020507" pitchFamily="18" charset="2"/>
              </a:rPr>
              <a:t>1</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 = 1; A</a:t>
            </a:r>
            <a:r>
              <a:rPr lang="en-US" altLang="zh-CN" b="1" baseline="-25000" smtClean="0">
                <a:ea typeface="宋体" panose="02010600030101010101" pitchFamily="2" charset="-122"/>
                <a:sym typeface="Symbol" panose="05050102010706020507" pitchFamily="18" charset="2"/>
              </a:rPr>
              <a:t>2</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 = 2}</a:t>
            </a:r>
          </a:p>
          <a:p>
            <a:pPr>
              <a:buFontTx/>
              <a:buNone/>
            </a:pPr>
            <a:r>
              <a:rPr lang="en-US" altLang="zh-CN" b="1" smtClean="0">
                <a:ea typeface="宋体" panose="02010600030101010101" pitchFamily="2" charset="-122"/>
                <a:sym typeface="Symbol" panose="05050102010706020507" pitchFamily="18" charset="2"/>
              </a:rPr>
              <a:t>A </a:t>
            </a:r>
            <a:r>
              <a:rPr lang="en-US" altLang="zh-CN" b="1" smtClean="0">
                <a:solidFill>
                  <a:schemeClr val="accent2"/>
                </a:solidFill>
                <a:ea typeface="宋体" panose="02010600030101010101" pitchFamily="2" charset="-122"/>
                <a:sym typeface="Symbol" panose="05050102010706020507" pitchFamily="18" charset="2"/>
              </a:rPr>
              <a:t>a </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(A.</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This will not work…</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On the other hand this is good:</a:t>
            </a:r>
          </a:p>
          <a:p>
            <a:pPr>
              <a:buFontTx/>
              <a:buNone/>
            </a:pPr>
            <a:r>
              <a:rPr lang="en-US" altLang="zh-CN" b="1" smtClean="0">
                <a:ea typeface="宋体" panose="02010600030101010101" pitchFamily="2" charset="-122"/>
                <a:sym typeface="Symbol" panose="05050102010706020507" pitchFamily="18" charset="2"/>
              </a:rPr>
              <a:t>S  {A</a:t>
            </a:r>
            <a:r>
              <a:rPr lang="en-US" altLang="zh-CN" b="1" baseline="-25000" smtClean="0">
                <a:ea typeface="宋体" panose="02010600030101010101" pitchFamily="2" charset="-122"/>
                <a:sym typeface="Symbol" panose="05050102010706020507" pitchFamily="18" charset="2"/>
              </a:rPr>
              <a:t>1</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 = 1; A</a:t>
            </a:r>
            <a:r>
              <a:rPr lang="en-US" altLang="zh-CN" b="1" baseline="-25000" smtClean="0">
                <a:ea typeface="宋体" panose="02010600030101010101" pitchFamily="2" charset="-122"/>
                <a:sym typeface="Symbol" panose="05050102010706020507" pitchFamily="18" charset="2"/>
              </a:rPr>
              <a:t>2</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 = 2} A</a:t>
            </a:r>
            <a:r>
              <a:rPr lang="en-US" altLang="zh-CN" b="1" baseline="-25000" smtClean="0">
                <a:ea typeface="宋体" panose="02010600030101010101" pitchFamily="2" charset="-122"/>
                <a:sym typeface="Symbol" panose="05050102010706020507" pitchFamily="18" charset="2"/>
              </a:rPr>
              <a:t>1</a:t>
            </a:r>
            <a:r>
              <a:rPr lang="en-US" altLang="zh-CN" b="1" smtClean="0">
                <a:ea typeface="宋体" panose="02010600030101010101" pitchFamily="2" charset="-122"/>
                <a:sym typeface="Symbol" panose="05050102010706020507" pitchFamily="18" charset="2"/>
              </a:rPr>
              <a:t> A</a:t>
            </a:r>
            <a:r>
              <a:rPr lang="en-US" altLang="zh-CN" b="1" baseline="-25000" smtClean="0">
                <a:ea typeface="宋体" panose="02010600030101010101" pitchFamily="2" charset="-122"/>
                <a:sym typeface="Symbol" panose="05050102010706020507" pitchFamily="18" charset="2"/>
              </a:rPr>
              <a:t>2</a:t>
            </a:r>
            <a:endParaRPr lang="en-US" altLang="zh-CN" b="1" smtClean="0">
              <a:ea typeface="宋体" panose="02010600030101010101" pitchFamily="2" charset="-122"/>
              <a:sym typeface="Symbol" panose="05050102010706020507" pitchFamily="18" charset="2"/>
            </a:endParaRPr>
          </a:p>
          <a:p>
            <a:pPr>
              <a:buFontTx/>
              <a:buNone/>
            </a:pPr>
            <a:r>
              <a:rPr lang="en-US" altLang="zh-CN" b="1" smtClean="0">
                <a:ea typeface="宋体" panose="02010600030101010101" pitchFamily="2" charset="-122"/>
                <a:sym typeface="Symbol" panose="05050102010706020507" pitchFamily="18" charset="2"/>
              </a:rPr>
              <a:t>A </a:t>
            </a:r>
            <a:r>
              <a:rPr lang="en-US" altLang="zh-CN" b="1" smtClean="0">
                <a:solidFill>
                  <a:schemeClr val="accent2"/>
                </a:solidFill>
                <a:ea typeface="宋体" panose="02010600030101010101" pitchFamily="2" charset="-122"/>
                <a:sym typeface="Symbol" panose="05050102010706020507" pitchFamily="18" charset="2"/>
              </a:rPr>
              <a:t>a </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(A.</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Or even:</a:t>
            </a:r>
          </a:p>
          <a:p>
            <a:pPr>
              <a:buFontTx/>
              <a:buNone/>
            </a:pPr>
            <a:r>
              <a:rPr lang="en-US" altLang="zh-CN" b="1" smtClean="0">
                <a:ea typeface="宋体" panose="02010600030101010101" pitchFamily="2" charset="-122"/>
                <a:sym typeface="Symbol" panose="05050102010706020507" pitchFamily="18" charset="2"/>
              </a:rPr>
              <a:t>S  {A</a:t>
            </a:r>
            <a:r>
              <a:rPr lang="en-US" altLang="zh-CN" b="1" baseline="-25000" smtClean="0">
                <a:ea typeface="宋体" panose="02010600030101010101" pitchFamily="2" charset="-122"/>
                <a:sym typeface="Symbol" panose="05050102010706020507" pitchFamily="18" charset="2"/>
              </a:rPr>
              <a:t>1</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 = 1} A</a:t>
            </a:r>
            <a:r>
              <a:rPr lang="en-US" altLang="zh-CN" b="1" baseline="-25000" smtClean="0">
                <a:ea typeface="宋体" panose="02010600030101010101" pitchFamily="2" charset="-122"/>
                <a:sym typeface="Symbol" panose="05050102010706020507" pitchFamily="18" charset="2"/>
              </a:rPr>
              <a:t>1</a:t>
            </a:r>
            <a:r>
              <a:rPr lang="en-US" altLang="zh-CN" b="1" smtClean="0">
                <a:ea typeface="宋体" panose="02010600030101010101" pitchFamily="2" charset="-122"/>
                <a:sym typeface="Symbol" panose="05050102010706020507" pitchFamily="18" charset="2"/>
              </a:rPr>
              <a:t> {A</a:t>
            </a:r>
            <a:r>
              <a:rPr lang="en-US" altLang="zh-CN" b="1" baseline="-25000" smtClean="0">
                <a:ea typeface="宋体" panose="02010600030101010101" pitchFamily="2" charset="-122"/>
                <a:sym typeface="Symbol" panose="05050102010706020507" pitchFamily="18" charset="2"/>
              </a:rPr>
              <a:t>2</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 = 2} A</a:t>
            </a:r>
            <a:r>
              <a:rPr lang="en-US" altLang="zh-CN" b="1" baseline="-25000" smtClean="0">
                <a:ea typeface="宋体" panose="02010600030101010101" pitchFamily="2" charset="-122"/>
                <a:sym typeface="Symbol" panose="05050102010706020507" pitchFamily="18" charset="2"/>
              </a:rPr>
              <a:t>2</a:t>
            </a:r>
            <a:endParaRPr lang="en-US" altLang="zh-CN" b="1" smtClean="0">
              <a:ea typeface="宋体" panose="02010600030101010101" pitchFamily="2" charset="-122"/>
              <a:sym typeface="Symbol" panose="05050102010706020507" pitchFamily="18" charset="2"/>
            </a:endParaRPr>
          </a:p>
          <a:p>
            <a:pPr>
              <a:buFontTx/>
              <a:buNone/>
            </a:pPr>
            <a:r>
              <a:rPr lang="en-US" altLang="zh-CN" b="1" smtClean="0">
                <a:ea typeface="宋体" panose="02010600030101010101" pitchFamily="2" charset="-122"/>
                <a:sym typeface="Symbol" panose="05050102010706020507" pitchFamily="18" charset="2"/>
              </a:rPr>
              <a:t>A </a:t>
            </a:r>
            <a:r>
              <a:rPr lang="en-US" altLang="zh-CN" b="1" smtClean="0">
                <a:solidFill>
                  <a:schemeClr val="accent2"/>
                </a:solidFill>
                <a:ea typeface="宋体" panose="02010600030101010101" pitchFamily="2" charset="-122"/>
                <a:sym typeface="Symbol" panose="05050102010706020507" pitchFamily="18" charset="2"/>
              </a:rPr>
              <a:t>a </a:t>
            </a:r>
            <a:r>
              <a:rPr lang="en-US" altLang="zh-CN" b="1" smtClean="0">
                <a:ea typeface="宋体" panose="02010600030101010101" pitchFamily="2" charset="-122"/>
                <a:sym typeface="Symbol" panose="05050102010706020507" pitchFamily="18" charset="2"/>
              </a:rPr>
              <a:t>{</a:t>
            </a:r>
            <a:r>
              <a:rPr lang="en-US" altLang="zh-CN" b="1" i="1" smtClean="0">
                <a:ea typeface="宋体" panose="02010600030101010101" pitchFamily="2" charset="-122"/>
                <a:sym typeface="Symbol" panose="05050102010706020507" pitchFamily="18" charset="2"/>
              </a:rPr>
              <a:t>print</a:t>
            </a:r>
            <a:r>
              <a:rPr lang="en-US" altLang="zh-CN" b="1" smtClean="0">
                <a:ea typeface="宋体" panose="02010600030101010101" pitchFamily="2" charset="-122"/>
                <a:sym typeface="Symbol" panose="05050102010706020507" pitchFamily="18" charset="2"/>
              </a:rPr>
              <a:t>(A.</a:t>
            </a:r>
            <a:r>
              <a:rPr lang="en-US" altLang="zh-CN" b="1" i="1" smtClean="0">
                <a:ea typeface="宋体" panose="02010600030101010101" pitchFamily="2" charset="-122"/>
                <a:sym typeface="Symbol" panose="05050102010706020507" pitchFamily="18" charset="2"/>
              </a:rPr>
              <a:t>in</a:t>
            </a:r>
            <a:r>
              <a:rPr lang="en-US" altLang="zh-CN" b="1" smtClean="0">
                <a:ea typeface="宋体" panose="02010600030101010101" pitchFamily="2" charset="-122"/>
                <a:sym typeface="Symbol" panose="05050102010706020507" pitchFamily="18" charset="2"/>
              </a:rPr>
              <a:t>)}</a:t>
            </a:r>
            <a:endParaRPr lang="zh-CN" altLang="en-US" b="1" smtClean="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9363">
                                            <p:txEl>
                                              <p:pRg st="6" end="6"/>
                                            </p:txEl>
                                          </p:spTgt>
                                        </p:tgtEl>
                                        <p:attrNameLst>
                                          <p:attrName>style.visibility</p:attrName>
                                        </p:attrNameLst>
                                      </p:cBhvr>
                                      <p:to>
                                        <p:strVal val="visible"/>
                                      </p:to>
                                    </p:set>
                                    <p:animEffect transition="in" filter="wipe(left)">
                                      <p:cBhvr>
                                        <p:cTn id="7" dur="2000"/>
                                        <p:tgtEl>
                                          <p:spTgt spid="399363">
                                            <p:txEl>
                                              <p:pRg st="6" end="6"/>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399363">
                                            <p:txEl>
                                              <p:pRg st="7" end="7"/>
                                            </p:txEl>
                                          </p:spTgt>
                                        </p:tgtEl>
                                        <p:attrNameLst>
                                          <p:attrName>style.visibility</p:attrName>
                                        </p:attrNameLst>
                                      </p:cBhvr>
                                      <p:to>
                                        <p:strVal val="visible"/>
                                      </p:to>
                                    </p:set>
                                    <p:animEffect transition="in" filter="wipe(left)">
                                      <p:cBhvr>
                                        <p:cTn id="11" dur="2000"/>
                                        <p:tgtEl>
                                          <p:spTgt spid="399363">
                                            <p:txEl>
                                              <p:pRg st="7" end="7"/>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99363">
                                            <p:txEl>
                                              <p:pRg st="10" end="10"/>
                                            </p:txEl>
                                          </p:spTgt>
                                        </p:tgtEl>
                                        <p:attrNameLst>
                                          <p:attrName>style.visibility</p:attrName>
                                        </p:attrNameLst>
                                      </p:cBhvr>
                                      <p:to>
                                        <p:strVal val="visible"/>
                                      </p:to>
                                    </p:set>
                                    <p:animEffect transition="in" filter="wipe(left)">
                                      <p:cBhvr>
                                        <p:cTn id="16" dur="2000"/>
                                        <p:tgtEl>
                                          <p:spTgt spid="399363">
                                            <p:txEl>
                                              <p:pRg st="10" end="10"/>
                                            </p:txEl>
                                          </p:spTgt>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399363">
                                            <p:txEl>
                                              <p:pRg st="11" end="11"/>
                                            </p:txEl>
                                          </p:spTgt>
                                        </p:tgtEl>
                                        <p:attrNameLst>
                                          <p:attrName>style.visibility</p:attrName>
                                        </p:attrNameLst>
                                      </p:cBhvr>
                                      <p:to>
                                        <p:strVal val="visible"/>
                                      </p:to>
                                    </p:set>
                                    <p:animEffect transition="in" filter="wipe(left)">
                                      <p:cBhvr>
                                        <p:cTn id="20" dur="2000"/>
                                        <p:tgtEl>
                                          <p:spTgt spid="39936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3993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3994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98EEC863-61DB-4541-A46C-08EB5B84D628}" type="slidenum">
              <a:rPr lang="zh-CN" altLang="en-US" sz="800"/>
              <a:pPr>
                <a:spcBef>
                  <a:spcPct val="0"/>
                </a:spcBef>
                <a:buFontTx/>
                <a:buNone/>
              </a:pPr>
              <a:t>38</a:t>
            </a:fld>
            <a:endParaRPr lang="en-US" altLang="zh-CN" sz="800"/>
          </a:p>
        </p:txBody>
      </p:sp>
      <p:sp>
        <p:nvSpPr>
          <p:cNvPr id="39941" name="Rectangle 2"/>
          <p:cNvSpPr>
            <a:spLocks noGrp="1" noChangeArrowheads="1"/>
          </p:cNvSpPr>
          <p:nvPr>
            <p:ph type="title"/>
          </p:nvPr>
        </p:nvSpPr>
        <p:spPr/>
        <p:txBody>
          <a:bodyPr/>
          <a:lstStyle/>
          <a:p>
            <a:r>
              <a:rPr lang="en-US" altLang="zh-CN" smtClean="0">
                <a:ea typeface="宋体" panose="02010600030101010101" pitchFamily="2" charset="-122"/>
              </a:rPr>
              <a:t>Translation Schemes for S-attributed Definitions</a:t>
            </a:r>
          </a:p>
        </p:txBody>
      </p:sp>
      <p:sp>
        <p:nvSpPr>
          <p:cNvPr id="39942" name="Rectangle 3"/>
          <p:cNvSpPr>
            <a:spLocks noGrp="1" noChangeArrowheads="1"/>
          </p:cNvSpPr>
          <p:nvPr>
            <p:ph type="body" idx="1"/>
          </p:nvPr>
        </p:nvSpPr>
        <p:spPr/>
        <p:txBody>
          <a:bodyPr/>
          <a:lstStyle/>
          <a:p>
            <a:r>
              <a:rPr lang="en-US" altLang="zh-CN" smtClean="0">
                <a:ea typeface="宋体" panose="02010600030101010101" pitchFamily="2" charset="-122"/>
              </a:rPr>
              <a:t>If  our syntax-directed definition is S-attributed, the construction of    the corresponding translation scheme will be simple.</a:t>
            </a:r>
          </a:p>
          <a:p>
            <a:r>
              <a:rPr lang="en-US" altLang="zh-CN" smtClean="0">
                <a:ea typeface="宋体" panose="02010600030101010101" pitchFamily="2" charset="-122"/>
              </a:rPr>
              <a:t>Each associated semantic rule in a S-attributed syntax-directed definition will be inserted as a semantic action into the end of the     right side of the associated production.</a:t>
            </a:r>
          </a:p>
          <a:p>
            <a:endParaRPr lang="en-US" altLang="zh-CN" sz="900" smtClean="0">
              <a:ea typeface="宋体" panose="02010600030101010101" pitchFamily="2" charset="-122"/>
            </a:endParaRPr>
          </a:p>
          <a:p>
            <a:pPr>
              <a:buFontTx/>
              <a:buNone/>
            </a:pPr>
            <a:r>
              <a:rPr lang="en-US" altLang="zh-CN" u="sng" smtClean="0">
                <a:ea typeface="宋体" panose="02010600030101010101" pitchFamily="2" charset="-122"/>
              </a:rPr>
              <a:t>Production</a:t>
            </a:r>
            <a:r>
              <a:rPr lang="en-US" altLang="zh-CN" smtClean="0">
                <a:ea typeface="宋体" panose="02010600030101010101" pitchFamily="2" charset="-122"/>
              </a:rPr>
              <a:t>	</a:t>
            </a:r>
            <a:r>
              <a:rPr lang="en-US" altLang="zh-CN" u="sng" smtClean="0">
                <a:ea typeface="宋体" panose="02010600030101010101" pitchFamily="2" charset="-122"/>
              </a:rPr>
              <a:t>Semantic Rule</a:t>
            </a:r>
          </a:p>
          <a:p>
            <a:pPr>
              <a:buFontTx/>
              <a:buNone/>
            </a:pPr>
            <a:r>
              <a:rPr lang="en-US" altLang="zh-CN" smtClean="0">
                <a:ea typeface="宋体" panose="02010600030101010101" pitchFamily="2" charset="-122"/>
                <a:cs typeface="Times New Roman" panose="02020603050405020304" pitchFamily="18" charset="0"/>
              </a:rPr>
              <a:t>E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T	E.val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.val + T.val	 	</a:t>
            </a:r>
            <a:r>
              <a:rPr lang="en-US" altLang="zh-CN" smtClean="0">
                <a:ea typeface="宋体" panose="02010600030101010101" pitchFamily="2" charset="-122"/>
                <a:cs typeface="Times New Roman" panose="02020603050405020304" pitchFamily="18" charset="0"/>
                <a:sym typeface="Wingdings" panose="05000000000000000000" pitchFamily="2" charset="2"/>
              </a:rPr>
              <a:t> </a:t>
            </a:r>
            <a:r>
              <a:rPr lang="en-US" altLang="zh-CN" sz="1800" smtClean="0">
                <a:ea typeface="宋体" panose="02010600030101010101" pitchFamily="2" charset="-122"/>
                <a:cs typeface="Times New Roman" panose="02020603050405020304" pitchFamily="18" charset="0"/>
                <a:sym typeface="Wingdings" panose="05000000000000000000" pitchFamily="2" charset="2"/>
              </a:rPr>
              <a:t>a production of </a:t>
            </a:r>
          </a:p>
          <a:p>
            <a:pPr>
              <a:buFontTx/>
              <a:buNone/>
            </a:pPr>
            <a:r>
              <a:rPr lang="en-US" altLang="zh-CN" sz="1800" smtClean="0">
                <a:ea typeface="宋体" panose="02010600030101010101" pitchFamily="2" charset="-122"/>
                <a:cs typeface="Times New Roman" panose="02020603050405020304" pitchFamily="18" charset="0"/>
                <a:sym typeface="Wingdings" panose="05000000000000000000" pitchFamily="2" charset="2"/>
              </a:rPr>
              <a:t>							     a syntax directed definition</a:t>
            </a:r>
          </a:p>
          <a:p>
            <a:pPr>
              <a:buFontTx/>
              <a:buNone/>
            </a:pPr>
            <a:r>
              <a:rPr lang="en-US" altLang="zh-CN" smtClean="0">
                <a:ea typeface="宋体" panose="02010600030101010101" pitchFamily="2" charset="-122"/>
                <a:cs typeface="Times New Roman" panose="02020603050405020304" pitchFamily="18" charset="0"/>
                <a:sym typeface="Wingdings" panose="05000000000000000000" pitchFamily="2" charset="2"/>
              </a:rPr>
              <a:t>			</a:t>
            </a:r>
            <a:r>
              <a:rPr lang="en-US" altLang="zh-CN" sz="4400" smtClean="0">
                <a:ea typeface="宋体" panose="02010600030101010101" pitchFamily="2" charset="-122"/>
                <a:cs typeface="Times New Roman" panose="02020603050405020304" pitchFamily="18" charset="0"/>
                <a:sym typeface="Symbol" panose="05050102010706020507" pitchFamily="18" charset="2"/>
              </a:rPr>
              <a:t></a:t>
            </a:r>
            <a:endParaRPr lang="en-US" altLang="zh-CN" sz="4400" smtClean="0">
              <a:ea typeface="宋体" panose="02010600030101010101" pitchFamily="2" charset="-122"/>
              <a:cs typeface="Times New Roman" panose="02020603050405020304" pitchFamily="18" charset="0"/>
              <a:sym typeface="Wingdings" panose="05000000000000000000" pitchFamily="2" charset="2"/>
            </a:endParaRPr>
          </a:p>
          <a:p>
            <a:pPr>
              <a:buFontTx/>
              <a:buNone/>
            </a:pPr>
            <a:r>
              <a:rPr lang="en-US" altLang="zh-CN" smtClean="0">
                <a:ea typeface="宋体" panose="02010600030101010101" pitchFamily="2" charset="-122"/>
                <a:cs typeface="Times New Roman" panose="02020603050405020304" pitchFamily="18" charset="0"/>
              </a:rPr>
              <a:t>E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T { E.val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.val + T.val }	</a:t>
            </a:r>
            <a:r>
              <a:rPr lang="en-US" altLang="zh-CN" smtClean="0">
                <a:ea typeface="宋体" panose="02010600030101010101" pitchFamily="2" charset="-122"/>
                <a:cs typeface="Times New Roman" panose="02020603050405020304" pitchFamily="18" charset="0"/>
                <a:sym typeface="Wingdings" panose="05000000000000000000" pitchFamily="2" charset="2"/>
              </a:rPr>
              <a:t> </a:t>
            </a:r>
            <a:r>
              <a:rPr lang="en-US" altLang="zh-CN" sz="1800" smtClean="0">
                <a:ea typeface="宋体" panose="02010600030101010101" pitchFamily="2" charset="-122"/>
                <a:cs typeface="Times New Roman" panose="02020603050405020304" pitchFamily="18" charset="0"/>
                <a:sym typeface="Wingdings" panose="05000000000000000000" pitchFamily="2" charset="2"/>
              </a:rPr>
              <a:t>the production of the corresponding</a:t>
            </a:r>
          </a:p>
          <a:p>
            <a:pPr>
              <a:buFontTx/>
              <a:buNone/>
            </a:pPr>
            <a:r>
              <a:rPr lang="en-US" altLang="zh-CN" sz="1800" smtClean="0">
                <a:ea typeface="宋体" panose="02010600030101010101" pitchFamily="2" charset="-122"/>
                <a:cs typeface="Times New Roman" panose="02020603050405020304" pitchFamily="18" charset="0"/>
                <a:sym typeface="Wingdings" panose="05000000000000000000" pitchFamily="2" charset="2"/>
              </a:rPr>
              <a:t>							      translation  scheme</a:t>
            </a:r>
            <a:endParaRPr lang="en-US" altLang="zh-CN" sz="1800" smtClean="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096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096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5B7F569D-93C7-4A3E-92EF-BFC513A7F2B8}" type="slidenum">
              <a:rPr lang="zh-CN" altLang="en-US" sz="800"/>
              <a:pPr>
                <a:spcBef>
                  <a:spcPct val="0"/>
                </a:spcBef>
                <a:buFontTx/>
                <a:buNone/>
              </a:pPr>
              <a:t>39</a:t>
            </a:fld>
            <a:endParaRPr lang="en-US" altLang="zh-CN" sz="800"/>
          </a:p>
        </p:txBody>
      </p:sp>
      <p:sp>
        <p:nvSpPr>
          <p:cNvPr id="40965" name="Rectangle 2"/>
          <p:cNvSpPr>
            <a:spLocks noGrp="1" noChangeArrowheads="1"/>
          </p:cNvSpPr>
          <p:nvPr>
            <p:ph type="title"/>
          </p:nvPr>
        </p:nvSpPr>
        <p:spPr/>
        <p:txBody>
          <a:bodyPr/>
          <a:lstStyle/>
          <a:p>
            <a:r>
              <a:rPr lang="en-US" altLang="zh-CN" smtClean="0">
                <a:ea typeface="宋体" panose="02010600030101010101" pitchFamily="2" charset="-122"/>
              </a:rPr>
              <a:t>Inherited Attributes in Translation Schemes (P.299)</a:t>
            </a:r>
          </a:p>
        </p:txBody>
      </p:sp>
      <p:sp>
        <p:nvSpPr>
          <p:cNvPr id="367619" name="Rectangle 3"/>
          <p:cNvSpPr>
            <a:spLocks noGrp="1" noChangeArrowheads="1"/>
          </p:cNvSpPr>
          <p:nvPr>
            <p:ph type="body" idx="1"/>
          </p:nvPr>
        </p:nvSpPr>
        <p:spPr>
          <a:xfrm>
            <a:off x="381000" y="1219200"/>
            <a:ext cx="9372600" cy="5257800"/>
          </a:xfrm>
        </p:spPr>
        <p:txBody>
          <a:bodyPr/>
          <a:lstStyle/>
          <a:p>
            <a:pPr marL="457200" indent="-457200">
              <a:lnSpc>
                <a:spcPct val="90000"/>
              </a:lnSpc>
            </a:pPr>
            <a:r>
              <a:rPr lang="en-US" altLang="zh-CN" smtClean="0">
                <a:ea typeface="宋体" panose="02010600030101010101" pitchFamily="2" charset="-122"/>
              </a:rPr>
              <a:t>If a translation scheme has to contain both synthesized and inherited attributes, we have to observe the following rules:</a:t>
            </a:r>
          </a:p>
          <a:p>
            <a:pPr marL="800100" lvl="1" indent="-342900">
              <a:lnSpc>
                <a:spcPct val="90000"/>
              </a:lnSpc>
              <a:buFontTx/>
              <a:buAutoNum type="arabicPeriod"/>
            </a:pPr>
            <a:r>
              <a:rPr lang="en-US" altLang="zh-CN" sz="2400" smtClean="0">
                <a:solidFill>
                  <a:schemeClr val="accent2"/>
                </a:solidFill>
                <a:ea typeface="宋体" panose="02010600030101010101" pitchFamily="2" charset="-122"/>
              </a:rPr>
              <a:t>An inherited attribute of a symbol on the right side of a production must be computed in a semantic action before that symbol.</a:t>
            </a:r>
          </a:p>
          <a:p>
            <a:pPr marL="800100" lvl="1" indent="-342900">
              <a:lnSpc>
                <a:spcPct val="90000"/>
              </a:lnSpc>
              <a:buFontTx/>
              <a:buAutoNum type="arabicPeriod"/>
            </a:pPr>
            <a:r>
              <a:rPr lang="en-US" altLang="zh-CN" sz="2400" smtClean="0">
                <a:solidFill>
                  <a:schemeClr val="accent2"/>
                </a:solidFill>
                <a:ea typeface="宋体" panose="02010600030101010101" pitchFamily="2" charset="-122"/>
              </a:rPr>
              <a:t>A semantic action must not refer to a synthesized attribute of a symbol to the right of that semantic action.</a:t>
            </a:r>
          </a:p>
          <a:p>
            <a:pPr marL="800100" lvl="1" indent="-342900">
              <a:lnSpc>
                <a:spcPct val="90000"/>
              </a:lnSpc>
              <a:buFontTx/>
              <a:buAutoNum type="arabicPeriod"/>
            </a:pPr>
            <a:r>
              <a:rPr lang="en-US" altLang="zh-CN" sz="2400" smtClean="0">
                <a:solidFill>
                  <a:schemeClr val="accent2"/>
                </a:solidFill>
                <a:ea typeface="宋体" panose="02010600030101010101" pitchFamily="2" charset="-122"/>
              </a:rPr>
              <a:t>A synthesized attribute for the non-terminal on the left can only be computed after all attributes it references have been computed (we normally put this semantic action at the end of the right side of the production).</a:t>
            </a:r>
          </a:p>
          <a:p>
            <a:pPr marL="800100" lvl="1" indent="-342900">
              <a:lnSpc>
                <a:spcPct val="90000"/>
              </a:lnSpc>
            </a:pPr>
            <a:endParaRPr lang="en-US" altLang="zh-CN" sz="900" smtClean="0">
              <a:solidFill>
                <a:schemeClr val="accent2"/>
              </a:solidFill>
              <a:ea typeface="宋体" panose="02010600030101010101" pitchFamily="2" charset="-122"/>
            </a:endParaRPr>
          </a:p>
          <a:p>
            <a:pPr marL="457200" indent="-457200">
              <a:lnSpc>
                <a:spcPct val="90000"/>
              </a:lnSpc>
            </a:pPr>
            <a:r>
              <a:rPr lang="en-US" altLang="zh-CN" smtClean="0">
                <a:ea typeface="宋体" panose="02010600030101010101" pitchFamily="2" charset="-122"/>
              </a:rPr>
              <a:t>With a L-attributed syntax-directed definition, it is always possible     to construct a corresponding translation scheme which satisfies      these three conditions (This may not be possible for a general     syntax-directed translation).</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367619">
                                            <p:txEl>
                                              <p:pRg st="1" end="1"/>
                                            </p:txEl>
                                          </p:spTgt>
                                        </p:tgtEl>
                                        <p:attrNameLst>
                                          <p:attrName>style.visibility</p:attrName>
                                        </p:attrNameLst>
                                      </p:cBhvr>
                                      <p:to>
                                        <p:strVal val="visible"/>
                                      </p:to>
                                    </p:set>
                                    <p:animEffect transition="in" filter="wipe(right)">
                                      <p:cBhvr>
                                        <p:cTn id="7" dur="1000"/>
                                        <p:tgtEl>
                                          <p:spTgt spid="367619">
                                            <p:txEl>
                                              <p:pRg st="1" end="1"/>
                                            </p:txEl>
                                          </p:spTgt>
                                        </p:tgtEl>
                                      </p:cBhvr>
                                    </p:animEffect>
                                  </p:childTnLst>
                                </p:cTn>
                              </p:par>
                            </p:childTnLst>
                          </p:cTn>
                        </p:par>
                        <p:par>
                          <p:cTn id="8" fill="hold" nodeType="afterGroup">
                            <p:stCondLst>
                              <p:cond delay="1000"/>
                            </p:stCondLst>
                            <p:childTnLst>
                              <p:par>
                                <p:cTn id="9" presetID="22" presetClass="entr" presetSubtype="2" fill="hold" nodeType="afterEffect">
                                  <p:stCondLst>
                                    <p:cond delay="0"/>
                                  </p:stCondLst>
                                  <p:childTnLst>
                                    <p:set>
                                      <p:cBhvr>
                                        <p:cTn id="10" dur="1" fill="hold">
                                          <p:stCondLst>
                                            <p:cond delay="0"/>
                                          </p:stCondLst>
                                        </p:cTn>
                                        <p:tgtEl>
                                          <p:spTgt spid="367619">
                                            <p:txEl>
                                              <p:pRg st="2" end="2"/>
                                            </p:txEl>
                                          </p:spTgt>
                                        </p:tgtEl>
                                        <p:attrNameLst>
                                          <p:attrName>style.visibility</p:attrName>
                                        </p:attrNameLst>
                                      </p:cBhvr>
                                      <p:to>
                                        <p:strVal val="visible"/>
                                      </p:to>
                                    </p:set>
                                    <p:animEffect transition="in" filter="wipe(right)">
                                      <p:cBhvr>
                                        <p:cTn id="11" dur="1000"/>
                                        <p:tgtEl>
                                          <p:spTgt spid="367619">
                                            <p:txEl>
                                              <p:pRg st="2" end="2"/>
                                            </p:txEl>
                                          </p:spTgt>
                                        </p:tgtEl>
                                      </p:cBhvr>
                                    </p:animEffect>
                                  </p:childTnLst>
                                </p:cTn>
                              </p:par>
                            </p:childTnLst>
                          </p:cTn>
                        </p:par>
                        <p:par>
                          <p:cTn id="12" fill="hold" nodeType="afterGroup">
                            <p:stCondLst>
                              <p:cond delay="2000"/>
                            </p:stCondLst>
                            <p:childTnLst>
                              <p:par>
                                <p:cTn id="13" presetID="22" presetClass="entr" presetSubtype="2" fill="hold" nodeType="afterEffect">
                                  <p:stCondLst>
                                    <p:cond delay="0"/>
                                  </p:stCondLst>
                                  <p:childTnLst>
                                    <p:set>
                                      <p:cBhvr>
                                        <p:cTn id="14" dur="1" fill="hold">
                                          <p:stCondLst>
                                            <p:cond delay="0"/>
                                          </p:stCondLst>
                                        </p:cTn>
                                        <p:tgtEl>
                                          <p:spTgt spid="367619">
                                            <p:txEl>
                                              <p:pRg st="3" end="3"/>
                                            </p:txEl>
                                          </p:spTgt>
                                        </p:tgtEl>
                                        <p:attrNameLst>
                                          <p:attrName>style.visibility</p:attrName>
                                        </p:attrNameLst>
                                      </p:cBhvr>
                                      <p:to>
                                        <p:strVal val="visible"/>
                                      </p:to>
                                    </p:set>
                                    <p:animEffect transition="in" filter="wipe(right)">
                                      <p:cBhvr>
                                        <p:cTn id="15" dur="1000"/>
                                        <p:tgtEl>
                                          <p:spTgt spid="3676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198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198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5A6BB201-96AB-401B-96F2-49C53D91D92B}" type="slidenum">
              <a:rPr lang="zh-CN" altLang="en-US" sz="800"/>
              <a:pPr>
                <a:spcBef>
                  <a:spcPct val="0"/>
                </a:spcBef>
                <a:buFontTx/>
                <a:buNone/>
              </a:pPr>
              <a:t>40</a:t>
            </a:fld>
            <a:endParaRPr lang="en-US" altLang="zh-CN" sz="800"/>
          </a:p>
        </p:txBody>
      </p:sp>
      <p:sp>
        <p:nvSpPr>
          <p:cNvPr id="41989" name="Rectangle 2"/>
          <p:cNvSpPr>
            <a:spLocks noGrp="1" noChangeArrowheads="1"/>
          </p:cNvSpPr>
          <p:nvPr>
            <p:ph type="title"/>
          </p:nvPr>
        </p:nvSpPr>
        <p:spPr/>
        <p:txBody>
          <a:bodyPr/>
          <a:lstStyle/>
          <a:p>
            <a:r>
              <a:rPr lang="en-US" altLang="zh-CN" smtClean="0">
                <a:ea typeface="宋体" panose="02010600030101010101" pitchFamily="2" charset="-122"/>
              </a:rPr>
              <a:t>An example</a:t>
            </a:r>
          </a:p>
        </p:txBody>
      </p:sp>
      <p:sp>
        <p:nvSpPr>
          <p:cNvPr id="41990" name="Rectangle 3"/>
          <p:cNvSpPr>
            <a:spLocks noGrp="1" noChangeArrowheads="1"/>
          </p:cNvSpPr>
          <p:nvPr>
            <p:ph type="body" idx="1"/>
          </p:nvPr>
        </p:nvSpPr>
        <p:spPr>
          <a:xfrm>
            <a:off x="381000" y="1219200"/>
            <a:ext cx="8915400" cy="5105400"/>
          </a:xfrm>
        </p:spPr>
        <p:txBody>
          <a:bodyPr/>
          <a:lstStyle/>
          <a:p>
            <a:r>
              <a:rPr lang="en-US" altLang="zh-CN" smtClean="0">
                <a:ea typeface="宋体" panose="02010600030101010101" pitchFamily="2" charset="-122"/>
              </a:rPr>
              <a:t>The following translation scheme does not satisfy these three requirements:</a:t>
            </a:r>
          </a:p>
          <a:p>
            <a:endParaRPr lang="en-US" altLang="zh-CN" smtClean="0">
              <a:ea typeface="宋体" panose="02010600030101010101" pitchFamily="2" charset="-122"/>
            </a:endParaRPr>
          </a:p>
          <a:p>
            <a:pPr>
              <a:buFontTx/>
              <a:buNone/>
            </a:pPr>
            <a:r>
              <a:rPr lang="en-US" altLang="zh-CN" smtClean="0">
                <a:ea typeface="宋体" panose="02010600030101010101" pitchFamily="2" charset="-122"/>
              </a:rPr>
              <a:t>		S -&gt; A1  A2  	{A1.in = 1; A2.in = 2}</a:t>
            </a:r>
          </a:p>
          <a:p>
            <a:pPr>
              <a:buFontTx/>
              <a:buNone/>
            </a:pPr>
            <a:r>
              <a:rPr lang="en-US" altLang="zh-CN" smtClean="0">
                <a:ea typeface="宋体" panose="02010600030101010101" pitchFamily="2" charset="-122"/>
              </a:rPr>
              <a:t>		A -&gt; a   	{print (A.in)}</a:t>
            </a:r>
          </a:p>
        </p:txBody>
      </p:sp>
    </p:spTree>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301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301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354DD15F-F3FE-4E71-ABCF-0FE20BA95628}" type="slidenum">
              <a:rPr lang="zh-CN" altLang="en-US" sz="800"/>
              <a:pPr>
                <a:spcBef>
                  <a:spcPct val="0"/>
                </a:spcBef>
                <a:buFontTx/>
                <a:buNone/>
              </a:pPr>
              <a:t>41</a:t>
            </a:fld>
            <a:endParaRPr lang="en-US" altLang="zh-CN" sz="800"/>
          </a:p>
        </p:txBody>
      </p:sp>
      <p:sp>
        <p:nvSpPr>
          <p:cNvPr id="43013" name="Rectangle 2"/>
          <p:cNvSpPr>
            <a:spLocks noGrp="1" noChangeArrowheads="1"/>
          </p:cNvSpPr>
          <p:nvPr>
            <p:ph type="title"/>
          </p:nvPr>
        </p:nvSpPr>
        <p:spPr/>
        <p:txBody>
          <a:bodyPr/>
          <a:lstStyle/>
          <a:p>
            <a:r>
              <a:rPr lang="en-US" altLang="zh-CN" smtClean="0">
                <a:ea typeface="宋体" panose="02010600030101010101" pitchFamily="2" charset="-122"/>
              </a:rPr>
              <a:t>A Translation Scheme Example</a:t>
            </a:r>
          </a:p>
        </p:txBody>
      </p:sp>
      <p:sp>
        <p:nvSpPr>
          <p:cNvPr id="466947" name="Rectangle 3"/>
          <p:cNvSpPr>
            <a:spLocks noGrp="1" noChangeArrowheads="1"/>
          </p:cNvSpPr>
          <p:nvPr>
            <p:ph type="body" idx="1"/>
          </p:nvPr>
        </p:nvSpPr>
        <p:spPr>
          <a:xfrm>
            <a:off x="1447800" y="4114800"/>
            <a:ext cx="5638800" cy="1447800"/>
          </a:xfrm>
        </p:spPr>
        <p:txBody>
          <a:bodyPr/>
          <a:lstStyle/>
          <a:p>
            <a:pPr>
              <a:buFontTx/>
              <a:buNone/>
            </a:pPr>
            <a:r>
              <a:rPr lang="en-US" altLang="zh-CN" smtClean="0">
                <a:latin typeface="Courier New" panose="02070309020205020404" pitchFamily="49" charset="0"/>
                <a:ea typeface="宋体" panose="02010600030101010101" pitchFamily="2" charset="-122"/>
                <a:cs typeface="Times New Roman" panose="02020603050405020304" pitchFamily="18" charset="0"/>
              </a:rPr>
              <a:t>		a+b+c</a:t>
            </a:r>
            <a:r>
              <a:rPr lang="en-US" altLang="zh-CN" smtClean="0">
                <a:ea typeface="宋体" panose="02010600030101010101" pitchFamily="2" charset="-122"/>
                <a:cs typeface="Times New Roman" panose="02020603050405020304" pitchFamily="18" charset="0"/>
              </a:rPr>
              <a:t>	    </a:t>
            </a:r>
            <a:r>
              <a:rPr lang="en-US" altLang="zh-CN" smtClean="0">
                <a:ea typeface="宋体" panose="02010600030101010101" pitchFamily="2" charset="-122"/>
                <a:cs typeface="Times New Roman" panose="02020603050405020304" pitchFamily="18" charset="0"/>
                <a:sym typeface="Wingdings" panose="05000000000000000000" pitchFamily="2" charset="2"/>
              </a:rPr>
              <a:t></a:t>
            </a:r>
            <a:endParaRPr lang="en-US" altLang="zh-CN" smtClean="0">
              <a:latin typeface="Courier New" panose="02070309020205020404" pitchFamily="49" charset="0"/>
              <a:ea typeface="宋体" panose="02010600030101010101" pitchFamily="2" charset="-122"/>
              <a:cs typeface="Times New Roman" panose="02020603050405020304" pitchFamily="18" charset="0"/>
              <a:sym typeface="Wingdings" panose="05000000000000000000" pitchFamily="2" charset="2"/>
            </a:endParaRPr>
          </a:p>
          <a:p>
            <a:pPr>
              <a:buFontTx/>
              <a:buNone/>
            </a:pPr>
            <a:endParaRPr lang="en-US" altLang="zh-CN" smtClean="0">
              <a:latin typeface="Courier New" panose="02070309020205020404" pitchFamily="49" charset="0"/>
              <a:ea typeface="宋体" panose="02010600030101010101" pitchFamily="2" charset="-122"/>
              <a:cs typeface="Times New Roman" panose="02020603050405020304" pitchFamily="18" charset="0"/>
              <a:sym typeface="Wingdings" panose="05000000000000000000" pitchFamily="2" charset="2"/>
            </a:endParaRPr>
          </a:p>
        </p:txBody>
      </p:sp>
      <p:sp>
        <p:nvSpPr>
          <p:cNvPr id="466948" name="Line 4"/>
          <p:cNvSpPr>
            <a:spLocks noChangeShapeType="1"/>
          </p:cNvSpPr>
          <p:nvPr/>
        </p:nvSpPr>
        <p:spPr bwMode="auto">
          <a:xfrm flipV="1">
            <a:off x="2514600" y="4572000"/>
            <a:ext cx="53340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6949" name="Line 5"/>
          <p:cNvSpPr>
            <a:spLocks noChangeShapeType="1"/>
          </p:cNvSpPr>
          <p:nvPr/>
        </p:nvSpPr>
        <p:spPr bwMode="auto">
          <a:xfrm flipH="1" flipV="1">
            <a:off x="4648200" y="4572000"/>
            <a:ext cx="8382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7" name="Rectangle 6"/>
          <p:cNvSpPr>
            <a:spLocks noChangeArrowheads="1"/>
          </p:cNvSpPr>
          <p:nvPr/>
        </p:nvSpPr>
        <p:spPr bwMode="auto">
          <a:xfrm>
            <a:off x="685800" y="914400"/>
            <a:ext cx="7772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r>
              <a:rPr lang="en-US" altLang="zh-CN" b="0">
                <a:ea typeface="宋体" panose="02010600030101010101" pitchFamily="2" charset="-122"/>
              </a:rPr>
              <a:t>A simple translation scheme that converts infix expressions to the corresponding postfix expressions.</a:t>
            </a:r>
          </a:p>
        </p:txBody>
      </p:sp>
      <p:sp>
        <p:nvSpPr>
          <p:cNvPr id="466951" name="Rectangle 7"/>
          <p:cNvSpPr>
            <a:spLocks noChangeArrowheads="1"/>
          </p:cNvSpPr>
          <p:nvPr/>
        </p:nvSpPr>
        <p:spPr bwMode="auto">
          <a:xfrm>
            <a:off x="5562600" y="3429000"/>
            <a:ext cx="3513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a:solidFill>
                  <a:srgbClr val="CC0000"/>
                </a:solidFill>
                <a:ea typeface="宋体" panose="02010600030101010101" pitchFamily="2" charset="-122"/>
                <a:sym typeface="Symbol" panose="05050102010706020507" pitchFamily="18" charset="2"/>
              </a:rPr>
              <a:t>What kind of expression?</a:t>
            </a:r>
            <a:endParaRPr lang="zh-CN" altLang="en-US">
              <a:solidFill>
                <a:srgbClr val="CC0000"/>
              </a:solidFill>
              <a:ea typeface="宋体" panose="02010600030101010101" pitchFamily="2" charset="-122"/>
              <a:sym typeface="Symbol" panose="05050102010706020507" pitchFamily="18" charset="2"/>
            </a:endParaRPr>
          </a:p>
        </p:txBody>
      </p:sp>
      <p:sp>
        <p:nvSpPr>
          <p:cNvPr id="43019" name="Rectangle 8"/>
          <p:cNvSpPr>
            <a:spLocks noChangeArrowheads="1"/>
          </p:cNvSpPr>
          <p:nvPr/>
        </p:nvSpPr>
        <p:spPr bwMode="auto">
          <a:xfrm>
            <a:off x="1447800" y="1828800"/>
            <a:ext cx="4953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rPr>
              <a:t>	E → T R</a:t>
            </a:r>
          </a:p>
          <a:p>
            <a:pPr>
              <a:spcBef>
                <a:spcPct val="0"/>
              </a:spcBef>
              <a:buFontTx/>
              <a:buNone/>
            </a:pPr>
            <a:r>
              <a:rPr lang="en-US" altLang="zh-CN" b="0">
                <a:ea typeface="宋体" panose="02010600030101010101" pitchFamily="2" charset="-122"/>
              </a:rPr>
              <a:t>	R → + T </a:t>
            </a:r>
            <a:r>
              <a:rPr lang="en-US" altLang="zh-CN" b="0">
                <a:solidFill>
                  <a:srgbClr val="CC0000"/>
                </a:solidFill>
                <a:ea typeface="宋体" panose="02010600030101010101" pitchFamily="2" charset="-122"/>
              </a:rPr>
              <a:t>{ print(“+”) }</a:t>
            </a:r>
            <a:r>
              <a:rPr lang="en-US" altLang="zh-CN" b="0">
                <a:ea typeface="宋体" panose="02010600030101010101" pitchFamily="2" charset="-122"/>
              </a:rPr>
              <a:t> R1</a:t>
            </a:r>
          </a:p>
          <a:p>
            <a:pPr>
              <a:spcBef>
                <a:spcPct val="0"/>
              </a:spcBef>
              <a:buFontTx/>
              <a:buNone/>
            </a:pPr>
            <a:r>
              <a:rPr lang="en-US" altLang="zh-CN" b="0">
                <a:ea typeface="宋体" panose="02010600030101010101" pitchFamily="2" charset="-122"/>
              </a:rPr>
              <a:t>	R → </a:t>
            </a:r>
            <a:r>
              <a:rPr lang="en-US" altLang="zh-CN" b="0">
                <a:ea typeface="宋体" panose="02010600030101010101" pitchFamily="2" charset="-122"/>
                <a:sym typeface="Symbol" panose="05050102010706020507" pitchFamily="18" charset="2"/>
              </a:rPr>
              <a:t></a:t>
            </a:r>
          </a:p>
          <a:p>
            <a:pPr>
              <a:spcBef>
                <a:spcPct val="0"/>
              </a:spcBef>
              <a:buFontTx/>
              <a:buNone/>
            </a:pPr>
            <a:r>
              <a:rPr lang="en-US" altLang="zh-CN" b="0">
                <a:ea typeface="宋体" panose="02010600030101010101" pitchFamily="2" charset="-122"/>
                <a:sym typeface="Symbol" panose="05050102010706020507" pitchFamily="18" charset="2"/>
              </a:rPr>
              <a:t>	T </a:t>
            </a:r>
            <a:r>
              <a:rPr lang="en-US" altLang="zh-CN" b="0">
                <a:ea typeface="宋体" panose="02010600030101010101" pitchFamily="2" charset="-122"/>
              </a:rPr>
              <a:t>→ </a:t>
            </a:r>
            <a:r>
              <a:rPr lang="en-US" altLang="zh-CN">
                <a:ea typeface="宋体" panose="02010600030101010101" pitchFamily="2" charset="-122"/>
              </a:rPr>
              <a:t>id</a:t>
            </a:r>
            <a:r>
              <a:rPr lang="en-US" altLang="zh-CN" b="0">
                <a:ea typeface="宋体" panose="02010600030101010101" pitchFamily="2" charset="-122"/>
              </a:rPr>
              <a:t> </a:t>
            </a:r>
            <a:r>
              <a:rPr lang="en-US" altLang="zh-CN" b="0">
                <a:solidFill>
                  <a:srgbClr val="CC0000"/>
                </a:solidFill>
                <a:ea typeface="宋体" panose="02010600030101010101" pitchFamily="2" charset="-122"/>
              </a:rPr>
              <a:t>{ print(</a:t>
            </a:r>
            <a:r>
              <a:rPr lang="en-US" altLang="zh-CN">
                <a:solidFill>
                  <a:srgbClr val="CC0000"/>
                </a:solidFill>
                <a:ea typeface="宋体" panose="02010600030101010101" pitchFamily="2" charset="-122"/>
              </a:rPr>
              <a:t>id</a:t>
            </a:r>
            <a:r>
              <a:rPr lang="en-US" altLang="zh-CN" b="0">
                <a:solidFill>
                  <a:srgbClr val="CC0000"/>
                </a:solidFill>
                <a:ea typeface="宋体" panose="02010600030101010101" pitchFamily="2" charset="-122"/>
              </a:rPr>
              <a:t>.name) }</a:t>
            </a:r>
          </a:p>
        </p:txBody>
      </p:sp>
      <p:sp>
        <p:nvSpPr>
          <p:cNvPr id="466953" name="Rectangle 9"/>
          <p:cNvSpPr>
            <a:spLocks noChangeArrowheads="1"/>
          </p:cNvSpPr>
          <p:nvPr/>
        </p:nvSpPr>
        <p:spPr bwMode="auto">
          <a:xfrm>
            <a:off x="4191000" y="4114800"/>
            <a:ext cx="94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sym typeface="Wingdings" panose="05000000000000000000" pitchFamily="2" charset="2"/>
              </a:rPr>
              <a:t>ab+c+</a:t>
            </a:r>
            <a:endParaRPr lang="zh-CN" altLang="en-US" b="0">
              <a:ea typeface="宋体" panose="02010600030101010101" pitchFamily="2" charset="-122"/>
              <a:sym typeface="Wingdings" panose="05000000000000000000" pitchFamily="2" charset="2"/>
            </a:endParaRPr>
          </a:p>
        </p:txBody>
      </p:sp>
      <p:sp>
        <p:nvSpPr>
          <p:cNvPr id="466954" name="Rectangle 10"/>
          <p:cNvSpPr>
            <a:spLocks noChangeArrowheads="1"/>
          </p:cNvSpPr>
          <p:nvPr/>
        </p:nvSpPr>
        <p:spPr bwMode="auto">
          <a:xfrm>
            <a:off x="1752600" y="5334000"/>
            <a:ext cx="515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buFontTx/>
              <a:buNone/>
            </a:pPr>
            <a:r>
              <a:rPr lang="en-US" altLang="zh-CN" b="0">
                <a:ea typeface="宋体" panose="02010600030101010101" pitchFamily="2" charset="-122"/>
                <a:sym typeface="Wingdings" panose="05000000000000000000" pitchFamily="2" charset="2"/>
              </a:rPr>
              <a:t>infix expression 	postfix expression</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2000"/>
                                  </p:stCondLst>
                                  <p:childTnLst>
                                    <p:set>
                                      <p:cBhvr>
                                        <p:cTn id="6" dur="1" fill="hold">
                                          <p:stCondLst>
                                            <p:cond delay="0"/>
                                          </p:stCondLst>
                                        </p:cTn>
                                        <p:tgtEl>
                                          <p:spTgt spid="466951"/>
                                        </p:tgtEl>
                                        <p:attrNameLst>
                                          <p:attrName>style.visibility</p:attrName>
                                        </p:attrNameLst>
                                      </p:cBhvr>
                                      <p:to>
                                        <p:strVal val="visible"/>
                                      </p:to>
                                    </p:set>
                                    <p:anim calcmode="lin" valueType="num">
                                      <p:cBhvr additive="base">
                                        <p:cTn id="7" dur="1000" fill="hold"/>
                                        <p:tgtEl>
                                          <p:spTgt spid="466951"/>
                                        </p:tgtEl>
                                        <p:attrNameLst>
                                          <p:attrName>ppt_x</p:attrName>
                                        </p:attrNameLst>
                                      </p:cBhvr>
                                      <p:tavLst>
                                        <p:tav tm="0">
                                          <p:val>
                                            <p:strVal val="1+#ppt_w/2"/>
                                          </p:val>
                                        </p:tav>
                                        <p:tav tm="100000">
                                          <p:val>
                                            <p:strVal val="#ppt_x"/>
                                          </p:val>
                                        </p:tav>
                                      </p:tavLst>
                                    </p:anim>
                                    <p:anim calcmode="lin" valueType="num">
                                      <p:cBhvr additive="base">
                                        <p:cTn id="8" dur="1000" fill="hold"/>
                                        <p:tgtEl>
                                          <p:spTgt spid="46695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3000"/>
                            </p:stCondLst>
                            <p:childTnLst>
                              <p:par>
                                <p:cTn id="10" presetID="2" presetClass="entr" presetSubtype="4" fill="hold" grpId="0" nodeType="afterEffect">
                                  <p:stCondLst>
                                    <p:cond delay="0"/>
                                  </p:stCondLst>
                                  <p:childTnLst>
                                    <p:set>
                                      <p:cBhvr>
                                        <p:cTn id="11" dur="1" fill="hold">
                                          <p:stCondLst>
                                            <p:cond delay="0"/>
                                          </p:stCondLst>
                                        </p:cTn>
                                        <p:tgtEl>
                                          <p:spTgt spid="466947">
                                            <p:txEl>
                                              <p:pRg st="0" end="0"/>
                                            </p:txEl>
                                          </p:spTgt>
                                        </p:tgtEl>
                                        <p:attrNameLst>
                                          <p:attrName>style.visibility</p:attrName>
                                        </p:attrNameLst>
                                      </p:cBhvr>
                                      <p:to>
                                        <p:strVal val="visible"/>
                                      </p:to>
                                    </p:set>
                                    <p:anim calcmode="lin" valueType="num">
                                      <p:cBhvr additive="base">
                                        <p:cTn id="12" dur="1000" fill="hold"/>
                                        <p:tgtEl>
                                          <p:spTgt spid="466947">
                                            <p:txEl>
                                              <p:pRg st="0" end="0"/>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4669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66953"/>
                                        </p:tgtEl>
                                        <p:attrNameLst>
                                          <p:attrName>style.visibility</p:attrName>
                                        </p:attrNameLst>
                                      </p:cBhvr>
                                      <p:to>
                                        <p:strVal val="visible"/>
                                      </p:to>
                                    </p:set>
                                    <p:animEffect transition="in" filter="wipe(left)">
                                      <p:cBhvr>
                                        <p:cTn id="18" dur="1000"/>
                                        <p:tgtEl>
                                          <p:spTgt spid="466953"/>
                                        </p:tgtEl>
                                      </p:cBhvr>
                                    </p:animEffect>
                                  </p:childTnLst>
                                </p:cTn>
                              </p:par>
                            </p:childTnLst>
                          </p:cTn>
                        </p:par>
                        <p:par>
                          <p:cTn id="19" fill="hold" nodeType="afterGroup">
                            <p:stCondLst>
                              <p:cond delay="1000"/>
                            </p:stCondLst>
                            <p:childTnLst>
                              <p:par>
                                <p:cTn id="20" presetID="8" presetClass="entr" presetSubtype="16" fill="hold" grpId="0" nodeType="afterEffect">
                                  <p:stCondLst>
                                    <p:cond delay="0"/>
                                  </p:stCondLst>
                                  <p:childTnLst>
                                    <p:set>
                                      <p:cBhvr>
                                        <p:cTn id="21" dur="1" fill="hold">
                                          <p:stCondLst>
                                            <p:cond delay="0"/>
                                          </p:stCondLst>
                                        </p:cTn>
                                        <p:tgtEl>
                                          <p:spTgt spid="466954"/>
                                        </p:tgtEl>
                                        <p:attrNameLst>
                                          <p:attrName>style.visibility</p:attrName>
                                        </p:attrNameLst>
                                      </p:cBhvr>
                                      <p:to>
                                        <p:strVal val="visible"/>
                                      </p:to>
                                    </p:set>
                                    <p:animEffect transition="in" filter="diamond(in)">
                                      <p:cBhvr>
                                        <p:cTn id="22" dur="2000"/>
                                        <p:tgtEl>
                                          <p:spTgt spid="466954"/>
                                        </p:tgtEl>
                                      </p:cBhvr>
                                    </p:animEffect>
                                  </p:childTnLst>
                                </p:cTn>
                              </p:par>
                            </p:childTnLst>
                          </p:cTn>
                        </p:par>
                        <p:par>
                          <p:cTn id="23" fill="hold" nodeType="afterGroup">
                            <p:stCondLst>
                              <p:cond delay="3000"/>
                            </p:stCondLst>
                            <p:childTnLst>
                              <p:par>
                                <p:cTn id="24" presetID="8" presetClass="entr" presetSubtype="16" fill="hold" nodeType="afterEffect">
                                  <p:stCondLst>
                                    <p:cond delay="0"/>
                                  </p:stCondLst>
                                  <p:childTnLst>
                                    <p:set>
                                      <p:cBhvr>
                                        <p:cTn id="25" dur="1" fill="hold">
                                          <p:stCondLst>
                                            <p:cond delay="0"/>
                                          </p:stCondLst>
                                        </p:cTn>
                                        <p:tgtEl>
                                          <p:spTgt spid="466948"/>
                                        </p:tgtEl>
                                        <p:attrNameLst>
                                          <p:attrName>style.visibility</p:attrName>
                                        </p:attrNameLst>
                                      </p:cBhvr>
                                      <p:to>
                                        <p:strVal val="visible"/>
                                      </p:to>
                                    </p:set>
                                    <p:animEffect transition="in" filter="diamond(in)">
                                      <p:cBhvr>
                                        <p:cTn id="26" dur="1000"/>
                                        <p:tgtEl>
                                          <p:spTgt spid="466948"/>
                                        </p:tgtEl>
                                      </p:cBhvr>
                                    </p:animEffect>
                                  </p:childTnLst>
                                </p:cTn>
                              </p:par>
                            </p:childTnLst>
                          </p:cTn>
                        </p:par>
                        <p:par>
                          <p:cTn id="27" fill="hold" nodeType="afterGroup">
                            <p:stCondLst>
                              <p:cond delay="4000"/>
                            </p:stCondLst>
                            <p:childTnLst>
                              <p:par>
                                <p:cTn id="28" presetID="8" presetClass="entr" presetSubtype="16" fill="hold" nodeType="afterEffect">
                                  <p:stCondLst>
                                    <p:cond delay="0"/>
                                  </p:stCondLst>
                                  <p:childTnLst>
                                    <p:set>
                                      <p:cBhvr>
                                        <p:cTn id="29" dur="1" fill="hold">
                                          <p:stCondLst>
                                            <p:cond delay="0"/>
                                          </p:stCondLst>
                                        </p:cTn>
                                        <p:tgtEl>
                                          <p:spTgt spid="466949"/>
                                        </p:tgtEl>
                                        <p:attrNameLst>
                                          <p:attrName>style.visibility</p:attrName>
                                        </p:attrNameLst>
                                      </p:cBhvr>
                                      <p:to>
                                        <p:strVal val="visible"/>
                                      </p:to>
                                    </p:set>
                                    <p:animEffect transition="in" filter="diamond(in)">
                                      <p:cBhvr>
                                        <p:cTn id="30" dur="1000"/>
                                        <p:tgtEl>
                                          <p:spTgt spid="466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7" grpId="0" build="p"/>
      <p:bldP spid="466951" grpId="0"/>
      <p:bldP spid="466953" grpId="0"/>
      <p:bldP spid="46695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403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403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27C6B649-419E-40C1-B6E1-322F6EDE5826}" type="slidenum">
              <a:rPr lang="zh-CN" altLang="en-US" sz="800"/>
              <a:pPr>
                <a:spcBef>
                  <a:spcPct val="0"/>
                </a:spcBef>
                <a:buFontTx/>
                <a:buNone/>
              </a:pPr>
              <a:t>42</a:t>
            </a:fld>
            <a:endParaRPr lang="en-US" altLang="zh-CN" sz="800"/>
          </a:p>
        </p:txBody>
      </p:sp>
      <p:sp>
        <p:nvSpPr>
          <p:cNvPr id="44037" name="Rectangle 2"/>
          <p:cNvSpPr>
            <a:spLocks noGrp="1" noChangeArrowheads="1"/>
          </p:cNvSpPr>
          <p:nvPr>
            <p:ph type="title"/>
          </p:nvPr>
        </p:nvSpPr>
        <p:spPr/>
        <p:txBody>
          <a:bodyPr/>
          <a:lstStyle/>
          <a:p>
            <a:r>
              <a:rPr lang="en-US" altLang="zh-CN" smtClean="0">
                <a:ea typeface="宋体" panose="02010600030101010101" pitchFamily="2" charset="-122"/>
              </a:rPr>
              <a:t>A Translation Scheme Example (cont.)</a:t>
            </a:r>
          </a:p>
        </p:txBody>
      </p:sp>
      <p:sp>
        <p:nvSpPr>
          <p:cNvPr id="44038" name="Rectangle 3"/>
          <p:cNvSpPr>
            <a:spLocks noGrp="1" noChangeArrowheads="1"/>
          </p:cNvSpPr>
          <p:nvPr>
            <p:ph type="body" idx="1"/>
          </p:nvPr>
        </p:nvSpPr>
        <p:spPr/>
        <p:txBody>
          <a:bodyPr/>
          <a:lstStyle/>
          <a:p>
            <a:pPr>
              <a:buFontTx/>
              <a:buNone/>
            </a:pPr>
            <a:r>
              <a:rPr lang="zh-CN" altLang="en-US" smtClean="0">
                <a:ea typeface="宋体" panose="02010600030101010101" pitchFamily="2" charset="-122"/>
              </a:rPr>
              <a:t>			</a:t>
            </a:r>
            <a:r>
              <a:rPr lang="en-US" altLang="zh-CN" smtClean="0">
                <a:ea typeface="宋体" panose="02010600030101010101" pitchFamily="2" charset="-122"/>
              </a:rPr>
              <a:t>E</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T				R</a:t>
            </a:r>
          </a:p>
          <a:p>
            <a:pPr>
              <a:buFontTx/>
              <a:buNone/>
            </a:pPr>
            <a:endParaRPr lang="en-US" altLang="zh-CN" smtClean="0">
              <a:ea typeface="宋体" panose="02010600030101010101" pitchFamily="2" charset="-122"/>
            </a:endParaRPr>
          </a:p>
          <a:p>
            <a:pPr>
              <a:buFontTx/>
              <a:buNone/>
            </a:pPr>
            <a:r>
              <a:rPr lang="en-US" altLang="zh-CN" b="1" smtClean="0">
                <a:ea typeface="宋体" panose="02010600030101010101" pitchFamily="2" charset="-122"/>
              </a:rPr>
              <a:t>id</a:t>
            </a:r>
            <a:r>
              <a:rPr lang="en-US" altLang="zh-CN" smtClean="0">
                <a:ea typeface="宋体" panose="02010600030101010101" pitchFamily="2" charset="-122"/>
              </a:rPr>
              <a:t>	</a:t>
            </a:r>
            <a:r>
              <a:rPr lang="en-US" altLang="zh-CN" smtClean="0">
                <a:solidFill>
                  <a:srgbClr val="CC0000"/>
                </a:solidFill>
                <a:ea typeface="宋体" panose="02010600030101010101" pitchFamily="2" charset="-122"/>
              </a:rPr>
              <a:t>{print(“a”)}</a:t>
            </a:r>
            <a:r>
              <a:rPr lang="en-US" altLang="zh-CN" smtClean="0">
                <a:ea typeface="宋体" panose="02010600030101010101" pitchFamily="2" charset="-122"/>
              </a:rPr>
              <a:t>		+	 T    </a:t>
            </a:r>
            <a:r>
              <a:rPr lang="en-US" altLang="zh-CN" smtClean="0">
                <a:solidFill>
                  <a:srgbClr val="CC0000"/>
                </a:solidFill>
                <a:ea typeface="宋体" panose="02010600030101010101" pitchFamily="2" charset="-122"/>
              </a:rPr>
              <a:t>{print(“+”)}</a:t>
            </a:r>
            <a:r>
              <a:rPr lang="en-US" altLang="zh-CN" smtClean="0">
                <a:ea typeface="宋体" panose="02010600030101010101" pitchFamily="2" charset="-122"/>
              </a:rPr>
              <a:t>   R</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a:t>
            </a:r>
            <a:r>
              <a:rPr lang="en-US" altLang="zh-CN" b="1" smtClean="0">
                <a:ea typeface="宋体" panose="02010600030101010101" pitchFamily="2" charset="-122"/>
              </a:rPr>
              <a:t>id</a:t>
            </a:r>
            <a:r>
              <a:rPr lang="en-US" altLang="zh-CN" smtClean="0">
                <a:ea typeface="宋体" panose="02010600030101010101" pitchFamily="2" charset="-122"/>
              </a:rPr>
              <a:t>  </a:t>
            </a:r>
            <a:r>
              <a:rPr lang="en-US" altLang="zh-CN" smtClean="0">
                <a:solidFill>
                  <a:srgbClr val="CC0000"/>
                </a:solidFill>
                <a:ea typeface="宋体" panose="02010600030101010101" pitchFamily="2" charset="-122"/>
              </a:rPr>
              <a:t>{print(“b”)}</a:t>
            </a:r>
            <a:r>
              <a:rPr lang="en-US" altLang="zh-CN" smtClean="0">
                <a:ea typeface="宋体" panose="02010600030101010101" pitchFamily="2" charset="-122"/>
              </a:rPr>
              <a:t>	+   T 	</a:t>
            </a:r>
            <a:r>
              <a:rPr lang="en-US" altLang="zh-CN" smtClean="0">
                <a:solidFill>
                  <a:srgbClr val="CC0000"/>
                </a:solidFill>
                <a:ea typeface="宋体" panose="02010600030101010101" pitchFamily="2" charset="-122"/>
              </a:rPr>
              <a:t>{print(“+”)}</a:t>
            </a:r>
            <a:r>
              <a:rPr lang="en-US" altLang="zh-CN" smtClean="0">
                <a:ea typeface="宋体" panose="02010600030101010101" pitchFamily="2" charset="-122"/>
              </a:rPr>
              <a:t>    R	</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a:t>
            </a:r>
            <a:r>
              <a:rPr lang="en-US" altLang="zh-CN" b="1" smtClean="0">
                <a:ea typeface="宋体" panose="02010600030101010101" pitchFamily="2" charset="-122"/>
              </a:rPr>
              <a:t>id</a:t>
            </a:r>
            <a:r>
              <a:rPr lang="en-US" altLang="zh-CN" smtClean="0">
                <a:ea typeface="宋体" panose="02010600030101010101" pitchFamily="2" charset="-122"/>
              </a:rPr>
              <a:t>   </a:t>
            </a:r>
            <a:r>
              <a:rPr lang="en-US" altLang="zh-CN" smtClean="0">
                <a:solidFill>
                  <a:srgbClr val="CC0000"/>
                </a:solidFill>
                <a:ea typeface="宋体" panose="02010600030101010101" pitchFamily="2" charset="-122"/>
              </a:rPr>
              <a:t>{print(“c”)}</a:t>
            </a:r>
            <a:r>
              <a:rPr lang="en-US" altLang="zh-CN" smtClean="0">
                <a:ea typeface="宋体" panose="02010600030101010101" pitchFamily="2" charset="-122"/>
              </a:rPr>
              <a:t>	</a:t>
            </a:r>
            <a:r>
              <a:rPr lang="en-US" altLang="zh-CN" smtClean="0">
                <a:ea typeface="宋体" panose="02010600030101010101" pitchFamily="2" charset="-122"/>
                <a:cs typeface="Times New Roman" panose="02020603050405020304" pitchFamily="18" charset="0"/>
                <a:sym typeface="Symbol" panose="05050102010706020507" pitchFamily="18" charset="2"/>
              </a:rPr>
              <a:t></a:t>
            </a:r>
            <a:r>
              <a:rPr lang="en-US" altLang="zh-CN" smtClean="0">
                <a:ea typeface="宋体" panose="02010600030101010101" pitchFamily="2" charset="-122"/>
              </a:rPr>
              <a:t> </a:t>
            </a:r>
          </a:p>
          <a:p>
            <a:pPr>
              <a:buFontTx/>
              <a:buNone/>
            </a:pPr>
            <a:endParaRPr lang="en-US" altLang="zh-CN" sz="2000" smtClean="0">
              <a:ea typeface="宋体" panose="02010600030101010101" pitchFamily="2" charset="-122"/>
            </a:endParaRPr>
          </a:p>
          <a:p>
            <a:pPr>
              <a:buFontTx/>
              <a:buNone/>
            </a:pPr>
            <a:r>
              <a:rPr lang="en-US" altLang="zh-CN" sz="2000" smtClean="0">
                <a:ea typeface="宋体" panose="02010600030101010101" pitchFamily="2" charset="-122"/>
              </a:rPr>
              <a:t>The depth first traversal of the parse tree (executing the semantic actions in that order)</a:t>
            </a:r>
          </a:p>
          <a:p>
            <a:pPr>
              <a:buFontTx/>
              <a:buNone/>
            </a:pPr>
            <a:r>
              <a:rPr lang="en-US" altLang="zh-CN" sz="2000" smtClean="0">
                <a:ea typeface="宋体" panose="02010600030101010101" pitchFamily="2" charset="-122"/>
              </a:rPr>
              <a:t>will produce the postfix representation of the infix expression.</a:t>
            </a:r>
          </a:p>
        </p:txBody>
      </p:sp>
      <p:sp>
        <p:nvSpPr>
          <p:cNvPr id="44039" name="Line 4"/>
          <p:cNvSpPr>
            <a:spLocks noChangeShapeType="1"/>
          </p:cNvSpPr>
          <p:nvPr/>
        </p:nvSpPr>
        <p:spPr bwMode="auto">
          <a:xfrm flipH="1">
            <a:off x="914400" y="1676400"/>
            <a:ext cx="1447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0" name="Line 5"/>
          <p:cNvSpPr>
            <a:spLocks noChangeShapeType="1"/>
          </p:cNvSpPr>
          <p:nvPr/>
        </p:nvSpPr>
        <p:spPr bwMode="auto">
          <a:xfrm>
            <a:off x="2362200" y="1676400"/>
            <a:ext cx="1828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1" name="Line 6"/>
          <p:cNvSpPr>
            <a:spLocks noChangeShapeType="1"/>
          </p:cNvSpPr>
          <p:nvPr/>
        </p:nvSpPr>
        <p:spPr bwMode="auto">
          <a:xfrm flipH="1">
            <a:off x="609600" y="25146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2" name="Line 7"/>
          <p:cNvSpPr>
            <a:spLocks noChangeShapeType="1"/>
          </p:cNvSpPr>
          <p:nvPr/>
        </p:nvSpPr>
        <p:spPr bwMode="auto">
          <a:xfrm flipH="1">
            <a:off x="3352800" y="2514600"/>
            <a:ext cx="914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3" name="Line 8"/>
          <p:cNvSpPr>
            <a:spLocks noChangeShapeType="1"/>
          </p:cNvSpPr>
          <p:nvPr/>
        </p:nvSpPr>
        <p:spPr bwMode="auto">
          <a:xfrm>
            <a:off x="4267200" y="25146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4" name="Line 9"/>
          <p:cNvSpPr>
            <a:spLocks noChangeShapeType="1"/>
          </p:cNvSpPr>
          <p:nvPr/>
        </p:nvSpPr>
        <p:spPr bwMode="auto">
          <a:xfrm>
            <a:off x="4267200" y="2514600"/>
            <a:ext cx="2209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5" name="Line 10"/>
          <p:cNvSpPr>
            <a:spLocks noChangeShapeType="1"/>
          </p:cNvSpPr>
          <p:nvPr/>
        </p:nvSpPr>
        <p:spPr bwMode="auto">
          <a:xfrm flipH="1">
            <a:off x="3352800" y="34290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6" name="Line 11"/>
          <p:cNvSpPr>
            <a:spLocks noChangeShapeType="1"/>
          </p:cNvSpPr>
          <p:nvPr/>
        </p:nvSpPr>
        <p:spPr bwMode="auto">
          <a:xfrm flipH="1">
            <a:off x="6019800" y="342900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7" name="Line 12"/>
          <p:cNvSpPr>
            <a:spLocks noChangeShapeType="1"/>
          </p:cNvSpPr>
          <p:nvPr/>
        </p:nvSpPr>
        <p:spPr bwMode="auto">
          <a:xfrm flipH="1">
            <a:off x="6477000" y="3429000"/>
            <a:ext cx="76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8" name="Line 13"/>
          <p:cNvSpPr>
            <a:spLocks noChangeShapeType="1"/>
          </p:cNvSpPr>
          <p:nvPr/>
        </p:nvSpPr>
        <p:spPr bwMode="auto">
          <a:xfrm>
            <a:off x="6553200" y="3429000"/>
            <a:ext cx="2209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9" name="Line 14"/>
          <p:cNvSpPr>
            <a:spLocks noChangeShapeType="1"/>
          </p:cNvSpPr>
          <p:nvPr/>
        </p:nvSpPr>
        <p:spPr bwMode="auto">
          <a:xfrm flipH="1">
            <a:off x="6096000" y="42672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0" name="Line 15"/>
          <p:cNvSpPr>
            <a:spLocks noChangeShapeType="1"/>
          </p:cNvSpPr>
          <p:nvPr/>
        </p:nvSpPr>
        <p:spPr bwMode="auto">
          <a:xfrm>
            <a:off x="8763000" y="42672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1" name="Line 16"/>
          <p:cNvSpPr>
            <a:spLocks noChangeShapeType="1"/>
          </p:cNvSpPr>
          <p:nvPr/>
        </p:nvSpPr>
        <p:spPr bwMode="auto">
          <a:xfrm>
            <a:off x="914400" y="2514600"/>
            <a:ext cx="5334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2" name="Line 17"/>
          <p:cNvSpPr>
            <a:spLocks noChangeShapeType="1"/>
          </p:cNvSpPr>
          <p:nvPr/>
        </p:nvSpPr>
        <p:spPr bwMode="auto">
          <a:xfrm>
            <a:off x="4267200" y="2514600"/>
            <a:ext cx="9144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3" name="Line 18"/>
          <p:cNvSpPr>
            <a:spLocks noChangeShapeType="1"/>
          </p:cNvSpPr>
          <p:nvPr/>
        </p:nvSpPr>
        <p:spPr bwMode="auto">
          <a:xfrm>
            <a:off x="4267200" y="3429000"/>
            <a:ext cx="0" cy="4572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4" name="Line 19"/>
          <p:cNvSpPr>
            <a:spLocks noChangeShapeType="1"/>
          </p:cNvSpPr>
          <p:nvPr/>
        </p:nvSpPr>
        <p:spPr bwMode="auto">
          <a:xfrm>
            <a:off x="6553200" y="3429000"/>
            <a:ext cx="914400" cy="4572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5" name="Line 20"/>
          <p:cNvSpPr>
            <a:spLocks noChangeShapeType="1"/>
          </p:cNvSpPr>
          <p:nvPr/>
        </p:nvSpPr>
        <p:spPr bwMode="auto">
          <a:xfrm>
            <a:off x="6477000" y="4267200"/>
            <a:ext cx="5334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505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506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A6C5BAA2-35AD-48DF-BC46-C65887A45048}" type="slidenum">
              <a:rPr lang="zh-CN" altLang="en-US" sz="800"/>
              <a:pPr>
                <a:spcBef>
                  <a:spcPct val="0"/>
                </a:spcBef>
                <a:buFontTx/>
                <a:buNone/>
              </a:pPr>
              <a:t>43</a:t>
            </a:fld>
            <a:endParaRPr lang="en-US" altLang="zh-CN" sz="800"/>
          </a:p>
        </p:txBody>
      </p:sp>
      <p:sp>
        <p:nvSpPr>
          <p:cNvPr id="45061" name="Rectangle 2"/>
          <p:cNvSpPr>
            <a:spLocks noGrp="1" noChangeArrowheads="1"/>
          </p:cNvSpPr>
          <p:nvPr>
            <p:ph type="title"/>
          </p:nvPr>
        </p:nvSpPr>
        <p:spPr/>
        <p:txBody>
          <a:bodyPr/>
          <a:lstStyle/>
          <a:p>
            <a:r>
              <a:rPr lang="en-US" altLang="zh-CN" smtClean="0">
                <a:ea typeface="宋体" panose="02010600030101010101" pitchFamily="2" charset="-122"/>
              </a:rPr>
              <a:t>Derivation with semantic actions</a:t>
            </a:r>
          </a:p>
        </p:txBody>
      </p:sp>
      <p:sp>
        <p:nvSpPr>
          <p:cNvPr id="470019" name="Rectangle 3"/>
          <p:cNvSpPr>
            <a:spLocks noGrp="1" noChangeArrowheads="1"/>
          </p:cNvSpPr>
          <p:nvPr>
            <p:ph type="body" idx="1"/>
          </p:nvPr>
        </p:nvSpPr>
        <p:spPr>
          <a:xfrm>
            <a:off x="304800" y="2286000"/>
            <a:ext cx="9372600" cy="3581400"/>
          </a:xfrm>
        </p:spPr>
        <p:txBody>
          <a:bodyPr/>
          <a:lstStyle/>
          <a:p>
            <a:r>
              <a:rPr lang="en-US" altLang="zh-CN" sz="2000" smtClean="0">
                <a:ea typeface="宋体" panose="02010600030101010101" pitchFamily="2" charset="-122"/>
              </a:rPr>
              <a:t>E → T R</a:t>
            </a:r>
          </a:p>
          <a:p>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r>
              <a:rPr lang="en-US" altLang="zh-CN" sz="2000" smtClean="0">
                <a:ea typeface="宋体" panose="02010600030101010101" pitchFamily="2" charset="-122"/>
              </a:rPr>
              <a:t> R</a:t>
            </a:r>
          </a:p>
          <a:p>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 </a:t>
            </a:r>
            <a:r>
              <a:rPr lang="en-US" altLang="zh-CN" sz="2000" smtClean="0">
                <a:ea typeface="宋体" panose="02010600030101010101" pitchFamily="2" charset="-122"/>
              </a:rPr>
              <a:t>+ T </a:t>
            </a:r>
            <a:r>
              <a:rPr lang="en-US" altLang="zh-CN" sz="2000" smtClean="0">
                <a:solidFill>
                  <a:srgbClr val="CC0000"/>
                </a:solidFill>
                <a:ea typeface="宋体" panose="02010600030101010101" pitchFamily="2" charset="-122"/>
              </a:rPr>
              <a:t>{ print(“+”) }</a:t>
            </a:r>
            <a:r>
              <a:rPr lang="en-US" altLang="zh-CN" sz="2000" smtClean="0">
                <a:ea typeface="宋体" panose="02010600030101010101" pitchFamily="2" charset="-122"/>
              </a:rPr>
              <a:t> R</a:t>
            </a:r>
          </a:p>
          <a:p>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 </a:t>
            </a:r>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 }</a:t>
            </a:r>
            <a:r>
              <a:rPr lang="en-US" altLang="zh-CN" sz="2000" smtClean="0">
                <a:ea typeface="宋体" panose="02010600030101010101" pitchFamily="2" charset="-122"/>
              </a:rPr>
              <a:t> R</a:t>
            </a:r>
          </a:p>
          <a:p>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 </a:t>
            </a:r>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 }</a:t>
            </a:r>
            <a:r>
              <a:rPr lang="en-US" altLang="zh-CN" sz="2000" smtClean="0">
                <a:ea typeface="宋体" panose="02010600030101010101" pitchFamily="2" charset="-122"/>
              </a:rPr>
              <a:t> + T </a:t>
            </a:r>
            <a:r>
              <a:rPr lang="en-US" altLang="zh-CN" sz="2000" smtClean="0">
                <a:solidFill>
                  <a:srgbClr val="CC0000"/>
                </a:solidFill>
                <a:ea typeface="宋体" panose="02010600030101010101" pitchFamily="2" charset="-122"/>
              </a:rPr>
              <a:t>{ print(“+”) }</a:t>
            </a:r>
            <a:r>
              <a:rPr lang="en-US" altLang="zh-CN" sz="2000" smtClean="0">
                <a:ea typeface="宋体" panose="02010600030101010101" pitchFamily="2" charset="-122"/>
              </a:rPr>
              <a:t> R</a:t>
            </a:r>
          </a:p>
          <a:p>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 </a:t>
            </a:r>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 }</a:t>
            </a:r>
            <a:r>
              <a:rPr lang="en-US" altLang="zh-CN" sz="2000" smtClean="0">
                <a:ea typeface="宋体" panose="02010600030101010101" pitchFamily="2" charset="-122"/>
              </a:rPr>
              <a:t> +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p>
          <a:p>
            <a:pPr>
              <a:buFontTx/>
              <a:buNone/>
            </a:pPr>
            <a:r>
              <a:rPr lang="en-US" altLang="zh-CN" sz="2000" smtClean="0">
                <a:solidFill>
                  <a:srgbClr val="CC0000"/>
                </a:solidFill>
                <a:ea typeface="宋体" panose="02010600030101010101" pitchFamily="2" charset="-122"/>
              </a:rPr>
              <a:t>		{ print(“+”) }</a:t>
            </a:r>
            <a:r>
              <a:rPr lang="en-US" altLang="zh-CN" sz="2000" smtClean="0">
                <a:ea typeface="宋体" panose="02010600030101010101" pitchFamily="2" charset="-122"/>
              </a:rPr>
              <a:t> R</a:t>
            </a:r>
          </a:p>
          <a:p>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 </a:t>
            </a:r>
            <a:r>
              <a:rPr lang="en-US" altLang="zh-CN" sz="2000" smtClean="0">
                <a:ea typeface="宋体" panose="02010600030101010101" pitchFamily="2" charset="-122"/>
              </a:rPr>
              <a:t>+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 }</a:t>
            </a:r>
            <a:r>
              <a:rPr lang="en-US" altLang="zh-CN" sz="2000" smtClean="0">
                <a:ea typeface="宋体" panose="02010600030101010101" pitchFamily="2" charset="-122"/>
              </a:rPr>
              <a:t> + </a:t>
            </a:r>
            <a:r>
              <a:rPr lang="en-US" altLang="zh-CN" sz="2000" b="1" smtClean="0">
                <a:ea typeface="宋体" panose="02010600030101010101" pitchFamily="2" charset="-122"/>
              </a:rPr>
              <a:t>id</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 print(</a:t>
            </a:r>
            <a:r>
              <a:rPr lang="en-US" altLang="zh-CN" sz="2000" b="1" smtClean="0">
                <a:solidFill>
                  <a:srgbClr val="CC0000"/>
                </a:solidFill>
                <a:ea typeface="宋体" panose="02010600030101010101" pitchFamily="2" charset="-122"/>
              </a:rPr>
              <a:t>id</a:t>
            </a:r>
            <a:r>
              <a:rPr lang="en-US" altLang="zh-CN" sz="2000" smtClean="0">
                <a:solidFill>
                  <a:srgbClr val="CC0000"/>
                </a:solidFill>
                <a:ea typeface="宋体" panose="02010600030101010101" pitchFamily="2" charset="-122"/>
              </a:rPr>
              <a:t>.name) }</a:t>
            </a:r>
          </a:p>
          <a:p>
            <a:pPr>
              <a:buFontTx/>
              <a:buNone/>
            </a:pPr>
            <a:r>
              <a:rPr lang="en-US" altLang="zh-CN" sz="2000" smtClean="0">
                <a:solidFill>
                  <a:srgbClr val="CC0000"/>
                </a:solidFill>
                <a:ea typeface="宋体" panose="02010600030101010101" pitchFamily="2" charset="-122"/>
              </a:rPr>
              <a:t>		{ print(“+”) }</a:t>
            </a:r>
            <a:r>
              <a:rPr lang="en-US" altLang="zh-CN" sz="2000" smtClean="0">
                <a:ea typeface="宋体" panose="02010600030101010101" pitchFamily="2" charset="-122"/>
              </a:rPr>
              <a:t> </a:t>
            </a:r>
            <a:r>
              <a:rPr lang="en-US" altLang="zh-CN" sz="2000" smtClean="0">
                <a:ea typeface="宋体" panose="02010600030101010101" pitchFamily="2" charset="-122"/>
                <a:sym typeface="Symbol" panose="05050102010706020507" pitchFamily="18" charset="2"/>
              </a:rPr>
              <a:t></a:t>
            </a:r>
            <a:endParaRPr lang="en-US" altLang="zh-CN" sz="2000" smtClean="0">
              <a:ea typeface="宋体" panose="02010600030101010101" pitchFamily="2" charset="-122"/>
            </a:endParaRPr>
          </a:p>
          <a:p>
            <a:endParaRPr lang="zh-CN" altLang="en-US" sz="2000" smtClean="0">
              <a:ea typeface="宋体" panose="02010600030101010101" pitchFamily="2" charset="-122"/>
            </a:endParaRPr>
          </a:p>
        </p:txBody>
      </p:sp>
      <p:sp>
        <p:nvSpPr>
          <p:cNvPr id="470020" name="Rectangle 4"/>
          <p:cNvSpPr>
            <a:spLocks noChangeArrowheads="1"/>
          </p:cNvSpPr>
          <p:nvPr/>
        </p:nvSpPr>
        <p:spPr bwMode="auto">
          <a:xfrm>
            <a:off x="5715000" y="1066800"/>
            <a:ext cx="34290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2200" b="0">
                <a:ea typeface="宋体" panose="02010600030101010101" pitchFamily="2" charset="-122"/>
              </a:rPr>
              <a:t>E → T R</a:t>
            </a:r>
          </a:p>
          <a:p>
            <a:pPr>
              <a:spcBef>
                <a:spcPct val="0"/>
              </a:spcBef>
              <a:buFontTx/>
              <a:buNone/>
            </a:pPr>
            <a:r>
              <a:rPr lang="en-US" altLang="zh-CN" sz="2200" b="0">
                <a:ea typeface="宋体" panose="02010600030101010101" pitchFamily="2" charset="-122"/>
              </a:rPr>
              <a:t>R → + T </a:t>
            </a:r>
            <a:r>
              <a:rPr lang="en-US" altLang="zh-CN" sz="2200" b="0">
                <a:solidFill>
                  <a:srgbClr val="CC0000"/>
                </a:solidFill>
                <a:ea typeface="宋体" panose="02010600030101010101" pitchFamily="2" charset="-122"/>
              </a:rPr>
              <a:t>{ print(“+”) }</a:t>
            </a:r>
            <a:r>
              <a:rPr lang="en-US" altLang="zh-CN" sz="2200" b="0">
                <a:ea typeface="宋体" panose="02010600030101010101" pitchFamily="2" charset="-122"/>
              </a:rPr>
              <a:t> R1</a:t>
            </a:r>
          </a:p>
          <a:p>
            <a:pPr>
              <a:spcBef>
                <a:spcPct val="0"/>
              </a:spcBef>
              <a:buFontTx/>
              <a:buNone/>
            </a:pPr>
            <a:r>
              <a:rPr lang="en-US" altLang="zh-CN" sz="2200" b="0">
                <a:ea typeface="宋体" panose="02010600030101010101" pitchFamily="2" charset="-122"/>
              </a:rPr>
              <a:t>R → </a:t>
            </a:r>
            <a:r>
              <a:rPr lang="en-US" altLang="zh-CN" sz="2200" b="0">
                <a:ea typeface="宋体" panose="02010600030101010101" pitchFamily="2" charset="-122"/>
                <a:sym typeface="Symbol" panose="05050102010706020507" pitchFamily="18" charset="2"/>
              </a:rPr>
              <a:t></a:t>
            </a:r>
          </a:p>
          <a:p>
            <a:pPr>
              <a:spcBef>
                <a:spcPct val="0"/>
              </a:spcBef>
              <a:buFontTx/>
              <a:buNone/>
            </a:pPr>
            <a:r>
              <a:rPr lang="en-US" altLang="zh-CN" sz="2200" b="0">
                <a:ea typeface="宋体" panose="02010600030101010101" pitchFamily="2" charset="-122"/>
                <a:sym typeface="Symbol" panose="05050102010706020507" pitchFamily="18" charset="2"/>
              </a:rPr>
              <a:t>T </a:t>
            </a:r>
            <a:r>
              <a:rPr lang="en-US" altLang="zh-CN" sz="2200" b="0">
                <a:ea typeface="宋体" panose="02010600030101010101" pitchFamily="2" charset="-122"/>
              </a:rPr>
              <a:t>→ </a:t>
            </a:r>
            <a:r>
              <a:rPr lang="en-US" altLang="zh-CN" sz="2200">
                <a:ea typeface="宋体" panose="02010600030101010101" pitchFamily="2" charset="-122"/>
              </a:rPr>
              <a:t>id</a:t>
            </a:r>
            <a:r>
              <a:rPr lang="en-US" altLang="zh-CN" sz="2200" b="0">
                <a:ea typeface="宋体" panose="02010600030101010101" pitchFamily="2" charset="-122"/>
              </a:rPr>
              <a:t> </a:t>
            </a:r>
            <a:r>
              <a:rPr lang="en-US" altLang="zh-CN" sz="2200" b="0">
                <a:solidFill>
                  <a:srgbClr val="CC0000"/>
                </a:solidFill>
                <a:ea typeface="宋体" panose="02010600030101010101" pitchFamily="2" charset="-122"/>
              </a:rPr>
              <a:t>{ print(</a:t>
            </a:r>
            <a:r>
              <a:rPr lang="en-US" altLang="zh-CN" sz="2200">
                <a:solidFill>
                  <a:srgbClr val="CC0000"/>
                </a:solidFill>
                <a:ea typeface="宋体" panose="02010600030101010101" pitchFamily="2" charset="-122"/>
              </a:rPr>
              <a:t>id</a:t>
            </a:r>
            <a:r>
              <a:rPr lang="en-US" altLang="zh-CN" sz="2200" b="0">
                <a:solidFill>
                  <a:srgbClr val="CC0000"/>
                </a:solidFill>
                <a:ea typeface="宋体" panose="02010600030101010101" pitchFamily="2" charset="-122"/>
              </a:rPr>
              <a:t>.name) }</a:t>
            </a:r>
          </a:p>
        </p:txBody>
      </p:sp>
      <p:sp>
        <p:nvSpPr>
          <p:cNvPr id="45064" name="Rectangle 5"/>
          <p:cNvSpPr>
            <a:spLocks noChangeArrowheads="1"/>
          </p:cNvSpPr>
          <p:nvPr/>
        </p:nvSpPr>
        <p:spPr bwMode="auto">
          <a:xfrm>
            <a:off x="533400" y="1676400"/>
            <a:ext cx="2778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ea typeface="宋体" panose="02010600030101010101" pitchFamily="2" charset="-122"/>
                <a:sym typeface="Symbol" panose="05050102010706020507" pitchFamily="18" charset="2"/>
              </a:rPr>
              <a:t>Left-most derivation:</a:t>
            </a:r>
            <a:endParaRPr lang="zh-CN" altLang="en-US" b="0">
              <a:solidFill>
                <a:srgbClr val="CC0000"/>
              </a:solidFill>
              <a:ea typeface="宋体" panose="02010600030101010101" pitchFamily="2" charset="-122"/>
            </a:endParaRPr>
          </a:p>
        </p:txBody>
      </p:sp>
      <p:sp>
        <p:nvSpPr>
          <p:cNvPr id="470022" name="Rectangle 6"/>
          <p:cNvSpPr>
            <a:spLocks noChangeArrowheads="1"/>
          </p:cNvSpPr>
          <p:nvPr/>
        </p:nvSpPr>
        <p:spPr bwMode="auto">
          <a:xfrm>
            <a:off x="5486400" y="5562600"/>
            <a:ext cx="35671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lgn="ctr">
              <a:spcBef>
                <a:spcPct val="0"/>
              </a:spcBef>
              <a:buFontTx/>
              <a:buNone/>
            </a:pPr>
            <a:r>
              <a:rPr lang="en-US" altLang="zh-CN" b="0">
                <a:solidFill>
                  <a:srgbClr val="0000CC"/>
                </a:solidFill>
                <a:ea typeface="宋体" panose="02010600030101010101" pitchFamily="2" charset="-122"/>
                <a:sym typeface="Symbol" panose="05050102010706020507" pitchFamily="18" charset="2"/>
              </a:rPr>
              <a:t>How right-most derivation?</a:t>
            </a:r>
          </a:p>
          <a:p>
            <a:pPr algn="ctr">
              <a:spcBef>
                <a:spcPct val="0"/>
              </a:spcBef>
              <a:buFontTx/>
              <a:buNone/>
            </a:pPr>
            <a:r>
              <a:rPr lang="en-US" altLang="zh-CN" b="0">
                <a:solidFill>
                  <a:srgbClr val="0000CC"/>
                </a:solidFill>
                <a:ea typeface="宋体" panose="02010600030101010101" pitchFamily="2" charset="-122"/>
                <a:sym typeface="Symbol" panose="05050102010706020507" pitchFamily="18" charset="2"/>
              </a:rPr>
              <a:t>Do it by yourself.</a:t>
            </a:r>
            <a:endParaRPr lang="en-US" altLang="zh-CN" b="0">
              <a:solidFill>
                <a:srgbClr val="0000CC"/>
              </a:solidFill>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470020"/>
                                        </p:tgtEl>
                                        <p:attrNameLst>
                                          <p:attrName>style.visibility</p:attrName>
                                        </p:attrNameLst>
                                      </p:cBhvr>
                                      <p:to>
                                        <p:strVal val="visible"/>
                                      </p:to>
                                    </p:set>
                                    <p:animEffect transition="in" filter="diamond(in)">
                                      <p:cBhvr>
                                        <p:cTn id="7" dur="2000"/>
                                        <p:tgtEl>
                                          <p:spTgt spid="470020"/>
                                        </p:tgtEl>
                                      </p:cBhvr>
                                    </p:animEffect>
                                  </p:childTnLst>
                                </p:cTn>
                              </p:par>
                            </p:childTnLst>
                          </p:cTn>
                        </p:par>
                        <p:par>
                          <p:cTn id="8" fill="hold" nodeType="afterGroup">
                            <p:stCondLst>
                              <p:cond delay="2000"/>
                            </p:stCondLst>
                            <p:childTnLst>
                              <p:par>
                                <p:cTn id="9" presetID="22" presetClass="entr" presetSubtype="8" fill="hold" nodeType="afterEffect">
                                  <p:stCondLst>
                                    <p:cond delay="2000"/>
                                  </p:stCondLst>
                                  <p:childTnLst>
                                    <p:set>
                                      <p:cBhvr>
                                        <p:cTn id="10" dur="1" fill="hold">
                                          <p:stCondLst>
                                            <p:cond delay="0"/>
                                          </p:stCondLst>
                                        </p:cTn>
                                        <p:tgtEl>
                                          <p:spTgt spid="470019">
                                            <p:txEl>
                                              <p:pRg st="0" end="0"/>
                                            </p:txEl>
                                          </p:spTgt>
                                        </p:tgtEl>
                                        <p:attrNameLst>
                                          <p:attrName>style.visibility</p:attrName>
                                        </p:attrNameLst>
                                      </p:cBhvr>
                                      <p:to>
                                        <p:strVal val="visible"/>
                                      </p:to>
                                    </p:set>
                                    <p:animEffect transition="in" filter="wipe(left)">
                                      <p:cBhvr>
                                        <p:cTn id="11" dur="1000"/>
                                        <p:tgtEl>
                                          <p:spTgt spid="470019">
                                            <p:txEl>
                                              <p:pRg st="0" end="0"/>
                                            </p:txEl>
                                          </p:spTgt>
                                        </p:tgtEl>
                                      </p:cBhvr>
                                    </p:animEffect>
                                  </p:childTnLst>
                                </p:cTn>
                              </p:par>
                            </p:childTnLst>
                          </p:cTn>
                        </p:par>
                        <p:par>
                          <p:cTn id="12" fill="hold" nodeType="afterGroup">
                            <p:stCondLst>
                              <p:cond delay="5000"/>
                            </p:stCondLst>
                            <p:childTnLst>
                              <p:par>
                                <p:cTn id="13" presetID="22" presetClass="entr" presetSubtype="8" fill="hold" nodeType="afterEffect">
                                  <p:stCondLst>
                                    <p:cond delay="1000"/>
                                  </p:stCondLst>
                                  <p:childTnLst>
                                    <p:set>
                                      <p:cBhvr>
                                        <p:cTn id="14" dur="1" fill="hold">
                                          <p:stCondLst>
                                            <p:cond delay="0"/>
                                          </p:stCondLst>
                                        </p:cTn>
                                        <p:tgtEl>
                                          <p:spTgt spid="470019">
                                            <p:txEl>
                                              <p:pRg st="1" end="1"/>
                                            </p:txEl>
                                          </p:spTgt>
                                        </p:tgtEl>
                                        <p:attrNameLst>
                                          <p:attrName>style.visibility</p:attrName>
                                        </p:attrNameLst>
                                      </p:cBhvr>
                                      <p:to>
                                        <p:strVal val="visible"/>
                                      </p:to>
                                    </p:set>
                                    <p:animEffect transition="in" filter="wipe(left)">
                                      <p:cBhvr>
                                        <p:cTn id="15" dur="1000"/>
                                        <p:tgtEl>
                                          <p:spTgt spid="470019">
                                            <p:txEl>
                                              <p:pRg st="1" end="1"/>
                                            </p:txEl>
                                          </p:spTgt>
                                        </p:tgtEl>
                                      </p:cBhvr>
                                    </p:animEffect>
                                  </p:childTnLst>
                                </p:cTn>
                              </p:par>
                            </p:childTnLst>
                          </p:cTn>
                        </p:par>
                        <p:par>
                          <p:cTn id="16" fill="hold" nodeType="afterGroup">
                            <p:stCondLst>
                              <p:cond delay="7000"/>
                            </p:stCondLst>
                            <p:childTnLst>
                              <p:par>
                                <p:cTn id="17" presetID="22" presetClass="entr" presetSubtype="8" fill="hold" nodeType="afterEffect">
                                  <p:stCondLst>
                                    <p:cond delay="1000"/>
                                  </p:stCondLst>
                                  <p:childTnLst>
                                    <p:set>
                                      <p:cBhvr>
                                        <p:cTn id="18" dur="1" fill="hold">
                                          <p:stCondLst>
                                            <p:cond delay="0"/>
                                          </p:stCondLst>
                                        </p:cTn>
                                        <p:tgtEl>
                                          <p:spTgt spid="470019">
                                            <p:txEl>
                                              <p:pRg st="2" end="2"/>
                                            </p:txEl>
                                          </p:spTgt>
                                        </p:tgtEl>
                                        <p:attrNameLst>
                                          <p:attrName>style.visibility</p:attrName>
                                        </p:attrNameLst>
                                      </p:cBhvr>
                                      <p:to>
                                        <p:strVal val="visible"/>
                                      </p:to>
                                    </p:set>
                                    <p:animEffect transition="in" filter="wipe(left)">
                                      <p:cBhvr>
                                        <p:cTn id="19" dur="1000"/>
                                        <p:tgtEl>
                                          <p:spTgt spid="470019">
                                            <p:txEl>
                                              <p:pRg st="2" end="2"/>
                                            </p:txEl>
                                          </p:spTgt>
                                        </p:tgtEl>
                                      </p:cBhvr>
                                    </p:animEffect>
                                  </p:childTnLst>
                                </p:cTn>
                              </p:par>
                            </p:childTnLst>
                          </p:cTn>
                        </p:par>
                        <p:par>
                          <p:cTn id="20" fill="hold" nodeType="afterGroup">
                            <p:stCondLst>
                              <p:cond delay="9000"/>
                            </p:stCondLst>
                            <p:childTnLst>
                              <p:par>
                                <p:cTn id="21" presetID="22" presetClass="entr" presetSubtype="8" fill="hold" nodeType="afterEffect">
                                  <p:stCondLst>
                                    <p:cond delay="1000"/>
                                  </p:stCondLst>
                                  <p:childTnLst>
                                    <p:set>
                                      <p:cBhvr>
                                        <p:cTn id="22" dur="1" fill="hold">
                                          <p:stCondLst>
                                            <p:cond delay="0"/>
                                          </p:stCondLst>
                                        </p:cTn>
                                        <p:tgtEl>
                                          <p:spTgt spid="470019">
                                            <p:txEl>
                                              <p:pRg st="3" end="3"/>
                                            </p:txEl>
                                          </p:spTgt>
                                        </p:tgtEl>
                                        <p:attrNameLst>
                                          <p:attrName>style.visibility</p:attrName>
                                        </p:attrNameLst>
                                      </p:cBhvr>
                                      <p:to>
                                        <p:strVal val="visible"/>
                                      </p:to>
                                    </p:set>
                                    <p:animEffect transition="in" filter="wipe(left)">
                                      <p:cBhvr>
                                        <p:cTn id="23" dur="1000"/>
                                        <p:tgtEl>
                                          <p:spTgt spid="470019">
                                            <p:txEl>
                                              <p:pRg st="3" end="3"/>
                                            </p:txEl>
                                          </p:spTgt>
                                        </p:tgtEl>
                                      </p:cBhvr>
                                    </p:animEffect>
                                  </p:childTnLst>
                                </p:cTn>
                              </p:par>
                            </p:childTnLst>
                          </p:cTn>
                        </p:par>
                        <p:par>
                          <p:cTn id="24" fill="hold" nodeType="afterGroup">
                            <p:stCondLst>
                              <p:cond delay="11000"/>
                            </p:stCondLst>
                            <p:childTnLst>
                              <p:par>
                                <p:cTn id="25" presetID="22" presetClass="entr" presetSubtype="8" fill="hold" nodeType="afterEffect">
                                  <p:stCondLst>
                                    <p:cond delay="1000"/>
                                  </p:stCondLst>
                                  <p:childTnLst>
                                    <p:set>
                                      <p:cBhvr>
                                        <p:cTn id="26" dur="1" fill="hold">
                                          <p:stCondLst>
                                            <p:cond delay="0"/>
                                          </p:stCondLst>
                                        </p:cTn>
                                        <p:tgtEl>
                                          <p:spTgt spid="470019">
                                            <p:txEl>
                                              <p:pRg st="4" end="4"/>
                                            </p:txEl>
                                          </p:spTgt>
                                        </p:tgtEl>
                                        <p:attrNameLst>
                                          <p:attrName>style.visibility</p:attrName>
                                        </p:attrNameLst>
                                      </p:cBhvr>
                                      <p:to>
                                        <p:strVal val="visible"/>
                                      </p:to>
                                    </p:set>
                                    <p:animEffect transition="in" filter="wipe(left)">
                                      <p:cBhvr>
                                        <p:cTn id="27" dur="1000"/>
                                        <p:tgtEl>
                                          <p:spTgt spid="470019">
                                            <p:txEl>
                                              <p:pRg st="4" end="4"/>
                                            </p:txEl>
                                          </p:spTgt>
                                        </p:tgtEl>
                                      </p:cBhvr>
                                    </p:animEffect>
                                  </p:childTnLst>
                                </p:cTn>
                              </p:par>
                            </p:childTnLst>
                          </p:cTn>
                        </p:par>
                        <p:par>
                          <p:cTn id="28" fill="hold" nodeType="afterGroup">
                            <p:stCondLst>
                              <p:cond delay="13000"/>
                            </p:stCondLst>
                            <p:childTnLst>
                              <p:par>
                                <p:cTn id="29" presetID="22" presetClass="entr" presetSubtype="8" fill="hold" nodeType="afterEffect">
                                  <p:stCondLst>
                                    <p:cond delay="1000"/>
                                  </p:stCondLst>
                                  <p:childTnLst>
                                    <p:set>
                                      <p:cBhvr>
                                        <p:cTn id="30" dur="1" fill="hold">
                                          <p:stCondLst>
                                            <p:cond delay="0"/>
                                          </p:stCondLst>
                                        </p:cTn>
                                        <p:tgtEl>
                                          <p:spTgt spid="470019">
                                            <p:txEl>
                                              <p:pRg st="5" end="5"/>
                                            </p:txEl>
                                          </p:spTgt>
                                        </p:tgtEl>
                                        <p:attrNameLst>
                                          <p:attrName>style.visibility</p:attrName>
                                        </p:attrNameLst>
                                      </p:cBhvr>
                                      <p:to>
                                        <p:strVal val="visible"/>
                                      </p:to>
                                    </p:set>
                                    <p:animEffect transition="in" filter="wipe(left)">
                                      <p:cBhvr>
                                        <p:cTn id="31" dur="1000"/>
                                        <p:tgtEl>
                                          <p:spTgt spid="470019">
                                            <p:txEl>
                                              <p:pRg st="5" end="5"/>
                                            </p:txEl>
                                          </p:spTgt>
                                        </p:tgtEl>
                                      </p:cBhvr>
                                    </p:animEffect>
                                  </p:childTnLst>
                                </p:cTn>
                              </p:par>
                            </p:childTnLst>
                          </p:cTn>
                        </p:par>
                        <p:par>
                          <p:cTn id="32" fill="hold" nodeType="afterGroup">
                            <p:stCondLst>
                              <p:cond delay="15000"/>
                            </p:stCondLst>
                            <p:childTnLst>
                              <p:par>
                                <p:cTn id="33" presetID="22" presetClass="entr" presetSubtype="8" fill="hold" nodeType="afterEffect">
                                  <p:stCondLst>
                                    <p:cond delay="1000"/>
                                  </p:stCondLst>
                                  <p:childTnLst>
                                    <p:set>
                                      <p:cBhvr>
                                        <p:cTn id="34" dur="1" fill="hold">
                                          <p:stCondLst>
                                            <p:cond delay="0"/>
                                          </p:stCondLst>
                                        </p:cTn>
                                        <p:tgtEl>
                                          <p:spTgt spid="470019">
                                            <p:txEl>
                                              <p:pRg st="6" end="6"/>
                                            </p:txEl>
                                          </p:spTgt>
                                        </p:tgtEl>
                                        <p:attrNameLst>
                                          <p:attrName>style.visibility</p:attrName>
                                        </p:attrNameLst>
                                      </p:cBhvr>
                                      <p:to>
                                        <p:strVal val="visible"/>
                                      </p:to>
                                    </p:set>
                                    <p:animEffect transition="in" filter="wipe(left)">
                                      <p:cBhvr>
                                        <p:cTn id="35" dur="1000"/>
                                        <p:tgtEl>
                                          <p:spTgt spid="470019">
                                            <p:txEl>
                                              <p:pRg st="6" end="6"/>
                                            </p:txEl>
                                          </p:spTgt>
                                        </p:tgtEl>
                                      </p:cBhvr>
                                    </p:animEffect>
                                  </p:childTnLst>
                                </p:cTn>
                              </p:par>
                            </p:childTnLst>
                          </p:cTn>
                        </p:par>
                        <p:par>
                          <p:cTn id="36" fill="hold" nodeType="afterGroup">
                            <p:stCondLst>
                              <p:cond delay="17000"/>
                            </p:stCondLst>
                            <p:childTnLst>
                              <p:par>
                                <p:cTn id="37" presetID="22" presetClass="entr" presetSubtype="8" fill="hold" nodeType="afterEffect">
                                  <p:stCondLst>
                                    <p:cond delay="1000"/>
                                  </p:stCondLst>
                                  <p:childTnLst>
                                    <p:set>
                                      <p:cBhvr>
                                        <p:cTn id="38" dur="1" fill="hold">
                                          <p:stCondLst>
                                            <p:cond delay="0"/>
                                          </p:stCondLst>
                                        </p:cTn>
                                        <p:tgtEl>
                                          <p:spTgt spid="470019">
                                            <p:txEl>
                                              <p:pRg st="7" end="7"/>
                                            </p:txEl>
                                          </p:spTgt>
                                        </p:tgtEl>
                                        <p:attrNameLst>
                                          <p:attrName>style.visibility</p:attrName>
                                        </p:attrNameLst>
                                      </p:cBhvr>
                                      <p:to>
                                        <p:strVal val="visible"/>
                                      </p:to>
                                    </p:set>
                                    <p:animEffect transition="in" filter="wipe(left)">
                                      <p:cBhvr>
                                        <p:cTn id="39" dur="1000"/>
                                        <p:tgtEl>
                                          <p:spTgt spid="470019">
                                            <p:txEl>
                                              <p:pRg st="7" end="7"/>
                                            </p:txEl>
                                          </p:spTgt>
                                        </p:tgtEl>
                                      </p:cBhvr>
                                    </p:animEffect>
                                  </p:childTnLst>
                                </p:cTn>
                              </p:par>
                            </p:childTnLst>
                          </p:cTn>
                        </p:par>
                        <p:par>
                          <p:cTn id="40" fill="hold" nodeType="afterGroup">
                            <p:stCondLst>
                              <p:cond delay="19000"/>
                            </p:stCondLst>
                            <p:childTnLst>
                              <p:par>
                                <p:cTn id="41" presetID="22" presetClass="entr" presetSubtype="8" fill="hold" nodeType="afterEffect">
                                  <p:stCondLst>
                                    <p:cond delay="1000"/>
                                  </p:stCondLst>
                                  <p:childTnLst>
                                    <p:set>
                                      <p:cBhvr>
                                        <p:cTn id="42" dur="1" fill="hold">
                                          <p:stCondLst>
                                            <p:cond delay="0"/>
                                          </p:stCondLst>
                                        </p:cTn>
                                        <p:tgtEl>
                                          <p:spTgt spid="470019">
                                            <p:txEl>
                                              <p:pRg st="8" end="8"/>
                                            </p:txEl>
                                          </p:spTgt>
                                        </p:tgtEl>
                                        <p:attrNameLst>
                                          <p:attrName>style.visibility</p:attrName>
                                        </p:attrNameLst>
                                      </p:cBhvr>
                                      <p:to>
                                        <p:strVal val="visible"/>
                                      </p:to>
                                    </p:set>
                                    <p:animEffect transition="in" filter="wipe(left)">
                                      <p:cBhvr>
                                        <p:cTn id="43" dur="1000"/>
                                        <p:tgtEl>
                                          <p:spTgt spid="470019">
                                            <p:txEl>
                                              <p:pRg st="8" end="8"/>
                                            </p:txEl>
                                          </p:spTgt>
                                        </p:tgtEl>
                                      </p:cBhvr>
                                    </p:animEffect>
                                  </p:childTnLst>
                                </p:cTn>
                              </p:par>
                            </p:childTnLst>
                          </p:cTn>
                        </p:par>
                        <p:par>
                          <p:cTn id="44" fill="hold" nodeType="afterGroup">
                            <p:stCondLst>
                              <p:cond delay="21000"/>
                            </p:stCondLst>
                            <p:childTnLst>
                              <p:par>
                                <p:cTn id="45" presetID="22" presetClass="entr" presetSubtype="2" fill="hold" grpId="0" nodeType="afterEffect">
                                  <p:stCondLst>
                                    <p:cond delay="0"/>
                                  </p:stCondLst>
                                  <p:childTnLst>
                                    <p:set>
                                      <p:cBhvr>
                                        <p:cTn id="46" dur="1" fill="hold">
                                          <p:stCondLst>
                                            <p:cond delay="0"/>
                                          </p:stCondLst>
                                        </p:cTn>
                                        <p:tgtEl>
                                          <p:spTgt spid="470022"/>
                                        </p:tgtEl>
                                        <p:attrNameLst>
                                          <p:attrName>style.visibility</p:attrName>
                                        </p:attrNameLst>
                                      </p:cBhvr>
                                      <p:to>
                                        <p:strVal val="visible"/>
                                      </p:to>
                                    </p:set>
                                    <p:animEffect transition="in" filter="wipe(right)">
                                      <p:cBhvr>
                                        <p:cTn id="47" dur="1000"/>
                                        <p:tgtEl>
                                          <p:spTgt spid="470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0" grpId="0"/>
      <p:bldP spid="47002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608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608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F937BDDB-277F-42A5-AC8A-6EAF914A7AE2}" type="slidenum">
              <a:rPr lang="zh-CN" altLang="en-US" sz="800"/>
              <a:pPr>
                <a:spcBef>
                  <a:spcPct val="0"/>
                </a:spcBef>
                <a:buFontTx/>
                <a:buNone/>
              </a:pPr>
              <a:t>44</a:t>
            </a:fld>
            <a:endParaRPr lang="en-US" altLang="zh-CN" sz="800"/>
          </a:p>
        </p:txBody>
      </p:sp>
      <p:sp>
        <p:nvSpPr>
          <p:cNvPr id="46085" name="Rectangle 2"/>
          <p:cNvSpPr>
            <a:spLocks noGrp="1" noChangeArrowheads="1"/>
          </p:cNvSpPr>
          <p:nvPr>
            <p:ph type="title"/>
          </p:nvPr>
        </p:nvSpPr>
        <p:spPr/>
        <p:txBody>
          <a:bodyPr/>
          <a:lstStyle/>
          <a:p>
            <a:r>
              <a:rPr lang="en-US" altLang="zh-CN" smtClean="0">
                <a:ea typeface="宋体" panose="02010600030101010101" pitchFamily="2" charset="-122"/>
              </a:rPr>
              <a:t>Top-Down Translation (P.302)</a:t>
            </a:r>
          </a:p>
        </p:txBody>
      </p:sp>
      <p:sp>
        <p:nvSpPr>
          <p:cNvPr id="46086" name="Rectangle 3"/>
          <p:cNvSpPr>
            <a:spLocks noGrp="1" noChangeArrowheads="1"/>
          </p:cNvSpPr>
          <p:nvPr>
            <p:ph type="body" idx="1"/>
          </p:nvPr>
        </p:nvSpPr>
        <p:spPr>
          <a:xfrm>
            <a:off x="381000" y="1219200"/>
            <a:ext cx="9296400" cy="5105400"/>
          </a:xfrm>
        </p:spPr>
        <p:txBody>
          <a:bodyPr/>
          <a:lstStyle/>
          <a:p>
            <a:r>
              <a:rPr lang="en-US" altLang="zh-CN" smtClean="0">
                <a:ea typeface="宋体" panose="02010600030101010101" pitchFamily="2" charset="-122"/>
              </a:rPr>
              <a:t>We will look at the implementation of L-attributed definitions during predictive parsing.</a:t>
            </a:r>
          </a:p>
          <a:p>
            <a:r>
              <a:rPr lang="en-US" altLang="zh-CN" smtClean="0">
                <a:ea typeface="宋体" panose="02010600030101010101" pitchFamily="2" charset="-122"/>
              </a:rPr>
              <a:t>Instead of the syntax-directed translations,  we will work with translation schemes.</a:t>
            </a:r>
          </a:p>
          <a:p>
            <a:r>
              <a:rPr lang="en-US" altLang="zh-CN" smtClean="0">
                <a:ea typeface="宋体" panose="02010600030101010101" pitchFamily="2" charset="-122"/>
              </a:rPr>
              <a:t>We will see how to evaluate inherited attributes (in L-attributed definitions) during recursive predictive parsing.</a:t>
            </a:r>
          </a:p>
          <a:p>
            <a:r>
              <a:rPr lang="en-US" altLang="zh-CN" smtClean="0">
                <a:ea typeface="宋体" panose="02010600030101010101" pitchFamily="2" charset="-122"/>
              </a:rPr>
              <a:t>We will also look at what happens to attributes during the left-recursion elimination in the left-recursive grammars.</a:t>
            </a:r>
          </a:p>
        </p:txBody>
      </p:sp>
    </p:spTree>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710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710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742DEF92-50BD-4F16-955C-E08011655BD2}" type="slidenum">
              <a:rPr lang="zh-CN" altLang="en-US" sz="800"/>
              <a:pPr>
                <a:spcBef>
                  <a:spcPct val="0"/>
                </a:spcBef>
                <a:buFontTx/>
                <a:buNone/>
              </a:pPr>
              <a:t>45</a:t>
            </a:fld>
            <a:endParaRPr lang="en-US" altLang="zh-CN" sz="800"/>
          </a:p>
        </p:txBody>
      </p:sp>
      <p:sp>
        <p:nvSpPr>
          <p:cNvPr id="47109" name="Rectangle 2"/>
          <p:cNvSpPr>
            <a:spLocks noGrp="1" noChangeArrowheads="1"/>
          </p:cNvSpPr>
          <p:nvPr>
            <p:ph type="title"/>
          </p:nvPr>
        </p:nvSpPr>
        <p:spPr>
          <a:xfrm>
            <a:off x="382588" y="152400"/>
            <a:ext cx="9371012" cy="914400"/>
          </a:xfrm>
        </p:spPr>
        <p:txBody>
          <a:bodyPr/>
          <a:lstStyle/>
          <a:p>
            <a:r>
              <a:rPr lang="en-US" altLang="zh-TW" smtClean="0">
                <a:ea typeface="PMingLiU" pitchFamily="18" charset="-120"/>
              </a:rPr>
              <a:t>Top-Down Translat</a:t>
            </a:r>
            <a:r>
              <a:rPr lang="en-US" altLang="zh-CN" smtClean="0">
                <a:ea typeface="宋体" panose="02010600030101010101" pitchFamily="2" charset="-122"/>
              </a:rPr>
              <a:t>ion (cont.)</a:t>
            </a:r>
            <a:endParaRPr lang="en-US" altLang="zh-TW" smtClean="0">
              <a:ea typeface="PMingLiU" pitchFamily="18" charset="-120"/>
            </a:endParaRPr>
          </a:p>
        </p:txBody>
      </p:sp>
      <p:sp>
        <p:nvSpPr>
          <p:cNvPr id="47110" name="Rectangle 3"/>
          <p:cNvSpPr>
            <a:spLocks noGrp="1" noChangeArrowheads="1"/>
          </p:cNvSpPr>
          <p:nvPr>
            <p:ph type="body" idx="1"/>
          </p:nvPr>
        </p:nvSpPr>
        <p:spPr>
          <a:xfrm>
            <a:off x="990600" y="1447800"/>
            <a:ext cx="7562850" cy="4508500"/>
          </a:xfrm>
        </p:spPr>
        <p:txBody>
          <a:bodyPr/>
          <a:lstStyle/>
          <a:p>
            <a:r>
              <a:rPr lang="en-US" altLang="zh-TW" smtClean="0">
                <a:ea typeface="PMingLiU" pitchFamily="18" charset="-120"/>
              </a:rPr>
              <a:t>For each nonterminal,</a:t>
            </a:r>
          </a:p>
          <a:p>
            <a:pPr lvl="1"/>
            <a:r>
              <a:rPr lang="en-US" altLang="zh-TW" sz="2000" smtClean="0">
                <a:ea typeface="PMingLiU" pitchFamily="18" charset="-120"/>
              </a:rPr>
              <a:t>inherited attributes </a:t>
            </a:r>
            <a:r>
              <a:rPr lang="en-US" altLang="zh-TW" sz="2000" smtClean="0">
                <a:ea typeface="PMingLiU" pitchFamily="18" charset="-120"/>
                <a:sym typeface="Symbol" panose="05050102010706020507" pitchFamily="18" charset="2"/>
              </a:rPr>
              <a:t> formal parameters</a:t>
            </a:r>
          </a:p>
          <a:p>
            <a:pPr lvl="1"/>
            <a:r>
              <a:rPr lang="en-US" altLang="zh-TW" sz="2000" smtClean="0">
                <a:ea typeface="PMingLiU" pitchFamily="18" charset="-120"/>
                <a:sym typeface="Symbol" panose="05050102010706020507" pitchFamily="18" charset="2"/>
              </a:rPr>
              <a:t>synthesized attributes  returned values</a:t>
            </a:r>
            <a:endParaRPr lang="en-US" altLang="zh-CN" sz="2000" smtClean="0">
              <a:ea typeface="宋体" panose="02010600030101010101" pitchFamily="2" charset="-122"/>
              <a:sym typeface="Symbol" panose="05050102010706020507" pitchFamily="18" charset="2"/>
            </a:endParaRPr>
          </a:p>
          <a:p>
            <a:pPr lvl="1"/>
            <a:endParaRPr lang="en-US" altLang="zh-TW" sz="2000" smtClean="0">
              <a:ea typeface="PMingLiU" pitchFamily="18" charset="-120"/>
              <a:sym typeface="Symbol" panose="05050102010706020507" pitchFamily="18" charset="2"/>
            </a:endParaRPr>
          </a:p>
          <a:p>
            <a:r>
              <a:rPr lang="en-US" altLang="zh-TW" smtClean="0">
                <a:ea typeface="PMingLiU" pitchFamily="18" charset="-120"/>
                <a:sym typeface="Symbol" panose="05050102010706020507" pitchFamily="18" charset="2"/>
              </a:rPr>
              <a:t>For each production,</a:t>
            </a:r>
          </a:p>
          <a:p>
            <a:pPr lvl="1"/>
            <a:r>
              <a:rPr lang="en-US" altLang="zh-TW" sz="2000" smtClean="0">
                <a:ea typeface="PMingLiU" pitchFamily="18" charset="-120"/>
                <a:sym typeface="Symbol" panose="05050102010706020507" pitchFamily="18" charset="2"/>
              </a:rPr>
              <a:t>for each terminal X with synthesized attribute x,</a:t>
            </a:r>
            <a:br>
              <a:rPr lang="en-US" altLang="zh-TW" sz="2000" smtClean="0">
                <a:ea typeface="PMingLiU" pitchFamily="18" charset="-120"/>
                <a:sym typeface="Symbol" panose="05050102010706020507" pitchFamily="18" charset="2"/>
              </a:rPr>
            </a:br>
            <a:r>
              <a:rPr lang="en-US" altLang="zh-TW" sz="2000" smtClean="0">
                <a:ea typeface="PMingLiU" pitchFamily="18" charset="-120"/>
                <a:sym typeface="Symbol" panose="05050102010706020507" pitchFamily="18" charset="2"/>
              </a:rPr>
              <a:t>	save X.x;  match(X);</a:t>
            </a:r>
          </a:p>
          <a:p>
            <a:pPr lvl="1"/>
            <a:r>
              <a:rPr lang="en-US" altLang="zh-TW" sz="2000" smtClean="0">
                <a:ea typeface="PMingLiU" pitchFamily="18" charset="-120"/>
                <a:sym typeface="Symbol" panose="05050102010706020507" pitchFamily="18" charset="2"/>
              </a:rPr>
              <a:t>for nonterminal B, c := B(b</a:t>
            </a:r>
            <a:r>
              <a:rPr lang="en-US" altLang="zh-TW" sz="2000" baseline="-25000" smtClean="0">
                <a:ea typeface="PMingLiU" pitchFamily="18" charset="-120"/>
                <a:sym typeface="Symbol" panose="05050102010706020507" pitchFamily="18" charset="2"/>
              </a:rPr>
              <a:t>1</a:t>
            </a:r>
            <a:r>
              <a:rPr lang="en-US" altLang="zh-TW" sz="2000" smtClean="0">
                <a:ea typeface="PMingLiU" pitchFamily="18" charset="-120"/>
                <a:sym typeface="Symbol" panose="05050102010706020507" pitchFamily="18" charset="2"/>
              </a:rPr>
              <a:t>, b</a:t>
            </a:r>
            <a:r>
              <a:rPr lang="en-US" altLang="zh-TW" sz="2000" baseline="-25000" smtClean="0">
                <a:ea typeface="PMingLiU" pitchFamily="18" charset="-120"/>
                <a:sym typeface="Symbol" panose="05050102010706020507" pitchFamily="18" charset="2"/>
              </a:rPr>
              <a:t>2</a:t>
            </a:r>
            <a:r>
              <a:rPr lang="en-US" altLang="zh-TW" sz="2000" smtClean="0">
                <a:ea typeface="PMingLiU" pitchFamily="18" charset="-120"/>
                <a:sym typeface="Symbol" panose="05050102010706020507" pitchFamily="18" charset="2"/>
              </a:rPr>
              <a:t>, …, b</a:t>
            </a:r>
            <a:r>
              <a:rPr lang="en-US" altLang="zh-TW" sz="2000" baseline="-25000" smtClean="0">
                <a:ea typeface="PMingLiU" pitchFamily="18" charset="-120"/>
                <a:sym typeface="Symbol" panose="05050102010706020507" pitchFamily="18" charset="2"/>
              </a:rPr>
              <a:t>k</a:t>
            </a:r>
            <a:r>
              <a:rPr lang="en-US" altLang="zh-TW" sz="2000" smtClean="0">
                <a:ea typeface="PMingLiU" pitchFamily="18" charset="-120"/>
                <a:sym typeface="Symbol" panose="05050102010706020507" pitchFamily="18" charset="2"/>
              </a:rPr>
              <a:t>);</a:t>
            </a:r>
          </a:p>
          <a:p>
            <a:pPr lvl="1"/>
            <a:r>
              <a:rPr lang="en-US" altLang="zh-TW" sz="2000" smtClean="0">
                <a:ea typeface="PMingLiU" pitchFamily="18" charset="-120"/>
                <a:sym typeface="Symbol" panose="05050102010706020507" pitchFamily="18" charset="2"/>
              </a:rPr>
              <a:t>for each semantic rule, copy the rule to the parser</a:t>
            </a:r>
          </a:p>
        </p:txBody>
      </p:sp>
    </p:spTree>
  </p:cSld>
  <p:clrMapOvr>
    <a:masterClrMapping/>
  </p:clrMapOvr>
  <p:transition>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813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813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A676AEF-D34F-453F-9137-E8C521F47C14}" type="slidenum">
              <a:rPr lang="zh-CN" altLang="en-US" sz="800"/>
              <a:pPr>
                <a:spcBef>
                  <a:spcPct val="0"/>
                </a:spcBef>
                <a:buFontTx/>
                <a:buNone/>
              </a:pPr>
              <a:t>46</a:t>
            </a:fld>
            <a:endParaRPr lang="en-US" altLang="zh-CN" sz="800"/>
          </a:p>
        </p:txBody>
      </p:sp>
      <p:sp>
        <p:nvSpPr>
          <p:cNvPr id="48133" name="Rectangle 2"/>
          <p:cNvSpPr>
            <a:spLocks noGrp="1" noChangeArrowheads="1"/>
          </p:cNvSpPr>
          <p:nvPr>
            <p:ph type="title"/>
          </p:nvPr>
        </p:nvSpPr>
        <p:spPr/>
        <p:txBody>
          <a:bodyPr/>
          <a:lstStyle/>
          <a:p>
            <a:r>
              <a:rPr lang="en-US" altLang="zh-CN" smtClean="0">
                <a:ea typeface="宋体" panose="02010600030101010101" pitchFamily="2" charset="-122"/>
              </a:rPr>
              <a:t>A Translation Scheme with Inherited Attributes</a:t>
            </a:r>
          </a:p>
        </p:txBody>
      </p:sp>
      <p:sp>
        <p:nvSpPr>
          <p:cNvPr id="48134" name="Rectangle 3"/>
          <p:cNvSpPr>
            <a:spLocks noGrp="1" noChangeArrowheads="1"/>
          </p:cNvSpPr>
          <p:nvPr>
            <p:ph type="body" idx="1"/>
          </p:nvPr>
        </p:nvSpPr>
        <p:spPr/>
        <p:txBody>
          <a:bodyPr/>
          <a:lstStyle/>
          <a:p>
            <a:pPr>
              <a:buFontTx/>
              <a:buNone/>
            </a:pPr>
            <a:r>
              <a:rPr lang="zh-CN" altLang="en-US" smtClean="0">
                <a:ea typeface="宋体" panose="02010600030101010101" pitchFamily="2" charset="-122"/>
              </a:rPr>
              <a:t>	</a:t>
            </a:r>
            <a:r>
              <a:rPr lang="en-US" altLang="zh-CN" smtClean="0">
                <a:ea typeface="宋体" panose="02010600030101010101" pitchFamily="2" charset="-122"/>
              </a:rPr>
              <a:t>D </a:t>
            </a:r>
            <a:r>
              <a:rPr lang="en-US" altLang="zh-CN" smtClean="0">
                <a:ea typeface="宋体" panose="02010600030101010101" pitchFamily="2" charset="-122"/>
                <a:cs typeface="Times New Roman" panose="02020603050405020304" pitchFamily="18" charset="0"/>
              </a:rPr>
              <a:t>→ T </a:t>
            </a:r>
            <a:r>
              <a:rPr lang="en-US" altLang="zh-CN" b="1" smtClean="0">
                <a:ea typeface="宋体" panose="02010600030101010101" pitchFamily="2" charset="-122"/>
                <a:cs typeface="Times New Roman" panose="02020603050405020304" pitchFamily="18" charset="0"/>
              </a:rPr>
              <a:t>id</a:t>
            </a:r>
            <a:r>
              <a:rPr lang="en-US" altLang="zh-CN" smtClean="0">
                <a:solidFill>
                  <a:schemeClr val="accent2"/>
                </a:solidFill>
                <a:ea typeface="宋体" panose="02010600030101010101" pitchFamily="2" charset="-122"/>
                <a:cs typeface="Times New Roman" panose="02020603050405020304" pitchFamily="18" charset="0"/>
              </a:rPr>
              <a:t>{ addtype(</a:t>
            </a:r>
            <a:r>
              <a:rPr lang="en-US" altLang="zh-CN" b="1" smtClean="0">
                <a:solidFill>
                  <a:schemeClr val="accent2"/>
                </a:solidFill>
                <a:ea typeface="宋体" panose="02010600030101010101" pitchFamily="2" charset="-122"/>
                <a:cs typeface="Times New Roman" panose="02020603050405020304" pitchFamily="18" charset="0"/>
              </a:rPr>
              <a:t>id</a:t>
            </a:r>
            <a:r>
              <a:rPr lang="en-US" altLang="zh-CN" smtClean="0">
                <a:solidFill>
                  <a:schemeClr val="accent2"/>
                </a:solidFill>
                <a:ea typeface="宋体" panose="02010600030101010101" pitchFamily="2" charset="-122"/>
                <a:cs typeface="Times New Roman" panose="02020603050405020304" pitchFamily="18" charset="0"/>
              </a:rPr>
              <a:t>.entry,T.type), L.in = T.type }</a:t>
            </a:r>
            <a:r>
              <a:rPr lang="en-US" altLang="zh-CN" smtClean="0">
                <a:ea typeface="宋体" panose="02010600030101010101" pitchFamily="2" charset="-122"/>
                <a:cs typeface="Times New Roman" panose="02020603050405020304" pitchFamily="18" charset="0"/>
              </a:rPr>
              <a:t> L		</a:t>
            </a:r>
          </a:p>
          <a:p>
            <a:pPr>
              <a:buFontTx/>
              <a:buNone/>
            </a:pPr>
            <a:r>
              <a:rPr lang="en-US" altLang="zh-CN" smtClean="0">
                <a:ea typeface="宋体" panose="02010600030101010101" pitchFamily="2" charset="-122"/>
                <a:cs typeface="Times New Roman" panose="02020603050405020304" pitchFamily="18" charset="0"/>
              </a:rPr>
              <a:t>	T → </a:t>
            </a:r>
            <a:r>
              <a:rPr lang="en-US" altLang="zh-CN" b="1" smtClean="0">
                <a:ea typeface="宋体" panose="02010600030101010101" pitchFamily="2" charset="-122"/>
                <a:cs typeface="Times New Roman" panose="02020603050405020304" pitchFamily="18" charset="0"/>
              </a:rPr>
              <a:t>int</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T.type = integer }</a:t>
            </a:r>
          </a:p>
          <a:p>
            <a:pPr>
              <a:buFontTx/>
              <a:buNone/>
            </a:pPr>
            <a:r>
              <a:rPr lang="en-US" altLang="zh-CN" smtClean="0">
                <a:ea typeface="宋体" panose="02010600030101010101" pitchFamily="2" charset="-122"/>
                <a:cs typeface="Times New Roman" panose="02020603050405020304" pitchFamily="18" charset="0"/>
              </a:rPr>
              <a:t>	T → </a:t>
            </a:r>
            <a:r>
              <a:rPr lang="en-US" altLang="zh-CN" b="1" smtClean="0">
                <a:ea typeface="宋体" panose="02010600030101010101" pitchFamily="2" charset="-122"/>
                <a:cs typeface="Times New Roman" panose="02020603050405020304" pitchFamily="18" charset="0"/>
              </a:rPr>
              <a:t>real</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T.type = real }</a:t>
            </a:r>
          </a:p>
          <a:p>
            <a:pPr>
              <a:buFontTx/>
              <a:buNone/>
            </a:pPr>
            <a:r>
              <a:rPr lang="en-US" altLang="zh-CN" smtClean="0">
                <a:ea typeface="宋体" panose="02010600030101010101" pitchFamily="2" charset="-122"/>
                <a:cs typeface="Times New Roman" panose="02020603050405020304" pitchFamily="18" charset="0"/>
              </a:rPr>
              <a:t>	L → </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addtype(</a:t>
            </a:r>
            <a:r>
              <a:rPr lang="en-US" altLang="zh-CN" b="1" smtClean="0">
                <a:solidFill>
                  <a:schemeClr val="accent2"/>
                </a:solidFill>
                <a:ea typeface="宋体" panose="02010600030101010101" pitchFamily="2" charset="-122"/>
                <a:cs typeface="Times New Roman" panose="02020603050405020304" pitchFamily="18" charset="0"/>
              </a:rPr>
              <a:t>id</a:t>
            </a:r>
            <a:r>
              <a:rPr lang="en-US" altLang="zh-CN" smtClean="0">
                <a:solidFill>
                  <a:schemeClr val="accent2"/>
                </a:solidFill>
                <a:ea typeface="宋体" panose="02010600030101010101" pitchFamily="2" charset="-122"/>
                <a:cs typeface="Times New Roman" panose="02020603050405020304" pitchFamily="18" charset="0"/>
              </a:rPr>
              <a:t>.entry,L.in), L</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.in = L.in }</a:t>
            </a:r>
            <a:r>
              <a:rPr lang="en-US" altLang="zh-CN" smtClean="0">
                <a:ea typeface="宋体" panose="02010600030101010101" pitchFamily="2" charset="-122"/>
                <a:cs typeface="Times New Roman" panose="02020603050405020304" pitchFamily="18" charset="0"/>
              </a:rPr>
              <a:t>  L</a:t>
            </a:r>
            <a:r>
              <a:rPr lang="en-US" altLang="zh-CN" baseline="-25000" smtClean="0">
                <a:ea typeface="宋体" panose="02010600030101010101" pitchFamily="2" charset="-122"/>
                <a:cs typeface="Times New Roman" panose="02020603050405020304" pitchFamily="18" charset="0"/>
              </a:rPr>
              <a:t>1</a:t>
            </a:r>
            <a:endParaRPr lang="en-US" altLang="zh-CN" smtClean="0">
              <a:solidFill>
                <a:schemeClr val="accent2"/>
              </a:solidFill>
              <a:ea typeface="宋体" panose="02010600030101010101" pitchFamily="2" charset="-122"/>
              <a:cs typeface="Times New Roman" panose="02020603050405020304" pitchFamily="18" charset="0"/>
            </a:endParaRPr>
          </a:p>
          <a:p>
            <a:pPr>
              <a:buFontTx/>
              <a:buNone/>
            </a:pPr>
            <a:r>
              <a:rPr lang="en-US" altLang="zh-CN" smtClean="0">
                <a:ea typeface="宋体" panose="02010600030101010101" pitchFamily="2" charset="-122"/>
                <a:cs typeface="Times New Roman" panose="02020603050405020304" pitchFamily="18" charset="0"/>
              </a:rPr>
              <a:t>	L → </a:t>
            </a:r>
            <a:r>
              <a:rPr lang="en-US" altLang="zh-CN" smtClean="0">
                <a:ea typeface="宋体" panose="02010600030101010101" pitchFamily="2" charset="-122"/>
                <a:cs typeface="Times New Roman" panose="02020603050405020304" pitchFamily="18" charset="0"/>
                <a:sym typeface="Symbol" panose="05050102010706020507" pitchFamily="18" charset="2"/>
              </a:rPr>
              <a:t></a:t>
            </a:r>
            <a:endParaRPr lang="en-US" altLang="zh-CN" smtClean="0">
              <a:solidFill>
                <a:schemeClr val="accent2"/>
              </a:solidFill>
              <a:ea typeface="宋体" panose="02010600030101010101" pitchFamily="2" charset="-122"/>
              <a:cs typeface="Times New Roman" panose="02020603050405020304" pitchFamily="18" charset="0"/>
            </a:endParaRPr>
          </a:p>
          <a:p>
            <a:pPr>
              <a:buFontTx/>
              <a:buNone/>
            </a:pPr>
            <a:endParaRPr lang="en-US" altLang="zh-CN" smtClean="0">
              <a:solidFill>
                <a:schemeClr val="accent2"/>
              </a:solidFill>
              <a:ea typeface="宋体" panose="02010600030101010101" pitchFamily="2" charset="-122"/>
              <a:cs typeface="Times New Roman" panose="02020603050405020304" pitchFamily="18" charset="0"/>
            </a:endParaRPr>
          </a:p>
          <a:p>
            <a:r>
              <a:rPr lang="en-US" altLang="zh-CN" smtClean="0">
                <a:ea typeface="宋体" panose="02010600030101010101" pitchFamily="2" charset="-122"/>
                <a:cs typeface="Times New Roman" panose="02020603050405020304" pitchFamily="18" charset="0"/>
              </a:rPr>
              <a:t>This is a translation scheme for an L-attributed definitions.</a:t>
            </a:r>
          </a:p>
          <a:p>
            <a:endParaRPr lang="zh-CN" altLang="en-US" smtClean="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4915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4915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902FBCFF-5549-4606-BC4D-3510B11D8D7E}" type="slidenum">
              <a:rPr lang="zh-CN" altLang="en-US" sz="800"/>
              <a:pPr>
                <a:spcBef>
                  <a:spcPct val="0"/>
                </a:spcBef>
                <a:buFontTx/>
                <a:buNone/>
              </a:pPr>
              <a:t>47</a:t>
            </a:fld>
            <a:endParaRPr lang="en-US" altLang="zh-CN" sz="800"/>
          </a:p>
        </p:txBody>
      </p:sp>
      <p:sp>
        <p:nvSpPr>
          <p:cNvPr id="49157" name="Rectangle 2"/>
          <p:cNvSpPr>
            <a:spLocks noGrp="1" noChangeArrowheads="1"/>
          </p:cNvSpPr>
          <p:nvPr>
            <p:ph type="title"/>
          </p:nvPr>
        </p:nvSpPr>
        <p:spPr/>
        <p:txBody>
          <a:bodyPr/>
          <a:lstStyle/>
          <a:p>
            <a:r>
              <a:rPr lang="en-US" altLang="zh-CN" smtClean="0">
                <a:ea typeface="宋体" panose="02010600030101010101" pitchFamily="2" charset="-122"/>
              </a:rPr>
              <a:t>Predictive Parsing (of Inherited Attributes)</a:t>
            </a:r>
          </a:p>
        </p:txBody>
      </p:sp>
      <p:sp>
        <p:nvSpPr>
          <p:cNvPr id="49158" name="Rectangle 3"/>
          <p:cNvSpPr>
            <a:spLocks noGrp="1" noChangeArrowheads="1"/>
          </p:cNvSpPr>
          <p:nvPr>
            <p:ph type="body" idx="1"/>
          </p:nvPr>
        </p:nvSpPr>
        <p:spPr>
          <a:xfrm>
            <a:off x="304800" y="1143000"/>
            <a:ext cx="9372600" cy="5105400"/>
          </a:xfrm>
        </p:spPr>
        <p:txBody>
          <a:bodyPr/>
          <a:lstStyle/>
          <a:p>
            <a:pPr>
              <a:lnSpc>
                <a:spcPct val="80000"/>
              </a:lnSpc>
              <a:buFontTx/>
              <a:buNone/>
            </a:pPr>
            <a:r>
              <a:rPr lang="en-US" altLang="zh-CN" sz="2000" smtClean="0">
                <a:ea typeface="宋体" panose="02010600030101010101" pitchFamily="2" charset="-122"/>
              </a:rPr>
              <a:t>procedure D() {</a:t>
            </a:r>
          </a:p>
          <a:p>
            <a:pPr>
              <a:lnSpc>
                <a:spcPct val="80000"/>
              </a:lnSpc>
              <a:buFontTx/>
              <a:buNone/>
            </a:pPr>
            <a:r>
              <a:rPr lang="en-US" altLang="zh-CN" sz="2000" smtClean="0">
                <a:ea typeface="宋体" panose="02010600030101010101" pitchFamily="2" charset="-122"/>
              </a:rPr>
              <a:t>	</a:t>
            </a:r>
            <a:r>
              <a:rPr lang="en-US" altLang="zh-CN" sz="2000" smtClean="0">
                <a:solidFill>
                  <a:schemeClr val="accent2"/>
                </a:solidFill>
                <a:ea typeface="宋体" panose="02010600030101010101" pitchFamily="2" charset="-122"/>
              </a:rPr>
              <a:t>int Ttype,  Lin,  identry;</a:t>
            </a:r>
          </a:p>
          <a:p>
            <a:pPr>
              <a:lnSpc>
                <a:spcPct val="80000"/>
              </a:lnSpc>
              <a:buFontTx/>
              <a:buNone/>
            </a:pPr>
            <a:r>
              <a:rPr lang="en-US" altLang="zh-CN" sz="2000" smtClean="0">
                <a:ea typeface="宋体" panose="02010600030101010101" pitchFamily="2" charset="-122"/>
              </a:rPr>
              <a:t>	call T</a:t>
            </a:r>
            <a:r>
              <a:rPr lang="en-US" altLang="zh-CN" sz="2000" smtClean="0">
                <a:solidFill>
                  <a:schemeClr val="accent2"/>
                </a:solidFill>
                <a:ea typeface="宋体" panose="02010600030101010101" pitchFamily="2" charset="-122"/>
              </a:rPr>
              <a:t>( &amp;Ttype </a:t>
            </a:r>
            <a:r>
              <a:rPr lang="en-US" altLang="zh-CN" sz="2000" smtClean="0">
                <a:ea typeface="宋体" panose="02010600030101010101" pitchFamily="2" charset="-122"/>
              </a:rPr>
              <a:t>);  consume( id</a:t>
            </a:r>
            <a:r>
              <a:rPr lang="en-US" altLang="zh-CN" sz="2000" smtClean="0">
                <a:solidFill>
                  <a:schemeClr val="accent2"/>
                </a:solidFill>
                <a:ea typeface="宋体" panose="02010600030101010101" pitchFamily="2" charset="-122"/>
              </a:rPr>
              <a:t>,  &amp;identry </a:t>
            </a:r>
            <a:r>
              <a:rPr lang="en-US" altLang="zh-CN" sz="2000" smtClean="0">
                <a:ea typeface="宋体" panose="02010600030101010101" pitchFamily="2" charset="-122"/>
              </a:rPr>
              <a:t>);</a:t>
            </a:r>
          </a:p>
          <a:p>
            <a:pPr>
              <a:lnSpc>
                <a:spcPct val="80000"/>
              </a:lnSpc>
              <a:buFontTx/>
              <a:buNone/>
            </a:pPr>
            <a:r>
              <a:rPr lang="en-US" altLang="zh-CN" sz="2000" smtClean="0">
                <a:ea typeface="宋体" panose="02010600030101010101" pitchFamily="2" charset="-122"/>
              </a:rPr>
              <a:t>	</a:t>
            </a:r>
            <a:r>
              <a:rPr lang="en-US" altLang="zh-CN" sz="2000" smtClean="0">
                <a:solidFill>
                  <a:schemeClr val="accent2"/>
                </a:solidFill>
                <a:ea typeface="宋体" panose="02010600030101010101" pitchFamily="2" charset="-122"/>
              </a:rPr>
              <a:t>addtype( identry,  Ttype );  Lin=Ttype;</a:t>
            </a:r>
          </a:p>
          <a:p>
            <a:pPr>
              <a:lnSpc>
                <a:spcPct val="80000"/>
              </a:lnSpc>
              <a:buFontTx/>
              <a:buNone/>
            </a:pPr>
            <a:r>
              <a:rPr lang="en-US" altLang="zh-CN" sz="2000" smtClean="0">
                <a:ea typeface="宋体" panose="02010600030101010101" pitchFamily="2" charset="-122"/>
              </a:rPr>
              <a:t>	call L(</a:t>
            </a:r>
            <a:r>
              <a:rPr lang="en-US" altLang="zh-CN" sz="2000" smtClean="0">
                <a:solidFill>
                  <a:schemeClr val="accent2"/>
                </a:solidFill>
                <a:ea typeface="宋体" panose="02010600030101010101" pitchFamily="2" charset="-122"/>
              </a:rPr>
              <a:t>Lin</a:t>
            </a:r>
            <a:r>
              <a:rPr lang="en-US" altLang="zh-CN" sz="2000" smtClean="0">
                <a:ea typeface="宋体" panose="02010600030101010101" pitchFamily="2" charset="-122"/>
              </a:rPr>
              <a:t>);				</a:t>
            </a:r>
            <a:r>
              <a:rPr lang="en-US" altLang="zh-CN" sz="2000" smtClean="0">
                <a:solidFill>
                  <a:srgbClr val="CC0000"/>
                </a:solidFill>
                <a:ea typeface="宋体" panose="02010600030101010101" pitchFamily="2" charset="-122"/>
              </a:rPr>
              <a:t>a synthesized attribute (an output parameter)</a:t>
            </a:r>
          </a:p>
          <a:p>
            <a:pPr>
              <a:lnSpc>
                <a:spcPct val="80000"/>
              </a:lnSpc>
              <a:buFontTx/>
              <a:buNone/>
            </a:pPr>
            <a:r>
              <a:rPr lang="en-US" altLang="zh-CN" sz="2000" smtClean="0">
                <a:ea typeface="宋体" panose="02010600030101010101" pitchFamily="2" charset="-122"/>
              </a:rPr>
              <a:t>} </a:t>
            </a:r>
          </a:p>
          <a:p>
            <a:pPr>
              <a:lnSpc>
                <a:spcPct val="80000"/>
              </a:lnSpc>
              <a:buFontTx/>
              <a:buNone/>
            </a:pPr>
            <a:r>
              <a:rPr lang="en-US" altLang="zh-CN" sz="2000" smtClean="0">
                <a:ea typeface="宋体" panose="02010600030101010101" pitchFamily="2" charset="-122"/>
              </a:rPr>
              <a:t>procedure T( </a:t>
            </a:r>
            <a:r>
              <a:rPr lang="en-US" altLang="zh-CN" sz="2000" smtClean="0">
                <a:solidFill>
                  <a:schemeClr val="accent2"/>
                </a:solidFill>
                <a:ea typeface="宋体" panose="02010600030101010101" pitchFamily="2" charset="-122"/>
              </a:rPr>
              <a:t>int *Ttype </a:t>
            </a:r>
            <a:r>
              <a:rPr lang="en-US" altLang="zh-CN" sz="2000" smtClean="0">
                <a:ea typeface="宋体" panose="02010600030101010101" pitchFamily="2" charset="-122"/>
              </a:rPr>
              <a:t>) {</a:t>
            </a:r>
          </a:p>
          <a:p>
            <a:pPr>
              <a:lnSpc>
                <a:spcPct val="80000"/>
              </a:lnSpc>
              <a:buFontTx/>
              <a:buNone/>
            </a:pPr>
            <a:r>
              <a:rPr lang="en-US" altLang="zh-CN" sz="2000" smtClean="0">
                <a:ea typeface="宋体" panose="02010600030101010101" pitchFamily="2" charset="-122"/>
              </a:rPr>
              <a:t>	if (currtoken is </a:t>
            </a:r>
            <a:r>
              <a:rPr lang="en-US" altLang="zh-CN" sz="2000" b="1" smtClean="0">
                <a:ea typeface="宋体" panose="02010600030101010101" pitchFamily="2" charset="-122"/>
              </a:rPr>
              <a:t>int</a:t>
            </a:r>
            <a:r>
              <a:rPr lang="en-US" altLang="zh-CN" sz="2000" smtClean="0">
                <a:ea typeface="宋体" panose="02010600030101010101" pitchFamily="2" charset="-122"/>
              </a:rPr>
              <a:t>) { consume(</a:t>
            </a:r>
            <a:r>
              <a:rPr lang="en-US" altLang="zh-CN" sz="2000" b="1" smtClean="0">
                <a:ea typeface="宋体" panose="02010600030101010101" pitchFamily="2" charset="-122"/>
              </a:rPr>
              <a:t>int</a:t>
            </a:r>
            <a:r>
              <a:rPr lang="en-US" altLang="zh-CN" sz="2000" smtClean="0">
                <a:ea typeface="宋体" panose="02010600030101010101" pitchFamily="2" charset="-122"/>
              </a:rPr>
              <a:t>); </a:t>
            </a:r>
            <a:r>
              <a:rPr lang="en-US" altLang="zh-CN" sz="2000" smtClean="0">
                <a:solidFill>
                  <a:schemeClr val="accent2"/>
                </a:solidFill>
                <a:ea typeface="宋体" panose="02010600030101010101" pitchFamily="2" charset="-122"/>
              </a:rPr>
              <a:t>*Ttype=TYPEINT;</a:t>
            </a:r>
            <a:r>
              <a:rPr lang="en-US" altLang="zh-CN" sz="2000" smtClean="0">
                <a:ea typeface="宋体" panose="02010600030101010101" pitchFamily="2" charset="-122"/>
              </a:rPr>
              <a:t> }</a:t>
            </a:r>
          </a:p>
          <a:p>
            <a:pPr>
              <a:lnSpc>
                <a:spcPct val="80000"/>
              </a:lnSpc>
              <a:buFontTx/>
              <a:buNone/>
            </a:pPr>
            <a:r>
              <a:rPr lang="en-US" altLang="zh-CN" sz="2000" smtClean="0">
                <a:ea typeface="宋体" panose="02010600030101010101" pitchFamily="2" charset="-122"/>
              </a:rPr>
              <a:t>	else if (currtoken is </a:t>
            </a:r>
            <a:r>
              <a:rPr lang="en-US" altLang="zh-CN" sz="2000" b="1" smtClean="0">
                <a:ea typeface="宋体" panose="02010600030101010101" pitchFamily="2" charset="-122"/>
              </a:rPr>
              <a:t>real</a:t>
            </a:r>
            <a:r>
              <a:rPr lang="en-US" altLang="zh-CN" sz="2000" smtClean="0">
                <a:ea typeface="宋体" panose="02010600030101010101" pitchFamily="2" charset="-122"/>
              </a:rPr>
              <a:t>) { consume(real); </a:t>
            </a:r>
            <a:r>
              <a:rPr lang="en-US" altLang="zh-CN" sz="2000" smtClean="0">
                <a:solidFill>
                  <a:schemeClr val="accent2"/>
                </a:solidFill>
                <a:ea typeface="宋体" panose="02010600030101010101" pitchFamily="2" charset="-122"/>
              </a:rPr>
              <a:t>*Ttype=TYPEREAL;</a:t>
            </a:r>
            <a:r>
              <a:rPr lang="en-US" altLang="zh-CN" sz="2000" smtClean="0">
                <a:ea typeface="宋体" panose="02010600030101010101" pitchFamily="2" charset="-122"/>
              </a:rPr>
              <a:t> }</a:t>
            </a:r>
          </a:p>
          <a:p>
            <a:pPr>
              <a:lnSpc>
                <a:spcPct val="80000"/>
              </a:lnSpc>
              <a:buFontTx/>
              <a:buNone/>
            </a:pPr>
            <a:r>
              <a:rPr lang="en-US" altLang="zh-CN" sz="2000" smtClean="0">
                <a:ea typeface="宋体" panose="02010600030101010101" pitchFamily="2" charset="-122"/>
              </a:rPr>
              <a:t>	else { error(“unexpected type”); }	</a:t>
            </a:r>
            <a:r>
              <a:rPr lang="en-US" altLang="zh-CN" sz="2000" smtClean="0">
                <a:solidFill>
                  <a:srgbClr val="CC0000"/>
                </a:solidFill>
                <a:ea typeface="宋体" panose="02010600030101010101" pitchFamily="2" charset="-122"/>
              </a:rPr>
              <a:t>an inherited attribute (an input parameter)</a:t>
            </a:r>
          </a:p>
          <a:p>
            <a:pPr>
              <a:lnSpc>
                <a:spcPct val="80000"/>
              </a:lnSpc>
              <a:buFontTx/>
              <a:buNone/>
            </a:pPr>
            <a:r>
              <a:rPr lang="en-US" altLang="zh-CN" sz="2000" smtClean="0">
                <a:ea typeface="宋体" panose="02010600030101010101" pitchFamily="2" charset="-122"/>
              </a:rPr>
              <a:t>}</a:t>
            </a:r>
            <a:r>
              <a:rPr lang="en-US" altLang="zh-CN" sz="2000" smtClean="0">
                <a:ea typeface="宋体" panose="02010600030101010101" pitchFamily="2" charset="-122"/>
                <a:cs typeface="Times New Roman" panose="02020603050405020304" pitchFamily="18" charset="0"/>
              </a:rPr>
              <a:t>	</a:t>
            </a:r>
          </a:p>
          <a:p>
            <a:pPr>
              <a:lnSpc>
                <a:spcPct val="80000"/>
              </a:lnSpc>
              <a:buFontTx/>
              <a:buNone/>
            </a:pPr>
            <a:r>
              <a:rPr lang="en-US" altLang="zh-CN" sz="2000" smtClean="0">
                <a:ea typeface="宋体" panose="02010600030101010101" pitchFamily="2" charset="-122"/>
                <a:cs typeface="Times New Roman" panose="02020603050405020304" pitchFamily="18" charset="0"/>
              </a:rPr>
              <a:t>procedure L( </a:t>
            </a:r>
            <a:r>
              <a:rPr lang="en-US" altLang="zh-CN" sz="2000" smtClean="0">
                <a:solidFill>
                  <a:schemeClr val="accent2"/>
                </a:solidFill>
                <a:ea typeface="宋体" panose="02010600030101010101" pitchFamily="2" charset="-122"/>
                <a:cs typeface="Times New Roman" panose="02020603050405020304" pitchFamily="18" charset="0"/>
              </a:rPr>
              <a:t>int Lin </a:t>
            </a:r>
            <a:r>
              <a:rPr lang="en-US" altLang="zh-CN" sz="2000" smtClean="0">
                <a:ea typeface="宋体" panose="02010600030101010101" pitchFamily="2" charset="-122"/>
                <a:cs typeface="Times New Roman" panose="02020603050405020304" pitchFamily="18" charset="0"/>
              </a:rPr>
              <a:t>) {</a:t>
            </a:r>
          </a:p>
          <a:p>
            <a:pPr>
              <a:lnSpc>
                <a:spcPct val="80000"/>
              </a:lnSpc>
              <a:buFontTx/>
              <a:buNone/>
            </a:pPr>
            <a:r>
              <a:rPr lang="en-US" altLang="zh-CN" sz="2000" smtClean="0">
                <a:ea typeface="宋体" panose="02010600030101010101" pitchFamily="2" charset="-122"/>
                <a:cs typeface="Times New Roman" panose="02020603050405020304" pitchFamily="18" charset="0"/>
              </a:rPr>
              <a:t>	if (currtoken is </a:t>
            </a:r>
            <a:r>
              <a:rPr lang="en-US" altLang="zh-CN" sz="2000" b="1" smtClean="0">
                <a:ea typeface="宋体" panose="02010600030101010101" pitchFamily="2" charset="-122"/>
                <a:cs typeface="Times New Roman" panose="02020603050405020304" pitchFamily="18" charset="0"/>
              </a:rPr>
              <a:t>id</a:t>
            </a:r>
            <a:r>
              <a:rPr lang="en-US" altLang="zh-CN" sz="2000" smtClean="0">
                <a:ea typeface="宋体" panose="02010600030101010101" pitchFamily="2" charset="-122"/>
                <a:cs typeface="Times New Roman" panose="02020603050405020304" pitchFamily="18" charset="0"/>
              </a:rPr>
              <a:t>) { </a:t>
            </a:r>
            <a:r>
              <a:rPr lang="en-US" altLang="zh-CN" sz="2000" smtClean="0">
                <a:solidFill>
                  <a:schemeClr val="accent2"/>
                </a:solidFill>
                <a:ea typeface="宋体" panose="02010600030101010101" pitchFamily="2" charset="-122"/>
                <a:cs typeface="Times New Roman" panose="02020603050405020304" pitchFamily="18" charset="0"/>
              </a:rPr>
              <a:t>int L1in,  identry;</a:t>
            </a:r>
            <a:r>
              <a:rPr lang="en-US" altLang="zh-CN" sz="2000" smtClean="0">
                <a:ea typeface="宋体" panose="02010600030101010101" pitchFamily="2" charset="-122"/>
                <a:cs typeface="Times New Roman" panose="02020603050405020304" pitchFamily="18" charset="0"/>
              </a:rPr>
              <a:t> </a:t>
            </a:r>
            <a:r>
              <a:rPr lang="en-US" altLang="zh-CN" sz="2000" smtClean="0">
                <a:ea typeface="宋体" panose="02010600030101010101" pitchFamily="2" charset="-122"/>
              </a:rPr>
              <a:t>consume( id</a:t>
            </a:r>
            <a:r>
              <a:rPr lang="en-US" altLang="zh-CN" sz="2000" smtClean="0">
                <a:solidFill>
                  <a:schemeClr val="accent2"/>
                </a:solidFill>
                <a:ea typeface="宋体" panose="02010600030101010101" pitchFamily="2" charset="-122"/>
              </a:rPr>
              <a:t>,  &amp;identry </a:t>
            </a:r>
            <a:r>
              <a:rPr lang="en-US" altLang="zh-CN" sz="2000" smtClean="0">
                <a:ea typeface="宋体" panose="02010600030101010101" pitchFamily="2" charset="-122"/>
              </a:rPr>
              <a:t>); </a:t>
            </a:r>
          </a:p>
          <a:p>
            <a:pPr>
              <a:lnSpc>
                <a:spcPct val="80000"/>
              </a:lnSpc>
              <a:buFontTx/>
              <a:buNone/>
            </a:pPr>
            <a:r>
              <a:rPr lang="en-US" altLang="zh-CN" sz="2000" smtClean="0">
                <a:ea typeface="宋体" panose="02010600030101010101" pitchFamily="2" charset="-122"/>
              </a:rPr>
              <a:t>			         </a:t>
            </a:r>
            <a:r>
              <a:rPr lang="en-US" altLang="zh-CN" sz="2000" smtClean="0">
                <a:solidFill>
                  <a:schemeClr val="accent2"/>
                </a:solidFill>
                <a:ea typeface="宋体" panose="02010600030101010101" pitchFamily="2" charset="-122"/>
              </a:rPr>
              <a:t>addtype( identry,  Lin ); L1in=Lin; </a:t>
            </a:r>
            <a:r>
              <a:rPr lang="en-US" altLang="zh-CN" sz="2000" smtClean="0">
                <a:ea typeface="宋体" panose="02010600030101010101" pitchFamily="2" charset="-122"/>
              </a:rPr>
              <a:t>call L( </a:t>
            </a:r>
            <a:r>
              <a:rPr lang="en-US" altLang="zh-CN" sz="2000" smtClean="0">
                <a:solidFill>
                  <a:schemeClr val="accent2"/>
                </a:solidFill>
                <a:ea typeface="宋体" panose="02010600030101010101" pitchFamily="2" charset="-122"/>
              </a:rPr>
              <a:t>L1in </a:t>
            </a:r>
            <a:r>
              <a:rPr lang="en-US" altLang="zh-CN" sz="2000" smtClean="0">
                <a:ea typeface="宋体" panose="02010600030101010101" pitchFamily="2" charset="-122"/>
              </a:rPr>
              <a:t>); }</a:t>
            </a:r>
          </a:p>
          <a:p>
            <a:pPr>
              <a:lnSpc>
                <a:spcPct val="80000"/>
              </a:lnSpc>
              <a:buFontTx/>
              <a:buNone/>
            </a:pPr>
            <a:r>
              <a:rPr lang="en-US" altLang="zh-CN" sz="2000" smtClean="0">
                <a:ea typeface="宋体" panose="02010600030101010101" pitchFamily="2" charset="-122"/>
              </a:rPr>
              <a:t>	else if (currtoken is </a:t>
            </a:r>
            <a:r>
              <a:rPr lang="en-US" altLang="zh-CN" sz="2000" i="1" smtClean="0">
                <a:ea typeface="宋体" panose="02010600030101010101" pitchFamily="2" charset="-122"/>
              </a:rPr>
              <a:t>endmarker</a:t>
            </a:r>
            <a:r>
              <a:rPr lang="en-US" altLang="zh-CN" sz="2000" smtClean="0">
                <a:ea typeface="宋体" panose="02010600030101010101" pitchFamily="2" charset="-122"/>
              </a:rPr>
              <a:t>)  { }</a:t>
            </a:r>
          </a:p>
          <a:p>
            <a:pPr>
              <a:lnSpc>
                <a:spcPct val="80000"/>
              </a:lnSpc>
              <a:buFontTx/>
              <a:buNone/>
            </a:pPr>
            <a:r>
              <a:rPr lang="en-US" altLang="zh-CN" sz="2000" smtClean="0">
                <a:ea typeface="宋体" panose="02010600030101010101" pitchFamily="2" charset="-122"/>
              </a:rPr>
              <a:t>	else { error(“unexpected token”); }</a:t>
            </a:r>
          </a:p>
          <a:p>
            <a:pPr>
              <a:lnSpc>
                <a:spcPct val="80000"/>
              </a:lnSpc>
              <a:buFontTx/>
              <a:buNone/>
            </a:pPr>
            <a:r>
              <a:rPr lang="en-US" altLang="zh-CN" sz="2000" smtClean="0">
                <a:ea typeface="宋体" panose="02010600030101010101" pitchFamily="2" charset="-122"/>
              </a:rPr>
              <a:t>}</a:t>
            </a:r>
          </a:p>
        </p:txBody>
      </p:sp>
      <p:sp>
        <p:nvSpPr>
          <p:cNvPr id="49159" name="Line 4"/>
          <p:cNvSpPr>
            <a:spLocks noChangeShapeType="1"/>
          </p:cNvSpPr>
          <p:nvPr/>
        </p:nvSpPr>
        <p:spPr bwMode="auto">
          <a:xfrm flipH="1">
            <a:off x="2362200" y="2590800"/>
            <a:ext cx="2514600" cy="3048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60" name="Line 5"/>
          <p:cNvSpPr>
            <a:spLocks noChangeShapeType="1"/>
          </p:cNvSpPr>
          <p:nvPr/>
        </p:nvSpPr>
        <p:spPr bwMode="auto">
          <a:xfrm flipH="1">
            <a:off x="2133600" y="4114800"/>
            <a:ext cx="2743200" cy="3810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017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018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1E5EBEC-13BF-4C85-8930-7C55FA17EC71}" type="slidenum">
              <a:rPr lang="zh-CN" altLang="en-US" sz="800"/>
              <a:pPr>
                <a:spcBef>
                  <a:spcPct val="0"/>
                </a:spcBef>
                <a:buFontTx/>
                <a:buNone/>
              </a:pPr>
              <a:t>48</a:t>
            </a:fld>
            <a:endParaRPr lang="en-US" altLang="zh-CN" sz="800"/>
          </a:p>
        </p:txBody>
      </p:sp>
      <p:sp>
        <p:nvSpPr>
          <p:cNvPr id="50181" name="Rectangle 2"/>
          <p:cNvSpPr>
            <a:spLocks noGrp="1" noChangeArrowheads="1"/>
          </p:cNvSpPr>
          <p:nvPr>
            <p:ph type="title"/>
          </p:nvPr>
        </p:nvSpPr>
        <p:spPr>
          <a:xfrm>
            <a:off x="152400" y="152400"/>
            <a:ext cx="9601200" cy="914400"/>
          </a:xfrm>
        </p:spPr>
        <p:txBody>
          <a:bodyPr/>
          <a:lstStyle/>
          <a:p>
            <a:r>
              <a:rPr lang="en-US" altLang="zh-CN" sz="2800" smtClean="0">
                <a:ea typeface="宋体" panose="02010600030101010101" pitchFamily="2" charset="-122"/>
              </a:rPr>
              <a:t>Eliminating Left Recursion from Translation Scheme (P.302)</a:t>
            </a:r>
          </a:p>
        </p:txBody>
      </p:sp>
      <p:sp>
        <p:nvSpPr>
          <p:cNvPr id="50182" name="Rectangle 3"/>
          <p:cNvSpPr>
            <a:spLocks noGrp="1" noChangeArrowheads="1"/>
          </p:cNvSpPr>
          <p:nvPr>
            <p:ph type="body" idx="1"/>
          </p:nvPr>
        </p:nvSpPr>
        <p:spPr>
          <a:xfrm>
            <a:off x="381000" y="1219200"/>
            <a:ext cx="9144000" cy="5105400"/>
          </a:xfrm>
        </p:spPr>
        <p:txBody>
          <a:bodyPr/>
          <a:lstStyle/>
          <a:p>
            <a:pPr>
              <a:lnSpc>
                <a:spcPct val="90000"/>
              </a:lnSpc>
            </a:pPr>
            <a:r>
              <a:rPr lang="en-US" altLang="zh-CN" smtClean="0">
                <a:ea typeface="宋体" panose="02010600030101010101" pitchFamily="2" charset="-122"/>
                <a:cs typeface="Times New Roman" panose="02020603050405020304" pitchFamily="18" charset="0"/>
              </a:rPr>
              <a:t>A translation scheme with a left recursive  grammar.</a:t>
            </a:r>
          </a:p>
          <a:p>
            <a:pPr>
              <a:lnSpc>
                <a:spcPct val="90000"/>
              </a:lnSpc>
            </a:pPr>
            <a:endParaRPr lang="en-US" altLang="zh-CN" smtClean="0">
              <a:ea typeface="宋体" panose="02010600030101010101" pitchFamily="2" charset="-122"/>
              <a:cs typeface="Times New Roman" panose="02020603050405020304" pitchFamily="18" charset="0"/>
            </a:endParaRPr>
          </a:p>
          <a:p>
            <a:pPr>
              <a:lnSpc>
                <a:spcPct val="90000"/>
              </a:lnSpc>
              <a:buFontTx/>
              <a:buNone/>
            </a:pPr>
            <a:r>
              <a:rPr lang="en-US" altLang="zh-CN" smtClean="0">
                <a:ea typeface="宋体" panose="02010600030101010101" pitchFamily="2" charset="-122"/>
                <a:cs typeface="Times New Roman" panose="02020603050405020304" pitchFamily="18" charset="0"/>
              </a:rPr>
              <a:t>		E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T 		</a:t>
            </a:r>
            <a:r>
              <a:rPr lang="en-US" altLang="zh-CN" smtClean="0">
                <a:solidFill>
                  <a:schemeClr val="accent2"/>
                </a:solidFill>
                <a:ea typeface="宋体" panose="02010600030101010101" pitchFamily="2" charset="-122"/>
                <a:cs typeface="Times New Roman" panose="02020603050405020304" pitchFamily="18" charset="0"/>
              </a:rPr>
              <a:t>{ E.val = E</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.val + T.val }</a:t>
            </a:r>
          </a:p>
          <a:p>
            <a:pPr>
              <a:lnSpc>
                <a:spcPct val="90000"/>
              </a:lnSpc>
              <a:buFontTx/>
              <a:buNone/>
            </a:pPr>
            <a:r>
              <a:rPr lang="en-US" altLang="zh-CN" smtClean="0">
                <a:solidFill>
                  <a:schemeClr val="accent2"/>
                </a:solidFill>
                <a:ea typeface="宋体" panose="02010600030101010101" pitchFamily="2" charset="-122"/>
                <a:cs typeface="Times New Roman" panose="02020603050405020304" pitchFamily="18" charset="0"/>
              </a:rPr>
              <a:t>		</a:t>
            </a:r>
            <a:r>
              <a:rPr lang="en-US" altLang="zh-CN" smtClean="0">
                <a:ea typeface="宋体" panose="02010600030101010101" pitchFamily="2" charset="-122"/>
                <a:cs typeface="Times New Roman" panose="02020603050405020304" pitchFamily="18" charset="0"/>
              </a:rPr>
              <a:t>E →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T 		</a:t>
            </a:r>
            <a:r>
              <a:rPr lang="en-US" altLang="zh-CN" smtClean="0">
                <a:solidFill>
                  <a:schemeClr val="accent2"/>
                </a:solidFill>
                <a:ea typeface="宋体" panose="02010600030101010101" pitchFamily="2" charset="-122"/>
                <a:cs typeface="Times New Roman" panose="02020603050405020304" pitchFamily="18" charset="0"/>
              </a:rPr>
              <a:t>{ E.val = E</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.val - T.val }</a:t>
            </a:r>
          </a:p>
          <a:p>
            <a:pPr>
              <a:lnSpc>
                <a:spcPct val="90000"/>
              </a:lnSpc>
              <a:buFontTx/>
              <a:buNone/>
            </a:pPr>
            <a:r>
              <a:rPr lang="en-US" altLang="zh-CN" smtClean="0">
                <a:ea typeface="宋体" panose="02010600030101010101" pitchFamily="2" charset="-122"/>
                <a:cs typeface="Times New Roman" panose="02020603050405020304" pitchFamily="18" charset="0"/>
              </a:rPr>
              <a:t>		E → T 			</a:t>
            </a:r>
            <a:r>
              <a:rPr lang="en-US" altLang="zh-CN" smtClean="0">
                <a:solidFill>
                  <a:schemeClr val="accent2"/>
                </a:solidFill>
                <a:ea typeface="宋体" panose="02010600030101010101" pitchFamily="2" charset="-122"/>
                <a:cs typeface="Times New Roman" panose="02020603050405020304" pitchFamily="18" charset="0"/>
              </a:rPr>
              <a:t>{ E.val = T.val }</a:t>
            </a:r>
          </a:p>
          <a:p>
            <a:pPr>
              <a:lnSpc>
                <a:spcPct val="90000"/>
              </a:lnSpc>
              <a:buFontTx/>
              <a:buNone/>
            </a:pPr>
            <a:r>
              <a:rPr lang="en-US" altLang="zh-CN" smtClean="0">
                <a:ea typeface="宋体" panose="02010600030101010101" pitchFamily="2" charset="-122"/>
                <a:cs typeface="Times New Roman" panose="02020603050405020304" pitchFamily="18" charset="0"/>
              </a:rPr>
              <a:t>		T → T</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 F 		</a:t>
            </a:r>
            <a:r>
              <a:rPr lang="en-US" altLang="zh-CN" smtClean="0">
                <a:solidFill>
                  <a:schemeClr val="accent2"/>
                </a:solidFill>
                <a:ea typeface="宋体" panose="02010600030101010101" pitchFamily="2" charset="-122"/>
                <a:cs typeface="Times New Roman" panose="02020603050405020304" pitchFamily="18" charset="0"/>
              </a:rPr>
              <a:t>{ T.val = T</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.val * F.val }</a:t>
            </a:r>
          </a:p>
          <a:p>
            <a:pPr>
              <a:lnSpc>
                <a:spcPct val="90000"/>
              </a:lnSpc>
              <a:buFontTx/>
              <a:buNone/>
            </a:pPr>
            <a:r>
              <a:rPr lang="en-US" altLang="zh-CN" smtClean="0">
                <a:ea typeface="宋体" panose="02010600030101010101" pitchFamily="2" charset="-122"/>
                <a:cs typeface="Times New Roman" panose="02020603050405020304" pitchFamily="18" charset="0"/>
              </a:rPr>
              <a:t>		T → F			</a:t>
            </a:r>
            <a:r>
              <a:rPr lang="en-US" altLang="zh-CN" smtClean="0">
                <a:solidFill>
                  <a:schemeClr val="accent2"/>
                </a:solidFill>
                <a:ea typeface="宋体" panose="02010600030101010101" pitchFamily="2" charset="-122"/>
                <a:cs typeface="Times New Roman" panose="02020603050405020304" pitchFamily="18" charset="0"/>
              </a:rPr>
              <a:t>{ T.val = F.val }</a:t>
            </a:r>
          </a:p>
          <a:p>
            <a:pPr>
              <a:lnSpc>
                <a:spcPct val="90000"/>
              </a:lnSpc>
              <a:buFontTx/>
              <a:buNone/>
            </a:pPr>
            <a:r>
              <a:rPr lang="en-US" altLang="zh-CN" smtClean="0">
                <a:ea typeface="宋体" panose="02010600030101010101" pitchFamily="2" charset="-122"/>
                <a:cs typeface="Times New Roman" panose="02020603050405020304" pitchFamily="18" charset="0"/>
              </a:rPr>
              <a:t>		F → ( E ) 		</a:t>
            </a:r>
            <a:r>
              <a:rPr lang="en-US" altLang="zh-CN" smtClean="0">
                <a:solidFill>
                  <a:schemeClr val="accent2"/>
                </a:solidFill>
                <a:ea typeface="宋体" panose="02010600030101010101" pitchFamily="2" charset="-122"/>
                <a:cs typeface="Times New Roman" panose="02020603050405020304" pitchFamily="18" charset="0"/>
              </a:rPr>
              <a:t>{ F.val = E.val }</a:t>
            </a:r>
          </a:p>
          <a:p>
            <a:pPr>
              <a:lnSpc>
                <a:spcPct val="90000"/>
              </a:lnSpc>
              <a:buFontTx/>
              <a:buNone/>
            </a:pPr>
            <a:r>
              <a:rPr lang="en-US" altLang="zh-CN" smtClean="0">
                <a:ea typeface="宋体" panose="02010600030101010101" pitchFamily="2" charset="-122"/>
                <a:cs typeface="Times New Roman" panose="02020603050405020304" pitchFamily="18" charset="0"/>
              </a:rPr>
              <a:t>		F → </a:t>
            </a:r>
            <a:r>
              <a:rPr lang="en-US" altLang="zh-CN" b="1" smtClean="0">
                <a:ea typeface="宋体" panose="02010600030101010101" pitchFamily="2" charset="-122"/>
                <a:cs typeface="Times New Roman" panose="02020603050405020304" pitchFamily="18" charset="0"/>
              </a:rPr>
              <a:t>digit</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F.val = </a:t>
            </a:r>
            <a:r>
              <a:rPr lang="en-US" altLang="zh-CN" b="1" smtClean="0">
                <a:solidFill>
                  <a:schemeClr val="accent2"/>
                </a:solidFill>
                <a:ea typeface="宋体" panose="02010600030101010101" pitchFamily="2" charset="-122"/>
                <a:cs typeface="Times New Roman" panose="02020603050405020304" pitchFamily="18" charset="0"/>
              </a:rPr>
              <a:t>digit</a:t>
            </a:r>
            <a:r>
              <a:rPr lang="en-US" altLang="zh-CN" smtClean="0">
                <a:solidFill>
                  <a:schemeClr val="accent2"/>
                </a:solidFill>
                <a:ea typeface="宋体" panose="02010600030101010101" pitchFamily="2" charset="-122"/>
                <a:cs typeface="Times New Roman" panose="02020603050405020304" pitchFamily="18" charset="0"/>
              </a:rPr>
              <a:t>.lexval }</a:t>
            </a:r>
          </a:p>
          <a:p>
            <a:pPr>
              <a:lnSpc>
                <a:spcPct val="90000"/>
              </a:lnSpc>
              <a:buFontTx/>
              <a:buNone/>
            </a:pPr>
            <a:endParaRPr lang="en-US" altLang="zh-CN" smtClean="0">
              <a:solidFill>
                <a:schemeClr val="accent2"/>
              </a:solidFill>
              <a:ea typeface="宋体" panose="02010600030101010101" pitchFamily="2" charset="-122"/>
              <a:cs typeface="Times New Roman" panose="02020603050405020304" pitchFamily="18" charset="0"/>
            </a:endParaRPr>
          </a:p>
          <a:p>
            <a:pPr>
              <a:lnSpc>
                <a:spcPct val="90000"/>
              </a:lnSpc>
            </a:pPr>
            <a:r>
              <a:rPr lang="en-US" altLang="zh-CN" smtClean="0">
                <a:ea typeface="宋体" panose="02010600030101010101" pitchFamily="2" charset="-122"/>
                <a:cs typeface="Times New Roman" panose="02020603050405020304" pitchFamily="18" charset="0"/>
              </a:rPr>
              <a:t>When we eliminate the left recursion from the grammar (to get a suitable grammar for the top-down parsing) we also have to change semantic actions</a:t>
            </a:r>
          </a:p>
        </p:txBody>
      </p:sp>
    </p:spTree>
  </p:cSld>
  <p:clrMapOvr>
    <a:masterClrMapping/>
  </p:clrMapOvr>
  <p:transition>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120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120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6EC9840F-CF4E-435B-8898-35BEE9F7ED26}" type="slidenum">
              <a:rPr lang="zh-CN" altLang="en-US" sz="800"/>
              <a:pPr>
                <a:spcBef>
                  <a:spcPct val="0"/>
                </a:spcBef>
                <a:buFontTx/>
                <a:buNone/>
              </a:pPr>
              <a:t>49</a:t>
            </a:fld>
            <a:endParaRPr lang="en-US" altLang="zh-CN" sz="800"/>
          </a:p>
        </p:txBody>
      </p:sp>
      <p:sp>
        <p:nvSpPr>
          <p:cNvPr id="51205" name="Rectangle 2"/>
          <p:cNvSpPr>
            <a:spLocks noGrp="1" noChangeArrowheads="1"/>
          </p:cNvSpPr>
          <p:nvPr>
            <p:ph type="title"/>
          </p:nvPr>
        </p:nvSpPr>
        <p:spPr/>
        <p:txBody>
          <a:bodyPr/>
          <a:lstStyle/>
          <a:p>
            <a:r>
              <a:rPr lang="en-US" altLang="zh-CN" smtClean="0">
                <a:ea typeface="宋体" panose="02010600030101010101" pitchFamily="2" charset="-122"/>
              </a:rPr>
              <a:t>Eliminating Left Recursion (cont.)</a:t>
            </a:r>
          </a:p>
        </p:txBody>
      </p:sp>
      <p:sp>
        <p:nvSpPr>
          <p:cNvPr id="374787" name="Rectangle 3"/>
          <p:cNvSpPr>
            <a:spLocks noGrp="1" noChangeArrowheads="1"/>
          </p:cNvSpPr>
          <p:nvPr>
            <p:ph type="body" idx="1"/>
          </p:nvPr>
        </p:nvSpPr>
        <p:spPr>
          <a:xfrm>
            <a:off x="381000" y="1066800"/>
            <a:ext cx="8305800" cy="5105400"/>
          </a:xfrm>
        </p:spPr>
        <p:txBody>
          <a:bodyPr/>
          <a:lstStyle/>
          <a:p>
            <a:pPr>
              <a:buFontTx/>
              <a:buNone/>
            </a:pPr>
            <a:r>
              <a:rPr lang="en-US" altLang="zh-CN" smtClean="0">
                <a:solidFill>
                  <a:srgbClr val="CC0000"/>
                </a:solidFill>
                <a:ea typeface="宋体" panose="02010600030101010101" pitchFamily="2" charset="-122"/>
                <a:cs typeface="Times New Roman" panose="02020603050405020304" pitchFamily="18" charset="0"/>
              </a:rPr>
              <a:t>inherited attribute</a:t>
            </a:r>
            <a:r>
              <a:rPr lang="en-US" altLang="zh-CN" smtClean="0">
                <a:ea typeface="宋体" panose="02010600030101010101" pitchFamily="2" charset="-122"/>
                <a:cs typeface="Times New Roman" panose="02020603050405020304" pitchFamily="18" charset="0"/>
              </a:rPr>
              <a:t> 		</a:t>
            </a:r>
            <a:r>
              <a:rPr lang="en-US" altLang="zh-CN" smtClean="0">
                <a:solidFill>
                  <a:srgbClr val="CC0000"/>
                </a:solidFill>
                <a:ea typeface="宋体" panose="02010600030101010101" pitchFamily="2" charset="-122"/>
                <a:cs typeface="Times New Roman" panose="02020603050405020304" pitchFamily="18" charset="0"/>
              </a:rPr>
              <a:t>synthesized attribute</a:t>
            </a:r>
          </a:p>
          <a:p>
            <a:pPr>
              <a:buFontTx/>
              <a:buNone/>
            </a:pPr>
            <a:endParaRPr lang="en-US" altLang="zh-CN" smtClean="0">
              <a:ea typeface="宋体" panose="02010600030101010101" pitchFamily="2" charset="-122"/>
              <a:cs typeface="Times New Roman" panose="02020603050405020304" pitchFamily="18" charset="0"/>
            </a:endParaRPr>
          </a:p>
          <a:p>
            <a:pPr>
              <a:buFontTx/>
              <a:buNone/>
            </a:pPr>
            <a:r>
              <a:rPr lang="en-US" altLang="zh-CN" smtClean="0">
                <a:ea typeface="宋体" panose="02010600030101010101" pitchFamily="2" charset="-122"/>
                <a:cs typeface="Times New Roman" panose="02020603050405020304" pitchFamily="18" charset="0"/>
              </a:rPr>
              <a:t>E → T </a:t>
            </a:r>
            <a:r>
              <a:rPr lang="en-US" altLang="zh-CN" smtClean="0">
                <a:solidFill>
                  <a:schemeClr val="accent2"/>
                </a:solidFill>
                <a:ea typeface="宋体" panose="02010600030101010101" pitchFamily="2" charset="-122"/>
                <a:cs typeface="Times New Roman" panose="02020603050405020304" pitchFamily="18" charset="0"/>
              </a:rPr>
              <a:t>                         </a:t>
            </a:r>
            <a:r>
              <a:rPr lang="en-US" altLang="zh-CN" smtClean="0">
                <a:ea typeface="宋体" panose="02010600030101010101" pitchFamily="2" charset="-122"/>
                <a:cs typeface="Times New Roman" panose="02020603050405020304" pitchFamily="18" charset="0"/>
              </a:rPr>
              <a:t>E’ </a:t>
            </a:r>
            <a:r>
              <a:rPr lang="en-US" altLang="zh-CN" smtClean="0">
                <a:solidFill>
                  <a:schemeClr val="accent2"/>
                </a:solidFill>
                <a:ea typeface="宋体" panose="02010600030101010101" pitchFamily="2" charset="-122"/>
                <a:cs typeface="Times New Roman" panose="02020603050405020304" pitchFamily="18" charset="0"/>
              </a:rPr>
              <a:t> </a:t>
            </a:r>
          </a:p>
          <a:p>
            <a:pPr>
              <a:buFontTx/>
              <a:buNone/>
            </a:pPr>
            <a:r>
              <a:rPr lang="en-US" altLang="zh-CN" smtClean="0">
                <a:ea typeface="宋体" panose="02010600030101010101" pitchFamily="2" charset="-122"/>
                <a:cs typeface="Times New Roman" panose="02020603050405020304" pitchFamily="18" charset="0"/>
              </a:rPr>
              <a:t>E’ →  + T </a:t>
            </a:r>
            <a:r>
              <a:rPr lang="en-US" altLang="zh-CN" smtClean="0">
                <a:solidFill>
                  <a:schemeClr val="accent2"/>
                </a:solidFill>
                <a:ea typeface="宋体" panose="02010600030101010101" pitchFamily="2" charset="-122"/>
                <a:cs typeface="Times New Roman" panose="02020603050405020304" pitchFamily="18" charset="0"/>
              </a:rPr>
              <a:t>                                     </a:t>
            </a:r>
            <a:r>
              <a:rPr lang="en-US" altLang="zh-CN" smtClean="0">
                <a:ea typeface="宋体" panose="02010600030101010101" pitchFamily="2" charset="-122"/>
                <a:cs typeface="Times New Roman" panose="02020603050405020304" pitchFamily="18" charset="0"/>
              </a:rPr>
              <a:t>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a:t>
            </a:r>
          </a:p>
          <a:p>
            <a:pPr>
              <a:buFontTx/>
              <a:buNone/>
            </a:pPr>
            <a:r>
              <a:rPr lang="en-US" altLang="zh-CN" smtClean="0">
                <a:ea typeface="宋体" panose="02010600030101010101" pitchFamily="2" charset="-122"/>
                <a:cs typeface="Times New Roman" panose="02020603050405020304" pitchFamily="18" charset="0"/>
              </a:rPr>
              <a:t>E’ →  - T </a:t>
            </a:r>
            <a:r>
              <a:rPr lang="en-US" altLang="zh-CN" smtClean="0">
                <a:solidFill>
                  <a:schemeClr val="accent2"/>
                </a:solidFill>
                <a:ea typeface="宋体" panose="02010600030101010101" pitchFamily="2" charset="-122"/>
                <a:cs typeface="Times New Roman" panose="02020603050405020304" pitchFamily="18" charset="0"/>
              </a:rPr>
              <a:t>{ E’</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.in=E’.in-T.val  }</a:t>
            </a:r>
            <a:r>
              <a:rPr lang="en-US" altLang="zh-CN" smtClean="0">
                <a:ea typeface="宋体" panose="02010600030101010101" pitchFamily="2" charset="-122"/>
                <a:cs typeface="Times New Roman" panose="02020603050405020304" pitchFamily="18" charset="0"/>
              </a:rPr>
              <a:t> E’</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E’.syn = E’</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.syn}</a:t>
            </a:r>
          </a:p>
          <a:p>
            <a:pPr>
              <a:buFontTx/>
              <a:buNone/>
            </a:pPr>
            <a:r>
              <a:rPr lang="en-US" altLang="zh-CN" smtClean="0">
                <a:ea typeface="宋体" panose="02010600030101010101" pitchFamily="2" charset="-122"/>
                <a:cs typeface="Times New Roman" panose="02020603050405020304" pitchFamily="18" charset="0"/>
              </a:rPr>
              <a:t>E’ → </a:t>
            </a:r>
            <a:r>
              <a:rPr lang="en-US" altLang="zh-CN" smtClean="0">
                <a:ea typeface="宋体" panose="02010600030101010101" pitchFamily="2" charset="-122"/>
                <a:cs typeface="Times New Roman" panose="02020603050405020304" pitchFamily="18" charset="0"/>
                <a:sym typeface="Symbol" panose="05050102010706020507" pitchFamily="18" charset="2"/>
              </a:rPr>
              <a:t></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a:t>
            </a:r>
          </a:p>
          <a:p>
            <a:pPr>
              <a:buFontTx/>
              <a:buNone/>
            </a:pPr>
            <a:r>
              <a:rPr lang="en-US" altLang="zh-CN" smtClean="0">
                <a:ea typeface="宋体" panose="02010600030101010101" pitchFamily="2" charset="-122"/>
                <a:cs typeface="Times New Roman" panose="02020603050405020304" pitchFamily="18" charset="0"/>
              </a:rPr>
              <a:t>T → F </a:t>
            </a:r>
            <a:r>
              <a:rPr lang="en-US" altLang="zh-CN" smtClean="0">
                <a:solidFill>
                  <a:schemeClr val="accent2"/>
                </a:solidFill>
                <a:ea typeface="宋体" panose="02010600030101010101" pitchFamily="2" charset="-122"/>
                <a:cs typeface="Times New Roman" panose="02020603050405020304" pitchFamily="18" charset="0"/>
              </a:rPr>
              <a:t>{ T’.in=F.val }</a:t>
            </a:r>
            <a:r>
              <a:rPr lang="en-US" altLang="zh-CN" smtClean="0">
                <a:ea typeface="宋体" panose="02010600030101010101" pitchFamily="2" charset="-122"/>
                <a:cs typeface="Times New Roman" panose="02020603050405020304" pitchFamily="18" charset="0"/>
              </a:rPr>
              <a:t> T’ </a:t>
            </a:r>
            <a:r>
              <a:rPr lang="en-US" altLang="zh-CN" smtClean="0">
                <a:solidFill>
                  <a:schemeClr val="accent2"/>
                </a:solidFill>
                <a:ea typeface="宋体" panose="02010600030101010101" pitchFamily="2" charset="-122"/>
                <a:cs typeface="Times New Roman" panose="02020603050405020304" pitchFamily="18" charset="0"/>
              </a:rPr>
              <a:t>{ T.val=T’.syn }</a:t>
            </a:r>
            <a:endParaRPr lang="en-US" altLang="zh-CN" smtClean="0">
              <a:ea typeface="宋体" panose="02010600030101010101" pitchFamily="2" charset="-122"/>
              <a:cs typeface="Times New Roman" panose="02020603050405020304" pitchFamily="18" charset="0"/>
            </a:endParaRPr>
          </a:p>
          <a:p>
            <a:pPr>
              <a:buFontTx/>
              <a:buNone/>
            </a:pPr>
            <a:r>
              <a:rPr lang="en-US" altLang="zh-CN" smtClean="0">
                <a:ea typeface="宋体" panose="02010600030101010101" pitchFamily="2" charset="-122"/>
                <a:cs typeface="Times New Roman" panose="02020603050405020304" pitchFamily="18" charset="0"/>
              </a:rPr>
              <a:t>T’ → * F </a:t>
            </a:r>
            <a:r>
              <a:rPr lang="en-US" altLang="zh-CN" smtClean="0">
                <a:solidFill>
                  <a:schemeClr val="accent2"/>
                </a:solidFill>
                <a:ea typeface="宋体" panose="02010600030101010101" pitchFamily="2" charset="-122"/>
                <a:cs typeface="Times New Roman" panose="02020603050405020304" pitchFamily="18" charset="0"/>
              </a:rPr>
              <a:t>{ T’</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.in=T’.in*F.val  }</a:t>
            </a:r>
            <a:r>
              <a:rPr lang="en-US" altLang="zh-CN" smtClean="0">
                <a:ea typeface="宋体" panose="02010600030101010101" pitchFamily="2" charset="-122"/>
                <a:cs typeface="Times New Roman" panose="02020603050405020304" pitchFamily="18" charset="0"/>
              </a:rPr>
              <a:t> T’</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T’.syn = T’</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.syn}</a:t>
            </a:r>
          </a:p>
          <a:p>
            <a:pPr>
              <a:buFontTx/>
              <a:buNone/>
            </a:pPr>
            <a:r>
              <a:rPr lang="en-US" altLang="zh-CN" smtClean="0">
                <a:ea typeface="宋体" panose="02010600030101010101" pitchFamily="2" charset="-122"/>
                <a:cs typeface="Times New Roman" panose="02020603050405020304" pitchFamily="18" charset="0"/>
              </a:rPr>
              <a:t>T’ → </a:t>
            </a:r>
            <a:r>
              <a:rPr lang="en-US" altLang="zh-CN" smtClean="0">
                <a:ea typeface="宋体" panose="02010600030101010101" pitchFamily="2" charset="-122"/>
                <a:cs typeface="Times New Roman" panose="02020603050405020304" pitchFamily="18" charset="0"/>
                <a:sym typeface="Symbol" panose="05050102010706020507" pitchFamily="18" charset="2"/>
              </a:rPr>
              <a:t></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T’.syn = T’.in }</a:t>
            </a:r>
          </a:p>
          <a:p>
            <a:pPr>
              <a:buFontTx/>
              <a:buNone/>
            </a:pPr>
            <a:r>
              <a:rPr lang="en-US" altLang="zh-CN" smtClean="0">
                <a:ea typeface="宋体" panose="02010600030101010101" pitchFamily="2" charset="-122"/>
                <a:cs typeface="Times New Roman" panose="02020603050405020304" pitchFamily="18" charset="0"/>
              </a:rPr>
              <a:t>F → ( E ) </a:t>
            </a:r>
            <a:r>
              <a:rPr lang="en-US" altLang="zh-CN" smtClean="0">
                <a:solidFill>
                  <a:schemeClr val="accent2"/>
                </a:solidFill>
                <a:ea typeface="宋体" panose="02010600030101010101" pitchFamily="2" charset="-122"/>
                <a:cs typeface="Times New Roman" panose="02020603050405020304" pitchFamily="18" charset="0"/>
              </a:rPr>
              <a:t>{ F.val = E.val }</a:t>
            </a:r>
          </a:p>
          <a:p>
            <a:pPr>
              <a:buFontTx/>
              <a:buNone/>
            </a:pPr>
            <a:r>
              <a:rPr lang="en-US" altLang="zh-CN" smtClean="0">
                <a:ea typeface="宋体" panose="02010600030101010101" pitchFamily="2" charset="-122"/>
                <a:cs typeface="Times New Roman" panose="02020603050405020304" pitchFamily="18" charset="0"/>
              </a:rPr>
              <a:t>F → </a:t>
            </a:r>
            <a:r>
              <a:rPr lang="en-US" altLang="zh-CN" b="1" smtClean="0">
                <a:ea typeface="宋体" panose="02010600030101010101" pitchFamily="2" charset="-122"/>
                <a:cs typeface="Times New Roman" panose="02020603050405020304" pitchFamily="18" charset="0"/>
              </a:rPr>
              <a:t>digit</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F.val = </a:t>
            </a:r>
            <a:r>
              <a:rPr lang="en-US" altLang="zh-CN" b="1" smtClean="0">
                <a:solidFill>
                  <a:schemeClr val="accent2"/>
                </a:solidFill>
                <a:ea typeface="宋体" panose="02010600030101010101" pitchFamily="2" charset="-122"/>
                <a:cs typeface="Times New Roman" panose="02020603050405020304" pitchFamily="18" charset="0"/>
              </a:rPr>
              <a:t>digit</a:t>
            </a:r>
            <a:r>
              <a:rPr lang="en-US" altLang="zh-CN" smtClean="0">
                <a:solidFill>
                  <a:schemeClr val="accent2"/>
                </a:solidFill>
                <a:ea typeface="宋体" panose="02010600030101010101" pitchFamily="2" charset="-122"/>
                <a:cs typeface="Times New Roman" panose="02020603050405020304" pitchFamily="18" charset="0"/>
              </a:rPr>
              <a:t>.lexval }</a:t>
            </a:r>
            <a:endParaRPr lang="en-US" altLang="en-US" smtClean="0">
              <a:ea typeface="宋体" panose="02010600030101010101" pitchFamily="2" charset="-122"/>
              <a:cs typeface="Times New Roman" panose="02020603050405020304" pitchFamily="18" charset="0"/>
              <a:sym typeface="Wingdings 2" panose="05020102010507070707" pitchFamily="18" charset="2"/>
            </a:endParaRPr>
          </a:p>
        </p:txBody>
      </p:sp>
      <p:sp>
        <p:nvSpPr>
          <p:cNvPr id="374788" name="Line 4"/>
          <p:cNvSpPr>
            <a:spLocks noChangeShapeType="1"/>
          </p:cNvSpPr>
          <p:nvPr/>
        </p:nvSpPr>
        <p:spPr bwMode="auto">
          <a:xfrm>
            <a:off x="1676400" y="1447800"/>
            <a:ext cx="533400" cy="6096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4789" name="Line 5"/>
          <p:cNvSpPr>
            <a:spLocks noChangeShapeType="1"/>
          </p:cNvSpPr>
          <p:nvPr/>
        </p:nvSpPr>
        <p:spPr bwMode="auto">
          <a:xfrm flipH="1">
            <a:off x="4572000" y="1447800"/>
            <a:ext cx="533400" cy="6096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74801" name="Group 17"/>
          <p:cNvGrpSpPr>
            <a:grpSpLocks/>
          </p:cNvGrpSpPr>
          <p:nvPr/>
        </p:nvGrpSpPr>
        <p:grpSpPr bwMode="auto">
          <a:xfrm>
            <a:off x="1981200" y="2133600"/>
            <a:ext cx="1066800" cy="838200"/>
            <a:chOff x="1872" y="1440"/>
            <a:chExt cx="672" cy="528"/>
          </a:xfrm>
        </p:grpSpPr>
        <p:sp>
          <p:nvSpPr>
            <p:cNvPr id="51223" name="Line 6"/>
            <p:cNvSpPr>
              <a:spLocks noChangeShapeType="1"/>
            </p:cNvSpPr>
            <p:nvPr/>
          </p:nvSpPr>
          <p:spPr bwMode="auto">
            <a:xfrm>
              <a:off x="1872" y="1536"/>
              <a:ext cx="624" cy="144"/>
            </a:xfrm>
            <a:prstGeom prst="line">
              <a:avLst/>
            </a:prstGeom>
            <a:noFill/>
            <a:ln w="25400">
              <a:solidFill>
                <a:srgbClr val="66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4" name="Line 8"/>
            <p:cNvSpPr>
              <a:spLocks noChangeShapeType="1"/>
            </p:cNvSpPr>
            <p:nvPr/>
          </p:nvSpPr>
          <p:spPr bwMode="auto">
            <a:xfrm>
              <a:off x="1872" y="1536"/>
              <a:ext cx="672" cy="432"/>
            </a:xfrm>
            <a:prstGeom prst="line">
              <a:avLst/>
            </a:prstGeom>
            <a:noFill/>
            <a:ln w="12700">
              <a:solidFill>
                <a:srgbClr val="660066"/>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5" name="Rectangle 14"/>
            <p:cNvSpPr>
              <a:spLocks noChangeArrowheads="1"/>
            </p:cNvSpPr>
            <p:nvPr/>
          </p:nvSpPr>
          <p:spPr bwMode="auto">
            <a:xfrm>
              <a:off x="2112" y="144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rgbClr val="660066"/>
                  </a:solidFill>
                  <a:ea typeface="宋体" panose="02010600030101010101" pitchFamily="2" charset="-122"/>
                  <a:sym typeface="Wingdings 2" panose="05020102010507070707" pitchFamily="18" charset="2"/>
                </a:rPr>
                <a:t></a:t>
              </a:r>
              <a:endParaRPr lang="zh-CN" altLang="en-US" b="0">
                <a:solidFill>
                  <a:srgbClr val="660066"/>
                </a:solidFill>
                <a:ea typeface="宋体" panose="02010600030101010101" pitchFamily="2" charset="-122"/>
                <a:sym typeface="Wingdings 2" panose="05020102010507070707" pitchFamily="18" charset="2"/>
              </a:endParaRPr>
            </a:p>
          </p:txBody>
        </p:sp>
      </p:grpSp>
      <p:grpSp>
        <p:nvGrpSpPr>
          <p:cNvPr id="374803" name="Group 19"/>
          <p:cNvGrpSpPr>
            <a:grpSpLocks/>
          </p:cNvGrpSpPr>
          <p:nvPr/>
        </p:nvGrpSpPr>
        <p:grpSpPr bwMode="auto">
          <a:xfrm>
            <a:off x="1752600" y="3124200"/>
            <a:ext cx="1371600" cy="457200"/>
            <a:chOff x="1728" y="2064"/>
            <a:chExt cx="864" cy="288"/>
          </a:xfrm>
        </p:grpSpPr>
        <p:sp>
          <p:nvSpPr>
            <p:cNvPr id="51221" name="Line 13"/>
            <p:cNvSpPr>
              <a:spLocks noChangeShapeType="1"/>
            </p:cNvSpPr>
            <p:nvPr/>
          </p:nvSpPr>
          <p:spPr bwMode="auto">
            <a:xfrm flipH="1">
              <a:off x="1728" y="2208"/>
              <a:ext cx="864" cy="0"/>
            </a:xfrm>
            <a:prstGeom prst="line">
              <a:avLst/>
            </a:prstGeom>
            <a:noFill/>
            <a:ln w="25400">
              <a:solidFill>
                <a:srgbClr val="66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2" name="Rectangle 15"/>
            <p:cNvSpPr>
              <a:spLocks noChangeArrowheads="1"/>
            </p:cNvSpPr>
            <p:nvPr/>
          </p:nvSpPr>
          <p:spPr bwMode="auto">
            <a:xfrm>
              <a:off x="2112" y="206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rgbClr val="660066"/>
                  </a:solidFill>
                  <a:ea typeface="宋体" panose="02010600030101010101" pitchFamily="2" charset="-122"/>
                  <a:sym typeface="Wingdings 2" panose="05020102010507070707" pitchFamily="18" charset="2"/>
                </a:rPr>
                <a:t></a:t>
              </a:r>
              <a:endParaRPr lang="zh-CN" altLang="en-US" b="0">
                <a:solidFill>
                  <a:srgbClr val="660066"/>
                </a:solidFill>
                <a:ea typeface="宋体" panose="02010600030101010101" pitchFamily="2" charset="-122"/>
                <a:sym typeface="Wingdings 2" panose="05020102010507070707" pitchFamily="18" charset="2"/>
              </a:endParaRPr>
            </a:p>
          </p:txBody>
        </p:sp>
      </p:grpSp>
      <p:grpSp>
        <p:nvGrpSpPr>
          <p:cNvPr id="374802" name="Group 18"/>
          <p:cNvGrpSpPr>
            <a:grpSpLocks/>
          </p:cNvGrpSpPr>
          <p:nvPr/>
        </p:nvGrpSpPr>
        <p:grpSpPr bwMode="auto">
          <a:xfrm>
            <a:off x="4724400" y="2133600"/>
            <a:ext cx="914400" cy="838200"/>
            <a:chOff x="3696" y="1488"/>
            <a:chExt cx="576" cy="528"/>
          </a:xfrm>
        </p:grpSpPr>
        <p:sp>
          <p:nvSpPr>
            <p:cNvPr id="51218" name="Line 7"/>
            <p:cNvSpPr>
              <a:spLocks noChangeShapeType="1"/>
            </p:cNvSpPr>
            <p:nvPr/>
          </p:nvSpPr>
          <p:spPr bwMode="auto">
            <a:xfrm flipH="1" flipV="1">
              <a:off x="3696" y="1536"/>
              <a:ext cx="576" cy="192"/>
            </a:xfrm>
            <a:prstGeom prst="line">
              <a:avLst/>
            </a:prstGeom>
            <a:noFill/>
            <a:ln w="25400">
              <a:solidFill>
                <a:srgbClr val="66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9" name="Line 9"/>
            <p:cNvSpPr>
              <a:spLocks noChangeShapeType="1"/>
            </p:cNvSpPr>
            <p:nvPr/>
          </p:nvSpPr>
          <p:spPr bwMode="auto">
            <a:xfrm flipH="1" flipV="1">
              <a:off x="3696" y="1584"/>
              <a:ext cx="336" cy="432"/>
            </a:xfrm>
            <a:prstGeom prst="line">
              <a:avLst/>
            </a:prstGeom>
            <a:noFill/>
            <a:ln w="9525">
              <a:solidFill>
                <a:srgbClr val="660066"/>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0" name="Rectangle 16"/>
            <p:cNvSpPr>
              <a:spLocks noChangeArrowheads="1"/>
            </p:cNvSpPr>
            <p:nvPr/>
          </p:nvSpPr>
          <p:spPr bwMode="auto">
            <a:xfrm>
              <a:off x="3936" y="14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buFontTx/>
                <a:buNone/>
              </a:pPr>
              <a:r>
                <a:rPr lang="en-US" altLang="zh-CN" b="0">
                  <a:solidFill>
                    <a:srgbClr val="660066"/>
                  </a:solidFill>
                  <a:ea typeface="宋体" panose="02010600030101010101" pitchFamily="2" charset="-122"/>
                  <a:sym typeface="Wingdings 2" panose="05020102010507070707" pitchFamily="18" charset="2"/>
                </a:rPr>
                <a:t></a:t>
              </a:r>
              <a:endParaRPr lang="en-US" altLang="en-US" b="0">
                <a:solidFill>
                  <a:srgbClr val="660066"/>
                </a:solidFill>
                <a:sym typeface="Wingdings 2" panose="05020102010507070707" pitchFamily="18" charset="2"/>
              </a:endParaRPr>
            </a:p>
          </p:txBody>
        </p:sp>
      </p:grpSp>
      <p:sp>
        <p:nvSpPr>
          <p:cNvPr id="51212" name="Rectangle 20"/>
          <p:cNvSpPr>
            <a:spLocks noChangeArrowheads="1"/>
          </p:cNvSpPr>
          <p:nvPr/>
        </p:nvSpPr>
        <p:spPr bwMode="auto">
          <a:xfrm>
            <a:off x="6400800" y="4724400"/>
            <a:ext cx="31242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400" b="0">
                <a:ea typeface="宋体" panose="02010600030101010101" pitchFamily="2" charset="-122"/>
              </a:rPr>
              <a:t>E → E1 + T </a:t>
            </a:r>
            <a:r>
              <a:rPr lang="en-US" altLang="zh-CN" sz="1400" b="0">
                <a:solidFill>
                  <a:schemeClr val="accent2"/>
                </a:solidFill>
                <a:ea typeface="宋体" panose="02010600030101010101" pitchFamily="2" charset="-122"/>
              </a:rPr>
              <a:t>{ E.val = E1.val + T.val }</a:t>
            </a:r>
          </a:p>
          <a:p>
            <a:pPr>
              <a:spcBef>
                <a:spcPct val="0"/>
              </a:spcBef>
              <a:buFontTx/>
              <a:buNone/>
            </a:pPr>
            <a:r>
              <a:rPr lang="en-US" altLang="zh-CN" sz="1400" b="0">
                <a:ea typeface="宋体" panose="02010600030101010101" pitchFamily="2" charset="-122"/>
              </a:rPr>
              <a:t>E → E1 - T </a:t>
            </a:r>
            <a:r>
              <a:rPr lang="en-US" altLang="zh-CN" sz="1400" b="0">
                <a:solidFill>
                  <a:schemeClr val="accent2"/>
                </a:solidFill>
                <a:ea typeface="宋体" panose="02010600030101010101" pitchFamily="2" charset="-122"/>
              </a:rPr>
              <a:t>{ E.val = E1.val - T.val }</a:t>
            </a:r>
          </a:p>
          <a:p>
            <a:pPr>
              <a:spcBef>
                <a:spcPct val="0"/>
              </a:spcBef>
              <a:buFontTx/>
              <a:buNone/>
            </a:pPr>
            <a:r>
              <a:rPr lang="en-US" altLang="zh-CN" sz="1400" b="0">
                <a:ea typeface="宋体" panose="02010600030101010101" pitchFamily="2" charset="-122"/>
              </a:rPr>
              <a:t>E → T 	</a:t>
            </a:r>
            <a:r>
              <a:rPr lang="en-US" altLang="zh-CN" sz="1400" b="0">
                <a:solidFill>
                  <a:schemeClr val="accent2"/>
                </a:solidFill>
                <a:ea typeface="宋体" panose="02010600030101010101" pitchFamily="2" charset="-122"/>
              </a:rPr>
              <a:t>{ E.val = T.val }</a:t>
            </a:r>
          </a:p>
          <a:p>
            <a:pPr>
              <a:spcBef>
                <a:spcPct val="0"/>
              </a:spcBef>
              <a:buFontTx/>
              <a:buNone/>
            </a:pPr>
            <a:r>
              <a:rPr lang="en-US" altLang="zh-CN" sz="1400" b="0">
                <a:ea typeface="宋体" panose="02010600030101010101" pitchFamily="2" charset="-122"/>
              </a:rPr>
              <a:t>T → T1 * F </a:t>
            </a:r>
            <a:r>
              <a:rPr lang="en-US" altLang="zh-CN" sz="1400" b="0">
                <a:solidFill>
                  <a:schemeClr val="accent2"/>
                </a:solidFill>
                <a:ea typeface="宋体" panose="02010600030101010101" pitchFamily="2" charset="-122"/>
              </a:rPr>
              <a:t>{ T.val = T1.val * F.val }</a:t>
            </a:r>
          </a:p>
          <a:p>
            <a:pPr>
              <a:spcBef>
                <a:spcPct val="0"/>
              </a:spcBef>
              <a:buFontTx/>
              <a:buNone/>
            </a:pPr>
            <a:r>
              <a:rPr lang="en-US" altLang="zh-CN" sz="1400" b="0">
                <a:ea typeface="宋体" panose="02010600030101010101" pitchFamily="2" charset="-122"/>
              </a:rPr>
              <a:t>T → F	</a:t>
            </a:r>
            <a:r>
              <a:rPr lang="en-US" altLang="zh-CN" sz="1400" b="0">
                <a:solidFill>
                  <a:schemeClr val="accent2"/>
                </a:solidFill>
                <a:ea typeface="宋体" panose="02010600030101010101" pitchFamily="2" charset="-122"/>
              </a:rPr>
              <a:t>{ T.val = F.val }</a:t>
            </a:r>
          </a:p>
          <a:p>
            <a:pPr>
              <a:spcBef>
                <a:spcPct val="0"/>
              </a:spcBef>
              <a:buFontTx/>
              <a:buNone/>
            </a:pPr>
            <a:r>
              <a:rPr lang="en-US" altLang="zh-CN" sz="1400" b="0">
                <a:ea typeface="宋体" panose="02010600030101010101" pitchFamily="2" charset="-122"/>
              </a:rPr>
              <a:t>F → ( E ) 	</a:t>
            </a:r>
            <a:r>
              <a:rPr lang="en-US" altLang="zh-CN" sz="1400" b="0">
                <a:solidFill>
                  <a:schemeClr val="accent2"/>
                </a:solidFill>
                <a:ea typeface="宋体" panose="02010600030101010101" pitchFamily="2" charset="-122"/>
              </a:rPr>
              <a:t>{ F.val = E.val }</a:t>
            </a:r>
          </a:p>
          <a:p>
            <a:pPr>
              <a:spcBef>
                <a:spcPct val="0"/>
              </a:spcBef>
              <a:buFontTx/>
              <a:buNone/>
            </a:pPr>
            <a:r>
              <a:rPr lang="en-US" altLang="zh-CN" sz="1400" b="0">
                <a:ea typeface="宋体" panose="02010600030101010101" pitchFamily="2" charset="-122"/>
              </a:rPr>
              <a:t>F → </a:t>
            </a:r>
            <a:r>
              <a:rPr lang="en-US" altLang="zh-CN" sz="1400">
                <a:ea typeface="宋体" panose="02010600030101010101" pitchFamily="2" charset="-122"/>
              </a:rPr>
              <a:t>digit</a:t>
            </a:r>
            <a:r>
              <a:rPr lang="en-US" altLang="zh-CN" sz="1400" b="0">
                <a:ea typeface="宋体" panose="02010600030101010101" pitchFamily="2" charset="-122"/>
              </a:rPr>
              <a:t> 	</a:t>
            </a:r>
            <a:r>
              <a:rPr lang="en-US" altLang="zh-CN" sz="1400" b="0">
                <a:solidFill>
                  <a:schemeClr val="accent2"/>
                </a:solidFill>
                <a:ea typeface="宋体" panose="02010600030101010101" pitchFamily="2" charset="-122"/>
              </a:rPr>
              <a:t>{ F.val = </a:t>
            </a:r>
            <a:r>
              <a:rPr lang="en-US" altLang="zh-CN" sz="1400">
                <a:solidFill>
                  <a:schemeClr val="accent2"/>
                </a:solidFill>
                <a:ea typeface="宋体" panose="02010600030101010101" pitchFamily="2" charset="-122"/>
              </a:rPr>
              <a:t>digit</a:t>
            </a:r>
            <a:r>
              <a:rPr lang="en-US" altLang="zh-CN" sz="1400" b="0">
                <a:solidFill>
                  <a:schemeClr val="accent2"/>
                </a:solidFill>
                <a:ea typeface="宋体" panose="02010600030101010101" pitchFamily="2" charset="-122"/>
              </a:rPr>
              <a:t>.lexval }</a:t>
            </a:r>
            <a:endParaRPr lang="en-US" altLang="zh-CN" sz="1400" b="0">
              <a:solidFill>
                <a:schemeClr val="accent2"/>
              </a:solidFill>
              <a:ea typeface="宋体" panose="02010600030101010101" pitchFamily="2" charset="-122"/>
              <a:cs typeface="Times New Roman" panose="02020603050405020304" pitchFamily="18" charset="0"/>
            </a:endParaRPr>
          </a:p>
        </p:txBody>
      </p:sp>
      <p:sp>
        <p:nvSpPr>
          <p:cNvPr id="5" name="矩形 4"/>
          <p:cNvSpPr>
            <a:spLocks noChangeArrowheads="1"/>
          </p:cNvSpPr>
          <p:nvPr/>
        </p:nvSpPr>
        <p:spPr bwMode="auto">
          <a:xfrm>
            <a:off x="3505200" y="1900238"/>
            <a:ext cx="2262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chemeClr val="accent2"/>
                </a:solidFill>
                <a:ea typeface="宋体" panose="02010600030101010101" pitchFamily="2" charset="-122"/>
                <a:cs typeface="Times New Roman" panose="02020603050405020304" pitchFamily="18" charset="0"/>
              </a:rPr>
              <a:t>{ E.val=E’.syn }</a:t>
            </a:r>
          </a:p>
        </p:txBody>
      </p:sp>
      <p:sp>
        <p:nvSpPr>
          <p:cNvPr id="6" name="矩形 5"/>
          <p:cNvSpPr>
            <a:spLocks noChangeArrowheads="1"/>
          </p:cNvSpPr>
          <p:nvPr/>
        </p:nvSpPr>
        <p:spPr bwMode="auto">
          <a:xfrm>
            <a:off x="5029200" y="2400300"/>
            <a:ext cx="2597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chemeClr val="accent2"/>
                </a:solidFill>
                <a:ea typeface="宋体" panose="02010600030101010101" pitchFamily="2" charset="-122"/>
                <a:cs typeface="Times New Roman" panose="02020603050405020304" pitchFamily="18" charset="0"/>
              </a:rPr>
              <a:t>{ E’.syn = E’</a:t>
            </a:r>
            <a:r>
              <a:rPr lang="en-US" altLang="zh-CN" b="0" baseline="-25000">
                <a:solidFill>
                  <a:schemeClr val="accent2"/>
                </a:solidFill>
                <a:ea typeface="宋体" panose="02010600030101010101" pitchFamily="2" charset="-122"/>
                <a:cs typeface="Times New Roman" panose="02020603050405020304" pitchFamily="18" charset="0"/>
              </a:rPr>
              <a:t>1</a:t>
            </a:r>
            <a:r>
              <a:rPr lang="en-US" altLang="zh-CN" b="0">
                <a:solidFill>
                  <a:schemeClr val="accent2"/>
                </a:solidFill>
                <a:ea typeface="宋体" panose="02010600030101010101" pitchFamily="2" charset="-122"/>
                <a:cs typeface="Times New Roman" panose="02020603050405020304" pitchFamily="18" charset="0"/>
              </a:rPr>
              <a:t>.syn}</a:t>
            </a:r>
          </a:p>
        </p:txBody>
      </p:sp>
      <p:sp>
        <p:nvSpPr>
          <p:cNvPr id="7" name="矩形 6"/>
          <p:cNvSpPr>
            <a:spLocks noChangeArrowheads="1"/>
          </p:cNvSpPr>
          <p:nvPr/>
        </p:nvSpPr>
        <p:spPr bwMode="auto">
          <a:xfrm>
            <a:off x="1298575" y="1911350"/>
            <a:ext cx="2127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chemeClr val="accent2"/>
                </a:solidFill>
                <a:ea typeface="宋体" panose="02010600030101010101" pitchFamily="2" charset="-122"/>
                <a:cs typeface="Times New Roman" panose="02020603050405020304" pitchFamily="18" charset="0"/>
              </a:rPr>
              <a:t>{ E’.in=T.val }</a:t>
            </a:r>
            <a:r>
              <a:rPr lang="en-US" altLang="zh-CN" b="0">
                <a:ea typeface="宋体" panose="02010600030101010101" pitchFamily="2" charset="-122"/>
                <a:cs typeface="Times New Roman" panose="02020603050405020304" pitchFamily="18" charset="0"/>
              </a:rPr>
              <a:t> </a:t>
            </a:r>
            <a:endParaRPr lang="zh-CN" altLang="en-US" b="0">
              <a:ea typeface="宋体" panose="02010600030101010101" pitchFamily="2" charset="-122"/>
              <a:cs typeface="Times New Roman" panose="02020603050405020304" pitchFamily="18" charset="0"/>
            </a:endParaRPr>
          </a:p>
        </p:txBody>
      </p:sp>
      <p:sp>
        <p:nvSpPr>
          <p:cNvPr id="8" name="矩形 7"/>
          <p:cNvSpPr>
            <a:spLocks noChangeArrowheads="1"/>
          </p:cNvSpPr>
          <p:nvPr/>
        </p:nvSpPr>
        <p:spPr bwMode="auto">
          <a:xfrm>
            <a:off x="1676400" y="2371725"/>
            <a:ext cx="31226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chemeClr val="accent2"/>
                </a:solidFill>
                <a:ea typeface="宋体" panose="02010600030101010101" pitchFamily="2" charset="-122"/>
                <a:cs typeface="Times New Roman" panose="02020603050405020304" pitchFamily="18" charset="0"/>
              </a:rPr>
              <a:t>{ E’</a:t>
            </a:r>
            <a:r>
              <a:rPr lang="en-US" altLang="zh-CN" b="0" baseline="-25000">
                <a:solidFill>
                  <a:schemeClr val="accent2"/>
                </a:solidFill>
                <a:ea typeface="宋体" panose="02010600030101010101" pitchFamily="2" charset="-122"/>
                <a:cs typeface="Times New Roman" panose="02020603050405020304" pitchFamily="18" charset="0"/>
              </a:rPr>
              <a:t>1</a:t>
            </a:r>
            <a:r>
              <a:rPr lang="en-US" altLang="zh-CN" b="0">
                <a:solidFill>
                  <a:schemeClr val="accent2"/>
                </a:solidFill>
                <a:ea typeface="宋体" panose="02010600030101010101" pitchFamily="2" charset="-122"/>
                <a:cs typeface="Times New Roman" panose="02020603050405020304" pitchFamily="18" charset="0"/>
              </a:rPr>
              <a:t>.in=E’.in+T.val  }</a:t>
            </a:r>
            <a:r>
              <a:rPr lang="en-US" altLang="zh-CN" b="0">
                <a:ea typeface="宋体" panose="02010600030101010101" pitchFamily="2" charset="-122"/>
                <a:cs typeface="Times New Roman" panose="02020603050405020304" pitchFamily="18" charset="0"/>
              </a:rPr>
              <a:t> </a:t>
            </a:r>
            <a:endParaRPr lang="zh-CN" altLang="en-US" b="0">
              <a:ea typeface="宋体" panose="02010600030101010101" pitchFamily="2" charset="-122"/>
              <a:cs typeface="Times New Roman" panose="02020603050405020304" pitchFamily="18" charset="0"/>
            </a:endParaRPr>
          </a:p>
        </p:txBody>
      </p:sp>
      <p:sp>
        <p:nvSpPr>
          <p:cNvPr id="9" name="矩形 8"/>
          <p:cNvSpPr>
            <a:spLocks noChangeArrowheads="1"/>
          </p:cNvSpPr>
          <p:nvPr/>
        </p:nvSpPr>
        <p:spPr bwMode="auto">
          <a:xfrm>
            <a:off x="1295400" y="3271838"/>
            <a:ext cx="2382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chemeClr val="accent2"/>
                </a:solidFill>
                <a:ea typeface="宋体" panose="02010600030101010101" pitchFamily="2" charset="-122"/>
                <a:cs typeface="Times New Roman" panose="02020603050405020304" pitchFamily="18" charset="0"/>
              </a:rPr>
              <a:t>{ E’.syn = E’.in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74787">
                                            <p:txEl>
                                              <p:pRg st="2" end="2"/>
                                            </p:txEl>
                                          </p:spTgt>
                                        </p:tgtEl>
                                        <p:attrNameLst>
                                          <p:attrName>style.visibility</p:attrName>
                                        </p:attrNameLst>
                                      </p:cBhvr>
                                      <p:to>
                                        <p:strVal val="visible"/>
                                      </p:to>
                                    </p:set>
                                    <p:animEffect transition="in" filter="wipe(left)">
                                      <p:cBhvr>
                                        <p:cTn id="7" dur="500"/>
                                        <p:tgtEl>
                                          <p:spTgt spid="374787">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74787">
                                            <p:txEl>
                                              <p:pRg st="3" end="3"/>
                                            </p:txEl>
                                          </p:spTgt>
                                        </p:tgtEl>
                                        <p:attrNameLst>
                                          <p:attrName>style.visibility</p:attrName>
                                        </p:attrNameLst>
                                      </p:cBhvr>
                                      <p:to>
                                        <p:strVal val="visible"/>
                                      </p:to>
                                    </p:set>
                                    <p:animEffect transition="in" filter="wipe(left)">
                                      <p:cBhvr>
                                        <p:cTn id="10" dur="500"/>
                                        <p:tgtEl>
                                          <p:spTgt spid="374787">
                                            <p:txEl>
                                              <p:pRg st="3" end="3"/>
                                            </p:txEl>
                                          </p:spTgt>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374787">
                                            <p:txEl>
                                              <p:pRg st="5" end="5"/>
                                            </p:txEl>
                                          </p:spTgt>
                                        </p:tgtEl>
                                        <p:attrNameLst>
                                          <p:attrName>style.visibility</p:attrName>
                                        </p:attrNameLst>
                                      </p:cBhvr>
                                      <p:to>
                                        <p:strVal val="visible"/>
                                      </p:to>
                                    </p:set>
                                    <p:animEffect transition="in" filter="wipe(left)">
                                      <p:cBhvr>
                                        <p:cTn id="14" dur="500"/>
                                        <p:tgtEl>
                                          <p:spTgt spid="374787">
                                            <p:txEl>
                                              <p:pRg st="5" end="5"/>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right)">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74801"/>
                                        </p:tgtEl>
                                        <p:attrNameLst>
                                          <p:attrName>style.visibility</p:attrName>
                                        </p:attrNameLst>
                                      </p:cBhvr>
                                      <p:to>
                                        <p:strVal val="visible"/>
                                      </p:to>
                                    </p:set>
                                    <p:animEffect transition="in" filter="wipe(left)">
                                      <p:cBhvr>
                                        <p:cTn id="24" dur="500"/>
                                        <p:tgtEl>
                                          <p:spTgt spid="37480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right)">
                                      <p:cBhvr>
                                        <p:cTn id="29" dur="500"/>
                                        <p:tgtEl>
                                          <p:spTgt spid="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nodeType="clickEffect">
                                  <p:stCondLst>
                                    <p:cond delay="0"/>
                                  </p:stCondLst>
                                  <p:childTnLst>
                                    <p:set>
                                      <p:cBhvr>
                                        <p:cTn id="33" dur="1" fill="hold">
                                          <p:stCondLst>
                                            <p:cond delay="0"/>
                                          </p:stCondLst>
                                        </p:cTn>
                                        <p:tgtEl>
                                          <p:spTgt spid="374803"/>
                                        </p:tgtEl>
                                        <p:attrNameLst>
                                          <p:attrName>style.visibility</p:attrName>
                                        </p:attrNameLst>
                                      </p:cBhvr>
                                      <p:to>
                                        <p:strVal val="visible"/>
                                      </p:to>
                                    </p:set>
                                    <p:animEffect transition="in" filter="wipe(right)">
                                      <p:cBhvr>
                                        <p:cTn id="34" dur="500"/>
                                        <p:tgtEl>
                                          <p:spTgt spid="37480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right)">
                                      <p:cBhvr>
                                        <p:cTn id="39" dur="500"/>
                                        <p:tgtEl>
                                          <p:spTgt spid="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right)">
                                      <p:cBhvr>
                                        <p:cTn id="44" dur="500"/>
                                        <p:tgtEl>
                                          <p:spTgt spid="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374802"/>
                                        </p:tgtEl>
                                        <p:attrNameLst>
                                          <p:attrName>style.visibility</p:attrName>
                                        </p:attrNameLst>
                                      </p:cBhvr>
                                      <p:to>
                                        <p:strVal val="visible"/>
                                      </p:to>
                                    </p:set>
                                    <p:animEffect transition="in" filter="wipe(down)">
                                      <p:cBhvr>
                                        <p:cTn id="49" dur="500"/>
                                        <p:tgtEl>
                                          <p:spTgt spid="37480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right)">
                                      <p:cBhvr>
                                        <p:cTn id="54" dur="500"/>
                                        <p:tgtEl>
                                          <p:spTgt spid="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374787">
                                            <p:txEl>
                                              <p:pRg st="0" end="0"/>
                                            </p:txEl>
                                          </p:spTgt>
                                        </p:tgtEl>
                                        <p:attrNameLst>
                                          <p:attrName>style.visibility</p:attrName>
                                        </p:attrNameLst>
                                      </p:cBhvr>
                                      <p:to>
                                        <p:strVal val="visible"/>
                                      </p:to>
                                    </p:set>
                                    <p:animEffect transition="in" filter="wipe(left)">
                                      <p:cBhvr>
                                        <p:cTn id="59" dur="500"/>
                                        <p:tgtEl>
                                          <p:spTgt spid="374787">
                                            <p:txEl>
                                              <p:pRg st="0" end="0"/>
                                            </p:txEl>
                                          </p:spTgt>
                                        </p:tgtEl>
                                      </p:cBhvr>
                                    </p:animEffect>
                                  </p:childTnLst>
                                </p:cTn>
                              </p:par>
                            </p:childTnLst>
                          </p:cTn>
                        </p:par>
                        <p:par>
                          <p:cTn id="60" fill="hold" nodeType="afterGroup">
                            <p:stCondLst>
                              <p:cond delay="500"/>
                            </p:stCondLst>
                            <p:childTnLst>
                              <p:par>
                                <p:cTn id="61" presetID="22" presetClass="entr" presetSubtype="1" fill="hold" nodeType="afterEffect">
                                  <p:stCondLst>
                                    <p:cond delay="0"/>
                                  </p:stCondLst>
                                  <p:childTnLst>
                                    <p:set>
                                      <p:cBhvr>
                                        <p:cTn id="62" dur="1" fill="hold">
                                          <p:stCondLst>
                                            <p:cond delay="0"/>
                                          </p:stCondLst>
                                        </p:cTn>
                                        <p:tgtEl>
                                          <p:spTgt spid="374788"/>
                                        </p:tgtEl>
                                        <p:attrNameLst>
                                          <p:attrName>style.visibility</p:attrName>
                                        </p:attrNameLst>
                                      </p:cBhvr>
                                      <p:to>
                                        <p:strVal val="visible"/>
                                      </p:to>
                                    </p:set>
                                    <p:animEffect transition="in" filter="wipe(up)">
                                      <p:cBhvr>
                                        <p:cTn id="63" dur="500"/>
                                        <p:tgtEl>
                                          <p:spTgt spid="374788"/>
                                        </p:tgtEl>
                                      </p:cBhvr>
                                    </p:animEffect>
                                  </p:childTnLst>
                                </p:cTn>
                              </p:par>
                              <p:par>
                                <p:cTn id="64" presetID="22" presetClass="entr" presetSubtype="1" fill="hold" nodeType="withEffect">
                                  <p:stCondLst>
                                    <p:cond delay="0"/>
                                  </p:stCondLst>
                                  <p:childTnLst>
                                    <p:set>
                                      <p:cBhvr>
                                        <p:cTn id="65" dur="1" fill="hold">
                                          <p:stCondLst>
                                            <p:cond delay="0"/>
                                          </p:stCondLst>
                                        </p:cTn>
                                        <p:tgtEl>
                                          <p:spTgt spid="374789"/>
                                        </p:tgtEl>
                                        <p:attrNameLst>
                                          <p:attrName>style.visibility</p:attrName>
                                        </p:attrNameLst>
                                      </p:cBhvr>
                                      <p:to>
                                        <p:strVal val="visible"/>
                                      </p:to>
                                    </p:set>
                                    <p:animEffect transition="in" filter="wipe(up)">
                                      <p:cBhvr>
                                        <p:cTn id="66" dur="500"/>
                                        <p:tgtEl>
                                          <p:spTgt spid="37478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374787">
                                            <p:txEl>
                                              <p:pRg st="4" end="4"/>
                                            </p:txEl>
                                          </p:spTgt>
                                        </p:tgtEl>
                                        <p:attrNameLst>
                                          <p:attrName>style.visibility</p:attrName>
                                        </p:attrNameLst>
                                      </p:cBhvr>
                                      <p:to>
                                        <p:strVal val="visible"/>
                                      </p:to>
                                    </p:set>
                                    <p:animEffect transition="in" filter="wipe(left)">
                                      <p:cBhvr>
                                        <p:cTn id="71" dur="500"/>
                                        <p:tgtEl>
                                          <p:spTgt spid="374787">
                                            <p:txEl>
                                              <p:pRg st="4" end="4"/>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374787">
                                            <p:txEl>
                                              <p:pRg st="6" end="6"/>
                                            </p:txEl>
                                          </p:spTgt>
                                        </p:tgtEl>
                                        <p:attrNameLst>
                                          <p:attrName>style.visibility</p:attrName>
                                        </p:attrNameLst>
                                      </p:cBhvr>
                                      <p:to>
                                        <p:strVal val="visible"/>
                                      </p:to>
                                    </p:set>
                                    <p:animEffect transition="in" filter="wipe(left)">
                                      <p:cBhvr>
                                        <p:cTn id="76" dur="500"/>
                                        <p:tgtEl>
                                          <p:spTgt spid="374787">
                                            <p:txEl>
                                              <p:pRg st="6" end="6"/>
                                            </p:txEl>
                                          </p:spTgt>
                                        </p:tgtEl>
                                      </p:cBhvr>
                                    </p:animEffect>
                                  </p:childTnLst>
                                </p:cTn>
                              </p:par>
                              <p:par>
                                <p:cTn id="77" presetID="22" presetClass="entr" presetSubtype="8" fill="hold" nodeType="withEffect">
                                  <p:stCondLst>
                                    <p:cond delay="0"/>
                                  </p:stCondLst>
                                  <p:childTnLst>
                                    <p:set>
                                      <p:cBhvr>
                                        <p:cTn id="78" dur="1" fill="hold">
                                          <p:stCondLst>
                                            <p:cond delay="0"/>
                                          </p:stCondLst>
                                        </p:cTn>
                                        <p:tgtEl>
                                          <p:spTgt spid="374787">
                                            <p:txEl>
                                              <p:pRg st="7" end="7"/>
                                            </p:txEl>
                                          </p:spTgt>
                                        </p:tgtEl>
                                        <p:attrNameLst>
                                          <p:attrName>style.visibility</p:attrName>
                                        </p:attrNameLst>
                                      </p:cBhvr>
                                      <p:to>
                                        <p:strVal val="visible"/>
                                      </p:to>
                                    </p:set>
                                    <p:animEffect transition="in" filter="wipe(left)">
                                      <p:cBhvr>
                                        <p:cTn id="79" dur="500"/>
                                        <p:tgtEl>
                                          <p:spTgt spid="374787">
                                            <p:txEl>
                                              <p:pRg st="7" end="7"/>
                                            </p:txEl>
                                          </p:spTgt>
                                        </p:tgtEl>
                                      </p:cBhvr>
                                    </p:animEffect>
                                  </p:childTnLst>
                                </p:cTn>
                              </p:par>
                              <p:par>
                                <p:cTn id="80" presetID="22" presetClass="entr" presetSubtype="8" fill="hold" nodeType="withEffect">
                                  <p:stCondLst>
                                    <p:cond delay="0"/>
                                  </p:stCondLst>
                                  <p:childTnLst>
                                    <p:set>
                                      <p:cBhvr>
                                        <p:cTn id="81" dur="1" fill="hold">
                                          <p:stCondLst>
                                            <p:cond delay="0"/>
                                          </p:stCondLst>
                                        </p:cTn>
                                        <p:tgtEl>
                                          <p:spTgt spid="374787">
                                            <p:txEl>
                                              <p:pRg st="8" end="8"/>
                                            </p:txEl>
                                          </p:spTgt>
                                        </p:tgtEl>
                                        <p:attrNameLst>
                                          <p:attrName>style.visibility</p:attrName>
                                        </p:attrNameLst>
                                      </p:cBhvr>
                                      <p:to>
                                        <p:strVal val="visible"/>
                                      </p:to>
                                    </p:set>
                                    <p:animEffect transition="in" filter="wipe(left)">
                                      <p:cBhvr>
                                        <p:cTn id="82" dur="500"/>
                                        <p:tgtEl>
                                          <p:spTgt spid="374787">
                                            <p:txEl>
                                              <p:pRg st="8" end="8"/>
                                            </p:txEl>
                                          </p:spTgt>
                                        </p:tgtEl>
                                      </p:cBhvr>
                                    </p:animEffect>
                                  </p:childTnLst>
                                </p:cTn>
                              </p:par>
                              <p:par>
                                <p:cTn id="83" presetID="22" presetClass="entr" presetSubtype="8" fill="hold" nodeType="withEffect">
                                  <p:stCondLst>
                                    <p:cond delay="0"/>
                                  </p:stCondLst>
                                  <p:childTnLst>
                                    <p:set>
                                      <p:cBhvr>
                                        <p:cTn id="84" dur="1" fill="hold">
                                          <p:stCondLst>
                                            <p:cond delay="0"/>
                                          </p:stCondLst>
                                        </p:cTn>
                                        <p:tgtEl>
                                          <p:spTgt spid="374787">
                                            <p:txEl>
                                              <p:pRg st="9" end="9"/>
                                            </p:txEl>
                                          </p:spTgt>
                                        </p:tgtEl>
                                        <p:attrNameLst>
                                          <p:attrName>style.visibility</p:attrName>
                                        </p:attrNameLst>
                                      </p:cBhvr>
                                      <p:to>
                                        <p:strVal val="visible"/>
                                      </p:to>
                                    </p:set>
                                    <p:animEffect transition="in" filter="wipe(left)">
                                      <p:cBhvr>
                                        <p:cTn id="85" dur="500"/>
                                        <p:tgtEl>
                                          <p:spTgt spid="374787">
                                            <p:txEl>
                                              <p:pRg st="9" end="9"/>
                                            </p:txEl>
                                          </p:spTgt>
                                        </p:tgtEl>
                                      </p:cBhvr>
                                    </p:animEffect>
                                  </p:childTnLst>
                                </p:cTn>
                              </p:par>
                              <p:par>
                                <p:cTn id="86" presetID="22" presetClass="entr" presetSubtype="8" fill="hold" nodeType="withEffect">
                                  <p:stCondLst>
                                    <p:cond delay="0"/>
                                  </p:stCondLst>
                                  <p:childTnLst>
                                    <p:set>
                                      <p:cBhvr>
                                        <p:cTn id="87" dur="1" fill="hold">
                                          <p:stCondLst>
                                            <p:cond delay="0"/>
                                          </p:stCondLst>
                                        </p:cTn>
                                        <p:tgtEl>
                                          <p:spTgt spid="374787">
                                            <p:txEl>
                                              <p:pRg st="10" end="10"/>
                                            </p:txEl>
                                          </p:spTgt>
                                        </p:tgtEl>
                                        <p:attrNameLst>
                                          <p:attrName>style.visibility</p:attrName>
                                        </p:attrNameLst>
                                      </p:cBhvr>
                                      <p:to>
                                        <p:strVal val="visible"/>
                                      </p:to>
                                    </p:set>
                                    <p:animEffect transition="in" filter="wipe(left)">
                                      <p:cBhvr>
                                        <p:cTn id="88" dur="500"/>
                                        <p:tgtEl>
                                          <p:spTgt spid="37478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222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222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6024EBE2-2442-4F49-82A7-F1AE0C1A81AC}" type="slidenum">
              <a:rPr lang="zh-CN" altLang="en-US" sz="800"/>
              <a:pPr>
                <a:spcBef>
                  <a:spcPct val="0"/>
                </a:spcBef>
                <a:buFontTx/>
                <a:buNone/>
              </a:pPr>
              <a:t>50</a:t>
            </a:fld>
            <a:endParaRPr lang="en-US" altLang="zh-CN" sz="800"/>
          </a:p>
        </p:txBody>
      </p:sp>
      <p:sp>
        <p:nvSpPr>
          <p:cNvPr id="472067" name="Rectangle 3"/>
          <p:cNvSpPr>
            <a:spLocks noGrp="1" noChangeArrowheads="1"/>
          </p:cNvSpPr>
          <p:nvPr>
            <p:ph type="body" idx="1"/>
          </p:nvPr>
        </p:nvSpPr>
        <p:spPr>
          <a:xfrm>
            <a:off x="228600" y="152400"/>
            <a:ext cx="9372600" cy="6324600"/>
          </a:xfrm>
        </p:spPr>
        <p:txBody>
          <a:bodyPr/>
          <a:lstStyle/>
          <a:p>
            <a:r>
              <a:rPr lang="en-US" altLang="zh-CN" sz="1800" smtClean="0">
                <a:ea typeface="宋体" panose="02010600030101010101" pitchFamily="2" charset="-122"/>
              </a:rPr>
              <a:t>E → 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E’ </a:t>
            </a:r>
            <a:r>
              <a:rPr lang="en-US" altLang="zh-CN" sz="1800" smtClean="0">
                <a:solidFill>
                  <a:schemeClr val="accent2"/>
                </a:solidFill>
                <a:ea typeface="宋体" panose="02010600030101010101" pitchFamily="2" charset="-122"/>
              </a:rPr>
              <a:t>{ E.val=E’.syn }</a:t>
            </a:r>
          </a:p>
          <a:p>
            <a:r>
              <a:rPr lang="en-US" altLang="zh-CN" sz="1800" smtClean="0">
                <a:ea typeface="宋体" panose="02010600030101010101" pitchFamily="2" charset="-122"/>
              </a:rPr>
              <a:t>→ F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T’ </a:t>
            </a:r>
            <a:r>
              <a:rPr lang="en-US" altLang="zh-CN" sz="1800" smtClean="0">
                <a:solidFill>
                  <a:schemeClr val="accent2"/>
                </a:solidFill>
                <a:ea typeface="宋体" panose="02010600030101010101" pitchFamily="2" charset="-122"/>
              </a:rPr>
              <a:t>{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E’ </a:t>
            </a:r>
            <a:r>
              <a:rPr lang="en-US" altLang="zh-CN" sz="1800" smtClean="0">
                <a:solidFill>
                  <a:schemeClr val="accent2"/>
                </a:solidFill>
                <a:ea typeface="宋体" panose="02010600030101010101" pitchFamily="2" charset="-122"/>
              </a:rPr>
              <a:t>{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T’ </a:t>
            </a:r>
            <a:r>
              <a:rPr lang="en-US" altLang="zh-CN" sz="1800" smtClean="0">
                <a:solidFill>
                  <a:schemeClr val="accent2"/>
                </a:solidFill>
                <a:ea typeface="宋体" panose="02010600030101010101" pitchFamily="2" charset="-122"/>
              </a:rPr>
              <a:t>{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E’ </a:t>
            </a:r>
            <a:r>
              <a:rPr lang="en-US" altLang="zh-CN" sz="1800" smtClean="0">
                <a:solidFill>
                  <a:schemeClr val="accent2"/>
                </a:solidFill>
                <a:ea typeface="宋体" panose="02010600030101010101" pitchFamily="2" charset="-122"/>
              </a:rPr>
              <a:t>{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E’ </a:t>
            </a:r>
            <a:r>
              <a:rPr lang="en-US" altLang="zh-CN" sz="1800" smtClean="0">
                <a:solidFill>
                  <a:schemeClr val="accent2"/>
                </a:solidFill>
                <a:ea typeface="宋体" panose="02010600030101010101" pitchFamily="2" charset="-122"/>
              </a:rPr>
              <a:t>{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 T </a:t>
            </a:r>
            <a:r>
              <a:rPr lang="en-US" altLang="zh-CN" sz="1800" smtClean="0">
                <a:solidFill>
                  <a:schemeClr val="accent2"/>
                </a:solidFill>
                <a:ea typeface="宋体" panose="02010600030101010101" pitchFamily="2" charset="-122"/>
              </a:rPr>
              <a:t>{ E’1.in=E’.in-T.val  }</a:t>
            </a:r>
            <a:r>
              <a:rPr lang="en-US" altLang="zh-CN" sz="1800" smtClean="0">
                <a:ea typeface="宋体" panose="02010600030101010101" pitchFamily="2" charset="-122"/>
              </a:rPr>
              <a:t> E’1 </a:t>
            </a:r>
            <a:r>
              <a:rPr lang="en-US" altLang="zh-CN" sz="1800" smtClean="0">
                <a:solidFill>
                  <a:schemeClr val="accent2"/>
                </a:solidFill>
                <a:ea typeface="宋体" panose="02010600030101010101" pitchFamily="2" charset="-122"/>
              </a:rPr>
              <a:t>{ E’.syn = E’1.syn}{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 F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T’ </a:t>
            </a:r>
            <a:r>
              <a:rPr lang="en-US" altLang="zh-CN" sz="1800" smtClean="0">
                <a:solidFill>
                  <a:schemeClr val="accent2"/>
                </a:solidFill>
                <a:ea typeface="宋体" panose="02010600030101010101" pitchFamily="2" charset="-122"/>
              </a:rPr>
              <a:t>{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E’1.in=E’.in-T.val  }</a:t>
            </a:r>
            <a:r>
              <a:rPr lang="en-US" altLang="zh-CN" sz="1800" smtClean="0">
                <a:ea typeface="宋体" panose="02010600030101010101" pitchFamily="2" charset="-122"/>
              </a:rPr>
              <a:t> E’1 </a:t>
            </a:r>
            <a:r>
              <a:rPr lang="en-US" altLang="zh-CN" sz="1800" smtClean="0">
                <a:solidFill>
                  <a:schemeClr val="accent2"/>
                </a:solidFill>
                <a:ea typeface="宋体" panose="02010600030101010101" pitchFamily="2" charset="-122"/>
              </a:rPr>
              <a:t>{ E’.syn = E’1.syn}{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T’ </a:t>
            </a:r>
            <a:r>
              <a:rPr lang="en-US" altLang="zh-CN" sz="1800" smtClean="0">
                <a:solidFill>
                  <a:schemeClr val="accent2"/>
                </a:solidFill>
                <a:ea typeface="宋体" panose="02010600030101010101" pitchFamily="2" charset="-122"/>
              </a:rPr>
              <a:t>{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E’1.in=E’.in-T.val  }</a:t>
            </a:r>
            <a:r>
              <a:rPr lang="en-US" altLang="zh-CN" sz="1800" smtClean="0">
                <a:ea typeface="宋体" panose="02010600030101010101" pitchFamily="2" charset="-122"/>
              </a:rPr>
              <a:t> E’1 </a:t>
            </a:r>
            <a:r>
              <a:rPr lang="en-US" altLang="zh-CN" sz="1800" smtClean="0">
                <a:solidFill>
                  <a:schemeClr val="accent2"/>
                </a:solidFill>
                <a:ea typeface="宋体" panose="02010600030101010101" pitchFamily="2" charset="-122"/>
              </a:rPr>
              <a:t>{ E’.syn = E’1.syn}{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E’.in=T.val }</a:t>
            </a:r>
            <a:r>
              <a:rPr lang="en-US" altLang="zh-CN" sz="1800" smtClean="0">
                <a:ea typeface="宋体" panose="02010600030101010101" pitchFamily="2" charset="-122"/>
              </a:rPr>
              <a:t> -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E’1.in=E’.in-T.val  }</a:t>
            </a:r>
            <a:r>
              <a:rPr lang="en-US" altLang="zh-CN" sz="1800" smtClean="0">
                <a:ea typeface="宋体" panose="02010600030101010101" pitchFamily="2" charset="-122"/>
              </a:rPr>
              <a:t> E’1 </a:t>
            </a:r>
            <a:r>
              <a:rPr lang="en-US" altLang="zh-CN" sz="1800" smtClean="0">
                <a:solidFill>
                  <a:schemeClr val="accent2"/>
                </a:solidFill>
                <a:ea typeface="宋体" panose="02010600030101010101" pitchFamily="2" charset="-122"/>
              </a:rPr>
              <a:t>{ E’.syn = E’1.syn}{ E.val=E’.syn }</a:t>
            </a:r>
            <a:endParaRPr lang="zh-CN" altLang="en-US" sz="1800" smtClean="0">
              <a:solidFill>
                <a:schemeClr val="accent2"/>
              </a:solidFill>
              <a:ea typeface="宋体" panose="02010600030101010101" pitchFamily="2" charset="-122"/>
            </a:endParaRPr>
          </a:p>
          <a:p>
            <a:r>
              <a:rPr lang="en-US" altLang="zh-CN" sz="1800" smtClean="0">
                <a:ea typeface="宋体" panose="02010600030101010101" pitchFamily="2" charset="-122"/>
              </a:rPr>
              <a:t>→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T.val=T’.syn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a:t>
            </a:r>
            <a:r>
              <a:rPr lang="en-US" altLang="zh-CN" sz="1800" smtClean="0">
                <a:solidFill>
                  <a:srgbClr val="FF0000"/>
                </a:solidFill>
                <a:ea typeface="宋体" panose="02010600030101010101" pitchFamily="2" charset="-122"/>
              </a:rPr>
              <a:t>E’.in=T.val </a:t>
            </a:r>
            <a:r>
              <a:rPr lang="en-US" altLang="zh-CN" sz="1800" smtClean="0">
                <a:solidFill>
                  <a:schemeClr val="accent2"/>
                </a:solidFill>
                <a:ea typeface="宋体" panose="02010600030101010101" pitchFamily="2" charset="-122"/>
              </a:rPr>
              <a:t>}</a:t>
            </a:r>
            <a:r>
              <a:rPr lang="en-US" altLang="zh-CN" sz="1800" smtClean="0">
                <a:ea typeface="宋体" panose="02010600030101010101" pitchFamily="2" charset="-122"/>
              </a:rPr>
              <a:t> - </a:t>
            </a:r>
            <a:r>
              <a:rPr lang="en-US" altLang="zh-CN" sz="1800" b="1" smtClean="0">
                <a:ea typeface="宋体" panose="02010600030101010101" pitchFamily="2" charset="-122"/>
              </a:rPr>
              <a:t>digit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F.val = </a:t>
            </a:r>
            <a:r>
              <a:rPr lang="en-US" altLang="zh-CN" sz="1800" b="1" smtClean="0">
                <a:solidFill>
                  <a:schemeClr val="accent2"/>
                </a:solidFill>
                <a:ea typeface="宋体" panose="02010600030101010101" pitchFamily="2" charset="-122"/>
              </a:rPr>
              <a:t>digit</a:t>
            </a:r>
            <a:r>
              <a:rPr lang="en-US" altLang="zh-CN" sz="1800" smtClean="0">
                <a:solidFill>
                  <a:schemeClr val="accent2"/>
                </a:solidFill>
                <a:ea typeface="宋体" panose="02010600030101010101" pitchFamily="2" charset="-122"/>
              </a:rPr>
              <a:t>.lexval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T’.in=F.val }</a:t>
            </a:r>
            <a:r>
              <a:rPr lang="en-US" altLang="zh-CN" sz="1800" smtClean="0">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T’.syn = T’.in }{ </a:t>
            </a:r>
            <a:r>
              <a:rPr lang="en-US" altLang="zh-CN" sz="1800" smtClean="0">
                <a:solidFill>
                  <a:srgbClr val="FF0000"/>
                </a:solidFill>
                <a:ea typeface="宋体" panose="02010600030101010101" pitchFamily="2" charset="-122"/>
              </a:rPr>
              <a:t>T.val=T’.syn </a:t>
            </a:r>
            <a:r>
              <a:rPr lang="en-US" altLang="zh-CN" sz="1800" smtClean="0">
                <a:solidFill>
                  <a:schemeClr val="accent2"/>
                </a:solidFill>
                <a:ea typeface="宋体" panose="02010600030101010101" pitchFamily="2" charset="-12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a:t>
            </a:r>
            <a:r>
              <a:rPr lang="en-US" altLang="zh-CN" sz="1800" smtClean="0">
                <a:solidFill>
                  <a:srgbClr val="FF0000"/>
                </a:solidFill>
                <a:ea typeface="宋体" panose="02010600030101010101" pitchFamily="2" charset="-122"/>
              </a:rPr>
              <a:t>E’1.in=E’.in-T.val  </a:t>
            </a:r>
            <a:r>
              <a:rPr lang="en-US" altLang="zh-CN" sz="1800" smtClean="0">
                <a:solidFill>
                  <a:schemeClr val="accent2"/>
                </a:solidFill>
                <a:ea typeface="宋体" panose="02010600030101010101" pitchFamily="2" charset="-122"/>
              </a:rPr>
              <a:t>} </a:t>
            </a:r>
            <a:r>
              <a:rPr lang="en-US" altLang="zh-CN" sz="1800" smtClean="0">
                <a:ea typeface="宋体" panose="02010600030101010101" pitchFamily="2" charset="-122"/>
                <a:sym typeface="Symbol" panose="05050102010706020507" pitchFamily="18" charset="2"/>
              </a:rPr>
              <a:t></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E’.syn = E’.in }</a:t>
            </a:r>
            <a:r>
              <a:rPr lang="en-US" altLang="zh-CN" sz="1800" smtClean="0">
                <a:ea typeface="宋体" panose="02010600030101010101" pitchFamily="2" charset="-122"/>
              </a:rPr>
              <a:t> </a:t>
            </a:r>
            <a:r>
              <a:rPr lang="en-US" altLang="zh-CN" sz="1800" smtClean="0">
                <a:solidFill>
                  <a:schemeClr val="accent2"/>
                </a:solidFill>
                <a:ea typeface="宋体" panose="02010600030101010101" pitchFamily="2" charset="-122"/>
              </a:rPr>
              <a:t>{ E’.syn = E’1.syn}{ E.val=E’.syn }</a:t>
            </a:r>
            <a:endParaRPr lang="zh-CN" altLang="en-US" sz="1800" smtClean="0">
              <a:solidFill>
                <a:schemeClr val="accent2"/>
              </a:solidFill>
              <a:ea typeface="宋体" panose="02010600030101010101" pitchFamily="2" charset="-122"/>
            </a:endParaRPr>
          </a:p>
        </p:txBody>
      </p:sp>
      <p:sp>
        <p:nvSpPr>
          <p:cNvPr id="52230" name="Rectangle 5"/>
          <p:cNvSpPr>
            <a:spLocks noChangeArrowheads="1"/>
          </p:cNvSpPr>
          <p:nvPr/>
        </p:nvSpPr>
        <p:spPr bwMode="auto">
          <a:xfrm>
            <a:off x="5410200" y="0"/>
            <a:ext cx="4006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sz="1800" b="0">
                <a:solidFill>
                  <a:srgbClr val="CC0000"/>
                </a:solidFill>
                <a:ea typeface="宋体" panose="02010600030101010101" pitchFamily="2" charset="-122"/>
              </a:rPr>
              <a:t>Left-most dereivation with semantic rules</a:t>
            </a:r>
          </a:p>
          <a:p>
            <a:pPr>
              <a:spcBef>
                <a:spcPct val="0"/>
              </a:spcBef>
              <a:buFontTx/>
              <a:buNone/>
            </a:pPr>
            <a:r>
              <a:rPr lang="en-US" altLang="zh-CN" sz="1800" b="0">
                <a:solidFill>
                  <a:srgbClr val="CC0000"/>
                </a:solidFill>
                <a:ea typeface="宋体" panose="02010600030101010101" pitchFamily="2" charset="-122"/>
              </a:rPr>
              <a:t>Cf. p.303  fig.5.26 expression 9-5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2067">
                                            <p:txEl>
                                              <p:pRg st="0" end="0"/>
                                            </p:txEl>
                                          </p:spTgt>
                                        </p:tgtEl>
                                        <p:attrNameLst>
                                          <p:attrName>style.visibility</p:attrName>
                                        </p:attrNameLst>
                                      </p:cBhvr>
                                      <p:to>
                                        <p:strVal val="visible"/>
                                      </p:to>
                                    </p:set>
                                    <p:animEffect transition="in" filter="wipe(left)">
                                      <p:cBhvr>
                                        <p:cTn id="7" dur="1000"/>
                                        <p:tgtEl>
                                          <p:spTgt spid="472067">
                                            <p:txEl>
                                              <p:pRg st="0" end="0"/>
                                            </p:txEl>
                                          </p:spTgt>
                                        </p:tgtEl>
                                      </p:cBhvr>
                                    </p:animEffect>
                                  </p:childTnLst>
                                </p:cTn>
                              </p:par>
                            </p:childTnLst>
                          </p:cTn>
                        </p:par>
                        <p:par>
                          <p:cTn id="8" fill="hold" nodeType="afterGroup">
                            <p:stCondLst>
                              <p:cond delay="1000"/>
                            </p:stCondLst>
                            <p:childTnLst>
                              <p:par>
                                <p:cTn id="9" presetID="22" presetClass="entr" presetSubtype="2" fill="hold" nodeType="afterEffect">
                                  <p:stCondLst>
                                    <p:cond delay="2000"/>
                                  </p:stCondLst>
                                  <p:childTnLst>
                                    <p:set>
                                      <p:cBhvr>
                                        <p:cTn id="10" dur="1" fill="hold">
                                          <p:stCondLst>
                                            <p:cond delay="0"/>
                                          </p:stCondLst>
                                        </p:cTn>
                                        <p:tgtEl>
                                          <p:spTgt spid="472067">
                                            <p:txEl>
                                              <p:pRg st="1" end="1"/>
                                            </p:txEl>
                                          </p:spTgt>
                                        </p:tgtEl>
                                        <p:attrNameLst>
                                          <p:attrName>style.visibility</p:attrName>
                                        </p:attrNameLst>
                                      </p:cBhvr>
                                      <p:to>
                                        <p:strVal val="visible"/>
                                      </p:to>
                                    </p:set>
                                    <p:animEffect transition="in" filter="wipe(right)">
                                      <p:cBhvr>
                                        <p:cTn id="11" dur="3000"/>
                                        <p:tgtEl>
                                          <p:spTgt spid="472067">
                                            <p:txEl>
                                              <p:pRg st="1" end="1"/>
                                            </p:txEl>
                                          </p:spTgt>
                                        </p:tgtEl>
                                      </p:cBhvr>
                                    </p:animEffect>
                                  </p:childTnLst>
                                </p:cTn>
                              </p:par>
                            </p:childTnLst>
                          </p:cTn>
                        </p:par>
                        <p:par>
                          <p:cTn id="12" fill="hold" nodeType="afterGroup">
                            <p:stCondLst>
                              <p:cond delay="6000"/>
                            </p:stCondLst>
                            <p:childTnLst>
                              <p:par>
                                <p:cTn id="13" presetID="22" presetClass="entr" presetSubtype="8" fill="hold" nodeType="afterEffect">
                                  <p:stCondLst>
                                    <p:cond delay="2000"/>
                                  </p:stCondLst>
                                  <p:childTnLst>
                                    <p:set>
                                      <p:cBhvr>
                                        <p:cTn id="14" dur="1" fill="hold">
                                          <p:stCondLst>
                                            <p:cond delay="0"/>
                                          </p:stCondLst>
                                        </p:cTn>
                                        <p:tgtEl>
                                          <p:spTgt spid="472067">
                                            <p:txEl>
                                              <p:pRg st="2" end="2"/>
                                            </p:txEl>
                                          </p:spTgt>
                                        </p:tgtEl>
                                        <p:attrNameLst>
                                          <p:attrName>style.visibility</p:attrName>
                                        </p:attrNameLst>
                                      </p:cBhvr>
                                      <p:to>
                                        <p:strVal val="visible"/>
                                      </p:to>
                                    </p:set>
                                    <p:animEffect transition="in" filter="wipe(left)">
                                      <p:cBhvr>
                                        <p:cTn id="15" dur="3000"/>
                                        <p:tgtEl>
                                          <p:spTgt spid="472067">
                                            <p:txEl>
                                              <p:pRg st="2" end="2"/>
                                            </p:txEl>
                                          </p:spTgt>
                                        </p:tgtEl>
                                      </p:cBhvr>
                                    </p:animEffect>
                                  </p:childTnLst>
                                </p:cTn>
                              </p:par>
                            </p:childTnLst>
                          </p:cTn>
                        </p:par>
                        <p:par>
                          <p:cTn id="16" fill="hold" nodeType="afterGroup">
                            <p:stCondLst>
                              <p:cond delay="11000"/>
                            </p:stCondLst>
                            <p:childTnLst>
                              <p:par>
                                <p:cTn id="17" presetID="22" presetClass="entr" presetSubtype="2" fill="hold" nodeType="afterEffect">
                                  <p:stCondLst>
                                    <p:cond delay="2000"/>
                                  </p:stCondLst>
                                  <p:childTnLst>
                                    <p:set>
                                      <p:cBhvr>
                                        <p:cTn id="18" dur="1" fill="hold">
                                          <p:stCondLst>
                                            <p:cond delay="0"/>
                                          </p:stCondLst>
                                        </p:cTn>
                                        <p:tgtEl>
                                          <p:spTgt spid="472067">
                                            <p:txEl>
                                              <p:pRg st="3" end="3"/>
                                            </p:txEl>
                                          </p:spTgt>
                                        </p:tgtEl>
                                        <p:attrNameLst>
                                          <p:attrName>style.visibility</p:attrName>
                                        </p:attrNameLst>
                                      </p:cBhvr>
                                      <p:to>
                                        <p:strVal val="visible"/>
                                      </p:to>
                                    </p:set>
                                    <p:animEffect transition="in" filter="wipe(right)">
                                      <p:cBhvr>
                                        <p:cTn id="19" dur="3000"/>
                                        <p:tgtEl>
                                          <p:spTgt spid="472067">
                                            <p:txEl>
                                              <p:pRg st="3" end="3"/>
                                            </p:txEl>
                                          </p:spTgt>
                                        </p:tgtEl>
                                      </p:cBhvr>
                                    </p:animEffect>
                                  </p:childTnLst>
                                </p:cTn>
                              </p:par>
                            </p:childTnLst>
                          </p:cTn>
                        </p:par>
                        <p:par>
                          <p:cTn id="20" fill="hold" nodeType="afterGroup">
                            <p:stCondLst>
                              <p:cond delay="16000"/>
                            </p:stCondLst>
                            <p:childTnLst>
                              <p:par>
                                <p:cTn id="21" presetID="22" presetClass="entr" presetSubtype="8" fill="hold" nodeType="afterEffect">
                                  <p:stCondLst>
                                    <p:cond delay="2000"/>
                                  </p:stCondLst>
                                  <p:childTnLst>
                                    <p:set>
                                      <p:cBhvr>
                                        <p:cTn id="22" dur="1" fill="hold">
                                          <p:stCondLst>
                                            <p:cond delay="0"/>
                                          </p:stCondLst>
                                        </p:cTn>
                                        <p:tgtEl>
                                          <p:spTgt spid="472067">
                                            <p:txEl>
                                              <p:pRg st="4" end="4"/>
                                            </p:txEl>
                                          </p:spTgt>
                                        </p:tgtEl>
                                        <p:attrNameLst>
                                          <p:attrName>style.visibility</p:attrName>
                                        </p:attrNameLst>
                                      </p:cBhvr>
                                      <p:to>
                                        <p:strVal val="visible"/>
                                      </p:to>
                                    </p:set>
                                    <p:animEffect transition="in" filter="wipe(left)">
                                      <p:cBhvr>
                                        <p:cTn id="23" dur="3000"/>
                                        <p:tgtEl>
                                          <p:spTgt spid="472067">
                                            <p:txEl>
                                              <p:pRg st="4" end="4"/>
                                            </p:txEl>
                                          </p:spTgt>
                                        </p:tgtEl>
                                      </p:cBhvr>
                                    </p:animEffect>
                                  </p:childTnLst>
                                </p:cTn>
                              </p:par>
                            </p:childTnLst>
                          </p:cTn>
                        </p:par>
                        <p:par>
                          <p:cTn id="24" fill="hold" nodeType="afterGroup">
                            <p:stCondLst>
                              <p:cond delay="21000"/>
                            </p:stCondLst>
                            <p:childTnLst>
                              <p:par>
                                <p:cTn id="25" presetID="22" presetClass="entr" presetSubtype="2" fill="hold" nodeType="afterEffect">
                                  <p:stCondLst>
                                    <p:cond delay="2000"/>
                                  </p:stCondLst>
                                  <p:childTnLst>
                                    <p:set>
                                      <p:cBhvr>
                                        <p:cTn id="26" dur="1" fill="hold">
                                          <p:stCondLst>
                                            <p:cond delay="0"/>
                                          </p:stCondLst>
                                        </p:cTn>
                                        <p:tgtEl>
                                          <p:spTgt spid="472067">
                                            <p:txEl>
                                              <p:pRg st="5" end="5"/>
                                            </p:txEl>
                                          </p:spTgt>
                                        </p:tgtEl>
                                        <p:attrNameLst>
                                          <p:attrName>style.visibility</p:attrName>
                                        </p:attrNameLst>
                                      </p:cBhvr>
                                      <p:to>
                                        <p:strVal val="visible"/>
                                      </p:to>
                                    </p:set>
                                    <p:animEffect transition="in" filter="wipe(right)">
                                      <p:cBhvr>
                                        <p:cTn id="27" dur="3000"/>
                                        <p:tgtEl>
                                          <p:spTgt spid="472067">
                                            <p:txEl>
                                              <p:pRg st="5" end="5"/>
                                            </p:txEl>
                                          </p:spTgt>
                                        </p:tgtEl>
                                      </p:cBhvr>
                                    </p:animEffect>
                                  </p:childTnLst>
                                </p:cTn>
                              </p:par>
                            </p:childTnLst>
                          </p:cTn>
                        </p:par>
                        <p:par>
                          <p:cTn id="28" fill="hold" nodeType="afterGroup">
                            <p:stCondLst>
                              <p:cond delay="26000"/>
                            </p:stCondLst>
                            <p:childTnLst>
                              <p:par>
                                <p:cTn id="29" presetID="22" presetClass="entr" presetSubtype="8" fill="hold" nodeType="afterEffect">
                                  <p:stCondLst>
                                    <p:cond delay="2000"/>
                                  </p:stCondLst>
                                  <p:childTnLst>
                                    <p:set>
                                      <p:cBhvr>
                                        <p:cTn id="30" dur="1" fill="hold">
                                          <p:stCondLst>
                                            <p:cond delay="0"/>
                                          </p:stCondLst>
                                        </p:cTn>
                                        <p:tgtEl>
                                          <p:spTgt spid="472067">
                                            <p:txEl>
                                              <p:pRg st="6" end="6"/>
                                            </p:txEl>
                                          </p:spTgt>
                                        </p:tgtEl>
                                        <p:attrNameLst>
                                          <p:attrName>style.visibility</p:attrName>
                                        </p:attrNameLst>
                                      </p:cBhvr>
                                      <p:to>
                                        <p:strVal val="visible"/>
                                      </p:to>
                                    </p:set>
                                    <p:animEffect transition="in" filter="wipe(left)">
                                      <p:cBhvr>
                                        <p:cTn id="31" dur="3000"/>
                                        <p:tgtEl>
                                          <p:spTgt spid="472067">
                                            <p:txEl>
                                              <p:pRg st="6" end="6"/>
                                            </p:txEl>
                                          </p:spTgt>
                                        </p:tgtEl>
                                      </p:cBhvr>
                                    </p:animEffect>
                                  </p:childTnLst>
                                </p:cTn>
                              </p:par>
                            </p:childTnLst>
                          </p:cTn>
                        </p:par>
                        <p:par>
                          <p:cTn id="32" fill="hold" nodeType="afterGroup">
                            <p:stCondLst>
                              <p:cond delay="31000"/>
                            </p:stCondLst>
                            <p:childTnLst>
                              <p:par>
                                <p:cTn id="33" presetID="22" presetClass="entr" presetSubtype="2" fill="hold" nodeType="afterEffect">
                                  <p:stCondLst>
                                    <p:cond delay="2000"/>
                                  </p:stCondLst>
                                  <p:childTnLst>
                                    <p:set>
                                      <p:cBhvr>
                                        <p:cTn id="34" dur="1" fill="hold">
                                          <p:stCondLst>
                                            <p:cond delay="0"/>
                                          </p:stCondLst>
                                        </p:cTn>
                                        <p:tgtEl>
                                          <p:spTgt spid="472067">
                                            <p:txEl>
                                              <p:pRg st="7" end="7"/>
                                            </p:txEl>
                                          </p:spTgt>
                                        </p:tgtEl>
                                        <p:attrNameLst>
                                          <p:attrName>style.visibility</p:attrName>
                                        </p:attrNameLst>
                                      </p:cBhvr>
                                      <p:to>
                                        <p:strVal val="visible"/>
                                      </p:to>
                                    </p:set>
                                    <p:animEffect transition="in" filter="wipe(right)">
                                      <p:cBhvr>
                                        <p:cTn id="35" dur="3000"/>
                                        <p:tgtEl>
                                          <p:spTgt spid="472067">
                                            <p:txEl>
                                              <p:pRg st="7" end="7"/>
                                            </p:txEl>
                                          </p:spTgt>
                                        </p:tgtEl>
                                      </p:cBhvr>
                                    </p:animEffect>
                                  </p:childTnLst>
                                </p:cTn>
                              </p:par>
                            </p:childTnLst>
                          </p:cTn>
                        </p:par>
                        <p:par>
                          <p:cTn id="36" fill="hold" nodeType="afterGroup">
                            <p:stCondLst>
                              <p:cond delay="36000"/>
                            </p:stCondLst>
                            <p:childTnLst>
                              <p:par>
                                <p:cTn id="37" presetID="22" presetClass="entr" presetSubtype="8" fill="hold" nodeType="afterEffect">
                                  <p:stCondLst>
                                    <p:cond delay="2000"/>
                                  </p:stCondLst>
                                  <p:childTnLst>
                                    <p:set>
                                      <p:cBhvr>
                                        <p:cTn id="38" dur="1" fill="hold">
                                          <p:stCondLst>
                                            <p:cond delay="0"/>
                                          </p:stCondLst>
                                        </p:cTn>
                                        <p:tgtEl>
                                          <p:spTgt spid="472067">
                                            <p:txEl>
                                              <p:pRg st="8" end="8"/>
                                            </p:txEl>
                                          </p:spTgt>
                                        </p:tgtEl>
                                        <p:attrNameLst>
                                          <p:attrName>style.visibility</p:attrName>
                                        </p:attrNameLst>
                                      </p:cBhvr>
                                      <p:to>
                                        <p:strVal val="visible"/>
                                      </p:to>
                                    </p:set>
                                    <p:animEffect transition="in" filter="wipe(left)">
                                      <p:cBhvr>
                                        <p:cTn id="39" dur="3000"/>
                                        <p:tgtEl>
                                          <p:spTgt spid="4720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325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325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0864B24-C104-4FF2-ABC3-4C91D01456DE}" type="slidenum">
              <a:rPr lang="zh-CN" altLang="en-US" sz="800"/>
              <a:pPr>
                <a:spcBef>
                  <a:spcPct val="0"/>
                </a:spcBef>
                <a:buFontTx/>
                <a:buNone/>
              </a:pPr>
              <a:t>51</a:t>
            </a:fld>
            <a:endParaRPr lang="en-US" altLang="zh-CN" sz="800"/>
          </a:p>
        </p:txBody>
      </p:sp>
      <p:sp>
        <p:nvSpPr>
          <p:cNvPr id="53253" name="Rectangle 2"/>
          <p:cNvSpPr>
            <a:spLocks noGrp="1" noChangeArrowheads="1"/>
          </p:cNvSpPr>
          <p:nvPr>
            <p:ph type="title"/>
          </p:nvPr>
        </p:nvSpPr>
        <p:spPr/>
        <p:txBody>
          <a:bodyPr/>
          <a:lstStyle/>
          <a:p>
            <a:r>
              <a:rPr lang="en-US" altLang="zh-CN" smtClean="0">
                <a:ea typeface="宋体" panose="02010600030101010101" pitchFamily="2" charset="-122"/>
              </a:rPr>
              <a:t>Eliminating Left Recursion (in general)</a:t>
            </a:r>
          </a:p>
        </p:txBody>
      </p:sp>
      <p:sp>
        <p:nvSpPr>
          <p:cNvPr id="53254" name="Rectangle 3"/>
          <p:cNvSpPr>
            <a:spLocks noGrp="1" noChangeArrowheads="1"/>
          </p:cNvSpPr>
          <p:nvPr>
            <p:ph type="body" idx="1"/>
          </p:nvPr>
        </p:nvSpPr>
        <p:spPr/>
        <p:txBody>
          <a:bodyPr/>
          <a:lstStyle/>
          <a:p>
            <a:pPr>
              <a:buFontTx/>
              <a:buNone/>
            </a:pPr>
            <a:r>
              <a:rPr lang="en-US" altLang="zh-CN" smtClean="0">
                <a:ea typeface="宋体" panose="02010600030101010101" pitchFamily="2" charset="-122"/>
                <a:cs typeface="Times New Roman" panose="02020603050405020304" pitchFamily="18" charset="0"/>
              </a:rPr>
              <a:t>A → A</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Y </a:t>
            </a:r>
            <a:r>
              <a:rPr lang="en-US" altLang="zh-CN" smtClean="0">
                <a:solidFill>
                  <a:schemeClr val="accent2"/>
                </a:solidFill>
                <a:ea typeface="宋体" panose="02010600030101010101" pitchFamily="2" charset="-122"/>
                <a:cs typeface="Times New Roman" panose="02020603050405020304" pitchFamily="18" charset="0"/>
              </a:rPr>
              <a:t>{ A.a = g(A</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.a,Y.y) }	</a:t>
            </a:r>
            <a:r>
              <a:rPr lang="en-US" altLang="zh-CN" smtClean="0">
                <a:solidFill>
                  <a:srgbClr val="CC0000"/>
                </a:solidFill>
                <a:ea typeface="宋体" panose="02010600030101010101" pitchFamily="2" charset="-122"/>
                <a:cs typeface="Times New Roman" panose="02020603050405020304" pitchFamily="18" charset="0"/>
              </a:rPr>
              <a:t>a left recursive grammar with </a:t>
            </a:r>
          </a:p>
          <a:p>
            <a:pPr>
              <a:buFontTx/>
              <a:buNone/>
            </a:pPr>
            <a:r>
              <a:rPr lang="en-US" altLang="zh-CN" smtClean="0">
                <a:ea typeface="宋体" panose="02010600030101010101" pitchFamily="2" charset="-122"/>
                <a:cs typeface="Times New Roman" panose="02020603050405020304" pitchFamily="18" charset="0"/>
              </a:rPr>
              <a:t>A → X  </a:t>
            </a:r>
            <a:r>
              <a:rPr lang="en-US" altLang="zh-CN" smtClean="0">
                <a:solidFill>
                  <a:schemeClr val="accent2"/>
                </a:solidFill>
                <a:ea typeface="宋体" panose="02010600030101010101" pitchFamily="2" charset="-122"/>
                <a:cs typeface="Times New Roman" panose="02020603050405020304" pitchFamily="18" charset="0"/>
              </a:rPr>
              <a:t>{ A.a=f(X.x) }		</a:t>
            </a:r>
            <a:r>
              <a:rPr lang="en-US" altLang="zh-CN" smtClean="0">
                <a:solidFill>
                  <a:srgbClr val="CC0000"/>
                </a:solidFill>
                <a:ea typeface="宋体" panose="02010600030101010101" pitchFamily="2" charset="-122"/>
                <a:cs typeface="Times New Roman" panose="02020603050405020304" pitchFamily="18" charset="0"/>
              </a:rPr>
              <a:t>synthesized attributes (a,y,x).</a:t>
            </a:r>
            <a:endParaRPr lang="en-US" altLang="zh-CN" smtClean="0">
              <a:solidFill>
                <a:schemeClr val="accent2"/>
              </a:solidFill>
              <a:ea typeface="宋体" panose="02010600030101010101" pitchFamily="2" charset="-122"/>
              <a:cs typeface="Times New Roman" panose="02020603050405020304" pitchFamily="18" charset="0"/>
            </a:endParaRPr>
          </a:p>
          <a:p>
            <a:pPr>
              <a:buFontTx/>
              <a:buNone/>
            </a:pPr>
            <a:endParaRPr lang="en-US" altLang="zh-CN" smtClean="0">
              <a:ea typeface="宋体" panose="02010600030101010101" pitchFamily="2" charset="-122"/>
              <a:cs typeface="Times New Roman" panose="02020603050405020304" pitchFamily="18" charset="0"/>
            </a:endParaRPr>
          </a:p>
          <a:p>
            <a:pPr>
              <a:buFontTx/>
              <a:buNone/>
            </a:pPr>
            <a:r>
              <a:rPr lang="en-US" altLang="zh-CN" sz="4800" smtClean="0">
                <a:ea typeface="宋体" panose="02010600030101010101" pitchFamily="2" charset="-122"/>
                <a:cs typeface="Times New Roman" panose="02020603050405020304" pitchFamily="18" charset="0"/>
                <a:sym typeface="Symbol" panose="05050102010706020507" pitchFamily="18" charset="2"/>
              </a:rPr>
              <a:t>	 </a:t>
            </a:r>
            <a:r>
              <a:rPr lang="en-US" altLang="zh-CN" smtClean="0">
                <a:ea typeface="宋体" panose="02010600030101010101" pitchFamily="2" charset="-122"/>
                <a:cs typeface="Times New Roman" panose="02020603050405020304" pitchFamily="18" charset="0"/>
                <a:sym typeface="Symbol" panose="05050102010706020507" pitchFamily="18" charset="2"/>
              </a:rPr>
              <a:t> eliminate left recursion	</a:t>
            </a:r>
          </a:p>
          <a:p>
            <a:pPr>
              <a:buFontTx/>
              <a:buNone/>
            </a:pPr>
            <a:r>
              <a:rPr lang="en-US" altLang="zh-CN" smtClean="0">
                <a:ea typeface="宋体" panose="02010600030101010101" pitchFamily="2" charset="-122"/>
                <a:cs typeface="Times New Roman" panose="02020603050405020304" pitchFamily="18" charset="0"/>
                <a:sym typeface="Symbol" panose="05050102010706020507" pitchFamily="18" charset="2"/>
              </a:rPr>
              <a:t> 			inherited attribute of the new non-terminal 	</a:t>
            </a:r>
          </a:p>
          <a:p>
            <a:pPr>
              <a:buFontTx/>
              <a:buNone/>
            </a:pPr>
            <a:r>
              <a:rPr lang="en-US" altLang="zh-CN" smtClean="0">
                <a:ea typeface="宋体" panose="02010600030101010101" pitchFamily="2" charset="-122"/>
                <a:cs typeface="Times New Roman" panose="02020603050405020304" pitchFamily="18" charset="0"/>
                <a:sym typeface="Symbol" panose="05050102010706020507" pitchFamily="18" charset="2"/>
              </a:rPr>
              <a:t>				synthesized attribute of the new non-terminal</a:t>
            </a:r>
          </a:p>
          <a:p>
            <a:pPr>
              <a:buFontTx/>
              <a:buNone/>
            </a:pPr>
            <a:endParaRPr lang="en-US" altLang="zh-CN" smtClean="0">
              <a:ea typeface="宋体" panose="02010600030101010101" pitchFamily="2" charset="-122"/>
              <a:cs typeface="Times New Roman" panose="02020603050405020304" pitchFamily="18" charset="0"/>
            </a:endParaRPr>
          </a:p>
          <a:p>
            <a:pPr>
              <a:buFontTx/>
              <a:buNone/>
            </a:pPr>
            <a:r>
              <a:rPr lang="en-US" altLang="zh-CN" smtClean="0">
                <a:ea typeface="宋体" panose="02010600030101010101" pitchFamily="2" charset="-122"/>
                <a:cs typeface="Times New Roman" panose="02020603050405020304" pitchFamily="18" charset="0"/>
              </a:rPr>
              <a:t>A → X </a:t>
            </a:r>
            <a:r>
              <a:rPr lang="en-US" altLang="zh-CN" smtClean="0">
                <a:solidFill>
                  <a:schemeClr val="accent2"/>
                </a:solidFill>
                <a:ea typeface="宋体" panose="02010600030101010101" pitchFamily="2" charset="-122"/>
                <a:cs typeface="Times New Roman" panose="02020603050405020304" pitchFamily="18" charset="0"/>
              </a:rPr>
              <a:t>{ A’.in=f(X.x) }</a:t>
            </a:r>
            <a:r>
              <a:rPr lang="en-US" altLang="zh-CN" smtClean="0">
                <a:ea typeface="宋体" panose="02010600030101010101" pitchFamily="2" charset="-122"/>
                <a:cs typeface="Times New Roman" panose="02020603050405020304" pitchFamily="18" charset="0"/>
              </a:rPr>
              <a:t> A’ </a:t>
            </a:r>
            <a:r>
              <a:rPr lang="en-US" altLang="zh-CN" smtClean="0">
                <a:solidFill>
                  <a:schemeClr val="accent2"/>
                </a:solidFill>
                <a:ea typeface="宋体" panose="02010600030101010101" pitchFamily="2" charset="-122"/>
                <a:cs typeface="Times New Roman" panose="02020603050405020304" pitchFamily="18" charset="0"/>
              </a:rPr>
              <a:t>{ A.a=A’.syn }</a:t>
            </a:r>
            <a:endParaRPr lang="en-US" altLang="zh-CN" smtClean="0">
              <a:ea typeface="宋体" panose="02010600030101010101" pitchFamily="2" charset="-122"/>
              <a:cs typeface="Times New Roman" panose="02020603050405020304" pitchFamily="18" charset="0"/>
            </a:endParaRPr>
          </a:p>
          <a:p>
            <a:pPr>
              <a:buFontTx/>
              <a:buNone/>
            </a:pPr>
            <a:r>
              <a:rPr lang="en-US" altLang="zh-CN" smtClean="0">
                <a:ea typeface="宋体" panose="02010600030101010101" pitchFamily="2" charset="-122"/>
                <a:cs typeface="Times New Roman" panose="02020603050405020304" pitchFamily="18" charset="0"/>
              </a:rPr>
              <a:t>A’ →  Y </a:t>
            </a:r>
            <a:r>
              <a:rPr lang="en-US" altLang="zh-CN" smtClean="0">
                <a:solidFill>
                  <a:schemeClr val="accent2"/>
                </a:solidFill>
                <a:ea typeface="宋体" panose="02010600030101010101" pitchFamily="2" charset="-122"/>
                <a:cs typeface="Times New Roman" panose="02020603050405020304" pitchFamily="18" charset="0"/>
              </a:rPr>
              <a:t>{ A’</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.in=g(A’.in,Y.y)  }</a:t>
            </a:r>
            <a:r>
              <a:rPr lang="en-US" altLang="zh-CN" smtClean="0">
                <a:ea typeface="宋体" panose="02010600030101010101" pitchFamily="2" charset="-122"/>
                <a:cs typeface="Times New Roman" panose="02020603050405020304" pitchFamily="18" charset="0"/>
              </a:rPr>
              <a:t> A’</a:t>
            </a:r>
            <a:r>
              <a:rPr lang="en-US" altLang="zh-CN" baseline="-25000" smtClean="0">
                <a:ea typeface="宋体" panose="02010600030101010101" pitchFamily="2" charset="-122"/>
                <a:cs typeface="Times New Roman" panose="02020603050405020304" pitchFamily="18" charset="0"/>
              </a:rPr>
              <a:t>1</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A’.syn = A’</a:t>
            </a:r>
            <a:r>
              <a:rPr lang="en-US" altLang="zh-CN" baseline="-25000" smtClean="0">
                <a:solidFill>
                  <a:schemeClr val="accent2"/>
                </a:solidFill>
                <a:ea typeface="宋体" panose="02010600030101010101" pitchFamily="2" charset="-122"/>
                <a:cs typeface="Times New Roman" panose="02020603050405020304" pitchFamily="18" charset="0"/>
              </a:rPr>
              <a:t>1</a:t>
            </a:r>
            <a:r>
              <a:rPr lang="en-US" altLang="zh-CN" smtClean="0">
                <a:solidFill>
                  <a:schemeClr val="accent2"/>
                </a:solidFill>
                <a:ea typeface="宋体" panose="02010600030101010101" pitchFamily="2" charset="-122"/>
                <a:cs typeface="Times New Roman" panose="02020603050405020304" pitchFamily="18" charset="0"/>
              </a:rPr>
              <a:t>.syn}</a:t>
            </a:r>
          </a:p>
          <a:p>
            <a:pPr>
              <a:buFontTx/>
              <a:buNone/>
            </a:pPr>
            <a:r>
              <a:rPr lang="en-US" altLang="zh-CN" smtClean="0">
                <a:ea typeface="宋体" panose="02010600030101010101" pitchFamily="2" charset="-122"/>
                <a:cs typeface="Times New Roman" panose="02020603050405020304" pitchFamily="18" charset="0"/>
              </a:rPr>
              <a:t>A’ → </a:t>
            </a:r>
            <a:r>
              <a:rPr lang="en-US" altLang="zh-CN" smtClean="0">
                <a:ea typeface="宋体" panose="02010600030101010101" pitchFamily="2" charset="-122"/>
                <a:cs typeface="Times New Roman" panose="02020603050405020304" pitchFamily="18" charset="0"/>
                <a:sym typeface="Symbol" panose="05050102010706020507" pitchFamily="18" charset="2"/>
              </a:rPr>
              <a:t></a:t>
            </a:r>
            <a:r>
              <a:rPr lang="en-US" altLang="zh-CN" smtClean="0">
                <a:ea typeface="宋体" panose="02010600030101010101" pitchFamily="2" charset="-122"/>
                <a:cs typeface="Times New Roman" panose="02020603050405020304" pitchFamily="18" charset="0"/>
              </a:rPr>
              <a:t>  </a:t>
            </a:r>
            <a:r>
              <a:rPr lang="en-US" altLang="zh-CN" smtClean="0">
                <a:solidFill>
                  <a:schemeClr val="accent2"/>
                </a:solidFill>
                <a:ea typeface="宋体" panose="02010600030101010101" pitchFamily="2" charset="-122"/>
                <a:cs typeface="Times New Roman" panose="02020603050405020304" pitchFamily="18" charset="0"/>
              </a:rPr>
              <a:t>{ A’.syn = A’.in }</a:t>
            </a:r>
            <a:endParaRPr lang="zh-CN" altLang="en-US" smtClean="0">
              <a:ea typeface="宋体" panose="02010600030101010101" pitchFamily="2" charset="-122"/>
              <a:cs typeface="Times New Roman" panose="02020603050405020304" pitchFamily="18" charset="0"/>
            </a:endParaRPr>
          </a:p>
        </p:txBody>
      </p:sp>
      <p:sp>
        <p:nvSpPr>
          <p:cNvPr id="53255" name="Line 4"/>
          <p:cNvSpPr>
            <a:spLocks noChangeShapeType="1"/>
          </p:cNvSpPr>
          <p:nvPr/>
        </p:nvSpPr>
        <p:spPr bwMode="auto">
          <a:xfrm flipH="1">
            <a:off x="2057400" y="3810000"/>
            <a:ext cx="45720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6" name="Line 6"/>
          <p:cNvSpPr>
            <a:spLocks noChangeShapeType="1"/>
          </p:cNvSpPr>
          <p:nvPr/>
        </p:nvSpPr>
        <p:spPr bwMode="auto">
          <a:xfrm>
            <a:off x="3657600" y="4267200"/>
            <a:ext cx="11430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427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427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E9933D00-E22F-484D-8623-582FDFE9DABE}" type="slidenum">
              <a:rPr lang="zh-CN" altLang="en-US" sz="800"/>
              <a:pPr>
                <a:spcBef>
                  <a:spcPct val="0"/>
                </a:spcBef>
                <a:buFontTx/>
                <a:buNone/>
              </a:pPr>
              <a:t>52</a:t>
            </a:fld>
            <a:endParaRPr lang="en-US" altLang="zh-CN" sz="800"/>
          </a:p>
        </p:txBody>
      </p:sp>
      <p:sp>
        <p:nvSpPr>
          <p:cNvPr id="54277" name="Rectangle 2"/>
          <p:cNvSpPr>
            <a:spLocks noGrp="1" noChangeArrowheads="1"/>
          </p:cNvSpPr>
          <p:nvPr>
            <p:ph type="title"/>
          </p:nvPr>
        </p:nvSpPr>
        <p:spPr/>
        <p:txBody>
          <a:bodyPr/>
          <a:lstStyle/>
          <a:p>
            <a:r>
              <a:rPr lang="en-US" altLang="zh-CN" smtClean="0">
                <a:ea typeface="宋体" panose="02010600030101010101" pitchFamily="2" charset="-122"/>
              </a:rPr>
              <a:t>Evaluating attributes</a:t>
            </a:r>
          </a:p>
        </p:txBody>
      </p:sp>
      <p:sp>
        <p:nvSpPr>
          <p:cNvPr id="54278" name="Rectangle 3"/>
          <p:cNvSpPr>
            <a:spLocks noGrp="1" noChangeArrowheads="1"/>
          </p:cNvSpPr>
          <p:nvPr>
            <p:ph type="body" idx="1"/>
          </p:nvPr>
        </p:nvSpPr>
        <p:spPr>
          <a:noFill/>
          <a:extLst>
            <a:ext uri="{91240B29-F687-4F45-9708-019B960494DF}">
              <a14:hiddenLine xmlns:a14="http://schemas.microsoft.com/office/drawing/2010/main" w="9525">
                <a:solidFill>
                  <a:schemeClr val="bg1"/>
                </a:solidFill>
                <a:miter lim="800000"/>
                <a:headEnd/>
                <a:tailEnd/>
              </a14:hiddenLine>
            </a:ext>
          </a:extLst>
        </p:spPr>
        <p:txBody>
          <a:bodyPr/>
          <a:lstStyle/>
          <a:p>
            <a:pPr>
              <a:buFontTx/>
              <a:buNone/>
            </a:pPr>
            <a:r>
              <a:rPr lang="zh-CN" altLang="en-US" smtClean="0">
                <a:ea typeface="宋体" panose="02010600030101010101" pitchFamily="2" charset="-122"/>
              </a:rPr>
              <a:t>	   </a:t>
            </a:r>
            <a:r>
              <a:rPr lang="en-US" altLang="zh-CN" smtClean="0">
                <a:ea typeface="宋体" panose="02010600030101010101" pitchFamily="2" charset="-122"/>
              </a:rPr>
              <a:t>A 		</a:t>
            </a:r>
            <a:r>
              <a:rPr lang="en-US" altLang="zh-CN" smtClean="0">
                <a:solidFill>
                  <a:srgbClr val="660066"/>
                </a:solidFill>
                <a:ea typeface="宋体" panose="02010600030101010101" pitchFamily="2" charset="-122"/>
              </a:rPr>
              <a:t>parse tree of left recursive grammar	</a:t>
            </a:r>
            <a:r>
              <a:rPr lang="en-US" altLang="zh-CN" smtClean="0">
                <a:ea typeface="宋体" panose="02010600030101010101" pitchFamily="2" charset="-122"/>
              </a:rPr>
              <a:t>			</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A	Y  </a:t>
            </a:r>
            <a:r>
              <a:rPr lang="en-US" altLang="zh-CN" smtClean="0">
                <a:solidFill>
                  <a:srgbClr val="CC0000"/>
                </a:solidFill>
                <a:ea typeface="宋体" panose="02010600030101010101" pitchFamily="2" charset="-122"/>
              </a:rPr>
              <a:t>A.a=g(f(X.x),Y.y)</a:t>
            </a:r>
            <a:r>
              <a:rPr lang="en-US" altLang="zh-CN" smtClean="0">
                <a:ea typeface="宋体" panose="02010600030101010101" pitchFamily="2" charset="-122"/>
              </a:rPr>
              <a:t> 		</a:t>
            </a:r>
          </a:p>
          <a:p>
            <a:pPr>
              <a:buFontTx/>
              <a:buNone/>
            </a:pPr>
            <a:r>
              <a:rPr lang="en-US" altLang="zh-CN" smtClean="0">
                <a:ea typeface="宋体" panose="02010600030101010101" pitchFamily="2" charset="-122"/>
              </a:rPr>
              <a:t>					 </a:t>
            </a:r>
            <a:r>
              <a:rPr lang="en-US" altLang="zh-CN" smtClean="0">
                <a:solidFill>
                  <a:srgbClr val="660066"/>
                </a:solidFill>
                <a:ea typeface="宋体" panose="02010600030101010101" pitchFamily="2" charset="-122"/>
              </a:rPr>
              <a:t>parse tree of non-left-recursive grammar</a:t>
            </a:r>
          </a:p>
          <a:p>
            <a:pPr>
              <a:buFontTx/>
              <a:buNone/>
            </a:pPr>
            <a:r>
              <a:rPr lang="en-US" altLang="zh-CN" smtClean="0">
                <a:ea typeface="宋体" panose="02010600030101010101" pitchFamily="2" charset="-122"/>
              </a:rPr>
              <a:t>	X  </a:t>
            </a:r>
            <a:r>
              <a:rPr lang="en-US" altLang="zh-CN" smtClean="0">
                <a:solidFill>
                  <a:srgbClr val="CC0000"/>
                </a:solidFill>
                <a:ea typeface="宋体" panose="02010600030101010101" pitchFamily="2" charset="-122"/>
              </a:rPr>
              <a:t>X.x=f(X.x)</a:t>
            </a:r>
            <a:r>
              <a:rPr lang="en-US" altLang="zh-CN" smtClean="0">
                <a:ea typeface="宋体" panose="02010600030101010101" pitchFamily="2" charset="-122"/>
              </a:rPr>
              <a:t>		 A 		</a:t>
            </a:r>
          </a:p>
          <a:p>
            <a:pPr>
              <a:buFontTx/>
              <a:buNone/>
            </a:pPr>
            <a:endParaRPr lang="en-US" altLang="zh-CN" smtClean="0">
              <a:ea typeface="宋体" panose="02010600030101010101" pitchFamily="2" charset="-122"/>
            </a:endParaRPr>
          </a:p>
          <a:p>
            <a:pPr>
              <a:buFontTx/>
              <a:buNone/>
            </a:pPr>
            <a:r>
              <a:rPr lang="en-US" altLang="zh-CN" smtClean="0">
                <a:ea typeface="宋体" panose="02010600030101010101" pitchFamily="2" charset="-122"/>
              </a:rPr>
              <a:t>			X  </a:t>
            </a:r>
            <a:r>
              <a:rPr lang="en-US" altLang="zh-CN" smtClean="0">
                <a:solidFill>
                  <a:srgbClr val="CC0000"/>
                </a:solidFill>
                <a:ea typeface="宋体" panose="02010600030101010101" pitchFamily="2" charset="-122"/>
              </a:rPr>
              <a:t>A’.in=f(X.x)</a:t>
            </a:r>
            <a:r>
              <a:rPr lang="en-US" altLang="zh-CN" smtClean="0">
                <a:ea typeface="宋体" panose="02010600030101010101" pitchFamily="2" charset="-122"/>
              </a:rPr>
              <a:t>	  A’  </a:t>
            </a:r>
            <a:r>
              <a:rPr lang="en-US" altLang="zh-CN" smtClean="0">
                <a:solidFill>
                  <a:srgbClr val="CC0000"/>
                </a:solidFill>
                <a:ea typeface="宋体" panose="02010600030101010101" pitchFamily="2" charset="-122"/>
              </a:rPr>
              <a:t>A.a=g(f(X.x),Y.y)</a:t>
            </a:r>
            <a:r>
              <a:rPr lang="en-US" altLang="zh-CN" smtClean="0">
                <a:ea typeface="宋体" panose="02010600030101010101" pitchFamily="2" charset="-122"/>
              </a:rPr>
              <a:t> 								</a:t>
            </a:r>
          </a:p>
          <a:p>
            <a:pPr>
              <a:buFontTx/>
              <a:buNone/>
            </a:pPr>
            <a:r>
              <a:rPr lang="en-US" altLang="zh-CN" smtClean="0">
                <a:ea typeface="宋体" panose="02010600030101010101" pitchFamily="2" charset="-122"/>
              </a:rPr>
              <a:t>			Y   </a:t>
            </a:r>
            <a:r>
              <a:rPr lang="en-US" altLang="zh-CN" smtClean="0">
                <a:solidFill>
                  <a:srgbClr val="CC0000"/>
                </a:solidFill>
                <a:ea typeface="宋体" panose="02010600030101010101" pitchFamily="2" charset="-122"/>
              </a:rPr>
              <a:t>A’</a:t>
            </a:r>
            <a:r>
              <a:rPr lang="en-US" altLang="zh-CN" baseline="-25000" smtClean="0">
                <a:solidFill>
                  <a:srgbClr val="CC0000"/>
                </a:solidFill>
                <a:ea typeface="宋体" panose="02010600030101010101" pitchFamily="2" charset="-122"/>
              </a:rPr>
              <a:t>1</a:t>
            </a:r>
            <a:r>
              <a:rPr lang="en-US" altLang="zh-CN" smtClean="0">
                <a:solidFill>
                  <a:srgbClr val="CC0000"/>
                </a:solidFill>
                <a:ea typeface="宋体" panose="02010600030101010101" pitchFamily="2" charset="-122"/>
              </a:rPr>
              <a:t>.in=g(f(X.x),Y.y)</a:t>
            </a:r>
            <a:r>
              <a:rPr lang="en-US" altLang="zh-CN" smtClean="0">
                <a:ea typeface="宋体" panose="02010600030101010101" pitchFamily="2" charset="-122"/>
              </a:rPr>
              <a:t>   A’</a:t>
            </a:r>
            <a:r>
              <a:rPr lang="en-US" altLang="zh-CN" baseline="-25000" smtClean="0">
                <a:ea typeface="宋体" panose="02010600030101010101" pitchFamily="2" charset="-122"/>
              </a:rPr>
              <a:t>1</a:t>
            </a:r>
            <a:r>
              <a:rPr lang="en-US" altLang="zh-CN" smtClean="0">
                <a:ea typeface="宋体" panose="02010600030101010101" pitchFamily="2" charset="-122"/>
              </a:rPr>
              <a:t>  </a:t>
            </a:r>
            <a:r>
              <a:rPr lang="en-US" altLang="zh-CN" smtClean="0">
                <a:solidFill>
                  <a:srgbClr val="CC0000"/>
                </a:solidFill>
                <a:ea typeface="宋体" panose="02010600030101010101" pitchFamily="2" charset="-122"/>
              </a:rPr>
              <a:t>A’.syn=g(f(X.x),Y.y) </a:t>
            </a:r>
          </a:p>
          <a:p>
            <a:pPr>
              <a:buFontTx/>
              <a:buNone/>
            </a:pPr>
            <a:endParaRPr lang="en-US" altLang="zh-CN" smtClean="0">
              <a:solidFill>
                <a:srgbClr val="CC0000"/>
              </a:solidFill>
              <a:ea typeface="宋体" panose="02010600030101010101" pitchFamily="2" charset="-122"/>
            </a:endParaRPr>
          </a:p>
          <a:p>
            <a:pPr>
              <a:buFontTx/>
              <a:buNone/>
            </a:pPr>
            <a:r>
              <a:rPr lang="en-US" altLang="zh-CN" smtClean="0">
                <a:ea typeface="宋体" panose="02010600030101010101" pitchFamily="2" charset="-122"/>
                <a:cs typeface="Times New Roman" panose="02020603050405020304" pitchFamily="18" charset="0"/>
                <a:sym typeface="Symbol" panose="05050102010706020507" pitchFamily="18" charset="2"/>
              </a:rPr>
              <a:t>						     </a:t>
            </a:r>
            <a:r>
              <a:rPr lang="en-US" altLang="zh-CN" smtClean="0">
                <a:ea typeface="宋体" panose="02010600030101010101" pitchFamily="2" charset="-122"/>
                <a:cs typeface="Times New Roman" panose="02020603050405020304" pitchFamily="18" charset="0"/>
              </a:rPr>
              <a:t>   </a:t>
            </a:r>
            <a:r>
              <a:rPr lang="en-US" altLang="zh-CN" smtClean="0">
                <a:solidFill>
                  <a:srgbClr val="CC0000"/>
                </a:solidFill>
                <a:ea typeface="宋体" panose="02010600030101010101" pitchFamily="2" charset="-122"/>
                <a:cs typeface="Times New Roman" panose="02020603050405020304" pitchFamily="18" charset="0"/>
              </a:rPr>
              <a:t>A’</a:t>
            </a:r>
            <a:r>
              <a:rPr lang="en-US" altLang="zh-CN" baseline="-25000" smtClean="0">
                <a:solidFill>
                  <a:srgbClr val="CC0000"/>
                </a:solidFill>
                <a:ea typeface="宋体" panose="02010600030101010101" pitchFamily="2" charset="-122"/>
                <a:cs typeface="Times New Roman" panose="02020603050405020304" pitchFamily="18" charset="0"/>
              </a:rPr>
              <a:t>1</a:t>
            </a:r>
            <a:r>
              <a:rPr lang="en-US" altLang="zh-CN" smtClean="0">
                <a:solidFill>
                  <a:srgbClr val="CC0000"/>
                </a:solidFill>
                <a:ea typeface="宋体" panose="02010600030101010101" pitchFamily="2" charset="-122"/>
                <a:cs typeface="Times New Roman" panose="02020603050405020304" pitchFamily="18" charset="0"/>
              </a:rPr>
              <a:t>.syn=</a:t>
            </a:r>
            <a:r>
              <a:rPr lang="en-US" altLang="zh-CN" smtClean="0">
                <a:solidFill>
                  <a:srgbClr val="CC0000"/>
                </a:solidFill>
                <a:ea typeface="宋体" panose="02010600030101010101" pitchFamily="2" charset="-122"/>
              </a:rPr>
              <a:t>g(f(X.x),Y.y)</a:t>
            </a:r>
            <a:r>
              <a:rPr lang="en-US" altLang="zh-CN" smtClean="0">
                <a:ea typeface="宋体" panose="02010600030101010101" pitchFamily="2" charset="-122"/>
              </a:rPr>
              <a:t> 	</a:t>
            </a:r>
          </a:p>
          <a:p>
            <a:pPr>
              <a:buFontTx/>
              <a:buNone/>
            </a:pPr>
            <a:endParaRPr lang="zh-CN" altLang="en-US" smtClean="0">
              <a:ea typeface="宋体" panose="02010600030101010101" pitchFamily="2" charset="-122"/>
            </a:endParaRPr>
          </a:p>
        </p:txBody>
      </p:sp>
      <p:sp>
        <p:nvSpPr>
          <p:cNvPr id="54279" name="Line 4"/>
          <p:cNvSpPr>
            <a:spLocks noChangeShapeType="1"/>
          </p:cNvSpPr>
          <p:nvPr/>
        </p:nvSpPr>
        <p:spPr bwMode="auto">
          <a:xfrm flipH="1">
            <a:off x="990600" y="16002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0" name="Line 5"/>
          <p:cNvSpPr>
            <a:spLocks noChangeShapeType="1"/>
          </p:cNvSpPr>
          <p:nvPr/>
        </p:nvSpPr>
        <p:spPr bwMode="auto">
          <a:xfrm>
            <a:off x="1143000" y="16002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1" name="Line 6"/>
          <p:cNvSpPr>
            <a:spLocks noChangeShapeType="1"/>
          </p:cNvSpPr>
          <p:nvPr/>
        </p:nvSpPr>
        <p:spPr bwMode="auto">
          <a:xfrm>
            <a:off x="1143000" y="1600200"/>
            <a:ext cx="12192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2" name="Line 7"/>
          <p:cNvSpPr>
            <a:spLocks noChangeShapeType="1"/>
          </p:cNvSpPr>
          <p:nvPr/>
        </p:nvSpPr>
        <p:spPr bwMode="auto">
          <a:xfrm>
            <a:off x="914400" y="25146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3" name="Line 8"/>
          <p:cNvSpPr>
            <a:spLocks noChangeShapeType="1"/>
          </p:cNvSpPr>
          <p:nvPr/>
        </p:nvSpPr>
        <p:spPr bwMode="auto">
          <a:xfrm>
            <a:off x="914400" y="2514600"/>
            <a:ext cx="7620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4" name="Line 9"/>
          <p:cNvSpPr>
            <a:spLocks noChangeShapeType="1"/>
          </p:cNvSpPr>
          <p:nvPr/>
        </p:nvSpPr>
        <p:spPr bwMode="auto">
          <a:xfrm flipH="1">
            <a:off x="2438400" y="3352800"/>
            <a:ext cx="1828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5" name="Line 10"/>
          <p:cNvSpPr>
            <a:spLocks noChangeShapeType="1"/>
          </p:cNvSpPr>
          <p:nvPr/>
        </p:nvSpPr>
        <p:spPr bwMode="auto">
          <a:xfrm>
            <a:off x="4267200" y="33528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6" name="Line 11"/>
          <p:cNvSpPr>
            <a:spLocks noChangeShapeType="1"/>
          </p:cNvSpPr>
          <p:nvPr/>
        </p:nvSpPr>
        <p:spPr bwMode="auto">
          <a:xfrm flipH="1">
            <a:off x="3276600" y="3352800"/>
            <a:ext cx="9906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7" name="Line 12"/>
          <p:cNvSpPr>
            <a:spLocks noChangeShapeType="1"/>
          </p:cNvSpPr>
          <p:nvPr/>
        </p:nvSpPr>
        <p:spPr bwMode="auto">
          <a:xfrm>
            <a:off x="4267200" y="3352800"/>
            <a:ext cx="9906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8" name="Line 13"/>
          <p:cNvSpPr>
            <a:spLocks noChangeShapeType="1"/>
          </p:cNvSpPr>
          <p:nvPr/>
        </p:nvSpPr>
        <p:spPr bwMode="auto">
          <a:xfrm flipH="1">
            <a:off x="2514600" y="4267200"/>
            <a:ext cx="1828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9" name="Line 14"/>
          <p:cNvSpPr>
            <a:spLocks noChangeShapeType="1"/>
          </p:cNvSpPr>
          <p:nvPr/>
        </p:nvSpPr>
        <p:spPr bwMode="auto">
          <a:xfrm>
            <a:off x="4343400" y="4267200"/>
            <a:ext cx="1066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0" name="Line 15"/>
          <p:cNvSpPr>
            <a:spLocks noChangeShapeType="1"/>
          </p:cNvSpPr>
          <p:nvPr/>
        </p:nvSpPr>
        <p:spPr bwMode="auto">
          <a:xfrm flipH="1">
            <a:off x="3733800" y="4267200"/>
            <a:ext cx="609600" cy="4572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1" name="Line 16"/>
          <p:cNvSpPr>
            <a:spLocks noChangeShapeType="1"/>
          </p:cNvSpPr>
          <p:nvPr/>
        </p:nvSpPr>
        <p:spPr bwMode="auto">
          <a:xfrm>
            <a:off x="4343400" y="4267200"/>
            <a:ext cx="2286000" cy="4572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2" name="Line 17"/>
          <p:cNvSpPr>
            <a:spLocks noChangeShapeType="1"/>
          </p:cNvSpPr>
          <p:nvPr/>
        </p:nvSpPr>
        <p:spPr bwMode="auto">
          <a:xfrm>
            <a:off x="5486400" y="51054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3" name="Line 18"/>
          <p:cNvSpPr>
            <a:spLocks noChangeShapeType="1"/>
          </p:cNvSpPr>
          <p:nvPr/>
        </p:nvSpPr>
        <p:spPr bwMode="auto">
          <a:xfrm>
            <a:off x="5486400" y="5105400"/>
            <a:ext cx="838200" cy="533400"/>
          </a:xfrm>
          <a:prstGeom prst="line">
            <a:avLst/>
          </a:prstGeom>
          <a:noFill/>
          <a:ln w="9525">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529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530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A522AFB7-7982-496A-95FC-F1C47C5E44EA}" type="slidenum">
              <a:rPr lang="zh-CN" altLang="en-US" sz="800"/>
              <a:pPr>
                <a:spcBef>
                  <a:spcPct val="0"/>
                </a:spcBef>
                <a:buFontTx/>
                <a:buNone/>
              </a:pPr>
              <a:t>53</a:t>
            </a:fld>
            <a:endParaRPr lang="en-US" altLang="zh-CN" sz="800"/>
          </a:p>
        </p:txBody>
      </p:sp>
      <p:sp>
        <p:nvSpPr>
          <p:cNvPr id="55301" name="Rectangle 2"/>
          <p:cNvSpPr>
            <a:spLocks noGrp="1" noChangeArrowheads="1"/>
          </p:cNvSpPr>
          <p:nvPr>
            <p:ph type="title"/>
          </p:nvPr>
        </p:nvSpPr>
        <p:spPr/>
        <p:txBody>
          <a:bodyPr/>
          <a:lstStyle/>
          <a:p>
            <a:r>
              <a:rPr lang="en-US" altLang="zh-CN" smtClean="0">
                <a:ea typeface="宋体" panose="02010600030101010101" pitchFamily="2" charset="-122"/>
              </a:rPr>
              <a:t>Bottom-Up Translation (P.308)</a:t>
            </a:r>
          </a:p>
        </p:txBody>
      </p:sp>
      <p:sp>
        <p:nvSpPr>
          <p:cNvPr id="55302" name="Rectangle 5"/>
          <p:cNvSpPr>
            <a:spLocks noGrp="1" noChangeArrowheads="1"/>
          </p:cNvSpPr>
          <p:nvPr>
            <p:ph type="body" idx="1"/>
          </p:nvPr>
        </p:nvSpPr>
        <p:spPr>
          <a:xfrm>
            <a:off x="685800" y="1066800"/>
            <a:ext cx="8686800" cy="5334000"/>
          </a:xfrm>
          <a:noFill/>
        </p:spPr>
        <p:txBody>
          <a:bodyPr lIns="92075" tIns="46038" rIns="92075" bIns="46038"/>
          <a:lstStyle/>
          <a:p>
            <a:r>
              <a:rPr lang="en-US" altLang="zh-CN" smtClean="0">
                <a:ea typeface="宋体" panose="02010600030101010101" pitchFamily="2" charset="-122"/>
              </a:rPr>
              <a:t>We discussed already “top-down translation.”</a:t>
            </a:r>
          </a:p>
          <a:p>
            <a:r>
              <a:rPr lang="en-US" altLang="zh-CN" smtClean="0">
                <a:ea typeface="宋体" panose="02010600030101010101" pitchFamily="2" charset="-122"/>
              </a:rPr>
              <a:t>Works exceptionally well with L-attributed Definitions (with corresponding translation schemes)</a:t>
            </a:r>
          </a:p>
          <a:p>
            <a:r>
              <a:rPr lang="en-US" altLang="zh-CN" smtClean="0">
                <a:ea typeface="宋体" panose="02010600030101010101" pitchFamily="2" charset="-122"/>
              </a:rPr>
              <a:t>Nevertheless we must make sure that the underlying grammar is suitable for predictive parsing.</a:t>
            </a:r>
          </a:p>
          <a:p>
            <a:r>
              <a:rPr lang="en-US" altLang="zh-CN" b="1" smtClean="0">
                <a:ea typeface="宋体" panose="02010600030101010101" pitchFamily="2" charset="-122"/>
              </a:rPr>
              <a:t>Grammar has no left-recursion and it is left-factored.</a:t>
            </a:r>
          </a:p>
          <a:p>
            <a:r>
              <a:rPr lang="en-US" altLang="zh-CN" smtClean="0">
                <a:ea typeface="宋体" panose="02010600030101010101" pitchFamily="2" charset="-122"/>
              </a:rPr>
              <a:t>We also discussed “bottom up translation” for S-Directed Definitions.</a:t>
            </a:r>
          </a:p>
          <a:p>
            <a:r>
              <a:rPr lang="en-US" altLang="zh-CN" smtClean="0">
                <a:ea typeface="宋体" panose="02010600030101010101" pitchFamily="2" charset="-122"/>
              </a:rPr>
              <a:t>Simple Idea: Use additional stack space to store attribute values for Non-terminals. During Reduce Actions update attributes in stack accordingly.</a:t>
            </a:r>
          </a:p>
        </p:txBody>
      </p:sp>
    </p:spTree>
  </p:cSld>
  <p:clrMapOvr>
    <a:masterClrMapping/>
  </p:clrMapOvr>
  <p:transition>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632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632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E810828D-4901-46A3-AA8D-FCC42E1B91A9}" type="slidenum">
              <a:rPr lang="zh-CN" altLang="en-US" sz="800"/>
              <a:pPr>
                <a:spcBef>
                  <a:spcPct val="0"/>
                </a:spcBef>
                <a:buFontTx/>
                <a:buNone/>
              </a:pPr>
              <a:t>54</a:t>
            </a:fld>
            <a:endParaRPr lang="en-US" altLang="zh-CN" sz="800"/>
          </a:p>
        </p:txBody>
      </p:sp>
      <p:sp>
        <p:nvSpPr>
          <p:cNvPr id="56325" name="Rectangle 2"/>
          <p:cNvSpPr>
            <a:spLocks noGrp="1" noChangeArrowheads="1"/>
          </p:cNvSpPr>
          <p:nvPr>
            <p:ph type="title"/>
          </p:nvPr>
        </p:nvSpPr>
        <p:spPr/>
        <p:txBody>
          <a:bodyPr/>
          <a:lstStyle/>
          <a:p>
            <a:r>
              <a:rPr lang="en-US" altLang="zh-CN" smtClean="0">
                <a:ea typeface="宋体" panose="02010600030101010101" pitchFamily="2" charset="-122"/>
              </a:rPr>
              <a:t>Removing Embedding Semantic Actions</a:t>
            </a:r>
          </a:p>
        </p:txBody>
      </p:sp>
      <p:sp>
        <p:nvSpPr>
          <p:cNvPr id="381955" name="Rectangle 3"/>
          <p:cNvSpPr>
            <a:spLocks noGrp="1" noChangeArrowheads="1"/>
          </p:cNvSpPr>
          <p:nvPr>
            <p:ph type="body" idx="1"/>
          </p:nvPr>
        </p:nvSpPr>
        <p:spPr>
          <a:xfrm>
            <a:off x="381000" y="1219200"/>
            <a:ext cx="9372600" cy="4953000"/>
          </a:xfrm>
        </p:spPr>
        <p:txBody>
          <a:bodyPr/>
          <a:lstStyle/>
          <a:p>
            <a:pPr>
              <a:lnSpc>
                <a:spcPct val="90000"/>
              </a:lnSpc>
            </a:pPr>
            <a:r>
              <a:rPr lang="en-US" altLang="zh-CN" smtClean="0">
                <a:ea typeface="宋体" panose="02010600030101010101" pitchFamily="2" charset="-122"/>
              </a:rPr>
              <a:t>In bottom-up evaluation scheme, the semantic actions are evaluated during the reductions. </a:t>
            </a:r>
          </a:p>
          <a:p>
            <a:pPr>
              <a:lnSpc>
                <a:spcPct val="90000"/>
              </a:lnSpc>
            </a:pPr>
            <a:r>
              <a:rPr lang="en-US" altLang="zh-CN" smtClean="0">
                <a:ea typeface="宋体" panose="02010600030101010101" pitchFamily="2" charset="-122"/>
              </a:rPr>
              <a:t>During the bottom-up evaluation of S-attributed definitions, we have a parallel stack to hold synthesized attributes.</a:t>
            </a:r>
          </a:p>
          <a:p>
            <a:pPr>
              <a:lnSpc>
                <a:spcPct val="90000"/>
              </a:lnSpc>
            </a:pPr>
            <a:r>
              <a:rPr lang="en-US" altLang="zh-CN" i="1" smtClean="0">
                <a:ea typeface="宋体" panose="02010600030101010101" pitchFamily="2" charset="-122"/>
              </a:rPr>
              <a:t>Problem</a:t>
            </a:r>
            <a:r>
              <a:rPr lang="en-US" altLang="zh-CN" smtClean="0">
                <a:ea typeface="宋体" panose="02010600030101010101" pitchFamily="2" charset="-122"/>
              </a:rPr>
              <a:t>: where are we going to hold inherited attributes?</a:t>
            </a:r>
          </a:p>
          <a:p>
            <a:pPr>
              <a:lnSpc>
                <a:spcPct val="90000"/>
              </a:lnSpc>
            </a:pPr>
            <a:r>
              <a:rPr lang="en-US" altLang="zh-CN" i="1" smtClean="0">
                <a:ea typeface="宋体" panose="02010600030101010101" pitchFamily="2" charset="-122"/>
              </a:rPr>
              <a:t>A Solution</a:t>
            </a:r>
            <a:r>
              <a:rPr lang="en-US" altLang="zh-CN" smtClean="0">
                <a:ea typeface="宋体" panose="02010600030101010101" pitchFamily="2" charset="-122"/>
              </a:rPr>
              <a:t>: </a:t>
            </a:r>
          </a:p>
          <a:p>
            <a:pPr lvl="1">
              <a:lnSpc>
                <a:spcPct val="90000"/>
              </a:lnSpc>
            </a:pPr>
            <a:r>
              <a:rPr lang="en-US" altLang="zh-CN" sz="2000" smtClean="0">
                <a:ea typeface="宋体" panose="02010600030101010101" pitchFamily="2" charset="-122"/>
              </a:rPr>
              <a:t>We will convert our grammar to an equivalent grammar to guarantee to the followings.</a:t>
            </a:r>
          </a:p>
          <a:p>
            <a:pPr lvl="1">
              <a:lnSpc>
                <a:spcPct val="90000"/>
              </a:lnSpc>
            </a:pPr>
            <a:r>
              <a:rPr lang="en-US" altLang="zh-CN" sz="2000" smtClean="0">
                <a:solidFill>
                  <a:schemeClr val="accent2"/>
                </a:solidFill>
                <a:ea typeface="宋体" panose="02010600030101010101" pitchFamily="2" charset="-122"/>
              </a:rPr>
              <a:t>All embedding semantic actions in our translation scheme will be moved into the end of the production rules.</a:t>
            </a:r>
          </a:p>
          <a:p>
            <a:pPr lvl="1">
              <a:lnSpc>
                <a:spcPct val="90000"/>
              </a:lnSpc>
            </a:pPr>
            <a:r>
              <a:rPr lang="en-US" altLang="zh-CN" sz="2000" smtClean="0">
                <a:solidFill>
                  <a:schemeClr val="accent2"/>
                </a:solidFill>
                <a:ea typeface="宋体" panose="02010600030101010101" pitchFamily="2" charset="-122"/>
              </a:rPr>
              <a:t>All inherited attributes will be copied into the synthesized attributes (most of the time synthesized attributes of new non-terminals).</a:t>
            </a:r>
          </a:p>
          <a:p>
            <a:pPr lvl="1">
              <a:lnSpc>
                <a:spcPct val="90000"/>
              </a:lnSpc>
            </a:pPr>
            <a:r>
              <a:rPr lang="en-US" altLang="zh-CN" sz="2000" smtClean="0">
                <a:solidFill>
                  <a:schemeClr val="accent2"/>
                </a:solidFill>
                <a:ea typeface="宋体" panose="02010600030101010101" pitchFamily="2" charset="-122"/>
              </a:rPr>
              <a:t>Thus we will be evaluate all semantic actions during reductions, and we find a place to store an inherited attribute.</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1955">
                                            <p:txEl>
                                              <p:pRg st="5" end="5"/>
                                            </p:txEl>
                                          </p:spTgt>
                                        </p:tgtEl>
                                        <p:attrNameLst>
                                          <p:attrName>style.visibility</p:attrName>
                                        </p:attrNameLst>
                                      </p:cBhvr>
                                      <p:to>
                                        <p:strVal val="visible"/>
                                      </p:to>
                                    </p:set>
                                    <p:animEffect transition="in" filter="wipe(left)">
                                      <p:cBhvr>
                                        <p:cTn id="7" dur="2000"/>
                                        <p:tgtEl>
                                          <p:spTgt spid="381955">
                                            <p:txEl>
                                              <p:pRg st="5" end="5"/>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381955">
                                            <p:txEl>
                                              <p:pRg st="6" end="6"/>
                                            </p:txEl>
                                          </p:spTgt>
                                        </p:tgtEl>
                                        <p:attrNameLst>
                                          <p:attrName>style.visibility</p:attrName>
                                        </p:attrNameLst>
                                      </p:cBhvr>
                                      <p:to>
                                        <p:strVal val="visible"/>
                                      </p:to>
                                    </p:set>
                                    <p:animEffect transition="in" filter="wipe(left)">
                                      <p:cBhvr>
                                        <p:cTn id="11" dur="2000"/>
                                        <p:tgtEl>
                                          <p:spTgt spid="381955">
                                            <p:txEl>
                                              <p:pRg st="6" end="6"/>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381955">
                                            <p:txEl>
                                              <p:pRg st="7" end="7"/>
                                            </p:txEl>
                                          </p:spTgt>
                                        </p:tgtEl>
                                        <p:attrNameLst>
                                          <p:attrName>style.visibility</p:attrName>
                                        </p:attrNameLst>
                                      </p:cBhvr>
                                      <p:to>
                                        <p:strVal val="visible"/>
                                      </p:to>
                                    </p:set>
                                    <p:animEffect transition="in" filter="wipe(left)">
                                      <p:cBhvr>
                                        <p:cTn id="15" dur="2000"/>
                                        <p:tgtEl>
                                          <p:spTgt spid="3819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734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734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B7CDE019-E781-4972-A603-FB620E8FD830}" type="slidenum">
              <a:rPr lang="zh-CN" altLang="en-US" sz="800"/>
              <a:pPr>
                <a:spcBef>
                  <a:spcPct val="0"/>
                </a:spcBef>
                <a:buFontTx/>
                <a:buNone/>
              </a:pPr>
              <a:t>55</a:t>
            </a:fld>
            <a:endParaRPr lang="en-US" altLang="zh-CN" sz="800"/>
          </a:p>
        </p:txBody>
      </p:sp>
      <p:sp>
        <p:nvSpPr>
          <p:cNvPr id="57349" name="Rectangle 2"/>
          <p:cNvSpPr>
            <a:spLocks noGrp="1" noChangeArrowheads="1"/>
          </p:cNvSpPr>
          <p:nvPr>
            <p:ph type="title"/>
          </p:nvPr>
        </p:nvSpPr>
        <p:spPr/>
        <p:txBody>
          <a:bodyPr/>
          <a:lstStyle/>
          <a:p>
            <a:r>
              <a:rPr lang="en-US" altLang="zh-CN" smtClean="0">
                <a:ea typeface="宋体" panose="02010600030101010101" pitchFamily="2" charset="-122"/>
              </a:rPr>
              <a:t>Removing Embedding Semantic Actions</a:t>
            </a:r>
          </a:p>
        </p:txBody>
      </p:sp>
      <p:sp>
        <p:nvSpPr>
          <p:cNvPr id="382979" name="Rectangle 3"/>
          <p:cNvSpPr>
            <a:spLocks noGrp="1" noChangeArrowheads="1"/>
          </p:cNvSpPr>
          <p:nvPr>
            <p:ph type="body" idx="1"/>
          </p:nvPr>
        </p:nvSpPr>
        <p:spPr>
          <a:xfrm>
            <a:off x="381000" y="1219200"/>
            <a:ext cx="9067800" cy="4495800"/>
          </a:xfrm>
        </p:spPr>
        <p:txBody>
          <a:bodyPr/>
          <a:lstStyle/>
          <a:p>
            <a:pPr marL="457200" indent="-457200"/>
            <a:r>
              <a:rPr lang="en-US" altLang="zh-CN" smtClean="0">
                <a:ea typeface="宋体" panose="02010600030101010101" pitchFamily="2" charset="-122"/>
              </a:rPr>
              <a:t>To transform our translation scheme into an equivalent translation scheme:</a:t>
            </a:r>
          </a:p>
          <a:p>
            <a:pPr marL="457200" indent="-457200">
              <a:buFontTx/>
              <a:buAutoNum type="arabicPeriod"/>
            </a:pPr>
            <a:r>
              <a:rPr lang="en-US" altLang="zh-CN" smtClean="0">
                <a:solidFill>
                  <a:schemeClr val="accent2"/>
                </a:solidFill>
                <a:ea typeface="宋体" panose="02010600030101010101" pitchFamily="2" charset="-122"/>
              </a:rPr>
              <a:t>Remove an embedding semantic action S</a:t>
            </a:r>
            <a:r>
              <a:rPr lang="en-US" altLang="zh-CN" baseline="-25000" smtClean="0">
                <a:solidFill>
                  <a:schemeClr val="accent2"/>
                </a:solidFill>
                <a:ea typeface="宋体" panose="02010600030101010101" pitchFamily="2" charset="-122"/>
              </a:rPr>
              <a:t>i</a:t>
            </a:r>
            <a:r>
              <a:rPr lang="en-US" altLang="zh-CN" smtClean="0">
                <a:solidFill>
                  <a:schemeClr val="accent2"/>
                </a:solidFill>
                <a:ea typeface="宋体" panose="02010600030101010101" pitchFamily="2" charset="-122"/>
              </a:rPr>
              <a:t>, put new a non-terminal M</a:t>
            </a:r>
            <a:r>
              <a:rPr lang="en-US" altLang="zh-CN" baseline="-25000" smtClean="0">
                <a:solidFill>
                  <a:schemeClr val="accent2"/>
                </a:solidFill>
                <a:ea typeface="宋体" panose="02010600030101010101" pitchFamily="2" charset="-122"/>
              </a:rPr>
              <a:t>i</a:t>
            </a:r>
            <a:r>
              <a:rPr lang="en-US" altLang="zh-CN" smtClean="0">
                <a:solidFill>
                  <a:schemeClr val="accent2"/>
                </a:solidFill>
                <a:ea typeface="宋体" panose="02010600030101010101" pitchFamily="2" charset="-122"/>
              </a:rPr>
              <a:t> instead of that semantic action.</a:t>
            </a:r>
          </a:p>
          <a:p>
            <a:pPr marL="457200" indent="-457200">
              <a:buFontTx/>
              <a:buAutoNum type="arabicPeriod"/>
            </a:pPr>
            <a:r>
              <a:rPr lang="en-US" altLang="zh-CN" smtClean="0">
                <a:solidFill>
                  <a:schemeClr val="accent2"/>
                </a:solidFill>
                <a:ea typeface="宋体" panose="02010600030101010101" pitchFamily="2" charset="-122"/>
              </a:rPr>
              <a:t>Put that semantic action S</a:t>
            </a:r>
            <a:r>
              <a:rPr lang="en-US" altLang="zh-CN" baseline="-25000" smtClean="0">
                <a:solidFill>
                  <a:schemeClr val="accent2"/>
                </a:solidFill>
                <a:ea typeface="宋体" panose="02010600030101010101" pitchFamily="2" charset="-122"/>
              </a:rPr>
              <a:t>i</a:t>
            </a:r>
            <a:r>
              <a:rPr lang="en-US" altLang="zh-CN" smtClean="0">
                <a:solidFill>
                  <a:schemeClr val="accent2"/>
                </a:solidFill>
                <a:ea typeface="宋体" panose="02010600030101010101" pitchFamily="2" charset="-122"/>
              </a:rPr>
              <a:t> into the end of a new production rule M</a:t>
            </a:r>
            <a:r>
              <a:rPr lang="en-US" altLang="zh-CN" baseline="-25000" smtClean="0">
                <a:solidFill>
                  <a:schemeClr val="accent2"/>
                </a:solidFill>
                <a:ea typeface="宋体" panose="02010600030101010101" pitchFamily="2" charset="-122"/>
              </a:rPr>
              <a:t>i</a:t>
            </a:r>
            <a:r>
              <a:rPr lang="en-US" altLang="zh-CN" smtClean="0">
                <a:solidFill>
                  <a:schemeClr val="accent2"/>
                </a:solidFill>
                <a:ea typeface="宋体" panose="02010600030101010101" pitchFamily="2" charset="-122"/>
                <a:sym typeface="Symbol" panose="05050102010706020507" pitchFamily="18" charset="2"/>
              </a:rPr>
              <a:t> for that non-terminal M</a:t>
            </a:r>
            <a:r>
              <a:rPr lang="en-US" altLang="zh-CN" baseline="-25000" smtClean="0">
                <a:solidFill>
                  <a:schemeClr val="accent2"/>
                </a:solidFill>
                <a:ea typeface="宋体" panose="02010600030101010101" pitchFamily="2" charset="-122"/>
                <a:sym typeface="Symbol" panose="05050102010706020507" pitchFamily="18" charset="2"/>
              </a:rPr>
              <a:t>i</a:t>
            </a:r>
            <a:r>
              <a:rPr lang="en-US" altLang="zh-CN" smtClean="0">
                <a:solidFill>
                  <a:schemeClr val="accent2"/>
                </a:solidFill>
                <a:ea typeface="宋体" panose="02010600030101010101" pitchFamily="2" charset="-122"/>
                <a:sym typeface="Symbol" panose="05050102010706020507" pitchFamily="18" charset="2"/>
              </a:rPr>
              <a:t>.</a:t>
            </a:r>
          </a:p>
          <a:p>
            <a:pPr marL="457200" indent="-457200">
              <a:buFontTx/>
              <a:buAutoNum type="arabicPeriod"/>
            </a:pPr>
            <a:r>
              <a:rPr lang="en-US" altLang="zh-CN" smtClean="0">
                <a:solidFill>
                  <a:schemeClr val="accent2"/>
                </a:solidFill>
                <a:ea typeface="宋体" panose="02010600030101010101" pitchFamily="2" charset="-122"/>
                <a:sym typeface="Symbol" panose="05050102010706020507" pitchFamily="18" charset="2"/>
              </a:rPr>
              <a:t>That semantic action S</a:t>
            </a:r>
            <a:r>
              <a:rPr lang="en-US" altLang="zh-CN" baseline="-25000" smtClean="0">
                <a:solidFill>
                  <a:schemeClr val="accent2"/>
                </a:solidFill>
                <a:ea typeface="宋体" panose="02010600030101010101" pitchFamily="2" charset="-122"/>
                <a:sym typeface="Symbol" panose="05050102010706020507" pitchFamily="18" charset="2"/>
              </a:rPr>
              <a:t>i</a:t>
            </a:r>
            <a:r>
              <a:rPr lang="en-US" altLang="zh-CN" smtClean="0">
                <a:solidFill>
                  <a:schemeClr val="accent2"/>
                </a:solidFill>
                <a:ea typeface="宋体" panose="02010600030101010101" pitchFamily="2" charset="-122"/>
                <a:sym typeface="Symbol" panose="05050102010706020507" pitchFamily="18" charset="2"/>
              </a:rPr>
              <a:t> will be evaluated when this new production rule is reduced.</a:t>
            </a:r>
          </a:p>
          <a:p>
            <a:pPr marL="457200" indent="-457200">
              <a:buFontTx/>
              <a:buAutoNum type="arabicPeriod"/>
            </a:pPr>
            <a:r>
              <a:rPr lang="en-US" altLang="zh-CN" smtClean="0">
                <a:solidFill>
                  <a:schemeClr val="accent2"/>
                </a:solidFill>
                <a:ea typeface="宋体" panose="02010600030101010101" pitchFamily="2" charset="-122"/>
                <a:sym typeface="Symbol" panose="05050102010706020507" pitchFamily="18" charset="2"/>
              </a:rPr>
              <a:t>The evaluation order of the semantic rules are not changed by this transformation.</a:t>
            </a:r>
            <a:endParaRPr lang="en-US" altLang="zh-CN" smtClean="0">
              <a:solidFill>
                <a:schemeClr val="accent2"/>
              </a:solidFill>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2979">
                                            <p:txEl>
                                              <p:pRg st="1" end="1"/>
                                            </p:txEl>
                                          </p:spTgt>
                                        </p:tgtEl>
                                        <p:attrNameLst>
                                          <p:attrName>style.visibility</p:attrName>
                                        </p:attrNameLst>
                                      </p:cBhvr>
                                      <p:to>
                                        <p:strVal val="visible"/>
                                      </p:to>
                                    </p:set>
                                    <p:animEffect transition="in" filter="wipe(left)">
                                      <p:cBhvr>
                                        <p:cTn id="7" dur="2000"/>
                                        <p:tgtEl>
                                          <p:spTgt spid="382979">
                                            <p:txEl>
                                              <p:pRg st="1" end="1"/>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382979">
                                            <p:txEl>
                                              <p:pRg st="2" end="2"/>
                                            </p:txEl>
                                          </p:spTgt>
                                        </p:tgtEl>
                                        <p:attrNameLst>
                                          <p:attrName>style.visibility</p:attrName>
                                        </p:attrNameLst>
                                      </p:cBhvr>
                                      <p:to>
                                        <p:strVal val="visible"/>
                                      </p:to>
                                    </p:set>
                                    <p:animEffect transition="in" filter="wipe(left)">
                                      <p:cBhvr>
                                        <p:cTn id="11" dur="2000"/>
                                        <p:tgtEl>
                                          <p:spTgt spid="382979">
                                            <p:txEl>
                                              <p:pRg st="2" end="2"/>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382979">
                                            <p:txEl>
                                              <p:pRg st="3" end="3"/>
                                            </p:txEl>
                                          </p:spTgt>
                                        </p:tgtEl>
                                        <p:attrNameLst>
                                          <p:attrName>style.visibility</p:attrName>
                                        </p:attrNameLst>
                                      </p:cBhvr>
                                      <p:to>
                                        <p:strVal val="visible"/>
                                      </p:to>
                                    </p:set>
                                    <p:animEffect transition="in" filter="wipe(left)">
                                      <p:cBhvr>
                                        <p:cTn id="15" dur="2000"/>
                                        <p:tgtEl>
                                          <p:spTgt spid="382979">
                                            <p:txEl>
                                              <p:pRg st="3" end="3"/>
                                            </p:txEl>
                                          </p:spTgt>
                                        </p:tgtEl>
                                      </p:cBhvr>
                                    </p:animEffect>
                                  </p:childTnLst>
                                </p:cTn>
                              </p:par>
                            </p:childTnLst>
                          </p:cTn>
                        </p:par>
                        <p:par>
                          <p:cTn id="16" fill="hold" nodeType="afterGroup">
                            <p:stCondLst>
                              <p:cond delay="6000"/>
                            </p:stCondLst>
                            <p:childTnLst>
                              <p:par>
                                <p:cTn id="17" presetID="22" presetClass="entr" presetSubtype="8" fill="hold" nodeType="afterEffect">
                                  <p:stCondLst>
                                    <p:cond delay="0"/>
                                  </p:stCondLst>
                                  <p:childTnLst>
                                    <p:set>
                                      <p:cBhvr>
                                        <p:cTn id="18" dur="1" fill="hold">
                                          <p:stCondLst>
                                            <p:cond delay="0"/>
                                          </p:stCondLst>
                                        </p:cTn>
                                        <p:tgtEl>
                                          <p:spTgt spid="382979">
                                            <p:txEl>
                                              <p:pRg st="4" end="4"/>
                                            </p:txEl>
                                          </p:spTgt>
                                        </p:tgtEl>
                                        <p:attrNameLst>
                                          <p:attrName>style.visibility</p:attrName>
                                        </p:attrNameLst>
                                      </p:cBhvr>
                                      <p:to>
                                        <p:strVal val="visible"/>
                                      </p:to>
                                    </p:set>
                                    <p:animEffect transition="in" filter="wipe(left)">
                                      <p:cBhvr>
                                        <p:cTn id="19" dur="2000"/>
                                        <p:tgtEl>
                                          <p:spTgt spid="3829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837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837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8ADEF231-033B-43A3-8A55-603257A4F018}" type="slidenum">
              <a:rPr lang="zh-CN" altLang="en-US" sz="800"/>
              <a:pPr>
                <a:spcBef>
                  <a:spcPct val="0"/>
                </a:spcBef>
                <a:buFontTx/>
                <a:buNone/>
              </a:pPr>
              <a:t>56</a:t>
            </a:fld>
            <a:endParaRPr lang="en-US" altLang="zh-CN" sz="800"/>
          </a:p>
        </p:txBody>
      </p:sp>
      <p:sp>
        <p:nvSpPr>
          <p:cNvPr id="58373" name="Rectangle 2"/>
          <p:cNvSpPr>
            <a:spLocks noGrp="1" noChangeArrowheads="1"/>
          </p:cNvSpPr>
          <p:nvPr>
            <p:ph type="title"/>
          </p:nvPr>
        </p:nvSpPr>
        <p:spPr/>
        <p:txBody>
          <a:bodyPr/>
          <a:lstStyle/>
          <a:p>
            <a:r>
              <a:rPr lang="en-US" altLang="zh-CN" smtClean="0">
                <a:ea typeface="宋体" panose="02010600030101010101" pitchFamily="2" charset="-122"/>
              </a:rPr>
              <a:t>Removing Embedding Semantic Actions</a:t>
            </a:r>
          </a:p>
        </p:txBody>
      </p:sp>
      <p:sp>
        <p:nvSpPr>
          <p:cNvPr id="384003" name="Rectangle 3"/>
          <p:cNvSpPr>
            <a:spLocks noGrp="1" noChangeArrowheads="1"/>
          </p:cNvSpPr>
          <p:nvPr>
            <p:ph type="body" idx="1"/>
          </p:nvPr>
        </p:nvSpPr>
        <p:spPr>
          <a:xfrm>
            <a:off x="2209800" y="1219200"/>
            <a:ext cx="5638800" cy="4724400"/>
          </a:xfrm>
        </p:spPr>
        <p:txBody>
          <a:bodyPr/>
          <a:lstStyle/>
          <a:p>
            <a:pPr>
              <a:buFontTx/>
              <a:buNone/>
            </a:pPr>
            <a:r>
              <a:rPr lang="en-US" altLang="zh-CN" smtClean="0">
                <a:ea typeface="宋体" panose="02010600030101010101" pitchFamily="2" charset="-122"/>
              </a:rPr>
              <a:t>A</a:t>
            </a:r>
            <a:r>
              <a:rPr lang="en-US" altLang="zh-CN" smtClean="0">
                <a:ea typeface="宋体" panose="02010600030101010101" pitchFamily="2" charset="-122"/>
                <a:sym typeface="Symbol" panose="05050102010706020507" pitchFamily="18" charset="2"/>
              </a:rPr>
              <a:t> {S</a:t>
            </a:r>
            <a:r>
              <a:rPr lang="en-US" altLang="zh-CN" baseline="-25000" smtClean="0">
                <a:ea typeface="宋体" panose="02010600030101010101" pitchFamily="2" charset="-122"/>
                <a:sym typeface="Symbol" panose="05050102010706020507" pitchFamily="18" charset="2"/>
              </a:rPr>
              <a:t>1</a:t>
            </a:r>
            <a:r>
              <a:rPr lang="en-US" altLang="zh-CN" smtClean="0">
                <a:ea typeface="宋体" panose="02010600030101010101" pitchFamily="2" charset="-122"/>
                <a:sym typeface="Symbol" panose="05050102010706020507" pitchFamily="18" charset="2"/>
              </a:rPr>
              <a:t>} X</a:t>
            </a:r>
            <a:r>
              <a:rPr lang="en-US" altLang="zh-CN" baseline="-25000" smtClean="0">
                <a:ea typeface="宋体" panose="02010600030101010101" pitchFamily="2" charset="-122"/>
                <a:sym typeface="Symbol" panose="05050102010706020507" pitchFamily="18" charset="2"/>
              </a:rPr>
              <a:t>1</a:t>
            </a:r>
            <a:r>
              <a:rPr lang="en-US" altLang="zh-CN" smtClean="0">
                <a:ea typeface="宋体" panose="02010600030101010101" pitchFamily="2" charset="-122"/>
                <a:sym typeface="Symbol" panose="05050102010706020507" pitchFamily="18" charset="2"/>
              </a:rPr>
              <a:t> {S</a:t>
            </a:r>
            <a:r>
              <a:rPr lang="en-US" altLang="zh-CN" baseline="-25000" smtClean="0">
                <a:ea typeface="宋体" panose="02010600030101010101" pitchFamily="2" charset="-122"/>
                <a:sym typeface="Symbol" panose="05050102010706020507" pitchFamily="18" charset="2"/>
              </a:rPr>
              <a:t>2</a:t>
            </a:r>
            <a:r>
              <a:rPr lang="en-US" altLang="zh-CN" smtClean="0">
                <a:ea typeface="宋体" panose="02010600030101010101" pitchFamily="2" charset="-122"/>
                <a:sym typeface="Symbol" panose="05050102010706020507" pitchFamily="18" charset="2"/>
              </a:rPr>
              <a:t>} X</a:t>
            </a:r>
            <a:r>
              <a:rPr lang="en-US" altLang="zh-CN" baseline="-25000" smtClean="0">
                <a:ea typeface="宋体" panose="02010600030101010101" pitchFamily="2" charset="-122"/>
                <a:sym typeface="Symbol" panose="05050102010706020507" pitchFamily="18" charset="2"/>
              </a:rPr>
              <a:t>2</a:t>
            </a:r>
            <a:r>
              <a:rPr lang="en-US" altLang="zh-CN" smtClean="0">
                <a:ea typeface="宋体" panose="02010600030101010101" pitchFamily="2" charset="-122"/>
                <a:sym typeface="Symbol" panose="05050102010706020507" pitchFamily="18" charset="2"/>
              </a:rPr>
              <a:t> ... {S</a:t>
            </a:r>
            <a:r>
              <a:rPr lang="en-US" altLang="zh-CN" baseline="-25000" smtClean="0">
                <a:ea typeface="宋体" panose="02010600030101010101" pitchFamily="2" charset="-122"/>
                <a:sym typeface="Symbol" panose="05050102010706020507" pitchFamily="18" charset="2"/>
              </a:rPr>
              <a:t>n</a:t>
            </a:r>
            <a:r>
              <a:rPr lang="en-US" altLang="zh-CN" smtClean="0">
                <a:ea typeface="宋体" panose="02010600030101010101" pitchFamily="2" charset="-122"/>
                <a:sym typeface="Symbol" panose="05050102010706020507" pitchFamily="18" charset="2"/>
              </a:rPr>
              <a:t>} X</a:t>
            </a:r>
            <a:r>
              <a:rPr lang="en-US" altLang="zh-CN" baseline="-25000" smtClean="0">
                <a:ea typeface="宋体" panose="02010600030101010101" pitchFamily="2" charset="-122"/>
                <a:sym typeface="Symbol" panose="05050102010706020507" pitchFamily="18" charset="2"/>
              </a:rPr>
              <a:t>n </a:t>
            </a:r>
            <a:endParaRPr lang="en-US" altLang="zh-CN" smtClean="0">
              <a:ea typeface="宋体" panose="02010600030101010101" pitchFamily="2" charset="-122"/>
              <a:sym typeface="Symbol" panose="05050102010706020507" pitchFamily="18" charset="2"/>
            </a:endParaRPr>
          </a:p>
          <a:p>
            <a:pPr>
              <a:buFontTx/>
              <a:buNone/>
            </a:pPr>
            <a:endParaRPr lang="en-US" altLang="zh-CN" sz="800" smtClean="0">
              <a:ea typeface="宋体" panose="02010600030101010101" pitchFamily="2" charset="-122"/>
              <a:sym typeface="Symbol" panose="05050102010706020507" pitchFamily="18" charset="2"/>
            </a:endParaRPr>
          </a:p>
          <a:p>
            <a:pPr>
              <a:buFontTx/>
              <a:buNone/>
            </a:pPr>
            <a:r>
              <a:rPr lang="en-US" altLang="zh-CN" smtClean="0">
                <a:ea typeface="宋体" panose="02010600030101010101" pitchFamily="2" charset="-122"/>
                <a:sym typeface="Symbol" panose="05050102010706020507" pitchFamily="18" charset="2"/>
              </a:rPr>
              <a:t>	</a:t>
            </a:r>
            <a:r>
              <a:rPr lang="en-US" altLang="zh-CN" sz="4800" smtClean="0">
                <a:ea typeface="宋体" panose="02010600030101010101" pitchFamily="2" charset="-122"/>
                <a:sym typeface="Symbol" panose="05050102010706020507" pitchFamily="18" charset="2"/>
              </a:rPr>
              <a:t></a:t>
            </a:r>
            <a:r>
              <a:rPr lang="en-US" altLang="zh-CN" smtClean="0">
                <a:ea typeface="宋体" panose="02010600030101010101" pitchFamily="2" charset="-122"/>
                <a:sym typeface="Symbol" panose="05050102010706020507" pitchFamily="18" charset="2"/>
              </a:rPr>
              <a:t> remove embedding semantic actions</a:t>
            </a:r>
          </a:p>
          <a:p>
            <a:pPr>
              <a:buFontTx/>
              <a:buNone/>
            </a:pPr>
            <a:endParaRPr lang="en-US" altLang="zh-CN" sz="800" smtClean="0">
              <a:ea typeface="宋体" panose="02010600030101010101" pitchFamily="2" charset="-122"/>
              <a:sym typeface="Symbol" panose="05050102010706020507" pitchFamily="18" charset="2"/>
            </a:endParaRPr>
          </a:p>
          <a:p>
            <a:pPr>
              <a:buFontTx/>
              <a:buNone/>
            </a:pPr>
            <a:r>
              <a:rPr lang="en-US" altLang="zh-CN" smtClean="0">
                <a:ea typeface="宋体" panose="02010600030101010101" pitchFamily="2" charset="-122"/>
              </a:rPr>
              <a:t>A</a:t>
            </a:r>
            <a:r>
              <a:rPr lang="en-US" altLang="zh-CN" smtClean="0">
                <a:ea typeface="宋体" panose="02010600030101010101" pitchFamily="2" charset="-122"/>
                <a:sym typeface="Symbol" panose="05050102010706020507" pitchFamily="18" charset="2"/>
              </a:rPr>
              <a:t></a:t>
            </a:r>
            <a:r>
              <a:rPr lang="en-US" altLang="zh-CN" smtClean="0">
                <a:solidFill>
                  <a:srgbClr val="CC0000"/>
                </a:solidFill>
                <a:ea typeface="宋体" panose="02010600030101010101" pitchFamily="2" charset="-122"/>
                <a:sym typeface="Symbol" panose="05050102010706020507" pitchFamily="18" charset="2"/>
              </a:rPr>
              <a:t> M</a:t>
            </a:r>
            <a:r>
              <a:rPr lang="en-US" altLang="zh-CN" baseline="-25000" smtClean="0">
                <a:solidFill>
                  <a:srgbClr val="CC0000"/>
                </a:solidFill>
                <a:ea typeface="宋体" panose="02010600030101010101" pitchFamily="2" charset="-122"/>
                <a:sym typeface="Symbol" panose="05050102010706020507" pitchFamily="18" charset="2"/>
              </a:rPr>
              <a:t>1</a:t>
            </a:r>
            <a:r>
              <a:rPr lang="en-US" altLang="zh-CN" smtClean="0">
                <a:ea typeface="宋体" panose="02010600030101010101" pitchFamily="2" charset="-122"/>
                <a:sym typeface="Symbol" panose="05050102010706020507" pitchFamily="18" charset="2"/>
              </a:rPr>
              <a:t> X</a:t>
            </a:r>
            <a:r>
              <a:rPr lang="en-US" altLang="zh-CN" baseline="-25000" smtClean="0">
                <a:ea typeface="宋体" panose="02010600030101010101" pitchFamily="2" charset="-122"/>
                <a:sym typeface="Symbol" panose="05050102010706020507" pitchFamily="18" charset="2"/>
              </a:rPr>
              <a:t>1</a:t>
            </a:r>
            <a:r>
              <a:rPr lang="en-US" altLang="zh-CN" smtClean="0">
                <a:solidFill>
                  <a:srgbClr val="CC0000"/>
                </a:solidFill>
                <a:ea typeface="宋体" panose="02010600030101010101" pitchFamily="2" charset="-122"/>
                <a:sym typeface="Symbol" panose="05050102010706020507" pitchFamily="18" charset="2"/>
              </a:rPr>
              <a:t> M</a:t>
            </a:r>
            <a:r>
              <a:rPr lang="en-US" altLang="zh-CN" baseline="-25000" smtClean="0">
                <a:solidFill>
                  <a:srgbClr val="CC0000"/>
                </a:solidFill>
                <a:ea typeface="宋体" panose="02010600030101010101" pitchFamily="2" charset="-122"/>
                <a:sym typeface="Symbol" panose="05050102010706020507" pitchFamily="18" charset="2"/>
              </a:rPr>
              <a:t>2</a:t>
            </a:r>
            <a:r>
              <a:rPr lang="en-US" altLang="zh-CN" smtClean="0">
                <a:ea typeface="宋体" panose="02010600030101010101" pitchFamily="2" charset="-122"/>
                <a:sym typeface="Symbol" panose="05050102010706020507" pitchFamily="18" charset="2"/>
              </a:rPr>
              <a:t> X</a:t>
            </a:r>
            <a:r>
              <a:rPr lang="en-US" altLang="zh-CN" baseline="-25000" smtClean="0">
                <a:ea typeface="宋体" panose="02010600030101010101" pitchFamily="2" charset="-122"/>
                <a:sym typeface="Symbol" panose="05050102010706020507" pitchFamily="18" charset="2"/>
              </a:rPr>
              <a:t>2</a:t>
            </a:r>
            <a:r>
              <a:rPr lang="en-US" altLang="zh-CN" smtClean="0">
                <a:ea typeface="宋体" panose="02010600030101010101" pitchFamily="2" charset="-122"/>
                <a:sym typeface="Symbol" panose="05050102010706020507" pitchFamily="18" charset="2"/>
              </a:rPr>
              <a:t> ... </a:t>
            </a:r>
            <a:r>
              <a:rPr lang="en-US" altLang="zh-CN" smtClean="0">
                <a:solidFill>
                  <a:srgbClr val="CC0000"/>
                </a:solidFill>
                <a:ea typeface="宋体" panose="02010600030101010101" pitchFamily="2" charset="-122"/>
                <a:sym typeface="Symbol" panose="05050102010706020507" pitchFamily="18" charset="2"/>
              </a:rPr>
              <a:t>M</a:t>
            </a:r>
            <a:r>
              <a:rPr lang="en-US" altLang="zh-CN" baseline="-25000" smtClean="0">
                <a:solidFill>
                  <a:srgbClr val="CC0000"/>
                </a:solidFill>
                <a:ea typeface="宋体" panose="02010600030101010101" pitchFamily="2" charset="-122"/>
                <a:sym typeface="Symbol" panose="05050102010706020507" pitchFamily="18" charset="2"/>
              </a:rPr>
              <a:t>n</a:t>
            </a:r>
            <a:r>
              <a:rPr lang="en-US" altLang="zh-CN" smtClean="0">
                <a:ea typeface="宋体" panose="02010600030101010101" pitchFamily="2" charset="-122"/>
                <a:sym typeface="Symbol" panose="05050102010706020507" pitchFamily="18" charset="2"/>
              </a:rPr>
              <a:t> X</a:t>
            </a:r>
            <a:r>
              <a:rPr lang="en-US" altLang="zh-CN" baseline="-25000" smtClean="0">
                <a:ea typeface="宋体" panose="02010600030101010101" pitchFamily="2" charset="-122"/>
                <a:sym typeface="Symbol" panose="05050102010706020507" pitchFamily="18" charset="2"/>
              </a:rPr>
              <a:t>n</a:t>
            </a:r>
            <a:endParaRPr lang="en-US" altLang="zh-CN" smtClean="0">
              <a:ea typeface="宋体" panose="02010600030101010101" pitchFamily="2" charset="-122"/>
              <a:sym typeface="Symbol" panose="05050102010706020507" pitchFamily="18" charset="2"/>
            </a:endParaRPr>
          </a:p>
          <a:p>
            <a:pPr>
              <a:buFontTx/>
              <a:buNone/>
            </a:pPr>
            <a:r>
              <a:rPr lang="en-US" altLang="zh-CN" smtClean="0">
                <a:ea typeface="宋体" panose="02010600030101010101" pitchFamily="2" charset="-122"/>
              </a:rPr>
              <a:t>M</a:t>
            </a:r>
            <a:r>
              <a:rPr lang="en-US" altLang="zh-CN" baseline="-25000" smtClean="0">
                <a:ea typeface="宋体" panose="02010600030101010101" pitchFamily="2" charset="-122"/>
              </a:rPr>
              <a:t>1</a:t>
            </a:r>
            <a:r>
              <a:rPr lang="en-US" altLang="zh-CN" smtClean="0">
                <a:ea typeface="宋体" panose="02010600030101010101" pitchFamily="2" charset="-122"/>
                <a:sym typeface="Symbol" panose="05050102010706020507" pitchFamily="18" charset="2"/>
              </a:rPr>
              <a:t> {S</a:t>
            </a:r>
            <a:r>
              <a:rPr lang="en-US" altLang="zh-CN" baseline="-25000" smtClean="0">
                <a:ea typeface="宋体" panose="02010600030101010101" pitchFamily="2" charset="-122"/>
                <a:sym typeface="Symbol" panose="05050102010706020507" pitchFamily="18" charset="2"/>
              </a:rPr>
              <a:t>1</a:t>
            </a:r>
            <a:r>
              <a:rPr lang="en-US" altLang="zh-CN" smtClean="0">
                <a:ea typeface="宋体" panose="02010600030101010101" pitchFamily="2" charset="-122"/>
                <a:sym typeface="Symbol" panose="05050102010706020507" pitchFamily="18" charset="2"/>
              </a:rPr>
              <a:t>} </a:t>
            </a:r>
          </a:p>
          <a:p>
            <a:pPr>
              <a:buFontTx/>
              <a:buNone/>
            </a:pPr>
            <a:r>
              <a:rPr lang="en-US" altLang="zh-CN" smtClean="0">
                <a:ea typeface="宋体" panose="02010600030101010101" pitchFamily="2" charset="-122"/>
              </a:rPr>
              <a:t>M</a:t>
            </a:r>
            <a:r>
              <a:rPr lang="en-US" altLang="zh-CN" baseline="-25000" smtClean="0">
                <a:ea typeface="宋体" panose="02010600030101010101" pitchFamily="2" charset="-122"/>
              </a:rPr>
              <a:t>2</a:t>
            </a:r>
            <a:r>
              <a:rPr lang="en-US" altLang="zh-CN" smtClean="0">
                <a:ea typeface="宋体" panose="02010600030101010101" pitchFamily="2" charset="-122"/>
                <a:sym typeface="Symbol" panose="05050102010706020507" pitchFamily="18" charset="2"/>
              </a:rPr>
              <a:t> {S</a:t>
            </a:r>
            <a:r>
              <a:rPr lang="en-US" altLang="zh-CN" baseline="-25000" smtClean="0">
                <a:ea typeface="宋体" panose="02010600030101010101" pitchFamily="2" charset="-122"/>
                <a:sym typeface="Symbol" panose="05050102010706020507" pitchFamily="18" charset="2"/>
              </a:rPr>
              <a:t>2</a:t>
            </a:r>
            <a:r>
              <a:rPr lang="en-US" altLang="zh-CN" smtClean="0">
                <a:ea typeface="宋体" panose="02010600030101010101" pitchFamily="2" charset="-122"/>
                <a:sym typeface="Symbol" panose="05050102010706020507" pitchFamily="18" charset="2"/>
              </a:rPr>
              <a:t>} </a:t>
            </a:r>
          </a:p>
          <a:p>
            <a:pPr>
              <a:buFontTx/>
              <a:buNone/>
            </a:pPr>
            <a:r>
              <a:rPr lang="en-US" altLang="zh-CN" smtClean="0">
                <a:ea typeface="宋体" panose="02010600030101010101" pitchFamily="2" charset="-122"/>
                <a:sym typeface="Symbol" panose="05050102010706020507" pitchFamily="18" charset="2"/>
              </a:rPr>
              <a:t>	.</a:t>
            </a:r>
          </a:p>
          <a:p>
            <a:pPr>
              <a:buFontTx/>
              <a:buNone/>
            </a:pPr>
            <a:r>
              <a:rPr lang="en-US" altLang="zh-CN" smtClean="0">
                <a:ea typeface="宋体" panose="02010600030101010101" pitchFamily="2" charset="-122"/>
                <a:sym typeface="Symbol" panose="05050102010706020507" pitchFamily="18" charset="2"/>
              </a:rPr>
              <a:t>	.</a:t>
            </a:r>
          </a:p>
          <a:p>
            <a:pPr>
              <a:buFontTx/>
              <a:buNone/>
            </a:pPr>
            <a:r>
              <a:rPr lang="en-US" altLang="zh-CN" smtClean="0">
                <a:ea typeface="宋体" panose="02010600030101010101" pitchFamily="2" charset="-122"/>
              </a:rPr>
              <a:t>M</a:t>
            </a:r>
            <a:r>
              <a:rPr lang="en-US" altLang="zh-CN" baseline="-25000" smtClean="0">
                <a:ea typeface="宋体" panose="02010600030101010101" pitchFamily="2" charset="-122"/>
              </a:rPr>
              <a:t>n</a:t>
            </a:r>
            <a:r>
              <a:rPr lang="en-US" altLang="zh-CN" smtClean="0">
                <a:ea typeface="宋体" panose="02010600030101010101" pitchFamily="2" charset="-122"/>
                <a:sym typeface="Symbol" panose="05050102010706020507" pitchFamily="18" charset="2"/>
              </a:rPr>
              <a:t> {S</a:t>
            </a:r>
            <a:r>
              <a:rPr lang="en-US" altLang="zh-CN" baseline="-25000" smtClean="0">
                <a:ea typeface="宋体" panose="02010600030101010101" pitchFamily="2" charset="-122"/>
                <a:sym typeface="Symbol" panose="05050102010706020507" pitchFamily="18" charset="2"/>
              </a:rPr>
              <a:t>n</a:t>
            </a:r>
            <a:r>
              <a:rPr lang="en-US" altLang="zh-CN" smtClean="0">
                <a:ea typeface="宋体" panose="02010600030101010101" pitchFamily="2" charset="-122"/>
                <a:sym typeface="Symbol" panose="05050102010706020507" pitchFamily="18" charset="2"/>
              </a:rPr>
              <a:t>} </a:t>
            </a:r>
          </a:p>
          <a:p>
            <a:pPr>
              <a:buFontTx/>
              <a:buNone/>
            </a:pPr>
            <a:endParaRPr lang="zh-CN" altLang="en-US" smtClean="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84003">
                                            <p:txEl>
                                              <p:pRg st="4" end="4"/>
                                            </p:txEl>
                                          </p:spTgt>
                                        </p:tgtEl>
                                        <p:attrNameLst>
                                          <p:attrName>style.visibility</p:attrName>
                                        </p:attrNameLst>
                                      </p:cBhvr>
                                      <p:to>
                                        <p:strVal val="visible"/>
                                      </p:to>
                                    </p:set>
                                    <p:animEffect transition="in" filter="wipe(left)">
                                      <p:cBhvr>
                                        <p:cTn id="7" dur="2000"/>
                                        <p:tgtEl>
                                          <p:spTgt spid="384003">
                                            <p:txEl>
                                              <p:pRg st="4" end="4"/>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384003">
                                            <p:txEl>
                                              <p:pRg st="5" end="5"/>
                                            </p:txEl>
                                          </p:spTgt>
                                        </p:tgtEl>
                                        <p:attrNameLst>
                                          <p:attrName>style.visibility</p:attrName>
                                        </p:attrNameLst>
                                      </p:cBhvr>
                                      <p:to>
                                        <p:strVal val="visible"/>
                                      </p:to>
                                    </p:set>
                                    <p:animEffect transition="in" filter="wipe(left)">
                                      <p:cBhvr>
                                        <p:cTn id="11" dur="2000"/>
                                        <p:tgtEl>
                                          <p:spTgt spid="384003">
                                            <p:txEl>
                                              <p:pRg st="5" end="5"/>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384003">
                                            <p:txEl>
                                              <p:pRg st="6" end="6"/>
                                            </p:txEl>
                                          </p:spTgt>
                                        </p:tgtEl>
                                        <p:attrNameLst>
                                          <p:attrName>style.visibility</p:attrName>
                                        </p:attrNameLst>
                                      </p:cBhvr>
                                      <p:to>
                                        <p:strVal val="visible"/>
                                      </p:to>
                                    </p:set>
                                    <p:animEffect transition="in" filter="wipe(left)">
                                      <p:cBhvr>
                                        <p:cTn id="15" dur="2000"/>
                                        <p:tgtEl>
                                          <p:spTgt spid="384003">
                                            <p:txEl>
                                              <p:pRg st="6" end="6"/>
                                            </p:txEl>
                                          </p:spTgt>
                                        </p:tgtEl>
                                      </p:cBhvr>
                                    </p:animEffect>
                                  </p:childTnLst>
                                </p:cTn>
                              </p:par>
                            </p:childTnLst>
                          </p:cTn>
                        </p:par>
                        <p:par>
                          <p:cTn id="16" fill="hold" nodeType="afterGroup">
                            <p:stCondLst>
                              <p:cond delay="6000"/>
                            </p:stCondLst>
                            <p:childTnLst>
                              <p:par>
                                <p:cTn id="17" presetID="22" presetClass="entr" presetSubtype="8" fill="hold" nodeType="afterEffect">
                                  <p:stCondLst>
                                    <p:cond delay="0"/>
                                  </p:stCondLst>
                                  <p:childTnLst>
                                    <p:set>
                                      <p:cBhvr>
                                        <p:cTn id="18" dur="1" fill="hold">
                                          <p:stCondLst>
                                            <p:cond delay="0"/>
                                          </p:stCondLst>
                                        </p:cTn>
                                        <p:tgtEl>
                                          <p:spTgt spid="384003">
                                            <p:txEl>
                                              <p:pRg st="7" end="7"/>
                                            </p:txEl>
                                          </p:spTgt>
                                        </p:tgtEl>
                                        <p:attrNameLst>
                                          <p:attrName>style.visibility</p:attrName>
                                        </p:attrNameLst>
                                      </p:cBhvr>
                                      <p:to>
                                        <p:strVal val="visible"/>
                                      </p:to>
                                    </p:set>
                                    <p:animEffect transition="in" filter="wipe(left)">
                                      <p:cBhvr>
                                        <p:cTn id="19" dur="2000"/>
                                        <p:tgtEl>
                                          <p:spTgt spid="384003">
                                            <p:txEl>
                                              <p:pRg st="7" end="7"/>
                                            </p:txEl>
                                          </p:spTgt>
                                        </p:tgtEl>
                                      </p:cBhvr>
                                    </p:animEffect>
                                  </p:childTnLst>
                                </p:cTn>
                              </p:par>
                            </p:childTnLst>
                          </p:cTn>
                        </p:par>
                        <p:par>
                          <p:cTn id="20" fill="hold" nodeType="afterGroup">
                            <p:stCondLst>
                              <p:cond delay="8000"/>
                            </p:stCondLst>
                            <p:childTnLst>
                              <p:par>
                                <p:cTn id="21" presetID="22" presetClass="entr" presetSubtype="8" fill="hold" nodeType="afterEffect">
                                  <p:stCondLst>
                                    <p:cond delay="0"/>
                                  </p:stCondLst>
                                  <p:childTnLst>
                                    <p:set>
                                      <p:cBhvr>
                                        <p:cTn id="22" dur="1" fill="hold">
                                          <p:stCondLst>
                                            <p:cond delay="0"/>
                                          </p:stCondLst>
                                        </p:cTn>
                                        <p:tgtEl>
                                          <p:spTgt spid="384003">
                                            <p:txEl>
                                              <p:pRg st="8" end="8"/>
                                            </p:txEl>
                                          </p:spTgt>
                                        </p:tgtEl>
                                        <p:attrNameLst>
                                          <p:attrName>style.visibility</p:attrName>
                                        </p:attrNameLst>
                                      </p:cBhvr>
                                      <p:to>
                                        <p:strVal val="visible"/>
                                      </p:to>
                                    </p:set>
                                    <p:animEffect transition="in" filter="wipe(left)">
                                      <p:cBhvr>
                                        <p:cTn id="23" dur="2000"/>
                                        <p:tgtEl>
                                          <p:spTgt spid="384003">
                                            <p:txEl>
                                              <p:pRg st="8" end="8"/>
                                            </p:txEl>
                                          </p:spTgt>
                                        </p:tgtEl>
                                      </p:cBhvr>
                                    </p:animEffect>
                                  </p:childTnLst>
                                </p:cTn>
                              </p:par>
                            </p:childTnLst>
                          </p:cTn>
                        </p:par>
                        <p:par>
                          <p:cTn id="24" fill="hold" nodeType="afterGroup">
                            <p:stCondLst>
                              <p:cond delay="10000"/>
                            </p:stCondLst>
                            <p:childTnLst>
                              <p:par>
                                <p:cTn id="25" presetID="22" presetClass="entr" presetSubtype="8" fill="hold" nodeType="afterEffect">
                                  <p:stCondLst>
                                    <p:cond delay="0"/>
                                  </p:stCondLst>
                                  <p:childTnLst>
                                    <p:set>
                                      <p:cBhvr>
                                        <p:cTn id="26" dur="1" fill="hold">
                                          <p:stCondLst>
                                            <p:cond delay="0"/>
                                          </p:stCondLst>
                                        </p:cTn>
                                        <p:tgtEl>
                                          <p:spTgt spid="384003">
                                            <p:txEl>
                                              <p:pRg st="9" end="9"/>
                                            </p:txEl>
                                          </p:spTgt>
                                        </p:tgtEl>
                                        <p:attrNameLst>
                                          <p:attrName>style.visibility</p:attrName>
                                        </p:attrNameLst>
                                      </p:cBhvr>
                                      <p:to>
                                        <p:strVal val="visible"/>
                                      </p:to>
                                    </p:set>
                                    <p:animEffect transition="in" filter="wipe(left)">
                                      <p:cBhvr>
                                        <p:cTn id="27" dur="2000"/>
                                        <p:tgtEl>
                                          <p:spTgt spid="3840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5939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5939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AE3770BA-65CE-46B8-AA8E-A9005B297936}" type="slidenum">
              <a:rPr lang="zh-CN" altLang="en-US" sz="800"/>
              <a:pPr>
                <a:spcBef>
                  <a:spcPct val="0"/>
                </a:spcBef>
                <a:buFontTx/>
                <a:buNone/>
              </a:pPr>
              <a:t>57</a:t>
            </a:fld>
            <a:endParaRPr lang="en-US" altLang="zh-CN" sz="800"/>
          </a:p>
        </p:txBody>
      </p:sp>
      <p:sp>
        <p:nvSpPr>
          <p:cNvPr id="59397" name="Rectangle 2"/>
          <p:cNvSpPr>
            <a:spLocks noGrp="1" noChangeArrowheads="1"/>
          </p:cNvSpPr>
          <p:nvPr>
            <p:ph type="title"/>
          </p:nvPr>
        </p:nvSpPr>
        <p:spPr>
          <a:xfrm>
            <a:off x="381000" y="152400"/>
            <a:ext cx="9372600" cy="685800"/>
          </a:xfrm>
        </p:spPr>
        <p:txBody>
          <a:bodyPr/>
          <a:lstStyle/>
          <a:p>
            <a:r>
              <a:rPr lang="en-US" altLang="zh-CN" smtClean="0">
                <a:ea typeface="宋体" panose="02010600030101010101" pitchFamily="2" charset="-122"/>
              </a:rPr>
              <a:t>Removing Embedding Semantic Actions</a:t>
            </a:r>
          </a:p>
        </p:txBody>
      </p:sp>
      <p:sp>
        <p:nvSpPr>
          <p:cNvPr id="385027" name="Rectangle 3"/>
          <p:cNvSpPr>
            <a:spLocks noGrp="1" noChangeArrowheads="1"/>
          </p:cNvSpPr>
          <p:nvPr>
            <p:ph type="body" idx="1"/>
          </p:nvPr>
        </p:nvSpPr>
        <p:spPr>
          <a:xfrm>
            <a:off x="2514600" y="990600"/>
            <a:ext cx="5410200" cy="5105400"/>
          </a:xfrm>
        </p:spPr>
        <p:txBody>
          <a:bodyPr/>
          <a:lstStyle/>
          <a:p>
            <a:pPr>
              <a:lnSpc>
                <a:spcPct val="90000"/>
              </a:lnSpc>
              <a:buFontTx/>
              <a:buNone/>
            </a:pPr>
            <a:r>
              <a:rPr lang="en-US" altLang="zh-CN" smtClean="0">
                <a:ea typeface="宋体" panose="02010600030101010101" pitchFamily="2" charset="-122"/>
                <a:cs typeface="Times New Roman" panose="02020603050405020304" pitchFamily="18" charset="0"/>
              </a:rPr>
              <a:t>E → T R</a:t>
            </a:r>
          </a:p>
          <a:p>
            <a:pPr>
              <a:lnSpc>
                <a:spcPct val="90000"/>
              </a:lnSpc>
              <a:buFontTx/>
              <a:buNone/>
            </a:pPr>
            <a:r>
              <a:rPr lang="en-US" altLang="zh-CN" smtClean="0">
                <a:ea typeface="宋体" panose="02010600030101010101" pitchFamily="2" charset="-122"/>
                <a:cs typeface="Times New Roman" panose="02020603050405020304" pitchFamily="18" charset="0"/>
              </a:rPr>
              <a:t>R → + T </a:t>
            </a:r>
            <a:r>
              <a:rPr lang="en-US" altLang="zh-CN" smtClean="0">
                <a:solidFill>
                  <a:srgbClr val="CC0000"/>
                </a:solidFill>
                <a:ea typeface="宋体" panose="02010600030101010101" pitchFamily="2" charset="-122"/>
                <a:cs typeface="Times New Roman" panose="02020603050405020304" pitchFamily="18" charset="0"/>
              </a:rPr>
              <a:t>{ print(“+”) }</a:t>
            </a:r>
            <a:r>
              <a:rPr lang="en-US" altLang="zh-CN" smtClean="0">
                <a:ea typeface="宋体" panose="02010600030101010101" pitchFamily="2" charset="-122"/>
                <a:cs typeface="Times New Roman" panose="02020603050405020304" pitchFamily="18" charset="0"/>
              </a:rPr>
              <a:t> R</a:t>
            </a:r>
            <a:r>
              <a:rPr lang="en-US" altLang="zh-CN" baseline="-25000" smtClean="0">
                <a:ea typeface="宋体" panose="02010600030101010101" pitchFamily="2" charset="-122"/>
                <a:cs typeface="Times New Roman" panose="02020603050405020304" pitchFamily="18" charset="0"/>
              </a:rPr>
              <a:t>1</a:t>
            </a:r>
            <a:endParaRPr lang="en-US" altLang="zh-CN" smtClean="0">
              <a:ea typeface="宋体" panose="02010600030101010101" pitchFamily="2" charset="-122"/>
              <a:cs typeface="Times New Roman" panose="02020603050405020304" pitchFamily="18" charset="0"/>
            </a:endParaRPr>
          </a:p>
          <a:p>
            <a:pPr>
              <a:lnSpc>
                <a:spcPct val="90000"/>
              </a:lnSpc>
              <a:buFontTx/>
              <a:buNone/>
            </a:pPr>
            <a:r>
              <a:rPr lang="en-US" altLang="zh-CN" smtClean="0">
                <a:ea typeface="宋体" panose="02010600030101010101" pitchFamily="2" charset="-122"/>
                <a:cs typeface="Times New Roman" panose="02020603050405020304" pitchFamily="18" charset="0"/>
              </a:rPr>
              <a:t>R → </a:t>
            </a:r>
            <a:r>
              <a:rPr lang="en-US" altLang="zh-CN" smtClean="0">
                <a:ea typeface="宋体" panose="02010600030101010101" pitchFamily="2" charset="-122"/>
                <a:cs typeface="Times New Roman" panose="02020603050405020304" pitchFamily="18" charset="0"/>
                <a:sym typeface="Symbol" panose="05050102010706020507" pitchFamily="18" charset="2"/>
              </a:rPr>
              <a:t></a:t>
            </a:r>
          </a:p>
          <a:p>
            <a:pPr>
              <a:lnSpc>
                <a:spcPct val="90000"/>
              </a:lnSpc>
              <a:buFontTx/>
              <a:buNone/>
            </a:pPr>
            <a:r>
              <a:rPr lang="en-US" altLang="zh-CN" smtClean="0">
                <a:ea typeface="宋体" panose="02010600030101010101" pitchFamily="2" charset="-122"/>
                <a:cs typeface="Times New Roman" panose="02020603050405020304" pitchFamily="18" charset="0"/>
                <a:sym typeface="Symbol" panose="05050102010706020507" pitchFamily="18" charset="2"/>
              </a:rPr>
              <a:t>T </a:t>
            </a:r>
            <a:r>
              <a:rPr lang="en-US" altLang="zh-CN" smtClean="0">
                <a:ea typeface="宋体" panose="02010600030101010101" pitchFamily="2" charset="-122"/>
                <a:cs typeface="Times New Roman" panose="02020603050405020304" pitchFamily="18" charset="0"/>
              </a:rPr>
              <a:t>→ </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 </a:t>
            </a:r>
            <a:r>
              <a:rPr lang="en-US" altLang="zh-CN" smtClean="0">
                <a:solidFill>
                  <a:srgbClr val="CC0000"/>
                </a:solidFill>
                <a:ea typeface="宋体" panose="02010600030101010101" pitchFamily="2" charset="-122"/>
                <a:cs typeface="Times New Roman" panose="02020603050405020304" pitchFamily="18" charset="0"/>
              </a:rPr>
              <a:t>{ print(</a:t>
            </a:r>
            <a:r>
              <a:rPr lang="en-US" altLang="zh-CN" b="1" smtClean="0">
                <a:solidFill>
                  <a:srgbClr val="CC0000"/>
                </a:solidFill>
                <a:ea typeface="宋体" panose="02010600030101010101" pitchFamily="2" charset="-122"/>
                <a:cs typeface="Times New Roman" panose="02020603050405020304" pitchFamily="18" charset="0"/>
              </a:rPr>
              <a:t>id</a:t>
            </a:r>
            <a:r>
              <a:rPr lang="en-US" altLang="zh-CN" smtClean="0">
                <a:solidFill>
                  <a:srgbClr val="CC0000"/>
                </a:solidFill>
                <a:ea typeface="宋体" panose="02010600030101010101" pitchFamily="2" charset="-122"/>
                <a:cs typeface="Times New Roman" panose="02020603050405020304" pitchFamily="18" charset="0"/>
              </a:rPr>
              <a:t>.name) }</a:t>
            </a:r>
          </a:p>
          <a:p>
            <a:pPr>
              <a:lnSpc>
                <a:spcPct val="90000"/>
              </a:lnSpc>
              <a:buFontTx/>
              <a:buNone/>
            </a:pPr>
            <a:endParaRPr lang="en-US" altLang="zh-CN" sz="900" smtClean="0">
              <a:solidFill>
                <a:srgbClr val="CC0000"/>
              </a:solidFill>
              <a:ea typeface="宋体" panose="02010600030101010101" pitchFamily="2" charset="-122"/>
              <a:cs typeface="Times New Roman" panose="02020603050405020304" pitchFamily="18" charset="0"/>
            </a:endParaRPr>
          </a:p>
          <a:p>
            <a:pPr>
              <a:lnSpc>
                <a:spcPct val="90000"/>
              </a:lnSpc>
              <a:buFontTx/>
              <a:buNone/>
            </a:pPr>
            <a:r>
              <a:rPr lang="en-US" altLang="zh-CN" sz="4800" smtClean="0">
                <a:ea typeface="宋体" panose="02010600030101010101" pitchFamily="2" charset="-122"/>
                <a:cs typeface="Times New Roman" panose="02020603050405020304" pitchFamily="18" charset="0"/>
                <a:sym typeface="Symbol" panose="05050102010706020507" pitchFamily="18" charset="2"/>
              </a:rPr>
              <a:t></a:t>
            </a:r>
            <a:r>
              <a:rPr lang="en-US" altLang="zh-CN" smtClean="0">
                <a:ea typeface="宋体" panose="02010600030101010101" pitchFamily="2" charset="-122"/>
                <a:cs typeface="Times New Roman" panose="02020603050405020304" pitchFamily="18" charset="0"/>
                <a:sym typeface="Symbol" panose="05050102010706020507" pitchFamily="18" charset="2"/>
              </a:rPr>
              <a:t> remove embedding semantic actions</a:t>
            </a:r>
          </a:p>
          <a:p>
            <a:pPr>
              <a:lnSpc>
                <a:spcPct val="90000"/>
              </a:lnSpc>
              <a:buFontTx/>
              <a:buNone/>
            </a:pPr>
            <a:endParaRPr lang="en-US" altLang="zh-CN" smtClean="0">
              <a:ea typeface="宋体" panose="02010600030101010101" pitchFamily="2" charset="-122"/>
              <a:cs typeface="Times New Roman" panose="02020603050405020304" pitchFamily="18" charset="0"/>
            </a:endParaRPr>
          </a:p>
          <a:p>
            <a:pPr>
              <a:lnSpc>
                <a:spcPct val="90000"/>
              </a:lnSpc>
              <a:buFontTx/>
              <a:buNone/>
            </a:pPr>
            <a:r>
              <a:rPr lang="en-US" altLang="zh-CN" smtClean="0">
                <a:ea typeface="宋体" panose="02010600030101010101" pitchFamily="2" charset="-122"/>
                <a:cs typeface="Times New Roman" panose="02020603050405020304" pitchFamily="18" charset="0"/>
              </a:rPr>
              <a:t>E → T R</a:t>
            </a:r>
          </a:p>
          <a:p>
            <a:pPr>
              <a:lnSpc>
                <a:spcPct val="90000"/>
              </a:lnSpc>
              <a:buFontTx/>
              <a:buNone/>
            </a:pPr>
            <a:r>
              <a:rPr lang="en-US" altLang="zh-CN" smtClean="0">
                <a:ea typeface="宋体" panose="02010600030101010101" pitchFamily="2" charset="-122"/>
                <a:cs typeface="Times New Roman" panose="02020603050405020304" pitchFamily="18" charset="0"/>
              </a:rPr>
              <a:t>R → + T M R</a:t>
            </a:r>
            <a:r>
              <a:rPr lang="en-US" altLang="zh-CN" baseline="-25000" smtClean="0">
                <a:ea typeface="宋体" panose="02010600030101010101" pitchFamily="2" charset="-122"/>
                <a:cs typeface="Times New Roman" panose="02020603050405020304" pitchFamily="18" charset="0"/>
              </a:rPr>
              <a:t>1</a:t>
            </a:r>
            <a:endParaRPr lang="en-US" altLang="zh-CN" smtClean="0">
              <a:ea typeface="宋体" panose="02010600030101010101" pitchFamily="2" charset="-122"/>
              <a:cs typeface="Times New Roman" panose="02020603050405020304" pitchFamily="18" charset="0"/>
            </a:endParaRPr>
          </a:p>
          <a:p>
            <a:pPr>
              <a:lnSpc>
                <a:spcPct val="90000"/>
              </a:lnSpc>
              <a:buFontTx/>
              <a:buNone/>
            </a:pPr>
            <a:r>
              <a:rPr lang="en-US" altLang="zh-CN" smtClean="0">
                <a:ea typeface="宋体" panose="02010600030101010101" pitchFamily="2" charset="-122"/>
                <a:cs typeface="Times New Roman" panose="02020603050405020304" pitchFamily="18" charset="0"/>
              </a:rPr>
              <a:t>R → </a:t>
            </a:r>
            <a:r>
              <a:rPr lang="en-US" altLang="zh-CN" smtClean="0">
                <a:ea typeface="宋体" panose="02010600030101010101" pitchFamily="2" charset="-122"/>
                <a:cs typeface="Times New Roman" panose="02020603050405020304" pitchFamily="18" charset="0"/>
                <a:sym typeface="Symbol" panose="05050102010706020507" pitchFamily="18" charset="2"/>
              </a:rPr>
              <a:t></a:t>
            </a:r>
          </a:p>
          <a:p>
            <a:pPr>
              <a:lnSpc>
                <a:spcPct val="90000"/>
              </a:lnSpc>
              <a:buFontTx/>
              <a:buNone/>
            </a:pPr>
            <a:r>
              <a:rPr lang="en-US" altLang="zh-CN" smtClean="0">
                <a:ea typeface="宋体" panose="02010600030101010101" pitchFamily="2" charset="-122"/>
                <a:cs typeface="Times New Roman" panose="02020603050405020304" pitchFamily="18" charset="0"/>
                <a:sym typeface="Symbol" panose="05050102010706020507" pitchFamily="18" charset="2"/>
              </a:rPr>
              <a:t>T </a:t>
            </a:r>
            <a:r>
              <a:rPr lang="en-US" altLang="zh-CN" smtClean="0">
                <a:ea typeface="宋体" panose="02010600030101010101" pitchFamily="2" charset="-122"/>
                <a:cs typeface="Times New Roman" panose="02020603050405020304" pitchFamily="18" charset="0"/>
              </a:rPr>
              <a:t>→ </a:t>
            </a:r>
            <a:r>
              <a:rPr lang="en-US" altLang="zh-CN" b="1" smtClean="0">
                <a:ea typeface="宋体" panose="02010600030101010101" pitchFamily="2" charset="-122"/>
                <a:cs typeface="Times New Roman" panose="02020603050405020304" pitchFamily="18" charset="0"/>
              </a:rPr>
              <a:t>id</a:t>
            </a:r>
            <a:r>
              <a:rPr lang="en-US" altLang="zh-CN" smtClean="0">
                <a:ea typeface="宋体" panose="02010600030101010101" pitchFamily="2" charset="-122"/>
                <a:cs typeface="Times New Roman" panose="02020603050405020304" pitchFamily="18" charset="0"/>
              </a:rPr>
              <a:t> </a:t>
            </a:r>
            <a:r>
              <a:rPr lang="en-US" altLang="zh-CN" smtClean="0">
                <a:solidFill>
                  <a:srgbClr val="CC0000"/>
                </a:solidFill>
                <a:ea typeface="宋体" panose="02010600030101010101" pitchFamily="2" charset="-122"/>
                <a:cs typeface="Times New Roman" panose="02020603050405020304" pitchFamily="18" charset="0"/>
              </a:rPr>
              <a:t>{ print(</a:t>
            </a:r>
            <a:r>
              <a:rPr lang="en-US" altLang="zh-CN" b="1" smtClean="0">
                <a:solidFill>
                  <a:srgbClr val="CC0000"/>
                </a:solidFill>
                <a:ea typeface="宋体" panose="02010600030101010101" pitchFamily="2" charset="-122"/>
                <a:cs typeface="Times New Roman" panose="02020603050405020304" pitchFamily="18" charset="0"/>
              </a:rPr>
              <a:t>id</a:t>
            </a:r>
            <a:r>
              <a:rPr lang="en-US" altLang="zh-CN" smtClean="0">
                <a:solidFill>
                  <a:srgbClr val="CC0000"/>
                </a:solidFill>
                <a:ea typeface="宋体" panose="02010600030101010101" pitchFamily="2" charset="-122"/>
                <a:cs typeface="Times New Roman" panose="02020603050405020304" pitchFamily="18" charset="0"/>
              </a:rPr>
              <a:t>.name) }</a:t>
            </a:r>
          </a:p>
          <a:p>
            <a:pPr>
              <a:lnSpc>
                <a:spcPct val="90000"/>
              </a:lnSpc>
              <a:buFontTx/>
              <a:buNone/>
            </a:pPr>
            <a:r>
              <a:rPr lang="en-US" altLang="zh-CN" smtClean="0">
                <a:ea typeface="宋体" panose="02010600030101010101" pitchFamily="2" charset="-122"/>
                <a:cs typeface="Times New Roman" panose="02020603050405020304" pitchFamily="18" charset="0"/>
              </a:rPr>
              <a:t>M → </a:t>
            </a:r>
            <a:r>
              <a:rPr lang="en-US" altLang="zh-CN" smtClean="0">
                <a:ea typeface="宋体" panose="02010600030101010101" pitchFamily="2" charset="-122"/>
                <a:cs typeface="Times New Roman" panose="02020603050405020304" pitchFamily="18" charset="0"/>
                <a:sym typeface="Symbol" panose="05050102010706020507" pitchFamily="18" charset="2"/>
              </a:rPr>
              <a:t> </a:t>
            </a:r>
            <a:r>
              <a:rPr lang="en-US" altLang="zh-CN" smtClean="0">
                <a:solidFill>
                  <a:srgbClr val="CC0000"/>
                </a:solidFill>
                <a:ea typeface="宋体" panose="02010600030101010101" pitchFamily="2" charset="-122"/>
                <a:cs typeface="Times New Roman" panose="02020603050405020304" pitchFamily="18" charset="0"/>
              </a:rPr>
              <a:t>{ print(“+”) }</a:t>
            </a:r>
            <a:r>
              <a:rPr lang="en-US" altLang="zh-CN" smtClean="0">
                <a:ea typeface="宋体" panose="02010600030101010101" pitchFamily="2" charset="-122"/>
                <a:cs typeface="Times New Roman" panose="02020603050405020304" pitchFamily="18" charset="0"/>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85027">
                                            <p:txEl>
                                              <p:pRg st="7" end="7"/>
                                            </p:txEl>
                                          </p:spTgt>
                                        </p:tgtEl>
                                        <p:attrNameLst>
                                          <p:attrName>style.visibility</p:attrName>
                                        </p:attrNameLst>
                                      </p:cBhvr>
                                      <p:to>
                                        <p:strVal val="visible"/>
                                      </p:to>
                                    </p:set>
                                    <p:animEffect transition="in" filter="wipe(left)">
                                      <p:cBhvr>
                                        <p:cTn id="7" dur="2000"/>
                                        <p:tgtEl>
                                          <p:spTgt spid="385027">
                                            <p:txEl>
                                              <p:pRg st="7" end="7"/>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385027">
                                            <p:txEl>
                                              <p:pRg st="8" end="8"/>
                                            </p:txEl>
                                          </p:spTgt>
                                        </p:tgtEl>
                                        <p:attrNameLst>
                                          <p:attrName>style.visibility</p:attrName>
                                        </p:attrNameLst>
                                      </p:cBhvr>
                                      <p:to>
                                        <p:strVal val="visible"/>
                                      </p:to>
                                    </p:set>
                                    <p:animEffect transition="in" filter="wipe(left)">
                                      <p:cBhvr>
                                        <p:cTn id="11" dur="2000"/>
                                        <p:tgtEl>
                                          <p:spTgt spid="385027">
                                            <p:txEl>
                                              <p:pRg st="8" end="8"/>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385027">
                                            <p:txEl>
                                              <p:pRg st="9" end="9"/>
                                            </p:txEl>
                                          </p:spTgt>
                                        </p:tgtEl>
                                        <p:attrNameLst>
                                          <p:attrName>style.visibility</p:attrName>
                                        </p:attrNameLst>
                                      </p:cBhvr>
                                      <p:to>
                                        <p:strVal val="visible"/>
                                      </p:to>
                                    </p:set>
                                    <p:animEffect transition="in" filter="wipe(left)">
                                      <p:cBhvr>
                                        <p:cTn id="15" dur="2000"/>
                                        <p:tgtEl>
                                          <p:spTgt spid="385027">
                                            <p:txEl>
                                              <p:pRg st="9" end="9"/>
                                            </p:txEl>
                                          </p:spTgt>
                                        </p:tgtEl>
                                      </p:cBhvr>
                                    </p:animEffect>
                                  </p:childTnLst>
                                </p:cTn>
                              </p:par>
                            </p:childTnLst>
                          </p:cTn>
                        </p:par>
                        <p:par>
                          <p:cTn id="16" fill="hold" nodeType="afterGroup">
                            <p:stCondLst>
                              <p:cond delay="6000"/>
                            </p:stCondLst>
                            <p:childTnLst>
                              <p:par>
                                <p:cTn id="17" presetID="22" presetClass="entr" presetSubtype="8" fill="hold" nodeType="afterEffect">
                                  <p:stCondLst>
                                    <p:cond delay="0"/>
                                  </p:stCondLst>
                                  <p:childTnLst>
                                    <p:set>
                                      <p:cBhvr>
                                        <p:cTn id="18" dur="1" fill="hold">
                                          <p:stCondLst>
                                            <p:cond delay="0"/>
                                          </p:stCondLst>
                                        </p:cTn>
                                        <p:tgtEl>
                                          <p:spTgt spid="385027">
                                            <p:txEl>
                                              <p:pRg st="10" end="10"/>
                                            </p:txEl>
                                          </p:spTgt>
                                        </p:tgtEl>
                                        <p:attrNameLst>
                                          <p:attrName>style.visibility</p:attrName>
                                        </p:attrNameLst>
                                      </p:cBhvr>
                                      <p:to>
                                        <p:strVal val="visible"/>
                                      </p:to>
                                    </p:set>
                                    <p:animEffect transition="in" filter="wipe(left)">
                                      <p:cBhvr>
                                        <p:cTn id="19" dur="2000"/>
                                        <p:tgtEl>
                                          <p:spTgt spid="385027">
                                            <p:txEl>
                                              <p:pRg st="10" end="10"/>
                                            </p:txEl>
                                          </p:spTgt>
                                        </p:tgtEl>
                                      </p:cBhvr>
                                    </p:animEffect>
                                  </p:childTnLst>
                                </p:cTn>
                              </p:par>
                            </p:childTnLst>
                          </p:cTn>
                        </p:par>
                        <p:par>
                          <p:cTn id="20" fill="hold" nodeType="afterGroup">
                            <p:stCondLst>
                              <p:cond delay="8000"/>
                            </p:stCondLst>
                            <p:childTnLst>
                              <p:par>
                                <p:cTn id="21" presetID="22" presetClass="entr" presetSubtype="8" fill="hold" nodeType="afterEffect">
                                  <p:stCondLst>
                                    <p:cond delay="0"/>
                                  </p:stCondLst>
                                  <p:childTnLst>
                                    <p:set>
                                      <p:cBhvr>
                                        <p:cTn id="22" dur="1" fill="hold">
                                          <p:stCondLst>
                                            <p:cond delay="0"/>
                                          </p:stCondLst>
                                        </p:cTn>
                                        <p:tgtEl>
                                          <p:spTgt spid="385027">
                                            <p:txEl>
                                              <p:pRg st="11" end="11"/>
                                            </p:txEl>
                                          </p:spTgt>
                                        </p:tgtEl>
                                        <p:attrNameLst>
                                          <p:attrName>style.visibility</p:attrName>
                                        </p:attrNameLst>
                                      </p:cBhvr>
                                      <p:to>
                                        <p:strVal val="visible"/>
                                      </p:to>
                                    </p:set>
                                    <p:animEffect transition="in" filter="wipe(left)">
                                      <p:cBhvr>
                                        <p:cTn id="23" dur="2000"/>
                                        <p:tgtEl>
                                          <p:spTgt spid="38502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041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042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F554F2B4-D707-4B43-965B-D106D43D254C}" type="slidenum">
              <a:rPr lang="zh-CN" altLang="en-US" sz="800"/>
              <a:pPr>
                <a:spcBef>
                  <a:spcPct val="0"/>
                </a:spcBef>
                <a:buFontTx/>
                <a:buNone/>
              </a:pPr>
              <a:t>58</a:t>
            </a:fld>
            <a:endParaRPr lang="en-US" altLang="zh-CN" sz="800"/>
          </a:p>
        </p:txBody>
      </p:sp>
      <p:sp>
        <p:nvSpPr>
          <p:cNvPr id="60421" name="Rectangle 2"/>
          <p:cNvSpPr>
            <a:spLocks noGrp="1" noChangeArrowheads="1"/>
          </p:cNvSpPr>
          <p:nvPr>
            <p:ph type="title"/>
          </p:nvPr>
        </p:nvSpPr>
        <p:spPr>
          <a:xfrm>
            <a:off x="304800" y="228600"/>
            <a:ext cx="9283700" cy="1143000"/>
          </a:xfrm>
        </p:spPr>
        <p:txBody>
          <a:bodyPr/>
          <a:lstStyle/>
          <a:p>
            <a:r>
              <a:rPr lang="en-US" altLang="zh-TW" smtClean="0">
                <a:ea typeface="PMingLiU" pitchFamily="18" charset="-120"/>
              </a:rPr>
              <a:t>Evaluation of Inherited Attributes</a:t>
            </a:r>
          </a:p>
        </p:txBody>
      </p:sp>
      <p:sp>
        <p:nvSpPr>
          <p:cNvPr id="60422" name="Rectangle 3"/>
          <p:cNvSpPr>
            <a:spLocks noGrp="1" noChangeArrowheads="1"/>
          </p:cNvSpPr>
          <p:nvPr>
            <p:ph type="body" idx="1"/>
          </p:nvPr>
        </p:nvSpPr>
        <p:spPr>
          <a:xfrm>
            <a:off x="533400" y="1447800"/>
            <a:ext cx="8915400" cy="1143000"/>
          </a:xfrm>
        </p:spPr>
        <p:txBody>
          <a:bodyPr/>
          <a:lstStyle/>
          <a:p>
            <a:r>
              <a:rPr lang="en-US" altLang="zh-TW" smtClean="0">
                <a:ea typeface="PMingLiU" pitchFamily="18" charset="-120"/>
              </a:rPr>
              <a:t>Removing embedding actions from attribute grammar by introducing </a:t>
            </a:r>
            <a:r>
              <a:rPr lang="en-US" altLang="zh-TW" smtClean="0">
                <a:solidFill>
                  <a:schemeClr val="tx2"/>
                </a:solidFill>
                <a:ea typeface="PMingLiU" pitchFamily="18" charset="-120"/>
              </a:rPr>
              <a:t>marker </a:t>
            </a:r>
            <a:r>
              <a:rPr lang="en-US" altLang="zh-TW" smtClean="0">
                <a:ea typeface="PMingLiU" pitchFamily="18" charset="-120"/>
              </a:rPr>
              <a:t>nonterminals</a:t>
            </a:r>
          </a:p>
        </p:txBody>
      </p:sp>
      <p:sp>
        <p:nvSpPr>
          <p:cNvPr id="60423" name="Text Box 4"/>
          <p:cNvSpPr txBox="1">
            <a:spLocks noChangeArrowheads="1"/>
          </p:cNvSpPr>
          <p:nvPr/>
        </p:nvSpPr>
        <p:spPr bwMode="auto">
          <a:xfrm>
            <a:off x="1371600" y="2667000"/>
            <a:ext cx="68151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E </a:t>
            </a:r>
            <a:r>
              <a:rPr kumimoji="1" lang="en-US" altLang="zh-TW" b="0">
                <a:latin typeface="Arial" panose="020B0604020202020204" pitchFamily="34" charset="0"/>
                <a:ea typeface="PMingLiU" pitchFamily="18" charset="-120"/>
                <a:sym typeface="Symbol" panose="05050102010706020507" pitchFamily="18" charset="2"/>
              </a:rPr>
              <a:t> T R</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R  “+”  T  {print(‘+’)}  R  |  “-”  T  {print(‘-’)} R  |  </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num</a:t>
            </a:r>
            <a:r>
              <a:rPr kumimoji="1" lang="en-US" altLang="zh-TW" b="0">
                <a:latin typeface="Arial" panose="020B0604020202020204" pitchFamily="34" charset="0"/>
                <a:ea typeface="PMingLiU" pitchFamily="18" charset="-120"/>
                <a:sym typeface="Symbol" panose="05050102010706020507" pitchFamily="18" charset="2"/>
              </a:rPr>
              <a:t>  {print(</a:t>
            </a:r>
            <a:r>
              <a:rPr kumimoji="1" lang="en-US" altLang="zh-TW">
                <a:latin typeface="Arial" panose="020B0604020202020204" pitchFamily="34" charset="0"/>
                <a:ea typeface="PMingLiU" pitchFamily="18" charset="-120"/>
                <a:sym typeface="Symbol" panose="05050102010706020507" pitchFamily="18" charset="2"/>
              </a:rPr>
              <a:t>num</a:t>
            </a:r>
            <a:r>
              <a:rPr kumimoji="1" lang="en-US" altLang="zh-TW" b="0">
                <a:latin typeface="Arial" panose="020B0604020202020204" pitchFamily="34" charset="0"/>
                <a:ea typeface="PMingLiU" pitchFamily="18" charset="-120"/>
                <a:sym typeface="Symbol" panose="05050102010706020507" pitchFamily="18" charset="2"/>
              </a:rPr>
              <a:t>.val)}</a:t>
            </a:r>
            <a:r>
              <a:rPr kumimoji="1" lang="en-US" altLang="zh-TW" b="0">
                <a:latin typeface="Arial" panose="020B0604020202020204" pitchFamily="34" charset="0"/>
                <a:ea typeface="PMingLiU" pitchFamily="18" charset="-120"/>
              </a:rPr>
              <a:t> </a:t>
            </a:r>
          </a:p>
        </p:txBody>
      </p:sp>
      <p:sp>
        <p:nvSpPr>
          <p:cNvPr id="60424" name="Rectangle 5"/>
          <p:cNvSpPr>
            <a:spLocks noChangeArrowheads="1"/>
          </p:cNvSpPr>
          <p:nvPr/>
        </p:nvSpPr>
        <p:spPr bwMode="auto">
          <a:xfrm>
            <a:off x="1371600" y="4038600"/>
            <a:ext cx="67056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kumimoji="1" lang="en-US" altLang="zh-TW" b="0">
                <a:latin typeface="Arial" panose="020B0604020202020204" pitchFamily="34" charset="0"/>
                <a:ea typeface="PMingLiU" pitchFamily="18" charset="-120"/>
              </a:rPr>
              <a:t>E </a:t>
            </a:r>
            <a:r>
              <a:rPr kumimoji="1" lang="en-US" altLang="zh-TW" b="0">
                <a:latin typeface="Arial" panose="020B0604020202020204" pitchFamily="34" charset="0"/>
                <a:ea typeface="PMingLiU" pitchFamily="18" charset="-120"/>
                <a:sym typeface="Symbol" panose="05050102010706020507" pitchFamily="18" charset="2"/>
              </a:rPr>
              <a:t> T R</a:t>
            </a:r>
          </a:p>
          <a:p>
            <a:pPr>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R  “+”  T  </a:t>
            </a:r>
            <a:r>
              <a:rPr kumimoji="1" lang="en-US" altLang="zh-TW" b="0">
                <a:solidFill>
                  <a:srgbClr val="CC0000"/>
                </a:solidFill>
                <a:latin typeface="Arial" panose="020B0604020202020204" pitchFamily="34" charset="0"/>
                <a:ea typeface="PMingLiU" pitchFamily="18" charset="-120"/>
                <a:sym typeface="Symbol" panose="05050102010706020507" pitchFamily="18" charset="2"/>
              </a:rPr>
              <a:t>M</a:t>
            </a:r>
            <a:r>
              <a:rPr kumimoji="1" lang="en-US" altLang="zh-TW" b="0">
                <a:latin typeface="Arial" panose="020B0604020202020204" pitchFamily="34" charset="0"/>
                <a:ea typeface="PMingLiU" pitchFamily="18" charset="-120"/>
                <a:sym typeface="Symbol" panose="05050102010706020507" pitchFamily="18" charset="2"/>
              </a:rPr>
              <a:t>  R  |  “-”  T  </a:t>
            </a:r>
            <a:r>
              <a:rPr kumimoji="1" lang="en-US" altLang="zh-TW" b="0">
                <a:solidFill>
                  <a:srgbClr val="CC0000"/>
                </a:solidFill>
                <a:latin typeface="Arial" panose="020B0604020202020204" pitchFamily="34" charset="0"/>
                <a:ea typeface="PMingLiU" pitchFamily="18" charset="-120"/>
                <a:sym typeface="Symbol" panose="05050102010706020507" pitchFamily="18" charset="2"/>
              </a:rPr>
              <a:t>N</a:t>
            </a:r>
            <a:r>
              <a:rPr kumimoji="1" lang="en-US" altLang="zh-TW" b="0">
                <a:latin typeface="Arial" panose="020B0604020202020204" pitchFamily="34" charset="0"/>
                <a:ea typeface="PMingLiU" pitchFamily="18" charset="-120"/>
                <a:sym typeface="Symbol" panose="05050102010706020507" pitchFamily="18" charset="2"/>
              </a:rPr>
              <a:t>  R  |  </a:t>
            </a:r>
          </a:p>
          <a:p>
            <a:pPr>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num</a:t>
            </a:r>
            <a:r>
              <a:rPr kumimoji="1" lang="en-US" altLang="zh-TW" b="0">
                <a:latin typeface="Arial" panose="020B0604020202020204" pitchFamily="34" charset="0"/>
                <a:ea typeface="PMingLiU" pitchFamily="18" charset="-120"/>
                <a:sym typeface="Symbol" panose="05050102010706020507" pitchFamily="18" charset="2"/>
              </a:rPr>
              <a:t>  </a:t>
            </a:r>
            <a:r>
              <a:rPr kumimoji="1" lang="en-US" altLang="zh-CN" b="0">
                <a:latin typeface="Arial" panose="020B0604020202020204" pitchFamily="34" charset="0"/>
                <a:ea typeface="宋体" panose="02010600030101010101" pitchFamily="2" charset="-122"/>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{print(</a:t>
            </a:r>
            <a:r>
              <a:rPr kumimoji="1" lang="en-US" altLang="zh-TW">
                <a:latin typeface="Arial" panose="020B0604020202020204" pitchFamily="34" charset="0"/>
                <a:ea typeface="PMingLiU" pitchFamily="18" charset="-120"/>
                <a:sym typeface="Symbol" panose="05050102010706020507" pitchFamily="18" charset="2"/>
              </a:rPr>
              <a:t>num</a:t>
            </a:r>
            <a:r>
              <a:rPr kumimoji="1" lang="en-US" altLang="zh-TW" b="0">
                <a:latin typeface="Arial" panose="020B0604020202020204" pitchFamily="34" charset="0"/>
                <a:ea typeface="PMingLiU" pitchFamily="18" charset="-120"/>
                <a:sym typeface="Symbol" panose="05050102010706020507" pitchFamily="18" charset="2"/>
              </a:rPr>
              <a:t>.val)}</a:t>
            </a:r>
            <a:r>
              <a:rPr kumimoji="1" lang="en-US" altLang="zh-TW" b="0">
                <a:latin typeface="Arial" panose="020B0604020202020204" pitchFamily="34" charset="0"/>
                <a:ea typeface="PMingLiU" pitchFamily="18" charset="-120"/>
              </a:rPr>
              <a:t> </a:t>
            </a:r>
          </a:p>
          <a:p>
            <a:pPr>
              <a:spcBef>
                <a:spcPct val="0"/>
              </a:spcBef>
              <a:buFontTx/>
              <a:buNone/>
            </a:pPr>
            <a:r>
              <a:rPr kumimoji="1" lang="en-US" altLang="zh-TW" b="0">
                <a:solidFill>
                  <a:srgbClr val="CC0000"/>
                </a:solidFill>
                <a:latin typeface="Arial" panose="020B0604020202020204" pitchFamily="34" charset="0"/>
                <a:ea typeface="PMingLiU" pitchFamily="18" charset="-120"/>
              </a:rPr>
              <a:t>M </a:t>
            </a:r>
            <a:r>
              <a:rPr kumimoji="1" lang="en-US" altLang="zh-TW" b="0">
                <a:solidFill>
                  <a:srgbClr val="CC0000"/>
                </a:solidFill>
                <a:latin typeface="Arial" panose="020B0604020202020204" pitchFamily="34" charset="0"/>
                <a:ea typeface="PMingLiU" pitchFamily="18" charset="-120"/>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  </a:t>
            </a:r>
            <a:r>
              <a:rPr kumimoji="1" lang="en-US" altLang="zh-CN" b="0">
                <a:latin typeface="Arial" panose="020B0604020202020204" pitchFamily="34" charset="0"/>
                <a:ea typeface="宋体" panose="02010600030101010101" pitchFamily="2" charset="-122"/>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{print(‘+’)}</a:t>
            </a:r>
          </a:p>
          <a:p>
            <a:pPr>
              <a:spcBef>
                <a:spcPct val="0"/>
              </a:spcBef>
              <a:buFontTx/>
              <a:buNone/>
            </a:pPr>
            <a:r>
              <a:rPr kumimoji="1" lang="en-US" altLang="zh-TW" b="0">
                <a:solidFill>
                  <a:srgbClr val="CC0000"/>
                </a:solidFill>
                <a:latin typeface="Arial" panose="020B0604020202020204" pitchFamily="34" charset="0"/>
                <a:ea typeface="PMingLiU" pitchFamily="18" charset="-120"/>
                <a:sym typeface="Symbol" panose="05050102010706020507" pitchFamily="18" charset="2"/>
              </a:rPr>
              <a:t>N   </a:t>
            </a:r>
            <a:r>
              <a:rPr kumimoji="1" lang="en-US" altLang="zh-TW" b="0">
                <a:latin typeface="Arial" panose="020B0604020202020204" pitchFamily="34" charset="0"/>
                <a:ea typeface="PMingLiU" pitchFamily="18" charset="-120"/>
                <a:sym typeface="Symbol" panose="05050102010706020507" pitchFamily="18" charset="2"/>
              </a:rPr>
              <a:t>  </a:t>
            </a:r>
            <a:r>
              <a:rPr kumimoji="1" lang="en-US" altLang="zh-CN" b="0">
                <a:latin typeface="Arial" panose="020B0604020202020204" pitchFamily="34" charset="0"/>
                <a:ea typeface="宋体" panose="02010600030101010101" pitchFamily="2" charset="-122"/>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{print(‘-’)}</a:t>
            </a:r>
          </a:p>
        </p:txBody>
      </p:sp>
    </p:spTree>
  </p:cSld>
  <p:clrMapOvr>
    <a:masterClrMapping/>
  </p:clrMapOvr>
  <p:transition>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1443"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1444"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36A0B03C-CC69-410D-B01A-079C53A1B60E}" type="slidenum">
              <a:rPr lang="zh-CN" altLang="en-US" sz="800"/>
              <a:pPr>
                <a:spcBef>
                  <a:spcPct val="0"/>
                </a:spcBef>
                <a:buFontTx/>
                <a:buNone/>
              </a:pPr>
              <a:t>59</a:t>
            </a:fld>
            <a:endParaRPr lang="en-US" altLang="zh-CN" sz="800"/>
          </a:p>
        </p:txBody>
      </p:sp>
      <p:sp>
        <p:nvSpPr>
          <p:cNvPr id="61445" name="Rectangle 2"/>
          <p:cNvSpPr>
            <a:spLocks noGrp="1" noChangeArrowheads="1"/>
          </p:cNvSpPr>
          <p:nvPr>
            <p:ph type="title"/>
          </p:nvPr>
        </p:nvSpPr>
        <p:spPr>
          <a:xfrm>
            <a:off x="458788" y="155575"/>
            <a:ext cx="9196387" cy="914400"/>
          </a:xfrm>
        </p:spPr>
        <p:txBody>
          <a:bodyPr/>
          <a:lstStyle/>
          <a:p>
            <a:r>
              <a:rPr lang="en-US" altLang="zh-TW" b="0" smtClean="0">
                <a:ea typeface="PMingLiU" pitchFamily="18" charset="-120"/>
              </a:rPr>
              <a:t>Evaluation of Inherited Attributes</a:t>
            </a:r>
            <a:r>
              <a:rPr lang="en-US" altLang="zh-CN" b="0" smtClean="0">
                <a:ea typeface="PMingLiU" pitchFamily="18" charset="-120"/>
              </a:rPr>
              <a:t> (cont.)</a:t>
            </a:r>
            <a:endParaRPr lang="en-US" altLang="zh-TW" b="0" smtClean="0">
              <a:ea typeface="PMingLiU" pitchFamily="18" charset="-120"/>
            </a:endParaRPr>
          </a:p>
        </p:txBody>
      </p:sp>
      <p:sp>
        <p:nvSpPr>
          <p:cNvPr id="61446" name="Rectangle 3"/>
          <p:cNvSpPr>
            <a:spLocks noGrp="1" noChangeArrowheads="1"/>
          </p:cNvSpPr>
          <p:nvPr>
            <p:ph type="body" idx="1"/>
          </p:nvPr>
        </p:nvSpPr>
        <p:spPr>
          <a:xfrm>
            <a:off x="838200" y="1371600"/>
            <a:ext cx="8658225" cy="990600"/>
          </a:xfrm>
        </p:spPr>
        <p:txBody>
          <a:bodyPr/>
          <a:lstStyle/>
          <a:p>
            <a:r>
              <a:rPr lang="en-US" altLang="zh-TW" smtClean="0">
                <a:ea typeface="PMingLiU" pitchFamily="18" charset="-120"/>
              </a:rPr>
              <a:t>Inheriting synthesized attributes on the stack</a:t>
            </a:r>
            <a:br>
              <a:rPr lang="en-US" altLang="zh-TW" smtClean="0">
                <a:ea typeface="PMingLiU" pitchFamily="18" charset="-120"/>
              </a:rPr>
            </a:br>
            <a:r>
              <a:rPr lang="en-US" altLang="zh-TW" sz="1800" smtClean="0">
                <a:ea typeface="PMingLiU" pitchFamily="18" charset="-120"/>
              </a:rPr>
              <a:t>	</a:t>
            </a:r>
            <a:r>
              <a:rPr lang="en-US" altLang="zh-TW" sz="2000" smtClean="0">
                <a:ea typeface="PMingLiU" pitchFamily="18" charset="-120"/>
              </a:rPr>
              <a:t>	   A </a:t>
            </a:r>
            <a:r>
              <a:rPr lang="en-US" altLang="zh-TW" sz="2000" smtClean="0">
                <a:ea typeface="PMingLiU" pitchFamily="18" charset="-120"/>
                <a:sym typeface="Symbol" panose="05050102010706020507" pitchFamily="18" charset="2"/>
              </a:rPr>
              <a:t> X  {Y.i := X.s}  Y</a:t>
            </a:r>
          </a:p>
        </p:txBody>
      </p:sp>
      <p:grpSp>
        <p:nvGrpSpPr>
          <p:cNvPr id="448516" name="Group 4"/>
          <p:cNvGrpSpPr>
            <a:grpSpLocks/>
          </p:cNvGrpSpPr>
          <p:nvPr/>
        </p:nvGrpSpPr>
        <p:grpSpPr bwMode="auto">
          <a:xfrm>
            <a:off x="1600200" y="2438400"/>
            <a:ext cx="4787900" cy="2057400"/>
            <a:chOff x="768" y="2639"/>
            <a:chExt cx="2784" cy="1296"/>
          </a:xfrm>
        </p:grpSpPr>
        <p:sp>
          <p:nvSpPr>
            <p:cNvPr id="61450" name="Rectangle 5"/>
            <p:cNvSpPr>
              <a:spLocks noChangeArrowheads="1"/>
            </p:cNvSpPr>
            <p:nvPr/>
          </p:nvSpPr>
          <p:spPr bwMode="auto">
            <a:xfrm>
              <a:off x="1440" y="2640"/>
              <a:ext cx="2112" cy="124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61451" name="Line 6"/>
            <p:cNvSpPr>
              <a:spLocks noChangeShapeType="1"/>
            </p:cNvSpPr>
            <p:nvPr/>
          </p:nvSpPr>
          <p:spPr bwMode="auto">
            <a:xfrm>
              <a:off x="1440" y="2928"/>
              <a:ext cx="2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2" name="Line 7"/>
            <p:cNvSpPr>
              <a:spLocks noChangeShapeType="1"/>
            </p:cNvSpPr>
            <p:nvPr/>
          </p:nvSpPr>
          <p:spPr bwMode="auto">
            <a:xfrm>
              <a:off x="2496" y="2640"/>
              <a:ext cx="0" cy="12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3" name="Text Box 8"/>
            <p:cNvSpPr txBox="1">
              <a:spLocks noChangeArrowheads="1"/>
            </p:cNvSpPr>
            <p:nvPr/>
          </p:nvSpPr>
          <p:spPr bwMode="auto">
            <a:xfrm>
              <a:off x="1584" y="2639"/>
              <a:ext cx="6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symbol</a:t>
              </a:r>
            </a:p>
          </p:txBody>
        </p:sp>
        <p:sp>
          <p:nvSpPr>
            <p:cNvPr id="61454" name="Text Box 9"/>
            <p:cNvSpPr txBox="1">
              <a:spLocks noChangeArrowheads="1"/>
            </p:cNvSpPr>
            <p:nvPr/>
          </p:nvSpPr>
          <p:spPr bwMode="auto">
            <a:xfrm>
              <a:off x="2880" y="2639"/>
              <a:ext cx="3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val</a:t>
              </a:r>
            </a:p>
          </p:txBody>
        </p:sp>
        <p:sp>
          <p:nvSpPr>
            <p:cNvPr id="61455" name="Line 10"/>
            <p:cNvSpPr>
              <a:spLocks noChangeShapeType="1"/>
            </p:cNvSpPr>
            <p:nvPr/>
          </p:nvSpPr>
          <p:spPr bwMode="auto">
            <a:xfrm>
              <a:off x="1440" y="3312"/>
              <a:ext cx="2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6" name="Line 11"/>
            <p:cNvSpPr>
              <a:spLocks noChangeShapeType="1"/>
            </p:cNvSpPr>
            <p:nvPr/>
          </p:nvSpPr>
          <p:spPr bwMode="auto">
            <a:xfrm>
              <a:off x="1440" y="3600"/>
              <a:ext cx="2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7" name="Text Box 12"/>
            <p:cNvSpPr txBox="1">
              <a:spLocks noChangeArrowheads="1"/>
            </p:cNvSpPr>
            <p:nvPr/>
          </p:nvSpPr>
          <p:spPr bwMode="auto">
            <a:xfrm>
              <a:off x="1824" y="3311"/>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X</a:t>
              </a:r>
            </a:p>
          </p:txBody>
        </p:sp>
        <p:sp>
          <p:nvSpPr>
            <p:cNvPr id="61458" name="Text Box 13"/>
            <p:cNvSpPr txBox="1">
              <a:spLocks noChangeArrowheads="1"/>
            </p:cNvSpPr>
            <p:nvPr/>
          </p:nvSpPr>
          <p:spPr bwMode="auto">
            <a:xfrm>
              <a:off x="1824" y="3599"/>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Y</a:t>
              </a:r>
            </a:p>
          </p:txBody>
        </p:sp>
        <p:sp>
          <p:nvSpPr>
            <p:cNvPr id="61459" name="Text Box 14"/>
            <p:cNvSpPr txBox="1">
              <a:spLocks noChangeArrowheads="1"/>
            </p:cNvSpPr>
            <p:nvPr/>
          </p:nvSpPr>
          <p:spPr bwMode="auto">
            <a:xfrm>
              <a:off x="2832" y="3311"/>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X.s</a:t>
              </a:r>
            </a:p>
          </p:txBody>
        </p:sp>
        <p:sp>
          <p:nvSpPr>
            <p:cNvPr id="61460" name="Text Box 15"/>
            <p:cNvSpPr txBox="1">
              <a:spLocks noChangeArrowheads="1"/>
            </p:cNvSpPr>
            <p:nvPr/>
          </p:nvSpPr>
          <p:spPr bwMode="auto">
            <a:xfrm>
              <a:off x="1824" y="2927"/>
              <a:ext cx="2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1461" name="Text Box 16"/>
            <p:cNvSpPr txBox="1">
              <a:spLocks noChangeArrowheads="1"/>
            </p:cNvSpPr>
            <p:nvPr/>
          </p:nvSpPr>
          <p:spPr bwMode="auto">
            <a:xfrm>
              <a:off x="2928" y="2927"/>
              <a:ext cx="2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1462" name="Text Box 17"/>
            <p:cNvSpPr txBox="1">
              <a:spLocks noChangeArrowheads="1"/>
            </p:cNvSpPr>
            <p:nvPr/>
          </p:nvSpPr>
          <p:spPr bwMode="auto">
            <a:xfrm>
              <a:off x="768" y="3647"/>
              <a:ext cx="3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top</a:t>
              </a:r>
            </a:p>
          </p:txBody>
        </p:sp>
        <p:sp>
          <p:nvSpPr>
            <p:cNvPr id="61463" name="Line 18"/>
            <p:cNvSpPr>
              <a:spLocks noChangeShapeType="1"/>
            </p:cNvSpPr>
            <p:nvPr/>
          </p:nvSpPr>
          <p:spPr bwMode="auto">
            <a:xfrm>
              <a:off x="1104" y="3792"/>
              <a:ext cx="33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448" name="Rectangle 19"/>
          <p:cNvSpPr>
            <a:spLocks noChangeArrowheads="1"/>
          </p:cNvSpPr>
          <p:nvPr/>
        </p:nvSpPr>
        <p:spPr bwMode="auto">
          <a:xfrm>
            <a:off x="714375" y="4724400"/>
            <a:ext cx="865822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r>
              <a:rPr lang="en-US" altLang="zh-CN" b="0">
                <a:ea typeface="PMingLiU" pitchFamily="18" charset="-120"/>
              </a:rPr>
              <a:t>If inherited attribute Y.i is denfined by the copy rule Y.i=X.s, then the value X.s can be used where Y.i is called for.</a:t>
            </a:r>
          </a:p>
          <a:p>
            <a:r>
              <a:rPr lang="en-US" altLang="zh-CN" b="0">
                <a:ea typeface="PMingLiU" pitchFamily="18" charset="-120"/>
              </a:rPr>
              <a:t>Copy rules play an important role in the evaluation of inherited attributes.</a:t>
            </a:r>
            <a:endParaRPr lang="en-US" altLang="zh-TW" b="0">
              <a:ea typeface="PMingLiU" pitchFamily="18" charset="-120"/>
              <a:sym typeface="Symbol" panose="05050102010706020507" pitchFamily="18" charset="2"/>
            </a:endParaRPr>
          </a:p>
        </p:txBody>
      </p:sp>
      <p:sp>
        <p:nvSpPr>
          <p:cNvPr id="448532" name="Rectangle 20"/>
          <p:cNvSpPr>
            <a:spLocks noChangeArrowheads="1"/>
          </p:cNvSpPr>
          <p:nvPr/>
        </p:nvSpPr>
        <p:spPr bwMode="auto">
          <a:xfrm>
            <a:off x="6934200" y="3327400"/>
            <a:ext cx="2286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buFontTx/>
              <a:buNone/>
            </a:pPr>
            <a:r>
              <a:rPr lang="en-US" altLang="zh-TW" sz="2000" b="0">
                <a:ea typeface="PMingLiU" pitchFamily="18" charset="-120"/>
              </a:rPr>
              <a:t>A </a:t>
            </a:r>
            <a:r>
              <a:rPr lang="en-US" altLang="zh-TW" sz="2000" b="0">
                <a:ea typeface="PMingLiU" pitchFamily="18" charset="-120"/>
                <a:sym typeface="Symbol" panose="05050102010706020507" pitchFamily="18" charset="2"/>
              </a:rPr>
              <a:t> X </a:t>
            </a:r>
            <a:r>
              <a:rPr lang="en-US" altLang="zh-CN" sz="2000" b="0">
                <a:ea typeface="宋体" panose="02010600030101010101" pitchFamily="2" charset="-122"/>
                <a:sym typeface="Symbol" panose="05050102010706020507" pitchFamily="18" charset="2"/>
              </a:rPr>
              <a:t>M</a:t>
            </a:r>
            <a:r>
              <a:rPr lang="en-US" altLang="zh-TW" sz="2000" b="0">
                <a:ea typeface="PMingLiU" pitchFamily="18" charset="-120"/>
                <a:sym typeface="Symbol" panose="05050102010706020507" pitchFamily="18" charset="2"/>
              </a:rPr>
              <a:t>Y</a:t>
            </a:r>
            <a:endParaRPr lang="en-US" altLang="zh-CN" sz="2000" b="0">
              <a:ea typeface="宋体" panose="02010600030101010101" pitchFamily="2" charset="-122"/>
              <a:sym typeface="Symbol" panose="05050102010706020507" pitchFamily="18" charset="2"/>
            </a:endParaRPr>
          </a:p>
          <a:p>
            <a:pPr>
              <a:buFontTx/>
              <a:buNone/>
            </a:pPr>
            <a:r>
              <a:rPr lang="en-US" altLang="zh-CN" sz="2000" b="0">
                <a:ea typeface="宋体" panose="02010600030101010101" pitchFamily="2" charset="-122"/>
              </a:rPr>
              <a:t>M</a:t>
            </a:r>
            <a:r>
              <a:rPr lang="en-US" altLang="zh-TW" sz="2000" b="0">
                <a:ea typeface="PMingLiU" pitchFamily="18" charset="-120"/>
              </a:rPr>
              <a:t> </a:t>
            </a:r>
            <a:r>
              <a:rPr lang="en-US" altLang="zh-TW" sz="2000" b="0">
                <a:ea typeface="PMingLiU" pitchFamily="18" charset="-120"/>
                <a:sym typeface="Symbol" panose="05050102010706020507" pitchFamily="18" charset="2"/>
              </a:rPr>
              <a:t> </a:t>
            </a:r>
            <a:r>
              <a:rPr kumimoji="1" lang="en-US" altLang="zh-TW" sz="2000" b="0">
                <a:ea typeface="PMingLiU" pitchFamily="18" charset="-120"/>
                <a:sym typeface="Symbol" panose="05050102010706020507" pitchFamily="18" charset="2"/>
              </a:rPr>
              <a:t></a:t>
            </a:r>
            <a:r>
              <a:rPr lang="en-US" altLang="zh-TW" sz="2000" b="0">
                <a:ea typeface="PMingLiU" pitchFamily="18" charset="-120"/>
                <a:sym typeface="Symbol" panose="05050102010706020507" pitchFamily="18" charset="2"/>
              </a:rPr>
              <a:t>{Y.i := X.s}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448516"/>
                                        </p:tgtEl>
                                        <p:attrNameLst>
                                          <p:attrName>style.visibility</p:attrName>
                                        </p:attrNameLst>
                                      </p:cBhvr>
                                      <p:to>
                                        <p:strVal val="visible"/>
                                      </p:to>
                                    </p:set>
                                    <p:animEffect transition="in" filter="diamond(in)">
                                      <p:cBhvr>
                                        <p:cTn id="7" dur="1000"/>
                                        <p:tgtEl>
                                          <p:spTgt spid="448516"/>
                                        </p:tgtEl>
                                      </p:cBhvr>
                                    </p:animEffect>
                                  </p:childTnLst>
                                </p:cTn>
                              </p:par>
                            </p:childTnLst>
                          </p:cTn>
                        </p:par>
                        <p:par>
                          <p:cTn id="8" fill="hold" nodeType="afterGroup">
                            <p:stCondLst>
                              <p:cond delay="1000"/>
                            </p:stCondLst>
                            <p:childTnLst>
                              <p:par>
                                <p:cTn id="9" presetID="22" presetClass="entr" presetSubtype="2" fill="hold" grpId="0" nodeType="afterEffect">
                                  <p:stCondLst>
                                    <p:cond delay="0"/>
                                  </p:stCondLst>
                                  <p:childTnLst>
                                    <p:set>
                                      <p:cBhvr>
                                        <p:cTn id="10" dur="1" fill="hold">
                                          <p:stCondLst>
                                            <p:cond delay="0"/>
                                          </p:stCondLst>
                                        </p:cTn>
                                        <p:tgtEl>
                                          <p:spTgt spid="448532"/>
                                        </p:tgtEl>
                                        <p:attrNameLst>
                                          <p:attrName>style.visibility</p:attrName>
                                        </p:attrNameLst>
                                      </p:cBhvr>
                                      <p:to>
                                        <p:strVal val="visible"/>
                                      </p:to>
                                    </p:set>
                                    <p:animEffect transition="in" filter="wipe(right)">
                                      <p:cBhvr>
                                        <p:cTn id="11" dur="500"/>
                                        <p:tgtEl>
                                          <p:spTgt spid="448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3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2467"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2468"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053BF91-BDD9-4A08-8BD4-D5FA7D5FCC76}" type="slidenum">
              <a:rPr lang="zh-CN" altLang="en-US" sz="800"/>
              <a:pPr>
                <a:spcBef>
                  <a:spcPct val="0"/>
                </a:spcBef>
                <a:buFontTx/>
                <a:buNone/>
              </a:pPr>
              <a:t>60</a:t>
            </a:fld>
            <a:endParaRPr lang="en-US" altLang="zh-CN" sz="800"/>
          </a:p>
        </p:txBody>
      </p:sp>
      <p:sp>
        <p:nvSpPr>
          <p:cNvPr id="62469" name="Rectangle 2"/>
          <p:cNvSpPr>
            <a:spLocks noGrp="1" noChangeArrowheads="1"/>
          </p:cNvSpPr>
          <p:nvPr>
            <p:ph type="title"/>
          </p:nvPr>
        </p:nvSpPr>
        <p:spPr>
          <a:xfrm>
            <a:off x="458788" y="155575"/>
            <a:ext cx="9191625" cy="914400"/>
          </a:xfrm>
        </p:spPr>
        <p:txBody>
          <a:bodyPr/>
          <a:lstStyle/>
          <a:p>
            <a:r>
              <a:rPr lang="en-US" altLang="zh-TW" b="0" smtClean="0">
                <a:ea typeface="PMingLiU" pitchFamily="18" charset="-120"/>
              </a:rPr>
              <a:t>An Example</a:t>
            </a:r>
            <a:r>
              <a:rPr lang="en-US" altLang="zh-CN" b="0" smtClean="0">
                <a:ea typeface="PMingLiU" pitchFamily="18" charset="-120"/>
              </a:rPr>
              <a:t> (P.311)</a:t>
            </a:r>
            <a:endParaRPr lang="en-US" altLang="zh-TW" b="0" smtClean="0">
              <a:ea typeface="PMingLiU" pitchFamily="18" charset="-120"/>
            </a:endParaRPr>
          </a:p>
        </p:txBody>
      </p:sp>
      <p:sp>
        <p:nvSpPr>
          <p:cNvPr id="62470" name="Text Box 3"/>
          <p:cNvSpPr txBox="1">
            <a:spLocks noChangeArrowheads="1"/>
          </p:cNvSpPr>
          <p:nvPr/>
        </p:nvSpPr>
        <p:spPr bwMode="auto">
          <a:xfrm>
            <a:off x="1209675" y="1435100"/>
            <a:ext cx="80867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D </a:t>
            </a:r>
            <a:r>
              <a:rPr kumimoji="1" lang="en-US" altLang="zh-TW" b="0">
                <a:latin typeface="Arial" panose="020B0604020202020204" pitchFamily="34" charset="0"/>
                <a:ea typeface="PMingLiU" pitchFamily="18" charset="-120"/>
                <a:sym typeface="Symbol" panose="05050102010706020507" pitchFamily="18" charset="2"/>
              </a:rPr>
              <a:t> T {L.in := T.type;} L</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int</a:t>
            </a:r>
            <a:r>
              <a:rPr kumimoji="1" lang="en-US" altLang="zh-TW" b="0">
                <a:latin typeface="Arial" panose="020B0604020202020204" pitchFamily="34" charset="0"/>
                <a:ea typeface="PMingLiU" pitchFamily="18" charset="-120"/>
                <a:sym typeface="Symbol" panose="05050102010706020507" pitchFamily="18" charset="2"/>
              </a:rPr>
              <a:t>  		{T.type := integer</a:t>
            </a:r>
            <a:r>
              <a:rPr kumimoji="1" lang="en-US" altLang="zh-TW" b="0" i="1">
                <a:latin typeface="Arial" panose="020B0604020202020204" pitchFamily="34" charset="0"/>
                <a:ea typeface="PMingLiU" pitchFamily="18" charset="-120"/>
                <a:sym typeface="Symbol" panose="05050102010706020507" pitchFamily="18" charset="2"/>
              </a:rPr>
              <a:t>;</a:t>
            </a:r>
            <a:r>
              <a:rPr kumimoji="1" lang="en-US" altLang="zh-TW" b="0">
                <a:latin typeface="Arial" panose="020B0604020202020204" pitchFamily="34" charset="0"/>
                <a:ea typeface="PMingLiU" pitchFamily="18" charset="-120"/>
                <a:sym typeface="Symbol" panose="05050102010706020507" pitchFamily="18" charset="2"/>
              </a:rPr>
              <a:t>}</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float</a:t>
            </a:r>
            <a:r>
              <a:rPr kumimoji="1" lang="en-US" altLang="zh-TW" b="0">
                <a:latin typeface="Arial" panose="020B0604020202020204" pitchFamily="34" charset="0"/>
                <a:ea typeface="PMingLiU" pitchFamily="18" charset="-120"/>
                <a:sym typeface="Symbol" panose="05050102010706020507" pitchFamily="18" charset="2"/>
              </a:rPr>
              <a:t>  		{T.type := float</a:t>
            </a:r>
            <a:r>
              <a:rPr kumimoji="1" lang="en-US" altLang="zh-TW" b="0" i="1">
                <a:latin typeface="Arial" panose="020B0604020202020204" pitchFamily="34" charset="0"/>
                <a:ea typeface="PMingLiU" pitchFamily="18" charset="-120"/>
                <a:sym typeface="Symbol" panose="05050102010706020507" pitchFamily="18" charset="2"/>
              </a:rPr>
              <a:t>;</a:t>
            </a:r>
            <a:r>
              <a:rPr kumimoji="1" lang="en-US" altLang="zh-TW" b="0">
                <a:latin typeface="Arial" panose="020B0604020202020204" pitchFamily="34" charset="0"/>
                <a:ea typeface="PMingLiU" pitchFamily="18" charset="-120"/>
                <a:sym typeface="Symbol" panose="05050102010706020507" pitchFamily="18" charset="2"/>
              </a:rPr>
              <a:t>}</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L  {L</a:t>
            </a:r>
            <a:r>
              <a:rPr kumimoji="1" lang="en-US" altLang="zh-TW" b="0" baseline="-25000">
                <a:latin typeface="Arial" panose="020B0604020202020204" pitchFamily="34" charset="0"/>
                <a:ea typeface="PMingLiU" pitchFamily="18" charset="-120"/>
                <a:sym typeface="Symbol" panose="05050102010706020507" pitchFamily="18" charset="2"/>
              </a:rPr>
              <a:t>1</a:t>
            </a:r>
            <a:r>
              <a:rPr kumimoji="1" lang="en-US" altLang="zh-TW" b="0">
                <a:latin typeface="Arial" panose="020B0604020202020204" pitchFamily="34" charset="0"/>
                <a:ea typeface="PMingLiU" pitchFamily="18" charset="-120"/>
                <a:sym typeface="Symbol" panose="05050102010706020507" pitchFamily="18" charset="2"/>
              </a:rPr>
              <a:t>.in := L.in} </a:t>
            </a:r>
            <a:r>
              <a:rPr kumimoji="1" lang="en-US" altLang="zh-CN" b="0">
                <a:latin typeface="Arial" panose="020B0604020202020204" pitchFamily="34" charset="0"/>
                <a:ea typeface="PMingLiU" pitchFamily="18" charset="-120"/>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L</a:t>
            </a:r>
            <a:r>
              <a:rPr kumimoji="1" lang="en-US" altLang="zh-TW" b="0" baseline="-25000">
                <a:latin typeface="Arial" panose="020B0604020202020204" pitchFamily="34" charset="0"/>
                <a:ea typeface="PMingLiU" pitchFamily="18" charset="-120"/>
                <a:sym typeface="Symbol" panose="05050102010706020507" pitchFamily="18" charset="2"/>
              </a:rPr>
              <a:t>1</a:t>
            </a:r>
            <a:r>
              <a:rPr kumimoji="1" lang="en-US" altLang="zh-TW" b="0">
                <a:latin typeface="Arial" panose="020B0604020202020204" pitchFamily="34" charset="0"/>
                <a:ea typeface="PMingLiU" pitchFamily="18" charset="-120"/>
                <a:sym typeface="Symbol" panose="05050102010706020507" pitchFamily="18" charset="2"/>
              </a:rPr>
              <a:t>  ,  </a:t>
            </a:r>
            <a:r>
              <a:rPr kumimoji="1" lang="en-US" altLang="zh-TW">
                <a:latin typeface="Arial" panose="020B0604020202020204" pitchFamily="34" charset="0"/>
                <a:ea typeface="PMingLiU" pitchFamily="18" charset="-120"/>
                <a:sym typeface="Symbol" panose="05050102010706020507" pitchFamily="18" charset="2"/>
              </a:rPr>
              <a:t>id</a:t>
            </a:r>
            <a:r>
              <a:rPr kumimoji="1" lang="en-US" altLang="zh-CN" b="0">
                <a:latin typeface="Arial" panose="020B0604020202020204" pitchFamily="34" charset="0"/>
                <a:ea typeface="PMingLiU" pitchFamily="18" charset="-120"/>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{addtype(</a:t>
            </a:r>
            <a:r>
              <a:rPr kumimoji="1" lang="en-US" altLang="zh-TW">
                <a:latin typeface="Arial" panose="020B0604020202020204" pitchFamily="34" charset="0"/>
                <a:ea typeface="PMingLiU" pitchFamily="18" charset="-120"/>
                <a:sym typeface="Symbol" panose="05050102010706020507" pitchFamily="18" charset="2"/>
              </a:rPr>
              <a:t>id</a:t>
            </a:r>
            <a:r>
              <a:rPr kumimoji="1" lang="en-US" altLang="zh-TW" b="0">
                <a:latin typeface="Arial" panose="020B0604020202020204" pitchFamily="34" charset="0"/>
                <a:ea typeface="PMingLiU" pitchFamily="18" charset="-120"/>
                <a:sym typeface="Symbol" panose="05050102010706020507" pitchFamily="18" charset="2"/>
              </a:rPr>
              <a:t>.entry, L.in);}</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L  </a:t>
            </a:r>
            <a:r>
              <a:rPr kumimoji="1" lang="en-US" altLang="zh-TW">
                <a:latin typeface="Arial" panose="020B0604020202020204" pitchFamily="34" charset="0"/>
                <a:ea typeface="PMingLiU" pitchFamily="18" charset="-120"/>
                <a:sym typeface="Symbol" panose="05050102010706020507" pitchFamily="18" charset="2"/>
              </a:rPr>
              <a:t>id</a:t>
            </a:r>
            <a:r>
              <a:rPr kumimoji="1" lang="en-US" altLang="zh-TW" b="0">
                <a:latin typeface="Arial" panose="020B0604020202020204" pitchFamily="34" charset="0"/>
                <a:ea typeface="PMingLiU" pitchFamily="18" charset="-120"/>
                <a:sym typeface="Symbol" panose="05050102010706020507" pitchFamily="18" charset="2"/>
              </a:rPr>
              <a:t>  		{addtype(</a:t>
            </a:r>
            <a:r>
              <a:rPr kumimoji="1" lang="en-US" altLang="zh-TW">
                <a:latin typeface="Arial" panose="020B0604020202020204" pitchFamily="34" charset="0"/>
                <a:ea typeface="PMingLiU" pitchFamily="18" charset="-120"/>
                <a:sym typeface="Symbol" panose="05050102010706020507" pitchFamily="18" charset="2"/>
              </a:rPr>
              <a:t>id</a:t>
            </a:r>
            <a:r>
              <a:rPr kumimoji="1" lang="en-US" altLang="zh-TW" b="0">
                <a:latin typeface="Arial" panose="020B0604020202020204" pitchFamily="34" charset="0"/>
                <a:ea typeface="PMingLiU" pitchFamily="18" charset="-120"/>
                <a:sym typeface="Symbol" panose="05050102010706020507" pitchFamily="18" charset="2"/>
              </a:rPr>
              <a:t>.entry, L.in);}</a:t>
            </a:r>
          </a:p>
        </p:txBody>
      </p:sp>
      <p:sp>
        <p:nvSpPr>
          <p:cNvPr id="62471" name="Text Box 4"/>
          <p:cNvSpPr txBox="1">
            <a:spLocks noChangeArrowheads="1"/>
          </p:cNvSpPr>
          <p:nvPr/>
        </p:nvSpPr>
        <p:spPr bwMode="auto">
          <a:xfrm>
            <a:off x="1208088" y="3873500"/>
            <a:ext cx="6992937"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D </a:t>
            </a:r>
            <a:r>
              <a:rPr kumimoji="1" lang="en-US" altLang="zh-TW" b="0">
                <a:latin typeface="Arial" panose="020B0604020202020204" pitchFamily="34" charset="0"/>
                <a:ea typeface="PMingLiU" pitchFamily="18" charset="-120"/>
                <a:sym typeface="Symbol" panose="05050102010706020507" pitchFamily="18" charset="2"/>
              </a:rPr>
              <a:t> T  L</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int</a:t>
            </a:r>
            <a:r>
              <a:rPr kumimoji="1" lang="en-US" altLang="zh-TW" b="0">
                <a:latin typeface="Arial" panose="020B0604020202020204" pitchFamily="34" charset="0"/>
                <a:ea typeface="PMingLiU" pitchFamily="18" charset="-120"/>
                <a:sym typeface="Symbol" panose="05050102010706020507" pitchFamily="18" charset="2"/>
              </a:rPr>
              <a:t>  		{val[ntop] := integer;}</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float</a:t>
            </a:r>
            <a:r>
              <a:rPr kumimoji="1" lang="en-US" altLang="zh-TW" b="0">
                <a:latin typeface="Arial" panose="020B0604020202020204" pitchFamily="34" charset="0"/>
                <a:ea typeface="PMingLiU" pitchFamily="18" charset="-120"/>
                <a:sym typeface="Symbol" panose="05050102010706020507" pitchFamily="18" charset="2"/>
              </a:rPr>
              <a:t>  		{val[ntop] := float;}</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L  L</a:t>
            </a:r>
            <a:r>
              <a:rPr kumimoji="1" lang="en-US" altLang="zh-TW" b="0" baseline="-25000">
                <a:latin typeface="Arial" panose="020B0604020202020204" pitchFamily="34" charset="0"/>
                <a:ea typeface="PMingLiU" pitchFamily="18" charset="-120"/>
                <a:sym typeface="Symbol" panose="05050102010706020507" pitchFamily="18" charset="2"/>
              </a:rPr>
              <a:t>1</a:t>
            </a:r>
            <a:r>
              <a:rPr kumimoji="1" lang="en-US" altLang="zh-TW" b="0">
                <a:latin typeface="Arial" panose="020B0604020202020204" pitchFamily="34" charset="0"/>
                <a:ea typeface="PMingLiU" pitchFamily="18" charset="-120"/>
                <a:sym typeface="Symbol" panose="05050102010706020507" pitchFamily="18" charset="2"/>
              </a:rPr>
              <a:t>  ,  </a:t>
            </a:r>
            <a:r>
              <a:rPr kumimoji="1" lang="en-US" altLang="zh-TW">
                <a:latin typeface="Arial" panose="020B0604020202020204" pitchFamily="34" charset="0"/>
                <a:ea typeface="PMingLiU" pitchFamily="18" charset="-120"/>
                <a:sym typeface="Symbol" panose="05050102010706020507" pitchFamily="18" charset="2"/>
              </a:rPr>
              <a:t>id</a:t>
            </a:r>
            <a:r>
              <a:rPr kumimoji="1" lang="en-US" altLang="zh-TW" b="0">
                <a:latin typeface="Arial" panose="020B0604020202020204" pitchFamily="34" charset="0"/>
                <a:ea typeface="PMingLiU" pitchFamily="18" charset="-120"/>
                <a:sym typeface="Symbol" panose="05050102010706020507" pitchFamily="18" charset="2"/>
              </a:rPr>
              <a:t> 	</a:t>
            </a:r>
            <a:r>
              <a:rPr kumimoji="1" lang="en-US" altLang="zh-CN" b="0">
                <a:latin typeface="Arial" panose="020B0604020202020204" pitchFamily="34" charset="0"/>
                <a:ea typeface="PMingLiU" pitchFamily="18" charset="-120"/>
                <a:sym typeface="Symbol" panose="05050102010706020507" pitchFamily="18" charset="2"/>
              </a:rPr>
              <a:t>	</a:t>
            </a:r>
            <a:r>
              <a:rPr kumimoji="1" lang="en-US" altLang="zh-TW" b="0">
                <a:latin typeface="Arial" panose="020B0604020202020204" pitchFamily="34" charset="0"/>
                <a:ea typeface="PMingLiU" pitchFamily="18" charset="-120"/>
                <a:sym typeface="Symbol" panose="05050102010706020507" pitchFamily="18" charset="2"/>
              </a:rPr>
              <a:t>{addtype(val[top], val[top-3]); }</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L  </a:t>
            </a:r>
            <a:r>
              <a:rPr kumimoji="1" lang="en-US" altLang="zh-TW">
                <a:latin typeface="Arial" panose="020B0604020202020204" pitchFamily="34" charset="0"/>
                <a:ea typeface="PMingLiU" pitchFamily="18" charset="-120"/>
                <a:sym typeface="Symbol" panose="05050102010706020507" pitchFamily="18" charset="2"/>
              </a:rPr>
              <a:t>id</a:t>
            </a:r>
            <a:r>
              <a:rPr kumimoji="1" lang="en-US" altLang="zh-TW" b="0">
                <a:latin typeface="Arial" panose="020B0604020202020204" pitchFamily="34" charset="0"/>
                <a:ea typeface="PMingLiU" pitchFamily="18" charset="-120"/>
                <a:sym typeface="Symbol" panose="05050102010706020507" pitchFamily="18" charset="2"/>
              </a:rPr>
              <a:t>  		{addtype(val[top], val[top-1]); }</a:t>
            </a:r>
          </a:p>
        </p:txBody>
      </p:sp>
      <p:sp>
        <p:nvSpPr>
          <p:cNvPr id="62472" name="Rectangle 5"/>
          <p:cNvSpPr>
            <a:spLocks noChangeArrowheads="1"/>
          </p:cNvSpPr>
          <p:nvPr/>
        </p:nvSpPr>
        <p:spPr bwMode="auto">
          <a:xfrm>
            <a:off x="1130300" y="3851275"/>
            <a:ext cx="78009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62473" name="Rectangle 6"/>
          <p:cNvSpPr>
            <a:spLocks noChangeArrowheads="1"/>
          </p:cNvSpPr>
          <p:nvPr/>
        </p:nvSpPr>
        <p:spPr bwMode="auto">
          <a:xfrm>
            <a:off x="1131888" y="1435100"/>
            <a:ext cx="780097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
        <p:nvSpPr>
          <p:cNvPr id="62474" name="AutoShape 7"/>
          <p:cNvSpPr>
            <a:spLocks noChangeArrowheads="1"/>
          </p:cNvSpPr>
          <p:nvPr/>
        </p:nvSpPr>
        <p:spPr bwMode="auto">
          <a:xfrm>
            <a:off x="4795838" y="3406775"/>
            <a:ext cx="388937" cy="403225"/>
          </a:xfrm>
          <a:prstGeom prst="downArrow">
            <a:avLst>
              <a:gd name="adj1" fmla="val 50000"/>
              <a:gd name="adj2" fmla="val 259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endParaRPr lang="zh-CN" altLang="en-US">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3491"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3492"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10EB6027-C12B-425E-91CF-5D0DEF8BE916}" type="slidenum">
              <a:rPr lang="zh-CN" altLang="en-US" sz="800"/>
              <a:pPr>
                <a:spcBef>
                  <a:spcPct val="0"/>
                </a:spcBef>
                <a:buFontTx/>
                <a:buNone/>
              </a:pPr>
              <a:t>61</a:t>
            </a:fld>
            <a:endParaRPr lang="en-US" altLang="zh-CN" sz="800"/>
          </a:p>
        </p:txBody>
      </p:sp>
      <p:sp>
        <p:nvSpPr>
          <p:cNvPr id="63493" name="Rectangle 2"/>
          <p:cNvSpPr>
            <a:spLocks noGrp="1" noChangeArrowheads="1"/>
          </p:cNvSpPr>
          <p:nvPr>
            <p:ph type="title"/>
          </p:nvPr>
        </p:nvSpPr>
        <p:spPr>
          <a:xfrm>
            <a:off x="382588" y="152400"/>
            <a:ext cx="9371012" cy="914400"/>
          </a:xfrm>
        </p:spPr>
        <p:txBody>
          <a:bodyPr/>
          <a:lstStyle/>
          <a:p>
            <a:r>
              <a:rPr lang="en-US" altLang="zh-TW" b="0" smtClean="0">
                <a:ea typeface="PMingLiU" pitchFamily="18" charset="-120"/>
              </a:rPr>
              <a:t>An Example</a:t>
            </a:r>
          </a:p>
        </p:txBody>
      </p:sp>
      <p:sp>
        <p:nvSpPr>
          <p:cNvPr id="63494" name="Text Box 3"/>
          <p:cNvSpPr txBox="1">
            <a:spLocks noChangeArrowheads="1"/>
          </p:cNvSpPr>
          <p:nvPr/>
        </p:nvSpPr>
        <p:spPr bwMode="auto">
          <a:xfrm>
            <a:off x="762000" y="1143000"/>
            <a:ext cx="8534400" cy="444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zh-TW" altLang="en-US" sz="2200" b="0" i="1">
                <a:latin typeface="Arial" panose="020B0604020202020204" pitchFamily="34" charset="0"/>
                <a:ea typeface="PMingLiU" pitchFamily="18" charset="-120"/>
              </a:rPr>
              <a:t>  </a:t>
            </a:r>
            <a:r>
              <a:rPr kumimoji="1" lang="en-US" altLang="zh-TW" sz="2200" b="0">
                <a:latin typeface="Arial" panose="020B0604020202020204" pitchFamily="34" charset="0"/>
                <a:ea typeface="PMingLiU" pitchFamily="18" charset="-120"/>
              </a:rPr>
              <a:t>Input	       symbol	           val	        production used</a:t>
            </a:r>
          </a:p>
          <a:p>
            <a:pPr eaLnBrk="1" hangingPunct="1">
              <a:spcBef>
                <a:spcPct val="0"/>
              </a:spcBef>
              <a:buFontTx/>
              <a:buNone/>
            </a:pPr>
            <a:r>
              <a:rPr kumimoji="1" lang="en-US" altLang="zh-TW" sz="2200">
                <a:latin typeface="Arial" panose="020B0604020202020204" pitchFamily="34" charset="0"/>
                <a:ea typeface="PMingLiU" pitchFamily="18" charset="-120"/>
              </a:rPr>
              <a:t>int</a:t>
            </a:r>
            <a:r>
              <a:rPr kumimoji="1" lang="en-US" altLang="zh-TW" sz="2200" b="0">
                <a:latin typeface="Arial" panose="020B0604020202020204" pitchFamily="34" charset="0"/>
                <a:ea typeface="PMingLiU" pitchFamily="18" charset="-120"/>
              </a:rPr>
              <a:t> p,q,r			</a:t>
            </a:r>
          </a:p>
          <a:p>
            <a:pPr eaLnBrk="1" hangingPunct="1">
              <a:spcBef>
                <a:spcPct val="0"/>
              </a:spcBef>
              <a:buFontTx/>
              <a:buNone/>
            </a:pPr>
            <a:r>
              <a:rPr kumimoji="1" lang="en-US" altLang="zh-TW" sz="2200" b="0">
                <a:latin typeface="Arial" panose="020B0604020202020204" pitchFamily="34" charset="0"/>
                <a:ea typeface="PMingLiU" pitchFamily="18" charset="-120"/>
              </a:rPr>
              <a:t>     p,q,r	</a:t>
            </a:r>
            <a:r>
              <a:rPr kumimoji="1" lang="en-US" altLang="zh-TW" sz="2200">
                <a:latin typeface="Arial" panose="020B0604020202020204" pitchFamily="34" charset="0"/>
                <a:ea typeface="PMingLiU" pitchFamily="18" charset="-120"/>
              </a:rPr>
              <a:t>int</a:t>
            </a:r>
            <a:r>
              <a:rPr kumimoji="1" lang="en-US" altLang="zh-TW" sz="2200" b="0">
                <a:latin typeface="Arial" panose="020B0604020202020204" pitchFamily="34" charset="0"/>
                <a:ea typeface="PMingLiU" pitchFamily="18" charset="-120"/>
              </a:rPr>
              <a:t>		_		</a:t>
            </a:r>
          </a:p>
          <a:p>
            <a:pPr eaLnBrk="1" hangingPunct="1">
              <a:spcBef>
                <a:spcPct val="0"/>
              </a:spcBef>
              <a:buFontTx/>
              <a:buNone/>
            </a:pPr>
            <a:r>
              <a:rPr kumimoji="1" lang="en-US" altLang="zh-TW" sz="2200" b="0">
                <a:latin typeface="Arial" panose="020B0604020202020204" pitchFamily="34" charset="0"/>
                <a:ea typeface="PMingLiU" pitchFamily="18" charset="-120"/>
              </a:rPr>
              <a:t>     p,q,r	T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T </a:t>
            </a:r>
            <a:r>
              <a:rPr kumimoji="1" lang="en-US" altLang="zh-TW" sz="2200" b="0">
                <a:latin typeface="Arial" panose="020B0604020202020204" pitchFamily="34" charset="0"/>
                <a:ea typeface="PMingLiU" pitchFamily="18" charset="-120"/>
                <a:sym typeface="Symbol" panose="05050102010706020507" pitchFamily="18" charset="2"/>
              </a:rPr>
              <a:t></a:t>
            </a:r>
            <a:r>
              <a:rPr kumimoji="1" lang="en-US" altLang="zh-TW" sz="2200" b="0">
                <a:latin typeface="Arial" panose="020B0604020202020204" pitchFamily="34" charset="0"/>
                <a:ea typeface="PMingLiU" pitchFamily="18" charset="-120"/>
              </a:rPr>
              <a:t> </a:t>
            </a:r>
            <a:r>
              <a:rPr kumimoji="1" lang="en-US" altLang="zh-TW" sz="2200">
                <a:latin typeface="Arial" panose="020B0604020202020204" pitchFamily="34" charset="0"/>
                <a:ea typeface="PMingLiU" pitchFamily="18" charset="-120"/>
              </a:rPr>
              <a:t>int</a:t>
            </a:r>
            <a:endParaRPr kumimoji="1" lang="en-US" altLang="zh-TW" sz="2200" b="0">
              <a:latin typeface="Arial" panose="020B0604020202020204" pitchFamily="34" charset="0"/>
              <a:ea typeface="PMingLiU" pitchFamily="18" charset="-120"/>
            </a:endParaRPr>
          </a:p>
          <a:p>
            <a:pPr eaLnBrk="1" hangingPunct="1">
              <a:spcBef>
                <a:spcPct val="0"/>
              </a:spcBef>
              <a:buFontTx/>
              <a:buNone/>
            </a:pPr>
            <a:r>
              <a:rPr kumimoji="1" lang="en-US" altLang="zh-TW" sz="2200" b="0">
                <a:latin typeface="Arial" panose="020B0604020202020204" pitchFamily="34" charset="0"/>
                <a:ea typeface="PMingLiU" pitchFamily="18" charset="-120"/>
              </a:rPr>
              <a:t>       ,q,r	T </a:t>
            </a:r>
            <a:r>
              <a:rPr kumimoji="1" lang="en-US" altLang="zh-TW" sz="2200">
                <a:latin typeface="Arial" panose="020B0604020202020204" pitchFamily="34" charset="0"/>
                <a:ea typeface="PMingLiU" pitchFamily="18" charset="-120"/>
              </a:rPr>
              <a:t>id</a:t>
            </a:r>
            <a:r>
              <a:rPr kumimoji="1" lang="en-US" altLang="zh-TW" sz="2200" b="0">
                <a:latin typeface="Arial" panose="020B0604020202020204" pitchFamily="34" charset="0"/>
                <a:ea typeface="PMingLiU" pitchFamily="18" charset="-120"/>
              </a:rPr>
              <a:t>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a:t>
            </a:r>
            <a:r>
              <a:rPr kumimoji="1" lang="en-US" altLang="zh-TW" sz="2200" b="0" i="1">
                <a:latin typeface="Arial" panose="020B0604020202020204" pitchFamily="34" charset="0"/>
                <a:ea typeface="PMingLiU" pitchFamily="18" charset="-120"/>
              </a:rPr>
              <a:t>e</a:t>
            </a:r>
            <a:r>
              <a:rPr kumimoji="1" lang="en-US" altLang="zh-TW" sz="2200" b="0">
                <a:latin typeface="Arial" panose="020B0604020202020204" pitchFamily="34" charset="0"/>
                <a:ea typeface="PMingLiU" pitchFamily="18" charset="-120"/>
              </a:rPr>
              <a:t>		</a:t>
            </a:r>
          </a:p>
          <a:p>
            <a:pPr eaLnBrk="1" hangingPunct="1">
              <a:spcBef>
                <a:spcPct val="0"/>
              </a:spcBef>
              <a:buFontTx/>
              <a:buNone/>
            </a:pPr>
            <a:r>
              <a:rPr kumimoji="1" lang="en-US" altLang="zh-TW" sz="2200" b="0">
                <a:latin typeface="Arial" panose="020B0604020202020204" pitchFamily="34" charset="0"/>
                <a:ea typeface="PMingLiU" pitchFamily="18" charset="-120"/>
              </a:rPr>
              <a:t>       ,q,r	T L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L </a:t>
            </a:r>
            <a:r>
              <a:rPr kumimoji="1" lang="en-US" altLang="zh-TW" sz="2200" b="0">
                <a:latin typeface="Arial" panose="020B0604020202020204" pitchFamily="34" charset="0"/>
                <a:ea typeface="PMingLiU" pitchFamily="18" charset="-120"/>
                <a:sym typeface="Symbol" panose="05050102010706020507" pitchFamily="18" charset="2"/>
              </a:rPr>
              <a:t></a:t>
            </a:r>
            <a:r>
              <a:rPr kumimoji="1" lang="en-US" altLang="zh-TW" sz="2200" b="0">
                <a:latin typeface="Arial" panose="020B0604020202020204" pitchFamily="34" charset="0"/>
                <a:ea typeface="PMingLiU" pitchFamily="18" charset="-120"/>
              </a:rPr>
              <a:t> </a:t>
            </a:r>
            <a:r>
              <a:rPr kumimoji="1" lang="en-US" altLang="zh-TW" sz="2200">
                <a:latin typeface="Arial" panose="020B0604020202020204" pitchFamily="34" charset="0"/>
                <a:ea typeface="PMingLiU" pitchFamily="18" charset="-120"/>
              </a:rPr>
              <a:t>id</a:t>
            </a:r>
            <a:endParaRPr kumimoji="1" lang="en-US" altLang="zh-TW" sz="2200" b="0">
              <a:latin typeface="Arial" panose="020B0604020202020204" pitchFamily="34" charset="0"/>
              <a:ea typeface="PMingLiU" pitchFamily="18" charset="-120"/>
            </a:endParaRPr>
          </a:p>
          <a:p>
            <a:pPr eaLnBrk="1" hangingPunct="1">
              <a:spcBef>
                <a:spcPct val="0"/>
              </a:spcBef>
              <a:buFontTx/>
              <a:buNone/>
            </a:pPr>
            <a:r>
              <a:rPr kumimoji="1" lang="en-US" altLang="zh-TW" sz="2200" b="0">
                <a:latin typeface="Arial" panose="020B0604020202020204" pitchFamily="34" charset="0"/>
                <a:ea typeface="PMingLiU" pitchFamily="18" charset="-120"/>
              </a:rPr>
              <a:t>        q,r	T L ,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_		</a:t>
            </a:r>
          </a:p>
          <a:p>
            <a:pPr eaLnBrk="1" hangingPunct="1">
              <a:spcBef>
                <a:spcPct val="0"/>
              </a:spcBef>
              <a:buFontTx/>
              <a:buNone/>
            </a:pPr>
            <a:r>
              <a:rPr kumimoji="1" lang="en-US" altLang="zh-TW" sz="2200" b="0">
                <a:latin typeface="Arial" panose="020B0604020202020204" pitchFamily="34" charset="0"/>
                <a:ea typeface="PMingLiU" pitchFamily="18" charset="-120"/>
              </a:rPr>
              <a:t>          ,r	T L , </a:t>
            </a:r>
            <a:r>
              <a:rPr kumimoji="1" lang="en-US" altLang="zh-TW" sz="2200">
                <a:latin typeface="Arial" panose="020B0604020202020204" pitchFamily="34" charset="0"/>
                <a:ea typeface="PMingLiU" pitchFamily="18" charset="-120"/>
              </a:rPr>
              <a:t>id</a:t>
            </a:r>
            <a:r>
              <a:rPr kumimoji="1" lang="en-US" altLang="zh-TW" sz="2200" b="0">
                <a:latin typeface="Arial" panose="020B0604020202020204" pitchFamily="34" charset="0"/>
                <a:ea typeface="PMingLiU" pitchFamily="18" charset="-120"/>
              </a:rPr>
              <a:t>	</a:t>
            </a:r>
            <a:r>
              <a:rPr kumimoji="1" lang="en-US" altLang="zh-CN" sz="2200" b="0">
                <a:latin typeface="Arial" panose="020B0604020202020204" pitchFamily="34" charset="0"/>
                <a:ea typeface="PMingLiU" pitchFamily="18" charset="-120"/>
              </a:rPr>
              <a:t>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_ </a:t>
            </a:r>
            <a:r>
              <a:rPr kumimoji="1" lang="en-US" altLang="zh-TW" sz="2200" b="0" i="1">
                <a:latin typeface="Arial" panose="020B0604020202020204" pitchFamily="34" charset="0"/>
                <a:ea typeface="PMingLiU" pitchFamily="18" charset="-120"/>
              </a:rPr>
              <a:t>e</a:t>
            </a:r>
            <a:r>
              <a:rPr kumimoji="1" lang="en-US" altLang="zh-TW" sz="2200" b="0">
                <a:latin typeface="Arial" panose="020B0604020202020204" pitchFamily="34" charset="0"/>
                <a:ea typeface="PMingLiU" pitchFamily="18" charset="-120"/>
              </a:rPr>
              <a:t>		</a:t>
            </a:r>
          </a:p>
          <a:p>
            <a:pPr eaLnBrk="1" hangingPunct="1">
              <a:spcBef>
                <a:spcPct val="0"/>
              </a:spcBef>
              <a:buFontTx/>
              <a:buNone/>
            </a:pPr>
            <a:r>
              <a:rPr kumimoji="1" lang="en-US" altLang="zh-TW" sz="2200" b="0">
                <a:latin typeface="Arial" panose="020B0604020202020204" pitchFamily="34" charset="0"/>
                <a:ea typeface="PMingLiU" pitchFamily="18" charset="-120"/>
              </a:rPr>
              <a:t>          ,r	T L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L </a:t>
            </a:r>
            <a:r>
              <a:rPr kumimoji="1" lang="en-US" altLang="zh-TW" sz="2200" b="0">
                <a:latin typeface="Arial" panose="020B0604020202020204" pitchFamily="34" charset="0"/>
                <a:ea typeface="PMingLiU" pitchFamily="18" charset="-120"/>
                <a:sym typeface="Symbol" panose="05050102010706020507" pitchFamily="18" charset="2"/>
              </a:rPr>
              <a:t></a:t>
            </a:r>
            <a:r>
              <a:rPr kumimoji="1" lang="en-US" altLang="zh-TW" sz="2200" b="0">
                <a:latin typeface="Arial" panose="020B0604020202020204" pitchFamily="34" charset="0"/>
                <a:ea typeface="PMingLiU" pitchFamily="18" charset="-120"/>
              </a:rPr>
              <a:t> L  ,  </a:t>
            </a:r>
            <a:r>
              <a:rPr kumimoji="1" lang="en-US" altLang="zh-TW" sz="2200">
                <a:latin typeface="Arial" panose="020B0604020202020204" pitchFamily="34" charset="0"/>
                <a:ea typeface="PMingLiU" pitchFamily="18" charset="-120"/>
              </a:rPr>
              <a:t>id</a:t>
            </a:r>
            <a:endParaRPr kumimoji="1" lang="en-US" altLang="zh-TW" sz="2200" b="0">
              <a:latin typeface="Arial" panose="020B0604020202020204" pitchFamily="34" charset="0"/>
              <a:ea typeface="PMingLiU" pitchFamily="18" charset="-120"/>
            </a:endParaRPr>
          </a:p>
          <a:p>
            <a:pPr eaLnBrk="1" hangingPunct="1">
              <a:spcBef>
                <a:spcPct val="0"/>
              </a:spcBef>
              <a:buFontTx/>
              <a:buNone/>
            </a:pPr>
            <a:r>
              <a:rPr kumimoji="1" lang="en-US" altLang="zh-TW" sz="2200" b="0">
                <a:latin typeface="Arial" panose="020B0604020202020204" pitchFamily="34" charset="0"/>
                <a:ea typeface="PMingLiU" pitchFamily="18" charset="-120"/>
              </a:rPr>
              <a:t>           r	T L ,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_</a:t>
            </a:r>
          </a:p>
          <a:p>
            <a:pPr eaLnBrk="1" hangingPunct="1">
              <a:spcBef>
                <a:spcPct val="0"/>
              </a:spcBef>
              <a:buFontTx/>
              <a:buNone/>
            </a:pPr>
            <a:r>
              <a:rPr kumimoji="1" lang="en-US" altLang="zh-TW" sz="2200" b="0">
                <a:latin typeface="Arial" panose="020B0604020202020204" pitchFamily="34" charset="0"/>
                <a:ea typeface="PMingLiU" pitchFamily="18" charset="-120"/>
              </a:rPr>
              <a:t>		T L , </a:t>
            </a:r>
            <a:r>
              <a:rPr kumimoji="1" lang="en-US" altLang="zh-TW" sz="2200">
                <a:latin typeface="Arial" panose="020B0604020202020204" pitchFamily="34" charset="0"/>
                <a:ea typeface="PMingLiU" pitchFamily="18" charset="-120"/>
              </a:rPr>
              <a:t>id</a:t>
            </a:r>
            <a:r>
              <a:rPr kumimoji="1" lang="en-US" altLang="zh-TW" sz="2200" b="0">
                <a:latin typeface="Arial" panose="020B0604020202020204" pitchFamily="34" charset="0"/>
                <a:ea typeface="PMingLiU" pitchFamily="18" charset="-120"/>
              </a:rPr>
              <a:t>	</a:t>
            </a:r>
            <a:r>
              <a:rPr kumimoji="1" lang="en-US" altLang="zh-CN" sz="2200" b="0">
                <a:latin typeface="Arial" panose="020B0604020202020204" pitchFamily="34" charset="0"/>
                <a:ea typeface="PMingLiU" pitchFamily="18" charset="-120"/>
              </a:rPr>
              <a:t>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_ </a:t>
            </a:r>
            <a:r>
              <a:rPr kumimoji="1" lang="en-US" altLang="zh-TW" sz="2200" b="0" i="1">
                <a:latin typeface="Arial" panose="020B0604020202020204" pitchFamily="34" charset="0"/>
                <a:ea typeface="PMingLiU" pitchFamily="18" charset="-120"/>
              </a:rPr>
              <a:t>e</a:t>
            </a:r>
            <a:r>
              <a:rPr kumimoji="1" lang="en-US" altLang="zh-TW" sz="2200" b="0">
                <a:latin typeface="Arial" panose="020B0604020202020204" pitchFamily="34" charset="0"/>
                <a:ea typeface="PMingLiU" pitchFamily="18" charset="-120"/>
              </a:rPr>
              <a:t>	</a:t>
            </a:r>
          </a:p>
          <a:p>
            <a:pPr eaLnBrk="1" hangingPunct="1">
              <a:spcBef>
                <a:spcPct val="0"/>
              </a:spcBef>
              <a:buFontTx/>
              <a:buNone/>
            </a:pPr>
            <a:r>
              <a:rPr kumimoji="1" lang="en-US" altLang="zh-TW" sz="2200" b="0">
                <a:latin typeface="Arial" panose="020B0604020202020204" pitchFamily="34" charset="0"/>
                <a:ea typeface="PMingLiU" pitchFamily="18" charset="-120"/>
              </a:rPr>
              <a:t>		T L		</a:t>
            </a:r>
            <a:r>
              <a:rPr kumimoji="1" lang="en-US" altLang="zh-TW" sz="2200" b="0" i="1">
                <a:latin typeface="Arial" panose="020B0604020202020204" pitchFamily="34" charset="0"/>
                <a:ea typeface="PMingLiU" pitchFamily="18" charset="-120"/>
              </a:rPr>
              <a:t>i</a:t>
            </a:r>
            <a:r>
              <a:rPr kumimoji="1" lang="en-US" altLang="zh-TW" sz="2200" b="0">
                <a:latin typeface="Arial" panose="020B0604020202020204" pitchFamily="34" charset="0"/>
                <a:ea typeface="PMingLiU" pitchFamily="18" charset="-120"/>
              </a:rPr>
              <a:t> _		L </a:t>
            </a:r>
            <a:r>
              <a:rPr kumimoji="1" lang="en-US" altLang="zh-TW" sz="2200" b="0">
                <a:latin typeface="Arial" panose="020B0604020202020204" pitchFamily="34" charset="0"/>
                <a:ea typeface="PMingLiU" pitchFamily="18" charset="-120"/>
                <a:sym typeface="Symbol" panose="05050102010706020507" pitchFamily="18" charset="2"/>
              </a:rPr>
              <a:t></a:t>
            </a:r>
            <a:r>
              <a:rPr kumimoji="1" lang="en-US" altLang="zh-TW" sz="2200" b="0">
                <a:latin typeface="Arial" panose="020B0604020202020204" pitchFamily="34" charset="0"/>
                <a:ea typeface="PMingLiU" pitchFamily="18" charset="-120"/>
              </a:rPr>
              <a:t> L  ,  </a:t>
            </a:r>
            <a:r>
              <a:rPr kumimoji="1" lang="en-US" altLang="zh-TW" sz="2200">
                <a:latin typeface="Arial" panose="020B0604020202020204" pitchFamily="34" charset="0"/>
                <a:ea typeface="PMingLiU" pitchFamily="18" charset="-120"/>
              </a:rPr>
              <a:t>id</a:t>
            </a:r>
            <a:endParaRPr kumimoji="1" lang="en-US" altLang="zh-TW" sz="2200" b="0">
              <a:latin typeface="Arial" panose="020B0604020202020204" pitchFamily="34" charset="0"/>
              <a:ea typeface="PMingLiU" pitchFamily="18" charset="-120"/>
            </a:endParaRPr>
          </a:p>
          <a:p>
            <a:pPr eaLnBrk="1" hangingPunct="1">
              <a:spcBef>
                <a:spcPct val="0"/>
              </a:spcBef>
              <a:buFontTx/>
              <a:buNone/>
            </a:pPr>
            <a:r>
              <a:rPr kumimoji="1" lang="en-US" altLang="zh-TW" sz="2200" b="0">
                <a:latin typeface="Arial" panose="020B0604020202020204" pitchFamily="34" charset="0"/>
                <a:ea typeface="PMingLiU" pitchFamily="18" charset="-120"/>
              </a:rPr>
              <a:t>		D 		</a:t>
            </a:r>
          </a:p>
        </p:txBody>
      </p:sp>
      <p:sp>
        <p:nvSpPr>
          <p:cNvPr id="63495" name="Line 4"/>
          <p:cNvSpPr>
            <a:spLocks noChangeShapeType="1"/>
          </p:cNvSpPr>
          <p:nvPr/>
        </p:nvSpPr>
        <p:spPr bwMode="auto">
          <a:xfrm>
            <a:off x="762000" y="1524000"/>
            <a:ext cx="83375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6" name="Line 5"/>
          <p:cNvSpPr>
            <a:spLocks noChangeShapeType="1"/>
          </p:cNvSpPr>
          <p:nvPr/>
        </p:nvSpPr>
        <p:spPr bwMode="auto">
          <a:xfrm>
            <a:off x="762000" y="1219200"/>
            <a:ext cx="83375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7" name="Rectangle 6"/>
          <p:cNvSpPr>
            <a:spLocks noChangeArrowheads="1"/>
          </p:cNvSpPr>
          <p:nvPr/>
        </p:nvSpPr>
        <p:spPr bwMode="auto">
          <a:xfrm>
            <a:off x="914400" y="5502275"/>
            <a:ext cx="8305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buFontTx/>
              <a:buNone/>
            </a:pPr>
            <a:r>
              <a:rPr lang="en-US" altLang="zh-TW" b="0">
                <a:ea typeface="PMingLiU" pitchFamily="18" charset="-120"/>
              </a:rPr>
              <a:t>Inheriting the value of a synthesized</a:t>
            </a:r>
            <a:r>
              <a:rPr lang="en-US" altLang="zh-CN" b="0">
                <a:ea typeface="宋体" panose="02010600030101010101" pitchFamily="2" charset="-122"/>
              </a:rPr>
              <a:t> </a:t>
            </a:r>
            <a:r>
              <a:rPr lang="en-US" altLang="zh-TW" b="0">
                <a:ea typeface="PMingLiU" pitchFamily="18" charset="-120"/>
              </a:rPr>
              <a:t>attribute works only if the grammar allows the position of the attribute value to be predicted</a:t>
            </a:r>
            <a:r>
              <a:rPr lang="en-US" altLang="zh-CN" b="0">
                <a:ea typeface="宋体" panose="02010600030101010101" pitchFamily="2" charset="-122"/>
              </a:rPr>
              <a:t>.</a:t>
            </a:r>
            <a:endParaRPr lang="en-US" altLang="zh-TW" b="0">
              <a:ea typeface="PMingLiU" pitchFamily="18" charset="-120"/>
            </a:endParaRPr>
          </a:p>
        </p:txBody>
      </p:sp>
    </p:spTree>
  </p:cSld>
  <p:clrMapOvr>
    <a:masterClrMapping/>
  </p:clrMapOvr>
  <p:transition>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4515"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4516"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5B90F16F-26AD-4B5B-9A18-160CF38FB53A}" type="slidenum">
              <a:rPr lang="zh-CN" altLang="en-US" sz="800"/>
              <a:pPr>
                <a:spcBef>
                  <a:spcPct val="0"/>
                </a:spcBef>
                <a:buFontTx/>
                <a:buNone/>
              </a:pPr>
              <a:t>62</a:t>
            </a:fld>
            <a:endParaRPr lang="en-US" altLang="zh-CN" sz="800"/>
          </a:p>
        </p:txBody>
      </p:sp>
      <p:sp>
        <p:nvSpPr>
          <p:cNvPr id="64517" name="Rectangle 2"/>
          <p:cNvSpPr>
            <a:spLocks noGrp="1" noChangeArrowheads="1"/>
          </p:cNvSpPr>
          <p:nvPr>
            <p:ph type="title"/>
          </p:nvPr>
        </p:nvSpPr>
        <p:spPr>
          <a:xfrm>
            <a:off x="382588" y="152400"/>
            <a:ext cx="9371012" cy="914400"/>
          </a:xfrm>
        </p:spPr>
        <p:txBody>
          <a:bodyPr/>
          <a:lstStyle/>
          <a:p>
            <a:r>
              <a:rPr lang="en-US" altLang="zh-TW" b="0" smtClean="0">
                <a:ea typeface="PMingLiU" pitchFamily="18" charset="-120"/>
              </a:rPr>
              <a:t>An</a:t>
            </a:r>
            <a:r>
              <a:rPr lang="en-US" altLang="zh-CN" b="0" smtClean="0">
                <a:ea typeface="PMingLiU" pitchFamily="18" charset="-120"/>
              </a:rPr>
              <a:t>other</a:t>
            </a:r>
            <a:r>
              <a:rPr lang="en-US" altLang="zh-TW" b="0" smtClean="0">
                <a:ea typeface="PMingLiU" pitchFamily="18" charset="-120"/>
              </a:rPr>
              <a:t> Example</a:t>
            </a:r>
          </a:p>
        </p:txBody>
      </p:sp>
      <p:sp>
        <p:nvSpPr>
          <p:cNvPr id="64518" name="Text Box 3"/>
          <p:cNvSpPr txBox="1">
            <a:spLocks noChangeArrowheads="1"/>
          </p:cNvSpPr>
          <p:nvPr/>
        </p:nvSpPr>
        <p:spPr bwMode="auto">
          <a:xfrm>
            <a:off x="1651000" y="1524000"/>
            <a:ext cx="48006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S  a A {C.i := A.s} C  	</a:t>
            </a:r>
          </a:p>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S  b A B {C.i := A.s} C  	</a:t>
            </a:r>
          </a:p>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C  c {C.s := g(C.i)}</a:t>
            </a:r>
          </a:p>
        </p:txBody>
      </p:sp>
      <p:sp>
        <p:nvSpPr>
          <p:cNvPr id="452612" name="Text Box 4"/>
          <p:cNvSpPr txBox="1">
            <a:spLocks noChangeArrowheads="1"/>
          </p:cNvSpPr>
          <p:nvPr/>
        </p:nvSpPr>
        <p:spPr bwMode="auto">
          <a:xfrm>
            <a:off x="1600200" y="3463925"/>
            <a:ext cx="636428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S  a A M C  	{M.i := A.s; C.i := M.s}</a:t>
            </a:r>
          </a:p>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S  b A B M C  	{M.i := A.s; C.i := M.s}</a:t>
            </a:r>
          </a:p>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C  c  		{C.s := g(C.i)}</a:t>
            </a:r>
          </a:p>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M  </a:t>
            </a:r>
            <a:r>
              <a:rPr kumimoji="1" lang="en-US" altLang="zh-TW" b="0">
                <a:latin typeface="Arial" panose="020B0604020202020204" pitchFamily="34" charset="0"/>
                <a:ea typeface="PMingLiU" pitchFamily="18" charset="-120"/>
                <a:sym typeface="Symbol" panose="05050102010706020507" pitchFamily="18" charset="2"/>
              </a:rPr>
              <a:t>		{</a:t>
            </a:r>
            <a:r>
              <a:rPr kumimoji="1" lang="en-US" altLang="zh-TW" sz="2800" b="0">
                <a:latin typeface="Arial" panose="020B0604020202020204" pitchFamily="34" charset="0"/>
                <a:ea typeface="PMingLiU" pitchFamily="18" charset="-120"/>
                <a:sym typeface="Symbol" panose="05050102010706020507" pitchFamily="18" charset="2"/>
              </a:rPr>
              <a:t>M.s := M.i</a:t>
            </a:r>
            <a:r>
              <a:rPr kumimoji="1" lang="en-US" altLang="zh-TW" b="0">
                <a:latin typeface="Arial" panose="020B0604020202020204" pitchFamily="34" charset="0"/>
                <a:ea typeface="PMingLiU" pitchFamily="18" charset="-120"/>
                <a:sym typeface="Symbol" panose="05050102010706020507" pitchFamily="18" charset="2"/>
              </a:rPr>
              <a:t>}</a:t>
            </a:r>
            <a:endParaRPr kumimoji="1" lang="en-US" altLang="zh-TW">
              <a:latin typeface="Arial" panose="020B0604020202020204" pitchFamily="34" charset="0"/>
              <a:ea typeface="PMingLiU" pitchFamily="18" charset="-12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26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5539"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5540"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6EDA1681-775D-4207-B391-6B4F98C19195}" type="slidenum">
              <a:rPr lang="zh-CN" altLang="en-US" sz="800"/>
              <a:pPr>
                <a:spcBef>
                  <a:spcPct val="0"/>
                </a:spcBef>
                <a:buFontTx/>
                <a:buNone/>
              </a:pPr>
              <a:t>63</a:t>
            </a:fld>
            <a:endParaRPr lang="en-US" altLang="zh-CN" sz="800"/>
          </a:p>
        </p:txBody>
      </p:sp>
      <p:sp>
        <p:nvSpPr>
          <p:cNvPr id="65541" name="Rectangle 2"/>
          <p:cNvSpPr>
            <a:spLocks noGrp="1" noChangeArrowheads="1"/>
          </p:cNvSpPr>
          <p:nvPr>
            <p:ph type="title"/>
          </p:nvPr>
        </p:nvSpPr>
        <p:spPr>
          <a:xfrm>
            <a:off x="382588" y="152400"/>
            <a:ext cx="9371012" cy="914400"/>
          </a:xfrm>
        </p:spPr>
        <p:txBody>
          <a:bodyPr/>
          <a:lstStyle/>
          <a:p>
            <a:r>
              <a:rPr lang="en-US" altLang="zh-TW" b="0" smtClean="0">
                <a:ea typeface="PMingLiU" pitchFamily="18" charset="-120"/>
              </a:rPr>
              <a:t>Another Example</a:t>
            </a:r>
          </a:p>
        </p:txBody>
      </p:sp>
      <p:sp>
        <p:nvSpPr>
          <p:cNvPr id="65542" name="Text Box 3"/>
          <p:cNvSpPr txBox="1">
            <a:spLocks noChangeArrowheads="1"/>
          </p:cNvSpPr>
          <p:nvPr/>
        </p:nvSpPr>
        <p:spPr bwMode="auto">
          <a:xfrm>
            <a:off x="1422400" y="2286000"/>
            <a:ext cx="4800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S  a A {C.i := f(A.s)} C  	</a:t>
            </a:r>
          </a:p>
        </p:txBody>
      </p:sp>
      <p:sp>
        <p:nvSpPr>
          <p:cNvPr id="453636" name="Text Box 4"/>
          <p:cNvSpPr txBox="1">
            <a:spLocks noChangeArrowheads="1"/>
          </p:cNvSpPr>
          <p:nvPr/>
        </p:nvSpPr>
        <p:spPr bwMode="auto">
          <a:xfrm>
            <a:off x="1443038" y="3492500"/>
            <a:ext cx="62849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S  a A N C  	{N.i := A.s; C.i := N.s}</a:t>
            </a:r>
          </a:p>
          <a:p>
            <a:pPr eaLnBrk="1" hangingPunct="1">
              <a:spcBef>
                <a:spcPct val="0"/>
              </a:spcBef>
              <a:buFontTx/>
              <a:buNone/>
            </a:pPr>
            <a:r>
              <a:rPr kumimoji="1" lang="en-US" altLang="zh-TW" sz="2800" b="0">
                <a:latin typeface="Arial" panose="020B0604020202020204" pitchFamily="34" charset="0"/>
                <a:ea typeface="PMingLiU" pitchFamily="18" charset="-120"/>
                <a:sym typeface="Symbol" panose="05050102010706020507" pitchFamily="18" charset="2"/>
              </a:rPr>
              <a:t>N  </a:t>
            </a:r>
            <a:r>
              <a:rPr kumimoji="1" lang="en-US" altLang="zh-TW" b="0">
                <a:latin typeface="Arial" panose="020B0604020202020204" pitchFamily="34" charset="0"/>
                <a:ea typeface="PMingLiU" pitchFamily="18" charset="-120"/>
                <a:sym typeface="Symbol" panose="05050102010706020507" pitchFamily="18" charset="2"/>
              </a:rPr>
              <a:t>		{</a:t>
            </a:r>
            <a:r>
              <a:rPr kumimoji="1" lang="en-US" altLang="zh-TW" sz="2800" b="0">
                <a:latin typeface="Arial" panose="020B0604020202020204" pitchFamily="34" charset="0"/>
                <a:ea typeface="PMingLiU" pitchFamily="18" charset="-120"/>
                <a:sym typeface="Symbol" panose="05050102010706020507" pitchFamily="18" charset="2"/>
              </a:rPr>
              <a:t>N.s := f(N.i)</a:t>
            </a:r>
            <a:r>
              <a:rPr kumimoji="1" lang="en-US" altLang="zh-TW" b="0">
                <a:latin typeface="Arial" panose="020B0604020202020204" pitchFamily="34" charset="0"/>
                <a:ea typeface="PMingLiU" pitchFamily="18" charset="-120"/>
                <a:sym typeface="Symbol" panose="05050102010706020507" pitchFamily="18" charset="2"/>
              </a:rPr>
              <a:t>}</a:t>
            </a:r>
            <a:endParaRPr kumimoji="1" lang="en-US" altLang="zh-TW">
              <a:latin typeface="Arial" panose="020B0604020202020204" pitchFamily="34" charset="0"/>
              <a:ea typeface="PMingLiU" pitchFamily="18" charset="-12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3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2"/>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6563" name="页脚占位符 3"/>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6564" name="灯片编号占位符 4"/>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B657A057-70CD-4B0A-9033-6FACA97223F8}" type="slidenum">
              <a:rPr lang="zh-CN" altLang="en-US" sz="800"/>
              <a:pPr>
                <a:spcBef>
                  <a:spcPct val="0"/>
                </a:spcBef>
                <a:buFontTx/>
                <a:buNone/>
              </a:pPr>
              <a:t>64</a:t>
            </a:fld>
            <a:endParaRPr lang="en-US" altLang="zh-CN" sz="800"/>
          </a:p>
        </p:txBody>
      </p:sp>
      <p:sp>
        <p:nvSpPr>
          <p:cNvPr id="66565" name="Rectangle 2"/>
          <p:cNvSpPr>
            <a:spLocks noGrp="1" noChangeArrowheads="1"/>
          </p:cNvSpPr>
          <p:nvPr>
            <p:ph type="title"/>
          </p:nvPr>
        </p:nvSpPr>
        <p:spPr>
          <a:xfrm>
            <a:off x="382588" y="152400"/>
            <a:ext cx="9371012" cy="914400"/>
          </a:xfrm>
        </p:spPr>
        <p:txBody>
          <a:bodyPr/>
          <a:lstStyle/>
          <a:p>
            <a:r>
              <a:rPr lang="en-US" altLang="zh-TW" b="0" smtClean="0">
                <a:ea typeface="PMingLiU" pitchFamily="18" charset="-120"/>
              </a:rPr>
              <a:t>From Inherited to Synthesized</a:t>
            </a:r>
            <a:r>
              <a:rPr lang="en-US" altLang="zh-CN" b="0" smtClean="0">
                <a:ea typeface="PMingLiU" pitchFamily="18" charset="-120"/>
              </a:rPr>
              <a:t> (P.315)</a:t>
            </a:r>
            <a:endParaRPr lang="en-US" altLang="zh-TW" b="0" smtClean="0">
              <a:ea typeface="PMingLiU" pitchFamily="18" charset="-120"/>
            </a:endParaRPr>
          </a:p>
        </p:txBody>
      </p:sp>
      <p:grpSp>
        <p:nvGrpSpPr>
          <p:cNvPr id="66566" name="Group 3"/>
          <p:cNvGrpSpPr>
            <a:grpSpLocks/>
          </p:cNvGrpSpPr>
          <p:nvPr/>
        </p:nvGrpSpPr>
        <p:grpSpPr bwMode="auto">
          <a:xfrm>
            <a:off x="1128713" y="1336675"/>
            <a:ext cx="2913062" cy="4038600"/>
            <a:chOff x="576" y="1440"/>
            <a:chExt cx="1694" cy="2544"/>
          </a:xfrm>
        </p:grpSpPr>
        <p:sp>
          <p:nvSpPr>
            <p:cNvPr id="66595" name="Text Box 4"/>
            <p:cNvSpPr txBox="1">
              <a:spLocks noChangeArrowheads="1"/>
            </p:cNvSpPr>
            <p:nvPr/>
          </p:nvSpPr>
          <p:spPr bwMode="auto">
            <a:xfrm>
              <a:off x="624" y="1440"/>
              <a:ext cx="1646"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D </a:t>
              </a:r>
              <a:r>
                <a:rPr kumimoji="1" lang="en-US" altLang="zh-TW" b="0">
                  <a:latin typeface="Arial" panose="020B0604020202020204" pitchFamily="34" charset="0"/>
                  <a:ea typeface="PMingLiU" pitchFamily="18" charset="-120"/>
                  <a:sym typeface="Symbol" panose="05050102010706020507" pitchFamily="18" charset="2"/>
                </a:rPr>
                <a:t> L  :  T</a:t>
              </a:r>
            </a:p>
            <a:p>
              <a:pPr eaLnBrk="1" hangingPunct="1">
                <a:spcBef>
                  <a:spcPct val="0"/>
                </a:spcBef>
                <a:buFontTx/>
                <a:buNone/>
              </a:pPr>
              <a:r>
                <a:rPr kumimoji="1" lang="en-US" altLang="zh-TW" b="0">
                  <a:solidFill>
                    <a:srgbClr val="FF3300"/>
                  </a:solidFill>
                  <a:latin typeface="Arial" panose="020B0604020202020204" pitchFamily="34" charset="0"/>
                  <a:ea typeface="PMingLiU" pitchFamily="18" charset="-120"/>
                  <a:sym typeface="Symbol" panose="05050102010706020507" pitchFamily="18" charset="2"/>
                </a:rPr>
                <a:t>L   L  ,  </a:t>
              </a:r>
              <a:r>
                <a:rPr kumimoji="1" lang="en-US" altLang="zh-TW">
                  <a:solidFill>
                    <a:srgbClr val="FF3300"/>
                  </a:solidFill>
                  <a:latin typeface="Arial" panose="020B0604020202020204" pitchFamily="34" charset="0"/>
                  <a:ea typeface="PMingLiU" pitchFamily="18" charset="-120"/>
                  <a:sym typeface="Symbol" panose="05050102010706020507" pitchFamily="18" charset="2"/>
                </a:rPr>
                <a:t>id</a:t>
              </a:r>
              <a:r>
                <a:rPr kumimoji="1" lang="en-US" altLang="zh-TW" b="0">
                  <a:solidFill>
                    <a:srgbClr val="FF3300"/>
                  </a:solidFill>
                  <a:latin typeface="Arial" panose="020B0604020202020204" pitchFamily="34" charset="0"/>
                  <a:ea typeface="PMingLiU" pitchFamily="18" charset="-120"/>
                  <a:sym typeface="Symbol" panose="05050102010706020507" pitchFamily="18" charset="2"/>
                </a:rPr>
                <a:t>  |  </a:t>
              </a:r>
              <a:r>
                <a:rPr kumimoji="1" lang="en-US" altLang="zh-TW">
                  <a:solidFill>
                    <a:srgbClr val="FF3300"/>
                  </a:solidFill>
                  <a:latin typeface="Arial" panose="020B0604020202020204" pitchFamily="34" charset="0"/>
                  <a:ea typeface="PMingLiU" pitchFamily="18" charset="-120"/>
                  <a:sym typeface="Symbol" panose="05050102010706020507" pitchFamily="18" charset="2"/>
                </a:rPr>
                <a:t>id</a:t>
              </a:r>
              <a:r>
                <a:rPr kumimoji="1" lang="en-US" altLang="zh-TW" b="0">
                  <a:latin typeface="Arial" panose="020B0604020202020204" pitchFamily="34" charset="0"/>
                  <a:ea typeface="PMingLiU" pitchFamily="18" charset="-120"/>
                  <a:sym typeface="Symbol" panose="05050102010706020507" pitchFamily="18" charset="2"/>
                </a:rPr>
                <a:t> </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integer</a:t>
              </a:r>
              <a:r>
                <a:rPr kumimoji="1" lang="en-US" altLang="zh-TW" b="0">
                  <a:latin typeface="Arial" panose="020B0604020202020204" pitchFamily="34" charset="0"/>
                  <a:ea typeface="PMingLiU" pitchFamily="18" charset="-120"/>
                  <a:sym typeface="Symbol" panose="05050102010706020507" pitchFamily="18" charset="2"/>
                </a:rPr>
                <a:t> | </a:t>
              </a:r>
              <a:r>
                <a:rPr kumimoji="1" lang="en-US" altLang="zh-TW">
                  <a:latin typeface="Arial" panose="020B0604020202020204" pitchFamily="34" charset="0"/>
                  <a:ea typeface="PMingLiU" pitchFamily="18" charset="-120"/>
                  <a:sym typeface="Symbol" panose="05050102010706020507" pitchFamily="18" charset="2"/>
                </a:rPr>
                <a:t>char</a:t>
              </a:r>
              <a:endParaRPr kumimoji="1" lang="en-US" altLang="zh-TW" b="0">
                <a:latin typeface="Arial" panose="020B0604020202020204" pitchFamily="34" charset="0"/>
                <a:ea typeface="PMingLiU" pitchFamily="18" charset="-120"/>
                <a:sym typeface="Symbol" panose="05050102010706020507" pitchFamily="18" charset="2"/>
              </a:endParaRPr>
            </a:p>
          </p:txBody>
        </p:sp>
        <p:grpSp>
          <p:nvGrpSpPr>
            <p:cNvPr id="66596" name="Group 5"/>
            <p:cNvGrpSpPr>
              <a:grpSpLocks/>
            </p:cNvGrpSpPr>
            <p:nvPr/>
          </p:nvGrpSpPr>
          <p:grpSpPr bwMode="auto">
            <a:xfrm>
              <a:off x="576" y="2352"/>
              <a:ext cx="1639" cy="1632"/>
              <a:chOff x="576" y="2448"/>
              <a:chExt cx="1639" cy="1632"/>
            </a:xfrm>
          </p:grpSpPr>
          <p:sp>
            <p:nvSpPr>
              <p:cNvPr id="66597" name="Text Box 6"/>
              <p:cNvSpPr txBox="1">
                <a:spLocks noChangeArrowheads="1"/>
              </p:cNvSpPr>
              <p:nvPr/>
            </p:nvSpPr>
            <p:spPr bwMode="auto">
              <a:xfrm>
                <a:off x="1584" y="2448"/>
                <a:ext cx="2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D</a:t>
                </a:r>
              </a:p>
            </p:txBody>
          </p:sp>
          <p:grpSp>
            <p:nvGrpSpPr>
              <p:cNvPr id="66598" name="Group 7"/>
              <p:cNvGrpSpPr>
                <a:grpSpLocks/>
              </p:cNvGrpSpPr>
              <p:nvPr/>
            </p:nvGrpSpPr>
            <p:grpSpPr bwMode="auto">
              <a:xfrm>
                <a:off x="1296" y="2688"/>
                <a:ext cx="887" cy="384"/>
                <a:chOff x="1296" y="2688"/>
                <a:chExt cx="887" cy="384"/>
              </a:xfrm>
            </p:grpSpPr>
            <p:sp>
              <p:nvSpPr>
                <p:cNvPr id="66616" name="Text Box 8"/>
                <p:cNvSpPr txBox="1">
                  <a:spLocks noChangeArrowheads="1"/>
                </p:cNvSpPr>
                <p:nvPr/>
              </p:nvSpPr>
              <p:spPr bwMode="auto">
                <a:xfrm>
                  <a:off x="1296" y="2783"/>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66617" name="Text Box 9"/>
                <p:cNvSpPr txBox="1">
                  <a:spLocks noChangeArrowheads="1"/>
                </p:cNvSpPr>
                <p:nvPr/>
              </p:nvSpPr>
              <p:spPr bwMode="auto">
                <a:xfrm>
                  <a:off x="1632" y="2784"/>
                  <a:ext cx="1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6618" name="Text Box 10"/>
                <p:cNvSpPr txBox="1">
                  <a:spLocks noChangeArrowheads="1"/>
                </p:cNvSpPr>
                <p:nvPr/>
              </p:nvSpPr>
              <p:spPr bwMode="auto">
                <a:xfrm>
                  <a:off x="1968" y="2784"/>
                  <a:ext cx="2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T</a:t>
                  </a:r>
                </a:p>
              </p:txBody>
            </p:sp>
            <p:sp>
              <p:nvSpPr>
                <p:cNvPr id="66619" name="Line 11"/>
                <p:cNvSpPr>
                  <a:spLocks noChangeShapeType="1"/>
                </p:cNvSpPr>
                <p:nvPr/>
              </p:nvSpPr>
              <p:spPr bwMode="auto">
                <a:xfrm>
                  <a:off x="1728" y="268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0" name="Line 12"/>
                <p:cNvSpPr>
                  <a:spLocks noChangeShapeType="1"/>
                </p:cNvSpPr>
                <p:nvPr/>
              </p:nvSpPr>
              <p:spPr bwMode="auto">
                <a:xfrm flipH="1">
                  <a:off x="1392" y="2688"/>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1" name="Line 13"/>
                <p:cNvSpPr>
                  <a:spLocks noChangeShapeType="1"/>
                </p:cNvSpPr>
                <p:nvPr/>
              </p:nvSpPr>
              <p:spPr bwMode="auto">
                <a:xfrm>
                  <a:off x="1728" y="2688"/>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599" name="Text Box 14"/>
              <p:cNvSpPr txBox="1">
                <a:spLocks noChangeArrowheads="1"/>
              </p:cNvSpPr>
              <p:nvPr/>
            </p:nvSpPr>
            <p:spPr bwMode="auto">
              <a:xfrm>
                <a:off x="960" y="3119"/>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66600" name="Text Box 15"/>
              <p:cNvSpPr txBox="1">
                <a:spLocks noChangeArrowheads="1"/>
              </p:cNvSpPr>
              <p:nvPr/>
            </p:nvSpPr>
            <p:spPr bwMode="auto">
              <a:xfrm>
                <a:off x="1296" y="3071"/>
                <a:ext cx="1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6601" name="Text Box 16"/>
              <p:cNvSpPr txBox="1">
                <a:spLocks noChangeArrowheads="1"/>
              </p:cNvSpPr>
              <p:nvPr/>
            </p:nvSpPr>
            <p:spPr bwMode="auto">
              <a:xfrm>
                <a:off x="1584" y="3120"/>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id</a:t>
                </a:r>
              </a:p>
            </p:txBody>
          </p:sp>
          <p:sp>
            <p:nvSpPr>
              <p:cNvPr id="66602" name="Line 17"/>
              <p:cNvSpPr>
                <a:spLocks noChangeShapeType="1"/>
              </p:cNvSpPr>
              <p:nvPr/>
            </p:nvSpPr>
            <p:spPr bwMode="auto">
              <a:xfrm>
                <a:off x="1392" y="302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3" name="Line 18"/>
              <p:cNvSpPr>
                <a:spLocks noChangeShapeType="1"/>
              </p:cNvSpPr>
              <p:nvPr/>
            </p:nvSpPr>
            <p:spPr bwMode="auto">
              <a:xfrm flipH="1">
                <a:off x="1056" y="3024"/>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4" name="Line 19"/>
              <p:cNvSpPr>
                <a:spLocks noChangeShapeType="1"/>
              </p:cNvSpPr>
              <p:nvPr/>
            </p:nvSpPr>
            <p:spPr bwMode="auto">
              <a:xfrm>
                <a:off x="1392" y="3024"/>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5" name="Text Box 20"/>
              <p:cNvSpPr txBox="1">
                <a:spLocks noChangeArrowheads="1"/>
              </p:cNvSpPr>
              <p:nvPr/>
            </p:nvSpPr>
            <p:spPr bwMode="auto">
              <a:xfrm>
                <a:off x="624" y="3455"/>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66606" name="Text Box 21"/>
              <p:cNvSpPr txBox="1">
                <a:spLocks noChangeArrowheads="1"/>
              </p:cNvSpPr>
              <p:nvPr/>
            </p:nvSpPr>
            <p:spPr bwMode="auto">
              <a:xfrm>
                <a:off x="960" y="3407"/>
                <a:ext cx="1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6607" name="Text Box 22"/>
              <p:cNvSpPr txBox="1">
                <a:spLocks noChangeArrowheads="1"/>
              </p:cNvSpPr>
              <p:nvPr/>
            </p:nvSpPr>
            <p:spPr bwMode="auto">
              <a:xfrm>
                <a:off x="1248" y="3456"/>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id</a:t>
                </a:r>
              </a:p>
            </p:txBody>
          </p:sp>
          <p:sp>
            <p:nvSpPr>
              <p:cNvPr id="66608" name="Line 23"/>
              <p:cNvSpPr>
                <a:spLocks noChangeShapeType="1"/>
              </p:cNvSpPr>
              <p:nvPr/>
            </p:nvSpPr>
            <p:spPr bwMode="auto">
              <a:xfrm>
                <a:off x="1056"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9" name="Line 24"/>
              <p:cNvSpPr>
                <a:spLocks noChangeShapeType="1"/>
              </p:cNvSpPr>
              <p:nvPr/>
            </p:nvSpPr>
            <p:spPr bwMode="auto">
              <a:xfrm flipH="1">
                <a:off x="720" y="3360"/>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0" name="Line 25"/>
              <p:cNvSpPr>
                <a:spLocks noChangeShapeType="1"/>
              </p:cNvSpPr>
              <p:nvPr/>
            </p:nvSpPr>
            <p:spPr bwMode="auto">
              <a:xfrm>
                <a:off x="1056" y="3360"/>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1" name="Line 26"/>
              <p:cNvSpPr>
                <a:spLocks noChangeShapeType="1"/>
              </p:cNvSpPr>
              <p:nvPr/>
            </p:nvSpPr>
            <p:spPr bwMode="auto">
              <a:xfrm>
                <a:off x="720" y="3696"/>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2" name="Text Box 27"/>
              <p:cNvSpPr txBox="1">
                <a:spLocks noChangeArrowheads="1"/>
              </p:cNvSpPr>
              <p:nvPr/>
            </p:nvSpPr>
            <p:spPr bwMode="auto">
              <a:xfrm>
                <a:off x="576" y="3792"/>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id</a:t>
                </a:r>
              </a:p>
            </p:txBody>
          </p:sp>
          <p:grpSp>
            <p:nvGrpSpPr>
              <p:cNvPr id="66613" name="Group 28"/>
              <p:cNvGrpSpPr>
                <a:grpSpLocks/>
              </p:cNvGrpSpPr>
              <p:nvPr/>
            </p:nvGrpSpPr>
            <p:grpSpPr bwMode="auto">
              <a:xfrm>
                <a:off x="1920" y="3024"/>
                <a:ext cx="295" cy="384"/>
                <a:chOff x="1920" y="3024"/>
                <a:chExt cx="295" cy="384"/>
              </a:xfrm>
            </p:grpSpPr>
            <p:sp>
              <p:nvSpPr>
                <p:cNvPr id="66614" name="Line 29"/>
                <p:cNvSpPr>
                  <a:spLocks noChangeShapeType="1"/>
                </p:cNvSpPr>
                <p:nvPr/>
              </p:nvSpPr>
              <p:spPr bwMode="auto">
                <a:xfrm>
                  <a:off x="2064" y="302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5" name="Text Box 30"/>
                <p:cNvSpPr txBox="1">
                  <a:spLocks noChangeArrowheads="1"/>
                </p:cNvSpPr>
                <p:nvPr/>
              </p:nvSpPr>
              <p:spPr bwMode="auto">
                <a:xfrm>
                  <a:off x="1920" y="3120"/>
                  <a:ext cx="2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int</a:t>
                  </a:r>
                </a:p>
              </p:txBody>
            </p:sp>
          </p:grpSp>
        </p:grpSp>
      </p:grpSp>
      <p:grpSp>
        <p:nvGrpSpPr>
          <p:cNvPr id="454687" name="Group 31"/>
          <p:cNvGrpSpPr>
            <a:grpSpLocks/>
          </p:cNvGrpSpPr>
          <p:nvPr/>
        </p:nvGrpSpPr>
        <p:grpSpPr bwMode="auto">
          <a:xfrm>
            <a:off x="5734050" y="1295400"/>
            <a:ext cx="3082925" cy="4460875"/>
            <a:chOff x="3254" y="1414"/>
            <a:chExt cx="1793" cy="2810"/>
          </a:xfrm>
        </p:grpSpPr>
        <p:sp>
          <p:nvSpPr>
            <p:cNvPr id="66568" name="Text Box 32"/>
            <p:cNvSpPr txBox="1">
              <a:spLocks noChangeArrowheads="1"/>
            </p:cNvSpPr>
            <p:nvPr/>
          </p:nvSpPr>
          <p:spPr bwMode="auto">
            <a:xfrm>
              <a:off x="3254" y="1414"/>
              <a:ext cx="1646"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solidFill>
                    <a:srgbClr val="FF3300"/>
                  </a:solidFill>
                  <a:latin typeface="Arial" panose="020B0604020202020204" pitchFamily="34" charset="0"/>
                  <a:ea typeface="PMingLiU" pitchFamily="18" charset="-120"/>
                  <a:sym typeface="Symbol" panose="05050102010706020507" pitchFamily="18" charset="2"/>
                </a:rPr>
                <a:t>D   </a:t>
              </a:r>
              <a:r>
                <a:rPr kumimoji="1" lang="en-US" altLang="zh-TW">
                  <a:solidFill>
                    <a:srgbClr val="FF3300"/>
                  </a:solidFill>
                  <a:latin typeface="Arial" panose="020B0604020202020204" pitchFamily="34" charset="0"/>
                  <a:ea typeface="PMingLiU" pitchFamily="18" charset="-120"/>
                  <a:sym typeface="Symbol" panose="05050102010706020507" pitchFamily="18" charset="2"/>
                </a:rPr>
                <a:t>id</a:t>
              </a:r>
              <a:r>
                <a:rPr kumimoji="1" lang="en-US" altLang="zh-TW" b="0">
                  <a:solidFill>
                    <a:srgbClr val="FF3300"/>
                  </a:solidFill>
                  <a:latin typeface="Arial" panose="020B0604020202020204" pitchFamily="34" charset="0"/>
                  <a:ea typeface="PMingLiU" pitchFamily="18" charset="-120"/>
                  <a:sym typeface="Symbol" panose="05050102010706020507" pitchFamily="18" charset="2"/>
                </a:rPr>
                <a:t>  L</a:t>
              </a:r>
            </a:p>
            <a:p>
              <a:pPr eaLnBrk="1" hangingPunct="1">
                <a:spcBef>
                  <a:spcPct val="0"/>
                </a:spcBef>
                <a:buFontTx/>
                <a:buNone/>
              </a:pPr>
              <a:r>
                <a:rPr kumimoji="1" lang="en-US" altLang="zh-TW" b="0">
                  <a:solidFill>
                    <a:srgbClr val="FF3300"/>
                  </a:solidFill>
                  <a:latin typeface="Arial" panose="020B0604020202020204" pitchFamily="34" charset="0"/>
                  <a:ea typeface="PMingLiU" pitchFamily="18" charset="-120"/>
                  <a:sym typeface="Symbol" panose="05050102010706020507" pitchFamily="18" charset="2"/>
                </a:rPr>
                <a:t>L   , </a:t>
              </a:r>
              <a:r>
                <a:rPr kumimoji="1" lang="en-US" altLang="zh-TW">
                  <a:solidFill>
                    <a:srgbClr val="FF3300"/>
                  </a:solidFill>
                  <a:latin typeface="Arial" panose="020B0604020202020204" pitchFamily="34" charset="0"/>
                  <a:ea typeface="PMingLiU" pitchFamily="18" charset="-120"/>
                  <a:sym typeface="Symbol" panose="05050102010706020507" pitchFamily="18" charset="2"/>
                </a:rPr>
                <a:t>id</a:t>
              </a:r>
              <a:r>
                <a:rPr kumimoji="1" lang="en-US" altLang="zh-TW" b="0">
                  <a:solidFill>
                    <a:srgbClr val="FF3300"/>
                  </a:solidFill>
                  <a:latin typeface="Arial" panose="020B0604020202020204" pitchFamily="34" charset="0"/>
                  <a:ea typeface="PMingLiU" pitchFamily="18" charset="-120"/>
                  <a:sym typeface="Symbol" panose="05050102010706020507" pitchFamily="18" charset="2"/>
                </a:rPr>
                <a:t>  L  |  :  T</a:t>
              </a:r>
            </a:p>
            <a:p>
              <a:pPr eaLnBrk="1" hangingPunct="1">
                <a:spcBef>
                  <a:spcPct val="0"/>
                </a:spcBef>
                <a:buFontTx/>
                <a:buNone/>
              </a:pPr>
              <a:r>
                <a:rPr kumimoji="1" lang="en-US" altLang="zh-TW" b="0">
                  <a:latin typeface="Arial" panose="020B0604020202020204" pitchFamily="34" charset="0"/>
                  <a:ea typeface="PMingLiU" pitchFamily="18" charset="-120"/>
                  <a:sym typeface="Symbol" panose="05050102010706020507" pitchFamily="18" charset="2"/>
                </a:rPr>
                <a:t>T   </a:t>
              </a:r>
              <a:r>
                <a:rPr kumimoji="1" lang="en-US" altLang="zh-TW">
                  <a:latin typeface="Arial" panose="020B0604020202020204" pitchFamily="34" charset="0"/>
                  <a:ea typeface="PMingLiU" pitchFamily="18" charset="-120"/>
                  <a:sym typeface="Symbol" panose="05050102010706020507" pitchFamily="18" charset="2"/>
                </a:rPr>
                <a:t>integer</a:t>
              </a:r>
              <a:r>
                <a:rPr kumimoji="1" lang="en-US" altLang="zh-TW" b="0">
                  <a:latin typeface="Arial" panose="020B0604020202020204" pitchFamily="34" charset="0"/>
                  <a:ea typeface="PMingLiU" pitchFamily="18" charset="-120"/>
                  <a:sym typeface="Symbol" panose="05050102010706020507" pitchFamily="18" charset="2"/>
                </a:rPr>
                <a:t> | </a:t>
              </a:r>
              <a:r>
                <a:rPr kumimoji="1" lang="en-US" altLang="zh-TW">
                  <a:latin typeface="Arial" panose="020B0604020202020204" pitchFamily="34" charset="0"/>
                  <a:ea typeface="PMingLiU" pitchFamily="18" charset="-120"/>
                  <a:sym typeface="Symbol" panose="05050102010706020507" pitchFamily="18" charset="2"/>
                </a:rPr>
                <a:t>char</a:t>
              </a:r>
              <a:endParaRPr kumimoji="1" lang="en-US" altLang="zh-TW" b="0">
                <a:latin typeface="Arial" panose="020B0604020202020204" pitchFamily="34" charset="0"/>
                <a:ea typeface="PMingLiU" pitchFamily="18" charset="-120"/>
              </a:endParaRPr>
            </a:p>
          </p:txBody>
        </p:sp>
        <p:grpSp>
          <p:nvGrpSpPr>
            <p:cNvPr id="66569" name="Group 33"/>
            <p:cNvGrpSpPr>
              <a:grpSpLocks/>
            </p:cNvGrpSpPr>
            <p:nvPr/>
          </p:nvGrpSpPr>
          <p:grpSpPr bwMode="auto">
            <a:xfrm>
              <a:off x="3360" y="2352"/>
              <a:ext cx="1687" cy="1872"/>
              <a:chOff x="3072" y="2448"/>
              <a:chExt cx="1687" cy="1872"/>
            </a:xfrm>
          </p:grpSpPr>
          <p:sp>
            <p:nvSpPr>
              <p:cNvPr id="66570" name="Text Box 34"/>
              <p:cNvSpPr txBox="1">
                <a:spLocks noChangeArrowheads="1"/>
              </p:cNvSpPr>
              <p:nvPr/>
            </p:nvSpPr>
            <p:spPr bwMode="auto">
              <a:xfrm>
                <a:off x="3312" y="2448"/>
                <a:ext cx="2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D</a:t>
                </a:r>
              </a:p>
            </p:txBody>
          </p:sp>
          <p:sp>
            <p:nvSpPr>
              <p:cNvPr id="66571" name="Text Box 35"/>
              <p:cNvSpPr txBox="1">
                <a:spLocks noChangeArrowheads="1"/>
              </p:cNvSpPr>
              <p:nvPr/>
            </p:nvSpPr>
            <p:spPr bwMode="auto">
              <a:xfrm>
                <a:off x="3072" y="2736"/>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id</a:t>
                </a:r>
              </a:p>
            </p:txBody>
          </p:sp>
          <p:sp>
            <p:nvSpPr>
              <p:cNvPr id="66572" name="Text Box 36"/>
              <p:cNvSpPr txBox="1">
                <a:spLocks noChangeArrowheads="1"/>
              </p:cNvSpPr>
              <p:nvPr/>
            </p:nvSpPr>
            <p:spPr bwMode="auto">
              <a:xfrm>
                <a:off x="3600" y="2735"/>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66573" name="Line 37"/>
              <p:cNvSpPr>
                <a:spLocks noChangeShapeType="1"/>
              </p:cNvSpPr>
              <p:nvPr/>
            </p:nvSpPr>
            <p:spPr bwMode="auto">
              <a:xfrm flipH="1">
                <a:off x="3216" y="2688"/>
                <a:ext cx="24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4" name="Line 38"/>
              <p:cNvSpPr>
                <a:spLocks noChangeShapeType="1"/>
              </p:cNvSpPr>
              <p:nvPr/>
            </p:nvSpPr>
            <p:spPr bwMode="auto">
              <a:xfrm>
                <a:off x="3456" y="2688"/>
                <a:ext cx="24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5" name="Text Box 39"/>
              <p:cNvSpPr txBox="1">
                <a:spLocks noChangeArrowheads="1"/>
              </p:cNvSpPr>
              <p:nvPr/>
            </p:nvSpPr>
            <p:spPr bwMode="auto">
              <a:xfrm>
                <a:off x="3264" y="3023"/>
                <a:ext cx="1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6576" name="Text Box 40"/>
              <p:cNvSpPr txBox="1">
                <a:spLocks noChangeArrowheads="1"/>
              </p:cNvSpPr>
              <p:nvPr/>
            </p:nvSpPr>
            <p:spPr bwMode="auto">
              <a:xfrm>
                <a:off x="3552" y="3072"/>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id</a:t>
                </a:r>
              </a:p>
            </p:txBody>
          </p:sp>
          <p:sp>
            <p:nvSpPr>
              <p:cNvPr id="66577" name="Text Box 41"/>
              <p:cNvSpPr txBox="1">
                <a:spLocks noChangeArrowheads="1"/>
              </p:cNvSpPr>
              <p:nvPr/>
            </p:nvSpPr>
            <p:spPr bwMode="auto">
              <a:xfrm>
                <a:off x="3936" y="3071"/>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66578" name="Line 42"/>
              <p:cNvSpPr>
                <a:spLocks noChangeShapeType="1"/>
              </p:cNvSpPr>
              <p:nvPr/>
            </p:nvSpPr>
            <p:spPr bwMode="auto">
              <a:xfrm>
                <a:off x="3696" y="2976"/>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9" name="Line 43"/>
              <p:cNvSpPr>
                <a:spLocks noChangeShapeType="1"/>
              </p:cNvSpPr>
              <p:nvPr/>
            </p:nvSpPr>
            <p:spPr bwMode="auto">
              <a:xfrm flipH="1">
                <a:off x="3360" y="2976"/>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0" name="Line 44"/>
              <p:cNvSpPr>
                <a:spLocks noChangeShapeType="1"/>
              </p:cNvSpPr>
              <p:nvPr/>
            </p:nvSpPr>
            <p:spPr bwMode="auto">
              <a:xfrm>
                <a:off x="3696" y="2976"/>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1" name="Text Box 45"/>
              <p:cNvSpPr txBox="1">
                <a:spLocks noChangeArrowheads="1"/>
              </p:cNvSpPr>
              <p:nvPr/>
            </p:nvSpPr>
            <p:spPr bwMode="auto">
              <a:xfrm>
                <a:off x="3600" y="3359"/>
                <a:ext cx="1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6582" name="Text Box 46"/>
              <p:cNvSpPr txBox="1">
                <a:spLocks noChangeArrowheads="1"/>
              </p:cNvSpPr>
              <p:nvPr/>
            </p:nvSpPr>
            <p:spPr bwMode="auto">
              <a:xfrm>
                <a:off x="3888" y="3408"/>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id</a:t>
                </a:r>
              </a:p>
            </p:txBody>
          </p:sp>
          <p:sp>
            <p:nvSpPr>
              <p:cNvPr id="66583" name="Text Box 47"/>
              <p:cNvSpPr txBox="1">
                <a:spLocks noChangeArrowheads="1"/>
              </p:cNvSpPr>
              <p:nvPr/>
            </p:nvSpPr>
            <p:spPr bwMode="auto">
              <a:xfrm>
                <a:off x="4272" y="3407"/>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L</a:t>
                </a:r>
              </a:p>
            </p:txBody>
          </p:sp>
          <p:sp>
            <p:nvSpPr>
              <p:cNvPr id="66584" name="Line 48"/>
              <p:cNvSpPr>
                <a:spLocks noChangeShapeType="1"/>
              </p:cNvSpPr>
              <p:nvPr/>
            </p:nvSpPr>
            <p:spPr bwMode="auto">
              <a:xfrm>
                <a:off x="4032" y="3312"/>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5" name="Line 49"/>
              <p:cNvSpPr>
                <a:spLocks noChangeShapeType="1"/>
              </p:cNvSpPr>
              <p:nvPr/>
            </p:nvSpPr>
            <p:spPr bwMode="auto">
              <a:xfrm flipH="1">
                <a:off x="3696" y="3312"/>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6" name="Line 50"/>
              <p:cNvSpPr>
                <a:spLocks noChangeShapeType="1"/>
              </p:cNvSpPr>
              <p:nvPr/>
            </p:nvSpPr>
            <p:spPr bwMode="auto">
              <a:xfrm>
                <a:off x="4032" y="3312"/>
                <a:ext cx="33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6587" name="Group 51"/>
              <p:cNvGrpSpPr>
                <a:grpSpLocks/>
              </p:cNvGrpSpPr>
              <p:nvPr/>
            </p:nvGrpSpPr>
            <p:grpSpPr bwMode="auto">
              <a:xfrm>
                <a:off x="4032" y="3648"/>
                <a:ext cx="727" cy="672"/>
                <a:chOff x="3936" y="3648"/>
                <a:chExt cx="727" cy="672"/>
              </a:xfrm>
            </p:grpSpPr>
            <p:sp>
              <p:nvSpPr>
                <p:cNvPr id="66588" name="Text Box 52"/>
                <p:cNvSpPr txBox="1">
                  <a:spLocks noChangeArrowheads="1"/>
                </p:cNvSpPr>
                <p:nvPr/>
              </p:nvSpPr>
              <p:spPr bwMode="auto">
                <a:xfrm>
                  <a:off x="3936" y="3696"/>
                  <a:ext cx="1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a:t>
                  </a:r>
                </a:p>
              </p:txBody>
            </p:sp>
            <p:sp>
              <p:nvSpPr>
                <p:cNvPr id="66589" name="Text Box 53"/>
                <p:cNvSpPr txBox="1">
                  <a:spLocks noChangeArrowheads="1"/>
                </p:cNvSpPr>
                <p:nvPr/>
              </p:nvSpPr>
              <p:spPr bwMode="auto">
                <a:xfrm>
                  <a:off x="4416" y="3696"/>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T</a:t>
                  </a:r>
                </a:p>
              </p:txBody>
            </p:sp>
            <p:sp>
              <p:nvSpPr>
                <p:cNvPr id="66590" name="Line 54"/>
                <p:cNvSpPr>
                  <a:spLocks noChangeShapeType="1"/>
                </p:cNvSpPr>
                <p:nvPr/>
              </p:nvSpPr>
              <p:spPr bwMode="auto">
                <a:xfrm flipH="1">
                  <a:off x="4032" y="3648"/>
                  <a:ext cx="24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1" name="Line 55"/>
                <p:cNvSpPr>
                  <a:spLocks noChangeShapeType="1"/>
                </p:cNvSpPr>
                <p:nvPr/>
              </p:nvSpPr>
              <p:spPr bwMode="auto">
                <a:xfrm>
                  <a:off x="4272" y="3648"/>
                  <a:ext cx="24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6592" name="Group 56"/>
                <p:cNvGrpSpPr>
                  <a:grpSpLocks/>
                </p:cNvGrpSpPr>
                <p:nvPr/>
              </p:nvGrpSpPr>
              <p:grpSpPr bwMode="auto">
                <a:xfrm>
                  <a:off x="4368" y="3936"/>
                  <a:ext cx="295" cy="384"/>
                  <a:chOff x="1920" y="3024"/>
                  <a:chExt cx="295" cy="384"/>
                </a:xfrm>
              </p:grpSpPr>
              <p:sp>
                <p:nvSpPr>
                  <p:cNvPr id="66593" name="Line 57"/>
                  <p:cNvSpPr>
                    <a:spLocks noChangeShapeType="1"/>
                  </p:cNvSpPr>
                  <p:nvPr/>
                </p:nvSpPr>
                <p:spPr bwMode="auto">
                  <a:xfrm>
                    <a:off x="2064" y="302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4" name="Text Box 58"/>
                  <p:cNvSpPr txBox="1">
                    <a:spLocks noChangeArrowheads="1"/>
                  </p:cNvSpPr>
                  <p:nvPr/>
                </p:nvSpPr>
                <p:spPr bwMode="auto">
                  <a:xfrm>
                    <a:off x="1920" y="3120"/>
                    <a:ext cx="2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eaLnBrk="1" hangingPunct="1">
                      <a:spcBef>
                        <a:spcPct val="0"/>
                      </a:spcBef>
                      <a:buFontTx/>
                      <a:buNone/>
                    </a:pPr>
                    <a:r>
                      <a:rPr kumimoji="1" lang="en-US" altLang="zh-TW" b="0">
                        <a:latin typeface="Arial" panose="020B0604020202020204" pitchFamily="34" charset="0"/>
                        <a:ea typeface="PMingLiU" pitchFamily="18" charset="-120"/>
                      </a:rPr>
                      <a:t>int</a:t>
                    </a:r>
                  </a:p>
                </p:txBody>
              </p:sp>
            </p:gr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4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7587"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7588"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CA72CD7D-4C71-4EFD-9821-842004B9BD28}" type="slidenum">
              <a:rPr lang="zh-CN" altLang="en-US" sz="800"/>
              <a:pPr>
                <a:spcBef>
                  <a:spcPct val="0"/>
                </a:spcBef>
                <a:buFontTx/>
                <a:buNone/>
              </a:pPr>
              <a:t>65</a:t>
            </a:fld>
            <a:endParaRPr lang="en-US" altLang="zh-CN" sz="800"/>
          </a:p>
        </p:txBody>
      </p:sp>
      <p:sp>
        <p:nvSpPr>
          <p:cNvPr id="67589" name="Rectangle 2"/>
          <p:cNvSpPr>
            <a:spLocks noGrp="1" noChangeArrowheads="1"/>
          </p:cNvSpPr>
          <p:nvPr>
            <p:ph type="title"/>
          </p:nvPr>
        </p:nvSpPr>
        <p:spPr/>
        <p:txBody>
          <a:bodyPr/>
          <a:lstStyle/>
          <a:p>
            <a:r>
              <a:rPr lang="en-US" altLang="zh-CN" smtClean="0">
                <a:ea typeface="宋体" panose="02010600030101010101" pitchFamily="2" charset="-122"/>
              </a:rPr>
              <a:t>Problems</a:t>
            </a:r>
          </a:p>
        </p:txBody>
      </p:sp>
      <p:sp>
        <p:nvSpPr>
          <p:cNvPr id="67590" name="Rectangle 3"/>
          <p:cNvSpPr>
            <a:spLocks noGrp="1" noChangeArrowheads="1"/>
          </p:cNvSpPr>
          <p:nvPr>
            <p:ph type="body" idx="1"/>
          </p:nvPr>
        </p:nvSpPr>
        <p:spPr>
          <a:xfrm>
            <a:off x="304800" y="1143000"/>
            <a:ext cx="9372600" cy="4953000"/>
          </a:xfrm>
        </p:spPr>
        <p:txBody>
          <a:bodyPr/>
          <a:lstStyle/>
          <a:p>
            <a:r>
              <a:rPr lang="en-US" altLang="zh-CN" smtClean="0">
                <a:ea typeface="宋体" panose="02010600030101010101" pitchFamily="2" charset="-122"/>
              </a:rPr>
              <a:t>Some L-attributed definitions based on LR grammars cannot be evaluated during bottom-up parsing.</a:t>
            </a:r>
          </a:p>
          <a:p>
            <a:endParaRPr lang="en-US" altLang="zh-CN" smtClean="0">
              <a:ea typeface="宋体" panose="02010600030101010101" pitchFamily="2" charset="-122"/>
            </a:endParaRPr>
          </a:p>
          <a:p>
            <a:pPr>
              <a:buFontTx/>
              <a:buNone/>
            </a:pPr>
            <a:r>
              <a:rPr lang="en-US" altLang="zh-CN" smtClean="0">
                <a:ea typeface="宋体" panose="02010600030101010101" pitchFamily="2" charset="-122"/>
              </a:rPr>
              <a:t>S </a:t>
            </a:r>
            <a:r>
              <a:rPr lang="en-US" altLang="zh-CN" sz="2000" smtClean="0">
                <a:ea typeface="宋体" panose="02010600030101010101" pitchFamily="2" charset="-122"/>
                <a:sym typeface="Symbol" panose="05050102010706020507" pitchFamily="18" charset="2"/>
              </a:rPr>
              <a:t> { L.i=0 }  L		 </a:t>
            </a:r>
            <a:r>
              <a:rPr lang="en-US" altLang="zh-CN" sz="2000" smtClean="0">
                <a:ea typeface="宋体" panose="02010600030101010101" pitchFamily="2" charset="-122"/>
                <a:sym typeface="Wingdings" panose="05000000000000000000" pitchFamily="2" charset="2"/>
              </a:rPr>
              <a:t> this translations scheme cannot be implemented </a:t>
            </a:r>
            <a:endParaRPr lang="en-US" altLang="zh-CN" sz="2000" smtClean="0">
              <a:ea typeface="宋体" panose="02010600030101010101" pitchFamily="2" charset="-122"/>
              <a:sym typeface="Symbol" panose="05050102010706020507" pitchFamily="18" charset="2"/>
            </a:endParaRPr>
          </a:p>
          <a:p>
            <a:pPr>
              <a:buFontTx/>
              <a:buNone/>
            </a:pPr>
            <a:r>
              <a:rPr lang="en-US" altLang="zh-CN" sz="2000" smtClean="0">
                <a:ea typeface="宋体" panose="02010600030101010101" pitchFamily="2" charset="-122"/>
                <a:sym typeface="Symbol" panose="05050102010706020507" pitchFamily="18" charset="2"/>
              </a:rPr>
              <a:t>L  { L</a:t>
            </a:r>
            <a:r>
              <a:rPr lang="en-US" altLang="zh-CN" sz="2000" baseline="-25000" smtClean="0">
                <a:ea typeface="宋体" panose="02010600030101010101" pitchFamily="2" charset="-122"/>
                <a:sym typeface="Symbol" panose="05050102010706020507" pitchFamily="18" charset="2"/>
              </a:rPr>
              <a:t>1</a:t>
            </a:r>
            <a:r>
              <a:rPr lang="en-US" altLang="zh-CN" sz="2000" smtClean="0">
                <a:ea typeface="宋体" panose="02010600030101010101" pitchFamily="2" charset="-122"/>
                <a:sym typeface="Symbol" panose="05050102010706020507" pitchFamily="18" charset="2"/>
              </a:rPr>
              <a:t>.i=L.i+1 } L</a:t>
            </a:r>
            <a:r>
              <a:rPr lang="en-US" altLang="zh-CN" sz="2000" baseline="-25000" smtClean="0">
                <a:ea typeface="宋体" panose="02010600030101010101" pitchFamily="2" charset="-122"/>
                <a:sym typeface="Symbol" panose="05050102010706020507" pitchFamily="18" charset="2"/>
              </a:rPr>
              <a:t>1</a:t>
            </a:r>
            <a:r>
              <a:rPr lang="en-US" altLang="zh-CN" sz="2000" smtClean="0">
                <a:ea typeface="宋体" panose="02010600030101010101" pitchFamily="2" charset="-122"/>
                <a:sym typeface="Symbol" panose="05050102010706020507" pitchFamily="18" charset="2"/>
              </a:rPr>
              <a:t> 1	      </a:t>
            </a:r>
            <a:r>
              <a:rPr lang="en-US" altLang="zh-CN" sz="2000" smtClean="0">
                <a:ea typeface="宋体" panose="02010600030101010101" pitchFamily="2" charset="-122"/>
                <a:sym typeface="Wingdings" panose="05000000000000000000" pitchFamily="2" charset="2"/>
              </a:rPr>
              <a:t>during the bottom-up parsing</a:t>
            </a:r>
            <a:endParaRPr lang="en-US" altLang="zh-CN" sz="2000" smtClean="0">
              <a:ea typeface="宋体" panose="02010600030101010101" pitchFamily="2" charset="-122"/>
              <a:sym typeface="Symbol" panose="05050102010706020507" pitchFamily="18" charset="2"/>
            </a:endParaRPr>
          </a:p>
          <a:p>
            <a:pPr>
              <a:buFontTx/>
              <a:buNone/>
            </a:pPr>
            <a:r>
              <a:rPr lang="en-US" altLang="zh-CN" sz="2000" smtClean="0">
                <a:ea typeface="宋体" panose="02010600030101010101" pitchFamily="2" charset="-122"/>
                <a:sym typeface="Symbol" panose="05050102010706020507" pitchFamily="18" charset="2"/>
              </a:rPr>
              <a:t>L   { print(L.i) }	</a:t>
            </a:r>
          </a:p>
          <a:p>
            <a:pPr>
              <a:buFontTx/>
              <a:buNone/>
            </a:pPr>
            <a:endParaRPr lang="en-US" altLang="zh-CN" sz="2000" smtClean="0">
              <a:ea typeface="宋体" panose="02010600030101010101" pitchFamily="2" charset="-122"/>
              <a:sym typeface="Symbol" panose="05050102010706020507" pitchFamily="18" charset="2"/>
            </a:endParaRPr>
          </a:p>
          <a:p>
            <a:pPr>
              <a:buFontTx/>
              <a:buNone/>
            </a:pPr>
            <a:r>
              <a:rPr lang="en-US" altLang="zh-CN" sz="2000" smtClean="0">
                <a:ea typeface="宋体" panose="02010600030101010101" pitchFamily="2" charset="-122"/>
                <a:sym typeface="Symbol" panose="05050102010706020507" pitchFamily="18" charset="2"/>
              </a:rPr>
              <a:t>S  M</a:t>
            </a:r>
            <a:r>
              <a:rPr lang="en-US" altLang="zh-CN" sz="2000" baseline="-25000" smtClean="0">
                <a:ea typeface="宋体" panose="02010600030101010101" pitchFamily="2" charset="-122"/>
                <a:sym typeface="Symbol" panose="05050102010706020507" pitchFamily="18" charset="2"/>
              </a:rPr>
              <a:t>1</a:t>
            </a:r>
            <a:r>
              <a:rPr lang="en-US" altLang="zh-CN" sz="2000" smtClean="0">
                <a:ea typeface="宋体" panose="02010600030101010101" pitchFamily="2" charset="-122"/>
                <a:sym typeface="Symbol" panose="05050102010706020507" pitchFamily="18" charset="2"/>
              </a:rPr>
              <a:t> L</a:t>
            </a:r>
          </a:p>
          <a:p>
            <a:pPr>
              <a:buFontTx/>
              <a:buNone/>
            </a:pPr>
            <a:r>
              <a:rPr lang="en-US" altLang="zh-CN" sz="2000" smtClean="0">
                <a:ea typeface="宋体" panose="02010600030101010101" pitchFamily="2" charset="-122"/>
                <a:sym typeface="Symbol" panose="05050102010706020507" pitchFamily="18" charset="2"/>
              </a:rPr>
              <a:t>L  M</a:t>
            </a:r>
            <a:r>
              <a:rPr lang="en-US" altLang="zh-CN" sz="2000" baseline="-25000" smtClean="0">
                <a:ea typeface="宋体" panose="02010600030101010101" pitchFamily="2" charset="-122"/>
                <a:sym typeface="Symbol" panose="05050102010706020507" pitchFamily="18" charset="2"/>
              </a:rPr>
              <a:t>2</a:t>
            </a:r>
            <a:r>
              <a:rPr lang="en-US" altLang="zh-CN" sz="2000" smtClean="0">
                <a:ea typeface="宋体" panose="02010600030101010101" pitchFamily="2" charset="-122"/>
                <a:sym typeface="Symbol" panose="05050102010706020507" pitchFamily="18" charset="2"/>
              </a:rPr>
              <a:t> L</a:t>
            </a:r>
            <a:r>
              <a:rPr lang="en-US" altLang="zh-CN" sz="2000" baseline="-25000" smtClean="0">
                <a:ea typeface="宋体" panose="02010600030101010101" pitchFamily="2" charset="-122"/>
                <a:sym typeface="Symbol" panose="05050102010706020507" pitchFamily="18" charset="2"/>
              </a:rPr>
              <a:t>1</a:t>
            </a:r>
            <a:r>
              <a:rPr lang="en-US" altLang="zh-CN" sz="2000" smtClean="0">
                <a:ea typeface="宋体" panose="02010600030101010101" pitchFamily="2" charset="-122"/>
                <a:sym typeface="Symbol" panose="05050102010706020507" pitchFamily="18" charset="2"/>
              </a:rPr>
              <a:t> 1		</a:t>
            </a:r>
            <a:r>
              <a:rPr lang="en-US" altLang="zh-CN" sz="2000" smtClean="0">
                <a:ea typeface="宋体" panose="02010600030101010101" pitchFamily="2" charset="-122"/>
                <a:sym typeface="Wingdings" panose="05000000000000000000" pitchFamily="2" charset="2"/>
              </a:rPr>
              <a:t> But since </a:t>
            </a:r>
            <a:r>
              <a:rPr lang="en-US" altLang="zh-CN" sz="2000" smtClean="0">
                <a:ea typeface="宋体" panose="02010600030101010101" pitchFamily="2" charset="-122"/>
                <a:sym typeface="Symbol" panose="05050102010706020507" pitchFamily="18" charset="2"/>
              </a:rPr>
              <a:t>L    will be reduced first by the bottom-up	</a:t>
            </a:r>
          </a:p>
          <a:p>
            <a:pPr>
              <a:buFontTx/>
              <a:buNone/>
            </a:pPr>
            <a:r>
              <a:rPr lang="en-US" altLang="zh-CN" sz="2000" smtClean="0">
                <a:ea typeface="宋体" panose="02010600030101010101" pitchFamily="2" charset="-122"/>
                <a:sym typeface="Symbol" panose="05050102010706020507" pitchFamily="18" charset="2"/>
              </a:rPr>
              <a:t>L     	{ print(s[top]) }	     parser, the translator cannot know the number of 1s.</a:t>
            </a:r>
          </a:p>
          <a:p>
            <a:pPr>
              <a:buFontTx/>
              <a:buNone/>
            </a:pPr>
            <a:r>
              <a:rPr lang="en-US" altLang="zh-CN" sz="2000" smtClean="0">
                <a:ea typeface="宋体" panose="02010600030101010101" pitchFamily="2" charset="-122"/>
                <a:sym typeface="Symbol" panose="05050102010706020507" pitchFamily="18" charset="2"/>
              </a:rPr>
              <a:t>M</a:t>
            </a:r>
            <a:r>
              <a:rPr lang="en-US" altLang="zh-CN" sz="2000" baseline="-25000" smtClean="0">
                <a:ea typeface="宋体" panose="02010600030101010101" pitchFamily="2" charset="-122"/>
                <a:sym typeface="Symbol" panose="05050102010706020507" pitchFamily="18" charset="2"/>
              </a:rPr>
              <a:t>1</a:t>
            </a:r>
            <a:r>
              <a:rPr lang="en-US" altLang="zh-CN" sz="2000" smtClean="0">
                <a:ea typeface="宋体" panose="02010600030101010101" pitchFamily="2" charset="-122"/>
                <a:sym typeface="Symbol" panose="05050102010706020507" pitchFamily="18" charset="2"/>
              </a:rPr>
              <a:t>   	{ s[ntop]=0 }</a:t>
            </a:r>
          </a:p>
          <a:p>
            <a:pPr>
              <a:buFontTx/>
              <a:buNone/>
            </a:pPr>
            <a:r>
              <a:rPr lang="en-US" altLang="zh-CN" sz="2000" smtClean="0">
                <a:ea typeface="宋体" panose="02010600030101010101" pitchFamily="2" charset="-122"/>
                <a:sym typeface="Symbol" panose="05050102010706020507" pitchFamily="18" charset="2"/>
              </a:rPr>
              <a:t>M</a:t>
            </a:r>
            <a:r>
              <a:rPr lang="en-US" altLang="zh-CN" sz="2000" baseline="-25000" smtClean="0">
                <a:ea typeface="宋体" panose="02010600030101010101" pitchFamily="2" charset="-122"/>
                <a:sym typeface="Symbol" panose="05050102010706020507" pitchFamily="18" charset="2"/>
              </a:rPr>
              <a:t>2</a:t>
            </a:r>
            <a:r>
              <a:rPr lang="en-US" altLang="zh-CN" sz="2000" smtClean="0">
                <a:ea typeface="宋体" panose="02010600030101010101" pitchFamily="2" charset="-122"/>
                <a:sym typeface="Symbol" panose="05050102010706020507" pitchFamily="18" charset="2"/>
              </a:rPr>
              <a:t>  	{ s[ntop]=s[top]+1 }</a:t>
            </a:r>
            <a:endParaRPr lang="en-US" altLang="zh-CN" sz="2000" smtClean="0">
              <a:ea typeface="宋体" panose="02010600030101010101" pitchFamily="2" charset="-122"/>
              <a:sym typeface="Wingdings" panose="05000000000000000000" pitchFamily="2" charset="2"/>
            </a:endParaRPr>
          </a:p>
        </p:txBody>
      </p:sp>
    </p:spTree>
  </p:cSld>
  <p:clrMapOvr>
    <a:masterClrMapping/>
  </p:clrMapOvr>
  <p:transition>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8611"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8612"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3EC2EFE0-57FF-4E09-A5F7-792836F6858B}" type="slidenum">
              <a:rPr lang="zh-CN" altLang="en-US" sz="800"/>
              <a:pPr>
                <a:spcBef>
                  <a:spcPct val="0"/>
                </a:spcBef>
                <a:buFontTx/>
                <a:buNone/>
              </a:pPr>
              <a:t>66</a:t>
            </a:fld>
            <a:endParaRPr lang="en-US" altLang="zh-CN" sz="800"/>
          </a:p>
        </p:txBody>
      </p:sp>
      <p:sp>
        <p:nvSpPr>
          <p:cNvPr id="68613" name="Rectangle 2"/>
          <p:cNvSpPr>
            <a:spLocks noGrp="1" noChangeArrowheads="1"/>
          </p:cNvSpPr>
          <p:nvPr>
            <p:ph type="title"/>
          </p:nvPr>
        </p:nvSpPr>
        <p:spPr/>
        <p:txBody>
          <a:bodyPr/>
          <a:lstStyle/>
          <a:p>
            <a:r>
              <a:rPr lang="en-US" altLang="zh-CN" smtClean="0">
                <a:ea typeface="宋体" panose="02010600030101010101" pitchFamily="2" charset="-122"/>
              </a:rPr>
              <a:t>Problems</a:t>
            </a:r>
          </a:p>
        </p:txBody>
      </p:sp>
      <p:sp>
        <p:nvSpPr>
          <p:cNvPr id="68614" name="Rectangle 3"/>
          <p:cNvSpPr>
            <a:spLocks noGrp="1" noChangeArrowheads="1"/>
          </p:cNvSpPr>
          <p:nvPr>
            <p:ph type="body" idx="1"/>
          </p:nvPr>
        </p:nvSpPr>
        <p:spPr>
          <a:xfrm>
            <a:off x="381000" y="1219200"/>
            <a:ext cx="9067800" cy="4572000"/>
          </a:xfrm>
        </p:spPr>
        <p:txBody>
          <a:bodyPr/>
          <a:lstStyle/>
          <a:p>
            <a:r>
              <a:rPr lang="en-US" altLang="zh-CN" smtClean="0">
                <a:ea typeface="宋体" panose="02010600030101010101" pitchFamily="2" charset="-122"/>
              </a:rPr>
              <a:t>The modified grammar cannot be LR grammar anymore.</a:t>
            </a:r>
          </a:p>
          <a:p>
            <a:endParaRPr lang="en-US" altLang="zh-CN" smtClean="0">
              <a:ea typeface="宋体" panose="02010600030101010101" pitchFamily="2" charset="-122"/>
            </a:endParaRPr>
          </a:p>
          <a:p>
            <a:pPr>
              <a:buFontTx/>
              <a:buNone/>
            </a:pPr>
            <a:r>
              <a:rPr lang="en-US" altLang="zh-CN" sz="2000" smtClean="0">
                <a:ea typeface="宋体" panose="02010600030101010101" pitchFamily="2" charset="-122"/>
                <a:sym typeface="Symbol" panose="05050102010706020507" pitchFamily="18" charset="2"/>
              </a:rPr>
              <a:t>L  L b			L  M L b</a:t>
            </a:r>
          </a:p>
          <a:p>
            <a:pPr>
              <a:buFontTx/>
              <a:buNone/>
            </a:pPr>
            <a:r>
              <a:rPr lang="en-US" altLang="zh-CN" sz="2000" smtClean="0">
                <a:ea typeface="宋体" panose="02010600030101010101" pitchFamily="2" charset="-122"/>
                <a:sym typeface="Symbol" panose="05050102010706020507" pitchFamily="18" charset="2"/>
              </a:rPr>
              <a:t>L  a		</a:t>
            </a:r>
            <a:r>
              <a:rPr lang="en-US" altLang="zh-CN" sz="2000" smtClean="0">
                <a:ea typeface="宋体" panose="02010600030101010101" pitchFamily="2" charset="-122"/>
                <a:sym typeface="Wingdings" panose="05000000000000000000" pitchFamily="2" charset="2"/>
              </a:rPr>
              <a:t></a:t>
            </a:r>
            <a:r>
              <a:rPr lang="en-US" altLang="zh-CN" sz="2000" smtClean="0">
                <a:ea typeface="宋体" panose="02010600030101010101" pitchFamily="2" charset="-122"/>
                <a:sym typeface="Symbol" panose="05050102010706020507" pitchFamily="18" charset="2"/>
              </a:rPr>
              <a:t>	L  a		NOT LR-grammar</a:t>
            </a:r>
          </a:p>
          <a:p>
            <a:pPr>
              <a:buFontTx/>
              <a:buNone/>
            </a:pPr>
            <a:r>
              <a:rPr lang="en-US" altLang="zh-CN" sz="2000" smtClean="0">
                <a:ea typeface="宋体" panose="02010600030101010101" pitchFamily="2" charset="-122"/>
                <a:sym typeface="Symbol" panose="05050102010706020507" pitchFamily="18" charset="2"/>
              </a:rPr>
              <a:t>				M  </a:t>
            </a:r>
          </a:p>
          <a:p>
            <a:pPr>
              <a:buFontTx/>
              <a:buNone/>
            </a:pPr>
            <a:endParaRPr lang="en-US" altLang="zh-CN" sz="2000" smtClean="0">
              <a:ea typeface="宋体" panose="02010600030101010101" pitchFamily="2" charset="-122"/>
              <a:sym typeface="Symbol" panose="05050102010706020507" pitchFamily="18" charset="2"/>
            </a:endParaRPr>
          </a:p>
          <a:p>
            <a:pPr>
              <a:buFontTx/>
              <a:buNone/>
            </a:pPr>
            <a:endParaRPr lang="en-US" altLang="zh-CN" sz="2000" smtClean="0">
              <a:ea typeface="宋体" panose="02010600030101010101" pitchFamily="2" charset="-122"/>
              <a:sym typeface="Symbol" panose="05050102010706020507" pitchFamily="18" charset="2"/>
            </a:endParaRPr>
          </a:p>
          <a:p>
            <a:pPr>
              <a:lnSpc>
                <a:spcPts val="2200"/>
              </a:lnSpc>
              <a:buFontTx/>
              <a:buNone/>
            </a:pPr>
            <a:r>
              <a:rPr lang="en-US" altLang="zh-CN" sz="2000" smtClean="0">
                <a:ea typeface="宋体" panose="02010600030101010101" pitchFamily="2" charset="-122"/>
                <a:sym typeface="Symbol" panose="05050102010706020507" pitchFamily="18" charset="2"/>
              </a:rPr>
              <a:t>S’  </a:t>
            </a:r>
            <a:r>
              <a:rPr lang="en-US" altLang="zh-CN" sz="4800" smtClean="0">
                <a:ea typeface="宋体" panose="02010600030101010101" pitchFamily="2" charset="-122"/>
                <a:sym typeface="Symbol" panose="05050102010706020507" pitchFamily="18" charset="2"/>
              </a:rPr>
              <a:t>.</a:t>
            </a:r>
            <a:r>
              <a:rPr lang="en-US" altLang="zh-CN" sz="2000" smtClean="0">
                <a:ea typeface="宋体" panose="02010600030101010101" pitchFamily="2" charset="-122"/>
                <a:sym typeface="Symbol" panose="05050102010706020507" pitchFamily="18" charset="2"/>
              </a:rPr>
              <a:t>L, $</a:t>
            </a:r>
          </a:p>
          <a:p>
            <a:pPr>
              <a:lnSpc>
                <a:spcPts val="2200"/>
              </a:lnSpc>
              <a:buFontTx/>
              <a:buNone/>
            </a:pPr>
            <a:r>
              <a:rPr lang="en-US" altLang="zh-CN" sz="2000" smtClean="0">
                <a:ea typeface="宋体" panose="02010600030101010101" pitchFamily="2" charset="-122"/>
                <a:sym typeface="Symbol" panose="05050102010706020507" pitchFamily="18" charset="2"/>
              </a:rPr>
              <a:t>L  </a:t>
            </a:r>
            <a:r>
              <a:rPr lang="en-US" altLang="zh-CN" sz="4800" smtClean="0">
                <a:ea typeface="宋体" panose="02010600030101010101" pitchFamily="2" charset="-122"/>
                <a:sym typeface="Symbol" panose="05050102010706020507" pitchFamily="18" charset="2"/>
              </a:rPr>
              <a:t>.</a:t>
            </a:r>
            <a:r>
              <a:rPr lang="en-US" altLang="zh-CN" sz="2000" smtClean="0">
                <a:ea typeface="宋体" panose="02010600030101010101" pitchFamily="2" charset="-122"/>
                <a:sym typeface="Symbol" panose="05050102010706020507" pitchFamily="18" charset="2"/>
              </a:rPr>
              <a:t> M L b, $ </a:t>
            </a:r>
          </a:p>
          <a:p>
            <a:pPr>
              <a:lnSpc>
                <a:spcPts val="2200"/>
              </a:lnSpc>
              <a:buFontTx/>
              <a:buNone/>
            </a:pPr>
            <a:r>
              <a:rPr lang="en-US" altLang="zh-CN" sz="2000" smtClean="0">
                <a:ea typeface="宋体" panose="02010600030101010101" pitchFamily="2" charset="-122"/>
                <a:sym typeface="Symbol" panose="05050102010706020507" pitchFamily="18" charset="2"/>
              </a:rPr>
              <a:t>L  </a:t>
            </a:r>
            <a:r>
              <a:rPr lang="en-US" altLang="zh-CN" sz="4800" smtClean="0">
                <a:ea typeface="宋体" panose="02010600030101010101" pitchFamily="2" charset="-122"/>
                <a:sym typeface="Symbol" panose="05050102010706020507" pitchFamily="18" charset="2"/>
              </a:rPr>
              <a:t>.</a:t>
            </a:r>
            <a:r>
              <a:rPr lang="en-US" altLang="zh-CN" sz="2000" smtClean="0">
                <a:ea typeface="宋体" panose="02010600030101010101" pitchFamily="2" charset="-122"/>
                <a:sym typeface="Symbol" panose="05050102010706020507" pitchFamily="18" charset="2"/>
              </a:rPr>
              <a:t> a, $</a:t>
            </a:r>
          </a:p>
          <a:p>
            <a:pPr>
              <a:lnSpc>
                <a:spcPts val="2200"/>
              </a:lnSpc>
              <a:buFontTx/>
              <a:buNone/>
            </a:pPr>
            <a:r>
              <a:rPr lang="en-US" altLang="zh-CN" sz="2000" smtClean="0">
                <a:ea typeface="宋体" panose="02010600030101010101" pitchFamily="2" charset="-122"/>
                <a:sym typeface="Symbol" panose="05050102010706020507" pitchFamily="18" charset="2"/>
              </a:rPr>
              <a:t>M  </a:t>
            </a:r>
            <a:r>
              <a:rPr lang="en-US" altLang="zh-CN" sz="4800" smtClean="0">
                <a:ea typeface="宋体" panose="02010600030101010101" pitchFamily="2" charset="-122"/>
                <a:sym typeface="Symbol" panose="05050102010706020507" pitchFamily="18" charset="2"/>
              </a:rPr>
              <a:t>.</a:t>
            </a:r>
            <a:r>
              <a:rPr lang="en-US" altLang="zh-CN" sz="2000" smtClean="0">
                <a:ea typeface="宋体" panose="02010600030101010101" pitchFamily="2" charset="-122"/>
                <a:sym typeface="Symbol" panose="05050102010706020507" pitchFamily="18" charset="2"/>
              </a:rPr>
              <a:t>,a	</a:t>
            </a:r>
            <a:r>
              <a:rPr lang="en-US" altLang="zh-CN" sz="2000" smtClean="0">
                <a:ea typeface="宋体" panose="02010600030101010101" pitchFamily="2" charset="-122"/>
                <a:sym typeface="Wingdings" panose="05000000000000000000" pitchFamily="2" charset="2"/>
              </a:rPr>
              <a:t> shift/reduce conflict</a:t>
            </a:r>
            <a:endParaRPr lang="zh-CN" altLang="en-US" sz="2000" smtClean="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69635"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69636"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21540EBE-74E2-413A-A35F-77FC736CE71D}" type="slidenum">
              <a:rPr lang="zh-CN" altLang="en-US" sz="800"/>
              <a:pPr>
                <a:spcBef>
                  <a:spcPct val="0"/>
                </a:spcBef>
                <a:buFontTx/>
                <a:buNone/>
              </a:pPr>
              <a:t>67</a:t>
            </a:fld>
            <a:endParaRPr lang="en-US" altLang="zh-CN" sz="800"/>
          </a:p>
        </p:txBody>
      </p:sp>
      <p:sp>
        <p:nvSpPr>
          <p:cNvPr id="69637" name="Rectangle 2"/>
          <p:cNvSpPr>
            <a:spLocks noGrp="1" noChangeArrowheads="1"/>
          </p:cNvSpPr>
          <p:nvPr>
            <p:ph type="title"/>
          </p:nvPr>
        </p:nvSpPr>
        <p:spPr/>
        <p:txBody>
          <a:bodyPr/>
          <a:lstStyle/>
          <a:p>
            <a:endParaRPr lang="zh-CN" altLang="en-US" smtClean="0">
              <a:ea typeface="宋体" panose="02010600030101010101" pitchFamily="2" charset="-122"/>
            </a:endParaRPr>
          </a:p>
        </p:txBody>
      </p:sp>
      <p:sp>
        <p:nvSpPr>
          <p:cNvPr id="475139" name="Rectangle 3"/>
          <p:cNvSpPr>
            <a:spLocks noGrp="1" noChangeArrowheads="1"/>
          </p:cNvSpPr>
          <p:nvPr>
            <p:ph type="body" idx="1"/>
          </p:nvPr>
        </p:nvSpPr>
        <p:spPr>
          <a:xfrm>
            <a:off x="838200" y="3581400"/>
            <a:ext cx="7239000" cy="2209800"/>
          </a:xfrm>
        </p:spPr>
        <p:txBody>
          <a:bodyPr/>
          <a:lstStyle/>
          <a:p>
            <a:pPr>
              <a:buFontTx/>
              <a:buNone/>
            </a:pPr>
            <a:r>
              <a:rPr lang="en-US" altLang="zh-CN" smtClean="0">
                <a:ea typeface="宋体" panose="02010600030101010101" pitchFamily="2" charset="-122"/>
              </a:rPr>
              <a:t>2</a:t>
            </a:r>
            <a:r>
              <a:rPr lang="zh-CN" altLang="en-US" smtClean="0">
                <a:ea typeface="宋体" panose="02010600030101010101" pitchFamily="2" charset="-122"/>
              </a:rPr>
              <a:t>、写出下面文法的属性文法：</a:t>
            </a:r>
          </a:p>
          <a:p>
            <a:pPr lvl="1">
              <a:lnSpc>
                <a:spcPct val="115000"/>
              </a:lnSpc>
              <a:buFontTx/>
              <a:buNone/>
            </a:pPr>
            <a:r>
              <a:rPr lang="en-US" altLang="zh-CN" sz="2400" smtClean="0">
                <a:ea typeface="宋体" panose="02010600030101010101" pitchFamily="2" charset="-122"/>
              </a:rPr>
              <a:t>Number </a:t>
            </a:r>
            <a:r>
              <a:rPr lang="en-US" altLang="zh-CN" sz="2400" smtClean="0">
                <a:ea typeface="宋体" panose="02010600030101010101" pitchFamily="2" charset="-122"/>
                <a:sym typeface="Wingdings" panose="05000000000000000000" pitchFamily="2" charset="2"/>
              </a:rPr>
              <a:t>→ Digit  Number</a:t>
            </a:r>
            <a:r>
              <a:rPr lang="en-US" altLang="zh-CN" sz="2400" baseline="-25000" smtClean="0">
                <a:ea typeface="宋体" panose="02010600030101010101" pitchFamily="2" charset="-122"/>
              </a:rPr>
              <a:t>1</a:t>
            </a:r>
          </a:p>
          <a:p>
            <a:pPr lvl="1">
              <a:lnSpc>
                <a:spcPct val="115000"/>
              </a:lnSpc>
              <a:buFontTx/>
              <a:buNone/>
            </a:pPr>
            <a:r>
              <a:rPr lang="en-US" altLang="zh-CN" sz="2400" smtClean="0">
                <a:ea typeface="宋体" panose="02010600030101010101" pitchFamily="2" charset="-122"/>
              </a:rPr>
              <a:t>Number </a:t>
            </a:r>
            <a:r>
              <a:rPr lang="en-US" altLang="zh-CN" sz="2400" smtClean="0">
                <a:ea typeface="宋体" panose="02010600030101010101" pitchFamily="2" charset="-122"/>
                <a:sym typeface="Wingdings" panose="05000000000000000000" pitchFamily="2" charset="2"/>
              </a:rPr>
              <a:t>→ Digit</a:t>
            </a:r>
            <a:endParaRPr lang="en-US" altLang="zh-CN" sz="2400" smtClean="0">
              <a:ea typeface="宋体" panose="02010600030101010101" pitchFamily="2" charset="-122"/>
            </a:endParaRPr>
          </a:p>
          <a:p>
            <a:pPr lvl="1">
              <a:lnSpc>
                <a:spcPct val="115000"/>
              </a:lnSpc>
              <a:buFontTx/>
              <a:buNone/>
            </a:pPr>
            <a:r>
              <a:rPr lang="en-US" altLang="zh-CN" sz="2400" smtClean="0">
                <a:ea typeface="宋体" panose="02010600030101010101" pitchFamily="2" charset="-122"/>
              </a:rPr>
              <a:t>Digit </a:t>
            </a:r>
            <a:r>
              <a:rPr lang="en-US" altLang="zh-CN" sz="2400" smtClean="0">
                <a:ea typeface="宋体" panose="02010600030101010101" pitchFamily="2" charset="-122"/>
                <a:sym typeface="Wingdings" panose="05000000000000000000" pitchFamily="2" charset="2"/>
              </a:rPr>
              <a:t>→ 0 | 1 | 2 | 3 | 4 | 5 | 6 | 7 | 8 | 9|</a:t>
            </a:r>
            <a:endParaRPr lang="zh-CN" altLang="en-US" sz="2400" smtClean="0">
              <a:ea typeface="宋体" panose="02010600030101010101" pitchFamily="2" charset="-122"/>
              <a:sym typeface="Wingdings" panose="05000000000000000000" pitchFamily="2" charset="2"/>
            </a:endParaRPr>
          </a:p>
        </p:txBody>
      </p:sp>
      <p:sp>
        <p:nvSpPr>
          <p:cNvPr id="475140" name="Rectangle 4"/>
          <p:cNvSpPr>
            <a:spLocks noChangeArrowheads="1"/>
          </p:cNvSpPr>
          <p:nvPr/>
        </p:nvSpPr>
        <p:spPr bwMode="auto">
          <a:xfrm>
            <a:off x="990600" y="1371600"/>
            <a:ext cx="70104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buFontTx/>
              <a:buNone/>
            </a:pPr>
            <a:r>
              <a:rPr lang="en-US" altLang="zh-CN" b="0">
                <a:ea typeface="宋体" panose="02010600030101010101" pitchFamily="2" charset="-122"/>
              </a:rPr>
              <a:t>1</a:t>
            </a:r>
            <a:r>
              <a:rPr lang="zh-CN" altLang="en-US" b="0">
                <a:ea typeface="宋体" panose="02010600030101010101" pitchFamily="2" charset="-122"/>
              </a:rPr>
              <a:t>、写出下面文法的属性文法：</a:t>
            </a:r>
          </a:p>
          <a:p>
            <a:pPr lvl="1">
              <a:lnSpc>
                <a:spcPct val="115000"/>
              </a:lnSpc>
              <a:buFontTx/>
              <a:buNone/>
            </a:pPr>
            <a:r>
              <a:rPr lang="en-US" altLang="zh-CN" b="0">
                <a:ea typeface="宋体" panose="02010600030101010101" pitchFamily="2" charset="-122"/>
              </a:rPr>
              <a:t>      Number </a:t>
            </a:r>
            <a:r>
              <a:rPr lang="en-US" altLang="zh-CN" b="0">
                <a:ea typeface="宋体" panose="02010600030101010101" pitchFamily="2" charset="-122"/>
                <a:sym typeface="Wingdings" panose="05000000000000000000" pitchFamily="2" charset="2"/>
              </a:rPr>
              <a:t>→ Number</a:t>
            </a:r>
            <a:r>
              <a:rPr lang="en-US" altLang="zh-CN" b="0" baseline="-25000">
                <a:ea typeface="宋体" panose="02010600030101010101" pitchFamily="2" charset="-122"/>
              </a:rPr>
              <a:t>1</a:t>
            </a:r>
            <a:r>
              <a:rPr lang="en-US" altLang="zh-CN" b="0">
                <a:ea typeface="宋体" panose="02010600030101010101" pitchFamily="2" charset="-122"/>
              </a:rPr>
              <a:t>  </a:t>
            </a:r>
            <a:r>
              <a:rPr lang="en-US" altLang="zh-CN" b="0">
                <a:ea typeface="宋体" panose="02010600030101010101" pitchFamily="2" charset="-122"/>
                <a:sym typeface="Wingdings" panose="05000000000000000000" pitchFamily="2" charset="2"/>
              </a:rPr>
              <a:t>Digit </a:t>
            </a:r>
            <a:endParaRPr lang="en-US" altLang="zh-CN" b="0">
              <a:ea typeface="宋体" panose="02010600030101010101" pitchFamily="2" charset="-122"/>
            </a:endParaRPr>
          </a:p>
          <a:p>
            <a:pPr lvl="1">
              <a:lnSpc>
                <a:spcPct val="115000"/>
              </a:lnSpc>
              <a:buFontTx/>
              <a:buNone/>
            </a:pPr>
            <a:r>
              <a:rPr lang="en-US" altLang="zh-CN" b="0">
                <a:ea typeface="宋体" panose="02010600030101010101" pitchFamily="2" charset="-122"/>
              </a:rPr>
              <a:t>      Number </a:t>
            </a:r>
            <a:r>
              <a:rPr lang="en-US" altLang="zh-CN" b="0">
                <a:ea typeface="宋体" panose="02010600030101010101" pitchFamily="2" charset="-122"/>
                <a:sym typeface="Wingdings" panose="05000000000000000000" pitchFamily="2" charset="2"/>
              </a:rPr>
              <a:t>→ Digit</a:t>
            </a:r>
            <a:endParaRPr lang="en-US" altLang="zh-CN" b="0">
              <a:ea typeface="宋体" panose="02010600030101010101" pitchFamily="2" charset="-122"/>
            </a:endParaRPr>
          </a:p>
          <a:p>
            <a:pPr lvl="1">
              <a:lnSpc>
                <a:spcPct val="115000"/>
              </a:lnSpc>
              <a:buFontTx/>
              <a:buNone/>
            </a:pPr>
            <a:r>
              <a:rPr lang="en-US" altLang="zh-CN" b="0">
                <a:ea typeface="宋体" panose="02010600030101010101" pitchFamily="2" charset="-122"/>
              </a:rPr>
              <a:t>      Digit </a:t>
            </a:r>
            <a:r>
              <a:rPr lang="en-US" altLang="zh-CN" b="0">
                <a:ea typeface="宋体" panose="02010600030101010101" pitchFamily="2" charset="-122"/>
                <a:sym typeface="Wingdings" panose="05000000000000000000" pitchFamily="2" charset="2"/>
              </a:rPr>
              <a:t>→ 0 | 1 | 2 | 3 | 4 | 5 | 6 | 7 | 8 | 9|</a:t>
            </a:r>
            <a:endParaRPr lang="zh-CN" altLang="en-US" b="0">
              <a:ea typeface="宋体" panose="02010600030101010101" pitchFamily="2" charset="-122"/>
              <a:sym typeface="Wingdings" panose="05000000000000000000" pitchFamily="2"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475140"/>
                                        </p:tgtEl>
                                        <p:attrNameLst>
                                          <p:attrName>style.visibility</p:attrName>
                                        </p:attrNameLst>
                                      </p:cBhvr>
                                      <p:to>
                                        <p:strVal val="visible"/>
                                      </p:to>
                                    </p:set>
                                    <p:animEffect transition="in" filter="diamond(in)">
                                      <p:cBhvr>
                                        <p:cTn id="7" dur="2000"/>
                                        <p:tgtEl>
                                          <p:spTgt spid="4751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475139">
                                            <p:txEl>
                                              <p:pRg st="0" end="0"/>
                                            </p:txEl>
                                          </p:spTgt>
                                        </p:tgtEl>
                                        <p:attrNameLst>
                                          <p:attrName>style.visibility</p:attrName>
                                        </p:attrNameLst>
                                      </p:cBhvr>
                                      <p:to>
                                        <p:strVal val="visible"/>
                                      </p:to>
                                    </p:set>
                                    <p:animEffect transition="in" filter="diamond(out)">
                                      <p:cBhvr>
                                        <p:cTn id="12" dur="2000"/>
                                        <p:tgtEl>
                                          <p:spTgt spid="475139">
                                            <p:txEl>
                                              <p:pRg st="0" end="0"/>
                                            </p:txEl>
                                          </p:spTgt>
                                        </p:tgtEl>
                                      </p:cBhvr>
                                    </p:animEffect>
                                  </p:childTnLst>
                                </p:cTn>
                              </p:par>
                              <p:par>
                                <p:cTn id="13" presetID="8" presetClass="entr" presetSubtype="32" fill="hold" grpId="0" nodeType="withEffect">
                                  <p:stCondLst>
                                    <p:cond delay="0"/>
                                  </p:stCondLst>
                                  <p:childTnLst>
                                    <p:set>
                                      <p:cBhvr>
                                        <p:cTn id="14" dur="1" fill="hold">
                                          <p:stCondLst>
                                            <p:cond delay="0"/>
                                          </p:stCondLst>
                                        </p:cTn>
                                        <p:tgtEl>
                                          <p:spTgt spid="475139">
                                            <p:txEl>
                                              <p:pRg st="1" end="1"/>
                                            </p:txEl>
                                          </p:spTgt>
                                        </p:tgtEl>
                                        <p:attrNameLst>
                                          <p:attrName>style.visibility</p:attrName>
                                        </p:attrNameLst>
                                      </p:cBhvr>
                                      <p:to>
                                        <p:strVal val="visible"/>
                                      </p:to>
                                    </p:set>
                                    <p:animEffect transition="in" filter="diamond(out)">
                                      <p:cBhvr>
                                        <p:cTn id="15" dur="2000"/>
                                        <p:tgtEl>
                                          <p:spTgt spid="475139">
                                            <p:txEl>
                                              <p:pRg st="1" end="1"/>
                                            </p:txEl>
                                          </p:spTgt>
                                        </p:tgtEl>
                                      </p:cBhvr>
                                    </p:animEffect>
                                  </p:childTnLst>
                                </p:cTn>
                              </p:par>
                              <p:par>
                                <p:cTn id="16" presetID="8" presetClass="entr" presetSubtype="32" fill="hold" grpId="0" nodeType="withEffect">
                                  <p:stCondLst>
                                    <p:cond delay="0"/>
                                  </p:stCondLst>
                                  <p:childTnLst>
                                    <p:set>
                                      <p:cBhvr>
                                        <p:cTn id="17" dur="1" fill="hold">
                                          <p:stCondLst>
                                            <p:cond delay="0"/>
                                          </p:stCondLst>
                                        </p:cTn>
                                        <p:tgtEl>
                                          <p:spTgt spid="475139">
                                            <p:txEl>
                                              <p:pRg st="2" end="2"/>
                                            </p:txEl>
                                          </p:spTgt>
                                        </p:tgtEl>
                                        <p:attrNameLst>
                                          <p:attrName>style.visibility</p:attrName>
                                        </p:attrNameLst>
                                      </p:cBhvr>
                                      <p:to>
                                        <p:strVal val="visible"/>
                                      </p:to>
                                    </p:set>
                                    <p:animEffect transition="in" filter="diamond(out)">
                                      <p:cBhvr>
                                        <p:cTn id="18" dur="2000"/>
                                        <p:tgtEl>
                                          <p:spTgt spid="475139">
                                            <p:txEl>
                                              <p:pRg st="2" end="2"/>
                                            </p:txEl>
                                          </p:spTgt>
                                        </p:tgtEl>
                                      </p:cBhvr>
                                    </p:animEffect>
                                  </p:childTnLst>
                                </p:cTn>
                              </p:par>
                              <p:par>
                                <p:cTn id="19" presetID="8" presetClass="entr" presetSubtype="32" fill="hold" grpId="0" nodeType="withEffect">
                                  <p:stCondLst>
                                    <p:cond delay="0"/>
                                  </p:stCondLst>
                                  <p:childTnLst>
                                    <p:set>
                                      <p:cBhvr>
                                        <p:cTn id="20" dur="1" fill="hold">
                                          <p:stCondLst>
                                            <p:cond delay="0"/>
                                          </p:stCondLst>
                                        </p:cTn>
                                        <p:tgtEl>
                                          <p:spTgt spid="475139">
                                            <p:txEl>
                                              <p:pRg st="3" end="3"/>
                                            </p:txEl>
                                          </p:spTgt>
                                        </p:tgtEl>
                                        <p:attrNameLst>
                                          <p:attrName>style.visibility</p:attrName>
                                        </p:attrNameLst>
                                      </p:cBhvr>
                                      <p:to>
                                        <p:strVal val="visible"/>
                                      </p:to>
                                    </p:set>
                                    <p:animEffect transition="in" filter="diamond(out)">
                                      <p:cBhvr>
                                        <p:cTn id="21" dur="2000"/>
                                        <p:tgtEl>
                                          <p:spTgt spid="4751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P spid="47514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◎2005 ECNU SEI</a:t>
            </a:r>
            <a:endParaRPr lang="en-US" altLang="zh-CN" sz="800" smtClean="0"/>
          </a:p>
        </p:txBody>
      </p:sp>
      <p:sp>
        <p:nvSpPr>
          <p:cNvPr id="70659" name="页脚占位符 4"/>
          <p:cNvSpPr>
            <a:spLocks noGrp="1"/>
          </p:cNvSpPr>
          <p:nvPr>
            <p:ph type="ftr" sz="quarter" idx="11"/>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zh-CN" altLang="en-US" sz="800" smtClean="0"/>
              <a:t>Compilers: Principles, Techniques, and Tools</a:t>
            </a:r>
            <a:endParaRPr lang="en-US" altLang="zh-CN" sz="800" smtClean="0"/>
          </a:p>
        </p:txBody>
      </p:sp>
      <p:sp>
        <p:nvSpPr>
          <p:cNvPr id="70660" name="灯片编号占位符 5"/>
          <p:cNvSpPr>
            <a:spLocks noGrp="1"/>
          </p:cNvSpPr>
          <p:nvPr>
            <p:ph type="sldNum" sz="quarter"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DBFB92D1-209B-4359-BB78-B307BDC30F44}" type="slidenum">
              <a:rPr lang="zh-CN" altLang="en-US" sz="800"/>
              <a:pPr>
                <a:spcBef>
                  <a:spcPct val="0"/>
                </a:spcBef>
                <a:buFontTx/>
                <a:buNone/>
              </a:pPr>
              <a:t>68</a:t>
            </a:fld>
            <a:endParaRPr lang="en-US" altLang="zh-CN" sz="800"/>
          </a:p>
        </p:txBody>
      </p:sp>
      <p:sp>
        <p:nvSpPr>
          <p:cNvPr id="70661" name="Rectangle 2"/>
          <p:cNvSpPr>
            <a:spLocks noGrp="1" noChangeArrowheads="1"/>
          </p:cNvSpPr>
          <p:nvPr>
            <p:ph type="title"/>
          </p:nvPr>
        </p:nvSpPr>
        <p:spPr>
          <a:xfrm>
            <a:off x="382588" y="152400"/>
            <a:ext cx="9371012" cy="469900"/>
          </a:xfrm>
        </p:spPr>
        <p:txBody>
          <a:bodyPr/>
          <a:lstStyle/>
          <a:p>
            <a:endParaRPr lang="zh-CN" altLang="en-US" sz="2800" smtClean="0">
              <a:ea typeface="宋体" panose="02010600030101010101" pitchFamily="2" charset="-122"/>
            </a:endParaRPr>
          </a:p>
        </p:txBody>
      </p:sp>
      <p:sp>
        <p:nvSpPr>
          <p:cNvPr id="70662" name="Rectangle 3"/>
          <p:cNvSpPr>
            <a:spLocks noGrp="1" noChangeArrowheads="1"/>
          </p:cNvSpPr>
          <p:nvPr>
            <p:ph type="body" idx="1"/>
          </p:nvPr>
        </p:nvSpPr>
        <p:spPr>
          <a:xfrm>
            <a:off x="327025" y="1557338"/>
            <a:ext cx="9385300" cy="4032250"/>
          </a:xfrm>
        </p:spPr>
        <p:txBody>
          <a:bodyPr/>
          <a:lstStyle/>
          <a:p>
            <a:pPr lvl="1">
              <a:buFontTx/>
              <a:buNone/>
            </a:pPr>
            <a:r>
              <a:rPr lang="en-US" altLang="zh-CN" sz="2800" smtClean="0">
                <a:ea typeface="宋体" panose="02010600030101010101" pitchFamily="2" charset="-122"/>
              </a:rPr>
              <a:t>3</a:t>
            </a:r>
            <a:r>
              <a:rPr lang="zh-CN" altLang="en-US" sz="2800" smtClean="0">
                <a:ea typeface="宋体" panose="02010600030101010101" pitchFamily="2" charset="-122"/>
              </a:rPr>
              <a:t>、十进制浮点数的文法修改如下：</a:t>
            </a:r>
          </a:p>
          <a:p>
            <a:pPr lvl="1">
              <a:buFontTx/>
              <a:buNone/>
            </a:pPr>
            <a:r>
              <a:rPr lang="zh-CN" altLang="en-US" sz="2800" smtClean="0">
                <a:ea typeface="宋体" panose="02010600030101010101" pitchFamily="2" charset="-122"/>
              </a:rPr>
              <a:t>	</a:t>
            </a:r>
            <a:r>
              <a:rPr lang="en-US" altLang="zh-CN" sz="2800" smtClean="0">
                <a:ea typeface="宋体" panose="02010600030101010101" pitchFamily="2" charset="-122"/>
              </a:rPr>
              <a:t>dnum </a:t>
            </a:r>
            <a:r>
              <a:rPr lang="en-US" altLang="zh-CN" sz="2800" smtClean="0">
                <a:ea typeface="宋体" panose="02010600030101010101" pitchFamily="2" charset="-122"/>
                <a:sym typeface="Wingdings" panose="05000000000000000000" pitchFamily="2" charset="2"/>
              </a:rPr>
              <a:t>→ num.snum</a:t>
            </a:r>
          </a:p>
          <a:p>
            <a:pPr lvl="1">
              <a:buFontTx/>
              <a:buNone/>
            </a:pPr>
            <a:r>
              <a:rPr lang="en-US" altLang="zh-CN" sz="2800" smtClean="0">
                <a:ea typeface="宋体" panose="02010600030101010101" pitchFamily="2" charset="-122"/>
                <a:sym typeface="Wingdings" panose="05000000000000000000" pitchFamily="2" charset="2"/>
              </a:rPr>
              <a:t>	num → num</a:t>
            </a:r>
            <a:r>
              <a:rPr lang="en-US" altLang="zh-CN" sz="2800" baseline="-25000" smtClean="0">
                <a:ea typeface="宋体" panose="02010600030101010101" pitchFamily="2" charset="-122"/>
                <a:sym typeface="Wingdings" panose="05000000000000000000" pitchFamily="2" charset="2"/>
              </a:rPr>
              <a:t>1</a:t>
            </a:r>
            <a:r>
              <a:rPr lang="en-US" altLang="zh-CN" sz="2800" smtClean="0">
                <a:ea typeface="宋体" panose="02010600030101010101" pitchFamily="2" charset="-122"/>
                <a:sym typeface="Wingdings" panose="05000000000000000000" pitchFamily="2" charset="2"/>
              </a:rPr>
              <a:t> digit | digit</a:t>
            </a:r>
          </a:p>
          <a:p>
            <a:pPr lvl="1">
              <a:buFontTx/>
              <a:buNone/>
            </a:pPr>
            <a:r>
              <a:rPr lang="en-US" altLang="zh-CN" sz="2800" smtClean="0">
                <a:ea typeface="宋体" panose="02010600030101010101" pitchFamily="2" charset="-122"/>
                <a:sym typeface="Wingdings" panose="05000000000000000000" pitchFamily="2" charset="2"/>
              </a:rPr>
              <a:t>	snum → digit snum</a:t>
            </a:r>
            <a:r>
              <a:rPr lang="en-US" altLang="zh-CN" sz="2800" baseline="-25000" smtClean="0">
                <a:ea typeface="宋体" panose="02010600030101010101" pitchFamily="2" charset="-122"/>
                <a:sym typeface="Wingdings" panose="05000000000000000000" pitchFamily="2" charset="2"/>
              </a:rPr>
              <a:t>1</a:t>
            </a:r>
            <a:r>
              <a:rPr lang="en-US" altLang="zh-CN" sz="2800" smtClean="0">
                <a:ea typeface="宋体" panose="02010600030101010101" pitchFamily="2" charset="-122"/>
                <a:sym typeface="Wingdings" panose="05000000000000000000" pitchFamily="2" charset="2"/>
              </a:rPr>
              <a:t> | digit</a:t>
            </a:r>
          </a:p>
          <a:p>
            <a:pPr lvl="1">
              <a:buFontTx/>
              <a:buNone/>
            </a:pPr>
            <a:r>
              <a:rPr lang="en-US" altLang="zh-CN" sz="2800" smtClean="0">
                <a:ea typeface="宋体" panose="02010600030101010101" pitchFamily="2" charset="-122"/>
                <a:sym typeface="Wingdings" panose="05000000000000000000" pitchFamily="2" charset="2"/>
              </a:rPr>
              <a:t>	digit → 0|1|2|3|4|5|6|7|8|9</a:t>
            </a:r>
          </a:p>
        </p:txBody>
      </p:sp>
      <p:sp>
        <p:nvSpPr>
          <p:cNvPr id="480260" name="Rectangle 4"/>
          <p:cNvSpPr>
            <a:spLocks noChangeArrowheads="1"/>
          </p:cNvSpPr>
          <p:nvPr/>
        </p:nvSpPr>
        <p:spPr bwMode="auto">
          <a:xfrm>
            <a:off x="838200" y="5181600"/>
            <a:ext cx="6330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defRPr>
            </a:lvl1pPr>
            <a:lvl2pPr>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lvl="1" eaLnBrk="1" hangingPunct="1">
              <a:buClr>
                <a:schemeClr val="accent2"/>
              </a:buClr>
              <a:buSzPct val="85000"/>
              <a:buFont typeface="Wingdings" panose="05000000000000000000" pitchFamily="2" charset="2"/>
              <a:buNone/>
            </a:pPr>
            <a:r>
              <a:rPr lang="en-US" altLang="zh-CN" b="0">
                <a:solidFill>
                  <a:schemeClr val="tx2"/>
                </a:solidFill>
                <a:latin typeface="Arial" panose="020B0604020202020204" pitchFamily="34" charset="0"/>
                <a:ea typeface="宋体" panose="02010600030101010101" pitchFamily="2" charset="-122"/>
              </a:rPr>
              <a:t>(</a:t>
            </a:r>
            <a:r>
              <a:rPr lang="zh-CN" altLang="en-US" b="0">
                <a:solidFill>
                  <a:schemeClr val="tx2"/>
                </a:solidFill>
                <a:latin typeface="Arial" panose="020B0604020202020204" pitchFamily="34" charset="0"/>
                <a:ea typeface="宋体" panose="02010600030101010101" pitchFamily="2" charset="-122"/>
              </a:rPr>
              <a:t>注意：整数、小数分别用左、右递归文法</a:t>
            </a:r>
            <a:r>
              <a:rPr lang="en-US" altLang="zh-CN" b="0">
                <a:solidFill>
                  <a:schemeClr val="tx2"/>
                </a:solidFill>
                <a:latin typeface="Arial" panose="020B0604020202020204" pitchFamily="34" charset="0"/>
                <a:ea typeface="宋体" panose="02010600030101010101"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80260"/>
                                        </p:tgtEl>
                                        <p:attrNameLst>
                                          <p:attrName>style.visibility</p:attrName>
                                        </p:attrNameLst>
                                      </p:cBhvr>
                                      <p:to>
                                        <p:strVal val="visible"/>
                                      </p:to>
                                    </p:set>
                                    <p:animEffect transition="in" filter="checkerboard(across)">
                                      <p:cBhvr>
                                        <p:cTn id="7" dur="2000"/>
                                        <p:tgtEl>
                                          <p:spTgt spid="480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0"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13440</TotalTime>
  <Words>5068</Words>
  <Application>Microsoft Office PowerPoint</Application>
  <PresentationFormat>A4 纸张(210x297 毫米)</PresentationFormat>
  <Paragraphs>1140</Paragraphs>
  <Slides>68</Slides>
  <Notes>9</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68</vt:i4>
      </vt:variant>
    </vt:vector>
  </HeadingPairs>
  <TitlesOfParts>
    <vt:vector size="79" baseType="lpstr">
      <vt:lpstr>Times New Roman</vt:lpstr>
      <vt:lpstr>Arial</vt:lpstr>
      <vt:lpstr>宋体</vt:lpstr>
      <vt:lpstr>PMingLiU</vt:lpstr>
      <vt:lpstr>Wingdings</vt:lpstr>
      <vt:lpstr>Symbol</vt:lpstr>
      <vt:lpstr>Courier New</vt:lpstr>
      <vt:lpstr>Wingdings 2</vt:lpstr>
      <vt:lpstr>Default Design</vt:lpstr>
      <vt:lpstr>Microsoft Visio 绘图</vt:lpstr>
      <vt:lpstr>Microsoft Visio Drawing</vt:lpstr>
      <vt:lpstr>Exercises </vt:lpstr>
      <vt:lpstr>Semantic Analysis</vt:lpstr>
      <vt:lpstr>Semantic Analyzer</vt:lpstr>
      <vt:lpstr>Syntax-Directed Translation 语法制导翻译(P.279)</vt:lpstr>
      <vt:lpstr>Syntax-Directed Definitions and Translation Schemes</vt:lpstr>
      <vt:lpstr>Syntax-Directed Definitions (P.280)</vt:lpstr>
      <vt:lpstr>Form of a Syntax-Directed Definition (Semantic Rules)</vt:lpstr>
      <vt:lpstr>Attribute Grammars (P.280)</vt:lpstr>
      <vt:lpstr>Attribute Grammar (cont.)</vt:lpstr>
      <vt:lpstr>Syntax-Directed Definition – Example5.1 (P.281)</vt:lpstr>
      <vt:lpstr>Annotated Parse-Trees</vt:lpstr>
      <vt:lpstr>Annotated Parse Tree -- Example </vt:lpstr>
      <vt:lpstr>Synthesized Attributes</vt:lpstr>
      <vt:lpstr>Synthesized attributes (P.281)</vt:lpstr>
      <vt:lpstr>Inherited Attributes (P.283)</vt:lpstr>
      <vt:lpstr>Inherited Attributes (cont.)</vt:lpstr>
      <vt:lpstr>Dependencies of Attributes</vt:lpstr>
      <vt:lpstr>Dependency Graphs – Inherited Attributes</vt:lpstr>
      <vt:lpstr>Dependency Graph (cont.)</vt:lpstr>
      <vt:lpstr>           S-Attributed Definitions  &amp;                                                  L-Attributed Definitions</vt:lpstr>
      <vt:lpstr>S-Attributed Attribute Grammars</vt:lpstr>
      <vt:lpstr>Bottom-Up Evaluation of S-Attributed Definitions (P.293)</vt:lpstr>
      <vt:lpstr>Bottom-Up Eval. of S-Attributed Definitions (cont.)</vt:lpstr>
      <vt:lpstr>Canonical LR(0) Collection for The Grammar</vt:lpstr>
      <vt:lpstr>SLR(1) parsing table</vt:lpstr>
      <vt:lpstr>Bottom-Up Evaluation – Example 5.10</vt:lpstr>
      <vt:lpstr>L-Attributed Definitions (P.296)</vt:lpstr>
      <vt:lpstr>L-Attributed Attribute Grammars</vt:lpstr>
      <vt:lpstr>An Example</vt:lpstr>
      <vt:lpstr>A Definition which is NOT L-Attributed</vt:lpstr>
      <vt:lpstr>Translation Schemes (P.297)</vt:lpstr>
      <vt:lpstr>Translation Schemes (cont.)</vt:lpstr>
      <vt:lpstr>Translation Schemes (cont.)</vt:lpstr>
      <vt:lpstr>Translation Schemes - example</vt:lpstr>
      <vt:lpstr>Writing Translation Schemes</vt:lpstr>
      <vt:lpstr>Examples</vt:lpstr>
      <vt:lpstr>Examples II</vt:lpstr>
      <vt:lpstr>Translation Schemes for S-attributed Definitions</vt:lpstr>
      <vt:lpstr>Inherited Attributes in Translation Schemes (P.299)</vt:lpstr>
      <vt:lpstr>An example</vt:lpstr>
      <vt:lpstr>A Translation Scheme Example</vt:lpstr>
      <vt:lpstr>A Translation Scheme Example (cont.)</vt:lpstr>
      <vt:lpstr>Derivation with semantic actions</vt:lpstr>
      <vt:lpstr>Top-Down Translation (P.302)</vt:lpstr>
      <vt:lpstr>Top-Down Translation (cont.)</vt:lpstr>
      <vt:lpstr>A Translation Scheme with Inherited Attributes</vt:lpstr>
      <vt:lpstr>Predictive Parsing (of Inherited Attributes)</vt:lpstr>
      <vt:lpstr>Eliminating Left Recursion from Translation Scheme (P.302)</vt:lpstr>
      <vt:lpstr>Eliminating Left Recursion (cont.)</vt:lpstr>
      <vt:lpstr>PowerPoint 演示文稿</vt:lpstr>
      <vt:lpstr>Eliminating Left Recursion (in general)</vt:lpstr>
      <vt:lpstr>Evaluating attributes</vt:lpstr>
      <vt:lpstr>Bottom-Up Translation (P.308)</vt:lpstr>
      <vt:lpstr>Removing Embedding Semantic Actions</vt:lpstr>
      <vt:lpstr>Removing Embedding Semantic Actions</vt:lpstr>
      <vt:lpstr>Removing Embedding Semantic Actions</vt:lpstr>
      <vt:lpstr>Removing Embedding Semantic Actions</vt:lpstr>
      <vt:lpstr>Evaluation of Inherited Attributes</vt:lpstr>
      <vt:lpstr>Evaluation of Inherited Attributes (cont.)</vt:lpstr>
      <vt:lpstr>An Example (P.311)</vt:lpstr>
      <vt:lpstr>An Example</vt:lpstr>
      <vt:lpstr>Another Example</vt:lpstr>
      <vt:lpstr>Another Example</vt:lpstr>
      <vt:lpstr>From Inherited to Synthesized (P.315)</vt:lpstr>
      <vt:lpstr>Problems</vt:lpstr>
      <vt:lpstr>Problems</vt:lpstr>
      <vt:lpstr>PowerPoint 演示文稿</vt:lpstr>
      <vt:lpstr>PowerPoint 演示文稿</vt:lpstr>
    </vt:vector>
  </TitlesOfParts>
  <Company>Bilkent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CS416 Compiler Design</dc:title>
  <dc:creator>Ilyas Cicekli</dc:creator>
  <cp:lastModifiedBy>Exin Y</cp:lastModifiedBy>
  <cp:revision>472</cp:revision>
  <cp:lastPrinted>1999-09-09T03:15:50Z</cp:lastPrinted>
  <dcterms:created xsi:type="dcterms:W3CDTF">1999-01-20T19:57:44Z</dcterms:created>
  <dcterms:modified xsi:type="dcterms:W3CDTF">2015-10-07T09:27:56Z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radev@cs.columbia.edu</vt:lpwstr>
  </property>
  <property fmtid="{D5CDD505-2E9C-101B-9397-08002B2CF9AE}" pid="8" name="HomePage">
    <vt:lpwstr>http://www.cs.columbia.edu/~radev/cs4705/</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F:\html\cs4705</vt:lpwstr>
  </property>
</Properties>
</file>