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257" r:id="rId2"/>
    <p:sldId id="325" r:id="rId3"/>
    <p:sldId id="259" r:id="rId4"/>
    <p:sldId id="258" r:id="rId5"/>
    <p:sldId id="283" r:id="rId6"/>
    <p:sldId id="261" r:id="rId7"/>
    <p:sldId id="264" r:id="rId8"/>
    <p:sldId id="284" r:id="rId9"/>
    <p:sldId id="285" r:id="rId10"/>
    <p:sldId id="326" r:id="rId11"/>
    <p:sldId id="315" r:id="rId12"/>
    <p:sldId id="265" r:id="rId13"/>
    <p:sldId id="328" r:id="rId14"/>
    <p:sldId id="329" r:id="rId15"/>
    <p:sldId id="330" r:id="rId16"/>
    <p:sldId id="266" r:id="rId17"/>
    <p:sldId id="278" r:id="rId18"/>
    <p:sldId id="286" r:id="rId19"/>
    <p:sldId id="316" r:id="rId20"/>
    <p:sldId id="267" r:id="rId21"/>
    <p:sldId id="268" r:id="rId22"/>
    <p:sldId id="279" r:id="rId23"/>
    <p:sldId id="269" r:id="rId24"/>
    <p:sldId id="317" r:id="rId25"/>
    <p:sldId id="270" r:id="rId26"/>
    <p:sldId id="271" r:id="rId27"/>
    <p:sldId id="272" r:id="rId28"/>
    <p:sldId id="273" r:id="rId29"/>
    <p:sldId id="318" r:id="rId30"/>
    <p:sldId id="319" r:id="rId31"/>
    <p:sldId id="274" r:id="rId32"/>
    <p:sldId id="320" r:id="rId33"/>
    <p:sldId id="275" r:id="rId34"/>
    <p:sldId id="321" r:id="rId35"/>
    <p:sldId id="276" r:id="rId36"/>
    <p:sldId id="277" r:id="rId37"/>
    <p:sldId id="282" r:id="rId38"/>
    <p:sldId id="280" r:id="rId39"/>
    <p:sldId id="322" r:id="rId40"/>
    <p:sldId id="281" r:id="rId41"/>
    <p:sldId id="288" r:id="rId42"/>
    <p:sldId id="323" r:id="rId43"/>
    <p:sldId id="289" r:id="rId44"/>
    <p:sldId id="290" r:id="rId45"/>
    <p:sldId id="291" r:id="rId46"/>
    <p:sldId id="331" r:id="rId47"/>
    <p:sldId id="332" r:id="rId48"/>
    <p:sldId id="333" r:id="rId49"/>
    <p:sldId id="334" r:id="rId50"/>
    <p:sldId id="335" r:id="rId51"/>
    <p:sldId id="336" r:id="rId52"/>
    <p:sldId id="337" r:id="rId53"/>
    <p:sldId id="338" r:id="rId54"/>
    <p:sldId id="339" r:id="rId55"/>
    <p:sldId id="340" r:id="rId56"/>
    <p:sldId id="342" r:id="rId57"/>
    <p:sldId id="341" r:id="rId58"/>
    <p:sldId id="343" r:id="rId59"/>
    <p:sldId id="344" r:id="rId60"/>
    <p:sldId id="298" r:id="rId61"/>
    <p:sldId id="324" r:id="rId62"/>
    <p:sldId id="299" r:id="rId63"/>
  </p:sldIdLst>
  <p:sldSz cx="9906000" cy="6858000" type="A4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0">
          <p15:clr>
            <a:srgbClr val="A4A3A4"/>
          </p15:clr>
        </p15:guide>
        <p15:guide id="2" pos="30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FFCC"/>
    <a:srgbClr val="FF00FF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2" autoAdjust="0"/>
    <p:restoredTop sz="93825" autoAdjust="0"/>
  </p:normalViewPr>
  <p:slideViewPr>
    <p:cSldViewPr>
      <p:cViewPr varScale="1">
        <p:scale>
          <a:sx n="76" d="100"/>
          <a:sy n="76" d="100"/>
        </p:scale>
        <p:origin x="1128" y="84"/>
      </p:cViewPr>
      <p:guideLst>
        <p:guide orient="horz" pos="1680"/>
        <p:guide pos="30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86"/>
    </p:cViewPr>
  </p:sorterViewPr>
  <p:notesViewPr>
    <p:cSldViewPr>
      <p:cViewPr varScale="1">
        <p:scale>
          <a:sx n="60" d="100"/>
          <a:sy n="60" d="100"/>
        </p:scale>
        <p:origin x="-1698" y="-78"/>
      </p:cViewPr>
      <p:guideLst>
        <p:guide orient="horz" pos="2924"/>
        <p:guide pos="22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t" anchorCtr="0" compatLnSpc="1">
            <a:prstTxWarp prst="textNoShape">
              <a:avLst/>
            </a:prstTxWarp>
          </a:bodyPr>
          <a:lstStyle>
            <a:lvl1pPr defTabSz="912813">
              <a:defRPr sz="1200"/>
            </a:lvl1pPr>
          </a:lstStyle>
          <a:p>
            <a:pPr>
              <a:defRPr/>
            </a:pPr>
            <a:r>
              <a:rPr lang="zh-CN" altLang="en-US"/>
              <a:t>lec00-outline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1763" y="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pPr>
              <a:defRPr/>
            </a:pPr>
            <a:fld id="{D6754237-FE5E-48AB-A53B-7D57A8395616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650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b" anchorCtr="0" compatLnSpc="1">
            <a:prstTxWarp prst="textNoShape">
              <a:avLst/>
            </a:prstTxWarp>
          </a:bodyPr>
          <a:lstStyle>
            <a:lvl1pPr defTabSz="9128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1763" y="882650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fld id="{73B190F4-9413-4E93-9163-94FCBA06B11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r>
              <a:rPr lang="zh-CN" altLang="en-US"/>
              <a:t>lec00-outline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7FD697AC-CF04-45FA-BD1A-9C430DDF8531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65540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85838" y="695325"/>
            <a:ext cx="502920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1663"/>
            <a:ext cx="5130800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18563"/>
            <a:ext cx="303212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6AD987CF-AD85-454B-9909-D0FCACB0E71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smtClean="0"/>
              <a:t>lec00-outline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B3C2C53-50CA-4A4C-97E4-E725BE358E14}" type="datetime4">
              <a:rPr lang="zh-CN" altLang="en-US" sz="1200" smtClean="0"/>
              <a:pPr/>
              <a:t>2015年10月7日星期三</a:t>
            </a:fld>
            <a:endParaRPr lang="en-US" altLang="zh-CN" sz="1200" smtClean="0"/>
          </a:p>
        </p:txBody>
      </p:sp>
      <p:sp>
        <p:nvSpPr>
          <p:cNvPr id="665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5319CC6-26D1-46FD-B67F-B17D77E10E25}" type="slidenum">
              <a:rPr lang="zh-CN" altLang="en-US" sz="1200"/>
              <a:pPr/>
              <a:t>1</a:t>
            </a:fld>
            <a:endParaRPr lang="en-US" altLang="zh-CN" sz="1200"/>
          </a:p>
        </p:txBody>
      </p:sp>
      <p:sp>
        <p:nvSpPr>
          <p:cNvPr id="6656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7425" y="695325"/>
            <a:ext cx="5026025" cy="3481388"/>
          </a:xfrm>
          <a:ln/>
        </p:spPr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smtClean="0"/>
              <a:t>lec00-outline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1B75E10-591E-4050-A063-5E260418A722}" type="datetime4">
              <a:rPr lang="zh-CN" altLang="en-US" sz="1200" smtClean="0"/>
              <a:pPr/>
              <a:t>2015年10月7日星期三</a:t>
            </a:fld>
            <a:endParaRPr lang="en-US" altLang="zh-CN" sz="1200" smtClean="0"/>
          </a:p>
        </p:txBody>
      </p:sp>
      <p:sp>
        <p:nvSpPr>
          <p:cNvPr id="675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5835C9-076B-4826-AB9A-6A3D1D1486C3}" type="slidenum">
              <a:rPr lang="zh-CN" altLang="en-US" sz="1200"/>
              <a:pPr/>
              <a:t>6</a:t>
            </a:fld>
            <a:endParaRPr lang="en-US" altLang="zh-CN" sz="1200"/>
          </a:p>
        </p:txBody>
      </p:sp>
      <p:sp>
        <p:nvSpPr>
          <p:cNvPr id="6758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2400" smtClean="0">
                <a:ea typeface="宋体" panose="02010600030101010101" pitchFamily="2" charset="-122"/>
              </a:rPr>
              <a:t>5%</a:t>
            </a:r>
            <a:r>
              <a:rPr lang="zh-CN" altLang="en-US" sz="2400" smtClean="0">
                <a:ea typeface="宋体" panose="02010600030101010101" pitchFamily="2" charset="-122"/>
              </a:rPr>
              <a:t>加分条件</a:t>
            </a:r>
            <a:r>
              <a:rPr lang="en-US" altLang="zh-CN" sz="2400" smtClean="0">
                <a:ea typeface="宋体" panose="02010600030101010101" pitchFamily="2" charset="-122"/>
                <a:sym typeface="Wingdings" panose="05000000000000000000" pitchFamily="2" charset="2"/>
              </a:rPr>
              <a:t>: (</a:t>
            </a:r>
            <a:r>
              <a:rPr lang="zh-CN" altLang="en-US" sz="2400" smtClean="0">
                <a:ea typeface="宋体" panose="02010600030101010101" pitchFamily="2" charset="-122"/>
                <a:sym typeface="Wingdings" panose="05000000000000000000" pitchFamily="2" charset="2"/>
              </a:rPr>
              <a:t>加分最后计入平时成绩，总的平时成绩不能满分，加分有效</a:t>
            </a:r>
            <a:r>
              <a:rPr lang="en-US" altLang="zh-CN" sz="2400" smtClean="0">
                <a:ea typeface="宋体" panose="02010600030101010101" pitchFamily="2" charset="-122"/>
                <a:sym typeface="Wingdings" panose="05000000000000000000" pitchFamily="2" charset="2"/>
              </a:rPr>
              <a:t>)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smtClean="0">
                <a:ea typeface="宋体" panose="02010600030101010101" pitchFamily="2" charset="-122"/>
              </a:rPr>
              <a:t>1</a:t>
            </a:r>
            <a:r>
              <a:rPr lang="zh-CN" altLang="en-US" sz="2400" smtClean="0">
                <a:ea typeface="宋体" panose="02010600030101010101" pitchFamily="2" charset="-122"/>
              </a:rPr>
              <a:t>、作业得到一次</a:t>
            </a:r>
            <a:r>
              <a:rPr lang="en-US" altLang="zh-CN" sz="2400" smtClean="0">
                <a:ea typeface="宋体" panose="02010600030101010101" pitchFamily="2" charset="-122"/>
              </a:rPr>
              <a:t>A+/A++ </a:t>
            </a:r>
            <a:r>
              <a:rPr lang="zh-CN" altLang="en-US" sz="2400" smtClean="0">
                <a:ea typeface="宋体" panose="02010600030101010101" pitchFamily="2" charset="-122"/>
              </a:rPr>
              <a:t>加</a:t>
            </a:r>
            <a:r>
              <a:rPr lang="en-US" altLang="zh-CN" sz="2400" smtClean="0">
                <a:ea typeface="宋体" panose="02010600030101010101" pitchFamily="2" charset="-122"/>
              </a:rPr>
              <a:t>20</a:t>
            </a:r>
            <a:r>
              <a:rPr lang="zh-CN" altLang="en-US" sz="2400" smtClean="0">
                <a:ea typeface="宋体" panose="02010600030101010101" pitchFamily="2" charset="-122"/>
              </a:rPr>
              <a:t>分；</a:t>
            </a:r>
          </a:p>
          <a:p>
            <a:pPr eaLnBrk="1" hangingPunct="1"/>
            <a:r>
              <a:rPr lang="en-US" altLang="zh-CN" sz="2400" smtClean="0">
                <a:ea typeface="宋体" panose="02010600030101010101" pitchFamily="2" charset="-122"/>
              </a:rPr>
              <a:t>2</a:t>
            </a:r>
            <a:r>
              <a:rPr lang="zh-CN" altLang="en-US" sz="2400" smtClean="0">
                <a:ea typeface="宋体" panose="02010600030101010101" pitchFamily="2" charset="-122"/>
              </a:rPr>
              <a:t>、上台讲解作业的</a:t>
            </a:r>
            <a:r>
              <a:rPr lang="en-US" altLang="zh-CN" sz="2400" smtClean="0">
                <a:ea typeface="宋体" panose="02010600030101010101" pitchFamily="2" charset="-122"/>
              </a:rPr>
              <a:t>PPT</a:t>
            </a:r>
            <a:r>
              <a:rPr lang="zh-CN" altLang="en-US" sz="2400" smtClean="0">
                <a:ea typeface="宋体" panose="02010600030101010101" pitchFamily="2" charset="-122"/>
              </a:rPr>
              <a:t>，每次加</a:t>
            </a:r>
            <a:r>
              <a:rPr lang="en-US" altLang="zh-CN" sz="2400" smtClean="0">
                <a:ea typeface="宋体" panose="02010600030101010101" pitchFamily="2" charset="-122"/>
              </a:rPr>
              <a:t>20</a:t>
            </a:r>
            <a:r>
              <a:rPr lang="zh-CN" altLang="en-US" sz="2400" smtClean="0">
                <a:ea typeface="宋体" panose="02010600030101010101" pitchFamily="2" charset="-122"/>
              </a:rPr>
              <a:t>分；</a:t>
            </a:r>
          </a:p>
          <a:p>
            <a:pPr eaLnBrk="1" hangingPunct="1"/>
            <a:r>
              <a:rPr lang="en-US" altLang="zh-CN" sz="2400" smtClean="0">
                <a:ea typeface="宋体" panose="02010600030101010101" pitchFamily="2" charset="-122"/>
              </a:rPr>
              <a:t>3</a:t>
            </a:r>
            <a:r>
              <a:rPr lang="zh-CN" altLang="en-US" sz="2400" smtClean="0">
                <a:ea typeface="宋体" panose="02010600030101010101" pitchFamily="2" charset="-122"/>
              </a:rPr>
              <a:t>、课堂表现加</a:t>
            </a:r>
            <a:r>
              <a:rPr lang="en-US" altLang="zh-CN" sz="2400" smtClean="0">
                <a:ea typeface="宋体" panose="02010600030101010101" pitchFamily="2" charset="-122"/>
              </a:rPr>
              <a:t>20</a:t>
            </a:r>
            <a:r>
              <a:rPr lang="zh-CN" altLang="en-US" sz="2400" smtClean="0">
                <a:ea typeface="宋体" panose="02010600030101010101" pitchFamily="2" charset="-122"/>
              </a:rPr>
              <a:t>分；</a:t>
            </a:r>
          </a:p>
          <a:p>
            <a:pPr eaLnBrk="1" hangingPunct="1"/>
            <a:r>
              <a:rPr lang="en-US" altLang="zh-CN" sz="2400" smtClean="0">
                <a:ea typeface="宋体" panose="02010600030101010101" pitchFamily="2" charset="-122"/>
              </a:rPr>
              <a:t>4</a:t>
            </a:r>
            <a:r>
              <a:rPr lang="zh-CN" altLang="en-US" sz="2400" smtClean="0">
                <a:ea typeface="宋体" panose="02010600030101010101" pitchFamily="2" charset="-122"/>
              </a:rPr>
              <a:t>、上</a:t>
            </a:r>
            <a:r>
              <a:rPr lang="en-US" altLang="zh-CN" sz="2400" smtClean="0">
                <a:ea typeface="宋体" panose="02010600030101010101" pitchFamily="2" charset="-122"/>
              </a:rPr>
              <a:t>bbs</a:t>
            </a:r>
            <a:r>
              <a:rPr lang="zh-CN" altLang="en-US" sz="2400" smtClean="0">
                <a:ea typeface="宋体" panose="02010600030101010101" pitchFamily="2" charset="-122"/>
              </a:rPr>
              <a:t>探讨问题，发帖多的，加</a:t>
            </a:r>
            <a:r>
              <a:rPr lang="en-US" altLang="zh-CN" sz="2400" smtClean="0">
                <a:ea typeface="宋体" panose="02010600030101010101" pitchFamily="2" charset="-122"/>
              </a:rPr>
              <a:t>20-40</a:t>
            </a:r>
            <a:r>
              <a:rPr lang="zh-CN" altLang="en-US" sz="2400" smtClean="0">
                <a:ea typeface="宋体" panose="02010600030101010101" pitchFamily="2" charset="-122"/>
              </a:rPr>
              <a:t>分；</a:t>
            </a:r>
          </a:p>
          <a:p>
            <a:pPr eaLnBrk="1" hangingPunct="1"/>
            <a:r>
              <a:rPr lang="en-US" altLang="zh-CN" sz="2400" smtClean="0">
                <a:ea typeface="宋体" panose="02010600030101010101" pitchFamily="2" charset="-122"/>
              </a:rPr>
              <a:t>5</a:t>
            </a:r>
            <a:r>
              <a:rPr lang="zh-CN" altLang="en-US" sz="2400" smtClean="0">
                <a:ea typeface="宋体" panose="02010600030101010101" pitchFamily="2" charset="-122"/>
              </a:rPr>
              <a:t>、坚持看原版书的，加</a:t>
            </a:r>
            <a:r>
              <a:rPr lang="en-US" altLang="zh-CN" sz="2400" smtClean="0">
                <a:ea typeface="宋体" panose="02010600030101010101" pitchFamily="2" charset="-122"/>
              </a:rPr>
              <a:t>40</a:t>
            </a:r>
            <a:r>
              <a:rPr lang="zh-CN" altLang="en-US" sz="2400" smtClean="0">
                <a:ea typeface="宋体" panose="02010600030101010101" pitchFamily="2" charset="-122"/>
              </a:rPr>
              <a:t>分；</a:t>
            </a:r>
          </a:p>
          <a:p>
            <a:pPr eaLnBrk="1" hangingPunct="1"/>
            <a:r>
              <a:rPr lang="en-US" altLang="zh-CN" sz="2400" smtClean="0">
                <a:ea typeface="宋体" panose="02010600030101010101" pitchFamily="2" charset="-122"/>
              </a:rPr>
              <a:t>6</a:t>
            </a:r>
            <a:r>
              <a:rPr lang="zh-CN" altLang="en-US" sz="2400" smtClean="0">
                <a:ea typeface="宋体" panose="02010600030101010101" pitchFamily="2" charset="-122"/>
              </a:rPr>
              <a:t>、按时交作业，不迟到、早退、旷课的，加</a:t>
            </a:r>
            <a:r>
              <a:rPr lang="en-US" altLang="zh-CN" sz="2400" smtClean="0">
                <a:ea typeface="宋体" panose="02010600030101010101" pitchFamily="2" charset="-122"/>
              </a:rPr>
              <a:t>20</a:t>
            </a:r>
            <a:r>
              <a:rPr lang="zh-CN" altLang="en-US" sz="2400" smtClean="0">
                <a:ea typeface="宋体" panose="02010600030101010101" pitchFamily="2" charset="-122"/>
              </a:rPr>
              <a:t>分；</a:t>
            </a:r>
          </a:p>
          <a:p>
            <a:pPr eaLnBrk="1" hangingPunct="1"/>
            <a:endParaRPr lang="zh-CN" altLang="en-US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smtClean="0"/>
              <a:t>lec00-outline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2CD1FC-6C32-453D-BBDC-8B6658D7E026}" type="datetime4">
              <a:rPr lang="zh-CN" altLang="en-US" sz="1200" smtClean="0"/>
              <a:pPr/>
              <a:t>2015年10月7日星期三</a:t>
            </a:fld>
            <a:endParaRPr lang="en-US" altLang="zh-CN" sz="1200" smtClean="0"/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D5EF446-3945-442A-A432-7D865DA6FFCB}" type="slidenum">
              <a:rPr lang="zh-CN" altLang="en-US" sz="1200"/>
              <a:pPr/>
              <a:t>30</a:t>
            </a:fld>
            <a:endParaRPr lang="en-US" altLang="zh-CN" sz="1200"/>
          </a:p>
        </p:txBody>
      </p:sp>
      <p:sp>
        <p:nvSpPr>
          <p:cNvPr id="6861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LALR</a:t>
            </a:r>
            <a:r>
              <a:rPr lang="en-US" altLang="zh-CN" smtClean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US" altLang="zh-CN" smtClean="0">
                <a:ea typeface="宋体" panose="02010600030101010101" pitchFamily="2" charset="-122"/>
              </a:rPr>
              <a:t>look-ahead LR parsing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747E68-7ABF-4BC2-A366-DE353F9231B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5227719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41040-234D-477D-B8E3-D362BE4A385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867991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722232-2A62-489D-81B0-1FA65E0C3AC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7795574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2588" y="1219200"/>
            <a:ext cx="4608512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63338D-404D-4523-9D14-1826C4A59F4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4252131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7C2561-DA28-47B7-810C-BA1BDB5E00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7250009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45E015-E7D4-49BC-AC88-85A4E1D1232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3040862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1802D8-8EC9-4440-8953-AF2741C9BE9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6137151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655265-3C1F-482A-98C8-F6E7E46D2A9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2538455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908F70-DFFD-4942-A50E-EF71BE720C2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2349416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D77710-A9D9-48BA-B9CC-32694E852B0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1730842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12038" y="152400"/>
            <a:ext cx="2341562" cy="6172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2588" y="152400"/>
            <a:ext cx="6877050" cy="6172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25AE85-4340-4F8E-A580-F9F46B80CAE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0000450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2588" y="1219200"/>
            <a:ext cx="4608512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73A53E-5D1D-417D-904C-239B061E86F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115916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2588" y="152400"/>
            <a:ext cx="9371012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2588" y="1219200"/>
            <a:ext cx="9371012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2588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>
                <a:ea typeface="宋体" charset="-122"/>
              </a:defRPr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4350" y="6477000"/>
            <a:ext cx="3714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ea typeface="宋体" charset="-122"/>
              </a:defRPr>
            </a:lvl1pPr>
          </a:lstStyle>
          <a:p>
            <a:pPr>
              <a:defRPr/>
            </a:pPr>
            <a:r>
              <a:rPr lang="zh-CN" altLang="en-US"/>
              <a:t>Compilers: Principles, Techniques, and Tools 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ea typeface="宋体" panose="02010600030101010101" pitchFamily="2" charset="-122"/>
              </a:defRPr>
            </a:lvl1pPr>
          </a:lstStyle>
          <a:p>
            <a:fld id="{C9E1C8CF-F843-45EA-B120-A6572C4E25B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rand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://ipf-orc.sourceforge.net/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1981200"/>
            <a:ext cx="8382000" cy="14478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Compilers: Principles, Techniques, and Tools</a:t>
            </a:r>
            <a:br>
              <a:rPr lang="en-US" altLang="zh-CN" smtClean="0">
                <a:ea typeface="宋体" panose="02010600030101010101" pitchFamily="2" charset="-122"/>
              </a:rPr>
            </a:br>
            <a:r>
              <a:rPr lang="en-US" altLang="zh-CN" smtClean="0">
                <a:ea typeface="宋体" panose="02010600030101010101" pitchFamily="2" charset="-122"/>
              </a:rPr>
              <a:t/>
            </a:r>
            <a:br>
              <a:rPr lang="en-US" altLang="zh-CN" smtClean="0">
                <a:ea typeface="宋体" panose="02010600030101010101" pitchFamily="2" charset="-122"/>
              </a:rPr>
            </a:br>
            <a:r>
              <a:rPr lang="en-US" altLang="zh-CN" sz="2400" smtClean="0">
                <a:ea typeface="宋体" panose="02010600030101010101" pitchFamily="2" charset="-122"/>
              </a:rPr>
              <a:t>(version 1 &amp; version 2)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886200"/>
            <a:ext cx="6934200" cy="1752600"/>
          </a:xfrm>
        </p:spPr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0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0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72A0E4-9861-4F45-A05B-0DCC72A7E5A2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80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034462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Alfred V.Aho, Ravi Sethi, Jeffrey D.Vllman said:</a:t>
            </a:r>
          </a:p>
          <a:p>
            <a:endParaRPr lang="en-US" altLang="zh-CN" sz="3200" b="1" smtClean="0">
              <a:solidFill>
                <a:srgbClr val="FF00FF"/>
              </a:solidFill>
              <a:ea typeface="宋体" panose="02010600030101010101" pitchFamily="2" charset="-122"/>
            </a:endParaRPr>
          </a:p>
          <a:p>
            <a:r>
              <a:rPr lang="en-US" altLang="zh-CN" sz="3200" b="1" smtClean="0">
                <a:solidFill>
                  <a:srgbClr val="FF00FF"/>
                </a:solidFill>
                <a:ea typeface="宋体" panose="02010600030101010101" pitchFamily="2" charset="-122"/>
              </a:rPr>
              <a:t>“The principles and techniques of compiler writing are so pervasive that the ideas found in this book will be used many times in the career of a computer scientist.”</a:t>
            </a:r>
          </a:p>
          <a:p>
            <a:endParaRPr lang="en-US" altLang="zh-CN" sz="3200" b="1" smtClean="0">
              <a:solidFill>
                <a:srgbClr val="FF00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0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1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696BD0-349F-4FE1-8222-5A68AB6DD706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80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Course Information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16913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Instructor  :   Dr. Xiaoming JU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Office: Math Building  East 210   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Phone: 62233296, 13774272718    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Email:  </a:t>
            </a:r>
            <a:r>
              <a:rPr lang="en-US" altLang="zh-CN" sz="2000" smtClean="0">
                <a:solidFill>
                  <a:schemeClr val="tx2"/>
                </a:solidFill>
                <a:ea typeface="宋体" panose="02010600030101010101" pitchFamily="2" charset="-122"/>
              </a:rPr>
              <a:t>xmju@sei.ecnu.edu.cn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solidFill>
                  <a:schemeClr val="bg1"/>
                </a:solidFill>
                <a:ea typeface="宋体" panose="02010600030101010101" pitchFamily="2" charset="-122"/>
              </a:rPr>
              <a:t>MSN:   scozy_xmju@hotmail.com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solidFill>
                  <a:schemeClr val="bg1"/>
                </a:solidFill>
                <a:ea typeface="宋体" panose="02010600030101010101" pitchFamily="2" charset="-122"/>
              </a:rPr>
              <a:t>Web: http://www.sei.ecnu.edu.cn/cp</a:t>
            </a:r>
          </a:p>
          <a:p>
            <a:pPr lvl="1">
              <a:lnSpc>
                <a:spcPct val="90000"/>
              </a:lnSpc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PPT download</a:t>
            </a:r>
            <a:r>
              <a:rPr lang="zh-CN" altLang="en-US" sz="2000" smtClean="0">
                <a:ea typeface="宋体" panose="02010600030101010101" pitchFamily="2" charset="-122"/>
              </a:rPr>
              <a:t>：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1600" smtClean="0">
                <a:ea typeface="宋体" panose="02010600030101010101" pitchFamily="2" charset="-122"/>
              </a:rPr>
              <a:t>Office Hours :  9:00-16:30</a:t>
            </a:r>
            <a:r>
              <a:rPr lang="en-US" altLang="zh-CN" sz="4400" i="1" smtClean="0">
                <a:solidFill>
                  <a:srgbClr val="FF00FF"/>
                </a:solidFill>
                <a:ea typeface="宋体" panose="02010600030101010101" pitchFamily="2" charset="-122"/>
              </a:rPr>
              <a:t> ?</a:t>
            </a:r>
          </a:p>
          <a:p>
            <a:pPr>
              <a:lnSpc>
                <a:spcPct val="90000"/>
              </a:lnSpc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Class Hours   :  8:00-9:30</a:t>
            </a:r>
            <a:endParaRPr lang="en-US" altLang="zh-CN" sz="36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		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1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BFEF65-0757-4BFB-870D-4EF5A7834BC9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8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Preliminaries Required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050" y="1219200"/>
            <a:ext cx="9525000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Basic knowledge of CFG (Context Free Grammar ).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Knowledge of a high programming language (C/C++) for the programming assignments.</a:t>
            </a:r>
          </a:p>
          <a:p>
            <a:endParaRPr lang="en-US" altLang="zh-CN" sz="2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Textbook: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Alfred V. Aho, Ravi Sethi, and Jeffrey D. Ullman,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“</a:t>
            </a:r>
            <a:r>
              <a:rPr lang="en-US" altLang="zh-CN" sz="2000" b="1" i="1" smtClean="0">
                <a:ea typeface="宋体" panose="02010600030101010101" pitchFamily="2" charset="-122"/>
              </a:rPr>
              <a:t>Compilers: Principles, Techniques, and Tools</a:t>
            </a:r>
            <a:r>
              <a:rPr lang="en-US" altLang="zh-CN" sz="2000" smtClean="0">
                <a:ea typeface="宋体" panose="02010600030101010101" pitchFamily="2" charset="-122"/>
              </a:rPr>
              <a:t>”</a:t>
            </a:r>
            <a:r>
              <a:rPr lang="zh-CN" altLang="en-US" sz="2000" smtClean="0">
                <a:ea typeface="宋体" panose="02010600030101010101" pitchFamily="2" charset="-122"/>
              </a:rPr>
              <a:t>，</a:t>
            </a:r>
            <a:r>
              <a:rPr lang="en-US" altLang="zh-CN" sz="2000" smtClean="0">
                <a:ea typeface="宋体" panose="02010600030101010101" pitchFamily="2" charset="-122"/>
              </a:rPr>
              <a:t>Addison-Wesley, 1986.</a:t>
            </a:r>
          </a:p>
          <a:p>
            <a:pPr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Reference book and websites: </a:t>
            </a:r>
          </a:p>
          <a:p>
            <a:pPr>
              <a:buFontTx/>
              <a:buNone/>
            </a:pPr>
            <a:r>
              <a:rPr lang="zh-CN" altLang="en-US" sz="1800" b="1" smtClean="0">
                <a:ea typeface="宋体" panose="02010600030101010101" pitchFamily="2" charset="-122"/>
              </a:rPr>
              <a:t>	</a:t>
            </a:r>
            <a:r>
              <a:rPr lang="en-US" altLang="zh-CN" sz="1800" smtClean="0">
                <a:ea typeface="宋体" panose="02010600030101010101" pitchFamily="2" charset="-122"/>
              </a:rPr>
              <a:t>1.</a:t>
            </a:r>
            <a:r>
              <a:rPr lang="zh-CN" altLang="en-US" sz="1800" smtClean="0">
                <a:ea typeface="宋体" panose="02010600030101010101" pitchFamily="2" charset="-122"/>
              </a:rPr>
              <a:t>吕映芝等</a:t>
            </a:r>
            <a:r>
              <a:rPr lang="en-US" altLang="zh-CN" sz="1800" smtClean="0">
                <a:ea typeface="宋体" panose="02010600030101010101" pitchFamily="2" charset="-122"/>
              </a:rPr>
              <a:t>, </a:t>
            </a:r>
            <a:r>
              <a:rPr lang="zh-CN" altLang="en-US" sz="1800" i="1" smtClean="0">
                <a:ea typeface="宋体" panose="02010600030101010101" pitchFamily="2" charset="-122"/>
              </a:rPr>
              <a:t>编译原理</a:t>
            </a:r>
            <a:r>
              <a:rPr lang="zh-CN" altLang="en-US" sz="1800" smtClean="0">
                <a:ea typeface="宋体" panose="02010600030101010101" pitchFamily="2" charset="-122"/>
              </a:rPr>
              <a:t> </a:t>
            </a:r>
            <a:r>
              <a:rPr lang="en-US" altLang="zh-CN" sz="1800" smtClean="0">
                <a:ea typeface="宋体" panose="02010600030101010101" pitchFamily="2" charset="-122"/>
              </a:rPr>
              <a:t>,</a:t>
            </a:r>
            <a:r>
              <a:rPr lang="zh-CN" altLang="en-US" sz="1800" smtClean="0">
                <a:ea typeface="宋体" panose="02010600030101010101" pitchFamily="2" charset="-122"/>
              </a:rPr>
              <a:t>清华大学出版社，</a:t>
            </a:r>
            <a:r>
              <a:rPr lang="en-US" altLang="zh-CN" sz="1800" smtClean="0">
                <a:ea typeface="宋体" panose="02010600030101010101" pitchFamily="2" charset="-122"/>
              </a:rPr>
              <a:t>2001</a:t>
            </a:r>
          </a:p>
          <a:p>
            <a:pPr>
              <a:buFontTx/>
              <a:buNone/>
            </a:pPr>
            <a:r>
              <a:rPr lang="zh-CN" altLang="en-US" sz="1800" smtClean="0">
                <a:ea typeface="宋体" panose="02010600030101010101" pitchFamily="2" charset="-122"/>
              </a:rPr>
              <a:t>	</a:t>
            </a:r>
            <a:r>
              <a:rPr lang="en-US" altLang="zh-CN" sz="1800" smtClean="0">
                <a:ea typeface="宋体" panose="02010600030101010101" pitchFamily="2" charset="-122"/>
              </a:rPr>
              <a:t>2. Kenneth C. Louden, </a:t>
            </a:r>
            <a:r>
              <a:rPr lang="en-US" altLang="zh-CN" sz="1800" i="1" smtClean="0">
                <a:ea typeface="宋体" panose="02010600030101010101" pitchFamily="2" charset="-122"/>
              </a:rPr>
              <a:t>Compiler Construction Principles and Practice</a:t>
            </a:r>
            <a:r>
              <a:rPr lang="zh-CN" altLang="en-US" sz="1800" i="1" smtClean="0">
                <a:ea typeface="宋体" panose="02010600030101010101" pitchFamily="2" charset="-122"/>
              </a:rPr>
              <a:t>，</a:t>
            </a:r>
            <a:r>
              <a:rPr lang="zh-CN" altLang="en-US" sz="1800" smtClean="0">
                <a:ea typeface="宋体" panose="02010600030101010101" pitchFamily="2" charset="-122"/>
              </a:rPr>
              <a:t>机械工业出版社，</a:t>
            </a:r>
            <a:r>
              <a:rPr lang="en-US" altLang="zh-CN" sz="1800" smtClean="0">
                <a:ea typeface="宋体" panose="02010600030101010101" pitchFamily="2" charset="-122"/>
              </a:rPr>
              <a:t>2002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3. http://gcc.gnu.org/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4. http://www.cs.virginia.edu/~lcc-win32/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5. http://suif.stanford.edu/ </a:t>
            </a:r>
          </a:p>
        </p:txBody>
      </p:sp>
      <p:pic>
        <p:nvPicPr>
          <p:cNvPr id="5127" name="Picture 4" descr="newdrag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725" y="260350"/>
            <a:ext cx="1828800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5" descr="app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652963"/>
            <a:ext cx="1524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Picture 6" descr="muchni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652963"/>
            <a:ext cx="15144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7" descr="Engineering-a-Compiler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4652963"/>
            <a:ext cx="16764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61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61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C34496-E3ED-498F-A667-274BEE50147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80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Purposes of this course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r>
              <a:rPr lang="en-US" altLang="zh-CN" sz="3200" smtClean="0">
                <a:ea typeface="宋体" panose="02010600030101010101" pitchFamily="2" charset="-122"/>
              </a:rPr>
              <a:t>Basic knowledge of theoretical techniques, such as finite automaton theory, grammar (LL(1), LR(1) ), code generation and so on.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Practical experience is to design and program an actual compiler by hand-writing or using tools, such as LEX, YACC.</a:t>
            </a:r>
            <a:endParaRPr lang="zh-CN" altLang="en-US" sz="32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813276-D914-429B-95D3-751519F8B101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80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Grading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6659563" cy="5105400"/>
          </a:xfrm>
        </p:spPr>
        <p:txBody>
          <a:bodyPr/>
          <a:lstStyle/>
          <a:p>
            <a:r>
              <a:rPr lang="en-US" altLang="zh-CN" sz="3200" smtClean="0">
                <a:ea typeface="宋体" panose="02010600030101010101" pitchFamily="2" charset="-122"/>
              </a:rPr>
              <a:t>ClassTest (4)   :        40%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Final               : 	60%</a:t>
            </a:r>
          </a:p>
          <a:p>
            <a:endParaRPr lang="en-US" altLang="zh-CN" sz="3200" smtClean="0">
              <a:ea typeface="宋体" panose="02010600030101010101" pitchFamily="2" charset="-122"/>
            </a:endParaRPr>
          </a:p>
          <a:p>
            <a:r>
              <a:rPr lang="en-US" altLang="zh-CN" sz="3200" smtClean="0">
                <a:ea typeface="宋体" panose="02010600030101010101" pitchFamily="2" charset="-122"/>
              </a:rPr>
              <a:t>Programming : 	30%+70%</a:t>
            </a:r>
          </a:p>
          <a:p>
            <a:r>
              <a:rPr lang="en-US" altLang="zh-CN" sz="3200" smtClean="0">
                <a:solidFill>
                  <a:schemeClr val="accent1"/>
                </a:solidFill>
                <a:ea typeface="宋体" panose="02010600030101010101" pitchFamily="2" charset="-122"/>
              </a:rPr>
              <a:t>Bonus		: 	5% // 8%</a:t>
            </a:r>
          </a:p>
          <a:p>
            <a:endParaRPr lang="en-US" altLang="zh-CN" sz="32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zh-CN" altLang="en-US" sz="3200" smtClean="0">
              <a:ea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44488" y="4437063"/>
          <a:ext cx="9145587" cy="1512887"/>
        </p:xfrm>
        <a:graphic>
          <a:graphicData uri="http://schemas.openxmlformats.org/drawingml/2006/table">
            <a:tbl>
              <a:tblPr/>
              <a:tblGrid>
                <a:gridCol w="9145587">
                  <a:extLst>
                    <a:ext uri="{9D8B030D-6E8A-4147-A177-3AD203B41FA5}">
                      <a16:colId xmlns:a16="http://schemas.microsoft.com/office/drawing/2014/main" val="1813460164"/>
                    </a:ext>
                  </a:extLst>
                </a:gridCol>
              </a:tblGrid>
              <a:tr h="755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个人成绩</a:t>
                      </a: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</a:t>
                      </a: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小组成绩 </a:t>
                      </a: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（（</a:t>
                      </a: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小组评定个人工作量占比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教师评定个人工作量占比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/2 /</a:t>
                      </a: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平均占比 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）*</a:t>
                      </a: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小组成绩</a:t>
                      </a:r>
                      <a:r>
                        <a:rPr kumimoji="0" lang="zh-CN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0.15 </a:t>
                      </a:r>
                      <a:r>
                        <a:rPr kumimoji="0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小组成绩*修正值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587042"/>
                  </a:ext>
                </a:extLst>
              </a:tr>
              <a:tr h="755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计算依据：在小组成绩上，根据个人工作量高低，用小组成绩的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15%</a:t>
                      </a: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进行奖惩；对组长、课代表、表现突出者、及出现打酱油的小组或成员，采用修正值进行调整。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60674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4EEF95-86C1-45EE-AF76-FBA6FF304E08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80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Course Outline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4488" y="981075"/>
            <a:ext cx="6913562" cy="5400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Introduction to Compiling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Lexical Analysis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Regular expressions, regular definitions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NFA, DFA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Thompson’s construction, Subset construction 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Syntax Analysis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Context Free Grammars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Top-Down Parsing, LL Parsing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Bottom-Up Parsing, LR Parsing (SLR, LALR, LR)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Syntax-Directed Translation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Attribute Definitions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Evaluation of Attribute Definitions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Semantic Analysis, Type Checking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Run-Time Organization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Intermediate Code Generation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Assembler Code Generation</a:t>
            </a:r>
          </a:p>
        </p:txBody>
      </p:sp>
      <p:sp>
        <p:nvSpPr>
          <p:cNvPr id="237572" name="Rectangle 4"/>
          <p:cNvSpPr>
            <a:spLocks noChangeArrowheads="1"/>
          </p:cNvSpPr>
          <p:nvPr/>
        </p:nvSpPr>
        <p:spPr bwMode="auto">
          <a:xfrm>
            <a:off x="6537325" y="3429000"/>
            <a:ext cx="3025775" cy="266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Machine-Independent Optimization</a:t>
            </a:r>
          </a:p>
          <a:p>
            <a:pPr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Instruction-Level Parallelism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Optimizing for Parallelism and Locality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>
                <a:ea typeface="宋体" panose="02010600030101010101" pitchFamily="2" charset="-122"/>
              </a:rPr>
              <a:t>Interprocedural Analysis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37573" name="Rectangle 5"/>
          <p:cNvSpPr>
            <a:spLocks noChangeArrowheads="1"/>
          </p:cNvSpPr>
          <p:nvPr/>
        </p:nvSpPr>
        <p:spPr bwMode="auto">
          <a:xfrm>
            <a:off x="6537325" y="3141663"/>
            <a:ext cx="3025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i="1">
                <a:ea typeface="宋体" panose="02010600030101010101" pitchFamily="2" charset="-122"/>
              </a:rPr>
              <a:t>For version 2: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2" grpId="0"/>
      <p:bldP spid="23757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CCA8A8-6DA2-4958-A3CE-AD0D5164F1DD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80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brief history of compiler  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In the late1940s, the stored-program computer invented by John von Neumann</a:t>
            </a:r>
            <a:r>
              <a:rPr lang="zh-CN" altLang="en-US" smtClean="0">
                <a:ea typeface="宋体" panose="02010600030101010101" pitchFamily="2" charset="-122"/>
              </a:rPr>
              <a:t>，</a:t>
            </a:r>
            <a:r>
              <a:rPr lang="en-US" altLang="zh-CN" smtClean="0">
                <a:ea typeface="宋体" panose="02010600030101010101" pitchFamily="2" charset="-122"/>
              </a:rPr>
              <a:t>programs  were written in machine language ,  c7 06 0000 0002</a:t>
            </a:r>
          </a:p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assembly language </a:t>
            </a:r>
            <a:r>
              <a:rPr lang="zh-CN" altLang="en-US" smtClean="0">
                <a:ea typeface="宋体" panose="02010600030101010101" pitchFamily="2" charset="-122"/>
              </a:rPr>
              <a:t>（汇编语言）</a:t>
            </a:r>
            <a:r>
              <a:rPr lang="en-US" altLang="zh-CN" smtClean="0">
                <a:ea typeface="宋体" panose="02010600030101010101" pitchFamily="2" charset="-122"/>
              </a:rPr>
              <a:t>: numeric codes were replaced symbolic forms.  Mov x, 2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asssembler </a:t>
            </a:r>
            <a:r>
              <a:rPr lang="zh-CN" altLang="en-US" smtClean="0">
                <a:ea typeface="宋体" panose="02010600030101010101" pitchFamily="2" charset="-122"/>
              </a:rPr>
              <a:t>（汇编器）</a:t>
            </a:r>
            <a:r>
              <a:rPr lang="en-US" altLang="zh-CN" smtClean="0">
                <a:ea typeface="宋体" panose="02010600030101010101" pitchFamily="2" charset="-122"/>
              </a:rPr>
              <a:t>: translate the symbolic codes and memory location of assembly  language  into the  corresponding numeric codes.</a:t>
            </a:r>
          </a:p>
          <a:p>
            <a:pPr marL="457200" indent="-457200"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Defects of the assembly language :  difficult to read ,write and understanding ;dependent on the particular machine.</a:t>
            </a:r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339274-1CE8-4539-86C5-9105D9A1848A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80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brief history of compiler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908050"/>
            <a:ext cx="9371012" cy="5473700"/>
          </a:xfrm>
        </p:spPr>
        <p:txBody>
          <a:bodyPr/>
          <a:lstStyle/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FORTRAN language and  its compiler:  between 1954 and 1957 , developed by the team at IBM , John Backus.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(1) The structure of natural language studied  by  </a:t>
            </a:r>
            <a:r>
              <a:rPr lang="en-US" altLang="zh-CN" b="1" smtClean="0">
                <a:ea typeface="宋体" panose="02010600030101010101" pitchFamily="2" charset="-122"/>
              </a:rPr>
              <a:t>Noam Chomsky</a:t>
            </a:r>
            <a:r>
              <a:rPr lang="en-US" altLang="zh-CN" smtClean="0">
                <a:ea typeface="宋体" panose="02010600030101010101" pitchFamily="2" charset="-122"/>
              </a:rPr>
              <a:t>,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(2) The classification of languages according  to the complexity of their grammars and the power of the algorithms needed to recognize them.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(3) Four levels of grammars: type 0 </a:t>
            </a:r>
            <a:r>
              <a:rPr lang="zh-CN" altLang="en-US" smtClean="0">
                <a:ea typeface="宋体" panose="02010600030101010101" pitchFamily="2" charset="-122"/>
              </a:rPr>
              <a:t>、</a:t>
            </a:r>
            <a:r>
              <a:rPr lang="en-US" altLang="zh-CN" smtClean="0">
                <a:ea typeface="宋体" panose="02010600030101010101" pitchFamily="2" charset="-122"/>
              </a:rPr>
              <a:t>type 1</a:t>
            </a:r>
            <a:r>
              <a:rPr lang="zh-CN" altLang="en-US" smtClean="0">
                <a:ea typeface="宋体" panose="02010600030101010101" pitchFamily="2" charset="-122"/>
              </a:rPr>
              <a:t>、</a:t>
            </a:r>
            <a:r>
              <a:rPr lang="en-US" altLang="zh-CN" smtClean="0">
                <a:ea typeface="宋体" panose="02010600030101010101" pitchFamily="2" charset="-122"/>
              </a:rPr>
              <a:t>type2 and type3  grammars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 Type 0: Turing machine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 Type 1: context-sensitive grammar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 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Type 2: context-free grammar</a:t>
            </a:r>
            <a:r>
              <a:rPr lang="zh-CN" altLang="en-US" b="1" smtClean="0">
                <a:solidFill>
                  <a:schemeClr val="accent2"/>
                </a:solidFill>
                <a:ea typeface="宋体" panose="02010600030101010101" pitchFamily="2" charset="-122"/>
              </a:rPr>
              <a:t>（上下文无关文法）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, the most useful of programming language</a:t>
            </a:r>
            <a:r>
              <a:rPr lang="en-US" altLang="zh-CN" b="1" smtClean="0">
                <a:ea typeface="宋体" panose="02010600030101010101" pitchFamily="2" charset="-122"/>
              </a:rPr>
              <a:t> 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 Type 3: right-linear grammar, regular expressions and finite automata   </a:t>
            </a:r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9A4008-6C88-466A-9AC8-2D5750F0D0EF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80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The description ability of four types</a:t>
            </a:r>
          </a:p>
        </p:txBody>
      </p:sp>
      <p:sp>
        <p:nvSpPr>
          <p:cNvPr id="329733" name="Oval 5"/>
          <p:cNvSpPr>
            <a:spLocks noChangeArrowheads="1"/>
          </p:cNvSpPr>
          <p:nvPr/>
        </p:nvSpPr>
        <p:spPr bwMode="auto">
          <a:xfrm>
            <a:off x="2286000" y="1752600"/>
            <a:ext cx="4876800" cy="4495800"/>
          </a:xfrm>
          <a:prstGeom prst="ellipse">
            <a:avLst/>
          </a:prstGeom>
          <a:solidFill>
            <a:srgbClr val="333399"/>
          </a:solidFill>
          <a:ln w="28575" cap="sq">
            <a:solidFill>
              <a:srgbClr val="FFCC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Type 0</a:t>
            </a:r>
            <a:endParaRPr kumimoji="1" lang="zh-CN" altLang="en-US" sz="280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329734" name="Oval 6"/>
          <p:cNvSpPr>
            <a:spLocks noChangeArrowheads="1"/>
          </p:cNvSpPr>
          <p:nvPr/>
        </p:nvSpPr>
        <p:spPr bwMode="auto">
          <a:xfrm>
            <a:off x="2895600" y="2438400"/>
            <a:ext cx="3657600" cy="3352800"/>
          </a:xfrm>
          <a:prstGeom prst="ellipse">
            <a:avLst/>
          </a:prstGeom>
          <a:solidFill>
            <a:srgbClr val="0000FF"/>
          </a:solidFill>
          <a:ln w="28575" cap="sq">
            <a:solidFill>
              <a:srgbClr val="FFCC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Type</a:t>
            </a:r>
            <a:r>
              <a:rPr kumimoji="1" lang="en-US" altLang="zh-CN" sz="2800">
                <a:ea typeface="宋体" panose="02010600030101010101" pitchFamily="2" charset="-122"/>
              </a:rPr>
              <a:t> </a:t>
            </a:r>
            <a:r>
              <a:rPr kumimoji="1"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endParaRPr kumimoji="1" lang="zh-CN" altLang="en-US" sz="2800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329735" name="Oval 7"/>
          <p:cNvSpPr>
            <a:spLocks noChangeArrowheads="1"/>
          </p:cNvSpPr>
          <p:nvPr/>
        </p:nvSpPr>
        <p:spPr bwMode="auto">
          <a:xfrm>
            <a:off x="3581400" y="3124200"/>
            <a:ext cx="2209800" cy="2057400"/>
          </a:xfrm>
          <a:prstGeom prst="ellipse">
            <a:avLst/>
          </a:prstGeom>
          <a:solidFill>
            <a:srgbClr val="00CCFF"/>
          </a:solidFill>
          <a:ln w="28575" cap="sq">
            <a:solidFill>
              <a:srgbClr val="FFCC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Type</a:t>
            </a:r>
            <a:r>
              <a:rPr kumimoji="1" lang="en-US" altLang="zh-CN" sz="2800">
                <a:ea typeface="宋体" panose="02010600030101010101" pitchFamily="2" charset="-122"/>
              </a:rPr>
              <a:t> </a:t>
            </a:r>
            <a:r>
              <a:rPr kumimoji="1"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endParaRPr kumimoji="1" lang="zh-CN" altLang="en-US" sz="2800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 sz="2800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329736" name="Oval 8"/>
          <p:cNvSpPr>
            <a:spLocks noChangeArrowheads="1"/>
          </p:cNvSpPr>
          <p:nvPr/>
        </p:nvSpPr>
        <p:spPr bwMode="auto">
          <a:xfrm>
            <a:off x="4191000" y="3657600"/>
            <a:ext cx="1066800" cy="990600"/>
          </a:xfrm>
          <a:prstGeom prst="ellipse">
            <a:avLst/>
          </a:prstGeom>
          <a:solidFill>
            <a:srgbClr val="CCFFFF"/>
          </a:solidFill>
          <a:ln w="28575" cap="sq">
            <a:solidFill>
              <a:srgbClr val="FFCC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Type</a:t>
            </a:r>
            <a:r>
              <a:rPr kumimoji="1" lang="en-US" altLang="zh-CN" sz="2800">
                <a:ea typeface="宋体" panose="02010600030101010101" pitchFamily="2" charset="-122"/>
              </a:rPr>
              <a:t> </a:t>
            </a:r>
            <a:r>
              <a:rPr kumimoji="1"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endParaRPr kumimoji="1" lang="zh-CN" altLang="en-US" sz="2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1275" name="矩形 1"/>
          <p:cNvSpPr>
            <a:spLocks noChangeArrowheads="1"/>
          </p:cNvSpPr>
          <p:nvPr/>
        </p:nvSpPr>
        <p:spPr bwMode="auto">
          <a:xfrm>
            <a:off x="6553200" y="1311275"/>
            <a:ext cx="2298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Noam Chomsky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3" grpId="0" animBg="1" autoUpdateAnimBg="0"/>
      <p:bldP spid="329734" grpId="0" animBg="1" autoUpdateAnimBg="0"/>
      <p:bldP spid="329735" grpId="0" animBg="1" autoUpdateAnimBg="0"/>
      <p:bldP spid="329736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DE2674-ABB3-4696-B864-FFCDDA388686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80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brief history of compiler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981075"/>
            <a:ext cx="9371012" cy="56165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(4) parsing problem : studied in 1960s and 1970s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(5) Code improvement techniques (optimization techniques): improve compilers  efficiency.</a:t>
            </a:r>
            <a:endParaRPr lang="zh-CN" altLang="en-US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(6) Compiler-compilers (parser generator ): only in one part of the compiler process.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</a:t>
            </a:r>
            <a:r>
              <a:rPr lang="en-US" altLang="zh-CN" b="1" smtClean="0">
                <a:solidFill>
                  <a:srgbClr val="FF0000"/>
                </a:solidFill>
                <a:ea typeface="宋体" panose="02010600030101010101" pitchFamily="2" charset="-122"/>
              </a:rPr>
              <a:t>LEX </a:t>
            </a:r>
            <a:r>
              <a:rPr lang="zh-CN" altLang="en-US" smtClean="0">
                <a:ea typeface="宋体" panose="02010600030101010101" pitchFamily="2" charset="-122"/>
              </a:rPr>
              <a:t>（词法自动生成器） </a:t>
            </a:r>
            <a:r>
              <a:rPr lang="en-US" altLang="zh-CN" smtClean="0">
                <a:ea typeface="宋体" panose="02010600030101010101" pitchFamily="2" charset="-122"/>
              </a:rPr>
              <a:t>written in 1975 by Mike Lest.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  </a:t>
            </a:r>
            <a:r>
              <a:rPr lang="en-US" altLang="zh-CN" b="1" smtClean="0">
                <a:solidFill>
                  <a:srgbClr val="FF0000"/>
                </a:solidFill>
                <a:ea typeface="宋体" panose="02010600030101010101" pitchFamily="2" charset="-122"/>
              </a:rPr>
              <a:t>YACC</a:t>
            </a:r>
            <a:r>
              <a:rPr lang="zh-CN" altLang="en-US" smtClean="0">
                <a:ea typeface="宋体" panose="02010600030101010101" pitchFamily="2" charset="-122"/>
              </a:rPr>
              <a:t>（语法自动生成器）</a:t>
            </a:r>
            <a:r>
              <a:rPr lang="en-US" altLang="zh-CN" smtClean="0">
                <a:ea typeface="宋体" panose="02010600030101010101" pitchFamily="2" charset="-122"/>
              </a:rPr>
              <a:t>written in 1975 by Steve Johnson for the UNIX system. (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Bison</a:t>
            </a:r>
            <a:r>
              <a:rPr lang="en-US" altLang="zh-CN" smtClean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(7) recent advances in compiler design: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(a) application of more sophisticated algorithms for inferring and /or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simplifying the information contained in a program. (with the development of more sophisticated programming languages that allow  this kind of  analysis.)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(b) development of standard windowing environments. ( interactive development environment. IDE)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BB591C-7EFE-4403-BB6D-784C094DDC06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80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1.1 Compilers (P.2)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What is a Compiler?</a:t>
            </a:r>
            <a:endParaRPr lang="en-US" altLang="zh-CN" sz="2800" smtClean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r>
              <a:rPr lang="en-US" altLang="zh-CN" sz="2800" smtClean="0">
                <a:ea typeface="宋体" panose="02010600030101010101" pitchFamily="2" charset="-122"/>
              </a:rPr>
              <a:t>A </a:t>
            </a:r>
            <a:r>
              <a:rPr lang="en-US" altLang="zh-CN" sz="2800" b="1" smtClean="0">
                <a:ea typeface="宋体" panose="02010600030101010101" pitchFamily="2" charset="-122"/>
              </a:rPr>
              <a:t>compiler</a:t>
            </a:r>
            <a:r>
              <a:rPr lang="zh-CN" altLang="en-US" sz="2800" smtClean="0">
                <a:ea typeface="宋体" panose="02010600030101010101" pitchFamily="2" charset="-122"/>
              </a:rPr>
              <a:t>（编译器） </a:t>
            </a:r>
            <a:r>
              <a:rPr lang="en-US" altLang="zh-CN" sz="2800" smtClean="0">
                <a:ea typeface="宋体" panose="02010600030101010101" pitchFamily="2" charset="-122"/>
              </a:rPr>
              <a:t>is a program takes a program written in a source language and translates it into an </a:t>
            </a:r>
            <a:r>
              <a:rPr lang="en-US" altLang="zh-CN" sz="2800" b="1" smtClean="0">
                <a:solidFill>
                  <a:srgbClr val="0070C0"/>
                </a:solidFill>
                <a:ea typeface="宋体" panose="02010600030101010101" pitchFamily="2" charset="-122"/>
              </a:rPr>
              <a:t>equivalent </a:t>
            </a:r>
            <a:r>
              <a:rPr lang="en-US" altLang="zh-CN" sz="2800" smtClean="0">
                <a:ea typeface="宋体" panose="02010600030101010101" pitchFamily="2" charset="-122"/>
              </a:rPr>
              <a:t>program in a target language.</a:t>
            </a:r>
          </a:p>
          <a:p>
            <a:pPr>
              <a:buFontTx/>
              <a:buNone/>
            </a:pPr>
            <a:endParaRPr lang="en-US" altLang="zh-CN" sz="28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source program            COMPILER          target program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			error messages</a:t>
            </a:r>
          </a:p>
        </p:txBody>
      </p:sp>
      <p:grpSp>
        <p:nvGrpSpPr>
          <p:cNvPr id="13319" name="Group 11"/>
          <p:cNvGrpSpPr>
            <a:grpSpLocks/>
          </p:cNvGrpSpPr>
          <p:nvPr/>
        </p:nvGrpSpPr>
        <p:grpSpPr bwMode="auto">
          <a:xfrm>
            <a:off x="488950" y="3716338"/>
            <a:ext cx="9140825" cy="1638300"/>
            <a:chOff x="288" y="2035"/>
            <a:chExt cx="5758" cy="1032"/>
          </a:xfrm>
        </p:grpSpPr>
        <p:sp>
          <p:nvSpPr>
            <p:cNvPr id="13321" name="Rectangle 4"/>
            <p:cNvSpPr>
              <a:spLocks noChangeArrowheads="1"/>
            </p:cNvSpPr>
            <p:nvPr/>
          </p:nvSpPr>
          <p:spPr bwMode="auto">
            <a:xfrm>
              <a:off x="2304" y="2035"/>
              <a:ext cx="1536" cy="6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22" name="Line 5"/>
            <p:cNvSpPr>
              <a:spLocks noChangeShapeType="1"/>
            </p:cNvSpPr>
            <p:nvPr/>
          </p:nvSpPr>
          <p:spPr bwMode="auto">
            <a:xfrm>
              <a:off x="2113" y="2341"/>
              <a:ext cx="1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" name="Line 6"/>
            <p:cNvSpPr>
              <a:spLocks noChangeShapeType="1"/>
            </p:cNvSpPr>
            <p:nvPr/>
          </p:nvSpPr>
          <p:spPr bwMode="auto">
            <a:xfrm>
              <a:off x="3840" y="234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" name="Text Box 7"/>
            <p:cNvSpPr txBox="1">
              <a:spLocks noChangeArrowheads="1"/>
            </p:cNvSpPr>
            <p:nvPr/>
          </p:nvSpPr>
          <p:spPr bwMode="auto">
            <a:xfrm>
              <a:off x="288" y="2520"/>
              <a:ext cx="1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( Normally a program written in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a high-level programming language)</a:t>
              </a:r>
            </a:p>
          </p:txBody>
        </p:sp>
        <p:sp>
          <p:nvSpPr>
            <p:cNvPr id="13325" name="Text Box 8"/>
            <p:cNvSpPr txBox="1">
              <a:spLocks noChangeArrowheads="1"/>
            </p:cNvSpPr>
            <p:nvPr/>
          </p:nvSpPr>
          <p:spPr bwMode="auto">
            <a:xfrm>
              <a:off x="3936" y="2520"/>
              <a:ext cx="211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( Normally the equivalent program in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machine code – relocatable object file)</a:t>
              </a:r>
            </a:p>
          </p:txBody>
        </p:sp>
        <p:sp>
          <p:nvSpPr>
            <p:cNvPr id="13326" name="Line 9"/>
            <p:cNvSpPr>
              <a:spLocks noChangeShapeType="1"/>
            </p:cNvSpPr>
            <p:nvPr/>
          </p:nvSpPr>
          <p:spPr bwMode="auto">
            <a:xfrm>
              <a:off x="2976" y="268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20" name="Rectangle 10"/>
          <p:cNvSpPr>
            <a:spLocks noChangeArrowheads="1"/>
          </p:cNvSpPr>
          <p:nvPr/>
        </p:nvSpPr>
        <p:spPr bwMode="auto">
          <a:xfrm>
            <a:off x="344488" y="5661025"/>
            <a:ext cx="937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ea typeface="宋体" panose="02010600030101010101" pitchFamily="2" charset="-122"/>
              </a:rPr>
              <a:t>Fig. 1.1. a compiler</a:t>
            </a:r>
            <a:endParaRPr lang="en-US" altLang="zh-CN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381166-A7D4-4AF0-AA02-1D46FAC13F65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80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If the target program is an </a:t>
            </a:r>
            <a:r>
              <a:rPr lang="en-US" altLang="zh-CN" sz="2800" smtClean="0">
                <a:solidFill>
                  <a:srgbClr val="00B0F0"/>
                </a:solidFill>
                <a:ea typeface="宋体" panose="02010600030101010101" pitchFamily="2" charset="-122"/>
              </a:rPr>
              <a:t>executable machine-language program</a:t>
            </a:r>
            <a:r>
              <a:rPr lang="en-US" altLang="zh-CN" sz="2800" smtClean="0">
                <a:ea typeface="宋体" panose="02010600030101010101" pitchFamily="2" charset="-122"/>
              </a:rPr>
              <a:t>, it can be called by the user to process inputs and produce outputs.</a:t>
            </a:r>
          </a:p>
          <a:p>
            <a:pPr>
              <a:buFontTx/>
              <a:buNone/>
            </a:pPr>
            <a:endParaRPr lang="en-US" altLang="zh-CN" sz="28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			</a:t>
            </a:r>
          </a:p>
        </p:txBody>
      </p:sp>
      <p:sp>
        <p:nvSpPr>
          <p:cNvPr id="14343" name="Text Box 8"/>
          <p:cNvSpPr txBox="1">
            <a:spLocks noChangeArrowheads="1"/>
          </p:cNvSpPr>
          <p:nvPr/>
        </p:nvSpPr>
        <p:spPr bwMode="auto">
          <a:xfrm>
            <a:off x="457200" y="3987800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4344" name="Text Box 9"/>
          <p:cNvSpPr txBox="1">
            <a:spLocks noChangeArrowheads="1"/>
          </p:cNvSpPr>
          <p:nvPr/>
        </p:nvSpPr>
        <p:spPr bwMode="auto">
          <a:xfrm>
            <a:off x="6248400" y="3987800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344488" y="5084763"/>
            <a:ext cx="937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ea typeface="宋体" panose="02010600030101010101" pitchFamily="2" charset="-122"/>
              </a:rPr>
              <a:t>Fig. 1.2. Running the target program</a:t>
            </a:r>
          </a:p>
        </p:txBody>
      </p:sp>
      <p:grpSp>
        <p:nvGrpSpPr>
          <p:cNvPr id="331788" name="Group 12"/>
          <p:cNvGrpSpPr>
            <a:grpSpLocks/>
          </p:cNvGrpSpPr>
          <p:nvPr/>
        </p:nvGrpSpPr>
        <p:grpSpPr bwMode="auto">
          <a:xfrm>
            <a:off x="992188" y="2924175"/>
            <a:ext cx="7010400" cy="1708150"/>
            <a:chOff x="528" y="2592"/>
            <a:chExt cx="4416" cy="1076"/>
          </a:xfrm>
        </p:grpSpPr>
        <p:sp>
          <p:nvSpPr>
            <p:cNvPr id="14347" name="Text Box 13"/>
            <p:cNvSpPr txBox="1">
              <a:spLocks noChangeArrowheads="1"/>
            </p:cNvSpPr>
            <p:nvPr/>
          </p:nvSpPr>
          <p:spPr bwMode="auto">
            <a:xfrm>
              <a:off x="528" y="2592"/>
              <a:ext cx="17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b="1">
                  <a:latin typeface="Verdana" panose="020B0604030504040204" pitchFamily="34" charset="0"/>
                  <a:ea typeface="宋体" panose="02010600030101010101" pitchFamily="2" charset="-122"/>
                </a:rPr>
                <a:t>Then What?</a:t>
              </a:r>
            </a:p>
          </p:txBody>
        </p:sp>
        <p:sp>
          <p:nvSpPr>
            <p:cNvPr id="14348" name="Rectangle 14"/>
            <p:cNvSpPr>
              <a:spLocks noChangeArrowheads="1"/>
            </p:cNvSpPr>
            <p:nvPr/>
          </p:nvSpPr>
          <p:spPr bwMode="auto">
            <a:xfrm>
              <a:off x="2352" y="2948"/>
              <a:ext cx="1056" cy="72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Machine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Code</a:t>
              </a:r>
            </a:p>
          </p:txBody>
        </p:sp>
        <p:sp>
          <p:nvSpPr>
            <p:cNvPr id="14349" name="Line 15"/>
            <p:cNvSpPr>
              <a:spLocks noChangeShapeType="1"/>
            </p:cNvSpPr>
            <p:nvPr/>
          </p:nvSpPr>
          <p:spPr bwMode="auto">
            <a:xfrm>
              <a:off x="1824" y="333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0" name="Line 16"/>
            <p:cNvSpPr>
              <a:spLocks noChangeShapeType="1"/>
            </p:cNvSpPr>
            <p:nvPr/>
          </p:nvSpPr>
          <p:spPr bwMode="auto">
            <a:xfrm>
              <a:off x="3408" y="333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1" name="Text Box 17"/>
            <p:cNvSpPr txBox="1">
              <a:spLocks noChangeArrowheads="1"/>
            </p:cNvSpPr>
            <p:nvPr/>
          </p:nvSpPr>
          <p:spPr bwMode="auto">
            <a:xfrm>
              <a:off x="672" y="3082"/>
              <a:ext cx="139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Program Inputs</a:t>
              </a:r>
            </a:p>
          </p:txBody>
        </p:sp>
        <p:sp>
          <p:nvSpPr>
            <p:cNvPr id="14352" name="Text Box 18"/>
            <p:cNvSpPr txBox="1">
              <a:spLocks noChangeArrowheads="1"/>
            </p:cNvSpPr>
            <p:nvPr/>
          </p:nvSpPr>
          <p:spPr bwMode="auto">
            <a:xfrm>
              <a:off x="3949" y="3092"/>
              <a:ext cx="995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Program Outputs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320AFB-D473-482E-9D5A-B4838BF54A92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80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What is an Interpreter?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grpSp>
        <p:nvGrpSpPr>
          <p:cNvPr id="332804" name="Group 4"/>
          <p:cNvGrpSpPr>
            <a:grpSpLocks/>
          </p:cNvGrpSpPr>
          <p:nvPr/>
        </p:nvGrpSpPr>
        <p:grpSpPr bwMode="auto">
          <a:xfrm>
            <a:off x="776288" y="2349500"/>
            <a:ext cx="7315200" cy="1508125"/>
            <a:chOff x="432" y="864"/>
            <a:chExt cx="4608" cy="950"/>
          </a:xfrm>
        </p:grpSpPr>
        <p:sp>
          <p:nvSpPr>
            <p:cNvPr id="15368" name="Rectangle 5"/>
            <p:cNvSpPr>
              <a:spLocks noChangeArrowheads="1"/>
            </p:cNvSpPr>
            <p:nvPr/>
          </p:nvSpPr>
          <p:spPr bwMode="auto">
            <a:xfrm>
              <a:off x="2352" y="960"/>
              <a:ext cx="1152" cy="72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Interpreter</a:t>
              </a:r>
            </a:p>
          </p:txBody>
        </p:sp>
        <p:sp>
          <p:nvSpPr>
            <p:cNvPr id="15369" name="Line 6"/>
            <p:cNvSpPr>
              <a:spLocks noChangeShapeType="1"/>
            </p:cNvSpPr>
            <p:nvPr/>
          </p:nvSpPr>
          <p:spPr bwMode="auto">
            <a:xfrm>
              <a:off x="1824" y="105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0" name="Line 7"/>
            <p:cNvSpPr>
              <a:spLocks noChangeShapeType="1"/>
            </p:cNvSpPr>
            <p:nvPr/>
          </p:nvSpPr>
          <p:spPr bwMode="auto">
            <a:xfrm>
              <a:off x="3504" y="134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1" name="Text Box 8"/>
            <p:cNvSpPr txBox="1">
              <a:spLocks noChangeArrowheads="1"/>
            </p:cNvSpPr>
            <p:nvPr/>
          </p:nvSpPr>
          <p:spPr bwMode="auto">
            <a:xfrm>
              <a:off x="432" y="864"/>
              <a:ext cx="1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Source Code</a:t>
              </a:r>
            </a:p>
          </p:txBody>
        </p:sp>
        <p:sp>
          <p:nvSpPr>
            <p:cNvPr id="15372" name="Text Box 9"/>
            <p:cNvSpPr txBox="1">
              <a:spLocks noChangeArrowheads="1"/>
            </p:cNvSpPr>
            <p:nvPr/>
          </p:nvSpPr>
          <p:spPr bwMode="auto">
            <a:xfrm>
              <a:off x="4045" y="1104"/>
              <a:ext cx="995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Program Outputs</a:t>
              </a:r>
            </a:p>
          </p:txBody>
        </p:sp>
        <p:sp>
          <p:nvSpPr>
            <p:cNvPr id="15373" name="Line 10"/>
            <p:cNvSpPr>
              <a:spLocks noChangeShapeType="1"/>
            </p:cNvSpPr>
            <p:nvPr/>
          </p:nvSpPr>
          <p:spPr bwMode="auto">
            <a:xfrm>
              <a:off x="1824" y="150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4" name="Text Box 11"/>
            <p:cNvSpPr txBox="1">
              <a:spLocks noChangeArrowheads="1"/>
            </p:cNvSpPr>
            <p:nvPr/>
          </p:nvSpPr>
          <p:spPr bwMode="auto">
            <a:xfrm>
              <a:off x="672" y="1296"/>
              <a:ext cx="139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Program Inputs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440F2F-86D2-43BF-88DE-1618185D2E9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80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What is a Just-in-Time Compiler?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grpSp>
        <p:nvGrpSpPr>
          <p:cNvPr id="333829" name="Group 5"/>
          <p:cNvGrpSpPr>
            <a:grpSpLocks/>
          </p:cNvGrpSpPr>
          <p:nvPr/>
        </p:nvGrpSpPr>
        <p:grpSpPr bwMode="auto">
          <a:xfrm>
            <a:off x="1065213" y="1557338"/>
            <a:ext cx="7315200" cy="3505200"/>
            <a:chOff x="432" y="864"/>
            <a:chExt cx="4608" cy="2208"/>
          </a:xfrm>
        </p:grpSpPr>
        <p:sp>
          <p:nvSpPr>
            <p:cNvPr id="16392" name="Rectangle 6"/>
            <p:cNvSpPr>
              <a:spLocks noChangeArrowheads="1"/>
            </p:cNvSpPr>
            <p:nvPr/>
          </p:nvSpPr>
          <p:spPr bwMode="auto">
            <a:xfrm>
              <a:off x="2352" y="960"/>
              <a:ext cx="1152" cy="72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IR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Generator</a:t>
              </a:r>
            </a:p>
          </p:txBody>
        </p:sp>
        <p:sp>
          <p:nvSpPr>
            <p:cNvPr id="16393" name="Line 7"/>
            <p:cNvSpPr>
              <a:spLocks noChangeShapeType="1"/>
            </p:cNvSpPr>
            <p:nvPr/>
          </p:nvSpPr>
          <p:spPr bwMode="auto">
            <a:xfrm>
              <a:off x="1824" y="105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4" name="Line 8"/>
            <p:cNvSpPr>
              <a:spLocks noChangeShapeType="1"/>
            </p:cNvSpPr>
            <p:nvPr/>
          </p:nvSpPr>
          <p:spPr bwMode="auto">
            <a:xfrm>
              <a:off x="3504" y="268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5" name="Text Box 9"/>
            <p:cNvSpPr txBox="1">
              <a:spLocks noChangeArrowheads="1"/>
            </p:cNvSpPr>
            <p:nvPr/>
          </p:nvSpPr>
          <p:spPr bwMode="auto">
            <a:xfrm>
              <a:off x="432" y="864"/>
              <a:ext cx="1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Source Code</a:t>
              </a:r>
            </a:p>
          </p:txBody>
        </p:sp>
        <p:sp>
          <p:nvSpPr>
            <p:cNvPr id="16396" name="Text Box 10"/>
            <p:cNvSpPr txBox="1">
              <a:spLocks noChangeArrowheads="1"/>
            </p:cNvSpPr>
            <p:nvPr/>
          </p:nvSpPr>
          <p:spPr bwMode="auto">
            <a:xfrm>
              <a:off x="4045" y="2448"/>
              <a:ext cx="995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Program Outputs</a:t>
              </a:r>
            </a:p>
          </p:txBody>
        </p:sp>
        <p:sp>
          <p:nvSpPr>
            <p:cNvPr id="16397" name="Line 11"/>
            <p:cNvSpPr>
              <a:spLocks noChangeShapeType="1"/>
            </p:cNvSpPr>
            <p:nvPr/>
          </p:nvSpPr>
          <p:spPr bwMode="auto">
            <a:xfrm>
              <a:off x="1824" y="270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8" name="Text Box 12"/>
            <p:cNvSpPr txBox="1">
              <a:spLocks noChangeArrowheads="1"/>
            </p:cNvSpPr>
            <p:nvPr/>
          </p:nvSpPr>
          <p:spPr bwMode="auto">
            <a:xfrm>
              <a:off x="672" y="2496"/>
              <a:ext cx="139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Program Inputs</a:t>
              </a:r>
            </a:p>
          </p:txBody>
        </p:sp>
        <p:sp>
          <p:nvSpPr>
            <p:cNvPr id="16399" name="Rectangle 13"/>
            <p:cNvSpPr>
              <a:spLocks noChangeArrowheads="1"/>
            </p:cNvSpPr>
            <p:nvPr/>
          </p:nvSpPr>
          <p:spPr bwMode="auto">
            <a:xfrm>
              <a:off x="2352" y="2352"/>
              <a:ext cx="1152" cy="72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Virtual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Machine</a:t>
              </a:r>
            </a:p>
          </p:txBody>
        </p:sp>
        <p:sp>
          <p:nvSpPr>
            <p:cNvPr id="16400" name="Line 14"/>
            <p:cNvSpPr>
              <a:spLocks noChangeShapeType="1"/>
            </p:cNvSpPr>
            <p:nvPr/>
          </p:nvSpPr>
          <p:spPr bwMode="auto">
            <a:xfrm flipH="1">
              <a:off x="2928" y="1680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1" name="Text Box 15"/>
            <p:cNvSpPr txBox="1">
              <a:spLocks noChangeArrowheads="1"/>
            </p:cNvSpPr>
            <p:nvPr/>
          </p:nvSpPr>
          <p:spPr bwMode="auto">
            <a:xfrm>
              <a:off x="1584" y="1738"/>
              <a:ext cx="139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>
                  <a:latin typeface="Arial Rounded MT Bold" panose="020F0704030504030204" pitchFamily="34" charset="0"/>
                  <a:ea typeface="宋体" panose="02010600030101010101" pitchFamily="2" charset="-122"/>
                </a:rPr>
                <a:t>Intermediate Program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08A90B-9EC1-4674-9FBE-BF04C00381EB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80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Other Applications (P.3)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In addition to the development of a compiler, the techniques used in compiler design can be applicable to many problems in computer science.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Techniques used in a lexical analyzer can be used in text editors, information retrieval system, and pattern recognition programs.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Techniques used in a parser can be used in a query processing system such as </a:t>
            </a:r>
            <a:r>
              <a:rPr lang="en-US" altLang="zh-CN" sz="2000" b="1" smtClean="0">
                <a:solidFill>
                  <a:srgbClr val="00B0F0"/>
                </a:solidFill>
                <a:ea typeface="宋体" panose="02010600030101010101" pitchFamily="2" charset="-122"/>
              </a:rPr>
              <a:t>SQL</a:t>
            </a:r>
            <a:r>
              <a:rPr lang="en-US" altLang="zh-CN" sz="2000" smtClean="0">
                <a:ea typeface="宋体" panose="02010600030101010101" pitchFamily="2" charset="-122"/>
              </a:rPr>
              <a:t> (</a:t>
            </a:r>
            <a:r>
              <a:rPr lang="en-US" altLang="zh-CN" sz="2000" smtClean="0">
                <a:solidFill>
                  <a:srgbClr val="00B0F0"/>
                </a:solidFill>
                <a:ea typeface="宋体" panose="02010600030101010101" pitchFamily="2" charset="-122"/>
              </a:rPr>
              <a:t>Structured Query Language</a:t>
            </a:r>
            <a:r>
              <a:rPr lang="en-US" altLang="zh-CN" sz="2000" smtClean="0">
                <a:ea typeface="宋体" panose="02010600030101010101" pitchFamily="2" charset="-122"/>
              </a:rPr>
              <a:t>). 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Many software having a complex front-end may need techniques used  in compiler design.</a:t>
            </a:r>
          </a:p>
          <a:p>
            <a:pPr lvl="2"/>
            <a:r>
              <a:rPr lang="en-US" altLang="zh-CN" sz="2000" smtClean="0">
                <a:ea typeface="宋体" panose="02010600030101010101" pitchFamily="2" charset="-122"/>
              </a:rPr>
              <a:t>A symbolic equation solver which takes an equation as input. That program should parse the given input equation.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Most of the techniques used in compiler design  can be used in </a:t>
            </a:r>
            <a:r>
              <a:rPr lang="en-US" altLang="zh-CN" sz="2000" smtClean="0">
                <a:solidFill>
                  <a:srgbClr val="00B0F0"/>
                </a:solidFill>
                <a:ea typeface="宋体" panose="02010600030101010101" pitchFamily="2" charset="-122"/>
              </a:rPr>
              <a:t>Natural Language Processing</a:t>
            </a:r>
            <a:r>
              <a:rPr lang="en-US" altLang="zh-CN" sz="2000" smtClean="0">
                <a:ea typeface="宋体" panose="02010600030101010101" pitchFamily="2" charset="-122"/>
              </a:rPr>
              <a:t> (</a:t>
            </a:r>
            <a:r>
              <a:rPr lang="en-US" altLang="zh-CN" sz="2000" smtClean="0">
                <a:solidFill>
                  <a:srgbClr val="00B0F0"/>
                </a:solidFill>
                <a:ea typeface="宋体" panose="02010600030101010101" pitchFamily="2" charset="-122"/>
              </a:rPr>
              <a:t>NLP</a:t>
            </a:r>
            <a:r>
              <a:rPr lang="en-US" altLang="zh-CN" sz="2000" smtClean="0">
                <a:ea typeface="宋体" panose="02010600030101010101" pitchFamily="2" charset="-122"/>
              </a:rPr>
              <a:t>) systems.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871D94-A933-48CF-BF59-338AA5CA7E9C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8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Compiling system (P.5)</a:t>
            </a:r>
          </a:p>
        </p:txBody>
      </p:sp>
      <p:graphicFrame>
        <p:nvGraphicFramePr>
          <p:cNvPr id="18438" name="Object 7"/>
          <p:cNvGraphicFramePr>
            <a:graphicFrameLocks noChangeAspect="1"/>
          </p:cNvGraphicFramePr>
          <p:nvPr>
            <p:ph idx="1"/>
          </p:nvPr>
        </p:nvGraphicFramePr>
        <p:xfrm>
          <a:off x="2289175" y="1125538"/>
          <a:ext cx="6264275" cy="467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Visio" r:id="rId3" imgW="2150059" imgH="2918765" progId="Visio.Drawing.6">
                  <p:embed/>
                </p:oleObj>
              </mc:Choice>
              <mc:Fallback>
                <p:oleObj name="Visio" r:id="rId3" imgW="2150059" imgH="2918765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1125538"/>
                        <a:ext cx="6264275" cy="467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E95D69-9689-4964-8B3B-D06BFCE9876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8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1.4  cousins of the compiler (P.16)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en-US" altLang="zh-CN" b="1" smtClean="0">
                <a:ea typeface="宋体" panose="02010600030101010101" pitchFamily="2" charset="-122"/>
              </a:rPr>
              <a:t>Preprocessors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delete comments, include other files, perform macro substitutions. 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zh-CN" b="1" smtClean="0">
                <a:ea typeface="宋体" panose="02010600030101010101" pitchFamily="2" charset="-122"/>
              </a:rPr>
              <a:t>Compilers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A language translator.  It executes the source program immediately. Depending on the language in use and the situation 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zh-CN" b="1" smtClean="0">
                <a:ea typeface="宋体" panose="02010600030101010101" pitchFamily="2" charset="-122"/>
              </a:rPr>
              <a:t>Assemblers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A translator translates assembly language into object code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zh-CN" b="1" smtClean="0">
                <a:ea typeface="宋体" panose="02010600030101010101" pitchFamily="2" charset="-122"/>
              </a:rPr>
              <a:t>Linkers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Collects code separately compiled or assembled in different object files into a file.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Connects the code for standard library functions.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Connects resources supplied by the operating system of the computer.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26677B-1A6B-4524-8878-DB55CE5F2CA4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80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smtClean="0">
                <a:ea typeface="宋体" panose="02010600030101010101" pitchFamily="2" charset="-122"/>
              </a:rPr>
              <a:t>Loaders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Relocatable : the code is not completely fixed .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Loaders resolve all relocatable address relative to the starting address.</a:t>
            </a:r>
          </a:p>
          <a:p>
            <a:r>
              <a:rPr lang="en-US" altLang="zh-CN" b="1" smtClean="0">
                <a:ea typeface="宋体" panose="02010600030101010101" pitchFamily="2" charset="-122"/>
              </a:rPr>
              <a:t>Editors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Produce a standard file ( structure based editors)</a:t>
            </a:r>
          </a:p>
          <a:p>
            <a:r>
              <a:rPr lang="en-US" altLang="zh-CN" b="1" smtClean="0">
                <a:ea typeface="宋体" panose="02010600030101010101" pitchFamily="2" charset="-122"/>
              </a:rPr>
              <a:t>Debuggers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  Determine execution errors in a compiled program. </a:t>
            </a:r>
            <a:endParaRPr lang="zh-CN" altLang="en-US" smtClean="0">
              <a:ea typeface="宋体" panose="02010600030101010101" pitchFamily="2" charset="-12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033C80-B78D-4106-9471-55DC8712EC8A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800"/>
          </a:p>
        </p:txBody>
      </p:sp>
      <p:sp>
        <p:nvSpPr>
          <p:cNvPr id="2150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Major Parts of Compilers</a:t>
            </a:r>
          </a:p>
        </p:txBody>
      </p:sp>
      <p:sp>
        <p:nvSpPr>
          <p:cNvPr id="2151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There are two major parts of a compiler: </a:t>
            </a:r>
          </a:p>
          <a:p>
            <a:pPr>
              <a:buFontTx/>
              <a:buNone/>
            </a:pPr>
            <a:r>
              <a:rPr lang="en-US" altLang="zh-CN" sz="2800" b="1" smtClean="0">
                <a:ea typeface="宋体" panose="02010600030101010101" pitchFamily="2" charset="-122"/>
              </a:rPr>
              <a:t>		Analysis</a:t>
            </a:r>
            <a:r>
              <a:rPr lang="en-US" altLang="zh-CN" sz="2800" smtClean="0">
                <a:ea typeface="宋体" panose="02010600030101010101" pitchFamily="2" charset="-122"/>
              </a:rPr>
              <a:t> and </a:t>
            </a:r>
            <a:r>
              <a:rPr lang="en-US" altLang="zh-CN" sz="2800" b="1" smtClean="0">
                <a:ea typeface="宋体" panose="02010600030101010101" pitchFamily="2" charset="-122"/>
              </a:rPr>
              <a:t>Synthesis/Front-end </a:t>
            </a:r>
            <a:r>
              <a:rPr lang="en-US" altLang="zh-CN" sz="2800" smtClean="0">
                <a:ea typeface="宋体" panose="02010600030101010101" pitchFamily="2" charset="-122"/>
              </a:rPr>
              <a:t>and </a:t>
            </a:r>
            <a:r>
              <a:rPr lang="en-US" altLang="zh-CN" sz="2800" b="1" smtClean="0">
                <a:ea typeface="宋体" panose="02010600030101010101" pitchFamily="2" charset="-122"/>
              </a:rPr>
              <a:t>Back-end</a:t>
            </a:r>
          </a:p>
          <a:p>
            <a:pPr>
              <a:buFontTx/>
              <a:buNone/>
            </a:pPr>
            <a:r>
              <a:rPr lang="en-US" altLang="zh-CN" sz="2800" b="1" smtClean="0">
                <a:ea typeface="宋体" panose="02010600030101010101" pitchFamily="2" charset="-122"/>
              </a:rPr>
              <a:t>           </a:t>
            </a:r>
            <a:r>
              <a:rPr lang="en-US" altLang="zh-CN" sz="2800" smtClean="0">
                <a:ea typeface="宋体" panose="02010600030101010101" pitchFamily="2" charset="-122"/>
              </a:rPr>
              <a:t>(</a:t>
            </a:r>
            <a:r>
              <a:rPr lang="zh-CN" altLang="en-US" sz="2800" smtClean="0">
                <a:ea typeface="宋体" panose="02010600030101010101" pitchFamily="2" charset="-122"/>
              </a:rPr>
              <a:t>分析与综合</a:t>
            </a:r>
            <a:r>
              <a:rPr lang="en-US" altLang="zh-CN" sz="2800" smtClean="0">
                <a:ea typeface="宋体" panose="02010600030101010101" pitchFamily="2" charset="-122"/>
              </a:rPr>
              <a:t>/</a:t>
            </a:r>
            <a:r>
              <a:rPr lang="zh-CN" altLang="en-US" sz="2800" smtClean="0">
                <a:ea typeface="宋体" panose="02010600030101010101" pitchFamily="2" charset="-122"/>
              </a:rPr>
              <a:t>前端与后端</a:t>
            </a:r>
            <a:r>
              <a:rPr lang="en-US" altLang="zh-CN" sz="2800" smtClean="0">
                <a:ea typeface="宋体" panose="02010600030101010101" pitchFamily="2" charset="-122"/>
              </a:rPr>
              <a:t>)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In analysis phase, an intermediate representation is created from the given source program. 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Lexical Analyzer, Syntax Analyzer and Semantic Analyzer are the parts of this phase.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In synthesis phase, the equivalent target program is created from this intermediate representation. 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Intermediate Code Generator, Code Generator, and Code Optimizer are the parts of this phase.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2531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2532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B3E40A-DD10-4A5B-9E4B-AE7B59B360FA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80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1.3 The Phases of a Compiler </a:t>
            </a:r>
            <a:r>
              <a:rPr lang="zh-CN" altLang="en-US" smtClean="0">
                <a:ea typeface="宋体" panose="02010600030101010101" pitchFamily="2" charset="-122"/>
              </a:rPr>
              <a:t>（</a:t>
            </a:r>
            <a:r>
              <a:rPr lang="en-US" altLang="zh-CN" smtClean="0">
                <a:ea typeface="宋体" panose="02010600030101010101" pitchFamily="2" charset="-122"/>
              </a:rPr>
              <a:t>pass</a:t>
            </a:r>
            <a:r>
              <a:rPr lang="zh-CN" altLang="en-US" smtClean="0">
                <a:ea typeface="宋体" panose="02010600030101010101" pitchFamily="2" charset="-122"/>
              </a:rPr>
              <a:t>）</a:t>
            </a:r>
            <a:r>
              <a:rPr lang="en-US" altLang="zh-CN" smtClean="0">
                <a:ea typeface="宋体" panose="02010600030101010101" pitchFamily="2" charset="-122"/>
              </a:rPr>
              <a:t>(P.10)</a:t>
            </a:r>
          </a:p>
        </p:txBody>
      </p:sp>
      <p:grpSp>
        <p:nvGrpSpPr>
          <p:cNvPr id="22534" name="Group 19"/>
          <p:cNvGrpSpPr>
            <a:grpSpLocks/>
          </p:cNvGrpSpPr>
          <p:nvPr/>
        </p:nvGrpSpPr>
        <p:grpSpPr bwMode="auto">
          <a:xfrm>
            <a:off x="609600" y="1905000"/>
            <a:ext cx="8904288" cy="593725"/>
            <a:chOff x="384" y="1200"/>
            <a:chExt cx="5609" cy="374"/>
          </a:xfrm>
        </p:grpSpPr>
        <p:sp>
          <p:nvSpPr>
            <p:cNvPr id="22537" name="Text Box 3"/>
            <p:cNvSpPr txBox="1">
              <a:spLocks noChangeArrowheads="1"/>
            </p:cNvSpPr>
            <p:nvPr/>
          </p:nvSpPr>
          <p:spPr bwMode="auto">
            <a:xfrm>
              <a:off x="1056" y="1200"/>
              <a:ext cx="58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Lexical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Analyzer</a:t>
              </a:r>
            </a:p>
          </p:txBody>
        </p:sp>
        <p:sp>
          <p:nvSpPr>
            <p:cNvPr id="22538" name="Text Box 4"/>
            <p:cNvSpPr txBox="1">
              <a:spLocks noChangeArrowheads="1"/>
            </p:cNvSpPr>
            <p:nvPr/>
          </p:nvSpPr>
          <p:spPr bwMode="auto">
            <a:xfrm>
              <a:off x="2256" y="1200"/>
              <a:ext cx="62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Semantic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Analyzer</a:t>
              </a:r>
            </a:p>
          </p:txBody>
        </p:sp>
        <p:sp>
          <p:nvSpPr>
            <p:cNvPr id="22539" name="Text Box 5"/>
            <p:cNvSpPr txBox="1">
              <a:spLocks noChangeArrowheads="1"/>
            </p:cNvSpPr>
            <p:nvPr/>
          </p:nvSpPr>
          <p:spPr bwMode="auto">
            <a:xfrm>
              <a:off x="1680" y="1200"/>
              <a:ext cx="58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Syntax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Analyzer</a:t>
              </a:r>
            </a:p>
          </p:txBody>
        </p:sp>
        <p:sp>
          <p:nvSpPr>
            <p:cNvPr id="22540" name="Text Box 6"/>
            <p:cNvSpPr txBox="1">
              <a:spLocks noChangeArrowheads="1"/>
            </p:cNvSpPr>
            <p:nvPr/>
          </p:nvSpPr>
          <p:spPr bwMode="auto">
            <a:xfrm>
              <a:off x="2928" y="1200"/>
              <a:ext cx="931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Intermediate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Code Generator</a:t>
              </a:r>
            </a:p>
          </p:txBody>
        </p:sp>
        <p:sp>
          <p:nvSpPr>
            <p:cNvPr id="22541" name="Text Box 7"/>
            <p:cNvSpPr txBox="1">
              <a:spLocks noChangeArrowheads="1"/>
            </p:cNvSpPr>
            <p:nvPr/>
          </p:nvSpPr>
          <p:spPr bwMode="auto">
            <a:xfrm>
              <a:off x="3888" y="1200"/>
              <a:ext cx="63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Code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Optimizer</a:t>
              </a:r>
            </a:p>
          </p:txBody>
        </p:sp>
        <p:sp>
          <p:nvSpPr>
            <p:cNvPr id="22542" name="Text Box 8"/>
            <p:cNvSpPr txBox="1">
              <a:spLocks noChangeArrowheads="1"/>
            </p:cNvSpPr>
            <p:nvPr/>
          </p:nvSpPr>
          <p:spPr bwMode="auto">
            <a:xfrm>
              <a:off x="4609" y="1200"/>
              <a:ext cx="719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Code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Generator</a:t>
              </a:r>
            </a:p>
          </p:txBody>
        </p:sp>
        <p:sp>
          <p:nvSpPr>
            <p:cNvPr id="22543" name="Text Box 9"/>
            <p:cNvSpPr txBox="1">
              <a:spLocks noChangeArrowheads="1"/>
            </p:cNvSpPr>
            <p:nvPr/>
          </p:nvSpPr>
          <p:spPr bwMode="auto">
            <a:xfrm>
              <a:off x="5472" y="1216"/>
              <a:ext cx="521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ea typeface="宋体" panose="02010600030101010101" pitchFamily="2" charset="-122"/>
                </a:rPr>
                <a:t>Target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ea typeface="宋体" panose="02010600030101010101" pitchFamily="2" charset="-122"/>
                </a:rPr>
                <a:t>Program</a:t>
              </a:r>
            </a:p>
          </p:txBody>
        </p:sp>
        <p:sp>
          <p:nvSpPr>
            <p:cNvPr id="22544" name="Text Box 10"/>
            <p:cNvSpPr txBox="1">
              <a:spLocks noChangeArrowheads="1"/>
            </p:cNvSpPr>
            <p:nvPr/>
          </p:nvSpPr>
          <p:spPr bwMode="auto">
            <a:xfrm>
              <a:off x="384" y="1248"/>
              <a:ext cx="521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ea typeface="宋体" panose="02010600030101010101" pitchFamily="2" charset="-122"/>
                </a:rPr>
                <a:t>Source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400" i="1">
                  <a:ea typeface="宋体" panose="02010600030101010101" pitchFamily="2" charset="-122"/>
                </a:rPr>
                <a:t>Program</a:t>
              </a:r>
            </a:p>
          </p:txBody>
        </p:sp>
        <p:sp>
          <p:nvSpPr>
            <p:cNvPr id="22545" name="Line 11"/>
            <p:cNvSpPr>
              <a:spLocks noChangeShapeType="1"/>
            </p:cNvSpPr>
            <p:nvPr/>
          </p:nvSpPr>
          <p:spPr bwMode="auto">
            <a:xfrm>
              <a:off x="912" y="139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Line 12"/>
            <p:cNvSpPr>
              <a:spLocks noChangeShapeType="1"/>
            </p:cNvSpPr>
            <p:nvPr/>
          </p:nvSpPr>
          <p:spPr bwMode="auto">
            <a:xfrm>
              <a:off x="1536" y="139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Line 13"/>
            <p:cNvSpPr>
              <a:spLocks noChangeShapeType="1"/>
            </p:cNvSpPr>
            <p:nvPr/>
          </p:nvSpPr>
          <p:spPr bwMode="auto">
            <a:xfrm>
              <a:off x="2208" y="139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14"/>
            <p:cNvSpPr>
              <a:spLocks noChangeShapeType="1"/>
            </p:cNvSpPr>
            <p:nvPr/>
          </p:nvSpPr>
          <p:spPr bwMode="auto">
            <a:xfrm>
              <a:off x="2832" y="13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Line 15"/>
            <p:cNvSpPr>
              <a:spLocks noChangeShapeType="1"/>
            </p:cNvSpPr>
            <p:nvPr/>
          </p:nvSpPr>
          <p:spPr bwMode="auto">
            <a:xfrm>
              <a:off x="3792" y="13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16"/>
            <p:cNvSpPr>
              <a:spLocks noChangeShapeType="1"/>
            </p:cNvSpPr>
            <p:nvPr/>
          </p:nvSpPr>
          <p:spPr bwMode="auto">
            <a:xfrm>
              <a:off x="4464" y="139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17"/>
            <p:cNvSpPr>
              <a:spLocks noChangeShapeType="1"/>
            </p:cNvSpPr>
            <p:nvPr/>
          </p:nvSpPr>
          <p:spPr bwMode="auto">
            <a:xfrm>
              <a:off x="5184" y="13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35" name="Text Box 18"/>
          <p:cNvSpPr txBox="1">
            <a:spLocks noChangeArrowheads="1"/>
          </p:cNvSpPr>
          <p:nvPr/>
        </p:nvSpPr>
        <p:spPr bwMode="auto">
          <a:xfrm>
            <a:off x="344488" y="3068638"/>
            <a:ext cx="9001125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 sz="2800">
                <a:ea typeface="宋体" panose="02010600030101010101" pitchFamily="2" charset="-122"/>
              </a:rPr>
              <a:t>Each phase transforms the source program from one representation into another representation.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8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800">
                <a:ea typeface="宋体" panose="02010600030101010101" pitchFamily="2" charset="-122"/>
              </a:rPr>
              <a:t> They communicate with the </a:t>
            </a:r>
            <a:r>
              <a:rPr lang="en-US" altLang="zh-CN" sz="2800" b="1">
                <a:solidFill>
                  <a:schemeClr val="accent2"/>
                </a:solidFill>
                <a:ea typeface="宋体" panose="02010600030101010101" pitchFamily="2" charset="-122"/>
              </a:rPr>
              <a:t>symbol table</a:t>
            </a:r>
            <a:r>
              <a:rPr lang="zh-CN" altLang="en-US" sz="2800">
                <a:ea typeface="宋体" panose="02010600030101010101" pitchFamily="2" charset="-122"/>
              </a:rPr>
              <a:t>（符号表）</a:t>
            </a:r>
            <a:r>
              <a:rPr lang="en-US" altLang="zh-CN" sz="2800">
                <a:ea typeface="宋体" panose="02010600030101010101" pitchFamily="2" charset="-122"/>
              </a:rPr>
              <a:t>.</a:t>
            </a:r>
          </a:p>
          <a:p>
            <a:pPr>
              <a:spcBef>
                <a:spcPct val="0"/>
              </a:spcBef>
            </a:pPr>
            <a:endParaRPr lang="en-US" altLang="zh-CN" sz="28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2800">
                <a:ea typeface="宋体" panose="02010600030101010101" pitchFamily="2" charset="-122"/>
              </a:rPr>
              <a:t> They communicate with </a:t>
            </a:r>
            <a:r>
              <a:rPr lang="en-US" altLang="zh-CN" sz="2800" b="1">
                <a:solidFill>
                  <a:schemeClr val="accent2"/>
                </a:solidFill>
                <a:ea typeface="宋体" panose="02010600030101010101" pitchFamily="2" charset="-122"/>
              </a:rPr>
              <a:t>error handlers</a:t>
            </a:r>
            <a:r>
              <a:rPr lang="en-US" altLang="zh-CN" sz="2800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22536" name="Line 20"/>
          <p:cNvSpPr>
            <a:spLocks noChangeShapeType="1"/>
          </p:cNvSpPr>
          <p:nvPr/>
        </p:nvSpPr>
        <p:spPr bwMode="auto">
          <a:xfrm>
            <a:off x="4592638" y="1844675"/>
            <a:ext cx="0" cy="792163"/>
          </a:xfrm>
          <a:prstGeom prst="line">
            <a:avLst/>
          </a:prstGeom>
          <a:noFill/>
          <a:ln w="28575">
            <a:solidFill>
              <a:srgbClr val="FF00FF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A814F7-F4E7-4560-84ED-9243A6D72E35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800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                                                                        </a:t>
            </a:r>
            <a:r>
              <a:rPr lang="en-US" altLang="zh-CN" smtClean="0">
                <a:ea typeface="宋体" panose="02010600030101010101" pitchFamily="2" charset="-122"/>
              </a:rPr>
              <a:t>(P.10)</a:t>
            </a:r>
          </a:p>
        </p:txBody>
      </p:sp>
      <p:graphicFrame>
        <p:nvGraphicFramePr>
          <p:cNvPr id="23558" name="Object 11"/>
          <p:cNvGraphicFramePr>
            <a:graphicFrameLocks noChangeAspect="1"/>
          </p:cNvGraphicFramePr>
          <p:nvPr>
            <p:ph idx="1"/>
          </p:nvPr>
        </p:nvGraphicFramePr>
        <p:xfrm>
          <a:off x="1584325" y="711200"/>
          <a:ext cx="6838950" cy="538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Visio" r:id="rId3" imgW="3763061" imgH="2868778" progId="Visio.Drawing.6">
                  <p:embed/>
                </p:oleObj>
              </mc:Choice>
              <mc:Fallback>
                <p:oleObj name="Visio" r:id="rId3" imgW="3763061" imgH="2868778" progId="Visio.Drawing.6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711200"/>
                        <a:ext cx="6838950" cy="538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DFAEB8-D887-40CE-978D-347E92F1E7F2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80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Lexical Analyzer  (P.5)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96975"/>
            <a:ext cx="9372600" cy="52562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b="1" smtClean="0">
                <a:ea typeface="宋体" panose="02010600030101010101" pitchFamily="2" charset="-122"/>
              </a:rPr>
              <a:t>Lexical Analyzer</a:t>
            </a:r>
            <a:r>
              <a:rPr lang="zh-CN" altLang="en-US" sz="2800" smtClean="0">
                <a:ea typeface="宋体" panose="02010600030101010101" pitchFamily="2" charset="-122"/>
              </a:rPr>
              <a:t>（词法分析器） </a:t>
            </a:r>
            <a:r>
              <a:rPr lang="en-US" altLang="zh-CN" sz="2800" smtClean="0">
                <a:ea typeface="宋体" panose="02010600030101010101" pitchFamily="2" charset="-122"/>
              </a:rPr>
              <a:t>reads the source program character by character and returns the </a:t>
            </a:r>
            <a:r>
              <a:rPr lang="en-US" altLang="zh-CN" sz="2800" i="1" smtClean="0">
                <a:ea typeface="宋体" panose="02010600030101010101" pitchFamily="2" charset="-122"/>
              </a:rPr>
              <a:t>tokens</a:t>
            </a:r>
            <a:r>
              <a:rPr lang="en-US" altLang="zh-CN" sz="2800" smtClean="0">
                <a:ea typeface="宋体" panose="02010600030101010101" pitchFamily="2" charset="-122"/>
              </a:rPr>
              <a:t> of the source program.</a:t>
            </a:r>
          </a:p>
          <a:p>
            <a:pPr>
              <a:lnSpc>
                <a:spcPct val="9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A </a:t>
            </a:r>
            <a:r>
              <a:rPr lang="en-US" altLang="zh-CN" sz="2800" b="1" smtClean="0">
                <a:solidFill>
                  <a:srgbClr val="FF00FF"/>
                </a:solidFill>
                <a:ea typeface="宋体" panose="02010600030101010101" pitchFamily="2" charset="-122"/>
              </a:rPr>
              <a:t>token</a:t>
            </a:r>
            <a:r>
              <a:rPr lang="en-US" altLang="zh-CN" sz="2800" b="1" smtClean="0">
                <a:ea typeface="宋体" panose="02010600030101010101" pitchFamily="2" charset="-122"/>
              </a:rPr>
              <a:t> </a:t>
            </a:r>
            <a:r>
              <a:rPr lang="zh-CN" altLang="en-US" sz="2800" smtClean="0">
                <a:ea typeface="宋体" panose="02010600030101010101" pitchFamily="2" charset="-122"/>
              </a:rPr>
              <a:t>（单词）</a:t>
            </a:r>
            <a:r>
              <a:rPr lang="en-US" altLang="zh-CN" sz="2800" smtClean="0">
                <a:ea typeface="宋体" panose="02010600030101010101" pitchFamily="2" charset="-122"/>
              </a:rPr>
              <a:t>describes a pattern of characters having some meaning in the source program. (such as identifiers, operators, keywords, numbers, delimeters and so on)</a:t>
            </a:r>
          </a:p>
          <a:p>
            <a:pPr>
              <a:lnSpc>
                <a:spcPct val="90000"/>
              </a:lnSpc>
            </a:pPr>
            <a:endParaRPr lang="en-US" altLang="zh-CN" sz="2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	Ex:</a:t>
            </a:r>
            <a:r>
              <a:rPr lang="en-US" altLang="zh-CN" sz="2000" smtClean="0">
                <a:ea typeface="宋体" panose="02010600030101010101" pitchFamily="2" charset="-122"/>
              </a:rPr>
              <a:t> </a:t>
            </a:r>
            <a:r>
              <a:rPr lang="en-US" altLang="zh-CN" sz="1600" smtClean="0">
                <a:ea typeface="宋体" panose="02010600030101010101" pitchFamily="2" charset="-122"/>
              </a:rPr>
              <a:t>   </a:t>
            </a:r>
            <a:r>
              <a:rPr lang="en-US" altLang="zh-CN" smtClean="0">
                <a:ea typeface="宋体" panose="02010600030101010101" pitchFamily="2" charset="-122"/>
              </a:rPr>
              <a:t>newval := oldval + 12  =&gt;   tokens:  newval  identifier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					:= 	assignment operator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					oldval	identifier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					+	add operator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					12	a number</a:t>
            </a:r>
            <a:endParaRPr lang="en-US" altLang="zh-CN" sz="12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92C60F-1A48-4C2E-BC79-8B62878DB45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80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Lexical Analyzer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Puts information about identifiers into the symbol table.</a:t>
            </a:r>
          </a:p>
          <a:p>
            <a:r>
              <a:rPr lang="en-US" altLang="zh-CN" sz="2800" b="1" smtClean="0">
                <a:solidFill>
                  <a:srgbClr val="FF00FF"/>
                </a:solidFill>
                <a:ea typeface="宋体" panose="02010600030101010101" pitchFamily="2" charset="-122"/>
              </a:rPr>
              <a:t>Regular expressions</a:t>
            </a:r>
            <a:r>
              <a:rPr lang="en-US" altLang="zh-CN" sz="2800" smtClean="0">
                <a:ea typeface="宋体" panose="02010600030101010101" pitchFamily="2" charset="-122"/>
              </a:rPr>
              <a:t> </a:t>
            </a:r>
            <a:r>
              <a:rPr lang="zh-CN" altLang="en-US" sz="2800" smtClean="0">
                <a:ea typeface="宋体" panose="02010600030101010101" pitchFamily="2" charset="-122"/>
              </a:rPr>
              <a:t>（正规</a:t>
            </a:r>
            <a:r>
              <a:rPr lang="en-US" altLang="zh-CN" sz="2800" smtClean="0">
                <a:ea typeface="宋体" panose="02010600030101010101" pitchFamily="2" charset="-122"/>
              </a:rPr>
              <a:t>/</a:t>
            </a:r>
            <a:r>
              <a:rPr lang="zh-CN" altLang="en-US" sz="2800" smtClean="0">
                <a:ea typeface="宋体" panose="02010600030101010101" pitchFamily="2" charset="-122"/>
              </a:rPr>
              <a:t>正则表达式）</a:t>
            </a:r>
            <a:r>
              <a:rPr lang="en-US" altLang="zh-CN" sz="2800" smtClean="0">
                <a:ea typeface="宋体" panose="02010600030101010101" pitchFamily="2" charset="-122"/>
              </a:rPr>
              <a:t>are used to describe tokens (lexical constructs).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A (Deterministic) </a:t>
            </a:r>
            <a:r>
              <a:rPr lang="en-US" altLang="zh-CN" sz="2800" b="1" smtClean="0">
                <a:solidFill>
                  <a:srgbClr val="FF00FF"/>
                </a:solidFill>
                <a:ea typeface="宋体" panose="02010600030101010101" pitchFamily="2" charset="-122"/>
              </a:rPr>
              <a:t>Finite State Automaton</a:t>
            </a:r>
            <a:r>
              <a:rPr lang="en-US" altLang="zh-CN" sz="2800" smtClean="0">
                <a:ea typeface="宋体" panose="02010600030101010101" pitchFamily="2" charset="-122"/>
              </a:rPr>
              <a:t> </a:t>
            </a:r>
            <a:r>
              <a:rPr lang="zh-CN" altLang="en-US" sz="2800" smtClean="0">
                <a:ea typeface="宋体" panose="02010600030101010101" pitchFamily="2" charset="-122"/>
              </a:rPr>
              <a:t>（有限状态自动机）</a:t>
            </a:r>
            <a:r>
              <a:rPr lang="en-US" altLang="zh-CN" sz="2800" smtClean="0">
                <a:ea typeface="宋体" panose="02010600030101010101" pitchFamily="2" charset="-122"/>
              </a:rPr>
              <a:t>can be used in the implementation of a lexical analyzer.</a:t>
            </a:r>
          </a:p>
          <a:p>
            <a:endParaRPr lang="zh-CN" altLang="en-US" sz="2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7D6237-86DE-42F0-AD15-16BE4E75654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80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Syntax Analyzer  (P.6)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2339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b="1" smtClean="0">
                <a:ea typeface="宋体" panose="02010600030101010101" pitchFamily="2" charset="-122"/>
              </a:rPr>
              <a:t>Syntax Analyzer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zh-CN" altLang="en-US" smtClean="0">
                <a:ea typeface="宋体" panose="02010600030101010101" pitchFamily="2" charset="-122"/>
              </a:rPr>
              <a:t>（语法分析器）</a:t>
            </a:r>
            <a:r>
              <a:rPr lang="en-US" altLang="zh-CN" smtClean="0">
                <a:ea typeface="宋体" panose="02010600030101010101" pitchFamily="2" charset="-122"/>
              </a:rPr>
              <a:t>creates the syntactic structure (generally a parse tree) of the given program.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 syntax analyzer is also called as a </a:t>
            </a:r>
            <a:r>
              <a:rPr lang="en-US" altLang="zh-CN" b="1" smtClean="0">
                <a:ea typeface="宋体" panose="02010600030101010101" pitchFamily="2" charset="-122"/>
              </a:rPr>
              <a:t>parser </a:t>
            </a:r>
            <a:r>
              <a:rPr lang="zh-CN" altLang="en-US" smtClean="0">
                <a:ea typeface="宋体" panose="02010600030101010101" pitchFamily="2" charset="-122"/>
              </a:rPr>
              <a:t>（语法分析器）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b="1" smtClean="0">
                <a:solidFill>
                  <a:srgbClr val="FF00FF"/>
                </a:solidFill>
                <a:ea typeface="宋体" panose="02010600030101010101" pitchFamily="2" charset="-122"/>
              </a:rPr>
              <a:t>parse tree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zh-CN" altLang="en-US" smtClean="0">
                <a:ea typeface="宋体" panose="02010600030101010101" pitchFamily="2" charset="-122"/>
              </a:rPr>
              <a:t>（语法树）</a:t>
            </a:r>
            <a:r>
              <a:rPr lang="en-US" altLang="zh-CN" smtClean="0">
                <a:ea typeface="宋体" panose="02010600030101010101" pitchFamily="2" charset="-122"/>
              </a:rPr>
              <a:t>describes a syntactic structure.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        </a:t>
            </a:r>
            <a:r>
              <a:rPr lang="en-US" altLang="zh-CN" sz="2000" smtClean="0">
                <a:ea typeface="宋体" panose="02010600030101010101" pitchFamily="2" charset="-122"/>
              </a:rPr>
              <a:t>Ex:      newval := oldval + 12</a:t>
            </a:r>
            <a:r>
              <a:rPr lang="en-US" altLang="zh-CN" sz="1800" smtClean="0">
                <a:ea typeface="宋体" panose="02010600030101010101" pitchFamily="2" charset="-122"/>
              </a:rPr>
              <a:t> 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			assgstmt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		identifier     := 	expression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		newval      expression     +     expression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			      identifier            number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8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			       oldval                      12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</a:rPr>
              <a:t>				</a:t>
            </a:r>
          </a:p>
        </p:txBody>
      </p:sp>
      <p:sp>
        <p:nvSpPr>
          <p:cNvPr id="26631" name="Line 4"/>
          <p:cNvSpPr>
            <a:spLocks noChangeShapeType="1"/>
          </p:cNvSpPr>
          <p:nvPr/>
        </p:nvSpPr>
        <p:spPr bwMode="auto">
          <a:xfrm flipH="1">
            <a:off x="1712913" y="3408363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2" name="Line 5"/>
          <p:cNvSpPr>
            <a:spLocks noChangeShapeType="1"/>
          </p:cNvSpPr>
          <p:nvPr/>
        </p:nvSpPr>
        <p:spPr bwMode="auto">
          <a:xfrm>
            <a:off x="2576513" y="34083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3" name="Line 6"/>
          <p:cNvSpPr>
            <a:spLocks noChangeShapeType="1"/>
          </p:cNvSpPr>
          <p:nvPr/>
        </p:nvSpPr>
        <p:spPr bwMode="auto">
          <a:xfrm>
            <a:off x="2576513" y="3408363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4" name="Line 7"/>
          <p:cNvSpPr>
            <a:spLocks noChangeShapeType="1"/>
          </p:cNvSpPr>
          <p:nvPr/>
        </p:nvSpPr>
        <p:spPr bwMode="auto">
          <a:xfrm>
            <a:off x="1641475" y="40052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5" name="Line 8"/>
          <p:cNvSpPr>
            <a:spLocks noChangeShapeType="1"/>
          </p:cNvSpPr>
          <p:nvPr/>
        </p:nvSpPr>
        <p:spPr bwMode="auto">
          <a:xfrm flipH="1">
            <a:off x="2936875" y="4005263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6" name="Line 9"/>
          <p:cNvSpPr>
            <a:spLocks noChangeShapeType="1"/>
          </p:cNvSpPr>
          <p:nvPr/>
        </p:nvSpPr>
        <p:spPr bwMode="auto">
          <a:xfrm>
            <a:off x="3584575" y="4005263"/>
            <a:ext cx="1444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7" name="Line 10"/>
          <p:cNvSpPr>
            <a:spLocks noChangeShapeType="1"/>
          </p:cNvSpPr>
          <p:nvPr/>
        </p:nvSpPr>
        <p:spPr bwMode="auto">
          <a:xfrm>
            <a:off x="3584575" y="4005263"/>
            <a:ext cx="1066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8" name="Line 11"/>
          <p:cNvSpPr>
            <a:spLocks noChangeShapeType="1"/>
          </p:cNvSpPr>
          <p:nvPr/>
        </p:nvSpPr>
        <p:spPr bwMode="auto">
          <a:xfrm>
            <a:off x="2936875" y="4652963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9" name="Line 12"/>
          <p:cNvSpPr>
            <a:spLocks noChangeShapeType="1"/>
          </p:cNvSpPr>
          <p:nvPr/>
        </p:nvSpPr>
        <p:spPr bwMode="auto">
          <a:xfrm>
            <a:off x="2936875" y="515778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0" name="Line 13"/>
          <p:cNvSpPr>
            <a:spLocks noChangeShapeType="1"/>
          </p:cNvSpPr>
          <p:nvPr/>
        </p:nvSpPr>
        <p:spPr bwMode="auto">
          <a:xfrm>
            <a:off x="4737100" y="45815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1" name="Line 14"/>
          <p:cNvSpPr>
            <a:spLocks noChangeShapeType="1"/>
          </p:cNvSpPr>
          <p:nvPr/>
        </p:nvSpPr>
        <p:spPr bwMode="auto">
          <a:xfrm>
            <a:off x="4737100" y="515778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2" name="Text Box 15"/>
          <p:cNvSpPr txBox="1">
            <a:spLocks noChangeArrowheads="1"/>
          </p:cNvSpPr>
          <p:nvPr/>
        </p:nvSpPr>
        <p:spPr bwMode="auto">
          <a:xfrm>
            <a:off x="5745163" y="3500438"/>
            <a:ext cx="3960812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>
                <a:ea typeface="宋体" panose="02010600030101010101" pitchFamily="2" charset="-122"/>
              </a:rPr>
              <a:t>  </a:t>
            </a:r>
            <a:r>
              <a:rPr lang="en-US" altLang="zh-CN">
                <a:ea typeface="宋体" panose="02010600030101010101" pitchFamily="2" charset="-122"/>
              </a:rPr>
              <a:t>In a parse tree, all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terminals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（终结符）</a:t>
            </a:r>
            <a:r>
              <a:rPr lang="en-US" altLang="zh-CN">
                <a:ea typeface="宋体" panose="02010600030101010101" pitchFamily="2" charset="-122"/>
              </a:rPr>
              <a:t>are at leaves.</a:t>
            </a:r>
          </a:p>
          <a:p>
            <a:pPr>
              <a:spcBef>
                <a:spcPct val="0"/>
              </a:spcBef>
            </a:pPr>
            <a:r>
              <a:rPr lang="en-US" altLang="zh-CN">
                <a:ea typeface="宋体" panose="02010600030101010101" pitchFamily="2" charset="-122"/>
              </a:rPr>
              <a:t>  All inner nodes are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non-terminals</a:t>
            </a:r>
            <a:r>
              <a:rPr lang="en-US" altLang="zh-CN">
                <a:ea typeface="宋体" panose="02010600030101010101" pitchFamily="2" charset="-122"/>
              </a:rPr>
              <a:t> in  a context free grammar. </a:t>
            </a:r>
          </a:p>
        </p:txBody>
      </p:sp>
      <p:sp>
        <p:nvSpPr>
          <p:cNvPr id="26643" name="Rectangle 16"/>
          <p:cNvSpPr>
            <a:spLocks noChangeArrowheads="1"/>
          </p:cNvSpPr>
          <p:nvPr/>
        </p:nvSpPr>
        <p:spPr bwMode="auto">
          <a:xfrm>
            <a:off x="488950" y="5949950"/>
            <a:ext cx="67691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Fig.1.4 parse tree for newval := oldval + 12</a:t>
            </a:r>
            <a:r>
              <a:rPr lang="en-US" altLang="zh-CN" sz="4000" b="1">
                <a:solidFill>
                  <a:schemeClr val="tx2"/>
                </a:solidFill>
                <a:ea typeface="宋体" panose="02010600030101010101" pitchFamily="2" charset="-122"/>
              </a:rPr>
              <a:t>  </a:t>
            </a: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181237-377D-438C-B86B-478B649C3E7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80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Syntax Analyzer (cont.)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23398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The syntax of a language is specified by a </a:t>
            </a:r>
            <a:r>
              <a:rPr lang="en-US" altLang="zh-CN" sz="2800" b="1" smtClean="0">
                <a:solidFill>
                  <a:srgbClr val="FF00FF"/>
                </a:solidFill>
                <a:ea typeface="宋体" panose="02010600030101010101" pitchFamily="2" charset="-122"/>
              </a:rPr>
              <a:t>context free grammar</a:t>
            </a:r>
            <a:r>
              <a:rPr lang="en-US" altLang="zh-CN" sz="2800" smtClean="0">
                <a:ea typeface="宋体" panose="02010600030101010101" pitchFamily="2" charset="-122"/>
              </a:rPr>
              <a:t> (</a:t>
            </a:r>
            <a:r>
              <a:rPr lang="en-US" altLang="zh-CN" sz="2800" b="1" smtClean="0">
                <a:solidFill>
                  <a:srgbClr val="FF00FF"/>
                </a:solidFill>
                <a:ea typeface="宋体" panose="02010600030101010101" pitchFamily="2" charset="-122"/>
              </a:rPr>
              <a:t>CFG</a:t>
            </a:r>
            <a:r>
              <a:rPr lang="en-US" altLang="zh-CN" sz="2800" smtClean="0">
                <a:ea typeface="宋体" panose="02010600030101010101" pitchFamily="2" charset="-122"/>
              </a:rPr>
              <a:t>)</a:t>
            </a:r>
            <a:r>
              <a:rPr lang="zh-CN" altLang="en-US" sz="2800" smtClean="0">
                <a:ea typeface="宋体" panose="02010600030101010101" pitchFamily="2" charset="-122"/>
              </a:rPr>
              <a:t>（上下文无关文法）</a:t>
            </a:r>
            <a:r>
              <a:rPr lang="en-US" altLang="zh-CN" sz="2800" smtClean="0">
                <a:ea typeface="宋体" panose="02010600030101010101" pitchFamily="2" charset="-122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The rules in a CFG are mostly </a:t>
            </a:r>
            <a:r>
              <a:rPr lang="en-US" altLang="zh-CN" sz="2800" smtClean="0">
                <a:solidFill>
                  <a:srgbClr val="FF00FF"/>
                </a:solidFill>
                <a:ea typeface="宋体" panose="02010600030101010101" pitchFamily="2" charset="-122"/>
              </a:rPr>
              <a:t>recursive</a:t>
            </a:r>
            <a:r>
              <a:rPr lang="en-US" altLang="zh-CN" sz="2800" smtClean="0">
                <a:ea typeface="宋体" panose="02010600030101010101" pitchFamily="2" charset="-122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A syntax analyzer checks whether a given program satisfies the rules implied by a CFG or not.</a:t>
            </a:r>
          </a:p>
          <a:p>
            <a:pPr lvl="1">
              <a:lnSpc>
                <a:spcPct val="8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If it satisfies, the syntax analyzer creates a parse tree for the given program.</a:t>
            </a:r>
          </a:p>
          <a:p>
            <a:pPr>
              <a:lnSpc>
                <a:spcPct val="80000"/>
              </a:lnSpc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Ex: We use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BNF</a:t>
            </a:r>
            <a:r>
              <a:rPr lang="en-US" altLang="zh-CN" smtClean="0">
                <a:ea typeface="宋体" panose="02010600030101010101" pitchFamily="2" charset="-122"/>
              </a:rPr>
              <a:t> (</a:t>
            </a:r>
            <a:r>
              <a:rPr lang="en-US" altLang="zh-CN" smtClean="0">
                <a:solidFill>
                  <a:srgbClr val="00B0F0"/>
                </a:solidFill>
                <a:ea typeface="宋体" panose="02010600030101010101" pitchFamily="2" charset="-122"/>
              </a:rPr>
              <a:t>Backus-Naur Form</a:t>
            </a:r>
            <a:r>
              <a:rPr lang="zh-CN" altLang="en-US" smtClean="0">
                <a:ea typeface="宋体" panose="02010600030101010101" pitchFamily="2" charset="-122"/>
              </a:rPr>
              <a:t>巴科斯</a:t>
            </a:r>
            <a:r>
              <a:rPr lang="en-US" altLang="zh-CN" smtClean="0">
                <a:ea typeface="宋体" panose="02010600030101010101" pitchFamily="2" charset="-122"/>
              </a:rPr>
              <a:t>-</a:t>
            </a:r>
            <a:r>
              <a:rPr lang="zh-CN" altLang="en-US" smtClean="0">
                <a:ea typeface="宋体" panose="02010600030101010101" pitchFamily="2" charset="-122"/>
              </a:rPr>
              <a:t>诺尔范式</a:t>
            </a:r>
            <a:r>
              <a:rPr lang="en-US" altLang="zh-CN" smtClean="0">
                <a:ea typeface="宋体" panose="02010600030101010101" pitchFamily="2" charset="-122"/>
              </a:rPr>
              <a:t>) to specify a CFG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assgstmt     -&gt;  identifier  := expression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expression  -&gt;  identifier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expression  -&gt;  number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expression  -&gt;  expression  +  expression</a:t>
            </a:r>
          </a:p>
        </p:txBody>
      </p:sp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5333E1-4DB5-4776-8B22-17907E833C1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80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Syntax Analyzer vs. Lexical Analyzer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3200" smtClean="0">
                <a:ea typeface="宋体" panose="02010600030101010101" pitchFamily="2" charset="-122"/>
              </a:rPr>
              <a:t>Which constructs of a program should be recognized by the lexical analyzer, and which ones by the syntax analyzer?</a:t>
            </a: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Both of them do similar things; But the lexical analyzer deals with simple </a:t>
            </a:r>
            <a:r>
              <a:rPr lang="en-US" altLang="zh-CN" sz="2400" b="1" smtClean="0">
                <a:solidFill>
                  <a:srgbClr val="FF6699"/>
                </a:solidFill>
                <a:ea typeface="宋体" panose="02010600030101010101" pitchFamily="2" charset="-122"/>
              </a:rPr>
              <a:t>non-recursive</a:t>
            </a:r>
            <a:r>
              <a:rPr lang="en-US" altLang="zh-CN" sz="2400" smtClean="0">
                <a:solidFill>
                  <a:srgbClr val="FF6699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smtClean="0">
                <a:ea typeface="宋体" panose="02010600030101010101" pitchFamily="2" charset="-122"/>
              </a:rPr>
              <a:t>constructs of the language.</a:t>
            </a: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The syntax analyzer deals with</a:t>
            </a:r>
            <a:r>
              <a:rPr lang="en-US" altLang="zh-CN" sz="2400" b="1" smtClean="0">
                <a:ea typeface="宋体" panose="02010600030101010101" pitchFamily="2" charset="-122"/>
              </a:rPr>
              <a:t> </a:t>
            </a:r>
            <a:r>
              <a:rPr lang="en-US" altLang="zh-CN" sz="2400" b="1" smtClean="0">
                <a:solidFill>
                  <a:srgbClr val="FF6699"/>
                </a:solidFill>
                <a:ea typeface="宋体" panose="02010600030101010101" pitchFamily="2" charset="-122"/>
              </a:rPr>
              <a:t>recursive</a:t>
            </a:r>
            <a:r>
              <a:rPr lang="en-US" altLang="zh-CN" sz="2400" smtClean="0">
                <a:ea typeface="宋体" panose="02010600030101010101" pitchFamily="2" charset="-122"/>
              </a:rPr>
              <a:t> constructs of the language.</a:t>
            </a: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The lexical analyzer simplifies the job of the syntax analyzer.</a:t>
            </a:r>
          </a:p>
          <a:p>
            <a:pPr lvl="1">
              <a:lnSpc>
                <a:spcPct val="90000"/>
              </a:lnSpc>
            </a:pP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The lexical analyzer recognizes the smallest meaningful units (</a:t>
            </a:r>
            <a:r>
              <a:rPr lang="en-US" altLang="zh-CN" sz="2400" b="1" smtClean="0">
                <a:solidFill>
                  <a:srgbClr val="FF6699"/>
                </a:solidFill>
                <a:ea typeface="宋体" panose="02010600030101010101" pitchFamily="2" charset="-122"/>
              </a:rPr>
              <a:t>tokens</a:t>
            </a:r>
            <a:r>
              <a:rPr lang="en-US" altLang="zh-CN" sz="2400" smtClean="0">
                <a:ea typeface="宋体" panose="02010600030101010101" pitchFamily="2" charset="-122"/>
              </a:rPr>
              <a:t>) in a source program.</a:t>
            </a: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The syntax analyzer works on the smallest meaningful units (tokens) in a source program to recognize meaningful structures (</a:t>
            </a:r>
            <a:r>
              <a:rPr lang="en-US" altLang="zh-CN" sz="2400" b="1" smtClean="0">
                <a:solidFill>
                  <a:srgbClr val="FF6699"/>
                </a:solidFill>
                <a:ea typeface="宋体" panose="02010600030101010101" pitchFamily="2" charset="-122"/>
              </a:rPr>
              <a:t>sentences</a:t>
            </a:r>
            <a:r>
              <a:rPr lang="en-US" altLang="zh-CN" sz="2400" smtClean="0">
                <a:ea typeface="宋体" panose="02010600030101010101" pitchFamily="2" charset="-122"/>
              </a:rPr>
              <a:t>) in our programming language.</a:t>
            </a:r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96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29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B08E11-3DF8-4069-BC92-EA70FA5CFCF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80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Parsing Techniques 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r>
              <a:rPr lang="en-US" altLang="zh-CN" sz="3200" smtClean="0">
                <a:ea typeface="宋体" panose="02010600030101010101" pitchFamily="2" charset="-122"/>
              </a:rPr>
              <a:t>Depending on how the parse tree is created, there are different parsing techniques.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These parsing techniques are categorized into two groups: </a:t>
            </a:r>
          </a:p>
          <a:p>
            <a:pPr lvl="1"/>
            <a:r>
              <a:rPr lang="en-US" altLang="zh-CN" sz="2800" b="1" i="1" smtClean="0">
                <a:solidFill>
                  <a:srgbClr val="FF6699"/>
                </a:solidFill>
                <a:ea typeface="宋体" panose="02010600030101010101" pitchFamily="2" charset="-122"/>
              </a:rPr>
              <a:t>Top-Down Parsing</a:t>
            </a:r>
            <a:r>
              <a:rPr lang="en-US" altLang="zh-CN" sz="2800" i="1" smtClean="0">
                <a:ea typeface="宋体" panose="02010600030101010101" pitchFamily="2" charset="-122"/>
              </a:rPr>
              <a:t>  </a:t>
            </a:r>
            <a:r>
              <a:rPr lang="zh-CN" altLang="en-US" sz="2800" smtClean="0">
                <a:ea typeface="宋体" panose="02010600030101010101" pitchFamily="2" charset="-122"/>
              </a:rPr>
              <a:t>（自顶向下语法分析）</a:t>
            </a:r>
          </a:p>
          <a:p>
            <a:pPr lvl="1"/>
            <a:r>
              <a:rPr lang="en-US" altLang="zh-CN" sz="2800" b="1" i="1" smtClean="0">
                <a:solidFill>
                  <a:srgbClr val="FF6699"/>
                </a:solidFill>
                <a:ea typeface="宋体" panose="02010600030101010101" pitchFamily="2" charset="-122"/>
              </a:rPr>
              <a:t>Bottom-Up Parsing</a:t>
            </a:r>
            <a:r>
              <a:rPr lang="en-US" altLang="zh-CN" sz="2800" i="1" smtClean="0">
                <a:ea typeface="宋体" panose="02010600030101010101" pitchFamily="2" charset="-122"/>
              </a:rPr>
              <a:t> </a:t>
            </a:r>
            <a:r>
              <a:rPr lang="zh-CN" altLang="en-US" sz="2800" smtClean="0">
                <a:ea typeface="宋体" panose="02010600030101010101" pitchFamily="2" charset="-122"/>
              </a:rPr>
              <a:t>（自底向上语法分析）</a:t>
            </a:r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60BBAD-D8E9-4619-9823-F7F0CAD314B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80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Parsing Techniques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3200" b="1" smtClean="0">
                <a:ea typeface="宋体" panose="02010600030101010101" pitchFamily="2" charset="-122"/>
              </a:rPr>
              <a:t>Top-Down Parsing: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</a:rPr>
              <a:t>Construction of the parse tree starts at the root, and proceeds towards the leaves.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</a:rPr>
              <a:t>Efficient top-down parsers can be easily constructed by hand.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</a:rPr>
              <a:t>Recursive Predictive Parsing</a:t>
            </a:r>
            <a:r>
              <a:rPr lang="zh-CN" altLang="en-US" sz="2800" smtClean="0">
                <a:ea typeface="宋体" panose="02010600030101010101" pitchFamily="2" charset="-122"/>
              </a:rPr>
              <a:t>（递归预测）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800" smtClean="0">
                <a:ea typeface="宋体" panose="02010600030101010101" pitchFamily="2" charset="-122"/>
              </a:rPr>
              <a:t>Non-Recursive Predictive Parsing (</a:t>
            </a:r>
            <a:r>
              <a:rPr lang="en-US" altLang="zh-CN" sz="2800" b="1" smtClean="0">
                <a:solidFill>
                  <a:srgbClr val="FF00FF"/>
                </a:solidFill>
                <a:ea typeface="宋体" panose="02010600030101010101" pitchFamily="2" charset="-122"/>
              </a:rPr>
              <a:t>LL Parsing</a:t>
            </a:r>
            <a:r>
              <a:rPr lang="en-US" altLang="zh-CN" sz="2800" smtClean="0">
                <a:ea typeface="宋体" panose="02010600030101010101" pitchFamily="2" charset="-122"/>
              </a:rPr>
              <a:t>). </a:t>
            </a:r>
          </a:p>
          <a:p>
            <a:pPr lvl="1">
              <a:buFontTx/>
              <a:buNone/>
            </a:pPr>
            <a:r>
              <a:rPr lang="zh-CN" altLang="en-US" sz="2800" smtClean="0">
                <a:ea typeface="宋体" panose="02010600030101010101" pitchFamily="2" charset="-122"/>
              </a:rPr>
              <a:t> （</a:t>
            </a:r>
            <a:r>
              <a:rPr lang="en-US" altLang="zh-CN" sz="2800" b="1" smtClean="0">
                <a:solidFill>
                  <a:srgbClr val="FF00FF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800" smtClean="0">
                <a:ea typeface="宋体" panose="02010600030101010101" pitchFamily="2" charset="-122"/>
              </a:rPr>
              <a:t>-left to right;</a:t>
            </a:r>
            <a:r>
              <a:rPr lang="en-US" altLang="zh-CN" sz="2800" b="1" smtClean="0">
                <a:ea typeface="宋体" panose="02010600030101010101" pitchFamily="2" charset="-122"/>
              </a:rPr>
              <a:t> </a:t>
            </a:r>
            <a:r>
              <a:rPr lang="en-US" altLang="zh-CN" sz="2800" b="1" smtClean="0">
                <a:solidFill>
                  <a:srgbClr val="FF00FF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800" smtClean="0">
                <a:ea typeface="宋体" panose="02010600030101010101" pitchFamily="2" charset="-122"/>
              </a:rPr>
              <a:t>-leftmost derivation</a:t>
            </a:r>
            <a:r>
              <a:rPr lang="zh-CN" altLang="en-US" sz="2800" smtClean="0">
                <a:ea typeface="宋体" panose="02010600030101010101" pitchFamily="2" charset="-122"/>
              </a:rPr>
              <a:t>（最左推导））</a:t>
            </a: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F7BC5A-2F9C-46B7-9CE3-CCACA6CCE3F6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80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Parsing Techniques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b="1" smtClean="0">
                <a:ea typeface="宋体" panose="02010600030101010101" pitchFamily="2" charset="-122"/>
              </a:rPr>
              <a:t>Bottom-Up Parsing: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Construction of the parse tree starts at the leaves, and proceeds towards the root.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Normally efficient bottom-up parsers are created with the help of some software tools.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Bottom-up parsing is also known as </a:t>
            </a:r>
            <a:r>
              <a:rPr lang="en-US" altLang="zh-CN" sz="2400" smtClean="0">
                <a:solidFill>
                  <a:srgbClr val="FF00FF"/>
                </a:solidFill>
                <a:ea typeface="宋体" panose="02010600030101010101" pitchFamily="2" charset="-122"/>
              </a:rPr>
              <a:t>shift-reduce parsing </a:t>
            </a:r>
            <a:r>
              <a:rPr lang="en-US" altLang="zh-CN" sz="2000" smtClean="0">
                <a:solidFill>
                  <a:srgbClr val="FF00FF"/>
                </a:solidFill>
                <a:ea typeface="宋体" panose="02010600030101010101" pitchFamily="2" charset="-122"/>
              </a:rPr>
              <a:t>(</a:t>
            </a:r>
            <a:r>
              <a:rPr lang="zh-CN" altLang="en-US" sz="2000" smtClean="0">
                <a:solidFill>
                  <a:srgbClr val="FF00FF"/>
                </a:solidFill>
                <a:ea typeface="宋体" panose="02010600030101010101" pitchFamily="2" charset="-122"/>
              </a:rPr>
              <a:t>移进</a:t>
            </a:r>
            <a:r>
              <a:rPr lang="en-US" altLang="zh-CN" sz="2000" smtClean="0">
                <a:solidFill>
                  <a:srgbClr val="FF00FF"/>
                </a:solidFill>
                <a:ea typeface="宋体" panose="02010600030101010101" pitchFamily="2" charset="-122"/>
              </a:rPr>
              <a:t>-</a:t>
            </a:r>
            <a:r>
              <a:rPr lang="zh-CN" altLang="en-US" sz="2000" smtClean="0">
                <a:solidFill>
                  <a:srgbClr val="FF00FF"/>
                </a:solidFill>
                <a:ea typeface="宋体" panose="02010600030101010101" pitchFamily="2" charset="-122"/>
              </a:rPr>
              <a:t>规约</a:t>
            </a:r>
            <a:r>
              <a:rPr lang="en-US" altLang="zh-CN" sz="2000" smtClean="0">
                <a:solidFill>
                  <a:srgbClr val="FF00FF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000" smtClean="0">
                <a:ea typeface="宋体" panose="02010600030101010101" pitchFamily="2" charset="-122"/>
              </a:rPr>
              <a:t>.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Operator-Precedence </a:t>
            </a:r>
            <a:r>
              <a:rPr lang="zh-CN" altLang="en-US" sz="2000" smtClean="0">
                <a:ea typeface="宋体" panose="02010600030101010101" pitchFamily="2" charset="-122"/>
              </a:rPr>
              <a:t>（操作符优先）</a:t>
            </a:r>
            <a:r>
              <a:rPr lang="en-US" altLang="zh-CN" sz="2400" smtClean="0">
                <a:ea typeface="宋体" panose="02010600030101010101" pitchFamily="2" charset="-122"/>
              </a:rPr>
              <a:t>Parsing – simple, restrictive, easy to implement </a:t>
            </a:r>
          </a:p>
          <a:p>
            <a:pPr lvl="1"/>
            <a:r>
              <a:rPr lang="en-US" altLang="zh-CN" sz="2400" smtClean="0">
                <a:solidFill>
                  <a:srgbClr val="FF00FF"/>
                </a:solidFill>
                <a:ea typeface="宋体" panose="02010600030101010101" pitchFamily="2" charset="-122"/>
              </a:rPr>
              <a:t>LR Parsing</a:t>
            </a:r>
            <a:r>
              <a:rPr lang="en-US" altLang="zh-CN" sz="2400" smtClean="0">
                <a:ea typeface="宋体" panose="02010600030101010101" pitchFamily="2" charset="-122"/>
              </a:rPr>
              <a:t> – much general form of shift-reduce parsing: </a:t>
            </a:r>
            <a:r>
              <a:rPr lang="en-US" altLang="zh-CN" sz="2400" smtClean="0">
                <a:solidFill>
                  <a:srgbClr val="FF00FF"/>
                </a:solidFill>
                <a:ea typeface="宋体" panose="02010600030101010101" pitchFamily="2" charset="-122"/>
              </a:rPr>
              <a:t>LR</a:t>
            </a:r>
            <a:r>
              <a:rPr lang="en-US" altLang="zh-CN" sz="2400" smtClean="0">
                <a:ea typeface="宋体" panose="02010600030101010101" pitchFamily="2" charset="-122"/>
              </a:rPr>
              <a:t>, </a:t>
            </a:r>
            <a:r>
              <a:rPr lang="en-US" altLang="zh-CN" sz="2400" smtClean="0">
                <a:solidFill>
                  <a:srgbClr val="FF00FF"/>
                </a:solidFill>
                <a:ea typeface="宋体" panose="02010600030101010101" pitchFamily="2" charset="-122"/>
              </a:rPr>
              <a:t>SLR</a:t>
            </a:r>
            <a:r>
              <a:rPr lang="en-US" altLang="zh-CN" sz="2400" smtClean="0">
                <a:ea typeface="宋体" panose="02010600030101010101" pitchFamily="2" charset="-122"/>
              </a:rPr>
              <a:t>, </a:t>
            </a:r>
            <a:r>
              <a:rPr lang="en-US" altLang="zh-CN" sz="2400" smtClean="0">
                <a:solidFill>
                  <a:srgbClr val="FF00FF"/>
                </a:solidFill>
                <a:ea typeface="宋体" panose="02010600030101010101" pitchFamily="2" charset="-122"/>
              </a:rPr>
              <a:t>LALR </a:t>
            </a:r>
            <a:r>
              <a:rPr lang="zh-CN" altLang="en-US" sz="2400" smtClean="0">
                <a:ea typeface="宋体" panose="02010600030101010101" pitchFamily="2" charset="-122"/>
              </a:rPr>
              <a:t>（</a:t>
            </a:r>
            <a:r>
              <a:rPr lang="en-US" altLang="zh-CN" sz="2400" smtClean="0">
                <a:solidFill>
                  <a:srgbClr val="FF00FF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400" smtClean="0">
                <a:ea typeface="宋体" panose="02010600030101010101" pitchFamily="2" charset="-122"/>
              </a:rPr>
              <a:t>-left to right; </a:t>
            </a:r>
            <a:r>
              <a:rPr lang="en-US" altLang="zh-CN" sz="2400" smtClean="0">
                <a:solidFill>
                  <a:srgbClr val="FF00FF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400" smtClean="0">
                <a:ea typeface="宋体" panose="02010600030101010101" pitchFamily="2" charset="-122"/>
              </a:rPr>
              <a:t>-rightmost derivation</a:t>
            </a:r>
            <a:r>
              <a:rPr lang="zh-CN" altLang="en-US" sz="2400" smtClean="0">
                <a:ea typeface="宋体" panose="02010600030101010101" pitchFamily="2" charset="-122"/>
              </a:rPr>
              <a:t>（最右推导））</a:t>
            </a:r>
            <a:endParaRPr lang="zh-CN" altLang="en-US" sz="16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19314F-884F-4E24-84E5-CA925F4C802B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80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Semantic Analyzer (P.8)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r>
              <a:rPr lang="en-US" altLang="zh-CN" sz="3200" smtClean="0">
                <a:ea typeface="宋体" panose="02010600030101010101" pitchFamily="2" charset="-122"/>
              </a:rPr>
              <a:t>A semantic analyzer</a:t>
            </a:r>
            <a:r>
              <a:rPr lang="zh-CN" altLang="en-US" sz="3200" smtClean="0">
                <a:ea typeface="宋体" panose="02010600030101010101" pitchFamily="2" charset="-122"/>
              </a:rPr>
              <a:t>（语义分析器） </a:t>
            </a:r>
            <a:r>
              <a:rPr lang="en-US" altLang="zh-CN" sz="3200" smtClean="0">
                <a:ea typeface="宋体" panose="02010600030101010101" pitchFamily="2" charset="-122"/>
              </a:rPr>
              <a:t>checks the source program for semantic errors and collects the type information for the code generation.</a:t>
            </a:r>
          </a:p>
          <a:p>
            <a:r>
              <a:rPr lang="en-US" altLang="zh-CN" sz="3200" smtClean="0">
                <a:solidFill>
                  <a:srgbClr val="FF00FF"/>
                </a:solidFill>
                <a:ea typeface="宋体" panose="02010600030101010101" pitchFamily="2" charset="-122"/>
              </a:rPr>
              <a:t>Type-checking</a:t>
            </a:r>
            <a:r>
              <a:rPr lang="zh-CN" altLang="en-US" sz="3200" smtClean="0">
                <a:ea typeface="宋体" panose="02010600030101010101" pitchFamily="2" charset="-122"/>
              </a:rPr>
              <a:t>（类型检查） </a:t>
            </a:r>
            <a:r>
              <a:rPr lang="en-US" altLang="zh-CN" sz="3200" smtClean="0">
                <a:ea typeface="宋体" panose="02010600030101010101" pitchFamily="2" charset="-122"/>
              </a:rPr>
              <a:t>is an important part of semantic analyzer.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Normally semantic information cannot be represented by a context-free language </a:t>
            </a:r>
            <a:r>
              <a:rPr lang="zh-CN" altLang="en-US" sz="3200" smtClean="0">
                <a:ea typeface="宋体" panose="02010600030101010101" pitchFamily="2" charset="-122"/>
              </a:rPr>
              <a:t>（上下文无关语言）</a:t>
            </a:r>
            <a:r>
              <a:rPr lang="en-US" altLang="zh-CN" sz="3200" smtClean="0">
                <a:ea typeface="宋体" panose="02010600030101010101" pitchFamily="2" charset="-122"/>
              </a:rPr>
              <a:t>used in syntax analyzers.</a:t>
            </a:r>
          </a:p>
        </p:txBody>
      </p:sp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F346A3-89D3-4035-9194-DFA793B9F089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80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Semantic Analyzer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3200" smtClean="0">
                <a:ea typeface="宋体" panose="02010600030101010101" pitchFamily="2" charset="-122"/>
              </a:rPr>
              <a:t>Context-free grammars used in the syntax analysis are integrated with attributes (</a:t>
            </a:r>
            <a:r>
              <a:rPr lang="en-US" altLang="zh-CN" sz="3200" smtClean="0">
                <a:solidFill>
                  <a:srgbClr val="FF6699"/>
                </a:solidFill>
                <a:ea typeface="宋体" panose="02010600030101010101" pitchFamily="2" charset="-122"/>
              </a:rPr>
              <a:t>semantic rules </a:t>
            </a:r>
            <a:r>
              <a:rPr lang="zh-CN" altLang="en-US" sz="2800" smtClean="0">
                <a:ea typeface="宋体" panose="02010600030101010101" pitchFamily="2" charset="-122"/>
              </a:rPr>
              <a:t>语义规则</a:t>
            </a:r>
            <a:r>
              <a:rPr lang="en-US" altLang="zh-CN" sz="3200" smtClean="0">
                <a:ea typeface="宋体" panose="02010600030101010101" pitchFamily="2" charset="-122"/>
              </a:rPr>
              <a:t>)  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</a:rPr>
              <a:t>the result is a </a:t>
            </a:r>
            <a:r>
              <a:rPr lang="en-US" altLang="zh-CN" sz="2800" b="1" smtClean="0">
                <a:solidFill>
                  <a:srgbClr val="FF6699"/>
                </a:solidFill>
                <a:ea typeface="宋体" panose="02010600030101010101" pitchFamily="2" charset="-122"/>
              </a:rPr>
              <a:t>syntax-directed translation</a:t>
            </a:r>
            <a:r>
              <a:rPr lang="zh-CN" altLang="en-US" sz="2800" smtClean="0">
                <a:ea typeface="宋体" panose="02010600030101010101" pitchFamily="2" charset="-122"/>
              </a:rPr>
              <a:t>（语法制导翻译）</a:t>
            </a:r>
            <a:r>
              <a:rPr lang="en-US" altLang="zh-CN" sz="2800" smtClean="0">
                <a:ea typeface="宋体" panose="02010600030101010101" pitchFamily="2" charset="-122"/>
              </a:rPr>
              <a:t> </a:t>
            </a:r>
          </a:p>
          <a:p>
            <a:pPr lvl="1"/>
            <a:r>
              <a:rPr lang="en-US" altLang="zh-CN" sz="2800" b="1" smtClean="0">
                <a:solidFill>
                  <a:srgbClr val="FF6699"/>
                </a:solidFill>
                <a:ea typeface="宋体" panose="02010600030101010101" pitchFamily="2" charset="-122"/>
              </a:rPr>
              <a:t>Attribute grammars</a:t>
            </a:r>
            <a:r>
              <a:rPr lang="zh-CN" altLang="en-US" sz="2800" smtClean="0">
                <a:ea typeface="宋体" panose="02010600030101010101" pitchFamily="2" charset="-122"/>
              </a:rPr>
              <a:t>（属性文法）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Ex:</a:t>
            </a:r>
          </a:p>
          <a:p>
            <a:pPr lvl="1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z="2800" smtClean="0">
                <a:ea typeface="宋体" panose="02010600030101010101" pitchFamily="2" charset="-122"/>
              </a:rPr>
              <a:t>newval  :=  oldval  +  12</a:t>
            </a:r>
          </a:p>
          <a:p>
            <a:pPr lvl="2"/>
            <a:endParaRPr lang="en-US" altLang="zh-CN" sz="2800" smtClean="0">
              <a:ea typeface="宋体" panose="02010600030101010101" pitchFamily="2" charset="-122"/>
            </a:endParaRPr>
          </a:p>
          <a:p>
            <a:pPr lvl="2"/>
            <a:r>
              <a:rPr lang="en-US" altLang="zh-CN" sz="2800" smtClean="0">
                <a:ea typeface="宋体" panose="02010600030101010101" pitchFamily="2" charset="-122"/>
              </a:rPr>
              <a:t>The type of the identifier </a:t>
            </a:r>
            <a:r>
              <a:rPr lang="en-US" altLang="zh-CN" sz="2800" i="1" smtClean="0">
                <a:ea typeface="宋体" panose="02010600030101010101" pitchFamily="2" charset="-122"/>
              </a:rPr>
              <a:t>newval</a:t>
            </a:r>
            <a:r>
              <a:rPr lang="en-US" altLang="zh-CN" sz="2800" smtClean="0">
                <a:ea typeface="宋体" panose="02010600030101010101" pitchFamily="2" charset="-122"/>
              </a:rPr>
              <a:t>  must match with type of the expression </a:t>
            </a:r>
            <a:r>
              <a:rPr lang="en-US" altLang="zh-CN" sz="2800" i="1" smtClean="0">
                <a:ea typeface="宋体" panose="02010600030101010101" pitchFamily="2" charset="-122"/>
              </a:rPr>
              <a:t>(oldval+12)</a:t>
            </a:r>
            <a:endParaRPr lang="zh-CN" altLang="en-US" sz="1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48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48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2E1DE8-6D58-4008-8604-F259E6C5542D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80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Intermediate Code Generation (P.12)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r>
              <a:rPr lang="en-US" altLang="zh-CN" sz="3200" smtClean="0">
                <a:ea typeface="宋体" panose="02010600030101010101" pitchFamily="2" charset="-122"/>
              </a:rPr>
              <a:t>A compiler may produce an explicit intermediate codes representing the source program.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These intermediate codes are generally machine (architecture) independent (except GCC). But the level of intermediate codes is close to the level of machine codes.</a:t>
            </a:r>
          </a:p>
          <a:p>
            <a:endParaRPr lang="en-US" altLang="zh-CN" sz="32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58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5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5D4FDF-1488-42B8-9A23-8F20AF93AECC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80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Intermediate Code Generation (example)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Ex:</a:t>
            </a:r>
          </a:p>
          <a:p>
            <a:pPr lvl="1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		newval  :=  oldval * fact + 1</a:t>
            </a:r>
          </a:p>
          <a:p>
            <a:pPr lvl="1">
              <a:buFontTx/>
              <a:buNone/>
            </a:pPr>
            <a:endParaRPr lang="en-US" altLang="zh-CN" sz="2800" smtClean="0"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		id1  :=  id2 * id3 + 1</a:t>
            </a:r>
          </a:p>
          <a:p>
            <a:pPr lvl="1">
              <a:buFontTx/>
              <a:buNone/>
            </a:pPr>
            <a:endParaRPr lang="en-US" altLang="zh-CN" sz="2800" smtClean="0"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		MULT  temp1,  id2,  id3 	   ;</a:t>
            </a:r>
            <a:r>
              <a:rPr lang="en-US" altLang="zh-CN" sz="2400" i="1" smtClean="0">
                <a:ea typeface="宋体" panose="02010600030101010101" pitchFamily="2" charset="-122"/>
              </a:rPr>
              <a:t>Intermediates Codes 							(Quadraples or three address code)</a:t>
            </a:r>
          </a:p>
          <a:p>
            <a:pPr lvl="1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		ADD	temp2,  temp1,  #1</a:t>
            </a:r>
          </a:p>
          <a:p>
            <a:pPr lvl="1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		MOV	id1,  temp2 </a:t>
            </a:r>
          </a:p>
          <a:p>
            <a:endParaRPr lang="zh-CN" altLang="en-US" sz="2800" smtClean="0">
              <a:ea typeface="宋体" panose="02010600030101010101" pitchFamily="2" charset="-122"/>
            </a:endParaRPr>
          </a:p>
        </p:txBody>
      </p:sp>
      <p:sp>
        <p:nvSpPr>
          <p:cNvPr id="35847" name="Line 4"/>
          <p:cNvSpPr>
            <a:spLocks noChangeShapeType="1"/>
          </p:cNvSpPr>
          <p:nvPr/>
        </p:nvSpPr>
        <p:spPr bwMode="auto">
          <a:xfrm>
            <a:off x="2936875" y="220503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8" name="Line 5"/>
          <p:cNvSpPr>
            <a:spLocks noChangeShapeType="1"/>
          </p:cNvSpPr>
          <p:nvPr/>
        </p:nvSpPr>
        <p:spPr bwMode="auto">
          <a:xfrm>
            <a:off x="2936875" y="32131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1A955A-5682-45FA-A76A-259F8D63FE09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80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Code Optimizer (for Intermediate Code Generator) (P.14)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The code optimizer optimizes the code produced by the intermediate code generator in the terms of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 smtClean="0">
                <a:solidFill>
                  <a:schemeClr val="accent1"/>
                </a:solidFill>
                <a:ea typeface="宋体" panose="02010600030101010101" pitchFamily="2" charset="-122"/>
              </a:rPr>
              <a:t>time</a:t>
            </a:r>
            <a:r>
              <a:rPr lang="en-US" altLang="zh-CN" sz="2200" smtClean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200" smtClean="0">
                <a:ea typeface="宋体" panose="02010600030101010101" pitchFamily="2" charset="-122"/>
              </a:rPr>
              <a:t>and</a:t>
            </a:r>
            <a:endParaRPr lang="en-US" altLang="zh-CN" sz="2200" smtClean="0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b="1" smtClean="0">
                <a:solidFill>
                  <a:schemeClr val="accent1"/>
                </a:solidFill>
                <a:ea typeface="宋体" panose="02010600030101010101" pitchFamily="2" charset="-122"/>
              </a:rPr>
              <a:t>space</a:t>
            </a:r>
            <a:endParaRPr lang="en-US" altLang="zh-CN" sz="22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Ex: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		MULT  temp1,  id2,  id3 	</a:t>
            </a:r>
            <a:endParaRPr lang="en-US" altLang="zh-CN" sz="2400" i="1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		ADD	temp2,  temp1,  #1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		MOV	id1,  temp2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		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		MULT  temp1,  id2,  id3 		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		ADD	id1,  temp1,  #1 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		</a:t>
            </a:r>
          </a:p>
        </p:txBody>
      </p:sp>
      <p:sp>
        <p:nvSpPr>
          <p:cNvPr id="36871" name="Line 4"/>
          <p:cNvSpPr>
            <a:spLocks noChangeShapeType="1"/>
          </p:cNvSpPr>
          <p:nvPr/>
        </p:nvSpPr>
        <p:spPr bwMode="auto">
          <a:xfrm>
            <a:off x="2576513" y="4537075"/>
            <a:ext cx="0" cy="520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78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789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09EED9-70F0-4503-BEAC-48CE5239863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80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Code Generator (P.15)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Produces the target language in a specific architecture.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The target program is normally is a relocatable object file containing  the machine codes.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Ex:   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( assume that we have an architecture with instructions whose at least one of its operands is a machine register)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endParaRPr lang="en-US" altLang="zh-CN" sz="3200" smtClean="0">
              <a:ea typeface="宋体" panose="02010600030101010101" pitchFamily="2" charset="-122"/>
            </a:endParaRPr>
          </a:p>
        </p:txBody>
      </p:sp>
      <p:sp>
        <p:nvSpPr>
          <p:cNvPr id="37895" name="Text Box 4"/>
          <p:cNvSpPr txBox="1">
            <a:spLocks noChangeArrowheads="1"/>
          </p:cNvSpPr>
          <p:nvPr/>
        </p:nvSpPr>
        <p:spPr bwMode="auto">
          <a:xfrm>
            <a:off x="4479925" y="3460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896" name="Rectangle 5"/>
          <p:cNvSpPr>
            <a:spLocks noChangeArrowheads="1"/>
          </p:cNvSpPr>
          <p:nvPr/>
        </p:nvSpPr>
        <p:spPr bwMode="auto">
          <a:xfrm>
            <a:off x="5240338" y="4797425"/>
            <a:ext cx="417671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MULT  temp1,  id2,  id3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ADD     id1,  temp1,  #1</a:t>
            </a:r>
          </a:p>
        </p:txBody>
      </p:sp>
      <p:sp>
        <p:nvSpPr>
          <p:cNvPr id="37897" name="Line 6"/>
          <p:cNvSpPr>
            <a:spLocks noChangeShapeType="1"/>
          </p:cNvSpPr>
          <p:nvPr/>
        </p:nvSpPr>
        <p:spPr bwMode="auto">
          <a:xfrm flipH="1">
            <a:off x="3440113" y="5084763"/>
            <a:ext cx="1800225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07" name="Rectangle 7"/>
          <p:cNvSpPr>
            <a:spLocks noChangeArrowheads="1"/>
          </p:cNvSpPr>
          <p:nvPr/>
        </p:nvSpPr>
        <p:spPr bwMode="auto">
          <a:xfrm>
            <a:off x="273050" y="4221163"/>
            <a:ext cx="3671888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ARM: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LDR 	R1, [id2]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LDR 	R2, [id3]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MULT	R3,  R1,  R2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ADD     	R1,  R3,  #1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STR 	R1, [id1]</a:t>
            </a:r>
          </a:p>
        </p:txBody>
      </p:sp>
      <p:sp>
        <p:nvSpPr>
          <p:cNvPr id="256009" name="Rectangle 9"/>
          <p:cNvSpPr>
            <a:spLocks noChangeArrowheads="1"/>
          </p:cNvSpPr>
          <p:nvPr/>
        </p:nvSpPr>
        <p:spPr bwMode="auto">
          <a:xfrm>
            <a:off x="704850" y="4508500"/>
            <a:ext cx="280828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MOV	R1,  id2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MULT	R1,  id3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ADD	R1,  #1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MOV	id1,  R1</a:t>
            </a:r>
          </a:p>
        </p:txBody>
      </p:sp>
      <p:sp>
        <p:nvSpPr>
          <p:cNvPr id="37900" name="Rectangle 10"/>
          <p:cNvSpPr>
            <a:spLocks noChangeArrowheads="1"/>
          </p:cNvSpPr>
          <p:nvPr/>
        </p:nvSpPr>
        <p:spPr bwMode="auto">
          <a:xfrm>
            <a:off x="1352550" y="2924175"/>
            <a:ext cx="314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id1  :=  id2 * id3 + 1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560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7" grpId="0"/>
      <p:bldP spid="25600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89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89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29C1D4-8C38-412C-BB6D-352AF9D83894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800"/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                                                                           </a:t>
            </a:r>
            <a:r>
              <a:rPr lang="en-US" altLang="zh-CN" smtClean="0">
                <a:ea typeface="宋体" panose="02010600030101010101" pitchFamily="2" charset="-122"/>
              </a:rPr>
              <a:t>(P.13)</a:t>
            </a:r>
          </a:p>
        </p:txBody>
      </p:sp>
      <p:graphicFrame>
        <p:nvGraphicFramePr>
          <p:cNvPr id="38918" name="Object 123"/>
          <p:cNvGraphicFramePr>
            <a:graphicFrameLocks noChangeAspect="1"/>
          </p:cNvGraphicFramePr>
          <p:nvPr>
            <p:ph idx="1"/>
          </p:nvPr>
        </p:nvGraphicFramePr>
        <p:xfrm>
          <a:off x="1065213" y="404813"/>
          <a:ext cx="6335712" cy="585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9" name="Visio" r:id="rId3" imgW="3662782" imgH="6404458" progId="Visio.Drawing.11">
                  <p:embed/>
                </p:oleObj>
              </mc:Choice>
              <mc:Fallback>
                <p:oleObj name="Visio" r:id="rId3" imgW="3662782" imgH="6404458" progId="Visio.Drawing.11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404813"/>
                        <a:ext cx="6335712" cy="585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99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399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E4AE51-BC0F-4866-8B58-FF8E121A0C79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800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Symbol-table management (P.11)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4488" y="981075"/>
            <a:ext cx="9372600" cy="510540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Record the identifiers used in the source program and 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Collect information about various attributes of each identifiers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Provide information about the storage allocated for an identifier, its type, its scope, and so on.</a:t>
            </a:r>
          </a:p>
        </p:txBody>
      </p:sp>
      <p:pic>
        <p:nvPicPr>
          <p:cNvPr id="39943" name="Picture 7" descr="C:\Users\xmju\AppData\Roaming\Tencent\Users\171427982\QQ\WinTemp\RichOle\5$82O$$F{CR`GAU{{Y{7YS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425" y="2997200"/>
            <a:ext cx="3524250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09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09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01D748-D4F1-40C5-A7C1-55B1A2B98A4E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800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Symbol-table management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A symbol table is a data structure containing a record for each identifier, with fields for the attributes of the identifier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In lexical analyzer the identifier is entered into the symbol table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The attributes of an identifier cannot normally be determined during lexical analysis. </a:t>
            </a:r>
          </a:p>
          <a:p>
            <a:endParaRPr lang="zh-CN" altLang="en-US" sz="2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02E1E8-6C59-4CEC-B2B1-14F4FDAF222F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800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Error detection and reporting (P.11)</a:t>
            </a: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Each phase can encounter errors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 phase must somehow deal with that error, so that compilation can proceed, allowing further errors in the source program to be detected.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It is very difficult to proceed to analyze program or to correct errors.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30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30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7379B6-8D4B-499C-8412-8019F2A5BC36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80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Major data structures in a compiler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en-US" altLang="zh-CN" sz="3200" b="1" smtClean="0">
                <a:ea typeface="宋体" panose="02010600030101010101" pitchFamily="2" charset="-122"/>
              </a:rPr>
              <a:t>tokens</a:t>
            </a:r>
            <a:r>
              <a:rPr lang="en-US" altLang="zh-CN" sz="3200" smtClean="0">
                <a:ea typeface="宋体" panose="02010600030101010101" pitchFamily="2" charset="-122"/>
              </a:rPr>
              <a:t>: a value of an enumerated data type the sets of tokens.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 the </a:t>
            </a:r>
            <a:r>
              <a:rPr lang="en-US" altLang="zh-CN" sz="3200" b="1" smtClean="0">
                <a:ea typeface="宋体" panose="02010600030101010101" pitchFamily="2" charset="-122"/>
              </a:rPr>
              <a:t>syntax tree</a:t>
            </a:r>
            <a:r>
              <a:rPr lang="en-US" altLang="zh-CN" sz="3200" smtClean="0">
                <a:ea typeface="宋体" panose="02010600030101010101" pitchFamily="2" charset="-122"/>
              </a:rPr>
              <a:t>: each node is a record whose fields represent the information collected by the parser and semantic analyzer.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 the </a:t>
            </a:r>
            <a:r>
              <a:rPr lang="en-US" altLang="zh-CN" sz="3200" b="1" smtClean="0">
                <a:ea typeface="宋体" panose="02010600030101010101" pitchFamily="2" charset="-122"/>
              </a:rPr>
              <a:t>symbol table</a:t>
            </a:r>
            <a:r>
              <a:rPr lang="en-US" altLang="zh-CN" sz="3200" smtClean="0">
                <a:ea typeface="宋体" panose="02010600030101010101" pitchFamily="2" charset="-122"/>
              </a:rPr>
              <a:t>: information associated with identifiers, functions, variables, constants, and data types.</a:t>
            </a:r>
            <a:endParaRPr lang="zh-CN" altLang="en-US" sz="3200" smtClean="0">
              <a:ea typeface="宋体" panose="02010600030101010101" pitchFamily="2" charset="-122"/>
            </a:endParaRPr>
          </a:p>
          <a:p>
            <a:r>
              <a:rPr lang="en-US" altLang="zh-CN" sz="2800" smtClean="0">
                <a:ea typeface="宋体" panose="02010600030101010101" pitchFamily="2" charset="-122"/>
              </a:rPr>
              <a:t> </a:t>
            </a:r>
            <a:endParaRPr lang="zh-CN" altLang="en-US" sz="2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40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4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4610D5-829F-44BA-8A50-3C96B56790F5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CN" sz="80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Major data structures in a compiler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b="1" smtClean="0">
                <a:ea typeface="宋体" panose="02010600030101010101" pitchFamily="2" charset="-122"/>
              </a:rPr>
              <a:t>literal table</a:t>
            </a:r>
            <a:r>
              <a:rPr lang="en-US" altLang="zh-CN" sz="2800" smtClean="0">
                <a:ea typeface="宋体" panose="02010600030101010101" pitchFamily="2" charset="-122"/>
              </a:rPr>
              <a:t>:</a:t>
            </a:r>
          </a:p>
          <a:p>
            <a:pPr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      store:  constants and strings need quick insertion and lookup, need not allow deletions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 </a:t>
            </a:r>
            <a:r>
              <a:rPr lang="en-US" altLang="zh-CN" sz="2800" b="1" smtClean="0">
                <a:ea typeface="宋体" panose="02010600030101010101" pitchFamily="2" charset="-122"/>
              </a:rPr>
              <a:t>intermediate code</a:t>
            </a:r>
            <a:r>
              <a:rPr lang="en-US" altLang="zh-CN" sz="2800" smtClean="0">
                <a:ea typeface="宋体" panose="02010600030101010101" pitchFamily="2" charset="-122"/>
              </a:rPr>
              <a:t> : </a:t>
            </a:r>
          </a:p>
          <a:p>
            <a:pPr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      this code kept as an array of text strings, a temporary text file, or as a linked list  of  structures.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 </a:t>
            </a:r>
            <a:r>
              <a:rPr lang="en-US" altLang="zh-CN" sz="2800" b="1" smtClean="0">
                <a:ea typeface="宋体" panose="02010600030101010101" pitchFamily="2" charset="-122"/>
              </a:rPr>
              <a:t>temporary files</a:t>
            </a:r>
          </a:p>
          <a:p>
            <a:pPr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      using temporary files to hold  the products of intermediate steps</a:t>
            </a:r>
            <a:endParaRPr lang="zh-CN" altLang="en-US" sz="2800" smtClean="0">
              <a:ea typeface="宋体" panose="02010600030101010101" pitchFamily="2" charset="-122"/>
            </a:endParaRPr>
          </a:p>
          <a:p>
            <a:endParaRPr lang="zh-CN" altLang="en-US" sz="2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5059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5060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D1A901-542C-4BAC-89E6-D38B0DE8C63C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CN" sz="80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1.5 the grouping of phases (P.20)  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19200"/>
            <a:ext cx="9324975" cy="3794125"/>
          </a:xfrm>
        </p:spPr>
        <p:txBody>
          <a:bodyPr/>
          <a:lstStyle/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analysis and synthesis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analysis</a:t>
            </a:r>
            <a:r>
              <a:rPr lang="en-US" altLang="zh-CN" smtClean="0">
                <a:ea typeface="宋体" panose="02010600030101010101" pitchFamily="2" charset="-122"/>
              </a:rPr>
              <a:t>: lexical analysis , syntax analysis, semantic analysis (optimization)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synthesis</a:t>
            </a:r>
            <a:r>
              <a:rPr lang="en-US" altLang="zh-CN" smtClean="0">
                <a:ea typeface="宋体" panose="02010600030101010101" pitchFamily="2" charset="-122"/>
              </a:rPr>
              <a:t>:  code generation (optimization) </a:t>
            </a:r>
          </a:p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front end and back end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</a:t>
            </a:r>
            <a:r>
              <a:rPr lang="en-US" altLang="zh-CN" smtClean="0">
                <a:solidFill>
                  <a:schemeClr val="accent1"/>
                </a:solidFill>
                <a:ea typeface="宋体" panose="02010600030101010101" pitchFamily="2" charset="-122"/>
              </a:rPr>
              <a:t>separation depend on the source language or the target language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the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front end</a:t>
            </a:r>
            <a:r>
              <a:rPr lang="en-US" altLang="zh-CN" smtClean="0">
                <a:ea typeface="宋体" panose="02010600030101010101" pitchFamily="2" charset="-122"/>
              </a:rPr>
              <a:t>: the scanner</a:t>
            </a:r>
            <a:r>
              <a:rPr lang="zh-CN" altLang="en-US" smtClean="0">
                <a:ea typeface="宋体" panose="02010600030101010101" pitchFamily="2" charset="-122"/>
              </a:rPr>
              <a:t>（扫描器）</a:t>
            </a:r>
            <a:r>
              <a:rPr lang="en-US" altLang="zh-CN" smtClean="0">
                <a:ea typeface="宋体" panose="02010600030101010101" pitchFamily="2" charset="-122"/>
              </a:rPr>
              <a:t>, parser, semantic analyzer, intermediate code synthesis 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the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back end</a:t>
            </a:r>
            <a:r>
              <a:rPr lang="en-US" altLang="zh-CN" smtClean="0">
                <a:ea typeface="宋体" panose="02010600030101010101" pitchFamily="2" charset="-122"/>
              </a:rPr>
              <a:t>: the code generator, some optimization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graphicFrame>
        <p:nvGraphicFramePr>
          <p:cNvPr id="45063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1235075" y="5257800"/>
          <a:ext cx="6929438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4" name="Visio" r:id="rId3" imgW="3654857" imgH="612038" progId="Visio.Drawing.6">
                  <p:embed/>
                </p:oleObj>
              </mc:Choice>
              <mc:Fallback>
                <p:oleObj name="Visio" r:id="rId3" imgW="3654857" imgH="612038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5257800"/>
                        <a:ext cx="6929438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B2ADD1-9DB5-4412-8618-DB5A7C282454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zh-CN" sz="800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the grouping of phases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pPr marL="457200" indent="-457200"/>
            <a:r>
              <a:rPr lang="en-US" altLang="zh-CN" sz="2800" smtClean="0">
                <a:ea typeface="宋体" panose="02010600030101010101" pitchFamily="2" charset="-122"/>
              </a:rPr>
              <a:t>Passes</a:t>
            </a:r>
            <a:r>
              <a:rPr lang="zh-CN" altLang="en-US" sz="2800" smtClean="0">
                <a:ea typeface="宋体" panose="02010600030101010101" pitchFamily="2" charset="-122"/>
              </a:rPr>
              <a:t>（遍）</a:t>
            </a:r>
          </a:p>
          <a:p>
            <a:pPr marL="457200" indent="-457200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      </a:t>
            </a: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passes</a:t>
            </a:r>
            <a:r>
              <a:rPr lang="en-US" altLang="zh-CN" sz="2800" smtClean="0">
                <a:ea typeface="宋体" panose="02010600030101010101" pitchFamily="2" charset="-122"/>
              </a:rPr>
              <a:t>: process the entire source program several times</a:t>
            </a:r>
          </a:p>
          <a:p>
            <a:pPr marL="457200" indent="-457200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     a pass consist of several  phases</a:t>
            </a:r>
          </a:p>
          <a:p>
            <a:pPr marL="457200" indent="-457200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     one pass or three passes ( scanning and parsing, semantic analysis and source-level optimization , code generation and target-level optimization)</a:t>
            </a:r>
            <a:endParaRPr lang="zh-CN" altLang="en-US" sz="2800" smtClean="0">
              <a:ea typeface="宋体" panose="02010600030101010101" pitchFamily="2" charset="-122"/>
            </a:endParaRPr>
          </a:p>
          <a:p>
            <a:pPr marL="457200" indent="-457200"/>
            <a:r>
              <a:rPr lang="en-US" altLang="zh-CN" sz="2800" smtClean="0">
                <a:ea typeface="宋体" panose="02010600030101010101" pitchFamily="2" charset="-122"/>
              </a:rPr>
              <a:t>language definition and compilers</a:t>
            </a:r>
          </a:p>
          <a:p>
            <a:pPr marL="457200" indent="-457200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      relation between the language definition and compiler</a:t>
            </a:r>
          </a:p>
          <a:p>
            <a:pPr marL="457200" indent="-457200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      the structure and behavior of the runtime environment of the    language affect compiler construction. </a:t>
            </a:r>
            <a:endParaRPr lang="zh-CN" altLang="en-US" sz="2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71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71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D337D9-E45C-450A-9252-B35C70CD7CC8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800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other issues in compiler structure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pPr marL="457200" indent="-457200"/>
            <a:r>
              <a:rPr lang="en-US" altLang="zh-CN" sz="2800" smtClean="0">
                <a:ea typeface="宋体" panose="02010600030101010101" pitchFamily="2" charset="-122"/>
              </a:rPr>
              <a:t>compiler options and interfaces  </a:t>
            </a:r>
          </a:p>
          <a:p>
            <a:pPr marL="457200" indent="-457200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     interfaces with the operating system </a:t>
            </a:r>
          </a:p>
          <a:p>
            <a:pPr marL="457200" indent="-457200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     provide options to the user for various purposes</a:t>
            </a:r>
          </a:p>
          <a:p>
            <a:pPr marL="457200" indent="-457200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	ABI (application binary interface): memory, register, assemble code…</a:t>
            </a:r>
          </a:p>
          <a:p>
            <a:pPr marL="457200" indent="-457200"/>
            <a:r>
              <a:rPr lang="en-US" altLang="zh-CN" sz="2800" smtClean="0">
                <a:ea typeface="宋体" panose="02010600030101010101" pitchFamily="2" charset="-122"/>
              </a:rPr>
              <a:t>error handling: static error, execution error  </a:t>
            </a:r>
            <a:endParaRPr lang="zh-CN" altLang="en-US" sz="2800" smtClean="0">
              <a:ea typeface="宋体" panose="02010600030101010101" pitchFamily="2" charset="-122"/>
            </a:endParaRPr>
          </a:p>
          <a:p>
            <a:pPr marL="457200" indent="-457200"/>
            <a:r>
              <a:rPr lang="en-US" altLang="zh-CN" sz="2800" smtClean="0">
                <a:ea typeface="宋体" panose="02010600030101010101" pitchFamily="2" charset="-122"/>
              </a:rPr>
              <a:t>Portability: retargetable compiler, CGG (code generator generator)</a:t>
            </a:r>
            <a:endParaRPr lang="zh-CN" altLang="en-US" sz="2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81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81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503F92-40AC-479D-9C46-783C524AFAF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800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Why Study Compilers?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Fundamental tool in computer science since 1952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Remains a vibrant research topic</a:t>
            </a:r>
          </a:p>
          <a:p>
            <a:pPr lvl="1"/>
            <a:r>
              <a:rPr lang="en-US" altLang="zh-CN" sz="2100" smtClean="0">
                <a:ea typeface="宋体" panose="02010600030101010101" pitchFamily="2" charset="-122"/>
              </a:rPr>
              <a:t>Machines keep changing</a:t>
            </a:r>
          </a:p>
          <a:p>
            <a:pPr lvl="1"/>
            <a:r>
              <a:rPr lang="en-US" altLang="zh-CN" sz="2100" smtClean="0">
                <a:ea typeface="宋体" panose="02010600030101010101" pitchFamily="2" charset="-122"/>
              </a:rPr>
              <a:t>Languages keep changing</a:t>
            </a:r>
          </a:p>
          <a:p>
            <a:pPr lvl="1"/>
            <a:r>
              <a:rPr lang="en-US" altLang="zh-CN" sz="2100" smtClean="0">
                <a:ea typeface="宋体" panose="02010600030101010101" pitchFamily="2" charset="-122"/>
              </a:rPr>
              <a:t>Applications keep changing</a:t>
            </a:r>
          </a:p>
          <a:p>
            <a:pPr lvl="1"/>
            <a:r>
              <a:rPr lang="en-US" altLang="zh-CN" sz="2100" smtClean="0">
                <a:ea typeface="宋体" panose="02010600030101010101" pitchFamily="2" charset="-122"/>
              </a:rPr>
              <a:t>When to compile keeps changing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Challenging!</a:t>
            </a:r>
          </a:p>
          <a:p>
            <a:pPr lvl="1"/>
            <a:r>
              <a:rPr lang="en-US" altLang="zh-CN" sz="2100" smtClean="0">
                <a:ea typeface="宋体" panose="02010600030101010101" pitchFamily="2" charset="-122"/>
              </a:rPr>
              <a:t>Must correctly handle an infinite set of legal programs</a:t>
            </a:r>
          </a:p>
          <a:p>
            <a:pPr lvl="1"/>
            <a:r>
              <a:rPr lang="en-US" altLang="zh-CN" sz="2100" smtClean="0">
                <a:ea typeface="宋体" panose="02010600030101010101" pitchFamily="2" charset="-122"/>
              </a:rPr>
              <a:t>Is itself a large program → </a:t>
            </a:r>
            <a:r>
              <a:rPr lang="en-US" altLang="zh-CN" sz="2100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100" smtClean="0">
                <a:ea typeface="宋体" panose="02010600030101010101" pitchFamily="2" charset="-122"/>
              </a:rPr>
              <a:t>Where theory meets practice</a:t>
            </a:r>
            <a:r>
              <a:rPr lang="en-US" altLang="zh-CN" sz="2100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endParaRPr lang="en-US" altLang="zh-CN" sz="2100" smtClean="0">
              <a:ea typeface="宋体" panose="02010600030101010101" pitchFamily="2" charset="-12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91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491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23184F-A957-40A1-BC13-4ED4B5B6DACD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zh-CN" sz="800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Goals of a Compiler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compiler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mtClean="0">
                <a:ea typeface="宋体" panose="02010600030101010101" pitchFamily="2" charset="-122"/>
              </a:rPr>
              <a:t>s job is to</a:t>
            </a:r>
            <a:r>
              <a:rPr lang="en-US" altLang="zh-CN" sz="2600" smtClean="0">
                <a:ea typeface="宋体" panose="02010600030101010101" pitchFamily="2" charset="-122"/>
              </a:rPr>
              <a:t> 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Lower the abstraction level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Eliminate overhead from language abstractions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Map source program onto hardware efficiently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Hide hardware weaknesses, utilize hardware strengths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Equal the efficiency of a good assembly programmer</a:t>
            </a:r>
          </a:p>
          <a:p>
            <a:endParaRPr lang="en-US" altLang="zh-CN" sz="1600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Optimizing compilers should </a:t>
            </a:r>
            <a:r>
              <a:rPr lang="en-US" altLang="zh-CN" i="1" smtClean="0">
                <a:ea typeface="宋体" panose="02010600030101010101" pitchFamily="2" charset="-122"/>
              </a:rPr>
              <a:t>improve</a:t>
            </a:r>
            <a:r>
              <a:rPr lang="en-US" altLang="zh-CN" smtClean="0">
                <a:ea typeface="宋体" panose="02010600030101010101" pitchFamily="2" charset="-122"/>
              </a:rPr>
              <a:t> the code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Performance*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Code size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Security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Reliability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Power consumption</a:t>
            </a: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01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01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0EDA41-970D-4196-8413-624B762FE0C0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zh-CN" sz="800"/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An Interface to High-Level Languages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Programmers write in high-level languages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Increases productivity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Easier to maintain/debug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More portable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HLLs also protect the programmer from low-level details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Registers and caches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–</a:t>
            </a:r>
            <a:r>
              <a:rPr lang="en-US" altLang="zh-CN" smtClean="0">
                <a:ea typeface="宋体" panose="02010600030101010101" pitchFamily="2" charset="-122"/>
              </a:rPr>
              <a:t> the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register</a:t>
            </a:r>
            <a:r>
              <a:rPr lang="en-US" altLang="zh-CN" smtClean="0">
                <a:ea typeface="宋体" panose="02010600030101010101" pitchFamily="2" charset="-122"/>
              </a:rPr>
              <a:t> keyword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Instruction selection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Instruction-level parallelism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The catch: HLLs are less efficient</a:t>
            </a: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  <p:grpSp>
        <p:nvGrpSpPr>
          <p:cNvPr id="50183" name="Group 4"/>
          <p:cNvGrpSpPr>
            <a:grpSpLocks/>
          </p:cNvGrpSpPr>
          <p:nvPr/>
        </p:nvGrpSpPr>
        <p:grpSpPr bwMode="auto">
          <a:xfrm>
            <a:off x="992188" y="1412875"/>
            <a:ext cx="6477000" cy="1111250"/>
            <a:chOff x="576" y="672"/>
            <a:chExt cx="4080" cy="700"/>
          </a:xfrm>
        </p:grpSpPr>
        <p:sp>
          <p:nvSpPr>
            <p:cNvPr id="50184" name="Rectangle 5"/>
            <p:cNvSpPr>
              <a:spLocks noChangeArrowheads="1"/>
            </p:cNvSpPr>
            <p:nvPr/>
          </p:nvSpPr>
          <p:spPr bwMode="auto">
            <a:xfrm>
              <a:off x="2304" y="672"/>
              <a:ext cx="960" cy="57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 Rounded MT Bold" panose="020F0704030504030204" pitchFamily="34" charset="0"/>
                  <a:ea typeface="宋体" panose="02010600030101010101" pitchFamily="2" charset="-122"/>
                </a:rPr>
                <a:t>Compiler</a:t>
              </a:r>
            </a:p>
          </p:txBody>
        </p:sp>
        <p:sp>
          <p:nvSpPr>
            <p:cNvPr id="50185" name="Line 6"/>
            <p:cNvSpPr>
              <a:spLocks noChangeShapeType="1"/>
            </p:cNvSpPr>
            <p:nvPr/>
          </p:nvSpPr>
          <p:spPr bwMode="auto">
            <a:xfrm>
              <a:off x="1824" y="960"/>
              <a:ext cx="480" cy="0"/>
            </a:xfrm>
            <a:prstGeom prst="line">
              <a:avLst/>
            </a:prstGeom>
            <a:noFill/>
            <a:ln w="9525">
              <a:solidFill>
                <a:srgbClr val="E68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6" name="Line 7"/>
            <p:cNvSpPr>
              <a:spLocks noChangeShapeType="1"/>
            </p:cNvSpPr>
            <p:nvPr/>
          </p:nvSpPr>
          <p:spPr bwMode="auto">
            <a:xfrm>
              <a:off x="3264" y="96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7" name="Text Box 8"/>
            <p:cNvSpPr txBox="1">
              <a:spLocks noChangeArrowheads="1"/>
            </p:cNvSpPr>
            <p:nvPr/>
          </p:nvSpPr>
          <p:spPr bwMode="auto">
            <a:xfrm>
              <a:off x="576" y="738"/>
              <a:ext cx="1248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 b="1">
                  <a:solidFill>
                    <a:srgbClr val="E68900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High-Level Programming Languages</a:t>
              </a:r>
            </a:p>
          </p:txBody>
        </p:sp>
        <p:sp>
          <p:nvSpPr>
            <p:cNvPr id="50188" name="Text Box 9"/>
            <p:cNvSpPr txBox="1">
              <a:spLocks noChangeArrowheads="1"/>
            </p:cNvSpPr>
            <p:nvPr/>
          </p:nvSpPr>
          <p:spPr bwMode="auto">
            <a:xfrm>
              <a:off x="3792" y="786"/>
              <a:ext cx="86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latin typeface="Arial Rounded MT Bold" panose="020F0704030504030204" pitchFamily="34" charset="0"/>
                  <a:ea typeface="宋体" panose="02010600030101010101" pitchFamily="2" charset="-122"/>
                </a:rPr>
                <a:t>Machine Code</a:t>
              </a:r>
            </a:p>
          </p:txBody>
        </p:sp>
      </p:grpSp>
    </p:spTree>
  </p:cSld>
  <p:clrMapOvr>
    <a:masterClrMapping/>
  </p:clrMapOvr>
  <p:transition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12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12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6DEE64-42AE-43C3-B3FA-7C90EA9DD4E1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zh-CN" sz="800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High-Level Languages and Features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 (80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mtClean="0">
                <a:ea typeface="宋体" panose="02010600030101010101" pitchFamily="2" charset="-122"/>
              </a:rPr>
              <a:t>s)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…</a:t>
            </a:r>
            <a:r>
              <a:rPr lang="en-US" altLang="zh-CN" smtClean="0">
                <a:ea typeface="宋体" panose="02010600030101010101" pitchFamily="2" charset="-122"/>
              </a:rPr>
              <a:t> C++ (Early 90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mtClean="0">
                <a:ea typeface="宋体" panose="02010600030101010101" pitchFamily="2" charset="-122"/>
              </a:rPr>
              <a:t>s)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…</a:t>
            </a:r>
            <a:r>
              <a:rPr lang="en-US" altLang="zh-CN" smtClean="0">
                <a:ea typeface="宋体" panose="02010600030101010101" pitchFamily="2" charset="-122"/>
              </a:rPr>
              <a:t> Java (Late 90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mtClean="0">
                <a:ea typeface="宋体" panose="02010600030101010101" pitchFamily="2" charset="-122"/>
              </a:rPr>
              <a:t>s)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Each language had features that spawned new research</a:t>
            </a:r>
          </a:p>
          <a:p>
            <a:endParaRPr lang="en-US" altLang="zh-CN" sz="1600" smtClean="0">
              <a:ea typeface="宋体" panose="02010600030101010101" pitchFamily="2" charset="-122"/>
            </a:endParaRPr>
          </a:p>
          <a:p>
            <a:r>
              <a:rPr lang="en-US" altLang="zh-CN" u="sng" smtClean="0">
                <a:ea typeface="宋体" panose="02010600030101010101" pitchFamily="2" charset="-122"/>
              </a:rPr>
              <a:t>C/Fortran/COBOL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User-defined aggregate data types (arrays, structures)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Control-flow and procedures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Prompted data-flow optimizations</a:t>
            </a:r>
          </a:p>
          <a:p>
            <a:r>
              <a:rPr lang="en-US" altLang="zh-CN" u="sng" smtClean="0">
                <a:ea typeface="宋体" panose="02010600030101010101" pitchFamily="2" charset="-122"/>
              </a:rPr>
              <a:t>C++/Simula/Modula II/Smalltalk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Object orientation (more, smaller procedures)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Prompted inlining</a:t>
            </a:r>
            <a:endParaRPr lang="en-US" altLang="zh-CN" sz="1200" u="sng" smtClean="0">
              <a:ea typeface="宋体" panose="02010600030101010101" pitchFamily="2" charset="-122"/>
            </a:endParaRPr>
          </a:p>
          <a:p>
            <a:r>
              <a:rPr lang="en-US" altLang="zh-CN" u="sng" smtClean="0">
                <a:ea typeface="宋体" panose="02010600030101010101" pitchFamily="2" charset="-122"/>
              </a:rPr>
              <a:t>Java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Type safety, bounds checking, garbage collection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Prompted bounds removal, dynamic optimization</a:t>
            </a: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22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22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02C4CF-BAC2-448F-9ECA-1C7ADD9A93B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800"/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An Interface to Computer Architectures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zh-CN" altLang="en-US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Parallelism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Instruction level</a:t>
            </a:r>
          </a:p>
          <a:p>
            <a:pPr lvl="2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multiple operations at once</a:t>
            </a:r>
          </a:p>
          <a:p>
            <a:pPr lvl="2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want to minimize dependences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Processor level </a:t>
            </a:r>
          </a:p>
          <a:p>
            <a:pPr lvl="2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multiple threads at once</a:t>
            </a:r>
          </a:p>
          <a:p>
            <a:pPr lvl="2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want to minimize synchronization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Memory Hierarchies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Register allocation (only portion explicitly managed in SW)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Code and data layout (helps the hardware cache manager)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Designs driven by how well compilers can </a:t>
            </a:r>
            <a:r>
              <a:rPr lang="en-US" altLang="zh-CN" i="1" smtClean="0">
                <a:ea typeface="宋体" panose="02010600030101010101" pitchFamily="2" charset="-122"/>
              </a:rPr>
              <a:t>leverage</a:t>
            </a:r>
            <a:r>
              <a:rPr lang="en-US" altLang="zh-CN" smtClean="0">
                <a:ea typeface="宋体" panose="02010600030101010101" pitchFamily="2" charset="-122"/>
              </a:rPr>
              <a:t> new features!</a:t>
            </a:r>
          </a:p>
          <a:p>
            <a:pPr>
              <a:lnSpc>
                <a:spcPct val="90000"/>
              </a:lnSpc>
            </a:pPr>
            <a:endParaRPr lang="zh-CN" altLang="en-US" smtClean="0">
              <a:ea typeface="宋体" panose="02010600030101010101" pitchFamily="2" charset="-122"/>
            </a:endParaRPr>
          </a:p>
        </p:txBody>
      </p:sp>
      <p:grpSp>
        <p:nvGrpSpPr>
          <p:cNvPr id="52231" name="Group 4"/>
          <p:cNvGrpSpPr>
            <a:grpSpLocks/>
          </p:cNvGrpSpPr>
          <p:nvPr/>
        </p:nvGrpSpPr>
        <p:grpSpPr bwMode="auto">
          <a:xfrm>
            <a:off x="1352550" y="1125538"/>
            <a:ext cx="6553200" cy="1095375"/>
            <a:chOff x="576" y="624"/>
            <a:chExt cx="4128" cy="690"/>
          </a:xfrm>
        </p:grpSpPr>
        <p:sp>
          <p:nvSpPr>
            <p:cNvPr id="52232" name="Rectangle 5"/>
            <p:cNvSpPr>
              <a:spLocks noChangeArrowheads="1"/>
            </p:cNvSpPr>
            <p:nvPr/>
          </p:nvSpPr>
          <p:spPr bwMode="auto">
            <a:xfrm>
              <a:off x="2304" y="624"/>
              <a:ext cx="960" cy="57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 Rounded MT Bold" panose="020F0704030504030204" pitchFamily="34" charset="0"/>
                  <a:ea typeface="宋体" panose="02010600030101010101" pitchFamily="2" charset="-122"/>
                </a:rPr>
                <a:t>Compiler</a:t>
              </a:r>
            </a:p>
          </p:txBody>
        </p:sp>
        <p:sp>
          <p:nvSpPr>
            <p:cNvPr id="52233" name="Line 6"/>
            <p:cNvSpPr>
              <a:spLocks noChangeShapeType="1"/>
            </p:cNvSpPr>
            <p:nvPr/>
          </p:nvSpPr>
          <p:spPr bwMode="auto">
            <a:xfrm>
              <a:off x="1824" y="91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4" name="Line 7"/>
            <p:cNvSpPr>
              <a:spLocks noChangeShapeType="1"/>
            </p:cNvSpPr>
            <p:nvPr/>
          </p:nvSpPr>
          <p:spPr bwMode="auto">
            <a:xfrm>
              <a:off x="3264" y="912"/>
              <a:ext cx="576" cy="0"/>
            </a:xfrm>
            <a:prstGeom prst="line">
              <a:avLst/>
            </a:prstGeom>
            <a:noFill/>
            <a:ln w="9525">
              <a:solidFill>
                <a:srgbClr val="E68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5" name="Text Box 8"/>
            <p:cNvSpPr txBox="1">
              <a:spLocks noChangeArrowheads="1"/>
            </p:cNvSpPr>
            <p:nvPr/>
          </p:nvSpPr>
          <p:spPr bwMode="auto">
            <a:xfrm>
              <a:off x="576" y="680"/>
              <a:ext cx="1296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latin typeface="Arial Rounded MT Bold" panose="020F0704030504030204" pitchFamily="34" charset="0"/>
                  <a:ea typeface="宋体" panose="02010600030101010101" pitchFamily="2" charset="-122"/>
                </a:rPr>
                <a:t>High-Level Programming Languages</a:t>
              </a:r>
            </a:p>
          </p:txBody>
        </p:sp>
        <p:sp>
          <p:nvSpPr>
            <p:cNvPr id="52236" name="Text Box 9"/>
            <p:cNvSpPr txBox="1">
              <a:spLocks noChangeArrowheads="1"/>
            </p:cNvSpPr>
            <p:nvPr/>
          </p:nvSpPr>
          <p:spPr bwMode="auto">
            <a:xfrm>
              <a:off x="3792" y="738"/>
              <a:ext cx="91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 b="1">
                  <a:solidFill>
                    <a:srgbClr val="E68900"/>
                  </a:solidFill>
                  <a:latin typeface="Arial Rounded MT Bold" panose="020F0704030504030204" pitchFamily="34" charset="0"/>
                  <a:ea typeface="宋体" panose="02010600030101010101" pitchFamily="2" charset="-122"/>
                </a:rPr>
                <a:t>Machine Code</a:t>
              </a:r>
            </a:p>
          </p:txBody>
        </p:sp>
      </p:grpSp>
    </p:spTree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32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32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A7EE12-E733-47B3-9ADC-2158E22145F1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zh-CN" sz="800"/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How Can We Translate Effectively?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3255" name="Rectangle 4"/>
          <p:cNvSpPr>
            <a:spLocks noChangeArrowheads="1"/>
          </p:cNvSpPr>
          <p:nvPr/>
        </p:nvSpPr>
        <p:spPr bwMode="auto">
          <a:xfrm>
            <a:off x="2778125" y="2743200"/>
            <a:ext cx="2514600" cy="1447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>
                <a:latin typeface="Arial Rounded MT Bold" panose="020F0704030504030204" pitchFamily="34" charset="0"/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53256" name="Rectangle 5"/>
          <p:cNvSpPr>
            <a:spLocks noChangeArrowheads="1"/>
          </p:cNvSpPr>
          <p:nvPr/>
        </p:nvSpPr>
        <p:spPr bwMode="auto">
          <a:xfrm>
            <a:off x="2057400" y="1524000"/>
            <a:ext cx="3962400" cy="6858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>
                <a:latin typeface="Arial Rounded MT Bold" panose="020F0704030504030204" pitchFamily="34" charset="0"/>
                <a:ea typeface="宋体" panose="02010600030101010101" pitchFamily="2" charset="-122"/>
              </a:rPr>
              <a:t>High-Level Source Code</a:t>
            </a:r>
          </a:p>
        </p:txBody>
      </p:sp>
      <p:sp>
        <p:nvSpPr>
          <p:cNvPr id="53257" name="Rectangle 6"/>
          <p:cNvSpPr>
            <a:spLocks noChangeArrowheads="1"/>
          </p:cNvSpPr>
          <p:nvPr/>
        </p:nvSpPr>
        <p:spPr bwMode="auto">
          <a:xfrm>
            <a:off x="2057400" y="4800600"/>
            <a:ext cx="3962400" cy="6858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>
                <a:latin typeface="Arial Rounded MT Bold" panose="020F0704030504030204" pitchFamily="34" charset="0"/>
                <a:ea typeface="宋体" panose="02010600030101010101" pitchFamily="2" charset="-122"/>
              </a:rPr>
              <a:t>Low-Level Machine Code</a:t>
            </a:r>
          </a:p>
        </p:txBody>
      </p:sp>
      <p:cxnSp>
        <p:nvCxnSpPr>
          <p:cNvPr id="53258" name="AutoShape 7"/>
          <p:cNvCxnSpPr>
            <a:cxnSpLocks noChangeShapeType="1"/>
            <a:stCxn id="53256" idx="2"/>
            <a:endCxn id="53255" idx="0"/>
          </p:cNvCxnSpPr>
          <p:nvPr/>
        </p:nvCxnSpPr>
        <p:spPr bwMode="auto">
          <a:xfrm flipH="1">
            <a:off x="4035425" y="2219325"/>
            <a:ext cx="3175" cy="51435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59" name="AutoShape 8"/>
          <p:cNvCxnSpPr>
            <a:cxnSpLocks noChangeShapeType="1"/>
            <a:stCxn id="53255" idx="2"/>
            <a:endCxn id="53257" idx="0"/>
          </p:cNvCxnSpPr>
          <p:nvPr/>
        </p:nvCxnSpPr>
        <p:spPr bwMode="auto">
          <a:xfrm>
            <a:off x="4035425" y="4200525"/>
            <a:ext cx="3175" cy="59055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42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42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CBF8E2-6F86-4D50-940D-77A577BE5EEC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zh-CN" sz="800"/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Idea: Translate in Steps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smtClean="0">
                <a:ea typeface="宋体" panose="02010600030101010101" pitchFamily="2" charset="-122"/>
              </a:rPr>
              <a:t>Series of program representations</a:t>
            </a:r>
          </a:p>
          <a:p>
            <a:r>
              <a:rPr lang="en-US" altLang="zh-CN" b="1" smtClean="0">
                <a:ea typeface="宋体" panose="02010600030101010101" pitchFamily="2" charset="-122"/>
              </a:rPr>
              <a:t> Intermediate representations optimized for various manipulations (checking, optimization)</a:t>
            </a:r>
          </a:p>
          <a:p>
            <a:r>
              <a:rPr lang="en-US" altLang="zh-CN" b="1" smtClean="0">
                <a:ea typeface="宋体" panose="02010600030101010101" pitchFamily="2" charset="-122"/>
              </a:rPr>
              <a:t> More machine specific, less language specific as translation proceeds</a:t>
            </a: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52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53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3DF6AC-7A60-48E3-889D-8E2F08FB5DEA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zh-CN" sz="80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Simplified Compiler Structure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5302" name="Rectangle 4"/>
          <p:cNvSpPr>
            <a:spLocks noChangeArrowheads="1"/>
          </p:cNvSpPr>
          <p:nvPr/>
        </p:nvSpPr>
        <p:spPr bwMode="auto">
          <a:xfrm>
            <a:off x="3352800" y="1304925"/>
            <a:ext cx="2895600" cy="503238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Lexical Analysis</a:t>
            </a:r>
          </a:p>
        </p:txBody>
      </p:sp>
      <p:sp>
        <p:nvSpPr>
          <p:cNvPr id="55303" name="Rectangle 5"/>
          <p:cNvSpPr>
            <a:spLocks noChangeArrowheads="1"/>
          </p:cNvSpPr>
          <p:nvPr/>
        </p:nvSpPr>
        <p:spPr bwMode="auto">
          <a:xfrm>
            <a:off x="3856038" y="2265363"/>
            <a:ext cx="1905000" cy="50323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Parsing</a:t>
            </a:r>
          </a:p>
        </p:txBody>
      </p:sp>
      <p:sp>
        <p:nvSpPr>
          <p:cNvPr id="55304" name="Rectangle 6"/>
          <p:cNvSpPr>
            <a:spLocks noChangeArrowheads="1"/>
          </p:cNvSpPr>
          <p:nvPr/>
        </p:nvSpPr>
        <p:spPr bwMode="auto">
          <a:xfrm>
            <a:off x="2209800" y="3255963"/>
            <a:ext cx="5181600" cy="50323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Intermediate Code Generation</a:t>
            </a:r>
          </a:p>
        </p:txBody>
      </p:sp>
      <p:sp>
        <p:nvSpPr>
          <p:cNvPr id="55305" name="Rectangle 7"/>
          <p:cNvSpPr>
            <a:spLocks noChangeArrowheads="1"/>
          </p:cNvSpPr>
          <p:nvPr/>
        </p:nvSpPr>
        <p:spPr bwMode="auto">
          <a:xfrm>
            <a:off x="3657600" y="4322763"/>
            <a:ext cx="2286000" cy="50323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Optimization</a:t>
            </a:r>
          </a:p>
        </p:txBody>
      </p:sp>
      <p:sp>
        <p:nvSpPr>
          <p:cNvPr id="55306" name="Text Box 8"/>
          <p:cNvSpPr txBox="1">
            <a:spLocks noChangeArrowheads="1"/>
          </p:cNvSpPr>
          <p:nvPr/>
        </p:nvSpPr>
        <p:spPr bwMode="auto">
          <a:xfrm>
            <a:off x="228600" y="914400"/>
            <a:ext cx="2895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Verdana" panose="020B0604030504040204" pitchFamily="34" charset="0"/>
                <a:ea typeface="宋体" panose="02010600030101010101" pitchFamily="2" charset="-122"/>
              </a:rPr>
              <a:t>Source code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Verdana" panose="020B0604030504040204" pitchFamily="34" charset="0"/>
                <a:ea typeface="宋体" panose="02010600030101010101" pitchFamily="2" charset="-122"/>
              </a:rPr>
              <a:t>(character stream)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if (b==0) a = b;</a:t>
            </a:r>
          </a:p>
        </p:txBody>
      </p:sp>
      <p:sp>
        <p:nvSpPr>
          <p:cNvPr id="55307" name="Text Box 9"/>
          <p:cNvSpPr txBox="1">
            <a:spLocks noChangeArrowheads="1"/>
          </p:cNvSpPr>
          <p:nvPr/>
        </p:nvSpPr>
        <p:spPr bwMode="auto">
          <a:xfrm>
            <a:off x="228600" y="5089525"/>
            <a:ext cx="28956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Verdana" panose="020B0604030504040204" pitchFamily="34" charset="0"/>
                <a:ea typeface="宋体" panose="02010600030101010101" pitchFamily="2" charset="-122"/>
              </a:rPr>
              <a:t>Assembly code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Verdana" panose="020B0604030504040204" pitchFamily="34" charset="0"/>
                <a:ea typeface="宋体" panose="02010600030101010101" pitchFamily="2" charset="-122"/>
              </a:rPr>
              <a:t>(character stream)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CMP CX,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CMOVZ CX, DX</a:t>
            </a:r>
          </a:p>
        </p:txBody>
      </p:sp>
      <p:sp>
        <p:nvSpPr>
          <p:cNvPr id="55308" name="Text Box 10"/>
          <p:cNvSpPr txBox="1">
            <a:spLocks noChangeArrowheads="1"/>
          </p:cNvSpPr>
          <p:nvPr/>
        </p:nvSpPr>
        <p:spPr bwMode="auto">
          <a:xfrm>
            <a:off x="2590800" y="1808163"/>
            <a:ext cx="2286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Verdana" panose="020B0604030504040204" pitchFamily="34" charset="0"/>
                <a:ea typeface="宋体" panose="02010600030101010101" pitchFamily="2" charset="-122"/>
              </a:rPr>
              <a:t>Token stream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9" name="Text Box 11"/>
          <p:cNvSpPr txBox="1">
            <a:spLocks noChangeArrowheads="1"/>
          </p:cNvSpPr>
          <p:nvPr/>
        </p:nvSpPr>
        <p:spPr bwMode="auto">
          <a:xfrm>
            <a:off x="1676400" y="2798763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Verdana" panose="020B0604030504040204" pitchFamily="34" charset="0"/>
                <a:ea typeface="宋体" panose="02010600030101010101" pitchFamily="2" charset="-122"/>
              </a:rPr>
              <a:t>Abstract syntax tree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10" name="Text Box 12"/>
          <p:cNvSpPr txBox="1">
            <a:spLocks noChangeArrowheads="1"/>
          </p:cNvSpPr>
          <p:nvPr/>
        </p:nvSpPr>
        <p:spPr bwMode="auto">
          <a:xfrm>
            <a:off x="1905000" y="3865563"/>
            <a:ext cx="297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Verdana" panose="020B0604030504040204" pitchFamily="34" charset="0"/>
                <a:ea typeface="宋体" panose="02010600030101010101" pitchFamily="2" charset="-122"/>
              </a:rPr>
              <a:t>Intermediate code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55311" name="AutoShape 13"/>
          <p:cNvCxnSpPr>
            <a:cxnSpLocks noChangeShapeType="1"/>
            <a:stCxn id="55302" idx="2"/>
            <a:endCxn id="55303" idx="0"/>
          </p:cNvCxnSpPr>
          <p:nvPr/>
        </p:nvCxnSpPr>
        <p:spPr bwMode="auto">
          <a:xfrm>
            <a:off x="4800600" y="1833563"/>
            <a:ext cx="7938" cy="40640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2" name="AutoShape 14"/>
          <p:cNvCxnSpPr>
            <a:cxnSpLocks noChangeShapeType="1"/>
            <a:stCxn id="55303" idx="2"/>
            <a:endCxn id="55304" idx="0"/>
          </p:cNvCxnSpPr>
          <p:nvPr/>
        </p:nvCxnSpPr>
        <p:spPr bwMode="auto">
          <a:xfrm flipH="1">
            <a:off x="4800600" y="2794000"/>
            <a:ext cx="7938" cy="43656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3" name="AutoShape 15"/>
          <p:cNvCxnSpPr>
            <a:cxnSpLocks noChangeShapeType="1"/>
            <a:stCxn id="55304" idx="2"/>
            <a:endCxn id="55305" idx="0"/>
          </p:cNvCxnSpPr>
          <p:nvPr/>
        </p:nvCxnSpPr>
        <p:spPr bwMode="auto">
          <a:xfrm>
            <a:off x="4800600" y="3784600"/>
            <a:ext cx="0" cy="51276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314" name="Line 16"/>
          <p:cNvSpPr>
            <a:spLocks noChangeShapeType="1"/>
          </p:cNvSpPr>
          <p:nvPr/>
        </p:nvSpPr>
        <p:spPr bwMode="auto">
          <a:xfrm>
            <a:off x="7543800" y="1219200"/>
            <a:ext cx="1219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15" name="Line 17"/>
          <p:cNvSpPr>
            <a:spLocks noChangeShapeType="1"/>
          </p:cNvSpPr>
          <p:nvPr/>
        </p:nvSpPr>
        <p:spPr bwMode="auto">
          <a:xfrm>
            <a:off x="7543800" y="3962400"/>
            <a:ext cx="1219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16" name="Line 18"/>
          <p:cNvSpPr>
            <a:spLocks noChangeShapeType="1"/>
          </p:cNvSpPr>
          <p:nvPr/>
        </p:nvSpPr>
        <p:spPr bwMode="auto">
          <a:xfrm>
            <a:off x="7543800" y="6096000"/>
            <a:ext cx="1219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17" name="Text Box 19"/>
          <p:cNvSpPr txBox="1">
            <a:spLocks noChangeArrowheads="1"/>
          </p:cNvSpPr>
          <p:nvPr/>
        </p:nvSpPr>
        <p:spPr bwMode="auto">
          <a:xfrm>
            <a:off x="6629400" y="2133600"/>
            <a:ext cx="2362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Verdana" panose="020B0604030504040204" pitchFamily="34" charset="0"/>
                <a:ea typeface="宋体" panose="02010600030101010101" pitchFamily="2" charset="-122"/>
              </a:rPr>
              <a:t>Front End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18" name="Text Box 20"/>
          <p:cNvSpPr txBox="1">
            <a:spLocks noChangeArrowheads="1"/>
          </p:cNvSpPr>
          <p:nvPr/>
        </p:nvSpPr>
        <p:spPr bwMode="auto">
          <a:xfrm>
            <a:off x="6629400" y="4556125"/>
            <a:ext cx="2362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Verdana" panose="020B0604030504040204" pitchFamily="34" charset="0"/>
                <a:ea typeface="宋体" panose="02010600030101010101" pitchFamily="2" charset="-122"/>
              </a:rPr>
              <a:t>Back End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19" name="Text Box 21"/>
          <p:cNvSpPr txBox="1">
            <a:spLocks noChangeArrowheads="1"/>
          </p:cNvSpPr>
          <p:nvPr/>
        </p:nvSpPr>
        <p:spPr bwMode="auto">
          <a:xfrm>
            <a:off x="6324600" y="4891088"/>
            <a:ext cx="2667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Verdana" panose="020B0604030504040204" pitchFamily="34" charset="0"/>
                <a:ea typeface="宋体" panose="02010600030101010101" pitchFamily="2" charset="-122"/>
              </a:rPr>
              <a:t>Machine dependent</a:t>
            </a:r>
          </a:p>
        </p:txBody>
      </p:sp>
      <p:sp>
        <p:nvSpPr>
          <p:cNvPr id="55320" name="Text Box 22"/>
          <p:cNvSpPr txBox="1">
            <a:spLocks noChangeArrowheads="1"/>
          </p:cNvSpPr>
          <p:nvPr/>
        </p:nvSpPr>
        <p:spPr bwMode="auto">
          <a:xfrm>
            <a:off x="6324600" y="2454275"/>
            <a:ext cx="2667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>
                <a:latin typeface="Verdana" panose="020B0604030504040204" pitchFamily="34" charset="0"/>
                <a:ea typeface="宋体" panose="02010600030101010101" pitchFamily="2" charset="-122"/>
              </a:rPr>
              <a:t>Machine independent</a:t>
            </a:r>
          </a:p>
        </p:txBody>
      </p:sp>
      <p:sp>
        <p:nvSpPr>
          <p:cNvPr id="55321" name="Line 23"/>
          <p:cNvSpPr>
            <a:spLocks noChangeShapeType="1"/>
          </p:cNvSpPr>
          <p:nvPr/>
        </p:nvSpPr>
        <p:spPr bwMode="auto">
          <a:xfrm>
            <a:off x="8153400" y="1246188"/>
            <a:ext cx="0" cy="96361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22" name="Line 24"/>
          <p:cNvSpPr>
            <a:spLocks noChangeShapeType="1"/>
          </p:cNvSpPr>
          <p:nvPr/>
        </p:nvSpPr>
        <p:spPr bwMode="auto">
          <a:xfrm>
            <a:off x="8153400" y="2895600"/>
            <a:ext cx="0" cy="1066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23" name="Line 25"/>
          <p:cNvSpPr>
            <a:spLocks noChangeShapeType="1"/>
          </p:cNvSpPr>
          <p:nvPr/>
        </p:nvSpPr>
        <p:spPr bwMode="auto">
          <a:xfrm>
            <a:off x="8153400" y="3962400"/>
            <a:ext cx="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24" name="Line 26"/>
          <p:cNvSpPr>
            <a:spLocks noChangeShapeType="1"/>
          </p:cNvSpPr>
          <p:nvPr/>
        </p:nvSpPr>
        <p:spPr bwMode="auto">
          <a:xfrm>
            <a:off x="8153400" y="5181600"/>
            <a:ext cx="0" cy="914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25" name="Line 27"/>
          <p:cNvSpPr>
            <a:spLocks noChangeShapeType="1"/>
          </p:cNvSpPr>
          <p:nvPr/>
        </p:nvSpPr>
        <p:spPr bwMode="auto">
          <a:xfrm>
            <a:off x="4800600" y="990600"/>
            <a:ext cx="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26" name="Line 28"/>
          <p:cNvSpPr>
            <a:spLocks noChangeShapeType="1"/>
          </p:cNvSpPr>
          <p:nvPr/>
        </p:nvSpPr>
        <p:spPr bwMode="auto">
          <a:xfrm flipH="1">
            <a:off x="2819400" y="990600"/>
            <a:ext cx="1981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27" name="Line 29"/>
          <p:cNvSpPr>
            <a:spLocks noChangeShapeType="1"/>
          </p:cNvSpPr>
          <p:nvPr/>
        </p:nvSpPr>
        <p:spPr bwMode="auto">
          <a:xfrm>
            <a:off x="4800600" y="5562600"/>
            <a:ext cx="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28" name="Line 30"/>
          <p:cNvSpPr>
            <a:spLocks noChangeShapeType="1"/>
          </p:cNvSpPr>
          <p:nvPr/>
        </p:nvSpPr>
        <p:spPr bwMode="auto">
          <a:xfrm flipH="1">
            <a:off x="3200400" y="6172200"/>
            <a:ext cx="1600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29" name="Rectangle 31"/>
          <p:cNvSpPr>
            <a:spLocks noChangeArrowheads="1"/>
          </p:cNvSpPr>
          <p:nvPr/>
        </p:nvSpPr>
        <p:spPr bwMode="auto">
          <a:xfrm>
            <a:off x="3200400" y="5364163"/>
            <a:ext cx="3200400" cy="503237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Register Allocation</a:t>
            </a:r>
          </a:p>
        </p:txBody>
      </p:sp>
      <p:sp>
        <p:nvSpPr>
          <p:cNvPr id="55330" name="Text Box 32"/>
          <p:cNvSpPr txBox="1">
            <a:spLocks noChangeArrowheads="1"/>
          </p:cNvSpPr>
          <p:nvPr/>
        </p:nvSpPr>
        <p:spPr bwMode="auto">
          <a:xfrm>
            <a:off x="4038600" y="4906963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Verdana" panose="020B0604030504040204" pitchFamily="34" charset="0"/>
                <a:ea typeface="宋体" panose="02010600030101010101" pitchFamily="2" charset="-122"/>
              </a:rPr>
              <a:t>LIR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55331" name="AutoShape 33"/>
          <p:cNvCxnSpPr>
            <a:cxnSpLocks noChangeShapeType="1"/>
            <a:endCxn id="55329" idx="0"/>
          </p:cNvCxnSpPr>
          <p:nvPr/>
        </p:nvCxnSpPr>
        <p:spPr bwMode="auto">
          <a:xfrm>
            <a:off x="4800600" y="4826000"/>
            <a:ext cx="0" cy="512763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63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63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4B3932-3C62-477C-970F-453BFA51407B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zh-CN" sz="800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Why Separate the Front and Back Ends?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43044" name="Rectangle 4"/>
          <p:cNvSpPr>
            <a:spLocks noChangeArrowheads="1"/>
          </p:cNvSpPr>
          <p:nvPr/>
        </p:nvSpPr>
        <p:spPr bwMode="auto">
          <a:xfrm>
            <a:off x="457200" y="1143000"/>
            <a:ext cx="83820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Recall: </a:t>
            </a:r>
            <a:r>
              <a:rPr lang="en-US" altLang="zh-CN" b="1">
                <a:ea typeface="宋体" panose="02010600030101010101" pitchFamily="2" charset="-122"/>
              </a:rPr>
              <a:t>An interface between HLLs and architectures</a:t>
            </a:r>
          </a:p>
          <a:p>
            <a:endParaRPr lang="en-US" altLang="zh-CN" b="1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Option: </a:t>
            </a:r>
            <a:r>
              <a:rPr lang="en-US" altLang="zh-CN" b="1">
                <a:ea typeface="宋体" panose="02010600030101010101" pitchFamily="2" charset="-122"/>
              </a:rPr>
              <a:t>X*Y compilers </a:t>
            </a:r>
            <a:r>
              <a:rPr lang="en-US" altLang="zh-CN" b="1" i="1">
                <a:ea typeface="宋体" panose="02010600030101010101" pitchFamily="2" charset="-122"/>
              </a:rPr>
              <a:t>or</a:t>
            </a:r>
            <a:r>
              <a:rPr lang="en-US" altLang="zh-CN" b="1">
                <a:ea typeface="宋体" panose="02010600030101010101" pitchFamily="2" charset="-122"/>
              </a:rPr>
              <a:t> X-front ends + Y-back ends</a:t>
            </a:r>
          </a:p>
        </p:txBody>
      </p:sp>
      <p:sp>
        <p:nvSpPr>
          <p:cNvPr id="56328" name="Rectangle 5"/>
          <p:cNvSpPr>
            <a:spLocks noChangeArrowheads="1"/>
          </p:cNvSpPr>
          <p:nvPr/>
        </p:nvSpPr>
        <p:spPr bwMode="auto">
          <a:xfrm>
            <a:off x="3505200" y="2133600"/>
            <a:ext cx="1524000" cy="914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rPr>
              <a:t>Compiler</a:t>
            </a:r>
          </a:p>
        </p:txBody>
      </p:sp>
      <p:sp>
        <p:nvSpPr>
          <p:cNvPr id="56329" name="Line 6"/>
          <p:cNvSpPr>
            <a:spLocks noChangeShapeType="1"/>
          </p:cNvSpPr>
          <p:nvPr/>
        </p:nvSpPr>
        <p:spPr bwMode="auto">
          <a:xfrm>
            <a:off x="2362200" y="2057400"/>
            <a:ext cx="1143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0" name="Text Box 7"/>
          <p:cNvSpPr txBox="1">
            <a:spLocks noChangeArrowheads="1"/>
          </p:cNvSpPr>
          <p:nvPr/>
        </p:nvSpPr>
        <p:spPr bwMode="auto">
          <a:xfrm>
            <a:off x="6019800" y="2393950"/>
            <a:ext cx="1143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rPr>
              <a:t>Hello </a:t>
            </a:r>
            <a:r>
              <a:rPr lang="en-US" altLang="zh-CN" sz="1600" baseline="-25000">
                <a:latin typeface="Arial Rounded MT Bold" panose="020F0704030504030204" pitchFamily="34" charset="0"/>
                <a:ea typeface="宋体" panose="02010600030101010101" pitchFamily="2" charset="-122"/>
              </a:rPr>
              <a:t>alpha</a:t>
            </a:r>
            <a:endParaRPr lang="en-US" altLang="zh-CN" sz="1600">
              <a:latin typeface="Arial Rounded MT Bold" panose="020F0704030504030204" pitchFamily="34" charset="0"/>
              <a:ea typeface="宋体" panose="02010600030101010101" pitchFamily="2" charset="-122"/>
            </a:endParaRPr>
          </a:p>
        </p:txBody>
      </p:sp>
      <p:sp>
        <p:nvSpPr>
          <p:cNvPr id="56331" name="Text Box 8"/>
          <p:cNvSpPr txBox="1">
            <a:spLocks noChangeArrowheads="1"/>
          </p:cNvSpPr>
          <p:nvPr/>
        </p:nvSpPr>
        <p:spPr bwMode="auto">
          <a:xfrm>
            <a:off x="5943600" y="1981200"/>
            <a:ext cx="1143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rPr>
              <a:t>Hello </a:t>
            </a:r>
            <a:r>
              <a:rPr lang="en-US" altLang="zh-CN" sz="1600" baseline="-25000">
                <a:latin typeface="Arial Rounded MT Bold" panose="020F0704030504030204" pitchFamily="34" charset="0"/>
                <a:ea typeface="宋体" panose="02010600030101010101" pitchFamily="2" charset="-122"/>
              </a:rPr>
              <a:t>x86</a:t>
            </a:r>
            <a:endParaRPr lang="en-US" altLang="zh-CN" sz="1600">
              <a:latin typeface="Arial Rounded MT Bold" panose="020F0704030504030204" pitchFamily="34" charset="0"/>
              <a:ea typeface="宋体" panose="02010600030101010101" pitchFamily="2" charset="-122"/>
            </a:endParaRPr>
          </a:p>
        </p:txBody>
      </p:sp>
      <p:sp>
        <p:nvSpPr>
          <p:cNvPr id="56332" name="Text Box 9"/>
          <p:cNvSpPr txBox="1">
            <a:spLocks noChangeArrowheads="1"/>
          </p:cNvSpPr>
          <p:nvPr/>
        </p:nvSpPr>
        <p:spPr bwMode="auto">
          <a:xfrm>
            <a:off x="6019800" y="2819400"/>
            <a:ext cx="1143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rPr>
              <a:t>Hello </a:t>
            </a:r>
            <a:r>
              <a:rPr lang="en-US" altLang="zh-CN" sz="1600" baseline="-25000">
                <a:latin typeface="Arial Rounded MT Bold" panose="020F0704030504030204" pitchFamily="34" charset="0"/>
                <a:ea typeface="宋体" panose="02010600030101010101" pitchFamily="2" charset="-122"/>
              </a:rPr>
              <a:t>sparc</a:t>
            </a:r>
            <a:endParaRPr lang="en-US" altLang="zh-CN" sz="1600">
              <a:latin typeface="Arial Rounded MT Bold" panose="020F0704030504030204" pitchFamily="34" charset="0"/>
              <a:ea typeface="宋体" panose="02010600030101010101" pitchFamily="2" charset="-122"/>
            </a:endParaRPr>
          </a:p>
        </p:txBody>
      </p:sp>
      <p:sp>
        <p:nvSpPr>
          <p:cNvPr id="56333" name="Text Box 10"/>
          <p:cNvSpPr txBox="1">
            <a:spLocks noChangeArrowheads="1"/>
          </p:cNvSpPr>
          <p:nvPr/>
        </p:nvSpPr>
        <p:spPr bwMode="auto">
          <a:xfrm>
            <a:off x="1371600" y="1752600"/>
            <a:ext cx="1143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rPr>
              <a:t>hello.c</a:t>
            </a:r>
          </a:p>
        </p:txBody>
      </p:sp>
      <p:sp>
        <p:nvSpPr>
          <p:cNvPr id="56334" name="Text Box 11"/>
          <p:cNvSpPr txBox="1">
            <a:spLocks noChangeArrowheads="1"/>
          </p:cNvSpPr>
          <p:nvPr/>
        </p:nvSpPr>
        <p:spPr bwMode="auto">
          <a:xfrm>
            <a:off x="1371600" y="2565400"/>
            <a:ext cx="1143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rPr>
              <a:t>hello.f</a:t>
            </a:r>
          </a:p>
        </p:txBody>
      </p:sp>
      <p:sp>
        <p:nvSpPr>
          <p:cNvPr id="56335" name="Text Box 12"/>
          <p:cNvSpPr txBox="1">
            <a:spLocks noChangeArrowheads="1"/>
          </p:cNvSpPr>
          <p:nvPr/>
        </p:nvSpPr>
        <p:spPr bwMode="auto">
          <a:xfrm>
            <a:off x="1371600" y="2159000"/>
            <a:ext cx="1143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rPr>
              <a:t>hello.cc</a:t>
            </a:r>
          </a:p>
        </p:txBody>
      </p:sp>
      <p:sp>
        <p:nvSpPr>
          <p:cNvPr id="56336" name="Text Box 13"/>
          <p:cNvSpPr txBox="1">
            <a:spLocks noChangeArrowheads="1"/>
          </p:cNvSpPr>
          <p:nvPr/>
        </p:nvSpPr>
        <p:spPr bwMode="auto">
          <a:xfrm>
            <a:off x="1371600" y="2971800"/>
            <a:ext cx="1143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rPr>
              <a:t>hello.ada</a:t>
            </a:r>
          </a:p>
        </p:txBody>
      </p:sp>
      <p:sp>
        <p:nvSpPr>
          <p:cNvPr id="56337" name="Line 14"/>
          <p:cNvSpPr>
            <a:spLocks noChangeShapeType="1"/>
          </p:cNvSpPr>
          <p:nvPr/>
        </p:nvSpPr>
        <p:spPr bwMode="auto">
          <a:xfrm>
            <a:off x="2362200" y="23622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8" name="Line 15"/>
          <p:cNvSpPr>
            <a:spLocks noChangeShapeType="1"/>
          </p:cNvSpPr>
          <p:nvPr/>
        </p:nvSpPr>
        <p:spPr bwMode="auto">
          <a:xfrm flipV="1">
            <a:off x="2362200" y="25908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9" name="Line 16"/>
          <p:cNvSpPr>
            <a:spLocks noChangeShapeType="1"/>
          </p:cNvSpPr>
          <p:nvPr/>
        </p:nvSpPr>
        <p:spPr bwMode="auto">
          <a:xfrm flipV="1">
            <a:off x="2362200" y="2590800"/>
            <a:ext cx="1143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56340" name="AutoShape 17"/>
          <p:cNvCxnSpPr>
            <a:cxnSpLocks noChangeShapeType="1"/>
            <a:endCxn id="56330" idx="1"/>
          </p:cNvCxnSpPr>
          <p:nvPr/>
        </p:nvCxnSpPr>
        <p:spPr bwMode="auto">
          <a:xfrm flipV="1">
            <a:off x="5029200" y="2562225"/>
            <a:ext cx="990600" cy="28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41" name="AutoShape 18"/>
          <p:cNvCxnSpPr>
            <a:cxnSpLocks noChangeShapeType="1"/>
            <a:stCxn id="56328" idx="3"/>
            <a:endCxn id="56331" idx="1"/>
          </p:cNvCxnSpPr>
          <p:nvPr/>
        </p:nvCxnSpPr>
        <p:spPr bwMode="auto">
          <a:xfrm flipV="1">
            <a:off x="5038725" y="2149475"/>
            <a:ext cx="904875" cy="4413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42" name="AutoShape 19"/>
          <p:cNvCxnSpPr>
            <a:cxnSpLocks noChangeShapeType="1"/>
            <a:stCxn id="56328" idx="3"/>
            <a:endCxn id="56332" idx="1"/>
          </p:cNvCxnSpPr>
          <p:nvPr/>
        </p:nvCxnSpPr>
        <p:spPr bwMode="auto">
          <a:xfrm>
            <a:off x="5038725" y="2590800"/>
            <a:ext cx="981075" cy="396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343" name="Text Box 20"/>
          <p:cNvSpPr txBox="1">
            <a:spLocks noChangeArrowheads="1"/>
          </p:cNvSpPr>
          <p:nvPr/>
        </p:nvSpPr>
        <p:spPr bwMode="auto">
          <a:xfrm rot="-5400000">
            <a:off x="592137" y="2271713"/>
            <a:ext cx="917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1600" b="1">
                <a:latin typeface="Arial Rounded MT Bold" panose="020F0704030504030204" pitchFamily="34" charset="0"/>
                <a:ea typeface="宋体" panose="02010600030101010101" pitchFamily="2" charset="-122"/>
              </a:rPr>
              <a:t>X FEs</a:t>
            </a:r>
          </a:p>
        </p:txBody>
      </p:sp>
      <p:sp>
        <p:nvSpPr>
          <p:cNvPr id="56344" name="Text Box 21"/>
          <p:cNvSpPr txBox="1">
            <a:spLocks noChangeArrowheads="1"/>
          </p:cNvSpPr>
          <p:nvPr/>
        </p:nvSpPr>
        <p:spPr bwMode="auto">
          <a:xfrm rot="5400000">
            <a:off x="7069137" y="2347913"/>
            <a:ext cx="917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1600" b="1">
                <a:latin typeface="Arial Rounded MT Bold" panose="020F0704030504030204" pitchFamily="34" charset="0"/>
                <a:ea typeface="宋体" panose="02010600030101010101" pitchFamily="2" charset="-122"/>
              </a:rPr>
              <a:t>Y BEs</a:t>
            </a:r>
          </a:p>
        </p:txBody>
      </p:sp>
      <p:grpSp>
        <p:nvGrpSpPr>
          <p:cNvPr id="343062" name="Group 22"/>
          <p:cNvGrpSpPr>
            <a:grpSpLocks/>
          </p:cNvGrpSpPr>
          <p:nvPr/>
        </p:nvGrpSpPr>
        <p:grpSpPr bwMode="auto">
          <a:xfrm>
            <a:off x="762000" y="4616450"/>
            <a:ext cx="7162800" cy="1631950"/>
            <a:chOff x="480" y="2620"/>
            <a:chExt cx="4512" cy="1028"/>
          </a:xfrm>
        </p:grpSpPr>
        <p:sp>
          <p:nvSpPr>
            <p:cNvPr id="56346" name="Rectangle 23"/>
            <p:cNvSpPr>
              <a:spLocks noChangeArrowheads="1"/>
            </p:cNvSpPr>
            <p:nvPr/>
          </p:nvSpPr>
          <p:spPr bwMode="auto">
            <a:xfrm>
              <a:off x="1824" y="2860"/>
              <a:ext cx="768" cy="5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 Rounded MT Bold" panose="020F0704030504030204" pitchFamily="34" charset="0"/>
                  <a:ea typeface="宋体" panose="02010600030101010101" pitchFamily="2" charset="-122"/>
                </a:rPr>
                <a:t>Front End</a:t>
              </a:r>
            </a:p>
          </p:txBody>
        </p:sp>
        <p:sp>
          <p:nvSpPr>
            <p:cNvPr id="56347" name="Line 24"/>
            <p:cNvSpPr>
              <a:spLocks noChangeShapeType="1"/>
            </p:cNvSpPr>
            <p:nvPr/>
          </p:nvSpPr>
          <p:spPr bwMode="auto">
            <a:xfrm>
              <a:off x="1104" y="2812"/>
              <a:ext cx="72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48" name="Text Box 25"/>
            <p:cNvSpPr txBox="1">
              <a:spLocks noChangeArrowheads="1"/>
            </p:cNvSpPr>
            <p:nvPr/>
          </p:nvSpPr>
          <p:spPr bwMode="auto">
            <a:xfrm>
              <a:off x="4272" y="3024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latin typeface="Arial Rounded MT Bold" panose="020F0704030504030204" pitchFamily="34" charset="0"/>
                  <a:ea typeface="宋体" panose="02010600030101010101" pitchFamily="2" charset="-122"/>
                </a:rPr>
                <a:t>Hello </a:t>
              </a:r>
              <a:r>
                <a:rPr lang="en-US" altLang="zh-CN" sz="1600" baseline="-25000">
                  <a:latin typeface="Arial Rounded MT Bold" panose="020F0704030504030204" pitchFamily="34" charset="0"/>
                  <a:ea typeface="宋体" panose="02010600030101010101" pitchFamily="2" charset="-122"/>
                </a:rPr>
                <a:t>alpha</a:t>
              </a:r>
              <a:endPara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49" name="Text Box 26"/>
            <p:cNvSpPr txBox="1">
              <a:spLocks noChangeArrowheads="1"/>
            </p:cNvSpPr>
            <p:nvPr/>
          </p:nvSpPr>
          <p:spPr bwMode="auto">
            <a:xfrm>
              <a:off x="4224" y="2764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latin typeface="Arial Rounded MT Bold" panose="020F0704030504030204" pitchFamily="34" charset="0"/>
                  <a:ea typeface="宋体" panose="02010600030101010101" pitchFamily="2" charset="-122"/>
                </a:rPr>
                <a:t>Hello </a:t>
              </a:r>
              <a:r>
                <a:rPr lang="en-US" altLang="zh-CN" sz="1600" baseline="-25000">
                  <a:latin typeface="Arial Rounded MT Bold" panose="020F0704030504030204" pitchFamily="34" charset="0"/>
                  <a:ea typeface="宋体" panose="02010600030101010101" pitchFamily="2" charset="-122"/>
                </a:rPr>
                <a:t>x86</a:t>
              </a:r>
              <a:endPara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50" name="Text Box 27"/>
            <p:cNvSpPr txBox="1">
              <a:spLocks noChangeArrowheads="1"/>
            </p:cNvSpPr>
            <p:nvPr/>
          </p:nvSpPr>
          <p:spPr bwMode="auto">
            <a:xfrm>
              <a:off x="4272" y="3292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latin typeface="Arial Rounded MT Bold" panose="020F0704030504030204" pitchFamily="34" charset="0"/>
                  <a:ea typeface="宋体" panose="02010600030101010101" pitchFamily="2" charset="-122"/>
                </a:rPr>
                <a:t>Hello </a:t>
              </a:r>
              <a:r>
                <a:rPr lang="en-US" altLang="zh-CN" sz="1600" baseline="-25000">
                  <a:latin typeface="Arial Rounded MT Bold" panose="020F0704030504030204" pitchFamily="34" charset="0"/>
                  <a:ea typeface="宋体" panose="02010600030101010101" pitchFamily="2" charset="-122"/>
                </a:rPr>
                <a:t>sparc</a:t>
              </a:r>
              <a:endPara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51" name="Text Box 28"/>
            <p:cNvSpPr txBox="1">
              <a:spLocks noChangeArrowheads="1"/>
            </p:cNvSpPr>
            <p:nvPr/>
          </p:nvSpPr>
          <p:spPr bwMode="auto">
            <a:xfrm>
              <a:off x="480" y="2620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latin typeface="Arial Rounded MT Bold" panose="020F0704030504030204" pitchFamily="34" charset="0"/>
                  <a:ea typeface="宋体" panose="02010600030101010101" pitchFamily="2" charset="-122"/>
                </a:rPr>
                <a:t>hello.c</a:t>
              </a:r>
            </a:p>
          </p:txBody>
        </p:sp>
        <p:sp>
          <p:nvSpPr>
            <p:cNvPr id="56352" name="Text Box 29"/>
            <p:cNvSpPr txBox="1">
              <a:spLocks noChangeArrowheads="1"/>
            </p:cNvSpPr>
            <p:nvPr/>
          </p:nvSpPr>
          <p:spPr bwMode="auto">
            <a:xfrm>
              <a:off x="480" y="3132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latin typeface="Arial Rounded MT Bold" panose="020F0704030504030204" pitchFamily="34" charset="0"/>
                  <a:ea typeface="宋体" panose="02010600030101010101" pitchFamily="2" charset="-122"/>
                </a:rPr>
                <a:t>hello.f</a:t>
              </a:r>
            </a:p>
          </p:txBody>
        </p:sp>
        <p:sp>
          <p:nvSpPr>
            <p:cNvPr id="56353" name="Text Box 30"/>
            <p:cNvSpPr txBox="1">
              <a:spLocks noChangeArrowheads="1"/>
            </p:cNvSpPr>
            <p:nvPr/>
          </p:nvSpPr>
          <p:spPr bwMode="auto">
            <a:xfrm>
              <a:off x="480" y="2876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latin typeface="Arial Rounded MT Bold" panose="020F0704030504030204" pitchFamily="34" charset="0"/>
                  <a:ea typeface="宋体" panose="02010600030101010101" pitchFamily="2" charset="-122"/>
                </a:rPr>
                <a:t>hello.cc</a:t>
              </a:r>
            </a:p>
          </p:txBody>
        </p:sp>
        <p:sp>
          <p:nvSpPr>
            <p:cNvPr id="56354" name="Text Box 31"/>
            <p:cNvSpPr txBox="1">
              <a:spLocks noChangeArrowheads="1"/>
            </p:cNvSpPr>
            <p:nvPr/>
          </p:nvSpPr>
          <p:spPr bwMode="auto">
            <a:xfrm>
              <a:off x="480" y="3388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latin typeface="Arial Rounded MT Bold" panose="020F0704030504030204" pitchFamily="34" charset="0"/>
                  <a:ea typeface="宋体" panose="02010600030101010101" pitchFamily="2" charset="-122"/>
                </a:rPr>
                <a:t>hello.ada</a:t>
              </a:r>
            </a:p>
          </p:txBody>
        </p:sp>
        <p:sp>
          <p:nvSpPr>
            <p:cNvPr id="56355" name="Line 32"/>
            <p:cNvSpPr>
              <a:spLocks noChangeShapeType="1"/>
            </p:cNvSpPr>
            <p:nvPr/>
          </p:nvSpPr>
          <p:spPr bwMode="auto">
            <a:xfrm>
              <a:off x="1104" y="3004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6" name="Line 33"/>
            <p:cNvSpPr>
              <a:spLocks noChangeShapeType="1"/>
            </p:cNvSpPr>
            <p:nvPr/>
          </p:nvSpPr>
          <p:spPr bwMode="auto">
            <a:xfrm flipV="1">
              <a:off x="1104" y="3148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7" name="Line 34"/>
            <p:cNvSpPr>
              <a:spLocks noChangeShapeType="1"/>
            </p:cNvSpPr>
            <p:nvPr/>
          </p:nvSpPr>
          <p:spPr bwMode="auto">
            <a:xfrm flipV="1">
              <a:off x="1104" y="3148"/>
              <a:ext cx="72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6358" name="AutoShape 35"/>
            <p:cNvCxnSpPr>
              <a:cxnSpLocks noChangeShapeType="1"/>
              <a:stCxn id="56361" idx="3"/>
              <a:endCxn id="56348" idx="1"/>
            </p:cNvCxnSpPr>
            <p:nvPr/>
          </p:nvCxnSpPr>
          <p:spPr bwMode="auto">
            <a:xfrm flipV="1">
              <a:off x="3846" y="3130"/>
              <a:ext cx="426" cy="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9" name="AutoShape 36"/>
            <p:cNvCxnSpPr>
              <a:cxnSpLocks noChangeShapeType="1"/>
              <a:stCxn id="56361" idx="3"/>
              <a:endCxn id="56349" idx="1"/>
            </p:cNvCxnSpPr>
            <p:nvPr/>
          </p:nvCxnSpPr>
          <p:spPr bwMode="auto">
            <a:xfrm flipV="1">
              <a:off x="3846" y="2870"/>
              <a:ext cx="378" cy="27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60" name="AutoShape 37"/>
            <p:cNvCxnSpPr>
              <a:cxnSpLocks noChangeShapeType="1"/>
              <a:stCxn id="56361" idx="3"/>
              <a:endCxn id="56350" idx="1"/>
            </p:cNvCxnSpPr>
            <p:nvPr/>
          </p:nvCxnSpPr>
          <p:spPr bwMode="auto">
            <a:xfrm>
              <a:off x="3846" y="3149"/>
              <a:ext cx="426" cy="24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361" name="Rectangle 38"/>
            <p:cNvSpPr>
              <a:spLocks noChangeArrowheads="1"/>
            </p:cNvSpPr>
            <p:nvPr/>
          </p:nvSpPr>
          <p:spPr bwMode="auto">
            <a:xfrm>
              <a:off x="3120" y="2861"/>
              <a:ext cx="720" cy="5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 Rounded MT Bold" panose="020F0704030504030204" pitchFamily="34" charset="0"/>
                  <a:ea typeface="宋体" panose="02010600030101010101" pitchFamily="2" charset="-122"/>
                </a:rPr>
                <a:t>Back End</a:t>
              </a:r>
            </a:p>
          </p:txBody>
        </p:sp>
        <p:cxnSp>
          <p:nvCxnSpPr>
            <p:cNvPr id="56362" name="AutoShape 39"/>
            <p:cNvCxnSpPr>
              <a:cxnSpLocks noChangeShapeType="1"/>
              <a:stCxn id="56346" idx="3"/>
              <a:endCxn id="56361" idx="1"/>
            </p:cNvCxnSpPr>
            <p:nvPr/>
          </p:nvCxnSpPr>
          <p:spPr bwMode="auto">
            <a:xfrm>
              <a:off x="2598" y="3148"/>
              <a:ext cx="516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363" name="Text Box 40"/>
            <p:cNvSpPr txBox="1">
              <a:spLocks noChangeArrowheads="1"/>
            </p:cNvSpPr>
            <p:nvPr/>
          </p:nvSpPr>
          <p:spPr bwMode="auto">
            <a:xfrm>
              <a:off x="2496" y="2956"/>
              <a:ext cx="7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latin typeface="Arial Rounded MT Bold" panose="020F0704030504030204" pitchFamily="34" charset="0"/>
                  <a:ea typeface="宋体" panose="02010600030101010101" pitchFamily="2" charset="-122"/>
                </a:rPr>
                <a:t>IR</a:t>
              </a:r>
            </a:p>
          </p:txBody>
        </p:sp>
        <p:sp>
          <p:nvSpPr>
            <p:cNvPr id="56364" name="Rectangle 41"/>
            <p:cNvSpPr>
              <a:spLocks noChangeArrowheads="1"/>
            </p:cNvSpPr>
            <p:nvPr/>
          </p:nvSpPr>
          <p:spPr bwMode="auto">
            <a:xfrm>
              <a:off x="1584" y="2688"/>
              <a:ext cx="2448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4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73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73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E4F2E4-31DC-4277-9853-9FFD4A8C45D5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zh-CN" sz="800"/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Internal Compiler Structure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–</a:t>
            </a:r>
            <a:r>
              <a:rPr lang="en-US" altLang="zh-CN" smtClean="0">
                <a:ea typeface="宋体" panose="02010600030101010101" pitchFamily="2" charset="-122"/>
              </a:rPr>
              <a:t>Front End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7351" name="Rectangle 4"/>
          <p:cNvSpPr>
            <a:spLocks noChangeArrowheads="1"/>
          </p:cNvSpPr>
          <p:nvPr/>
        </p:nvSpPr>
        <p:spPr bwMode="auto">
          <a:xfrm>
            <a:off x="304800" y="1676400"/>
            <a:ext cx="8839200" cy="1143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7352" name="Rectangle 5"/>
          <p:cNvSpPr>
            <a:spLocks noChangeArrowheads="1"/>
          </p:cNvSpPr>
          <p:nvPr/>
        </p:nvSpPr>
        <p:spPr bwMode="auto">
          <a:xfrm>
            <a:off x="457200" y="1073150"/>
            <a:ext cx="8686800" cy="517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Series of filter passes</a:t>
            </a:r>
          </a:p>
          <a:p>
            <a:endParaRPr lang="en-US" altLang="zh-CN" b="1">
              <a:ea typeface="宋体" panose="02010600030101010101" pitchFamily="2" charset="-122"/>
            </a:endParaRPr>
          </a:p>
          <a:p>
            <a:endParaRPr lang="en-US" altLang="zh-CN" b="1">
              <a:ea typeface="宋体" panose="02010600030101010101" pitchFamily="2" charset="-122"/>
            </a:endParaRPr>
          </a:p>
          <a:p>
            <a:endParaRPr lang="en-US" altLang="zh-CN" b="1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Source program</a:t>
            </a:r>
            <a:r>
              <a:rPr lang="en-US" altLang="zh-CN" b="1"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Verdana" panose="020B0604030504040204" pitchFamily="34" charset="0"/>
                <a:ea typeface="宋体" panose="02010600030101010101" pitchFamily="2" charset="-122"/>
              </a:rPr>
              <a:t>–</a:t>
            </a:r>
            <a:r>
              <a:rPr lang="en-US" altLang="zh-CN" b="1">
                <a:ea typeface="宋体" panose="02010600030101010101" pitchFamily="2" charset="-122"/>
              </a:rPr>
              <a:t> Written in a HLL</a:t>
            </a:r>
          </a:p>
          <a:p>
            <a:r>
              <a:rPr lang="en-US" altLang="zh-CN">
                <a:ea typeface="宋体" panose="02010600030101010101" pitchFamily="2" charset="-122"/>
              </a:rPr>
              <a:t>Lexical analysis</a:t>
            </a:r>
            <a:r>
              <a:rPr lang="en-US" altLang="zh-CN" b="1"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Verdana" panose="020B0604030504040204" pitchFamily="34" charset="0"/>
                <a:ea typeface="宋体" panose="02010600030101010101" pitchFamily="2" charset="-122"/>
              </a:rPr>
              <a:t>–</a:t>
            </a:r>
            <a:r>
              <a:rPr lang="en-US" altLang="zh-CN" b="1">
                <a:ea typeface="宋体" panose="02010600030101010101" pitchFamily="2" charset="-122"/>
              </a:rPr>
              <a:t> Convert keywords into </a:t>
            </a:r>
            <a:r>
              <a:rPr lang="en-US" altLang="zh-CN" b="1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b="1">
                <a:ea typeface="宋体" panose="02010600030101010101" pitchFamily="2" charset="-122"/>
              </a:rPr>
              <a:t>tokens</a:t>
            </a:r>
            <a:r>
              <a:rPr lang="en-US" altLang="zh-CN" b="1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endParaRPr lang="en-US" altLang="zh-CN" b="1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Parser</a:t>
            </a:r>
            <a:r>
              <a:rPr lang="en-US" altLang="zh-CN" b="1"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Verdana" panose="020B0604030504040204" pitchFamily="34" charset="0"/>
                <a:ea typeface="宋体" panose="02010600030101010101" pitchFamily="2" charset="-122"/>
              </a:rPr>
              <a:t>–</a:t>
            </a:r>
            <a:r>
              <a:rPr lang="en-US" altLang="zh-CN" b="1">
                <a:ea typeface="宋体" panose="02010600030101010101" pitchFamily="2" charset="-122"/>
              </a:rPr>
              <a:t> Forms a syntax </a:t>
            </a:r>
            <a:r>
              <a:rPr lang="en-US" altLang="zh-CN" b="1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b="1">
                <a:ea typeface="宋体" panose="02010600030101010101" pitchFamily="2" charset="-122"/>
              </a:rPr>
              <a:t>tree</a:t>
            </a:r>
            <a:r>
              <a:rPr lang="en-US" altLang="zh-CN" b="1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b="1">
                <a:ea typeface="宋体" panose="02010600030101010101" pitchFamily="2" charset="-122"/>
              </a:rPr>
              <a:t> (statements, expressions, etc.)</a:t>
            </a:r>
          </a:p>
          <a:p>
            <a:r>
              <a:rPr lang="en-US" altLang="zh-CN">
                <a:ea typeface="宋体" panose="02010600030101010101" pitchFamily="2" charset="-122"/>
              </a:rPr>
              <a:t>Semantic analysis</a:t>
            </a:r>
            <a:r>
              <a:rPr lang="en-US" altLang="zh-CN" b="1"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Verdana" panose="020B0604030504040204" pitchFamily="34" charset="0"/>
                <a:ea typeface="宋体" panose="02010600030101010101" pitchFamily="2" charset="-122"/>
              </a:rPr>
              <a:t>–</a:t>
            </a:r>
            <a:r>
              <a:rPr lang="en-US" altLang="zh-CN" b="1">
                <a:ea typeface="宋体" panose="02010600030101010101" pitchFamily="2" charset="-122"/>
              </a:rPr>
              <a:t> Type checking, etc.</a:t>
            </a:r>
          </a:p>
          <a:p>
            <a:r>
              <a:rPr lang="en-US" altLang="zh-CN">
                <a:ea typeface="宋体" panose="02010600030101010101" pitchFamily="2" charset="-122"/>
              </a:rPr>
              <a:t>Intermediate code generator</a:t>
            </a:r>
            <a:r>
              <a:rPr lang="en-US" altLang="zh-CN" b="1"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Verdana" panose="020B0604030504040204" pitchFamily="34" charset="0"/>
                <a:ea typeface="宋体" panose="02010600030101010101" pitchFamily="2" charset="-122"/>
              </a:rPr>
              <a:t>–</a:t>
            </a:r>
            <a:r>
              <a:rPr lang="en-US" altLang="zh-CN" b="1">
                <a:ea typeface="宋体" panose="02010600030101010101" pitchFamily="2" charset="-122"/>
              </a:rPr>
              <a:t> Three-address  code, interface for back end</a:t>
            </a:r>
          </a:p>
        </p:txBody>
      </p:sp>
      <p:sp>
        <p:nvSpPr>
          <p:cNvPr id="57353" name="Rectangle 6"/>
          <p:cNvSpPr>
            <a:spLocks noChangeArrowheads="1"/>
          </p:cNvSpPr>
          <p:nvPr/>
        </p:nvSpPr>
        <p:spPr bwMode="auto">
          <a:xfrm>
            <a:off x="1219200" y="1905000"/>
            <a:ext cx="10668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rPr>
              <a:t>Lexical Analyzer</a:t>
            </a:r>
          </a:p>
        </p:txBody>
      </p:sp>
      <p:sp>
        <p:nvSpPr>
          <p:cNvPr id="57354" name="Rectangle 7"/>
          <p:cNvSpPr>
            <a:spLocks noChangeArrowheads="1"/>
          </p:cNvSpPr>
          <p:nvPr/>
        </p:nvSpPr>
        <p:spPr bwMode="auto">
          <a:xfrm>
            <a:off x="3048000" y="1905000"/>
            <a:ext cx="9144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rPr>
              <a:t>Parser</a:t>
            </a:r>
          </a:p>
        </p:txBody>
      </p:sp>
      <p:sp>
        <p:nvSpPr>
          <p:cNvPr id="57355" name="Rectangle 8"/>
          <p:cNvSpPr>
            <a:spLocks noChangeArrowheads="1"/>
          </p:cNvSpPr>
          <p:nvPr/>
        </p:nvSpPr>
        <p:spPr bwMode="auto">
          <a:xfrm>
            <a:off x="4724400" y="1905000"/>
            <a:ext cx="11430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rPr>
              <a:t>Semantic Analyzer</a:t>
            </a:r>
          </a:p>
        </p:txBody>
      </p:sp>
      <p:sp>
        <p:nvSpPr>
          <p:cNvPr id="57356" name="Line 9"/>
          <p:cNvSpPr>
            <a:spLocks noChangeShapeType="1"/>
          </p:cNvSpPr>
          <p:nvPr/>
        </p:nvSpPr>
        <p:spPr bwMode="auto">
          <a:xfrm>
            <a:off x="685800" y="2209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7" name="Rectangle 10"/>
          <p:cNvSpPr>
            <a:spLocks noChangeArrowheads="1"/>
          </p:cNvSpPr>
          <p:nvPr/>
        </p:nvSpPr>
        <p:spPr bwMode="auto">
          <a:xfrm>
            <a:off x="228600" y="1857375"/>
            <a:ext cx="106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i="1">
                <a:latin typeface="Arial Rounded MT Bold" panose="020F0704030504030204" pitchFamily="34" charset="0"/>
                <a:ea typeface="宋体" panose="02010600030101010101" pitchFamily="2" charset="-122"/>
              </a:rPr>
              <a:t>Source Program</a:t>
            </a:r>
          </a:p>
        </p:txBody>
      </p:sp>
      <p:cxnSp>
        <p:nvCxnSpPr>
          <p:cNvPr id="57358" name="AutoShape 11"/>
          <p:cNvCxnSpPr>
            <a:cxnSpLocks noChangeShapeType="1"/>
            <a:stCxn id="57353" idx="3"/>
            <a:endCxn id="57354" idx="1"/>
          </p:cNvCxnSpPr>
          <p:nvPr/>
        </p:nvCxnSpPr>
        <p:spPr bwMode="auto">
          <a:xfrm>
            <a:off x="2286000" y="2247900"/>
            <a:ext cx="762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59" name="AutoShape 12"/>
          <p:cNvCxnSpPr>
            <a:cxnSpLocks noChangeShapeType="1"/>
            <a:stCxn id="57354" idx="3"/>
            <a:endCxn id="57355" idx="1"/>
          </p:cNvCxnSpPr>
          <p:nvPr/>
        </p:nvCxnSpPr>
        <p:spPr bwMode="auto">
          <a:xfrm>
            <a:off x="3962400" y="2247900"/>
            <a:ext cx="762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60" name="AutoShape 13"/>
          <p:cNvCxnSpPr>
            <a:cxnSpLocks noChangeShapeType="1"/>
            <a:stCxn id="57355" idx="3"/>
            <a:endCxn id="57365" idx="1"/>
          </p:cNvCxnSpPr>
          <p:nvPr/>
        </p:nvCxnSpPr>
        <p:spPr bwMode="auto">
          <a:xfrm>
            <a:off x="5867400" y="2247900"/>
            <a:ext cx="838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361" name="Rectangle 14"/>
          <p:cNvSpPr>
            <a:spLocks noChangeArrowheads="1"/>
          </p:cNvSpPr>
          <p:nvPr/>
        </p:nvSpPr>
        <p:spPr bwMode="auto">
          <a:xfrm>
            <a:off x="2133600" y="1905000"/>
            <a:ext cx="106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i="1">
                <a:latin typeface="Arial Rounded MT Bold" panose="020F0704030504030204" pitchFamily="34" charset="0"/>
                <a:ea typeface="宋体" panose="02010600030101010101" pitchFamily="2" charset="-122"/>
              </a:rPr>
              <a:t>Token Stream</a:t>
            </a:r>
          </a:p>
        </p:txBody>
      </p:sp>
      <p:sp>
        <p:nvSpPr>
          <p:cNvPr id="57362" name="Rectangle 15"/>
          <p:cNvSpPr>
            <a:spLocks noChangeArrowheads="1"/>
          </p:cNvSpPr>
          <p:nvPr/>
        </p:nvSpPr>
        <p:spPr bwMode="auto">
          <a:xfrm>
            <a:off x="3810000" y="1905000"/>
            <a:ext cx="106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i="1">
                <a:latin typeface="Arial Rounded MT Bold" panose="020F0704030504030204" pitchFamily="34" charset="0"/>
                <a:ea typeface="宋体" panose="02010600030101010101" pitchFamily="2" charset="-122"/>
              </a:rPr>
              <a:t>Syntax Tree</a:t>
            </a:r>
          </a:p>
        </p:txBody>
      </p:sp>
      <p:sp>
        <p:nvSpPr>
          <p:cNvPr id="57363" name="Rectangle 16"/>
          <p:cNvSpPr>
            <a:spLocks noChangeArrowheads="1"/>
          </p:cNvSpPr>
          <p:nvPr/>
        </p:nvSpPr>
        <p:spPr bwMode="auto">
          <a:xfrm>
            <a:off x="5715000" y="1905000"/>
            <a:ext cx="106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i="1">
                <a:latin typeface="Arial Rounded MT Bold" panose="020F0704030504030204" pitchFamily="34" charset="0"/>
                <a:ea typeface="宋体" panose="02010600030101010101" pitchFamily="2" charset="-122"/>
              </a:rPr>
              <a:t>Syntax Tree</a:t>
            </a:r>
          </a:p>
        </p:txBody>
      </p:sp>
      <p:grpSp>
        <p:nvGrpSpPr>
          <p:cNvPr id="57364" name="Group 17"/>
          <p:cNvGrpSpPr>
            <a:grpSpLocks/>
          </p:cNvGrpSpPr>
          <p:nvPr/>
        </p:nvGrpSpPr>
        <p:grpSpPr bwMode="auto">
          <a:xfrm>
            <a:off x="6705600" y="1905000"/>
            <a:ext cx="2209800" cy="685800"/>
            <a:chOff x="3840" y="1296"/>
            <a:chExt cx="1296" cy="432"/>
          </a:xfrm>
        </p:grpSpPr>
        <p:sp>
          <p:nvSpPr>
            <p:cNvPr id="57365" name="Rectangle 18"/>
            <p:cNvSpPr>
              <a:spLocks noChangeArrowheads="1"/>
            </p:cNvSpPr>
            <p:nvPr/>
          </p:nvSpPr>
          <p:spPr bwMode="auto">
            <a:xfrm>
              <a:off x="3840" y="1296"/>
              <a:ext cx="864" cy="4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latin typeface="Arial Rounded MT Bold" panose="020F0704030504030204" pitchFamily="34" charset="0"/>
                  <a:ea typeface="宋体" panose="02010600030101010101" pitchFamily="2" charset="-122"/>
                </a:rPr>
                <a:t>Intermediate Code Gen</a:t>
              </a:r>
            </a:p>
          </p:txBody>
        </p:sp>
        <p:sp>
          <p:nvSpPr>
            <p:cNvPr id="57366" name="Line 19"/>
            <p:cNvSpPr>
              <a:spLocks noChangeShapeType="1"/>
            </p:cNvSpPr>
            <p:nvPr/>
          </p:nvSpPr>
          <p:spPr bwMode="auto">
            <a:xfrm>
              <a:off x="4704" y="14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7" name="Rectangle 20"/>
            <p:cNvSpPr>
              <a:spLocks noChangeArrowheads="1"/>
            </p:cNvSpPr>
            <p:nvPr/>
          </p:nvSpPr>
          <p:spPr bwMode="auto">
            <a:xfrm>
              <a:off x="4848" y="134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i="1">
                  <a:latin typeface="Arial Rounded MT Bold" panose="020F0704030504030204" pitchFamily="34" charset="0"/>
                  <a:ea typeface="宋体" panose="02010600030101010101" pitchFamily="2" charset="-122"/>
                </a:rPr>
                <a:t>IR</a:t>
              </a:r>
            </a:p>
          </p:txBody>
        </p:sp>
      </p:grpSp>
    </p:spTree>
  </p:cSld>
  <p:clrMapOvr>
    <a:masterClrMapping/>
  </p:clrMapOvr>
  <p:transition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83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83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B9BB17-8BB5-421F-9EA3-613B8191C2C3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zh-CN" sz="800"/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Internal Compiler Structure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–</a:t>
            </a:r>
            <a:r>
              <a:rPr lang="en-US" altLang="zh-CN" smtClean="0">
                <a:ea typeface="宋体" panose="02010600030101010101" pitchFamily="2" charset="-122"/>
              </a:rPr>
              <a:t>Back End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8375" name="Rectangle 4"/>
          <p:cNvSpPr>
            <a:spLocks noChangeArrowheads="1"/>
          </p:cNvSpPr>
          <p:nvPr/>
        </p:nvSpPr>
        <p:spPr bwMode="auto">
          <a:xfrm>
            <a:off x="849313" y="1196975"/>
            <a:ext cx="7239000" cy="1143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6" name="Rectangle 5"/>
          <p:cNvSpPr>
            <a:spLocks noChangeArrowheads="1"/>
          </p:cNvSpPr>
          <p:nvPr/>
        </p:nvSpPr>
        <p:spPr bwMode="auto">
          <a:xfrm>
            <a:off x="457200" y="990600"/>
            <a:ext cx="83820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Code optimization 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–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>
                <a:ea typeface="宋体" panose="02010600030101010101" pitchFamily="2" charset="-122"/>
              </a:rPr>
              <a:t>improves</a:t>
            </a: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>
                <a:ea typeface="宋体" panose="02010600030101010101" pitchFamily="2" charset="-122"/>
              </a:rPr>
              <a:t> the intermediate code (most time is spent here)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Consists of machine independent &amp; dependent optimizations</a:t>
            </a:r>
          </a:p>
          <a:p>
            <a:r>
              <a:rPr lang="en-US" altLang="zh-CN">
                <a:ea typeface="宋体" panose="02010600030101010101" pitchFamily="2" charset="-122"/>
              </a:rPr>
              <a:t>Code generation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Register allocation, instruction selection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7" name="Rectangle 6"/>
          <p:cNvSpPr>
            <a:spLocks noChangeArrowheads="1"/>
          </p:cNvSpPr>
          <p:nvPr/>
        </p:nvSpPr>
        <p:spPr bwMode="auto">
          <a:xfrm>
            <a:off x="2133600" y="1447800"/>
            <a:ext cx="12192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rPr>
              <a:t>Code Optimizer</a:t>
            </a:r>
          </a:p>
        </p:txBody>
      </p:sp>
      <p:sp>
        <p:nvSpPr>
          <p:cNvPr id="58378" name="Rectangle 7"/>
          <p:cNvSpPr>
            <a:spLocks noChangeArrowheads="1"/>
          </p:cNvSpPr>
          <p:nvPr/>
        </p:nvSpPr>
        <p:spPr bwMode="auto">
          <a:xfrm>
            <a:off x="4191000" y="1447800"/>
            <a:ext cx="12192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>
                <a:latin typeface="Arial Rounded MT Bold" panose="020F0704030504030204" pitchFamily="34" charset="0"/>
                <a:ea typeface="宋体" panose="02010600030101010101" pitchFamily="2" charset="-122"/>
              </a:rPr>
              <a:t>Code Generator</a:t>
            </a:r>
          </a:p>
        </p:txBody>
      </p:sp>
      <p:sp>
        <p:nvSpPr>
          <p:cNvPr id="58379" name="Line 8"/>
          <p:cNvSpPr>
            <a:spLocks noChangeShapeType="1"/>
          </p:cNvSpPr>
          <p:nvPr/>
        </p:nvSpPr>
        <p:spPr bwMode="auto">
          <a:xfrm>
            <a:off x="1600200" y="1752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80" name="Rectangle 9"/>
          <p:cNvSpPr>
            <a:spLocks noChangeArrowheads="1"/>
          </p:cNvSpPr>
          <p:nvPr/>
        </p:nvSpPr>
        <p:spPr bwMode="auto">
          <a:xfrm>
            <a:off x="1143000" y="1447800"/>
            <a:ext cx="5334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i="1">
                <a:latin typeface="Arial Rounded MT Bold" panose="020F0704030504030204" pitchFamily="34" charset="0"/>
                <a:ea typeface="宋体" panose="02010600030101010101" pitchFamily="2" charset="-122"/>
              </a:rPr>
              <a:t>IR</a:t>
            </a:r>
          </a:p>
        </p:txBody>
      </p:sp>
      <p:cxnSp>
        <p:nvCxnSpPr>
          <p:cNvPr id="58381" name="AutoShape 10"/>
          <p:cNvCxnSpPr>
            <a:cxnSpLocks noChangeShapeType="1"/>
            <a:stCxn id="58377" idx="3"/>
            <a:endCxn id="58378" idx="1"/>
          </p:cNvCxnSpPr>
          <p:nvPr/>
        </p:nvCxnSpPr>
        <p:spPr bwMode="auto">
          <a:xfrm>
            <a:off x="3352800" y="1790700"/>
            <a:ext cx="838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2" name="AutoShape 11"/>
          <p:cNvCxnSpPr>
            <a:cxnSpLocks noChangeShapeType="1"/>
            <a:stCxn id="58378" idx="3"/>
          </p:cNvCxnSpPr>
          <p:nvPr/>
        </p:nvCxnSpPr>
        <p:spPr bwMode="auto">
          <a:xfrm>
            <a:off x="5410200" y="1790700"/>
            <a:ext cx="685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83" name="Rectangle 12"/>
          <p:cNvSpPr>
            <a:spLocks noChangeArrowheads="1"/>
          </p:cNvSpPr>
          <p:nvPr/>
        </p:nvSpPr>
        <p:spPr bwMode="auto">
          <a:xfrm>
            <a:off x="3429000" y="1447800"/>
            <a:ext cx="533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i="1">
                <a:latin typeface="Arial Rounded MT Bold" panose="020F0704030504030204" pitchFamily="34" charset="0"/>
                <a:ea typeface="宋体" panose="02010600030101010101" pitchFamily="2" charset="-122"/>
              </a:rPr>
              <a:t>IR</a:t>
            </a:r>
          </a:p>
        </p:txBody>
      </p:sp>
      <p:sp>
        <p:nvSpPr>
          <p:cNvPr id="58384" name="Rectangle 13"/>
          <p:cNvSpPr>
            <a:spLocks noChangeArrowheads="1"/>
          </p:cNvSpPr>
          <p:nvPr/>
        </p:nvSpPr>
        <p:spPr bwMode="auto">
          <a:xfrm>
            <a:off x="5943600" y="1447800"/>
            <a:ext cx="1066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i="1">
                <a:latin typeface="Arial Rounded MT Bold" panose="020F0704030504030204" pitchFamily="34" charset="0"/>
                <a:ea typeface="宋体" panose="02010600030101010101" pitchFamily="2" charset="-122"/>
              </a:rPr>
              <a:t>Target program</a:t>
            </a:r>
          </a:p>
        </p:txBody>
      </p:sp>
    </p:spTree>
  </p:cSld>
  <p:clrMapOvr>
    <a:masterClrMapping/>
  </p:clrMapOvr>
  <p:transition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93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593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BF666B-DB4A-4FAB-86AB-91B50873330C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zh-CN" sz="800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Traditional Compiler Infrastructures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GNU GCC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Targets: everything (pretty much)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Strength: Targets everything (pretty much)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Weakness: Not as extensible as research infrastructures, poor optimization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Stanford SUIF Compiler with Harvard MachSUIF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Targets: Alpha, x86, IPF, C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Strength: high level analysis, parallelization on scientific codes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Intel Open Research Compiler (ORC)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Targets: IPF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Strength: robust with OK code quality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Weakness: Many IR levels</a:t>
            </a:r>
            <a:endParaRPr lang="en-US" altLang="zh-CN" b="1" smtClean="0">
              <a:ea typeface="宋体" panose="02010600030101010101" pitchFamily="2" charset="-122"/>
              <a:hlinkClick r:id="rId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604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604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0EE700-DF01-4268-95AD-AC4768B1F219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zh-CN" sz="800"/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Modern Compiler Infrastructures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IBM Jikes RVM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Targets Linux, x86 or AIX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Strengths: Open-source, wide user base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Weaknesses: In maintenance mode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Microsoft Phoenix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Targets Windows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Strengths: Actively developed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Weaknesses: Closed source, extensive API</a:t>
            </a:r>
          </a:p>
        </p:txBody>
      </p:sp>
    </p:spTree>
  </p:cSld>
  <p:clrMapOvr>
    <a:masterClrMapping/>
  </p:clrMapOvr>
  <p:transition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614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614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4C5BA7-D8A1-4C4F-A4BD-6BE1EA9B2D3C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zh-CN" sz="800"/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What will we learn in this course?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zh-CN" sz="2000" b="1" smtClean="0">
                <a:ea typeface="宋体" panose="02010600030101010101" pitchFamily="2" charset="-122"/>
              </a:rPr>
              <a:t>Structure of Compilers </a:t>
            </a:r>
          </a:p>
          <a:p>
            <a:pPr lvl="1"/>
            <a:r>
              <a:rPr lang="en-US" altLang="zh-CN" sz="2000" b="1" smtClean="0">
                <a:ea typeface="宋体" panose="02010600030101010101" pitchFamily="2" charset="-122"/>
              </a:rPr>
              <a:t>The Front End</a:t>
            </a:r>
          </a:p>
          <a:p>
            <a:pPr lvl="1"/>
            <a:r>
              <a:rPr lang="en-US" altLang="zh-CN" sz="2000" b="1" smtClean="0">
                <a:ea typeface="宋体" panose="02010600030101010101" pitchFamily="2" charset="-122"/>
              </a:rPr>
              <a:t>The Back End</a:t>
            </a:r>
          </a:p>
          <a:p>
            <a:pPr lvl="1"/>
            <a:r>
              <a:rPr lang="en-US" altLang="zh-CN" sz="2000" b="1" smtClean="0">
                <a:ea typeface="宋体" panose="02010600030101010101" pitchFamily="2" charset="-122"/>
              </a:rPr>
              <a:t>Advanced Topics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Just-in-time compilation 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Dynamic optimization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Power and size optimizations</a:t>
            </a: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624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624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D656EC-6F04-47E9-80A6-7776B305FC65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zh-CN" sz="800"/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en-US" altLang="zh-CN" sz="3600" smtClean="0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r>
              <a:rPr lang="en-US" altLang="zh-CN" sz="3200" smtClean="0">
                <a:ea typeface="宋体" panose="02010600030101010101" pitchFamily="2" charset="-122"/>
              </a:rPr>
              <a:t>the constitute of compiler and compiling system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the concept of lexical analyzer, syntax analyzer, semantic analyzer, code generation, symbol table, intermediate representation, parse tree, token and so on. 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Context free grammar (CFG)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Regular expression and regular definition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the concept of retargetable compiler and some typical ones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634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6349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B31BED-6D04-490F-81C6-992F2CEE810A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zh-CN" sz="800"/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>
                <a:ea typeface="宋体" panose="02010600030101010101" pitchFamily="2" charset="-122"/>
              </a:rPr>
              <a:t>小  结</a:t>
            </a:r>
          </a:p>
        </p:txBody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smtClean="0">
                <a:ea typeface="宋体" panose="02010600030101010101" pitchFamily="2" charset="-122"/>
              </a:rPr>
              <a:t>掌握编译系统和编译器的组成，及各个组成部分的相应功能。</a:t>
            </a:r>
          </a:p>
          <a:p>
            <a:r>
              <a:rPr lang="zh-CN" altLang="en-US" sz="2800" smtClean="0">
                <a:ea typeface="宋体" panose="02010600030101010101" pitchFamily="2" charset="-122"/>
              </a:rPr>
              <a:t>理解词法分析、语法分析和语义分析，（中间）代码生成、符号表、中间表示、语法树、单词、句子等的概念。</a:t>
            </a:r>
          </a:p>
          <a:p>
            <a:r>
              <a:rPr lang="zh-CN" altLang="en-US" sz="2800" smtClean="0">
                <a:ea typeface="宋体" panose="02010600030101010101" pitchFamily="2" charset="-122"/>
              </a:rPr>
              <a:t>了解正规表达式和上下文无关语法的概念。</a:t>
            </a:r>
          </a:p>
          <a:p>
            <a:r>
              <a:rPr lang="zh-CN" altLang="en-US" sz="2800" smtClean="0">
                <a:ea typeface="宋体" panose="02010600030101010101" pitchFamily="2" charset="-122"/>
              </a:rPr>
              <a:t>了解可重定目标编译器的概念及主要流行的编译器。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◎2005 ECNU SEI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645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800" smtClean="0">
                <a:ea typeface="宋体" panose="02010600030101010101" pitchFamily="2" charset="-122"/>
              </a:rPr>
              <a:t>Compilers: Principles, Techniques, and Tools </a:t>
            </a:r>
            <a:endParaRPr lang="en-US" altLang="zh-CN" sz="800" smtClean="0">
              <a:ea typeface="宋体" panose="02010600030101010101" pitchFamily="2" charset="-122"/>
            </a:endParaRPr>
          </a:p>
        </p:txBody>
      </p:sp>
      <p:sp>
        <p:nvSpPr>
          <p:cNvPr id="645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27AFF0-0864-4A12-9DF1-03CB857C8F47}" type="slidenum">
              <a:rPr lang="zh-CN" altLang="en-US" sz="80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zh-CN" sz="800"/>
          </a:p>
        </p:txBody>
      </p:sp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r>
              <a:rPr lang="zh-CN" altLang="en-US" sz="2800" smtClean="0">
                <a:ea typeface="宋体" panose="02010600030101010101" pitchFamily="2" charset="-122"/>
              </a:rPr>
              <a:t>思考题：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smtClean="0">
                <a:ea typeface="宋体" panose="02010600030101010101" pitchFamily="2" charset="-122"/>
              </a:rPr>
              <a:t>词法分析的原理是什么？如何实现构词的？</a:t>
            </a:r>
          </a:p>
          <a:p>
            <a:r>
              <a:rPr lang="zh-CN" altLang="en-US" sz="2800" smtClean="0">
                <a:ea typeface="宋体" panose="02010600030101010101" pitchFamily="2" charset="-122"/>
              </a:rPr>
              <a:t>作业：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smtClean="0">
                <a:ea typeface="宋体" panose="02010600030101010101" pitchFamily="2" charset="-122"/>
              </a:rPr>
              <a:t>编译系统通常由哪几个部分组成？简述各部分完成的功能。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smtClean="0">
                <a:ea typeface="宋体" panose="02010600030101010101" pitchFamily="2" charset="-122"/>
              </a:rPr>
              <a:t>编译器通常可以分成哪几个部分组成？每个部分的工作原理与实现的功能是什么？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smtClean="0">
                <a:solidFill>
                  <a:schemeClr val="accent2"/>
                </a:solidFill>
                <a:ea typeface="宋体" panose="02010600030101010101" pitchFamily="2" charset="-122"/>
              </a:rPr>
              <a:t>你对编译原理的教学有何建议？请坦率发表自己的想法。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 smtClean="0">
                <a:solidFill>
                  <a:schemeClr val="accent2"/>
                </a:solidFill>
                <a:ea typeface="宋体" panose="02010600030101010101" pitchFamily="2" charset="-122"/>
              </a:rPr>
              <a:t>				（课间</a:t>
            </a: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//</a:t>
            </a:r>
            <a:r>
              <a:rPr lang="zh-CN" altLang="en-US" sz="2800" smtClean="0">
                <a:solidFill>
                  <a:schemeClr val="accent2"/>
                </a:solidFill>
                <a:ea typeface="宋体" panose="02010600030101010101" pitchFamily="2" charset="-122"/>
              </a:rPr>
              <a:t>邮件）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4627</TotalTime>
  <Words>4280</Words>
  <Application>Microsoft Office PowerPoint</Application>
  <PresentationFormat>A4 纸张(210x297 毫米)</PresentationFormat>
  <Paragraphs>790</Paragraphs>
  <Slides>62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62</vt:i4>
      </vt:variant>
    </vt:vector>
  </HeadingPairs>
  <TitlesOfParts>
    <vt:vector size="72" baseType="lpstr">
      <vt:lpstr>Times New Roman</vt:lpstr>
      <vt:lpstr>Arial</vt:lpstr>
      <vt:lpstr>宋体</vt:lpstr>
      <vt:lpstr>Verdana</vt:lpstr>
      <vt:lpstr>Arial Rounded MT Bold</vt:lpstr>
      <vt:lpstr>Courier New</vt:lpstr>
      <vt:lpstr>Wingdings</vt:lpstr>
      <vt:lpstr>Default Design</vt:lpstr>
      <vt:lpstr>Microsoft Visio Drawing</vt:lpstr>
      <vt:lpstr>Microsoft Visio 绘图</vt:lpstr>
      <vt:lpstr>Compilers: Principles, Techniques, and Tools  (version 1 &amp; version 2)</vt:lpstr>
      <vt:lpstr>PowerPoint 演示文稿</vt:lpstr>
      <vt:lpstr>Course Information</vt:lpstr>
      <vt:lpstr>Preliminaries Required</vt:lpstr>
      <vt:lpstr>Purposes of this course</vt:lpstr>
      <vt:lpstr>Grading</vt:lpstr>
      <vt:lpstr>Course Outline</vt:lpstr>
      <vt:lpstr>A brief history of compiler  </vt:lpstr>
      <vt:lpstr>A brief history of compiler (cont.)</vt:lpstr>
      <vt:lpstr>PowerPoint 演示文稿</vt:lpstr>
      <vt:lpstr>A brief history of compiler (cont.)</vt:lpstr>
      <vt:lpstr>1.1 Compilers (P.2)</vt:lpstr>
      <vt:lpstr>PowerPoint 演示文稿</vt:lpstr>
      <vt:lpstr>What is an Interpreter?</vt:lpstr>
      <vt:lpstr>What is a Just-in-Time Compiler?</vt:lpstr>
      <vt:lpstr>Other Applications (P.3)</vt:lpstr>
      <vt:lpstr>Compiling system (P.5)</vt:lpstr>
      <vt:lpstr>1.4  cousins of the compiler (P.16)</vt:lpstr>
      <vt:lpstr>PowerPoint 演示文稿</vt:lpstr>
      <vt:lpstr>Major Parts of Compilers</vt:lpstr>
      <vt:lpstr>1.3 The Phases of a Compiler （pass）(P.10)</vt:lpstr>
      <vt:lpstr>                                                                        (P.10)</vt:lpstr>
      <vt:lpstr>Lexical Analyzer  (P.5)</vt:lpstr>
      <vt:lpstr>Lexical Analyzer (cont.)</vt:lpstr>
      <vt:lpstr>Syntax Analyzer  (P.6)</vt:lpstr>
      <vt:lpstr>Syntax Analyzer (cont.)</vt:lpstr>
      <vt:lpstr>Syntax Analyzer vs. Lexical Analyzer</vt:lpstr>
      <vt:lpstr>Parsing Techniques </vt:lpstr>
      <vt:lpstr>Parsing Techniques (cont.)</vt:lpstr>
      <vt:lpstr>Parsing Techniques (cont.)</vt:lpstr>
      <vt:lpstr>Semantic Analyzer (P.8)</vt:lpstr>
      <vt:lpstr>Semantic Analyzer (cont.)</vt:lpstr>
      <vt:lpstr>Intermediate Code Generation (P.12)</vt:lpstr>
      <vt:lpstr>Intermediate Code Generation (example)</vt:lpstr>
      <vt:lpstr>Code Optimizer (for Intermediate Code Generator) (P.14)</vt:lpstr>
      <vt:lpstr>Code Generator (P.15)</vt:lpstr>
      <vt:lpstr>                                                                           (P.13)</vt:lpstr>
      <vt:lpstr>Symbol-table management (P.11)</vt:lpstr>
      <vt:lpstr>Symbol-table management (cont.)</vt:lpstr>
      <vt:lpstr>Error detection and reporting (P.11)</vt:lpstr>
      <vt:lpstr>Major data structures in a compiler</vt:lpstr>
      <vt:lpstr>Major data structures in a compiler (cont.)</vt:lpstr>
      <vt:lpstr>1.5 the grouping of phases (P.20)  </vt:lpstr>
      <vt:lpstr>the grouping of phases (cont.)</vt:lpstr>
      <vt:lpstr>other issues in compiler structure (cont.)</vt:lpstr>
      <vt:lpstr>Why Study Compilers?</vt:lpstr>
      <vt:lpstr>Goals of a Compiler</vt:lpstr>
      <vt:lpstr>An Interface to High-Level Languages</vt:lpstr>
      <vt:lpstr>High-Level Languages and Features</vt:lpstr>
      <vt:lpstr>An Interface to Computer Architectures</vt:lpstr>
      <vt:lpstr>How Can We Translate Effectively?</vt:lpstr>
      <vt:lpstr>Idea: Translate in Steps</vt:lpstr>
      <vt:lpstr>Simplified Compiler Structure</vt:lpstr>
      <vt:lpstr>Why Separate the Front and Back Ends?</vt:lpstr>
      <vt:lpstr>Internal Compiler Structure –Front End</vt:lpstr>
      <vt:lpstr>Internal Compiler Structure –Back End</vt:lpstr>
      <vt:lpstr>Traditional Compiler Infrastructures</vt:lpstr>
      <vt:lpstr>Modern Compiler Infrastructures</vt:lpstr>
      <vt:lpstr>What will we learn in this course?</vt:lpstr>
      <vt:lpstr>Summary</vt:lpstr>
      <vt:lpstr>小  结</vt:lpstr>
      <vt:lpstr>PowerPoint 演示文稿</vt:lpstr>
    </vt:vector>
  </TitlesOfParts>
  <Company>Bilkent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CS416:lec00-outline</dc:title>
  <dc:creator>Ilyas Cicekli</dc:creator>
  <cp:lastModifiedBy>Exin Y</cp:lastModifiedBy>
  <cp:revision>249</cp:revision>
  <cp:lastPrinted>1999-09-09T03:15:50Z</cp:lastPrinted>
  <dcterms:created xsi:type="dcterms:W3CDTF">1999-01-20T19:57:44Z</dcterms:created>
  <dcterms:modified xsi:type="dcterms:W3CDTF">2015-10-07T09:25:32Z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radev@cs.columbia.edu</vt:lpwstr>
  </property>
  <property fmtid="{D5CDD505-2E9C-101B-9397-08002B2CF9AE}" pid="8" name="HomePage">
    <vt:lpwstr>http://www.cs.columbia.edu/~radev/cs4705/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F:\html\cs4705</vt:lpwstr>
  </property>
</Properties>
</file>