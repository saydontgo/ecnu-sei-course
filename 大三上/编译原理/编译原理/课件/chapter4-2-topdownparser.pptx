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325" r:id="rId2"/>
    <p:sldId id="282" r:id="rId3"/>
    <p:sldId id="283" r:id="rId4"/>
    <p:sldId id="281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313" r:id="rId13"/>
    <p:sldId id="291" r:id="rId14"/>
    <p:sldId id="292" r:id="rId15"/>
    <p:sldId id="293" r:id="rId16"/>
    <p:sldId id="294" r:id="rId17"/>
    <p:sldId id="295" r:id="rId18"/>
    <p:sldId id="314" r:id="rId19"/>
    <p:sldId id="296" r:id="rId20"/>
    <p:sldId id="297" r:id="rId21"/>
    <p:sldId id="315" r:id="rId22"/>
    <p:sldId id="298" r:id="rId23"/>
    <p:sldId id="316" r:id="rId24"/>
    <p:sldId id="299" r:id="rId25"/>
    <p:sldId id="317" r:id="rId26"/>
    <p:sldId id="300" r:id="rId27"/>
    <p:sldId id="318" r:id="rId28"/>
    <p:sldId id="330" r:id="rId29"/>
    <p:sldId id="331" r:id="rId30"/>
    <p:sldId id="301" r:id="rId31"/>
    <p:sldId id="302" r:id="rId32"/>
    <p:sldId id="312" r:id="rId33"/>
    <p:sldId id="303" r:id="rId34"/>
    <p:sldId id="319" r:id="rId35"/>
    <p:sldId id="306" r:id="rId36"/>
    <p:sldId id="304" r:id="rId37"/>
    <p:sldId id="326" r:id="rId38"/>
    <p:sldId id="327" r:id="rId39"/>
    <p:sldId id="328" r:id="rId40"/>
    <p:sldId id="329" r:id="rId41"/>
    <p:sldId id="305" r:id="rId42"/>
    <p:sldId id="307" r:id="rId43"/>
    <p:sldId id="308" r:id="rId44"/>
    <p:sldId id="309" r:id="rId45"/>
    <p:sldId id="310" r:id="rId46"/>
    <p:sldId id="311" r:id="rId47"/>
    <p:sldId id="323" r:id="rId48"/>
    <p:sldId id="324" r:id="rId49"/>
  </p:sldIdLst>
  <p:sldSz cx="9906000" cy="6858000" type="A4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0">
          <p15:clr>
            <a:srgbClr val="A4A3A4"/>
          </p15:clr>
        </p15:guide>
        <p15:guide id="2" pos="30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6600CC"/>
    <a:srgbClr val="660066"/>
    <a:srgbClr val="CC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960" y="84"/>
      </p:cViewPr>
      <p:guideLst>
        <p:guide orient="horz" pos="1680"/>
        <p:guide pos="3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86"/>
    </p:cViewPr>
  </p:sorterViewPr>
  <p:notesViewPr>
    <p:cSldViewPr>
      <p:cViewPr varScale="1">
        <p:scale>
          <a:sx n="60" d="100"/>
          <a:sy n="60" d="100"/>
        </p:scale>
        <p:origin x="-1698" y="-78"/>
      </p:cViewPr>
      <p:guideLst>
        <p:guide orient="horz" pos="2924"/>
        <p:guide pos="22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t" anchorCtr="0" compatLnSpc="1">
            <a:prstTxWarp prst="textNoShape">
              <a:avLst/>
            </a:prstTxWarp>
          </a:bodyPr>
          <a:lstStyle>
            <a:lvl1pPr defTabSz="912813">
              <a:defRPr sz="1200" smtClean="0"/>
            </a:lvl1pPr>
          </a:lstStyle>
          <a:p>
            <a:pPr>
              <a:defRPr/>
            </a:pPr>
            <a:r>
              <a:rPr lang="zh-CN" altLang="en-US"/>
              <a:t>lec03-topdownparser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1763" y="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 smtClean="0"/>
            </a:lvl1pPr>
          </a:lstStyle>
          <a:p>
            <a:pPr>
              <a:defRPr/>
            </a:pPr>
            <a:fld id="{114CA2A4-B48A-475A-B700-F83EA8B0F49C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650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b" anchorCtr="0" compatLnSpc="1">
            <a:prstTxWarp prst="textNoShape">
              <a:avLst/>
            </a:prstTxWarp>
          </a:bodyPr>
          <a:lstStyle>
            <a:lvl1pPr defTabSz="912813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1763" y="882650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A38CF1CF-CCAD-49FD-9851-68BCFB3E40B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>
            <a:lvl1pPr defTabSz="930275">
              <a:defRPr sz="1200" smtClean="0"/>
            </a:lvl1pPr>
          </a:lstStyle>
          <a:p>
            <a:pPr>
              <a:defRPr/>
            </a:pPr>
            <a:r>
              <a:rPr lang="zh-CN" altLang="en-US"/>
              <a:t>lec03-topdownparser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 smtClean="0"/>
            </a:lvl1pPr>
          </a:lstStyle>
          <a:p>
            <a:pPr>
              <a:defRPr/>
            </a:pPr>
            <a:fld id="{7FB93423-82B2-49E9-B230-B10E8E3A73A8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51204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85838" y="695325"/>
            <a:ext cx="502920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1663"/>
            <a:ext cx="5130800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18563"/>
            <a:ext cx="303212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C907945C-53F1-4BF7-9416-B6B21C3E159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lec03-topdownparser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8289AA6-791D-46FB-9D61-913BD4393D13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5E0535F-D9CE-48DE-8986-808958FEBE38}" type="slidenum">
              <a:rPr lang="zh-CN" altLang="en-US" sz="1200"/>
              <a:pPr/>
              <a:t>2</a:t>
            </a:fld>
            <a:endParaRPr lang="en-US" altLang="zh-CN" sz="1200"/>
          </a:p>
        </p:txBody>
      </p:sp>
      <p:sp>
        <p:nvSpPr>
          <p:cNvPr id="5222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9D3E8C-D5A7-4AA2-B643-4CB73DDB93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9375226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A68425-4039-4196-9E0D-52F05E9D25B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4167698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D1E415-05E7-46F9-887D-82242F5BA05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9461375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1128FC-7074-415B-BED5-A2913273923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7177766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E28744-220E-44AB-A5C6-6D98C9CCA99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901693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B32AB7-5DD7-46F9-82EC-6C25CAD425B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0580326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592985-3D1C-4890-AFF2-8B4A8559E87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4873735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23C18F-D899-49B5-AA5D-87FB5DFCB5A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7748972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EA0820-28FB-43AE-9EE9-D9740B028C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2620481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5E022E-F0B8-4A2B-96B6-02BF4A95BB9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043695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10450" y="152400"/>
            <a:ext cx="2343150" cy="6172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877050" cy="6172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D330F9-2C12-4827-AC32-C10D1A19350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233327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C95E2C-3D32-4815-AD51-23A6CE391E5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0374526"/>
      </p:ext>
    </p:extLst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219200"/>
            <a:ext cx="9372600" cy="51054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2095D0-AAFB-4B02-AD33-A3C84F1C047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6740730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937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0"/>
            <a:ext cx="9372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 smtClean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4350" y="6477000"/>
            <a:ext cx="3714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 smtClean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ea typeface="宋体" panose="02010600030101010101" pitchFamily="2" charset="-122"/>
              </a:defRPr>
            </a:lvl1pPr>
          </a:lstStyle>
          <a:p>
            <a:fld id="{3E24F193-504B-49D0-96AF-E13A1757F80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rand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0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0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6794759-CB15-471F-9634-B821E591880F}" type="slidenum">
              <a:rPr lang="zh-CN" altLang="en-US" sz="800"/>
              <a:pPr/>
              <a:t>1</a:t>
            </a:fld>
            <a:endParaRPr lang="en-US" altLang="zh-CN" sz="800"/>
          </a:p>
        </p:txBody>
      </p:sp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1277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Exercises</a:t>
            </a:r>
          </a:p>
        </p:txBody>
      </p:sp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84313"/>
            <a:ext cx="9109075" cy="5040312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P.273 4.37 a)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Given the following grammar G: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S -&gt; AaAb | BbBa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A -&gt;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B -&gt;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a. compute FIRST() and FOLLOW() for each non-terminal;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b. construct LL(1) table;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c. is string “ab” a sentence of L(G) ? Please use stack to analyze it.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0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0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00E9F7E-55BB-44F9-ABE0-51DE8319B589}" type="slidenum">
              <a:rPr lang="zh-CN" altLang="en-US" sz="800"/>
              <a:pPr/>
              <a:t>2</a:t>
            </a:fld>
            <a:endParaRPr lang="en-US" altLang="zh-CN" sz="8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251950" cy="68421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Top-Down Parsing (</a:t>
            </a:r>
            <a:r>
              <a:rPr lang="zh-CN" altLang="en-US" smtClean="0">
                <a:ea typeface="宋体" panose="02010600030101010101" pitchFamily="2" charset="-122"/>
              </a:rPr>
              <a:t>自底向下语法分析</a:t>
            </a:r>
            <a:r>
              <a:rPr lang="en-US" altLang="zh-CN" smtClean="0">
                <a:ea typeface="宋体" panose="02010600030101010101" pitchFamily="2" charset="-122"/>
              </a:rPr>
              <a:t>)(P.181)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81075"/>
            <a:ext cx="9204325" cy="5400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The parse tree is created top to bottom (from root to leaves).</a:t>
            </a:r>
          </a:p>
          <a:p>
            <a:pPr>
              <a:lnSpc>
                <a:spcPct val="90000"/>
              </a:lnSpc>
            </a:pPr>
            <a:r>
              <a:rPr lang="en-US" altLang="zh-CN" sz="2000" b="1" smtClean="0">
                <a:solidFill>
                  <a:schemeClr val="accent2"/>
                </a:solidFill>
                <a:ea typeface="宋体" panose="02010600030101010101" pitchFamily="2" charset="-122"/>
              </a:rPr>
              <a:t>By always replacing the leftmost non-terminal symbol via a production rule, we are guaranteed of developing a parse tree in a left-to-right fashion that is consistent with scanning the input.</a:t>
            </a:r>
            <a:r>
              <a:rPr lang="en-US" altLang="zh-CN" sz="2000" smtClean="0"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Top-down parser</a:t>
            </a:r>
          </a:p>
          <a:p>
            <a:pPr lvl="1">
              <a:lnSpc>
                <a:spcPct val="90000"/>
              </a:lnSpc>
            </a:pPr>
            <a:r>
              <a:rPr lang="en-US" altLang="zh-CN" b="1" smtClean="0">
                <a:ea typeface="宋体" panose="02010600030101010101" pitchFamily="2" charset="-122"/>
              </a:rPr>
              <a:t>Recursive-Descent Parsing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zh-CN" altLang="en-US" smtClean="0">
                <a:ea typeface="宋体" panose="02010600030101010101" pitchFamily="2" charset="-122"/>
              </a:rPr>
              <a:t>（递归下降）</a:t>
            </a:r>
          </a:p>
          <a:p>
            <a:pPr lvl="2">
              <a:lnSpc>
                <a:spcPct val="90000"/>
              </a:lnSpc>
            </a:pPr>
            <a:r>
              <a:rPr lang="en-US" altLang="zh-CN" sz="1800" smtClean="0">
                <a:ea typeface="宋体" panose="02010600030101010101" pitchFamily="2" charset="-122"/>
              </a:rPr>
              <a:t>Backtracking is needed (If a choice of a production rule does not work, we backtrack to try other alternatives.)</a:t>
            </a:r>
          </a:p>
          <a:p>
            <a:pPr lvl="2">
              <a:lnSpc>
                <a:spcPct val="90000"/>
              </a:lnSpc>
            </a:pPr>
            <a:r>
              <a:rPr lang="en-US" altLang="zh-CN" sz="1800" smtClean="0">
                <a:ea typeface="宋体" panose="02010600030101010101" pitchFamily="2" charset="-122"/>
              </a:rPr>
              <a:t>It is a general parsing technique, but not widely used.</a:t>
            </a:r>
          </a:p>
          <a:p>
            <a:pPr lvl="2">
              <a:lnSpc>
                <a:spcPct val="90000"/>
              </a:lnSpc>
            </a:pPr>
            <a:r>
              <a:rPr lang="en-US" altLang="zh-CN" sz="1800" smtClean="0">
                <a:ea typeface="宋体" panose="02010600030101010101" pitchFamily="2" charset="-122"/>
              </a:rPr>
              <a:t>Not efficient</a:t>
            </a:r>
          </a:p>
          <a:p>
            <a:pPr lvl="1">
              <a:lnSpc>
                <a:spcPct val="90000"/>
              </a:lnSpc>
            </a:pPr>
            <a:r>
              <a:rPr lang="en-US" altLang="zh-CN" b="1" smtClean="0">
                <a:ea typeface="宋体" panose="02010600030101010101" pitchFamily="2" charset="-122"/>
              </a:rPr>
              <a:t>Predictive Parsing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zh-CN" altLang="en-US" smtClean="0">
                <a:ea typeface="宋体" panose="02010600030101010101" pitchFamily="2" charset="-122"/>
              </a:rPr>
              <a:t>（可预测）</a:t>
            </a:r>
          </a:p>
          <a:p>
            <a:pPr lvl="2">
              <a:lnSpc>
                <a:spcPct val="90000"/>
              </a:lnSpc>
            </a:pPr>
            <a:r>
              <a:rPr lang="en-US" altLang="zh-CN" sz="1800" smtClean="0">
                <a:ea typeface="宋体" panose="02010600030101010101" pitchFamily="2" charset="-122"/>
              </a:rPr>
              <a:t>no backtracking </a:t>
            </a:r>
          </a:p>
          <a:p>
            <a:pPr lvl="2">
              <a:lnSpc>
                <a:spcPct val="90000"/>
              </a:lnSpc>
            </a:pPr>
            <a:r>
              <a:rPr lang="en-US" altLang="zh-CN" sz="1800" smtClean="0">
                <a:ea typeface="宋体" panose="02010600030101010101" pitchFamily="2" charset="-122"/>
              </a:rPr>
              <a:t>efficient</a:t>
            </a:r>
          </a:p>
          <a:p>
            <a:pPr lvl="2">
              <a:lnSpc>
                <a:spcPct val="90000"/>
              </a:lnSpc>
            </a:pPr>
            <a:r>
              <a:rPr lang="en-US" altLang="zh-CN" sz="1800" smtClean="0">
                <a:ea typeface="宋体" panose="02010600030101010101" pitchFamily="2" charset="-122"/>
              </a:rPr>
              <a:t>needs a special form of grammars (</a:t>
            </a:r>
            <a:r>
              <a:rPr lang="en-US" altLang="zh-CN" sz="1800" b="1" smtClean="0">
                <a:solidFill>
                  <a:schemeClr val="accent2"/>
                </a:solidFill>
                <a:ea typeface="宋体" panose="02010600030101010101" pitchFamily="2" charset="-122"/>
              </a:rPr>
              <a:t>LL(1) grammars</a:t>
            </a:r>
            <a:r>
              <a:rPr lang="en-US" altLang="zh-CN" sz="1800" smtClean="0">
                <a:ea typeface="宋体" panose="02010600030101010101" pitchFamily="2" charset="-122"/>
              </a:rPr>
              <a:t>).</a:t>
            </a:r>
          </a:p>
          <a:p>
            <a:pPr lvl="2">
              <a:lnSpc>
                <a:spcPct val="90000"/>
              </a:lnSpc>
            </a:pPr>
            <a:r>
              <a:rPr lang="en-US" altLang="zh-CN" sz="1800" b="1" smtClean="0">
                <a:ea typeface="宋体" panose="02010600030101010101" pitchFamily="2" charset="-122"/>
              </a:rPr>
              <a:t>Recursive Predictive Parsing</a:t>
            </a:r>
            <a:r>
              <a:rPr lang="en-US" altLang="zh-CN" sz="1800" smtClean="0">
                <a:ea typeface="宋体" panose="02010600030101010101" pitchFamily="2" charset="-122"/>
              </a:rPr>
              <a:t>  is a special form of Recursive Descent parsing without backtracking.</a:t>
            </a:r>
          </a:p>
          <a:p>
            <a:pPr lvl="2">
              <a:lnSpc>
                <a:spcPct val="90000"/>
              </a:lnSpc>
            </a:pPr>
            <a:r>
              <a:rPr lang="en-US" altLang="zh-CN" sz="1800" b="1" smtClean="0">
                <a:ea typeface="宋体" panose="02010600030101010101" pitchFamily="2" charset="-122"/>
              </a:rPr>
              <a:t>Non-Recursive (Table Driven) Predictive Parser</a:t>
            </a:r>
            <a:r>
              <a:rPr lang="en-US" altLang="zh-CN" sz="1800" smtClean="0">
                <a:ea typeface="宋体" panose="02010600030101010101" pitchFamily="2" charset="-122"/>
              </a:rPr>
              <a:t> is also known as LL(1) parser.</a:t>
            </a:r>
          </a:p>
        </p:txBody>
      </p:sp>
      <p:sp>
        <p:nvSpPr>
          <p:cNvPr id="262159" name="Rectangle 15"/>
          <p:cNvSpPr>
            <a:spLocks noChangeArrowheads="1"/>
          </p:cNvSpPr>
          <p:nvPr/>
        </p:nvSpPr>
        <p:spPr bwMode="auto">
          <a:xfrm>
            <a:off x="5240338" y="3644900"/>
            <a:ext cx="44608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2000" b="1">
                <a:solidFill>
                  <a:srgbClr val="660066"/>
                </a:solidFill>
                <a:ea typeface="宋体" panose="02010600030101010101" pitchFamily="2" charset="-122"/>
              </a:rPr>
              <a:t>A </a:t>
            </a:r>
            <a:r>
              <a:rPr lang="en-US" altLang="zh-CN" sz="2000" b="1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b="1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b="1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ad</a:t>
            </a:r>
            <a:r>
              <a:rPr lang="en-US" altLang="zh-CN" sz="2000" b="1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b="1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adec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algn="ctr"/>
            <a:r>
              <a:rPr lang="en-US" altLang="zh-CN" b="1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(scan a, scan d, scan e, scan c - accept!)</a:t>
            </a:r>
            <a:endParaRPr lang="zh-CN" altLang="en-US" sz="2000" b="1">
              <a:solidFill>
                <a:srgbClr val="660066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62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5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0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1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C142002-646A-4C89-BA09-73858DD3DA48}" type="slidenum">
              <a:rPr lang="zh-CN" altLang="en-US" sz="800"/>
              <a:pPr/>
              <a:t>3</a:t>
            </a:fld>
            <a:endParaRPr lang="en-US" altLang="zh-CN" sz="80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8421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Recursive-Descent Parsing (uses Backtracking)</a:t>
            </a:r>
          </a:p>
        </p:txBody>
      </p:sp>
      <p:sp>
        <p:nvSpPr>
          <p:cNvPr id="4102" name="Rectangle 14"/>
          <p:cNvSpPr>
            <a:spLocks noChangeArrowheads="1"/>
          </p:cNvSpPr>
          <p:nvPr/>
        </p:nvSpPr>
        <p:spPr bwMode="auto">
          <a:xfrm>
            <a:off x="2073275" y="6021388"/>
            <a:ext cx="5543550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Fig.4.9 steps in top-down parse (P.182)</a:t>
            </a:r>
          </a:p>
        </p:txBody>
      </p:sp>
      <p:sp>
        <p:nvSpPr>
          <p:cNvPr id="4103" name="Text Box 17"/>
          <p:cNvSpPr txBox="1">
            <a:spLocks noChangeArrowheads="1"/>
          </p:cNvSpPr>
          <p:nvPr/>
        </p:nvSpPr>
        <p:spPr bwMode="auto">
          <a:xfrm>
            <a:off x="849313" y="908050"/>
            <a:ext cx="7913687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b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General category of Top-Down Parsing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>
                <a:ea typeface="宋体" panose="02010600030101010101" pitchFamily="2" charset="-122"/>
              </a:rPr>
              <a:t> Choose production rule based on input symbol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>
                <a:ea typeface="宋体" panose="02010600030101010101" pitchFamily="2" charset="-122"/>
              </a:rPr>
              <a:t> May require backtracking to correct a wrong choice.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>
                <a:ea typeface="宋体" panose="02010600030101010101" pitchFamily="2" charset="-122"/>
              </a:rPr>
              <a:t> Example:</a:t>
            </a:r>
            <a:r>
              <a:rPr lang="en-US" altLang="zh-CN" b="1">
                <a:ea typeface="宋体" panose="02010600030101010101" pitchFamily="2" charset="-122"/>
              </a:rPr>
              <a:t>      </a:t>
            </a:r>
            <a:r>
              <a:rPr lang="en-US" altLang="zh-CN" sz="2000" b="1">
                <a:ea typeface="宋体" panose="02010600030101010101" pitchFamily="2" charset="-122"/>
              </a:rPr>
              <a:t>S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 A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</a:p>
          <a:p>
            <a:pPr eaLnBrk="1" hangingPunct="1">
              <a:lnSpc>
                <a:spcPct val="40000"/>
              </a:lnSpc>
              <a:spcBef>
                <a:spcPct val="20000"/>
              </a:spcBef>
            </a:pPr>
            <a:r>
              <a:rPr lang="en-US" altLang="zh-CN" b="1">
                <a:ea typeface="宋体" panose="02010600030101010101" pitchFamily="2" charset="-122"/>
              </a:rPr>
              <a:t>                       </a:t>
            </a:r>
            <a:r>
              <a:rPr lang="en-US" altLang="zh-CN" sz="2000" b="1">
                <a:ea typeface="宋体" panose="02010600030101010101" pitchFamily="2" charset="-122"/>
              </a:rPr>
              <a:t>A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ab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>
                <a:ea typeface="宋体" panose="02010600030101010101" pitchFamily="2" charset="-122"/>
              </a:rPr>
              <a:t>     </a:t>
            </a:r>
          </a:p>
        </p:txBody>
      </p:sp>
      <p:sp>
        <p:nvSpPr>
          <p:cNvPr id="4104" name="AutoShape 18"/>
          <p:cNvSpPr>
            <a:spLocks/>
          </p:cNvSpPr>
          <p:nvPr/>
        </p:nvSpPr>
        <p:spPr bwMode="auto">
          <a:xfrm>
            <a:off x="4521200" y="2419350"/>
            <a:ext cx="71438" cy="504825"/>
          </a:xfrm>
          <a:prstGeom prst="rightBrace">
            <a:avLst>
              <a:gd name="adj1" fmla="val 58888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105" name="Text Box 19"/>
          <p:cNvSpPr txBox="1">
            <a:spLocks noChangeArrowheads="1"/>
          </p:cNvSpPr>
          <p:nvPr/>
        </p:nvSpPr>
        <p:spPr bwMode="auto">
          <a:xfrm>
            <a:off x="5097463" y="2420938"/>
            <a:ext cx="1828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input: 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cad</a:t>
            </a:r>
            <a:endParaRPr lang="en-US" altLang="zh-CN" sz="2000" b="1">
              <a:ea typeface="宋体" panose="02010600030101010101" pitchFamily="2" charset="-122"/>
            </a:endParaRPr>
          </a:p>
        </p:txBody>
      </p:sp>
      <p:grpSp>
        <p:nvGrpSpPr>
          <p:cNvPr id="264212" name="Group 20"/>
          <p:cNvGrpSpPr>
            <a:grpSpLocks/>
          </p:cNvGrpSpPr>
          <p:nvPr/>
        </p:nvGrpSpPr>
        <p:grpSpPr bwMode="auto">
          <a:xfrm>
            <a:off x="1524000" y="3214688"/>
            <a:ext cx="1981200" cy="930275"/>
            <a:chOff x="960" y="2496"/>
            <a:chExt cx="1248" cy="586"/>
          </a:xfrm>
        </p:grpSpPr>
        <p:sp>
          <p:nvSpPr>
            <p:cNvPr id="4165" name="Text Box 21"/>
            <p:cNvSpPr txBox="1">
              <a:spLocks noChangeArrowheads="1"/>
            </p:cNvSpPr>
            <p:nvPr/>
          </p:nvSpPr>
          <p:spPr bwMode="auto">
            <a:xfrm>
              <a:off x="960" y="254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cad</a:t>
              </a:r>
            </a:p>
          </p:txBody>
        </p:sp>
        <p:sp>
          <p:nvSpPr>
            <p:cNvPr id="4166" name="AutoShape 22"/>
            <p:cNvSpPr>
              <a:spLocks noChangeArrowheads="1"/>
            </p:cNvSpPr>
            <p:nvPr/>
          </p:nvSpPr>
          <p:spPr bwMode="auto">
            <a:xfrm>
              <a:off x="1008" y="2736"/>
              <a:ext cx="96" cy="96"/>
            </a:xfrm>
            <a:prstGeom prst="triangle">
              <a:avLst>
                <a:gd name="adj" fmla="val 50000"/>
              </a:avLst>
            </a:prstGeom>
            <a:solidFill>
              <a:srgbClr val="00CC00"/>
            </a:solidFill>
            <a:ln w="25400">
              <a:solidFill>
                <a:srgbClr val="00CC00"/>
              </a:solidFill>
              <a:miter lim="800000"/>
              <a:headEnd type="none" w="sm" len="sm"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167" name="Text Box 23"/>
            <p:cNvSpPr txBox="1">
              <a:spLocks noChangeArrowheads="1"/>
            </p:cNvSpPr>
            <p:nvPr/>
          </p:nvSpPr>
          <p:spPr bwMode="auto">
            <a:xfrm>
              <a:off x="1728" y="2496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4168" name="Text Box 24"/>
            <p:cNvSpPr txBox="1">
              <a:spLocks noChangeArrowheads="1"/>
            </p:cNvSpPr>
            <p:nvPr/>
          </p:nvSpPr>
          <p:spPr bwMode="auto">
            <a:xfrm>
              <a:off x="1488" y="278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169" name="Text Box 25"/>
            <p:cNvSpPr txBox="1">
              <a:spLocks noChangeArrowheads="1"/>
            </p:cNvSpPr>
            <p:nvPr/>
          </p:nvSpPr>
          <p:spPr bwMode="auto">
            <a:xfrm>
              <a:off x="2016" y="278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4170" name="Text Box 26"/>
            <p:cNvSpPr txBox="1">
              <a:spLocks noChangeArrowheads="1"/>
            </p:cNvSpPr>
            <p:nvPr/>
          </p:nvSpPr>
          <p:spPr bwMode="auto">
            <a:xfrm>
              <a:off x="1728" y="2832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171" name="Line 27"/>
            <p:cNvSpPr>
              <a:spLocks noChangeShapeType="1"/>
            </p:cNvSpPr>
            <p:nvPr/>
          </p:nvSpPr>
          <p:spPr bwMode="auto">
            <a:xfrm flipH="1">
              <a:off x="1632" y="2688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72" name="Line 28"/>
            <p:cNvSpPr>
              <a:spLocks noChangeShapeType="1"/>
            </p:cNvSpPr>
            <p:nvPr/>
          </p:nvSpPr>
          <p:spPr bwMode="auto">
            <a:xfrm flipH="1">
              <a:off x="1824" y="2688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73" name="Line 29"/>
            <p:cNvSpPr>
              <a:spLocks noChangeShapeType="1"/>
            </p:cNvSpPr>
            <p:nvPr/>
          </p:nvSpPr>
          <p:spPr bwMode="auto">
            <a:xfrm flipH="1" flipV="1">
              <a:off x="1872" y="2688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4222" name="Group 30"/>
          <p:cNvGrpSpPr>
            <a:grpSpLocks/>
          </p:cNvGrpSpPr>
          <p:nvPr/>
        </p:nvGrpSpPr>
        <p:grpSpPr bwMode="auto">
          <a:xfrm>
            <a:off x="1447800" y="4510088"/>
            <a:ext cx="1981200" cy="1311275"/>
            <a:chOff x="912" y="3312"/>
            <a:chExt cx="1248" cy="826"/>
          </a:xfrm>
        </p:grpSpPr>
        <p:sp>
          <p:nvSpPr>
            <p:cNvPr id="4152" name="Text Box 31"/>
            <p:cNvSpPr txBox="1">
              <a:spLocks noChangeArrowheads="1"/>
            </p:cNvSpPr>
            <p:nvPr/>
          </p:nvSpPr>
          <p:spPr bwMode="auto">
            <a:xfrm>
              <a:off x="912" y="345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cad</a:t>
              </a:r>
            </a:p>
          </p:txBody>
        </p:sp>
        <p:sp>
          <p:nvSpPr>
            <p:cNvPr id="4153" name="AutoShape 32"/>
            <p:cNvSpPr>
              <a:spLocks noChangeArrowheads="1"/>
            </p:cNvSpPr>
            <p:nvPr/>
          </p:nvSpPr>
          <p:spPr bwMode="auto">
            <a:xfrm>
              <a:off x="1008" y="3648"/>
              <a:ext cx="96" cy="96"/>
            </a:xfrm>
            <a:prstGeom prst="triangle">
              <a:avLst>
                <a:gd name="adj" fmla="val 50000"/>
              </a:avLst>
            </a:prstGeom>
            <a:solidFill>
              <a:srgbClr val="00CC00"/>
            </a:solidFill>
            <a:ln w="25400">
              <a:solidFill>
                <a:srgbClr val="00CC00"/>
              </a:solidFill>
              <a:miter lim="800000"/>
              <a:headEnd type="none" w="sm" len="sm"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154" name="Text Box 33"/>
            <p:cNvSpPr txBox="1">
              <a:spLocks noChangeArrowheads="1"/>
            </p:cNvSpPr>
            <p:nvPr/>
          </p:nvSpPr>
          <p:spPr bwMode="auto">
            <a:xfrm>
              <a:off x="1680" y="3312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4155" name="Text Box 34"/>
            <p:cNvSpPr txBox="1">
              <a:spLocks noChangeArrowheads="1"/>
            </p:cNvSpPr>
            <p:nvPr/>
          </p:nvSpPr>
          <p:spPr bwMode="auto">
            <a:xfrm>
              <a:off x="1440" y="360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156" name="Text Box 35"/>
            <p:cNvSpPr txBox="1">
              <a:spLocks noChangeArrowheads="1"/>
            </p:cNvSpPr>
            <p:nvPr/>
          </p:nvSpPr>
          <p:spPr bwMode="auto">
            <a:xfrm>
              <a:off x="1968" y="360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4157" name="Text Box 36"/>
            <p:cNvSpPr txBox="1">
              <a:spLocks noChangeArrowheads="1"/>
            </p:cNvSpPr>
            <p:nvPr/>
          </p:nvSpPr>
          <p:spPr bwMode="auto">
            <a:xfrm>
              <a:off x="1680" y="3648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158" name="Line 37"/>
            <p:cNvSpPr>
              <a:spLocks noChangeShapeType="1"/>
            </p:cNvSpPr>
            <p:nvPr/>
          </p:nvSpPr>
          <p:spPr bwMode="auto">
            <a:xfrm flipH="1">
              <a:off x="1584" y="3504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9" name="Line 38"/>
            <p:cNvSpPr>
              <a:spLocks noChangeShapeType="1"/>
            </p:cNvSpPr>
            <p:nvPr/>
          </p:nvSpPr>
          <p:spPr bwMode="auto">
            <a:xfrm flipH="1">
              <a:off x="1776" y="3504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0" name="Line 39"/>
            <p:cNvSpPr>
              <a:spLocks noChangeShapeType="1"/>
            </p:cNvSpPr>
            <p:nvPr/>
          </p:nvSpPr>
          <p:spPr bwMode="auto">
            <a:xfrm flipH="1" flipV="1">
              <a:off x="1824" y="3504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1" name="Text Box 40"/>
            <p:cNvSpPr txBox="1">
              <a:spLocks noChangeArrowheads="1"/>
            </p:cNvSpPr>
            <p:nvPr/>
          </p:nvSpPr>
          <p:spPr bwMode="auto">
            <a:xfrm>
              <a:off x="1488" y="388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162" name="Text Box 41"/>
            <p:cNvSpPr txBox="1">
              <a:spLocks noChangeArrowheads="1"/>
            </p:cNvSpPr>
            <p:nvPr/>
          </p:nvSpPr>
          <p:spPr bwMode="auto">
            <a:xfrm>
              <a:off x="1920" y="388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163" name="Line 42"/>
            <p:cNvSpPr>
              <a:spLocks noChangeShapeType="1"/>
            </p:cNvSpPr>
            <p:nvPr/>
          </p:nvSpPr>
          <p:spPr bwMode="auto">
            <a:xfrm>
              <a:off x="1872" y="3840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64" name="Line 43"/>
            <p:cNvSpPr>
              <a:spLocks noChangeShapeType="1"/>
            </p:cNvSpPr>
            <p:nvPr/>
          </p:nvSpPr>
          <p:spPr bwMode="auto">
            <a:xfrm flipH="1">
              <a:off x="1632" y="3840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4236" name="Group 44"/>
          <p:cNvGrpSpPr>
            <a:grpSpLocks/>
          </p:cNvGrpSpPr>
          <p:nvPr/>
        </p:nvGrpSpPr>
        <p:grpSpPr bwMode="auto">
          <a:xfrm>
            <a:off x="4191000" y="3062288"/>
            <a:ext cx="4419600" cy="1447800"/>
            <a:chOff x="2640" y="2400"/>
            <a:chExt cx="2784" cy="912"/>
          </a:xfrm>
        </p:grpSpPr>
        <p:sp>
          <p:nvSpPr>
            <p:cNvPr id="4137" name="Text Box 45"/>
            <p:cNvSpPr txBox="1">
              <a:spLocks noChangeArrowheads="1"/>
            </p:cNvSpPr>
            <p:nvPr/>
          </p:nvSpPr>
          <p:spPr bwMode="auto">
            <a:xfrm>
              <a:off x="2640" y="254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cad</a:t>
              </a:r>
            </a:p>
          </p:txBody>
        </p:sp>
        <p:sp>
          <p:nvSpPr>
            <p:cNvPr id="4138" name="AutoShape 46"/>
            <p:cNvSpPr>
              <a:spLocks noChangeArrowheads="1"/>
            </p:cNvSpPr>
            <p:nvPr/>
          </p:nvSpPr>
          <p:spPr bwMode="auto">
            <a:xfrm>
              <a:off x="2832" y="2736"/>
              <a:ext cx="96" cy="96"/>
            </a:xfrm>
            <a:prstGeom prst="triangle">
              <a:avLst>
                <a:gd name="adj" fmla="val 50000"/>
              </a:avLst>
            </a:prstGeom>
            <a:solidFill>
              <a:srgbClr val="00CC00"/>
            </a:solidFill>
            <a:ln w="25400">
              <a:solidFill>
                <a:srgbClr val="00CC00"/>
              </a:solidFill>
              <a:miter lim="800000"/>
              <a:headEnd type="none" w="sm" len="sm"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139" name="Text Box 47"/>
            <p:cNvSpPr txBox="1">
              <a:spLocks noChangeArrowheads="1"/>
            </p:cNvSpPr>
            <p:nvPr/>
          </p:nvSpPr>
          <p:spPr bwMode="auto">
            <a:xfrm>
              <a:off x="3408" y="240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4140" name="Text Box 48"/>
            <p:cNvSpPr txBox="1">
              <a:spLocks noChangeArrowheads="1"/>
            </p:cNvSpPr>
            <p:nvPr/>
          </p:nvSpPr>
          <p:spPr bwMode="auto">
            <a:xfrm>
              <a:off x="3168" y="268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141" name="Text Box 49"/>
            <p:cNvSpPr txBox="1">
              <a:spLocks noChangeArrowheads="1"/>
            </p:cNvSpPr>
            <p:nvPr/>
          </p:nvSpPr>
          <p:spPr bwMode="auto">
            <a:xfrm>
              <a:off x="3696" y="268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4142" name="Text Box 50"/>
            <p:cNvSpPr txBox="1">
              <a:spLocks noChangeArrowheads="1"/>
            </p:cNvSpPr>
            <p:nvPr/>
          </p:nvSpPr>
          <p:spPr bwMode="auto">
            <a:xfrm>
              <a:off x="3408" y="273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143" name="Line 51"/>
            <p:cNvSpPr>
              <a:spLocks noChangeShapeType="1"/>
            </p:cNvSpPr>
            <p:nvPr/>
          </p:nvSpPr>
          <p:spPr bwMode="auto">
            <a:xfrm flipH="1">
              <a:off x="3312" y="2592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4" name="Line 52"/>
            <p:cNvSpPr>
              <a:spLocks noChangeShapeType="1"/>
            </p:cNvSpPr>
            <p:nvPr/>
          </p:nvSpPr>
          <p:spPr bwMode="auto">
            <a:xfrm flipH="1">
              <a:off x="3504" y="2592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5" name="Line 53"/>
            <p:cNvSpPr>
              <a:spLocks noChangeShapeType="1"/>
            </p:cNvSpPr>
            <p:nvPr/>
          </p:nvSpPr>
          <p:spPr bwMode="auto">
            <a:xfrm flipH="1" flipV="1">
              <a:off x="3552" y="2592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6" name="Text Box 54"/>
            <p:cNvSpPr txBox="1">
              <a:spLocks noChangeArrowheads="1"/>
            </p:cNvSpPr>
            <p:nvPr/>
          </p:nvSpPr>
          <p:spPr bwMode="auto">
            <a:xfrm>
              <a:off x="3216" y="2976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147" name="Text Box 55"/>
            <p:cNvSpPr txBox="1">
              <a:spLocks noChangeArrowheads="1"/>
            </p:cNvSpPr>
            <p:nvPr/>
          </p:nvSpPr>
          <p:spPr bwMode="auto">
            <a:xfrm>
              <a:off x="3648" y="2976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148" name="Line 56"/>
            <p:cNvSpPr>
              <a:spLocks noChangeShapeType="1"/>
            </p:cNvSpPr>
            <p:nvPr/>
          </p:nvSpPr>
          <p:spPr bwMode="auto">
            <a:xfrm>
              <a:off x="3600" y="2928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9" name="Line 57"/>
            <p:cNvSpPr>
              <a:spLocks noChangeShapeType="1"/>
            </p:cNvSpPr>
            <p:nvPr/>
          </p:nvSpPr>
          <p:spPr bwMode="auto">
            <a:xfrm flipH="1">
              <a:off x="3360" y="2928"/>
              <a:ext cx="96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50" name="Oval 58"/>
            <p:cNvSpPr>
              <a:spLocks noChangeArrowheads="1"/>
            </p:cNvSpPr>
            <p:nvPr/>
          </p:nvSpPr>
          <p:spPr bwMode="auto">
            <a:xfrm>
              <a:off x="3600" y="2976"/>
              <a:ext cx="288" cy="336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151" name="Text Box 59"/>
            <p:cNvSpPr txBox="1">
              <a:spLocks noChangeArrowheads="1"/>
            </p:cNvSpPr>
            <p:nvPr/>
          </p:nvSpPr>
          <p:spPr bwMode="auto">
            <a:xfrm>
              <a:off x="3984" y="3024"/>
              <a:ext cx="14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a typeface="宋体" panose="02010600030101010101" pitchFamily="2" charset="-122"/>
                </a:rPr>
                <a:t>Problem: backtrack</a:t>
              </a:r>
            </a:p>
          </p:txBody>
        </p:sp>
      </p:grpSp>
      <p:grpSp>
        <p:nvGrpSpPr>
          <p:cNvPr id="264252" name="Group 60"/>
          <p:cNvGrpSpPr>
            <a:grpSpLocks/>
          </p:cNvGrpSpPr>
          <p:nvPr/>
        </p:nvGrpSpPr>
        <p:grpSpPr bwMode="auto">
          <a:xfrm>
            <a:off x="4191000" y="4586288"/>
            <a:ext cx="1981200" cy="1387475"/>
            <a:chOff x="2640" y="3360"/>
            <a:chExt cx="1248" cy="874"/>
          </a:xfrm>
        </p:grpSpPr>
        <p:sp>
          <p:nvSpPr>
            <p:cNvPr id="4126" name="Text Box 61"/>
            <p:cNvSpPr txBox="1">
              <a:spLocks noChangeArrowheads="1"/>
            </p:cNvSpPr>
            <p:nvPr/>
          </p:nvSpPr>
          <p:spPr bwMode="auto">
            <a:xfrm>
              <a:off x="2640" y="350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cad</a:t>
              </a:r>
            </a:p>
          </p:txBody>
        </p:sp>
        <p:sp>
          <p:nvSpPr>
            <p:cNvPr id="4127" name="AutoShape 62"/>
            <p:cNvSpPr>
              <a:spLocks noChangeArrowheads="1"/>
            </p:cNvSpPr>
            <p:nvPr/>
          </p:nvSpPr>
          <p:spPr bwMode="auto">
            <a:xfrm>
              <a:off x="2736" y="3696"/>
              <a:ext cx="96" cy="96"/>
            </a:xfrm>
            <a:prstGeom prst="triangle">
              <a:avLst>
                <a:gd name="adj" fmla="val 50000"/>
              </a:avLst>
            </a:prstGeom>
            <a:solidFill>
              <a:srgbClr val="00CC00"/>
            </a:solidFill>
            <a:ln w="25400">
              <a:solidFill>
                <a:srgbClr val="00CC00"/>
              </a:solidFill>
              <a:miter lim="800000"/>
              <a:headEnd type="none" w="sm" len="sm"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128" name="Text Box 63"/>
            <p:cNvSpPr txBox="1">
              <a:spLocks noChangeArrowheads="1"/>
            </p:cNvSpPr>
            <p:nvPr/>
          </p:nvSpPr>
          <p:spPr bwMode="auto">
            <a:xfrm>
              <a:off x="3408" y="336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4129" name="Text Box 64"/>
            <p:cNvSpPr txBox="1">
              <a:spLocks noChangeArrowheads="1"/>
            </p:cNvSpPr>
            <p:nvPr/>
          </p:nvSpPr>
          <p:spPr bwMode="auto">
            <a:xfrm>
              <a:off x="3168" y="364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130" name="Text Box 65"/>
            <p:cNvSpPr txBox="1">
              <a:spLocks noChangeArrowheads="1"/>
            </p:cNvSpPr>
            <p:nvPr/>
          </p:nvSpPr>
          <p:spPr bwMode="auto">
            <a:xfrm>
              <a:off x="3696" y="364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4131" name="Text Box 66"/>
            <p:cNvSpPr txBox="1">
              <a:spLocks noChangeArrowheads="1"/>
            </p:cNvSpPr>
            <p:nvPr/>
          </p:nvSpPr>
          <p:spPr bwMode="auto">
            <a:xfrm>
              <a:off x="3408" y="369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132" name="Line 67"/>
            <p:cNvSpPr>
              <a:spLocks noChangeShapeType="1"/>
            </p:cNvSpPr>
            <p:nvPr/>
          </p:nvSpPr>
          <p:spPr bwMode="auto">
            <a:xfrm flipH="1">
              <a:off x="3312" y="3552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3" name="Line 68"/>
            <p:cNvSpPr>
              <a:spLocks noChangeShapeType="1"/>
            </p:cNvSpPr>
            <p:nvPr/>
          </p:nvSpPr>
          <p:spPr bwMode="auto">
            <a:xfrm flipH="1">
              <a:off x="3504" y="3552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4" name="Line 69"/>
            <p:cNvSpPr>
              <a:spLocks noChangeShapeType="1"/>
            </p:cNvSpPr>
            <p:nvPr/>
          </p:nvSpPr>
          <p:spPr bwMode="auto">
            <a:xfrm flipH="1" flipV="1">
              <a:off x="3552" y="3552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5" name="Text Box 70"/>
            <p:cNvSpPr txBox="1">
              <a:spLocks noChangeArrowheads="1"/>
            </p:cNvSpPr>
            <p:nvPr/>
          </p:nvSpPr>
          <p:spPr bwMode="auto">
            <a:xfrm>
              <a:off x="3408" y="398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136" name="Line 71"/>
            <p:cNvSpPr>
              <a:spLocks noChangeShapeType="1"/>
            </p:cNvSpPr>
            <p:nvPr/>
          </p:nvSpPr>
          <p:spPr bwMode="auto">
            <a:xfrm flipH="1">
              <a:off x="3504" y="3936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4264" name="Line 72"/>
          <p:cNvSpPr>
            <a:spLocks noChangeShapeType="1"/>
          </p:cNvSpPr>
          <p:nvPr/>
        </p:nvSpPr>
        <p:spPr bwMode="auto">
          <a:xfrm>
            <a:off x="1784350" y="4005263"/>
            <a:ext cx="0" cy="533400"/>
          </a:xfrm>
          <a:prstGeom prst="line">
            <a:avLst/>
          </a:prstGeom>
          <a:noFill/>
          <a:ln w="25400">
            <a:solidFill>
              <a:srgbClr val="660066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65" name="Line 73"/>
          <p:cNvSpPr>
            <a:spLocks noChangeShapeType="1"/>
          </p:cNvSpPr>
          <p:nvPr/>
        </p:nvSpPr>
        <p:spPr bwMode="auto">
          <a:xfrm>
            <a:off x="4495800" y="4052888"/>
            <a:ext cx="0" cy="533400"/>
          </a:xfrm>
          <a:prstGeom prst="line">
            <a:avLst/>
          </a:prstGeom>
          <a:noFill/>
          <a:ln w="25400">
            <a:solidFill>
              <a:srgbClr val="660066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4266" name="Line 74"/>
          <p:cNvSpPr>
            <a:spLocks noChangeShapeType="1"/>
          </p:cNvSpPr>
          <p:nvPr/>
        </p:nvSpPr>
        <p:spPr bwMode="auto">
          <a:xfrm flipV="1">
            <a:off x="3429000" y="3824288"/>
            <a:ext cx="838200" cy="914400"/>
          </a:xfrm>
          <a:prstGeom prst="line">
            <a:avLst/>
          </a:prstGeom>
          <a:noFill/>
          <a:ln w="25400">
            <a:solidFill>
              <a:srgbClr val="660066"/>
            </a:solidFill>
            <a:prstDash val="sysDot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4280" name="Group 88"/>
          <p:cNvGrpSpPr>
            <a:grpSpLocks/>
          </p:cNvGrpSpPr>
          <p:nvPr/>
        </p:nvGrpSpPr>
        <p:grpSpPr bwMode="auto">
          <a:xfrm>
            <a:off x="6392863" y="4437063"/>
            <a:ext cx="2590800" cy="1387475"/>
            <a:chOff x="3984" y="3020"/>
            <a:chExt cx="1632" cy="874"/>
          </a:xfrm>
        </p:grpSpPr>
        <p:sp>
          <p:nvSpPr>
            <p:cNvPr id="4114" name="Text Box 75"/>
            <p:cNvSpPr txBox="1">
              <a:spLocks noChangeArrowheads="1"/>
            </p:cNvSpPr>
            <p:nvPr/>
          </p:nvSpPr>
          <p:spPr bwMode="auto">
            <a:xfrm>
              <a:off x="4368" y="316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cad</a:t>
              </a:r>
            </a:p>
          </p:txBody>
        </p:sp>
        <p:sp>
          <p:nvSpPr>
            <p:cNvPr id="4115" name="AutoShape 76"/>
            <p:cNvSpPr>
              <a:spLocks noChangeArrowheads="1"/>
            </p:cNvSpPr>
            <p:nvPr/>
          </p:nvSpPr>
          <p:spPr bwMode="auto">
            <a:xfrm>
              <a:off x="4560" y="3356"/>
              <a:ext cx="96" cy="96"/>
            </a:xfrm>
            <a:prstGeom prst="triangle">
              <a:avLst>
                <a:gd name="adj" fmla="val 50000"/>
              </a:avLst>
            </a:prstGeom>
            <a:solidFill>
              <a:srgbClr val="00CC00"/>
            </a:solidFill>
            <a:ln w="25400">
              <a:solidFill>
                <a:srgbClr val="00CC00"/>
              </a:solidFill>
              <a:miter lim="800000"/>
              <a:headEnd type="none" w="sm" len="sm"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4116" name="Text Box 77"/>
            <p:cNvSpPr txBox="1">
              <a:spLocks noChangeArrowheads="1"/>
            </p:cNvSpPr>
            <p:nvPr/>
          </p:nvSpPr>
          <p:spPr bwMode="auto">
            <a:xfrm>
              <a:off x="5136" y="302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4117" name="Text Box 78"/>
            <p:cNvSpPr txBox="1">
              <a:spLocks noChangeArrowheads="1"/>
            </p:cNvSpPr>
            <p:nvPr/>
          </p:nvSpPr>
          <p:spPr bwMode="auto">
            <a:xfrm>
              <a:off x="4896" y="330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118" name="Text Box 79"/>
            <p:cNvSpPr txBox="1">
              <a:spLocks noChangeArrowheads="1"/>
            </p:cNvSpPr>
            <p:nvPr/>
          </p:nvSpPr>
          <p:spPr bwMode="auto">
            <a:xfrm>
              <a:off x="5424" y="3308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4119" name="Text Box 80"/>
            <p:cNvSpPr txBox="1">
              <a:spLocks noChangeArrowheads="1"/>
            </p:cNvSpPr>
            <p:nvPr/>
          </p:nvSpPr>
          <p:spPr bwMode="auto">
            <a:xfrm>
              <a:off x="5136" y="3356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120" name="Line 81"/>
            <p:cNvSpPr>
              <a:spLocks noChangeShapeType="1"/>
            </p:cNvSpPr>
            <p:nvPr/>
          </p:nvSpPr>
          <p:spPr bwMode="auto">
            <a:xfrm flipH="1">
              <a:off x="5040" y="3212"/>
              <a:ext cx="144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1" name="Line 82"/>
            <p:cNvSpPr>
              <a:spLocks noChangeShapeType="1"/>
            </p:cNvSpPr>
            <p:nvPr/>
          </p:nvSpPr>
          <p:spPr bwMode="auto">
            <a:xfrm flipH="1">
              <a:off x="5232" y="3212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2" name="Line 83"/>
            <p:cNvSpPr>
              <a:spLocks noChangeShapeType="1"/>
            </p:cNvSpPr>
            <p:nvPr/>
          </p:nvSpPr>
          <p:spPr bwMode="auto">
            <a:xfrm flipH="1" flipV="1">
              <a:off x="5280" y="3212"/>
              <a:ext cx="192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3" name="Text Box 84"/>
            <p:cNvSpPr txBox="1">
              <a:spLocks noChangeArrowheads="1"/>
            </p:cNvSpPr>
            <p:nvPr/>
          </p:nvSpPr>
          <p:spPr bwMode="auto">
            <a:xfrm>
              <a:off x="5136" y="3644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124" name="Line 85"/>
            <p:cNvSpPr>
              <a:spLocks noChangeShapeType="1"/>
            </p:cNvSpPr>
            <p:nvPr/>
          </p:nvSpPr>
          <p:spPr bwMode="auto">
            <a:xfrm flipH="1">
              <a:off x="5232" y="3596"/>
              <a:ext cx="0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5" name="Line 86"/>
            <p:cNvSpPr>
              <a:spLocks noChangeShapeType="1"/>
            </p:cNvSpPr>
            <p:nvPr/>
          </p:nvSpPr>
          <p:spPr bwMode="auto">
            <a:xfrm flipV="1">
              <a:off x="3984" y="3356"/>
              <a:ext cx="288" cy="48"/>
            </a:xfrm>
            <a:prstGeom prst="line">
              <a:avLst/>
            </a:prstGeom>
            <a:noFill/>
            <a:ln w="25400">
              <a:solidFill>
                <a:srgbClr val="660066"/>
              </a:solidFill>
              <a:prstDash val="sysDot"/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6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6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6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64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6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6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6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FE14D9B-DFE6-4FDA-B8BE-D78A5ED975F0}" type="slidenum">
              <a:rPr lang="zh-CN" altLang="en-US" sz="800"/>
              <a:pPr/>
              <a:t>4</a:t>
            </a:fld>
            <a:endParaRPr lang="en-US" altLang="zh-CN" sz="8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Predictive Parser (P.182)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40100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a grammar 	  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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		  </a:t>
            </a:r>
            <a:r>
              <a:rPr lang="en-US" altLang="zh-CN" smtClean="0">
                <a:solidFill>
                  <a:srgbClr val="FF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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 	       a grammar suitable for predictive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		       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eliminate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 	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left 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	       parsing (a LL(1) grammar)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		   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left recursion         factor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	       no %100 guarantee.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When re-writing a non-terminal in a derivation step, a predictive parser can uniquely choose a production rule by just looking the </a:t>
            </a:r>
            <a:r>
              <a:rPr lang="en-US" altLang="zh-CN" b="1" smtClean="0">
                <a:ea typeface="宋体" panose="02010600030101010101" pitchFamily="2" charset="-122"/>
                <a:sym typeface="Wingdings" panose="05000000000000000000" pitchFamily="2" charset="2"/>
              </a:rPr>
              <a:t>current symbol</a:t>
            </a: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 in the input string.</a:t>
            </a:r>
          </a:p>
          <a:p>
            <a:endParaRPr lang="en-US" altLang="zh-CN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				</a:t>
            </a:r>
          </a:p>
        </p:txBody>
      </p:sp>
      <p:sp>
        <p:nvSpPr>
          <p:cNvPr id="261124" name="Line 4"/>
          <p:cNvSpPr>
            <a:spLocks noChangeShapeType="1"/>
          </p:cNvSpPr>
          <p:nvPr/>
        </p:nvSpPr>
        <p:spPr bwMode="auto">
          <a:xfrm flipV="1">
            <a:off x="7832725" y="4724400"/>
            <a:ext cx="0" cy="609600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25" name="Rectangle 5"/>
          <p:cNvSpPr>
            <a:spLocks noChangeArrowheads="1"/>
          </p:cNvSpPr>
          <p:nvPr/>
        </p:nvSpPr>
        <p:spPr bwMode="auto">
          <a:xfrm>
            <a:off x="200025" y="4581525"/>
            <a:ext cx="1970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b="1">
                <a:solidFill>
                  <a:srgbClr val="660066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current token</a:t>
            </a:r>
            <a:endParaRPr lang="zh-CN" altLang="en-US" b="1">
              <a:solidFill>
                <a:srgbClr val="660066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261127" name="Line 7"/>
          <p:cNvSpPr>
            <a:spLocks noChangeShapeType="1"/>
          </p:cNvSpPr>
          <p:nvPr/>
        </p:nvSpPr>
        <p:spPr bwMode="auto">
          <a:xfrm flipV="1">
            <a:off x="1065213" y="4076700"/>
            <a:ext cx="71437" cy="504825"/>
          </a:xfrm>
          <a:prstGeom prst="line">
            <a:avLst/>
          </a:prstGeom>
          <a:noFill/>
          <a:ln w="28575">
            <a:solidFill>
              <a:srgbClr val="660066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0" name="Rectangle 8"/>
          <p:cNvSpPr>
            <a:spLocks noChangeArrowheads="1"/>
          </p:cNvSpPr>
          <p:nvPr/>
        </p:nvSpPr>
        <p:spPr bwMode="auto">
          <a:xfrm>
            <a:off x="2865438" y="4292600"/>
            <a:ext cx="66960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A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1 | ... | n 		input:  ... a .......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					</a:t>
            </a:r>
          </a:p>
        </p:txBody>
      </p:sp>
      <p:sp>
        <p:nvSpPr>
          <p:cNvPr id="261129" name="Rectangle 9"/>
          <p:cNvSpPr>
            <a:spLocks noChangeArrowheads="1"/>
          </p:cNvSpPr>
          <p:nvPr/>
        </p:nvSpPr>
        <p:spPr bwMode="auto">
          <a:xfrm>
            <a:off x="6897688" y="5373688"/>
            <a:ext cx="1970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b="1">
                <a:solidFill>
                  <a:srgbClr val="660066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current token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6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26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261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5" grpId="0"/>
      <p:bldP spid="2611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61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6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8EF9EF-44BB-4B23-A909-1473D297C72F}" type="slidenum">
              <a:rPr lang="zh-CN" altLang="en-US" sz="800"/>
              <a:pPr/>
              <a:t>5</a:t>
            </a:fld>
            <a:endParaRPr lang="en-US" altLang="zh-CN" sz="80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Predictive Parser (example)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4488" y="3068638"/>
            <a:ext cx="9372600" cy="2967037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When we are trying to write the non-terminal </a:t>
            </a:r>
            <a:r>
              <a:rPr lang="en-US" altLang="zh-CN" i="1" smtClean="0">
                <a:ea typeface="宋体" panose="02010600030101010101" pitchFamily="2" charset="-122"/>
                <a:sym typeface="Symbol" panose="05050102010706020507" pitchFamily="18" charset="2"/>
              </a:rPr>
              <a:t>stmt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if the current token is </a:t>
            </a:r>
            <a:r>
              <a:rPr lang="en-US" altLang="zh-CN" b="1" smtClean="0">
                <a:solidFill>
                  <a:schemeClr val="accent2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if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we have to choose first production rule.	</a:t>
            </a: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When we are trying to write the non-terminal </a:t>
            </a:r>
            <a:r>
              <a:rPr lang="en-US" altLang="zh-CN" i="1" smtClean="0">
                <a:ea typeface="宋体" panose="02010600030101010101" pitchFamily="2" charset="-122"/>
                <a:sym typeface="Symbol" panose="05050102010706020507" pitchFamily="18" charset="2"/>
              </a:rPr>
              <a:t>stmt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, we can uniquely choose the production rule by just looking the current token.</a:t>
            </a: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We </a:t>
            </a:r>
            <a:r>
              <a:rPr lang="en-US" altLang="zh-CN" b="1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eliminate the left recursion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in the grammar, and </a:t>
            </a:r>
            <a:r>
              <a:rPr lang="en-US" altLang="zh-CN" b="1" smtClean="0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left factor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it. But it may not be suitable for predictive parsing (not LL(1) grammar).	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151" name="Rectangle 4"/>
          <p:cNvSpPr>
            <a:spLocks noChangeArrowheads="1"/>
          </p:cNvSpPr>
          <p:nvPr/>
        </p:nvSpPr>
        <p:spPr bwMode="auto">
          <a:xfrm>
            <a:off x="2505075" y="1196975"/>
            <a:ext cx="4953000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stmt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expr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then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stmt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else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stmt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|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while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expr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do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stmt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|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begin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stmt_list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end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|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for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.....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4C79583-D004-4183-8B72-B93A8066563C}" type="slidenum">
              <a:rPr lang="zh-CN" altLang="en-US" sz="800"/>
              <a:pPr/>
              <a:t>6</a:t>
            </a:fld>
            <a:endParaRPr lang="en-US" altLang="zh-CN" sz="80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Recursive Predictive Parsing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63663"/>
            <a:ext cx="9036050" cy="3794125"/>
          </a:xfrm>
        </p:spPr>
        <p:txBody>
          <a:bodyPr/>
          <a:lstStyle/>
          <a:p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Each non-terminal corresponds to a procedure (function).</a:t>
            </a:r>
          </a:p>
          <a:p>
            <a:endParaRPr lang="en-US" altLang="zh-CN" smtClean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Ex:  	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(This is only the production rule for A)</a:t>
            </a:r>
          </a:p>
          <a:p>
            <a:pPr>
              <a:buFontTx/>
              <a:buNone/>
            </a:pPr>
            <a:endParaRPr lang="en-US" altLang="zh-CN" sz="1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proc A {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    - match the current token with a, and move to the next token;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    - call ‘B’;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    - match the current token with b, and move to the next token;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}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B1DB8B0-737F-49AF-B60A-F6CCF7F0B701}" type="slidenum">
              <a:rPr lang="zh-CN" altLang="en-US" sz="800"/>
              <a:pPr/>
              <a:t>7</a:t>
            </a:fld>
            <a:endParaRPr lang="en-US" altLang="zh-CN" sz="80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Recursive Predictive Parsing (cont.)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a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|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AB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proc A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case of the current token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‘a’:   - match the current token with a, and move to the next token;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       - call ‘B’;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       - match the current token with b, and move to the next token;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‘b’:  - match the current token with b, and move to the next token;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        - call ‘A’;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               - call ‘B’;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FDE0B78-817F-40BA-9FED-53FF80B9118E}" type="slidenum">
              <a:rPr lang="zh-CN" altLang="en-US" sz="800"/>
              <a:pPr/>
              <a:t>8</a:t>
            </a:fld>
            <a:endParaRPr lang="en-US" altLang="zh-CN" sz="80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Recursive Predictive Parsing (cont.)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80513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When to apply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-productions.</a:t>
            </a:r>
          </a:p>
          <a:p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 |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B | 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If all other productions fail, we should apply an -production. For example, if the current token is not a or b, we may apply the                  -production.</a:t>
            </a: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Most correct choice: We should apply an -production for a non-terminal A when the current token is in the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follow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set of A (which terminals can follow A in the sentential forms).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0F651A-2E84-4605-A240-889486AF80FA}" type="slidenum">
              <a:rPr lang="zh-CN" altLang="en-US" sz="800"/>
              <a:pPr/>
              <a:t>9</a:t>
            </a:fld>
            <a:endParaRPr lang="en-US" altLang="zh-CN" sz="800"/>
          </a:p>
        </p:txBody>
      </p:sp>
      <p:sp>
        <p:nvSpPr>
          <p:cNvPr id="1024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53975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Recursive Predictive Parsing (Example)</a:t>
            </a:r>
          </a:p>
        </p:txBody>
      </p:sp>
      <p:sp>
        <p:nvSpPr>
          <p:cNvPr id="1024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81000" y="692150"/>
            <a:ext cx="9109075" cy="59055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A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|  C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B 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b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B | 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C 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				proc C {	match the current token with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proc A {						and move to the next token;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case of the current token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 a:	- match the current token with a,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 and move to the next token;		proc B {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- call B;				     case of the current token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- match the current token with e,	          b:- match the current token with b,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 and move to the next token;		               and move to the next token;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c:	- match the current token with c,	             - call B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 and move to the next token;		      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e,d:  do nothing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- call B;				   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- match the current token with d,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 and move to the next token;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  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f: 	- call C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269317" name="Line 1029"/>
          <p:cNvSpPr>
            <a:spLocks noChangeShapeType="1"/>
          </p:cNvSpPr>
          <p:nvPr/>
        </p:nvSpPr>
        <p:spPr bwMode="auto">
          <a:xfrm flipH="1" flipV="1">
            <a:off x="5673725" y="47244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9318" name="Text Box 1030"/>
          <p:cNvSpPr txBox="1">
            <a:spLocks noChangeArrowheads="1"/>
          </p:cNvSpPr>
          <p:nvPr/>
        </p:nvSpPr>
        <p:spPr bwMode="auto">
          <a:xfrm>
            <a:off x="5961063" y="5084763"/>
            <a:ext cx="1762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follow set of B </a:t>
            </a:r>
          </a:p>
        </p:txBody>
      </p:sp>
      <p:sp>
        <p:nvSpPr>
          <p:cNvPr id="269320" name="Line 1032"/>
          <p:cNvSpPr>
            <a:spLocks noChangeShapeType="1"/>
          </p:cNvSpPr>
          <p:nvPr/>
        </p:nvSpPr>
        <p:spPr bwMode="auto">
          <a:xfrm flipH="1" flipV="1">
            <a:off x="1281113" y="5949950"/>
            <a:ext cx="64770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9322" name="Text Box 1034"/>
          <p:cNvSpPr txBox="1">
            <a:spLocks noChangeArrowheads="1"/>
          </p:cNvSpPr>
          <p:nvPr/>
        </p:nvSpPr>
        <p:spPr bwMode="auto">
          <a:xfrm>
            <a:off x="1928813" y="6165850"/>
            <a:ext cx="14430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first set of C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26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26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6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69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8" grpId="0"/>
      <p:bldP spid="2693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1267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1268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87E263-3393-40A7-87F6-27FF2D0AAE68}" type="slidenum">
              <a:rPr lang="zh-CN" altLang="en-US" sz="800"/>
              <a:pPr/>
              <a:t>10</a:t>
            </a:fld>
            <a:endParaRPr lang="en-US" altLang="zh-CN" sz="80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344488" y="115888"/>
            <a:ext cx="9372600" cy="612775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Non-Recursive Predictive Parsing -- LL(1) Parser (P.186)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835025"/>
            <a:ext cx="9180513" cy="122555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Non-Recursive predictive parsing is a </a:t>
            </a:r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table-driven parser</a:t>
            </a:r>
            <a:r>
              <a:rPr lang="en-US" altLang="zh-CN" smtClean="0">
                <a:ea typeface="宋体" panose="02010600030101010101" pitchFamily="2" charset="-122"/>
              </a:rPr>
              <a:t> which has an </a:t>
            </a:r>
            <a:r>
              <a:rPr lang="en-US" altLang="zh-CN" b="1" smtClean="0">
                <a:solidFill>
                  <a:srgbClr val="660066"/>
                </a:solidFill>
                <a:ea typeface="宋体" panose="02010600030101010101" pitchFamily="2" charset="-122"/>
              </a:rPr>
              <a:t>input buffer</a:t>
            </a:r>
            <a:r>
              <a:rPr lang="en-US" altLang="zh-CN" smtClean="0">
                <a:ea typeface="宋体" panose="02010600030101010101" pitchFamily="2" charset="-122"/>
              </a:rPr>
              <a:t>, a </a:t>
            </a:r>
            <a:r>
              <a:rPr lang="en-US" altLang="zh-CN" b="1" smtClean="0">
                <a:solidFill>
                  <a:srgbClr val="660066"/>
                </a:solidFill>
                <a:ea typeface="宋体" panose="02010600030101010101" pitchFamily="2" charset="-122"/>
              </a:rPr>
              <a:t>stack</a:t>
            </a:r>
            <a:r>
              <a:rPr lang="en-US" altLang="zh-CN" smtClean="0">
                <a:ea typeface="宋体" panose="02010600030101010101" pitchFamily="2" charset="-122"/>
              </a:rPr>
              <a:t>, a </a:t>
            </a:r>
            <a:r>
              <a:rPr lang="en-US" altLang="zh-CN" b="1" smtClean="0">
                <a:solidFill>
                  <a:srgbClr val="660066"/>
                </a:solidFill>
                <a:ea typeface="宋体" panose="02010600030101010101" pitchFamily="2" charset="-122"/>
              </a:rPr>
              <a:t>parsing table</a:t>
            </a:r>
            <a:r>
              <a:rPr lang="en-US" altLang="zh-CN" smtClean="0">
                <a:ea typeface="宋体" panose="02010600030101010101" pitchFamily="2" charset="-122"/>
              </a:rPr>
              <a:t>, and an </a:t>
            </a:r>
            <a:r>
              <a:rPr lang="en-US" altLang="zh-CN" b="1" smtClean="0">
                <a:solidFill>
                  <a:srgbClr val="660066"/>
                </a:solidFill>
                <a:ea typeface="宋体" panose="02010600030101010101" pitchFamily="2" charset="-122"/>
              </a:rPr>
              <a:t>output stream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It is also known as LL(1) Parser.</a:t>
            </a:r>
          </a:p>
        </p:txBody>
      </p:sp>
      <p:sp>
        <p:nvSpPr>
          <p:cNvPr id="11271" name="Text Box 13"/>
          <p:cNvSpPr txBox="1">
            <a:spLocks noChangeArrowheads="1"/>
          </p:cNvSpPr>
          <p:nvPr/>
        </p:nvSpPr>
        <p:spPr bwMode="auto">
          <a:xfrm>
            <a:off x="704850" y="2276475"/>
            <a:ext cx="65532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1. Left to right scan input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2. Find leftmost derivation</a:t>
            </a:r>
          </a:p>
        </p:txBody>
      </p:sp>
      <p:sp>
        <p:nvSpPr>
          <p:cNvPr id="11272" name="Text Box 14"/>
          <p:cNvSpPr txBox="1">
            <a:spLocks noChangeArrowheads="1"/>
          </p:cNvSpPr>
          <p:nvPr/>
        </p:nvSpPr>
        <p:spPr bwMode="auto">
          <a:xfrm>
            <a:off x="1219200" y="3625850"/>
            <a:ext cx="3886200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Grammar:    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TE’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      E’  +TE’ | 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              T  id </a:t>
            </a:r>
          </a:p>
        </p:txBody>
      </p:sp>
      <p:sp>
        <p:nvSpPr>
          <p:cNvPr id="11273" name="Text Box 15"/>
          <p:cNvSpPr txBox="1">
            <a:spLocks noChangeArrowheads="1"/>
          </p:cNvSpPr>
          <p:nvPr/>
        </p:nvSpPr>
        <p:spPr bwMode="auto">
          <a:xfrm>
            <a:off x="5638800" y="4006850"/>
            <a:ext cx="312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Input :</a:t>
            </a:r>
            <a:r>
              <a:rPr lang="en-US" altLang="zh-CN" b="1">
                <a:ea typeface="宋体" panose="02010600030101010101" pitchFamily="2" charset="-122"/>
              </a:rPr>
              <a:t>  id + id $</a:t>
            </a:r>
          </a:p>
        </p:txBody>
      </p:sp>
      <p:sp>
        <p:nvSpPr>
          <p:cNvPr id="11274" name="Text Box 16"/>
          <p:cNvSpPr txBox="1">
            <a:spLocks noChangeArrowheads="1"/>
          </p:cNvSpPr>
          <p:nvPr/>
        </p:nvSpPr>
        <p:spPr bwMode="auto">
          <a:xfrm>
            <a:off x="1143000" y="4921250"/>
            <a:ext cx="327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Derivation:  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1275" name="Text Box 17"/>
          <p:cNvSpPr txBox="1">
            <a:spLocks noChangeArrowheads="1"/>
          </p:cNvSpPr>
          <p:nvPr/>
        </p:nvSpPr>
        <p:spPr bwMode="auto">
          <a:xfrm>
            <a:off x="920750" y="5661025"/>
            <a:ext cx="327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Processing Stack: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70354" name="Text Box 18"/>
          <p:cNvSpPr txBox="1">
            <a:spLocks noChangeArrowheads="1"/>
          </p:cNvSpPr>
          <p:nvPr/>
        </p:nvSpPr>
        <p:spPr bwMode="auto">
          <a:xfrm>
            <a:off x="7162800" y="339725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solidFill>
                  <a:schemeClr val="accent2"/>
                </a:solidFill>
                <a:ea typeface="宋体" panose="02010600030101010101" pitchFamily="2" charset="-122"/>
              </a:rPr>
              <a:t>Terminator</a:t>
            </a:r>
          </a:p>
        </p:txBody>
      </p:sp>
      <p:sp>
        <p:nvSpPr>
          <p:cNvPr id="270355" name="Line 19"/>
          <p:cNvSpPr>
            <a:spLocks noChangeShapeType="1"/>
          </p:cNvSpPr>
          <p:nvPr/>
        </p:nvSpPr>
        <p:spPr bwMode="auto">
          <a:xfrm>
            <a:off x="7696200" y="3702050"/>
            <a:ext cx="76200" cy="3810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0356" name="Rectangle 20"/>
          <p:cNvSpPr>
            <a:spLocks noChangeArrowheads="1"/>
          </p:cNvSpPr>
          <p:nvPr/>
        </p:nvSpPr>
        <p:spPr bwMode="auto">
          <a:xfrm>
            <a:off x="4521200" y="4941888"/>
            <a:ext cx="2628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FOLLOW(E’)={$}</a:t>
            </a:r>
          </a:p>
        </p:txBody>
      </p:sp>
      <p:sp>
        <p:nvSpPr>
          <p:cNvPr id="270357" name="Line 21"/>
          <p:cNvSpPr>
            <a:spLocks noChangeShapeType="1"/>
          </p:cNvSpPr>
          <p:nvPr/>
        </p:nvSpPr>
        <p:spPr bwMode="auto">
          <a:xfrm flipH="1" flipV="1">
            <a:off x="4089400" y="4437063"/>
            <a:ext cx="431800" cy="647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7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7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7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7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54" grpId="0"/>
      <p:bldP spid="2703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22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E58C5EE-5A57-46C9-8706-8ABD16DA3C7F}" type="slidenum">
              <a:rPr lang="zh-CN" altLang="en-US" sz="800"/>
              <a:pPr/>
              <a:t>11</a:t>
            </a:fld>
            <a:endParaRPr lang="en-US" altLang="zh-CN" sz="80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1277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LL(1) Parser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025" y="765175"/>
            <a:ext cx="9553575" cy="554355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1800" b="1" smtClean="0">
                <a:ea typeface="宋体" panose="02010600030101010101" pitchFamily="2" charset="-122"/>
              </a:rPr>
              <a:t>input buffer</a:t>
            </a:r>
            <a:r>
              <a:rPr lang="en-US" altLang="zh-CN" sz="1800" smtClean="0">
                <a:ea typeface="宋体" panose="02010600030101010101" pitchFamily="2" charset="-122"/>
              </a:rPr>
              <a:t> 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our string to be parsed. We will assume that its end is marked with a special symbol </a:t>
            </a:r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$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pPr>
              <a:buFontTx/>
              <a:buNone/>
            </a:pPr>
            <a:r>
              <a:rPr lang="en-US" altLang="zh-CN" sz="1800" b="1" smtClean="0">
                <a:ea typeface="宋体" panose="02010600030101010101" pitchFamily="2" charset="-122"/>
              </a:rPr>
              <a:t>output</a:t>
            </a:r>
            <a:r>
              <a:rPr lang="en-US" altLang="zh-CN" sz="1800" smtClean="0">
                <a:ea typeface="宋体" panose="02010600030101010101" pitchFamily="2" charset="-122"/>
              </a:rPr>
              <a:t> 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a production rule representing a step of the derivation sequence (left-most derivation) of the string in the input buffer.</a:t>
            </a:r>
          </a:p>
          <a:p>
            <a:pPr>
              <a:buFontTx/>
              <a:buNone/>
            </a:pPr>
            <a:r>
              <a:rPr lang="en-US" altLang="zh-CN" sz="1800" b="1" smtClean="0">
                <a:ea typeface="宋体" panose="02010600030101010101" pitchFamily="2" charset="-122"/>
              </a:rPr>
              <a:t>stack</a:t>
            </a:r>
            <a:endParaRPr lang="en-US" altLang="zh-CN" sz="1800" smtClean="0"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contains the grammar symbols 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at the bottom of the stack, there is a special end marker symbol </a:t>
            </a:r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$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initially the stack contains only the symbol </a:t>
            </a:r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$</a:t>
            </a:r>
            <a:r>
              <a:rPr lang="en-US" altLang="zh-CN" smtClean="0">
                <a:ea typeface="宋体" panose="02010600030101010101" pitchFamily="2" charset="-122"/>
              </a:rPr>
              <a:t> and the starting symbol </a:t>
            </a:r>
            <a:r>
              <a:rPr lang="en-US" altLang="zh-CN" b="1" smtClean="0">
                <a:solidFill>
                  <a:srgbClr val="FF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mtClean="0">
                <a:ea typeface="宋体" panose="02010600030101010101" pitchFamily="2" charset="-122"/>
              </a:rPr>
              <a:t>. </a:t>
            </a:r>
          </a:p>
          <a:p>
            <a:pPr lvl="1"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   </a:t>
            </a:r>
            <a:endParaRPr lang="en-US" altLang="zh-CN" smtClean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when the stack is emptied (ie. only $ left in the stack), the parsing is completed.</a:t>
            </a:r>
          </a:p>
          <a:p>
            <a:pPr>
              <a:buFontTx/>
              <a:buNone/>
            </a:pPr>
            <a:r>
              <a:rPr lang="en-US" altLang="zh-CN" sz="1800" b="1" smtClean="0">
                <a:ea typeface="宋体" panose="02010600030101010101" pitchFamily="2" charset="-122"/>
              </a:rPr>
              <a:t>parsing table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a two-dimensional array M[A,a]  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each row is a non-terminal symbol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each column is a terminal symbol or the special symbol $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each entry holds a production rule.	</a:t>
            </a:r>
          </a:p>
        </p:txBody>
      </p:sp>
      <p:sp>
        <p:nvSpPr>
          <p:cNvPr id="271366" name="Rectangle 6"/>
          <p:cNvSpPr>
            <a:spLocks noChangeArrowheads="1"/>
          </p:cNvSpPr>
          <p:nvPr/>
        </p:nvSpPr>
        <p:spPr bwMode="auto">
          <a:xfrm>
            <a:off x="7329488" y="2133600"/>
            <a:ext cx="2089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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Semantic action</a:t>
            </a:r>
            <a:r>
              <a:rPr lang="en-US" altLang="zh-CN" sz="180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endParaRPr lang="zh-CN" altLang="en-US" sz="1800">
              <a:solidFill>
                <a:schemeClr val="accent1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271367" name="Rectangle 7"/>
          <p:cNvSpPr>
            <a:spLocks noChangeArrowheads="1"/>
          </p:cNvSpPr>
          <p:nvPr/>
        </p:nvSpPr>
        <p:spPr bwMode="auto">
          <a:xfrm>
            <a:off x="7473950" y="36449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$S  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</a:t>
            </a:r>
            <a:r>
              <a:rPr lang="en-US" altLang="zh-CN" sz="1800">
                <a:solidFill>
                  <a:srgbClr val="660066"/>
                </a:solidFill>
                <a:ea typeface="宋体" panose="02010600030101010101" pitchFamily="2" charset="-122"/>
              </a:rPr>
              <a:t>  initial stack</a:t>
            </a:r>
            <a:endParaRPr lang="zh-CN" altLang="en-US" sz="1800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27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27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6" grpId="0"/>
      <p:bldP spid="2713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7EDBCC-EF6D-4A1B-A43A-F0CB5FFB1D9B}" type="slidenum">
              <a:rPr lang="zh-CN" altLang="en-US" sz="800"/>
              <a:pPr/>
              <a:t>12</a:t>
            </a:fld>
            <a:endParaRPr lang="en-US" altLang="zh-CN" sz="800"/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7832725" y="2565400"/>
            <a:ext cx="1857375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Fig.4.13 model of 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a non-recursive</a:t>
            </a:r>
          </a:p>
          <a:p>
            <a:pPr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predictive parser (P.186)</a:t>
            </a:r>
          </a:p>
        </p:txBody>
      </p:sp>
      <p:sp>
        <p:nvSpPr>
          <p:cNvPr id="13318" name="Rectangle 5"/>
          <p:cNvSpPr>
            <a:spLocks noGrp="1" noChangeArrowheads="1"/>
          </p:cNvSpPr>
          <p:nvPr>
            <p:ph type="title"/>
          </p:nvPr>
        </p:nvSpPr>
        <p:spPr>
          <a:xfrm>
            <a:off x="1081088" y="0"/>
            <a:ext cx="8062912" cy="836613"/>
          </a:xfrm>
          <a:noFill/>
        </p:spPr>
        <p:txBody>
          <a:bodyPr lIns="92075" tIns="46038" rIns="92075" bIns="46038"/>
          <a:lstStyle/>
          <a:p>
            <a:r>
              <a:rPr lang="en-US" altLang="zh-CN" smtClean="0">
                <a:ea typeface="宋体" panose="02010600030101010101" pitchFamily="2" charset="-122"/>
              </a:rPr>
              <a:t>Non-Recursive / Table Driven</a:t>
            </a:r>
          </a:p>
        </p:txBody>
      </p:sp>
      <p:sp>
        <p:nvSpPr>
          <p:cNvPr id="299041" name="Text Box 33"/>
          <p:cNvSpPr txBox="1">
            <a:spLocks noChangeArrowheads="1"/>
          </p:cNvSpPr>
          <p:nvPr/>
        </p:nvSpPr>
        <p:spPr bwMode="auto">
          <a:xfrm>
            <a:off x="776288" y="3716338"/>
            <a:ext cx="7239000" cy="2589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General parser behavior:    </a:t>
            </a:r>
            <a:r>
              <a:rPr lang="en-US" altLang="zh-CN" sz="1800" b="1">
                <a:solidFill>
                  <a:schemeClr val="accent2"/>
                </a:solidFill>
                <a:ea typeface="宋体" panose="02010600030101010101" pitchFamily="2" charset="-122"/>
              </a:rPr>
              <a:t>X : top of stack        a : current input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solidFill>
                  <a:schemeClr val="accent2"/>
                </a:solidFill>
                <a:ea typeface="宋体" panose="02010600030101010101" pitchFamily="2" charset="-122"/>
              </a:rPr>
              <a:t>1.  When X=a = $  halt, accept, success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solidFill>
                  <a:schemeClr val="accent2"/>
                </a:solidFill>
                <a:ea typeface="宋体" panose="02010600030101010101" pitchFamily="2" charset="-122"/>
              </a:rPr>
              <a:t>2.  When X=a </a:t>
            </a:r>
            <a:r>
              <a:rPr lang="en-US" altLang="zh-CN" sz="18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 $ , POP X off stack,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advance input</a:t>
            </a:r>
            <a:r>
              <a:rPr lang="en-US" altLang="zh-CN" sz="18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go to 1.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3.  When X is a non-terminal, examine M[X,a]</a:t>
            </a:r>
          </a:p>
          <a:p>
            <a:pPr lvl="1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 b="1">
                <a:solidFill>
                  <a:schemeClr val="accent2"/>
                </a:solidFill>
                <a:ea typeface="宋体" panose="02010600030101010101" pitchFamily="2" charset="-122"/>
              </a:rPr>
              <a:t>if it is an error </a:t>
            </a:r>
            <a:r>
              <a:rPr lang="en-US" altLang="zh-CN" sz="18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call recovery routine</a:t>
            </a:r>
          </a:p>
          <a:p>
            <a:pPr lvl="1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M[X,a] = {X  UVW}, POP X, PUSH W,V,U</a:t>
            </a:r>
          </a:p>
          <a:p>
            <a:pPr lvl="1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DO NOT expend any input</a:t>
            </a:r>
          </a:p>
        </p:txBody>
      </p:sp>
      <p:sp>
        <p:nvSpPr>
          <p:cNvPr id="13320" name="Text Box 34"/>
          <p:cNvSpPr txBox="1">
            <a:spLocks noChangeArrowheads="1"/>
          </p:cNvSpPr>
          <p:nvPr/>
        </p:nvSpPr>
        <p:spPr bwMode="auto">
          <a:xfrm>
            <a:off x="501650" y="2992438"/>
            <a:ext cx="13716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rgbClr val="FF3300"/>
                </a:solidFill>
                <a:ea typeface="宋体" panose="02010600030101010101" pitchFamily="2" charset="-122"/>
              </a:rPr>
              <a:t>Empty stack symbol</a:t>
            </a:r>
          </a:p>
        </p:txBody>
      </p:sp>
      <p:grpSp>
        <p:nvGrpSpPr>
          <p:cNvPr id="299043" name="Group 35"/>
          <p:cNvGrpSpPr>
            <a:grpSpLocks/>
          </p:cNvGrpSpPr>
          <p:nvPr/>
        </p:nvGrpSpPr>
        <p:grpSpPr bwMode="auto">
          <a:xfrm>
            <a:off x="654050" y="935038"/>
            <a:ext cx="7467600" cy="2590800"/>
            <a:chOff x="816" y="768"/>
            <a:chExt cx="4704" cy="1632"/>
          </a:xfrm>
        </p:grpSpPr>
        <p:grpSp>
          <p:nvGrpSpPr>
            <p:cNvPr id="13323" name="Group 36"/>
            <p:cNvGrpSpPr>
              <a:grpSpLocks/>
            </p:cNvGrpSpPr>
            <p:nvPr/>
          </p:nvGrpSpPr>
          <p:grpSpPr bwMode="auto">
            <a:xfrm>
              <a:off x="2496" y="768"/>
              <a:ext cx="960" cy="228"/>
              <a:chOff x="2064" y="1344"/>
              <a:chExt cx="960" cy="228"/>
            </a:xfrm>
          </p:grpSpPr>
          <p:sp>
            <p:nvSpPr>
              <p:cNvPr id="13343" name="Text Box 37"/>
              <p:cNvSpPr txBox="1">
                <a:spLocks noChangeArrowheads="1"/>
              </p:cNvSpPr>
              <p:nvPr/>
            </p:nvSpPr>
            <p:spPr bwMode="auto">
              <a:xfrm>
                <a:off x="2064" y="1344"/>
                <a:ext cx="192" cy="22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endParaRPr lang="zh-CN" altLang="en-US" sz="1600" b="1">
                  <a:ea typeface="宋体" panose="02010600030101010101" pitchFamily="2" charset="-122"/>
                </a:endParaRPr>
              </a:p>
            </p:txBody>
          </p:sp>
          <p:sp>
            <p:nvSpPr>
              <p:cNvPr id="13344" name="Text Box 38"/>
              <p:cNvSpPr txBox="1">
                <a:spLocks noChangeArrowheads="1"/>
              </p:cNvSpPr>
              <p:nvPr/>
            </p:nvSpPr>
            <p:spPr bwMode="auto">
              <a:xfrm>
                <a:off x="2256" y="1344"/>
                <a:ext cx="192" cy="22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600" b="1"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3345" name="Text Box 39"/>
              <p:cNvSpPr txBox="1">
                <a:spLocks noChangeArrowheads="1"/>
              </p:cNvSpPr>
              <p:nvPr/>
            </p:nvSpPr>
            <p:spPr bwMode="auto">
              <a:xfrm>
                <a:off x="2448" y="1344"/>
                <a:ext cx="192" cy="22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600" b="1">
                    <a:ea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13346" name="Text Box 40"/>
              <p:cNvSpPr txBox="1">
                <a:spLocks noChangeArrowheads="1"/>
              </p:cNvSpPr>
              <p:nvPr/>
            </p:nvSpPr>
            <p:spPr bwMode="auto">
              <a:xfrm>
                <a:off x="2640" y="1344"/>
                <a:ext cx="192" cy="22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600" b="1"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13347" name="Text Box 41"/>
              <p:cNvSpPr txBox="1">
                <a:spLocks noChangeArrowheads="1"/>
              </p:cNvSpPr>
              <p:nvPr/>
            </p:nvSpPr>
            <p:spPr bwMode="auto">
              <a:xfrm>
                <a:off x="2832" y="1344"/>
                <a:ext cx="192" cy="22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600" b="1">
                    <a:ea typeface="宋体" panose="02010600030101010101" pitchFamily="2" charset="-122"/>
                  </a:rPr>
                  <a:t>$</a:t>
                </a:r>
              </a:p>
            </p:txBody>
          </p:sp>
        </p:grpSp>
        <p:grpSp>
          <p:nvGrpSpPr>
            <p:cNvPr id="13324" name="Group 42"/>
            <p:cNvGrpSpPr>
              <a:grpSpLocks/>
            </p:cNvGrpSpPr>
            <p:nvPr/>
          </p:nvGrpSpPr>
          <p:grpSpPr bwMode="auto">
            <a:xfrm>
              <a:off x="1680" y="1344"/>
              <a:ext cx="192" cy="948"/>
              <a:chOff x="2880" y="2832"/>
              <a:chExt cx="192" cy="948"/>
            </a:xfrm>
          </p:grpSpPr>
          <p:sp>
            <p:nvSpPr>
              <p:cNvPr id="13339" name="Text Box 43"/>
              <p:cNvSpPr txBox="1">
                <a:spLocks noChangeArrowheads="1"/>
              </p:cNvSpPr>
              <p:nvPr/>
            </p:nvSpPr>
            <p:spPr bwMode="auto">
              <a:xfrm>
                <a:off x="2880" y="3072"/>
                <a:ext cx="192" cy="22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600" b="1">
                    <a:ea typeface="宋体" panose="02010600030101010101" pitchFamily="2" charset="-122"/>
                  </a:rPr>
                  <a:t>Y</a:t>
                </a:r>
              </a:p>
            </p:txBody>
          </p:sp>
          <p:sp>
            <p:nvSpPr>
              <p:cNvPr id="13340" name="Text Box 44"/>
              <p:cNvSpPr txBox="1">
                <a:spLocks noChangeArrowheads="1"/>
              </p:cNvSpPr>
              <p:nvPr/>
            </p:nvSpPr>
            <p:spPr bwMode="auto">
              <a:xfrm>
                <a:off x="2880" y="2832"/>
                <a:ext cx="192" cy="22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600" b="1">
                    <a:ea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13341" name="Text Box 45"/>
              <p:cNvSpPr txBox="1">
                <a:spLocks noChangeArrowheads="1"/>
              </p:cNvSpPr>
              <p:nvPr/>
            </p:nvSpPr>
            <p:spPr bwMode="auto">
              <a:xfrm>
                <a:off x="2880" y="3552"/>
                <a:ext cx="192" cy="22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600" b="1">
                    <a:ea typeface="宋体" panose="02010600030101010101" pitchFamily="2" charset="-122"/>
                  </a:rPr>
                  <a:t>$</a:t>
                </a:r>
              </a:p>
            </p:txBody>
          </p:sp>
          <p:sp>
            <p:nvSpPr>
              <p:cNvPr id="13342" name="Text Box 46"/>
              <p:cNvSpPr txBox="1">
                <a:spLocks noChangeArrowheads="1"/>
              </p:cNvSpPr>
              <p:nvPr/>
            </p:nvSpPr>
            <p:spPr bwMode="auto">
              <a:xfrm>
                <a:off x="2880" y="3312"/>
                <a:ext cx="192" cy="22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600" b="1">
                    <a:ea typeface="宋体" panose="02010600030101010101" pitchFamily="2" charset="-122"/>
                  </a:rPr>
                  <a:t>Z</a:t>
                </a:r>
              </a:p>
            </p:txBody>
          </p:sp>
        </p:grpSp>
        <p:sp>
          <p:nvSpPr>
            <p:cNvPr id="13325" name="Text Box 47"/>
            <p:cNvSpPr txBox="1">
              <a:spLocks noChangeArrowheads="1"/>
            </p:cNvSpPr>
            <p:nvPr/>
          </p:nvSpPr>
          <p:spPr bwMode="auto">
            <a:xfrm>
              <a:off x="3648" y="768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Input</a:t>
              </a:r>
            </a:p>
          </p:txBody>
        </p:sp>
        <p:sp>
          <p:nvSpPr>
            <p:cNvPr id="13326" name="Text Box 48"/>
            <p:cNvSpPr txBox="1">
              <a:spLocks noChangeArrowheads="1"/>
            </p:cNvSpPr>
            <p:nvPr/>
          </p:nvSpPr>
          <p:spPr bwMode="auto">
            <a:xfrm>
              <a:off x="2352" y="1296"/>
              <a:ext cx="1344" cy="4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Predictive Parsing Program</a:t>
              </a:r>
            </a:p>
          </p:txBody>
        </p:sp>
        <p:sp>
          <p:nvSpPr>
            <p:cNvPr id="13327" name="Text Box 49"/>
            <p:cNvSpPr txBox="1">
              <a:spLocks noChangeArrowheads="1"/>
            </p:cNvSpPr>
            <p:nvPr/>
          </p:nvSpPr>
          <p:spPr bwMode="auto">
            <a:xfrm>
              <a:off x="1056" y="1344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Stack</a:t>
              </a:r>
            </a:p>
          </p:txBody>
        </p:sp>
        <p:sp>
          <p:nvSpPr>
            <p:cNvPr id="13328" name="Text Box 50"/>
            <p:cNvSpPr txBox="1">
              <a:spLocks noChangeArrowheads="1"/>
            </p:cNvSpPr>
            <p:nvPr/>
          </p:nvSpPr>
          <p:spPr bwMode="auto">
            <a:xfrm>
              <a:off x="4176" y="1344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Output</a:t>
              </a:r>
            </a:p>
          </p:txBody>
        </p:sp>
        <p:sp>
          <p:nvSpPr>
            <p:cNvPr id="13329" name="Text Box 51"/>
            <p:cNvSpPr txBox="1">
              <a:spLocks noChangeArrowheads="1"/>
            </p:cNvSpPr>
            <p:nvPr/>
          </p:nvSpPr>
          <p:spPr bwMode="auto">
            <a:xfrm>
              <a:off x="2352" y="1920"/>
              <a:ext cx="1344" cy="4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Parsing Table M[A,a]</a:t>
              </a:r>
            </a:p>
          </p:txBody>
        </p:sp>
        <p:sp>
          <p:nvSpPr>
            <p:cNvPr id="13330" name="Line 52"/>
            <p:cNvSpPr>
              <a:spLocks noChangeShapeType="1"/>
            </p:cNvSpPr>
            <p:nvPr/>
          </p:nvSpPr>
          <p:spPr bwMode="auto">
            <a:xfrm flipV="1">
              <a:off x="2976" y="1008"/>
              <a:ext cx="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" name="Line 53"/>
            <p:cNvSpPr>
              <a:spLocks noChangeShapeType="1"/>
            </p:cNvSpPr>
            <p:nvPr/>
          </p:nvSpPr>
          <p:spPr bwMode="auto">
            <a:xfrm flipH="1">
              <a:off x="1872" y="1440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2" name="Line 54"/>
            <p:cNvSpPr>
              <a:spLocks noChangeShapeType="1"/>
            </p:cNvSpPr>
            <p:nvPr/>
          </p:nvSpPr>
          <p:spPr bwMode="auto">
            <a:xfrm>
              <a:off x="2976" y="1728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3" name="Line 55"/>
            <p:cNvSpPr>
              <a:spLocks noChangeShapeType="1"/>
            </p:cNvSpPr>
            <p:nvPr/>
          </p:nvSpPr>
          <p:spPr bwMode="auto">
            <a:xfrm>
              <a:off x="3696" y="1488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4" name="Text Box 56"/>
            <p:cNvSpPr txBox="1">
              <a:spLocks noChangeArrowheads="1"/>
            </p:cNvSpPr>
            <p:nvPr/>
          </p:nvSpPr>
          <p:spPr bwMode="auto">
            <a:xfrm>
              <a:off x="4224" y="768"/>
              <a:ext cx="129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rgbClr val="FF3300"/>
                  </a:solidFill>
                  <a:ea typeface="宋体" panose="02010600030101010101" pitchFamily="2" charset="-122"/>
                </a:rPr>
                <a:t>(String + terminator)</a:t>
              </a:r>
            </a:p>
          </p:txBody>
        </p:sp>
        <p:sp>
          <p:nvSpPr>
            <p:cNvPr id="13335" name="Text Box 57"/>
            <p:cNvSpPr txBox="1">
              <a:spLocks noChangeArrowheads="1"/>
            </p:cNvSpPr>
            <p:nvPr/>
          </p:nvSpPr>
          <p:spPr bwMode="auto">
            <a:xfrm>
              <a:off x="816" y="1536"/>
              <a:ext cx="720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rgbClr val="FF3300"/>
                  </a:solidFill>
                  <a:ea typeface="宋体" panose="02010600030101010101" pitchFamily="2" charset="-122"/>
                </a:rPr>
                <a:t>NT + T symbols of CFG</a:t>
              </a:r>
            </a:p>
          </p:txBody>
        </p:sp>
        <p:sp>
          <p:nvSpPr>
            <p:cNvPr id="13336" name="Line 58"/>
            <p:cNvSpPr>
              <a:spLocks noChangeShapeType="1"/>
            </p:cNvSpPr>
            <p:nvPr/>
          </p:nvSpPr>
          <p:spPr bwMode="auto">
            <a:xfrm flipV="1">
              <a:off x="1488" y="2208"/>
              <a:ext cx="240" cy="4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7" name="AutoShape 59"/>
            <p:cNvSpPr>
              <a:spLocks/>
            </p:cNvSpPr>
            <p:nvPr/>
          </p:nvSpPr>
          <p:spPr bwMode="auto">
            <a:xfrm>
              <a:off x="3840" y="1824"/>
              <a:ext cx="96" cy="576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3338" name="Text Box 60"/>
            <p:cNvSpPr txBox="1">
              <a:spLocks noChangeArrowheads="1"/>
            </p:cNvSpPr>
            <p:nvPr/>
          </p:nvSpPr>
          <p:spPr bwMode="auto">
            <a:xfrm>
              <a:off x="4080" y="1824"/>
              <a:ext cx="1344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rgbClr val="FF3300"/>
                  </a:solidFill>
                  <a:ea typeface="宋体" panose="02010600030101010101" pitchFamily="2" charset="-122"/>
                </a:rPr>
                <a:t>What actions parser should take based on stack / input</a:t>
              </a:r>
            </a:p>
          </p:txBody>
        </p:sp>
      </p:grpSp>
      <p:sp>
        <p:nvSpPr>
          <p:cNvPr id="299069" name="Rectangle 61"/>
          <p:cNvSpPr>
            <a:spLocks noChangeArrowheads="1"/>
          </p:cNvSpPr>
          <p:nvPr/>
        </p:nvSpPr>
        <p:spPr bwMode="auto">
          <a:xfrm>
            <a:off x="6608763" y="5589588"/>
            <a:ext cx="287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 b="1">
                <a:solidFill>
                  <a:srgbClr val="660066"/>
                </a:solidFill>
                <a:ea typeface="宋体" panose="02010600030101010101" pitchFamily="2" charset="-122"/>
              </a:rPr>
              <a:t>Notice the pushing order</a:t>
            </a:r>
            <a:endParaRPr lang="zh-CN" altLang="en-US" sz="2000" b="1">
              <a:solidFill>
                <a:srgbClr val="660066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9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99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99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990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990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990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990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33" presetID="26" presetClass="emph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000" tmFilter="0, 0; .2, .5; .8, .5; 1, 0"/>
                                        <p:tgtEl>
                                          <p:spTgt spid="2990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1000" autoRev="1" fill="hold"/>
                                        <p:tgtEl>
                                          <p:spTgt spid="2990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6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EB62E11-E7FB-4028-B000-C49A8FFC287C}" type="slidenum">
              <a:rPr lang="zh-CN" altLang="en-US" sz="800"/>
              <a:pPr/>
              <a:t>13</a:t>
            </a:fld>
            <a:endParaRPr lang="en-US" altLang="zh-CN" sz="800"/>
          </a:p>
        </p:txBody>
      </p:sp>
      <p:sp>
        <p:nvSpPr>
          <p:cNvPr id="14341" name="Rectangle 6"/>
          <p:cNvSpPr>
            <a:spLocks noGrp="1" noChangeArrowheads="1"/>
          </p:cNvSpPr>
          <p:nvPr>
            <p:ph type="title"/>
          </p:nvPr>
        </p:nvSpPr>
        <p:spPr>
          <a:xfrm>
            <a:off x="1081088" y="0"/>
            <a:ext cx="8062912" cy="692150"/>
          </a:xfrm>
          <a:noFill/>
        </p:spPr>
        <p:txBody>
          <a:bodyPr lIns="92075" tIns="46038" rIns="92075" bIns="46038"/>
          <a:lstStyle/>
          <a:p>
            <a:r>
              <a:rPr lang="en-US" altLang="zh-CN" smtClean="0">
                <a:ea typeface="宋体" panose="02010600030101010101" pitchFamily="2" charset="-122"/>
              </a:rPr>
              <a:t>Algorithm for Non-Recursive Parsing</a:t>
            </a:r>
          </a:p>
        </p:txBody>
      </p:sp>
      <p:sp>
        <p:nvSpPr>
          <p:cNvPr id="14342" name="Text Box 7"/>
          <p:cNvSpPr txBox="1">
            <a:spLocks noChangeArrowheads="1"/>
          </p:cNvSpPr>
          <p:nvPr/>
        </p:nvSpPr>
        <p:spPr bwMode="auto">
          <a:xfrm>
            <a:off x="704850" y="692150"/>
            <a:ext cx="6624638" cy="574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Set </a:t>
            </a:r>
            <a:r>
              <a:rPr lang="en-US" altLang="zh-CN" sz="1800" i="1">
                <a:ea typeface="宋体" panose="02010600030101010101" pitchFamily="2" charset="-122"/>
              </a:rPr>
              <a:t>ip</a:t>
            </a:r>
            <a:r>
              <a:rPr lang="en-US" altLang="zh-CN" sz="1800">
                <a:ea typeface="宋体" panose="02010600030101010101" pitchFamily="2" charset="-122"/>
              </a:rPr>
              <a:t> to point to the first symbol of w$;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repeat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        </a:t>
            </a:r>
            <a:r>
              <a:rPr lang="en-US" altLang="zh-CN" sz="1800">
                <a:ea typeface="宋体" panose="02010600030101010101" pitchFamily="2" charset="-122"/>
              </a:rPr>
              <a:t>let X be the top stack symbol and </a:t>
            </a:r>
            <a:r>
              <a:rPr lang="en-US" altLang="zh-CN" sz="1800" i="1">
                <a:ea typeface="宋体" panose="02010600030101010101" pitchFamily="2" charset="-122"/>
              </a:rPr>
              <a:t>a </a:t>
            </a:r>
            <a:r>
              <a:rPr lang="en-US" altLang="zh-CN" sz="1800">
                <a:ea typeface="宋体" panose="02010600030101010101" pitchFamily="2" charset="-122"/>
              </a:rPr>
              <a:t>the symbol pointed to by </a:t>
            </a:r>
            <a:r>
              <a:rPr lang="en-US" altLang="zh-CN" sz="1800" i="1">
                <a:ea typeface="宋体" panose="02010600030101010101" pitchFamily="2" charset="-122"/>
              </a:rPr>
              <a:t>ip</a:t>
            </a:r>
            <a:r>
              <a:rPr lang="en-US" altLang="zh-CN" sz="1800">
                <a:ea typeface="宋体" panose="02010600030101010101" pitchFamily="2" charset="-122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        </a:t>
            </a:r>
            <a:r>
              <a:rPr lang="en-US" altLang="zh-CN" sz="1800" b="1">
                <a:ea typeface="宋体" panose="02010600030101010101" pitchFamily="2" charset="-122"/>
              </a:rPr>
              <a:t>if</a:t>
            </a:r>
            <a:r>
              <a:rPr lang="en-US" altLang="zh-CN" sz="1800">
                <a:ea typeface="宋体" panose="02010600030101010101" pitchFamily="2" charset="-122"/>
              </a:rPr>
              <a:t> X is terminal or $ </a:t>
            </a:r>
            <a:r>
              <a:rPr lang="en-US" altLang="zh-CN" sz="1800" b="1">
                <a:ea typeface="宋体" panose="02010600030101010101" pitchFamily="2" charset="-122"/>
              </a:rPr>
              <a:t>then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              if </a:t>
            </a:r>
            <a:r>
              <a:rPr lang="en-US" altLang="zh-CN" sz="1800">
                <a:ea typeface="宋体" panose="02010600030101010101" pitchFamily="2" charset="-122"/>
              </a:rPr>
              <a:t> X=a  </a:t>
            </a:r>
            <a:r>
              <a:rPr lang="en-US" altLang="zh-CN" sz="1800" b="1">
                <a:ea typeface="宋体" panose="02010600030101010101" pitchFamily="2" charset="-122"/>
              </a:rPr>
              <a:t>then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                   </a:t>
            </a:r>
            <a:r>
              <a:rPr lang="en-US" altLang="zh-CN" sz="1800">
                <a:ea typeface="宋体" panose="02010600030101010101" pitchFamily="2" charset="-122"/>
              </a:rPr>
              <a:t>pop X from the stack and advance </a:t>
            </a:r>
            <a:r>
              <a:rPr lang="en-US" altLang="zh-CN" sz="1800" i="1">
                <a:ea typeface="宋体" panose="02010600030101010101" pitchFamily="2" charset="-122"/>
              </a:rPr>
              <a:t>ip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i="1">
                <a:ea typeface="宋体" panose="02010600030101010101" pitchFamily="2" charset="-122"/>
              </a:rPr>
              <a:t>              </a:t>
            </a:r>
            <a:r>
              <a:rPr lang="en-US" altLang="zh-CN" sz="1800" b="1">
                <a:ea typeface="宋体" panose="02010600030101010101" pitchFamily="2" charset="-122"/>
              </a:rPr>
              <a:t>else  </a:t>
            </a:r>
            <a:r>
              <a:rPr lang="en-US" altLang="zh-CN" sz="1800" i="1">
                <a:ea typeface="宋体" panose="02010600030101010101" pitchFamily="2" charset="-122"/>
              </a:rPr>
              <a:t>error()</a:t>
            </a:r>
            <a:endParaRPr lang="en-US" altLang="zh-CN" sz="180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        </a:t>
            </a:r>
            <a:r>
              <a:rPr lang="en-US" altLang="zh-CN" sz="1800" b="1">
                <a:ea typeface="宋体" panose="02010600030101010101" pitchFamily="2" charset="-122"/>
              </a:rPr>
              <a:t>else     </a:t>
            </a:r>
            <a:r>
              <a:rPr lang="en-US" altLang="zh-CN" sz="1800">
                <a:ea typeface="宋体" panose="02010600030101010101" pitchFamily="2" charset="-122"/>
              </a:rPr>
              <a:t>/*  X is a non-terminal  */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              </a:t>
            </a:r>
            <a:r>
              <a:rPr lang="en-US" altLang="zh-CN" sz="1800" b="1">
                <a:ea typeface="宋体" panose="02010600030101010101" pitchFamily="2" charset="-122"/>
              </a:rPr>
              <a:t>if </a:t>
            </a:r>
            <a:r>
              <a:rPr lang="en-US" altLang="zh-CN" sz="1800">
                <a:ea typeface="宋体" panose="02010600030101010101" pitchFamily="2" charset="-122"/>
              </a:rPr>
              <a:t> M[X,a] = X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Y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…Y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sz="1800" b="1">
                <a:ea typeface="宋体" panose="02010600030101010101" pitchFamily="2" charset="-122"/>
                <a:sym typeface="Symbol" panose="05050102010706020507" pitchFamily="18" charset="2"/>
              </a:rPr>
              <a:t>then begin</a:t>
            </a: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                pop X from stack;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                push Y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, Y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k-1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, … , Y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onto stack, with Y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on top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                output the production </a:t>
            </a:r>
            <a:r>
              <a:rPr lang="en-US" altLang="zh-CN" sz="1800">
                <a:ea typeface="宋体" panose="02010600030101010101" pitchFamily="2" charset="-122"/>
              </a:rPr>
              <a:t>X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Y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…Y</a:t>
            </a:r>
            <a:r>
              <a:rPr lang="en-US" altLang="zh-CN" sz="1800" baseline="-2500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              </a:t>
            </a:r>
            <a:r>
              <a:rPr lang="en-US" altLang="zh-CN" sz="1800" b="1">
                <a:ea typeface="宋体" panose="02010600030101010101" pitchFamily="2" charset="-122"/>
                <a:sym typeface="Symbol" panose="05050102010706020507" pitchFamily="18" charset="2"/>
              </a:rPr>
              <a:t>end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  <a:sym typeface="Symbol" panose="05050102010706020507" pitchFamily="18" charset="2"/>
              </a:rPr>
              <a:t>              else  </a:t>
            </a:r>
            <a:r>
              <a:rPr lang="en-US" altLang="zh-CN" sz="1800" i="1">
                <a:ea typeface="宋体" panose="02010600030101010101" pitchFamily="2" charset="-122"/>
                <a:sym typeface="Symbol" panose="05050102010706020507" pitchFamily="18" charset="2"/>
              </a:rPr>
              <a:t>error()</a:t>
            </a:r>
            <a:endParaRPr lang="en-US" altLang="zh-CN" sz="18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  <a:sym typeface="Symbol" panose="05050102010706020507" pitchFamily="18" charset="2"/>
              </a:rPr>
              <a:t>until </a:t>
            </a:r>
            <a:r>
              <a:rPr lang="en-US" altLang="zh-CN" sz="1800">
                <a:ea typeface="宋体" panose="02010600030101010101" pitchFamily="2" charset="-122"/>
                <a:sym typeface="Symbol" panose="05050102010706020507" pitchFamily="18" charset="2"/>
              </a:rPr>
              <a:t>X=$   /*  stack is empty  */</a:t>
            </a:r>
          </a:p>
        </p:txBody>
      </p:sp>
      <p:grpSp>
        <p:nvGrpSpPr>
          <p:cNvPr id="272396" name="Group 12"/>
          <p:cNvGrpSpPr>
            <a:grpSpLocks/>
          </p:cNvGrpSpPr>
          <p:nvPr/>
        </p:nvGrpSpPr>
        <p:grpSpPr bwMode="auto">
          <a:xfrm>
            <a:off x="7113588" y="1844675"/>
            <a:ext cx="1668462" cy="511175"/>
            <a:chOff x="4481" y="1162"/>
            <a:chExt cx="1051" cy="322"/>
          </a:xfrm>
        </p:grpSpPr>
        <p:sp>
          <p:nvSpPr>
            <p:cNvPr id="14347" name="Text Box 8"/>
            <p:cNvSpPr txBox="1">
              <a:spLocks noChangeArrowheads="1"/>
            </p:cNvSpPr>
            <p:nvPr/>
          </p:nvSpPr>
          <p:spPr bwMode="auto">
            <a:xfrm>
              <a:off x="4502" y="1253"/>
              <a:ext cx="103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a typeface="宋体" panose="02010600030101010101" pitchFamily="2" charset="-122"/>
                </a:rPr>
                <a:t>Input pointer</a:t>
              </a:r>
            </a:p>
          </p:txBody>
        </p:sp>
        <p:sp>
          <p:nvSpPr>
            <p:cNvPr id="14348" name="Line 9"/>
            <p:cNvSpPr>
              <a:spLocks noChangeShapeType="1"/>
            </p:cNvSpPr>
            <p:nvPr/>
          </p:nvSpPr>
          <p:spPr bwMode="auto">
            <a:xfrm flipH="1" flipV="1">
              <a:off x="4481" y="1162"/>
              <a:ext cx="98" cy="14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72397" name="Group 13"/>
          <p:cNvGrpSpPr>
            <a:grpSpLocks/>
          </p:cNvGrpSpPr>
          <p:nvPr/>
        </p:nvGrpSpPr>
        <p:grpSpPr bwMode="auto">
          <a:xfrm>
            <a:off x="5529263" y="5229225"/>
            <a:ext cx="3476625" cy="922338"/>
            <a:chOff x="3483" y="3294"/>
            <a:chExt cx="2190" cy="581"/>
          </a:xfrm>
        </p:grpSpPr>
        <p:sp>
          <p:nvSpPr>
            <p:cNvPr id="14345" name="Text Box 10"/>
            <p:cNvSpPr txBox="1">
              <a:spLocks noChangeArrowheads="1"/>
            </p:cNvSpPr>
            <p:nvPr/>
          </p:nvSpPr>
          <p:spPr bwMode="auto">
            <a:xfrm>
              <a:off x="3710" y="3298"/>
              <a:ext cx="1963" cy="5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ea typeface="宋体" panose="02010600030101010101" pitchFamily="2" charset="-122"/>
                </a:rPr>
                <a:t>May also execute other code based on the production used, such as creating parse tree.</a:t>
              </a:r>
            </a:p>
          </p:txBody>
        </p:sp>
        <p:sp>
          <p:nvSpPr>
            <p:cNvPr id="14346" name="Line 11"/>
            <p:cNvSpPr>
              <a:spLocks noChangeShapeType="1"/>
            </p:cNvSpPr>
            <p:nvPr/>
          </p:nvSpPr>
          <p:spPr bwMode="auto">
            <a:xfrm flipH="1" flipV="1">
              <a:off x="3483" y="3294"/>
              <a:ext cx="147" cy="14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27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27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7E97AFE-DC56-4772-9342-B035E61AA8C1}" type="slidenum">
              <a:rPr lang="zh-CN" altLang="en-US" sz="800"/>
              <a:pPr/>
              <a:t>14</a:t>
            </a:fld>
            <a:endParaRPr lang="en-US" altLang="zh-CN" sz="80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LL(1) Parser – Example1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050" y="2852738"/>
            <a:ext cx="9074150" cy="35274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			</a:t>
            </a:r>
            <a:r>
              <a:rPr lang="en-US" altLang="zh-CN" sz="2800" b="1" u="sng" smtClean="0">
                <a:ea typeface="宋体" panose="02010600030101010101" pitchFamily="2" charset="-122"/>
                <a:sym typeface="Symbol" panose="05050102010706020507" pitchFamily="18" charset="2"/>
              </a:rPr>
              <a:t> stack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2800" b="1" u="sng" smtClean="0">
                <a:ea typeface="宋体" panose="02010600030101010101" pitchFamily="2" charset="-122"/>
                <a:sym typeface="Symbol" panose="05050102010706020507" pitchFamily="18" charset="2"/>
              </a:rPr>
              <a:t>input</a:t>
            </a:r>
            <a:r>
              <a:rPr lang="en-US" altLang="zh-CN" sz="2800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2800" b="1" u="sng" smtClean="0">
                <a:ea typeface="宋体" panose="02010600030101010101" pitchFamily="2" charset="-122"/>
                <a:sym typeface="Symbol" panose="05050102010706020507" pitchFamily="18" charset="2"/>
              </a:rPr>
              <a:t>output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$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bba$		 </a:t>
            </a:r>
            <a:r>
              <a:rPr lang="en-US" altLang="zh-CN" sz="1800" b="1" smtClean="0">
                <a:ea typeface="宋体" panose="02010600030101010101" pitchFamily="2" charset="-122"/>
              </a:rPr>
              <a:t>S 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800" b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b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$aB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bba$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$a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ba$		 B  </a:t>
            </a:r>
            <a:r>
              <a:rPr lang="en-US" altLang="zh-CN" sz="1800" b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$aB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ba$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$a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a$		 B  </a:t>
            </a:r>
            <a:r>
              <a:rPr lang="en-US" altLang="zh-CN" sz="1800" b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$aB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a$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$a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$		 B  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$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$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$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b="1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$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b="1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accept, successful completion</a:t>
            </a:r>
          </a:p>
        </p:txBody>
      </p:sp>
      <p:graphicFrame>
        <p:nvGraphicFramePr>
          <p:cNvPr id="273440" name="Group 32"/>
          <p:cNvGraphicFramePr>
            <a:graphicFrameLocks noGrp="1"/>
          </p:cNvGraphicFramePr>
          <p:nvPr/>
        </p:nvGraphicFramePr>
        <p:xfrm>
          <a:off x="2720975" y="1052513"/>
          <a:ext cx="4572000" cy="1417637"/>
        </p:xfrm>
        <a:graphic>
          <a:graphicData uri="http://schemas.openxmlformats.org/drawingml/2006/table">
            <a:tbl>
              <a:tblPr/>
              <a:tblGrid>
                <a:gridCol w="49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5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7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B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B  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B 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b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389" name="Rectangle 33"/>
          <p:cNvSpPr>
            <a:spLocks noChangeArrowheads="1"/>
          </p:cNvSpPr>
          <p:nvPr/>
        </p:nvSpPr>
        <p:spPr bwMode="auto">
          <a:xfrm>
            <a:off x="1355725" y="3016250"/>
            <a:ext cx="503238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4800" b="1" i="1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?</a:t>
            </a:r>
          </a:p>
        </p:txBody>
      </p:sp>
      <p:sp>
        <p:nvSpPr>
          <p:cNvPr id="15390" name="Rectangle 34"/>
          <p:cNvSpPr>
            <a:spLocks noChangeArrowheads="1"/>
          </p:cNvSpPr>
          <p:nvPr/>
        </p:nvSpPr>
        <p:spPr bwMode="auto">
          <a:xfrm>
            <a:off x="273050" y="1916113"/>
            <a:ext cx="18732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Sentence “</a:t>
            </a:r>
            <a:r>
              <a:rPr lang="en-US" altLang="zh-CN" b="1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abba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” is 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correct or not</a:t>
            </a:r>
            <a:endParaRPr lang="zh-CN" altLang="en-US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5391" name="Rectangle 35"/>
          <p:cNvSpPr>
            <a:spLocks noChangeArrowheads="1"/>
          </p:cNvSpPr>
          <p:nvPr/>
        </p:nvSpPr>
        <p:spPr bwMode="auto">
          <a:xfrm>
            <a:off x="273050" y="836613"/>
            <a:ext cx="19288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S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  | </a:t>
            </a:r>
          </a:p>
        </p:txBody>
      </p:sp>
      <p:sp>
        <p:nvSpPr>
          <p:cNvPr id="15392" name="Rectangle 36"/>
          <p:cNvSpPr>
            <a:spLocks noChangeArrowheads="1"/>
          </p:cNvSpPr>
          <p:nvPr/>
        </p:nvSpPr>
        <p:spPr bwMode="auto">
          <a:xfrm>
            <a:off x="7616825" y="1268413"/>
            <a:ext cx="20304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LL(1) Parsing Table</a:t>
            </a:r>
          </a:p>
        </p:txBody>
      </p:sp>
      <p:sp>
        <p:nvSpPr>
          <p:cNvPr id="33" name="Rectangle 36"/>
          <p:cNvSpPr>
            <a:spLocks noChangeArrowheads="1"/>
          </p:cNvSpPr>
          <p:nvPr/>
        </p:nvSpPr>
        <p:spPr bwMode="auto">
          <a:xfrm>
            <a:off x="101600" y="4221163"/>
            <a:ext cx="1730375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800" dirty="0" err="1">
                <a:solidFill>
                  <a:schemeClr val="accent1">
                    <a:lumMod val="50000"/>
                  </a:schemeClr>
                </a:solidFill>
                <a:ea typeface="宋体" pitchFamily="2" charset="-122"/>
                <a:sym typeface="Symbol" pitchFamily="18" charset="2"/>
              </a:rPr>
              <a:t>Deviration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  <a:ea typeface="宋体" pitchFamily="2" charset="-122"/>
                <a:sym typeface="Symbol" pitchFamily="18" charset="2"/>
              </a:rPr>
              <a:t> with left-most first</a:t>
            </a:r>
          </a:p>
        </p:txBody>
      </p:sp>
      <p:pic>
        <p:nvPicPr>
          <p:cNvPr id="15394" name="Picture 3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50" y="3429000"/>
            <a:ext cx="287338" cy="760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7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7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7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7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73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73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7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7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73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73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73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73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73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73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6387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638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B9EFFA3-6584-4A02-A7D0-8AC74E675C65}" type="slidenum">
              <a:rPr lang="zh-CN" altLang="en-US" sz="800"/>
              <a:pPr/>
              <a:t>15</a:t>
            </a:fld>
            <a:endParaRPr lang="en-US" altLang="zh-CN" sz="80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LL(1) Parser – Example1 (cont.)</a:t>
            </a:r>
          </a:p>
        </p:txBody>
      </p:sp>
      <p:sp>
        <p:nvSpPr>
          <p:cNvPr id="274435" name="Text Box 3"/>
          <p:cNvSpPr txBox="1">
            <a:spLocks noChangeArrowheads="1"/>
          </p:cNvSpPr>
          <p:nvPr/>
        </p:nvSpPr>
        <p:spPr bwMode="auto">
          <a:xfrm>
            <a:off x="593725" y="1052513"/>
            <a:ext cx="74993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Outputs: </a:t>
            </a:r>
          </a:p>
          <a:p>
            <a:r>
              <a:rPr lang="en-US" altLang="zh-CN">
                <a:ea typeface="宋体" panose="02010600030101010101" pitchFamily="2" charset="-122"/>
              </a:rPr>
              <a:t>	S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  B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      B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 	   B   	</a:t>
            </a:r>
          </a:p>
        </p:txBody>
      </p:sp>
      <p:sp>
        <p:nvSpPr>
          <p:cNvPr id="274436" name="Text Box 4"/>
          <p:cNvSpPr txBox="1">
            <a:spLocks noChangeArrowheads="1"/>
          </p:cNvSpPr>
          <p:nvPr/>
        </p:nvSpPr>
        <p:spPr bwMode="auto">
          <a:xfrm>
            <a:off x="593725" y="1946275"/>
            <a:ext cx="49196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Derivation(left-most):   </a:t>
            </a:r>
          </a:p>
          <a:p>
            <a:r>
              <a:rPr lang="en-US" altLang="zh-CN">
                <a:ea typeface="宋体" panose="02010600030101010101" pitchFamily="2" charset="-122"/>
              </a:rPr>
              <a:t>	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abb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abba</a:t>
            </a:r>
          </a:p>
        </p:txBody>
      </p:sp>
      <p:grpSp>
        <p:nvGrpSpPr>
          <p:cNvPr id="274458" name="Group 26"/>
          <p:cNvGrpSpPr>
            <a:grpSpLocks/>
          </p:cNvGrpSpPr>
          <p:nvPr/>
        </p:nvGrpSpPr>
        <p:grpSpPr bwMode="auto">
          <a:xfrm>
            <a:off x="3911600" y="2733675"/>
            <a:ext cx="1649413" cy="3719513"/>
            <a:chOff x="2464" y="1548"/>
            <a:chExt cx="1039" cy="2343"/>
          </a:xfrm>
        </p:grpSpPr>
        <p:sp>
          <p:nvSpPr>
            <p:cNvPr id="16394" name="Line 5"/>
            <p:cNvSpPr>
              <a:spLocks noChangeShapeType="1"/>
            </p:cNvSpPr>
            <p:nvPr/>
          </p:nvSpPr>
          <p:spPr bwMode="auto">
            <a:xfrm flipH="1">
              <a:off x="2560" y="1779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5" name="Line 6"/>
            <p:cNvSpPr>
              <a:spLocks noChangeShapeType="1"/>
            </p:cNvSpPr>
            <p:nvPr/>
          </p:nvSpPr>
          <p:spPr bwMode="auto">
            <a:xfrm>
              <a:off x="2944" y="1779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6" name="Line 7"/>
            <p:cNvSpPr>
              <a:spLocks noChangeShapeType="1"/>
            </p:cNvSpPr>
            <p:nvPr/>
          </p:nvSpPr>
          <p:spPr bwMode="auto">
            <a:xfrm>
              <a:off x="2944" y="1779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397" name="Group 10"/>
            <p:cNvGrpSpPr>
              <a:grpSpLocks/>
            </p:cNvGrpSpPr>
            <p:nvPr/>
          </p:nvGrpSpPr>
          <p:grpSpPr bwMode="auto">
            <a:xfrm>
              <a:off x="2704" y="2355"/>
              <a:ext cx="432" cy="384"/>
              <a:chOff x="1728" y="2544"/>
              <a:chExt cx="432" cy="384"/>
            </a:xfrm>
          </p:grpSpPr>
          <p:sp>
            <p:nvSpPr>
              <p:cNvPr id="16411" name="Line 8"/>
              <p:cNvSpPr>
                <a:spLocks noChangeShapeType="1"/>
              </p:cNvSpPr>
              <p:nvPr/>
            </p:nvSpPr>
            <p:spPr bwMode="auto">
              <a:xfrm flipH="1">
                <a:off x="1728" y="2544"/>
                <a:ext cx="24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2" name="Line 9"/>
              <p:cNvSpPr>
                <a:spLocks noChangeShapeType="1"/>
              </p:cNvSpPr>
              <p:nvPr/>
            </p:nvSpPr>
            <p:spPr bwMode="auto">
              <a:xfrm>
                <a:off x="1968" y="254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398" name="Group 11"/>
            <p:cNvGrpSpPr>
              <a:grpSpLocks/>
            </p:cNvGrpSpPr>
            <p:nvPr/>
          </p:nvGrpSpPr>
          <p:grpSpPr bwMode="auto">
            <a:xfrm>
              <a:off x="2944" y="2883"/>
              <a:ext cx="432" cy="384"/>
              <a:chOff x="1728" y="2544"/>
              <a:chExt cx="432" cy="384"/>
            </a:xfrm>
          </p:grpSpPr>
          <p:sp>
            <p:nvSpPr>
              <p:cNvPr id="16409" name="Line 12"/>
              <p:cNvSpPr>
                <a:spLocks noChangeShapeType="1"/>
              </p:cNvSpPr>
              <p:nvPr/>
            </p:nvSpPr>
            <p:spPr bwMode="auto">
              <a:xfrm flipH="1">
                <a:off x="1728" y="2544"/>
                <a:ext cx="24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0" name="Line 13"/>
              <p:cNvSpPr>
                <a:spLocks noChangeShapeType="1"/>
              </p:cNvSpPr>
              <p:nvPr/>
            </p:nvSpPr>
            <p:spPr bwMode="auto">
              <a:xfrm>
                <a:off x="1968" y="254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399" name="Line 14"/>
            <p:cNvSpPr>
              <a:spLocks noChangeShapeType="1"/>
            </p:cNvSpPr>
            <p:nvPr/>
          </p:nvSpPr>
          <p:spPr bwMode="auto">
            <a:xfrm>
              <a:off x="3376" y="3411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Text Box 15"/>
            <p:cNvSpPr txBox="1">
              <a:spLocks noChangeArrowheads="1"/>
            </p:cNvSpPr>
            <p:nvPr/>
          </p:nvSpPr>
          <p:spPr bwMode="auto">
            <a:xfrm>
              <a:off x="2838" y="1548"/>
              <a:ext cx="20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16401" name="Text Box 17"/>
            <p:cNvSpPr txBox="1">
              <a:spLocks noChangeArrowheads="1"/>
            </p:cNvSpPr>
            <p:nvPr/>
          </p:nvSpPr>
          <p:spPr bwMode="auto">
            <a:xfrm>
              <a:off x="2848" y="2115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6402" name="Text Box 18"/>
            <p:cNvSpPr txBox="1">
              <a:spLocks noChangeArrowheads="1"/>
            </p:cNvSpPr>
            <p:nvPr/>
          </p:nvSpPr>
          <p:spPr bwMode="auto">
            <a:xfrm>
              <a:off x="2464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6403" name="Text Box 19"/>
            <p:cNvSpPr txBox="1">
              <a:spLocks noChangeArrowheads="1"/>
            </p:cNvSpPr>
            <p:nvPr/>
          </p:nvSpPr>
          <p:spPr bwMode="auto">
            <a:xfrm>
              <a:off x="3232" y="2115"/>
              <a:ext cx="18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6404" name="Text Box 20"/>
            <p:cNvSpPr txBox="1">
              <a:spLocks noChangeArrowheads="1"/>
            </p:cNvSpPr>
            <p:nvPr/>
          </p:nvSpPr>
          <p:spPr bwMode="auto">
            <a:xfrm>
              <a:off x="3040" y="2691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6405" name="Text Box 21"/>
            <p:cNvSpPr txBox="1">
              <a:spLocks noChangeArrowheads="1"/>
            </p:cNvSpPr>
            <p:nvPr/>
          </p:nvSpPr>
          <p:spPr bwMode="auto">
            <a:xfrm>
              <a:off x="3280" y="3219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6406" name="Text Box 22"/>
            <p:cNvSpPr txBox="1">
              <a:spLocks noChangeArrowheads="1"/>
            </p:cNvSpPr>
            <p:nvPr/>
          </p:nvSpPr>
          <p:spPr bwMode="auto">
            <a:xfrm>
              <a:off x="2848" y="3219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6407" name="Text Box 23"/>
            <p:cNvSpPr txBox="1">
              <a:spLocks noChangeArrowheads="1"/>
            </p:cNvSpPr>
            <p:nvPr/>
          </p:nvSpPr>
          <p:spPr bwMode="auto">
            <a:xfrm>
              <a:off x="2608" y="269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solidFill>
                    <a:schemeClr val="accent2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6408" name="Text Box 24"/>
            <p:cNvSpPr txBox="1">
              <a:spLocks noChangeArrowheads="1"/>
            </p:cNvSpPr>
            <p:nvPr/>
          </p:nvSpPr>
          <p:spPr bwMode="auto">
            <a:xfrm>
              <a:off x="3280" y="3603"/>
              <a:ext cx="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zh-CN" altLang="en-US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16393" name="Text Box 25"/>
          <p:cNvSpPr txBox="1">
            <a:spLocks noChangeArrowheads="1"/>
          </p:cNvSpPr>
          <p:nvPr/>
        </p:nvSpPr>
        <p:spPr bwMode="auto">
          <a:xfrm>
            <a:off x="1712913" y="3933825"/>
            <a:ext cx="1358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parse tree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74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27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2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7411" name="页脚占位符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7412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ACB4DF7-7816-4DE9-95CD-77235B6EA7B3}" type="slidenum">
              <a:rPr lang="zh-CN" altLang="en-US" sz="800"/>
              <a:pPr/>
              <a:t>16</a:t>
            </a:fld>
            <a:endParaRPr lang="en-US" altLang="zh-CN" sz="80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LL(1) Parser – Example2 (P.188)</a:t>
            </a:r>
          </a:p>
        </p:txBody>
      </p:sp>
      <p:sp>
        <p:nvSpPr>
          <p:cNvPr id="17414" name="Text Box 3"/>
          <p:cNvSpPr txBox="1">
            <a:spLocks noChangeArrowheads="1"/>
          </p:cNvSpPr>
          <p:nvPr/>
        </p:nvSpPr>
        <p:spPr bwMode="auto">
          <a:xfrm>
            <a:off x="457200" y="765175"/>
            <a:ext cx="2551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Example 4.16:</a:t>
            </a:r>
          </a:p>
        </p:txBody>
      </p:sp>
      <p:sp>
        <p:nvSpPr>
          <p:cNvPr id="17415" name="Rectangle 112"/>
          <p:cNvSpPr>
            <a:spLocks noChangeArrowheads="1"/>
          </p:cNvSpPr>
          <p:nvPr/>
        </p:nvSpPr>
        <p:spPr bwMode="auto">
          <a:xfrm>
            <a:off x="2289175" y="6092825"/>
            <a:ext cx="565150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1800">
                <a:solidFill>
                  <a:schemeClr val="tx2"/>
                </a:solidFill>
                <a:ea typeface="宋体" panose="02010600030101010101" pitchFamily="2" charset="-122"/>
              </a:rPr>
              <a:t>Fig.4.15 parsing table M for grammar</a:t>
            </a:r>
          </a:p>
        </p:txBody>
      </p:sp>
      <p:grpSp>
        <p:nvGrpSpPr>
          <p:cNvPr id="17416" name="Group 113"/>
          <p:cNvGrpSpPr>
            <a:grpSpLocks/>
          </p:cNvGrpSpPr>
          <p:nvPr/>
        </p:nvGrpSpPr>
        <p:grpSpPr bwMode="auto">
          <a:xfrm>
            <a:off x="1676400" y="1268413"/>
            <a:ext cx="2057400" cy="1463675"/>
            <a:chOff x="1056" y="864"/>
            <a:chExt cx="1296" cy="922"/>
          </a:xfrm>
        </p:grpSpPr>
        <p:sp>
          <p:nvSpPr>
            <p:cNvPr id="17463" name="Text Box 114"/>
            <p:cNvSpPr txBox="1">
              <a:spLocks noChangeArrowheads="1"/>
            </p:cNvSpPr>
            <p:nvPr/>
          </p:nvSpPr>
          <p:spPr bwMode="auto">
            <a:xfrm>
              <a:off x="1056" y="864"/>
              <a:ext cx="129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E  TE’                                                E’ 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TE’ |  </a:t>
              </a:r>
            </a:p>
          </p:txBody>
        </p:sp>
        <p:sp>
          <p:nvSpPr>
            <p:cNvPr id="17464" name="Text Box 115"/>
            <p:cNvSpPr txBox="1">
              <a:spLocks noChangeArrowheads="1"/>
            </p:cNvSpPr>
            <p:nvPr/>
          </p:nvSpPr>
          <p:spPr bwMode="auto">
            <a:xfrm>
              <a:off x="1056" y="1200"/>
              <a:ext cx="129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T  FT’                                                T’ 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*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FT’ |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</a:p>
          </p:txBody>
        </p:sp>
        <p:sp>
          <p:nvSpPr>
            <p:cNvPr id="17465" name="Text Box 116"/>
            <p:cNvSpPr txBox="1">
              <a:spLocks noChangeArrowheads="1"/>
            </p:cNvSpPr>
            <p:nvPr/>
          </p:nvSpPr>
          <p:spPr bwMode="auto">
            <a:xfrm>
              <a:off x="1056" y="1536"/>
              <a:ext cx="107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F 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( 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E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)  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|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id</a:t>
              </a:r>
            </a:p>
          </p:txBody>
        </p:sp>
      </p:grpSp>
      <p:sp>
        <p:nvSpPr>
          <p:cNvPr id="17417" name="AutoShape 117"/>
          <p:cNvSpPr>
            <a:spLocks/>
          </p:cNvSpPr>
          <p:nvPr/>
        </p:nvSpPr>
        <p:spPr bwMode="auto">
          <a:xfrm>
            <a:off x="3962400" y="1268413"/>
            <a:ext cx="381000" cy="1447800"/>
          </a:xfrm>
          <a:prstGeom prst="rightBrace">
            <a:avLst>
              <a:gd name="adj1" fmla="val 3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418" name="Text Box 119"/>
          <p:cNvSpPr txBox="1">
            <a:spLocks noChangeArrowheads="1"/>
          </p:cNvSpPr>
          <p:nvPr/>
        </p:nvSpPr>
        <p:spPr bwMode="auto">
          <a:xfrm>
            <a:off x="4267200" y="2781300"/>
            <a:ext cx="144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Table M</a:t>
            </a:r>
          </a:p>
        </p:txBody>
      </p:sp>
      <p:grpSp>
        <p:nvGrpSpPr>
          <p:cNvPr id="275622" name="Group 166"/>
          <p:cNvGrpSpPr>
            <a:grpSpLocks/>
          </p:cNvGrpSpPr>
          <p:nvPr/>
        </p:nvGrpSpPr>
        <p:grpSpPr bwMode="auto">
          <a:xfrm>
            <a:off x="1136650" y="3429000"/>
            <a:ext cx="7848600" cy="2595563"/>
            <a:chOff x="716" y="2160"/>
            <a:chExt cx="4944" cy="1635"/>
          </a:xfrm>
        </p:grpSpPr>
        <p:sp>
          <p:nvSpPr>
            <p:cNvPr id="17421" name="Line 123"/>
            <p:cNvSpPr>
              <a:spLocks noChangeShapeType="1"/>
            </p:cNvSpPr>
            <p:nvPr/>
          </p:nvSpPr>
          <p:spPr bwMode="auto">
            <a:xfrm>
              <a:off x="716" y="2163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2" name="Line 124"/>
            <p:cNvSpPr>
              <a:spLocks noChangeShapeType="1"/>
            </p:cNvSpPr>
            <p:nvPr/>
          </p:nvSpPr>
          <p:spPr bwMode="auto">
            <a:xfrm>
              <a:off x="1436" y="2403"/>
              <a:ext cx="42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3" name="Line 125"/>
            <p:cNvSpPr>
              <a:spLocks noChangeShapeType="1"/>
            </p:cNvSpPr>
            <p:nvPr/>
          </p:nvSpPr>
          <p:spPr bwMode="auto">
            <a:xfrm>
              <a:off x="716" y="2595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4" name="Line 126"/>
            <p:cNvSpPr>
              <a:spLocks noChangeShapeType="1"/>
            </p:cNvSpPr>
            <p:nvPr/>
          </p:nvSpPr>
          <p:spPr bwMode="auto">
            <a:xfrm>
              <a:off x="716" y="3795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5" name="Line 127"/>
            <p:cNvSpPr>
              <a:spLocks noChangeShapeType="1"/>
            </p:cNvSpPr>
            <p:nvPr/>
          </p:nvSpPr>
          <p:spPr bwMode="auto">
            <a:xfrm>
              <a:off x="5660" y="2160"/>
              <a:ext cx="0" cy="16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6" name="Line 128"/>
            <p:cNvSpPr>
              <a:spLocks noChangeShapeType="1"/>
            </p:cNvSpPr>
            <p:nvPr/>
          </p:nvSpPr>
          <p:spPr bwMode="auto">
            <a:xfrm>
              <a:off x="1436" y="2163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7" name="Line 129"/>
            <p:cNvSpPr>
              <a:spLocks noChangeShapeType="1"/>
            </p:cNvSpPr>
            <p:nvPr/>
          </p:nvSpPr>
          <p:spPr bwMode="auto">
            <a:xfrm>
              <a:off x="2156" y="2403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8" name="Line 130"/>
            <p:cNvSpPr>
              <a:spLocks noChangeShapeType="1"/>
            </p:cNvSpPr>
            <p:nvPr/>
          </p:nvSpPr>
          <p:spPr bwMode="auto">
            <a:xfrm>
              <a:off x="3596" y="2403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9" name="Line 131"/>
            <p:cNvSpPr>
              <a:spLocks noChangeShapeType="1"/>
            </p:cNvSpPr>
            <p:nvPr/>
          </p:nvSpPr>
          <p:spPr bwMode="auto">
            <a:xfrm>
              <a:off x="4316" y="2403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0" name="Line 132"/>
            <p:cNvSpPr>
              <a:spLocks noChangeShapeType="1"/>
            </p:cNvSpPr>
            <p:nvPr/>
          </p:nvSpPr>
          <p:spPr bwMode="auto">
            <a:xfrm>
              <a:off x="4988" y="2403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1" name="Line 133"/>
            <p:cNvSpPr>
              <a:spLocks noChangeShapeType="1"/>
            </p:cNvSpPr>
            <p:nvPr/>
          </p:nvSpPr>
          <p:spPr bwMode="auto">
            <a:xfrm>
              <a:off x="2876" y="2403"/>
              <a:ext cx="0" cy="13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2" name="Line 134"/>
            <p:cNvSpPr>
              <a:spLocks noChangeShapeType="1"/>
            </p:cNvSpPr>
            <p:nvPr/>
          </p:nvSpPr>
          <p:spPr bwMode="auto">
            <a:xfrm>
              <a:off x="716" y="2835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3" name="Line 135"/>
            <p:cNvSpPr>
              <a:spLocks noChangeShapeType="1"/>
            </p:cNvSpPr>
            <p:nvPr/>
          </p:nvSpPr>
          <p:spPr bwMode="auto">
            <a:xfrm>
              <a:off x="716" y="3075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4" name="Line 136"/>
            <p:cNvSpPr>
              <a:spLocks noChangeShapeType="1"/>
            </p:cNvSpPr>
            <p:nvPr/>
          </p:nvSpPr>
          <p:spPr bwMode="auto">
            <a:xfrm>
              <a:off x="716" y="3315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5" name="Line 137"/>
            <p:cNvSpPr>
              <a:spLocks noChangeShapeType="1"/>
            </p:cNvSpPr>
            <p:nvPr/>
          </p:nvSpPr>
          <p:spPr bwMode="auto">
            <a:xfrm>
              <a:off x="716" y="3555"/>
              <a:ext cx="49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6" name="Text Box 138"/>
            <p:cNvSpPr txBox="1">
              <a:spLocks noChangeArrowheads="1"/>
            </p:cNvSpPr>
            <p:nvPr/>
          </p:nvSpPr>
          <p:spPr bwMode="auto">
            <a:xfrm>
              <a:off x="716" y="2259"/>
              <a:ext cx="672" cy="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Non-terminal</a:t>
              </a:r>
            </a:p>
          </p:txBody>
        </p:sp>
        <p:sp>
          <p:nvSpPr>
            <p:cNvPr id="17437" name="Text Box 139"/>
            <p:cNvSpPr txBox="1">
              <a:spLocks noChangeArrowheads="1"/>
            </p:cNvSpPr>
            <p:nvPr/>
          </p:nvSpPr>
          <p:spPr bwMode="auto">
            <a:xfrm>
              <a:off x="2732" y="2163"/>
              <a:ext cx="21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INPUT SYMBOL</a:t>
              </a:r>
            </a:p>
          </p:txBody>
        </p:sp>
        <p:sp>
          <p:nvSpPr>
            <p:cNvPr id="17438" name="Text Box 140"/>
            <p:cNvSpPr txBox="1">
              <a:spLocks noChangeArrowheads="1"/>
            </p:cNvSpPr>
            <p:nvPr/>
          </p:nvSpPr>
          <p:spPr bwMode="auto">
            <a:xfrm>
              <a:off x="1580" y="2403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id</a:t>
              </a:r>
            </a:p>
          </p:txBody>
        </p:sp>
        <p:sp>
          <p:nvSpPr>
            <p:cNvPr id="17439" name="Text Box 141"/>
            <p:cNvSpPr txBox="1">
              <a:spLocks noChangeArrowheads="1"/>
            </p:cNvSpPr>
            <p:nvPr/>
          </p:nvSpPr>
          <p:spPr bwMode="auto">
            <a:xfrm>
              <a:off x="2300" y="2403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+</a:t>
              </a:r>
            </a:p>
          </p:txBody>
        </p:sp>
        <p:sp>
          <p:nvSpPr>
            <p:cNvPr id="17440" name="Text Box 142"/>
            <p:cNvSpPr txBox="1">
              <a:spLocks noChangeArrowheads="1"/>
            </p:cNvSpPr>
            <p:nvPr/>
          </p:nvSpPr>
          <p:spPr bwMode="auto">
            <a:xfrm>
              <a:off x="3020" y="2403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600" b="1"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17441" name="Text Box 143"/>
            <p:cNvSpPr txBox="1">
              <a:spLocks noChangeArrowheads="1"/>
            </p:cNvSpPr>
            <p:nvPr/>
          </p:nvSpPr>
          <p:spPr bwMode="auto">
            <a:xfrm>
              <a:off x="3740" y="2403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17442" name="Text Box 144"/>
            <p:cNvSpPr txBox="1">
              <a:spLocks noChangeArrowheads="1"/>
            </p:cNvSpPr>
            <p:nvPr/>
          </p:nvSpPr>
          <p:spPr bwMode="auto">
            <a:xfrm>
              <a:off x="4412" y="2403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17443" name="Text Box 145"/>
            <p:cNvSpPr txBox="1">
              <a:spLocks noChangeArrowheads="1"/>
            </p:cNvSpPr>
            <p:nvPr/>
          </p:nvSpPr>
          <p:spPr bwMode="auto">
            <a:xfrm>
              <a:off x="5084" y="2403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$</a:t>
              </a:r>
            </a:p>
          </p:txBody>
        </p:sp>
        <p:sp>
          <p:nvSpPr>
            <p:cNvPr id="17444" name="Text Box 146"/>
            <p:cNvSpPr txBox="1">
              <a:spLocks noChangeArrowheads="1"/>
            </p:cNvSpPr>
            <p:nvPr/>
          </p:nvSpPr>
          <p:spPr bwMode="auto">
            <a:xfrm>
              <a:off x="764" y="2595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17445" name="Text Box 147"/>
            <p:cNvSpPr txBox="1">
              <a:spLocks noChangeArrowheads="1"/>
            </p:cNvSpPr>
            <p:nvPr/>
          </p:nvSpPr>
          <p:spPr bwMode="auto">
            <a:xfrm>
              <a:off x="764" y="2835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E’</a:t>
              </a:r>
            </a:p>
          </p:txBody>
        </p:sp>
        <p:sp>
          <p:nvSpPr>
            <p:cNvPr id="17446" name="Text Box 148"/>
            <p:cNvSpPr txBox="1">
              <a:spLocks noChangeArrowheads="1"/>
            </p:cNvSpPr>
            <p:nvPr/>
          </p:nvSpPr>
          <p:spPr bwMode="auto">
            <a:xfrm>
              <a:off x="764" y="3075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T</a:t>
              </a:r>
            </a:p>
          </p:txBody>
        </p:sp>
        <p:sp>
          <p:nvSpPr>
            <p:cNvPr id="17447" name="Text Box 149"/>
            <p:cNvSpPr txBox="1">
              <a:spLocks noChangeArrowheads="1"/>
            </p:cNvSpPr>
            <p:nvPr/>
          </p:nvSpPr>
          <p:spPr bwMode="auto">
            <a:xfrm>
              <a:off x="764" y="3315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T’</a:t>
              </a:r>
            </a:p>
          </p:txBody>
        </p:sp>
        <p:sp>
          <p:nvSpPr>
            <p:cNvPr id="17448" name="Text Box 150"/>
            <p:cNvSpPr txBox="1">
              <a:spLocks noChangeArrowheads="1"/>
            </p:cNvSpPr>
            <p:nvPr/>
          </p:nvSpPr>
          <p:spPr bwMode="auto">
            <a:xfrm>
              <a:off x="764" y="3555"/>
              <a:ext cx="5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17449" name="Text Box 151"/>
            <p:cNvSpPr txBox="1">
              <a:spLocks noChangeArrowheads="1"/>
            </p:cNvSpPr>
            <p:nvPr/>
          </p:nvSpPr>
          <p:spPr bwMode="auto">
            <a:xfrm>
              <a:off x="1436" y="259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E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TE’</a:t>
              </a:r>
              <a:endParaRPr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17450" name="Text Box 152"/>
            <p:cNvSpPr txBox="1">
              <a:spLocks noChangeArrowheads="1"/>
            </p:cNvSpPr>
            <p:nvPr/>
          </p:nvSpPr>
          <p:spPr bwMode="auto">
            <a:xfrm>
              <a:off x="1436" y="307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T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FT’</a:t>
              </a:r>
              <a:endParaRPr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17451" name="Text Box 153"/>
            <p:cNvSpPr txBox="1">
              <a:spLocks noChangeArrowheads="1"/>
            </p:cNvSpPr>
            <p:nvPr/>
          </p:nvSpPr>
          <p:spPr bwMode="auto">
            <a:xfrm>
              <a:off x="1436" y="355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F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18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id</a:t>
              </a:r>
              <a:endParaRPr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17452" name="Text Box 154"/>
            <p:cNvSpPr txBox="1">
              <a:spLocks noChangeArrowheads="1"/>
            </p:cNvSpPr>
            <p:nvPr/>
          </p:nvSpPr>
          <p:spPr bwMode="auto">
            <a:xfrm>
              <a:off x="2108" y="2835"/>
              <a:ext cx="7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E’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18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TE’</a:t>
              </a:r>
              <a:endParaRPr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17453" name="Text Box 155"/>
            <p:cNvSpPr txBox="1">
              <a:spLocks noChangeArrowheads="1"/>
            </p:cNvSpPr>
            <p:nvPr/>
          </p:nvSpPr>
          <p:spPr bwMode="auto">
            <a:xfrm>
              <a:off x="2156" y="331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T’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</a:t>
              </a:r>
              <a:endParaRPr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17454" name="Text Box 156"/>
            <p:cNvSpPr txBox="1">
              <a:spLocks noChangeArrowheads="1"/>
            </p:cNvSpPr>
            <p:nvPr/>
          </p:nvSpPr>
          <p:spPr bwMode="auto">
            <a:xfrm>
              <a:off x="2876" y="331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T’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18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*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FT’</a:t>
              </a:r>
              <a:endParaRPr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17455" name="Text Box 157"/>
            <p:cNvSpPr txBox="1">
              <a:spLocks noChangeArrowheads="1"/>
            </p:cNvSpPr>
            <p:nvPr/>
          </p:nvSpPr>
          <p:spPr bwMode="auto">
            <a:xfrm>
              <a:off x="3596" y="355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F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</a:t>
              </a:r>
              <a:r>
                <a:rPr lang="en-US" altLang="zh-CN" sz="18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(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E</a:t>
              </a:r>
              <a:r>
                <a:rPr lang="en-US" altLang="zh-CN" sz="18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)</a:t>
              </a:r>
              <a:endParaRPr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17456" name="Text Box 158"/>
            <p:cNvSpPr txBox="1">
              <a:spLocks noChangeArrowheads="1"/>
            </p:cNvSpPr>
            <p:nvPr/>
          </p:nvSpPr>
          <p:spPr bwMode="auto">
            <a:xfrm>
              <a:off x="3596" y="307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T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FT’</a:t>
              </a:r>
              <a:endParaRPr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17457" name="Text Box 159"/>
            <p:cNvSpPr txBox="1">
              <a:spLocks noChangeArrowheads="1"/>
            </p:cNvSpPr>
            <p:nvPr/>
          </p:nvSpPr>
          <p:spPr bwMode="auto">
            <a:xfrm>
              <a:off x="3596" y="259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E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TE’</a:t>
              </a:r>
              <a:endParaRPr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17458" name="Text Box 160"/>
            <p:cNvSpPr txBox="1">
              <a:spLocks noChangeArrowheads="1"/>
            </p:cNvSpPr>
            <p:nvPr/>
          </p:nvSpPr>
          <p:spPr bwMode="auto">
            <a:xfrm>
              <a:off x="4268" y="331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T’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</a:t>
              </a:r>
            </a:p>
          </p:txBody>
        </p:sp>
        <p:sp>
          <p:nvSpPr>
            <p:cNvPr id="17459" name="Text Box 161"/>
            <p:cNvSpPr txBox="1">
              <a:spLocks noChangeArrowheads="1"/>
            </p:cNvSpPr>
            <p:nvPr/>
          </p:nvSpPr>
          <p:spPr bwMode="auto">
            <a:xfrm>
              <a:off x="4268" y="283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E’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</a:t>
              </a:r>
            </a:p>
          </p:txBody>
        </p:sp>
        <p:sp>
          <p:nvSpPr>
            <p:cNvPr id="17460" name="Text Box 162"/>
            <p:cNvSpPr txBox="1">
              <a:spLocks noChangeArrowheads="1"/>
            </p:cNvSpPr>
            <p:nvPr/>
          </p:nvSpPr>
          <p:spPr bwMode="auto">
            <a:xfrm>
              <a:off x="4940" y="283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E’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</a:t>
              </a:r>
            </a:p>
          </p:txBody>
        </p:sp>
        <p:sp>
          <p:nvSpPr>
            <p:cNvPr id="17461" name="Text Box 163"/>
            <p:cNvSpPr txBox="1">
              <a:spLocks noChangeArrowheads="1"/>
            </p:cNvSpPr>
            <p:nvPr/>
          </p:nvSpPr>
          <p:spPr bwMode="auto">
            <a:xfrm>
              <a:off x="4940" y="3315"/>
              <a:ext cx="7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>
                  <a:ea typeface="宋体" panose="02010600030101010101" pitchFamily="2" charset="-122"/>
                </a:rPr>
                <a:t>T’</a:t>
              </a:r>
              <a:r>
                <a:rPr lang="en-US" altLang="zh-CN" sz="1800" b="1">
                  <a:ea typeface="宋体" panose="02010600030101010101" pitchFamily="2" charset="-122"/>
                  <a:sym typeface="Symbol" panose="05050102010706020507" pitchFamily="18" charset="2"/>
                </a:rPr>
                <a:t></a:t>
              </a:r>
            </a:p>
          </p:txBody>
        </p:sp>
        <p:sp>
          <p:nvSpPr>
            <p:cNvPr id="17462" name="Line 164"/>
            <p:cNvSpPr>
              <a:spLocks noChangeShapeType="1"/>
            </p:cNvSpPr>
            <p:nvPr/>
          </p:nvSpPr>
          <p:spPr bwMode="auto">
            <a:xfrm>
              <a:off x="716" y="2160"/>
              <a:ext cx="0" cy="16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420" name="Rectangle 165"/>
          <p:cNvSpPr>
            <a:spLocks noChangeArrowheads="1"/>
          </p:cNvSpPr>
          <p:nvPr/>
        </p:nvSpPr>
        <p:spPr bwMode="auto">
          <a:xfrm>
            <a:off x="4737100" y="1773238"/>
            <a:ext cx="3844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b="1">
                <a:ea typeface="宋体" panose="02010600030101010101" pitchFamily="2" charset="-122"/>
              </a:rPr>
              <a:t>how to construct </a:t>
            </a:r>
            <a:r>
              <a:rPr lang="en-US" altLang="zh-CN" b="1" i="1">
                <a:solidFill>
                  <a:srgbClr val="660066"/>
                </a:solidFill>
                <a:ea typeface="宋体" panose="02010600030101010101" pitchFamily="2" charset="-122"/>
              </a:rPr>
              <a:t>id+id*id </a:t>
            </a:r>
            <a:r>
              <a:rPr lang="en-US" altLang="zh-CN" b="1" i="1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tx2"/>
                </a:solidFill>
                <a:ea typeface="宋体" panose="02010600030101010101" pitchFamily="2" charset="-122"/>
              </a:rPr>
              <a:t>?</a:t>
            </a:r>
            <a:endParaRPr lang="zh-CN" altLang="en-US" b="1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6ACCCEE-D42D-42A3-85EE-B0A8DB897E73}" type="slidenum">
              <a:rPr lang="zh-CN" altLang="en-US" sz="800"/>
              <a:pPr/>
              <a:t>17</a:t>
            </a:fld>
            <a:endParaRPr lang="en-US" altLang="zh-CN" sz="8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8421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LL(1) Parser – Example2</a:t>
            </a:r>
          </a:p>
        </p:txBody>
      </p:sp>
      <p:sp>
        <p:nvSpPr>
          <p:cNvPr id="276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2913" y="908050"/>
            <a:ext cx="6264275" cy="51054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b="1" u="sng" smtClean="0">
                <a:ea typeface="宋体" panose="02010600030101010101" pitchFamily="2" charset="-122"/>
                <a:sym typeface="Symbol" panose="05050102010706020507" pitchFamily="18" charset="2"/>
              </a:rPr>
              <a:t>stack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b="1" u="sng" smtClean="0">
                <a:ea typeface="宋体" panose="02010600030101010101" pitchFamily="2" charset="-122"/>
                <a:sym typeface="Symbol" panose="05050102010706020507" pitchFamily="18" charset="2"/>
              </a:rPr>
              <a:t>input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sz="1800" b="1" u="sng" smtClean="0">
                <a:ea typeface="宋体" panose="02010600030101010101" pitchFamily="2" charset="-122"/>
                <a:sym typeface="Symbol" panose="05050102010706020507" pitchFamily="18" charset="2"/>
              </a:rPr>
              <a:t>output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	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+id*id$	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</a:rPr>
              <a:t>$E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800" smtClean="0">
                <a:ea typeface="宋体" panose="02010600030101010101" pitchFamily="2" charset="-122"/>
              </a:rPr>
              <a:t>		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</a:rPr>
              <a:t>+id*id$		 E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TE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 </a:t>
            </a:r>
            <a:r>
              <a:rPr lang="en-US" altLang="zh-CN" sz="1800" smtClean="0">
                <a:ea typeface="宋体" panose="02010600030101010101" pitchFamily="2" charset="-122"/>
              </a:rPr>
              <a:t>T</a:t>
            </a:r>
            <a:r>
              <a:rPr lang="en-US" altLang="zh-CN" sz="1800" baseline="30000" smtClean="0">
                <a:solidFill>
                  <a:srgbClr val="FF0000"/>
                </a:solidFill>
                <a:ea typeface="宋体" panose="02010600030101010101" pitchFamily="2" charset="-122"/>
              </a:rPr>
              <a:t>’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1800" smtClean="0">
                <a:ea typeface="宋体" panose="02010600030101010101" pitchFamily="2" charset="-122"/>
              </a:rPr>
              <a:t>		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</a:rPr>
              <a:t>+id*id$		 T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FT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</a:t>
            </a:r>
            <a:endParaRPr lang="en-US" altLang="zh-CN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 </a:t>
            </a:r>
            <a:r>
              <a:rPr lang="en-US" altLang="zh-CN" sz="1800" smtClean="0">
                <a:ea typeface="宋体" panose="02010600030101010101" pitchFamily="2" charset="-122"/>
              </a:rPr>
              <a:t>T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</a:rPr>
              <a:t>		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</a:rPr>
              <a:t>+id*id$		 F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en-US" altLang="zh-CN" sz="1800" smtClean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800" baseline="30000" smtClean="0">
                <a:solidFill>
                  <a:srgbClr val="FF0000"/>
                </a:solidFill>
                <a:ea typeface="宋体" panose="02010600030101010101" pitchFamily="2" charset="-122"/>
              </a:rPr>
              <a:t>’</a:t>
            </a:r>
            <a:r>
              <a:rPr lang="en-US" altLang="zh-CN" sz="1800" smtClean="0">
                <a:ea typeface="宋体" panose="02010600030101010101" pitchFamily="2" charset="-122"/>
              </a:rPr>
              <a:t>		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+</a:t>
            </a:r>
            <a:r>
              <a:rPr lang="en-US" altLang="zh-CN" sz="1800" smtClean="0">
                <a:ea typeface="宋体" panose="02010600030101010101" pitchFamily="2" charset="-122"/>
              </a:rPr>
              <a:t>id*id$		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lang="en-US" altLang="zh-CN" sz="1800" smtClean="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solidFill>
                  <a:srgbClr val="FF0000"/>
                </a:solidFill>
                <a:ea typeface="宋体" panose="02010600030101010101" pitchFamily="2" charset="-122"/>
              </a:rPr>
              <a:t>’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 </a:t>
            </a:r>
            <a:r>
              <a:rPr lang="en-US" altLang="zh-CN" sz="1800" smtClean="0">
                <a:ea typeface="宋体" panose="02010600030101010101" pitchFamily="2" charset="-122"/>
              </a:rPr>
              <a:t>		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+</a:t>
            </a:r>
            <a:r>
              <a:rPr lang="en-US" altLang="zh-CN" sz="1800" smtClean="0">
                <a:ea typeface="宋体" panose="02010600030101010101" pitchFamily="2" charset="-122"/>
              </a:rPr>
              <a:t>id*id$		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  </a:t>
            </a:r>
            <a:endParaRPr lang="en-US" altLang="zh-CN" sz="1800" baseline="30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 </a:t>
            </a:r>
            <a:r>
              <a:rPr lang="en-US" altLang="zh-CN" sz="1800" smtClean="0">
                <a:ea typeface="宋体" panose="02010600030101010101" pitchFamily="2" charset="-122"/>
              </a:rPr>
              <a:t>T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+</a:t>
            </a:r>
            <a:r>
              <a:rPr lang="en-US" altLang="zh-CN" sz="1800" smtClean="0">
                <a:ea typeface="宋体" panose="02010600030101010101" pitchFamily="2" charset="-122"/>
              </a:rPr>
              <a:t>		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+</a:t>
            </a:r>
            <a:r>
              <a:rPr lang="en-US" altLang="zh-CN" sz="1800" smtClean="0">
                <a:ea typeface="宋体" panose="02010600030101010101" pitchFamily="2" charset="-122"/>
              </a:rPr>
              <a:t>id*id$		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TE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T</a:t>
            </a:r>
            <a:r>
              <a:rPr lang="en-US" altLang="zh-CN" sz="1800" smtClean="0">
                <a:ea typeface="宋体" panose="02010600030101010101" pitchFamily="2" charset="-122"/>
              </a:rPr>
              <a:t>		  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</a:rPr>
              <a:t>*id$		</a:t>
            </a:r>
            <a:endParaRPr lang="en-US" altLang="zh-CN" sz="1800" baseline="30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 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</a:rPr>
              <a:t>*id$		 T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FT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</a:t>
            </a:r>
            <a:endParaRPr lang="en-US" altLang="zh-CN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 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</a:rPr>
              <a:t>*id$		 F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en-US" altLang="zh-CN" sz="1800" smtClean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1800" baseline="300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    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1800" smtClean="0">
                <a:ea typeface="宋体" panose="02010600030101010101" pitchFamily="2" charset="-12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	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1800" baseline="30000" smtClean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1800" baseline="30000" smtClean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*</a:t>
            </a:r>
            <a:r>
              <a:rPr lang="en-US" altLang="zh-CN" sz="1800" smtClean="0">
                <a:ea typeface="宋体" panose="02010600030101010101" pitchFamily="2" charset="-122"/>
              </a:rPr>
              <a:t> 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	         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*</a:t>
            </a:r>
            <a:r>
              <a:rPr lang="en-US" altLang="zh-CN" sz="1800" smtClean="0">
                <a:ea typeface="宋体" panose="02010600030101010101" pitchFamily="2" charset="-122"/>
              </a:rPr>
              <a:t>id$		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FT’</a:t>
            </a:r>
            <a:endParaRPr lang="en-US" altLang="zh-CN" sz="1800" baseline="30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      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		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smtClean="0">
                <a:ea typeface="宋体" panose="02010600030101010101" pitchFamily="2" charset="-122"/>
              </a:rPr>
              <a:t>T’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</a:rPr>
              <a:t>	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	            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1800" smtClean="0">
                <a:ea typeface="宋体" panose="02010600030101010101" pitchFamily="2" charset="-122"/>
              </a:rPr>
              <a:t>$		  F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en-US" altLang="zh-CN" sz="1800" baseline="30000" smtClean="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 </a:t>
            </a:r>
            <a:r>
              <a:rPr lang="en-US" altLang="zh-CN" sz="1800" smtClean="0"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ea typeface="宋体" panose="02010600030101010101" pitchFamily="2" charset="-122"/>
              </a:rPr>
              <a:t>’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 T’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         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$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1800" baseline="30000" smtClean="0">
                <a:solidFill>
                  <a:srgbClr val="FF0000"/>
                </a:solidFill>
                <a:ea typeface="宋体" panose="02010600030101010101" pitchFamily="2" charset="-122"/>
              </a:rPr>
              <a:t>’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         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$		 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 </a:t>
            </a:r>
            <a:endParaRPr lang="en-US" altLang="zh-CN" sz="1800" smtClean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$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	             </a:t>
            </a:r>
            <a:r>
              <a:rPr lang="en-US" altLang="zh-CN" sz="1800" smtClean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$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  E</a:t>
            </a:r>
            <a:r>
              <a:rPr lang="en-US" altLang="zh-CN" sz="18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  	  	accept</a:t>
            </a:r>
            <a:endParaRPr lang="zh-CN" altLang="en-US" sz="1800" baseline="300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8439" name="Rectangle 4"/>
          <p:cNvSpPr>
            <a:spLocks noChangeArrowheads="1"/>
          </p:cNvSpPr>
          <p:nvPr/>
        </p:nvSpPr>
        <p:spPr bwMode="auto">
          <a:xfrm>
            <a:off x="1423988" y="6092825"/>
            <a:ext cx="6696075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2000">
                <a:solidFill>
                  <a:schemeClr val="tx2"/>
                </a:solidFill>
                <a:ea typeface="宋体" panose="02010600030101010101" pitchFamily="2" charset="-122"/>
              </a:rPr>
              <a:t>Fig.4.16 moves made by predictive parser on input id+id*id.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76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76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76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76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76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76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276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276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76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276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76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764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76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76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276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27648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2764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27648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2764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27648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2764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27648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2764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27648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EDEAB4D-1480-45C5-A227-8BD1E6C976EC}" type="slidenum">
              <a:rPr lang="zh-CN" altLang="en-US" sz="800"/>
              <a:pPr/>
              <a:t>18</a:t>
            </a:fld>
            <a:endParaRPr lang="en-US" altLang="zh-CN" sz="800"/>
          </a:p>
        </p:txBody>
      </p:sp>
      <p:sp>
        <p:nvSpPr>
          <p:cNvPr id="19461" name="Rectangle 4"/>
          <p:cNvSpPr>
            <a:spLocks noGrp="1" noChangeArrowheads="1"/>
          </p:cNvSpPr>
          <p:nvPr>
            <p:ph type="title"/>
          </p:nvPr>
        </p:nvSpPr>
        <p:spPr>
          <a:xfrm>
            <a:off x="1081088" y="0"/>
            <a:ext cx="8062912" cy="1111250"/>
          </a:xfrm>
          <a:noFill/>
        </p:spPr>
        <p:txBody>
          <a:bodyPr lIns="92075" tIns="46038" rIns="92075" bIns="46038"/>
          <a:lstStyle/>
          <a:p>
            <a:r>
              <a:rPr lang="en-US" altLang="zh-CN" smtClean="0">
                <a:ea typeface="宋体" panose="02010600030101010101" pitchFamily="2" charset="-122"/>
              </a:rPr>
              <a:t>Leftmost Derivation for the Example</a:t>
            </a:r>
          </a:p>
        </p:txBody>
      </p:sp>
      <p:sp>
        <p:nvSpPr>
          <p:cNvPr id="19462" name="Text Box 5"/>
          <p:cNvSpPr txBox="1">
            <a:spLocks noChangeArrowheads="1"/>
          </p:cNvSpPr>
          <p:nvPr/>
        </p:nvSpPr>
        <p:spPr bwMode="auto">
          <a:xfrm>
            <a:off x="1371600" y="1447800"/>
            <a:ext cx="716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The leftmost derivation for the example is as follows:</a:t>
            </a:r>
          </a:p>
        </p:txBody>
      </p:sp>
      <p:sp>
        <p:nvSpPr>
          <p:cNvPr id="300038" name="Text Box 6"/>
          <p:cNvSpPr txBox="1">
            <a:spLocks noChangeArrowheads="1"/>
          </p:cNvSpPr>
          <p:nvPr/>
        </p:nvSpPr>
        <p:spPr bwMode="auto">
          <a:xfrm>
            <a:off x="1423988" y="2349500"/>
            <a:ext cx="3024187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E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 TE’ </a:t>
            </a:r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FT’E’ </a:t>
            </a:r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T’E’</a:t>
            </a:r>
          </a:p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E’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+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TE’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+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FT’E’</a:t>
            </a:r>
          </a:p>
        </p:txBody>
      </p:sp>
      <p:sp>
        <p:nvSpPr>
          <p:cNvPr id="300039" name="Rectangle 7"/>
          <p:cNvSpPr>
            <a:spLocks noChangeArrowheads="1"/>
          </p:cNvSpPr>
          <p:nvPr/>
        </p:nvSpPr>
        <p:spPr bwMode="auto">
          <a:xfrm>
            <a:off x="5168900" y="2852738"/>
            <a:ext cx="2879725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 typeface="Symbol" panose="05050102010706020507" pitchFamily="18" charset="2"/>
              <a:buNone/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+ id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T’E’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+ id *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FT’E’ 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+ id * id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T’E’ 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+ id * id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E’ </a:t>
            </a:r>
          </a:p>
          <a:p>
            <a:pPr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+ id * id</a:t>
            </a:r>
          </a:p>
        </p:txBody>
      </p:sp>
      <p:sp>
        <p:nvSpPr>
          <p:cNvPr id="300040" name="Line 8"/>
          <p:cNvSpPr>
            <a:spLocks noChangeShapeType="1"/>
          </p:cNvSpPr>
          <p:nvPr/>
        </p:nvSpPr>
        <p:spPr bwMode="auto">
          <a:xfrm>
            <a:off x="4089400" y="1989138"/>
            <a:ext cx="0" cy="3960812"/>
          </a:xfrm>
          <a:prstGeom prst="line">
            <a:avLst/>
          </a:prstGeom>
          <a:noFill/>
          <a:ln w="57150" cap="rnd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3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00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00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00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3000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000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00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3000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9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3000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3000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3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000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04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7FB1F25-4495-4537-99A7-4A45BA1409C4}" type="slidenum">
              <a:rPr lang="zh-CN" altLang="en-US" sz="800"/>
              <a:pPr/>
              <a:t>19</a:t>
            </a:fld>
            <a:endParaRPr lang="en-US" altLang="zh-CN" sz="800"/>
          </a:p>
        </p:txBody>
      </p:sp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1277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Constructing LL(1) Parsing Tables</a:t>
            </a:r>
          </a:p>
        </p:txBody>
      </p:sp>
      <p:sp>
        <p:nvSpPr>
          <p:cNvPr id="277510" name="Text Box 6"/>
          <p:cNvSpPr txBox="1">
            <a:spLocks noChangeArrowheads="1"/>
          </p:cNvSpPr>
          <p:nvPr/>
        </p:nvSpPr>
        <p:spPr bwMode="auto">
          <a:xfrm>
            <a:off x="1143000" y="836613"/>
            <a:ext cx="77724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Constructing the Parsing Table M !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  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baseline="30000">
                <a:solidFill>
                  <a:schemeClr val="accent2"/>
                </a:solidFill>
                <a:ea typeface="宋体" panose="02010600030101010101" pitchFamily="2" charset="-122"/>
              </a:rPr>
              <a:t>st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:  Calculate FIRST &amp; FOLLOW for Grammar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  2</a:t>
            </a:r>
            <a:r>
              <a:rPr lang="en-US" altLang="zh-CN" b="1" baseline="30000">
                <a:solidFill>
                  <a:schemeClr val="accent2"/>
                </a:solidFill>
                <a:ea typeface="宋体" panose="02010600030101010101" pitchFamily="2" charset="-122"/>
              </a:rPr>
              <a:t>nd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:  Apply Construction Algorithm for Parsing Table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800" b="1">
                <a:ea typeface="宋体" panose="02010600030101010101" pitchFamily="2" charset="-122"/>
              </a:rPr>
              <a:t>                 </a:t>
            </a:r>
            <a:r>
              <a:rPr lang="en-US" altLang="zh-CN" sz="1800" b="1">
                <a:solidFill>
                  <a:schemeClr val="accent2"/>
                </a:solidFill>
                <a:ea typeface="宋体" panose="02010600030101010101" pitchFamily="2" charset="-122"/>
              </a:rPr>
              <a:t>( We’ll see this shortly )</a:t>
            </a:r>
            <a:endParaRPr lang="en-US" altLang="zh-CN" b="1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77512" name="Text Box 8"/>
          <p:cNvSpPr txBox="1">
            <a:spLocks noChangeArrowheads="1"/>
          </p:cNvSpPr>
          <p:nvPr/>
        </p:nvSpPr>
        <p:spPr bwMode="auto">
          <a:xfrm>
            <a:off x="776288" y="2708275"/>
            <a:ext cx="8497887" cy="357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977900" indent="-977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Basic Functions: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   </a:t>
            </a: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FIRST</a:t>
            </a:r>
            <a:r>
              <a:rPr lang="en-US" altLang="zh-CN" sz="2000" b="1">
                <a:ea typeface="宋体" panose="02010600030101010101" pitchFamily="2" charset="-122"/>
              </a:rPr>
              <a:t>:</a:t>
            </a:r>
            <a:r>
              <a:rPr lang="en-US" altLang="zh-CN" b="1">
                <a:ea typeface="宋体" panose="02010600030101010101" pitchFamily="2" charset="-122"/>
              </a:rPr>
              <a:t> 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Let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  be a string of grammar symbols.  FIRST() is the set that includes every terminal that appears leftmost in  or in any string originating from .  </a:t>
            </a:r>
            <a:b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000" b="1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NOTE: If   , then  is FIRST( ).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FOLLOW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Let A be a non-terminal.  FOLLOW(A) is the set of terminals a that can appear directly to the right of A in some sentential form.  (S  Aa, for some   and ).  </a:t>
            </a:r>
            <a:b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000" b="1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NOTE: If S  A, then $ is FOLLOW(A).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75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775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775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775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775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15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4E18C37-3F44-4791-9AEF-5DA8C4F8C333}" type="slidenum">
              <a:rPr lang="zh-CN" altLang="en-US" sz="800"/>
              <a:pPr/>
              <a:t>20</a:t>
            </a:fld>
            <a:endParaRPr lang="en-US" altLang="zh-CN" sz="80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Compute FIRST for Any String X (P.189)</a:t>
            </a:r>
          </a:p>
        </p:txBody>
      </p:sp>
      <p:sp>
        <p:nvSpPr>
          <p:cNvPr id="278533" name="Text Box 5"/>
          <p:cNvSpPr txBox="1">
            <a:spLocks noChangeArrowheads="1"/>
          </p:cNvSpPr>
          <p:nvPr/>
        </p:nvSpPr>
        <p:spPr bwMode="auto">
          <a:xfrm>
            <a:off x="1143000" y="1052513"/>
            <a:ext cx="7772400" cy="527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1.  If  X is a terminal, FIRST(X) = {X}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2.  If  X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   is a production rule, add  to </a:t>
            </a:r>
            <a:r>
              <a:rPr lang="en-US" altLang="zh-CN" sz="2000" b="1">
                <a:ea typeface="宋体" panose="02010600030101010101" pitchFamily="2" charset="-122"/>
              </a:rPr>
              <a:t>FIRST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 (X)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3.  If  X is a non-terminal, and </a:t>
            </a:r>
            <a:r>
              <a:rPr lang="en-US" altLang="zh-CN" sz="2000" b="1">
                <a:ea typeface="宋体" panose="02010600030101010101" pitchFamily="2" charset="-122"/>
              </a:rPr>
              <a:t>X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 Y</a:t>
            </a:r>
            <a:r>
              <a:rPr lang="en-US" altLang="zh-CN" sz="2000" b="1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000" b="1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…Y</a:t>
            </a:r>
            <a:r>
              <a:rPr lang="en-US" altLang="zh-CN" sz="2000" b="1" baseline="-2500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 is a production rule</a:t>
            </a:r>
          </a:p>
          <a:p>
            <a:pPr lvl="4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Place FIRST(Y</a:t>
            </a:r>
            <a:r>
              <a:rPr lang="en-US" altLang="zh-CN" sz="2000" b="1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in FIRST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(X)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Y</a:t>
            </a:r>
            <a:r>
              <a:rPr lang="en-US" altLang="zh-CN" sz="2000" b="1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,     Place FIRST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(Y</a:t>
            </a:r>
            <a:r>
              <a:rPr lang="en-US" altLang="zh-CN" sz="2000" b="1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in FIRST(X)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Y</a:t>
            </a:r>
            <a:r>
              <a:rPr lang="en-US" altLang="zh-CN" sz="2000" b="1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,     Place FIRST(Y</a:t>
            </a:r>
            <a:r>
              <a:rPr lang="en-US" altLang="zh-CN" sz="2000" b="1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in FIRST(X)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Y</a:t>
            </a:r>
            <a:r>
              <a:rPr lang="en-US" altLang="zh-CN" sz="2000" b="1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k-1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,     Place FIRST(Y</a:t>
            </a:r>
            <a:r>
              <a:rPr lang="en-US" altLang="zh-CN" sz="2000" b="1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in FIRST(X)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NOTE: As soon as Y</a:t>
            </a:r>
            <a:r>
              <a:rPr lang="en-US" altLang="zh-CN" sz="2000" b="1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 ,  Stop.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Repeat above steps until no more elements are added to any FIRST( ) set.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Checking “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000" b="1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 ?</a:t>
            </a: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”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essentially amounts to checking whether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belongs to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FIRST(Y</a:t>
            </a:r>
            <a:r>
              <a:rPr lang="en-US" altLang="zh-CN" sz="2000" b="1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</p:txBody>
      </p:sp>
      <p:grpSp>
        <p:nvGrpSpPr>
          <p:cNvPr id="278536" name="Group 8"/>
          <p:cNvGrpSpPr>
            <a:grpSpLocks/>
          </p:cNvGrpSpPr>
          <p:nvPr/>
        </p:nvGrpSpPr>
        <p:grpSpPr bwMode="auto">
          <a:xfrm>
            <a:off x="3962400" y="4487863"/>
            <a:ext cx="381000" cy="381000"/>
            <a:chOff x="2496" y="2886"/>
            <a:chExt cx="240" cy="240"/>
          </a:xfrm>
        </p:grpSpPr>
        <p:sp>
          <p:nvSpPr>
            <p:cNvPr id="21512" name="Text Box 6"/>
            <p:cNvSpPr txBox="1">
              <a:spLocks noChangeArrowheads="1"/>
            </p:cNvSpPr>
            <p:nvPr/>
          </p:nvSpPr>
          <p:spPr bwMode="auto">
            <a:xfrm>
              <a:off x="2496" y="2886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>
                  <a:solidFill>
                    <a:schemeClr val="accent2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21513" name="Line 7"/>
            <p:cNvSpPr>
              <a:spLocks noChangeShapeType="1"/>
            </p:cNvSpPr>
            <p:nvPr/>
          </p:nvSpPr>
          <p:spPr bwMode="auto">
            <a:xfrm flipV="1">
              <a:off x="2592" y="2982"/>
              <a:ext cx="48" cy="144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8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78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78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78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78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78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0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25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2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0CAF6BD-08CD-4F60-9199-8C63F2999928}" type="slidenum">
              <a:rPr lang="zh-CN" altLang="en-US" sz="800"/>
              <a:pPr/>
              <a:t>21</a:t>
            </a:fld>
            <a:endParaRPr lang="en-US" altLang="zh-CN" sz="800"/>
          </a:p>
        </p:txBody>
      </p:sp>
      <p:sp>
        <p:nvSpPr>
          <p:cNvPr id="22533" name="Rectangle 4"/>
          <p:cNvSpPr>
            <a:spLocks noGrp="1" noChangeArrowheads="1"/>
          </p:cNvSpPr>
          <p:nvPr>
            <p:ph type="title"/>
          </p:nvPr>
        </p:nvSpPr>
        <p:spPr>
          <a:xfrm>
            <a:off x="1081088" y="0"/>
            <a:ext cx="8062912" cy="1111250"/>
          </a:xfrm>
          <a:noFill/>
        </p:spPr>
        <p:txBody>
          <a:bodyPr lIns="92075" tIns="46038" rIns="92075" bIns="46038"/>
          <a:lstStyle/>
          <a:p>
            <a:r>
              <a:rPr lang="en-US" altLang="zh-CN" smtClean="0">
                <a:ea typeface="宋体" panose="02010600030101010101" pitchFamily="2" charset="-122"/>
              </a:rPr>
              <a:t>Computing FIRST(X) : </a:t>
            </a:r>
            <a:br>
              <a:rPr lang="en-US" altLang="zh-CN" smtClean="0">
                <a:ea typeface="宋体" panose="02010600030101010101" pitchFamily="2" charset="-122"/>
              </a:rPr>
            </a:br>
            <a:r>
              <a:rPr lang="en-US" altLang="zh-CN" smtClean="0">
                <a:ea typeface="宋体" panose="02010600030101010101" pitchFamily="2" charset="-122"/>
              </a:rPr>
              <a:t>All Grammar Symbols - continued</a:t>
            </a:r>
          </a:p>
        </p:txBody>
      </p:sp>
      <p:sp>
        <p:nvSpPr>
          <p:cNvPr id="301061" name="Text Box 5"/>
          <p:cNvSpPr txBox="1">
            <a:spLocks noChangeArrowheads="1"/>
          </p:cNvSpPr>
          <p:nvPr/>
        </p:nvSpPr>
        <p:spPr bwMode="auto">
          <a:xfrm>
            <a:off x="1219200" y="1287463"/>
            <a:ext cx="7189788" cy="269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Informally,  suppose we want to compute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FIRST(X</a:t>
            </a:r>
            <a:r>
              <a:rPr lang="en-US" altLang="zh-CN" sz="2000" b="1" baseline="-25000">
                <a:ea typeface="宋体" panose="02010600030101010101" pitchFamily="2" charset="-122"/>
              </a:rPr>
              <a:t>1</a:t>
            </a:r>
            <a:r>
              <a:rPr lang="en-US" altLang="zh-CN" sz="2000" b="1">
                <a:ea typeface="宋体" panose="02010600030101010101" pitchFamily="2" charset="-122"/>
              </a:rPr>
              <a:t> X</a:t>
            </a:r>
            <a:r>
              <a:rPr lang="en-US" altLang="zh-CN" sz="2000" b="1" baseline="-25000">
                <a:ea typeface="宋体" panose="02010600030101010101" pitchFamily="2" charset="-122"/>
              </a:rPr>
              <a:t>2</a:t>
            </a:r>
            <a:r>
              <a:rPr lang="en-US" altLang="zh-CN" sz="2000" b="1">
                <a:ea typeface="宋体" panose="02010600030101010101" pitchFamily="2" charset="-122"/>
              </a:rPr>
              <a:t> … X</a:t>
            </a:r>
            <a:r>
              <a:rPr lang="en-US" altLang="zh-CN" sz="2000" b="1" baseline="-25000">
                <a:ea typeface="宋体" panose="02010600030101010101" pitchFamily="2" charset="-122"/>
              </a:rPr>
              <a:t>n</a:t>
            </a:r>
            <a:r>
              <a:rPr lang="en-US" altLang="zh-CN" sz="2000" b="1">
                <a:ea typeface="宋体" panose="02010600030101010101" pitchFamily="2" charset="-122"/>
              </a:rPr>
              <a:t> ) = FIRST (X</a:t>
            </a:r>
            <a:r>
              <a:rPr lang="en-US" altLang="zh-CN" sz="2000" b="1" baseline="-25000">
                <a:ea typeface="宋体" panose="02010600030101010101" pitchFamily="2" charset="-122"/>
              </a:rPr>
              <a:t>1</a:t>
            </a:r>
            <a:r>
              <a:rPr lang="en-US" altLang="zh-CN" sz="2000" b="1">
                <a:ea typeface="宋体" panose="02010600030101010101" pitchFamily="2" charset="-122"/>
              </a:rPr>
              <a:t>)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</a:rPr>
              <a:t>		          </a:t>
            </a:r>
            <a:r>
              <a:rPr lang="en-US" altLang="zh-CN" b="1">
                <a:ea typeface="宋体" panose="02010600030101010101" pitchFamily="2" charset="-122"/>
              </a:rPr>
              <a:t>“+”</a:t>
            </a:r>
            <a:r>
              <a:rPr lang="en-US" altLang="zh-CN" sz="2000" b="1">
                <a:ea typeface="宋体" panose="02010600030101010101" pitchFamily="2" charset="-122"/>
              </a:rPr>
              <a:t>FIRST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  <a:r>
              <a:rPr lang="en-US" altLang="zh-CN" sz="2000" b="1">
                <a:ea typeface="宋体" panose="02010600030101010101" pitchFamily="2" charset="-122"/>
              </a:rPr>
              <a:t>(X</a:t>
            </a:r>
            <a:r>
              <a:rPr lang="en-US" altLang="zh-CN" sz="2000" b="1" baseline="-25000">
                <a:ea typeface="宋体" panose="02010600030101010101" pitchFamily="2" charset="-122"/>
              </a:rPr>
              <a:t>2</a:t>
            </a:r>
            <a:r>
              <a:rPr lang="en-US" altLang="zh-CN" sz="2000" b="1">
                <a:ea typeface="宋体" panose="02010600030101010101" pitchFamily="2" charset="-122"/>
              </a:rPr>
              <a:t>)  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</a:rPr>
              <a:t>if 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is in 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</a:rPr>
              <a:t>FIRST</a:t>
            </a:r>
            <a:r>
              <a:rPr lang="en-US" altLang="zh-CN" sz="2000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(X</a:t>
            </a:r>
            <a:r>
              <a:rPr lang="en-US" altLang="zh-CN" sz="2000" b="1" baseline="-25000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		        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“+”</a:t>
            </a:r>
            <a:r>
              <a:rPr lang="en-US" altLang="zh-CN" sz="2000" b="1">
                <a:ea typeface="宋体" panose="02010600030101010101" pitchFamily="2" charset="-122"/>
              </a:rPr>
              <a:t>FIRST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(X</a:t>
            </a:r>
            <a:r>
              <a:rPr lang="en-US" altLang="zh-CN" sz="2000" b="1" baseline="-25000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)  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</a:rPr>
              <a:t>if 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is in 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</a:rPr>
              <a:t>FIRST</a:t>
            </a:r>
            <a:r>
              <a:rPr lang="en-US" altLang="zh-CN" sz="2000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(X</a:t>
            </a:r>
            <a:r>
              <a:rPr lang="en-US" altLang="zh-CN" sz="2000" b="1" baseline="-25000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	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                               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“+”</a:t>
            </a:r>
            <a:r>
              <a:rPr lang="en-US" altLang="zh-CN" sz="2000" b="1">
                <a:ea typeface="宋体" panose="02010600030101010101" pitchFamily="2" charset="-122"/>
              </a:rPr>
              <a:t>FIRST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(X</a:t>
            </a:r>
            <a:r>
              <a:rPr lang="en-US" altLang="zh-CN" sz="2000" b="1" baseline="-2500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)  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</a:rPr>
              <a:t>if 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is in 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</a:rPr>
              <a:t>FIRST</a:t>
            </a:r>
            <a:r>
              <a:rPr lang="en-US" altLang="zh-CN" sz="2000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(X</a:t>
            </a:r>
            <a:r>
              <a:rPr lang="en-US" altLang="zh-CN" sz="2000" b="1" baseline="-25000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n-1</a:t>
            </a:r>
            <a:r>
              <a:rPr lang="en-US" altLang="zh-CN" sz="2000" b="1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 </a:t>
            </a:r>
          </a:p>
        </p:txBody>
      </p:sp>
      <p:sp>
        <p:nvSpPr>
          <p:cNvPr id="22535" name="Text Box 6"/>
          <p:cNvSpPr txBox="1">
            <a:spLocks noChangeArrowheads="1"/>
          </p:cNvSpPr>
          <p:nvPr/>
        </p:nvSpPr>
        <p:spPr bwMode="auto">
          <a:xfrm>
            <a:off x="992188" y="4508500"/>
            <a:ext cx="80645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</a:rPr>
              <a:t>Note 1:  Only add 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to 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</a:rPr>
              <a:t>FIRST</a:t>
            </a:r>
            <a:r>
              <a:rPr lang="en-US" altLang="zh-CN" sz="2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(X</a:t>
            </a:r>
            <a:r>
              <a:rPr lang="en-US" altLang="zh-CN" sz="2000" b="1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000" b="1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… X</a:t>
            </a:r>
            <a:r>
              <a:rPr lang="en-US" altLang="zh-CN" sz="2000" b="1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if  is in 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</a:rPr>
              <a:t>FIRST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(X</a:t>
            </a:r>
            <a:r>
              <a:rPr lang="en-US" altLang="zh-CN" sz="2000" b="1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for all i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Note 2:  For FIRST(X</a:t>
            </a:r>
            <a:r>
              <a:rPr lang="en-US" altLang="zh-CN" sz="2000" b="1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),  if  X</a:t>
            </a:r>
            <a:r>
              <a:rPr lang="en-US" altLang="zh-CN" sz="2000" b="1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Z</a:t>
            </a:r>
            <a:r>
              <a:rPr lang="en-US" altLang="zh-CN" sz="2000" b="1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Z</a:t>
            </a:r>
            <a:r>
              <a:rPr lang="en-US" altLang="zh-CN" sz="2000" b="1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… Z</a:t>
            </a:r>
            <a:r>
              <a:rPr lang="en-US" altLang="zh-CN" sz="2000" b="1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, then we need to compute FIRST(Z</a:t>
            </a:r>
            <a:r>
              <a:rPr lang="en-US" altLang="zh-CN" sz="2000" b="1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Z</a:t>
            </a:r>
            <a:r>
              <a:rPr lang="en-US" altLang="zh-CN" sz="2000" b="1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… Z</a:t>
            </a:r>
            <a:r>
              <a:rPr lang="en-US" altLang="zh-CN" sz="2000" b="1" baseline="-2500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!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301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2000"/>
                                        <p:tgtEl>
                                          <p:spTgt spid="3010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000"/>
                                        <p:tgtEl>
                                          <p:spTgt spid="301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000"/>
                                        <p:tgtEl>
                                          <p:spTgt spid="3010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35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B0FCA3-B9C2-47A6-A0BF-A8EA5D9C5818}" type="slidenum">
              <a:rPr lang="zh-CN" altLang="en-US" sz="800"/>
              <a:pPr/>
              <a:t>22</a:t>
            </a:fld>
            <a:endParaRPr lang="en-US" altLang="zh-CN" sz="800"/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FIRST Example (P.189)</a:t>
            </a:r>
          </a:p>
        </p:txBody>
      </p:sp>
      <p:sp>
        <p:nvSpPr>
          <p:cNvPr id="23558" name="Rectangle 4"/>
          <p:cNvSpPr>
            <a:spLocks noChangeArrowheads="1"/>
          </p:cNvSpPr>
          <p:nvPr/>
        </p:nvSpPr>
        <p:spPr bwMode="auto">
          <a:xfrm>
            <a:off x="3152775" y="981075"/>
            <a:ext cx="3095625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Example 4.17:</a:t>
            </a:r>
          </a:p>
          <a:p>
            <a:r>
              <a:rPr lang="en-US" altLang="zh-CN">
                <a:ea typeface="宋体" panose="02010600030101010101" pitchFamily="2" charset="-122"/>
              </a:rPr>
              <a:t>E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TE’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E’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TE’   |   </a:t>
            </a:r>
          </a:p>
          <a:p>
            <a:r>
              <a:rPr lang="en-US" altLang="zh-CN">
                <a:ea typeface="宋体" panose="02010600030101010101" pitchFamily="2" charset="-122"/>
              </a:rPr>
              <a:t>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FT’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T’ 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FT’   |   </a:t>
            </a:r>
          </a:p>
          <a:p>
            <a:r>
              <a:rPr lang="en-US" altLang="zh-CN">
                <a:ea typeface="宋体" panose="02010600030101010101" pitchFamily="2" charset="-122"/>
              </a:rPr>
              <a:t>F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| 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</a:p>
        </p:txBody>
      </p:sp>
      <p:sp>
        <p:nvSpPr>
          <p:cNvPr id="279557" name="Rectangle 5"/>
          <p:cNvSpPr>
            <a:spLocks noChangeArrowheads="1"/>
          </p:cNvSpPr>
          <p:nvPr/>
        </p:nvSpPr>
        <p:spPr bwMode="auto">
          <a:xfrm>
            <a:off x="5600700" y="3429000"/>
            <a:ext cx="3455988" cy="280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TE</a:t>
            </a:r>
            <a:r>
              <a:rPr lang="en-US" altLang="zh-CN" baseline="300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{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+TE</a:t>
            </a:r>
            <a:r>
              <a:rPr lang="en-US" altLang="zh-CN" baseline="300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baseline="300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{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{}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FT</a:t>
            </a:r>
            <a:r>
              <a:rPr lang="en-US" altLang="zh-CN" baseline="300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{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*FT</a:t>
            </a:r>
            <a:r>
              <a:rPr lang="en-US" altLang="zh-CN" baseline="300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{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{}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(E)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{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{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279558" name="Rectangle 6"/>
          <p:cNvSpPr>
            <a:spLocks noChangeArrowheads="1"/>
          </p:cNvSpPr>
          <p:nvPr/>
        </p:nvSpPr>
        <p:spPr bwMode="auto">
          <a:xfrm>
            <a:off x="1136650" y="3789363"/>
            <a:ext cx="3455988" cy="230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  {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baseline="300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{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 {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aseline="300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{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=  {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79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2000"/>
                                        <p:tgtEl>
                                          <p:spTgt spid="27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7" grpId="0"/>
      <p:bldP spid="2795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45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45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50A18D0-F74A-41ED-BA02-F22834E63E07}" type="slidenum">
              <a:rPr lang="zh-CN" altLang="en-US" sz="800"/>
              <a:pPr/>
              <a:t>23</a:t>
            </a:fld>
            <a:endParaRPr lang="en-US" altLang="zh-CN" sz="80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Alternative way to compute FIRST</a:t>
            </a:r>
          </a:p>
        </p:txBody>
      </p:sp>
      <p:sp>
        <p:nvSpPr>
          <p:cNvPr id="24582" name="Text Box 4"/>
          <p:cNvSpPr txBox="1">
            <a:spLocks noChangeArrowheads="1"/>
          </p:cNvSpPr>
          <p:nvPr/>
        </p:nvSpPr>
        <p:spPr bwMode="auto">
          <a:xfrm>
            <a:off x="1143000" y="1219200"/>
            <a:ext cx="327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Computing FIRST for:</a:t>
            </a:r>
          </a:p>
        </p:txBody>
      </p:sp>
      <p:grpSp>
        <p:nvGrpSpPr>
          <p:cNvPr id="24583" name="Group 5"/>
          <p:cNvGrpSpPr>
            <a:grpSpLocks/>
          </p:cNvGrpSpPr>
          <p:nvPr/>
        </p:nvGrpSpPr>
        <p:grpSpPr bwMode="auto">
          <a:xfrm>
            <a:off x="4191000" y="1219200"/>
            <a:ext cx="2057400" cy="1463675"/>
            <a:chOff x="1056" y="864"/>
            <a:chExt cx="1296" cy="922"/>
          </a:xfrm>
        </p:grpSpPr>
        <p:sp>
          <p:nvSpPr>
            <p:cNvPr id="24611" name="Text Box 6"/>
            <p:cNvSpPr txBox="1">
              <a:spLocks noChangeArrowheads="1"/>
            </p:cNvSpPr>
            <p:nvPr/>
          </p:nvSpPr>
          <p:spPr bwMode="auto">
            <a:xfrm>
              <a:off x="1056" y="864"/>
              <a:ext cx="129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E  TE’                                                E’ 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+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TE’ |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</a:t>
              </a:r>
            </a:p>
          </p:txBody>
        </p:sp>
        <p:sp>
          <p:nvSpPr>
            <p:cNvPr id="24612" name="Text Box 7"/>
            <p:cNvSpPr txBox="1">
              <a:spLocks noChangeArrowheads="1"/>
            </p:cNvSpPr>
            <p:nvPr/>
          </p:nvSpPr>
          <p:spPr bwMode="auto">
            <a:xfrm>
              <a:off x="1056" y="1200"/>
              <a:ext cx="129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T  FT’                                                T’ 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*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 FT’ |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</a:t>
              </a:r>
            </a:p>
          </p:txBody>
        </p:sp>
        <p:sp>
          <p:nvSpPr>
            <p:cNvPr id="24613" name="Text Box 8"/>
            <p:cNvSpPr txBox="1">
              <a:spLocks noChangeArrowheads="1"/>
            </p:cNvSpPr>
            <p:nvPr/>
          </p:nvSpPr>
          <p:spPr bwMode="auto">
            <a:xfrm>
              <a:off x="1056" y="1536"/>
              <a:ext cx="107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F  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( 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E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)  </a:t>
              </a:r>
              <a:r>
                <a:rPr lang="en-US" altLang="zh-CN" sz="2000" b="1">
                  <a:ea typeface="宋体" panose="02010600030101010101" pitchFamily="2" charset="-122"/>
                  <a:sym typeface="Symbol" panose="05050102010706020507" pitchFamily="18" charset="2"/>
                </a:rPr>
                <a:t>|</a:t>
              </a:r>
              <a:r>
                <a:rPr lang="en-US" altLang="zh-CN" sz="20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 id</a:t>
              </a:r>
            </a:p>
          </p:txBody>
        </p:sp>
      </p:grpSp>
      <p:grpSp>
        <p:nvGrpSpPr>
          <p:cNvPr id="302114" name="Group 34"/>
          <p:cNvGrpSpPr>
            <a:grpSpLocks/>
          </p:cNvGrpSpPr>
          <p:nvPr/>
        </p:nvGrpSpPr>
        <p:grpSpPr bwMode="auto">
          <a:xfrm>
            <a:off x="776288" y="2708275"/>
            <a:ext cx="6792912" cy="2352675"/>
            <a:chOff x="489" y="1706"/>
            <a:chExt cx="4279" cy="1482"/>
          </a:xfrm>
        </p:grpSpPr>
        <p:sp>
          <p:nvSpPr>
            <p:cNvPr id="24594" name="Text Box 9"/>
            <p:cNvSpPr txBox="1">
              <a:spLocks noChangeArrowheads="1"/>
            </p:cNvSpPr>
            <p:nvPr/>
          </p:nvSpPr>
          <p:spPr bwMode="auto">
            <a:xfrm>
              <a:off x="671" y="1979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FIRST(E)</a:t>
              </a:r>
            </a:p>
          </p:txBody>
        </p:sp>
        <p:sp>
          <p:nvSpPr>
            <p:cNvPr id="24595" name="Text Box 10"/>
            <p:cNvSpPr txBox="1">
              <a:spLocks noChangeArrowheads="1"/>
            </p:cNvSpPr>
            <p:nvPr/>
          </p:nvSpPr>
          <p:spPr bwMode="auto">
            <a:xfrm>
              <a:off x="1578" y="1706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FIRST(TE’)</a:t>
              </a:r>
            </a:p>
          </p:txBody>
        </p:sp>
        <p:sp>
          <p:nvSpPr>
            <p:cNvPr id="24596" name="Text Box 11"/>
            <p:cNvSpPr txBox="1">
              <a:spLocks noChangeArrowheads="1"/>
            </p:cNvSpPr>
            <p:nvPr/>
          </p:nvSpPr>
          <p:spPr bwMode="auto">
            <a:xfrm>
              <a:off x="1728" y="2208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FIRST(T)</a:t>
              </a:r>
            </a:p>
          </p:txBody>
        </p:sp>
        <p:sp>
          <p:nvSpPr>
            <p:cNvPr id="24597" name="Text Box 12"/>
            <p:cNvSpPr txBox="1">
              <a:spLocks noChangeArrowheads="1"/>
            </p:cNvSpPr>
            <p:nvPr/>
          </p:nvSpPr>
          <p:spPr bwMode="auto">
            <a:xfrm>
              <a:off x="2688" y="1872"/>
              <a:ext cx="165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FIRST(T) “+” FIRST(E’)</a:t>
              </a:r>
            </a:p>
          </p:txBody>
        </p:sp>
        <p:sp>
          <p:nvSpPr>
            <p:cNvPr id="24598" name="Text Box 13"/>
            <p:cNvSpPr txBox="1">
              <a:spLocks noChangeArrowheads="1"/>
            </p:cNvSpPr>
            <p:nvPr/>
          </p:nvSpPr>
          <p:spPr bwMode="auto">
            <a:xfrm>
              <a:off x="2352" y="2544"/>
              <a:ext cx="7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FIRST(F)</a:t>
              </a:r>
            </a:p>
          </p:txBody>
        </p:sp>
        <p:sp>
          <p:nvSpPr>
            <p:cNvPr id="24599" name="Text Box 14"/>
            <p:cNvSpPr txBox="1">
              <a:spLocks noChangeArrowheads="1"/>
            </p:cNvSpPr>
            <p:nvPr/>
          </p:nvSpPr>
          <p:spPr bwMode="auto">
            <a:xfrm>
              <a:off x="489" y="2976"/>
              <a:ext cx="162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FIRST(</a:t>
              </a: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sz="1600" b="1">
                  <a:ea typeface="宋体" panose="02010600030101010101" pitchFamily="2" charset="-122"/>
                </a:rPr>
                <a:t>E</a:t>
              </a: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)</a:t>
              </a:r>
              <a:r>
                <a:rPr lang="en-US" altLang="zh-CN" sz="1600" b="1">
                  <a:ea typeface="宋体" panose="02010600030101010101" pitchFamily="2" charset="-122"/>
                </a:rPr>
                <a:t>) “+” FIRST(</a:t>
              </a: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id</a:t>
              </a:r>
              <a:r>
                <a:rPr lang="en-US" altLang="zh-CN" sz="1600" b="1"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24600" name="Text Box 15"/>
            <p:cNvSpPr txBox="1">
              <a:spLocks noChangeArrowheads="1"/>
            </p:cNvSpPr>
            <p:nvPr/>
          </p:nvSpPr>
          <p:spPr bwMode="auto">
            <a:xfrm>
              <a:off x="535" y="2544"/>
              <a:ext cx="157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FIRST(F) “+” FIRST(T’)</a:t>
              </a:r>
            </a:p>
          </p:txBody>
        </p:sp>
        <p:sp>
          <p:nvSpPr>
            <p:cNvPr id="24601" name="Line 16"/>
            <p:cNvSpPr>
              <a:spLocks noChangeShapeType="1"/>
            </p:cNvSpPr>
            <p:nvPr/>
          </p:nvSpPr>
          <p:spPr bwMode="auto">
            <a:xfrm flipV="1">
              <a:off x="1392" y="1872"/>
              <a:ext cx="24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2" name="Line 17"/>
            <p:cNvSpPr>
              <a:spLocks noChangeShapeType="1"/>
            </p:cNvSpPr>
            <p:nvPr/>
          </p:nvSpPr>
          <p:spPr bwMode="auto">
            <a:xfrm>
              <a:off x="2304" y="1872"/>
              <a:ext cx="384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3" name="Line 18"/>
            <p:cNvSpPr>
              <a:spLocks noChangeShapeType="1"/>
            </p:cNvSpPr>
            <p:nvPr/>
          </p:nvSpPr>
          <p:spPr bwMode="auto">
            <a:xfrm>
              <a:off x="1968" y="2016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4" name="Line 19"/>
            <p:cNvSpPr>
              <a:spLocks noChangeShapeType="1"/>
            </p:cNvSpPr>
            <p:nvPr/>
          </p:nvSpPr>
          <p:spPr bwMode="auto">
            <a:xfrm flipH="1">
              <a:off x="1392" y="2352"/>
              <a:ext cx="336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5" name="Line 20"/>
            <p:cNvSpPr>
              <a:spLocks noChangeShapeType="1"/>
            </p:cNvSpPr>
            <p:nvPr/>
          </p:nvSpPr>
          <p:spPr bwMode="auto">
            <a:xfrm flipV="1">
              <a:off x="1968" y="2640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6" name="Line 21"/>
            <p:cNvSpPr>
              <a:spLocks noChangeShapeType="1"/>
            </p:cNvSpPr>
            <p:nvPr/>
          </p:nvSpPr>
          <p:spPr bwMode="auto">
            <a:xfrm flipH="1">
              <a:off x="1440" y="2736"/>
              <a:ext cx="1104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7" name="Line 22"/>
            <p:cNvSpPr>
              <a:spLocks noChangeShapeType="1"/>
            </p:cNvSpPr>
            <p:nvPr/>
          </p:nvSpPr>
          <p:spPr bwMode="auto">
            <a:xfrm flipV="1">
              <a:off x="2016" y="307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08" name="Text Box 23"/>
            <p:cNvSpPr txBox="1">
              <a:spLocks noChangeArrowheads="1"/>
            </p:cNvSpPr>
            <p:nvPr/>
          </p:nvSpPr>
          <p:spPr bwMode="auto">
            <a:xfrm>
              <a:off x="2400" y="2976"/>
              <a:ext cx="10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“</a:t>
              </a: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(“ and “id”</a:t>
              </a:r>
            </a:p>
          </p:txBody>
        </p:sp>
        <p:sp>
          <p:nvSpPr>
            <p:cNvPr id="24609" name="Text Box 24"/>
            <p:cNvSpPr txBox="1">
              <a:spLocks noChangeArrowheads="1"/>
            </p:cNvSpPr>
            <p:nvPr/>
          </p:nvSpPr>
          <p:spPr bwMode="auto">
            <a:xfrm>
              <a:off x="2848" y="2115"/>
              <a:ext cx="19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rgbClr val="FF3300"/>
                  </a:solidFill>
                  <a:ea typeface="宋体" panose="02010600030101010101" pitchFamily="2" charset="-122"/>
                </a:rPr>
                <a:t>Not FIRST(E’) since  T </a:t>
              </a:r>
              <a:r>
                <a:rPr lang="en-US" altLang="zh-CN" sz="1600" b="1">
                  <a:solidFill>
                    <a:srgbClr val="FF33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 </a:t>
              </a:r>
              <a:endParaRPr lang="en-US" altLang="zh-CN" sz="1600" b="1">
                <a:solidFill>
                  <a:srgbClr val="FF33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4610" name="Text Box 25"/>
            <p:cNvSpPr txBox="1">
              <a:spLocks noChangeArrowheads="1"/>
            </p:cNvSpPr>
            <p:nvPr/>
          </p:nvSpPr>
          <p:spPr bwMode="auto">
            <a:xfrm>
              <a:off x="2848" y="2674"/>
              <a:ext cx="192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solidFill>
                    <a:srgbClr val="FF3300"/>
                  </a:solidFill>
                  <a:ea typeface="宋体" panose="02010600030101010101" pitchFamily="2" charset="-122"/>
                </a:rPr>
                <a:t>Not FIRST(T’) since  F </a:t>
              </a:r>
              <a:r>
                <a:rPr lang="en-US" altLang="zh-CN" sz="1600" b="1">
                  <a:solidFill>
                    <a:srgbClr val="FF3300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 </a:t>
              </a:r>
              <a:endParaRPr lang="en-US" altLang="zh-CN" sz="1600" b="1">
                <a:solidFill>
                  <a:srgbClr val="FF33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302110" name="Group 30"/>
          <p:cNvGrpSpPr>
            <a:grpSpLocks/>
          </p:cNvGrpSpPr>
          <p:nvPr/>
        </p:nvGrpSpPr>
        <p:grpSpPr bwMode="auto">
          <a:xfrm>
            <a:off x="2144713" y="5300663"/>
            <a:ext cx="5472112" cy="971550"/>
            <a:chOff x="768" y="3360"/>
            <a:chExt cx="3024" cy="720"/>
          </a:xfrm>
        </p:grpSpPr>
        <p:sp>
          <p:nvSpPr>
            <p:cNvPr id="24592" name="Text Box 31"/>
            <p:cNvSpPr txBox="1">
              <a:spLocks noChangeArrowheads="1"/>
            </p:cNvSpPr>
            <p:nvPr/>
          </p:nvSpPr>
          <p:spPr bwMode="auto">
            <a:xfrm>
              <a:off x="768" y="3360"/>
              <a:ext cx="2976" cy="6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Overall:    FIRST(E) = </a:t>
              </a:r>
              <a:r>
                <a:rPr lang="en-US" altLang="zh-CN" sz="1600" b="1">
                  <a:ea typeface="宋体" panose="02010600030101010101" pitchFamily="2" charset="-122"/>
                  <a:sym typeface="Symbol" panose="05050102010706020507" pitchFamily="18" charset="2"/>
                </a:rPr>
                <a:t>FIRST(T)</a:t>
              </a:r>
              <a:r>
                <a:rPr lang="en-US" altLang="zh-CN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1600" b="1">
                  <a:ea typeface="宋体" panose="02010600030101010101" pitchFamily="2" charset="-122"/>
                </a:rPr>
                <a:t>=FIRST(F) = { </a:t>
              </a: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( , id </a:t>
              </a:r>
              <a:r>
                <a:rPr lang="en-US" altLang="zh-CN" sz="1600" b="1">
                  <a:ea typeface="宋体" panose="02010600030101010101" pitchFamily="2" charset="-122"/>
                </a:rPr>
                <a:t>}</a:t>
              </a:r>
              <a:r>
                <a:rPr lang="en-US" altLang="zh-CN" sz="1600">
                  <a:ea typeface="宋体" panose="02010600030101010101" pitchFamily="2" charset="-122"/>
                </a:rPr>
                <a:t> </a:t>
              </a:r>
              <a:endParaRPr lang="en-US" altLang="zh-CN" sz="1600" b="1">
                <a:ea typeface="宋体" panose="02010600030101010101" pitchFamily="2" charset="-122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600" b="1">
                  <a:ea typeface="宋体" panose="02010600030101010101" pitchFamily="2" charset="-122"/>
                </a:rPr>
                <a:t>                  FIRST(E’) = { </a:t>
              </a: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</a:rPr>
                <a:t>+ , </a:t>
              </a: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 </a:t>
              </a:r>
              <a:r>
                <a:rPr lang="en-US" altLang="zh-CN" sz="1600" b="1">
                  <a:ea typeface="宋体" panose="02010600030101010101" pitchFamily="2" charset="-122"/>
                  <a:sym typeface="Symbol" panose="05050102010706020507" pitchFamily="18" charset="2"/>
                </a:rPr>
                <a:t>}    FIRST(T’) = { </a:t>
              </a:r>
              <a:r>
                <a:rPr lang="en-US" altLang="zh-CN" sz="1600" b="1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* ,  </a:t>
              </a:r>
              <a:r>
                <a:rPr lang="en-US" altLang="zh-CN" sz="1600" b="1">
                  <a:ea typeface="宋体" panose="02010600030101010101" pitchFamily="2" charset="-122"/>
                  <a:sym typeface="Symbol" panose="05050102010706020507" pitchFamily="18" charset="2"/>
                </a:rPr>
                <a:t>}</a:t>
              </a:r>
            </a:p>
          </p:txBody>
        </p:sp>
        <p:sp>
          <p:nvSpPr>
            <p:cNvPr id="24593" name="Rectangle 32"/>
            <p:cNvSpPr>
              <a:spLocks noChangeArrowheads="1"/>
            </p:cNvSpPr>
            <p:nvPr/>
          </p:nvSpPr>
          <p:spPr bwMode="auto">
            <a:xfrm>
              <a:off x="768" y="3360"/>
              <a:ext cx="3024" cy="7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grpSp>
        <p:nvGrpSpPr>
          <p:cNvPr id="302117" name="Group 37"/>
          <p:cNvGrpSpPr>
            <a:grpSpLocks/>
          </p:cNvGrpSpPr>
          <p:nvPr/>
        </p:nvGrpSpPr>
        <p:grpSpPr bwMode="auto">
          <a:xfrm>
            <a:off x="6608763" y="3308350"/>
            <a:ext cx="304800" cy="336550"/>
            <a:chOff x="4163" y="2084"/>
            <a:chExt cx="192" cy="212"/>
          </a:xfrm>
        </p:grpSpPr>
        <p:sp>
          <p:nvSpPr>
            <p:cNvPr id="24590" name="Line 35"/>
            <p:cNvSpPr>
              <a:spLocks noChangeShapeType="1"/>
            </p:cNvSpPr>
            <p:nvPr/>
          </p:nvSpPr>
          <p:spPr bwMode="auto">
            <a:xfrm flipV="1">
              <a:off x="4211" y="2180"/>
              <a:ext cx="96" cy="96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1" name="Text Box 36"/>
            <p:cNvSpPr txBox="1">
              <a:spLocks noChangeArrowheads="1"/>
            </p:cNvSpPr>
            <p:nvPr/>
          </p:nvSpPr>
          <p:spPr bwMode="auto">
            <a:xfrm>
              <a:off x="4163" y="2084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>
                  <a:solidFill>
                    <a:srgbClr val="FF33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</p:grpSp>
      <p:grpSp>
        <p:nvGrpSpPr>
          <p:cNvPr id="302118" name="Group 38"/>
          <p:cNvGrpSpPr>
            <a:grpSpLocks/>
          </p:cNvGrpSpPr>
          <p:nvPr/>
        </p:nvGrpSpPr>
        <p:grpSpPr bwMode="auto">
          <a:xfrm>
            <a:off x="6608763" y="4171950"/>
            <a:ext cx="304800" cy="336550"/>
            <a:chOff x="4163" y="2084"/>
            <a:chExt cx="192" cy="212"/>
          </a:xfrm>
        </p:grpSpPr>
        <p:sp>
          <p:nvSpPr>
            <p:cNvPr id="24588" name="Line 39"/>
            <p:cNvSpPr>
              <a:spLocks noChangeShapeType="1"/>
            </p:cNvSpPr>
            <p:nvPr/>
          </p:nvSpPr>
          <p:spPr bwMode="auto">
            <a:xfrm flipV="1">
              <a:off x="4211" y="2180"/>
              <a:ext cx="96" cy="96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9" name="Text Box 40"/>
            <p:cNvSpPr txBox="1">
              <a:spLocks noChangeArrowheads="1"/>
            </p:cNvSpPr>
            <p:nvPr/>
          </p:nvSpPr>
          <p:spPr bwMode="auto">
            <a:xfrm>
              <a:off x="4163" y="2084"/>
              <a:ext cx="19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600" b="1">
                  <a:solidFill>
                    <a:srgbClr val="FF3300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0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30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302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30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560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560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003B371-816A-4ABE-B790-FA17DF2BF1E3}" type="slidenum">
              <a:rPr lang="zh-CN" altLang="en-US" sz="800"/>
              <a:pPr/>
              <a:t>24</a:t>
            </a:fld>
            <a:endParaRPr lang="en-US" altLang="zh-CN" sz="80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Compute FOLLOW (for non-terminals) (P.189)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036050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1. 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</a:rPr>
              <a:t>If S is the start symbol  </a:t>
            </a:r>
            <a:r>
              <a:rPr lang="en-US" altLang="zh-CN" smtClean="0">
                <a:solidFill>
                  <a:schemeClr val="accent1"/>
                </a:solidFill>
                <a:ea typeface="宋体" panose="02010600030101010101" pitchFamily="2" charset="-122"/>
              </a:rPr>
              <a:t> </a:t>
            </a:r>
            <a:r>
              <a:rPr lang="en-US" altLang="zh-CN" smtClean="0">
                <a:solidFill>
                  <a:srgbClr val="660066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mtClean="0">
                <a:solidFill>
                  <a:schemeClr val="accent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$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is in FOLLOW(S)</a:t>
            </a:r>
          </a:p>
          <a:p>
            <a:endParaRPr lang="en-US" altLang="zh-CN" smtClean="0">
              <a:solidFill>
                <a:srgbClr val="6600CC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2. 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If  A 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B  is a production rule                                                               </a:t>
            </a:r>
            <a:r>
              <a:rPr lang="en-US" altLang="zh-CN" smtClean="0">
                <a:solidFill>
                  <a:srgbClr val="660066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	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everything in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FIRST(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)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is FOLLOW(B) except 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  <a:p>
            <a:endParaRPr lang="en-US" altLang="zh-CN" smtClean="0">
              <a:solidFill>
                <a:srgbClr val="6600CC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3. 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 ( 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A 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B is a production rule )   or                                                       ( 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A 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B is a production rule and  is in FIRST(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) )                            </a:t>
            </a:r>
            <a:r>
              <a:rPr lang="en-US" altLang="zh-CN" smtClean="0">
                <a:solidFill>
                  <a:srgbClr val="660066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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everything in </a:t>
            </a:r>
            <a:r>
              <a:rPr lang="en-US" altLang="zh-CN" b="1" smtClean="0">
                <a:solidFill>
                  <a:srgbClr val="CC00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FOLLOW(A)</a:t>
            </a:r>
            <a:r>
              <a:rPr lang="en-US" altLang="zh-CN" smtClean="0">
                <a:solidFill>
                  <a:srgbClr val="6600CC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is in FOLLOW(B).</a:t>
            </a:r>
            <a:r>
              <a:rPr lang="en-US" altLang="zh-CN" smtClean="0">
                <a:solidFill>
                  <a:srgbClr val="660066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</a:p>
          <a:p>
            <a:endParaRPr lang="en-US" altLang="zh-CN" smtClean="0">
              <a:solidFill>
                <a:srgbClr val="660066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endParaRPr lang="en-US" altLang="zh-CN" smtClean="0"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Wingdings" panose="05000000000000000000" pitchFamily="2" charset="2"/>
              </a:rPr>
              <a:t>We apply these rules until nothing more can be added to any FOLLOW set.  </a:t>
            </a:r>
          </a:p>
        </p:txBody>
      </p:sp>
      <p:sp>
        <p:nvSpPr>
          <p:cNvPr id="280580" name="Rectangle 4"/>
          <p:cNvSpPr>
            <a:spLocks noChangeArrowheads="1"/>
          </p:cNvSpPr>
          <p:nvPr/>
        </p:nvSpPr>
        <p:spPr bwMode="auto">
          <a:xfrm>
            <a:off x="776288" y="4478338"/>
            <a:ext cx="806608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(Whatever followed A must follow B, since nothing follows B from the production rule)</a:t>
            </a:r>
          </a:p>
        </p:txBody>
      </p:sp>
      <p:sp>
        <p:nvSpPr>
          <p:cNvPr id="280581" name="Rectangle 5"/>
          <p:cNvSpPr>
            <a:spLocks noChangeArrowheads="1"/>
          </p:cNvSpPr>
          <p:nvPr/>
        </p:nvSpPr>
        <p:spPr bwMode="auto">
          <a:xfrm>
            <a:off x="7473950" y="1243013"/>
            <a:ext cx="1614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b="1">
                <a:solidFill>
                  <a:srgbClr val="660066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Initially $S</a:t>
            </a:r>
            <a:endParaRPr lang="zh-CN" altLang="en-US" b="1">
              <a:solidFill>
                <a:srgbClr val="660066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80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80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" presetClass="entr" presetSubtype="16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0" grpId="0"/>
      <p:bldP spid="28058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662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662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540AF5D-5250-4C59-904C-137CBBBFF78F}" type="slidenum">
              <a:rPr lang="zh-CN" altLang="en-US" sz="800"/>
              <a:pPr/>
              <a:t>25</a:t>
            </a:fld>
            <a:endParaRPr lang="en-US" altLang="zh-CN" sz="800"/>
          </a:p>
        </p:txBody>
      </p:sp>
      <p:sp>
        <p:nvSpPr>
          <p:cNvPr id="26629" name="Rectangle 4"/>
          <p:cNvSpPr>
            <a:spLocks noGrp="1" noChangeArrowheads="1"/>
          </p:cNvSpPr>
          <p:nvPr>
            <p:ph type="title"/>
          </p:nvPr>
        </p:nvSpPr>
        <p:spPr>
          <a:xfrm>
            <a:off x="1081088" y="0"/>
            <a:ext cx="8062912" cy="1111250"/>
          </a:xfrm>
          <a:noFill/>
        </p:spPr>
        <p:txBody>
          <a:bodyPr lIns="92075" tIns="46038" rIns="92075" bIns="46038"/>
          <a:lstStyle/>
          <a:p>
            <a:r>
              <a:rPr lang="en-US" altLang="zh-CN" smtClean="0">
                <a:ea typeface="宋体" panose="02010600030101010101" pitchFamily="2" charset="-122"/>
              </a:rPr>
              <a:t>The Algorithm for FOLLOW – pseudocode</a:t>
            </a:r>
          </a:p>
        </p:txBody>
      </p:sp>
      <p:sp>
        <p:nvSpPr>
          <p:cNvPr id="303109" name="Rectangle 5"/>
          <p:cNvSpPr>
            <a:spLocks noChangeArrowheads="1"/>
          </p:cNvSpPr>
          <p:nvPr/>
        </p:nvSpPr>
        <p:spPr bwMode="auto">
          <a:xfrm>
            <a:off x="776288" y="1125538"/>
            <a:ext cx="8497887" cy="273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523875" indent="-523875">
              <a:tabLst>
                <a:tab pos="102552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1025525" indent="-387350">
              <a:tabLst>
                <a:tab pos="102552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477963" indent="-338138">
              <a:tabLst>
                <a:tab pos="102552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820863" indent="-228600">
              <a:tabLst>
                <a:tab pos="102552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163763" indent="-228600">
              <a:tabLst>
                <a:tab pos="102552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620963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552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3078163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552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535363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552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992563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25525" algn="l"/>
              </a:tabLs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1. Initialize FOLLOW(X) for all non-terminals X to empty set. Place $ in FOLLOW(S), where S is the start NT.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2. Repeat the following step until no modifications are made to any Follow-set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	For any production </a:t>
            </a:r>
            <a:r>
              <a:rPr lang="en-US" altLang="zh-CN" b="1" smtClean="0">
                <a:ea typeface="宋体" pitchFamily="2" charset="-122"/>
                <a:sym typeface="Symbol" pitchFamily="18" charset="2"/>
              </a:rPr>
              <a:t>X  X</a:t>
            </a:r>
            <a:r>
              <a:rPr lang="en-US" altLang="zh-CN" b="1" baseline="-25000" smtClean="0">
                <a:ea typeface="宋体" pitchFamily="2" charset="-122"/>
                <a:sym typeface="Symbol" pitchFamily="18" charset="2"/>
              </a:rPr>
              <a:t>1</a:t>
            </a:r>
            <a:r>
              <a:rPr lang="en-US" altLang="zh-CN" b="1" smtClean="0">
                <a:ea typeface="宋体" pitchFamily="2" charset="-122"/>
                <a:sym typeface="Symbol" pitchFamily="18" charset="2"/>
              </a:rPr>
              <a:t> X</a:t>
            </a:r>
            <a:r>
              <a:rPr lang="en-US" altLang="zh-CN" b="1" baseline="-25000" smtClean="0">
                <a:ea typeface="宋体" pitchFamily="2" charset="-122"/>
                <a:sym typeface="Symbol" pitchFamily="18" charset="2"/>
              </a:rPr>
              <a:t>2</a:t>
            </a:r>
            <a:r>
              <a:rPr lang="en-US" altLang="zh-CN" b="1" smtClean="0">
                <a:ea typeface="宋体" pitchFamily="2" charset="-122"/>
                <a:sym typeface="Symbol" pitchFamily="18" charset="2"/>
              </a:rPr>
              <a:t> … X</a:t>
            </a:r>
            <a:r>
              <a:rPr lang="en-US" altLang="zh-CN" b="1" baseline="-25000" smtClean="0">
                <a:ea typeface="宋体" pitchFamily="2" charset="-122"/>
                <a:sym typeface="Symbol" pitchFamily="18" charset="2"/>
              </a:rPr>
              <a:t>j</a:t>
            </a:r>
            <a:r>
              <a:rPr lang="en-US" altLang="zh-CN" b="1" smtClean="0">
                <a:ea typeface="宋体" pitchFamily="2" charset="-122"/>
                <a:sym typeface="Symbol" pitchFamily="18" charset="2"/>
              </a:rPr>
              <a:t> X</a:t>
            </a:r>
            <a:r>
              <a:rPr lang="en-US" altLang="zh-CN" b="1" baseline="-25000" smtClean="0">
                <a:ea typeface="宋体" pitchFamily="2" charset="-122"/>
                <a:sym typeface="Symbol" pitchFamily="18" charset="2"/>
              </a:rPr>
              <a:t>j+1</a:t>
            </a:r>
            <a:r>
              <a:rPr lang="en-US" altLang="zh-CN" baseline="-25000" smtClean="0"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b="1" smtClean="0">
                <a:ea typeface="宋体" pitchFamily="2" charset="-122"/>
                <a:sym typeface="Symbol" pitchFamily="18" charset="2"/>
              </a:rPr>
              <a:t>…</a:t>
            </a:r>
            <a:r>
              <a:rPr lang="en-US" altLang="zh-CN" smtClean="0"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b="1" smtClean="0"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b="1" baseline="-25000" smtClean="0">
                <a:ea typeface="宋体" pitchFamily="2" charset="-122"/>
                <a:sym typeface="Symbol" pitchFamily="18" charset="2"/>
              </a:rPr>
              <a:t>m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b="1" baseline="-25000" smtClean="0">
                <a:ea typeface="宋体" pitchFamily="2" charset="-122"/>
                <a:sym typeface="Symbol" pitchFamily="18" charset="2"/>
              </a:rPr>
              <a:t>	</a:t>
            </a:r>
            <a:r>
              <a:rPr lang="en-US" altLang="zh-CN" b="1" smtClean="0">
                <a:ea typeface="宋体" pitchFamily="2" charset="-122"/>
                <a:sym typeface="Symbol" pitchFamily="18" charset="2"/>
              </a:rPr>
              <a:t>	 </a:t>
            </a: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For j=1 to m,</a:t>
            </a:r>
          </a:p>
          <a:p>
            <a:pPr eaLnBrk="1" hangingPunct="1">
              <a:lnSpc>
                <a:spcPct val="89000"/>
              </a:lnSpc>
              <a:spcBef>
                <a:spcPct val="10000"/>
              </a:spcBef>
              <a:buClr>
                <a:srgbClr val="FF33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			if </a:t>
            </a:r>
            <a:r>
              <a:rPr lang="en-US" altLang="zh-CN" b="1" smtClean="0"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b="1" baseline="-25000" smtClean="0">
                <a:ea typeface="宋体" pitchFamily="2" charset="-122"/>
                <a:sym typeface="Symbol" pitchFamily="18" charset="2"/>
              </a:rPr>
              <a:t>j </a:t>
            </a:r>
            <a:r>
              <a:rPr lang="en-US" altLang="zh-CN" smtClean="0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is a non-terminal then:	</a:t>
            </a:r>
          </a:p>
        </p:txBody>
      </p:sp>
      <p:sp>
        <p:nvSpPr>
          <p:cNvPr id="303110" name="Rectangle 6"/>
          <p:cNvSpPr>
            <a:spLocks noChangeArrowheads="1"/>
          </p:cNvSpPr>
          <p:nvPr/>
        </p:nvSpPr>
        <p:spPr bwMode="auto">
          <a:xfrm>
            <a:off x="992188" y="4221163"/>
            <a:ext cx="7489825" cy="1452562"/>
          </a:xfrm>
          <a:prstGeom prst="rect">
            <a:avLst/>
          </a:prstGeom>
          <a:solidFill>
            <a:srgbClr val="FFFF99"/>
          </a:solidFill>
          <a:ln w="19050">
            <a:solidFill>
              <a:srgbClr val="FF00FF"/>
            </a:solidFill>
            <a:miter lim="800000"/>
            <a:headEnd type="none" w="sm" len="sm"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FOLLOW(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baseline="-25000">
                <a:ea typeface="宋体" pitchFamily="2" charset="-122"/>
                <a:sym typeface="Symbol" pitchFamily="18" charset="2"/>
              </a:rPr>
              <a:t>j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)=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FOLLOW(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baseline="-25000">
                <a:ea typeface="宋体" pitchFamily="2" charset="-122"/>
                <a:sym typeface="Symbol" pitchFamily="18" charset="2"/>
              </a:rPr>
              <a:t>j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)(FIRST(X</a:t>
            </a:r>
            <a:r>
              <a:rPr lang="en-US" altLang="zh-CN" baseline="-25000">
                <a:ea typeface="宋体" pitchFamily="2" charset="-122"/>
                <a:sym typeface="Symbol" pitchFamily="18" charset="2"/>
              </a:rPr>
              <a:t>j+1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,…,X</a:t>
            </a:r>
            <a:r>
              <a:rPr lang="en-US" altLang="zh-CN" baseline="-25000">
                <a:ea typeface="宋体" pitchFamily="2" charset="-122"/>
                <a:sym typeface="Symbol" pitchFamily="18" charset="2"/>
              </a:rPr>
              <a:t>m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)-{});</a:t>
            </a:r>
            <a:endParaRPr lang="en-US" altLang="zh-CN">
              <a:effectLst>
                <a:outerShdw blurRad="38100" dist="38100" dir="2700000" algn="tl">
                  <a:srgbClr val="FFFFFF"/>
                </a:outerShdw>
              </a:effectLst>
              <a:ea typeface="宋体" pitchFamily="2" charset="-122"/>
            </a:endParaRPr>
          </a:p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If 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FIRST(X</a:t>
            </a:r>
            <a:r>
              <a:rPr lang="en-US" altLang="zh-CN" baseline="-25000">
                <a:ea typeface="宋体" pitchFamily="2" charset="-122"/>
                <a:sym typeface="Symbol" pitchFamily="18" charset="2"/>
              </a:rPr>
              <a:t>j+1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,…,X</a:t>
            </a:r>
            <a:r>
              <a:rPr lang="en-US" altLang="zh-CN" baseline="-25000">
                <a:ea typeface="宋体" pitchFamily="2" charset="-122"/>
                <a:sym typeface="Symbol" pitchFamily="18" charset="2"/>
              </a:rPr>
              <a:t>m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) contains  or X</a:t>
            </a:r>
            <a:r>
              <a:rPr lang="en-US" altLang="zh-CN" baseline="-25000">
                <a:ea typeface="宋体" pitchFamily="2" charset="-122"/>
                <a:sym typeface="Symbol" pitchFamily="18" charset="2"/>
              </a:rPr>
              <a:t>j+1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,…,X</a:t>
            </a:r>
            <a:r>
              <a:rPr lang="en-US" altLang="zh-CN" baseline="-25000">
                <a:ea typeface="宋体" pitchFamily="2" charset="-122"/>
                <a:sym typeface="Symbol" pitchFamily="18" charset="2"/>
              </a:rPr>
              <a:t>m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=  </a:t>
            </a:r>
          </a:p>
          <a:p>
            <a:pPr eaLnBrk="1" hangingPunct="1">
              <a:lnSpc>
                <a:spcPct val="89000"/>
              </a:lnSpc>
              <a:spcBef>
                <a:spcPct val="50000"/>
              </a:spcBef>
              <a:buClr>
                <a:srgbClr val="FF3300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	then FOLLOW(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baseline="-25000">
                <a:ea typeface="宋体" pitchFamily="2" charset="-122"/>
                <a:sym typeface="Symbol" pitchFamily="18" charset="2"/>
              </a:rPr>
              <a:t>j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)=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FOLLOW(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baseline="-25000">
                <a:ea typeface="宋体" pitchFamily="2" charset="-122"/>
                <a:sym typeface="Symbol" pitchFamily="18" charset="2"/>
              </a:rPr>
              <a:t>j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) </a:t>
            </a:r>
            <a:r>
              <a:rPr lang="en-US" altLang="zh-CN">
                <a:effectLst>
                  <a:outerShdw blurRad="38100" dist="38100" dir="2700000" algn="tl">
                    <a:srgbClr val="FFFFFF"/>
                  </a:outerShdw>
                </a:effectLst>
                <a:ea typeface="宋体" pitchFamily="2" charset="-122"/>
              </a:rPr>
              <a:t>FOLLOW(</a:t>
            </a:r>
            <a:r>
              <a:rPr lang="en-US" altLang="zh-CN">
                <a:ea typeface="宋体" pitchFamily="2" charset="-122"/>
                <a:sym typeface="Symbol" pitchFamily="18" charset="2"/>
              </a:rPr>
              <a:t>X);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76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76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CE22F1E-3E24-40F1-9CB9-B8A3BC87683E}" type="slidenum">
              <a:rPr lang="zh-CN" altLang="en-US" sz="800"/>
              <a:pPr/>
              <a:t>26</a:t>
            </a:fld>
            <a:endParaRPr lang="en-US" altLang="zh-CN" sz="800"/>
          </a:p>
        </p:txBody>
      </p:sp>
      <p:sp>
        <p:nvSpPr>
          <p:cNvPr id="2765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FOLLOW Example (P.189)</a:t>
            </a:r>
          </a:p>
        </p:txBody>
      </p:sp>
      <p:sp>
        <p:nvSpPr>
          <p:cNvPr id="2765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865438" y="1052513"/>
            <a:ext cx="3348037" cy="2376487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Example 4.17: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TE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TE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 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|   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T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FT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FT</a:t>
            </a:r>
            <a:r>
              <a:rPr lang="en-US" altLang="zh-CN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 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|   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F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 | 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endParaRPr lang="en-US" altLang="zh-CN" smtClean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281605" name="Rectangle 1029"/>
          <p:cNvSpPr>
            <a:spLocks noChangeArrowheads="1"/>
          </p:cNvSpPr>
          <p:nvPr/>
        </p:nvSpPr>
        <p:spPr bwMode="auto">
          <a:xfrm>
            <a:off x="4953000" y="4005263"/>
            <a:ext cx="3960813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FOLLOW(E) =  {        ), $ }</a:t>
            </a:r>
          </a:p>
          <a:p>
            <a:r>
              <a:rPr lang="en-US" altLang="zh-CN">
                <a:ea typeface="宋体" panose="02010600030101010101" pitchFamily="2" charset="-122"/>
              </a:rPr>
              <a:t>FOLLOW(E’) = {        ), $ }</a:t>
            </a:r>
          </a:p>
          <a:p>
            <a:r>
              <a:rPr lang="en-US" altLang="zh-CN">
                <a:ea typeface="宋体" panose="02010600030101010101" pitchFamily="2" charset="-122"/>
              </a:rPr>
              <a:t>FOLLOW(T) =  {     +, ), $ }</a:t>
            </a:r>
          </a:p>
          <a:p>
            <a:r>
              <a:rPr lang="en-US" altLang="zh-CN">
                <a:ea typeface="宋体" panose="02010600030101010101" pitchFamily="2" charset="-122"/>
              </a:rPr>
              <a:t>FOLLOW(T’) = {     +, ), $ }</a:t>
            </a:r>
          </a:p>
          <a:p>
            <a:r>
              <a:rPr lang="en-US" altLang="zh-CN">
                <a:ea typeface="宋体" panose="02010600030101010101" pitchFamily="2" charset="-122"/>
              </a:rPr>
              <a:t>FOLLOW(F)  =  {*, +, ), $ }</a:t>
            </a:r>
          </a:p>
        </p:txBody>
      </p:sp>
      <p:sp>
        <p:nvSpPr>
          <p:cNvPr id="281606" name="Rectangle 1030"/>
          <p:cNvSpPr>
            <a:spLocks noChangeArrowheads="1"/>
          </p:cNvSpPr>
          <p:nvPr/>
        </p:nvSpPr>
        <p:spPr bwMode="auto">
          <a:xfrm>
            <a:off x="1065213" y="4005263"/>
            <a:ext cx="31686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FIRST(F) =   {(,id}	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FIRST(T’) = {*, }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FIRST(T) =  {(,id}	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FIRST(E’) = {+, }	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FIRST(E) =  {(,id}	</a:t>
            </a:r>
            <a:endParaRPr lang="zh-CN" altLang="en-US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2000"/>
                                        <p:tgtEl>
                                          <p:spTgt spid="28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5" grpId="0"/>
      <p:bldP spid="28160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86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86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4808750-42A7-4047-8971-AD2766C8A2D3}" type="slidenum">
              <a:rPr lang="zh-CN" altLang="en-US" sz="800"/>
              <a:pPr/>
              <a:t>27</a:t>
            </a:fld>
            <a:endParaRPr lang="en-US" altLang="zh-CN" sz="800"/>
          </a:p>
        </p:txBody>
      </p:sp>
      <p:sp>
        <p:nvSpPr>
          <p:cNvPr id="28677" name="Rectangle 4"/>
          <p:cNvSpPr>
            <a:spLocks noGrp="1" noChangeArrowheads="1"/>
          </p:cNvSpPr>
          <p:nvPr>
            <p:ph type="title"/>
          </p:nvPr>
        </p:nvSpPr>
        <p:spPr>
          <a:xfrm>
            <a:off x="1081088" y="0"/>
            <a:ext cx="8062912" cy="836613"/>
          </a:xfrm>
          <a:noFill/>
        </p:spPr>
        <p:txBody>
          <a:bodyPr lIns="92075" tIns="46038" rIns="92075" bIns="46038"/>
          <a:lstStyle/>
          <a:p>
            <a:r>
              <a:rPr lang="en-US" altLang="zh-CN" smtClean="0">
                <a:ea typeface="宋体" panose="02010600030101010101" pitchFamily="2" charset="-122"/>
              </a:rPr>
              <a:t>Motivation Behind FIRST &amp; FOLLOW</a:t>
            </a:r>
          </a:p>
        </p:txBody>
      </p:sp>
      <p:sp>
        <p:nvSpPr>
          <p:cNvPr id="28678" name="Text Box 5"/>
          <p:cNvSpPr txBox="1">
            <a:spLocks noChangeArrowheads="1"/>
          </p:cNvSpPr>
          <p:nvPr/>
        </p:nvSpPr>
        <p:spPr bwMode="auto">
          <a:xfrm>
            <a:off x="1219200" y="90805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CC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FIRST:</a:t>
            </a:r>
          </a:p>
        </p:txBody>
      </p:sp>
      <p:sp>
        <p:nvSpPr>
          <p:cNvPr id="28679" name="Text Box 6"/>
          <p:cNvSpPr txBox="1">
            <a:spLocks noChangeArrowheads="1"/>
          </p:cNvSpPr>
          <p:nvPr/>
        </p:nvSpPr>
        <p:spPr bwMode="auto">
          <a:xfrm>
            <a:off x="849313" y="3651250"/>
            <a:ext cx="15890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CC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FOLLOW:</a:t>
            </a:r>
          </a:p>
        </p:txBody>
      </p:sp>
      <p:sp>
        <p:nvSpPr>
          <p:cNvPr id="28680" name="Text Box 7"/>
          <p:cNvSpPr txBox="1">
            <a:spLocks noChangeArrowheads="1"/>
          </p:cNvSpPr>
          <p:nvPr/>
        </p:nvSpPr>
        <p:spPr bwMode="auto">
          <a:xfrm>
            <a:off x="2362200" y="908050"/>
            <a:ext cx="66944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CC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Is used to help find the appropriate reduction to follow given the top-of-the-stack non-terminal and the current input symbol.</a:t>
            </a:r>
          </a:p>
        </p:txBody>
      </p:sp>
      <p:sp>
        <p:nvSpPr>
          <p:cNvPr id="28681" name="Text Box 8"/>
          <p:cNvSpPr txBox="1">
            <a:spLocks noChangeArrowheads="1"/>
          </p:cNvSpPr>
          <p:nvPr/>
        </p:nvSpPr>
        <p:spPr bwMode="auto">
          <a:xfrm>
            <a:off x="2362200" y="1898650"/>
            <a:ext cx="647700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CC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u="sng">
                <a:solidFill>
                  <a:schemeClr val="accent2"/>
                </a:solidFill>
                <a:ea typeface="宋体" panose="02010600030101010101" pitchFamily="2" charset="-122"/>
              </a:rPr>
              <a:t>Example: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  If  </a:t>
            </a:r>
            <a:r>
              <a:rPr lang="en-US" altLang="zh-CN" sz="2000" b="1">
                <a:ea typeface="宋体" panose="02010600030101010101" pitchFamily="2" charset="-122"/>
              </a:rPr>
              <a:t>A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  , 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and  a is in FIRST(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), then when a=input,  replace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with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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(in the stack).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a is one of first symbols of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, </a:t>
            </a: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so when A is on the stack and a is input,  POP A and PUSH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.</a:t>
            </a:r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8682" name="Text Box 9"/>
          <p:cNvSpPr txBox="1">
            <a:spLocks noChangeArrowheads="1"/>
          </p:cNvSpPr>
          <p:nvPr/>
        </p:nvSpPr>
        <p:spPr bwMode="auto">
          <a:xfrm>
            <a:off x="2362200" y="3651250"/>
            <a:ext cx="6477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CC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Is used when FIRST has a conflict, to resolve choices, or when FIRST gives no suggestion.  When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 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 or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 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,  then what follows </a:t>
            </a:r>
            <a:r>
              <a:rPr lang="en-US" altLang="zh-CN" sz="2000" b="1">
                <a:ea typeface="宋体" panose="02010600030101010101" pitchFamily="2" charset="-122"/>
              </a:rPr>
              <a:t>A 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dictates the next choice to be made.</a:t>
            </a:r>
            <a:endParaRPr lang="en-US" altLang="zh-CN" sz="2000" b="1">
              <a:ea typeface="宋体" panose="02010600030101010101" pitchFamily="2" charset="-122"/>
            </a:endParaRPr>
          </a:p>
        </p:txBody>
      </p:sp>
      <p:sp>
        <p:nvSpPr>
          <p:cNvPr id="28683" name="Text Box 10"/>
          <p:cNvSpPr txBox="1">
            <a:spLocks noChangeArrowheads="1"/>
          </p:cNvSpPr>
          <p:nvPr/>
        </p:nvSpPr>
        <p:spPr bwMode="auto">
          <a:xfrm>
            <a:off x="2362200" y="4641850"/>
            <a:ext cx="64770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CC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u="sng">
                <a:solidFill>
                  <a:schemeClr val="accent2"/>
                </a:solidFill>
                <a:ea typeface="宋体" panose="02010600030101010101" pitchFamily="2" charset="-122"/>
              </a:rPr>
              <a:t>Example: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  If  </a:t>
            </a:r>
            <a:r>
              <a:rPr lang="en-US" altLang="zh-CN" sz="2000" b="1">
                <a:ea typeface="宋体" panose="02010600030101010101" pitchFamily="2" charset="-122"/>
              </a:rPr>
              <a:t>A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  , 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and  b is in FOLLOW(</a:t>
            </a:r>
            <a:r>
              <a:rPr lang="en-US" altLang="zh-CN" sz="2000" b="1">
                <a:ea typeface="宋体" panose="02010600030101010101" pitchFamily="2" charset="-122"/>
              </a:rPr>
              <a:t>A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), then when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 </a:t>
            </a:r>
            <a:r>
              <a:rPr lang="en-US" altLang="zh-CN" sz="2000" b="1" u="sng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and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b is an input character, then we expand </a:t>
            </a:r>
            <a:r>
              <a:rPr lang="en-US" altLang="zh-CN" sz="2000" b="1">
                <a:ea typeface="宋体" panose="02010600030101010101" pitchFamily="2" charset="-122"/>
              </a:rPr>
              <a:t>A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</a:rPr>
              <a:t>with 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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which will eventually expand to , of which b follows!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 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: i.e.,  FIRST(</a:t>
            </a:r>
            <a:r>
              <a:rPr lang="en-US" altLang="zh-CN" sz="2000" b="1">
                <a:ea typeface="宋体" panose="02010600030101010101" pitchFamily="2" charset="-122"/>
                <a:sym typeface="Symbol" panose="05050102010706020507" pitchFamily="18" charset="2"/>
              </a:rPr>
              <a:t> </a:t>
            </a: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contains 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000" b="1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.)</a:t>
            </a:r>
          </a:p>
        </p:txBody>
      </p:sp>
      <p:sp>
        <p:nvSpPr>
          <p:cNvPr id="28684" name="Text Box 11"/>
          <p:cNvSpPr txBox="1">
            <a:spLocks noChangeArrowheads="1"/>
          </p:cNvSpPr>
          <p:nvPr/>
        </p:nvSpPr>
        <p:spPr bwMode="auto">
          <a:xfrm>
            <a:off x="8193088" y="3933825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CC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28685" name="Text Box 12"/>
          <p:cNvSpPr txBox="1">
            <a:spLocks noChangeArrowheads="1"/>
          </p:cNvSpPr>
          <p:nvPr/>
        </p:nvSpPr>
        <p:spPr bwMode="auto">
          <a:xfrm>
            <a:off x="3297238" y="4868863"/>
            <a:ext cx="30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CC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>
                <a:ea typeface="宋体" panose="02010600030101010101" pitchFamily="2" charset="-122"/>
              </a:rPr>
              <a:t>*</a:t>
            </a:r>
          </a:p>
        </p:txBody>
      </p:sp>
      <p:sp>
        <p:nvSpPr>
          <p:cNvPr id="28686" name="Text Box 13"/>
          <p:cNvSpPr txBox="1">
            <a:spLocks noChangeArrowheads="1"/>
          </p:cNvSpPr>
          <p:nvPr/>
        </p:nvSpPr>
        <p:spPr bwMode="auto">
          <a:xfrm>
            <a:off x="2667000" y="5937250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CC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>
                <a:ea typeface="宋体" panose="02010600030101010101" pitchFamily="2" charset="-122"/>
              </a:rPr>
              <a:t>*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96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97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45224C5-9251-4297-A0F2-8F29F350A83F}" type="slidenum">
              <a:rPr lang="zh-CN" altLang="en-US" sz="800"/>
              <a:pPr/>
              <a:t>28</a:t>
            </a:fld>
            <a:endParaRPr lang="en-US" altLang="zh-CN" sz="80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Exercises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Given the following grammar: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S→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b</a:t>
            </a:r>
            <a:r>
              <a:rPr lang="en-US" altLang="zh-CN" smtClean="0">
                <a:ea typeface="宋体" panose="02010600030101010101" pitchFamily="2" charset="-122"/>
              </a:rPr>
              <a:t>|S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c</a:t>
            </a:r>
            <a:r>
              <a:rPr lang="en-US" altLang="zh-CN" smtClean="0">
                <a:ea typeface="宋体" panose="02010600030101010101" pitchFamily="2" charset="-122"/>
              </a:rPr>
              <a:t>|ε</a:t>
            </a:r>
            <a:br>
              <a:rPr lang="en-US" altLang="zh-CN" smtClean="0">
                <a:ea typeface="宋体" panose="02010600030101010101" pitchFamily="2" charset="-122"/>
              </a:rPr>
            </a:br>
            <a:r>
              <a:rPr lang="en-US" altLang="zh-CN" smtClean="0">
                <a:ea typeface="宋体" panose="02010600030101010101" pitchFamily="2" charset="-122"/>
              </a:rPr>
              <a:t>A→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b</a:t>
            </a:r>
            <a:r>
              <a:rPr lang="en-US" altLang="zh-CN" smtClean="0">
                <a:ea typeface="宋体" panose="02010600030101010101" pitchFamily="2" charset="-122"/>
              </a:rPr>
              <a:t>|ε</a:t>
            </a:r>
            <a:br>
              <a:rPr lang="en-US" altLang="zh-CN" smtClean="0">
                <a:ea typeface="宋体" panose="02010600030101010101" pitchFamily="2" charset="-122"/>
              </a:rPr>
            </a:b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Please compute FIRST() and FOLLOW() for each non-terminal.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07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47674C2-BD7C-4CCF-B7AE-C235084E8800}" type="slidenum">
              <a:rPr lang="zh-CN" altLang="en-US" sz="800"/>
              <a:pPr/>
              <a:t>29</a:t>
            </a:fld>
            <a:endParaRPr lang="en-US" altLang="zh-CN" sz="80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24213" y="981075"/>
            <a:ext cx="3457575" cy="1008063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S→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b</a:t>
            </a:r>
            <a:r>
              <a:rPr lang="en-US" altLang="zh-CN" smtClean="0">
                <a:ea typeface="宋体" panose="02010600030101010101" pitchFamily="2" charset="-122"/>
              </a:rPr>
              <a:t>|S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c</a:t>
            </a:r>
            <a:r>
              <a:rPr lang="en-US" altLang="zh-CN" smtClean="0">
                <a:ea typeface="宋体" panose="02010600030101010101" pitchFamily="2" charset="-122"/>
              </a:rPr>
              <a:t>|ε</a:t>
            </a:r>
            <a:br>
              <a:rPr lang="en-US" altLang="zh-CN" smtClean="0">
                <a:ea typeface="宋体" panose="02010600030101010101" pitchFamily="2" charset="-122"/>
              </a:rPr>
            </a:br>
            <a:r>
              <a:rPr lang="en-US" altLang="zh-CN" smtClean="0">
                <a:ea typeface="宋体" panose="02010600030101010101" pitchFamily="2" charset="-122"/>
              </a:rPr>
              <a:t>A→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smtClean="0">
                <a:ea typeface="宋体" panose="02010600030101010101" pitchFamily="2" charset="-122"/>
              </a:rPr>
              <a:t>A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b</a:t>
            </a:r>
            <a:r>
              <a:rPr lang="en-US" altLang="zh-CN" smtClean="0">
                <a:ea typeface="宋体" panose="02010600030101010101" pitchFamily="2" charset="-122"/>
              </a:rPr>
              <a:t>|ε</a:t>
            </a:r>
          </a:p>
        </p:txBody>
      </p:sp>
      <p:sp>
        <p:nvSpPr>
          <p:cNvPr id="320516" name="Rectangle 4"/>
          <p:cNvSpPr>
            <a:spLocks noChangeArrowheads="1"/>
          </p:cNvSpPr>
          <p:nvPr/>
        </p:nvSpPr>
        <p:spPr bwMode="auto">
          <a:xfrm>
            <a:off x="1568450" y="4076700"/>
            <a:ext cx="29527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FIRST(S)={a, c, ε}</a:t>
            </a:r>
          </a:p>
          <a:p>
            <a:r>
              <a:rPr lang="en-US" altLang="zh-CN">
                <a:ea typeface="宋体" panose="02010600030101010101" pitchFamily="2" charset="-122"/>
              </a:rPr>
              <a:t>FIRST(S’)={c, ε}</a:t>
            </a:r>
          </a:p>
          <a:p>
            <a:r>
              <a:rPr lang="en-US" altLang="zh-CN">
                <a:ea typeface="宋体" panose="02010600030101010101" pitchFamily="2" charset="-122"/>
              </a:rPr>
              <a:t>FIRST(A)={a, ε}</a:t>
            </a:r>
          </a:p>
        </p:txBody>
      </p:sp>
      <p:sp>
        <p:nvSpPr>
          <p:cNvPr id="320517" name="Rectangle 5"/>
          <p:cNvSpPr>
            <a:spLocks noChangeArrowheads="1"/>
          </p:cNvSpPr>
          <p:nvPr/>
        </p:nvSpPr>
        <p:spPr bwMode="auto">
          <a:xfrm>
            <a:off x="5457825" y="4149725"/>
            <a:ext cx="28797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FOLLOW(S)={$}</a:t>
            </a:r>
          </a:p>
          <a:p>
            <a:r>
              <a:rPr lang="en-US" altLang="zh-CN">
                <a:ea typeface="宋体" panose="02010600030101010101" pitchFamily="2" charset="-122"/>
              </a:rPr>
              <a:t>FOLLOW(S’)={$}</a:t>
            </a:r>
          </a:p>
          <a:p>
            <a:r>
              <a:rPr lang="en-US" altLang="zh-CN">
                <a:ea typeface="宋体" panose="02010600030101010101" pitchFamily="2" charset="-122"/>
              </a:rPr>
              <a:t>FOLLOW(A)={b}</a:t>
            </a:r>
          </a:p>
        </p:txBody>
      </p:sp>
      <p:sp>
        <p:nvSpPr>
          <p:cNvPr id="320518" name="Rectangle 6"/>
          <p:cNvSpPr>
            <a:spLocks noChangeArrowheads="1"/>
          </p:cNvSpPr>
          <p:nvPr/>
        </p:nvSpPr>
        <p:spPr bwMode="auto">
          <a:xfrm>
            <a:off x="3657600" y="2565400"/>
            <a:ext cx="24479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S →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S’ | S’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S’ →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c</a:t>
            </a:r>
            <a:r>
              <a:rPr lang="en-US" altLang="zh-CN">
                <a:ea typeface="宋体" panose="02010600030101010101" pitchFamily="2" charset="-122"/>
              </a:rPr>
              <a:t>S’ | ε</a:t>
            </a:r>
          </a:p>
          <a:p>
            <a:r>
              <a:rPr lang="en-US" altLang="zh-CN">
                <a:ea typeface="宋体" panose="02010600030101010101" pitchFamily="2" charset="-122"/>
              </a:rPr>
              <a:t>A→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|ε</a:t>
            </a:r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320521" name="Group 9"/>
          <p:cNvGrpSpPr>
            <a:grpSpLocks/>
          </p:cNvGrpSpPr>
          <p:nvPr/>
        </p:nvGrpSpPr>
        <p:grpSpPr bwMode="auto">
          <a:xfrm>
            <a:off x="4305300" y="1773238"/>
            <a:ext cx="3960813" cy="863600"/>
            <a:chOff x="2712" y="1117"/>
            <a:chExt cx="2495" cy="544"/>
          </a:xfrm>
        </p:grpSpPr>
        <p:sp>
          <p:nvSpPr>
            <p:cNvPr id="30731" name="Line 7"/>
            <p:cNvSpPr>
              <a:spLocks noChangeShapeType="1"/>
            </p:cNvSpPr>
            <p:nvPr/>
          </p:nvSpPr>
          <p:spPr bwMode="auto">
            <a:xfrm>
              <a:off x="2712" y="1117"/>
              <a:ext cx="0" cy="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2" name="Rectangle 8"/>
            <p:cNvSpPr>
              <a:spLocks noChangeArrowheads="1"/>
            </p:cNvSpPr>
            <p:nvPr/>
          </p:nvSpPr>
          <p:spPr bwMode="auto">
            <a:xfrm>
              <a:off x="2848" y="1207"/>
              <a:ext cx="235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Eliminating left-recursive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3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2000"/>
                                        <p:tgtEl>
                                          <p:spTgt spid="3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6" grpId="0"/>
      <p:bldP spid="320517" grpId="0"/>
      <p:bldP spid="3205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17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80A2F60-56EE-48BA-A55B-B05D521CB544}" type="slidenum">
              <a:rPr lang="zh-CN" altLang="en-US" sz="800"/>
              <a:pPr/>
              <a:t>30</a:t>
            </a:fld>
            <a:endParaRPr lang="en-US" altLang="zh-CN" sz="80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Constructing LL(1) Parsing Table (P.190)</a:t>
            </a:r>
          </a:p>
        </p:txBody>
      </p:sp>
      <p:sp>
        <p:nvSpPr>
          <p:cNvPr id="282628" name="Text Box 4"/>
          <p:cNvSpPr txBox="1">
            <a:spLocks noChangeArrowheads="1"/>
          </p:cNvSpPr>
          <p:nvPr/>
        </p:nvSpPr>
        <p:spPr bwMode="auto">
          <a:xfrm>
            <a:off x="704850" y="1557338"/>
            <a:ext cx="8640763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CC00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Algorithm 4.4: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zh-CN">
                <a:ea typeface="宋体" panose="02010600030101010101" pitchFamily="2" charset="-122"/>
              </a:rPr>
              <a:t>Repeat Steps 2 &amp; 3 for each rule 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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Terminal a in FIRST(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)?  Add A to M[A,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a ]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3.1 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in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FIRST(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)?  Add A  to M[A,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b ] for all terminals b in FOLLOW(A).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3.2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in 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FIRST(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) and $ in FOLLOW(A)? Add A  to M[A, $</a:t>
            </a:r>
            <a:r>
              <a:rPr lang="en-US" altLang="zh-CN">
                <a:solidFill>
                  <a:srgbClr val="CC0000"/>
                </a:solidFill>
                <a:ea typeface="宋体" panose="02010600030101010101" pitchFamily="2" charset="-122"/>
              </a:rPr>
              <a:t> ]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4.  All undefined entries are errors.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2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82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82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82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82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27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D7814D-36E1-4AD3-A072-F910C29D6F9D}" type="slidenum">
              <a:rPr lang="zh-CN" altLang="en-US" sz="800"/>
              <a:pPr/>
              <a:t>31</a:t>
            </a:fld>
            <a:endParaRPr lang="en-US" altLang="zh-CN" sz="80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Constructing LL(1) Parsing Table -- Example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81075"/>
            <a:ext cx="9372600" cy="5386388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Example 4.18: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TE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		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FIRST(TE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)={(,id}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2000" smtClean="0">
                <a:ea typeface="宋体" panose="02010600030101010101" pitchFamily="2" charset="-122"/>
              </a:rPr>
              <a:t>E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TE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 into M[E,(] and M[E,id]	</a:t>
            </a:r>
            <a:endParaRPr lang="en-US" altLang="zh-CN" sz="2000" baseline="30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000" baseline="30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 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FIRST(+TE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)={+}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into M[E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,+]</a:t>
            </a:r>
            <a:endParaRPr lang="en-US" altLang="zh-CN" sz="2000" baseline="-25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 		FIRST()={}	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none</a:t>
            </a: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but since  in FIRST()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and 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FOLLOW(E</a:t>
            </a:r>
            <a:r>
              <a:rPr lang="en-US" altLang="zh-CN" sz="2000" baseline="30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)={$,)}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    into M[E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,$]  and M[E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,)] 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T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FT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		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FIRST(FT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)={(,id}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2000" smtClean="0">
                <a:ea typeface="宋体" panose="02010600030101010101" pitchFamily="2" charset="-122"/>
              </a:rPr>
              <a:t>T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FT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into M[T,(] and M[T,id]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 	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000" baseline="30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 	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FIRST(*FT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)={*}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FT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into M[T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,*]</a:t>
            </a:r>
            <a:endParaRPr lang="en-US" altLang="zh-CN" sz="2000" baseline="30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  		FIRST()={}	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none</a:t>
            </a: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but since  in FIRST()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	and 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FOLLOW(T</a:t>
            </a:r>
            <a:r>
              <a:rPr lang="en-US" altLang="zh-CN" sz="2000" baseline="30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)={$,),+}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   into M[T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,$], M[T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,)] and M[T</a:t>
            </a:r>
            <a:r>
              <a:rPr lang="en-US" altLang="zh-CN" sz="2000" baseline="3000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,+] 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F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		FIRST((E) )={(}	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2000" smtClean="0">
                <a:ea typeface="宋体" panose="02010600030101010101" pitchFamily="2" charset="-122"/>
              </a:rPr>
              <a:t>F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into M[F,(]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zh-CN" sz="2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F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		FIRST(id)={id}		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2000" smtClean="0">
                <a:ea typeface="宋体" panose="02010600030101010101" pitchFamily="2" charset="-122"/>
              </a:rPr>
              <a:t>F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into M[F,id]</a:t>
            </a:r>
            <a:endParaRPr lang="zh-CN" altLang="en-US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3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83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83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83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83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83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83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83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836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836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836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28365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28365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28365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3795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3796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E69556-CC4E-41F2-BBCE-1B25BC95435F}" type="slidenum">
              <a:rPr lang="zh-CN" altLang="en-US" sz="800"/>
              <a:pPr/>
              <a:t>32</a:t>
            </a:fld>
            <a:endParaRPr lang="en-US" altLang="zh-CN" sz="800"/>
          </a:p>
        </p:txBody>
      </p:sp>
      <p:sp>
        <p:nvSpPr>
          <p:cNvPr id="33797" name="Rectangle 6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Constructing LL(1) Parsing Table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649538" y="5445125"/>
            <a:ext cx="5040312" cy="50323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Fig.4.15 parsing table M for grammar</a:t>
            </a:r>
            <a:r>
              <a:rPr lang="zh-CN" altLang="en-US" sz="2000" smtClean="0"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297067" name="Group 107"/>
          <p:cNvGraphicFramePr>
            <a:graphicFrameLocks noGrp="1"/>
          </p:cNvGraphicFramePr>
          <p:nvPr>
            <p:ph sz="half" idx="2"/>
          </p:nvPr>
        </p:nvGraphicFramePr>
        <p:xfrm>
          <a:off x="273050" y="1844675"/>
          <a:ext cx="9359900" cy="3276600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7363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Non-terminal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Input  symbol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TE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TE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E</a:t>
                      </a:r>
                      <a:r>
                        <a:rPr kumimoji="0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E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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+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TE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E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 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E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 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FT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FT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 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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*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FT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 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24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’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 </a:t>
                      </a:r>
                      <a:endParaRPr kumimoji="0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(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E</a:t>
                      </a: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48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48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F83FA90-AE85-495E-A9DE-CC50199A4A9A}" type="slidenum">
              <a:rPr lang="zh-CN" altLang="en-US" sz="800"/>
              <a:pPr/>
              <a:t>33</a:t>
            </a:fld>
            <a:endParaRPr lang="en-US" altLang="zh-CN" sz="80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LL(1) Grammars (P.191)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444182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grammar whose parsing table has no multiply-defined entries is said to be LL(1) grammar. </a:t>
            </a:r>
          </a:p>
          <a:p>
            <a:pPr>
              <a:buFontTx/>
              <a:buNone/>
            </a:pPr>
            <a:endParaRPr lang="en-US" altLang="zh-CN" sz="1000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	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one input symbol used as a look-head symbol do determine parser action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z="2800" b="1" smtClean="0">
                <a:solidFill>
                  <a:srgbClr val="CC0000"/>
                </a:solidFill>
                <a:ea typeface="宋体" panose="02010600030101010101" pitchFamily="2" charset="-122"/>
              </a:rPr>
              <a:t>LL(1)</a:t>
            </a:r>
            <a:r>
              <a:rPr lang="en-US" altLang="zh-CN" sz="3200" smtClean="0">
                <a:ea typeface="宋体" panose="02010600030101010101" pitchFamily="2" charset="-122"/>
              </a:rPr>
              <a:t>	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left most derivation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</a:rPr>
              <a:t>input scanned from left to right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The parsing table of a grammar may contain more than one production rule (namely multiply-defined entry). In this case, we say that it is not a LL(1) grammar, such as left recursive or ambiguous.</a:t>
            </a:r>
          </a:p>
        </p:txBody>
      </p:sp>
      <p:sp>
        <p:nvSpPr>
          <p:cNvPr id="34823" name="Line 4"/>
          <p:cNvSpPr>
            <a:spLocks noChangeShapeType="1"/>
          </p:cNvSpPr>
          <p:nvPr/>
        </p:nvSpPr>
        <p:spPr bwMode="auto">
          <a:xfrm>
            <a:off x="1447800" y="2590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4" name="Line 5"/>
          <p:cNvSpPr>
            <a:spLocks noChangeShapeType="1"/>
          </p:cNvSpPr>
          <p:nvPr/>
        </p:nvSpPr>
        <p:spPr bwMode="auto">
          <a:xfrm flipV="1">
            <a:off x="914400" y="3124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5" name="Line 6"/>
          <p:cNvSpPr>
            <a:spLocks noChangeShapeType="1"/>
          </p:cNvSpPr>
          <p:nvPr/>
        </p:nvSpPr>
        <p:spPr bwMode="auto">
          <a:xfrm flipH="1" flipV="1">
            <a:off x="1143000" y="31242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6" name="Line 7"/>
          <p:cNvSpPr>
            <a:spLocks noChangeShapeType="1"/>
          </p:cNvSpPr>
          <p:nvPr/>
        </p:nvSpPr>
        <p:spPr bwMode="auto">
          <a:xfrm flipV="1">
            <a:off x="1524000" y="30480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58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5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88F8F6C-8101-4A1D-A521-E21595BB28D6}" type="slidenum">
              <a:rPr lang="zh-CN" altLang="en-US" sz="800"/>
              <a:pPr/>
              <a:t>34</a:t>
            </a:fld>
            <a:endParaRPr lang="en-US" altLang="zh-CN" sz="80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468313"/>
          </a:xfrm>
        </p:spPr>
        <p:txBody>
          <a:bodyPr/>
          <a:lstStyle/>
          <a:p>
            <a:endParaRPr lang="zh-CN" altLang="en-US" sz="2800" smtClean="0">
              <a:ea typeface="宋体" panose="02010600030101010101" pitchFamily="2" charset="-122"/>
            </a:endParaRPr>
          </a:p>
        </p:txBody>
      </p:sp>
      <p:sp>
        <p:nvSpPr>
          <p:cNvPr id="35846" name="Text Box 4"/>
          <p:cNvSpPr txBox="1">
            <a:spLocks noChangeArrowheads="1"/>
          </p:cNvSpPr>
          <p:nvPr/>
        </p:nvSpPr>
        <p:spPr bwMode="auto">
          <a:xfrm>
            <a:off x="631825" y="836613"/>
            <a:ext cx="8424863" cy="465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04825" indent="-5048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1912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 :  Scan input from Left to Right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 :  Construct a Leftmost Derivation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 :  Use “1” input symbol as lookahead in conjunction with stack to decide on the parsing action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LL(1) grammars == they have no multiply-defined entries in the 				parsing table.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Properties of LL(1) grammars: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Grammar can’t be ambiguous or left recursive</a:t>
            </a:r>
          </a:p>
          <a:p>
            <a:pPr lvl="1" eaLnBrk="1" hangingPunct="1">
              <a:lnSpc>
                <a:spcPct val="60000"/>
              </a:lnSpc>
              <a:spcBef>
                <a:spcPct val="50000"/>
              </a:spcBef>
              <a:buFontTx/>
              <a:buChar char="•"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Grammar is LL(1)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when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A </a:t>
            </a:r>
          </a:p>
          <a:p>
            <a:pPr lvl="1"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   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1.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 &amp; 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do not derive strings starting with the  same terminal a</a:t>
            </a:r>
          </a:p>
          <a:p>
            <a:pPr lvl="1" eaLnBrk="1" hangingPunct="1">
              <a:lnSpc>
                <a:spcPct val="3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2. Either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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or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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can derive , but not both.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5847" name="Text Box 5"/>
          <p:cNvSpPr txBox="1">
            <a:spLocks noChangeArrowheads="1"/>
          </p:cNvSpPr>
          <p:nvPr/>
        </p:nvSpPr>
        <p:spPr bwMode="auto">
          <a:xfrm>
            <a:off x="849313" y="5589588"/>
            <a:ext cx="82089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Note:  It may not be possible for a grammar to be manipulated into an LL(1) grammar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08C6783-932A-42DD-8D21-91DAA68365EA}" type="slidenum">
              <a:rPr lang="zh-CN" altLang="en-US" sz="800"/>
              <a:pPr/>
              <a:t>35</a:t>
            </a:fld>
            <a:endParaRPr lang="en-US" altLang="zh-CN" sz="80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Properties of LL(1) Grammars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036050" cy="4297363"/>
          </a:xfrm>
        </p:spPr>
        <p:txBody>
          <a:bodyPr/>
          <a:lstStyle/>
          <a:p>
            <a:pPr marL="457200" indent="-457200"/>
            <a:r>
              <a:rPr lang="en-US" altLang="zh-CN" smtClean="0">
                <a:ea typeface="宋体" panose="02010600030101010101" pitchFamily="2" charset="-122"/>
              </a:rPr>
              <a:t>A grammar G is LL(1) if and only if  the following conditions hold for two distinctive production rules   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   and   </a:t>
            </a:r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</a:t>
            </a:r>
          </a:p>
          <a:p>
            <a:pPr marL="457200" indent="-457200"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 marL="800100" lvl="1" indent="-342900">
              <a:buFontTx/>
              <a:buAutoNum type="arabicPeriod"/>
            </a:pP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Both  and  cannot derive strings starting with same terminals.</a:t>
            </a:r>
          </a:p>
          <a:p>
            <a:pPr marL="800100" lvl="1" indent="-342900">
              <a:buFontTx/>
              <a:buAutoNum type="arabicPeriod"/>
            </a:pPr>
            <a:endParaRPr lang="en-US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At most one of  and  can derive to .</a:t>
            </a:r>
          </a:p>
          <a:p>
            <a:pPr marL="800100" lvl="1" indent="-342900">
              <a:buFontTx/>
              <a:buAutoNum type="arabicPeriod"/>
            </a:pPr>
            <a:endParaRPr lang="en-US" altLang="zh-CN" sz="24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800100" lvl="1" indent="-342900">
              <a:buFontTx/>
              <a:buAutoNum type="arabicPeriod"/>
            </a:pPr>
            <a:r>
              <a:rPr lang="en-US" altLang="zh-CN" sz="2400" smtClean="0">
                <a:ea typeface="宋体" panose="02010600030101010101" pitchFamily="2" charset="-122"/>
                <a:sym typeface="Symbol" panose="05050102010706020507" pitchFamily="18" charset="2"/>
              </a:rPr>
              <a:t>If  can derive to , then  cannot derive to any string starting    with a terminal in FOLLOW(A).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789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789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2DFE45F-64EC-4F26-9102-A42901D9F070}" type="slidenum">
              <a:rPr lang="zh-CN" altLang="en-US" sz="800"/>
              <a:pPr/>
              <a:t>36</a:t>
            </a:fld>
            <a:endParaRPr lang="en-US" altLang="zh-CN" sz="80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12775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Grammar which is not LL(1) (P.191)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25538"/>
            <a:ext cx="2987675" cy="208756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Example: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S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t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S E   |   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 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S    |   		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C 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buFontTx/>
              <a:buNone/>
            </a:pPr>
            <a:endParaRPr lang="en-US" altLang="zh-CN" sz="1800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285772" name="Group 76"/>
          <p:cNvGraphicFramePr>
            <a:graphicFrameLocks noGrp="1"/>
          </p:cNvGraphicFramePr>
          <p:nvPr/>
        </p:nvGraphicFramePr>
        <p:xfrm>
          <a:off x="2144713" y="3357563"/>
          <a:ext cx="5943600" cy="2170112"/>
        </p:xfrm>
        <a:graphic>
          <a:graphicData uri="http://schemas.openxmlformats.org/drawingml/2006/table">
            <a:tbl>
              <a:tblPr/>
              <a:tblGrid>
                <a:gridCol w="404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9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 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i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C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t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E 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e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E  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E  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C 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5764" name="Line 68"/>
          <p:cNvSpPr>
            <a:spLocks noChangeShapeType="1"/>
          </p:cNvSpPr>
          <p:nvPr/>
        </p:nvSpPr>
        <p:spPr bwMode="auto">
          <a:xfrm flipV="1">
            <a:off x="4448175" y="5013325"/>
            <a:ext cx="217488" cy="927100"/>
          </a:xfrm>
          <a:prstGeom prst="line">
            <a:avLst/>
          </a:prstGeom>
          <a:noFill/>
          <a:ln w="38100">
            <a:solidFill>
              <a:srgbClr val="66006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5765" name="Rectangle 69"/>
          <p:cNvSpPr>
            <a:spLocks noChangeArrowheads="1"/>
          </p:cNvSpPr>
          <p:nvPr/>
        </p:nvSpPr>
        <p:spPr bwMode="auto">
          <a:xfrm>
            <a:off x="3224213" y="5876925"/>
            <a:ext cx="4094162" cy="466725"/>
          </a:xfrm>
          <a:prstGeom prst="rect">
            <a:avLst/>
          </a:prstGeom>
          <a:noFill/>
          <a:ln w="9525">
            <a:solidFill>
              <a:srgbClr val="66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solidFill>
                  <a:srgbClr val="6600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two production rules for M[E,e]</a:t>
            </a:r>
            <a:endParaRPr lang="zh-CN" altLang="en-US">
              <a:solidFill>
                <a:srgbClr val="660066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5766" name="Rectangle 70"/>
          <p:cNvSpPr>
            <a:spLocks noChangeArrowheads="1"/>
          </p:cNvSpPr>
          <p:nvPr/>
        </p:nvSpPr>
        <p:spPr bwMode="auto">
          <a:xfrm>
            <a:off x="6392863" y="1341438"/>
            <a:ext cx="30956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FOLLOW(S) = { $,e }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FOLLOW(E) = { $,e }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FOLLOW(C) = { t }</a:t>
            </a:r>
          </a:p>
        </p:txBody>
      </p:sp>
      <p:sp>
        <p:nvSpPr>
          <p:cNvPr id="285767" name="Rectangle 71"/>
          <p:cNvSpPr>
            <a:spLocks noChangeArrowheads="1"/>
          </p:cNvSpPr>
          <p:nvPr/>
        </p:nvSpPr>
        <p:spPr bwMode="auto">
          <a:xfrm>
            <a:off x="3297238" y="1052513"/>
            <a:ext cx="295275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FIRST(iCtSE) = {i}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FIRST(a) = {a}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FIRST(eS) = {e}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FIRST() = {}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FIRST(b) = {b}</a:t>
            </a:r>
          </a:p>
        </p:txBody>
      </p:sp>
      <p:sp>
        <p:nvSpPr>
          <p:cNvPr id="285773" name="Rectangle 77"/>
          <p:cNvSpPr>
            <a:spLocks noChangeArrowheads="1"/>
          </p:cNvSpPr>
          <p:nvPr/>
        </p:nvSpPr>
        <p:spPr bwMode="auto">
          <a:xfrm>
            <a:off x="200025" y="5876925"/>
            <a:ext cx="3003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Problem  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 ambiguity</a:t>
            </a:r>
            <a:endParaRPr lang="zh-CN" altLang="en-US"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5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28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85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2000"/>
                                        <p:tgtEl>
                                          <p:spTgt spid="28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85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2000"/>
                                        <p:tgtEl>
                                          <p:spTgt spid="28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65" grpId="0" animBg="1" autoUpdateAnimBg="0"/>
      <p:bldP spid="285766" grpId="0" autoUpdateAnimBg="0"/>
      <p:bldP spid="285767" grpId="0" autoUpdateAnimBg="0"/>
      <p:bldP spid="28577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89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89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3E715E-9322-4B43-BF8F-8B796BE9B72E}" type="slidenum">
              <a:rPr lang="zh-CN" altLang="en-US" sz="800"/>
              <a:pPr/>
              <a:t>37</a:t>
            </a:fld>
            <a:endParaRPr lang="en-US" altLang="zh-CN" sz="80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Exercise in class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Grammar: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lexp </a:t>
            </a:r>
            <a:r>
              <a:rPr lang="en-US" altLang="zh-CN" smtClean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→</a:t>
            </a:r>
            <a:r>
              <a:rPr lang="en-US" altLang="zh-CN" smtClean="0">
                <a:ea typeface="宋体" panose="02010600030101010101" pitchFamily="2" charset="-122"/>
              </a:rPr>
              <a:t> atom | list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atom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num</a:t>
            </a:r>
            <a:r>
              <a:rPr lang="en-US" altLang="zh-CN" smtClean="0">
                <a:ea typeface="宋体" panose="02010600030101010101" pitchFamily="2" charset="-122"/>
              </a:rPr>
              <a:t> | </a:t>
            </a:r>
            <a:r>
              <a:rPr lang="en-US" altLang="zh-CN" smtClean="0">
                <a:solidFill>
                  <a:schemeClr val="accent2"/>
                </a:solidFill>
                <a:ea typeface="宋体" panose="02010600030101010101" pitchFamily="2" charset="-122"/>
              </a:rPr>
              <a:t>id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list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(</a:t>
            </a:r>
            <a:r>
              <a:rPr lang="en-US" altLang="zh-CN" smtClean="0">
                <a:ea typeface="宋体" panose="02010600030101010101" pitchFamily="2" charset="-122"/>
              </a:rPr>
              <a:t>lexp_seq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)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lexp_seq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lang="en-US" altLang="zh-CN" smtClean="0">
                <a:ea typeface="宋体" panose="02010600030101010101" pitchFamily="2" charset="-122"/>
              </a:rPr>
              <a:t> lexp_seq lexp | lexp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Please calculate FIRST() , FOLLOW() ,then construct parsing table and see whether the grammar is LL(1).</a:t>
            </a:r>
            <a:endParaRPr lang="zh-CN" altLang="en-US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99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99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8C9C3A4-461B-44CA-B044-3D97A2FB2A3C}" type="slidenum">
              <a:rPr lang="zh-CN" altLang="en-US" sz="800"/>
              <a:pPr/>
              <a:t>38</a:t>
            </a:fld>
            <a:endParaRPr lang="en-US" altLang="zh-CN" sz="80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消除左递归</a:t>
            </a:r>
          </a:p>
        </p:txBody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16150" y="1219200"/>
            <a:ext cx="5832475" cy="5105400"/>
          </a:xfrm>
        </p:spPr>
        <p:txBody>
          <a:bodyPr/>
          <a:lstStyle/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3000" smtClean="0">
                <a:ea typeface="宋体" panose="02010600030101010101" pitchFamily="2" charset="-122"/>
              </a:rPr>
              <a:t>lexp </a:t>
            </a:r>
            <a:r>
              <a:rPr lang="en-US" altLang="zh-CN" sz="3000" smtClean="0">
                <a:ea typeface="宋体" panose="02010600030101010101" pitchFamily="2" charset="-122"/>
                <a:sym typeface="Wingdings" panose="05000000000000000000" pitchFamily="2" charset="2"/>
              </a:rPr>
              <a:t>→ atom | list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3000" smtClean="0">
                <a:ea typeface="宋体" panose="02010600030101010101" pitchFamily="2" charset="-122"/>
                <a:sym typeface="Wingdings" panose="05000000000000000000" pitchFamily="2" charset="2"/>
              </a:rPr>
              <a:t>atom → </a:t>
            </a:r>
            <a:r>
              <a:rPr lang="en-US" altLang="zh-CN" sz="3000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numr </a:t>
            </a:r>
            <a:r>
              <a:rPr lang="en-US" altLang="zh-CN" sz="3000" smtClean="0">
                <a:ea typeface="宋体" panose="02010600030101010101" pitchFamily="2" charset="-122"/>
                <a:sym typeface="Wingdings" panose="05000000000000000000" pitchFamily="2" charset="2"/>
              </a:rPr>
              <a:t>| </a:t>
            </a:r>
            <a:r>
              <a:rPr lang="en-US" altLang="zh-CN" sz="3000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id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3000" smtClean="0">
                <a:ea typeface="宋体" panose="02010600030101010101" pitchFamily="2" charset="-122"/>
                <a:sym typeface="Wingdings" panose="05000000000000000000" pitchFamily="2" charset="2"/>
              </a:rPr>
              <a:t>list → </a:t>
            </a:r>
            <a:r>
              <a:rPr lang="en-US" altLang="zh-CN" sz="3000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( </a:t>
            </a:r>
            <a:r>
              <a:rPr lang="en-US" altLang="zh-CN" sz="3000" smtClean="0">
                <a:ea typeface="宋体" panose="02010600030101010101" pitchFamily="2" charset="-122"/>
                <a:sym typeface="Wingdings" panose="05000000000000000000" pitchFamily="2" charset="2"/>
              </a:rPr>
              <a:t>lexp-seq </a:t>
            </a:r>
            <a:r>
              <a:rPr lang="en-US" altLang="zh-CN" sz="3000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)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3000" smtClean="0">
                <a:ea typeface="宋体" panose="02010600030101010101" pitchFamily="2" charset="-122"/>
                <a:sym typeface="Wingdings" panose="05000000000000000000" pitchFamily="2" charset="2"/>
              </a:rPr>
              <a:t>lexp-seq → lexp </a:t>
            </a:r>
            <a:r>
              <a:rPr lang="en-US" altLang="zh-CN" sz="3000" smtClean="0">
                <a:solidFill>
                  <a:srgbClr val="FF33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lexp-seq’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3000" smtClean="0">
                <a:solidFill>
                  <a:srgbClr val="FF33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lexp-seq’</a:t>
            </a:r>
            <a:r>
              <a:rPr lang="en-US" altLang="zh-CN" sz="3000" smtClean="0">
                <a:ea typeface="宋体" panose="02010600030101010101" pitchFamily="2" charset="-122"/>
                <a:sym typeface="Wingdings" panose="05000000000000000000" pitchFamily="2" charset="2"/>
              </a:rPr>
              <a:t> → lexp </a:t>
            </a:r>
            <a:r>
              <a:rPr lang="en-US" altLang="zh-CN" sz="3000" smtClean="0">
                <a:solidFill>
                  <a:srgbClr val="FF33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lexp-seq’</a:t>
            </a:r>
            <a:r>
              <a:rPr lang="en-US" altLang="zh-CN" sz="3000" smtClean="0">
                <a:ea typeface="宋体" panose="02010600030101010101" pitchFamily="2" charset="-122"/>
                <a:sym typeface="Wingdings" panose="05000000000000000000" pitchFamily="2" charset="2"/>
              </a:rPr>
              <a:t> | </a:t>
            </a:r>
            <a:r>
              <a:rPr lang="en-US" altLang="zh-CN" sz="3000" smtClean="0">
                <a:solidFill>
                  <a:srgbClr val="FF3300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ε</a:t>
            </a:r>
            <a:endParaRPr lang="zh-CN" altLang="en-US" sz="3000" smtClean="0">
              <a:solidFill>
                <a:srgbClr val="FF3300"/>
              </a:solidFill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09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09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35D355B-4F29-45D5-BE32-B810C2576571}" type="slidenum">
              <a:rPr lang="zh-CN" altLang="en-US" sz="800"/>
              <a:pPr/>
              <a:t>39</a:t>
            </a:fld>
            <a:endParaRPr lang="en-US" altLang="zh-CN" sz="800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z="2200" smtClean="0">
                <a:ea typeface="宋体" panose="02010600030101010101" pitchFamily="2" charset="-122"/>
              </a:rPr>
              <a:t>	  </a:t>
            </a:r>
            <a:r>
              <a:rPr lang="en-US" altLang="zh-CN" sz="2000" smtClean="0">
                <a:ea typeface="宋体" panose="02010600030101010101" pitchFamily="2" charset="-122"/>
              </a:rPr>
              <a:t>lexp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→ atom | list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atom →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num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|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id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list →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(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lexp-seq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)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lexp-seq → lexp lexp-seq’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lexp-seq’ → lexp lexp-seq’ | ε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  <a:buFontTx/>
              <a:buNone/>
            </a:pPr>
            <a:endParaRPr lang="en-US" altLang="zh-CN" sz="2000" smtClean="0">
              <a:ea typeface="宋体" panose="02010600030101010101" pitchFamily="2" charset="-122"/>
            </a:endParaRP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2200" smtClean="0">
                <a:ea typeface="宋体" panose="02010600030101010101" pitchFamily="2" charset="-122"/>
              </a:rPr>
              <a:t>FIRST(lexp)={ (, num, id }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2200" smtClean="0">
                <a:ea typeface="宋体" panose="02010600030101010101" pitchFamily="2" charset="-122"/>
              </a:rPr>
              <a:t>FIRST(atom)={ num, id }</a:t>
            </a:r>
          </a:p>
          <a:p>
            <a:pPr lvl="1">
              <a:spcBef>
                <a:spcPct val="10000"/>
              </a:spcBef>
              <a:buFontTx/>
              <a:buNone/>
            </a:pPr>
            <a:r>
              <a:rPr lang="en-US" altLang="zh-CN" sz="2200" smtClean="0">
                <a:ea typeface="宋体" panose="02010600030101010101" pitchFamily="2" charset="-122"/>
              </a:rPr>
              <a:t>FIRST(list)={ ( }</a:t>
            </a:r>
          </a:p>
          <a:p>
            <a:pPr lvl="1">
              <a:buFontTx/>
              <a:buNone/>
            </a:pPr>
            <a:r>
              <a:rPr lang="en-US" altLang="zh-CN" sz="2200" smtClean="0">
                <a:ea typeface="宋体" panose="02010600030101010101" pitchFamily="2" charset="-122"/>
              </a:rPr>
              <a:t>FIRST(lexp-seq)={ (, num, id }</a:t>
            </a:r>
          </a:p>
          <a:p>
            <a:pPr lvl="1">
              <a:buFontTx/>
              <a:buNone/>
            </a:pPr>
            <a:r>
              <a:rPr lang="en-US" altLang="zh-CN" sz="2200" smtClean="0">
                <a:ea typeface="宋体" panose="02010600030101010101" pitchFamily="2" charset="-122"/>
              </a:rPr>
              <a:t>FIRST(lexpseq’)={ (,num,id,ε}</a:t>
            </a:r>
          </a:p>
          <a:p>
            <a:pPr lvl="1">
              <a:buFontTx/>
              <a:buNone/>
            </a:pPr>
            <a:endParaRPr lang="en-US" altLang="zh-CN" sz="2200" smtClean="0"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sz="2200" smtClean="0">
                <a:ea typeface="宋体" panose="02010600030101010101" pitchFamily="2" charset="-122"/>
              </a:rPr>
              <a:t>FOLLOW(lexp-seq’)={)}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40967" name="Line 4"/>
          <p:cNvSpPr>
            <a:spLocks noChangeShapeType="1"/>
          </p:cNvSpPr>
          <p:nvPr/>
        </p:nvSpPr>
        <p:spPr bwMode="auto">
          <a:xfrm>
            <a:off x="631825" y="3068638"/>
            <a:ext cx="612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19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C9D87E7-A7F3-48BF-A324-67610E4C8EB0}" type="slidenum">
              <a:rPr lang="zh-CN" altLang="en-US" sz="800"/>
              <a:pPr/>
              <a:t>40</a:t>
            </a:fld>
            <a:endParaRPr lang="en-US" altLang="zh-CN" sz="800"/>
          </a:p>
        </p:txBody>
      </p:sp>
      <p:sp>
        <p:nvSpPr>
          <p:cNvPr id="317495" name="Rectangle 55"/>
          <p:cNvSpPr>
            <a:spLocks noGrp="1" noChangeArrowheads="1"/>
          </p:cNvSpPr>
          <p:nvPr>
            <p:ph type="title"/>
          </p:nvPr>
        </p:nvSpPr>
        <p:spPr>
          <a:xfrm>
            <a:off x="200025" y="620713"/>
            <a:ext cx="9432925" cy="2160587"/>
          </a:xfrm>
        </p:spPr>
        <p:txBody>
          <a:bodyPr/>
          <a:lstStyle/>
          <a:p>
            <a:pPr algn="l"/>
            <a:r>
              <a:rPr lang="en-US" altLang="zh-CN" sz="2600" b="0" smtClean="0">
                <a:ea typeface="宋体" panose="02010600030101010101" pitchFamily="2" charset="-122"/>
              </a:rPr>
              <a:t>      1  lexp </a:t>
            </a:r>
            <a:r>
              <a:rPr lang="en-US" altLang="zh-CN" sz="2600" b="0" smtClean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→</a:t>
            </a:r>
            <a:r>
              <a:rPr lang="en-US" altLang="zh-CN" sz="2600" b="0" smtClean="0">
                <a:ea typeface="宋体" panose="02010600030101010101" pitchFamily="2" charset="-122"/>
              </a:rPr>
              <a:t> atom                               5  list </a:t>
            </a:r>
            <a:r>
              <a:rPr lang="en-US" altLang="zh-CN" sz="2600" b="0" smtClean="0">
                <a:ea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lang="en-US" altLang="zh-CN" sz="2600" b="0" smtClean="0">
                <a:ea typeface="宋体" panose="02010600030101010101" pitchFamily="2" charset="-122"/>
              </a:rPr>
              <a:t> </a:t>
            </a:r>
            <a:r>
              <a:rPr lang="en-US" altLang="zh-CN" sz="2600" b="0" smtClean="0">
                <a:solidFill>
                  <a:schemeClr val="accent2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600" b="0" smtClean="0">
                <a:ea typeface="宋体" panose="02010600030101010101" pitchFamily="2" charset="-122"/>
              </a:rPr>
              <a:t>lexp_seq </a:t>
            </a:r>
            <a:r>
              <a:rPr lang="en-US" altLang="zh-CN" sz="2600" b="0" smtClean="0">
                <a:solidFill>
                  <a:schemeClr val="accent2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600" b="0" smtClean="0">
                <a:ea typeface="宋体" panose="02010600030101010101" pitchFamily="2" charset="-122"/>
              </a:rPr>
              <a:t>                                                      </a:t>
            </a:r>
            <a:br>
              <a:rPr lang="en-US" altLang="zh-CN" sz="2600" b="0" smtClean="0">
                <a:ea typeface="宋体" panose="02010600030101010101" pitchFamily="2" charset="-122"/>
              </a:rPr>
            </a:br>
            <a:r>
              <a:rPr lang="en-US" altLang="zh-CN" sz="2600" b="0" smtClean="0">
                <a:ea typeface="宋体" panose="02010600030101010101" pitchFamily="2" charset="-122"/>
              </a:rPr>
              <a:t>      2  lexp </a:t>
            </a:r>
            <a:r>
              <a:rPr lang="en-US" altLang="zh-CN" sz="2600" b="0" smtClean="0">
                <a:ea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lang="en-US" altLang="zh-CN" sz="2600" b="0" smtClean="0">
                <a:ea typeface="宋体" panose="02010600030101010101" pitchFamily="2" charset="-122"/>
              </a:rPr>
              <a:t> list                                  6  lexp_seq </a:t>
            </a:r>
            <a:r>
              <a:rPr lang="en-US" altLang="zh-CN" sz="2600" b="0" smtClean="0">
                <a:ea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lang="en-US" altLang="zh-CN" sz="2600" b="0" smtClean="0">
                <a:ea typeface="宋体" panose="02010600030101010101" pitchFamily="2" charset="-122"/>
              </a:rPr>
              <a:t> lexp  lexp_seq</a:t>
            </a:r>
            <a:r>
              <a:rPr lang="en-US" altLang="zh-CN" sz="2600" b="0" smtClean="0">
                <a:ea typeface="宋体" panose="02010600030101010101" pitchFamily="2" charset="-122"/>
                <a:sym typeface="Symbol" panose="05050102010706020507" pitchFamily="18" charset="2"/>
              </a:rPr>
              <a:t>’</a:t>
            </a:r>
            <a:r>
              <a:rPr lang="en-US" altLang="zh-CN" sz="2600" b="0" smtClean="0">
                <a:ea typeface="宋体" panose="02010600030101010101" pitchFamily="2" charset="-122"/>
              </a:rPr>
              <a:t> </a:t>
            </a:r>
            <a:br>
              <a:rPr lang="en-US" altLang="zh-CN" sz="2600" b="0" smtClean="0">
                <a:ea typeface="宋体" panose="02010600030101010101" pitchFamily="2" charset="-122"/>
              </a:rPr>
            </a:br>
            <a:r>
              <a:rPr lang="en-US" altLang="zh-CN" sz="2600" b="0" smtClean="0">
                <a:ea typeface="宋体" panose="02010600030101010101" pitchFamily="2" charset="-122"/>
              </a:rPr>
              <a:t>      3  atom </a:t>
            </a:r>
            <a:r>
              <a:rPr lang="en-US" altLang="zh-CN" sz="2600" b="0" smtClean="0">
                <a:ea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lang="en-US" altLang="zh-CN" sz="2600" b="0" smtClean="0">
                <a:solidFill>
                  <a:schemeClr val="accent2"/>
                </a:solidFill>
                <a:ea typeface="宋体" panose="02010600030101010101" pitchFamily="2" charset="-122"/>
              </a:rPr>
              <a:t>num</a:t>
            </a:r>
            <a:r>
              <a:rPr lang="en-US" altLang="zh-CN" sz="2600" b="0" smtClean="0">
                <a:ea typeface="宋体" panose="02010600030101010101" pitchFamily="2" charset="-122"/>
              </a:rPr>
              <a:t>         	                 7  lexp_seq</a:t>
            </a:r>
            <a:r>
              <a:rPr lang="en-US" altLang="zh-CN" sz="2600" b="0" smtClean="0">
                <a:ea typeface="宋体" panose="02010600030101010101" pitchFamily="2" charset="-122"/>
                <a:sym typeface="Symbol" panose="05050102010706020507" pitchFamily="18" charset="2"/>
              </a:rPr>
              <a:t>’ → </a:t>
            </a:r>
            <a:r>
              <a:rPr lang="en-US" altLang="zh-CN" sz="2600" b="0" smtClean="0">
                <a:ea typeface="宋体" panose="02010600030101010101" pitchFamily="2" charset="-122"/>
              </a:rPr>
              <a:t>lexp  lexp_seq</a:t>
            </a:r>
            <a:r>
              <a:rPr lang="en-US" altLang="zh-CN" sz="2600" b="0" smtClean="0">
                <a:ea typeface="宋体" panose="02010600030101010101" pitchFamily="2" charset="-122"/>
                <a:sym typeface="Symbol" panose="05050102010706020507" pitchFamily="18" charset="2"/>
              </a:rPr>
              <a:t>’ </a:t>
            </a:r>
            <a:br>
              <a:rPr lang="en-US" altLang="zh-CN" sz="2600" b="0" smtClean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600" b="0" smtClean="0">
                <a:ea typeface="宋体" panose="02010600030101010101" pitchFamily="2" charset="-122"/>
                <a:sym typeface="Symbol" panose="05050102010706020507" pitchFamily="18" charset="2"/>
              </a:rPr>
              <a:t>      </a:t>
            </a:r>
            <a:r>
              <a:rPr lang="en-US" altLang="zh-CN" sz="2600" b="0" smtClean="0">
                <a:ea typeface="宋体" panose="02010600030101010101" pitchFamily="2" charset="-122"/>
              </a:rPr>
              <a:t>4  atom </a:t>
            </a:r>
            <a:r>
              <a:rPr lang="en-US" altLang="zh-CN" sz="2600" b="0" smtClean="0">
                <a:ea typeface="宋体" panose="02010600030101010101" pitchFamily="2" charset="-122"/>
                <a:sym typeface="Symbol" panose="05050102010706020507" pitchFamily="18" charset="2"/>
              </a:rPr>
              <a:t>→</a:t>
            </a:r>
            <a:r>
              <a:rPr lang="en-US" altLang="zh-CN" sz="2600" b="0" smtClean="0">
                <a:solidFill>
                  <a:schemeClr val="accent2"/>
                </a:solidFill>
                <a:ea typeface="宋体" panose="02010600030101010101" pitchFamily="2" charset="-122"/>
              </a:rPr>
              <a:t>id</a:t>
            </a:r>
            <a:r>
              <a:rPr lang="en-US" altLang="zh-CN" sz="2600" b="0" smtClean="0">
                <a:ea typeface="宋体" panose="02010600030101010101" pitchFamily="2" charset="-122"/>
              </a:rPr>
              <a:t>		</a:t>
            </a:r>
            <a:r>
              <a:rPr lang="en-US" altLang="zh-CN" sz="2600" b="0" smtClean="0">
                <a:ea typeface="宋体" panose="02010600030101010101" pitchFamily="2" charset="-122"/>
                <a:sym typeface="Symbol" panose="05050102010706020507" pitchFamily="18" charset="2"/>
              </a:rPr>
              <a:t>                 8  </a:t>
            </a:r>
            <a:r>
              <a:rPr lang="en-US" altLang="zh-CN" sz="2600" b="0" smtClean="0">
                <a:ea typeface="宋体" panose="02010600030101010101" pitchFamily="2" charset="-122"/>
              </a:rPr>
              <a:t>lexp_seq</a:t>
            </a:r>
            <a:r>
              <a:rPr lang="en-US" altLang="zh-CN" sz="2600" b="0" smtClean="0">
                <a:ea typeface="宋体" panose="02010600030101010101" pitchFamily="2" charset="-122"/>
                <a:sym typeface="Symbol" panose="05050102010706020507" pitchFamily="18" charset="2"/>
              </a:rPr>
              <a:t>’ →  </a:t>
            </a:r>
            <a:r>
              <a:rPr lang="el-GR" altLang="zh-CN" sz="2600" b="0" smtClean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ε</a:t>
            </a:r>
            <a:endParaRPr lang="zh-CN" altLang="en-US" sz="2600" b="0" smtClean="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317507" name="Group 67"/>
          <p:cNvGraphicFramePr>
            <a:graphicFrameLocks noGrp="1"/>
          </p:cNvGraphicFramePr>
          <p:nvPr>
            <p:ph idx="1"/>
          </p:nvPr>
        </p:nvGraphicFramePr>
        <p:xfrm>
          <a:off x="1281113" y="2852738"/>
          <a:ext cx="7113587" cy="2378075"/>
        </p:xfrm>
        <a:graphic>
          <a:graphicData uri="http://schemas.openxmlformats.org/drawingml/2006/table">
            <a:tbl>
              <a:tblPr/>
              <a:tblGrid>
                <a:gridCol w="131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52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3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num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lexp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atom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list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lexp_seq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lexp_seq’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00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marL="17399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marL="21971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marL="26543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marL="31115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041" name="Rectangle 58"/>
          <p:cNvSpPr>
            <a:spLocks noChangeArrowheads="1"/>
          </p:cNvSpPr>
          <p:nvPr/>
        </p:nvSpPr>
        <p:spPr bwMode="auto">
          <a:xfrm>
            <a:off x="1568450" y="5516563"/>
            <a:ext cx="6473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因为表项没有冲突 ，所以该文法是</a:t>
            </a:r>
            <a:r>
              <a:rPr lang="en-US" altLang="zh-CN">
                <a:ea typeface="宋体" panose="02010600030101010101" pitchFamily="2" charset="-122"/>
              </a:rPr>
              <a:t>LL(1)</a:t>
            </a:r>
            <a:r>
              <a:rPr lang="zh-CN" altLang="en-US">
                <a:ea typeface="宋体" panose="02010600030101010101" pitchFamily="2" charset="-122"/>
              </a:rPr>
              <a:t>文法。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8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0" dur="500"/>
                                        <p:tgtEl>
                                          <p:spTgt spid="31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5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30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620A31B-500C-4950-A396-6A6E2F322185}" type="slidenum">
              <a:rPr lang="zh-CN" altLang="en-US" sz="800"/>
              <a:pPr/>
              <a:t>41</a:t>
            </a:fld>
            <a:endParaRPr lang="en-US" altLang="zh-CN" sz="80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180513" cy="53975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A Grammar which is not LL(1) (cont.)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5925" y="692150"/>
            <a:ext cx="9145588" cy="59769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 left recursive grammar cannot be a LL(1) grammar.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A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A |    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any terminal that appears in FIRST(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)  also appears FIRST(A) because  A  .  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If  is , any terminal that appears in FIRST() also appears in FIRST(A) and FOLLOW(A).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A grammar is not left factored, it cannot be a LL(1) grammar</a:t>
            </a:r>
          </a:p>
          <a:p>
            <a:pPr lvl="1">
              <a:lnSpc>
                <a:spcPct val="90000"/>
              </a:lnSpc>
              <a:buFontTx/>
              <a:buChar char="•"/>
            </a:pPr>
            <a:r>
              <a:rPr lang="en-US" altLang="zh-CN" sz="2000" smtClean="0">
                <a:ea typeface="宋体" panose="02010600030101010101" pitchFamily="2" charset="-122"/>
              </a:rPr>
              <a:t>A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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| 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è"/>
            </a:pP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any terminal that appears in FIRST(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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) also appears in FIRST(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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).</a:t>
            </a:r>
            <a:r>
              <a:rPr lang="en-US" altLang="zh-CN" sz="2000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An ambiguous grammar cannot be a LL(1) grammar.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What do we have to do it if the resulting parsing table contains multiply defined entries?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If  we didn’t eliminate left recursion, </a:t>
            </a:r>
            <a:r>
              <a:rPr lang="en-US" altLang="zh-CN" sz="2000" smtClean="0">
                <a:solidFill>
                  <a:schemeClr val="accent1"/>
                </a:solidFill>
                <a:ea typeface="宋体" panose="02010600030101010101" pitchFamily="2" charset="-122"/>
              </a:rPr>
              <a:t>eliminate the left recursion</a:t>
            </a:r>
            <a:r>
              <a:rPr lang="en-US" altLang="zh-CN" sz="2000" smtClean="0">
                <a:ea typeface="宋体" panose="02010600030101010101" pitchFamily="2" charset="-122"/>
              </a:rPr>
              <a:t> in the grammar.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If the grammar is not left factored, we have to </a:t>
            </a:r>
            <a:r>
              <a:rPr lang="en-US" altLang="zh-CN" sz="2000" smtClean="0">
                <a:solidFill>
                  <a:schemeClr val="accent1"/>
                </a:solidFill>
                <a:ea typeface="宋体" panose="02010600030101010101" pitchFamily="2" charset="-122"/>
              </a:rPr>
              <a:t>left factor</a:t>
            </a:r>
            <a:r>
              <a:rPr lang="en-US" altLang="zh-CN" sz="2000" smtClean="0">
                <a:ea typeface="宋体" panose="02010600030101010101" pitchFamily="2" charset="-122"/>
              </a:rPr>
              <a:t> the grammar.</a:t>
            </a:r>
          </a:p>
          <a:p>
            <a:pPr lvl="1">
              <a:lnSpc>
                <a:spcPct val="90000"/>
              </a:lnSpc>
            </a:pPr>
            <a:r>
              <a:rPr lang="en-US" altLang="zh-CN" sz="2000" smtClean="0">
                <a:ea typeface="宋体" panose="02010600030101010101" pitchFamily="2" charset="-122"/>
              </a:rPr>
              <a:t>If its (new grammar’s) parsing table still contains multiply defined entries, that grammar is ambiguous or it is inherently not a LL(1) grammar.</a:t>
            </a:r>
            <a:endParaRPr lang="zh-CN" altLang="en-US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40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40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44DA1DA-A882-417E-8A5E-A8D001439B07}" type="slidenum">
              <a:rPr lang="zh-CN" altLang="en-US" sz="800"/>
              <a:pPr/>
              <a:t>42</a:t>
            </a:fld>
            <a:endParaRPr lang="en-US" altLang="zh-CN" sz="80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Error Recovery in Predictive Parsing</a:t>
            </a: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An error may occur in the predictive parsing (LL(1) parsing)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if the terminal symbol on the top of stack does not match with       the current input symbol.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if the top of stack is a non-terminal A, the current input symbol is a, and the parsing table entry M[A,a] is empty.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What should the parser do in an error case?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The parser should be able to give an error message (as much as possible meaningful error message).</a:t>
            </a:r>
          </a:p>
          <a:p>
            <a:pPr lvl="1"/>
            <a:r>
              <a:rPr lang="en-US" altLang="zh-CN" sz="2400" smtClean="0">
                <a:ea typeface="宋体" panose="02010600030101010101" pitchFamily="2" charset="-122"/>
              </a:rPr>
              <a:t>It should be recover from that error case, and it should be able         to continue the parsing with the rest of the input.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50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50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259FFE-ACEC-4FEE-88E7-6480364AFC09}" type="slidenum">
              <a:rPr lang="zh-CN" altLang="en-US" sz="800"/>
              <a:pPr/>
              <a:t>43</a:t>
            </a:fld>
            <a:endParaRPr lang="en-US" altLang="zh-CN" sz="80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Error Recovery Techniques</a:t>
            </a:r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9372600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Panic-Mode Error Recovery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Skipping the input symbols until a synchronizing token is found.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Phrase-Level Error Recovery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Each empty entry in the parsing table is filled with a pointer to a specific error routine to take care that error case. 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Error-Productions </a:t>
            </a:r>
            <a:r>
              <a:rPr lang="en-US" altLang="zh-CN" sz="1800" smtClean="0">
                <a:ea typeface="宋体" panose="02010600030101010101" pitchFamily="2" charset="-122"/>
              </a:rPr>
              <a:t>(used in GCC etc.)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If we have a good idea of the common errors that might be encountered, we can augment the grammar with productions that generate erroneous constructs. 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When an error production is used by the parser, we can generate appropriate error diagnostics.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Since it is almost impossible to know all the errors that can be made by the programmers, this  method is not practical.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Global-Correction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Ideally, we would like a compiler to make as few change as possible in processing incorrect inputs. 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We have to globally analyze the input to find the error.</a:t>
            </a:r>
          </a:p>
          <a:p>
            <a:pPr lvl="1"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This is an expensive method, and it is not in practice.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608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24DEE1B-8F55-4C61-A1AC-7A8F016E5866}" type="slidenum">
              <a:rPr lang="zh-CN" altLang="en-US" sz="800"/>
              <a:pPr/>
              <a:t>44</a:t>
            </a:fld>
            <a:endParaRPr lang="en-US" altLang="zh-CN" sz="800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Panic-Mode Error Recovery in LL(1) Parsing</a:t>
            </a: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In panic-mode error recovery, we skip all the input symbols until a synchronizing token is found.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What is the synchronizing token?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All the terminal-symbols in the follow set of a non-terminal can be used as a synchronizing token set for that non-terminal.</a:t>
            </a:r>
          </a:p>
          <a:p>
            <a:r>
              <a:rPr lang="zh-CN" altLang="en-US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So, a simple panic-mode error recovery for the LL(1) parsing: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All the empty entries are marked as </a:t>
            </a:r>
            <a:r>
              <a:rPr lang="en-US" altLang="zh-CN" b="1" i="1" smtClean="0">
                <a:ea typeface="宋体" panose="02010600030101010101" pitchFamily="2" charset="-122"/>
              </a:rPr>
              <a:t>synch</a:t>
            </a:r>
            <a:r>
              <a:rPr lang="en-US" altLang="zh-CN" smtClean="0">
                <a:ea typeface="宋体" panose="02010600030101010101" pitchFamily="2" charset="-122"/>
              </a:rPr>
              <a:t> to indicate that the parser will skip all the input symbols until a symbol in the follow set of the non-terminal A which on the top of the stack. Then the parser will pop that non-terminal A from the stack. The parsing continues from that state.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To handle unmatched terminal symbols, the parser pops that unmatched terminal symbol from the stack and it issues an error message saying that that unmatched terminal is inserted.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710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710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F7D951-6CFA-4800-9B3E-F08BC48B1F2E}" type="slidenum">
              <a:rPr lang="zh-CN" altLang="en-US" sz="800"/>
              <a:pPr/>
              <a:t>45</a:t>
            </a:fld>
            <a:endParaRPr lang="en-US" altLang="zh-CN" sz="80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Panic-Mode Error Recovery - Example</a:t>
            </a:r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S 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 A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S  | 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| 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 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  |  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0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9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FOLLOW(S)={$}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FOLLOW(A)={b,d}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00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 u="sng" smtClean="0">
                <a:ea typeface="宋体" panose="02010600030101010101" pitchFamily="2" charset="-122"/>
                <a:sym typeface="Symbol" panose="05050102010706020507" pitchFamily="18" charset="2"/>
              </a:rPr>
              <a:t>stack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 b="1" u="sng" smtClean="0">
                <a:ea typeface="宋体" panose="02010600030101010101" pitchFamily="2" charset="-122"/>
                <a:sym typeface="Symbol" panose="05050102010706020507" pitchFamily="18" charset="2"/>
              </a:rPr>
              <a:t>input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 b="1" u="sng" smtClean="0">
                <a:ea typeface="宋体" panose="02010600030101010101" pitchFamily="2" charset="-122"/>
                <a:sym typeface="Symbol" panose="05050102010706020507" pitchFamily="18" charset="2"/>
              </a:rPr>
              <a:t>output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	</a:t>
            </a:r>
            <a:r>
              <a:rPr lang="en-US" altLang="zh-CN" sz="1800" b="1" u="sng" smtClean="0">
                <a:ea typeface="宋体" panose="02010600030101010101" pitchFamily="2" charset="-122"/>
                <a:sym typeface="Symbol" panose="05050102010706020507" pitchFamily="18" charset="2"/>
              </a:rPr>
              <a:t>stack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 b="1" u="sng" smtClean="0">
                <a:ea typeface="宋体" panose="02010600030101010101" pitchFamily="2" charset="-122"/>
                <a:sym typeface="Symbol" panose="05050102010706020507" pitchFamily="18" charset="2"/>
              </a:rPr>
              <a:t>input</a:t>
            </a:r>
            <a:r>
              <a:rPr lang="en-US" altLang="zh-CN" sz="1800" b="1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z="1800" b="1" u="sng" smtClean="0">
                <a:ea typeface="宋体" panose="02010600030101010101" pitchFamily="2" charset="-122"/>
                <a:sym typeface="Symbol" panose="05050102010706020507" pitchFamily="18" charset="2"/>
              </a:rPr>
              <a:t>output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$S		aab$	</a:t>
            </a:r>
            <a:r>
              <a:rPr lang="en-US" altLang="zh-CN" sz="1800" smtClean="0">
                <a:ea typeface="宋体" panose="02010600030101010101" pitchFamily="2" charset="-122"/>
              </a:rPr>
              <a:t>S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A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S			$S	ceadb$	 </a:t>
            </a:r>
            <a:r>
              <a:rPr lang="en-US" altLang="zh-CN" sz="1800" smtClean="0">
                <a:ea typeface="宋体" panose="02010600030101010101" pitchFamily="2" charset="-122"/>
              </a:rPr>
              <a:t>S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A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$SbA	aab$	A 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a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 			$SbA	ceadb$	 A  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$Sba	aab$				$SbdAc	ceadb$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$Sb	ab$	Error: missing b, inserted	$SbdA	eadb$	Error:unexpected e (illegal A)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$S		ab$	</a:t>
            </a:r>
            <a:r>
              <a:rPr lang="en-US" altLang="zh-CN" sz="1800" smtClean="0">
                <a:ea typeface="宋体" panose="02010600030101010101" pitchFamily="2" charset="-122"/>
              </a:rPr>
              <a:t>S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A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S			(Remove all input tokens until first b or d, pop A)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$SbA	ab$	A </a:t>
            </a:r>
            <a:r>
              <a:rPr lang="en-US" altLang="zh-CN" sz="1800" smtClean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a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			$Sbd	db$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$Sba	ab$				$Sb	b$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$Sb	b$				$S	$	 </a:t>
            </a:r>
            <a:r>
              <a:rPr lang="en-US" altLang="zh-CN" sz="1800" smtClean="0">
                <a:ea typeface="宋体" panose="02010600030101010101" pitchFamily="2" charset="-122"/>
              </a:rPr>
              <a:t>S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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$S		$	</a:t>
            </a:r>
            <a:r>
              <a:rPr lang="en-US" altLang="zh-CN" sz="1800" smtClean="0">
                <a:ea typeface="宋体" panose="02010600030101010101" pitchFamily="2" charset="-122"/>
              </a:rPr>
              <a:t>S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  			$	$	accept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$		$	accept	</a:t>
            </a:r>
          </a:p>
        </p:txBody>
      </p:sp>
      <p:graphicFrame>
        <p:nvGraphicFramePr>
          <p:cNvPr id="291939" name="Group 99"/>
          <p:cNvGraphicFramePr>
            <a:graphicFrameLocks noGrp="1"/>
          </p:cNvGraphicFramePr>
          <p:nvPr/>
        </p:nvGraphicFramePr>
        <p:xfrm>
          <a:off x="3124200" y="1066800"/>
          <a:ext cx="6019800" cy="1189038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3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$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A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b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S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A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b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S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e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 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A 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a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A  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c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A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d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sync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145" name="Line 93"/>
          <p:cNvSpPr>
            <a:spLocks noChangeShapeType="1"/>
          </p:cNvSpPr>
          <p:nvPr/>
        </p:nvSpPr>
        <p:spPr bwMode="auto">
          <a:xfrm>
            <a:off x="4724400" y="289560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46" name="Line 94"/>
          <p:cNvSpPr>
            <a:spLocks noChangeShapeType="1"/>
          </p:cNvSpPr>
          <p:nvPr/>
        </p:nvSpPr>
        <p:spPr bwMode="auto">
          <a:xfrm>
            <a:off x="4800600" y="289560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813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813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F0B5566-24C7-489C-89A6-BB1FFF28E82D}" type="slidenum">
              <a:rPr lang="zh-CN" altLang="en-US" sz="800"/>
              <a:pPr/>
              <a:t>46</a:t>
            </a:fld>
            <a:endParaRPr lang="en-US" altLang="zh-CN" sz="80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Phrase-Level Error Recovery</a:t>
            </a: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Each empty entry in the parsing table is  filled with a pointer to a special error routine which will take care that error case.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These error routines may: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change, insert, or delete input symbols.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issue appropriate error messages</a:t>
            </a:r>
          </a:p>
          <a:p>
            <a:pPr lvl="1"/>
            <a:r>
              <a:rPr lang="en-US" altLang="zh-CN" smtClean="0">
                <a:ea typeface="宋体" panose="02010600030101010101" pitchFamily="2" charset="-122"/>
              </a:rPr>
              <a:t>pop items from the stack.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We should be careful when we design these error routines, because we may put the parser into an infinite loop.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915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915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5B67F0-3138-41E0-BFF3-78C36D235678}" type="slidenum">
              <a:rPr lang="zh-CN" altLang="en-US" sz="800"/>
              <a:pPr/>
              <a:t>47</a:t>
            </a:fld>
            <a:endParaRPr lang="en-US" altLang="zh-CN" sz="800"/>
          </a:p>
        </p:txBody>
      </p:sp>
      <p:sp>
        <p:nvSpPr>
          <p:cNvPr id="49157" name="Rectangle 4"/>
          <p:cNvSpPr>
            <a:spLocks noGrp="1" noChangeArrowheads="1"/>
          </p:cNvSpPr>
          <p:nvPr>
            <p:ph type="title"/>
          </p:nvPr>
        </p:nvSpPr>
        <p:spPr>
          <a:xfrm>
            <a:off x="1081088" y="-26988"/>
            <a:ext cx="8062912" cy="1111251"/>
          </a:xfrm>
          <a:noFill/>
        </p:spPr>
        <p:txBody>
          <a:bodyPr lIns="92075" tIns="46038" rIns="92075" bIns="46038"/>
          <a:lstStyle/>
          <a:p>
            <a:r>
              <a:rPr lang="en-US" altLang="zh-CN" smtClean="0">
                <a:ea typeface="宋体" panose="02010600030101010101" pitchFamily="2" charset="-122"/>
              </a:rPr>
              <a:t>Final Comments – Top-Down Parsing</a:t>
            </a:r>
          </a:p>
        </p:txBody>
      </p:sp>
      <p:sp>
        <p:nvSpPr>
          <p:cNvPr id="49158" name="Text Box 5"/>
          <p:cNvSpPr txBox="1">
            <a:spLocks noChangeArrowheads="1"/>
          </p:cNvSpPr>
          <p:nvPr/>
        </p:nvSpPr>
        <p:spPr bwMode="auto">
          <a:xfrm>
            <a:off x="849313" y="1196975"/>
            <a:ext cx="8567737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So far,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We’ve examined grammars and language theory and its relationship to parsing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Key concepts: Rewriting grammar into an acceptable form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Examined Top-Down parsing: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    Brute Force :  Transition diagrams &amp; recursion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    Elegant :  Table driven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We’ve identified its shortcomings: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    </a:t>
            </a:r>
            <a:r>
              <a:rPr lang="en-US" altLang="zh-CN" b="1">
                <a:ea typeface="宋体" panose="02010600030101010101" pitchFamily="2" charset="-122"/>
              </a:rPr>
              <a:t>Not all grammars can be made LL(1) 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 Bottom-Up Parsing - Future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5017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5018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F8A657B-5ECE-4794-B6A2-0B7186A482AE}" type="slidenum">
              <a:rPr lang="zh-CN" altLang="en-US" sz="800"/>
              <a:pPr/>
              <a:t>48</a:t>
            </a:fld>
            <a:endParaRPr lang="en-US" altLang="zh-CN" sz="800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小结</a:t>
            </a:r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09075" cy="3433763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理解递归下降的语法分析方法</a:t>
            </a:r>
          </a:p>
          <a:p>
            <a:r>
              <a:rPr lang="zh-CN" altLang="en-US" smtClean="0">
                <a:ea typeface="宋体" panose="02010600030101010101" pitchFamily="2" charset="-122"/>
              </a:rPr>
              <a:t>理解递归可预测的语法分析方法</a:t>
            </a:r>
          </a:p>
          <a:p>
            <a:r>
              <a:rPr lang="zh-CN" altLang="en-US" smtClean="0">
                <a:ea typeface="宋体" panose="02010600030101010101" pitchFamily="2" charset="-122"/>
              </a:rPr>
              <a:t>掌握非递归可预测的语法分析方法，即</a:t>
            </a:r>
            <a:r>
              <a:rPr lang="en-US" altLang="zh-CN" smtClean="0">
                <a:ea typeface="宋体" panose="02010600030101010101" pitchFamily="2" charset="-122"/>
              </a:rPr>
              <a:t>LL(1)</a:t>
            </a:r>
            <a:r>
              <a:rPr lang="zh-CN" altLang="en-US" smtClean="0">
                <a:ea typeface="宋体" panose="02010600030101010101" pitchFamily="2" charset="-122"/>
              </a:rPr>
              <a:t>语法分析法</a:t>
            </a:r>
          </a:p>
          <a:p>
            <a:r>
              <a:rPr lang="zh-CN" altLang="en-US" smtClean="0">
                <a:ea typeface="宋体" panose="02010600030101010101" pitchFamily="2" charset="-122"/>
              </a:rPr>
              <a:t>掌握计算</a:t>
            </a:r>
            <a:r>
              <a:rPr lang="en-US" altLang="zh-CN" smtClean="0">
                <a:ea typeface="宋体" panose="02010600030101010101" pitchFamily="2" charset="-122"/>
              </a:rPr>
              <a:t>FIRST </a:t>
            </a:r>
            <a:r>
              <a:rPr lang="zh-CN" altLang="en-US" smtClean="0">
                <a:ea typeface="宋体" panose="02010600030101010101" pitchFamily="2" charset="-122"/>
              </a:rPr>
              <a:t>和</a:t>
            </a:r>
            <a:r>
              <a:rPr lang="en-US" altLang="zh-CN" smtClean="0">
                <a:ea typeface="宋体" panose="02010600030101010101" pitchFamily="2" charset="-122"/>
              </a:rPr>
              <a:t>FOLLOW</a:t>
            </a:r>
            <a:r>
              <a:rPr lang="zh-CN" altLang="en-US" smtClean="0">
                <a:ea typeface="宋体" panose="02010600030101010101" pitchFamily="2" charset="-122"/>
              </a:rPr>
              <a:t>的算法</a:t>
            </a:r>
          </a:p>
          <a:p>
            <a:r>
              <a:rPr lang="zh-CN" altLang="en-US" smtClean="0">
                <a:ea typeface="宋体" panose="02010600030101010101" pitchFamily="2" charset="-122"/>
              </a:rPr>
              <a:t>掌握</a:t>
            </a:r>
            <a:r>
              <a:rPr lang="en-US" altLang="zh-CN" smtClean="0">
                <a:ea typeface="宋体" panose="02010600030101010101" pitchFamily="2" charset="-122"/>
              </a:rPr>
              <a:t>LL(1)</a:t>
            </a:r>
            <a:r>
              <a:rPr lang="zh-CN" altLang="en-US" smtClean="0">
                <a:ea typeface="宋体" panose="02010600030101010101" pitchFamily="2" charset="-122"/>
              </a:rPr>
              <a:t>语法分析表的构造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17871</TotalTime>
  <Words>4108</Words>
  <Application>Microsoft Office PowerPoint</Application>
  <PresentationFormat>A4 纸张(210x297 毫米)</PresentationFormat>
  <Paragraphs>866</Paragraphs>
  <Slides>48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5" baseType="lpstr">
      <vt:lpstr>Times New Roman</vt:lpstr>
      <vt:lpstr>Arial</vt:lpstr>
      <vt:lpstr>宋体</vt:lpstr>
      <vt:lpstr>Symbol</vt:lpstr>
      <vt:lpstr>Wingdings</vt:lpstr>
      <vt:lpstr>Courier New</vt:lpstr>
      <vt:lpstr>Default Design</vt:lpstr>
      <vt:lpstr>Exercises</vt:lpstr>
      <vt:lpstr>Top-Down Parsing (自底向下语法分析)(P.181)</vt:lpstr>
      <vt:lpstr>Recursive-Descent Parsing (uses Backtracking)</vt:lpstr>
      <vt:lpstr>Predictive Parser (P.182)</vt:lpstr>
      <vt:lpstr>Predictive Parser (example)</vt:lpstr>
      <vt:lpstr>Recursive Predictive Parsing</vt:lpstr>
      <vt:lpstr>Recursive Predictive Parsing (cont.)</vt:lpstr>
      <vt:lpstr>Recursive Predictive Parsing (cont.)</vt:lpstr>
      <vt:lpstr>Recursive Predictive Parsing (Example)</vt:lpstr>
      <vt:lpstr>Non-Recursive Predictive Parsing -- LL(1) Parser (P.186)</vt:lpstr>
      <vt:lpstr>LL(1) Parser</vt:lpstr>
      <vt:lpstr>Non-Recursive / Table Driven</vt:lpstr>
      <vt:lpstr>Algorithm for Non-Recursive Parsing</vt:lpstr>
      <vt:lpstr>LL(1) Parser – Example1</vt:lpstr>
      <vt:lpstr>LL(1) Parser – Example1 (cont.)</vt:lpstr>
      <vt:lpstr>LL(1) Parser – Example2 (P.188)</vt:lpstr>
      <vt:lpstr>LL(1) Parser – Example2</vt:lpstr>
      <vt:lpstr>Leftmost Derivation for the Example</vt:lpstr>
      <vt:lpstr>Constructing LL(1) Parsing Tables</vt:lpstr>
      <vt:lpstr>Compute FIRST for Any String X (P.189)</vt:lpstr>
      <vt:lpstr>Computing FIRST(X) :  All Grammar Symbols - continued</vt:lpstr>
      <vt:lpstr>FIRST Example (P.189)</vt:lpstr>
      <vt:lpstr>Alternative way to compute FIRST</vt:lpstr>
      <vt:lpstr>Compute FOLLOW (for non-terminals) (P.189)</vt:lpstr>
      <vt:lpstr>The Algorithm for FOLLOW – pseudocode</vt:lpstr>
      <vt:lpstr>FOLLOW Example (P.189)</vt:lpstr>
      <vt:lpstr>Motivation Behind FIRST &amp; FOLLOW</vt:lpstr>
      <vt:lpstr>Exercises</vt:lpstr>
      <vt:lpstr>PowerPoint 演示文稿</vt:lpstr>
      <vt:lpstr>Constructing LL(1) Parsing Table (P.190)</vt:lpstr>
      <vt:lpstr>Constructing LL(1) Parsing Table -- Example</vt:lpstr>
      <vt:lpstr>Constructing LL(1) Parsing Table (cont.)</vt:lpstr>
      <vt:lpstr>LL(1) Grammars (P.191)</vt:lpstr>
      <vt:lpstr>PowerPoint 演示文稿</vt:lpstr>
      <vt:lpstr>Properties of LL(1) Grammars</vt:lpstr>
      <vt:lpstr>A Grammar which is not LL(1) (P.191)</vt:lpstr>
      <vt:lpstr>Exercise in class</vt:lpstr>
      <vt:lpstr>消除左递归</vt:lpstr>
      <vt:lpstr>PowerPoint 演示文稿</vt:lpstr>
      <vt:lpstr>      1  lexp → atom                               5  list → ( lexp_seq )                                                             2  lexp → list                                  6  lexp_seq → lexp  lexp_seq’        3  atom →num                           7  lexp_seq’ → lexp  lexp_seq’        4  atom →id                   8  lexp_seq’ →  ε</vt:lpstr>
      <vt:lpstr>A Grammar which is not LL(1) (cont.)</vt:lpstr>
      <vt:lpstr>Error Recovery in Predictive Parsing</vt:lpstr>
      <vt:lpstr>Error Recovery Techniques</vt:lpstr>
      <vt:lpstr>Panic-Mode Error Recovery in LL(1) Parsing</vt:lpstr>
      <vt:lpstr>Panic-Mode Error Recovery - Example</vt:lpstr>
      <vt:lpstr>Phrase-Level Error Recovery</vt:lpstr>
      <vt:lpstr>Final Comments – Top-Down Parsing</vt:lpstr>
      <vt:lpstr>小结</vt:lpstr>
    </vt:vector>
  </TitlesOfParts>
  <Company>Bilkent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CS416 Compiler Design</dc:title>
  <dc:creator>Ilyas Cicekli</dc:creator>
  <cp:lastModifiedBy>Exin Y</cp:lastModifiedBy>
  <cp:revision>291</cp:revision>
  <cp:lastPrinted>1999-09-09T03:15:50Z</cp:lastPrinted>
  <dcterms:created xsi:type="dcterms:W3CDTF">1999-01-20T19:57:44Z</dcterms:created>
  <dcterms:modified xsi:type="dcterms:W3CDTF">2015-10-07T09:28:04Z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radev@cs.columbia.edu</vt:lpwstr>
  </property>
  <property fmtid="{D5CDD505-2E9C-101B-9397-08002B2CF9AE}" pid="8" name="HomePage">
    <vt:lpwstr>http://www.cs.columbia.edu/~radev/cs4705/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F:\html\cs4705</vt:lpwstr>
  </property>
</Properties>
</file>