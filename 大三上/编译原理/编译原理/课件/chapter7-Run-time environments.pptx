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91" r:id="rId2"/>
    <p:sldId id="292" r:id="rId3"/>
    <p:sldId id="256" r:id="rId4"/>
    <p:sldId id="263" r:id="rId5"/>
    <p:sldId id="294" r:id="rId6"/>
    <p:sldId id="257" r:id="rId7"/>
    <p:sldId id="295" r:id="rId8"/>
    <p:sldId id="297" r:id="rId9"/>
    <p:sldId id="282" r:id="rId10"/>
    <p:sldId id="299" r:id="rId11"/>
    <p:sldId id="300" r:id="rId12"/>
    <p:sldId id="258" r:id="rId13"/>
    <p:sldId id="260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2" r:id="rId24"/>
    <p:sldId id="280" r:id="rId25"/>
    <p:sldId id="283" r:id="rId26"/>
    <p:sldId id="261" r:id="rId27"/>
    <p:sldId id="262" r:id="rId28"/>
    <p:sldId id="264" r:id="rId29"/>
    <p:sldId id="265" r:id="rId30"/>
    <p:sldId id="269" r:id="rId31"/>
    <p:sldId id="272" r:id="rId32"/>
    <p:sldId id="273" r:id="rId33"/>
    <p:sldId id="274" r:id="rId34"/>
    <p:sldId id="275" r:id="rId35"/>
    <p:sldId id="276" r:id="rId36"/>
    <p:sldId id="277" r:id="rId37"/>
    <p:sldId id="286" r:id="rId38"/>
    <p:sldId id="287" r:id="rId39"/>
    <p:sldId id="289" r:id="rId40"/>
    <p:sldId id="284" r:id="rId41"/>
    <p:sldId id="313" r:id="rId4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957" autoAdjust="0"/>
  </p:normalViewPr>
  <p:slideViewPr>
    <p:cSldViewPr>
      <p:cViewPr varScale="1">
        <p:scale>
          <a:sx n="81" d="100"/>
          <a:sy n="81" d="100"/>
        </p:scale>
        <p:origin x="11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1D3B23B-4C73-4A19-9AD9-5965D5FCF3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2E44F-FC5E-4D0A-81A9-85C43A7E67F9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915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85C93-84CC-4985-A4DC-A291416DD6A0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17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Activation tree depicts the way control enters and leaves activations.</a:t>
            </a:r>
          </a:p>
          <a:p>
            <a:r>
              <a:rPr lang="en-US" altLang="zh-CN"/>
              <a:t> invocation (</a:t>
            </a:r>
            <a:r>
              <a:rPr lang="zh-CN" altLang="en-US"/>
              <a:t>法规、条文等的</a:t>
            </a:r>
            <a:r>
              <a:rPr lang="en-US" altLang="zh-CN"/>
              <a:t>)</a:t>
            </a:r>
            <a:r>
              <a:rPr lang="zh-CN" altLang="en-US"/>
              <a:t>援引</a:t>
            </a:r>
            <a:r>
              <a:rPr lang="en-US" altLang="zh-CN"/>
              <a:t>;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AFB235-5D21-440B-8657-1F382EBE3C67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78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Reinstate </a:t>
            </a:r>
            <a:r>
              <a:rPr lang="zh-CN" altLang="en-US"/>
              <a:t>恢复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89C122-C3B8-4FD8-B4FF-1D9F998ABF51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89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1)</a:t>
            </a:r>
            <a:r>
              <a:rPr lang="en-US" altLang="zh-CN" b="1"/>
              <a:t> </a:t>
            </a:r>
            <a:r>
              <a:rPr lang="zh-CN" altLang="en-US" b="1"/>
              <a:t>值传递</a:t>
            </a:r>
            <a:r>
              <a:rPr lang="en-US" altLang="zh-CN" b="1"/>
              <a:t>call-by-value</a:t>
            </a:r>
            <a:r>
              <a:rPr lang="zh-CN" altLang="en-US"/>
              <a:t>：最为常用。编译器将实参的计算值传递给形参。</a:t>
            </a:r>
          </a:p>
          <a:p>
            <a:r>
              <a:rPr lang="en-US" altLang="zh-CN"/>
              <a:t>2) </a:t>
            </a:r>
            <a:r>
              <a:rPr lang="zh-CN" altLang="en-US" b="1"/>
              <a:t>引用传递</a:t>
            </a:r>
            <a:r>
              <a:rPr lang="en-US" altLang="zh-CN" b="1"/>
              <a:t>call-by-reference</a:t>
            </a:r>
            <a:r>
              <a:rPr lang="zh-CN" altLang="en-US"/>
              <a:t>：常用。编译器将实参的地址传递给形参。</a:t>
            </a:r>
          </a:p>
          <a:p>
            <a:r>
              <a:rPr lang="en-US" altLang="zh-CN"/>
              <a:t>3) </a:t>
            </a:r>
            <a:r>
              <a:rPr lang="zh-CN" altLang="en-US" b="1"/>
              <a:t>值结果传递</a:t>
            </a:r>
            <a:r>
              <a:rPr lang="en-US" altLang="zh-CN" b="1"/>
              <a:t>copy-restore, value-result</a:t>
            </a:r>
            <a:r>
              <a:rPr lang="zh-CN" altLang="en-US"/>
              <a:t>：不常用。编译器在调用过程时将实参的值传递给形参，而在返回时将形参的值再传回给实参。</a:t>
            </a:r>
          </a:p>
          <a:p>
            <a:r>
              <a:rPr lang="en-US" altLang="zh-CN"/>
              <a:t>4) </a:t>
            </a:r>
            <a:r>
              <a:rPr lang="zh-CN" altLang="en-US" b="1"/>
              <a:t>名字传递</a:t>
            </a:r>
            <a:r>
              <a:rPr lang="en-US" altLang="zh-CN" b="1"/>
              <a:t>call-by-name</a:t>
            </a:r>
            <a:r>
              <a:rPr lang="zh-CN" altLang="en-US"/>
              <a:t>：少用。编译器在调用过程时并不马上建立形参与实参的联系，而只有在被调用过程中使用到形参时才动态地建立起与实参的联系。而且这种联系即不是传值，也不是传地址，而是类似于“宏替换”一样的对形参进行形式上的整体替换。它可能产生意想不到的结果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F4AEC0-5F48-4F01-BBEE-819AF8647D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7487663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FB617-2B5F-401D-ABA8-636F3C7D2F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798468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EB83C-9482-411B-A5F7-EEB386E38C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993810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977863-427A-42F5-8B68-B9BF80FFBC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6915164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A5518-2D69-4249-BD15-CFBE7AC23A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649405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5452E-58BB-4FB9-AAE4-4C80C0ED3F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632840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6F0751-B2F4-427E-8E50-EA09879D3F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099627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5C249-2617-4D70-AB65-65F57E5507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105402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9758A0-56C6-4087-90EB-4391621907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6576314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3F7B8-45AD-4238-B951-74861E214D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6863126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BA76F-B4E7-4DB9-8B6E-31D3444EDA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354765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08725"/>
            <a:ext cx="21336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87675" y="6308725"/>
            <a:ext cx="3816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/>
            </a:lvl1pPr>
          </a:lstStyle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51725" y="6316663"/>
            <a:ext cx="1235075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7232917D-EEDB-4553-B5A8-4F5DEE67D76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FFA5-C181-42B8-B8FE-9504F580F597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Run-Time Environments (P.389)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How do we allocate the space for the generated target code and the data object of our source programs?</a:t>
            </a:r>
          </a:p>
          <a:p>
            <a:r>
              <a:rPr lang="en-US" altLang="zh-CN" sz="2000"/>
              <a:t>The places  of the data objects that can be determined at compile time will be </a:t>
            </a:r>
            <a:r>
              <a:rPr lang="en-US" altLang="zh-CN" sz="2000" i="1"/>
              <a:t>allocated statically</a:t>
            </a:r>
            <a:r>
              <a:rPr lang="en-US" altLang="zh-CN" sz="2000"/>
              <a:t>.</a:t>
            </a:r>
          </a:p>
          <a:p>
            <a:r>
              <a:rPr lang="en-US" altLang="zh-CN" sz="2000"/>
              <a:t>But the places for the some of data objects will be </a:t>
            </a:r>
            <a:r>
              <a:rPr lang="en-US" altLang="zh-CN" sz="2000" i="1"/>
              <a:t>allocated at run-time</a:t>
            </a:r>
            <a:r>
              <a:rPr lang="en-US" altLang="zh-CN" sz="2000"/>
              <a:t>.</a:t>
            </a:r>
          </a:p>
          <a:p>
            <a:r>
              <a:rPr lang="en-US" altLang="zh-CN" sz="2000"/>
              <a:t>The allocation of de-allocation of the data objects is managed by the </a:t>
            </a:r>
            <a:r>
              <a:rPr lang="en-US" altLang="zh-CN" sz="2000" i="1"/>
              <a:t>run-time support package</a:t>
            </a:r>
            <a:r>
              <a:rPr lang="en-US" altLang="zh-CN" sz="2000"/>
              <a:t>.</a:t>
            </a:r>
          </a:p>
          <a:p>
            <a:pPr lvl="1"/>
            <a:r>
              <a:rPr lang="en-US" altLang="zh-CN" sz="2000"/>
              <a:t>run-time support package is loaded together with the generate target code.</a:t>
            </a:r>
          </a:p>
          <a:p>
            <a:pPr lvl="1"/>
            <a:r>
              <a:rPr lang="en-US" altLang="zh-CN" sz="2000"/>
              <a:t>the structure of the run-time support package depends on the semantics of the programming language (especially the semantics of procedures in that language).</a:t>
            </a:r>
            <a:endParaRPr lang="en-US" altLang="zh-CN" sz="1800"/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EACB5-1BD0-44FA-8670-6AE726278224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Procedure Activations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An execution of a procedure starts at the beginning of the procedure body.</a:t>
            </a:r>
          </a:p>
          <a:p>
            <a:r>
              <a:rPr lang="en-US" altLang="zh-CN" sz="2000"/>
              <a:t>When the procedure is completed, it returns the control to the point immediately after the place where that procedure is called.</a:t>
            </a:r>
          </a:p>
          <a:p>
            <a:r>
              <a:rPr lang="en-US" altLang="zh-CN" sz="2000"/>
              <a:t>Each execution of a procedure is called as its </a:t>
            </a:r>
            <a:r>
              <a:rPr lang="en-US" altLang="zh-CN" sz="2000" b="1" i="1"/>
              <a:t>activation</a:t>
            </a:r>
            <a:r>
              <a:rPr lang="en-US" altLang="zh-CN" sz="2000"/>
              <a:t>.</a:t>
            </a:r>
          </a:p>
          <a:p>
            <a:r>
              <a:rPr lang="en-US" altLang="zh-CN" sz="2000" b="1" i="1"/>
              <a:t>Lifetime</a:t>
            </a:r>
            <a:r>
              <a:rPr lang="en-US" altLang="zh-CN" sz="2000" b="1"/>
              <a:t> </a:t>
            </a:r>
            <a:r>
              <a:rPr lang="en-US" altLang="zh-CN" sz="2000"/>
              <a:t>of an activation of a procedure is the sequence of the steps between the first and the last steps in the execution of that procedure  (including the other procedures called by that procedure).</a:t>
            </a:r>
          </a:p>
          <a:p>
            <a:r>
              <a:rPr lang="en-US" altLang="zh-CN" sz="2000"/>
              <a:t>If a and b are procedure activations, then their lifetimes are either non-overlapping or are nested.</a:t>
            </a:r>
          </a:p>
          <a:p>
            <a:r>
              <a:rPr lang="en-US" altLang="zh-CN" sz="2000"/>
              <a:t>If a procedure is recursive,  a new activation can begin before an earlier activation of the same procedure has ended.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A9B0-A55B-46B3-89FB-493EE1376E7E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Cont.</a:t>
            </a: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3989388"/>
          </a:xfrm>
        </p:spPr>
        <p:txBody>
          <a:bodyPr/>
          <a:lstStyle/>
          <a:p>
            <a:r>
              <a:rPr lang="en-US" altLang="zh-CN" sz="2800"/>
              <a:t>Activation or liveness analysis is used for variables</a:t>
            </a:r>
          </a:p>
          <a:p>
            <a:r>
              <a:rPr lang="en-US" altLang="zh-CN" sz="2800"/>
              <a:t>Functions or procedures have more complex activation behaviour</a:t>
            </a:r>
          </a:p>
          <a:p>
            <a:r>
              <a:rPr lang="en-US" altLang="zh-CN" sz="2800"/>
              <a:t>Problem: functions can be recursive</a:t>
            </a:r>
          </a:p>
          <a:p>
            <a:pPr lvl="1"/>
            <a:r>
              <a:rPr lang="en-US" altLang="zh-CN" sz="2400"/>
              <a:t>This means each function activation has to keep it’s locals and parameters distinct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734D-56C8-4779-AC0F-7D563341ED89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Activation Trees (P.391)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4421188"/>
          </a:xfrm>
        </p:spPr>
        <p:txBody>
          <a:bodyPr/>
          <a:lstStyle/>
          <a:p>
            <a:r>
              <a:rPr lang="en-US" altLang="zh-CN" sz="2800"/>
              <a:t>An activation of a function is a particular invocation of that function</a:t>
            </a:r>
          </a:p>
          <a:p>
            <a:r>
              <a:rPr lang="en-US" altLang="zh-CN" sz="2800"/>
              <a:t>Each activation will have particular values for the function parameters</a:t>
            </a:r>
          </a:p>
          <a:p>
            <a:r>
              <a:rPr lang="en-US" altLang="zh-CN" sz="2800"/>
              <a:t>Each activation can call another activation before it becomes inactive</a:t>
            </a:r>
          </a:p>
          <a:p>
            <a:r>
              <a:rPr lang="en-US" altLang="zh-CN" sz="2800"/>
              <a:t>The sequence of function calls can be represented as an </a:t>
            </a:r>
            <a:r>
              <a:rPr lang="en-US" altLang="zh-CN" sz="2800" b="1" i="1"/>
              <a:t>activation tree</a:t>
            </a:r>
            <a:endParaRPr lang="en-US" altLang="zh-CN" sz="2800" b="1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5D17-76DE-44CA-8B92-AF6B91A23F74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en-US" altLang="zh-CN"/>
              <a:t>Activation Tree (cont.)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r>
              <a:rPr lang="en-US" altLang="zh-CN" sz="2400"/>
              <a:t>We can use a tree (called </a:t>
            </a:r>
            <a:r>
              <a:rPr lang="en-US" altLang="zh-CN" sz="2400" b="1"/>
              <a:t>activation tree</a:t>
            </a:r>
            <a:r>
              <a:rPr lang="en-US" altLang="zh-CN" sz="2400"/>
              <a:t>) to show the way control enters and leaves activations.</a:t>
            </a:r>
          </a:p>
          <a:p>
            <a:endParaRPr lang="en-US" altLang="zh-CN" sz="2400"/>
          </a:p>
          <a:p>
            <a:r>
              <a:rPr lang="en-US" altLang="zh-CN" sz="2400"/>
              <a:t>In an activation tree:</a:t>
            </a:r>
          </a:p>
          <a:p>
            <a:pPr lvl="1"/>
            <a:r>
              <a:rPr lang="en-US" altLang="zh-CN" sz="2400"/>
              <a:t>Each node represents an activation of a procedure.</a:t>
            </a:r>
          </a:p>
          <a:p>
            <a:pPr lvl="1"/>
            <a:r>
              <a:rPr lang="en-US" altLang="zh-CN" sz="2400"/>
              <a:t>The root represents the activation of the main program.</a:t>
            </a:r>
          </a:p>
          <a:p>
            <a:pPr lvl="1"/>
            <a:r>
              <a:rPr lang="en-US" altLang="zh-CN" sz="2400"/>
              <a:t>The node a is a parent of the node b iff the control flows from a to b.</a:t>
            </a:r>
          </a:p>
          <a:p>
            <a:pPr lvl="1"/>
            <a:r>
              <a:rPr lang="en-US" altLang="zh-CN" sz="2400"/>
              <a:t>The node a is left to to the node b iff the lifetime of a occurs before the lifetime of b.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872F-B29C-4628-9E54-2958697F492F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zh-CN" sz="4000"/>
              <a:t>Activation Tree (cont.)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5805488"/>
            <a:ext cx="7272337" cy="388937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Fig.7.3 An activation tree corresponding to the output in Fig.7.2 P.393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25538"/>
            <a:ext cx="8208963" cy="443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E3E9A-4F83-4A0D-93E1-7E7B6E6960D6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r>
              <a:rPr lang="en-US" altLang="zh-CN"/>
              <a:t>Activation Tree (cont.)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36663"/>
            <a:ext cx="8291513" cy="50006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program main;				</a:t>
            </a:r>
            <a:r>
              <a:rPr lang="en-US" altLang="zh-CN" sz="2400"/>
              <a:t>enter main</a:t>
            </a:r>
            <a:endParaRPr lang="en-US" altLang="zh-CN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procedure s;				</a:t>
            </a:r>
            <a:r>
              <a:rPr lang="en-US" altLang="zh-CN" sz="2400"/>
              <a:t>enter p</a:t>
            </a:r>
            <a:endParaRPr lang="en-US" altLang="zh-CN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  begin ... end;			</a:t>
            </a:r>
            <a:r>
              <a:rPr lang="en-US" altLang="zh-CN" sz="2400"/>
              <a:t>enter q</a:t>
            </a:r>
            <a:endParaRPr lang="en-US" altLang="zh-CN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procedure p;				</a:t>
            </a:r>
            <a:r>
              <a:rPr lang="en-US" altLang="zh-CN" sz="2400"/>
              <a:t>exit q</a:t>
            </a:r>
            <a:endParaRPr lang="en-US" altLang="zh-CN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  procedure q;			</a:t>
            </a:r>
            <a:r>
              <a:rPr lang="en-US" altLang="zh-CN" sz="2400"/>
              <a:t>enter s</a:t>
            </a:r>
            <a:endParaRPr lang="en-US" altLang="zh-CN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    begin ... end;			</a:t>
            </a:r>
            <a:r>
              <a:rPr lang="en-US" altLang="zh-CN" sz="2400"/>
              <a:t>exit s</a:t>
            </a:r>
            <a:endParaRPr lang="en-US" altLang="zh-CN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  begin q; s; end;			</a:t>
            </a:r>
            <a:r>
              <a:rPr lang="en-US" altLang="zh-CN" sz="2400"/>
              <a:t>exit p</a:t>
            </a:r>
            <a:endParaRPr lang="en-US" altLang="zh-CN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latin typeface="Courier New" panose="02070309020205020404" pitchFamily="49" charset="0"/>
              </a:rPr>
              <a:t>  begin p; s; end;			</a:t>
            </a:r>
            <a:r>
              <a:rPr lang="en-US" altLang="zh-CN" sz="2400"/>
              <a:t>enter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/>
              <a:t>							exit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/>
              <a:t>							exit main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/>
              <a:t>						A Nested Structure</a:t>
            </a:r>
          </a:p>
        </p:txBody>
      </p:sp>
      <p:sp>
        <p:nvSpPr>
          <p:cNvPr id="53252" name="AutoShape 4"/>
          <p:cNvSpPr>
            <a:spLocks/>
          </p:cNvSpPr>
          <p:nvPr/>
        </p:nvSpPr>
        <p:spPr bwMode="auto">
          <a:xfrm>
            <a:off x="5726113" y="2246313"/>
            <a:ext cx="141287" cy="457200"/>
          </a:xfrm>
          <a:prstGeom prst="leftBracket">
            <a:avLst>
              <a:gd name="adj" fmla="val 2696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3" name="AutoShape 5"/>
          <p:cNvSpPr>
            <a:spLocks/>
          </p:cNvSpPr>
          <p:nvPr/>
        </p:nvSpPr>
        <p:spPr bwMode="auto">
          <a:xfrm>
            <a:off x="5726113" y="4227513"/>
            <a:ext cx="141287" cy="457200"/>
          </a:xfrm>
          <a:prstGeom prst="leftBracket">
            <a:avLst>
              <a:gd name="adj" fmla="val 2696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4" name="AutoShape 6"/>
          <p:cNvSpPr>
            <a:spLocks/>
          </p:cNvSpPr>
          <p:nvPr/>
        </p:nvSpPr>
        <p:spPr bwMode="auto">
          <a:xfrm>
            <a:off x="5726113" y="3008313"/>
            <a:ext cx="141287" cy="457200"/>
          </a:xfrm>
          <a:prstGeom prst="leftBracket">
            <a:avLst>
              <a:gd name="adj" fmla="val 2696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5" name="AutoShape 7"/>
          <p:cNvSpPr>
            <a:spLocks/>
          </p:cNvSpPr>
          <p:nvPr/>
        </p:nvSpPr>
        <p:spPr bwMode="auto">
          <a:xfrm>
            <a:off x="5584825" y="1865313"/>
            <a:ext cx="211138" cy="2057400"/>
          </a:xfrm>
          <a:prstGeom prst="leftBracket">
            <a:avLst>
              <a:gd name="adj" fmla="val 8120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6" name="AutoShape 8"/>
          <p:cNvSpPr>
            <a:spLocks/>
          </p:cNvSpPr>
          <p:nvPr/>
        </p:nvSpPr>
        <p:spPr bwMode="auto">
          <a:xfrm>
            <a:off x="5445125" y="1484313"/>
            <a:ext cx="280988" cy="3657600"/>
          </a:xfrm>
          <a:prstGeom prst="leftBracket">
            <a:avLst>
              <a:gd name="adj" fmla="val 10847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4641850" y="1219200"/>
            <a:ext cx="0" cy="495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6322-9640-436B-97D8-3F909B04031A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 Stack (P.393)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65650"/>
          </a:xfrm>
        </p:spPr>
        <p:txBody>
          <a:bodyPr/>
          <a:lstStyle/>
          <a:p>
            <a:r>
              <a:rPr lang="en-US" altLang="zh-CN" sz="2000"/>
              <a:t>The flow of the control in a program corresponds to a depth-first traversal of the activation tree that:</a:t>
            </a:r>
          </a:p>
          <a:p>
            <a:pPr lvl="1"/>
            <a:r>
              <a:rPr lang="en-US" altLang="zh-CN" sz="2000"/>
              <a:t> starts at the root, </a:t>
            </a:r>
          </a:p>
          <a:p>
            <a:pPr lvl="1"/>
            <a:r>
              <a:rPr lang="en-US" altLang="zh-CN" sz="2000"/>
              <a:t>visits a node before  its children, and </a:t>
            </a:r>
          </a:p>
          <a:p>
            <a:pPr lvl="1"/>
            <a:r>
              <a:rPr lang="en-US" altLang="zh-CN" sz="2000"/>
              <a:t>recursively visits children at each node an a left-to-right order.</a:t>
            </a:r>
          </a:p>
          <a:p>
            <a:r>
              <a:rPr lang="en-US" altLang="zh-CN" sz="2000"/>
              <a:t>A stack (called </a:t>
            </a:r>
            <a:r>
              <a:rPr lang="en-US" altLang="zh-CN" sz="2000" b="1"/>
              <a:t>control stack</a:t>
            </a:r>
            <a:r>
              <a:rPr lang="en-US" altLang="zh-CN" sz="2000"/>
              <a:t>) can be used to keep track of live procedure activations.</a:t>
            </a:r>
          </a:p>
          <a:p>
            <a:pPr lvl="1"/>
            <a:r>
              <a:rPr lang="en-US" altLang="zh-CN" sz="2000"/>
              <a:t>An activation record is pushed onto the control stack as the activation starts.</a:t>
            </a:r>
          </a:p>
          <a:p>
            <a:pPr lvl="1"/>
            <a:r>
              <a:rPr lang="en-US" altLang="zh-CN" sz="2000"/>
              <a:t>That activation record is popped when that activation ends.</a:t>
            </a:r>
          </a:p>
          <a:p>
            <a:r>
              <a:rPr lang="en-US" altLang="zh-CN" sz="2000"/>
              <a:t>When node n is at the top of the control stack, the stack contains the nodes along the path from n to the root.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0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515ED-314B-4B1C-8374-8B1107EF5096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en-US" altLang="zh-CN"/>
              <a:t>Cont.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1655762"/>
          </a:xfrm>
        </p:spPr>
        <p:txBody>
          <a:bodyPr/>
          <a:lstStyle/>
          <a:p>
            <a:r>
              <a:rPr lang="en-US" altLang="zh-CN" sz="2400">
                <a:latin typeface="Times New Roman" panose="02020603050405020304" pitchFamily="18" charset="0"/>
              </a:rPr>
              <a:t>Control stack keeps track of live procedure activation.</a:t>
            </a:r>
          </a:p>
          <a:p>
            <a:r>
              <a:rPr lang="en-US" altLang="zh-CN" sz="2400">
                <a:latin typeface="Times New Roman" panose="02020603050405020304" pitchFamily="18" charset="0"/>
              </a:rPr>
              <a:t>The idea is to push the node for an activation onto the control stack as the activation begins and to pop the node when the activation ends.</a:t>
            </a:r>
          </a:p>
          <a:p>
            <a:endParaRPr lang="en-US" altLang="zh-CN"/>
          </a:p>
        </p:txBody>
      </p:sp>
      <p:grpSp>
        <p:nvGrpSpPr>
          <p:cNvPr id="34842" name="Group 26"/>
          <p:cNvGrpSpPr>
            <a:grpSpLocks/>
          </p:cNvGrpSpPr>
          <p:nvPr/>
        </p:nvGrpSpPr>
        <p:grpSpPr bwMode="auto">
          <a:xfrm>
            <a:off x="2916238" y="3068638"/>
            <a:ext cx="3095625" cy="1951037"/>
            <a:chOff x="1837" y="1933"/>
            <a:chExt cx="1950" cy="1229"/>
          </a:xfrm>
        </p:grpSpPr>
        <p:sp>
          <p:nvSpPr>
            <p:cNvPr id="34821" name="Rectangle 5"/>
            <p:cNvSpPr>
              <a:spLocks noChangeArrowheads="1"/>
            </p:cNvSpPr>
            <p:nvPr/>
          </p:nvSpPr>
          <p:spPr bwMode="auto">
            <a:xfrm>
              <a:off x="1837" y="2568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p(1,9)</a:t>
              </a:r>
            </a:p>
          </p:txBody>
        </p:sp>
        <p:sp>
          <p:nvSpPr>
            <p:cNvPr id="34822" name="Rectangle 6"/>
            <p:cNvSpPr>
              <a:spLocks noChangeArrowheads="1"/>
            </p:cNvSpPr>
            <p:nvPr/>
          </p:nvSpPr>
          <p:spPr bwMode="auto">
            <a:xfrm>
              <a:off x="2005" y="2931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p(1,3)</a:t>
              </a:r>
            </a:p>
          </p:txBody>
        </p:sp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2018" y="2205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r</a:t>
              </a:r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2660" y="2926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q(1,0)</a:t>
              </a:r>
            </a:p>
          </p:txBody>
        </p:sp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2660" y="2522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q(1,3)</a:t>
              </a:r>
            </a:p>
          </p:txBody>
        </p:sp>
        <p:sp>
          <p:nvSpPr>
            <p:cNvPr id="34826" name="Rectangle 10"/>
            <p:cNvSpPr>
              <a:spLocks noChangeArrowheads="1"/>
            </p:cNvSpPr>
            <p:nvPr/>
          </p:nvSpPr>
          <p:spPr bwMode="auto">
            <a:xfrm>
              <a:off x="2660" y="2205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q(1,9)</a:t>
              </a:r>
            </a:p>
          </p:txBody>
        </p:sp>
        <p:sp>
          <p:nvSpPr>
            <p:cNvPr id="34827" name="Rectangle 11"/>
            <p:cNvSpPr>
              <a:spLocks noChangeArrowheads="1"/>
            </p:cNvSpPr>
            <p:nvPr/>
          </p:nvSpPr>
          <p:spPr bwMode="auto">
            <a:xfrm>
              <a:off x="2796" y="193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s</a:t>
              </a:r>
            </a:p>
          </p:txBody>
        </p:sp>
        <p:sp>
          <p:nvSpPr>
            <p:cNvPr id="34828" name="Rectangle 12"/>
            <p:cNvSpPr>
              <a:spLocks noChangeArrowheads="1"/>
            </p:cNvSpPr>
            <p:nvPr/>
          </p:nvSpPr>
          <p:spPr bwMode="auto">
            <a:xfrm>
              <a:off x="3295" y="2931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q(2,3)</a:t>
              </a:r>
            </a:p>
          </p:txBody>
        </p:sp>
        <p:sp>
          <p:nvSpPr>
            <p:cNvPr id="34829" name="Line 13"/>
            <p:cNvSpPr>
              <a:spLocks noChangeShapeType="1"/>
            </p:cNvSpPr>
            <p:nvPr/>
          </p:nvSpPr>
          <p:spPr bwMode="auto">
            <a:xfrm>
              <a:off x="2886" y="2114"/>
              <a:ext cx="0" cy="136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Line 15"/>
            <p:cNvSpPr>
              <a:spLocks noChangeShapeType="1"/>
            </p:cNvSpPr>
            <p:nvPr/>
          </p:nvSpPr>
          <p:spPr bwMode="auto">
            <a:xfrm flipV="1">
              <a:off x="2886" y="2432"/>
              <a:ext cx="0" cy="136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Line 16"/>
            <p:cNvSpPr>
              <a:spLocks noChangeShapeType="1"/>
            </p:cNvSpPr>
            <p:nvPr/>
          </p:nvSpPr>
          <p:spPr bwMode="auto">
            <a:xfrm flipV="1">
              <a:off x="2886" y="279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3" name="Line 17"/>
            <p:cNvSpPr>
              <a:spLocks noChangeShapeType="1"/>
            </p:cNvSpPr>
            <p:nvPr/>
          </p:nvSpPr>
          <p:spPr bwMode="auto">
            <a:xfrm flipH="1">
              <a:off x="2297" y="2749"/>
              <a:ext cx="499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Line 18"/>
            <p:cNvSpPr>
              <a:spLocks noChangeShapeType="1"/>
            </p:cNvSpPr>
            <p:nvPr/>
          </p:nvSpPr>
          <p:spPr bwMode="auto">
            <a:xfrm>
              <a:off x="2977" y="2749"/>
              <a:ext cx="454" cy="227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Line 19"/>
            <p:cNvSpPr>
              <a:spLocks noChangeShapeType="1"/>
            </p:cNvSpPr>
            <p:nvPr/>
          </p:nvSpPr>
          <p:spPr bwMode="auto">
            <a:xfrm flipH="1">
              <a:off x="2200" y="2069"/>
              <a:ext cx="596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6" name="Line 20"/>
            <p:cNvSpPr>
              <a:spLocks noChangeShapeType="1"/>
            </p:cNvSpPr>
            <p:nvPr/>
          </p:nvSpPr>
          <p:spPr bwMode="auto">
            <a:xfrm flipH="1">
              <a:off x="2336" y="2432"/>
              <a:ext cx="31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40" name="Rectangle 24"/>
          <p:cNvSpPr>
            <a:spLocks noChangeArrowheads="1"/>
          </p:cNvSpPr>
          <p:nvPr/>
        </p:nvSpPr>
        <p:spPr bwMode="auto">
          <a:xfrm>
            <a:off x="2051050" y="5373688"/>
            <a:ext cx="51133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Fig. 7.4 The control stack contains nodes along a path to the root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1896-4796-4DB4-980A-1E1F241D6A87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en-US" altLang="zh-CN"/>
              <a:t>Variable Scopes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/>
              <a:t>The same variable name can be used in the different parts of the program.</a:t>
            </a:r>
          </a:p>
          <a:p>
            <a:pPr>
              <a:lnSpc>
                <a:spcPct val="90000"/>
              </a:lnSpc>
            </a:pPr>
            <a:r>
              <a:rPr lang="en-US" altLang="zh-CN" sz="2000"/>
              <a:t>The scope rules of the language determine which declaration of a name applies when the name appears in the program.</a:t>
            </a:r>
          </a:p>
          <a:p>
            <a:pPr>
              <a:lnSpc>
                <a:spcPct val="90000"/>
              </a:lnSpc>
            </a:pPr>
            <a:r>
              <a:rPr lang="en-US" altLang="zh-CN" sz="2000"/>
              <a:t>An occurrence of a variable (a name) is: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local</a:t>
            </a:r>
            <a:r>
              <a:rPr lang="en-US" altLang="zh-CN" sz="2000"/>
              <a:t>: If that occurrence is in the same procedure in which that name is declared.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non-local</a:t>
            </a:r>
            <a:r>
              <a:rPr lang="en-US" altLang="zh-CN" sz="2000"/>
              <a:t>: Otherwise (ie. it is declared outside of that procedure)</a:t>
            </a:r>
          </a:p>
          <a:p>
            <a:pPr lvl="1">
              <a:lnSpc>
                <a:spcPct val="90000"/>
              </a:lnSpc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procedure p;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  var b:real;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  procedure p;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    var a: integer;				</a:t>
            </a:r>
            <a:r>
              <a:rPr lang="en-US" altLang="zh-CN" sz="2000"/>
              <a:t>a  is  local</a:t>
            </a:r>
            <a:endParaRPr lang="en-US" altLang="zh-CN" sz="20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    begin </a:t>
            </a:r>
            <a:r>
              <a:rPr lang="en-US" altLang="zh-CN" sz="2000">
                <a:solidFill>
                  <a:schemeClr val="accent2"/>
                </a:solidFill>
                <a:latin typeface="Courier New" panose="02070309020205020404" pitchFamily="49" charset="0"/>
              </a:rPr>
              <a:t>a</a:t>
            </a:r>
            <a:r>
              <a:rPr lang="en-US" altLang="zh-CN" sz="2000">
                <a:latin typeface="Courier New" panose="02070309020205020404" pitchFamily="49" charset="0"/>
              </a:rPr>
              <a:t> := 1;  </a:t>
            </a:r>
            <a:r>
              <a:rPr lang="en-US" altLang="zh-CN" sz="2000">
                <a:solidFill>
                  <a:srgbClr val="A50021"/>
                </a:solidFill>
                <a:latin typeface="Courier New" panose="02070309020205020404" pitchFamily="49" charset="0"/>
              </a:rPr>
              <a:t>b </a:t>
            </a:r>
            <a:r>
              <a:rPr lang="en-US" altLang="zh-CN" sz="2000">
                <a:latin typeface="Courier New" panose="02070309020205020404" pitchFamily="49" charset="0"/>
              </a:rPr>
              <a:t>:= 2; end;</a:t>
            </a:r>
            <a:r>
              <a:rPr lang="en-US" altLang="zh-CN" sz="2000"/>
              <a:t>		b  is  non-local</a:t>
            </a:r>
            <a:endParaRPr lang="en-US" altLang="zh-CN" sz="20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  begin ... end;</a:t>
            </a: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EACC-18C6-4383-8E38-3B3088B2DE6B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altLang="zh-CN"/>
              <a:t>Run-Time Storage Organization</a:t>
            </a:r>
          </a:p>
        </p:txBody>
      </p:sp>
      <p:graphicFrame>
        <p:nvGraphicFramePr>
          <p:cNvPr id="58371" name="Group 3"/>
          <p:cNvGraphicFramePr>
            <a:graphicFrameLocks noGrp="1"/>
          </p:cNvGraphicFramePr>
          <p:nvPr/>
        </p:nvGraphicFramePr>
        <p:xfrm>
          <a:off x="1524000" y="1227138"/>
          <a:ext cx="1500188" cy="4564062"/>
        </p:xfrm>
        <a:graphic>
          <a:graphicData uri="http://schemas.openxmlformats.org/drawingml/2006/table">
            <a:tbl>
              <a:tblPr/>
              <a:tblGrid>
                <a:gridCol w="1500188">
                  <a:extLst>
                    <a:ext uri="{9D8B030D-6E8A-4147-A177-3AD203B41FA5}">
                      <a16:colId xmlns:a16="http://schemas.microsoft.com/office/drawing/2014/main" val="1614344374"/>
                    </a:ext>
                  </a:extLst>
                </a:gridCol>
              </a:tblGrid>
              <a:tr h="912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179443"/>
                  </a:ext>
                </a:extLst>
              </a:tr>
              <a:tr h="912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Static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194516"/>
                  </a:ext>
                </a:extLst>
              </a:tr>
              <a:tr h="912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Stack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858842"/>
                  </a:ext>
                </a:extLst>
              </a:tr>
              <a:tr h="912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327610"/>
                  </a:ext>
                </a:extLst>
              </a:tr>
              <a:tr h="912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11250"/>
                  </a:ext>
                </a:extLst>
              </a:tr>
            </a:tbl>
          </a:graphicData>
        </a:graphic>
      </p:graphicFrame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251075" y="3581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 flipV="1">
            <a:off x="2251075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7" name="Text Box 19"/>
          <p:cNvSpPr txBox="1">
            <a:spLocks noChangeArrowheads="1"/>
          </p:cNvSpPr>
          <p:nvPr/>
        </p:nvSpPr>
        <p:spPr bwMode="auto">
          <a:xfrm>
            <a:off x="3994150" y="1031875"/>
            <a:ext cx="4538663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Memory locations for code are 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determined at compile time.</a:t>
            </a:r>
          </a:p>
          <a:p>
            <a:pPr eaLnBrk="0" hangingPunct="0"/>
            <a:endParaRPr lang="en-US" altLang="zh-CN" sz="24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Locations of static data can also be 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determined at compile time.</a:t>
            </a:r>
          </a:p>
          <a:p>
            <a:pPr eaLnBrk="0" hangingPunct="0"/>
            <a:endParaRPr lang="en-US" altLang="zh-CN" sz="24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Data objects allocated at run-time.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(Activation Records)</a:t>
            </a:r>
          </a:p>
          <a:p>
            <a:pPr eaLnBrk="0" hangingPunct="0"/>
            <a:endParaRPr lang="en-US" altLang="zh-CN" sz="2400">
              <a:latin typeface="Times New Roman" panose="02020603050405020304" pitchFamily="18" charset="0"/>
            </a:endParaRPr>
          </a:p>
          <a:p>
            <a:pPr eaLnBrk="0" hangingPunct="0"/>
            <a:endParaRPr lang="en-US" altLang="zh-CN" sz="24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Other dynamically allocated data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objects at run-time. (For example,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malloc area in C).</a:t>
            </a:r>
          </a:p>
        </p:txBody>
      </p:sp>
      <p:sp>
        <p:nvSpPr>
          <p:cNvPr id="58388" name="Line 20"/>
          <p:cNvSpPr>
            <a:spLocks noChangeShapeType="1"/>
          </p:cNvSpPr>
          <p:nvPr/>
        </p:nvSpPr>
        <p:spPr bwMode="auto">
          <a:xfrm flipH="1">
            <a:off x="3095625" y="1219200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 flipH="1">
            <a:off x="3024188" y="2362200"/>
            <a:ext cx="985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3024188" y="3352800"/>
            <a:ext cx="1055687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1" name="Line 23"/>
          <p:cNvSpPr>
            <a:spLocks noChangeShapeType="1"/>
          </p:cNvSpPr>
          <p:nvPr/>
        </p:nvSpPr>
        <p:spPr bwMode="auto">
          <a:xfrm flipH="1">
            <a:off x="3024188" y="4876800"/>
            <a:ext cx="98583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35A27-063D-4AA7-91BD-8A64E9FB80F6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en-US" altLang="zh-CN"/>
              <a:t>Problems with Functions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4752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If a function has local variables, and if it calls another function: what happens to locals after control returns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Recursive functions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Function can access non-local (global) variables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Parameters passing into a function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Can we pass functions as parameters?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Can functions be returned as the result of a function?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Storage allocation within a function?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Is de-allocation to be done by the programmer before leaving the function?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Dangling pointers?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A991-577B-4102-82FF-06A2A2E01BE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Activation Records/Frame </a:t>
            </a:r>
            <a:r>
              <a:rPr lang="en-US" altLang="zh-CN" sz="3600"/>
              <a:t>(P.398)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Information for a single execution of a function is called an </a:t>
            </a:r>
            <a:r>
              <a:rPr lang="en-US" altLang="zh-CN" sz="2800" b="1" i="1"/>
              <a:t>activation record</a:t>
            </a:r>
            <a:r>
              <a:rPr lang="en-US" altLang="zh-CN" sz="2800" i="1"/>
              <a:t> </a:t>
            </a:r>
            <a:r>
              <a:rPr lang="en-US" altLang="zh-CN" sz="2800"/>
              <a:t>or </a:t>
            </a:r>
            <a:r>
              <a:rPr lang="en-US" altLang="zh-CN" sz="2800" b="1" i="1"/>
              <a:t>procedure call frame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 A frame contains: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Temporary local register values for caller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Local data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Snapshot of machine state (important registers, PC)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Return address (control link)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Link to global data (access link)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Parameters passed to function (actual parameters)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Return value for the caller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1A19-CCB5-4820-A0AC-A0BD9E988A60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altLang="zh-CN"/>
              <a:t>Activation Records (cont.)</a:t>
            </a:r>
          </a:p>
        </p:txBody>
      </p:sp>
      <p:graphicFrame>
        <p:nvGraphicFramePr>
          <p:cNvPr id="60470" name="Group 54"/>
          <p:cNvGraphicFramePr>
            <a:graphicFrameLocks noGrp="1"/>
          </p:cNvGraphicFramePr>
          <p:nvPr/>
        </p:nvGraphicFramePr>
        <p:xfrm>
          <a:off x="492125" y="1412875"/>
          <a:ext cx="2203450" cy="4686300"/>
        </p:xfrm>
        <a:graphic>
          <a:graphicData uri="http://schemas.openxmlformats.org/drawingml/2006/table">
            <a:tbl>
              <a:tblPr/>
              <a:tblGrid>
                <a:gridCol w="2203450">
                  <a:extLst>
                    <a:ext uri="{9D8B030D-6E8A-4147-A177-3AD203B41FA5}">
                      <a16:colId xmlns:a16="http://schemas.microsoft.com/office/drawing/2014/main" val="3037567060"/>
                    </a:ext>
                  </a:extLst>
                </a:gridCol>
              </a:tblGrid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return 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443382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 parameters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954634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optional control 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024506"/>
                  </a:ext>
                </a:extLst>
              </a:tr>
              <a:tr h="630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optional access 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252570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saved machine status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810762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local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830242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temporaries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769338"/>
                  </a:ext>
                </a:extLst>
              </a:tr>
            </a:tbl>
          </a:graphicData>
        </a:graphic>
      </p:graphicFrame>
      <p:sp>
        <p:nvSpPr>
          <p:cNvPr id="60439" name="Text Box 23"/>
          <p:cNvSpPr txBox="1">
            <a:spLocks noChangeArrowheads="1"/>
          </p:cNvSpPr>
          <p:nvPr/>
        </p:nvSpPr>
        <p:spPr bwMode="auto">
          <a:xfrm>
            <a:off x="3446463" y="1143000"/>
            <a:ext cx="5205412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The returned value of the called procedure is returned </a:t>
            </a: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in this field to the calling procedure. In practice, we may</a:t>
            </a: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use a machine register for the return value.</a:t>
            </a:r>
          </a:p>
          <a:p>
            <a:pPr eaLnBrk="0" hangingPunct="0"/>
            <a:endParaRPr lang="en-US" altLang="zh-CN" sz="10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The field for actual parameters is used by the calling </a:t>
            </a: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procedure to supply parameters to the called procedure.</a:t>
            </a:r>
          </a:p>
          <a:p>
            <a:pPr eaLnBrk="0" hangingPunct="0"/>
            <a:endParaRPr lang="en-US" altLang="zh-CN" sz="10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The optional control link points to the activation record </a:t>
            </a: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of the caller.</a:t>
            </a:r>
          </a:p>
          <a:p>
            <a:pPr eaLnBrk="0" hangingPunct="0"/>
            <a:endParaRPr lang="en-US" altLang="zh-CN" sz="10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The optional access link is used to refer to nonlocal data</a:t>
            </a: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held in other activation records.</a:t>
            </a:r>
          </a:p>
          <a:p>
            <a:pPr eaLnBrk="0" hangingPunct="0"/>
            <a:endParaRPr lang="en-US" altLang="zh-CN" sz="10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The field for saved machine status holds information about </a:t>
            </a: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the state of the machine before the procedure is called.</a:t>
            </a:r>
          </a:p>
          <a:p>
            <a:pPr eaLnBrk="0" hangingPunct="0"/>
            <a:endParaRPr lang="en-US" altLang="zh-CN" sz="10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The field of local data holds data that local to an execution</a:t>
            </a: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of a procedure..</a:t>
            </a:r>
          </a:p>
          <a:p>
            <a:pPr eaLnBrk="0" hangingPunct="0"/>
            <a:endParaRPr lang="en-US" altLang="zh-CN" sz="100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Temporay variables is stored in the field of temporaries.</a:t>
            </a:r>
          </a:p>
        </p:txBody>
      </p:sp>
      <p:sp>
        <p:nvSpPr>
          <p:cNvPr id="60440" name="Line 24"/>
          <p:cNvSpPr>
            <a:spLocks noChangeShapeType="1"/>
          </p:cNvSpPr>
          <p:nvPr/>
        </p:nvSpPr>
        <p:spPr bwMode="auto">
          <a:xfrm flipH="1">
            <a:off x="2743200" y="1371600"/>
            <a:ext cx="773113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1" name="Line 25"/>
          <p:cNvSpPr>
            <a:spLocks noChangeShapeType="1"/>
          </p:cNvSpPr>
          <p:nvPr/>
        </p:nvSpPr>
        <p:spPr bwMode="auto">
          <a:xfrm flipH="1">
            <a:off x="2743200" y="2362200"/>
            <a:ext cx="773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2" name="Line 26"/>
          <p:cNvSpPr>
            <a:spLocks noChangeShapeType="1"/>
          </p:cNvSpPr>
          <p:nvPr/>
        </p:nvSpPr>
        <p:spPr bwMode="auto">
          <a:xfrm flipH="1" flipV="1">
            <a:off x="2743200" y="2971800"/>
            <a:ext cx="773113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3" name="Line 27"/>
          <p:cNvSpPr>
            <a:spLocks noChangeShapeType="1"/>
          </p:cNvSpPr>
          <p:nvPr/>
        </p:nvSpPr>
        <p:spPr bwMode="auto">
          <a:xfrm flipH="1" flipV="1">
            <a:off x="2743200" y="3657600"/>
            <a:ext cx="703263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4" name="Line 28"/>
          <p:cNvSpPr>
            <a:spLocks noChangeShapeType="1"/>
          </p:cNvSpPr>
          <p:nvPr/>
        </p:nvSpPr>
        <p:spPr bwMode="auto">
          <a:xfrm flipH="1" flipV="1">
            <a:off x="2743200" y="4267200"/>
            <a:ext cx="773113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5" name="Line 29"/>
          <p:cNvSpPr>
            <a:spLocks noChangeShapeType="1"/>
          </p:cNvSpPr>
          <p:nvPr/>
        </p:nvSpPr>
        <p:spPr bwMode="auto">
          <a:xfrm flipH="1" flipV="1">
            <a:off x="2743200" y="4876800"/>
            <a:ext cx="773113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6" name="Line 30"/>
          <p:cNvSpPr>
            <a:spLocks noChangeShapeType="1"/>
          </p:cNvSpPr>
          <p:nvPr/>
        </p:nvSpPr>
        <p:spPr bwMode="auto">
          <a:xfrm flipH="1" flipV="1">
            <a:off x="2743200" y="5562600"/>
            <a:ext cx="773113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7A52-5398-40DC-B48D-024A652937D9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Activation Records (Ex1)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468313" y="1484313"/>
            <a:ext cx="323215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program main;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procedure p;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var a:real;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procedure q;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var b:integer;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begin ...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begin q;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procedure s;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var c:integer;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begin ...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begin p; s; end;  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5330825" y="1336675"/>
            <a:ext cx="169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zh-CN" altLang="zh-CN" sz="2400">
              <a:latin typeface="Times New Roman" panose="02020603050405020304" pitchFamily="18" charset="0"/>
            </a:endParaRPr>
          </a:p>
        </p:txBody>
      </p:sp>
      <p:graphicFrame>
        <p:nvGraphicFramePr>
          <p:cNvPr id="61445" name="Group 5"/>
          <p:cNvGraphicFramePr>
            <a:graphicFrameLocks noGrp="1"/>
          </p:cNvGraphicFramePr>
          <p:nvPr/>
        </p:nvGraphicFramePr>
        <p:xfrm>
          <a:off x="5908675" y="1295400"/>
          <a:ext cx="1711325" cy="4333875"/>
        </p:xfrm>
        <a:graphic>
          <a:graphicData uri="http://schemas.openxmlformats.org/drawingml/2006/table">
            <a:tbl>
              <a:tblPr/>
              <a:tblGrid>
                <a:gridCol w="1711325">
                  <a:extLst>
                    <a:ext uri="{9D8B030D-6E8A-4147-A177-3AD203B41FA5}">
                      <a16:colId xmlns:a16="http://schemas.microsoft.com/office/drawing/2014/main" val="254445721"/>
                    </a:ext>
                  </a:extLst>
                </a:gridCol>
              </a:tblGrid>
              <a:tr h="144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836422"/>
                  </a:ext>
                </a:extLst>
              </a:tr>
              <a:tr h="144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871913"/>
                  </a:ext>
                </a:extLst>
              </a:tr>
              <a:tr h="144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363659"/>
                  </a:ext>
                </a:extLst>
              </a:tr>
            </a:tbl>
          </a:graphicData>
        </a:graphic>
      </p:graphicFrame>
      <p:sp>
        <p:nvSpPr>
          <p:cNvPr id="61455" name="Text Box 15"/>
          <p:cNvSpPr txBox="1">
            <a:spLocks noChangeArrowheads="1"/>
          </p:cNvSpPr>
          <p:nvPr/>
        </p:nvSpPr>
        <p:spPr bwMode="auto">
          <a:xfrm>
            <a:off x="7862888" y="955675"/>
            <a:ext cx="747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stack</a:t>
            </a:r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>
            <a:off x="815975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1464" name="Group 24"/>
          <p:cNvGrpSpPr>
            <a:grpSpLocks/>
          </p:cNvGrpSpPr>
          <p:nvPr/>
        </p:nvGrpSpPr>
        <p:grpSpPr bwMode="auto">
          <a:xfrm>
            <a:off x="3924300" y="3933825"/>
            <a:ext cx="1512888" cy="2022475"/>
            <a:chOff x="1852" y="2496"/>
            <a:chExt cx="953" cy="1274"/>
          </a:xfrm>
        </p:grpSpPr>
        <p:sp>
          <p:nvSpPr>
            <p:cNvPr id="61457" name="Line 17"/>
            <p:cNvSpPr>
              <a:spLocks noChangeShapeType="1"/>
            </p:cNvSpPr>
            <p:nvPr/>
          </p:nvSpPr>
          <p:spPr bwMode="auto">
            <a:xfrm flipH="1">
              <a:off x="2038" y="2736"/>
              <a:ext cx="31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8" name="Line 18"/>
            <p:cNvSpPr>
              <a:spLocks noChangeShapeType="1"/>
            </p:cNvSpPr>
            <p:nvPr/>
          </p:nvSpPr>
          <p:spPr bwMode="auto">
            <a:xfrm>
              <a:off x="2437" y="2736"/>
              <a:ext cx="26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19"/>
            <p:cNvSpPr>
              <a:spLocks noChangeShapeType="1"/>
            </p:cNvSpPr>
            <p:nvPr/>
          </p:nvSpPr>
          <p:spPr bwMode="auto">
            <a:xfrm>
              <a:off x="1994" y="321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Text Box 20"/>
            <p:cNvSpPr txBox="1">
              <a:spLocks noChangeArrowheads="1"/>
            </p:cNvSpPr>
            <p:nvPr/>
          </p:nvSpPr>
          <p:spPr bwMode="auto">
            <a:xfrm>
              <a:off x="2171" y="2496"/>
              <a:ext cx="4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anose="02020603050405020304" pitchFamily="18" charset="0"/>
                </a:rPr>
                <a:t>main</a:t>
              </a:r>
            </a:p>
          </p:txBody>
        </p:sp>
        <p:sp>
          <p:nvSpPr>
            <p:cNvPr id="61461" name="Text Box 21"/>
            <p:cNvSpPr txBox="1">
              <a:spLocks noChangeArrowheads="1"/>
            </p:cNvSpPr>
            <p:nvPr/>
          </p:nvSpPr>
          <p:spPr bwMode="auto">
            <a:xfrm>
              <a:off x="1905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1462" name="Text Box 22"/>
            <p:cNvSpPr txBox="1">
              <a:spLocks noChangeArrowheads="1"/>
            </p:cNvSpPr>
            <p:nvPr/>
          </p:nvSpPr>
          <p:spPr bwMode="auto">
            <a:xfrm>
              <a:off x="1852" y="348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61463" name="Text Box 23"/>
            <p:cNvSpPr txBox="1">
              <a:spLocks noChangeArrowheads="1"/>
            </p:cNvSpPr>
            <p:nvPr/>
          </p:nvSpPr>
          <p:spPr bwMode="auto">
            <a:xfrm>
              <a:off x="2614" y="2976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latin typeface="Times New Roman" panose="02020603050405020304" pitchFamily="18" charset="0"/>
                </a:rPr>
                <a:t>s</a:t>
              </a:r>
            </a:p>
          </p:txBody>
        </p:sp>
      </p:grp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B008-2880-4116-B78E-127F2462CF35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r>
              <a:rPr lang="en-US" altLang="zh-CN" sz="3600"/>
              <a:t>Activation Records for Recursive Procedures</a:t>
            </a: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539750" y="1557338"/>
            <a:ext cx="5472113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program main;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procedure p;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function q(a:integer):integer;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begin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  if (a=1) then q:=1;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  else q:=a+q(a-1);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begin q(3);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begin p; end;</a:t>
            </a:r>
          </a:p>
        </p:txBody>
      </p:sp>
      <p:graphicFrame>
        <p:nvGraphicFramePr>
          <p:cNvPr id="62468" name="Group 4"/>
          <p:cNvGraphicFramePr>
            <a:graphicFrameLocks noGrp="1"/>
          </p:cNvGraphicFramePr>
          <p:nvPr/>
        </p:nvGraphicFramePr>
        <p:xfrm>
          <a:off x="6227763" y="1268413"/>
          <a:ext cx="2484437" cy="4402137"/>
        </p:xfrm>
        <a:graphic>
          <a:graphicData uri="http://schemas.openxmlformats.org/drawingml/2006/table">
            <a:tbl>
              <a:tblPr/>
              <a:tblGrid>
                <a:gridCol w="2484437">
                  <a:extLst>
                    <a:ext uri="{9D8B030D-6E8A-4147-A177-3AD203B41FA5}">
                      <a16:colId xmlns:a16="http://schemas.microsoft.com/office/drawing/2014/main" val="3360081114"/>
                    </a:ext>
                  </a:extLst>
                </a:gridCol>
              </a:tblGrid>
              <a:tr h="881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808090"/>
                  </a:ext>
                </a:extLst>
              </a:tr>
              <a:tr h="879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645925"/>
                  </a:ext>
                </a:extLst>
              </a:tr>
              <a:tr h="881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q(3)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a: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629507"/>
                  </a:ext>
                </a:extLst>
              </a:tr>
              <a:tr h="879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q(2)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a:2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77655"/>
                  </a:ext>
                </a:extLst>
              </a:tr>
              <a:tr h="881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q(1)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a:1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72017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EF459-E515-4F55-B060-56F61B8C1A2C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Creation of An Activation Record </a:t>
            </a:r>
            <a:r>
              <a:rPr lang="en-US" altLang="zh-CN" sz="3600"/>
              <a:t>(P.407)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352925"/>
          </a:xfrm>
        </p:spPr>
        <p:txBody>
          <a:bodyPr/>
          <a:lstStyle/>
          <a:p>
            <a:r>
              <a:rPr lang="en-US" altLang="zh-CN" sz="2000"/>
              <a:t>Who allocates an activation record of a procedure?</a:t>
            </a:r>
          </a:p>
          <a:p>
            <a:pPr lvl="1"/>
            <a:r>
              <a:rPr lang="en-US" altLang="zh-CN" sz="2000"/>
              <a:t>Some part of the activation record of a procedure is created by that procedure immediately after that procedure is entered.</a:t>
            </a:r>
          </a:p>
          <a:p>
            <a:pPr lvl="1"/>
            <a:r>
              <a:rPr lang="en-US" altLang="zh-CN" sz="2000"/>
              <a:t>Some part is created by the caller of that procedure before that procedure is entered.</a:t>
            </a:r>
          </a:p>
          <a:p>
            <a:pPr lvl="1"/>
            <a:endParaRPr lang="en-US" altLang="zh-CN" sz="2000"/>
          </a:p>
          <a:p>
            <a:r>
              <a:rPr lang="en-US" altLang="zh-CN" sz="2000"/>
              <a:t>Who deallocates?</a:t>
            </a:r>
          </a:p>
          <a:p>
            <a:pPr lvl="1"/>
            <a:r>
              <a:rPr lang="en-US" altLang="zh-CN" sz="2000"/>
              <a:t>Callee de-allocates the part allocated by Callee.</a:t>
            </a:r>
          </a:p>
          <a:p>
            <a:pPr lvl="1"/>
            <a:r>
              <a:rPr lang="en-US" altLang="zh-CN" sz="2000"/>
              <a:t>Caller de-allocates the part allocated by Caller. </a:t>
            </a: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5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481E-C0B9-4BBE-84A2-6EC426DBD29E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en-US" altLang="zh-CN" sz="3600"/>
              <a:t>Creation of An Activation Record (cont.)</a:t>
            </a:r>
          </a:p>
        </p:txBody>
      </p:sp>
      <p:graphicFrame>
        <p:nvGraphicFramePr>
          <p:cNvPr id="64594" name="Group 82"/>
          <p:cNvGraphicFramePr>
            <a:graphicFrameLocks noGrp="1"/>
          </p:cNvGraphicFramePr>
          <p:nvPr/>
        </p:nvGraphicFramePr>
        <p:xfrm>
          <a:off x="633413" y="1066800"/>
          <a:ext cx="2179637" cy="2605088"/>
        </p:xfrm>
        <a:graphic>
          <a:graphicData uri="http://schemas.openxmlformats.org/drawingml/2006/table">
            <a:tbl>
              <a:tblPr/>
              <a:tblGrid>
                <a:gridCol w="2179637">
                  <a:extLst>
                    <a:ext uri="{9D8B030D-6E8A-4147-A177-3AD203B41FA5}">
                      <a16:colId xmlns:a16="http://schemas.microsoft.com/office/drawing/2014/main" val="33912226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 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265613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actual parameters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245148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optional control 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556877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optional access 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174047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saved machine status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641244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local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58617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temporaries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92979"/>
                  </a:ext>
                </a:extLst>
              </a:tr>
            </a:tbl>
          </a:graphicData>
        </a:graphic>
      </p:graphicFrame>
      <p:graphicFrame>
        <p:nvGraphicFramePr>
          <p:cNvPr id="64616" name="Group 104"/>
          <p:cNvGraphicFramePr>
            <a:graphicFrameLocks noGrp="1"/>
          </p:cNvGraphicFramePr>
          <p:nvPr/>
        </p:nvGraphicFramePr>
        <p:xfrm>
          <a:off x="633413" y="3733800"/>
          <a:ext cx="2179637" cy="2605088"/>
        </p:xfrm>
        <a:graphic>
          <a:graphicData uri="http://schemas.openxmlformats.org/drawingml/2006/table">
            <a:tbl>
              <a:tblPr/>
              <a:tblGrid>
                <a:gridCol w="2179637">
                  <a:extLst>
                    <a:ext uri="{9D8B030D-6E8A-4147-A177-3AD203B41FA5}">
                      <a16:colId xmlns:a16="http://schemas.microsoft.com/office/drawing/2014/main" val="3719625210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 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193504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actual parameters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169657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optional control 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483164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optional access 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46437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saved machine status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809187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local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158145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temporaries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207854"/>
                  </a:ext>
                </a:extLst>
              </a:tr>
            </a:tbl>
          </a:graphicData>
        </a:graphic>
      </p:graphicFrame>
      <p:sp>
        <p:nvSpPr>
          <p:cNvPr id="64555" name="AutoShape 43"/>
          <p:cNvSpPr>
            <a:spLocks/>
          </p:cNvSpPr>
          <p:nvPr/>
        </p:nvSpPr>
        <p:spPr bwMode="auto">
          <a:xfrm>
            <a:off x="352425" y="2057400"/>
            <a:ext cx="280988" cy="2590800"/>
          </a:xfrm>
          <a:prstGeom prst="leftBracket">
            <a:avLst>
              <a:gd name="adj" fmla="val 7683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6" name="AutoShape 44"/>
          <p:cNvSpPr>
            <a:spLocks/>
          </p:cNvSpPr>
          <p:nvPr/>
        </p:nvSpPr>
        <p:spPr bwMode="auto">
          <a:xfrm>
            <a:off x="280988" y="762000"/>
            <a:ext cx="352425" cy="1143000"/>
          </a:xfrm>
          <a:prstGeom prst="leftBracket">
            <a:avLst>
              <a:gd name="adj" fmla="val 2702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7" name="Line 45"/>
          <p:cNvSpPr>
            <a:spLocks noChangeShapeType="1"/>
          </p:cNvSpPr>
          <p:nvPr/>
        </p:nvSpPr>
        <p:spPr bwMode="auto">
          <a:xfrm>
            <a:off x="492125" y="2057400"/>
            <a:ext cx="141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58" name="Line 46"/>
          <p:cNvSpPr>
            <a:spLocks noChangeShapeType="1"/>
          </p:cNvSpPr>
          <p:nvPr/>
        </p:nvSpPr>
        <p:spPr bwMode="auto">
          <a:xfrm>
            <a:off x="3376613" y="21336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59" name="Line 47"/>
          <p:cNvSpPr>
            <a:spLocks noChangeShapeType="1"/>
          </p:cNvSpPr>
          <p:nvPr/>
        </p:nvSpPr>
        <p:spPr bwMode="auto">
          <a:xfrm flipV="1">
            <a:off x="3376613" y="4800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0" name="Line 48"/>
          <p:cNvSpPr>
            <a:spLocks noChangeShapeType="1"/>
          </p:cNvSpPr>
          <p:nvPr/>
        </p:nvSpPr>
        <p:spPr bwMode="auto">
          <a:xfrm>
            <a:off x="3024188" y="2133600"/>
            <a:ext cx="84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1" name="Line 49"/>
          <p:cNvSpPr>
            <a:spLocks noChangeShapeType="1"/>
          </p:cNvSpPr>
          <p:nvPr/>
        </p:nvSpPr>
        <p:spPr bwMode="auto">
          <a:xfrm>
            <a:off x="3024188" y="4800600"/>
            <a:ext cx="84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2" name="Text Box 50"/>
          <p:cNvSpPr txBox="1">
            <a:spLocks noChangeArrowheads="1"/>
          </p:cNvSpPr>
          <p:nvPr/>
        </p:nvSpPr>
        <p:spPr bwMode="auto">
          <a:xfrm>
            <a:off x="3643313" y="3013075"/>
            <a:ext cx="275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Caller’s Responsibility</a:t>
            </a:r>
          </a:p>
        </p:txBody>
      </p:sp>
      <p:sp>
        <p:nvSpPr>
          <p:cNvPr id="64563" name="Text Box 51"/>
          <p:cNvSpPr txBox="1">
            <a:spLocks noChangeArrowheads="1"/>
          </p:cNvSpPr>
          <p:nvPr/>
        </p:nvSpPr>
        <p:spPr bwMode="auto">
          <a:xfrm>
            <a:off x="3713163" y="5375275"/>
            <a:ext cx="2784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Callee’s Responsibility</a:t>
            </a:r>
          </a:p>
        </p:txBody>
      </p:sp>
      <p:sp>
        <p:nvSpPr>
          <p:cNvPr id="64564" name="Text Box 52"/>
          <p:cNvSpPr txBox="1">
            <a:spLocks noChangeArrowheads="1"/>
          </p:cNvSpPr>
          <p:nvPr/>
        </p:nvSpPr>
        <p:spPr bwMode="auto">
          <a:xfrm>
            <a:off x="4284663" y="1052513"/>
            <a:ext cx="346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Caller’s Activation Record</a:t>
            </a:r>
          </a:p>
        </p:txBody>
      </p:sp>
      <p:sp>
        <p:nvSpPr>
          <p:cNvPr id="64565" name="Text Box 53"/>
          <p:cNvSpPr txBox="1">
            <a:spLocks noChangeArrowheads="1"/>
          </p:cNvSpPr>
          <p:nvPr/>
        </p:nvSpPr>
        <p:spPr bwMode="auto">
          <a:xfrm>
            <a:off x="4427538" y="3789363"/>
            <a:ext cx="3497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Callee’s Activation Record</a:t>
            </a:r>
          </a:p>
        </p:txBody>
      </p:sp>
      <p:sp>
        <p:nvSpPr>
          <p:cNvPr id="64566" name="Line 54"/>
          <p:cNvSpPr>
            <a:spLocks noChangeShapeType="1"/>
          </p:cNvSpPr>
          <p:nvPr/>
        </p:nvSpPr>
        <p:spPr bwMode="auto">
          <a:xfrm flipH="1" flipV="1">
            <a:off x="2813050" y="3886200"/>
            <a:ext cx="1614488" cy="476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7" name="Line 55"/>
          <p:cNvSpPr>
            <a:spLocks noChangeShapeType="1"/>
          </p:cNvSpPr>
          <p:nvPr/>
        </p:nvSpPr>
        <p:spPr bwMode="auto">
          <a:xfrm flipH="1" flipV="1">
            <a:off x="2813050" y="1143000"/>
            <a:ext cx="1471613" cy="1254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B8F32-B0EE-4F8A-918A-F4601737F872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777875"/>
          </a:xfrm>
        </p:spPr>
        <p:txBody>
          <a:bodyPr/>
          <a:lstStyle/>
          <a:p>
            <a:r>
              <a:rPr lang="en-US" altLang="zh-CN"/>
              <a:t>Variable Length Data</a:t>
            </a:r>
          </a:p>
        </p:txBody>
      </p:sp>
      <p:grpSp>
        <p:nvGrpSpPr>
          <p:cNvPr id="65588" name="Group 52"/>
          <p:cNvGrpSpPr>
            <a:grpSpLocks/>
          </p:cNvGrpSpPr>
          <p:nvPr/>
        </p:nvGrpSpPr>
        <p:grpSpPr bwMode="auto">
          <a:xfrm>
            <a:off x="755650" y="981075"/>
            <a:ext cx="2419350" cy="5338763"/>
            <a:chOff x="399" y="672"/>
            <a:chExt cx="1524" cy="3363"/>
          </a:xfrm>
        </p:grpSpPr>
        <p:sp>
          <p:nvSpPr>
            <p:cNvPr id="65540" name="Rectangle 4"/>
            <p:cNvSpPr>
              <a:spLocks noChangeArrowheads="1"/>
            </p:cNvSpPr>
            <p:nvPr/>
          </p:nvSpPr>
          <p:spPr bwMode="auto">
            <a:xfrm>
              <a:off x="399" y="2765"/>
              <a:ext cx="1329" cy="1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temporaries</a:t>
              </a:r>
            </a:p>
            <a:p>
              <a:pPr>
                <a:buFontTx/>
                <a:buNone/>
              </a:pPr>
              <a:endParaRPr lang="en-US" altLang="zh-CN" sz="1800">
                <a:latin typeface="Times New Roman" panose="02020603050405020304" pitchFamily="18" charset="0"/>
              </a:endParaRPr>
            </a:p>
            <a:p>
              <a:pPr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array a</a:t>
              </a:r>
            </a:p>
            <a:p>
              <a:pPr>
                <a:buFontTx/>
                <a:buNone/>
              </a:pPr>
              <a:endParaRPr lang="en-US" altLang="zh-CN" sz="1800">
                <a:latin typeface="Times New Roman" panose="02020603050405020304" pitchFamily="18" charset="0"/>
              </a:endParaRPr>
            </a:p>
            <a:p>
              <a:pPr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array b</a:t>
              </a:r>
            </a:p>
            <a:p>
              <a:pPr algn="ctr">
                <a:buFontTx/>
                <a:buNone/>
              </a:pP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65541" name="Rectangle 5"/>
            <p:cNvSpPr>
              <a:spLocks noChangeArrowheads="1"/>
            </p:cNvSpPr>
            <p:nvPr/>
          </p:nvSpPr>
          <p:spPr bwMode="auto">
            <a:xfrm>
              <a:off x="399" y="1995"/>
              <a:ext cx="1329" cy="7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local data</a:t>
              </a:r>
            </a:p>
            <a:p>
              <a:pPr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pointer a</a:t>
              </a:r>
            </a:p>
            <a:p>
              <a:pPr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pointer b</a:t>
              </a:r>
            </a:p>
          </p:txBody>
        </p:sp>
        <p:sp>
          <p:nvSpPr>
            <p:cNvPr id="65542" name="Rectangle 6"/>
            <p:cNvSpPr>
              <a:spLocks noChangeArrowheads="1"/>
            </p:cNvSpPr>
            <p:nvPr/>
          </p:nvSpPr>
          <p:spPr bwMode="auto">
            <a:xfrm>
              <a:off x="399" y="1592"/>
              <a:ext cx="1329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saved machine status</a:t>
              </a:r>
            </a:p>
          </p:txBody>
        </p:sp>
        <p:sp>
          <p:nvSpPr>
            <p:cNvPr id="65543" name="Rectangle 7"/>
            <p:cNvSpPr>
              <a:spLocks noChangeArrowheads="1"/>
            </p:cNvSpPr>
            <p:nvPr/>
          </p:nvSpPr>
          <p:spPr bwMode="auto">
            <a:xfrm>
              <a:off x="399" y="1362"/>
              <a:ext cx="132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optional access link</a:t>
              </a:r>
            </a:p>
          </p:txBody>
        </p:sp>
        <p:sp>
          <p:nvSpPr>
            <p:cNvPr id="65544" name="Rectangle 8"/>
            <p:cNvSpPr>
              <a:spLocks noChangeArrowheads="1"/>
            </p:cNvSpPr>
            <p:nvPr/>
          </p:nvSpPr>
          <p:spPr bwMode="auto">
            <a:xfrm>
              <a:off x="399" y="1132"/>
              <a:ext cx="132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optional control link</a:t>
              </a:r>
            </a:p>
          </p:txBody>
        </p:sp>
        <p:sp>
          <p:nvSpPr>
            <p:cNvPr id="65545" name="Rectangle 9"/>
            <p:cNvSpPr>
              <a:spLocks noChangeArrowheads="1"/>
            </p:cNvSpPr>
            <p:nvPr/>
          </p:nvSpPr>
          <p:spPr bwMode="auto">
            <a:xfrm>
              <a:off x="399" y="902"/>
              <a:ext cx="132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actual parameters</a:t>
              </a:r>
            </a:p>
          </p:txBody>
        </p:sp>
        <p:sp>
          <p:nvSpPr>
            <p:cNvPr id="65546" name="Rectangle 10"/>
            <p:cNvSpPr>
              <a:spLocks noChangeArrowheads="1"/>
            </p:cNvSpPr>
            <p:nvPr/>
          </p:nvSpPr>
          <p:spPr bwMode="auto">
            <a:xfrm>
              <a:off x="399" y="672"/>
              <a:ext cx="132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return value</a:t>
              </a:r>
            </a:p>
          </p:txBody>
        </p:sp>
        <p:sp>
          <p:nvSpPr>
            <p:cNvPr id="65547" name="Line 11"/>
            <p:cNvSpPr>
              <a:spLocks noChangeShapeType="1"/>
            </p:cNvSpPr>
            <p:nvPr/>
          </p:nvSpPr>
          <p:spPr bwMode="auto">
            <a:xfrm>
              <a:off x="399" y="672"/>
              <a:ext cx="132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8" name="Line 12"/>
            <p:cNvSpPr>
              <a:spLocks noChangeShapeType="1"/>
            </p:cNvSpPr>
            <p:nvPr/>
          </p:nvSpPr>
          <p:spPr bwMode="auto">
            <a:xfrm>
              <a:off x="399" y="902"/>
              <a:ext cx="13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9" name="Line 13"/>
            <p:cNvSpPr>
              <a:spLocks noChangeShapeType="1"/>
            </p:cNvSpPr>
            <p:nvPr/>
          </p:nvSpPr>
          <p:spPr bwMode="auto">
            <a:xfrm>
              <a:off x="399" y="1132"/>
              <a:ext cx="13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0" name="Line 14"/>
            <p:cNvSpPr>
              <a:spLocks noChangeShapeType="1"/>
            </p:cNvSpPr>
            <p:nvPr/>
          </p:nvSpPr>
          <p:spPr bwMode="auto">
            <a:xfrm>
              <a:off x="399" y="1362"/>
              <a:ext cx="13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Line 15"/>
            <p:cNvSpPr>
              <a:spLocks noChangeShapeType="1"/>
            </p:cNvSpPr>
            <p:nvPr/>
          </p:nvSpPr>
          <p:spPr bwMode="auto">
            <a:xfrm>
              <a:off x="399" y="1592"/>
              <a:ext cx="13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2" name="Line 16"/>
            <p:cNvSpPr>
              <a:spLocks noChangeShapeType="1"/>
            </p:cNvSpPr>
            <p:nvPr/>
          </p:nvSpPr>
          <p:spPr bwMode="auto">
            <a:xfrm>
              <a:off x="399" y="1995"/>
              <a:ext cx="13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3" name="Line 17"/>
            <p:cNvSpPr>
              <a:spLocks noChangeShapeType="1"/>
            </p:cNvSpPr>
            <p:nvPr/>
          </p:nvSpPr>
          <p:spPr bwMode="auto">
            <a:xfrm>
              <a:off x="399" y="2765"/>
              <a:ext cx="13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4" name="Line 18"/>
            <p:cNvSpPr>
              <a:spLocks noChangeShapeType="1"/>
            </p:cNvSpPr>
            <p:nvPr/>
          </p:nvSpPr>
          <p:spPr bwMode="auto">
            <a:xfrm>
              <a:off x="399" y="4035"/>
              <a:ext cx="132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5" name="Line 19"/>
            <p:cNvSpPr>
              <a:spLocks noChangeShapeType="1"/>
            </p:cNvSpPr>
            <p:nvPr/>
          </p:nvSpPr>
          <p:spPr bwMode="auto">
            <a:xfrm>
              <a:off x="399" y="672"/>
              <a:ext cx="0" cy="336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7" name="Line 21"/>
            <p:cNvSpPr>
              <a:spLocks noChangeShapeType="1"/>
            </p:cNvSpPr>
            <p:nvPr/>
          </p:nvSpPr>
          <p:spPr bwMode="auto">
            <a:xfrm>
              <a:off x="1728" y="672"/>
              <a:ext cx="0" cy="336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9" name="Line 23"/>
            <p:cNvSpPr>
              <a:spLocks noChangeShapeType="1"/>
            </p:cNvSpPr>
            <p:nvPr/>
          </p:nvSpPr>
          <p:spPr bwMode="auto">
            <a:xfrm>
              <a:off x="399" y="3022"/>
              <a:ext cx="13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0" name="AutoShape 24"/>
            <p:cNvSpPr>
              <a:spLocks/>
            </p:cNvSpPr>
            <p:nvPr/>
          </p:nvSpPr>
          <p:spPr bwMode="auto">
            <a:xfrm>
              <a:off x="1746" y="2251"/>
              <a:ext cx="44" cy="1056"/>
            </a:xfrm>
            <a:prstGeom prst="rightBracket">
              <a:avLst>
                <a:gd name="adj" fmla="val 2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1" name="AutoShape 25"/>
            <p:cNvSpPr>
              <a:spLocks/>
            </p:cNvSpPr>
            <p:nvPr/>
          </p:nvSpPr>
          <p:spPr bwMode="auto">
            <a:xfrm>
              <a:off x="1746" y="2523"/>
              <a:ext cx="177" cy="1152"/>
            </a:xfrm>
            <a:prstGeom prst="rightBracket">
              <a:avLst>
                <a:gd name="adj" fmla="val 5423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562" name="Text Box 26"/>
          <p:cNvSpPr txBox="1">
            <a:spLocks noChangeArrowheads="1"/>
          </p:cNvSpPr>
          <p:nvPr/>
        </p:nvSpPr>
        <p:spPr bwMode="auto">
          <a:xfrm>
            <a:off x="3563938" y="1484313"/>
            <a:ext cx="49180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Variable length data is allocated after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temporaries, and there is a link to from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local data to that array.</a:t>
            </a: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CDFB-5137-4DAD-94E8-C90951E822CA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936625"/>
          </a:xfrm>
        </p:spPr>
        <p:txBody>
          <a:bodyPr/>
          <a:lstStyle/>
          <a:p>
            <a:r>
              <a:rPr lang="en-US" altLang="zh-CN" sz="4000"/>
              <a:t>Access to Nonlocal Names </a:t>
            </a:r>
            <a:r>
              <a:rPr lang="en-US" altLang="zh-CN" sz="3200"/>
              <a:t>(P.411)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Scope rules of a language determine the treatment of references to nonlocal names.</a:t>
            </a:r>
          </a:p>
          <a:p>
            <a:r>
              <a:rPr lang="en-US" altLang="zh-CN" sz="2000"/>
              <a:t>Scope Rules:</a:t>
            </a:r>
          </a:p>
          <a:p>
            <a:pPr lvl="1"/>
            <a:r>
              <a:rPr lang="en-US" altLang="zh-CN" sz="2000" b="1"/>
              <a:t>Lexical Scope (Static Scope)</a:t>
            </a:r>
          </a:p>
          <a:p>
            <a:pPr lvl="2"/>
            <a:r>
              <a:rPr lang="en-US" altLang="zh-CN" sz="2000"/>
              <a:t>Determines the declaration that applies to a name by examining the program text alone at compile-time.</a:t>
            </a:r>
          </a:p>
          <a:p>
            <a:pPr lvl="2"/>
            <a:r>
              <a:rPr lang="en-US" altLang="zh-CN" sz="2000"/>
              <a:t>Most-closely nested rule is used.</a:t>
            </a:r>
          </a:p>
          <a:p>
            <a:pPr lvl="2"/>
            <a:r>
              <a:rPr lang="en-US" altLang="zh-CN" sz="2000"/>
              <a:t>Pascal, C, ..</a:t>
            </a:r>
          </a:p>
          <a:p>
            <a:pPr lvl="1"/>
            <a:r>
              <a:rPr lang="en-US" altLang="zh-CN" sz="2000" b="1"/>
              <a:t>Dynamic Scope</a:t>
            </a:r>
          </a:p>
          <a:p>
            <a:pPr lvl="2"/>
            <a:r>
              <a:rPr lang="en-US" altLang="zh-CN" sz="2000"/>
              <a:t>Determines the declaration that applies to a name at run-time.</a:t>
            </a:r>
          </a:p>
          <a:p>
            <a:pPr lvl="2"/>
            <a:r>
              <a:rPr lang="en-US" altLang="zh-CN" sz="2000"/>
              <a:t>Lisp, APL, ...</a:t>
            </a:r>
          </a:p>
          <a:p>
            <a:pPr lvl="2"/>
            <a:endParaRPr lang="en-US" altLang="zh-CN" sz="2000"/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716B2-191A-40F2-9696-7AD33A3A7D8A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Lexical Scope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/>
              <a:t>The scope of a declaration in a block-structured language is given by the </a:t>
            </a:r>
            <a:r>
              <a:rPr lang="en-US" altLang="zh-CN" sz="2000" i="1"/>
              <a:t>mostly closed rule</a:t>
            </a:r>
            <a:r>
              <a:rPr lang="en-US" altLang="zh-CN" sz="2000"/>
              <a:t>.</a:t>
            </a:r>
          </a:p>
          <a:p>
            <a:r>
              <a:rPr lang="en-US" altLang="zh-CN" sz="2000"/>
              <a:t>Each procedure (block) will have its own activation record.</a:t>
            </a:r>
          </a:p>
          <a:p>
            <a:pPr lvl="1"/>
            <a:r>
              <a:rPr lang="en-US" altLang="zh-CN" sz="2000"/>
              <a:t>procedure</a:t>
            </a:r>
          </a:p>
          <a:p>
            <a:pPr lvl="1"/>
            <a:r>
              <a:rPr lang="en-US" altLang="zh-CN" sz="2000"/>
              <a:t>begin-end blocks </a:t>
            </a:r>
          </a:p>
          <a:p>
            <a:pPr lvl="2"/>
            <a:r>
              <a:rPr lang="en-US" altLang="zh-CN" sz="2000"/>
              <a:t> (treated same as procedure without creating most part of its activation record)</a:t>
            </a:r>
          </a:p>
          <a:p>
            <a:r>
              <a:rPr lang="en-US" altLang="zh-CN" sz="2000"/>
              <a:t>A procedure may access to a nonlocal name using:</a:t>
            </a:r>
          </a:p>
          <a:p>
            <a:pPr lvl="1"/>
            <a:r>
              <a:rPr lang="en-US" altLang="zh-CN" sz="2000"/>
              <a:t>access links in activation records, or</a:t>
            </a:r>
          </a:p>
          <a:p>
            <a:pPr lvl="1"/>
            <a:r>
              <a:rPr lang="en-US" altLang="zh-CN" sz="2000"/>
              <a:t>displays (an efficient way to access to nonlocal names)</a:t>
            </a: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375C-C05A-4311-906C-8461CD29D601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Access Links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336550" y="1482725"/>
            <a:ext cx="4379913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program main;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var a:int;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procedure p;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var d:int;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begin a:=1;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procedure q(i:int);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var b:int;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procedure s;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var c:int;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begin p;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begin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if (i&lt;&gt;0) then q(i-1)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else s;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begin q(1); end;</a:t>
            </a:r>
          </a:p>
        </p:txBody>
      </p:sp>
      <p:graphicFrame>
        <p:nvGraphicFramePr>
          <p:cNvPr id="68632" name="Group 24"/>
          <p:cNvGraphicFramePr>
            <a:graphicFrameLocks noGrp="1"/>
          </p:cNvGraphicFramePr>
          <p:nvPr/>
        </p:nvGraphicFramePr>
        <p:xfrm>
          <a:off x="6611938" y="1219200"/>
          <a:ext cx="1992312" cy="5127625"/>
        </p:xfrm>
        <a:graphic>
          <a:graphicData uri="http://schemas.openxmlformats.org/drawingml/2006/table">
            <a:tbl>
              <a:tblPr/>
              <a:tblGrid>
                <a:gridCol w="1992312">
                  <a:extLst>
                    <a:ext uri="{9D8B030D-6E8A-4147-A177-3AD203B41FA5}">
                      <a16:colId xmlns:a16="http://schemas.microsoft.com/office/drawing/2014/main" val="3789183943"/>
                    </a:ext>
                  </a:extLst>
                </a:gridCol>
              </a:tblGrid>
              <a:tr h="881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access link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1696"/>
                  </a:ext>
                </a:extLst>
              </a:tr>
              <a:tr h="879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q(1)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access link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i,b: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696336"/>
                  </a:ext>
                </a:extLst>
              </a:tr>
              <a:tr h="881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q(0)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access link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i,b: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385533"/>
                  </a:ext>
                </a:extLst>
              </a:tr>
              <a:tr h="879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access link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750701"/>
                  </a:ext>
                </a:extLst>
              </a:tr>
              <a:tr h="881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access link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378232"/>
                  </a:ext>
                </a:extLst>
              </a:tr>
            </a:tbl>
          </a:graphicData>
        </a:graphic>
      </p:graphicFrame>
      <p:sp>
        <p:nvSpPr>
          <p:cNvPr id="68626" name="AutoShape 18"/>
          <p:cNvSpPr>
            <a:spLocks/>
          </p:cNvSpPr>
          <p:nvPr/>
        </p:nvSpPr>
        <p:spPr bwMode="auto">
          <a:xfrm>
            <a:off x="6119813" y="1752600"/>
            <a:ext cx="492125" cy="4114800"/>
          </a:xfrm>
          <a:prstGeom prst="leftBracket">
            <a:avLst>
              <a:gd name="adj" fmla="val 6967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7" name="AutoShape 19"/>
          <p:cNvSpPr>
            <a:spLocks/>
          </p:cNvSpPr>
          <p:nvPr/>
        </p:nvSpPr>
        <p:spPr bwMode="auto">
          <a:xfrm>
            <a:off x="6189663" y="3810000"/>
            <a:ext cx="422275" cy="1066800"/>
          </a:xfrm>
          <a:prstGeom prst="leftBracket">
            <a:avLst>
              <a:gd name="adj" fmla="val 2105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8" name="AutoShape 20"/>
          <p:cNvSpPr>
            <a:spLocks/>
          </p:cNvSpPr>
          <p:nvPr/>
        </p:nvSpPr>
        <p:spPr bwMode="auto">
          <a:xfrm>
            <a:off x="6259513" y="1828800"/>
            <a:ext cx="352425" cy="1981200"/>
          </a:xfrm>
          <a:prstGeom prst="leftBracket">
            <a:avLst>
              <a:gd name="adj" fmla="val 4684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9" name="AutoShape 21"/>
          <p:cNvSpPr>
            <a:spLocks/>
          </p:cNvSpPr>
          <p:nvPr/>
        </p:nvSpPr>
        <p:spPr bwMode="auto">
          <a:xfrm>
            <a:off x="6400800" y="1905000"/>
            <a:ext cx="141288" cy="838200"/>
          </a:xfrm>
          <a:prstGeom prst="leftBracket">
            <a:avLst>
              <a:gd name="adj" fmla="val 4943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30" name="Text Box 22"/>
          <p:cNvSpPr txBox="1">
            <a:spLocks noChangeArrowheads="1"/>
          </p:cNvSpPr>
          <p:nvPr/>
        </p:nvSpPr>
        <p:spPr bwMode="auto">
          <a:xfrm>
            <a:off x="5064125" y="2895600"/>
            <a:ext cx="9667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Access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Links</a:t>
            </a: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87DD-DCEB-4A62-B3EA-517F8E1799C2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Procedure Parameters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336550" y="1482725"/>
            <a:ext cx="3968750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program main;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procedure p(procedure a);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begin a;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procedure q;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procedure s;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  begin ...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begin p(s)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begin q; end;</a:t>
            </a:r>
          </a:p>
          <a:p>
            <a:pPr eaLnBrk="0" hangingPunct="0"/>
            <a:r>
              <a:rPr lang="en-US" altLang="zh-CN" sz="2000">
                <a:latin typeface="Courier New" panose="02070309020205020404" pitchFamily="49" charset="0"/>
              </a:rPr>
              <a:t>    </a:t>
            </a:r>
          </a:p>
        </p:txBody>
      </p:sp>
      <p:grpSp>
        <p:nvGrpSpPr>
          <p:cNvPr id="70676" name="Group 20"/>
          <p:cNvGrpSpPr>
            <a:grpSpLocks/>
          </p:cNvGrpSpPr>
          <p:nvPr/>
        </p:nvGrpSpPr>
        <p:grpSpPr bwMode="auto">
          <a:xfrm>
            <a:off x="5697538" y="1227138"/>
            <a:ext cx="1922462" cy="4402137"/>
            <a:chOff x="3589" y="773"/>
            <a:chExt cx="1211" cy="2773"/>
          </a:xfrm>
        </p:grpSpPr>
        <p:sp>
          <p:nvSpPr>
            <p:cNvPr id="70661" name="Rectangle 5"/>
            <p:cNvSpPr>
              <a:spLocks noChangeArrowheads="1"/>
            </p:cNvSpPr>
            <p:nvPr/>
          </p:nvSpPr>
          <p:spPr bwMode="auto">
            <a:xfrm>
              <a:off x="3855" y="2853"/>
              <a:ext cx="945" cy="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/>
                <a:t>s</a:t>
              </a:r>
            </a:p>
            <a:p>
              <a:pPr>
                <a:buFontTx/>
                <a:buNone/>
              </a:pPr>
              <a:r>
                <a:rPr lang="en-US" altLang="zh-CN" sz="1800"/>
                <a:t>access link</a:t>
              </a:r>
            </a:p>
          </p:txBody>
        </p:sp>
        <p:sp>
          <p:nvSpPr>
            <p:cNvPr id="70662" name="Rectangle 6"/>
            <p:cNvSpPr>
              <a:spLocks noChangeArrowheads="1"/>
            </p:cNvSpPr>
            <p:nvPr/>
          </p:nvSpPr>
          <p:spPr bwMode="auto">
            <a:xfrm>
              <a:off x="3855" y="2160"/>
              <a:ext cx="945" cy="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/>
                <a:t>p</a:t>
              </a:r>
            </a:p>
            <a:p>
              <a:pPr>
                <a:buFontTx/>
                <a:buNone/>
              </a:pPr>
              <a:r>
                <a:rPr lang="en-US" altLang="zh-CN" sz="1800"/>
                <a:t>access link</a:t>
              </a:r>
            </a:p>
          </p:txBody>
        </p:sp>
        <p:sp>
          <p:nvSpPr>
            <p:cNvPr id="70663" name="Rectangle 7"/>
            <p:cNvSpPr>
              <a:spLocks noChangeArrowheads="1"/>
            </p:cNvSpPr>
            <p:nvPr/>
          </p:nvSpPr>
          <p:spPr bwMode="auto">
            <a:xfrm>
              <a:off x="3855" y="1466"/>
              <a:ext cx="945" cy="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/>
                <a:t>q</a:t>
              </a:r>
            </a:p>
            <a:p>
              <a:pPr>
                <a:buFontTx/>
                <a:buNone/>
              </a:pPr>
              <a:r>
                <a:rPr lang="en-US" altLang="zh-CN" sz="1800"/>
                <a:t>access link</a:t>
              </a:r>
            </a:p>
          </p:txBody>
        </p:sp>
        <p:sp>
          <p:nvSpPr>
            <p:cNvPr id="70664" name="Rectangle 8"/>
            <p:cNvSpPr>
              <a:spLocks noChangeArrowheads="1"/>
            </p:cNvSpPr>
            <p:nvPr/>
          </p:nvSpPr>
          <p:spPr bwMode="auto">
            <a:xfrm>
              <a:off x="3855" y="773"/>
              <a:ext cx="945" cy="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/>
                <a:t>main</a:t>
              </a:r>
            </a:p>
            <a:p>
              <a:pPr>
                <a:buFontTx/>
                <a:buNone/>
              </a:pPr>
              <a:r>
                <a:rPr lang="en-US" altLang="zh-CN" sz="1800"/>
                <a:t>access link</a:t>
              </a:r>
            </a:p>
          </p:txBody>
        </p:sp>
        <p:sp>
          <p:nvSpPr>
            <p:cNvPr id="70665" name="Line 9"/>
            <p:cNvSpPr>
              <a:spLocks noChangeShapeType="1"/>
            </p:cNvSpPr>
            <p:nvPr/>
          </p:nvSpPr>
          <p:spPr bwMode="auto">
            <a:xfrm>
              <a:off x="3855" y="773"/>
              <a:ext cx="94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6" name="Line 10"/>
            <p:cNvSpPr>
              <a:spLocks noChangeShapeType="1"/>
            </p:cNvSpPr>
            <p:nvPr/>
          </p:nvSpPr>
          <p:spPr bwMode="auto">
            <a:xfrm>
              <a:off x="3855" y="1466"/>
              <a:ext cx="9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7" name="Line 11"/>
            <p:cNvSpPr>
              <a:spLocks noChangeShapeType="1"/>
            </p:cNvSpPr>
            <p:nvPr/>
          </p:nvSpPr>
          <p:spPr bwMode="auto">
            <a:xfrm>
              <a:off x="3855" y="2160"/>
              <a:ext cx="9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8" name="Line 12"/>
            <p:cNvSpPr>
              <a:spLocks noChangeShapeType="1"/>
            </p:cNvSpPr>
            <p:nvPr/>
          </p:nvSpPr>
          <p:spPr bwMode="auto">
            <a:xfrm>
              <a:off x="3855" y="2853"/>
              <a:ext cx="9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Line 13"/>
            <p:cNvSpPr>
              <a:spLocks noChangeShapeType="1"/>
            </p:cNvSpPr>
            <p:nvPr/>
          </p:nvSpPr>
          <p:spPr bwMode="auto">
            <a:xfrm>
              <a:off x="3855" y="3546"/>
              <a:ext cx="94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0" name="Line 14"/>
            <p:cNvSpPr>
              <a:spLocks noChangeShapeType="1"/>
            </p:cNvSpPr>
            <p:nvPr/>
          </p:nvSpPr>
          <p:spPr bwMode="auto">
            <a:xfrm>
              <a:off x="3855" y="773"/>
              <a:ext cx="0" cy="277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15"/>
            <p:cNvSpPr>
              <a:spLocks noChangeShapeType="1"/>
            </p:cNvSpPr>
            <p:nvPr/>
          </p:nvSpPr>
          <p:spPr bwMode="auto">
            <a:xfrm>
              <a:off x="4800" y="773"/>
              <a:ext cx="0" cy="277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AutoShape 16"/>
            <p:cNvSpPr>
              <a:spLocks/>
            </p:cNvSpPr>
            <p:nvPr/>
          </p:nvSpPr>
          <p:spPr bwMode="auto">
            <a:xfrm>
              <a:off x="3678" y="1152"/>
              <a:ext cx="132" cy="672"/>
            </a:xfrm>
            <a:prstGeom prst="leftBracket">
              <a:avLst>
                <a:gd name="adj" fmla="val 4242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3" name="AutoShape 17"/>
            <p:cNvSpPr>
              <a:spLocks/>
            </p:cNvSpPr>
            <p:nvPr/>
          </p:nvSpPr>
          <p:spPr bwMode="auto">
            <a:xfrm>
              <a:off x="3589" y="1152"/>
              <a:ext cx="266" cy="1392"/>
            </a:xfrm>
            <a:prstGeom prst="leftBracket">
              <a:avLst>
                <a:gd name="adj" fmla="val 4360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4" name="AutoShape 18"/>
            <p:cNvSpPr>
              <a:spLocks/>
            </p:cNvSpPr>
            <p:nvPr/>
          </p:nvSpPr>
          <p:spPr bwMode="auto">
            <a:xfrm>
              <a:off x="3678" y="1872"/>
              <a:ext cx="177" cy="1344"/>
            </a:xfrm>
            <a:prstGeom prst="leftBracket">
              <a:avLst>
                <a:gd name="adj" fmla="val 63277"/>
              </a:avLst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675" name="Text Box 19"/>
          <p:cNvSpPr txBox="1">
            <a:spLocks noChangeArrowheads="1"/>
          </p:cNvSpPr>
          <p:nvPr/>
        </p:nvSpPr>
        <p:spPr bwMode="auto">
          <a:xfrm>
            <a:off x="1039813" y="4537075"/>
            <a:ext cx="39989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Access links must be passed with </a:t>
            </a:r>
          </a:p>
          <a:p>
            <a:pPr eaLnBrk="0" hangingPunct="0"/>
            <a:r>
              <a:rPr lang="en-US" altLang="zh-CN" sz="2400">
                <a:latin typeface="Times New Roman" panose="02020603050405020304" pitchFamily="18" charset="0"/>
              </a:rPr>
              <a:t>procedure parameters.</a:t>
            </a: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FCD0-0F3A-4802-8689-7E2E26FE1770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altLang="zh-CN"/>
              <a:t>Storage organization (P.396)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2333625"/>
          </a:xfrm>
        </p:spPr>
        <p:txBody>
          <a:bodyPr/>
          <a:lstStyle/>
          <a:p>
            <a:r>
              <a:rPr lang="en-US" altLang="zh-CN" sz="2800"/>
              <a:t>The run-time storage might be subdivided:</a:t>
            </a:r>
          </a:p>
          <a:p>
            <a:pPr lvl="1"/>
            <a:r>
              <a:rPr lang="en-US" altLang="zh-CN" sz="2400">
                <a:solidFill>
                  <a:srgbClr val="0000FF"/>
                </a:solidFill>
              </a:rPr>
              <a:t>Target code</a:t>
            </a:r>
          </a:p>
          <a:p>
            <a:pPr lvl="1"/>
            <a:r>
              <a:rPr lang="en-US" altLang="zh-CN" sz="2400">
                <a:solidFill>
                  <a:srgbClr val="0000FF"/>
                </a:solidFill>
              </a:rPr>
              <a:t>Data object</a:t>
            </a:r>
          </a:p>
          <a:p>
            <a:pPr lvl="1"/>
            <a:r>
              <a:rPr lang="en-US" altLang="zh-CN" sz="2400">
                <a:solidFill>
                  <a:srgbClr val="0000FF"/>
                </a:solidFill>
              </a:rPr>
              <a:t>Control stack</a:t>
            </a:r>
          </a:p>
          <a:p>
            <a:pPr lvl="1"/>
            <a:r>
              <a:rPr lang="en-US" altLang="zh-CN" sz="2400">
                <a:solidFill>
                  <a:srgbClr val="0000FF"/>
                </a:solidFill>
              </a:rPr>
              <a:t>Heap</a:t>
            </a:r>
            <a:r>
              <a:rPr lang="en-US" altLang="zh-CN" sz="2400"/>
              <a:t> </a:t>
            </a:r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3563938" y="5516563"/>
            <a:ext cx="4464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Fig. 7.7 Typical subdivision of run-time memory into code and data areas.</a:t>
            </a:r>
          </a:p>
        </p:txBody>
      </p:sp>
      <p:grpSp>
        <p:nvGrpSpPr>
          <p:cNvPr id="32789" name="Group 21"/>
          <p:cNvGrpSpPr>
            <a:grpSpLocks/>
          </p:cNvGrpSpPr>
          <p:nvPr/>
        </p:nvGrpSpPr>
        <p:grpSpPr bwMode="auto">
          <a:xfrm>
            <a:off x="3425825" y="2565400"/>
            <a:ext cx="3306763" cy="2743200"/>
            <a:chOff x="2158" y="1797"/>
            <a:chExt cx="2083" cy="1728"/>
          </a:xfrm>
        </p:grpSpPr>
        <p:sp>
          <p:nvSpPr>
            <p:cNvPr id="32772" name="Line 4"/>
            <p:cNvSpPr>
              <a:spLocks noChangeShapeType="1"/>
            </p:cNvSpPr>
            <p:nvPr/>
          </p:nvSpPr>
          <p:spPr bwMode="auto">
            <a:xfrm>
              <a:off x="2789" y="1797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3" name="Line 5"/>
            <p:cNvSpPr>
              <a:spLocks noChangeShapeType="1"/>
            </p:cNvSpPr>
            <p:nvPr/>
          </p:nvSpPr>
          <p:spPr bwMode="auto">
            <a:xfrm>
              <a:off x="2789" y="1797"/>
              <a:ext cx="0" cy="1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4" name="Line 6"/>
            <p:cNvSpPr>
              <a:spLocks noChangeShapeType="1"/>
            </p:cNvSpPr>
            <p:nvPr/>
          </p:nvSpPr>
          <p:spPr bwMode="auto">
            <a:xfrm>
              <a:off x="2789" y="3521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5" name="Line 7"/>
            <p:cNvSpPr>
              <a:spLocks noChangeShapeType="1"/>
            </p:cNvSpPr>
            <p:nvPr/>
          </p:nvSpPr>
          <p:spPr bwMode="auto">
            <a:xfrm>
              <a:off x="4241" y="1797"/>
              <a:ext cx="0" cy="1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6" name="Line 8"/>
            <p:cNvSpPr>
              <a:spLocks noChangeShapeType="1"/>
            </p:cNvSpPr>
            <p:nvPr/>
          </p:nvSpPr>
          <p:spPr bwMode="auto">
            <a:xfrm>
              <a:off x="2789" y="2069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Line 9"/>
            <p:cNvSpPr>
              <a:spLocks noChangeShapeType="1"/>
            </p:cNvSpPr>
            <p:nvPr/>
          </p:nvSpPr>
          <p:spPr bwMode="auto">
            <a:xfrm>
              <a:off x="2789" y="2342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>
              <a:off x="2789" y="2614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9" name="Line 11"/>
            <p:cNvSpPr>
              <a:spLocks noChangeShapeType="1"/>
            </p:cNvSpPr>
            <p:nvPr/>
          </p:nvSpPr>
          <p:spPr bwMode="auto">
            <a:xfrm>
              <a:off x="2789" y="3294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Rectangle 12"/>
            <p:cNvSpPr>
              <a:spLocks noChangeArrowheads="1"/>
            </p:cNvSpPr>
            <p:nvPr/>
          </p:nvSpPr>
          <p:spPr bwMode="auto">
            <a:xfrm>
              <a:off x="3016" y="1797"/>
              <a:ext cx="9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Object code</a:t>
              </a:r>
            </a:p>
          </p:txBody>
        </p:sp>
        <p:sp>
          <p:nvSpPr>
            <p:cNvPr id="32781" name="Rectangle 13"/>
            <p:cNvSpPr>
              <a:spLocks noChangeArrowheads="1"/>
            </p:cNvSpPr>
            <p:nvPr/>
          </p:nvSpPr>
          <p:spPr bwMode="auto">
            <a:xfrm>
              <a:off x="3061" y="2115"/>
              <a:ext cx="9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Static data</a:t>
              </a:r>
            </a:p>
          </p:txBody>
        </p:sp>
        <p:sp>
          <p:nvSpPr>
            <p:cNvPr id="32782" name="Rectangle 14"/>
            <p:cNvSpPr>
              <a:spLocks noChangeArrowheads="1"/>
            </p:cNvSpPr>
            <p:nvPr/>
          </p:nvSpPr>
          <p:spPr bwMode="auto">
            <a:xfrm>
              <a:off x="3243" y="234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Stack</a:t>
              </a:r>
            </a:p>
          </p:txBody>
        </p:sp>
        <p:sp>
          <p:nvSpPr>
            <p:cNvPr id="32783" name="Rectangle 15"/>
            <p:cNvSpPr>
              <a:spLocks noChangeArrowheads="1"/>
            </p:cNvSpPr>
            <p:nvPr/>
          </p:nvSpPr>
          <p:spPr bwMode="auto">
            <a:xfrm>
              <a:off x="3288" y="3294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Heap</a:t>
              </a:r>
            </a:p>
          </p:txBody>
        </p:sp>
        <p:sp>
          <p:nvSpPr>
            <p:cNvPr id="32784" name="Line 16"/>
            <p:cNvSpPr>
              <a:spLocks noChangeShapeType="1"/>
            </p:cNvSpPr>
            <p:nvPr/>
          </p:nvSpPr>
          <p:spPr bwMode="auto">
            <a:xfrm flipV="1">
              <a:off x="3515" y="315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Line 17"/>
            <p:cNvSpPr>
              <a:spLocks noChangeShapeType="1"/>
            </p:cNvSpPr>
            <p:nvPr/>
          </p:nvSpPr>
          <p:spPr bwMode="auto">
            <a:xfrm>
              <a:off x="3515" y="261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Line 19"/>
            <p:cNvSpPr>
              <a:spLocks noChangeShapeType="1"/>
            </p:cNvSpPr>
            <p:nvPr/>
          </p:nvSpPr>
          <p:spPr bwMode="auto">
            <a:xfrm>
              <a:off x="2472" y="2614"/>
              <a:ext cx="27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8" name="Rectangle 20"/>
            <p:cNvSpPr>
              <a:spLocks noChangeArrowheads="1"/>
            </p:cNvSpPr>
            <p:nvPr/>
          </p:nvSpPr>
          <p:spPr bwMode="auto">
            <a:xfrm>
              <a:off x="2158" y="2478"/>
              <a:ext cx="2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hlink"/>
                  </a:solidFill>
                </a:rPr>
                <a:t>sp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900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0720-B442-4167-8CDD-630727B04EB2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65188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Storage-allocation strategies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249737"/>
          </a:xfrm>
        </p:spPr>
        <p:txBody>
          <a:bodyPr/>
          <a:lstStyle/>
          <a:p>
            <a:r>
              <a:rPr lang="en-US" altLang="zh-CN" sz="2400">
                <a:latin typeface="Times New Roman" panose="02020603050405020304" pitchFamily="18" charset="0"/>
              </a:rPr>
              <a:t>Three allocation strategies:</a:t>
            </a:r>
          </a:p>
          <a:p>
            <a:endParaRPr lang="en-US" altLang="zh-CN" sz="240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rPr>
              <a:t>Static allocation</a:t>
            </a:r>
            <a:r>
              <a:rPr lang="en-US" altLang="zh-CN" sz="2400">
                <a:latin typeface="Times New Roman" panose="02020603050405020304" pitchFamily="18" charset="0"/>
              </a:rPr>
              <a:t> lays out storage for all data objects at compile time.</a:t>
            </a:r>
          </a:p>
          <a:p>
            <a:pPr lvl="1"/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rPr>
              <a:t>Stack allocation</a:t>
            </a:r>
            <a:r>
              <a:rPr lang="en-US" altLang="zh-CN" sz="2400">
                <a:latin typeface="Times New Roman" panose="02020603050405020304" pitchFamily="18" charset="0"/>
              </a:rPr>
              <a:t> manages the run-time storage as a stack.</a:t>
            </a:r>
          </a:p>
          <a:p>
            <a:pPr lvl="1"/>
            <a:r>
              <a: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rPr>
              <a:t>Heap allocation</a:t>
            </a:r>
            <a:r>
              <a:rPr lang="en-US" altLang="zh-CN" sz="2400">
                <a:latin typeface="Times New Roman" panose="02020603050405020304" pitchFamily="18" charset="0"/>
              </a:rPr>
              <a:t> allocates and de-allocates storage as needed at run time from a data area known as a heap.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68597-C551-4D98-B718-D343374FEC15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Storage Allocation for Functions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276725"/>
          </a:xfrm>
        </p:spPr>
        <p:txBody>
          <a:bodyPr/>
          <a:lstStyle/>
          <a:p>
            <a:r>
              <a:rPr lang="en-US" altLang="zh-CN"/>
              <a:t>Static Allocation</a:t>
            </a:r>
          </a:p>
          <a:p>
            <a:pPr lvl="1"/>
            <a:r>
              <a:rPr lang="en-US" altLang="zh-CN"/>
              <a:t>Layout all storage for all data objects at compile time</a:t>
            </a:r>
          </a:p>
          <a:p>
            <a:pPr lvl="1"/>
            <a:r>
              <a:rPr lang="en-US" altLang="zh-CN"/>
              <a:t>Essentially every variable is stored globally</a:t>
            </a:r>
          </a:p>
          <a:p>
            <a:pPr lvl="1"/>
            <a:r>
              <a:rPr lang="en-US" altLang="zh-CN"/>
              <a:t>But the symbol table can still control local activation and de-activation of variables</a:t>
            </a:r>
          </a:p>
          <a:p>
            <a:pPr lvl="1"/>
            <a:r>
              <a:rPr lang="en-US" altLang="zh-CN"/>
              <a:t>Very restricted recursion is allowed</a:t>
            </a:r>
          </a:p>
          <a:p>
            <a:pPr lvl="1"/>
            <a:r>
              <a:rPr lang="en-US" altLang="zh-CN"/>
              <a:t>Example: Fortran 77 program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61C6E-5569-4F24-A84D-DFF796D74BDD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altLang="zh-CN"/>
              <a:t>Storage Allocation for Functions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r>
              <a:rPr lang="en-US" altLang="zh-CN"/>
              <a:t>Stack Allocation</a:t>
            </a:r>
          </a:p>
          <a:p>
            <a:pPr lvl="1"/>
            <a:r>
              <a:rPr lang="en-US" altLang="zh-CN"/>
              <a:t>Activation records are associated with each function activation</a:t>
            </a:r>
          </a:p>
          <a:p>
            <a:pPr lvl="1"/>
            <a:r>
              <a:rPr lang="en-US" altLang="zh-CN"/>
              <a:t>Activation records are pushed onto the stack when a call is made to the function</a:t>
            </a:r>
          </a:p>
          <a:p>
            <a:pPr lvl="1"/>
            <a:r>
              <a:rPr lang="en-US" altLang="zh-CN"/>
              <a:t>Storage for recursive functions is organized as a stack: </a:t>
            </a:r>
            <a:r>
              <a:rPr lang="en-US" altLang="zh-CN" b="1">
                <a:solidFill>
                  <a:srgbClr val="660066"/>
                </a:solidFill>
              </a:rPr>
              <a:t>last-in first-out (LIFO)</a:t>
            </a:r>
            <a:r>
              <a:rPr lang="en-US" altLang="zh-CN"/>
              <a:t> order</a:t>
            </a:r>
          </a:p>
          <a:p>
            <a:pPr lvl="1"/>
            <a:r>
              <a:rPr lang="en-US" altLang="zh-CN"/>
              <a:t>Size of activation records can be </a:t>
            </a:r>
            <a:r>
              <a:rPr lang="en-US" altLang="zh-CN">
                <a:solidFill>
                  <a:srgbClr val="FF0066"/>
                </a:solidFill>
              </a:rPr>
              <a:t>fixed or variable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627313" y="5013325"/>
            <a:ext cx="5651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5400" i="1">
                <a:solidFill>
                  <a:srgbClr val="FF0066"/>
                </a:solidFill>
              </a:rPr>
              <a:t>?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18D82-1300-4F96-BE60-38FCEF556246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Storage Allocation for Functions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Stack Allocation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Sometimes a minimum size is required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Variable length data is handled using pointers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Storage for the locals is contained in the activation record for that call.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Locals are deleted after activation ends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Caller locals are reinstated and execution continues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Example: C, Pascal and most modern programming languages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F9958-E1E3-4B20-A662-BCA0124A3016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Storage Allocation for Functions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29600" cy="4525962"/>
          </a:xfrm>
        </p:spPr>
        <p:txBody>
          <a:bodyPr/>
          <a:lstStyle/>
          <a:p>
            <a:r>
              <a:rPr lang="en-US" altLang="zh-CN"/>
              <a:t>Heap Allocation</a:t>
            </a:r>
          </a:p>
          <a:p>
            <a:pPr lvl="1"/>
            <a:r>
              <a:rPr lang="en-US" altLang="zh-CN"/>
              <a:t>In some special cases stack allocation is not possible</a:t>
            </a:r>
          </a:p>
          <a:p>
            <a:pPr lvl="1"/>
            <a:r>
              <a:rPr lang="en-US" altLang="zh-CN"/>
              <a:t>If local variables must be retained after the activation ends</a:t>
            </a:r>
          </a:p>
          <a:p>
            <a:pPr lvl="1"/>
            <a:r>
              <a:rPr lang="en-US" altLang="zh-CN"/>
              <a:t>If called activation outlives the caller</a:t>
            </a:r>
          </a:p>
          <a:p>
            <a:pPr lvl="1"/>
            <a:r>
              <a:rPr lang="en-US" altLang="zh-CN"/>
              <a:t>Anything that violates the last-in first-out nature of stack allocation e.g. functions as return values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3C4DE-0064-45E3-A960-8FC8E28F8CD2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r>
              <a:rPr lang="en-US" altLang="zh-CN" sz="4000"/>
              <a:t>Run-time Memory (MIPS)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88938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zh-CN" altLang="zh-CN" sz="240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25538"/>
            <a:ext cx="6624637" cy="501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BF183-B4C7-4DB8-B216-36DBBFDBDD43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en-US" altLang="zh-CN"/>
              <a:t>Stack for recursive functions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205038"/>
            <a:ext cx="3529012" cy="18002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/>
              <a:t>Recursive function is</a:t>
            </a:r>
          </a:p>
          <a:p>
            <a:pPr>
              <a:buFontTx/>
              <a:buNone/>
            </a:pPr>
            <a:r>
              <a:rPr lang="en-US" altLang="zh-CN" sz="2400"/>
              <a:t>used to calculate</a:t>
            </a:r>
          </a:p>
          <a:p>
            <a:pPr>
              <a:buFontTx/>
              <a:buNone/>
            </a:pPr>
            <a:r>
              <a:rPr lang="en-US" altLang="zh-CN" sz="2400"/>
              <a:t>factorial of n!:</a:t>
            </a:r>
          </a:p>
          <a:p>
            <a:pPr algn="ctr">
              <a:buFontTx/>
              <a:buNone/>
            </a:pPr>
            <a:r>
              <a:rPr lang="en-US" altLang="zh-CN" sz="2400"/>
              <a:t>fact(n)=n*fact(n-1)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0" y="1341438"/>
            <a:ext cx="3551238" cy="468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311F-664D-41D4-AFB8-CFD3DBB1A272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569325" cy="850900"/>
          </a:xfrm>
        </p:spPr>
        <p:txBody>
          <a:bodyPr/>
          <a:lstStyle/>
          <a:p>
            <a:r>
              <a:rPr lang="en-US" altLang="zh-CN" sz="3600"/>
              <a:t>Parameter Passing </a:t>
            </a:r>
            <a:r>
              <a:rPr lang="en-US" altLang="zh-CN" sz="4000"/>
              <a:t>Conventions </a:t>
            </a:r>
            <a:r>
              <a:rPr lang="en-US" altLang="zh-CN" sz="3600"/>
              <a:t>(P.424)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r>
              <a:rPr lang="en-US" altLang="zh-CN" sz="2800"/>
              <a:t>Differences based on:</a:t>
            </a:r>
          </a:p>
          <a:p>
            <a:pPr lvl="1"/>
            <a:r>
              <a:rPr lang="en-US" altLang="zh-CN" sz="2400"/>
              <a:t>The parameter represents an r-value (the rhs of an expr)</a:t>
            </a:r>
          </a:p>
          <a:p>
            <a:pPr lvl="1"/>
            <a:r>
              <a:rPr lang="en-US" altLang="zh-CN" sz="2400"/>
              <a:t>An l-value</a:t>
            </a:r>
          </a:p>
          <a:p>
            <a:pPr lvl="1"/>
            <a:r>
              <a:rPr lang="en-US" altLang="zh-CN" sz="2400"/>
              <a:t>Or the text of the parameter itself</a:t>
            </a:r>
          </a:p>
          <a:p>
            <a:r>
              <a:rPr lang="en-US" altLang="zh-CN" sz="2800"/>
              <a:t>Call by Value</a:t>
            </a:r>
          </a:p>
          <a:p>
            <a:pPr lvl="1"/>
            <a:r>
              <a:rPr lang="en-US" altLang="zh-CN" sz="2400"/>
              <a:t>Each parameter is evaluated</a:t>
            </a:r>
          </a:p>
          <a:p>
            <a:pPr lvl="1"/>
            <a:r>
              <a:rPr lang="en-US" altLang="zh-CN" sz="2400"/>
              <a:t>Pass the r-value to the function</a:t>
            </a:r>
          </a:p>
          <a:p>
            <a:pPr lvl="1"/>
            <a:r>
              <a:rPr lang="en-US" altLang="zh-CN" sz="2400"/>
              <a:t>No side-effect on the parameter</a:t>
            </a:r>
          </a:p>
          <a:p>
            <a:pPr lvl="1"/>
            <a:r>
              <a:rPr lang="en-US" altLang="zh-CN" sz="2400"/>
              <a:t>The caller places the actual parameters (r-values) in the storage for the formals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40D2C-3C02-4451-AFEA-336B2BC50748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en-US" altLang="zh-CN"/>
              <a:t>Parameter Passing Conventions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679950"/>
          </a:xfrm>
        </p:spPr>
        <p:txBody>
          <a:bodyPr/>
          <a:lstStyle/>
          <a:p>
            <a:r>
              <a:rPr lang="en-US" altLang="zh-CN" sz="2800"/>
              <a:t>Call by Reference</a:t>
            </a:r>
          </a:p>
          <a:p>
            <a:pPr lvl="1"/>
            <a:r>
              <a:rPr lang="en-US" altLang="zh-CN" sz="2400"/>
              <a:t>Also called call by address/location</a:t>
            </a:r>
          </a:p>
          <a:p>
            <a:pPr lvl="1"/>
            <a:r>
              <a:rPr lang="en-US" altLang="zh-CN" sz="2400"/>
              <a:t>If the parameter is a name or expr that is an lvalue</a:t>
            </a:r>
          </a:p>
          <a:p>
            <a:pPr lvl="1"/>
            <a:r>
              <a:rPr lang="en-US" altLang="zh-CN" sz="2400"/>
              <a:t>then pass the l-value</a:t>
            </a:r>
          </a:p>
          <a:p>
            <a:pPr lvl="1"/>
            <a:r>
              <a:rPr lang="en-US" altLang="zh-CN" sz="2400"/>
              <a:t>else create a new temporary l-value and pass that</a:t>
            </a:r>
          </a:p>
          <a:p>
            <a:pPr lvl="1"/>
            <a:r>
              <a:rPr lang="en-US" altLang="zh-CN" sz="2400"/>
              <a:t>Typical example: passing array elements a[i]</a:t>
            </a:r>
          </a:p>
          <a:p>
            <a:pPr lvl="1"/>
            <a:r>
              <a:rPr lang="en-US" altLang="zh-CN" sz="2400"/>
              <a:t>The caller passes the called procedure a pointer to the storage address of each actual parameter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4556-B1B1-4935-95B6-CC0D59AFAF56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Parameter Passing Conventions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r>
              <a:rPr lang="en-US" altLang="zh-CN" sz="2800"/>
              <a:t>Copy Restore Linkage</a:t>
            </a:r>
          </a:p>
          <a:p>
            <a:pPr lvl="1"/>
            <a:r>
              <a:rPr lang="en-US" altLang="zh-CN" sz="2400"/>
              <a:t>Pass only r-values to the called function (but keep the lvalue around for those parameters that have it)</a:t>
            </a:r>
          </a:p>
          <a:p>
            <a:pPr lvl="1"/>
            <a:r>
              <a:rPr lang="en-US" altLang="zh-CN" sz="2400"/>
              <a:t>When control returns back, take the r-values and copy it into the l-values for the parameters that have it</a:t>
            </a:r>
          </a:p>
          <a:p>
            <a:pPr lvl="1"/>
            <a:r>
              <a:rPr lang="en-US" altLang="zh-CN" sz="2400"/>
              <a:t>Some Fortran implementations</a:t>
            </a:r>
          </a:p>
          <a:p>
            <a:r>
              <a:rPr lang="en-US" altLang="zh-CN" sz="2800"/>
              <a:t>Call by Name</a:t>
            </a:r>
          </a:p>
          <a:p>
            <a:pPr lvl="1"/>
            <a:r>
              <a:rPr lang="en-US" altLang="zh-CN" sz="2400"/>
              <a:t>Function is treated like a macro (a #define) or in-line expansion</a:t>
            </a:r>
          </a:p>
          <a:p>
            <a:pPr lvl="1"/>
            <a:r>
              <a:rPr lang="en-US" altLang="zh-CN" sz="2400"/>
              <a:t>The parameters are literally re-written as passed arguments (keep caller variables distinct by renaming)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6BB6-620C-433F-B045-67633B258FEF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en-US" altLang="zh-CN"/>
              <a:t>Parameter Passing Conventions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713288"/>
          </a:xfrm>
        </p:spPr>
        <p:txBody>
          <a:bodyPr/>
          <a:lstStyle/>
          <a:p>
            <a:r>
              <a:rPr lang="en-US" altLang="zh-CN" sz="2800"/>
              <a:t>Lazy evaluation</a:t>
            </a:r>
          </a:p>
          <a:p>
            <a:pPr lvl="1"/>
            <a:r>
              <a:rPr lang="en-US" altLang="zh-CN" sz="2400"/>
              <a:t>In some languages, call-by-name is accomplished by sending a function (also called a thunk) instead of an rvalue</a:t>
            </a:r>
          </a:p>
          <a:p>
            <a:pPr lvl="1"/>
            <a:r>
              <a:rPr lang="en-US" altLang="zh-CN" sz="2400"/>
              <a:t>When the r-value is needed the function is called with zero arguments to produce the r-value</a:t>
            </a:r>
          </a:p>
          <a:p>
            <a:pPr lvl="1"/>
            <a:r>
              <a:rPr lang="en-US" altLang="zh-CN" sz="2400"/>
              <a:t>This avoids the time-consuming evaluation of r-values which may or may not be used by the called function (especially when you consider short-circuit evaluation)</a:t>
            </a:r>
          </a:p>
          <a:p>
            <a:pPr lvl="1"/>
            <a:r>
              <a:rPr lang="en-US" altLang="zh-CN" sz="2400"/>
              <a:t>Used in lazy functional languages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C7388-4704-40A2-98DF-20A633C96F66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r>
              <a:rPr lang="en-US" altLang="zh-CN"/>
              <a:t>Parameter Passing Conventions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6418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Call-by-need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Similar to lazy evaluation, but more efficient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To avoid executing similar r-values multiple times, some languages used a memo slot to avoid repeated function evaluations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A function parameter is only evaluated when used inside the called function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When used multiple times there is no overhead due to the memo table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Haskell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F9A0E-5F32-4D4A-9840-83BA1296A27F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990600"/>
            <a:ext cx="3911600" cy="4814888"/>
          </a:xfrm>
          <a:noFill/>
          <a:ln/>
        </p:spPr>
        <p:txBody>
          <a:bodyPr lIns="92075" tIns="46038" rIns="92075" bIns="46038" anchor="ctr" anchorCtr="1"/>
          <a:lstStyle/>
          <a:p>
            <a:pPr>
              <a:buFontTx/>
              <a:buNone/>
            </a:pPr>
            <a:r>
              <a:rPr lang="en-US" altLang="zh-CN" sz="2000"/>
              <a:t>int func1(int a, int b, </a:t>
            </a:r>
          </a:p>
          <a:p>
            <a:pPr>
              <a:buFontTx/>
              <a:buNone/>
            </a:pPr>
            <a:r>
              <a:rPr lang="en-US" altLang="zh-CN" sz="2000"/>
              <a:t>int c, int d)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   return a+b+c+d;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  <a:p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int caller1(void)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   return func1(1,2,3,4);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4211638" y="981075"/>
            <a:ext cx="38862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func1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0x000000 : ADD   r0,r0,r1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0x000004 : ADD   r0,r0,r2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0x000008 : ADD   r0,r0,r3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0x00000c : MOV   pc,lr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caller1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0x000014 : MOV   r3,#4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0x000018 : MOV   r2,#3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0x00001c : MOV   r1,#2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0x000020 : MOV   r0,#1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>
                <a:latin typeface="Courier New" panose="02070309020205020404" pitchFamily="49" charset="0"/>
              </a:rPr>
              <a:t>  0x000024 : BL    func1</a:t>
            </a:r>
            <a:endParaRPr lang="en-US" altLang="zh-CN" sz="2400" b="1"/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611188" y="333375"/>
            <a:ext cx="82089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/>
              <a:t>Example: Parameter Passing (4 parameters)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EA0EC-2277-4679-BAF2-0BB1CB1490C9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4356100" y="836613"/>
            <a:ext cx="42418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func2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0x000000 : STR      lr, [sp,#-4]!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0x000004 : ADD      r0,r0,r1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0x000008 : ADD      r0,r0,r2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0x00000C : ADD      r0,r0,r3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0x000010 : LDMIB    sp,{r12,r14}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0x000014 : ADD      r0,r0,r12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0x000018 : ADD      r0,r0,r14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0x00001C : LDR      pc,{sp},#4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caller2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0x000020 : STMFD    sp!,{r2,r3,lr}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0x000024 : MOV      r3,#6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0x000028 : MOV      r2,#5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0x00002C : STMIA    sp,{r2,r3}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0x000030 : MOV      r3,#4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0x000034 : MOV      r2,#3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0x000038 : MOV      r1,#2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0x00003C : MOV      r0,#1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0x000040 : BL       func2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>
                <a:latin typeface="Courier New" panose="02070309020205020404" pitchFamily="49" charset="0"/>
              </a:rPr>
              <a:t>  0x000044 : LDMFD    sp!,{r2,r3,pc}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323850" y="1268413"/>
            <a:ext cx="3671888" cy="363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int func1(int a,int b,intc,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int d,int e,int f)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{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 return a+b+c+d+e+f;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}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endParaRPr lang="en-US" altLang="zh-CN" sz="1600" b="1">
              <a:latin typeface="Courier New" panose="02070309020205020404" pitchFamily="49" charset="0"/>
            </a:endParaRP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int caller2(void)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{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 return func1(1,2,3,4,5,6);</a:t>
            </a:r>
          </a:p>
          <a:p>
            <a:pPr eaLnBrk="0" hangingPunct="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179388" y="5949950"/>
            <a:ext cx="4575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1600">
                <a:solidFill>
                  <a:schemeClr val="bg2"/>
                </a:solidFill>
              </a:rPr>
              <a:t>This code is compiled with “-O2 -Ono_autoinline”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395288" y="260350"/>
            <a:ext cx="8353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/>
              <a:t>Example: Parameter Passing (6 parameters)</a:t>
            </a:r>
            <a:endParaRPr lang="en-US" altLang="zh-CN" sz="320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C61-061B-4BE7-AD42-E5F5129858EB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981075"/>
            <a:ext cx="3384550" cy="4814888"/>
          </a:xfrm>
          <a:noFill/>
          <a:ln/>
        </p:spPr>
        <p:txBody>
          <a:bodyPr lIns="92075" tIns="46038" rIns="92075" bIns="46038" anchor="ctr" anchorCtr="1"/>
          <a:lstStyle/>
          <a:p>
            <a:endParaRPr lang="en-US" altLang="zh-CN" sz="2800"/>
          </a:p>
          <a:p>
            <a:pPr>
              <a:buFontTx/>
              <a:buNone/>
            </a:pPr>
            <a:r>
              <a:rPr lang="en-US" altLang="zh-CN" sz="2000"/>
              <a:t>int i;</a:t>
            </a:r>
          </a:p>
          <a:p>
            <a:pPr>
              <a:buFontTx/>
              <a:buNone/>
            </a:pPr>
            <a:r>
              <a:rPr lang="en-US" altLang="zh-CN" sz="2000"/>
              <a:t>int func1(int a,int b,int c,</a:t>
            </a:r>
          </a:p>
          <a:p>
            <a:pPr>
              <a:buFontTx/>
              <a:buNone/>
            </a:pPr>
            <a:r>
              <a:rPr lang="en-US" altLang="zh-CN" sz="2000"/>
              <a:t>int d,int e,int f)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return a+b+c+d+e+f;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  <a:p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int caller2(void)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return func1(i,i,i,i,i,i);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4211638" y="981075"/>
            <a:ext cx="424815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200"/>
              <a:t>        CODE32</a:t>
            </a:r>
          </a:p>
          <a:p>
            <a:r>
              <a:rPr lang="en-US" altLang="zh-CN" sz="1200"/>
              <a:t>        AREA ||.text||, CODE, READONLY</a:t>
            </a:r>
          </a:p>
          <a:p>
            <a:endParaRPr lang="en-US" altLang="zh-CN" sz="1200"/>
          </a:p>
          <a:p>
            <a:r>
              <a:rPr lang="en-US" altLang="zh-CN" sz="1200"/>
              <a:t>func1 PROC</a:t>
            </a:r>
          </a:p>
          <a:p>
            <a:r>
              <a:rPr lang="en-US" altLang="zh-CN" sz="1200"/>
              <a:t>|L1.0|</a:t>
            </a:r>
          </a:p>
          <a:p>
            <a:r>
              <a:rPr lang="en-US" altLang="zh-CN" sz="1200"/>
              <a:t>        STR      lr,[sp,#-4]!</a:t>
            </a:r>
          </a:p>
          <a:p>
            <a:r>
              <a:rPr lang="en-US" altLang="zh-CN" sz="1200"/>
              <a:t>        ADD      r0,r0,r1</a:t>
            </a:r>
          </a:p>
          <a:p>
            <a:r>
              <a:rPr lang="en-US" altLang="zh-CN" sz="1200"/>
              <a:t>        ADD      r0,r0,r2</a:t>
            </a:r>
          </a:p>
          <a:p>
            <a:r>
              <a:rPr lang="en-US" altLang="zh-CN" sz="1200"/>
              <a:t>        ADD      r0,r0,r3</a:t>
            </a:r>
          </a:p>
          <a:p>
            <a:r>
              <a:rPr lang="en-US" altLang="zh-CN" sz="1200"/>
              <a:t>        LDMIB    sp,{r12,lr}</a:t>
            </a:r>
          </a:p>
          <a:p>
            <a:r>
              <a:rPr lang="en-US" altLang="zh-CN" sz="1200"/>
              <a:t>        ADD      r0,r0,r12</a:t>
            </a:r>
          </a:p>
          <a:p>
            <a:r>
              <a:rPr lang="en-US" altLang="zh-CN" sz="1200"/>
              <a:t>        ADD      r0,r0,lr</a:t>
            </a:r>
          </a:p>
          <a:p>
            <a:r>
              <a:rPr lang="en-US" altLang="zh-CN" sz="1200"/>
              <a:t>        LDR      pc,[sp],#4</a:t>
            </a:r>
          </a:p>
          <a:p>
            <a:r>
              <a:rPr lang="en-US" altLang="zh-CN" sz="1200"/>
              <a:t>        ENDP</a:t>
            </a:r>
          </a:p>
          <a:p>
            <a:endParaRPr lang="en-US" altLang="zh-CN" sz="1200"/>
          </a:p>
          <a:p>
            <a:r>
              <a:rPr lang="en-US" altLang="zh-CN" sz="1200"/>
              <a:t>caller2 PROC</a:t>
            </a:r>
          </a:p>
          <a:p>
            <a:r>
              <a:rPr lang="en-US" altLang="zh-CN" sz="1200"/>
              <a:t>        LDR      r0,|L1.72|</a:t>
            </a:r>
          </a:p>
          <a:p>
            <a:r>
              <a:rPr lang="en-US" altLang="zh-CN" sz="1200"/>
              <a:t>        STMFD    sp!,{r2,r3,lr}</a:t>
            </a:r>
          </a:p>
          <a:p>
            <a:r>
              <a:rPr lang="en-US" altLang="zh-CN" sz="1200"/>
              <a:t>        LDR      r0,[r0,#0]  ; i</a:t>
            </a:r>
          </a:p>
          <a:p>
            <a:r>
              <a:rPr lang="en-US" altLang="zh-CN" sz="1200"/>
              <a:t>        STR      r0,[sp,#0]</a:t>
            </a:r>
          </a:p>
          <a:p>
            <a:r>
              <a:rPr lang="en-US" altLang="zh-CN" sz="1200"/>
              <a:t>        STR      r0,[sp,#4]</a:t>
            </a:r>
          </a:p>
          <a:p>
            <a:r>
              <a:rPr lang="en-US" altLang="zh-CN" sz="1200"/>
              <a:t>        MOV      r3,r0</a:t>
            </a:r>
          </a:p>
          <a:p>
            <a:r>
              <a:rPr lang="en-US" altLang="zh-CN" sz="1200"/>
              <a:t>        MOV      r2,r0</a:t>
            </a:r>
          </a:p>
          <a:p>
            <a:r>
              <a:rPr lang="en-US" altLang="zh-CN" sz="1200"/>
              <a:t>        MOV      r1,r0</a:t>
            </a:r>
          </a:p>
          <a:p>
            <a:r>
              <a:rPr lang="en-US" altLang="zh-CN" sz="1200"/>
              <a:t>        BL       func1</a:t>
            </a:r>
          </a:p>
          <a:p>
            <a:r>
              <a:rPr lang="en-US" altLang="zh-CN" sz="1200"/>
              <a:t>        LDMFD    sp!,{r2,r3,pc}</a:t>
            </a:r>
          </a:p>
          <a:p>
            <a:r>
              <a:rPr lang="en-US" altLang="zh-CN" sz="1200"/>
              <a:t>|L1.72|</a:t>
            </a:r>
          </a:p>
          <a:p>
            <a:r>
              <a:rPr lang="en-US" altLang="zh-CN" sz="1200"/>
              <a:t>        DCD      ||.bss$2||</a:t>
            </a:r>
          </a:p>
          <a:p>
            <a:r>
              <a:rPr lang="en-US" altLang="zh-CN" sz="1200"/>
              <a:t>        ENDP</a:t>
            </a:r>
          </a:p>
          <a:p>
            <a:r>
              <a:rPr lang="en-US" altLang="zh-CN" sz="1200"/>
              <a:t>        END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323850" y="333375"/>
            <a:ext cx="8569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/>
              <a:t>Example: Parameter Passing (6 parameters for ARM)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15BD-C50E-45F6-B7C7-EE62AA600260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P.457  7.8 a) </a:t>
            </a:r>
          </a:p>
          <a:p>
            <a:r>
              <a:rPr lang="en-US" altLang="zh-CN"/>
              <a:t>Content of Activation/frame</a:t>
            </a:r>
          </a:p>
          <a:p>
            <a:r>
              <a:rPr lang="en-US" altLang="zh-CN"/>
              <a:t>Storage-allocation strategies</a:t>
            </a:r>
          </a:p>
          <a:p>
            <a:r>
              <a:rPr lang="en-US" altLang="zh-CN"/>
              <a:t>Methods of Parameter Passing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Compilers: Principles, Techniques, and Tools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70836-6566-4FD5-B251-AE90A352120C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/>
              <a:t>例</a:t>
            </a:r>
            <a:r>
              <a:rPr lang="en-US" altLang="zh-CN" sz="2800" b="1"/>
              <a:t>1 </a:t>
            </a:r>
            <a:r>
              <a:rPr lang="zh-CN" altLang="en-US" sz="2800" b="1"/>
              <a:t>给定文法  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E  --&gt;   T   {  R.i  :=  T.p  }  R   {  E.p  :=  R.s  } 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R  --&gt;   addop T   {  R1.i  :=  mknode( addop.val, R.i, T.p )  }   R   {  R.s   :=  R1.s  }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R  --&gt;   </a:t>
            </a:r>
            <a:r>
              <a:rPr lang="en-US" altLang="zh-CN" sz="2000" b="1">
                <a:sym typeface="Symbol" panose="05050102010706020507" pitchFamily="18" charset="2"/>
              </a:rPr>
              <a:t></a:t>
            </a:r>
            <a:r>
              <a:rPr lang="en-US" altLang="zh-CN" sz="2000" b="1"/>
              <a:t>   {  R.s   :=  R1.s  }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T  --&gt;   (  E  )   {  T.p  :=  E.p  }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T  --&gt;   id   {  T.p  :=  mkleaf( id, id.entry )  }</a:t>
            </a:r>
          </a:p>
          <a:p>
            <a:pPr>
              <a:lnSpc>
                <a:spcPct val="90000"/>
              </a:lnSpc>
            </a:pPr>
            <a:r>
              <a:rPr lang="en-US" altLang="zh-CN" sz="2000" b="1"/>
              <a:t>T  --&gt;   num  {  T.p  :=  mkleaf( num, num.val )  }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(1) </a:t>
            </a:r>
            <a:r>
              <a:rPr lang="zh-CN" altLang="en-US" sz="2800" b="1"/>
              <a:t>指出文法中的各非终结符具有哪些综合属性和哪些继承属性</a:t>
            </a:r>
          </a:p>
          <a:p>
            <a:pPr>
              <a:lnSpc>
                <a:spcPct val="90000"/>
              </a:lnSpc>
            </a:pPr>
            <a:r>
              <a:rPr lang="zh-CN" altLang="en-US" sz="2800" b="1"/>
              <a:t>⑵ 画出按本翻译模式处理表达式 </a:t>
            </a:r>
            <a:r>
              <a:rPr lang="en-US" altLang="zh-CN" sz="2800" b="1"/>
              <a:t>a + 20 + ( b - 10 ) </a:t>
            </a:r>
            <a:r>
              <a:rPr lang="zh-CN" altLang="en-US" sz="2800" b="1"/>
              <a:t>时所生成的语法树</a:t>
            </a:r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3620</Words>
  <Application>Microsoft Office PowerPoint</Application>
  <PresentationFormat>全屏显示(4:3)</PresentationFormat>
  <Paragraphs>644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Arial</vt:lpstr>
      <vt:lpstr>宋体</vt:lpstr>
      <vt:lpstr>Times New Roman</vt:lpstr>
      <vt:lpstr>Courier New</vt:lpstr>
      <vt:lpstr>Wingdings</vt:lpstr>
      <vt:lpstr>Helvetica</vt:lpstr>
      <vt:lpstr>Symbol</vt:lpstr>
      <vt:lpstr>默认设计模板</vt:lpstr>
      <vt:lpstr>Run-Time Environments (P.389)</vt:lpstr>
      <vt:lpstr>Procedure Activations</vt:lpstr>
      <vt:lpstr>Cont.</vt:lpstr>
      <vt:lpstr>Activation Trees (P.391)</vt:lpstr>
      <vt:lpstr>Activation Tree (cont.)</vt:lpstr>
      <vt:lpstr>Activation Tree (cont.)</vt:lpstr>
      <vt:lpstr>Activation Tree (cont.)</vt:lpstr>
      <vt:lpstr>Control Stack (P.393)</vt:lpstr>
      <vt:lpstr>Cont.</vt:lpstr>
      <vt:lpstr>Variable Scopes</vt:lpstr>
      <vt:lpstr>Run-Time Storage Organization</vt:lpstr>
      <vt:lpstr>Problems with Functions</vt:lpstr>
      <vt:lpstr>Activation Records/Frame (P.398)</vt:lpstr>
      <vt:lpstr>Activation Records (cont.)</vt:lpstr>
      <vt:lpstr>Activation Records (Ex1)</vt:lpstr>
      <vt:lpstr>Activation Records for Recursive Procedures</vt:lpstr>
      <vt:lpstr>Creation of An Activation Record (P.407)</vt:lpstr>
      <vt:lpstr>Creation of An Activation Record (cont.)</vt:lpstr>
      <vt:lpstr>Variable Length Data</vt:lpstr>
      <vt:lpstr>Access to Nonlocal Names (P.411)</vt:lpstr>
      <vt:lpstr>Lexical Scope</vt:lpstr>
      <vt:lpstr>Access Links</vt:lpstr>
      <vt:lpstr>Procedure Parameters</vt:lpstr>
      <vt:lpstr>Storage organization (P.396)</vt:lpstr>
      <vt:lpstr>Storage-allocation strategies</vt:lpstr>
      <vt:lpstr>Storage Allocation for Functions</vt:lpstr>
      <vt:lpstr>Storage Allocation for Functions</vt:lpstr>
      <vt:lpstr>Storage Allocation for Functions</vt:lpstr>
      <vt:lpstr>Storage Allocation for Functions</vt:lpstr>
      <vt:lpstr>Run-time Memory (MIPS)</vt:lpstr>
      <vt:lpstr>Stack for recursive functions </vt:lpstr>
      <vt:lpstr>Parameter Passing Conventions (P.424)</vt:lpstr>
      <vt:lpstr>Parameter Passing Conventions</vt:lpstr>
      <vt:lpstr>Parameter Passing Conventions</vt:lpstr>
      <vt:lpstr>Parameter Passing Conventions</vt:lpstr>
      <vt:lpstr>Parameter Passing Conventions</vt:lpstr>
      <vt:lpstr>PowerPoint 演示文稿</vt:lpstr>
      <vt:lpstr>PowerPoint 演示文稿</vt:lpstr>
      <vt:lpstr>PowerPoint 演示文稿</vt:lpstr>
      <vt:lpstr>Exercises</vt:lpstr>
      <vt:lpstr>PowerPoint 演示文稿</vt:lpstr>
    </vt:vector>
  </TitlesOfParts>
  <Company>sei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Run-time Support</dc:title>
  <dc:creator>Administrator</dc:creator>
  <cp:lastModifiedBy>Exin Y</cp:lastModifiedBy>
  <cp:revision>55</cp:revision>
  <dcterms:created xsi:type="dcterms:W3CDTF">2004-11-23T08:56:33Z</dcterms:created>
  <dcterms:modified xsi:type="dcterms:W3CDTF">2015-10-07T09:27:21Z</dcterms:modified>
</cp:coreProperties>
</file>