
<file path=[Content_Types].xml><?xml version="1.0" encoding="utf-8"?>
<Types xmlns="http://schemas.openxmlformats.org/package/2006/content-types"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3648" r:id="rId1"/>
  </p:sldMasterIdLst>
  <p:notesMasterIdLst>
    <p:notesMasterId r:id="rId19"/>
  </p:notesMasterIdLst>
  <p:handoutMasterIdLst>
    <p:handoutMasterId r:id="rId20"/>
  </p:handoutMasterIdLst>
  <p:sldIdLst>
    <p:sldId id="256" r:id="rId2"/>
    <p:sldId id="268" r:id="rId3"/>
    <p:sldId id="257" r:id="rId4"/>
    <p:sldId id="269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70" r:id="rId16"/>
    <p:sldId id="272" r:id="rId17"/>
    <p:sldId id="274" r:id="rId18"/>
  </p:sldIdLst>
  <p:sldSz cx="9906000" cy="6858000" type="A4"/>
  <p:notesSz cx="6997700" cy="92837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80">
          <p15:clr>
            <a:srgbClr val="A4A3A4"/>
          </p15:clr>
        </p15:guide>
        <p15:guide id="2" pos="30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4">
          <p15:clr>
            <a:srgbClr val="A4A3A4"/>
          </p15:clr>
        </p15:guide>
        <p15:guide id="2" pos="2204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593" autoAdjust="0"/>
    <p:restoredTop sz="89655" autoAdjust="0"/>
  </p:normalViewPr>
  <p:slideViewPr>
    <p:cSldViewPr>
      <p:cViewPr varScale="1">
        <p:scale>
          <a:sx n="72" d="100"/>
          <a:sy n="72" d="100"/>
        </p:scale>
        <p:origin x="1302" y="72"/>
      </p:cViewPr>
      <p:guideLst>
        <p:guide orient="horz" pos="1680"/>
        <p:guide pos="3072"/>
      </p:guideLst>
    </p:cSldViewPr>
  </p:slideViewPr>
  <p:outlineViewPr>
    <p:cViewPr>
      <p:scale>
        <a:sx n="25" d="100"/>
        <a:sy n="25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60" d="100"/>
          <a:sy n="60" d="100"/>
        </p:scale>
        <p:origin x="-1698" y="-78"/>
      </p:cViewPr>
      <p:guideLst>
        <p:guide orient="horz" pos="2924"/>
        <p:guide pos="2204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18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defTabSz="912813">
              <a:defRPr sz="1200" smtClean="0"/>
            </a:lvl1pPr>
          </a:lstStyle>
          <a:p>
            <a:pPr>
              <a:defRPr/>
            </a:pPr>
            <a:r>
              <a:rPr lang="zh-CN" altLang="en-US"/>
              <a:t>lec06-typechecking</a:t>
            </a:r>
          </a:p>
        </p:txBody>
      </p:sp>
      <p:sp>
        <p:nvSpPr>
          <p:cNvPr id="22118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41763" y="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t" anchorCtr="0" compatLnSpc="1">
            <a:prstTxWarp prst="textNoShape">
              <a:avLst/>
            </a:prstTxWarp>
          </a:bodyPr>
          <a:lstStyle>
            <a:lvl1pPr algn="r" defTabSz="912813">
              <a:defRPr sz="1200" smtClean="0"/>
            </a:lvl1pPr>
          </a:lstStyle>
          <a:p>
            <a:pPr>
              <a:defRPr/>
            </a:pPr>
            <a:fld id="{ABA51525-ECB3-4A18-B819-9971D80C4E22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22118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defTabSz="912813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2118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41763" y="8826500"/>
            <a:ext cx="30321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56" tIns="45578" rIns="91156" bIns="45578" numCol="1" anchor="b" anchorCtr="0" compatLnSpc="1">
            <a:prstTxWarp prst="textNoShape">
              <a:avLst/>
            </a:prstTxWarp>
          </a:bodyPr>
          <a:lstStyle>
            <a:lvl1pPr algn="r" defTabSz="912813">
              <a:defRPr sz="1200"/>
            </a:lvl1pPr>
          </a:lstStyle>
          <a:p>
            <a:fld id="{CD171760-BE99-42AA-B3C7-80A26DDC0AC7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defTabSz="930275">
              <a:defRPr sz="1200" smtClean="0"/>
            </a:lvl1pPr>
          </a:lstStyle>
          <a:p>
            <a:pPr>
              <a:defRPr/>
            </a:pPr>
            <a:r>
              <a:rPr lang="zh-CN" altLang="en-US"/>
              <a:t>lec06-typechecking</a:t>
            </a:r>
          </a:p>
        </p:txBody>
      </p:sp>
      <p:sp>
        <p:nvSpPr>
          <p:cNvPr id="389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965575" y="0"/>
            <a:ext cx="3032125" cy="4651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>
            <a:lvl1pPr algn="r" defTabSz="930275">
              <a:defRPr sz="1200" smtClean="0"/>
            </a:lvl1pPr>
          </a:lstStyle>
          <a:p>
            <a:pPr>
              <a:defRPr/>
            </a:pPr>
            <a:fld id="{5F5719A7-E368-4D5F-9883-FD061D2B16EB}" type="datetime4">
              <a:rPr lang="zh-CN" altLang="en-US"/>
              <a:pPr>
                <a:defRPr/>
              </a:pPr>
              <a:t>2015年10月7日星期三</a:t>
            </a:fld>
            <a:endParaRPr lang="en-US" altLang="zh-CN"/>
          </a:p>
        </p:txBody>
      </p:sp>
      <p:sp>
        <p:nvSpPr>
          <p:cNvPr id="19460" name="Rectangle 4"/>
          <p:cNvSpPr>
            <a:spLocks noChangeArrowheads="1" noTextEdit="1"/>
          </p:cNvSpPr>
          <p:nvPr>
            <p:ph type="sldImg" idx="2"/>
          </p:nvPr>
        </p:nvSpPr>
        <p:spPr bwMode="auto">
          <a:xfrm>
            <a:off x="985838" y="695325"/>
            <a:ext cx="5029200" cy="34813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389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3450" y="4411663"/>
            <a:ext cx="5130800" cy="417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noProof="0" smtClean="0"/>
              <a:t>Click to edit Master text styles</a:t>
            </a:r>
          </a:p>
          <a:p>
            <a:pPr lvl="1"/>
            <a:r>
              <a:rPr lang="en-US" altLang="zh-CN" noProof="0" smtClean="0"/>
              <a:t>Second level</a:t>
            </a:r>
          </a:p>
          <a:p>
            <a:pPr lvl="2"/>
            <a:r>
              <a:rPr lang="en-US" altLang="zh-CN" noProof="0" smtClean="0"/>
              <a:t>Third level</a:t>
            </a:r>
          </a:p>
          <a:p>
            <a:pPr lvl="3"/>
            <a:r>
              <a:rPr lang="en-US" altLang="zh-CN" noProof="0" smtClean="0"/>
              <a:t>Fourth level</a:t>
            </a:r>
          </a:p>
          <a:p>
            <a:pPr lvl="4"/>
            <a:r>
              <a:rPr lang="en-US" altLang="zh-CN" noProof="0" smtClean="0"/>
              <a:t>Fifth level</a:t>
            </a:r>
          </a:p>
        </p:txBody>
      </p:sp>
      <p:sp>
        <p:nvSpPr>
          <p:cNvPr id="389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defTabSz="930275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89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65575" y="8818563"/>
            <a:ext cx="3032125" cy="465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3025" tIns="46512" rIns="93025" bIns="46512" numCol="1" anchor="b" anchorCtr="0" compatLnSpc="1">
            <a:prstTxWarp prst="textNoShape">
              <a:avLst/>
            </a:prstTxWarp>
          </a:bodyPr>
          <a:lstStyle>
            <a:lvl1pPr algn="r" defTabSz="930275">
              <a:defRPr sz="1200"/>
            </a:lvl1pPr>
          </a:lstStyle>
          <a:p>
            <a:fld id="{69E74030-1919-42FB-9323-191304E26D75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ftr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lec06-typechecking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F0CA2AB-D078-4A19-BE05-3553DEE8146C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2048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64C54D2-4077-491E-A63D-3B3B991CCD6D}" type="slidenum">
              <a:rPr lang="zh-CN" altLang="en-US" sz="1200"/>
              <a:pPr/>
              <a:t>1</a:t>
            </a:fld>
            <a:endParaRPr lang="en-US" altLang="zh-CN" sz="1200"/>
          </a:p>
        </p:txBody>
      </p:sp>
      <p:sp>
        <p:nvSpPr>
          <p:cNvPr id="2048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lec06-typechecking</a:t>
            </a:r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E4E727D-F3D7-4118-9450-645E59C0DE3D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2150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9818986-763B-4EC7-863F-DE11CB24E82D}" type="slidenum">
              <a:rPr lang="zh-CN" altLang="en-US" sz="1200"/>
              <a:pPr/>
              <a:t>3</a:t>
            </a:fld>
            <a:endParaRPr lang="en-US" altLang="zh-CN" sz="1200"/>
          </a:p>
        </p:txBody>
      </p:sp>
      <p:sp>
        <p:nvSpPr>
          <p:cNvPr id="21509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10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给定一组域</a:t>
            </a:r>
            <a:r>
              <a:rPr lang="en-US" altLang="zh-CN" smtClean="0"/>
              <a:t>D1,D2,…,Dn</a:t>
            </a:r>
            <a:r>
              <a:rPr lang="zh-CN" altLang="en-US" smtClean="0"/>
              <a:t>，这些域中可以有相同的。 </a:t>
            </a:r>
            <a:r>
              <a:rPr lang="en-US" altLang="zh-CN" smtClean="0"/>
              <a:t>D1,D2,…,Dn</a:t>
            </a:r>
            <a:r>
              <a:rPr lang="zh-CN" altLang="en-US" smtClean="0"/>
              <a:t>的笛卡尔积（</a:t>
            </a:r>
            <a:r>
              <a:rPr lang="en-US" altLang="zh-CN" smtClean="0"/>
              <a:t>cartesian product</a:t>
            </a:r>
            <a:r>
              <a:rPr lang="zh-CN" altLang="en-US" smtClean="0"/>
              <a:t>）为</a:t>
            </a:r>
            <a:r>
              <a:rPr lang="en-US" altLang="zh-CN" smtClean="0"/>
              <a:t>: D1 x D2</a:t>
            </a:r>
            <a:br>
              <a:rPr lang="en-US" altLang="zh-CN" smtClean="0"/>
            </a:br>
            <a:r>
              <a:rPr lang="en-US" altLang="zh-CN" smtClean="0"/>
              <a:t>x … x Dn={ (d1,d2,…,dn) | di∈ Di, i=1,2,…,n }. </a:t>
            </a:r>
            <a:endParaRPr lang="zh-CN" altLang="en-US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lec06-typechecking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6B904FAA-5924-4FBD-BC07-87EBB0BD2879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2253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A707F63-7C8D-4CE2-9CC6-54712C3EBA88}" type="slidenum">
              <a:rPr lang="zh-CN" altLang="en-US" sz="1200"/>
              <a:pPr/>
              <a:t>4</a:t>
            </a:fld>
            <a:endParaRPr lang="en-US" altLang="zh-CN" sz="1200"/>
          </a:p>
        </p:txBody>
      </p:sp>
      <p:sp>
        <p:nvSpPr>
          <p:cNvPr id="22533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4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zh-CN" altLang="en-US" smtClean="0"/>
              <a:t>笛卡尔积（</a:t>
            </a:r>
            <a:r>
              <a:rPr lang="en-US" altLang="zh-CN" smtClean="0"/>
              <a:t>cartesian product</a:t>
            </a:r>
            <a:r>
              <a:rPr lang="zh-CN" altLang="en-US" smtClean="0"/>
              <a:t>）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lec06-typechecking</a:t>
            </a:r>
          </a:p>
        </p:txBody>
      </p:sp>
      <p:sp>
        <p:nvSpPr>
          <p:cNvPr id="23555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60DAEE7-3A53-4312-8E96-3954115C4D5B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2355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1C868D08-4DFB-4BDC-BA30-7D30A27B08D7}" type="slidenum">
              <a:rPr lang="zh-CN" altLang="en-US" sz="1200"/>
              <a:pPr/>
              <a:t>11</a:t>
            </a:fld>
            <a:endParaRPr lang="en-US" altLang="zh-CN" sz="1200"/>
          </a:p>
        </p:txBody>
      </p:sp>
      <p:sp>
        <p:nvSpPr>
          <p:cNvPr id="23557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8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Pascal declaration of type names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lec06-typechecking</a:t>
            </a:r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0A5C68C-2401-4113-8AD7-167E57281778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2458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7FD66B2-0606-4054-9E0E-909B069AA353}" type="slidenum">
              <a:rPr lang="zh-CN" altLang="en-US" sz="1200"/>
              <a:pPr/>
              <a:t>12</a:t>
            </a:fld>
            <a:endParaRPr lang="en-US" altLang="zh-CN" sz="1200"/>
          </a:p>
        </p:txBody>
      </p:sp>
      <p:sp>
        <p:nvSpPr>
          <p:cNvPr id="24581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82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r>
              <a:rPr lang="en-US" altLang="zh-CN" smtClean="0"/>
              <a:t>Implicit----coercion</a:t>
            </a:r>
          </a:p>
          <a:p>
            <a:r>
              <a:rPr lang="en-US" altLang="zh-CN" smtClean="0"/>
              <a:t>explicit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hdr" sz="quarter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1200"/>
              <a:t>lec06-typechecking</a:t>
            </a:r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B409E43-5410-4DF2-B671-6675620DB414}" type="datetime4">
              <a:rPr lang="zh-CN" altLang="en-US" sz="1200"/>
              <a:pPr/>
              <a:t>2015年10月7日星期三</a:t>
            </a:fld>
            <a:endParaRPr lang="en-US" altLang="zh-CN" sz="1200"/>
          </a:p>
        </p:txBody>
      </p:sp>
      <p:sp>
        <p:nvSpPr>
          <p:cNvPr id="25604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>
            <a:lvl1pPr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defTabSz="930275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defTabSz="930275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DCA22936-1177-41E7-8B3E-EB4DD8ADC63D}" type="slidenum">
              <a:rPr lang="zh-CN" altLang="en-US" sz="1200"/>
              <a:pPr/>
              <a:t>13</a:t>
            </a:fld>
            <a:endParaRPr lang="en-US" altLang="zh-CN" sz="1200"/>
          </a:p>
        </p:txBody>
      </p:sp>
      <p:sp>
        <p:nvSpPr>
          <p:cNvPr id="25605" name="Rectangle 2"/>
          <p:cNvSpPr>
            <a:spLocks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6" name="Rectangle 3"/>
          <p:cNvSpPr>
            <a:spLocks noGrp="1" noChangeArrowheads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en-US" altLang="zh-CN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742950" y="2130425"/>
            <a:ext cx="84201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485900" y="3886200"/>
            <a:ext cx="69342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1827F68-9812-43C3-AE58-5C3E8C02485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01979595"/>
      </p:ext>
    </p:extLst>
  </p:cSld>
  <p:clrMapOvr>
    <a:masterClrMapping/>
  </p:clrMapOvr>
  <p:transition>
    <p:random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E728F17-BBF6-48EB-A2D6-F77D7FB0ADE5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54666415"/>
      </p:ext>
    </p:extLst>
  </p:cSld>
  <p:clrMapOvr>
    <a:masterClrMapping/>
  </p:clrMapOvr>
  <p:transition>
    <p:random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82638" y="4406900"/>
            <a:ext cx="84201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82638" y="2906713"/>
            <a:ext cx="84201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DA4F3735-9688-4A56-9723-0D6BD5FC6836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778225056"/>
      </p:ext>
    </p:extLst>
  </p:cSld>
  <p:clrMapOvr>
    <a:masterClrMapping/>
  </p:clrMapOvr>
  <p:transition>
    <p:random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B66673D-6436-4519-9CFF-F87AEEF12C0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438006339"/>
      </p:ext>
    </p:extLst>
  </p:cSld>
  <p:clrMapOvr>
    <a:masterClrMapping/>
  </p:clrMapOvr>
  <p:transition>
    <p:random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032375" y="1535113"/>
            <a:ext cx="437832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032375" y="2174875"/>
            <a:ext cx="437832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9E10530-036D-49F8-A6D5-1E4ABF6C2313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10759860"/>
      </p:ext>
    </p:extLst>
  </p:cSld>
  <p:clrMapOvr>
    <a:masterClrMapping/>
  </p:clrMapOvr>
  <p:transition>
    <p:random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63084634-4C53-4256-90D3-F9DF77B9E321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899212627"/>
      </p:ext>
    </p:extLst>
  </p:cSld>
  <p:clrMapOvr>
    <a:masterClrMapping/>
  </p:clrMapOvr>
  <p:transition>
    <p:random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418540E-C771-4295-90E2-2DAFC8A30C1C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97178954"/>
      </p:ext>
    </p:extLst>
  </p:cSld>
  <p:clrMapOvr>
    <a:masterClrMapping/>
  </p:clrMapOvr>
  <p:transition>
    <p:random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73500" y="273050"/>
            <a:ext cx="553720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95300" y="1435100"/>
            <a:ext cx="3259138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1CE1EA3-0046-43B8-B1A7-24A87F365947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580629639"/>
      </p:ext>
    </p:extLst>
  </p:cSld>
  <p:clrMapOvr>
    <a:masterClrMapping/>
  </p:clrMapOvr>
  <p:transition>
    <p:random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0E1B44C-6789-4883-A9B7-1AE65878219E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688235684"/>
      </p:ext>
    </p:extLst>
  </p:cSld>
  <p:clrMapOvr>
    <a:masterClrMapping/>
  </p:clrMapOvr>
  <p:transition>
    <p:random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29074049-5FF8-4677-8B6A-EE24EDFA656F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974588574"/>
      </p:ext>
    </p:extLst>
  </p:cSld>
  <p:clrMapOvr>
    <a:masterClrMapping/>
  </p:clrMapOvr>
  <p:transition>
    <p:random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410450" y="152400"/>
            <a:ext cx="2343150" cy="61722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1000" y="152400"/>
            <a:ext cx="6877050" cy="61722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7E003DD-6513-4CD4-93E2-1CBA94F117FD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205251839"/>
      </p:ext>
    </p:extLst>
  </p:cSld>
  <p:clrMapOvr>
    <a:masterClrMapping/>
  </p:clrMapOvr>
  <p:transition>
    <p:random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81000" y="152400"/>
            <a:ext cx="9372600" cy="9144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3810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43500" y="1219200"/>
            <a:ext cx="4610100" cy="51054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100B0EE0-2CA5-4375-BAA3-D53403877B90}" type="slidenum">
              <a:rPr lang="zh-CN" altLang="en-US"/>
              <a:pPr/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299052419"/>
      </p:ext>
    </p:extLst>
  </p:cSld>
  <p:clrMapOvr>
    <a:masterClrMapping/>
  </p:clrMapOvr>
  <p:transition>
    <p:random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381000" y="152400"/>
            <a:ext cx="9372600" cy="914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381000" y="1219200"/>
            <a:ext cx="9372600" cy="5105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CN" smtClean="0"/>
              <a:t>Click to edit Master text styles</a:t>
            </a:r>
          </a:p>
          <a:p>
            <a:pPr lvl="1"/>
            <a:r>
              <a:rPr lang="en-US" altLang="zh-CN" smtClean="0"/>
              <a:t>Second level</a:t>
            </a:r>
          </a:p>
          <a:p>
            <a:pPr lvl="2"/>
            <a:r>
              <a:rPr lang="en-US" altLang="zh-CN" smtClean="0"/>
              <a:t>Third level</a:t>
            </a:r>
          </a:p>
          <a:p>
            <a:pPr lvl="3"/>
            <a:r>
              <a:rPr lang="en-US" altLang="zh-CN" smtClean="0"/>
              <a:t>Fourth level</a:t>
            </a:r>
          </a:p>
          <a:p>
            <a:pPr lvl="4"/>
            <a:r>
              <a:rPr lang="en-US" altLang="zh-CN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381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800" smtClean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◎2005 ECNU SEI</a:t>
            </a:r>
            <a:endParaRPr lang="en-US" altLang="zh-CN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054350" y="6477000"/>
            <a:ext cx="3714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800" smtClean="0">
                <a:ea typeface="宋体" pitchFamily="2" charset="-122"/>
              </a:defRPr>
            </a:lvl1pPr>
          </a:lstStyle>
          <a:p>
            <a:pPr>
              <a:defRPr/>
            </a:pPr>
            <a:r>
              <a:rPr lang="zh-CN" altLang="en-US"/>
              <a:t>Compilers: Principles, Techniques, and Tools</a:t>
            </a:r>
            <a:endParaRPr lang="en-US" altLang="zh-CN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620000" y="6477000"/>
            <a:ext cx="206375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800">
                <a:ea typeface="宋体" panose="02010600030101010101" pitchFamily="2" charset="-122"/>
              </a:defRPr>
            </a:lvl1pPr>
          </a:lstStyle>
          <a:p>
            <a:fld id="{A0219F84-8D33-4394-B085-73D954FE387F}" type="slidenum">
              <a:rPr lang="zh-CN" altLang="en-US"/>
              <a:pPr/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ransition>
    <p:random/>
  </p:transition>
  <p:hf hdr="0"/>
  <p:txStyles>
    <p:titleStyle>
      <a:lvl1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5pPr>
      <a:lvl6pPr marL="4572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6pPr>
      <a:lvl7pPr marL="9144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7pPr>
      <a:lvl8pPr marL="13716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8pPr>
      <a:lvl9pPr marL="1828800" algn="ctr" rtl="0" eaLnBrk="0" fontAlgn="base" hangingPunct="0"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har char="–"/>
        <a:defRPr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16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5pPr>
      <a:lvl6pPr marL="25146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6pPr>
      <a:lvl7pPr marL="29718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7pPr>
      <a:lvl8pPr marL="34290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8pPr>
      <a:lvl9pPr marL="3886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200">
          <a:solidFill>
            <a:schemeClr val="tx1"/>
          </a:solidFill>
          <a:latin typeface="+mn-lt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2.xml"/><Relationship Id="rId1" Type="http://schemas.openxmlformats.org/officeDocument/2006/relationships/vmlDrawing" Target="../drawings/vmlDrawing1.vml"/><Relationship Id="rId5" Type="http://schemas.openxmlformats.org/officeDocument/2006/relationships/image" Target="../media/image2.emf"/><Relationship Id="rId4" Type="http://schemas.openxmlformats.org/officeDocument/2006/relationships/oleObject" Target="../embeddings/oleObject1.bin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205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205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3203F4-7167-414E-B12C-6B7AA0CCD78D}" type="slidenum">
              <a:rPr lang="zh-CN" altLang="en-US" sz="800"/>
              <a:pPr/>
              <a:t>1</a:t>
            </a:fld>
            <a:endParaRPr lang="en-US" altLang="zh-CN" sz="800"/>
          </a:p>
        </p:txBody>
      </p:sp>
      <p:sp>
        <p:nvSpPr>
          <p:cNvPr id="2053" name="Rectangle 1028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Type Checking (P.341)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2054" name="Rectangle 1029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44000" cy="3200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compiler has to do semantic checks in addition to syntactic checks.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Semantic Checks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Static – done during compilation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Dynamic – done during run-time</a:t>
            </a:r>
          </a:p>
          <a:p>
            <a:r>
              <a:rPr lang="en-US" altLang="zh-CN" b="1" i="1" smtClean="0">
                <a:solidFill>
                  <a:srgbClr val="660066"/>
                </a:solidFill>
                <a:ea typeface="宋体" panose="02010600030101010101" pitchFamily="2" charset="-122"/>
              </a:rPr>
              <a:t>Type checking</a:t>
            </a:r>
            <a:r>
              <a:rPr lang="en-US" altLang="zh-CN" smtClean="0">
                <a:ea typeface="宋体" panose="02010600030101010101" pitchFamily="2" charset="-122"/>
              </a:rPr>
              <a:t> is one of these static checking operations.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we may not do all type checking at compile-time. 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Some systems also use dynamic type checking too.</a:t>
            </a:r>
          </a:p>
        </p:txBody>
      </p:sp>
      <p:grpSp>
        <p:nvGrpSpPr>
          <p:cNvPr id="372753" name="Group 1041"/>
          <p:cNvGrpSpPr>
            <a:grpSpLocks/>
          </p:cNvGrpSpPr>
          <p:nvPr/>
        </p:nvGrpSpPr>
        <p:grpSpPr bwMode="auto">
          <a:xfrm>
            <a:off x="1143000" y="4648200"/>
            <a:ext cx="7772400" cy="838200"/>
            <a:chOff x="720" y="2928"/>
            <a:chExt cx="4896" cy="528"/>
          </a:xfrm>
        </p:grpSpPr>
        <p:sp>
          <p:nvSpPr>
            <p:cNvPr id="2056" name="Rectangle 1030"/>
            <p:cNvSpPr>
              <a:spLocks noChangeArrowheads="1"/>
            </p:cNvSpPr>
            <p:nvPr/>
          </p:nvSpPr>
          <p:spPr bwMode="auto">
            <a:xfrm>
              <a:off x="1296" y="3024"/>
              <a:ext cx="720" cy="432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parser</a:t>
              </a:r>
            </a:p>
          </p:txBody>
        </p:sp>
        <p:sp>
          <p:nvSpPr>
            <p:cNvPr id="2057" name="Rectangle 1031"/>
            <p:cNvSpPr>
              <a:spLocks noChangeArrowheads="1"/>
            </p:cNvSpPr>
            <p:nvPr/>
          </p:nvSpPr>
          <p:spPr bwMode="auto">
            <a:xfrm>
              <a:off x="3888" y="2976"/>
              <a:ext cx="1296" cy="480"/>
            </a:xfrm>
            <a:prstGeom prst="rect">
              <a:avLst/>
            </a:prstGeom>
            <a:solidFill>
              <a:srgbClr val="CCFFFF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Intermediate 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code generator</a:t>
              </a:r>
            </a:p>
          </p:txBody>
        </p:sp>
        <p:sp>
          <p:nvSpPr>
            <p:cNvPr id="2058" name="Rectangle 1032"/>
            <p:cNvSpPr>
              <a:spLocks noChangeArrowheads="1"/>
            </p:cNvSpPr>
            <p:nvPr/>
          </p:nvSpPr>
          <p:spPr bwMode="auto">
            <a:xfrm>
              <a:off x="2544" y="3024"/>
              <a:ext cx="912" cy="432"/>
            </a:xfrm>
            <a:prstGeom prst="rect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pPr algn="ctr"/>
              <a:r>
                <a:rPr lang="en-US" altLang="zh-CN">
                  <a:ea typeface="宋体" panose="02010600030101010101" pitchFamily="2" charset="-122"/>
                </a:rPr>
                <a:t>Type </a:t>
              </a:r>
            </a:p>
            <a:p>
              <a:pPr algn="ctr"/>
              <a:r>
                <a:rPr lang="en-US" altLang="zh-CN">
                  <a:ea typeface="宋体" panose="02010600030101010101" pitchFamily="2" charset="-122"/>
                </a:rPr>
                <a:t>checker</a:t>
              </a:r>
            </a:p>
          </p:txBody>
        </p:sp>
        <p:sp>
          <p:nvSpPr>
            <p:cNvPr id="2059" name="Rectangle 1033"/>
            <p:cNvSpPr>
              <a:spLocks noChangeArrowheads="1"/>
            </p:cNvSpPr>
            <p:nvPr/>
          </p:nvSpPr>
          <p:spPr bwMode="auto">
            <a:xfrm>
              <a:off x="1968" y="2976"/>
              <a:ext cx="62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Syntax tree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060" name="Rectangle 1034"/>
            <p:cNvSpPr>
              <a:spLocks noChangeArrowheads="1"/>
            </p:cNvSpPr>
            <p:nvPr/>
          </p:nvSpPr>
          <p:spPr bwMode="auto">
            <a:xfrm>
              <a:off x="3408" y="2966"/>
              <a:ext cx="624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Syntax tree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061" name="Rectangle 1035"/>
            <p:cNvSpPr>
              <a:spLocks noChangeArrowheads="1"/>
            </p:cNvSpPr>
            <p:nvPr/>
          </p:nvSpPr>
          <p:spPr bwMode="auto">
            <a:xfrm>
              <a:off x="720" y="2976"/>
              <a:ext cx="672" cy="44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 sz="2000">
                  <a:ea typeface="宋体" panose="02010600030101010101" pitchFamily="2" charset="-122"/>
                </a:rPr>
                <a:t>Token stream</a:t>
              </a:r>
              <a:endParaRPr lang="zh-CN" altLang="en-US" sz="2000">
                <a:ea typeface="宋体" panose="02010600030101010101" pitchFamily="2" charset="-122"/>
              </a:endParaRPr>
            </a:p>
          </p:txBody>
        </p:sp>
        <p:sp>
          <p:nvSpPr>
            <p:cNvPr id="2062" name="Rectangle 1036"/>
            <p:cNvSpPr>
              <a:spLocks noChangeArrowheads="1"/>
            </p:cNvSpPr>
            <p:nvPr/>
          </p:nvSpPr>
          <p:spPr bwMode="auto">
            <a:xfrm>
              <a:off x="5232" y="2928"/>
              <a:ext cx="308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Times New Roman" panose="02020603050405020304" pitchFamily="18" charset="0"/>
                </a:defRPr>
              </a:lvl9pPr>
            </a:lstStyle>
            <a:p>
              <a:r>
                <a:rPr lang="en-US" altLang="zh-CN">
                  <a:ea typeface="宋体" panose="02010600030101010101" pitchFamily="2" charset="-122"/>
                </a:rPr>
                <a:t>IR</a:t>
              </a:r>
              <a:endParaRPr lang="zh-CN" altLang="en-US">
                <a:ea typeface="宋体" panose="02010600030101010101" pitchFamily="2" charset="-122"/>
              </a:endParaRPr>
            </a:p>
          </p:txBody>
        </p:sp>
        <p:sp>
          <p:nvSpPr>
            <p:cNvPr id="2063" name="Line 1037"/>
            <p:cNvSpPr>
              <a:spLocks noChangeShapeType="1"/>
            </p:cNvSpPr>
            <p:nvPr/>
          </p:nvSpPr>
          <p:spPr bwMode="auto">
            <a:xfrm>
              <a:off x="816" y="3216"/>
              <a:ext cx="48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4" name="Line 1038"/>
            <p:cNvSpPr>
              <a:spLocks noChangeShapeType="1"/>
            </p:cNvSpPr>
            <p:nvPr/>
          </p:nvSpPr>
          <p:spPr bwMode="auto">
            <a:xfrm>
              <a:off x="2016" y="3216"/>
              <a:ext cx="5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5" name="Line 1039"/>
            <p:cNvSpPr>
              <a:spLocks noChangeShapeType="1"/>
            </p:cNvSpPr>
            <p:nvPr/>
          </p:nvSpPr>
          <p:spPr bwMode="auto">
            <a:xfrm>
              <a:off x="3456" y="3216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66" name="Line 1040"/>
            <p:cNvSpPr>
              <a:spLocks noChangeShapeType="1"/>
            </p:cNvSpPr>
            <p:nvPr/>
          </p:nvSpPr>
          <p:spPr bwMode="auto">
            <a:xfrm>
              <a:off x="5184" y="3168"/>
              <a:ext cx="43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2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2000"/>
                                        <p:tgtEl>
                                          <p:spTgt spid="3727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307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307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7362B2A-9F24-4533-AA5A-00A1409C955C}" type="slidenum">
              <a:rPr lang="zh-CN" altLang="en-US" sz="800"/>
              <a:pPr/>
              <a:t>2</a:t>
            </a:fld>
            <a:endParaRPr lang="en-US" altLang="zh-CN" sz="800"/>
          </a:p>
        </p:txBody>
      </p:sp>
      <p:sp>
        <p:nvSpPr>
          <p:cNvPr id="307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Type system (P.344)</a:t>
            </a:r>
          </a:p>
        </p:txBody>
      </p:sp>
      <p:sp>
        <p:nvSpPr>
          <p:cNvPr id="307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220200" cy="45720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b="1" i="1" smtClean="0">
                <a:solidFill>
                  <a:srgbClr val="660066"/>
                </a:solidFill>
                <a:ea typeface="宋体" panose="02010600030101010101" pitchFamily="2" charset="-122"/>
              </a:rPr>
              <a:t>type system</a:t>
            </a:r>
            <a:r>
              <a:rPr lang="en-US" altLang="zh-CN" smtClean="0">
                <a:ea typeface="宋体" panose="02010600030101010101" pitchFamily="2" charset="-122"/>
              </a:rPr>
              <a:t> is a collection of rules for assigning type expressions to the parts of a program.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b="1" i="1" smtClean="0">
                <a:solidFill>
                  <a:srgbClr val="660066"/>
                </a:solidFill>
                <a:ea typeface="宋体" panose="02010600030101010101" pitchFamily="2" charset="-122"/>
              </a:rPr>
              <a:t>type checker</a:t>
            </a:r>
            <a:r>
              <a:rPr lang="en-US" altLang="zh-CN" smtClean="0">
                <a:ea typeface="宋体" panose="02010600030101010101" pitchFamily="2" charset="-122"/>
              </a:rPr>
              <a:t> implements a type system.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i="1" smtClean="0">
                <a:ea typeface="宋体" panose="02010600030101010101" pitchFamily="2" charset="-122"/>
              </a:rPr>
              <a:t>sound</a:t>
            </a:r>
            <a:r>
              <a:rPr lang="en-US" altLang="zh-CN" smtClean="0">
                <a:ea typeface="宋体" panose="02010600030101010101" pitchFamily="2" charset="-122"/>
              </a:rPr>
              <a:t> type system eliminates run-time type checking for type errors.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 programming language is </a:t>
            </a:r>
            <a:r>
              <a:rPr lang="en-US" altLang="zh-CN" b="1" i="1" smtClean="0">
                <a:solidFill>
                  <a:srgbClr val="660066"/>
                </a:solidFill>
                <a:ea typeface="宋体" panose="02010600030101010101" pitchFamily="2" charset="-122"/>
              </a:rPr>
              <a:t>strongly-typed</a:t>
            </a:r>
            <a:r>
              <a:rPr lang="en-US" altLang="zh-CN" smtClean="0">
                <a:ea typeface="宋体" panose="02010600030101010101" pitchFamily="2" charset="-122"/>
              </a:rPr>
              <a:t>, if every program its compiler accepts will execute without type errors.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In practice, some of type checking operations are done at run-time (so, most of the programming languages are not strongly-typed).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</a:rPr>
              <a:t>Ex:   int x[100]; …   x[i] 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 most of the compilers cannot guarantee that i will be between 0 and 99</a:t>
            </a:r>
            <a:endParaRPr lang="en-US" altLang="zh-CN" sz="2000" smtClean="0">
              <a:ea typeface="宋体" panose="02010600030101010101" pitchFamily="2" charset="-122"/>
            </a:endParaRPr>
          </a:p>
          <a:p>
            <a:endParaRPr lang="zh-CN" altLang="en-US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409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410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10F47DE-1AC0-463A-84B2-283DBB5B7B3B}" type="slidenum">
              <a:rPr lang="zh-CN" altLang="en-US" sz="800"/>
              <a:pPr/>
              <a:t>3</a:t>
            </a:fld>
            <a:endParaRPr lang="en-US" altLang="zh-CN" sz="800"/>
          </a:p>
        </p:txBody>
      </p:sp>
      <p:sp>
        <p:nvSpPr>
          <p:cNvPr id="4101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228600"/>
            <a:ext cx="9144000" cy="533400"/>
          </a:xfrm>
        </p:spPr>
        <p:txBody>
          <a:bodyPr/>
          <a:lstStyle/>
          <a:p>
            <a:r>
              <a:rPr lang="en-US" altLang="zh-CN" sz="2800" smtClean="0">
                <a:ea typeface="宋体" panose="02010600030101010101" pitchFamily="2" charset="-122"/>
              </a:rPr>
              <a:t>Type Expression (P.345)</a:t>
            </a:r>
          </a:p>
        </p:txBody>
      </p:sp>
      <p:sp>
        <p:nvSpPr>
          <p:cNvPr id="410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838200"/>
            <a:ext cx="9220200" cy="44958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The type of a language construct is denoted by a </a:t>
            </a:r>
            <a:r>
              <a:rPr lang="en-US" altLang="zh-CN" b="1" i="1" smtClean="0">
                <a:solidFill>
                  <a:srgbClr val="660066"/>
                </a:solidFill>
                <a:ea typeface="宋体" panose="02010600030101010101" pitchFamily="2" charset="-122"/>
              </a:rPr>
              <a:t>type expression</a:t>
            </a:r>
            <a:r>
              <a:rPr lang="en-US" altLang="zh-CN" smtClean="0">
                <a:ea typeface="宋体" panose="02010600030101010101" pitchFamily="2" charset="-122"/>
              </a:rPr>
              <a:t>.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 </a:t>
            </a:r>
            <a:r>
              <a:rPr lang="en-US" altLang="zh-CN" i="1" smtClean="0">
                <a:ea typeface="宋体" panose="02010600030101010101" pitchFamily="2" charset="-122"/>
              </a:rPr>
              <a:t>type expression</a:t>
            </a:r>
            <a:r>
              <a:rPr lang="en-US" altLang="zh-CN" smtClean="0">
                <a:ea typeface="宋体" panose="02010600030101010101" pitchFamily="2" charset="-122"/>
              </a:rPr>
              <a:t> can be:</a:t>
            </a:r>
          </a:p>
          <a:p>
            <a:pPr lvl="1"/>
            <a:r>
              <a:rPr lang="en-US" altLang="zh-CN" sz="2000" b="1" smtClean="0">
                <a:ea typeface="宋体" panose="02010600030101010101" pitchFamily="2" charset="-122"/>
              </a:rPr>
              <a:t>A basic type</a:t>
            </a:r>
            <a:r>
              <a:rPr lang="en-US" altLang="zh-CN" smtClean="0">
                <a:ea typeface="宋体" panose="02010600030101010101" pitchFamily="2" charset="-122"/>
              </a:rPr>
              <a:t> </a:t>
            </a: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a primitive data type such as </a:t>
            </a:r>
            <a:r>
              <a:rPr lang="en-US" altLang="zh-CN" sz="2000" i="1" smtClean="0">
                <a:ea typeface="宋体" panose="02010600030101010101" pitchFamily="2" charset="-122"/>
              </a:rPr>
              <a:t>integer, real, char, boolean</a:t>
            </a:r>
            <a:r>
              <a:rPr lang="en-US" altLang="zh-CN" sz="2000" smtClean="0">
                <a:ea typeface="宋体" panose="02010600030101010101" pitchFamily="2" charset="-122"/>
              </a:rPr>
              <a:t>, … </a:t>
            </a:r>
          </a:p>
          <a:p>
            <a:pPr lvl="2"/>
            <a:r>
              <a:rPr lang="en-US" altLang="zh-CN" sz="2000" i="1" smtClean="0">
                <a:ea typeface="宋体" panose="02010600030101010101" pitchFamily="2" charset="-122"/>
              </a:rPr>
              <a:t>type-error</a:t>
            </a:r>
            <a:r>
              <a:rPr lang="en-US" altLang="zh-CN" sz="2000" smtClean="0">
                <a:ea typeface="宋体" panose="02010600030101010101" pitchFamily="2" charset="-122"/>
              </a:rPr>
              <a:t> to signal a type error</a:t>
            </a:r>
          </a:p>
          <a:p>
            <a:pPr lvl="2"/>
            <a:r>
              <a:rPr lang="en-US" altLang="zh-CN" sz="2000" i="1" smtClean="0">
                <a:ea typeface="宋体" panose="02010600030101010101" pitchFamily="2" charset="-122"/>
              </a:rPr>
              <a:t>void</a:t>
            </a:r>
            <a:r>
              <a:rPr lang="en-US" altLang="zh-CN" sz="2000" smtClean="0">
                <a:ea typeface="宋体" panose="02010600030101010101" pitchFamily="2" charset="-122"/>
              </a:rPr>
              <a:t> : no type</a:t>
            </a:r>
          </a:p>
          <a:p>
            <a:pPr lvl="1"/>
            <a:r>
              <a:rPr lang="en-US" altLang="zh-CN" sz="2000" b="1" smtClean="0">
                <a:ea typeface="宋体" panose="02010600030101010101" pitchFamily="2" charset="-122"/>
              </a:rPr>
              <a:t>A type name</a:t>
            </a:r>
          </a:p>
          <a:p>
            <a:pPr lvl="2"/>
            <a:r>
              <a:rPr lang="en-US" altLang="zh-CN" sz="2000" smtClean="0">
                <a:ea typeface="宋体" panose="02010600030101010101" pitchFamily="2" charset="-122"/>
              </a:rPr>
              <a:t>a name can be used to denote a type expression.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512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512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AF9AEB76-35B7-464C-9D6C-622B863FE5F5}" type="slidenum">
              <a:rPr lang="zh-CN" altLang="en-US" sz="800"/>
              <a:pPr/>
              <a:t>4</a:t>
            </a:fld>
            <a:endParaRPr lang="en-US" altLang="zh-CN" sz="800"/>
          </a:p>
        </p:txBody>
      </p:sp>
      <p:sp>
        <p:nvSpPr>
          <p:cNvPr id="512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Type Expression (cont.)</a:t>
            </a:r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512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44000" cy="5105400"/>
          </a:xfrm>
        </p:spPr>
        <p:txBody>
          <a:bodyPr/>
          <a:lstStyle/>
          <a:p>
            <a:pPr lvl="1"/>
            <a:r>
              <a:rPr lang="en-US" altLang="zh-CN" sz="2000" b="1" smtClean="0">
                <a:ea typeface="宋体" panose="02010600030101010101" pitchFamily="2" charset="-122"/>
              </a:rPr>
              <a:t>A type constructor applies to other type expressions.</a:t>
            </a:r>
          </a:p>
          <a:p>
            <a:pPr lvl="2"/>
            <a:r>
              <a:rPr lang="en-US" altLang="zh-CN" sz="2000" b="1" smtClean="0">
                <a:ea typeface="宋体" panose="02010600030101010101" pitchFamily="2" charset="-122"/>
              </a:rPr>
              <a:t>arrays</a:t>
            </a:r>
            <a:r>
              <a:rPr lang="en-US" altLang="zh-CN" sz="2000" smtClean="0">
                <a:ea typeface="宋体" panose="02010600030101010101" pitchFamily="2" charset="-122"/>
              </a:rPr>
              <a:t>: If T is a type expression, then </a:t>
            </a:r>
            <a:r>
              <a:rPr lang="en-US" altLang="zh-CN" sz="2000" b="1" i="1" smtClean="0">
                <a:ea typeface="宋体" panose="02010600030101010101" pitchFamily="2" charset="-122"/>
              </a:rPr>
              <a:t>array(I,T)</a:t>
            </a:r>
            <a:r>
              <a:rPr lang="en-US" altLang="zh-CN" sz="2000" smtClean="0">
                <a:ea typeface="宋体" panose="02010600030101010101" pitchFamily="2" charset="-122"/>
              </a:rPr>
              <a:t> is a type expression where I denotes index range. Ex: array(0..99,int)</a:t>
            </a:r>
          </a:p>
          <a:p>
            <a:pPr lvl="2"/>
            <a:r>
              <a:rPr lang="en-US" altLang="zh-CN" sz="2000" b="1" smtClean="0">
                <a:ea typeface="宋体" panose="02010600030101010101" pitchFamily="2" charset="-122"/>
              </a:rPr>
              <a:t>products</a:t>
            </a:r>
            <a:r>
              <a:rPr lang="en-US" altLang="zh-CN" sz="2000" smtClean="0">
                <a:ea typeface="宋体" panose="02010600030101010101" pitchFamily="2" charset="-122"/>
              </a:rPr>
              <a:t>: If 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 and 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 </a:t>
            </a:r>
            <a:r>
              <a:rPr lang="en-US" altLang="zh-CN" sz="2000" smtClean="0">
                <a:ea typeface="宋体" panose="02010600030101010101" pitchFamily="2" charset="-122"/>
              </a:rPr>
              <a:t> are type expressions, then their cartesian product </a:t>
            </a:r>
            <a:r>
              <a:rPr lang="en-US" altLang="zh-CN" sz="2000" b="1" i="1" smtClean="0">
                <a:ea typeface="宋体" panose="02010600030101010101" pitchFamily="2" charset="-122"/>
              </a:rPr>
              <a:t>T</a:t>
            </a:r>
            <a:r>
              <a:rPr lang="en-US" altLang="zh-CN" sz="2000" b="1" i="1" baseline="-25000" smtClean="0">
                <a:ea typeface="宋体" panose="02010600030101010101" pitchFamily="2" charset="-122"/>
              </a:rPr>
              <a:t>1 </a:t>
            </a:r>
            <a:r>
              <a:rPr lang="en-US" altLang="zh-CN" sz="2000" b="1" i="1" smtClean="0">
                <a:ea typeface="宋体" panose="02010600030101010101" pitchFamily="2" charset="-122"/>
              </a:rPr>
              <a:t>x T</a:t>
            </a:r>
            <a:r>
              <a:rPr lang="en-US" altLang="zh-CN" sz="2000" b="1" i="1" baseline="-25000" smtClean="0">
                <a:ea typeface="宋体" panose="02010600030101010101" pitchFamily="2" charset="-122"/>
              </a:rPr>
              <a:t>2 </a:t>
            </a:r>
            <a:r>
              <a:rPr lang="en-US" altLang="zh-CN" sz="2000" smtClean="0">
                <a:ea typeface="宋体" panose="02010600030101010101" pitchFamily="2" charset="-122"/>
              </a:rPr>
              <a:t> is a type expression.  Ex: int </a:t>
            </a:r>
            <a:r>
              <a:rPr lang="en-US" altLang="zh-CN" sz="2000" i="1" smtClean="0">
                <a:ea typeface="宋体" panose="02010600030101010101" pitchFamily="2" charset="-122"/>
              </a:rPr>
              <a:t>x</a:t>
            </a:r>
            <a:r>
              <a:rPr lang="en-US" altLang="zh-CN" sz="2000" smtClean="0">
                <a:ea typeface="宋体" panose="02010600030101010101" pitchFamily="2" charset="-122"/>
              </a:rPr>
              <a:t> int</a:t>
            </a:r>
          </a:p>
          <a:p>
            <a:pPr lvl="2"/>
            <a:r>
              <a:rPr lang="en-US" altLang="zh-CN" sz="2000" b="1" smtClean="0">
                <a:ea typeface="宋体" panose="02010600030101010101" pitchFamily="2" charset="-122"/>
              </a:rPr>
              <a:t>pointers</a:t>
            </a:r>
            <a:r>
              <a:rPr lang="en-US" altLang="zh-CN" sz="2000" smtClean="0">
                <a:ea typeface="宋体" panose="02010600030101010101" pitchFamily="2" charset="-122"/>
              </a:rPr>
              <a:t>: If T is a type expression, then  </a:t>
            </a:r>
            <a:r>
              <a:rPr lang="en-US" altLang="zh-CN" sz="2000" b="1" i="1" smtClean="0">
                <a:ea typeface="宋体" panose="02010600030101010101" pitchFamily="2" charset="-122"/>
              </a:rPr>
              <a:t>pointer(T)</a:t>
            </a:r>
            <a:r>
              <a:rPr lang="en-US" altLang="zh-CN" sz="2000" smtClean="0">
                <a:ea typeface="宋体" panose="02010600030101010101" pitchFamily="2" charset="-122"/>
              </a:rPr>
              <a:t>  is a type expression. Ex: pointer(int)</a:t>
            </a:r>
          </a:p>
          <a:p>
            <a:pPr lvl="2"/>
            <a:r>
              <a:rPr lang="en-US" altLang="zh-CN" sz="2000" b="1" smtClean="0">
                <a:ea typeface="宋体" panose="02010600030101010101" pitchFamily="2" charset="-122"/>
              </a:rPr>
              <a:t>functions</a:t>
            </a:r>
            <a:r>
              <a:rPr lang="en-US" altLang="zh-CN" sz="2000" smtClean="0">
                <a:ea typeface="宋体" panose="02010600030101010101" pitchFamily="2" charset="-122"/>
              </a:rPr>
              <a:t>: We may treat functions in a programming language as mapping from a domain type D to a range type R. So, the type of a function can be denoted by the type expression</a:t>
            </a:r>
            <a:r>
              <a:rPr lang="en-US" altLang="zh-CN" sz="2000" i="1" smtClean="0">
                <a:ea typeface="宋体" panose="02010600030101010101" pitchFamily="2" charset="-122"/>
              </a:rPr>
              <a:t>  </a:t>
            </a:r>
            <a:r>
              <a:rPr lang="en-US" altLang="zh-CN" sz="2000" b="1" i="1" smtClean="0">
                <a:ea typeface="宋体" panose="02010600030101010101" pitchFamily="2" charset="-122"/>
              </a:rPr>
              <a:t>D</a:t>
            </a:r>
            <a:r>
              <a:rPr lang="en-US" altLang="zh-CN" sz="2000" b="1" i="1" smtClean="0">
                <a:ea typeface="宋体" panose="02010600030101010101" pitchFamily="2" charset="-122"/>
                <a:cs typeface="Times New Roman" panose="02020603050405020304" pitchFamily="18" charset="0"/>
              </a:rPr>
              <a:t>→</a:t>
            </a:r>
            <a:r>
              <a:rPr lang="en-US" altLang="zh-CN" sz="2000" b="1" i="1" smtClean="0">
                <a:ea typeface="宋体" panose="02010600030101010101" pitchFamily="2" charset="-122"/>
              </a:rPr>
              <a:t>R</a:t>
            </a:r>
            <a:r>
              <a:rPr lang="en-US" altLang="zh-CN" sz="2000" smtClean="0">
                <a:ea typeface="宋体" panose="02010600030101010101" pitchFamily="2" charset="-122"/>
              </a:rPr>
              <a:t>  where D are R type expressions. Ex:  int→int  represents the type of a function which takes an int value as parameter, and its return type is also int.</a:t>
            </a:r>
          </a:p>
          <a:p>
            <a:endParaRPr lang="zh-CN" altLang="en-US" sz="2000" smtClean="0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614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614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9AA7C50D-7BA0-4964-9C4E-0CB132285C1A}" type="slidenum">
              <a:rPr lang="zh-CN" altLang="en-US" sz="800"/>
              <a:pPr/>
              <a:t>5</a:t>
            </a:fld>
            <a:endParaRPr lang="en-US" altLang="zh-CN" sz="800"/>
          </a:p>
        </p:txBody>
      </p:sp>
      <p:sp>
        <p:nvSpPr>
          <p:cNvPr id="614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A Simple Type Checking System (P.348)</a:t>
            </a:r>
          </a:p>
        </p:txBody>
      </p:sp>
      <p:sp>
        <p:nvSpPr>
          <p:cNvPr id="615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838200" y="2209800"/>
            <a:ext cx="8382000" cy="36576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P 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→ D; E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D → D; D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D → </a:t>
            </a:r>
            <a:r>
              <a:rPr lang="en-US" altLang="zh-CN" b="1" smtClean="0">
                <a:ea typeface="宋体" panose="02010600030101010101" pitchFamily="2" charset="-122"/>
                <a:cs typeface="Times New Roman" panose="02020603050405020304" pitchFamily="18" charset="0"/>
              </a:rPr>
              <a:t>id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: T     { addtype(id.entry,T.type) }	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T → char      { T.type=char }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T → int         { T.type=int }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T → real       { T.type=real }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T → ↑T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 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     { T.type=pointer(T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.type) }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T → array[</a:t>
            </a:r>
            <a:r>
              <a:rPr lang="en-US" altLang="zh-CN" b="1" smtClean="0">
                <a:ea typeface="宋体" panose="02010600030101010101" pitchFamily="2" charset="-122"/>
                <a:cs typeface="Times New Roman" panose="02020603050405020304" pitchFamily="18" charset="0"/>
              </a:rPr>
              <a:t>intnum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] of T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  { T.type=array(0..intnum.val,T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.type) }</a:t>
            </a:r>
          </a:p>
        </p:txBody>
      </p:sp>
      <p:sp>
        <p:nvSpPr>
          <p:cNvPr id="6151" name="Rectangle 4"/>
          <p:cNvSpPr>
            <a:spLocks noChangeArrowheads="1"/>
          </p:cNvSpPr>
          <p:nvPr/>
        </p:nvSpPr>
        <p:spPr bwMode="auto">
          <a:xfrm>
            <a:off x="685800" y="1143000"/>
            <a:ext cx="83820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</a:rPr>
              <a:t>The type checker is a translation scheme that synthesizes the type of each expression from the types of its sub-expressions.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717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717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0E8EA287-A5F6-41CD-AEAE-99E78986A73B}" type="slidenum">
              <a:rPr lang="zh-CN" altLang="en-US" sz="800"/>
              <a:pPr/>
              <a:t>6</a:t>
            </a:fld>
            <a:endParaRPr lang="en-US" altLang="zh-CN" sz="800"/>
          </a:p>
        </p:txBody>
      </p:sp>
      <p:sp>
        <p:nvSpPr>
          <p:cNvPr id="717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7620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Type Checking of Expressions (P.350)</a:t>
            </a:r>
          </a:p>
        </p:txBody>
      </p:sp>
      <p:sp>
        <p:nvSpPr>
          <p:cNvPr id="40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9067800" cy="52578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→ </a:t>
            </a:r>
            <a:r>
              <a:rPr lang="en-US" altLang="zh-CN" b="1" smtClean="0">
                <a:ea typeface="宋体" panose="02010600030101010101" pitchFamily="2" charset="-122"/>
                <a:cs typeface="Times New Roman" panose="02020603050405020304" pitchFamily="18" charset="0"/>
              </a:rPr>
              <a:t>id			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{ E.type=lookup(id.entry) }</a:t>
            </a:r>
            <a:endParaRPr lang="en-US" altLang="zh-CN" b="1" smtClean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E → </a:t>
            </a:r>
            <a:r>
              <a:rPr lang="en-US" altLang="zh-CN" b="1" smtClean="0">
                <a:ea typeface="宋体" panose="02010600030101010101" pitchFamily="2" charset="-122"/>
                <a:cs typeface="Times New Roman" panose="02020603050405020304" pitchFamily="18" charset="0"/>
              </a:rPr>
              <a:t>charliteral	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{ E.type=char }</a:t>
            </a:r>
            <a:endParaRPr lang="en-US" altLang="zh-CN" b="1" smtClean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E → </a:t>
            </a:r>
            <a:r>
              <a:rPr lang="en-US" altLang="zh-CN" b="1" smtClean="0">
                <a:ea typeface="宋体" panose="02010600030101010101" pitchFamily="2" charset="-122"/>
                <a:cs typeface="Times New Roman" panose="02020603050405020304" pitchFamily="18" charset="0"/>
              </a:rPr>
              <a:t>intliteral		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{ E.type=int }</a:t>
            </a:r>
            <a:endParaRPr lang="en-US" altLang="zh-CN" b="1" smtClean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E → </a:t>
            </a:r>
            <a:r>
              <a:rPr lang="en-US" altLang="zh-CN" b="1" smtClean="0">
                <a:ea typeface="宋体" panose="02010600030101010101" pitchFamily="2" charset="-122"/>
                <a:cs typeface="Times New Roman" panose="02020603050405020304" pitchFamily="18" charset="0"/>
              </a:rPr>
              <a:t>realliteral	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{ E.type=real }</a:t>
            </a:r>
            <a:endParaRPr lang="en-US" altLang="zh-CN" b="1" smtClean="0"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E →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 +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   	{ if (E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.type=int and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.type=int) then E.type=int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			   else if (E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.type=int and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.type=real) then E.type=real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			   else if (E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.type=real and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.type=int) then E.type=real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			   else if (E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.type=real and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.type=real) then E.type=real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			   else E.type=type-error  } 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E →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 [E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]	{ if (E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.type=int and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.type=array(s,t)) then E.type=t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			   else E.type=type-error }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E → ↑ E</a:t>
            </a:r>
            <a:r>
              <a:rPr lang="en-US" altLang="zh-CN" baseline="-25000" smtClean="0"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 	{ if (t=pointer(E1.type)) then E.type=t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cs typeface="Times New Roman" panose="02020603050405020304" pitchFamily="18" charset="0"/>
              </a:rPr>
              <a:t>			   else E.type=type-error }</a:t>
            </a:r>
            <a:endParaRPr lang="zh-CN" altLang="en-US" smtClean="0"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afterEffect">
                                  <p:stCondLst>
                                    <p:cond delay="5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08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0857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0857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08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0857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408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40857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40857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6000"/>
                            </p:stCondLst>
                            <p:childTnLst>
                              <p:par>
                                <p:cTn id="26" presetID="2" presetClass="entr" presetSubtype="4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9" dur="1000" fill="hold"/>
                                        <p:tgtEl>
                                          <p:spTgt spid="40857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08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40857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10000"/>
                            </p:stCondLst>
                            <p:childTnLst>
                              <p:par>
                                <p:cTn id="35" presetID="2" presetClass="entr" presetSubtype="4" fill="hold" nodeType="after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1000" fill="hold"/>
                                        <p:tgtEl>
                                          <p:spTgt spid="408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1000" fill="hold"/>
                                        <p:tgtEl>
                                          <p:spTgt spid="40857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8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408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408579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819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819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C493732B-B37F-4A29-9E47-074BD5FD7FA9}" type="slidenum">
              <a:rPr lang="zh-CN" altLang="en-US" sz="800"/>
              <a:pPr/>
              <a:t>7</a:t>
            </a:fld>
            <a:endParaRPr lang="en-US" altLang="zh-CN" sz="800"/>
          </a:p>
        </p:txBody>
      </p:sp>
      <p:sp>
        <p:nvSpPr>
          <p:cNvPr id="8197" name="Rectangle 1026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Type Checking of Statements (P.351)</a:t>
            </a:r>
          </a:p>
        </p:txBody>
      </p:sp>
      <p:sp>
        <p:nvSpPr>
          <p:cNvPr id="410627" name="Rectangle 1027"/>
          <p:cNvSpPr>
            <a:spLocks noGrp="1" noChangeArrowheads="1"/>
          </p:cNvSpPr>
          <p:nvPr>
            <p:ph type="body" idx="1"/>
          </p:nvPr>
        </p:nvSpPr>
        <p:spPr>
          <a:xfrm>
            <a:off x="152400" y="1219200"/>
            <a:ext cx="96012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S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</a:t>
            </a:r>
            <a:r>
              <a:rPr lang="en-US" altLang="zh-CN" b="1" smtClean="0"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= E		{ if (id.type=E.type then S.type=</a:t>
            </a:r>
            <a:r>
              <a:rPr lang="en-US" altLang="zh-CN" b="1" smtClean="0">
                <a:solidFill>
                  <a:schemeClr val="accent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void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 else S.type=type-error }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S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if E then S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 	{ if (E.type=boolean then S.type=S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.type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 else S.type=type-error }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S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while E do S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	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{ if (E.type=boolean then S.type=S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.type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 else S.type=type-error }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S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S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; S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	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{ if (S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.type=void and S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.type=void then S.type=</a:t>
            </a:r>
            <a:r>
              <a:rPr lang="en-US" altLang="zh-CN" b="1" smtClean="0">
                <a:solidFill>
                  <a:schemeClr val="accent1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void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	   else S.type=type-error }</a:t>
            </a:r>
            <a:endParaRPr lang="zh-CN" altLang="en-US" smtClean="0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062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10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1062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410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41062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41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1062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10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1062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410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41062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921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922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3FEFE6EF-9508-4579-B470-A550B286261B}" type="slidenum">
              <a:rPr lang="zh-CN" altLang="en-US" sz="800"/>
              <a:pPr/>
              <a:t>8</a:t>
            </a:fld>
            <a:endParaRPr lang="en-US" altLang="zh-CN" sz="800"/>
          </a:p>
        </p:txBody>
      </p:sp>
      <p:sp>
        <p:nvSpPr>
          <p:cNvPr id="922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Type Checking of Functions (P.352)</a:t>
            </a:r>
          </a:p>
        </p:txBody>
      </p:sp>
      <p:sp>
        <p:nvSpPr>
          <p:cNvPr id="922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44000" cy="4724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E 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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(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)	{ if (E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.type=s and E</a:t>
            </a:r>
            <a:r>
              <a:rPr lang="en-US" altLang="zh-CN" baseline="-25000" smtClean="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.type=s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t) then E.type=t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	   else E.type=type-error }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Ex:	int f(double x, char y) { ... }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f: 	double </a:t>
            </a:r>
            <a:r>
              <a:rPr lang="en-US" altLang="zh-CN" b="1" i="1" smtClean="0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x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char  int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		argument types	return type</a:t>
            </a:r>
          </a:p>
        </p:txBody>
      </p:sp>
      <p:sp>
        <p:nvSpPr>
          <p:cNvPr id="9223" name="Line 4"/>
          <p:cNvSpPr>
            <a:spLocks noChangeShapeType="1"/>
          </p:cNvSpPr>
          <p:nvPr/>
        </p:nvSpPr>
        <p:spPr bwMode="auto">
          <a:xfrm flipV="1">
            <a:off x="2209800" y="3962400"/>
            <a:ext cx="838200" cy="4572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9224" name="Line 5"/>
          <p:cNvSpPr>
            <a:spLocks noChangeShapeType="1"/>
          </p:cNvSpPr>
          <p:nvPr/>
        </p:nvSpPr>
        <p:spPr bwMode="auto">
          <a:xfrm flipV="1">
            <a:off x="4572000" y="3810000"/>
            <a:ext cx="0" cy="609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024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024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2A5BC1A-094C-4A19-A425-2845251D598A}" type="slidenum">
              <a:rPr lang="zh-CN" altLang="en-US" sz="800"/>
              <a:pPr/>
              <a:t>9</a:t>
            </a:fld>
            <a:endParaRPr lang="en-US" altLang="zh-CN" sz="800"/>
          </a:p>
        </p:txBody>
      </p:sp>
      <p:sp>
        <p:nvSpPr>
          <p:cNvPr id="1024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Structural Equivalence of Type Expressions (P.353)</a:t>
            </a:r>
          </a:p>
        </p:txBody>
      </p:sp>
      <p:sp>
        <p:nvSpPr>
          <p:cNvPr id="10246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How do we know that two type expressions are equal?</a:t>
            </a:r>
          </a:p>
          <a:p>
            <a:r>
              <a:rPr lang="en-US" altLang="zh-CN" smtClean="0">
                <a:ea typeface="宋体" panose="02010600030101010101" pitchFamily="2" charset="-122"/>
              </a:rPr>
              <a:t>As long as type expressions are built from basic types (no type names), we may use </a:t>
            </a:r>
            <a:r>
              <a:rPr lang="en-US" altLang="zh-CN" b="1" smtClean="0">
                <a:ea typeface="宋体" panose="02010600030101010101" pitchFamily="2" charset="-122"/>
              </a:rPr>
              <a:t>structural equivalence</a:t>
            </a:r>
            <a:r>
              <a:rPr lang="en-US" altLang="zh-CN" smtClean="0">
                <a:ea typeface="宋体" panose="02010600030101010101" pitchFamily="2" charset="-122"/>
              </a:rPr>
              <a:t> between two type expressions</a:t>
            </a:r>
          </a:p>
          <a:p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Structural Equivalence Algorithm (</a:t>
            </a:r>
            <a:r>
              <a:rPr lang="en-US" altLang="zh-CN" b="1" smtClean="0">
                <a:solidFill>
                  <a:schemeClr val="accent2"/>
                </a:solidFill>
                <a:ea typeface="宋体" panose="02010600030101010101" pitchFamily="2" charset="-122"/>
              </a:rPr>
              <a:t>sequiv</a:t>
            </a:r>
            <a:r>
              <a:rPr lang="en-US" altLang="zh-CN" b="1" smtClean="0">
                <a:ea typeface="宋体" panose="02010600030101010101" pitchFamily="2" charset="-122"/>
              </a:rPr>
              <a:t>):</a:t>
            </a: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z="2000" smtClean="0">
                <a:ea typeface="宋体" panose="02010600030101010101" pitchFamily="2" charset="-122"/>
              </a:rPr>
              <a:t>if (s and t are same basic types) then return true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else if (s=array(s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,s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) and t=array(t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,t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)) then return (sequiv(s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,t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) and sequiv(s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,t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))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else if (s =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 </a:t>
            </a:r>
            <a:r>
              <a:rPr lang="en-US" altLang="zh-CN" sz="2000" i="1" smtClean="0">
                <a:ea typeface="宋体" panose="02010600030101010101" pitchFamily="2" charset="-122"/>
              </a:rPr>
              <a:t>x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 and t = 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 </a:t>
            </a:r>
            <a:r>
              <a:rPr lang="en-US" altLang="zh-CN" sz="2000" i="1" smtClean="0">
                <a:ea typeface="宋体" panose="02010600030101010101" pitchFamily="2" charset="-122"/>
              </a:rPr>
              <a:t>x </a:t>
            </a:r>
            <a:r>
              <a:rPr lang="en-US" altLang="zh-CN" sz="2000" smtClean="0">
                <a:ea typeface="宋体" panose="02010600030101010101" pitchFamily="2" charset="-122"/>
              </a:rPr>
              <a:t>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) then return (sequiv(s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,t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) and sequiv(s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,t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))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else if (s=pointer(s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) and t=pointer(t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)) then return (sequiv(s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,t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))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else if (s =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ea typeface="宋体" panose="02010600030101010101" pitchFamily="2" charset="-122"/>
              </a:rPr>
              <a:t> 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 and t = 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 </a:t>
            </a:r>
            <a:r>
              <a:rPr lang="en-US" altLang="zh-CN" sz="1800" smtClean="0">
                <a:ea typeface="宋体" panose="02010600030101010101" pitchFamily="2" charset="-122"/>
                <a:sym typeface="Symbol" panose="05050102010706020507" pitchFamily="18" charset="2"/>
              </a:rPr>
              <a:t></a:t>
            </a:r>
            <a:r>
              <a:rPr lang="en-US" altLang="zh-CN" sz="2000" smtClean="0">
                <a:ea typeface="宋体" panose="02010600030101010101" pitchFamily="2" charset="-122"/>
              </a:rPr>
              <a:t> 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) then return (sequiv(s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,t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1</a:t>
            </a:r>
            <a:r>
              <a:rPr lang="en-US" altLang="zh-CN" sz="2000" smtClean="0">
                <a:ea typeface="宋体" panose="02010600030101010101" pitchFamily="2" charset="-122"/>
              </a:rPr>
              <a:t>) and sequiv(s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,t</a:t>
            </a:r>
            <a:r>
              <a:rPr lang="en-US" altLang="zh-CN" sz="2000" baseline="-25000" smtClean="0">
                <a:ea typeface="宋体" panose="02010600030101010101" pitchFamily="2" charset="-122"/>
              </a:rPr>
              <a:t>2</a:t>
            </a:r>
            <a:r>
              <a:rPr lang="en-US" altLang="zh-CN" sz="2000" smtClean="0">
                <a:ea typeface="宋体" panose="02010600030101010101" pitchFamily="2" charset="-122"/>
              </a:rPr>
              <a:t>))</a:t>
            </a:r>
          </a:p>
          <a:p>
            <a:pPr>
              <a:buFontTx/>
              <a:buNone/>
            </a:pPr>
            <a:r>
              <a:rPr lang="en-US" altLang="zh-CN" sz="2000" smtClean="0">
                <a:ea typeface="宋体" panose="02010600030101010101" pitchFamily="2" charset="-122"/>
              </a:rPr>
              <a:t>	else return false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126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126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7BF3BA3A-F367-48FF-9ABB-E0684095FD93}" type="slidenum">
              <a:rPr lang="zh-CN" altLang="en-US" sz="800"/>
              <a:pPr/>
              <a:t>10</a:t>
            </a:fld>
            <a:endParaRPr lang="en-US" altLang="zh-CN" sz="800"/>
          </a:p>
        </p:txBody>
      </p:sp>
      <p:sp>
        <p:nvSpPr>
          <p:cNvPr id="1126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Names for Type Expressions (P.356)</a:t>
            </a:r>
          </a:p>
        </p:txBody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67800" cy="51054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In some programming languages, we give a name to a type expression, and we use that name as a type expression afterwards.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type link = 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 cell;		</a:t>
            </a: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var p,q : link;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var r,s :  cell</a:t>
            </a:r>
          </a:p>
          <a:p>
            <a:pPr>
              <a:buFontTx/>
              <a:buNone/>
            </a:pPr>
            <a:endParaRPr lang="en-US" altLang="zh-CN" smtClean="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How do we treat type names?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Get equivalent type expression for a type name (then use structural equivalence), or</a:t>
            </a:r>
          </a:p>
          <a:p>
            <a:pPr lvl="1"/>
            <a:r>
              <a:rPr lang="en-US" altLang="zh-CN" sz="2000" smtClean="0">
                <a:ea typeface="宋体" panose="02010600030101010101" pitchFamily="2" charset="-122"/>
                <a:sym typeface="Symbol" panose="05050102010706020507" pitchFamily="18" charset="2"/>
              </a:rPr>
              <a:t>Treat a type name as a basic type.</a:t>
            </a:r>
          </a:p>
        </p:txBody>
      </p:sp>
      <p:sp>
        <p:nvSpPr>
          <p:cNvPr id="413700" name="Rectangle 4"/>
          <p:cNvSpPr>
            <a:spLocks noChangeArrowheads="1"/>
          </p:cNvSpPr>
          <p:nvPr/>
        </p:nvSpPr>
        <p:spPr bwMode="auto">
          <a:xfrm>
            <a:off x="5410200" y="2209800"/>
            <a:ext cx="34115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b="1">
                <a:solidFill>
                  <a:srgbClr val="CC0000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p,q,r,s have same types ?</a:t>
            </a:r>
          </a:p>
        </p:txBody>
      </p:sp>
      <p:sp>
        <p:nvSpPr>
          <p:cNvPr id="413701" name="Rectangle 5"/>
          <p:cNvSpPr>
            <a:spLocks noChangeArrowheads="1"/>
          </p:cNvSpPr>
          <p:nvPr/>
        </p:nvSpPr>
        <p:spPr bwMode="auto">
          <a:xfrm>
            <a:off x="4572000" y="2743200"/>
            <a:ext cx="51054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Under </a:t>
            </a:r>
            <a:r>
              <a:rPr lang="en-US" altLang="zh-CN" sz="2000" b="1" i="1" u="sng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name equivalence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p and r do not have the same type, however, under </a:t>
            </a:r>
            <a:r>
              <a:rPr lang="en-US" altLang="zh-CN" sz="2000" b="1" i="1" u="sng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structural equivalence</a:t>
            </a:r>
            <a:r>
              <a:rPr lang="en-US" altLang="zh-CN" sz="2000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, all variables p, q, r and s have the same type.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37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41370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3700" grpId="0"/>
      <p:bldP spid="413701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日期占位符 4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2291" name="页脚占位符 5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2292" name="灯片编号占位符 6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5A4137A-7277-4470-9718-DBC0DB953504}" type="slidenum">
              <a:rPr lang="zh-CN" altLang="en-US" sz="800"/>
              <a:pPr/>
              <a:t>11</a:t>
            </a:fld>
            <a:endParaRPr lang="en-US" altLang="zh-CN" sz="800"/>
          </a:p>
        </p:txBody>
      </p:sp>
      <p:sp>
        <p:nvSpPr>
          <p:cNvPr id="12293" name="Rectangle 2"/>
          <p:cNvSpPr>
            <a:spLocks noGrp="1" noChangeArrowheads="1"/>
          </p:cNvSpPr>
          <p:nvPr>
            <p:ph type="title"/>
          </p:nvPr>
        </p:nvSpPr>
        <p:spPr>
          <a:xfrm>
            <a:off x="381000" y="152400"/>
            <a:ext cx="9372600" cy="609600"/>
          </a:xfrm>
        </p:spPr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Cycles in Type Expressions (P.358)</a:t>
            </a:r>
          </a:p>
        </p:txBody>
      </p:sp>
      <p:sp>
        <p:nvSpPr>
          <p:cNvPr id="12294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914400"/>
            <a:ext cx="8534400" cy="5562600"/>
          </a:xfrm>
        </p:spPr>
        <p:txBody>
          <a:bodyPr/>
          <a:lstStyle/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</a:rPr>
              <a:t>type link =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 cell;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type cell = record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	info : int,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	next : link</a:t>
            </a:r>
          </a:p>
          <a:p>
            <a:pPr>
              <a:lnSpc>
                <a:spcPct val="90000"/>
              </a:lnSpc>
              <a:buFontTx/>
              <a:buNone/>
            </a:pP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		  end;</a:t>
            </a: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  <a:buFontTx/>
              <a:buNone/>
            </a:pPr>
            <a:endParaRPr lang="en-US" altLang="zh-CN" sz="2000" smtClean="0">
              <a:latin typeface="Courier New" panose="02070309020205020404" pitchFamily="49" charset="0"/>
              <a:ea typeface="宋体" panose="02010600030101010101" pitchFamily="2" charset="-122"/>
              <a:sym typeface="Symbol" panose="05050102010706020507" pitchFamily="18" charset="2"/>
            </a:endParaRP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</a:rPr>
              <a:t>The type name link is defined in terms of cell and that cell is defined in terms of link, so their definitions are recursive.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We cannot use structural equivalence  if there are cycles in type expressions.</a:t>
            </a:r>
          </a:p>
          <a:p>
            <a:pPr>
              <a:lnSpc>
                <a:spcPct val="90000"/>
              </a:lnSpc>
            </a:pPr>
            <a:r>
              <a:rPr lang="en-US" altLang="zh-CN" smtClean="0">
                <a:ea typeface="宋体" panose="02010600030101010101" pitchFamily="2" charset="-122"/>
                <a:sym typeface="Symbol" panose="05050102010706020507" pitchFamily="18" charset="2"/>
              </a:rPr>
              <a:t>We have to treat type names as basic types.</a:t>
            </a:r>
          </a:p>
          <a:p>
            <a:pPr lvl="1">
              <a:lnSpc>
                <a:spcPct val="90000"/>
              </a:lnSpc>
              <a:buFontTx/>
              <a:buNone/>
            </a:pPr>
            <a:r>
              <a:rPr lang="en-US" altLang="zh-CN" sz="1600" smtClean="0">
                <a:ea typeface="宋体" panose="02010600030101010101" pitchFamily="2" charset="-122"/>
                <a:sym typeface="Wingdings" panose="05000000000000000000" pitchFamily="2" charset="2"/>
              </a:rPr>
              <a:t> 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but this means that the type expression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Wingdings" panose="05000000000000000000" pitchFamily="2" charset="2"/>
              </a:rPr>
              <a:t>link</a:t>
            </a:r>
            <a:r>
              <a:rPr lang="en-US" altLang="zh-CN" sz="2000" smtClean="0">
                <a:ea typeface="宋体" panose="02010600030101010101" pitchFamily="2" charset="-122"/>
                <a:sym typeface="Wingdings" panose="05000000000000000000" pitchFamily="2" charset="2"/>
              </a:rPr>
              <a:t> is different than the type expression </a:t>
            </a:r>
            <a:r>
              <a:rPr lang="en-US" altLang="zh-CN" sz="2000" smtClean="0">
                <a:latin typeface="Courier New" panose="02070309020205020404" pitchFamily="49" charset="0"/>
                <a:ea typeface="宋体" panose="02010600030101010101" pitchFamily="2" charset="-122"/>
                <a:sym typeface="Symbol" panose="05050102010706020507" pitchFamily="18" charset="2"/>
              </a:rPr>
              <a:t>cell.</a:t>
            </a:r>
          </a:p>
        </p:txBody>
      </p:sp>
      <p:graphicFrame>
        <p:nvGraphicFramePr>
          <p:cNvPr id="12295" name="Object 4"/>
          <p:cNvGraphicFramePr>
            <a:graphicFrameLocks noChangeAspect="1"/>
          </p:cNvGraphicFramePr>
          <p:nvPr>
            <p:ph sz="half" idx="2"/>
          </p:nvPr>
        </p:nvGraphicFramePr>
        <p:xfrm>
          <a:off x="4648200" y="762000"/>
          <a:ext cx="4191000" cy="2601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2296" name="Visio" r:id="rId4" imgW="2368296" imgH="1469746" progId="Visio.Drawing.6">
                  <p:embed/>
                </p:oleObj>
              </mc:Choice>
              <mc:Fallback>
                <p:oleObj name="Visio" r:id="rId4" imgW="2368296" imgH="1469746" progId="Visio.Drawing.6">
                  <p:embed/>
                  <p:pic>
                    <p:nvPicPr>
                      <p:cNvPr id="0" name="Object 4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648200" y="762000"/>
                        <a:ext cx="4191000" cy="2601913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chemeClr val="accent1"/>
                            </a:solidFill>
                          </a14:hiddenFill>
                        </a:ext>
                        <a:ext uri="{91240B29-F687-4F45-9708-019B960494DF}">
                          <a14:hiddenLine xmlns:a14="http://schemas.microsoft.com/office/drawing/2010/main" w="9525">
                            <a:solidFill>
                              <a:schemeClr val="tx1"/>
                            </a:solidFill>
                            <a:miter lim="800000"/>
                            <a:headEnd/>
                            <a:tailEnd/>
                          </a14:hiddenLine>
                        </a:ext>
                        <a:ext uri="{AF507438-7753-43E0-B8FC-AC1667EBCBE1}">
                          <a14:hiddenEffects xmlns:a14="http://schemas.microsoft.com/office/drawing/2010/main">
                            <a:effectLst>
                              <a:outerShdw dist="35921" dir="2700000" algn="ctr" rotWithShape="0">
                                <a:schemeClr val="bg2"/>
                              </a:outerShdw>
                            </a:effectLst>
                          </a14:hiddenEffects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331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331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44C093D7-79DD-4589-B67D-9EA8121B8EC9}" type="slidenum">
              <a:rPr lang="zh-CN" altLang="en-US" sz="800"/>
              <a:pPr/>
              <a:t>12</a:t>
            </a:fld>
            <a:endParaRPr lang="en-US" altLang="zh-CN" sz="800"/>
          </a:p>
        </p:txBody>
      </p:sp>
      <p:sp>
        <p:nvSpPr>
          <p:cNvPr id="1331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Type Coercions (P.359)</a:t>
            </a:r>
          </a:p>
        </p:txBody>
      </p:sp>
      <p:sp>
        <p:nvSpPr>
          <p:cNvPr id="1331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144000" cy="4724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b="1" smtClean="0">
                <a:ea typeface="宋体" panose="02010600030101010101" pitchFamily="2" charset="-122"/>
              </a:rPr>
              <a:t>x + y</a:t>
            </a:r>
            <a:r>
              <a:rPr lang="en-US" altLang="zh-CN" smtClean="0">
                <a:ea typeface="宋体" panose="02010600030101010101" pitchFamily="2" charset="-122"/>
              </a:rPr>
              <a:t>		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r>
              <a:rPr lang="en-US" altLang="zh-CN" smtClean="0">
                <a:ea typeface="宋体" panose="02010600030101010101" pitchFamily="2" charset="-122"/>
              </a:rPr>
              <a:t>What kind of codes we have to produce, if the type of x is double and the type of y is int?</a:t>
            </a:r>
          </a:p>
          <a:p>
            <a:pPr>
              <a:buFontTx/>
              <a:buNone/>
            </a:pPr>
            <a:endParaRPr lang="en-US" altLang="zh-CN" smtClean="0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smtClean="0">
                <a:ea typeface="宋体" panose="02010600030101010101" pitchFamily="2" charset="-122"/>
              </a:rPr>
              <a:t>	</a:t>
            </a: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inttoreal  t1,,y</a:t>
            </a:r>
          </a:p>
          <a:p>
            <a:pPr>
              <a:buFontTx/>
              <a:buNone/>
            </a:pPr>
            <a:r>
              <a:rPr lang="en-US" altLang="zh-CN" smtClean="0">
                <a:latin typeface="Courier New" panose="02070309020205020404" pitchFamily="49" charset="0"/>
                <a:ea typeface="宋体" panose="02010600030101010101" pitchFamily="2" charset="-122"/>
              </a:rPr>
              <a:t>	real+	   t2,x,t1    (addf $f3,$f1,$f2)</a:t>
            </a:r>
          </a:p>
        </p:txBody>
      </p:sp>
      <p:sp>
        <p:nvSpPr>
          <p:cNvPr id="415750" name="Rectangle 6"/>
          <p:cNvSpPr>
            <a:spLocks noChangeArrowheads="1"/>
          </p:cNvSpPr>
          <p:nvPr/>
        </p:nvSpPr>
        <p:spPr bwMode="auto">
          <a:xfrm>
            <a:off x="2667000" y="1295400"/>
            <a:ext cx="67389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>
              <a:spcBef>
                <a:spcPct val="20000"/>
              </a:spcBef>
            </a:pPr>
            <a:r>
              <a:rPr lang="en-US" altLang="zh-CN">
                <a:ea typeface="宋体" panose="02010600030101010101" pitchFamily="2" charset="-122"/>
              </a:rPr>
              <a:t> </a:t>
            </a:r>
            <a:r>
              <a:rPr lang="en-US" altLang="zh-CN" b="1">
                <a:solidFill>
                  <a:srgbClr val="CC0000"/>
                </a:solidFill>
                <a:ea typeface="宋体" panose="02010600030101010101" pitchFamily="2" charset="-122"/>
              </a:rPr>
              <a:t>what is the type of this expression (int or double)?</a:t>
            </a:r>
          </a:p>
        </p:txBody>
      </p:sp>
      <p:sp>
        <p:nvSpPr>
          <p:cNvPr id="13320" name="Line 7"/>
          <p:cNvSpPr>
            <a:spLocks noChangeShapeType="1"/>
          </p:cNvSpPr>
          <p:nvPr/>
        </p:nvSpPr>
        <p:spPr bwMode="auto">
          <a:xfrm flipV="1">
            <a:off x="76962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1" name="Rectangle 8"/>
          <p:cNvSpPr>
            <a:spLocks noChangeArrowheads="1"/>
          </p:cNvSpPr>
          <p:nvPr/>
        </p:nvSpPr>
        <p:spPr bwMode="auto">
          <a:xfrm>
            <a:off x="7543800" y="54102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t1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22" name="Line 9"/>
          <p:cNvSpPr>
            <a:spLocks noChangeShapeType="1"/>
          </p:cNvSpPr>
          <p:nvPr/>
        </p:nvSpPr>
        <p:spPr bwMode="auto">
          <a:xfrm flipV="1">
            <a:off x="70104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3" name="Rectangle 10"/>
          <p:cNvSpPr>
            <a:spLocks noChangeArrowheads="1"/>
          </p:cNvSpPr>
          <p:nvPr/>
        </p:nvSpPr>
        <p:spPr bwMode="auto">
          <a:xfrm>
            <a:off x="6858000" y="5410200"/>
            <a:ext cx="336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x</a:t>
            </a:r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13324" name="Line 11"/>
          <p:cNvSpPr>
            <a:spLocks noChangeShapeType="1"/>
          </p:cNvSpPr>
          <p:nvPr/>
        </p:nvSpPr>
        <p:spPr bwMode="auto">
          <a:xfrm flipV="1">
            <a:off x="6248400" y="5029200"/>
            <a:ext cx="0" cy="3810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3325" name="Rectangle 12"/>
          <p:cNvSpPr>
            <a:spLocks noChangeArrowheads="1"/>
          </p:cNvSpPr>
          <p:nvPr/>
        </p:nvSpPr>
        <p:spPr bwMode="auto">
          <a:xfrm>
            <a:off x="6096000" y="5410200"/>
            <a:ext cx="4206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t2</a:t>
            </a:r>
            <a:endParaRPr lang="zh-CN" altLang="en-US"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157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5750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4339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4340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0F0647-46CA-44A0-8835-3F7B87ACA922}" type="slidenum">
              <a:rPr lang="zh-CN" altLang="en-US" sz="800"/>
              <a:pPr/>
              <a:t>13</a:t>
            </a:fld>
            <a:endParaRPr lang="en-US" altLang="zh-CN" sz="800"/>
          </a:p>
        </p:txBody>
      </p:sp>
      <p:sp>
        <p:nvSpPr>
          <p:cNvPr id="14341" name="Rectangle 4"/>
          <p:cNvSpPr>
            <a:spLocks noChangeArrowheads="1"/>
          </p:cNvSpPr>
          <p:nvPr/>
        </p:nvSpPr>
        <p:spPr bwMode="auto">
          <a:xfrm>
            <a:off x="1081088" y="152400"/>
            <a:ext cx="8062912" cy="685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/>
            <a:r>
              <a:rPr lang="en-US" altLang="zh-CN" sz="3200" b="1">
                <a:solidFill>
                  <a:schemeClr val="tx2"/>
                </a:solidFill>
                <a:ea typeface="宋体" panose="02010600030101010101" pitchFamily="2" charset="-122"/>
              </a:rPr>
              <a:t>Overloading (P.361)</a:t>
            </a:r>
          </a:p>
        </p:txBody>
      </p:sp>
      <p:sp>
        <p:nvSpPr>
          <p:cNvPr id="14342" name="Rectangle 5"/>
          <p:cNvSpPr>
            <a:spLocks noChangeArrowheads="1"/>
          </p:cNvSpPr>
          <p:nvPr/>
        </p:nvSpPr>
        <p:spPr bwMode="auto">
          <a:xfrm>
            <a:off x="838200" y="990600"/>
            <a:ext cx="85344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/>
          <a:lstStyle>
            <a:lvl1pPr marL="342900" indent="-342900">
              <a:spcBef>
                <a:spcPct val="20000"/>
              </a:spcBef>
              <a:buChar char="•"/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spcBef>
                <a:spcPct val="20000"/>
              </a:spcBef>
              <a:buChar char="–"/>
              <a:defRPr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spcBef>
                <a:spcPct val="20000"/>
              </a:spcBef>
              <a:buChar char="•"/>
              <a:defRPr sz="16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spcBef>
                <a:spcPct val="20000"/>
              </a:spcBef>
              <a:buChar char="–"/>
              <a:defRPr sz="1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spcBef>
                <a:spcPct val="20000"/>
              </a:spcBef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2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>
                <a:ea typeface="宋体" panose="02010600030101010101" pitchFamily="2" charset="-122"/>
              </a:rPr>
              <a:t>Expressions might have a multitude of types.</a:t>
            </a:r>
          </a:p>
          <a:p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  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 		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{E.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types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= 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lookup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id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entry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)}</a:t>
            </a:r>
          </a:p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  E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+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		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{E.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types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= { t |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there exists a type in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					E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types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and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types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simultaneously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  <a:endParaRPr lang="en-US" altLang="zh-CN">
              <a:ea typeface="宋体" panose="02010600030101010101" pitchFamily="2" charset="-122"/>
            </a:endParaRPr>
          </a:p>
          <a:p>
            <a:pPr>
              <a:buFontTx/>
              <a:buNone/>
            </a:pP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  E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(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E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) 		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{E.</a:t>
            </a:r>
            <a:r>
              <a:rPr lang="en-US" altLang="zh-CN" b="1" i="1">
                <a:ea typeface="宋体" panose="02010600030101010101" pitchFamily="2" charset="-122"/>
                <a:sym typeface="Symbol" panose="05050102010706020507" pitchFamily="18" charset="2"/>
              </a:rPr>
              <a:t>types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= { t |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there exists a s in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types 				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such that s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belongs to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 E</a:t>
            </a:r>
            <a:r>
              <a:rPr lang="en-US" altLang="zh-CN" b="1" baseline="-25000"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types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 </a:t>
            </a:r>
            <a:r>
              <a:rPr lang="en-US" altLang="zh-CN" b="1">
                <a:ea typeface="宋体" panose="02010600030101010101" pitchFamily="2" charset="-122"/>
                <a:sym typeface="Symbol" panose="05050102010706020507" pitchFamily="18" charset="2"/>
              </a:rPr>
              <a:t>}</a:t>
            </a:r>
          </a:p>
          <a:p>
            <a:pPr>
              <a:buFontTx/>
              <a:buNone/>
            </a:pPr>
            <a:endParaRPr lang="en-US" altLang="zh-CN" b="1">
              <a:ea typeface="宋体" panose="02010600030101010101" pitchFamily="2" charset="-122"/>
              <a:sym typeface="Symbol" panose="05050102010706020507" pitchFamily="18" charset="2"/>
            </a:endParaRPr>
          </a:p>
          <a:p>
            <a:r>
              <a:rPr lang="en-US" altLang="zh-CN">
                <a:ea typeface="宋体" panose="02010600030101010101" pitchFamily="2" charset="-122"/>
              </a:rPr>
              <a:t>An overloaded symbol is one that has different meanings depending on its context.</a:t>
            </a:r>
          </a:p>
          <a:p>
            <a:pPr lvl="1"/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The type of E is determined by looking at the possible types of E</a:t>
            </a:r>
            <a:r>
              <a:rPr lang="en-US" altLang="zh-CN" sz="1800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1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 and E</a:t>
            </a:r>
            <a:r>
              <a:rPr lang="en-US" altLang="zh-CN" sz="1800" baseline="-250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2</a:t>
            </a:r>
            <a:r>
              <a:rPr lang="en-US" altLang="zh-CN" sz="1800">
                <a:solidFill>
                  <a:schemeClr val="accent2"/>
                </a:solidFill>
                <a:ea typeface="宋体" panose="02010600030101010101" pitchFamily="2" charset="-122"/>
                <a:sym typeface="Symbol" panose="05050102010706020507" pitchFamily="18" charset="2"/>
              </a:rPr>
              <a:t>.</a:t>
            </a:r>
          </a:p>
          <a:p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Type error will occur when E.</a:t>
            </a:r>
            <a:r>
              <a:rPr lang="en-US" altLang="zh-CN" i="1">
                <a:ea typeface="宋体" panose="02010600030101010101" pitchFamily="2" charset="-122"/>
                <a:sym typeface="Symbol" panose="05050102010706020507" pitchFamily="18" charset="2"/>
              </a:rPr>
              <a:t>types </a:t>
            </a:r>
            <a:r>
              <a:rPr lang="en-US" altLang="zh-CN">
                <a:ea typeface="宋体" panose="02010600030101010101" pitchFamily="2" charset="-122"/>
                <a:sym typeface="Symbol" panose="05050102010706020507" pitchFamily="18" charset="2"/>
              </a:rPr>
              <a:t>becomes empty for some expression.</a:t>
            </a:r>
            <a:endParaRPr lang="zh-CN" altLang="en-US">
              <a:ea typeface="宋体" panose="02010600030101010101" pitchFamily="2" charset="-122"/>
              <a:sym typeface="Symbol" panose="05050102010706020507" pitchFamily="18" charset="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5363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5364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5665A2BC-B0F6-4B46-8AAC-54DDAC3CDDF6}" type="slidenum">
              <a:rPr lang="zh-CN" altLang="en-US" sz="800"/>
              <a:pPr/>
              <a:t>14</a:t>
            </a:fld>
            <a:endParaRPr lang="en-US" altLang="zh-CN" sz="800"/>
          </a:p>
        </p:txBody>
      </p:sp>
      <p:sp>
        <p:nvSpPr>
          <p:cNvPr id="1536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smtClean="0">
                <a:ea typeface="宋体" panose="02010600030101010101" pitchFamily="2" charset="-122"/>
              </a:rPr>
              <a:t>Exercises (think)</a:t>
            </a:r>
          </a:p>
        </p:txBody>
      </p:sp>
      <p:sp>
        <p:nvSpPr>
          <p:cNvPr id="1536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372600" cy="4343400"/>
          </a:xfrm>
        </p:spPr>
        <p:txBody>
          <a:bodyPr/>
          <a:lstStyle/>
          <a:p>
            <a:r>
              <a:rPr lang="en-US" altLang="zh-CN" sz="3200" smtClean="0">
                <a:ea typeface="宋体" panose="02010600030101010101" pitchFamily="2" charset="-122"/>
              </a:rPr>
              <a:t>P.381  6.2,  6.10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6387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6388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F32D5BB8-F6BE-4628-867B-4CCB382D9A8D}" type="slidenum">
              <a:rPr lang="zh-CN" altLang="en-US" sz="800"/>
              <a:pPr/>
              <a:t>15</a:t>
            </a:fld>
            <a:endParaRPr lang="en-US" altLang="zh-CN" sz="800"/>
          </a:p>
        </p:txBody>
      </p:sp>
      <p:sp>
        <p:nvSpPr>
          <p:cNvPr id="1638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6390" name="Rectangle 4"/>
          <p:cNvSpPr>
            <a:spLocks noChangeArrowheads="1"/>
          </p:cNvSpPr>
          <p:nvPr/>
        </p:nvSpPr>
        <p:spPr bwMode="auto">
          <a:xfrm>
            <a:off x="914400" y="1066800"/>
            <a:ext cx="8077200" cy="1311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sz="2000" b="1">
                <a:ea typeface="宋体" panose="02010600030101010101" pitchFamily="2" charset="-122"/>
              </a:rPr>
              <a:t>1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、对于输入的表达式</a:t>
            </a:r>
            <a:r>
              <a:rPr lang="en-US" altLang="zh-CN" sz="2000" b="1">
                <a:ea typeface="宋体" panose="02010600030101010101" pitchFamily="2" charset="-122"/>
              </a:rPr>
              <a:t>(4*7+1)*2</a:t>
            </a:r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，根据下表的语法制导定义建立一棵带注释的分析树。</a:t>
            </a:r>
            <a:r>
              <a:rPr lang="zh-CN" altLang="en-US" sz="2000" b="1">
                <a:ea typeface="宋体" panose="02010600030101010101" pitchFamily="2" charset="-122"/>
              </a:rPr>
              <a:t> </a:t>
            </a:r>
            <a:endParaRPr lang="zh-CN" altLang="en-US" sz="2000">
              <a:ea typeface="宋体" panose="02010600030101010101" pitchFamily="2" charset="-122"/>
            </a:endParaRPr>
          </a:p>
          <a:p>
            <a:r>
              <a:rPr lang="en-US" altLang="zh-CN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val:</a:t>
            </a:r>
            <a:r>
              <a:rPr lang="zh-CN" altLang="en-US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表示非终结符的整数值</a:t>
            </a:r>
            <a:r>
              <a:rPr lang="en-US" altLang="zh-CN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</a:t>
            </a:r>
            <a:r>
              <a:rPr lang="zh-CN" altLang="en-US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综合属性</a:t>
            </a:r>
            <a:r>
              <a:rPr lang="en-US" altLang="zh-CN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,lexval </a:t>
            </a:r>
            <a:r>
              <a:rPr lang="zh-CN" altLang="en-US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是单词 </a:t>
            </a:r>
            <a:r>
              <a:rPr lang="en-US" altLang="zh-CN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digit </a:t>
            </a:r>
            <a:r>
              <a:rPr lang="zh-CN" altLang="en-US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的属性 </a:t>
            </a:r>
            <a:endParaRPr lang="zh-CN" altLang="en-US" sz="2000">
              <a:ea typeface="宋体" panose="02010600030101010101" pitchFamily="2" charset="-122"/>
            </a:endParaRPr>
          </a:p>
          <a:p>
            <a:r>
              <a:rPr lang="zh-CN" altLang="en-US" sz="2000" b="1">
                <a:latin typeface="宋体" panose="02010600030101010101" pitchFamily="2" charset="-122"/>
                <a:ea typeface="宋体" panose="02010600030101010101" pitchFamily="2" charset="-122"/>
              </a:rPr>
              <a:t>语法制导定义如下：</a:t>
            </a:r>
            <a:r>
              <a:rPr lang="en-US" altLang="zh-CN" sz="2000" b="1">
                <a:solidFill>
                  <a:srgbClr val="402000"/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 </a:t>
            </a:r>
            <a:endParaRPr lang="en-US" altLang="zh-CN" sz="2000">
              <a:ea typeface="宋体" panose="02010600030101010101" pitchFamily="2" charset="-122"/>
            </a:endParaRPr>
          </a:p>
        </p:txBody>
      </p:sp>
      <p:graphicFrame>
        <p:nvGraphicFramePr>
          <p:cNvPr id="431197" name="Group 93"/>
          <p:cNvGraphicFramePr>
            <a:graphicFrameLocks noGrp="1"/>
          </p:cNvGraphicFramePr>
          <p:nvPr/>
        </p:nvGraphicFramePr>
        <p:xfrm>
          <a:off x="2667000" y="2590800"/>
          <a:ext cx="5257800" cy="3359150"/>
        </p:xfrm>
        <a:graphic>
          <a:graphicData uri="http://schemas.openxmlformats.org/drawingml/2006/table">
            <a:tbl>
              <a:tblPr/>
              <a:tblGrid>
                <a:gridCol w="2006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5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85733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产生式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宋体" pitchFamily="2" charset="-122"/>
                          <a:ea typeface="宋体" pitchFamily="2" charset="-122"/>
                        </a:rPr>
                        <a:t>语义规则</a:t>
                      </a:r>
                      <a:r>
                        <a:rPr kumimoji="0" lang="zh-CN" altLang="en-US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endParaRPr kumimoji="0" lang="zh-CN" altLang="en-US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L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 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print(E.val)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</a:t>
                      </a:r>
                      <a:r>
                        <a:rPr kumimoji="0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+T 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E.val:=E</a:t>
                      </a:r>
                      <a:r>
                        <a:rPr kumimoji="0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.val+T.val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 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E.val:=T.val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T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T</a:t>
                      </a:r>
                      <a:r>
                        <a:rPr kumimoji="0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*F 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T.val:=T</a:t>
                      </a:r>
                      <a:r>
                        <a:rPr kumimoji="0" lang="en-US" altLang="zh-CN" sz="2000" b="1" i="0" u="none" strike="noStrike" cap="none" normalizeH="0" baseline="30000" smtClean="0">
                          <a:ln>
                            <a:noFill/>
                          </a:ln>
                          <a:solidFill>
                            <a:srgbClr val="0066FF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1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.val*F.val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62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T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F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 </a:t>
                      </a: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T.val:=F.val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F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(E) 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402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Symbol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F.val:=E.val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2"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F 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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digit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楷体_GB2312" pitchFamily="49" charset="-122"/>
                          <a:ea typeface="楷体_GB2312" pitchFamily="49" charset="-122"/>
                          <a:sym typeface="Symbol" pitchFamily="18" charset="2"/>
                        </a:rPr>
                        <a:t> </a:t>
                      </a:r>
                      <a:endParaRPr kumimoji="0" lang="en-US" altLang="zh-CN" sz="2000" b="1" i="0" u="none" strike="noStrike" cap="none" normalizeH="0" baseline="0" smtClean="0">
                        <a:ln>
                          <a:noFill/>
                        </a:ln>
                        <a:solidFill>
                          <a:srgbClr val="402000"/>
                        </a:solidFill>
                        <a:effectLst/>
                        <a:latin typeface="楷体_GB2312" pitchFamily="49" charset="-122"/>
                        <a:ea typeface="楷体_GB2312" pitchFamily="49" charset="-122"/>
                        <a:sym typeface="Symbol" pitchFamily="18" charset="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>
                        <a:spcBef>
                          <a:spcPct val="20000"/>
                        </a:spcBef>
                        <a:defRPr sz="2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1pPr>
                      <a:lvl2pPr>
                        <a:spcBef>
                          <a:spcPct val="20000"/>
                        </a:spcBef>
                        <a:defRPr sz="16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2pPr>
                      <a:lvl3pPr>
                        <a:spcBef>
                          <a:spcPct val="20000"/>
                        </a:spcBef>
                        <a:defRPr sz="14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3pPr>
                      <a:lvl4pPr>
                        <a:spcBef>
                          <a:spcPct val="20000"/>
                        </a:spcBef>
                        <a:defRPr sz="12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4pPr>
                      <a:lvl5pPr>
                        <a:spcBef>
                          <a:spcPct val="20000"/>
                        </a:spcBef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5pPr>
                      <a:lvl6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6pPr>
                      <a:lvl7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7pPr>
                      <a:lvl8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8pPr>
                      <a:lvl9pPr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defRPr sz="1000">
                          <a:solidFill>
                            <a:schemeClr val="tx1"/>
                          </a:solidFill>
                          <a:latin typeface="Times New Roman" pitchFamily="18" charset="0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rgbClr val="402000"/>
                          </a:solidFill>
                          <a:effectLst/>
                          <a:latin typeface="Times New Roman" pitchFamily="18" charset="0"/>
                          <a:ea typeface="楷体_GB2312" pitchFamily="49" charset="-122"/>
                        </a:rPr>
                        <a:t>F.val:=digit.lexval</a:t>
                      </a:r>
                      <a:r>
                        <a:rPr kumimoji="0" lang="en-US" altLang="zh-CN" sz="20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imes New Roman" pitchFamily="18" charset="0"/>
                          <a:ea typeface="宋体" pitchFamily="2" charset="-122"/>
                        </a:rPr>
                        <a:t> </a:t>
                      </a:r>
                      <a:endParaRPr kumimoji="0" lang="en-US" altLang="zh-CN" sz="20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imes New Roman" pitchFamily="18" charset="0"/>
                        <a:ea typeface="宋体" pitchFamily="2" charset="-122"/>
                      </a:endParaRPr>
                    </a:p>
                  </a:txBody>
                  <a:tcPr marT="45716" marB="45716" horzOverflow="overflow">
                    <a:lnL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1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7411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7412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8871D0BE-B72F-4971-AFD0-83BFA7012A5C}" type="slidenum">
              <a:rPr lang="zh-CN" altLang="en-US" sz="800"/>
              <a:pPr/>
              <a:t>16</a:t>
            </a:fld>
            <a:endParaRPr lang="en-US" altLang="zh-CN" sz="800"/>
          </a:p>
        </p:txBody>
      </p:sp>
      <p:sp>
        <p:nvSpPr>
          <p:cNvPr id="1741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7414" name="Rectangle 4"/>
          <p:cNvSpPr>
            <a:spLocks noChangeArrowheads="1"/>
          </p:cNvSpPr>
          <p:nvPr/>
        </p:nvSpPr>
        <p:spPr bwMode="auto">
          <a:xfrm>
            <a:off x="914400" y="1706563"/>
            <a:ext cx="8382000" cy="22828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en-US" altLang="zh-CN" b="1">
                <a:ea typeface="宋体" panose="02010600030101010101" pitchFamily="2" charset="-122"/>
              </a:rPr>
              <a:t>2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、请按语法制导的定义，将后缀表达式翻译成中缀表达式。注意，不允许出现冗余括号，后</a:t>
            </a:r>
            <a:r>
              <a:rPr lang="zh-CN" altLang="en-US" b="1">
                <a:ea typeface="宋体" panose="02010600030101010101" pitchFamily="2" charset="-122"/>
              </a:rPr>
              <a:t>缀</a:t>
            </a:r>
            <a:r>
              <a:rPr lang="zh-CN" altLang="en-US" b="1">
                <a:latin typeface="宋体" panose="02010600030101010101" pitchFamily="2" charset="-122"/>
                <a:ea typeface="宋体" panose="02010600030101010101" pitchFamily="2" charset="-122"/>
              </a:rPr>
              <a:t>表达式的文法如下：</a:t>
            </a:r>
            <a:r>
              <a:rPr lang="zh-CN" altLang="en-US" b="1">
                <a:ea typeface="宋体" panose="02010600030101010101" pitchFamily="2" charset="-122"/>
              </a:rPr>
              <a:t> </a:t>
            </a:r>
            <a:endParaRPr lang="zh-CN" altLang="en-US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	E-&gt;EE+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	E-&gt;EE* </a:t>
            </a:r>
            <a:endParaRPr lang="en-US" altLang="zh-CN">
              <a:ea typeface="宋体" panose="02010600030101010101" pitchFamily="2" charset="-122"/>
            </a:endParaRPr>
          </a:p>
          <a:p>
            <a:r>
              <a:rPr lang="en-US" altLang="zh-CN" b="1">
                <a:ea typeface="宋体" panose="02010600030101010101" pitchFamily="2" charset="-122"/>
              </a:rPr>
              <a:t>	E-&gt;id </a:t>
            </a:r>
            <a:endParaRPr lang="en-US" altLang="zh-CN">
              <a:ea typeface="宋体" panose="02010600030101010101" pitchFamily="2" charset="-122"/>
            </a:endParaRPr>
          </a:p>
          <a:p>
            <a:endParaRPr lang="zh-CN" altLang="en-US" b="1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日期占位符 3"/>
          <p:cNvSpPr>
            <a:spLocks noGrp="1"/>
          </p:cNvSpPr>
          <p:nvPr>
            <p:ph type="dt" sz="quarter" idx="10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◎2005 ECNU SEI</a:t>
            </a:r>
            <a:endParaRPr lang="en-US" altLang="zh-CN" sz="800"/>
          </a:p>
        </p:txBody>
      </p:sp>
      <p:sp>
        <p:nvSpPr>
          <p:cNvPr id="18435" name="页脚占位符 4"/>
          <p:cNvSpPr>
            <a:spLocks noGrp="1"/>
          </p:cNvSpPr>
          <p:nvPr>
            <p:ph type="ftr" sz="quarter" idx="11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r>
              <a:rPr lang="zh-CN" altLang="en-US" sz="800"/>
              <a:t>Compilers: Principles, Techniques, and Tools</a:t>
            </a:r>
            <a:endParaRPr lang="en-US" altLang="zh-CN" sz="800"/>
          </a:p>
        </p:txBody>
      </p:sp>
      <p:sp>
        <p:nvSpPr>
          <p:cNvPr id="18436" name="灯片编号占位符 5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fld id="{BDBB5F90-F324-4E25-9AFD-733B13799112}" type="slidenum">
              <a:rPr lang="zh-CN" altLang="en-US" sz="800"/>
              <a:pPr/>
              <a:t>17</a:t>
            </a:fld>
            <a:endParaRPr lang="en-US" altLang="zh-CN" sz="800"/>
          </a:p>
        </p:txBody>
      </p:sp>
      <p:sp>
        <p:nvSpPr>
          <p:cNvPr id="1843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endParaRPr lang="zh-CN" altLang="en-US" smtClean="0">
              <a:ea typeface="宋体" panose="02010600030101010101" pitchFamily="2" charset="-122"/>
            </a:endParaRPr>
          </a:p>
        </p:txBody>
      </p:sp>
      <p:sp>
        <p:nvSpPr>
          <p:cNvPr id="1843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81000" y="1219200"/>
            <a:ext cx="9067800" cy="5105400"/>
          </a:xfrm>
        </p:spPr>
        <p:txBody>
          <a:bodyPr/>
          <a:lstStyle/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3</a:t>
            </a:r>
            <a:r>
              <a:rPr lang="zh-CN" altLang="en-US" b="1" smtClean="0">
                <a:ea typeface="宋体" panose="02010600030101010101" pitchFamily="2" charset="-122"/>
              </a:rPr>
              <a:t>、下面文法产生的表达式是对整型和实型常数应用算符</a:t>
            </a:r>
            <a:r>
              <a:rPr lang="en-US" altLang="zh-CN" b="1" smtClean="0">
                <a:ea typeface="宋体" panose="02010600030101010101" pitchFamily="2" charset="-122"/>
              </a:rPr>
              <a:t>+</a:t>
            </a:r>
            <a:r>
              <a:rPr lang="zh-CN" altLang="en-US" b="1" smtClean="0">
                <a:ea typeface="宋体" panose="02010600030101010101" pitchFamily="2" charset="-122"/>
              </a:rPr>
              <a:t>形成的。当两个整数相加时</a:t>
            </a:r>
            <a:r>
              <a:rPr lang="en-US" altLang="zh-CN" b="1" smtClean="0">
                <a:ea typeface="宋体" panose="02010600030101010101" pitchFamily="2" charset="-122"/>
              </a:rPr>
              <a:t>,</a:t>
            </a:r>
            <a:r>
              <a:rPr lang="zh-CN" altLang="en-US" b="1" smtClean="0">
                <a:ea typeface="宋体" panose="02010600030101010101" pitchFamily="2" charset="-122"/>
              </a:rPr>
              <a:t>结果为整数，否则为实数。 </a:t>
            </a:r>
          </a:p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	E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1" smtClean="0">
                <a:ea typeface="宋体" panose="02010600030101010101" pitchFamily="2" charset="-122"/>
              </a:rPr>
              <a:t> TR </a:t>
            </a:r>
          </a:p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	R 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1" smtClean="0">
                <a:ea typeface="宋体" panose="02010600030101010101" pitchFamily="2" charset="-122"/>
              </a:rPr>
              <a:t>+ TR|ε </a:t>
            </a:r>
          </a:p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	T</a:t>
            </a:r>
            <a:r>
              <a:rPr lang="en-US" altLang="zh-CN" b="1" smtClean="0">
                <a:ea typeface="宋体" panose="02010600030101010101" pitchFamily="2" charset="-122"/>
                <a:sym typeface="Wingdings" panose="05000000000000000000" pitchFamily="2" charset="2"/>
              </a:rPr>
              <a:t></a:t>
            </a:r>
            <a:r>
              <a:rPr lang="en-US" altLang="zh-CN" b="1" smtClean="0">
                <a:ea typeface="宋体" panose="02010600030101010101" pitchFamily="2" charset="-122"/>
              </a:rPr>
              <a:t>num.num | num </a:t>
            </a:r>
          </a:p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a)</a:t>
            </a:r>
            <a:r>
              <a:rPr lang="zh-CN" altLang="en-US" b="1" smtClean="0">
                <a:ea typeface="宋体" panose="02010600030101010101" pitchFamily="2" charset="-122"/>
              </a:rPr>
              <a:t>给出语法制导定义确定每个子表达式的类型。 </a:t>
            </a:r>
          </a:p>
          <a:p>
            <a:pPr>
              <a:buFontTx/>
              <a:buNone/>
            </a:pPr>
            <a:r>
              <a:rPr lang="en-US" altLang="zh-CN" b="1" smtClean="0">
                <a:ea typeface="宋体" panose="02010600030101010101" pitchFamily="2" charset="-122"/>
              </a:rPr>
              <a:t>	b) </a:t>
            </a:r>
            <a:r>
              <a:rPr lang="zh-CN" altLang="en-US" b="1" smtClean="0">
                <a:ea typeface="宋体" panose="02010600030101010101" pitchFamily="2" charset="-122"/>
              </a:rPr>
              <a:t>把表达式翻译成前缀形式，并且决定类型。试用一元运算符</a:t>
            </a:r>
            <a:r>
              <a:rPr lang="en-US" altLang="zh-CN" b="1" smtClean="0">
                <a:ea typeface="宋体" panose="02010600030101010101" pitchFamily="2" charset="-122"/>
              </a:rPr>
              <a:t>inttoreal</a:t>
            </a:r>
            <a:r>
              <a:rPr lang="zh-CN" altLang="en-US" b="1" smtClean="0">
                <a:ea typeface="宋体" panose="02010600030101010101" pitchFamily="2" charset="-122"/>
              </a:rPr>
              <a:t>把整型值转换为相等的实型值，以使得前缀表达式中两个运算对象是同类型的。</a:t>
            </a:r>
          </a:p>
        </p:txBody>
      </p:sp>
    </p:spTree>
  </p:cSld>
  <p:clrMapOvr>
    <a:masterClrMapping/>
  </p:clrMapOvr>
  <p:transition>
    <p:random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zh-CN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6656</TotalTime>
  <Words>1142</Words>
  <Application>Microsoft Office PowerPoint</Application>
  <PresentationFormat>A4 纸张(210x297 毫米)</PresentationFormat>
  <Paragraphs>248</Paragraphs>
  <Slides>17</Slides>
  <Notes>6</Notes>
  <HiddenSlides>0</HiddenSlides>
  <MMClips>0</MMClips>
  <ScaleCrop>false</ScaleCrop>
  <HeadingPairs>
    <vt:vector size="8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26" baseType="lpstr">
      <vt:lpstr>Times New Roman</vt:lpstr>
      <vt:lpstr>Arial</vt:lpstr>
      <vt:lpstr>宋体</vt:lpstr>
      <vt:lpstr>Wingdings</vt:lpstr>
      <vt:lpstr>Symbol</vt:lpstr>
      <vt:lpstr>Courier New</vt:lpstr>
      <vt:lpstr>楷体_GB2312</vt:lpstr>
      <vt:lpstr>Default Design</vt:lpstr>
      <vt:lpstr>Microsoft Visio Drawing</vt:lpstr>
      <vt:lpstr>Type Checking (P.341)</vt:lpstr>
      <vt:lpstr>Type system (P.344)</vt:lpstr>
      <vt:lpstr>Type Expression (P.345)</vt:lpstr>
      <vt:lpstr>Type Expression (cont.)</vt:lpstr>
      <vt:lpstr>A Simple Type Checking System (P.348)</vt:lpstr>
      <vt:lpstr>Type Checking of Expressions (P.350)</vt:lpstr>
      <vt:lpstr>Type Checking of Statements (P.351)</vt:lpstr>
      <vt:lpstr>Type Checking of Functions (P.352)</vt:lpstr>
      <vt:lpstr>Structural Equivalence of Type Expressions (P.353)</vt:lpstr>
      <vt:lpstr>Names for Type Expressions (P.356)</vt:lpstr>
      <vt:lpstr>Cycles in Type Expressions (P.358)</vt:lpstr>
      <vt:lpstr>Type Coercions (P.359)</vt:lpstr>
      <vt:lpstr>PowerPoint 演示文稿</vt:lpstr>
      <vt:lpstr>Exercises (think)</vt:lpstr>
      <vt:lpstr>PowerPoint 演示文稿</vt:lpstr>
      <vt:lpstr>PowerPoint 演示文稿</vt:lpstr>
      <vt:lpstr>PowerPoint 演示文稿</vt:lpstr>
    </vt:vector>
  </TitlesOfParts>
  <Company>Bilkent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CS416 Compiler Design</dc:title>
  <dc:creator>Ilyas Cicekli</dc:creator>
  <cp:lastModifiedBy>Exin Y</cp:lastModifiedBy>
  <cp:revision>382</cp:revision>
  <cp:lastPrinted>1999-09-09T03:15:50Z</cp:lastPrinted>
  <dcterms:created xsi:type="dcterms:W3CDTF">1999-01-20T19:57:44Z</dcterms:created>
  <dcterms:modified xsi:type="dcterms:W3CDTF">2015-10-07T09:27:42Z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2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2</vt:i4>
  </property>
  <property fmtid="{D5CDD505-2E9C-101B-9397-08002B2CF9AE}" pid="6" name="ScreenUsage">
    <vt:i4>2</vt:i4>
  </property>
  <property fmtid="{D5CDD505-2E9C-101B-9397-08002B2CF9AE}" pid="7" name="MailAddress">
    <vt:lpwstr>radev@cs.columbia.edu</vt:lpwstr>
  </property>
  <property fmtid="{D5CDD505-2E9C-101B-9397-08002B2CF9AE}" pid="8" name="HomePage">
    <vt:lpwstr>http://www.cs.columbia.edu/~radev/cs4705/</vt:lpwstr>
  </property>
  <property fmtid="{D5CDD505-2E9C-101B-9397-08002B2CF9AE}" pid="9" name="Other">
    <vt:lpwstr/>
  </property>
  <property fmtid="{D5CDD505-2E9C-101B-9397-08002B2CF9AE}" pid="10" name="DownloadOriginal">
    <vt:bool>true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F:\html\cs4705</vt:lpwstr>
  </property>
</Properties>
</file>