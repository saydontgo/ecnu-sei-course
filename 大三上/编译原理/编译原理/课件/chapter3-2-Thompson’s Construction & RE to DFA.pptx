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429" r:id="rId2"/>
    <p:sldId id="392" r:id="rId3"/>
    <p:sldId id="393" r:id="rId4"/>
    <p:sldId id="394" r:id="rId5"/>
    <p:sldId id="416" r:id="rId6"/>
    <p:sldId id="417" r:id="rId7"/>
    <p:sldId id="418" r:id="rId8"/>
    <p:sldId id="419" r:id="rId9"/>
    <p:sldId id="420" r:id="rId10"/>
    <p:sldId id="421" r:id="rId11"/>
    <p:sldId id="430" r:id="rId12"/>
    <p:sldId id="431" r:id="rId13"/>
    <p:sldId id="422" r:id="rId14"/>
    <p:sldId id="423" r:id="rId15"/>
    <p:sldId id="424" r:id="rId16"/>
    <p:sldId id="425" r:id="rId17"/>
    <p:sldId id="426" r:id="rId18"/>
    <p:sldId id="427" r:id="rId19"/>
    <p:sldId id="428" r:id="rId20"/>
    <p:sldId id="452" r:id="rId21"/>
    <p:sldId id="293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432" r:id="rId32"/>
    <p:sldId id="304" r:id="rId33"/>
    <p:sldId id="433" r:id="rId34"/>
    <p:sldId id="305" r:id="rId35"/>
    <p:sldId id="325" r:id="rId36"/>
    <p:sldId id="306" r:id="rId37"/>
    <p:sldId id="451" r:id="rId38"/>
    <p:sldId id="450" r:id="rId39"/>
    <p:sldId id="307" r:id="rId40"/>
    <p:sldId id="308" r:id="rId41"/>
    <p:sldId id="434" r:id="rId42"/>
    <p:sldId id="435" r:id="rId43"/>
    <p:sldId id="436" r:id="rId44"/>
    <p:sldId id="437" r:id="rId45"/>
    <p:sldId id="438" r:id="rId46"/>
    <p:sldId id="439" r:id="rId47"/>
    <p:sldId id="440" r:id="rId48"/>
  </p:sldIdLst>
  <p:sldSz cx="9906000" cy="6858000" type="A4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80">
          <p15:clr>
            <a:srgbClr val="A4A3A4"/>
          </p15:clr>
        </p15:guide>
        <p15:guide id="2" pos="30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4">
          <p15:clr>
            <a:srgbClr val="A4A3A4"/>
          </p15:clr>
        </p15:guide>
        <p15:guide id="2" pos="22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FF3300"/>
    <a:srgbClr val="FFCCFF"/>
    <a:srgbClr val="CCECFF"/>
    <a:srgbClr val="660066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94" autoAdjust="0"/>
    <p:restoredTop sz="92775" autoAdjust="0"/>
  </p:normalViewPr>
  <p:slideViewPr>
    <p:cSldViewPr>
      <p:cViewPr varScale="1">
        <p:scale>
          <a:sx n="75" d="100"/>
          <a:sy n="75" d="100"/>
        </p:scale>
        <p:origin x="1128" y="66"/>
      </p:cViewPr>
      <p:guideLst>
        <p:guide orient="horz" pos="1680"/>
        <p:guide pos="30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1188" y="-102"/>
      </p:cViewPr>
      <p:guideLst>
        <p:guide orient="horz" pos="2924"/>
        <p:guide pos="22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0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084" tIns="45542" rIns="91084" bIns="45542" numCol="1" anchor="t" anchorCtr="0" compatLnSpc="1">
            <a:prstTxWarp prst="textNoShape">
              <a:avLst/>
            </a:prstTxWarp>
          </a:bodyPr>
          <a:lstStyle>
            <a:lvl1pPr defTabSz="911225">
              <a:defRPr sz="1200" b="0"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lec01-lexicalanalyzer</a:t>
            </a:r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43350" y="0"/>
            <a:ext cx="3030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084" tIns="45542" rIns="91084" bIns="45542" numCol="1" anchor="t" anchorCtr="0" compatLnSpc="1">
            <a:prstTxWarp prst="textNoShape">
              <a:avLst/>
            </a:prstTxWarp>
          </a:bodyPr>
          <a:lstStyle>
            <a:lvl1pPr algn="r" defTabSz="911225">
              <a:defRPr sz="1200" b="0">
                <a:ea typeface="宋体" panose="02010600030101010101" pitchFamily="2" charset="-122"/>
              </a:defRPr>
            </a:lvl1pPr>
          </a:lstStyle>
          <a:p>
            <a:fld id="{676B1A67-817D-4356-AB9F-231088C1F8E2}" type="datetime4">
              <a:rPr lang="zh-CN" altLang="en-US"/>
              <a:pPr/>
              <a:t>2015年10月7日星期三</a:t>
            </a:fld>
            <a:endParaRPr lang="en-US" altLang="zh-CN"/>
          </a:p>
        </p:txBody>
      </p:sp>
      <p:sp>
        <p:nvSpPr>
          <p:cNvPr id="221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6500"/>
            <a:ext cx="3030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084" tIns="45542" rIns="91084" bIns="45542" numCol="1" anchor="b" anchorCtr="0" compatLnSpc="1">
            <a:prstTxWarp prst="textNoShape">
              <a:avLst/>
            </a:prstTxWarp>
          </a:bodyPr>
          <a:lstStyle>
            <a:lvl1pPr defTabSz="911225">
              <a:defRPr sz="1200" b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21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43350" y="8826500"/>
            <a:ext cx="3030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084" tIns="45542" rIns="91084" bIns="45542" numCol="1" anchor="b" anchorCtr="0" compatLnSpc="1">
            <a:prstTxWarp prst="textNoShape">
              <a:avLst/>
            </a:prstTxWarp>
          </a:bodyPr>
          <a:lstStyle>
            <a:lvl1pPr algn="r" defTabSz="911225">
              <a:defRPr sz="1200" b="0">
                <a:ea typeface="宋体" panose="02010600030101010101" pitchFamily="2" charset="-122"/>
              </a:defRPr>
            </a:lvl1pPr>
          </a:lstStyle>
          <a:p>
            <a:fld id="{D6629CE3-7210-464B-9A27-16C6D810F94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0538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51" tIns="46476" rIns="92951" bIns="46476" numCol="1" anchor="t" anchorCtr="0" compatLnSpc="1">
            <a:prstTxWarp prst="textNoShape">
              <a:avLst/>
            </a:prstTxWarp>
          </a:bodyPr>
          <a:lstStyle>
            <a:lvl1pPr defTabSz="928688">
              <a:defRPr sz="1200" b="0"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lec01-lexicalanalyzer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7163" y="0"/>
            <a:ext cx="3030537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51" tIns="46476" rIns="92951" bIns="46476" numCol="1" anchor="t" anchorCtr="0" compatLnSpc="1">
            <a:prstTxWarp prst="textNoShape">
              <a:avLst/>
            </a:prstTxWarp>
          </a:bodyPr>
          <a:lstStyle>
            <a:lvl1pPr algn="r" defTabSz="928688">
              <a:defRPr sz="1200" b="0">
                <a:ea typeface="宋体" panose="02010600030101010101" pitchFamily="2" charset="-122"/>
              </a:defRPr>
            </a:lvl1pPr>
          </a:lstStyle>
          <a:p>
            <a:fld id="{9C1D5698-FC22-4583-9337-2BF44FB8669D}" type="datetime4">
              <a:rPr lang="zh-CN" altLang="en-US"/>
              <a:pPr/>
              <a:t>2015年10月7日星期三</a:t>
            </a:fld>
            <a:endParaRPr lang="en-US" altLang="zh-CN"/>
          </a:p>
        </p:txBody>
      </p:sp>
      <p:sp>
        <p:nvSpPr>
          <p:cNvPr id="38916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985838" y="695325"/>
            <a:ext cx="5029200" cy="34813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1663"/>
            <a:ext cx="5130800" cy="417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51" tIns="46476" rIns="92951" bIns="4647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563"/>
            <a:ext cx="3030538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51" tIns="46476" rIns="92951" bIns="46476" numCol="1" anchor="b" anchorCtr="0" compatLnSpc="1">
            <a:prstTxWarp prst="textNoShape">
              <a:avLst/>
            </a:prstTxWarp>
          </a:bodyPr>
          <a:lstStyle>
            <a:lvl1pPr defTabSz="928688">
              <a:defRPr sz="1200" b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7163" y="8818563"/>
            <a:ext cx="3030537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51" tIns="46476" rIns="92951" bIns="46476" numCol="1" anchor="b" anchorCtr="0" compatLnSpc="1">
            <a:prstTxWarp prst="textNoShape">
              <a:avLst/>
            </a:prstTxWarp>
          </a:bodyPr>
          <a:lstStyle>
            <a:lvl1pPr algn="r" defTabSz="928688">
              <a:defRPr sz="1200" b="0">
                <a:ea typeface="宋体" panose="02010600030101010101" pitchFamily="2" charset="-122"/>
              </a:defRPr>
            </a:lvl1pPr>
          </a:lstStyle>
          <a:p>
            <a:fld id="{D572C603-822C-4429-9280-58C261C1956C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07BA33-98C6-47A6-A842-2470E220084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8757875"/>
      </p:ext>
    </p:extLst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F7A2C5-5DF0-48A3-9052-BD85378C3EF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0378281"/>
      </p:ext>
    </p:extLst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76275" y="4589463"/>
            <a:ext cx="8543925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A828F5-41BD-43E9-B7A4-F63A7391014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1839284"/>
      </p:ext>
    </p:extLst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219200"/>
            <a:ext cx="4610100" cy="51054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3500" y="1219200"/>
            <a:ext cx="4610100" cy="51054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84EA4B-71AD-4244-BDD6-75DEBEAD0F9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7049888"/>
      </p:ext>
    </p:extLst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625" y="365125"/>
            <a:ext cx="8543925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2625" y="1681163"/>
            <a:ext cx="4191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2625" y="2505075"/>
            <a:ext cx="419100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6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63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CCABA6-EF1D-4782-BE05-47F4FA58171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6973571"/>
      </p:ext>
    </p:extLst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76201C-142E-465A-9F03-85B396D51A8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760745"/>
      </p:ext>
    </p:extLst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07C27B-9A0A-4AD3-AEB9-C2B181EDAD3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1320748"/>
      </p:ext>
    </p:extLst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CE6358-0F9A-40F6-A4C4-2BAF3A5F4FB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004763"/>
      </p:ext>
    </p:extLst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EC6D28-174B-4EB0-A448-5BDBD3BB9C6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4199738"/>
      </p:ext>
    </p:extLst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3F3701-BCA2-4514-AF8E-85BC34ED45F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0451237"/>
      </p:ext>
    </p:extLst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10450" y="152400"/>
            <a:ext cx="2343150" cy="6172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877050" cy="6172200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888422-D1D5-4E71-84A5-79637BCD5AA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0912207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9372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219200"/>
            <a:ext cx="93726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477000"/>
            <a:ext cx="20637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800" b="0"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54350" y="6477000"/>
            <a:ext cx="37147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 b="0"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77000"/>
            <a:ext cx="20637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 b="0">
                <a:ea typeface="宋体" panose="02010600030101010101" pitchFamily="2" charset="-122"/>
              </a:defRPr>
            </a:lvl1pPr>
          </a:lstStyle>
          <a:p>
            <a:fld id="{7DB26A4E-DBDA-40B6-AF8C-A9F7F751CB4A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random/>
  </p:transition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w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4CA33-493B-4522-A559-36705994CABD}" type="slidenum">
              <a:rPr lang="zh-CN" altLang="en-US"/>
              <a:pPr/>
              <a:t>1</a:t>
            </a:fld>
            <a:endParaRPr lang="en-US" altLang="zh-CN"/>
          </a:p>
        </p:txBody>
      </p:sp>
      <p:sp>
        <p:nvSpPr>
          <p:cNvPr id="495618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  <a:noFill/>
          <a:ln/>
        </p:spPr>
        <p:txBody>
          <a:bodyPr lIns="92075" tIns="46038" rIns="92075" bIns="46038"/>
          <a:lstStyle/>
          <a:p>
            <a:r>
              <a:rPr lang="en-US" altLang="zh-CN" sz="2800">
                <a:ea typeface="宋体" panose="02010600030101010101" pitchFamily="2" charset="-122"/>
              </a:rPr>
              <a:t>3.7 Converting A Regular Expression into A NFA (Thompson’s Construction) (P.121)</a:t>
            </a:r>
          </a:p>
        </p:txBody>
      </p:sp>
      <p:sp>
        <p:nvSpPr>
          <p:cNvPr id="495619" name="Text Box 3"/>
          <p:cNvSpPr txBox="1">
            <a:spLocks noChangeArrowheads="1"/>
          </p:cNvSpPr>
          <p:nvPr/>
        </p:nvSpPr>
        <p:spPr bwMode="auto">
          <a:xfrm>
            <a:off x="415925" y="1196975"/>
            <a:ext cx="9159875" cy="541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0">
                <a:ea typeface="宋体" panose="02010600030101010101" pitchFamily="2" charset="-122"/>
              </a:rPr>
              <a:t>We now focus on transforming a Reg. Expr. to an NFA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0">
                <a:ea typeface="宋体" panose="02010600030101010101" pitchFamily="2" charset="-122"/>
              </a:rPr>
              <a:t>This construction allows us to take: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zh-CN" b="0">
                <a:solidFill>
                  <a:srgbClr val="660066"/>
                </a:solidFill>
                <a:ea typeface="宋体" panose="02010600030101010101" pitchFamily="2" charset="-122"/>
              </a:rPr>
              <a:t> Regular Expressions (which describe tokens)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zh-CN" b="0">
                <a:solidFill>
                  <a:srgbClr val="660066"/>
                </a:solidFill>
                <a:ea typeface="宋体" panose="02010600030101010101" pitchFamily="2" charset="-122"/>
              </a:rPr>
              <a:t> To an NFA (to characterize language)</a:t>
            </a:r>
          </a:p>
          <a:p>
            <a:pPr lvl="1" eaLnBrk="1" hangingPunct="1">
              <a:spcBef>
                <a:spcPct val="50000"/>
              </a:spcBef>
              <a:buFontTx/>
              <a:buChar char="•"/>
            </a:pPr>
            <a:r>
              <a:rPr lang="en-US" altLang="zh-CN" b="0">
                <a:solidFill>
                  <a:srgbClr val="660066"/>
                </a:solidFill>
                <a:ea typeface="宋体" panose="02010600030101010101" pitchFamily="2" charset="-122"/>
              </a:rPr>
              <a:t> To a DFA (which can be “computerized”)</a:t>
            </a:r>
          </a:p>
          <a:p>
            <a:pPr lvl="2" eaLnBrk="1" hangingPunct="1">
              <a:spcBef>
                <a:spcPct val="50000"/>
              </a:spcBef>
            </a:pPr>
            <a:r>
              <a:rPr lang="en-US" altLang="zh-CN" b="0">
                <a:solidFill>
                  <a:srgbClr val="660066"/>
                </a:solidFill>
                <a:ea typeface="宋体" panose="02010600030101010101" pitchFamily="2" charset="-122"/>
              </a:rPr>
              <a:t>- </a:t>
            </a:r>
            <a:r>
              <a:rPr lang="en-US" altLang="zh-CN" sz="2000" b="0">
                <a:solidFill>
                  <a:srgbClr val="660066"/>
                </a:solidFill>
                <a:ea typeface="宋体" panose="02010600030101010101" pitchFamily="2" charset="-122"/>
              </a:rPr>
              <a:t>Minizing DFA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0">
                <a:ea typeface="宋体" panose="02010600030101010101" pitchFamily="2" charset="-122"/>
              </a:rPr>
              <a:t>The construction process is component-wise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altLang="zh-CN" b="0">
                <a:ea typeface="宋体" panose="02010600030101010101" pitchFamily="2" charset="-122"/>
              </a:rPr>
              <a:t>Builds NFA from components of the regular expression in a special order with particular techniques.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</a:rPr>
              <a:t>NOTE:  Construction is “syntax-directed” translation, i.e., syntax of regular expression is determining factor for NFA construction and structure.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95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95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956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4956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CB2B-E8F2-484D-B6D4-4703F85FFB19}" type="slidenum">
              <a:rPr lang="zh-CN" altLang="en-US"/>
              <a:pPr/>
              <a:t>2</a:t>
            </a:fld>
            <a:endParaRPr lang="en-US" altLang="zh-CN"/>
          </a:p>
        </p:txBody>
      </p:sp>
      <p:sp>
        <p:nvSpPr>
          <p:cNvPr id="456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Thompson’s Construction (cont.)</a:t>
            </a:r>
          </a:p>
        </p:txBody>
      </p:sp>
      <p:sp>
        <p:nvSpPr>
          <p:cNvPr id="456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180513" cy="5018088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This is one way to convert a regular expression into a NFA.</a:t>
            </a:r>
          </a:p>
          <a:p>
            <a:r>
              <a:rPr lang="en-US" altLang="zh-CN">
                <a:ea typeface="宋体" panose="02010600030101010101" pitchFamily="2" charset="-122"/>
              </a:rPr>
              <a:t>There can be other ways (much efficient) for the conversion.</a:t>
            </a:r>
          </a:p>
          <a:p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Thompson’s Construction is simple and systematic method.</a:t>
            </a:r>
            <a:r>
              <a:rPr lang="en-US" altLang="zh-CN">
                <a:ea typeface="宋体" panose="02010600030101010101" pitchFamily="2" charset="-122"/>
              </a:rPr>
              <a:t>                     It guarantees that the resulting NFA will have exactly one final state, and one start state.</a:t>
            </a:r>
          </a:p>
          <a:p>
            <a:r>
              <a:rPr lang="en-US" altLang="zh-CN">
                <a:ea typeface="宋体" panose="02010600030101010101" pitchFamily="2" charset="-122"/>
              </a:rPr>
              <a:t>Construction starts from simplest parts (alphabet symbols).                    To create a NFA for a complex regular expression, NFAs of  its        sub-expressions are combined to create its NFA.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2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5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B3A19-585B-4383-9ED8-D9214F41509C}" type="slidenum">
              <a:rPr lang="zh-CN" altLang="en-US"/>
              <a:pPr/>
              <a:t>3</a:t>
            </a:fld>
            <a:endParaRPr lang="en-US" altLang="zh-CN"/>
          </a:p>
        </p:txBody>
      </p:sp>
      <p:sp>
        <p:nvSpPr>
          <p:cNvPr id="457730" name="Text Box 2"/>
          <p:cNvSpPr txBox="1">
            <a:spLocks noChangeArrowheads="1"/>
          </p:cNvSpPr>
          <p:nvPr/>
        </p:nvSpPr>
        <p:spPr bwMode="auto">
          <a:xfrm>
            <a:off x="381000" y="1447800"/>
            <a:ext cx="5500688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zh-CN" altLang="en-US" b="0">
                <a:ea typeface="宋体" panose="02010600030101010101" pitchFamily="2" charset="-122"/>
              </a:rPr>
              <a:t>  </a:t>
            </a:r>
            <a:r>
              <a:rPr lang="en-US" altLang="zh-CN" b="0">
                <a:ea typeface="宋体" panose="02010600030101010101" pitchFamily="2" charset="-122"/>
              </a:rPr>
              <a:t>To recognize an empty string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</a:p>
          <a:p>
            <a:pPr>
              <a:buFontTx/>
              <a:buChar char="•"/>
            </a:pPr>
            <a:endParaRPr lang="en-US" altLang="zh-CN">
              <a:solidFill>
                <a:schemeClr val="accent2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Char char="•"/>
            </a:pP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 To recognize a symbol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a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 in the alphabet </a:t>
            </a:r>
          </a:p>
          <a:p>
            <a:pPr>
              <a:buFontTx/>
              <a:buChar char="•"/>
            </a:pPr>
            <a:endParaRPr lang="zh-CN" altLang="en-US" b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57731" name="Text Box 3"/>
          <p:cNvSpPr txBox="1">
            <a:spLocks noChangeArrowheads="1"/>
          </p:cNvSpPr>
          <p:nvPr/>
        </p:nvSpPr>
        <p:spPr bwMode="auto">
          <a:xfrm>
            <a:off x="457200" y="2895600"/>
            <a:ext cx="77660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zh-CN" altLang="en-US" b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If N(r</a:t>
            </a:r>
            <a:r>
              <a:rPr lang="en-US" altLang="zh-CN" b="0" baseline="-2500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) and N(r</a:t>
            </a:r>
            <a:r>
              <a:rPr lang="en-US" altLang="zh-CN" b="0" baseline="-2500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) are NFAs for regular expressions r</a:t>
            </a:r>
            <a:r>
              <a:rPr lang="en-US" altLang="zh-CN" b="0" baseline="-2500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 and r</a:t>
            </a:r>
            <a:r>
              <a:rPr lang="en-US" altLang="zh-CN" b="0" baseline="-2500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</a:p>
          <a:p>
            <a:pPr lvl="1">
              <a:buFontTx/>
              <a:buChar char="•"/>
            </a:pP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  For regular expression 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baseline="-25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| r</a:t>
            </a:r>
            <a:r>
              <a:rPr lang="en-US" altLang="zh-CN" baseline="-25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57732" name="Text Box 4"/>
          <p:cNvSpPr txBox="1">
            <a:spLocks noChangeArrowheads="1"/>
          </p:cNvSpPr>
          <p:nvPr/>
        </p:nvSpPr>
        <p:spPr bwMode="auto">
          <a:xfrm>
            <a:off x="7543800" y="2133600"/>
            <a:ext cx="2635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b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</a:p>
        </p:txBody>
      </p:sp>
      <p:grpSp>
        <p:nvGrpSpPr>
          <p:cNvPr id="457733" name="Group 5"/>
          <p:cNvGrpSpPr>
            <a:grpSpLocks/>
          </p:cNvGrpSpPr>
          <p:nvPr/>
        </p:nvGrpSpPr>
        <p:grpSpPr bwMode="auto">
          <a:xfrm>
            <a:off x="6781800" y="1458913"/>
            <a:ext cx="1676400" cy="457200"/>
            <a:chOff x="4752" y="912"/>
            <a:chExt cx="1056" cy="288"/>
          </a:xfrm>
        </p:grpSpPr>
        <p:sp>
          <p:nvSpPr>
            <p:cNvPr id="457734" name="Oval 6"/>
            <p:cNvSpPr>
              <a:spLocks noChangeArrowheads="1"/>
            </p:cNvSpPr>
            <p:nvPr/>
          </p:nvSpPr>
          <p:spPr bwMode="auto">
            <a:xfrm>
              <a:off x="4944" y="96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57735" name="Group 7"/>
            <p:cNvGrpSpPr>
              <a:grpSpLocks/>
            </p:cNvGrpSpPr>
            <p:nvPr/>
          </p:nvGrpSpPr>
          <p:grpSpPr bwMode="auto">
            <a:xfrm>
              <a:off x="5520" y="912"/>
              <a:ext cx="288" cy="288"/>
              <a:chOff x="1296" y="1056"/>
              <a:chExt cx="288" cy="288"/>
            </a:xfrm>
          </p:grpSpPr>
          <p:sp>
            <p:nvSpPr>
              <p:cNvPr id="457736" name="Oval 8"/>
              <p:cNvSpPr>
                <a:spLocks noChangeArrowheads="1"/>
              </p:cNvSpPr>
              <p:nvPr/>
            </p:nvSpPr>
            <p:spPr bwMode="auto">
              <a:xfrm>
                <a:off x="1296" y="1056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7737" name="Oval 9"/>
              <p:cNvSpPr>
                <a:spLocks noChangeArrowheads="1"/>
              </p:cNvSpPr>
              <p:nvPr/>
            </p:nvSpPr>
            <p:spPr bwMode="auto">
              <a:xfrm>
                <a:off x="1344" y="1104"/>
                <a:ext cx="192" cy="1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57738" name="Line 10"/>
            <p:cNvSpPr>
              <a:spLocks noChangeShapeType="1"/>
            </p:cNvSpPr>
            <p:nvPr/>
          </p:nvSpPr>
          <p:spPr bwMode="auto">
            <a:xfrm>
              <a:off x="5136" y="105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7739" name="Line 11"/>
            <p:cNvSpPr>
              <a:spLocks noChangeShapeType="1"/>
            </p:cNvSpPr>
            <p:nvPr/>
          </p:nvSpPr>
          <p:spPr bwMode="auto">
            <a:xfrm>
              <a:off x="4752" y="105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7740" name="Text Box 12"/>
            <p:cNvSpPr txBox="1">
              <a:spLocks noChangeArrowheads="1"/>
            </p:cNvSpPr>
            <p:nvPr/>
          </p:nvSpPr>
          <p:spPr bwMode="auto">
            <a:xfrm>
              <a:off x="5568" y="960"/>
              <a:ext cx="15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0">
                  <a:ea typeface="宋体" panose="02010600030101010101" pitchFamily="2" charset="-122"/>
                  <a:sym typeface="Symbol" panose="05050102010706020507" pitchFamily="18" charset="2"/>
                </a:rPr>
                <a:t>f</a:t>
              </a:r>
            </a:p>
          </p:txBody>
        </p:sp>
        <p:sp>
          <p:nvSpPr>
            <p:cNvPr id="457741" name="Text Box 13"/>
            <p:cNvSpPr txBox="1">
              <a:spLocks noChangeArrowheads="1"/>
            </p:cNvSpPr>
            <p:nvPr/>
          </p:nvSpPr>
          <p:spPr bwMode="auto">
            <a:xfrm>
              <a:off x="4944" y="960"/>
              <a:ext cx="14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0"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</a:p>
          </p:txBody>
        </p:sp>
      </p:grpSp>
      <p:grpSp>
        <p:nvGrpSpPr>
          <p:cNvPr id="457742" name="Group 14"/>
          <p:cNvGrpSpPr>
            <a:grpSpLocks/>
          </p:cNvGrpSpPr>
          <p:nvPr/>
        </p:nvGrpSpPr>
        <p:grpSpPr bwMode="auto">
          <a:xfrm>
            <a:off x="6781800" y="2209800"/>
            <a:ext cx="1676400" cy="457200"/>
            <a:chOff x="4752" y="912"/>
            <a:chExt cx="1056" cy="288"/>
          </a:xfrm>
        </p:grpSpPr>
        <p:sp>
          <p:nvSpPr>
            <p:cNvPr id="457743" name="Oval 15"/>
            <p:cNvSpPr>
              <a:spLocks noChangeArrowheads="1"/>
            </p:cNvSpPr>
            <p:nvPr/>
          </p:nvSpPr>
          <p:spPr bwMode="auto">
            <a:xfrm>
              <a:off x="4944" y="96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57744" name="Group 16"/>
            <p:cNvGrpSpPr>
              <a:grpSpLocks/>
            </p:cNvGrpSpPr>
            <p:nvPr/>
          </p:nvGrpSpPr>
          <p:grpSpPr bwMode="auto">
            <a:xfrm>
              <a:off x="5520" y="912"/>
              <a:ext cx="288" cy="288"/>
              <a:chOff x="1296" y="1056"/>
              <a:chExt cx="288" cy="288"/>
            </a:xfrm>
          </p:grpSpPr>
          <p:sp>
            <p:nvSpPr>
              <p:cNvPr id="457745" name="Oval 17"/>
              <p:cNvSpPr>
                <a:spLocks noChangeArrowheads="1"/>
              </p:cNvSpPr>
              <p:nvPr/>
            </p:nvSpPr>
            <p:spPr bwMode="auto">
              <a:xfrm>
                <a:off x="1296" y="1056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7746" name="Oval 18"/>
              <p:cNvSpPr>
                <a:spLocks noChangeArrowheads="1"/>
              </p:cNvSpPr>
              <p:nvPr/>
            </p:nvSpPr>
            <p:spPr bwMode="auto">
              <a:xfrm>
                <a:off x="1344" y="1104"/>
                <a:ext cx="192" cy="1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57747" name="Line 19"/>
            <p:cNvSpPr>
              <a:spLocks noChangeShapeType="1"/>
            </p:cNvSpPr>
            <p:nvPr/>
          </p:nvSpPr>
          <p:spPr bwMode="auto">
            <a:xfrm>
              <a:off x="5136" y="105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7748" name="Line 20"/>
            <p:cNvSpPr>
              <a:spLocks noChangeShapeType="1"/>
            </p:cNvSpPr>
            <p:nvPr/>
          </p:nvSpPr>
          <p:spPr bwMode="auto">
            <a:xfrm>
              <a:off x="4752" y="105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7749" name="Text Box 21"/>
            <p:cNvSpPr txBox="1">
              <a:spLocks noChangeArrowheads="1"/>
            </p:cNvSpPr>
            <p:nvPr/>
          </p:nvSpPr>
          <p:spPr bwMode="auto">
            <a:xfrm>
              <a:off x="5568" y="960"/>
              <a:ext cx="15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0">
                  <a:ea typeface="宋体" panose="02010600030101010101" pitchFamily="2" charset="-122"/>
                  <a:sym typeface="Symbol" panose="05050102010706020507" pitchFamily="18" charset="2"/>
                </a:rPr>
                <a:t>f</a:t>
              </a:r>
            </a:p>
          </p:txBody>
        </p:sp>
        <p:sp>
          <p:nvSpPr>
            <p:cNvPr id="457750" name="Text Box 22"/>
            <p:cNvSpPr txBox="1">
              <a:spLocks noChangeArrowheads="1"/>
            </p:cNvSpPr>
            <p:nvPr/>
          </p:nvSpPr>
          <p:spPr bwMode="auto">
            <a:xfrm>
              <a:off x="4944" y="960"/>
              <a:ext cx="14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0">
                  <a:ea typeface="宋体" panose="02010600030101010101" pitchFamily="2" charset="-122"/>
                  <a:sym typeface="Symbol" panose="05050102010706020507" pitchFamily="18" charset="2"/>
                </a:rPr>
                <a:t>i</a:t>
              </a:r>
            </a:p>
          </p:txBody>
        </p:sp>
      </p:grpSp>
      <p:sp>
        <p:nvSpPr>
          <p:cNvPr id="457751" name="Text Box 23"/>
          <p:cNvSpPr txBox="1">
            <a:spLocks noChangeArrowheads="1"/>
          </p:cNvSpPr>
          <p:nvPr/>
        </p:nvSpPr>
        <p:spPr bwMode="auto">
          <a:xfrm>
            <a:off x="7543800" y="1382713"/>
            <a:ext cx="2619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 b="0"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457752" name="Oval 24"/>
          <p:cNvSpPr>
            <a:spLocks noChangeArrowheads="1"/>
          </p:cNvSpPr>
          <p:nvPr/>
        </p:nvSpPr>
        <p:spPr bwMode="auto">
          <a:xfrm>
            <a:off x="1693863" y="48768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57753" name="Group 25"/>
          <p:cNvGrpSpPr>
            <a:grpSpLocks/>
          </p:cNvGrpSpPr>
          <p:nvPr/>
        </p:nvGrpSpPr>
        <p:grpSpPr bwMode="auto">
          <a:xfrm>
            <a:off x="2379663" y="4419600"/>
            <a:ext cx="1600200" cy="457200"/>
            <a:chOff x="1056" y="2688"/>
            <a:chExt cx="1008" cy="288"/>
          </a:xfrm>
        </p:grpSpPr>
        <p:sp>
          <p:nvSpPr>
            <p:cNvPr id="457754" name="Oval 26"/>
            <p:cNvSpPr>
              <a:spLocks noChangeArrowheads="1"/>
            </p:cNvSpPr>
            <p:nvPr/>
          </p:nvSpPr>
          <p:spPr bwMode="auto">
            <a:xfrm>
              <a:off x="1200" y="2736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7755" name="Oval 27"/>
            <p:cNvSpPr>
              <a:spLocks noChangeArrowheads="1"/>
            </p:cNvSpPr>
            <p:nvPr/>
          </p:nvSpPr>
          <p:spPr bwMode="auto">
            <a:xfrm>
              <a:off x="1728" y="2736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7756" name="Oval 28"/>
            <p:cNvSpPr>
              <a:spLocks noChangeArrowheads="1"/>
            </p:cNvSpPr>
            <p:nvPr/>
          </p:nvSpPr>
          <p:spPr bwMode="auto">
            <a:xfrm>
              <a:off x="1056" y="2688"/>
              <a:ext cx="100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57757" name="Group 29"/>
          <p:cNvGrpSpPr>
            <a:grpSpLocks/>
          </p:cNvGrpSpPr>
          <p:nvPr/>
        </p:nvGrpSpPr>
        <p:grpSpPr bwMode="auto">
          <a:xfrm>
            <a:off x="2379663" y="5181600"/>
            <a:ext cx="1600200" cy="457200"/>
            <a:chOff x="1056" y="2688"/>
            <a:chExt cx="1008" cy="288"/>
          </a:xfrm>
        </p:grpSpPr>
        <p:sp>
          <p:nvSpPr>
            <p:cNvPr id="457758" name="Oval 30"/>
            <p:cNvSpPr>
              <a:spLocks noChangeArrowheads="1"/>
            </p:cNvSpPr>
            <p:nvPr/>
          </p:nvSpPr>
          <p:spPr bwMode="auto">
            <a:xfrm>
              <a:off x="1200" y="2736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7759" name="Oval 31"/>
            <p:cNvSpPr>
              <a:spLocks noChangeArrowheads="1"/>
            </p:cNvSpPr>
            <p:nvPr/>
          </p:nvSpPr>
          <p:spPr bwMode="auto">
            <a:xfrm>
              <a:off x="1728" y="2736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7760" name="Oval 32"/>
            <p:cNvSpPr>
              <a:spLocks noChangeArrowheads="1"/>
            </p:cNvSpPr>
            <p:nvPr/>
          </p:nvSpPr>
          <p:spPr bwMode="auto">
            <a:xfrm>
              <a:off x="1056" y="2688"/>
              <a:ext cx="100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57761" name="Group 33"/>
          <p:cNvGrpSpPr>
            <a:grpSpLocks/>
          </p:cNvGrpSpPr>
          <p:nvPr/>
        </p:nvGrpSpPr>
        <p:grpSpPr bwMode="auto">
          <a:xfrm>
            <a:off x="4437063" y="4800600"/>
            <a:ext cx="457200" cy="457200"/>
            <a:chOff x="1296" y="1056"/>
            <a:chExt cx="288" cy="288"/>
          </a:xfrm>
        </p:grpSpPr>
        <p:sp>
          <p:nvSpPr>
            <p:cNvPr id="457762" name="Oval 34"/>
            <p:cNvSpPr>
              <a:spLocks noChangeArrowheads="1"/>
            </p:cNvSpPr>
            <p:nvPr/>
          </p:nvSpPr>
          <p:spPr bwMode="auto">
            <a:xfrm>
              <a:off x="1296" y="1056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7763" name="Oval 35"/>
            <p:cNvSpPr>
              <a:spLocks noChangeArrowheads="1"/>
            </p:cNvSpPr>
            <p:nvPr/>
          </p:nvSpPr>
          <p:spPr bwMode="auto">
            <a:xfrm>
              <a:off x="1344" y="1104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57764" name="Line 36"/>
          <p:cNvSpPr>
            <a:spLocks noChangeShapeType="1"/>
          </p:cNvSpPr>
          <p:nvPr/>
        </p:nvSpPr>
        <p:spPr bwMode="auto">
          <a:xfrm>
            <a:off x="1312863" y="5029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7765" name="Line 37"/>
          <p:cNvSpPr>
            <a:spLocks noChangeShapeType="1"/>
          </p:cNvSpPr>
          <p:nvPr/>
        </p:nvSpPr>
        <p:spPr bwMode="auto">
          <a:xfrm flipV="1">
            <a:off x="1998663" y="4724400"/>
            <a:ext cx="609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7766" name="Line 38"/>
          <p:cNvSpPr>
            <a:spLocks noChangeShapeType="1"/>
          </p:cNvSpPr>
          <p:nvPr/>
        </p:nvSpPr>
        <p:spPr bwMode="auto">
          <a:xfrm>
            <a:off x="1998663" y="5105400"/>
            <a:ext cx="609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7767" name="Line 39"/>
          <p:cNvSpPr>
            <a:spLocks noChangeShapeType="1"/>
          </p:cNvSpPr>
          <p:nvPr/>
        </p:nvSpPr>
        <p:spPr bwMode="auto">
          <a:xfrm>
            <a:off x="3751263" y="4648200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7768" name="Line 40"/>
          <p:cNvSpPr>
            <a:spLocks noChangeShapeType="1"/>
          </p:cNvSpPr>
          <p:nvPr/>
        </p:nvSpPr>
        <p:spPr bwMode="auto">
          <a:xfrm flipV="1">
            <a:off x="3751263" y="5181600"/>
            <a:ext cx="685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7769" name="Text Box 41"/>
          <p:cNvSpPr txBox="1">
            <a:spLocks noChangeArrowheads="1"/>
          </p:cNvSpPr>
          <p:nvPr/>
        </p:nvSpPr>
        <p:spPr bwMode="auto">
          <a:xfrm>
            <a:off x="2913063" y="5257800"/>
            <a:ext cx="546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b="0">
                <a:ea typeface="宋体" panose="02010600030101010101" pitchFamily="2" charset="-122"/>
              </a:rPr>
              <a:t>N(r</a:t>
            </a:r>
            <a:r>
              <a:rPr lang="en-US" altLang="zh-CN" sz="1400" b="0" baseline="-25000">
                <a:ea typeface="宋体" panose="02010600030101010101" pitchFamily="2" charset="-122"/>
              </a:rPr>
              <a:t>2</a:t>
            </a:r>
            <a:r>
              <a:rPr lang="en-US" altLang="zh-CN" sz="1400" b="0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457770" name="Text Box 42"/>
          <p:cNvSpPr txBox="1">
            <a:spLocks noChangeArrowheads="1"/>
          </p:cNvSpPr>
          <p:nvPr/>
        </p:nvSpPr>
        <p:spPr bwMode="auto">
          <a:xfrm>
            <a:off x="2913063" y="4495800"/>
            <a:ext cx="546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b="0">
                <a:ea typeface="宋体" panose="02010600030101010101" pitchFamily="2" charset="-122"/>
              </a:rPr>
              <a:t>N(r</a:t>
            </a:r>
            <a:r>
              <a:rPr lang="en-US" altLang="zh-CN" sz="1400" b="0" baseline="-25000">
                <a:ea typeface="宋体" panose="02010600030101010101" pitchFamily="2" charset="-122"/>
              </a:rPr>
              <a:t>1</a:t>
            </a:r>
            <a:r>
              <a:rPr lang="en-US" altLang="zh-CN" sz="1400" b="0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457771" name="Text Box 43"/>
          <p:cNvSpPr txBox="1">
            <a:spLocks noChangeArrowheads="1"/>
          </p:cNvSpPr>
          <p:nvPr/>
        </p:nvSpPr>
        <p:spPr bwMode="auto">
          <a:xfrm>
            <a:off x="4513263" y="4876800"/>
            <a:ext cx="2428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b="0"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457772" name="Text Box 44"/>
          <p:cNvSpPr txBox="1">
            <a:spLocks noChangeArrowheads="1"/>
          </p:cNvSpPr>
          <p:nvPr/>
        </p:nvSpPr>
        <p:spPr bwMode="auto">
          <a:xfrm>
            <a:off x="1693863" y="4876800"/>
            <a:ext cx="2333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b="0"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457773" name="Text Box 45"/>
          <p:cNvSpPr txBox="1">
            <a:spLocks noChangeArrowheads="1"/>
          </p:cNvSpPr>
          <p:nvPr/>
        </p:nvSpPr>
        <p:spPr bwMode="auto">
          <a:xfrm>
            <a:off x="5640388" y="4689475"/>
            <a:ext cx="20494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ea typeface="宋体" panose="02010600030101010101" pitchFamily="2" charset="-122"/>
              </a:rPr>
              <a:t>NFA for   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b="0" baseline="-25000">
                <a:ea typeface="宋体" panose="02010600030101010101" pitchFamily="2" charset="-122"/>
                <a:sym typeface="Symbol" panose="05050102010706020507" pitchFamily="18" charset="2"/>
              </a:rPr>
              <a:t>1 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| r</a:t>
            </a:r>
            <a:r>
              <a:rPr lang="en-US" altLang="zh-CN" b="0" baseline="-2500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457774" name="Rectangle 4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Thompson’s Construction (cont.)</a:t>
            </a:r>
          </a:p>
        </p:txBody>
      </p:sp>
      <p:sp>
        <p:nvSpPr>
          <p:cNvPr id="457775" name="Text Box 47"/>
          <p:cNvSpPr txBox="1">
            <a:spLocks noChangeArrowheads="1"/>
          </p:cNvSpPr>
          <p:nvPr/>
        </p:nvSpPr>
        <p:spPr bwMode="auto">
          <a:xfrm>
            <a:off x="2074863" y="4572000"/>
            <a:ext cx="2619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1400" b="0"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457776" name="Text Box 48"/>
          <p:cNvSpPr txBox="1">
            <a:spLocks noChangeArrowheads="1"/>
          </p:cNvSpPr>
          <p:nvPr/>
        </p:nvSpPr>
        <p:spPr bwMode="auto">
          <a:xfrm>
            <a:off x="3979863" y="4572000"/>
            <a:ext cx="2619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 b="0"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457777" name="Text Box 49"/>
          <p:cNvSpPr txBox="1">
            <a:spLocks noChangeArrowheads="1"/>
          </p:cNvSpPr>
          <p:nvPr/>
        </p:nvSpPr>
        <p:spPr bwMode="auto">
          <a:xfrm>
            <a:off x="3979863" y="5029200"/>
            <a:ext cx="2619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 b="0"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457778" name="Text Box 50"/>
          <p:cNvSpPr txBox="1">
            <a:spLocks noChangeArrowheads="1"/>
          </p:cNvSpPr>
          <p:nvPr/>
        </p:nvSpPr>
        <p:spPr bwMode="auto">
          <a:xfrm>
            <a:off x="2151063" y="4953000"/>
            <a:ext cx="2619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 b="0"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57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57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57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457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457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457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457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457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45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457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457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457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457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457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457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457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457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457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457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457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457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457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7732" grpId="0"/>
      <p:bldP spid="457751" grpId="0"/>
      <p:bldP spid="457769" grpId="0"/>
      <p:bldP spid="457770" grpId="0"/>
      <p:bldP spid="457771" grpId="0"/>
      <p:bldP spid="457772" grpId="0"/>
      <p:bldP spid="457773" grpId="0"/>
      <p:bldP spid="457775" grpId="0"/>
      <p:bldP spid="457776" grpId="0"/>
      <p:bldP spid="457777" grpId="0"/>
      <p:bldP spid="45777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4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159B-4BB2-4317-A930-CCAC8123677A}" type="slidenum">
              <a:rPr lang="zh-CN" altLang="en-US"/>
              <a:pPr/>
              <a:t>4</a:t>
            </a:fld>
            <a:endParaRPr lang="en-US" altLang="zh-CN"/>
          </a:p>
        </p:txBody>
      </p:sp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Thompson’s Construction (cont.)</a:t>
            </a:r>
          </a:p>
        </p:txBody>
      </p:sp>
      <p:grpSp>
        <p:nvGrpSpPr>
          <p:cNvPr id="458755" name="Group 3"/>
          <p:cNvGrpSpPr>
            <a:grpSpLocks/>
          </p:cNvGrpSpPr>
          <p:nvPr/>
        </p:nvGrpSpPr>
        <p:grpSpPr bwMode="auto">
          <a:xfrm>
            <a:off x="1981200" y="4876800"/>
            <a:ext cx="1600200" cy="457200"/>
            <a:chOff x="1056" y="2688"/>
            <a:chExt cx="1008" cy="288"/>
          </a:xfrm>
        </p:grpSpPr>
        <p:sp>
          <p:nvSpPr>
            <p:cNvPr id="458756" name="Oval 4"/>
            <p:cNvSpPr>
              <a:spLocks noChangeArrowheads="1"/>
            </p:cNvSpPr>
            <p:nvPr/>
          </p:nvSpPr>
          <p:spPr bwMode="auto">
            <a:xfrm>
              <a:off x="1200" y="2736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8757" name="Oval 5"/>
            <p:cNvSpPr>
              <a:spLocks noChangeArrowheads="1"/>
            </p:cNvSpPr>
            <p:nvPr/>
          </p:nvSpPr>
          <p:spPr bwMode="auto">
            <a:xfrm>
              <a:off x="1728" y="2736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8758" name="Oval 6"/>
            <p:cNvSpPr>
              <a:spLocks noChangeArrowheads="1"/>
            </p:cNvSpPr>
            <p:nvPr/>
          </p:nvSpPr>
          <p:spPr bwMode="auto">
            <a:xfrm>
              <a:off x="1056" y="2688"/>
              <a:ext cx="100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58759" name="Text Box 7"/>
          <p:cNvSpPr txBox="1">
            <a:spLocks noChangeArrowheads="1"/>
          </p:cNvSpPr>
          <p:nvPr/>
        </p:nvSpPr>
        <p:spPr bwMode="auto">
          <a:xfrm>
            <a:off x="304800" y="1295400"/>
            <a:ext cx="403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zh-CN" altLang="en-US" b="0"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For regular expression 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baseline="-25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r</a:t>
            </a:r>
            <a:r>
              <a:rPr lang="en-US" altLang="zh-CN" baseline="-25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pSp>
        <p:nvGrpSpPr>
          <p:cNvPr id="458760" name="Group 8"/>
          <p:cNvGrpSpPr>
            <a:grpSpLocks/>
          </p:cNvGrpSpPr>
          <p:nvPr/>
        </p:nvGrpSpPr>
        <p:grpSpPr bwMode="auto">
          <a:xfrm>
            <a:off x="1219200" y="2057400"/>
            <a:ext cx="1600200" cy="457200"/>
            <a:chOff x="1056" y="2688"/>
            <a:chExt cx="1008" cy="288"/>
          </a:xfrm>
        </p:grpSpPr>
        <p:sp>
          <p:nvSpPr>
            <p:cNvPr id="458761" name="Oval 9"/>
            <p:cNvSpPr>
              <a:spLocks noChangeArrowheads="1"/>
            </p:cNvSpPr>
            <p:nvPr/>
          </p:nvSpPr>
          <p:spPr bwMode="auto">
            <a:xfrm>
              <a:off x="1200" y="2736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8762" name="Oval 10"/>
            <p:cNvSpPr>
              <a:spLocks noChangeArrowheads="1"/>
            </p:cNvSpPr>
            <p:nvPr/>
          </p:nvSpPr>
          <p:spPr bwMode="auto">
            <a:xfrm>
              <a:off x="1728" y="2736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8763" name="Oval 11"/>
            <p:cNvSpPr>
              <a:spLocks noChangeArrowheads="1"/>
            </p:cNvSpPr>
            <p:nvPr/>
          </p:nvSpPr>
          <p:spPr bwMode="auto">
            <a:xfrm>
              <a:off x="1056" y="2688"/>
              <a:ext cx="100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58764" name="Oval 12"/>
          <p:cNvSpPr>
            <a:spLocks noChangeArrowheads="1"/>
          </p:cNvSpPr>
          <p:nvPr/>
        </p:nvSpPr>
        <p:spPr bwMode="auto">
          <a:xfrm>
            <a:off x="2286000" y="2133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8765" name="Oval 13"/>
          <p:cNvSpPr>
            <a:spLocks noChangeArrowheads="1"/>
          </p:cNvSpPr>
          <p:nvPr/>
        </p:nvSpPr>
        <p:spPr bwMode="auto">
          <a:xfrm>
            <a:off x="2209800" y="1981200"/>
            <a:ext cx="17526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58766" name="Group 14"/>
          <p:cNvGrpSpPr>
            <a:grpSpLocks/>
          </p:cNvGrpSpPr>
          <p:nvPr/>
        </p:nvGrpSpPr>
        <p:grpSpPr bwMode="auto">
          <a:xfrm>
            <a:off x="3429000" y="2057400"/>
            <a:ext cx="457200" cy="457200"/>
            <a:chOff x="1296" y="1056"/>
            <a:chExt cx="288" cy="288"/>
          </a:xfrm>
        </p:grpSpPr>
        <p:sp>
          <p:nvSpPr>
            <p:cNvPr id="458767" name="Oval 15"/>
            <p:cNvSpPr>
              <a:spLocks noChangeArrowheads="1"/>
            </p:cNvSpPr>
            <p:nvPr/>
          </p:nvSpPr>
          <p:spPr bwMode="auto">
            <a:xfrm>
              <a:off x="1296" y="1056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8768" name="Oval 16"/>
            <p:cNvSpPr>
              <a:spLocks noChangeArrowheads="1"/>
            </p:cNvSpPr>
            <p:nvPr/>
          </p:nvSpPr>
          <p:spPr bwMode="auto">
            <a:xfrm>
              <a:off x="1344" y="1104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58769" name="Line 17"/>
          <p:cNvSpPr>
            <a:spLocks noChangeShapeType="1"/>
          </p:cNvSpPr>
          <p:nvPr/>
        </p:nvSpPr>
        <p:spPr bwMode="auto">
          <a:xfrm>
            <a:off x="838200" y="22860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8770" name="Text Box 18"/>
          <p:cNvSpPr txBox="1">
            <a:spLocks noChangeArrowheads="1"/>
          </p:cNvSpPr>
          <p:nvPr/>
        </p:nvSpPr>
        <p:spPr bwMode="auto">
          <a:xfrm>
            <a:off x="1447800" y="2133600"/>
            <a:ext cx="2333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b="0"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458771" name="Text Box 19"/>
          <p:cNvSpPr txBox="1">
            <a:spLocks noChangeArrowheads="1"/>
          </p:cNvSpPr>
          <p:nvPr/>
        </p:nvSpPr>
        <p:spPr bwMode="auto">
          <a:xfrm>
            <a:off x="3581400" y="2133600"/>
            <a:ext cx="2428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b="0"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458772" name="Text Box 20"/>
          <p:cNvSpPr txBox="1">
            <a:spLocks noChangeArrowheads="1"/>
          </p:cNvSpPr>
          <p:nvPr/>
        </p:nvSpPr>
        <p:spPr bwMode="auto">
          <a:xfrm>
            <a:off x="2819400" y="2133600"/>
            <a:ext cx="546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b="0">
                <a:ea typeface="宋体" panose="02010600030101010101" pitchFamily="2" charset="-122"/>
              </a:rPr>
              <a:t>N(r</a:t>
            </a:r>
            <a:r>
              <a:rPr lang="en-US" altLang="zh-CN" sz="1400" b="0" baseline="-25000">
                <a:ea typeface="宋体" panose="02010600030101010101" pitchFamily="2" charset="-122"/>
              </a:rPr>
              <a:t>2</a:t>
            </a:r>
            <a:r>
              <a:rPr lang="en-US" altLang="zh-CN" sz="1400" b="0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458773" name="Text Box 21"/>
          <p:cNvSpPr txBox="1">
            <a:spLocks noChangeArrowheads="1"/>
          </p:cNvSpPr>
          <p:nvPr/>
        </p:nvSpPr>
        <p:spPr bwMode="auto">
          <a:xfrm>
            <a:off x="1676400" y="2133600"/>
            <a:ext cx="546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b="0">
                <a:ea typeface="宋体" panose="02010600030101010101" pitchFamily="2" charset="-122"/>
              </a:rPr>
              <a:t>N(r</a:t>
            </a:r>
            <a:r>
              <a:rPr lang="en-US" altLang="zh-CN" sz="1400" b="0" baseline="-25000">
                <a:ea typeface="宋体" panose="02010600030101010101" pitchFamily="2" charset="-122"/>
              </a:rPr>
              <a:t>1</a:t>
            </a:r>
            <a:r>
              <a:rPr lang="en-US" altLang="zh-CN" sz="1400" b="0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458774" name="Text Box 22"/>
          <p:cNvSpPr txBox="1">
            <a:spLocks noChangeArrowheads="1"/>
          </p:cNvSpPr>
          <p:nvPr/>
        </p:nvSpPr>
        <p:spPr bwMode="auto">
          <a:xfrm>
            <a:off x="1524000" y="2819400"/>
            <a:ext cx="1938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ea typeface="宋体" panose="02010600030101010101" pitchFamily="2" charset="-122"/>
              </a:rPr>
              <a:t>NFA for   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b="0" baseline="-2500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 r</a:t>
            </a:r>
            <a:r>
              <a:rPr lang="en-US" altLang="zh-CN" b="0" baseline="-2500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458775" name="Text Box 23"/>
          <p:cNvSpPr txBox="1">
            <a:spLocks noChangeArrowheads="1"/>
          </p:cNvSpPr>
          <p:nvPr/>
        </p:nvSpPr>
        <p:spPr bwMode="auto">
          <a:xfrm>
            <a:off x="4495800" y="1981200"/>
            <a:ext cx="50196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b="0">
                <a:ea typeface="宋体" panose="02010600030101010101" pitchFamily="2" charset="-122"/>
              </a:rPr>
              <a:t>Final state of N(r</a:t>
            </a:r>
            <a:r>
              <a:rPr lang="en-US" altLang="zh-CN" sz="2000" b="0" baseline="-25000">
                <a:ea typeface="宋体" panose="02010600030101010101" pitchFamily="2" charset="-122"/>
              </a:rPr>
              <a:t>2</a:t>
            </a:r>
            <a:r>
              <a:rPr lang="en-US" altLang="zh-CN" sz="2000" b="0">
                <a:ea typeface="宋体" panose="02010600030101010101" pitchFamily="2" charset="-122"/>
              </a:rPr>
              <a:t>) become final state of N(r</a:t>
            </a:r>
            <a:r>
              <a:rPr lang="en-US" altLang="zh-CN" sz="2000" b="0" baseline="-25000">
                <a:ea typeface="宋体" panose="02010600030101010101" pitchFamily="2" charset="-122"/>
              </a:rPr>
              <a:t>1</a:t>
            </a:r>
            <a:r>
              <a:rPr lang="en-US" altLang="zh-CN" sz="2000" b="0">
                <a:ea typeface="宋体" panose="02010600030101010101" pitchFamily="2" charset="-122"/>
              </a:rPr>
              <a:t>r</a:t>
            </a:r>
            <a:r>
              <a:rPr lang="en-US" altLang="zh-CN" sz="2000" b="0" baseline="-25000">
                <a:ea typeface="宋体" panose="02010600030101010101" pitchFamily="2" charset="-122"/>
              </a:rPr>
              <a:t>2</a:t>
            </a:r>
            <a:r>
              <a:rPr lang="en-US" altLang="zh-CN" sz="2000" b="0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458776" name="Text Box 24"/>
          <p:cNvSpPr txBox="1">
            <a:spLocks noChangeArrowheads="1"/>
          </p:cNvSpPr>
          <p:nvPr/>
        </p:nvSpPr>
        <p:spPr bwMode="auto">
          <a:xfrm>
            <a:off x="304800" y="3886200"/>
            <a:ext cx="373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zh-CN" altLang="en-US" b="0"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For regular expression 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baseline="30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458777" name="Oval 25"/>
          <p:cNvSpPr>
            <a:spLocks noChangeArrowheads="1"/>
          </p:cNvSpPr>
          <p:nvPr/>
        </p:nvSpPr>
        <p:spPr bwMode="auto">
          <a:xfrm>
            <a:off x="1143000" y="49530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58778" name="Group 26"/>
          <p:cNvGrpSpPr>
            <a:grpSpLocks/>
          </p:cNvGrpSpPr>
          <p:nvPr/>
        </p:nvGrpSpPr>
        <p:grpSpPr bwMode="auto">
          <a:xfrm>
            <a:off x="4114800" y="4876800"/>
            <a:ext cx="457200" cy="457200"/>
            <a:chOff x="1296" y="1056"/>
            <a:chExt cx="288" cy="288"/>
          </a:xfrm>
        </p:grpSpPr>
        <p:sp>
          <p:nvSpPr>
            <p:cNvPr id="458779" name="Oval 27"/>
            <p:cNvSpPr>
              <a:spLocks noChangeArrowheads="1"/>
            </p:cNvSpPr>
            <p:nvPr/>
          </p:nvSpPr>
          <p:spPr bwMode="auto">
            <a:xfrm>
              <a:off x="1296" y="1056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8780" name="Oval 28"/>
            <p:cNvSpPr>
              <a:spLocks noChangeArrowheads="1"/>
            </p:cNvSpPr>
            <p:nvPr/>
          </p:nvSpPr>
          <p:spPr bwMode="auto">
            <a:xfrm>
              <a:off x="1344" y="1104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58781" name="Line 29"/>
          <p:cNvSpPr>
            <a:spLocks noChangeShapeType="1"/>
          </p:cNvSpPr>
          <p:nvPr/>
        </p:nvSpPr>
        <p:spPr bwMode="auto">
          <a:xfrm>
            <a:off x="1447800" y="51054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8782" name="Line 30"/>
          <p:cNvSpPr>
            <a:spLocks noChangeShapeType="1"/>
          </p:cNvSpPr>
          <p:nvPr/>
        </p:nvSpPr>
        <p:spPr bwMode="auto">
          <a:xfrm>
            <a:off x="3352800" y="51054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458783" name="AutoShape 31"/>
          <p:cNvCxnSpPr>
            <a:cxnSpLocks noChangeShapeType="1"/>
            <a:stCxn id="458758" idx="7"/>
            <a:endCxn id="458758" idx="1"/>
          </p:cNvCxnSpPr>
          <p:nvPr/>
        </p:nvCxnSpPr>
        <p:spPr bwMode="auto">
          <a:xfrm rot="16200000" flipH="1" flipV="1">
            <a:off x="2780506" y="4379119"/>
            <a:ext cx="1588" cy="1130300"/>
          </a:xfrm>
          <a:prstGeom prst="curvedConnector3">
            <a:avLst>
              <a:gd name="adj1" fmla="val -186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8784" name="AutoShape 32"/>
          <p:cNvCxnSpPr>
            <a:cxnSpLocks noChangeShapeType="1"/>
            <a:stCxn id="458777" idx="4"/>
            <a:endCxn id="458779" idx="4"/>
          </p:cNvCxnSpPr>
          <p:nvPr/>
        </p:nvCxnSpPr>
        <p:spPr bwMode="auto">
          <a:xfrm rot="16200000" flipH="1">
            <a:off x="2781300" y="3771900"/>
            <a:ext cx="76200" cy="3048000"/>
          </a:xfrm>
          <a:prstGeom prst="curvedConnector3">
            <a:avLst>
              <a:gd name="adj1" fmla="val 4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8785" name="Line 33"/>
          <p:cNvSpPr>
            <a:spLocks noChangeShapeType="1"/>
          </p:cNvSpPr>
          <p:nvPr/>
        </p:nvSpPr>
        <p:spPr bwMode="auto">
          <a:xfrm>
            <a:off x="762000" y="5105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8786" name="Text Box 34"/>
          <p:cNvSpPr txBox="1">
            <a:spLocks noChangeArrowheads="1"/>
          </p:cNvSpPr>
          <p:nvPr/>
        </p:nvSpPr>
        <p:spPr bwMode="auto">
          <a:xfrm>
            <a:off x="2514600" y="4953000"/>
            <a:ext cx="4889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b="0">
                <a:ea typeface="宋体" panose="02010600030101010101" pitchFamily="2" charset="-122"/>
              </a:rPr>
              <a:t>N(r)</a:t>
            </a:r>
          </a:p>
        </p:txBody>
      </p:sp>
      <p:sp>
        <p:nvSpPr>
          <p:cNvPr id="458787" name="Text Box 35"/>
          <p:cNvSpPr txBox="1">
            <a:spLocks noChangeArrowheads="1"/>
          </p:cNvSpPr>
          <p:nvPr/>
        </p:nvSpPr>
        <p:spPr bwMode="auto">
          <a:xfrm>
            <a:off x="1143000" y="4953000"/>
            <a:ext cx="2333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b="0">
                <a:ea typeface="宋体" panose="02010600030101010101" pitchFamily="2" charset="-122"/>
              </a:rPr>
              <a:t>i</a:t>
            </a:r>
          </a:p>
        </p:txBody>
      </p:sp>
      <p:sp>
        <p:nvSpPr>
          <p:cNvPr id="458788" name="Text Box 36"/>
          <p:cNvSpPr txBox="1">
            <a:spLocks noChangeArrowheads="1"/>
          </p:cNvSpPr>
          <p:nvPr/>
        </p:nvSpPr>
        <p:spPr bwMode="auto">
          <a:xfrm>
            <a:off x="4191000" y="4953000"/>
            <a:ext cx="2428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400" b="0">
                <a:ea typeface="宋体" panose="02010600030101010101" pitchFamily="2" charset="-122"/>
              </a:rPr>
              <a:t>f</a:t>
            </a:r>
          </a:p>
        </p:txBody>
      </p:sp>
      <p:sp>
        <p:nvSpPr>
          <p:cNvPr id="458789" name="Text Box 37"/>
          <p:cNvSpPr txBox="1">
            <a:spLocks noChangeArrowheads="1"/>
          </p:cNvSpPr>
          <p:nvPr/>
        </p:nvSpPr>
        <p:spPr bwMode="auto">
          <a:xfrm>
            <a:off x="1981200" y="5638800"/>
            <a:ext cx="1658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ea typeface="宋体" panose="02010600030101010101" pitchFamily="2" charset="-122"/>
              </a:rPr>
              <a:t>NFA for   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b="0" baseline="30000">
                <a:ea typeface="宋体" panose="02010600030101010101" pitchFamily="2" charset="-122"/>
                <a:sym typeface="Symbol" panose="05050102010706020507" pitchFamily="18" charset="2"/>
              </a:rPr>
              <a:t>*</a:t>
            </a:r>
            <a:endParaRPr lang="en-US" altLang="zh-CN" b="0" baseline="-2500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58790" name="Text Box 38"/>
          <p:cNvSpPr txBox="1">
            <a:spLocks noChangeArrowheads="1"/>
          </p:cNvSpPr>
          <p:nvPr/>
        </p:nvSpPr>
        <p:spPr bwMode="auto">
          <a:xfrm>
            <a:off x="1600200" y="4800600"/>
            <a:ext cx="2619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1400" b="0"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458791" name="Text Box 39"/>
          <p:cNvSpPr txBox="1">
            <a:spLocks noChangeArrowheads="1"/>
          </p:cNvSpPr>
          <p:nvPr/>
        </p:nvSpPr>
        <p:spPr bwMode="auto">
          <a:xfrm>
            <a:off x="3657600" y="4800600"/>
            <a:ext cx="2619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1400" b="0"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458792" name="Text Box 40"/>
          <p:cNvSpPr txBox="1">
            <a:spLocks noChangeArrowheads="1"/>
          </p:cNvSpPr>
          <p:nvPr/>
        </p:nvSpPr>
        <p:spPr bwMode="auto">
          <a:xfrm>
            <a:off x="2667000" y="5334000"/>
            <a:ext cx="2619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1400" b="0"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</a:p>
        </p:txBody>
      </p:sp>
      <p:sp>
        <p:nvSpPr>
          <p:cNvPr id="458793" name="Text Box 41"/>
          <p:cNvSpPr txBox="1">
            <a:spLocks noChangeArrowheads="1"/>
          </p:cNvSpPr>
          <p:nvPr/>
        </p:nvSpPr>
        <p:spPr bwMode="auto">
          <a:xfrm>
            <a:off x="2667000" y="4419600"/>
            <a:ext cx="2619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1400" b="0"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458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1000"/>
                                        <p:tgtEl>
                                          <p:spTgt spid="458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1000"/>
                                        <p:tgtEl>
                                          <p:spTgt spid="458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1000"/>
                                        <p:tgtEl>
                                          <p:spTgt spid="458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1000"/>
                                        <p:tgtEl>
                                          <p:spTgt spid="458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1000"/>
                                        <p:tgtEl>
                                          <p:spTgt spid="458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1000"/>
                                        <p:tgtEl>
                                          <p:spTgt spid="458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1000"/>
                                        <p:tgtEl>
                                          <p:spTgt spid="458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1000"/>
                                        <p:tgtEl>
                                          <p:spTgt spid="458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1000"/>
                                        <p:tgtEl>
                                          <p:spTgt spid="458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1000"/>
                                        <p:tgtEl>
                                          <p:spTgt spid="458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42" dur="1000"/>
                                        <p:tgtEl>
                                          <p:spTgt spid="458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8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45" dur="1000"/>
                                        <p:tgtEl>
                                          <p:spTgt spid="458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8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48" dur="1000"/>
                                        <p:tgtEl>
                                          <p:spTgt spid="458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8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51" dur="1000"/>
                                        <p:tgtEl>
                                          <p:spTgt spid="458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8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54" dur="1000"/>
                                        <p:tgtEl>
                                          <p:spTgt spid="458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8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57" dur="1000"/>
                                        <p:tgtEl>
                                          <p:spTgt spid="458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8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60" dur="1000"/>
                                        <p:tgtEl>
                                          <p:spTgt spid="458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8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63" dur="1000"/>
                                        <p:tgtEl>
                                          <p:spTgt spid="458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66" dur="1000"/>
                                        <p:tgtEl>
                                          <p:spTgt spid="458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69" dur="1000"/>
                                        <p:tgtEl>
                                          <p:spTgt spid="45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2" dur="1000"/>
                                        <p:tgtEl>
                                          <p:spTgt spid="45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5" dur="1000"/>
                                        <p:tgtEl>
                                          <p:spTgt spid="458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8" dur="1000"/>
                                        <p:tgtEl>
                                          <p:spTgt spid="458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81" dur="1000"/>
                                        <p:tgtEl>
                                          <p:spTgt spid="458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84" dur="1000"/>
                                        <p:tgtEl>
                                          <p:spTgt spid="458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8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87" dur="1000"/>
                                        <p:tgtEl>
                                          <p:spTgt spid="458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8770" grpId="0"/>
      <p:bldP spid="458771" grpId="0"/>
      <p:bldP spid="458772" grpId="0"/>
      <p:bldP spid="458773" grpId="0"/>
      <p:bldP spid="458774" grpId="0"/>
      <p:bldP spid="458775" grpId="0"/>
      <p:bldP spid="458786" grpId="0"/>
      <p:bldP spid="458787" grpId="0"/>
      <p:bldP spid="458788" grpId="0"/>
      <p:bldP spid="458789" grpId="0"/>
      <p:bldP spid="458790" grpId="0"/>
      <p:bldP spid="458791" grpId="0"/>
      <p:bldP spid="458792" grpId="0"/>
      <p:bldP spid="45879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D237A-982B-4F17-BFAA-4E3ED267E1FA}" type="slidenum">
              <a:rPr lang="zh-CN" altLang="en-US"/>
              <a:pPr/>
              <a:t>5</a:t>
            </a:fld>
            <a:endParaRPr lang="en-US" altLang="zh-CN"/>
          </a:p>
        </p:txBody>
      </p:sp>
      <p:sp>
        <p:nvSpPr>
          <p:cNvPr id="4823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  <a:noFill/>
          <a:ln/>
        </p:spPr>
        <p:txBody>
          <a:bodyPr lIns="92075" tIns="46038" rIns="92075" bIns="46038"/>
          <a:lstStyle/>
          <a:p>
            <a:r>
              <a:rPr lang="en-US" altLang="zh-CN">
                <a:ea typeface="宋体" panose="02010600030101010101" pitchFamily="2" charset="-122"/>
              </a:rPr>
              <a:t>Construction Algorithm : R.E.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NFA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82307" name="Text Box 3"/>
          <p:cNvSpPr txBox="1">
            <a:spLocks noChangeArrowheads="1"/>
          </p:cNvSpPr>
          <p:nvPr/>
        </p:nvSpPr>
        <p:spPr bwMode="auto">
          <a:xfrm>
            <a:off x="920750" y="1341438"/>
            <a:ext cx="8420100" cy="418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0">
                <a:ea typeface="宋体" panose="02010600030101010101" pitchFamily="2" charset="-122"/>
              </a:rPr>
              <a:t>Construction Process :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0">
                <a:ea typeface="宋体" panose="02010600030101010101" pitchFamily="2" charset="-122"/>
              </a:rPr>
              <a:t>  </a:t>
            </a: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</a:rPr>
              <a:t>1</a:t>
            </a:r>
            <a:r>
              <a:rPr lang="en-US" altLang="zh-CN" b="0" baseline="30000">
                <a:solidFill>
                  <a:schemeClr val="accent2"/>
                </a:solidFill>
                <a:ea typeface="宋体" panose="02010600030101010101" pitchFamily="2" charset="-122"/>
              </a:rPr>
              <a:t>st</a:t>
            </a: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</a:rPr>
              <a:t> :  Identify subexpressions of the regular expression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</a:rPr>
              <a:t>                  </a:t>
            </a: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</a:rPr>
              <a:t>                  </a:t>
            </a: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 symbols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            r | s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            rs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            r*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endParaRPr lang="en-US" altLang="zh-CN" b="0">
              <a:solidFill>
                <a:schemeClr val="accent2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b="0" baseline="30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nd</a:t>
            </a: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: Characterize “pieces” of NFA for each subexpression</a:t>
            </a:r>
            <a:endParaRPr lang="en-US" altLang="zh-CN" b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82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82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77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82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82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87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482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482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4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82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82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16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82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82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2700"/>
                            </p:stCondLst>
                            <p:childTnLst>
                              <p:par>
                                <p:cTn id="30" presetID="2" presetClass="entr" presetSubtype="2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482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482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3800"/>
                            </p:stCondLst>
                            <p:childTnLst>
                              <p:par>
                                <p:cTn id="35" presetID="2" presetClass="entr" presetSubtype="2" fill="hold" nodeType="afterEffect">
                                  <p:stCondLst>
                                    <p:cond delay="5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482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82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28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2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BA22F1-DDE1-44C2-A2F6-3C0E103D1DFC}" type="slidenum">
              <a:rPr lang="zh-CN" altLang="en-US"/>
              <a:pPr/>
              <a:t>6</a:t>
            </a:fld>
            <a:endParaRPr lang="en-US" altLang="zh-CN"/>
          </a:p>
        </p:txBody>
      </p:sp>
      <p:sp>
        <p:nvSpPr>
          <p:cNvPr id="4833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  <a:noFill/>
          <a:ln/>
        </p:spPr>
        <p:txBody>
          <a:bodyPr lIns="92075" tIns="46038" rIns="92075" bIns="46038"/>
          <a:lstStyle/>
          <a:p>
            <a:r>
              <a:rPr lang="en-US" altLang="zh-CN">
                <a:ea typeface="宋体" panose="02010600030101010101" pitchFamily="2" charset="-122"/>
              </a:rPr>
              <a:t>Piecing Together NFAs</a:t>
            </a:r>
          </a:p>
        </p:txBody>
      </p:sp>
      <p:sp>
        <p:nvSpPr>
          <p:cNvPr id="483331" name="Text Box 3"/>
          <p:cNvSpPr txBox="1">
            <a:spLocks noChangeArrowheads="1"/>
          </p:cNvSpPr>
          <p:nvPr/>
        </p:nvSpPr>
        <p:spPr bwMode="auto">
          <a:xfrm>
            <a:off x="1320800" y="3962400"/>
            <a:ext cx="825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0">
                <a:ea typeface="宋体" panose="02010600030101010101" pitchFamily="2" charset="-122"/>
              </a:rPr>
              <a:t>2. For a 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  in the regular expression, construct NFA</a:t>
            </a:r>
            <a:endParaRPr lang="en-US" altLang="zh-CN" b="0">
              <a:ea typeface="宋体" panose="02010600030101010101" pitchFamily="2" charset="-122"/>
            </a:endParaRPr>
          </a:p>
        </p:txBody>
      </p:sp>
      <p:grpSp>
        <p:nvGrpSpPr>
          <p:cNvPr id="483332" name="Group 4"/>
          <p:cNvGrpSpPr>
            <a:grpSpLocks/>
          </p:cNvGrpSpPr>
          <p:nvPr/>
        </p:nvGrpSpPr>
        <p:grpSpPr bwMode="auto">
          <a:xfrm>
            <a:off x="3219450" y="4648200"/>
            <a:ext cx="5283200" cy="685800"/>
            <a:chOff x="1872" y="2832"/>
            <a:chExt cx="3072" cy="432"/>
          </a:xfrm>
        </p:grpSpPr>
        <p:sp>
          <p:nvSpPr>
            <p:cNvPr id="483333" name="Oval 5"/>
            <p:cNvSpPr>
              <a:spLocks noChangeArrowheads="1"/>
            </p:cNvSpPr>
            <p:nvPr/>
          </p:nvSpPr>
          <p:spPr bwMode="auto">
            <a:xfrm>
              <a:off x="2448" y="2832"/>
              <a:ext cx="432" cy="43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3334" name="Oval 6"/>
            <p:cNvSpPr>
              <a:spLocks noChangeArrowheads="1"/>
            </p:cNvSpPr>
            <p:nvPr/>
          </p:nvSpPr>
          <p:spPr bwMode="auto">
            <a:xfrm>
              <a:off x="3312" y="2832"/>
              <a:ext cx="432" cy="43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3335" name="Oval 7"/>
            <p:cNvSpPr>
              <a:spLocks noChangeArrowheads="1"/>
            </p:cNvSpPr>
            <p:nvPr/>
          </p:nvSpPr>
          <p:spPr bwMode="auto">
            <a:xfrm>
              <a:off x="3360" y="2880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3336" name="Line 8"/>
            <p:cNvSpPr>
              <a:spLocks noChangeShapeType="1"/>
            </p:cNvSpPr>
            <p:nvPr/>
          </p:nvSpPr>
          <p:spPr bwMode="auto">
            <a:xfrm>
              <a:off x="2880" y="3072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337" name="Line 9"/>
            <p:cNvSpPr>
              <a:spLocks noChangeShapeType="1"/>
            </p:cNvSpPr>
            <p:nvPr/>
          </p:nvSpPr>
          <p:spPr bwMode="auto">
            <a:xfrm>
              <a:off x="2016" y="3072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338" name="Text Box 10"/>
            <p:cNvSpPr txBox="1">
              <a:spLocks noChangeArrowheads="1"/>
            </p:cNvSpPr>
            <p:nvPr/>
          </p:nvSpPr>
          <p:spPr bwMode="auto">
            <a:xfrm>
              <a:off x="2928" y="283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endParaRPr lang="en-US" altLang="zh-CN" sz="1800">
                <a:ea typeface="宋体" panose="02010600030101010101" pitchFamily="2" charset="-122"/>
              </a:endParaRPr>
            </a:p>
          </p:txBody>
        </p:sp>
        <p:sp>
          <p:nvSpPr>
            <p:cNvPr id="483339" name="Text Box 11"/>
            <p:cNvSpPr txBox="1">
              <a:spLocks noChangeArrowheads="1"/>
            </p:cNvSpPr>
            <p:nvPr/>
          </p:nvSpPr>
          <p:spPr bwMode="auto">
            <a:xfrm>
              <a:off x="1872" y="2880"/>
              <a:ext cx="4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>
                  <a:ea typeface="宋体" panose="02010600030101010101" pitchFamily="2" charset="-122"/>
                </a:rPr>
                <a:t>start</a:t>
              </a:r>
            </a:p>
          </p:txBody>
        </p:sp>
        <p:sp>
          <p:nvSpPr>
            <p:cNvPr id="483340" name="Text Box 12"/>
            <p:cNvSpPr txBox="1">
              <a:spLocks noChangeArrowheads="1"/>
            </p:cNvSpPr>
            <p:nvPr/>
          </p:nvSpPr>
          <p:spPr bwMode="auto">
            <a:xfrm>
              <a:off x="2544" y="288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i="1"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483341" name="Text Box 13"/>
            <p:cNvSpPr txBox="1">
              <a:spLocks noChangeArrowheads="1"/>
            </p:cNvSpPr>
            <p:nvPr/>
          </p:nvSpPr>
          <p:spPr bwMode="auto">
            <a:xfrm>
              <a:off x="3408" y="288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i="1"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483342" name="Text Box 14"/>
            <p:cNvSpPr txBox="1">
              <a:spLocks noChangeArrowheads="1"/>
            </p:cNvSpPr>
            <p:nvPr/>
          </p:nvSpPr>
          <p:spPr bwMode="auto">
            <a:xfrm>
              <a:off x="4032" y="2928"/>
              <a:ext cx="9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chemeClr val="accent2"/>
                  </a:solidFill>
                  <a:ea typeface="宋体" panose="02010600030101010101" pitchFamily="2" charset="-122"/>
                </a:rPr>
                <a:t>L(</a:t>
              </a:r>
              <a:r>
                <a:rPr lang="en-US" altLang="zh-CN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a)</a:t>
              </a:r>
            </a:p>
          </p:txBody>
        </p:sp>
      </p:grpSp>
      <p:sp>
        <p:nvSpPr>
          <p:cNvPr id="483343" name="Text Box 15"/>
          <p:cNvSpPr txBox="1">
            <a:spLocks noChangeArrowheads="1"/>
          </p:cNvSpPr>
          <p:nvPr/>
        </p:nvSpPr>
        <p:spPr bwMode="auto">
          <a:xfrm>
            <a:off x="1320800" y="1600200"/>
            <a:ext cx="825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0">
                <a:ea typeface="宋体" panose="02010600030101010101" pitchFamily="2" charset="-122"/>
              </a:rPr>
              <a:t>1. For 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 in the regular expression, construct NFA</a:t>
            </a:r>
            <a:endParaRPr lang="en-US" altLang="zh-CN" b="0">
              <a:ea typeface="宋体" panose="02010600030101010101" pitchFamily="2" charset="-122"/>
            </a:endParaRPr>
          </a:p>
        </p:txBody>
      </p:sp>
      <p:grpSp>
        <p:nvGrpSpPr>
          <p:cNvPr id="483344" name="Group 16"/>
          <p:cNvGrpSpPr>
            <a:grpSpLocks/>
          </p:cNvGrpSpPr>
          <p:nvPr/>
        </p:nvGrpSpPr>
        <p:grpSpPr bwMode="auto">
          <a:xfrm>
            <a:off x="3384550" y="2286000"/>
            <a:ext cx="5118100" cy="685800"/>
            <a:chOff x="1968" y="1440"/>
            <a:chExt cx="2976" cy="432"/>
          </a:xfrm>
        </p:grpSpPr>
        <p:sp>
          <p:nvSpPr>
            <p:cNvPr id="483345" name="Text Box 17"/>
            <p:cNvSpPr txBox="1">
              <a:spLocks noChangeArrowheads="1"/>
            </p:cNvSpPr>
            <p:nvPr/>
          </p:nvSpPr>
          <p:spPr bwMode="auto">
            <a:xfrm>
              <a:off x="4032" y="1440"/>
              <a:ext cx="9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chemeClr val="accent2"/>
                  </a:solidFill>
                  <a:ea typeface="宋体" panose="02010600030101010101" pitchFamily="2" charset="-122"/>
                </a:rPr>
                <a:t>L(</a:t>
              </a:r>
              <a:r>
                <a:rPr lang="en-US" altLang="zh-CN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)</a:t>
              </a:r>
            </a:p>
          </p:txBody>
        </p:sp>
        <p:sp>
          <p:nvSpPr>
            <p:cNvPr id="483346" name="Oval 18"/>
            <p:cNvSpPr>
              <a:spLocks noChangeArrowheads="1"/>
            </p:cNvSpPr>
            <p:nvPr/>
          </p:nvSpPr>
          <p:spPr bwMode="auto">
            <a:xfrm>
              <a:off x="2544" y="1440"/>
              <a:ext cx="432" cy="43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3347" name="Oval 19"/>
            <p:cNvSpPr>
              <a:spLocks noChangeArrowheads="1"/>
            </p:cNvSpPr>
            <p:nvPr/>
          </p:nvSpPr>
          <p:spPr bwMode="auto">
            <a:xfrm>
              <a:off x="3408" y="1440"/>
              <a:ext cx="432" cy="43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3348" name="Oval 20"/>
            <p:cNvSpPr>
              <a:spLocks noChangeArrowheads="1"/>
            </p:cNvSpPr>
            <p:nvPr/>
          </p:nvSpPr>
          <p:spPr bwMode="auto">
            <a:xfrm>
              <a:off x="3456" y="1488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3349" name="Line 21"/>
            <p:cNvSpPr>
              <a:spLocks noChangeShapeType="1"/>
            </p:cNvSpPr>
            <p:nvPr/>
          </p:nvSpPr>
          <p:spPr bwMode="auto">
            <a:xfrm>
              <a:off x="2976" y="1680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350" name="Line 22"/>
            <p:cNvSpPr>
              <a:spLocks noChangeShapeType="1"/>
            </p:cNvSpPr>
            <p:nvPr/>
          </p:nvSpPr>
          <p:spPr bwMode="auto">
            <a:xfrm>
              <a:off x="2112" y="1680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3351" name="Text Box 23"/>
            <p:cNvSpPr txBox="1">
              <a:spLocks noChangeArrowheads="1"/>
            </p:cNvSpPr>
            <p:nvPr/>
          </p:nvSpPr>
          <p:spPr bwMode="auto">
            <a:xfrm>
              <a:off x="3024" y="1440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83352" name="Text Box 24"/>
            <p:cNvSpPr txBox="1">
              <a:spLocks noChangeArrowheads="1"/>
            </p:cNvSpPr>
            <p:nvPr/>
          </p:nvSpPr>
          <p:spPr bwMode="auto">
            <a:xfrm>
              <a:off x="1968" y="1488"/>
              <a:ext cx="4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>
                  <a:ea typeface="宋体" panose="02010600030101010101" pitchFamily="2" charset="-122"/>
                </a:rPr>
                <a:t>start</a:t>
              </a:r>
            </a:p>
          </p:txBody>
        </p:sp>
        <p:sp>
          <p:nvSpPr>
            <p:cNvPr id="483353" name="Text Box 25"/>
            <p:cNvSpPr txBox="1">
              <a:spLocks noChangeArrowheads="1"/>
            </p:cNvSpPr>
            <p:nvPr/>
          </p:nvSpPr>
          <p:spPr bwMode="auto">
            <a:xfrm>
              <a:off x="2640" y="148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i="1"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483354" name="Text Box 26"/>
            <p:cNvSpPr txBox="1">
              <a:spLocks noChangeArrowheads="1"/>
            </p:cNvSpPr>
            <p:nvPr/>
          </p:nvSpPr>
          <p:spPr bwMode="auto">
            <a:xfrm>
              <a:off x="3504" y="148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i="1">
                  <a:ea typeface="宋体" panose="02010600030101010101" pitchFamily="2" charset="-122"/>
                </a:rPr>
                <a:t>f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83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8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31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3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014E6-169B-4ACC-9413-BEB552A14098}" type="slidenum">
              <a:rPr lang="zh-CN" altLang="en-US"/>
              <a:pPr/>
              <a:t>7</a:t>
            </a:fld>
            <a:endParaRPr lang="en-US" altLang="zh-CN"/>
          </a:p>
        </p:txBody>
      </p:sp>
      <p:sp>
        <p:nvSpPr>
          <p:cNvPr id="4843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  <a:noFill/>
          <a:ln/>
        </p:spPr>
        <p:txBody>
          <a:bodyPr lIns="92075" tIns="46038" rIns="92075" bIns="46038"/>
          <a:lstStyle/>
          <a:p>
            <a:r>
              <a:rPr lang="en-US" altLang="zh-CN">
                <a:ea typeface="宋体" panose="02010600030101010101" pitchFamily="2" charset="-122"/>
              </a:rPr>
              <a:t>Piecing Together NFAs – continued(1)</a:t>
            </a:r>
          </a:p>
        </p:txBody>
      </p:sp>
      <p:sp>
        <p:nvSpPr>
          <p:cNvPr id="484355" name="Text Box 3"/>
          <p:cNvSpPr txBox="1">
            <a:spLocks noChangeArrowheads="1"/>
          </p:cNvSpPr>
          <p:nvPr/>
        </p:nvSpPr>
        <p:spPr bwMode="auto">
          <a:xfrm>
            <a:off x="1403350" y="4876800"/>
            <a:ext cx="817245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</a:rPr>
              <a:t>where </a:t>
            </a:r>
            <a:r>
              <a:rPr lang="en-US" altLang="zh-CN" b="0" i="1">
                <a:solidFill>
                  <a:schemeClr val="accent2"/>
                </a:solidFill>
                <a:ea typeface="宋体" panose="02010600030101010101" pitchFamily="2" charset="-122"/>
              </a:rPr>
              <a:t>i</a:t>
            </a: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</a:rPr>
              <a:t> and </a:t>
            </a:r>
            <a:r>
              <a:rPr lang="en-US" altLang="zh-CN" b="0" i="1">
                <a:solidFill>
                  <a:schemeClr val="accent2"/>
                </a:solidFill>
                <a:ea typeface="宋体" panose="02010600030101010101" pitchFamily="2" charset="-122"/>
              </a:rPr>
              <a:t>f</a:t>
            </a: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</a:rPr>
              <a:t> are new start / final states, and </a:t>
            </a: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-moves are introduced from </a:t>
            </a:r>
            <a:r>
              <a:rPr lang="en-US" altLang="zh-CN" b="0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to the old start states of N(s) and N(t) as well as from all of their final states to </a:t>
            </a:r>
            <a:r>
              <a:rPr lang="en-US" altLang="zh-CN" b="0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endParaRPr lang="en-US" altLang="zh-CN" b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484356" name="Text Box 4"/>
          <p:cNvSpPr txBox="1">
            <a:spLocks noChangeArrowheads="1"/>
          </p:cNvSpPr>
          <p:nvPr/>
        </p:nvSpPr>
        <p:spPr bwMode="auto">
          <a:xfrm>
            <a:off x="1320800" y="1676400"/>
            <a:ext cx="8255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0">
                <a:ea typeface="宋体" panose="02010600030101010101" pitchFamily="2" charset="-122"/>
              </a:rPr>
              <a:t>3.(a) If s, t are regular expressions, N(s), N(t) their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 NFAs s|t has NFA:</a:t>
            </a:r>
            <a:endParaRPr lang="en-US" altLang="zh-CN" b="0">
              <a:ea typeface="宋体" panose="02010600030101010101" pitchFamily="2" charset="-122"/>
            </a:endParaRPr>
          </a:p>
        </p:txBody>
      </p:sp>
      <p:sp>
        <p:nvSpPr>
          <p:cNvPr id="484357" name="Text Box 5"/>
          <p:cNvSpPr txBox="1">
            <a:spLocks noChangeArrowheads="1"/>
          </p:cNvSpPr>
          <p:nvPr/>
        </p:nvSpPr>
        <p:spPr bwMode="auto">
          <a:xfrm>
            <a:off x="1320800" y="2971800"/>
            <a:ext cx="7429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600">
                <a:ea typeface="宋体" panose="02010600030101010101" pitchFamily="2" charset="-122"/>
              </a:rPr>
              <a:t>start</a:t>
            </a:r>
          </a:p>
        </p:txBody>
      </p:sp>
      <p:grpSp>
        <p:nvGrpSpPr>
          <p:cNvPr id="484358" name="Group 6"/>
          <p:cNvGrpSpPr>
            <a:grpSpLocks/>
          </p:cNvGrpSpPr>
          <p:nvPr/>
        </p:nvGrpSpPr>
        <p:grpSpPr bwMode="auto">
          <a:xfrm>
            <a:off x="1568450" y="2362200"/>
            <a:ext cx="8007350" cy="1828800"/>
            <a:chOff x="912" y="1488"/>
            <a:chExt cx="4656" cy="1152"/>
          </a:xfrm>
        </p:grpSpPr>
        <p:sp>
          <p:nvSpPr>
            <p:cNvPr id="484359" name="Oval 7"/>
            <p:cNvSpPr>
              <a:spLocks noChangeArrowheads="1"/>
            </p:cNvSpPr>
            <p:nvPr/>
          </p:nvSpPr>
          <p:spPr bwMode="auto">
            <a:xfrm>
              <a:off x="1344" y="1824"/>
              <a:ext cx="432" cy="43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4360" name="Line 8"/>
            <p:cNvSpPr>
              <a:spLocks noChangeShapeType="1"/>
            </p:cNvSpPr>
            <p:nvPr/>
          </p:nvSpPr>
          <p:spPr bwMode="auto">
            <a:xfrm flipV="1">
              <a:off x="1776" y="1680"/>
              <a:ext cx="672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4361" name="Line 9"/>
            <p:cNvSpPr>
              <a:spLocks noChangeShapeType="1"/>
            </p:cNvSpPr>
            <p:nvPr/>
          </p:nvSpPr>
          <p:spPr bwMode="auto">
            <a:xfrm>
              <a:off x="912" y="2064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4362" name="Text Box 10"/>
            <p:cNvSpPr txBox="1">
              <a:spLocks noChangeArrowheads="1"/>
            </p:cNvSpPr>
            <p:nvPr/>
          </p:nvSpPr>
          <p:spPr bwMode="auto">
            <a:xfrm>
              <a:off x="1920" y="1824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84363" name="Text Box 11"/>
            <p:cNvSpPr txBox="1">
              <a:spLocks noChangeArrowheads="1"/>
            </p:cNvSpPr>
            <p:nvPr/>
          </p:nvSpPr>
          <p:spPr bwMode="auto">
            <a:xfrm>
              <a:off x="1440" y="187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i="1">
                  <a:ea typeface="宋体" panose="02010600030101010101" pitchFamily="2" charset="-122"/>
                </a:rPr>
                <a:t>i</a:t>
              </a:r>
            </a:p>
          </p:txBody>
        </p:sp>
        <p:sp>
          <p:nvSpPr>
            <p:cNvPr id="484364" name="Oval 12"/>
            <p:cNvSpPr>
              <a:spLocks noChangeArrowheads="1"/>
            </p:cNvSpPr>
            <p:nvPr/>
          </p:nvSpPr>
          <p:spPr bwMode="auto">
            <a:xfrm>
              <a:off x="3984" y="1824"/>
              <a:ext cx="432" cy="43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4365" name="Oval 13"/>
            <p:cNvSpPr>
              <a:spLocks noChangeArrowheads="1"/>
            </p:cNvSpPr>
            <p:nvPr/>
          </p:nvSpPr>
          <p:spPr bwMode="auto">
            <a:xfrm>
              <a:off x="4032" y="1872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4366" name="Text Box 14"/>
            <p:cNvSpPr txBox="1">
              <a:spLocks noChangeArrowheads="1"/>
            </p:cNvSpPr>
            <p:nvPr/>
          </p:nvSpPr>
          <p:spPr bwMode="auto">
            <a:xfrm>
              <a:off x="4080" y="187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i="1">
                  <a:ea typeface="宋体" panose="02010600030101010101" pitchFamily="2" charset="-122"/>
                </a:rPr>
                <a:t>f</a:t>
              </a:r>
            </a:p>
          </p:txBody>
        </p:sp>
        <p:sp>
          <p:nvSpPr>
            <p:cNvPr id="484367" name="AutoShape 15"/>
            <p:cNvSpPr>
              <a:spLocks noChangeArrowheads="1"/>
            </p:cNvSpPr>
            <p:nvPr/>
          </p:nvSpPr>
          <p:spPr bwMode="auto">
            <a:xfrm>
              <a:off x="2304" y="1488"/>
              <a:ext cx="1344" cy="432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4368" name="AutoShape 16"/>
            <p:cNvSpPr>
              <a:spLocks noChangeArrowheads="1"/>
            </p:cNvSpPr>
            <p:nvPr/>
          </p:nvSpPr>
          <p:spPr bwMode="auto">
            <a:xfrm>
              <a:off x="2352" y="2208"/>
              <a:ext cx="1344" cy="432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4369" name="Line 17"/>
            <p:cNvSpPr>
              <a:spLocks noChangeShapeType="1"/>
            </p:cNvSpPr>
            <p:nvPr/>
          </p:nvSpPr>
          <p:spPr bwMode="auto">
            <a:xfrm>
              <a:off x="1728" y="2160"/>
              <a:ext cx="72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4370" name="Text Box 18"/>
            <p:cNvSpPr txBox="1">
              <a:spLocks noChangeArrowheads="1"/>
            </p:cNvSpPr>
            <p:nvPr/>
          </p:nvSpPr>
          <p:spPr bwMode="auto">
            <a:xfrm>
              <a:off x="1920" y="211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84371" name="Oval 19"/>
            <p:cNvSpPr>
              <a:spLocks noChangeArrowheads="1"/>
            </p:cNvSpPr>
            <p:nvPr/>
          </p:nvSpPr>
          <p:spPr bwMode="auto">
            <a:xfrm>
              <a:off x="2448" y="1584"/>
              <a:ext cx="192" cy="1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4372" name="Oval 20"/>
            <p:cNvSpPr>
              <a:spLocks noChangeArrowheads="1"/>
            </p:cNvSpPr>
            <p:nvPr/>
          </p:nvSpPr>
          <p:spPr bwMode="auto">
            <a:xfrm>
              <a:off x="3312" y="1584"/>
              <a:ext cx="192" cy="1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4373" name="Oval 21"/>
            <p:cNvSpPr>
              <a:spLocks noChangeArrowheads="1"/>
            </p:cNvSpPr>
            <p:nvPr/>
          </p:nvSpPr>
          <p:spPr bwMode="auto">
            <a:xfrm>
              <a:off x="3312" y="2352"/>
              <a:ext cx="192" cy="1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4374" name="Oval 22"/>
            <p:cNvSpPr>
              <a:spLocks noChangeArrowheads="1"/>
            </p:cNvSpPr>
            <p:nvPr/>
          </p:nvSpPr>
          <p:spPr bwMode="auto">
            <a:xfrm>
              <a:off x="2448" y="2352"/>
              <a:ext cx="192" cy="1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4375" name="Text Box 23"/>
            <p:cNvSpPr txBox="1">
              <a:spLocks noChangeArrowheads="1"/>
            </p:cNvSpPr>
            <p:nvPr/>
          </p:nvSpPr>
          <p:spPr bwMode="auto">
            <a:xfrm>
              <a:off x="2736" y="1536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>
                  <a:ea typeface="宋体" panose="02010600030101010101" pitchFamily="2" charset="-122"/>
                </a:rPr>
                <a:t>N(s)</a:t>
              </a:r>
            </a:p>
          </p:txBody>
        </p:sp>
        <p:sp>
          <p:nvSpPr>
            <p:cNvPr id="484376" name="Text Box 24"/>
            <p:cNvSpPr txBox="1">
              <a:spLocks noChangeArrowheads="1"/>
            </p:cNvSpPr>
            <p:nvPr/>
          </p:nvSpPr>
          <p:spPr bwMode="auto">
            <a:xfrm>
              <a:off x="2736" y="2304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>
                  <a:ea typeface="宋体" panose="02010600030101010101" pitchFamily="2" charset="-122"/>
                </a:rPr>
                <a:t>N(t)</a:t>
              </a:r>
            </a:p>
          </p:txBody>
        </p:sp>
        <p:sp>
          <p:nvSpPr>
            <p:cNvPr id="484377" name="Line 25"/>
            <p:cNvSpPr>
              <a:spLocks noChangeShapeType="1"/>
            </p:cNvSpPr>
            <p:nvPr/>
          </p:nvSpPr>
          <p:spPr bwMode="auto">
            <a:xfrm flipV="1">
              <a:off x="3504" y="2160"/>
              <a:ext cx="528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4378" name="Line 26"/>
            <p:cNvSpPr>
              <a:spLocks noChangeShapeType="1"/>
            </p:cNvSpPr>
            <p:nvPr/>
          </p:nvSpPr>
          <p:spPr bwMode="auto">
            <a:xfrm>
              <a:off x="3504" y="1680"/>
              <a:ext cx="528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4379" name="Text Box 27"/>
            <p:cNvSpPr txBox="1">
              <a:spLocks noChangeArrowheads="1"/>
            </p:cNvSpPr>
            <p:nvPr/>
          </p:nvSpPr>
          <p:spPr bwMode="auto">
            <a:xfrm>
              <a:off x="3744" y="2256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84380" name="Text Box 28"/>
            <p:cNvSpPr txBox="1">
              <a:spLocks noChangeArrowheads="1"/>
            </p:cNvSpPr>
            <p:nvPr/>
          </p:nvSpPr>
          <p:spPr bwMode="auto">
            <a:xfrm>
              <a:off x="3696" y="1584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84381" name="Text Box 29"/>
            <p:cNvSpPr txBox="1">
              <a:spLocks noChangeArrowheads="1"/>
            </p:cNvSpPr>
            <p:nvPr/>
          </p:nvSpPr>
          <p:spPr bwMode="auto">
            <a:xfrm>
              <a:off x="4512" y="1824"/>
              <a:ext cx="10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chemeClr val="accent2"/>
                  </a:solidFill>
                  <a:ea typeface="宋体" panose="02010600030101010101" pitchFamily="2" charset="-122"/>
                </a:rPr>
                <a:t>L(s) </a:t>
              </a:r>
              <a:r>
                <a:rPr lang="en-US" altLang="zh-CN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</a:t>
              </a:r>
              <a:r>
                <a:rPr lang="en-US" altLang="zh-CN">
                  <a:solidFill>
                    <a:schemeClr val="accent2"/>
                  </a:solidFill>
                  <a:ea typeface="宋体" panose="02010600030101010101" pitchFamily="2" charset="-122"/>
                </a:rPr>
                <a:t> L(t)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84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84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435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5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416B9-70BA-43A3-9CBB-9EE7F9068FE6}" type="slidenum">
              <a:rPr lang="zh-CN" altLang="en-US"/>
              <a:pPr/>
              <a:t>8</a:t>
            </a:fld>
            <a:endParaRPr lang="en-US" altLang="zh-CN"/>
          </a:p>
        </p:txBody>
      </p:sp>
      <p:sp>
        <p:nvSpPr>
          <p:cNvPr id="485378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  <a:noFill/>
          <a:ln/>
        </p:spPr>
        <p:txBody>
          <a:bodyPr lIns="92075" tIns="46038" rIns="92075" bIns="46038"/>
          <a:lstStyle/>
          <a:p>
            <a:r>
              <a:rPr lang="en-US" altLang="zh-CN">
                <a:ea typeface="宋体" panose="02010600030101010101" pitchFamily="2" charset="-122"/>
              </a:rPr>
              <a:t>Piecing Together NFAs – continued(2)</a:t>
            </a:r>
          </a:p>
        </p:txBody>
      </p:sp>
      <p:sp>
        <p:nvSpPr>
          <p:cNvPr id="485380" name="Text Box 4"/>
          <p:cNvSpPr txBox="1">
            <a:spLocks noChangeArrowheads="1"/>
          </p:cNvSpPr>
          <p:nvPr/>
        </p:nvSpPr>
        <p:spPr bwMode="auto">
          <a:xfrm>
            <a:off x="1385888" y="1268413"/>
            <a:ext cx="8255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0">
                <a:ea typeface="宋体" panose="02010600030101010101" pitchFamily="2" charset="-122"/>
              </a:rPr>
              <a:t>3.(b) If s, t are regular expressions, N(s), N(t) their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 NFAs st (concatenation) has NFA:</a:t>
            </a:r>
            <a:endParaRPr lang="en-US" altLang="zh-CN" b="0">
              <a:ea typeface="宋体" panose="02010600030101010101" pitchFamily="2" charset="-122"/>
            </a:endParaRPr>
          </a:p>
        </p:txBody>
      </p:sp>
      <p:grpSp>
        <p:nvGrpSpPr>
          <p:cNvPr id="485381" name="Group 5"/>
          <p:cNvGrpSpPr>
            <a:grpSpLocks/>
          </p:cNvGrpSpPr>
          <p:nvPr/>
        </p:nvGrpSpPr>
        <p:grpSpPr bwMode="auto">
          <a:xfrm>
            <a:off x="1963738" y="2335213"/>
            <a:ext cx="4870450" cy="914400"/>
            <a:chOff x="1488" y="2352"/>
            <a:chExt cx="2832" cy="576"/>
          </a:xfrm>
        </p:grpSpPr>
        <p:sp>
          <p:nvSpPr>
            <p:cNvPr id="485382" name="Line 6"/>
            <p:cNvSpPr>
              <a:spLocks noChangeShapeType="1"/>
            </p:cNvSpPr>
            <p:nvPr/>
          </p:nvSpPr>
          <p:spPr bwMode="auto">
            <a:xfrm>
              <a:off x="1536" y="2592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5383" name="Text Box 7"/>
            <p:cNvSpPr txBox="1">
              <a:spLocks noChangeArrowheads="1"/>
            </p:cNvSpPr>
            <p:nvPr/>
          </p:nvSpPr>
          <p:spPr bwMode="auto">
            <a:xfrm>
              <a:off x="1488" y="2400"/>
              <a:ext cx="4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>
                  <a:ea typeface="宋体" panose="02010600030101010101" pitchFamily="2" charset="-122"/>
                </a:rPr>
                <a:t>start</a:t>
              </a:r>
            </a:p>
          </p:txBody>
        </p:sp>
        <p:grpSp>
          <p:nvGrpSpPr>
            <p:cNvPr id="485384" name="Group 8"/>
            <p:cNvGrpSpPr>
              <a:grpSpLocks/>
            </p:cNvGrpSpPr>
            <p:nvPr/>
          </p:nvGrpSpPr>
          <p:grpSpPr bwMode="auto">
            <a:xfrm>
              <a:off x="1968" y="2400"/>
              <a:ext cx="432" cy="432"/>
              <a:chOff x="1392" y="3264"/>
              <a:chExt cx="432" cy="432"/>
            </a:xfrm>
          </p:grpSpPr>
          <p:sp>
            <p:nvSpPr>
              <p:cNvPr id="485385" name="Oval 9"/>
              <p:cNvSpPr>
                <a:spLocks noChangeArrowheads="1"/>
              </p:cNvSpPr>
              <p:nvPr/>
            </p:nvSpPr>
            <p:spPr bwMode="auto">
              <a:xfrm>
                <a:off x="1392" y="3264"/>
                <a:ext cx="432" cy="43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5386" name="Text Box 10"/>
              <p:cNvSpPr txBox="1">
                <a:spLocks noChangeArrowheads="1"/>
              </p:cNvSpPr>
              <p:nvPr/>
            </p:nvSpPr>
            <p:spPr bwMode="auto">
              <a:xfrm>
                <a:off x="1488" y="3312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i="1">
                    <a:ea typeface="宋体" panose="02010600030101010101" pitchFamily="2" charset="-122"/>
                  </a:rPr>
                  <a:t>i</a:t>
                </a:r>
              </a:p>
            </p:txBody>
          </p:sp>
        </p:grpSp>
        <p:grpSp>
          <p:nvGrpSpPr>
            <p:cNvPr id="485387" name="Group 11"/>
            <p:cNvGrpSpPr>
              <a:grpSpLocks/>
            </p:cNvGrpSpPr>
            <p:nvPr/>
          </p:nvGrpSpPr>
          <p:grpSpPr bwMode="auto">
            <a:xfrm>
              <a:off x="3744" y="2400"/>
              <a:ext cx="432" cy="432"/>
              <a:chOff x="4032" y="3264"/>
              <a:chExt cx="432" cy="432"/>
            </a:xfrm>
          </p:grpSpPr>
          <p:sp>
            <p:nvSpPr>
              <p:cNvPr id="485388" name="Oval 12"/>
              <p:cNvSpPr>
                <a:spLocks noChangeArrowheads="1"/>
              </p:cNvSpPr>
              <p:nvPr/>
            </p:nvSpPr>
            <p:spPr bwMode="auto">
              <a:xfrm>
                <a:off x="4032" y="3264"/>
                <a:ext cx="432" cy="43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5389" name="Oval 13"/>
              <p:cNvSpPr>
                <a:spLocks noChangeArrowheads="1"/>
              </p:cNvSpPr>
              <p:nvPr/>
            </p:nvSpPr>
            <p:spPr bwMode="auto">
              <a:xfrm>
                <a:off x="4080" y="3312"/>
                <a:ext cx="336" cy="3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5390" name="Text Box 14"/>
              <p:cNvSpPr txBox="1">
                <a:spLocks noChangeArrowheads="1"/>
              </p:cNvSpPr>
              <p:nvPr/>
            </p:nvSpPr>
            <p:spPr bwMode="auto">
              <a:xfrm>
                <a:off x="4128" y="3312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i="1">
                    <a:ea typeface="宋体" panose="02010600030101010101" pitchFamily="2" charset="-122"/>
                  </a:rPr>
                  <a:t>f</a:t>
                </a:r>
              </a:p>
            </p:txBody>
          </p:sp>
        </p:grpSp>
        <p:sp>
          <p:nvSpPr>
            <p:cNvPr id="485391" name="AutoShape 15"/>
            <p:cNvSpPr>
              <a:spLocks noChangeArrowheads="1"/>
            </p:cNvSpPr>
            <p:nvPr/>
          </p:nvSpPr>
          <p:spPr bwMode="auto">
            <a:xfrm>
              <a:off x="1872" y="2352"/>
              <a:ext cx="1440" cy="576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5392" name="Oval 16"/>
            <p:cNvSpPr>
              <a:spLocks noChangeArrowheads="1"/>
            </p:cNvSpPr>
            <p:nvPr/>
          </p:nvSpPr>
          <p:spPr bwMode="auto">
            <a:xfrm>
              <a:off x="2976" y="2496"/>
              <a:ext cx="192" cy="1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5393" name="Text Box 17"/>
            <p:cNvSpPr txBox="1">
              <a:spLocks noChangeArrowheads="1"/>
            </p:cNvSpPr>
            <p:nvPr/>
          </p:nvSpPr>
          <p:spPr bwMode="auto">
            <a:xfrm>
              <a:off x="2400" y="2448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>
                  <a:ea typeface="宋体" panose="02010600030101010101" pitchFamily="2" charset="-122"/>
                </a:rPr>
                <a:t>N(s)</a:t>
              </a:r>
            </a:p>
          </p:txBody>
        </p:sp>
        <p:sp>
          <p:nvSpPr>
            <p:cNvPr id="485394" name="AutoShape 18"/>
            <p:cNvSpPr>
              <a:spLocks noChangeArrowheads="1"/>
            </p:cNvSpPr>
            <p:nvPr/>
          </p:nvSpPr>
          <p:spPr bwMode="auto">
            <a:xfrm>
              <a:off x="2880" y="2352"/>
              <a:ext cx="1440" cy="576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5395" name="Oval 19"/>
            <p:cNvSpPr>
              <a:spLocks noChangeArrowheads="1"/>
            </p:cNvSpPr>
            <p:nvPr/>
          </p:nvSpPr>
          <p:spPr bwMode="auto">
            <a:xfrm>
              <a:off x="2976" y="2496"/>
              <a:ext cx="192" cy="1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5396" name="Text Box 20"/>
            <p:cNvSpPr txBox="1">
              <a:spLocks noChangeArrowheads="1"/>
            </p:cNvSpPr>
            <p:nvPr/>
          </p:nvSpPr>
          <p:spPr bwMode="auto">
            <a:xfrm>
              <a:off x="3264" y="2448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>
                  <a:ea typeface="宋体" panose="02010600030101010101" pitchFamily="2" charset="-122"/>
                </a:rPr>
                <a:t>N(t)</a:t>
              </a:r>
            </a:p>
          </p:txBody>
        </p:sp>
      </p:grpSp>
      <p:sp>
        <p:nvSpPr>
          <p:cNvPr id="485397" name="Text Box 21"/>
          <p:cNvSpPr txBox="1">
            <a:spLocks noChangeArrowheads="1"/>
          </p:cNvSpPr>
          <p:nvPr/>
        </p:nvSpPr>
        <p:spPr bwMode="auto">
          <a:xfrm>
            <a:off x="7412038" y="2487613"/>
            <a:ext cx="198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L(s) L(t)</a:t>
            </a:r>
          </a:p>
        </p:txBody>
      </p:sp>
      <p:sp>
        <p:nvSpPr>
          <p:cNvPr id="485398" name="Line 22"/>
          <p:cNvSpPr>
            <a:spLocks noChangeShapeType="1"/>
          </p:cNvSpPr>
          <p:nvPr/>
        </p:nvSpPr>
        <p:spPr bwMode="auto">
          <a:xfrm flipH="1" flipV="1">
            <a:off x="4770438" y="2944813"/>
            <a:ext cx="82550" cy="3810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none" w="sm" len="sm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5399" name="Text Box 23"/>
          <p:cNvSpPr txBox="1">
            <a:spLocks noChangeArrowheads="1"/>
          </p:cNvSpPr>
          <p:nvPr/>
        </p:nvSpPr>
        <p:spPr bwMode="auto">
          <a:xfrm>
            <a:off x="1138238" y="3554413"/>
            <a:ext cx="22288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>
                <a:ea typeface="宋体" panose="02010600030101010101" pitchFamily="2" charset="-122"/>
              </a:rPr>
              <a:t>Alternative:</a:t>
            </a:r>
          </a:p>
        </p:txBody>
      </p:sp>
      <p:sp>
        <p:nvSpPr>
          <p:cNvPr id="485400" name="Text Box 24"/>
          <p:cNvSpPr txBox="1">
            <a:spLocks noChangeArrowheads="1"/>
          </p:cNvSpPr>
          <p:nvPr/>
        </p:nvSpPr>
        <p:spPr bwMode="auto">
          <a:xfrm>
            <a:off x="4110038" y="3249613"/>
            <a:ext cx="14859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600">
                <a:solidFill>
                  <a:srgbClr val="660066"/>
                </a:solidFill>
                <a:ea typeface="宋体" panose="02010600030101010101" pitchFamily="2" charset="-122"/>
              </a:rPr>
              <a:t>overlap</a:t>
            </a:r>
          </a:p>
        </p:txBody>
      </p:sp>
      <p:grpSp>
        <p:nvGrpSpPr>
          <p:cNvPr id="485401" name="Group 25"/>
          <p:cNvGrpSpPr>
            <a:grpSpLocks/>
          </p:cNvGrpSpPr>
          <p:nvPr/>
        </p:nvGrpSpPr>
        <p:grpSpPr bwMode="auto">
          <a:xfrm>
            <a:off x="560388" y="4164013"/>
            <a:ext cx="8997950" cy="762000"/>
            <a:chOff x="336" y="3504"/>
            <a:chExt cx="5232" cy="480"/>
          </a:xfrm>
        </p:grpSpPr>
        <p:grpSp>
          <p:nvGrpSpPr>
            <p:cNvPr id="485402" name="Group 26"/>
            <p:cNvGrpSpPr>
              <a:grpSpLocks/>
            </p:cNvGrpSpPr>
            <p:nvPr/>
          </p:nvGrpSpPr>
          <p:grpSpPr bwMode="auto">
            <a:xfrm>
              <a:off x="1632" y="3552"/>
              <a:ext cx="1344" cy="432"/>
              <a:chOff x="2352" y="2928"/>
              <a:chExt cx="1344" cy="432"/>
            </a:xfrm>
          </p:grpSpPr>
          <p:sp>
            <p:nvSpPr>
              <p:cNvPr id="485403" name="Text Box 27"/>
              <p:cNvSpPr txBox="1">
                <a:spLocks noChangeArrowheads="1"/>
              </p:cNvSpPr>
              <p:nvPr/>
            </p:nvSpPr>
            <p:spPr bwMode="auto">
              <a:xfrm>
                <a:off x="2400" y="2976"/>
                <a:ext cx="115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endParaRPr lang="zh-CN" altLang="en-US" sz="1600">
                  <a:solidFill>
                    <a:srgbClr val="00CC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85404" name="AutoShape 28"/>
              <p:cNvSpPr>
                <a:spLocks noChangeArrowheads="1"/>
              </p:cNvSpPr>
              <p:nvPr/>
            </p:nvSpPr>
            <p:spPr bwMode="auto">
              <a:xfrm>
                <a:off x="2352" y="2928"/>
                <a:ext cx="1344" cy="432"/>
              </a:xfrm>
              <a:prstGeom prst="roundRect">
                <a:avLst>
                  <a:gd name="adj" fmla="val 16667"/>
                </a:avLst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5405" name="Oval 29"/>
              <p:cNvSpPr>
                <a:spLocks noChangeArrowheads="1"/>
              </p:cNvSpPr>
              <p:nvPr/>
            </p:nvSpPr>
            <p:spPr bwMode="auto">
              <a:xfrm>
                <a:off x="2496" y="3024"/>
                <a:ext cx="192" cy="19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5406" name="Oval 30"/>
              <p:cNvSpPr>
                <a:spLocks noChangeArrowheads="1"/>
              </p:cNvSpPr>
              <p:nvPr/>
            </p:nvSpPr>
            <p:spPr bwMode="auto">
              <a:xfrm>
                <a:off x="3360" y="3024"/>
                <a:ext cx="192" cy="19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5407" name="Text Box 31"/>
              <p:cNvSpPr txBox="1">
                <a:spLocks noChangeArrowheads="1"/>
              </p:cNvSpPr>
              <p:nvPr/>
            </p:nvSpPr>
            <p:spPr bwMode="auto">
              <a:xfrm>
                <a:off x="2784" y="2976"/>
                <a:ext cx="52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>
                    <a:ea typeface="宋体" panose="02010600030101010101" pitchFamily="2" charset="-122"/>
                  </a:rPr>
                  <a:t>N(s)</a:t>
                </a:r>
              </a:p>
            </p:txBody>
          </p:sp>
        </p:grpSp>
        <p:sp>
          <p:nvSpPr>
            <p:cNvPr id="485408" name="Line 32"/>
            <p:cNvSpPr>
              <a:spLocks noChangeShapeType="1"/>
            </p:cNvSpPr>
            <p:nvPr/>
          </p:nvSpPr>
          <p:spPr bwMode="auto">
            <a:xfrm flipV="1">
              <a:off x="1296" y="3744"/>
              <a:ext cx="4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5409" name="Text Box 33"/>
            <p:cNvSpPr txBox="1">
              <a:spLocks noChangeArrowheads="1"/>
            </p:cNvSpPr>
            <p:nvPr/>
          </p:nvSpPr>
          <p:spPr bwMode="auto">
            <a:xfrm>
              <a:off x="1296" y="355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85410" name="Text Box 34"/>
            <p:cNvSpPr txBox="1">
              <a:spLocks noChangeArrowheads="1"/>
            </p:cNvSpPr>
            <p:nvPr/>
          </p:nvSpPr>
          <p:spPr bwMode="auto">
            <a:xfrm>
              <a:off x="336" y="3552"/>
              <a:ext cx="4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>
                  <a:ea typeface="宋体" panose="02010600030101010101" pitchFamily="2" charset="-122"/>
                </a:rPr>
                <a:t>start</a:t>
              </a:r>
            </a:p>
          </p:txBody>
        </p:sp>
        <p:grpSp>
          <p:nvGrpSpPr>
            <p:cNvPr id="485411" name="Group 35"/>
            <p:cNvGrpSpPr>
              <a:grpSpLocks/>
            </p:cNvGrpSpPr>
            <p:nvPr/>
          </p:nvGrpSpPr>
          <p:grpSpPr bwMode="auto">
            <a:xfrm>
              <a:off x="432" y="3504"/>
              <a:ext cx="864" cy="432"/>
              <a:chOff x="960" y="3264"/>
              <a:chExt cx="864" cy="432"/>
            </a:xfrm>
          </p:grpSpPr>
          <p:sp>
            <p:nvSpPr>
              <p:cNvPr id="485412" name="Oval 36"/>
              <p:cNvSpPr>
                <a:spLocks noChangeArrowheads="1"/>
              </p:cNvSpPr>
              <p:nvPr/>
            </p:nvSpPr>
            <p:spPr bwMode="auto">
              <a:xfrm>
                <a:off x="1392" y="3264"/>
                <a:ext cx="432" cy="43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5413" name="Line 37"/>
              <p:cNvSpPr>
                <a:spLocks noChangeShapeType="1"/>
              </p:cNvSpPr>
              <p:nvPr/>
            </p:nvSpPr>
            <p:spPr bwMode="auto">
              <a:xfrm>
                <a:off x="960" y="3504"/>
                <a:ext cx="43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5414" name="Text Box 38"/>
              <p:cNvSpPr txBox="1">
                <a:spLocks noChangeArrowheads="1"/>
              </p:cNvSpPr>
              <p:nvPr/>
            </p:nvSpPr>
            <p:spPr bwMode="auto">
              <a:xfrm>
                <a:off x="1488" y="3312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i="1">
                    <a:ea typeface="宋体" panose="02010600030101010101" pitchFamily="2" charset="-122"/>
                  </a:rPr>
                  <a:t>i</a:t>
                </a:r>
              </a:p>
            </p:txBody>
          </p:sp>
        </p:grpSp>
        <p:grpSp>
          <p:nvGrpSpPr>
            <p:cNvPr id="485415" name="Group 39"/>
            <p:cNvGrpSpPr>
              <a:grpSpLocks/>
            </p:cNvGrpSpPr>
            <p:nvPr/>
          </p:nvGrpSpPr>
          <p:grpSpPr bwMode="auto">
            <a:xfrm>
              <a:off x="5136" y="3504"/>
              <a:ext cx="432" cy="432"/>
              <a:chOff x="4032" y="3264"/>
              <a:chExt cx="432" cy="432"/>
            </a:xfrm>
          </p:grpSpPr>
          <p:sp>
            <p:nvSpPr>
              <p:cNvPr id="485416" name="Oval 40"/>
              <p:cNvSpPr>
                <a:spLocks noChangeArrowheads="1"/>
              </p:cNvSpPr>
              <p:nvPr/>
            </p:nvSpPr>
            <p:spPr bwMode="auto">
              <a:xfrm>
                <a:off x="4032" y="3264"/>
                <a:ext cx="432" cy="43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5417" name="Oval 41"/>
              <p:cNvSpPr>
                <a:spLocks noChangeArrowheads="1"/>
              </p:cNvSpPr>
              <p:nvPr/>
            </p:nvSpPr>
            <p:spPr bwMode="auto">
              <a:xfrm>
                <a:off x="4080" y="3312"/>
                <a:ext cx="336" cy="3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5418" name="Text Box 42"/>
              <p:cNvSpPr txBox="1">
                <a:spLocks noChangeArrowheads="1"/>
              </p:cNvSpPr>
              <p:nvPr/>
            </p:nvSpPr>
            <p:spPr bwMode="auto">
              <a:xfrm>
                <a:off x="4128" y="3312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i="1">
                    <a:ea typeface="宋体" panose="02010600030101010101" pitchFamily="2" charset="-122"/>
                  </a:rPr>
                  <a:t>f</a:t>
                </a:r>
              </a:p>
            </p:txBody>
          </p:sp>
        </p:grpSp>
        <p:grpSp>
          <p:nvGrpSpPr>
            <p:cNvPr id="485419" name="Group 43"/>
            <p:cNvGrpSpPr>
              <a:grpSpLocks/>
            </p:cNvGrpSpPr>
            <p:nvPr/>
          </p:nvGrpSpPr>
          <p:grpSpPr bwMode="auto">
            <a:xfrm>
              <a:off x="3408" y="3552"/>
              <a:ext cx="1344" cy="432"/>
              <a:chOff x="2352" y="2928"/>
              <a:chExt cx="1344" cy="432"/>
            </a:xfrm>
          </p:grpSpPr>
          <p:sp>
            <p:nvSpPr>
              <p:cNvPr id="485420" name="Text Box 44"/>
              <p:cNvSpPr txBox="1">
                <a:spLocks noChangeArrowheads="1"/>
              </p:cNvSpPr>
              <p:nvPr/>
            </p:nvSpPr>
            <p:spPr bwMode="auto">
              <a:xfrm>
                <a:off x="2400" y="2976"/>
                <a:ext cx="115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endParaRPr lang="zh-CN" altLang="en-US" sz="1600">
                  <a:solidFill>
                    <a:srgbClr val="00CC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85421" name="AutoShape 45"/>
              <p:cNvSpPr>
                <a:spLocks noChangeArrowheads="1"/>
              </p:cNvSpPr>
              <p:nvPr/>
            </p:nvSpPr>
            <p:spPr bwMode="auto">
              <a:xfrm>
                <a:off x="2352" y="2928"/>
                <a:ext cx="1344" cy="432"/>
              </a:xfrm>
              <a:prstGeom prst="roundRect">
                <a:avLst>
                  <a:gd name="adj" fmla="val 16667"/>
                </a:avLst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5422" name="Oval 46"/>
              <p:cNvSpPr>
                <a:spLocks noChangeArrowheads="1"/>
              </p:cNvSpPr>
              <p:nvPr/>
            </p:nvSpPr>
            <p:spPr bwMode="auto">
              <a:xfrm>
                <a:off x="2496" y="3024"/>
                <a:ext cx="192" cy="19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5423" name="Oval 47"/>
              <p:cNvSpPr>
                <a:spLocks noChangeArrowheads="1"/>
              </p:cNvSpPr>
              <p:nvPr/>
            </p:nvSpPr>
            <p:spPr bwMode="auto">
              <a:xfrm>
                <a:off x="3360" y="3024"/>
                <a:ext cx="192" cy="19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5424" name="Text Box 48"/>
              <p:cNvSpPr txBox="1">
                <a:spLocks noChangeArrowheads="1"/>
              </p:cNvSpPr>
              <p:nvPr/>
            </p:nvSpPr>
            <p:spPr bwMode="auto">
              <a:xfrm>
                <a:off x="2784" y="2976"/>
                <a:ext cx="52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>
                    <a:ea typeface="宋体" panose="02010600030101010101" pitchFamily="2" charset="-122"/>
                  </a:rPr>
                  <a:t>N(t)</a:t>
                </a:r>
              </a:p>
            </p:txBody>
          </p:sp>
        </p:grpSp>
        <p:sp>
          <p:nvSpPr>
            <p:cNvPr id="485425" name="Line 49"/>
            <p:cNvSpPr>
              <a:spLocks noChangeShapeType="1"/>
            </p:cNvSpPr>
            <p:nvPr/>
          </p:nvSpPr>
          <p:spPr bwMode="auto">
            <a:xfrm flipV="1">
              <a:off x="2832" y="3744"/>
              <a:ext cx="7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5426" name="Line 50"/>
            <p:cNvSpPr>
              <a:spLocks noChangeShapeType="1"/>
            </p:cNvSpPr>
            <p:nvPr/>
          </p:nvSpPr>
          <p:spPr bwMode="auto">
            <a:xfrm flipV="1">
              <a:off x="4608" y="3744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5427" name="Text Box 51"/>
            <p:cNvSpPr txBox="1">
              <a:spLocks noChangeArrowheads="1"/>
            </p:cNvSpPr>
            <p:nvPr/>
          </p:nvSpPr>
          <p:spPr bwMode="auto">
            <a:xfrm>
              <a:off x="4704" y="355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85428" name="Text Box 52"/>
            <p:cNvSpPr txBox="1">
              <a:spLocks noChangeArrowheads="1"/>
            </p:cNvSpPr>
            <p:nvPr/>
          </p:nvSpPr>
          <p:spPr bwMode="auto">
            <a:xfrm>
              <a:off x="3024" y="355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</p:grpSp>
      <p:sp>
        <p:nvSpPr>
          <p:cNvPr id="485429" name="Text Box 53"/>
          <p:cNvSpPr txBox="1">
            <a:spLocks noChangeArrowheads="1"/>
          </p:cNvSpPr>
          <p:nvPr/>
        </p:nvSpPr>
        <p:spPr bwMode="auto">
          <a:xfrm>
            <a:off x="1403350" y="5334000"/>
            <a:ext cx="817245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</a:rPr>
              <a:t>where </a:t>
            </a:r>
            <a:r>
              <a:rPr lang="en-US" altLang="zh-CN" b="0" i="1">
                <a:solidFill>
                  <a:schemeClr val="accent2"/>
                </a:solidFill>
                <a:ea typeface="宋体" panose="02010600030101010101" pitchFamily="2" charset="-122"/>
              </a:rPr>
              <a:t>i</a:t>
            </a: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</a:rPr>
              <a:t> is the start state of N(s) (or new under the alternative) and </a:t>
            </a:r>
            <a:r>
              <a:rPr lang="en-US" altLang="zh-CN" b="0" i="1">
                <a:solidFill>
                  <a:schemeClr val="accent2"/>
                </a:solidFill>
                <a:ea typeface="宋体" panose="02010600030101010101" pitchFamily="2" charset="-122"/>
              </a:rPr>
              <a:t>f</a:t>
            </a: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</a:rPr>
              <a:t> is the final state of N(t) (or new).  Overlap maps final states of N(s) to start state of N(t).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85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8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48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485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48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485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5397" grpId="0"/>
      <p:bldP spid="485399" grpId="0"/>
      <p:bldP spid="48540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3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3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C7F7-F4BB-461D-B43E-50469F6B01DC}" type="slidenum">
              <a:rPr lang="zh-CN" altLang="en-US"/>
              <a:pPr/>
              <a:t>9</a:t>
            </a:fld>
            <a:endParaRPr lang="en-US" altLang="zh-CN"/>
          </a:p>
        </p:txBody>
      </p:sp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  <a:noFill/>
          <a:ln/>
        </p:spPr>
        <p:txBody>
          <a:bodyPr lIns="92075" tIns="46038" rIns="92075" bIns="46038"/>
          <a:lstStyle/>
          <a:p>
            <a:r>
              <a:rPr lang="en-US" altLang="zh-CN">
                <a:ea typeface="宋体" panose="02010600030101010101" pitchFamily="2" charset="-122"/>
              </a:rPr>
              <a:t>Piecing Together NFAs – continued(3)</a:t>
            </a:r>
          </a:p>
        </p:txBody>
      </p:sp>
      <p:grpSp>
        <p:nvGrpSpPr>
          <p:cNvPr id="486403" name="Group 3"/>
          <p:cNvGrpSpPr>
            <a:grpSpLocks/>
          </p:cNvGrpSpPr>
          <p:nvPr/>
        </p:nvGrpSpPr>
        <p:grpSpPr bwMode="auto">
          <a:xfrm>
            <a:off x="7016750" y="2514600"/>
            <a:ext cx="742950" cy="685800"/>
            <a:chOff x="4032" y="3264"/>
            <a:chExt cx="432" cy="432"/>
          </a:xfrm>
        </p:grpSpPr>
        <p:sp>
          <p:nvSpPr>
            <p:cNvPr id="486404" name="Oval 4"/>
            <p:cNvSpPr>
              <a:spLocks noChangeArrowheads="1"/>
            </p:cNvSpPr>
            <p:nvPr/>
          </p:nvSpPr>
          <p:spPr bwMode="auto">
            <a:xfrm>
              <a:off x="4032" y="3264"/>
              <a:ext cx="432" cy="43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6405" name="Oval 5"/>
            <p:cNvSpPr>
              <a:spLocks noChangeArrowheads="1"/>
            </p:cNvSpPr>
            <p:nvPr/>
          </p:nvSpPr>
          <p:spPr bwMode="auto">
            <a:xfrm>
              <a:off x="4080" y="3312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6406" name="Text Box 6"/>
            <p:cNvSpPr txBox="1">
              <a:spLocks noChangeArrowheads="1"/>
            </p:cNvSpPr>
            <p:nvPr/>
          </p:nvSpPr>
          <p:spPr bwMode="auto">
            <a:xfrm>
              <a:off x="4128" y="331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i="1">
                  <a:ea typeface="宋体" panose="02010600030101010101" pitchFamily="2" charset="-122"/>
                </a:rPr>
                <a:t>f</a:t>
              </a:r>
            </a:p>
          </p:txBody>
        </p:sp>
      </p:grpSp>
      <p:grpSp>
        <p:nvGrpSpPr>
          <p:cNvPr id="486407" name="Group 7"/>
          <p:cNvGrpSpPr>
            <a:grpSpLocks/>
          </p:cNvGrpSpPr>
          <p:nvPr/>
        </p:nvGrpSpPr>
        <p:grpSpPr bwMode="auto">
          <a:xfrm>
            <a:off x="1485900" y="2514600"/>
            <a:ext cx="5530850" cy="762000"/>
            <a:chOff x="288" y="2544"/>
            <a:chExt cx="3216" cy="480"/>
          </a:xfrm>
        </p:grpSpPr>
        <p:grpSp>
          <p:nvGrpSpPr>
            <p:cNvPr id="486408" name="Group 8"/>
            <p:cNvGrpSpPr>
              <a:grpSpLocks/>
            </p:cNvGrpSpPr>
            <p:nvPr/>
          </p:nvGrpSpPr>
          <p:grpSpPr bwMode="auto">
            <a:xfrm>
              <a:off x="1584" y="2592"/>
              <a:ext cx="1344" cy="432"/>
              <a:chOff x="2352" y="2928"/>
              <a:chExt cx="1344" cy="432"/>
            </a:xfrm>
          </p:grpSpPr>
          <p:sp>
            <p:nvSpPr>
              <p:cNvPr id="486409" name="Text Box 9"/>
              <p:cNvSpPr txBox="1">
                <a:spLocks noChangeArrowheads="1"/>
              </p:cNvSpPr>
              <p:nvPr/>
            </p:nvSpPr>
            <p:spPr bwMode="auto">
              <a:xfrm>
                <a:off x="2400" y="2976"/>
                <a:ext cx="115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endParaRPr lang="zh-CN" altLang="en-US" sz="1600">
                  <a:solidFill>
                    <a:srgbClr val="00CC00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86410" name="AutoShape 10"/>
              <p:cNvSpPr>
                <a:spLocks noChangeArrowheads="1"/>
              </p:cNvSpPr>
              <p:nvPr/>
            </p:nvSpPr>
            <p:spPr bwMode="auto">
              <a:xfrm>
                <a:off x="2352" y="2928"/>
                <a:ext cx="1344" cy="432"/>
              </a:xfrm>
              <a:prstGeom prst="roundRect">
                <a:avLst>
                  <a:gd name="adj" fmla="val 16667"/>
                </a:avLst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6411" name="Oval 11"/>
              <p:cNvSpPr>
                <a:spLocks noChangeArrowheads="1"/>
              </p:cNvSpPr>
              <p:nvPr/>
            </p:nvSpPr>
            <p:spPr bwMode="auto">
              <a:xfrm>
                <a:off x="2496" y="3024"/>
                <a:ext cx="192" cy="19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6412" name="Oval 12"/>
              <p:cNvSpPr>
                <a:spLocks noChangeArrowheads="1"/>
              </p:cNvSpPr>
              <p:nvPr/>
            </p:nvSpPr>
            <p:spPr bwMode="auto">
              <a:xfrm>
                <a:off x="3360" y="3024"/>
                <a:ext cx="192" cy="19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6413" name="Text Box 13"/>
              <p:cNvSpPr txBox="1">
                <a:spLocks noChangeArrowheads="1"/>
              </p:cNvSpPr>
              <p:nvPr/>
            </p:nvSpPr>
            <p:spPr bwMode="auto">
              <a:xfrm>
                <a:off x="2784" y="2976"/>
                <a:ext cx="52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>
                    <a:ea typeface="宋体" panose="02010600030101010101" pitchFamily="2" charset="-122"/>
                  </a:rPr>
                  <a:t>N(s)</a:t>
                </a:r>
              </a:p>
            </p:txBody>
          </p:sp>
        </p:grpSp>
        <p:sp>
          <p:nvSpPr>
            <p:cNvPr id="486414" name="Line 14"/>
            <p:cNvSpPr>
              <a:spLocks noChangeShapeType="1"/>
            </p:cNvSpPr>
            <p:nvPr/>
          </p:nvSpPr>
          <p:spPr bwMode="auto">
            <a:xfrm flipV="1">
              <a:off x="1248" y="2784"/>
              <a:ext cx="4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6415" name="Text Box 15"/>
            <p:cNvSpPr txBox="1">
              <a:spLocks noChangeArrowheads="1"/>
            </p:cNvSpPr>
            <p:nvPr/>
          </p:nvSpPr>
          <p:spPr bwMode="auto">
            <a:xfrm>
              <a:off x="1248" y="259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86416" name="Text Box 16"/>
            <p:cNvSpPr txBox="1">
              <a:spLocks noChangeArrowheads="1"/>
            </p:cNvSpPr>
            <p:nvPr/>
          </p:nvSpPr>
          <p:spPr bwMode="auto">
            <a:xfrm>
              <a:off x="288" y="2592"/>
              <a:ext cx="4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600">
                  <a:ea typeface="宋体" panose="02010600030101010101" pitchFamily="2" charset="-122"/>
                </a:rPr>
                <a:t>start</a:t>
              </a:r>
            </a:p>
          </p:txBody>
        </p:sp>
        <p:grpSp>
          <p:nvGrpSpPr>
            <p:cNvPr id="486417" name="Group 17"/>
            <p:cNvGrpSpPr>
              <a:grpSpLocks/>
            </p:cNvGrpSpPr>
            <p:nvPr/>
          </p:nvGrpSpPr>
          <p:grpSpPr bwMode="auto">
            <a:xfrm>
              <a:off x="384" y="2544"/>
              <a:ext cx="864" cy="432"/>
              <a:chOff x="960" y="3264"/>
              <a:chExt cx="864" cy="432"/>
            </a:xfrm>
          </p:grpSpPr>
          <p:sp>
            <p:nvSpPr>
              <p:cNvPr id="486418" name="Oval 18"/>
              <p:cNvSpPr>
                <a:spLocks noChangeArrowheads="1"/>
              </p:cNvSpPr>
              <p:nvPr/>
            </p:nvSpPr>
            <p:spPr bwMode="auto">
              <a:xfrm>
                <a:off x="1392" y="3264"/>
                <a:ext cx="432" cy="43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6419" name="Line 19"/>
              <p:cNvSpPr>
                <a:spLocks noChangeShapeType="1"/>
              </p:cNvSpPr>
              <p:nvPr/>
            </p:nvSpPr>
            <p:spPr bwMode="auto">
              <a:xfrm>
                <a:off x="960" y="3504"/>
                <a:ext cx="43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6420" name="Text Box 20"/>
              <p:cNvSpPr txBox="1">
                <a:spLocks noChangeArrowheads="1"/>
              </p:cNvSpPr>
              <p:nvPr/>
            </p:nvSpPr>
            <p:spPr bwMode="auto">
              <a:xfrm>
                <a:off x="1488" y="3312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i="1">
                    <a:ea typeface="宋体" panose="02010600030101010101" pitchFamily="2" charset="-122"/>
                  </a:rPr>
                  <a:t>i</a:t>
                </a:r>
              </a:p>
            </p:txBody>
          </p:sp>
        </p:grpSp>
        <p:sp>
          <p:nvSpPr>
            <p:cNvPr id="486421" name="Line 21"/>
            <p:cNvSpPr>
              <a:spLocks noChangeShapeType="1"/>
            </p:cNvSpPr>
            <p:nvPr/>
          </p:nvSpPr>
          <p:spPr bwMode="auto">
            <a:xfrm flipV="1">
              <a:off x="2784" y="2784"/>
              <a:ext cx="72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6422" name="Text Box 22"/>
            <p:cNvSpPr txBox="1">
              <a:spLocks noChangeArrowheads="1"/>
            </p:cNvSpPr>
            <p:nvPr/>
          </p:nvSpPr>
          <p:spPr bwMode="auto">
            <a:xfrm>
              <a:off x="2976" y="259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</p:grpSp>
      <p:cxnSp>
        <p:nvCxnSpPr>
          <p:cNvPr id="486423" name="AutoShape 23"/>
          <p:cNvCxnSpPr>
            <a:cxnSpLocks noChangeShapeType="1"/>
            <a:stCxn id="486418" idx="4"/>
            <a:endCxn id="486404" idx="3"/>
          </p:cNvCxnSpPr>
          <p:nvPr/>
        </p:nvCxnSpPr>
        <p:spPr bwMode="auto">
          <a:xfrm rot="5400000" flipH="1" flipV="1">
            <a:off x="4895851" y="969962"/>
            <a:ext cx="100012" cy="4360863"/>
          </a:xfrm>
          <a:prstGeom prst="curvedConnector3">
            <a:avLst>
              <a:gd name="adj1" fmla="val -553972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86424" name="AutoShape 24"/>
          <p:cNvCxnSpPr>
            <a:cxnSpLocks noChangeShapeType="1"/>
            <a:stCxn id="486421" idx="0"/>
            <a:endCxn id="486411" idx="0"/>
          </p:cNvCxnSpPr>
          <p:nvPr/>
        </p:nvCxnSpPr>
        <p:spPr bwMode="auto">
          <a:xfrm rot="16200000" flipV="1">
            <a:off x="4870450" y="2000250"/>
            <a:ext cx="165100" cy="1651000"/>
          </a:xfrm>
          <a:prstGeom prst="curvedConnector5">
            <a:avLst>
              <a:gd name="adj1" fmla="val 362500"/>
              <a:gd name="adj2" fmla="val 59324"/>
              <a:gd name="adj3" fmla="val 346153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86425" name="Text Box 25"/>
          <p:cNvSpPr txBox="1">
            <a:spLocks noChangeArrowheads="1"/>
          </p:cNvSpPr>
          <p:nvPr/>
        </p:nvSpPr>
        <p:spPr bwMode="auto">
          <a:xfrm>
            <a:off x="4622800" y="1989138"/>
            <a:ext cx="660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1800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486426" name="Text Box 26"/>
          <p:cNvSpPr txBox="1">
            <a:spLocks noChangeArrowheads="1"/>
          </p:cNvSpPr>
          <p:nvPr/>
        </p:nvSpPr>
        <p:spPr bwMode="auto">
          <a:xfrm>
            <a:off x="4622800" y="3709988"/>
            <a:ext cx="660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1800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486427" name="Text Box 27"/>
          <p:cNvSpPr txBox="1">
            <a:spLocks noChangeArrowheads="1"/>
          </p:cNvSpPr>
          <p:nvPr/>
        </p:nvSpPr>
        <p:spPr bwMode="auto">
          <a:xfrm>
            <a:off x="1485900" y="4495800"/>
            <a:ext cx="7067550" cy="177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</a:rPr>
              <a:t>where :  </a:t>
            </a:r>
            <a:r>
              <a:rPr lang="en-US" altLang="zh-CN" b="0" i="1">
                <a:solidFill>
                  <a:schemeClr val="accent2"/>
                </a:solidFill>
                <a:ea typeface="宋体" panose="02010600030101010101" pitchFamily="2" charset="-122"/>
              </a:rPr>
              <a:t>i </a:t>
            </a: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</a:rPr>
              <a:t>is new start state and </a:t>
            </a:r>
            <a:r>
              <a:rPr lang="en-US" altLang="zh-CN" b="0" i="1">
                <a:solidFill>
                  <a:schemeClr val="accent2"/>
                </a:solidFill>
                <a:ea typeface="宋体" panose="02010600030101010101" pitchFamily="2" charset="-122"/>
              </a:rPr>
              <a:t>f</a:t>
            </a: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</a:rPr>
              <a:t> is new final state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</a:rPr>
              <a:t>               </a:t>
            </a: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-move </a:t>
            </a:r>
            <a:r>
              <a:rPr lang="en-US" altLang="zh-CN" b="0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to </a:t>
            </a:r>
            <a:r>
              <a:rPr lang="en-US" altLang="zh-CN" b="0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(to accept null string)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         -moves </a:t>
            </a:r>
            <a:r>
              <a:rPr lang="en-US" altLang="zh-CN" b="0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to old start, old final(s) to </a:t>
            </a:r>
            <a:r>
              <a:rPr lang="en-US" altLang="zh-CN" b="0" i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endParaRPr lang="en-US" altLang="zh-CN" b="0">
              <a:solidFill>
                <a:schemeClr val="accent2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         -move old final to old start  (</a:t>
            </a:r>
            <a:r>
              <a:rPr lang="en-US" altLang="zh-CN" b="0">
                <a:solidFill>
                  <a:srgbClr val="FF33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why?</a:t>
            </a: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en-US" altLang="zh-CN" b="0">
              <a:solidFill>
                <a:srgbClr val="FF33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86428" name="Text Box 28"/>
          <p:cNvSpPr txBox="1">
            <a:spLocks noChangeArrowheads="1"/>
          </p:cNvSpPr>
          <p:nvPr/>
        </p:nvSpPr>
        <p:spPr bwMode="auto">
          <a:xfrm>
            <a:off x="1320800" y="1143000"/>
            <a:ext cx="8255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0">
                <a:ea typeface="宋体" panose="02010600030101010101" pitchFamily="2" charset="-122"/>
              </a:rPr>
              <a:t>3.(c) If s is a regular expressions, N(s) its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 NFA,  s* (Kleene star) has NFA:</a:t>
            </a:r>
            <a:endParaRPr lang="en-US" altLang="zh-CN" b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8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8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486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486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486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86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6425" grpId="0"/>
      <p:bldP spid="4864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0552B-D9D1-4960-941E-7CFA76463C32}" type="slidenum">
              <a:rPr lang="zh-CN" altLang="en-US"/>
              <a:pPr/>
              <a:t>10</a:t>
            </a:fld>
            <a:endParaRPr lang="en-US" altLang="zh-CN"/>
          </a:p>
        </p:txBody>
      </p:sp>
      <p:sp>
        <p:nvSpPr>
          <p:cNvPr id="4874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  <a:noFill/>
          <a:ln/>
        </p:spPr>
        <p:txBody>
          <a:bodyPr lIns="92075" tIns="46038" rIns="92075" bIns="46038"/>
          <a:lstStyle/>
          <a:p>
            <a:r>
              <a:rPr lang="en-US" altLang="zh-CN">
                <a:ea typeface="宋体" panose="02010600030101010101" pitchFamily="2" charset="-122"/>
              </a:rPr>
              <a:t>Properties of Construction (P.124) </a:t>
            </a:r>
          </a:p>
        </p:txBody>
      </p:sp>
      <p:sp>
        <p:nvSpPr>
          <p:cNvPr id="487427" name="Text Box 3"/>
          <p:cNvSpPr txBox="1">
            <a:spLocks noChangeArrowheads="1"/>
          </p:cNvSpPr>
          <p:nvPr/>
        </p:nvSpPr>
        <p:spPr bwMode="auto">
          <a:xfrm>
            <a:off x="1136650" y="2133600"/>
            <a:ext cx="8089900" cy="290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zh-CN" b="0">
                <a:ea typeface="宋体" panose="02010600030101010101" pitchFamily="2" charset="-122"/>
              </a:rPr>
              <a:t>N(r) has #of states 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 </a:t>
            </a:r>
            <a:r>
              <a:rPr lang="en-US" altLang="zh-CN" b="0">
                <a:ea typeface="宋体" panose="02010600030101010101" pitchFamily="2" charset="-122"/>
              </a:rPr>
              <a:t>2*(#symbols + #operators) of r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FontTx/>
              <a:buAutoNum type="arabicPeriod"/>
            </a:pPr>
            <a:r>
              <a:rPr lang="en-US" altLang="zh-CN" b="0">
                <a:ea typeface="宋体" panose="02010600030101010101" pitchFamily="2" charset="-122"/>
              </a:rPr>
              <a:t>N(r) has exactly one start and one accepting state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FontTx/>
              <a:buAutoNum type="arabicPeriod"/>
            </a:pPr>
            <a:r>
              <a:rPr lang="en-US" altLang="zh-CN" b="0">
                <a:ea typeface="宋体" panose="02010600030101010101" pitchFamily="2" charset="-122"/>
              </a:rPr>
              <a:t>Each state of N(r) has at most one outgoing edge a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 or at most two outgoing ’s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FontTx/>
              <a:buAutoNum type="arabicPeriod"/>
            </a:pP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BE CAREFUL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 to assign unique names to all states !</a:t>
            </a:r>
            <a:endParaRPr lang="en-US" altLang="zh-CN" b="0">
              <a:ea typeface="宋体" panose="02010600030101010101" pitchFamily="2" charset="-122"/>
            </a:endParaRPr>
          </a:p>
        </p:txBody>
      </p:sp>
      <p:sp>
        <p:nvSpPr>
          <p:cNvPr id="487428" name="Text Box 4"/>
          <p:cNvSpPr txBox="1">
            <a:spLocks noChangeArrowheads="1"/>
          </p:cNvSpPr>
          <p:nvPr/>
        </p:nvSpPr>
        <p:spPr bwMode="auto">
          <a:xfrm>
            <a:off x="1403350" y="1371600"/>
            <a:ext cx="6318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zh-CN" b="0">
                <a:ea typeface="宋体" panose="02010600030101010101" pitchFamily="2" charset="-122"/>
              </a:rPr>
              <a:t>Let r be a regular expression, with NFA N(r), then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127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12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6A0156-027C-429D-9B79-D1F538FF5FD3}" type="slidenum">
              <a:rPr lang="zh-CN" altLang="en-US"/>
              <a:pPr/>
              <a:t>11</a:t>
            </a:fld>
            <a:endParaRPr lang="en-US" altLang="zh-CN"/>
          </a:p>
        </p:txBody>
      </p:sp>
      <p:sp>
        <p:nvSpPr>
          <p:cNvPr id="496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Thompson’s Construction Example3.16 - </a:t>
            </a:r>
            <a:r>
              <a:rPr lang="en-US" altLang="zh-CN" sz="2800" b="0">
                <a:solidFill>
                  <a:schemeClr val="tx1"/>
                </a:solidFill>
                <a:ea typeface="宋体" panose="02010600030101010101" pitchFamily="2" charset="-122"/>
              </a:rPr>
              <a:t>(a|b) </a:t>
            </a:r>
            <a:r>
              <a:rPr lang="en-US" altLang="zh-CN" sz="2800" b="0" baseline="30000">
                <a:solidFill>
                  <a:schemeClr val="tx1"/>
                </a:solidFill>
                <a:ea typeface="宋体" panose="02010600030101010101" pitchFamily="2" charset="-122"/>
              </a:rPr>
              <a:t>* </a:t>
            </a:r>
            <a:r>
              <a:rPr lang="en-US" altLang="zh-CN" sz="2800" b="0">
                <a:solidFill>
                  <a:schemeClr val="tx1"/>
                </a:solidFill>
                <a:ea typeface="宋体" panose="02010600030101010101" pitchFamily="2" charset="-122"/>
              </a:rPr>
              <a:t>a  </a:t>
            </a:r>
            <a:r>
              <a:rPr lang="en-US" altLang="zh-CN" sz="2800">
                <a:ea typeface="宋体" panose="02010600030101010101" pitchFamily="2" charset="-122"/>
              </a:rPr>
              <a:t>(P.124)</a:t>
            </a:r>
          </a:p>
        </p:txBody>
      </p:sp>
      <p:grpSp>
        <p:nvGrpSpPr>
          <p:cNvPr id="496643" name="Group 3"/>
          <p:cNvGrpSpPr>
            <a:grpSpLocks/>
          </p:cNvGrpSpPr>
          <p:nvPr/>
        </p:nvGrpSpPr>
        <p:grpSpPr bwMode="auto">
          <a:xfrm>
            <a:off x="685800" y="1219200"/>
            <a:ext cx="1981200" cy="533400"/>
            <a:chOff x="1584" y="768"/>
            <a:chExt cx="1248" cy="336"/>
          </a:xfrm>
        </p:grpSpPr>
        <p:grpSp>
          <p:nvGrpSpPr>
            <p:cNvPr id="496644" name="Group 4"/>
            <p:cNvGrpSpPr>
              <a:grpSpLocks/>
            </p:cNvGrpSpPr>
            <p:nvPr/>
          </p:nvGrpSpPr>
          <p:grpSpPr bwMode="auto">
            <a:xfrm>
              <a:off x="1920" y="816"/>
              <a:ext cx="912" cy="288"/>
              <a:chOff x="1920" y="816"/>
              <a:chExt cx="912" cy="288"/>
            </a:xfrm>
          </p:grpSpPr>
          <p:sp>
            <p:nvSpPr>
              <p:cNvPr id="496645" name="Oval 5"/>
              <p:cNvSpPr>
                <a:spLocks noChangeArrowheads="1"/>
              </p:cNvSpPr>
              <p:nvPr/>
            </p:nvSpPr>
            <p:spPr bwMode="auto">
              <a:xfrm>
                <a:off x="2064" y="864"/>
                <a:ext cx="192" cy="1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96646" name="Group 6"/>
              <p:cNvGrpSpPr>
                <a:grpSpLocks/>
              </p:cNvGrpSpPr>
              <p:nvPr/>
            </p:nvGrpSpPr>
            <p:grpSpPr bwMode="auto">
              <a:xfrm>
                <a:off x="2544" y="816"/>
                <a:ext cx="288" cy="288"/>
                <a:chOff x="1296" y="1056"/>
                <a:chExt cx="288" cy="288"/>
              </a:xfrm>
            </p:grpSpPr>
            <p:sp>
              <p:nvSpPr>
                <p:cNvPr id="496647" name="Oval 7"/>
                <p:cNvSpPr>
                  <a:spLocks noChangeArrowheads="1"/>
                </p:cNvSpPr>
                <p:nvPr/>
              </p:nvSpPr>
              <p:spPr bwMode="auto">
                <a:xfrm>
                  <a:off x="1296" y="1056"/>
                  <a:ext cx="288" cy="288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96648" name="Oval 8"/>
                <p:cNvSpPr>
                  <a:spLocks noChangeArrowheads="1"/>
                </p:cNvSpPr>
                <p:nvPr/>
              </p:nvSpPr>
              <p:spPr bwMode="auto">
                <a:xfrm>
                  <a:off x="1344" y="1104"/>
                  <a:ext cx="192" cy="192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96649" name="Line 9"/>
              <p:cNvSpPr>
                <a:spLocks noChangeShapeType="1"/>
              </p:cNvSpPr>
              <p:nvPr/>
            </p:nvSpPr>
            <p:spPr bwMode="auto">
              <a:xfrm>
                <a:off x="1920" y="96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6650" name="Line 10"/>
              <p:cNvSpPr>
                <a:spLocks noChangeShapeType="1"/>
              </p:cNvSpPr>
              <p:nvPr/>
            </p:nvSpPr>
            <p:spPr bwMode="auto">
              <a:xfrm>
                <a:off x="2256" y="960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96651" name="Text Box 11"/>
            <p:cNvSpPr txBox="1">
              <a:spLocks noChangeArrowheads="1"/>
            </p:cNvSpPr>
            <p:nvPr/>
          </p:nvSpPr>
          <p:spPr bwMode="auto">
            <a:xfrm>
              <a:off x="1584" y="816"/>
              <a:ext cx="2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0">
                  <a:ea typeface="宋体" panose="02010600030101010101" pitchFamily="2" charset="-122"/>
                </a:rPr>
                <a:t>a:</a:t>
              </a:r>
            </a:p>
          </p:txBody>
        </p:sp>
        <p:sp>
          <p:nvSpPr>
            <p:cNvPr id="496652" name="Text Box 12"/>
            <p:cNvSpPr txBox="1">
              <a:spLocks noChangeArrowheads="1"/>
            </p:cNvSpPr>
            <p:nvPr/>
          </p:nvSpPr>
          <p:spPr bwMode="auto">
            <a:xfrm>
              <a:off x="2304" y="768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0">
                  <a:ea typeface="宋体" panose="02010600030101010101" pitchFamily="2" charset="-122"/>
                </a:rPr>
                <a:t>a</a:t>
              </a:r>
            </a:p>
          </p:txBody>
        </p:sp>
      </p:grpSp>
      <p:grpSp>
        <p:nvGrpSpPr>
          <p:cNvPr id="496653" name="Group 13"/>
          <p:cNvGrpSpPr>
            <a:grpSpLocks/>
          </p:cNvGrpSpPr>
          <p:nvPr/>
        </p:nvGrpSpPr>
        <p:grpSpPr bwMode="auto">
          <a:xfrm>
            <a:off x="685800" y="1905000"/>
            <a:ext cx="1905000" cy="533400"/>
            <a:chOff x="4176" y="768"/>
            <a:chExt cx="1200" cy="336"/>
          </a:xfrm>
        </p:grpSpPr>
        <p:sp>
          <p:nvSpPr>
            <p:cNvPr id="496654" name="Text Box 14"/>
            <p:cNvSpPr txBox="1">
              <a:spLocks noChangeArrowheads="1"/>
            </p:cNvSpPr>
            <p:nvPr/>
          </p:nvSpPr>
          <p:spPr bwMode="auto">
            <a:xfrm>
              <a:off x="4848" y="76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0">
                  <a:ea typeface="宋体" panose="02010600030101010101" pitchFamily="2" charset="-122"/>
                </a:rPr>
                <a:t>b</a:t>
              </a:r>
            </a:p>
          </p:txBody>
        </p:sp>
        <p:grpSp>
          <p:nvGrpSpPr>
            <p:cNvPr id="496655" name="Group 15"/>
            <p:cNvGrpSpPr>
              <a:grpSpLocks/>
            </p:cNvGrpSpPr>
            <p:nvPr/>
          </p:nvGrpSpPr>
          <p:grpSpPr bwMode="auto">
            <a:xfrm>
              <a:off x="4464" y="816"/>
              <a:ext cx="912" cy="288"/>
              <a:chOff x="1920" y="816"/>
              <a:chExt cx="912" cy="288"/>
            </a:xfrm>
          </p:grpSpPr>
          <p:sp>
            <p:nvSpPr>
              <p:cNvPr id="496656" name="Oval 16"/>
              <p:cNvSpPr>
                <a:spLocks noChangeArrowheads="1"/>
              </p:cNvSpPr>
              <p:nvPr/>
            </p:nvSpPr>
            <p:spPr bwMode="auto">
              <a:xfrm>
                <a:off x="2064" y="864"/>
                <a:ext cx="192" cy="1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96657" name="Group 17"/>
              <p:cNvGrpSpPr>
                <a:grpSpLocks/>
              </p:cNvGrpSpPr>
              <p:nvPr/>
            </p:nvGrpSpPr>
            <p:grpSpPr bwMode="auto">
              <a:xfrm>
                <a:off x="2544" y="816"/>
                <a:ext cx="288" cy="288"/>
                <a:chOff x="1296" y="1056"/>
                <a:chExt cx="288" cy="288"/>
              </a:xfrm>
            </p:grpSpPr>
            <p:sp>
              <p:nvSpPr>
                <p:cNvPr id="496658" name="Oval 18"/>
                <p:cNvSpPr>
                  <a:spLocks noChangeArrowheads="1"/>
                </p:cNvSpPr>
                <p:nvPr/>
              </p:nvSpPr>
              <p:spPr bwMode="auto">
                <a:xfrm>
                  <a:off x="1296" y="1056"/>
                  <a:ext cx="288" cy="288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96659" name="Oval 19"/>
                <p:cNvSpPr>
                  <a:spLocks noChangeArrowheads="1"/>
                </p:cNvSpPr>
                <p:nvPr/>
              </p:nvSpPr>
              <p:spPr bwMode="auto">
                <a:xfrm>
                  <a:off x="1344" y="1104"/>
                  <a:ext cx="192" cy="192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96660" name="Line 20"/>
              <p:cNvSpPr>
                <a:spLocks noChangeShapeType="1"/>
              </p:cNvSpPr>
              <p:nvPr/>
            </p:nvSpPr>
            <p:spPr bwMode="auto">
              <a:xfrm>
                <a:off x="1920" y="96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6661" name="Line 21"/>
              <p:cNvSpPr>
                <a:spLocks noChangeShapeType="1"/>
              </p:cNvSpPr>
              <p:nvPr/>
            </p:nvSpPr>
            <p:spPr bwMode="auto">
              <a:xfrm>
                <a:off x="2256" y="960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96662" name="Text Box 22"/>
            <p:cNvSpPr txBox="1">
              <a:spLocks noChangeArrowheads="1"/>
            </p:cNvSpPr>
            <p:nvPr/>
          </p:nvSpPr>
          <p:spPr bwMode="auto">
            <a:xfrm>
              <a:off x="4176" y="816"/>
              <a:ext cx="2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0">
                  <a:ea typeface="宋体" panose="02010600030101010101" pitchFamily="2" charset="-122"/>
                </a:rPr>
                <a:t>b:</a:t>
              </a:r>
            </a:p>
          </p:txBody>
        </p:sp>
      </p:grpSp>
      <p:sp>
        <p:nvSpPr>
          <p:cNvPr id="496663" name="Text Box 23"/>
          <p:cNvSpPr txBox="1">
            <a:spLocks noChangeArrowheads="1"/>
          </p:cNvSpPr>
          <p:nvPr/>
        </p:nvSpPr>
        <p:spPr bwMode="auto">
          <a:xfrm>
            <a:off x="4038600" y="1600200"/>
            <a:ext cx="887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ea typeface="宋体" panose="02010600030101010101" pitchFamily="2" charset="-122"/>
              </a:rPr>
              <a:t>(a | b)</a:t>
            </a:r>
          </a:p>
        </p:txBody>
      </p:sp>
      <p:grpSp>
        <p:nvGrpSpPr>
          <p:cNvPr id="496664" name="Group 24"/>
          <p:cNvGrpSpPr>
            <a:grpSpLocks/>
          </p:cNvGrpSpPr>
          <p:nvPr/>
        </p:nvGrpSpPr>
        <p:grpSpPr bwMode="auto">
          <a:xfrm>
            <a:off x="5105400" y="1219200"/>
            <a:ext cx="3048000" cy="1143000"/>
            <a:chOff x="1488" y="1392"/>
            <a:chExt cx="1920" cy="720"/>
          </a:xfrm>
        </p:grpSpPr>
        <p:sp>
          <p:nvSpPr>
            <p:cNvPr id="496665" name="Text Box 25"/>
            <p:cNvSpPr txBox="1">
              <a:spLocks noChangeArrowheads="1"/>
            </p:cNvSpPr>
            <p:nvPr/>
          </p:nvSpPr>
          <p:spPr bwMode="auto">
            <a:xfrm>
              <a:off x="2400" y="1392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0"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</a:p>
          </p:txBody>
        </p:sp>
        <p:grpSp>
          <p:nvGrpSpPr>
            <p:cNvPr id="496666" name="Group 26"/>
            <p:cNvGrpSpPr>
              <a:grpSpLocks/>
            </p:cNvGrpSpPr>
            <p:nvPr/>
          </p:nvGrpSpPr>
          <p:grpSpPr bwMode="auto">
            <a:xfrm>
              <a:off x="1488" y="1440"/>
              <a:ext cx="1920" cy="672"/>
              <a:chOff x="1392" y="1344"/>
              <a:chExt cx="1920" cy="672"/>
            </a:xfrm>
          </p:grpSpPr>
          <p:sp>
            <p:nvSpPr>
              <p:cNvPr id="496667" name="Oval 27"/>
              <p:cNvSpPr>
                <a:spLocks noChangeArrowheads="1"/>
              </p:cNvSpPr>
              <p:nvPr/>
            </p:nvSpPr>
            <p:spPr bwMode="auto">
              <a:xfrm>
                <a:off x="2592" y="1824"/>
                <a:ext cx="192" cy="1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6668" name="Oval 28"/>
              <p:cNvSpPr>
                <a:spLocks noChangeArrowheads="1"/>
              </p:cNvSpPr>
              <p:nvPr/>
            </p:nvSpPr>
            <p:spPr bwMode="auto">
              <a:xfrm>
                <a:off x="2592" y="1344"/>
                <a:ext cx="192" cy="1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6669" name="Oval 29"/>
              <p:cNvSpPr>
                <a:spLocks noChangeArrowheads="1"/>
              </p:cNvSpPr>
              <p:nvPr/>
            </p:nvSpPr>
            <p:spPr bwMode="auto">
              <a:xfrm>
                <a:off x="2064" y="1824"/>
                <a:ext cx="192" cy="1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6670" name="Oval 30"/>
              <p:cNvSpPr>
                <a:spLocks noChangeArrowheads="1"/>
              </p:cNvSpPr>
              <p:nvPr/>
            </p:nvSpPr>
            <p:spPr bwMode="auto">
              <a:xfrm>
                <a:off x="2064" y="1344"/>
                <a:ext cx="192" cy="1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6671" name="Oval 31"/>
              <p:cNvSpPr>
                <a:spLocks noChangeArrowheads="1"/>
              </p:cNvSpPr>
              <p:nvPr/>
            </p:nvSpPr>
            <p:spPr bwMode="auto">
              <a:xfrm>
                <a:off x="1584" y="1536"/>
                <a:ext cx="192" cy="1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96672" name="Group 32"/>
              <p:cNvGrpSpPr>
                <a:grpSpLocks/>
              </p:cNvGrpSpPr>
              <p:nvPr/>
            </p:nvGrpSpPr>
            <p:grpSpPr bwMode="auto">
              <a:xfrm>
                <a:off x="3024" y="1536"/>
                <a:ext cx="288" cy="288"/>
                <a:chOff x="1296" y="1056"/>
                <a:chExt cx="288" cy="288"/>
              </a:xfrm>
            </p:grpSpPr>
            <p:sp>
              <p:nvSpPr>
                <p:cNvPr id="496673" name="Oval 33"/>
                <p:cNvSpPr>
                  <a:spLocks noChangeArrowheads="1"/>
                </p:cNvSpPr>
                <p:nvPr/>
              </p:nvSpPr>
              <p:spPr bwMode="auto">
                <a:xfrm>
                  <a:off x="1296" y="1056"/>
                  <a:ext cx="288" cy="288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96674" name="Oval 34"/>
                <p:cNvSpPr>
                  <a:spLocks noChangeArrowheads="1"/>
                </p:cNvSpPr>
                <p:nvPr/>
              </p:nvSpPr>
              <p:spPr bwMode="auto">
                <a:xfrm>
                  <a:off x="1344" y="1104"/>
                  <a:ext cx="192" cy="192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96675" name="Line 35"/>
              <p:cNvSpPr>
                <a:spLocks noChangeShapeType="1"/>
              </p:cNvSpPr>
              <p:nvPr/>
            </p:nvSpPr>
            <p:spPr bwMode="auto">
              <a:xfrm>
                <a:off x="1392" y="163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6676" name="Line 36"/>
              <p:cNvSpPr>
                <a:spLocks noChangeShapeType="1"/>
              </p:cNvSpPr>
              <p:nvPr/>
            </p:nvSpPr>
            <p:spPr bwMode="auto">
              <a:xfrm flipV="1">
                <a:off x="1776" y="1488"/>
                <a:ext cx="288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6677" name="Line 37"/>
              <p:cNvSpPr>
                <a:spLocks noChangeShapeType="1"/>
              </p:cNvSpPr>
              <p:nvPr/>
            </p:nvSpPr>
            <p:spPr bwMode="auto">
              <a:xfrm>
                <a:off x="1776" y="1680"/>
                <a:ext cx="288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6678" name="Line 38"/>
              <p:cNvSpPr>
                <a:spLocks noChangeShapeType="1"/>
              </p:cNvSpPr>
              <p:nvPr/>
            </p:nvSpPr>
            <p:spPr bwMode="auto">
              <a:xfrm>
                <a:off x="2256" y="1440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6679" name="Line 39"/>
              <p:cNvSpPr>
                <a:spLocks noChangeShapeType="1"/>
              </p:cNvSpPr>
              <p:nvPr/>
            </p:nvSpPr>
            <p:spPr bwMode="auto">
              <a:xfrm>
                <a:off x="2256" y="1920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6680" name="Line 40"/>
              <p:cNvSpPr>
                <a:spLocks noChangeShapeType="1"/>
              </p:cNvSpPr>
              <p:nvPr/>
            </p:nvSpPr>
            <p:spPr bwMode="auto">
              <a:xfrm>
                <a:off x="2784" y="1488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6681" name="Line 41"/>
              <p:cNvSpPr>
                <a:spLocks noChangeShapeType="1"/>
              </p:cNvSpPr>
              <p:nvPr/>
            </p:nvSpPr>
            <p:spPr bwMode="auto">
              <a:xfrm flipV="1">
                <a:off x="2784" y="1776"/>
                <a:ext cx="24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6682" name="Text Box 42"/>
              <p:cNvSpPr txBox="1">
                <a:spLocks noChangeArrowheads="1"/>
              </p:cNvSpPr>
              <p:nvPr/>
            </p:nvSpPr>
            <p:spPr bwMode="auto">
              <a:xfrm>
                <a:off x="2304" y="1776"/>
                <a:ext cx="172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400" b="0">
                    <a:ea typeface="宋体" panose="02010600030101010101" pitchFamily="2" charset="-122"/>
                    <a:sym typeface="Symbol" panose="05050102010706020507" pitchFamily="18" charset="2"/>
                  </a:rPr>
                  <a:t>b</a:t>
                </a:r>
              </a:p>
            </p:txBody>
          </p:sp>
          <p:sp>
            <p:nvSpPr>
              <p:cNvPr id="496683" name="Text Box 43"/>
              <p:cNvSpPr txBox="1">
                <a:spLocks noChangeArrowheads="1"/>
              </p:cNvSpPr>
              <p:nvPr/>
            </p:nvSpPr>
            <p:spPr bwMode="auto">
              <a:xfrm>
                <a:off x="2784" y="1680"/>
                <a:ext cx="165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zh-CN" altLang="en-US" sz="1400" b="0">
                    <a:ea typeface="宋体" panose="02010600030101010101" pitchFamily="2" charset="-122"/>
                    <a:sym typeface="Symbol" panose="05050102010706020507" pitchFamily="18" charset="2"/>
                  </a:rPr>
                  <a:t></a:t>
                </a:r>
              </a:p>
            </p:txBody>
          </p:sp>
          <p:sp>
            <p:nvSpPr>
              <p:cNvPr id="496684" name="Text Box 44"/>
              <p:cNvSpPr txBox="1">
                <a:spLocks noChangeArrowheads="1"/>
              </p:cNvSpPr>
              <p:nvPr/>
            </p:nvSpPr>
            <p:spPr bwMode="auto">
              <a:xfrm>
                <a:off x="2784" y="1344"/>
                <a:ext cx="165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zh-CN" altLang="en-US" sz="1400" b="0">
                    <a:ea typeface="宋体" panose="02010600030101010101" pitchFamily="2" charset="-122"/>
                    <a:sym typeface="Symbol" panose="05050102010706020507" pitchFamily="18" charset="2"/>
                  </a:rPr>
                  <a:t></a:t>
                </a:r>
              </a:p>
            </p:txBody>
          </p:sp>
          <p:sp>
            <p:nvSpPr>
              <p:cNvPr id="496685" name="Text Box 45"/>
              <p:cNvSpPr txBox="1">
                <a:spLocks noChangeArrowheads="1"/>
              </p:cNvSpPr>
              <p:nvPr/>
            </p:nvSpPr>
            <p:spPr bwMode="auto">
              <a:xfrm>
                <a:off x="1824" y="1632"/>
                <a:ext cx="165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zh-CN" altLang="en-US" sz="1400" b="0">
                    <a:ea typeface="宋体" panose="02010600030101010101" pitchFamily="2" charset="-122"/>
                    <a:sym typeface="Symbol" panose="05050102010706020507" pitchFamily="18" charset="2"/>
                  </a:rPr>
                  <a:t></a:t>
                </a:r>
              </a:p>
            </p:txBody>
          </p:sp>
          <p:sp>
            <p:nvSpPr>
              <p:cNvPr id="496686" name="Text Box 46"/>
              <p:cNvSpPr txBox="1">
                <a:spLocks noChangeArrowheads="1"/>
              </p:cNvSpPr>
              <p:nvPr/>
            </p:nvSpPr>
            <p:spPr bwMode="auto">
              <a:xfrm>
                <a:off x="1776" y="1392"/>
                <a:ext cx="165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zh-CN" altLang="en-US" sz="1400" b="0">
                    <a:ea typeface="宋体" panose="02010600030101010101" pitchFamily="2" charset="-122"/>
                    <a:sym typeface="Symbol" panose="05050102010706020507" pitchFamily="18" charset="2"/>
                  </a:rPr>
                  <a:t></a:t>
                </a:r>
              </a:p>
            </p:txBody>
          </p:sp>
        </p:grpSp>
      </p:grpSp>
      <p:grpSp>
        <p:nvGrpSpPr>
          <p:cNvPr id="496687" name="Group 47"/>
          <p:cNvGrpSpPr>
            <a:grpSpLocks/>
          </p:cNvGrpSpPr>
          <p:nvPr/>
        </p:nvGrpSpPr>
        <p:grpSpPr bwMode="auto">
          <a:xfrm>
            <a:off x="2667000" y="2514600"/>
            <a:ext cx="4191000" cy="1524000"/>
            <a:chOff x="912" y="2352"/>
            <a:chExt cx="2640" cy="960"/>
          </a:xfrm>
        </p:grpSpPr>
        <p:grpSp>
          <p:nvGrpSpPr>
            <p:cNvPr id="496688" name="Group 48"/>
            <p:cNvGrpSpPr>
              <a:grpSpLocks/>
            </p:cNvGrpSpPr>
            <p:nvPr/>
          </p:nvGrpSpPr>
          <p:grpSpPr bwMode="auto">
            <a:xfrm>
              <a:off x="3264" y="2832"/>
              <a:ext cx="288" cy="288"/>
              <a:chOff x="1296" y="1056"/>
              <a:chExt cx="288" cy="288"/>
            </a:xfrm>
          </p:grpSpPr>
          <p:sp>
            <p:nvSpPr>
              <p:cNvPr id="496689" name="Oval 49"/>
              <p:cNvSpPr>
                <a:spLocks noChangeArrowheads="1"/>
              </p:cNvSpPr>
              <p:nvPr/>
            </p:nvSpPr>
            <p:spPr bwMode="auto">
              <a:xfrm>
                <a:off x="1296" y="1056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6690" name="Oval 50"/>
              <p:cNvSpPr>
                <a:spLocks noChangeArrowheads="1"/>
              </p:cNvSpPr>
              <p:nvPr/>
            </p:nvSpPr>
            <p:spPr bwMode="auto">
              <a:xfrm>
                <a:off x="1344" y="1104"/>
                <a:ext cx="192" cy="1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96691" name="Oval 51"/>
            <p:cNvSpPr>
              <a:spLocks noChangeArrowheads="1"/>
            </p:cNvSpPr>
            <p:nvPr/>
          </p:nvSpPr>
          <p:spPr bwMode="auto">
            <a:xfrm>
              <a:off x="2448" y="312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6692" name="Oval 52"/>
            <p:cNvSpPr>
              <a:spLocks noChangeArrowheads="1"/>
            </p:cNvSpPr>
            <p:nvPr/>
          </p:nvSpPr>
          <p:spPr bwMode="auto">
            <a:xfrm>
              <a:off x="2448" y="264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6693" name="Oval 53"/>
            <p:cNvSpPr>
              <a:spLocks noChangeArrowheads="1"/>
            </p:cNvSpPr>
            <p:nvPr/>
          </p:nvSpPr>
          <p:spPr bwMode="auto">
            <a:xfrm>
              <a:off x="1920" y="312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6694" name="Oval 54"/>
            <p:cNvSpPr>
              <a:spLocks noChangeArrowheads="1"/>
            </p:cNvSpPr>
            <p:nvPr/>
          </p:nvSpPr>
          <p:spPr bwMode="auto">
            <a:xfrm>
              <a:off x="1920" y="264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6695" name="Oval 55"/>
            <p:cNvSpPr>
              <a:spLocks noChangeArrowheads="1"/>
            </p:cNvSpPr>
            <p:nvPr/>
          </p:nvSpPr>
          <p:spPr bwMode="auto">
            <a:xfrm>
              <a:off x="1440" y="283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6696" name="Line 56"/>
            <p:cNvSpPr>
              <a:spLocks noChangeShapeType="1"/>
            </p:cNvSpPr>
            <p:nvPr/>
          </p:nvSpPr>
          <p:spPr bwMode="auto">
            <a:xfrm>
              <a:off x="1248" y="2928"/>
              <a:ext cx="19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6697" name="Line 57"/>
            <p:cNvSpPr>
              <a:spLocks noChangeShapeType="1"/>
            </p:cNvSpPr>
            <p:nvPr/>
          </p:nvSpPr>
          <p:spPr bwMode="auto">
            <a:xfrm flipV="1">
              <a:off x="1632" y="2784"/>
              <a:ext cx="288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6698" name="Line 58"/>
            <p:cNvSpPr>
              <a:spLocks noChangeShapeType="1"/>
            </p:cNvSpPr>
            <p:nvPr/>
          </p:nvSpPr>
          <p:spPr bwMode="auto">
            <a:xfrm>
              <a:off x="1632" y="2976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6699" name="Line 59"/>
            <p:cNvSpPr>
              <a:spLocks noChangeShapeType="1"/>
            </p:cNvSpPr>
            <p:nvPr/>
          </p:nvSpPr>
          <p:spPr bwMode="auto">
            <a:xfrm>
              <a:off x="2112" y="2736"/>
              <a:ext cx="336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6700" name="Line 60"/>
            <p:cNvSpPr>
              <a:spLocks noChangeShapeType="1"/>
            </p:cNvSpPr>
            <p:nvPr/>
          </p:nvSpPr>
          <p:spPr bwMode="auto">
            <a:xfrm>
              <a:off x="2112" y="3216"/>
              <a:ext cx="336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6701" name="Line 61"/>
            <p:cNvSpPr>
              <a:spLocks noChangeShapeType="1"/>
            </p:cNvSpPr>
            <p:nvPr/>
          </p:nvSpPr>
          <p:spPr bwMode="auto">
            <a:xfrm>
              <a:off x="2640" y="2784"/>
              <a:ext cx="24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6702" name="Line 62"/>
            <p:cNvSpPr>
              <a:spLocks noChangeShapeType="1"/>
            </p:cNvSpPr>
            <p:nvPr/>
          </p:nvSpPr>
          <p:spPr bwMode="auto">
            <a:xfrm flipV="1">
              <a:off x="2640" y="3072"/>
              <a:ext cx="24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6703" name="Text Box 63"/>
            <p:cNvSpPr txBox="1">
              <a:spLocks noChangeArrowheads="1"/>
            </p:cNvSpPr>
            <p:nvPr/>
          </p:nvSpPr>
          <p:spPr bwMode="auto">
            <a:xfrm>
              <a:off x="2160" y="3072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0">
                  <a:ea typeface="宋体" panose="02010600030101010101" pitchFamily="2" charset="-122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496704" name="Text Box 64"/>
            <p:cNvSpPr txBox="1">
              <a:spLocks noChangeArrowheads="1"/>
            </p:cNvSpPr>
            <p:nvPr/>
          </p:nvSpPr>
          <p:spPr bwMode="auto">
            <a:xfrm>
              <a:off x="2640" y="2976"/>
              <a:ext cx="16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400" b="0"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496705" name="Text Box 65"/>
            <p:cNvSpPr txBox="1">
              <a:spLocks noChangeArrowheads="1"/>
            </p:cNvSpPr>
            <p:nvPr/>
          </p:nvSpPr>
          <p:spPr bwMode="auto">
            <a:xfrm>
              <a:off x="2640" y="2640"/>
              <a:ext cx="16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400" b="0"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496706" name="Text Box 66"/>
            <p:cNvSpPr txBox="1">
              <a:spLocks noChangeArrowheads="1"/>
            </p:cNvSpPr>
            <p:nvPr/>
          </p:nvSpPr>
          <p:spPr bwMode="auto">
            <a:xfrm>
              <a:off x="1680" y="2928"/>
              <a:ext cx="16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400" b="0"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496707" name="Text Box 67"/>
            <p:cNvSpPr txBox="1">
              <a:spLocks noChangeArrowheads="1"/>
            </p:cNvSpPr>
            <p:nvPr/>
          </p:nvSpPr>
          <p:spPr bwMode="auto">
            <a:xfrm>
              <a:off x="1632" y="2688"/>
              <a:ext cx="16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400" b="0"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496708" name="Text Box 68"/>
            <p:cNvSpPr txBox="1">
              <a:spLocks noChangeArrowheads="1"/>
            </p:cNvSpPr>
            <p:nvPr/>
          </p:nvSpPr>
          <p:spPr bwMode="auto">
            <a:xfrm>
              <a:off x="2160" y="2592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0"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496709" name="Oval 69"/>
            <p:cNvSpPr>
              <a:spLocks noChangeArrowheads="1"/>
            </p:cNvSpPr>
            <p:nvPr/>
          </p:nvSpPr>
          <p:spPr bwMode="auto">
            <a:xfrm>
              <a:off x="1056" y="2832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6710" name="Oval 70"/>
            <p:cNvSpPr>
              <a:spLocks noChangeArrowheads="1"/>
            </p:cNvSpPr>
            <p:nvPr/>
          </p:nvSpPr>
          <p:spPr bwMode="auto">
            <a:xfrm>
              <a:off x="2832" y="2880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6711" name="Line 71"/>
            <p:cNvSpPr>
              <a:spLocks noChangeShapeType="1"/>
            </p:cNvSpPr>
            <p:nvPr/>
          </p:nvSpPr>
          <p:spPr bwMode="auto">
            <a:xfrm>
              <a:off x="3024" y="297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6712" name="Text Box 72"/>
            <p:cNvSpPr txBox="1">
              <a:spLocks noChangeArrowheads="1"/>
            </p:cNvSpPr>
            <p:nvPr/>
          </p:nvSpPr>
          <p:spPr bwMode="auto">
            <a:xfrm>
              <a:off x="2160" y="2352"/>
              <a:ext cx="16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400" b="0"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496713" name="Text Box 73"/>
            <p:cNvSpPr txBox="1">
              <a:spLocks noChangeArrowheads="1"/>
            </p:cNvSpPr>
            <p:nvPr/>
          </p:nvSpPr>
          <p:spPr bwMode="auto">
            <a:xfrm>
              <a:off x="1248" y="2784"/>
              <a:ext cx="16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400" b="0"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496714" name="Text Box 74"/>
            <p:cNvSpPr txBox="1">
              <a:spLocks noChangeArrowheads="1"/>
            </p:cNvSpPr>
            <p:nvPr/>
          </p:nvSpPr>
          <p:spPr bwMode="auto">
            <a:xfrm>
              <a:off x="3024" y="2832"/>
              <a:ext cx="16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400" b="0"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cxnSp>
          <p:nvCxnSpPr>
            <p:cNvPr id="496715" name="AutoShape 75"/>
            <p:cNvCxnSpPr>
              <a:cxnSpLocks noChangeShapeType="1"/>
              <a:stCxn id="496710" idx="0"/>
              <a:endCxn id="496695" idx="0"/>
            </p:cNvCxnSpPr>
            <p:nvPr/>
          </p:nvCxnSpPr>
          <p:spPr bwMode="auto">
            <a:xfrm rot="5400000" flipH="1">
              <a:off x="2208" y="2160"/>
              <a:ext cx="48" cy="1392"/>
            </a:xfrm>
            <a:prstGeom prst="curvedConnector3">
              <a:avLst>
                <a:gd name="adj1" fmla="val 74791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96716" name="Line 76"/>
            <p:cNvSpPr>
              <a:spLocks noChangeShapeType="1"/>
            </p:cNvSpPr>
            <p:nvPr/>
          </p:nvSpPr>
          <p:spPr bwMode="auto">
            <a:xfrm>
              <a:off x="912" y="2928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96717" name="Text Box 77"/>
          <p:cNvSpPr txBox="1">
            <a:spLocks noChangeArrowheads="1"/>
          </p:cNvSpPr>
          <p:nvPr/>
        </p:nvSpPr>
        <p:spPr bwMode="auto">
          <a:xfrm>
            <a:off x="1447800" y="3276600"/>
            <a:ext cx="963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ea typeface="宋体" panose="02010600030101010101" pitchFamily="2" charset="-122"/>
              </a:rPr>
              <a:t>(a|b) </a:t>
            </a:r>
            <a:r>
              <a:rPr lang="en-US" altLang="zh-CN" b="0" baseline="30000">
                <a:ea typeface="宋体" panose="02010600030101010101" pitchFamily="2" charset="-122"/>
              </a:rPr>
              <a:t>* </a:t>
            </a:r>
            <a:endParaRPr lang="en-US" altLang="zh-CN" b="0">
              <a:ea typeface="宋体" panose="02010600030101010101" pitchFamily="2" charset="-122"/>
            </a:endParaRPr>
          </a:p>
        </p:txBody>
      </p:sp>
      <p:grpSp>
        <p:nvGrpSpPr>
          <p:cNvPr id="496718" name="Group 78"/>
          <p:cNvGrpSpPr>
            <a:grpSpLocks/>
          </p:cNvGrpSpPr>
          <p:nvPr/>
        </p:nvGrpSpPr>
        <p:grpSpPr bwMode="auto">
          <a:xfrm>
            <a:off x="3048000" y="3581400"/>
            <a:ext cx="3581400" cy="685800"/>
            <a:chOff x="1920" y="2256"/>
            <a:chExt cx="2256" cy="432"/>
          </a:xfrm>
        </p:grpSpPr>
        <p:sp>
          <p:nvSpPr>
            <p:cNvPr id="496719" name="Text Box 79"/>
            <p:cNvSpPr txBox="1">
              <a:spLocks noChangeArrowheads="1"/>
            </p:cNvSpPr>
            <p:nvPr/>
          </p:nvSpPr>
          <p:spPr bwMode="auto">
            <a:xfrm>
              <a:off x="2976" y="2496"/>
              <a:ext cx="16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400" b="0"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cxnSp>
          <p:nvCxnSpPr>
            <p:cNvPr id="496720" name="AutoShape 80"/>
            <p:cNvCxnSpPr>
              <a:cxnSpLocks noChangeShapeType="1"/>
              <a:stCxn id="496709" idx="4"/>
              <a:endCxn id="496689" idx="4"/>
            </p:cNvCxnSpPr>
            <p:nvPr/>
          </p:nvCxnSpPr>
          <p:spPr bwMode="auto">
            <a:xfrm rot="16200000" flipH="1">
              <a:off x="3000" y="1176"/>
              <a:ext cx="96" cy="2256"/>
            </a:xfrm>
            <a:prstGeom prst="curvedConnector3">
              <a:avLst>
                <a:gd name="adj1" fmla="val 43228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96756" name="Text Box 116"/>
          <p:cNvSpPr txBox="1">
            <a:spLocks noChangeArrowheads="1"/>
          </p:cNvSpPr>
          <p:nvPr/>
        </p:nvSpPr>
        <p:spPr bwMode="auto">
          <a:xfrm>
            <a:off x="1497013" y="4957763"/>
            <a:ext cx="1149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ea typeface="宋体" panose="02010600030101010101" pitchFamily="2" charset="-122"/>
              </a:rPr>
              <a:t>(a|b) </a:t>
            </a:r>
            <a:r>
              <a:rPr lang="en-US" altLang="zh-CN" b="0" baseline="30000">
                <a:ea typeface="宋体" panose="02010600030101010101" pitchFamily="2" charset="-122"/>
              </a:rPr>
              <a:t>* </a:t>
            </a:r>
            <a:r>
              <a:rPr lang="en-US" altLang="zh-CN" b="0">
                <a:ea typeface="宋体" panose="02010600030101010101" pitchFamily="2" charset="-122"/>
              </a:rPr>
              <a:t>a</a:t>
            </a:r>
            <a:r>
              <a:rPr lang="en-US" altLang="zh-CN" b="0" baseline="30000">
                <a:ea typeface="宋体" panose="02010600030101010101" pitchFamily="2" charset="-122"/>
              </a:rPr>
              <a:t> </a:t>
            </a:r>
            <a:endParaRPr lang="en-US" altLang="zh-CN" b="0">
              <a:ea typeface="宋体" panose="02010600030101010101" pitchFamily="2" charset="-122"/>
            </a:endParaRPr>
          </a:p>
        </p:txBody>
      </p:sp>
      <p:grpSp>
        <p:nvGrpSpPr>
          <p:cNvPr id="496766" name="Group 126"/>
          <p:cNvGrpSpPr>
            <a:grpSpLocks/>
          </p:cNvGrpSpPr>
          <p:nvPr/>
        </p:nvGrpSpPr>
        <p:grpSpPr bwMode="auto">
          <a:xfrm>
            <a:off x="2792413" y="4424363"/>
            <a:ext cx="4876800" cy="1676400"/>
            <a:chOff x="1759" y="2787"/>
            <a:chExt cx="3072" cy="1056"/>
          </a:xfrm>
        </p:grpSpPr>
        <p:sp>
          <p:nvSpPr>
            <p:cNvPr id="496721" name="Text Box 81"/>
            <p:cNvSpPr txBox="1">
              <a:spLocks noChangeArrowheads="1"/>
            </p:cNvSpPr>
            <p:nvPr/>
          </p:nvSpPr>
          <p:spPr bwMode="auto">
            <a:xfrm>
              <a:off x="3007" y="2787"/>
              <a:ext cx="16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400" b="0"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496723" name="Oval 83"/>
            <p:cNvSpPr>
              <a:spLocks noChangeArrowheads="1"/>
            </p:cNvSpPr>
            <p:nvPr/>
          </p:nvSpPr>
          <p:spPr bwMode="auto">
            <a:xfrm>
              <a:off x="4111" y="3219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96724" name="Group 84"/>
            <p:cNvGrpSpPr>
              <a:grpSpLocks/>
            </p:cNvGrpSpPr>
            <p:nvPr/>
          </p:nvGrpSpPr>
          <p:grpSpPr bwMode="auto">
            <a:xfrm>
              <a:off x="4543" y="3171"/>
              <a:ext cx="288" cy="288"/>
              <a:chOff x="1296" y="1056"/>
              <a:chExt cx="288" cy="288"/>
            </a:xfrm>
          </p:grpSpPr>
          <p:sp>
            <p:nvSpPr>
              <p:cNvPr id="496725" name="Oval 85"/>
              <p:cNvSpPr>
                <a:spLocks noChangeArrowheads="1"/>
              </p:cNvSpPr>
              <p:nvPr/>
            </p:nvSpPr>
            <p:spPr bwMode="auto">
              <a:xfrm>
                <a:off x="1296" y="1056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6726" name="Oval 86"/>
              <p:cNvSpPr>
                <a:spLocks noChangeArrowheads="1"/>
              </p:cNvSpPr>
              <p:nvPr/>
            </p:nvSpPr>
            <p:spPr bwMode="auto">
              <a:xfrm>
                <a:off x="1344" y="1104"/>
                <a:ext cx="192" cy="1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96727" name="Oval 87"/>
            <p:cNvSpPr>
              <a:spLocks noChangeArrowheads="1"/>
            </p:cNvSpPr>
            <p:nvPr/>
          </p:nvSpPr>
          <p:spPr bwMode="auto">
            <a:xfrm>
              <a:off x="3301" y="3475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6728" name="Oval 88"/>
            <p:cNvSpPr>
              <a:spLocks noChangeArrowheads="1"/>
            </p:cNvSpPr>
            <p:nvPr/>
          </p:nvSpPr>
          <p:spPr bwMode="auto">
            <a:xfrm>
              <a:off x="3295" y="2979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6729" name="Oval 89"/>
            <p:cNvSpPr>
              <a:spLocks noChangeArrowheads="1"/>
            </p:cNvSpPr>
            <p:nvPr/>
          </p:nvSpPr>
          <p:spPr bwMode="auto">
            <a:xfrm>
              <a:off x="2767" y="3459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6730" name="Oval 90"/>
            <p:cNvSpPr>
              <a:spLocks noChangeArrowheads="1"/>
            </p:cNvSpPr>
            <p:nvPr/>
          </p:nvSpPr>
          <p:spPr bwMode="auto">
            <a:xfrm>
              <a:off x="2767" y="2979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6731" name="Oval 91"/>
            <p:cNvSpPr>
              <a:spLocks noChangeArrowheads="1"/>
            </p:cNvSpPr>
            <p:nvPr/>
          </p:nvSpPr>
          <p:spPr bwMode="auto">
            <a:xfrm>
              <a:off x="2287" y="3171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6732" name="Line 92"/>
            <p:cNvSpPr>
              <a:spLocks noChangeShapeType="1"/>
            </p:cNvSpPr>
            <p:nvPr/>
          </p:nvSpPr>
          <p:spPr bwMode="auto">
            <a:xfrm>
              <a:off x="2095" y="3267"/>
              <a:ext cx="19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6733" name="Line 93"/>
            <p:cNvSpPr>
              <a:spLocks noChangeShapeType="1"/>
            </p:cNvSpPr>
            <p:nvPr/>
          </p:nvSpPr>
          <p:spPr bwMode="auto">
            <a:xfrm flipV="1">
              <a:off x="2479" y="3123"/>
              <a:ext cx="288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6734" name="Line 94"/>
            <p:cNvSpPr>
              <a:spLocks noChangeShapeType="1"/>
            </p:cNvSpPr>
            <p:nvPr/>
          </p:nvSpPr>
          <p:spPr bwMode="auto">
            <a:xfrm>
              <a:off x="2479" y="3315"/>
              <a:ext cx="28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6735" name="Line 95"/>
            <p:cNvSpPr>
              <a:spLocks noChangeShapeType="1"/>
            </p:cNvSpPr>
            <p:nvPr/>
          </p:nvSpPr>
          <p:spPr bwMode="auto">
            <a:xfrm>
              <a:off x="2959" y="3075"/>
              <a:ext cx="336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6736" name="Line 96"/>
            <p:cNvSpPr>
              <a:spLocks noChangeShapeType="1"/>
            </p:cNvSpPr>
            <p:nvPr/>
          </p:nvSpPr>
          <p:spPr bwMode="auto">
            <a:xfrm>
              <a:off x="2959" y="3555"/>
              <a:ext cx="336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6737" name="Line 97"/>
            <p:cNvSpPr>
              <a:spLocks noChangeShapeType="1"/>
            </p:cNvSpPr>
            <p:nvPr/>
          </p:nvSpPr>
          <p:spPr bwMode="auto">
            <a:xfrm>
              <a:off x="3487" y="3123"/>
              <a:ext cx="24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6738" name="Line 98"/>
            <p:cNvSpPr>
              <a:spLocks noChangeShapeType="1"/>
            </p:cNvSpPr>
            <p:nvPr/>
          </p:nvSpPr>
          <p:spPr bwMode="auto">
            <a:xfrm flipV="1">
              <a:off x="3487" y="3411"/>
              <a:ext cx="24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6739" name="Text Box 99"/>
            <p:cNvSpPr txBox="1">
              <a:spLocks noChangeArrowheads="1"/>
            </p:cNvSpPr>
            <p:nvPr/>
          </p:nvSpPr>
          <p:spPr bwMode="auto">
            <a:xfrm>
              <a:off x="3007" y="3411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0">
                  <a:ea typeface="宋体" panose="02010600030101010101" pitchFamily="2" charset="-122"/>
                  <a:sym typeface="Symbol" panose="05050102010706020507" pitchFamily="18" charset="2"/>
                </a:rPr>
                <a:t>b</a:t>
              </a:r>
            </a:p>
          </p:txBody>
        </p:sp>
        <p:sp>
          <p:nvSpPr>
            <p:cNvPr id="496740" name="Text Box 100"/>
            <p:cNvSpPr txBox="1">
              <a:spLocks noChangeArrowheads="1"/>
            </p:cNvSpPr>
            <p:nvPr/>
          </p:nvSpPr>
          <p:spPr bwMode="auto">
            <a:xfrm>
              <a:off x="3487" y="3315"/>
              <a:ext cx="16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400" b="0"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496741" name="Text Box 101"/>
            <p:cNvSpPr txBox="1">
              <a:spLocks noChangeArrowheads="1"/>
            </p:cNvSpPr>
            <p:nvPr/>
          </p:nvSpPr>
          <p:spPr bwMode="auto">
            <a:xfrm>
              <a:off x="3487" y="2979"/>
              <a:ext cx="16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400" b="0"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496742" name="Text Box 102"/>
            <p:cNvSpPr txBox="1">
              <a:spLocks noChangeArrowheads="1"/>
            </p:cNvSpPr>
            <p:nvPr/>
          </p:nvSpPr>
          <p:spPr bwMode="auto">
            <a:xfrm>
              <a:off x="2527" y="3267"/>
              <a:ext cx="16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400" b="0"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496743" name="Text Box 103"/>
            <p:cNvSpPr txBox="1">
              <a:spLocks noChangeArrowheads="1"/>
            </p:cNvSpPr>
            <p:nvPr/>
          </p:nvSpPr>
          <p:spPr bwMode="auto">
            <a:xfrm>
              <a:off x="2479" y="3027"/>
              <a:ext cx="16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400" b="0"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496744" name="Text Box 104"/>
            <p:cNvSpPr txBox="1">
              <a:spLocks noChangeArrowheads="1"/>
            </p:cNvSpPr>
            <p:nvPr/>
          </p:nvSpPr>
          <p:spPr bwMode="auto">
            <a:xfrm>
              <a:off x="3007" y="2931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0"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496745" name="Oval 105"/>
            <p:cNvSpPr>
              <a:spLocks noChangeArrowheads="1"/>
            </p:cNvSpPr>
            <p:nvPr/>
          </p:nvSpPr>
          <p:spPr bwMode="auto">
            <a:xfrm>
              <a:off x="1903" y="3171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6746" name="Oval 106"/>
            <p:cNvSpPr>
              <a:spLocks noChangeArrowheads="1"/>
            </p:cNvSpPr>
            <p:nvPr/>
          </p:nvSpPr>
          <p:spPr bwMode="auto">
            <a:xfrm>
              <a:off x="3679" y="3219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6747" name="Line 107"/>
            <p:cNvSpPr>
              <a:spLocks noChangeShapeType="1"/>
            </p:cNvSpPr>
            <p:nvPr/>
          </p:nvSpPr>
          <p:spPr bwMode="auto">
            <a:xfrm>
              <a:off x="3871" y="3315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6748" name="Text Box 108"/>
            <p:cNvSpPr txBox="1">
              <a:spLocks noChangeArrowheads="1"/>
            </p:cNvSpPr>
            <p:nvPr/>
          </p:nvSpPr>
          <p:spPr bwMode="auto">
            <a:xfrm>
              <a:off x="2095" y="3123"/>
              <a:ext cx="16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400" b="0"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496749" name="Text Box 109"/>
            <p:cNvSpPr txBox="1">
              <a:spLocks noChangeArrowheads="1"/>
            </p:cNvSpPr>
            <p:nvPr/>
          </p:nvSpPr>
          <p:spPr bwMode="auto">
            <a:xfrm>
              <a:off x="3871" y="3171"/>
              <a:ext cx="165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400" b="0"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cxnSp>
          <p:nvCxnSpPr>
            <p:cNvPr id="496750" name="AutoShape 110"/>
            <p:cNvCxnSpPr>
              <a:cxnSpLocks noChangeShapeType="1"/>
              <a:stCxn id="496746" idx="0"/>
              <a:endCxn id="496731" idx="0"/>
            </p:cNvCxnSpPr>
            <p:nvPr/>
          </p:nvCxnSpPr>
          <p:spPr bwMode="auto">
            <a:xfrm rot="5400000" flipH="1">
              <a:off x="3055" y="2499"/>
              <a:ext cx="48" cy="1392"/>
            </a:xfrm>
            <a:prstGeom prst="curvedConnector3">
              <a:avLst>
                <a:gd name="adj1" fmla="val 74791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96751" name="Line 111"/>
            <p:cNvSpPr>
              <a:spLocks noChangeShapeType="1"/>
            </p:cNvSpPr>
            <p:nvPr/>
          </p:nvSpPr>
          <p:spPr bwMode="auto">
            <a:xfrm>
              <a:off x="1759" y="3267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6752" name="Text Box 112"/>
            <p:cNvSpPr txBox="1">
              <a:spLocks noChangeArrowheads="1"/>
            </p:cNvSpPr>
            <p:nvPr/>
          </p:nvSpPr>
          <p:spPr bwMode="auto">
            <a:xfrm>
              <a:off x="3007" y="3651"/>
              <a:ext cx="261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400" b="0">
                  <a:ea typeface="宋体" panose="02010600030101010101" pitchFamily="2" charset="-122"/>
                  <a:sym typeface="Symbol" panose="05050102010706020507" pitchFamily="18" charset="2"/>
                </a:rPr>
                <a:t></a:t>
              </a:r>
            </a:p>
          </p:txBody>
        </p:sp>
        <p:cxnSp>
          <p:nvCxnSpPr>
            <p:cNvPr id="496753" name="AutoShape 113"/>
            <p:cNvCxnSpPr>
              <a:cxnSpLocks noChangeShapeType="1"/>
              <a:stCxn id="496745" idx="4"/>
              <a:endCxn id="496723" idx="4"/>
            </p:cNvCxnSpPr>
            <p:nvPr/>
          </p:nvCxnSpPr>
          <p:spPr bwMode="auto">
            <a:xfrm rot="16200000" flipH="1">
              <a:off x="3079" y="2283"/>
              <a:ext cx="48" cy="2208"/>
            </a:xfrm>
            <a:prstGeom prst="curvedConnector3">
              <a:avLst>
                <a:gd name="adj1" fmla="val 897912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96754" name="Line 114"/>
            <p:cNvSpPr>
              <a:spLocks noChangeShapeType="1"/>
            </p:cNvSpPr>
            <p:nvPr/>
          </p:nvSpPr>
          <p:spPr bwMode="auto">
            <a:xfrm>
              <a:off x="4303" y="3315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6755" name="Text Box 115"/>
            <p:cNvSpPr txBox="1">
              <a:spLocks noChangeArrowheads="1"/>
            </p:cNvSpPr>
            <p:nvPr/>
          </p:nvSpPr>
          <p:spPr bwMode="auto">
            <a:xfrm>
              <a:off x="4303" y="3171"/>
              <a:ext cx="16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0"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</a:p>
          </p:txBody>
        </p:sp>
        <p:sp>
          <p:nvSpPr>
            <p:cNvPr id="496757" name="Text Box 117"/>
            <p:cNvSpPr txBox="1">
              <a:spLocks noChangeArrowheads="1"/>
            </p:cNvSpPr>
            <p:nvPr/>
          </p:nvSpPr>
          <p:spPr bwMode="auto">
            <a:xfrm>
              <a:off x="1911" y="315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0">
                  <a:ea typeface="宋体" panose="02010600030101010101" pitchFamily="2" charset="-122"/>
                  <a:sym typeface="Symbol" panose="05050102010706020507" pitchFamily="18" charset="2"/>
                </a:rPr>
                <a:t>0</a:t>
              </a:r>
            </a:p>
          </p:txBody>
        </p:sp>
        <p:sp>
          <p:nvSpPr>
            <p:cNvPr id="496758" name="Text Box 118"/>
            <p:cNvSpPr txBox="1">
              <a:spLocks noChangeArrowheads="1"/>
            </p:cNvSpPr>
            <p:nvPr/>
          </p:nvSpPr>
          <p:spPr bwMode="auto">
            <a:xfrm>
              <a:off x="2304" y="3158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0"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496759" name="Text Box 119"/>
            <p:cNvSpPr txBox="1">
              <a:spLocks noChangeArrowheads="1"/>
            </p:cNvSpPr>
            <p:nvPr/>
          </p:nvSpPr>
          <p:spPr bwMode="auto">
            <a:xfrm>
              <a:off x="2802" y="2976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0"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496760" name="Text Box 120"/>
            <p:cNvSpPr txBox="1">
              <a:spLocks noChangeArrowheads="1"/>
            </p:cNvSpPr>
            <p:nvPr/>
          </p:nvSpPr>
          <p:spPr bwMode="auto">
            <a:xfrm>
              <a:off x="3301" y="2976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0">
                  <a:ea typeface="宋体" panose="02010600030101010101" pitchFamily="2" charset="-122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496761" name="Text Box 121"/>
            <p:cNvSpPr txBox="1">
              <a:spLocks noChangeArrowheads="1"/>
            </p:cNvSpPr>
            <p:nvPr/>
          </p:nvSpPr>
          <p:spPr bwMode="auto">
            <a:xfrm>
              <a:off x="2773" y="3465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0">
                  <a:ea typeface="宋体" panose="02010600030101010101" pitchFamily="2" charset="-122"/>
                  <a:sym typeface="Symbol" panose="05050102010706020507" pitchFamily="18" charset="2"/>
                </a:rPr>
                <a:t>4</a:t>
              </a:r>
            </a:p>
          </p:txBody>
        </p:sp>
        <p:sp>
          <p:nvSpPr>
            <p:cNvPr id="496762" name="Text Box 122"/>
            <p:cNvSpPr txBox="1">
              <a:spLocks noChangeArrowheads="1"/>
            </p:cNvSpPr>
            <p:nvPr/>
          </p:nvSpPr>
          <p:spPr bwMode="auto">
            <a:xfrm>
              <a:off x="3301" y="3465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0">
                  <a:ea typeface="宋体" panose="02010600030101010101" pitchFamily="2" charset="-122"/>
                  <a:sym typeface="Symbol" panose="05050102010706020507" pitchFamily="18" charset="2"/>
                </a:rPr>
                <a:t>5</a:t>
              </a:r>
            </a:p>
          </p:txBody>
        </p:sp>
        <p:sp>
          <p:nvSpPr>
            <p:cNvPr id="496763" name="Text Box 123"/>
            <p:cNvSpPr txBox="1">
              <a:spLocks noChangeArrowheads="1"/>
            </p:cNvSpPr>
            <p:nvPr/>
          </p:nvSpPr>
          <p:spPr bwMode="auto">
            <a:xfrm>
              <a:off x="3680" y="3203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0">
                  <a:ea typeface="宋体" panose="02010600030101010101" pitchFamily="2" charset="-122"/>
                  <a:sym typeface="Symbol" panose="05050102010706020507" pitchFamily="18" charset="2"/>
                </a:rPr>
                <a:t>6</a:t>
              </a:r>
            </a:p>
          </p:txBody>
        </p:sp>
        <p:sp>
          <p:nvSpPr>
            <p:cNvPr id="496764" name="Text Box 124"/>
            <p:cNvSpPr txBox="1">
              <a:spLocks noChangeArrowheads="1"/>
            </p:cNvSpPr>
            <p:nvPr/>
          </p:nvSpPr>
          <p:spPr bwMode="auto">
            <a:xfrm>
              <a:off x="4617" y="3203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0">
                  <a:ea typeface="宋体" panose="02010600030101010101" pitchFamily="2" charset="-122"/>
                  <a:sym typeface="Symbol" panose="05050102010706020507" pitchFamily="18" charset="2"/>
                </a:rPr>
                <a:t>8</a:t>
              </a:r>
            </a:p>
          </p:txBody>
        </p:sp>
        <p:sp>
          <p:nvSpPr>
            <p:cNvPr id="496765" name="Text Box 125"/>
            <p:cNvSpPr txBox="1">
              <a:spLocks noChangeArrowheads="1"/>
            </p:cNvSpPr>
            <p:nvPr/>
          </p:nvSpPr>
          <p:spPr bwMode="auto">
            <a:xfrm>
              <a:off x="4118" y="3203"/>
              <a:ext cx="1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400" b="0">
                  <a:ea typeface="宋体" panose="02010600030101010101" pitchFamily="2" charset="-122"/>
                  <a:sym typeface="Symbol" panose="05050102010706020507" pitchFamily="18" charset="2"/>
                </a:rPr>
                <a:t>7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96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96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96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96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96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96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96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96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496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496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496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496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496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96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496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496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496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6663" grpId="0"/>
      <p:bldP spid="496717" grpId="0"/>
      <p:bldP spid="49675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CD8AE-2873-4A02-8F1C-C161594D9627}" type="slidenum">
              <a:rPr lang="zh-CN" altLang="en-US"/>
              <a:pPr/>
              <a:t>12</a:t>
            </a:fld>
            <a:endParaRPr lang="en-US" altLang="zh-CN"/>
          </a:p>
        </p:txBody>
      </p:sp>
      <p:sp>
        <p:nvSpPr>
          <p:cNvPr id="497669" name="AutoShape 5"/>
          <p:cNvSpPr>
            <a:spLocks noChangeArrowheads="1"/>
          </p:cNvSpPr>
          <p:nvPr/>
        </p:nvSpPr>
        <p:spPr bwMode="auto">
          <a:xfrm>
            <a:off x="4160838" y="2349500"/>
            <a:ext cx="1439862" cy="1366838"/>
          </a:xfrm>
          <a:prstGeom prst="flowChartSummingJunction">
            <a:avLst/>
          </a:prstGeom>
          <a:noFill/>
          <a:ln w="12700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97667" name="Object 3"/>
          <p:cNvGraphicFramePr>
            <a:graphicFrameLocks noChangeAspect="1"/>
          </p:cNvGraphicFramePr>
          <p:nvPr>
            <p:ph idx="1"/>
          </p:nvPr>
        </p:nvGraphicFramePr>
        <p:xfrm>
          <a:off x="2576513" y="333375"/>
          <a:ext cx="4895850" cy="595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7670" name="Visio" r:id="rId3" imgW="2912669" imgH="3543300" progId="Visio.Drawing.11">
                  <p:embed/>
                </p:oleObj>
              </mc:Choice>
              <mc:Fallback>
                <p:oleObj name="Visio" r:id="rId3" imgW="2912669" imgH="354330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6513" y="333375"/>
                        <a:ext cx="4895850" cy="5954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49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6" presetClass="emph" presetSubtype="0" accel="50000" decel="5000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497669"/>
                                        </p:tgtEl>
                                      </p:cBhvr>
                                      <p:by x="400000" y="400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9766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DD9FCD-0C63-4B82-8B63-EFC0488C5B0A}" type="slidenum">
              <a:rPr lang="zh-CN" altLang="en-US"/>
              <a:pPr/>
              <a:t>13</a:t>
            </a:fld>
            <a:endParaRPr lang="en-US" altLang="zh-CN"/>
          </a:p>
        </p:txBody>
      </p:sp>
      <p:sp>
        <p:nvSpPr>
          <p:cNvPr id="4884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  <a:noFill/>
          <a:ln/>
        </p:spPr>
        <p:txBody>
          <a:bodyPr lIns="92075" tIns="46038" rIns="92075" bIns="46038"/>
          <a:lstStyle/>
          <a:p>
            <a:r>
              <a:rPr lang="en-US" altLang="zh-CN">
                <a:ea typeface="宋体" panose="02010600030101010101" pitchFamily="2" charset="-122"/>
              </a:rPr>
              <a:t>R.E.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NFA (exercise)</a:t>
            </a:r>
          </a:p>
        </p:txBody>
      </p:sp>
      <p:grpSp>
        <p:nvGrpSpPr>
          <p:cNvPr id="488451" name="Group 3"/>
          <p:cNvGrpSpPr>
            <a:grpSpLocks/>
          </p:cNvGrpSpPr>
          <p:nvPr/>
        </p:nvGrpSpPr>
        <p:grpSpPr bwMode="auto">
          <a:xfrm>
            <a:off x="1712913" y="1916113"/>
            <a:ext cx="6108700" cy="4024312"/>
            <a:chOff x="1584" y="1584"/>
            <a:chExt cx="3552" cy="2535"/>
          </a:xfrm>
        </p:grpSpPr>
        <p:grpSp>
          <p:nvGrpSpPr>
            <p:cNvPr id="488452" name="Group 4"/>
            <p:cNvGrpSpPr>
              <a:grpSpLocks/>
            </p:cNvGrpSpPr>
            <p:nvPr/>
          </p:nvGrpSpPr>
          <p:grpSpPr bwMode="auto">
            <a:xfrm>
              <a:off x="1584" y="1584"/>
              <a:ext cx="3408" cy="2352"/>
              <a:chOff x="1584" y="1584"/>
              <a:chExt cx="3408" cy="2352"/>
            </a:xfrm>
          </p:grpSpPr>
          <p:grpSp>
            <p:nvGrpSpPr>
              <p:cNvPr id="488453" name="Group 5"/>
              <p:cNvGrpSpPr>
                <a:grpSpLocks/>
              </p:cNvGrpSpPr>
              <p:nvPr/>
            </p:nvGrpSpPr>
            <p:grpSpPr bwMode="auto">
              <a:xfrm>
                <a:off x="1584" y="1584"/>
                <a:ext cx="3312" cy="2103"/>
                <a:chOff x="1104" y="1632"/>
                <a:chExt cx="3312" cy="2103"/>
              </a:xfrm>
            </p:grpSpPr>
            <p:sp>
              <p:nvSpPr>
                <p:cNvPr id="488454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2064" y="1632"/>
                  <a:ext cx="432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800">
                      <a:ea typeface="宋体" panose="02010600030101010101" pitchFamily="2" charset="-122"/>
                    </a:rPr>
                    <a:t>r</a:t>
                  </a:r>
                  <a:r>
                    <a:rPr lang="en-US" altLang="zh-CN" sz="1800" baseline="-25000">
                      <a:ea typeface="宋体" panose="02010600030101010101" pitchFamily="2" charset="-122"/>
                    </a:rPr>
                    <a:t>13</a:t>
                  </a:r>
                  <a:endParaRPr lang="en-US" altLang="zh-CN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88455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2832" y="2016"/>
                  <a:ext cx="432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800">
                      <a:ea typeface="宋体" panose="02010600030101010101" pitchFamily="2" charset="-122"/>
                    </a:rPr>
                    <a:t>r</a:t>
                  </a:r>
                  <a:r>
                    <a:rPr lang="en-US" altLang="zh-CN" sz="1800" baseline="-25000">
                      <a:ea typeface="宋体" panose="02010600030101010101" pitchFamily="2" charset="-122"/>
                    </a:rPr>
                    <a:t>12</a:t>
                  </a:r>
                  <a:endParaRPr lang="en-US" altLang="zh-CN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88456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1584" y="2016"/>
                  <a:ext cx="432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800">
                      <a:ea typeface="宋体" panose="02010600030101010101" pitchFamily="2" charset="-122"/>
                    </a:rPr>
                    <a:t>r</a:t>
                  </a:r>
                  <a:r>
                    <a:rPr lang="en-US" altLang="zh-CN" sz="1800" baseline="-25000">
                      <a:ea typeface="宋体" panose="02010600030101010101" pitchFamily="2" charset="-122"/>
                    </a:rPr>
                    <a:t>5</a:t>
                  </a:r>
                  <a:endParaRPr lang="en-US" altLang="zh-CN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88457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104" y="2352"/>
                  <a:ext cx="432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800">
                      <a:ea typeface="宋体" panose="02010600030101010101" pitchFamily="2" charset="-122"/>
                    </a:rPr>
                    <a:t>r</a:t>
                  </a:r>
                  <a:r>
                    <a:rPr lang="en-US" altLang="zh-CN" sz="1800" baseline="-25000">
                      <a:ea typeface="宋体" panose="02010600030101010101" pitchFamily="2" charset="-122"/>
                    </a:rPr>
                    <a:t>3</a:t>
                  </a:r>
                  <a:endParaRPr lang="en-US" altLang="zh-CN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88458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2544" y="2352"/>
                  <a:ext cx="432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800">
                      <a:ea typeface="宋体" panose="02010600030101010101" pitchFamily="2" charset="-122"/>
                    </a:rPr>
                    <a:t>r</a:t>
                  </a:r>
                  <a:r>
                    <a:rPr lang="en-US" altLang="zh-CN" sz="1800" baseline="-25000">
                      <a:ea typeface="宋体" panose="02010600030101010101" pitchFamily="2" charset="-122"/>
                    </a:rPr>
                    <a:t>11</a:t>
                  </a:r>
                  <a:endParaRPr lang="en-US" altLang="zh-CN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88459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872" y="2352"/>
                  <a:ext cx="432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800">
                      <a:ea typeface="宋体" panose="02010600030101010101" pitchFamily="2" charset="-122"/>
                    </a:rPr>
                    <a:t>r</a:t>
                  </a:r>
                  <a:r>
                    <a:rPr lang="en-US" altLang="zh-CN" sz="1800" baseline="-25000">
                      <a:ea typeface="宋体" panose="02010600030101010101" pitchFamily="2" charset="-122"/>
                    </a:rPr>
                    <a:t>4</a:t>
                  </a:r>
                  <a:endParaRPr lang="en-US" altLang="zh-CN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88460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3504" y="2784"/>
                  <a:ext cx="432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800">
                      <a:ea typeface="宋体" panose="02010600030101010101" pitchFamily="2" charset="-122"/>
                    </a:rPr>
                    <a:t>r</a:t>
                  </a:r>
                  <a:r>
                    <a:rPr lang="en-US" altLang="zh-CN" sz="1800" baseline="-25000">
                      <a:ea typeface="宋体" panose="02010600030101010101" pitchFamily="2" charset="-122"/>
                    </a:rPr>
                    <a:t>9</a:t>
                  </a:r>
                  <a:endParaRPr lang="en-US" altLang="zh-CN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88461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3456" y="2352"/>
                  <a:ext cx="432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800">
                      <a:ea typeface="宋体" panose="02010600030101010101" pitchFamily="2" charset="-122"/>
                    </a:rPr>
                    <a:t>r</a:t>
                  </a:r>
                  <a:r>
                    <a:rPr lang="en-US" altLang="zh-CN" sz="1800" baseline="-25000">
                      <a:ea typeface="宋体" panose="02010600030101010101" pitchFamily="2" charset="-122"/>
                    </a:rPr>
                    <a:t>10</a:t>
                  </a:r>
                  <a:endParaRPr lang="en-US" altLang="zh-CN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88462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3984" y="3120"/>
                  <a:ext cx="432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800">
                      <a:ea typeface="宋体" panose="02010600030101010101" pitchFamily="2" charset="-122"/>
                    </a:rPr>
                    <a:t>r</a:t>
                  </a:r>
                  <a:r>
                    <a:rPr lang="en-US" altLang="zh-CN" sz="1800" baseline="-25000">
                      <a:ea typeface="宋体" panose="02010600030101010101" pitchFamily="2" charset="-122"/>
                    </a:rPr>
                    <a:t>8</a:t>
                  </a:r>
                  <a:endParaRPr lang="en-US" altLang="zh-CN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88463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3168" y="3120"/>
                  <a:ext cx="432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800">
                      <a:ea typeface="宋体" panose="02010600030101010101" pitchFamily="2" charset="-122"/>
                    </a:rPr>
                    <a:t>r</a:t>
                  </a:r>
                  <a:r>
                    <a:rPr lang="en-US" altLang="zh-CN" sz="1800" baseline="-25000">
                      <a:ea typeface="宋体" panose="02010600030101010101" pitchFamily="2" charset="-122"/>
                    </a:rPr>
                    <a:t>7</a:t>
                  </a:r>
                  <a:endParaRPr lang="en-US" altLang="zh-CN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88464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3744" y="3504"/>
                  <a:ext cx="432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800">
                      <a:ea typeface="宋体" panose="02010600030101010101" pitchFamily="2" charset="-122"/>
                    </a:rPr>
                    <a:t>r</a:t>
                  </a:r>
                  <a:r>
                    <a:rPr lang="en-US" altLang="zh-CN" sz="1800" baseline="-25000">
                      <a:ea typeface="宋体" panose="02010600030101010101" pitchFamily="2" charset="-122"/>
                    </a:rPr>
                    <a:t>6</a:t>
                  </a:r>
                  <a:endParaRPr lang="en-US" altLang="zh-CN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88465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1200" y="3312"/>
                  <a:ext cx="432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800">
                      <a:ea typeface="宋体" panose="02010600030101010101" pitchFamily="2" charset="-122"/>
                    </a:rPr>
                    <a:t>r</a:t>
                  </a:r>
                  <a:r>
                    <a:rPr lang="en-US" altLang="zh-CN" sz="1800" baseline="-25000">
                      <a:ea typeface="宋体" panose="02010600030101010101" pitchFamily="2" charset="-122"/>
                    </a:rPr>
                    <a:t>0</a:t>
                  </a:r>
                  <a:endParaRPr lang="en-US" altLang="zh-CN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88466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1536" y="2928"/>
                  <a:ext cx="432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800">
                      <a:ea typeface="宋体" panose="02010600030101010101" pitchFamily="2" charset="-122"/>
                    </a:rPr>
                    <a:t>r</a:t>
                  </a:r>
                  <a:r>
                    <a:rPr lang="en-US" altLang="zh-CN" sz="1800" baseline="-25000">
                      <a:ea typeface="宋体" panose="02010600030101010101" pitchFamily="2" charset="-122"/>
                    </a:rPr>
                    <a:t>1</a:t>
                  </a:r>
                  <a:endParaRPr lang="en-US" altLang="zh-CN" sz="18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88467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2112" y="2928"/>
                  <a:ext cx="432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800">
                      <a:ea typeface="宋体" panose="02010600030101010101" pitchFamily="2" charset="-122"/>
                    </a:rPr>
                    <a:t>r</a:t>
                  </a:r>
                  <a:r>
                    <a:rPr lang="en-US" altLang="zh-CN" sz="1800" baseline="-25000">
                      <a:ea typeface="宋体" panose="02010600030101010101" pitchFamily="2" charset="-122"/>
                    </a:rPr>
                    <a:t>2</a:t>
                  </a:r>
                  <a:endParaRPr lang="en-US" altLang="zh-CN" sz="1800"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488468" name="Line 20"/>
              <p:cNvSpPr>
                <a:spLocks noChangeShapeType="1"/>
              </p:cNvSpPr>
              <p:nvPr/>
            </p:nvSpPr>
            <p:spPr bwMode="auto">
              <a:xfrm>
                <a:off x="4272" y="2496"/>
                <a:ext cx="288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8469" name="Line 21"/>
              <p:cNvSpPr>
                <a:spLocks noChangeShapeType="1"/>
              </p:cNvSpPr>
              <p:nvPr/>
            </p:nvSpPr>
            <p:spPr bwMode="auto">
              <a:xfrm flipV="1">
                <a:off x="1920" y="3072"/>
                <a:ext cx="192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8470" name="Line 22"/>
              <p:cNvSpPr>
                <a:spLocks noChangeShapeType="1"/>
              </p:cNvSpPr>
              <p:nvPr/>
            </p:nvSpPr>
            <p:spPr bwMode="auto">
              <a:xfrm flipV="1">
                <a:off x="1872" y="2160"/>
                <a:ext cx="288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8471" name="Line 23"/>
              <p:cNvSpPr>
                <a:spLocks noChangeShapeType="1"/>
              </p:cNvSpPr>
              <p:nvPr/>
            </p:nvSpPr>
            <p:spPr bwMode="auto">
              <a:xfrm flipV="1">
                <a:off x="2256" y="2496"/>
                <a:ext cx="192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8472" name="Line 24"/>
              <p:cNvSpPr>
                <a:spLocks noChangeShapeType="1"/>
              </p:cNvSpPr>
              <p:nvPr/>
            </p:nvSpPr>
            <p:spPr bwMode="auto">
              <a:xfrm>
                <a:off x="2592" y="2544"/>
                <a:ext cx="144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8473" name="Line 25"/>
              <p:cNvSpPr>
                <a:spLocks noChangeShapeType="1"/>
              </p:cNvSpPr>
              <p:nvPr/>
            </p:nvSpPr>
            <p:spPr bwMode="auto">
              <a:xfrm>
                <a:off x="2352" y="2208"/>
                <a:ext cx="144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8474" name="Line 26"/>
              <p:cNvSpPr>
                <a:spLocks noChangeShapeType="1"/>
              </p:cNvSpPr>
              <p:nvPr/>
            </p:nvSpPr>
            <p:spPr bwMode="auto">
              <a:xfrm flipV="1">
                <a:off x="3264" y="2160"/>
                <a:ext cx="144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8475" name="Line 27"/>
              <p:cNvSpPr>
                <a:spLocks noChangeShapeType="1"/>
              </p:cNvSpPr>
              <p:nvPr/>
            </p:nvSpPr>
            <p:spPr bwMode="auto">
              <a:xfrm flipV="1">
                <a:off x="4464" y="3264"/>
                <a:ext cx="144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8476" name="Line 28"/>
              <p:cNvSpPr>
                <a:spLocks noChangeShapeType="1"/>
              </p:cNvSpPr>
              <p:nvPr/>
            </p:nvSpPr>
            <p:spPr bwMode="auto">
              <a:xfrm flipV="1">
                <a:off x="3888" y="2928"/>
                <a:ext cx="192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8477" name="Line 29"/>
              <p:cNvSpPr>
                <a:spLocks noChangeShapeType="1"/>
              </p:cNvSpPr>
              <p:nvPr/>
            </p:nvSpPr>
            <p:spPr bwMode="auto">
              <a:xfrm>
                <a:off x="4320" y="2928"/>
                <a:ext cx="24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8478" name="Line 30"/>
              <p:cNvSpPr>
                <a:spLocks noChangeShapeType="1"/>
              </p:cNvSpPr>
              <p:nvPr/>
            </p:nvSpPr>
            <p:spPr bwMode="auto">
              <a:xfrm>
                <a:off x="4128" y="2544"/>
                <a:ext cx="48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8479" name="Line 31"/>
              <p:cNvSpPr>
                <a:spLocks noChangeShapeType="1"/>
              </p:cNvSpPr>
              <p:nvPr/>
            </p:nvSpPr>
            <p:spPr bwMode="auto">
              <a:xfrm>
                <a:off x="3648" y="2208"/>
                <a:ext cx="336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8480" name="Line 32"/>
              <p:cNvSpPr>
                <a:spLocks noChangeShapeType="1"/>
              </p:cNvSpPr>
              <p:nvPr/>
            </p:nvSpPr>
            <p:spPr bwMode="auto">
              <a:xfrm>
                <a:off x="2880" y="1776"/>
                <a:ext cx="528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8481" name="Line 33"/>
              <p:cNvSpPr>
                <a:spLocks noChangeShapeType="1"/>
              </p:cNvSpPr>
              <p:nvPr/>
            </p:nvSpPr>
            <p:spPr bwMode="auto">
              <a:xfrm flipV="1">
                <a:off x="2352" y="1776"/>
                <a:ext cx="288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8482" name="Line 34"/>
              <p:cNvSpPr>
                <a:spLocks noChangeShapeType="1"/>
              </p:cNvSpPr>
              <p:nvPr/>
            </p:nvSpPr>
            <p:spPr bwMode="auto">
              <a:xfrm>
                <a:off x="2256" y="3120"/>
                <a:ext cx="96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8483" name="Line 35"/>
              <p:cNvSpPr>
                <a:spLocks noChangeShapeType="1"/>
              </p:cNvSpPr>
              <p:nvPr/>
            </p:nvSpPr>
            <p:spPr bwMode="auto">
              <a:xfrm>
                <a:off x="2784" y="3072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8484" name="Line 36"/>
              <p:cNvSpPr>
                <a:spLocks noChangeShapeType="1"/>
              </p:cNvSpPr>
              <p:nvPr/>
            </p:nvSpPr>
            <p:spPr bwMode="auto">
              <a:xfrm>
                <a:off x="1776" y="2496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8485" name="Line 37"/>
              <p:cNvSpPr>
                <a:spLocks noChangeShapeType="1"/>
              </p:cNvSpPr>
              <p:nvPr/>
            </p:nvSpPr>
            <p:spPr bwMode="auto">
              <a:xfrm>
                <a:off x="1872" y="3504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8486" name="Line 38"/>
              <p:cNvSpPr>
                <a:spLocks noChangeShapeType="1"/>
              </p:cNvSpPr>
              <p:nvPr/>
            </p:nvSpPr>
            <p:spPr bwMode="auto">
              <a:xfrm>
                <a:off x="4752" y="3312"/>
                <a:ext cx="24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8487" name="Line 39"/>
              <p:cNvSpPr>
                <a:spLocks noChangeShapeType="1"/>
              </p:cNvSpPr>
              <p:nvPr/>
            </p:nvSpPr>
            <p:spPr bwMode="auto">
              <a:xfrm>
                <a:off x="4416" y="3744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8488" name="Line 40"/>
              <p:cNvSpPr>
                <a:spLocks noChangeShapeType="1"/>
              </p:cNvSpPr>
              <p:nvPr/>
            </p:nvSpPr>
            <p:spPr bwMode="auto">
              <a:xfrm>
                <a:off x="3840" y="3312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8489" name="Line 41"/>
              <p:cNvSpPr>
                <a:spLocks noChangeShapeType="1"/>
              </p:cNvSpPr>
              <p:nvPr/>
            </p:nvSpPr>
            <p:spPr bwMode="auto">
              <a:xfrm>
                <a:off x="4176" y="2976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8490" name="Line 42"/>
              <p:cNvSpPr>
                <a:spLocks noChangeShapeType="1"/>
              </p:cNvSpPr>
              <p:nvPr/>
            </p:nvSpPr>
            <p:spPr bwMode="auto">
              <a:xfrm>
                <a:off x="3216" y="2544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8491" name="Line 43"/>
              <p:cNvSpPr>
                <a:spLocks noChangeShapeType="1"/>
              </p:cNvSpPr>
              <p:nvPr/>
            </p:nvSpPr>
            <p:spPr bwMode="auto">
              <a:xfrm>
                <a:off x="2736" y="1824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8492" name="Line 44"/>
              <p:cNvSpPr>
                <a:spLocks noChangeShapeType="1"/>
              </p:cNvSpPr>
              <p:nvPr/>
            </p:nvSpPr>
            <p:spPr bwMode="auto">
              <a:xfrm flipH="1">
                <a:off x="3744" y="2544"/>
                <a:ext cx="288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88493" name="Text Box 45"/>
            <p:cNvSpPr txBox="1">
              <a:spLocks noChangeArrowheads="1"/>
            </p:cNvSpPr>
            <p:nvPr/>
          </p:nvSpPr>
          <p:spPr bwMode="auto">
            <a:xfrm>
              <a:off x="1728" y="3744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488494" name="Text Box 46"/>
            <p:cNvSpPr txBox="1">
              <a:spLocks noChangeArrowheads="1"/>
            </p:cNvSpPr>
            <p:nvPr/>
          </p:nvSpPr>
          <p:spPr bwMode="auto">
            <a:xfrm>
              <a:off x="2208" y="3408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solidFill>
                    <a:schemeClr val="accent2"/>
                  </a:solidFill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488495" name="Text Box 47"/>
            <p:cNvSpPr txBox="1">
              <a:spLocks noChangeArrowheads="1"/>
            </p:cNvSpPr>
            <p:nvPr/>
          </p:nvSpPr>
          <p:spPr bwMode="auto">
            <a:xfrm>
              <a:off x="2640" y="3312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488496" name="Text Box 48"/>
            <p:cNvSpPr txBox="1">
              <a:spLocks noChangeArrowheads="1"/>
            </p:cNvSpPr>
            <p:nvPr/>
          </p:nvSpPr>
          <p:spPr bwMode="auto">
            <a:xfrm>
              <a:off x="1632" y="2736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88497" name="Text Box 49"/>
            <p:cNvSpPr txBox="1">
              <a:spLocks noChangeArrowheads="1"/>
            </p:cNvSpPr>
            <p:nvPr/>
          </p:nvSpPr>
          <p:spPr bwMode="auto">
            <a:xfrm>
              <a:off x="3072" y="2784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88498" name="Text Box 50"/>
            <p:cNvSpPr txBox="1">
              <a:spLocks noChangeArrowheads="1"/>
            </p:cNvSpPr>
            <p:nvPr/>
          </p:nvSpPr>
          <p:spPr bwMode="auto">
            <a:xfrm>
              <a:off x="2592" y="2016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</a:rPr>
                <a:t>|</a:t>
              </a:r>
            </a:p>
          </p:txBody>
        </p:sp>
        <p:sp>
          <p:nvSpPr>
            <p:cNvPr id="488499" name="Text Box 51"/>
            <p:cNvSpPr txBox="1">
              <a:spLocks noChangeArrowheads="1"/>
            </p:cNvSpPr>
            <p:nvPr/>
          </p:nvSpPr>
          <p:spPr bwMode="auto">
            <a:xfrm>
              <a:off x="3504" y="2688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</a:rPr>
                <a:t>(</a:t>
              </a:r>
            </a:p>
          </p:txBody>
        </p:sp>
        <p:sp>
          <p:nvSpPr>
            <p:cNvPr id="488500" name="Text Box 52"/>
            <p:cNvSpPr txBox="1">
              <a:spLocks noChangeArrowheads="1"/>
            </p:cNvSpPr>
            <p:nvPr/>
          </p:nvSpPr>
          <p:spPr bwMode="auto">
            <a:xfrm>
              <a:off x="4464" y="2640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488501" name="Text Box 53"/>
            <p:cNvSpPr txBox="1">
              <a:spLocks noChangeArrowheads="1"/>
            </p:cNvSpPr>
            <p:nvPr/>
          </p:nvSpPr>
          <p:spPr bwMode="auto">
            <a:xfrm>
              <a:off x="3744" y="3600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488502" name="Text Box 54"/>
            <p:cNvSpPr txBox="1">
              <a:spLocks noChangeArrowheads="1"/>
            </p:cNvSpPr>
            <p:nvPr/>
          </p:nvSpPr>
          <p:spPr bwMode="auto">
            <a:xfrm>
              <a:off x="4080" y="3120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</a:rPr>
                <a:t>|</a:t>
              </a:r>
            </a:p>
          </p:txBody>
        </p:sp>
        <p:sp>
          <p:nvSpPr>
            <p:cNvPr id="488503" name="Text Box 55"/>
            <p:cNvSpPr txBox="1">
              <a:spLocks noChangeArrowheads="1"/>
            </p:cNvSpPr>
            <p:nvPr/>
          </p:nvSpPr>
          <p:spPr bwMode="auto">
            <a:xfrm>
              <a:off x="4848" y="3552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solidFill>
                    <a:schemeClr val="accent2"/>
                  </a:solidFill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488504" name="Text Box 56"/>
            <p:cNvSpPr txBox="1">
              <a:spLocks noChangeArrowheads="1"/>
            </p:cNvSpPr>
            <p:nvPr/>
          </p:nvSpPr>
          <p:spPr bwMode="auto">
            <a:xfrm>
              <a:off x="4272" y="3888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</a:rPr>
                <a:t>c</a:t>
              </a:r>
            </a:p>
          </p:txBody>
        </p:sp>
      </p:grpSp>
      <p:sp>
        <p:nvSpPr>
          <p:cNvPr id="488505" name="Text Box 57"/>
          <p:cNvSpPr txBox="1">
            <a:spLocks noChangeArrowheads="1"/>
          </p:cNvSpPr>
          <p:nvPr/>
        </p:nvSpPr>
        <p:spPr bwMode="auto">
          <a:xfrm>
            <a:off x="1303338" y="1184275"/>
            <a:ext cx="736441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zh-CN" b="0">
                <a:ea typeface="宋体" panose="02010600030101010101" pitchFamily="2" charset="-122"/>
              </a:rPr>
              <a:t>2</a:t>
            </a:r>
            <a:r>
              <a:rPr lang="en-US" altLang="zh-CN" b="0" baseline="30000">
                <a:ea typeface="宋体" panose="02010600030101010101" pitchFamily="2" charset="-122"/>
              </a:rPr>
              <a:t>nd</a:t>
            </a:r>
            <a:r>
              <a:rPr lang="en-US" altLang="zh-CN" b="0">
                <a:ea typeface="宋体" panose="02010600030101010101" pitchFamily="2" charset="-122"/>
              </a:rPr>
              <a:t> Example</a:t>
            </a:r>
            <a:r>
              <a:rPr lang="en-US" altLang="zh-CN">
                <a:ea typeface="宋体" panose="02010600030101010101" pitchFamily="2" charset="-122"/>
              </a:rPr>
              <a:t> - 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(ab*c) | (a(b|c*))</a:t>
            </a:r>
          </a:p>
          <a:p>
            <a:pPr algn="ctr" eaLnBrk="1" hangingPunct="1"/>
            <a:r>
              <a:rPr lang="en-US" altLang="zh-CN" b="0">
                <a:ea typeface="宋体" panose="02010600030101010101" pitchFamily="2" charset="-122"/>
              </a:rPr>
              <a:t>Parse Tree for this regular expression:</a:t>
            </a:r>
            <a:r>
              <a:rPr lang="en-US" altLang="zh-CN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88506" name="Text Box 58"/>
          <p:cNvSpPr txBox="1">
            <a:spLocks noChangeArrowheads="1"/>
          </p:cNvSpPr>
          <p:nvPr/>
        </p:nvSpPr>
        <p:spPr bwMode="auto">
          <a:xfrm>
            <a:off x="1423988" y="5876925"/>
            <a:ext cx="6026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660066"/>
                </a:solidFill>
                <a:ea typeface="宋体" panose="02010600030101010101" pitchFamily="2" charset="-122"/>
              </a:rPr>
              <a:t>What is the NFA?  Let’s construct it !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102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10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24D07E-CBB6-4E14-ADA3-234C4CDC6B36}" type="slidenum">
              <a:rPr lang="zh-CN" altLang="en-US"/>
              <a:pPr/>
              <a:t>14</a:t>
            </a:fld>
            <a:endParaRPr lang="en-US" altLang="zh-CN"/>
          </a:p>
        </p:txBody>
      </p:sp>
      <p:sp>
        <p:nvSpPr>
          <p:cNvPr id="4894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  <a:noFill/>
          <a:ln/>
        </p:spPr>
        <p:txBody>
          <a:bodyPr lIns="92075" tIns="46038" rIns="92075" bIns="46038"/>
          <a:lstStyle/>
          <a:p>
            <a:r>
              <a:rPr lang="en-US" altLang="zh-CN">
                <a:ea typeface="宋体" panose="02010600030101010101" pitchFamily="2" charset="-122"/>
              </a:rPr>
              <a:t>R.E.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NFA (exercise answer)</a:t>
            </a:r>
            <a:r>
              <a:rPr lang="en-US" altLang="zh-CN">
                <a:ea typeface="宋体" panose="02010600030101010101" pitchFamily="2" charset="-122"/>
              </a:rPr>
              <a:t>– Construction(1)</a:t>
            </a:r>
          </a:p>
        </p:txBody>
      </p:sp>
      <p:grpSp>
        <p:nvGrpSpPr>
          <p:cNvPr id="489475" name="Group 3"/>
          <p:cNvGrpSpPr>
            <a:grpSpLocks/>
          </p:cNvGrpSpPr>
          <p:nvPr/>
        </p:nvGrpSpPr>
        <p:grpSpPr bwMode="auto">
          <a:xfrm>
            <a:off x="1403350" y="1295400"/>
            <a:ext cx="2971800" cy="2057400"/>
            <a:chOff x="816" y="816"/>
            <a:chExt cx="1728" cy="1296"/>
          </a:xfrm>
        </p:grpSpPr>
        <p:grpSp>
          <p:nvGrpSpPr>
            <p:cNvPr id="489476" name="Group 4"/>
            <p:cNvGrpSpPr>
              <a:grpSpLocks/>
            </p:cNvGrpSpPr>
            <p:nvPr/>
          </p:nvGrpSpPr>
          <p:grpSpPr bwMode="auto">
            <a:xfrm>
              <a:off x="816" y="1296"/>
              <a:ext cx="1728" cy="336"/>
              <a:chOff x="960" y="912"/>
              <a:chExt cx="1728" cy="336"/>
            </a:xfrm>
          </p:grpSpPr>
          <p:sp>
            <p:nvSpPr>
              <p:cNvPr id="489477" name="Text Box 5"/>
              <p:cNvSpPr txBox="1">
                <a:spLocks noChangeArrowheads="1"/>
              </p:cNvSpPr>
              <p:nvPr/>
            </p:nvSpPr>
            <p:spPr bwMode="auto">
              <a:xfrm>
                <a:off x="960" y="912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000">
                    <a:solidFill>
                      <a:srgbClr val="FF3300"/>
                    </a:solidFill>
                    <a:ea typeface="宋体" panose="02010600030101010101" pitchFamily="2" charset="-122"/>
                  </a:rPr>
                  <a:t>r</a:t>
                </a:r>
                <a:r>
                  <a:rPr lang="en-US" altLang="zh-CN" sz="2000" baseline="-25000">
                    <a:solidFill>
                      <a:srgbClr val="FF3300"/>
                    </a:solidFill>
                    <a:ea typeface="宋体" panose="02010600030101010101" pitchFamily="2" charset="-122"/>
                  </a:rPr>
                  <a:t>3</a:t>
                </a:r>
                <a:r>
                  <a:rPr lang="en-US" altLang="zh-CN" sz="2000">
                    <a:solidFill>
                      <a:srgbClr val="FF3300"/>
                    </a:solidFill>
                    <a:ea typeface="宋体" panose="02010600030101010101" pitchFamily="2" charset="-122"/>
                  </a:rPr>
                  <a:t>:</a:t>
                </a:r>
              </a:p>
            </p:txBody>
          </p:sp>
          <p:sp>
            <p:nvSpPr>
              <p:cNvPr id="489478" name="Oval 6"/>
              <p:cNvSpPr>
                <a:spLocks noChangeArrowheads="1"/>
              </p:cNvSpPr>
              <p:nvPr/>
            </p:nvSpPr>
            <p:spPr bwMode="auto">
              <a:xfrm>
                <a:off x="1824" y="960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89479" name="Group 7"/>
              <p:cNvGrpSpPr>
                <a:grpSpLocks/>
              </p:cNvGrpSpPr>
              <p:nvPr/>
            </p:nvGrpSpPr>
            <p:grpSpPr bwMode="auto">
              <a:xfrm>
                <a:off x="2400" y="960"/>
                <a:ext cx="288" cy="288"/>
                <a:chOff x="3408" y="1392"/>
                <a:chExt cx="288" cy="288"/>
              </a:xfrm>
            </p:grpSpPr>
            <p:sp>
              <p:nvSpPr>
                <p:cNvPr id="489480" name="Oval 8"/>
                <p:cNvSpPr>
                  <a:spLocks noChangeArrowheads="1"/>
                </p:cNvSpPr>
                <p:nvPr/>
              </p:nvSpPr>
              <p:spPr bwMode="auto">
                <a:xfrm>
                  <a:off x="3408" y="1392"/>
                  <a:ext cx="288" cy="288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9481" name="Oval 9"/>
                <p:cNvSpPr>
                  <a:spLocks noChangeArrowheads="1"/>
                </p:cNvSpPr>
                <p:nvPr/>
              </p:nvSpPr>
              <p:spPr bwMode="auto">
                <a:xfrm>
                  <a:off x="3456" y="1440"/>
                  <a:ext cx="192" cy="192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89482" name="Line 10"/>
              <p:cNvSpPr>
                <a:spLocks noChangeShapeType="1"/>
              </p:cNvSpPr>
              <p:nvPr/>
            </p:nvSpPr>
            <p:spPr bwMode="auto">
              <a:xfrm>
                <a:off x="2112" y="1104"/>
                <a:ext cx="2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9483" name="Line 11"/>
              <p:cNvSpPr>
                <a:spLocks noChangeShapeType="1"/>
              </p:cNvSpPr>
              <p:nvPr/>
            </p:nvSpPr>
            <p:spPr bwMode="auto">
              <a:xfrm>
                <a:off x="1536" y="1104"/>
                <a:ext cx="2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9484" name="Text Box 12"/>
              <p:cNvSpPr txBox="1">
                <a:spLocks noChangeArrowheads="1"/>
              </p:cNvSpPr>
              <p:nvPr/>
            </p:nvSpPr>
            <p:spPr bwMode="auto">
              <a:xfrm>
                <a:off x="2112" y="912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>
                    <a:solidFill>
                      <a:srgbClr val="FF3300"/>
                    </a:solidFill>
                    <a:ea typeface="宋体" panose="02010600030101010101" pitchFamily="2" charset="-122"/>
                  </a:rPr>
                  <a:t>a</a:t>
                </a:r>
              </a:p>
            </p:txBody>
          </p:sp>
        </p:grpSp>
        <p:grpSp>
          <p:nvGrpSpPr>
            <p:cNvPr id="489485" name="Group 13"/>
            <p:cNvGrpSpPr>
              <a:grpSpLocks/>
            </p:cNvGrpSpPr>
            <p:nvPr/>
          </p:nvGrpSpPr>
          <p:grpSpPr bwMode="auto">
            <a:xfrm>
              <a:off x="816" y="816"/>
              <a:ext cx="1728" cy="336"/>
              <a:chOff x="960" y="912"/>
              <a:chExt cx="1728" cy="336"/>
            </a:xfrm>
          </p:grpSpPr>
          <p:sp>
            <p:nvSpPr>
              <p:cNvPr id="489486" name="Text Box 14"/>
              <p:cNvSpPr txBox="1">
                <a:spLocks noChangeArrowheads="1"/>
              </p:cNvSpPr>
              <p:nvPr/>
            </p:nvSpPr>
            <p:spPr bwMode="auto">
              <a:xfrm>
                <a:off x="960" y="912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000">
                    <a:solidFill>
                      <a:srgbClr val="FF3300"/>
                    </a:solidFill>
                    <a:ea typeface="宋体" panose="02010600030101010101" pitchFamily="2" charset="-122"/>
                  </a:rPr>
                  <a:t>r</a:t>
                </a:r>
                <a:r>
                  <a:rPr lang="en-US" altLang="zh-CN" sz="2000" baseline="-25000">
                    <a:solidFill>
                      <a:srgbClr val="FF3300"/>
                    </a:solidFill>
                    <a:ea typeface="宋体" panose="02010600030101010101" pitchFamily="2" charset="-122"/>
                  </a:rPr>
                  <a:t>0</a:t>
                </a:r>
                <a:r>
                  <a:rPr lang="en-US" altLang="zh-CN" sz="2000">
                    <a:solidFill>
                      <a:srgbClr val="FF3300"/>
                    </a:solidFill>
                    <a:ea typeface="宋体" panose="02010600030101010101" pitchFamily="2" charset="-122"/>
                  </a:rPr>
                  <a:t>:</a:t>
                </a:r>
              </a:p>
            </p:txBody>
          </p:sp>
          <p:sp>
            <p:nvSpPr>
              <p:cNvPr id="489487" name="Oval 15"/>
              <p:cNvSpPr>
                <a:spLocks noChangeArrowheads="1"/>
              </p:cNvSpPr>
              <p:nvPr/>
            </p:nvSpPr>
            <p:spPr bwMode="auto">
              <a:xfrm>
                <a:off x="1824" y="960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89488" name="Group 16"/>
              <p:cNvGrpSpPr>
                <a:grpSpLocks/>
              </p:cNvGrpSpPr>
              <p:nvPr/>
            </p:nvGrpSpPr>
            <p:grpSpPr bwMode="auto">
              <a:xfrm>
                <a:off x="2400" y="960"/>
                <a:ext cx="288" cy="288"/>
                <a:chOff x="3408" y="1392"/>
                <a:chExt cx="288" cy="288"/>
              </a:xfrm>
            </p:grpSpPr>
            <p:sp>
              <p:nvSpPr>
                <p:cNvPr id="489489" name="Oval 17"/>
                <p:cNvSpPr>
                  <a:spLocks noChangeArrowheads="1"/>
                </p:cNvSpPr>
                <p:nvPr/>
              </p:nvSpPr>
              <p:spPr bwMode="auto">
                <a:xfrm>
                  <a:off x="3408" y="1392"/>
                  <a:ext cx="288" cy="288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9490" name="Oval 18"/>
                <p:cNvSpPr>
                  <a:spLocks noChangeArrowheads="1"/>
                </p:cNvSpPr>
                <p:nvPr/>
              </p:nvSpPr>
              <p:spPr bwMode="auto">
                <a:xfrm>
                  <a:off x="3456" y="1440"/>
                  <a:ext cx="192" cy="192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89491" name="Line 19"/>
              <p:cNvSpPr>
                <a:spLocks noChangeShapeType="1"/>
              </p:cNvSpPr>
              <p:nvPr/>
            </p:nvSpPr>
            <p:spPr bwMode="auto">
              <a:xfrm>
                <a:off x="2112" y="1104"/>
                <a:ext cx="2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9492" name="Line 20"/>
              <p:cNvSpPr>
                <a:spLocks noChangeShapeType="1"/>
              </p:cNvSpPr>
              <p:nvPr/>
            </p:nvSpPr>
            <p:spPr bwMode="auto">
              <a:xfrm>
                <a:off x="1536" y="1104"/>
                <a:ext cx="2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9493" name="Text Box 21"/>
              <p:cNvSpPr txBox="1">
                <a:spLocks noChangeArrowheads="1"/>
              </p:cNvSpPr>
              <p:nvPr/>
            </p:nvSpPr>
            <p:spPr bwMode="auto">
              <a:xfrm>
                <a:off x="2112" y="912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>
                    <a:solidFill>
                      <a:srgbClr val="FF3300"/>
                    </a:solidFill>
                    <a:ea typeface="宋体" panose="02010600030101010101" pitchFamily="2" charset="-122"/>
                  </a:rPr>
                  <a:t>b</a:t>
                </a:r>
              </a:p>
            </p:txBody>
          </p:sp>
        </p:grpSp>
        <p:grpSp>
          <p:nvGrpSpPr>
            <p:cNvPr id="489494" name="Group 22"/>
            <p:cNvGrpSpPr>
              <a:grpSpLocks/>
            </p:cNvGrpSpPr>
            <p:nvPr/>
          </p:nvGrpSpPr>
          <p:grpSpPr bwMode="auto">
            <a:xfrm>
              <a:off x="816" y="1776"/>
              <a:ext cx="1728" cy="336"/>
              <a:chOff x="960" y="912"/>
              <a:chExt cx="1728" cy="336"/>
            </a:xfrm>
          </p:grpSpPr>
          <p:sp>
            <p:nvSpPr>
              <p:cNvPr id="489495" name="Text Box 23"/>
              <p:cNvSpPr txBox="1">
                <a:spLocks noChangeArrowheads="1"/>
              </p:cNvSpPr>
              <p:nvPr/>
            </p:nvSpPr>
            <p:spPr bwMode="auto">
              <a:xfrm>
                <a:off x="960" y="912"/>
                <a:ext cx="43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000">
                    <a:solidFill>
                      <a:srgbClr val="FF3300"/>
                    </a:solidFill>
                    <a:ea typeface="宋体" panose="02010600030101010101" pitchFamily="2" charset="-122"/>
                  </a:rPr>
                  <a:t>r</a:t>
                </a:r>
                <a:r>
                  <a:rPr lang="en-US" altLang="zh-CN" sz="2000" baseline="-25000">
                    <a:solidFill>
                      <a:srgbClr val="FF3300"/>
                    </a:solidFill>
                    <a:ea typeface="宋体" panose="02010600030101010101" pitchFamily="2" charset="-122"/>
                  </a:rPr>
                  <a:t>2</a:t>
                </a:r>
                <a:r>
                  <a:rPr lang="en-US" altLang="zh-CN" sz="2000">
                    <a:solidFill>
                      <a:srgbClr val="FF3300"/>
                    </a:solidFill>
                    <a:ea typeface="宋体" panose="02010600030101010101" pitchFamily="2" charset="-122"/>
                  </a:rPr>
                  <a:t>:</a:t>
                </a:r>
              </a:p>
            </p:txBody>
          </p:sp>
          <p:sp>
            <p:nvSpPr>
              <p:cNvPr id="489496" name="Oval 24"/>
              <p:cNvSpPr>
                <a:spLocks noChangeArrowheads="1"/>
              </p:cNvSpPr>
              <p:nvPr/>
            </p:nvSpPr>
            <p:spPr bwMode="auto">
              <a:xfrm>
                <a:off x="1824" y="960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89497" name="Group 25"/>
              <p:cNvGrpSpPr>
                <a:grpSpLocks/>
              </p:cNvGrpSpPr>
              <p:nvPr/>
            </p:nvGrpSpPr>
            <p:grpSpPr bwMode="auto">
              <a:xfrm>
                <a:off x="2400" y="960"/>
                <a:ext cx="288" cy="288"/>
                <a:chOff x="3408" y="1392"/>
                <a:chExt cx="288" cy="288"/>
              </a:xfrm>
            </p:grpSpPr>
            <p:sp>
              <p:nvSpPr>
                <p:cNvPr id="489498" name="Oval 26"/>
                <p:cNvSpPr>
                  <a:spLocks noChangeArrowheads="1"/>
                </p:cNvSpPr>
                <p:nvPr/>
              </p:nvSpPr>
              <p:spPr bwMode="auto">
                <a:xfrm>
                  <a:off x="3408" y="1392"/>
                  <a:ext cx="288" cy="288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9499" name="Oval 27"/>
                <p:cNvSpPr>
                  <a:spLocks noChangeArrowheads="1"/>
                </p:cNvSpPr>
                <p:nvPr/>
              </p:nvSpPr>
              <p:spPr bwMode="auto">
                <a:xfrm>
                  <a:off x="3456" y="1440"/>
                  <a:ext cx="192" cy="192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89500" name="Line 28"/>
              <p:cNvSpPr>
                <a:spLocks noChangeShapeType="1"/>
              </p:cNvSpPr>
              <p:nvPr/>
            </p:nvSpPr>
            <p:spPr bwMode="auto">
              <a:xfrm>
                <a:off x="2112" y="1104"/>
                <a:ext cx="2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9501" name="Line 29"/>
              <p:cNvSpPr>
                <a:spLocks noChangeShapeType="1"/>
              </p:cNvSpPr>
              <p:nvPr/>
            </p:nvSpPr>
            <p:spPr bwMode="auto">
              <a:xfrm>
                <a:off x="1536" y="1104"/>
                <a:ext cx="2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9502" name="Text Box 30"/>
              <p:cNvSpPr txBox="1">
                <a:spLocks noChangeArrowheads="1"/>
              </p:cNvSpPr>
              <p:nvPr/>
            </p:nvSpPr>
            <p:spPr bwMode="auto">
              <a:xfrm>
                <a:off x="2112" y="912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>
                    <a:solidFill>
                      <a:srgbClr val="FF3300"/>
                    </a:solidFill>
                    <a:ea typeface="宋体" panose="02010600030101010101" pitchFamily="2" charset="-122"/>
                  </a:rPr>
                  <a:t>c</a:t>
                </a:r>
              </a:p>
            </p:txBody>
          </p:sp>
        </p:grpSp>
      </p:grpSp>
      <p:grpSp>
        <p:nvGrpSpPr>
          <p:cNvPr id="489503" name="Group 31"/>
          <p:cNvGrpSpPr>
            <a:grpSpLocks/>
          </p:cNvGrpSpPr>
          <p:nvPr/>
        </p:nvGrpSpPr>
        <p:grpSpPr bwMode="auto">
          <a:xfrm>
            <a:off x="5035550" y="1524000"/>
            <a:ext cx="4540250" cy="1509713"/>
            <a:chOff x="2928" y="960"/>
            <a:chExt cx="2640" cy="951"/>
          </a:xfrm>
        </p:grpSpPr>
        <p:grpSp>
          <p:nvGrpSpPr>
            <p:cNvPr id="489504" name="Group 32"/>
            <p:cNvGrpSpPr>
              <a:grpSpLocks/>
            </p:cNvGrpSpPr>
            <p:nvPr/>
          </p:nvGrpSpPr>
          <p:grpSpPr bwMode="auto">
            <a:xfrm>
              <a:off x="3264" y="1296"/>
              <a:ext cx="2304" cy="289"/>
              <a:chOff x="3024" y="3072"/>
              <a:chExt cx="2304" cy="289"/>
            </a:xfrm>
          </p:grpSpPr>
          <p:sp>
            <p:nvSpPr>
              <p:cNvPr id="489505" name="Oval 33"/>
              <p:cNvSpPr>
                <a:spLocks noChangeArrowheads="1"/>
              </p:cNvSpPr>
              <p:nvPr/>
            </p:nvSpPr>
            <p:spPr bwMode="auto">
              <a:xfrm>
                <a:off x="3408" y="3072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9506" name="Oval 34"/>
              <p:cNvSpPr>
                <a:spLocks noChangeArrowheads="1"/>
              </p:cNvSpPr>
              <p:nvPr/>
            </p:nvSpPr>
            <p:spPr bwMode="auto">
              <a:xfrm>
                <a:off x="5088" y="3120"/>
                <a:ext cx="192" cy="19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9507" name="Oval 35"/>
              <p:cNvSpPr>
                <a:spLocks noChangeArrowheads="1"/>
              </p:cNvSpPr>
              <p:nvPr/>
            </p:nvSpPr>
            <p:spPr bwMode="auto">
              <a:xfrm>
                <a:off x="3936" y="3072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9508" name="Oval 36"/>
              <p:cNvSpPr>
                <a:spLocks noChangeArrowheads="1"/>
              </p:cNvSpPr>
              <p:nvPr/>
            </p:nvSpPr>
            <p:spPr bwMode="auto">
              <a:xfrm>
                <a:off x="4464" y="3072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9509" name="Oval 37"/>
              <p:cNvSpPr>
                <a:spLocks noChangeArrowheads="1"/>
              </p:cNvSpPr>
              <p:nvPr/>
            </p:nvSpPr>
            <p:spPr bwMode="auto">
              <a:xfrm>
                <a:off x="5040" y="3072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9510" name="Line 38"/>
              <p:cNvSpPr>
                <a:spLocks noChangeShapeType="1"/>
              </p:cNvSpPr>
              <p:nvPr/>
            </p:nvSpPr>
            <p:spPr bwMode="auto">
              <a:xfrm>
                <a:off x="3024" y="3216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9511" name="Line 39"/>
              <p:cNvSpPr>
                <a:spLocks noChangeShapeType="1"/>
              </p:cNvSpPr>
              <p:nvPr/>
            </p:nvSpPr>
            <p:spPr bwMode="auto">
              <a:xfrm>
                <a:off x="3696" y="3216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9512" name="Line 40"/>
              <p:cNvSpPr>
                <a:spLocks noChangeShapeType="1"/>
              </p:cNvSpPr>
              <p:nvPr/>
            </p:nvSpPr>
            <p:spPr bwMode="auto">
              <a:xfrm>
                <a:off x="4224" y="3216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9513" name="Line 41"/>
              <p:cNvSpPr>
                <a:spLocks noChangeShapeType="1"/>
              </p:cNvSpPr>
              <p:nvPr/>
            </p:nvSpPr>
            <p:spPr bwMode="auto">
              <a:xfrm>
                <a:off x="4752" y="3216"/>
                <a:ext cx="2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489514" name="AutoShape 42"/>
              <p:cNvCxnSpPr>
                <a:cxnSpLocks noChangeShapeType="1"/>
                <a:stCxn id="489505" idx="4"/>
                <a:endCxn id="489509" idx="4"/>
              </p:cNvCxnSpPr>
              <p:nvPr/>
            </p:nvCxnSpPr>
            <p:spPr bwMode="auto">
              <a:xfrm rot="16200000" flipH="1">
                <a:off x="4367" y="2545"/>
                <a:ext cx="1" cy="1632"/>
              </a:xfrm>
              <a:prstGeom prst="curvedConnector3">
                <a:avLst>
                  <a:gd name="adj1" fmla="val 14400000"/>
                </a:avLst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89515" name="AutoShape 43"/>
              <p:cNvCxnSpPr>
                <a:cxnSpLocks noChangeShapeType="1"/>
                <a:stCxn id="489508" idx="0"/>
                <a:endCxn id="489507" idx="0"/>
              </p:cNvCxnSpPr>
              <p:nvPr/>
            </p:nvCxnSpPr>
            <p:spPr bwMode="auto">
              <a:xfrm rot="16200000" flipH="1" flipV="1">
                <a:off x="4343" y="2809"/>
                <a:ext cx="1" cy="528"/>
              </a:xfrm>
              <a:prstGeom prst="curvedConnector3">
                <a:avLst>
                  <a:gd name="adj1" fmla="val -14400000"/>
                </a:avLst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489516" name="Text Box 44"/>
            <p:cNvSpPr txBox="1">
              <a:spLocks noChangeArrowheads="1"/>
            </p:cNvSpPr>
            <p:nvPr/>
          </p:nvSpPr>
          <p:spPr bwMode="auto">
            <a:xfrm>
              <a:off x="4416" y="1248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rgbClr val="660066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489517" name="Text Box 45"/>
            <p:cNvSpPr txBox="1">
              <a:spLocks noChangeArrowheads="1"/>
            </p:cNvSpPr>
            <p:nvPr/>
          </p:nvSpPr>
          <p:spPr bwMode="auto">
            <a:xfrm>
              <a:off x="4944" y="1248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solidFill>
                  <a:srgbClr val="66006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89518" name="Text Box 46"/>
            <p:cNvSpPr txBox="1">
              <a:spLocks noChangeArrowheads="1"/>
            </p:cNvSpPr>
            <p:nvPr/>
          </p:nvSpPr>
          <p:spPr bwMode="auto">
            <a:xfrm>
              <a:off x="4368" y="1680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solidFill>
                  <a:srgbClr val="66006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89519" name="Text Box 47"/>
            <p:cNvSpPr txBox="1">
              <a:spLocks noChangeArrowheads="1"/>
            </p:cNvSpPr>
            <p:nvPr/>
          </p:nvSpPr>
          <p:spPr bwMode="auto">
            <a:xfrm>
              <a:off x="4416" y="960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solidFill>
                  <a:srgbClr val="66006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89520" name="Text Box 48"/>
            <p:cNvSpPr txBox="1">
              <a:spLocks noChangeArrowheads="1"/>
            </p:cNvSpPr>
            <p:nvPr/>
          </p:nvSpPr>
          <p:spPr bwMode="auto">
            <a:xfrm>
              <a:off x="3888" y="1248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solidFill>
                  <a:srgbClr val="66006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89521" name="Text Box 49"/>
            <p:cNvSpPr txBox="1">
              <a:spLocks noChangeArrowheads="1"/>
            </p:cNvSpPr>
            <p:nvPr/>
          </p:nvSpPr>
          <p:spPr bwMode="auto">
            <a:xfrm>
              <a:off x="2928" y="1296"/>
              <a:ext cx="3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rgbClr val="660066"/>
                  </a:solidFill>
                  <a:ea typeface="宋体" panose="02010600030101010101" pitchFamily="2" charset="-122"/>
                </a:rPr>
                <a:t>r</a:t>
              </a:r>
              <a:r>
                <a:rPr lang="en-US" altLang="zh-CN" sz="1800" baseline="-25000">
                  <a:solidFill>
                    <a:srgbClr val="660066"/>
                  </a:solidFill>
                  <a:ea typeface="宋体" panose="02010600030101010101" pitchFamily="2" charset="-122"/>
                </a:rPr>
                <a:t>1</a:t>
              </a:r>
              <a:r>
                <a:rPr lang="en-US" altLang="zh-CN" sz="1800">
                  <a:solidFill>
                    <a:srgbClr val="660066"/>
                  </a:solidFill>
                  <a:ea typeface="宋体" panose="02010600030101010101" pitchFamily="2" charset="-122"/>
                </a:rPr>
                <a:t>:</a:t>
              </a:r>
            </a:p>
          </p:txBody>
        </p:sp>
      </p:grpSp>
      <p:grpSp>
        <p:nvGrpSpPr>
          <p:cNvPr id="489522" name="Group 50"/>
          <p:cNvGrpSpPr>
            <a:grpSpLocks/>
          </p:cNvGrpSpPr>
          <p:nvPr/>
        </p:nvGrpSpPr>
        <p:grpSpPr bwMode="auto">
          <a:xfrm>
            <a:off x="1403350" y="3429000"/>
            <a:ext cx="6356350" cy="1509713"/>
            <a:chOff x="816" y="2160"/>
            <a:chExt cx="3696" cy="951"/>
          </a:xfrm>
        </p:grpSpPr>
        <p:sp>
          <p:nvSpPr>
            <p:cNvPr id="489523" name="Text Box 51"/>
            <p:cNvSpPr txBox="1">
              <a:spLocks noChangeArrowheads="1"/>
            </p:cNvSpPr>
            <p:nvPr/>
          </p:nvSpPr>
          <p:spPr bwMode="auto">
            <a:xfrm>
              <a:off x="816" y="2496"/>
              <a:ext cx="8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</a:rPr>
                <a:t>r</a:t>
              </a:r>
              <a:r>
                <a:rPr lang="en-US" altLang="zh-CN" sz="1800" baseline="-25000">
                  <a:solidFill>
                    <a:schemeClr val="accent2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</a:rPr>
                <a:t> : r</a:t>
              </a:r>
              <a:r>
                <a:rPr lang="en-US" altLang="zh-CN" sz="1800" baseline="-25000">
                  <a:solidFill>
                    <a:schemeClr val="accent2"/>
                  </a:solidFill>
                  <a:ea typeface="宋体" panose="02010600030101010101" pitchFamily="2" charset="-122"/>
                </a:rPr>
                <a:t>1</a:t>
              </a: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</a:rPr>
                <a:t> r</a:t>
              </a:r>
              <a:r>
                <a:rPr lang="en-US" altLang="zh-CN" sz="1800" baseline="-25000">
                  <a:solidFill>
                    <a:schemeClr val="accent2"/>
                  </a:solidFill>
                  <a:ea typeface="宋体" panose="02010600030101010101" pitchFamily="2" charset="-122"/>
                </a:rPr>
                <a:t>2</a:t>
              </a:r>
              <a:endParaRPr lang="en-US" altLang="zh-CN" sz="1800">
                <a:solidFill>
                  <a:schemeClr val="accent2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489524" name="Group 52"/>
            <p:cNvGrpSpPr>
              <a:grpSpLocks/>
            </p:cNvGrpSpPr>
            <p:nvPr/>
          </p:nvGrpSpPr>
          <p:grpSpPr bwMode="auto">
            <a:xfrm>
              <a:off x="1536" y="2160"/>
              <a:ext cx="2976" cy="951"/>
              <a:chOff x="2352" y="2880"/>
              <a:chExt cx="2976" cy="951"/>
            </a:xfrm>
          </p:grpSpPr>
          <p:sp>
            <p:nvSpPr>
              <p:cNvPr id="489525" name="Oval 53"/>
              <p:cNvSpPr>
                <a:spLocks noChangeArrowheads="1"/>
              </p:cNvSpPr>
              <p:nvPr/>
            </p:nvSpPr>
            <p:spPr bwMode="auto">
              <a:xfrm>
                <a:off x="2736" y="3216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9526" name="Oval 54"/>
              <p:cNvSpPr>
                <a:spLocks noChangeArrowheads="1"/>
              </p:cNvSpPr>
              <p:nvPr/>
            </p:nvSpPr>
            <p:spPr bwMode="auto">
              <a:xfrm>
                <a:off x="3264" y="3216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9527" name="Oval 55"/>
              <p:cNvSpPr>
                <a:spLocks noChangeArrowheads="1"/>
              </p:cNvSpPr>
              <p:nvPr/>
            </p:nvSpPr>
            <p:spPr bwMode="auto">
              <a:xfrm>
                <a:off x="3792" y="3216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9528" name="Oval 56"/>
              <p:cNvSpPr>
                <a:spLocks noChangeArrowheads="1"/>
              </p:cNvSpPr>
              <p:nvPr/>
            </p:nvSpPr>
            <p:spPr bwMode="auto">
              <a:xfrm>
                <a:off x="4368" y="3216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9529" name="Line 57"/>
              <p:cNvSpPr>
                <a:spLocks noChangeShapeType="1"/>
              </p:cNvSpPr>
              <p:nvPr/>
            </p:nvSpPr>
            <p:spPr bwMode="auto">
              <a:xfrm>
                <a:off x="2352" y="3360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9530" name="Line 58"/>
              <p:cNvSpPr>
                <a:spLocks noChangeShapeType="1"/>
              </p:cNvSpPr>
              <p:nvPr/>
            </p:nvSpPr>
            <p:spPr bwMode="auto">
              <a:xfrm>
                <a:off x="3024" y="3360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9531" name="Line 59"/>
              <p:cNvSpPr>
                <a:spLocks noChangeShapeType="1"/>
              </p:cNvSpPr>
              <p:nvPr/>
            </p:nvSpPr>
            <p:spPr bwMode="auto">
              <a:xfrm>
                <a:off x="3552" y="3360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9532" name="Line 60"/>
              <p:cNvSpPr>
                <a:spLocks noChangeShapeType="1"/>
              </p:cNvSpPr>
              <p:nvPr/>
            </p:nvSpPr>
            <p:spPr bwMode="auto">
              <a:xfrm>
                <a:off x="4080" y="3360"/>
                <a:ext cx="2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489533" name="AutoShape 61"/>
              <p:cNvCxnSpPr>
                <a:cxnSpLocks noChangeShapeType="1"/>
                <a:stCxn id="489525" idx="4"/>
                <a:endCxn id="489528" idx="4"/>
              </p:cNvCxnSpPr>
              <p:nvPr/>
            </p:nvCxnSpPr>
            <p:spPr bwMode="auto">
              <a:xfrm rot="16200000" flipH="1">
                <a:off x="3695" y="2689"/>
                <a:ext cx="1" cy="1632"/>
              </a:xfrm>
              <a:prstGeom prst="curvedConnector3">
                <a:avLst>
                  <a:gd name="adj1" fmla="val 14400000"/>
                </a:avLst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89534" name="AutoShape 62"/>
              <p:cNvCxnSpPr>
                <a:cxnSpLocks noChangeShapeType="1"/>
                <a:stCxn id="489527" idx="0"/>
                <a:endCxn id="489526" idx="0"/>
              </p:cNvCxnSpPr>
              <p:nvPr/>
            </p:nvCxnSpPr>
            <p:spPr bwMode="auto">
              <a:xfrm rot="16200000" flipH="1" flipV="1">
                <a:off x="3671" y="2953"/>
                <a:ext cx="1" cy="528"/>
              </a:xfrm>
              <a:prstGeom prst="curvedConnector3">
                <a:avLst>
                  <a:gd name="adj1" fmla="val -14400000"/>
                </a:avLst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89535" name="Text Box 63"/>
              <p:cNvSpPr txBox="1">
                <a:spLocks noChangeArrowheads="1"/>
              </p:cNvSpPr>
              <p:nvPr/>
            </p:nvSpPr>
            <p:spPr bwMode="auto">
              <a:xfrm>
                <a:off x="3504" y="3168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489536" name="Text Box 64"/>
              <p:cNvSpPr txBox="1">
                <a:spLocks noChangeArrowheads="1"/>
              </p:cNvSpPr>
              <p:nvPr/>
            </p:nvSpPr>
            <p:spPr bwMode="auto">
              <a:xfrm>
                <a:off x="4032" y="3168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 sz="1800">
                    <a:solidFill>
                      <a:schemeClr val="accent2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</a:t>
                </a:r>
                <a:endParaRPr lang="zh-CN" altLang="en-US" sz="1800">
                  <a:solidFill>
                    <a:schemeClr val="accent2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89537" name="Text Box 65"/>
              <p:cNvSpPr txBox="1">
                <a:spLocks noChangeArrowheads="1"/>
              </p:cNvSpPr>
              <p:nvPr/>
            </p:nvSpPr>
            <p:spPr bwMode="auto">
              <a:xfrm>
                <a:off x="3456" y="3600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 sz="1800">
                    <a:solidFill>
                      <a:schemeClr val="accent2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</a:t>
                </a:r>
                <a:endParaRPr lang="zh-CN" altLang="en-US" sz="1800">
                  <a:solidFill>
                    <a:schemeClr val="accent2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89538" name="Text Box 66"/>
              <p:cNvSpPr txBox="1">
                <a:spLocks noChangeArrowheads="1"/>
              </p:cNvSpPr>
              <p:nvPr/>
            </p:nvSpPr>
            <p:spPr bwMode="auto">
              <a:xfrm>
                <a:off x="3504" y="2880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 sz="1800">
                    <a:solidFill>
                      <a:schemeClr val="accent2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</a:t>
                </a:r>
                <a:endParaRPr lang="zh-CN" altLang="en-US" sz="1800">
                  <a:solidFill>
                    <a:schemeClr val="accent2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489539" name="Text Box 67"/>
              <p:cNvSpPr txBox="1">
                <a:spLocks noChangeArrowheads="1"/>
              </p:cNvSpPr>
              <p:nvPr/>
            </p:nvSpPr>
            <p:spPr bwMode="auto">
              <a:xfrm>
                <a:off x="2976" y="3168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 sz="1800">
                    <a:solidFill>
                      <a:schemeClr val="accent2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</a:t>
                </a:r>
                <a:endParaRPr lang="zh-CN" altLang="en-US" sz="1800">
                  <a:solidFill>
                    <a:schemeClr val="accent2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489540" name="Group 68"/>
              <p:cNvGrpSpPr>
                <a:grpSpLocks/>
              </p:cNvGrpSpPr>
              <p:nvPr/>
            </p:nvGrpSpPr>
            <p:grpSpPr bwMode="auto">
              <a:xfrm>
                <a:off x="5040" y="3216"/>
                <a:ext cx="288" cy="288"/>
                <a:chOff x="4368" y="3216"/>
                <a:chExt cx="288" cy="288"/>
              </a:xfrm>
            </p:grpSpPr>
            <p:sp>
              <p:nvSpPr>
                <p:cNvPr id="489541" name="Oval 69"/>
                <p:cNvSpPr>
                  <a:spLocks noChangeArrowheads="1"/>
                </p:cNvSpPr>
                <p:nvPr/>
              </p:nvSpPr>
              <p:spPr bwMode="auto">
                <a:xfrm>
                  <a:off x="4416" y="3264"/>
                  <a:ext cx="192" cy="192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9542" name="Oval 70"/>
                <p:cNvSpPr>
                  <a:spLocks noChangeArrowheads="1"/>
                </p:cNvSpPr>
                <p:nvPr/>
              </p:nvSpPr>
              <p:spPr bwMode="auto">
                <a:xfrm>
                  <a:off x="4368" y="3216"/>
                  <a:ext cx="288" cy="288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89543" name="Line 71"/>
              <p:cNvSpPr>
                <a:spLocks noChangeShapeType="1"/>
              </p:cNvSpPr>
              <p:nvPr/>
            </p:nvSpPr>
            <p:spPr bwMode="auto">
              <a:xfrm>
                <a:off x="4656" y="3360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9544" name="Text Box 72"/>
              <p:cNvSpPr txBox="1">
                <a:spLocks noChangeArrowheads="1"/>
              </p:cNvSpPr>
              <p:nvPr/>
            </p:nvSpPr>
            <p:spPr bwMode="auto">
              <a:xfrm>
                <a:off x="4656" y="3168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>
                    <a:solidFill>
                      <a:schemeClr val="accent2"/>
                    </a:solidFill>
                    <a:ea typeface="宋体" panose="02010600030101010101" pitchFamily="2" charset="-122"/>
                  </a:rPr>
                  <a:t>c</a:t>
                </a:r>
              </a:p>
            </p:txBody>
          </p:sp>
        </p:grpSp>
      </p:grpSp>
      <p:grpSp>
        <p:nvGrpSpPr>
          <p:cNvPr id="489545" name="Group 73"/>
          <p:cNvGrpSpPr>
            <a:grpSpLocks/>
          </p:cNvGrpSpPr>
          <p:nvPr/>
        </p:nvGrpSpPr>
        <p:grpSpPr bwMode="auto">
          <a:xfrm>
            <a:off x="1403350" y="5013325"/>
            <a:ext cx="7429500" cy="1509713"/>
            <a:chOff x="816" y="3216"/>
            <a:chExt cx="4320" cy="951"/>
          </a:xfrm>
        </p:grpSpPr>
        <p:sp>
          <p:nvSpPr>
            <p:cNvPr id="489546" name="Text Box 74"/>
            <p:cNvSpPr txBox="1">
              <a:spLocks noChangeArrowheads="1"/>
            </p:cNvSpPr>
            <p:nvPr/>
          </p:nvSpPr>
          <p:spPr bwMode="auto">
            <a:xfrm>
              <a:off x="816" y="3600"/>
              <a:ext cx="8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r</a:t>
              </a:r>
              <a:r>
                <a:rPr lang="en-US" altLang="zh-CN" sz="1800" baseline="-25000">
                  <a:ea typeface="宋体" panose="02010600030101010101" pitchFamily="2" charset="-122"/>
                </a:rPr>
                <a:t>5</a:t>
              </a:r>
              <a:r>
                <a:rPr lang="en-US" altLang="zh-CN" sz="1800">
                  <a:ea typeface="宋体" panose="02010600030101010101" pitchFamily="2" charset="-122"/>
                </a:rPr>
                <a:t> : r</a:t>
              </a:r>
              <a:r>
                <a:rPr lang="en-US" altLang="zh-CN" sz="1800" baseline="-25000">
                  <a:ea typeface="宋体" panose="02010600030101010101" pitchFamily="2" charset="-122"/>
                </a:rPr>
                <a:t>3</a:t>
              </a:r>
              <a:r>
                <a:rPr lang="en-US" altLang="zh-CN" sz="1800">
                  <a:ea typeface="宋体" panose="02010600030101010101" pitchFamily="2" charset="-122"/>
                </a:rPr>
                <a:t> r</a:t>
              </a:r>
              <a:r>
                <a:rPr lang="en-US" altLang="zh-CN" sz="1800" baseline="-25000">
                  <a:ea typeface="宋体" panose="02010600030101010101" pitchFamily="2" charset="-122"/>
                </a:rPr>
                <a:t>4</a:t>
              </a:r>
              <a:endParaRPr lang="en-US" altLang="zh-CN" sz="1800">
                <a:ea typeface="宋体" panose="02010600030101010101" pitchFamily="2" charset="-122"/>
              </a:endParaRPr>
            </a:p>
          </p:txBody>
        </p:sp>
        <p:grpSp>
          <p:nvGrpSpPr>
            <p:cNvPr id="489547" name="Group 75"/>
            <p:cNvGrpSpPr>
              <a:grpSpLocks/>
            </p:cNvGrpSpPr>
            <p:nvPr/>
          </p:nvGrpSpPr>
          <p:grpSpPr bwMode="auto">
            <a:xfrm>
              <a:off x="1488" y="3216"/>
              <a:ext cx="3648" cy="951"/>
              <a:chOff x="1344" y="3168"/>
              <a:chExt cx="3648" cy="951"/>
            </a:xfrm>
          </p:grpSpPr>
          <p:sp>
            <p:nvSpPr>
              <p:cNvPr id="489548" name="Oval 76"/>
              <p:cNvSpPr>
                <a:spLocks noChangeArrowheads="1"/>
              </p:cNvSpPr>
              <p:nvPr/>
            </p:nvSpPr>
            <p:spPr bwMode="auto">
              <a:xfrm>
                <a:off x="2400" y="3504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9549" name="Oval 77"/>
              <p:cNvSpPr>
                <a:spLocks noChangeArrowheads="1"/>
              </p:cNvSpPr>
              <p:nvPr/>
            </p:nvSpPr>
            <p:spPr bwMode="auto">
              <a:xfrm>
                <a:off x="2928" y="3504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9550" name="Oval 78"/>
              <p:cNvSpPr>
                <a:spLocks noChangeArrowheads="1"/>
              </p:cNvSpPr>
              <p:nvPr/>
            </p:nvSpPr>
            <p:spPr bwMode="auto">
              <a:xfrm>
                <a:off x="3456" y="3504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9551" name="Oval 79"/>
              <p:cNvSpPr>
                <a:spLocks noChangeArrowheads="1"/>
              </p:cNvSpPr>
              <p:nvPr/>
            </p:nvSpPr>
            <p:spPr bwMode="auto">
              <a:xfrm>
                <a:off x="4032" y="3504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9552" name="Line 80"/>
              <p:cNvSpPr>
                <a:spLocks noChangeShapeType="1"/>
              </p:cNvSpPr>
              <p:nvPr/>
            </p:nvSpPr>
            <p:spPr bwMode="auto">
              <a:xfrm>
                <a:off x="2016" y="3648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9553" name="Line 81"/>
              <p:cNvSpPr>
                <a:spLocks noChangeShapeType="1"/>
              </p:cNvSpPr>
              <p:nvPr/>
            </p:nvSpPr>
            <p:spPr bwMode="auto">
              <a:xfrm>
                <a:off x="2688" y="3648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9554" name="Line 82"/>
              <p:cNvSpPr>
                <a:spLocks noChangeShapeType="1"/>
              </p:cNvSpPr>
              <p:nvPr/>
            </p:nvSpPr>
            <p:spPr bwMode="auto">
              <a:xfrm>
                <a:off x="3216" y="3648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9555" name="Line 83"/>
              <p:cNvSpPr>
                <a:spLocks noChangeShapeType="1"/>
              </p:cNvSpPr>
              <p:nvPr/>
            </p:nvSpPr>
            <p:spPr bwMode="auto">
              <a:xfrm>
                <a:off x="3744" y="3648"/>
                <a:ext cx="2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489556" name="AutoShape 84"/>
              <p:cNvCxnSpPr>
                <a:cxnSpLocks noChangeShapeType="1"/>
                <a:stCxn id="489548" idx="4"/>
                <a:endCxn id="489551" idx="4"/>
              </p:cNvCxnSpPr>
              <p:nvPr/>
            </p:nvCxnSpPr>
            <p:spPr bwMode="auto">
              <a:xfrm rot="16200000" flipH="1">
                <a:off x="3359" y="2977"/>
                <a:ext cx="1" cy="1632"/>
              </a:xfrm>
              <a:prstGeom prst="curvedConnector3">
                <a:avLst>
                  <a:gd name="adj1" fmla="val 14400000"/>
                </a:avLst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89557" name="AutoShape 85"/>
              <p:cNvCxnSpPr>
                <a:cxnSpLocks noChangeShapeType="1"/>
                <a:stCxn id="489550" idx="0"/>
                <a:endCxn id="489549" idx="0"/>
              </p:cNvCxnSpPr>
              <p:nvPr/>
            </p:nvCxnSpPr>
            <p:spPr bwMode="auto">
              <a:xfrm rot="16200000" flipH="1" flipV="1">
                <a:off x="3335" y="3241"/>
                <a:ext cx="1" cy="528"/>
              </a:xfrm>
              <a:prstGeom prst="curvedConnector3">
                <a:avLst>
                  <a:gd name="adj1" fmla="val -14400000"/>
                </a:avLst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489558" name="Text Box 86"/>
              <p:cNvSpPr txBox="1">
                <a:spLocks noChangeArrowheads="1"/>
              </p:cNvSpPr>
              <p:nvPr/>
            </p:nvSpPr>
            <p:spPr bwMode="auto">
              <a:xfrm>
                <a:off x="3168" y="3456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>
                    <a:ea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489559" name="Text Box 87"/>
              <p:cNvSpPr txBox="1">
                <a:spLocks noChangeArrowheads="1"/>
              </p:cNvSpPr>
              <p:nvPr/>
            </p:nvSpPr>
            <p:spPr bwMode="auto">
              <a:xfrm>
                <a:off x="3696" y="3456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 sz="1800">
                    <a:ea typeface="宋体" panose="02010600030101010101" pitchFamily="2" charset="-122"/>
                    <a:sym typeface="Symbol" panose="05050102010706020507" pitchFamily="18" charset="2"/>
                  </a:rPr>
                  <a:t></a:t>
                </a: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489560" name="Text Box 88"/>
              <p:cNvSpPr txBox="1">
                <a:spLocks noChangeArrowheads="1"/>
              </p:cNvSpPr>
              <p:nvPr/>
            </p:nvSpPr>
            <p:spPr bwMode="auto">
              <a:xfrm>
                <a:off x="3120" y="3888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 sz="1800">
                    <a:ea typeface="宋体" panose="02010600030101010101" pitchFamily="2" charset="-122"/>
                    <a:sym typeface="Symbol" panose="05050102010706020507" pitchFamily="18" charset="2"/>
                  </a:rPr>
                  <a:t></a:t>
                </a: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489561" name="Text Box 89"/>
              <p:cNvSpPr txBox="1">
                <a:spLocks noChangeArrowheads="1"/>
              </p:cNvSpPr>
              <p:nvPr/>
            </p:nvSpPr>
            <p:spPr bwMode="auto">
              <a:xfrm>
                <a:off x="3168" y="3168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 sz="1800">
                    <a:ea typeface="宋体" panose="02010600030101010101" pitchFamily="2" charset="-122"/>
                    <a:sym typeface="Symbol" panose="05050102010706020507" pitchFamily="18" charset="2"/>
                  </a:rPr>
                  <a:t></a:t>
                </a: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sp>
            <p:nvSpPr>
              <p:cNvPr id="489562" name="Text Box 90"/>
              <p:cNvSpPr txBox="1">
                <a:spLocks noChangeArrowheads="1"/>
              </p:cNvSpPr>
              <p:nvPr/>
            </p:nvSpPr>
            <p:spPr bwMode="auto">
              <a:xfrm>
                <a:off x="2640" y="3456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zh-CN" altLang="en-US" sz="1800">
                    <a:ea typeface="宋体" panose="02010600030101010101" pitchFamily="2" charset="-122"/>
                    <a:sym typeface="Symbol" panose="05050102010706020507" pitchFamily="18" charset="2"/>
                  </a:rPr>
                  <a:t></a:t>
                </a: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  <p:grpSp>
            <p:nvGrpSpPr>
              <p:cNvPr id="489563" name="Group 91"/>
              <p:cNvGrpSpPr>
                <a:grpSpLocks/>
              </p:cNvGrpSpPr>
              <p:nvPr/>
            </p:nvGrpSpPr>
            <p:grpSpPr bwMode="auto">
              <a:xfrm>
                <a:off x="4704" y="3504"/>
                <a:ext cx="288" cy="288"/>
                <a:chOff x="4368" y="3216"/>
                <a:chExt cx="288" cy="288"/>
              </a:xfrm>
            </p:grpSpPr>
            <p:sp>
              <p:nvSpPr>
                <p:cNvPr id="489564" name="Oval 92"/>
                <p:cNvSpPr>
                  <a:spLocks noChangeArrowheads="1"/>
                </p:cNvSpPr>
                <p:nvPr/>
              </p:nvSpPr>
              <p:spPr bwMode="auto">
                <a:xfrm>
                  <a:off x="4416" y="3264"/>
                  <a:ext cx="192" cy="192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9565" name="Oval 93"/>
                <p:cNvSpPr>
                  <a:spLocks noChangeArrowheads="1"/>
                </p:cNvSpPr>
                <p:nvPr/>
              </p:nvSpPr>
              <p:spPr bwMode="auto">
                <a:xfrm>
                  <a:off x="4368" y="3216"/>
                  <a:ext cx="288" cy="288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89566" name="Line 94"/>
              <p:cNvSpPr>
                <a:spLocks noChangeShapeType="1"/>
              </p:cNvSpPr>
              <p:nvPr/>
            </p:nvSpPr>
            <p:spPr bwMode="auto">
              <a:xfrm>
                <a:off x="4320" y="3648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9567" name="Text Box 95"/>
              <p:cNvSpPr txBox="1">
                <a:spLocks noChangeArrowheads="1"/>
              </p:cNvSpPr>
              <p:nvPr/>
            </p:nvSpPr>
            <p:spPr bwMode="auto">
              <a:xfrm>
                <a:off x="2016" y="3456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1800"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489568" name="Oval 96"/>
              <p:cNvSpPr>
                <a:spLocks noChangeArrowheads="1"/>
              </p:cNvSpPr>
              <p:nvPr/>
            </p:nvSpPr>
            <p:spPr bwMode="auto">
              <a:xfrm>
                <a:off x="1728" y="3504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9569" name="Line 97"/>
              <p:cNvSpPr>
                <a:spLocks noChangeShapeType="1"/>
              </p:cNvSpPr>
              <p:nvPr/>
            </p:nvSpPr>
            <p:spPr bwMode="auto">
              <a:xfrm>
                <a:off x="1344" y="3648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9570" name="Text Box 98"/>
              <p:cNvSpPr txBox="1">
                <a:spLocks noChangeArrowheads="1"/>
              </p:cNvSpPr>
              <p:nvPr/>
            </p:nvSpPr>
            <p:spPr bwMode="auto">
              <a:xfrm>
                <a:off x="4416" y="3552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endParaRPr lang="zh-CN" altLang="en-US" sz="1800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89571" name="Text Box 99"/>
            <p:cNvSpPr txBox="1">
              <a:spLocks noChangeArrowheads="1"/>
            </p:cNvSpPr>
            <p:nvPr/>
          </p:nvSpPr>
          <p:spPr bwMode="auto">
            <a:xfrm>
              <a:off x="4512" y="3504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c</a:t>
              </a:r>
            </a:p>
          </p:txBody>
        </p:sp>
      </p:grpSp>
      <p:sp>
        <p:nvSpPr>
          <p:cNvPr id="489572" name="Rectangle 100"/>
          <p:cNvSpPr>
            <a:spLocks noChangeArrowheads="1"/>
          </p:cNvSpPr>
          <p:nvPr/>
        </p:nvSpPr>
        <p:spPr bwMode="auto">
          <a:xfrm>
            <a:off x="7040563" y="836613"/>
            <a:ext cx="2298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(ab*c) | (a(b|c*))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9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9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9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9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9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9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11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11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64022-B00A-435A-84C4-45324508A513}" type="slidenum">
              <a:rPr lang="zh-CN" altLang="en-US"/>
              <a:pPr/>
              <a:t>15</a:t>
            </a:fld>
            <a:endParaRPr lang="en-US" altLang="zh-CN"/>
          </a:p>
        </p:txBody>
      </p:sp>
      <p:sp>
        <p:nvSpPr>
          <p:cNvPr id="4904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  <a:noFill/>
          <a:ln/>
        </p:spPr>
        <p:txBody>
          <a:bodyPr lIns="92075" tIns="46038" rIns="92075" bIns="46038"/>
          <a:lstStyle/>
          <a:p>
            <a:r>
              <a:rPr lang="en-US" altLang="zh-CN">
                <a:ea typeface="宋体" panose="02010600030101010101" pitchFamily="2" charset="-122"/>
              </a:rPr>
              <a:t>R.E.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NFA (exercise answer)</a:t>
            </a:r>
            <a:r>
              <a:rPr lang="en-US" altLang="zh-CN">
                <a:ea typeface="宋体" panose="02010600030101010101" pitchFamily="2" charset="-122"/>
              </a:rPr>
              <a:t>– Construction(2)</a:t>
            </a:r>
          </a:p>
        </p:txBody>
      </p:sp>
      <p:grpSp>
        <p:nvGrpSpPr>
          <p:cNvPr id="490499" name="Group 3"/>
          <p:cNvGrpSpPr>
            <a:grpSpLocks/>
          </p:cNvGrpSpPr>
          <p:nvPr/>
        </p:nvGrpSpPr>
        <p:grpSpPr bwMode="auto">
          <a:xfrm>
            <a:off x="1238250" y="1295400"/>
            <a:ext cx="2971800" cy="2057400"/>
            <a:chOff x="816" y="816"/>
            <a:chExt cx="1728" cy="1296"/>
          </a:xfrm>
        </p:grpSpPr>
        <p:sp>
          <p:nvSpPr>
            <p:cNvPr id="490500" name="Text Box 4"/>
            <p:cNvSpPr txBox="1">
              <a:spLocks noChangeArrowheads="1"/>
            </p:cNvSpPr>
            <p:nvPr/>
          </p:nvSpPr>
          <p:spPr bwMode="auto">
            <a:xfrm>
              <a:off x="816" y="1296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>
                  <a:solidFill>
                    <a:srgbClr val="FF3300"/>
                  </a:solidFill>
                  <a:ea typeface="宋体" panose="02010600030101010101" pitchFamily="2" charset="-122"/>
                </a:rPr>
                <a:t>r</a:t>
              </a:r>
              <a:r>
                <a:rPr lang="en-US" altLang="zh-CN" sz="2000" baseline="-25000">
                  <a:solidFill>
                    <a:srgbClr val="FF3300"/>
                  </a:solidFill>
                  <a:ea typeface="宋体" panose="02010600030101010101" pitchFamily="2" charset="-122"/>
                </a:rPr>
                <a:t>11</a:t>
              </a:r>
              <a:r>
                <a:rPr lang="en-US" altLang="zh-CN" sz="2000">
                  <a:solidFill>
                    <a:srgbClr val="FF3300"/>
                  </a:solidFill>
                  <a:ea typeface="宋体" panose="02010600030101010101" pitchFamily="2" charset="-122"/>
                </a:rPr>
                <a:t>:</a:t>
              </a:r>
            </a:p>
          </p:txBody>
        </p:sp>
        <p:sp>
          <p:nvSpPr>
            <p:cNvPr id="490501" name="Oval 5"/>
            <p:cNvSpPr>
              <a:spLocks noChangeArrowheads="1"/>
            </p:cNvSpPr>
            <p:nvPr/>
          </p:nvSpPr>
          <p:spPr bwMode="auto">
            <a:xfrm>
              <a:off x="1680" y="1344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90502" name="Group 6"/>
            <p:cNvGrpSpPr>
              <a:grpSpLocks/>
            </p:cNvGrpSpPr>
            <p:nvPr/>
          </p:nvGrpSpPr>
          <p:grpSpPr bwMode="auto">
            <a:xfrm>
              <a:off x="2256" y="1344"/>
              <a:ext cx="288" cy="288"/>
              <a:chOff x="3408" y="1392"/>
              <a:chExt cx="288" cy="288"/>
            </a:xfrm>
          </p:grpSpPr>
          <p:sp>
            <p:nvSpPr>
              <p:cNvPr id="490503" name="Oval 7"/>
              <p:cNvSpPr>
                <a:spLocks noChangeArrowheads="1"/>
              </p:cNvSpPr>
              <p:nvPr/>
            </p:nvSpPr>
            <p:spPr bwMode="auto">
              <a:xfrm>
                <a:off x="3408" y="1392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0504" name="Oval 8"/>
              <p:cNvSpPr>
                <a:spLocks noChangeArrowheads="1"/>
              </p:cNvSpPr>
              <p:nvPr/>
            </p:nvSpPr>
            <p:spPr bwMode="auto">
              <a:xfrm>
                <a:off x="3456" y="1440"/>
                <a:ext cx="192" cy="19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90505" name="Line 9"/>
            <p:cNvSpPr>
              <a:spLocks noChangeShapeType="1"/>
            </p:cNvSpPr>
            <p:nvPr/>
          </p:nvSpPr>
          <p:spPr bwMode="auto">
            <a:xfrm>
              <a:off x="1968" y="148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0506" name="Line 10"/>
            <p:cNvSpPr>
              <a:spLocks noChangeShapeType="1"/>
            </p:cNvSpPr>
            <p:nvPr/>
          </p:nvSpPr>
          <p:spPr bwMode="auto">
            <a:xfrm>
              <a:off x="1392" y="148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0507" name="Text Box 11"/>
            <p:cNvSpPr txBox="1">
              <a:spLocks noChangeArrowheads="1"/>
            </p:cNvSpPr>
            <p:nvPr/>
          </p:nvSpPr>
          <p:spPr bwMode="auto">
            <a:xfrm>
              <a:off x="1968" y="1296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rgbClr val="FF3300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90508" name="Text Box 12"/>
            <p:cNvSpPr txBox="1">
              <a:spLocks noChangeArrowheads="1"/>
            </p:cNvSpPr>
            <p:nvPr/>
          </p:nvSpPr>
          <p:spPr bwMode="auto">
            <a:xfrm>
              <a:off x="816" y="816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>
                  <a:solidFill>
                    <a:srgbClr val="FF3300"/>
                  </a:solidFill>
                  <a:ea typeface="宋体" panose="02010600030101010101" pitchFamily="2" charset="-122"/>
                </a:rPr>
                <a:t>r</a:t>
              </a:r>
              <a:r>
                <a:rPr lang="en-US" altLang="zh-CN" sz="2000" baseline="-25000">
                  <a:solidFill>
                    <a:srgbClr val="FF3300"/>
                  </a:solidFill>
                  <a:ea typeface="宋体" panose="02010600030101010101" pitchFamily="2" charset="-122"/>
                </a:rPr>
                <a:t>7</a:t>
              </a:r>
              <a:r>
                <a:rPr lang="en-US" altLang="zh-CN" sz="2000">
                  <a:solidFill>
                    <a:srgbClr val="FF3300"/>
                  </a:solidFill>
                  <a:ea typeface="宋体" panose="02010600030101010101" pitchFamily="2" charset="-122"/>
                </a:rPr>
                <a:t>:</a:t>
              </a:r>
            </a:p>
          </p:txBody>
        </p:sp>
        <p:sp>
          <p:nvSpPr>
            <p:cNvPr id="490509" name="Oval 13"/>
            <p:cNvSpPr>
              <a:spLocks noChangeArrowheads="1"/>
            </p:cNvSpPr>
            <p:nvPr/>
          </p:nvSpPr>
          <p:spPr bwMode="auto">
            <a:xfrm>
              <a:off x="1680" y="864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90510" name="Group 14"/>
            <p:cNvGrpSpPr>
              <a:grpSpLocks/>
            </p:cNvGrpSpPr>
            <p:nvPr/>
          </p:nvGrpSpPr>
          <p:grpSpPr bwMode="auto">
            <a:xfrm>
              <a:off x="2256" y="864"/>
              <a:ext cx="288" cy="288"/>
              <a:chOff x="3408" y="1392"/>
              <a:chExt cx="288" cy="288"/>
            </a:xfrm>
          </p:grpSpPr>
          <p:sp>
            <p:nvSpPr>
              <p:cNvPr id="490511" name="Oval 15"/>
              <p:cNvSpPr>
                <a:spLocks noChangeArrowheads="1"/>
              </p:cNvSpPr>
              <p:nvPr/>
            </p:nvSpPr>
            <p:spPr bwMode="auto">
              <a:xfrm>
                <a:off x="3408" y="1392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0512" name="Oval 16"/>
              <p:cNvSpPr>
                <a:spLocks noChangeArrowheads="1"/>
              </p:cNvSpPr>
              <p:nvPr/>
            </p:nvSpPr>
            <p:spPr bwMode="auto">
              <a:xfrm>
                <a:off x="3456" y="1440"/>
                <a:ext cx="192" cy="19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90513" name="Line 17"/>
            <p:cNvSpPr>
              <a:spLocks noChangeShapeType="1"/>
            </p:cNvSpPr>
            <p:nvPr/>
          </p:nvSpPr>
          <p:spPr bwMode="auto">
            <a:xfrm>
              <a:off x="1968" y="100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0514" name="Line 18"/>
            <p:cNvSpPr>
              <a:spLocks noChangeShapeType="1"/>
            </p:cNvSpPr>
            <p:nvPr/>
          </p:nvSpPr>
          <p:spPr bwMode="auto">
            <a:xfrm>
              <a:off x="1392" y="100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0515" name="Text Box 19"/>
            <p:cNvSpPr txBox="1">
              <a:spLocks noChangeArrowheads="1"/>
            </p:cNvSpPr>
            <p:nvPr/>
          </p:nvSpPr>
          <p:spPr bwMode="auto">
            <a:xfrm>
              <a:off x="1968" y="816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rgbClr val="FF3300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490516" name="Text Box 20"/>
            <p:cNvSpPr txBox="1">
              <a:spLocks noChangeArrowheads="1"/>
            </p:cNvSpPr>
            <p:nvPr/>
          </p:nvSpPr>
          <p:spPr bwMode="auto">
            <a:xfrm>
              <a:off x="816" y="1776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>
                  <a:solidFill>
                    <a:srgbClr val="FF3300"/>
                  </a:solidFill>
                  <a:ea typeface="宋体" panose="02010600030101010101" pitchFamily="2" charset="-122"/>
                </a:rPr>
                <a:t>r</a:t>
              </a:r>
              <a:r>
                <a:rPr lang="en-US" altLang="zh-CN" sz="2000" baseline="-25000">
                  <a:solidFill>
                    <a:srgbClr val="FF3300"/>
                  </a:solidFill>
                  <a:ea typeface="宋体" panose="02010600030101010101" pitchFamily="2" charset="-122"/>
                </a:rPr>
                <a:t>6</a:t>
              </a:r>
              <a:r>
                <a:rPr lang="en-US" altLang="zh-CN" sz="2000">
                  <a:solidFill>
                    <a:srgbClr val="FF3300"/>
                  </a:solidFill>
                  <a:ea typeface="宋体" panose="02010600030101010101" pitchFamily="2" charset="-122"/>
                </a:rPr>
                <a:t>:</a:t>
              </a:r>
            </a:p>
          </p:txBody>
        </p:sp>
        <p:sp>
          <p:nvSpPr>
            <p:cNvPr id="490517" name="Oval 21"/>
            <p:cNvSpPr>
              <a:spLocks noChangeArrowheads="1"/>
            </p:cNvSpPr>
            <p:nvPr/>
          </p:nvSpPr>
          <p:spPr bwMode="auto">
            <a:xfrm>
              <a:off x="1680" y="1824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90518" name="Group 22"/>
            <p:cNvGrpSpPr>
              <a:grpSpLocks/>
            </p:cNvGrpSpPr>
            <p:nvPr/>
          </p:nvGrpSpPr>
          <p:grpSpPr bwMode="auto">
            <a:xfrm>
              <a:off x="2256" y="1824"/>
              <a:ext cx="288" cy="288"/>
              <a:chOff x="3408" y="1392"/>
              <a:chExt cx="288" cy="288"/>
            </a:xfrm>
          </p:grpSpPr>
          <p:sp>
            <p:nvSpPr>
              <p:cNvPr id="490519" name="Oval 23"/>
              <p:cNvSpPr>
                <a:spLocks noChangeArrowheads="1"/>
              </p:cNvSpPr>
              <p:nvPr/>
            </p:nvSpPr>
            <p:spPr bwMode="auto">
              <a:xfrm>
                <a:off x="3408" y="1392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0520" name="Oval 24"/>
              <p:cNvSpPr>
                <a:spLocks noChangeArrowheads="1"/>
              </p:cNvSpPr>
              <p:nvPr/>
            </p:nvSpPr>
            <p:spPr bwMode="auto">
              <a:xfrm>
                <a:off x="3456" y="1440"/>
                <a:ext cx="192" cy="19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90521" name="Line 25"/>
            <p:cNvSpPr>
              <a:spLocks noChangeShapeType="1"/>
            </p:cNvSpPr>
            <p:nvPr/>
          </p:nvSpPr>
          <p:spPr bwMode="auto">
            <a:xfrm>
              <a:off x="1968" y="196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0522" name="Line 26"/>
            <p:cNvSpPr>
              <a:spLocks noChangeShapeType="1"/>
            </p:cNvSpPr>
            <p:nvPr/>
          </p:nvSpPr>
          <p:spPr bwMode="auto">
            <a:xfrm>
              <a:off x="1392" y="196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0523" name="Text Box 27"/>
            <p:cNvSpPr txBox="1">
              <a:spLocks noChangeArrowheads="1"/>
            </p:cNvSpPr>
            <p:nvPr/>
          </p:nvSpPr>
          <p:spPr bwMode="auto">
            <a:xfrm>
              <a:off x="1968" y="1776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rgbClr val="FF3300"/>
                  </a:solidFill>
                  <a:ea typeface="宋体" panose="02010600030101010101" pitchFamily="2" charset="-122"/>
                </a:rPr>
                <a:t>c</a:t>
              </a:r>
            </a:p>
          </p:txBody>
        </p:sp>
      </p:grpSp>
      <p:grpSp>
        <p:nvGrpSpPr>
          <p:cNvPr id="490524" name="Group 28"/>
          <p:cNvGrpSpPr>
            <a:grpSpLocks/>
          </p:cNvGrpSpPr>
          <p:nvPr/>
        </p:nvGrpSpPr>
        <p:grpSpPr bwMode="auto">
          <a:xfrm>
            <a:off x="1651000" y="2514600"/>
            <a:ext cx="8007350" cy="2043113"/>
            <a:chOff x="768" y="2256"/>
            <a:chExt cx="4656" cy="1287"/>
          </a:xfrm>
        </p:grpSpPr>
        <p:sp>
          <p:nvSpPr>
            <p:cNvPr id="490525" name="Oval 29"/>
            <p:cNvSpPr>
              <a:spLocks noChangeArrowheads="1"/>
            </p:cNvSpPr>
            <p:nvPr/>
          </p:nvSpPr>
          <p:spPr bwMode="auto">
            <a:xfrm>
              <a:off x="2784" y="2928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0526" name="Oval 30"/>
            <p:cNvSpPr>
              <a:spLocks noChangeArrowheads="1"/>
            </p:cNvSpPr>
            <p:nvPr/>
          </p:nvSpPr>
          <p:spPr bwMode="auto">
            <a:xfrm>
              <a:off x="3312" y="2928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0527" name="Oval 31"/>
            <p:cNvSpPr>
              <a:spLocks noChangeArrowheads="1"/>
            </p:cNvSpPr>
            <p:nvPr/>
          </p:nvSpPr>
          <p:spPr bwMode="auto">
            <a:xfrm>
              <a:off x="3840" y="2928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0528" name="Oval 32"/>
            <p:cNvSpPr>
              <a:spLocks noChangeArrowheads="1"/>
            </p:cNvSpPr>
            <p:nvPr/>
          </p:nvSpPr>
          <p:spPr bwMode="auto">
            <a:xfrm>
              <a:off x="4416" y="2928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0529" name="Line 33"/>
            <p:cNvSpPr>
              <a:spLocks noChangeShapeType="1"/>
            </p:cNvSpPr>
            <p:nvPr/>
          </p:nvSpPr>
          <p:spPr bwMode="auto">
            <a:xfrm>
              <a:off x="2400" y="3072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0530" name="Line 34"/>
            <p:cNvSpPr>
              <a:spLocks noChangeShapeType="1"/>
            </p:cNvSpPr>
            <p:nvPr/>
          </p:nvSpPr>
          <p:spPr bwMode="auto">
            <a:xfrm>
              <a:off x="3072" y="3072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0531" name="Line 35"/>
            <p:cNvSpPr>
              <a:spLocks noChangeShapeType="1"/>
            </p:cNvSpPr>
            <p:nvPr/>
          </p:nvSpPr>
          <p:spPr bwMode="auto">
            <a:xfrm>
              <a:off x="3600" y="3072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0532" name="Line 36"/>
            <p:cNvSpPr>
              <a:spLocks noChangeShapeType="1"/>
            </p:cNvSpPr>
            <p:nvPr/>
          </p:nvSpPr>
          <p:spPr bwMode="auto">
            <a:xfrm>
              <a:off x="4128" y="3072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490533" name="AutoShape 37"/>
            <p:cNvCxnSpPr>
              <a:cxnSpLocks noChangeShapeType="1"/>
              <a:stCxn id="490525" idx="4"/>
              <a:endCxn id="490528" idx="4"/>
            </p:cNvCxnSpPr>
            <p:nvPr/>
          </p:nvCxnSpPr>
          <p:spPr bwMode="auto">
            <a:xfrm rot="16200000" flipH="1">
              <a:off x="3743" y="2401"/>
              <a:ext cx="1" cy="1632"/>
            </a:xfrm>
            <a:prstGeom prst="curvedConnector3">
              <a:avLst>
                <a:gd name="adj1" fmla="val 14400000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0534" name="AutoShape 38"/>
            <p:cNvCxnSpPr>
              <a:cxnSpLocks noChangeShapeType="1"/>
              <a:stCxn id="490527" idx="0"/>
              <a:endCxn id="490526" idx="0"/>
            </p:cNvCxnSpPr>
            <p:nvPr/>
          </p:nvCxnSpPr>
          <p:spPr bwMode="auto">
            <a:xfrm rot="16200000" flipH="1" flipV="1">
              <a:off x="3719" y="2665"/>
              <a:ext cx="1" cy="528"/>
            </a:xfrm>
            <a:prstGeom prst="curvedConnector3">
              <a:avLst>
                <a:gd name="adj1" fmla="val -14400000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90535" name="Text Box 39"/>
            <p:cNvSpPr txBox="1">
              <a:spLocks noChangeArrowheads="1"/>
            </p:cNvSpPr>
            <p:nvPr/>
          </p:nvSpPr>
          <p:spPr bwMode="auto">
            <a:xfrm>
              <a:off x="3552" y="2880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490536" name="Text Box 40"/>
            <p:cNvSpPr txBox="1">
              <a:spLocks noChangeArrowheads="1"/>
            </p:cNvSpPr>
            <p:nvPr/>
          </p:nvSpPr>
          <p:spPr bwMode="auto">
            <a:xfrm>
              <a:off x="4080" y="2880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solidFill>
                  <a:schemeClr val="accent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90537" name="Text Box 41"/>
            <p:cNvSpPr txBox="1">
              <a:spLocks noChangeArrowheads="1"/>
            </p:cNvSpPr>
            <p:nvPr/>
          </p:nvSpPr>
          <p:spPr bwMode="auto">
            <a:xfrm>
              <a:off x="3504" y="331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solidFill>
                  <a:schemeClr val="accent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90538" name="Text Box 42"/>
            <p:cNvSpPr txBox="1">
              <a:spLocks noChangeArrowheads="1"/>
            </p:cNvSpPr>
            <p:nvPr/>
          </p:nvSpPr>
          <p:spPr bwMode="auto">
            <a:xfrm>
              <a:off x="3552" y="2592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solidFill>
                  <a:schemeClr val="accent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90539" name="Text Box 43"/>
            <p:cNvSpPr txBox="1">
              <a:spLocks noChangeArrowheads="1"/>
            </p:cNvSpPr>
            <p:nvPr/>
          </p:nvSpPr>
          <p:spPr bwMode="auto">
            <a:xfrm>
              <a:off x="3024" y="2880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solidFill>
                  <a:schemeClr val="accent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90540" name="Text Box 44"/>
            <p:cNvSpPr txBox="1">
              <a:spLocks noChangeArrowheads="1"/>
            </p:cNvSpPr>
            <p:nvPr/>
          </p:nvSpPr>
          <p:spPr bwMode="auto">
            <a:xfrm>
              <a:off x="768" y="2928"/>
              <a:ext cx="8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</a:rPr>
                <a:t>r</a:t>
              </a:r>
              <a:r>
                <a:rPr lang="en-US" altLang="zh-CN" sz="1800" baseline="-25000">
                  <a:solidFill>
                    <a:schemeClr val="accent2"/>
                  </a:solidFill>
                  <a:ea typeface="宋体" panose="02010600030101010101" pitchFamily="2" charset="-122"/>
                </a:rPr>
                <a:t>9</a:t>
              </a: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</a:rPr>
                <a:t> : r</a:t>
              </a:r>
              <a:r>
                <a:rPr lang="en-US" altLang="zh-CN" sz="1800" baseline="-25000">
                  <a:solidFill>
                    <a:schemeClr val="accent2"/>
                  </a:solidFill>
                  <a:ea typeface="宋体" panose="02010600030101010101" pitchFamily="2" charset="-122"/>
                </a:rPr>
                <a:t>7</a:t>
              </a: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</a:rPr>
                <a:t> | r</a:t>
              </a:r>
              <a:r>
                <a:rPr lang="en-US" altLang="zh-CN" sz="1800" baseline="-25000">
                  <a:solidFill>
                    <a:schemeClr val="accent2"/>
                  </a:solidFill>
                  <a:ea typeface="宋体" panose="02010600030101010101" pitchFamily="2" charset="-122"/>
                </a:rPr>
                <a:t>8</a:t>
              </a:r>
              <a:endParaRPr lang="en-US" altLang="zh-CN" sz="1800">
                <a:solidFill>
                  <a:schemeClr val="accent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90541" name="Oval 45"/>
            <p:cNvSpPr>
              <a:spLocks noChangeArrowheads="1"/>
            </p:cNvSpPr>
            <p:nvPr/>
          </p:nvSpPr>
          <p:spPr bwMode="auto">
            <a:xfrm>
              <a:off x="2112" y="2928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0542" name="Oval 46"/>
            <p:cNvSpPr>
              <a:spLocks noChangeArrowheads="1"/>
            </p:cNvSpPr>
            <p:nvPr/>
          </p:nvSpPr>
          <p:spPr bwMode="auto">
            <a:xfrm>
              <a:off x="2784" y="2304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0543" name="Oval 47"/>
            <p:cNvSpPr>
              <a:spLocks noChangeArrowheads="1"/>
            </p:cNvSpPr>
            <p:nvPr/>
          </p:nvSpPr>
          <p:spPr bwMode="auto">
            <a:xfrm>
              <a:off x="4032" y="2304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90544" name="Group 48"/>
            <p:cNvGrpSpPr>
              <a:grpSpLocks/>
            </p:cNvGrpSpPr>
            <p:nvPr/>
          </p:nvGrpSpPr>
          <p:grpSpPr bwMode="auto">
            <a:xfrm>
              <a:off x="5136" y="2928"/>
              <a:ext cx="288" cy="288"/>
              <a:chOff x="5184" y="3792"/>
              <a:chExt cx="288" cy="288"/>
            </a:xfrm>
          </p:grpSpPr>
          <p:sp>
            <p:nvSpPr>
              <p:cNvPr id="490545" name="Oval 49"/>
              <p:cNvSpPr>
                <a:spLocks noChangeArrowheads="1"/>
              </p:cNvSpPr>
              <p:nvPr/>
            </p:nvSpPr>
            <p:spPr bwMode="auto">
              <a:xfrm>
                <a:off x="5232" y="3840"/>
                <a:ext cx="192" cy="19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0546" name="Oval 50"/>
              <p:cNvSpPr>
                <a:spLocks noChangeArrowheads="1"/>
              </p:cNvSpPr>
              <p:nvPr/>
            </p:nvSpPr>
            <p:spPr bwMode="auto">
              <a:xfrm>
                <a:off x="5184" y="3792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90547" name="Line 51"/>
            <p:cNvSpPr>
              <a:spLocks noChangeShapeType="1"/>
            </p:cNvSpPr>
            <p:nvPr/>
          </p:nvSpPr>
          <p:spPr bwMode="auto">
            <a:xfrm>
              <a:off x="1728" y="3072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0548" name="Line 52"/>
            <p:cNvSpPr>
              <a:spLocks noChangeShapeType="1"/>
            </p:cNvSpPr>
            <p:nvPr/>
          </p:nvSpPr>
          <p:spPr bwMode="auto">
            <a:xfrm>
              <a:off x="4704" y="3072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0549" name="Line 53"/>
            <p:cNvSpPr>
              <a:spLocks noChangeShapeType="1"/>
            </p:cNvSpPr>
            <p:nvPr/>
          </p:nvSpPr>
          <p:spPr bwMode="auto">
            <a:xfrm>
              <a:off x="4320" y="2448"/>
              <a:ext cx="864" cy="5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0550" name="Line 54"/>
            <p:cNvSpPr>
              <a:spLocks noChangeShapeType="1"/>
            </p:cNvSpPr>
            <p:nvPr/>
          </p:nvSpPr>
          <p:spPr bwMode="auto">
            <a:xfrm>
              <a:off x="3072" y="2448"/>
              <a:ext cx="9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0551" name="Line 55"/>
            <p:cNvSpPr>
              <a:spLocks noChangeShapeType="1"/>
            </p:cNvSpPr>
            <p:nvPr/>
          </p:nvSpPr>
          <p:spPr bwMode="auto">
            <a:xfrm flipV="1">
              <a:off x="2352" y="2544"/>
              <a:ext cx="432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0552" name="Text Box 56"/>
            <p:cNvSpPr txBox="1">
              <a:spLocks noChangeArrowheads="1"/>
            </p:cNvSpPr>
            <p:nvPr/>
          </p:nvSpPr>
          <p:spPr bwMode="auto">
            <a:xfrm>
              <a:off x="4560" y="2496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solidFill>
                  <a:schemeClr val="accent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90553" name="Text Box 57"/>
            <p:cNvSpPr txBox="1">
              <a:spLocks noChangeArrowheads="1"/>
            </p:cNvSpPr>
            <p:nvPr/>
          </p:nvSpPr>
          <p:spPr bwMode="auto">
            <a:xfrm>
              <a:off x="2352" y="2640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solidFill>
                    <a:schemeClr val="accent2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solidFill>
                  <a:schemeClr val="accent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90554" name="Text Box 58"/>
            <p:cNvSpPr txBox="1">
              <a:spLocks noChangeArrowheads="1"/>
            </p:cNvSpPr>
            <p:nvPr/>
          </p:nvSpPr>
          <p:spPr bwMode="auto">
            <a:xfrm>
              <a:off x="3360" y="2256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accent2"/>
                  </a:solidFill>
                  <a:ea typeface="宋体" panose="02010600030101010101" pitchFamily="2" charset="-122"/>
                </a:rPr>
                <a:t>b</a:t>
              </a:r>
            </a:p>
          </p:txBody>
        </p:sp>
      </p:grpSp>
      <p:sp>
        <p:nvSpPr>
          <p:cNvPr id="490555" name="Text Box 59"/>
          <p:cNvSpPr txBox="1">
            <a:spLocks noChangeArrowheads="1"/>
          </p:cNvSpPr>
          <p:nvPr/>
        </p:nvSpPr>
        <p:spPr bwMode="auto">
          <a:xfrm>
            <a:off x="1320800" y="4419600"/>
            <a:ext cx="14033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800">
                <a:solidFill>
                  <a:srgbClr val="A50021"/>
                </a:solidFill>
                <a:ea typeface="宋体" panose="02010600030101010101" pitchFamily="2" charset="-122"/>
              </a:rPr>
              <a:t>r</a:t>
            </a:r>
            <a:r>
              <a:rPr lang="en-US" altLang="zh-CN" sz="1800" baseline="-25000">
                <a:solidFill>
                  <a:srgbClr val="A50021"/>
                </a:solidFill>
                <a:ea typeface="宋体" panose="02010600030101010101" pitchFamily="2" charset="-122"/>
              </a:rPr>
              <a:t>10</a:t>
            </a:r>
            <a:r>
              <a:rPr lang="en-US" altLang="zh-CN" sz="1800">
                <a:solidFill>
                  <a:srgbClr val="A50021"/>
                </a:solidFill>
                <a:ea typeface="宋体" panose="02010600030101010101" pitchFamily="2" charset="-122"/>
              </a:rPr>
              <a:t> : r</a:t>
            </a:r>
            <a:r>
              <a:rPr lang="en-US" altLang="zh-CN" sz="1800" baseline="-25000">
                <a:solidFill>
                  <a:srgbClr val="A50021"/>
                </a:solidFill>
                <a:ea typeface="宋体" panose="02010600030101010101" pitchFamily="2" charset="-122"/>
              </a:rPr>
              <a:t>9</a:t>
            </a:r>
            <a:endParaRPr lang="en-US" altLang="zh-CN" sz="1800">
              <a:solidFill>
                <a:srgbClr val="A50021"/>
              </a:solidFill>
              <a:ea typeface="宋体" panose="02010600030101010101" pitchFamily="2" charset="-122"/>
            </a:endParaRPr>
          </a:p>
        </p:txBody>
      </p:sp>
      <p:grpSp>
        <p:nvGrpSpPr>
          <p:cNvPr id="490556" name="Group 60"/>
          <p:cNvGrpSpPr>
            <a:grpSpLocks/>
          </p:cNvGrpSpPr>
          <p:nvPr/>
        </p:nvGrpSpPr>
        <p:grpSpPr bwMode="auto">
          <a:xfrm>
            <a:off x="4870450" y="1066800"/>
            <a:ext cx="4540250" cy="1509713"/>
            <a:chOff x="2928" y="960"/>
            <a:chExt cx="2640" cy="951"/>
          </a:xfrm>
        </p:grpSpPr>
        <p:grpSp>
          <p:nvGrpSpPr>
            <p:cNvPr id="490557" name="Group 61"/>
            <p:cNvGrpSpPr>
              <a:grpSpLocks/>
            </p:cNvGrpSpPr>
            <p:nvPr/>
          </p:nvGrpSpPr>
          <p:grpSpPr bwMode="auto">
            <a:xfrm>
              <a:off x="3264" y="1296"/>
              <a:ext cx="2304" cy="289"/>
              <a:chOff x="3024" y="3072"/>
              <a:chExt cx="2304" cy="289"/>
            </a:xfrm>
          </p:grpSpPr>
          <p:sp>
            <p:nvSpPr>
              <p:cNvPr id="490558" name="Oval 62"/>
              <p:cNvSpPr>
                <a:spLocks noChangeArrowheads="1"/>
              </p:cNvSpPr>
              <p:nvPr/>
            </p:nvSpPr>
            <p:spPr bwMode="auto">
              <a:xfrm>
                <a:off x="3408" y="3072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0559" name="Oval 63"/>
              <p:cNvSpPr>
                <a:spLocks noChangeArrowheads="1"/>
              </p:cNvSpPr>
              <p:nvPr/>
            </p:nvSpPr>
            <p:spPr bwMode="auto">
              <a:xfrm>
                <a:off x="5088" y="3120"/>
                <a:ext cx="192" cy="19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0560" name="Oval 64"/>
              <p:cNvSpPr>
                <a:spLocks noChangeArrowheads="1"/>
              </p:cNvSpPr>
              <p:nvPr/>
            </p:nvSpPr>
            <p:spPr bwMode="auto">
              <a:xfrm>
                <a:off x="3936" y="3072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0561" name="Oval 65"/>
              <p:cNvSpPr>
                <a:spLocks noChangeArrowheads="1"/>
              </p:cNvSpPr>
              <p:nvPr/>
            </p:nvSpPr>
            <p:spPr bwMode="auto">
              <a:xfrm>
                <a:off x="4464" y="3072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0562" name="Oval 66"/>
              <p:cNvSpPr>
                <a:spLocks noChangeArrowheads="1"/>
              </p:cNvSpPr>
              <p:nvPr/>
            </p:nvSpPr>
            <p:spPr bwMode="auto">
              <a:xfrm>
                <a:off x="5040" y="3072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0563" name="Line 67"/>
              <p:cNvSpPr>
                <a:spLocks noChangeShapeType="1"/>
              </p:cNvSpPr>
              <p:nvPr/>
            </p:nvSpPr>
            <p:spPr bwMode="auto">
              <a:xfrm>
                <a:off x="3024" y="3216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0564" name="Line 68"/>
              <p:cNvSpPr>
                <a:spLocks noChangeShapeType="1"/>
              </p:cNvSpPr>
              <p:nvPr/>
            </p:nvSpPr>
            <p:spPr bwMode="auto">
              <a:xfrm>
                <a:off x="3696" y="3216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0565" name="Line 69"/>
              <p:cNvSpPr>
                <a:spLocks noChangeShapeType="1"/>
              </p:cNvSpPr>
              <p:nvPr/>
            </p:nvSpPr>
            <p:spPr bwMode="auto">
              <a:xfrm>
                <a:off x="4224" y="3216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0566" name="Line 70"/>
              <p:cNvSpPr>
                <a:spLocks noChangeShapeType="1"/>
              </p:cNvSpPr>
              <p:nvPr/>
            </p:nvSpPr>
            <p:spPr bwMode="auto">
              <a:xfrm>
                <a:off x="4752" y="3216"/>
                <a:ext cx="2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490567" name="AutoShape 71"/>
              <p:cNvCxnSpPr>
                <a:cxnSpLocks noChangeShapeType="1"/>
                <a:stCxn id="490558" idx="4"/>
                <a:endCxn id="490562" idx="4"/>
              </p:cNvCxnSpPr>
              <p:nvPr/>
            </p:nvCxnSpPr>
            <p:spPr bwMode="auto">
              <a:xfrm rot="16200000" flipH="1">
                <a:off x="4367" y="2545"/>
                <a:ext cx="1" cy="1632"/>
              </a:xfrm>
              <a:prstGeom prst="curvedConnector3">
                <a:avLst>
                  <a:gd name="adj1" fmla="val 14400000"/>
                </a:avLst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90568" name="AutoShape 72"/>
              <p:cNvCxnSpPr>
                <a:cxnSpLocks noChangeShapeType="1"/>
                <a:stCxn id="490561" idx="0"/>
                <a:endCxn id="490560" idx="0"/>
              </p:cNvCxnSpPr>
              <p:nvPr/>
            </p:nvCxnSpPr>
            <p:spPr bwMode="auto">
              <a:xfrm rot="16200000" flipH="1" flipV="1">
                <a:off x="4343" y="2809"/>
                <a:ext cx="1" cy="528"/>
              </a:xfrm>
              <a:prstGeom prst="curvedConnector3">
                <a:avLst>
                  <a:gd name="adj1" fmla="val -14400000"/>
                </a:avLst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490569" name="Text Box 73"/>
            <p:cNvSpPr txBox="1">
              <a:spLocks noChangeArrowheads="1"/>
            </p:cNvSpPr>
            <p:nvPr/>
          </p:nvSpPr>
          <p:spPr bwMode="auto">
            <a:xfrm>
              <a:off x="4416" y="1248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rgbClr val="660066"/>
                  </a:solidFill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490570" name="Text Box 74"/>
            <p:cNvSpPr txBox="1">
              <a:spLocks noChangeArrowheads="1"/>
            </p:cNvSpPr>
            <p:nvPr/>
          </p:nvSpPr>
          <p:spPr bwMode="auto">
            <a:xfrm>
              <a:off x="4944" y="1248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solidFill>
                  <a:srgbClr val="66006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90571" name="Text Box 75"/>
            <p:cNvSpPr txBox="1">
              <a:spLocks noChangeArrowheads="1"/>
            </p:cNvSpPr>
            <p:nvPr/>
          </p:nvSpPr>
          <p:spPr bwMode="auto">
            <a:xfrm>
              <a:off x="4368" y="1680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solidFill>
                  <a:srgbClr val="66006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90572" name="Text Box 76"/>
            <p:cNvSpPr txBox="1">
              <a:spLocks noChangeArrowheads="1"/>
            </p:cNvSpPr>
            <p:nvPr/>
          </p:nvSpPr>
          <p:spPr bwMode="auto">
            <a:xfrm>
              <a:off x="4416" y="960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solidFill>
                  <a:srgbClr val="66006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90573" name="Text Box 77"/>
            <p:cNvSpPr txBox="1">
              <a:spLocks noChangeArrowheads="1"/>
            </p:cNvSpPr>
            <p:nvPr/>
          </p:nvSpPr>
          <p:spPr bwMode="auto">
            <a:xfrm>
              <a:off x="3888" y="1248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solidFill>
                    <a:srgbClr val="6600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solidFill>
                  <a:srgbClr val="66006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90574" name="Text Box 78"/>
            <p:cNvSpPr txBox="1">
              <a:spLocks noChangeArrowheads="1"/>
            </p:cNvSpPr>
            <p:nvPr/>
          </p:nvSpPr>
          <p:spPr bwMode="auto">
            <a:xfrm>
              <a:off x="2928" y="1296"/>
              <a:ext cx="3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rgbClr val="660066"/>
                  </a:solidFill>
                  <a:ea typeface="宋体" panose="02010600030101010101" pitchFamily="2" charset="-122"/>
                </a:rPr>
                <a:t>r</a:t>
              </a:r>
              <a:r>
                <a:rPr lang="en-US" altLang="zh-CN" sz="1800" baseline="-25000">
                  <a:solidFill>
                    <a:srgbClr val="660066"/>
                  </a:solidFill>
                  <a:ea typeface="宋体" panose="02010600030101010101" pitchFamily="2" charset="-122"/>
                </a:rPr>
                <a:t>8</a:t>
              </a:r>
              <a:r>
                <a:rPr lang="en-US" altLang="zh-CN" sz="1800">
                  <a:solidFill>
                    <a:srgbClr val="660066"/>
                  </a:solidFill>
                  <a:ea typeface="宋体" panose="02010600030101010101" pitchFamily="2" charset="-122"/>
                </a:rPr>
                <a:t>:</a:t>
              </a:r>
            </a:p>
          </p:txBody>
        </p:sp>
      </p:grpSp>
      <p:grpSp>
        <p:nvGrpSpPr>
          <p:cNvPr id="490575" name="Group 79"/>
          <p:cNvGrpSpPr>
            <a:grpSpLocks/>
          </p:cNvGrpSpPr>
          <p:nvPr/>
        </p:nvGrpSpPr>
        <p:grpSpPr bwMode="auto">
          <a:xfrm>
            <a:off x="1155700" y="4572000"/>
            <a:ext cx="8502650" cy="2043113"/>
            <a:chOff x="672" y="2880"/>
            <a:chExt cx="4944" cy="1287"/>
          </a:xfrm>
        </p:grpSpPr>
        <p:sp>
          <p:nvSpPr>
            <p:cNvPr id="490576" name="Oval 80"/>
            <p:cNvSpPr>
              <a:spLocks noChangeArrowheads="1"/>
            </p:cNvSpPr>
            <p:nvPr/>
          </p:nvSpPr>
          <p:spPr bwMode="auto">
            <a:xfrm>
              <a:off x="2976" y="3552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0577" name="Oval 81"/>
            <p:cNvSpPr>
              <a:spLocks noChangeArrowheads="1"/>
            </p:cNvSpPr>
            <p:nvPr/>
          </p:nvSpPr>
          <p:spPr bwMode="auto">
            <a:xfrm>
              <a:off x="3504" y="3552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0578" name="Oval 82"/>
            <p:cNvSpPr>
              <a:spLocks noChangeArrowheads="1"/>
            </p:cNvSpPr>
            <p:nvPr/>
          </p:nvSpPr>
          <p:spPr bwMode="auto">
            <a:xfrm>
              <a:off x="4032" y="3552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0579" name="Oval 83"/>
            <p:cNvSpPr>
              <a:spLocks noChangeArrowheads="1"/>
            </p:cNvSpPr>
            <p:nvPr/>
          </p:nvSpPr>
          <p:spPr bwMode="auto">
            <a:xfrm>
              <a:off x="4608" y="3552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0580" name="Line 84"/>
            <p:cNvSpPr>
              <a:spLocks noChangeShapeType="1"/>
            </p:cNvSpPr>
            <p:nvPr/>
          </p:nvSpPr>
          <p:spPr bwMode="auto">
            <a:xfrm>
              <a:off x="2592" y="3696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0581" name="Line 85"/>
            <p:cNvSpPr>
              <a:spLocks noChangeShapeType="1"/>
            </p:cNvSpPr>
            <p:nvPr/>
          </p:nvSpPr>
          <p:spPr bwMode="auto">
            <a:xfrm>
              <a:off x="3264" y="3696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0582" name="Line 86"/>
            <p:cNvSpPr>
              <a:spLocks noChangeShapeType="1"/>
            </p:cNvSpPr>
            <p:nvPr/>
          </p:nvSpPr>
          <p:spPr bwMode="auto">
            <a:xfrm>
              <a:off x="3792" y="3696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0583" name="Line 87"/>
            <p:cNvSpPr>
              <a:spLocks noChangeShapeType="1"/>
            </p:cNvSpPr>
            <p:nvPr/>
          </p:nvSpPr>
          <p:spPr bwMode="auto">
            <a:xfrm>
              <a:off x="4320" y="3696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490584" name="AutoShape 88"/>
            <p:cNvCxnSpPr>
              <a:cxnSpLocks noChangeShapeType="1"/>
              <a:stCxn id="490576" idx="4"/>
              <a:endCxn id="490579" idx="4"/>
            </p:cNvCxnSpPr>
            <p:nvPr/>
          </p:nvCxnSpPr>
          <p:spPr bwMode="auto">
            <a:xfrm rot="16200000" flipH="1">
              <a:off x="3935" y="3025"/>
              <a:ext cx="1" cy="1632"/>
            </a:xfrm>
            <a:prstGeom prst="curvedConnector3">
              <a:avLst>
                <a:gd name="adj1" fmla="val 14400000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0585" name="AutoShape 89"/>
            <p:cNvCxnSpPr>
              <a:cxnSpLocks noChangeShapeType="1"/>
              <a:stCxn id="490578" idx="0"/>
              <a:endCxn id="490577" idx="0"/>
            </p:cNvCxnSpPr>
            <p:nvPr/>
          </p:nvCxnSpPr>
          <p:spPr bwMode="auto">
            <a:xfrm rot="16200000" flipH="1" flipV="1">
              <a:off x="3911" y="3289"/>
              <a:ext cx="1" cy="528"/>
            </a:xfrm>
            <a:prstGeom prst="curvedConnector3">
              <a:avLst>
                <a:gd name="adj1" fmla="val -14400000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90586" name="Text Box 90"/>
            <p:cNvSpPr txBox="1">
              <a:spLocks noChangeArrowheads="1"/>
            </p:cNvSpPr>
            <p:nvPr/>
          </p:nvSpPr>
          <p:spPr bwMode="auto">
            <a:xfrm>
              <a:off x="3744" y="3504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490587" name="Text Box 91"/>
            <p:cNvSpPr txBox="1">
              <a:spLocks noChangeArrowheads="1"/>
            </p:cNvSpPr>
            <p:nvPr/>
          </p:nvSpPr>
          <p:spPr bwMode="auto">
            <a:xfrm>
              <a:off x="4272" y="3504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90588" name="Text Box 92"/>
            <p:cNvSpPr txBox="1">
              <a:spLocks noChangeArrowheads="1"/>
            </p:cNvSpPr>
            <p:nvPr/>
          </p:nvSpPr>
          <p:spPr bwMode="auto">
            <a:xfrm>
              <a:off x="3696" y="3936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90589" name="Text Box 93"/>
            <p:cNvSpPr txBox="1">
              <a:spLocks noChangeArrowheads="1"/>
            </p:cNvSpPr>
            <p:nvPr/>
          </p:nvSpPr>
          <p:spPr bwMode="auto">
            <a:xfrm>
              <a:off x="3744" y="3216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90590" name="Text Box 94"/>
            <p:cNvSpPr txBox="1">
              <a:spLocks noChangeArrowheads="1"/>
            </p:cNvSpPr>
            <p:nvPr/>
          </p:nvSpPr>
          <p:spPr bwMode="auto">
            <a:xfrm>
              <a:off x="3216" y="3504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90591" name="Text Box 95"/>
            <p:cNvSpPr txBox="1">
              <a:spLocks noChangeArrowheads="1"/>
            </p:cNvSpPr>
            <p:nvPr/>
          </p:nvSpPr>
          <p:spPr bwMode="auto">
            <a:xfrm>
              <a:off x="672" y="3552"/>
              <a:ext cx="8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r</a:t>
              </a:r>
              <a:r>
                <a:rPr lang="en-US" altLang="zh-CN" sz="1800" baseline="-25000">
                  <a:ea typeface="宋体" panose="02010600030101010101" pitchFamily="2" charset="-122"/>
                </a:rPr>
                <a:t>12</a:t>
              </a:r>
              <a:r>
                <a:rPr lang="en-US" altLang="zh-CN" sz="1800">
                  <a:ea typeface="宋体" panose="02010600030101010101" pitchFamily="2" charset="-122"/>
                </a:rPr>
                <a:t> : r</a:t>
              </a:r>
              <a:r>
                <a:rPr lang="en-US" altLang="zh-CN" sz="1800" baseline="-25000">
                  <a:ea typeface="宋体" panose="02010600030101010101" pitchFamily="2" charset="-122"/>
                </a:rPr>
                <a:t>11</a:t>
              </a:r>
              <a:r>
                <a:rPr lang="en-US" altLang="zh-CN" sz="1800">
                  <a:ea typeface="宋体" panose="02010600030101010101" pitchFamily="2" charset="-122"/>
                </a:rPr>
                <a:t>  r</a:t>
              </a:r>
              <a:r>
                <a:rPr lang="en-US" altLang="zh-CN" sz="1800" baseline="-25000">
                  <a:ea typeface="宋体" panose="02010600030101010101" pitchFamily="2" charset="-122"/>
                </a:rPr>
                <a:t>10</a:t>
              </a:r>
              <a:endParaRPr lang="en-US" altLang="zh-CN" sz="1800">
                <a:ea typeface="宋体" panose="02010600030101010101" pitchFamily="2" charset="-122"/>
              </a:endParaRPr>
            </a:p>
          </p:txBody>
        </p:sp>
        <p:sp>
          <p:nvSpPr>
            <p:cNvPr id="490592" name="Oval 96"/>
            <p:cNvSpPr>
              <a:spLocks noChangeArrowheads="1"/>
            </p:cNvSpPr>
            <p:nvPr/>
          </p:nvSpPr>
          <p:spPr bwMode="auto">
            <a:xfrm>
              <a:off x="2304" y="3552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0593" name="Oval 97"/>
            <p:cNvSpPr>
              <a:spLocks noChangeArrowheads="1"/>
            </p:cNvSpPr>
            <p:nvPr/>
          </p:nvSpPr>
          <p:spPr bwMode="auto">
            <a:xfrm>
              <a:off x="2976" y="2928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0594" name="Oval 98"/>
            <p:cNvSpPr>
              <a:spLocks noChangeArrowheads="1"/>
            </p:cNvSpPr>
            <p:nvPr/>
          </p:nvSpPr>
          <p:spPr bwMode="auto">
            <a:xfrm>
              <a:off x="4224" y="2928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90595" name="Group 99"/>
            <p:cNvGrpSpPr>
              <a:grpSpLocks/>
            </p:cNvGrpSpPr>
            <p:nvPr/>
          </p:nvGrpSpPr>
          <p:grpSpPr bwMode="auto">
            <a:xfrm>
              <a:off x="5328" y="3552"/>
              <a:ext cx="288" cy="288"/>
              <a:chOff x="5184" y="3792"/>
              <a:chExt cx="288" cy="288"/>
            </a:xfrm>
          </p:grpSpPr>
          <p:sp>
            <p:nvSpPr>
              <p:cNvPr id="490596" name="Oval 100"/>
              <p:cNvSpPr>
                <a:spLocks noChangeArrowheads="1"/>
              </p:cNvSpPr>
              <p:nvPr/>
            </p:nvSpPr>
            <p:spPr bwMode="auto">
              <a:xfrm>
                <a:off x="5232" y="3840"/>
                <a:ext cx="192" cy="19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0597" name="Oval 101"/>
              <p:cNvSpPr>
                <a:spLocks noChangeArrowheads="1"/>
              </p:cNvSpPr>
              <p:nvPr/>
            </p:nvSpPr>
            <p:spPr bwMode="auto">
              <a:xfrm>
                <a:off x="5184" y="3792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90598" name="Line 102"/>
            <p:cNvSpPr>
              <a:spLocks noChangeShapeType="1"/>
            </p:cNvSpPr>
            <p:nvPr/>
          </p:nvSpPr>
          <p:spPr bwMode="auto">
            <a:xfrm>
              <a:off x="2016" y="3696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0599" name="Line 103"/>
            <p:cNvSpPr>
              <a:spLocks noChangeShapeType="1"/>
            </p:cNvSpPr>
            <p:nvPr/>
          </p:nvSpPr>
          <p:spPr bwMode="auto">
            <a:xfrm>
              <a:off x="4896" y="3696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0600" name="Line 104"/>
            <p:cNvSpPr>
              <a:spLocks noChangeShapeType="1"/>
            </p:cNvSpPr>
            <p:nvPr/>
          </p:nvSpPr>
          <p:spPr bwMode="auto">
            <a:xfrm>
              <a:off x="4512" y="3072"/>
              <a:ext cx="864" cy="5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0601" name="Line 105"/>
            <p:cNvSpPr>
              <a:spLocks noChangeShapeType="1"/>
            </p:cNvSpPr>
            <p:nvPr/>
          </p:nvSpPr>
          <p:spPr bwMode="auto">
            <a:xfrm>
              <a:off x="3264" y="3072"/>
              <a:ext cx="9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0602" name="Line 106"/>
            <p:cNvSpPr>
              <a:spLocks noChangeShapeType="1"/>
            </p:cNvSpPr>
            <p:nvPr/>
          </p:nvSpPr>
          <p:spPr bwMode="auto">
            <a:xfrm flipV="1">
              <a:off x="2544" y="3168"/>
              <a:ext cx="432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0603" name="Text Box 107"/>
            <p:cNvSpPr txBox="1">
              <a:spLocks noChangeArrowheads="1"/>
            </p:cNvSpPr>
            <p:nvPr/>
          </p:nvSpPr>
          <p:spPr bwMode="auto">
            <a:xfrm>
              <a:off x="4752" y="3120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90604" name="Text Box 108"/>
            <p:cNvSpPr txBox="1">
              <a:spLocks noChangeArrowheads="1"/>
            </p:cNvSpPr>
            <p:nvPr/>
          </p:nvSpPr>
          <p:spPr bwMode="auto">
            <a:xfrm>
              <a:off x="2544" y="3264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90605" name="Text Box 109"/>
            <p:cNvSpPr txBox="1">
              <a:spLocks noChangeArrowheads="1"/>
            </p:cNvSpPr>
            <p:nvPr/>
          </p:nvSpPr>
          <p:spPr bwMode="auto">
            <a:xfrm>
              <a:off x="3552" y="2880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490606" name="Oval 110"/>
            <p:cNvSpPr>
              <a:spLocks noChangeArrowheads="1"/>
            </p:cNvSpPr>
            <p:nvPr/>
          </p:nvSpPr>
          <p:spPr bwMode="auto">
            <a:xfrm>
              <a:off x="1728" y="3552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0607" name="Line 111"/>
            <p:cNvSpPr>
              <a:spLocks noChangeShapeType="1"/>
            </p:cNvSpPr>
            <p:nvPr/>
          </p:nvSpPr>
          <p:spPr bwMode="auto">
            <a:xfrm>
              <a:off x="1488" y="3696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0608" name="Text Box 112"/>
            <p:cNvSpPr txBox="1">
              <a:spLocks noChangeArrowheads="1"/>
            </p:cNvSpPr>
            <p:nvPr/>
          </p:nvSpPr>
          <p:spPr bwMode="auto">
            <a:xfrm>
              <a:off x="2016" y="3504"/>
              <a:ext cx="33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a</a:t>
              </a:r>
            </a:p>
          </p:txBody>
        </p:sp>
      </p:grpSp>
      <p:sp>
        <p:nvSpPr>
          <p:cNvPr id="490609" name="Rectangle 113"/>
          <p:cNvSpPr>
            <a:spLocks noChangeArrowheads="1"/>
          </p:cNvSpPr>
          <p:nvPr/>
        </p:nvSpPr>
        <p:spPr bwMode="auto">
          <a:xfrm>
            <a:off x="7329488" y="739775"/>
            <a:ext cx="2298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(ab*c) | (a(b|c*))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0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0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0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0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0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0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8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8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25B639-EF33-4A16-B94F-DD9D30593C0F}" type="slidenum">
              <a:rPr lang="zh-CN" altLang="en-US"/>
              <a:pPr/>
              <a:t>16</a:t>
            </a:fld>
            <a:endParaRPr lang="en-US" altLang="zh-CN"/>
          </a:p>
        </p:txBody>
      </p:sp>
      <p:sp>
        <p:nvSpPr>
          <p:cNvPr id="4915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  <a:noFill/>
          <a:ln/>
        </p:spPr>
        <p:txBody>
          <a:bodyPr lIns="92075" tIns="46038" rIns="92075" bIns="46038"/>
          <a:lstStyle/>
          <a:p>
            <a:r>
              <a:rPr lang="en-US" altLang="zh-CN">
                <a:ea typeface="宋体" panose="02010600030101010101" pitchFamily="2" charset="-122"/>
              </a:rPr>
              <a:t>R.E.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NFA (exercise answer)</a:t>
            </a:r>
            <a:r>
              <a:rPr lang="en-US" altLang="zh-CN">
                <a:ea typeface="宋体" panose="02010600030101010101" pitchFamily="2" charset="-122"/>
              </a:rPr>
              <a:t>– Final Step</a:t>
            </a:r>
          </a:p>
        </p:txBody>
      </p:sp>
      <p:sp>
        <p:nvSpPr>
          <p:cNvPr id="491523" name="Text Box 3"/>
          <p:cNvSpPr txBox="1">
            <a:spLocks noChangeArrowheads="1"/>
          </p:cNvSpPr>
          <p:nvPr/>
        </p:nvSpPr>
        <p:spPr bwMode="auto">
          <a:xfrm>
            <a:off x="2228850" y="1524000"/>
            <a:ext cx="627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r</a:t>
            </a:r>
            <a:r>
              <a:rPr lang="en-US" altLang="zh-CN" baseline="-25000">
                <a:ea typeface="宋体" panose="02010600030101010101" pitchFamily="2" charset="-122"/>
              </a:rPr>
              <a:t>13</a:t>
            </a:r>
            <a:r>
              <a:rPr lang="en-US" altLang="zh-CN">
                <a:ea typeface="宋体" panose="02010600030101010101" pitchFamily="2" charset="-122"/>
              </a:rPr>
              <a:t> : r</a:t>
            </a:r>
            <a:r>
              <a:rPr lang="en-US" altLang="zh-CN" baseline="-25000">
                <a:ea typeface="宋体" panose="02010600030101010101" pitchFamily="2" charset="-122"/>
              </a:rPr>
              <a:t>5</a:t>
            </a:r>
            <a:r>
              <a:rPr lang="en-US" altLang="zh-CN">
                <a:ea typeface="宋体" panose="02010600030101010101" pitchFamily="2" charset="-122"/>
              </a:rPr>
              <a:t> | r</a:t>
            </a:r>
            <a:r>
              <a:rPr lang="en-US" altLang="zh-CN" baseline="-25000">
                <a:ea typeface="宋体" panose="02010600030101010101" pitchFamily="2" charset="-122"/>
              </a:rPr>
              <a:t>12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491606" name="Group 86"/>
          <p:cNvGrpSpPr>
            <a:grpSpLocks/>
          </p:cNvGrpSpPr>
          <p:nvPr/>
        </p:nvGrpSpPr>
        <p:grpSpPr bwMode="auto">
          <a:xfrm>
            <a:off x="701675" y="2362200"/>
            <a:ext cx="8859838" cy="3738563"/>
            <a:chOff x="442" y="1488"/>
            <a:chExt cx="5581" cy="2355"/>
          </a:xfrm>
        </p:grpSpPr>
        <p:sp>
          <p:nvSpPr>
            <p:cNvPr id="491525" name="Oval 5"/>
            <p:cNvSpPr>
              <a:spLocks noChangeArrowheads="1"/>
            </p:cNvSpPr>
            <p:nvPr/>
          </p:nvSpPr>
          <p:spPr bwMode="auto">
            <a:xfrm>
              <a:off x="2498" y="1824"/>
              <a:ext cx="312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526" name="Oval 6"/>
            <p:cNvSpPr>
              <a:spLocks noChangeArrowheads="1"/>
            </p:cNvSpPr>
            <p:nvPr/>
          </p:nvSpPr>
          <p:spPr bwMode="auto">
            <a:xfrm>
              <a:off x="3070" y="1824"/>
              <a:ext cx="312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527" name="Oval 7"/>
            <p:cNvSpPr>
              <a:spLocks noChangeArrowheads="1"/>
            </p:cNvSpPr>
            <p:nvPr/>
          </p:nvSpPr>
          <p:spPr bwMode="auto">
            <a:xfrm>
              <a:off x="3642" y="1824"/>
              <a:ext cx="312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528" name="Oval 8"/>
            <p:cNvSpPr>
              <a:spLocks noChangeArrowheads="1"/>
            </p:cNvSpPr>
            <p:nvPr/>
          </p:nvSpPr>
          <p:spPr bwMode="auto">
            <a:xfrm>
              <a:off x="4266" y="1824"/>
              <a:ext cx="312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529" name="Line 9"/>
            <p:cNvSpPr>
              <a:spLocks noChangeShapeType="1"/>
            </p:cNvSpPr>
            <p:nvPr/>
          </p:nvSpPr>
          <p:spPr bwMode="auto">
            <a:xfrm>
              <a:off x="2082" y="1968"/>
              <a:ext cx="4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530" name="Line 10"/>
            <p:cNvSpPr>
              <a:spLocks noChangeShapeType="1"/>
            </p:cNvSpPr>
            <p:nvPr/>
          </p:nvSpPr>
          <p:spPr bwMode="auto">
            <a:xfrm>
              <a:off x="2810" y="1968"/>
              <a:ext cx="2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531" name="Line 11"/>
            <p:cNvSpPr>
              <a:spLocks noChangeShapeType="1"/>
            </p:cNvSpPr>
            <p:nvPr/>
          </p:nvSpPr>
          <p:spPr bwMode="auto">
            <a:xfrm>
              <a:off x="3382" y="1968"/>
              <a:ext cx="2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532" name="Line 12"/>
            <p:cNvSpPr>
              <a:spLocks noChangeShapeType="1"/>
            </p:cNvSpPr>
            <p:nvPr/>
          </p:nvSpPr>
          <p:spPr bwMode="auto">
            <a:xfrm>
              <a:off x="3954" y="1968"/>
              <a:ext cx="3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491533" name="AutoShape 13"/>
            <p:cNvCxnSpPr>
              <a:cxnSpLocks noChangeShapeType="1"/>
              <a:stCxn id="491525" idx="4"/>
              <a:endCxn id="491528" idx="4"/>
            </p:cNvCxnSpPr>
            <p:nvPr/>
          </p:nvCxnSpPr>
          <p:spPr bwMode="auto">
            <a:xfrm rot="16200000" flipH="1">
              <a:off x="3537" y="1229"/>
              <a:ext cx="1" cy="1768"/>
            </a:xfrm>
            <a:prstGeom prst="curvedConnector3">
              <a:avLst>
                <a:gd name="adj1" fmla="val 33000000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1534" name="AutoShape 14"/>
            <p:cNvCxnSpPr>
              <a:cxnSpLocks noChangeShapeType="1"/>
              <a:stCxn id="491527" idx="0"/>
              <a:endCxn id="491526" idx="0"/>
            </p:cNvCxnSpPr>
            <p:nvPr/>
          </p:nvCxnSpPr>
          <p:spPr bwMode="auto">
            <a:xfrm rot="16200000" flipH="1" flipV="1">
              <a:off x="3511" y="1539"/>
              <a:ext cx="1" cy="572"/>
            </a:xfrm>
            <a:prstGeom prst="curvedConnector3">
              <a:avLst>
                <a:gd name="adj1" fmla="val -14400000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91535" name="Text Box 15"/>
            <p:cNvSpPr txBox="1">
              <a:spLocks noChangeArrowheads="1"/>
            </p:cNvSpPr>
            <p:nvPr/>
          </p:nvSpPr>
          <p:spPr bwMode="auto">
            <a:xfrm>
              <a:off x="3330" y="1776"/>
              <a:ext cx="3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491536" name="Text Box 16"/>
            <p:cNvSpPr txBox="1">
              <a:spLocks noChangeArrowheads="1"/>
            </p:cNvSpPr>
            <p:nvPr/>
          </p:nvSpPr>
          <p:spPr bwMode="auto">
            <a:xfrm>
              <a:off x="3902" y="1776"/>
              <a:ext cx="3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91537" name="Text Box 17"/>
            <p:cNvSpPr txBox="1">
              <a:spLocks noChangeArrowheads="1"/>
            </p:cNvSpPr>
            <p:nvPr/>
          </p:nvSpPr>
          <p:spPr bwMode="auto">
            <a:xfrm>
              <a:off x="3347" y="2205"/>
              <a:ext cx="3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91538" name="Text Box 18"/>
            <p:cNvSpPr txBox="1">
              <a:spLocks noChangeArrowheads="1"/>
            </p:cNvSpPr>
            <p:nvPr/>
          </p:nvSpPr>
          <p:spPr bwMode="auto">
            <a:xfrm>
              <a:off x="3330" y="1488"/>
              <a:ext cx="3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91539" name="Text Box 19"/>
            <p:cNvSpPr txBox="1">
              <a:spLocks noChangeArrowheads="1"/>
            </p:cNvSpPr>
            <p:nvPr/>
          </p:nvSpPr>
          <p:spPr bwMode="auto">
            <a:xfrm>
              <a:off x="2758" y="1776"/>
              <a:ext cx="3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91540" name="Oval 20"/>
            <p:cNvSpPr>
              <a:spLocks noChangeArrowheads="1"/>
            </p:cNvSpPr>
            <p:nvPr/>
          </p:nvSpPr>
          <p:spPr bwMode="auto">
            <a:xfrm>
              <a:off x="858" y="2496"/>
              <a:ext cx="312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541" name="Line 21"/>
            <p:cNvSpPr>
              <a:spLocks noChangeShapeType="1"/>
            </p:cNvSpPr>
            <p:nvPr/>
          </p:nvSpPr>
          <p:spPr bwMode="auto">
            <a:xfrm>
              <a:off x="4578" y="1968"/>
              <a:ext cx="4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542" name="Text Box 22"/>
            <p:cNvSpPr txBox="1">
              <a:spLocks noChangeArrowheads="1"/>
            </p:cNvSpPr>
            <p:nvPr/>
          </p:nvSpPr>
          <p:spPr bwMode="auto">
            <a:xfrm>
              <a:off x="2082" y="1776"/>
              <a:ext cx="3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91543" name="Oval 23"/>
            <p:cNvSpPr>
              <a:spLocks noChangeArrowheads="1"/>
            </p:cNvSpPr>
            <p:nvPr/>
          </p:nvSpPr>
          <p:spPr bwMode="auto">
            <a:xfrm>
              <a:off x="1770" y="1824"/>
              <a:ext cx="312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544" name="Line 24"/>
            <p:cNvSpPr>
              <a:spLocks noChangeShapeType="1"/>
            </p:cNvSpPr>
            <p:nvPr/>
          </p:nvSpPr>
          <p:spPr bwMode="auto">
            <a:xfrm flipV="1">
              <a:off x="1124" y="1968"/>
              <a:ext cx="646" cy="55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545" name="Text Box 25"/>
            <p:cNvSpPr txBox="1">
              <a:spLocks noChangeArrowheads="1"/>
            </p:cNvSpPr>
            <p:nvPr/>
          </p:nvSpPr>
          <p:spPr bwMode="auto">
            <a:xfrm>
              <a:off x="4682" y="1872"/>
              <a:ext cx="3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91546" name="Text Box 26"/>
            <p:cNvSpPr txBox="1">
              <a:spLocks noChangeArrowheads="1"/>
            </p:cNvSpPr>
            <p:nvPr/>
          </p:nvSpPr>
          <p:spPr bwMode="auto">
            <a:xfrm>
              <a:off x="4630" y="1776"/>
              <a:ext cx="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491547" name="Oval 27"/>
            <p:cNvSpPr>
              <a:spLocks noChangeArrowheads="1"/>
            </p:cNvSpPr>
            <p:nvPr/>
          </p:nvSpPr>
          <p:spPr bwMode="auto">
            <a:xfrm>
              <a:off x="5763" y="2448"/>
              <a:ext cx="208" cy="1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548" name="Oval 28"/>
            <p:cNvSpPr>
              <a:spLocks noChangeArrowheads="1"/>
            </p:cNvSpPr>
            <p:nvPr/>
          </p:nvSpPr>
          <p:spPr bwMode="auto">
            <a:xfrm>
              <a:off x="2758" y="3264"/>
              <a:ext cx="312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549" name="Oval 29"/>
            <p:cNvSpPr>
              <a:spLocks noChangeArrowheads="1"/>
            </p:cNvSpPr>
            <p:nvPr/>
          </p:nvSpPr>
          <p:spPr bwMode="auto">
            <a:xfrm>
              <a:off x="3330" y="3264"/>
              <a:ext cx="312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550" name="Oval 30"/>
            <p:cNvSpPr>
              <a:spLocks noChangeArrowheads="1"/>
            </p:cNvSpPr>
            <p:nvPr/>
          </p:nvSpPr>
          <p:spPr bwMode="auto">
            <a:xfrm>
              <a:off x="3902" y="3264"/>
              <a:ext cx="312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551" name="Oval 31"/>
            <p:cNvSpPr>
              <a:spLocks noChangeArrowheads="1"/>
            </p:cNvSpPr>
            <p:nvPr/>
          </p:nvSpPr>
          <p:spPr bwMode="auto">
            <a:xfrm>
              <a:off x="4526" y="3264"/>
              <a:ext cx="312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552" name="Line 32"/>
            <p:cNvSpPr>
              <a:spLocks noChangeShapeType="1"/>
            </p:cNvSpPr>
            <p:nvPr/>
          </p:nvSpPr>
          <p:spPr bwMode="auto">
            <a:xfrm>
              <a:off x="2342" y="3408"/>
              <a:ext cx="4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553" name="Line 33"/>
            <p:cNvSpPr>
              <a:spLocks noChangeShapeType="1"/>
            </p:cNvSpPr>
            <p:nvPr/>
          </p:nvSpPr>
          <p:spPr bwMode="auto">
            <a:xfrm>
              <a:off x="3070" y="3408"/>
              <a:ext cx="2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554" name="Line 34"/>
            <p:cNvSpPr>
              <a:spLocks noChangeShapeType="1"/>
            </p:cNvSpPr>
            <p:nvPr/>
          </p:nvSpPr>
          <p:spPr bwMode="auto">
            <a:xfrm>
              <a:off x="3642" y="3408"/>
              <a:ext cx="2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555" name="Line 35"/>
            <p:cNvSpPr>
              <a:spLocks noChangeShapeType="1"/>
            </p:cNvSpPr>
            <p:nvPr/>
          </p:nvSpPr>
          <p:spPr bwMode="auto">
            <a:xfrm>
              <a:off x="4214" y="3408"/>
              <a:ext cx="3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491556" name="AutoShape 36"/>
            <p:cNvCxnSpPr>
              <a:cxnSpLocks noChangeShapeType="1"/>
              <a:stCxn id="491548" idx="4"/>
              <a:endCxn id="491551" idx="4"/>
            </p:cNvCxnSpPr>
            <p:nvPr/>
          </p:nvCxnSpPr>
          <p:spPr bwMode="auto">
            <a:xfrm rot="16200000" flipH="1">
              <a:off x="3797" y="2669"/>
              <a:ext cx="1" cy="1768"/>
            </a:xfrm>
            <a:prstGeom prst="curvedConnector3">
              <a:avLst>
                <a:gd name="adj1" fmla="val 28300000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91557" name="AutoShape 37"/>
            <p:cNvCxnSpPr>
              <a:cxnSpLocks noChangeShapeType="1"/>
              <a:stCxn id="491550" idx="0"/>
              <a:endCxn id="491549" idx="0"/>
            </p:cNvCxnSpPr>
            <p:nvPr/>
          </p:nvCxnSpPr>
          <p:spPr bwMode="auto">
            <a:xfrm rot="16200000" flipH="1" flipV="1">
              <a:off x="3771" y="2979"/>
              <a:ext cx="1" cy="572"/>
            </a:xfrm>
            <a:prstGeom prst="curvedConnector3">
              <a:avLst>
                <a:gd name="adj1" fmla="val -14400000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91558" name="Text Box 38"/>
            <p:cNvSpPr txBox="1">
              <a:spLocks noChangeArrowheads="1"/>
            </p:cNvSpPr>
            <p:nvPr/>
          </p:nvSpPr>
          <p:spPr bwMode="auto">
            <a:xfrm>
              <a:off x="3590" y="3216"/>
              <a:ext cx="3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491559" name="Text Box 39"/>
            <p:cNvSpPr txBox="1">
              <a:spLocks noChangeArrowheads="1"/>
            </p:cNvSpPr>
            <p:nvPr/>
          </p:nvSpPr>
          <p:spPr bwMode="auto">
            <a:xfrm>
              <a:off x="4162" y="3216"/>
              <a:ext cx="3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91560" name="Text Box 40"/>
            <p:cNvSpPr txBox="1">
              <a:spLocks noChangeArrowheads="1"/>
            </p:cNvSpPr>
            <p:nvPr/>
          </p:nvSpPr>
          <p:spPr bwMode="auto">
            <a:xfrm>
              <a:off x="3619" y="3612"/>
              <a:ext cx="3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91561" name="Text Box 41"/>
            <p:cNvSpPr txBox="1">
              <a:spLocks noChangeArrowheads="1"/>
            </p:cNvSpPr>
            <p:nvPr/>
          </p:nvSpPr>
          <p:spPr bwMode="auto">
            <a:xfrm>
              <a:off x="3590" y="2928"/>
              <a:ext cx="3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91562" name="Text Box 42"/>
            <p:cNvSpPr txBox="1">
              <a:spLocks noChangeArrowheads="1"/>
            </p:cNvSpPr>
            <p:nvPr/>
          </p:nvSpPr>
          <p:spPr bwMode="auto">
            <a:xfrm>
              <a:off x="3018" y="3216"/>
              <a:ext cx="3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91563" name="Oval 43"/>
            <p:cNvSpPr>
              <a:spLocks noChangeArrowheads="1"/>
            </p:cNvSpPr>
            <p:nvPr/>
          </p:nvSpPr>
          <p:spPr bwMode="auto">
            <a:xfrm>
              <a:off x="2030" y="3264"/>
              <a:ext cx="312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564" name="Oval 44"/>
            <p:cNvSpPr>
              <a:spLocks noChangeArrowheads="1"/>
            </p:cNvSpPr>
            <p:nvPr/>
          </p:nvSpPr>
          <p:spPr bwMode="auto">
            <a:xfrm>
              <a:off x="2758" y="2640"/>
              <a:ext cx="312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565" name="Oval 45"/>
            <p:cNvSpPr>
              <a:spLocks noChangeArrowheads="1"/>
            </p:cNvSpPr>
            <p:nvPr/>
          </p:nvSpPr>
          <p:spPr bwMode="auto">
            <a:xfrm>
              <a:off x="4110" y="2640"/>
              <a:ext cx="312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566" name="Oval 46"/>
            <p:cNvSpPr>
              <a:spLocks noChangeArrowheads="1"/>
            </p:cNvSpPr>
            <p:nvPr/>
          </p:nvSpPr>
          <p:spPr bwMode="auto">
            <a:xfrm>
              <a:off x="5306" y="3264"/>
              <a:ext cx="312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567" name="Line 47"/>
            <p:cNvSpPr>
              <a:spLocks noChangeShapeType="1"/>
            </p:cNvSpPr>
            <p:nvPr/>
          </p:nvSpPr>
          <p:spPr bwMode="auto">
            <a:xfrm>
              <a:off x="1718" y="3408"/>
              <a:ext cx="3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568" name="Line 48"/>
            <p:cNvSpPr>
              <a:spLocks noChangeShapeType="1"/>
            </p:cNvSpPr>
            <p:nvPr/>
          </p:nvSpPr>
          <p:spPr bwMode="auto">
            <a:xfrm>
              <a:off x="4838" y="3408"/>
              <a:ext cx="4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569" name="Line 49"/>
            <p:cNvSpPr>
              <a:spLocks noChangeShapeType="1"/>
            </p:cNvSpPr>
            <p:nvPr/>
          </p:nvSpPr>
          <p:spPr bwMode="auto">
            <a:xfrm>
              <a:off x="4422" y="2784"/>
              <a:ext cx="936" cy="5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570" name="Line 50"/>
            <p:cNvSpPr>
              <a:spLocks noChangeShapeType="1"/>
            </p:cNvSpPr>
            <p:nvPr/>
          </p:nvSpPr>
          <p:spPr bwMode="auto">
            <a:xfrm>
              <a:off x="3070" y="2784"/>
              <a:ext cx="10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571" name="Line 51"/>
            <p:cNvSpPr>
              <a:spLocks noChangeShapeType="1"/>
            </p:cNvSpPr>
            <p:nvPr/>
          </p:nvSpPr>
          <p:spPr bwMode="auto">
            <a:xfrm flipV="1">
              <a:off x="2290" y="2880"/>
              <a:ext cx="468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572" name="Text Box 52"/>
            <p:cNvSpPr txBox="1">
              <a:spLocks noChangeArrowheads="1"/>
            </p:cNvSpPr>
            <p:nvPr/>
          </p:nvSpPr>
          <p:spPr bwMode="auto">
            <a:xfrm>
              <a:off x="4753" y="2840"/>
              <a:ext cx="3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91573" name="Text Box 53"/>
            <p:cNvSpPr txBox="1">
              <a:spLocks noChangeArrowheads="1"/>
            </p:cNvSpPr>
            <p:nvPr/>
          </p:nvSpPr>
          <p:spPr bwMode="auto">
            <a:xfrm>
              <a:off x="2258" y="2931"/>
              <a:ext cx="3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91574" name="Text Box 54"/>
            <p:cNvSpPr txBox="1">
              <a:spLocks noChangeArrowheads="1"/>
            </p:cNvSpPr>
            <p:nvPr/>
          </p:nvSpPr>
          <p:spPr bwMode="auto">
            <a:xfrm>
              <a:off x="3382" y="2592"/>
              <a:ext cx="3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491575" name="Oval 55"/>
            <p:cNvSpPr>
              <a:spLocks noChangeArrowheads="1"/>
            </p:cNvSpPr>
            <p:nvPr/>
          </p:nvSpPr>
          <p:spPr bwMode="auto">
            <a:xfrm>
              <a:off x="1406" y="3264"/>
              <a:ext cx="312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576" name="Line 56"/>
            <p:cNvSpPr>
              <a:spLocks noChangeShapeType="1"/>
            </p:cNvSpPr>
            <p:nvPr/>
          </p:nvSpPr>
          <p:spPr bwMode="auto">
            <a:xfrm>
              <a:off x="1079" y="2795"/>
              <a:ext cx="327" cy="6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577" name="Text Box 57"/>
            <p:cNvSpPr txBox="1">
              <a:spLocks noChangeArrowheads="1"/>
            </p:cNvSpPr>
            <p:nvPr/>
          </p:nvSpPr>
          <p:spPr bwMode="auto">
            <a:xfrm>
              <a:off x="1718" y="3216"/>
              <a:ext cx="3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91578" name="Oval 58"/>
            <p:cNvSpPr>
              <a:spLocks noChangeArrowheads="1"/>
            </p:cNvSpPr>
            <p:nvPr/>
          </p:nvSpPr>
          <p:spPr bwMode="auto">
            <a:xfrm>
              <a:off x="5711" y="2400"/>
              <a:ext cx="312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579" name="Oval 59"/>
            <p:cNvSpPr>
              <a:spLocks noChangeArrowheads="1"/>
            </p:cNvSpPr>
            <p:nvPr/>
          </p:nvSpPr>
          <p:spPr bwMode="auto">
            <a:xfrm>
              <a:off x="4994" y="1824"/>
              <a:ext cx="312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580" name="Line 60"/>
            <p:cNvSpPr>
              <a:spLocks noChangeShapeType="1"/>
            </p:cNvSpPr>
            <p:nvPr/>
          </p:nvSpPr>
          <p:spPr bwMode="auto">
            <a:xfrm>
              <a:off x="442" y="2640"/>
              <a:ext cx="4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581" name="Text Box 61"/>
            <p:cNvSpPr txBox="1">
              <a:spLocks noChangeArrowheads="1"/>
            </p:cNvSpPr>
            <p:nvPr/>
          </p:nvSpPr>
          <p:spPr bwMode="auto">
            <a:xfrm>
              <a:off x="5297" y="2160"/>
              <a:ext cx="3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91582" name="Text Box 62"/>
            <p:cNvSpPr txBox="1">
              <a:spLocks noChangeArrowheads="1"/>
            </p:cNvSpPr>
            <p:nvPr/>
          </p:nvSpPr>
          <p:spPr bwMode="auto">
            <a:xfrm>
              <a:off x="5433" y="2840"/>
              <a:ext cx="3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91583" name="Text Box 63"/>
            <p:cNvSpPr txBox="1">
              <a:spLocks noChangeArrowheads="1"/>
            </p:cNvSpPr>
            <p:nvPr/>
          </p:nvSpPr>
          <p:spPr bwMode="auto">
            <a:xfrm>
              <a:off x="442" y="2387"/>
              <a:ext cx="41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  <a:sym typeface="Symbol" panose="05050102010706020507" pitchFamily="18" charset="2"/>
                </a:rPr>
                <a:t>start</a:t>
              </a:r>
              <a:endParaRPr lang="en-US" altLang="zh-CN" sz="1800">
                <a:ea typeface="宋体" panose="02010600030101010101" pitchFamily="2" charset="-122"/>
              </a:endParaRPr>
            </a:p>
          </p:txBody>
        </p:sp>
        <p:sp>
          <p:nvSpPr>
            <p:cNvPr id="491584" name="Text Box 64"/>
            <p:cNvSpPr txBox="1">
              <a:spLocks noChangeArrowheads="1"/>
            </p:cNvSpPr>
            <p:nvPr/>
          </p:nvSpPr>
          <p:spPr bwMode="auto">
            <a:xfrm>
              <a:off x="1146" y="2064"/>
              <a:ext cx="3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  <p:sp>
          <p:nvSpPr>
            <p:cNvPr id="491585" name="Line 65"/>
            <p:cNvSpPr>
              <a:spLocks noChangeShapeType="1"/>
            </p:cNvSpPr>
            <p:nvPr/>
          </p:nvSpPr>
          <p:spPr bwMode="auto">
            <a:xfrm>
              <a:off x="5254" y="2064"/>
              <a:ext cx="542" cy="3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586" name="Line 66"/>
            <p:cNvSpPr>
              <a:spLocks noChangeShapeType="1"/>
            </p:cNvSpPr>
            <p:nvPr/>
          </p:nvSpPr>
          <p:spPr bwMode="auto">
            <a:xfrm flipV="1">
              <a:off x="5566" y="2704"/>
              <a:ext cx="276" cy="6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587" name="Text Box 67"/>
            <p:cNvSpPr txBox="1">
              <a:spLocks noChangeArrowheads="1"/>
            </p:cNvSpPr>
            <p:nvPr/>
          </p:nvSpPr>
          <p:spPr bwMode="auto">
            <a:xfrm>
              <a:off x="858" y="2544"/>
              <a:ext cx="3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491588" name="Text Box 68"/>
            <p:cNvSpPr txBox="1">
              <a:spLocks noChangeArrowheads="1"/>
            </p:cNvSpPr>
            <p:nvPr/>
          </p:nvSpPr>
          <p:spPr bwMode="auto">
            <a:xfrm>
              <a:off x="4266" y="1872"/>
              <a:ext cx="3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491589" name="Text Box 69"/>
            <p:cNvSpPr txBox="1">
              <a:spLocks noChangeArrowheads="1"/>
            </p:cNvSpPr>
            <p:nvPr/>
          </p:nvSpPr>
          <p:spPr bwMode="auto">
            <a:xfrm>
              <a:off x="3642" y="1872"/>
              <a:ext cx="3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491590" name="Text Box 70"/>
            <p:cNvSpPr txBox="1">
              <a:spLocks noChangeArrowheads="1"/>
            </p:cNvSpPr>
            <p:nvPr/>
          </p:nvSpPr>
          <p:spPr bwMode="auto">
            <a:xfrm>
              <a:off x="3070" y="1872"/>
              <a:ext cx="3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491591" name="Text Box 71"/>
            <p:cNvSpPr txBox="1">
              <a:spLocks noChangeArrowheads="1"/>
            </p:cNvSpPr>
            <p:nvPr/>
          </p:nvSpPr>
          <p:spPr bwMode="auto">
            <a:xfrm>
              <a:off x="2498" y="1872"/>
              <a:ext cx="3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491592" name="Text Box 72"/>
            <p:cNvSpPr txBox="1">
              <a:spLocks noChangeArrowheads="1"/>
            </p:cNvSpPr>
            <p:nvPr/>
          </p:nvSpPr>
          <p:spPr bwMode="auto">
            <a:xfrm>
              <a:off x="1406" y="3312"/>
              <a:ext cx="3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491593" name="Text Box 73"/>
            <p:cNvSpPr txBox="1">
              <a:spLocks noChangeArrowheads="1"/>
            </p:cNvSpPr>
            <p:nvPr/>
          </p:nvSpPr>
          <p:spPr bwMode="auto">
            <a:xfrm>
              <a:off x="1770" y="1872"/>
              <a:ext cx="3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91594" name="Text Box 74"/>
            <p:cNvSpPr txBox="1">
              <a:spLocks noChangeArrowheads="1"/>
            </p:cNvSpPr>
            <p:nvPr/>
          </p:nvSpPr>
          <p:spPr bwMode="auto">
            <a:xfrm>
              <a:off x="2758" y="2688"/>
              <a:ext cx="3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491595" name="Text Box 75"/>
            <p:cNvSpPr txBox="1">
              <a:spLocks noChangeArrowheads="1"/>
            </p:cNvSpPr>
            <p:nvPr/>
          </p:nvSpPr>
          <p:spPr bwMode="auto">
            <a:xfrm>
              <a:off x="2030" y="3312"/>
              <a:ext cx="3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8</a:t>
              </a:r>
            </a:p>
          </p:txBody>
        </p:sp>
        <p:sp>
          <p:nvSpPr>
            <p:cNvPr id="491596" name="Text Box 76"/>
            <p:cNvSpPr txBox="1">
              <a:spLocks noChangeArrowheads="1"/>
            </p:cNvSpPr>
            <p:nvPr/>
          </p:nvSpPr>
          <p:spPr bwMode="auto">
            <a:xfrm>
              <a:off x="2758" y="3312"/>
              <a:ext cx="3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11</a:t>
              </a:r>
            </a:p>
          </p:txBody>
        </p:sp>
        <p:sp>
          <p:nvSpPr>
            <p:cNvPr id="491597" name="Text Box 77"/>
            <p:cNvSpPr txBox="1">
              <a:spLocks noChangeArrowheads="1"/>
            </p:cNvSpPr>
            <p:nvPr/>
          </p:nvSpPr>
          <p:spPr bwMode="auto">
            <a:xfrm>
              <a:off x="3330" y="3312"/>
              <a:ext cx="3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12</a:t>
              </a:r>
            </a:p>
          </p:txBody>
        </p:sp>
        <p:sp>
          <p:nvSpPr>
            <p:cNvPr id="491598" name="Text Box 78"/>
            <p:cNvSpPr txBox="1">
              <a:spLocks noChangeArrowheads="1"/>
            </p:cNvSpPr>
            <p:nvPr/>
          </p:nvSpPr>
          <p:spPr bwMode="auto">
            <a:xfrm>
              <a:off x="3902" y="3312"/>
              <a:ext cx="3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13</a:t>
              </a:r>
            </a:p>
          </p:txBody>
        </p:sp>
        <p:sp>
          <p:nvSpPr>
            <p:cNvPr id="491599" name="Text Box 79"/>
            <p:cNvSpPr txBox="1">
              <a:spLocks noChangeArrowheads="1"/>
            </p:cNvSpPr>
            <p:nvPr/>
          </p:nvSpPr>
          <p:spPr bwMode="auto">
            <a:xfrm>
              <a:off x="4110" y="2688"/>
              <a:ext cx="3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10</a:t>
              </a:r>
            </a:p>
          </p:txBody>
        </p:sp>
        <p:sp>
          <p:nvSpPr>
            <p:cNvPr id="491600" name="Text Box 80"/>
            <p:cNvSpPr txBox="1">
              <a:spLocks noChangeArrowheads="1"/>
            </p:cNvSpPr>
            <p:nvPr/>
          </p:nvSpPr>
          <p:spPr bwMode="auto">
            <a:xfrm>
              <a:off x="4526" y="3312"/>
              <a:ext cx="3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14</a:t>
              </a:r>
            </a:p>
          </p:txBody>
        </p:sp>
        <p:sp>
          <p:nvSpPr>
            <p:cNvPr id="491601" name="Text Box 81"/>
            <p:cNvSpPr txBox="1">
              <a:spLocks noChangeArrowheads="1"/>
            </p:cNvSpPr>
            <p:nvPr/>
          </p:nvSpPr>
          <p:spPr bwMode="auto">
            <a:xfrm>
              <a:off x="4994" y="1872"/>
              <a:ext cx="3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6</a:t>
              </a:r>
            </a:p>
          </p:txBody>
        </p:sp>
        <p:sp>
          <p:nvSpPr>
            <p:cNvPr id="491602" name="Text Box 82"/>
            <p:cNvSpPr txBox="1">
              <a:spLocks noChangeArrowheads="1"/>
            </p:cNvSpPr>
            <p:nvPr/>
          </p:nvSpPr>
          <p:spPr bwMode="auto">
            <a:xfrm>
              <a:off x="5306" y="3312"/>
              <a:ext cx="3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15</a:t>
              </a:r>
            </a:p>
          </p:txBody>
        </p:sp>
        <p:sp>
          <p:nvSpPr>
            <p:cNvPr id="491603" name="Text Box 83"/>
            <p:cNvSpPr txBox="1">
              <a:spLocks noChangeArrowheads="1"/>
            </p:cNvSpPr>
            <p:nvPr/>
          </p:nvSpPr>
          <p:spPr bwMode="auto">
            <a:xfrm>
              <a:off x="5711" y="2448"/>
              <a:ext cx="3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16</a:t>
              </a:r>
            </a:p>
          </p:txBody>
        </p:sp>
        <p:sp>
          <p:nvSpPr>
            <p:cNvPr id="491604" name="Text Box 84"/>
            <p:cNvSpPr txBox="1">
              <a:spLocks noChangeArrowheads="1"/>
            </p:cNvSpPr>
            <p:nvPr/>
          </p:nvSpPr>
          <p:spPr bwMode="auto">
            <a:xfrm>
              <a:off x="1124" y="2886"/>
              <a:ext cx="36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1800">
                  <a:ea typeface="宋体" panose="02010600030101010101" pitchFamily="2" charset="-122"/>
                  <a:sym typeface="Symbol" panose="05050102010706020507" pitchFamily="18" charset="2"/>
                </a:rPr>
                <a:t></a:t>
              </a:r>
              <a:endParaRPr lang="zh-CN" altLang="en-US" sz="1800"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9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1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322ED-7AF1-490C-B76C-3538346AD25F}" type="slidenum">
              <a:rPr lang="zh-CN" altLang="en-US"/>
              <a:pPr/>
              <a:t>17</a:t>
            </a:fld>
            <a:endParaRPr lang="en-US" altLang="zh-CN"/>
          </a:p>
        </p:txBody>
      </p:sp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Direct Simulation of an NFA (P.126)</a:t>
            </a:r>
          </a:p>
        </p:txBody>
      </p:sp>
      <p:sp>
        <p:nvSpPr>
          <p:cNvPr id="492547" name="Text Box 3"/>
          <p:cNvSpPr txBox="1">
            <a:spLocks noChangeArrowheads="1"/>
          </p:cNvSpPr>
          <p:nvPr/>
        </p:nvSpPr>
        <p:spPr bwMode="auto">
          <a:xfrm>
            <a:off x="2393950" y="1052513"/>
            <a:ext cx="5365750" cy="248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800">
                <a:latin typeface="Courier New" panose="02070309020205020404" pitchFamily="49" charset="0"/>
                <a:ea typeface="宋体" panose="02010600030101010101" pitchFamily="2" charset="-122"/>
              </a:rPr>
              <a:t>s </a:t>
            </a:r>
            <a:r>
              <a:rPr lang="en-US" altLang="zh-CN" sz="180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 s</a:t>
            </a:r>
            <a:r>
              <a:rPr lang="en-US" altLang="zh-CN" sz="1800" baseline="-2500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endParaRPr lang="en-US" altLang="zh-CN" sz="1800">
              <a:latin typeface="Courier New" panose="020703090202050204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sz="1800">
                <a:latin typeface="Courier New" panose="02070309020205020404" pitchFamily="49" charset="0"/>
                <a:ea typeface="宋体" panose="02010600030101010101" pitchFamily="2" charset="-122"/>
              </a:rPr>
              <a:t>c </a:t>
            </a:r>
            <a:r>
              <a:rPr lang="en-US" altLang="zh-CN" sz="180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 nextchar;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sz="180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while c  eof do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sz="180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  s  move(s,c);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sz="180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  c  nextchar;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sz="180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end;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sz="180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if s is in F then return “yes”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sz="180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             else return “no”</a:t>
            </a:r>
          </a:p>
        </p:txBody>
      </p:sp>
      <p:sp>
        <p:nvSpPr>
          <p:cNvPr id="492548" name="Text Box 4"/>
          <p:cNvSpPr txBox="1">
            <a:spLocks noChangeArrowheads="1"/>
          </p:cNvSpPr>
          <p:nvPr/>
        </p:nvSpPr>
        <p:spPr bwMode="auto">
          <a:xfrm>
            <a:off x="2476500" y="3795713"/>
            <a:ext cx="5365750" cy="2501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800">
                <a:solidFill>
                  <a:srgbClr val="FF33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S </a:t>
            </a:r>
            <a:r>
              <a:rPr lang="en-US" altLang="zh-CN" sz="1800">
                <a:solidFill>
                  <a:srgbClr val="FF33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 </a:t>
            </a:r>
            <a:r>
              <a:rPr lang="en-US" altLang="zh-CN" sz="1800">
                <a:solidFill>
                  <a:srgbClr val="FF33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1800">
                <a:solidFill>
                  <a:srgbClr val="FF33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-closure({s</a:t>
            </a:r>
            <a:r>
              <a:rPr lang="en-US" altLang="zh-CN" sz="1800" baseline="-25000">
                <a:solidFill>
                  <a:srgbClr val="FF33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1800">
                <a:solidFill>
                  <a:srgbClr val="FF33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})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sz="1800">
                <a:solidFill>
                  <a:srgbClr val="FF33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c </a:t>
            </a:r>
            <a:r>
              <a:rPr lang="en-US" altLang="zh-CN" sz="1800">
                <a:solidFill>
                  <a:srgbClr val="FF33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 nextchar;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sz="1800">
                <a:solidFill>
                  <a:srgbClr val="FF33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while c  eof do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sz="1800">
                <a:solidFill>
                  <a:srgbClr val="FF33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  S  </a:t>
            </a:r>
            <a:r>
              <a:rPr lang="en-US" altLang="zh-CN" sz="1800">
                <a:solidFill>
                  <a:srgbClr val="FF33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1800">
                <a:solidFill>
                  <a:srgbClr val="FF33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-closure(move(S,c));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sz="1800">
                <a:solidFill>
                  <a:srgbClr val="FF33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  c  nextchar;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sz="1800">
                <a:solidFill>
                  <a:srgbClr val="FF33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end;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sz="1800">
                <a:solidFill>
                  <a:srgbClr val="FF33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if SF then return “yes”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sz="1800">
                <a:solidFill>
                  <a:srgbClr val="FF3300"/>
                </a:solidFill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             else return “no”</a:t>
            </a:r>
          </a:p>
        </p:txBody>
      </p:sp>
      <p:sp>
        <p:nvSpPr>
          <p:cNvPr id="492549" name="AutoShape 5"/>
          <p:cNvSpPr>
            <a:spLocks/>
          </p:cNvSpPr>
          <p:nvPr/>
        </p:nvSpPr>
        <p:spPr bwMode="auto">
          <a:xfrm>
            <a:off x="7429500" y="1128713"/>
            <a:ext cx="660400" cy="2362200"/>
          </a:xfrm>
          <a:prstGeom prst="rightBrace">
            <a:avLst>
              <a:gd name="adj1" fmla="val 29808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2550" name="Text Box 6"/>
          <p:cNvSpPr txBox="1">
            <a:spLocks noChangeArrowheads="1"/>
          </p:cNvSpPr>
          <p:nvPr/>
        </p:nvSpPr>
        <p:spPr bwMode="auto">
          <a:xfrm>
            <a:off x="7812088" y="2008188"/>
            <a:ext cx="15557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zh-CN">
                <a:ea typeface="宋体" panose="02010600030101010101" pitchFamily="2" charset="-122"/>
              </a:rPr>
              <a:t>DFA</a:t>
            </a:r>
          </a:p>
          <a:p>
            <a:pPr algn="ctr" eaLnBrk="1" hangingPunct="1"/>
            <a:r>
              <a:rPr lang="en-US" altLang="zh-CN">
                <a:ea typeface="宋体" panose="02010600030101010101" pitchFamily="2" charset="-122"/>
              </a:rPr>
              <a:t>simulation</a:t>
            </a:r>
          </a:p>
        </p:txBody>
      </p:sp>
      <p:sp>
        <p:nvSpPr>
          <p:cNvPr id="492551" name="Text Box 7"/>
          <p:cNvSpPr txBox="1">
            <a:spLocks noChangeArrowheads="1"/>
          </p:cNvSpPr>
          <p:nvPr/>
        </p:nvSpPr>
        <p:spPr bwMode="auto">
          <a:xfrm>
            <a:off x="7989888" y="4481513"/>
            <a:ext cx="15557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zh-CN">
                <a:ea typeface="宋体" panose="02010600030101010101" pitchFamily="2" charset="-122"/>
              </a:rPr>
              <a:t>NFA</a:t>
            </a:r>
          </a:p>
          <a:p>
            <a:pPr algn="ctr" eaLnBrk="1" hangingPunct="1"/>
            <a:r>
              <a:rPr lang="en-US" altLang="zh-CN">
                <a:ea typeface="宋体" panose="02010600030101010101" pitchFamily="2" charset="-122"/>
              </a:rPr>
              <a:t>simulation</a:t>
            </a:r>
          </a:p>
        </p:txBody>
      </p:sp>
      <p:sp>
        <p:nvSpPr>
          <p:cNvPr id="492552" name="Rectangle 8"/>
          <p:cNvSpPr>
            <a:spLocks noChangeArrowheads="1"/>
          </p:cNvSpPr>
          <p:nvPr/>
        </p:nvSpPr>
        <p:spPr bwMode="auto">
          <a:xfrm>
            <a:off x="415925" y="3789363"/>
            <a:ext cx="1800225" cy="273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3200" b="1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algn="ctr">
              <a:defRPr sz="3200" b="1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>
              <a:defRPr sz="3200" b="1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>
              <a:defRPr sz="3200" b="1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>
              <a:defRPr sz="3200" b="1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400" b="0">
                <a:ea typeface="宋体" panose="02010600030101010101" pitchFamily="2" charset="-122"/>
              </a:rPr>
              <a:t>Fig.3.31 simulating the NFA of algorithm Thompson’s construction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1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1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008C8-E59E-4C19-BE6A-5ACC39565632}" type="slidenum">
              <a:rPr lang="zh-CN" altLang="en-US"/>
              <a:pPr/>
              <a:t>18</a:t>
            </a:fld>
            <a:endParaRPr lang="en-US" altLang="zh-CN"/>
          </a:p>
        </p:txBody>
      </p:sp>
      <p:sp>
        <p:nvSpPr>
          <p:cNvPr id="4935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  <a:noFill/>
          <a:ln/>
        </p:spPr>
        <p:txBody>
          <a:bodyPr lIns="92075" tIns="46038" rIns="92075" bIns="46038"/>
          <a:lstStyle/>
          <a:p>
            <a:r>
              <a:rPr lang="en-US" altLang="zh-CN">
                <a:ea typeface="宋体" panose="02010600030101010101" pitchFamily="2" charset="-122"/>
              </a:rPr>
              <a:t>Final Notes : R.E. to NFA Construction</a:t>
            </a:r>
          </a:p>
        </p:txBody>
      </p:sp>
      <p:sp>
        <p:nvSpPr>
          <p:cNvPr id="493571" name="Text Box 3"/>
          <p:cNvSpPr txBox="1">
            <a:spLocks noChangeArrowheads="1"/>
          </p:cNvSpPr>
          <p:nvPr/>
        </p:nvSpPr>
        <p:spPr bwMode="auto">
          <a:xfrm>
            <a:off x="704850" y="1268413"/>
            <a:ext cx="8172450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zh-CN" altLang="en-US" baseline="-25000">
                <a:solidFill>
                  <a:schemeClr val="accent2"/>
                </a:solidFill>
                <a:ea typeface="宋体" panose="02010600030101010101" pitchFamily="2" charset="-122"/>
              </a:rPr>
              <a:t>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So, an NFA may be simulated by algorithm, when NFA is constructed using Previous techniques 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 Algorithm run time is proportional to </a:t>
            </a:r>
            <a:r>
              <a:rPr lang="en-US" altLang="zh-CN">
                <a:ea typeface="宋体" panose="02010600030101010101" pitchFamily="2" charset="-122"/>
              </a:rPr>
              <a:t>|N| * |x|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where </a:t>
            </a:r>
            <a:r>
              <a:rPr lang="en-US" altLang="zh-CN">
                <a:ea typeface="宋体" panose="02010600030101010101" pitchFamily="2" charset="-122"/>
              </a:rPr>
              <a:t>|N|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is the number of states and </a:t>
            </a:r>
            <a:r>
              <a:rPr lang="en-US" altLang="zh-CN">
                <a:ea typeface="宋体" panose="02010600030101010101" pitchFamily="2" charset="-122"/>
              </a:rPr>
              <a:t>|x|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is the length of input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 Alternatively, we can construct DFA from NFA and use the resulting Dtran to recognize input:</a:t>
            </a:r>
            <a:endParaRPr lang="en-US" altLang="zh-CN" baseline="-250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pSp>
        <p:nvGrpSpPr>
          <p:cNvPr id="493572" name="Group 4"/>
          <p:cNvGrpSpPr>
            <a:grpSpLocks/>
          </p:cNvGrpSpPr>
          <p:nvPr/>
        </p:nvGrpSpPr>
        <p:grpSpPr bwMode="auto">
          <a:xfrm>
            <a:off x="2073275" y="4149725"/>
            <a:ext cx="4622800" cy="1524000"/>
            <a:chOff x="1296" y="2976"/>
            <a:chExt cx="2688" cy="960"/>
          </a:xfrm>
        </p:grpSpPr>
        <p:sp>
          <p:nvSpPr>
            <p:cNvPr id="493573" name="Text Box 5"/>
            <p:cNvSpPr txBox="1">
              <a:spLocks noChangeArrowheads="1"/>
            </p:cNvSpPr>
            <p:nvPr/>
          </p:nvSpPr>
          <p:spPr bwMode="auto">
            <a:xfrm>
              <a:off x="2160" y="2976"/>
              <a:ext cx="86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space required</a:t>
              </a:r>
            </a:p>
          </p:txBody>
        </p:sp>
        <p:sp>
          <p:nvSpPr>
            <p:cNvPr id="493574" name="Text Box 6"/>
            <p:cNvSpPr txBox="1">
              <a:spLocks noChangeArrowheads="1"/>
            </p:cNvSpPr>
            <p:nvPr/>
          </p:nvSpPr>
          <p:spPr bwMode="auto">
            <a:xfrm>
              <a:off x="2160" y="3312"/>
              <a:ext cx="8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rgbClr val="FF3300"/>
                  </a:solidFill>
                  <a:ea typeface="宋体" panose="02010600030101010101" pitchFamily="2" charset="-122"/>
                </a:rPr>
                <a:t>O(|r|)</a:t>
              </a:r>
            </a:p>
          </p:txBody>
        </p:sp>
        <p:sp>
          <p:nvSpPr>
            <p:cNvPr id="493575" name="Text Box 7"/>
            <p:cNvSpPr txBox="1">
              <a:spLocks noChangeArrowheads="1"/>
            </p:cNvSpPr>
            <p:nvPr/>
          </p:nvSpPr>
          <p:spPr bwMode="auto">
            <a:xfrm>
              <a:off x="3120" y="3312"/>
              <a:ext cx="8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rgbClr val="FF3300"/>
                  </a:solidFill>
                  <a:ea typeface="宋体" panose="02010600030101010101" pitchFamily="2" charset="-122"/>
                </a:rPr>
                <a:t>O(|r|*|x|)</a:t>
              </a:r>
            </a:p>
          </p:txBody>
        </p:sp>
        <p:sp>
          <p:nvSpPr>
            <p:cNvPr id="493576" name="Text Box 8"/>
            <p:cNvSpPr txBox="1">
              <a:spLocks noChangeArrowheads="1"/>
            </p:cNvSpPr>
            <p:nvPr/>
          </p:nvSpPr>
          <p:spPr bwMode="auto">
            <a:xfrm>
              <a:off x="3120" y="3648"/>
              <a:ext cx="8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rgbClr val="FF3300"/>
                  </a:solidFill>
                  <a:ea typeface="宋体" panose="02010600030101010101" pitchFamily="2" charset="-122"/>
                </a:rPr>
                <a:t>O(|x|)</a:t>
              </a:r>
            </a:p>
          </p:txBody>
        </p:sp>
        <p:sp>
          <p:nvSpPr>
            <p:cNvPr id="493577" name="Text Box 9"/>
            <p:cNvSpPr txBox="1">
              <a:spLocks noChangeArrowheads="1"/>
            </p:cNvSpPr>
            <p:nvPr/>
          </p:nvSpPr>
          <p:spPr bwMode="auto">
            <a:xfrm>
              <a:off x="2160" y="3648"/>
              <a:ext cx="8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rgbClr val="FF3300"/>
                  </a:solidFill>
                  <a:ea typeface="宋体" panose="02010600030101010101" pitchFamily="2" charset="-122"/>
                </a:rPr>
                <a:t>O(2</a:t>
              </a:r>
              <a:r>
                <a:rPr lang="en-US" altLang="zh-CN" baseline="30000">
                  <a:solidFill>
                    <a:srgbClr val="FF3300"/>
                  </a:solidFill>
                  <a:ea typeface="宋体" panose="02010600030101010101" pitchFamily="2" charset="-122"/>
                </a:rPr>
                <a:t>|r|</a:t>
              </a:r>
              <a:r>
                <a:rPr lang="en-US" altLang="zh-CN">
                  <a:solidFill>
                    <a:srgbClr val="FF3300"/>
                  </a:solidFill>
                  <a:ea typeface="宋体" panose="02010600030101010101" pitchFamily="2" charset="-122"/>
                </a:rPr>
                <a:t>)</a:t>
              </a:r>
            </a:p>
          </p:txBody>
        </p:sp>
        <p:sp>
          <p:nvSpPr>
            <p:cNvPr id="493578" name="Text Box 10"/>
            <p:cNvSpPr txBox="1">
              <a:spLocks noChangeArrowheads="1"/>
            </p:cNvSpPr>
            <p:nvPr/>
          </p:nvSpPr>
          <p:spPr bwMode="auto">
            <a:xfrm>
              <a:off x="1296" y="3648"/>
              <a:ext cx="8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>
                  <a:ea typeface="宋体" panose="02010600030101010101" pitchFamily="2" charset="-122"/>
                </a:rPr>
                <a:t>DFA</a:t>
              </a:r>
            </a:p>
          </p:txBody>
        </p:sp>
        <p:sp>
          <p:nvSpPr>
            <p:cNvPr id="493579" name="Text Box 11"/>
            <p:cNvSpPr txBox="1">
              <a:spLocks noChangeArrowheads="1"/>
            </p:cNvSpPr>
            <p:nvPr/>
          </p:nvSpPr>
          <p:spPr bwMode="auto">
            <a:xfrm>
              <a:off x="1296" y="3312"/>
              <a:ext cx="8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>
                  <a:ea typeface="宋体" panose="02010600030101010101" pitchFamily="2" charset="-122"/>
                </a:rPr>
                <a:t>NFA</a:t>
              </a:r>
            </a:p>
          </p:txBody>
        </p:sp>
        <p:sp>
          <p:nvSpPr>
            <p:cNvPr id="493580" name="Text Box 12"/>
            <p:cNvSpPr txBox="1">
              <a:spLocks noChangeArrowheads="1"/>
            </p:cNvSpPr>
            <p:nvPr/>
          </p:nvSpPr>
          <p:spPr bwMode="auto">
            <a:xfrm>
              <a:off x="3120" y="2976"/>
              <a:ext cx="86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ea typeface="宋体" panose="02010600030101010101" pitchFamily="2" charset="-122"/>
                </a:rPr>
                <a:t>time to simulate</a:t>
              </a:r>
            </a:p>
          </p:txBody>
        </p:sp>
      </p:grpSp>
      <p:sp>
        <p:nvSpPr>
          <p:cNvPr id="493581" name="Text Box 13"/>
          <p:cNvSpPr txBox="1">
            <a:spLocks noChangeArrowheads="1"/>
          </p:cNvSpPr>
          <p:nvPr/>
        </p:nvSpPr>
        <p:spPr bwMode="auto">
          <a:xfrm>
            <a:off x="1423988" y="5805488"/>
            <a:ext cx="7346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where </a:t>
            </a:r>
            <a:r>
              <a:rPr lang="en-US" altLang="zh-CN">
                <a:solidFill>
                  <a:srgbClr val="FF3300"/>
                </a:solidFill>
                <a:ea typeface="宋体" panose="02010600030101010101" pitchFamily="2" charset="-122"/>
              </a:rPr>
              <a:t>|r|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 is the length of the regular expression.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2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2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ED45-BCDD-443D-A4AE-6BF1CCE0D16F}" type="slidenum">
              <a:rPr lang="zh-CN" altLang="en-US"/>
              <a:pPr/>
              <a:t>19</a:t>
            </a:fld>
            <a:endParaRPr lang="en-US" altLang="zh-CN"/>
          </a:p>
        </p:txBody>
      </p:sp>
      <p:sp>
        <p:nvSpPr>
          <p:cNvPr id="4945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  <a:noFill/>
          <a:ln/>
        </p:spPr>
        <p:txBody>
          <a:bodyPr lIns="92075" tIns="46038" rIns="92075" bIns="46038"/>
          <a:lstStyle/>
          <a:p>
            <a:r>
              <a:rPr lang="en-US" altLang="zh-CN">
                <a:ea typeface="宋体" panose="02010600030101010101" pitchFamily="2" charset="-122"/>
              </a:rPr>
              <a:t>Pulling Together Concepts</a:t>
            </a:r>
          </a:p>
        </p:txBody>
      </p:sp>
      <p:sp>
        <p:nvSpPr>
          <p:cNvPr id="494595" name="Text Box 3"/>
          <p:cNvSpPr txBox="1">
            <a:spLocks noChangeArrowheads="1"/>
          </p:cNvSpPr>
          <p:nvPr/>
        </p:nvSpPr>
        <p:spPr bwMode="auto">
          <a:xfrm>
            <a:off x="776288" y="1125538"/>
            <a:ext cx="8007350" cy="520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Designing Lexical Analyzer Generator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Reg. Expr. 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NFA construction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NFA  DFA conversion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DFA simulation for lexical analyzer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Recall Lex Structure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Pattern       Action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Pattern       Action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   …               …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</a:pPr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buFontTx/>
              <a:buChar char="-"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Each pattern recognizes lexemes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buFontTx/>
              <a:buChar char="-"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Each pattern described by regular expression</a:t>
            </a:r>
          </a:p>
        </p:txBody>
      </p:sp>
      <p:sp>
        <p:nvSpPr>
          <p:cNvPr id="494596" name="AutoShape 4"/>
          <p:cNvSpPr>
            <a:spLocks/>
          </p:cNvSpPr>
          <p:nvPr/>
        </p:nvSpPr>
        <p:spPr bwMode="auto">
          <a:xfrm>
            <a:off x="4491038" y="3487738"/>
            <a:ext cx="82550" cy="1066800"/>
          </a:xfrm>
          <a:prstGeom prst="rightBrace">
            <a:avLst>
              <a:gd name="adj1" fmla="val 107692"/>
              <a:gd name="adj2" fmla="val 46278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4597" name="Text Box 5"/>
          <p:cNvSpPr txBox="1">
            <a:spLocks noChangeArrowheads="1"/>
          </p:cNvSpPr>
          <p:nvPr/>
        </p:nvSpPr>
        <p:spPr bwMode="auto">
          <a:xfrm>
            <a:off x="4408488" y="3716338"/>
            <a:ext cx="908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e.g.</a:t>
            </a:r>
          </a:p>
        </p:txBody>
      </p:sp>
      <p:sp>
        <p:nvSpPr>
          <p:cNvPr id="494598" name="Oval 6"/>
          <p:cNvSpPr>
            <a:spLocks noChangeArrowheads="1"/>
          </p:cNvSpPr>
          <p:nvPr/>
        </p:nvSpPr>
        <p:spPr bwMode="auto">
          <a:xfrm>
            <a:off x="5481638" y="3868738"/>
            <a:ext cx="412750" cy="3810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4599" name="AutoShape 7"/>
          <p:cNvSpPr>
            <a:spLocks noChangeArrowheads="1"/>
          </p:cNvSpPr>
          <p:nvPr/>
        </p:nvSpPr>
        <p:spPr bwMode="auto">
          <a:xfrm>
            <a:off x="6142038" y="3259138"/>
            <a:ext cx="1981200" cy="609600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4600" name="AutoShape 8"/>
          <p:cNvSpPr>
            <a:spLocks noChangeArrowheads="1"/>
          </p:cNvSpPr>
          <p:nvPr/>
        </p:nvSpPr>
        <p:spPr bwMode="auto">
          <a:xfrm>
            <a:off x="6142038" y="4173538"/>
            <a:ext cx="1981200" cy="609600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4601" name="Oval 9"/>
          <p:cNvSpPr>
            <a:spLocks noChangeArrowheads="1"/>
          </p:cNvSpPr>
          <p:nvPr/>
        </p:nvSpPr>
        <p:spPr bwMode="auto">
          <a:xfrm>
            <a:off x="8123238" y="4249738"/>
            <a:ext cx="412750" cy="3810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4602" name="Oval 10"/>
          <p:cNvSpPr>
            <a:spLocks noChangeArrowheads="1"/>
          </p:cNvSpPr>
          <p:nvPr/>
        </p:nvSpPr>
        <p:spPr bwMode="auto">
          <a:xfrm>
            <a:off x="8123238" y="3335338"/>
            <a:ext cx="412750" cy="3810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4603" name="Line 11"/>
          <p:cNvSpPr>
            <a:spLocks noChangeShapeType="1"/>
          </p:cNvSpPr>
          <p:nvPr/>
        </p:nvSpPr>
        <p:spPr bwMode="auto">
          <a:xfrm flipV="1">
            <a:off x="5729288" y="3640138"/>
            <a:ext cx="41275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4604" name="Line 12"/>
          <p:cNvSpPr>
            <a:spLocks noChangeShapeType="1"/>
          </p:cNvSpPr>
          <p:nvPr/>
        </p:nvSpPr>
        <p:spPr bwMode="auto">
          <a:xfrm>
            <a:off x="5729288" y="4249738"/>
            <a:ext cx="41275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4605" name="Line 13"/>
          <p:cNvSpPr>
            <a:spLocks noChangeShapeType="1"/>
          </p:cNvSpPr>
          <p:nvPr/>
        </p:nvSpPr>
        <p:spPr bwMode="auto">
          <a:xfrm>
            <a:off x="5564188" y="4249738"/>
            <a:ext cx="41275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4606" name="Text Box 14"/>
          <p:cNvSpPr txBox="1">
            <a:spLocks noChangeArrowheads="1"/>
          </p:cNvSpPr>
          <p:nvPr/>
        </p:nvSpPr>
        <p:spPr bwMode="auto">
          <a:xfrm>
            <a:off x="5481638" y="3487738"/>
            <a:ext cx="577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1800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494607" name="Text Box 15"/>
          <p:cNvSpPr txBox="1">
            <a:spLocks noChangeArrowheads="1"/>
          </p:cNvSpPr>
          <p:nvPr/>
        </p:nvSpPr>
        <p:spPr bwMode="auto">
          <a:xfrm>
            <a:off x="5729288" y="4021138"/>
            <a:ext cx="577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1800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494608" name="Text Box 16"/>
          <p:cNvSpPr txBox="1">
            <a:spLocks noChangeArrowheads="1"/>
          </p:cNvSpPr>
          <p:nvPr/>
        </p:nvSpPr>
        <p:spPr bwMode="auto">
          <a:xfrm>
            <a:off x="5316538" y="4478338"/>
            <a:ext cx="495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1800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endParaRPr lang="zh-CN" altLang="en-US" sz="1800">
              <a:ea typeface="宋体" panose="02010600030101010101" pitchFamily="2" charset="-122"/>
            </a:endParaRPr>
          </a:p>
        </p:txBody>
      </p:sp>
      <p:sp>
        <p:nvSpPr>
          <p:cNvPr id="494609" name="Oval 17"/>
          <p:cNvSpPr>
            <a:spLocks noChangeArrowheads="1"/>
          </p:cNvSpPr>
          <p:nvPr/>
        </p:nvSpPr>
        <p:spPr bwMode="auto">
          <a:xfrm>
            <a:off x="8205788" y="4325938"/>
            <a:ext cx="24765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4610" name="Oval 18"/>
          <p:cNvSpPr>
            <a:spLocks noChangeArrowheads="1"/>
          </p:cNvSpPr>
          <p:nvPr/>
        </p:nvSpPr>
        <p:spPr bwMode="auto">
          <a:xfrm>
            <a:off x="8205788" y="3411538"/>
            <a:ext cx="24765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4611" name="Text Box 19"/>
          <p:cNvSpPr txBox="1">
            <a:spLocks noChangeArrowheads="1"/>
          </p:cNvSpPr>
          <p:nvPr/>
        </p:nvSpPr>
        <p:spPr bwMode="auto">
          <a:xfrm>
            <a:off x="5481638" y="4859338"/>
            <a:ext cx="1238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800">
                <a:ea typeface="宋体" panose="02010600030101010101" pitchFamily="2" charset="-122"/>
              </a:rPr>
              <a:t>etc.</a:t>
            </a:r>
          </a:p>
        </p:txBody>
      </p:sp>
      <p:sp>
        <p:nvSpPr>
          <p:cNvPr id="494612" name="Text Box 20"/>
          <p:cNvSpPr txBox="1">
            <a:spLocks noChangeArrowheads="1"/>
          </p:cNvSpPr>
          <p:nvPr/>
        </p:nvSpPr>
        <p:spPr bwMode="auto">
          <a:xfrm>
            <a:off x="6224588" y="4249738"/>
            <a:ext cx="1898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800">
                <a:solidFill>
                  <a:srgbClr val="FF6699"/>
                </a:solidFill>
                <a:ea typeface="宋体" panose="02010600030101010101" pitchFamily="2" charset="-122"/>
              </a:rPr>
              <a:t>(abc)*ab</a:t>
            </a:r>
          </a:p>
        </p:txBody>
      </p:sp>
      <p:sp>
        <p:nvSpPr>
          <p:cNvPr id="494613" name="Text Box 21"/>
          <p:cNvSpPr txBox="1">
            <a:spLocks noChangeArrowheads="1"/>
          </p:cNvSpPr>
          <p:nvPr/>
        </p:nvSpPr>
        <p:spPr bwMode="auto">
          <a:xfrm>
            <a:off x="6224588" y="3335338"/>
            <a:ext cx="18986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sz="1800">
                <a:solidFill>
                  <a:srgbClr val="FF6699"/>
                </a:solidFill>
                <a:ea typeface="宋体" panose="02010600030101010101" pitchFamily="2" charset="-122"/>
              </a:rPr>
              <a:t>(a | b)*abb</a:t>
            </a:r>
          </a:p>
        </p:txBody>
      </p:sp>
      <p:sp>
        <p:nvSpPr>
          <p:cNvPr id="494614" name="Text Box 22"/>
          <p:cNvSpPr txBox="1">
            <a:spLocks noChangeArrowheads="1"/>
          </p:cNvSpPr>
          <p:nvPr/>
        </p:nvSpPr>
        <p:spPr bwMode="auto">
          <a:xfrm>
            <a:off x="6884988" y="5087938"/>
            <a:ext cx="206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>
                <a:solidFill>
                  <a:srgbClr val="660066"/>
                </a:solidFill>
                <a:ea typeface="宋体" panose="02010600030101010101" pitchFamily="2" charset="-122"/>
              </a:rPr>
              <a:t>Recognizer!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DFD0F-2E03-4473-A5B1-C00018C24F3D}" type="slidenum">
              <a:rPr lang="zh-CN" altLang="en-US"/>
              <a:pPr/>
              <a:t>20</a:t>
            </a:fld>
            <a:endParaRPr lang="en-US" altLang="zh-CN"/>
          </a:p>
        </p:txBody>
      </p:sp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Exercise in class</a:t>
            </a:r>
          </a:p>
        </p:txBody>
      </p:sp>
      <p:sp>
        <p:nvSpPr>
          <p:cNvPr id="525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12731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Using Thompson’s construction to construct NFA from regular expression.</a:t>
            </a:r>
          </a:p>
        </p:txBody>
      </p:sp>
      <p:sp>
        <p:nvSpPr>
          <p:cNvPr id="525316" name="Rectangle 4"/>
          <p:cNvSpPr>
            <a:spLocks noChangeArrowheads="1"/>
          </p:cNvSpPr>
          <p:nvPr/>
        </p:nvSpPr>
        <p:spPr bwMode="auto">
          <a:xfrm>
            <a:off x="2073275" y="2997200"/>
            <a:ext cx="5545138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6000" b="0">
                <a:ea typeface="宋体" panose="02010600030101010101" pitchFamily="2" charset="-122"/>
              </a:rPr>
              <a:t>a(a|b)</a:t>
            </a:r>
            <a:r>
              <a:rPr lang="en-US" altLang="zh-CN" sz="6000" baseline="30000">
                <a:ea typeface="宋体" panose="02010600030101010101" pitchFamily="2" charset="-122"/>
              </a:rPr>
              <a:t>+</a:t>
            </a:r>
            <a:r>
              <a:rPr lang="en-US" altLang="zh-CN" sz="6000" b="0">
                <a:ea typeface="宋体" panose="02010600030101010101" pitchFamily="2" charset="-122"/>
              </a:rPr>
              <a:t>(b|c)(c|∈)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9C7CA-15FC-4379-B189-D947D64D9FE4}" type="slidenum">
              <a:rPr lang="zh-CN" altLang="en-US"/>
              <a:pPr/>
              <a:t>21</a:t>
            </a:fld>
            <a:endParaRPr lang="en-US" altLang="zh-CN"/>
          </a:p>
        </p:txBody>
      </p:sp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Converting Regular Expressions Directly to DFAs (P.135)</a:t>
            </a:r>
          </a:p>
        </p:txBody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We may convert a regular expression into a DFA (without creating a NFA first).</a:t>
            </a:r>
          </a:p>
          <a:p>
            <a:r>
              <a:rPr lang="en-US" altLang="zh-CN">
                <a:ea typeface="宋体" panose="02010600030101010101" pitchFamily="2" charset="-122"/>
              </a:rPr>
              <a:t>First we augment the given regular expression by concatenating it with  a special symbol #.</a:t>
            </a:r>
          </a:p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	</a:t>
            </a:r>
            <a:r>
              <a:rPr lang="en-US" altLang="zh-CN" b="1">
                <a:ea typeface="宋体" panose="02010600030101010101" pitchFamily="2" charset="-122"/>
              </a:rPr>
              <a:t>	</a:t>
            </a:r>
            <a:r>
              <a:rPr lang="en-US" altLang="zh-CN" b="1">
                <a:solidFill>
                  <a:srgbClr val="FF00FF"/>
                </a:solidFill>
                <a:ea typeface="宋体" panose="02010600030101010101" pitchFamily="2" charset="-122"/>
              </a:rPr>
              <a:t>r  </a:t>
            </a:r>
            <a:r>
              <a:rPr lang="en-US" altLang="zh-CN" b="1">
                <a:solidFill>
                  <a:srgbClr val="FF00FF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  (r)#   	augmented regular expression</a:t>
            </a:r>
          </a:p>
          <a:p>
            <a:r>
              <a:rPr lang="en-US" altLang="zh-CN">
                <a:ea typeface="宋体" panose="02010600030101010101" pitchFamily="2" charset="-122"/>
              </a:rPr>
              <a:t>Then, we create a syntax tree for this augmented regular expression. </a:t>
            </a:r>
          </a:p>
          <a:p>
            <a:r>
              <a:rPr lang="en-US" altLang="zh-CN">
                <a:ea typeface="宋体" panose="02010600030101010101" pitchFamily="2" charset="-122"/>
              </a:rPr>
              <a:t>In this syntax tree, all alphabet symbols (plus # and the empty string) in the augmented regular expression will be on the leaves, and all inner nodes will be the operators in that augmented regular expression. </a:t>
            </a:r>
          </a:p>
          <a:p>
            <a:r>
              <a:rPr lang="en-US" altLang="zh-CN">
                <a:ea typeface="宋体" panose="02010600030101010101" pitchFamily="2" charset="-122"/>
              </a:rPr>
              <a:t>Then each alphabet symbol (plus #) will  be numbered (position numbers).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84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2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2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47033-EE1F-481D-ADEA-2423C4C37489}" type="slidenum">
              <a:rPr lang="zh-CN" altLang="en-US"/>
              <a:pPr/>
              <a:t>22</a:t>
            </a:fld>
            <a:endParaRPr lang="en-US" altLang="zh-CN"/>
          </a:p>
        </p:txBody>
      </p:sp>
      <p:sp>
        <p:nvSpPr>
          <p:cNvPr id="286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Regular Expression </a:t>
            </a:r>
            <a:r>
              <a:rPr lang="en-US" altLang="zh-CN">
                <a:ea typeface="宋体" panose="02010600030101010101" pitchFamily="2" charset="-122"/>
                <a:sym typeface="Wingdings" panose="05000000000000000000" pitchFamily="2" charset="2"/>
              </a:rPr>
              <a:t> DFA (cont.)</a:t>
            </a:r>
          </a:p>
        </p:txBody>
      </p:sp>
      <p:sp>
        <p:nvSpPr>
          <p:cNvPr id="286723" name="Text Box 3"/>
          <p:cNvSpPr txBox="1">
            <a:spLocks noChangeArrowheads="1"/>
          </p:cNvSpPr>
          <p:nvPr/>
        </p:nvSpPr>
        <p:spPr bwMode="auto">
          <a:xfrm>
            <a:off x="365125" y="1336675"/>
            <a:ext cx="7570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ea typeface="宋体" panose="02010600030101010101" pitchFamily="2" charset="-122"/>
              </a:rPr>
              <a:t>(a|b)</a:t>
            </a:r>
            <a:r>
              <a:rPr lang="en-US" altLang="zh-CN" b="0" baseline="30000">
                <a:ea typeface="宋体" panose="02010600030101010101" pitchFamily="2" charset="-122"/>
              </a:rPr>
              <a:t> *</a:t>
            </a:r>
            <a:r>
              <a:rPr lang="en-US" altLang="zh-CN" b="0">
                <a:ea typeface="宋体" panose="02010600030101010101" pitchFamily="2" charset="-122"/>
              </a:rPr>
              <a:t> a   </a:t>
            </a:r>
            <a:r>
              <a:rPr lang="en-US" altLang="zh-CN" b="0">
                <a:ea typeface="宋体" panose="02010600030101010101" pitchFamily="2" charset="-122"/>
                <a:sym typeface="Wingdings" panose="05000000000000000000" pitchFamily="2" charset="2"/>
              </a:rPr>
              <a:t>  </a:t>
            </a:r>
            <a:r>
              <a:rPr lang="en-US" altLang="zh-CN" b="0">
                <a:ea typeface="宋体" panose="02010600030101010101" pitchFamily="2" charset="-122"/>
              </a:rPr>
              <a:t>(a|b)</a:t>
            </a:r>
            <a:r>
              <a:rPr lang="en-US" altLang="zh-CN" b="0" baseline="30000">
                <a:ea typeface="宋体" panose="02010600030101010101" pitchFamily="2" charset="-122"/>
              </a:rPr>
              <a:t> *</a:t>
            </a:r>
            <a:r>
              <a:rPr lang="en-US" altLang="zh-CN" b="0">
                <a:ea typeface="宋体" panose="02010600030101010101" pitchFamily="2" charset="-122"/>
              </a:rPr>
              <a:t> a #	augmented regular expression</a:t>
            </a:r>
            <a:r>
              <a:rPr lang="en-US" altLang="zh-CN" b="0">
                <a:ea typeface="宋体" panose="02010600030101010101" pitchFamily="2" charset="-122"/>
                <a:sym typeface="Wingdings" panose="05000000000000000000" pitchFamily="2" charset="2"/>
              </a:rPr>
              <a:t> </a:t>
            </a:r>
          </a:p>
        </p:txBody>
      </p:sp>
      <p:grpSp>
        <p:nvGrpSpPr>
          <p:cNvPr id="286746" name="Group 26"/>
          <p:cNvGrpSpPr>
            <a:grpSpLocks/>
          </p:cNvGrpSpPr>
          <p:nvPr/>
        </p:nvGrpSpPr>
        <p:grpSpPr bwMode="auto">
          <a:xfrm>
            <a:off x="1066800" y="2362200"/>
            <a:ext cx="1962150" cy="2622550"/>
            <a:chOff x="672" y="1488"/>
            <a:chExt cx="1236" cy="1652"/>
          </a:xfrm>
        </p:grpSpPr>
        <p:sp>
          <p:nvSpPr>
            <p:cNvPr id="286724" name="Line 4"/>
            <p:cNvSpPr>
              <a:spLocks noChangeShapeType="1"/>
            </p:cNvSpPr>
            <p:nvPr/>
          </p:nvSpPr>
          <p:spPr bwMode="auto">
            <a:xfrm flipH="1">
              <a:off x="1296" y="1632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727" name="Line 7"/>
            <p:cNvSpPr>
              <a:spLocks noChangeShapeType="1"/>
            </p:cNvSpPr>
            <p:nvPr/>
          </p:nvSpPr>
          <p:spPr bwMode="auto">
            <a:xfrm>
              <a:off x="1584" y="1632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728" name="Line 8"/>
            <p:cNvSpPr>
              <a:spLocks noChangeShapeType="1"/>
            </p:cNvSpPr>
            <p:nvPr/>
          </p:nvSpPr>
          <p:spPr bwMode="auto">
            <a:xfrm flipH="1">
              <a:off x="1008" y="1920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729" name="Line 9"/>
            <p:cNvSpPr>
              <a:spLocks noChangeShapeType="1"/>
            </p:cNvSpPr>
            <p:nvPr/>
          </p:nvSpPr>
          <p:spPr bwMode="auto">
            <a:xfrm>
              <a:off x="1296" y="1920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730" name="Line 10"/>
            <p:cNvSpPr>
              <a:spLocks noChangeShapeType="1"/>
            </p:cNvSpPr>
            <p:nvPr/>
          </p:nvSpPr>
          <p:spPr bwMode="auto">
            <a:xfrm>
              <a:off x="1008" y="22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731" name="Line 11"/>
            <p:cNvSpPr>
              <a:spLocks noChangeShapeType="1"/>
            </p:cNvSpPr>
            <p:nvPr/>
          </p:nvSpPr>
          <p:spPr bwMode="auto">
            <a:xfrm flipH="1">
              <a:off x="768" y="2592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732" name="Line 12"/>
            <p:cNvSpPr>
              <a:spLocks noChangeShapeType="1"/>
            </p:cNvSpPr>
            <p:nvPr/>
          </p:nvSpPr>
          <p:spPr bwMode="auto">
            <a:xfrm>
              <a:off x="1056" y="2592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733" name="Text Box 13"/>
            <p:cNvSpPr txBox="1">
              <a:spLocks noChangeArrowheads="1"/>
            </p:cNvSpPr>
            <p:nvPr/>
          </p:nvSpPr>
          <p:spPr bwMode="auto">
            <a:xfrm>
              <a:off x="1440" y="1488"/>
              <a:ext cx="17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600" b="0">
                  <a:ea typeface="宋体" panose="02010600030101010101" pitchFamily="2" charset="-122"/>
                  <a:sym typeface="Symbol" panose="05050102010706020507" pitchFamily="18" charset="2"/>
                </a:rPr>
                <a:t></a:t>
              </a:r>
              <a:endParaRPr lang="zh-CN" altLang="en-US" sz="1600" b="0">
                <a:ea typeface="宋体" panose="02010600030101010101" pitchFamily="2" charset="-122"/>
              </a:endParaRPr>
            </a:p>
          </p:txBody>
        </p:sp>
        <p:sp>
          <p:nvSpPr>
            <p:cNvPr id="286734" name="Text Box 14"/>
            <p:cNvSpPr txBox="1">
              <a:spLocks noChangeArrowheads="1"/>
            </p:cNvSpPr>
            <p:nvPr/>
          </p:nvSpPr>
          <p:spPr bwMode="auto">
            <a:xfrm>
              <a:off x="912" y="2064"/>
              <a:ext cx="17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600" b="0">
                  <a:ea typeface="宋体" panose="02010600030101010101" pitchFamily="2" charset="-122"/>
                  <a:sym typeface="Symbol" panose="05050102010706020507" pitchFamily="18" charset="2"/>
                </a:rPr>
                <a:t>*</a:t>
              </a:r>
              <a:endParaRPr lang="zh-CN" altLang="en-US" sz="1600" b="0">
                <a:ea typeface="宋体" panose="02010600030101010101" pitchFamily="2" charset="-122"/>
              </a:endParaRPr>
            </a:p>
          </p:txBody>
        </p:sp>
        <p:sp>
          <p:nvSpPr>
            <p:cNvPr id="286735" name="Text Box 15"/>
            <p:cNvSpPr txBox="1">
              <a:spLocks noChangeArrowheads="1"/>
            </p:cNvSpPr>
            <p:nvPr/>
          </p:nvSpPr>
          <p:spPr bwMode="auto">
            <a:xfrm>
              <a:off x="1152" y="1776"/>
              <a:ext cx="17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600" b="0">
                  <a:ea typeface="宋体" panose="02010600030101010101" pitchFamily="2" charset="-122"/>
                  <a:sym typeface="Symbol" panose="05050102010706020507" pitchFamily="18" charset="2"/>
                </a:rPr>
                <a:t></a:t>
              </a:r>
              <a:endParaRPr lang="zh-CN" altLang="en-US" sz="1600" b="0">
                <a:ea typeface="宋体" panose="02010600030101010101" pitchFamily="2" charset="-122"/>
              </a:endParaRPr>
            </a:p>
          </p:txBody>
        </p:sp>
        <p:sp>
          <p:nvSpPr>
            <p:cNvPr id="286736" name="Text Box 16"/>
            <p:cNvSpPr txBox="1">
              <a:spLocks noChangeArrowheads="1"/>
            </p:cNvSpPr>
            <p:nvPr/>
          </p:nvSpPr>
          <p:spPr bwMode="auto">
            <a:xfrm>
              <a:off x="912" y="2448"/>
              <a:ext cx="17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600" b="0">
                  <a:ea typeface="宋体" panose="0201060003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sz="1600" b="0">
                  <a:ea typeface="宋体" panose="02010600030101010101" pitchFamily="2" charset="-122"/>
                  <a:sym typeface="Symbol" panose="05050102010706020507" pitchFamily="18" charset="2"/>
                </a:rPr>
                <a:t>|</a:t>
              </a:r>
              <a:endParaRPr lang="en-US" altLang="zh-CN" sz="1600" b="0">
                <a:ea typeface="宋体" panose="02010600030101010101" pitchFamily="2" charset="-122"/>
              </a:endParaRPr>
            </a:p>
          </p:txBody>
        </p:sp>
        <p:sp>
          <p:nvSpPr>
            <p:cNvPr id="286737" name="Text Box 17"/>
            <p:cNvSpPr txBox="1">
              <a:spLocks noChangeArrowheads="1"/>
            </p:cNvSpPr>
            <p:nvPr/>
          </p:nvSpPr>
          <p:spPr bwMode="auto">
            <a:xfrm>
              <a:off x="1200" y="2736"/>
              <a:ext cx="17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1600" b="0">
                  <a:ea typeface="宋体" panose="02010600030101010101" pitchFamily="2" charset="-122"/>
                  <a:sym typeface="Symbol" panose="05050102010706020507" pitchFamily="18" charset="2"/>
                </a:rPr>
                <a:t>b</a:t>
              </a:r>
              <a:endParaRPr lang="en-US" altLang="zh-CN" sz="1600" b="0">
                <a:ea typeface="宋体" panose="02010600030101010101" pitchFamily="2" charset="-122"/>
              </a:endParaRPr>
            </a:p>
          </p:txBody>
        </p:sp>
        <p:sp>
          <p:nvSpPr>
            <p:cNvPr id="286738" name="Text Box 18"/>
            <p:cNvSpPr txBox="1">
              <a:spLocks noChangeArrowheads="1"/>
            </p:cNvSpPr>
            <p:nvPr/>
          </p:nvSpPr>
          <p:spPr bwMode="auto">
            <a:xfrm>
              <a:off x="1440" y="2064"/>
              <a:ext cx="17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1600" b="0"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endParaRPr lang="en-US" altLang="zh-CN" sz="1600" b="0">
                <a:ea typeface="宋体" panose="02010600030101010101" pitchFamily="2" charset="-122"/>
              </a:endParaRPr>
            </a:p>
          </p:txBody>
        </p:sp>
        <p:sp>
          <p:nvSpPr>
            <p:cNvPr id="286739" name="Text Box 19"/>
            <p:cNvSpPr txBox="1">
              <a:spLocks noChangeArrowheads="1"/>
            </p:cNvSpPr>
            <p:nvPr/>
          </p:nvSpPr>
          <p:spPr bwMode="auto">
            <a:xfrm>
              <a:off x="1728" y="1776"/>
              <a:ext cx="17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1600" b="0">
                  <a:ea typeface="宋体" panose="02010600030101010101" pitchFamily="2" charset="-122"/>
                  <a:sym typeface="Symbol" panose="05050102010706020507" pitchFamily="18" charset="2"/>
                </a:rPr>
                <a:t>#</a:t>
              </a:r>
              <a:endParaRPr lang="en-US" altLang="zh-CN" sz="1600" b="0">
                <a:ea typeface="宋体" panose="02010600030101010101" pitchFamily="2" charset="-122"/>
              </a:endParaRPr>
            </a:p>
          </p:txBody>
        </p:sp>
        <p:sp>
          <p:nvSpPr>
            <p:cNvPr id="286740" name="Text Box 20"/>
            <p:cNvSpPr txBox="1">
              <a:spLocks noChangeArrowheads="1"/>
            </p:cNvSpPr>
            <p:nvPr/>
          </p:nvSpPr>
          <p:spPr bwMode="auto">
            <a:xfrm>
              <a:off x="672" y="2736"/>
              <a:ext cx="175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1600" b="0">
                  <a:ea typeface="宋体" panose="02010600030101010101" pitchFamily="2" charset="-122"/>
                  <a:sym typeface="Symbol" panose="05050102010706020507" pitchFamily="18" charset="2"/>
                </a:rPr>
                <a:t>a</a:t>
              </a:r>
              <a:endParaRPr lang="en-US" altLang="zh-CN" sz="1600" b="0">
                <a:ea typeface="宋体" panose="02010600030101010101" pitchFamily="2" charset="-122"/>
              </a:endParaRPr>
            </a:p>
          </p:txBody>
        </p:sp>
        <p:sp>
          <p:nvSpPr>
            <p:cNvPr id="286741" name="Text Box 21"/>
            <p:cNvSpPr txBox="1">
              <a:spLocks noChangeArrowheads="1"/>
            </p:cNvSpPr>
            <p:nvPr/>
          </p:nvSpPr>
          <p:spPr bwMode="auto">
            <a:xfrm>
              <a:off x="672" y="2928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286742" name="Text Box 22"/>
            <p:cNvSpPr txBox="1">
              <a:spLocks noChangeArrowheads="1"/>
            </p:cNvSpPr>
            <p:nvPr/>
          </p:nvSpPr>
          <p:spPr bwMode="auto">
            <a:xfrm>
              <a:off x="1728" y="1920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286743" name="Text Box 23"/>
            <p:cNvSpPr txBox="1">
              <a:spLocks noChangeArrowheads="1"/>
            </p:cNvSpPr>
            <p:nvPr/>
          </p:nvSpPr>
          <p:spPr bwMode="auto">
            <a:xfrm>
              <a:off x="1440" y="2208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286744" name="Text Box 24"/>
            <p:cNvSpPr txBox="1">
              <a:spLocks noChangeArrowheads="1"/>
            </p:cNvSpPr>
            <p:nvPr/>
          </p:nvSpPr>
          <p:spPr bwMode="auto">
            <a:xfrm>
              <a:off x="1200" y="2880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1600" b="0">
                  <a:ea typeface="宋体" panose="02010600030101010101" pitchFamily="2" charset="-122"/>
                </a:rPr>
                <a:t>2</a:t>
              </a:r>
            </a:p>
          </p:txBody>
        </p:sp>
      </p:grpSp>
      <p:sp>
        <p:nvSpPr>
          <p:cNvPr id="286745" name="Text Box 25"/>
          <p:cNvSpPr txBox="1">
            <a:spLocks noChangeArrowheads="1"/>
          </p:cNvSpPr>
          <p:nvPr/>
        </p:nvSpPr>
        <p:spPr bwMode="auto">
          <a:xfrm>
            <a:off x="3641725" y="2403475"/>
            <a:ext cx="4926013" cy="301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ea typeface="宋体" panose="02010600030101010101" pitchFamily="2" charset="-122"/>
              </a:rPr>
              <a:t>Syntax tree of   (a|b)</a:t>
            </a:r>
            <a:r>
              <a:rPr lang="en-US" altLang="zh-CN" b="0" baseline="30000">
                <a:ea typeface="宋体" panose="02010600030101010101" pitchFamily="2" charset="-122"/>
              </a:rPr>
              <a:t> *</a:t>
            </a:r>
            <a:r>
              <a:rPr lang="en-US" altLang="zh-CN" b="0">
                <a:ea typeface="宋体" panose="02010600030101010101" pitchFamily="2" charset="-122"/>
              </a:rPr>
              <a:t> a # </a:t>
            </a:r>
          </a:p>
          <a:p>
            <a:endParaRPr lang="en-US" altLang="zh-CN" b="0">
              <a:ea typeface="宋体" panose="02010600030101010101" pitchFamily="2" charset="-122"/>
            </a:endParaRPr>
          </a:p>
          <a:p>
            <a:endParaRPr lang="en-US" altLang="zh-CN" b="0">
              <a:ea typeface="宋体" panose="02010600030101010101" pitchFamily="2" charset="-122"/>
            </a:endParaRPr>
          </a:p>
          <a:p>
            <a:pPr>
              <a:buFontTx/>
              <a:buChar char="•"/>
            </a:pPr>
            <a:r>
              <a:rPr lang="en-US" altLang="zh-CN" b="0">
                <a:ea typeface="宋体" panose="02010600030101010101" pitchFamily="2" charset="-122"/>
              </a:rPr>
              <a:t>  each symbol is numbered (positions)</a:t>
            </a:r>
          </a:p>
          <a:p>
            <a:pPr>
              <a:buFontTx/>
              <a:buChar char="•"/>
            </a:pPr>
            <a:r>
              <a:rPr lang="en-US" altLang="zh-CN" b="0">
                <a:ea typeface="宋体" panose="02010600030101010101" pitchFamily="2" charset="-122"/>
              </a:rPr>
              <a:t>  each symbol is at a leave</a:t>
            </a:r>
          </a:p>
          <a:p>
            <a:endParaRPr lang="en-US" altLang="zh-CN" b="0">
              <a:ea typeface="宋体" panose="02010600030101010101" pitchFamily="2" charset="-122"/>
            </a:endParaRPr>
          </a:p>
          <a:p>
            <a:pPr>
              <a:buFontTx/>
              <a:buChar char="•"/>
            </a:pPr>
            <a:r>
              <a:rPr lang="en-US" altLang="zh-CN" b="0">
                <a:ea typeface="宋体" panose="02010600030101010101" pitchFamily="2" charset="-122"/>
              </a:rPr>
              <a:t>  inner nodes are operators</a:t>
            </a:r>
          </a:p>
          <a:p>
            <a:endParaRPr lang="zh-CN" altLang="en-US" b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86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1C44C-FE63-4B3F-A158-CE8B7965C3F4}" type="slidenum">
              <a:rPr lang="zh-CN" altLang="en-US"/>
              <a:pPr/>
              <a:t>23</a:t>
            </a:fld>
            <a:endParaRPr lang="en-US" altLang="zh-CN"/>
          </a:p>
        </p:txBody>
      </p:sp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followpos</a:t>
            </a:r>
            <a:endParaRPr lang="en-US" altLang="zh-CN">
              <a:ea typeface="宋体" panose="02010600030101010101" pitchFamily="2" charset="-122"/>
              <a:sym typeface="Wingdings" panose="05000000000000000000" pitchFamily="2" charset="2"/>
            </a:endParaRPr>
          </a:p>
        </p:txBody>
      </p:sp>
      <p:sp>
        <p:nvSpPr>
          <p:cNvPr id="287747" name="Text Box 3"/>
          <p:cNvSpPr txBox="1">
            <a:spLocks noChangeArrowheads="1"/>
          </p:cNvSpPr>
          <p:nvPr/>
        </p:nvSpPr>
        <p:spPr bwMode="auto">
          <a:xfrm>
            <a:off x="517525" y="1260475"/>
            <a:ext cx="8415338" cy="5113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ea typeface="宋体" panose="02010600030101010101" pitchFamily="2" charset="-122"/>
              </a:rPr>
              <a:t>Then we define  the function </a:t>
            </a:r>
            <a:r>
              <a:rPr lang="en-US" altLang="zh-CN">
                <a:ea typeface="宋体" panose="02010600030101010101" pitchFamily="2" charset="-122"/>
              </a:rPr>
              <a:t>followpos</a:t>
            </a:r>
            <a:r>
              <a:rPr lang="en-US" altLang="zh-CN" b="0">
                <a:ea typeface="宋体" panose="02010600030101010101" pitchFamily="2" charset="-122"/>
              </a:rPr>
              <a:t> for the positions (positions </a:t>
            </a:r>
          </a:p>
          <a:p>
            <a:r>
              <a:rPr lang="en-US" altLang="zh-CN" b="0">
                <a:ea typeface="宋体" panose="02010600030101010101" pitchFamily="2" charset="-122"/>
              </a:rPr>
              <a:t>assigned to leaves).</a:t>
            </a:r>
          </a:p>
          <a:p>
            <a:endParaRPr lang="en-US" altLang="zh-CN" b="0">
              <a:ea typeface="宋体" panose="02010600030101010101" pitchFamily="2" charset="-122"/>
            </a:endParaRPr>
          </a:p>
          <a:p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</a:rPr>
              <a:t>	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followpos(i)</a:t>
            </a: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</a:rPr>
              <a:t>  --  is the set of positions which can follow </a:t>
            </a:r>
          </a:p>
          <a:p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</a:rPr>
              <a:t>			  the position i in the strings generated by</a:t>
            </a:r>
          </a:p>
          <a:p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</a:rPr>
              <a:t>			  the augmented regular expression.</a:t>
            </a:r>
          </a:p>
          <a:p>
            <a:endParaRPr lang="en-US" altLang="zh-CN" b="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r>
              <a:rPr lang="en-US" altLang="zh-CN" b="0">
                <a:ea typeface="宋体" panose="02010600030101010101" pitchFamily="2" charset="-122"/>
              </a:rPr>
              <a:t>For example,     ( a | b)</a:t>
            </a:r>
            <a:r>
              <a:rPr lang="en-US" altLang="zh-CN" b="0" baseline="30000">
                <a:ea typeface="宋体" panose="02010600030101010101" pitchFamily="2" charset="-122"/>
              </a:rPr>
              <a:t> *</a:t>
            </a:r>
            <a:r>
              <a:rPr lang="en-US" altLang="zh-CN" b="0">
                <a:ea typeface="宋体" panose="02010600030101010101" pitchFamily="2" charset="-122"/>
              </a:rPr>
              <a:t> a  #</a:t>
            </a:r>
          </a:p>
          <a:p>
            <a:r>
              <a:rPr lang="en-US" altLang="zh-CN" b="0">
                <a:ea typeface="宋体" panose="02010600030101010101" pitchFamily="2" charset="-122"/>
              </a:rPr>
              <a:t>		     </a:t>
            </a:r>
            <a:r>
              <a:rPr lang="en-US" altLang="zh-CN" sz="1800" b="0">
                <a:ea typeface="宋体" panose="02010600030101010101" pitchFamily="2" charset="-122"/>
              </a:rPr>
              <a:t>1   2       3  4</a:t>
            </a:r>
          </a:p>
          <a:p>
            <a:endParaRPr lang="en-US" altLang="zh-CN" sz="1800" b="0">
              <a:ea typeface="宋体" panose="02010600030101010101" pitchFamily="2" charset="-122"/>
            </a:endParaRPr>
          </a:p>
          <a:p>
            <a:r>
              <a:rPr lang="en-US" altLang="zh-CN" sz="1800" b="0">
                <a:ea typeface="宋体" panose="02010600030101010101" pitchFamily="2" charset="-122"/>
              </a:rPr>
              <a:t>	</a:t>
            </a:r>
            <a:r>
              <a:rPr lang="en-US" altLang="zh-CN" b="0">
                <a:ea typeface="宋体" panose="02010600030101010101" pitchFamily="2" charset="-122"/>
              </a:rPr>
              <a:t>followpos(1) = {1,2,3}</a:t>
            </a:r>
          </a:p>
          <a:p>
            <a:r>
              <a:rPr lang="en-US" altLang="zh-CN" b="0">
                <a:ea typeface="宋体" panose="02010600030101010101" pitchFamily="2" charset="-122"/>
              </a:rPr>
              <a:t>	followpos(2) = {1,2,3}</a:t>
            </a:r>
          </a:p>
          <a:p>
            <a:r>
              <a:rPr lang="en-US" altLang="zh-CN" b="0">
                <a:ea typeface="宋体" panose="02010600030101010101" pitchFamily="2" charset="-122"/>
              </a:rPr>
              <a:t>	followpos(3) =	 {4}</a:t>
            </a:r>
          </a:p>
          <a:p>
            <a:r>
              <a:rPr lang="en-US" altLang="zh-CN" b="0">
                <a:ea typeface="宋体" panose="02010600030101010101" pitchFamily="2" charset="-122"/>
              </a:rPr>
              <a:t>	followpos(4) = {}</a:t>
            </a:r>
            <a:endParaRPr lang="en-US" altLang="zh-CN" sz="1800" b="0">
              <a:ea typeface="宋体" panose="02010600030101010101" pitchFamily="2" charset="-122"/>
            </a:endParaRPr>
          </a:p>
        </p:txBody>
      </p:sp>
      <p:sp>
        <p:nvSpPr>
          <p:cNvPr id="287748" name="Text Box 4"/>
          <p:cNvSpPr txBox="1">
            <a:spLocks noChangeArrowheads="1"/>
          </p:cNvSpPr>
          <p:nvPr/>
        </p:nvSpPr>
        <p:spPr bwMode="auto">
          <a:xfrm>
            <a:off x="5257800" y="4852988"/>
            <a:ext cx="38306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i="1">
                <a:solidFill>
                  <a:srgbClr val="FF00FF"/>
                </a:solidFill>
                <a:ea typeface="宋体" panose="02010600030101010101" pitchFamily="2" charset="-122"/>
              </a:rPr>
              <a:t>followpos is just defined for leaves,</a:t>
            </a:r>
          </a:p>
          <a:p>
            <a:r>
              <a:rPr lang="en-US" altLang="zh-CN" sz="2000" i="1">
                <a:solidFill>
                  <a:srgbClr val="FF00FF"/>
                </a:solidFill>
                <a:ea typeface="宋体" panose="02010600030101010101" pitchFamily="2" charset="-122"/>
              </a:rPr>
              <a:t>it is not defined for inner nodes.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4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87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4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A39A1-6795-4C0A-80DA-439A4F57B146}" type="slidenum">
              <a:rPr lang="zh-CN" altLang="en-US"/>
              <a:pPr/>
              <a:t>24</a:t>
            </a:fld>
            <a:endParaRPr lang="en-US" altLang="zh-CN"/>
          </a:p>
        </p:txBody>
      </p:sp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firstpos, lastpos, nullable</a:t>
            </a:r>
          </a:p>
        </p:txBody>
      </p:sp>
      <p:sp>
        <p:nvSpPr>
          <p:cNvPr id="288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180513" cy="5105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To evaluate followpos, we need three more functions to be defined for the nodes (not just for leaves) of the syntax tree.</a:t>
            </a: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 b="1">
                <a:ea typeface="宋体" panose="02010600030101010101" pitchFamily="2" charset="-122"/>
              </a:rPr>
              <a:t>firstpos(n)</a:t>
            </a:r>
            <a:r>
              <a:rPr lang="en-US" altLang="zh-CN">
                <a:ea typeface="宋体" panose="02010600030101010101" pitchFamily="2" charset="-122"/>
              </a:rPr>
              <a:t>  --  the set of the positions of the </a:t>
            </a:r>
            <a:r>
              <a:rPr lang="en-US" altLang="zh-CN" b="1">
                <a:ea typeface="宋体" panose="02010600030101010101" pitchFamily="2" charset="-122"/>
              </a:rPr>
              <a:t>first</a:t>
            </a:r>
            <a:r>
              <a:rPr lang="en-US" altLang="zh-CN">
                <a:ea typeface="宋体" panose="02010600030101010101" pitchFamily="2" charset="-122"/>
              </a:rPr>
              <a:t> symbols of strings 			     generated by the sub-expression rooted by n.</a:t>
            </a: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 b="1">
                <a:ea typeface="宋体" panose="02010600030101010101" pitchFamily="2" charset="-122"/>
              </a:rPr>
              <a:t>lastpos(n)</a:t>
            </a:r>
            <a:r>
              <a:rPr lang="en-US" altLang="zh-CN">
                <a:ea typeface="宋体" panose="02010600030101010101" pitchFamily="2" charset="-122"/>
              </a:rPr>
              <a:t>  --   the set of the positions of the </a:t>
            </a:r>
            <a:r>
              <a:rPr lang="en-US" altLang="zh-CN" b="1">
                <a:ea typeface="宋体" panose="02010600030101010101" pitchFamily="2" charset="-122"/>
              </a:rPr>
              <a:t>last</a:t>
            </a:r>
            <a:r>
              <a:rPr lang="en-US" altLang="zh-CN">
                <a:ea typeface="宋体" panose="02010600030101010101" pitchFamily="2" charset="-122"/>
              </a:rPr>
              <a:t> symbols of strings 			     generated by the sub-expression rooted by n.</a:t>
            </a: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 b="1">
                <a:ea typeface="宋体" panose="02010600030101010101" pitchFamily="2" charset="-122"/>
              </a:rPr>
              <a:t>nullable(n)</a:t>
            </a:r>
            <a:r>
              <a:rPr lang="en-US" altLang="zh-CN">
                <a:ea typeface="宋体" panose="02010600030101010101" pitchFamily="2" charset="-122"/>
              </a:rPr>
              <a:t>  --  </a:t>
            </a:r>
            <a:r>
              <a:rPr lang="en-US" altLang="zh-CN" i="1">
                <a:ea typeface="宋体" panose="02010600030101010101" pitchFamily="2" charset="-122"/>
              </a:rPr>
              <a:t>true</a:t>
            </a:r>
            <a:r>
              <a:rPr lang="en-US" altLang="zh-CN">
                <a:ea typeface="宋体" panose="02010600030101010101" pitchFamily="2" charset="-122"/>
              </a:rPr>
              <a:t>   if the empty string is a member of strings 			                  generated by the sub-expression rooted by n.                       		      </a:t>
            </a:r>
            <a:r>
              <a:rPr lang="en-US" altLang="zh-CN" i="1">
                <a:ea typeface="宋体" panose="02010600030101010101" pitchFamily="2" charset="-122"/>
              </a:rPr>
              <a:t>false</a:t>
            </a:r>
            <a:r>
              <a:rPr lang="en-US" altLang="zh-CN">
                <a:ea typeface="宋体" panose="02010600030101010101" pitchFamily="2" charset="-122"/>
              </a:rPr>
              <a:t>  otherwise.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88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1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288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2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88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5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A456-4684-4F9F-BF32-F5A4078E8EF7}" type="slidenum">
              <a:rPr lang="zh-CN" altLang="en-US"/>
              <a:pPr/>
              <a:t>25</a:t>
            </a:fld>
            <a:endParaRPr lang="en-US" altLang="zh-CN"/>
          </a:p>
        </p:txBody>
      </p:sp>
      <p:sp>
        <p:nvSpPr>
          <p:cNvPr id="289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How to evaluate  firstpos, lastpos, nullable (P.138)</a:t>
            </a:r>
          </a:p>
        </p:txBody>
      </p:sp>
      <p:graphicFrame>
        <p:nvGraphicFramePr>
          <p:cNvPr id="328732" name="Group 28"/>
          <p:cNvGraphicFramePr>
            <a:graphicFrameLocks noGrp="1"/>
          </p:cNvGraphicFramePr>
          <p:nvPr/>
        </p:nvGraphicFramePr>
        <p:xfrm>
          <a:off x="304800" y="1143000"/>
          <a:ext cx="9296400" cy="4397375"/>
        </p:xfrm>
        <a:graphic>
          <a:graphicData uri="http://schemas.openxmlformats.org/drawingml/2006/table">
            <a:tbl>
              <a:tblPr/>
              <a:tblGrid>
                <a:gridCol w="1700213">
                  <a:extLst>
                    <a:ext uri="{9D8B030D-6E8A-4147-A177-3AD203B41FA5}">
                      <a16:colId xmlns:a16="http://schemas.microsoft.com/office/drawing/2014/main" val="3625048307"/>
                    </a:ext>
                  </a:extLst>
                </a:gridCol>
                <a:gridCol w="1862137">
                  <a:extLst>
                    <a:ext uri="{9D8B030D-6E8A-4147-A177-3AD203B41FA5}">
                      <a16:colId xmlns:a16="http://schemas.microsoft.com/office/drawing/2014/main" val="646604299"/>
                    </a:ext>
                  </a:extLst>
                </a:gridCol>
                <a:gridCol w="2914650">
                  <a:extLst>
                    <a:ext uri="{9D8B030D-6E8A-4147-A177-3AD203B41FA5}">
                      <a16:colId xmlns:a16="http://schemas.microsoft.com/office/drawing/2014/main" val="171529124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676863895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nullable(n)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firstpos(n)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lastpos(n)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3556441"/>
                  </a:ext>
                </a:extLst>
              </a:tr>
              <a:tr h="7334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leaf labeled 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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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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31109"/>
                  </a:ext>
                </a:extLst>
              </a:tr>
              <a:tr h="714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leaf labeled with position 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false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{i}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{i}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205333"/>
                  </a:ext>
                </a:extLst>
              </a:tr>
              <a:tr h="7334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|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c</a:t>
                      </a:r>
                      <a:r>
                        <a:rPr kumimoji="0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   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0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nullable(c</a:t>
                      </a:r>
                      <a:r>
                        <a:rPr kumimoji="0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 or nullable(c</a:t>
                      </a:r>
                      <a:r>
                        <a:rPr kumimoji="0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firstpos(c</a:t>
                      </a:r>
                      <a:r>
                        <a:rPr kumimoji="0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 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 firstpos(c</a:t>
                      </a:r>
                      <a:r>
                        <a:rPr kumimoji="0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2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)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lastpos(c</a:t>
                      </a:r>
                      <a:r>
                        <a:rPr kumimoji="0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 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 lastpos(c</a:t>
                      </a:r>
                      <a:r>
                        <a:rPr kumimoji="0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2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)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614765"/>
                  </a:ext>
                </a:extLst>
              </a:tr>
              <a:tr h="7334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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0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   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0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nullable(c</a:t>
                      </a:r>
                      <a:r>
                        <a:rPr kumimoji="0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 and nullable(c</a:t>
                      </a:r>
                      <a:r>
                        <a:rPr kumimoji="0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if (nullable(c</a:t>
                      </a:r>
                      <a:r>
                        <a:rPr kumimoji="0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firstpos(c</a:t>
                      </a:r>
                      <a:r>
                        <a:rPr kumimoji="0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 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 firstpos(c</a:t>
                      </a:r>
                      <a:r>
                        <a:rPr kumimoji="0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2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else 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firstpos(c</a:t>
                      </a:r>
                      <a:r>
                        <a:rPr kumimoji="0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if (nullable(c</a:t>
                      </a:r>
                      <a:r>
                        <a:rPr kumimoji="0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lastpos(c</a:t>
                      </a:r>
                      <a:r>
                        <a:rPr kumimoji="0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 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 lastpos(c</a:t>
                      </a:r>
                      <a:r>
                        <a:rPr kumimoji="0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2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else 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lastpos(c</a:t>
                      </a:r>
                      <a:r>
                        <a:rPr kumimoji="0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0943591"/>
                  </a:ext>
                </a:extLst>
              </a:tr>
              <a:tr h="7334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*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0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true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firstpos(c</a:t>
                      </a:r>
                      <a:r>
                        <a:rPr kumimoji="0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lastpos(c</a:t>
                      </a:r>
                      <a:r>
                        <a:rPr kumimoji="0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901503"/>
                  </a:ext>
                </a:extLst>
              </a:tr>
            </a:tbl>
          </a:graphicData>
        </a:graphic>
      </p:graphicFrame>
      <p:grpSp>
        <p:nvGrpSpPr>
          <p:cNvPr id="328733" name="Group 29"/>
          <p:cNvGrpSpPr>
            <a:grpSpLocks/>
          </p:cNvGrpSpPr>
          <p:nvPr/>
        </p:nvGrpSpPr>
        <p:grpSpPr bwMode="auto">
          <a:xfrm>
            <a:off x="609600" y="3276600"/>
            <a:ext cx="457200" cy="1981200"/>
            <a:chOff x="384" y="2064"/>
            <a:chExt cx="288" cy="1248"/>
          </a:xfrm>
        </p:grpSpPr>
        <p:sp>
          <p:nvSpPr>
            <p:cNvPr id="289871" name="Line 79"/>
            <p:cNvSpPr>
              <a:spLocks noChangeShapeType="1"/>
            </p:cNvSpPr>
            <p:nvPr/>
          </p:nvSpPr>
          <p:spPr bwMode="auto">
            <a:xfrm flipH="1">
              <a:off x="384" y="2064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9872" name="Line 80"/>
            <p:cNvSpPr>
              <a:spLocks noChangeShapeType="1"/>
            </p:cNvSpPr>
            <p:nvPr/>
          </p:nvSpPr>
          <p:spPr bwMode="auto">
            <a:xfrm>
              <a:off x="576" y="2064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9877" name="Line 85"/>
            <p:cNvSpPr>
              <a:spLocks noChangeShapeType="1"/>
            </p:cNvSpPr>
            <p:nvPr/>
          </p:nvSpPr>
          <p:spPr bwMode="auto">
            <a:xfrm flipH="1">
              <a:off x="384" y="2544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9878" name="Line 86"/>
            <p:cNvSpPr>
              <a:spLocks noChangeShapeType="1"/>
            </p:cNvSpPr>
            <p:nvPr/>
          </p:nvSpPr>
          <p:spPr bwMode="auto">
            <a:xfrm>
              <a:off x="576" y="2544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9917" name="Line 125"/>
            <p:cNvSpPr>
              <a:spLocks noChangeShapeType="1"/>
            </p:cNvSpPr>
            <p:nvPr/>
          </p:nvSpPr>
          <p:spPr bwMode="auto">
            <a:xfrm>
              <a:off x="528" y="316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28706" name="Text Box 2"/>
          <p:cNvSpPr txBox="1">
            <a:spLocks noChangeArrowheads="1"/>
          </p:cNvSpPr>
          <p:nvPr/>
        </p:nvSpPr>
        <p:spPr bwMode="auto">
          <a:xfrm>
            <a:off x="1497013" y="5734050"/>
            <a:ext cx="70564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b="0">
                <a:ea typeface="宋体" panose="02010600030101010101" pitchFamily="2" charset="-122"/>
              </a:rPr>
              <a:t>Fig.3.40. rules for computing nullable and firstpos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28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0"/>
                                        <p:tgtEl>
                                          <p:spTgt spid="328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1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861AB-9010-43D8-BF3C-E10A9DDCC00B}" type="slidenum">
              <a:rPr lang="zh-CN" altLang="en-US"/>
              <a:pPr/>
              <a:t>26</a:t>
            </a:fld>
            <a:endParaRPr lang="en-US" altLang="zh-CN"/>
          </a:p>
        </p:txBody>
      </p:sp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How to evaluate  followpos (P.138)</a:t>
            </a:r>
          </a:p>
        </p:txBody>
      </p:sp>
      <p:sp>
        <p:nvSpPr>
          <p:cNvPr id="291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4586288"/>
          </a:xfrm>
        </p:spPr>
        <p:txBody>
          <a:bodyPr/>
          <a:lstStyle/>
          <a:p>
            <a:pPr marL="457200" indent="-457200"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Two-rules define the function followpos:</a:t>
            </a:r>
          </a:p>
          <a:p>
            <a:pPr marL="457200" indent="-457200">
              <a:lnSpc>
                <a:spcPct val="90000"/>
              </a:lnSpc>
            </a:pPr>
            <a:endParaRPr lang="en-US" altLang="zh-CN">
              <a:ea typeface="宋体" panose="02010600030101010101" pitchFamily="2" charset="-122"/>
            </a:endParaRPr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If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n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 is </a:t>
            </a:r>
            <a:r>
              <a:rPr lang="en-US" altLang="zh-CN" b="1">
                <a:solidFill>
                  <a:srgbClr val="FF3300"/>
                </a:solidFill>
                <a:ea typeface="宋体" panose="02010600030101010101" pitchFamily="2" charset="-122"/>
              </a:rPr>
              <a:t>concatenation-node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 with left child c</a:t>
            </a:r>
            <a:r>
              <a:rPr lang="en-US" altLang="zh-CN" baseline="-25000">
                <a:solidFill>
                  <a:schemeClr val="accent2"/>
                </a:solidFill>
                <a:ea typeface="宋体" panose="02010600030101010101" pitchFamily="2" charset="-122"/>
              </a:rPr>
              <a:t>1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 and right child c</a:t>
            </a:r>
            <a:r>
              <a:rPr lang="en-US" altLang="zh-CN" baseline="-25000">
                <a:solidFill>
                  <a:schemeClr val="accent2"/>
                </a:solidFill>
                <a:ea typeface="宋体" panose="02010600030101010101" pitchFamily="2" charset="-122"/>
              </a:rPr>
              <a:t>2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,             and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i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 is a position in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lastpos(c</a:t>
            </a:r>
            <a:r>
              <a:rPr lang="en-US" altLang="zh-CN" b="1" baseline="-25000">
                <a:solidFill>
                  <a:schemeClr val="accent2"/>
                </a:solidFill>
                <a:ea typeface="宋体" panose="02010600030101010101" pitchFamily="2" charset="-122"/>
              </a:rPr>
              <a:t>1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)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, then all positions in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firstpos(c</a:t>
            </a:r>
            <a:r>
              <a:rPr lang="en-US" altLang="zh-CN" b="1" baseline="-25000">
                <a:solidFill>
                  <a:schemeClr val="accent2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)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 are in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followpos(i)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.</a:t>
            </a:r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If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n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 is a </a:t>
            </a:r>
            <a:r>
              <a:rPr lang="en-US" altLang="zh-CN" b="1">
                <a:solidFill>
                  <a:srgbClr val="FF3300"/>
                </a:solidFill>
                <a:ea typeface="宋体" panose="02010600030101010101" pitchFamily="2" charset="-122"/>
              </a:rPr>
              <a:t>star-node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, and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i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 is a position in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lastpos(n),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 then all positions in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firstpos(n)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 are in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</a:rPr>
              <a:t>followpos(i)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.</a:t>
            </a:r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endParaRPr lang="en-US" altLang="zh-CN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pPr marL="457200" indent="-457200"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If firstpos and lastpos have been computed for each node, followpos   of each position can be computed by making one depth-first traversal of the syntax tree.</a:t>
            </a:r>
          </a:p>
        </p:txBody>
      </p:sp>
      <p:grpSp>
        <p:nvGrpSpPr>
          <p:cNvPr id="327695" name="Group 15"/>
          <p:cNvGrpSpPr>
            <a:grpSpLocks/>
          </p:cNvGrpSpPr>
          <p:nvPr/>
        </p:nvGrpSpPr>
        <p:grpSpPr bwMode="auto">
          <a:xfrm>
            <a:off x="5673725" y="3429000"/>
            <a:ext cx="1104900" cy="1320800"/>
            <a:chOff x="5357" y="663"/>
            <a:chExt cx="696" cy="832"/>
          </a:xfrm>
        </p:grpSpPr>
        <p:sp>
          <p:nvSpPr>
            <p:cNvPr id="327682" name="Line 2"/>
            <p:cNvSpPr>
              <a:spLocks noChangeShapeType="1"/>
            </p:cNvSpPr>
            <p:nvPr/>
          </p:nvSpPr>
          <p:spPr bwMode="auto">
            <a:xfrm flipH="1">
              <a:off x="5507" y="1124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683" name="Line 3"/>
            <p:cNvSpPr>
              <a:spLocks noChangeShapeType="1"/>
            </p:cNvSpPr>
            <p:nvPr/>
          </p:nvSpPr>
          <p:spPr bwMode="auto">
            <a:xfrm>
              <a:off x="5699" y="1124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684" name="Rectangle 4"/>
            <p:cNvSpPr>
              <a:spLocks noChangeArrowheads="1"/>
            </p:cNvSpPr>
            <p:nvPr/>
          </p:nvSpPr>
          <p:spPr bwMode="auto">
            <a:xfrm>
              <a:off x="5524" y="663"/>
              <a:ext cx="212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b="0">
                  <a:ea typeface="宋体" panose="02010600030101010101" pitchFamily="2" charset="-122"/>
                </a:rPr>
                <a:t>n</a:t>
              </a:r>
            </a:p>
            <a:p>
              <a:r>
                <a:rPr lang="zh-CN" altLang="en-US">
                  <a:ea typeface="宋体" panose="02010600030101010101" pitchFamily="2" charset="-122"/>
                  <a:sym typeface="Symbol" panose="05050102010706020507" pitchFamily="18" charset="2"/>
                </a:rPr>
                <a:t></a:t>
              </a:r>
            </a:p>
          </p:txBody>
        </p:sp>
        <p:sp>
          <p:nvSpPr>
            <p:cNvPr id="327685" name="Rectangle 5"/>
            <p:cNvSpPr>
              <a:spLocks noChangeArrowheads="1"/>
            </p:cNvSpPr>
            <p:nvPr/>
          </p:nvSpPr>
          <p:spPr bwMode="auto">
            <a:xfrm>
              <a:off x="5705" y="1207"/>
              <a:ext cx="3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b="0">
                  <a:ea typeface="宋体" panose="02010600030101010101" pitchFamily="2" charset="-122"/>
                </a:rPr>
                <a:t>c2</a:t>
              </a:r>
              <a:endParaRPr lang="zh-CN" altLang="en-US" b="0">
                <a:ea typeface="宋体" panose="02010600030101010101" pitchFamily="2" charset="-122"/>
              </a:endParaRPr>
            </a:p>
          </p:txBody>
        </p:sp>
        <p:sp>
          <p:nvSpPr>
            <p:cNvPr id="327686" name="Rectangle 6"/>
            <p:cNvSpPr>
              <a:spLocks noChangeArrowheads="1"/>
            </p:cNvSpPr>
            <p:nvPr/>
          </p:nvSpPr>
          <p:spPr bwMode="auto">
            <a:xfrm>
              <a:off x="5357" y="1207"/>
              <a:ext cx="3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b="0">
                  <a:ea typeface="宋体" panose="02010600030101010101" pitchFamily="2" charset="-122"/>
                </a:rPr>
                <a:t>c1</a:t>
              </a:r>
              <a:endParaRPr lang="zh-CN" altLang="en-US" b="0">
                <a:ea typeface="宋体" panose="02010600030101010101" pitchFamily="2" charset="-122"/>
              </a:endParaRPr>
            </a:p>
          </p:txBody>
        </p:sp>
      </p:grpSp>
      <p:grpSp>
        <p:nvGrpSpPr>
          <p:cNvPr id="327697" name="Group 17"/>
          <p:cNvGrpSpPr>
            <a:grpSpLocks/>
          </p:cNvGrpSpPr>
          <p:nvPr/>
        </p:nvGrpSpPr>
        <p:grpSpPr bwMode="auto">
          <a:xfrm>
            <a:off x="8121650" y="3429000"/>
            <a:ext cx="481013" cy="1249363"/>
            <a:chOff x="5448" y="2115"/>
            <a:chExt cx="303" cy="787"/>
          </a:xfrm>
        </p:grpSpPr>
        <p:sp>
          <p:nvSpPr>
            <p:cNvPr id="327689" name="Line 9"/>
            <p:cNvSpPr>
              <a:spLocks noChangeShapeType="1"/>
            </p:cNvSpPr>
            <p:nvPr/>
          </p:nvSpPr>
          <p:spPr bwMode="auto">
            <a:xfrm>
              <a:off x="5569" y="2523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691" name="Rectangle 11"/>
            <p:cNvSpPr>
              <a:spLocks noChangeArrowheads="1"/>
            </p:cNvSpPr>
            <p:nvPr/>
          </p:nvSpPr>
          <p:spPr bwMode="auto">
            <a:xfrm>
              <a:off x="5448" y="2115"/>
              <a:ext cx="212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b="0">
                  <a:ea typeface="宋体" panose="02010600030101010101" pitchFamily="2" charset="-122"/>
                </a:rPr>
                <a:t>n</a:t>
              </a:r>
              <a:r>
                <a:rPr lang="zh-CN" altLang="en-US" b="0">
                  <a:ea typeface="宋体" panose="02010600030101010101" pitchFamily="2" charset="-122"/>
                </a:rPr>
                <a:t>*</a:t>
              </a:r>
            </a:p>
          </p:txBody>
        </p:sp>
        <p:sp>
          <p:nvSpPr>
            <p:cNvPr id="327693" name="Rectangle 13"/>
            <p:cNvSpPr>
              <a:spLocks noChangeArrowheads="1"/>
            </p:cNvSpPr>
            <p:nvPr/>
          </p:nvSpPr>
          <p:spPr bwMode="auto">
            <a:xfrm>
              <a:off x="5449" y="2614"/>
              <a:ext cx="3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b="0">
                  <a:ea typeface="宋体" panose="02010600030101010101" pitchFamily="2" charset="-122"/>
                </a:rPr>
                <a:t>c</a:t>
              </a:r>
              <a:endParaRPr lang="zh-CN" altLang="en-US" b="0"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40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291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327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13" presetID="8" presetClass="entr" presetSubtype="32" fill="hold" nodeType="afterEffect">
                                  <p:stCondLst>
                                    <p:cond delay="200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5" dur="1000"/>
                                        <p:tgtEl>
                                          <p:spTgt spid="291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23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000"/>
                                        <p:tgtEl>
                                          <p:spTgt spid="327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4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4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795CE-6AD6-4AD2-AAEB-CE2D8947BB0B}" type="slidenum">
              <a:rPr lang="zh-CN" altLang="en-US"/>
              <a:pPr/>
              <a:t>27</a:t>
            </a:fld>
            <a:endParaRPr lang="en-US" altLang="zh-CN"/>
          </a:p>
        </p:txBody>
      </p:sp>
      <p:sp>
        <p:nvSpPr>
          <p:cNvPr id="292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Example -- </a:t>
            </a:r>
            <a:r>
              <a:rPr lang="en-US" altLang="zh-CN" b="0">
                <a:solidFill>
                  <a:schemeClr val="tx1"/>
                </a:solidFill>
                <a:ea typeface="宋体" panose="02010600030101010101" pitchFamily="2" charset="-122"/>
              </a:rPr>
              <a:t>( a | b)</a:t>
            </a:r>
            <a:r>
              <a:rPr lang="en-US" altLang="zh-CN" b="0" baseline="30000">
                <a:solidFill>
                  <a:schemeClr val="tx1"/>
                </a:solidFill>
                <a:ea typeface="宋体" panose="02010600030101010101" pitchFamily="2" charset="-122"/>
              </a:rPr>
              <a:t> *</a:t>
            </a:r>
            <a:r>
              <a:rPr lang="en-US" altLang="zh-CN" b="0">
                <a:solidFill>
                  <a:schemeClr val="tx1"/>
                </a:solidFill>
                <a:ea typeface="宋体" panose="02010600030101010101" pitchFamily="2" charset="-122"/>
              </a:rPr>
              <a:t> a  #</a:t>
            </a:r>
            <a:endParaRPr lang="en-US" altLang="zh-CN" sz="2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92903" name="Group 39"/>
          <p:cNvGrpSpPr>
            <a:grpSpLocks/>
          </p:cNvGrpSpPr>
          <p:nvPr/>
        </p:nvGrpSpPr>
        <p:grpSpPr bwMode="auto">
          <a:xfrm>
            <a:off x="914400" y="1371600"/>
            <a:ext cx="2689225" cy="2622550"/>
            <a:chOff x="768" y="1104"/>
            <a:chExt cx="1694" cy="1652"/>
          </a:xfrm>
        </p:grpSpPr>
        <p:grpSp>
          <p:nvGrpSpPr>
            <p:cNvPr id="292867" name="Group 3"/>
            <p:cNvGrpSpPr>
              <a:grpSpLocks/>
            </p:cNvGrpSpPr>
            <p:nvPr/>
          </p:nvGrpSpPr>
          <p:grpSpPr bwMode="auto">
            <a:xfrm>
              <a:off x="1008" y="1104"/>
              <a:ext cx="1236" cy="1652"/>
              <a:chOff x="672" y="1488"/>
              <a:chExt cx="1236" cy="1652"/>
            </a:xfrm>
          </p:grpSpPr>
          <p:sp>
            <p:nvSpPr>
              <p:cNvPr id="292868" name="Line 4"/>
              <p:cNvSpPr>
                <a:spLocks noChangeShapeType="1"/>
              </p:cNvSpPr>
              <p:nvPr/>
            </p:nvSpPr>
            <p:spPr bwMode="auto">
              <a:xfrm flipH="1">
                <a:off x="1296" y="1632"/>
                <a:ext cx="192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2869" name="Line 5"/>
              <p:cNvSpPr>
                <a:spLocks noChangeShapeType="1"/>
              </p:cNvSpPr>
              <p:nvPr/>
            </p:nvSpPr>
            <p:spPr bwMode="auto">
              <a:xfrm>
                <a:off x="1584" y="1632"/>
                <a:ext cx="192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2870" name="Line 6"/>
              <p:cNvSpPr>
                <a:spLocks noChangeShapeType="1"/>
              </p:cNvSpPr>
              <p:nvPr/>
            </p:nvSpPr>
            <p:spPr bwMode="auto">
              <a:xfrm flipH="1">
                <a:off x="1008" y="1920"/>
                <a:ext cx="192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2871" name="Line 7"/>
              <p:cNvSpPr>
                <a:spLocks noChangeShapeType="1"/>
              </p:cNvSpPr>
              <p:nvPr/>
            </p:nvSpPr>
            <p:spPr bwMode="auto">
              <a:xfrm>
                <a:off x="1296" y="1920"/>
                <a:ext cx="192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2872" name="Line 8"/>
              <p:cNvSpPr>
                <a:spLocks noChangeShapeType="1"/>
              </p:cNvSpPr>
              <p:nvPr/>
            </p:nvSpPr>
            <p:spPr bwMode="auto">
              <a:xfrm>
                <a:off x="1008" y="2208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2873" name="Line 9"/>
              <p:cNvSpPr>
                <a:spLocks noChangeShapeType="1"/>
              </p:cNvSpPr>
              <p:nvPr/>
            </p:nvSpPr>
            <p:spPr bwMode="auto">
              <a:xfrm flipH="1">
                <a:off x="768" y="2592"/>
                <a:ext cx="192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2874" name="Line 10"/>
              <p:cNvSpPr>
                <a:spLocks noChangeShapeType="1"/>
              </p:cNvSpPr>
              <p:nvPr/>
            </p:nvSpPr>
            <p:spPr bwMode="auto">
              <a:xfrm>
                <a:off x="1056" y="2592"/>
                <a:ext cx="192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2875" name="Text Box 11"/>
              <p:cNvSpPr txBox="1">
                <a:spLocks noChangeArrowheads="1"/>
              </p:cNvSpPr>
              <p:nvPr/>
            </p:nvSpPr>
            <p:spPr bwMode="auto">
              <a:xfrm>
                <a:off x="1440" y="1488"/>
                <a:ext cx="17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zh-CN" altLang="en-US" sz="1600" b="0">
                    <a:ea typeface="宋体" panose="02010600030101010101" pitchFamily="2" charset="-122"/>
                    <a:sym typeface="Symbol" panose="05050102010706020507" pitchFamily="18" charset="2"/>
                  </a:rPr>
                  <a:t></a:t>
                </a:r>
                <a:endParaRPr lang="zh-CN" altLang="en-US" sz="1600" b="0">
                  <a:ea typeface="宋体" panose="02010600030101010101" pitchFamily="2" charset="-122"/>
                </a:endParaRPr>
              </a:p>
            </p:txBody>
          </p:sp>
          <p:sp>
            <p:nvSpPr>
              <p:cNvPr id="292876" name="Text Box 12"/>
              <p:cNvSpPr txBox="1">
                <a:spLocks noChangeArrowheads="1"/>
              </p:cNvSpPr>
              <p:nvPr/>
            </p:nvSpPr>
            <p:spPr bwMode="auto">
              <a:xfrm>
                <a:off x="912" y="2064"/>
                <a:ext cx="17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zh-CN" altLang="en-US" sz="1600" b="0">
                    <a:ea typeface="宋体" panose="02010600030101010101" pitchFamily="2" charset="-122"/>
                    <a:sym typeface="Symbol" panose="05050102010706020507" pitchFamily="18" charset="2"/>
                  </a:rPr>
                  <a:t>*</a:t>
                </a:r>
                <a:endParaRPr lang="zh-CN" altLang="en-US" sz="1600" b="0">
                  <a:ea typeface="宋体" panose="02010600030101010101" pitchFamily="2" charset="-122"/>
                </a:endParaRPr>
              </a:p>
            </p:txBody>
          </p:sp>
          <p:sp>
            <p:nvSpPr>
              <p:cNvPr id="292877" name="Text Box 13"/>
              <p:cNvSpPr txBox="1">
                <a:spLocks noChangeArrowheads="1"/>
              </p:cNvSpPr>
              <p:nvPr/>
            </p:nvSpPr>
            <p:spPr bwMode="auto">
              <a:xfrm>
                <a:off x="1152" y="1776"/>
                <a:ext cx="17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zh-CN" altLang="en-US" sz="1600" b="0">
                    <a:ea typeface="宋体" panose="02010600030101010101" pitchFamily="2" charset="-122"/>
                    <a:sym typeface="Symbol" panose="05050102010706020507" pitchFamily="18" charset="2"/>
                  </a:rPr>
                  <a:t></a:t>
                </a:r>
                <a:endParaRPr lang="zh-CN" altLang="en-US" sz="1600" b="0">
                  <a:ea typeface="宋体" panose="02010600030101010101" pitchFamily="2" charset="-122"/>
                </a:endParaRPr>
              </a:p>
            </p:txBody>
          </p:sp>
          <p:sp>
            <p:nvSpPr>
              <p:cNvPr id="292878" name="Text Box 14"/>
              <p:cNvSpPr txBox="1">
                <a:spLocks noChangeArrowheads="1"/>
              </p:cNvSpPr>
              <p:nvPr/>
            </p:nvSpPr>
            <p:spPr bwMode="auto">
              <a:xfrm>
                <a:off x="912" y="2448"/>
                <a:ext cx="17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zh-CN" altLang="en-US" sz="1600" b="0">
                    <a:ea typeface="宋体" panose="02010600030101010101" pitchFamily="2" charset="-122"/>
                    <a:sym typeface="Symbol" panose="05050102010706020507" pitchFamily="18" charset="2"/>
                  </a:rPr>
                  <a:t> </a:t>
                </a:r>
                <a:r>
                  <a:rPr lang="en-US" altLang="zh-CN" sz="1600" b="0">
                    <a:ea typeface="宋体" panose="02010600030101010101" pitchFamily="2" charset="-122"/>
                    <a:sym typeface="Symbol" panose="05050102010706020507" pitchFamily="18" charset="2"/>
                  </a:rPr>
                  <a:t>|</a:t>
                </a:r>
                <a:endParaRPr lang="en-US" altLang="zh-CN" sz="1600" b="0">
                  <a:ea typeface="宋体" panose="02010600030101010101" pitchFamily="2" charset="-122"/>
                </a:endParaRPr>
              </a:p>
            </p:txBody>
          </p:sp>
          <p:sp>
            <p:nvSpPr>
              <p:cNvPr id="292879" name="Text Box 15"/>
              <p:cNvSpPr txBox="1">
                <a:spLocks noChangeArrowheads="1"/>
              </p:cNvSpPr>
              <p:nvPr/>
            </p:nvSpPr>
            <p:spPr bwMode="auto">
              <a:xfrm>
                <a:off x="1200" y="2736"/>
                <a:ext cx="17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sz="1600" b="0">
                    <a:ea typeface="宋体" panose="02010600030101010101" pitchFamily="2" charset="-122"/>
                    <a:sym typeface="Symbol" panose="05050102010706020507" pitchFamily="18" charset="2"/>
                  </a:rPr>
                  <a:t>b</a:t>
                </a:r>
                <a:endParaRPr lang="en-US" altLang="zh-CN" sz="1600" b="0">
                  <a:ea typeface="宋体" panose="02010600030101010101" pitchFamily="2" charset="-122"/>
                </a:endParaRPr>
              </a:p>
            </p:txBody>
          </p:sp>
          <p:sp>
            <p:nvSpPr>
              <p:cNvPr id="292880" name="Text Box 16"/>
              <p:cNvSpPr txBox="1">
                <a:spLocks noChangeArrowheads="1"/>
              </p:cNvSpPr>
              <p:nvPr/>
            </p:nvSpPr>
            <p:spPr bwMode="auto">
              <a:xfrm>
                <a:off x="1440" y="2064"/>
                <a:ext cx="17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sz="1600" b="0">
                    <a:ea typeface="宋体" panose="02010600030101010101" pitchFamily="2" charset="-122"/>
                    <a:sym typeface="Symbol" panose="05050102010706020507" pitchFamily="18" charset="2"/>
                  </a:rPr>
                  <a:t>a</a:t>
                </a:r>
                <a:endParaRPr lang="en-US" altLang="zh-CN" sz="1600" b="0">
                  <a:ea typeface="宋体" panose="02010600030101010101" pitchFamily="2" charset="-122"/>
                </a:endParaRPr>
              </a:p>
            </p:txBody>
          </p:sp>
          <p:sp>
            <p:nvSpPr>
              <p:cNvPr id="292881" name="Text Box 17"/>
              <p:cNvSpPr txBox="1">
                <a:spLocks noChangeArrowheads="1"/>
              </p:cNvSpPr>
              <p:nvPr/>
            </p:nvSpPr>
            <p:spPr bwMode="auto">
              <a:xfrm>
                <a:off x="1728" y="1776"/>
                <a:ext cx="17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sz="1600" b="0">
                    <a:ea typeface="宋体" panose="02010600030101010101" pitchFamily="2" charset="-122"/>
                    <a:sym typeface="Symbol" panose="05050102010706020507" pitchFamily="18" charset="2"/>
                  </a:rPr>
                  <a:t>#</a:t>
                </a:r>
                <a:endParaRPr lang="en-US" altLang="zh-CN" sz="1600" b="0">
                  <a:ea typeface="宋体" panose="02010600030101010101" pitchFamily="2" charset="-122"/>
                </a:endParaRPr>
              </a:p>
            </p:txBody>
          </p:sp>
          <p:sp>
            <p:nvSpPr>
              <p:cNvPr id="292882" name="Text Box 18"/>
              <p:cNvSpPr txBox="1">
                <a:spLocks noChangeArrowheads="1"/>
              </p:cNvSpPr>
              <p:nvPr/>
            </p:nvSpPr>
            <p:spPr bwMode="auto">
              <a:xfrm>
                <a:off x="672" y="2736"/>
                <a:ext cx="17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sz="1600" b="0">
                    <a:ea typeface="宋体" panose="02010600030101010101" pitchFamily="2" charset="-122"/>
                    <a:sym typeface="Symbol" panose="05050102010706020507" pitchFamily="18" charset="2"/>
                  </a:rPr>
                  <a:t>a</a:t>
                </a:r>
                <a:endParaRPr lang="en-US" altLang="zh-CN" sz="1600" b="0">
                  <a:ea typeface="宋体" panose="02010600030101010101" pitchFamily="2" charset="-122"/>
                </a:endParaRPr>
              </a:p>
            </p:txBody>
          </p:sp>
          <p:sp>
            <p:nvSpPr>
              <p:cNvPr id="292883" name="Text Box 19"/>
              <p:cNvSpPr txBox="1">
                <a:spLocks noChangeArrowheads="1"/>
              </p:cNvSpPr>
              <p:nvPr/>
            </p:nvSpPr>
            <p:spPr bwMode="auto">
              <a:xfrm>
                <a:off x="672" y="2928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600" b="0"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292884" name="Text Box 20"/>
              <p:cNvSpPr txBox="1">
                <a:spLocks noChangeArrowheads="1"/>
              </p:cNvSpPr>
              <p:nvPr/>
            </p:nvSpPr>
            <p:spPr bwMode="auto">
              <a:xfrm>
                <a:off x="1728" y="1920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600" b="0">
                    <a:ea typeface="宋体" panose="02010600030101010101" pitchFamily="2" charset="-122"/>
                  </a:rPr>
                  <a:t>4</a:t>
                </a:r>
              </a:p>
            </p:txBody>
          </p:sp>
          <p:sp>
            <p:nvSpPr>
              <p:cNvPr id="292885" name="Text Box 21"/>
              <p:cNvSpPr txBox="1">
                <a:spLocks noChangeArrowheads="1"/>
              </p:cNvSpPr>
              <p:nvPr/>
            </p:nvSpPr>
            <p:spPr bwMode="auto">
              <a:xfrm>
                <a:off x="1440" y="2208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1600" b="0">
                    <a:ea typeface="宋体" panose="02010600030101010101" pitchFamily="2" charset="-122"/>
                  </a:rPr>
                  <a:t>3</a:t>
                </a:r>
              </a:p>
            </p:txBody>
          </p:sp>
          <p:sp>
            <p:nvSpPr>
              <p:cNvPr id="292886" name="Text Box 22"/>
              <p:cNvSpPr txBox="1">
                <a:spLocks noChangeArrowheads="1"/>
              </p:cNvSpPr>
              <p:nvPr/>
            </p:nvSpPr>
            <p:spPr bwMode="auto">
              <a:xfrm>
                <a:off x="1200" y="2880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sz="1600" b="0">
                    <a:ea typeface="宋体" panose="02010600030101010101" pitchFamily="2" charset="-122"/>
                  </a:rPr>
                  <a:t>2</a:t>
                </a:r>
              </a:p>
            </p:txBody>
          </p:sp>
        </p:grpSp>
        <p:sp>
          <p:nvSpPr>
            <p:cNvPr id="292887" name="Text Box 23"/>
            <p:cNvSpPr txBox="1">
              <a:spLocks noChangeArrowheads="1"/>
            </p:cNvSpPr>
            <p:nvPr/>
          </p:nvSpPr>
          <p:spPr bwMode="auto">
            <a:xfrm>
              <a:off x="1104" y="2352"/>
              <a:ext cx="30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solidFill>
                    <a:schemeClr val="accent2"/>
                  </a:solidFill>
                  <a:ea typeface="宋体" panose="02010600030101010101" pitchFamily="2" charset="-122"/>
                </a:rPr>
                <a:t>{1}</a:t>
              </a:r>
            </a:p>
          </p:txBody>
        </p:sp>
        <p:sp>
          <p:nvSpPr>
            <p:cNvPr id="292888" name="Text Box 24"/>
            <p:cNvSpPr txBox="1">
              <a:spLocks noChangeArrowheads="1"/>
            </p:cNvSpPr>
            <p:nvPr/>
          </p:nvSpPr>
          <p:spPr bwMode="auto">
            <a:xfrm>
              <a:off x="768" y="2352"/>
              <a:ext cx="30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solidFill>
                    <a:srgbClr val="660066"/>
                  </a:solidFill>
                  <a:ea typeface="宋体" panose="02010600030101010101" pitchFamily="2" charset="-122"/>
                </a:rPr>
                <a:t>{1}</a:t>
              </a:r>
            </a:p>
          </p:txBody>
        </p:sp>
        <p:sp>
          <p:nvSpPr>
            <p:cNvPr id="292889" name="Text Box 25"/>
            <p:cNvSpPr txBox="1">
              <a:spLocks noChangeArrowheads="1"/>
            </p:cNvSpPr>
            <p:nvPr/>
          </p:nvSpPr>
          <p:spPr bwMode="auto">
            <a:xfrm>
              <a:off x="1344" y="1104"/>
              <a:ext cx="57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1600" b="0">
                  <a:solidFill>
                    <a:srgbClr val="660066"/>
                  </a:solidFill>
                  <a:ea typeface="宋体" panose="02010600030101010101" pitchFamily="2" charset="-122"/>
                </a:rPr>
                <a:t>{1,2,3}</a:t>
              </a:r>
            </a:p>
          </p:txBody>
        </p:sp>
        <p:sp>
          <p:nvSpPr>
            <p:cNvPr id="292890" name="Text Box 26"/>
            <p:cNvSpPr txBox="1">
              <a:spLocks noChangeArrowheads="1"/>
            </p:cNvSpPr>
            <p:nvPr/>
          </p:nvSpPr>
          <p:spPr bwMode="auto">
            <a:xfrm>
              <a:off x="1584" y="1680"/>
              <a:ext cx="30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solidFill>
                    <a:srgbClr val="660066"/>
                  </a:solidFill>
                  <a:ea typeface="宋体" panose="02010600030101010101" pitchFamily="2" charset="-122"/>
                </a:rPr>
                <a:t>{3}</a:t>
              </a:r>
            </a:p>
          </p:txBody>
        </p:sp>
        <p:sp>
          <p:nvSpPr>
            <p:cNvPr id="292891" name="Text Box 27"/>
            <p:cNvSpPr txBox="1">
              <a:spLocks noChangeArrowheads="1"/>
            </p:cNvSpPr>
            <p:nvPr/>
          </p:nvSpPr>
          <p:spPr bwMode="auto">
            <a:xfrm>
              <a:off x="1104" y="1392"/>
              <a:ext cx="49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solidFill>
                    <a:srgbClr val="660066"/>
                  </a:solidFill>
                  <a:ea typeface="宋体" panose="02010600030101010101" pitchFamily="2" charset="-122"/>
                </a:rPr>
                <a:t>{1,2,3}</a:t>
              </a:r>
            </a:p>
          </p:txBody>
        </p:sp>
        <p:sp>
          <p:nvSpPr>
            <p:cNvPr id="292892" name="Text Box 28"/>
            <p:cNvSpPr txBox="1">
              <a:spLocks noChangeArrowheads="1"/>
            </p:cNvSpPr>
            <p:nvPr/>
          </p:nvSpPr>
          <p:spPr bwMode="auto">
            <a:xfrm>
              <a:off x="960" y="1632"/>
              <a:ext cx="39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solidFill>
                    <a:srgbClr val="660066"/>
                  </a:solidFill>
                  <a:ea typeface="宋体" panose="02010600030101010101" pitchFamily="2" charset="-122"/>
                </a:rPr>
                <a:t>{1,2}</a:t>
              </a:r>
            </a:p>
          </p:txBody>
        </p:sp>
        <p:sp>
          <p:nvSpPr>
            <p:cNvPr id="292893" name="Text Box 29"/>
            <p:cNvSpPr txBox="1">
              <a:spLocks noChangeArrowheads="1"/>
            </p:cNvSpPr>
            <p:nvPr/>
          </p:nvSpPr>
          <p:spPr bwMode="auto">
            <a:xfrm>
              <a:off x="960" y="2064"/>
              <a:ext cx="39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solidFill>
                    <a:srgbClr val="660066"/>
                  </a:solidFill>
                  <a:ea typeface="宋体" panose="02010600030101010101" pitchFamily="2" charset="-122"/>
                </a:rPr>
                <a:t>{1,2}</a:t>
              </a:r>
            </a:p>
          </p:txBody>
        </p:sp>
        <p:sp>
          <p:nvSpPr>
            <p:cNvPr id="292894" name="Text Box 30"/>
            <p:cNvSpPr txBox="1">
              <a:spLocks noChangeArrowheads="1"/>
            </p:cNvSpPr>
            <p:nvPr/>
          </p:nvSpPr>
          <p:spPr bwMode="auto">
            <a:xfrm>
              <a:off x="1344" y="2352"/>
              <a:ext cx="30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solidFill>
                    <a:srgbClr val="660066"/>
                  </a:solidFill>
                  <a:ea typeface="宋体" panose="02010600030101010101" pitchFamily="2" charset="-122"/>
                </a:rPr>
                <a:t>{2}</a:t>
              </a:r>
            </a:p>
          </p:txBody>
        </p:sp>
        <p:sp>
          <p:nvSpPr>
            <p:cNvPr id="292895" name="Text Box 31"/>
            <p:cNvSpPr txBox="1">
              <a:spLocks noChangeArrowheads="1"/>
            </p:cNvSpPr>
            <p:nvPr/>
          </p:nvSpPr>
          <p:spPr bwMode="auto">
            <a:xfrm>
              <a:off x="1872" y="1392"/>
              <a:ext cx="30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solidFill>
                    <a:srgbClr val="660066"/>
                  </a:solidFill>
                  <a:ea typeface="宋体" panose="02010600030101010101" pitchFamily="2" charset="-122"/>
                </a:rPr>
                <a:t>{4}</a:t>
              </a:r>
            </a:p>
          </p:txBody>
        </p:sp>
        <p:sp>
          <p:nvSpPr>
            <p:cNvPr id="292896" name="Text Box 32"/>
            <p:cNvSpPr txBox="1">
              <a:spLocks noChangeArrowheads="1"/>
            </p:cNvSpPr>
            <p:nvPr/>
          </p:nvSpPr>
          <p:spPr bwMode="auto">
            <a:xfrm>
              <a:off x="1872" y="1104"/>
              <a:ext cx="30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solidFill>
                    <a:schemeClr val="accent2"/>
                  </a:solidFill>
                  <a:ea typeface="宋体" panose="02010600030101010101" pitchFamily="2" charset="-122"/>
                </a:rPr>
                <a:t>{4}</a:t>
              </a:r>
            </a:p>
          </p:txBody>
        </p:sp>
        <p:sp>
          <p:nvSpPr>
            <p:cNvPr id="292897" name="Text Box 33"/>
            <p:cNvSpPr txBox="1">
              <a:spLocks noChangeArrowheads="1"/>
            </p:cNvSpPr>
            <p:nvPr/>
          </p:nvSpPr>
          <p:spPr bwMode="auto">
            <a:xfrm>
              <a:off x="2160" y="1392"/>
              <a:ext cx="30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solidFill>
                    <a:schemeClr val="accent2"/>
                  </a:solidFill>
                  <a:ea typeface="宋体" panose="02010600030101010101" pitchFamily="2" charset="-122"/>
                </a:rPr>
                <a:t>{4}</a:t>
              </a:r>
            </a:p>
          </p:txBody>
        </p:sp>
        <p:sp>
          <p:nvSpPr>
            <p:cNvPr id="292898" name="Text Box 34"/>
            <p:cNvSpPr txBox="1">
              <a:spLocks noChangeArrowheads="1"/>
            </p:cNvSpPr>
            <p:nvPr/>
          </p:nvSpPr>
          <p:spPr bwMode="auto">
            <a:xfrm>
              <a:off x="1584" y="1392"/>
              <a:ext cx="30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solidFill>
                    <a:schemeClr val="accent2"/>
                  </a:solidFill>
                  <a:ea typeface="宋体" panose="02010600030101010101" pitchFamily="2" charset="-122"/>
                </a:rPr>
                <a:t>{3}</a:t>
              </a:r>
            </a:p>
          </p:txBody>
        </p:sp>
        <p:sp>
          <p:nvSpPr>
            <p:cNvPr id="292899" name="Text Box 35"/>
            <p:cNvSpPr txBox="1">
              <a:spLocks noChangeArrowheads="1"/>
            </p:cNvSpPr>
            <p:nvPr/>
          </p:nvSpPr>
          <p:spPr bwMode="auto">
            <a:xfrm>
              <a:off x="1824" y="1680"/>
              <a:ext cx="30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solidFill>
                    <a:schemeClr val="accent2"/>
                  </a:solidFill>
                  <a:ea typeface="宋体" panose="02010600030101010101" pitchFamily="2" charset="-122"/>
                </a:rPr>
                <a:t>{3}</a:t>
              </a:r>
            </a:p>
          </p:txBody>
        </p:sp>
        <p:sp>
          <p:nvSpPr>
            <p:cNvPr id="292900" name="Text Box 36"/>
            <p:cNvSpPr txBox="1">
              <a:spLocks noChangeArrowheads="1"/>
            </p:cNvSpPr>
            <p:nvPr/>
          </p:nvSpPr>
          <p:spPr bwMode="auto">
            <a:xfrm>
              <a:off x="1296" y="1632"/>
              <a:ext cx="39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solidFill>
                    <a:schemeClr val="accent2"/>
                  </a:solidFill>
                  <a:ea typeface="宋体" panose="02010600030101010101" pitchFamily="2" charset="-122"/>
                </a:rPr>
                <a:t>{1,2}</a:t>
              </a:r>
            </a:p>
          </p:txBody>
        </p:sp>
        <p:sp>
          <p:nvSpPr>
            <p:cNvPr id="292901" name="Text Box 37"/>
            <p:cNvSpPr txBox="1">
              <a:spLocks noChangeArrowheads="1"/>
            </p:cNvSpPr>
            <p:nvPr/>
          </p:nvSpPr>
          <p:spPr bwMode="auto">
            <a:xfrm>
              <a:off x="1344" y="2064"/>
              <a:ext cx="39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solidFill>
                    <a:schemeClr val="accent2"/>
                  </a:solidFill>
                  <a:ea typeface="宋体" panose="02010600030101010101" pitchFamily="2" charset="-122"/>
                </a:rPr>
                <a:t>{1,2}</a:t>
              </a:r>
            </a:p>
          </p:txBody>
        </p:sp>
        <p:sp>
          <p:nvSpPr>
            <p:cNvPr id="292902" name="Text Box 38"/>
            <p:cNvSpPr txBox="1">
              <a:spLocks noChangeArrowheads="1"/>
            </p:cNvSpPr>
            <p:nvPr/>
          </p:nvSpPr>
          <p:spPr bwMode="auto">
            <a:xfrm>
              <a:off x="1632" y="2352"/>
              <a:ext cx="30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solidFill>
                    <a:schemeClr val="accent2"/>
                  </a:solidFill>
                  <a:ea typeface="宋体" panose="02010600030101010101" pitchFamily="2" charset="-122"/>
                </a:rPr>
                <a:t>{2}</a:t>
              </a:r>
            </a:p>
          </p:txBody>
        </p:sp>
      </p:grpSp>
      <p:sp>
        <p:nvSpPr>
          <p:cNvPr id="292904" name="Text Box 40"/>
          <p:cNvSpPr txBox="1">
            <a:spLocks noChangeArrowheads="1"/>
          </p:cNvSpPr>
          <p:nvPr/>
        </p:nvSpPr>
        <p:spPr bwMode="auto">
          <a:xfrm>
            <a:off x="4191000" y="1295400"/>
            <a:ext cx="20796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solidFill>
                  <a:srgbClr val="660066"/>
                </a:solidFill>
                <a:ea typeface="宋体" panose="02010600030101010101" pitchFamily="2" charset="-122"/>
              </a:rPr>
              <a:t>green – firstpos</a:t>
            </a:r>
          </a:p>
          <a:p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</a:rPr>
              <a:t>blue – lastpos</a:t>
            </a:r>
            <a:r>
              <a:rPr lang="en-US" altLang="zh-CN" b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92905" name="Text Box 41"/>
          <p:cNvSpPr txBox="1">
            <a:spLocks noChangeArrowheads="1"/>
          </p:cNvSpPr>
          <p:nvPr/>
        </p:nvSpPr>
        <p:spPr bwMode="auto">
          <a:xfrm>
            <a:off x="3962400" y="2667000"/>
            <a:ext cx="4191000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ea typeface="宋体" panose="02010600030101010101" pitchFamily="2" charset="-122"/>
              </a:rPr>
              <a:t>Then we can calculate followpos</a:t>
            </a:r>
          </a:p>
          <a:p>
            <a:endParaRPr lang="en-US" altLang="zh-CN" b="0">
              <a:ea typeface="宋体" panose="02010600030101010101" pitchFamily="2" charset="-122"/>
            </a:endParaRPr>
          </a:p>
          <a:p>
            <a:r>
              <a:rPr lang="en-US" altLang="zh-CN" b="0">
                <a:ea typeface="宋体" panose="02010600030101010101" pitchFamily="2" charset="-122"/>
              </a:rPr>
              <a:t>followpos(1) = {1,2,3}</a:t>
            </a:r>
          </a:p>
          <a:p>
            <a:r>
              <a:rPr lang="en-US" altLang="zh-CN" b="0">
                <a:ea typeface="宋体" panose="02010600030101010101" pitchFamily="2" charset="-122"/>
              </a:rPr>
              <a:t>followpos(2) = {1,2,3}</a:t>
            </a:r>
          </a:p>
          <a:p>
            <a:r>
              <a:rPr lang="en-US" altLang="zh-CN" b="0">
                <a:ea typeface="宋体" panose="02010600030101010101" pitchFamily="2" charset="-122"/>
              </a:rPr>
              <a:t>followpos(3) = {4}</a:t>
            </a:r>
          </a:p>
          <a:p>
            <a:r>
              <a:rPr lang="en-US" altLang="zh-CN" b="0">
                <a:ea typeface="宋体" panose="02010600030101010101" pitchFamily="2" charset="-122"/>
              </a:rPr>
              <a:t>followpos(4) = {}</a:t>
            </a:r>
          </a:p>
        </p:txBody>
      </p:sp>
      <p:sp>
        <p:nvSpPr>
          <p:cNvPr id="292906" name="Text Box 42"/>
          <p:cNvSpPr txBox="1">
            <a:spLocks noChangeArrowheads="1"/>
          </p:cNvSpPr>
          <p:nvPr/>
        </p:nvSpPr>
        <p:spPr bwMode="auto">
          <a:xfrm>
            <a:off x="593725" y="5451475"/>
            <a:ext cx="830738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zh-CN" altLang="en-US" b="0">
                <a:ea typeface="宋体" panose="02010600030101010101" pitchFamily="2" charset="-122"/>
              </a:rPr>
              <a:t>  </a:t>
            </a:r>
            <a:r>
              <a:rPr lang="en-US" altLang="zh-CN" b="0">
                <a:ea typeface="宋体" panose="02010600030101010101" pitchFamily="2" charset="-122"/>
              </a:rPr>
              <a:t>After we calculate follow positions, we are ready to create DFA </a:t>
            </a:r>
          </a:p>
          <a:p>
            <a:r>
              <a:rPr lang="en-US" altLang="zh-CN" b="0">
                <a:ea typeface="宋体" panose="02010600030101010101" pitchFamily="2" charset="-122"/>
              </a:rPr>
              <a:t>   for the regular expression.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7E11DB-FA0D-4204-B9B3-F28FF35AF5BE}" type="slidenum">
              <a:rPr lang="zh-CN" altLang="en-US"/>
              <a:pPr/>
              <a:t>28</a:t>
            </a:fld>
            <a:endParaRPr lang="en-US" altLang="zh-CN"/>
          </a:p>
        </p:txBody>
      </p:sp>
      <p:sp>
        <p:nvSpPr>
          <p:cNvPr id="2949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684213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Algorithm (RE </a:t>
            </a:r>
            <a:r>
              <a:rPr lang="en-US" altLang="zh-CN">
                <a:ea typeface="宋体" panose="02010600030101010101" pitchFamily="2" charset="-122"/>
                <a:sym typeface="Wingdings" panose="05000000000000000000" pitchFamily="2" charset="2"/>
              </a:rPr>
              <a:t> DFA) (P.140)</a:t>
            </a:r>
          </a:p>
        </p:txBody>
      </p:sp>
      <p:sp>
        <p:nvSpPr>
          <p:cNvPr id="294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3050" y="836613"/>
            <a:ext cx="9372600" cy="5472112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Create the syntax tree of  (r) #</a:t>
            </a:r>
          </a:p>
          <a:p>
            <a:r>
              <a:rPr lang="en-US" altLang="zh-CN">
                <a:ea typeface="宋体" panose="02010600030101010101" pitchFamily="2" charset="-122"/>
              </a:rPr>
              <a:t>Calculate the functions: followpos, firstpos, lastpos, nullable</a:t>
            </a:r>
          </a:p>
          <a:p>
            <a:r>
              <a:rPr lang="en-US" altLang="zh-CN">
                <a:ea typeface="宋体" panose="02010600030101010101" pitchFamily="2" charset="-122"/>
              </a:rPr>
              <a:t>Put firstpos(root) into the states of DFA as an unmarked state.</a:t>
            </a:r>
          </a:p>
          <a:p>
            <a:r>
              <a:rPr lang="en-US" altLang="zh-CN" sz="2000" i="1">
                <a:latin typeface="Arial" panose="020B0604020202020204" pitchFamily="34" charset="0"/>
                <a:ea typeface="宋体" panose="02010600030101010101" pitchFamily="2" charset="-122"/>
              </a:rPr>
              <a:t>while (there is an unmarked state S in the states of DFA) do</a:t>
            </a:r>
          </a:p>
          <a:p>
            <a:pPr lvl="1"/>
            <a:r>
              <a:rPr lang="en-US" altLang="zh-CN" sz="2000" i="1">
                <a:latin typeface="Arial" panose="020B0604020202020204" pitchFamily="34" charset="0"/>
                <a:ea typeface="宋体" panose="02010600030101010101" pitchFamily="2" charset="-122"/>
              </a:rPr>
              <a:t>mark </a:t>
            </a:r>
            <a:r>
              <a:rPr lang="en-US" altLang="zh-CN" sz="2000" b="1" i="1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</a:p>
          <a:p>
            <a:pPr lvl="1"/>
            <a:r>
              <a:rPr lang="en-US" altLang="zh-CN" sz="2000" b="1" i="1">
                <a:latin typeface="Arial" panose="020B0604020202020204" pitchFamily="34" charset="0"/>
                <a:ea typeface="宋体" panose="02010600030101010101" pitchFamily="2" charset="-122"/>
              </a:rPr>
              <a:t>for</a:t>
            </a:r>
            <a:r>
              <a:rPr lang="en-US" altLang="zh-CN" sz="2000" i="1">
                <a:latin typeface="Arial" panose="020B0604020202020204" pitchFamily="34" charset="0"/>
                <a:ea typeface="宋体" panose="02010600030101010101" pitchFamily="2" charset="-122"/>
              </a:rPr>
              <a:t> each  input symbol </a:t>
            </a:r>
            <a:r>
              <a:rPr lang="en-US" altLang="zh-CN" sz="2000" b="1" i="1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lang="en-US" altLang="zh-CN" sz="2000" i="1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2000" b="1" i="1">
                <a:latin typeface="Arial" panose="020B0604020202020204" pitchFamily="34" charset="0"/>
                <a:ea typeface="宋体" panose="02010600030101010101" pitchFamily="2" charset="-122"/>
              </a:rPr>
              <a:t>do</a:t>
            </a:r>
          </a:p>
          <a:p>
            <a:pPr lvl="2"/>
            <a:r>
              <a:rPr lang="en-US" altLang="zh-CN" sz="2000" i="1">
                <a:latin typeface="Arial" panose="020B0604020202020204" pitchFamily="34" charset="0"/>
                <a:ea typeface="宋体" panose="02010600030101010101" pitchFamily="2" charset="-122"/>
              </a:rPr>
              <a:t>let s</a:t>
            </a:r>
            <a:r>
              <a:rPr lang="en-US" altLang="zh-CN" sz="2000" i="1" baseline="-250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en-US" altLang="zh-CN" sz="2000" i="1">
                <a:latin typeface="Arial" panose="020B0604020202020204" pitchFamily="34" charset="0"/>
                <a:ea typeface="宋体" panose="02010600030101010101" pitchFamily="2" charset="-122"/>
              </a:rPr>
              <a:t>,...,s</a:t>
            </a:r>
            <a:r>
              <a:rPr lang="en-US" altLang="zh-CN" sz="2000" i="1" baseline="-25000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r>
              <a:rPr lang="en-US" altLang="zh-CN" sz="2000" i="1">
                <a:latin typeface="Arial" panose="020B0604020202020204" pitchFamily="34" charset="0"/>
                <a:ea typeface="宋体" panose="02010600030101010101" pitchFamily="2" charset="-122"/>
              </a:rPr>
              <a:t> are positions in </a:t>
            </a:r>
            <a:r>
              <a:rPr lang="en-US" altLang="zh-CN" sz="2000" b="1" i="1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sz="2000" i="1">
                <a:latin typeface="Arial" panose="020B0604020202020204" pitchFamily="34" charset="0"/>
                <a:ea typeface="宋体" panose="02010600030101010101" pitchFamily="2" charset="-122"/>
              </a:rPr>
              <a:t> and symbols in those positions are </a:t>
            </a:r>
            <a:r>
              <a:rPr lang="en-US" altLang="zh-CN" sz="2000" b="1" i="1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</a:p>
          <a:p>
            <a:pPr lvl="2"/>
            <a:r>
              <a:rPr lang="en-US" altLang="zh-CN" sz="2000" b="1" i="1">
                <a:latin typeface="Arial" panose="020B0604020202020204" pitchFamily="34" charset="0"/>
                <a:ea typeface="宋体" panose="02010600030101010101" pitchFamily="2" charset="-122"/>
              </a:rPr>
              <a:t>S</a:t>
            </a:r>
            <a:r>
              <a:rPr lang="en-US" altLang="zh-CN" sz="2000" b="1" i="1" baseline="30000">
                <a:latin typeface="Arial" panose="020B0604020202020204" pitchFamily="34" charset="0"/>
                <a:ea typeface="宋体" panose="02010600030101010101" pitchFamily="2" charset="-122"/>
              </a:rPr>
              <a:t>’</a:t>
            </a:r>
            <a:r>
              <a:rPr lang="en-US" altLang="zh-CN" sz="2000" i="1" baseline="-2500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sz="2000" i="1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 followpos(s</a:t>
            </a:r>
            <a:r>
              <a:rPr lang="en-US" altLang="zh-CN" sz="2000" i="1" baseline="-2500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1</a:t>
            </a:r>
            <a:r>
              <a:rPr lang="en-US" altLang="zh-CN" sz="2000" i="1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) </a:t>
            </a:r>
            <a:r>
              <a:rPr lang="en-US" altLang="zh-CN" sz="2000" i="1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 ... </a:t>
            </a:r>
            <a:r>
              <a:rPr lang="en-US" altLang="zh-CN" sz="2000" i="1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 followpos(s</a:t>
            </a:r>
            <a:r>
              <a:rPr lang="en-US" altLang="zh-CN" sz="2000" i="1" baseline="-25000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n</a:t>
            </a:r>
            <a:r>
              <a:rPr lang="en-US" altLang="zh-CN" sz="2000" i="1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)</a:t>
            </a:r>
          </a:p>
          <a:p>
            <a:pPr lvl="2"/>
            <a:r>
              <a:rPr lang="en-US" altLang="zh-CN" sz="2000" b="1" i="1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move(S,a)</a:t>
            </a:r>
            <a:r>
              <a:rPr lang="en-US" altLang="zh-CN" sz="2000" i="1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  </a:t>
            </a:r>
            <a:r>
              <a:rPr lang="en-US" altLang="zh-CN" sz="2000" b="1" i="1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S’</a:t>
            </a:r>
            <a:endParaRPr lang="en-US" altLang="zh-CN" sz="2000" i="1">
              <a:latin typeface="Arial" panose="020B0604020202020204" pitchFamily="34" charset="0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pPr lvl="2"/>
            <a:r>
              <a:rPr lang="en-US" altLang="zh-CN" sz="2000" b="1" i="1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if </a:t>
            </a:r>
            <a:r>
              <a:rPr lang="en-US" altLang="zh-CN" sz="2000" i="1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(</a:t>
            </a:r>
            <a:r>
              <a:rPr lang="en-US" altLang="zh-CN" sz="2000" b="1" i="1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S’</a:t>
            </a:r>
            <a:r>
              <a:rPr lang="en-US" altLang="zh-CN" sz="2000" i="1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 is not empty  and not in the states of DFA)</a:t>
            </a:r>
          </a:p>
          <a:p>
            <a:pPr lvl="3"/>
            <a:r>
              <a:rPr lang="en-US" altLang="zh-CN" sz="2000" i="1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put </a:t>
            </a:r>
            <a:r>
              <a:rPr lang="en-US" altLang="zh-CN" sz="2000" b="1" i="1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S’</a:t>
            </a:r>
            <a:r>
              <a:rPr lang="en-US" altLang="zh-CN" sz="2000" i="1"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 into the states of DFA as an unmarked state.</a:t>
            </a:r>
          </a:p>
          <a:p>
            <a:endParaRPr lang="en-US" altLang="zh-CN" sz="2000" i="1">
              <a:latin typeface="Arial" panose="020B0604020202020204" pitchFamily="34" charset="0"/>
              <a:ea typeface="宋体" panose="02010600030101010101" pitchFamily="2" charset="-122"/>
              <a:sym typeface="Wingdings" panose="05000000000000000000" pitchFamily="2" charset="2"/>
            </a:endParaRPr>
          </a:p>
          <a:p>
            <a:r>
              <a:rPr lang="en-US" altLang="zh-CN" sz="2000" i="1">
                <a:solidFill>
                  <a:srgbClr val="660066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the start state of DFA is firstpos(root)</a:t>
            </a:r>
          </a:p>
          <a:p>
            <a:r>
              <a:rPr lang="en-US" altLang="zh-CN" sz="2000" i="1">
                <a:solidFill>
                  <a:srgbClr val="660066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the accepting states of DFA are all states containing the position of # </a:t>
            </a:r>
          </a:p>
        </p:txBody>
      </p:sp>
      <p:sp>
        <p:nvSpPr>
          <p:cNvPr id="335874" name="Text Box 2"/>
          <p:cNvSpPr txBox="1">
            <a:spLocks noChangeArrowheads="1"/>
          </p:cNvSpPr>
          <p:nvPr/>
        </p:nvSpPr>
        <p:spPr bwMode="auto">
          <a:xfrm>
            <a:off x="5240338" y="5300663"/>
            <a:ext cx="4105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</a:rPr>
              <a:t>Fig.3.44. construction of DFA</a:t>
            </a:r>
            <a:r>
              <a:rPr lang="en-US" altLang="zh-CN" b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2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2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31041-4368-4F8D-9632-5BBE16F0E204}" type="slidenum">
              <a:rPr lang="zh-CN" altLang="en-US"/>
              <a:pPr/>
              <a:t>29</a:t>
            </a:fld>
            <a:endParaRPr lang="en-US" altLang="zh-CN"/>
          </a:p>
        </p:txBody>
      </p:sp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Example -- </a:t>
            </a:r>
            <a:r>
              <a:rPr lang="en-US" altLang="zh-CN" b="0">
                <a:solidFill>
                  <a:schemeClr val="tx1"/>
                </a:solidFill>
                <a:ea typeface="宋体" panose="02010600030101010101" pitchFamily="2" charset="-122"/>
              </a:rPr>
              <a:t>( a | b)</a:t>
            </a:r>
            <a:r>
              <a:rPr lang="en-US" altLang="zh-CN" b="0" baseline="30000">
                <a:solidFill>
                  <a:schemeClr val="tx1"/>
                </a:solidFill>
                <a:ea typeface="宋体" panose="02010600030101010101" pitchFamily="2" charset="-122"/>
              </a:rPr>
              <a:t> *</a:t>
            </a:r>
            <a:r>
              <a:rPr lang="en-US" altLang="zh-CN" b="0">
                <a:solidFill>
                  <a:schemeClr val="tx1"/>
                </a:solidFill>
                <a:ea typeface="宋体" panose="02010600030101010101" pitchFamily="2" charset="-122"/>
              </a:rPr>
              <a:t> a # (P.139)</a:t>
            </a:r>
          </a:p>
        </p:txBody>
      </p:sp>
      <p:sp>
        <p:nvSpPr>
          <p:cNvPr id="295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zh-CN" altLang="en-US" sz="200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followpos(1)={1,2,3}      followpos(2)={1,2,3}     followpos(3)={4}     followpos(4)={}</a:t>
            </a:r>
          </a:p>
          <a:p>
            <a:pPr>
              <a:lnSpc>
                <a:spcPct val="90000"/>
              </a:lnSpc>
            </a:pPr>
            <a:endParaRPr lang="en-US" altLang="zh-CN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S</a:t>
            </a:r>
            <a:r>
              <a:rPr lang="en-US" altLang="zh-CN" sz="2000" baseline="-25000">
                <a:ea typeface="宋体" panose="02010600030101010101" pitchFamily="2" charset="-122"/>
              </a:rPr>
              <a:t>0</a:t>
            </a:r>
            <a:r>
              <a:rPr lang="en-US" altLang="zh-CN" sz="2000">
                <a:ea typeface="宋体" panose="02010600030101010101" pitchFamily="2" charset="-122"/>
              </a:rPr>
              <a:t>=firstpos(root)={1,2,3}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		  mark S</a:t>
            </a:r>
            <a:r>
              <a:rPr lang="en-US" altLang="zh-CN" sz="2000" baseline="-25000"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a:  followpos(1) 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 followpos(3)={1,2,3,4}=S</a:t>
            </a:r>
            <a:r>
              <a:rPr lang="en-US" altLang="zh-CN" sz="2000" baseline="-2500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		move(S</a:t>
            </a:r>
            <a:r>
              <a:rPr lang="en-US" altLang="zh-CN" sz="2000" baseline="-25000"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,a)=S</a:t>
            </a:r>
            <a:r>
              <a:rPr lang="en-US" altLang="zh-CN" sz="2000" baseline="-2500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en-US" altLang="zh-CN" sz="20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b:  followpos(2)={1,2,3}=S</a:t>
            </a:r>
            <a:r>
              <a:rPr lang="en-US" altLang="zh-CN" sz="2000" baseline="-25000"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				move(S</a:t>
            </a:r>
            <a:r>
              <a:rPr lang="en-US" altLang="zh-CN" sz="2000" baseline="-25000"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,b)=S</a:t>
            </a:r>
            <a:r>
              <a:rPr lang="en-US" altLang="zh-CN" sz="2000" baseline="-25000"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		  mark S</a:t>
            </a:r>
            <a:r>
              <a:rPr lang="en-US" altLang="zh-CN" sz="2000" baseline="-2500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a:  </a:t>
            </a:r>
            <a:r>
              <a:rPr lang="en-US" altLang="zh-CN" sz="2000">
                <a:ea typeface="宋体" panose="02010600030101010101" pitchFamily="2" charset="-122"/>
              </a:rPr>
              <a:t>followpos(1) 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 followpos(3)={1,2,3,4}=S</a:t>
            </a:r>
            <a:r>
              <a:rPr lang="en-US" altLang="zh-CN" sz="2000" baseline="-2500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		move(S</a:t>
            </a:r>
            <a:r>
              <a:rPr lang="en-US" altLang="zh-CN" sz="2000" baseline="-2500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,a)=S</a:t>
            </a:r>
            <a:r>
              <a:rPr lang="en-US" altLang="zh-CN" sz="2000" baseline="-2500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en-US" altLang="zh-CN" sz="20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b:  followpos(2)={1,2,3}=S</a:t>
            </a:r>
            <a:r>
              <a:rPr lang="en-US" altLang="zh-CN" sz="2000" baseline="-25000"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 				move(S</a:t>
            </a:r>
            <a:r>
              <a:rPr lang="en-US" altLang="zh-CN" sz="2000" baseline="-2500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,b)=S</a:t>
            </a:r>
            <a:r>
              <a:rPr lang="en-US" altLang="zh-CN" sz="2000" baseline="-25000"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2000" baseline="-250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zh-CN" sz="2000" baseline="-250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zh-CN" sz="2000" baseline="-250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start state: S</a:t>
            </a:r>
            <a:r>
              <a:rPr lang="en-US" altLang="zh-CN" sz="2000" baseline="-25000"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endParaRPr lang="en-US" altLang="zh-CN" sz="20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accepting states: {S</a:t>
            </a:r>
            <a:r>
              <a:rPr lang="en-US" altLang="zh-CN" sz="2000" baseline="-2500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endParaRPr lang="zh-CN" altLang="en-US" sz="200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95940" name="Text Box 4"/>
          <p:cNvSpPr txBox="1">
            <a:spLocks noChangeArrowheads="1"/>
          </p:cNvSpPr>
          <p:nvPr/>
        </p:nvSpPr>
        <p:spPr bwMode="auto">
          <a:xfrm>
            <a:off x="4448175" y="685800"/>
            <a:ext cx="189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0">
                <a:ea typeface="宋体" panose="02010600030101010101" pitchFamily="2" charset="-122"/>
              </a:rPr>
              <a:t>   </a:t>
            </a:r>
            <a:r>
              <a:rPr lang="en-US" altLang="zh-CN" sz="1800" b="0">
                <a:ea typeface="宋体" panose="02010600030101010101" pitchFamily="2" charset="-122"/>
              </a:rPr>
              <a:t>1      2         3   4</a:t>
            </a:r>
          </a:p>
        </p:txBody>
      </p:sp>
      <p:grpSp>
        <p:nvGrpSpPr>
          <p:cNvPr id="325634" name="Group 2"/>
          <p:cNvGrpSpPr>
            <a:grpSpLocks/>
          </p:cNvGrpSpPr>
          <p:nvPr/>
        </p:nvGrpSpPr>
        <p:grpSpPr bwMode="auto">
          <a:xfrm>
            <a:off x="3265488" y="4838700"/>
            <a:ext cx="2408237" cy="1327150"/>
            <a:chOff x="2928" y="3120"/>
            <a:chExt cx="1517" cy="836"/>
          </a:xfrm>
        </p:grpSpPr>
        <p:sp>
          <p:nvSpPr>
            <p:cNvPr id="295941" name="Oval 5"/>
            <p:cNvSpPr>
              <a:spLocks noChangeArrowheads="1"/>
            </p:cNvSpPr>
            <p:nvPr/>
          </p:nvSpPr>
          <p:spPr bwMode="auto">
            <a:xfrm>
              <a:off x="3216" y="3408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95942" name="Group 6"/>
            <p:cNvGrpSpPr>
              <a:grpSpLocks/>
            </p:cNvGrpSpPr>
            <p:nvPr/>
          </p:nvGrpSpPr>
          <p:grpSpPr bwMode="auto">
            <a:xfrm>
              <a:off x="3936" y="3360"/>
              <a:ext cx="288" cy="288"/>
              <a:chOff x="1296" y="1056"/>
              <a:chExt cx="288" cy="288"/>
            </a:xfrm>
          </p:grpSpPr>
          <p:sp>
            <p:nvSpPr>
              <p:cNvPr id="295943" name="Oval 7"/>
              <p:cNvSpPr>
                <a:spLocks noChangeArrowheads="1"/>
              </p:cNvSpPr>
              <p:nvPr/>
            </p:nvSpPr>
            <p:spPr bwMode="auto">
              <a:xfrm>
                <a:off x="1296" y="1056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5944" name="Oval 8"/>
              <p:cNvSpPr>
                <a:spLocks noChangeArrowheads="1"/>
              </p:cNvSpPr>
              <p:nvPr/>
            </p:nvSpPr>
            <p:spPr bwMode="auto">
              <a:xfrm>
                <a:off x="1344" y="1104"/>
                <a:ext cx="192" cy="1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95945" name="Text Box 9"/>
            <p:cNvSpPr txBox="1">
              <a:spLocks noChangeArrowheads="1"/>
            </p:cNvSpPr>
            <p:nvPr/>
          </p:nvSpPr>
          <p:spPr bwMode="auto">
            <a:xfrm>
              <a:off x="3216" y="3408"/>
              <a:ext cx="23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ea typeface="宋体" panose="02010600030101010101" pitchFamily="2" charset="-122"/>
                </a:rPr>
                <a:t>S</a:t>
              </a:r>
              <a:r>
                <a:rPr lang="en-US" altLang="zh-CN" sz="1600" b="0" baseline="-25000">
                  <a:ea typeface="宋体" panose="02010600030101010101" pitchFamily="2" charset="-122"/>
                </a:rPr>
                <a:t>0</a:t>
              </a:r>
              <a:endParaRPr lang="en-US" altLang="zh-CN" sz="1600" b="0">
                <a:ea typeface="宋体" panose="02010600030101010101" pitchFamily="2" charset="-122"/>
              </a:endParaRPr>
            </a:p>
          </p:txBody>
        </p:sp>
        <p:sp>
          <p:nvSpPr>
            <p:cNvPr id="295946" name="Text Box 10"/>
            <p:cNvSpPr txBox="1">
              <a:spLocks noChangeArrowheads="1"/>
            </p:cNvSpPr>
            <p:nvPr/>
          </p:nvSpPr>
          <p:spPr bwMode="auto">
            <a:xfrm>
              <a:off x="3984" y="3408"/>
              <a:ext cx="23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ea typeface="宋体" panose="02010600030101010101" pitchFamily="2" charset="-122"/>
                </a:rPr>
                <a:t>S</a:t>
              </a:r>
              <a:r>
                <a:rPr lang="en-US" altLang="zh-CN" sz="1600" b="0" baseline="-25000">
                  <a:ea typeface="宋体" panose="02010600030101010101" pitchFamily="2" charset="-122"/>
                </a:rPr>
                <a:t>1</a:t>
              </a:r>
              <a:endParaRPr lang="en-US" altLang="zh-CN" sz="1600" b="0">
                <a:ea typeface="宋体" panose="02010600030101010101" pitchFamily="2" charset="-122"/>
              </a:endParaRPr>
            </a:p>
          </p:txBody>
        </p:sp>
        <p:sp>
          <p:nvSpPr>
            <p:cNvPr id="295947" name="Line 11"/>
            <p:cNvSpPr>
              <a:spLocks noChangeShapeType="1"/>
            </p:cNvSpPr>
            <p:nvPr/>
          </p:nvSpPr>
          <p:spPr bwMode="auto">
            <a:xfrm>
              <a:off x="2928" y="350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948" name="Line 12"/>
            <p:cNvSpPr>
              <a:spLocks noChangeShapeType="1"/>
            </p:cNvSpPr>
            <p:nvPr/>
          </p:nvSpPr>
          <p:spPr bwMode="auto">
            <a:xfrm>
              <a:off x="3408" y="350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295949" name="AutoShape 13"/>
            <p:cNvCxnSpPr>
              <a:cxnSpLocks noChangeShapeType="1"/>
              <a:stCxn id="295943" idx="4"/>
              <a:endCxn id="295945" idx="2"/>
            </p:cNvCxnSpPr>
            <p:nvPr/>
          </p:nvCxnSpPr>
          <p:spPr bwMode="auto">
            <a:xfrm rot="16200000" flipV="1">
              <a:off x="3692" y="3260"/>
              <a:ext cx="28" cy="748"/>
            </a:xfrm>
            <a:prstGeom prst="curvedConnector3">
              <a:avLst>
                <a:gd name="adj1" fmla="val -51428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5950" name="AutoShape 14"/>
            <p:cNvCxnSpPr>
              <a:cxnSpLocks noChangeShapeType="1"/>
              <a:stCxn id="295945" idx="0"/>
              <a:endCxn id="295945" idx="1"/>
            </p:cNvCxnSpPr>
            <p:nvPr/>
          </p:nvCxnSpPr>
          <p:spPr bwMode="auto">
            <a:xfrm rot="16200000" flipH="1" flipV="1">
              <a:off x="3221" y="3403"/>
              <a:ext cx="106" cy="116"/>
            </a:xfrm>
            <a:prstGeom prst="curvedConnector4">
              <a:avLst>
                <a:gd name="adj1" fmla="val -135847"/>
                <a:gd name="adj2" fmla="val 224139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5951" name="AutoShape 15"/>
            <p:cNvCxnSpPr>
              <a:cxnSpLocks noChangeShapeType="1"/>
              <a:stCxn id="295943" idx="1"/>
              <a:endCxn id="295946" idx="3"/>
            </p:cNvCxnSpPr>
            <p:nvPr/>
          </p:nvCxnSpPr>
          <p:spPr bwMode="auto">
            <a:xfrm rot="5400000" flipV="1">
              <a:off x="4041" y="3339"/>
              <a:ext cx="112" cy="237"/>
            </a:xfrm>
            <a:prstGeom prst="curvedConnector4">
              <a:avLst>
                <a:gd name="adj1" fmla="val -166069"/>
                <a:gd name="adj2" fmla="val 164556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95952" name="Text Box 16"/>
            <p:cNvSpPr txBox="1">
              <a:spLocks noChangeArrowheads="1"/>
            </p:cNvSpPr>
            <p:nvPr/>
          </p:nvSpPr>
          <p:spPr bwMode="auto">
            <a:xfrm>
              <a:off x="3552" y="3312"/>
              <a:ext cx="17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95953" name="Text Box 17"/>
            <p:cNvSpPr txBox="1">
              <a:spLocks noChangeArrowheads="1"/>
            </p:cNvSpPr>
            <p:nvPr/>
          </p:nvSpPr>
          <p:spPr bwMode="auto">
            <a:xfrm>
              <a:off x="3168" y="3120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95954" name="Text Box 18"/>
            <p:cNvSpPr txBox="1">
              <a:spLocks noChangeArrowheads="1"/>
            </p:cNvSpPr>
            <p:nvPr/>
          </p:nvSpPr>
          <p:spPr bwMode="auto">
            <a:xfrm>
              <a:off x="3648" y="3744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95955" name="Text Box 19"/>
            <p:cNvSpPr txBox="1">
              <a:spLocks noChangeArrowheads="1"/>
            </p:cNvSpPr>
            <p:nvPr/>
          </p:nvSpPr>
          <p:spPr bwMode="auto">
            <a:xfrm>
              <a:off x="4272" y="3120"/>
              <a:ext cx="17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ea typeface="宋体" panose="02010600030101010101" pitchFamily="2" charset="-122"/>
                </a:rPr>
                <a:t>a</a:t>
              </a:r>
            </a:p>
          </p:txBody>
        </p:sp>
      </p:grpSp>
      <p:grpSp>
        <p:nvGrpSpPr>
          <p:cNvPr id="325649" name="Group 17"/>
          <p:cNvGrpSpPr>
            <a:grpSpLocks/>
          </p:cNvGrpSpPr>
          <p:nvPr/>
        </p:nvGrpSpPr>
        <p:grpSpPr bwMode="auto">
          <a:xfrm>
            <a:off x="6248400" y="4868863"/>
            <a:ext cx="2520950" cy="1223962"/>
            <a:chOff x="3936" y="3067"/>
            <a:chExt cx="1588" cy="771"/>
          </a:xfrm>
        </p:grpSpPr>
        <p:sp>
          <p:nvSpPr>
            <p:cNvPr id="325647" name="Rectangle 15"/>
            <p:cNvSpPr>
              <a:spLocks noChangeArrowheads="1"/>
            </p:cNvSpPr>
            <p:nvPr/>
          </p:nvSpPr>
          <p:spPr bwMode="auto">
            <a:xfrm>
              <a:off x="3936" y="3067"/>
              <a:ext cx="1588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b="0" u="sng">
                  <a:ea typeface="宋体" panose="02010600030101010101" pitchFamily="2" charset="-122"/>
                </a:rPr>
                <a:t>        a            b </a:t>
              </a:r>
              <a:endParaRPr lang="en-US" altLang="zh-CN" b="0">
                <a:ea typeface="宋体" panose="02010600030101010101" pitchFamily="2" charset="-122"/>
              </a:endParaRPr>
            </a:p>
            <a:p>
              <a:r>
                <a:rPr lang="en-US" altLang="zh-CN" b="0">
                  <a:ea typeface="宋体" panose="02010600030101010101" pitchFamily="2" charset="-122"/>
                  <a:sym typeface="Symbol" panose="05050102010706020507" pitchFamily="18" charset="2"/>
                </a:rPr>
                <a:t>S0</a:t>
              </a:r>
              <a:r>
                <a:rPr lang="en-US" altLang="zh-CN" b="0">
                  <a:ea typeface="宋体" panose="02010600030101010101" pitchFamily="2" charset="-122"/>
                </a:rPr>
                <a:t>   S1         S0</a:t>
              </a:r>
            </a:p>
            <a:p>
              <a:r>
                <a:rPr lang="en-US" altLang="zh-CN" b="0">
                  <a:ea typeface="宋体" panose="02010600030101010101" pitchFamily="2" charset="-122"/>
                </a:rPr>
                <a:t>S1   S1         S0</a:t>
              </a:r>
            </a:p>
          </p:txBody>
        </p:sp>
        <p:sp>
          <p:nvSpPr>
            <p:cNvPr id="325648" name="Line 16"/>
            <p:cNvSpPr>
              <a:spLocks noChangeShapeType="1"/>
            </p:cNvSpPr>
            <p:nvPr/>
          </p:nvSpPr>
          <p:spPr bwMode="auto">
            <a:xfrm>
              <a:off x="4254" y="3158"/>
              <a:ext cx="0" cy="6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295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95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5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000"/>
                                        <p:tgtEl>
                                          <p:spTgt spid="295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295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95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95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95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959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9" presetClass="entr" presetSubtype="0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1000"/>
                                        <p:tgtEl>
                                          <p:spTgt spid="2959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1000"/>
                                        <p:tgtEl>
                                          <p:spTgt spid="29593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4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1000"/>
                                        <p:tgtEl>
                                          <p:spTgt spid="325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2000"/>
                                        <p:tgtEl>
                                          <p:spTgt spid="325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BD9BC-EE1A-4356-B8ED-03B112BE84D9}" type="slidenum">
              <a:rPr lang="zh-CN" altLang="en-US"/>
              <a:pPr/>
              <a:t>30</a:t>
            </a:fld>
            <a:endParaRPr lang="en-US" altLang="zh-CN"/>
          </a:p>
        </p:txBody>
      </p:sp>
      <p:sp>
        <p:nvSpPr>
          <p:cNvPr id="296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Exercise  -- </a:t>
            </a:r>
            <a:r>
              <a:rPr lang="en-US" altLang="zh-CN" b="0">
                <a:solidFill>
                  <a:schemeClr val="tx1"/>
                </a:solidFill>
                <a:ea typeface="宋体" panose="02010600030101010101" pitchFamily="2" charset="-122"/>
              </a:rPr>
              <a:t>( a | </a:t>
            </a:r>
            <a:r>
              <a:rPr lang="en-US" altLang="zh-CN" b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b="0">
                <a:solidFill>
                  <a:schemeClr val="tx1"/>
                </a:solidFill>
                <a:ea typeface="宋体" panose="02010600030101010101" pitchFamily="2" charset="-122"/>
              </a:rPr>
              <a:t>) b c</a:t>
            </a:r>
            <a:r>
              <a:rPr lang="en-US" altLang="zh-CN" b="0" baseline="30000">
                <a:solidFill>
                  <a:schemeClr val="tx1"/>
                </a:solidFill>
                <a:ea typeface="宋体" panose="02010600030101010101" pitchFamily="2" charset="-122"/>
              </a:rPr>
              <a:t>*</a:t>
            </a:r>
            <a:r>
              <a:rPr lang="en-US" altLang="zh-CN" b="0">
                <a:solidFill>
                  <a:schemeClr val="tx1"/>
                </a:solidFill>
                <a:ea typeface="宋体" panose="02010600030101010101" pitchFamily="2" charset="-122"/>
              </a:rPr>
              <a:t> #</a:t>
            </a:r>
          </a:p>
        </p:txBody>
      </p:sp>
      <p:sp>
        <p:nvSpPr>
          <p:cNvPr id="324610" name="Rectangle 2"/>
          <p:cNvSpPr>
            <a:spLocks noChangeArrowheads="1"/>
          </p:cNvSpPr>
          <p:nvPr/>
        </p:nvSpPr>
        <p:spPr bwMode="auto">
          <a:xfrm>
            <a:off x="533400" y="2514600"/>
            <a:ext cx="876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3200">
                <a:solidFill>
                  <a:schemeClr val="tx2"/>
                </a:solidFill>
                <a:ea typeface="宋体" panose="02010600030101010101" pitchFamily="2" charset="-122"/>
              </a:rPr>
              <a:t>Please compute firstpos, lastpos, followpos, then convert to DFA</a:t>
            </a:r>
            <a:endParaRPr lang="en-US" altLang="zh-CN" sz="3200" b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2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2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10D09-9E12-4E70-A077-22CF602A7B30}" type="slidenum">
              <a:rPr lang="zh-CN" altLang="en-US"/>
              <a:pPr/>
              <a:t>31</a:t>
            </a:fld>
            <a:endParaRPr lang="en-US" altLang="zh-CN"/>
          </a:p>
        </p:txBody>
      </p:sp>
      <p:sp>
        <p:nvSpPr>
          <p:cNvPr id="498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Exercise and answer -- </a:t>
            </a:r>
            <a:r>
              <a:rPr lang="en-US" altLang="zh-CN" b="0">
                <a:solidFill>
                  <a:schemeClr val="tx1"/>
                </a:solidFill>
                <a:ea typeface="宋体" panose="02010600030101010101" pitchFamily="2" charset="-122"/>
              </a:rPr>
              <a:t>( a | </a:t>
            </a:r>
            <a:r>
              <a:rPr lang="en-US" altLang="zh-CN" b="0">
                <a:solidFill>
                  <a:schemeClr val="tx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</a:t>
            </a:r>
            <a:r>
              <a:rPr lang="en-US" altLang="zh-CN" b="0">
                <a:solidFill>
                  <a:schemeClr val="tx1"/>
                </a:solidFill>
                <a:ea typeface="宋体" panose="02010600030101010101" pitchFamily="2" charset="-122"/>
              </a:rPr>
              <a:t>) b c</a:t>
            </a:r>
            <a:r>
              <a:rPr lang="en-US" altLang="zh-CN" b="0" baseline="30000">
                <a:solidFill>
                  <a:schemeClr val="tx1"/>
                </a:solidFill>
                <a:ea typeface="宋体" panose="02010600030101010101" pitchFamily="2" charset="-122"/>
              </a:rPr>
              <a:t>*</a:t>
            </a:r>
            <a:r>
              <a:rPr lang="en-US" altLang="zh-CN" b="0">
                <a:solidFill>
                  <a:schemeClr val="tx1"/>
                </a:solidFill>
                <a:ea typeface="宋体" panose="02010600030101010101" pitchFamily="2" charset="-122"/>
              </a:rPr>
              <a:t> #</a:t>
            </a:r>
            <a:endParaRPr lang="zh-CN" altLang="en-US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98692" name="Text Box 4"/>
          <p:cNvSpPr txBox="1">
            <a:spLocks noChangeArrowheads="1"/>
          </p:cNvSpPr>
          <p:nvPr/>
        </p:nvSpPr>
        <p:spPr bwMode="auto">
          <a:xfrm>
            <a:off x="6054725" y="685800"/>
            <a:ext cx="1993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0">
                <a:ea typeface="宋体" panose="02010600030101010101" pitchFamily="2" charset="-122"/>
              </a:rPr>
              <a:t>  </a:t>
            </a:r>
            <a:r>
              <a:rPr lang="en-US" altLang="zh-CN" sz="1800" b="0">
                <a:ea typeface="宋体" panose="02010600030101010101" pitchFamily="2" charset="-122"/>
              </a:rPr>
              <a:t>1            2     3    4</a:t>
            </a:r>
          </a:p>
        </p:txBody>
      </p:sp>
      <p:grpSp>
        <p:nvGrpSpPr>
          <p:cNvPr id="498712" name="Group 24"/>
          <p:cNvGrpSpPr>
            <a:grpSpLocks/>
          </p:cNvGrpSpPr>
          <p:nvPr/>
        </p:nvGrpSpPr>
        <p:grpSpPr bwMode="auto">
          <a:xfrm>
            <a:off x="6553200" y="3500438"/>
            <a:ext cx="2560638" cy="1600200"/>
            <a:chOff x="4128" y="2205"/>
            <a:chExt cx="1613" cy="1008"/>
          </a:xfrm>
        </p:grpSpPr>
        <p:sp>
          <p:nvSpPr>
            <p:cNvPr id="498694" name="Oval 6"/>
            <p:cNvSpPr>
              <a:spLocks noChangeArrowheads="1"/>
            </p:cNvSpPr>
            <p:nvPr/>
          </p:nvSpPr>
          <p:spPr bwMode="auto">
            <a:xfrm>
              <a:off x="5184" y="2205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8695" name="Oval 7"/>
            <p:cNvSpPr>
              <a:spLocks noChangeArrowheads="1"/>
            </p:cNvSpPr>
            <p:nvPr/>
          </p:nvSpPr>
          <p:spPr bwMode="auto">
            <a:xfrm>
              <a:off x="4368" y="2637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98696" name="Group 8"/>
            <p:cNvGrpSpPr>
              <a:grpSpLocks/>
            </p:cNvGrpSpPr>
            <p:nvPr/>
          </p:nvGrpSpPr>
          <p:grpSpPr bwMode="auto">
            <a:xfrm>
              <a:off x="5184" y="2925"/>
              <a:ext cx="288" cy="288"/>
              <a:chOff x="1296" y="1056"/>
              <a:chExt cx="288" cy="288"/>
            </a:xfrm>
          </p:grpSpPr>
          <p:sp>
            <p:nvSpPr>
              <p:cNvPr id="498697" name="Oval 9"/>
              <p:cNvSpPr>
                <a:spLocks noChangeArrowheads="1"/>
              </p:cNvSpPr>
              <p:nvPr/>
            </p:nvSpPr>
            <p:spPr bwMode="auto">
              <a:xfrm>
                <a:off x="1296" y="1056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8698" name="Oval 10"/>
              <p:cNvSpPr>
                <a:spLocks noChangeArrowheads="1"/>
              </p:cNvSpPr>
              <p:nvPr/>
            </p:nvSpPr>
            <p:spPr bwMode="auto">
              <a:xfrm>
                <a:off x="1344" y="1104"/>
                <a:ext cx="192" cy="1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98699" name="Text Box 11"/>
            <p:cNvSpPr txBox="1">
              <a:spLocks noChangeArrowheads="1"/>
            </p:cNvSpPr>
            <p:nvPr/>
          </p:nvSpPr>
          <p:spPr bwMode="auto">
            <a:xfrm>
              <a:off x="5232" y="2973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498700" name="Text Box 12"/>
            <p:cNvSpPr txBox="1">
              <a:spLocks noChangeArrowheads="1"/>
            </p:cNvSpPr>
            <p:nvPr/>
          </p:nvSpPr>
          <p:spPr bwMode="auto">
            <a:xfrm>
              <a:off x="5184" y="2205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ea typeface="宋体" panose="02010600030101010101" pitchFamily="2" charset="-122"/>
                </a:rPr>
                <a:t>1</a:t>
              </a:r>
            </a:p>
          </p:txBody>
        </p:sp>
        <p:sp>
          <p:nvSpPr>
            <p:cNvPr id="498701" name="Text Box 13"/>
            <p:cNvSpPr txBox="1">
              <a:spLocks noChangeArrowheads="1"/>
            </p:cNvSpPr>
            <p:nvPr/>
          </p:nvSpPr>
          <p:spPr bwMode="auto">
            <a:xfrm>
              <a:off x="4368" y="2637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498702" name="Line 14"/>
            <p:cNvSpPr>
              <a:spLocks noChangeShapeType="1"/>
            </p:cNvSpPr>
            <p:nvPr/>
          </p:nvSpPr>
          <p:spPr bwMode="auto">
            <a:xfrm>
              <a:off x="4128" y="2733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8703" name="Line 15"/>
            <p:cNvSpPr>
              <a:spLocks noChangeShapeType="1"/>
            </p:cNvSpPr>
            <p:nvPr/>
          </p:nvSpPr>
          <p:spPr bwMode="auto">
            <a:xfrm flipV="1">
              <a:off x="4560" y="2349"/>
              <a:ext cx="62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8704" name="Line 16"/>
            <p:cNvSpPr>
              <a:spLocks noChangeShapeType="1"/>
            </p:cNvSpPr>
            <p:nvPr/>
          </p:nvSpPr>
          <p:spPr bwMode="auto">
            <a:xfrm>
              <a:off x="4560" y="2781"/>
              <a:ext cx="62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8705" name="Line 17"/>
            <p:cNvSpPr>
              <a:spLocks noChangeShapeType="1"/>
            </p:cNvSpPr>
            <p:nvPr/>
          </p:nvSpPr>
          <p:spPr bwMode="auto">
            <a:xfrm>
              <a:off x="5280" y="2397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498706" name="AutoShape 18"/>
            <p:cNvCxnSpPr>
              <a:cxnSpLocks noChangeShapeType="1"/>
              <a:stCxn id="498699" idx="2"/>
              <a:endCxn id="498699" idx="0"/>
            </p:cNvCxnSpPr>
            <p:nvPr/>
          </p:nvCxnSpPr>
          <p:spPr bwMode="auto">
            <a:xfrm rot="5400000" flipH="1" flipV="1">
              <a:off x="5243" y="3078"/>
              <a:ext cx="212" cy="1"/>
            </a:xfrm>
            <a:prstGeom prst="curvedConnector5">
              <a:avLst>
                <a:gd name="adj1" fmla="val -67926"/>
                <a:gd name="adj2" fmla="val 25900000"/>
                <a:gd name="adj3" fmla="val 167926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98707" name="Text Box 19"/>
            <p:cNvSpPr txBox="1">
              <a:spLocks noChangeArrowheads="1"/>
            </p:cNvSpPr>
            <p:nvPr/>
          </p:nvSpPr>
          <p:spPr bwMode="auto">
            <a:xfrm>
              <a:off x="5568" y="2925"/>
              <a:ext cx="17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498708" name="Text Box 20"/>
            <p:cNvSpPr txBox="1">
              <a:spLocks noChangeArrowheads="1"/>
            </p:cNvSpPr>
            <p:nvPr/>
          </p:nvSpPr>
          <p:spPr bwMode="auto">
            <a:xfrm>
              <a:off x="4752" y="2349"/>
              <a:ext cx="17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98709" name="Text Box 21"/>
            <p:cNvSpPr txBox="1">
              <a:spLocks noChangeArrowheads="1"/>
            </p:cNvSpPr>
            <p:nvPr/>
          </p:nvSpPr>
          <p:spPr bwMode="auto">
            <a:xfrm>
              <a:off x="5232" y="2493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498710" name="Text Box 22"/>
            <p:cNvSpPr txBox="1">
              <a:spLocks noChangeArrowheads="1"/>
            </p:cNvSpPr>
            <p:nvPr/>
          </p:nvSpPr>
          <p:spPr bwMode="auto">
            <a:xfrm>
              <a:off x="4752" y="2733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ea typeface="宋体" panose="02010600030101010101" pitchFamily="2" charset="-122"/>
                </a:rPr>
                <a:t>b</a:t>
              </a:r>
            </a:p>
          </p:txBody>
        </p:sp>
      </p:grpSp>
      <p:sp>
        <p:nvSpPr>
          <p:cNvPr id="498711" name="Rectangle 23"/>
          <p:cNvSpPr>
            <a:spLocks noChangeArrowheads="1"/>
          </p:cNvSpPr>
          <p:nvPr/>
        </p:nvSpPr>
        <p:spPr bwMode="auto">
          <a:xfrm>
            <a:off x="422275" y="1125538"/>
            <a:ext cx="6043613" cy="523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2000" b="0">
                <a:ea typeface="宋体" panose="02010600030101010101" pitchFamily="2" charset="-122"/>
              </a:rPr>
              <a:t>followpos(1)={2}    followpos(2)={3,4}     followpos(3)={3,4}     followpos(4)={}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US" altLang="zh-CN" sz="800" b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2000" b="0">
                <a:ea typeface="宋体" panose="02010600030101010101" pitchFamily="2" charset="-122"/>
              </a:rPr>
              <a:t>S</a:t>
            </a:r>
            <a:r>
              <a:rPr lang="en-US" altLang="zh-CN" sz="2000" b="0" baseline="-25000">
                <a:ea typeface="宋体" panose="02010600030101010101" pitchFamily="2" charset="-122"/>
              </a:rPr>
              <a:t>0</a:t>
            </a:r>
            <a:r>
              <a:rPr lang="en-US" altLang="zh-CN" sz="2000" b="0">
                <a:ea typeface="宋体" panose="02010600030101010101" pitchFamily="2" charset="-122"/>
              </a:rPr>
              <a:t>=firstpos(root)={1,2}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2000" b="0">
                <a:ea typeface="宋体" panose="02010600030101010101" pitchFamily="2" charset="-122"/>
                <a:sym typeface="Symbol" panose="05050102010706020507" pitchFamily="18" charset="2"/>
              </a:rPr>
              <a:t>	  mark S</a:t>
            </a:r>
            <a:r>
              <a:rPr lang="en-US" altLang="zh-CN" sz="2000" b="0" baseline="-25000"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endParaRPr lang="en-US" altLang="zh-CN" sz="2000" b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2000" b="0">
                <a:ea typeface="宋体" panose="02010600030101010101" pitchFamily="2" charset="-122"/>
              </a:rPr>
              <a:t>a:  followpos(1)</a:t>
            </a:r>
            <a:r>
              <a:rPr lang="en-US" altLang="zh-CN" sz="2000" b="0">
                <a:ea typeface="宋体" panose="02010600030101010101" pitchFamily="2" charset="-122"/>
                <a:sym typeface="Symbol" panose="05050102010706020507" pitchFamily="18" charset="2"/>
              </a:rPr>
              <a:t>={2}=S</a:t>
            </a:r>
            <a:r>
              <a:rPr lang="en-US" altLang="zh-CN" sz="2000" b="0" baseline="-2500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b="0">
                <a:ea typeface="宋体" panose="02010600030101010101" pitchFamily="2" charset="-122"/>
                <a:sym typeface="Symbol" panose="05050102010706020507" pitchFamily="18" charset="2"/>
              </a:rPr>
              <a:t>		move(S</a:t>
            </a:r>
            <a:r>
              <a:rPr lang="en-US" altLang="zh-CN" sz="2000" b="0" baseline="-25000"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000" b="0">
                <a:ea typeface="宋体" panose="02010600030101010101" pitchFamily="2" charset="-122"/>
                <a:sym typeface="Symbol" panose="05050102010706020507" pitchFamily="18" charset="2"/>
              </a:rPr>
              <a:t>,a)=S</a:t>
            </a:r>
            <a:r>
              <a:rPr lang="en-US" altLang="zh-CN" sz="2000" b="0" baseline="-2500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en-US" altLang="zh-CN" sz="2000" b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2000" b="0">
                <a:ea typeface="宋体" panose="02010600030101010101" pitchFamily="2" charset="-122"/>
                <a:sym typeface="Symbol" panose="05050102010706020507" pitchFamily="18" charset="2"/>
              </a:rPr>
              <a:t>b:  followpos(2)={3,4}=S</a:t>
            </a:r>
            <a:r>
              <a:rPr lang="en-US" altLang="zh-CN" sz="2000" b="0" baseline="-25000">
                <a:ea typeface="宋体" panose="02010600030101010101" pitchFamily="2" charset="-122"/>
                <a:sym typeface="Symbol" panose="05050102010706020507" pitchFamily="18" charset="2"/>
              </a:rPr>
              <a:t>2	</a:t>
            </a:r>
            <a:r>
              <a:rPr lang="en-US" altLang="zh-CN" sz="2000" b="0">
                <a:ea typeface="宋体" panose="02010600030101010101" pitchFamily="2" charset="-122"/>
                <a:sym typeface="Symbol" panose="05050102010706020507" pitchFamily="18" charset="2"/>
              </a:rPr>
              <a:t>	move(S</a:t>
            </a:r>
            <a:r>
              <a:rPr lang="en-US" altLang="zh-CN" sz="2000" b="0" baseline="-25000"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2000" b="0">
                <a:ea typeface="宋体" panose="02010600030101010101" pitchFamily="2" charset="-122"/>
                <a:sym typeface="Symbol" panose="05050102010706020507" pitchFamily="18" charset="2"/>
              </a:rPr>
              <a:t>,b)=S</a:t>
            </a:r>
            <a:r>
              <a:rPr lang="en-US" altLang="zh-CN" sz="2000" b="0" baseline="-2500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2000" b="0">
                <a:ea typeface="宋体" panose="02010600030101010101" pitchFamily="2" charset="-122"/>
                <a:sym typeface="Symbol" panose="05050102010706020507" pitchFamily="18" charset="2"/>
              </a:rPr>
              <a:t>	  mark S</a:t>
            </a:r>
            <a:r>
              <a:rPr lang="en-US" altLang="zh-CN" sz="2000" b="0" baseline="-2500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2000" b="0">
                <a:ea typeface="宋体" panose="02010600030101010101" pitchFamily="2" charset="-122"/>
                <a:sym typeface="Symbol" panose="05050102010706020507" pitchFamily="18" charset="2"/>
              </a:rPr>
              <a:t>b:  </a:t>
            </a:r>
            <a:r>
              <a:rPr lang="en-US" altLang="zh-CN" sz="2000" b="0">
                <a:ea typeface="宋体" panose="02010600030101010101" pitchFamily="2" charset="-122"/>
              </a:rPr>
              <a:t>followpos(2)</a:t>
            </a:r>
            <a:r>
              <a:rPr lang="en-US" altLang="zh-CN" sz="2000" b="0">
                <a:ea typeface="宋体" panose="02010600030101010101" pitchFamily="2" charset="-122"/>
                <a:sym typeface="Symbol" panose="05050102010706020507" pitchFamily="18" charset="2"/>
              </a:rPr>
              <a:t>={3,4}=S</a:t>
            </a:r>
            <a:r>
              <a:rPr lang="en-US" altLang="zh-CN" sz="2000" b="0" baseline="-2500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000" b="0">
                <a:ea typeface="宋体" panose="02010600030101010101" pitchFamily="2" charset="-122"/>
                <a:sym typeface="Symbol" panose="05050102010706020507" pitchFamily="18" charset="2"/>
              </a:rPr>
              <a:t>		move(S</a:t>
            </a:r>
            <a:r>
              <a:rPr lang="en-US" altLang="zh-CN" sz="2000" b="0" baseline="-2500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000" b="0">
                <a:ea typeface="宋体" panose="02010600030101010101" pitchFamily="2" charset="-122"/>
                <a:sym typeface="Symbol" panose="05050102010706020507" pitchFamily="18" charset="2"/>
              </a:rPr>
              <a:t>,b)=S</a:t>
            </a:r>
            <a:r>
              <a:rPr lang="en-US" altLang="zh-CN" sz="2000" b="0" baseline="-2500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2000" b="0">
                <a:ea typeface="宋体" panose="02010600030101010101" pitchFamily="2" charset="-122"/>
                <a:sym typeface="Symbol" panose="05050102010706020507" pitchFamily="18" charset="2"/>
              </a:rPr>
              <a:t>	  mark S</a:t>
            </a:r>
            <a:r>
              <a:rPr lang="en-US" altLang="zh-CN" sz="2000" b="0" baseline="-2500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lang="en-US" altLang="zh-CN" sz="2000" b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2000" b="0">
                <a:ea typeface="宋体" panose="02010600030101010101" pitchFamily="2" charset="-122"/>
                <a:sym typeface="Symbol" panose="05050102010706020507" pitchFamily="18" charset="2"/>
              </a:rPr>
              <a:t>c:  followpos(3)={3,4}=S</a:t>
            </a:r>
            <a:r>
              <a:rPr lang="en-US" altLang="zh-CN" sz="2000" b="0" baseline="-2500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000" b="0">
                <a:ea typeface="宋体" panose="02010600030101010101" pitchFamily="2" charset="-122"/>
                <a:sym typeface="Symbol" panose="05050102010706020507" pitchFamily="18" charset="2"/>
              </a:rPr>
              <a:t> 	move(S</a:t>
            </a:r>
            <a:r>
              <a:rPr lang="en-US" altLang="zh-CN" sz="2000" b="0" baseline="-2500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000" b="0">
                <a:ea typeface="宋体" panose="02010600030101010101" pitchFamily="2" charset="-122"/>
                <a:sym typeface="Symbol" panose="05050102010706020507" pitchFamily="18" charset="2"/>
              </a:rPr>
              <a:t>,c)=S</a:t>
            </a:r>
            <a:r>
              <a:rPr lang="en-US" altLang="zh-CN" sz="2000" b="0" baseline="-2500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US" altLang="zh-CN" sz="1000" b="0" baseline="-2500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2000" b="0">
                <a:ea typeface="宋体" panose="02010600030101010101" pitchFamily="2" charset="-122"/>
                <a:sym typeface="Symbol" panose="05050102010706020507" pitchFamily="18" charset="2"/>
              </a:rPr>
              <a:t>start state: S</a:t>
            </a:r>
            <a:r>
              <a:rPr lang="en-US" altLang="zh-CN" sz="2000" b="0" baseline="-25000"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endParaRPr lang="en-US" altLang="zh-CN" sz="2000" b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2000" b="0">
                <a:ea typeface="宋体" panose="02010600030101010101" pitchFamily="2" charset="-122"/>
                <a:sym typeface="Symbol" panose="05050102010706020507" pitchFamily="18" charset="2"/>
              </a:rPr>
              <a:t>accepting states: {S</a:t>
            </a:r>
            <a:r>
              <a:rPr lang="en-US" altLang="zh-CN" sz="2000" b="0" baseline="-2500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000" b="0"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987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987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4987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4987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4987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4987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4987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4987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2000"/>
                                        <p:tgtEl>
                                          <p:spTgt spid="4987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2000"/>
                                        <p:tgtEl>
                                          <p:spTgt spid="4987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1000"/>
                                        <p:tgtEl>
                                          <p:spTgt spid="498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C1621-77FF-498C-9AC1-E64424846950}" type="slidenum">
              <a:rPr lang="zh-CN" altLang="en-US"/>
              <a:pPr/>
              <a:t>32</a:t>
            </a:fld>
            <a:endParaRPr lang="en-US" altLang="zh-CN"/>
          </a:p>
        </p:txBody>
      </p:sp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Minimizing the Number of States of a DFA (P.141)</a:t>
            </a:r>
          </a:p>
        </p:txBody>
      </p:sp>
      <p:sp>
        <p:nvSpPr>
          <p:cNvPr id="297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48768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partition the set of states into two groups:</a:t>
            </a:r>
          </a:p>
          <a:p>
            <a:pPr lvl="1"/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</a:rPr>
              <a:t>G</a:t>
            </a:r>
            <a:r>
              <a:rPr lang="en-US" altLang="zh-CN" sz="2000" baseline="-25000">
                <a:solidFill>
                  <a:schemeClr val="accent2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</a:rPr>
              <a:t> :  set of accepting states</a:t>
            </a:r>
          </a:p>
          <a:p>
            <a:pPr lvl="1"/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</a:rPr>
              <a:t>G</a:t>
            </a:r>
            <a:r>
              <a:rPr lang="en-US" altLang="zh-CN" sz="2000" baseline="-25000">
                <a:solidFill>
                  <a:schemeClr val="accent2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</a:rPr>
              <a:t> :  set of non-accepting states</a:t>
            </a:r>
          </a:p>
          <a:p>
            <a:pPr lvl="1"/>
            <a:endParaRPr lang="en-US" altLang="zh-CN" sz="200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For each new group G</a:t>
            </a:r>
          </a:p>
          <a:p>
            <a:pPr lvl="1"/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</a:rPr>
              <a:t>partition G into subgroups such that states s</a:t>
            </a:r>
            <a:r>
              <a:rPr lang="en-US" altLang="zh-CN" sz="2000" baseline="-25000">
                <a:solidFill>
                  <a:schemeClr val="accent2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</a:rPr>
              <a:t> and s</a:t>
            </a:r>
            <a:r>
              <a:rPr lang="en-US" altLang="zh-CN" sz="2000" baseline="-25000">
                <a:solidFill>
                  <a:schemeClr val="accent2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</a:rPr>
              <a:t> are in the same group if</a:t>
            </a:r>
          </a:p>
          <a:p>
            <a:pPr lvl="1">
              <a:buFontTx/>
              <a:buNone/>
            </a:pP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</a:rPr>
              <a:t>	for all input symbols a, states s</a:t>
            </a:r>
            <a:r>
              <a:rPr lang="en-US" altLang="zh-CN" sz="2000" baseline="-25000">
                <a:solidFill>
                  <a:schemeClr val="accent2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</a:rPr>
              <a:t> and s</a:t>
            </a:r>
            <a:r>
              <a:rPr lang="en-US" altLang="zh-CN" sz="2000" baseline="-25000">
                <a:solidFill>
                  <a:schemeClr val="accent2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000">
                <a:solidFill>
                  <a:schemeClr val="accent2"/>
                </a:solidFill>
                <a:ea typeface="宋体" panose="02010600030101010101" pitchFamily="2" charset="-122"/>
              </a:rPr>
              <a:t> have transitions to states in the same group.</a:t>
            </a:r>
          </a:p>
          <a:p>
            <a:pPr>
              <a:buFontTx/>
              <a:buNone/>
            </a:pPr>
            <a:endParaRPr lang="en-US" altLang="zh-CN" sz="2000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Start state of the minimized DFA is the group containing                     the start state of the original DFA.</a:t>
            </a:r>
          </a:p>
          <a:p>
            <a:r>
              <a:rPr lang="en-US" altLang="zh-CN">
                <a:ea typeface="宋体" panose="02010600030101010101" pitchFamily="2" charset="-122"/>
              </a:rPr>
              <a:t>Accepting states of the minimized DFA are the groups containing       the accepting states of the original DFA.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402FCB-013D-40EA-8527-ABA9A729F1C2}" type="slidenum">
              <a:rPr lang="zh-CN" altLang="en-US"/>
              <a:pPr/>
              <a:t>33</a:t>
            </a:fld>
            <a:endParaRPr lang="en-US" altLang="zh-CN"/>
          </a:p>
        </p:txBody>
      </p:sp>
      <p:sp>
        <p:nvSpPr>
          <p:cNvPr id="4997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Minimizing the Number of States of DFA (cont.)</a:t>
            </a:r>
          </a:p>
        </p:txBody>
      </p:sp>
      <p:sp>
        <p:nvSpPr>
          <p:cNvPr id="499715" name="Text Box 3"/>
          <p:cNvSpPr txBox="1">
            <a:spLocks noChangeArrowheads="1"/>
          </p:cNvSpPr>
          <p:nvPr/>
        </p:nvSpPr>
        <p:spPr bwMode="auto">
          <a:xfrm>
            <a:off x="631825" y="1125538"/>
            <a:ext cx="8667750" cy="5021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zh-CN" b="0">
                <a:ea typeface="宋体" panose="02010600030101010101" pitchFamily="2" charset="-122"/>
              </a:rPr>
              <a:t>Construct initial partition 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 of S with two groups: accepting/ non-accepting.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zh-CN" b="0">
                <a:ea typeface="宋体" panose="02010600030101010101" pitchFamily="2" charset="-122"/>
              </a:rPr>
              <a:t>(Construct 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</a:t>
            </a:r>
            <a:r>
              <a:rPr lang="en-US" altLang="zh-CN" b="0" baseline="-25000">
                <a:ea typeface="宋体" panose="02010600030101010101" pitchFamily="2" charset="-122"/>
                <a:sym typeface="Symbol" panose="05050102010706020507" pitchFamily="18" charset="2"/>
              </a:rPr>
              <a:t>new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0">
                <a:ea typeface="宋体" panose="02010600030101010101" pitchFamily="2" charset="-122"/>
              </a:rPr>
              <a:t>)For each group </a:t>
            </a:r>
            <a:r>
              <a:rPr lang="en-US" altLang="zh-CN" b="0" i="1">
                <a:ea typeface="宋体" panose="02010600030101010101" pitchFamily="2" charset="-122"/>
              </a:rPr>
              <a:t>G</a:t>
            </a:r>
            <a:r>
              <a:rPr lang="en-US" altLang="zh-CN" b="0">
                <a:ea typeface="宋体" panose="02010600030101010101" pitchFamily="2" charset="-122"/>
              </a:rPr>
              <a:t> of 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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do begin</a:t>
            </a:r>
          </a:p>
          <a:p>
            <a:pPr lvl="1" eaLnBrk="1" hangingPunct="1">
              <a:spcBef>
                <a:spcPct val="50000"/>
              </a:spcBef>
              <a:buFontTx/>
              <a:buAutoNum type="circleNumDbPlain"/>
            </a:pP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Partition </a:t>
            </a:r>
            <a:r>
              <a:rPr lang="en-US" altLang="zh-CN" b="0" i="1">
                <a:ea typeface="宋体" panose="02010600030101010101" pitchFamily="2" charset="-122"/>
                <a:sym typeface="Symbol" panose="05050102010706020507" pitchFamily="18" charset="2"/>
              </a:rPr>
              <a:t>G 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into subgroups such that two states s,t</a:t>
            </a:r>
            <a:b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of </a:t>
            </a:r>
            <a:r>
              <a:rPr lang="en-US" altLang="zh-CN" b="0" i="1">
                <a:ea typeface="宋体" panose="02010600030101010101" pitchFamily="2" charset="-122"/>
                <a:sym typeface="Symbol" panose="05050102010706020507" pitchFamily="18" charset="2"/>
              </a:rPr>
              <a:t>G 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are in the same subgroup if for all symbols a</a:t>
            </a:r>
            <a:b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states s,t have transitions on a to states of the same group of .</a:t>
            </a:r>
          </a:p>
          <a:p>
            <a:pPr lvl="1" eaLnBrk="1" hangingPunct="1">
              <a:spcBef>
                <a:spcPct val="50000"/>
              </a:spcBef>
              <a:buFontTx/>
              <a:buAutoNum type="circleNumDbPlain"/>
            </a:pP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Replace </a:t>
            </a:r>
            <a:r>
              <a:rPr lang="en-US" altLang="zh-CN" b="0" i="1">
                <a:ea typeface="宋体" panose="02010600030101010101" pitchFamily="2" charset="-122"/>
                <a:sym typeface="Symbol" panose="05050102010706020507" pitchFamily="18" charset="2"/>
              </a:rPr>
              <a:t>G 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in </a:t>
            </a:r>
            <a:r>
              <a:rPr lang="en-US" altLang="zh-CN" b="0" baseline="-25000">
                <a:ea typeface="宋体" panose="02010600030101010101" pitchFamily="2" charset="-122"/>
                <a:sym typeface="Symbol" panose="05050102010706020507" pitchFamily="18" charset="2"/>
              </a:rPr>
              <a:t>new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 by the set of all these subgroups.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Compare </a:t>
            </a:r>
            <a:r>
              <a:rPr lang="en-US" altLang="zh-CN" b="0" baseline="-25000">
                <a:ea typeface="宋体" panose="02010600030101010101" pitchFamily="2" charset="-122"/>
                <a:sym typeface="Symbol" panose="05050102010706020507" pitchFamily="18" charset="2"/>
              </a:rPr>
              <a:t>new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 and . If equal, </a:t>
            </a:r>
            <a:r>
              <a:rPr lang="en-US" altLang="zh-CN" b="0" baseline="-25000">
                <a:ea typeface="宋体" panose="02010600030101010101" pitchFamily="2" charset="-122"/>
                <a:sym typeface="Symbol" panose="05050102010706020507" pitchFamily="18" charset="2"/>
              </a:rPr>
              <a:t>final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:=  then proceed to 4, else set  :=</a:t>
            </a:r>
            <a:r>
              <a:rPr lang="en-US" altLang="zh-CN" b="0" baseline="-2500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</a:t>
            </a:r>
            <a:r>
              <a:rPr lang="en-US" altLang="zh-CN" b="0" baseline="-25000">
                <a:ea typeface="宋体" panose="02010600030101010101" pitchFamily="2" charset="-122"/>
                <a:sym typeface="Symbol" panose="05050102010706020507" pitchFamily="18" charset="2"/>
              </a:rPr>
              <a:t>new</a:t>
            </a: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 and goto 2.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en-US" altLang="zh-CN" b="0">
                <a:ea typeface="宋体" panose="02010600030101010101" pitchFamily="2" charset="-122"/>
                <a:sym typeface="Symbol" panose="05050102010706020507" pitchFamily="18" charset="2"/>
              </a:rPr>
              <a:t>Aggregate states belonging in the groups of </a:t>
            </a:r>
            <a:r>
              <a:rPr lang="en-US" altLang="zh-CN" b="0" baseline="-25000">
                <a:ea typeface="宋体" panose="02010600030101010101" pitchFamily="2" charset="-122"/>
                <a:sym typeface="Symbol" panose="05050102010706020507" pitchFamily="18" charset="2"/>
              </a:rPr>
              <a:t>final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4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4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E6356-83FA-4CFA-B08E-BC7CBFBE2893}" type="slidenum">
              <a:rPr lang="zh-CN" altLang="en-US"/>
              <a:pPr/>
              <a:t>34</a:t>
            </a:fld>
            <a:endParaRPr lang="en-US" altLang="zh-CN"/>
          </a:p>
        </p:txBody>
      </p:sp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Minimizing DFA - Example</a:t>
            </a:r>
          </a:p>
        </p:txBody>
      </p:sp>
      <p:sp>
        <p:nvSpPr>
          <p:cNvPr id="299011" name="Oval 3"/>
          <p:cNvSpPr>
            <a:spLocks noChangeArrowheads="1"/>
          </p:cNvSpPr>
          <p:nvPr/>
        </p:nvSpPr>
        <p:spPr bwMode="auto">
          <a:xfrm>
            <a:off x="2209800" y="25146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99012" name="Group 4"/>
          <p:cNvGrpSpPr>
            <a:grpSpLocks/>
          </p:cNvGrpSpPr>
          <p:nvPr/>
        </p:nvGrpSpPr>
        <p:grpSpPr bwMode="auto">
          <a:xfrm>
            <a:off x="2133600" y="1447800"/>
            <a:ext cx="457200" cy="457200"/>
            <a:chOff x="1296" y="1056"/>
            <a:chExt cx="288" cy="288"/>
          </a:xfrm>
        </p:grpSpPr>
        <p:sp>
          <p:nvSpPr>
            <p:cNvPr id="299013" name="Oval 5"/>
            <p:cNvSpPr>
              <a:spLocks noChangeArrowheads="1"/>
            </p:cNvSpPr>
            <p:nvPr/>
          </p:nvSpPr>
          <p:spPr bwMode="auto">
            <a:xfrm>
              <a:off x="1296" y="1056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9014" name="Oval 6"/>
            <p:cNvSpPr>
              <a:spLocks noChangeArrowheads="1"/>
            </p:cNvSpPr>
            <p:nvPr/>
          </p:nvSpPr>
          <p:spPr bwMode="auto">
            <a:xfrm>
              <a:off x="1344" y="1104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99015" name="Oval 7"/>
          <p:cNvSpPr>
            <a:spLocks noChangeArrowheads="1"/>
          </p:cNvSpPr>
          <p:nvPr/>
        </p:nvSpPr>
        <p:spPr bwMode="auto">
          <a:xfrm>
            <a:off x="990600" y="19812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9016" name="Line 8"/>
          <p:cNvSpPr>
            <a:spLocks noChangeShapeType="1"/>
          </p:cNvSpPr>
          <p:nvPr/>
        </p:nvSpPr>
        <p:spPr bwMode="auto">
          <a:xfrm>
            <a:off x="685800" y="2133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9017" name="Line 9"/>
          <p:cNvSpPr>
            <a:spLocks noChangeShapeType="1"/>
          </p:cNvSpPr>
          <p:nvPr/>
        </p:nvSpPr>
        <p:spPr bwMode="auto">
          <a:xfrm flipV="1">
            <a:off x="1295400" y="1752600"/>
            <a:ext cx="838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9018" name="Line 10"/>
          <p:cNvSpPr>
            <a:spLocks noChangeShapeType="1"/>
          </p:cNvSpPr>
          <p:nvPr/>
        </p:nvSpPr>
        <p:spPr bwMode="auto">
          <a:xfrm>
            <a:off x="1295400" y="22098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9019" name="Line 11"/>
          <p:cNvSpPr>
            <a:spLocks noChangeShapeType="1"/>
          </p:cNvSpPr>
          <p:nvPr/>
        </p:nvSpPr>
        <p:spPr bwMode="auto">
          <a:xfrm>
            <a:off x="2362200" y="1905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299020" name="AutoShape 12"/>
          <p:cNvCxnSpPr>
            <a:cxnSpLocks noChangeShapeType="1"/>
            <a:stCxn id="299011" idx="6"/>
            <a:endCxn id="299013" idx="6"/>
          </p:cNvCxnSpPr>
          <p:nvPr/>
        </p:nvCxnSpPr>
        <p:spPr bwMode="auto">
          <a:xfrm flipV="1">
            <a:off x="2514600" y="1676400"/>
            <a:ext cx="76200" cy="990600"/>
          </a:xfrm>
          <a:prstGeom prst="curvedConnector3">
            <a:avLst>
              <a:gd name="adj1" fmla="val 4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9021" name="AutoShape 13"/>
          <p:cNvCxnSpPr>
            <a:cxnSpLocks noChangeShapeType="1"/>
            <a:stCxn id="299013" idx="7"/>
            <a:endCxn id="299013" idx="1"/>
          </p:cNvCxnSpPr>
          <p:nvPr/>
        </p:nvCxnSpPr>
        <p:spPr bwMode="auto">
          <a:xfrm rot="16200000" flipH="1" flipV="1">
            <a:off x="2361406" y="1353344"/>
            <a:ext cx="1588" cy="323850"/>
          </a:xfrm>
          <a:prstGeom prst="curvedConnector3">
            <a:avLst>
              <a:gd name="adj1" fmla="val -186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9023" name="AutoShape 15"/>
          <p:cNvCxnSpPr>
            <a:cxnSpLocks noChangeShapeType="1"/>
            <a:stCxn id="299011" idx="3"/>
            <a:endCxn id="299011" idx="5"/>
          </p:cNvCxnSpPr>
          <p:nvPr/>
        </p:nvCxnSpPr>
        <p:spPr bwMode="auto">
          <a:xfrm rot="16200000" flipH="1">
            <a:off x="2361406" y="2667794"/>
            <a:ext cx="1588" cy="215900"/>
          </a:xfrm>
          <a:prstGeom prst="curvedConnector3">
            <a:avLst>
              <a:gd name="adj1" fmla="val 172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9024" name="Text Box 16"/>
          <p:cNvSpPr txBox="1">
            <a:spLocks noChangeArrowheads="1"/>
          </p:cNvSpPr>
          <p:nvPr/>
        </p:nvSpPr>
        <p:spPr bwMode="auto">
          <a:xfrm>
            <a:off x="2286000" y="19812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299025" name="Text Box 17"/>
          <p:cNvSpPr txBox="1">
            <a:spLocks noChangeArrowheads="1"/>
          </p:cNvSpPr>
          <p:nvPr/>
        </p:nvSpPr>
        <p:spPr bwMode="auto">
          <a:xfrm>
            <a:off x="2819400" y="1981200"/>
            <a:ext cx="2746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299026" name="Text Box 18"/>
          <p:cNvSpPr txBox="1">
            <a:spLocks noChangeArrowheads="1"/>
          </p:cNvSpPr>
          <p:nvPr/>
        </p:nvSpPr>
        <p:spPr bwMode="auto">
          <a:xfrm>
            <a:off x="2209800" y="990600"/>
            <a:ext cx="2746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299027" name="Text Box 19"/>
          <p:cNvSpPr txBox="1">
            <a:spLocks noChangeArrowheads="1"/>
          </p:cNvSpPr>
          <p:nvPr/>
        </p:nvSpPr>
        <p:spPr bwMode="auto">
          <a:xfrm>
            <a:off x="1524000" y="1676400"/>
            <a:ext cx="2746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299028" name="Text Box 20"/>
          <p:cNvSpPr txBox="1">
            <a:spLocks noChangeArrowheads="1"/>
          </p:cNvSpPr>
          <p:nvPr/>
        </p:nvSpPr>
        <p:spPr bwMode="auto">
          <a:xfrm>
            <a:off x="2209800" y="29718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299029" name="Text Box 21"/>
          <p:cNvSpPr txBox="1">
            <a:spLocks noChangeArrowheads="1"/>
          </p:cNvSpPr>
          <p:nvPr/>
        </p:nvSpPr>
        <p:spPr bwMode="auto">
          <a:xfrm>
            <a:off x="1676400" y="21336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299030" name="Text Box 22"/>
          <p:cNvSpPr txBox="1">
            <a:spLocks noChangeArrowheads="1"/>
          </p:cNvSpPr>
          <p:nvPr/>
        </p:nvSpPr>
        <p:spPr bwMode="auto">
          <a:xfrm>
            <a:off x="2209800" y="25146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299031" name="Text Box 23"/>
          <p:cNvSpPr txBox="1">
            <a:spLocks noChangeArrowheads="1"/>
          </p:cNvSpPr>
          <p:nvPr/>
        </p:nvSpPr>
        <p:spPr bwMode="auto">
          <a:xfrm>
            <a:off x="2209800" y="15240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99032" name="Text Box 24"/>
          <p:cNvSpPr txBox="1">
            <a:spLocks noChangeArrowheads="1"/>
          </p:cNvSpPr>
          <p:nvPr/>
        </p:nvSpPr>
        <p:spPr bwMode="auto">
          <a:xfrm>
            <a:off x="990600" y="19812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299033" name="Text Box 25"/>
          <p:cNvSpPr txBox="1">
            <a:spLocks noChangeArrowheads="1"/>
          </p:cNvSpPr>
          <p:nvPr/>
        </p:nvSpPr>
        <p:spPr bwMode="auto">
          <a:xfrm>
            <a:off x="3657600" y="1268413"/>
            <a:ext cx="4246563" cy="222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ea typeface="宋体" panose="02010600030101010101" pitchFamily="2" charset="-122"/>
              </a:rPr>
              <a:t>G</a:t>
            </a:r>
            <a:r>
              <a:rPr lang="en-US" altLang="zh-CN" b="0" baseline="-25000">
                <a:ea typeface="宋体" panose="02010600030101010101" pitchFamily="2" charset="-122"/>
              </a:rPr>
              <a:t>1</a:t>
            </a:r>
            <a:r>
              <a:rPr lang="en-US" altLang="zh-CN" b="0">
                <a:ea typeface="宋体" panose="02010600030101010101" pitchFamily="2" charset="-122"/>
              </a:rPr>
              <a:t> = {1}</a:t>
            </a:r>
          </a:p>
          <a:p>
            <a:r>
              <a:rPr lang="en-US" altLang="zh-CN" b="0">
                <a:ea typeface="宋体" panose="02010600030101010101" pitchFamily="2" charset="-122"/>
              </a:rPr>
              <a:t>G</a:t>
            </a:r>
            <a:r>
              <a:rPr lang="en-US" altLang="zh-CN" b="0" baseline="-25000">
                <a:ea typeface="宋体" panose="02010600030101010101" pitchFamily="2" charset="-122"/>
              </a:rPr>
              <a:t>2</a:t>
            </a:r>
            <a:r>
              <a:rPr lang="en-US" altLang="zh-CN" b="0">
                <a:ea typeface="宋体" panose="02010600030101010101" pitchFamily="2" charset="-122"/>
              </a:rPr>
              <a:t> = {0,2}</a:t>
            </a:r>
          </a:p>
          <a:p>
            <a:endParaRPr lang="en-US" altLang="zh-CN" b="0">
              <a:ea typeface="宋体" panose="02010600030101010101" pitchFamily="2" charset="-122"/>
            </a:endParaRPr>
          </a:p>
          <a:p>
            <a:r>
              <a:rPr lang="en-US" altLang="zh-CN" b="0">
                <a:ea typeface="宋体" panose="02010600030101010101" pitchFamily="2" charset="-122"/>
              </a:rPr>
              <a:t>G</a:t>
            </a:r>
            <a:r>
              <a:rPr lang="en-US" altLang="zh-CN" b="0" baseline="-25000">
                <a:ea typeface="宋体" panose="02010600030101010101" pitchFamily="2" charset="-122"/>
              </a:rPr>
              <a:t>2 </a:t>
            </a:r>
            <a:r>
              <a:rPr lang="en-US" altLang="zh-CN" b="0">
                <a:ea typeface="宋体" panose="02010600030101010101" pitchFamily="2" charset="-122"/>
              </a:rPr>
              <a:t> cannot be partitioned because</a:t>
            </a:r>
          </a:p>
          <a:p>
            <a:r>
              <a:rPr lang="en-US" altLang="zh-CN" b="0">
                <a:ea typeface="宋体" panose="02010600030101010101" pitchFamily="2" charset="-122"/>
              </a:rPr>
              <a:t>	</a:t>
            </a:r>
            <a:r>
              <a:rPr lang="en-US" altLang="zh-CN" sz="2000" b="0">
                <a:ea typeface="宋体" panose="02010600030101010101" pitchFamily="2" charset="-122"/>
              </a:rPr>
              <a:t>move(0,a)=1	move(0,b)=2</a:t>
            </a:r>
          </a:p>
          <a:p>
            <a:r>
              <a:rPr lang="en-US" altLang="zh-CN" sz="2000" b="0">
                <a:ea typeface="宋体" panose="02010600030101010101" pitchFamily="2" charset="-122"/>
              </a:rPr>
              <a:t>	move(2,a)=1	move(2,b)=2</a:t>
            </a:r>
            <a:endParaRPr lang="en-US" altLang="zh-CN" b="0">
              <a:ea typeface="宋体" panose="02010600030101010101" pitchFamily="2" charset="-122"/>
            </a:endParaRPr>
          </a:p>
        </p:txBody>
      </p:sp>
      <p:sp>
        <p:nvSpPr>
          <p:cNvPr id="299034" name="Text Box 26"/>
          <p:cNvSpPr txBox="1">
            <a:spLocks noChangeArrowheads="1"/>
          </p:cNvSpPr>
          <p:nvPr/>
        </p:nvSpPr>
        <p:spPr bwMode="auto">
          <a:xfrm>
            <a:off x="669925" y="3851275"/>
            <a:ext cx="5926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ea typeface="宋体" panose="02010600030101010101" pitchFamily="2" charset="-122"/>
              </a:rPr>
              <a:t>So, the minimized DFA (with minimum states)</a:t>
            </a:r>
          </a:p>
        </p:txBody>
      </p:sp>
      <p:grpSp>
        <p:nvGrpSpPr>
          <p:cNvPr id="322563" name="Group 3"/>
          <p:cNvGrpSpPr>
            <a:grpSpLocks/>
          </p:cNvGrpSpPr>
          <p:nvPr/>
        </p:nvGrpSpPr>
        <p:grpSpPr bwMode="auto">
          <a:xfrm>
            <a:off x="3565525" y="4572000"/>
            <a:ext cx="2179638" cy="1174750"/>
            <a:chOff x="1488" y="2880"/>
            <a:chExt cx="1373" cy="740"/>
          </a:xfrm>
        </p:grpSpPr>
        <p:sp>
          <p:nvSpPr>
            <p:cNvPr id="299035" name="Text Box 27"/>
            <p:cNvSpPr txBox="1">
              <a:spLocks noChangeArrowheads="1"/>
            </p:cNvSpPr>
            <p:nvPr/>
          </p:nvSpPr>
          <p:spPr bwMode="auto">
            <a:xfrm>
              <a:off x="1632" y="3216"/>
              <a:ext cx="328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0">
                  <a:ea typeface="宋体" panose="02010600030101010101" pitchFamily="2" charset="-122"/>
                </a:rPr>
                <a:t>{0,2}</a:t>
              </a:r>
            </a:p>
          </p:txBody>
        </p:sp>
        <p:sp>
          <p:nvSpPr>
            <p:cNvPr id="299036" name="Oval 28"/>
            <p:cNvSpPr>
              <a:spLocks noChangeArrowheads="1"/>
            </p:cNvSpPr>
            <p:nvPr/>
          </p:nvSpPr>
          <p:spPr bwMode="auto">
            <a:xfrm>
              <a:off x="1680" y="3216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99037" name="Group 29"/>
            <p:cNvGrpSpPr>
              <a:grpSpLocks/>
            </p:cNvGrpSpPr>
            <p:nvPr/>
          </p:nvGrpSpPr>
          <p:grpSpPr bwMode="auto">
            <a:xfrm>
              <a:off x="2544" y="3168"/>
              <a:ext cx="288" cy="288"/>
              <a:chOff x="1296" y="1056"/>
              <a:chExt cx="288" cy="288"/>
            </a:xfrm>
          </p:grpSpPr>
          <p:sp>
            <p:nvSpPr>
              <p:cNvPr id="299038" name="Oval 30"/>
              <p:cNvSpPr>
                <a:spLocks noChangeArrowheads="1"/>
              </p:cNvSpPr>
              <p:nvPr/>
            </p:nvSpPr>
            <p:spPr bwMode="auto">
              <a:xfrm>
                <a:off x="1296" y="1056"/>
                <a:ext cx="288" cy="2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9039" name="Oval 31"/>
              <p:cNvSpPr>
                <a:spLocks noChangeArrowheads="1"/>
              </p:cNvSpPr>
              <p:nvPr/>
            </p:nvSpPr>
            <p:spPr bwMode="auto">
              <a:xfrm>
                <a:off x="1344" y="1104"/>
                <a:ext cx="192" cy="1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99040" name="Line 32"/>
            <p:cNvSpPr>
              <a:spLocks noChangeShapeType="1"/>
            </p:cNvSpPr>
            <p:nvPr/>
          </p:nvSpPr>
          <p:spPr bwMode="auto">
            <a:xfrm>
              <a:off x="1488" y="331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041" name="Line 33"/>
            <p:cNvSpPr>
              <a:spLocks noChangeShapeType="1"/>
            </p:cNvSpPr>
            <p:nvPr/>
          </p:nvSpPr>
          <p:spPr bwMode="auto">
            <a:xfrm>
              <a:off x="1872" y="331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299042" name="AutoShape 34"/>
            <p:cNvCxnSpPr>
              <a:cxnSpLocks noChangeShapeType="1"/>
              <a:stCxn id="299036" idx="1"/>
              <a:endCxn id="299036" idx="7"/>
            </p:cNvCxnSpPr>
            <p:nvPr/>
          </p:nvCxnSpPr>
          <p:spPr bwMode="auto">
            <a:xfrm rot="5400000" flipV="1">
              <a:off x="1775" y="3177"/>
              <a:ext cx="1" cy="136"/>
            </a:xfrm>
            <a:prstGeom prst="curvedConnector3">
              <a:avLst>
                <a:gd name="adj1" fmla="val -172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9043" name="AutoShape 35"/>
            <p:cNvCxnSpPr>
              <a:cxnSpLocks noChangeShapeType="1"/>
              <a:stCxn id="299038" idx="7"/>
              <a:endCxn id="299038" idx="1"/>
            </p:cNvCxnSpPr>
            <p:nvPr/>
          </p:nvCxnSpPr>
          <p:spPr bwMode="auto">
            <a:xfrm rot="16200000" flipH="1" flipV="1">
              <a:off x="2687" y="3109"/>
              <a:ext cx="1" cy="204"/>
            </a:xfrm>
            <a:prstGeom prst="curvedConnector3">
              <a:avLst>
                <a:gd name="adj1" fmla="val -186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9044" name="AutoShape 36"/>
            <p:cNvCxnSpPr>
              <a:cxnSpLocks noChangeShapeType="1"/>
              <a:stCxn id="299038" idx="4"/>
              <a:endCxn id="299036" idx="4"/>
            </p:cNvCxnSpPr>
            <p:nvPr/>
          </p:nvCxnSpPr>
          <p:spPr bwMode="auto">
            <a:xfrm rot="16200000" flipV="1">
              <a:off x="2208" y="2976"/>
              <a:ext cx="48" cy="912"/>
            </a:xfrm>
            <a:prstGeom prst="curvedConnector3">
              <a:avLst>
                <a:gd name="adj1" fmla="val -3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99045" name="Text Box 37"/>
            <p:cNvSpPr txBox="1">
              <a:spLocks noChangeArrowheads="1"/>
            </p:cNvSpPr>
            <p:nvPr/>
          </p:nvSpPr>
          <p:spPr bwMode="auto">
            <a:xfrm>
              <a:off x="2688" y="2880"/>
              <a:ext cx="17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99046" name="Text Box 38"/>
            <p:cNvSpPr txBox="1">
              <a:spLocks noChangeArrowheads="1"/>
            </p:cNvSpPr>
            <p:nvPr/>
          </p:nvSpPr>
          <p:spPr bwMode="auto">
            <a:xfrm>
              <a:off x="2112" y="3168"/>
              <a:ext cx="173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299047" name="Text Box 39"/>
            <p:cNvSpPr txBox="1">
              <a:spLocks noChangeArrowheads="1"/>
            </p:cNvSpPr>
            <p:nvPr/>
          </p:nvSpPr>
          <p:spPr bwMode="auto">
            <a:xfrm>
              <a:off x="2160" y="3408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99048" name="Text Box 40"/>
            <p:cNvSpPr txBox="1">
              <a:spLocks noChangeArrowheads="1"/>
            </p:cNvSpPr>
            <p:nvPr/>
          </p:nvSpPr>
          <p:spPr bwMode="auto">
            <a:xfrm>
              <a:off x="1680" y="2880"/>
              <a:ext cx="18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600" b="0"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299049" name="Text Box 41"/>
            <p:cNvSpPr txBox="1">
              <a:spLocks noChangeArrowheads="1"/>
            </p:cNvSpPr>
            <p:nvPr/>
          </p:nvSpPr>
          <p:spPr bwMode="auto">
            <a:xfrm>
              <a:off x="2544" y="3216"/>
              <a:ext cx="256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200" b="0">
                  <a:ea typeface="宋体" panose="02010600030101010101" pitchFamily="2" charset="-122"/>
                </a:rPr>
                <a:t>{1}</a:t>
              </a:r>
            </a:p>
          </p:txBody>
        </p:sp>
      </p:grpSp>
      <p:sp>
        <p:nvSpPr>
          <p:cNvPr id="322562" name="Text Box 2"/>
          <p:cNvSpPr txBox="1">
            <a:spLocks noChangeArrowheads="1"/>
          </p:cNvSpPr>
          <p:nvPr/>
        </p:nvSpPr>
        <p:spPr bwMode="auto">
          <a:xfrm>
            <a:off x="8048625" y="2420938"/>
            <a:ext cx="1531938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0">
                <a:ea typeface="宋体" panose="02010600030101010101" pitchFamily="2" charset="-122"/>
              </a:rPr>
              <a:t>  </a:t>
            </a:r>
            <a:r>
              <a:rPr lang="en-US" altLang="zh-CN" b="0" u="sng">
                <a:ea typeface="宋体" panose="02010600030101010101" pitchFamily="2" charset="-122"/>
              </a:rPr>
              <a:t>a       	  b </a:t>
            </a:r>
          </a:p>
          <a:p>
            <a:r>
              <a:rPr lang="en-US" altLang="zh-CN" sz="1800" b="0">
                <a:ea typeface="宋体" panose="02010600030101010101" pitchFamily="2" charset="-122"/>
              </a:rPr>
              <a:t>0-&gt;1	0-&gt;2</a:t>
            </a:r>
          </a:p>
          <a:p>
            <a:r>
              <a:rPr lang="en-US" altLang="zh-CN" sz="1800" b="0">
                <a:ea typeface="宋体" panose="02010600030101010101" pitchFamily="2" charset="-122"/>
              </a:rPr>
              <a:t>2-&gt;1	2-&gt;2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99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32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322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33" grpId="0"/>
      <p:bldP spid="32256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32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3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EABED-54BD-4BF5-809B-CDBF0B6DF836}" type="slidenum">
              <a:rPr lang="zh-CN" altLang="en-US"/>
              <a:pPr/>
              <a:t>35</a:t>
            </a:fld>
            <a:endParaRPr lang="en-US" altLang="zh-CN"/>
          </a:p>
        </p:txBody>
      </p:sp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Minimizing DFA (Exercise)</a:t>
            </a:r>
          </a:p>
        </p:txBody>
      </p:sp>
      <p:sp>
        <p:nvSpPr>
          <p:cNvPr id="343043" name="Oval 3"/>
          <p:cNvSpPr>
            <a:spLocks noChangeArrowheads="1"/>
          </p:cNvSpPr>
          <p:nvPr/>
        </p:nvSpPr>
        <p:spPr bwMode="auto">
          <a:xfrm>
            <a:off x="3089275" y="3281363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3044" name="Oval 4"/>
          <p:cNvSpPr>
            <a:spLocks noChangeArrowheads="1"/>
          </p:cNvSpPr>
          <p:nvPr/>
        </p:nvSpPr>
        <p:spPr bwMode="auto">
          <a:xfrm>
            <a:off x="4156075" y="2671763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3045" name="Oval 5"/>
          <p:cNvSpPr>
            <a:spLocks noChangeArrowheads="1"/>
          </p:cNvSpPr>
          <p:nvPr/>
        </p:nvSpPr>
        <p:spPr bwMode="auto">
          <a:xfrm>
            <a:off x="4156075" y="4119563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3049" name="Line 9"/>
          <p:cNvSpPr>
            <a:spLocks noChangeShapeType="1"/>
          </p:cNvSpPr>
          <p:nvPr/>
        </p:nvSpPr>
        <p:spPr bwMode="auto">
          <a:xfrm>
            <a:off x="2860675" y="3433763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3050" name="Line 10"/>
          <p:cNvSpPr>
            <a:spLocks noChangeShapeType="1"/>
          </p:cNvSpPr>
          <p:nvPr/>
        </p:nvSpPr>
        <p:spPr bwMode="auto">
          <a:xfrm flipV="1">
            <a:off x="3317875" y="2900363"/>
            <a:ext cx="838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3051" name="Line 11"/>
          <p:cNvSpPr>
            <a:spLocks noChangeShapeType="1"/>
          </p:cNvSpPr>
          <p:nvPr/>
        </p:nvSpPr>
        <p:spPr bwMode="auto">
          <a:xfrm>
            <a:off x="3317875" y="3586163"/>
            <a:ext cx="838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3052" name="Line 12"/>
          <p:cNvSpPr>
            <a:spLocks noChangeShapeType="1"/>
          </p:cNvSpPr>
          <p:nvPr/>
        </p:nvSpPr>
        <p:spPr bwMode="auto">
          <a:xfrm>
            <a:off x="4308475" y="2976563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3053" name="Line 13"/>
          <p:cNvSpPr>
            <a:spLocks noChangeShapeType="1"/>
          </p:cNvSpPr>
          <p:nvPr/>
        </p:nvSpPr>
        <p:spPr bwMode="auto">
          <a:xfrm flipV="1">
            <a:off x="4460875" y="3586163"/>
            <a:ext cx="990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3054" name="Line 14"/>
          <p:cNvSpPr>
            <a:spLocks noChangeShapeType="1"/>
          </p:cNvSpPr>
          <p:nvPr/>
        </p:nvSpPr>
        <p:spPr bwMode="auto">
          <a:xfrm flipH="1" flipV="1">
            <a:off x="4460875" y="2900363"/>
            <a:ext cx="990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343055" name="AutoShape 15"/>
          <p:cNvCxnSpPr>
            <a:cxnSpLocks noChangeShapeType="1"/>
            <a:stCxn id="343044" idx="7"/>
            <a:endCxn id="343044" idx="1"/>
          </p:cNvCxnSpPr>
          <p:nvPr/>
        </p:nvCxnSpPr>
        <p:spPr bwMode="auto">
          <a:xfrm rot="16200000" flipH="1" flipV="1">
            <a:off x="4307681" y="2609057"/>
            <a:ext cx="1587" cy="215900"/>
          </a:xfrm>
          <a:prstGeom prst="curvedConnector3">
            <a:avLst>
              <a:gd name="adj1" fmla="val -172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3056" name="AutoShape 16"/>
          <p:cNvCxnSpPr>
            <a:cxnSpLocks noChangeShapeType="1"/>
            <a:stCxn id="343045" idx="3"/>
            <a:endCxn id="343045" idx="5"/>
          </p:cNvCxnSpPr>
          <p:nvPr/>
        </p:nvCxnSpPr>
        <p:spPr bwMode="auto">
          <a:xfrm rot="16200000" flipH="1">
            <a:off x="4307681" y="4272757"/>
            <a:ext cx="1587" cy="215900"/>
          </a:xfrm>
          <a:prstGeom prst="curvedConnector3">
            <a:avLst>
              <a:gd name="adj1" fmla="val 172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3057" name="AutoShape 17"/>
          <p:cNvCxnSpPr>
            <a:cxnSpLocks noChangeShapeType="1"/>
          </p:cNvCxnSpPr>
          <p:nvPr/>
        </p:nvCxnSpPr>
        <p:spPr bwMode="auto">
          <a:xfrm rot="5400000">
            <a:off x="4689475" y="3433763"/>
            <a:ext cx="685800" cy="11430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3058" name="Text Box 18"/>
          <p:cNvSpPr txBox="1">
            <a:spLocks noChangeArrowheads="1"/>
          </p:cNvSpPr>
          <p:nvPr/>
        </p:nvSpPr>
        <p:spPr bwMode="auto">
          <a:xfrm>
            <a:off x="4429125" y="5108575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343059" name="Text Box 19"/>
          <p:cNvSpPr txBox="1">
            <a:spLocks noChangeArrowheads="1"/>
          </p:cNvSpPr>
          <p:nvPr/>
        </p:nvSpPr>
        <p:spPr bwMode="auto">
          <a:xfrm>
            <a:off x="3622675" y="3662363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343060" name="Text Box 20"/>
          <p:cNvSpPr txBox="1">
            <a:spLocks noChangeArrowheads="1"/>
          </p:cNvSpPr>
          <p:nvPr/>
        </p:nvSpPr>
        <p:spPr bwMode="auto">
          <a:xfrm>
            <a:off x="5146675" y="4043363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343061" name="Text Box 21"/>
          <p:cNvSpPr txBox="1">
            <a:spLocks noChangeArrowheads="1"/>
          </p:cNvSpPr>
          <p:nvPr/>
        </p:nvSpPr>
        <p:spPr bwMode="auto">
          <a:xfrm>
            <a:off x="4765675" y="3586163"/>
            <a:ext cx="2746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343062" name="Text Box 22"/>
          <p:cNvSpPr txBox="1">
            <a:spLocks noChangeArrowheads="1"/>
          </p:cNvSpPr>
          <p:nvPr/>
        </p:nvSpPr>
        <p:spPr bwMode="auto">
          <a:xfrm>
            <a:off x="4841875" y="2824163"/>
            <a:ext cx="2746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343063" name="Text Box 23"/>
          <p:cNvSpPr txBox="1">
            <a:spLocks noChangeArrowheads="1"/>
          </p:cNvSpPr>
          <p:nvPr/>
        </p:nvSpPr>
        <p:spPr bwMode="auto">
          <a:xfrm>
            <a:off x="4308475" y="2366963"/>
            <a:ext cx="2746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343064" name="Text Box 24"/>
          <p:cNvSpPr txBox="1">
            <a:spLocks noChangeArrowheads="1"/>
          </p:cNvSpPr>
          <p:nvPr/>
        </p:nvSpPr>
        <p:spPr bwMode="auto">
          <a:xfrm>
            <a:off x="3546475" y="2824163"/>
            <a:ext cx="2746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343065" name="Text Box 25"/>
          <p:cNvSpPr txBox="1">
            <a:spLocks noChangeArrowheads="1"/>
          </p:cNvSpPr>
          <p:nvPr/>
        </p:nvSpPr>
        <p:spPr bwMode="auto">
          <a:xfrm>
            <a:off x="4232275" y="3357563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343066" name="Text Box 26"/>
          <p:cNvSpPr txBox="1">
            <a:spLocks noChangeArrowheads="1"/>
          </p:cNvSpPr>
          <p:nvPr/>
        </p:nvSpPr>
        <p:spPr bwMode="auto">
          <a:xfrm>
            <a:off x="5451475" y="3281363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343067" name="Text Box 27"/>
          <p:cNvSpPr txBox="1">
            <a:spLocks noChangeArrowheads="1"/>
          </p:cNvSpPr>
          <p:nvPr/>
        </p:nvSpPr>
        <p:spPr bwMode="auto">
          <a:xfrm>
            <a:off x="4156075" y="4119563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343068" name="Text Box 28"/>
          <p:cNvSpPr txBox="1">
            <a:spLocks noChangeArrowheads="1"/>
          </p:cNvSpPr>
          <p:nvPr/>
        </p:nvSpPr>
        <p:spPr bwMode="auto">
          <a:xfrm>
            <a:off x="4156075" y="2671763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43069" name="Text Box 29"/>
          <p:cNvSpPr txBox="1">
            <a:spLocks noChangeArrowheads="1"/>
          </p:cNvSpPr>
          <p:nvPr/>
        </p:nvSpPr>
        <p:spPr bwMode="auto">
          <a:xfrm>
            <a:off x="3089275" y="3281363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0</a:t>
            </a:r>
          </a:p>
        </p:txBody>
      </p:sp>
      <p:grpSp>
        <p:nvGrpSpPr>
          <p:cNvPr id="343081" name="Group 41"/>
          <p:cNvGrpSpPr>
            <a:grpSpLocks/>
          </p:cNvGrpSpPr>
          <p:nvPr/>
        </p:nvGrpSpPr>
        <p:grpSpPr bwMode="auto">
          <a:xfrm>
            <a:off x="5375275" y="3205163"/>
            <a:ext cx="457200" cy="457200"/>
            <a:chOff x="1296" y="1056"/>
            <a:chExt cx="288" cy="288"/>
          </a:xfrm>
        </p:grpSpPr>
        <p:sp>
          <p:nvSpPr>
            <p:cNvPr id="343082" name="Oval 42"/>
            <p:cNvSpPr>
              <a:spLocks noChangeArrowheads="1"/>
            </p:cNvSpPr>
            <p:nvPr/>
          </p:nvSpPr>
          <p:spPr bwMode="auto">
            <a:xfrm>
              <a:off x="1296" y="1056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3083" name="Oval 43"/>
            <p:cNvSpPr>
              <a:spLocks noChangeArrowheads="1"/>
            </p:cNvSpPr>
            <p:nvPr/>
          </p:nvSpPr>
          <p:spPr bwMode="auto">
            <a:xfrm>
              <a:off x="1344" y="1104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43100" name="Rectangle 60"/>
          <p:cNvSpPr>
            <a:spLocks noChangeArrowheads="1"/>
          </p:cNvSpPr>
          <p:nvPr/>
        </p:nvSpPr>
        <p:spPr bwMode="auto">
          <a:xfrm>
            <a:off x="381000" y="1219200"/>
            <a:ext cx="93726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b="0">
                <a:ea typeface="宋体" panose="02010600030101010101" pitchFamily="2" charset="-122"/>
              </a:rPr>
              <a:t>Minimizing DFA, and list state transition table</a:t>
            </a:r>
          </a:p>
          <a:p>
            <a:pPr lvl="1"/>
            <a:endParaRPr lang="en-US" altLang="zh-CN" sz="1800" b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9B91D-3FF1-4ED6-B241-1F89ADD982DC}" type="slidenum">
              <a:rPr lang="zh-CN" altLang="en-US"/>
              <a:pPr/>
              <a:t>36</a:t>
            </a:fld>
            <a:endParaRPr lang="en-US" altLang="zh-CN"/>
          </a:p>
        </p:txBody>
      </p:sp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Minimizing DFA (exercise answer)</a:t>
            </a:r>
          </a:p>
        </p:txBody>
      </p:sp>
      <p:sp>
        <p:nvSpPr>
          <p:cNvPr id="300035" name="Oval 3"/>
          <p:cNvSpPr>
            <a:spLocks noChangeArrowheads="1"/>
          </p:cNvSpPr>
          <p:nvPr/>
        </p:nvSpPr>
        <p:spPr bwMode="auto">
          <a:xfrm>
            <a:off x="990600" y="18288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0036" name="Oval 4"/>
          <p:cNvSpPr>
            <a:spLocks noChangeArrowheads="1"/>
          </p:cNvSpPr>
          <p:nvPr/>
        </p:nvSpPr>
        <p:spPr bwMode="auto">
          <a:xfrm>
            <a:off x="2057400" y="12192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0037" name="Oval 5"/>
          <p:cNvSpPr>
            <a:spLocks noChangeArrowheads="1"/>
          </p:cNvSpPr>
          <p:nvPr/>
        </p:nvSpPr>
        <p:spPr bwMode="auto">
          <a:xfrm>
            <a:off x="2057400" y="26670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00038" name="Group 6"/>
          <p:cNvGrpSpPr>
            <a:grpSpLocks/>
          </p:cNvGrpSpPr>
          <p:nvPr/>
        </p:nvGrpSpPr>
        <p:grpSpPr bwMode="auto">
          <a:xfrm>
            <a:off x="5257800" y="5486400"/>
            <a:ext cx="457200" cy="457200"/>
            <a:chOff x="1296" y="1056"/>
            <a:chExt cx="288" cy="288"/>
          </a:xfrm>
        </p:grpSpPr>
        <p:sp>
          <p:nvSpPr>
            <p:cNvPr id="300039" name="Oval 7"/>
            <p:cNvSpPr>
              <a:spLocks noChangeArrowheads="1"/>
            </p:cNvSpPr>
            <p:nvPr/>
          </p:nvSpPr>
          <p:spPr bwMode="auto">
            <a:xfrm>
              <a:off x="1296" y="1056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0040" name="Oval 8"/>
            <p:cNvSpPr>
              <a:spLocks noChangeArrowheads="1"/>
            </p:cNvSpPr>
            <p:nvPr/>
          </p:nvSpPr>
          <p:spPr bwMode="auto">
            <a:xfrm>
              <a:off x="1344" y="1104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0041" name="Line 9"/>
          <p:cNvSpPr>
            <a:spLocks noChangeShapeType="1"/>
          </p:cNvSpPr>
          <p:nvPr/>
        </p:nvSpPr>
        <p:spPr bwMode="auto">
          <a:xfrm>
            <a:off x="762000" y="19812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0042" name="Line 10"/>
          <p:cNvSpPr>
            <a:spLocks noChangeShapeType="1"/>
          </p:cNvSpPr>
          <p:nvPr/>
        </p:nvSpPr>
        <p:spPr bwMode="auto">
          <a:xfrm flipV="1">
            <a:off x="1219200" y="1447800"/>
            <a:ext cx="838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0043" name="Line 11"/>
          <p:cNvSpPr>
            <a:spLocks noChangeShapeType="1"/>
          </p:cNvSpPr>
          <p:nvPr/>
        </p:nvSpPr>
        <p:spPr bwMode="auto">
          <a:xfrm>
            <a:off x="1219200" y="2133600"/>
            <a:ext cx="838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0044" name="Line 12"/>
          <p:cNvSpPr>
            <a:spLocks noChangeShapeType="1"/>
          </p:cNvSpPr>
          <p:nvPr/>
        </p:nvSpPr>
        <p:spPr bwMode="auto">
          <a:xfrm>
            <a:off x="2209800" y="15240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0045" name="Line 13"/>
          <p:cNvSpPr>
            <a:spLocks noChangeShapeType="1"/>
          </p:cNvSpPr>
          <p:nvPr/>
        </p:nvSpPr>
        <p:spPr bwMode="auto">
          <a:xfrm flipV="1">
            <a:off x="2362200" y="2133600"/>
            <a:ext cx="990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0046" name="Line 14"/>
          <p:cNvSpPr>
            <a:spLocks noChangeShapeType="1"/>
          </p:cNvSpPr>
          <p:nvPr/>
        </p:nvSpPr>
        <p:spPr bwMode="auto">
          <a:xfrm flipH="1" flipV="1">
            <a:off x="2362200" y="1447800"/>
            <a:ext cx="990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300047" name="AutoShape 15"/>
          <p:cNvCxnSpPr>
            <a:cxnSpLocks noChangeShapeType="1"/>
            <a:stCxn id="300036" idx="7"/>
            <a:endCxn id="300036" idx="1"/>
          </p:cNvCxnSpPr>
          <p:nvPr/>
        </p:nvCxnSpPr>
        <p:spPr bwMode="auto">
          <a:xfrm rot="16200000" flipH="1" flipV="1">
            <a:off x="2209006" y="1156494"/>
            <a:ext cx="1588" cy="215900"/>
          </a:xfrm>
          <a:prstGeom prst="curvedConnector3">
            <a:avLst>
              <a:gd name="adj1" fmla="val -172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0048" name="AutoShape 16"/>
          <p:cNvCxnSpPr>
            <a:cxnSpLocks noChangeShapeType="1"/>
            <a:stCxn id="300037" idx="3"/>
            <a:endCxn id="300037" idx="5"/>
          </p:cNvCxnSpPr>
          <p:nvPr/>
        </p:nvCxnSpPr>
        <p:spPr bwMode="auto">
          <a:xfrm rot="16200000" flipH="1">
            <a:off x="2209006" y="2820194"/>
            <a:ext cx="1588" cy="215900"/>
          </a:xfrm>
          <a:prstGeom prst="curvedConnector3">
            <a:avLst>
              <a:gd name="adj1" fmla="val 172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0049" name="AutoShape 17"/>
          <p:cNvCxnSpPr>
            <a:cxnSpLocks noChangeShapeType="1"/>
          </p:cNvCxnSpPr>
          <p:nvPr/>
        </p:nvCxnSpPr>
        <p:spPr bwMode="auto">
          <a:xfrm rot="5400000">
            <a:off x="2590800" y="1981200"/>
            <a:ext cx="685800" cy="11430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0050" name="Text Box 18"/>
          <p:cNvSpPr txBox="1">
            <a:spLocks noChangeArrowheads="1"/>
          </p:cNvSpPr>
          <p:nvPr/>
        </p:nvSpPr>
        <p:spPr bwMode="auto">
          <a:xfrm>
            <a:off x="2057400" y="31242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300051" name="Text Box 19"/>
          <p:cNvSpPr txBox="1">
            <a:spLocks noChangeArrowheads="1"/>
          </p:cNvSpPr>
          <p:nvPr/>
        </p:nvSpPr>
        <p:spPr bwMode="auto">
          <a:xfrm>
            <a:off x="1524000" y="22098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300052" name="Text Box 20"/>
          <p:cNvSpPr txBox="1">
            <a:spLocks noChangeArrowheads="1"/>
          </p:cNvSpPr>
          <p:nvPr/>
        </p:nvSpPr>
        <p:spPr bwMode="auto">
          <a:xfrm>
            <a:off x="3048000" y="25908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300053" name="Text Box 21"/>
          <p:cNvSpPr txBox="1">
            <a:spLocks noChangeArrowheads="1"/>
          </p:cNvSpPr>
          <p:nvPr/>
        </p:nvSpPr>
        <p:spPr bwMode="auto">
          <a:xfrm>
            <a:off x="2667000" y="2133600"/>
            <a:ext cx="2746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300054" name="Text Box 22"/>
          <p:cNvSpPr txBox="1">
            <a:spLocks noChangeArrowheads="1"/>
          </p:cNvSpPr>
          <p:nvPr/>
        </p:nvSpPr>
        <p:spPr bwMode="auto">
          <a:xfrm>
            <a:off x="2743200" y="1371600"/>
            <a:ext cx="2746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300055" name="Text Box 23"/>
          <p:cNvSpPr txBox="1">
            <a:spLocks noChangeArrowheads="1"/>
          </p:cNvSpPr>
          <p:nvPr/>
        </p:nvSpPr>
        <p:spPr bwMode="auto">
          <a:xfrm>
            <a:off x="2209800" y="914400"/>
            <a:ext cx="2746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300056" name="Text Box 24"/>
          <p:cNvSpPr txBox="1">
            <a:spLocks noChangeArrowheads="1"/>
          </p:cNvSpPr>
          <p:nvPr/>
        </p:nvSpPr>
        <p:spPr bwMode="auto">
          <a:xfrm>
            <a:off x="1447800" y="1371600"/>
            <a:ext cx="2746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300057" name="Text Box 25"/>
          <p:cNvSpPr txBox="1">
            <a:spLocks noChangeArrowheads="1"/>
          </p:cNvSpPr>
          <p:nvPr/>
        </p:nvSpPr>
        <p:spPr bwMode="auto">
          <a:xfrm>
            <a:off x="2133600" y="19050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300058" name="Text Box 26"/>
          <p:cNvSpPr txBox="1">
            <a:spLocks noChangeArrowheads="1"/>
          </p:cNvSpPr>
          <p:nvPr/>
        </p:nvSpPr>
        <p:spPr bwMode="auto">
          <a:xfrm>
            <a:off x="3352800" y="18288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300059" name="Text Box 27"/>
          <p:cNvSpPr txBox="1">
            <a:spLocks noChangeArrowheads="1"/>
          </p:cNvSpPr>
          <p:nvPr/>
        </p:nvSpPr>
        <p:spPr bwMode="auto">
          <a:xfrm>
            <a:off x="2057400" y="26670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300060" name="Text Box 28"/>
          <p:cNvSpPr txBox="1">
            <a:spLocks noChangeArrowheads="1"/>
          </p:cNvSpPr>
          <p:nvPr/>
        </p:nvSpPr>
        <p:spPr bwMode="auto">
          <a:xfrm>
            <a:off x="2057400" y="12192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00061" name="Text Box 29"/>
          <p:cNvSpPr txBox="1">
            <a:spLocks noChangeArrowheads="1"/>
          </p:cNvSpPr>
          <p:nvPr/>
        </p:nvSpPr>
        <p:spPr bwMode="auto">
          <a:xfrm>
            <a:off x="990600" y="18288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300062" name="Text Box 30"/>
          <p:cNvSpPr txBox="1">
            <a:spLocks noChangeArrowheads="1"/>
          </p:cNvSpPr>
          <p:nvPr/>
        </p:nvSpPr>
        <p:spPr bwMode="auto">
          <a:xfrm>
            <a:off x="4267200" y="1600200"/>
            <a:ext cx="3371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ea typeface="宋体" panose="02010600030101010101" pitchFamily="2" charset="-122"/>
              </a:rPr>
              <a:t>Groups:     {0,1,2}	{3}</a:t>
            </a:r>
          </a:p>
        </p:txBody>
      </p:sp>
      <p:sp>
        <p:nvSpPr>
          <p:cNvPr id="300063" name="Text Box 31"/>
          <p:cNvSpPr txBox="1">
            <a:spLocks noChangeArrowheads="1"/>
          </p:cNvSpPr>
          <p:nvPr/>
        </p:nvSpPr>
        <p:spPr bwMode="auto">
          <a:xfrm>
            <a:off x="8077200" y="2209800"/>
            <a:ext cx="1531938" cy="1281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0">
                <a:ea typeface="宋体" panose="02010600030101010101" pitchFamily="2" charset="-122"/>
              </a:rPr>
              <a:t>  </a:t>
            </a:r>
            <a:r>
              <a:rPr lang="en-US" altLang="zh-CN" b="0" u="sng">
                <a:ea typeface="宋体" panose="02010600030101010101" pitchFamily="2" charset="-122"/>
              </a:rPr>
              <a:t>a       	  b </a:t>
            </a:r>
          </a:p>
          <a:p>
            <a:r>
              <a:rPr lang="en-US" altLang="zh-CN" sz="1800" b="0">
                <a:ea typeface="宋体" panose="02010600030101010101" pitchFamily="2" charset="-122"/>
              </a:rPr>
              <a:t>0-&gt;1	0-&gt;2</a:t>
            </a:r>
          </a:p>
          <a:p>
            <a:r>
              <a:rPr lang="en-US" altLang="zh-CN" sz="1800" b="0">
                <a:ea typeface="宋体" panose="02010600030101010101" pitchFamily="2" charset="-122"/>
              </a:rPr>
              <a:t>1-&gt;1	1-&gt;2</a:t>
            </a:r>
          </a:p>
          <a:p>
            <a:r>
              <a:rPr lang="en-US" altLang="zh-CN" sz="1800" b="0">
                <a:ea typeface="宋体" panose="02010600030101010101" pitchFamily="2" charset="-122"/>
              </a:rPr>
              <a:t>2-&gt;3	2-&gt;2</a:t>
            </a:r>
          </a:p>
        </p:txBody>
      </p:sp>
      <p:sp>
        <p:nvSpPr>
          <p:cNvPr id="300064" name="Line 32"/>
          <p:cNvSpPr>
            <a:spLocks noChangeShapeType="1"/>
          </p:cNvSpPr>
          <p:nvPr/>
        </p:nvSpPr>
        <p:spPr bwMode="auto">
          <a:xfrm flipH="1">
            <a:off x="4724400" y="2133600"/>
            <a:ext cx="1371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0065" name="Line 33"/>
          <p:cNvSpPr>
            <a:spLocks noChangeShapeType="1"/>
          </p:cNvSpPr>
          <p:nvPr/>
        </p:nvSpPr>
        <p:spPr bwMode="auto">
          <a:xfrm>
            <a:off x="6096000" y="2133600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0066" name="Text Box 34"/>
          <p:cNvSpPr txBox="1">
            <a:spLocks noChangeArrowheads="1"/>
          </p:cNvSpPr>
          <p:nvPr/>
        </p:nvSpPr>
        <p:spPr bwMode="auto">
          <a:xfrm>
            <a:off x="4343400" y="2286000"/>
            <a:ext cx="857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ea typeface="宋体" panose="02010600030101010101" pitchFamily="2" charset="-122"/>
              </a:rPr>
              <a:t>{0,1}</a:t>
            </a:r>
          </a:p>
        </p:txBody>
      </p:sp>
      <p:sp>
        <p:nvSpPr>
          <p:cNvPr id="300067" name="Text Box 35"/>
          <p:cNvSpPr txBox="1">
            <a:spLocks noChangeArrowheads="1"/>
          </p:cNvSpPr>
          <p:nvPr/>
        </p:nvSpPr>
        <p:spPr bwMode="auto">
          <a:xfrm>
            <a:off x="6858000" y="2286000"/>
            <a:ext cx="62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ea typeface="宋体" panose="02010600030101010101" pitchFamily="2" charset="-122"/>
              </a:rPr>
              <a:t>{2}</a:t>
            </a:r>
          </a:p>
        </p:txBody>
      </p:sp>
      <p:sp>
        <p:nvSpPr>
          <p:cNvPr id="300068" name="Text Box 36"/>
          <p:cNvSpPr txBox="1">
            <a:spLocks noChangeArrowheads="1"/>
          </p:cNvSpPr>
          <p:nvPr/>
        </p:nvSpPr>
        <p:spPr bwMode="auto">
          <a:xfrm>
            <a:off x="3810000" y="2590800"/>
            <a:ext cx="2063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800" b="0">
                <a:ea typeface="宋体" panose="02010600030101010101" pitchFamily="2" charset="-122"/>
              </a:rPr>
              <a:t>no more partitioning</a:t>
            </a:r>
          </a:p>
        </p:txBody>
      </p:sp>
      <p:sp>
        <p:nvSpPr>
          <p:cNvPr id="300069" name="Text Box 37"/>
          <p:cNvSpPr txBox="1">
            <a:spLocks noChangeArrowheads="1"/>
          </p:cNvSpPr>
          <p:nvPr/>
        </p:nvSpPr>
        <p:spPr bwMode="auto">
          <a:xfrm>
            <a:off x="457200" y="3962400"/>
            <a:ext cx="3094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0">
                <a:ea typeface="宋体" panose="02010600030101010101" pitchFamily="2" charset="-122"/>
              </a:rPr>
              <a:t>So, the minimized DFA</a:t>
            </a:r>
          </a:p>
        </p:txBody>
      </p:sp>
      <p:sp>
        <p:nvSpPr>
          <p:cNvPr id="300070" name="Text Box 38"/>
          <p:cNvSpPr txBox="1">
            <a:spLocks noChangeArrowheads="1"/>
          </p:cNvSpPr>
          <p:nvPr/>
        </p:nvSpPr>
        <p:spPr bwMode="auto">
          <a:xfrm>
            <a:off x="3810000" y="5029200"/>
            <a:ext cx="5207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200" b="0">
                <a:ea typeface="宋体" panose="02010600030101010101" pitchFamily="2" charset="-122"/>
              </a:rPr>
              <a:t>{0,1}</a:t>
            </a:r>
          </a:p>
        </p:txBody>
      </p:sp>
      <p:sp>
        <p:nvSpPr>
          <p:cNvPr id="300071" name="Oval 39"/>
          <p:cNvSpPr>
            <a:spLocks noChangeArrowheads="1"/>
          </p:cNvSpPr>
          <p:nvPr/>
        </p:nvSpPr>
        <p:spPr bwMode="auto">
          <a:xfrm>
            <a:off x="3886200" y="50292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0072" name="Oval 40"/>
          <p:cNvSpPr>
            <a:spLocks noChangeArrowheads="1"/>
          </p:cNvSpPr>
          <p:nvPr/>
        </p:nvSpPr>
        <p:spPr bwMode="auto">
          <a:xfrm>
            <a:off x="5334000" y="44958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00073" name="Group 41"/>
          <p:cNvGrpSpPr>
            <a:grpSpLocks/>
          </p:cNvGrpSpPr>
          <p:nvPr/>
        </p:nvGrpSpPr>
        <p:grpSpPr bwMode="auto">
          <a:xfrm>
            <a:off x="3276600" y="1752600"/>
            <a:ext cx="457200" cy="457200"/>
            <a:chOff x="1296" y="1056"/>
            <a:chExt cx="288" cy="288"/>
          </a:xfrm>
        </p:grpSpPr>
        <p:sp>
          <p:nvSpPr>
            <p:cNvPr id="300074" name="Oval 42"/>
            <p:cNvSpPr>
              <a:spLocks noChangeArrowheads="1"/>
            </p:cNvSpPr>
            <p:nvPr/>
          </p:nvSpPr>
          <p:spPr bwMode="auto">
            <a:xfrm>
              <a:off x="1296" y="1056"/>
              <a:ext cx="288" cy="2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0075" name="Oval 43"/>
            <p:cNvSpPr>
              <a:spLocks noChangeArrowheads="1"/>
            </p:cNvSpPr>
            <p:nvPr/>
          </p:nvSpPr>
          <p:spPr bwMode="auto">
            <a:xfrm>
              <a:off x="1344" y="1104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0076" name="Line 44"/>
          <p:cNvSpPr>
            <a:spLocks noChangeShapeType="1"/>
          </p:cNvSpPr>
          <p:nvPr/>
        </p:nvSpPr>
        <p:spPr bwMode="auto">
          <a:xfrm flipV="1">
            <a:off x="4191000" y="4724400"/>
            <a:ext cx="1143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0077" name="Line 45"/>
          <p:cNvSpPr>
            <a:spLocks noChangeShapeType="1"/>
          </p:cNvSpPr>
          <p:nvPr/>
        </p:nvSpPr>
        <p:spPr bwMode="auto">
          <a:xfrm flipH="1" flipV="1">
            <a:off x="4191000" y="5334000"/>
            <a:ext cx="1066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0078" name="Line 46"/>
          <p:cNvSpPr>
            <a:spLocks noChangeShapeType="1"/>
          </p:cNvSpPr>
          <p:nvPr/>
        </p:nvSpPr>
        <p:spPr bwMode="auto">
          <a:xfrm>
            <a:off x="5486400" y="4800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300079" name="AutoShape 47"/>
          <p:cNvCxnSpPr>
            <a:cxnSpLocks noChangeShapeType="1"/>
            <a:stCxn id="300071" idx="7"/>
            <a:endCxn id="300071" idx="1"/>
          </p:cNvCxnSpPr>
          <p:nvPr/>
        </p:nvCxnSpPr>
        <p:spPr bwMode="auto">
          <a:xfrm rot="16200000" flipH="1" flipV="1">
            <a:off x="4037806" y="4966494"/>
            <a:ext cx="1588" cy="215900"/>
          </a:xfrm>
          <a:prstGeom prst="curvedConnector3">
            <a:avLst>
              <a:gd name="adj1" fmla="val -172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0080" name="AutoShape 48"/>
          <p:cNvCxnSpPr>
            <a:cxnSpLocks noChangeShapeType="1"/>
            <a:stCxn id="300072" idx="7"/>
            <a:endCxn id="300072" idx="1"/>
          </p:cNvCxnSpPr>
          <p:nvPr/>
        </p:nvCxnSpPr>
        <p:spPr bwMode="auto">
          <a:xfrm rot="16200000" flipH="1" flipV="1">
            <a:off x="5485606" y="4433094"/>
            <a:ext cx="1588" cy="215900"/>
          </a:xfrm>
          <a:prstGeom prst="curvedConnector3">
            <a:avLst>
              <a:gd name="adj1" fmla="val -172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0081" name="AutoShape 49"/>
          <p:cNvCxnSpPr>
            <a:cxnSpLocks noChangeShapeType="1"/>
            <a:stCxn id="300039" idx="6"/>
            <a:endCxn id="300072" idx="6"/>
          </p:cNvCxnSpPr>
          <p:nvPr/>
        </p:nvCxnSpPr>
        <p:spPr bwMode="auto">
          <a:xfrm flipH="1" flipV="1">
            <a:off x="5638800" y="4648200"/>
            <a:ext cx="76200" cy="1066800"/>
          </a:xfrm>
          <a:prstGeom prst="curvedConnector3">
            <a:avLst>
              <a:gd name="adj1" fmla="val -30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0082" name="Line 50"/>
          <p:cNvSpPr>
            <a:spLocks noChangeShapeType="1"/>
          </p:cNvSpPr>
          <p:nvPr/>
        </p:nvSpPr>
        <p:spPr bwMode="auto">
          <a:xfrm>
            <a:off x="3505200" y="51816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0083" name="Text Box 51"/>
          <p:cNvSpPr txBox="1">
            <a:spLocks noChangeArrowheads="1"/>
          </p:cNvSpPr>
          <p:nvPr/>
        </p:nvSpPr>
        <p:spPr bwMode="auto">
          <a:xfrm>
            <a:off x="5257800" y="5562600"/>
            <a:ext cx="4064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200" b="0">
                <a:ea typeface="宋体" panose="02010600030101010101" pitchFamily="2" charset="-122"/>
              </a:rPr>
              <a:t>{3}</a:t>
            </a:r>
          </a:p>
        </p:txBody>
      </p:sp>
      <p:sp>
        <p:nvSpPr>
          <p:cNvPr id="300084" name="Text Box 52"/>
          <p:cNvSpPr txBox="1">
            <a:spLocks noChangeArrowheads="1"/>
          </p:cNvSpPr>
          <p:nvPr/>
        </p:nvSpPr>
        <p:spPr bwMode="auto">
          <a:xfrm>
            <a:off x="5257800" y="4495800"/>
            <a:ext cx="4064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200" b="0">
                <a:ea typeface="宋体" panose="02010600030101010101" pitchFamily="2" charset="-122"/>
              </a:rPr>
              <a:t>{2}</a:t>
            </a:r>
          </a:p>
        </p:txBody>
      </p:sp>
      <p:sp>
        <p:nvSpPr>
          <p:cNvPr id="300086" name="Text Box 54"/>
          <p:cNvSpPr txBox="1">
            <a:spLocks noChangeArrowheads="1"/>
          </p:cNvSpPr>
          <p:nvPr/>
        </p:nvSpPr>
        <p:spPr bwMode="auto">
          <a:xfrm>
            <a:off x="4572000" y="46482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300087" name="Text Box 55"/>
          <p:cNvSpPr txBox="1">
            <a:spLocks noChangeArrowheads="1"/>
          </p:cNvSpPr>
          <p:nvPr/>
        </p:nvSpPr>
        <p:spPr bwMode="auto">
          <a:xfrm>
            <a:off x="5410200" y="4953000"/>
            <a:ext cx="2746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300088" name="Text Box 56"/>
          <p:cNvSpPr txBox="1">
            <a:spLocks noChangeArrowheads="1"/>
          </p:cNvSpPr>
          <p:nvPr/>
        </p:nvSpPr>
        <p:spPr bwMode="auto">
          <a:xfrm>
            <a:off x="4572000" y="5486400"/>
            <a:ext cx="2746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300089" name="Text Box 57"/>
          <p:cNvSpPr txBox="1">
            <a:spLocks noChangeArrowheads="1"/>
          </p:cNvSpPr>
          <p:nvPr/>
        </p:nvSpPr>
        <p:spPr bwMode="auto">
          <a:xfrm>
            <a:off x="3886200" y="4572000"/>
            <a:ext cx="2746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300090" name="Text Box 58"/>
          <p:cNvSpPr txBox="1">
            <a:spLocks noChangeArrowheads="1"/>
          </p:cNvSpPr>
          <p:nvPr/>
        </p:nvSpPr>
        <p:spPr bwMode="auto">
          <a:xfrm>
            <a:off x="5867400" y="50292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300091" name="Text Box 59"/>
          <p:cNvSpPr txBox="1">
            <a:spLocks noChangeArrowheads="1"/>
          </p:cNvSpPr>
          <p:nvPr/>
        </p:nvSpPr>
        <p:spPr bwMode="auto">
          <a:xfrm>
            <a:off x="5334000" y="4038600"/>
            <a:ext cx="2857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1600" b="0">
                <a:ea typeface="宋体" panose="02010600030101010101" pitchFamily="2" charset="-122"/>
              </a:rPr>
              <a:t>b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A1538-DD0B-4E7E-9612-91605F7D3500}" type="slidenum">
              <a:rPr lang="zh-CN" altLang="en-US"/>
              <a:pPr/>
              <a:t>37</a:t>
            </a:fld>
            <a:endParaRPr lang="en-US" altLang="zh-CN"/>
          </a:p>
        </p:txBody>
      </p:sp>
      <p:sp>
        <p:nvSpPr>
          <p:cNvPr id="524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Exercises in class</a:t>
            </a:r>
          </a:p>
        </p:txBody>
      </p:sp>
      <p:sp>
        <p:nvSpPr>
          <p:cNvPr id="524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35052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Construct DFA for the following regular expression in two ways:</a:t>
            </a:r>
          </a:p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				1.  </a:t>
            </a:r>
            <a:r>
              <a:rPr lang="en-US" altLang="zh-CN" sz="3600">
                <a:ea typeface="宋体" panose="02010600030101010101" pitchFamily="2" charset="-122"/>
              </a:rPr>
              <a:t>a(a|b)*(b|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3600">
                <a:ea typeface="宋体" panose="02010600030101010101" pitchFamily="2" charset="-122"/>
              </a:rPr>
              <a:t>)</a:t>
            </a:r>
          </a:p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				2.  </a:t>
            </a:r>
            <a:r>
              <a:rPr lang="en-US" altLang="zh-CN" sz="3600">
                <a:ea typeface="宋体" panose="02010600030101010101" pitchFamily="2" charset="-122"/>
              </a:rPr>
              <a:t>a(a|b)*a(a|b)a</a:t>
            </a:r>
          </a:p>
          <a:p>
            <a:r>
              <a:rPr lang="en-US" altLang="zh-CN">
                <a:ea typeface="宋体" panose="02010600030101010101" pitchFamily="2" charset="-122"/>
              </a:rPr>
              <a:t>The first way is to construct NFA by using Thompson’s algorithm , then to construct DFA from NFA by using subset construction algorithm .</a:t>
            </a:r>
          </a:p>
          <a:p>
            <a:r>
              <a:rPr lang="en-US" altLang="zh-CN">
                <a:ea typeface="宋体" panose="02010600030101010101" pitchFamily="2" charset="-122"/>
              </a:rPr>
              <a:t>The second way is to construct DFA from regular expression directly.</a:t>
            </a:r>
          </a:p>
          <a:p>
            <a:r>
              <a:rPr lang="en-US" altLang="zh-CN">
                <a:ea typeface="宋体" panose="02010600030101010101" pitchFamily="2" charset="-122"/>
              </a:rPr>
              <a:t>Minimizing the states of DFA.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0A103-AE8B-43D1-94DB-272C78C4082B}" type="slidenum">
              <a:rPr lang="zh-CN" altLang="en-US"/>
              <a:pPr/>
              <a:t>38</a:t>
            </a:fld>
            <a:endParaRPr lang="en-US" altLang="zh-CN"/>
          </a:p>
        </p:txBody>
      </p:sp>
      <p:sp>
        <p:nvSpPr>
          <p:cNvPr id="520194" name="Rectangle 2"/>
          <p:cNvSpPr>
            <a:spLocks noGrp="1" noChangeArrowheads="1"/>
          </p:cNvSpPr>
          <p:nvPr>
            <p:ph type="title"/>
          </p:nvPr>
        </p:nvSpPr>
        <p:spPr>
          <a:xfrm>
            <a:off x="9201150" y="5229225"/>
            <a:ext cx="488950" cy="1152525"/>
          </a:xfrm>
        </p:spPr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DFA</a:t>
            </a:r>
          </a:p>
        </p:txBody>
      </p:sp>
      <p:pic>
        <p:nvPicPr>
          <p:cNvPr id="520196" name="Picture 4" descr="df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309563"/>
            <a:ext cx="8105775" cy="623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88C998-6B56-45D3-AB6C-FF5D5414169E}" type="slidenum">
              <a:rPr lang="zh-CN" altLang="en-US"/>
              <a:pPr/>
              <a:t>39</a:t>
            </a:fld>
            <a:endParaRPr lang="en-US" altLang="zh-CN"/>
          </a:p>
        </p:txBody>
      </p:sp>
      <p:sp>
        <p:nvSpPr>
          <p:cNvPr id="301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Some Other Issues in Lexical Analyzer</a:t>
            </a:r>
          </a:p>
        </p:txBody>
      </p:sp>
      <p:sp>
        <p:nvSpPr>
          <p:cNvPr id="301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3050" y="908050"/>
            <a:ext cx="9480550" cy="54737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The lexical analyzer has to recognize the longest possible string.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Ex:  identifier </a:t>
            </a:r>
            <a:r>
              <a:rPr lang="en-US" altLang="zh-CN" sz="2000">
                <a:latin typeface="Courier New" panose="02070309020205020404" pitchFamily="49" charset="0"/>
                <a:ea typeface="宋体" panose="02010600030101010101" pitchFamily="2" charset="-122"/>
              </a:rPr>
              <a:t>newval</a:t>
            </a:r>
            <a:r>
              <a:rPr lang="en-US" altLang="zh-CN" sz="2000">
                <a:ea typeface="宋体" panose="02010600030101010101" pitchFamily="2" charset="-122"/>
              </a:rPr>
              <a:t>  --   </a:t>
            </a:r>
            <a:r>
              <a:rPr lang="en-US" altLang="zh-CN" sz="2000">
                <a:latin typeface="Courier New" panose="02070309020205020404" pitchFamily="49" charset="0"/>
                <a:ea typeface="宋体" panose="02010600030101010101" pitchFamily="2" charset="-122"/>
              </a:rPr>
              <a:t>n   ne  new  newv  newva  newval</a:t>
            </a:r>
            <a:endParaRPr lang="en-US" altLang="zh-CN" sz="2000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What is the end of a token? Is there any character which marks the end of a token?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It is normally not defined. 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If the number of characters in a token is fixed, in that case no problem:  + -  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But &lt;  </a:t>
            </a:r>
            <a:r>
              <a:rPr lang="en-US" altLang="zh-CN" sz="2000">
                <a:ea typeface="宋体" panose="02010600030101010101" pitchFamily="2" charset="-122"/>
                <a:sym typeface="Wingdings" panose="05000000000000000000" pitchFamily="2" charset="2"/>
              </a:rPr>
              <a:t>     &lt;    or  &lt;&gt;  (in Pascal)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  <a:sym typeface="Wingdings" panose="05000000000000000000" pitchFamily="2" charset="2"/>
              </a:rPr>
              <a:t>The end of an identifier : the characters cannot be in an identifier can mark the end of token.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  <a:sym typeface="Wingdings" panose="05000000000000000000" pitchFamily="2" charset="2"/>
              </a:rPr>
              <a:t>We may need a lookhead</a:t>
            </a:r>
          </a:p>
          <a:p>
            <a:pPr lvl="2"/>
            <a:r>
              <a:rPr lang="en-US" altLang="zh-CN" sz="2000">
                <a:ea typeface="宋体" panose="02010600030101010101" pitchFamily="2" charset="-122"/>
              </a:rPr>
              <a:t>In Prolog:   	p :- X is 1.        	p :- X is 1.5.				  The dot  followed by a white space character can mark the end of a number.                               But if that is not the case, the dot must be treated as a part of the number.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76D2F-B192-4D39-8A1F-92153BF9E5BA}" type="slidenum">
              <a:rPr lang="zh-CN" altLang="en-US"/>
              <a:pPr/>
              <a:t>40</a:t>
            </a:fld>
            <a:endParaRPr lang="en-US" altLang="zh-CN"/>
          </a:p>
        </p:txBody>
      </p:sp>
      <p:sp>
        <p:nvSpPr>
          <p:cNvPr id="30208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Some Other Issues in Lexical Analyzer (cont.)</a:t>
            </a:r>
          </a:p>
        </p:txBody>
      </p:sp>
      <p:sp>
        <p:nvSpPr>
          <p:cNvPr id="30208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Skipping comments</a:t>
            </a:r>
          </a:p>
          <a:p>
            <a:pPr lvl="1"/>
            <a:r>
              <a:rPr lang="en-US" altLang="zh-CN" sz="2800">
                <a:ea typeface="宋体" panose="02010600030101010101" pitchFamily="2" charset="-122"/>
              </a:rPr>
              <a:t>Normally we don’t return a comment as a token.</a:t>
            </a:r>
          </a:p>
          <a:p>
            <a:pPr lvl="1"/>
            <a:r>
              <a:rPr lang="en-US" altLang="zh-CN" sz="2800">
                <a:ea typeface="宋体" panose="02010600030101010101" pitchFamily="2" charset="-122"/>
              </a:rPr>
              <a:t>We skip a comment, and return the next token (which is not a comment) to the parser.</a:t>
            </a:r>
          </a:p>
          <a:p>
            <a:pPr lvl="1"/>
            <a:r>
              <a:rPr lang="en-US" altLang="zh-CN" sz="2800">
                <a:ea typeface="宋体" panose="02010600030101010101" pitchFamily="2" charset="-122"/>
              </a:rPr>
              <a:t>So, the comments are only processed by the lexical analyzer, and the don’t complicate the syntax of the language.</a:t>
            </a:r>
          </a:p>
          <a:p>
            <a:endParaRPr lang="en-US" altLang="zh-CN" sz="28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1CDE1-35DE-43F4-BA50-2405898D0435}" type="slidenum">
              <a:rPr lang="zh-CN" altLang="en-US"/>
              <a:pPr/>
              <a:t>41</a:t>
            </a:fld>
            <a:endParaRPr lang="en-US" altLang="zh-CN"/>
          </a:p>
        </p:txBody>
      </p:sp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964613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Some Other Issues in Lexical Analyzer (cont.)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00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Symbol table interface</a:t>
            </a:r>
          </a:p>
          <a:p>
            <a:pPr lvl="1"/>
            <a:r>
              <a:rPr lang="en-US" altLang="zh-CN" sz="2800">
                <a:ea typeface="宋体" panose="02010600030101010101" pitchFamily="2" charset="-122"/>
              </a:rPr>
              <a:t>symbol table holds information about tokens (at least lexeme of identifiers)</a:t>
            </a:r>
          </a:p>
          <a:p>
            <a:pPr lvl="1"/>
            <a:r>
              <a:rPr lang="en-US" altLang="zh-CN" sz="2800">
                <a:ea typeface="宋体" panose="02010600030101010101" pitchFamily="2" charset="-122"/>
              </a:rPr>
              <a:t>how to implement the symbol table, and what kind of operations.</a:t>
            </a:r>
          </a:p>
          <a:p>
            <a:pPr lvl="2"/>
            <a:r>
              <a:rPr lang="en-US" altLang="zh-CN" sz="2800">
                <a:ea typeface="宋体" panose="02010600030101010101" pitchFamily="2" charset="-122"/>
              </a:rPr>
              <a:t>hash table – open addressing, chaining</a:t>
            </a:r>
          </a:p>
          <a:p>
            <a:pPr lvl="2"/>
            <a:r>
              <a:rPr lang="en-US" altLang="zh-CN" sz="2800">
                <a:ea typeface="宋体" panose="02010600030101010101" pitchFamily="2" charset="-122"/>
              </a:rPr>
              <a:t>putting into the hash table, finding the position of a token from its lexeme.</a:t>
            </a:r>
          </a:p>
          <a:p>
            <a:endParaRPr lang="en-US" altLang="zh-CN" sz="2800">
              <a:ea typeface="宋体" panose="02010600030101010101" pitchFamily="2" charset="-122"/>
            </a:endParaRPr>
          </a:p>
          <a:p>
            <a:r>
              <a:rPr lang="en-US" altLang="zh-CN" sz="2800">
                <a:ea typeface="宋体" panose="02010600030101010101" pitchFamily="2" charset="-122"/>
              </a:rPr>
              <a:t>Positions of  the tokens in the file (for the error handling).</a:t>
            </a:r>
          </a:p>
          <a:p>
            <a:endParaRPr lang="zh-CN" altLang="en-US" sz="280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4BB49-9533-4581-A348-AFBF894C3080}" type="slidenum">
              <a:rPr lang="zh-CN" altLang="en-US"/>
              <a:pPr/>
              <a:t>42</a:t>
            </a:fld>
            <a:endParaRPr lang="en-US" altLang="zh-CN"/>
          </a:p>
        </p:txBody>
      </p:sp>
      <p:sp>
        <p:nvSpPr>
          <p:cNvPr id="5017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Using LEX</a:t>
            </a:r>
          </a:p>
        </p:txBody>
      </p:sp>
      <p:sp>
        <p:nvSpPr>
          <p:cNvPr id="501763" name="Text Box 3"/>
          <p:cNvSpPr txBox="1">
            <a:spLocks noChangeArrowheads="1"/>
          </p:cNvSpPr>
          <p:nvPr/>
        </p:nvSpPr>
        <p:spPr bwMode="auto">
          <a:xfrm>
            <a:off x="776288" y="1412875"/>
            <a:ext cx="7777162" cy="286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b="0">
                <a:ea typeface="宋体" panose="02010600030101010101" pitchFamily="2" charset="-122"/>
              </a:rPr>
              <a:t>Lex Program Structure: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800" b="0">
                <a:latin typeface="Courier New" panose="02070309020205020404" pitchFamily="49" charset="0"/>
                <a:ea typeface="宋体" panose="02010600030101010101" pitchFamily="2" charset="-122"/>
              </a:rPr>
              <a:t>declarations</a:t>
            </a:r>
            <a:br>
              <a:rPr lang="en-US" altLang="zh-CN" sz="2800" b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800" b="0">
                <a:latin typeface="Courier New" panose="02070309020205020404" pitchFamily="49" charset="0"/>
                <a:ea typeface="宋体" panose="02010600030101010101" pitchFamily="2" charset="-122"/>
              </a:rPr>
              <a:t>%%</a:t>
            </a:r>
            <a:br>
              <a:rPr lang="en-US" altLang="zh-CN" sz="2800" b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800" b="0">
                <a:latin typeface="Courier New" panose="02070309020205020404" pitchFamily="49" charset="0"/>
                <a:ea typeface="宋体" panose="02010600030101010101" pitchFamily="2" charset="-122"/>
              </a:rPr>
              <a:t>translation rules</a:t>
            </a:r>
            <a:br>
              <a:rPr lang="en-US" altLang="zh-CN" sz="2800" b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800" b="0">
                <a:latin typeface="Courier New" panose="02070309020205020404" pitchFamily="49" charset="0"/>
                <a:ea typeface="宋体" panose="02010600030101010101" pitchFamily="2" charset="-122"/>
              </a:rPr>
              <a:t>%%</a:t>
            </a:r>
            <a:br>
              <a:rPr lang="en-US" altLang="zh-CN" sz="2800" b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800" b="0">
                <a:latin typeface="Courier New" panose="02070309020205020404" pitchFamily="49" charset="0"/>
                <a:ea typeface="宋体" panose="02010600030101010101" pitchFamily="2" charset="-122"/>
              </a:rPr>
              <a:t>auxiliary procedures</a:t>
            </a:r>
          </a:p>
        </p:txBody>
      </p:sp>
      <p:sp>
        <p:nvSpPr>
          <p:cNvPr id="501764" name="Text Box 4"/>
          <p:cNvSpPr txBox="1">
            <a:spLocks noChangeArrowheads="1"/>
          </p:cNvSpPr>
          <p:nvPr/>
        </p:nvSpPr>
        <p:spPr bwMode="auto">
          <a:xfrm>
            <a:off x="849313" y="4508500"/>
            <a:ext cx="7842250" cy="201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 b="0">
                <a:ea typeface="宋体" panose="02010600030101010101" pitchFamily="2" charset="-122"/>
              </a:rPr>
              <a:t>Name the file e.g. test.lex</a:t>
            </a:r>
            <a:br>
              <a:rPr lang="en-US" altLang="zh-CN" sz="2800" b="0">
                <a:ea typeface="宋体" panose="02010600030101010101" pitchFamily="2" charset="-122"/>
              </a:rPr>
            </a:br>
            <a:r>
              <a:rPr lang="en-US" altLang="zh-CN" sz="2800" b="0">
                <a:ea typeface="宋体" panose="02010600030101010101" pitchFamily="2" charset="-122"/>
              </a:rPr>
              <a:t>Then, “</a:t>
            </a:r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lex test.lex</a:t>
            </a:r>
            <a:r>
              <a:rPr lang="en-US" altLang="zh-CN" sz="2800" b="0">
                <a:ea typeface="宋体" panose="02010600030101010101" pitchFamily="2" charset="-122"/>
              </a:rPr>
              <a:t>”</a:t>
            </a:r>
            <a:r>
              <a:rPr lang="en-US" altLang="zh-CN" sz="2800" b="0"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  <a:r>
              <a:rPr lang="en-US" altLang="zh-CN" sz="2800" b="0">
                <a:ea typeface="宋体" panose="02010600030101010101" pitchFamily="2" charset="-122"/>
              </a:rPr>
              <a:t>produces the file</a:t>
            </a:r>
            <a:br>
              <a:rPr lang="en-US" altLang="zh-CN" sz="2800" b="0">
                <a:ea typeface="宋体" panose="02010600030101010101" pitchFamily="2" charset="-122"/>
              </a:rPr>
            </a:br>
            <a:r>
              <a:rPr lang="en-US" altLang="zh-CN" sz="2800" b="0">
                <a:ea typeface="宋体" panose="02010600030101010101" pitchFamily="2" charset="-122"/>
              </a:rPr>
              <a:t>“</a:t>
            </a:r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lex.yy.c</a:t>
            </a:r>
            <a:r>
              <a:rPr lang="en-US" altLang="zh-CN" sz="2800" b="0">
                <a:ea typeface="宋体" panose="02010600030101010101" pitchFamily="2" charset="-122"/>
              </a:rPr>
              <a:t>” (a C-program)</a:t>
            </a:r>
            <a:endParaRPr lang="en-US" altLang="zh-CN" sz="2800" b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endParaRPr lang="zh-CN" altLang="en-US" sz="2800" b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  <p:graphicFrame>
        <p:nvGraphicFramePr>
          <p:cNvPr id="501765" name="Object 5"/>
          <p:cNvGraphicFramePr>
            <a:graphicFrameLocks noChangeAspect="1"/>
          </p:cNvGraphicFramePr>
          <p:nvPr/>
        </p:nvGraphicFramePr>
        <p:xfrm>
          <a:off x="4876800" y="4191000"/>
          <a:ext cx="4724400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766" name="Visio" r:id="rId3" imgW="3238560" imgH="403560" progId="Visio.Drawing.6">
                  <p:embed/>
                </p:oleObj>
              </mc:Choice>
              <mc:Fallback>
                <p:oleObj name="Visio" r:id="rId3" imgW="3238560" imgH="40356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191000"/>
                        <a:ext cx="4724400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2FFDE-C611-4EBA-9FBE-061E5693DFDB}" type="slidenum">
              <a:rPr lang="zh-CN" altLang="en-US"/>
              <a:pPr/>
              <a:t>43</a:t>
            </a:fld>
            <a:endParaRPr lang="en-US" altLang="zh-CN"/>
          </a:p>
        </p:txBody>
      </p:sp>
      <p:sp>
        <p:nvSpPr>
          <p:cNvPr id="5027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0"/>
            <a:ext cx="9371012" cy="533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LEX</a:t>
            </a:r>
          </a:p>
        </p:txBody>
      </p:sp>
      <p:sp>
        <p:nvSpPr>
          <p:cNvPr id="502787" name="Text Box 3"/>
          <p:cNvSpPr txBox="1">
            <a:spLocks noChangeArrowheads="1"/>
          </p:cNvSpPr>
          <p:nvPr/>
        </p:nvSpPr>
        <p:spPr bwMode="auto">
          <a:xfrm>
            <a:off x="1208088" y="400050"/>
            <a:ext cx="8353425" cy="599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%{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	/* definitions of all constants</a:t>
            </a:r>
            <a:b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	LT, LE, EQ, NE, GT, GE, IF, THEN, ELSE, ... */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%}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b="0">
                <a:solidFill>
                  <a:srgbClr val="99CC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......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letter	[A-Za-z]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digit	[0-9]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id	{letter}({letter}|{digit})*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b="0">
                <a:solidFill>
                  <a:srgbClr val="99CC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......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%%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if	{ return(IF);}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then	{ return(THEN);}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{id}	{ yylval = install_id(); return(ID); }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b="0">
                <a:solidFill>
                  <a:srgbClr val="99CC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......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%%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install_id()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{	/* procedure to install the lexeme to the ST */</a:t>
            </a:r>
          </a:p>
        </p:txBody>
      </p:sp>
      <p:sp>
        <p:nvSpPr>
          <p:cNvPr id="502788" name="AutoShape 4"/>
          <p:cNvSpPr>
            <a:spLocks/>
          </p:cNvSpPr>
          <p:nvPr/>
        </p:nvSpPr>
        <p:spPr bwMode="auto">
          <a:xfrm>
            <a:off x="889000" y="434975"/>
            <a:ext cx="247650" cy="1066800"/>
          </a:xfrm>
          <a:prstGeom prst="leftBrace">
            <a:avLst>
              <a:gd name="adj1" fmla="val 3589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2789" name="AutoShape 5"/>
          <p:cNvSpPr>
            <a:spLocks/>
          </p:cNvSpPr>
          <p:nvPr/>
        </p:nvSpPr>
        <p:spPr bwMode="auto">
          <a:xfrm>
            <a:off x="806450" y="1914525"/>
            <a:ext cx="330200" cy="1143000"/>
          </a:xfrm>
          <a:prstGeom prst="leftBrace">
            <a:avLst>
              <a:gd name="adj1" fmla="val 28846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2790" name="AutoShape 6"/>
          <p:cNvSpPr>
            <a:spLocks/>
          </p:cNvSpPr>
          <p:nvPr/>
        </p:nvSpPr>
        <p:spPr bwMode="auto">
          <a:xfrm>
            <a:off x="790575" y="3767138"/>
            <a:ext cx="330200" cy="1143000"/>
          </a:xfrm>
          <a:prstGeom prst="leftBrace">
            <a:avLst>
              <a:gd name="adj1" fmla="val 28846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2791" name="AutoShape 7"/>
          <p:cNvSpPr>
            <a:spLocks/>
          </p:cNvSpPr>
          <p:nvPr/>
        </p:nvSpPr>
        <p:spPr bwMode="auto">
          <a:xfrm>
            <a:off x="806450" y="5292725"/>
            <a:ext cx="330200" cy="838200"/>
          </a:xfrm>
          <a:prstGeom prst="leftBrace">
            <a:avLst>
              <a:gd name="adj1" fmla="val 21154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2792" name="Text Box 8"/>
          <p:cNvSpPr txBox="1">
            <a:spLocks noChangeArrowheads="1"/>
          </p:cNvSpPr>
          <p:nvPr/>
        </p:nvSpPr>
        <p:spPr bwMode="auto">
          <a:xfrm rot="16200000">
            <a:off x="-31750" y="782638"/>
            <a:ext cx="14446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zh-CN" sz="1600">
                <a:ea typeface="宋体" panose="02010600030101010101" pitchFamily="2" charset="-122"/>
              </a:rPr>
              <a:t>C declarations</a:t>
            </a:r>
          </a:p>
        </p:txBody>
      </p:sp>
      <p:sp>
        <p:nvSpPr>
          <p:cNvPr id="502793" name="Text Box 9"/>
          <p:cNvSpPr txBox="1">
            <a:spLocks noChangeArrowheads="1"/>
          </p:cNvSpPr>
          <p:nvPr/>
        </p:nvSpPr>
        <p:spPr bwMode="auto">
          <a:xfrm rot="16200000">
            <a:off x="17462" y="2317751"/>
            <a:ext cx="12477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zh-CN" sz="1600">
                <a:ea typeface="宋体" panose="02010600030101010101" pitchFamily="2" charset="-122"/>
              </a:rPr>
              <a:t>declarations</a:t>
            </a:r>
          </a:p>
        </p:txBody>
      </p:sp>
      <p:sp>
        <p:nvSpPr>
          <p:cNvPr id="502794" name="Text Box 10"/>
          <p:cNvSpPr txBox="1">
            <a:spLocks noChangeArrowheads="1"/>
          </p:cNvSpPr>
          <p:nvPr/>
        </p:nvSpPr>
        <p:spPr bwMode="auto">
          <a:xfrm rot="16200000">
            <a:off x="290512" y="4191001"/>
            <a:ext cx="6699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zh-CN" sz="1600">
                <a:ea typeface="宋体" panose="02010600030101010101" pitchFamily="2" charset="-122"/>
              </a:rPr>
              <a:t>Rules</a:t>
            </a:r>
          </a:p>
        </p:txBody>
      </p:sp>
      <p:sp>
        <p:nvSpPr>
          <p:cNvPr id="502795" name="Text Box 11"/>
          <p:cNvSpPr txBox="1">
            <a:spLocks noChangeArrowheads="1"/>
          </p:cNvSpPr>
          <p:nvPr/>
        </p:nvSpPr>
        <p:spPr bwMode="auto">
          <a:xfrm rot="16200000">
            <a:off x="136525" y="5532438"/>
            <a:ext cx="10096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zh-CN" sz="1600">
                <a:ea typeface="宋体" panose="02010600030101010101" pitchFamily="2" charset="-122"/>
              </a:rPr>
              <a:t>Auxiliary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22E70-4690-4C77-819F-C392598121BB}" type="slidenum">
              <a:rPr lang="zh-CN" altLang="en-US"/>
              <a:pPr/>
              <a:t>44</a:t>
            </a:fld>
            <a:endParaRPr lang="en-US" altLang="zh-CN"/>
          </a:p>
        </p:txBody>
      </p:sp>
      <p:sp>
        <p:nvSpPr>
          <p:cNvPr id="5038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Example of a Lex Program</a:t>
            </a:r>
          </a:p>
        </p:txBody>
      </p:sp>
      <p:sp>
        <p:nvSpPr>
          <p:cNvPr id="503811" name="Rectangle 3"/>
          <p:cNvSpPr>
            <a:spLocks noChangeArrowheads="1"/>
          </p:cNvSpPr>
          <p:nvPr/>
        </p:nvSpPr>
        <p:spPr bwMode="auto">
          <a:xfrm>
            <a:off x="914400" y="974725"/>
            <a:ext cx="7651750" cy="542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b="0">
                <a:latin typeface="Courier New" panose="02070309020205020404" pitchFamily="49" charset="0"/>
                <a:ea typeface="宋体" panose="02010600030101010101" pitchFamily="2" charset="-122"/>
              </a:rPr>
              <a:t>        </a:t>
            </a:r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int num_lines = 0, num_chars = 0;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%%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\n    {++num_lines; ++num_chars;}</a:t>
            </a:r>
            <a:b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.     {++num_chars;}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%%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main( argc, argv )</a:t>
            </a:r>
            <a:b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int argc; char **argv;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    {</a:t>
            </a:r>
            <a:b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    ++argv, --argc;  /* skip over program name */</a:t>
            </a:r>
            <a:b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    if ( argc &gt; 0 ) </a:t>
            </a:r>
            <a:b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       yyin = fopen( argv[0], "r" );</a:t>
            </a:r>
            <a:b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    else  yyin = stdin;</a:t>
            </a:r>
            <a:b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    yylex();</a:t>
            </a:r>
            <a:b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    printf( "# of lines = %d, # of chars = %d\n",</a:t>
            </a:r>
            <a:b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            num_lines, num_chars );    }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2417F-45C4-4D22-9E19-4EAD04AF0EB6}" type="slidenum">
              <a:rPr lang="zh-CN" altLang="en-US"/>
              <a:pPr/>
              <a:t>45</a:t>
            </a:fld>
            <a:endParaRPr lang="en-US" altLang="zh-CN"/>
          </a:p>
        </p:txBody>
      </p:sp>
      <p:sp>
        <p:nvSpPr>
          <p:cNvPr id="504834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Another Example</a:t>
            </a:r>
          </a:p>
        </p:txBody>
      </p:sp>
      <p:sp>
        <p:nvSpPr>
          <p:cNvPr id="504835" name="Rectangle 3"/>
          <p:cNvSpPr>
            <a:spLocks noChangeArrowheads="1"/>
          </p:cNvSpPr>
          <p:nvPr/>
        </p:nvSpPr>
        <p:spPr bwMode="auto">
          <a:xfrm>
            <a:off x="990600" y="914400"/>
            <a:ext cx="7956550" cy="557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%{ #include &lt;stdio.h&gt; %}</a:t>
            </a:r>
          </a:p>
          <a:p>
            <a:pPr eaLnBrk="1" hangingPunct="1"/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WS	[ /t/n]*</a:t>
            </a:r>
          </a:p>
          <a:p>
            <a:pPr eaLnBrk="1" hangingPunct="1"/>
            <a:endParaRPr lang="en-US" altLang="zh-CN" sz="2000" b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%%</a:t>
            </a:r>
          </a:p>
          <a:p>
            <a:pPr eaLnBrk="1" hangingPunct="1"/>
            <a:endParaRPr lang="en-US" altLang="zh-CN" sz="2000" b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[0123456789]+	          printf("NUMBER\n");</a:t>
            </a:r>
          </a:p>
          <a:p>
            <a:pPr eaLnBrk="1" hangingPunct="1"/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[a-zA-Z][a-zA-Z0-9]*        printf("WORD\n");</a:t>
            </a:r>
          </a:p>
          <a:p>
            <a:pPr eaLnBrk="1" hangingPunct="1"/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{WS}				    /* do nothing */</a:t>
            </a:r>
          </a:p>
          <a:p>
            <a:pPr eaLnBrk="1" hangingPunct="1"/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.				    printf(“UNKNOWN\n“);</a:t>
            </a:r>
          </a:p>
          <a:p>
            <a:pPr eaLnBrk="1" hangingPunct="1"/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%%</a:t>
            </a:r>
          </a:p>
          <a:p>
            <a:pPr eaLnBrk="1" hangingPunct="1"/>
            <a:endParaRPr lang="en-US" altLang="zh-CN" sz="2000" b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main( argc, argv )</a:t>
            </a:r>
          </a:p>
          <a:p>
            <a:pPr eaLnBrk="1" hangingPunct="1"/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int argc; char **argv;</a:t>
            </a:r>
          </a:p>
          <a:p>
            <a:pPr eaLnBrk="1" hangingPunct="1"/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    { ++argv, --argc; </a:t>
            </a:r>
            <a:b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</a:br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	if ( argc &gt; 0 ) yyin = fopen( argv[0], "r" );</a:t>
            </a:r>
          </a:p>
          <a:p>
            <a:pPr eaLnBrk="1" hangingPunct="1"/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	    else  yyin = stdin;</a:t>
            </a:r>
          </a:p>
          <a:p>
            <a:pPr eaLnBrk="1" hangingPunct="1"/>
            <a:r>
              <a:rPr lang="en-US" altLang="zh-CN" sz="2000" b="0">
                <a:latin typeface="Courier New" panose="02070309020205020404" pitchFamily="49" charset="0"/>
                <a:ea typeface="宋体" panose="02010600030101010101" pitchFamily="2" charset="-122"/>
              </a:rPr>
              <a:t>    yylex();     }</a:t>
            </a:r>
          </a:p>
          <a:p>
            <a:pPr eaLnBrk="1" hangingPunct="1"/>
            <a:endParaRPr lang="zh-CN" altLang="en-US" sz="2000" b="0">
              <a:latin typeface="Courier New" panose="020703090202050204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10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652EBE-611B-4059-87AF-3F16B76D2A73}" type="slidenum">
              <a:rPr lang="zh-CN" altLang="en-US"/>
              <a:pPr/>
              <a:t>46</a:t>
            </a:fld>
            <a:endParaRPr lang="en-US" altLang="zh-CN"/>
          </a:p>
        </p:txBody>
      </p:sp>
      <p:sp>
        <p:nvSpPr>
          <p:cNvPr id="5058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88" y="152400"/>
            <a:ext cx="9371012" cy="914400"/>
          </a:xfrm>
          <a:noFill/>
          <a:ln/>
        </p:spPr>
        <p:txBody>
          <a:bodyPr lIns="92075" tIns="46038" rIns="92075" bIns="46038"/>
          <a:lstStyle/>
          <a:p>
            <a:r>
              <a:rPr lang="en-US" altLang="zh-CN">
                <a:ea typeface="宋体" panose="02010600030101010101" pitchFamily="2" charset="-122"/>
              </a:rPr>
              <a:t>Concluding Remarks</a:t>
            </a:r>
          </a:p>
        </p:txBody>
      </p:sp>
      <p:sp>
        <p:nvSpPr>
          <p:cNvPr id="505859" name="Text Box 3"/>
          <p:cNvSpPr txBox="1">
            <a:spLocks noChangeArrowheads="1"/>
          </p:cNvSpPr>
          <p:nvPr/>
        </p:nvSpPr>
        <p:spPr bwMode="auto">
          <a:xfrm>
            <a:off x="1468438" y="1336675"/>
            <a:ext cx="7904162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Focused on Lexical Analysis Process, Including</a:t>
            </a:r>
          </a:p>
          <a:p>
            <a:pPr lvl="1" eaLnBrk="1" hangingPunct="1"/>
            <a:r>
              <a:rPr lang="en-US" altLang="zh-CN">
                <a:ea typeface="宋体" panose="02010600030101010101" pitchFamily="2" charset="-122"/>
              </a:rPr>
              <a:t>- Regular Expressions</a:t>
            </a:r>
          </a:p>
          <a:p>
            <a:pPr lvl="1" eaLnBrk="1" hangingPunct="1">
              <a:buFontTx/>
              <a:buChar char="-"/>
            </a:pPr>
            <a:r>
              <a:rPr lang="en-US" altLang="zh-CN">
                <a:ea typeface="宋体" panose="02010600030101010101" pitchFamily="2" charset="-122"/>
              </a:rPr>
              <a:t> Finite Automaton （NFA, DFA）</a:t>
            </a:r>
          </a:p>
          <a:p>
            <a:pPr lvl="1" eaLnBrk="1" hangingPunct="1">
              <a:buFontTx/>
              <a:buChar char="-"/>
            </a:pPr>
            <a:r>
              <a:rPr lang="en-US" altLang="zh-CN">
                <a:ea typeface="宋体" panose="02010600030101010101" pitchFamily="2" charset="-122"/>
              </a:rPr>
              <a:t> Conversion (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RE       NFA,NFA       DFA</a:t>
            </a:r>
            <a:r>
              <a:rPr lang="en-US" altLang="zh-CN">
                <a:ea typeface="宋体" panose="02010600030101010101" pitchFamily="2" charset="-122"/>
              </a:rPr>
              <a:t>, RE       DFA)</a:t>
            </a:r>
          </a:p>
          <a:p>
            <a:pPr lvl="1" eaLnBrk="1" hangingPunct="1">
              <a:buFontTx/>
              <a:buChar char="-"/>
            </a:pPr>
            <a:r>
              <a:rPr lang="en-US" altLang="zh-CN">
                <a:ea typeface="宋体" panose="02010600030101010101" pitchFamily="2" charset="-122"/>
              </a:rPr>
              <a:t> Lex</a:t>
            </a:r>
          </a:p>
          <a:p>
            <a:pPr lvl="1" eaLnBrk="1" hangingPunct="1">
              <a:buFontTx/>
              <a:buChar char="-"/>
            </a:pPr>
            <a:r>
              <a:rPr lang="en-US" altLang="zh-CN">
                <a:ea typeface="宋体" panose="02010600030101010101" pitchFamily="2" charset="-122"/>
              </a:rPr>
              <a:t> Interplay among all these various aspects of lexical analysis</a:t>
            </a:r>
          </a:p>
        </p:txBody>
      </p:sp>
      <p:sp>
        <p:nvSpPr>
          <p:cNvPr id="505860" name="Text Box 4"/>
          <p:cNvSpPr txBox="1">
            <a:spLocks noChangeArrowheads="1"/>
          </p:cNvSpPr>
          <p:nvPr/>
        </p:nvSpPr>
        <p:spPr bwMode="auto">
          <a:xfrm>
            <a:off x="1568450" y="4191000"/>
            <a:ext cx="429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800">
                <a:solidFill>
                  <a:schemeClr val="accent2"/>
                </a:solidFill>
                <a:ea typeface="宋体" panose="02010600030101010101" pitchFamily="2" charset="-122"/>
              </a:rPr>
              <a:t>Looking Ahead:</a:t>
            </a:r>
          </a:p>
        </p:txBody>
      </p:sp>
      <p:sp>
        <p:nvSpPr>
          <p:cNvPr id="505861" name="Text Box 5"/>
          <p:cNvSpPr txBox="1">
            <a:spLocks noChangeArrowheads="1"/>
          </p:cNvSpPr>
          <p:nvPr/>
        </p:nvSpPr>
        <p:spPr bwMode="auto">
          <a:xfrm>
            <a:off x="1485900" y="4876800"/>
            <a:ext cx="800735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>
                <a:ea typeface="宋体" panose="02010600030101010101" pitchFamily="2" charset="-122"/>
              </a:rPr>
              <a:t>The next step in the compilation process is Parsing:</a:t>
            </a:r>
          </a:p>
          <a:p>
            <a:pPr lvl="1" eaLnBrk="1" hangingPunct="1">
              <a:spcBef>
                <a:spcPct val="50000"/>
              </a:spcBef>
              <a:buFontTx/>
              <a:buChar char="-"/>
            </a:pPr>
            <a:r>
              <a:rPr lang="en-US" altLang="zh-CN">
                <a:ea typeface="宋体" panose="02010600030101010101" pitchFamily="2" charset="-122"/>
              </a:rPr>
              <a:t>  Top-down  vs.  Bottom-up</a:t>
            </a:r>
          </a:p>
          <a:p>
            <a:pPr lvl="1" eaLnBrk="1" hangingPunct="1">
              <a:spcBef>
                <a:spcPct val="50000"/>
              </a:spcBef>
              <a:buFontTx/>
              <a:buChar char="-"/>
            </a:pPr>
            <a:r>
              <a:rPr lang="en-US" altLang="zh-CN">
                <a:ea typeface="宋体" panose="02010600030101010101" pitchFamily="2" charset="-122"/>
              </a:rPr>
              <a:t>- Relationship to Language Theory</a:t>
            </a:r>
          </a:p>
        </p:txBody>
      </p:sp>
      <p:sp>
        <p:nvSpPr>
          <p:cNvPr id="505863" name="Line 7"/>
          <p:cNvSpPr>
            <a:spLocks noChangeShapeType="1"/>
          </p:cNvSpPr>
          <p:nvPr/>
        </p:nvSpPr>
        <p:spPr bwMode="auto">
          <a:xfrm>
            <a:off x="4343400" y="2667000"/>
            <a:ext cx="457200" cy="0"/>
          </a:xfrm>
          <a:prstGeom prst="line">
            <a:avLst/>
          </a:prstGeom>
          <a:noFill/>
          <a:ln w="57150" cmpd="thinThick">
            <a:solidFill>
              <a:srgbClr val="FF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5864" name="Line 8"/>
          <p:cNvSpPr>
            <a:spLocks noChangeShapeType="1"/>
          </p:cNvSpPr>
          <p:nvPr/>
        </p:nvSpPr>
        <p:spPr bwMode="auto">
          <a:xfrm>
            <a:off x="6248400" y="2667000"/>
            <a:ext cx="457200" cy="0"/>
          </a:xfrm>
          <a:prstGeom prst="line">
            <a:avLst/>
          </a:prstGeom>
          <a:noFill/>
          <a:ln w="57150" cmpd="thinThick">
            <a:solidFill>
              <a:srgbClr val="FF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5865" name="Line 9"/>
          <p:cNvSpPr>
            <a:spLocks noChangeShapeType="1"/>
          </p:cNvSpPr>
          <p:nvPr/>
        </p:nvSpPr>
        <p:spPr bwMode="auto">
          <a:xfrm>
            <a:off x="7924800" y="2667000"/>
            <a:ext cx="533400" cy="0"/>
          </a:xfrm>
          <a:prstGeom prst="line">
            <a:avLst/>
          </a:prstGeom>
          <a:noFill/>
          <a:ln w="57150" cmpd="thinThick">
            <a:solidFill>
              <a:srgbClr val="FF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AF3DA-0172-457A-9934-E7645978E658}" type="slidenum">
              <a:rPr lang="zh-CN" altLang="en-US"/>
              <a:pPr/>
              <a:t>47</a:t>
            </a:fld>
            <a:endParaRPr lang="en-US" altLang="zh-CN"/>
          </a:p>
        </p:txBody>
      </p:sp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本章小结</a:t>
            </a:r>
          </a:p>
        </p:txBody>
      </p:sp>
      <p:sp>
        <p:nvSpPr>
          <p:cNvPr id="506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964613" cy="5105400"/>
          </a:xfrm>
        </p:spPr>
        <p:txBody>
          <a:bodyPr/>
          <a:lstStyle/>
          <a:p>
            <a:r>
              <a:rPr lang="zh-CN" altLang="en-US" sz="2800">
                <a:ea typeface="宋体" panose="02010600030101010101" pitchFamily="2" charset="-122"/>
              </a:rPr>
              <a:t>熟悉概念：正规表达式，单词，字母集，字符串，语言，转换图</a:t>
            </a:r>
            <a:r>
              <a:rPr lang="en-US" altLang="zh-CN" sz="2800">
                <a:ea typeface="宋体" panose="02010600030101010101" pitchFamily="2" charset="-122"/>
              </a:rPr>
              <a:t>TD</a:t>
            </a:r>
            <a:r>
              <a:rPr lang="zh-CN" altLang="en-US" sz="2800">
                <a:ea typeface="宋体" panose="02010600030101010101" pitchFamily="2" charset="-122"/>
              </a:rPr>
              <a:t>，自动机</a:t>
            </a:r>
            <a:r>
              <a:rPr lang="en-US" altLang="zh-CN" sz="2800">
                <a:ea typeface="宋体" panose="02010600030101010101" pitchFamily="2" charset="-122"/>
              </a:rPr>
              <a:t>FA</a:t>
            </a:r>
            <a:r>
              <a:rPr lang="zh-CN" altLang="en-US" sz="2800">
                <a:ea typeface="宋体" panose="02010600030101010101" pitchFamily="2" charset="-122"/>
              </a:rPr>
              <a:t>，</a:t>
            </a:r>
            <a:r>
              <a:rPr lang="en-US" altLang="zh-CN" sz="2800">
                <a:ea typeface="宋体" panose="02010600030101010101" pitchFamily="2" charset="-122"/>
              </a:rPr>
              <a:t>NFA, DFA</a:t>
            </a:r>
            <a:r>
              <a:rPr lang="zh-CN" altLang="en-US" sz="2800">
                <a:ea typeface="宋体" panose="02010600030101010101" pitchFamily="2" charset="-122"/>
              </a:rPr>
              <a:t>等；</a:t>
            </a:r>
          </a:p>
          <a:p>
            <a:r>
              <a:rPr lang="zh-CN" altLang="en-US" sz="2800">
                <a:ea typeface="宋体" panose="02010600030101010101" pitchFamily="2" charset="-122"/>
              </a:rPr>
              <a:t>掌握</a:t>
            </a:r>
            <a:r>
              <a:rPr lang="en-US" altLang="zh-CN" sz="2800">
                <a:ea typeface="宋体" panose="02010600030101010101" pitchFamily="2" charset="-122"/>
              </a:rPr>
              <a:t>Thompson</a:t>
            </a:r>
            <a:r>
              <a:rPr lang="zh-CN" altLang="en-US" sz="2800">
                <a:ea typeface="宋体" panose="02010600030101010101" pitchFamily="2" charset="-122"/>
              </a:rPr>
              <a:t>构造法由正规表达式构造</a:t>
            </a:r>
            <a:r>
              <a:rPr lang="en-US" altLang="zh-CN" sz="2800">
                <a:ea typeface="宋体" panose="02010600030101010101" pitchFamily="2" charset="-122"/>
              </a:rPr>
              <a:t>NFA</a:t>
            </a:r>
            <a:r>
              <a:rPr lang="zh-CN" altLang="en-US" sz="2800">
                <a:ea typeface="宋体" panose="02010600030101010101" pitchFamily="2" charset="-122"/>
              </a:rPr>
              <a:t>的方法；</a:t>
            </a:r>
          </a:p>
          <a:p>
            <a:r>
              <a:rPr lang="zh-CN" altLang="en-US" sz="2800">
                <a:ea typeface="宋体" panose="02010600030101010101" pitchFamily="2" charset="-122"/>
              </a:rPr>
              <a:t>掌握子集构造法由</a:t>
            </a:r>
            <a:r>
              <a:rPr lang="en-US" altLang="zh-CN" sz="2800">
                <a:ea typeface="宋体" panose="02010600030101010101" pitchFamily="2" charset="-122"/>
              </a:rPr>
              <a:t>NFA</a:t>
            </a:r>
            <a:r>
              <a:rPr lang="zh-CN" altLang="en-US" sz="2800">
                <a:ea typeface="宋体" panose="02010600030101010101" pitchFamily="2" charset="-122"/>
              </a:rPr>
              <a:t>构造</a:t>
            </a:r>
            <a:r>
              <a:rPr lang="en-US" altLang="zh-CN" sz="2800">
                <a:ea typeface="宋体" panose="02010600030101010101" pitchFamily="2" charset="-122"/>
              </a:rPr>
              <a:t>DFA</a:t>
            </a:r>
            <a:r>
              <a:rPr lang="zh-CN" altLang="en-US" sz="2800">
                <a:ea typeface="宋体" panose="02010600030101010101" pitchFamily="2" charset="-122"/>
              </a:rPr>
              <a:t>的算法；</a:t>
            </a:r>
          </a:p>
          <a:p>
            <a:r>
              <a:rPr lang="zh-CN" altLang="en-US" sz="2800">
                <a:ea typeface="宋体" panose="02010600030101010101" pitchFamily="2" charset="-122"/>
              </a:rPr>
              <a:t>掌握由正规表达式直接构造</a:t>
            </a:r>
            <a:r>
              <a:rPr lang="en-US" altLang="zh-CN" sz="2800">
                <a:ea typeface="宋体" panose="02010600030101010101" pitchFamily="2" charset="-122"/>
              </a:rPr>
              <a:t>DFA</a:t>
            </a:r>
            <a:r>
              <a:rPr lang="zh-CN" altLang="en-US" sz="2800">
                <a:ea typeface="宋体" panose="02010600030101010101" pitchFamily="2" charset="-122"/>
              </a:rPr>
              <a:t>的算法；</a:t>
            </a:r>
          </a:p>
          <a:p>
            <a:r>
              <a:rPr lang="zh-CN" altLang="en-US" sz="2800">
                <a:ea typeface="宋体" panose="02010600030101010101" pitchFamily="2" charset="-122"/>
              </a:rPr>
              <a:t>掌握</a:t>
            </a:r>
            <a:r>
              <a:rPr lang="en-US" altLang="zh-CN" sz="2800">
                <a:ea typeface="宋体" panose="02010600030101010101" pitchFamily="2" charset="-122"/>
              </a:rPr>
              <a:t>DFA</a:t>
            </a:r>
            <a:r>
              <a:rPr lang="zh-CN" altLang="en-US" sz="2800">
                <a:ea typeface="宋体" panose="02010600030101010101" pitchFamily="2" charset="-122"/>
              </a:rPr>
              <a:t>状态最小化的方法。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9644</TotalTime>
  <Words>3420</Words>
  <Application>Microsoft Office PowerPoint</Application>
  <PresentationFormat>A4 纸张(210x297 毫米)</PresentationFormat>
  <Paragraphs>895</Paragraphs>
  <Slides>47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47</vt:i4>
      </vt:variant>
    </vt:vector>
  </HeadingPairs>
  <TitlesOfParts>
    <vt:vector size="56" baseType="lpstr">
      <vt:lpstr>Times New Roman</vt:lpstr>
      <vt:lpstr>宋体</vt:lpstr>
      <vt:lpstr>Symbol</vt:lpstr>
      <vt:lpstr>Courier New</vt:lpstr>
      <vt:lpstr>Wingdings</vt:lpstr>
      <vt:lpstr>Arial</vt:lpstr>
      <vt:lpstr>Default Design</vt:lpstr>
      <vt:lpstr>Microsoft Visio 绘图</vt:lpstr>
      <vt:lpstr>Microsoft Visio Drawing</vt:lpstr>
      <vt:lpstr>3.7 Converting A Regular Expression into A NFA (Thompson’s Construction) (P.121)</vt:lpstr>
      <vt:lpstr>Thompson’s Construction (cont.)</vt:lpstr>
      <vt:lpstr>Thompson’s Construction (cont.)</vt:lpstr>
      <vt:lpstr>Thompson’s Construction (cont.)</vt:lpstr>
      <vt:lpstr>Construction Algorithm : R.E.  NFA</vt:lpstr>
      <vt:lpstr>Piecing Together NFAs</vt:lpstr>
      <vt:lpstr>Piecing Together NFAs – continued(1)</vt:lpstr>
      <vt:lpstr>Piecing Together NFAs – continued(2)</vt:lpstr>
      <vt:lpstr>Piecing Together NFAs – continued(3)</vt:lpstr>
      <vt:lpstr>Properties of Construction (P.124) </vt:lpstr>
      <vt:lpstr>Thompson’s Construction Example3.16 - (a|b) * a  (P.124)</vt:lpstr>
      <vt:lpstr>PowerPoint 演示文稿</vt:lpstr>
      <vt:lpstr>R.E.  NFA (exercise)</vt:lpstr>
      <vt:lpstr>R.E.  NFA (exercise answer)– Construction(1)</vt:lpstr>
      <vt:lpstr>R.E.  NFA (exercise answer)– Construction(2)</vt:lpstr>
      <vt:lpstr>R.E.  NFA (exercise answer)– Final Step</vt:lpstr>
      <vt:lpstr>Direct Simulation of an NFA (P.126)</vt:lpstr>
      <vt:lpstr>Final Notes : R.E. to NFA Construction</vt:lpstr>
      <vt:lpstr>Pulling Together Concepts</vt:lpstr>
      <vt:lpstr>Exercise in class</vt:lpstr>
      <vt:lpstr>Converting Regular Expressions Directly to DFAs (P.135)</vt:lpstr>
      <vt:lpstr>Regular Expression  DFA (cont.)</vt:lpstr>
      <vt:lpstr>followpos</vt:lpstr>
      <vt:lpstr>firstpos, lastpos, nullable</vt:lpstr>
      <vt:lpstr>How to evaluate  firstpos, lastpos, nullable (P.138)</vt:lpstr>
      <vt:lpstr>How to evaluate  followpos (P.138)</vt:lpstr>
      <vt:lpstr>Example -- ( a | b) * a  #</vt:lpstr>
      <vt:lpstr>Algorithm (RE  DFA) (P.140)</vt:lpstr>
      <vt:lpstr>Example -- ( a | b) * a # (P.139)</vt:lpstr>
      <vt:lpstr>Exercise  -- ( a | ) b c* #</vt:lpstr>
      <vt:lpstr>Exercise and answer -- ( a | ) b c* #</vt:lpstr>
      <vt:lpstr>Minimizing the Number of States of a DFA (P.141)</vt:lpstr>
      <vt:lpstr>Minimizing the Number of States of DFA (cont.)</vt:lpstr>
      <vt:lpstr>Minimizing DFA - Example</vt:lpstr>
      <vt:lpstr>Minimizing DFA (Exercise)</vt:lpstr>
      <vt:lpstr>Minimizing DFA (exercise answer)</vt:lpstr>
      <vt:lpstr>Exercises in class</vt:lpstr>
      <vt:lpstr>DFA</vt:lpstr>
      <vt:lpstr>Some Other Issues in Lexical Analyzer</vt:lpstr>
      <vt:lpstr>Some Other Issues in Lexical Analyzer (cont.)</vt:lpstr>
      <vt:lpstr>Some Other Issues in Lexical Analyzer (cont.) </vt:lpstr>
      <vt:lpstr>Using LEX</vt:lpstr>
      <vt:lpstr>LEX</vt:lpstr>
      <vt:lpstr>Example of a Lex Program</vt:lpstr>
      <vt:lpstr>Another Example</vt:lpstr>
      <vt:lpstr>Concluding Remarks</vt:lpstr>
      <vt:lpstr>本章小结</vt:lpstr>
    </vt:vector>
  </TitlesOfParts>
  <Company>Bilkent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CS416:lec01-lexicalanalyzer</dc:title>
  <dc:creator>Ilyas Cicekli</dc:creator>
  <cp:lastModifiedBy>Exin Y</cp:lastModifiedBy>
  <cp:revision>344</cp:revision>
  <cp:lastPrinted>1999-09-09T03:15:50Z</cp:lastPrinted>
  <dcterms:created xsi:type="dcterms:W3CDTF">1999-01-20T19:57:44Z</dcterms:created>
  <dcterms:modified xsi:type="dcterms:W3CDTF">2015-10-07T09:26:27Z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2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2</vt:i4>
  </property>
  <property fmtid="{D5CDD505-2E9C-101B-9397-08002B2CF9AE}" pid="7" name="MailAddress">
    <vt:lpwstr>radev@cs.columbia.edu</vt:lpwstr>
  </property>
  <property fmtid="{D5CDD505-2E9C-101B-9397-08002B2CF9AE}" pid="8" name="HomePage">
    <vt:lpwstr>http://www.cs.columbia.edu/~radev/cs4705/</vt:lpwstr>
  </property>
  <property fmtid="{D5CDD505-2E9C-101B-9397-08002B2CF9AE}" pid="9" name="Other">
    <vt:lpwstr/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F:\html\cs4705</vt:lpwstr>
  </property>
</Properties>
</file>